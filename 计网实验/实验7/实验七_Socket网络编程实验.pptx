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84" r:id="rId7"/>
    <p:sldId id="260" r:id="rId8"/>
    <p:sldId id="261" r:id="rId9"/>
    <p:sldId id="262" r:id="rId10"/>
    <p:sldId id="285" r:id="rId11"/>
    <p:sldId id="263" r:id="rId12"/>
    <p:sldId id="264" r:id="rId13"/>
    <p:sldId id="265" r:id="rId14"/>
    <p:sldId id="266" r:id="rId15"/>
    <p:sldId id="267" r:id="rId16"/>
    <p:sldId id="268" r:id="rId18"/>
    <p:sldId id="269" r:id="rId19"/>
    <p:sldId id="270" r:id="rId20"/>
    <p:sldId id="271" r:id="rId21"/>
    <p:sldId id="272" r:id="rId22"/>
    <p:sldId id="273" r:id="rId23"/>
    <p:sldId id="275" r:id="rId24"/>
    <p:sldId id="276" r:id="rId25"/>
    <p:sldId id="277" r:id="rId26"/>
    <p:sldId id="278" r:id="rId27"/>
    <p:sldId id="279" r:id="rId28"/>
    <p:sldId id="280" r:id="rId29"/>
    <p:sldId id="286" r:id="rId30"/>
    <p:sldId id="281" r:id="rId31"/>
    <p:sldId id="282" r:id="rId32"/>
    <p:sldId id="283" r:id="rId3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重点是</a:t>
            </a:r>
            <a:r>
              <a:rPr lang="en-US" altLang="zh-CN"/>
              <a:t> </a:t>
            </a:r>
            <a:r>
              <a:rPr lang="zh-CN" altLang="en-US"/>
              <a:t>前后端的，</a:t>
            </a:r>
            <a:r>
              <a:rPr lang="en-US" altLang="zh-CN"/>
              <a:t>JS</a:t>
            </a:r>
            <a:r>
              <a:rPr lang="zh-CN" altLang="en-US"/>
              <a:t>，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实验七：Socket网络编程实验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7905" y="3886200"/>
            <a:ext cx="8826500" cy="1752600"/>
          </a:xfrm>
        </p:spPr>
        <p:txBody>
          <a:bodyPr/>
          <a:lstStyle/>
          <a:p>
            <a:pPr algn="l"/>
            <a:r>
              <a:rPr sz="2800"/>
              <a:t>GBN+SR、聊天系统、防火墙、VPN、路由器</a:t>
            </a:r>
            <a:endParaRPr sz="2800"/>
          </a:p>
          <a:p>
            <a:pPr algn="l"/>
            <a:r>
              <a:rPr sz="2800"/>
              <a:t>停车场、文件备份、五子棋、TCP协议栈、算法可视化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sz="4800"/>
          </a:p>
          <a:p>
            <a:pPr marL="457200" lvl="1" indent="0">
              <a:buNone/>
              <a:defRPr sz="1800"/>
            </a:pPr>
            <a:r>
              <a:rPr sz="3200"/>
              <a:t>一、10个实验题目概览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二、自定义协议设计（粘包处理）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三、HTTP协议参考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四、远程终端控制字符处理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五、总结与选做建议</a:t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题目1：GBN+SR传输协议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832850" cy="4526280"/>
          </a:xfrm>
        </p:spPr>
        <p:txBody>
          <a:bodyPr/>
          <a:lstStyle/>
          <a:p>
            <a:pPr marL="0" indent="0">
              <a:buNone/>
            </a:pPr>
            <a:endParaRPr sz="4400"/>
          </a:p>
          <a:p>
            <a:pPr marL="457200" lvl="1" indent="0">
              <a:buNone/>
              <a:defRPr sz="1800"/>
            </a:pPr>
            <a:r>
              <a:rPr sz="2800"/>
              <a:t>• 严格遵循协议分层原则，传输层与应用层职责分离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滑动窗口、超时重传、选择性重传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确认/否定确认（ACK/NAK）核心机制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应用层文件传输协议参考HTTP设计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支持文件完整性校验（MD5/SHA）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云服务器广域网测试 + 量化分析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题目2：聊天系统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sz="4800"/>
          </a:p>
          <a:p>
            <a:pPr marL="457200" lvl="1" indent="0">
              <a:buNone/>
              <a:defRPr sz="1800"/>
            </a:pPr>
            <a:r>
              <a:rPr sz="3200"/>
              <a:t>• 基于TCP（或UDP）的传统应用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用户登录/注册功能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群聊与私聊支持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在线状态管理与心跳保活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</a:t>
            </a:r>
            <a:r>
              <a:rPr lang="zh-CN" sz="3200"/>
              <a:t>文件传输</a:t>
            </a:r>
            <a:r>
              <a:rPr lang="en-US" altLang="zh-CN" sz="3200"/>
              <a:t>……</a:t>
            </a:r>
            <a:endParaRPr lang="en-US" altLang="zh-CN" sz="3200"/>
          </a:p>
          <a:p>
            <a:pPr marL="457200" lvl="1" indent="0">
              <a:buNone/>
              <a:defRPr sz="1800"/>
            </a:pPr>
            <a:r>
              <a:rPr sz="3200">
                <a:sym typeface="+mn-ea"/>
              </a:rPr>
              <a:t>•</a:t>
            </a:r>
            <a:r>
              <a:rPr lang="zh-CN" altLang="en-US" sz="3200"/>
              <a:t>语音聊天</a:t>
            </a:r>
            <a:endParaRPr lang="zh-CN" altLang="en-US"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d71148b-8a8b-4a3d-add6-815812ddb449"/>
          <p:cNvGrpSpPr/>
          <p:nvPr>
            <p:custDataLst>
              <p:tags r:id="rId1"/>
            </p:custDataLst>
          </p:nvPr>
        </p:nvGrpSpPr>
        <p:grpSpPr>
          <a:xfrm rot="0">
            <a:off x="36195" y="1335535"/>
            <a:ext cx="12191365" cy="5389571"/>
            <a:chOff x="0" y="1468148"/>
            <a:chExt cx="12192000" cy="5389852"/>
          </a:xfrm>
        </p:grpSpPr>
        <p:sp>
          <p:nvSpPr>
            <p:cNvPr id="3" name="AutoShape 3"/>
            <p:cNvSpPr/>
            <p:nvPr/>
          </p:nvSpPr>
          <p:spPr>
            <a:xfrm>
              <a:off x="0" y="6642000"/>
              <a:ext cx="12192000" cy="216000"/>
            </a:xfrm>
            <a:custGeom>
              <a:avLst/>
              <a:gdLst/>
              <a:ahLst/>
              <a:cxnLst/>
              <a:rect l="l" t="t" r="r" b="b"/>
              <a:pathLst>
                <a:path w="12192000" h="165100">
                  <a:moveTo>
                    <a:pt x="0" y="0"/>
                  </a:moveTo>
                  <a:lnTo>
                    <a:pt x="12192000" y="0"/>
                  </a:lnTo>
                  <a:lnTo>
                    <a:pt x="12192000" y="165100"/>
                  </a:lnTo>
                  <a:lnTo>
                    <a:pt x="0" y="165100"/>
                  </a:lnTo>
                  <a:close/>
                </a:path>
              </a:pathLst>
            </a:custGeom>
            <a:solidFill>
              <a:srgbClr val="37B8A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400" y="1468148"/>
              <a:ext cx="10858500" cy="6480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35" tIns="45717" rIns="91435" bIns="45717" rtlCol="0" anchor="ctr" anchorCtr="0"/>
            <a:lstStyle/>
            <a:p>
              <a:pPr algn="l">
                <a:defRPr/>
              </a:pPr>
              <a:r>
                <a:rPr lang="en-US" sz="3200" b="1" i="0">
                  <a:solidFill>
                    <a:schemeClr val="tx1">
                      <a:lumMod val="95000"/>
                      <a:lumOff val="5000"/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深入分组过滤、NAT和SSL VPN三大核心功能的实现原理</a:t>
              </a:r>
              <a:endParaRPr lang="en-US" sz="3200" b="1" i="0">
                <a:solidFill>
                  <a:schemeClr val="tx1">
                    <a:lumMod val="95000"/>
                    <a:lumOff val="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0" y="2683153"/>
              <a:ext cx="3223429" cy="3450947"/>
              <a:chOff x="660400" y="2927066"/>
              <a:chExt cx="3223429" cy="3450947"/>
            </a:xfrm>
          </p:grpSpPr>
          <p:sp>
            <p:nvSpPr>
              <p:cNvPr id="6" name="TextBox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60400" y="3575065"/>
                <a:ext cx="3223429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b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分组过滤原理</a:t>
                </a:r>
                <a:endParaRPr lang="en-US" sz="2400" b="1" i="0">
                  <a:solidFill>
                    <a:schemeClr val="tx1">
                      <a:lumMod val="95000"/>
                      <a:lumOff val="5000"/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60400" y="4223063"/>
                <a:ext cx="3223429" cy="21549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基于网络层和传输层信息（IP、端口、协议）匹配预设规则，对数据包进行“允许”或“丢弃”处理。</a:t>
                </a:r>
                <a:endParaRPr lang="en-US" b="0" i="0">
                  <a:solidFill>
                    <a:schemeClr val="tx1">
                      <a:lumMod val="95000"/>
                      <a:lumOff val="5000"/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60400" y="2927066"/>
                <a:ext cx="3223429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35" tIns="45717" rIns="91435" bIns="45717" rtlCol="0" anchor="b" anchorCtr="0"/>
              <a:lstStyle/>
              <a:p>
                <a:pPr algn="l">
                  <a:defRPr/>
                </a:pPr>
                <a:r>
                  <a:rPr lang="en-US" sz="4000" b="1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01.</a:t>
                </a:r>
                <a:endParaRPr lang="en-US" sz="4000" b="1" i="0">
                  <a:solidFill>
                    <a:schemeClr val="tx1">
                      <a:lumMod val="95000"/>
                      <a:lumOff val="5000"/>
                      <a:alpha val="100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4477936" y="2683153"/>
              <a:ext cx="3223429" cy="3450947"/>
              <a:chOff x="4477936" y="2927066"/>
              <a:chExt cx="3223429" cy="3450947"/>
            </a:xfrm>
          </p:grpSpPr>
          <p:sp>
            <p:nvSpPr>
              <p:cNvPr id="10" name="TextBox 1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477936" y="3575065"/>
                <a:ext cx="3223429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b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NAT核心机制</a:t>
                </a:r>
                <a:endParaRPr lang="en-US" sz="2400" b="1" i="0">
                  <a:solidFill>
                    <a:schemeClr val="tx1">
                      <a:lumMod val="95000"/>
                      <a:lumOff val="5000"/>
                      <a:alpha val="100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477936" y="4223063"/>
                <a:ext cx="3223429" cy="21549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通过维护“内网IP+端口”到“外网IP+端口”的映射表，对进出数据包进行源/目的IP和端口的改写，实现内网共享上网。</a:t>
                </a:r>
                <a:endParaRPr lang="en-US" b="0" i="0">
                  <a:solidFill>
                    <a:schemeClr val="tx1">
                      <a:lumMod val="95000"/>
                      <a:lumOff val="5000"/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477936" y="2927066"/>
                <a:ext cx="3223429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35" tIns="45717" rIns="91435" bIns="45717" rtlCol="0" anchor="b" anchorCtr="0"/>
              <a:lstStyle/>
              <a:p>
                <a:pPr algn="l">
                  <a:defRPr/>
                </a:pPr>
                <a:r>
                  <a:rPr lang="en-US" sz="4000" b="1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02.</a:t>
                </a:r>
                <a:endParaRPr lang="en-US" sz="4000" b="1" i="0">
                  <a:solidFill>
                    <a:schemeClr val="tx1">
                      <a:lumMod val="95000"/>
                      <a:lumOff val="5000"/>
                      <a:alpha val="100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8295471" y="2683153"/>
              <a:ext cx="3223429" cy="3450947"/>
              <a:chOff x="8295471" y="2927066"/>
              <a:chExt cx="3223429" cy="3450947"/>
            </a:xfrm>
          </p:grpSpPr>
          <p:sp>
            <p:nvSpPr>
              <p:cNvPr id="14" name="TextBox 1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295471" y="3575065"/>
                <a:ext cx="3223429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b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SSL VPN设计</a:t>
                </a:r>
                <a:endParaRPr lang="en-US" sz="2400" b="1" i="0">
                  <a:solidFill>
                    <a:schemeClr val="tx1">
                      <a:lumMod val="95000"/>
                      <a:lumOff val="5000"/>
                      <a:alpha val="100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295471" y="4223063"/>
                <a:ext cx="3223429" cy="21549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利用SSL加密隧道和TUN虚拟网卡，在公网上建立一条安全的“虚拟网络链路”，实现外网终端安全接入内网。</a:t>
                </a:r>
                <a:endParaRPr lang="en-US" b="0" i="0">
                  <a:solidFill>
                    <a:schemeClr val="tx1">
                      <a:lumMod val="95000"/>
                      <a:lumOff val="5000"/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295471" y="2927066"/>
                <a:ext cx="3223429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35" tIns="45717" rIns="91435" bIns="45717" rtlCol="0" anchor="b" anchorCtr="0"/>
              <a:lstStyle/>
              <a:p>
                <a:pPr algn="l">
                  <a:defRPr/>
                </a:pPr>
                <a:r>
                  <a:rPr lang="en-US" sz="4000" b="1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03.</a:t>
                </a:r>
                <a:endParaRPr lang="en-US" sz="4000" b="1" i="0">
                  <a:solidFill>
                    <a:schemeClr val="tx1">
                      <a:lumMod val="95000"/>
                      <a:lumOff val="5000"/>
                      <a:alpha val="100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366" y="505631"/>
            <a:ext cx="10857934" cy="52319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35" tIns="45717" rIns="91435" bIns="45717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chemeClr val="tx1">
                    <a:lumMod val="95000"/>
                    <a:lumOff val="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防火墙核心原理</a:t>
            </a:r>
            <a:endParaRPr lang="en-US" sz="2800" b="1" i="0">
              <a:solidFill>
                <a:schemeClr val="tx1">
                  <a:lumMod val="95000"/>
                  <a:lumOff val="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题目3：FirewallBox核心功能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105525" cy="4526280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 algn="l">
              <a:buNone/>
            </a:pPr>
            <a:endParaRPr sz="2000"/>
          </a:p>
          <a:p>
            <a:pPr marL="457200" lvl="1" indent="0" algn="l">
              <a:buNone/>
              <a:defRPr sz="1800"/>
            </a:pPr>
            <a:r>
              <a:rPr sz="2400"/>
              <a:t>【分组过滤】</a:t>
            </a:r>
            <a:endParaRPr sz="2400"/>
          </a:p>
          <a:p>
            <a:pPr marL="457200" lvl="1" indent="0" algn="l">
              <a:buNone/>
              <a:defRPr sz="1800"/>
            </a:pPr>
            <a:r>
              <a:rPr sz="2400"/>
              <a:t>• Linux </a:t>
            </a:r>
            <a:r>
              <a:rPr sz="2400" b="1"/>
              <a:t>netfilter</a:t>
            </a:r>
            <a:r>
              <a:rPr sz="2400"/>
              <a:t>机制，内核数据包拦截</a:t>
            </a:r>
            <a:endParaRPr sz="2400"/>
          </a:p>
          <a:p>
            <a:pPr marL="457200" lvl="1" indent="0" algn="l">
              <a:buNone/>
              <a:defRPr sz="1800"/>
            </a:pPr>
            <a:r>
              <a:rPr sz="2400"/>
              <a:t>• </a:t>
            </a:r>
            <a:r>
              <a:rPr sz="2400" b="1"/>
              <a:t>用户态队列</a:t>
            </a:r>
            <a:r>
              <a:rPr sz="2400"/>
              <a:t>处理，解析IP/TCP/UDP头</a:t>
            </a:r>
            <a:endParaRPr sz="2400"/>
          </a:p>
          <a:p>
            <a:pPr marL="457200" lvl="1" indent="0" algn="l">
              <a:buNone/>
              <a:defRPr sz="1800"/>
            </a:pPr>
            <a:r>
              <a:rPr sz="2400"/>
              <a:t>• 规则匹配：源IP、目的IP、端口、协议</a:t>
            </a:r>
            <a:endParaRPr sz="2400"/>
          </a:p>
          <a:p>
            <a:pPr marL="457200" lvl="1" indent="0" algn="l">
              <a:buNone/>
              <a:defRPr sz="1800"/>
            </a:pPr>
            <a:endParaRPr sz="2400"/>
          </a:p>
          <a:p>
            <a:pPr marL="457200" lvl="1" indent="0" algn="l">
              <a:buNone/>
              <a:defRPr sz="1800"/>
            </a:pPr>
            <a:r>
              <a:rPr sz="2400"/>
              <a:t>【简易NAT（SNAT）】</a:t>
            </a:r>
            <a:endParaRPr sz="2400"/>
          </a:p>
          <a:p>
            <a:pPr marL="457200" lvl="1" indent="0" algn="l">
              <a:buNone/>
              <a:defRPr sz="1800"/>
            </a:pPr>
            <a:r>
              <a:rPr sz="2400"/>
              <a:t>• NAT映射表：内网(IP+端口) → 外网端口</a:t>
            </a:r>
            <a:endParaRPr sz="2400"/>
          </a:p>
          <a:p>
            <a:pPr marL="457200" lvl="1" indent="0" algn="l">
              <a:buNone/>
              <a:defRPr sz="1800"/>
            </a:pPr>
            <a:r>
              <a:rPr sz="2400"/>
              <a:t>• 出站/入站数据包改写 + 校验和重计算</a:t>
            </a:r>
            <a:endParaRPr sz="2400"/>
          </a:p>
          <a:p>
            <a:pPr marL="457200" lvl="1" indent="0" algn="l">
              <a:buNone/>
              <a:defRPr sz="1800"/>
            </a:pPr>
            <a:endParaRPr sz="2400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6607175" y="1605280"/>
            <a:ext cx="5027930" cy="45262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sz="2000"/>
          </a:p>
          <a:p>
            <a:pPr marL="457200" lvl="1" indent="0" algn="l">
              <a:buNone/>
              <a:defRPr sz="1800"/>
            </a:pPr>
            <a:r>
              <a:rPr sz="2400"/>
              <a:t>【SSLVPN】</a:t>
            </a:r>
            <a:endParaRPr sz="2400"/>
          </a:p>
          <a:p>
            <a:pPr marL="457200" lvl="1" indent="0" algn="l">
              <a:buNone/>
              <a:defRPr sz="1800"/>
            </a:pPr>
            <a:r>
              <a:rPr sz="2400"/>
              <a:t>• TUN虚拟网卡 + SSL加密通信</a:t>
            </a:r>
            <a:endParaRPr sz="2400"/>
          </a:p>
          <a:p>
            <a:pPr marL="457200" lvl="1" indent="0" algn="l">
              <a:buNone/>
              <a:defRPr sz="1800"/>
            </a:pPr>
            <a:r>
              <a:rPr sz="2400"/>
              <a:t>• 双向数据转发，安全接入内网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题目4：模拟停车场出入场系统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9509760" cy="4526280"/>
          </a:xfrm>
        </p:spPr>
        <p:txBody>
          <a:bodyPr/>
          <a:lstStyle/>
          <a:p>
            <a:pPr marL="0" indent="0">
              <a:buNone/>
            </a:pPr>
            <a:endParaRPr sz="1800"/>
          </a:p>
          <a:p>
            <a:pPr marL="457200" lvl="1" indent="0">
              <a:buNone/>
              <a:defRPr sz="1800"/>
            </a:pPr>
            <a:r>
              <a:rPr sz="3200"/>
              <a:t>• </a:t>
            </a:r>
            <a:r>
              <a:rPr sz="3200" b="1"/>
              <a:t>手机</a:t>
            </a:r>
            <a:r>
              <a:rPr sz="3200"/>
              <a:t>程序替代专业车牌</a:t>
            </a:r>
            <a:r>
              <a:rPr sz="3200" b="1"/>
              <a:t>扫描</a:t>
            </a:r>
            <a:r>
              <a:rPr sz="3200"/>
              <a:t>设备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拍摄/选择车牌图片，上传至服务器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服务器真实</a:t>
            </a:r>
            <a:r>
              <a:rPr sz="3200" b="1"/>
              <a:t>OCR技术识别车牌</a:t>
            </a:r>
            <a:r>
              <a:rPr sz="3200"/>
              <a:t>信息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入场登记、出场计费完整业务逻辑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模拟真实工程场景的网络通信与数据处理</a:t>
            </a:r>
            <a:endParaRPr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题目5：基于UDP的远程终端程序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9655810" cy="4526280"/>
          </a:xfrm>
        </p:spPr>
        <p:txBody>
          <a:bodyPr/>
          <a:lstStyle/>
          <a:p>
            <a:pPr marL="0" indent="0">
              <a:buNone/>
            </a:pPr>
            <a:endParaRPr sz="1600"/>
          </a:p>
          <a:p>
            <a:pPr marL="457200" lvl="1" indent="0">
              <a:buNone/>
              <a:defRPr sz="1800"/>
            </a:pPr>
            <a:r>
              <a:rPr sz="3200"/>
              <a:t>• UDP无连接、不可靠、面向报文特性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自定义应用层协议解决类型区分、乱序、重复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应用层实现停等ARQ可靠传输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处理回车、退格、Ctrl+C等控制字符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多客户端并发 + 心跳保活机制</a:t>
            </a:r>
            <a:endParaRPr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a87c558-77a2-4771-a219-52a8175e6186"/>
          <p:cNvGrpSpPr/>
          <p:nvPr>
            <p:custDataLst>
              <p:tags r:id="rId1"/>
            </p:custDataLst>
          </p:nvPr>
        </p:nvGrpSpPr>
        <p:grpSpPr>
          <a:xfrm rot="0">
            <a:off x="660366" y="1130420"/>
            <a:ext cx="10857865" cy="5003539"/>
            <a:chOff x="660400" y="1130300"/>
            <a:chExt cx="10858431" cy="5003800"/>
          </a:xfrm>
          <a:solidFill>
            <a:schemeClr val="tx1"/>
          </a:solidFill>
        </p:grpSpPr>
        <p:sp>
          <p:nvSpPr>
            <p:cNvPr id="3" name="AutoShape 3"/>
            <p:cNvSpPr/>
            <p:nvPr/>
          </p:nvSpPr>
          <p:spPr>
            <a:xfrm>
              <a:off x="2875141" y="1317063"/>
              <a:ext cx="6135509" cy="0"/>
            </a:xfrm>
            <a:prstGeom prst="line">
              <a:avLst/>
            </a:prstGeom>
            <a:grpFill/>
            <a:ln w="12700">
              <a:solidFill>
                <a:srgbClr val="37B8A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V="1">
              <a:off x="2676602" y="1317063"/>
              <a:ext cx="198539" cy="209225"/>
            </a:xfrm>
            <a:prstGeom prst="line">
              <a:avLst/>
            </a:prstGeom>
            <a:grpFill/>
            <a:ln w="12700">
              <a:solidFill>
                <a:srgbClr val="37B8A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816448" y="1527929"/>
              <a:ext cx="1860154" cy="0"/>
            </a:xfrm>
            <a:prstGeom prst="line">
              <a:avLst/>
            </a:prstGeom>
            <a:grpFill/>
            <a:ln w="12700">
              <a:solidFill>
                <a:srgbClr val="37B8A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660400" y="1449905"/>
              <a:ext cx="156048" cy="156048"/>
            </a:xfrm>
            <a:prstGeom prst="rect">
              <a:avLst/>
            </a:prstGeom>
            <a:grpFill/>
            <a:ln>
              <a:headEnd type="none"/>
              <a:tailEnd type="non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10450" y="1130300"/>
              <a:ext cx="2508381" cy="2495680"/>
            </a:xfrm>
            <a:prstGeom prst="rect">
              <a:avLst/>
            </a:prstGeom>
            <a:grpFill/>
            <a:ln>
              <a:headEnd type="none"/>
              <a:tailEnd type="none"/>
            </a:ln>
          </p:spPr>
          <p:txBody>
            <a:bodyPr vert="horz" wrap="square" lIns="91435" tIns="45717" rIns="91435" bIns="45717" rtlCol="0" anchor="ctr" anchorCtr="0"/>
            <a:lstStyle/>
            <a:p>
              <a:pPr algn="l">
                <a:defRPr/>
              </a:pPr>
              <a:r>
                <a:rPr lang="en-US" sz="28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基于UDP实现远程终端程序处理控制字符的核心挑战</a:t>
              </a:r>
              <a:endPara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 rot="0">
              <a:off x="660400" y="1792083"/>
              <a:ext cx="3943350" cy="1965960"/>
              <a:chOff x="660400" y="1792083"/>
              <a:chExt cx="3943350" cy="1965960"/>
            </a:xfrm>
            <a:grpFill/>
          </p:grpSpPr>
          <p:sp>
            <p:nvSpPr>
              <p:cNvPr id="9" name="TextBox 9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074321" y="2226095"/>
                <a:ext cx="3529429" cy="1531948"/>
              </a:xfrm>
              <a:prstGeom prst="rect">
                <a:avLst/>
              </a:prstGeom>
              <a:grpFill/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必须保证回车、退格、制表符等控制字符的原子性传输，否则终端显示会错乱。</a:t>
                </a:r>
                <a:endParaRPr lang="en-US" b="0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074321" y="1792083"/>
                <a:ext cx="3529429" cy="434011"/>
              </a:xfrm>
              <a:prstGeom prst="rect">
                <a:avLst/>
              </a:prstGeom>
              <a:grpFill/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控制字符透传</a:t>
                </a:r>
                <a:endParaRPr lang="en-US" sz="28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60400" y="1792083"/>
                <a:ext cx="413922" cy="434011"/>
              </a:xfrm>
              <a:prstGeom prst="rect">
                <a:avLst/>
              </a:prstGeom>
              <a:grpFill/>
              <a:ln>
                <a:prstDash val="solid"/>
                <a:headEnd type="none"/>
                <a:tailEnd type="none"/>
              </a:ln>
            </p:spPr>
            <p:txBody>
              <a:bodyPr vert="horz" wrap="none" lIns="91435" tIns="45717" rIns="91435" bIns="45717" rtlCol="0" anchor="ctr" anchorCtr="0"/>
              <a:lstStyle/>
              <a:p>
                <a:pPr algn="ctr">
                  <a:defRPr/>
                </a:pPr>
                <a:r>
                  <a:rPr lang="en-US" sz="2800" b="1" i="0">
                    <a:solidFill>
                      <a:srgbClr val="37B8A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2800" b="1" i="0">
                  <a:solidFill>
                    <a:srgbClr val="37B8A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660400" y="4168141"/>
              <a:ext cx="3943350" cy="1965959"/>
              <a:chOff x="660400" y="4168141"/>
              <a:chExt cx="3943350" cy="1965959"/>
            </a:xfrm>
            <a:grpFill/>
          </p:grpSpPr>
          <p:sp>
            <p:nvSpPr>
              <p:cNvPr id="13" name="TextBox 13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074321" y="4602152"/>
                <a:ext cx="3529429" cy="1531948"/>
              </a:xfrm>
              <a:prstGeom prst="rect">
                <a:avLst/>
              </a:prstGeom>
              <a:grpFill/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需要将客户端的Ctrl+C、↑↓等特殊键映射为服务器端可识别的信号（如SIGINT）或命令。</a:t>
                </a:r>
                <a:endParaRPr lang="en-US" b="0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074321" y="4168141"/>
                <a:ext cx="3529429" cy="434011"/>
              </a:xfrm>
              <a:prstGeom prst="rect">
                <a:avLst/>
              </a:prstGeom>
              <a:grpFill/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功能键映射</a:t>
                </a:r>
                <a:endParaRPr lang="en-US" sz="28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60400" y="4168141"/>
                <a:ext cx="413922" cy="434011"/>
              </a:xfrm>
              <a:prstGeom prst="rect">
                <a:avLst/>
              </a:prstGeom>
              <a:grpFill/>
              <a:ln>
                <a:prstDash val="solid"/>
                <a:headEnd type="none"/>
                <a:tailEnd type="none"/>
              </a:ln>
            </p:spPr>
            <p:txBody>
              <a:bodyPr vert="horz" wrap="none" lIns="91435" tIns="45717" rIns="91435" bIns="45717" rtlCol="0" anchor="ctr" anchorCtr="0"/>
              <a:lstStyle/>
              <a:p>
                <a:pPr algn="ctr">
                  <a:defRPr/>
                </a:pPr>
                <a:r>
                  <a:rPr lang="en-US" sz="2800" b="1" i="0">
                    <a:solidFill>
                      <a:srgbClr val="37B8A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2800" b="1" i="0">
                  <a:solidFill>
                    <a:srgbClr val="37B8A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4835525" y="1792083"/>
              <a:ext cx="3943350" cy="1965960"/>
              <a:chOff x="4835525" y="1792083"/>
              <a:chExt cx="3943350" cy="1965960"/>
            </a:xfrm>
            <a:grpFill/>
          </p:grpSpPr>
          <p:sp>
            <p:nvSpPr>
              <p:cNvPr id="17" name="TextBox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249446" y="2226095"/>
                <a:ext cx="3529429" cy="1531948"/>
              </a:xfrm>
              <a:prstGeom prst="rect">
                <a:avLst/>
              </a:prstGeom>
              <a:grpFill/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正确处理用于控制终端颜色、光标的ANSI转义序列，是实现彩色输出和界面动态刷新的关键。</a:t>
                </a:r>
                <a:endParaRPr lang="en-US" b="0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249446" y="1792083"/>
                <a:ext cx="3529429" cy="434011"/>
              </a:xfrm>
              <a:prstGeom prst="rect">
                <a:avLst/>
              </a:prstGeom>
              <a:grpFill/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ANSI转义序列</a:t>
                </a:r>
                <a:endParaRPr lang="en-US" sz="2800" b="1" i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4835525" y="1792083"/>
                <a:ext cx="413922" cy="434011"/>
              </a:xfrm>
              <a:prstGeom prst="rect">
                <a:avLst/>
              </a:prstGeom>
              <a:grpFill/>
              <a:ln>
                <a:prstDash val="solid"/>
                <a:headEnd type="none"/>
                <a:tailEnd type="none"/>
              </a:ln>
            </p:spPr>
            <p:txBody>
              <a:bodyPr vert="horz" wrap="none" lIns="91435" tIns="45717" rIns="91435" bIns="45717" rtlCol="0" anchor="ctr" anchorCtr="0"/>
              <a:lstStyle/>
              <a:p>
                <a:pPr algn="ctr">
                  <a:defRPr/>
                </a:pPr>
                <a:r>
                  <a:rPr lang="en-US" sz="2800" b="1" i="0">
                    <a:solidFill>
                      <a:srgbClr val="37B8A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2800" b="1" i="0">
                  <a:solidFill>
                    <a:srgbClr val="37B8A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4835525" y="4168141"/>
              <a:ext cx="3943350" cy="1965959"/>
              <a:chOff x="4835525" y="4168141"/>
              <a:chExt cx="3943350" cy="1965959"/>
            </a:xfrm>
            <a:grpFill/>
          </p:grpSpPr>
          <p:sp>
            <p:nvSpPr>
              <p:cNvPr id="21" name="TextBox 2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249446" y="4602152"/>
                <a:ext cx="3529429" cy="1531948"/>
              </a:xfrm>
              <a:prstGeom prst="rect">
                <a:avLst/>
              </a:prstGeom>
              <a:grpFill/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客户端需主动将终端窗口尺寸变化通知服务器，以便服务器程序（如top）能适配输出。</a:t>
                </a:r>
                <a:endParaRPr lang="en-US" b="0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249446" y="4168141"/>
                <a:ext cx="3529429" cy="434011"/>
              </a:xfrm>
              <a:prstGeom prst="rect">
                <a:avLst/>
              </a:prstGeom>
              <a:grpFill/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窗口大小同步</a:t>
                </a:r>
                <a:endParaRPr lang="en-US" sz="28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35525" y="4168141"/>
                <a:ext cx="413922" cy="434011"/>
              </a:xfrm>
              <a:prstGeom prst="rect">
                <a:avLst/>
              </a:prstGeom>
              <a:grpFill/>
              <a:ln>
                <a:prstDash val="solid"/>
                <a:headEnd type="none"/>
                <a:tailEnd type="none"/>
              </a:ln>
            </p:spPr>
            <p:txBody>
              <a:bodyPr vert="horz" wrap="none" lIns="91435" tIns="45717" rIns="91435" bIns="45717" rtlCol="0" anchor="ctr" anchorCtr="0"/>
              <a:lstStyle/>
              <a:p>
                <a:pPr algn="ctr">
                  <a:defRPr/>
                </a:pPr>
                <a:r>
                  <a:rPr lang="en-US" sz="2800" b="1" i="0">
                    <a:solidFill>
                      <a:srgbClr val="37B8A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2800" b="1" i="0">
                  <a:solidFill>
                    <a:srgbClr val="37B8A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366" y="505631"/>
            <a:ext cx="10857934" cy="52319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35" tIns="45717" rIns="91435" bIns="45717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远程终端难点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9364345" cy="1143000"/>
          </a:xfrm>
        </p:spPr>
        <p:txBody>
          <a:bodyPr/>
          <a:lstStyle/>
          <a:p>
            <a:r>
              <a:t>题目6：基于网络的文件备份系统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9082405" cy="4708525"/>
          </a:xfrm>
        </p:spPr>
        <p:txBody>
          <a:bodyPr/>
          <a:lstStyle/>
          <a:p>
            <a:pPr marL="0" indent="0">
              <a:buNone/>
            </a:pPr>
            <a:endParaRPr sz="2000"/>
          </a:p>
          <a:p>
            <a:pPr marL="457200" lvl="1" indent="0">
              <a:buNone/>
              <a:defRPr sz="1800"/>
            </a:pPr>
            <a:r>
              <a:rPr sz="3600"/>
              <a:t>• 全量备份与增量备份策略</a:t>
            </a:r>
            <a:endParaRPr sz="3600"/>
          </a:p>
          <a:p>
            <a:pPr marL="457200" lvl="1" indent="0">
              <a:buNone/>
              <a:defRPr sz="1800"/>
            </a:pPr>
            <a:r>
              <a:rPr sz="3600"/>
              <a:t>• 文件</a:t>
            </a:r>
            <a:r>
              <a:rPr sz="3600" b="1"/>
              <a:t>分块传输与断点续传</a:t>
            </a:r>
            <a:endParaRPr sz="3600"/>
          </a:p>
          <a:p>
            <a:pPr marL="457200" lvl="1" indent="0">
              <a:buNone/>
              <a:defRPr sz="1800"/>
            </a:pPr>
            <a:r>
              <a:rPr sz="3600"/>
              <a:t>• 文件完整性校验（MD5/SHA-256）</a:t>
            </a:r>
            <a:endParaRPr sz="3600"/>
          </a:p>
          <a:p>
            <a:pPr marL="457200" lvl="1" indent="0">
              <a:buNone/>
              <a:defRPr sz="1800"/>
            </a:pPr>
            <a:r>
              <a:rPr sz="3600"/>
              <a:t>• 多版本管理与恢复机制</a:t>
            </a:r>
            <a:endParaRPr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题目7：五子棋网络游戏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sz="2000"/>
          </a:p>
          <a:p>
            <a:pPr marL="457200" lvl="1" indent="0">
              <a:buNone/>
              <a:defRPr sz="1800"/>
            </a:pPr>
            <a:r>
              <a:rPr sz="3200"/>
              <a:t>• 双人对战模式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棋盘状态同步与落子合法性校验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胜利判定算法（五子连线检测）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断线重连与对局记录</a:t>
            </a:r>
            <a:endParaRPr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题目8：用户态轻量级TCP协议栈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9780905" cy="4708525"/>
          </a:xfrm>
        </p:spPr>
        <p:txBody>
          <a:bodyPr/>
          <a:lstStyle/>
          <a:p>
            <a:pPr marL="0" indent="0">
              <a:buNone/>
            </a:pPr>
            <a:endParaRPr sz="1400"/>
          </a:p>
          <a:p>
            <a:pPr marL="457200" lvl="1" indent="0">
              <a:buNone/>
              <a:defRPr sz="1800"/>
            </a:pPr>
            <a:r>
              <a:rPr sz="3200"/>
              <a:t>• 运行于用户态，基于UDP/</a:t>
            </a:r>
            <a:r>
              <a:rPr sz="3200" b="1"/>
              <a:t>原始套接字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实现三次握手与四次挥手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滑动窗口、超时重传机制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累计确认与丢包检测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忽略紧急数据、保活机制等复杂功能</a:t>
            </a:r>
            <a:endParaRPr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题目9：Linux用户态软件路由器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708525"/>
          </a:xfrm>
        </p:spPr>
        <p:txBody>
          <a:bodyPr/>
          <a:lstStyle/>
          <a:p>
            <a:pPr marL="0" indent="0">
              <a:buNone/>
            </a:pPr>
            <a:endParaRPr sz="1800"/>
          </a:p>
          <a:p>
            <a:pPr marL="457200" lvl="1" indent="0">
              <a:buNone/>
              <a:defRPr sz="1800"/>
            </a:pPr>
            <a:r>
              <a:rPr sz="3200"/>
              <a:t>• ARP协议解析（邻居发现与缓存）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路由表查询（最长前缀匹配算法）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IP分组转发（不调用内核路由模块）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所有核心逻辑由用户态程序自主实现</a:t>
            </a:r>
            <a:endParaRPr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题目10：算法可视化演示系统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9187180" cy="4526280"/>
          </a:xfrm>
        </p:spPr>
        <p:txBody>
          <a:bodyPr/>
          <a:lstStyle/>
          <a:p>
            <a:pPr marL="0" indent="0">
              <a:buNone/>
            </a:pPr>
            <a:endParaRPr sz="1800"/>
          </a:p>
          <a:p>
            <a:pPr marL="457200" lvl="1" indent="0">
              <a:buNone/>
              <a:defRPr sz="1800"/>
            </a:pPr>
            <a:r>
              <a:rPr sz="3200"/>
              <a:t>• 核心：堆的创建过程可视化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扩展支持：快速排序/链表操作/二叉树遍历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前端：用户输入界面、实时渲染、步骤说明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后端：WebSocket实时推送步骤数据</a:t>
            </a:r>
            <a:endParaRPr sz="3200"/>
          </a:p>
          <a:p>
            <a:pPr marL="457200" lvl="1" indent="0">
              <a:buNone/>
              <a:defRPr sz="1800"/>
            </a:pPr>
            <a:r>
              <a:rPr sz="3200"/>
              <a:t>• 交互：暂停、继续、重置按钮</a:t>
            </a:r>
            <a:endParaRPr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粘包问题的本质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2215"/>
            <a:ext cx="9067165" cy="470916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400"/>
          </a:p>
          <a:p>
            <a:pPr marL="457200" lvl="1" indent="0">
              <a:buNone/>
              <a:defRPr sz="1800"/>
            </a:pPr>
            <a:r>
              <a:rPr sz="2800"/>
              <a:t>【核心问题】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TCP是字节流协议，无消息边界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接收端无法区分完整应用层数据包边界</a:t>
            </a:r>
            <a:endParaRPr sz="2800"/>
          </a:p>
          <a:p>
            <a:pPr marL="457200" lvl="1" indent="0">
              <a:buNone/>
              <a:defRPr sz="1800"/>
            </a:pPr>
          </a:p>
          <a:p>
            <a:pPr marL="457200" lvl="1" indent="0">
              <a:buNone/>
              <a:defRPr sz="1800"/>
            </a:pPr>
            <a:r>
              <a:rPr sz="2800"/>
              <a:t>【注意】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UDP是面向报文的，天然无粘包</a:t>
            </a:r>
            <a:endParaRPr sz="2800"/>
          </a:p>
          <a:p>
            <a:pPr marL="457200" lvl="1" indent="0">
              <a:buNone/>
              <a:defRPr sz="1800"/>
            </a:pPr>
            <a:endParaRPr sz="1600"/>
          </a:p>
          <a:p>
            <a:pPr marL="457200" lvl="1" indent="0">
              <a:buNone/>
              <a:defRPr sz="1800"/>
            </a:pPr>
            <a:r>
              <a:rPr sz="2800"/>
              <a:t>【解决目标】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让接收端能准确识别完整协议包的开始和结束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同时支持协议合法性校验</a:t>
            </a:r>
            <a:endParaRPr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方案1：固定长度头部 + 数据段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320"/>
            <a:ext cx="10862945" cy="470916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200"/>
          </a:p>
          <a:p>
            <a:pPr marL="457200" lvl="1" indent="0">
              <a:buNone/>
              <a:defRPr sz="1800"/>
            </a:pPr>
            <a:r>
              <a:rPr sz="2800"/>
              <a:t>【原理】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头部固定长度（如14字节），包含数据段长度、校验和、魔数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接收端：先读头部 → 解析长度 → 再读数据段</a:t>
            </a:r>
            <a:endParaRPr sz="2800"/>
          </a:p>
          <a:p>
            <a:pPr marL="457200" lvl="1" indent="0">
              <a:buNone/>
              <a:defRPr sz="1800"/>
            </a:pPr>
            <a:endParaRPr sz="1600"/>
          </a:p>
          <a:p>
            <a:pPr marL="457200" lvl="1" indent="0">
              <a:buNone/>
              <a:defRPr sz="1800"/>
            </a:pPr>
            <a:r>
              <a:rPr sz="2800"/>
              <a:t>【优势】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兼容二进制数据（文件、图片、视频）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高效，仅需两次读取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魔数+校验和+长度一站式解决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方案2：分隔符（边界符）法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10462260" cy="476885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800"/>
          </a:p>
          <a:p>
            <a:pPr marL="457200" lvl="1" indent="0">
              <a:buNone/>
              <a:defRPr sz="1800"/>
            </a:pPr>
            <a:r>
              <a:rPr sz="2800"/>
              <a:t>【原理】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协议包之间用唯一分隔符分隔（如\r\n\r\n）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接收端持续读取直到遇到分隔符</a:t>
            </a:r>
            <a:endParaRPr sz="2800"/>
          </a:p>
          <a:p>
            <a:pPr marL="457200" lvl="1" indent="0">
              <a:buNone/>
              <a:defRPr sz="1800"/>
            </a:pPr>
            <a:endParaRPr sz="1600"/>
          </a:p>
          <a:p>
            <a:pPr marL="457200" lvl="1" indent="0">
              <a:buNone/>
              <a:defRPr sz="1800"/>
            </a:pPr>
            <a:r>
              <a:rPr sz="2800"/>
              <a:t>【优势】实现简单，适合文本协议，可读性高</a:t>
            </a:r>
            <a:endParaRPr sz="2800"/>
          </a:p>
          <a:p>
            <a:pPr marL="457200" lvl="1" indent="0">
              <a:buNone/>
              <a:defRPr sz="1800"/>
            </a:pPr>
            <a:endParaRPr sz="1200"/>
          </a:p>
          <a:p>
            <a:pPr marL="457200" lvl="1" indent="0">
              <a:buNone/>
              <a:defRPr sz="1800"/>
            </a:pPr>
            <a:r>
              <a:rPr sz="2800"/>
              <a:t>【问题与解决】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分隔符冲突 → 转义处理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协议合法性 → 包开头加标识字符串</a:t>
            </a:r>
            <a:endParaRPr sz="2800"/>
          </a:p>
          <a:p>
            <a:pPr marL="457200" lvl="1" indent="0">
              <a:buNone/>
              <a:defRPr sz="1800"/>
            </a:pPr>
            <a:endParaRPr sz="1200"/>
          </a:p>
          <a:p>
            <a:pPr marL="457200" lvl="1" indent="0">
              <a:buNone/>
              <a:defRPr sz="1800"/>
            </a:pPr>
            <a:r>
              <a:rPr sz="2800"/>
              <a:t>【场景】HTTP、Redis协议、聊天协议</a:t>
            </a:r>
            <a:endParaRPr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方案3：长度前缀法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9825"/>
            <a:ext cx="10159365" cy="498665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600"/>
          </a:p>
          <a:p>
            <a:pPr marL="457200" lvl="1" indent="0">
              <a:buNone/>
              <a:defRPr sz="1800"/>
            </a:pPr>
            <a:r>
              <a:rPr sz="2800"/>
              <a:t>【原理】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仅在数据段前加长度前缀（如4字节）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接收端：读长度前缀 → 读对应长度数据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协议合法性：数据段开头加魔数字段</a:t>
            </a:r>
            <a:endParaRPr sz="2800"/>
          </a:p>
          <a:p>
            <a:pPr marL="457200" lvl="1" indent="0">
              <a:buNone/>
              <a:defRPr sz="1800"/>
            </a:pPr>
            <a:endParaRPr sz="1600"/>
          </a:p>
          <a:p>
            <a:pPr marL="457200" lvl="1" indent="0">
              <a:buNone/>
              <a:defRPr sz="1800"/>
            </a:pPr>
            <a:r>
              <a:rPr sz="2800"/>
              <a:t>【优势】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比固定头部更灵活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兼容二进制和文本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无分隔符冲突问题</a:t>
            </a:r>
            <a:endParaRPr sz="2800"/>
          </a:p>
          <a:p>
            <a:pPr marL="457200" lvl="1" indent="0">
              <a:buNone/>
              <a:defRPr sz="1800"/>
            </a:pPr>
            <a:endParaRPr sz="1600"/>
          </a:p>
          <a:p>
            <a:pPr marL="457200" lvl="1" indent="0">
              <a:buNone/>
              <a:defRPr sz="1800"/>
            </a:pPr>
            <a:r>
              <a:rPr sz="2800"/>
              <a:t>【场景】轻量级二进制协议、嵌入式设备</a:t>
            </a:r>
            <a:endParaRPr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方案4：消息长度固定法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2865"/>
            <a:ext cx="8229600" cy="470916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400"/>
          </a:p>
          <a:p>
            <a:pPr marL="457200" lvl="1" indent="0">
              <a:buNone/>
              <a:defRPr sz="1800"/>
            </a:pPr>
            <a:r>
              <a:rPr sz="2400"/>
              <a:t>【原理】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所有协议包长度固定（如1024字节）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数据不足时用填充符（\0）补满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接收端每次固定读取指定长度</a:t>
            </a:r>
            <a:endParaRPr sz="2400"/>
          </a:p>
          <a:p>
            <a:pPr marL="457200" lvl="1" indent="0">
              <a:buNone/>
              <a:defRPr sz="1800"/>
            </a:pPr>
            <a:endParaRPr sz="1600"/>
          </a:p>
          <a:p>
            <a:pPr marL="457200" lvl="1" indent="0">
              <a:buNone/>
              <a:defRPr sz="1800"/>
            </a:pPr>
            <a:r>
              <a:rPr sz="2400"/>
              <a:t>【优势】实现极致简单，内存友好</a:t>
            </a:r>
            <a:endParaRPr sz="2400"/>
          </a:p>
          <a:p>
            <a:pPr marL="457200" lvl="1" indent="0">
              <a:buNone/>
              <a:defRPr sz="1800"/>
            </a:pPr>
            <a:endParaRPr sz="1400"/>
          </a:p>
          <a:p>
            <a:pPr marL="457200" lvl="1" indent="0">
              <a:buNone/>
              <a:defRPr sz="1800"/>
            </a:pPr>
            <a:r>
              <a:rPr sz="2400"/>
              <a:t>【缺点】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浪费带宽（填充符占用空间）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不支持超过固定长度的数据包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协议扩展困难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方案5：混合法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4620"/>
            <a:ext cx="10789920" cy="472186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200"/>
          </a:p>
          <a:p>
            <a:pPr marL="457200" lvl="1" indent="0">
              <a:buNone/>
              <a:defRPr sz="1800"/>
            </a:pPr>
            <a:r>
              <a:rPr sz="2800"/>
              <a:t>【原理】结合多种方案优势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「分隔符 + 长度前缀」：文本用分隔符，二进制用长度前缀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「固定头部 + 分隔符」：头部固定保证效率，数据段用分隔符</a:t>
            </a:r>
            <a:endParaRPr sz="2800"/>
          </a:p>
          <a:p>
            <a:pPr marL="457200" lvl="1" indent="0">
              <a:buNone/>
              <a:defRPr sz="1800"/>
            </a:pPr>
            <a:endParaRPr sz="1400"/>
          </a:p>
          <a:p>
            <a:pPr marL="457200" lvl="1" indent="0">
              <a:buNone/>
              <a:defRPr sz="1800"/>
            </a:pPr>
            <a:r>
              <a:rPr sz="2800"/>
              <a:t>【HTTP典型实现】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头部：文本 + \r\n分隔字段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空行（\r\n\r\n）分隔头部和正文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• 正文：Content-Length（长度前缀）或分块</a:t>
            </a:r>
            <a:r>
              <a:rPr lang="zh-CN" sz="2800"/>
              <a:t>（</a:t>
            </a:r>
            <a:r>
              <a:rPr lang="en-US" altLang="zh-CN" sz="2800"/>
              <a:t>Chunk</a:t>
            </a:r>
            <a:r>
              <a:rPr lang="zh-CN" sz="2800"/>
              <a:t>）</a:t>
            </a:r>
            <a:r>
              <a:rPr sz="2800"/>
              <a:t>传输</a:t>
            </a:r>
            <a:endParaRPr sz="2800"/>
          </a:p>
          <a:p>
            <a:pPr marL="457200" lvl="1" indent="0">
              <a:buNone/>
              <a:defRPr sz="1800"/>
            </a:pPr>
          </a:p>
          <a:p>
            <a:pPr marL="457200" lvl="1" indent="0">
              <a:buNone/>
              <a:defRPr sz="1800"/>
            </a:pPr>
            <a:r>
              <a:rPr sz="2800"/>
              <a:t>【场景】复杂业务（文本+二进制混合）</a:t>
            </a:r>
            <a:endParaRPr sz="2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HTTP协议格式（混合法经典）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5565"/>
            <a:ext cx="5495925" cy="4853305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457200" lvl="1" indent="0">
              <a:buNone/>
              <a:defRPr sz="1800"/>
            </a:pPr>
            <a:r>
              <a:rPr sz="2800"/>
              <a:t>【请求格式】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GET /index.html HTTP/1.1\r\n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Host: www.example.com\r\n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User-Agent: Mozilla/5.0\r\n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\r\n（空行）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[请求正文（可选）]</a:t>
            </a:r>
            <a:endParaRPr sz="2800"/>
          </a:p>
          <a:p>
            <a:pPr marL="457200" lvl="1" indent="0">
              <a:buNone/>
              <a:defRPr sz="1800"/>
            </a:pPr>
            <a:endParaRPr sz="2800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6021705" y="1345565"/>
            <a:ext cx="5110480" cy="48533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 sz="1800"/>
            </a:pPr>
            <a:r>
              <a:rPr sz="2800"/>
              <a:t>【响应格式】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HTTP/1.1 200 OK\r\n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Content-Type: text/html\r\n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Content-Length: 1024\r\n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\r\n</a:t>
            </a:r>
            <a:endParaRPr sz="2800"/>
          </a:p>
          <a:p>
            <a:pPr marL="457200" lvl="1" indent="0">
              <a:buNone/>
              <a:defRPr sz="1800"/>
            </a:pPr>
            <a:r>
              <a:rPr sz="2800"/>
              <a:t>[响应正文]</a:t>
            </a:r>
            <a:endParaRPr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HTTP如何解决粘包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173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000"/>
          </a:p>
          <a:p>
            <a:pPr marL="457200" lvl="1" indent="0">
              <a:buNone/>
              <a:defRPr sz="1800"/>
            </a:pPr>
            <a:r>
              <a:rPr sz="2400"/>
              <a:t>【无正文场景】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分隔符法：以\r\n\r\n作为头部结束标志</a:t>
            </a:r>
            <a:endParaRPr sz="2400"/>
          </a:p>
          <a:p>
            <a:pPr marL="457200" lvl="1" indent="0">
              <a:buNone/>
              <a:defRPr sz="1800"/>
            </a:pPr>
            <a:endParaRPr sz="1400"/>
          </a:p>
          <a:p>
            <a:pPr marL="457200" lvl="1" indent="0">
              <a:buNone/>
              <a:defRPr sz="1800"/>
            </a:pPr>
            <a:r>
              <a:rPr sz="2400"/>
              <a:t>【有正文场景1：Content-Length】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长度前缀法：头部指定正文字节数N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接收端读取恰好N个字节作为正文</a:t>
            </a:r>
            <a:endParaRPr sz="2400"/>
          </a:p>
          <a:p>
            <a:pPr marL="457200" lvl="1" indent="0">
              <a:buNone/>
              <a:defRPr sz="1800"/>
            </a:pPr>
            <a:endParaRPr sz="1400"/>
          </a:p>
          <a:p>
            <a:pPr marL="457200" lvl="1" indent="0">
              <a:buNone/>
              <a:defRPr sz="1800"/>
            </a:pPr>
            <a:r>
              <a:rPr sz="2400"/>
              <a:t>【有正文场景2：分块传输】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分隔符+长度前缀混合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格式：长度\r\n数据\r\n...0\r\n\r\n</a:t>
            </a:r>
            <a:endParaRPr sz="2400"/>
          </a:p>
          <a:p>
            <a:pPr marL="457200" lvl="1" indent="0">
              <a:buNone/>
              <a:defRPr sz="1800"/>
            </a:pPr>
            <a:endParaRPr sz="1400"/>
          </a:p>
          <a:p>
            <a:pPr marL="457200" lvl="1" indent="0">
              <a:buNone/>
              <a:defRPr sz="1800"/>
            </a:pPr>
            <a:r>
              <a:rPr sz="2400"/>
              <a:t>【优先级】Transfer-Encoding: chunked &gt; Content-Length</a:t>
            </a:r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远程终端：控制字符处理难点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9855200" cy="470852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800"/>
          </a:p>
          <a:p>
            <a:pPr marL="457200" lvl="1" indent="0">
              <a:buNone/>
              <a:defRPr sz="1800"/>
            </a:pPr>
            <a:r>
              <a:rPr sz="2400"/>
              <a:t>┌────────────┬─────────────────┬─────────────────────┐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│  字符类型  </a:t>
            </a:r>
            <a:r>
              <a:rPr lang="en-US" sz="2400"/>
              <a:t>      </a:t>
            </a:r>
            <a:r>
              <a:rPr sz="2400"/>
              <a:t>│      示例      </a:t>
            </a:r>
            <a:r>
              <a:rPr lang="en-US" sz="2400"/>
              <a:t>                </a:t>
            </a:r>
            <a:r>
              <a:rPr sz="2400"/>
              <a:t> │      处理难点   </a:t>
            </a:r>
            <a:r>
              <a:rPr lang="en-US" sz="2400"/>
              <a:t>                </a:t>
            </a:r>
            <a:r>
              <a:rPr sz="2400"/>
              <a:t>    │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├────────────┼─────────────────┼────────────────────┤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│基础控制符  </a:t>
            </a:r>
            <a:r>
              <a:rPr lang="en-US" sz="2400"/>
              <a:t>   </a:t>
            </a:r>
            <a:r>
              <a:rPr sz="2400"/>
              <a:t>│ \n</a:t>
            </a:r>
            <a:r>
              <a:rPr lang="en-US" sz="2400"/>
              <a:t>  </a:t>
            </a:r>
            <a:r>
              <a:rPr sz="2400"/>
              <a:t> \r </a:t>
            </a:r>
            <a:r>
              <a:rPr lang="en-US" sz="2400"/>
              <a:t>   </a:t>
            </a:r>
            <a:r>
              <a:rPr sz="2400"/>
              <a:t>\b </a:t>
            </a:r>
            <a:r>
              <a:rPr lang="en-US" sz="2400"/>
              <a:t>   </a:t>
            </a:r>
            <a:r>
              <a:rPr sz="2400"/>
              <a:t>\t  </a:t>
            </a:r>
            <a:r>
              <a:rPr lang="en-US" sz="2400"/>
              <a:t>          </a:t>
            </a:r>
            <a:r>
              <a:rPr sz="2400"/>
              <a:t>│ 原子性传输（不拆分）│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│ANSI转义  </a:t>
            </a:r>
            <a:r>
              <a:rPr lang="en-US" sz="2400"/>
              <a:t>     </a:t>
            </a:r>
            <a:r>
              <a:rPr sz="2400"/>
              <a:t>  │ \033[2J \033[31m</a:t>
            </a:r>
            <a:r>
              <a:rPr lang="en-US" sz="2400"/>
              <a:t>      </a:t>
            </a:r>
            <a:r>
              <a:rPr sz="2400"/>
              <a:t>│ 多字节，易被分片  </a:t>
            </a:r>
            <a:r>
              <a:rPr lang="en-US" sz="2400"/>
              <a:t>     </a:t>
            </a:r>
            <a:r>
              <a:rPr sz="2400"/>
              <a:t>  │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│功能键      </a:t>
            </a:r>
            <a:r>
              <a:rPr lang="en-US" sz="2400"/>
              <a:t>       </a:t>
            </a:r>
            <a:r>
              <a:rPr sz="2400"/>
              <a:t>│ Ctrl+C Tab ↑   </a:t>
            </a:r>
            <a:r>
              <a:rPr lang="en-US" sz="2400"/>
              <a:t>           </a:t>
            </a:r>
            <a:r>
              <a:rPr sz="2400"/>
              <a:t> │ 映射为服务器信号  </a:t>
            </a:r>
            <a:r>
              <a:rPr lang="en-US" sz="2400"/>
              <a:t>     </a:t>
            </a:r>
            <a:r>
              <a:rPr sz="2400"/>
              <a:t>  │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│窗口控制  </a:t>
            </a:r>
            <a:r>
              <a:rPr lang="en-US" sz="2400"/>
              <a:t>     </a:t>
            </a:r>
            <a:r>
              <a:rPr sz="2400"/>
              <a:t>  │ WINCH信号       </a:t>
            </a:r>
            <a:r>
              <a:rPr lang="en-US" sz="2400"/>
              <a:t>         </a:t>
            </a:r>
            <a:r>
              <a:rPr sz="2400"/>
              <a:t>│ 主动同步窗口大小  </a:t>
            </a:r>
            <a:r>
              <a:rPr lang="en-US" sz="2400"/>
              <a:t>     </a:t>
            </a:r>
            <a:r>
              <a:rPr sz="2400"/>
              <a:t>  │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│行编辑字符 </a:t>
            </a:r>
            <a:r>
              <a:rPr lang="en-US" sz="2400"/>
              <a:t>   </a:t>
            </a:r>
            <a:r>
              <a:rPr sz="2400"/>
              <a:t> │ Ctrl+U Ctrl+W   </a:t>
            </a:r>
            <a:r>
              <a:rPr lang="en-US" sz="2400"/>
              <a:t>         </a:t>
            </a:r>
            <a:r>
              <a:rPr sz="2400"/>
              <a:t>│ 对接伪终端(PTY) </a:t>
            </a:r>
            <a:r>
              <a:rPr lang="en-US" sz="2400"/>
              <a:t>        </a:t>
            </a:r>
            <a:r>
              <a:rPr sz="2400"/>
              <a:t>    │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└────────────┴─────────────────┴─────────────────────┘</a:t>
            </a:r>
            <a:endParaRPr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终端控制字符处理策略（分层）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8880"/>
            <a:ext cx="8229600" cy="49276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400"/>
          </a:p>
          <a:p>
            <a:pPr marL="457200" lvl="1" indent="0">
              <a:buNone/>
              <a:defRPr sz="1800"/>
            </a:pPr>
            <a:r>
              <a:rPr sz="2400"/>
              <a:t>【基础】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透传\n/\r/\b等基础控制字符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过滤ANSI转义序列，避免乱码</a:t>
            </a:r>
            <a:endParaRPr sz="2400"/>
          </a:p>
          <a:p>
            <a:pPr marL="457200" lvl="1" indent="0">
              <a:buNone/>
              <a:defRPr sz="1800"/>
            </a:pPr>
            <a:endParaRPr sz="1400"/>
          </a:p>
          <a:p>
            <a:pPr marL="457200" lvl="1" indent="0">
              <a:buNone/>
              <a:defRPr sz="1800"/>
            </a:pPr>
            <a:r>
              <a:rPr sz="2400"/>
              <a:t>【进阶】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支持Ctrl+C中断服务器命令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用PTY（伪终端）执行命令，支持tab补全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控制码映射：Ctrl+C=0x03 → SIGINT</a:t>
            </a:r>
            <a:endParaRPr sz="2400"/>
          </a:p>
          <a:p>
            <a:pPr marL="457200" lvl="1" indent="0">
              <a:buNone/>
              <a:defRPr sz="1800"/>
            </a:pPr>
            <a:endParaRPr sz="1400"/>
          </a:p>
          <a:p>
            <a:pPr marL="457200" lvl="1" indent="0">
              <a:buNone/>
              <a:defRPr sz="1800"/>
            </a:pPr>
            <a:r>
              <a:rPr sz="2400"/>
              <a:t>【高阶】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同步终端窗口大小（TIOCSWINSZ）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保留彩色输出（ANSI转义透传）</a:t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UDP远程终端实现要点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9515"/>
            <a:ext cx="8229600" cy="492696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400"/>
          </a:p>
          <a:p>
            <a:pPr marL="457200" lvl="1" indent="0">
              <a:buNone/>
              <a:defRPr sz="1800"/>
            </a:pPr>
            <a:r>
              <a:rPr sz="2400"/>
              <a:t>【关键技术】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UDP报文大小 ≤ MTU（1500字节），避免分片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保证转义序列原子性（不拆分\033[31m等）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客户端终端切换为原始模式（cbreak/raw）</a:t>
            </a:r>
            <a:endParaRPr sz="2400"/>
          </a:p>
          <a:p>
            <a:pPr marL="457200" lvl="1" indent="0">
              <a:buNone/>
              <a:defRPr sz="1800"/>
            </a:pPr>
            <a:endParaRPr sz="1600"/>
          </a:p>
          <a:p>
            <a:pPr marL="457200" lvl="1" indent="0">
              <a:buNone/>
              <a:defRPr sz="1800"/>
            </a:pPr>
            <a:r>
              <a:rPr sz="2400"/>
              <a:t>【服务器端】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为每个客户端创建PTY（伪终端）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PTY资源管理，避免文件描述符泄漏</a:t>
            </a:r>
            <a:endParaRPr sz="2400"/>
          </a:p>
          <a:p>
            <a:pPr marL="457200" lvl="1" indent="0">
              <a:buNone/>
              <a:defRPr sz="1800"/>
            </a:pPr>
            <a:endParaRPr sz="1400"/>
          </a:p>
          <a:p>
            <a:pPr marL="457200" lvl="1" indent="0">
              <a:buNone/>
              <a:defRPr sz="1800"/>
            </a:pPr>
            <a:r>
              <a:rPr sz="2400"/>
              <a:t>【可靠传输】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停等ARQ + 超时重传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序列号解决乱序/重复</a:t>
            </a: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实验难度与选做建议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0945"/>
            <a:ext cx="10450195" cy="491553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200"/>
          </a:p>
          <a:p>
            <a:pPr marL="457200" lvl="1" indent="0">
              <a:buNone/>
              <a:defRPr sz="1800"/>
            </a:pPr>
            <a:r>
              <a:rPr sz="2400"/>
              <a:t>【基础难度】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题目2：聊天系统</a:t>
            </a:r>
            <a:r>
              <a:rPr lang="en-US" sz="2400"/>
              <a:t>                 </a:t>
            </a:r>
            <a:r>
              <a:rPr sz="2400">
                <a:sym typeface="+mn-ea"/>
              </a:rPr>
              <a:t>• 题目6：基于网络的文件备份系统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题目7：五子棋网络游戏</a:t>
            </a:r>
            <a:endParaRPr sz="2400"/>
          </a:p>
          <a:p>
            <a:pPr marL="457200" lvl="1" indent="0">
              <a:buNone/>
              <a:defRPr sz="1800"/>
            </a:pPr>
            <a:endParaRPr sz="1400"/>
          </a:p>
          <a:p>
            <a:pPr marL="457200" lvl="1" indent="0">
              <a:buNone/>
              <a:defRPr sz="1800"/>
            </a:pPr>
            <a:r>
              <a:rPr sz="2400"/>
              <a:t>【进阶】</a:t>
            </a:r>
            <a:endParaRPr sz="2400"/>
          </a:p>
          <a:p>
            <a:pPr marL="457200" lvl="1" algn="l">
              <a:buClrTx/>
              <a:buSzTx/>
              <a:buNone/>
              <a:defRPr sz="1800"/>
            </a:pPr>
            <a:r>
              <a:rPr lang="en-US" sz="2400"/>
              <a:t>    </a:t>
            </a:r>
            <a:r>
              <a:rPr sz="2400"/>
              <a:t>• 题目1：GBN+SR传输协议</a:t>
            </a:r>
            <a:r>
              <a:rPr lang="en-US" sz="2400"/>
              <a:t>      </a:t>
            </a:r>
            <a:r>
              <a:rPr sz="2400">
                <a:sym typeface="+mn-ea"/>
              </a:rPr>
              <a:t>• 题目4：模拟停车场出入场系统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题目10：算法可视化演示系统</a:t>
            </a:r>
            <a:endParaRPr sz="2400"/>
          </a:p>
          <a:p>
            <a:pPr marL="457200" lvl="1" indent="0">
              <a:buNone/>
              <a:defRPr sz="1800"/>
            </a:pPr>
            <a:endParaRPr sz="1200"/>
          </a:p>
          <a:p>
            <a:pPr marL="457200" lvl="1" indent="0">
              <a:buNone/>
              <a:defRPr sz="1800"/>
            </a:pPr>
            <a:r>
              <a:rPr sz="2400"/>
              <a:t>【高阶难度（挑战）】</a:t>
            </a:r>
            <a:endParaRPr sz="2400"/>
          </a:p>
          <a:p>
            <a:pPr marL="0" lvl="1" indent="0">
              <a:buNone/>
              <a:defRPr sz="1800"/>
            </a:pPr>
            <a:r>
              <a:rPr lang="en-US" sz="2400"/>
              <a:t>      </a:t>
            </a:r>
            <a:r>
              <a:rPr sz="2400"/>
              <a:t>• 题目3：FirewallBox（防火墙+NAT+VPN）</a:t>
            </a:r>
            <a:r>
              <a:rPr sz="2400">
                <a:sym typeface="+mn-ea"/>
              </a:rPr>
              <a:t>• 题目9：用户态软件路由器</a:t>
            </a:r>
            <a:endParaRPr sz="2400"/>
          </a:p>
          <a:p>
            <a:pPr marL="457200" lvl="1" indent="0">
              <a:buNone/>
              <a:defRPr sz="1800"/>
            </a:pPr>
            <a:r>
              <a:rPr sz="2400"/>
              <a:t>• 题目5：基于UDP的远程终端程序</a:t>
            </a:r>
            <a:r>
              <a:rPr lang="en-US" sz="2400"/>
              <a:t>     </a:t>
            </a:r>
            <a:r>
              <a:rPr sz="2400"/>
              <a:t>• 题目8：用户态轻量级TCP协议栈</a:t>
            </a:r>
            <a:endParaRPr sz="2400"/>
          </a:p>
          <a:p>
            <a:pPr marL="457200" lvl="1" indent="0">
              <a:buNone/>
              <a:defRPr sz="1800"/>
            </a:pP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5fb8e51-73e5-417a-8308-8b54fa0d8e7f"/>
          <p:cNvGrpSpPr/>
          <p:nvPr>
            <p:custDataLst>
              <p:tags r:id="rId1"/>
            </p:custDataLst>
          </p:nvPr>
        </p:nvGrpSpPr>
        <p:grpSpPr>
          <a:xfrm rot="0">
            <a:off x="0" y="-83820"/>
            <a:ext cx="12191365" cy="6543040"/>
            <a:chOff x="0" y="12646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12646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8E7EF0">
                <a:alpha val="4705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 rot="0">
              <a:off x="660400" y="3044609"/>
              <a:ext cx="10858597" cy="3634413"/>
              <a:chOff x="660400" y="3044609"/>
              <a:chExt cx="10858597" cy="3634413"/>
            </a:xfrm>
          </p:grpSpPr>
          <p:grpSp>
            <p:nvGrpSpPr>
              <p:cNvPr id="5" name="Group 5"/>
              <p:cNvGrpSpPr/>
              <p:nvPr/>
            </p:nvGrpSpPr>
            <p:grpSpPr>
              <a:xfrm rot="0">
                <a:off x="660400" y="3044609"/>
                <a:ext cx="5343169" cy="1773070"/>
                <a:chOff x="660400" y="1536645"/>
                <a:chExt cx="3543364" cy="1773070"/>
              </a:xfrm>
            </p:grpSpPr>
            <p:sp>
              <p:nvSpPr>
                <p:cNvPr id="6" name="AutoShape 6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660400" y="1536645"/>
                  <a:ext cx="3543364" cy="1773070"/>
                </a:xfrm>
                <a:prstGeom prst="roundRect">
                  <a:avLst>
                    <a:gd name="adj" fmla="val 9608"/>
                  </a:avLst>
                </a:prstGeom>
                <a:ln w="19050">
                  <a:solidFill>
                    <a:srgbClr val="FFC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7" name="TextBox 7"/>
                <p:cNvSpPr txBox="1"/>
                <p:nvPr>
                  <p:custDataLst>
                    <p:tags r:id="rId3"/>
                  </p:custDataLst>
                </p:nvPr>
              </p:nvSpPr>
              <p:spPr>
                <a:xfrm>
                  <a:off x="952500" y="1797050"/>
                  <a:ext cx="353330" cy="533400"/>
                </a:xfrm>
                <a:prstGeom prst="ellipse">
                  <a:avLst/>
                </a:prstGeom>
                <a:gradFill>
                  <a:gsLst>
                    <a:gs pos="0">
                      <a:srgbClr val="DDDD5F">
                        <a:alpha val="100000"/>
                        <a:lumMod val="60000"/>
                        <a:lumOff val="40000"/>
                      </a:srgbClr>
                    </a:gs>
                    <a:gs pos="60000">
                      <a:srgbClr val="DDDD5F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35" tIns="45717" rIns="91435" bIns="45717" rtlCol="0" anchor="ctr" anchorCtr="0"/>
                <a:lstStyle/>
                <a:p>
                  <a:pPr algn="ctr">
                    <a:defRPr/>
                  </a:pPr>
                  <a:r>
                    <a:rPr lang="en-US" sz="32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1</a:t>
                  </a:r>
                  <a:endPara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8" name="TextBox 8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1420129" y="1613884"/>
                  <a:ext cx="2520046" cy="60266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35" tIns="45717" rIns="91435" bIns="45717" rtlCol="0" anchor="b" anchorCtr="0"/>
                <a:lstStyle/>
                <a:p>
                  <a:pPr algn="l">
                    <a:defRPr/>
                  </a:pPr>
                  <a:r>
                    <a:rPr lang="en-US" sz="2800" b="1" i="0">
                      <a:solidFill>
                        <a:schemeClr val="tx1">
                          <a:lumMod val="95000"/>
                          <a:lumOff val="5000"/>
                          <a:alpha val="10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遵循分层原则</a:t>
                  </a:r>
                  <a:endParaRPr lang="en-US" sz="2800" b="1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9" name="TextBox 9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1420113" y="2216854"/>
                  <a:ext cx="2648469" cy="91515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35" tIns="45717" rIns="91435" bIns="45717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b="0" i="0">
                      <a:solidFill>
                        <a:schemeClr val="tx1">
                          <a:lumMod val="95000"/>
                          <a:lumOff val="5000"/>
                          <a:alpha val="10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传输层与应用层职责分离，传输层仅提供可靠传输服务，应用层专注于业务逻辑。</a:t>
                  </a:r>
                  <a:endParaRPr lang="en-US" b="0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grpSp>
            <p:nvGrpSpPr>
              <p:cNvPr id="10" name="Group 10"/>
              <p:cNvGrpSpPr/>
              <p:nvPr/>
            </p:nvGrpSpPr>
            <p:grpSpPr>
              <a:xfrm rot="0">
                <a:off x="6175828" y="3044609"/>
                <a:ext cx="5343169" cy="1773070"/>
                <a:chOff x="660400" y="1536645"/>
                <a:chExt cx="3543364" cy="1773070"/>
              </a:xfrm>
            </p:grpSpPr>
            <p:sp>
              <p:nvSpPr>
                <p:cNvPr id="11" name="AutoShape 11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660400" y="1536645"/>
                  <a:ext cx="3543364" cy="1773070"/>
                </a:xfrm>
                <a:prstGeom prst="roundRect">
                  <a:avLst>
                    <a:gd name="adj" fmla="val 9608"/>
                  </a:avLst>
                </a:prstGeom>
                <a:ln w="19050">
                  <a:solidFill>
                    <a:srgbClr val="F79A3E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2" name="TextBox 12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952500" y="1797050"/>
                  <a:ext cx="353330" cy="533400"/>
                </a:xfrm>
                <a:prstGeom prst="ellipse">
                  <a:avLst/>
                </a:prstGeom>
                <a:gradFill>
                  <a:gsLst>
                    <a:gs pos="0">
                      <a:srgbClr val="F79A3E">
                        <a:alpha val="100000"/>
                        <a:lumMod val="60000"/>
                        <a:lumOff val="40000"/>
                      </a:srgbClr>
                    </a:gs>
                    <a:gs pos="60000">
                      <a:srgbClr val="F79A3E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35" tIns="45717" rIns="91435" bIns="45717" rtlCol="0" anchor="ctr" anchorCtr="0"/>
                <a:lstStyle/>
                <a:p>
                  <a:pPr algn="ctr">
                    <a:defRPr/>
                  </a:pPr>
                  <a:r>
                    <a:rPr lang="en-US" sz="32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2</a:t>
                  </a:r>
                  <a:endPara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3" name="TextBox 13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1420129" y="1613884"/>
                  <a:ext cx="2520046" cy="60266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35" tIns="45717" rIns="91435" bIns="45717" rtlCol="0" anchor="b" anchorCtr="0"/>
                <a:lstStyle/>
                <a:p>
                  <a:pPr algn="l">
                    <a:defRPr/>
                  </a:pPr>
                  <a:r>
                    <a:rPr lang="en-US" sz="2800" b="1" i="0">
                      <a:solidFill>
                        <a:schemeClr val="tx1">
                          <a:lumMod val="95000"/>
                          <a:lumOff val="5000"/>
                          <a:alpha val="10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实现量化分析</a:t>
                  </a:r>
                  <a:endParaRPr lang="en-US" sz="2800" b="1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4" name="TextBox 14"/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1420113" y="2216854"/>
                  <a:ext cx="2777334" cy="70217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35" tIns="45717" rIns="91435" bIns="45717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b="0" i="0">
                      <a:solidFill>
                        <a:schemeClr val="tx1">
                          <a:lumMod val="95000"/>
                          <a:lumOff val="5000"/>
                          <a:alpha val="10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实验测试必须在</a:t>
                  </a:r>
                  <a:r>
                    <a:rPr lang="en-US" b="1" i="0">
                      <a:solidFill>
                        <a:schemeClr val="tx1">
                          <a:lumMod val="95000"/>
                          <a:lumOff val="5000"/>
                          <a:alpha val="10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云服务器等广域网环境下进行</a:t>
                  </a:r>
                  <a:r>
                    <a:rPr lang="en-US" b="0" i="0">
                      <a:solidFill>
                        <a:schemeClr val="tx1">
                          <a:lumMod val="95000"/>
                          <a:lumOff val="5000"/>
                          <a:alpha val="10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，记录完整数据并进行分析。</a:t>
                  </a:r>
                  <a:endParaRPr lang="en-US" b="0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 rot="0">
                <a:off x="660400" y="4956747"/>
                <a:ext cx="5343169" cy="1623882"/>
                <a:chOff x="660400" y="1853664"/>
                <a:chExt cx="3543364" cy="1623882"/>
              </a:xfrm>
            </p:grpSpPr>
            <p:sp>
              <p:nvSpPr>
                <p:cNvPr id="16" name="AutoShape 16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660400" y="1874196"/>
                  <a:ext cx="3543364" cy="1603350"/>
                </a:xfrm>
                <a:prstGeom prst="roundRect">
                  <a:avLst>
                    <a:gd name="adj" fmla="val 9608"/>
                  </a:avLst>
                </a:prstGeom>
                <a:ln w="19050">
                  <a:solidFill>
                    <a:srgbClr val="30AABC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7" name="TextBox 17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952500" y="2132586"/>
                  <a:ext cx="353330" cy="533400"/>
                </a:xfrm>
                <a:prstGeom prst="ellipse">
                  <a:avLst/>
                </a:prstGeom>
                <a:gradFill>
                  <a:gsLst>
                    <a:gs pos="0">
                      <a:srgbClr val="30AABC">
                        <a:alpha val="100000"/>
                        <a:lumMod val="60000"/>
                        <a:lumOff val="40000"/>
                      </a:srgbClr>
                    </a:gs>
                    <a:gs pos="60000">
                      <a:srgbClr val="30AABC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35" tIns="45717" rIns="91435" bIns="45717" rtlCol="0" anchor="ctr" anchorCtr="0"/>
                <a:lstStyle/>
                <a:p>
                  <a:pPr algn="ctr">
                    <a:defRPr/>
                  </a:pPr>
                  <a:r>
                    <a:rPr lang="en-US" sz="32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3</a:t>
                  </a:r>
                  <a:endPara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8" name="TextBox 18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1420129" y="1853664"/>
                  <a:ext cx="2520046" cy="60266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35" tIns="45717" rIns="91435" bIns="45717" rtlCol="0" anchor="b" anchorCtr="0"/>
                <a:lstStyle/>
                <a:p>
                  <a:pPr algn="l">
                    <a:defRPr/>
                  </a:pPr>
                  <a:r>
                    <a:rPr lang="en-US" sz="2800" b="1" i="0">
                      <a:solidFill>
                        <a:schemeClr val="tx1">
                          <a:lumMod val="95000"/>
                          <a:lumOff val="5000"/>
                          <a:alpha val="10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提交完整报告</a:t>
                  </a:r>
                  <a:endParaRPr lang="en-US" sz="2800" b="1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9" name="TextBox 19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1420129" y="2519419"/>
                  <a:ext cx="2520046" cy="70203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35" tIns="45717" rIns="91435" bIns="45717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b="0" i="0">
                      <a:solidFill>
                        <a:schemeClr val="tx1">
                          <a:lumMod val="95000"/>
                          <a:lumOff val="5000"/>
                          <a:alpha val="10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报告需包含协议设计、测试数据、结果分析及问题总结，缺一不可。</a:t>
                  </a:r>
                  <a:endParaRPr lang="en-US" b="0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grpSp>
            <p:nvGrpSpPr>
              <p:cNvPr id="20" name="Group 20"/>
              <p:cNvGrpSpPr/>
              <p:nvPr/>
            </p:nvGrpSpPr>
            <p:grpSpPr>
              <a:xfrm rot="0">
                <a:off x="6175828" y="4977168"/>
                <a:ext cx="5343169" cy="1701854"/>
                <a:chOff x="660400" y="1874085"/>
                <a:chExt cx="3543364" cy="1701854"/>
              </a:xfrm>
            </p:grpSpPr>
            <p:sp>
              <p:nvSpPr>
                <p:cNvPr id="21" name="AutoShape 21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660400" y="1874085"/>
                  <a:ext cx="3543364" cy="1701854"/>
                </a:xfrm>
                <a:prstGeom prst="roundRect">
                  <a:avLst>
                    <a:gd name="adj" fmla="val 9608"/>
                  </a:avLst>
                </a:prstGeom>
                <a:ln w="19050">
                  <a:solidFill>
                    <a:srgbClr val="FFC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22" name="TextBox 22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952500" y="2141150"/>
                  <a:ext cx="353330" cy="533400"/>
                </a:xfrm>
                <a:prstGeom prst="ellipse">
                  <a:avLst/>
                </a:prstGeom>
                <a:gradFill>
                  <a:gsLst>
                    <a:gs pos="0">
                      <a:srgbClr val="FFC000">
                        <a:alpha val="100000"/>
                        <a:lumMod val="60000"/>
                        <a:lumOff val="40000"/>
                      </a:srgbClr>
                    </a:gs>
                    <a:gs pos="60000">
                      <a:srgbClr val="FFC000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35" tIns="45717" rIns="91435" bIns="45717" rtlCol="0" anchor="ctr" anchorCtr="0"/>
                <a:lstStyle/>
                <a:p>
                  <a:pPr algn="ctr">
                    <a:defRPr/>
                  </a:pPr>
                  <a:r>
                    <a:rPr lang="en-US" sz="32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4</a:t>
                  </a:r>
                  <a:endPara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3" name="TextBox 23"/>
                <p:cNvSpPr txBox="1"/>
                <p:nvPr>
                  <p:custDataLst>
                    <p:tags r:id="rId16"/>
                  </p:custDataLst>
                </p:nvPr>
              </p:nvSpPr>
              <p:spPr>
                <a:xfrm>
                  <a:off x="1420129" y="1962719"/>
                  <a:ext cx="2520046" cy="60266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35" tIns="45717" rIns="91435" bIns="45717" rtlCol="0" anchor="b" anchorCtr="0"/>
                <a:lstStyle/>
                <a:p>
                  <a:pPr algn="l">
                    <a:defRPr/>
                  </a:pPr>
                  <a:r>
                    <a:rPr lang="en-US" sz="2800" b="1" i="0">
                      <a:solidFill>
                        <a:schemeClr val="tx1">
                          <a:lumMod val="95000"/>
                          <a:lumOff val="5000"/>
                          <a:alpha val="10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鼓励创新设计</a:t>
                  </a:r>
                  <a:endParaRPr lang="en-US" sz="2800" b="1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4" name="TextBox 24"/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1420113" y="2549635"/>
                  <a:ext cx="2608462" cy="70217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35" tIns="45717" rIns="91435" bIns="45717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b="0" i="0">
                      <a:solidFill>
                        <a:schemeClr val="tx1">
                          <a:lumMod val="95000"/>
                          <a:lumOff val="5000"/>
                          <a:alpha val="10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在实现基本要求的基础上，鼓励对协议进行优化或采用创新的解决方案。</a:t>
                  </a:r>
                  <a:endParaRPr lang="en-US" b="0" i="0">
                    <a:solidFill>
                      <a:schemeClr val="tx1">
                        <a:lumMod val="95000"/>
                        <a:lumOff val="5000"/>
                        <a:alpha val="10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</p:grpSp>
        <p:sp>
          <p:nvSpPr>
            <p:cNvPr id="25" name="TextBox 25"/>
            <p:cNvSpPr txBox="1"/>
            <p:nvPr/>
          </p:nvSpPr>
          <p:spPr>
            <a:xfrm>
              <a:off x="660434" y="1319827"/>
              <a:ext cx="10858431" cy="110683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35" tIns="45717" rIns="91435" bIns="45717" rtlCol="0" anchor="b" anchorCtr="0"/>
            <a:lstStyle/>
            <a:p>
              <a:pPr algn="l">
                <a:defRPr/>
              </a:pPr>
              <a:r>
                <a:rPr lang="en-US" sz="3600" b="1" i="0" strike="noStrike">
                  <a:solidFill>
                    <a:schemeClr val="tx1">
                      <a:lumMod val="95000"/>
                      <a:lumOff val="5000"/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实验的核心要求，确保实验方向正确，成果完整</a:t>
              </a:r>
              <a:endParaRPr lang="en-US" sz="3600" b="1" i="0" strike="noStrike">
                <a:solidFill>
                  <a:schemeClr val="tx1">
                    <a:lumMod val="95000"/>
                    <a:lumOff val="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60366" y="505631"/>
            <a:ext cx="10857934" cy="52319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35" tIns="45717" rIns="91435" bIns="45717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i="0">
                <a:solidFill>
                  <a:schemeClr val="tx1">
                    <a:lumMod val="95000"/>
                    <a:lumOff val="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实验要求总结</a:t>
            </a:r>
            <a:endParaRPr lang="en-US" sz="4000" b="1" i="0">
              <a:solidFill>
                <a:schemeClr val="tx1">
                  <a:lumMod val="95000"/>
                  <a:lumOff val="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协议设计加分项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3155"/>
            <a:ext cx="9867900" cy="501332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2400"/>
          </a:p>
          <a:p>
            <a:pPr marL="457200" lvl="1" indent="0">
              <a:buNone/>
              <a:defRPr sz="1800"/>
            </a:pPr>
            <a:r>
              <a:rPr sz="2000"/>
              <a:t>【核心要求】</a:t>
            </a:r>
            <a:endParaRPr sz="2000"/>
          </a:p>
          <a:p>
            <a:pPr marL="457200" lvl="1" indent="0">
              <a:buNone/>
              <a:defRPr sz="1800"/>
            </a:pPr>
            <a:r>
              <a:rPr sz="2000"/>
              <a:t>• 理解粘包问题的本质（TCP字节流无边界）</a:t>
            </a:r>
            <a:endParaRPr sz="2000"/>
          </a:p>
          <a:p>
            <a:pPr marL="457200" lvl="1" indent="0">
              <a:buNone/>
              <a:defRPr sz="1800"/>
            </a:pPr>
            <a:r>
              <a:rPr sz="2000"/>
              <a:t>• 明确包边界识别 + 协议合法性校验</a:t>
            </a:r>
            <a:endParaRPr sz="2000"/>
          </a:p>
          <a:p>
            <a:pPr marL="457200" lvl="1" indent="0">
              <a:buNone/>
              <a:defRPr sz="1800"/>
            </a:pPr>
            <a:endParaRPr sz="2000"/>
          </a:p>
          <a:p>
            <a:pPr marL="457200" lvl="1" indent="0">
              <a:buNone/>
              <a:defRPr sz="1800"/>
            </a:pPr>
            <a:r>
              <a:rPr sz="2000"/>
              <a:t>【加分点】</a:t>
            </a:r>
            <a:endParaRPr sz="2000"/>
          </a:p>
          <a:p>
            <a:pPr marL="457200" lvl="1" indent="0">
              <a:buNone/>
              <a:defRPr sz="1800"/>
            </a:pPr>
            <a:r>
              <a:rPr sz="2000"/>
              <a:t>1. 对比多种粘包方案的性能与兼容性</a:t>
            </a:r>
            <a:endParaRPr sz="2000"/>
          </a:p>
          <a:p>
            <a:pPr marL="457200" lvl="1" indent="0">
              <a:buNone/>
              <a:defRPr sz="1800"/>
            </a:pPr>
            <a:r>
              <a:rPr sz="2000"/>
              <a:t>2. 说明选择某方案的理由（场景匹配）</a:t>
            </a:r>
            <a:endParaRPr sz="2000"/>
          </a:p>
          <a:p>
            <a:pPr marL="457200" lvl="1" indent="0">
              <a:buNone/>
              <a:defRPr sz="1800"/>
            </a:pPr>
            <a:r>
              <a:rPr sz="2000"/>
              <a:t>3. 实现混合法（如HTTP风格）</a:t>
            </a:r>
            <a:endParaRPr sz="2000"/>
          </a:p>
          <a:p>
            <a:pPr marL="457200" lvl="1" indent="0">
              <a:buNone/>
              <a:defRPr sz="1800"/>
            </a:pPr>
            <a:r>
              <a:rPr sz="2000"/>
              <a:t>4. 魔数 + 校验和 + 长度三重校验</a:t>
            </a:r>
            <a:endParaRPr sz="2000"/>
          </a:p>
          <a:p>
            <a:pPr marL="457200" lvl="1" indent="0">
              <a:buNone/>
              <a:defRPr sz="1800"/>
            </a:pPr>
            <a:endParaRPr sz="2000"/>
          </a:p>
          <a:p>
            <a:pPr marL="457200" lvl="1" indent="0">
              <a:buNone/>
              <a:defRPr sz="1800"/>
            </a:pPr>
            <a:r>
              <a:rPr sz="2000"/>
              <a:t>【实验报告必备】</a:t>
            </a:r>
            <a:endParaRPr sz="2000"/>
          </a:p>
          <a:p>
            <a:pPr marL="457200" lvl="1" indent="0">
              <a:buNone/>
              <a:defRPr sz="1800"/>
            </a:pPr>
            <a:r>
              <a:rPr sz="2000"/>
              <a:t>• 协议设计图</a:t>
            </a:r>
            <a:endParaRPr sz="2000"/>
          </a:p>
          <a:p>
            <a:pPr marL="457200" lvl="1" indent="0">
              <a:buNone/>
              <a:defRPr sz="1800"/>
            </a:pPr>
            <a:r>
              <a:rPr sz="2000"/>
              <a:t>• 测试数据与量化分析</a:t>
            </a:r>
            <a:endParaRPr sz="2000"/>
          </a:p>
          <a:p>
            <a:pPr marL="457200" lvl="1" indent="0">
              <a:buNone/>
              <a:defRPr sz="1800"/>
            </a:pPr>
            <a:r>
              <a:rPr sz="2000"/>
              <a:t>• 问题总结与改进思路</a:t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总结与反思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sz="1800"/>
          </a:p>
          <a:p>
            <a:pPr lvl="1">
              <a:defRPr sz="1800"/>
            </a:pPr>
            <a:r>
              <a:t>【核心收获】</a:t>
            </a:r>
          </a:p>
          <a:p>
            <a:pPr lvl="1">
              <a:defRPr sz="1800"/>
            </a:pPr>
            <a:r>
              <a:t>• 理解网络协议分层思想（传输层vs应用层）</a:t>
            </a:r>
          </a:p>
          <a:p>
            <a:pPr lvl="1">
              <a:defRPr sz="1800"/>
            </a:pPr>
            <a:r>
              <a:t>• 掌握多种粘包处理方案的原理与取舍</a:t>
            </a:r>
          </a:p>
          <a:p>
            <a:pPr lvl="1">
              <a:defRPr sz="1800"/>
            </a:pPr>
            <a:r>
              <a:t>• 工程能力：多客户端、异常处理、性能分析</a:t>
            </a:r>
          </a:p>
          <a:p>
            <a:pPr lvl="1">
              <a:defRPr sz="1800"/>
            </a:pPr>
          </a:p>
          <a:p>
            <a:pPr lvl="1">
              <a:defRPr sz="1800"/>
            </a:pPr>
            <a:r>
              <a:t>【关键技能】</a:t>
            </a:r>
          </a:p>
          <a:p>
            <a:pPr lvl="1">
              <a:defRPr sz="1800"/>
            </a:pPr>
            <a:r>
              <a:t>• Socket API编程（TCP/UDP）</a:t>
            </a:r>
          </a:p>
          <a:p>
            <a:pPr lvl="1">
              <a:defRPr sz="1800"/>
            </a:pPr>
            <a:r>
              <a:t>• 自定义协议设计与实现</a:t>
            </a:r>
          </a:p>
          <a:p>
            <a:pPr lvl="1">
              <a:defRPr sz="1800"/>
            </a:pPr>
            <a:r>
              <a:t>• 可靠传输机制（滑动窗口、ARQ）</a:t>
            </a:r>
          </a:p>
          <a:p>
            <a:pPr lvl="1">
              <a:defRPr sz="1800"/>
            </a:pPr>
            <a:r>
              <a:t>• 终端编程（PTY、控制字符）</a:t>
            </a:r>
          </a:p>
          <a:p>
            <a:pPr lvl="1">
              <a:defRPr sz="1800"/>
            </a:pPr>
          </a:p>
          <a:p>
            <a:pPr lvl="1">
              <a:defRPr sz="1800"/>
            </a:pPr>
            <a:r>
              <a:t>【实验意义】</a:t>
            </a:r>
          </a:p>
          <a:p>
            <a:pPr lvl="1">
              <a:defRPr sz="1800"/>
            </a:pPr>
            <a:r>
              <a:t>• 从理论到工程，从内核到用户态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 &amp; A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50.97651041666666,&quot;left&quot;:0,&quot;top&quot;:89.00942708333335,&quot;width&quot;:959.95}"/>
</p:tagLst>
</file>

<file path=ppt/tags/tag2.xml><?xml version="1.0" encoding="utf-8"?>
<p:tagLst xmlns:p="http://schemas.openxmlformats.org/presentationml/2006/main">
  <p:tag name="KSO_WM_DIAGRAM_VIRTUALLY_FRAME" val="{&quot;height&quot;:450.97651041666666,&quot;left&quot;:0,&quot;top&quot;:89.00942708333335,&quot;width&quot;:959.95}"/>
</p:tagLst>
</file>

<file path=ppt/tags/tag3.xml><?xml version="1.0" encoding="utf-8"?>
<p:tagLst xmlns:p="http://schemas.openxmlformats.org/presentationml/2006/main">
  <p:tag name="KSO_WM_DIAGRAM_VIRTUALLY_FRAME" val="{&quot;height&quot;:450.97651041666666,&quot;left&quot;:0,&quot;top&quot;:89.00942708333335,&quot;width&quot;:959.95}"/>
</p:tagLst>
</file>

<file path=ppt/tags/tag4.xml><?xml version="1.0" encoding="utf-8"?>
<p:tagLst xmlns:p="http://schemas.openxmlformats.org/presentationml/2006/main">
  <p:tag name="KSO_WM_DIAGRAM_VIRTUALLY_FRAME" val="{&quot;height&quot;:450.97651041666666,&quot;left&quot;:0,&quot;top&quot;:89.00942708333335,&quot;width&quot;:959.95}"/>
</p:tagLst>
</file>

<file path=ppt/tags/tag5.xml><?xml version="1.0" encoding="utf-8"?>
<p:tagLst xmlns:p="http://schemas.openxmlformats.org/presentationml/2006/main">
  <p:tag name="KSO_WM_DIAGRAM_VIRTUALLY_FRAME" val="{&quot;height&quot;:450.97651041666666,&quot;left&quot;:0,&quot;top&quot;:89.00942708333335,&quot;width&quot;:959.95}"/>
</p:tagLst>
</file>

<file path=ppt/tags/tag6.xml><?xml version="1.0" encoding="utf-8"?>
<p:tagLst xmlns:p="http://schemas.openxmlformats.org/presentationml/2006/main">
  <p:tag name="KSO_WM_DIAGRAM_VIRTUALLY_FRAME" val="{&quot;height&quot;:450.97651041666666,&quot;left&quot;:0,&quot;top&quot;:89.00942708333335,&quot;width&quot;:959.95}"/>
</p:tagLst>
</file>

<file path=ppt/tags/tag7.xml><?xml version="1.0" encoding="utf-8"?>
<p:tagLst xmlns:p="http://schemas.openxmlformats.org/presentationml/2006/main">
  <p:tag name="KSO_WM_DIAGRAM_VIRTUALLY_FRAME" val="{&quot;height&quot;:450.97651041666666,&quot;left&quot;:0,&quot;top&quot;:89.00942708333335,&quot;width&quot;:959.95}"/>
</p:tagLst>
</file>

<file path=ppt/tags/tag8.xml><?xml version="1.0" encoding="utf-8"?>
<p:tagLst xmlns:p="http://schemas.openxmlformats.org/presentationml/2006/main">
  <p:tag name="KSO_WM_DIAGRAM_VIRTUALLY_FRAME" val="{&quot;height&quot;:450.97651041666666,&quot;left&quot;:0,&quot;top&quot;:89.00942708333335,&quot;width&quot;:959.95}"/>
</p:tagLst>
</file>

<file path=ppt/tags/tag9.xml><?xml version="1.0" encoding="utf-8"?>
<p:tagLst xmlns:p="http://schemas.openxmlformats.org/presentationml/2006/main">
  <p:tag name="KSO_WM_DIAGRAM_VIRTUALLY_FRAME" val="{&quot;height&quot;:450.97651041666666,&quot;left&quot;:0,&quot;top&quot;:89.00942708333335,&quot;width&quot;:959.95}"/>
</p:tagLst>
</file>

<file path=ppt/tags/tag10.xml><?xml version="1.0" encoding="utf-8"?>
<p:tagLst xmlns:p="http://schemas.openxmlformats.org/presentationml/2006/main">
  <p:tag name="KSO_WM_DIAGRAM_VIRTUALLY_FRAME" val="{&quot;height&quot;:450.97651041666666,&quot;left&quot;:0,&quot;top&quot;:89.00942708333335,&quot;width&quot;:959.95}"/>
</p:tagLst>
</file>

<file path=ppt/tags/tag11.xml><?xml version="1.0" encoding="utf-8"?>
<p:tagLst xmlns:p="http://schemas.openxmlformats.org/presentationml/2006/main">
  <p:tag name="KSO_WM_DIAGRAM_VIRTUALLY_FRAME" val="{&quot;height&quot;:393.9794791666667,&quot;left&quot;:51.99729166666667,&quot;top&quot;:89.00942708333335,&quot;width&quot;:854.95546875}"/>
</p:tagLst>
</file>

<file path=ppt/tags/tag12.xml><?xml version="1.0" encoding="utf-8"?>
<p:tagLst xmlns:p="http://schemas.openxmlformats.org/presentationml/2006/main">
  <p:tag name="KSO_WM_DIAGRAM_VIRTUALLY_FRAME" val="{&quot;height&quot;:393.9794791666667,&quot;left&quot;:51.99729166666667,&quot;top&quot;:89.00942708333335,&quot;width&quot;:854.95546875}"/>
</p:tagLst>
</file>

<file path=ppt/tags/tag13.xml><?xml version="1.0" encoding="utf-8"?>
<p:tagLst xmlns:p="http://schemas.openxmlformats.org/presentationml/2006/main">
  <p:tag name="KSO_WM_DIAGRAM_VIRTUALLY_FRAME" val="{&quot;height&quot;:393.9794791666667,&quot;left&quot;:51.99729166666667,&quot;top&quot;:89.00942708333335,&quot;width&quot;:854.95546875}"/>
</p:tagLst>
</file>

<file path=ppt/tags/tag14.xml><?xml version="1.0" encoding="utf-8"?>
<p:tagLst xmlns:p="http://schemas.openxmlformats.org/presentationml/2006/main">
  <p:tag name="KSO_WM_DIAGRAM_VIRTUALLY_FRAME" val="{&quot;height&quot;:393.9794791666667,&quot;left&quot;:51.99729166666667,&quot;top&quot;:89.00942708333335,&quot;width&quot;:854.95546875}"/>
</p:tagLst>
</file>

<file path=ppt/tags/tag15.xml><?xml version="1.0" encoding="utf-8"?>
<p:tagLst xmlns:p="http://schemas.openxmlformats.org/presentationml/2006/main">
  <p:tag name="KSO_WM_DIAGRAM_VIRTUALLY_FRAME" val="{&quot;height&quot;:393.9794791666667,&quot;left&quot;:51.99729166666667,&quot;top&quot;:89.00942708333335,&quot;width&quot;:854.95546875}"/>
</p:tagLst>
</file>

<file path=ppt/tags/tag16.xml><?xml version="1.0" encoding="utf-8"?>
<p:tagLst xmlns:p="http://schemas.openxmlformats.org/presentationml/2006/main">
  <p:tag name="KSO_WM_DIAGRAM_VIRTUALLY_FRAME" val="{&quot;height&quot;:393.9794791666667,&quot;left&quot;:51.99729166666667,&quot;top&quot;:89.00942708333335,&quot;width&quot;:854.95546875}"/>
</p:tagLst>
</file>

<file path=ppt/tags/tag17.xml><?xml version="1.0" encoding="utf-8"?>
<p:tagLst xmlns:p="http://schemas.openxmlformats.org/presentationml/2006/main">
  <p:tag name="KSO_WM_DIAGRAM_VIRTUALLY_FRAME" val="{&quot;height&quot;:393.9794791666667,&quot;left&quot;:51.99729166666667,&quot;top&quot;:89.00942708333335,&quot;width&quot;:854.95546875}"/>
</p:tagLst>
</file>

<file path=ppt/tags/tag18.xml><?xml version="1.0" encoding="utf-8"?>
<p:tagLst xmlns:p="http://schemas.openxmlformats.org/presentationml/2006/main">
  <p:tag name="KSO_WM_DIAGRAM_VIRTUALLY_FRAME" val="{&quot;height&quot;:393.9794791666667,&quot;left&quot;:51.99729166666667,&quot;top&quot;:89.00942708333335,&quot;width&quot;:854.95546875}"/>
</p:tagLst>
</file>

<file path=ppt/tags/tag19.xml><?xml version="1.0" encoding="utf-8"?>
<p:tagLst xmlns:p="http://schemas.openxmlformats.org/presentationml/2006/main">
  <p:tag name="KSO_WM_DIAGRAM_VIRTUALLY_FRAME" val="{&quot;height&quot;:393.9794791666667,&quot;left&quot;:51.99729166666667,&quot;top&quot;:89.00942708333335,&quot;width&quot;:854.95546875}"/>
</p:tagLst>
</file>

<file path=ppt/tags/tag20.xml><?xml version="1.0" encoding="utf-8"?>
<p:tagLst xmlns:p="http://schemas.openxmlformats.org/presentationml/2006/main">
  <p:tag name="KSO_WM_DIAGRAM_VIRTUALLY_FRAME" val="{&quot;height&quot;:393.9794791666667,&quot;left&quot;:51.99729166666667,&quot;top&quot;:89.00942708333335,&quot;width&quot;:854.95546875}"/>
</p:tagLst>
</file>

<file path=ppt/tags/tag21.xml><?xml version="1.0" encoding="utf-8"?>
<p:tagLst xmlns:p="http://schemas.openxmlformats.org/presentationml/2006/main">
  <p:tag name="KSO_WM_DIAGRAM_VIRTUALLY_FRAME" val="{&quot;height&quot;:393.9794791666667,&quot;left&quot;:51.99729166666667,&quot;top&quot;:89.00942708333335,&quot;width&quot;:854.95546875}"/>
</p:tagLst>
</file>

<file path=ppt/tags/tag22.xml><?xml version="1.0" encoding="utf-8"?>
<p:tagLst xmlns:p="http://schemas.openxmlformats.org/presentationml/2006/main">
  <p:tag name="KSO_WM_DIAGRAM_VIRTUALLY_FRAME" val="{&quot;height&quot;:393.9794791666667,&quot;left&quot;:51.99729166666667,&quot;top&quot;:89.00942708333335,&quot;width&quot;:854.95546875}"/>
</p:tagLst>
</file>

<file path=ppt/tags/tag23.xml><?xml version="1.0" encoding="utf-8"?>
<p:tagLst xmlns:p="http://schemas.openxmlformats.org/presentationml/2006/main">
  <p:tag name="KSO_WM_DIAGRAM_VIRTUALLY_FRAME" val="{&quot;height&quot;:393.9794791666667,&quot;left&quot;:51.99729166666667,&quot;top&quot;:89.00942708333335,&quot;width&quot;:854.95546875}"/>
</p:tagLst>
</file>

<file path=ppt/tags/tag24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25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26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27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28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29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30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31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32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33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34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35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36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37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38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39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ags/tag40.xml><?xml version="1.0" encoding="utf-8"?>
<p:tagLst xmlns:p="http://schemas.openxmlformats.org/presentationml/2006/main">
  <p:tag name="KSO_WM_DIAGRAM_VIRTUALLY_FRAME" val="{&quot;height&quot;:547.5,&quot;left&quot;:0,&quot;top&quot;:-6.599982618839294,&quot;width&quot;:959.9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4518</Words>
  <Application>WPS 演示</Application>
  <PresentationFormat>On-screen Show (4:3)</PresentationFormat>
  <Paragraphs>383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实验七：Socket网络编程实验</vt:lpstr>
      <vt:lpstr>目录</vt:lpstr>
      <vt:lpstr>题目1：GBN+SR传输协议</vt:lpstr>
      <vt:lpstr>题目2：聊天系统</vt:lpstr>
      <vt:lpstr>PowerPoint 演示文稿</vt:lpstr>
      <vt:lpstr>题目3：FirewallBox核心功能</vt:lpstr>
      <vt:lpstr>题目4：模拟停车场出入场系统</vt:lpstr>
      <vt:lpstr>题目5：基于UDP的远程终端程序</vt:lpstr>
      <vt:lpstr>PowerPoint 演示文稿</vt:lpstr>
      <vt:lpstr>题目6：基于网络的文件备份系统</vt:lpstr>
      <vt:lpstr>题目7：五子棋网络游戏</vt:lpstr>
      <vt:lpstr>题目8：用户态轻量级TCP协议栈</vt:lpstr>
      <vt:lpstr>题目9：Linux用户态软件路由器</vt:lpstr>
      <vt:lpstr>题目10：算法可视化演示系统</vt:lpstr>
      <vt:lpstr>粘包问题的本质</vt:lpstr>
      <vt:lpstr>方案1：固定长度头部 + 数据段</vt:lpstr>
      <vt:lpstr>方案2：分隔符（边界符）法</vt:lpstr>
      <vt:lpstr>方案3：长度前缀法</vt:lpstr>
      <vt:lpstr>方案4：消息长度固定法</vt:lpstr>
      <vt:lpstr>方案5：混合法（实验拔高方案）</vt:lpstr>
      <vt:lpstr>HTTP协议格式（混合法经典）</vt:lpstr>
      <vt:lpstr>HTTP如何解决粘包</vt:lpstr>
      <vt:lpstr>远程终端：控制字符处理难点</vt:lpstr>
      <vt:lpstr>终端控制字符处理策略（分层）</vt:lpstr>
      <vt:lpstr>UDP远程终端实现要点</vt:lpstr>
      <vt:lpstr>实验难度与选做建议</vt:lpstr>
      <vt:lpstr>PowerPoint 演示文稿</vt:lpstr>
      <vt:lpstr>协议设计加分项</vt:lpstr>
      <vt:lpstr>总结与反思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郑卫斌</cp:lastModifiedBy>
  <cp:revision>4</cp:revision>
  <dcterms:created xsi:type="dcterms:W3CDTF">2013-01-27T09:14:00Z</dcterms:created>
  <dcterms:modified xsi:type="dcterms:W3CDTF">2026-04-14T23:08:24Z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37700667C2974452A0A465205F9EF69B_12</vt:lpwstr>
  </property>
</Properties>
</file>