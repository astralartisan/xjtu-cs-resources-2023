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注意是哪个地方的</a:t>
            </a:r>
            <a:r>
              <a:rPr lang="en-US" altLang="zh-CN"/>
              <a:t> </a:t>
            </a:r>
            <a:r>
              <a:rPr lang="zh-CN" altLang="en-US"/>
              <a:t>捕获的分组数据！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RTT ≈ (SYN+ACK报文时间) - (SYN报文时间) </a:t>
            </a: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宋体" panose="02010600030101010101" pitchFamily="2" charset="-122"/>
                <a:cs typeface="Arial" panose="020B0604020202020204"/>
                <a:sym typeface="+mn-ea"/>
              </a:rPr>
              <a:t>；</a:t>
            </a:r>
            <a:r>
              <a:rPr lang="en-US" altLang="zh-CN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宋体" panose="02010600030101010101" pitchFamily="2" charset="-122"/>
                <a:cs typeface="Arial" panose="020B0604020202020204"/>
                <a:sym typeface="+mn-ea"/>
              </a:rPr>
              <a:t> </a:t>
            </a: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宋体" panose="02010600030101010101" pitchFamily="2" charset="-122"/>
                <a:cs typeface="Arial" panose="020B0604020202020204"/>
                <a:sym typeface="+mn-ea"/>
              </a:rPr>
              <a:t>从客户端看的！</a:t>
            </a:r>
            <a:endParaRPr lang="zh-CN" altLang="en-US">
              <a:solidFill>
                <a:srgbClr val="000000">
                  <a:alpha val="100000"/>
                </a:srgbClr>
              </a:solidFill>
              <a:latin typeface="Arial" panose="020B0604020202020204"/>
              <a:ea typeface="宋体" panose="02010600030101010101" pitchFamily="2" charset="-122"/>
              <a:cs typeface="Arial" panose="020B0604020202020204"/>
              <a:sym typeface="+mn-ea"/>
            </a:endParaRPr>
          </a:p>
          <a:p>
            <a:endParaRPr lang="zh-CN" altLang="en-US">
              <a:solidFill>
                <a:srgbClr val="000000">
                  <a:alpha val="100000"/>
                </a:srgbClr>
              </a:solidFill>
              <a:latin typeface="Arial" panose="020B0604020202020204"/>
              <a:ea typeface="宋体" panose="02010600030101010101" pitchFamily="2" charset="-122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5137275" y="2235858"/>
            <a:ext cx="6521054" cy="3898242"/>
            <a:chOff x="5862937" y="982368"/>
            <a:chExt cx="5966054" cy="3566467"/>
          </a:xfrm>
        </p:grpSpPr>
        <p:sp>
          <p:nvSpPr>
            <p:cNvPr id="3" name="AutoShape 3"/>
            <p:cNvSpPr/>
            <p:nvPr/>
          </p:nvSpPr>
          <p:spPr>
            <a:xfrm>
              <a:off x="5862937" y="1231206"/>
              <a:ext cx="5966054" cy="3291003"/>
            </a:xfrm>
            <a:custGeom>
              <a:avLst/>
              <a:gdLst/>
              <a:ahLst/>
              <a:cxnLst/>
              <a:rect l="l" t="t" r="r" b="b"/>
              <a:pathLst>
                <a:path w="2499" h="1379">
                  <a:moveTo>
                    <a:pt x="298" y="1379"/>
                  </a:moveTo>
                  <a:cubicBezTo>
                    <a:pt x="298" y="1379"/>
                    <a:pt x="744" y="1164"/>
                    <a:pt x="552" y="967"/>
                  </a:cubicBezTo>
                  <a:cubicBezTo>
                    <a:pt x="361" y="770"/>
                    <a:pt x="0" y="79"/>
                    <a:pt x="308" y="26"/>
                  </a:cubicBezTo>
                  <a:cubicBezTo>
                    <a:pt x="455" y="0"/>
                    <a:pt x="564" y="95"/>
                    <a:pt x="673" y="191"/>
                  </a:cubicBezTo>
                  <a:cubicBezTo>
                    <a:pt x="790" y="294"/>
                    <a:pt x="907" y="397"/>
                    <a:pt x="1071" y="346"/>
                  </a:cubicBezTo>
                  <a:cubicBezTo>
                    <a:pt x="1385" y="246"/>
                    <a:pt x="1629" y="38"/>
                    <a:pt x="1897" y="228"/>
                  </a:cubicBezTo>
                  <a:cubicBezTo>
                    <a:pt x="2203" y="444"/>
                    <a:pt x="1762" y="780"/>
                    <a:pt x="1958" y="880"/>
                  </a:cubicBezTo>
                  <a:cubicBezTo>
                    <a:pt x="2155" y="980"/>
                    <a:pt x="2487" y="1181"/>
                    <a:pt x="2499" y="1379"/>
                  </a:cubicBezTo>
                  <a:cubicBezTo>
                    <a:pt x="298" y="1379"/>
                    <a:pt x="298" y="1379"/>
                    <a:pt x="298" y="1379"/>
                  </a:cubicBezTo>
                </a:path>
              </a:pathLst>
            </a:custGeom>
            <a:solidFill>
              <a:srgbClr val="5DCBC2">
                <a:alpha val="3137"/>
              </a:srgbClr>
            </a:solidFill>
            <a:ln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8845964" y="1131801"/>
              <a:ext cx="342591" cy="305314"/>
            </a:xfrm>
            <a:prstGeom prst="ellipse">
              <a:avLst/>
            </a:prstGeom>
            <a:solidFill>
              <a:srgbClr val="EEF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0526968" y="1227655"/>
              <a:ext cx="227210" cy="202359"/>
            </a:xfrm>
            <a:prstGeom prst="ellipse">
              <a:avLst/>
            </a:prstGeom>
            <a:solidFill>
              <a:srgbClr val="EEF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6735391" y="3966608"/>
              <a:ext cx="328391" cy="291114"/>
            </a:xfrm>
            <a:prstGeom prst="ellipse">
              <a:avLst/>
            </a:prstGeom>
            <a:solidFill>
              <a:srgbClr val="EEF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7424123" y="3600941"/>
              <a:ext cx="140232" cy="127806"/>
            </a:xfrm>
            <a:prstGeom prst="ellipse">
              <a:avLst/>
            </a:prstGeom>
            <a:solidFill>
              <a:srgbClr val="EEF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9312812" y="1603973"/>
              <a:ext cx="138456" cy="124256"/>
            </a:xfrm>
            <a:prstGeom prst="ellipse">
              <a:avLst/>
            </a:prstGeom>
            <a:solidFill>
              <a:srgbClr val="EEF6FF">
                <a:alpha val="100000"/>
              </a:srgbClr>
            </a:solidFill>
            <a:ln>
              <a:headEnd type="none"/>
              <a:tailEnd type="none"/>
            </a:ln>
          </p:spPr>
        </p:sp>
        <p:grpSp>
          <p:nvGrpSpPr>
            <p:cNvPr id="9" name="Group 9"/>
            <p:cNvGrpSpPr/>
            <p:nvPr/>
          </p:nvGrpSpPr>
          <p:grpSpPr>
            <a:xfrm rot="0">
              <a:off x="11116296" y="2792392"/>
              <a:ext cx="631929" cy="516550"/>
              <a:chOff x="12441473" y="3283201"/>
              <a:chExt cx="631929" cy="516550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12441473" y="3283201"/>
                <a:ext cx="631929" cy="516550"/>
              </a:xfrm>
              <a:custGeom>
                <a:avLst/>
                <a:gdLst/>
                <a:ahLst/>
                <a:cxnLst/>
                <a:rect l="l" t="t" r="r" b="b"/>
                <a:pathLst>
                  <a:path w="265" h="216">
                    <a:moveTo>
                      <a:pt x="36" y="1"/>
                    </a:moveTo>
                    <a:cubicBezTo>
                      <a:pt x="247" y="26"/>
                      <a:pt x="247" y="26"/>
                      <a:pt x="247" y="26"/>
                    </a:cubicBezTo>
                    <a:cubicBezTo>
                      <a:pt x="257" y="27"/>
                      <a:pt x="265" y="37"/>
                      <a:pt x="264" y="47"/>
                    </a:cubicBezTo>
                    <a:cubicBezTo>
                      <a:pt x="251" y="160"/>
                      <a:pt x="251" y="160"/>
                      <a:pt x="251" y="160"/>
                    </a:cubicBezTo>
                    <a:cubicBezTo>
                      <a:pt x="250" y="171"/>
                      <a:pt x="240" y="178"/>
                      <a:pt x="229" y="177"/>
                    </a:cubicBezTo>
                    <a:cubicBezTo>
                      <a:pt x="222" y="176"/>
                      <a:pt x="222" y="176"/>
                      <a:pt x="222" y="176"/>
                    </a:cubicBezTo>
                    <a:cubicBezTo>
                      <a:pt x="211" y="216"/>
                      <a:pt x="211" y="216"/>
                      <a:pt x="211" y="216"/>
                    </a:cubicBezTo>
                    <a:cubicBezTo>
                      <a:pt x="188" y="172"/>
                      <a:pt x="188" y="172"/>
                      <a:pt x="188" y="172"/>
                    </a:cubicBezTo>
                    <a:cubicBezTo>
                      <a:pt x="18" y="153"/>
                      <a:pt x="18" y="153"/>
                      <a:pt x="18" y="153"/>
                    </a:cubicBezTo>
                    <a:cubicBezTo>
                      <a:pt x="8" y="151"/>
                      <a:pt x="0" y="142"/>
                      <a:pt x="1" y="131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8"/>
                      <a:pt x="25" y="0"/>
                      <a:pt x="36" y="1"/>
                    </a:cubicBezTo>
                    <a:close/>
                  </a:path>
                </a:pathLst>
              </a:custGeom>
              <a:solidFill>
                <a:srgbClr val="5DCBC2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1" name="AutoShape 11"/>
              <p:cNvSpPr/>
              <p:nvPr/>
            </p:nvSpPr>
            <p:spPr>
              <a:xfrm>
                <a:off x="12846193" y="3482011"/>
                <a:ext cx="53252" cy="55028"/>
              </a:xfrm>
              <a:custGeom>
                <a:avLst/>
                <a:gdLst/>
                <a:ahLst/>
                <a:cxnLst/>
                <a:rect l="l" t="t" r="r" b="b"/>
                <a:pathLst>
                  <a:path w="22" h="23">
                    <a:moveTo>
                      <a:pt x="0" y="11"/>
                    </a:moveTo>
                    <a:cubicBezTo>
                      <a:pt x="0" y="16"/>
                      <a:pt x="4" y="22"/>
                      <a:pt x="10" y="22"/>
                    </a:cubicBezTo>
                    <a:cubicBezTo>
                      <a:pt x="16" y="23"/>
                      <a:pt x="21" y="19"/>
                      <a:pt x="22" y="13"/>
                    </a:cubicBezTo>
                    <a:cubicBezTo>
                      <a:pt x="22" y="7"/>
                      <a:pt x="18" y="2"/>
                      <a:pt x="12" y="1"/>
                    </a:cubicBezTo>
                    <a:cubicBezTo>
                      <a:pt x="6" y="0"/>
                      <a:pt x="1" y="5"/>
                      <a:pt x="0" y="1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12729037" y="3469584"/>
                <a:ext cx="55028" cy="53252"/>
              </a:xfrm>
              <a:custGeom>
                <a:avLst/>
                <a:gdLst/>
                <a:ahLst/>
                <a:cxnLst/>
                <a:rect l="l" t="t" r="r" b="b"/>
                <a:pathLst>
                  <a:path w="23" h="22">
                    <a:moveTo>
                      <a:pt x="1" y="10"/>
                    </a:moveTo>
                    <a:cubicBezTo>
                      <a:pt x="0" y="16"/>
                      <a:pt x="4" y="21"/>
                      <a:pt x="10" y="22"/>
                    </a:cubicBezTo>
                    <a:cubicBezTo>
                      <a:pt x="16" y="22"/>
                      <a:pt x="22" y="18"/>
                      <a:pt x="22" y="12"/>
                    </a:cubicBezTo>
                    <a:cubicBezTo>
                      <a:pt x="23" y="6"/>
                      <a:pt x="19" y="1"/>
                      <a:pt x="13" y="0"/>
                    </a:cubicBezTo>
                    <a:cubicBezTo>
                      <a:pt x="7" y="0"/>
                      <a:pt x="2" y="4"/>
                      <a:pt x="1" y="1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/>
            </p:nvSpPr>
            <p:spPr>
              <a:xfrm>
                <a:off x="12615432" y="3455384"/>
                <a:ext cx="55028" cy="55028"/>
              </a:xfrm>
              <a:custGeom>
                <a:avLst/>
                <a:gdLst/>
                <a:ahLst/>
                <a:cxnLst/>
                <a:rect l="l" t="t" r="r" b="b"/>
                <a:pathLst>
                  <a:path w="23" h="23">
                    <a:moveTo>
                      <a:pt x="1" y="10"/>
                    </a:moveTo>
                    <a:cubicBezTo>
                      <a:pt x="0" y="16"/>
                      <a:pt x="4" y="22"/>
                      <a:pt x="10" y="22"/>
                    </a:cubicBezTo>
                    <a:cubicBezTo>
                      <a:pt x="16" y="23"/>
                      <a:pt x="21" y="19"/>
                      <a:pt x="22" y="13"/>
                    </a:cubicBezTo>
                    <a:cubicBezTo>
                      <a:pt x="23" y="7"/>
                      <a:pt x="18" y="2"/>
                      <a:pt x="13" y="1"/>
                    </a:cubicBezTo>
                    <a:cubicBezTo>
                      <a:pt x="7" y="0"/>
                      <a:pt x="1" y="4"/>
                      <a:pt x="1" y="1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</p:grpSp>
        <p:sp>
          <p:nvSpPr>
            <p:cNvPr id="14" name="AutoShape 14"/>
            <p:cNvSpPr/>
            <p:nvPr/>
          </p:nvSpPr>
          <p:spPr>
            <a:xfrm>
              <a:off x="8915193" y="2777302"/>
              <a:ext cx="2469141" cy="1771533"/>
            </a:xfrm>
            <a:custGeom>
              <a:avLst/>
              <a:gdLst/>
              <a:ahLst/>
              <a:cxnLst/>
              <a:rect l="l" t="t" r="r" b="b"/>
              <a:pathLst>
                <a:path w="1034" h="742">
                  <a:moveTo>
                    <a:pt x="1007" y="408"/>
                  </a:moveTo>
                  <a:cubicBezTo>
                    <a:pt x="969" y="343"/>
                    <a:pt x="893" y="282"/>
                    <a:pt x="842" y="234"/>
                  </a:cubicBezTo>
                  <a:cubicBezTo>
                    <a:pt x="767" y="163"/>
                    <a:pt x="680" y="171"/>
                    <a:pt x="680" y="171"/>
                  </a:cubicBezTo>
                  <a:cubicBezTo>
                    <a:pt x="588" y="163"/>
                    <a:pt x="588" y="163"/>
                    <a:pt x="588" y="163"/>
                  </a:cubicBezTo>
                  <a:cubicBezTo>
                    <a:pt x="588" y="163"/>
                    <a:pt x="547" y="163"/>
                    <a:pt x="420" y="154"/>
                  </a:cubicBezTo>
                  <a:cubicBezTo>
                    <a:pt x="309" y="146"/>
                    <a:pt x="130" y="34"/>
                    <a:pt x="83" y="4"/>
                  </a:cubicBezTo>
                  <a:cubicBezTo>
                    <a:pt x="76" y="0"/>
                    <a:pt x="67" y="0"/>
                    <a:pt x="61" y="5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4" y="42"/>
                    <a:pt x="0" y="54"/>
                    <a:pt x="5" y="63"/>
                  </a:cubicBezTo>
                  <a:cubicBezTo>
                    <a:pt x="39" y="127"/>
                    <a:pt x="102" y="176"/>
                    <a:pt x="172" y="215"/>
                  </a:cubicBezTo>
                  <a:cubicBezTo>
                    <a:pt x="220" y="240"/>
                    <a:pt x="270" y="261"/>
                    <a:pt x="316" y="276"/>
                  </a:cubicBezTo>
                  <a:cubicBezTo>
                    <a:pt x="316" y="276"/>
                    <a:pt x="316" y="276"/>
                    <a:pt x="316" y="276"/>
                  </a:cubicBezTo>
                  <a:cubicBezTo>
                    <a:pt x="410" y="308"/>
                    <a:pt x="488" y="321"/>
                    <a:pt x="488" y="321"/>
                  </a:cubicBezTo>
                  <a:cubicBezTo>
                    <a:pt x="452" y="579"/>
                    <a:pt x="467" y="742"/>
                    <a:pt x="467" y="742"/>
                  </a:cubicBezTo>
                  <a:cubicBezTo>
                    <a:pt x="840" y="742"/>
                    <a:pt x="840" y="742"/>
                    <a:pt x="840" y="742"/>
                  </a:cubicBezTo>
                  <a:cubicBezTo>
                    <a:pt x="832" y="687"/>
                    <a:pt x="832" y="687"/>
                    <a:pt x="832" y="687"/>
                  </a:cubicBezTo>
                  <a:cubicBezTo>
                    <a:pt x="832" y="687"/>
                    <a:pt x="957" y="629"/>
                    <a:pt x="1009" y="552"/>
                  </a:cubicBezTo>
                  <a:cubicBezTo>
                    <a:pt x="1020" y="536"/>
                    <a:pt x="1028" y="518"/>
                    <a:pt x="1030" y="500"/>
                  </a:cubicBezTo>
                  <a:cubicBezTo>
                    <a:pt x="1034" y="469"/>
                    <a:pt x="1025" y="438"/>
                    <a:pt x="1007" y="408"/>
                  </a:cubicBezTo>
                  <a:moveTo>
                    <a:pt x="914" y="476"/>
                  </a:moveTo>
                  <a:cubicBezTo>
                    <a:pt x="907" y="534"/>
                    <a:pt x="817" y="579"/>
                    <a:pt x="817" y="579"/>
                  </a:cubicBezTo>
                  <a:cubicBezTo>
                    <a:pt x="817" y="372"/>
                    <a:pt x="817" y="372"/>
                    <a:pt x="817" y="372"/>
                  </a:cubicBezTo>
                  <a:cubicBezTo>
                    <a:pt x="817" y="372"/>
                    <a:pt x="921" y="418"/>
                    <a:pt x="914" y="476"/>
                  </a:cubicBezTo>
                </a:path>
              </a:pathLst>
            </a:custGeom>
            <a:solidFill>
              <a:srgbClr val="63A4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8423494" y="1618174"/>
              <a:ext cx="1320661" cy="1065050"/>
            </a:xfrm>
            <a:custGeom>
              <a:avLst/>
              <a:gdLst/>
              <a:ahLst/>
              <a:cxnLst/>
              <a:rect l="l" t="t" r="r" b="b"/>
              <a:pathLst>
                <a:path w="553" h="446">
                  <a:moveTo>
                    <a:pt x="532" y="446"/>
                  </a:moveTo>
                  <a:cubicBezTo>
                    <a:pt x="20" y="446"/>
                    <a:pt x="20" y="446"/>
                    <a:pt x="20" y="446"/>
                  </a:cubicBezTo>
                  <a:cubicBezTo>
                    <a:pt x="9" y="446"/>
                    <a:pt x="0" y="437"/>
                    <a:pt x="0" y="425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532" y="0"/>
                    <a:pt x="532" y="0"/>
                    <a:pt x="532" y="0"/>
                  </a:cubicBezTo>
                  <a:cubicBezTo>
                    <a:pt x="543" y="0"/>
                    <a:pt x="553" y="9"/>
                    <a:pt x="553" y="20"/>
                  </a:cubicBezTo>
                  <a:cubicBezTo>
                    <a:pt x="553" y="425"/>
                    <a:pt x="553" y="425"/>
                    <a:pt x="553" y="425"/>
                  </a:cubicBezTo>
                  <a:cubicBezTo>
                    <a:pt x="553" y="437"/>
                    <a:pt x="543" y="446"/>
                    <a:pt x="532" y="446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8423494" y="1618174"/>
              <a:ext cx="1320661" cy="1065050"/>
            </a:xfrm>
            <a:custGeom>
              <a:avLst/>
              <a:gdLst/>
              <a:ahLst/>
              <a:cxnLst/>
              <a:rect l="l" t="t" r="r" b="b"/>
              <a:pathLst>
                <a:path w="553" h="446">
                  <a:moveTo>
                    <a:pt x="532" y="446"/>
                  </a:moveTo>
                  <a:cubicBezTo>
                    <a:pt x="20" y="446"/>
                    <a:pt x="20" y="446"/>
                    <a:pt x="20" y="446"/>
                  </a:cubicBezTo>
                  <a:cubicBezTo>
                    <a:pt x="9" y="446"/>
                    <a:pt x="0" y="437"/>
                    <a:pt x="0" y="425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532" y="0"/>
                    <a:pt x="532" y="0"/>
                    <a:pt x="532" y="0"/>
                  </a:cubicBezTo>
                  <a:cubicBezTo>
                    <a:pt x="543" y="0"/>
                    <a:pt x="553" y="9"/>
                    <a:pt x="553" y="20"/>
                  </a:cubicBezTo>
                  <a:cubicBezTo>
                    <a:pt x="553" y="425"/>
                    <a:pt x="553" y="425"/>
                    <a:pt x="553" y="425"/>
                  </a:cubicBezTo>
                  <a:cubicBezTo>
                    <a:pt x="553" y="437"/>
                    <a:pt x="543" y="446"/>
                    <a:pt x="532" y="446"/>
                  </a:cubicBezTo>
                  <a:close/>
                </a:path>
              </a:pathLst>
            </a:custGeom>
            <a:ln w="9525">
              <a:solidFill>
                <a:srgbClr val="C5D5E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8332966" y="1570246"/>
              <a:ext cx="1320661" cy="1065050"/>
            </a:xfrm>
            <a:custGeom>
              <a:avLst/>
              <a:gdLst/>
              <a:ahLst/>
              <a:cxnLst/>
              <a:rect l="l" t="t" r="r" b="b"/>
              <a:pathLst>
                <a:path w="553" h="446">
                  <a:moveTo>
                    <a:pt x="532" y="446"/>
                  </a:moveTo>
                  <a:cubicBezTo>
                    <a:pt x="21" y="446"/>
                    <a:pt x="21" y="446"/>
                    <a:pt x="21" y="446"/>
                  </a:cubicBezTo>
                  <a:cubicBezTo>
                    <a:pt x="9" y="446"/>
                    <a:pt x="0" y="437"/>
                    <a:pt x="0" y="42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532" y="0"/>
                    <a:pt x="532" y="0"/>
                    <a:pt x="532" y="0"/>
                  </a:cubicBezTo>
                  <a:cubicBezTo>
                    <a:pt x="544" y="0"/>
                    <a:pt x="553" y="9"/>
                    <a:pt x="553" y="20"/>
                  </a:cubicBezTo>
                  <a:cubicBezTo>
                    <a:pt x="553" y="426"/>
                    <a:pt x="553" y="426"/>
                    <a:pt x="553" y="426"/>
                  </a:cubicBezTo>
                  <a:cubicBezTo>
                    <a:pt x="553" y="437"/>
                    <a:pt x="544" y="446"/>
                    <a:pt x="532" y="446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8332966" y="1570246"/>
              <a:ext cx="1320661" cy="1065050"/>
            </a:xfrm>
            <a:custGeom>
              <a:avLst/>
              <a:gdLst/>
              <a:ahLst/>
              <a:cxnLst/>
              <a:rect l="l" t="t" r="r" b="b"/>
              <a:pathLst>
                <a:path w="553" h="446">
                  <a:moveTo>
                    <a:pt x="532" y="446"/>
                  </a:moveTo>
                  <a:cubicBezTo>
                    <a:pt x="21" y="446"/>
                    <a:pt x="21" y="446"/>
                    <a:pt x="21" y="446"/>
                  </a:cubicBezTo>
                  <a:cubicBezTo>
                    <a:pt x="9" y="446"/>
                    <a:pt x="0" y="437"/>
                    <a:pt x="0" y="42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532" y="0"/>
                    <a:pt x="532" y="0"/>
                    <a:pt x="532" y="0"/>
                  </a:cubicBezTo>
                  <a:cubicBezTo>
                    <a:pt x="544" y="0"/>
                    <a:pt x="553" y="9"/>
                    <a:pt x="553" y="20"/>
                  </a:cubicBezTo>
                  <a:cubicBezTo>
                    <a:pt x="553" y="426"/>
                    <a:pt x="553" y="426"/>
                    <a:pt x="553" y="426"/>
                  </a:cubicBezTo>
                  <a:cubicBezTo>
                    <a:pt x="553" y="437"/>
                    <a:pt x="544" y="446"/>
                    <a:pt x="532" y="446"/>
                  </a:cubicBezTo>
                  <a:close/>
                </a:path>
              </a:pathLst>
            </a:custGeom>
            <a:ln w="9525">
              <a:solidFill>
                <a:srgbClr val="C5D5E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8498048" y="1717579"/>
              <a:ext cx="179284" cy="179284"/>
            </a:xfrm>
            <a:prstGeom prst="ellipse">
              <a:avLst/>
            </a:prstGeom>
            <a:solidFill>
              <a:srgbClr val="D1E7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8474973" y="1976741"/>
              <a:ext cx="225436" cy="463298"/>
            </a:xfrm>
            <a:prstGeom prst="rect">
              <a:avLst/>
            </a:prstGeom>
            <a:solidFill>
              <a:srgbClr val="D1E7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8904542" y="1717579"/>
              <a:ext cx="177508" cy="179284"/>
            </a:xfrm>
            <a:prstGeom prst="ellipse">
              <a:avLst/>
            </a:prstGeom>
            <a:solidFill>
              <a:srgbClr val="5DCBC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8879691" y="1976741"/>
              <a:ext cx="227210" cy="463298"/>
            </a:xfrm>
            <a:prstGeom prst="rect">
              <a:avLst/>
            </a:prstGeom>
            <a:solidFill>
              <a:srgbClr val="5DCBC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9309261" y="1717579"/>
              <a:ext cx="179284" cy="179284"/>
            </a:xfrm>
            <a:prstGeom prst="ellipse">
              <a:avLst/>
            </a:prstGeom>
            <a:solidFill>
              <a:srgbClr val="D1E7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9286185" y="1976741"/>
              <a:ext cx="227210" cy="463298"/>
            </a:xfrm>
            <a:prstGeom prst="rect">
              <a:avLst/>
            </a:prstGeom>
            <a:solidFill>
              <a:srgbClr val="D1E7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8373792" y="2170224"/>
              <a:ext cx="40827" cy="76329"/>
            </a:xfrm>
            <a:custGeom>
              <a:avLst/>
              <a:gdLst/>
              <a:ahLst/>
              <a:cxnLst/>
              <a:rect l="l" t="t" r="r" b="b"/>
              <a:pathLst>
                <a:path w="23" h="43">
                  <a:moveTo>
                    <a:pt x="22" y="0"/>
                  </a:moveTo>
                  <a:lnTo>
                    <a:pt x="0" y="21"/>
                  </a:lnTo>
                  <a:lnTo>
                    <a:pt x="23" y="43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5DCBC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9564873" y="2170224"/>
              <a:ext cx="40827" cy="76329"/>
            </a:xfrm>
            <a:custGeom>
              <a:avLst/>
              <a:gdLst/>
              <a:ahLst/>
              <a:cxnLst/>
              <a:rect l="l" t="t" r="r" b="b"/>
              <a:pathLst>
                <a:path w="23" h="43">
                  <a:moveTo>
                    <a:pt x="2" y="0"/>
                  </a:moveTo>
                  <a:lnTo>
                    <a:pt x="23" y="21"/>
                  </a:lnTo>
                  <a:lnTo>
                    <a:pt x="0" y="4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5DCBC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8758986" y="2498615"/>
              <a:ext cx="315965" cy="386968"/>
            </a:xfrm>
            <a:custGeom>
              <a:avLst/>
              <a:gdLst/>
              <a:ahLst/>
              <a:cxnLst/>
              <a:rect l="l" t="t" r="r" b="b"/>
              <a:pathLst>
                <a:path w="133" h="162">
                  <a:moveTo>
                    <a:pt x="133" y="128"/>
                  </a:moveTo>
                  <a:cubicBezTo>
                    <a:pt x="133" y="128"/>
                    <a:pt x="96" y="0"/>
                    <a:pt x="80" y="3"/>
                  </a:cubicBezTo>
                  <a:cubicBezTo>
                    <a:pt x="63" y="6"/>
                    <a:pt x="80" y="60"/>
                    <a:pt x="80" y="60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59"/>
                    <a:pt x="60" y="146"/>
                    <a:pt x="84" y="162"/>
                  </a:cubicBezTo>
                  <a:lnTo>
                    <a:pt x="133" y="128"/>
                  </a:lnTo>
                  <a:close/>
                </a:path>
              </a:pathLst>
            </a:custGeom>
            <a:solidFill>
              <a:srgbClr val="FFACB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10594421" y="4140566"/>
              <a:ext cx="326615" cy="408269"/>
            </a:xfrm>
            <a:custGeom>
              <a:avLst/>
              <a:gdLst/>
              <a:ahLst/>
              <a:cxnLst/>
              <a:rect l="l" t="t" r="r" b="b"/>
              <a:pathLst>
                <a:path w="184" h="230">
                  <a:moveTo>
                    <a:pt x="25" y="0"/>
                  </a:moveTo>
                  <a:lnTo>
                    <a:pt x="0" y="223"/>
                  </a:lnTo>
                  <a:lnTo>
                    <a:pt x="184" y="23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4F87E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10594421" y="4140566"/>
              <a:ext cx="326615" cy="408269"/>
            </a:xfrm>
            <a:custGeom>
              <a:avLst/>
              <a:gdLst/>
              <a:ahLst/>
              <a:cxnLst/>
              <a:rect l="l" t="t" r="r" b="b"/>
              <a:pathLst>
                <a:path w="184" h="230">
                  <a:moveTo>
                    <a:pt x="25" y="0"/>
                  </a:moveTo>
                  <a:lnTo>
                    <a:pt x="0" y="223"/>
                  </a:lnTo>
                  <a:lnTo>
                    <a:pt x="184" y="230"/>
                  </a:lnTo>
                  <a:lnTo>
                    <a:pt x="25" y="0"/>
                  </a:lnTo>
                </a:path>
              </a:pathLst>
            </a:custGeom>
            <a:ln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9406890" y="2963686"/>
              <a:ext cx="189934" cy="447321"/>
            </a:xfrm>
            <a:custGeom>
              <a:avLst/>
              <a:gdLst/>
              <a:ahLst/>
              <a:cxnLst/>
              <a:rect l="l" t="t" r="r" b="b"/>
              <a:pathLst>
                <a:path w="107" h="251">
                  <a:moveTo>
                    <a:pt x="0" y="0"/>
                  </a:moveTo>
                  <a:lnTo>
                    <a:pt x="18" y="215"/>
                  </a:lnTo>
                  <a:lnTo>
                    <a:pt x="107" y="2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7E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9406890" y="2963686"/>
              <a:ext cx="189934" cy="447321"/>
            </a:xfrm>
            <a:custGeom>
              <a:avLst/>
              <a:gdLst/>
              <a:ahLst/>
              <a:cxnLst/>
              <a:rect l="l" t="t" r="r" b="b"/>
              <a:pathLst>
                <a:path w="107" h="251">
                  <a:moveTo>
                    <a:pt x="0" y="0"/>
                  </a:moveTo>
                  <a:lnTo>
                    <a:pt x="18" y="215"/>
                  </a:lnTo>
                  <a:lnTo>
                    <a:pt x="107" y="252"/>
                  </a:lnTo>
                  <a:lnTo>
                    <a:pt x="0" y="0"/>
                  </a:lnTo>
                </a:path>
              </a:pathLst>
            </a:custGeom>
            <a:ln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10358335" y="4140566"/>
              <a:ext cx="280463" cy="395844"/>
            </a:xfrm>
            <a:custGeom>
              <a:avLst/>
              <a:gdLst/>
              <a:ahLst/>
              <a:cxnLst/>
              <a:rect l="l" t="t" r="r" b="b"/>
              <a:pathLst>
                <a:path w="118" h="166">
                  <a:moveTo>
                    <a:pt x="99" y="166"/>
                  </a:moveTo>
                  <a:cubicBezTo>
                    <a:pt x="19" y="166"/>
                    <a:pt x="19" y="166"/>
                    <a:pt x="19" y="166"/>
                  </a:cubicBezTo>
                  <a:cubicBezTo>
                    <a:pt x="8" y="166"/>
                    <a:pt x="0" y="157"/>
                    <a:pt x="0" y="1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147"/>
                    <a:pt x="118" y="147"/>
                    <a:pt x="118" y="147"/>
                  </a:cubicBezTo>
                  <a:cubicBezTo>
                    <a:pt x="118" y="157"/>
                    <a:pt x="110" y="166"/>
                    <a:pt x="99" y="166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10408037" y="4012760"/>
              <a:ext cx="30177" cy="118932"/>
            </a:xfrm>
            <a:custGeom>
              <a:avLst/>
              <a:gdLst/>
              <a:ahLst/>
              <a:cxnLst/>
              <a:rect l="l" t="t" r="r" b="b"/>
              <a:pathLst>
                <a:path w="13" h="50">
                  <a:moveTo>
                    <a:pt x="10" y="0"/>
                  </a:moveTo>
                  <a:cubicBezTo>
                    <a:pt x="10" y="0"/>
                    <a:pt x="9" y="0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5"/>
                    <a:pt x="7" y="8"/>
                    <a:pt x="6" y="12"/>
                  </a:cubicBezTo>
                  <a:cubicBezTo>
                    <a:pt x="4" y="16"/>
                    <a:pt x="3" y="20"/>
                    <a:pt x="1" y="24"/>
                  </a:cubicBezTo>
                  <a:cubicBezTo>
                    <a:pt x="1" y="26"/>
                    <a:pt x="0" y="28"/>
                    <a:pt x="0" y="31"/>
                  </a:cubicBezTo>
                  <a:cubicBezTo>
                    <a:pt x="0" y="33"/>
                    <a:pt x="0" y="35"/>
                    <a:pt x="0" y="38"/>
                  </a:cubicBezTo>
                  <a:cubicBezTo>
                    <a:pt x="1" y="42"/>
                    <a:pt x="2" y="46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45"/>
                    <a:pt x="6" y="41"/>
                    <a:pt x="6" y="37"/>
                  </a:cubicBezTo>
                  <a:cubicBezTo>
                    <a:pt x="6" y="33"/>
                    <a:pt x="7" y="29"/>
                    <a:pt x="8" y="26"/>
                  </a:cubicBezTo>
                  <a:cubicBezTo>
                    <a:pt x="8" y="22"/>
                    <a:pt x="10" y="18"/>
                    <a:pt x="11" y="14"/>
                  </a:cubicBezTo>
                  <a:cubicBezTo>
                    <a:pt x="12" y="10"/>
                    <a:pt x="13" y="5"/>
                    <a:pt x="11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92BFE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10555369" y="4034061"/>
              <a:ext cx="26627" cy="97630"/>
            </a:xfrm>
            <a:custGeom>
              <a:avLst/>
              <a:gdLst/>
              <a:ahLst/>
              <a:cxnLst/>
              <a:rect l="l" t="t" r="r" b="b"/>
              <a:pathLst>
                <a:path w="11" h="41">
                  <a:moveTo>
                    <a:pt x="2" y="0"/>
                  </a:moveTo>
                  <a:cubicBezTo>
                    <a:pt x="2" y="0"/>
                    <a:pt x="1" y="0"/>
                    <a:pt x="1" y="1"/>
                  </a:cubicBezTo>
                  <a:cubicBezTo>
                    <a:pt x="0" y="4"/>
                    <a:pt x="1" y="8"/>
                    <a:pt x="2" y="12"/>
                  </a:cubicBezTo>
                  <a:cubicBezTo>
                    <a:pt x="2" y="15"/>
                    <a:pt x="3" y="18"/>
                    <a:pt x="4" y="21"/>
                  </a:cubicBezTo>
                  <a:cubicBezTo>
                    <a:pt x="5" y="24"/>
                    <a:pt x="5" y="27"/>
                    <a:pt x="5" y="30"/>
                  </a:cubicBezTo>
                  <a:cubicBezTo>
                    <a:pt x="5" y="34"/>
                    <a:pt x="5" y="37"/>
                    <a:pt x="5" y="4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5" y="41"/>
                    <a:pt x="6" y="41"/>
                    <a:pt x="6" y="41"/>
                  </a:cubicBezTo>
                  <a:cubicBezTo>
                    <a:pt x="6" y="41"/>
                    <a:pt x="6" y="41"/>
                    <a:pt x="7" y="41"/>
                  </a:cubicBezTo>
                  <a:cubicBezTo>
                    <a:pt x="9" y="38"/>
                    <a:pt x="11" y="35"/>
                    <a:pt x="11" y="31"/>
                  </a:cubicBezTo>
                  <a:cubicBezTo>
                    <a:pt x="11" y="29"/>
                    <a:pt x="11" y="27"/>
                    <a:pt x="11" y="25"/>
                  </a:cubicBezTo>
                  <a:cubicBezTo>
                    <a:pt x="11" y="23"/>
                    <a:pt x="11" y="22"/>
                    <a:pt x="10" y="20"/>
                  </a:cubicBezTo>
                  <a:cubicBezTo>
                    <a:pt x="9" y="16"/>
                    <a:pt x="8" y="13"/>
                    <a:pt x="6" y="10"/>
                  </a:cubicBezTo>
                  <a:cubicBezTo>
                    <a:pt x="5" y="7"/>
                    <a:pt x="4" y="4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</a:path>
              </a:pathLst>
            </a:custGeom>
            <a:solidFill>
              <a:srgbClr val="92BFE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10477265" y="3971934"/>
              <a:ext cx="35501" cy="159757"/>
            </a:xfrm>
            <a:custGeom>
              <a:avLst/>
              <a:gdLst/>
              <a:ahLst/>
              <a:cxnLst/>
              <a:rect l="l" t="t" r="r" b="b"/>
              <a:pathLst>
                <a:path w="15" h="67">
                  <a:moveTo>
                    <a:pt x="2" y="0"/>
                  </a:moveTo>
                  <a:cubicBezTo>
                    <a:pt x="1" y="0"/>
                    <a:pt x="1" y="1"/>
                    <a:pt x="1" y="1"/>
                  </a:cubicBezTo>
                  <a:cubicBezTo>
                    <a:pt x="0" y="7"/>
                    <a:pt x="1" y="13"/>
                    <a:pt x="2" y="18"/>
                  </a:cubicBezTo>
                  <a:cubicBezTo>
                    <a:pt x="4" y="24"/>
                    <a:pt x="5" y="29"/>
                    <a:pt x="7" y="34"/>
                  </a:cubicBezTo>
                  <a:cubicBezTo>
                    <a:pt x="8" y="40"/>
                    <a:pt x="8" y="45"/>
                    <a:pt x="8" y="50"/>
                  </a:cubicBezTo>
                  <a:cubicBezTo>
                    <a:pt x="8" y="55"/>
                    <a:pt x="8" y="61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12" y="62"/>
                    <a:pt x="14" y="56"/>
                    <a:pt x="14" y="50"/>
                  </a:cubicBezTo>
                  <a:cubicBezTo>
                    <a:pt x="15" y="47"/>
                    <a:pt x="15" y="45"/>
                    <a:pt x="14" y="42"/>
                  </a:cubicBezTo>
                  <a:cubicBezTo>
                    <a:pt x="14" y="39"/>
                    <a:pt x="13" y="36"/>
                    <a:pt x="13" y="33"/>
                  </a:cubicBezTo>
                  <a:cubicBezTo>
                    <a:pt x="11" y="27"/>
                    <a:pt x="9" y="22"/>
                    <a:pt x="7" y="17"/>
                  </a:cubicBezTo>
                  <a:cubicBezTo>
                    <a:pt x="5" y="12"/>
                    <a:pt x="3" y="7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92BFE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10422237" y="4296773"/>
              <a:ext cx="301764" cy="252062"/>
            </a:xfrm>
            <a:custGeom>
              <a:avLst/>
              <a:gdLst/>
              <a:ahLst/>
              <a:cxnLst/>
              <a:rect l="l" t="t" r="r" b="b"/>
              <a:pathLst>
                <a:path w="125" h="105">
                  <a:moveTo>
                    <a:pt x="99" y="5"/>
                  </a:moveTo>
                  <a:cubicBezTo>
                    <a:pt x="99" y="5"/>
                    <a:pt x="52" y="0"/>
                    <a:pt x="35" y="9"/>
                  </a:cubicBezTo>
                  <a:cubicBezTo>
                    <a:pt x="18" y="17"/>
                    <a:pt x="0" y="40"/>
                    <a:pt x="5" y="46"/>
                  </a:cubicBezTo>
                  <a:cubicBezTo>
                    <a:pt x="10" y="51"/>
                    <a:pt x="28" y="36"/>
                    <a:pt x="28" y="36"/>
                  </a:cubicBezTo>
                  <a:cubicBezTo>
                    <a:pt x="28" y="36"/>
                    <a:pt x="7" y="59"/>
                    <a:pt x="8" y="68"/>
                  </a:cubicBezTo>
                  <a:cubicBezTo>
                    <a:pt x="9" y="77"/>
                    <a:pt x="39" y="57"/>
                    <a:pt x="39" y="57"/>
                  </a:cubicBezTo>
                  <a:cubicBezTo>
                    <a:pt x="39" y="57"/>
                    <a:pt x="20" y="76"/>
                    <a:pt x="22" y="85"/>
                  </a:cubicBezTo>
                  <a:cubicBezTo>
                    <a:pt x="24" y="95"/>
                    <a:pt x="48" y="71"/>
                    <a:pt x="48" y="71"/>
                  </a:cubicBezTo>
                  <a:cubicBezTo>
                    <a:pt x="48" y="71"/>
                    <a:pt x="39" y="89"/>
                    <a:pt x="43" y="96"/>
                  </a:cubicBezTo>
                  <a:cubicBezTo>
                    <a:pt x="48" y="106"/>
                    <a:pt x="77" y="73"/>
                    <a:pt x="82" y="73"/>
                  </a:cubicBezTo>
                  <a:cubicBezTo>
                    <a:pt x="87" y="73"/>
                    <a:pt x="126" y="79"/>
                    <a:pt x="126" y="79"/>
                  </a:cubicBezTo>
                  <a:lnTo>
                    <a:pt x="99" y="5"/>
                  </a:lnTo>
                  <a:close/>
                </a:path>
              </a:pathLst>
            </a:custGeom>
            <a:solidFill>
              <a:srgbClr val="FFACB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9327012" y="3226399"/>
              <a:ext cx="342591" cy="211236"/>
            </a:xfrm>
            <a:custGeom>
              <a:avLst/>
              <a:gdLst/>
              <a:ahLst/>
              <a:cxnLst/>
              <a:rect l="l" t="t" r="r" b="b"/>
              <a:pathLst>
                <a:path w="144" h="88">
                  <a:moveTo>
                    <a:pt x="144" y="88"/>
                  </a:moveTo>
                  <a:cubicBezTo>
                    <a:pt x="98" y="73"/>
                    <a:pt x="48" y="52"/>
                    <a:pt x="0" y="27"/>
                  </a:cubicBezTo>
                  <a:cubicBezTo>
                    <a:pt x="0" y="27"/>
                    <a:pt x="97" y="0"/>
                    <a:pt x="144" y="88"/>
                  </a:cubicBezTo>
                  <a:close/>
                </a:path>
              </a:pathLst>
            </a:custGeom>
            <a:solidFill>
              <a:srgbClr val="99C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8952469" y="2802154"/>
              <a:ext cx="182834" cy="165083"/>
            </a:xfrm>
            <a:custGeom>
              <a:avLst/>
              <a:gdLst/>
              <a:ahLst/>
              <a:cxnLst/>
              <a:rect l="l" t="t" r="r" b="b"/>
              <a:pathLst>
                <a:path w="77" h="69">
                  <a:moveTo>
                    <a:pt x="77" y="0"/>
                  </a:moveTo>
                  <a:cubicBezTo>
                    <a:pt x="77" y="0"/>
                    <a:pt x="34" y="52"/>
                    <a:pt x="0" y="69"/>
                  </a:cubicBezTo>
                </a:path>
              </a:pathLst>
            </a:custGeom>
            <a:ln w="4763">
              <a:solidFill>
                <a:srgbClr val="99CB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10651224" y="4160092"/>
              <a:ext cx="250287" cy="346142"/>
            </a:xfrm>
            <a:custGeom>
              <a:avLst/>
              <a:gdLst/>
              <a:ahLst/>
              <a:cxnLst/>
              <a:rect l="l" t="t" r="r" b="b"/>
              <a:pathLst>
                <a:path w="105" h="145">
                  <a:moveTo>
                    <a:pt x="90" y="0"/>
                  </a:moveTo>
                  <a:cubicBezTo>
                    <a:pt x="84" y="1"/>
                    <a:pt x="0" y="50"/>
                    <a:pt x="3" y="62"/>
                  </a:cubicBezTo>
                  <a:cubicBezTo>
                    <a:pt x="6" y="74"/>
                    <a:pt x="25" y="145"/>
                    <a:pt x="38" y="143"/>
                  </a:cubicBezTo>
                  <a:cubicBezTo>
                    <a:pt x="51" y="141"/>
                    <a:pt x="105" y="108"/>
                    <a:pt x="105" y="108"/>
                  </a:cubicBezTo>
                </a:path>
              </a:pathLst>
            </a:custGeom>
            <a:solidFill>
              <a:srgbClr val="63A4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10651224" y="4160092"/>
              <a:ext cx="250287" cy="346142"/>
            </a:xfrm>
            <a:custGeom>
              <a:avLst/>
              <a:gdLst/>
              <a:ahLst/>
              <a:cxnLst/>
              <a:rect l="l" t="t" r="r" b="b"/>
              <a:pathLst>
                <a:path w="105" h="145">
                  <a:moveTo>
                    <a:pt x="90" y="0"/>
                  </a:moveTo>
                  <a:cubicBezTo>
                    <a:pt x="84" y="1"/>
                    <a:pt x="0" y="50"/>
                    <a:pt x="3" y="62"/>
                  </a:cubicBezTo>
                  <a:cubicBezTo>
                    <a:pt x="6" y="74"/>
                    <a:pt x="25" y="145"/>
                    <a:pt x="38" y="143"/>
                  </a:cubicBezTo>
                  <a:cubicBezTo>
                    <a:pt x="51" y="141"/>
                    <a:pt x="105" y="108"/>
                    <a:pt x="105" y="108"/>
                  </a:cubicBezTo>
                </a:path>
              </a:pathLst>
            </a:custGeom>
            <a:ln w="4763">
              <a:solidFill>
                <a:srgbClr val="99CB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10260706" y="3169596"/>
              <a:ext cx="331941" cy="113606"/>
            </a:xfrm>
            <a:custGeom>
              <a:avLst/>
              <a:gdLst/>
              <a:ahLst/>
              <a:cxnLst/>
              <a:rect l="l" t="t" r="r" b="b"/>
              <a:pathLst>
                <a:path w="139" h="48">
                  <a:moveTo>
                    <a:pt x="0" y="0"/>
                  </a:moveTo>
                  <a:cubicBezTo>
                    <a:pt x="0" y="0"/>
                    <a:pt x="7" y="47"/>
                    <a:pt x="65" y="47"/>
                  </a:cubicBezTo>
                  <a:cubicBezTo>
                    <a:pt x="124" y="48"/>
                    <a:pt x="139" y="8"/>
                    <a:pt x="139" y="8"/>
                  </a:cubicBezTo>
                </a:path>
              </a:pathLst>
            </a:custGeom>
            <a:ln w="9525">
              <a:solidFill>
                <a:srgbClr val="99CB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10708026" y="4255947"/>
              <a:ext cx="95854" cy="218335"/>
            </a:xfrm>
            <a:custGeom>
              <a:avLst/>
              <a:gdLst/>
              <a:ahLst/>
              <a:cxnLst/>
              <a:rect l="l" t="t" r="r" b="b"/>
              <a:pathLst>
                <a:path w="40" h="92">
                  <a:moveTo>
                    <a:pt x="0" y="0"/>
                  </a:moveTo>
                  <a:cubicBezTo>
                    <a:pt x="0" y="0"/>
                    <a:pt x="20" y="71"/>
                    <a:pt x="40" y="92"/>
                  </a:cubicBezTo>
                </a:path>
              </a:pathLst>
            </a:custGeom>
            <a:ln w="4763">
              <a:solidFill>
                <a:srgbClr val="99CB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10045920" y="3710996"/>
              <a:ext cx="820088" cy="207685"/>
            </a:xfrm>
            <a:custGeom>
              <a:avLst/>
              <a:gdLst/>
              <a:ahLst/>
              <a:cxnLst/>
              <a:rect l="l" t="t" r="r" b="b"/>
              <a:pathLst>
                <a:path w="344" h="87">
                  <a:moveTo>
                    <a:pt x="6" y="0"/>
                  </a:moveTo>
                  <a:cubicBezTo>
                    <a:pt x="6" y="0"/>
                    <a:pt x="183" y="21"/>
                    <a:pt x="344" y="16"/>
                  </a:cubicBezTo>
                  <a:cubicBezTo>
                    <a:pt x="344" y="76"/>
                    <a:pt x="344" y="76"/>
                    <a:pt x="344" y="76"/>
                  </a:cubicBezTo>
                  <a:cubicBezTo>
                    <a:pt x="344" y="76"/>
                    <a:pt x="87" y="87"/>
                    <a:pt x="0" y="5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99C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4" name="AutoShape 44"/>
            <p:cNvSpPr/>
            <p:nvPr/>
          </p:nvSpPr>
          <p:spPr>
            <a:xfrm>
              <a:off x="11260076" y="3751823"/>
              <a:ext cx="124256" cy="344366"/>
            </a:xfrm>
            <a:custGeom>
              <a:avLst/>
              <a:gdLst/>
              <a:ahLst/>
              <a:cxnLst/>
              <a:rect l="l" t="t" r="r" b="b"/>
              <a:pathLst>
                <a:path w="52" h="144">
                  <a:moveTo>
                    <a:pt x="48" y="92"/>
                  </a:moveTo>
                  <a:cubicBezTo>
                    <a:pt x="46" y="110"/>
                    <a:pt x="38" y="128"/>
                    <a:pt x="27" y="144"/>
                  </a:cubicBezTo>
                  <a:cubicBezTo>
                    <a:pt x="0" y="94"/>
                    <a:pt x="17" y="27"/>
                    <a:pt x="25" y="0"/>
                  </a:cubicBezTo>
                  <a:cubicBezTo>
                    <a:pt x="43" y="30"/>
                    <a:pt x="52" y="61"/>
                    <a:pt x="48" y="92"/>
                  </a:cubicBezTo>
                  <a:close/>
                </a:path>
              </a:pathLst>
            </a:custGeom>
            <a:solidFill>
              <a:srgbClr val="99C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5" name="AutoShape 45"/>
            <p:cNvSpPr/>
            <p:nvPr/>
          </p:nvSpPr>
          <p:spPr>
            <a:xfrm>
              <a:off x="10303308" y="2983212"/>
              <a:ext cx="236087" cy="250287"/>
            </a:xfrm>
            <a:custGeom>
              <a:avLst/>
              <a:gdLst/>
              <a:ahLst/>
              <a:cxnLst/>
              <a:rect l="l" t="t" r="r" b="b"/>
              <a:pathLst>
                <a:path w="99" h="105">
                  <a:moveTo>
                    <a:pt x="7" y="77"/>
                  </a:moveTo>
                  <a:cubicBezTo>
                    <a:pt x="5" y="81"/>
                    <a:pt x="3" y="84"/>
                    <a:pt x="2" y="86"/>
                  </a:cubicBezTo>
                  <a:cubicBezTo>
                    <a:pt x="2" y="86"/>
                    <a:pt x="2" y="86"/>
                    <a:pt x="3" y="87"/>
                  </a:cubicBezTo>
                  <a:cubicBezTo>
                    <a:pt x="12" y="93"/>
                    <a:pt x="19" y="98"/>
                    <a:pt x="27" y="101"/>
                  </a:cubicBezTo>
                  <a:cubicBezTo>
                    <a:pt x="32" y="102"/>
                    <a:pt x="38" y="103"/>
                    <a:pt x="45" y="104"/>
                  </a:cubicBezTo>
                  <a:cubicBezTo>
                    <a:pt x="66" y="105"/>
                    <a:pt x="85" y="102"/>
                    <a:pt x="99" y="85"/>
                  </a:cubicBezTo>
                  <a:cubicBezTo>
                    <a:pt x="79" y="65"/>
                    <a:pt x="82" y="43"/>
                    <a:pt x="86" y="17"/>
                  </a:cubicBezTo>
                  <a:cubicBezTo>
                    <a:pt x="86" y="16"/>
                    <a:pt x="86" y="15"/>
                    <a:pt x="86" y="15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7" y="9"/>
                    <a:pt x="88" y="5"/>
                    <a:pt x="89" y="0"/>
                  </a:cubicBezTo>
                  <a:cubicBezTo>
                    <a:pt x="71" y="0"/>
                    <a:pt x="42" y="1"/>
                    <a:pt x="28" y="2"/>
                  </a:cubicBezTo>
                  <a:cubicBezTo>
                    <a:pt x="17" y="3"/>
                    <a:pt x="14" y="3"/>
                    <a:pt x="9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4"/>
                    <a:pt x="7" y="4"/>
                    <a:pt x="6" y="4"/>
                  </a:cubicBezTo>
                  <a:cubicBezTo>
                    <a:pt x="4" y="4"/>
                    <a:pt x="2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6"/>
                    <a:pt x="3" y="8"/>
                    <a:pt x="4" y="11"/>
                  </a:cubicBezTo>
                  <a:cubicBezTo>
                    <a:pt x="14" y="27"/>
                    <a:pt x="20" y="45"/>
                    <a:pt x="13" y="64"/>
                  </a:cubicBezTo>
                  <a:cubicBezTo>
                    <a:pt x="12" y="67"/>
                    <a:pt x="9" y="72"/>
                    <a:pt x="7" y="77"/>
                  </a:cubicBezTo>
                  <a:close/>
                </a:path>
              </a:pathLst>
            </a:custGeom>
            <a:solidFill>
              <a:srgbClr val="FFACB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6" name="AutoShape 46"/>
            <p:cNvSpPr/>
            <p:nvPr/>
          </p:nvSpPr>
          <p:spPr>
            <a:xfrm>
              <a:off x="10303308" y="2983212"/>
              <a:ext cx="216560" cy="200585"/>
            </a:xfrm>
            <a:custGeom>
              <a:avLst/>
              <a:gdLst/>
              <a:ahLst/>
              <a:cxnLst/>
              <a:rect l="l" t="t" r="r" b="b"/>
              <a:pathLst>
                <a:path w="91" h="84"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3" y="8"/>
                    <a:pt x="4" y="11"/>
                  </a:cubicBezTo>
                  <a:cubicBezTo>
                    <a:pt x="14" y="27"/>
                    <a:pt x="20" y="45"/>
                    <a:pt x="13" y="64"/>
                  </a:cubicBezTo>
                  <a:cubicBezTo>
                    <a:pt x="12" y="67"/>
                    <a:pt x="9" y="72"/>
                    <a:pt x="7" y="77"/>
                  </a:cubicBezTo>
                  <a:cubicBezTo>
                    <a:pt x="47" y="84"/>
                    <a:pt x="67" y="46"/>
                    <a:pt x="86" y="15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90" y="10"/>
                    <a:pt x="91" y="5"/>
                    <a:pt x="89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62" y="0"/>
                    <a:pt x="35" y="2"/>
                    <a:pt x="9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4"/>
                    <a:pt x="6" y="4"/>
                    <a:pt x="6" y="4"/>
                  </a:cubicBezTo>
                  <a:cubicBezTo>
                    <a:pt x="4" y="4"/>
                    <a:pt x="2" y="4"/>
                    <a:pt x="0" y="4"/>
                  </a:cubicBezTo>
                  <a:close/>
                </a:path>
              </a:pathLst>
            </a:custGeom>
            <a:solidFill>
              <a:srgbClr val="FF96A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9918114" y="2523466"/>
              <a:ext cx="152657" cy="163307"/>
            </a:xfrm>
            <a:custGeom>
              <a:avLst/>
              <a:gdLst/>
              <a:ahLst/>
              <a:cxnLst/>
              <a:rect l="l" t="t" r="r" b="b"/>
              <a:pathLst>
                <a:path w="64" h="69">
                  <a:moveTo>
                    <a:pt x="0" y="34"/>
                  </a:moveTo>
                  <a:cubicBezTo>
                    <a:pt x="0" y="36"/>
                    <a:pt x="0" y="38"/>
                    <a:pt x="0" y="40"/>
                  </a:cubicBezTo>
                  <a:cubicBezTo>
                    <a:pt x="2" y="56"/>
                    <a:pt x="15" y="68"/>
                    <a:pt x="31" y="69"/>
                  </a:cubicBezTo>
                  <a:cubicBezTo>
                    <a:pt x="49" y="69"/>
                    <a:pt x="63" y="54"/>
                    <a:pt x="64" y="35"/>
                  </a:cubicBezTo>
                  <a:cubicBezTo>
                    <a:pt x="64" y="16"/>
                    <a:pt x="50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15" y="0"/>
                    <a:pt x="0" y="15"/>
                    <a:pt x="0" y="34"/>
                  </a:cubicBezTo>
                  <a:close/>
                </a:path>
              </a:pathLst>
            </a:custGeom>
            <a:solidFill>
              <a:srgbClr val="FFACB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8" name="AutoShape 48"/>
            <p:cNvSpPr/>
            <p:nvPr/>
          </p:nvSpPr>
          <p:spPr>
            <a:xfrm>
              <a:off x="9957166" y="2566068"/>
              <a:ext cx="76329" cy="79879"/>
            </a:xfrm>
            <a:custGeom>
              <a:avLst/>
              <a:gdLst/>
              <a:ahLst/>
              <a:cxnLst/>
              <a:rect l="l" t="t" r="r" b="b"/>
              <a:pathLst>
                <a:path w="32" h="34">
                  <a:moveTo>
                    <a:pt x="0" y="16"/>
                  </a:moveTo>
                  <a:cubicBezTo>
                    <a:pt x="0" y="26"/>
                    <a:pt x="7" y="33"/>
                    <a:pt x="15" y="33"/>
                  </a:cubicBezTo>
                  <a:cubicBezTo>
                    <a:pt x="24" y="34"/>
                    <a:pt x="31" y="26"/>
                    <a:pt x="31" y="17"/>
                  </a:cubicBezTo>
                  <a:cubicBezTo>
                    <a:pt x="32" y="8"/>
                    <a:pt x="25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lose/>
                </a:path>
              </a:pathLst>
            </a:custGeom>
            <a:solidFill>
              <a:srgbClr val="FF96A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9" name="AutoShape 49"/>
            <p:cNvSpPr/>
            <p:nvPr/>
          </p:nvSpPr>
          <p:spPr>
            <a:xfrm>
              <a:off x="9918114" y="2525241"/>
              <a:ext cx="152657" cy="161533"/>
            </a:xfrm>
            <a:custGeom>
              <a:avLst/>
              <a:gdLst/>
              <a:ahLst/>
              <a:cxnLst/>
              <a:rect l="l" t="t" r="r" b="b"/>
              <a:pathLst>
                <a:path w="64" h="68">
                  <a:moveTo>
                    <a:pt x="0" y="39"/>
                  </a:moveTo>
                  <a:cubicBezTo>
                    <a:pt x="2" y="55"/>
                    <a:pt x="15" y="67"/>
                    <a:pt x="31" y="68"/>
                  </a:cubicBezTo>
                  <a:cubicBezTo>
                    <a:pt x="49" y="68"/>
                    <a:pt x="63" y="53"/>
                    <a:pt x="64" y="34"/>
                  </a:cubicBezTo>
                  <a:cubicBezTo>
                    <a:pt x="64" y="15"/>
                    <a:pt x="50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1"/>
                    <a:pt x="24" y="37"/>
                    <a:pt x="0" y="39"/>
                  </a:cubicBezTo>
                  <a:close/>
                </a:path>
              </a:pathLst>
            </a:custGeom>
            <a:solidFill>
              <a:srgbClr val="43274D">
                <a:alpha val="10196"/>
              </a:srgbClr>
            </a:solidFill>
            <a:ln>
              <a:headEnd type="none"/>
              <a:tailEnd type="none"/>
            </a:ln>
          </p:spPr>
        </p:sp>
        <p:sp>
          <p:nvSpPr>
            <p:cNvPr id="50" name="AutoShape 50"/>
            <p:cNvSpPr/>
            <p:nvPr/>
          </p:nvSpPr>
          <p:spPr>
            <a:xfrm>
              <a:off x="10741752" y="2500390"/>
              <a:ext cx="170408" cy="177508"/>
            </a:xfrm>
            <a:custGeom>
              <a:avLst/>
              <a:gdLst/>
              <a:ahLst/>
              <a:cxnLst/>
              <a:rect l="l" t="t" r="r" b="b"/>
              <a:pathLst>
                <a:path w="71" h="74">
                  <a:moveTo>
                    <a:pt x="11" y="15"/>
                  </a:moveTo>
                  <a:cubicBezTo>
                    <a:pt x="0" y="29"/>
                    <a:pt x="2" y="51"/>
                    <a:pt x="16" y="63"/>
                  </a:cubicBezTo>
                  <a:cubicBezTo>
                    <a:pt x="29" y="74"/>
                    <a:pt x="49" y="72"/>
                    <a:pt x="60" y="58"/>
                  </a:cubicBezTo>
                  <a:cubicBezTo>
                    <a:pt x="71" y="44"/>
                    <a:pt x="69" y="22"/>
                    <a:pt x="56" y="10"/>
                  </a:cubicBezTo>
                  <a:cubicBezTo>
                    <a:pt x="55" y="10"/>
                    <a:pt x="55" y="10"/>
                    <a:pt x="55" y="10"/>
                  </a:cubicBezTo>
                  <a:cubicBezTo>
                    <a:pt x="44" y="0"/>
                    <a:pt x="29" y="0"/>
                    <a:pt x="18" y="9"/>
                  </a:cubicBezTo>
                  <a:cubicBezTo>
                    <a:pt x="15" y="10"/>
                    <a:pt x="13" y="12"/>
                    <a:pt x="11" y="15"/>
                  </a:cubicBezTo>
                  <a:close/>
                </a:path>
              </a:pathLst>
            </a:custGeom>
            <a:solidFill>
              <a:srgbClr val="FFACB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1" name="AutoShape 51"/>
            <p:cNvSpPr/>
            <p:nvPr/>
          </p:nvSpPr>
          <p:spPr>
            <a:xfrm>
              <a:off x="10782580" y="2539441"/>
              <a:ext cx="88755" cy="97630"/>
            </a:xfrm>
            <a:custGeom>
              <a:avLst/>
              <a:gdLst/>
              <a:ahLst/>
              <a:cxnLst/>
              <a:rect l="l" t="t" r="r" b="b"/>
              <a:pathLst>
                <a:path w="37" h="41">
                  <a:moveTo>
                    <a:pt x="6" y="9"/>
                  </a:moveTo>
                  <a:cubicBezTo>
                    <a:pt x="0" y="17"/>
                    <a:pt x="1" y="28"/>
                    <a:pt x="8" y="34"/>
                  </a:cubicBezTo>
                  <a:cubicBezTo>
                    <a:pt x="15" y="41"/>
                    <a:pt x="26" y="39"/>
                    <a:pt x="32" y="32"/>
                  </a:cubicBezTo>
                  <a:cubicBezTo>
                    <a:pt x="37" y="24"/>
                    <a:pt x="36" y="13"/>
                    <a:pt x="29" y="7"/>
                  </a:cubicBezTo>
                  <a:cubicBezTo>
                    <a:pt x="22" y="0"/>
                    <a:pt x="12" y="2"/>
                    <a:pt x="6" y="9"/>
                  </a:cubicBezTo>
                  <a:close/>
                </a:path>
              </a:pathLst>
            </a:custGeom>
            <a:solidFill>
              <a:srgbClr val="FF96A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2" name="AutoShape 52"/>
            <p:cNvSpPr/>
            <p:nvPr/>
          </p:nvSpPr>
          <p:spPr>
            <a:xfrm>
              <a:off x="10741752" y="2523466"/>
              <a:ext cx="170408" cy="154433"/>
            </a:xfrm>
            <a:custGeom>
              <a:avLst/>
              <a:gdLst/>
              <a:ahLst/>
              <a:cxnLst/>
              <a:rect l="l" t="t" r="r" b="b"/>
              <a:pathLst>
                <a:path w="71" h="65">
                  <a:moveTo>
                    <a:pt x="11" y="6"/>
                  </a:moveTo>
                  <a:cubicBezTo>
                    <a:pt x="0" y="20"/>
                    <a:pt x="2" y="42"/>
                    <a:pt x="16" y="54"/>
                  </a:cubicBezTo>
                  <a:cubicBezTo>
                    <a:pt x="29" y="65"/>
                    <a:pt x="49" y="63"/>
                    <a:pt x="60" y="49"/>
                  </a:cubicBezTo>
                  <a:cubicBezTo>
                    <a:pt x="71" y="35"/>
                    <a:pt x="69" y="13"/>
                    <a:pt x="56" y="1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49" y="6"/>
                    <a:pt x="36" y="15"/>
                    <a:pt x="18" y="0"/>
                  </a:cubicBezTo>
                  <a:cubicBezTo>
                    <a:pt x="15" y="1"/>
                    <a:pt x="13" y="3"/>
                    <a:pt x="11" y="6"/>
                  </a:cubicBezTo>
                  <a:close/>
                </a:path>
              </a:pathLst>
            </a:custGeom>
            <a:solidFill>
              <a:srgbClr val="43274D">
                <a:alpha val="10196"/>
              </a:srgbClr>
            </a:solidFill>
            <a:ln>
              <a:headEnd type="none"/>
              <a:tailEnd type="none"/>
            </a:ln>
          </p:spPr>
        </p:sp>
        <p:sp>
          <p:nvSpPr>
            <p:cNvPr id="53" name="AutoShape 53"/>
            <p:cNvSpPr/>
            <p:nvPr/>
          </p:nvSpPr>
          <p:spPr>
            <a:xfrm>
              <a:off x="9937640" y="2589143"/>
              <a:ext cx="118932" cy="149107"/>
            </a:xfrm>
            <a:custGeom>
              <a:avLst/>
              <a:gdLst/>
              <a:ahLst/>
              <a:cxnLst/>
              <a:rect l="l" t="t" r="r" b="b"/>
              <a:pathLst>
                <a:path w="50" h="62">
                  <a:moveTo>
                    <a:pt x="32" y="26"/>
                  </a:moveTo>
                  <a:cubicBezTo>
                    <a:pt x="34" y="22"/>
                    <a:pt x="34" y="18"/>
                    <a:pt x="33" y="13"/>
                  </a:cubicBezTo>
                  <a:cubicBezTo>
                    <a:pt x="31" y="5"/>
                    <a:pt x="22" y="0"/>
                    <a:pt x="13" y="2"/>
                  </a:cubicBezTo>
                  <a:cubicBezTo>
                    <a:pt x="5" y="5"/>
                    <a:pt x="0" y="14"/>
                    <a:pt x="3" y="22"/>
                  </a:cubicBezTo>
                  <a:cubicBezTo>
                    <a:pt x="5" y="30"/>
                    <a:pt x="14" y="35"/>
                    <a:pt x="22" y="3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50" y="60"/>
                    <a:pt x="49" y="55"/>
                  </a:cubicBezTo>
                  <a:lnTo>
                    <a:pt x="32" y="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4" name="AutoShape 54"/>
            <p:cNvSpPr/>
            <p:nvPr/>
          </p:nvSpPr>
          <p:spPr>
            <a:xfrm>
              <a:off x="10763053" y="2569618"/>
              <a:ext cx="117155" cy="149107"/>
            </a:xfrm>
            <a:custGeom>
              <a:avLst/>
              <a:gdLst/>
              <a:ahLst/>
              <a:cxnLst/>
              <a:rect l="l" t="t" r="r" b="b"/>
              <a:pathLst>
                <a:path w="49" h="62">
                  <a:moveTo>
                    <a:pt x="18" y="25"/>
                  </a:moveTo>
                  <a:cubicBezTo>
                    <a:pt x="16" y="22"/>
                    <a:pt x="15" y="17"/>
                    <a:pt x="16" y="13"/>
                  </a:cubicBezTo>
                  <a:cubicBezTo>
                    <a:pt x="19" y="4"/>
                    <a:pt x="28" y="0"/>
                    <a:pt x="36" y="2"/>
                  </a:cubicBezTo>
                  <a:cubicBezTo>
                    <a:pt x="44" y="4"/>
                    <a:pt x="49" y="13"/>
                    <a:pt x="47" y="22"/>
                  </a:cubicBezTo>
                  <a:cubicBezTo>
                    <a:pt x="44" y="30"/>
                    <a:pt x="36" y="35"/>
                    <a:pt x="28" y="33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0" y="59"/>
                    <a:pt x="0" y="54"/>
                  </a:cubicBezTo>
                  <a:lnTo>
                    <a:pt x="18" y="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5" name="AutoShape 55"/>
            <p:cNvSpPr/>
            <p:nvPr/>
          </p:nvSpPr>
          <p:spPr>
            <a:xfrm>
              <a:off x="9987343" y="1955439"/>
              <a:ext cx="834289" cy="1082800"/>
            </a:xfrm>
            <a:custGeom>
              <a:avLst/>
              <a:gdLst/>
              <a:ahLst/>
              <a:cxnLst/>
              <a:rect l="l" t="t" r="r" b="b"/>
              <a:pathLst>
                <a:path w="349" h="453">
                  <a:moveTo>
                    <a:pt x="349" y="225"/>
                  </a:moveTo>
                  <a:cubicBezTo>
                    <a:pt x="349" y="231"/>
                    <a:pt x="349" y="236"/>
                    <a:pt x="348" y="241"/>
                  </a:cubicBezTo>
                  <a:cubicBezTo>
                    <a:pt x="348" y="243"/>
                    <a:pt x="348" y="245"/>
                    <a:pt x="348" y="247"/>
                  </a:cubicBezTo>
                  <a:cubicBezTo>
                    <a:pt x="347" y="270"/>
                    <a:pt x="342" y="293"/>
                    <a:pt x="336" y="314"/>
                  </a:cubicBezTo>
                  <a:cubicBezTo>
                    <a:pt x="319" y="369"/>
                    <a:pt x="286" y="412"/>
                    <a:pt x="245" y="436"/>
                  </a:cubicBezTo>
                  <a:cubicBezTo>
                    <a:pt x="224" y="447"/>
                    <a:pt x="201" y="454"/>
                    <a:pt x="177" y="454"/>
                  </a:cubicBezTo>
                  <a:cubicBezTo>
                    <a:pt x="164" y="454"/>
                    <a:pt x="152" y="453"/>
                    <a:pt x="140" y="449"/>
                  </a:cubicBezTo>
                  <a:cubicBezTo>
                    <a:pt x="112" y="442"/>
                    <a:pt x="87" y="426"/>
                    <a:pt x="66" y="404"/>
                  </a:cubicBezTo>
                  <a:cubicBezTo>
                    <a:pt x="40" y="377"/>
                    <a:pt x="20" y="340"/>
                    <a:pt x="10" y="298"/>
                  </a:cubicBezTo>
                  <a:cubicBezTo>
                    <a:pt x="6" y="284"/>
                    <a:pt x="3" y="269"/>
                    <a:pt x="2" y="253"/>
                  </a:cubicBezTo>
                  <a:cubicBezTo>
                    <a:pt x="1" y="245"/>
                    <a:pt x="1" y="237"/>
                    <a:pt x="0" y="229"/>
                  </a:cubicBezTo>
                  <a:cubicBezTo>
                    <a:pt x="0" y="227"/>
                    <a:pt x="0" y="225"/>
                    <a:pt x="0" y="223"/>
                  </a:cubicBezTo>
                  <a:cubicBezTo>
                    <a:pt x="1" y="222"/>
                    <a:pt x="1" y="221"/>
                    <a:pt x="1" y="219"/>
                  </a:cubicBezTo>
                  <a:cubicBezTo>
                    <a:pt x="1" y="218"/>
                    <a:pt x="1" y="217"/>
                    <a:pt x="1" y="216"/>
                  </a:cubicBezTo>
                  <a:cubicBezTo>
                    <a:pt x="1" y="210"/>
                    <a:pt x="1" y="204"/>
                    <a:pt x="2" y="199"/>
                  </a:cubicBezTo>
                  <a:cubicBezTo>
                    <a:pt x="4" y="169"/>
                    <a:pt x="12" y="141"/>
                    <a:pt x="23" y="115"/>
                  </a:cubicBezTo>
                  <a:cubicBezTo>
                    <a:pt x="39" y="78"/>
                    <a:pt x="63" y="47"/>
                    <a:pt x="92" y="27"/>
                  </a:cubicBezTo>
                  <a:cubicBezTo>
                    <a:pt x="116" y="10"/>
                    <a:pt x="143" y="1"/>
                    <a:pt x="172" y="0"/>
                  </a:cubicBezTo>
                  <a:cubicBezTo>
                    <a:pt x="186" y="0"/>
                    <a:pt x="199" y="2"/>
                    <a:pt x="211" y="6"/>
                  </a:cubicBezTo>
                  <a:cubicBezTo>
                    <a:pt x="273" y="23"/>
                    <a:pt x="322" y="83"/>
                    <a:pt x="341" y="160"/>
                  </a:cubicBezTo>
                  <a:cubicBezTo>
                    <a:pt x="346" y="181"/>
                    <a:pt x="349" y="203"/>
                    <a:pt x="349" y="225"/>
                  </a:cubicBezTo>
                  <a:close/>
                </a:path>
              </a:pathLst>
            </a:custGeom>
            <a:solidFill>
              <a:srgbClr val="FFACB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6" name="AutoShape 56"/>
            <p:cNvSpPr/>
            <p:nvPr/>
          </p:nvSpPr>
          <p:spPr>
            <a:xfrm>
              <a:off x="10658324" y="2198625"/>
              <a:ext cx="195259" cy="470397"/>
            </a:xfrm>
            <a:custGeom>
              <a:avLst/>
              <a:gdLst/>
              <a:ahLst/>
              <a:cxnLst/>
              <a:rect l="l" t="t" r="r" b="b"/>
              <a:pathLst>
                <a:path w="82" h="197">
                  <a:moveTo>
                    <a:pt x="0" y="38"/>
                  </a:moveTo>
                  <a:cubicBezTo>
                    <a:pt x="0" y="38"/>
                    <a:pt x="14" y="77"/>
                    <a:pt x="30" y="107"/>
                  </a:cubicBezTo>
                  <a:cubicBezTo>
                    <a:pt x="46" y="137"/>
                    <a:pt x="39" y="185"/>
                    <a:pt x="30" y="197"/>
                  </a:cubicBezTo>
                  <a:cubicBezTo>
                    <a:pt x="30" y="197"/>
                    <a:pt x="80" y="150"/>
                    <a:pt x="79" y="119"/>
                  </a:cubicBezTo>
                  <a:cubicBezTo>
                    <a:pt x="78" y="88"/>
                    <a:pt x="82" y="28"/>
                    <a:pt x="45" y="14"/>
                  </a:cubicBezTo>
                  <a:cubicBezTo>
                    <a:pt x="8" y="0"/>
                    <a:pt x="0" y="38"/>
                    <a:pt x="0" y="38"/>
                  </a:cubicBezTo>
                  <a:close/>
                </a:path>
              </a:pathLst>
            </a:custGeom>
            <a:solidFill>
              <a:srgbClr val="01004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7" name="AutoShape 57"/>
            <p:cNvSpPr/>
            <p:nvPr/>
          </p:nvSpPr>
          <p:spPr>
            <a:xfrm>
              <a:off x="10448864" y="2615770"/>
              <a:ext cx="340816" cy="379867"/>
            </a:xfrm>
            <a:custGeom>
              <a:avLst/>
              <a:gdLst/>
              <a:ahLst/>
              <a:cxnLst/>
              <a:rect l="l" t="t" r="r" b="b"/>
              <a:pathLst>
                <a:path w="143" h="159">
                  <a:moveTo>
                    <a:pt x="52" y="159"/>
                  </a:moveTo>
                  <a:cubicBezTo>
                    <a:pt x="93" y="135"/>
                    <a:pt x="126" y="92"/>
                    <a:pt x="143" y="37"/>
                  </a:cubicBezTo>
                  <a:cubicBezTo>
                    <a:pt x="127" y="18"/>
                    <a:pt x="99" y="0"/>
                    <a:pt x="76" y="0"/>
                  </a:cubicBezTo>
                  <a:cubicBezTo>
                    <a:pt x="34" y="0"/>
                    <a:pt x="0" y="37"/>
                    <a:pt x="1" y="83"/>
                  </a:cubicBezTo>
                  <a:cubicBezTo>
                    <a:pt x="1" y="118"/>
                    <a:pt x="22" y="148"/>
                    <a:pt x="52" y="159"/>
                  </a:cubicBezTo>
                  <a:close/>
                </a:path>
              </a:pathLst>
            </a:custGeom>
            <a:solidFill>
              <a:srgbClr val="FF96A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8" name="AutoShape 58"/>
            <p:cNvSpPr/>
            <p:nvPr/>
          </p:nvSpPr>
          <p:spPr>
            <a:xfrm>
              <a:off x="10012194" y="2665473"/>
              <a:ext cx="159757" cy="253838"/>
            </a:xfrm>
            <a:custGeom>
              <a:avLst/>
              <a:gdLst/>
              <a:ahLst/>
              <a:cxnLst/>
              <a:rect l="l" t="t" r="r" b="b"/>
              <a:pathLst>
                <a:path w="67" h="105">
                  <a:moveTo>
                    <a:pt x="0" y="0"/>
                  </a:moveTo>
                  <a:cubicBezTo>
                    <a:pt x="10" y="42"/>
                    <a:pt x="30" y="79"/>
                    <a:pt x="56" y="106"/>
                  </a:cubicBezTo>
                  <a:cubicBezTo>
                    <a:pt x="63" y="95"/>
                    <a:pt x="67" y="82"/>
                    <a:pt x="67" y="67"/>
                  </a:cubicBezTo>
                  <a:cubicBezTo>
                    <a:pt x="66" y="30"/>
                    <a:pt x="38" y="0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FF96A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9" name="AutoShape 59"/>
            <p:cNvSpPr/>
            <p:nvPr/>
          </p:nvSpPr>
          <p:spPr>
            <a:xfrm>
              <a:off x="10109823" y="2527016"/>
              <a:ext cx="126031" cy="81654"/>
            </a:xfrm>
            <a:custGeom>
              <a:avLst/>
              <a:gdLst/>
              <a:ahLst/>
              <a:cxnLst/>
              <a:rect l="l" t="t" r="r" b="b"/>
              <a:pathLst>
                <a:path w="52" h="34">
                  <a:moveTo>
                    <a:pt x="27" y="0"/>
                  </a:moveTo>
                  <a:cubicBezTo>
                    <a:pt x="41" y="0"/>
                    <a:pt x="53" y="13"/>
                    <a:pt x="53" y="28"/>
                  </a:cubicBezTo>
                  <a:cubicBezTo>
                    <a:pt x="53" y="31"/>
                    <a:pt x="51" y="34"/>
                    <a:pt x="48" y="34"/>
                  </a:cubicBezTo>
                  <a:cubicBezTo>
                    <a:pt x="45" y="34"/>
                    <a:pt x="43" y="31"/>
                    <a:pt x="43" y="28"/>
                  </a:cubicBezTo>
                  <a:cubicBezTo>
                    <a:pt x="43" y="19"/>
                    <a:pt x="36" y="11"/>
                    <a:pt x="27" y="11"/>
                  </a:cubicBezTo>
                  <a:cubicBezTo>
                    <a:pt x="18" y="10"/>
                    <a:pt x="10" y="18"/>
                    <a:pt x="10" y="28"/>
                  </a:cubicBezTo>
                  <a:cubicBezTo>
                    <a:pt x="10" y="31"/>
                    <a:pt x="8" y="33"/>
                    <a:pt x="5" y="33"/>
                  </a:cubicBezTo>
                  <a:cubicBezTo>
                    <a:pt x="2" y="33"/>
                    <a:pt x="0" y="31"/>
                    <a:pt x="0" y="28"/>
                  </a:cubicBezTo>
                  <a:cubicBezTo>
                    <a:pt x="0" y="12"/>
                    <a:pt x="12" y="0"/>
                    <a:pt x="27" y="0"/>
                  </a:cubicBezTo>
                  <a:close/>
                </a:path>
              </a:pathLst>
            </a:custGeom>
            <a:solidFill>
              <a:srgbClr val="87404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0" name="AutoShape 60"/>
            <p:cNvSpPr/>
            <p:nvPr/>
          </p:nvSpPr>
          <p:spPr>
            <a:xfrm>
              <a:off x="10392061" y="2530567"/>
              <a:ext cx="133131" cy="79879"/>
            </a:xfrm>
            <a:custGeom>
              <a:avLst/>
              <a:gdLst/>
              <a:ahLst/>
              <a:cxnLst/>
              <a:rect l="l" t="t" r="r" b="b"/>
              <a:pathLst>
                <a:path w="56" h="34"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31"/>
                    <a:pt x="3" y="33"/>
                    <a:pt x="6" y="34"/>
                  </a:cubicBezTo>
                  <a:cubicBezTo>
                    <a:pt x="8" y="34"/>
                    <a:pt x="11" y="31"/>
                    <a:pt x="11" y="28"/>
                  </a:cubicBezTo>
                  <a:cubicBezTo>
                    <a:pt x="11" y="19"/>
                    <a:pt x="19" y="11"/>
                    <a:pt x="28" y="11"/>
                  </a:cubicBezTo>
                  <a:cubicBezTo>
                    <a:pt x="38" y="11"/>
                    <a:pt x="46" y="19"/>
                    <a:pt x="45" y="29"/>
                  </a:cubicBezTo>
                  <a:cubicBezTo>
                    <a:pt x="45" y="32"/>
                    <a:pt x="48" y="34"/>
                    <a:pt x="51" y="34"/>
                  </a:cubicBezTo>
                  <a:cubicBezTo>
                    <a:pt x="54" y="34"/>
                    <a:pt x="56" y="32"/>
                    <a:pt x="56" y="29"/>
                  </a:cubicBezTo>
                  <a:cubicBezTo>
                    <a:pt x="56" y="13"/>
                    <a:pt x="44" y="0"/>
                    <a:pt x="28" y="0"/>
                  </a:cubicBezTo>
                  <a:close/>
                </a:path>
              </a:pathLst>
            </a:custGeom>
            <a:solidFill>
              <a:srgbClr val="87404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1" name="AutoShape 61"/>
            <p:cNvSpPr/>
            <p:nvPr/>
          </p:nvSpPr>
          <p:spPr>
            <a:xfrm>
              <a:off x="10381411" y="2400985"/>
              <a:ext cx="179284" cy="111831"/>
            </a:xfrm>
            <a:custGeom>
              <a:avLst/>
              <a:gdLst/>
              <a:ahLst/>
              <a:cxnLst/>
              <a:rect l="l" t="t" r="r" b="b"/>
              <a:pathLst>
                <a:path w="75" h="47">
                  <a:moveTo>
                    <a:pt x="0" y="18"/>
                  </a:moveTo>
                  <a:cubicBezTo>
                    <a:pt x="0" y="18"/>
                    <a:pt x="62" y="47"/>
                    <a:pt x="66" y="42"/>
                  </a:cubicBezTo>
                  <a:cubicBezTo>
                    <a:pt x="71" y="38"/>
                    <a:pt x="75" y="32"/>
                    <a:pt x="70" y="28"/>
                  </a:cubicBezTo>
                  <a:cubicBezTo>
                    <a:pt x="64" y="24"/>
                    <a:pt x="10" y="0"/>
                    <a:pt x="6" y="2"/>
                  </a:cubicBezTo>
                  <a:cubicBezTo>
                    <a:pt x="2" y="3"/>
                    <a:pt x="0" y="8"/>
                    <a:pt x="0" y="18"/>
                  </a:cubicBezTo>
                  <a:close/>
                </a:path>
              </a:pathLst>
            </a:custGeom>
            <a:solidFill>
              <a:srgbClr val="01004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2" name="AutoShape 62"/>
            <p:cNvSpPr/>
            <p:nvPr/>
          </p:nvSpPr>
          <p:spPr>
            <a:xfrm>
              <a:off x="10074321" y="2413411"/>
              <a:ext cx="166858" cy="102955"/>
            </a:xfrm>
            <a:custGeom>
              <a:avLst/>
              <a:gdLst/>
              <a:ahLst/>
              <a:cxnLst/>
              <a:rect l="l" t="t" r="r" b="b"/>
              <a:pathLst>
                <a:path w="70" h="43">
                  <a:moveTo>
                    <a:pt x="69" y="14"/>
                  </a:moveTo>
                  <a:cubicBezTo>
                    <a:pt x="69" y="14"/>
                    <a:pt x="11" y="43"/>
                    <a:pt x="7" y="39"/>
                  </a:cubicBezTo>
                  <a:cubicBezTo>
                    <a:pt x="4" y="34"/>
                    <a:pt x="0" y="28"/>
                    <a:pt x="5" y="24"/>
                  </a:cubicBezTo>
                  <a:cubicBezTo>
                    <a:pt x="10" y="21"/>
                    <a:pt x="60" y="0"/>
                    <a:pt x="64" y="1"/>
                  </a:cubicBezTo>
                  <a:cubicBezTo>
                    <a:pt x="67" y="3"/>
                    <a:pt x="70" y="5"/>
                    <a:pt x="69" y="14"/>
                  </a:cubicBezTo>
                  <a:close/>
                </a:path>
              </a:pathLst>
            </a:custGeom>
            <a:solidFill>
              <a:srgbClr val="01004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3" name="AutoShape 63"/>
            <p:cNvSpPr/>
            <p:nvPr/>
          </p:nvSpPr>
          <p:spPr>
            <a:xfrm>
              <a:off x="10267805" y="2532341"/>
              <a:ext cx="78103" cy="154433"/>
            </a:xfrm>
            <a:custGeom>
              <a:avLst/>
              <a:gdLst/>
              <a:ahLst/>
              <a:cxnLst/>
              <a:rect l="l" t="t" r="r" b="b"/>
              <a:pathLst>
                <a:path w="33" h="65">
                  <a:moveTo>
                    <a:pt x="29" y="60"/>
                  </a:moveTo>
                  <a:cubicBezTo>
                    <a:pt x="25" y="65"/>
                    <a:pt x="6" y="65"/>
                    <a:pt x="1" y="60"/>
                  </a:cubicBezTo>
                  <a:cubicBezTo>
                    <a:pt x="0" y="59"/>
                    <a:pt x="0" y="56"/>
                    <a:pt x="0" y="50"/>
                  </a:cubicBezTo>
                  <a:cubicBezTo>
                    <a:pt x="1" y="33"/>
                    <a:pt x="9" y="0"/>
                    <a:pt x="16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26" y="6"/>
                    <a:pt x="33" y="56"/>
                    <a:pt x="29" y="60"/>
                  </a:cubicBezTo>
                  <a:close/>
                </a:path>
              </a:pathLst>
            </a:custGeom>
            <a:solidFill>
              <a:srgbClr val="FF96A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4" name="AutoShape 64"/>
            <p:cNvSpPr/>
            <p:nvPr/>
          </p:nvSpPr>
          <p:spPr>
            <a:xfrm>
              <a:off x="10267805" y="2532341"/>
              <a:ext cx="78103" cy="154433"/>
            </a:xfrm>
            <a:custGeom>
              <a:avLst/>
              <a:gdLst/>
              <a:ahLst/>
              <a:cxnLst/>
              <a:rect l="l" t="t" r="r" b="b"/>
              <a:pathLst>
                <a:path w="33" h="65">
                  <a:moveTo>
                    <a:pt x="29" y="60"/>
                  </a:moveTo>
                  <a:cubicBezTo>
                    <a:pt x="25" y="65"/>
                    <a:pt x="6" y="65"/>
                    <a:pt x="1" y="60"/>
                  </a:cubicBezTo>
                  <a:cubicBezTo>
                    <a:pt x="0" y="59"/>
                    <a:pt x="0" y="56"/>
                    <a:pt x="0" y="50"/>
                  </a:cubicBezTo>
                  <a:cubicBezTo>
                    <a:pt x="20" y="44"/>
                    <a:pt x="20" y="16"/>
                    <a:pt x="18" y="0"/>
                  </a:cubicBezTo>
                  <a:cubicBezTo>
                    <a:pt x="26" y="6"/>
                    <a:pt x="33" y="56"/>
                    <a:pt x="29" y="60"/>
                  </a:cubicBezTo>
                  <a:close/>
                </a:path>
              </a:pathLst>
            </a:custGeom>
            <a:solidFill>
              <a:srgbClr val="43274D">
                <a:alpha val="10196"/>
              </a:srgbClr>
            </a:solidFill>
            <a:ln>
              <a:headEnd type="none"/>
              <a:tailEnd type="none"/>
            </a:ln>
          </p:spPr>
        </p:sp>
        <p:sp>
          <p:nvSpPr>
            <p:cNvPr id="65" name="AutoShape 65"/>
            <p:cNvSpPr/>
            <p:nvPr/>
          </p:nvSpPr>
          <p:spPr>
            <a:xfrm>
              <a:off x="10223428" y="2740026"/>
              <a:ext cx="168633" cy="63903"/>
            </a:xfrm>
            <a:custGeom>
              <a:avLst/>
              <a:gdLst/>
              <a:ahLst/>
              <a:cxnLst/>
              <a:rect l="l" t="t" r="r" b="b"/>
              <a:pathLst>
                <a:path w="70" h="27">
                  <a:moveTo>
                    <a:pt x="0" y="1"/>
                  </a:moveTo>
                  <a:cubicBezTo>
                    <a:pt x="0" y="1"/>
                    <a:pt x="19" y="5"/>
                    <a:pt x="35" y="5"/>
                  </a:cubicBezTo>
                  <a:cubicBezTo>
                    <a:pt x="51" y="5"/>
                    <a:pt x="70" y="0"/>
                    <a:pt x="70" y="0"/>
                  </a:cubicBezTo>
                  <a:cubicBezTo>
                    <a:pt x="70" y="0"/>
                    <a:pt x="61" y="26"/>
                    <a:pt x="36" y="26"/>
                  </a:cubicBezTo>
                  <a:cubicBezTo>
                    <a:pt x="10" y="27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6" name="AutoShape 66"/>
            <p:cNvSpPr/>
            <p:nvPr/>
          </p:nvSpPr>
          <p:spPr>
            <a:xfrm>
              <a:off x="9827585" y="1832958"/>
              <a:ext cx="1024223" cy="811213"/>
            </a:xfrm>
            <a:custGeom>
              <a:avLst/>
              <a:gdLst/>
              <a:ahLst/>
              <a:cxnLst/>
              <a:rect l="l" t="t" r="r" b="b"/>
              <a:pathLst>
                <a:path w="429" h="340">
                  <a:moveTo>
                    <a:pt x="355" y="43"/>
                  </a:moveTo>
                  <a:cubicBezTo>
                    <a:pt x="280" y="0"/>
                    <a:pt x="281" y="23"/>
                    <a:pt x="248" y="24"/>
                  </a:cubicBezTo>
                  <a:cubicBezTo>
                    <a:pt x="216" y="25"/>
                    <a:pt x="204" y="1"/>
                    <a:pt x="176" y="17"/>
                  </a:cubicBezTo>
                  <a:cubicBezTo>
                    <a:pt x="148" y="33"/>
                    <a:pt x="149" y="55"/>
                    <a:pt x="123" y="57"/>
                  </a:cubicBezTo>
                  <a:cubicBezTo>
                    <a:pt x="96" y="60"/>
                    <a:pt x="67" y="55"/>
                    <a:pt x="65" y="82"/>
                  </a:cubicBezTo>
                  <a:cubicBezTo>
                    <a:pt x="63" y="109"/>
                    <a:pt x="23" y="122"/>
                    <a:pt x="11" y="159"/>
                  </a:cubicBezTo>
                  <a:cubicBezTo>
                    <a:pt x="0" y="195"/>
                    <a:pt x="16" y="214"/>
                    <a:pt x="14" y="244"/>
                  </a:cubicBezTo>
                  <a:cubicBezTo>
                    <a:pt x="13" y="275"/>
                    <a:pt x="30" y="306"/>
                    <a:pt x="6" y="340"/>
                  </a:cubicBezTo>
                  <a:cubicBezTo>
                    <a:pt x="6" y="340"/>
                    <a:pt x="30" y="323"/>
                    <a:pt x="38" y="307"/>
                  </a:cubicBezTo>
                  <a:cubicBezTo>
                    <a:pt x="46" y="290"/>
                    <a:pt x="39" y="285"/>
                    <a:pt x="51" y="278"/>
                  </a:cubicBezTo>
                  <a:cubicBezTo>
                    <a:pt x="53" y="277"/>
                    <a:pt x="56" y="276"/>
                    <a:pt x="58" y="275"/>
                  </a:cubicBezTo>
                  <a:cubicBezTo>
                    <a:pt x="64" y="309"/>
                    <a:pt x="90" y="340"/>
                    <a:pt x="90" y="340"/>
                  </a:cubicBezTo>
                  <a:cubicBezTo>
                    <a:pt x="77" y="316"/>
                    <a:pt x="85" y="265"/>
                    <a:pt x="85" y="265"/>
                  </a:cubicBezTo>
                  <a:cubicBezTo>
                    <a:pt x="85" y="265"/>
                    <a:pt x="85" y="265"/>
                    <a:pt x="85" y="265"/>
                  </a:cubicBezTo>
                  <a:cubicBezTo>
                    <a:pt x="87" y="263"/>
                    <a:pt x="88" y="262"/>
                    <a:pt x="90" y="260"/>
                  </a:cubicBezTo>
                  <a:cubicBezTo>
                    <a:pt x="103" y="246"/>
                    <a:pt x="98" y="221"/>
                    <a:pt x="123" y="208"/>
                  </a:cubicBezTo>
                  <a:cubicBezTo>
                    <a:pt x="148" y="196"/>
                    <a:pt x="167" y="200"/>
                    <a:pt x="188" y="184"/>
                  </a:cubicBezTo>
                  <a:cubicBezTo>
                    <a:pt x="209" y="168"/>
                    <a:pt x="264" y="148"/>
                    <a:pt x="264" y="148"/>
                  </a:cubicBezTo>
                  <a:cubicBezTo>
                    <a:pt x="264" y="148"/>
                    <a:pt x="254" y="177"/>
                    <a:pt x="236" y="191"/>
                  </a:cubicBezTo>
                  <a:cubicBezTo>
                    <a:pt x="218" y="205"/>
                    <a:pt x="210" y="204"/>
                    <a:pt x="199" y="220"/>
                  </a:cubicBezTo>
                  <a:cubicBezTo>
                    <a:pt x="188" y="236"/>
                    <a:pt x="188" y="256"/>
                    <a:pt x="188" y="256"/>
                  </a:cubicBezTo>
                  <a:cubicBezTo>
                    <a:pt x="188" y="256"/>
                    <a:pt x="216" y="222"/>
                    <a:pt x="232" y="218"/>
                  </a:cubicBezTo>
                  <a:cubicBezTo>
                    <a:pt x="247" y="213"/>
                    <a:pt x="263" y="215"/>
                    <a:pt x="273" y="206"/>
                  </a:cubicBezTo>
                  <a:cubicBezTo>
                    <a:pt x="284" y="196"/>
                    <a:pt x="298" y="154"/>
                    <a:pt x="324" y="148"/>
                  </a:cubicBezTo>
                  <a:cubicBezTo>
                    <a:pt x="324" y="148"/>
                    <a:pt x="316" y="159"/>
                    <a:pt x="315" y="176"/>
                  </a:cubicBezTo>
                  <a:cubicBezTo>
                    <a:pt x="314" y="192"/>
                    <a:pt x="311" y="204"/>
                    <a:pt x="298" y="206"/>
                  </a:cubicBezTo>
                  <a:cubicBezTo>
                    <a:pt x="298" y="206"/>
                    <a:pt x="311" y="218"/>
                    <a:pt x="327" y="212"/>
                  </a:cubicBezTo>
                  <a:cubicBezTo>
                    <a:pt x="344" y="206"/>
                    <a:pt x="356" y="161"/>
                    <a:pt x="393" y="167"/>
                  </a:cubicBezTo>
                  <a:cubicBezTo>
                    <a:pt x="393" y="167"/>
                    <a:pt x="429" y="85"/>
                    <a:pt x="355" y="43"/>
                  </a:cubicBezTo>
                  <a:close/>
                </a:path>
              </a:pathLst>
            </a:custGeom>
            <a:solidFill>
              <a:srgbClr val="0C0A5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7" name="AutoShape 67"/>
            <p:cNvSpPr/>
            <p:nvPr/>
          </p:nvSpPr>
          <p:spPr>
            <a:xfrm>
              <a:off x="10060120" y="2076146"/>
              <a:ext cx="367442" cy="220110"/>
            </a:xfrm>
            <a:custGeom>
              <a:avLst/>
              <a:gdLst/>
              <a:ahLst/>
              <a:cxnLst/>
              <a:rect l="l" t="t" r="r" b="b"/>
              <a:pathLst>
                <a:path w="154" h="92">
                  <a:moveTo>
                    <a:pt x="0" y="92"/>
                  </a:moveTo>
                  <a:cubicBezTo>
                    <a:pt x="0" y="92"/>
                    <a:pt x="9" y="58"/>
                    <a:pt x="42" y="55"/>
                  </a:cubicBezTo>
                  <a:cubicBezTo>
                    <a:pt x="75" y="53"/>
                    <a:pt x="103" y="47"/>
                    <a:pt x="110" y="30"/>
                  </a:cubicBezTo>
                  <a:cubicBezTo>
                    <a:pt x="117" y="13"/>
                    <a:pt x="140" y="4"/>
                    <a:pt x="154" y="0"/>
                  </a:cubicBezTo>
                </a:path>
              </a:pathLst>
            </a:custGeom>
            <a:ln w="9525">
              <a:solidFill>
                <a:srgbClr val="100D7D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8" name="AutoShape 68"/>
            <p:cNvSpPr/>
            <p:nvPr/>
          </p:nvSpPr>
          <p:spPr>
            <a:xfrm>
              <a:off x="9918114" y="2060169"/>
              <a:ext cx="218335" cy="179284"/>
            </a:xfrm>
            <a:custGeom>
              <a:avLst/>
              <a:gdLst/>
              <a:ahLst/>
              <a:cxnLst/>
              <a:rect l="l" t="t" r="r" b="b"/>
              <a:pathLst>
                <a:path w="91" h="75">
                  <a:moveTo>
                    <a:pt x="8" y="75"/>
                  </a:moveTo>
                  <a:cubicBezTo>
                    <a:pt x="8" y="75"/>
                    <a:pt x="0" y="44"/>
                    <a:pt x="29" y="34"/>
                  </a:cubicBezTo>
                  <a:cubicBezTo>
                    <a:pt x="59" y="24"/>
                    <a:pt x="91" y="14"/>
                    <a:pt x="91" y="0"/>
                  </a:cubicBezTo>
                </a:path>
              </a:pathLst>
            </a:custGeom>
            <a:ln w="9525">
              <a:solidFill>
                <a:srgbClr val="100D7D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9" name="AutoShape 69"/>
            <p:cNvSpPr/>
            <p:nvPr/>
          </p:nvSpPr>
          <p:spPr>
            <a:xfrm>
              <a:off x="7576781" y="2887358"/>
              <a:ext cx="1918865" cy="1239008"/>
            </a:xfrm>
            <a:custGeom>
              <a:avLst/>
              <a:gdLst/>
              <a:ahLst/>
              <a:cxnLst/>
              <a:rect l="l" t="t" r="r" b="b"/>
              <a:pathLst>
                <a:path w="804" h="519">
                  <a:moveTo>
                    <a:pt x="778" y="519"/>
                  </a:moveTo>
                  <a:cubicBezTo>
                    <a:pt x="61" y="519"/>
                    <a:pt x="61" y="519"/>
                    <a:pt x="61" y="519"/>
                  </a:cubicBezTo>
                  <a:cubicBezTo>
                    <a:pt x="49" y="519"/>
                    <a:pt x="38" y="509"/>
                    <a:pt x="37" y="49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742" y="0"/>
                    <a:pt x="742" y="0"/>
                    <a:pt x="742" y="0"/>
                  </a:cubicBezTo>
                  <a:cubicBezTo>
                    <a:pt x="755" y="0"/>
                    <a:pt x="766" y="10"/>
                    <a:pt x="767" y="23"/>
                  </a:cubicBezTo>
                  <a:cubicBezTo>
                    <a:pt x="803" y="492"/>
                    <a:pt x="803" y="492"/>
                    <a:pt x="803" y="492"/>
                  </a:cubicBezTo>
                  <a:cubicBezTo>
                    <a:pt x="804" y="506"/>
                    <a:pt x="793" y="519"/>
                    <a:pt x="778" y="519"/>
                  </a:cubicBezTo>
                </a:path>
              </a:pathLst>
            </a:cu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0" name="AutoShape 70"/>
            <p:cNvSpPr/>
            <p:nvPr/>
          </p:nvSpPr>
          <p:spPr>
            <a:xfrm>
              <a:off x="8276163" y="3911580"/>
              <a:ext cx="81654" cy="214786"/>
            </a:xfrm>
            <a:custGeom>
              <a:avLst/>
              <a:gdLst/>
              <a:ahLst/>
              <a:cxnLst/>
              <a:rect l="l" t="t" r="r" b="b"/>
              <a:pathLst>
                <a:path w="46" h="120">
                  <a:moveTo>
                    <a:pt x="46" y="0"/>
                  </a:moveTo>
                  <a:lnTo>
                    <a:pt x="0" y="121"/>
                  </a:lnTo>
                  <a:lnTo>
                    <a:pt x="46" y="121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BDCCD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1" name="AutoShape 71"/>
            <p:cNvSpPr/>
            <p:nvPr/>
          </p:nvSpPr>
          <p:spPr>
            <a:xfrm>
              <a:off x="8276163" y="3911580"/>
              <a:ext cx="81654" cy="214786"/>
            </a:xfrm>
            <a:custGeom>
              <a:avLst/>
              <a:gdLst/>
              <a:ahLst/>
              <a:cxnLst/>
              <a:rect l="l" t="t" r="r" b="b"/>
              <a:pathLst>
                <a:path w="46" h="120">
                  <a:moveTo>
                    <a:pt x="46" y="0"/>
                  </a:moveTo>
                  <a:lnTo>
                    <a:pt x="0" y="121"/>
                  </a:lnTo>
                  <a:lnTo>
                    <a:pt x="46" y="121"/>
                  </a:lnTo>
                  <a:lnTo>
                    <a:pt x="46" y="0"/>
                  </a:lnTo>
                </a:path>
              </a:pathLst>
            </a:custGeom>
            <a:ln>
              <a:headEnd type="none"/>
              <a:tailEnd type="none"/>
            </a:ln>
          </p:spPr>
        </p:sp>
        <p:sp>
          <p:nvSpPr>
            <p:cNvPr id="72" name="AutoShape 72"/>
            <p:cNvSpPr/>
            <p:nvPr/>
          </p:nvSpPr>
          <p:spPr>
            <a:xfrm>
              <a:off x="8714608" y="3911580"/>
              <a:ext cx="120705" cy="214786"/>
            </a:xfrm>
            <a:custGeom>
              <a:avLst/>
              <a:gdLst/>
              <a:ahLst/>
              <a:cxnLst/>
              <a:rect l="l" t="t" r="r" b="b"/>
              <a:pathLst>
                <a:path w="68" h="120">
                  <a:moveTo>
                    <a:pt x="0" y="0"/>
                  </a:moveTo>
                  <a:lnTo>
                    <a:pt x="8" y="121"/>
                  </a:lnTo>
                  <a:lnTo>
                    <a:pt x="68" y="1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CCD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3" name="AutoShape 73"/>
            <p:cNvSpPr/>
            <p:nvPr/>
          </p:nvSpPr>
          <p:spPr>
            <a:xfrm>
              <a:off x="8714608" y="3911580"/>
              <a:ext cx="120705" cy="214786"/>
            </a:xfrm>
            <a:custGeom>
              <a:avLst/>
              <a:gdLst/>
              <a:ahLst/>
              <a:cxnLst/>
              <a:rect l="l" t="t" r="r" b="b"/>
              <a:pathLst>
                <a:path w="68" h="120">
                  <a:moveTo>
                    <a:pt x="0" y="0"/>
                  </a:moveTo>
                  <a:lnTo>
                    <a:pt x="8" y="121"/>
                  </a:lnTo>
                  <a:lnTo>
                    <a:pt x="68" y="121"/>
                  </a:lnTo>
                  <a:lnTo>
                    <a:pt x="0" y="0"/>
                  </a:lnTo>
                </a:path>
              </a:pathLst>
            </a:custGeom>
            <a:ln>
              <a:headEnd type="none"/>
              <a:tailEnd type="none"/>
            </a:ln>
          </p:spPr>
        </p:sp>
        <p:sp>
          <p:nvSpPr>
            <p:cNvPr id="74" name="AutoShape 74"/>
            <p:cNvSpPr/>
            <p:nvPr/>
          </p:nvSpPr>
          <p:spPr>
            <a:xfrm>
              <a:off x="8457222" y="3426982"/>
              <a:ext cx="157983" cy="157983"/>
            </a:xfrm>
            <a:custGeom>
              <a:avLst/>
              <a:gdLst/>
              <a:ahLst/>
              <a:cxnLst/>
              <a:rect l="l" t="t" r="r" b="b"/>
              <a:pathLst>
                <a:path w="66" h="66">
                  <a:moveTo>
                    <a:pt x="54" y="12"/>
                  </a:moveTo>
                  <a:cubicBezTo>
                    <a:pt x="66" y="24"/>
                    <a:pt x="66" y="43"/>
                    <a:pt x="54" y="55"/>
                  </a:cubicBezTo>
                  <a:cubicBezTo>
                    <a:pt x="42" y="66"/>
                    <a:pt x="23" y="66"/>
                    <a:pt x="12" y="55"/>
                  </a:cubicBezTo>
                  <a:cubicBezTo>
                    <a:pt x="0" y="43"/>
                    <a:pt x="0" y="24"/>
                    <a:pt x="12" y="12"/>
                  </a:cubicBezTo>
                  <a:cubicBezTo>
                    <a:pt x="23" y="0"/>
                    <a:pt x="42" y="0"/>
                    <a:pt x="54" y="12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5" name="AutoShape 75"/>
            <p:cNvSpPr/>
            <p:nvPr/>
          </p:nvSpPr>
          <p:spPr>
            <a:xfrm>
              <a:off x="8324089" y="3911580"/>
              <a:ext cx="424245" cy="513000"/>
            </a:xfrm>
            <a:custGeom>
              <a:avLst/>
              <a:gdLst/>
              <a:ahLst/>
              <a:cxnLst/>
              <a:rect l="l" t="t" r="r" b="b"/>
              <a:pathLst>
                <a:path w="239" h="289">
                  <a:moveTo>
                    <a:pt x="239" y="289"/>
                  </a:moveTo>
                  <a:lnTo>
                    <a:pt x="0" y="289"/>
                  </a:lnTo>
                  <a:lnTo>
                    <a:pt x="19" y="0"/>
                  </a:lnTo>
                  <a:lnTo>
                    <a:pt x="220" y="0"/>
                  </a:lnTo>
                  <a:lnTo>
                    <a:pt x="239" y="289"/>
                  </a:lnTo>
                  <a:close/>
                </a:path>
              </a:pathLst>
            </a:custGeom>
            <a:solidFill>
              <a:srgbClr val="91B8E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6" name="AutoShape 76"/>
            <p:cNvSpPr/>
            <p:nvPr/>
          </p:nvSpPr>
          <p:spPr>
            <a:xfrm>
              <a:off x="8139481" y="4408604"/>
              <a:ext cx="789913" cy="113606"/>
            </a:xfrm>
            <a:custGeom>
              <a:avLst/>
              <a:gdLst/>
              <a:ahLst/>
              <a:cxnLst/>
              <a:rect l="l" t="t" r="r" b="b"/>
              <a:pathLst>
                <a:path w="331" h="48">
                  <a:moveTo>
                    <a:pt x="331" y="48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310" y="0"/>
                    <a:pt x="331" y="22"/>
                    <a:pt x="331" y="48"/>
                  </a:cubicBezTo>
                  <a:close/>
                </a:path>
              </a:pathLst>
            </a:cu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7" name="AutoShape 77"/>
            <p:cNvSpPr/>
            <p:nvPr/>
          </p:nvSpPr>
          <p:spPr>
            <a:xfrm>
              <a:off x="9080275" y="4460080"/>
              <a:ext cx="797012" cy="69229"/>
            </a:xfrm>
            <a:prstGeom prst="rect">
              <a:avLst/>
            </a:pr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8" name="AutoShape 78"/>
            <p:cNvSpPr/>
            <p:nvPr/>
          </p:nvSpPr>
          <p:spPr>
            <a:xfrm>
              <a:off x="9106902" y="4442330"/>
              <a:ext cx="140232" cy="30177"/>
            </a:xfrm>
            <a:prstGeom prst="rect">
              <a:avLst/>
            </a:pr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9" name="AutoShape 79"/>
            <p:cNvSpPr/>
            <p:nvPr/>
          </p:nvSpPr>
          <p:spPr>
            <a:xfrm>
              <a:off x="9257784" y="4442330"/>
              <a:ext cx="140232" cy="30177"/>
            </a:xfrm>
            <a:prstGeom prst="rect">
              <a:avLst/>
            </a:pr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0" name="AutoShape 80"/>
            <p:cNvSpPr/>
            <p:nvPr/>
          </p:nvSpPr>
          <p:spPr>
            <a:xfrm>
              <a:off x="9406890" y="4442330"/>
              <a:ext cx="143782" cy="30177"/>
            </a:xfrm>
            <a:prstGeom prst="rect">
              <a:avLst/>
            </a:pr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1" name="AutoShape 81"/>
            <p:cNvSpPr/>
            <p:nvPr/>
          </p:nvSpPr>
          <p:spPr>
            <a:xfrm>
              <a:off x="9559548" y="4442330"/>
              <a:ext cx="142007" cy="30177"/>
            </a:xfrm>
            <a:prstGeom prst="rect">
              <a:avLst/>
            </a:pr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2" name="AutoShape 82"/>
            <p:cNvSpPr/>
            <p:nvPr/>
          </p:nvSpPr>
          <p:spPr>
            <a:xfrm>
              <a:off x="9710430" y="4442330"/>
              <a:ext cx="142007" cy="30177"/>
            </a:xfrm>
            <a:prstGeom prst="rect">
              <a:avLst/>
            </a:pr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grpSp>
          <p:nvGrpSpPr>
            <p:cNvPr id="83" name="Group 83"/>
            <p:cNvGrpSpPr/>
            <p:nvPr/>
          </p:nvGrpSpPr>
          <p:grpSpPr>
            <a:xfrm rot="20520000">
              <a:off x="9801702" y="982368"/>
              <a:ext cx="1065050" cy="745535"/>
              <a:chOff x="7074431" y="2665473"/>
              <a:chExt cx="1065050" cy="745535"/>
            </a:xfrm>
          </p:grpSpPr>
          <p:sp>
            <p:nvSpPr>
              <p:cNvPr id="84" name="AutoShape 84"/>
              <p:cNvSpPr/>
              <p:nvPr/>
            </p:nvSpPr>
            <p:spPr>
              <a:xfrm>
                <a:off x="7074431" y="2665473"/>
                <a:ext cx="1065050" cy="745535"/>
              </a:xfrm>
              <a:custGeom>
                <a:avLst/>
                <a:gdLst/>
                <a:ahLst/>
                <a:cxnLst/>
                <a:rect l="l" t="t" r="r" b="b"/>
                <a:pathLst>
                  <a:path w="446" h="312">
                    <a:moveTo>
                      <a:pt x="414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14" y="0"/>
                      <a:pt x="0" y="14"/>
                      <a:pt x="0" y="32"/>
                    </a:cubicBezTo>
                    <a:cubicBezTo>
                      <a:pt x="0" y="215"/>
                      <a:pt x="0" y="215"/>
                      <a:pt x="0" y="215"/>
                    </a:cubicBezTo>
                    <a:cubicBezTo>
                      <a:pt x="0" y="232"/>
                      <a:pt x="14" y="246"/>
                      <a:pt x="32" y="246"/>
                    </a:cubicBezTo>
                    <a:cubicBezTo>
                      <a:pt x="44" y="246"/>
                      <a:pt x="44" y="246"/>
                      <a:pt x="44" y="246"/>
                    </a:cubicBezTo>
                    <a:cubicBezTo>
                      <a:pt x="53" y="312"/>
                      <a:pt x="53" y="312"/>
                      <a:pt x="53" y="312"/>
                    </a:cubicBezTo>
                    <a:cubicBezTo>
                      <a:pt x="98" y="246"/>
                      <a:pt x="98" y="246"/>
                      <a:pt x="98" y="246"/>
                    </a:cubicBezTo>
                    <a:cubicBezTo>
                      <a:pt x="414" y="246"/>
                      <a:pt x="414" y="246"/>
                      <a:pt x="414" y="246"/>
                    </a:cubicBezTo>
                    <a:cubicBezTo>
                      <a:pt x="432" y="246"/>
                      <a:pt x="446" y="232"/>
                      <a:pt x="446" y="215"/>
                    </a:cubicBezTo>
                    <a:cubicBezTo>
                      <a:pt x="446" y="32"/>
                      <a:pt x="446" y="32"/>
                      <a:pt x="446" y="32"/>
                    </a:cubicBezTo>
                    <a:cubicBezTo>
                      <a:pt x="446" y="14"/>
                      <a:pt x="432" y="0"/>
                      <a:pt x="414" y="0"/>
                    </a:cubicBezTo>
                    <a:close/>
                  </a:path>
                </a:pathLst>
              </a:custGeom>
              <a:solidFill>
                <a:srgbClr val="A5D1FE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85" name="AutoShape 85"/>
              <p:cNvSpPr/>
              <p:nvPr/>
            </p:nvSpPr>
            <p:spPr>
              <a:xfrm>
                <a:off x="7377971" y="2919309"/>
                <a:ext cx="83429" cy="83429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86" name="AutoShape 86"/>
              <p:cNvSpPr/>
              <p:nvPr/>
            </p:nvSpPr>
            <p:spPr>
              <a:xfrm>
                <a:off x="7566130" y="2919309"/>
                <a:ext cx="81654" cy="83429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87" name="AutoShape 87"/>
              <p:cNvSpPr/>
              <p:nvPr/>
            </p:nvSpPr>
            <p:spPr>
              <a:xfrm>
                <a:off x="7752513" y="2919309"/>
                <a:ext cx="83429" cy="83429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</p:grpSp>
      </p:grpSp>
      <p:cxnSp>
        <p:nvCxnSpPr>
          <p:cNvPr id="88" name="Connector 88"/>
          <p:cNvCxnSpPr/>
          <p:nvPr/>
        </p:nvCxnSpPr>
        <p:spPr>
          <a:xfrm>
            <a:off x="1110077" y="5210175"/>
            <a:ext cx="10374432" cy="0"/>
          </a:xfrm>
          <a:prstGeom prst="line">
            <a:avLst/>
          </a:prstGeom>
          <a:ln w="25400">
            <a:solidFill>
              <a:srgbClr val="EEF6FF">
                <a:alpha val="100000"/>
              </a:srgbClr>
            </a:solidFill>
            <a:prstDash val="solid"/>
            <a:headEnd type="none"/>
            <a:tailEnd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278743"/>
            <a:ext cx="12192000" cy="2410355"/>
          </a:xfrm>
          <a:prstGeom prst="rect">
            <a:avLst/>
          </a:prstGeom>
          <a:solidFill>
            <a:srgbClr val="39A1FF">
              <a:alpha val="100000"/>
              <a:lumMod val="20000"/>
              <a:lumOff val="80000"/>
            </a:srgbClr>
          </a:solidFill>
          <a:ln>
            <a:prstDash val="solid"/>
            <a:headEnd type="none"/>
            <a:tailEnd type="none"/>
          </a:ln>
        </p:spPr>
      </p:sp>
      <p:grpSp>
        <p:nvGrpSpPr>
          <p:cNvPr id="3" name="Group 3"/>
          <p:cNvGrpSpPr/>
          <p:nvPr/>
        </p:nvGrpSpPr>
        <p:grpSpPr>
          <a:xfrm rot="0">
            <a:off x="-423694" y="1320809"/>
            <a:ext cx="6521054" cy="3898242"/>
            <a:chOff x="5862937" y="982368"/>
            <a:chExt cx="5966054" cy="3566467"/>
          </a:xfrm>
        </p:grpSpPr>
        <p:sp>
          <p:nvSpPr>
            <p:cNvPr id="4" name="AutoShape 4"/>
            <p:cNvSpPr/>
            <p:nvPr/>
          </p:nvSpPr>
          <p:spPr>
            <a:xfrm>
              <a:off x="5862937" y="1231206"/>
              <a:ext cx="5966054" cy="3291003"/>
            </a:xfrm>
            <a:custGeom>
              <a:avLst/>
              <a:gdLst/>
              <a:ahLst/>
              <a:cxnLst/>
              <a:rect l="l" t="t" r="r" b="b"/>
              <a:pathLst>
                <a:path w="2499" h="1379">
                  <a:moveTo>
                    <a:pt x="298" y="1379"/>
                  </a:moveTo>
                  <a:cubicBezTo>
                    <a:pt x="298" y="1379"/>
                    <a:pt x="744" y="1164"/>
                    <a:pt x="552" y="967"/>
                  </a:cubicBezTo>
                  <a:cubicBezTo>
                    <a:pt x="361" y="770"/>
                    <a:pt x="0" y="79"/>
                    <a:pt x="308" y="26"/>
                  </a:cubicBezTo>
                  <a:cubicBezTo>
                    <a:pt x="455" y="0"/>
                    <a:pt x="564" y="95"/>
                    <a:pt x="673" y="191"/>
                  </a:cubicBezTo>
                  <a:cubicBezTo>
                    <a:pt x="790" y="294"/>
                    <a:pt x="907" y="397"/>
                    <a:pt x="1071" y="346"/>
                  </a:cubicBezTo>
                  <a:cubicBezTo>
                    <a:pt x="1385" y="246"/>
                    <a:pt x="1629" y="38"/>
                    <a:pt x="1897" y="228"/>
                  </a:cubicBezTo>
                  <a:cubicBezTo>
                    <a:pt x="2203" y="444"/>
                    <a:pt x="1762" y="780"/>
                    <a:pt x="1958" y="880"/>
                  </a:cubicBezTo>
                  <a:cubicBezTo>
                    <a:pt x="2155" y="980"/>
                    <a:pt x="2487" y="1181"/>
                    <a:pt x="2499" y="1379"/>
                  </a:cubicBezTo>
                  <a:cubicBezTo>
                    <a:pt x="298" y="1379"/>
                    <a:pt x="298" y="1379"/>
                    <a:pt x="298" y="1379"/>
                  </a:cubicBezTo>
                </a:path>
              </a:pathLst>
            </a:custGeom>
            <a:solidFill>
              <a:srgbClr val="5DCBC2">
                <a:alpha val="3137"/>
              </a:srgbClr>
            </a:solidFill>
            <a:ln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8845964" y="1131801"/>
              <a:ext cx="342591" cy="305314"/>
            </a:xfrm>
            <a:prstGeom prst="ellipse">
              <a:avLst/>
            </a:prstGeom>
            <a:solidFill>
              <a:srgbClr val="EEF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10526968" y="1227655"/>
              <a:ext cx="227210" cy="202359"/>
            </a:xfrm>
            <a:prstGeom prst="ellipse">
              <a:avLst/>
            </a:prstGeom>
            <a:solidFill>
              <a:srgbClr val="EEF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6735391" y="3966608"/>
              <a:ext cx="328391" cy="291114"/>
            </a:xfrm>
            <a:prstGeom prst="ellipse">
              <a:avLst/>
            </a:prstGeom>
            <a:solidFill>
              <a:srgbClr val="EEF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7424123" y="3600941"/>
              <a:ext cx="140232" cy="127806"/>
            </a:xfrm>
            <a:prstGeom prst="ellipse">
              <a:avLst/>
            </a:prstGeom>
            <a:solidFill>
              <a:srgbClr val="EEF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9312812" y="1603973"/>
              <a:ext cx="138456" cy="124256"/>
            </a:xfrm>
            <a:prstGeom prst="ellipse">
              <a:avLst/>
            </a:prstGeom>
            <a:solidFill>
              <a:srgbClr val="EEF6FF">
                <a:alpha val="100000"/>
              </a:srgbClr>
            </a:solidFill>
            <a:ln>
              <a:headEnd type="none"/>
              <a:tailEnd type="none"/>
            </a:ln>
          </p:spPr>
        </p:sp>
        <p:grpSp>
          <p:nvGrpSpPr>
            <p:cNvPr id="10" name="Group 10"/>
            <p:cNvGrpSpPr/>
            <p:nvPr/>
          </p:nvGrpSpPr>
          <p:grpSpPr>
            <a:xfrm rot="0">
              <a:off x="11116296" y="2792392"/>
              <a:ext cx="631929" cy="516550"/>
              <a:chOff x="12441473" y="3283201"/>
              <a:chExt cx="631929" cy="516550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12441473" y="3283201"/>
                <a:ext cx="631929" cy="516550"/>
              </a:xfrm>
              <a:custGeom>
                <a:avLst/>
                <a:gdLst/>
                <a:ahLst/>
                <a:cxnLst/>
                <a:rect l="l" t="t" r="r" b="b"/>
                <a:pathLst>
                  <a:path w="265" h="216">
                    <a:moveTo>
                      <a:pt x="36" y="1"/>
                    </a:moveTo>
                    <a:cubicBezTo>
                      <a:pt x="247" y="26"/>
                      <a:pt x="247" y="26"/>
                      <a:pt x="247" y="26"/>
                    </a:cubicBezTo>
                    <a:cubicBezTo>
                      <a:pt x="257" y="27"/>
                      <a:pt x="265" y="37"/>
                      <a:pt x="264" y="47"/>
                    </a:cubicBezTo>
                    <a:cubicBezTo>
                      <a:pt x="251" y="160"/>
                      <a:pt x="251" y="160"/>
                      <a:pt x="251" y="160"/>
                    </a:cubicBezTo>
                    <a:cubicBezTo>
                      <a:pt x="250" y="171"/>
                      <a:pt x="240" y="178"/>
                      <a:pt x="229" y="177"/>
                    </a:cubicBezTo>
                    <a:cubicBezTo>
                      <a:pt x="222" y="176"/>
                      <a:pt x="222" y="176"/>
                      <a:pt x="222" y="176"/>
                    </a:cubicBezTo>
                    <a:cubicBezTo>
                      <a:pt x="211" y="216"/>
                      <a:pt x="211" y="216"/>
                      <a:pt x="211" y="216"/>
                    </a:cubicBezTo>
                    <a:cubicBezTo>
                      <a:pt x="188" y="172"/>
                      <a:pt x="188" y="172"/>
                      <a:pt x="188" y="172"/>
                    </a:cubicBezTo>
                    <a:cubicBezTo>
                      <a:pt x="18" y="153"/>
                      <a:pt x="18" y="153"/>
                      <a:pt x="18" y="153"/>
                    </a:cubicBezTo>
                    <a:cubicBezTo>
                      <a:pt x="8" y="151"/>
                      <a:pt x="0" y="142"/>
                      <a:pt x="1" y="131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8"/>
                      <a:pt x="25" y="0"/>
                      <a:pt x="36" y="1"/>
                    </a:cubicBezTo>
                    <a:close/>
                  </a:path>
                </a:pathLst>
              </a:custGeom>
              <a:solidFill>
                <a:srgbClr val="5DCBC2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12846193" y="3482011"/>
                <a:ext cx="53252" cy="55028"/>
              </a:xfrm>
              <a:custGeom>
                <a:avLst/>
                <a:gdLst/>
                <a:ahLst/>
                <a:cxnLst/>
                <a:rect l="l" t="t" r="r" b="b"/>
                <a:pathLst>
                  <a:path w="22" h="23">
                    <a:moveTo>
                      <a:pt x="0" y="11"/>
                    </a:moveTo>
                    <a:cubicBezTo>
                      <a:pt x="0" y="16"/>
                      <a:pt x="4" y="22"/>
                      <a:pt x="10" y="22"/>
                    </a:cubicBezTo>
                    <a:cubicBezTo>
                      <a:pt x="16" y="23"/>
                      <a:pt x="21" y="19"/>
                      <a:pt x="22" y="13"/>
                    </a:cubicBezTo>
                    <a:cubicBezTo>
                      <a:pt x="22" y="7"/>
                      <a:pt x="18" y="2"/>
                      <a:pt x="12" y="1"/>
                    </a:cubicBezTo>
                    <a:cubicBezTo>
                      <a:pt x="6" y="0"/>
                      <a:pt x="1" y="5"/>
                      <a:pt x="0" y="1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/>
            </p:nvSpPr>
            <p:spPr>
              <a:xfrm>
                <a:off x="12729037" y="3469584"/>
                <a:ext cx="55028" cy="53252"/>
              </a:xfrm>
              <a:custGeom>
                <a:avLst/>
                <a:gdLst/>
                <a:ahLst/>
                <a:cxnLst/>
                <a:rect l="l" t="t" r="r" b="b"/>
                <a:pathLst>
                  <a:path w="23" h="22">
                    <a:moveTo>
                      <a:pt x="1" y="10"/>
                    </a:moveTo>
                    <a:cubicBezTo>
                      <a:pt x="0" y="16"/>
                      <a:pt x="4" y="21"/>
                      <a:pt x="10" y="22"/>
                    </a:cubicBezTo>
                    <a:cubicBezTo>
                      <a:pt x="16" y="22"/>
                      <a:pt x="22" y="18"/>
                      <a:pt x="22" y="12"/>
                    </a:cubicBezTo>
                    <a:cubicBezTo>
                      <a:pt x="23" y="6"/>
                      <a:pt x="19" y="1"/>
                      <a:pt x="13" y="0"/>
                    </a:cubicBezTo>
                    <a:cubicBezTo>
                      <a:pt x="7" y="0"/>
                      <a:pt x="2" y="4"/>
                      <a:pt x="1" y="1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4" name="AutoShape 14"/>
              <p:cNvSpPr/>
              <p:nvPr/>
            </p:nvSpPr>
            <p:spPr>
              <a:xfrm>
                <a:off x="12615432" y="3455384"/>
                <a:ext cx="55028" cy="55028"/>
              </a:xfrm>
              <a:custGeom>
                <a:avLst/>
                <a:gdLst/>
                <a:ahLst/>
                <a:cxnLst/>
                <a:rect l="l" t="t" r="r" b="b"/>
                <a:pathLst>
                  <a:path w="23" h="23">
                    <a:moveTo>
                      <a:pt x="1" y="10"/>
                    </a:moveTo>
                    <a:cubicBezTo>
                      <a:pt x="0" y="16"/>
                      <a:pt x="4" y="22"/>
                      <a:pt x="10" y="22"/>
                    </a:cubicBezTo>
                    <a:cubicBezTo>
                      <a:pt x="16" y="23"/>
                      <a:pt x="21" y="19"/>
                      <a:pt x="22" y="13"/>
                    </a:cubicBezTo>
                    <a:cubicBezTo>
                      <a:pt x="23" y="7"/>
                      <a:pt x="18" y="2"/>
                      <a:pt x="13" y="1"/>
                    </a:cubicBezTo>
                    <a:cubicBezTo>
                      <a:pt x="7" y="0"/>
                      <a:pt x="1" y="4"/>
                      <a:pt x="1" y="1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</p:grpSp>
        <p:sp>
          <p:nvSpPr>
            <p:cNvPr id="15" name="AutoShape 15"/>
            <p:cNvSpPr/>
            <p:nvPr/>
          </p:nvSpPr>
          <p:spPr>
            <a:xfrm>
              <a:off x="8915193" y="2777302"/>
              <a:ext cx="2469141" cy="1771533"/>
            </a:xfrm>
            <a:custGeom>
              <a:avLst/>
              <a:gdLst/>
              <a:ahLst/>
              <a:cxnLst/>
              <a:rect l="l" t="t" r="r" b="b"/>
              <a:pathLst>
                <a:path w="1034" h="742">
                  <a:moveTo>
                    <a:pt x="1007" y="408"/>
                  </a:moveTo>
                  <a:cubicBezTo>
                    <a:pt x="969" y="343"/>
                    <a:pt x="893" y="282"/>
                    <a:pt x="842" y="234"/>
                  </a:cubicBezTo>
                  <a:cubicBezTo>
                    <a:pt x="767" y="163"/>
                    <a:pt x="680" y="171"/>
                    <a:pt x="680" y="171"/>
                  </a:cubicBezTo>
                  <a:cubicBezTo>
                    <a:pt x="588" y="163"/>
                    <a:pt x="588" y="163"/>
                    <a:pt x="588" y="163"/>
                  </a:cubicBezTo>
                  <a:cubicBezTo>
                    <a:pt x="588" y="163"/>
                    <a:pt x="547" y="163"/>
                    <a:pt x="420" y="154"/>
                  </a:cubicBezTo>
                  <a:cubicBezTo>
                    <a:pt x="309" y="146"/>
                    <a:pt x="130" y="34"/>
                    <a:pt x="83" y="4"/>
                  </a:cubicBezTo>
                  <a:cubicBezTo>
                    <a:pt x="76" y="0"/>
                    <a:pt x="67" y="0"/>
                    <a:pt x="61" y="5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4" y="42"/>
                    <a:pt x="0" y="54"/>
                    <a:pt x="5" y="63"/>
                  </a:cubicBezTo>
                  <a:cubicBezTo>
                    <a:pt x="39" y="127"/>
                    <a:pt x="102" y="176"/>
                    <a:pt x="172" y="215"/>
                  </a:cubicBezTo>
                  <a:cubicBezTo>
                    <a:pt x="220" y="240"/>
                    <a:pt x="270" y="261"/>
                    <a:pt x="316" y="276"/>
                  </a:cubicBezTo>
                  <a:cubicBezTo>
                    <a:pt x="316" y="276"/>
                    <a:pt x="316" y="276"/>
                    <a:pt x="316" y="276"/>
                  </a:cubicBezTo>
                  <a:cubicBezTo>
                    <a:pt x="410" y="308"/>
                    <a:pt x="488" y="321"/>
                    <a:pt x="488" y="321"/>
                  </a:cubicBezTo>
                  <a:cubicBezTo>
                    <a:pt x="452" y="579"/>
                    <a:pt x="467" y="742"/>
                    <a:pt x="467" y="742"/>
                  </a:cubicBezTo>
                  <a:cubicBezTo>
                    <a:pt x="840" y="742"/>
                    <a:pt x="840" y="742"/>
                    <a:pt x="840" y="742"/>
                  </a:cubicBezTo>
                  <a:cubicBezTo>
                    <a:pt x="832" y="687"/>
                    <a:pt x="832" y="687"/>
                    <a:pt x="832" y="687"/>
                  </a:cubicBezTo>
                  <a:cubicBezTo>
                    <a:pt x="832" y="687"/>
                    <a:pt x="957" y="629"/>
                    <a:pt x="1009" y="552"/>
                  </a:cubicBezTo>
                  <a:cubicBezTo>
                    <a:pt x="1020" y="536"/>
                    <a:pt x="1028" y="518"/>
                    <a:pt x="1030" y="500"/>
                  </a:cubicBezTo>
                  <a:cubicBezTo>
                    <a:pt x="1034" y="469"/>
                    <a:pt x="1025" y="438"/>
                    <a:pt x="1007" y="408"/>
                  </a:cubicBezTo>
                  <a:moveTo>
                    <a:pt x="914" y="476"/>
                  </a:moveTo>
                  <a:cubicBezTo>
                    <a:pt x="907" y="534"/>
                    <a:pt x="817" y="579"/>
                    <a:pt x="817" y="579"/>
                  </a:cubicBezTo>
                  <a:cubicBezTo>
                    <a:pt x="817" y="372"/>
                    <a:pt x="817" y="372"/>
                    <a:pt x="817" y="372"/>
                  </a:cubicBezTo>
                  <a:cubicBezTo>
                    <a:pt x="817" y="372"/>
                    <a:pt x="921" y="418"/>
                    <a:pt x="914" y="476"/>
                  </a:cubicBezTo>
                </a:path>
              </a:pathLst>
            </a:custGeom>
            <a:solidFill>
              <a:srgbClr val="63A4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8423494" y="1618174"/>
              <a:ext cx="1320661" cy="1065050"/>
            </a:xfrm>
            <a:custGeom>
              <a:avLst/>
              <a:gdLst/>
              <a:ahLst/>
              <a:cxnLst/>
              <a:rect l="l" t="t" r="r" b="b"/>
              <a:pathLst>
                <a:path w="553" h="446">
                  <a:moveTo>
                    <a:pt x="532" y="446"/>
                  </a:moveTo>
                  <a:cubicBezTo>
                    <a:pt x="20" y="446"/>
                    <a:pt x="20" y="446"/>
                    <a:pt x="20" y="446"/>
                  </a:cubicBezTo>
                  <a:cubicBezTo>
                    <a:pt x="9" y="446"/>
                    <a:pt x="0" y="437"/>
                    <a:pt x="0" y="425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532" y="0"/>
                    <a:pt x="532" y="0"/>
                    <a:pt x="532" y="0"/>
                  </a:cubicBezTo>
                  <a:cubicBezTo>
                    <a:pt x="543" y="0"/>
                    <a:pt x="553" y="9"/>
                    <a:pt x="553" y="20"/>
                  </a:cubicBezTo>
                  <a:cubicBezTo>
                    <a:pt x="553" y="425"/>
                    <a:pt x="553" y="425"/>
                    <a:pt x="553" y="425"/>
                  </a:cubicBezTo>
                  <a:cubicBezTo>
                    <a:pt x="553" y="437"/>
                    <a:pt x="543" y="446"/>
                    <a:pt x="532" y="446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8423494" y="1618174"/>
              <a:ext cx="1320661" cy="1065050"/>
            </a:xfrm>
            <a:custGeom>
              <a:avLst/>
              <a:gdLst/>
              <a:ahLst/>
              <a:cxnLst/>
              <a:rect l="l" t="t" r="r" b="b"/>
              <a:pathLst>
                <a:path w="553" h="446">
                  <a:moveTo>
                    <a:pt x="532" y="446"/>
                  </a:moveTo>
                  <a:cubicBezTo>
                    <a:pt x="20" y="446"/>
                    <a:pt x="20" y="446"/>
                    <a:pt x="20" y="446"/>
                  </a:cubicBezTo>
                  <a:cubicBezTo>
                    <a:pt x="9" y="446"/>
                    <a:pt x="0" y="437"/>
                    <a:pt x="0" y="425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532" y="0"/>
                    <a:pt x="532" y="0"/>
                    <a:pt x="532" y="0"/>
                  </a:cubicBezTo>
                  <a:cubicBezTo>
                    <a:pt x="543" y="0"/>
                    <a:pt x="553" y="9"/>
                    <a:pt x="553" y="20"/>
                  </a:cubicBezTo>
                  <a:cubicBezTo>
                    <a:pt x="553" y="425"/>
                    <a:pt x="553" y="425"/>
                    <a:pt x="553" y="425"/>
                  </a:cubicBezTo>
                  <a:cubicBezTo>
                    <a:pt x="553" y="437"/>
                    <a:pt x="543" y="446"/>
                    <a:pt x="532" y="446"/>
                  </a:cubicBezTo>
                  <a:close/>
                </a:path>
              </a:pathLst>
            </a:custGeom>
            <a:ln w="9525">
              <a:solidFill>
                <a:srgbClr val="C5D5E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8332966" y="1570246"/>
              <a:ext cx="1320661" cy="1065050"/>
            </a:xfrm>
            <a:custGeom>
              <a:avLst/>
              <a:gdLst/>
              <a:ahLst/>
              <a:cxnLst/>
              <a:rect l="l" t="t" r="r" b="b"/>
              <a:pathLst>
                <a:path w="553" h="446">
                  <a:moveTo>
                    <a:pt x="532" y="446"/>
                  </a:moveTo>
                  <a:cubicBezTo>
                    <a:pt x="21" y="446"/>
                    <a:pt x="21" y="446"/>
                    <a:pt x="21" y="446"/>
                  </a:cubicBezTo>
                  <a:cubicBezTo>
                    <a:pt x="9" y="446"/>
                    <a:pt x="0" y="437"/>
                    <a:pt x="0" y="42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532" y="0"/>
                    <a:pt x="532" y="0"/>
                    <a:pt x="532" y="0"/>
                  </a:cubicBezTo>
                  <a:cubicBezTo>
                    <a:pt x="544" y="0"/>
                    <a:pt x="553" y="9"/>
                    <a:pt x="553" y="20"/>
                  </a:cubicBezTo>
                  <a:cubicBezTo>
                    <a:pt x="553" y="426"/>
                    <a:pt x="553" y="426"/>
                    <a:pt x="553" y="426"/>
                  </a:cubicBezTo>
                  <a:cubicBezTo>
                    <a:pt x="553" y="437"/>
                    <a:pt x="544" y="446"/>
                    <a:pt x="532" y="446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8332966" y="1570246"/>
              <a:ext cx="1320661" cy="1065050"/>
            </a:xfrm>
            <a:custGeom>
              <a:avLst/>
              <a:gdLst/>
              <a:ahLst/>
              <a:cxnLst/>
              <a:rect l="l" t="t" r="r" b="b"/>
              <a:pathLst>
                <a:path w="553" h="446">
                  <a:moveTo>
                    <a:pt x="532" y="446"/>
                  </a:moveTo>
                  <a:cubicBezTo>
                    <a:pt x="21" y="446"/>
                    <a:pt x="21" y="446"/>
                    <a:pt x="21" y="446"/>
                  </a:cubicBezTo>
                  <a:cubicBezTo>
                    <a:pt x="9" y="446"/>
                    <a:pt x="0" y="437"/>
                    <a:pt x="0" y="42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532" y="0"/>
                    <a:pt x="532" y="0"/>
                    <a:pt x="532" y="0"/>
                  </a:cubicBezTo>
                  <a:cubicBezTo>
                    <a:pt x="544" y="0"/>
                    <a:pt x="553" y="9"/>
                    <a:pt x="553" y="20"/>
                  </a:cubicBezTo>
                  <a:cubicBezTo>
                    <a:pt x="553" y="426"/>
                    <a:pt x="553" y="426"/>
                    <a:pt x="553" y="426"/>
                  </a:cubicBezTo>
                  <a:cubicBezTo>
                    <a:pt x="553" y="437"/>
                    <a:pt x="544" y="446"/>
                    <a:pt x="532" y="446"/>
                  </a:cubicBezTo>
                  <a:close/>
                </a:path>
              </a:pathLst>
            </a:custGeom>
            <a:ln w="9525">
              <a:solidFill>
                <a:srgbClr val="C5D5E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8498048" y="1717579"/>
              <a:ext cx="179284" cy="179284"/>
            </a:xfrm>
            <a:prstGeom prst="ellipse">
              <a:avLst/>
            </a:prstGeom>
            <a:solidFill>
              <a:srgbClr val="D1E7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8474973" y="1976741"/>
              <a:ext cx="225436" cy="463298"/>
            </a:xfrm>
            <a:prstGeom prst="rect">
              <a:avLst/>
            </a:prstGeom>
            <a:solidFill>
              <a:srgbClr val="D1E7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8904542" y="1717579"/>
              <a:ext cx="177508" cy="179284"/>
            </a:xfrm>
            <a:prstGeom prst="ellipse">
              <a:avLst/>
            </a:prstGeom>
            <a:solidFill>
              <a:srgbClr val="5DCBC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8879691" y="1976741"/>
              <a:ext cx="227210" cy="463298"/>
            </a:xfrm>
            <a:prstGeom prst="rect">
              <a:avLst/>
            </a:prstGeom>
            <a:solidFill>
              <a:srgbClr val="5DCBC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9309261" y="1717579"/>
              <a:ext cx="179284" cy="179284"/>
            </a:xfrm>
            <a:prstGeom prst="ellipse">
              <a:avLst/>
            </a:prstGeom>
            <a:solidFill>
              <a:srgbClr val="D1E7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9286185" y="1976741"/>
              <a:ext cx="227210" cy="463298"/>
            </a:xfrm>
            <a:prstGeom prst="rect">
              <a:avLst/>
            </a:prstGeom>
            <a:solidFill>
              <a:srgbClr val="D1E7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8373792" y="2170224"/>
              <a:ext cx="40827" cy="76329"/>
            </a:xfrm>
            <a:custGeom>
              <a:avLst/>
              <a:gdLst/>
              <a:ahLst/>
              <a:cxnLst/>
              <a:rect l="l" t="t" r="r" b="b"/>
              <a:pathLst>
                <a:path w="23" h="43">
                  <a:moveTo>
                    <a:pt x="22" y="0"/>
                  </a:moveTo>
                  <a:lnTo>
                    <a:pt x="0" y="21"/>
                  </a:lnTo>
                  <a:lnTo>
                    <a:pt x="23" y="43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5DCBC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9564873" y="2170224"/>
              <a:ext cx="40827" cy="76329"/>
            </a:xfrm>
            <a:custGeom>
              <a:avLst/>
              <a:gdLst/>
              <a:ahLst/>
              <a:cxnLst/>
              <a:rect l="l" t="t" r="r" b="b"/>
              <a:pathLst>
                <a:path w="23" h="43">
                  <a:moveTo>
                    <a:pt x="2" y="0"/>
                  </a:moveTo>
                  <a:lnTo>
                    <a:pt x="23" y="21"/>
                  </a:lnTo>
                  <a:lnTo>
                    <a:pt x="0" y="4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5DCBC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8758986" y="2498615"/>
              <a:ext cx="315965" cy="386968"/>
            </a:xfrm>
            <a:custGeom>
              <a:avLst/>
              <a:gdLst/>
              <a:ahLst/>
              <a:cxnLst/>
              <a:rect l="l" t="t" r="r" b="b"/>
              <a:pathLst>
                <a:path w="133" h="162">
                  <a:moveTo>
                    <a:pt x="133" y="128"/>
                  </a:moveTo>
                  <a:cubicBezTo>
                    <a:pt x="133" y="128"/>
                    <a:pt x="96" y="0"/>
                    <a:pt x="80" y="3"/>
                  </a:cubicBezTo>
                  <a:cubicBezTo>
                    <a:pt x="63" y="6"/>
                    <a:pt x="80" y="60"/>
                    <a:pt x="80" y="60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59"/>
                    <a:pt x="60" y="146"/>
                    <a:pt x="84" y="162"/>
                  </a:cubicBezTo>
                  <a:lnTo>
                    <a:pt x="133" y="128"/>
                  </a:lnTo>
                  <a:close/>
                </a:path>
              </a:pathLst>
            </a:custGeom>
            <a:solidFill>
              <a:srgbClr val="FFACB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10594421" y="4140566"/>
              <a:ext cx="326615" cy="408269"/>
            </a:xfrm>
            <a:custGeom>
              <a:avLst/>
              <a:gdLst/>
              <a:ahLst/>
              <a:cxnLst/>
              <a:rect l="l" t="t" r="r" b="b"/>
              <a:pathLst>
                <a:path w="184" h="230">
                  <a:moveTo>
                    <a:pt x="25" y="0"/>
                  </a:moveTo>
                  <a:lnTo>
                    <a:pt x="0" y="223"/>
                  </a:lnTo>
                  <a:lnTo>
                    <a:pt x="184" y="23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4F87E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10594421" y="4140566"/>
              <a:ext cx="326615" cy="408269"/>
            </a:xfrm>
            <a:custGeom>
              <a:avLst/>
              <a:gdLst/>
              <a:ahLst/>
              <a:cxnLst/>
              <a:rect l="l" t="t" r="r" b="b"/>
              <a:pathLst>
                <a:path w="184" h="230">
                  <a:moveTo>
                    <a:pt x="25" y="0"/>
                  </a:moveTo>
                  <a:lnTo>
                    <a:pt x="0" y="223"/>
                  </a:lnTo>
                  <a:lnTo>
                    <a:pt x="184" y="230"/>
                  </a:lnTo>
                  <a:lnTo>
                    <a:pt x="25" y="0"/>
                  </a:lnTo>
                </a:path>
              </a:pathLst>
            </a:custGeom>
            <a:ln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9406890" y="2963686"/>
              <a:ext cx="189934" cy="447321"/>
            </a:xfrm>
            <a:custGeom>
              <a:avLst/>
              <a:gdLst/>
              <a:ahLst/>
              <a:cxnLst/>
              <a:rect l="l" t="t" r="r" b="b"/>
              <a:pathLst>
                <a:path w="107" h="251">
                  <a:moveTo>
                    <a:pt x="0" y="0"/>
                  </a:moveTo>
                  <a:lnTo>
                    <a:pt x="18" y="215"/>
                  </a:lnTo>
                  <a:lnTo>
                    <a:pt x="107" y="2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7E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9406890" y="2963686"/>
              <a:ext cx="189934" cy="447321"/>
            </a:xfrm>
            <a:custGeom>
              <a:avLst/>
              <a:gdLst/>
              <a:ahLst/>
              <a:cxnLst/>
              <a:rect l="l" t="t" r="r" b="b"/>
              <a:pathLst>
                <a:path w="107" h="251">
                  <a:moveTo>
                    <a:pt x="0" y="0"/>
                  </a:moveTo>
                  <a:lnTo>
                    <a:pt x="18" y="215"/>
                  </a:lnTo>
                  <a:lnTo>
                    <a:pt x="107" y="252"/>
                  </a:lnTo>
                  <a:lnTo>
                    <a:pt x="0" y="0"/>
                  </a:lnTo>
                </a:path>
              </a:pathLst>
            </a:custGeom>
            <a:ln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10358335" y="4140566"/>
              <a:ext cx="280463" cy="395844"/>
            </a:xfrm>
            <a:custGeom>
              <a:avLst/>
              <a:gdLst/>
              <a:ahLst/>
              <a:cxnLst/>
              <a:rect l="l" t="t" r="r" b="b"/>
              <a:pathLst>
                <a:path w="118" h="166">
                  <a:moveTo>
                    <a:pt x="99" y="166"/>
                  </a:moveTo>
                  <a:cubicBezTo>
                    <a:pt x="19" y="166"/>
                    <a:pt x="19" y="166"/>
                    <a:pt x="19" y="166"/>
                  </a:cubicBezTo>
                  <a:cubicBezTo>
                    <a:pt x="8" y="166"/>
                    <a:pt x="0" y="157"/>
                    <a:pt x="0" y="1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147"/>
                    <a:pt x="118" y="147"/>
                    <a:pt x="118" y="147"/>
                  </a:cubicBezTo>
                  <a:cubicBezTo>
                    <a:pt x="118" y="157"/>
                    <a:pt x="110" y="166"/>
                    <a:pt x="99" y="166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10408037" y="4012760"/>
              <a:ext cx="30177" cy="118932"/>
            </a:xfrm>
            <a:custGeom>
              <a:avLst/>
              <a:gdLst/>
              <a:ahLst/>
              <a:cxnLst/>
              <a:rect l="l" t="t" r="r" b="b"/>
              <a:pathLst>
                <a:path w="13" h="50">
                  <a:moveTo>
                    <a:pt x="10" y="0"/>
                  </a:moveTo>
                  <a:cubicBezTo>
                    <a:pt x="10" y="0"/>
                    <a:pt x="9" y="0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5"/>
                    <a:pt x="7" y="8"/>
                    <a:pt x="6" y="12"/>
                  </a:cubicBezTo>
                  <a:cubicBezTo>
                    <a:pt x="4" y="16"/>
                    <a:pt x="3" y="20"/>
                    <a:pt x="1" y="24"/>
                  </a:cubicBezTo>
                  <a:cubicBezTo>
                    <a:pt x="1" y="26"/>
                    <a:pt x="0" y="28"/>
                    <a:pt x="0" y="31"/>
                  </a:cubicBezTo>
                  <a:cubicBezTo>
                    <a:pt x="0" y="33"/>
                    <a:pt x="0" y="35"/>
                    <a:pt x="0" y="38"/>
                  </a:cubicBezTo>
                  <a:cubicBezTo>
                    <a:pt x="1" y="42"/>
                    <a:pt x="2" y="46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45"/>
                    <a:pt x="6" y="41"/>
                    <a:pt x="6" y="37"/>
                  </a:cubicBezTo>
                  <a:cubicBezTo>
                    <a:pt x="6" y="33"/>
                    <a:pt x="7" y="29"/>
                    <a:pt x="8" y="26"/>
                  </a:cubicBezTo>
                  <a:cubicBezTo>
                    <a:pt x="8" y="22"/>
                    <a:pt x="10" y="18"/>
                    <a:pt x="11" y="14"/>
                  </a:cubicBezTo>
                  <a:cubicBezTo>
                    <a:pt x="12" y="10"/>
                    <a:pt x="13" y="5"/>
                    <a:pt x="11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92BFE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10555369" y="4034061"/>
              <a:ext cx="26627" cy="97630"/>
            </a:xfrm>
            <a:custGeom>
              <a:avLst/>
              <a:gdLst/>
              <a:ahLst/>
              <a:cxnLst/>
              <a:rect l="l" t="t" r="r" b="b"/>
              <a:pathLst>
                <a:path w="11" h="41">
                  <a:moveTo>
                    <a:pt x="2" y="0"/>
                  </a:moveTo>
                  <a:cubicBezTo>
                    <a:pt x="2" y="0"/>
                    <a:pt x="1" y="0"/>
                    <a:pt x="1" y="1"/>
                  </a:cubicBezTo>
                  <a:cubicBezTo>
                    <a:pt x="0" y="4"/>
                    <a:pt x="1" y="8"/>
                    <a:pt x="2" y="12"/>
                  </a:cubicBezTo>
                  <a:cubicBezTo>
                    <a:pt x="2" y="15"/>
                    <a:pt x="3" y="18"/>
                    <a:pt x="4" y="21"/>
                  </a:cubicBezTo>
                  <a:cubicBezTo>
                    <a:pt x="5" y="24"/>
                    <a:pt x="5" y="27"/>
                    <a:pt x="5" y="30"/>
                  </a:cubicBezTo>
                  <a:cubicBezTo>
                    <a:pt x="5" y="34"/>
                    <a:pt x="5" y="37"/>
                    <a:pt x="5" y="4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5" y="41"/>
                    <a:pt x="6" y="41"/>
                    <a:pt x="6" y="41"/>
                  </a:cubicBezTo>
                  <a:cubicBezTo>
                    <a:pt x="6" y="41"/>
                    <a:pt x="6" y="41"/>
                    <a:pt x="7" y="41"/>
                  </a:cubicBezTo>
                  <a:cubicBezTo>
                    <a:pt x="9" y="38"/>
                    <a:pt x="11" y="35"/>
                    <a:pt x="11" y="31"/>
                  </a:cubicBezTo>
                  <a:cubicBezTo>
                    <a:pt x="11" y="29"/>
                    <a:pt x="11" y="27"/>
                    <a:pt x="11" y="25"/>
                  </a:cubicBezTo>
                  <a:cubicBezTo>
                    <a:pt x="11" y="23"/>
                    <a:pt x="11" y="22"/>
                    <a:pt x="10" y="20"/>
                  </a:cubicBezTo>
                  <a:cubicBezTo>
                    <a:pt x="9" y="16"/>
                    <a:pt x="8" y="13"/>
                    <a:pt x="6" y="10"/>
                  </a:cubicBezTo>
                  <a:cubicBezTo>
                    <a:pt x="5" y="7"/>
                    <a:pt x="4" y="4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</a:path>
              </a:pathLst>
            </a:custGeom>
            <a:solidFill>
              <a:srgbClr val="92BFE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10477265" y="3971934"/>
              <a:ext cx="35501" cy="159757"/>
            </a:xfrm>
            <a:custGeom>
              <a:avLst/>
              <a:gdLst/>
              <a:ahLst/>
              <a:cxnLst/>
              <a:rect l="l" t="t" r="r" b="b"/>
              <a:pathLst>
                <a:path w="15" h="67">
                  <a:moveTo>
                    <a:pt x="2" y="0"/>
                  </a:moveTo>
                  <a:cubicBezTo>
                    <a:pt x="1" y="0"/>
                    <a:pt x="1" y="1"/>
                    <a:pt x="1" y="1"/>
                  </a:cubicBezTo>
                  <a:cubicBezTo>
                    <a:pt x="0" y="7"/>
                    <a:pt x="1" y="13"/>
                    <a:pt x="2" y="18"/>
                  </a:cubicBezTo>
                  <a:cubicBezTo>
                    <a:pt x="4" y="24"/>
                    <a:pt x="5" y="29"/>
                    <a:pt x="7" y="34"/>
                  </a:cubicBezTo>
                  <a:cubicBezTo>
                    <a:pt x="8" y="40"/>
                    <a:pt x="8" y="45"/>
                    <a:pt x="8" y="50"/>
                  </a:cubicBezTo>
                  <a:cubicBezTo>
                    <a:pt x="8" y="55"/>
                    <a:pt x="8" y="61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12" y="62"/>
                    <a:pt x="14" y="56"/>
                    <a:pt x="14" y="50"/>
                  </a:cubicBezTo>
                  <a:cubicBezTo>
                    <a:pt x="15" y="47"/>
                    <a:pt x="15" y="45"/>
                    <a:pt x="14" y="42"/>
                  </a:cubicBezTo>
                  <a:cubicBezTo>
                    <a:pt x="14" y="39"/>
                    <a:pt x="13" y="36"/>
                    <a:pt x="13" y="33"/>
                  </a:cubicBezTo>
                  <a:cubicBezTo>
                    <a:pt x="11" y="27"/>
                    <a:pt x="9" y="22"/>
                    <a:pt x="7" y="17"/>
                  </a:cubicBezTo>
                  <a:cubicBezTo>
                    <a:pt x="5" y="12"/>
                    <a:pt x="3" y="7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92BFE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10422237" y="4296773"/>
              <a:ext cx="301764" cy="252062"/>
            </a:xfrm>
            <a:custGeom>
              <a:avLst/>
              <a:gdLst/>
              <a:ahLst/>
              <a:cxnLst/>
              <a:rect l="l" t="t" r="r" b="b"/>
              <a:pathLst>
                <a:path w="125" h="105">
                  <a:moveTo>
                    <a:pt x="99" y="5"/>
                  </a:moveTo>
                  <a:cubicBezTo>
                    <a:pt x="99" y="5"/>
                    <a:pt x="52" y="0"/>
                    <a:pt x="35" y="9"/>
                  </a:cubicBezTo>
                  <a:cubicBezTo>
                    <a:pt x="18" y="17"/>
                    <a:pt x="0" y="40"/>
                    <a:pt x="5" y="46"/>
                  </a:cubicBezTo>
                  <a:cubicBezTo>
                    <a:pt x="10" y="51"/>
                    <a:pt x="28" y="36"/>
                    <a:pt x="28" y="36"/>
                  </a:cubicBezTo>
                  <a:cubicBezTo>
                    <a:pt x="28" y="36"/>
                    <a:pt x="7" y="59"/>
                    <a:pt x="8" y="68"/>
                  </a:cubicBezTo>
                  <a:cubicBezTo>
                    <a:pt x="9" y="77"/>
                    <a:pt x="39" y="57"/>
                    <a:pt x="39" y="57"/>
                  </a:cubicBezTo>
                  <a:cubicBezTo>
                    <a:pt x="39" y="57"/>
                    <a:pt x="20" y="76"/>
                    <a:pt x="22" y="85"/>
                  </a:cubicBezTo>
                  <a:cubicBezTo>
                    <a:pt x="24" y="95"/>
                    <a:pt x="48" y="71"/>
                    <a:pt x="48" y="71"/>
                  </a:cubicBezTo>
                  <a:cubicBezTo>
                    <a:pt x="48" y="71"/>
                    <a:pt x="39" y="89"/>
                    <a:pt x="43" y="96"/>
                  </a:cubicBezTo>
                  <a:cubicBezTo>
                    <a:pt x="48" y="106"/>
                    <a:pt x="77" y="73"/>
                    <a:pt x="82" y="73"/>
                  </a:cubicBezTo>
                  <a:cubicBezTo>
                    <a:pt x="87" y="73"/>
                    <a:pt x="126" y="79"/>
                    <a:pt x="126" y="79"/>
                  </a:cubicBezTo>
                  <a:lnTo>
                    <a:pt x="99" y="5"/>
                  </a:lnTo>
                  <a:close/>
                </a:path>
              </a:pathLst>
            </a:custGeom>
            <a:solidFill>
              <a:srgbClr val="FFACB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9327012" y="3226399"/>
              <a:ext cx="342591" cy="211236"/>
            </a:xfrm>
            <a:custGeom>
              <a:avLst/>
              <a:gdLst/>
              <a:ahLst/>
              <a:cxnLst/>
              <a:rect l="l" t="t" r="r" b="b"/>
              <a:pathLst>
                <a:path w="144" h="88">
                  <a:moveTo>
                    <a:pt x="144" y="88"/>
                  </a:moveTo>
                  <a:cubicBezTo>
                    <a:pt x="98" y="73"/>
                    <a:pt x="48" y="52"/>
                    <a:pt x="0" y="27"/>
                  </a:cubicBezTo>
                  <a:cubicBezTo>
                    <a:pt x="0" y="27"/>
                    <a:pt x="97" y="0"/>
                    <a:pt x="144" y="88"/>
                  </a:cubicBezTo>
                  <a:close/>
                </a:path>
              </a:pathLst>
            </a:custGeom>
            <a:solidFill>
              <a:srgbClr val="99C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8952469" y="2802154"/>
              <a:ext cx="182834" cy="165083"/>
            </a:xfrm>
            <a:custGeom>
              <a:avLst/>
              <a:gdLst/>
              <a:ahLst/>
              <a:cxnLst/>
              <a:rect l="l" t="t" r="r" b="b"/>
              <a:pathLst>
                <a:path w="77" h="69">
                  <a:moveTo>
                    <a:pt x="77" y="0"/>
                  </a:moveTo>
                  <a:cubicBezTo>
                    <a:pt x="77" y="0"/>
                    <a:pt x="34" y="52"/>
                    <a:pt x="0" y="69"/>
                  </a:cubicBezTo>
                </a:path>
              </a:pathLst>
            </a:custGeom>
            <a:ln w="4763">
              <a:solidFill>
                <a:srgbClr val="99CB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10651224" y="4160092"/>
              <a:ext cx="250287" cy="346142"/>
            </a:xfrm>
            <a:custGeom>
              <a:avLst/>
              <a:gdLst/>
              <a:ahLst/>
              <a:cxnLst/>
              <a:rect l="l" t="t" r="r" b="b"/>
              <a:pathLst>
                <a:path w="105" h="145">
                  <a:moveTo>
                    <a:pt x="90" y="0"/>
                  </a:moveTo>
                  <a:cubicBezTo>
                    <a:pt x="84" y="1"/>
                    <a:pt x="0" y="50"/>
                    <a:pt x="3" y="62"/>
                  </a:cubicBezTo>
                  <a:cubicBezTo>
                    <a:pt x="6" y="74"/>
                    <a:pt x="25" y="145"/>
                    <a:pt x="38" y="143"/>
                  </a:cubicBezTo>
                  <a:cubicBezTo>
                    <a:pt x="51" y="141"/>
                    <a:pt x="105" y="108"/>
                    <a:pt x="105" y="108"/>
                  </a:cubicBezTo>
                </a:path>
              </a:pathLst>
            </a:custGeom>
            <a:solidFill>
              <a:srgbClr val="63A4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10651224" y="4160092"/>
              <a:ext cx="250287" cy="346142"/>
            </a:xfrm>
            <a:custGeom>
              <a:avLst/>
              <a:gdLst/>
              <a:ahLst/>
              <a:cxnLst/>
              <a:rect l="l" t="t" r="r" b="b"/>
              <a:pathLst>
                <a:path w="105" h="145">
                  <a:moveTo>
                    <a:pt x="90" y="0"/>
                  </a:moveTo>
                  <a:cubicBezTo>
                    <a:pt x="84" y="1"/>
                    <a:pt x="0" y="50"/>
                    <a:pt x="3" y="62"/>
                  </a:cubicBezTo>
                  <a:cubicBezTo>
                    <a:pt x="6" y="74"/>
                    <a:pt x="25" y="145"/>
                    <a:pt x="38" y="143"/>
                  </a:cubicBezTo>
                  <a:cubicBezTo>
                    <a:pt x="51" y="141"/>
                    <a:pt x="105" y="108"/>
                    <a:pt x="105" y="108"/>
                  </a:cubicBezTo>
                </a:path>
              </a:pathLst>
            </a:custGeom>
            <a:ln w="4763">
              <a:solidFill>
                <a:srgbClr val="99CB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10260706" y="3169596"/>
              <a:ext cx="331941" cy="113606"/>
            </a:xfrm>
            <a:custGeom>
              <a:avLst/>
              <a:gdLst/>
              <a:ahLst/>
              <a:cxnLst/>
              <a:rect l="l" t="t" r="r" b="b"/>
              <a:pathLst>
                <a:path w="139" h="48">
                  <a:moveTo>
                    <a:pt x="0" y="0"/>
                  </a:moveTo>
                  <a:cubicBezTo>
                    <a:pt x="0" y="0"/>
                    <a:pt x="7" y="47"/>
                    <a:pt x="65" y="47"/>
                  </a:cubicBezTo>
                  <a:cubicBezTo>
                    <a:pt x="124" y="48"/>
                    <a:pt x="139" y="8"/>
                    <a:pt x="139" y="8"/>
                  </a:cubicBezTo>
                </a:path>
              </a:pathLst>
            </a:custGeom>
            <a:ln w="9525">
              <a:solidFill>
                <a:srgbClr val="99CB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10708026" y="4255947"/>
              <a:ext cx="95854" cy="218335"/>
            </a:xfrm>
            <a:custGeom>
              <a:avLst/>
              <a:gdLst/>
              <a:ahLst/>
              <a:cxnLst/>
              <a:rect l="l" t="t" r="r" b="b"/>
              <a:pathLst>
                <a:path w="40" h="92">
                  <a:moveTo>
                    <a:pt x="0" y="0"/>
                  </a:moveTo>
                  <a:cubicBezTo>
                    <a:pt x="0" y="0"/>
                    <a:pt x="20" y="71"/>
                    <a:pt x="40" y="92"/>
                  </a:cubicBezTo>
                </a:path>
              </a:pathLst>
            </a:custGeom>
            <a:ln w="4763">
              <a:solidFill>
                <a:srgbClr val="99CB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4" name="AutoShape 44"/>
            <p:cNvSpPr/>
            <p:nvPr/>
          </p:nvSpPr>
          <p:spPr>
            <a:xfrm>
              <a:off x="10045920" y="3710996"/>
              <a:ext cx="820088" cy="207685"/>
            </a:xfrm>
            <a:custGeom>
              <a:avLst/>
              <a:gdLst/>
              <a:ahLst/>
              <a:cxnLst/>
              <a:rect l="l" t="t" r="r" b="b"/>
              <a:pathLst>
                <a:path w="344" h="87">
                  <a:moveTo>
                    <a:pt x="6" y="0"/>
                  </a:moveTo>
                  <a:cubicBezTo>
                    <a:pt x="6" y="0"/>
                    <a:pt x="183" y="21"/>
                    <a:pt x="344" y="16"/>
                  </a:cubicBezTo>
                  <a:cubicBezTo>
                    <a:pt x="344" y="76"/>
                    <a:pt x="344" y="76"/>
                    <a:pt x="344" y="76"/>
                  </a:cubicBezTo>
                  <a:cubicBezTo>
                    <a:pt x="344" y="76"/>
                    <a:pt x="87" y="87"/>
                    <a:pt x="0" y="5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99C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5" name="AutoShape 45"/>
            <p:cNvSpPr/>
            <p:nvPr/>
          </p:nvSpPr>
          <p:spPr>
            <a:xfrm>
              <a:off x="11260076" y="3751823"/>
              <a:ext cx="124256" cy="344366"/>
            </a:xfrm>
            <a:custGeom>
              <a:avLst/>
              <a:gdLst/>
              <a:ahLst/>
              <a:cxnLst/>
              <a:rect l="l" t="t" r="r" b="b"/>
              <a:pathLst>
                <a:path w="52" h="144">
                  <a:moveTo>
                    <a:pt x="48" y="92"/>
                  </a:moveTo>
                  <a:cubicBezTo>
                    <a:pt x="46" y="110"/>
                    <a:pt x="38" y="128"/>
                    <a:pt x="27" y="144"/>
                  </a:cubicBezTo>
                  <a:cubicBezTo>
                    <a:pt x="0" y="94"/>
                    <a:pt x="17" y="27"/>
                    <a:pt x="25" y="0"/>
                  </a:cubicBezTo>
                  <a:cubicBezTo>
                    <a:pt x="43" y="30"/>
                    <a:pt x="52" y="61"/>
                    <a:pt x="48" y="92"/>
                  </a:cubicBezTo>
                  <a:close/>
                </a:path>
              </a:pathLst>
            </a:custGeom>
            <a:solidFill>
              <a:srgbClr val="99C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6" name="AutoShape 46"/>
            <p:cNvSpPr/>
            <p:nvPr/>
          </p:nvSpPr>
          <p:spPr>
            <a:xfrm>
              <a:off x="10303308" y="2983212"/>
              <a:ext cx="236087" cy="250287"/>
            </a:xfrm>
            <a:custGeom>
              <a:avLst/>
              <a:gdLst/>
              <a:ahLst/>
              <a:cxnLst/>
              <a:rect l="l" t="t" r="r" b="b"/>
              <a:pathLst>
                <a:path w="99" h="105">
                  <a:moveTo>
                    <a:pt x="7" y="77"/>
                  </a:moveTo>
                  <a:cubicBezTo>
                    <a:pt x="5" y="81"/>
                    <a:pt x="3" y="84"/>
                    <a:pt x="2" y="86"/>
                  </a:cubicBezTo>
                  <a:cubicBezTo>
                    <a:pt x="2" y="86"/>
                    <a:pt x="2" y="86"/>
                    <a:pt x="3" y="87"/>
                  </a:cubicBezTo>
                  <a:cubicBezTo>
                    <a:pt x="12" y="93"/>
                    <a:pt x="19" y="98"/>
                    <a:pt x="27" y="101"/>
                  </a:cubicBezTo>
                  <a:cubicBezTo>
                    <a:pt x="32" y="102"/>
                    <a:pt x="38" y="103"/>
                    <a:pt x="45" y="104"/>
                  </a:cubicBezTo>
                  <a:cubicBezTo>
                    <a:pt x="66" y="105"/>
                    <a:pt x="85" y="102"/>
                    <a:pt x="99" y="85"/>
                  </a:cubicBezTo>
                  <a:cubicBezTo>
                    <a:pt x="79" y="65"/>
                    <a:pt x="82" y="43"/>
                    <a:pt x="86" y="17"/>
                  </a:cubicBezTo>
                  <a:cubicBezTo>
                    <a:pt x="86" y="16"/>
                    <a:pt x="86" y="15"/>
                    <a:pt x="86" y="15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7" y="9"/>
                    <a:pt x="88" y="5"/>
                    <a:pt x="89" y="0"/>
                  </a:cubicBezTo>
                  <a:cubicBezTo>
                    <a:pt x="71" y="0"/>
                    <a:pt x="42" y="1"/>
                    <a:pt x="28" y="2"/>
                  </a:cubicBezTo>
                  <a:cubicBezTo>
                    <a:pt x="17" y="3"/>
                    <a:pt x="14" y="3"/>
                    <a:pt x="9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4"/>
                    <a:pt x="7" y="4"/>
                    <a:pt x="6" y="4"/>
                  </a:cubicBezTo>
                  <a:cubicBezTo>
                    <a:pt x="4" y="4"/>
                    <a:pt x="2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6"/>
                    <a:pt x="3" y="8"/>
                    <a:pt x="4" y="11"/>
                  </a:cubicBezTo>
                  <a:cubicBezTo>
                    <a:pt x="14" y="27"/>
                    <a:pt x="20" y="45"/>
                    <a:pt x="13" y="64"/>
                  </a:cubicBezTo>
                  <a:cubicBezTo>
                    <a:pt x="12" y="67"/>
                    <a:pt x="9" y="72"/>
                    <a:pt x="7" y="77"/>
                  </a:cubicBezTo>
                  <a:close/>
                </a:path>
              </a:pathLst>
            </a:custGeom>
            <a:solidFill>
              <a:srgbClr val="FFACB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10303308" y="2983212"/>
              <a:ext cx="216560" cy="200585"/>
            </a:xfrm>
            <a:custGeom>
              <a:avLst/>
              <a:gdLst/>
              <a:ahLst/>
              <a:cxnLst/>
              <a:rect l="l" t="t" r="r" b="b"/>
              <a:pathLst>
                <a:path w="91" h="84"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3" y="8"/>
                    <a:pt x="4" y="11"/>
                  </a:cubicBezTo>
                  <a:cubicBezTo>
                    <a:pt x="14" y="27"/>
                    <a:pt x="20" y="45"/>
                    <a:pt x="13" y="64"/>
                  </a:cubicBezTo>
                  <a:cubicBezTo>
                    <a:pt x="12" y="67"/>
                    <a:pt x="9" y="72"/>
                    <a:pt x="7" y="77"/>
                  </a:cubicBezTo>
                  <a:cubicBezTo>
                    <a:pt x="47" y="84"/>
                    <a:pt x="67" y="46"/>
                    <a:pt x="86" y="15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90" y="10"/>
                    <a:pt x="91" y="5"/>
                    <a:pt x="89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62" y="0"/>
                    <a:pt x="35" y="2"/>
                    <a:pt x="9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4"/>
                    <a:pt x="6" y="4"/>
                    <a:pt x="6" y="4"/>
                  </a:cubicBezTo>
                  <a:cubicBezTo>
                    <a:pt x="4" y="4"/>
                    <a:pt x="2" y="4"/>
                    <a:pt x="0" y="4"/>
                  </a:cubicBezTo>
                  <a:close/>
                </a:path>
              </a:pathLst>
            </a:custGeom>
            <a:solidFill>
              <a:srgbClr val="FF96A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8" name="AutoShape 48"/>
            <p:cNvSpPr/>
            <p:nvPr/>
          </p:nvSpPr>
          <p:spPr>
            <a:xfrm>
              <a:off x="9918114" y="2523466"/>
              <a:ext cx="152657" cy="163307"/>
            </a:xfrm>
            <a:custGeom>
              <a:avLst/>
              <a:gdLst/>
              <a:ahLst/>
              <a:cxnLst/>
              <a:rect l="l" t="t" r="r" b="b"/>
              <a:pathLst>
                <a:path w="64" h="69">
                  <a:moveTo>
                    <a:pt x="0" y="34"/>
                  </a:moveTo>
                  <a:cubicBezTo>
                    <a:pt x="0" y="36"/>
                    <a:pt x="0" y="38"/>
                    <a:pt x="0" y="40"/>
                  </a:cubicBezTo>
                  <a:cubicBezTo>
                    <a:pt x="2" y="56"/>
                    <a:pt x="15" y="68"/>
                    <a:pt x="31" y="69"/>
                  </a:cubicBezTo>
                  <a:cubicBezTo>
                    <a:pt x="49" y="69"/>
                    <a:pt x="63" y="54"/>
                    <a:pt x="64" y="35"/>
                  </a:cubicBezTo>
                  <a:cubicBezTo>
                    <a:pt x="64" y="16"/>
                    <a:pt x="50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15" y="0"/>
                    <a:pt x="0" y="15"/>
                    <a:pt x="0" y="34"/>
                  </a:cubicBezTo>
                  <a:close/>
                </a:path>
              </a:pathLst>
            </a:custGeom>
            <a:solidFill>
              <a:srgbClr val="FFACB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9" name="AutoShape 49"/>
            <p:cNvSpPr/>
            <p:nvPr/>
          </p:nvSpPr>
          <p:spPr>
            <a:xfrm>
              <a:off x="9957166" y="2566068"/>
              <a:ext cx="76329" cy="79879"/>
            </a:xfrm>
            <a:custGeom>
              <a:avLst/>
              <a:gdLst/>
              <a:ahLst/>
              <a:cxnLst/>
              <a:rect l="l" t="t" r="r" b="b"/>
              <a:pathLst>
                <a:path w="32" h="34">
                  <a:moveTo>
                    <a:pt x="0" y="16"/>
                  </a:moveTo>
                  <a:cubicBezTo>
                    <a:pt x="0" y="26"/>
                    <a:pt x="7" y="33"/>
                    <a:pt x="15" y="33"/>
                  </a:cubicBezTo>
                  <a:cubicBezTo>
                    <a:pt x="24" y="34"/>
                    <a:pt x="31" y="26"/>
                    <a:pt x="31" y="17"/>
                  </a:cubicBezTo>
                  <a:cubicBezTo>
                    <a:pt x="32" y="8"/>
                    <a:pt x="25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lose/>
                </a:path>
              </a:pathLst>
            </a:custGeom>
            <a:solidFill>
              <a:srgbClr val="FF96A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0" name="AutoShape 50"/>
            <p:cNvSpPr/>
            <p:nvPr/>
          </p:nvSpPr>
          <p:spPr>
            <a:xfrm>
              <a:off x="9918114" y="2525241"/>
              <a:ext cx="152657" cy="161533"/>
            </a:xfrm>
            <a:custGeom>
              <a:avLst/>
              <a:gdLst/>
              <a:ahLst/>
              <a:cxnLst/>
              <a:rect l="l" t="t" r="r" b="b"/>
              <a:pathLst>
                <a:path w="64" h="68">
                  <a:moveTo>
                    <a:pt x="0" y="39"/>
                  </a:moveTo>
                  <a:cubicBezTo>
                    <a:pt x="2" y="55"/>
                    <a:pt x="15" y="67"/>
                    <a:pt x="31" y="68"/>
                  </a:cubicBezTo>
                  <a:cubicBezTo>
                    <a:pt x="49" y="68"/>
                    <a:pt x="63" y="53"/>
                    <a:pt x="64" y="34"/>
                  </a:cubicBezTo>
                  <a:cubicBezTo>
                    <a:pt x="64" y="15"/>
                    <a:pt x="50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1"/>
                    <a:pt x="24" y="37"/>
                    <a:pt x="0" y="39"/>
                  </a:cubicBezTo>
                  <a:close/>
                </a:path>
              </a:pathLst>
            </a:custGeom>
            <a:solidFill>
              <a:srgbClr val="43274D">
                <a:alpha val="10196"/>
              </a:srgbClr>
            </a:solidFill>
            <a:ln>
              <a:headEnd type="none"/>
              <a:tailEnd type="none"/>
            </a:ln>
          </p:spPr>
        </p:sp>
        <p:sp>
          <p:nvSpPr>
            <p:cNvPr id="51" name="AutoShape 51"/>
            <p:cNvSpPr/>
            <p:nvPr/>
          </p:nvSpPr>
          <p:spPr>
            <a:xfrm>
              <a:off x="10741752" y="2500390"/>
              <a:ext cx="170408" cy="177508"/>
            </a:xfrm>
            <a:custGeom>
              <a:avLst/>
              <a:gdLst/>
              <a:ahLst/>
              <a:cxnLst/>
              <a:rect l="l" t="t" r="r" b="b"/>
              <a:pathLst>
                <a:path w="71" h="74">
                  <a:moveTo>
                    <a:pt x="11" y="15"/>
                  </a:moveTo>
                  <a:cubicBezTo>
                    <a:pt x="0" y="29"/>
                    <a:pt x="2" y="51"/>
                    <a:pt x="16" y="63"/>
                  </a:cubicBezTo>
                  <a:cubicBezTo>
                    <a:pt x="29" y="74"/>
                    <a:pt x="49" y="72"/>
                    <a:pt x="60" y="58"/>
                  </a:cubicBezTo>
                  <a:cubicBezTo>
                    <a:pt x="71" y="44"/>
                    <a:pt x="69" y="22"/>
                    <a:pt x="56" y="10"/>
                  </a:cubicBezTo>
                  <a:cubicBezTo>
                    <a:pt x="55" y="10"/>
                    <a:pt x="55" y="10"/>
                    <a:pt x="55" y="10"/>
                  </a:cubicBezTo>
                  <a:cubicBezTo>
                    <a:pt x="44" y="0"/>
                    <a:pt x="29" y="0"/>
                    <a:pt x="18" y="9"/>
                  </a:cubicBezTo>
                  <a:cubicBezTo>
                    <a:pt x="15" y="10"/>
                    <a:pt x="13" y="12"/>
                    <a:pt x="11" y="15"/>
                  </a:cubicBezTo>
                  <a:close/>
                </a:path>
              </a:pathLst>
            </a:custGeom>
            <a:solidFill>
              <a:srgbClr val="FFACB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2" name="AutoShape 52"/>
            <p:cNvSpPr/>
            <p:nvPr/>
          </p:nvSpPr>
          <p:spPr>
            <a:xfrm>
              <a:off x="10782580" y="2539441"/>
              <a:ext cx="88755" cy="97630"/>
            </a:xfrm>
            <a:custGeom>
              <a:avLst/>
              <a:gdLst/>
              <a:ahLst/>
              <a:cxnLst/>
              <a:rect l="l" t="t" r="r" b="b"/>
              <a:pathLst>
                <a:path w="37" h="41">
                  <a:moveTo>
                    <a:pt x="6" y="9"/>
                  </a:moveTo>
                  <a:cubicBezTo>
                    <a:pt x="0" y="17"/>
                    <a:pt x="1" y="28"/>
                    <a:pt x="8" y="34"/>
                  </a:cubicBezTo>
                  <a:cubicBezTo>
                    <a:pt x="15" y="41"/>
                    <a:pt x="26" y="39"/>
                    <a:pt x="32" y="32"/>
                  </a:cubicBezTo>
                  <a:cubicBezTo>
                    <a:pt x="37" y="24"/>
                    <a:pt x="36" y="13"/>
                    <a:pt x="29" y="7"/>
                  </a:cubicBezTo>
                  <a:cubicBezTo>
                    <a:pt x="22" y="0"/>
                    <a:pt x="12" y="2"/>
                    <a:pt x="6" y="9"/>
                  </a:cubicBezTo>
                  <a:close/>
                </a:path>
              </a:pathLst>
            </a:custGeom>
            <a:solidFill>
              <a:srgbClr val="FF96A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3" name="AutoShape 53"/>
            <p:cNvSpPr/>
            <p:nvPr/>
          </p:nvSpPr>
          <p:spPr>
            <a:xfrm>
              <a:off x="10741752" y="2523466"/>
              <a:ext cx="170408" cy="154433"/>
            </a:xfrm>
            <a:custGeom>
              <a:avLst/>
              <a:gdLst/>
              <a:ahLst/>
              <a:cxnLst/>
              <a:rect l="l" t="t" r="r" b="b"/>
              <a:pathLst>
                <a:path w="71" h="65">
                  <a:moveTo>
                    <a:pt x="11" y="6"/>
                  </a:moveTo>
                  <a:cubicBezTo>
                    <a:pt x="0" y="20"/>
                    <a:pt x="2" y="42"/>
                    <a:pt x="16" y="54"/>
                  </a:cubicBezTo>
                  <a:cubicBezTo>
                    <a:pt x="29" y="65"/>
                    <a:pt x="49" y="63"/>
                    <a:pt x="60" y="49"/>
                  </a:cubicBezTo>
                  <a:cubicBezTo>
                    <a:pt x="71" y="35"/>
                    <a:pt x="69" y="13"/>
                    <a:pt x="56" y="1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49" y="6"/>
                    <a:pt x="36" y="15"/>
                    <a:pt x="18" y="0"/>
                  </a:cubicBezTo>
                  <a:cubicBezTo>
                    <a:pt x="15" y="1"/>
                    <a:pt x="13" y="3"/>
                    <a:pt x="11" y="6"/>
                  </a:cubicBezTo>
                  <a:close/>
                </a:path>
              </a:pathLst>
            </a:custGeom>
            <a:solidFill>
              <a:srgbClr val="43274D">
                <a:alpha val="10196"/>
              </a:srgbClr>
            </a:solidFill>
            <a:ln>
              <a:headEnd type="none"/>
              <a:tailEnd type="none"/>
            </a:ln>
          </p:spPr>
        </p:sp>
        <p:sp>
          <p:nvSpPr>
            <p:cNvPr id="54" name="AutoShape 54"/>
            <p:cNvSpPr/>
            <p:nvPr/>
          </p:nvSpPr>
          <p:spPr>
            <a:xfrm>
              <a:off x="9937640" y="2589143"/>
              <a:ext cx="118932" cy="149107"/>
            </a:xfrm>
            <a:custGeom>
              <a:avLst/>
              <a:gdLst/>
              <a:ahLst/>
              <a:cxnLst/>
              <a:rect l="l" t="t" r="r" b="b"/>
              <a:pathLst>
                <a:path w="50" h="62">
                  <a:moveTo>
                    <a:pt x="32" y="26"/>
                  </a:moveTo>
                  <a:cubicBezTo>
                    <a:pt x="34" y="22"/>
                    <a:pt x="34" y="18"/>
                    <a:pt x="33" y="13"/>
                  </a:cubicBezTo>
                  <a:cubicBezTo>
                    <a:pt x="31" y="5"/>
                    <a:pt x="22" y="0"/>
                    <a:pt x="13" y="2"/>
                  </a:cubicBezTo>
                  <a:cubicBezTo>
                    <a:pt x="5" y="5"/>
                    <a:pt x="0" y="14"/>
                    <a:pt x="3" y="22"/>
                  </a:cubicBezTo>
                  <a:cubicBezTo>
                    <a:pt x="5" y="30"/>
                    <a:pt x="14" y="35"/>
                    <a:pt x="22" y="3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50" y="60"/>
                    <a:pt x="49" y="55"/>
                  </a:cubicBezTo>
                  <a:lnTo>
                    <a:pt x="32" y="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5" name="AutoShape 55"/>
            <p:cNvSpPr/>
            <p:nvPr/>
          </p:nvSpPr>
          <p:spPr>
            <a:xfrm>
              <a:off x="10763053" y="2569618"/>
              <a:ext cx="117155" cy="149107"/>
            </a:xfrm>
            <a:custGeom>
              <a:avLst/>
              <a:gdLst/>
              <a:ahLst/>
              <a:cxnLst/>
              <a:rect l="l" t="t" r="r" b="b"/>
              <a:pathLst>
                <a:path w="49" h="62">
                  <a:moveTo>
                    <a:pt x="18" y="25"/>
                  </a:moveTo>
                  <a:cubicBezTo>
                    <a:pt x="16" y="22"/>
                    <a:pt x="15" y="17"/>
                    <a:pt x="16" y="13"/>
                  </a:cubicBezTo>
                  <a:cubicBezTo>
                    <a:pt x="19" y="4"/>
                    <a:pt x="28" y="0"/>
                    <a:pt x="36" y="2"/>
                  </a:cubicBezTo>
                  <a:cubicBezTo>
                    <a:pt x="44" y="4"/>
                    <a:pt x="49" y="13"/>
                    <a:pt x="47" y="22"/>
                  </a:cubicBezTo>
                  <a:cubicBezTo>
                    <a:pt x="44" y="30"/>
                    <a:pt x="36" y="35"/>
                    <a:pt x="28" y="33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0" y="59"/>
                    <a:pt x="0" y="54"/>
                  </a:cubicBezTo>
                  <a:lnTo>
                    <a:pt x="18" y="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6" name="AutoShape 56"/>
            <p:cNvSpPr/>
            <p:nvPr/>
          </p:nvSpPr>
          <p:spPr>
            <a:xfrm>
              <a:off x="9987343" y="1955439"/>
              <a:ext cx="834289" cy="1082800"/>
            </a:xfrm>
            <a:custGeom>
              <a:avLst/>
              <a:gdLst/>
              <a:ahLst/>
              <a:cxnLst/>
              <a:rect l="l" t="t" r="r" b="b"/>
              <a:pathLst>
                <a:path w="349" h="453">
                  <a:moveTo>
                    <a:pt x="349" y="225"/>
                  </a:moveTo>
                  <a:cubicBezTo>
                    <a:pt x="349" y="231"/>
                    <a:pt x="349" y="236"/>
                    <a:pt x="348" y="241"/>
                  </a:cubicBezTo>
                  <a:cubicBezTo>
                    <a:pt x="348" y="243"/>
                    <a:pt x="348" y="245"/>
                    <a:pt x="348" y="247"/>
                  </a:cubicBezTo>
                  <a:cubicBezTo>
                    <a:pt x="347" y="270"/>
                    <a:pt x="342" y="293"/>
                    <a:pt x="336" y="314"/>
                  </a:cubicBezTo>
                  <a:cubicBezTo>
                    <a:pt x="319" y="369"/>
                    <a:pt x="286" y="412"/>
                    <a:pt x="245" y="436"/>
                  </a:cubicBezTo>
                  <a:cubicBezTo>
                    <a:pt x="224" y="447"/>
                    <a:pt x="201" y="454"/>
                    <a:pt x="177" y="454"/>
                  </a:cubicBezTo>
                  <a:cubicBezTo>
                    <a:pt x="164" y="454"/>
                    <a:pt x="152" y="453"/>
                    <a:pt x="140" y="449"/>
                  </a:cubicBezTo>
                  <a:cubicBezTo>
                    <a:pt x="112" y="442"/>
                    <a:pt x="87" y="426"/>
                    <a:pt x="66" y="404"/>
                  </a:cubicBezTo>
                  <a:cubicBezTo>
                    <a:pt x="40" y="377"/>
                    <a:pt x="20" y="340"/>
                    <a:pt x="10" y="298"/>
                  </a:cubicBezTo>
                  <a:cubicBezTo>
                    <a:pt x="6" y="284"/>
                    <a:pt x="3" y="269"/>
                    <a:pt x="2" y="253"/>
                  </a:cubicBezTo>
                  <a:cubicBezTo>
                    <a:pt x="1" y="245"/>
                    <a:pt x="1" y="237"/>
                    <a:pt x="0" y="229"/>
                  </a:cubicBezTo>
                  <a:cubicBezTo>
                    <a:pt x="0" y="227"/>
                    <a:pt x="0" y="225"/>
                    <a:pt x="0" y="223"/>
                  </a:cubicBezTo>
                  <a:cubicBezTo>
                    <a:pt x="1" y="222"/>
                    <a:pt x="1" y="221"/>
                    <a:pt x="1" y="219"/>
                  </a:cubicBezTo>
                  <a:cubicBezTo>
                    <a:pt x="1" y="218"/>
                    <a:pt x="1" y="217"/>
                    <a:pt x="1" y="216"/>
                  </a:cubicBezTo>
                  <a:cubicBezTo>
                    <a:pt x="1" y="210"/>
                    <a:pt x="1" y="204"/>
                    <a:pt x="2" y="199"/>
                  </a:cubicBezTo>
                  <a:cubicBezTo>
                    <a:pt x="4" y="169"/>
                    <a:pt x="12" y="141"/>
                    <a:pt x="23" y="115"/>
                  </a:cubicBezTo>
                  <a:cubicBezTo>
                    <a:pt x="39" y="78"/>
                    <a:pt x="63" y="47"/>
                    <a:pt x="92" y="27"/>
                  </a:cubicBezTo>
                  <a:cubicBezTo>
                    <a:pt x="116" y="10"/>
                    <a:pt x="143" y="1"/>
                    <a:pt x="172" y="0"/>
                  </a:cubicBezTo>
                  <a:cubicBezTo>
                    <a:pt x="186" y="0"/>
                    <a:pt x="199" y="2"/>
                    <a:pt x="211" y="6"/>
                  </a:cubicBezTo>
                  <a:cubicBezTo>
                    <a:pt x="273" y="23"/>
                    <a:pt x="322" y="83"/>
                    <a:pt x="341" y="160"/>
                  </a:cubicBezTo>
                  <a:cubicBezTo>
                    <a:pt x="346" y="181"/>
                    <a:pt x="349" y="203"/>
                    <a:pt x="349" y="225"/>
                  </a:cubicBezTo>
                  <a:close/>
                </a:path>
              </a:pathLst>
            </a:custGeom>
            <a:solidFill>
              <a:srgbClr val="FFACB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7" name="AutoShape 57"/>
            <p:cNvSpPr/>
            <p:nvPr/>
          </p:nvSpPr>
          <p:spPr>
            <a:xfrm>
              <a:off x="10658324" y="2198625"/>
              <a:ext cx="195259" cy="470397"/>
            </a:xfrm>
            <a:custGeom>
              <a:avLst/>
              <a:gdLst/>
              <a:ahLst/>
              <a:cxnLst/>
              <a:rect l="l" t="t" r="r" b="b"/>
              <a:pathLst>
                <a:path w="82" h="197">
                  <a:moveTo>
                    <a:pt x="0" y="38"/>
                  </a:moveTo>
                  <a:cubicBezTo>
                    <a:pt x="0" y="38"/>
                    <a:pt x="14" y="77"/>
                    <a:pt x="30" y="107"/>
                  </a:cubicBezTo>
                  <a:cubicBezTo>
                    <a:pt x="46" y="137"/>
                    <a:pt x="39" y="185"/>
                    <a:pt x="30" y="197"/>
                  </a:cubicBezTo>
                  <a:cubicBezTo>
                    <a:pt x="30" y="197"/>
                    <a:pt x="80" y="150"/>
                    <a:pt x="79" y="119"/>
                  </a:cubicBezTo>
                  <a:cubicBezTo>
                    <a:pt x="78" y="88"/>
                    <a:pt x="82" y="28"/>
                    <a:pt x="45" y="14"/>
                  </a:cubicBezTo>
                  <a:cubicBezTo>
                    <a:pt x="8" y="0"/>
                    <a:pt x="0" y="38"/>
                    <a:pt x="0" y="38"/>
                  </a:cubicBezTo>
                  <a:close/>
                </a:path>
              </a:pathLst>
            </a:custGeom>
            <a:solidFill>
              <a:srgbClr val="01004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8" name="AutoShape 58"/>
            <p:cNvSpPr/>
            <p:nvPr/>
          </p:nvSpPr>
          <p:spPr>
            <a:xfrm>
              <a:off x="10448864" y="2615770"/>
              <a:ext cx="340816" cy="379867"/>
            </a:xfrm>
            <a:custGeom>
              <a:avLst/>
              <a:gdLst/>
              <a:ahLst/>
              <a:cxnLst/>
              <a:rect l="l" t="t" r="r" b="b"/>
              <a:pathLst>
                <a:path w="143" h="159">
                  <a:moveTo>
                    <a:pt x="52" y="159"/>
                  </a:moveTo>
                  <a:cubicBezTo>
                    <a:pt x="93" y="135"/>
                    <a:pt x="126" y="92"/>
                    <a:pt x="143" y="37"/>
                  </a:cubicBezTo>
                  <a:cubicBezTo>
                    <a:pt x="127" y="18"/>
                    <a:pt x="99" y="0"/>
                    <a:pt x="76" y="0"/>
                  </a:cubicBezTo>
                  <a:cubicBezTo>
                    <a:pt x="34" y="0"/>
                    <a:pt x="0" y="37"/>
                    <a:pt x="1" y="83"/>
                  </a:cubicBezTo>
                  <a:cubicBezTo>
                    <a:pt x="1" y="118"/>
                    <a:pt x="22" y="148"/>
                    <a:pt x="52" y="159"/>
                  </a:cubicBezTo>
                  <a:close/>
                </a:path>
              </a:pathLst>
            </a:custGeom>
            <a:solidFill>
              <a:srgbClr val="FF96A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9" name="AutoShape 59"/>
            <p:cNvSpPr/>
            <p:nvPr/>
          </p:nvSpPr>
          <p:spPr>
            <a:xfrm>
              <a:off x="10012194" y="2665473"/>
              <a:ext cx="159757" cy="253838"/>
            </a:xfrm>
            <a:custGeom>
              <a:avLst/>
              <a:gdLst/>
              <a:ahLst/>
              <a:cxnLst/>
              <a:rect l="l" t="t" r="r" b="b"/>
              <a:pathLst>
                <a:path w="67" h="105">
                  <a:moveTo>
                    <a:pt x="0" y="0"/>
                  </a:moveTo>
                  <a:cubicBezTo>
                    <a:pt x="10" y="42"/>
                    <a:pt x="30" y="79"/>
                    <a:pt x="56" y="106"/>
                  </a:cubicBezTo>
                  <a:cubicBezTo>
                    <a:pt x="63" y="95"/>
                    <a:pt x="67" y="82"/>
                    <a:pt x="67" y="67"/>
                  </a:cubicBezTo>
                  <a:cubicBezTo>
                    <a:pt x="66" y="30"/>
                    <a:pt x="38" y="0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FF96A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0" name="AutoShape 60"/>
            <p:cNvSpPr/>
            <p:nvPr/>
          </p:nvSpPr>
          <p:spPr>
            <a:xfrm>
              <a:off x="10109823" y="2527016"/>
              <a:ext cx="126031" cy="81654"/>
            </a:xfrm>
            <a:custGeom>
              <a:avLst/>
              <a:gdLst/>
              <a:ahLst/>
              <a:cxnLst/>
              <a:rect l="l" t="t" r="r" b="b"/>
              <a:pathLst>
                <a:path w="52" h="34">
                  <a:moveTo>
                    <a:pt x="27" y="0"/>
                  </a:moveTo>
                  <a:cubicBezTo>
                    <a:pt x="41" y="0"/>
                    <a:pt x="53" y="13"/>
                    <a:pt x="53" y="28"/>
                  </a:cubicBezTo>
                  <a:cubicBezTo>
                    <a:pt x="53" y="31"/>
                    <a:pt x="51" y="34"/>
                    <a:pt x="48" y="34"/>
                  </a:cubicBezTo>
                  <a:cubicBezTo>
                    <a:pt x="45" y="34"/>
                    <a:pt x="43" y="31"/>
                    <a:pt x="43" y="28"/>
                  </a:cubicBezTo>
                  <a:cubicBezTo>
                    <a:pt x="43" y="19"/>
                    <a:pt x="36" y="11"/>
                    <a:pt x="27" y="11"/>
                  </a:cubicBezTo>
                  <a:cubicBezTo>
                    <a:pt x="18" y="10"/>
                    <a:pt x="10" y="18"/>
                    <a:pt x="10" y="28"/>
                  </a:cubicBezTo>
                  <a:cubicBezTo>
                    <a:pt x="10" y="31"/>
                    <a:pt x="8" y="33"/>
                    <a:pt x="5" y="33"/>
                  </a:cubicBezTo>
                  <a:cubicBezTo>
                    <a:pt x="2" y="33"/>
                    <a:pt x="0" y="31"/>
                    <a:pt x="0" y="28"/>
                  </a:cubicBezTo>
                  <a:cubicBezTo>
                    <a:pt x="0" y="12"/>
                    <a:pt x="12" y="0"/>
                    <a:pt x="27" y="0"/>
                  </a:cubicBezTo>
                  <a:close/>
                </a:path>
              </a:pathLst>
            </a:custGeom>
            <a:solidFill>
              <a:srgbClr val="87404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1" name="AutoShape 61"/>
            <p:cNvSpPr/>
            <p:nvPr/>
          </p:nvSpPr>
          <p:spPr>
            <a:xfrm>
              <a:off x="10392061" y="2530567"/>
              <a:ext cx="133131" cy="79879"/>
            </a:xfrm>
            <a:custGeom>
              <a:avLst/>
              <a:gdLst/>
              <a:ahLst/>
              <a:cxnLst/>
              <a:rect l="l" t="t" r="r" b="b"/>
              <a:pathLst>
                <a:path w="56" h="34"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31"/>
                    <a:pt x="3" y="33"/>
                    <a:pt x="6" y="34"/>
                  </a:cubicBezTo>
                  <a:cubicBezTo>
                    <a:pt x="8" y="34"/>
                    <a:pt x="11" y="31"/>
                    <a:pt x="11" y="28"/>
                  </a:cubicBezTo>
                  <a:cubicBezTo>
                    <a:pt x="11" y="19"/>
                    <a:pt x="19" y="11"/>
                    <a:pt x="28" y="11"/>
                  </a:cubicBezTo>
                  <a:cubicBezTo>
                    <a:pt x="38" y="11"/>
                    <a:pt x="46" y="19"/>
                    <a:pt x="45" y="29"/>
                  </a:cubicBezTo>
                  <a:cubicBezTo>
                    <a:pt x="45" y="32"/>
                    <a:pt x="48" y="34"/>
                    <a:pt x="51" y="34"/>
                  </a:cubicBezTo>
                  <a:cubicBezTo>
                    <a:pt x="54" y="34"/>
                    <a:pt x="56" y="32"/>
                    <a:pt x="56" y="29"/>
                  </a:cubicBezTo>
                  <a:cubicBezTo>
                    <a:pt x="56" y="13"/>
                    <a:pt x="44" y="0"/>
                    <a:pt x="28" y="0"/>
                  </a:cubicBezTo>
                  <a:close/>
                </a:path>
              </a:pathLst>
            </a:custGeom>
            <a:solidFill>
              <a:srgbClr val="87404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2" name="AutoShape 62"/>
            <p:cNvSpPr/>
            <p:nvPr/>
          </p:nvSpPr>
          <p:spPr>
            <a:xfrm>
              <a:off x="10381411" y="2400985"/>
              <a:ext cx="179284" cy="111831"/>
            </a:xfrm>
            <a:custGeom>
              <a:avLst/>
              <a:gdLst/>
              <a:ahLst/>
              <a:cxnLst/>
              <a:rect l="l" t="t" r="r" b="b"/>
              <a:pathLst>
                <a:path w="75" h="47">
                  <a:moveTo>
                    <a:pt x="0" y="18"/>
                  </a:moveTo>
                  <a:cubicBezTo>
                    <a:pt x="0" y="18"/>
                    <a:pt x="62" y="47"/>
                    <a:pt x="66" y="42"/>
                  </a:cubicBezTo>
                  <a:cubicBezTo>
                    <a:pt x="71" y="38"/>
                    <a:pt x="75" y="32"/>
                    <a:pt x="70" y="28"/>
                  </a:cubicBezTo>
                  <a:cubicBezTo>
                    <a:pt x="64" y="24"/>
                    <a:pt x="10" y="0"/>
                    <a:pt x="6" y="2"/>
                  </a:cubicBezTo>
                  <a:cubicBezTo>
                    <a:pt x="2" y="3"/>
                    <a:pt x="0" y="8"/>
                    <a:pt x="0" y="18"/>
                  </a:cubicBezTo>
                  <a:close/>
                </a:path>
              </a:pathLst>
            </a:custGeom>
            <a:solidFill>
              <a:srgbClr val="01004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3" name="AutoShape 63"/>
            <p:cNvSpPr/>
            <p:nvPr/>
          </p:nvSpPr>
          <p:spPr>
            <a:xfrm>
              <a:off x="10074321" y="2413411"/>
              <a:ext cx="166858" cy="102955"/>
            </a:xfrm>
            <a:custGeom>
              <a:avLst/>
              <a:gdLst/>
              <a:ahLst/>
              <a:cxnLst/>
              <a:rect l="l" t="t" r="r" b="b"/>
              <a:pathLst>
                <a:path w="70" h="43">
                  <a:moveTo>
                    <a:pt x="69" y="14"/>
                  </a:moveTo>
                  <a:cubicBezTo>
                    <a:pt x="69" y="14"/>
                    <a:pt x="11" y="43"/>
                    <a:pt x="7" y="39"/>
                  </a:cubicBezTo>
                  <a:cubicBezTo>
                    <a:pt x="4" y="34"/>
                    <a:pt x="0" y="28"/>
                    <a:pt x="5" y="24"/>
                  </a:cubicBezTo>
                  <a:cubicBezTo>
                    <a:pt x="10" y="21"/>
                    <a:pt x="60" y="0"/>
                    <a:pt x="64" y="1"/>
                  </a:cubicBezTo>
                  <a:cubicBezTo>
                    <a:pt x="67" y="3"/>
                    <a:pt x="70" y="5"/>
                    <a:pt x="69" y="14"/>
                  </a:cubicBezTo>
                  <a:close/>
                </a:path>
              </a:pathLst>
            </a:custGeom>
            <a:solidFill>
              <a:srgbClr val="01004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4" name="AutoShape 64"/>
            <p:cNvSpPr/>
            <p:nvPr/>
          </p:nvSpPr>
          <p:spPr>
            <a:xfrm>
              <a:off x="10267805" y="2532341"/>
              <a:ext cx="78103" cy="154433"/>
            </a:xfrm>
            <a:custGeom>
              <a:avLst/>
              <a:gdLst/>
              <a:ahLst/>
              <a:cxnLst/>
              <a:rect l="l" t="t" r="r" b="b"/>
              <a:pathLst>
                <a:path w="33" h="65">
                  <a:moveTo>
                    <a:pt x="29" y="60"/>
                  </a:moveTo>
                  <a:cubicBezTo>
                    <a:pt x="25" y="65"/>
                    <a:pt x="6" y="65"/>
                    <a:pt x="1" y="60"/>
                  </a:cubicBezTo>
                  <a:cubicBezTo>
                    <a:pt x="0" y="59"/>
                    <a:pt x="0" y="56"/>
                    <a:pt x="0" y="50"/>
                  </a:cubicBezTo>
                  <a:cubicBezTo>
                    <a:pt x="1" y="33"/>
                    <a:pt x="9" y="0"/>
                    <a:pt x="16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26" y="6"/>
                    <a:pt x="33" y="56"/>
                    <a:pt x="29" y="60"/>
                  </a:cubicBezTo>
                  <a:close/>
                </a:path>
              </a:pathLst>
            </a:custGeom>
            <a:solidFill>
              <a:srgbClr val="FF96A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5" name="AutoShape 65"/>
            <p:cNvSpPr/>
            <p:nvPr/>
          </p:nvSpPr>
          <p:spPr>
            <a:xfrm>
              <a:off x="10267805" y="2532341"/>
              <a:ext cx="78103" cy="154433"/>
            </a:xfrm>
            <a:custGeom>
              <a:avLst/>
              <a:gdLst/>
              <a:ahLst/>
              <a:cxnLst/>
              <a:rect l="l" t="t" r="r" b="b"/>
              <a:pathLst>
                <a:path w="33" h="65">
                  <a:moveTo>
                    <a:pt x="29" y="60"/>
                  </a:moveTo>
                  <a:cubicBezTo>
                    <a:pt x="25" y="65"/>
                    <a:pt x="6" y="65"/>
                    <a:pt x="1" y="60"/>
                  </a:cubicBezTo>
                  <a:cubicBezTo>
                    <a:pt x="0" y="59"/>
                    <a:pt x="0" y="56"/>
                    <a:pt x="0" y="50"/>
                  </a:cubicBezTo>
                  <a:cubicBezTo>
                    <a:pt x="20" y="44"/>
                    <a:pt x="20" y="16"/>
                    <a:pt x="18" y="0"/>
                  </a:cubicBezTo>
                  <a:cubicBezTo>
                    <a:pt x="26" y="6"/>
                    <a:pt x="33" y="56"/>
                    <a:pt x="29" y="60"/>
                  </a:cubicBezTo>
                  <a:close/>
                </a:path>
              </a:pathLst>
            </a:custGeom>
            <a:solidFill>
              <a:srgbClr val="43274D">
                <a:alpha val="10196"/>
              </a:srgbClr>
            </a:solidFill>
            <a:ln>
              <a:headEnd type="none"/>
              <a:tailEnd type="none"/>
            </a:ln>
          </p:spPr>
        </p:sp>
        <p:sp>
          <p:nvSpPr>
            <p:cNvPr id="66" name="AutoShape 66"/>
            <p:cNvSpPr/>
            <p:nvPr/>
          </p:nvSpPr>
          <p:spPr>
            <a:xfrm>
              <a:off x="10223428" y="2740026"/>
              <a:ext cx="168633" cy="63903"/>
            </a:xfrm>
            <a:custGeom>
              <a:avLst/>
              <a:gdLst/>
              <a:ahLst/>
              <a:cxnLst/>
              <a:rect l="l" t="t" r="r" b="b"/>
              <a:pathLst>
                <a:path w="70" h="27">
                  <a:moveTo>
                    <a:pt x="0" y="1"/>
                  </a:moveTo>
                  <a:cubicBezTo>
                    <a:pt x="0" y="1"/>
                    <a:pt x="19" y="5"/>
                    <a:pt x="35" y="5"/>
                  </a:cubicBezTo>
                  <a:cubicBezTo>
                    <a:pt x="51" y="5"/>
                    <a:pt x="70" y="0"/>
                    <a:pt x="70" y="0"/>
                  </a:cubicBezTo>
                  <a:cubicBezTo>
                    <a:pt x="70" y="0"/>
                    <a:pt x="61" y="26"/>
                    <a:pt x="36" y="26"/>
                  </a:cubicBezTo>
                  <a:cubicBezTo>
                    <a:pt x="10" y="27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7" name="AutoShape 67"/>
            <p:cNvSpPr/>
            <p:nvPr/>
          </p:nvSpPr>
          <p:spPr>
            <a:xfrm>
              <a:off x="9827585" y="1832958"/>
              <a:ext cx="1024223" cy="811213"/>
            </a:xfrm>
            <a:custGeom>
              <a:avLst/>
              <a:gdLst/>
              <a:ahLst/>
              <a:cxnLst/>
              <a:rect l="l" t="t" r="r" b="b"/>
              <a:pathLst>
                <a:path w="429" h="340">
                  <a:moveTo>
                    <a:pt x="355" y="43"/>
                  </a:moveTo>
                  <a:cubicBezTo>
                    <a:pt x="280" y="0"/>
                    <a:pt x="281" y="23"/>
                    <a:pt x="248" y="24"/>
                  </a:cubicBezTo>
                  <a:cubicBezTo>
                    <a:pt x="216" y="25"/>
                    <a:pt x="204" y="1"/>
                    <a:pt x="176" y="17"/>
                  </a:cubicBezTo>
                  <a:cubicBezTo>
                    <a:pt x="148" y="33"/>
                    <a:pt x="149" y="55"/>
                    <a:pt x="123" y="57"/>
                  </a:cubicBezTo>
                  <a:cubicBezTo>
                    <a:pt x="96" y="60"/>
                    <a:pt x="67" y="55"/>
                    <a:pt x="65" y="82"/>
                  </a:cubicBezTo>
                  <a:cubicBezTo>
                    <a:pt x="63" y="109"/>
                    <a:pt x="23" y="122"/>
                    <a:pt x="11" y="159"/>
                  </a:cubicBezTo>
                  <a:cubicBezTo>
                    <a:pt x="0" y="195"/>
                    <a:pt x="16" y="214"/>
                    <a:pt x="14" y="244"/>
                  </a:cubicBezTo>
                  <a:cubicBezTo>
                    <a:pt x="13" y="275"/>
                    <a:pt x="30" y="306"/>
                    <a:pt x="6" y="340"/>
                  </a:cubicBezTo>
                  <a:cubicBezTo>
                    <a:pt x="6" y="340"/>
                    <a:pt x="30" y="323"/>
                    <a:pt x="38" y="307"/>
                  </a:cubicBezTo>
                  <a:cubicBezTo>
                    <a:pt x="46" y="290"/>
                    <a:pt x="39" y="285"/>
                    <a:pt x="51" y="278"/>
                  </a:cubicBezTo>
                  <a:cubicBezTo>
                    <a:pt x="53" y="277"/>
                    <a:pt x="56" y="276"/>
                    <a:pt x="58" y="275"/>
                  </a:cubicBezTo>
                  <a:cubicBezTo>
                    <a:pt x="64" y="309"/>
                    <a:pt x="90" y="340"/>
                    <a:pt x="90" y="340"/>
                  </a:cubicBezTo>
                  <a:cubicBezTo>
                    <a:pt x="77" y="316"/>
                    <a:pt x="85" y="265"/>
                    <a:pt x="85" y="265"/>
                  </a:cubicBezTo>
                  <a:cubicBezTo>
                    <a:pt x="85" y="265"/>
                    <a:pt x="85" y="265"/>
                    <a:pt x="85" y="265"/>
                  </a:cubicBezTo>
                  <a:cubicBezTo>
                    <a:pt x="87" y="263"/>
                    <a:pt x="88" y="262"/>
                    <a:pt x="90" y="260"/>
                  </a:cubicBezTo>
                  <a:cubicBezTo>
                    <a:pt x="103" y="246"/>
                    <a:pt x="98" y="221"/>
                    <a:pt x="123" y="208"/>
                  </a:cubicBezTo>
                  <a:cubicBezTo>
                    <a:pt x="148" y="196"/>
                    <a:pt x="167" y="200"/>
                    <a:pt x="188" y="184"/>
                  </a:cubicBezTo>
                  <a:cubicBezTo>
                    <a:pt x="209" y="168"/>
                    <a:pt x="264" y="148"/>
                    <a:pt x="264" y="148"/>
                  </a:cubicBezTo>
                  <a:cubicBezTo>
                    <a:pt x="264" y="148"/>
                    <a:pt x="254" y="177"/>
                    <a:pt x="236" y="191"/>
                  </a:cubicBezTo>
                  <a:cubicBezTo>
                    <a:pt x="218" y="205"/>
                    <a:pt x="210" y="204"/>
                    <a:pt x="199" y="220"/>
                  </a:cubicBezTo>
                  <a:cubicBezTo>
                    <a:pt x="188" y="236"/>
                    <a:pt x="188" y="256"/>
                    <a:pt x="188" y="256"/>
                  </a:cubicBezTo>
                  <a:cubicBezTo>
                    <a:pt x="188" y="256"/>
                    <a:pt x="216" y="222"/>
                    <a:pt x="232" y="218"/>
                  </a:cubicBezTo>
                  <a:cubicBezTo>
                    <a:pt x="247" y="213"/>
                    <a:pt x="263" y="215"/>
                    <a:pt x="273" y="206"/>
                  </a:cubicBezTo>
                  <a:cubicBezTo>
                    <a:pt x="284" y="196"/>
                    <a:pt x="298" y="154"/>
                    <a:pt x="324" y="148"/>
                  </a:cubicBezTo>
                  <a:cubicBezTo>
                    <a:pt x="324" y="148"/>
                    <a:pt x="316" y="159"/>
                    <a:pt x="315" y="176"/>
                  </a:cubicBezTo>
                  <a:cubicBezTo>
                    <a:pt x="314" y="192"/>
                    <a:pt x="311" y="204"/>
                    <a:pt x="298" y="206"/>
                  </a:cubicBezTo>
                  <a:cubicBezTo>
                    <a:pt x="298" y="206"/>
                    <a:pt x="311" y="218"/>
                    <a:pt x="327" y="212"/>
                  </a:cubicBezTo>
                  <a:cubicBezTo>
                    <a:pt x="344" y="206"/>
                    <a:pt x="356" y="161"/>
                    <a:pt x="393" y="167"/>
                  </a:cubicBezTo>
                  <a:cubicBezTo>
                    <a:pt x="393" y="167"/>
                    <a:pt x="429" y="85"/>
                    <a:pt x="355" y="43"/>
                  </a:cubicBezTo>
                  <a:close/>
                </a:path>
              </a:pathLst>
            </a:custGeom>
            <a:solidFill>
              <a:srgbClr val="0C0A5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8" name="AutoShape 68"/>
            <p:cNvSpPr/>
            <p:nvPr/>
          </p:nvSpPr>
          <p:spPr>
            <a:xfrm>
              <a:off x="10060120" y="2076146"/>
              <a:ext cx="367442" cy="220110"/>
            </a:xfrm>
            <a:custGeom>
              <a:avLst/>
              <a:gdLst/>
              <a:ahLst/>
              <a:cxnLst/>
              <a:rect l="l" t="t" r="r" b="b"/>
              <a:pathLst>
                <a:path w="154" h="92">
                  <a:moveTo>
                    <a:pt x="0" y="92"/>
                  </a:moveTo>
                  <a:cubicBezTo>
                    <a:pt x="0" y="92"/>
                    <a:pt x="9" y="58"/>
                    <a:pt x="42" y="55"/>
                  </a:cubicBezTo>
                  <a:cubicBezTo>
                    <a:pt x="75" y="53"/>
                    <a:pt x="103" y="47"/>
                    <a:pt x="110" y="30"/>
                  </a:cubicBezTo>
                  <a:cubicBezTo>
                    <a:pt x="117" y="13"/>
                    <a:pt x="140" y="4"/>
                    <a:pt x="154" y="0"/>
                  </a:cubicBezTo>
                </a:path>
              </a:pathLst>
            </a:custGeom>
            <a:ln w="9525">
              <a:solidFill>
                <a:srgbClr val="100D7D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9" name="AutoShape 69"/>
            <p:cNvSpPr/>
            <p:nvPr/>
          </p:nvSpPr>
          <p:spPr>
            <a:xfrm>
              <a:off x="9918114" y="2060169"/>
              <a:ext cx="218335" cy="179284"/>
            </a:xfrm>
            <a:custGeom>
              <a:avLst/>
              <a:gdLst/>
              <a:ahLst/>
              <a:cxnLst/>
              <a:rect l="l" t="t" r="r" b="b"/>
              <a:pathLst>
                <a:path w="91" h="75">
                  <a:moveTo>
                    <a:pt x="8" y="75"/>
                  </a:moveTo>
                  <a:cubicBezTo>
                    <a:pt x="8" y="75"/>
                    <a:pt x="0" y="44"/>
                    <a:pt x="29" y="34"/>
                  </a:cubicBezTo>
                  <a:cubicBezTo>
                    <a:pt x="59" y="24"/>
                    <a:pt x="91" y="14"/>
                    <a:pt x="91" y="0"/>
                  </a:cubicBezTo>
                </a:path>
              </a:pathLst>
            </a:custGeom>
            <a:ln w="9525">
              <a:solidFill>
                <a:srgbClr val="100D7D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0" name="AutoShape 70"/>
            <p:cNvSpPr/>
            <p:nvPr/>
          </p:nvSpPr>
          <p:spPr>
            <a:xfrm>
              <a:off x="7576781" y="2887358"/>
              <a:ext cx="1918865" cy="1239008"/>
            </a:xfrm>
            <a:custGeom>
              <a:avLst/>
              <a:gdLst/>
              <a:ahLst/>
              <a:cxnLst/>
              <a:rect l="l" t="t" r="r" b="b"/>
              <a:pathLst>
                <a:path w="804" h="519">
                  <a:moveTo>
                    <a:pt x="778" y="519"/>
                  </a:moveTo>
                  <a:cubicBezTo>
                    <a:pt x="61" y="519"/>
                    <a:pt x="61" y="519"/>
                    <a:pt x="61" y="519"/>
                  </a:cubicBezTo>
                  <a:cubicBezTo>
                    <a:pt x="49" y="519"/>
                    <a:pt x="38" y="509"/>
                    <a:pt x="37" y="49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742" y="0"/>
                    <a:pt x="742" y="0"/>
                    <a:pt x="742" y="0"/>
                  </a:cubicBezTo>
                  <a:cubicBezTo>
                    <a:pt x="755" y="0"/>
                    <a:pt x="766" y="10"/>
                    <a:pt x="767" y="23"/>
                  </a:cubicBezTo>
                  <a:cubicBezTo>
                    <a:pt x="803" y="492"/>
                    <a:pt x="803" y="492"/>
                    <a:pt x="803" y="492"/>
                  </a:cubicBezTo>
                  <a:cubicBezTo>
                    <a:pt x="804" y="506"/>
                    <a:pt x="793" y="519"/>
                    <a:pt x="778" y="519"/>
                  </a:cubicBezTo>
                </a:path>
              </a:pathLst>
            </a:cu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1" name="AutoShape 71"/>
            <p:cNvSpPr/>
            <p:nvPr/>
          </p:nvSpPr>
          <p:spPr>
            <a:xfrm>
              <a:off x="8276163" y="3911580"/>
              <a:ext cx="81654" cy="214786"/>
            </a:xfrm>
            <a:custGeom>
              <a:avLst/>
              <a:gdLst/>
              <a:ahLst/>
              <a:cxnLst/>
              <a:rect l="l" t="t" r="r" b="b"/>
              <a:pathLst>
                <a:path w="46" h="120">
                  <a:moveTo>
                    <a:pt x="46" y="0"/>
                  </a:moveTo>
                  <a:lnTo>
                    <a:pt x="0" y="121"/>
                  </a:lnTo>
                  <a:lnTo>
                    <a:pt x="46" y="121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BDCCD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2" name="AutoShape 72"/>
            <p:cNvSpPr/>
            <p:nvPr/>
          </p:nvSpPr>
          <p:spPr>
            <a:xfrm>
              <a:off x="8276163" y="3911580"/>
              <a:ext cx="81654" cy="214786"/>
            </a:xfrm>
            <a:custGeom>
              <a:avLst/>
              <a:gdLst/>
              <a:ahLst/>
              <a:cxnLst/>
              <a:rect l="l" t="t" r="r" b="b"/>
              <a:pathLst>
                <a:path w="46" h="120">
                  <a:moveTo>
                    <a:pt x="46" y="0"/>
                  </a:moveTo>
                  <a:lnTo>
                    <a:pt x="0" y="121"/>
                  </a:lnTo>
                  <a:lnTo>
                    <a:pt x="46" y="121"/>
                  </a:lnTo>
                  <a:lnTo>
                    <a:pt x="46" y="0"/>
                  </a:lnTo>
                </a:path>
              </a:pathLst>
            </a:custGeom>
            <a:ln>
              <a:headEnd type="none"/>
              <a:tailEnd type="none"/>
            </a:ln>
          </p:spPr>
        </p:sp>
        <p:sp>
          <p:nvSpPr>
            <p:cNvPr id="73" name="AutoShape 73"/>
            <p:cNvSpPr/>
            <p:nvPr/>
          </p:nvSpPr>
          <p:spPr>
            <a:xfrm>
              <a:off x="8714608" y="3911580"/>
              <a:ext cx="120705" cy="214786"/>
            </a:xfrm>
            <a:custGeom>
              <a:avLst/>
              <a:gdLst/>
              <a:ahLst/>
              <a:cxnLst/>
              <a:rect l="l" t="t" r="r" b="b"/>
              <a:pathLst>
                <a:path w="68" h="120">
                  <a:moveTo>
                    <a:pt x="0" y="0"/>
                  </a:moveTo>
                  <a:lnTo>
                    <a:pt x="8" y="121"/>
                  </a:lnTo>
                  <a:lnTo>
                    <a:pt x="68" y="1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CCD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4" name="AutoShape 74"/>
            <p:cNvSpPr/>
            <p:nvPr/>
          </p:nvSpPr>
          <p:spPr>
            <a:xfrm>
              <a:off x="8714608" y="3911580"/>
              <a:ext cx="120705" cy="214786"/>
            </a:xfrm>
            <a:custGeom>
              <a:avLst/>
              <a:gdLst/>
              <a:ahLst/>
              <a:cxnLst/>
              <a:rect l="l" t="t" r="r" b="b"/>
              <a:pathLst>
                <a:path w="68" h="120">
                  <a:moveTo>
                    <a:pt x="0" y="0"/>
                  </a:moveTo>
                  <a:lnTo>
                    <a:pt x="8" y="121"/>
                  </a:lnTo>
                  <a:lnTo>
                    <a:pt x="68" y="121"/>
                  </a:lnTo>
                  <a:lnTo>
                    <a:pt x="0" y="0"/>
                  </a:lnTo>
                </a:path>
              </a:pathLst>
            </a:custGeom>
            <a:ln>
              <a:headEnd type="none"/>
              <a:tailEnd type="none"/>
            </a:ln>
          </p:spPr>
        </p:sp>
        <p:sp>
          <p:nvSpPr>
            <p:cNvPr id="75" name="AutoShape 75"/>
            <p:cNvSpPr/>
            <p:nvPr/>
          </p:nvSpPr>
          <p:spPr>
            <a:xfrm>
              <a:off x="8457222" y="3426982"/>
              <a:ext cx="157983" cy="157983"/>
            </a:xfrm>
            <a:custGeom>
              <a:avLst/>
              <a:gdLst/>
              <a:ahLst/>
              <a:cxnLst/>
              <a:rect l="l" t="t" r="r" b="b"/>
              <a:pathLst>
                <a:path w="66" h="66">
                  <a:moveTo>
                    <a:pt x="54" y="12"/>
                  </a:moveTo>
                  <a:cubicBezTo>
                    <a:pt x="66" y="24"/>
                    <a:pt x="66" y="43"/>
                    <a:pt x="54" y="55"/>
                  </a:cubicBezTo>
                  <a:cubicBezTo>
                    <a:pt x="42" y="66"/>
                    <a:pt x="23" y="66"/>
                    <a:pt x="12" y="55"/>
                  </a:cubicBezTo>
                  <a:cubicBezTo>
                    <a:pt x="0" y="43"/>
                    <a:pt x="0" y="24"/>
                    <a:pt x="12" y="12"/>
                  </a:cubicBezTo>
                  <a:cubicBezTo>
                    <a:pt x="23" y="0"/>
                    <a:pt x="42" y="0"/>
                    <a:pt x="54" y="12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6" name="AutoShape 76"/>
            <p:cNvSpPr/>
            <p:nvPr/>
          </p:nvSpPr>
          <p:spPr>
            <a:xfrm>
              <a:off x="8324089" y="3911580"/>
              <a:ext cx="424245" cy="513000"/>
            </a:xfrm>
            <a:custGeom>
              <a:avLst/>
              <a:gdLst/>
              <a:ahLst/>
              <a:cxnLst/>
              <a:rect l="l" t="t" r="r" b="b"/>
              <a:pathLst>
                <a:path w="239" h="289">
                  <a:moveTo>
                    <a:pt x="239" y="289"/>
                  </a:moveTo>
                  <a:lnTo>
                    <a:pt x="0" y="289"/>
                  </a:lnTo>
                  <a:lnTo>
                    <a:pt x="19" y="0"/>
                  </a:lnTo>
                  <a:lnTo>
                    <a:pt x="220" y="0"/>
                  </a:lnTo>
                  <a:lnTo>
                    <a:pt x="239" y="289"/>
                  </a:lnTo>
                  <a:close/>
                </a:path>
              </a:pathLst>
            </a:custGeom>
            <a:solidFill>
              <a:srgbClr val="91B8E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7" name="AutoShape 77"/>
            <p:cNvSpPr/>
            <p:nvPr/>
          </p:nvSpPr>
          <p:spPr>
            <a:xfrm>
              <a:off x="8139481" y="4408604"/>
              <a:ext cx="789913" cy="113606"/>
            </a:xfrm>
            <a:custGeom>
              <a:avLst/>
              <a:gdLst/>
              <a:ahLst/>
              <a:cxnLst/>
              <a:rect l="l" t="t" r="r" b="b"/>
              <a:pathLst>
                <a:path w="331" h="48">
                  <a:moveTo>
                    <a:pt x="331" y="48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310" y="0"/>
                    <a:pt x="331" y="22"/>
                    <a:pt x="331" y="48"/>
                  </a:cubicBezTo>
                  <a:close/>
                </a:path>
              </a:pathLst>
            </a:cu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8" name="AutoShape 78"/>
            <p:cNvSpPr/>
            <p:nvPr/>
          </p:nvSpPr>
          <p:spPr>
            <a:xfrm>
              <a:off x="9080275" y="4460080"/>
              <a:ext cx="797012" cy="69229"/>
            </a:xfrm>
            <a:prstGeom prst="rect">
              <a:avLst/>
            </a:pr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9" name="AutoShape 79"/>
            <p:cNvSpPr/>
            <p:nvPr/>
          </p:nvSpPr>
          <p:spPr>
            <a:xfrm>
              <a:off x="9106902" y="4442330"/>
              <a:ext cx="140232" cy="30177"/>
            </a:xfrm>
            <a:prstGeom prst="rect">
              <a:avLst/>
            </a:pr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0" name="AutoShape 80"/>
            <p:cNvSpPr/>
            <p:nvPr/>
          </p:nvSpPr>
          <p:spPr>
            <a:xfrm>
              <a:off x="9257784" y="4442330"/>
              <a:ext cx="140232" cy="30177"/>
            </a:xfrm>
            <a:prstGeom prst="rect">
              <a:avLst/>
            </a:pr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1" name="AutoShape 81"/>
            <p:cNvSpPr/>
            <p:nvPr/>
          </p:nvSpPr>
          <p:spPr>
            <a:xfrm>
              <a:off x="9406890" y="4442330"/>
              <a:ext cx="143782" cy="30177"/>
            </a:xfrm>
            <a:prstGeom prst="rect">
              <a:avLst/>
            </a:pr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2" name="AutoShape 82"/>
            <p:cNvSpPr/>
            <p:nvPr/>
          </p:nvSpPr>
          <p:spPr>
            <a:xfrm>
              <a:off x="9559548" y="4442330"/>
              <a:ext cx="142007" cy="30177"/>
            </a:xfrm>
            <a:prstGeom prst="rect">
              <a:avLst/>
            </a:pr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3" name="AutoShape 83"/>
            <p:cNvSpPr/>
            <p:nvPr/>
          </p:nvSpPr>
          <p:spPr>
            <a:xfrm>
              <a:off x="9710430" y="4442330"/>
              <a:ext cx="142007" cy="30177"/>
            </a:xfrm>
            <a:prstGeom prst="rect">
              <a:avLst/>
            </a:pr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grpSp>
          <p:nvGrpSpPr>
            <p:cNvPr id="84" name="Group 84"/>
            <p:cNvGrpSpPr/>
            <p:nvPr/>
          </p:nvGrpSpPr>
          <p:grpSpPr>
            <a:xfrm rot="20520000">
              <a:off x="9801702" y="982368"/>
              <a:ext cx="1065050" cy="745535"/>
              <a:chOff x="7074431" y="2665473"/>
              <a:chExt cx="1065050" cy="745535"/>
            </a:xfrm>
          </p:grpSpPr>
          <p:sp>
            <p:nvSpPr>
              <p:cNvPr id="85" name="AutoShape 85"/>
              <p:cNvSpPr/>
              <p:nvPr/>
            </p:nvSpPr>
            <p:spPr>
              <a:xfrm>
                <a:off x="7074431" y="2665473"/>
                <a:ext cx="1065050" cy="745535"/>
              </a:xfrm>
              <a:custGeom>
                <a:avLst/>
                <a:gdLst/>
                <a:ahLst/>
                <a:cxnLst/>
                <a:rect l="l" t="t" r="r" b="b"/>
                <a:pathLst>
                  <a:path w="446" h="312">
                    <a:moveTo>
                      <a:pt x="414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14" y="0"/>
                      <a:pt x="0" y="14"/>
                      <a:pt x="0" y="32"/>
                    </a:cubicBezTo>
                    <a:cubicBezTo>
                      <a:pt x="0" y="215"/>
                      <a:pt x="0" y="215"/>
                      <a:pt x="0" y="215"/>
                    </a:cubicBezTo>
                    <a:cubicBezTo>
                      <a:pt x="0" y="232"/>
                      <a:pt x="14" y="246"/>
                      <a:pt x="32" y="246"/>
                    </a:cubicBezTo>
                    <a:cubicBezTo>
                      <a:pt x="44" y="246"/>
                      <a:pt x="44" y="246"/>
                      <a:pt x="44" y="246"/>
                    </a:cubicBezTo>
                    <a:cubicBezTo>
                      <a:pt x="53" y="312"/>
                      <a:pt x="53" y="312"/>
                      <a:pt x="53" y="312"/>
                    </a:cubicBezTo>
                    <a:cubicBezTo>
                      <a:pt x="98" y="246"/>
                      <a:pt x="98" y="246"/>
                      <a:pt x="98" y="246"/>
                    </a:cubicBezTo>
                    <a:cubicBezTo>
                      <a:pt x="414" y="246"/>
                      <a:pt x="414" y="246"/>
                      <a:pt x="414" y="246"/>
                    </a:cubicBezTo>
                    <a:cubicBezTo>
                      <a:pt x="432" y="246"/>
                      <a:pt x="446" y="232"/>
                      <a:pt x="446" y="215"/>
                    </a:cubicBezTo>
                    <a:cubicBezTo>
                      <a:pt x="446" y="32"/>
                      <a:pt x="446" y="32"/>
                      <a:pt x="446" y="32"/>
                    </a:cubicBezTo>
                    <a:cubicBezTo>
                      <a:pt x="446" y="14"/>
                      <a:pt x="432" y="0"/>
                      <a:pt x="414" y="0"/>
                    </a:cubicBezTo>
                    <a:close/>
                  </a:path>
                </a:pathLst>
              </a:custGeom>
              <a:solidFill>
                <a:srgbClr val="A5D1FE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86" name="AutoShape 86"/>
              <p:cNvSpPr/>
              <p:nvPr/>
            </p:nvSpPr>
            <p:spPr>
              <a:xfrm>
                <a:off x="7377971" y="2919309"/>
                <a:ext cx="83429" cy="83429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87" name="AutoShape 87"/>
              <p:cNvSpPr/>
              <p:nvPr/>
            </p:nvSpPr>
            <p:spPr>
              <a:xfrm>
                <a:off x="7566130" y="2919309"/>
                <a:ext cx="81654" cy="83429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88" name="AutoShape 88"/>
              <p:cNvSpPr/>
              <p:nvPr/>
            </p:nvSpPr>
            <p:spPr>
              <a:xfrm>
                <a:off x="7752513" y="2919309"/>
                <a:ext cx="83429" cy="83429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ln w="3175">
            <a:solidFill>
              <a:srgbClr val="000000">
                <a:alpha val="100000"/>
              </a:srgbClr>
            </a:solidFill>
            <a:prstDash val="solid"/>
            <a:headEnd type="none"/>
            <a:tailEnd type="none"/>
          </a:ln>
        </p:spPr>
      </p:cxnSp>
      <p:sp>
        <p:nvSpPr>
          <p:cNvPr id="3" name="AutoShape 3"/>
          <p:cNvSpPr/>
          <p:nvPr/>
        </p:nvSpPr>
        <p:spPr>
          <a:xfrm>
            <a:off x="2626456" y="5219207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 flipH="1">
            <a:off x="285356" y="2337458"/>
            <a:ext cx="6521054" cy="3898242"/>
            <a:chOff x="5862937" y="982368"/>
            <a:chExt cx="5966054" cy="3566467"/>
          </a:xfrm>
        </p:grpSpPr>
        <p:sp>
          <p:nvSpPr>
            <p:cNvPr id="3" name="AutoShape 3"/>
            <p:cNvSpPr/>
            <p:nvPr/>
          </p:nvSpPr>
          <p:spPr>
            <a:xfrm>
              <a:off x="5862937" y="1231206"/>
              <a:ext cx="5966054" cy="3291003"/>
            </a:xfrm>
            <a:custGeom>
              <a:avLst/>
              <a:gdLst/>
              <a:ahLst/>
              <a:cxnLst/>
              <a:rect l="l" t="t" r="r" b="b"/>
              <a:pathLst>
                <a:path w="2499" h="1379">
                  <a:moveTo>
                    <a:pt x="298" y="1379"/>
                  </a:moveTo>
                  <a:cubicBezTo>
                    <a:pt x="298" y="1379"/>
                    <a:pt x="744" y="1164"/>
                    <a:pt x="552" y="967"/>
                  </a:cubicBezTo>
                  <a:cubicBezTo>
                    <a:pt x="361" y="770"/>
                    <a:pt x="0" y="79"/>
                    <a:pt x="308" y="26"/>
                  </a:cubicBezTo>
                  <a:cubicBezTo>
                    <a:pt x="455" y="0"/>
                    <a:pt x="564" y="95"/>
                    <a:pt x="673" y="191"/>
                  </a:cubicBezTo>
                  <a:cubicBezTo>
                    <a:pt x="790" y="294"/>
                    <a:pt x="907" y="397"/>
                    <a:pt x="1071" y="346"/>
                  </a:cubicBezTo>
                  <a:cubicBezTo>
                    <a:pt x="1385" y="246"/>
                    <a:pt x="1629" y="38"/>
                    <a:pt x="1897" y="228"/>
                  </a:cubicBezTo>
                  <a:cubicBezTo>
                    <a:pt x="2203" y="444"/>
                    <a:pt x="1762" y="780"/>
                    <a:pt x="1958" y="880"/>
                  </a:cubicBezTo>
                  <a:cubicBezTo>
                    <a:pt x="2155" y="980"/>
                    <a:pt x="2487" y="1181"/>
                    <a:pt x="2499" y="1379"/>
                  </a:cubicBezTo>
                  <a:cubicBezTo>
                    <a:pt x="298" y="1379"/>
                    <a:pt x="298" y="1379"/>
                    <a:pt x="298" y="1379"/>
                  </a:cubicBezTo>
                </a:path>
              </a:pathLst>
            </a:custGeom>
            <a:solidFill>
              <a:srgbClr val="5DCBC2">
                <a:alpha val="3137"/>
              </a:srgbClr>
            </a:solidFill>
            <a:ln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8845964" y="1131801"/>
              <a:ext cx="342591" cy="305314"/>
            </a:xfrm>
            <a:prstGeom prst="ellipse">
              <a:avLst/>
            </a:prstGeom>
            <a:solidFill>
              <a:srgbClr val="EEF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0526968" y="1227655"/>
              <a:ext cx="227210" cy="202359"/>
            </a:xfrm>
            <a:prstGeom prst="ellipse">
              <a:avLst/>
            </a:prstGeom>
            <a:solidFill>
              <a:srgbClr val="EEF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6735391" y="3966608"/>
              <a:ext cx="328391" cy="291114"/>
            </a:xfrm>
            <a:prstGeom prst="ellipse">
              <a:avLst/>
            </a:prstGeom>
            <a:solidFill>
              <a:srgbClr val="EEF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7424123" y="3600941"/>
              <a:ext cx="140232" cy="127806"/>
            </a:xfrm>
            <a:prstGeom prst="ellipse">
              <a:avLst/>
            </a:prstGeom>
            <a:solidFill>
              <a:srgbClr val="EEF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9312812" y="1603973"/>
              <a:ext cx="138456" cy="124256"/>
            </a:xfrm>
            <a:prstGeom prst="ellipse">
              <a:avLst/>
            </a:prstGeom>
            <a:solidFill>
              <a:srgbClr val="EEF6FF">
                <a:alpha val="100000"/>
              </a:srgbClr>
            </a:solidFill>
            <a:ln>
              <a:headEnd type="none"/>
              <a:tailEnd type="none"/>
            </a:ln>
          </p:spPr>
        </p:sp>
        <p:grpSp>
          <p:nvGrpSpPr>
            <p:cNvPr id="9" name="Group 9"/>
            <p:cNvGrpSpPr/>
            <p:nvPr/>
          </p:nvGrpSpPr>
          <p:grpSpPr>
            <a:xfrm rot="0">
              <a:off x="11116296" y="2792392"/>
              <a:ext cx="631929" cy="516550"/>
              <a:chOff x="12441473" y="3283201"/>
              <a:chExt cx="631929" cy="516550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12441473" y="3283201"/>
                <a:ext cx="631929" cy="516550"/>
              </a:xfrm>
              <a:custGeom>
                <a:avLst/>
                <a:gdLst/>
                <a:ahLst/>
                <a:cxnLst/>
                <a:rect l="l" t="t" r="r" b="b"/>
                <a:pathLst>
                  <a:path w="265" h="216">
                    <a:moveTo>
                      <a:pt x="36" y="1"/>
                    </a:moveTo>
                    <a:cubicBezTo>
                      <a:pt x="247" y="26"/>
                      <a:pt x="247" y="26"/>
                      <a:pt x="247" y="26"/>
                    </a:cubicBezTo>
                    <a:cubicBezTo>
                      <a:pt x="257" y="27"/>
                      <a:pt x="265" y="37"/>
                      <a:pt x="264" y="47"/>
                    </a:cubicBezTo>
                    <a:cubicBezTo>
                      <a:pt x="251" y="160"/>
                      <a:pt x="251" y="160"/>
                      <a:pt x="251" y="160"/>
                    </a:cubicBezTo>
                    <a:cubicBezTo>
                      <a:pt x="250" y="171"/>
                      <a:pt x="240" y="178"/>
                      <a:pt x="229" y="177"/>
                    </a:cubicBezTo>
                    <a:cubicBezTo>
                      <a:pt x="222" y="176"/>
                      <a:pt x="222" y="176"/>
                      <a:pt x="222" y="176"/>
                    </a:cubicBezTo>
                    <a:cubicBezTo>
                      <a:pt x="211" y="216"/>
                      <a:pt x="211" y="216"/>
                      <a:pt x="211" y="216"/>
                    </a:cubicBezTo>
                    <a:cubicBezTo>
                      <a:pt x="188" y="172"/>
                      <a:pt x="188" y="172"/>
                      <a:pt x="188" y="172"/>
                    </a:cubicBezTo>
                    <a:cubicBezTo>
                      <a:pt x="18" y="153"/>
                      <a:pt x="18" y="153"/>
                      <a:pt x="18" y="153"/>
                    </a:cubicBezTo>
                    <a:cubicBezTo>
                      <a:pt x="8" y="151"/>
                      <a:pt x="0" y="142"/>
                      <a:pt x="1" y="131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8"/>
                      <a:pt x="25" y="0"/>
                      <a:pt x="36" y="1"/>
                    </a:cubicBezTo>
                    <a:close/>
                  </a:path>
                </a:pathLst>
              </a:custGeom>
              <a:solidFill>
                <a:srgbClr val="5DCBC2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1" name="AutoShape 11"/>
              <p:cNvSpPr/>
              <p:nvPr/>
            </p:nvSpPr>
            <p:spPr>
              <a:xfrm>
                <a:off x="12846193" y="3482011"/>
                <a:ext cx="53252" cy="55028"/>
              </a:xfrm>
              <a:custGeom>
                <a:avLst/>
                <a:gdLst/>
                <a:ahLst/>
                <a:cxnLst/>
                <a:rect l="l" t="t" r="r" b="b"/>
                <a:pathLst>
                  <a:path w="22" h="23">
                    <a:moveTo>
                      <a:pt x="0" y="11"/>
                    </a:moveTo>
                    <a:cubicBezTo>
                      <a:pt x="0" y="16"/>
                      <a:pt x="4" y="22"/>
                      <a:pt x="10" y="22"/>
                    </a:cubicBezTo>
                    <a:cubicBezTo>
                      <a:pt x="16" y="23"/>
                      <a:pt x="21" y="19"/>
                      <a:pt x="22" y="13"/>
                    </a:cubicBezTo>
                    <a:cubicBezTo>
                      <a:pt x="22" y="7"/>
                      <a:pt x="18" y="2"/>
                      <a:pt x="12" y="1"/>
                    </a:cubicBezTo>
                    <a:cubicBezTo>
                      <a:pt x="6" y="0"/>
                      <a:pt x="1" y="5"/>
                      <a:pt x="0" y="1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12729037" y="3469584"/>
                <a:ext cx="55028" cy="53252"/>
              </a:xfrm>
              <a:custGeom>
                <a:avLst/>
                <a:gdLst/>
                <a:ahLst/>
                <a:cxnLst/>
                <a:rect l="l" t="t" r="r" b="b"/>
                <a:pathLst>
                  <a:path w="23" h="22">
                    <a:moveTo>
                      <a:pt x="1" y="10"/>
                    </a:moveTo>
                    <a:cubicBezTo>
                      <a:pt x="0" y="16"/>
                      <a:pt x="4" y="21"/>
                      <a:pt x="10" y="22"/>
                    </a:cubicBezTo>
                    <a:cubicBezTo>
                      <a:pt x="16" y="22"/>
                      <a:pt x="22" y="18"/>
                      <a:pt x="22" y="12"/>
                    </a:cubicBezTo>
                    <a:cubicBezTo>
                      <a:pt x="23" y="6"/>
                      <a:pt x="19" y="1"/>
                      <a:pt x="13" y="0"/>
                    </a:cubicBezTo>
                    <a:cubicBezTo>
                      <a:pt x="7" y="0"/>
                      <a:pt x="2" y="4"/>
                      <a:pt x="1" y="1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/>
            </p:nvSpPr>
            <p:spPr>
              <a:xfrm>
                <a:off x="12615432" y="3455384"/>
                <a:ext cx="55028" cy="55028"/>
              </a:xfrm>
              <a:custGeom>
                <a:avLst/>
                <a:gdLst/>
                <a:ahLst/>
                <a:cxnLst/>
                <a:rect l="l" t="t" r="r" b="b"/>
                <a:pathLst>
                  <a:path w="23" h="23">
                    <a:moveTo>
                      <a:pt x="1" y="10"/>
                    </a:moveTo>
                    <a:cubicBezTo>
                      <a:pt x="0" y="16"/>
                      <a:pt x="4" y="22"/>
                      <a:pt x="10" y="22"/>
                    </a:cubicBezTo>
                    <a:cubicBezTo>
                      <a:pt x="16" y="23"/>
                      <a:pt x="21" y="19"/>
                      <a:pt x="22" y="13"/>
                    </a:cubicBezTo>
                    <a:cubicBezTo>
                      <a:pt x="23" y="7"/>
                      <a:pt x="18" y="2"/>
                      <a:pt x="13" y="1"/>
                    </a:cubicBezTo>
                    <a:cubicBezTo>
                      <a:pt x="7" y="0"/>
                      <a:pt x="1" y="4"/>
                      <a:pt x="1" y="1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</p:grpSp>
        <p:sp>
          <p:nvSpPr>
            <p:cNvPr id="14" name="AutoShape 14"/>
            <p:cNvSpPr/>
            <p:nvPr/>
          </p:nvSpPr>
          <p:spPr>
            <a:xfrm>
              <a:off x="8915193" y="2777302"/>
              <a:ext cx="2469141" cy="1771533"/>
            </a:xfrm>
            <a:custGeom>
              <a:avLst/>
              <a:gdLst/>
              <a:ahLst/>
              <a:cxnLst/>
              <a:rect l="l" t="t" r="r" b="b"/>
              <a:pathLst>
                <a:path w="1034" h="742">
                  <a:moveTo>
                    <a:pt x="1007" y="408"/>
                  </a:moveTo>
                  <a:cubicBezTo>
                    <a:pt x="969" y="343"/>
                    <a:pt x="893" y="282"/>
                    <a:pt x="842" y="234"/>
                  </a:cubicBezTo>
                  <a:cubicBezTo>
                    <a:pt x="767" y="163"/>
                    <a:pt x="680" y="171"/>
                    <a:pt x="680" y="171"/>
                  </a:cubicBezTo>
                  <a:cubicBezTo>
                    <a:pt x="588" y="163"/>
                    <a:pt x="588" y="163"/>
                    <a:pt x="588" y="163"/>
                  </a:cubicBezTo>
                  <a:cubicBezTo>
                    <a:pt x="588" y="163"/>
                    <a:pt x="547" y="163"/>
                    <a:pt x="420" y="154"/>
                  </a:cubicBezTo>
                  <a:cubicBezTo>
                    <a:pt x="309" y="146"/>
                    <a:pt x="130" y="34"/>
                    <a:pt x="83" y="4"/>
                  </a:cubicBezTo>
                  <a:cubicBezTo>
                    <a:pt x="76" y="0"/>
                    <a:pt x="67" y="0"/>
                    <a:pt x="61" y="5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4" y="42"/>
                    <a:pt x="0" y="54"/>
                    <a:pt x="5" y="63"/>
                  </a:cubicBezTo>
                  <a:cubicBezTo>
                    <a:pt x="39" y="127"/>
                    <a:pt x="102" y="176"/>
                    <a:pt x="172" y="215"/>
                  </a:cubicBezTo>
                  <a:cubicBezTo>
                    <a:pt x="220" y="240"/>
                    <a:pt x="270" y="261"/>
                    <a:pt x="316" y="276"/>
                  </a:cubicBezTo>
                  <a:cubicBezTo>
                    <a:pt x="316" y="276"/>
                    <a:pt x="316" y="276"/>
                    <a:pt x="316" y="276"/>
                  </a:cubicBezTo>
                  <a:cubicBezTo>
                    <a:pt x="410" y="308"/>
                    <a:pt x="488" y="321"/>
                    <a:pt x="488" y="321"/>
                  </a:cubicBezTo>
                  <a:cubicBezTo>
                    <a:pt x="452" y="579"/>
                    <a:pt x="467" y="742"/>
                    <a:pt x="467" y="742"/>
                  </a:cubicBezTo>
                  <a:cubicBezTo>
                    <a:pt x="840" y="742"/>
                    <a:pt x="840" y="742"/>
                    <a:pt x="840" y="742"/>
                  </a:cubicBezTo>
                  <a:cubicBezTo>
                    <a:pt x="832" y="687"/>
                    <a:pt x="832" y="687"/>
                    <a:pt x="832" y="687"/>
                  </a:cubicBezTo>
                  <a:cubicBezTo>
                    <a:pt x="832" y="687"/>
                    <a:pt x="957" y="629"/>
                    <a:pt x="1009" y="552"/>
                  </a:cubicBezTo>
                  <a:cubicBezTo>
                    <a:pt x="1020" y="536"/>
                    <a:pt x="1028" y="518"/>
                    <a:pt x="1030" y="500"/>
                  </a:cubicBezTo>
                  <a:cubicBezTo>
                    <a:pt x="1034" y="469"/>
                    <a:pt x="1025" y="438"/>
                    <a:pt x="1007" y="408"/>
                  </a:cubicBezTo>
                  <a:moveTo>
                    <a:pt x="914" y="476"/>
                  </a:moveTo>
                  <a:cubicBezTo>
                    <a:pt x="907" y="534"/>
                    <a:pt x="817" y="579"/>
                    <a:pt x="817" y="579"/>
                  </a:cubicBezTo>
                  <a:cubicBezTo>
                    <a:pt x="817" y="372"/>
                    <a:pt x="817" y="372"/>
                    <a:pt x="817" y="372"/>
                  </a:cubicBezTo>
                  <a:cubicBezTo>
                    <a:pt x="817" y="372"/>
                    <a:pt x="921" y="418"/>
                    <a:pt x="914" y="476"/>
                  </a:cubicBezTo>
                </a:path>
              </a:pathLst>
            </a:custGeom>
            <a:solidFill>
              <a:srgbClr val="63A4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8423494" y="1618174"/>
              <a:ext cx="1320661" cy="1065050"/>
            </a:xfrm>
            <a:custGeom>
              <a:avLst/>
              <a:gdLst/>
              <a:ahLst/>
              <a:cxnLst/>
              <a:rect l="l" t="t" r="r" b="b"/>
              <a:pathLst>
                <a:path w="553" h="446">
                  <a:moveTo>
                    <a:pt x="532" y="446"/>
                  </a:moveTo>
                  <a:cubicBezTo>
                    <a:pt x="20" y="446"/>
                    <a:pt x="20" y="446"/>
                    <a:pt x="20" y="446"/>
                  </a:cubicBezTo>
                  <a:cubicBezTo>
                    <a:pt x="9" y="446"/>
                    <a:pt x="0" y="437"/>
                    <a:pt x="0" y="425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532" y="0"/>
                    <a:pt x="532" y="0"/>
                    <a:pt x="532" y="0"/>
                  </a:cubicBezTo>
                  <a:cubicBezTo>
                    <a:pt x="543" y="0"/>
                    <a:pt x="553" y="9"/>
                    <a:pt x="553" y="20"/>
                  </a:cubicBezTo>
                  <a:cubicBezTo>
                    <a:pt x="553" y="425"/>
                    <a:pt x="553" y="425"/>
                    <a:pt x="553" y="425"/>
                  </a:cubicBezTo>
                  <a:cubicBezTo>
                    <a:pt x="553" y="437"/>
                    <a:pt x="543" y="446"/>
                    <a:pt x="532" y="446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8423494" y="1618174"/>
              <a:ext cx="1320661" cy="1065050"/>
            </a:xfrm>
            <a:custGeom>
              <a:avLst/>
              <a:gdLst/>
              <a:ahLst/>
              <a:cxnLst/>
              <a:rect l="l" t="t" r="r" b="b"/>
              <a:pathLst>
                <a:path w="553" h="446">
                  <a:moveTo>
                    <a:pt x="532" y="446"/>
                  </a:moveTo>
                  <a:cubicBezTo>
                    <a:pt x="20" y="446"/>
                    <a:pt x="20" y="446"/>
                    <a:pt x="20" y="446"/>
                  </a:cubicBezTo>
                  <a:cubicBezTo>
                    <a:pt x="9" y="446"/>
                    <a:pt x="0" y="437"/>
                    <a:pt x="0" y="425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532" y="0"/>
                    <a:pt x="532" y="0"/>
                    <a:pt x="532" y="0"/>
                  </a:cubicBezTo>
                  <a:cubicBezTo>
                    <a:pt x="543" y="0"/>
                    <a:pt x="553" y="9"/>
                    <a:pt x="553" y="20"/>
                  </a:cubicBezTo>
                  <a:cubicBezTo>
                    <a:pt x="553" y="425"/>
                    <a:pt x="553" y="425"/>
                    <a:pt x="553" y="425"/>
                  </a:cubicBezTo>
                  <a:cubicBezTo>
                    <a:pt x="553" y="437"/>
                    <a:pt x="543" y="446"/>
                    <a:pt x="532" y="446"/>
                  </a:cubicBezTo>
                  <a:close/>
                </a:path>
              </a:pathLst>
            </a:custGeom>
            <a:ln w="9525">
              <a:solidFill>
                <a:srgbClr val="C5D5E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8332966" y="1570246"/>
              <a:ext cx="1320661" cy="1065050"/>
            </a:xfrm>
            <a:custGeom>
              <a:avLst/>
              <a:gdLst/>
              <a:ahLst/>
              <a:cxnLst/>
              <a:rect l="l" t="t" r="r" b="b"/>
              <a:pathLst>
                <a:path w="553" h="446">
                  <a:moveTo>
                    <a:pt x="532" y="446"/>
                  </a:moveTo>
                  <a:cubicBezTo>
                    <a:pt x="21" y="446"/>
                    <a:pt x="21" y="446"/>
                    <a:pt x="21" y="446"/>
                  </a:cubicBezTo>
                  <a:cubicBezTo>
                    <a:pt x="9" y="446"/>
                    <a:pt x="0" y="437"/>
                    <a:pt x="0" y="42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532" y="0"/>
                    <a:pt x="532" y="0"/>
                    <a:pt x="532" y="0"/>
                  </a:cubicBezTo>
                  <a:cubicBezTo>
                    <a:pt x="544" y="0"/>
                    <a:pt x="553" y="9"/>
                    <a:pt x="553" y="20"/>
                  </a:cubicBezTo>
                  <a:cubicBezTo>
                    <a:pt x="553" y="426"/>
                    <a:pt x="553" y="426"/>
                    <a:pt x="553" y="426"/>
                  </a:cubicBezTo>
                  <a:cubicBezTo>
                    <a:pt x="553" y="437"/>
                    <a:pt x="544" y="446"/>
                    <a:pt x="532" y="446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8332966" y="1570246"/>
              <a:ext cx="1320661" cy="1065050"/>
            </a:xfrm>
            <a:custGeom>
              <a:avLst/>
              <a:gdLst/>
              <a:ahLst/>
              <a:cxnLst/>
              <a:rect l="l" t="t" r="r" b="b"/>
              <a:pathLst>
                <a:path w="553" h="446">
                  <a:moveTo>
                    <a:pt x="532" y="446"/>
                  </a:moveTo>
                  <a:cubicBezTo>
                    <a:pt x="21" y="446"/>
                    <a:pt x="21" y="446"/>
                    <a:pt x="21" y="446"/>
                  </a:cubicBezTo>
                  <a:cubicBezTo>
                    <a:pt x="9" y="446"/>
                    <a:pt x="0" y="437"/>
                    <a:pt x="0" y="42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532" y="0"/>
                    <a:pt x="532" y="0"/>
                    <a:pt x="532" y="0"/>
                  </a:cubicBezTo>
                  <a:cubicBezTo>
                    <a:pt x="544" y="0"/>
                    <a:pt x="553" y="9"/>
                    <a:pt x="553" y="20"/>
                  </a:cubicBezTo>
                  <a:cubicBezTo>
                    <a:pt x="553" y="426"/>
                    <a:pt x="553" y="426"/>
                    <a:pt x="553" y="426"/>
                  </a:cubicBezTo>
                  <a:cubicBezTo>
                    <a:pt x="553" y="437"/>
                    <a:pt x="544" y="446"/>
                    <a:pt x="532" y="446"/>
                  </a:cubicBezTo>
                  <a:close/>
                </a:path>
              </a:pathLst>
            </a:custGeom>
            <a:ln w="9525">
              <a:solidFill>
                <a:srgbClr val="C5D5E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8498048" y="1717579"/>
              <a:ext cx="179284" cy="179284"/>
            </a:xfrm>
            <a:prstGeom prst="ellipse">
              <a:avLst/>
            </a:prstGeom>
            <a:solidFill>
              <a:srgbClr val="D1E7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8474973" y="1976741"/>
              <a:ext cx="225436" cy="463298"/>
            </a:xfrm>
            <a:prstGeom prst="rect">
              <a:avLst/>
            </a:prstGeom>
            <a:solidFill>
              <a:srgbClr val="D1E7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8904542" y="1717579"/>
              <a:ext cx="177508" cy="179284"/>
            </a:xfrm>
            <a:prstGeom prst="ellipse">
              <a:avLst/>
            </a:prstGeom>
            <a:solidFill>
              <a:srgbClr val="5DCBC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8879691" y="1976741"/>
              <a:ext cx="227210" cy="463298"/>
            </a:xfrm>
            <a:prstGeom prst="rect">
              <a:avLst/>
            </a:prstGeom>
            <a:solidFill>
              <a:srgbClr val="5DCBC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9309261" y="1717579"/>
              <a:ext cx="179284" cy="179284"/>
            </a:xfrm>
            <a:prstGeom prst="ellipse">
              <a:avLst/>
            </a:prstGeom>
            <a:solidFill>
              <a:srgbClr val="D1E7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9286185" y="1976741"/>
              <a:ext cx="227210" cy="463298"/>
            </a:xfrm>
            <a:prstGeom prst="rect">
              <a:avLst/>
            </a:prstGeom>
            <a:solidFill>
              <a:srgbClr val="D1E7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8373792" y="2170224"/>
              <a:ext cx="40827" cy="76329"/>
            </a:xfrm>
            <a:custGeom>
              <a:avLst/>
              <a:gdLst/>
              <a:ahLst/>
              <a:cxnLst/>
              <a:rect l="l" t="t" r="r" b="b"/>
              <a:pathLst>
                <a:path w="23" h="43">
                  <a:moveTo>
                    <a:pt x="22" y="0"/>
                  </a:moveTo>
                  <a:lnTo>
                    <a:pt x="0" y="21"/>
                  </a:lnTo>
                  <a:lnTo>
                    <a:pt x="23" y="43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5DCBC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9564873" y="2170224"/>
              <a:ext cx="40827" cy="76329"/>
            </a:xfrm>
            <a:custGeom>
              <a:avLst/>
              <a:gdLst/>
              <a:ahLst/>
              <a:cxnLst/>
              <a:rect l="l" t="t" r="r" b="b"/>
              <a:pathLst>
                <a:path w="23" h="43">
                  <a:moveTo>
                    <a:pt x="2" y="0"/>
                  </a:moveTo>
                  <a:lnTo>
                    <a:pt x="23" y="21"/>
                  </a:lnTo>
                  <a:lnTo>
                    <a:pt x="0" y="4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5DCBC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8758986" y="2498615"/>
              <a:ext cx="315965" cy="386968"/>
            </a:xfrm>
            <a:custGeom>
              <a:avLst/>
              <a:gdLst/>
              <a:ahLst/>
              <a:cxnLst/>
              <a:rect l="l" t="t" r="r" b="b"/>
              <a:pathLst>
                <a:path w="133" h="162">
                  <a:moveTo>
                    <a:pt x="133" y="128"/>
                  </a:moveTo>
                  <a:cubicBezTo>
                    <a:pt x="133" y="128"/>
                    <a:pt x="96" y="0"/>
                    <a:pt x="80" y="3"/>
                  </a:cubicBezTo>
                  <a:cubicBezTo>
                    <a:pt x="63" y="6"/>
                    <a:pt x="80" y="60"/>
                    <a:pt x="80" y="60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59"/>
                    <a:pt x="60" y="146"/>
                    <a:pt x="84" y="162"/>
                  </a:cubicBezTo>
                  <a:lnTo>
                    <a:pt x="133" y="128"/>
                  </a:lnTo>
                  <a:close/>
                </a:path>
              </a:pathLst>
            </a:custGeom>
            <a:solidFill>
              <a:srgbClr val="FFACB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10594421" y="4140566"/>
              <a:ext cx="326615" cy="408269"/>
            </a:xfrm>
            <a:custGeom>
              <a:avLst/>
              <a:gdLst/>
              <a:ahLst/>
              <a:cxnLst/>
              <a:rect l="l" t="t" r="r" b="b"/>
              <a:pathLst>
                <a:path w="184" h="230">
                  <a:moveTo>
                    <a:pt x="25" y="0"/>
                  </a:moveTo>
                  <a:lnTo>
                    <a:pt x="0" y="223"/>
                  </a:lnTo>
                  <a:lnTo>
                    <a:pt x="184" y="23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4F87E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10594421" y="4140566"/>
              <a:ext cx="326615" cy="408269"/>
            </a:xfrm>
            <a:custGeom>
              <a:avLst/>
              <a:gdLst/>
              <a:ahLst/>
              <a:cxnLst/>
              <a:rect l="l" t="t" r="r" b="b"/>
              <a:pathLst>
                <a:path w="184" h="230">
                  <a:moveTo>
                    <a:pt x="25" y="0"/>
                  </a:moveTo>
                  <a:lnTo>
                    <a:pt x="0" y="223"/>
                  </a:lnTo>
                  <a:lnTo>
                    <a:pt x="184" y="230"/>
                  </a:lnTo>
                  <a:lnTo>
                    <a:pt x="25" y="0"/>
                  </a:lnTo>
                </a:path>
              </a:pathLst>
            </a:custGeom>
            <a:ln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9406890" y="2963686"/>
              <a:ext cx="189934" cy="447321"/>
            </a:xfrm>
            <a:custGeom>
              <a:avLst/>
              <a:gdLst/>
              <a:ahLst/>
              <a:cxnLst/>
              <a:rect l="l" t="t" r="r" b="b"/>
              <a:pathLst>
                <a:path w="107" h="251">
                  <a:moveTo>
                    <a:pt x="0" y="0"/>
                  </a:moveTo>
                  <a:lnTo>
                    <a:pt x="18" y="215"/>
                  </a:lnTo>
                  <a:lnTo>
                    <a:pt x="107" y="2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7E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9406890" y="2963686"/>
              <a:ext cx="189934" cy="447321"/>
            </a:xfrm>
            <a:custGeom>
              <a:avLst/>
              <a:gdLst/>
              <a:ahLst/>
              <a:cxnLst/>
              <a:rect l="l" t="t" r="r" b="b"/>
              <a:pathLst>
                <a:path w="107" h="251">
                  <a:moveTo>
                    <a:pt x="0" y="0"/>
                  </a:moveTo>
                  <a:lnTo>
                    <a:pt x="18" y="215"/>
                  </a:lnTo>
                  <a:lnTo>
                    <a:pt x="107" y="252"/>
                  </a:lnTo>
                  <a:lnTo>
                    <a:pt x="0" y="0"/>
                  </a:lnTo>
                </a:path>
              </a:pathLst>
            </a:custGeom>
            <a:ln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10358335" y="4140566"/>
              <a:ext cx="280463" cy="395844"/>
            </a:xfrm>
            <a:custGeom>
              <a:avLst/>
              <a:gdLst/>
              <a:ahLst/>
              <a:cxnLst/>
              <a:rect l="l" t="t" r="r" b="b"/>
              <a:pathLst>
                <a:path w="118" h="166">
                  <a:moveTo>
                    <a:pt x="99" y="166"/>
                  </a:moveTo>
                  <a:cubicBezTo>
                    <a:pt x="19" y="166"/>
                    <a:pt x="19" y="166"/>
                    <a:pt x="19" y="166"/>
                  </a:cubicBezTo>
                  <a:cubicBezTo>
                    <a:pt x="8" y="166"/>
                    <a:pt x="0" y="157"/>
                    <a:pt x="0" y="1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147"/>
                    <a:pt x="118" y="147"/>
                    <a:pt x="118" y="147"/>
                  </a:cubicBezTo>
                  <a:cubicBezTo>
                    <a:pt x="118" y="157"/>
                    <a:pt x="110" y="166"/>
                    <a:pt x="99" y="166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10408037" y="4012760"/>
              <a:ext cx="30177" cy="118932"/>
            </a:xfrm>
            <a:custGeom>
              <a:avLst/>
              <a:gdLst/>
              <a:ahLst/>
              <a:cxnLst/>
              <a:rect l="l" t="t" r="r" b="b"/>
              <a:pathLst>
                <a:path w="13" h="50">
                  <a:moveTo>
                    <a:pt x="10" y="0"/>
                  </a:moveTo>
                  <a:cubicBezTo>
                    <a:pt x="10" y="0"/>
                    <a:pt x="9" y="0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5"/>
                    <a:pt x="7" y="8"/>
                    <a:pt x="6" y="12"/>
                  </a:cubicBezTo>
                  <a:cubicBezTo>
                    <a:pt x="4" y="16"/>
                    <a:pt x="3" y="20"/>
                    <a:pt x="1" y="24"/>
                  </a:cubicBezTo>
                  <a:cubicBezTo>
                    <a:pt x="1" y="26"/>
                    <a:pt x="0" y="28"/>
                    <a:pt x="0" y="31"/>
                  </a:cubicBezTo>
                  <a:cubicBezTo>
                    <a:pt x="0" y="33"/>
                    <a:pt x="0" y="35"/>
                    <a:pt x="0" y="38"/>
                  </a:cubicBezTo>
                  <a:cubicBezTo>
                    <a:pt x="1" y="42"/>
                    <a:pt x="2" y="46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45"/>
                    <a:pt x="6" y="41"/>
                    <a:pt x="6" y="37"/>
                  </a:cubicBezTo>
                  <a:cubicBezTo>
                    <a:pt x="6" y="33"/>
                    <a:pt x="7" y="29"/>
                    <a:pt x="8" y="26"/>
                  </a:cubicBezTo>
                  <a:cubicBezTo>
                    <a:pt x="8" y="22"/>
                    <a:pt x="10" y="18"/>
                    <a:pt x="11" y="14"/>
                  </a:cubicBezTo>
                  <a:cubicBezTo>
                    <a:pt x="12" y="10"/>
                    <a:pt x="13" y="5"/>
                    <a:pt x="11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92BFE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10555369" y="4034061"/>
              <a:ext cx="26627" cy="97630"/>
            </a:xfrm>
            <a:custGeom>
              <a:avLst/>
              <a:gdLst/>
              <a:ahLst/>
              <a:cxnLst/>
              <a:rect l="l" t="t" r="r" b="b"/>
              <a:pathLst>
                <a:path w="11" h="41">
                  <a:moveTo>
                    <a:pt x="2" y="0"/>
                  </a:moveTo>
                  <a:cubicBezTo>
                    <a:pt x="2" y="0"/>
                    <a:pt x="1" y="0"/>
                    <a:pt x="1" y="1"/>
                  </a:cubicBezTo>
                  <a:cubicBezTo>
                    <a:pt x="0" y="4"/>
                    <a:pt x="1" y="8"/>
                    <a:pt x="2" y="12"/>
                  </a:cubicBezTo>
                  <a:cubicBezTo>
                    <a:pt x="2" y="15"/>
                    <a:pt x="3" y="18"/>
                    <a:pt x="4" y="21"/>
                  </a:cubicBezTo>
                  <a:cubicBezTo>
                    <a:pt x="5" y="24"/>
                    <a:pt x="5" y="27"/>
                    <a:pt x="5" y="30"/>
                  </a:cubicBezTo>
                  <a:cubicBezTo>
                    <a:pt x="5" y="34"/>
                    <a:pt x="5" y="37"/>
                    <a:pt x="5" y="4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5" y="41"/>
                    <a:pt x="6" y="41"/>
                    <a:pt x="6" y="41"/>
                  </a:cubicBezTo>
                  <a:cubicBezTo>
                    <a:pt x="6" y="41"/>
                    <a:pt x="6" y="41"/>
                    <a:pt x="7" y="41"/>
                  </a:cubicBezTo>
                  <a:cubicBezTo>
                    <a:pt x="9" y="38"/>
                    <a:pt x="11" y="35"/>
                    <a:pt x="11" y="31"/>
                  </a:cubicBezTo>
                  <a:cubicBezTo>
                    <a:pt x="11" y="29"/>
                    <a:pt x="11" y="27"/>
                    <a:pt x="11" y="25"/>
                  </a:cubicBezTo>
                  <a:cubicBezTo>
                    <a:pt x="11" y="23"/>
                    <a:pt x="11" y="22"/>
                    <a:pt x="10" y="20"/>
                  </a:cubicBezTo>
                  <a:cubicBezTo>
                    <a:pt x="9" y="16"/>
                    <a:pt x="8" y="13"/>
                    <a:pt x="6" y="10"/>
                  </a:cubicBezTo>
                  <a:cubicBezTo>
                    <a:pt x="5" y="7"/>
                    <a:pt x="4" y="4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</a:path>
              </a:pathLst>
            </a:custGeom>
            <a:solidFill>
              <a:srgbClr val="92BFE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10477265" y="3971934"/>
              <a:ext cx="35501" cy="159757"/>
            </a:xfrm>
            <a:custGeom>
              <a:avLst/>
              <a:gdLst/>
              <a:ahLst/>
              <a:cxnLst/>
              <a:rect l="l" t="t" r="r" b="b"/>
              <a:pathLst>
                <a:path w="15" h="67">
                  <a:moveTo>
                    <a:pt x="2" y="0"/>
                  </a:moveTo>
                  <a:cubicBezTo>
                    <a:pt x="1" y="0"/>
                    <a:pt x="1" y="1"/>
                    <a:pt x="1" y="1"/>
                  </a:cubicBezTo>
                  <a:cubicBezTo>
                    <a:pt x="0" y="7"/>
                    <a:pt x="1" y="13"/>
                    <a:pt x="2" y="18"/>
                  </a:cubicBezTo>
                  <a:cubicBezTo>
                    <a:pt x="4" y="24"/>
                    <a:pt x="5" y="29"/>
                    <a:pt x="7" y="34"/>
                  </a:cubicBezTo>
                  <a:cubicBezTo>
                    <a:pt x="8" y="40"/>
                    <a:pt x="8" y="45"/>
                    <a:pt x="8" y="50"/>
                  </a:cubicBezTo>
                  <a:cubicBezTo>
                    <a:pt x="8" y="55"/>
                    <a:pt x="8" y="61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12" y="62"/>
                    <a:pt x="14" y="56"/>
                    <a:pt x="14" y="50"/>
                  </a:cubicBezTo>
                  <a:cubicBezTo>
                    <a:pt x="15" y="47"/>
                    <a:pt x="15" y="45"/>
                    <a:pt x="14" y="42"/>
                  </a:cubicBezTo>
                  <a:cubicBezTo>
                    <a:pt x="14" y="39"/>
                    <a:pt x="13" y="36"/>
                    <a:pt x="13" y="33"/>
                  </a:cubicBezTo>
                  <a:cubicBezTo>
                    <a:pt x="11" y="27"/>
                    <a:pt x="9" y="22"/>
                    <a:pt x="7" y="17"/>
                  </a:cubicBezTo>
                  <a:cubicBezTo>
                    <a:pt x="5" y="12"/>
                    <a:pt x="3" y="7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92BFE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10422237" y="4296773"/>
              <a:ext cx="301764" cy="252062"/>
            </a:xfrm>
            <a:custGeom>
              <a:avLst/>
              <a:gdLst/>
              <a:ahLst/>
              <a:cxnLst/>
              <a:rect l="l" t="t" r="r" b="b"/>
              <a:pathLst>
                <a:path w="125" h="105">
                  <a:moveTo>
                    <a:pt x="99" y="5"/>
                  </a:moveTo>
                  <a:cubicBezTo>
                    <a:pt x="99" y="5"/>
                    <a:pt x="52" y="0"/>
                    <a:pt x="35" y="9"/>
                  </a:cubicBezTo>
                  <a:cubicBezTo>
                    <a:pt x="18" y="17"/>
                    <a:pt x="0" y="40"/>
                    <a:pt x="5" y="46"/>
                  </a:cubicBezTo>
                  <a:cubicBezTo>
                    <a:pt x="10" y="51"/>
                    <a:pt x="28" y="36"/>
                    <a:pt x="28" y="36"/>
                  </a:cubicBezTo>
                  <a:cubicBezTo>
                    <a:pt x="28" y="36"/>
                    <a:pt x="7" y="59"/>
                    <a:pt x="8" y="68"/>
                  </a:cubicBezTo>
                  <a:cubicBezTo>
                    <a:pt x="9" y="77"/>
                    <a:pt x="39" y="57"/>
                    <a:pt x="39" y="57"/>
                  </a:cubicBezTo>
                  <a:cubicBezTo>
                    <a:pt x="39" y="57"/>
                    <a:pt x="20" y="76"/>
                    <a:pt x="22" y="85"/>
                  </a:cubicBezTo>
                  <a:cubicBezTo>
                    <a:pt x="24" y="95"/>
                    <a:pt x="48" y="71"/>
                    <a:pt x="48" y="71"/>
                  </a:cubicBezTo>
                  <a:cubicBezTo>
                    <a:pt x="48" y="71"/>
                    <a:pt x="39" y="89"/>
                    <a:pt x="43" y="96"/>
                  </a:cubicBezTo>
                  <a:cubicBezTo>
                    <a:pt x="48" y="106"/>
                    <a:pt x="77" y="73"/>
                    <a:pt x="82" y="73"/>
                  </a:cubicBezTo>
                  <a:cubicBezTo>
                    <a:pt x="87" y="73"/>
                    <a:pt x="126" y="79"/>
                    <a:pt x="126" y="79"/>
                  </a:cubicBezTo>
                  <a:lnTo>
                    <a:pt x="99" y="5"/>
                  </a:lnTo>
                  <a:close/>
                </a:path>
              </a:pathLst>
            </a:custGeom>
            <a:solidFill>
              <a:srgbClr val="FFACB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9327012" y="3226399"/>
              <a:ext cx="342591" cy="211236"/>
            </a:xfrm>
            <a:custGeom>
              <a:avLst/>
              <a:gdLst/>
              <a:ahLst/>
              <a:cxnLst/>
              <a:rect l="l" t="t" r="r" b="b"/>
              <a:pathLst>
                <a:path w="144" h="88">
                  <a:moveTo>
                    <a:pt x="144" y="88"/>
                  </a:moveTo>
                  <a:cubicBezTo>
                    <a:pt x="98" y="73"/>
                    <a:pt x="48" y="52"/>
                    <a:pt x="0" y="27"/>
                  </a:cubicBezTo>
                  <a:cubicBezTo>
                    <a:pt x="0" y="27"/>
                    <a:pt x="97" y="0"/>
                    <a:pt x="144" y="88"/>
                  </a:cubicBezTo>
                  <a:close/>
                </a:path>
              </a:pathLst>
            </a:custGeom>
            <a:solidFill>
              <a:srgbClr val="99C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8952469" y="2802154"/>
              <a:ext cx="182834" cy="165083"/>
            </a:xfrm>
            <a:custGeom>
              <a:avLst/>
              <a:gdLst/>
              <a:ahLst/>
              <a:cxnLst/>
              <a:rect l="l" t="t" r="r" b="b"/>
              <a:pathLst>
                <a:path w="77" h="69">
                  <a:moveTo>
                    <a:pt x="77" y="0"/>
                  </a:moveTo>
                  <a:cubicBezTo>
                    <a:pt x="77" y="0"/>
                    <a:pt x="34" y="52"/>
                    <a:pt x="0" y="69"/>
                  </a:cubicBezTo>
                </a:path>
              </a:pathLst>
            </a:custGeom>
            <a:ln w="4763">
              <a:solidFill>
                <a:srgbClr val="99CB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10651224" y="4160092"/>
              <a:ext cx="250287" cy="346142"/>
            </a:xfrm>
            <a:custGeom>
              <a:avLst/>
              <a:gdLst/>
              <a:ahLst/>
              <a:cxnLst/>
              <a:rect l="l" t="t" r="r" b="b"/>
              <a:pathLst>
                <a:path w="105" h="145">
                  <a:moveTo>
                    <a:pt x="90" y="0"/>
                  </a:moveTo>
                  <a:cubicBezTo>
                    <a:pt x="84" y="1"/>
                    <a:pt x="0" y="50"/>
                    <a:pt x="3" y="62"/>
                  </a:cubicBezTo>
                  <a:cubicBezTo>
                    <a:pt x="6" y="74"/>
                    <a:pt x="25" y="145"/>
                    <a:pt x="38" y="143"/>
                  </a:cubicBezTo>
                  <a:cubicBezTo>
                    <a:pt x="51" y="141"/>
                    <a:pt x="105" y="108"/>
                    <a:pt x="105" y="108"/>
                  </a:cubicBezTo>
                </a:path>
              </a:pathLst>
            </a:custGeom>
            <a:solidFill>
              <a:srgbClr val="63A4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10651224" y="4160092"/>
              <a:ext cx="250287" cy="346142"/>
            </a:xfrm>
            <a:custGeom>
              <a:avLst/>
              <a:gdLst/>
              <a:ahLst/>
              <a:cxnLst/>
              <a:rect l="l" t="t" r="r" b="b"/>
              <a:pathLst>
                <a:path w="105" h="145">
                  <a:moveTo>
                    <a:pt x="90" y="0"/>
                  </a:moveTo>
                  <a:cubicBezTo>
                    <a:pt x="84" y="1"/>
                    <a:pt x="0" y="50"/>
                    <a:pt x="3" y="62"/>
                  </a:cubicBezTo>
                  <a:cubicBezTo>
                    <a:pt x="6" y="74"/>
                    <a:pt x="25" y="145"/>
                    <a:pt x="38" y="143"/>
                  </a:cubicBezTo>
                  <a:cubicBezTo>
                    <a:pt x="51" y="141"/>
                    <a:pt x="105" y="108"/>
                    <a:pt x="105" y="108"/>
                  </a:cubicBezTo>
                </a:path>
              </a:pathLst>
            </a:custGeom>
            <a:ln w="4763">
              <a:solidFill>
                <a:srgbClr val="99CB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10260706" y="3169596"/>
              <a:ext cx="331941" cy="113606"/>
            </a:xfrm>
            <a:custGeom>
              <a:avLst/>
              <a:gdLst/>
              <a:ahLst/>
              <a:cxnLst/>
              <a:rect l="l" t="t" r="r" b="b"/>
              <a:pathLst>
                <a:path w="139" h="48">
                  <a:moveTo>
                    <a:pt x="0" y="0"/>
                  </a:moveTo>
                  <a:cubicBezTo>
                    <a:pt x="0" y="0"/>
                    <a:pt x="7" y="47"/>
                    <a:pt x="65" y="47"/>
                  </a:cubicBezTo>
                  <a:cubicBezTo>
                    <a:pt x="124" y="48"/>
                    <a:pt x="139" y="8"/>
                    <a:pt x="139" y="8"/>
                  </a:cubicBezTo>
                </a:path>
              </a:pathLst>
            </a:custGeom>
            <a:ln w="9525">
              <a:solidFill>
                <a:srgbClr val="99CB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10708026" y="4255947"/>
              <a:ext cx="95854" cy="218335"/>
            </a:xfrm>
            <a:custGeom>
              <a:avLst/>
              <a:gdLst/>
              <a:ahLst/>
              <a:cxnLst/>
              <a:rect l="l" t="t" r="r" b="b"/>
              <a:pathLst>
                <a:path w="40" h="92">
                  <a:moveTo>
                    <a:pt x="0" y="0"/>
                  </a:moveTo>
                  <a:cubicBezTo>
                    <a:pt x="0" y="0"/>
                    <a:pt x="20" y="71"/>
                    <a:pt x="40" y="92"/>
                  </a:cubicBezTo>
                </a:path>
              </a:pathLst>
            </a:custGeom>
            <a:ln w="4763">
              <a:solidFill>
                <a:srgbClr val="99CB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10045920" y="3710996"/>
              <a:ext cx="820088" cy="207685"/>
            </a:xfrm>
            <a:custGeom>
              <a:avLst/>
              <a:gdLst/>
              <a:ahLst/>
              <a:cxnLst/>
              <a:rect l="l" t="t" r="r" b="b"/>
              <a:pathLst>
                <a:path w="344" h="87">
                  <a:moveTo>
                    <a:pt x="6" y="0"/>
                  </a:moveTo>
                  <a:cubicBezTo>
                    <a:pt x="6" y="0"/>
                    <a:pt x="183" y="21"/>
                    <a:pt x="344" y="16"/>
                  </a:cubicBezTo>
                  <a:cubicBezTo>
                    <a:pt x="344" y="76"/>
                    <a:pt x="344" y="76"/>
                    <a:pt x="344" y="76"/>
                  </a:cubicBezTo>
                  <a:cubicBezTo>
                    <a:pt x="344" y="76"/>
                    <a:pt x="87" y="87"/>
                    <a:pt x="0" y="5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99C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4" name="AutoShape 44"/>
            <p:cNvSpPr/>
            <p:nvPr/>
          </p:nvSpPr>
          <p:spPr>
            <a:xfrm>
              <a:off x="11260076" y="3751823"/>
              <a:ext cx="124256" cy="344366"/>
            </a:xfrm>
            <a:custGeom>
              <a:avLst/>
              <a:gdLst/>
              <a:ahLst/>
              <a:cxnLst/>
              <a:rect l="l" t="t" r="r" b="b"/>
              <a:pathLst>
                <a:path w="52" h="144">
                  <a:moveTo>
                    <a:pt x="48" y="92"/>
                  </a:moveTo>
                  <a:cubicBezTo>
                    <a:pt x="46" y="110"/>
                    <a:pt x="38" y="128"/>
                    <a:pt x="27" y="144"/>
                  </a:cubicBezTo>
                  <a:cubicBezTo>
                    <a:pt x="0" y="94"/>
                    <a:pt x="17" y="27"/>
                    <a:pt x="25" y="0"/>
                  </a:cubicBezTo>
                  <a:cubicBezTo>
                    <a:pt x="43" y="30"/>
                    <a:pt x="52" y="61"/>
                    <a:pt x="48" y="92"/>
                  </a:cubicBezTo>
                  <a:close/>
                </a:path>
              </a:pathLst>
            </a:custGeom>
            <a:solidFill>
              <a:srgbClr val="99CB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5" name="AutoShape 45"/>
            <p:cNvSpPr/>
            <p:nvPr/>
          </p:nvSpPr>
          <p:spPr>
            <a:xfrm>
              <a:off x="10303308" y="2983212"/>
              <a:ext cx="236087" cy="250287"/>
            </a:xfrm>
            <a:custGeom>
              <a:avLst/>
              <a:gdLst/>
              <a:ahLst/>
              <a:cxnLst/>
              <a:rect l="l" t="t" r="r" b="b"/>
              <a:pathLst>
                <a:path w="99" h="105">
                  <a:moveTo>
                    <a:pt x="7" y="77"/>
                  </a:moveTo>
                  <a:cubicBezTo>
                    <a:pt x="5" y="81"/>
                    <a:pt x="3" y="84"/>
                    <a:pt x="2" y="86"/>
                  </a:cubicBezTo>
                  <a:cubicBezTo>
                    <a:pt x="2" y="86"/>
                    <a:pt x="2" y="86"/>
                    <a:pt x="3" y="87"/>
                  </a:cubicBezTo>
                  <a:cubicBezTo>
                    <a:pt x="12" y="93"/>
                    <a:pt x="19" y="98"/>
                    <a:pt x="27" y="101"/>
                  </a:cubicBezTo>
                  <a:cubicBezTo>
                    <a:pt x="32" y="102"/>
                    <a:pt x="38" y="103"/>
                    <a:pt x="45" y="104"/>
                  </a:cubicBezTo>
                  <a:cubicBezTo>
                    <a:pt x="66" y="105"/>
                    <a:pt x="85" y="102"/>
                    <a:pt x="99" y="85"/>
                  </a:cubicBezTo>
                  <a:cubicBezTo>
                    <a:pt x="79" y="65"/>
                    <a:pt x="82" y="43"/>
                    <a:pt x="86" y="17"/>
                  </a:cubicBezTo>
                  <a:cubicBezTo>
                    <a:pt x="86" y="16"/>
                    <a:pt x="86" y="15"/>
                    <a:pt x="86" y="15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7" y="9"/>
                    <a:pt x="88" y="5"/>
                    <a:pt x="89" y="0"/>
                  </a:cubicBezTo>
                  <a:cubicBezTo>
                    <a:pt x="71" y="0"/>
                    <a:pt x="42" y="1"/>
                    <a:pt x="28" y="2"/>
                  </a:cubicBezTo>
                  <a:cubicBezTo>
                    <a:pt x="17" y="3"/>
                    <a:pt x="14" y="3"/>
                    <a:pt x="9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4"/>
                    <a:pt x="7" y="4"/>
                    <a:pt x="6" y="4"/>
                  </a:cubicBezTo>
                  <a:cubicBezTo>
                    <a:pt x="4" y="4"/>
                    <a:pt x="2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6"/>
                    <a:pt x="3" y="8"/>
                    <a:pt x="4" y="11"/>
                  </a:cubicBezTo>
                  <a:cubicBezTo>
                    <a:pt x="14" y="27"/>
                    <a:pt x="20" y="45"/>
                    <a:pt x="13" y="64"/>
                  </a:cubicBezTo>
                  <a:cubicBezTo>
                    <a:pt x="12" y="67"/>
                    <a:pt x="9" y="72"/>
                    <a:pt x="7" y="77"/>
                  </a:cubicBezTo>
                  <a:close/>
                </a:path>
              </a:pathLst>
            </a:custGeom>
            <a:solidFill>
              <a:srgbClr val="FFACB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6" name="AutoShape 46"/>
            <p:cNvSpPr/>
            <p:nvPr/>
          </p:nvSpPr>
          <p:spPr>
            <a:xfrm>
              <a:off x="10303308" y="2983212"/>
              <a:ext cx="216560" cy="200585"/>
            </a:xfrm>
            <a:custGeom>
              <a:avLst/>
              <a:gdLst/>
              <a:ahLst/>
              <a:cxnLst/>
              <a:rect l="l" t="t" r="r" b="b"/>
              <a:pathLst>
                <a:path w="91" h="84"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3" y="8"/>
                    <a:pt x="4" y="11"/>
                  </a:cubicBezTo>
                  <a:cubicBezTo>
                    <a:pt x="14" y="27"/>
                    <a:pt x="20" y="45"/>
                    <a:pt x="13" y="64"/>
                  </a:cubicBezTo>
                  <a:cubicBezTo>
                    <a:pt x="12" y="67"/>
                    <a:pt x="9" y="72"/>
                    <a:pt x="7" y="77"/>
                  </a:cubicBezTo>
                  <a:cubicBezTo>
                    <a:pt x="47" y="84"/>
                    <a:pt x="67" y="46"/>
                    <a:pt x="86" y="15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90" y="10"/>
                    <a:pt x="91" y="5"/>
                    <a:pt x="89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62" y="0"/>
                    <a:pt x="35" y="2"/>
                    <a:pt x="9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4"/>
                    <a:pt x="6" y="4"/>
                    <a:pt x="6" y="4"/>
                  </a:cubicBezTo>
                  <a:cubicBezTo>
                    <a:pt x="4" y="4"/>
                    <a:pt x="2" y="4"/>
                    <a:pt x="0" y="4"/>
                  </a:cubicBezTo>
                  <a:close/>
                </a:path>
              </a:pathLst>
            </a:custGeom>
            <a:solidFill>
              <a:srgbClr val="FF96A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9918114" y="2523466"/>
              <a:ext cx="152657" cy="163307"/>
            </a:xfrm>
            <a:custGeom>
              <a:avLst/>
              <a:gdLst/>
              <a:ahLst/>
              <a:cxnLst/>
              <a:rect l="l" t="t" r="r" b="b"/>
              <a:pathLst>
                <a:path w="64" h="69">
                  <a:moveTo>
                    <a:pt x="0" y="34"/>
                  </a:moveTo>
                  <a:cubicBezTo>
                    <a:pt x="0" y="36"/>
                    <a:pt x="0" y="38"/>
                    <a:pt x="0" y="40"/>
                  </a:cubicBezTo>
                  <a:cubicBezTo>
                    <a:pt x="2" y="56"/>
                    <a:pt x="15" y="68"/>
                    <a:pt x="31" y="69"/>
                  </a:cubicBezTo>
                  <a:cubicBezTo>
                    <a:pt x="49" y="69"/>
                    <a:pt x="63" y="54"/>
                    <a:pt x="64" y="35"/>
                  </a:cubicBezTo>
                  <a:cubicBezTo>
                    <a:pt x="64" y="16"/>
                    <a:pt x="50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15" y="0"/>
                    <a:pt x="0" y="15"/>
                    <a:pt x="0" y="34"/>
                  </a:cubicBezTo>
                  <a:close/>
                </a:path>
              </a:pathLst>
            </a:custGeom>
            <a:solidFill>
              <a:srgbClr val="FFACB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8" name="AutoShape 48"/>
            <p:cNvSpPr/>
            <p:nvPr/>
          </p:nvSpPr>
          <p:spPr>
            <a:xfrm>
              <a:off x="9957166" y="2566068"/>
              <a:ext cx="76329" cy="79879"/>
            </a:xfrm>
            <a:custGeom>
              <a:avLst/>
              <a:gdLst/>
              <a:ahLst/>
              <a:cxnLst/>
              <a:rect l="l" t="t" r="r" b="b"/>
              <a:pathLst>
                <a:path w="32" h="34">
                  <a:moveTo>
                    <a:pt x="0" y="16"/>
                  </a:moveTo>
                  <a:cubicBezTo>
                    <a:pt x="0" y="26"/>
                    <a:pt x="7" y="33"/>
                    <a:pt x="15" y="33"/>
                  </a:cubicBezTo>
                  <a:cubicBezTo>
                    <a:pt x="24" y="34"/>
                    <a:pt x="31" y="26"/>
                    <a:pt x="31" y="17"/>
                  </a:cubicBezTo>
                  <a:cubicBezTo>
                    <a:pt x="32" y="8"/>
                    <a:pt x="25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lose/>
                </a:path>
              </a:pathLst>
            </a:custGeom>
            <a:solidFill>
              <a:srgbClr val="FF96A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9" name="AutoShape 49"/>
            <p:cNvSpPr/>
            <p:nvPr/>
          </p:nvSpPr>
          <p:spPr>
            <a:xfrm>
              <a:off x="9918114" y="2525241"/>
              <a:ext cx="152657" cy="161533"/>
            </a:xfrm>
            <a:custGeom>
              <a:avLst/>
              <a:gdLst/>
              <a:ahLst/>
              <a:cxnLst/>
              <a:rect l="l" t="t" r="r" b="b"/>
              <a:pathLst>
                <a:path w="64" h="68">
                  <a:moveTo>
                    <a:pt x="0" y="39"/>
                  </a:moveTo>
                  <a:cubicBezTo>
                    <a:pt x="2" y="55"/>
                    <a:pt x="15" y="67"/>
                    <a:pt x="31" y="68"/>
                  </a:cubicBezTo>
                  <a:cubicBezTo>
                    <a:pt x="49" y="68"/>
                    <a:pt x="63" y="53"/>
                    <a:pt x="64" y="34"/>
                  </a:cubicBezTo>
                  <a:cubicBezTo>
                    <a:pt x="64" y="15"/>
                    <a:pt x="50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1"/>
                    <a:pt x="24" y="37"/>
                    <a:pt x="0" y="39"/>
                  </a:cubicBezTo>
                  <a:close/>
                </a:path>
              </a:pathLst>
            </a:custGeom>
            <a:solidFill>
              <a:srgbClr val="43274D">
                <a:alpha val="10196"/>
              </a:srgbClr>
            </a:solidFill>
            <a:ln>
              <a:headEnd type="none"/>
              <a:tailEnd type="none"/>
            </a:ln>
          </p:spPr>
        </p:sp>
        <p:sp>
          <p:nvSpPr>
            <p:cNvPr id="50" name="AutoShape 50"/>
            <p:cNvSpPr/>
            <p:nvPr/>
          </p:nvSpPr>
          <p:spPr>
            <a:xfrm>
              <a:off x="10741752" y="2500390"/>
              <a:ext cx="170408" cy="177508"/>
            </a:xfrm>
            <a:custGeom>
              <a:avLst/>
              <a:gdLst/>
              <a:ahLst/>
              <a:cxnLst/>
              <a:rect l="l" t="t" r="r" b="b"/>
              <a:pathLst>
                <a:path w="71" h="74">
                  <a:moveTo>
                    <a:pt x="11" y="15"/>
                  </a:moveTo>
                  <a:cubicBezTo>
                    <a:pt x="0" y="29"/>
                    <a:pt x="2" y="51"/>
                    <a:pt x="16" y="63"/>
                  </a:cubicBezTo>
                  <a:cubicBezTo>
                    <a:pt x="29" y="74"/>
                    <a:pt x="49" y="72"/>
                    <a:pt x="60" y="58"/>
                  </a:cubicBezTo>
                  <a:cubicBezTo>
                    <a:pt x="71" y="44"/>
                    <a:pt x="69" y="22"/>
                    <a:pt x="56" y="10"/>
                  </a:cubicBezTo>
                  <a:cubicBezTo>
                    <a:pt x="55" y="10"/>
                    <a:pt x="55" y="10"/>
                    <a:pt x="55" y="10"/>
                  </a:cubicBezTo>
                  <a:cubicBezTo>
                    <a:pt x="44" y="0"/>
                    <a:pt x="29" y="0"/>
                    <a:pt x="18" y="9"/>
                  </a:cubicBezTo>
                  <a:cubicBezTo>
                    <a:pt x="15" y="10"/>
                    <a:pt x="13" y="12"/>
                    <a:pt x="11" y="15"/>
                  </a:cubicBezTo>
                  <a:close/>
                </a:path>
              </a:pathLst>
            </a:custGeom>
            <a:solidFill>
              <a:srgbClr val="FFACB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1" name="AutoShape 51"/>
            <p:cNvSpPr/>
            <p:nvPr/>
          </p:nvSpPr>
          <p:spPr>
            <a:xfrm>
              <a:off x="10782580" y="2539441"/>
              <a:ext cx="88755" cy="97630"/>
            </a:xfrm>
            <a:custGeom>
              <a:avLst/>
              <a:gdLst/>
              <a:ahLst/>
              <a:cxnLst/>
              <a:rect l="l" t="t" r="r" b="b"/>
              <a:pathLst>
                <a:path w="37" h="41">
                  <a:moveTo>
                    <a:pt x="6" y="9"/>
                  </a:moveTo>
                  <a:cubicBezTo>
                    <a:pt x="0" y="17"/>
                    <a:pt x="1" y="28"/>
                    <a:pt x="8" y="34"/>
                  </a:cubicBezTo>
                  <a:cubicBezTo>
                    <a:pt x="15" y="41"/>
                    <a:pt x="26" y="39"/>
                    <a:pt x="32" y="32"/>
                  </a:cubicBezTo>
                  <a:cubicBezTo>
                    <a:pt x="37" y="24"/>
                    <a:pt x="36" y="13"/>
                    <a:pt x="29" y="7"/>
                  </a:cubicBezTo>
                  <a:cubicBezTo>
                    <a:pt x="22" y="0"/>
                    <a:pt x="12" y="2"/>
                    <a:pt x="6" y="9"/>
                  </a:cubicBezTo>
                  <a:close/>
                </a:path>
              </a:pathLst>
            </a:custGeom>
            <a:solidFill>
              <a:srgbClr val="FF96A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2" name="AutoShape 52"/>
            <p:cNvSpPr/>
            <p:nvPr/>
          </p:nvSpPr>
          <p:spPr>
            <a:xfrm>
              <a:off x="10741752" y="2523466"/>
              <a:ext cx="170408" cy="154433"/>
            </a:xfrm>
            <a:custGeom>
              <a:avLst/>
              <a:gdLst/>
              <a:ahLst/>
              <a:cxnLst/>
              <a:rect l="l" t="t" r="r" b="b"/>
              <a:pathLst>
                <a:path w="71" h="65">
                  <a:moveTo>
                    <a:pt x="11" y="6"/>
                  </a:moveTo>
                  <a:cubicBezTo>
                    <a:pt x="0" y="20"/>
                    <a:pt x="2" y="42"/>
                    <a:pt x="16" y="54"/>
                  </a:cubicBezTo>
                  <a:cubicBezTo>
                    <a:pt x="29" y="65"/>
                    <a:pt x="49" y="63"/>
                    <a:pt x="60" y="49"/>
                  </a:cubicBezTo>
                  <a:cubicBezTo>
                    <a:pt x="71" y="35"/>
                    <a:pt x="69" y="13"/>
                    <a:pt x="56" y="1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49" y="6"/>
                    <a:pt x="36" y="15"/>
                    <a:pt x="18" y="0"/>
                  </a:cubicBezTo>
                  <a:cubicBezTo>
                    <a:pt x="15" y="1"/>
                    <a:pt x="13" y="3"/>
                    <a:pt x="11" y="6"/>
                  </a:cubicBezTo>
                  <a:close/>
                </a:path>
              </a:pathLst>
            </a:custGeom>
            <a:solidFill>
              <a:srgbClr val="43274D">
                <a:alpha val="10196"/>
              </a:srgbClr>
            </a:solidFill>
            <a:ln>
              <a:headEnd type="none"/>
              <a:tailEnd type="none"/>
            </a:ln>
          </p:spPr>
        </p:sp>
        <p:sp>
          <p:nvSpPr>
            <p:cNvPr id="53" name="AutoShape 53"/>
            <p:cNvSpPr/>
            <p:nvPr/>
          </p:nvSpPr>
          <p:spPr>
            <a:xfrm>
              <a:off x="9937640" y="2589143"/>
              <a:ext cx="118932" cy="149107"/>
            </a:xfrm>
            <a:custGeom>
              <a:avLst/>
              <a:gdLst/>
              <a:ahLst/>
              <a:cxnLst/>
              <a:rect l="l" t="t" r="r" b="b"/>
              <a:pathLst>
                <a:path w="50" h="62">
                  <a:moveTo>
                    <a:pt x="32" y="26"/>
                  </a:moveTo>
                  <a:cubicBezTo>
                    <a:pt x="34" y="22"/>
                    <a:pt x="34" y="18"/>
                    <a:pt x="33" y="13"/>
                  </a:cubicBezTo>
                  <a:cubicBezTo>
                    <a:pt x="31" y="5"/>
                    <a:pt x="22" y="0"/>
                    <a:pt x="13" y="2"/>
                  </a:cubicBezTo>
                  <a:cubicBezTo>
                    <a:pt x="5" y="5"/>
                    <a:pt x="0" y="14"/>
                    <a:pt x="3" y="22"/>
                  </a:cubicBezTo>
                  <a:cubicBezTo>
                    <a:pt x="5" y="30"/>
                    <a:pt x="14" y="35"/>
                    <a:pt x="22" y="3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50" y="60"/>
                    <a:pt x="49" y="55"/>
                  </a:cubicBezTo>
                  <a:lnTo>
                    <a:pt x="32" y="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4" name="AutoShape 54"/>
            <p:cNvSpPr/>
            <p:nvPr/>
          </p:nvSpPr>
          <p:spPr>
            <a:xfrm>
              <a:off x="10763053" y="2569618"/>
              <a:ext cx="117155" cy="149107"/>
            </a:xfrm>
            <a:custGeom>
              <a:avLst/>
              <a:gdLst/>
              <a:ahLst/>
              <a:cxnLst/>
              <a:rect l="l" t="t" r="r" b="b"/>
              <a:pathLst>
                <a:path w="49" h="62">
                  <a:moveTo>
                    <a:pt x="18" y="25"/>
                  </a:moveTo>
                  <a:cubicBezTo>
                    <a:pt x="16" y="22"/>
                    <a:pt x="15" y="17"/>
                    <a:pt x="16" y="13"/>
                  </a:cubicBezTo>
                  <a:cubicBezTo>
                    <a:pt x="19" y="4"/>
                    <a:pt x="28" y="0"/>
                    <a:pt x="36" y="2"/>
                  </a:cubicBezTo>
                  <a:cubicBezTo>
                    <a:pt x="44" y="4"/>
                    <a:pt x="49" y="13"/>
                    <a:pt x="47" y="22"/>
                  </a:cubicBezTo>
                  <a:cubicBezTo>
                    <a:pt x="44" y="30"/>
                    <a:pt x="36" y="35"/>
                    <a:pt x="28" y="33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0" y="59"/>
                    <a:pt x="0" y="54"/>
                  </a:cubicBezTo>
                  <a:lnTo>
                    <a:pt x="18" y="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5" name="AutoShape 55"/>
            <p:cNvSpPr/>
            <p:nvPr/>
          </p:nvSpPr>
          <p:spPr>
            <a:xfrm>
              <a:off x="9987343" y="1955439"/>
              <a:ext cx="834289" cy="1082800"/>
            </a:xfrm>
            <a:custGeom>
              <a:avLst/>
              <a:gdLst/>
              <a:ahLst/>
              <a:cxnLst/>
              <a:rect l="l" t="t" r="r" b="b"/>
              <a:pathLst>
                <a:path w="349" h="453">
                  <a:moveTo>
                    <a:pt x="349" y="225"/>
                  </a:moveTo>
                  <a:cubicBezTo>
                    <a:pt x="349" y="231"/>
                    <a:pt x="349" y="236"/>
                    <a:pt x="348" y="241"/>
                  </a:cubicBezTo>
                  <a:cubicBezTo>
                    <a:pt x="348" y="243"/>
                    <a:pt x="348" y="245"/>
                    <a:pt x="348" y="247"/>
                  </a:cubicBezTo>
                  <a:cubicBezTo>
                    <a:pt x="347" y="270"/>
                    <a:pt x="342" y="293"/>
                    <a:pt x="336" y="314"/>
                  </a:cubicBezTo>
                  <a:cubicBezTo>
                    <a:pt x="319" y="369"/>
                    <a:pt x="286" y="412"/>
                    <a:pt x="245" y="436"/>
                  </a:cubicBezTo>
                  <a:cubicBezTo>
                    <a:pt x="224" y="447"/>
                    <a:pt x="201" y="454"/>
                    <a:pt x="177" y="454"/>
                  </a:cubicBezTo>
                  <a:cubicBezTo>
                    <a:pt x="164" y="454"/>
                    <a:pt x="152" y="453"/>
                    <a:pt x="140" y="449"/>
                  </a:cubicBezTo>
                  <a:cubicBezTo>
                    <a:pt x="112" y="442"/>
                    <a:pt x="87" y="426"/>
                    <a:pt x="66" y="404"/>
                  </a:cubicBezTo>
                  <a:cubicBezTo>
                    <a:pt x="40" y="377"/>
                    <a:pt x="20" y="340"/>
                    <a:pt x="10" y="298"/>
                  </a:cubicBezTo>
                  <a:cubicBezTo>
                    <a:pt x="6" y="284"/>
                    <a:pt x="3" y="269"/>
                    <a:pt x="2" y="253"/>
                  </a:cubicBezTo>
                  <a:cubicBezTo>
                    <a:pt x="1" y="245"/>
                    <a:pt x="1" y="237"/>
                    <a:pt x="0" y="229"/>
                  </a:cubicBezTo>
                  <a:cubicBezTo>
                    <a:pt x="0" y="227"/>
                    <a:pt x="0" y="225"/>
                    <a:pt x="0" y="223"/>
                  </a:cubicBezTo>
                  <a:cubicBezTo>
                    <a:pt x="1" y="222"/>
                    <a:pt x="1" y="221"/>
                    <a:pt x="1" y="219"/>
                  </a:cubicBezTo>
                  <a:cubicBezTo>
                    <a:pt x="1" y="218"/>
                    <a:pt x="1" y="217"/>
                    <a:pt x="1" y="216"/>
                  </a:cubicBezTo>
                  <a:cubicBezTo>
                    <a:pt x="1" y="210"/>
                    <a:pt x="1" y="204"/>
                    <a:pt x="2" y="199"/>
                  </a:cubicBezTo>
                  <a:cubicBezTo>
                    <a:pt x="4" y="169"/>
                    <a:pt x="12" y="141"/>
                    <a:pt x="23" y="115"/>
                  </a:cubicBezTo>
                  <a:cubicBezTo>
                    <a:pt x="39" y="78"/>
                    <a:pt x="63" y="47"/>
                    <a:pt x="92" y="27"/>
                  </a:cubicBezTo>
                  <a:cubicBezTo>
                    <a:pt x="116" y="10"/>
                    <a:pt x="143" y="1"/>
                    <a:pt x="172" y="0"/>
                  </a:cubicBezTo>
                  <a:cubicBezTo>
                    <a:pt x="186" y="0"/>
                    <a:pt x="199" y="2"/>
                    <a:pt x="211" y="6"/>
                  </a:cubicBezTo>
                  <a:cubicBezTo>
                    <a:pt x="273" y="23"/>
                    <a:pt x="322" y="83"/>
                    <a:pt x="341" y="160"/>
                  </a:cubicBezTo>
                  <a:cubicBezTo>
                    <a:pt x="346" y="181"/>
                    <a:pt x="349" y="203"/>
                    <a:pt x="349" y="225"/>
                  </a:cubicBezTo>
                  <a:close/>
                </a:path>
              </a:pathLst>
            </a:custGeom>
            <a:solidFill>
              <a:srgbClr val="FFACB6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6" name="AutoShape 56"/>
            <p:cNvSpPr/>
            <p:nvPr/>
          </p:nvSpPr>
          <p:spPr>
            <a:xfrm>
              <a:off x="10658324" y="2198625"/>
              <a:ext cx="195259" cy="470397"/>
            </a:xfrm>
            <a:custGeom>
              <a:avLst/>
              <a:gdLst/>
              <a:ahLst/>
              <a:cxnLst/>
              <a:rect l="l" t="t" r="r" b="b"/>
              <a:pathLst>
                <a:path w="82" h="197">
                  <a:moveTo>
                    <a:pt x="0" y="38"/>
                  </a:moveTo>
                  <a:cubicBezTo>
                    <a:pt x="0" y="38"/>
                    <a:pt x="14" y="77"/>
                    <a:pt x="30" y="107"/>
                  </a:cubicBezTo>
                  <a:cubicBezTo>
                    <a:pt x="46" y="137"/>
                    <a:pt x="39" y="185"/>
                    <a:pt x="30" y="197"/>
                  </a:cubicBezTo>
                  <a:cubicBezTo>
                    <a:pt x="30" y="197"/>
                    <a:pt x="80" y="150"/>
                    <a:pt x="79" y="119"/>
                  </a:cubicBezTo>
                  <a:cubicBezTo>
                    <a:pt x="78" y="88"/>
                    <a:pt x="82" y="28"/>
                    <a:pt x="45" y="14"/>
                  </a:cubicBezTo>
                  <a:cubicBezTo>
                    <a:pt x="8" y="0"/>
                    <a:pt x="0" y="38"/>
                    <a:pt x="0" y="38"/>
                  </a:cubicBezTo>
                  <a:close/>
                </a:path>
              </a:pathLst>
            </a:custGeom>
            <a:solidFill>
              <a:srgbClr val="01004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7" name="AutoShape 57"/>
            <p:cNvSpPr/>
            <p:nvPr/>
          </p:nvSpPr>
          <p:spPr>
            <a:xfrm>
              <a:off x="10448864" y="2615770"/>
              <a:ext cx="340816" cy="379867"/>
            </a:xfrm>
            <a:custGeom>
              <a:avLst/>
              <a:gdLst/>
              <a:ahLst/>
              <a:cxnLst/>
              <a:rect l="l" t="t" r="r" b="b"/>
              <a:pathLst>
                <a:path w="143" h="159">
                  <a:moveTo>
                    <a:pt x="52" y="159"/>
                  </a:moveTo>
                  <a:cubicBezTo>
                    <a:pt x="93" y="135"/>
                    <a:pt x="126" y="92"/>
                    <a:pt x="143" y="37"/>
                  </a:cubicBezTo>
                  <a:cubicBezTo>
                    <a:pt x="127" y="18"/>
                    <a:pt x="99" y="0"/>
                    <a:pt x="76" y="0"/>
                  </a:cubicBezTo>
                  <a:cubicBezTo>
                    <a:pt x="34" y="0"/>
                    <a:pt x="0" y="37"/>
                    <a:pt x="1" y="83"/>
                  </a:cubicBezTo>
                  <a:cubicBezTo>
                    <a:pt x="1" y="118"/>
                    <a:pt x="22" y="148"/>
                    <a:pt x="52" y="159"/>
                  </a:cubicBezTo>
                  <a:close/>
                </a:path>
              </a:pathLst>
            </a:custGeom>
            <a:solidFill>
              <a:srgbClr val="FF96A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8" name="AutoShape 58"/>
            <p:cNvSpPr/>
            <p:nvPr/>
          </p:nvSpPr>
          <p:spPr>
            <a:xfrm>
              <a:off x="10012194" y="2665473"/>
              <a:ext cx="159757" cy="253838"/>
            </a:xfrm>
            <a:custGeom>
              <a:avLst/>
              <a:gdLst/>
              <a:ahLst/>
              <a:cxnLst/>
              <a:rect l="l" t="t" r="r" b="b"/>
              <a:pathLst>
                <a:path w="67" h="105">
                  <a:moveTo>
                    <a:pt x="0" y="0"/>
                  </a:moveTo>
                  <a:cubicBezTo>
                    <a:pt x="10" y="42"/>
                    <a:pt x="30" y="79"/>
                    <a:pt x="56" y="106"/>
                  </a:cubicBezTo>
                  <a:cubicBezTo>
                    <a:pt x="63" y="95"/>
                    <a:pt x="67" y="82"/>
                    <a:pt x="67" y="67"/>
                  </a:cubicBezTo>
                  <a:cubicBezTo>
                    <a:pt x="66" y="30"/>
                    <a:pt x="38" y="0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FF96A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9" name="AutoShape 59"/>
            <p:cNvSpPr/>
            <p:nvPr/>
          </p:nvSpPr>
          <p:spPr>
            <a:xfrm>
              <a:off x="10109823" y="2527016"/>
              <a:ext cx="126031" cy="81654"/>
            </a:xfrm>
            <a:custGeom>
              <a:avLst/>
              <a:gdLst/>
              <a:ahLst/>
              <a:cxnLst/>
              <a:rect l="l" t="t" r="r" b="b"/>
              <a:pathLst>
                <a:path w="52" h="34">
                  <a:moveTo>
                    <a:pt x="27" y="0"/>
                  </a:moveTo>
                  <a:cubicBezTo>
                    <a:pt x="41" y="0"/>
                    <a:pt x="53" y="13"/>
                    <a:pt x="53" y="28"/>
                  </a:cubicBezTo>
                  <a:cubicBezTo>
                    <a:pt x="53" y="31"/>
                    <a:pt x="51" y="34"/>
                    <a:pt x="48" y="34"/>
                  </a:cubicBezTo>
                  <a:cubicBezTo>
                    <a:pt x="45" y="34"/>
                    <a:pt x="43" y="31"/>
                    <a:pt x="43" y="28"/>
                  </a:cubicBezTo>
                  <a:cubicBezTo>
                    <a:pt x="43" y="19"/>
                    <a:pt x="36" y="11"/>
                    <a:pt x="27" y="11"/>
                  </a:cubicBezTo>
                  <a:cubicBezTo>
                    <a:pt x="18" y="10"/>
                    <a:pt x="10" y="18"/>
                    <a:pt x="10" y="28"/>
                  </a:cubicBezTo>
                  <a:cubicBezTo>
                    <a:pt x="10" y="31"/>
                    <a:pt x="8" y="33"/>
                    <a:pt x="5" y="33"/>
                  </a:cubicBezTo>
                  <a:cubicBezTo>
                    <a:pt x="2" y="33"/>
                    <a:pt x="0" y="31"/>
                    <a:pt x="0" y="28"/>
                  </a:cubicBezTo>
                  <a:cubicBezTo>
                    <a:pt x="0" y="12"/>
                    <a:pt x="12" y="0"/>
                    <a:pt x="27" y="0"/>
                  </a:cubicBezTo>
                  <a:close/>
                </a:path>
              </a:pathLst>
            </a:custGeom>
            <a:solidFill>
              <a:srgbClr val="87404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0" name="AutoShape 60"/>
            <p:cNvSpPr/>
            <p:nvPr/>
          </p:nvSpPr>
          <p:spPr>
            <a:xfrm>
              <a:off x="10392061" y="2530567"/>
              <a:ext cx="133131" cy="79879"/>
            </a:xfrm>
            <a:custGeom>
              <a:avLst/>
              <a:gdLst/>
              <a:ahLst/>
              <a:cxnLst/>
              <a:rect l="l" t="t" r="r" b="b"/>
              <a:pathLst>
                <a:path w="56" h="34"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31"/>
                    <a:pt x="3" y="33"/>
                    <a:pt x="6" y="34"/>
                  </a:cubicBezTo>
                  <a:cubicBezTo>
                    <a:pt x="8" y="34"/>
                    <a:pt x="11" y="31"/>
                    <a:pt x="11" y="28"/>
                  </a:cubicBezTo>
                  <a:cubicBezTo>
                    <a:pt x="11" y="19"/>
                    <a:pt x="19" y="11"/>
                    <a:pt x="28" y="11"/>
                  </a:cubicBezTo>
                  <a:cubicBezTo>
                    <a:pt x="38" y="11"/>
                    <a:pt x="46" y="19"/>
                    <a:pt x="45" y="29"/>
                  </a:cubicBezTo>
                  <a:cubicBezTo>
                    <a:pt x="45" y="32"/>
                    <a:pt x="48" y="34"/>
                    <a:pt x="51" y="34"/>
                  </a:cubicBezTo>
                  <a:cubicBezTo>
                    <a:pt x="54" y="34"/>
                    <a:pt x="56" y="32"/>
                    <a:pt x="56" y="29"/>
                  </a:cubicBezTo>
                  <a:cubicBezTo>
                    <a:pt x="56" y="13"/>
                    <a:pt x="44" y="0"/>
                    <a:pt x="28" y="0"/>
                  </a:cubicBezTo>
                  <a:close/>
                </a:path>
              </a:pathLst>
            </a:custGeom>
            <a:solidFill>
              <a:srgbClr val="87404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1" name="AutoShape 61"/>
            <p:cNvSpPr/>
            <p:nvPr/>
          </p:nvSpPr>
          <p:spPr>
            <a:xfrm>
              <a:off x="10381411" y="2400985"/>
              <a:ext cx="179284" cy="111831"/>
            </a:xfrm>
            <a:custGeom>
              <a:avLst/>
              <a:gdLst/>
              <a:ahLst/>
              <a:cxnLst/>
              <a:rect l="l" t="t" r="r" b="b"/>
              <a:pathLst>
                <a:path w="75" h="47">
                  <a:moveTo>
                    <a:pt x="0" y="18"/>
                  </a:moveTo>
                  <a:cubicBezTo>
                    <a:pt x="0" y="18"/>
                    <a:pt x="62" y="47"/>
                    <a:pt x="66" y="42"/>
                  </a:cubicBezTo>
                  <a:cubicBezTo>
                    <a:pt x="71" y="38"/>
                    <a:pt x="75" y="32"/>
                    <a:pt x="70" y="28"/>
                  </a:cubicBezTo>
                  <a:cubicBezTo>
                    <a:pt x="64" y="24"/>
                    <a:pt x="10" y="0"/>
                    <a:pt x="6" y="2"/>
                  </a:cubicBezTo>
                  <a:cubicBezTo>
                    <a:pt x="2" y="3"/>
                    <a:pt x="0" y="8"/>
                    <a:pt x="0" y="18"/>
                  </a:cubicBezTo>
                  <a:close/>
                </a:path>
              </a:pathLst>
            </a:custGeom>
            <a:solidFill>
              <a:srgbClr val="01004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2" name="AutoShape 62"/>
            <p:cNvSpPr/>
            <p:nvPr/>
          </p:nvSpPr>
          <p:spPr>
            <a:xfrm>
              <a:off x="10074321" y="2413411"/>
              <a:ext cx="166858" cy="102955"/>
            </a:xfrm>
            <a:custGeom>
              <a:avLst/>
              <a:gdLst/>
              <a:ahLst/>
              <a:cxnLst/>
              <a:rect l="l" t="t" r="r" b="b"/>
              <a:pathLst>
                <a:path w="70" h="43">
                  <a:moveTo>
                    <a:pt x="69" y="14"/>
                  </a:moveTo>
                  <a:cubicBezTo>
                    <a:pt x="69" y="14"/>
                    <a:pt x="11" y="43"/>
                    <a:pt x="7" y="39"/>
                  </a:cubicBezTo>
                  <a:cubicBezTo>
                    <a:pt x="4" y="34"/>
                    <a:pt x="0" y="28"/>
                    <a:pt x="5" y="24"/>
                  </a:cubicBezTo>
                  <a:cubicBezTo>
                    <a:pt x="10" y="21"/>
                    <a:pt x="60" y="0"/>
                    <a:pt x="64" y="1"/>
                  </a:cubicBezTo>
                  <a:cubicBezTo>
                    <a:pt x="67" y="3"/>
                    <a:pt x="70" y="5"/>
                    <a:pt x="69" y="14"/>
                  </a:cubicBezTo>
                  <a:close/>
                </a:path>
              </a:pathLst>
            </a:custGeom>
            <a:solidFill>
              <a:srgbClr val="01004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3" name="AutoShape 63"/>
            <p:cNvSpPr/>
            <p:nvPr/>
          </p:nvSpPr>
          <p:spPr>
            <a:xfrm>
              <a:off x="10267805" y="2532341"/>
              <a:ext cx="78103" cy="154433"/>
            </a:xfrm>
            <a:custGeom>
              <a:avLst/>
              <a:gdLst/>
              <a:ahLst/>
              <a:cxnLst/>
              <a:rect l="l" t="t" r="r" b="b"/>
              <a:pathLst>
                <a:path w="33" h="65">
                  <a:moveTo>
                    <a:pt x="29" y="60"/>
                  </a:moveTo>
                  <a:cubicBezTo>
                    <a:pt x="25" y="65"/>
                    <a:pt x="6" y="65"/>
                    <a:pt x="1" y="60"/>
                  </a:cubicBezTo>
                  <a:cubicBezTo>
                    <a:pt x="0" y="59"/>
                    <a:pt x="0" y="56"/>
                    <a:pt x="0" y="50"/>
                  </a:cubicBezTo>
                  <a:cubicBezTo>
                    <a:pt x="1" y="33"/>
                    <a:pt x="9" y="0"/>
                    <a:pt x="16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26" y="6"/>
                    <a:pt x="33" y="56"/>
                    <a:pt x="29" y="60"/>
                  </a:cubicBezTo>
                  <a:close/>
                </a:path>
              </a:pathLst>
            </a:custGeom>
            <a:solidFill>
              <a:srgbClr val="FF96A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4" name="AutoShape 64"/>
            <p:cNvSpPr/>
            <p:nvPr/>
          </p:nvSpPr>
          <p:spPr>
            <a:xfrm>
              <a:off x="10267805" y="2532341"/>
              <a:ext cx="78103" cy="154433"/>
            </a:xfrm>
            <a:custGeom>
              <a:avLst/>
              <a:gdLst/>
              <a:ahLst/>
              <a:cxnLst/>
              <a:rect l="l" t="t" r="r" b="b"/>
              <a:pathLst>
                <a:path w="33" h="65">
                  <a:moveTo>
                    <a:pt x="29" y="60"/>
                  </a:moveTo>
                  <a:cubicBezTo>
                    <a:pt x="25" y="65"/>
                    <a:pt x="6" y="65"/>
                    <a:pt x="1" y="60"/>
                  </a:cubicBezTo>
                  <a:cubicBezTo>
                    <a:pt x="0" y="59"/>
                    <a:pt x="0" y="56"/>
                    <a:pt x="0" y="50"/>
                  </a:cubicBezTo>
                  <a:cubicBezTo>
                    <a:pt x="20" y="44"/>
                    <a:pt x="20" y="16"/>
                    <a:pt x="18" y="0"/>
                  </a:cubicBezTo>
                  <a:cubicBezTo>
                    <a:pt x="26" y="6"/>
                    <a:pt x="33" y="56"/>
                    <a:pt x="29" y="60"/>
                  </a:cubicBezTo>
                  <a:close/>
                </a:path>
              </a:pathLst>
            </a:custGeom>
            <a:solidFill>
              <a:srgbClr val="43274D">
                <a:alpha val="10196"/>
              </a:srgbClr>
            </a:solidFill>
            <a:ln>
              <a:headEnd type="none"/>
              <a:tailEnd type="none"/>
            </a:ln>
          </p:spPr>
        </p:sp>
        <p:sp>
          <p:nvSpPr>
            <p:cNvPr id="65" name="AutoShape 65"/>
            <p:cNvSpPr/>
            <p:nvPr/>
          </p:nvSpPr>
          <p:spPr>
            <a:xfrm>
              <a:off x="10223428" y="2740026"/>
              <a:ext cx="168633" cy="63903"/>
            </a:xfrm>
            <a:custGeom>
              <a:avLst/>
              <a:gdLst/>
              <a:ahLst/>
              <a:cxnLst/>
              <a:rect l="l" t="t" r="r" b="b"/>
              <a:pathLst>
                <a:path w="70" h="27">
                  <a:moveTo>
                    <a:pt x="0" y="1"/>
                  </a:moveTo>
                  <a:cubicBezTo>
                    <a:pt x="0" y="1"/>
                    <a:pt x="19" y="5"/>
                    <a:pt x="35" y="5"/>
                  </a:cubicBezTo>
                  <a:cubicBezTo>
                    <a:pt x="51" y="5"/>
                    <a:pt x="70" y="0"/>
                    <a:pt x="70" y="0"/>
                  </a:cubicBezTo>
                  <a:cubicBezTo>
                    <a:pt x="70" y="0"/>
                    <a:pt x="61" y="26"/>
                    <a:pt x="36" y="26"/>
                  </a:cubicBezTo>
                  <a:cubicBezTo>
                    <a:pt x="10" y="27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6" name="AutoShape 66"/>
            <p:cNvSpPr/>
            <p:nvPr/>
          </p:nvSpPr>
          <p:spPr>
            <a:xfrm>
              <a:off x="9827585" y="1832958"/>
              <a:ext cx="1024223" cy="811213"/>
            </a:xfrm>
            <a:custGeom>
              <a:avLst/>
              <a:gdLst/>
              <a:ahLst/>
              <a:cxnLst/>
              <a:rect l="l" t="t" r="r" b="b"/>
              <a:pathLst>
                <a:path w="429" h="340">
                  <a:moveTo>
                    <a:pt x="355" y="43"/>
                  </a:moveTo>
                  <a:cubicBezTo>
                    <a:pt x="280" y="0"/>
                    <a:pt x="281" y="23"/>
                    <a:pt x="248" y="24"/>
                  </a:cubicBezTo>
                  <a:cubicBezTo>
                    <a:pt x="216" y="25"/>
                    <a:pt x="204" y="1"/>
                    <a:pt x="176" y="17"/>
                  </a:cubicBezTo>
                  <a:cubicBezTo>
                    <a:pt x="148" y="33"/>
                    <a:pt x="149" y="55"/>
                    <a:pt x="123" y="57"/>
                  </a:cubicBezTo>
                  <a:cubicBezTo>
                    <a:pt x="96" y="60"/>
                    <a:pt x="67" y="55"/>
                    <a:pt x="65" y="82"/>
                  </a:cubicBezTo>
                  <a:cubicBezTo>
                    <a:pt x="63" y="109"/>
                    <a:pt x="23" y="122"/>
                    <a:pt x="11" y="159"/>
                  </a:cubicBezTo>
                  <a:cubicBezTo>
                    <a:pt x="0" y="195"/>
                    <a:pt x="16" y="214"/>
                    <a:pt x="14" y="244"/>
                  </a:cubicBezTo>
                  <a:cubicBezTo>
                    <a:pt x="13" y="275"/>
                    <a:pt x="30" y="306"/>
                    <a:pt x="6" y="340"/>
                  </a:cubicBezTo>
                  <a:cubicBezTo>
                    <a:pt x="6" y="340"/>
                    <a:pt x="30" y="323"/>
                    <a:pt x="38" y="307"/>
                  </a:cubicBezTo>
                  <a:cubicBezTo>
                    <a:pt x="46" y="290"/>
                    <a:pt x="39" y="285"/>
                    <a:pt x="51" y="278"/>
                  </a:cubicBezTo>
                  <a:cubicBezTo>
                    <a:pt x="53" y="277"/>
                    <a:pt x="56" y="276"/>
                    <a:pt x="58" y="275"/>
                  </a:cubicBezTo>
                  <a:cubicBezTo>
                    <a:pt x="64" y="309"/>
                    <a:pt x="90" y="340"/>
                    <a:pt x="90" y="340"/>
                  </a:cubicBezTo>
                  <a:cubicBezTo>
                    <a:pt x="77" y="316"/>
                    <a:pt x="85" y="265"/>
                    <a:pt x="85" y="265"/>
                  </a:cubicBezTo>
                  <a:cubicBezTo>
                    <a:pt x="85" y="265"/>
                    <a:pt x="85" y="265"/>
                    <a:pt x="85" y="265"/>
                  </a:cubicBezTo>
                  <a:cubicBezTo>
                    <a:pt x="87" y="263"/>
                    <a:pt x="88" y="262"/>
                    <a:pt x="90" y="260"/>
                  </a:cubicBezTo>
                  <a:cubicBezTo>
                    <a:pt x="103" y="246"/>
                    <a:pt x="98" y="221"/>
                    <a:pt x="123" y="208"/>
                  </a:cubicBezTo>
                  <a:cubicBezTo>
                    <a:pt x="148" y="196"/>
                    <a:pt x="167" y="200"/>
                    <a:pt x="188" y="184"/>
                  </a:cubicBezTo>
                  <a:cubicBezTo>
                    <a:pt x="209" y="168"/>
                    <a:pt x="264" y="148"/>
                    <a:pt x="264" y="148"/>
                  </a:cubicBezTo>
                  <a:cubicBezTo>
                    <a:pt x="264" y="148"/>
                    <a:pt x="254" y="177"/>
                    <a:pt x="236" y="191"/>
                  </a:cubicBezTo>
                  <a:cubicBezTo>
                    <a:pt x="218" y="205"/>
                    <a:pt x="210" y="204"/>
                    <a:pt x="199" y="220"/>
                  </a:cubicBezTo>
                  <a:cubicBezTo>
                    <a:pt x="188" y="236"/>
                    <a:pt x="188" y="256"/>
                    <a:pt x="188" y="256"/>
                  </a:cubicBezTo>
                  <a:cubicBezTo>
                    <a:pt x="188" y="256"/>
                    <a:pt x="216" y="222"/>
                    <a:pt x="232" y="218"/>
                  </a:cubicBezTo>
                  <a:cubicBezTo>
                    <a:pt x="247" y="213"/>
                    <a:pt x="263" y="215"/>
                    <a:pt x="273" y="206"/>
                  </a:cubicBezTo>
                  <a:cubicBezTo>
                    <a:pt x="284" y="196"/>
                    <a:pt x="298" y="154"/>
                    <a:pt x="324" y="148"/>
                  </a:cubicBezTo>
                  <a:cubicBezTo>
                    <a:pt x="324" y="148"/>
                    <a:pt x="316" y="159"/>
                    <a:pt x="315" y="176"/>
                  </a:cubicBezTo>
                  <a:cubicBezTo>
                    <a:pt x="314" y="192"/>
                    <a:pt x="311" y="204"/>
                    <a:pt x="298" y="206"/>
                  </a:cubicBezTo>
                  <a:cubicBezTo>
                    <a:pt x="298" y="206"/>
                    <a:pt x="311" y="218"/>
                    <a:pt x="327" y="212"/>
                  </a:cubicBezTo>
                  <a:cubicBezTo>
                    <a:pt x="344" y="206"/>
                    <a:pt x="356" y="161"/>
                    <a:pt x="393" y="167"/>
                  </a:cubicBezTo>
                  <a:cubicBezTo>
                    <a:pt x="393" y="167"/>
                    <a:pt x="429" y="85"/>
                    <a:pt x="355" y="43"/>
                  </a:cubicBezTo>
                  <a:close/>
                </a:path>
              </a:pathLst>
            </a:custGeom>
            <a:solidFill>
              <a:srgbClr val="0C0A5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7" name="AutoShape 67"/>
            <p:cNvSpPr/>
            <p:nvPr/>
          </p:nvSpPr>
          <p:spPr>
            <a:xfrm>
              <a:off x="10060120" y="2076146"/>
              <a:ext cx="367442" cy="220110"/>
            </a:xfrm>
            <a:custGeom>
              <a:avLst/>
              <a:gdLst/>
              <a:ahLst/>
              <a:cxnLst/>
              <a:rect l="l" t="t" r="r" b="b"/>
              <a:pathLst>
                <a:path w="154" h="92">
                  <a:moveTo>
                    <a:pt x="0" y="92"/>
                  </a:moveTo>
                  <a:cubicBezTo>
                    <a:pt x="0" y="92"/>
                    <a:pt x="9" y="58"/>
                    <a:pt x="42" y="55"/>
                  </a:cubicBezTo>
                  <a:cubicBezTo>
                    <a:pt x="75" y="53"/>
                    <a:pt x="103" y="47"/>
                    <a:pt x="110" y="30"/>
                  </a:cubicBezTo>
                  <a:cubicBezTo>
                    <a:pt x="117" y="13"/>
                    <a:pt x="140" y="4"/>
                    <a:pt x="154" y="0"/>
                  </a:cubicBezTo>
                </a:path>
              </a:pathLst>
            </a:custGeom>
            <a:ln w="9525">
              <a:solidFill>
                <a:srgbClr val="100D7D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8" name="AutoShape 68"/>
            <p:cNvSpPr/>
            <p:nvPr/>
          </p:nvSpPr>
          <p:spPr>
            <a:xfrm>
              <a:off x="9918114" y="2060169"/>
              <a:ext cx="218335" cy="179284"/>
            </a:xfrm>
            <a:custGeom>
              <a:avLst/>
              <a:gdLst/>
              <a:ahLst/>
              <a:cxnLst/>
              <a:rect l="l" t="t" r="r" b="b"/>
              <a:pathLst>
                <a:path w="91" h="75">
                  <a:moveTo>
                    <a:pt x="8" y="75"/>
                  </a:moveTo>
                  <a:cubicBezTo>
                    <a:pt x="8" y="75"/>
                    <a:pt x="0" y="44"/>
                    <a:pt x="29" y="34"/>
                  </a:cubicBezTo>
                  <a:cubicBezTo>
                    <a:pt x="59" y="24"/>
                    <a:pt x="91" y="14"/>
                    <a:pt x="91" y="0"/>
                  </a:cubicBezTo>
                </a:path>
              </a:pathLst>
            </a:custGeom>
            <a:ln w="9525">
              <a:solidFill>
                <a:srgbClr val="100D7D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9" name="AutoShape 69"/>
            <p:cNvSpPr/>
            <p:nvPr/>
          </p:nvSpPr>
          <p:spPr>
            <a:xfrm>
              <a:off x="7576781" y="2887358"/>
              <a:ext cx="1918865" cy="1239008"/>
            </a:xfrm>
            <a:custGeom>
              <a:avLst/>
              <a:gdLst/>
              <a:ahLst/>
              <a:cxnLst/>
              <a:rect l="l" t="t" r="r" b="b"/>
              <a:pathLst>
                <a:path w="804" h="519">
                  <a:moveTo>
                    <a:pt x="778" y="519"/>
                  </a:moveTo>
                  <a:cubicBezTo>
                    <a:pt x="61" y="519"/>
                    <a:pt x="61" y="519"/>
                    <a:pt x="61" y="519"/>
                  </a:cubicBezTo>
                  <a:cubicBezTo>
                    <a:pt x="49" y="519"/>
                    <a:pt x="38" y="509"/>
                    <a:pt x="37" y="49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742" y="0"/>
                    <a:pt x="742" y="0"/>
                    <a:pt x="742" y="0"/>
                  </a:cubicBezTo>
                  <a:cubicBezTo>
                    <a:pt x="755" y="0"/>
                    <a:pt x="766" y="10"/>
                    <a:pt x="767" y="23"/>
                  </a:cubicBezTo>
                  <a:cubicBezTo>
                    <a:pt x="803" y="492"/>
                    <a:pt x="803" y="492"/>
                    <a:pt x="803" y="492"/>
                  </a:cubicBezTo>
                  <a:cubicBezTo>
                    <a:pt x="804" y="506"/>
                    <a:pt x="793" y="519"/>
                    <a:pt x="778" y="519"/>
                  </a:cubicBezTo>
                </a:path>
              </a:pathLst>
            </a:cu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0" name="AutoShape 70"/>
            <p:cNvSpPr/>
            <p:nvPr/>
          </p:nvSpPr>
          <p:spPr>
            <a:xfrm>
              <a:off x="8276163" y="3911580"/>
              <a:ext cx="81654" cy="214786"/>
            </a:xfrm>
            <a:custGeom>
              <a:avLst/>
              <a:gdLst/>
              <a:ahLst/>
              <a:cxnLst/>
              <a:rect l="l" t="t" r="r" b="b"/>
              <a:pathLst>
                <a:path w="46" h="120">
                  <a:moveTo>
                    <a:pt x="46" y="0"/>
                  </a:moveTo>
                  <a:lnTo>
                    <a:pt x="0" y="121"/>
                  </a:lnTo>
                  <a:lnTo>
                    <a:pt x="46" y="121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BDCCD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1" name="AutoShape 71"/>
            <p:cNvSpPr/>
            <p:nvPr/>
          </p:nvSpPr>
          <p:spPr>
            <a:xfrm>
              <a:off x="8276163" y="3911580"/>
              <a:ext cx="81654" cy="214786"/>
            </a:xfrm>
            <a:custGeom>
              <a:avLst/>
              <a:gdLst/>
              <a:ahLst/>
              <a:cxnLst/>
              <a:rect l="l" t="t" r="r" b="b"/>
              <a:pathLst>
                <a:path w="46" h="120">
                  <a:moveTo>
                    <a:pt x="46" y="0"/>
                  </a:moveTo>
                  <a:lnTo>
                    <a:pt x="0" y="121"/>
                  </a:lnTo>
                  <a:lnTo>
                    <a:pt x="46" y="121"/>
                  </a:lnTo>
                  <a:lnTo>
                    <a:pt x="46" y="0"/>
                  </a:lnTo>
                </a:path>
              </a:pathLst>
            </a:custGeom>
            <a:ln>
              <a:headEnd type="none"/>
              <a:tailEnd type="none"/>
            </a:ln>
          </p:spPr>
        </p:sp>
        <p:sp>
          <p:nvSpPr>
            <p:cNvPr id="72" name="AutoShape 72"/>
            <p:cNvSpPr/>
            <p:nvPr/>
          </p:nvSpPr>
          <p:spPr>
            <a:xfrm>
              <a:off x="8714608" y="3911580"/>
              <a:ext cx="120705" cy="214786"/>
            </a:xfrm>
            <a:custGeom>
              <a:avLst/>
              <a:gdLst/>
              <a:ahLst/>
              <a:cxnLst/>
              <a:rect l="l" t="t" r="r" b="b"/>
              <a:pathLst>
                <a:path w="68" h="120">
                  <a:moveTo>
                    <a:pt x="0" y="0"/>
                  </a:moveTo>
                  <a:lnTo>
                    <a:pt x="8" y="121"/>
                  </a:lnTo>
                  <a:lnTo>
                    <a:pt x="68" y="1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CCD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3" name="AutoShape 73"/>
            <p:cNvSpPr/>
            <p:nvPr/>
          </p:nvSpPr>
          <p:spPr>
            <a:xfrm>
              <a:off x="8714608" y="3911580"/>
              <a:ext cx="120705" cy="214786"/>
            </a:xfrm>
            <a:custGeom>
              <a:avLst/>
              <a:gdLst/>
              <a:ahLst/>
              <a:cxnLst/>
              <a:rect l="l" t="t" r="r" b="b"/>
              <a:pathLst>
                <a:path w="68" h="120">
                  <a:moveTo>
                    <a:pt x="0" y="0"/>
                  </a:moveTo>
                  <a:lnTo>
                    <a:pt x="8" y="121"/>
                  </a:lnTo>
                  <a:lnTo>
                    <a:pt x="68" y="121"/>
                  </a:lnTo>
                  <a:lnTo>
                    <a:pt x="0" y="0"/>
                  </a:lnTo>
                </a:path>
              </a:pathLst>
            </a:custGeom>
            <a:ln>
              <a:headEnd type="none"/>
              <a:tailEnd type="none"/>
            </a:ln>
          </p:spPr>
        </p:sp>
        <p:sp>
          <p:nvSpPr>
            <p:cNvPr id="74" name="AutoShape 74"/>
            <p:cNvSpPr/>
            <p:nvPr/>
          </p:nvSpPr>
          <p:spPr>
            <a:xfrm>
              <a:off x="8457222" y="3426982"/>
              <a:ext cx="157983" cy="157983"/>
            </a:xfrm>
            <a:custGeom>
              <a:avLst/>
              <a:gdLst/>
              <a:ahLst/>
              <a:cxnLst/>
              <a:rect l="l" t="t" r="r" b="b"/>
              <a:pathLst>
                <a:path w="66" h="66">
                  <a:moveTo>
                    <a:pt x="54" y="12"/>
                  </a:moveTo>
                  <a:cubicBezTo>
                    <a:pt x="66" y="24"/>
                    <a:pt x="66" y="43"/>
                    <a:pt x="54" y="55"/>
                  </a:cubicBezTo>
                  <a:cubicBezTo>
                    <a:pt x="42" y="66"/>
                    <a:pt x="23" y="66"/>
                    <a:pt x="12" y="55"/>
                  </a:cubicBezTo>
                  <a:cubicBezTo>
                    <a:pt x="0" y="43"/>
                    <a:pt x="0" y="24"/>
                    <a:pt x="12" y="12"/>
                  </a:cubicBezTo>
                  <a:cubicBezTo>
                    <a:pt x="23" y="0"/>
                    <a:pt x="42" y="0"/>
                    <a:pt x="54" y="12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5" name="AutoShape 75"/>
            <p:cNvSpPr/>
            <p:nvPr/>
          </p:nvSpPr>
          <p:spPr>
            <a:xfrm>
              <a:off x="8324089" y="3911580"/>
              <a:ext cx="424245" cy="513000"/>
            </a:xfrm>
            <a:custGeom>
              <a:avLst/>
              <a:gdLst/>
              <a:ahLst/>
              <a:cxnLst/>
              <a:rect l="l" t="t" r="r" b="b"/>
              <a:pathLst>
                <a:path w="239" h="289">
                  <a:moveTo>
                    <a:pt x="239" y="289"/>
                  </a:moveTo>
                  <a:lnTo>
                    <a:pt x="0" y="289"/>
                  </a:lnTo>
                  <a:lnTo>
                    <a:pt x="19" y="0"/>
                  </a:lnTo>
                  <a:lnTo>
                    <a:pt x="220" y="0"/>
                  </a:lnTo>
                  <a:lnTo>
                    <a:pt x="239" y="289"/>
                  </a:lnTo>
                  <a:close/>
                </a:path>
              </a:pathLst>
            </a:custGeom>
            <a:solidFill>
              <a:srgbClr val="91B8E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6" name="AutoShape 76"/>
            <p:cNvSpPr/>
            <p:nvPr/>
          </p:nvSpPr>
          <p:spPr>
            <a:xfrm>
              <a:off x="8139481" y="4408604"/>
              <a:ext cx="789913" cy="113606"/>
            </a:xfrm>
            <a:custGeom>
              <a:avLst/>
              <a:gdLst/>
              <a:ahLst/>
              <a:cxnLst/>
              <a:rect l="l" t="t" r="r" b="b"/>
              <a:pathLst>
                <a:path w="331" h="48">
                  <a:moveTo>
                    <a:pt x="331" y="48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310" y="0"/>
                    <a:pt x="331" y="22"/>
                    <a:pt x="331" y="48"/>
                  </a:cubicBezTo>
                  <a:close/>
                </a:path>
              </a:pathLst>
            </a:cu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7" name="AutoShape 77"/>
            <p:cNvSpPr/>
            <p:nvPr/>
          </p:nvSpPr>
          <p:spPr>
            <a:xfrm>
              <a:off x="9080275" y="4460080"/>
              <a:ext cx="797012" cy="69229"/>
            </a:xfrm>
            <a:prstGeom prst="rect">
              <a:avLst/>
            </a:pr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8" name="AutoShape 78"/>
            <p:cNvSpPr/>
            <p:nvPr/>
          </p:nvSpPr>
          <p:spPr>
            <a:xfrm>
              <a:off x="9106902" y="4442330"/>
              <a:ext cx="140232" cy="30177"/>
            </a:xfrm>
            <a:prstGeom prst="rect">
              <a:avLst/>
            </a:pr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9" name="AutoShape 79"/>
            <p:cNvSpPr/>
            <p:nvPr/>
          </p:nvSpPr>
          <p:spPr>
            <a:xfrm>
              <a:off x="9257784" y="4442330"/>
              <a:ext cx="140232" cy="30177"/>
            </a:xfrm>
            <a:prstGeom prst="rect">
              <a:avLst/>
            </a:pr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0" name="AutoShape 80"/>
            <p:cNvSpPr/>
            <p:nvPr/>
          </p:nvSpPr>
          <p:spPr>
            <a:xfrm>
              <a:off x="9406890" y="4442330"/>
              <a:ext cx="143782" cy="30177"/>
            </a:xfrm>
            <a:prstGeom prst="rect">
              <a:avLst/>
            </a:pr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1" name="AutoShape 81"/>
            <p:cNvSpPr/>
            <p:nvPr/>
          </p:nvSpPr>
          <p:spPr>
            <a:xfrm>
              <a:off x="9559548" y="4442330"/>
              <a:ext cx="142007" cy="30177"/>
            </a:xfrm>
            <a:prstGeom prst="rect">
              <a:avLst/>
            </a:pr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2" name="AutoShape 82"/>
            <p:cNvSpPr/>
            <p:nvPr/>
          </p:nvSpPr>
          <p:spPr>
            <a:xfrm>
              <a:off x="9710430" y="4442330"/>
              <a:ext cx="142007" cy="30177"/>
            </a:xfrm>
            <a:prstGeom prst="rect">
              <a:avLst/>
            </a:prstGeom>
            <a:solidFill>
              <a:srgbClr val="C5D5E8">
                <a:alpha val="100000"/>
              </a:srgbClr>
            </a:solidFill>
            <a:ln>
              <a:headEnd type="none"/>
              <a:tailEnd type="none"/>
            </a:ln>
          </p:spPr>
        </p:sp>
        <p:grpSp>
          <p:nvGrpSpPr>
            <p:cNvPr id="83" name="Group 83"/>
            <p:cNvGrpSpPr/>
            <p:nvPr/>
          </p:nvGrpSpPr>
          <p:grpSpPr>
            <a:xfrm rot="20520000">
              <a:off x="9801702" y="982368"/>
              <a:ext cx="1065050" cy="745535"/>
              <a:chOff x="7074431" y="2665473"/>
              <a:chExt cx="1065050" cy="745535"/>
            </a:xfrm>
          </p:grpSpPr>
          <p:sp>
            <p:nvSpPr>
              <p:cNvPr id="84" name="AutoShape 84"/>
              <p:cNvSpPr/>
              <p:nvPr/>
            </p:nvSpPr>
            <p:spPr>
              <a:xfrm>
                <a:off x="7074431" y="2665473"/>
                <a:ext cx="1065050" cy="745535"/>
              </a:xfrm>
              <a:custGeom>
                <a:avLst/>
                <a:gdLst/>
                <a:ahLst/>
                <a:cxnLst/>
                <a:rect l="l" t="t" r="r" b="b"/>
                <a:pathLst>
                  <a:path w="446" h="312">
                    <a:moveTo>
                      <a:pt x="414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14" y="0"/>
                      <a:pt x="0" y="14"/>
                      <a:pt x="0" y="32"/>
                    </a:cubicBezTo>
                    <a:cubicBezTo>
                      <a:pt x="0" y="215"/>
                      <a:pt x="0" y="215"/>
                      <a:pt x="0" y="215"/>
                    </a:cubicBezTo>
                    <a:cubicBezTo>
                      <a:pt x="0" y="232"/>
                      <a:pt x="14" y="246"/>
                      <a:pt x="32" y="246"/>
                    </a:cubicBezTo>
                    <a:cubicBezTo>
                      <a:pt x="44" y="246"/>
                      <a:pt x="44" y="246"/>
                      <a:pt x="44" y="246"/>
                    </a:cubicBezTo>
                    <a:cubicBezTo>
                      <a:pt x="53" y="312"/>
                      <a:pt x="53" y="312"/>
                      <a:pt x="53" y="312"/>
                    </a:cubicBezTo>
                    <a:cubicBezTo>
                      <a:pt x="98" y="246"/>
                      <a:pt x="98" y="246"/>
                      <a:pt x="98" y="246"/>
                    </a:cubicBezTo>
                    <a:cubicBezTo>
                      <a:pt x="414" y="246"/>
                      <a:pt x="414" y="246"/>
                      <a:pt x="414" y="246"/>
                    </a:cubicBezTo>
                    <a:cubicBezTo>
                      <a:pt x="432" y="246"/>
                      <a:pt x="446" y="232"/>
                      <a:pt x="446" y="215"/>
                    </a:cubicBezTo>
                    <a:cubicBezTo>
                      <a:pt x="446" y="32"/>
                      <a:pt x="446" y="32"/>
                      <a:pt x="446" y="32"/>
                    </a:cubicBezTo>
                    <a:cubicBezTo>
                      <a:pt x="446" y="14"/>
                      <a:pt x="432" y="0"/>
                      <a:pt x="414" y="0"/>
                    </a:cubicBezTo>
                    <a:close/>
                  </a:path>
                </a:pathLst>
              </a:custGeom>
              <a:solidFill>
                <a:srgbClr val="A5D1FE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85" name="AutoShape 85"/>
              <p:cNvSpPr/>
              <p:nvPr/>
            </p:nvSpPr>
            <p:spPr>
              <a:xfrm>
                <a:off x="7377971" y="2919309"/>
                <a:ext cx="83429" cy="83429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86" name="AutoShape 86"/>
              <p:cNvSpPr/>
              <p:nvPr/>
            </p:nvSpPr>
            <p:spPr>
              <a:xfrm>
                <a:off x="7566130" y="2919309"/>
                <a:ext cx="81654" cy="83429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87" name="AutoShape 87"/>
              <p:cNvSpPr/>
              <p:nvPr/>
            </p:nvSpPr>
            <p:spPr>
              <a:xfrm>
                <a:off x="7752513" y="2919309"/>
                <a:ext cx="83429" cy="83429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slideLayout" Target="../slideLayouts/slideLayout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4" Type="http://schemas.openxmlformats.org/officeDocument/2006/relationships/slideLayout" Target="../slideLayouts/slideLayout6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tags" Target="../tags/tag2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4" Type="http://schemas.openxmlformats.org/officeDocument/2006/relationships/slideLayout" Target="../slideLayouts/slideLayout6.xml"/><Relationship Id="rId23" Type="http://schemas.openxmlformats.org/officeDocument/2006/relationships/tags" Target="../tags/tag61.xml"/><Relationship Id="rId22" Type="http://schemas.openxmlformats.org/officeDocument/2006/relationships/tags" Target="../tags/tag60.xml"/><Relationship Id="rId21" Type="http://schemas.openxmlformats.org/officeDocument/2006/relationships/tags" Target="../tags/tag59.xml"/><Relationship Id="rId20" Type="http://schemas.openxmlformats.org/officeDocument/2006/relationships/tags" Target="../tags/tag58.xml"/><Relationship Id="rId2" Type="http://schemas.openxmlformats.org/officeDocument/2006/relationships/tags" Target="../tags/tag40.xml"/><Relationship Id="rId19" Type="http://schemas.openxmlformats.org/officeDocument/2006/relationships/tags" Target="../tags/tag57.xml"/><Relationship Id="rId18" Type="http://schemas.openxmlformats.org/officeDocument/2006/relationships/tags" Target="../tags/tag56.xml"/><Relationship Id="rId17" Type="http://schemas.openxmlformats.org/officeDocument/2006/relationships/tags" Target="../tags/tag55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5" Type="http://schemas.openxmlformats.org/officeDocument/2006/relationships/slideLayout" Target="../slideLayouts/slideLayout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tags" Target="../tags/tag6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7" Type="http://schemas.openxmlformats.org/officeDocument/2006/relationships/slideLayout" Target="../slideLayouts/slideLayout6.xml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tags" Target="../tags/tag76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4" Type="http://schemas.openxmlformats.org/officeDocument/2006/relationships/slideLayout" Target="../slideLayouts/slideLayout6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tags" Target="../tags/tag9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130300"/>
            <a:ext cx="5703078" cy="221711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TCP协议实验指导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0" y="3347418"/>
            <a:ext cx="5703078" cy="1828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4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深入理解TCP工作原理与编程实践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660399" y="5585460"/>
            <a:ext cx="5703077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1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报告人名称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660399" y="5859780"/>
            <a:ext cx="5703077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20xx.xx.xx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caed9d6-c0d5-402d-a13c-963d60d56e8c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0" y="1130300"/>
            <a:ext cx="12192000" cy="4305311"/>
            <a:chOff x="0" y="1130300"/>
            <a:chExt cx="12192000" cy="4305311"/>
          </a:xfrm>
        </p:grpSpPr>
        <p:sp>
          <p:nvSpPr>
            <p:cNvPr id="4" name="AutoShape 4"/>
            <p:cNvSpPr/>
            <p:nvPr/>
          </p:nvSpPr>
          <p:spPr>
            <a:xfrm>
              <a:off x="0" y="3406786"/>
              <a:ext cx="12192000" cy="1076060"/>
            </a:xfrm>
            <a:prstGeom prst="rect">
              <a:avLst/>
            </a:prstGeom>
            <a:solidFill>
              <a:srgbClr val="0E1B3D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660400" y="3944816"/>
              <a:ext cx="10858500" cy="0"/>
            </a:xfrm>
            <a:prstGeom prst="straightConnector1">
              <a:avLst/>
            </a:prstGeom>
            <a:ln w="6350">
              <a:gradFill>
                <a:gsLst>
                  <a:gs pos="0">
                    <a:srgbClr val="0E1B3D">
                      <a:alpha val="0"/>
                    </a:srgbClr>
                  </a:gs>
                  <a:gs pos="100000">
                    <a:srgbClr val="0E1B3D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triangle"/>
            </a:ln>
          </p:spPr>
        </p:sp>
        <p:grpSp>
          <p:nvGrpSpPr>
            <p:cNvPr id="6" name="Group 6"/>
            <p:cNvGrpSpPr/>
            <p:nvPr/>
          </p:nvGrpSpPr>
          <p:grpSpPr>
            <a:xfrm rot="0">
              <a:off x="666750" y="3650127"/>
              <a:ext cx="2108228" cy="1785484"/>
              <a:chOff x="666750" y="3650127"/>
              <a:chExt cx="2108228" cy="1785484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411803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0E1B3D">
                      <a:alpha val="100000"/>
                      <a:lumMod val="60000"/>
                      <a:lumOff val="40000"/>
                    </a:srgbClr>
                  </a:gs>
                  <a:gs pos="75000">
                    <a:srgbClr val="0E1B3D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grpSp>
            <p:nvGrpSpPr>
              <p:cNvPr id="8" name="Group 8"/>
              <p:cNvGrpSpPr/>
              <p:nvPr/>
            </p:nvGrpSpPr>
            <p:grpSpPr>
              <a:xfrm rot="0">
                <a:off x="666750" y="4236631"/>
                <a:ext cx="2108228" cy="1198980"/>
                <a:chOff x="1906502" y="4601292"/>
                <a:chExt cx="2108228" cy="1198980"/>
              </a:xfrm>
            </p:grpSpPr>
            <p:sp>
              <p:nvSpPr>
                <p:cNvPr id="9" name="TextBox 9"/>
                <p:cNvSpPr txBox="1"/>
                <p:nvPr/>
              </p:nvSpPr>
              <p:spPr>
                <a:xfrm>
                  <a:off x="1906502" y="5090848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实验目标总览</a:t>
                  </a:r>
                  <a:endParaRPr lang="en-US" sz="1100"/>
                </a:p>
              </p:txBody>
            </p:sp>
            <p:sp>
              <p:nvSpPr>
                <p:cNvPr id="10" name="AutoShape 10"/>
                <p:cNvSpPr/>
                <p:nvPr/>
              </p:nv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0E1B3D">
                          <a:alpha val="0"/>
                        </a:srgbClr>
                      </a:gs>
                      <a:gs pos="100000">
                        <a:srgbClr val="0E1B3D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11" name="Group 11"/>
            <p:cNvGrpSpPr/>
            <p:nvPr/>
          </p:nvGrpSpPr>
          <p:grpSpPr>
            <a:xfrm rot="0">
              <a:off x="2327623" y="2441361"/>
              <a:ext cx="2108228" cy="1795270"/>
              <a:chOff x="2327623" y="2441361"/>
              <a:chExt cx="2108228" cy="179527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3088485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39A1FF">
                      <a:alpha val="100000"/>
                      <a:lumMod val="60000"/>
                      <a:lumOff val="40000"/>
                    </a:srgbClr>
                  </a:gs>
                  <a:gs pos="75000">
                    <a:srgbClr val="39A1FF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grpSp>
            <p:nvGrpSpPr>
              <p:cNvPr id="13" name="Group 13"/>
              <p:cNvGrpSpPr/>
              <p:nvPr/>
            </p:nvGrpSpPr>
            <p:grpSpPr>
              <a:xfrm rot="0">
                <a:off x="2327623" y="2441361"/>
                <a:ext cx="2108228" cy="1205891"/>
                <a:chOff x="1900152" y="5316110"/>
                <a:chExt cx="2108228" cy="1205891"/>
              </a:xfrm>
            </p:grpSpPr>
            <p:sp>
              <p:nvSpPr>
                <p:cNvPr id="14" name="TextBox 14"/>
                <p:cNvSpPr txBox="1"/>
                <p:nvPr/>
              </p:nvSpPr>
              <p:spPr>
                <a:xfrm>
                  <a:off x="1900152" y="5316110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实验原理详解</a:t>
                  </a:r>
                  <a:endParaRPr lang="en-US" sz="1100"/>
                </a:p>
              </p:txBody>
            </p:sp>
            <p:sp>
              <p:nvSpPr>
                <p:cNvPr id="15" name="AutoShape 15"/>
                <p:cNvSpPr/>
                <p:nvPr/>
              </p:nv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0E1B3D">
                          <a:alpha val="0"/>
                        </a:srgbClr>
                      </a:gs>
                      <a:gs pos="100000">
                        <a:srgbClr val="0E1B3D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sp>
          <p:nvSpPr>
            <p:cNvPr id="16" name="AutoShape 16"/>
            <p:cNvSpPr/>
            <p:nvPr/>
          </p:nvSpPr>
          <p:spPr>
            <a:xfrm>
              <a:off x="666750" y="1130300"/>
              <a:ext cx="10858500" cy="1002918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</p:sp>
        <p:grpSp>
          <p:nvGrpSpPr>
            <p:cNvPr id="17" name="Group 17"/>
            <p:cNvGrpSpPr/>
            <p:nvPr/>
          </p:nvGrpSpPr>
          <p:grpSpPr>
            <a:xfrm rot="0">
              <a:off x="3987772" y="3650127"/>
              <a:ext cx="2108228" cy="1785484"/>
              <a:chOff x="3987772" y="3650127"/>
              <a:chExt cx="2108228" cy="1785484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4765167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0E1B3D">
                      <a:alpha val="100000"/>
                      <a:lumMod val="60000"/>
                      <a:lumOff val="40000"/>
                    </a:srgbClr>
                  </a:gs>
                  <a:gs pos="75000">
                    <a:srgbClr val="0E1B3D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grpSp>
            <p:nvGrpSpPr>
              <p:cNvPr id="19" name="Group 19"/>
              <p:cNvGrpSpPr/>
              <p:nvPr/>
            </p:nvGrpSpPr>
            <p:grpSpPr>
              <a:xfrm rot="0">
                <a:off x="3987772" y="4236631"/>
                <a:ext cx="2108228" cy="1198980"/>
                <a:chOff x="1906502" y="4601292"/>
                <a:chExt cx="2108228" cy="1198980"/>
              </a:xfrm>
            </p:grpSpPr>
            <p:sp>
              <p:nvSpPr>
                <p:cNvPr id="20" name="TextBox 20"/>
                <p:cNvSpPr txBox="1"/>
                <p:nvPr/>
              </p:nvSpPr>
              <p:spPr>
                <a:xfrm>
                  <a:off x="1906502" y="5090848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实验环境与准备</a:t>
                  </a:r>
                  <a:endParaRPr lang="en-US" sz="1100"/>
                </a:p>
              </p:txBody>
            </p:sp>
            <p:sp>
              <p:nvSpPr>
                <p:cNvPr id="21" name="AutoShape 21"/>
                <p:cNvSpPr/>
                <p:nvPr/>
              </p:nv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0E1B3D">
                          <a:alpha val="0"/>
                        </a:srgbClr>
                      </a:gs>
                      <a:gs pos="100000">
                        <a:srgbClr val="0E1B3D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22" name="Group 22"/>
            <p:cNvGrpSpPr/>
            <p:nvPr/>
          </p:nvGrpSpPr>
          <p:grpSpPr>
            <a:xfrm rot="0">
              <a:off x="5680987" y="2441361"/>
              <a:ext cx="2108228" cy="1795270"/>
              <a:chOff x="5680987" y="2441361"/>
              <a:chExt cx="2108228" cy="179527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6441849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39A1FF">
                      <a:alpha val="100000"/>
                      <a:lumMod val="60000"/>
                      <a:lumOff val="40000"/>
                    </a:srgbClr>
                  </a:gs>
                  <a:gs pos="75000">
                    <a:srgbClr val="39A1FF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grpSp>
            <p:nvGrpSpPr>
              <p:cNvPr id="24" name="Group 24"/>
              <p:cNvGrpSpPr/>
              <p:nvPr/>
            </p:nvGrpSpPr>
            <p:grpSpPr>
              <a:xfrm rot="0">
                <a:off x="5680987" y="2441361"/>
                <a:ext cx="2108228" cy="1205891"/>
                <a:chOff x="1900152" y="5316110"/>
                <a:chExt cx="2108228" cy="1205891"/>
              </a:xfrm>
            </p:grpSpPr>
            <p:sp>
              <p:nvSpPr>
                <p:cNvPr id="25" name="TextBox 25"/>
                <p:cNvSpPr txBox="1"/>
                <p:nvPr/>
              </p:nvSpPr>
              <p:spPr>
                <a:xfrm>
                  <a:off x="1900152" y="5316110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TCP协议分析</a:t>
                  </a:r>
                  <a:endParaRPr lang="en-US" sz="1100"/>
                </a:p>
              </p:txBody>
            </p:sp>
            <p:sp>
              <p:nvSpPr>
                <p:cNvPr id="26" name="AutoShape 26"/>
                <p:cNvSpPr/>
                <p:nvPr/>
              </p:nv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0E1B3D">
                          <a:alpha val="0"/>
                        </a:srgbClr>
                      </a:gs>
                      <a:gs pos="100000">
                        <a:srgbClr val="0E1B3D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27" name="Group 27"/>
            <p:cNvGrpSpPr/>
            <p:nvPr/>
          </p:nvGrpSpPr>
          <p:grpSpPr>
            <a:xfrm rot="0">
              <a:off x="7364019" y="3650127"/>
              <a:ext cx="2108228" cy="1785484"/>
              <a:chOff x="7364019" y="3650127"/>
              <a:chExt cx="2108228" cy="1785484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8118531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0E1B3D">
                      <a:alpha val="100000"/>
                      <a:lumMod val="60000"/>
                      <a:lumOff val="40000"/>
                    </a:srgbClr>
                  </a:gs>
                  <a:gs pos="75000">
                    <a:srgbClr val="0E1B3D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 rot="0">
                <a:off x="7364019" y="4236631"/>
                <a:ext cx="2108228" cy="1198980"/>
                <a:chOff x="1906502" y="4601292"/>
                <a:chExt cx="2108228" cy="1198980"/>
              </a:xfrm>
            </p:grpSpPr>
            <p:sp>
              <p:nvSpPr>
                <p:cNvPr id="30" name="TextBox 30"/>
                <p:cNvSpPr txBox="1"/>
                <p:nvPr/>
              </p:nvSpPr>
              <p:spPr>
                <a:xfrm>
                  <a:off x="1906502" y="5090848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TCP编程实践</a:t>
                  </a:r>
                  <a:endParaRPr lang="en-US" sz="1100"/>
                </a:p>
              </p:txBody>
            </p:sp>
            <p:sp>
              <p:nvSpPr>
                <p:cNvPr id="31" name="AutoShape 31"/>
                <p:cNvSpPr/>
                <p:nvPr/>
              </p:nv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0E1B3D">
                          <a:alpha val="0"/>
                        </a:srgbClr>
                      </a:gs>
                      <a:gs pos="100000">
                        <a:srgbClr val="0E1B3D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32" name="Group 32"/>
            <p:cNvGrpSpPr/>
            <p:nvPr/>
          </p:nvGrpSpPr>
          <p:grpSpPr>
            <a:xfrm rot="0">
              <a:off x="9034351" y="2441361"/>
              <a:ext cx="2108228" cy="1795270"/>
              <a:chOff x="9034351" y="2441361"/>
              <a:chExt cx="2108228" cy="1795270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9795213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39A1FF">
                      <a:alpha val="100000"/>
                      <a:lumMod val="60000"/>
                      <a:lumOff val="40000"/>
                    </a:srgbClr>
                  </a:gs>
                  <a:gs pos="75000">
                    <a:srgbClr val="39A1FF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06</a:t>
                </a:r>
                <a:endParaRPr lang="en-US" sz="1100"/>
              </a:p>
            </p:txBody>
          </p:sp>
          <p:grpSp>
            <p:nvGrpSpPr>
              <p:cNvPr id="34" name="Group 34"/>
              <p:cNvGrpSpPr/>
              <p:nvPr/>
            </p:nvGrpSpPr>
            <p:grpSpPr>
              <a:xfrm rot="0">
                <a:off x="9034351" y="2441361"/>
                <a:ext cx="2108228" cy="1205891"/>
                <a:chOff x="1900152" y="5316110"/>
                <a:chExt cx="2108228" cy="1205891"/>
              </a:xfrm>
            </p:grpSpPr>
            <p:sp>
              <p:nvSpPr>
                <p:cNvPr id="35" name="TextBox 35"/>
                <p:cNvSpPr txBox="1"/>
                <p:nvPr/>
              </p:nvSpPr>
              <p:spPr>
                <a:xfrm>
                  <a:off x="1900152" y="5316110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总结与讨论</a:t>
                  </a:r>
                  <a:endParaRPr lang="en-US" sz="1100"/>
                </a:p>
              </p:txBody>
            </p:sp>
            <p:sp>
              <p:nvSpPr>
                <p:cNvPr id="36" name="AutoShape 36"/>
                <p:cNvSpPr/>
                <p:nvPr/>
              </p:nv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0E1B3D">
                          <a:alpha val="0"/>
                        </a:srgbClr>
                      </a:gs>
                      <a:gs pos="100000">
                        <a:srgbClr val="0E1B3D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</p:grpSp>
      <p:sp>
        <p:nvSpPr>
          <p:cNvPr id="37" name="TextBox 3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497" y="2327231"/>
            <a:ext cx="5435600" cy="1371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实验目标总览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605145" y="3704590"/>
            <a:ext cx="6040755" cy="17672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marL="342900" indent="-342900" algn="l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b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通过实践，全面掌握TCP的核心机制，培养协议分析、数据传输编程等关键能力。</a:t>
            </a:r>
            <a:endParaRPr lang="en-US" sz="2000" b="0" i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b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理解错误恢复、流量控制与拥塞控制三大机制如何协同工作。</a:t>
            </a:r>
            <a:endParaRPr lang="en-US" sz="2000" b="1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892b084-38cc-496e-8567-c3eef0ea39a6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id="4" name="TextBox 4"/>
            <p:cNvSpPr txBox="1"/>
            <p:nvPr/>
          </p:nvSpPr>
          <p:spPr>
            <a:xfrm>
              <a:off x="660399" y="1130301"/>
              <a:ext cx="10858500" cy="64769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明确实验要达成的五项核心能力目标。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60400" y="1973746"/>
              <a:ext cx="3106530" cy="1908313"/>
              <a:chOff x="660400" y="1840401"/>
              <a:chExt cx="3106530" cy="1908313"/>
            </a:xfrm>
          </p:grpSpPr>
          <p:sp>
            <p:nvSpPr>
              <p:cNvPr id="6" name="TextBox 6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60400" y="2415214"/>
                <a:ext cx="3106530" cy="38013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理解TCP报文格式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60400" y="2795354"/>
                <a:ext cx="3106530" cy="9533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掌握TCP报文首部各字段的作用，特别是序列号、确认号、窗口等关键字段。</a:t>
                </a:r>
                <a:endParaRPr lang="en-US" sz="16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8" name="AutoShape 8"/>
              <p:cNvSpPr/>
              <p:nvPr>
                <p:custDataLst>
                  <p:tags r:id="rId4"/>
                </p:custDataLst>
              </p:nvPr>
            </p:nvSpPr>
            <p:spPr>
              <a:xfrm>
                <a:off x="790160" y="2362205"/>
                <a:ext cx="2976770" cy="0"/>
              </a:xfrm>
              <a:prstGeom prst="line">
                <a:avLst/>
              </a:pr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9" name="TextBox 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60400" y="1840401"/>
                <a:ext cx="656534" cy="4624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01.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4536385" y="1973746"/>
              <a:ext cx="3106530" cy="1908313"/>
              <a:chOff x="4536385" y="1840401"/>
              <a:chExt cx="3106530" cy="1908313"/>
            </a:xfrm>
          </p:grpSpPr>
          <p:sp>
            <p:nvSpPr>
              <p:cNvPr id="11" name="TextBox 1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4536385" y="2415214"/>
                <a:ext cx="3106530" cy="38013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掌握连接建立释放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536385" y="2795354"/>
                <a:ext cx="3106530" cy="9533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能够分析并描述TCP三次握手和四次挥手的具体过程。</a:t>
                </a:r>
                <a:endParaRPr lang="en-US" sz="16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3" name="AutoShape 13"/>
              <p:cNvSpPr/>
              <p:nvPr>
                <p:custDataLst>
                  <p:tags r:id="rId8"/>
                </p:custDataLst>
              </p:nvPr>
            </p:nvSpPr>
            <p:spPr>
              <a:xfrm>
                <a:off x="4666145" y="2362205"/>
                <a:ext cx="2976770" cy="0"/>
              </a:xfrm>
              <a:prstGeom prst="line">
                <a:avLst/>
              </a:pr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4" name="TextBox 1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536385" y="1840401"/>
                <a:ext cx="656534" cy="4624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02.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8412370" y="1973746"/>
              <a:ext cx="3106530" cy="1908313"/>
              <a:chOff x="8412370" y="1840401"/>
              <a:chExt cx="3106530" cy="1908313"/>
            </a:xfrm>
          </p:grpSpPr>
          <p:sp>
            <p:nvSpPr>
              <p:cNvPr id="16" name="TextBox 16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8412370" y="2415214"/>
                <a:ext cx="3106530" cy="38013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分析</a:t>
                </a:r>
                <a:r>
                  <a:rPr lang="en-US" altLang="zh-CN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Seq/ACK</a:t>
                </a: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机制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412370" y="2795354"/>
                <a:ext cx="3106530" cy="9533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理解TCP数据传输中的编号与确认机制，学会使用工具进行分析。</a:t>
                </a:r>
                <a:endParaRPr lang="en-US" sz="16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8" name="AutoShape 18"/>
              <p:cNvSpPr/>
              <p:nvPr>
                <p:custDataLst>
                  <p:tags r:id="rId12"/>
                </p:custDataLst>
              </p:nvPr>
            </p:nvSpPr>
            <p:spPr>
              <a:xfrm>
                <a:off x="8542130" y="2362205"/>
                <a:ext cx="2976770" cy="0"/>
              </a:xfrm>
              <a:prstGeom prst="line">
                <a:avLst/>
              </a:pr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9" name="TextBox 1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8412370" y="1840401"/>
                <a:ext cx="656534" cy="4624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03.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660400" y="4225787"/>
              <a:ext cx="3106530" cy="1908313"/>
              <a:chOff x="660400" y="4225787"/>
              <a:chExt cx="3106530" cy="1908313"/>
            </a:xfrm>
          </p:grpSpPr>
          <p:sp>
            <p:nvSpPr>
              <p:cNvPr id="21" name="TextBox 21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660400" y="4800600"/>
                <a:ext cx="3106530" cy="38013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分析错误恢复原理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660400" y="5180740"/>
                <a:ext cx="3106530" cy="9533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理解TCP错误恢复机制，能够分析实际TCP流中的重传现象。</a:t>
                </a:r>
                <a:endParaRPr lang="en-US" sz="16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3" name="AutoShape 23"/>
              <p:cNvSpPr/>
              <p:nvPr>
                <p:custDataLst>
                  <p:tags r:id="rId16"/>
                </p:custDataLst>
              </p:nvPr>
            </p:nvSpPr>
            <p:spPr>
              <a:xfrm>
                <a:off x="790160" y="4747591"/>
                <a:ext cx="2976770" cy="0"/>
              </a:xfrm>
              <a:prstGeom prst="line">
                <a:avLst/>
              </a:pr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4" name="TextBox 24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660400" y="4225787"/>
                <a:ext cx="656534" cy="4624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04.</a:t>
                </a:r>
                <a:endParaRPr lang="en-US" sz="110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4536385" y="4225787"/>
              <a:ext cx="3106530" cy="1908313"/>
              <a:chOff x="4536385" y="4225787"/>
              <a:chExt cx="3106530" cy="1908313"/>
            </a:xfrm>
          </p:grpSpPr>
          <p:sp>
            <p:nvSpPr>
              <p:cNvPr id="26" name="TextBox 26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4536385" y="4800600"/>
                <a:ext cx="3106530" cy="38013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理解流量拥塞控制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4536385" y="5180740"/>
                <a:ext cx="3106530" cy="9533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掌握TCP的流量控制和拥塞控制原理，并能分析慢启动、快速重传等过程。</a:t>
                </a:r>
                <a:endParaRPr lang="en-US" sz="16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8" name="AutoShape 28"/>
              <p:cNvSpPr/>
              <p:nvPr>
                <p:custDataLst>
                  <p:tags r:id="rId20"/>
                </p:custDataLst>
              </p:nvPr>
            </p:nvSpPr>
            <p:spPr>
              <a:xfrm>
                <a:off x="4666145" y="4747591"/>
                <a:ext cx="2976770" cy="0"/>
              </a:xfrm>
              <a:prstGeom prst="line">
                <a:avLst/>
              </a:pr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9" name="TextBox 29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4536385" y="4225787"/>
                <a:ext cx="656534" cy="4624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05.</a:t>
                </a:r>
                <a:endParaRPr lang="en-US" sz="1100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rot="0">
              <a:off x="8412370" y="4225787"/>
              <a:ext cx="3106530" cy="1908313"/>
              <a:chOff x="8412370" y="4225787"/>
              <a:chExt cx="3106530" cy="1908313"/>
            </a:xfrm>
          </p:grpSpPr>
          <p:sp>
            <p:nvSpPr>
              <p:cNvPr id="31" name="TextBox 31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8412370" y="4800600"/>
                <a:ext cx="3106530" cy="38013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实现大数据量传输</a:t>
                </a:r>
                <a:endParaRPr lang="en-US" sz="1100"/>
              </a:p>
            </p:txBody>
          </p:sp>
          <p:sp>
            <p:nvSpPr>
              <p:cNvPr id="32" name="TextBox 32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8412370" y="5180740"/>
                <a:ext cx="3106530" cy="9533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能够编写程序，实现基于TCP协议的大文件可靠传输。</a:t>
                </a:r>
                <a:endParaRPr lang="en-US" sz="16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33" name="AutoShape 33"/>
              <p:cNvSpPr/>
              <p:nvPr>
                <p:custDataLst>
                  <p:tags r:id="rId24"/>
                </p:custDataLst>
              </p:nvPr>
            </p:nvSpPr>
            <p:spPr>
              <a:xfrm>
                <a:off x="8542130" y="4747591"/>
                <a:ext cx="2976770" cy="0"/>
              </a:xfrm>
              <a:prstGeom prst="line">
                <a:avLst/>
              </a:pr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34" name="TextBox 34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8412370" y="4225787"/>
                <a:ext cx="656534" cy="4624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06.</a:t>
                </a:r>
                <a:endParaRPr lang="en-US" sz="1100"/>
              </a:p>
            </p:txBody>
          </p:sp>
        </p:grpSp>
      </p:grpSp>
      <p:sp>
        <p:nvSpPr>
          <p:cNvPr id="35" name="TextBox 3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核心能力目标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8b83f3a-23a7-42eb-b924-8eeaf4f9b57a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026461"/>
            <a:ext cx="10858500" cy="5107639"/>
            <a:chOff x="660400" y="1026461"/>
            <a:chExt cx="10858500" cy="5107639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660400" y="1026461"/>
              <a:ext cx="5120640" cy="1617678"/>
              <a:chOff x="660400" y="1026461"/>
              <a:chExt cx="4320540" cy="1617678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400" y="1206499"/>
                <a:ext cx="4320540" cy="1437640"/>
              </a:xfrm>
              <a:prstGeom prst="roundRect">
                <a:avLst/>
              </a:prstGeom>
              <a:solidFill>
                <a:srgbClr val="0E1B3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AutoShape 6"/>
              <p:cNvSpPr/>
              <p:nvPr/>
            </p:nvSpPr>
            <p:spPr>
              <a:xfrm>
                <a:off x="660400" y="1130300"/>
                <a:ext cx="4320540" cy="1437640"/>
              </a:xfrm>
              <a:prstGeom prst="round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574800" y="1206499"/>
                <a:ext cx="3271520" cy="3693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捕获并分析TCP报文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574800" y="1575831"/>
                <a:ext cx="3271518" cy="92098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使用抓包工具捕获客户端与服务器间的TCP通信报文，为后续分析提供数据基础。</a:t>
                </a:r>
                <a:endParaRPr lang="en-US" sz="16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42551" y="1026461"/>
                <a:ext cx="697627" cy="9003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4000" b="1" i="0">
                    <a:solidFill>
                      <a:srgbClr val="0E1B3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660400" y="2771442"/>
              <a:ext cx="5120640" cy="1617678"/>
              <a:chOff x="660400" y="2771442"/>
              <a:chExt cx="4320540" cy="1617678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660400" y="2951480"/>
                <a:ext cx="4320540" cy="1437640"/>
              </a:xfrm>
              <a:prstGeom prst="roundRect">
                <a:avLst/>
              </a:prstGeom>
              <a:solidFill>
                <a:srgbClr val="0E1B3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660400" y="2875281"/>
                <a:ext cx="4320540" cy="1437640"/>
              </a:xfrm>
              <a:prstGeom prst="round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574800" y="2951480"/>
                <a:ext cx="3271520" cy="3693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分析TCP关键选项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574800" y="3320812"/>
                <a:ext cx="3271518" cy="92098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观察并分析MSS、SACK、窗口缩放等TCP选项，理解其在实际通信中的作用。</a:t>
                </a:r>
                <a:endParaRPr lang="en-US" sz="16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42551" y="2771442"/>
                <a:ext cx="697627" cy="9003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4000" b="1" i="0">
                    <a:solidFill>
                      <a:srgbClr val="0E1B3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6398260" y="2771442"/>
              <a:ext cx="5120640" cy="1617678"/>
              <a:chOff x="660400" y="2771442"/>
              <a:chExt cx="4320540" cy="1617678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660400" y="2951480"/>
                <a:ext cx="4320540" cy="1437640"/>
              </a:xfrm>
              <a:prstGeom prst="roundRect">
                <a:avLst/>
              </a:prstGeom>
              <a:solidFill>
                <a:srgbClr val="0E1B3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/>
            </p:nvSpPr>
            <p:spPr>
              <a:xfrm>
                <a:off x="660400" y="2875281"/>
                <a:ext cx="4320540" cy="1437640"/>
              </a:xfrm>
              <a:prstGeom prst="round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574800" y="2951480"/>
                <a:ext cx="3271520" cy="3693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测量网络RTT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574800" y="3320812"/>
                <a:ext cx="3271518" cy="92098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通过分析三次握手等关键报文，估算客户端到服务器的往返时间RTT。</a:t>
                </a:r>
                <a:endParaRPr lang="en-US" sz="16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42551" y="2771442"/>
                <a:ext cx="697627" cy="9003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4000" b="1" i="0">
                    <a:solidFill>
                      <a:srgbClr val="0E1B3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660400" y="4516422"/>
              <a:ext cx="5120640" cy="1617678"/>
              <a:chOff x="660400" y="4516422"/>
              <a:chExt cx="4320540" cy="1617678"/>
            </a:xfrm>
          </p:grpSpPr>
          <p:sp>
            <p:nvSpPr>
              <p:cNvPr id="23" name="AutoShape 23"/>
              <p:cNvSpPr/>
              <p:nvPr/>
            </p:nvSpPr>
            <p:spPr>
              <a:xfrm>
                <a:off x="660400" y="4696460"/>
                <a:ext cx="4320540" cy="1437640"/>
              </a:xfrm>
              <a:prstGeom prst="roundRect">
                <a:avLst/>
              </a:prstGeom>
              <a:solidFill>
                <a:srgbClr val="0E1B3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4" name="AutoShape 24"/>
              <p:cNvSpPr/>
              <p:nvPr/>
            </p:nvSpPr>
            <p:spPr>
              <a:xfrm>
                <a:off x="660400" y="4620261"/>
                <a:ext cx="4320540" cy="1437640"/>
              </a:xfrm>
              <a:prstGeom prst="round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574800" y="4696460"/>
                <a:ext cx="3271520" cy="3693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编程实现文件传输</a:t>
                </a:r>
                <a:endParaRPr lang="en-US" sz="1100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574800" y="5065792"/>
                <a:ext cx="3271518" cy="92098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设计并编写TCP文件传输的服务器和客户端程序，实现端到端的可靠数据传输。</a:t>
                </a:r>
                <a:endParaRPr lang="en-US" sz="16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42551" y="4516422"/>
                <a:ext cx="697627" cy="9003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4000" b="1" i="0">
                    <a:solidFill>
                      <a:srgbClr val="0E1B3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6146800" y="1130300"/>
              <a:ext cx="5372100" cy="151383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了解本次实验需要完成的五个主要任务。</a:t>
              </a:r>
              <a:endParaRPr lang="en-US" sz="1100"/>
            </a:p>
          </p:txBody>
        </p:sp>
        <p:grpSp>
          <p:nvGrpSpPr>
            <p:cNvPr id="29" name="Group 29"/>
            <p:cNvGrpSpPr/>
            <p:nvPr/>
          </p:nvGrpSpPr>
          <p:grpSpPr>
            <a:xfrm rot="0">
              <a:off x="6398260" y="4516422"/>
              <a:ext cx="5120640" cy="1617678"/>
              <a:chOff x="660400" y="4516422"/>
              <a:chExt cx="4320540" cy="1617678"/>
            </a:xfrm>
          </p:grpSpPr>
          <p:sp>
            <p:nvSpPr>
              <p:cNvPr id="30" name="AutoShape 30"/>
              <p:cNvSpPr/>
              <p:nvPr/>
            </p:nvSpPr>
            <p:spPr>
              <a:xfrm>
                <a:off x="660400" y="4696460"/>
                <a:ext cx="4320540" cy="1437640"/>
              </a:xfrm>
              <a:prstGeom prst="roundRect">
                <a:avLst/>
              </a:prstGeom>
              <a:solidFill>
                <a:srgbClr val="0E1B3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1" name="AutoShape 31"/>
              <p:cNvSpPr/>
              <p:nvPr/>
            </p:nvSpPr>
            <p:spPr>
              <a:xfrm>
                <a:off x="660400" y="4620261"/>
                <a:ext cx="4320540" cy="1437640"/>
              </a:xfrm>
              <a:prstGeom prst="round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574800" y="4696460"/>
                <a:ext cx="3271520" cy="3693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观察拥塞控制过程</a:t>
                </a:r>
                <a:endParaRPr lang="en-US" sz="1100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574800" y="5065792"/>
                <a:ext cx="3271518" cy="92098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分析抓包数据，观察TCP流中的慢启动、拥塞避免和快速重传等拥塞控制行为。</a:t>
                </a:r>
                <a:endParaRPr lang="en-US" sz="16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42551" y="4516422"/>
                <a:ext cx="697627" cy="9003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4000" b="1" i="0">
                    <a:solidFill>
                      <a:srgbClr val="0E1B3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</p:grpSp>
      </p:grpSp>
      <p:sp>
        <p:nvSpPr>
          <p:cNvPr id="35" name="TextBox 3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实验内容总览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497" y="2327231"/>
            <a:ext cx="5435600" cy="1371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实验原理详解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943497" y="3704336"/>
            <a:ext cx="5435600" cy="81817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深入剖析 TCP协议的理论基础，为实验操作提供理论支持。</a:t>
            </a:r>
            <a:endParaRPr lang="en-US" sz="2000" b="0" i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4e17f5d-139f-44c6-bb44-f727d67db156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476759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理解错误恢复、流量控制与拥塞控制三大机制如何协同工作。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60400" y="2136593"/>
              <a:ext cx="5382260" cy="1706236"/>
              <a:chOff x="660400" y="1653993"/>
              <a:chExt cx="5382260" cy="1706236"/>
            </a:xfrm>
          </p:grpSpPr>
          <p:sp>
            <p:nvSpPr>
              <p:cNvPr id="6" name="TextBox 6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60400" y="1653993"/>
                <a:ext cx="454025" cy="453485"/>
              </a:xfrm>
              <a:prstGeom prst="roundRect">
                <a:avLst/>
              </a:prstGeom>
              <a:solidFill>
                <a:srgbClr val="0E1B3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143003" y="1695148"/>
                <a:ext cx="4899657" cy="3711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spcBef>
                    <a:spcPts val="0"/>
                  </a:spcBef>
                  <a:defRPr/>
                </a:pPr>
                <a:r>
                  <a:rPr lang="en-US" sz="20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错误恢复机制</a:t>
                </a:r>
                <a:endParaRPr lang="en-US" sz="20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143003" y="2066321"/>
                <a:ext cx="4899657" cy="129390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通过超时重传和快速重传来应对数据包的丢失，确保数据的完整性。</a:t>
                </a:r>
                <a:endParaRPr lang="en-US" sz="16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660400" y="4427864"/>
              <a:ext cx="5382260" cy="1706236"/>
              <a:chOff x="660400" y="3945264"/>
              <a:chExt cx="5382260" cy="1706236"/>
            </a:xfrm>
          </p:grpSpPr>
          <p:sp>
            <p:nvSpPr>
              <p:cNvPr id="10" name="TextBox 10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60400" y="3945264"/>
                <a:ext cx="454025" cy="453485"/>
              </a:xfrm>
              <a:prstGeom prst="roundRect">
                <a:avLst/>
              </a:prstGeom>
              <a:solidFill>
                <a:srgbClr val="0E1B3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143003" y="3986419"/>
                <a:ext cx="4899657" cy="3711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spcBef>
                    <a:spcPts val="0"/>
                  </a:spcBef>
                  <a:defRPr/>
                </a:pPr>
                <a:r>
                  <a:rPr lang="en-US" sz="20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流量控制机制</a:t>
                </a:r>
                <a:endParaRPr lang="en-US" sz="20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143003" y="4357592"/>
                <a:ext cx="4899657" cy="129390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利用滑动窗口和接收方通告的窗口大小，防止发送方过快导致接收方缓冲区溢出。</a:t>
                </a:r>
                <a:endParaRPr lang="en-US" sz="16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6136640" y="2136593"/>
              <a:ext cx="5382260" cy="1706236"/>
              <a:chOff x="6136640" y="1653993"/>
              <a:chExt cx="5382260" cy="1706236"/>
            </a:xfrm>
          </p:grpSpPr>
          <p:sp>
            <p:nvSpPr>
              <p:cNvPr id="14" name="TextBox 14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6136640" y="1653993"/>
                <a:ext cx="454025" cy="453485"/>
              </a:xfrm>
              <a:prstGeom prst="roundRect">
                <a:avLst/>
              </a:prstGeom>
              <a:solidFill>
                <a:srgbClr val="0E1B3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619243" y="1695148"/>
                <a:ext cx="4899657" cy="3711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spcBef>
                    <a:spcPts val="0"/>
                  </a:spcBef>
                  <a:defRPr/>
                </a:pPr>
                <a:r>
                  <a:rPr lang="en-US" sz="20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拥塞控制机制</a:t>
                </a:r>
                <a:endParaRPr lang="en-US" sz="20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619243" y="2066321"/>
                <a:ext cx="4899657" cy="129390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通过慢启动、拥塞避免和快速恢复等算法，动态调整发送速率，避免网络拥塞。</a:t>
                </a:r>
                <a:endParaRPr lang="en-US" sz="16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6136640" y="4427864"/>
              <a:ext cx="5382260" cy="1706236"/>
              <a:chOff x="6136640" y="3945264"/>
              <a:chExt cx="5382260" cy="1706236"/>
            </a:xfrm>
          </p:grpSpPr>
          <p:sp>
            <p:nvSpPr>
              <p:cNvPr id="18" name="TextBox 18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6136640" y="3945264"/>
                <a:ext cx="454025" cy="453485"/>
              </a:xfrm>
              <a:prstGeom prst="roundRect">
                <a:avLst/>
              </a:prstGeom>
              <a:solidFill>
                <a:srgbClr val="0E1B3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6619243" y="3986419"/>
                <a:ext cx="4899657" cy="3711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spcBef>
                    <a:spcPts val="0"/>
                  </a:spcBef>
                  <a:defRPr/>
                </a:pPr>
                <a:r>
                  <a:rPr lang="en-US" sz="20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三大机制协同</a:t>
                </a:r>
                <a:endParaRPr lang="en-US" sz="20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0" name="TextBox 20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6619243" y="4357592"/>
                <a:ext cx="4899657" cy="129390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错误恢复是基础，流量控制确保接收端不超载，拥塞控制保护网络资源，三者共同构成TCP的可靠性保障。</a:t>
                </a:r>
                <a:endParaRPr lang="en-US" sz="16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TCP可靠传输机制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0e60f69-1441-43e6-8d68-e18cff1f76eb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AutoShape 4"/>
            <p:cNvSpPr/>
            <p:nvPr>
              <p:custDataLst>
                <p:tags r:id="rId2"/>
              </p:custDataLst>
            </p:nvPr>
          </p:nvSpPr>
          <p:spPr>
            <a:xfrm flipH="1">
              <a:off x="3774236" y="2513013"/>
              <a:ext cx="1544872" cy="3621087"/>
            </a:xfrm>
            <a:prstGeom prst="rect">
              <a:avLst/>
            </a:prstGeom>
            <a:ln w="6350">
              <a:solidFill>
                <a:srgbClr val="000000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400" y="1130300"/>
              <a:ext cx="10858500" cy="593725"/>
            </a:xfrm>
            <a:prstGeom prst="rect">
              <a:avLst/>
            </a:prstGeom>
            <a:solidFill>
              <a:srgbClr val="0E1B3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熟悉TCP报文的核心组成部分及其含义。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 rot="0">
              <a:off x="727657" y="1925223"/>
              <a:ext cx="1440712" cy="4208877"/>
              <a:chOff x="727657" y="1331498"/>
              <a:chExt cx="1440712" cy="4208877"/>
            </a:xfrm>
          </p:grpSpPr>
          <p:sp>
            <p:nvSpPr>
              <p:cNvPr id="7" name="TextBox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27658" y="3041879"/>
                <a:ext cx="1440711" cy="24984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用于标识通信双方的应用程序进程。</a:t>
                </a:r>
                <a:endParaRPr lang="en-US" sz="1600" b="0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727657" y="2023533"/>
                <a:ext cx="1440709" cy="10183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源/目的端口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27658" y="1331498"/>
                <a:ext cx="1440709" cy="49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lnSpc>
                    <a:spcPct val="99000"/>
                  </a:lnSpc>
                  <a:defRPr/>
                </a:pPr>
                <a:r>
                  <a:rPr lang="en-US" sz="2600" b="1" i="0">
                    <a:solidFill>
                      <a:srgbClr val="0E1B3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2276986" y="1925223"/>
              <a:ext cx="1440712" cy="4208877"/>
              <a:chOff x="2077579" y="1331498"/>
              <a:chExt cx="1440712" cy="4208877"/>
            </a:xfrm>
          </p:grpSpPr>
          <p:sp>
            <p:nvSpPr>
              <p:cNvPr id="11" name="TextBox 1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2077580" y="3041879"/>
                <a:ext cx="1440711" cy="24984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为发送的每个字节进行编号，是可靠传输的基础。</a:t>
                </a:r>
                <a:endParaRPr lang="en-US" sz="1600" b="0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077579" y="2023533"/>
                <a:ext cx="1440709" cy="10183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Sequence #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2077580" y="1331498"/>
                <a:ext cx="1440709" cy="49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lnSpc>
                    <a:spcPct val="99000"/>
                  </a:lnSpc>
                  <a:defRPr/>
                </a:pPr>
                <a:r>
                  <a:rPr lang="en-US" sz="2600" b="1" i="0">
                    <a:solidFill>
                      <a:srgbClr val="0E1B3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3826315" y="1925223"/>
              <a:ext cx="1440712" cy="4093740"/>
              <a:chOff x="3427501" y="1331498"/>
              <a:chExt cx="1440712" cy="4093740"/>
            </a:xfrm>
          </p:grpSpPr>
          <p:sp>
            <p:nvSpPr>
              <p:cNvPr id="15" name="TextBox 15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3427502" y="3041879"/>
                <a:ext cx="1440711" cy="238335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表示接收方期望收到的下一个字节的编号，用于确认已收到的数据。</a:t>
                </a:r>
                <a:endParaRPr lang="en-US" sz="1600" b="0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3427501" y="2023533"/>
                <a:ext cx="1440709" cy="10183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ACK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3427502" y="1331498"/>
                <a:ext cx="1440709" cy="49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lnSpc>
                    <a:spcPct val="99000"/>
                  </a:lnSpc>
                  <a:defRPr/>
                </a:pPr>
                <a:r>
                  <a:rPr lang="en-US" sz="2600" b="1" i="0">
                    <a:solidFill>
                      <a:srgbClr val="0E1B3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0">
              <a:off x="5375644" y="1925223"/>
              <a:ext cx="1440712" cy="4208877"/>
              <a:chOff x="4777423" y="1331498"/>
              <a:chExt cx="1440712" cy="4208877"/>
            </a:xfrm>
          </p:grpSpPr>
          <p:sp>
            <p:nvSpPr>
              <p:cNvPr id="19" name="TextBox 19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4777424" y="3041879"/>
                <a:ext cx="1440711" cy="24984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包括SYN, ACK, FIN等，用于控制连接的建立、维护和释放。</a:t>
                </a:r>
                <a:endParaRPr lang="en-US" sz="1600" b="0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0" name="TextBox 20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777423" y="2023533"/>
                <a:ext cx="1440709" cy="10183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FLAGS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4777424" y="1331498"/>
                <a:ext cx="1440709" cy="49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lnSpc>
                    <a:spcPct val="99000"/>
                  </a:lnSpc>
                  <a:defRPr/>
                </a:pPr>
                <a:r>
                  <a:rPr lang="en-US" sz="2600" b="1" i="0">
                    <a:solidFill>
                      <a:srgbClr val="0E1B3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6924973" y="1925223"/>
              <a:ext cx="1440712" cy="4208877"/>
              <a:chOff x="6127345" y="1331498"/>
              <a:chExt cx="1440712" cy="4208877"/>
            </a:xfrm>
          </p:grpSpPr>
          <p:sp>
            <p:nvSpPr>
              <p:cNvPr id="23" name="TextBox 23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6127346" y="3041879"/>
                <a:ext cx="1440711" cy="24984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用于流量控制，表示接收方当前可接收的字节数。</a:t>
                </a:r>
                <a:endParaRPr lang="en-US" sz="1600" b="0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4" name="TextBox 24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6127345" y="2023533"/>
                <a:ext cx="1440709" cy="10183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WINDOW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6127346" y="1331498"/>
                <a:ext cx="1440709" cy="49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lnSpc>
                    <a:spcPct val="99000"/>
                  </a:lnSpc>
                  <a:defRPr/>
                </a:pPr>
                <a:r>
                  <a:rPr lang="en-US" sz="2600" b="1" i="0">
                    <a:solidFill>
                      <a:srgbClr val="0E1B3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5</a:t>
                </a:r>
                <a:endParaRPr lang="en-US" sz="1100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 rot="0">
              <a:off x="8474302" y="1925223"/>
              <a:ext cx="1440712" cy="4208877"/>
              <a:chOff x="7477267" y="1331498"/>
              <a:chExt cx="1440712" cy="4208877"/>
            </a:xfrm>
          </p:grpSpPr>
          <p:sp>
            <p:nvSpPr>
              <p:cNvPr id="27" name="TextBox 27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7477268" y="3041879"/>
                <a:ext cx="1440711" cy="24984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用于检测TCP头部和数据的完整性。</a:t>
                </a:r>
                <a:endParaRPr lang="en-US" sz="1600" b="0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8" name="TextBox 28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7477267" y="2023533"/>
                <a:ext cx="1440709" cy="10183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校验和</a:t>
                </a:r>
                <a:endParaRPr lang="en-US" sz="1100"/>
              </a:p>
            </p:txBody>
          </p:sp>
          <p:sp>
            <p:nvSpPr>
              <p:cNvPr id="29" name="TextBox 29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7477268" y="1331498"/>
                <a:ext cx="1440709" cy="49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lnSpc>
                    <a:spcPct val="99000"/>
                  </a:lnSpc>
                  <a:defRPr/>
                </a:pPr>
                <a:r>
                  <a:rPr lang="en-US" sz="2600" b="1" i="0">
                    <a:solidFill>
                      <a:srgbClr val="0E1B3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6</a:t>
                </a:r>
                <a:endParaRPr lang="en-US" sz="1100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rot="0">
              <a:off x="10023632" y="1925223"/>
              <a:ext cx="1440712" cy="4208877"/>
              <a:chOff x="8827189" y="1331498"/>
              <a:chExt cx="1440712" cy="4208877"/>
            </a:xfrm>
          </p:grpSpPr>
          <p:sp>
            <p:nvSpPr>
              <p:cNvPr id="31" name="TextBox 31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8827190" y="3041879"/>
                <a:ext cx="1440711" cy="24984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可包含</a:t>
                </a:r>
                <a:r>
                  <a:rPr lang="en-US" sz="1600" b="1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窗口扩大因子</a:t>
                </a:r>
                <a:r>
                  <a:rPr lang="en-US" sz="16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、</a:t>
                </a:r>
                <a:r>
                  <a:rPr lang="en-US" sz="1600" b="1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MSS</a:t>
                </a:r>
                <a:r>
                  <a:rPr lang="zh-CN" altLang="en-US" sz="1600" b="1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、</a:t>
                </a:r>
                <a:r>
                  <a:rPr lang="en-US" altLang="zh-CN" sz="1600" b="1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SACK</a:t>
                </a:r>
                <a:r>
                  <a:rPr lang="zh-CN" altLang="en-US" sz="1600" b="1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、</a:t>
                </a:r>
                <a:r>
                  <a:rPr lang="en-US" sz="1600" b="1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时间戳</a:t>
                </a:r>
                <a:r>
                  <a:rPr lang="en-US" sz="16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等高级功能选项。</a:t>
                </a:r>
                <a:endParaRPr lang="en-US" sz="1600" b="0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32" name="TextBox 32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8827189" y="2023533"/>
                <a:ext cx="1440709" cy="10183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Options</a:t>
                </a:r>
                <a:endParaRPr lang="en-US" sz="1100"/>
              </a:p>
            </p:txBody>
          </p:sp>
          <p:sp>
            <p:nvSpPr>
              <p:cNvPr id="33" name="TextBox 33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8827190" y="1331498"/>
                <a:ext cx="1440709" cy="49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lnSpc>
                    <a:spcPct val="99000"/>
                  </a:lnSpc>
                  <a:defRPr/>
                </a:pPr>
                <a:r>
                  <a:rPr lang="en-US" sz="2600" b="1" i="0">
                    <a:solidFill>
                      <a:srgbClr val="0E1B3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7</a:t>
                </a:r>
                <a:endParaRPr lang="en-US" sz="1100"/>
              </a:p>
            </p:txBody>
          </p:sp>
        </p:grpSp>
      </p:grpSp>
      <p:sp>
        <p:nvSpPr>
          <p:cNvPr id="34" name="TextBox 3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TCP报文首部格式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497" y="2327231"/>
            <a:ext cx="5435600" cy="1371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实验环境与准备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943497" y="3704336"/>
            <a:ext cx="5435600" cy="81817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掌握实验所需的环境搭建、网络配置及前期准备工作，是成功开展实验分析的基础。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e14a81-d566-4c93-9f74-4a49dbe105a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0858500" cy="4988460"/>
            <a:chOff x="660400" y="1130300"/>
            <a:chExt cx="10858500" cy="4988460"/>
          </a:xfrm>
        </p:grpSpPr>
        <p:sp>
          <p:nvSpPr>
            <p:cNvPr id="4" name="TextBox 4"/>
            <p:cNvSpPr txBox="1"/>
            <p:nvPr/>
          </p:nvSpPr>
          <p:spPr>
            <a:xfrm>
              <a:off x="679450" y="1130300"/>
              <a:ext cx="10833100" cy="102028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确保实验所需的基础设施和软件已正确部署。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60400" y="2272165"/>
              <a:ext cx="2423878" cy="3841933"/>
              <a:chOff x="660400" y="2272165"/>
              <a:chExt cx="2041331" cy="3841933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60400" y="3424427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0E1B3D">
                      <a:alpha val="100000"/>
                    </a:srgbClr>
                  </a:gs>
                  <a:gs pos="100000">
                    <a:srgbClr val="39A1F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660400" y="2272165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gradFill>
                      <a:gsLst>
                        <a:gs pos="0">
                          <a:srgbClr val="0E1B3D">
                            <a:alpha val="100000"/>
                          </a:srgbClr>
                        </a:gs>
                        <a:gs pos="100000">
                          <a:srgbClr val="39A1FF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73100" y="3595453"/>
                <a:ext cx="2028631" cy="79700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云服务器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73100" y="4404828"/>
                <a:ext cx="2028631" cy="17092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一台部署有Web服务器（如Apache）或可运行Python简易服务器的公网服务器。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3471941" y="2291056"/>
              <a:ext cx="2423878" cy="3819916"/>
              <a:chOff x="2864693" y="2291056"/>
              <a:chExt cx="2041331" cy="3819916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2864693" y="3427752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0E1B3D">
                      <a:alpha val="100000"/>
                    </a:srgbClr>
                  </a:gs>
                  <a:gs pos="100000">
                    <a:srgbClr val="39A1F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2864693" y="3598471"/>
                <a:ext cx="2041331" cy="79398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客户端设备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864693" y="2291056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gradFill>
                      <a:gsLst>
                        <a:gs pos="0">
                          <a:srgbClr val="0E1B3D">
                            <a:alpha val="100000"/>
                          </a:srgbClr>
                        </a:gs>
                        <a:gs pos="100000">
                          <a:srgbClr val="39A1FF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864693" y="4408172"/>
                <a:ext cx="2041331" cy="17028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至少两台用于发起HTTP请求和运行自定义客户端程序的PC。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6283482" y="2304006"/>
              <a:ext cx="2423878" cy="3814754"/>
              <a:chOff x="5068985" y="2304006"/>
              <a:chExt cx="2041331" cy="3814754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5068985" y="3419928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0E1B3D">
                      <a:alpha val="100000"/>
                    </a:srgbClr>
                  </a:gs>
                  <a:gs pos="100000">
                    <a:srgbClr val="39A1F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068985" y="3583853"/>
                <a:ext cx="2041331" cy="79399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抓包软件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068985" y="2304006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gradFill>
                      <a:gsLst>
                        <a:gs pos="0">
                          <a:srgbClr val="0E1B3D">
                            <a:alpha val="100000"/>
                          </a:srgbClr>
                        </a:gs>
                        <a:gs pos="100000">
                          <a:srgbClr val="39A1FF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068985" y="4393490"/>
                <a:ext cx="2041331" cy="17252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在客户端和服务器上安装并启动Wireshark或tcpdump等报文捕获软件。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9095022" y="2257446"/>
              <a:ext cx="2423878" cy="3860284"/>
              <a:chOff x="7273278" y="2257446"/>
              <a:chExt cx="2041331" cy="3860284"/>
            </a:xfrm>
          </p:grpSpPr>
          <p:sp>
            <p:nvSpPr>
              <p:cNvPr id="21" name="AutoShape 21"/>
              <p:cNvSpPr/>
              <p:nvPr/>
            </p:nvSpPr>
            <p:spPr>
              <a:xfrm>
                <a:off x="7273278" y="3412103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0E1B3D">
                      <a:alpha val="100000"/>
                    </a:srgbClr>
                  </a:gs>
                  <a:gs pos="100000">
                    <a:srgbClr val="39A1F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273278" y="3582823"/>
                <a:ext cx="2041331" cy="79399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网络环境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273278" y="2257446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gradFill>
                      <a:gsLst>
                        <a:gs pos="0">
                          <a:srgbClr val="0E1B3D">
                            <a:alpha val="100000"/>
                          </a:srgbClr>
                        </a:gs>
                        <a:gs pos="100000">
                          <a:srgbClr val="39A1FF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273278" y="4392460"/>
                <a:ext cx="2041331" cy="17252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基于现有校园网络与公网云服务器构建实验网络。</a:t>
                </a:r>
                <a:endParaRPr lang="en-US" sz="1100"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实验环境配置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c388c66-cc42-4cea-ae8d-e4b4fe9a4bd1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399" y="1130300"/>
            <a:ext cx="10858501" cy="5003800"/>
            <a:chOff x="660399" y="1130300"/>
            <a:chExt cx="10858501" cy="5003800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660399" y="1782553"/>
              <a:ext cx="10858500" cy="1408323"/>
              <a:chOff x="660399" y="1782553"/>
              <a:chExt cx="10858500" cy="1408323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399" y="1782553"/>
                <a:ext cx="10858500" cy="1408323"/>
              </a:xfrm>
              <a:prstGeom prst="plaque">
                <a:avLst>
                  <a:gd name="adj" fmla="val 5400"/>
                </a:avLst>
              </a:prstGeom>
              <a:ln w="6350">
                <a:solidFill>
                  <a:srgbClr val="0E1B3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38911" y="1857374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403982" y="1857374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网络角色分配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403982" y="2251076"/>
                <a:ext cx="9975218" cy="8604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PC1作为客户端，PC2登录云服务器作为服务端。</a:t>
                </a:r>
                <a:endParaRPr lang="en-US" sz="1100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660400" y="1130300"/>
              <a:ext cx="10858500" cy="56615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清晰展示实验涉及的网络设备和连接关系。</a:t>
              </a:r>
              <a:endParaRPr lang="en-US" sz="1100"/>
            </a:p>
          </p:txBody>
        </p:sp>
        <p:grpSp>
          <p:nvGrpSpPr>
            <p:cNvPr id="10" name="Group 10"/>
            <p:cNvGrpSpPr/>
            <p:nvPr/>
          </p:nvGrpSpPr>
          <p:grpSpPr>
            <a:xfrm rot="0">
              <a:off x="660399" y="3254165"/>
              <a:ext cx="10858500" cy="1408323"/>
              <a:chOff x="660399" y="1782553"/>
              <a:chExt cx="10858500" cy="1408323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660399" y="1782553"/>
                <a:ext cx="10858500" cy="1408323"/>
              </a:xfrm>
              <a:prstGeom prst="plaque">
                <a:avLst>
                  <a:gd name="adj" fmla="val 5400"/>
                </a:avLst>
              </a:prstGeom>
              <a:ln w="6350">
                <a:solidFill>
                  <a:srgbClr val="0E1B3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38911" y="1857374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03982" y="1857374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地址标注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03982" y="2251076"/>
                <a:ext cx="9975218" cy="8604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明确标注云服务器的内网私有地址和外网公网地址。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660399" y="4725777"/>
              <a:ext cx="10858500" cy="1408323"/>
              <a:chOff x="660399" y="1782553"/>
              <a:chExt cx="10858500" cy="1408323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660399" y="1782553"/>
                <a:ext cx="10858500" cy="1408323"/>
              </a:xfrm>
              <a:prstGeom prst="plaque">
                <a:avLst>
                  <a:gd name="adj" fmla="val 5400"/>
                </a:avLst>
              </a:prstGeom>
              <a:ln w="6350">
                <a:solidFill>
                  <a:srgbClr val="0E1B3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38911" y="1857374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403982" y="1857374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数据流向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403982" y="2251076"/>
                <a:ext cx="9975218" cy="8604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数据流从客户端（PC1）流向服务器（云服务器），抓包设备需捕获该双向流量。</a:t>
                </a:r>
                <a:endParaRPr lang="en-US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实验网络拓扑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2f15ef4-7467-40f7-b56f-f9401ae6e529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1" y="1130300"/>
            <a:ext cx="11518899" cy="5727698"/>
            <a:chOff x="1" y="1130300"/>
            <a:chExt cx="11518899" cy="5727698"/>
          </a:xfrm>
        </p:grpSpPr>
        <p:sp>
          <p:nvSpPr>
            <p:cNvPr id="4" name="AutoShape 4"/>
            <p:cNvSpPr/>
            <p:nvPr/>
          </p:nvSpPr>
          <p:spPr>
            <a:xfrm>
              <a:off x="1" y="1130300"/>
              <a:ext cx="4091213" cy="5727698"/>
            </a:xfrm>
            <a:prstGeom prst="rect">
              <a:avLst/>
            </a:prstGeom>
            <a:blipFill rotWithShape="1">
              <a:blip r:embed="rId1">
                <a:alphaModFix amt="100000"/>
                <a:alphaModFix amt="100000"/>
              </a:blip>
              <a:stretch>
                <a:fillRect l="-40411" r="-108477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400" y="1130300"/>
              <a:ext cx="3430814" cy="1663700"/>
            </a:xfrm>
            <a:prstGeom prst="rect">
              <a:avLst/>
            </a:prstGeom>
            <a:solidFill>
              <a:srgbClr val="FFFFFF">
                <a:alpha val="90196"/>
              </a:srgbClr>
            </a:solidFill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遵循标准步骤，确保捕获到完整的TCP交互过程。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 rot="0">
              <a:off x="4598420" y="1130300"/>
              <a:ext cx="3407569" cy="2396600"/>
              <a:chOff x="4598420" y="1130300"/>
              <a:chExt cx="3407569" cy="2396600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5241131" y="1186622"/>
                <a:ext cx="2764858" cy="4702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启动Web服务器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5241131" y="1656901"/>
                <a:ext cx="2764858" cy="18699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在云服务器上启动HTTP服务，并放置好待下载的测试文件。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598420" y="1130300"/>
                <a:ext cx="583200" cy="584434"/>
              </a:xfrm>
              <a:prstGeom prst="roundRect">
                <a:avLst>
                  <a:gd name="adj" fmla="val 10458"/>
                </a:avLst>
              </a:prstGeom>
              <a:solidFill>
                <a:srgbClr val="0E1B3D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4598420" y="3737500"/>
              <a:ext cx="3407569" cy="2396600"/>
              <a:chOff x="4598420" y="3737500"/>
              <a:chExt cx="3407569" cy="2396600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5241131" y="3793822"/>
                <a:ext cx="2764858" cy="4702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启动抓包软件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241131" y="4264101"/>
                <a:ext cx="2764858" cy="18699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同时在客户端PC1和服务器PC2上启动Wireshark或tcpdump，设置过滤条件，准备抓包。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598420" y="3737500"/>
                <a:ext cx="583200" cy="584434"/>
              </a:xfrm>
              <a:prstGeom prst="roundRect">
                <a:avLst>
                  <a:gd name="adj" fmla="val 10458"/>
                </a:avLst>
              </a:prstGeom>
              <a:solidFill>
                <a:srgbClr val="0E1B3D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8111331" y="1130300"/>
              <a:ext cx="3407569" cy="2396600"/>
              <a:chOff x="8111331" y="1130300"/>
              <a:chExt cx="3407569" cy="2396600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8754042" y="1186622"/>
                <a:ext cx="2764858" cy="4702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发起文件下载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754042" y="1656901"/>
                <a:ext cx="2764858" cy="18699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在客户端PC1上运行HTTP客户端程序，从服务器下载文件。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111331" y="1130300"/>
                <a:ext cx="583200" cy="584434"/>
              </a:xfrm>
              <a:prstGeom prst="roundRect">
                <a:avLst>
                  <a:gd name="adj" fmla="val 10458"/>
                </a:avLst>
              </a:prstGeom>
              <a:solidFill>
                <a:srgbClr val="0E1B3D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0">
              <a:off x="8111331" y="3737500"/>
              <a:ext cx="3407569" cy="2396600"/>
              <a:chOff x="8111331" y="3737500"/>
              <a:chExt cx="3407569" cy="2396600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8754042" y="3793822"/>
                <a:ext cx="2764858" cy="4702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停止抓包并保存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754042" y="4264101"/>
                <a:ext cx="2764858" cy="18699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文件传输完成后，立即停止抓包，并将捕获的报文保存为文件，以便后续离线分析。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11331" y="3737500"/>
                <a:ext cx="583200" cy="584434"/>
              </a:xfrm>
              <a:prstGeom prst="roundRect">
                <a:avLst>
                  <a:gd name="adj" fmla="val 10458"/>
                </a:avLst>
              </a:prstGeom>
              <a:solidFill>
                <a:srgbClr val="0E1B3D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捕获与分析流程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497" y="2327231"/>
            <a:ext cx="5435600" cy="1371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TCP协议分析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943497" y="3704336"/>
            <a:ext cx="5435600" cy="81817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通过对捕获的TCP报文进行深入分析，理解TCP连接建立、数据传输及控制机制的具体实现。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d12cdc6-0fd8-4aa4-95de-20fbefe00ede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90011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重点观察并理解MSS、SACK和窗口缩放等TCP选项。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748337" y="2174240"/>
              <a:ext cx="978863" cy="0"/>
            </a:xfrm>
            <a:prstGeom prst="line">
              <a:avLst/>
            </a:prstGeom>
            <a:ln w="22225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10255250" y="5918200"/>
              <a:ext cx="215900" cy="215900"/>
            </a:xfrm>
            <a:prstGeom prst="rect">
              <a:avLst/>
            </a:prstGeom>
            <a:solidFill>
              <a:srgbClr val="000000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10604500" y="5918200"/>
              <a:ext cx="215900" cy="215900"/>
            </a:xfrm>
            <a:prstGeom prst="rect">
              <a:avLst/>
            </a:prstGeom>
            <a:solidFill>
              <a:srgbClr val="000000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10953750" y="5918200"/>
              <a:ext cx="215900" cy="215900"/>
            </a:xfrm>
            <a:prstGeom prst="rect">
              <a:avLst/>
            </a:prstGeom>
            <a:solidFill>
              <a:srgbClr val="000000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11303000" y="5918200"/>
              <a:ext cx="215900" cy="215900"/>
            </a:xfrm>
            <a:prstGeom prst="rect">
              <a:avLst/>
            </a:prstGeom>
            <a:solidFill>
              <a:srgbClr val="000000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10" name="Group 10"/>
            <p:cNvGrpSpPr/>
            <p:nvPr/>
          </p:nvGrpSpPr>
          <p:grpSpPr>
            <a:xfrm rot="0">
              <a:off x="660400" y="2570087"/>
              <a:ext cx="2476498" cy="3223367"/>
              <a:chOff x="660400" y="2570087"/>
              <a:chExt cx="2476498" cy="3223367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332284" y="2570087"/>
                <a:ext cx="1132730" cy="1132730"/>
              </a:xfrm>
              <a:prstGeom prst="rect">
                <a:avLst/>
              </a:prstGeom>
              <a:solidFill>
                <a:srgbClr val="000000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60400" y="3824954"/>
                <a:ext cx="2476497" cy="6885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MSS选项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60401" y="4513549"/>
                <a:ext cx="2476497" cy="127990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最大报文段长度，用于协商双方能够发送的最大TCP数据段大小，通常为1460字节。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3454401" y="2570087"/>
              <a:ext cx="2476498" cy="3223367"/>
              <a:chOff x="3454401" y="2570087"/>
              <a:chExt cx="2476498" cy="3223367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4126285" y="2570087"/>
                <a:ext cx="1132730" cy="1132730"/>
              </a:xfrm>
              <a:prstGeom prst="rect">
                <a:avLst/>
              </a:prstGeom>
              <a:solidFill>
                <a:srgbClr val="000000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454401" y="3824954"/>
                <a:ext cx="2476497" cy="6885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SACK选项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454402" y="4513549"/>
                <a:ext cx="2476497" cy="127990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选择性确认，允许接收方告知发送方哪些数据块已经成功接收，从而支持选择性重传，提高效率。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0">
              <a:off x="6248402" y="2570087"/>
              <a:ext cx="2476498" cy="3223367"/>
              <a:chOff x="6248402" y="2570087"/>
              <a:chExt cx="2476498" cy="3223367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6920286" y="2570087"/>
                <a:ext cx="1132730" cy="1132730"/>
              </a:xfrm>
              <a:prstGeom prst="rect">
                <a:avLst/>
              </a:prstGeom>
              <a:solidFill>
                <a:srgbClr val="000000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248402" y="3824954"/>
                <a:ext cx="2476497" cy="6885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Window Scale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248403" y="4513549"/>
                <a:ext cx="2476497" cy="127990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窗口缩放选项，用于解决16位窗口大小限制（最大64KB），通过缩放因子扩大接收窗口。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9042402" y="2570087"/>
              <a:ext cx="2476498" cy="3223367"/>
              <a:chOff x="9042402" y="2570087"/>
              <a:chExt cx="2476498" cy="3223367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9714286" y="2570087"/>
                <a:ext cx="1132730" cy="1132730"/>
              </a:xfrm>
              <a:prstGeom prst="rect">
                <a:avLst/>
              </a:prstGeom>
              <a:solidFill>
                <a:srgbClr val="000000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042402" y="3824954"/>
                <a:ext cx="2476497" cy="6885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选项对比分析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042403" y="4513549"/>
                <a:ext cx="2476497" cy="127990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对比客户端和服务器双向报文中这些选项的值，理解其在实际会话中的协商和应用。</a:t>
                </a:r>
                <a:endParaRPr lang="en-US" sz="1100"/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关键选项分析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9bb7630-5f89-402a-be48-47a412661ab3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b="0" i="0">
              <a:solidFill>
                <a:srgbClr val="000000">
                  <a:alpha val="100000"/>
                  <a:tint val="75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AutoShape 4"/>
            <p:cNvSpPr/>
            <p:nvPr/>
          </p:nvSpPr>
          <p:spPr>
            <a:xfrm>
              <a:off x="660400" y="1130300"/>
              <a:ext cx="10858500" cy="5003800"/>
            </a:xfrm>
            <a:prstGeom prst="rect">
              <a:avLst/>
            </a:prstGeom>
            <a:solidFill>
              <a:srgbClr val="FFFFFF">
                <a:alpha val="90196"/>
              </a:srgbClr>
            </a:solidFill>
            <a:ln w="6350">
              <a:solidFill>
                <a:srgbClr val="000000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8830" y="1263650"/>
              <a:ext cx="2465070" cy="2824480"/>
            </a:xfrm>
            <a:prstGeom prst="rect">
              <a:avLst/>
            </a:prstGeom>
            <a:solidFill>
              <a:srgbClr val="0E1B3D">
                <a:alpha val="100000"/>
              </a:srgbClr>
            </a:solidFill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8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学习如何从抓包数据中准确计算TCP连接的往返时间RTT。</a:t>
              </a:r>
              <a:endPara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6" name="Group 6"/>
            <p:cNvGrpSpPr/>
            <p:nvPr/>
          </p:nvGrpSpPr>
          <p:grpSpPr>
            <a:xfrm rot="0">
              <a:off x="3374237" y="1263462"/>
              <a:ext cx="3921912" cy="2300462"/>
              <a:chOff x="3374237" y="1263462"/>
              <a:chExt cx="3921912" cy="2300462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3702849" y="1651492"/>
                <a:ext cx="3593300" cy="19124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20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在Wireshark中通过过滤器（如`tcp.flags.syn == 1`）筛选出TCP三次握手的三个报文。</a:t>
                </a:r>
                <a:endParaRPr lang="en-US" sz="20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3702849" y="1263462"/>
                <a:ext cx="3593300" cy="3880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17000"/>
                  </a:lnSpc>
                  <a:defRPr/>
                </a:pPr>
                <a:r>
                  <a:rPr lang="en-US" sz="2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定位三次握手</a:t>
                </a:r>
                <a:endParaRPr lang="en-US" sz="28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3374237" y="1263462"/>
                <a:ext cx="328613" cy="38802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3200" b="1" i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3374237" y="3700477"/>
              <a:ext cx="3921912" cy="2300462"/>
              <a:chOff x="3374237" y="3700477"/>
              <a:chExt cx="3921912" cy="2300462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3702849" y="4088507"/>
                <a:ext cx="3593300" cy="19124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20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记录SYN报文（客户端发往服务器）和SYN+ACK报文（服务器回应客户端）的时间戳。</a:t>
                </a:r>
                <a:endParaRPr lang="en-US" sz="20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702849" y="3700477"/>
                <a:ext cx="3593300" cy="3880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2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读取时间戳</a:t>
                </a:r>
                <a:endParaRPr lang="en-US" sz="28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374237" y="3700477"/>
                <a:ext cx="328613" cy="38802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3200" b="1" i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7406760" y="1263462"/>
              <a:ext cx="3921912" cy="2300462"/>
              <a:chOff x="7406760" y="1263462"/>
              <a:chExt cx="3921912" cy="2300462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7735372" y="1651492"/>
                <a:ext cx="3593300" cy="19124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20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RTT ≈ (SYN+ACK报文时间) - (SYN报文时间)，该值为客户端到服务器的RTT的一半。</a:t>
                </a:r>
                <a:endParaRPr lang="en-US" sz="2000" b="0" i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735372" y="1263462"/>
                <a:ext cx="3593300" cy="3880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17000"/>
                  </a:lnSpc>
                  <a:defRPr/>
                </a:pPr>
                <a:r>
                  <a:rPr lang="en-US" sz="2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计算RTT</a:t>
                </a:r>
                <a:endParaRPr lang="en-US" sz="28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406760" y="1263462"/>
                <a:ext cx="328613" cy="38802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3200" b="1" i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0">
              <a:off x="7406760" y="3700477"/>
              <a:ext cx="3921912" cy="2300462"/>
              <a:chOff x="7406760" y="3700477"/>
              <a:chExt cx="3921912" cy="2300462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7735372" y="4088507"/>
                <a:ext cx="3593300" cy="19124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20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将计算得到的RTT值以</a:t>
                </a:r>
                <a:r>
                  <a:rPr lang="en-US" sz="20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毫秒ms</a:t>
                </a:r>
                <a:r>
                  <a:rPr lang="en-US" sz="20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为单位记录下来，用于后续性能分析。</a:t>
                </a:r>
                <a:endParaRPr lang="en-US" sz="20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735372" y="3700477"/>
                <a:ext cx="3593300" cy="3880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17000"/>
                  </a:lnSpc>
                  <a:defRPr/>
                </a:pPr>
                <a:r>
                  <a:rPr lang="en-US" sz="2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记录结果</a:t>
                </a:r>
                <a:endParaRPr lang="en-US" sz="28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406760" y="3700477"/>
                <a:ext cx="328613" cy="38802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3200" b="1" i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RTT测量方法</a:t>
            </a:r>
            <a:endParaRPr lang="en-US" sz="4000" b="1" i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160acc2-4dac-4232-9c14-968ebf177f79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id="4" name="AutoShape 4"/>
            <p:cNvSpPr/>
            <p:nvPr>
              <p:custDataLst>
                <p:tags r:id="rId2"/>
              </p:custDataLst>
            </p:nvPr>
          </p:nvSpPr>
          <p:spPr>
            <a:xfrm>
              <a:off x="660400" y="3044858"/>
              <a:ext cx="10858500" cy="0"/>
            </a:xfrm>
            <a:prstGeom prst="line">
              <a:avLst/>
            </a:prstGeom>
            <a:ln w="127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399" y="11303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通过观察抓包数据，理解TCP如何应对数据丢失。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 rot="0">
              <a:off x="660400" y="2312472"/>
              <a:ext cx="3180182" cy="3821628"/>
              <a:chOff x="580762" y="2312472"/>
              <a:chExt cx="3180182" cy="3821628"/>
            </a:xfrm>
          </p:grpSpPr>
          <p:sp>
            <p:nvSpPr>
              <p:cNvPr id="7" name="AutoShape 7"/>
              <p:cNvSpPr/>
              <p:nvPr>
                <p:custDataLst>
                  <p:tags r:id="rId3"/>
                </p:custDataLst>
              </p:nvPr>
            </p:nvSpPr>
            <p:spPr>
              <a:xfrm>
                <a:off x="2170853" y="3044858"/>
                <a:ext cx="0" cy="1022808"/>
              </a:xfrm>
              <a:prstGeom prst="line">
                <a:avLst/>
              </a:pr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80762" y="4090070"/>
                <a:ext cx="318018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累积应答机制</a:t>
                </a:r>
                <a:endPara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0762" y="4864941"/>
                <a:ext cx="318018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分析确认号的变化，理解TCP如何通过确认号隐含地确认多个连续的数据包。</a:t>
                </a:r>
                <a:endParaRPr lang="en-US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0" name="TextBox 1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663841" y="2312472"/>
                <a:ext cx="1014024" cy="6862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4499559" y="2312472"/>
              <a:ext cx="3180182" cy="3821628"/>
              <a:chOff x="580762" y="2312472"/>
              <a:chExt cx="3180182" cy="3821628"/>
            </a:xfrm>
          </p:grpSpPr>
          <p:sp>
            <p:nvSpPr>
              <p:cNvPr id="12" name="AutoShape 12"/>
              <p:cNvSpPr/>
              <p:nvPr>
                <p:custDataLst>
                  <p:tags r:id="rId7"/>
                </p:custDataLst>
              </p:nvPr>
            </p:nvSpPr>
            <p:spPr>
              <a:xfrm>
                <a:off x="2170853" y="3044858"/>
                <a:ext cx="0" cy="1022808"/>
              </a:xfrm>
              <a:prstGeom prst="line">
                <a:avLst/>
              </a:pr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80762" y="4090070"/>
                <a:ext cx="318018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超时重传机制</a:t>
                </a:r>
                <a:endPara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4" name="TextBox 1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80762" y="4864941"/>
                <a:ext cx="318018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寻找Wireshark中标记为`[TCP Retransmission]`的报文，分析其前因后果，计算超时时间。</a:t>
                </a:r>
                <a:endParaRPr lang="en-US" sz="16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5" name="TextBox 15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663841" y="2312472"/>
                <a:ext cx="1014024" cy="6862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8338718" y="2312472"/>
              <a:ext cx="3180182" cy="3821628"/>
              <a:chOff x="580762" y="2312472"/>
              <a:chExt cx="3180182" cy="3821628"/>
            </a:xfrm>
          </p:grpSpPr>
          <p:sp>
            <p:nvSpPr>
              <p:cNvPr id="17" name="AutoShape 17"/>
              <p:cNvSpPr/>
              <p:nvPr>
                <p:custDataLst>
                  <p:tags r:id="rId11"/>
                </p:custDataLst>
              </p:nvPr>
            </p:nvSpPr>
            <p:spPr>
              <a:xfrm>
                <a:off x="2170853" y="3044858"/>
                <a:ext cx="0" cy="1022808"/>
              </a:xfrm>
              <a:prstGeom prst="line">
                <a:avLst/>
              </a:pr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8" name="TextBox 1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580762" y="4090070"/>
                <a:ext cx="318018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快速重传机制</a:t>
                </a:r>
                <a:endPara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580762" y="4864941"/>
                <a:ext cx="318018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寻找标记为`[TCP Fast Retrans]`的报文，观察在收到</a:t>
                </a:r>
                <a:r>
                  <a:rPr lang="en-US" sz="20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3个重复ACK</a:t>
                </a:r>
                <a:r>
                  <a:rPr lang="en-US" sz="16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后，丢失报文被立即重传的过程。</a:t>
                </a:r>
                <a:endParaRPr lang="en-US" sz="16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0" name="TextBox 20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663841" y="2312472"/>
                <a:ext cx="1014024" cy="6862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错误恢复机制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8759a7f-0abd-4e9d-8ac0-5bc5ea77bbd8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b="0" i="0">
              <a:solidFill>
                <a:srgbClr val="000000">
                  <a:alpha val="100000"/>
                  <a:tint val="75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60400" y="1130300"/>
            <a:ext cx="10858500" cy="4154828"/>
            <a:chOff x="660400" y="1130300"/>
            <a:chExt cx="10858500" cy="4154828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673100" y="2372812"/>
              <a:ext cx="3458593" cy="2912316"/>
              <a:chOff x="673100" y="2700020"/>
              <a:chExt cx="3458593" cy="1864359"/>
            </a:xfrm>
          </p:grpSpPr>
          <p:sp>
            <p:nvSpPr>
              <p:cNvPr id="5" name="AutoShape 5"/>
              <p:cNvSpPr/>
              <p:nvPr>
                <p:custDataLst>
                  <p:tags r:id="rId2"/>
                </p:custDataLst>
              </p:nvPr>
            </p:nvSpPr>
            <p:spPr>
              <a:xfrm>
                <a:off x="673100" y="2700020"/>
                <a:ext cx="3441700" cy="1864359"/>
              </a:xfrm>
              <a:custGeom>
                <a:avLst/>
                <a:gdLst/>
                <a:ahLst/>
                <a:cxnLst/>
                <a:rect l="l" t="t" r="r" b="b"/>
                <a:pathLst>
                  <a:path w="2711450" h="3601163">
                    <a:moveTo>
                      <a:pt x="0" y="0"/>
                    </a:moveTo>
                    <a:lnTo>
                      <a:pt x="2711450" y="0"/>
                    </a:lnTo>
                    <a:lnTo>
                      <a:pt x="2711450" y="3601163"/>
                    </a:lnTo>
                    <a:lnTo>
                      <a:pt x="0" y="3601163"/>
                    </a:lnTo>
                    <a:close/>
                  </a:path>
                </a:pathLst>
              </a:cu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803918" y="2867659"/>
                <a:ext cx="2449827" cy="41783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窗口通告机制</a:t>
                </a:r>
                <a:endParaRPr lang="en-US" sz="28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803918" y="3285497"/>
                <a:ext cx="2449827" cy="9486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分析TCP报文中`Window`字段的变化，观察接收方如何动态调整其可用缓冲区大小。</a:t>
                </a:r>
                <a:endParaRPr lang="en-US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328953" y="3828068"/>
                <a:ext cx="802740" cy="5470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4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4800" b="1" i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9" name="AutoShape 9"/>
              <p:cNvSpPr/>
              <p:nvPr>
                <p:custDataLst>
                  <p:tags r:id="rId6"/>
                </p:custDataLst>
              </p:nvPr>
            </p:nvSpPr>
            <p:spPr>
              <a:xfrm>
                <a:off x="3328953" y="4375160"/>
                <a:ext cx="786865" cy="45719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10" name="Group 10"/>
            <p:cNvGrpSpPr/>
            <p:nvPr/>
          </p:nvGrpSpPr>
          <p:grpSpPr>
            <a:xfrm rot="0">
              <a:off x="4366703" y="2372812"/>
              <a:ext cx="3458593" cy="2912316"/>
              <a:chOff x="4366703" y="2700020"/>
              <a:chExt cx="3458593" cy="1864359"/>
            </a:xfrm>
          </p:grpSpPr>
          <p:sp>
            <p:nvSpPr>
              <p:cNvPr id="11" name="AutoShape 11"/>
              <p:cNvSpPr/>
              <p:nvPr>
                <p:custDataLst>
                  <p:tags r:id="rId7"/>
                </p:custDataLst>
              </p:nvPr>
            </p:nvSpPr>
            <p:spPr>
              <a:xfrm>
                <a:off x="4366703" y="2700020"/>
                <a:ext cx="3441700" cy="1864359"/>
              </a:xfrm>
              <a:custGeom>
                <a:avLst/>
                <a:gdLst/>
                <a:ahLst/>
                <a:cxnLst/>
                <a:rect l="l" t="t" r="r" b="b"/>
                <a:pathLst>
                  <a:path w="2711450" h="3601163">
                    <a:moveTo>
                      <a:pt x="0" y="0"/>
                    </a:moveTo>
                    <a:lnTo>
                      <a:pt x="2711450" y="0"/>
                    </a:lnTo>
                    <a:lnTo>
                      <a:pt x="2711450" y="3601163"/>
                    </a:lnTo>
                    <a:lnTo>
                      <a:pt x="0" y="3601163"/>
                    </a:lnTo>
                    <a:close/>
                  </a:path>
                </a:pathLst>
              </a:cu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 rot="0">
                <a:off x="4497521" y="2867659"/>
                <a:ext cx="3327775" cy="1507501"/>
                <a:chOff x="4497521" y="2331720"/>
                <a:chExt cx="3327775" cy="1507501"/>
              </a:xfrm>
            </p:grpSpPr>
            <p:sp>
              <p:nvSpPr>
                <p:cNvPr id="13" name="TextBox 13"/>
                <p:cNvSpPr txBox="1"/>
                <p:nvPr>
                  <p:custDataLst>
                    <p:tags r:id="rId8"/>
                  </p:custDataLst>
                </p:nvPr>
              </p:nvSpPr>
              <p:spPr>
                <a:xfrm>
                  <a:off x="4497521" y="2331720"/>
                  <a:ext cx="2449827" cy="41783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2800" b="1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零窗口处理</a:t>
                  </a:r>
                  <a:endParaRPr lang="en-US" sz="2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14" name="TextBox 14"/>
                <p:cNvSpPr txBox="1"/>
                <p:nvPr>
                  <p:custDataLst>
                    <p:tags r:id="rId9"/>
                  </p:custDataLst>
                </p:nvPr>
              </p:nvSpPr>
              <p:spPr>
                <a:xfrm>
                  <a:off x="4497521" y="2749606"/>
                  <a:ext cx="2531745" cy="948780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30000"/>
                    </a:lnSpc>
                    <a:defRPr/>
                  </a:pPr>
                  <a:r>
                    <a:rPr lang="en-US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寻找Wireshark标记为`[TCP </a:t>
                  </a:r>
                  <a:r>
                    <a:rPr lang="en-US" b="1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Zero Window</a:t>
                  </a:r>
                  <a:r>
                    <a:rPr lang="en-US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]`的报文，理解发送方在收到零窗口通告后如何停止发送。</a:t>
                  </a:r>
                  <a:endParaRPr lang="en-US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15" name="TextBox 15"/>
                <p:cNvSpPr txBox="1"/>
                <p:nvPr>
                  <p:custDataLst>
                    <p:tags r:id="rId10"/>
                  </p:custDataLst>
                </p:nvPr>
              </p:nvSpPr>
              <p:spPr>
                <a:xfrm>
                  <a:off x="7022556" y="3292129"/>
                  <a:ext cx="802740" cy="5470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4800" b="1" i="0">
                      <a:solidFill>
                        <a:srgbClr val="000000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02</a:t>
                  </a:r>
                  <a:endParaRPr lang="en-US" sz="4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16" name="AutoShape 16"/>
              <p:cNvSpPr/>
              <p:nvPr>
                <p:custDataLst>
                  <p:tags r:id="rId11"/>
                </p:custDataLst>
              </p:nvPr>
            </p:nvSpPr>
            <p:spPr>
              <a:xfrm>
                <a:off x="7022556" y="4375160"/>
                <a:ext cx="786865" cy="45719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 rot="0">
              <a:off x="8060306" y="2372812"/>
              <a:ext cx="3458593" cy="2912316"/>
              <a:chOff x="8060306" y="2164081"/>
              <a:chExt cx="3458593" cy="1864359"/>
            </a:xfrm>
          </p:grpSpPr>
          <p:sp>
            <p:nvSpPr>
              <p:cNvPr id="18" name="AutoShape 18"/>
              <p:cNvSpPr/>
              <p:nvPr>
                <p:custDataLst>
                  <p:tags r:id="rId12"/>
                </p:custDataLst>
              </p:nvPr>
            </p:nvSpPr>
            <p:spPr>
              <a:xfrm>
                <a:off x="8060306" y="2164081"/>
                <a:ext cx="3441700" cy="1864359"/>
              </a:xfrm>
              <a:custGeom>
                <a:avLst/>
                <a:gdLst/>
                <a:ahLst/>
                <a:cxnLst/>
                <a:rect l="l" t="t" r="r" b="b"/>
                <a:pathLst>
                  <a:path w="2711450" h="3601163">
                    <a:moveTo>
                      <a:pt x="0" y="0"/>
                    </a:moveTo>
                    <a:lnTo>
                      <a:pt x="2711450" y="0"/>
                    </a:lnTo>
                    <a:lnTo>
                      <a:pt x="2711450" y="3601163"/>
                    </a:lnTo>
                    <a:lnTo>
                      <a:pt x="0" y="3601163"/>
                    </a:lnTo>
                    <a:close/>
                  </a:path>
                </a:pathLst>
              </a:cu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 rot="0">
                <a:off x="8191124" y="2331720"/>
                <a:ext cx="3327775" cy="1507501"/>
                <a:chOff x="8191124" y="2331720"/>
                <a:chExt cx="3327775" cy="1507501"/>
              </a:xfrm>
            </p:grpSpPr>
            <p:sp>
              <p:nvSpPr>
                <p:cNvPr id="20" name="TextBox 20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8191124" y="2331720"/>
                  <a:ext cx="2449827" cy="41783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2800" b="1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窗口探测机制</a:t>
                  </a:r>
                  <a:endParaRPr lang="en-US" sz="2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21" name="TextBox 21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8191124" y="2749558"/>
                  <a:ext cx="2449827" cy="948682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30000"/>
                    </a:lnSpc>
                    <a:defRPr/>
                  </a:pPr>
                  <a:r>
                    <a:rPr lang="en-US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理解发送方在收到零窗口后，如何通过定期发送窗口探测包来重新获取非零窗口大小。</a:t>
                  </a:r>
                  <a:endParaRPr lang="en-US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22" name="TextBox 22"/>
                <p:cNvSpPr txBox="1"/>
                <p:nvPr>
                  <p:custDataLst>
                    <p:tags r:id="rId15"/>
                  </p:custDataLst>
                </p:nvPr>
              </p:nvSpPr>
              <p:spPr>
                <a:xfrm>
                  <a:off x="10716159" y="3292129"/>
                  <a:ext cx="802740" cy="5470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4800" b="1" i="0">
                      <a:solidFill>
                        <a:srgbClr val="000000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03</a:t>
                  </a:r>
                  <a:endParaRPr lang="en-US" sz="4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23" name="AutoShape 23"/>
              <p:cNvSpPr/>
              <p:nvPr>
                <p:custDataLst>
                  <p:tags r:id="rId16"/>
                </p:custDataLst>
              </p:nvPr>
            </p:nvSpPr>
            <p:spPr>
              <a:xfrm>
                <a:off x="10716159" y="3839221"/>
                <a:ext cx="786865" cy="45719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 flipH="1">
              <a:off x="660400" y="1130300"/>
              <a:ext cx="10858500" cy="84456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32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理解发送方如何根据接收方的窗口调整发送速率。</a:t>
              </a:r>
              <a:endParaRPr lang="en-US" sz="32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流量控制过程</a:t>
            </a:r>
            <a:endParaRPr lang="en-US" sz="3600" b="1" i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348004e-54f1-4031-a734-3b6d6801ea33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6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600" b="0" i="0">
              <a:solidFill>
                <a:srgbClr val="000000">
                  <a:alpha val="100000"/>
                  <a:tint val="75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4" name="AutoShape 4"/>
            <p:cNvSpPr/>
            <p:nvPr/>
          </p:nvSpPr>
          <p:spPr>
            <a:xfrm>
              <a:off x="0" y="6692900"/>
              <a:ext cx="12192000" cy="165100"/>
            </a:xfrm>
            <a:custGeom>
              <a:avLst/>
              <a:gdLst/>
              <a:ahLst/>
              <a:cxnLst/>
              <a:rect l="l" t="t" r="r" b="b"/>
              <a:pathLst>
                <a:path w="12192000" h="165100">
                  <a:moveTo>
                    <a:pt x="0" y="0"/>
                  </a:moveTo>
                  <a:lnTo>
                    <a:pt x="12192000" y="0"/>
                  </a:lnTo>
                  <a:lnTo>
                    <a:pt x="12192000" y="165100"/>
                  </a:lnTo>
                  <a:lnTo>
                    <a:pt x="0" y="165100"/>
                  </a:lnTo>
                  <a:close/>
                </a:path>
              </a:pathLst>
            </a:custGeom>
            <a:solidFill>
              <a:srgbClr val="0E1B3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400" y="1130300"/>
              <a:ext cx="10858500" cy="90011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32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分析TCP如何通过慢启动和快速重传来动态适应网络状况。</a:t>
              </a:r>
              <a:endParaRPr lang="en-US" sz="32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6" name="Group 6"/>
            <p:cNvGrpSpPr/>
            <p:nvPr/>
          </p:nvGrpSpPr>
          <p:grpSpPr>
            <a:xfrm rot="0">
              <a:off x="660399" y="2189903"/>
              <a:ext cx="5027295" cy="2052320"/>
              <a:chOff x="660399" y="2189903"/>
              <a:chExt cx="5027295" cy="2052320"/>
            </a:xfrm>
          </p:grpSpPr>
          <p:sp>
            <p:nvSpPr>
              <p:cNvPr id="7" name="TextBox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60399" y="2920154"/>
                <a:ext cx="5027179" cy="52224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慢启动过程</a:t>
                </a:r>
                <a:endParaRPr lang="en-US" sz="28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60399" y="3442123"/>
                <a:ext cx="5027295" cy="8001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寻找TCP连接建立初期，</a:t>
                </a:r>
                <a:r>
                  <a:rPr lang="en-US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cwnd（拥塞窗口）呈指数级增长</a:t>
                </a:r>
                <a:r>
                  <a:rPr lang="en-US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的过程，观察其增长规律。</a:t>
                </a:r>
                <a:endParaRPr lang="en-US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60399" y="2189903"/>
                <a:ext cx="5027179" cy="7302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4400" b="1" i="0">
                    <a:solidFill>
                      <a:srgbClr val="0E1B3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01.</a:t>
                </a:r>
                <a:endParaRPr lang="en-US" sz="4400" b="1" i="0">
                  <a:solidFill>
                    <a:srgbClr val="0E1B3D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6491722" y="2189903"/>
              <a:ext cx="5027179" cy="1892353"/>
              <a:chOff x="6491722" y="2189903"/>
              <a:chExt cx="5027179" cy="1892353"/>
            </a:xfrm>
          </p:grpSpPr>
          <p:sp>
            <p:nvSpPr>
              <p:cNvPr id="11" name="TextBox 11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491722" y="2920154"/>
                <a:ext cx="5027179" cy="52224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拥塞避免过程</a:t>
                </a:r>
                <a:endParaRPr lang="en-US" sz="28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491722" y="3442398"/>
                <a:ext cx="5027179" cy="63985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寻找cwnd达到阈值后，以每个RTT增加一个MSS的线性增长阶段。</a:t>
                </a:r>
                <a:endParaRPr lang="en-US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491722" y="2189903"/>
                <a:ext cx="5027179" cy="7302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4400" b="1" i="0">
                    <a:solidFill>
                      <a:srgbClr val="0E1B3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02.</a:t>
                </a:r>
                <a:endParaRPr lang="en-US" sz="4400" b="1" i="0">
                  <a:solidFill>
                    <a:srgbClr val="0E1B3D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660399" y="4241747"/>
              <a:ext cx="5027179" cy="1892353"/>
              <a:chOff x="660399" y="4241747"/>
              <a:chExt cx="5027179" cy="1892353"/>
            </a:xfrm>
          </p:grpSpPr>
          <p:sp>
            <p:nvSpPr>
              <p:cNvPr id="15" name="TextBox 15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660399" y="4971998"/>
                <a:ext cx="5027179" cy="52224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快速重传</a:t>
                </a:r>
                <a:endParaRPr lang="en-US" sz="28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60399" y="5494242"/>
                <a:ext cx="5027179" cy="63985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寻找因收到</a:t>
                </a:r>
                <a:r>
                  <a:rPr lang="en-US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3个重复ACK</a:t>
                </a:r>
                <a:r>
                  <a:rPr lang="en-US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而触发的快速重传事件，理解其与超时重传的区别。</a:t>
                </a:r>
                <a:endParaRPr lang="en-US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60399" y="4241747"/>
                <a:ext cx="5027179" cy="7302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4400" b="1" i="0">
                    <a:solidFill>
                      <a:srgbClr val="0E1B3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03.</a:t>
                </a:r>
                <a:endParaRPr lang="en-US" sz="4400" b="1" i="0">
                  <a:solidFill>
                    <a:srgbClr val="0E1B3D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0">
              <a:off x="6491722" y="4241747"/>
              <a:ext cx="5027179" cy="1892353"/>
              <a:chOff x="6491722" y="4241747"/>
              <a:chExt cx="5027179" cy="1892353"/>
            </a:xfrm>
          </p:grpSpPr>
          <p:sp>
            <p:nvSpPr>
              <p:cNvPr id="19" name="TextBox 19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6491722" y="4971998"/>
                <a:ext cx="5027179" cy="52224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观察初始cwnd</a:t>
                </a:r>
                <a:endParaRPr lang="en-US" sz="28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0" name="TextBox 20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6491722" y="5494242"/>
                <a:ext cx="5027179" cy="63985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记录服务器端的</a:t>
                </a:r>
                <a:r>
                  <a:rPr lang="en-US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TCP初始cwnd值（以MSS为单位）</a:t>
                </a:r>
                <a:r>
                  <a:rPr lang="en-US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，理解其起始状态对传输性能的影响。</a:t>
                </a:r>
                <a:endParaRPr lang="en-US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1" name="TextBox 21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6491722" y="4241747"/>
                <a:ext cx="5027179" cy="7302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4400" b="1" i="0">
                    <a:solidFill>
                      <a:srgbClr val="0E1B3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04.</a:t>
                </a:r>
                <a:endParaRPr lang="en-US" sz="4400" b="1" i="0">
                  <a:solidFill>
                    <a:srgbClr val="0E1B3D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拥塞控制过程</a:t>
            </a:r>
            <a:endParaRPr lang="en-US" sz="3600" b="1" i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497" y="2327231"/>
            <a:ext cx="5435600" cy="1371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TCP编程实践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943497" y="3704336"/>
            <a:ext cx="5435600" cy="81817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将理论知识应用于实践，动手编写自己的TCP文件传输程序，实现客户端与服务器的可靠通信。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2fe28dd-7f60-475d-8314-1b9975586ae6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299"/>
            <a:ext cx="10858500" cy="5003801"/>
            <a:chOff x="660400" y="1130299"/>
            <a:chExt cx="10858500" cy="5003801"/>
          </a:xfrm>
        </p:grpSpPr>
        <p:sp>
          <p:nvSpPr>
            <p:cNvPr id="4" name="AutoShape 4"/>
            <p:cNvSpPr/>
            <p:nvPr/>
          </p:nvSpPr>
          <p:spPr>
            <a:xfrm flipV="1">
              <a:off x="6092043" y="4490878"/>
              <a:ext cx="0" cy="259139"/>
            </a:xfrm>
            <a:prstGeom prst="line">
              <a:avLst/>
            </a:prstGeom>
            <a:ln w="44450">
              <a:solidFill>
                <a:srgbClr val="000000">
                  <a:alpha val="14901"/>
                </a:srgbClr>
              </a:solidFill>
              <a:prstDash val="solid"/>
              <a:headEnd type="oval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V="1">
              <a:off x="2453664" y="4490878"/>
              <a:ext cx="0" cy="259139"/>
            </a:xfrm>
            <a:prstGeom prst="line">
              <a:avLst/>
            </a:prstGeom>
            <a:ln w="44450">
              <a:solidFill>
                <a:srgbClr val="000000">
                  <a:alpha val="14901"/>
                </a:srgbClr>
              </a:solidFill>
              <a:prstDash val="solid"/>
              <a:headEnd type="oval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V="1">
              <a:off x="9716573" y="4490878"/>
              <a:ext cx="0" cy="259139"/>
            </a:xfrm>
            <a:prstGeom prst="line">
              <a:avLst/>
            </a:prstGeom>
            <a:ln w="44450">
              <a:solidFill>
                <a:srgbClr val="000000">
                  <a:alpha val="14901"/>
                </a:srgbClr>
              </a:solidFill>
              <a:prstDash val="solid"/>
              <a:headEnd type="oval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4281477" y="3341382"/>
              <a:ext cx="0" cy="272668"/>
            </a:xfrm>
            <a:prstGeom prst="line">
              <a:avLst/>
            </a:prstGeom>
            <a:ln w="44450">
              <a:solidFill>
                <a:srgbClr val="000000">
                  <a:alpha val="14901"/>
                </a:srgbClr>
              </a:solidFill>
              <a:prstDash val="solid"/>
              <a:headEnd type="oval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4274417" y="3634035"/>
              <a:ext cx="1007151" cy="506830"/>
            </a:xfrm>
            <a:custGeom>
              <a:avLst/>
              <a:gdLst/>
              <a:ahLst/>
              <a:cxnLst/>
              <a:rect l="l" t="t" r="r" b="b"/>
              <a:pathLst>
                <a:path w="287" h="195">
                  <a:moveTo>
                    <a:pt x="0" y="0"/>
                  </a:moveTo>
                  <a:cubicBezTo>
                    <a:pt x="148" y="0"/>
                    <a:pt x="211" y="105"/>
                    <a:pt x="287" y="195"/>
                  </a:cubicBezTo>
                </a:path>
              </a:pathLst>
            </a:custGeom>
            <a:ln w="47625">
              <a:solidFill>
                <a:srgbClr val="000000">
                  <a:alpha val="14901"/>
                </a:srgbClr>
              </a:solidFill>
              <a:prstDash val="solid"/>
              <a:headEnd type="none"/>
              <a:tailEnd type="stealth"/>
            </a:ln>
          </p:spPr>
        </p:sp>
        <p:sp>
          <p:nvSpPr>
            <p:cNvPr id="9" name="AutoShape 9"/>
            <p:cNvSpPr/>
            <p:nvPr/>
          </p:nvSpPr>
          <p:spPr>
            <a:xfrm>
              <a:off x="3510226" y="3634035"/>
              <a:ext cx="764191" cy="291401"/>
            </a:xfrm>
            <a:custGeom>
              <a:avLst/>
              <a:gdLst/>
              <a:ahLst/>
              <a:cxnLst/>
              <a:rect l="l" t="t" r="r" b="b"/>
              <a:pathLst>
                <a:path w="218" h="112">
                  <a:moveTo>
                    <a:pt x="0" y="112"/>
                  </a:moveTo>
                  <a:cubicBezTo>
                    <a:pt x="53" y="51"/>
                    <a:pt x="115" y="0"/>
                    <a:pt x="218" y="0"/>
                  </a:cubicBezTo>
                </a:path>
              </a:pathLst>
            </a:custGeom>
            <a:ln w="47625">
              <a:solidFill>
                <a:srgbClr val="000000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5281568" y="4010775"/>
              <a:ext cx="1753497" cy="453753"/>
            </a:xfrm>
            <a:custGeom>
              <a:avLst/>
              <a:gdLst/>
              <a:ahLst/>
              <a:cxnLst/>
              <a:rect l="l" t="t" r="r" b="b"/>
              <a:pathLst>
                <a:path w="499" h="175">
                  <a:moveTo>
                    <a:pt x="0" y="50"/>
                  </a:moveTo>
                  <a:cubicBezTo>
                    <a:pt x="56" y="117"/>
                    <a:pt x="119" y="175"/>
                    <a:pt x="229" y="175"/>
                  </a:cubicBezTo>
                  <a:cubicBezTo>
                    <a:pt x="366" y="175"/>
                    <a:pt x="431" y="85"/>
                    <a:pt x="499" y="0"/>
                  </a:cubicBezTo>
                </a:path>
              </a:pathLst>
            </a:custGeom>
            <a:ln w="47625">
              <a:solidFill>
                <a:srgbClr val="000000">
                  <a:alpha val="14901"/>
                </a:srgbClr>
              </a:solidFill>
              <a:prstDash val="solid"/>
              <a:headEnd type="none"/>
              <a:tailEnd type="stealth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7925866" y="3341382"/>
              <a:ext cx="0" cy="272668"/>
            </a:xfrm>
            <a:prstGeom prst="line">
              <a:avLst/>
            </a:prstGeom>
            <a:ln w="44450">
              <a:solidFill>
                <a:srgbClr val="000000">
                  <a:alpha val="14901"/>
                </a:srgbClr>
              </a:solidFill>
              <a:prstDash val="solid"/>
              <a:headEnd type="oval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660400" y="3634035"/>
              <a:ext cx="2851944" cy="830492"/>
            </a:xfrm>
            <a:custGeom>
              <a:avLst/>
              <a:gdLst/>
              <a:ahLst/>
              <a:cxnLst/>
              <a:rect l="l" t="t" r="r" b="b"/>
              <a:pathLst>
                <a:path w="813" h="320">
                  <a:moveTo>
                    <a:pt x="0" y="0"/>
                  </a:moveTo>
                  <a:cubicBezTo>
                    <a:pt x="258" y="0"/>
                    <a:pt x="258" y="320"/>
                    <a:pt x="515" y="320"/>
                  </a:cubicBezTo>
                  <a:cubicBezTo>
                    <a:pt x="670" y="320"/>
                    <a:pt x="732" y="204"/>
                    <a:pt x="813" y="112"/>
                  </a:cubicBezTo>
                </a:path>
              </a:pathLst>
            </a:custGeom>
            <a:ln w="47625">
              <a:solidFill>
                <a:srgbClr val="000000">
                  <a:alpha val="14901"/>
                </a:srgbClr>
              </a:solidFill>
              <a:prstDash val="solid"/>
              <a:headEnd type="none"/>
              <a:tailEnd type="stealth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8906380" y="4010775"/>
              <a:ext cx="1750154" cy="453753"/>
            </a:xfrm>
            <a:custGeom>
              <a:avLst/>
              <a:gdLst/>
              <a:ahLst/>
              <a:cxnLst/>
              <a:rect l="l" t="t" r="r" b="b"/>
              <a:pathLst>
                <a:path w="499" h="175">
                  <a:moveTo>
                    <a:pt x="0" y="50"/>
                  </a:moveTo>
                  <a:cubicBezTo>
                    <a:pt x="56" y="117"/>
                    <a:pt x="119" y="175"/>
                    <a:pt x="229" y="175"/>
                  </a:cubicBezTo>
                  <a:cubicBezTo>
                    <a:pt x="366" y="175"/>
                    <a:pt x="431" y="85"/>
                    <a:pt x="499" y="0"/>
                  </a:cubicBezTo>
                </a:path>
              </a:pathLst>
            </a:custGeom>
            <a:ln w="47625">
              <a:solidFill>
                <a:srgbClr val="000000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7900767" y="3627960"/>
              <a:ext cx="1007151" cy="512905"/>
            </a:xfrm>
            <a:custGeom>
              <a:avLst/>
              <a:gdLst/>
              <a:ahLst/>
              <a:cxnLst/>
              <a:rect l="l" t="t" r="r" b="b"/>
              <a:pathLst>
                <a:path w="287" h="195">
                  <a:moveTo>
                    <a:pt x="0" y="0"/>
                  </a:moveTo>
                  <a:cubicBezTo>
                    <a:pt x="148" y="0"/>
                    <a:pt x="211" y="105"/>
                    <a:pt x="287" y="195"/>
                  </a:cubicBezTo>
                </a:path>
              </a:pathLst>
            </a:custGeom>
            <a:ln w="47625">
              <a:solidFill>
                <a:srgbClr val="000000">
                  <a:alpha val="14901"/>
                </a:srgbClr>
              </a:solidFill>
              <a:prstDash val="solid"/>
              <a:headEnd type="none"/>
              <a:tailEnd type="stealth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10656086" y="3639389"/>
              <a:ext cx="862814" cy="371065"/>
            </a:xfrm>
            <a:custGeom>
              <a:avLst/>
              <a:gdLst/>
              <a:ahLst/>
              <a:cxnLst/>
              <a:rect l="l" t="t" r="r" b="b"/>
              <a:pathLst>
                <a:path w="4695" h="7880">
                  <a:moveTo>
                    <a:pt x="0" y="7880"/>
                  </a:moveTo>
                  <a:cubicBezTo>
                    <a:pt x="1164" y="3804"/>
                    <a:pt x="2385" y="0"/>
                    <a:pt x="4695" y="0"/>
                  </a:cubicBezTo>
                </a:path>
              </a:pathLst>
            </a:custGeom>
            <a:ln w="47625">
              <a:solidFill>
                <a:srgbClr val="000000">
                  <a:alpha val="14901"/>
                </a:srgbClr>
              </a:solidFill>
              <a:prstDash val="solid"/>
              <a:headEnd type="none"/>
              <a:tailEnd type="stealth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7032907" y="3628277"/>
              <a:ext cx="869337" cy="386939"/>
            </a:xfrm>
            <a:custGeom>
              <a:avLst/>
              <a:gdLst/>
              <a:ahLst/>
              <a:cxnLst/>
              <a:rect l="l" t="t" r="r" b="b"/>
              <a:pathLst>
                <a:path w="4695" h="7880">
                  <a:moveTo>
                    <a:pt x="0" y="7880"/>
                  </a:moveTo>
                  <a:cubicBezTo>
                    <a:pt x="1164" y="3804"/>
                    <a:pt x="2385" y="0"/>
                    <a:pt x="4695" y="0"/>
                  </a:cubicBezTo>
                </a:path>
              </a:pathLst>
            </a:custGeom>
            <a:ln w="47625">
              <a:solidFill>
                <a:srgbClr val="000000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0400" y="1130299"/>
              <a:ext cx="10858500" cy="713751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设计一个简单的TCP文件传输服务器，响应客户端的文件请求。</a:t>
              </a:r>
              <a:endParaRPr lang="en-US" sz="1100"/>
            </a:p>
          </p:txBody>
        </p:sp>
        <p:grpSp>
          <p:nvGrpSpPr>
            <p:cNvPr id="18" name="Group 18"/>
            <p:cNvGrpSpPr/>
            <p:nvPr/>
          </p:nvGrpSpPr>
          <p:grpSpPr>
            <a:xfrm rot="0">
              <a:off x="908874" y="3350960"/>
              <a:ext cx="3080442" cy="2783140"/>
              <a:chOff x="908874" y="3350960"/>
              <a:chExt cx="3080442" cy="2783140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2025823" y="3350960"/>
                <a:ext cx="857025" cy="862755"/>
              </a:xfrm>
              <a:prstGeom prst="ellipse">
                <a:avLst/>
              </a:prstGeom>
              <a:solidFill>
                <a:srgbClr val="0E1B3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08874" y="4882616"/>
                <a:ext cx="3080442" cy="5097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创建监听套接字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08874" y="5399686"/>
                <a:ext cx="3080442" cy="73441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  <a:lumMod val="85000"/>
                        <a:lumOff val="15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调用`socket`、`bind`和`listen`函数，创建并绑定一个TCP监听套接字。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2686648" y="1943940"/>
              <a:ext cx="3080442" cy="2783784"/>
              <a:chOff x="2686648" y="1943940"/>
              <a:chExt cx="3080442" cy="2783784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3858523" y="3867261"/>
                <a:ext cx="859318" cy="860463"/>
              </a:xfrm>
              <a:prstGeom prst="ellipse">
                <a:avLst/>
              </a:prstGeom>
              <a:solidFill>
                <a:srgbClr val="0E1B3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686648" y="1943940"/>
                <a:ext cx="3080442" cy="5097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接受客户端连接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686648" y="2461009"/>
                <a:ext cx="3080442" cy="73441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  <a:lumMod val="85000"/>
                        <a:lumOff val="15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调用`accept`函数，等待并接受客户端的连接请求，建立新的通信套接字。</a:t>
                </a:r>
                <a:endParaRPr lang="en-US" sz="1100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 rot="0">
              <a:off x="4542124" y="3350960"/>
              <a:ext cx="3080442" cy="2783140"/>
              <a:chOff x="4542124" y="3350960"/>
              <a:chExt cx="3080442" cy="278314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5662158" y="3350960"/>
                <a:ext cx="857025" cy="862755"/>
              </a:xfrm>
              <a:prstGeom prst="ellipse">
                <a:avLst/>
              </a:prstGeom>
              <a:solidFill>
                <a:srgbClr val="0E1B3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542124" y="4882616"/>
                <a:ext cx="3080442" cy="5097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处理文件请求</a:t>
                </a:r>
                <a:endParaRPr lang="en-US" sz="1100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542124" y="5399686"/>
                <a:ext cx="3080442" cy="73441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  <a:lumMod val="85000"/>
                        <a:lumOff val="15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从客户端接收文件名请求，打开对应文件，准备读取数据。</a:t>
                </a:r>
                <a:endParaRPr lang="en-US" sz="1100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rot="0">
              <a:off x="6336608" y="1943940"/>
              <a:ext cx="3080442" cy="2783210"/>
              <a:chOff x="6336608" y="1943940"/>
              <a:chExt cx="3080442" cy="2783210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7515278" y="3867833"/>
                <a:ext cx="857026" cy="859317"/>
              </a:xfrm>
              <a:prstGeom prst="ellipse">
                <a:avLst/>
              </a:prstGeom>
              <a:solidFill>
                <a:srgbClr val="0E1B3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36608" y="1943940"/>
                <a:ext cx="3080442" cy="5097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发送文件数据</a:t>
                </a:r>
                <a:endParaRPr lang="en-US" sz="1100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336608" y="2461009"/>
                <a:ext cx="3080442" cy="73441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  <a:lumMod val="85000"/>
                        <a:lumOff val="15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使用循环，从文件读取数据，并通过通信套接字发送给客户端，直至文件结束。</a:t>
                </a:r>
                <a:endParaRPr lang="en-US" sz="1100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0">
              <a:off x="8169987" y="3350960"/>
              <a:ext cx="3080442" cy="2783140"/>
              <a:chOff x="8169987" y="3350960"/>
              <a:chExt cx="3080442" cy="2783140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9290021" y="3350960"/>
                <a:ext cx="857025" cy="862755"/>
              </a:xfrm>
              <a:prstGeom prst="ellipse">
                <a:avLst/>
              </a:prstGeom>
              <a:solidFill>
                <a:srgbClr val="0E1B3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5</a:t>
                </a:r>
                <a:endParaRPr lang="en-US" sz="1100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169987" y="4882616"/>
                <a:ext cx="3080442" cy="5097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关闭连接</a:t>
                </a:r>
                <a:endParaRPr lang="en-US" sz="1100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169987" y="5399686"/>
                <a:ext cx="3080442" cy="73441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  <a:lumMod val="85000"/>
                        <a:lumOff val="15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文件发送完毕后，关闭文件句柄和通信套接字。</a:t>
                </a:r>
                <a:endParaRPr lang="en-US" sz="1100"/>
              </a:p>
            </p:txBody>
          </p:sp>
        </p:grpSp>
      </p:grpSp>
      <p:sp>
        <p:nvSpPr>
          <p:cNvPr id="38" name="TextBox 3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服务器程序设计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ed31126-79bb-49cd-97bd-1603054b9242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299"/>
            <a:ext cx="10858500" cy="5003801"/>
            <a:chOff x="660400" y="1130299"/>
            <a:chExt cx="10858500" cy="5003801"/>
          </a:xfrm>
        </p:grpSpPr>
        <p:sp>
          <p:nvSpPr>
            <p:cNvPr id="4" name="AutoShape 4"/>
            <p:cNvSpPr/>
            <p:nvPr/>
          </p:nvSpPr>
          <p:spPr>
            <a:xfrm>
              <a:off x="660400" y="2829436"/>
              <a:ext cx="10858500" cy="1550336"/>
            </a:xfrm>
            <a:prstGeom prst="rect">
              <a:avLst/>
            </a:prstGeom>
            <a:ln w="127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4151248" y="2777730"/>
              <a:ext cx="94491" cy="108730"/>
            </a:xfrm>
            <a:custGeom>
              <a:avLst/>
              <a:gdLst/>
              <a:ahLst/>
              <a:cxnLst/>
              <a:rect l="l" t="t" r="r" b="b"/>
              <a:pathLst>
                <a:path w="185158" h="213059">
                  <a:moveTo>
                    <a:pt x="0" y="213059"/>
                  </a:moveTo>
                  <a:lnTo>
                    <a:pt x="185159" y="106530"/>
                  </a:lnTo>
                  <a:lnTo>
                    <a:pt x="0" y="0"/>
                  </a:lnTo>
                  <a:lnTo>
                    <a:pt x="0" y="213059"/>
                  </a:lnTo>
                  <a:lnTo>
                    <a:pt x="0" y="21305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7939912" y="2777730"/>
              <a:ext cx="94491" cy="108730"/>
            </a:xfrm>
            <a:custGeom>
              <a:avLst/>
              <a:gdLst/>
              <a:ahLst/>
              <a:cxnLst/>
              <a:rect l="l" t="t" r="r" b="b"/>
              <a:pathLst>
                <a:path w="185158" h="213059">
                  <a:moveTo>
                    <a:pt x="0" y="213059"/>
                  </a:moveTo>
                  <a:lnTo>
                    <a:pt x="185159" y="106530"/>
                  </a:lnTo>
                  <a:lnTo>
                    <a:pt x="0" y="0"/>
                  </a:lnTo>
                  <a:lnTo>
                    <a:pt x="0" y="213059"/>
                  </a:lnTo>
                  <a:lnTo>
                    <a:pt x="0" y="21305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1">
              <a:off x="6043992" y="4304223"/>
              <a:ext cx="94491" cy="108730"/>
            </a:xfrm>
            <a:custGeom>
              <a:avLst/>
              <a:gdLst/>
              <a:ahLst/>
              <a:cxnLst/>
              <a:rect l="l" t="t" r="r" b="b"/>
              <a:pathLst>
                <a:path w="185158" h="213059">
                  <a:moveTo>
                    <a:pt x="0" y="213059"/>
                  </a:moveTo>
                  <a:lnTo>
                    <a:pt x="185159" y="106530"/>
                  </a:lnTo>
                  <a:lnTo>
                    <a:pt x="0" y="0"/>
                  </a:lnTo>
                  <a:lnTo>
                    <a:pt x="0" y="213059"/>
                  </a:lnTo>
                  <a:lnTo>
                    <a:pt x="0" y="21305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3600" y="3136604"/>
              <a:ext cx="10464800" cy="93600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设计一个TCP客户端，主动发起文件传输请求并保存文件。</a:t>
              </a:r>
              <a:endParaRPr lang="en-US" sz="1100"/>
            </a:p>
          </p:txBody>
        </p:sp>
        <p:grpSp>
          <p:nvGrpSpPr>
            <p:cNvPr id="9" name="Group 9"/>
            <p:cNvGrpSpPr/>
            <p:nvPr/>
          </p:nvGrpSpPr>
          <p:grpSpPr>
            <a:xfrm rot="0">
              <a:off x="680985" y="1130299"/>
              <a:ext cx="3240000" cy="1971469"/>
              <a:chOff x="680985" y="1130299"/>
              <a:chExt cx="3240000" cy="1971469"/>
            </a:xfrm>
          </p:grpSpPr>
          <p:sp>
            <p:nvSpPr>
              <p:cNvPr id="10" name="TextBox 10"/>
              <p:cNvSpPr txBox="1"/>
              <p:nvPr/>
            </p:nvSpPr>
            <p:spPr>
              <a:xfrm flipH="1">
                <a:off x="2036222" y="2581422"/>
                <a:ext cx="529526" cy="520346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80985" y="1130299"/>
                <a:ext cx="3240000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创建客户端套接字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80985" y="1778299"/>
                <a:ext cx="3240000" cy="792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调用`socket`函数创建一个TCP客户端套接字。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4472824" y="1130299"/>
              <a:ext cx="3240000" cy="1971469"/>
              <a:chOff x="4472824" y="1130299"/>
              <a:chExt cx="3240000" cy="1971469"/>
            </a:xfrm>
          </p:grpSpPr>
          <p:sp>
            <p:nvSpPr>
              <p:cNvPr id="14" name="TextBox 14"/>
              <p:cNvSpPr txBox="1"/>
              <p:nvPr/>
            </p:nvSpPr>
            <p:spPr>
              <a:xfrm flipH="1">
                <a:off x="5828061" y="2581422"/>
                <a:ext cx="529526" cy="520346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72824" y="1130299"/>
                <a:ext cx="3240000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发起连接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72824" y="1778299"/>
                <a:ext cx="3240000" cy="792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调用`connect`函数，连接到服务器的指定IP地址和端口。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8258316" y="1130299"/>
              <a:ext cx="3240000" cy="1971469"/>
              <a:chOff x="8258316" y="1130299"/>
              <a:chExt cx="3240000" cy="1971469"/>
            </a:xfrm>
          </p:grpSpPr>
          <p:sp>
            <p:nvSpPr>
              <p:cNvPr id="18" name="TextBox 18"/>
              <p:cNvSpPr txBox="1"/>
              <p:nvPr/>
            </p:nvSpPr>
            <p:spPr>
              <a:xfrm flipH="1">
                <a:off x="9613553" y="2581422"/>
                <a:ext cx="529526" cy="520346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258316" y="1130299"/>
                <a:ext cx="3240000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发送文件请求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258316" y="1778299"/>
                <a:ext cx="3240000" cy="792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向服务器发送请求特定文件的命令或文件名。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0">
              <a:off x="6493004" y="4119599"/>
              <a:ext cx="5025896" cy="2014501"/>
              <a:chOff x="6493004" y="4119599"/>
              <a:chExt cx="5025896" cy="2014501"/>
            </a:xfrm>
          </p:grpSpPr>
          <p:sp>
            <p:nvSpPr>
              <p:cNvPr id="22" name="TextBox 22"/>
              <p:cNvSpPr txBox="1"/>
              <p:nvPr/>
            </p:nvSpPr>
            <p:spPr>
              <a:xfrm flipH="1">
                <a:off x="8741189" y="4119599"/>
                <a:ext cx="529526" cy="520346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493004" y="4694100"/>
                <a:ext cx="5025896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接收文件数据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93004" y="5342100"/>
                <a:ext cx="5025896" cy="792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使用循环接收服务器发送的数据，并将其写入本地文件，直至数据传输完毕。</a:t>
                </a:r>
                <a:endParaRPr lang="en-US" sz="110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660400" y="4119599"/>
              <a:ext cx="5025896" cy="2014501"/>
              <a:chOff x="660400" y="4119599"/>
              <a:chExt cx="5025896" cy="2014501"/>
            </a:xfrm>
          </p:grpSpPr>
          <p:sp>
            <p:nvSpPr>
              <p:cNvPr id="26" name="TextBox 26"/>
              <p:cNvSpPr txBox="1"/>
              <p:nvPr/>
            </p:nvSpPr>
            <p:spPr>
              <a:xfrm flipH="1">
                <a:off x="2908585" y="4119599"/>
                <a:ext cx="529526" cy="520346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60400" y="4694100"/>
                <a:ext cx="5025896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保存并关闭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60400" y="5342100"/>
                <a:ext cx="5025896" cy="792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接收完成后，关闭本地文件句柄和通信套接字。</a:t>
                </a:r>
                <a:endParaRPr lang="en-US" sz="1100"/>
              </a:p>
            </p:txBody>
          </p:sp>
        </p:grpSp>
      </p:grpSp>
      <p:sp>
        <p:nvSpPr>
          <p:cNvPr id="29" name="TextBox 2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客户端程序设计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497" y="2327231"/>
            <a:ext cx="5435600" cy="1371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总结与讨论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943497" y="3704336"/>
            <a:ext cx="5435600" cy="81817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围绕TCP的核心机制展开深入探讨，并明确实验报告的撰写要点，巩固学习成果。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99992" y="1130300"/>
            <a:ext cx="6418908" cy="3187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107230" y="4531272"/>
            <a:ext cx="6418908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1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报告人名称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107230" y="4805592"/>
            <a:ext cx="6418908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20xx.xx.xx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2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3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4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5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6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7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8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9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10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11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12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13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14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15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16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17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18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19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20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21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22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23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24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25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26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27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28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29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30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31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32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33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34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35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36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37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38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39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40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41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42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43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44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45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46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47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48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49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50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51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52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53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54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55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56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57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58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59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60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61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62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63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64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65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66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67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68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69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70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71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72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73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74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75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76.xml><?xml version="1.0" encoding="utf-8"?>
<p:tagLst xmlns:p="http://schemas.openxmlformats.org/presentationml/2006/main">
  <p:tag name="KSO_WM_DIAGRAM_VIRTUALLY_FRAME" val="{&quot;height&quot;:327.15181102362203,&quot;left&quot;:52,&quot;top&quot;:89,&quot;width&quot;:855}"/>
</p:tagLst>
</file>

<file path=ppt/tags/tag77.xml><?xml version="1.0" encoding="utf-8"?>
<p:tagLst xmlns:p="http://schemas.openxmlformats.org/presentationml/2006/main">
  <p:tag name="KSO_WM_DIAGRAM_VIRTUALLY_FRAME" val="{&quot;height&quot;:327.15181102362203,&quot;left&quot;:52,&quot;top&quot;:89,&quot;width&quot;:855}"/>
</p:tagLst>
</file>

<file path=ppt/tags/tag78.xml><?xml version="1.0" encoding="utf-8"?>
<p:tagLst xmlns:p="http://schemas.openxmlformats.org/presentationml/2006/main">
  <p:tag name="KSO_WM_DIAGRAM_VIRTUALLY_FRAME" val="{&quot;height&quot;:327.15181102362203,&quot;left&quot;:52,&quot;top&quot;:89,&quot;width&quot;:855}"/>
</p:tagLst>
</file>

<file path=ppt/tags/tag79.xml><?xml version="1.0" encoding="utf-8"?>
<p:tagLst xmlns:p="http://schemas.openxmlformats.org/presentationml/2006/main">
  <p:tag name="KSO_WM_DIAGRAM_VIRTUALLY_FRAME" val="{&quot;height&quot;:327.15181102362203,&quot;left&quot;:52,&quot;top&quot;:89,&quot;width&quot;:855}"/>
</p:tagLst>
</file>

<file path=ppt/tags/tag80.xml><?xml version="1.0" encoding="utf-8"?>
<p:tagLst xmlns:p="http://schemas.openxmlformats.org/presentationml/2006/main">
  <p:tag name="KSO_WM_DIAGRAM_VIRTUALLY_FRAME" val="{&quot;height&quot;:327.15181102362203,&quot;left&quot;:52,&quot;top&quot;:89,&quot;width&quot;:855}"/>
</p:tagLst>
</file>

<file path=ppt/tags/tag81.xml><?xml version="1.0" encoding="utf-8"?>
<p:tagLst xmlns:p="http://schemas.openxmlformats.org/presentationml/2006/main">
  <p:tag name="KSO_WM_DIAGRAM_VIRTUALLY_FRAME" val="{&quot;height&quot;:327.15181102362203,&quot;left&quot;:52,&quot;top&quot;:89,&quot;width&quot;:855}"/>
</p:tagLst>
</file>

<file path=ppt/tags/tag82.xml><?xml version="1.0" encoding="utf-8"?>
<p:tagLst xmlns:p="http://schemas.openxmlformats.org/presentationml/2006/main">
  <p:tag name="KSO_WM_DIAGRAM_VIRTUALLY_FRAME" val="{&quot;height&quot;:327.15181102362203,&quot;left&quot;:52,&quot;top&quot;:89,&quot;width&quot;:855}"/>
</p:tagLst>
</file>

<file path=ppt/tags/tag83.xml><?xml version="1.0" encoding="utf-8"?>
<p:tagLst xmlns:p="http://schemas.openxmlformats.org/presentationml/2006/main">
  <p:tag name="KSO_WM_DIAGRAM_VIRTUALLY_FRAME" val="{&quot;height&quot;:327.15181102362203,&quot;left&quot;:52,&quot;top&quot;:89,&quot;width&quot;:855}"/>
</p:tagLst>
</file>

<file path=ppt/tags/tag84.xml><?xml version="1.0" encoding="utf-8"?>
<p:tagLst xmlns:p="http://schemas.openxmlformats.org/presentationml/2006/main">
  <p:tag name="KSO_WM_DIAGRAM_VIRTUALLY_FRAME" val="{&quot;height&quot;:327.15181102362203,&quot;left&quot;:52,&quot;top&quot;:89,&quot;width&quot;:855}"/>
</p:tagLst>
</file>

<file path=ppt/tags/tag85.xml><?xml version="1.0" encoding="utf-8"?>
<p:tagLst xmlns:p="http://schemas.openxmlformats.org/presentationml/2006/main">
  <p:tag name="KSO_WM_DIAGRAM_VIRTUALLY_FRAME" val="{&quot;height&quot;:327.15181102362203,&quot;left&quot;:52,&quot;top&quot;:89,&quot;width&quot;:855}"/>
</p:tagLst>
</file>

<file path=ppt/tags/tag86.xml><?xml version="1.0" encoding="utf-8"?>
<p:tagLst xmlns:p="http://schemas.openxmlformats.org/presentationml/2006/main">
  <p:tag name="KSO_WM_DIAGRAM_VIRTUALLY_FRAME" val="{&quot;height&quot;:327.15181102362203,&quot;left&quot;:52,&quot;top&quot;:89,&quot;width&quot;:855}"/>
</p:tagLst>
</file>

<file path=ppt/tags/tag87.xml><?xml version="1.0" encoding="utf-8"?>
<p:tagLst xmlns:p="http://schemas.openxmlformats.org/presentationml/2006/main">
  <p:tag name="KSO_WM_DIAGRAM_VIRTUALLY_FRAME" val="{&quot;height&quot;:327.15181102362203,&quot;left&quot;:52,&quot;top&quot;:89,&quot;width&quot;:855}"/>
</p:tagLst>
</file>

<file path=ppt/tags/tag88.xml><?xml version="1.0" encoding="utf-8"?>
<p:tagLst xmlns:p="http://schemas.openxmlformats.org/presentationml/2006/main">
  <p:tag name="KSO_WM_DIAGRAM_VIRTUALLY_FRAME" val="{&quot;height&quot;:327.15181102362203,&quot;left&quot;:52,&quot;top&quot;:89,&quot;width&quot;:855}"/>
</p:tagLst>
</file>

<file path=ppt/tags/tag89.xml><?xml version="1.0" encoding="utf-8"?>
<p:tagLst xmlns:p="http://schemas.openxmlformats.org/presentationml/2006/main">
  <p:tag name="KSO_WM_DIAGRAM_VIRTUALLY_FRAME" val="{&quot;height&quot;:327.15181102362203,&quot;left&quot;:52,&quot;top&quot;:89,&quot;width&quot;:855}"/>
</p:tagLst>
</file>

<file path=ppt/tags/tag90.xml><?xml version="1.0" encoding="utf-8"?>
<p:tagLst xmlns:p="http://schemas.openxmlformats.org/presentationml/2006/main">
  <p:tag name="KSO_WM_DIAGRAM_VIRTUALLY_FRAME" val="{&quot;height&quot;:327.15181102362203,&quot;left&quot;:52,&quot;top&quot;:89,&quot;width&quot;:855}"/>
</p:tagLst>
</file>

<file path=ppt/tags/tag91.xml><?xml version="1.0" encoding="utf-8"?>
<p:tagLst xmlns:p="http://schemas.openxmlformats.org/presentationml/2006/main">
  <p:tag name="KSO_WM_DIAGRAM_VIRTUALLY_FRAME" val="{&quot;height&quot;:327.15181102362203,&quot;left&quot;:52,&quot;top&quot;:89,&quot;width&quot;:855}"/>
</p:tagLst>
</file>

<file path=ppt/tags/tag92.xml><?xml version="1.0" encoding="utf-8"?>
<p:tagLst xmlns:p="http://schemas.openxmlformats.org/presentationml/2006/main">
  <p:tag name="KSO_WM_DIAGRAM_VIRTUALLY_FRAME" val="{&quot;height&quot;:451,&quot;left&quot;:0,&quot;top&quot;:89,&quot;width&quot;:960}"/>
</p:tagLst>
</file>

<file path=ppt/tags/tag93.xml><?xml version="1.0" encoding="utf-8"?>
<p:tagLst xmlns:p="http://schemas.openxmlformats.org/presentationml/2006/main">
  <p:tag name="KSO_WM_DIAGRAM_VIRTUALLY_FRAME" val="{&quot;height&quot;:451,&quot;left&quot;:0,&quot;top&quot;:89,&quot;width&quot;:960}"/>
</p:tagLst>
</file>

<file path=ppt/tags/tag94.xml><?xml version="1.0" encoding="utf-8"?>
<p:tagLst xmlns:p="http://schemas.openxmlformats.org/presentationml/2006/main">
  <p:tag name="KSO_WM_DIAGRAM_VIRTUALLY_FRAME" val="{&quot;height&quot;:451,&quot;left&quot;:0,&quot;top&quot;:89,&quot;width&quot;:960}"/>
</p:tagLst>
</file>

<file path=ppt/tags/tag95.xml><?xml version="1.0" encoding="utf-8"?>
<p:tagLst xmlns:p="http://schemas.openxmlformats.org/presentationml/2006/main">
  <p:tag name="KSO_WM_DIAGRAM_VIRTUALLY_FRAME" val="{&quot;height&quot;:451,&quot;left&quot;:0,&quot;top&quot;:89,&quot;width&quot;:960}"/>
</p:tagLst>
</file>

<file path=ppt/tags/tag96.xml><?xml version="1.0" encoding="utf-8"?>
<p:tagLst xmlns:p="http://schemas.openxmlformats.org/presentationml/2006/main">
  <p:tag name="KSO_WM_DIAGRAM_VIRTUALLY_FRAME" val="{&quot;height&quot;:451,&quot;left&quot;:0,&quot;top&quot;:89,&quot;width&quot;:960}"/>
</p:tagLst>
</file>

<file path=ppt/tags/tag97.xml><?xml version="1.0" encoding="utf-8"?>
<p:tagLst xmlns:p="http://schemas.openxmlformats.org/presentationml/2006/main">
  <p:tag name="KSO_WM_DIAGRAM_VIRTUALLY_FRAME" val="{&quot;height&quot;:451,&quot;left&quot;:0,&quot;top&quot;:89,&quot;width&quot;:960}"/>
</p:tagLst>
</file>

<file path=ppt/tags/tag98.xml><?xml version="1.0" encoding="utf-8"?>
<p:tagLst xmlns:p="http://schemas.openxmlformats.org/presentationml/2006/main">
  <p:tag name="KSO_WM_DIAGRAM_VIRTUALLY_FRAME" val="{&quot;height&quot;:451,&quot;left&quot;:0,&quot;top&quot;:89,&quot;width&quot;:960}"/>
</p:tagLst>
</file>

<file path=ppt/tags/tag99.xml><?xml version="1.0" encoding="utf-8"?>
<p:tagLst xmlns:p="http://schemas.openxmlformats.org/presentationml/2006/main">
  <p:tag name="KSO_WM_DIAGRAM_VIRTUALLY_FRAME" val="{&quot;height&quot;:451,&quot;left&quot;:0,&quot;top&quot;:89,&quot;width&quot;:960}"/>
</p:tagLst>
</file>

<file path=ppt/tags/tag100.xml><?xml version="1.0" encoding="utf-8"?>
<p:tagLst xmlns:p="http://schemas.openxmlformats.org/presentationml/2006/main">
  <p:tag name="KSO_WM_DIAGRAM_VIRTUALLY_FRAME" val="{&quot;height&quot;:451,&quot;left&quot;:0,&quot;top&quot;:89,&quot;width&quot;:960}"/>
</p:tagLst>
</file>

<file path=ppt/tags/tag101.xml><?xml version="1.0" encoding="utf-8"?>
<p:tagLst xmlns:p="http://schemas.openxmlformats.org/presentationml/2006/main">
  <p:tag name="KSO_WM_DIAGRAM_VIRTUALLY_FRAME" val="{&quot;height&quot;:451,&quot;left&quot;:0,&quot;top&quot;:89,&quot;width&quot;:960}"/>
</p:tagLst>
</file>

<file path=ppt/tags/tag102.xml><?xml version="1.0" encoding="utf-8"?>
<p:tagLst xmlns:p="http://schemas.openxmlformats.org/presentationml/2006/main">
  <p:tag name="KSO_WM_DIAGRAM_VIRTUALLY_FRAME" val="{&quot;height&quot;:451,&quot;left&quot;:0,&quot;top&quot;:89,&quot;width&quot;:960}"/>
</p:tagLst>
</file>

<file path=ppt/tags/tag103.xml><?xml version="1.0" encoding="utf-8"?>
<p:tagLst xmlns:p="http://schemas.openxmlformats.org/presentationml/2006/main">
  <p:tag name="KSO_WM_DIAGRAM_VIRTUALLY_FRAME" val="{&quot;height&quot;:451,&quot;left&quot;:0,&quot;top&quot;:89,&quot;width&quot;:960}"/>
</p:tagLst>
</file>

<file path=ppt/tags/tag104.xml><?xml version="1.0" encoding="utf-8"?>
<p:tagLst xmlns:p="http://schemas.openxmlformats.org/presentationml/2006/main">
  <p:tag name="KSO_WM_DIAGRAM_VIRTUALLY_FRAME" val="{&quot;height&quot;:451,&quot;left&quot;:0,&quot;top&quot;:89,&quot;width&quot;:960}"/>
</p:tagLst>
</file>

<file path=ppt/theme/theme1.xml><?xml version="1.0" encoding="utf-8"?>
<a:theme xmlns:a="http://schemas.openxmlformats.org/drawingml/2006/main" name="ac160230-2dab-4f96-8274-d564e6d94d7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3437</Words>
  <Application>WPS 演示</Application>
  <PresentationFormat>On-screen Show (4:3)</PresentationFormat>
  <Paragraphs>529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ac160230-2dab-4f96-8274-d564e6d94d7d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郑卫斌</cp:lastModifiedBy>
  <cp:revision>3</cp:revision>
  <dcterms:created xsi:type="dcterms:W3CDTF">2006-08-16T00:00:00Z</dcterms:created>
  <dcterms:modified xsi:type="dcterms:W3CDTF">2026-04-14T23:10:48Z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526138BF5A0D40CC8D6DDF59E4E7D59D_12</vt:lpwstr>
  </property>
</Properties>
</file>