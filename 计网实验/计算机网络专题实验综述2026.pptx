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731" r:id="rId2"/>
    <p:sldId id="1360" r:id="rId3"/>
    <p:sldId id="733" r:id="rId4"/>
    <p:sldId id="744" r:id="rId5"/>
    <p:sldId id="746" r:id="rId6"/>
    <p:sldId id="737" r:id="rId7"/>
    <p:sldId id="754" r:id="rId8"/>
    <p:sldId id="1375" r:id="rId9"/>
    <p:sldId id="765" r:id="rId10"/>
    <p:sldId id="920" r:id="rId11"/>
    <p:sldId id="1382" r:id="rId12"/>
    <p:sldId id="1378" r:id="rId13"/>
    <p:sldId id="1379" r:id="rId14"/>
    <p:sldId id="1365" r:id="rId15"/>
    <p:sldId id="1380" r:id="rId16"/>
    <p:sldId id="1318" r:id="rId17"/>
    <p:sldId id="1357" r:id="rId18"/>
    <p:sldId id="1355" r:id="rId19"/>
    <p:sldId id="1367" r:id="rId20"/>
    <p:sldId id="1369" r:id="rId21"/>
    <p:sldId id="1368" r:id="rId22"/>
    <p:sldId id="1366" r:id="rId23"/>
    <p:sldId id="1356" r:id="rId24"/>
    <p:sldId id="1364" r:id="rId25"/>
    <p:sldId id="1362" r:id="rId26"/>
    <p:sldId id="1372" r:id="rId27"/>
    <p:sldId id="1374" r:id="rId28"/>
    <p:sldId id="1371" r:id="rId29"/>
    <p:sldId id="1376" r:id="rId30"/>
  </p:sldIdLst>
  <p:sldSz cx="12192000" cy="6858000"/>
  <p:notesSz cx="6761163" cy="99425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902" userDrawn="1">
          <p15:clr>
            <a:srgbClr val="A4A3A4"/>
          </p15:clr>
        </p15:guide>
        <p15:guide id="3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E75B6"/>
    <a:srgbClr val="1557AE"/>
    <a:srgbClr val="4269BD"/>
    <a:srgbClr val="E97C30"/>
    <a:srgbClr val="3A97D7"/>
    <a:srgbClr val="E87E04"/>
    <a:srgbClr val="FFC000"/>
    <a:srgbClr val="1F4E79"/>
    <a:srgbClr val="0070C0"/>
    <a:srgbClr val="872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66" autoAdjust="0"/>
    <p:restoredTop sz="96379" autoAdjust="0"/>
  </p:normalViewPr>
  <p:slideViewPr>
    <p:cSldViewPr snapToGrid="0" showGuides="1">
      <p:cViewPr varScale="1">
        <p:scale>
          <a:sx n="110" d="100"/>
          <a:sy n="110" d="100"/>
        </p:scale>
        <p:origin x="654" y="108"/>
      </p:cViewPr>
      <p:guideLst>
        <p:guide pos="6902"/>
        <p:guide orient="horz" pos="527"/>
      </p:guideLst>
    </p:cSldViewPr>
  </p:slideViewPr>
  <p:outlineViewPr>
    <p:cViewPr>
      <p:scale>
        <a:sx n="33" d="100"/>
        <a:sy n="33" d="100"/>
      </p:scale>
      <p:origin x="0" y="-774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29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A1BC1-FA36-405A-84E5-2ECB11F24F06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20590-9981-46CC-AF13-22488216DE8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9580-3797-4DA2-9E4E-24E61D4E80CF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47CB-3076-4026-8B18-63F39C6D1F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8463" y="1243013"/>
            <a:ext cx="5964237" cy="33559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47CB-3076-4026-8B18-63F39C6D1FF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截屏：把命令和结果尽可能都放进去。可以按要求</a:t>
            </a:r>
            <a:r>
              <a:rPr lang="en-US" altLang="zh-CN"/>
              <a:t> </a:t>
            </a:r>
            <a:r>
              <a:rPr lang="zh-CN" altLang="en-US" b="1"/>
              <a:t>标记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870535" y="4075114"/>
            <a:ext cx="3321466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247081" y="196644"/>
            <a:ext cx="434909" cy="335109"/>
            <a:chOff x="3976261" y="3892343"/>
            <a:chExt cx="326182" cy="335109"/>
          </a:xfrm>
        </p:grpSpPr>
        <p:sp>
          <p:nvSpPr>
            <p:cNvPr id="17" name="六边形 16"/>
            <p:cNvSpPr/>
            <p:nvPr/>
          </p:nvSpPr>
          <p:spPr>
            <a:xfrm>
              <a:off x="3976261" y="3892343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六边形 17"/>
            <p:cNvSpPr/>
            <p:nvPr/>
          </p:nvSpPr>
          <p:spPr>
            <a:xfrm>
              <a:off x="3976261" y="4005288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9" name="六边形 18"/>
            <p:cNvSpPr/>
            <p:nvPr/>
          </p:nvSpPr>
          <p:spPr>
            <a:xfrm>
              <a:off x="3976261" y="4120615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0" name="六边形 19"/>
            <p:cNvSpPr/>
            <p:nvPr/>
          </p:nvSpPr>
          <p:spPr>
            <a:xfrm>
              <a:off x="4078302" y="3945761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1" name="六边形 20"/>
            <p:cNvSpPr/>
            <p:nvPr/>
          </p:nvSpPr>
          <p:spPr>
            <a:xfrm>
              <a:off x="4078302" y="4060570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22" name="六边形 21"/>
            <p:cNvSpPr/>
            <p:nvPr/>
          </p:nvSpPr>
          <p:spPr>
            <a:xfrm>
              <a:off x="4180344" y="4003942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pic>
        <p:nvPicPr>
          <p:cNvPr id="12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725256" y="4075114"/>
            <a:ext cx="3466745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-8" y="6171726"/>
            <a:ext cx="12192003" cy="688395"/>
            <a:chOff x="-6" y="6127335"/>
            <a:chExt cx="9144002" cy="688395"/>
          </a:xfrm>
        </p:grpSpPr>
        <p:sp>
          <p:nvSpPr>
            <p:cNvPr id="13" name="流程图: 过程 12"/>
            <p:cNvSpPr/>
            <p:nvPr userDrawn="1"/>
          </p:nvSpPr>
          <p:spPr>
            <a:xfrm rot="5400000">
              <a:off x="4391995" y="2063729"/>
              <a:ext cx="360000" cy="9144001"/>
            </a:xfrm>
            <a:prstGeom prst="flowChartProcess">
              <a:avLst/>
            </a:prstGeom>
            <a:solidFill>
              <a:srgbClr val="1557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grpSp>
          <p:nvGrpSpPr>
            <p:cNvPr id="3" name="组合 2"/>
            <p:cNvGrpSpPr/>
            <p:nvPr userDrawn="1"/>
          </p:nvGrpSpPr>
          <p:grpSpPr>
            <a:xfrm>
              <a:off x="7551964" y="6127335"/>
              <a:ext cx="1592032" cy="351994"/>
              <a:chOff x="7551964" y="6145091"/>
              <a:chExt cx="1592032" cy="351994"/>
            </a:xfrm>
          </p:grpSpPr>
          <p:sp>
            <p:nvSpPr>
              <p:cNvPr id="14" name="流程图: 过程 8"/>
              <p:cNvSpPr/>
              <p:nvPr userDrawn="1"/>
            </p:nvSpPr>
            <p:spPr>
              <a:xfrm rot="5400000" flipH="1">
                <a:off x="8184229" y="5512826"/>
                <a:ext cx="327501" cy="1592032"/>
              </a:xfrm>
              <a:custGeom>
                <a:avLst/>
                <a:gdLst>
                  <a:gd name="connsiteX0" fmla="*/ 0 w 10000"/>
                  <a:gd name="connsiteY0" fmla="*/ 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0 h 10000"/>
                  <a:gd name="connsiteX0-1" fmla="*/ 0 w 10000"/>
                  <a:gd name="connsiteY0-2" fmla="*/ 0 h 10000"/>
                  <a:gd name="connsiteX1-3" fmla="*/ 10000 w 10000"/>
                  <a:gd name="connsiteY1-4" fmla="*/ 0 h 10000"/>
                  <a:gd name="connsiteX2-5" fmla="*/ 9474 w 10000"/>
                  <a:gd name="connsiteY2-6" fmla="*/ 9062 h 10000"/>
                  <a:gd name="connsiteX3-7" fmla="*/ 0 w 10000"/>
                  <a:gd name="connsiteY3-8" fmla="*/ 10000 h 10000"/>
                  <a:gd name="connsiteX4-9" fmla="*/ 0 w 10000"/>
                  <a:gd name="connsiteY4-10" fmla="*/ 0 h 10000"/>
                  <a:gd name="connsiteX0-11" fmla="*/ 0 w 10075"/>
                  <a:gd name="connsiteY0-12" fmla="*/ 0 h 10000"/>
                  <a:gd name="connsiteX1-13" fmla="*/ 10000 w 10075"/>
                  <a:gd name="connsiteY1-14" fmla="*/ 0 h 10000"/>
                  <a:gd name="connsiteX2-15" fmla="*/ 10028 w 10075"/>
                  <a:gd name="connsiteY2-16" fmla="*/ 8891 h 10000"/>
                  <a:gd name="connsiteX3-17" fmla="*/ 0 w 10075"/>
                  <a:gd name="connsiteY3-18" fmla="*/ 10000 h 10000"/>
                  <a:gd name="connsiteX4-19" fmla="*/ 0 w 10075"/>
                  <a:gd name="connsiteY4-20" fmla="*/ 0 h 10000"/>
                  <a:gd name="connsiteX0-21" fmla="*/ 0 w 10335"/>
                  <a:gd name="connsiteY0-22" fmla="*/ 0 h 10000"/>
                  <a:gd name="connsiteX1-23" fmla="*/ 10000 w 10335"/>
                  <a:gd name="connsiteY1-24" fmla="*/ 0 h 10000"/>
                  <a:gd name="connsiteX2-25" fmla="*/ 10305 w 10335"/>
                  <a:gd name="connsiteY2-26" fmla="*/ 8891 h 10000"/>
                  <a:gd name="connsiteX3-27" fmla="*/ 0 w 10335"/>
                  <a:gd name="connsiteY3-28" fmla="*/ 10000 h 10000"/>
                  <a:gd name="connsiteX4-29" fmla="*/ 0 w 10335"/>
                  <a:gd name="connsiteY4-30" fmla="*/ 0 h 10000"/>
                  <a:gd name="connsiteX0-31" fmla="*/ 0 w 10000"/>
                  <a:gd name="connsiteY0-32" fmla="*/ 0 h 10000"/>
                  <a:gd name="connsiteX1-33" fmla="*/ 10000 w 10000"/>
                  <a:gd name="connsiteY1-34" fmla="*/ 0 h 10000"/>
                  <a:gd name="connsiteX2-35" fmla="*/ 9751 w 10000"/>
                  <a:gd name="connsiteY2-36" fmla="*/ 9062 h 10000"/>
                  <a:gd name="connsiteX3-37" fmla="*/ 0 w 10000"/>
                  <a:gd name="connsiteY3-38" fmla="*/ 10000 h 10000"/>
                  <a:gd name="connsiteX4-39" fmla="*/ 0 w 10000"/>
                  <a:gd name="connsiteY4-40" fmla="*/ 0 h 10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cubicBezTo>
                      <a:pt x="9825" y="3021"/>
                      <a:pt x="9926" y="6041"/>
                      <a:pt x="9751" y="9062"/>
                    </a:cubicBezTo>
                    <a:lnTo>
                      <a:pt x="0" y="1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557A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pic>
            <p:nvPicPr>
              <p:cNvPr id="15" name="图片 14"/>
              <p:cNvPicPr>
                <a:picLocks noChangeAspect="1"/>
              </p:cNvPicPr>
              <p:nvPr userDrawn="1"/>
            </p:nvPicPr>
            <p:blipFill rotWithShape="1">
              <a:blip r:embed="rId3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7926" r="53951"/>
              <a:stretch>
                <a:fillRect/>
              </a:stretch>
            </p:blipFill>
            <p:spPr>
              <a:xfrm>
                <a:off x="7829550" y="6186030"/>
                <a:ext cx="1154166" cy="3110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94" r="23326" b="24977"/>
          <a:stretch>
            <a:fillRect/>
          </a:stretch>
        </p:blipFill>
        <p:spPr bwMode="auto">
          <a:xfrm>
            <a:off x="8673981" y="4075114"/>
            <a:ext cx="3518020" cy="278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流程图: 过程 6"/>
          <p:cNvSpPr/>
          <p:nvPr userDrawn="1"/>
        </p:nvSpPr>
        <p:spPr>
          <a:xfrm rot="5400000">
            <a:off x="6010268" y="676276"/>
            <a:ext cx="171450" cy="12192001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流程图: 过程 8"/>
          <p:cNvSpPr/>
          <p:nvPr userDrawn="1"/>
        </p:nvSpPr>
        <p:spPr>
          <a:xfrm rot="5400000" flipH="1">
            <a:off x="10966890" y="5584839"/>
            <a:ext cx="327501" cy="212270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6" r="53951"/>
          <a:stretch>
            <a:fillRect/>
          </a:stretch>
        </p:blipFill>
        <p:spPr>
          <a:xfrm>
            <a:off x="10439400" y="6523382"/>
            <a:ext cx="1538888" cy="311055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247081" y="196644"/>
            <a:ext cx="434909" cy="335109"/>
            <a:chOff x="3976261" y="3892343"/>
            <a:chExt cx="326182" cy="335109"/>
          </a:xfrm>
        </p:grpSpPr>
        <p:sp>
          <p:nvSpPr>
            <p:cNvPr id="13" name="六边形 12"/>
            <p:cNvSpPr/>
            <p:nvPr/>
          </p:nvSpPr>
          <p:spPr>
            <a:xfrm>
              <a:off x="3976261" y="3892343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4" name="六边形 13"/>
            <p:cNvSpPr/>
            <p:nvPr/>
          </p:nvSpPr>
          <p:spPr>
            <a:xfrm>
              <a:off x="3976261" y="4005288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5" name="六边形 14"/>
            <p:cNvSpPr/>
            <p:nvPr/>
          </p:nvSpPr>
          <p:spPr>
            <a:xfrm>
              <a:off x="3976261" y="4120615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6" name="六边形 15"/>
            <p:cNvSpPr/>
            <p:nvPr/>
          </p:nvSpPr>
          <p:spPr>
            <a:xfrm>
              <a:off x="4078302" y="3945761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7" name="六边形 16"/>
            <p:cNvSpPr/>
            <p:nvPr/>
          </p:nvSpPr>
          <p:spPr>
            <a:xfrm>
              <a:off x="4078302" y="4060570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18" name="六边形 17"/>
            <p:cNvSpPr/>
            <p:nvPr/>
          </p:nvSpPr>
          <p:spPr>
            <a:xfrm>
              <a:off x="4180344" y="4003942"/>
              <a:ext cx="122099" cy="106837"/>
            </a:xfrm>
            <a:prstGeom prst="hexag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图: 过程 5"/>
          <p:cNvSpPr/>
          <p:nvPr userDrawn="1"/>
        </p:nvSpPr>
        <p:spPr>
          <a:xfrm rot="5400000">
            <a:off x="60435" y="155690"/>
            <a:ext cx="739101" cy="859973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711759" y="502220"/>
            <a:ext cx="739101" cy="166915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流程图: 过程 7"/>
          <p:cNvSpPr/>
          <p:nvPr userDrawn="1"/>
        </p:nvSpPr>
        <p:spPr>
          <a:xfrm rot="5400000">
            <a:off x="6010268" y="676276"/>
            <a:ext cx="171450" cy="12192001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流程图: 过程 8"/>
          <p:cNvSpPr/>
          <p:nvPr userDrawn="1"/>
        </p:nvSpPr>
        <p:spPr>
          <a:xfrm rot="5400000" flipH="1">
            <a:off x="10966890" y="5584839"/>
            <a:ext cx="327501" cy="2122709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26" r="53951"/>
          <a:stretch>
            <a:fillRect/>
          </a:stretch>
        </p:blipFill>
        <p:spPr>
          <a:xfrm>
            <a:off x="10571148" y="6523382"/>
            <a:ext cx="1407140" cy="311055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/>
          <p:nvPr userDrawn="1"/>
        </p:nvSpPr>
        <p:spPr>
          <a:xfrm rot="16200000">
            <a:off x="454177" y="-19430"/>
            <a:ext cx="812329" cy="1066991"/>
          </a:xfrm>
          <a:custGeom>
            <a:avLst/>
            <a:gdLst>
              <a:gd name="connsiteX0" fmla="*/ 0 w 661307"/>
              <a:gd name="connsiteY0" fmla="*/ 0 h 726621"/>
              <a:gd name="connsiteX1" fmla="*/ 661307 w 661307"/>
              <a:gd name="connsiteY1" fmla="*/ 0 h 726621"/>
              <a:gd name="connsiteX2" fmla="*/ 661307 w 661307"/>
              <a:gd name="connsiteY2" fmla="*/ 726621 h 726621"/>
              <a:gd name="connsiteX3" fmla="*/ 0 w 661307"/>
              <a:gd name="connsiteY3" fmla="*/ 726621 h 726621"/>
              <a:gd name="connsiteX4" fmla="*/ 0 w 661307"/>
              <a:gd name="connsiteY4" fmla="*/ 0 h 726621"/>
              <a:gd name="connsiteX0-1" fmla="*/ 0 w 661307"/>
              <a:gd name="connsiteY0-2" fmla="*/ 0 h 726621"/>
              <a:gd name="connsiteX1-3" fmla="*/ 661307 w 661307"/>
              <a:gd name="connsiteY1-4" fmla="*/ 0 h 726621"/>
              <a:gd name="connsiteX2-5" fmla="*/ 661307 w 661307"/>
              <a:gd name="connsiteY2-6" fmla="*/ 726621 h 726621"/>
              <a:gd name="connsiteX3-7" fmla="*/ 326571 w 661307"/>
              <a:gd name="connsiteY3-8" fmla="*/ 718457 h 726621"/>
              <a:gd name="connsiteX4-9" fmla="*/ 0 w 661307"/>
              <a:gd name="connsiteY4-10" fmla="*/ 726621 h 726621"/>
              <a:gd name="connsiteX5" fmla="*/ 0 w 661307"/>
              <a:gd name="connsiteY5" fmla="*/ 0 h 726621"/>
              <a:gd name="connsiteX0-11" fmla="*/ 0 w 661307"/>
              <a:gd name="connsiteY0-12" fmla="*/ 0 h 898071"/>
              <a:gd name="connsiteX1-13" fmla="*/ 661307 w 661307"/>
              <a:gd name="connsiteY1-14" fmla="*/ 0 h 898071"/>
              <a:gd name="connsiteX2-15" fmla="*/ 661307 w 661307"/>
              <a:gd name="connsiteY2-16" fmla="*/ 726621 h 898071"/>
              <a:gd name="connsiteX3-17" fmla="*/ 351063 w 661307"/>
              <a:gd name="connsiteY3-18" fmla="*/ 898071 h 898071"/>
              <a:gd name="connsiteX4-19" fmla="*/ 0 w 661307"/>
              <a:gd name="connsiteY4-20" fmla="*/ 726621 h 898071"/>
              <a:gd name="connsiteX5-21" fmla="*/ 0 w 661307"/>
              <a:gd name="connsiteY5-22" fmla="*/ 0 h 898071"/>
              <a:gd name="connsiteX0-23" fmla="*/ 0 w 661307"/>
              <a:gd name="connsiteY0-24" fmla="*/ 0 h 898071"/>
              <a:gd name="connsiteX1-25" fmla="*/ 661307 w 661307"/>
              <a:gd name="connsiteY1-26" fmla="*/ 0 h 898071"/>
              <a:gd name="connsiteX2-27" fmla="*/ 661307 w 661307"/>
              <a:gd name="connsiteY2-28" fmla="*/ 726621 h 898071"/>
              <a:gd name="connsiteX3-29" fmla="*/ 318406 w 661307"/>
              <a:gd name="connsiteY3-30" fmla="*/ 898071 h 898071"/>
              <a:gd name="connsiteX4-31" fmla="*/ 0 w 661307"/>
              <a:gd name="connsiteY4-32" fmla="*/ 726621 h 898071"/>
              <a:gd name="connsiteX5-33" fmla="*/ 0 w 661307"/>
              <a:gd name="connsiteY5-34" fmla="*/ 0 h 898071"/>
              <a:gd name="connsiteX0-35" fmla="*/ 0 w 661307"/>
              <a:gd name="connsiteY0-36" fmla="*/ 0 h 898071"/>
              <a:gd name="connsiteX1-37" fmla="*/ 661307 w 661307"/>
              <a:gd name="connsiteY1-38" fmla="*/ 0 h 898071"/>
              <a:gd name="connsiteX2-39" fmla="*/ 661307 w 661307"/>
              <a:gd name="connsiteY2-40" fmla="*/ 726621 h 898071"/>
              <a:gd name="connsiteX3-41" fmla="*/ 310242 w 661307"/>
              <a:gd name="connsiteY3-42" fmla="*/ 898071 h 898071"/>
              <a:gd name="connsiteX4-43" fmla="*/ 0 w 661307"/>
              <a:gd name="connsiteY4-44" fmla="*/ 726621 h 898071"/>
              <a:gd name="connsiteX5-45" fmla="*/ 0 w 661307"/>
              <a:gd name="connsiteY5-46" fmla="*/ 0 h 898071"/>
              <a:gd name="connsiteX0-47" fmla="*/ 0 w 661307"/>
              <a:gd name="connsiteY0-48" fmla="*/ 0 h 898071"/>
              <a:gd name="connsiteX1-49" fmla="*/ 661307 w 661307"/>
              <a:gd name="connsiteY1-50" fmla="*/ 0 h 898071"/>
              <a:gd name="connsiteX2-51" fmla="*/ 661307 w 661307"/>
              <a:gd name="connsiteY2-52" fmla="*/ 726621 h 898071"/>
              <a:gd name="connsiteX3-53" fmla="*/ 331673 w 661307"/>
              <a:gd name="connsiteY3-54" fmla="*/ 898071 h 898071"/>
              <a:gd name="connsiteX4-55" fmla="*/ 0 w 661307"/>
              <a:gd name="connsiteY4-56" fmla="*/ 726621 h 898071"/>
              <a:gd name="connsiteX5-57" fmla="*/ 0 w 661307"/>
              <a:gd name="connsiteY5-58" fmla="*/ 0 h 89807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661307" h="898071">
                <a:moveTo>
                  <a:pt x="0" y="0"/>
                </a:moveTo>
                <a:lnTo>
                  <a:pt x="661307" y="0"/>
                </a:lnTo>
                <a:lnTo>
                  <a:pt x="661307" y="726621"/>
                </a:lnTo>
                <a:lnTo>
                  <a:pt x="331673" y="898071"/>
                </a:lnTo>
                <a:lnTo>
                  <a:pt x="0" y="726621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39" r="87942"/>
          <a:stretch>
            <a:fillRect/>
          </a:stretch>
        </p:blipFill>
        <p:spPr>
          <a:xfrm>
            <a:off x="394816" y="195665"/>
            <a:ext cx="825512" cy="636802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95912" y="107902"/>
            <a:ext cx="150523" cy="812329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流程图: 过程 8"/>
          <p:cNvSpPr/>
          <p:nvPr userDrawn="1"/>
        </p:nvSpPr>
        <p:spPr>
          <a:xfrm rot="5400000" flipH="1">
            <a:off x="10236874" y="4902521"/>
            <a:ext cx="324399" cy="358585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-1" fmla="*/ 0 w 10000"/>
              <a:gd name="connsiteY0-2" fmla="*/ 0 h 10000"/>
              <a:gd name="connsiteX1-3" fmla="*/ 10000 w 10000"/>
              <a:gd name="connsiteY1-4" fmla="*/ 0 h 10000"/>
              <a:gd name="connsiteX2-5" fmla="*/ 9474 w 10000"/>
              <a:gd name="connsiteY2-6" fmla="*/ 9062 h 10000"/>
              <a:gd name="connsiteX3-7" fmla="*/ 0 w 10000"/>
              <a:gd name="connsiteY3-8" fmla="*/ 10000 h 10000"/>
              <a:gd name="connsiteX4-9" fmla="*/ 0 w 10000"/>
              <a:gd name="connsiteY4-10" fmla="*/ 0 h 10000"/>
              <a:gd name="connsiteX0-11" fmla="*/ 0 w 10075"/>
              <a:gd name="connsiteY0-12" fmla="*/ 0 h 10000"/>
              <a:gd name="connsiteX1-13" fmla="*/ 10000 w 10075"/>
              <a:gd name="connsiteY1-14" fmla="*/ 0 h 10000"/>
              <a:gd name="connsiteX2-15" fmla="*/ 10028 w 10075"/>
              <a:gd name="connsiteY2-16" fmla="*/ 8891 h 10000"/>
              <a:gd name="connsiteX3-17" fmla="*/ 0 w 10075"/>
              <a:gd name="connsiteY3-18" fmla="*/ 10000 h 10000"/>
              <a:gd name="connsiteX4-19" fmla="*/ 0 w 10075"/>
              <a:gd name="connsiteY4-20" fmla="*/ 0 h 10000"/>
              <a:gd name="connsiteX0-21" fmla="*/ 0 w 10335"/>
              <a:gd name="connsiteY0-22" fmla="*/ 0 h 10000"/>
              <a:gd name="connsiteX1-23" fmla="*/ 10000 w 10335"/>
              <a:gd name="connsiteY1-24" fmla="*/ 0 h 10000"/>
              <a:gd name="connsiteX2-25" fmla="*/ 10305 w 10335"/>
              <a:gd name="connsiteY2-26" fmla="*/ 8891 h 10000"/>
              <a:gd name="connsiteX3-27" fmla="*/ 0 w 10335"/>
              <a:gd name="connsiteY3-28" fmla="*/ 10000 h 10000"/>
              <a:gd name="connsiteX4-29" fmla="*/ 0 w 10335"/>
              <a:gd name="connsiteY4-30" fmla="*/ 0 h 10000"/>
              <a:gd name="connsiteX0-31" fmla="*/ 0 w 10000"/>
              <a:gd name="connsiteY0-32" fmla="*/ 0 h 10000"/>
              <a:gd name="connsiteX1-33" fmla="*/ 10000 w 10000"/>
              <a:gd name="connsiteY1-34" fmla="*/ 0 h 10000"/>
              <a:gd name="connsiteX2-35" fmla="*/ 9751 w 10000"/>
              <a:gd name="connsiteY2-36" fmla="*/ 9062 h 10000"/>
              <a:gd name="connsiteX3-37" fmla="*/ 0 w 10000"/>
              <a:gd name="connsiteY3-38" fmla="*/ 10000 h 10000"/>
              <a:gd name="connsiteX4-39" fmla="*/ 0 w 10000"/>
              <a:gd name="connsiteY4-4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cubicBezTo>
                  <a:pt x="9825" y="3021"/>
                  <a:pt x="9926" y="6041"/>
                  <a:pt x="9751" y="9062"/>
                </a:cubicBez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6" name="矩形 5"/>
          <p:cNvSpPr/>
          <p:nvPr userDrawn="1"/>
        </p:nvSpPr>
        <p:spPr>
          <a:xfrm>
            <a:off x="8893022" y="6602968"/>
            <a:ext cx="3227333" cy="219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04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西安交通大学计算机科学与技术学院</a:t>
            </a:r>
          </a:p>
        </p:txBody>
      </p:sp>
      <p:sp>
        <p:nvSpPr>
          <p:cNvPr id="7" name="流程图: 过程 6"/>
          <p:cNvSpPr/>
          <p:nvPr userDrawn="1"/>
        </p:nvSpPr>
        <p:spPr>
          <a:xfrm rot="5400000">
            <a:off x="4432463" y="2253652"/>
            <a:ext cx="171533" cy="9036459"/>
          </a:xfrm>
          <a:prstGeom prst="flowChartProcess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45"/>
          </a:p>
        </p:txBody>
      </p:sp>
      <p:sp>
        <p:nvSpPr>
          <p:cNvPr id="12" name="矩形 11"/>
          <p:cNvSpPr/>
          <p:nvPr userDrawn="1"/>
        </p:nvSpPr>
        <p:spPr>
          <a:xfrm>
            <a:off x="0" y="360000"/>
            <a:ext cx="432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矩形 12"/>
          <p:cNvSpPr/>
          <p:nvPr userDrawn="1"/>
        </p:nvSpPr>
        <p:spPr>
          <a:xfrm>
            <a:off x="7873272" y="360000"/>
            <a:ext cx="4320000" cy="54000"/>
          </a:xfrm>
          <a:prstGeom prst="rect">
            <a:avLst/>
          </a:prstGeom>
          <a:solidFill>
            <a:srgbClr val="1557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163" y="1"/>
            <a:ext cx="3182988" cy="83859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aw.io/&#12289;https:/www.bullmind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bullmind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4" Type="http://schemas.openxmlformats.org/officeDocument/2006/relationships/hyperlink" Target="https://www.wireshark.or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.aliyun.com/?crowd=personal" TargetMode="Externa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hyperlink" Target="https://cloud.tencent.com/act/pro/free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iaoxuefeng.com/books/python/introduction/index.html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1482811"/>
            <a:ext cx="12192000" cy="2858530"/>
          </a:xfrm>
          <a:prstGeom prst="rect">
            <a:avLst/>
          </a:prstGeom>
          <a:solidFill>
            <a:srgbClr val="1557A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1827865"/>
            <a:ext cx="12192000" cy="210519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127000" algn="ctr">
              <a:lnSpc>
                <a:spcPct val="120000"/>
              </a:lnSpc>
            </a:pPr>
            <a:r>
              <a:rPr lang="en-US" altLang="zh-CN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《</a:t>
            </a:r>
            <a:r>
              <a:rPr lang="zh-CN" altLang="en-US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计算机网络专题实验</a:t>
            </a:r>
            <a:r>
              <a:rPr lang="en-US" altLang="zh-CN" sz="45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》</a:t>
            </a:r>
          </a:p>
          <a:p>
            <a:pPr indent="127000" algn="ctr">
              <a:lnSpc>
                <a:spcPct val="12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+mj-lt"/>
              </a:rPr>
              <a:t>The Special Topic Experiment of Computer Network</a:t>
            </a:r>
          </a:p>
          <a:p>
            <a:pPr indent="127000" algn="ctr">
              <a:lnSpc>
                <a:spcPct val="120000"/>
              </a:lnSpc>
            </a:pPr>
            <a:r>
              <a:rPr lang="en-US" altLang="zh-CN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COMP460605</a:t>
            </a:r>
            <a:endParaRPr lang="zh-CN" altLang="zh-CN" sz="3200" b="1" dirty="0">
              <a:solidFill>
                <a:schemeClr val="accent4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5193784"/>
            <a:ext cx="12192000" cy="10572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计算机科学与技术</a:t>
            </a: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学院</a:t>
            </a:r>
            <a:endParaRPr lang="zh-CN" altLang="zh-CN" sz="2400" b="1" kern="100" dirty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127000" algn="ctr">
              <a:lnSpc>
                <a:spcPct val="120000"/>
              </a:lnSpc>
            </a:pPr>
            <a:r>
              <a:rPr lang="en-US" altLang="zh-CN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00" dirty="0">
                <a:solidFill>
                  <a:srgbClr val="1557A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endParaRPr lang="zh-CN" altLang="zh-CN" sz="2400" b="1" kern="100" dirty="0">
              <a:solidFill>
                <a:srgbClr val="1557A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09" y="87848"/>
            <a:ext cx="3088800" cy="1085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2"/>
    </mc:Choice>
    <mc:Fallback xmlns="">
      <p:transition spd="slow" advTm="57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5" grpId="0"/>
    </p:bldLst>
  </p:timing>
  <p:extLst>
    <p:ext uri="{E180D4A7-C9FB-4DFB-919C-405C955672EB}">
      <p14:showEvtLst xmlns:p14="http://schemas.microsoft.com/office/powerpoint/2010/main">
        <p14:playEvt time="47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>
            <a:fillRect/>
          </a:stretch>
        </p:blipFill>
        <p:spPr>
          <a:xfrm>
            <a:off x="376529" y="178280"/>
            <a:ext cx="2517275" cy="679161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0" y="2524125"/>
            <a:ext cx="12192000" cy="1800225"/>
            <a:chOff x="0" y="2524124"/>
            <a:chExt cx="9144000" cy="1800225"/>
          </a:xfrm>
        </p:grpSpPr>
        <p:sp>
          <p:nvSpPr>
            <p:cNvPr id="2" name="矩形 1"/>
            <p:cNvSpPr/>
            <p:nvPr/>
          </p:nvSpPr>
          <p:spPr>
            <a:xfrm>
              <a:off x="0" y="2524124"/>
              <a:ext cx="9144000" cy="1800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" name="矩形 2"/>
            <p:cNvSpPr/>
            <p:nvPr/>
          </p:nvSpPr>
          <p:spPr>
            <a:xfrm>
              <a:off x="1" y="2524124"/>
              <a:ext cx="9143999" cy="15028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127000" algn="ctr">
                <a:lnSpc>
                  <a:spcPct val="150000"/>
                </a:lnSpc>
              </a:pPr>
              <a:r>
                <a:rPr lang="zh-CN" altLang="en-US" sz="3600" b="1" kern="100" dirty="0">
                  <a:solidFill>
                    <a:srgbClr val="1557AE"/>
                  </a:solidFill>
                  <a:latin typeface="+mn-ea"/>
                  <a:cs typeface="Times New Roman" panose="02020603050405020304" pitchFamily="18" charset="0"/>
                </a:rPr>
                <a:t>指导教师：郑卫斌 、安健、张利平</a:t>
              </a:r>
            </a:p>
            <a:p>
              <a:pPr indent="127000" algn="ctr">
                <a:lnSpc>
                  <a:spcPct val="150000"/>
                </a:lnSpc>
              </a:pPr>
              <a:r>
                <a:rPr lang="en-US" altLang="zh-CN" sz="2800" b="1" kern="100" dirty="0">
                  <a:solidFill>
                    <a:srgbClr val="1557AE"/>
                  </a:solidFill>
                  <a:latin typeface="+mj-lt"/>
                  <a:cs typeface="Times New Roman" panose="02020603050405020304" pitchFamily="18" charset="0"/>
                </a:rPr>
                <a:t>{zwb , anjian, zhangliping}@xjtu.edu.cn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77"/>
    </mc:Choice>
    <mc:Fallback xmlns="">
      <p:transition spd="slow" advTm="37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0800000">
            <a:off x="3116048" y="120448"/>
            <a:ext cx="5904127" cy="1116000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926578" y="306941"/>
            <a:ext cx="233884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000" dirty="0">
              <a:solidFill>
                <a:schemeClr val="bg1"/>
              </a:solidFill>
            </a:endParaRPr>
          </a:p>
        </p:txBody>
      </p:sp>
      <p:sp>
        <p:nvSpPr>
          <p:cNvPr id="4" name="任意多边形 3"/>
          <p:cNvSpPr/>
          <p:nvPr/>
        </p:nvSpPr>
        <p:spPr>
          <a:xfrm rot="10800000">
            <a:off x="0" y="0"/>
            <a:ext cx="12192000" cy="1241919"/>
          </a:xfrm>
          <a:custGeom>
            <a:avLst/>
            <a:gdLst>
              <a:gd name="connsiteX0" fmla="*/ 9144000 w 9144000"/>
              <a:gd name="connsiteY0" fmla="*/ 1241919 h 1241919"/>
              <a:gd name="connsiteX1" fmla="*/ 0 w 9144000"/>
              <a:gd name="connsiteY1" fmla="*/ 1241919 h 1241919"/>
              <a:gd name="connsiteX2" fmla="*/ 0 w 9144000"/>
              <a:gd name="connsiteY2" fmla="*/ 1061919 h 1241919"/>
              <a:gd name="connsiteX3" fmla="*/ 1762992 w 9144000"/>
              <a:gd name="connsiteY3" fmla="*/ 1061919 h 1241919"/>
              <a:gd name="connsiteX4" fmla="*/ 4572000 w 9144000"/>
              <a:gd name="connsiteY4" fmla="*/ 0 h 1241919"/>
              <a:gd name="connsiteX5" fmla="*/ 7381007 w 9144000"/>
              <a:gd name="connsiteY5" fmla="*/ 1061919 h 1241919"/>
              <a:gd name="connsiteX6" fmla="*/ 9144000 w 9144000"/>
              <a:gd name="connsiteY6" fmla="*/ 1061919 h 124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00" h="1241919">
                <a:moveTo>
                  <a:pt x="9144000" y="1241919"/>
                </a:moveTo>
                <a:lnTo>
                  <a:pt x="0" y="1241919"/>
                </a:lnTo>
                <a:lnTo>
                  <a:pt x="0" y="1061919"/>
                </a:lnTo>
                <a:lnTo>
                  <a:pt x="1762992" y="1061919"/>
                </a:lnTo>
                <a:lnTo>
                  <a:pt x="4572000" y="0"/>
                </a:lnTo>
                <a:lnTo>
                  <a:pt x="7381007" y="1061919"/>
                </a:lnTo>
                <a:lnTo>
                  <a:pt x="9144000" y="106191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079674" y="194057"/>
            <a:ext cx="210333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</a:rPr>
              <a:t>CONTENTS</a:t>
            </a:r>
            <a:endParaRPr lang="zh-CN" altLang="en-US" sz="3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KSO_Shape"/>
          <p:cNvSpPr/>
          <p:nvPr/>
        </p:nvSpPr>
        <p:spPr bwMode="auto">
          <a:xfrm>
            <a:off x="2009775" y="5147786"/>
            <a:ext cx="1334873" cy="1243722"/>
          </a:xfrm>
          <a:custGeom>
            <a:avLst/>
            <a:gdLst>
              <a:gd name="T0" fmla="*/ 1221908 w 2276475"/>
              <a:gd name="T1" fmla="*/ 1328927 h 1936751"/>
              <a:gd name="T2" fmla="*/ 1196654 w 2276475"/>
              <a:gd name="T3" fmla="*/ 1388292 h 1936751"/>
              <a:gd name="T4" fmla="*/ 691864 w 2276475"/>
              <a:gd name="T5" fmla="*/ 1376845 h 1936751"/>
              <a:gd name="T6" fmla="*/ 695585 w 2276475"/>
              <a:gd name="T7" fmla="*/ 1314285 h 1936751"/>
              <a:gd name="T8" fmla="*/ 1104489 w 2276475"/>
              <a:gd name="T9" fmla="*/ 1115137 h 1936751"/>
              <a:gd name="T10" fmla="*/ 1117497 w 2276475"/>
              <a:gd name="T11" fmla="*/ 1168850 h 1936751"/>
              <a:gd name="T12" fmla="*/ 811396 w 2276475"/>
              <a:gd name="T13" fmla="*/ 1188695 h 1936751"/>
              <a:gd name="T14" fmla="*/ 783254 w 2276475"/>
              <a:gd name="T15" fmla="*/ 1141068 h 1936751"/>
              <a:gd name="T16" fmla="*/ 309026 w 2276475"/>
              <a:gd name="T17" fmla="*/ 898551 h 1936751"/>
              <a:gd name="T18" fmla="*/ 798665 w 2276475"/>
              <a:gd name="T19" fmla="*/ 935449 h 1936751"/>
              <a:gd name="T20" fmla="*/ 759855 w 2276475"/>
              <a:gd name="T21" fmla="*/ 989335 h 1936751"/>
              <a:gd name="T22" fmla="*/ 259317 w 2276475"/>
              <a:gd name="T23" fmla="*/ 967303 h 1936751"/>
              <a:gd name="T24" fmla="*/ 277393 w 2276475"/>
              <a:gd name="T25" fmla="*/ 906514 h 1936751"/>
              <a:gd name="T26" fmla="*/ 1086287 w 2276475"/>
              <a:gd name="T27" fmla="*/ 817903 h 1936751"/>
              <a:gd name="T28" fmla="*/ 1028372 w 2276475"/>
              <a:gd name="T29" fmla="*/ 919230 h 1936751"/>
              <a:gd name="T30" fmla="*/ 999280 w 2276475"/>
              <a:gd name="T31" fmla="*/ 917630 h 1936751"/>
              <a:gd name="T32" fmla="*/ 289574 w 2276475"/>
              <a:gd name="T33" fmla="*/ 706099 h 1936751"/>
              <a:gd name="T34" fmla="*/ 590631 w 2276475"/>
              <a:gd name="T35" fmla="*/ 735033 h 1936751"/>
              <a:gd name="T36" fmla="*/ 567535 w 2276475"/>
              <a:gd name="T37" fmla="*/ 784938 h 1936751"/>
              <a:gd name="T38" fmla="*/ 259309 w 2276475"/>
              <a:gd name="T39" fmla="*/ 770073 h 1936751"/>
              <a:gd name="T40" fmla="*/ 267273 w 2276475"/>
              <a:gd name="T41" fmla="*/ 715124 h 1936751"/>
              <a:gd name="T42" fmla="*/ 836933 w 2276475"/>
              <a:gd name="T43" fmla="*/ 505684 h 1936751"/>
              <a:gd name="T44" fmla="*/ 846494 w 2276475"/>
              <a:gd name="T45" fmla="*/ 574170 h 1936751"/>
              <a:gd name="T46" fmla="*/ 268069 w 2276475"/>
              <a:gd name="T47" fmla="*/ 592752 h 1936751"/>
              <a:gd name="T48" fmla="*/ 238855 w 2276475"/>
              <a:gd name="T49" fmla="*/ 530105 h 1936751"/>
              <a:gd name="T50" fmla="*/ 1467818 w 2276475"/>
              <a:gd name="T51" fmla="*/ 344025 h 1936751"/>
              <a:gd name="T52" fmla="*/ 1566759 w 2276475"/>
              <a:gd name="T53" fmla="*/ 428438 h 1936751"/>
              <a:gd name="T54" fmla="*/ 1578461 w 2276475"/>
              <a:gd name="T55" fmla="*/ 479936 h 1936751"/>
              <a:gd name="T56" fmla="*/ 1197862 w 2276475"/>
              <a:gd name="T57" fmla="*/ 846789 h 1936751"/>
              <a:gd name="T58" fmla="*/ 1138817 w 2276475"/>
              <a:gd name="T59" fmla="*/ 842806 h 1936751"/>
              <a:gd name="T60" fmla="*/ 1093869 w 2276475"/>
              <a:gd name="T61" fmla="*/ 799538 h 1936751"/>
              <a:gd name="T62" fmla="*/ 1075782 w 2276475"/>
              <a:gd name="T63" fmla="*/ 737423 h 1936751"/>
              <a:gd name="T64" fmla="*/ 1456382 w 2276475"/>
              <a:gd name="T65" fmla="*/ 344821 h 1936751"/>
              <a:gd name="T66" fmla="*/ 199469 w 2276475"/>
              <a:gd name="T67" fmla="*/ 367345 h 1936751"/>
              <a:gd name="T68" fmla="*/ 114475 w 2276475"/>
              <a:gd name="T69" fmla="*/ 448541 h 1936751"/>
              <a:gd name="T70" fmla="*/ 103321 w 2276475"/>
              <a:gd name="T71" fmla="*/ 1407238 h 1936751"/>
              <a:gd name="T72" fmla="*/ 171315 w 2276475"/>
              <a:gd name="T73" fmla="*/ 1503559 h 1936751"/>
              <a:gd name="T74" fmla="*/ 1382734 w 2276475"/>
              <a:gd name="T75" fmla="*/ 1530890 h 1936751"/>
              <a:gd name="T76" fmla="*/ 1488975 w 2276475"/>
              <a:gd name="T77" fmla="*/ 1477289 h 1936751"/>
              <a:gd name="T78" fmla="*/ 1531737 w 2276475"/>
              <a:gd name="T79" fmla="*/ 1365845 h 1936751"/>
              <a:gd name="T80" fmla="*/ 1605841 w 2276475"/>
              <a:gd name="T81" fmla="*/ 1539381 h 1936751"/>
              <a:gd name="T82" fmla="*/ 1513146 w 2276475"/>
              <a:gd name="T83" fmla="*/ 1611821 h 1936751"/>
              <a:gd name="T84" fmla="*/ 101461 w 2276475"/>
              <a:gd name="T85" fmla="*/ 1605982 h 1936751"/>
              <a:gd name="T86" fmla="*/ 16468 w 2276475"/>
              <a:gd name="T87" fmla="*/ 1525317 h 1936751"/>
              <a:gd name="T88" fmla="*/ 5312 w 2276475"/>
              <a:gd name="T89" fmla="*/ 391226 h 1936751"/>
              <a:gd name="T90" fmla="*/ 73307 w 2276475"/>
              <a:gd name="T91" fmla="*/ 295170 h 1936751"/>
              <a:gd name="T92" fmla="*/ 1746529 w 2276475"/>
              <a:gd name="T93" fmla="*/ 88926 h 1936751"/>
              <a:gd name="T94" fmla="*/ 1805153 w 2276475"/>
              <a:gd name="T95" fmla="*/ 114614 h 1936751"/>
              <a:gd name="T96" fmla="*/ 1838312 w 2276475"/>
              <a:gd name="T97" fmla="*/ 176846 h 1936751"/>
              <a:gd name="T98" fmla="*/ 1821600 w 2276475"/>
              <a:gd name="T99" fmla="*/ 237490 h 1936751"/>
              <a:gd name="T100" fmla="*/ 1620792 w 2276475"/>
              <a:gd name="T101" fmla="*/ 421806 h 1936751"/>
              <a:gd name="T102" fmla="*/ 1543068 w 2276475"/>
              <a:gd name="T103" fmla="*/ 339447 h 1936751"/>
              <a:gd name="T104" fmla="*/ 1506460 w 2276475"/>
              <a:gd name="T105" fmla="*/ 289925 h 1936751"/>
              <a:gd name="T106" fmla="*/ 1716818 w 2276475"/>
              <a:gd name="T107" fmla="*/ 92634 h 1936751"/>
              <a:gd name="T108" fmla="*/ 1893521 w 2276475"/>
              <a:gd name="T109" fmla="*/ 35131 h 1936751"/>
              <a:gd name="T110" fmla="*/ 1889783 w 2276475"/>
              <a:gd name="T111" fmla="*/ 106078 h 1936751"/>
              <a:gd name="T112" fmla="*/ 1844400 w 2276475"/>
              <a:gd name="T113" fmla="*/ 105545 h 1936751"/>
              <a:gd name="T114" fmla="*/ 1793944 w 2276475"/>
              <a:gd name="T115" fmla="*/ 59669 h 1936751"/>
              <a:gd name="T116" fmla="*/ 1847069 w 2276475"/>
              <a:gd name="T117" fmla="*/ 16194 h 1936751"/>
              <a:gd name="T118" fmla="*/ 1697756 w 2276475"/>
              <a:gd name="T119" fmla="*/ 22017 h 1936751"/>
              <a:gd name="T120" fmla="*/ 1364698 w 2276475"/>
              <a:gd name="T121" fmla="*/ 383050 h 1936751"/>
              <a:gd name="T122" fmla="*/ 1317840 w 2276475"/>
              <a:gd name="T123" fmla="*/ 375887 h 1936751"/>
              <a:gd name="T124" fmla="*/ 1320237 w 2276475"/>
              <a:gd name="T125" fmla="*/ 329200 h 1936751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2276475" h="1936751">
                <a:moveTo>
                  <a:pt x="872202" y="1555750"/>
                </a:moveTo>
                <a:lnTo>
                  <a:pt x="879190" y="1555750"/>
                </a:lnTo>
                <a:lnTo>
                  <a:pt x="1397284" y="1555750"/>
                </a:lnTo>
                <a:lnTo>
                  <a:pt x="1404272" y="1555750"/>
                </a:lnTo>
                <a:lnTo>
                  <a:pt x="1410943" y="1557024"/>
                </a:lnTo>
                <a:lnTo>
                  <a:pt x="1417614" y="1557979"/>
                </a:lnTo>
                <a:lnTo>
                  <a:pt x="1423649" y="1560208"/>
                </a:lnTo>
                <a:lnTo>
                  <a:pt x="1430002" y="1562437"/>
                </a:lnTo>
                <a:lnTo>
                  <a:pt x="1435403" y="1565303"/>
                </a:lnTo>
                <a:lnTo>
                  <a:pt x="1440485" y="1568168"/>
                </a:lnTo>
                <a:lnTo>
                  <a:pt x="1445567" y="1571989"/>
                </a:lnTo>
                <a:lnTo>
                  <a:pt x="1450015" y="1576128"/>
                </a:lnTo>
                <a:lnTo>
                  <a:pt x="1453509" y="1580268"/>
                </a:lnTo>
                <a:lnTo>
                  <a:pt x="1457321" y="1584726"/>
                </a:lnTo>
                <a:lnTo>
                  <a:pt x="1460180" y="1589502"/>
                </a:lnTo>
                <a:lnTo>
                  <a:pt x="1462403" y="1594915"/>
                </a:lnTo>
                <a:lnTo>
                  <a:pt x="1463674" y="1600009"/>
                </a:lnTo>
                <a:lnTo>
                  <a:pt x="1464944" y="1605741"/>
                </a:lnTo>
                <a:lnTo>
                  <a:pt x="1465262" y="1611472"/>
                </a:lnTo>
                <a:lnTo>
                  <a:pt x="1464944" y="1617203"/>
                </a:lnTo>
                <a:lnTo>
                  <a:pt x="1463674" y="1622935"/>
                </a:lnTo>
                <a:lnTo>
                  <a:pt x="1462403" y="1628029"/>
                </a:lnTo>
                <a:lnTo>
                  <a:pt x="1460180" y="1633124"/>
                </a:lnTo>
                <a:lnTo>
                  <a:pt x="1457321" y="1638218"/>
                </a:lnTo>
                <a:lnTo>
                  <a:pt x="1453509" y="1642358"/>
                </a:lnTo>
                <a:lnTo>
                  <a:pt x="1450015" y="1646815"/>
                </a:lnTo>
                <a:lnTo>
                  <a:pt x="1445567" y="1650955"/>
                </a:lnTo>
                <a:lnTo>
                  <a:pt x="1440485" y="1654457"/>
                </a:lnTo>
                <a:lnTo>
                  <a:pt x="1435403" y="1657641"/>
                </a:lnTo>
                <a:lnTo>
                  <a:pt x="1430002" y="1660507"/>
                </a:lnTo>
                <a:lnTo>
                  <a:pt x="1423649" y="1662736"/>
                </a:lnTo>
                <a:lnTo>
                  <a:pt x="1417614" y="1664328"/>
                </a:lnTo>
                <a:lnTo>
                  <a:pt x="1410943" y="1665920"/>
                </a:lnTo>
                <a:lnTo>
                  <a:pt x="1404272" y="1666875"/>
                </a:lnTo>
                <a:lnTo>
                  <a:pt x="1397284" y="1666875"/>
                </a:lnTo>
                <a:lnTo>
                  <a:pt x="879190" y="1666875"/>
                </a:lnTo>
                <a:lnTo>
                  <a:pt x="872202" y="1666875"/>
                </a:lnTo>
                <a:lnTo>
                  <a:pt x="865531" y="1665920"/>
                </a:lnTo>
                <a:lnTo>
                  <a:pt x="858860" y="1664328"/>
                </a:lnTo>
                <a:lnTo>
                  <a:pt x="852507" y="1662736"/>
                </a:lnTo>
                <a:lnTo>
                  <a:pt x="846790" y="1660507"/>
                </a:lnTo>
                <a:lnTo>
                  <a:pt x="841389" y="1657641"/>
                </a:lnTo>
                <a:lnTo>
                  <a:pt x="835989" y="1654139"/>
                </a:lnTo>
                <a:lnTo>
                  <a:pt x="831224" y="1650955"/>
                </a:lnTo>
                <a:lnTo>
                  <a:pt x="826777" y="1646815"/>
                </a:lnTo>
                <a:lnTo>
                  <a:pt x="822648" y="1642358"/>
                </a:lnTo>
                <a:lnTo>
                  <a:pt x="819471" y="1637900"/>
                </a:lnTo>
                <a:lnTo>
                  <a:pt x="816612" y="1633124"/>
                </a:lnTo>
                <a:lnTo>
                  <a:pt x="814389" y="1628029"/>
                </a:lnTo>
                <a:lnTo>
                  <a:pt x="812483" y="1622935"/>
                </a:lnTo>
                <a:lnTo>
                  <a:pt x="811530" y="1617203"/>
                </a:lnTo>
                <a:lnTo>
                  <a:pt x="811212" y="1611472"/>
                </a:lnTo>
                <a:lnTo>
                  <a:pt x="811530" y="1605741"/>
                </a:lnTo>
                <a:lnTo>
                  <a:pt x="812483" y="1600009"/>
                </a:lnTo>
                <a:lnTo>
                  <a:pt x="814389" y="1594915"/>
                </a:lnTo>
                <a:lnTo>
                  <a:pt x="816612" y="1589820"/>
                </a:lnTo>
                <a:lnTo>
                  <a:pt x="819471" y="1584726"/>
                </a:lnTo>
                <a:lnTo>
                  <a:pt x="822648" y="1580268"/>
                </a:lnTo>
                <a:lnTo>
                  <a:pt x="826777" y="1576128"/>
                </a:lnTo>
                <a:lnTo>
                  <a:pt x="831224" y="1571989"/>
                </a:lnTo>
                <a:lnTo>
                  <a:pt x="835989" y="1568168"/>
                </a:lnTo>
                <a:lnTo>
                  <a:pt x="841389" y="1565303"/>
                </a:lnTo>
                <a:lnTo>
                  <a:pt x="846790" y="1562437"/>
                </a:lnTo>
                <a:lnTo>
                  <a:pt x="852507" y="1560208"/>
                </a:lnTo>
                <a:lnTo>
                  <a:pt x="858860" y="1558298"/>
                </a:lnTo>
                <a:lnTo>
                  <a:pt x="865531" y="1557024"/>
                </a:lnTo>
                <a:lnTo>
                  <a:pt x="872202" y="1555750"/>
                </a:lnTo>
                <a:close/>
                <a:moveTo>
                  <a:pt x="984211" y="1325563"/>
                </a:moveTo>
                <a:lnTo>
                  <a:pt x="1292263" y="1325563"/>
                </a:lnTo>
                <a:lnTo>
                  <a:pt x="1297339" y="1325880"/>
                </a:lnTo>
                <a:lnTo>
                  <a:pt x="1302415" y="1326513"/>
                </a:lnTo>
                <a:lnTo>
                  <a:pt x="1307174" y="1327779"/>
                </a:lnTo>
                <a:lnTo>
                  <a:pt x="1311615" y="1329361"/>
                </a:lnTo>
                <a:lnTo>
                  <a:pt x="1315740" y="1331260"/>
                </a:lnTo>
                <a:lnTo>
                  <a:pt x="1319864" y="1333792"/>
                </a:lnTo>
                <a:lnTo>
                  <a:pt x="1323671" y="1336640"/>
                </a:lnTo>
                <a:lnTo>
                  <a:pt x="1327161" y="1340121"/>
                </a:lnTo>
                <a:lnTo>
                  <a:pt x="1330333" y="1343286"/>
                </a:lnTo>
                <a:lnTo>
                  <a:pt x="1332871" y="1347400"/>
                </a:lnTo>
                <a:lnTo>
                  <a:pt x="1335409" y="1351198"/>
                </a:lnTo>
                <a:lnTo>
                  <a:pt x="1337630" y="1355629"/>
                </a:lnTo>
                <a:lnTo>
                  <a:pt x="1339216" y="1360059"/>
                </a:lnTo>
                <a:lnTo>
                  <a:pt x="1340485" y="1364807"/>
                </a:lnTo>
                <a:lnTo>
                  <a:pt x="1341437" y="1369870"/>
                </a:lnTo>
                <a:lnTo>
                  <a:pt x="1341437" y="1374934"/>
                </a:lnTo>
                <a:lnTo>
                  <a:pt x="1341437" y="1379681"/>
                </a:lnTo>
                <a:lnTo>
                  <a:pt x="1340485" y="1384745"/>
                </a:lnTo>
                <a:lnTo>
                  <a:pt x="1339216" y="1389492"/>
                </a:lnTo>
                <a:lnTo>
                  <a:pt x="1337630" y="1393923"/>
                </a:lnTo>
                <a:lnTo>
                  <a:pt x="1335409" y="1398037"/>
                </a:lnTo>
                <a:lnTo>
                  <a:pt x="1332871" y="1402151"/>
                </a:lnTo>
                <a:lnTo>
                  <a:pt x="1330016" y="1405632"/>
                </a:lnTo>
                <a:lnTo>
                  <a:pt x="1327161" y="1409430"/>
                </a:lnTo>
                <a:lnTo>
                  <a:pt x="1323671" y="1412595"/>
                </a:lnTo>
                <a:lnTo>
                  <a:pt x="1319864" y="1415443"/>
                </a:lnTo>
                <a:lnTo>
                  <a:pt x="1315740" y="1417659"/>
                </a:lnTo>
                <a:lnTo>
                  <a:pt x="1311615" y="1419874"/>
                </a:lnTo>
                <a:lnTo>
                  <a:pt x="1306857" y="1421773"/>
                </a:lnTo>
                <a:lnTo>
                  <a:pt x="1302415" y="1422722"/>
                </a:lnTo>
                <a:lnTo>
                  <a:pt x="1297339" y="1423672"/>
                </a:lnTo>
                <a:lnTo>
                  <a:pt x="1292263" y="1423988"/>
                </a:lnTo>
                <a:lnTo>
                  <a:pt x="984211" y="1423988"/>
                </a:lnTo>
                <a:lnTo>
                  <a:pt x="979453" y="1423672"/>
                </a:lnTo>
                <a:lnTo>
                  <a:pt x="974377" y="1422722"/>
                </a:lnTo>
                <a:lnTo>
                  <a:pt x="969618" y="1421773"/>
                </a:lnTo>
                <a:lnTo>
                  <a:pt x="965176" y="1419874"/>
                </a:lnTo>
                <a:lnTo>
                  <a:pt x="960735" y="1417659"/>
                </a:lnTo>
                <a:lnTo>
                  <a:pt x="956928" y="1415443"/>
                </a:lnTo>
                <a:lnTo>
                  <a:pt x="952803" y="1412595"/>
                </a:lnTo>
                <a:lnTo>
                  <a:pt x="949631" y="1409430"/>
                </a:lnTo>
                <a:lnTo>
                  <a:pt x="946141" y="1405632"/>
                </a:lnTo>
                <a:lnTo>
                  <a:pt x="943286" y="1402151"/>
                </a:lnTo>
                <a:lnTo>
                  <a:pt x="941065" y="1398037"/>
                </a:lnTo>
                <a:lnTo>
                  <a:pt x="938844" y="1393923"/>
                </a:lnTo>
                <a:lnTo>
                  <a:pt x="937258" y="1389492"/>
                </a:lnTo>
                <a:lnTo>
                  <a:pt x="935989" y="1384745"/>
                </a:lnTo>
                <a:lnTo>
                  <a:pt x="935355" y="1379681"/>
                </a:lnTo>
                <a:lnTo>
                  <a:pt x="935037" y="1374934"/>
                </a:lnTo>
                <a:lnTo>
                  <a:pt x="935355" y="1369870"/>
                </a:lnTo>
                <a:lnTo>
                  <a:pt x="935989" y="1364807"/>
                </a:lnTo>
                <a:lnTo>
                  <a:pt x="937258" y="1360059"/>
                </a:lnTo>
                <a:lnTo>
                  <a:pt x="938844" y="1355629"/>
                </a:lnTo>
                <a:lnTo>
                  <a:pt x="940748" y="1351198"/>
                </a:lnTo>
                <a:lnTo>
                  <a:pt x="943286" y="1347400"/>
                </a:lnTo>
                <a:lnTo>
                  <a:pt x="946141" y="1343286"/>
                </a:lnTo>
                <a:lnTo>
                  <a:pt x="949631" y="1340121"/>
                </a:lnTo>
                <a:lnTo>
                  <a:pt x="952803" y="1336640"/>
                </a:lnTo>
                <a:lnTo>
                  <a:pt x="956928" y="1333792"/>
                </a:lnTo>
                <a:lnTo>
                  <a:pt x="960735" y="1331260"/>
                </a:lnTo>
                <a:lnTo>
                  <a:pt x="965176" y="1329361"/>
                </a:lnTo>
                <a:lnTo>
                  <a:pt x="969618" y="1327779"/>
                </a:lnTo>
                <a:lnTo>
                  <a:pt x="974377" y="1326513"/>
                </a:lnTo>
                <a:lnTo>
                  <a:pt x="979453" y="1325880"/>
                </a:lnTo>
                <a:lnTo>
                  <a:pt x="984211" y="1325563"/>
                </a:lnTo>
                <a:close/>
                <a:moveTo>
                  <a:pt x="369286" y="1074738"/>
                </a:moveTo>
                <a:lnTo>
                  <a:pt x="887697" y="1074738"/>
                </a:lnTo>
                <a:lnTo>
                  <a:pt x="894368" y="1075056"/>
                </a:lnTo>
                <a:lnTo>
                  <a:pt x="901356" y="1076008"/>
                </a:lnTo>
                <a:lnTo>
                  <a:pt x="908027" y="1077278"/>
                </a:lnTo>
                <a:lnTo>
                  <a:pt x="914063" y="1079183"/>
                </a:lnTo>
                <a:lnTo>
                  <a:pt x="920098" y="1081406"/>
                </a:lnTo>
                <a:lnTo>
                  <a:pt x="925816" y="1084263"/>
                </a:lnTo>
                <a:lnTo>
                  <a:pt x="930898" y="1087438"/>
                </a:lnTo>
                <a:lnTo>
                  <a:pt x="935663" y="1090931"/>
                </a:lnTo>
                <a:lnTo>
                  <a:pt x="940110" y="1094741"/>
                </a:lnTo>
                <a:lnTo>
                  <a:pt x="944240" y="1099186"/>
                </a:lnTo>
                <a:lnTo>
                  <a:pt x="947416" y="1103948"/>
                </a:lnTo>
                <a:lnTo>
                  <a:pt x="950275" y="1108711"/>
                </a:lnTo>
                <a:lnTo>
                  <a:pt x="952499" y="1113791"/>
                </a:lnTo>
                <a:lnTo>
                  <a:pt x="954405" y="1118871"/>
                </a:lnTo>
                <a:lnTo>
                  <a:pt x="955358" y="1124903"/>
                </a:lnTo>
                <a:lnTo>
                  <a:pt x="955675" y="1130301"/>
                </a:lnTo>
                <a:lnTo>
                  <a:pt x="955358" y="1136016"/>
                </a:lnTo>
                <a:lnTo>
                  <a:pt x="954405" y="1141413"/>
                </a:lnTo>
                <a:lnTo>
                  <a:pt x="952499" y="1147128"/>
                </a:lnTo>
                <a:lnTo>
                  <a:pt x="950275" y="1152208"/>
                </a:lnTo>
                <a:lnTo>
                  <a:pt x="947416" y="1156971"/>
                </a:lnTo>
                <a:lnTo>
                  <a:pt x="944240" y="1161098"/>
                </a:lnTo>
                <a:lnTo>
                  <a:pt x="940110" y="1165543"/>
                </a:lnTo>
                <a:lnTo>
                  <a:pt x="935663" y="1169671"/>
                </a:lnTo>
                <a:lnTo>
                  <a:pt x="930898" y="1173163"/>
                </a:lnTo>
                <a:lnTo>
                  <a:pt x="925816" y="1176656"/>
                </a:lnTo>
                <a:lnTo>
                  <a:pt x="920098" y="1179196"/>
                </a:lnTo>
                <a:lnTo>
                  <a:pt x="914063" y="1181736"/>
                </a:lnTo>
                <a:lnTo>
                  <a:pt x="908027" y="1183323"/>
                </a:lnTo>
                <a:lnTo>
                  <a:pt x="901356" y="1184593"/>
                </a:lnTo>
                <a:lnTo>
                  <a:pt x="894368" y="1185546"/>
                </a:lnTo>
                <a:lnTo>
                  <a:pt x="887697" y="1185863"/>
                </a:lnTo>
                <a:lnTo>
                  <a:pt x="369286" y="1185863"/>
                </a:lnTo>
                <a:lnTo>
                  <a:pt x="362615" y="1185546"/>
                </a:lnTo>
                <a:lnTo>
                  <a:pt x="355944" y="1184593"/>
                </a:lnTo>
                <a:lnTo>
                  <a:pt x="349273" y="1183323"/>
                </a:lnTo>
                <a:lnTo>
                  <a:pt x="343238" y="1181736"/>
                </a:lnTo>
                <a:lnTo>
                  <a:pt x="337203" y="1179196"/>
                </a:lnTo>
                <a:lnTo>
                  <a:pt x="331485" y="1176656"/>
                </a:lnTo>
                <a:lnTo>
                  <a:pt x="326402" y="1173163"/>
                </a:lnTo>
                <a:lnTo>
                  <a:pt x="321637" y="1169671"/>
                </a:lnTo>
                <a:lnTo>
                  <a:pt x="317190" y="1165543"/>
                </a:lnTo>
                <a:lnTo>
                  <a:pt x="313378" y="1161098"/>
                </a:lnTo>
                <a:lnTo>
                  <a:pt x="309884" y="1156971"/>
                </a:lnTo>
                <a:lnTo>
                  <a:pt x="307025" y="1152208"/>
                </a:lnTo>
                <a:lnTo>
                  <a:pt x="304802" y="1147128"/>
                </a:lnTo>
                <a:lnTo>
                  <a:pt x="302896" y="1141413"/>
                </a:lnTo>
                <a:lnTo>
                  <a:pt x="301943" y="1136016"/>
                </a:lnTo>
                <a:lnTo>
                  <a:pt x="301625" y="1130301"/>
                </a:lnTo>
                <a:lnTo>
                  <a:pt x="301943" y="1124903"/>
                </a:lnTo>
                <a:lnTo>
                  <a:pt x="302896" y="1119188"/>
                </a:lnTo>
                <a:lnTo>
                  <a:pt x="304802" y="1113791"/>
                </a:lnTo>
                <a:lnTo>
                  <a:pt x="307025" y="1108711"/>
                </a:lnTo>
                <a:lnTo>
                  <a:pt x="309884" y="1103948"/>
                </a:lnTo>
                <a:lnTo>
                  <a:pt x="313378" y="1099186"/>
                </a:lnTo>
                <a:lnTo>
                  <a:pt x="317190" y="1094741"/>
                </a:lnTo>
                <a:lnTo>
                  <a:pt x="321637" y="1091248"/>
                </a:lnTo>
                <a:lnTo>
                  <a:pt x="326402" y="1087438"/>
                </a:lnTo>
                <a:lnTo>
                  <a:pt x="331485" y="1084263"/>
                </a:lnTo>
                <a:lnTo>
                  <a:pt x="337203" y="1081406"/>
                </a:lnTo>
                <a:lnTo>
                  <a:pt x="343238" y="1079183"/>
                </a:lnTo>
                <a:lnTo>
                  <a:pt x="349273" y="1077278"/>
                </a:lnTo>
                <a:lnTo>
                  <a:pt x="355944" y="1076008"/>
                </a:lnTo>
                <a:lnTo>
                  <a:pt x="362615" y="1075056"/>
                </a:lnTo>
                <a:lnTo>
                  <a:pt x="369286" y="1074738"/>
                </a:lnTo>
                <a:close/>
                <a:moveTo>
                  <a:pt x="1261435" y="965200"/>
                </a:moveTo>
                <a:lnTo>
                  <a:pt x="1264624" y="965200"/>
                </a:lnTo>
                <a:lnTo>
                  <a:pt x="1267814" y="965200"/>
                </a:lnTo>
                <a:lnTo>
                  <a:pt x="1271322" y="965838"/>
                </a:lnTo>
                <a:lnTo>
                  <a:pt x="1275149" y="967114"/>
                </a:lnTo>
                <a:lnTo>
                  <a:pt x="1278977" y="968390"/>
                </a:lnTo>
                <a:lnTo>
                  <a:pt x="1282804" y="969984"/>
                </a:lnTo>
                <a:lnTo>
                  <a:pt x="1290777" y="973811"/>
                </a:lnTo>
                <a:lnTo>
                  <a:pt x="1298113" y="978277"/>
                </a:lnTo>
                <a:lnTo>
                  <a:pt x="1304491" y="982742"/>
                </a:lnTo>
                <a:lnTo>
                  <a:pt x="1308637" y="986250"/>
                </a:lnTo>
                <a:lnTo>
                  <a:pt x="1312784" y="990715"/>
                </a:lnTo>
                <a:lnTo>
                  <a:pt x="1317249" y="997094"/>
                </a:lnTo>
                <a:lnTo>
                  <a:pt x="1321395" y="1004429"/>
                </a:lnTo>
                <a:lnTo>
                  <a:pt x="1325222" y="1012403"/>
                </a:lnTo>
                <a:lnTo>
                  <a:pt x="1326817" y="1016549"/>
                </a:lnTo>
                <a:lnTo>
                  <a:pt x="1328092" y="1020057"/>
                </a:lnTo>
                <a:lnTo>
                  <a:pt x="1329368" y="1024203"/>
                </a:lnTo>
                <a:lnTo>
                  <a:pt x="1330006" y="1027711"/>
                </a:lnTo>
                <a:lnTo>
                  <a:pt x="1330325" y="1030901"/>
                </a:lnTo>
                <a:lnTo>
                  <a:pt x="1330006" y="1034090"/>
                </a:lnTo>
                <a:lnTo>
                  <a:pt x="1329368" y="1036004"/>
                </a:lnTo>
                <a:lnTo>
                  <a:pt x="1327774" y="1038236"/>
                </a:lnTo>
                <a:lnTo>
                  <a:pt x="1228904" y="1099472"/>
                </a:lnTo>
                <a:lnTo>
                  <a:pt x="1226990" y="1101066"/>
                </a:lnTo>
                <a:lnTo>
                  <a:pt x="1225396" y="1102342"/>
                </a:lnTo>
                <a:lnTo>
                  <a:pt x="1223163" y="1103618"/>
                </a:lnTo>
                <a:lnTo>
                  <a:pt x="1220930" y="1104575"/>
                </a:lnTo>
                <a:lnTo>
                  <a:pt x="1219017" y="1105213"/>
                </a:lnTo>
                <a:lnTo>
                  <a:pt x="1216784" y="1105850"/>
                </a:lnTo>
                <a:lnTo>
                  <a:pt x="1212000" y="1106488"/>
                </a:lnTo>
                <a:lnTo>
                  <a:pt x="1207854" y="1105850"/>
                </a:lnTo>
                <a:lnTo>
                  <a:pt x="1205622" y="1105213"/>
                </a:lnTo>
                <a:lnTo>
                  <a:pt x="1203389" y="1104575"/>
                </a:lnTo>
                <a:lnTo>
                  <a:pt x="1201475" y="1103618"/>
                </a:lnTo>
                <a:lnTo>
                  <a:pt x="1199243" y="1102342"/>
                </a:lnTo>
                <a:lnTo>
                  <a:pt x="1197329" y="1101066"/>
                </a:lnTo>
                <a:lnTo>
                  <a:pt x="1195735" y="1099472"/>
                </a:lnTo>
                <a:lnTo>
                  <a:pt x="1194140" y="1097558"/>
                </a:lnTo>
                <a:lnTo>
                  <a:pt x="1192864" y="1095963"/>
                </a:lnTo>
                <a:lnTo>
                  <a:pt x="1191588" y="1093731"/>
                </a:lnTo>
                <a:lnTo>
                  <a:pt x="1190632" y="1091817"/>
                </a:lnTo>
                <a:lnTo>
                  <a:pt x="1189356" y="1087352"/>
                </a:lnTo>
                <a:lnTo>
                  <a:pt x="1189037" y="1082887"/>
                </a:lnTo>
                <a:lnTo>
                  <a:pt x="1189356" y="1078741"/>
                </a:lnTo>
                <a:lnTo>
                  <a:pt x="1190632" y="1074276"/>
                </a:lnTo>
                <a:lnTo>
                  <a:pt x="1191588" y="1072043"/>
                </a:lnTo>
                <a:lnTo>
                  <a:pt x="1192864" y="1070130"/>
                </a:lnTo>
                <a:lnTo>
                  <a:pt x="1194140" y="1068535"/>
                </a:lnTo>
                <a:lnTo>
                  <a:pt x="1195735" y="1066621"/>
                </a:lnTo>
                <a:lnTo>
                  <a:pt x="1257289" y="967433"/>
                </a:lnTo>
                <a:lnTo>
                  <a:pt x="1258884" y="965838"/>
                </a:lnTo>
                <a:lnTo>
                  <a:pt x="1261435" y="965200"/>
                </a:lnTo>
                <a:close/>
                <a:moveTo>
                  <a:pt x="346041" y="844550"/>
                </a:moveTo>
                <a:lnTo>
                  <a:pt x="350799" y="844550"/>
                </a:lnTo>
                <a:lnTo>
                  <a:pt x="658851" y="844550"/>
                </a:lnTo>
                <a:lnTo>
                  <a:pt x="663927" y="844550"/>
                </a:lnTo>
                <a:lnTo>
                  <a:pt x="669003" y="845185"/>
                </a:lnTo>
                <a:lnTo>
                  <a:pt x="673762" y="846773"/>
                </a:lnTo>
                <a:lnTo>
                  <a:pt x="678204" y="848043"/>
                </a:lnTo>
                <a:lnTo>
                  <a:pt x="682645" y="850265"/>
                </a:lnTo>
                <a:lnTo>
                  <a:pt x="686452" y="852805"/>
                </a:lnTo>
                <a:lnTo>
                  <a:pt x="690259" y="855345"/>
                </a:lnTo>
                <a:lnTo>
                  <a:pt x="693749" y="858838"/>
                </a:lnTo>
                <a:lnTo>
                  <a:pt x="697239" y="862330"/>
                </a:lnTo>
                <a:lnTo>
                  <a:pt x="699777" y="865823"/>
                </a:lnTo>
                <a:lnTo>
                  <a:pt x="702315" y="869950"/>
                </a:lnTo>
                <a:lnTo>
                  <a:pt x="704218" y="874395"/>
                </a:lnTo>
                <a:lnTo>
                  <a:pt x="705804" y="879158"/>
                </a:lnTo>
                <a:lnTo>
                  <a:pt x="707391" y="883920"/>
                </a:lnTo>
                <a:lnTo>
                  <a:pt x="708025" y="888683"/>
                </a:lnTo>
                <a:lnTo>
                  <a:pt x="708025" y="893763"/>
                </a:lnTo>
                <a:lnTo>
                  <a:pt x="708025" y="898843"/>
                </a:lnTo>
                <a:lnTo>
                  <a:pt x="707391" y="903605"/>
                </a:lnTo>
                <a:lnTo>
                  <a:pt x="705804" y="908368"/>
                </a:lnTo>
                <a:lnTo>
                  <a:pt x="704218" y="912495"/>
                </a:lnTo>
                <a:lnTo>
                  <a:pt x="702315" y="916940"/>
                </a:lnTo>
                <a:lnTo>
                  <a:pt x="699777" y="921068"/>
                </a:lnTo>
                <a:lnTo>
                  <a:pt x="697239" y="924878"/>
                </a:lnTo>
                <a:lnTo>
                  <a:pt x="693749" y="928370"/>
                </a:lnTo>
                <a:lnTo>
                  <a:pt x="690259" y="931545"/>
                </a:lnTo>
                <a:lnTo>
                  <a:pt x="686452" y="934403"/>
                </a:lnTo>
                <a:lnTo>
                  <a:pt x="682645" y="936943"/>
                </a:lnTo>
                <a:lnTo>
                  <a:pt x="678204" y="938848"/>
                </a:lnTo>
                <a:lnTo>
                  <a:pt x="673762" y="940753"/>
                </a:lnTo>
                <a:lnTo>
                  <a:pt x="669003" y="941705"/>
                </a:lnTo>
                <a:lnTo>
                  <a:pt x="663927" y="942658"/>
                </a:lnTo>
                <a:lnTo>
                  <a:pt x="658851" y="942975"/>
                </a:lnTo>
                <a:lnTo>
                  <a:pt x="350799" y="942975"/>
                </a:lnTo>
                <a:lnTo>
                  <a:pt x="346041" y="942658"/>
                </a:lnTo>
                <a:lnTo>
                  <a:pt x="340965" y="941705"/>
                </a:lnTo>
                <a:lnTo>
                  <a:pt x="336206" y="940753"/>
                </a:lnTo>
                <a:lnTo>
                  <a:pt x="331764" y="938848"/>
                </a:lnTo>
                <a:lnTo>
                  <a:pt x="327323" y="936943"/>
                </a:lnTo>
                <a:lnTo>
                  <a:pt x="323516" y="934403"/>
                </a:lnTo>
                <a:lnTo>
                  <a:pt x="319391" y="931545"/>
                </a:lnTo>
                <a:lnTo>
                  <a:pt x="316219" y="928370"/>
                </a:lnTo>
                <a:lnTo>
                  <a:pt x="312729" y="924878"/>
                </a:lnTo>
                <a:lnTo>
                  <a:pt x="309874" y="921068"/>
                </a:lnTo>
                <a:lnTo>
                  <a:pt x="307653" y="916940"/>
                </a:lnTo>
                <a:lnTo>
                  <a:pt x="305432" y="912495"/>
                </a:lnTo>
                <a:lnTo>
                  <a:pt x="303846" y="908368"/>
                </a:lnTo>
                <a:lnTo>
                  <a:pt x="302577" y="903605"/>
                </a:lnTo>
                <a:lnTo>
                  <a:pt x="301943" y="898843"/>
                </a:lnTo>
                <a:lnTo>
                  <a:pt x="301625" y="893763"/>
                </a:lnTo>
                <a:lnTo>
                  <a:pt x="301943" y="888683"/>
                </a:lnTo>
                <a:lnTo>
                  <a:pt x="302577" y="883920"/>
                </a:lnTo>
                <a:lnTo>
                  <a:pt x="303846" y="879158"/>
                </a:lnTo>
                <a:lnTo>
                  <a:pt x="305432" y="874395"/>
                </a:lnTo>
                <a:lnTo>
                  <a:pt x="307336" y="869950"/>
                </a:lnTo>
                <a:lnTo>
                  <a:pt x="309874" y="865823"/>
                </a:lnTo>
                <a:lnTo>
                  <a:pt x="312729" y="862330"/>
                </a:lnTo>
                <a:lnTo>
                  <a:pt x="316219" y="858838"/>
                </a:lnTo>
                <a:lnTo>
                  <a:pt x="319391" y="855345"/>
                </a:lnTo>
                <a:lnTo>
                  <a:pt x="323516" y="852805"/>
                </a:lnTo>
                <a:lnTo>
                  <a:pt x="327323" y="850265"/>
                </a:lnTo>
                <a:lnTo>
                  <a:pt x="331764" y="848043"/>
                </a:lnTo>
                <a:lnTo>
                  <a:pt x="336206" y="846773"/>
                </a:lnTo>
                <a:lnTo>
                  <a:pt x="340965" y="845185"/>
                </a:lnTo>
                <a:lnTo>
                  <a:pt x="346041" y="844550"/>
                </a:lnTo>
                <a:close/>
                <a:moveTo>
                  <a:pt x="344144" y="590550"/>
                </a:moveTo>
                <a:lnTo>
                  <a:pt x="960782" y="590550"/>
                </a:lnTo>
                <a:lnTo>
                  <a:pt x="966812" y="591185"/>
                </a:lnTo>
                <a:lnTo>
                  <a:pt x="973159" y="592138"/>
                </a:lnTo>
                <a:lnTo>
                  <a:pt x="978871" y="593725"/>
                </a:lnTo>
                <a:lnTo>
                  <a:pt x="984584" y="595630"/>
                </a:lnTo>
                <a:lnTo>
                  <a:pt x="990296" y="598488"/>
                </a:lnTo>
                <a:lnTo>
                  <a:pt x="995374" y="601345"/>
                </a:lnTo>
                <a:lnTo>
                  <a:pt x="1000135" y="604838"/>
                </a:lnTo>
                <a:lnTo>
                  <a:pt x="1004260" y="608965"/>
                </a:lnTo>
                <a:lnTo>
                  <a:pt x="1008386" y="613410"/>
                </a:lnTo>
                <a:lnTo>
                  <a:pt x="1011560" y="617855"/>
                </a:lnTo>
                <a:lnTo>
                  <a:pt x="1015051" y="623253"/>
                </a:lnTo>
                <a:lnTo>
                  <a:pt x="1017590" y="628650"/>
                </a:lnTo>
                <a:lnTo>
                  <a:pt x="1019811" y="634048"/>
                </a:lnTo>
                <a:lnTo>
                  <a:pt x="1021081" y="639763"/>
                </a:lnTo>
                <a:lnTo>
                  <a:pt x="1021715" y="646113"/>
                </a:lnTo>
                <a:lnTo>
                  <a:pt x="1022350" y="652145"/>
                </a:lnTo>
                <a:lnTo>
                  <a:pt x="1021715" y="658813"/>
                </a:lnTo>
                <a:lnTo>
                  <a:pt x="1021081" y="664528"/>
                </a:lnTo>
                <a:lnTo>
                  <a:pt x="1019811" y="670878"/>
                </a:lnTo>
                <a:lnTo>
                  <a:pt x="1017590" y="676275"/>
                </a:lnTo>
                <a:lnTo>
                  <a:pt x="1015051" y="681673"/>
                </a:lnTo>
                <a:lnTo>
                  <a:pt x="1011560" y="686753"/>
                </a:lnTo>
                <a:lnTo>
                  <a:pt x="1008386" y="691515"/>
                </a:lnTo>
                <a:lnTo>
                  <a:pt x="1004260" y="695960"/>
                </a:lnTo>
                <a:lnTo>
                  <a:pt x="1000135" y="700088"/>
                </a:lnTo>
                <a:lnTo>
                  <a:pt x="995374" y="703580"/>
                </a:lnTo>
                <a:lnTo>
                  <a:pt x="990296" y="706438"/>
                </a:lnTo>
                <a:lnTo>
                  <a:pt x="984584" y="708978"/>
                </a:lnTo>
                <a:lnTo>
                  <a:pt x="978871" y="711200"/>
                </a:lnTo>
                <a:lnTo>
                  <a:pt x="973159" y="712788"/>
                </a:lnTo>
                <a:lnTo>
                  <a:pt x="966812" y="713740"/>
                </a:lnTo>
                <a:lnTo>
                  <a:pt x="960782" y="714375"/>
                </a:lnTo>
                <a:lnTo>
                  <a:pt x="344144" y="714375"/>
                </a:lnTo>
                <a:lnTo>
                  <a:pt x="338114" y="713740"/>
                </a:lnTo>
                <a:lnTo>
                  <a:pt x="331767" y="712788"/>
                </a:lnTo>
                <a:lnTo>
                  <a:pt x="326054" y="711200"/>
                </a:lnTo>
                <a:lnTo>
                  <a:pt x="320342" y="708978"/>
                </a:lnTo>
                <a:lnTo>
                  <a:pt x="314946" y="706438"/>
                </a:lnTo>
                <a:lnTo>
                  <a:pt x="309869" y="703580"/>
                </a:lnTo>
                <a:lnTo>
                  <a:pt x="305108" y="700088"/>
                </a:lnTo>
                <a:lnTo>
                  <a:pt x="300982" y="695960"/>
                </a:lnTo>
                <a:lnTo>
                  <a:pt x="296857" y="691515"/>
                </a:lnTo>
                <a:lnTo>
                  <a:pt x="293366" y="686753"/>
                </a:lnTo>
                <a:lnTo>
                  <a:pt x="290192" y="681673"/>
                </a:lnTo>
                <a:lnTo>
                  <a:pt x="287653" y="676275"/>
                </a:lnTo>
                <a:lnTo>
                  <a:pt x="285432" y="670878"/>
                </a:lnTo>
                <a:lnTo>
                  <a:pt x="284162" y="664528"/>
                </a:lnTo>
                <a:lnTo>
                  <a:pt x="282893" y="658813"/>
                </a:lnTo>
                <a:lnTo>
                  <a:pt x="282575" y="652145"/>
                </a:lnTo>
                <a:lnTo>
                  <a:pt x="282893" y="646113"/>
                </a:lnTo>
                <a:lnTo>
                  <a:pt x="284162" y="639763"/>
                </a:lnTo>
                <a:lnTo>
                  <a:pt x="285432" y="634048"/>
                </a:lnTo>
                <a:lnTo>
                  <a:pt x="287653" y="628650"/>
                </a:lnTo>
                <a:lnTo>
                  <a:pt x="290192" y="623253"/>
                </a:lnTo>
                <a:lnTo>
                  <a:pt x="293366" y="617855"/>
                </a:lnTo>
                <a:lnTo>
                  <a:pt x="296857" y="613410"/>
                </a:lnTo>
                <a:lnTo>
                  <a:pt x="300982" y="608965"/>
                </a:lnTo>
                <a:lnTo>
                  <a:pt x="305108" y="604838"/>
                </a:lnTo>
                <a:lnTo>
                  <a:pt x="309869" y="601345"/>
                </a:lnTo>
                <a:lnTo>
                  <a:pt x="314946" y="598488"/>
                </a:lnTo>
                <a:lnTo>
                  <a:pt x="320342" y="595630"/>
                </a:lnTo>
                <a:lnTo>
                  <a:pt x="326054" y="593725"/>
                </a:lnTo>
                <a:lnTo>
                  <a:pt x="331767" y="592138"/>
                </a:lnTo>
                <a:lnTo>
                  <a:pt x="338114" y="591185"/>
                </a:lnTo>
                <a:lnTo>
                  <a:pt x="344144" y="590550"/>
                </a:lnTo>
                <a:close/>
                <a:moveTo>
                  <a:pt x="1750865" y="411163"/>
                </a:moveTo>
                <a:lnTo>
                  <a:pt x="1754043" y="411481"/>
                </a:lnTo>
                <a:lnTo>
                  <a:pt x="1757540" y="411798"/>
                </a:lnTo>
                <a:lnTo>
                  <a:pt x="1760718" y="413068"/>
                </a:lnTo>
                <a:lnTo>
                  <a:pt x="1764214" y="414021"/>
                </a:lnTo>
                <a:lnTo>
                  <a:pt x="1767710" y="414973"/>
                </a:lnTo>
                <a:lnTo>
                  <a:pt x="1770889" y="416878"/>
                </a:lnTo>
                <a:lnTo>
                  <a:pt x="1777563" y="421006"/>
                </a:lnTo>
                <a:lnTo>
                  <a:pt x="1784555" y="425768"/>
                </a:lnTo>
                <a:lnTo>
                  <a:pt x="1790912" y="431166"/>
                </a:lnTo>
                <a:lnTo>
                  <a:pt x="1797904" y="437198"/>
                </a:lnTo>
                <a:lnTo>
                  <a:pt x="1812207" y="451486"/>
                </a:lnTo>
                <a:lnTo>
                  <a:pt x="1827145" y="466408"/>
                </a:lnTo>
                <a:lnTo>
                  <a:pt x="1836680" y="476251"/>
                </a:lnTo>
                <a:lnTo>
                  <a:pt x="1851935" y="491173"/>
                </a:lnTo>
                <a:lnTo>
                  <a:pt x="1865920" y="505461"/>
                </a:lnTo>
                <a:lnTo>
                  <a:pt x="1872277" y="512446"/>
                </a:lnTo>
                <a:lnTo>
                  <a:pt x="1877680" y="519431"/>
                </a:lnTo>
                <a:lnTo>
                  <a:pt x="1882447" y="525781"/>
                </a:lnTo>
                <a:lnTo>
                  <a:pt x="1886579" y="532766"/>
                </a:lnTo>
                <a:lnTo>
                  <a:pt x="1888486" y="536258"/>
                </a:lnTo>
                <a:lnTo>
                  <a:pt x="1889439" y="539433"/>
                </a:lnTo>
                <a:lnTo>
                  <a:pt x="1891029" y="542608"/>
                </a:lnTo>
                <a:lnTo>
                  <a:pt x="1891664" y="546101"/>
                </a:lnTo>
                <a:lnTo>
                  <a:pt x="1891982" y="549593"/>
                </a:lnTo>
                <a:lnTo>
                  <a:pt x="1892300" y="552768"/>
                </a:lnTo>
                <a:lnTo>
                  <a:pt x="1892300" y="556261"/>
                </a:lnTo>
                <a:lnTo>
                  <a:pt x="1891664" y="559753"/>
                </a:lnTo>
                <a:lnTo>
                  <a:pt x="1891029" y="562928"/>
                </a:lnTo>
                <a:lnTo>
                  <a:pt x="1889757" y="566738"/>
                </a:lnTo>
                <a:lnTo>
                  <a:pt x="1888486" y="570231"/>
                </a:lnTo>
                <a:lnTo>
                  <a:pt x="1886261" y="574041"/>
                </a:lnTo>
                <a:lnTo>
                  <a:pt x="1884036" y="577533"/>
                </a:lnTo>
                <a:lnTo>
                  <a:pt x="1881176" y="581343"/>
                </a:lnTo>
                <a:lnTo>
                  <a:pt x="1877680" y="585153"/>
                </a:lnTo>
                <a:lnTo>
                  <a:pt x="1874184" y="588963"/>
                </a:lnTo>
                <a:lnTo>
                  <a:pt x="1476895" y="985838"/>
                </a:lnTo>
                <a:lnTo>
                  <a:pt x="1472763" y="989966"/>
                </a:lnTo>
                <a:lnTo>
                  <a:pt x="1468313" y="993458"/>
                </a:lnTo>
                <a:lnTo>
                  <a:pt x="1464182" y="996633"/>
                </a:lnTo>
                <a:lnTo>
                  <a:pt x="1459732" y="999808"/>
                </a:lnTo>
                <a:lnTo>
                  <a:pt x="1455282" y="1002348"/>
                </a:lnTo>
                <a:lnTo>
                  <a:pt x="1450515" y="1004888"/>
                </a:lnTo>
                <a:lnTo>
                  <a:pt x="1446065" y="1007111"/>
                </a:lnTo>
                <a:lnTo>
                  <a:pt x="1440980" y="1009016"/>
                </a:lnTo>
                <a:lnTo>
                  <a:pt x="1436212" y="1010921"/>
                </a:lnTo>
                <a:lnTo>
                  <a:pt x="1431445" y="1012826"/>
                </a:lnTo>
                <a:lnTo>
                  <a:pt x="1426360" y="1013778"/>
                </a:lnTo>
                <a:lnTo>
                  <a:pt x="1421274" y="1015366"/>
                </a:lnTo>
                <a:lnTo>
                  <a:pt x="1416507" y="1016001"/>
                </a:lnTo>
                <a:lnTo>
                  <a:pt x="1411422" y="1016953"/>
                </a:lnTo>
                <a:lnTo>
                  <a:pt x="1406336" y="1017271"/>
                </a:lnTo>
                <a:lnTo>
                  <a:pt x="1401569" y="1017588"/>
                </a:lnTo>
                <a:lnTo>
                  <a:pt x="1396484" y="1017588"/>
                </a:lnTo>
                <a:lnTo>
                  <a:pt x="1391716" y="1017271"/>
                </a:lnTo>
                <a:lnTo>
                  <a:pt x="1386949" y="1016953"/>
                </a:lnTo>
                <a:lnTo>
                  <a:pt x="1382499" y="1015683"/>
                </a:lnTo>
                <a:lnTo>
                  <a:pt x="1377731" y="1015048"/>
                </a:lnTo>
                <a:lnTo>
                  <a:pt x="1373282" y="1013461"/>
                </a:lnTo>
                <a:lnTo>
                  <a:pt x="1368832" y="1012191"/>
                </a:lnTo>
                <a:lnTo>
                  <a:pt x="1364700" y="1010286"/>
                </a:lnTo>
                <a:lnTo>
                  <a:pt x="1360886" y="1008063"/>
                </a:lnTo>
                <a:lnTo>
                  <a:pt x="1357072" y="1005523"/>
                </a:lnTo>
                <a:lnTo>
                  <a:pt x="1353576" y="1002983"/>
                </a:lnTo>
                <a:lnTo>
                  <a:pt x="1350080" y="1000126"/>
                </a:lnTo>
                <a:lnTo>
                  <a:pt x="1347220" y="996633"/>
                </a:lnTo>
                <a:lnTo>
                  <a:pt x="1344359" y="993458"/>
                </a:lnTo>
                <a:lnTo>
                  <a:pt x="1341817" y="989331"/>
                </a:lnTo>
                <a:lnTo>
                  <a:pt x="1339274" y="985521"/>
                </a:lnTo>
                <a:lnTo>
                  <a:pt x="1337367" y="981076"/>
                </a:lnTo>
                <a:lnTo>
                  <a:pt x="1335778" y="976313"/>
                </a:lnTo>
                <a:lnTo>
                  <a:pt x="1326561" y="967106"/>
                </a:lnTo>
                <a:lnTo>
                  <a:pt x="1322111" y="965518"/>
                </a:lnTo>
                <a:lnTo>
                  <a:pt x="1317979" y="963296"/>
                </a:lnTo>
                <a:lnTo>
                  <a:pt x="1314165" y="961073"/>
                </a:lnTo>
                <a:lnTo>
                  <a:pt x="1310351" y="958851"/>
                </a:lnTo>
                <a:lnTo>
                  <a:pt x="1307173" y="956311"/>
                </a:lnTo>
                <a:lnTo>
                  <a:pt x="1303995" y="953453"/>
                </a:lnTo>
                <a:lnTo>
                  <a:pt x="1301134" y="950913"/>
                </a:lnTo>
                <a:lnTo>
                  <a:pt x="1298274" y="948056"/>
                </a:lnTo>
                <a:lnTo>
                  <a:pt x="1295731" y="944563"/>
                </a:lnTo>
                <a:lnTo>
                  <a:pt x="1293824" y="941706"/>
                </a:lnTo>
                <a:lnTo>
                  <a:pt x="1291599" y="938531"/>
                </a:lnTo>
                <a:lnTo>
                  <a:pt x="1289692" y="935038"/>
                </a:lnTo>
                <a:lnTo>
                  <a:pt x="1288103" y="931546"/>
                </a:lnTo>
                <a:lnTo>
                  <a:pt x="1286832" y="928371"/>
                </a:lnTo>
                <a:lnTo>
                  <a:pt x="1284607" y="921068"/>
                </a:lnTo>
                <a:lnTo>
                  <a:pt x="1283336" y="913448"/>
                </a:lnTo>
                <a:lnTo>
                  <a:pt x="1282700" y="905511"/>
                </a:lnTo>
                <a:lnTo>
                  <a:pt x="1283018" y="897573"/>
                </a:lnTo>
                <a:lnTo>
                  <a:pt x="1283971" y="889953"/>
                </a:lnTo>
                <a:lnTo>
                  <a:pt x="1285560" y="882016"/>
                </a:lnTo>
                <a:lnTo>
                  <a:pt x="1287785" y="874078"/>
                </a:lnTo>
                <a:lnTo>
                  <a:pt x="1290646" y="866141"/>
                </a:lnTo>
                <a:lnTo>
                  <a:pt x="1294142" y="858521"/>
                </a:lnTo>
                <a:lnTo>
                  <a:pt x="1298909" y="849948"/>
                </a:lnTo>
                <a:lnTo>
                  <a:pt x="1304313" y="841376"/>
                </a:lnTo>
                <a:lnTo>
                  <a:pt x="1310351" y="833756"/>
                </a:lnTo>
                <a:lnTo>
                  <a:pt x="1317026" y="826136"/>
                </a:lnTo>
                <a:lnTo>
                  <a:pt x="1714315" y="429261"/>
                </a:lnTo>
                <a:lnTo>
                  <a:pt x="1718446" y="425768"/>
                </a:lnTo>
                <a:lnTo>
                  <a:pt x="1721943" y="422276"/>
                </a:lnTo>
                <a:lnTo>
                  <a:pt x="1726074" y="419736"/>
                </a:lnTo>
                <a:lnTo>
                  <a:pt x="1729571" y="417196"/>
                </a:lnTo>
                <a:lnTo>
                  <a:pt x="1733384" y="415608"/>
                </a:lnTo>
                <a:lnTo>
                  <a:pt x="1736881" y="414021"/>
                </a:lnTo>
                <a:lnTo>
                  <a:pt x="1740377" y="412433"/>
                </a:lnTo>
                <a:lnTo>
                  <a:pt x="1743873" y="411798"/>
                </a:lnTo>
                <a:lnTo>
                  <a:pt x="1747051" y="411481"/>
                </a:lnTo>
                <a:lnTo>
                  <a:pt x="1750865" y="411163"/>
                </a:lnTo>
                <a:close/>
                <a:moveTo>
                  <a:pt x="198373" y="319088"/>
                </a:moveTo>
                <a:lnTo>
                  <a:pt x="1557783" y="319088"/>
                </a:lnTo>
                <a:lnTo>
                  <a:pt x="1453042" y="423822"/>
                </a:lnTo>
                <a:lnTo>
                  <a:pt x="315492" y="423822"/>
                </a:lnTo>
                <a:lnTo>
                  <a:pt x="305336" y="424140"/>
                </a:lnTo>
                <a:lnTo>
                  <a:pt x="295179" y="424774"/>
                </a:lnTo>
                <a:lnTo>
                  <a:pt x="285340" y="426361"/>
                </a:lnTo>
                <a:lnTo>
                  <a:pt x="275500" y="427631"/>
                </a:lnTo>
                <a:lnTo>
                  <a:pt x="265979" y="429852"/>
                </a:lnTo>
                <a:lnTo>
                  <a:pt x="256457" y="433026"/>
                </a:lnTo>
                <a:lnTo>
                  <a:pt x="247570" y="435882"/>
                </a:lnTo>
                <a:lnTo>
                  <a:pt x="238365" y="439374"/>
                </a:lnTo>
                <a:lnTo>
                  <a:pt x="229478" y="443499"/>
                </a:lnTo>
                <a:lnTo>
                  <a:pt x="221226" y="447943"/>
                </a:lnTo>
                <a:lnTo>
                  <a:pt x="212973" y="452703"/>
                </a:lnTo>
                <a:lnTo>
                  <a:pt x="204721" y="457781"/>
                </a:lnTo>
                <a:lnTo>
                  <a:pt x="196786" y="463494"/>
                </a:lnTo>
                <a:lnTo>
                  <a:pt x="189486" y="469207"/>
                </a:lnTo>
                <a:lnTo>
                  <a:pt x="182186" y="475554"/>
                </a:lnTo>
                <a:lnTo>
                  <a:pt x="175203" y="481902"/>
                </a:lnTo>
                <a:lnTo>
                  <a:pt x="168855" y="488884"/>
                </a:lnTo>
                <a:lnTo>
                  <a:pt x="162507" y="496184"/>
                </a:lnTo>
                <a:lnTo>
                  <a:pt x="156794" y="503483"/>
                </a:lnTo>
                <a:lnTo>
                  <a:pt x="151398" y="511100"/>
                </a:lnTo>
                <a:lnTo>
                  <a:pt x="145685" y="519670"/>
                </a:lnTo>
                <a:lnTo>
                  <a:pt x="140924" y="527604"/>
                </a:lnTo>
                <a:lnTo>
                  <a:pt x="136798" y="536490"/>
                </a:lnTo>
                <a:lnTo>
                  <a:pt x="132672" y="545060"/>
                </a:lnTo>
                <a:lnTo>
                  <a:pt x="129498" y="554263"/>
                </a:lnTo>
                <a:lnTo>
                  <a:pt x="126007" y="563150"/>
                </a:lnTo>
                <a:lnTo>
                  <a:pt x="123468" y="572671"/>
                </a:lnTo>
                <a:lnTo>
                  <a:pt x="121246" y="582193"/>
                </a:lnTo>
                <a:lnTo>
                  <a:pt x="119659" y="592031"/>
                </a:lnTo>
                <a:lnTo>
                  <a:pt x="118072" y="601870"/>
                </a:lnTo>
                <a:lnTo>
                  <a:pt x="117437" y="612026"/>
                </a:lnTo>
                <a:lnTo>
                  <a:pt x="117437" y="622182"/>
                </a:lnTo>
                <a:lnTo>
                  <a:pt x="117437" y="1633658"/>
                </a:lnTo>
                <a:lnTo>
                  <a:pt x="117437" y="1643814"/>
                </a:lnTo>
                <a:lnTo>
                  <a:pt x="118072" y="1653970"/>
                </a:lnTo>
                <a:lnTo>
                  <a:pt x="119659" y="1663808"/>
                </a:lnTo>
                <a:lnTo>
                  <a:pt x="121246" y="1673647"/>
                </a:lnTo>
                <a:lnTo>
                  <a:pt x="123468" y="1683168"/>
                </a:lnTo>
                <a:lnTo>
                  <a:pt x="126007" y="1692689"/>
                </a:lnTo>
                <a:lnTo>
                  <a:pt x="129498" y="1701576"/>
                </a:lnTo>
                <a:lnTo>
                  <a:pt x="132672" y="1710780"/>
                </a:lnTo>
                <a:lnTo>
                  <a:pt x="136798" y="1719666"/>
                </a:lnTo>
                <a:lnTo>
                  <a:pt x="140924" y="1728235"/>
                </a:lnTo>
                <a:lnTo>
                  <a:pt x="145685" y="1736170"/>
                </a:lnTo>
                <a:lnTo>
                  <a:pt x="151398" y="1744739"/>
                </a:lnTo>
                <a:lnTo>
                  <a:pt x="156794" y="1752356"/>
                </a:lnTo>
                <a:lnTo>
                  <a:pt x="162507" y="1759656"/>
                </a:lnTo>
                <a:lnTo>
                  <a:pt x="168855" y="1766955"/>
                </a:lnTo>
                <a:lnTo>
                  <a:pt x="175203" y="1773938"/>
                </a:lnTo>
                <a:lnTo>
                  <a:pt x="182186" y="1780285"/>
                </a:lnTo>
                <a:lnTo>
                  <a:pt x="189486" y="1786633"/>
                </a:lnTo>
                <a:lnTo>
                  <a:pt x="196786" y="1792345"/>
                </a:lnTo>
                <a:lnTo>
                  <a:pt x="204721" y="1798375"/>
                </a:lnTo>
                <a:lnTo>
                  <a:pt x="212973" y="1803453"/>
                </a:lnTo>
                <a:lnTo>
                  <a:pt x="221226" y="1808214"/>
                </a:lnTo>
                <a:lnTo>
                  <a:pt x="229478" y="1812340"/>
                </a:lnTo>
                <a:lnTo>
                  <a:pt x="238365" y="1816466"/>
                </a:lnTo>
                <a:lnTo>
                  <a:pt x="247570" y="1819640"/>
                </a:lnTo>
                <a:lnTo>
                  <a:pt x="256457" y="1823131"/>
                </a:lnTo>
                <a:lnTo>
                  <a:pt x="265979" y="1825670"/>
                </a:lnTo>
                <a:lnTo>
                  <a:pt x="275500" y="1827891"/>
                </a:lnTo>
                <a:lnTo>
                  <a:pt x="285340" y="1829478"/>
                </a:lnTo>
                <a:lnTo>
                  <a:pt x="295179" y="1831065"/>
                </a:lnTo>
                <a:lnTo>
                  <a:pt x="305336" y="1831700"/>
                </a:lnTo>
                <a:lnTo>
                  <a:pt x="315492" y="1831700"/>
                </a:lnTo>
                <a:lnTo>
                  <a:pt x="1632371" y="1831700"/>
                </a:lnTo>
                <a:lnTo>
                  <a:pt x="1642527" y="1831700"/>
                </a:lnTo>
                <a:lnTo>
                  <a:pt x="1652367" y="1831065"/>
                </a:lnTo>
                <a:lnTo>
                  <a:pt x="1662523" y="1829478"/>
                </a:lnTo>
                <a:lnTo>
                  <a:pt x="1672045" y="1827891"/>
                </a:lnTo>
                <a:lnTo>
                  <a:pt x="1681885" y="1825670"/>
                </a:lnTo>
                <a:lnTo>
                  <a:pt x="1691089" y="1823131"/>
                </a:lnTo>
                <a:lnTo>
                  <a:pt x="1700611" y="1819640"/>
                </a:lnTo>
                <a:lnTo>
                  <a:pt x="1709181" y="1816466"/>
                </a:lnTo>
                <a:lnTo>
                  <a:pt x="1718385" y="1812340"/>
                </a:lnTo>
                <a:lnTo>
                  <a:pt x="1726637" y="1808214"/>
                </a:lnTo>
                <a:lnTo>
                  <a:pt x="1735207" y="1803453"/>
                </a:lnTo>
                <a:lnTo>
                  <a:pt x="1743142" y="1798375"/>
                </a:lnTo>
                <a:lnTo>
                  <a:pt x="1750760" y="1792345"/>
                </a:lnTo>
                <a:lnTo>
                  <a:pt x="1758377" y="1786633"/>
                </a:lnTo>
                <a:lnTo>
                  <a:pt x="1765677" y="1780285"/>
                </a:lnTo>
                <a:lnTo>
                  <a:pt x="1772660" y="1773938"/>
                </a:lnTo>
                <a:lnTo>
                  <a:pt x="1779325" y="1766955"/>
                </a:lnTo>
                <a:lnTo>
                  <a:pt x="1785356" y="1759973"/>
                </a:lnTo>
                <a:lnTo>
                  <a:pt x="1791069" y="1752356"/>
                </a:lnTo>
                <a:lnTo>
                  <a:pt x="1796782" y="1744739"/>
                </a:lnTo>
                <a:lnTo>
                  <a:pt x="1801861" y="1736805"/>
                </a:lnTo>
                <a:lnTo>
                  <a:pt x="1806621" y="1728235"/>
                </a:lnTo>
                <a:lnTo>
                  <a:pt x="1810748" y="1719666"/>
                </a:lnTo>
                <a:lnTo>
                  <a:pt x="1814874" y="1710780"/>
                </a:lnTo>
                <a:lnTo>
                  <a:pt x="1818683" y="1702211"/>
                </a:lnTo>
                <a:lnTo>
                  <a:pt x="1821857" y="1692689"/>
                </a:lnTo>
                <a:lnTo>
                  <a:pt x="1824396" y="1683168"/>
                </a:lnTo>
                <a:lnTo>
                  <a:pt x="1826617" y="1673647"/>
                </a:lnTo>
                <a:lnTo>
                  <a:pt x="1828522" y="1663808"/>
                </a:lnTo>
                <a:lnTo>
                  <a:pt x="1829474" y="1653970"/>
                </a:lnTo>
                <a:lnTo>
                  <a:pt x="1830109" y="1643814"/>
                </a:lnTo>
                <a:lnTo>
                  <a:pt x="1830426" y="1633658"/>
                </a:lnTo>
                <a:lnTo>
                  <a:pt x="1830426" y="1113162"/>
                </a:lnTo>
                <a:lnTo>
                  <a:pt x="1830426" y="773570"/>
                </a:lnTo>
                <a:lnTo>
                  <a:pt x="1947863" y="656458"/>
                </a:lnTo>
                <a:lnTo>
                  <a:pt x="1947863" y="1738391"/>
                </a:lnTo>
                <a:lnTo>
                  <a:pt x="1947546" y="1748865"/>
                </a:lnTo>
                <a:lnTo>
                  <a:pt x="1946911" y="1758704"/>
                </a:lnTo>
                <a:lnTo>
                  <a:pt x="1945324" y="1768860"/>
                </a:lnTo>
                <a:lnTo>
                  <a:pt x="1943419" y="1778063"/>
                </a:lnTo>
                <a:lnTo>
                  <a:pt x="1941198" y="1787902"/>
                </a:lnTo>
                <a:lnTo>
                  <a:pt x="1938659" y="1797423"/>
                </a:lnTo>
                <a:lnTo>
                  <a:pt x="1935802" y="1806627"/>
                </a:lnTo>
                <a:lnTo>
                  <a:pt x="1932311" y="1815831"/>
                </a:lnTo>
                <a:lnTo>
                  <a:pt x="1928184" y="1824400"/>
                </a:lnTo>
                <a:lnTo>
                  <a:pt x="1923741" y="1832969"/>
                </a:lnTo>
                <a:lnTo>
                  <a:pt x="1918980" y="1841221"/>
                </a:lnTo>
                <a:lnTo>
                  <a:pt x="1913902" y="1849156"/>
                </a:lnTo>
                <a:lnTo>
                  <a:pt x="1908188" y="1856773"/>
                </a:lnTo>
                <a:lnTo>
                  <a:pt x="1902475" y="1864707"/>
                </a:lnTo>
                <a:lnTo>
                  <a:pt x="1896127" y="1871689"/>
                </a:lnTo>
                <a:lnTo>
                  <a:pt x="1889462" y="1878671"/>
                </a:lnTo>
                <a:lnTo>
                  <a:pt x="1882797" y="1885336"/>
                </a:lnTo>
                <a:lnTo>
                  <a:pt x="1875497" y="1891366"/>
                </a:lnTo>
                <a:lnTo>
                  <a:pt x="1868197" y="1897397"/>
                </a:lnTo>
                <a:lnTo>
                  <a:pt x="1860579" y="1902792"/>
                </a:lnTo>
                <a:lnTo>
                  <a:pt x="1852327" y="1907870"/>
                </a:lnTo>
                <a:lnTo>
                  <a:pt x="1844074" y="1912631"/>
                </a:lnTo>
                <a:lnTo>
                  <a:pt x="1835187" y="1917074"/>
                </a:lnTo>
                <a:lnTo>
                  <a:pt x="1826617" y="1920882"/>
                </a:lnTo>
                <a:lnTo>
                  <a:pt x="1817413" y="1924691"/>
                </a:lnTo>
                <a:lnTo>
                  <a:pt x="1808209" y="1927865"/>
                </a:lnTo>
                <a:lnTo>
                  <a:pt x="1799004" y="1930404"/>
                </a:lnTo>
                <a:lnTo>
                  <a:pt x="1789482" y="1932625"/>
                </a:lnTo>
                <a:lnTo>
                  <a:pt x="1779643" y="1934530"/>
                </a:lnTo>
                <a:lnTo>
                  <a:pt x="1769803" y="1935482"/>
                </a:lnTo>
                <a:lnTo>
                  <a:pt x="1759647" y="1936434"/>
                </a:lnTo>
                <a:lnTo>
                  <a:pt x="1749173" y="1936751"/>
                </a:lnTo>
                <a:lnTo>
                  <a:pt x="198373" y="1936751"/>
                </a:lnTo>
                <a:lnTo>
                  <a:pt x="188216" y="1936434"/>
                </a:lnTo>
                <a:lnTo>
                  <a:pt x="178377" y="1935482"/>
                </a:lnTo>
                <a:lnTo>
                  <a:pt x="168538" y="1934530"/>
                </a:lnTo>
                <a:lnTo>
                  <a:pt x="158699" y="1932625"/>
                </a:lnTo>
                <a:lnTo>
                  <a:pt x="148859" y="1930404"/>
                </a:lnTo>
                <a:lnTo>
                  <a:pt x="139655" y="1927865"/>
                </a:lnTo>
                <a:lnTo>
                  <a:pt x="130133" y="1924691"/>
                </a:lnTo>
                <a:lnTo>
                  <a:pt x="121246" y="1920882"/>
                </a:lnTo>
                <a:lnTo>
                  <a:pt x="112359" y="1917074"/>
                </a:lnTo>
                <a:lnTo>
                  <a:pt x="103789" y="1912631"/>
                </a:lnTo>
                <a:lnTo>
                  <a:pt x="95537" y="1907870"/>
                </a:lnTo>
                <a:lnTo>
                  <a:pt x="87602" y="1902792"/>
                </a:lnTo>
                <a:lnTo>
                  <a:pt x="79984" y="1897397"/>
                </a:lnTo>
                <a:lnTo>
                  <a:pt x="72049" y="1891366"/>
                </a:lnTo>
                <a:lnTo>
                  <a:pt x="65067" y="1885336"/>
                </a:lnTo>
                <a:lnTo>
                  <a:pt x="58084" y="1878671"/>
                </a:lnTo>
                <a:lnTo>
                  <a:pt x="51418" y="1871689"/>
                </a:lnTo>
                <a:lnTo>
                  <a:pt x="45388" y="1864707"/>
                </a:lnTo>
                <a:lnTo>
                  <a:pt x="39357" y="1856773"/>
                </a:lnTo>
                <a:lnTo>
                  <a:pt x="33962" y="1849156"/>
                </a:lnTo>
                <a:lnTo>
                  <a:pt x="28883" y="1841221"/>
                </a:lnTo>
                <a:lnTo>
                  <a:pt x="24122" y="1832969"/>
                </a:lnTo>
                <a:lnTo>
                  <a:pt x="19679" y="1824400"/>
                </a:lnTo>
                <a:lnTo>
                  <a:pt x="15870" y="1815831"/>
                </a:lnTo>
                <a:lnTo>
                  <a:pt x="12061" y="1806627"/>
                </a:lnTo>
                <a:lnTo>
                  <a:pt x="8887" y="1797423"/>
                </a:lnTo>
                <a:lnTo>
                  <a:pt x="6348" y="1787902"/>
                </a:lnTo>
                <a:lnTo>
                  <a:pt x="4126" y="1778063"/>
                </a:lnTo>
                <a:lnTo>
                  <a:pt x="2222" y="1768860"/>
                </a:lnTo>
                <a:lnTo>
                  <a:pt x="1270" y="1758704"/>
                </a:lnTo>
                <a:lnTo>
                  <a:pt x="318" y="1748865"/>
                </a:lnTo>
                <a:lnTo>
                  <a:pt x="0" y="1738391"/>
                </a:lnTo>
                <a:lnTo>
                  <a:pt x="0" y="517448"/>
                </a:lnTo>
                <a:lnTo>
                  <a:pt x="318" y="507292"/>
                </a:lnTo>
                <a:lnTo>
                  <a:pt x="1270" y="497453"/>
                </a:lnTo>
                <a:lnTo>
                  <a:pt x="2222" y="487297"/>
                </a:lnTo>
                <a:lnTo>
                  <a:pt x="4126" y="477776"/>
                </a:lnTo>
                <a:lnTo>
                  <a:pt x="6348" y="467937"/>
                </a:lnTo>
                <a:lnTo>
                  <a:pt x="8887" y="458416"/>
                </a:lnTo>
                <a:lnTo>
                  <a:pt x="12061" y="449212"/>
                </a:lnTo>
                <a:lnTo>
                  <a:pt x="15870" y="440008"/>
                </a:lnTo>
                <a:lnTo>
                  <a:pt x="19679" y="431439"/>
                </a:lnTo>
                <a:lnTo>
                  <a:pt x="24122" y="423187"/>
                </a:lnTo>
                <a:lnTo>
                  <a:pt x="28883" y="414618"/>
                </a:lnTo>
                <a:lnTo>
                  <a:pt x="33962" y="406684"/>
                </a:lnTo>
                <a:lnTo>
                  <a:pt x="39357" y="399067"/>
                </a:lnTo>
                <a:lnTo>
                  <a:pt x="45388" y="391450"/>
                </a:lnTo>
                <a:lnTo>
                  <a:pt x="51418" y="384150"/>
                </a:lnTo>
                <a:lnTo>
                  <a:pt x="58084" y="377168"/>
                </a:lnTo>
                <a:lnTo>
                  <a:pt x="65067" y="370503"/>
                </a:lnTo>
                <a:lnTo>
                  <a:pt x="72049" y="364473"/>
                </a:lnTo>
                <a:lnTo>
                  <a:pt x="79984" y="358443"/>
                </a:lnTo>
                <a:lnTo>
                  <a:pt x="87602" y="353047"/>
                </a:lnTo>
                <a:lnTo>
                  <a:pt x="95537" y="347969"/>
                </a:lnTo>
                <a:lnTo>
                  <a:pt x="103789" y="343209"/>
                </a:lnTo>
                <a:lnTo>
                  <a:pt x="112359" y="338766"/>
                </a:lnTo>
                <a:lnTo>
                  <a:pt x="121246" y="334957"/>
                </a:lnTo>
                <a:lnTo>
                  <a:pt x="130133" y="331149"/>
                </a:lnTo>
                <a:lnTo>
                  <a:pt x="139655" y="328292"/>
                </a:lnTo>
                <a:lnTo>
                  <a:pt x="148859" y="325436"/>
                </a:lnTo>
                <a:lnTo>
                  <a:pt x="158699" y="323214"/>
                </a:lnTo>
                <a:lnTo>
                  <a:pt x="168538" y="321310"/>
                </a:lnTo>
                <a:lnTo>
                  <a:pt x="178377" y="320358"/>
                </a:lnTo>
                <a:lnTo>
                  <a:pt x="188216" y="319723"/>
                </a:lnTo>
                <a:lnTo>
                  <a:pt x="198373" y="319088"/>
                </a:lnTo>
                <a:close/>
                <a:moveTo>
                  <a:pt x="2076641" y="106363"/>
                </a:moveTo>
                <a:lnTo>
                  <a:pt x="2082030" y="106363"/>
                </a:lnTo>
                <a:lnTo>
                  <a:pt x="2087102" y="106363"/>
                </a:lnTo>
                <a:lnTo>
                  <a:pt x="2092174" y="106679"/>
                </a:lnTo>
                <a:lnTo>
                  <a:pt x="2097246" y="107313"/>
                </a:lnTo>
                <a:lnTo>
                  <a:pt x="2102318" y="108263"/>
                </a:lnTo>
                <a:lnTo>
                  <a:pt x="2107390" y="109213"/>
                </a:lnTo>
                <a:lnTo>
                  <a:pt x="2112145" y="110797"/>
                </a:lnTo>
                <a:lnTo>
                  <a:pt x="2117217" y="112064"/>
                </a:lnTo>
                <a:lnTo>
                  <a:pt x="2121972" y="113965"/>
                </a:lnTo>
                <a:lnTo>
                  <a:pt x="2126727" y="116182"/>
                </a:lnTo>
                <a:lnTo>
                  <a:pt x="2131482" y="118399"/>
                </a:lnTo>
                <a:lnTo>
                  <a:pt x="2136237" y="120933"/>
                </a:lnTo>
                <a:lnTo>
                  <a:pt x="2140358" y="123784"/>
                </a:lnTo>
                <a:lnTo>
                  <a:pt x="2144796" y="126634"/>
                </a:lnTo>
                <a:lnTo>
                  <a:pt x="2148916" y="130119"/>
                </a:lnTo>
                <a:lnTo>
                  <a:pt x="2153354" y="133603"/>
                </a:lnTo>
                <a:lnTo>
                  <a:pt x="2157158" y="137087"/>
                </a:lnTo>
                <a:lnTo>
                  <a:pt x="2166351" y="146589"/>
                </a:lnTo>
                <a:lnTo>
                  <a:pt x="2169838" y="150707"/>
                </a:lnTo>
                <a:lnTo>
                  <a:pt x="2173642" y="154825"/>
                </a:lnTo>
                <a:lnTo>
                  <a:pt x="2176812" y="158626"/>
                </a:lnTo>
                <a:lnTo>
                  <a:pt x="2179665" y="163060"/>
                </a:lnTo>
                <a:lnTo>
                  <a:pt x="2182835" y="167811"/>
                </a:lnTo>
                <a:lnTo>
                  <a:pt x="2185371" y="172246"/>
                </a:lnTo>
                <a:lnTo>
                  <a:pt x="2187273" y="176997"/>
                </a:lnTo>
                <a:lnTo>
                  <a:pt x="2189492" y="181748"/>
                </a:lnTo>
                <a:lnTo>
                  <a:pt x="2191394" y="186183"/>
                </a:lnTo>
                <a:lnTo>
                  <a:pt x="2192979" y="191567"/>
                </a:lnTo>
                <a:lnTo>
                  <a:pt x="2194247" y="196002"/>
                </a:lnTo>
                <a:lnTo>
                  <a:pt x="2195515" y="201387"/>
                </a:lnTo>
                <a:lnTo>
                  <a:pt x="2196149" y="206454"/>
                </a:lnTo>
                <a:lnTo>
                  <a:pt x="2196783" y="211522"/>
                </a:lnTo>
                <a:lnTo>
                  <a:pt x="2197100" y="216590"/>
                </a:lnTo>
                <a:lnTo>
                  <a:pt x="2197100" y="221658"/>
                </a:lnTo>
                <a:lnTo>
                  <a:pt x="2197100" y="226726"/>
                </a:lnTo>
                <a:lnTo>
                  <a:pt x="2196783" y="231794"/>
                </a:lnTo>
                <a:lnTo>
                  <a:pt x="2196149" y="236862"/>
                </a:lnTo>
                <a:lnTo>
                  <a:pt x="2195515" y="241613"/>
                </a:lnTo>
                <a:lnTo>
                  <a:pt x="2194247" y="246681"/>
                </a:lnTo>
                <a:lnTo>
                  <a:pt x="2192979" y="251749"/>
                </a:lnTo>
                <a:lnTo>
                  <a:pt x="2191394" y="256500"/>
                </a:lnTo>
                <a:lnTo>
                  <a:pt x="2189492" y="261251"/>
                </a:lnTo>
                <a:lnTo>
                  <a:pt x="2187273" y="266319"/>
                </a:lnTo>
                <a:lnTo>
                  <a:pt x="2185371" y="270754"/>
                </a:lnTo>
                <a:lnTo>
                  <a:pt x="2182835" y="275505"/>
                </a:lnTo>
                <a:lnTo>
                  <a:pt x="2179665" y="279623"/>
                </a:lnTo>
                <a:lnTo>
                  <a:pt x="2176812" y="284057"/>
                </a:lnTo>
                <a:lnTo>
                  <a:pt x="2173642" y="288492"/>
                </a:lnTo>
                <a:lnTo>
                  <a:pt x="2169838" y="292609"/>
                </a:lnTo>
                <a:lnTo>
                  <a:pt x="2166351" y="296410"/>
                </a:lnTo>
                <a:lnTo>
                  <a:pt x="1970764" y="491843"/>
                </a:lnTo>
                <a:lnTo>
                  <a:pt x="1967277" y="495010"/>
                </a:lnTo>
                <a:lnTo>
                  <a:pt x="1963473" y="498178"/>
                </a:lnTo>
                <a:lnTo>
                  <a:pt x="1959986" y="500712"/>
                </a:lnTo>
                <a:lnTo>
                  <a:pt x="1956816" y="502612"/>
                </a:lnTo>
                <a:lnTo>
                  <a:pt x="1953329" y="504513"/>
                </a:lnTo>
                <a:lnTo>
                  <a:pt x="1950476" y="505463"/>
                </a:lnTo>
                <a:lnTo>
                  <a:pt x="1947623" y="505780"/>
                </a:lnTo>
                <a:lnTo>
                  <a:pt x="1944771" y="506413"/>
                </a:lnTo>
                <a:lnTo>
                  <a:pt x="1941918" y="505780"/>
                </a:lnTo>
                <a:lnTo>
                  <a:pt x="1939382" y="505463"/>
                </a:lnTo>
                <a:lnTo>
                  <a:pt x="1936846" y="504513"/>
                </a:lnTo>
                <a:lnTo>
                  <a:pt x="1933993" y="502929"/>
                </a:lnTo>
                <a:lnTo>
                  <a:pt x="1931457" y="501662"/>
                </a:lnTo>
                <a:lnTo>
                  <a:pt x="1928921" y="499445"/>
                </a:lnTo>
                <a:lnTo>
                  <a:pt x="1924166" y="494694"/>
                </a:lnTo>
                <a:lnTo>
                  <a:pt x="1919094" y="489309"/>
                </a:lnTo>
                <a:lnTo>
                  <a:pt x="1914022" y="482657"/>
                </a:lnTo>
                <a:lnTo>
                  <a:pt x="1903561" y="467770"/>
                </a:lnTo>
                <a:lnTo>
                  <a:pt x="1897855" y="459852"/>
                </a:lnTo>
                <a:lnTo>
                  <a:pt x="1891515" y="451616"/>
                </a:lnTo>
                <a:lnTo>
                  <a:pt x="1884541" y="443698"/>
                </a:lnTo>
                <a:lnTo>
                  <a:pt x="1877250" y="435779"/>
                </a:lnTo>
                <a:lnTo>
                  <a:pt x="1868057" y="426277"/>
                </a:lnTo>
                <a:lnTo>
                  <a:pt x="1859815" y="418991"/>
                </a:lnTo>
                <a:lnTo>
                  <a:pt x="1851890" y="412023"/>
                </a:lnTo>
                <a:lnTo>
                  <a:pt x="1843966" y="406005"/>
                </a:lnTo>
                <a:lnTo>
                  <a:pt x="1836041" y="399987"/>
                </a:lnTo>
                <a:lnTo>
                  <a:pt x="1820825" y="389217"/>
                </a:lnTo>
                <a:lnTo>
                  <a:pt x="1814485" y="384466"/>
                </a:lnTo>
                <a:lnTo>
                  <a:pt x="1808462" y="379398"/>
                </a:lnTo>
                <a:lnTo>
                  <a:pt x="1804024" y="374647"/>
                </a:lnTo>
                <a:lnTo>
                  <a:pt x="1802122" y="372113"/>
                </a:lnTo>
                <a:lnTo>
                  <a:pt x="1800220" y="369579"/>
                </a:lnTo>
                <a:lnTo>
                  <a:pt x="1798635" y="367045"/>
                </a:lnTo>
                <a:lnTo>
                  <a:pt x="1798001" y="364511"/>
                </a:lnTo>
                <a:lnTo>
                  <a:pt x="1797367" y="361660"/>
                </a:lnTo>
                <a:lnTo>
                  <a:pt x="1797050" y="359126"/>
                </a:lnTo>
                <a:lnTo>
                  <a:pt x="1797367" y="355959"/>
                </a:lnTo>
                <a:lnTo>
                  <a:pt x="1797684" y="353108"/>
                </a:lnTo>
                <a:lnTo>
                  <a:pt x="1798635" y="349941"/>
                </a:lnTo>
                <a:lnTo>
                  <a:pt x="1800220" y="346773"/>
                </a:lnTo>
                <a:lnTo>
                  <a:pt x="1802439" y="343289"/>
                </a:lnTo>
                <a:lnTo>
                  <a:pt x="1804975" y="340122"/>
                </a:lnTo>
                <a:lnTo>
                  <a:pt x="1807828" y="336637"/>
                </a:lnTo>
                <a:lnTo>
                  <a:pt x="1811632" y="332520"/>
                </a:lnTo>
                <a:lnTo>
                  <a:pt x="2006902" y="137087"/>
                </a:lnTo>
                <a:lnTo>
                  <a:pt x="2011023" y="133603"/>
                </a:lnTo>
                <a:lnTo>
                  <a:pt x="2014827" y="130119"/>
                </a:lnTo>
                <a:lnTo>
                  <a:pt x="2019265" y="126634"/>
                </a:lnTo>
                <a:lnTo>
                  <a:pt x="2023703" y="123784"/>
                </a:lnTo>
                <a:lnTo>
                  <a:pt x="2028141" y="120933"/>
                </a:lnTo>
                <a:lnTo>
                  <a:pt x="2032896" y="118399"/>
                </a:lnTo>
                <a:lnTo>
                  <a:pt x="2037017" y="116182"/>
                </a:lnTo>
                <a:lnTo>
                  <a:pt x="2041772" y="113965"/>
                </a:lnTo>
                <a:lnTo>
                  <a:pt x="2046843" y="112064"/>
                </a:lnTo>
                <a:lnTo>
                  <a:pt x="2051598" y="110797"/>
                </a:lnTo>
                <a:lnTo>
                  <a:pt x="2056670" y="109213"/>
                </a:lnTo>
                <a:lnTo>
                  <a:pt x="2061425" y="108263"/>
                </a:lnTo>
                <a:lnTo>
                  <a:pt x="2066497" y="107313"/>
                </a:lnTo>
                <a:lnTo>
                  <a:pt x="2071569" y="106679"/>
                </a:lnTo>
                <a:lnTo>
                  <a:pt x="2076641" y="106363"/>
                </a:lnTo>
                <a:close/>
                <a:moveTo>
                  <a:pt x="2213628" y="19050"/>
                </a:moveTo>
                <a:lnTo>
                  <a:pt x="2219371" y="19369"/>
                </a:lnTo>
                <a:lnTo>
                  <a:pt x="2225751" y="20007"/>
                </a:lnTo>
                <a:lnTo>
                  <a:pt x="2231493" y="21602"/>
                </a:lnTo>
                <a:lnTo>
                  <a:pt x="2237236" y="23516"/>
                </a:lnTo>
                <a:lnTo>
                  <a:pt x="2242978" y="26387"/>
                </a:lnTo>
                <a:lnTo>
                  <a:pt x="2248401" y="29258"/>
                </a:lnTo>
                <a:lnTo>
                  <a:pt x="2253506" y="33087"/>
                </a:lnTo>
                <a:lnTo>
                  <a:pt x="2258291" y="37234"/>
                </a:lnTo>
                <a:lnTo>
                  <a:pt x="2262757" y="42019"/>
                </a:lnTo>
                <a:lnTo>
                  <a:pt x="2266266" y="47123"/>
                </a:lnTo>
                <a:lnTo>
                  <a:pt x="2269457" y="52547"/>
                </a:lnTo>
                <a:lnTo>
                  <a:pt x="2272009" y="58608"/>
                </a:lnTo>
                <a:lnTo>
                  <a:pt x="2273923" y="64350"/>
                </a:lnTo>
                <a:lnTo>
                  <a:pt x="2275518" y="70412"/>
                </a:lnTo>
                <a:lnTo>
                  <a:pt x="2276475" y="76154"/>
                </a:lnTo>
                <a:lnTo>
                  <a:pt x="2276475" y="82216"/>
                </a:lnTo>
                <a:lnTo>
                  <a:pt x="2276475" y="88277"/>
                </a:lnTo>
                <a:lnTo>
                  <a:pt x="2275518" y="94338"/>
                </a:lnTo>
                <a:lnTo>
                  <a:pt x="2273923" y="100400"/>
                </a:lnTo>
                <a:lnTo>
                  <a:pt x="2272009" y="106142"/>
                </a:lnTo>
                <a:lnTo>
                  <a:pt x="2269457" y="111565"/>
                </a:lnTo>
                <a:lnTo>
                  <a:pt x="2266266" y="117308"/>
                </a:lnTo>
                <a:lnTo>
                  <a:pt x="2262757" y="122412"/>
                </a:lnTo>
                <a:lnTo>
                  <a:pt x="2258291" y="126878"/>
                </a:lnTo>
                <a:lnTo>
                  <a:pt x="2241064" y="144105"/>
                </a:lnTo>
                <a:lnTo>
                  <a:pt x="2236598" y="148253"/>
                </a:lnTo>
                <a:lnTo>
                  <a:pt x="2232769" y="150805"/>
                </a:lnTo>
                <a:lnTo>
                  <a:pt x="2230855" y="151443"/>
                </a:lnTo>
                <a:lnTo>
                  <a:pt x="2228941" y="152400"/>
                </a:lnTo>
                <a:lnTo>
                  <a:pt x="2227346" y="152400"/>
                </a:lnTo>
                <a:lnTo>
                  <a:pt x="2225751" y="152400"/>
                </a:lnTo>
                <a:lnTo>
                  <a:pt x="2224156" y="152081"/>
                </a:lnTo>
                <a:lnTo>
                  <a:pt x="2222880" y="151443"/>
                </a:lnTo>
                <a:lnTo>
                  <a:pt x="2220009" y="149848"/>
                </a:lnTo>
                <a:lnTo>
                  <a:pt x="2217456" y="147295"/>
                </a:lnTo>
                <a:lnTo>
                  <a:pt x="2214904" y="143786"/>
                </a:lnTo>
                <a:lnTo>
                  <a:pt x="2212352" y="140277"/>
                </a:lnTo>
                <a:lnTo>
                  <a:pt x="2209800" y="135811"/>
                </a:lnTo>
                <a:lnTo>
                  <a:pt x="2204058" y="126240"/>
                </a:lnTo>
                <a:lnTo>
                  <a:pt x="2201186" y="121455"/>
                </a:lnTo>
                <a:lnTo>
                  <a:pt x="2197358" y="116351"/>
                </a:lnTo>
                <a:lnTo>
                  <a:pt x="2193530" y="111246"/>
                </a:lnTo>
                <a:lnTo>
                  <a:pt x="2189064" y="106461"/>
                </a:lnTo>
                <a:lnTo>
                  <a:pt x="2184278" y="101995"/>
                </a:lnTo>
                <a:lnTo>
                  <a:pt x="2179493" y="98167"/>
                </a:lnTo>
                <a:lnTo>
                  <a:pt x="2174389" y="94657"/>
                </a:lnTo>
                <a:lnTo>
                  <a:pt x="2169285" y="91467"/>
                </a:lnTo>
                <a:lnTo>
                  <a:pt x="2159714" y="85725"/>
                </a:lnTo>
                <a:lnTo>
                  <a:pt x="2155248" y="83173"/>
                </a:lnTo>
                <a:lnTo>
                  <a:pt x="2151739" y="80620"/>
                </a:lnTo>
                <a:lnTo>
                  <a:pt x="2148229" y="78068"/>
                </a:lnTo>
                <a:lnTo>
                  <a:pt x="2145677" y="75516"/>
                </a:lnTo>
                <a:lnTo>
                  <a:pt x="2144082" y="72964"/>
                </a:lnTo>
                <a:lnTo>
                  <a:pt x="2143763" y="71369"/>
                </a:lnTo>
                <a:lnTo>
                  <a:pt x="2143125" y="69774"/>
                </a:lnTo>
                <a:lnTo>
                  <a:pt x="2143125" y="68179"/>
                </a:lnTo>
                <a:lnTo>
                  <a:pt x="2143763" y="66584"/>
                </a:lnTo>
                <a:lnTo>
                  <a:pt x="2144082" y="64669"/>
                </a:lnTo>
                <a:lnTo>
                  <a:pt x="2144720" y="63074"/>
                </a:lnTo>
                <a:lnTo>
                  <a:pt x="2147591" y="59246"/>
                </a:lnTo>
                <a:lnTo>
                  <a:pt x="2151419" y="54780"/>
                </a:lnTo>
                <a:lnTo>
                  <a:pt x="2168647" y="37234"/>
                </a:lnTo>
                <a:lnTo>
                  <a:pt x="2173751" y="33087"/>
                </a:lnTo>
                <a:lnTo>
                  <a:pt x="2178855" y="29258"/>
                </a:lnTo>
                <a:lnTo>
                  <a:pt x="2183959" y="26387"/>
                </a:lnTo>
                <a:lnTo>
                  <a:pt x="2189702" y="23516"/>
                </a:lnTo>
                <a:lnTo>
                  <a:pt x="2195125" y="21602"/>
                </a:lnTo>
                <a:lnTo>
                  <a:pt x="2201506" y="20007"/>
                </a:lnTo>
                <a:lnTo>
                  <a:pt x="2207248" y="19369"/>
                </a:lnTo>
                <a:lnTo>
                  <a:pt x="2213628" y="19050"/>
                </a:lnTo>
                <a:close/>
                <a:moveTo>
                  <a:pt x="1985550" y="0"/>
                </a:moveTo>
                <a:lnTo>
                  <a:pt x="1989686" y="0"/>
                </a:lnTo>
                <a:lnTo>
                  <a:pt x="1993822" y="0"/>
                </a:lnTo>
                <a:lnTo>
                  <a:pt x="1997640" y="634"/>
                </a:lnTo>
                <a:lnTo>
                  <a:pt x="2001776" y="1903"/>
                </a:lnTo>
                <a:lnTo>
                  <a:pt x="2005594" y="2855"/>
                </a:lnTo>
                <a:lnTo>
                  <a:pt x="2009411" y="4759"/>
                </a:lnTo>
                <a:lnTo>
                  <a:pt x="2012911" y="6980"/>
                </a:lnTo>
                <a:lnTo>
                  <a:pt x="2016411" y="9518"/>
                </a:lnTo>
                <a:lnTo>
                  <a:pt x="2019592" y="12374"/>
                </a:lnTo>
                <a:lnTo>
                  <a:pt x="2022456" y="15229"/>
                </a:lnTo>
                <a:lnTo>
                  <a:pt x="2025001" y="19037"/>
                </a:lnTo>
                <a:lnTo>
                  <a:pt x="2026910" y="22210"/>
                </a:lnTo>
                <a:lnTo>
                  <a:pt x="2028819" y="26334"/>
                </a:lnTo>
                <a:lnTo>
                  <a:pt x="2030091" y="29824"/>
                </a:lnTo>
                <a:lnTo>
                  <a:pt x="2031364" y="33949"/>
                </a:lnTo>
                <a:lnTo>
                  <a:pt x="2031682" y="37757"/>
                </a:lnTo>
                <a:lnTo>
                  <a:pt x="2032000" y="41881"/>
                </a:lnTo>
                <a:lnTo>
                  <a:pt x="2031682" y="46006"/>
                </a:lnTo>
                <a:lnTo>
                  <a:pt x="2031046" y="49813"/>
                </a:lnTo>
                <a:lnTo>
                  <a:pt x="2030091" y="53938"/>
                </a:lnTo>
                <a:lnTo>
                  <a:pt x="2028819" y="57745"/>
                </a:lnTo>
                <a:lnTo>
                  <a:pt x="2026910" y="61553"/>
                </a:lnTo>
                <a:lnTo>
                  <a:pt x="2025001" y="65043"/>
                </a:lnTo>
                <a:lnTo>
                  <a:pt x="2022456" y="68533"/>
                </a:lnTo>
                <a:lnTo>
                  <a:pt x="2019592" y="71706"/>
                </a:lnTo>
                <a:lnTo>
                  <a:pt x="1637177" y="453081"/>
                </a:lnTo>
                <a:lnTo>
                  <a:pt x="1633995" y="455937"/>
                </a:lnTo>
                <a:lnTo>
                  <a:pt x="1630814" y="458158"/>
                </a:lnTo>
                <a:lnTo>
                  <a:pt x="1626996" y="460379"/>
                </a:lnTo>
                <a:lnTo>
                  <a:pt x="1623496" y="462283"/>
                </a:lnTo>
                <a:lnTo>
                  <a:pt x="1619360" y="463552"/>
                </a:lnTo>
                <a:lnTo>
                  <a:pt x="1615224" y="464186"/>
                </a:lnTo>
                <a:lnTo>
                  <a:pt x="1611407" y="465138"/>
                </a:lnTo>
                <a:lnTo>
                  <a:pt x="1607271" y="465138"/>
                </a:lnTo>
                <a:lnTo>
                  <a:pt x="1603135" y="465138"/>
                </a:lnTo>
                <a:lnTo>
                  <a:pt x="1599317" y="464186"/>
                </a:lnTo>
                <a:lnTo>
                  <a:pt x="1595181" y="463552"/>
                </a:lnTo>
                <a:lnTo>
                  <a:pt x="1591681" y="462283"/>
                </a:lnTo>
                <a:lnTo>
                  <a:pt x="1587864" y="460379"/>
                </a:lnTo>
                <a:lnTo>
                  <a:pt x="1584364" y="458158"/>
                </a:lnTo>
                <a:lnTo>
                  <a:pt x="1580864" y="455937"/>
                </a:lnTo>
                <a:lnTo>
                  <a:pt x="1577683" y="453081"/>
                </a:lnTo>
                <a:lnTo>
                  <a:pt x="1574819" y="449591"/>
                </a:lnTo>
                <a:lnTo>
                  <a:pt x="1572274" y="446418"/>
                </a:lnTo>
                <a:lnTo>
                  <a:pt x="1570047" y="442928"/>
                </a:lnTo>
                <a:lnTo>
                  <a:pt x="1568138" y="439121"/>
                </a:lnTo>
                <a:lnTo>
                  <a:pt x="1567184" y="435314"/>
                </a:lnTo>
                <a:lnTo>
                  <a:pt x="1565911" y="431189"/>
                </a:lnTo>
                <a:lnTo>
                  <a:pt x="1565275" y="427381"/>
                </a:lnTo>
                <a:lnTo>
                  <a:pt x="1565275" y="423257"/>
                </a:lnTo>
                <a:lnTo>
                  <a:pt x="1565275" y="419132"/>
                </a:lnTo>
                <a:lnTo>
                  <a:pt x="1565911" y="415007"/>
                </a:lnTo>
                <a:lnTo>
                  <a:pt x="1567184" y="411517"/>
                </a:lnTo>
                <a:lnTo>
                  <a:pt x="1568138" y="407393"/>
                </a:lnTo>
                <a:lnTo>
                  <a:pt x="1570047" y="403902"/>
                </a:lnTo>
                <a:lnTo>
                  <a:pt x="1572274" y="400095"/>
                </a:lnTo>
                <a:lnTo>
                  <a:pt x="1574819" y="396922"/>
                </a:lnTo>
                <a:lnTo>
                  <a:pt x="1577683" y="393749"/>
                </a:lnTo>
                <a:lnTo>
                  <a:pt x="1960098" y="12374"/>
                </a:lnTo>
                <a:lnTo>
                  <a:pt x="1962962" y="9518"/>
                </a:lnTo>
                <a:lnTo>
                  <a:pt x="1966779" y="6980"/>
                </a:lnTo>
                <a:lnTo>
                  <a:pt x="1970279" y="4759"/>
                </a:lnTo>
                <a:lnTo>
                  <a:pt x="1974097" y="2855"/>
                </a:lnTo>
                <a:lnTo>
                  <a:pt x="1977596" y="1903"/>
                </a:lnTo>
                <a:lnTo>
                  <a:pt x="1981732" y="634"/>
                </a:lnTo>
                <a:lnTo>
                  <a:pt x="198555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08980" y="2078640"/>
            <a:ext cx="428999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一、课程概述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二、实验过程及考核</a:t>
            </a:r>
            <a:endParaRPr lang="en-US" altLang="zh-CN" sz="2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三、实验环境及工具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899243" y="2035414"/>
            <a:ext cx="3160978" cy="3085523"/>
            <a:chOff x="375243" y="2035413"/>
            <a:chExt cx="3160978" cy="3085523"/>
          </a:xfrm>
        </p:grpSpPr>
        <p:grpSp>
          <p:nvGrpSpPr>
            <p:cNvPr id="13" name="组合 12"/>
            <p:cNvGrpSpPr>
              <a:grpSpLocks noChangeAspect="1"/>
            </p:cNvGrpSpPr>
            <p:nvPr/>
          </p:nvGrpSpPr>
          <p:grpSpPr>
            <a:xfrm>
              <a:off x="2276221" y="3860936"/>
              <a:ext cx="1260000" cy="1260000"/>
              <a:chOff x="1174779" y="3359349"/>
              <a:chExt cx="1800000" cy="1800001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174779" y="3359349"/>
                <a:ext cx="1800000" cy="1800001"/>
                <a:chOff x="6250980" y="3660482"/>
                <a:chExt cx="1800000" cy="1800001"/>
              </a:xfrm>
            </p:grpSpPr>
            <p:sp>
              <p:nvSpPr>
                <p:cNvPr id="16" name="椭圆 15"/>
                <p:cNvSpPr/>
                <p:nvPr/>
              </p:nvSpPr>
              <p:spPr>
                <a:xfrm>
                  <a:off x="6250980" y="3660482"/>
                  <a:ext cx="1800000" cy="1800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E8E7E9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椭圆 16"/>
                <p:cNvSpPr/>
                <p:nvPr/>
              </p:nvSpPr>
              <p:spPr>
                <a:xfrm rot="19510690">
                  <a:off x="6250980" y="3660483"/>
                  <a:ext cx="1800000" cy="1800000"/>
                </a:xfrm>
                <a:prstGeom prst="ellipse">
                  <a:avLst/>
                </a:prstGeom>
                <a:noFill/>
                <a:ln>
                  <a:gradFill>
                    <a:gsLst>
                      <a:gs pos="0">
                        <a:schemeClr val="bg1"/>
                      </a:gs>
                      <a:gs pos="100000">
                        <a:srgbClr val="E7E4E9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5" name="椭圆 14"/>
              <p:cNvSpPr/>
              <p:nvPr/>
            </p:nvSpPr>
            <p:spPr>
              <a:xfrm>
                <a:off x="1354779" y="3539349"/>
                <a:ext cx="1440000" cy="1440000"/>
              </a:xfrm>
              <a:prstGeom prst="ellipse">
                <a:avLst/>
              </a:prstGeom>
              <a:solidFill>
                <a:srgbClr val="5D9FC1"/>
              </a:solidFill>
              <a:ln>
                <a:noFill/>
              </a:ln>
              <a:effectLst>
                <a:innerShdw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>
              <a:grpSpLocks noChangeAspect="1"/>
            </p:cNvGrpSpPr>
            <p:nvPr/>
          </p:nvGrpSpPr>
          <p:grpSpPr>
            <a:xfrm>
              <a:off x="2683600" y="2570378"/>
              <a:ext cx="576000" cy="576000"/>
              <a:chOff x="1174779" y="3359349"/>
              <a:chExt cx="1800000" cy="1800001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1174779" y="3359349"/>
                <a:ext cx="1800000" cy="1800001"/>
                <a:chOff x="6250980" y="3660482"/>
                <a:chExt cx="1800000" cy="1800001"/>
              </a:xfrm>
            </p:grpSpPr>
            <p:sp>
              <p:nvSpPr>
                <p:cNvPr id="21" name="椭圆 20"/>
                <p:cNvSpPr/>
                <p:nvPr/>
              </p:nvSpPr>
              <p:spPr>
                <a:xfrm>
                  <a:off x="6250980" y="3660482"/>
                  <a:ext cx="1800000" cy="1800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E8E7E9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 rot="19510690">
                  <a:off x="6250980" y="3660483"/>
                  <a:ext cx="1800000" cy="1800000"/>
                </a:xfrm>
                <a:prstGeom prst="ellipse">
                  <a:avLst/>
                </a:prstGeom>
                <a:noFill/>
                <a:ln>
                  <a:gradFill>
                    <a:gsLst>
                      <a:gs pos="0">
                        <a:schemeClr val="bg1"/>
                      </a:gs>
                      <a:gs pos="100000">
                        <a:srgbClr val="E7E4E9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0" name="椭圆 19"/>
              <p:cNvSpPr/>
              <p:nvPr/>
            </p:nvSpPr>
            <p:spPr>
              <a:xfrm>
                <a:off x="1354779" y="3539349"/>
                <a:ext cx="1440000" cy="1440000"/>
              </a:xfrm>
              <a:prstGeom prst="ellipse">
                <a:avLst/>
              </a:prstGeom>
              <a:solidFill>
                <a:srgbClr val="183A6A"/>
              </a:solidFill>
              <a:ln>
                <a:noFill/>
              </a:ln>
              <a:effectLst>
                <a:innerShdw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1046591" y="2718418"/>
              <a:ext cx="1980000" cy="1980000"/>
              <a:chOff x="6250980" y="3660482"/>
              <a:chExt cx="1800000" cy="1800001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6250980" y="3660482"/>
                <a:ext cx="1800000" cy="1800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E7E9"/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 rot="19510690">
                <a:off x="6250980" y="3660483"/>
                <a:ext cx="1800000" cy="1800000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bg1"/>
                    </a:gs>
                    <a:gs pos="100000">
                      <a:srgbClr val="E7E4E9"/>
                    </a:gs>
                  </a:gsLst>
                  <a:lin ang="5400000" scaled="1"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>
              <a:off x="1190591" y="2862418"/>
              <a:ext cx="1692000" cy="1692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  <a:effectLst>
              <a:innerShdw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7" name="组合 26"/>
            <p:cNvGrpSpPr>
              <a:grpSpLocks noChangeAspect="1"/>
            </p:cNvGrpSpPr>
            <p:nvPr/>
          </p:nvGrpSpPr>
          <p:grpSpPr>
            <a:xfrm>
              <a:off x="778122" y="2035413"/>
              <a:ext cx="1044000" cy="1044000"/>
              <a:chOff x="1174779" y="3359349"/>
              <a:chExt cx="1800000" cy="1800001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1174779" y="3359349"/>
                <a:ext cx="1800000" cy="1800001"/>
                <a:chOff x="6250980" y="3660482"/>
                <a:chExt cx="1800000" cy="1800001"/>
              </a:xfrm>
            </p:grpSpPr>
            <p:sp>
              <p:nvSpPr>
                <p:cNvPr id="30" name="椭圆 29"/>
                <p:cNvSpPr/>
                <p:nvPr/>
              </p:nvSpPr>
              <p:spPr>
                <a:xfrm>
                  <a:off x="6250980" y="3660482"/>
                  <a:ext cx="1800000" cy="1800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E8E7E9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椭圆 30"/>
                <p:cNvSpPr/>
                <p:nvPr/>
              </p:nvSpPr>
              <p:spPr>
                <a:xfrm rot="19510690">
                  <a:off x="6250980" y="3660483"/>
                  <a:ext cx="1800000" cy="1800000"/>
                </a:xfrm>
                <a:prstGeom prst="ellipse">
                  <a:avLst/>
                </a:prstGeom>
                <a:noFill/>
                <a:ln>
                  <a:gradFill>
                    <a:gsLst>
                      <a:gs pos="0">
                        <a:schemeClr val="bg1"/>
                      </a:gs>
                      <a:gs pos="100000">
                        <a:srgbClr val="E7E4E9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9" name="椭圆 28"/>
              <p:cNvSpPr/>
              <p:nvPr/>
            </p:nvSpPr>
            <p:spPr>
              <a:xfrm>
                <a:off x="1354779" y="3539349"/>
                <a:ext cx="1440000" cy="1440000"/>
              </a:xfrm>
              <a:prstGeom prst="ellipse">
                <a:avLst/>
              </a:prstGeom>
              <a:solidFill>
                <a:srgbClr val="16B6CC"/>
              </a:solidFill>
              <a:ln>
                <a:noFill/>
              </a:ln>
              <a:effectLst>
                <a:innerShdw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>
              <a:grpSpLocks noChangeAspect="1"/>
            </p:cNvGrpSpPr>
            <p:nvPr/>
          </p:nvGrpSpPr>
          <p:grpSpPr>
            <a:xfrm>
              <a:off x="375243" y="4151919"/>
              <a:ext cx="648000" cy="648000"/>
              <a:chOff x="1174779" y="3359349"/>
              <a:chExt cx="1800000" cy="1800001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1174779" y="3359349"/>
                <a:ext cx="1800000" cy="1800001"/>
                <a:chOff x="6250980" y="3660482"/>
                <a:chExt cx="1800000" cy="1800001"/>
              </a:xfrm>
            </p:grpSpPr>
            <p:sp>
              <p:nvSpPr>
                <p:cNvPr id="35" name="椭圆 34"/>
                <p:cNvSpPr/>
                <p:nvPr/>
              </p:nvSpPr>
              <p:spPr>
                <a:xfrm>
                  <a:off x="6250980" y="3660482"/>
                  <a:ext cx="1800000" cy="1800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E8E7E9"/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椭圆 35"/>
                <p:cNvSpPr/>
                <p:nvPr/>
              </p:nvSpPr>
              <p:spPr>
                <a:xfrm rot="19510690">
                  <a:off x="6250980" y="3660483"/>
                  <a:ext cx="1800000" cy="1800000"/>
                </a:xfrm>
                <a:prstGeom prst="ellipse">
                  <a:avLst/>
                </a:prstGeom>
                <a:noFill/>
                <a:ln>
                  <a:gradFill>
                    <a:gsLst>
                      <a:gs pos="0">
                        <a:schemeClr val="bg1"/>
                      </a:gs>
                      <a:gs pos="100000">
                        <a:srgbClr val="E7E4E9"/>
                      </a:gs>
                    </a:gsLst>
                    <a:lin ang="5400000" scaled="1"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4" name="椭圆 33"/>
              <p:cNvSpPr/>
              <p:nvPr/>
            </p:nvSpPr>
            <p:spPr>
              <a:xfrm>
                <a:off x="1354779" y="3539349"/>
                <a:ext cx="1440000" cy="144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>
                <a:innerShdw>
                  <a:prstClr val="black"/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>
              <a:grpSpLocks noChangeAspect="1"/>
            </p:cNvGrpSpPr>
            <p:nvPr/>
          </p:nvGrpSpPr>
          <p:grpSpPr>
            <a:xfrm>
              <a:off x="1654083" y="3310817"/>
              <a:ext cx="876025" cy="900000"/>
              <a:chOff x="3976261" y="3892343"/>
              <a:chExt cx="326182" cy="335109"/>
            </a:xfrm>
            <a:solidFill>
              <a:schemeClr val="bg1"/>
            </a:solidFill>
          </p:grpSpPr>
          <p:sp>
            <p:nvSpPr>
              <p:cNvPr id="38" name="六边形 37"/>
              <p:cNvSpPr/>
              <p:nvPr/>
            </p:nvSpPr>
            <p:spPr>
              <a:xfrm>
                <a:off x="3976261" y="3892343"/>
                <a:ext cx="122099" cy="106837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六边形 38"/>
              <p:cNvSpPr/>
              <p:nvPr/>
            </p:nvSpPr>
            <p:spPr>
              <a:xfrm>
                <a:off x="3976261" y="4005288"/>
                <a:ext cx="122099" cy="106837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六边形 39"/>
              <p:cNvSpPr/>
              <p:nvPr/>
            </p:nvSpPr>
            <p:spPr>
              <a:xfrm>
                <a:off x="3976261" y="4120615"/>
                <a:ext cx="122099" cy="106837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六边形 40"/>
              <p:cNvSpPr/>
              <p:nvPr/>
            </p:nvSpPr>
            <p:spPr>
              <a:xfrm>
                <a:off x="4078302" y="3945761"/>
                <a:ext cx="122099" cy="106837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六边形 41"/>
              <p:cNvSpPr/>
              <p:nvPr/>
            </p:nvSpPr>
            <p:spPr>
              <a:xfrm>
                <a:off x="4078302" y="4060570"/>
                <a:ext cx="122099" cy="106837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六边形 42"/>
              <p:cNvSpPr/>
              <p:nvPr/>
            </p:nvSpPr>
            <p:spPr>
              <a:xfrm>
                <a:off x="4180344" y="4003942"/>
                <a:ext cx="122099" cy="106837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23"/>
    </mc:Choice>
    <mc:Fallback xmlns="">
      <p:transition spd="slow" advTm="192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24125"/>
            <a:ext cx="12192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307657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3763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一、课程概述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>
            <a:fillRect/>
          </a:stretch>
        </p:blipFill>
        <p:spPr>
          <a:xfrm>
            <a:off x="221254" y="195533"/>
            <a:ext cx="2517275" cy="67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9"/>
    </mc:Choice>
    <mc:Fallback xmlns="">
      <p:transition spd="slow" advTm="14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695325" y="138784"/>
            <a:ext cx="2825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课程概述</a:t>
            </a:r>
          </a:p>
        </p:txBody>
      </p:sp>
      <p:sp>
        <p:nvSpPr>
          <p:cNvPr id="25" name="矩形 24"/>
          <p:cNvSpPr/>
          <p:nvPr/>
        </p:nvSpPr>
        <p:spPr>
          <a:xfrm>
            <a:off x="695326" y="574566"/>
            <a:ext cx="1049313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30555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课程性质：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630555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独立设置的专业核心实验课（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COMP460605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630555"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课程目标：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630555"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课程目标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能够在文献分析基础上，运用科学方法对网络系统的工程问题进行研究，包括设计试验、分析和解释数据。（毕业要求中的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研究）</a:t>
            </a:r>
          </a:p>
          <a:p>
            <a:pPr indent="630555"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课程目标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使用现代网络测试技术和工具，完成网络系统的性能测试和评价。（毕业要求中的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使用现代工具）</a:t>
            </a:r>
          </a:p>
          <a:p>
            <a:pPr indent="630555"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课程目标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具备团队的组织管理能力，合作精神，和沟通、协作能力。（毕业要求中的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个人与团队）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720"/>
    </mc:Choice>
    <mc:Fallback xmlns="">
      <p:transition spd="slow" advTm="104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2318435" y="783219"/>
            <a:ext cx="6036931" cy="498365"/>
            <a:chOff x="2161997" y="2196133"/>
            <a:chExt cx="6936455" cy="572623"/>
          </a:xfrm>
        </p:grpSpPr>
        <p:sp>
          <p:nvSpPr>
            <p:cNvPr id="30" name="单圆角矩形 3"/>
            <p:cNvSpPr>
              <a:spLocks noChangeArrowheads="1"/>
            </p:cNvSpPr>
            <p:nvPr/>
          </p:nvSpPr>
          <p:spPr bwMode="auto">
            <a:xfrm flipH="1">
              <a:off x="2161997" y="2196133"/>
              <a:ext cx="1071853" cy="57262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en-US" altLang="zh-CN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4"/>
            <p:cNvSpPr>
              <a:spLocks noChangeArrowheads="1"/>
            </p:cNvSpPr>
            <p:nvPr/>
          </p:nvSpPr>
          <p:spPr bwMode="auto">
            <a:xfrm>
              <a:off x="3240286" y="2196133"/>
              <a:ext cx="5858166" cy="57262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实验环境及</a:t>
              </a:r>
              <a:r>
                <a:rPr lang="en-US" altLang="zh-CN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ARP</a:t>
              </a:r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协议分析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256891" y="1502258"/>
            <a:ext cx="6031328" cy="500714"/>
            <a:chOff x="3240286" y="3026561"/>
            <a:chExt cx="6930016" cy="575322"/>
          </a:xfrm>
        </p:grpSpPr>
        <p:sp>
          <p:nvSpPr>
            <p:cNvPr id="36" name="单圆角矩形 7"/>
            <p:cNvSpPr>
              <a:spLocks noChangeArrowheads="1"/>
            </p:cNvSpPr>
            <p:nvPr/>
          </p:nvSpPr>
          <p:spPr bwMode="auto">
            <a:xfrm>
              <a:off x="9098451" y="3026561"/>
              <a:ext cx="1071851" cy="572623"/>
            </a:xfrm>
            <a:custGeom>
              <a:avLst/>
              <a:gdLst>
                <a:gd name="T0" fmla="*/ 0 w 528877"/>
                <a:gd name="T1" fmla="*/ 0 h 495119"/>
                <a:gd name="T2" fmla="*/ 446153 w 528877"/>
                <a:gd name="T3" fmla="*/ 0 h 495119"/>
                <a:gd name="T4" fmla="*/ 528637 w 528877"/>
                <a:gd name="T5" fmla="*/ 82551 h 495119"/>
                <a:gd name="T6" fmla="*/ 528637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8"/>
            <p:cNvSpPr>
              <a:spLocks noChangeArrowheads="1"/>
            </p:cNvSpPr>
            <p:nvPr/>
          </p:nvSpPr>
          <p:spPr bwMode="auto">
            <a:xfrm>
              <a:off x="3240286" y="3029260"/>
              <a:ext cx="5858166" cy="57262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DNS</a:t>
              </a:r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协议分析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318435" y="2251781"/>
            <a:ext cx="6969784" cy="1938790"/>
            <a:chOff x="2318435" y="2251781"/>
            <a:chExt cx="6969784" cy="1938790"/>
          </a:xfrm>
        </p:grpSpPr>
        <p:grpSp>
          <p:nvGrpSpPr>
            <p:cNvPr id="6" name="组合 5"/>
            <p:cNvGrpSpPr/>
            <p:nvPr/>
          </p:nvGrpSpPr>
          <p:grpSpPr>
            <a:xfrm>
              <a:off x="2318435" y="2251781"/>
              <a:ext cx="6036932" cy="498365"/>
              <a:chOff x="2768601" y="2218061"/>
              <a:chExt cx="6036932" cy="498365"/>
            </a:xfrm>
          </p:grpSpPr>
          <p:sp>
            <p:nvSpPr>
              <p:cNvPr id="42" name="单圆角矩形 3"/>
              <p:cNvSpPr>
                <a:spLocks noChangeArrowheads="1"/>
              </p:cNvSpPr>
              <p:nvPr/>
            </p:nvSpPr>
            <p:spPr bwMode="auto">
              <a:xfrm flipH="1">
                <a:off x="2768601" y="2218061"/>
                <a:ext cx="932854" cy="498365"/>
              </a:xfrm>
              <a:custGeom>
                <a:avLst/>
                <a:gdLst>
                  <a:gd name="T0" fmla="*/ 0 w 528877"/>
                  <a:gd name="T1" fmla="*/ 0 h 495119"/>
                  <a:gd name="T2" fmla="*/ 446154 w 528877"/>
                  <a:gd name="T3" fmla="*/ 0 h 495119"/>
                  <a:gd name="T4" fmla="*/ 528638 w 528877"/>
                  <a:gd name="T5" fmla="*/ 82551 h 495119"/>
                  <a:gd name="T6" fmla="*/ 528638 w 528877"/>
                  <a:gd name="T7" fmla="*/ 495300 h 495119"/>
                  <a:gd name="T8" fmla="*/ 0 w 528877"/>
                  <a:gd name="T9" fmla="*/ 495300 h 495119"/>
                  <a:gd name="T10" fmla="*/ 0 w 528877"/>
                  <a:gd name="T11" fmla="*/ 0 h 495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8877"/>
                  <a:gd name="T19" fmla="*/ 0 h 495119"/>
                  <a:gd name="T20" fmla="*/ 528877 w 528877"/>
                  <a:gd name="T21" fmla="*/ 495119 h 495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8877" h="495119">
                    <a:moveTo>
                      <a:pt x="0" y="0"/>
                    </a:moveTo>
                    <a:lnTo>
                      <a:pt x="446356" y="0"/>
                    </a:lnTo>
                    <a:cubicBezTo>
                      <a:pt x="491931" y="0"/>
                      <a:pt x="528877" y="36946"/>
                      <a:pt x="528877" y="82521"/>
                    </a:cubicBezTo>
                    <a:lnTo>
                      <a:pt x="528877" y="495119"/>
                    </a:lnTo>
                    <a:lnTo>
                      <a:pt x="0" y="495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09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矩形 4"/>
              <p:cNvSpPr>
                <a:spLocks noChangeArrowheads="1"/>
              </p:cNvSpPr>
              <p:nvPr/>
            </p:nvSpPr>
            <p:spPr bwMode="auto">
              <a:xfrm>
                <a:off x="3707058" y="2218061"/>
                <a:ext cx="5098475" cy="498365"/>
              </a:xfrm>
              <a:prstGeom prst="rect">
                <a:avLst/>
              </a:prstGeom>
              <a:solidFill>
                <a:srgbClr val="DCE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组网与</a:t>
                </a:r>
                <a:r>
                  <a:rPr lang="en-US" altLang="zh-CN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VLAN</a:t>
                </a:r>
                <a:endPara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3256891" y="2970821"/>
              <a:ext cx="6031328" cy="500716"/>
              <a:chOff x="3215121" y="4717150"/>
              <a:chExt cx="6930016" cy="575323"/>
            </a:xfrm>
          </p:grpSpPr>
          <p:sp>
            <p:nvSpPr>
              <p:cNvPr id="45" name="单圆角矩形 7"/>
              <p:cNvSpPr>
                <a:spLocks noChangeArrowheads="1"/>
              </p:cNvSpPr>
              <p:nvPr/>
            </p:nvSpPr>
            <p:spPr bwMode="auto">
              <a:xfrm>
                <a:off x="9073286" y="4717150"/>
                <a:ext cx="1071851" cy="572622"/>
              </a:xfrm>
              <a:custGeom>
                <a:avLst/>
                <a:gdLst>
                  <a:gd name="T0" fmla="*/ 0 w 528877"/>
                  <a:gd name="T1" fmla="*/ 0 h 495119"/>
                  <a:gd name="T2" fmla="*/ 446153 w 528877"/>
                  <a:gd name="T3" fmla="*/ 0 h 495119"/>
                  <a:gd name="T4" fmla="*/ 528637 w 528877"/>
                  <a:gd name="T5" fmla="*/ 82551 h 495119"/>
                  <a:gd name="T6" fmla="*/ 528637 w 528877"/>
                  <a:gd name="T7" fmla="*/ 495300 h 495119"/>
                  <a:gd name="T8" fmla="*/ 0 w 528877"/>
                  <a:gd name="T9" fmla="*/ 495300 h 495119"/>
                  <a:gd name="T10" fmla="*/ 0 w 528877"/>
                  <a:gd name="T11" fmla="*/ 0 h 495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8877"/>
                  <a:gd name="T19" fmla="*/ 0 h 495119"/>
                  <a:gd name="T20" fmla="*/ 528877 w 528877"/>
                  <a:gd name="T21" fmla="*/ 495119 h 495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8877" h="495119">
                    <a:moveTo>
                      <a:pt x="0" y="0"/>
                    </a:moveTo>
                    <a:lnTo>
                      <a:pt x="446356" y="0"/>
                    </a:lnTo>
                    <a:cubicBezTo>
                      <a:pt x="491931" y="0"/>
                      <a:pt x="528877" y="36946"/>
                      <a:pt x="528877" y="82521"/>
                    </a:cubicBezTo>
                    <a:lnTo>
                      <a:pt x="528877" y="495119"/>
                    </a:lnTo>
                    <a:lnTo>
                      <a:pt x="0" y="495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en-US" altLang="zh-CN" sz="209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矩形 8"/>
              <p:cNvSpPr>
                <a:spLocks noChangeArrowheads="1"/>
              </p:cNvSpPr>
              <p:nvPr/>
            </p:nvSpPr>
            <p:spPr bwMode="auto">
              <a:xfrm>
                <a:off x="3215121" y="4719850"/>
                <a:ext cx="5858166" cy="572623"/>
              </a:xfrm>
              <a:prstGeom prst="rect">
                <a:avLst/>
              </a:prstGeom>
              <a:solidFill>
                <a:srgbClr val="DCE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路由协议分析</a:t>
                </a:r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2337023" y="3692206"/>
              <a:ext cx="6036931" cy="498365"/>
              <a:chOff x="2161997" y="2196133"/>
              <a:chExt cx="6936455" cy="572623"/>
            </a:xfrm>
          </p:grpSpPr>
          <p:sp>
            <p:nvSpPr>
              <p:cNvPr id="48" name="单圆角矩形 3"/>
              <p:cNvSpPr>
                <a:spLocks noChangeArrowheads="1"/>
              </p:cNvSpPr>
              <p:nvPr/>
            </p:nvSpPr>
            <p:spPr bwMode="auto">
              <a:xfrm flipH="1">
                <a:off x="2161997" y="2196133"/>
                <a:ext cx="1071853" cy="572623"/>
              </a:xfrm>
              <a:custGeom>
                <a:avLst/>
                <a:gdLst>
                  <a:gd name="T0" fmla="*/ 0 w 528877"/>
                  <a:gd name="T1" fmla="*/ 0 h 495119"/>
                  <a:gd name="T2" fmla="*/ 446154 w 528877"/>
                  <a:gd name="T3" fmla="*/ 0 h 495119"/>
                  <a:gd name="T4" fmla="*/ 528638 w 528877"/>
                  <a:gd name="T5" fmla="*/ 82551 h 495119"/>
                  <a:gd name="T6" fmla="*/ 528638 w 528877"/>
                  <a:gd name="T7" fmla="*/ 495300 h 495119"/>
                  <a:gd name="T8" fmla="*/ 0 w 528877"/>
                  <a:gd name="T9" fmla="*/ 495300 h 495119"/>
                  <a:gd name="T10" fmla="*/ 0 w 528877"/>
                  <a:gd name="T11" fmla="*/ 0 h 495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8877"/>
                  <a:gd name="T19" fmla="*/ 0 h 495119"/>
                  <a:gd name="T20" fmla="*/ 528877 w 528877"/>
                  <a:gd name="T21" fmla="*/ 495119 h 495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8877" h="495119">
                    <a:moveTo>
                      <a:pt x="0" y="0"/>
                    </a:moveTo>
                    <a:lnTo>
                      <a:pt x="446356" y="0"/>
                    </a:lnTo>
                    <a:cubicBezTo>
                      <a:pt x="491931" y="0"/>
                      <a:pt x="528877" y="36946"/>
                      <a:pt x="528877" y="82521"/>
                    </a:cubicBezTo>
                    <a:lnTo>
                      <a:pt x="528877" y="495119"/>
                    </a:lnTo>
                    <a:lnTo>
                      <a:pt x="0" y="495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09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矩形 4"/>
              <p:cNvSpPr>
                <a:spLocks noChangeArrowheads="1"/>
              </p:cNvSpPr>
              <p:nvPr/>
            </p:nvSpPr>
            <p:spPr bwMode="auto">
              <a:xfrm>
                <a:off x="3240286" y="2196133"/>
                <a:ext cx="5858166" cy="572623"/>
              </a:xfrm>
              <a:prstGeom prst="rect">
                <a:avLst/>
              </a:prstGeom>
              <a:solidFill>
                <a:srgbClr val="DCE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防火墙与</a:t>
                </a:r>
                <a:r>
                  <a:rPr lang="en-US" altLang="zh-CN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SSLVPN</a:t>
                </a:r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</a:t>
                </a:r>
              </a:p>
            </p:txBody>
          </p:sp>
        </p:grpSp>
      </p:grpSp>
      <p:grpSp>
        <p:nvGrpSpPr>
          <p:cNvPr id="25" name="组合 24"/>
          <p:cNvGrpSpPr/>
          <p:nvPr/>
        </p:nvGrpSpPr>
        <p:grpSpPr>
          <a:xfrm>
            <a:off x="3282291" y="5881308"/>
            <a:ext cx="6031328" cy="500714"/>
            <a:chOff x="3215121" y="4717154"/>
            <a:chExt cx="6930016" cy="575322"/>
          </a:xfrm>
        </p:grpSpPr>
        <p:sp>
          <p:nvSpPr>
            <p:cNvPr id="26" name="单圆角矩形 7"/>
            <p:cNvSpPr>
              <a:spLocks noChangeArrowheads="1"/>
            </p:cNvSpPr>
            <p:nvPr/>
          </p:nvSpPr>
          <p:spPr bwMode="auto">
            <a:xfrm>
              <a:off x="9073286" y="4717154"/>
              <a:ext cx="1071851" cy="572623"/>
            </a:xfrm>
            <a:custGeom>
              <a:avLst/>
              <a:gdLst>
                <a:gd name="T0" fmla="*/ 0 w 528877"/>
                <a:gd name="T1" fmla="*/ 0 h 495119"/>
                <a:gd name="T2" fmla="*/ 446153 w 528877"/>
                <a:gd name="T3" fmla="*/ 0 h 495119"/>
                <a:gd name="T4" fmla="*/ 528637 w 528877"/>
                <a:gd name="T5" fmla="*/ 82551 h 495119"/>
                <a:gd name="T6" fmla="*/ 528637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08</a:t>
              </a:r>
              <a:endParaRPr lang="zh-CN" altLang="en-US" sz="209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8"/>
            <p:cNvSpPr>
              <a:spLocks noChangeArrowheads="1"/>
            </p:cNvSpPr>
            <p:nvPr/>
          </p:nvSpPr>
          <p:spPr bwMode="auto">
            <a:xfrm>
              <a:off x="3215121" y="4719853"/>
              <a:ext cx="5858166" cy="57262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网络编程验收</a:t>
              </a: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695325" y="138784"/>
            <a:ext cx="2825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课程概述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923691" y="2157408"/>
            <a:ext cx="8568000" cy="2124000"/>
            <a:chOff x="60448" y="3415064"/>
            <a:chExt cx="8091147" cy="2088000"/>
          </a:xfrm>
        </p:grpSpPr>
        <p:sp>
          <p:nvSpPr>
            <p:cNvPr id="2" name="文本框 1"/>
            <p:cNvSpPr txBox="1"/>
            <p:nvPr/>
          </p:nvSpPr>
          <p:spPr>
            <a:xfrm>
              <a:off x="143392" y="3635467"/>
              <a:ext cx="923330" cy="1762744"/>
            </a:xfrm>
            <a:prstGeom prst="rect">
              <a:avLst/>
            </a:prstGeom>
            <a:noFill/>
            <a:ln w="38100">
              <a:noFill/>
              <a:prstDash val="lgDash"/>
            </a:ln>
          </p:spPr>
          <p:txBody>
            <a:bodyPr rot="0" spcFirstLastPara="0" vertOverflow="overflow" horzOverflow="overflow" vert="eaVert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algn="ctr">
                <a:defRPr sz="2400"/>
              </a:lvl1pPr>
            </a:lstStyle>
            <a:p>
              <a:r>
                <a:rPr lang="zh-CN" altLang="en-US" sz="1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（硬件实验室）</a:t>
              </a:r>
              <a:endParaRPr lang="en-US" altLang="zh-CN" sz="18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小班授课</a:t>
              </a:r>
              <a:endParaRPr lang="en-US" altLang="zh-CN" sz="28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矩形: 单圆角 50"/>
            <p:cNvSpPr/>
            <p:nvPr/>
          </p:nvSpPr>
          <p:spPr>
            <a:xfrm flipH="1">
              <a:off x="60448" y="3415064"/>
              <a:ext cx="8091147" cy="2088000"/>
            </a:xfrm>
            <a:prstGeom prst="round1Rect">
              <a:avLst/>
            </a:prstGeom>
            <a:noFill/>
            <a:ln w="38100">
              <a:solidFill>
                <a:srgbClr val="FF0000"/>
              </a:solidFill>
              <a:prstDash val="lg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 dirty="0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343834" y="4439382"/>
            <a:ext cx="6938783" cy="1221254"/>
            <a:chOff x="2343834" y="4439382"/>
            <a:chExt cx="6938783" cy="1221254"/>
          </a:xfrm>
        </p:grpSpPr>
        <p:grpSp>
          <p:nvGrpSpPr>
            <p:cNvPr id="32" name="组合 31"/>
            <p:cNvGrpSpPr/>
            <p:nvPr/>
          </p:nvGrpSpPr>
          <p:grpSpPr>
            <a:xfrm>
              <a:off x="2343834" y="5160767"/>
              <a:ext cx="6036931" cy="499869"/>
              <a:chOff x="2161997" y="3854030"/>
              <a:chExt cx="6936455" cy="574351"/>
            </a:xfrm>
          </p:grpSpPr>
          <p:sp>
            <p:nvSpPr>
              <p:cNvPr id="33" name="单圆角矩形 5"/>
              <p:cNvSpPr>
                <a:spLocks noChangeArrowheads="1"/>
              </p:cNvSpPr>
              <p:nvPr/>
            </p:nvSpPr>
            <p:spPr bwMode="auto">
              <a:xfrm flipH="1">
                <a:off x="2161997" y="3854030"/>
                <a:ext cx="1071853" cy="570788"/>
              </a:xfrm>
              <a:custGeom>
                <a:avLst/>
                <a:gdLst>
                  <a:gd name="T0" fmla="*/ 0 w 528877"/>
                  <a:gd name="T1" fmla="*/ 0 h 495119"/>
                  <a:gd name="T2" fmla="*/ 446154 w 528877"/>
                  <a:gd name="T3" fmla="*/ 0 h 495119"/>
                  <a:gd name="T4" fmla="*/ 528638 w 528877"/>
                  <a:gd name="T5" fmla="*/ 82287 h 495119"/>
                  <a:gd name="T6" fmla="*/ 528638 w 528877"/>
                  <a:gd name="T7" fmla="*/ 493713 h 495119"/>
                  <a:gd name="T8" fmla="*/ 0 w 528877"/>
                  <a:gd name="T9" fmla="*/ 493713 h 495119"/>
                  <a:gd name="T10" fmla="*/ 0 w 528877"/>
                  <a:gd name="T11" fmla="*/ 0 h 495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8877"/>
                  <a:gd name="T19" fmla="*/ 0 h 495119"/>
                  <a:gd name="T20" fmla="*/ 528877 w 528877"/>
                  <a:gd name="T21" fmla="*/ 495119 h 495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8877" h="495119">
                    <a:moveTo>
                      <a:pt x="0" y="0"/>
                    </a:moveTo>
                    <a:lnTo>
                      <a:pt x="446356" y="0"/>
                    </a:lnTo>
                    <a:cubicBezTo>
                      <a:pt x="491931" y="0"/>
                      <a:pt x="528877" y="36946"/>
                      <a:pt x="528877" y="82521"/>
                    </a:cubicBezTo>
                    <a:lnTo>
                      <a:pt x="528877" y="495119"/>
                    </a:lnTo>
                    <a:lnTo>
                      <a:pt x="0" y="495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buFont typeface="Arial" panose="020B0604020202020204" pitchFamily="34" charset="0"/>
                  <a:buNone/>
                </a:pPr>
                <a:r>
                  <a:rPr lang="en-US" altLang="zh-CN" sz="209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07</a:t>
                </a:r>
                <a:endParaRPr lang="zh-CN" altLang="en-US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矩形 6"/>
              <p:cNvSpPr>
                <a:spLocks noChangeArrowheads="1"/>
              </p:cNvSpPr>
              <p:nvPr/>
            </p:nvSpPr>
            <p:spPr bwMode="auto">
              <a:xfrm>
                <a:off x="3240286" y="3857593"/>
                <a:ext cx="5858166" cy="570788"/>
              </a:xfrm>
              <a:prstGeom prst="rect">
                <a:avLst/>
              </a:prstGeom>
              <a:solidFill>
                <a:srgbClr val="DCE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zh-CN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Socket</a:t>
                </a:r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网络编程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3251289" y="4439382"/>
              <a:ext cx="6031328" cy="500716"/>
              <a:chOff x="3215121" y="4717150"/>
              <a:chExt cx="6930016" cy="575323"/>
            </a:xfrm>
          </p:grpSpPr>
          <p:sp>
            <p:nvSpPr>
              <p:cNvPr id="54" name="单圆角矩形 7"/>
              <p:cNvSpPr>
                <a:spLocks noChangeArrowheads="1"/>
              </p:cNvSpPr>
              <p:nvPr/>
            </p:nvSpPr>
            <p:spPr bwMode="auto">
              <a:xfrm>
                <a:off x="9073286" y="4717150"/>
                <a:ext cx="1071851" cy="572622"/>
              </a:xfrm>
              <a:custGeom>
                <a:avLst/>
                <a:gdLst>
                  <a:gd name="T0" fmla="*/ 0 w 528877"/>
                  <a:gd name="T1" fmla="*/ 0 h 495119"/>
                  <a:gd name="T2" fmla="*/ 446153 w 528877"/>
                  <a:gd name="T3" fmla="*/ 0 h 495119"/>
                  <a:gd name="T4" fmla="*/ 528637 w 528877"/>
                  <a:gd name="T5" fmla="*/ 82551 h 495119"/>
                  <a:gd name="T6" fmla="*/ 528637 w 528877"/>
                  <a:gd name="T7" fmla="*/ 495300 h 495119"/>
                  <a:gd name="T8" fmla="*/ 0 w 528877"/>
                  <a:gd name="T9" fmla="*/ 495300 h 495119"/>
                  <a:gd name="T10" fmla="*/ 0 w 528877"/>
                  <a:gd name="T11" fmla="*/ 0 h 4951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28877"/>
                  <a:gd name="T19" fmla="*/ 0 h 495119"/>
                  <a:gd name="T20" fmla="*/ 528877 w 528877"/>
                  <a:gd name="T21" fmla="*/ 495119 h 4951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28877" h="495119">
                    <a:moveTo>
                      <a:pt x="0" y="0"/>
                    </a:moveTo>
                    <a:lnTo>
                      <a:pt x="446356" y="0"/>
                    </a:lnTo>
                    <a:cubicBezTo>
                      <a:pt x="491931" y="0"/>
                      <a:pt x="528877" y="36946"/>
                      <a:pt x="528877" y="82521"/>
                    </a:cubicBezTo>
                    <a:lnTo>
                      <a:pt x="528877" y="495119"/>
                    </a:lnTo>
                    <a:lnTo>
                      <a:pt x="0" y="495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="ctr"/>
              <a:lstStyle/>
              <a:p>
                <a:pPr algn="ctr" eaLnBrk="1" hangingPunct="1">
                  <a:buFont typeface="Arial" panose="020B0604020202020204" pitchFamily="34" charset="0"/>
                  <a:buNone/>
                </a:pPr>
                <a:r>
                  <a:rPr lang="en-US" altLang="zh-CN" sz="209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09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矩形 8"/>
              <p:cNvSpPr>
                <a:spLocks noChangeArrowheads="1"/>
              </p:cNvSpPr>
              <p:nvPr/>
            </p:nvSpPr>
            <p:spPr bwMode="auto">
              <a:xfrm>
                <a:off x="3215121" y="4719850"/>
                <a:ext cx="5858166" cy="572623"/>
              </a:xfrm>
              <a:prstGeom prst="rect">
                <a:avLst/>
              </a:prstGeom>
              <a:solidFill>
                <a:srgbClr val="DCE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zh-CN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TCP</a:t>
                </a:r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协议分析</a:t>
                </a:r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>
            <a:off x="2012367" y="628581"/>
            <a:ext cx="9750071" cy="3651110"/>
            <a:chOff x="2012367" y="628581"/>
            <a:chExt cx="9750071" cy="3651110"/>
          </a:xfrm>
        </p:grpSpPr>
        <p:sp>
          <p:nvSpPr>
            <p:cNvPr id="3" name="矩形: 单圆角 2"/>
            <p:cNvSpPr/>
            <p:nvPr/>
          </p:nvSpPr>
          <p:spPr>
            <a:xfrm>
              <a:off x="2012367" y="628581"/>
              <a:ext cx="8569326" cy="1440000"/>
            </a:xfrm>
            <a:prstGeom prst="round1Rect">
              <a:avLst/>
            </a:prstGeom>
            <a:noFill/>
            <a:ln w="38100">
              <a:solidFill>
                <a:srgbClr val="FF0000"/>
              </a:solidFill>
              <a:prstDash val="lgDash"/>
            </a:ln>
          </p:spPr>
          <p:txBody>
            <a:bodyPr rtlCol="0" anchor="ctr"/>
            <a:lstStyle/>
            <a:p>
              <a:pPr algn="ctr"/>
              <a:endParaRPr lang="zh-CN" altLang="en-US" sz="2400" dirty="0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10062230" y="2096713"/>
              <a:ext cx="1700208" cy="2182978"/>
              <a:chOff x="10062230" y="2096713"/>
              <a:chExt cx="1700208" cy="2182978"/>
            </a:xfrm>
          </p:grpSpPr>
          <p:sp>
            <p:nvSpPr>
              <p:cNvPr id="41" name="文本框 40"/>
              <p:cNvSpPr txBox="1"/>
              <p:nvPr/>
            </p:nvSpPr>
            <p:spPr>
              <a:xfrm>
                <a:off x="10869886" y="2276666"/>
                <a:ext cx="892552" cy="2003025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（大机房）</a:t>
                </a:r>
                <a:endParaRPr lang="en-US" altLang="zh-CN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/>
                <a:r>
                  <a:rPr lang="zh-CN" altLang="en-US" sz="2800" b="1" dirty="0">
                    <a:solidFill>
                      <a:schemeClr val="tx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大班授课</a:t>
                </a:r>
                <a:endParaRPr lang="en-US" altLang="zh-CN" sz="28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5" name="直接连接符 14"/>
              <p:cNvCxnSpPr/>
              <p:nvPr/>
            </p:nvCxnSpPr>
            <p:spPr>
              <a:xfrm>
                <a:off x="10062230" y="2096713"/>
                <a:ext cx="894695" cy="1218567"/>
              </a:xfrm>
              <a:prstGeom prst="line">
                <a:avLst/>
              </a:prstGeom>
              <a:ln w="38100">
                <a:solidFill>
                  <a:srgbClr val="FF0000"/>
                </a:solidFill>
                <a:prstDash val="dash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组合 23"/>
          <p:cNvGrpSpPr/>
          <p:nvPr/>
        </p:nvGrpSpPr>
        <p:grpSpPr>
          <a:xfrm>
            <a:off x="2012368" y="3316997"/>
            <a:ext cx="8944557" cy="3168985"/>
            <a:chOff x="2012368" y="3316997"/>
            <a:chExt cx="8944557" cy="3168985"/>
          </a:xfrm>
        </p:grpSpPr>
        <p:sp>
          <p:nvSpPr>
            <p:cNvPr id="52" name="矩形: 单圆角 51"/>
            <p:cNvSpPr/>
            <p:nvPr/>
          </p:nvSpPr>
          <p:spPr>
            <a:xfrm>
              <a:off x="2012368" y="4361982"/>
              <a:ext cx="8569326" cy="2124000"/>
            </a:xfrm>
            <a:prstGeom prst="round1Rect">
              <a:avLst/>
            </a:prstGeom>
            <a:noFill/>
            <a:ln w="38100">
              <a:solidFill>
                <a:srgbClr val="FF0000"/>
              </a:solidFill>
              <a:prstDash val="lg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 dirty="0"/>
            </a:p>
          </p:txBody>
        </p:sp>
        <p:cxnSp>
          <p:nvCxnSpPr>
            <p:cNvPr id="56" name="直接连接符 55"/>
            <p:cNvCxnSpPr/>
            <p:nvPr/>
          </p:nvCxnSpPr>
          <p:spPr>
            <a:xfrm flipV="1">
              <a:off x="10020300" y="3316997"/>
              <a:ext cx="936625" cy="1043268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495"/>
    </mc:Choice>
    <mc:Fallback xmlns="">
      <p:transition spd="slow" advTm="534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24125"/>
            <a:ext cx="12192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308626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3763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二、实验过程及考核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>
            <a:fillRect/>
          </a:stretch>
        </p:blipFill>
        <p:spPr>
          <a:xfrm>
            <a:off x="265362" y="161028"/>
            <a:ext cx="2517275" cy="67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8"/>
    </mc:Choice>
    <mc:Fallback xmlns="">
      <p:transition spd="slow" advTm="27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695325" y="138784"/>
            <a:ext cx="3748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实验过程及考核</a:t>
            </a:r>
          </a:p>
        </p:txBody>
      </p:sp>
      <p:grpSp>
        <p:nvGrpSpPr>
          <p:cNvPr id="2" name="组合 28"/>
          <p:cNvGrpSpPr/>
          <p:nvPr/>
        </p:nvGrpSpPr>
        <p:grpSpPr>
          <a:xfrm>
            <a:off x="701857" y="2839008"/>
            <a:ext cx="11116331" cy="1321746"/>
            <a:chOff x="1958757" y="2119740"/>
            <a:chExt cx="9368288" cy="573487"/>
          </a:xfrm>
        </p:grpSpPr>
        <p:sp>
          <p:nvSpPr>
            <p:cNvPr id="30" name="单圆角矩形 3"/>
            <p:cNvSpPr>
              <a:spLocks noChangeArrowheads="1"/>
            </p:cNvSpPr>
            <p:nvPr/>
          </p:nvSpPr>
          <p:spPr bwMode="auto">
            <a:xfrm flipH="1">
              <a:off x="1958757" y="2120173"/>
              <a:ext cx="1280223" cy="573054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</a:t>
              </a:r>
              <a:endPara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指导书</a:t>
              </a:r>
            </a:p>
          </p:txBody>
        </p:sp>
        <p:sp>
          <p:nvSpPr>
            <p:cNvPr id="31" name="矩形 4"/>
            <p:cNvSpPr>
              <a:spLocks noChangeArrowheads="1"/>
            </p:cNvSpPr>
            <p:nvPr/>
          </p:nvSpPr>
          <p:spPr bwMode="auto">
            <a:xfrm>
              <a:off x="3230432" y="2119740"/>
              <a:ext cx="8096613" cy="573054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依据</a:t>
              </a:r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《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指导书</a:t>
              </a:r>
              <a:r>
                <a:rPr lang="en-US" altLang="zh-CN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》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完成实验内容，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实验（必做）与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进阶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实验（选做，占总分，想得</a:t>
              </a:r>
              <a:r>
                <a:rPr lang="en-US" altLang="zh-CN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A+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需完成）。</a:t>
              </a:r>
            </a:p>
          </p:txBody>
        </p:sp>
      </p:grpSp>
      <p:grpSp>
        <p:nvGrpSpPr>
          <p:cNvPr id="3" name="组合 31"/>
          <p:cNvGrpSpPr/>
          <p:nvPr/>
        </p:nvGrpSpPr>
        <p:grpSpPr>
          <a:xfrm>
            <a:off x="695325" y="4688668"/>
            <a:ext cx="11122862" cy="1328938"/>
            <a:chOff x="1936672" y="3795734"/>
            <a:chExt cx="9247646" cy="576673"/>
          </a:xfrm>
        </p:grpSpPr>
        <p:sp>
          <p:nvSpPr>
            <p:cNvPr id="33" name="单圆角矩形 5"/>
            <p:cNvSpPr>
              <a:spLocks noChangeArrowheads="1"/>
            </p:cNvSpPr>
            <p:nvPr/>
          </p:nvSpPr>
          <p:spPr bwMode="auto">
            <a:xfrm flipH="1">
              <a:off x="1936672" y="3795734"/>
              <a:ext cx="1262995" cy="573116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287 h 495119"/>
                <a:gd name="T6" fmla="*/ 528638 w 528877"/>
                <a:gd name="T7" fmla="*/ 493713 h 495119"/>
                <a:gd name="T8" fmla="*/ 0 w 528877"/>
                <a:gd name="T9" fmla="*/ 493713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实验报告</a:t>
              </a:r>
              <a:endParaRPr lang="en-US" altLang="zh-CN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6"/>
            <p:cNvSpPr>
              <a:spLocks noChangeArrowheads="1"/>
            </p:cNvSpPr>
            <p:nvPr/>
          </p:nvSpPr>
          <p:spPr bwMode="auto">
            <a:xfrm>
              <a:off x="3202095" y="3799291"/>
              <a:ext cx="7982223" cy="573116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记录实验过程（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截屏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、拍照）、结果和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讨论分析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，注明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个人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承担工作。</a:t>
              </a:r>
              <a:endPara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40"/>
          <p:cNvGrpSpPr/>
          <p:nvPr/>
        </p:nvGrpSpPr>
        <p:grpSpPr>
          <a:xfrm>
            <a:off x="695324" y="948821"/>
            <a:ext cx="11122866" cy="1320744"/>
            <a:chOff x="1980589" y="2196132"/>
            <a:chExt cx="7023842" cy="765233"/>
          </a:xfrm>
        </p:grpSpPr>
        <p:sp>
          <p:nvSpPr>
            <p:cNvPr id="42" name="单圆角矩形 3"/>
            <p:cNvSpPr>
              <a:spLocks noChangeArrowheads="1"/>
            </p:cNvSpPr>
            <p:nvPr/>
          </p:nvSpPr>
          <p:spPr bwMode="auto">
            <a:xfrm flipH="1">
              <a:off x="1980589" y="2196132"/>
              <a:ext cx="956999" cy="76523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组织</a:t>
              </a:r>
            </a:p>
          </p:txBody>
        </p:sp>
        <p:sp>
          <p:nvSpPr>
            <p:cNvPr id="43" name="矩形 4"/>
            <p:cNvSpPr>
              <a:spLocks noChangeArrowheads="1"/>
            </p:cNvSpPr>
            <p:nvPr/>
          </p:nvSpPr>
          <p:spPr bwMode="auto">
            <a:xfrm>
              <a:off x="2937588" y="2196132"/>
              <a:ext cx="6066843" cy="76523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单人</a:t>
              </a:r>
              <a:r>
                <a:rPr lang="en-US" altLang="zh-CN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分组，承担不同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任务，每人都要进行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操作、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报告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撰写等。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32"/>
    </mc:Choice>
    <mc:Fallback xmlns="">
      <p:transition spd="slow" advTm="48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695325" y="138784"/>
            <a:ext cx="3748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实验过程及考核</a:t>
            </a:r>
          </a:p>
        </p:txBody>
      </p:sp>
      <p:sp>
        <p:nvSpPr>
          <p:cNvPr id="14" name="单圆角矩形 3"/>
          <p:cNvSpPr>
            <a:spLocks noChangeArrowheads="1"/>
          </p:cNvSpPr>
          <p:nvPr/>
        </p:nvSpPr>
        <p:spPr bwMode="auto">
          <a:xfrm flipH="1">
            <a:off x="701854" y="865255"/>
            <a:ext cx="1456879" cy="2563745"/>
          </a:xfrm>
          <a:custGeom>
            <a:avLst/>
            <a:gdLst>
              <a:gd name="T0" fmla="*/ 0 w 528877"/>
              <a:gd name="T1" fmla="*/ 0 h 495119"/>
              <a:gd name="T2" fmla="*/ 446154 w 528877"/>
              <a:gd name="T3" fmla="*/ 0 h 495119"/>
              <a:gd name="T4" fmla="*/ 528638 w 528877"/>
              <a:gd name="T5" fmla="*/ 82551 h 495119"/>
              <a:gd name="T6" fmla="*/ 528638 w 528877"/>
              <a:gd name="T7" fmla="*/ 495300 h 495119"/>
              <a:gd name="T8" fmla="*/ 0 w 528877"/>
              <a:gd name="T9" fmla="*/ 495300 h 495119"/>
              <a:gd name="T10" fmla="*/ 0 w 528877"/>
              <a:gd name="T11" fmla="*/ 0 h 49511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28877"/>
              <a:gd name="T19" fmla="*/ 0 h 495119"/>
              <a:gd name="T20" fmla="*/ 528877 w 528877"/>
              <a:gd name="T21" fmla="*/ 495119 h 49511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28877" h="495119">
                <a:moveTo>
                  <a:pt x="0" y="0"/>
                </a:moveTo>
                <a:lnTo>
                  <a:pt x="446356" y="0"/>
                </a:lnTo>
                <a:cubicBezTo>
                  <a:pt x="491931" y="0"/>
                  <a:pt x="528877" y="36946"/>
                  <a:pt x="528877" y="82521"/>
                </a:cubicBezTo>
                <a:lnTo>
                  <a:pt x="528877" y="495119"/>
                </a:lnTo>
                <a:lnTo>
                  <a:pt x="0" y="495119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="ctr"/>
          <a:lstStyle/>
          <a:p>
            <a:pPr algn="ctr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158737" y="1584507"/>
            <a:ext cx="9240779" cy="1844494"/>
            <a:chOff x="2158737" y="1450395"/>
            <a:chExt cx="9240779" cy="2254146"/>
          </a:xfrm>
        </p:grpSpPr>
        <p:sp>
          <p:nvSpPr>
            <p:cNvPr id="23" name="矩形 4"/>
            <p:cNvSpPr>
              <a:spLocks noChangeArrowheads="1"/>
            </p:cNvSpPr>
            <p:nvPr/>
          </p:nvSpPr>
          <p:spPr bwMode="auto">
            <a:xfrm>
              <a:off x="2158737" y="1450395"/>
              <a:ext cx="8686781" cy="2254146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anchor="t" anchorCtr="0"/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取得计算机网络相关国家</a:t>
              </a:r>
              <a:r>
                <a:rPr lang="en-US" altLang="zh-CN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行业</a:t>
              </a:r>
              <a:r>
                <a:rPr lang="en-US" altLang="zh-CN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/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厂商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认证或资格证书，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参与网络相关</a:t>
              </a: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竞赛获奖：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如全国计算机等级考试（网络工程师）、</a:t>
              </a:r>
              <a:r>
                <a:rPr lang="en-US" altLang="zh-CN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Cisco CCNA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、华为</a:t>
              </a:r>
              <a:r>
                <a:rPr lang="en-US" altLang="zh-CN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ICT</a:t>
              </a:r>
              <a:r>
                <a:rPr lang="zh-CN" altLang="en-US" sz="2400" b="1" dirty="0">
                  <a:solidFill>
                    <a:schemeClr val="tx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大赛等。</a:t>
              </a:r>
              <a:endParaRPr lang="zh-CN" altLang="en-US" sz="24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845518" y="1975035"/>
              <a:ext cx="553998" cy="89062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  分</a:t>
              </a: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2636" t="4101" r="2168" b="3773"/>
          <a:stretch/>
        </p:blipFill>
        <p:spPr>
          <a:xfrm>
            <a:off x="1816609" y="3812464"/>
            <a:ext cx="3946000" cy="26659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138" y="3812464"/>
            <a:ext cx="3897611" cy="2665950"/>
          </a:xfrm>
          <a:prstGeom prst="rect">
            <a:avLst/>
          </a:prstGeom>
        </p:spPr>
      </p:pic>
      <p:sp>
        <p:nvSpPr>
          <p:cNvPr id="15" name="矩形 4"/>
          <p:cNvSpPr>
            <a:spLocks noChangeArrowheads="1"/>
          </p:cNvSpPr>
          <p:nvPr/>
        </p:nvSpPr>
        <p:spPr bwMode="auto">
          <a:xfrm>
            <a:off x="2158737" y="865256"/>
            <a:ext cx="9327869" cy="719250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24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验收情况、实验报告、互动交流</a:t>
            </a:r>
            <a:r>
              <a:rPr lang="zh-CN" altLang="en-US" sz="24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及考勤等。</a:t>
            </a:r>
            <a:endParaRPr lang="zh-CN" altLang="en-US" sz="2400" b="1" dirty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38"/>
    </mc:Choice>
    <mc:Fallback xmlns="">
      <p:transition spd="slow" advTm="9003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5654" y="1736036"/>
            <a:ext cx="6808785" cy="477078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95325" y="138784"/>
            <a:ext cx="8461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实验报告</a:t>
            </a:r>
            <a:r>
              <a:rPr lang="en-US" altLang="zh-CN" dirty="0"/>
              <a:t>—</a:t>
            </a:r>
            <a:r>
              <a:rPr lang="zh-CN" altLang="en-US" dirty="0"/>
              <a:t>网络拓扑图的绘制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95325" y="873125"/>
            <a:ext cx="5493441" cy="3551828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本地绘制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Microsoft Visio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在线绘制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hlinkClick r:id="rId3"/>
              </a:rPr>
              <a:t>https://www.draw.io/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hlinkClick r:id="rId4"/>
              </a:rPr>
              <a:t>https://www.bullmind.com/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手绘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10"/>
    </mc:Choice>
    <mc:Fallback xmlns="">
      <p:transition spd="slow" advTm="342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5" y="873127"/>
            <a:ext cx="10881360" cy="1669776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报告模板：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按报告模板的要求填写报告，该文字的写文字，让标注的一定要标注，该贴图的贴图（尽可能截屏，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看不清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且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特别大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-4763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在命令行窗口执行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–a”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，把命令及其输出用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贴在框内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5325" y="138784"/>
            <a:ext cx="3894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E1E50B-64AC-4828-B7D9-A4195ECAD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010" y="3265621"/>
            <a:ext cx="8621487" cy="2839086"/>
          </a:xfrm>
          <a:prstGeom prst="rect">
            <a:avLst/>
          </a:prstGeom>
          <a:noFill/>
          <a:ln w="38100">
            <a:solidFill>
              <a:srgbClr val="000000"/>
            </a:solidFill>
            <a:prstDash val="solid"/>
            <a:miter lim="800000"/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D:\lessons\NL2425&gt;arp -a</a:t>
            </a:r>
          </a:p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192.168.1.170 --- 0xe</a:t>
            </a:r>
          </a:p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Internet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物理地址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</a:p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192.168.1.1          38-f6-cf-71-33-9c  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</a:p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192.168.1.255      ff-ff-ff-ff-ff-ff         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</a:p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224.0.0.22            01-00-5e-00-00-16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</a:t>
            </a:r>
          </a:p>
          <a:p>
            <a:pPr indent="444500" fontAlgn="auto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030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05"/>
    </mc:Choice>
    <mc:Fallback xmlns="">
      <p:transition spd="slow" advTm="220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5" y="1624853"/>
            <a:ext cx="10773864" cy="4863037"/>
          </a:xfrm>
          <a:prstGeom prst="rect">
            <a:avLst/>
          </a:prstGeom>
          <a:noFill/>
          <a:ln w="38100">
            <a:solidFill>
              <a:srgbClr val="000000"/>
            </a:solidFill>
            <a:prstDash val="solid"/>
            <a:miter lim="800000"/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t"/>
          <a:lstStyle/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D:\lessons\NL2425&gt;route print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===================================================</a:t>
            </a:r>
          </a:p>
          <a:p>
            <a:pPr indent="269875">
              <a:lnSpc>
                <a:spcPts val="2700"/>
              </a:lnSpc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接口列表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14...28 cd c4 d2 90 cf ......Realtek 8822CE Wireless LAN 802.11ac PCI-E NIC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4…..28 cd c4 d2 90 d0 ....Bluetooth Device (Personal Area Network)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1..........................................Software Loopback Interface 1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====================================================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IPv4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路由表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====================================================</a:t>
            </a:r>
          </a:p>
          <a:p>
            <a:pPr indent="269875">
              <a:lnSpc>
                <a:spcPts val="2700"/>
              </a:lnSpc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活动路由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indent="269875">
              <a:lnSpc>
                <a:spcPts val="2700"/>
              </a:lnSpc>
            </a:pP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网络目标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网络掩码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网关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跃点数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***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0.0.0.0                0.0.0.0                    10.195.132.129    10.195.132.234     35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10.195.132.0      255.255.255.0       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在链路上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10.195.132.234    291</a:t>
            </a:r>
          </a:p>
          <a:p>
            <a:pPr indent="269875">
              <a:lnSpc>
                <a:spcPts val="2700"/>
              </a:lnSpc>
            </a:pP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10.195.132.255  255.255.255.255   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在链路上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10.195.132.234    291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F7DB49-368F-403C-BF96-BB5000C681AF}"/>
              </a:ext>
            </a:extLst>
          </p:cNvPr>
          <p:cNvSpPr/>
          <p:nvPr/>
        </p:nvSpPr>
        <p:spPr>
          <a:xfrm>
            <a:off x="695325" y="628386"/>
            <a:ext cx="10801350" cy="97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查看路由表命令及输出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文字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贴在框内，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出默认路由（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条目开头标记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***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B314CF-9D95-4C08-B6D0-5007D83FF130}"/>
              </a:ext>
            </a:extLst>
          </p:cNvPr>
          <p:cNvSpPr txBox="1"/>
          <p:nvPr/>
        </p:nvSpPr>
        <p:spPr>
          <a:xfrm>
            <a:off x="695325" y="138784"/>
            <a:ext cx="3894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49"/>
    </mc:Choice>
    <mc:Fallback xmlns="">
      <p:transition spd="slow" advTm="115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95325" y="138784"/>
            <a:ext cx="3894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</a:p>
        </p:txBody>
      </p:sp>
      <p:pic>
        <p:nvPicPr>
          <p:cNvPr id="6" name="图片 19">
            <a:extLst>
              <a:ext uri="{FF2B5EF4-FFF2-40B4-BE49-F238E27FC236}">
                <a16:creationId xmlns:a16="http://schemas.microsoft.com/office/drawing/2014/main" id="{1A46C37F-2C95-4E8B-864E-A416674D9C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46"/>
          <a:stretch/>
        </p:blipFill>
        <p:spPr>
          <a:xfrm>
            <a:off x="695325" y="1506584"/>
            <a:ext cx="10759939" cy="235521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8CCED47-7CAE-4D65-93FE-894D3A01D69E}"/>
              </a:ext>
            </a:extLst>
          </p:cNvPr>
          <p:cNvSpPr/>
          <p:nvPr/>
        </p:nvSpPr>
        <p:spPr>
          <a:xfrm>
            <a:off x="226423" y="873125"/>
            <a:ext cx="10759938" cy="511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1950" indent="-4763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筛选出相关的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icmp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报文，贴图（只显示过滤器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分组列表）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05"/>
    </mc:Choice>
    <mc:Fallback xmlns="">
      <p:transition spd="slow" advTm="220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5" y="873125"/>
            <a:ext cx="10881324" cy="4689877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提交链接：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思源学堂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截止日期：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各次实验结束后一周内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文件命名：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609600" indent="37338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个人：提交者姓名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+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实验号（如：张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37338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小组：组号+提交者姓名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+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实验号（如：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2-3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张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5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，组内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提交）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5325" y="138784"/>
            <a:ext cx="3894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384"/>
    </mc:Choice>
    <mc:Fallback xmlns="">
      <p:transition spd="slow" advTm="303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5" y="873126"/>
            <a:ext cx="10881360" cy="4357242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324000" anchor="t"/>
          <a:lstStyle/>
          <a:p>
            <a:pPr marL="342900" indent="-342900" algn="l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的使用：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合理使用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，不能大篇幅全部复制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解答结果，自动评分会检查告警！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、几个人的内容会相同；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、格式版面检查！不要把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的全部贴了。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提交要求：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361950" lvl="1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提交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docx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格式，大小控制在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10M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之内。</a:t>
            </a:r>
          </a:p>
          <a:p>
            <a:pPr marL="361950" indent="621030" algn="just">
              <a:lnSpc>
                <a:spcPts val="36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使用工具检查和自动评分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，教师人工复核。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5325" y="138784"/>
            <a:ext cx="3894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695325" y="5417177"/>
            <a:ext cx="10881360" cy="735741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及时提交，逾期无效！严禁抄袭！后果严重！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524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175"/>
    </mc:Choice>
    <mc:Fallback xmlns="">
      <p:transition spd="slow" advTm="561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24125"/>
            <a:ext cx="12192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0" y="308632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3763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三、实验环境及工具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859" r="53863"/>
          <a:stretch>
            <a:fillRect/>
          </a:stretch>
        </p:blipFill>
        <p:spPr>
          <a:xfrm>
            <a:off x="265362" y="143775"/>
            <a:ext cx="2517275" cy="67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4"/>
    </mc:Choice>
    <mc:Fallback xmlns="">
      <p:transition spd="slow" advTm="3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  <p:extLst>
    <p:ext uri="{E180D4A7-C9FB-4DFB-919C-405C955672EB}">
      <p14:showEvtLst xmlns:p14="http://schemas.microsoft.com/office/powerpoint/2010/main">
        <p14:playEvt time="0" objId="3"/>
      </p14:showEvt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695325" y="138784"/>
            <a:ext cx="4711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实验环境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—PC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机配置</a:t>
            </a:r>
          </a:p>
        </p:txBody>
      </p:sp>
      <p:grpSp>
        <p:nvGrpSpPr>
          <p:cNvPr id="4" name="组合 40"/>
          <p:cNvGrpSpPr/>
          <p:nvPr/>
        </p:nvGrpSpPr>
        <p:grpSpPr>
          <a:xfrm>
            <a:off x="695324" y="1069599"/>
            <a:ext cx="10613905" cy="900000"/>
            <a:chOff x="1980590" y="2196132"/>
            <a:chExt cx="7023841" cy="765233"/>
          </a:xfrm>
        </p:grpSpPr>
        <p:sp>
          <p:nvSpPr>
            <p:cNvPr id="5" name="单圆角矩形 3"/>
            <p:cNvSpPr>
              <a:spLocks noChangeArrowheads="1"/>
            </p:cNvSpPr>
            <p:nvPr/>
          </p:nvSpPr>
          <p:spPr bwMode="auto">
            <a:xfrm flipH="1">
              <a:off x="1980590" y="2196132"/>
              <a:ext cx="1262995" cy="76523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常用网络命令</a:t>
              </a:r>
            </a:p>
          </p:txBody>
        </p:sp>
        <p:sp>
          <p:nvSpPr>
            <p:cNvPr id="6" name="矩形 4"/>
            <p:cNvSpPr>
              <a:spLocks noChangeArrowheads="1"/>
            </p:cNvSpPr>
            <p:nvPr/>
          </p:nvSpPr>
          <p:spPr bwMode="auto">
            <a:xfrm>
              <a:off x="3230738" y="2196132"/>
              <a:ext cx="5773693" cy="76523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ipconfig, ping, tracert, route, </a:t>
              </a:r>
              <a:r>
                <a:rPr lang="en-US" altLang="zh-CN" sz="2400" b="1" dirty="0" err="1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netsh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netstat, net </a:t>
              </a:r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...</a:t>
              </a:r>
            </a:p>
          </p:txBody>
        </p:sp>
      </p:grpSp>
      <p:grpSp>
        <p:nvGrpSpPr>
          <p:cNvPr id="7" name="组合 40"/>
          <p:cNvGrpSpPr/>
          <p:nvPr/>
        </p:nvGrpSpPr>
        <p:grpSpPr>
          <a:xfrm>
            <a:off x="695324" y="2300709"/>
            <a:ext cx="10613905" cy="900000"/>
            <a:chOff x="1980590" y="2196132"/>
            <a:chExt cx="7023841" cy="765233"/>
          </a:xfrm>
        </p:grpSpPr>
        <p:sp>
          <p:nvSpPr>
            <p:cNvPr id="8" name="单圆角矩形 3"/>
            <p:cNvSpPr>
              <a:spLocks noChangeArrowheads="1"/>
            </p:cNvSpPr>
            <p:nvPr/>
          </p:nvSpPr>
          <p:spPr bwMode="auto">
            <a:xfrm flipH="1">
              <a:off x="1980590" y="2196132"/>
              <a:ext cx="1262995" cy="76523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网络分组捕获软件</a:t>
              </a:r>
              <a:endParaRPr lang="zh-CN" alt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矩形 4"/>
            <p:cNvSpPr>
              <a:spLocks noChangeArrowheads="1"/>
            </p:cNvSpPr>
            <p:nvPr/>
          </p:nvSpPr>
          <p:spPr bwMode="auto">
            <a:xfrm>
              <a:off x="3230738" y="2196132"/>
              <a:ext cx="5773693" cy="76523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Wireshark</a:t>
              </a:r>
            </a:p>
          </p:txBody>
        </p:sp>
      </p:grpSp>
      <p:grpSp>
        <p:nvGrpSpPr>
          <p:cNvPr id="10" name="组合 40"/>
          <p:cNvGrpSpPr/>
          <p:nvPr/>
        </p:nvGrpSpPr>
        <p:grpSpPr>
          <a:xfrm>
            <a:off x="695324" y="3531819"/>
            <a:ext cx="10613905" cy="900000"/>
            <a:chOff x="1980590" y="2196132"/>
            <a:chExt cx="7023841" cy="765233"/>
          </a:xfrm>
        </p:grpSpPr>
        <p:sp>
          <p:nvSpPr>
            <p:cNvPr id="11" name="单圆角矩形 3"/>
            <p:cNvSpPr>
              <a:spLocks noChangeArrowheads="1"/>
            </p:cNvSpPr>
            <p:nvPr/>
          </p:nvSpPr>
          <p:spPr bwMode="auto">
            <a:xfrm flipH="1">
              <a:off x="1980590" y="2196132"/>
              <a:ext cx="1262995" cy="76523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设备配置工具</a:t>
              </a:r>
            </a:p>
          </p:txBody>
        </p:sp>
        <p:sp>
          <p:nvSpPr>
            <p:cNvPr id="12" name="矩形 4"/>
            <p:cNvSpPr>
              <a:spLocks noChangeArrowheads="1"/>
            </p:cNvSpPr>
            <p:nvPr/>
          </p:nvSpPr>
          <p:spPr bwMode="auto">
            <a:xfrm>
              <a:off x="3230738" y="2196132"/>
              <a:ext cx="5773693" cy="76523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putty, telnet</a:t>
              </a:r>
            </a:p>
          </p:txBody>
        </p:sp>
      </p:grpSp>
      <p:grpSp>
        <p:nvGrpSpPr>
          <p:cNvPr id="13" name="组合 40"/>
          <p:cNvGrpSpPr/>
          <p:nvPr/>
        </p:nvGrpSpPr>
        <p:grpSpPr>
          <a:xfrm>
            <a:off x="695324" y="4762930"/>
            <a:ext cx="10613905" cy="900000"/>
            <a:chOff x="1980590" y="2196132"/>
            <a:chExt cx="7023841" cy="765233"/>
          </a:xfrm>
        </p:grpSpPr>
        <p:sp>
          <p:nvSpPr>
            <p:cNvPr id="14" name="单圆角矩形 3"/>
            <p:cNvSpPr>
              <a:spLocks noChangeArrowheads="1"/>
            </p:cNvSpPr>
            <p:nvPr/>
          </p:nvSpPr>
          <p:spPr bwMode="auto">
            <a:xfrm flipH="1">
              <a:off x="1980590" y="2196132"/>
              <a:ext cx="1262995" cy="765233"/>
            </a:xfrm>
            <a:custGeom>
              <a:avLst/>
              <a:gdLst>
                <a:gd name="T0" fmla="*/ 0 w 528877"/>
                <a:gd name="T1" fmla="*/ 0 h 495119"/>
                <a:gd name="T2" fmla="*/ 446154 w 528877"/>
                <a:gd name="T3" fmla="*/ 0 h 495119"/>
                <a:gd name="T4" fmla="*/ 528638 w 528877"/>
                <a:gd name="T5" fmla="*/ 82551 h 495119"/>
                <a:gd name="T6" fmla="*/ 528638 w 528877"/>
                <a:gd name="T7" fmla="*/ 495300 h 495119"/>
                <a:gd name="T8" fmla="*/ 0 w 528877"/>
                <a:gd name="T9" fmla="*/ 495300 h 495119"/>
                <a:gd name="T10" fmla="*/ 0 w 528877"/>
                <a:gd name="T11" fmla="*/ 0 h 4951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877"/>
                <a:gd name="T19" fmla="*/ 0 h 495119"/>
                <a:gd name="T20" fmla="*/ 528877 w 528877"/>
                <a:gd name="T21" fmla="*/ 495119 h 49511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877" h="495119">
                  <a:moveTo>
                    <a:pt x="0" y="0"/>
                  </a:moveTo>
                  <a:lnTo>
                    <a:pt x="446356" y="0"/>
                  </a:lnTo>
                  <a:cubicBezTo>
                    <a:pt x="491931" y="0"/>
                    <a:pt x="528877" y="36946"/>
                    <a:pt x="528877" y="82521"/>
                  </a:cubicBezTo>
                  <a:lnTo>
                    <a:pt x="528877" y="495119"/>
                  </a:lnTo>
                  <a:lnTo>
                    <a:pt x="0" y="4951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编程环境</a:t>
              </a:r>
            </a:p>
          </p:txBody>
        </p:sp>
        <p:sp>
          <p:nvSpPr>
            <p:cNvPr id="15" name="矩形 4"/>
            <p:cNvSpPr>
              <a:spLocks noChangeArrowheads="1"/>
            </p:cNvSpPr>
            <p:nvPr/>
          </p:nvSpPr>
          <p:spPr bwMode="auto">
            <a:xfrm>
              <a:off x="3230738" y="2196132"/>
              <a:ext cx="5773693" cy="765233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en-US" altLang="zh-CN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Python, C/C++, Java... 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53"/>
    </mc:Choice>
    <mc:Fallback xmlns="">
      <p:transition spd="slow" advTm="37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常用网络命令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6" y="728627"/>
            <a:ext cx="10777806" cy="1776035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ipconfig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查看和维护当前计算机的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的配置信息，如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地址、子网掩码和缺省网关等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8" name="图片 7"/>
          <p:cNvPicPr/>
          <p:nvPr/>
        </p:nvPicPr>
        <p:blipFill rotWithShape="1">
          <a:blip r:embed="rId3"/>
          <a:srcRect b="43184"/>
          <a:stretch>
            <a:fillRect/>
          </a:stretch>
        </p:blipFill>
        <p:spPr bwMode="auto">
          <a:xfrm>
            <a:off x="695326" y="2710476"/>
            <a:ext cx="5499025" cy="3370396"/>
          </a:xfrm>
          <a:prstGeom prst="rect">
            <a:avLst/>
          </a:prstGeom>
          <a:ln>
            <a:noFill/>
          </a:ln>
        </p:spPr>
      </p:pic>
      <p:pic>
        <p:nvPicPr>
          <p:cNvPr id="9" name="图片 8"/>
          <p:cNvPicPr/>
          <p:nvPr/>
        </p:nvPicPr>
        <p:blipFill rotWithShape="1">
          <a:blip r:embed="rId4"/>
          <a:srcRect b="26020"/>
          <a:stretch>
            <a:fillRect/>
          </a:stretch>
        </p:blipFill>
        <p:spPr bwMode="auto">
          <a:xfrm>
            <a:off x="5909469" y="983934"/>
            <a:ext cx="5316192" cy="5557659"/>
          </a:xfrm>
          <a:prstGeom prst="rect">
            <a:avLst/>
          </a:prstGeom>
          <a:ln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40"/>
    </mc:Choice>
    <mc:Fallback xmlns="">
      <p:transition spd="slow" advTm="118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常用网络命令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5" y="728627"/>
            <a:ext cx="10579399" cy="1272452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netsh/net</a:t>
            </a: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用于配置管理网络环境、服务、用户、登陆等。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1504522" y="2001079"/>
            <a:ext cx="5969875" cy="4484207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t="24559" b="33259"/>
          <a:stretch>
            <a:fillRect/>
          </a:stretch>
        </p:blipFill>
        <p:spPr>
          <a:xfrm>
            <a:off x="4635974" y="3858869"/>
            <a:ext cx="6315202" cy="768626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28"/>
    </mc:Choice>
    <mc:Fallback xmlns="">
      <p:transition spd="slow" advTm="177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常用网络命令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5" y="728627"/>
            <a:ext cx="10751928" cy="1272452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界面设置网卡参数（快速设置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恢复网络参数）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控制面板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网络和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Internet\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网络连接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b="56568"/>
          <a:stretch>
            <a:fillRect/>
          </a:stretch>
        </p:blipFill>
        <p:spPr>
          <a:xfrm>
            <a:off x="695325" y="2037065"/>
            <a:ext cx="7526029" cy="24914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488" y="831747"/>
            <a:ext cx="4019550" cy="5705475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3291839" y="3597217"/>
            <a:ext cx="2082479" cy="22428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3" name="圆角矩形 12"/>
          <p:cNvSpPr/>
          <p:nvPr/>
        </p:nvSpPr>
        <p:spPr>
          <a:xfrm>
            <a:off x="3291838" y="4183813"/>
            <a:ext cx="2082479" cy="22428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3263669" y="4528473"/>
            <a:ext cx="295893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勾选启用或禁用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IPv4/IPv6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653" y="993672"/>
            <a:ext cx="4419600" cy="554355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9652083" y="6147761"/>
            <a:ext cx="828137" cy="27891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6" name="圆角矩形 15"/>
          <p:cNvSpPr/>
          <p:nvPr/>
        </p:nvSpPr>
        <p:spPr>
          <a:xfrm>
            <a:off x="5244483" y="6145463"/>
            <a:ext cx="828137" cy="27891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6728292" y="5776131"/>
            <a:ext cx="256555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两次确定才能保存配置。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58"/>
    </mc:Choice>
    <mc:Fallback xmlns="">
      <p:transition spd="slow" advTm="179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常用网络命令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6" y="728627"/>
            <a:ext cx="10286100" cy="1272452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GUI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界面设置网卡参数（快速设置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恢复网络参数）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控制面板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网络和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Internet\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网络连接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b="56568"/>
          <a:stretch>
            <a:fillRect/>
          </a:stretch>
        </p:blipFill>
        <p:spPr>
          <a:xfrm>
            <a:off x="695325" y="2029317"/>
            <a:ext cx="7566061" cy="25046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7397" y="1115688"/>
            <a:ext cx="3928125" cy="540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219" y="1135778"/>
            <a:ext cx="4052389" cy="5400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044" y="1172163"/>
            <a:ext cx="4048125" cy="5343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9314022" y="2849074"/>
            <a:ext cx="871267" cy="3795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0263477" y="2715690"/>
            <a:ext cx="1246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地址冲突，设置失败。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20"/>
    </mc:Choice>
    <mc:Fallback xmlns="">
      <p:transition spd="slow" advTm="13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常用网络工具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168" y="2001080"/>
            <a:ext cx="7066127" cy="4495800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6" y="728627"/>
            <a:ext cx="10484508" cy="1272452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抓包工具 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  <a:hlinkClick r:id="rId4"/>
              </a:rPr>
              <a:t>https://www.wireshark.org/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</a:pP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标注 2"/>
          <p:cNvSpPr/>
          <p:nvPr/>
        </p:nvSpPr>
        <p:spPr>
          <a:xfrm>
            <a:off x="7538434" y="4493698"/>
            <a:ext cx="2833352" cy="1353310"/>
          </a:xfrm>
          <a:prstGeom prst="wedgeRectCallout">
            <a:avLst>
              <a:gd name="adj1" fmla="val -50619"/>
              <a:gd name="adj2" fmla="val -77308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网卡选择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查看网卡描述</a:t>
            </a:r>
            <a:endParaRPr lang="en-US" altLang="zh-CN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是否有数据收发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14"/>
    </mc:Choice>
    <mc:Fallback xmlns="">
      <p:transition spd="slow" advTm="226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常用网络工具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932" y="935033"/>
            <a:ext cx="8501062" cy="5434074"/>
          </a:xfrm>
          <a:prstGeom prst="rect">
            <a:avLst/>
          </a:prstGeom>
        </p:spPr>
      </p:pic>
      <p:sp>
        <p:nvSpPr>
          <p:cNvPr id="5" name="矩形标注 2"/>
          <p:cNvSpPr/>
          <p:nvPr/>
        </p:nvSpPr>
        <p:spPr>
          <a:xfrm>
            <a:off x="8016553" y="2155039"/>
            <a:ext cx="1439545" cy="550545"/>
          </a:xfrm>
          <a:prstGeom prst="wedgeRectCallout">
            <a:avLst>
              <a:gd name="adj1" fmla="val -215005"/>
              <a:gd name="adj2" fmla="val 6778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分组列表</a:t>
            </a:r>
          </a:p>
        </p:txBody>
      </p:sp>
      <p:sp>
        <p:nvSpPr>
          <p:cNvPr id="6" name="矩形标注 3"/>
          <p:cNvSpPr/>
          <p:nvPr/>
        </p:nvSpPr>
        <p:spPr>
          <a:xfrm>
            <a:off x="7857172" y="3519768"/>
            <a:ext cx="1439545" cy="550545"/>
          </a:xfrm>
          <a:prstGeom prst="wedgeRectCallout">
            <a:avLst>
              <a:gd name="adj1" fmla="val -196836"/>
              <a:gd name="adj2" fmla="val -6712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协议封装</a:t>
            </a:r>
          </a:p>
        </p:txBody>
      </p:sp>
      <p:sp>
        <p:nvSpPr>
          <p:cNvPr id="7" name="矩形标注 4"/>
          <p:cNvSpPr/>
          <p:nvPr/>
        </p:nvSpPr>
        <p:spPr>
          <a:xfrm>
            <a:off x="7137400" y="5642534"/>
            <a:ext cx="1439545" cy="550545"/>
          </a:xfrm>
          <a:prstGeom prst="wedgeRectCallout">
            <a:avLst>
              <a:gd name="adj1" fmla="val -160013"/>
              <a:gd name="adj2" fmla="val -204094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原始数据</a:t>
            </a:r>
          </a:p>
        </p:txBody>
      </p:sp>
      <p:sp>
        <p:nvSpPr>
          <p:cNvPr id="9" name="矩形标注 2"/>
          <p:cNvSpPr/>
          <p:nvPr/>
        </p:nvSpPr>
        <p:spPr>
          <a:xfrm>
            <a:off x="4467416" y="659761"/>
            <a:ext cx="5492246" cy="550545"/>
          </a:xfrm>
          <a:prstGeom prst="wedgeRectCallout">
            <a:avLst>
              <a:gd name="adj1" fmla="val -73552"/>
              <a:gd name="adj2" fmla="val 128606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过滤器，数据包筛选（如：</a:t>
            </a:r>
            <a:r>
              <a:rPr lang="en-US" altLang="zh-CN" sz="2400" dirty="0" err="1"/>
              <a:t>arp,ip</a:t>
            </a:r>
            <a:r>
              <a:rPr lang="zh-CN" altLang="en-US" sz="2400" dirty="0"/>
              <a:t>）。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023"/>
    </mc:Choice>
    <mc:Fallback xmlns="">
      <p:transition spd="slow" advTm="320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8" y="1749288"/>
            <a:ext cx="6808785" cy="4770781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95326" y="728626"/>
            <a:ext cx="5572954" cy="3551826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云服务器：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实验六，实验七；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	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与个人电脑一起构建真实网络环境；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有公网地址，提供简单网络服务；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02945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人组一个即可；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5326" y="138784"/>
            <a:ext cx="438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云服务器</a:t>
            </a:r>
          </a:p>
        </p:txBody>
      </p:sp>
    </p:spTree>
    <p:extLst>
      <p:ext uri="{BB962C8B-B14F-4D97-AF65-F5344CB8AC3E}">
        <p14:creationId xmlns:p14="http://schemas.microsoft.com/office/powerpoint/2010/main" val="281347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97"/>
    </mc:Choice>
    <mc:Fallback xmlns="">
      <p:transition spd="slow" advTm="142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438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云服务器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95325" y="728626"/>
            <a:ext cx="11168725" cy="2687435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云服务器：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阿里云：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https://free.aliyun.com/?crowd=personal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腾讯云：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https://cloud.tencent.com/act/pro/free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60045" lvl="1" indent="4572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421" y="2639956"/>
            <a:ext cx="5047579" cy="38307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0238" y="2639956"/>
            <a:ext cx="5562138" cy="38307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文本框 2"/>
          <p:cNvSpPr txBox="1"/>
          <p:nvPr/>
        </p:nvSpPr>
        <p:spPr>
          <a:xfrm>
            <a:off x="2429230" y="4360958"/>
            <a:ext cx="733354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在云服务器控制台设置透传，开放相关服务端口。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087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35"/>
    </mc:Choice>
    <mc:Fallback xmlns="">
      <p:transition spd="slow" advTm="311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编程环境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822769" y="2075328"/>
            <a:ext cx="10601325" cy="1188000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编程环境：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IDE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集成环境，或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编辑器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命令行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代码特别要注意缩进。编辑器可以用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notepad++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822769" y="727329"/>
            <a:ext cx="10601325" cy="1188000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多种编程语言都可以，但强烈推荐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一行代码，顶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行。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语言还非常容易出错。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822769" y="3423327"/>
            <a:ext cx="10601325" cy="1692000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的软件包安装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pip install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-i https://pypi.tuna.tsinghua.edu.cn/simple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Microsoft JhengHei" panose="020B0604030504040204" charset="-120"/>
                <a:cs typeface="Times New Roman" panose="02020603050405020304" pitchFamily="18" charset="0"/>
                <a:sym typeface="+mn-ea"/>
              </a:rPr>
              <a:t>pack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b="1" dirty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                </a:t>
            </a: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为了加快下载速度，可以使用清华的</a:t>
            </a:r>
            <a:r>
              <a:rPr lang="en-US" altLang="zh-CN" sz="2400" b="1" dirty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PyPI</a:t>
            </a:r>
            <a:r>
              <a:rPr lang="zh-CN" altLang="en-US" sz="2400" b="1" dirty="0">
                <a:latin typeface="华文中宋" panose="02010600040101010101" charset="-122"/>
                <a:ea typeface="华文中宋" panose="02010600040101010101" charset="-122"/>
                <a:cs typeface="Times New Roman" panose="02020603050405020304" pitchFamily="18" charset="0"/>
                <a:sym typeface="+mn-ea"/>
              </a:rPr>
              <a:t>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E318EA-252A-4158-A177-54B1BBE91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769" y="5275326"/>
            <a:ext cx="10601325" cy="1188000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参考教程</a:t>
            </a:r>
            <a:b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https://liaoxuefeng.com/books/python/introduction/index.html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261"/>
    </mc:Choice>
    <mc:Fallback xmlns="">
      <p:transition spd="slow" advTm="5726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2" grpId="0" bldLvl="0" animBg="1"/>
      <p:bldP spid="5" grpId="0" bldLvl="0" animBg="1"/>
      <p:bldP spid="7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6" y="138784"/>
            <a:ext cx="3441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编程环境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95325" y="728345"/>
            <a:ext cx="10601325" cy="1841500"/>
          </a:xfrm>
          <a:prstGeom prst="rect">
            <a:avLst/>
          </a:prstGeom>
          <a:solidFill>
            <a:srgbClr val="DCE6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使用：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命令行和参数，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sys.argv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 c.py 202.117.10.144 8888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38" y="2678332"/>
            <a:ext cx="5120189" cy="273902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48"/>
    </mc:Choice>
    <mc:Fallback xmlns="">
      <p:transition spd="slow" advTm="270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95325" y="138784"/>
            <a:ext cx="4979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计算机是如何访问网络的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12059" y="6247853"/>
            <a:ext cx="973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MAC</a:t>
            </a:r>
            <a:r>
              <a:rPr lang="zh-CN" altLang="en-US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地址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637093" y="556902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地址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093451" y="584217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地址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354979" y="5842174"/>
            <a:ext cx="543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路由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2814384" y="5810537"/>
            <a:ext cx="368692" cy="484249"/>
            <a:chOff x="1303635" y="5678013"/>
            <a:chExt cx="368692" cy="484249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1483224" y="5678013"/>
              <a:ext cx="9515" cy="484249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1303635" y="5812415"/>
              <a:ext cx="368692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ARP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2054499" y="802615"/>
            <a:ext cx="8062185" cy="4784065"/>
            <a:chOff x="530498" y="709850"/>
            <a:chExt cx="8062185" cy="4784065"/>
          </a:xfrm>
        </p:grpSpPr>
        <p:grpSp>
          <p:nvGrpSpPr>
            <p:cNvPr id="14" name="组合 13"/>
            <p:cNvGrpSpPr/>
            <p:nvPr/>
          </p:nvGrpSpPr>
          <p:grpSpPr>
            <a:xfrm>
              <a:off x="2172200" y="1516821"/>
              <a:ext cx="5054378" cy="2811652"/>
              <a:chOff x="2172200" y="1516821"/>
              <a:chExt cx="5054378" cy="2811652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2172200" y="1516821"/>
                <a:ext cx="5054378" cy="2811652"/>
                <a:chOff x="2172200" y="2205932"/>
                <a:chExt cx="5054378" cy="2811652"/>
              </a:xfrm>
            </p:grpSpPr>
            <p:pic>
              <p:nvPicPr>
                <p:cNvPr id="22" name="图片 21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0814" t="60279" r="55375" b="22862"/>
                <a:stretch>
                  <a:fillRect/>
                </a:stretch>
              </p:blipFill>
              <p:spPr>
                <a:xfrm>
                  <a:off x="2172200" y="4075420"/>
                  <a:ext cx="1995919" cy="942164"/>
                </a:xfrm>
                <a:prstGeom prst="rect">
                  <a:avLst/>
                </a:prstGeom>
              </p:spPr>
            </p:pic>
            <p:pic>
              <p:nvPicPr>
                <p:cNvPr id="21" name="图片 20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57668" t="60612" r="19789" b="22528"/>
                <a:stretch>
                  <a:fillRect/>
                </a:stretch>
              </p:blipFill>
              <p:spPr>
                <a:xfrm>
                  <a:off x="5336895" y="4073580"/>
                  <a:ext cx="1889683" cy="942164"/>
                </a:xfrm>
                <a:prstGeom prst="rect">
                  <a:avLst/>
                </a:prstGeom>
              </p:spPr>
            </p:pic>
            <p:pic>
              <p:nvPicPr>
                <p:cNvPr id="20" name="图片 19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41463" t="23950" r="37511" b="44661"/>
                <a:stretch>
                  <a:fillRect/>
                </a:stretch>
              </p:blipFill>
              <p:spPr>
                <a:xfrm>
                  <a:off x="3979487" y="2205932"/>
                  <a:ext cx="1762539" cy="1754097"/>
                </a:xfrm>
                <a:prstGeom prst="rect">
                  <a:avLst/>
                </a:prstGeom>
              </p:spPr>
            </p:pic>
          </p:grpSp>
          <p:pic>
            <p:nvPicPr>
              <p:cNvPr id="19" name="图片 18"/>
              <p:cNvPicPr>
                <a:picLocks noChangeAspect="1"/>
              </p:cNvPicPr>
              <p:nvPr/>
            </p:nvPicPr>
            <p:blipFill rotWithShape="1">
              <a:blip r:embed="rId3"/>
              <a:srcRect l="43360" t="55039" r="41542" b="33019"/>
              <a:stretch>
                <a:fillRect/>
              </a:stretch>
            </p:blipFill>
            <p:spPr>
              <a:xfrm>
                <a:off x="4121942" y="3085391"/>
                <a:ext cx="1265584" cy="667343"/>
              </a:xfrm>
              <a:prstGeom prst="rect">
                <a:avLst/>
              </a:prstGeom>
            </p:spPr>
          </p:pic>
        </p:grpSp>
        <p:grpSp>
          <p:nvGrpSpPr>
            <p:cNvPr id="13" name="组合 12"/>
            <p:cNvGrpSpPr/>
            <p:nvPr/>
          </p:nvGrpSpPr>
          <p:grpSpPr>
            <a:xfrm>
              <a:off x="530498" y="709850"/>
              <a:ext cx="8062185" cy="4784065"/>
              <a:chOff x="530498" y="709850"/>
              <a:chExt cx="8062185" cy="4784065"/>
            </a:xfrm>
          </p:grpSpPr>
          <p:grpSp>
            <p:nvGrpSpPr>
              <p:cNvPr id="11" name="组合 10"/>
              <p:cNvGrpSpPr/>
              <p:nvPr/>
            </p:nvGrpSpPr>
            <p:grpSpPr>
              <a:xfrm>
                <a:off x="530498" y="3895746"/>
                <a:ext cx="3539810" cy="1598169"/>
                <a:chOff x="530498" y="3895746"/>
                <a:chExt cx="3539810" cy="1598169"/>
              </a:xfrm>
            </p:grpSpPr>
            <p:sp>
              <p:nvSpPr>
                <p:cNvPr id="27" name="文本框 26"/>
                <p:cNvSpPr txBox="1"/>
                <p:nvPr/>
              </p:nvSpPr>
              <p:spPr>
                <a:xfrm>
                  <a:off x="530498" y="5186138"/>
                  <a:ext cx="199445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1557AE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内网地址</a:t>
                  </a:r>
                  <a:r>
                    <a:rPr lang="en-US" altLang="zh-CN" sz="1400" b="1" dirty="0">
                      <a:solidFill>
                        <a:srgbClr val="1557AE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:192.168.1.101</a:t>
                  </a:r>
                  <a:endParaRPr lang="zh-CN" altLang="en-US" sz="1400" b="1" dirty="0">
                    <a:solidFill>
                      <a:srgbClr val="1557AE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2958079" y="3895746"/>
                  <a:ext cx="1112229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公网地址</a:t>
                  </a:r>
                  <a:endParaRPr lang="en-US" altLang="zh-CN" sz="1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1400" b="1" dirty="0"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117.32.153.136</a:t>
                  </a:r>
                  <a:endParaRPr lang="zh-CN" altLang="en-US" sz="1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文本框 28"/>
              <p:cNvSpPr txBox="1"/>
              <p:nvPr/>
            </p:nvSpPr>
            <p:spPr>
              <a:xfrm>
                <a:off x="5236173" y="3882494"/>
                <a:ext cx="1122103" cy="4308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公网地址</a:t>
                </a:r>
                <a:endParaRPr lang="en-US" altLang="zh-CN" sz="1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CN" sz="1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182.128.19.215</a:t>
                </a:r>
                <a:endParaRPr lang="zh-CN" altLang="en-US" sz="1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5155395" y="709850"/>
                <a:ext cx="3437288" cy="4755290"/>
                <a:chOff x="5155395" y="709850"/>
                <a:chExt cx="3437288" cy="4755290"/>
              </a:xfrm>
            </p:grpSpPr>
            <p:sp>
              <p:nvSpPr>
                <p:cNvPr id="30" name="文本框 29"/>
                <p:cNvSpPr txBox="1"/>
                <p:nvPr/>
              </p:nvSpPr>
              <p:spPr>
                <a:xfrm>
                  <a:off x="6598226" y="5157363"/>
                  <a:ext cx="199445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1557AE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内网地址</a:t>
                  </a:r>
                  <a:r>
                    <a:rPr lang="en-US" altLang="zh-CN" sz="1400" b="1" dirty="0">
                      <a:solidFill>
                        <a:srgbClr val="1557AE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:192.168.1.101</a:t>
                  </a:r>
                  <a:endParaRPr lang="zh-CN" altLang="en-US" sz="1400" b="1" dirty="0">
                    <a:solidFill>
                      <a:srgbClr val="1557AE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5155395" y="709850"/>
                  <a:ext cx="204415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sz="1400" b="1" dirty="0">
                      <a:solidFill>
                        <a:srgbClr val="1557AE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内网地址</a:t>
                  </a:r>
                  <a:r>
                    <a:rPr lang="en-US" altLang="zh-CN" sz="1400" b="1" dirty="0">
                      <a:solidFill>
                        <a:srgbClr val="1557AE"/>
                      </a:solidFill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rPr>
                    <a:t>:192.168.1.101</a:t>
                  </a:r>
                  <a:endParaRPr lang="zh-CN" altLang="en-US" sz="1400" b="1" dirty="0">
                    <a:solidFill>
                      <a:srgbClr val="1557AE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4" name="文本框 33"/>
              <p:cNvSpPr txBox="1"/>
              <p:nvPr/>
            </p:nvSpPr>
            <p:spPr>
              <a:xfrm>
                <a:off x="3898658" y="2273253"/>
                <a:ext cx="1809791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zh-CN" altLang="en-US" sz="1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公网地址</a:t>
                </a:r>
                <a:r>
                  <a:rPr lang="en-US" altLang="zh-CN" sz="14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:14.215.177.39</a:t>
                </a:r>
                <a:endParaRPr lang="zh-CN" altLang="en-US" sz="1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3" name="组合 52"/>
          <p:cNvGrpSpPr/>
          <p:nvPr/>
        </p:nvGrpSpPr>
        <p:grpSpPr>
          <a:xfrm>
            <a:off x="2895399" y="1733799"/>
            <a:ext cx="6650394" cy="2315640"/>
            <a:chOff x="1371399" y="1641035"/>
            <a:chExt cx="6650394" cy="2315640"/>
          </a:xfrm>
        </p:grpSpPr>
        <p:sp>
          <p:nvSpPr>
            <p:cNvPr id="35" name="文本框 34"/>
            <p:cNvSpPr txBox="1"/>
            <p:nvPr/>
          </p:nvSpPr>
          <p:spPr>
            <a:xfrm>
              <a:off x="7169117" y="3478111"/>
              <a:ext cx="85267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400" b="1" dirty="0">
                  <a:solidFill>
                    <a:srgbClr val="1557AE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内网网关</a:t>
              </a:r>
              <a:endParaRPr lang="en-US" altLang="zh-CN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solidFill>
                    <a:srgbClr val="1557AE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192.168.1.1</a:t>
              </a:r>
              <a:endParaRPr lang="zh-CN" altLang="en-US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371399" y="3525788"/>
              <a:ext cx="85267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zh-CN" altLang="en-US" sz="1400" b="1" dirty="0">
                  <a:solidFill>
                    <a:srgbClr val="1557AE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内网网关</a:t>
              </a:r>
              <a:endParaRPr lang="en-US" altLang="zh-CN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solidFill>
                    <a:srgbClr val="1557AE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192.168.1.1</a:t>
              </a:r>
              <a:endParaRPr lang="zh-CN" altLang="en-US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5401340" y="1641035"/>
              <a:ext cx="97075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400" b="1" dirty="0">
                  <a:solidFill>
                    <a:srgbClr val="1557AE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内网网关</a:t>
              </a:r>
              <a:endParaRPr lang="en-US" altLang="zh-CN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1400" b="1" dirty="0">
                  <a:solidFill>
                    <a:srgbClr val="1557AE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192.168.1.1</a:t>
              </a:r>
              <a:endParaRPr lang="zh-CN" altLang="en-US" sz="1400" b="1" dirty="0">
                <a:solidFill>
                  <a:srgbClr val="1557AE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628069" y="510990"/>
            <a:ext cx="7093338" cy="4664184"/>
            <a:chOff x="1104069" y="1147092"/>
            <a:chExt cx="7093338" cy="466418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3"/>
            <a:srcRect l="46900" t="994" r="43615" b="79561"/>
            <a:stretch>
              <a:fillRect/>
            </a:stretch>
          </p:blipFill>
          <p:spPr>
            <a:xfrm>
              <a:off x="4424938" y="1147092"/>
              <a:ext cx="795130" cy="1086679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 rotWithShape="1">
            <a:blip r:embed="rId3"/>
            <a:srcRect l="82233" t="76879" r="4961" b="5454"/>
            <a:stretch>
              <a:fillRect/>
            </a:stretch>
          </p:blipFill>
          <p:spPr>
            <a:xfrm>
              <a:off x="7123981" y="4807021"/>
              <a:ext cx="1073426" cy="987284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 rotWithShape="1">
            <a:blip r:embed="rId3"/>
            <a:srcRect l="4372" t="76879" r="82822" b="5454"/>
            <a:stretch>
              <a:fillRect/>
            </a:stretch>
          </p:blipFill>
          <p:spPr>
            <a:xfrm>
              <a:off x="1104069" y="4823991"/>
              <a:ext cx="1073426" cy="987285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3697733" y="4511149"/>
            <a:ext cx="184551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>
                <a:solidFill>
                  <a:srgbClr val="2E75B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内网</a:t>
            </a:r>
            <a:r>
              <a:rPr lang="en-US" altLang="zh-CN" sz="1400" b="1" dirty="0">
                <a:solidFill>
                  <a:srgbClr val="2E75B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400" b="1" dirty="0">
                <a:solidFill>
                  <a:srgbClr val="2E75B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地址分配</a:t>
            </a:r>
            <a:endParaRPr lang="en-US" altLang="zh-CN" sz="1400" b="1" dirty="0">
              <a:solidFill>
                <a:srgbClr val="2E75B6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2E75B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手动设置</a:t>
            </a:r>
            <a:endParaRPr lang="en-US" altLang="zh-CN" sz="1400" b="1" dirty="0">
              <a:solidFill>
                <a:srgbClr val="2E75B6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400" b="1" dirty="0">
                <a:solidFill>
                  <a:srgbClr val="2E75B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自动获取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(DHCP)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33562" y="3355431"/>
            <a:ext cx="1252540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地址转换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(NAT)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602595" y="4001763"/>
            <a:ext cx="1107176" cy="2125303"/>
            <a:chOff x="2078595" y="3908998"/>
            <a:chExt cx="1107176" cy="2125303"/>
          </a:xfrm>
        </p:grpSpPr>
        <p:sp>
          <p:nvSpPr>
            <p:cNvPr id="41" name="文本框 40"/>
            <p:cNvSpPr txBox="1"/>
            <p:nvPr/>
          </p:nvSpPr>
          <p:spPr>
            <a:xfrm>
              <a:off x="2327755" y="5813008"/>
              <a:ext cx="858016" cy="22129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en-US" sz="1400" b="1" dirty="0">
                  <a:solidFill>
                    <a:srgbClr val="0070C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默认路由</a:t>
              </a: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2078595" y="3908998"/>
              <a:ext cx="495147" cy="1840411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文本框 56"/>
          <p:cNvSpPr txBox="1"/>
          <p:nvPr/>
        </p:nvSpPr>
        <p:spPr>
          <a:xfrm>
            <a:off x="5389461" y="2677264"/>
            <a:ext cx="1873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域名</a:t>
            </a:r>
            <a:r>
              <a:rPr lang="en-US" altLang="zh-CN" sz="1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www.baidu.com</a:t>
            </a:r>
            <a:endParaRPr lang="zh-CN" altLang="en-US" sz="1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7265667" y="2447268"/>
            <a:ext cx="559223" cy="430887"/>
            <a:chOff x="5701910" y="2354503"/>
            <a:chExt cx="559223" cy="430887"/>
          </a:xfrm>
        </p:grpSpPr>
        <p:sp>
          <p:nvSpPr>
            <p:cNvPr id="62" name="文本框 61"/>
            <p:cNvSpPr txBox="1"/>
            <p:nvPr/>
          </p:nvSpPr>
          <p:spPr>
            <a:xfrm flipH="1">
              <a:off x="5772159" y="2450273"/>
              <a:ext cx="488974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DNS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右中括号 62"/>
            <p:cNvSpPr/>
            <p:nvPr/>
          </p:nvSpPr>
          <p:spPr>
            <a:xfrm>
              <a:off x="5701910" y="2354503"/>
              <a:ext cx="106361" cy="430887"/>
            </a:xfrm>
            <a:prstGeom prst="rightBracket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文本框 64"/>
          <p:cNvSpPr txBox="1"/>
          <p:nvPr/>
        </p:nvSpPr>
        <p:spPr>
          <a:xfrm>
            <a:off x="2620670" y="1378225"/>
            <a:ext cx="72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620670" y="1916785"/>
            <a:ext cx="72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7CE5CEA-83A7-45F6-B5B9-CB47D375F1BB}"/>
              </a:ext>
            </a:extLst>
          </p:cNvPr>
          <p:cNvSpPr txBox="1"/>
          <p:nvPr/>
        </p:nvSpPr>
        <p:spPr>
          <a:xfrm>
            <a:off x="5961258" y="3278874"/>
            <a:ext cx="832438" cy="43088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数据传输</a:t>
            </a:r>
            <a:b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TCP/UDP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402"/>
    </mc:Choice>
    <mc:Fallback xmlns="">
      <p:transition spd="slow" advTm="2504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25" grpId="0"/>
      <p:bldP spid="26" grpId="0"/>
      <p:bldP spid="39" grpId="0"/>
      <p:bldP spid="40" grpId="0" animBg="1"/>
      <p:bldP spid="57" grpId="0"/>
      <p:bldP spid="65" grpId="0"/>
      <p:bldP spid="66" grpId="0"/>
      <p:bldP spid="4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89000"/>
              </a:schemeClr>
            </a:gs>
            <a:gs pos="23000">
              <a:schemeClr val="accent5">
                <a:lumMod val="89000"/>
              </a:schemeClr>
            </a:gs>
            <a:gs pos="69000">
              <a:schemeClr val="accent5">
                <a:lumMod val="75000"/>
              </a:schemeClr>
            </a:gs>
            <a:gs pos="97000">
              <a:schemeClr val="accent5">
                <a:lumMod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24125"/>
            <a:ext cx="12192000" cy="1800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2700962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>
                  <a:noFill/>
                </a:ln>
                <a:solidFill>
                  <a:srgbClr val="3763B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  谢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7"/>
    </mc:Choice>
    <mc:Fallback xmlns="">
      <p:transition spd="slow" advTm="22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3|6.7|7.1|2.1|21.7|4.3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7|17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5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3|1|6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0.9|1.2|3.5|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5.2|3.7|5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1.3|6.9|1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|6.8|1|15.8|15.1|27.2|16|13.8|8.1|6.6|16.2|27.9|8.2|14.7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1298</Words>
  <Application>Microsoft Office PowerPoint</Application>
  <PresentationFormat>宽屏</PresentationFormat>
  <Paragraphs>202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Microsoft JhengHei</vt:lpstr>
      <vt:lpstr>等线</vt:lpstr>
      <vt:lpstr>等线 Light</vt:lpstr>
      <vt:lpstr>华文楷体</vt:lpstr>
      <vt:lpstr>华文中宋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王齐</dc:creator>
  <cp:lastModifiedBy>张利平</cp:lastModifiedBy>
  <cp:revision>1635</cp:revision>
  <cp:lastPrinted>2015-09-08T03:57:00Z</cp:lastPrinted>
  <dcterms:created xsi:type="dcterms:W3CDTF">2015-09-04T08:06:00Z</dcterms:created>
  <dcterms:modified xsi:type="dcterms:W3CDTF">2026-03-10T01:38:55Z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1CCD5E958E0C4BEBA13105155A5E9ED6_13</vt:lpwstr>
  </property>
</Properties>
</file>