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33"/>
  </p:notesMasterIdLst>
  <p:sldIdLst>
    <p:sldId id="348" r:id="rId3"/>
    <p:sldId id="400" r:id="rId4"/>
    <p:sldId id="295" r:id="rId5"/>
    <p:sldId id="392" r:id="rId6"/>
    <p:sldId id="405" r:id="rId7"/>
    <p:sldId id="403" r:id="rId8"/>
    <p:sldId id="353" r:id="rId9"/>
    <p:sldId id="354" r:id="rId10"/>
    <p:sldId id="397" r:id="rId11"/>
    <p:sldId id="398" r:id="rId12"/>
    <p:sldId id="393" r:id="rId13"/>
    <p:sldId id="394" r:id="rId14"/>
    <p:sldId id="395" r:id="rId15"/>
    <p:sldId id="396" r:id="rId16"/>
    <p:sldId id="401" r:id="rId17"/>
    <p:sldId id="404" r:id="rId18"/>
    <p:sldId id="399" r:id="rId19"/>
    <p:sldId id="364" r:id="rId20"/>
    <p:sldId id="365" r:id="rId21"/>
    <p:sldId id="366" r:id="rId22"/>
    <p:sldId id="367" r:id="rId23"/>
    <p:sldId id="368" r:id="rId24"/>
    <p:sldId id="369" r:id="rId25"/>
    <p:sldId id="370" r:id="rId26"/>
    <p:sldId id="371" r:id="rId27"/>
    <p:sldId id="387" r:id="rId28"/>
    <p:sldId id="388" r:id="rId29"/>
    <p:sldId id="389" r:id="rId30"/>
    <p:sldId id="378" r:id="rId31"/>
    <p:sldId id="379"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2">
          <p15:clr>
            <a:srgbClr val="A4A3A4"/>
          </p15:clr>
        </p15:guide>
        <p15:guide id="2" pos="2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od"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C9D6EE"/>
    <a:srgbClr val="E5F5F3"/>
    <a:srgbClr val="EFF6FF"/>
    <a:srgbClr val="8FCECC"/>
    <a:srgbClr val="E4EAE3"/>
    <a:srgbClr val="EAF5EE"/>
    <a:srgbClr val="E9EEF5"/>
    <a:srgbClr val="FFF2D6"/>
    <a:srgbClr val="F8E9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695" autoAdjust="0"/>
  </p:normalViewPr>
  <p:slideViewPr>
    <p:cSldViewPr snapToGrid="0" showGuides="1">
      <p:cViewPr varScale="1">
        <p:scale>
          <a:sx n="80" d="100"/>
          <a:sy n="80" d="100"/>
        </p:scale>
        <p:origin x="1004" y="52"/>
      </p:cViewPr>
      <p:guideLst>
        <p:guide orient="horz" pos="1692"/>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项目全名与课程背景</a:t>
            </a:r>
          </a:p>
          <a:p>
            <a:r>
              <a:rPr lang="zh-CN" dirty="0"/>
              <a:t>• 团队成员介绍</a:t>
            </a:r>
          </a:p>
          <a:p>
            <a:r>
              <a:rPr lang="zh-CN" dirty="0"/>
              <a:t>• 答辩主题预告</a:t>
            </a:r>
          </a:p>
          <a:p>
            <a:endParaRPr lang="zh-CN" dirty="0"/>
          </a:p>
          <a:p>
            <a:r>
              <a:rPr lang="zh-CN" dirty="0"/>
              <a:t>详细说明</a:t>
            </a:r>
          </a:p>
          <a:p>
            <a:endParaRPr lang="zh-CN" dirty="0"/>
          </a:p>
          <a:p>
            <a:r>
              <a:rPr lang="zh-CN" dirty="0"/>
              <a:t>大家好，我是项目经理张钊源。今天为大家汇报的项目是《西安交通大学食堂评价系统》，这是一个《软件工程》课程的综合设计课题。我们项目团队由 6 位成员组成，从需求分析、系统设计到实现测试，历时 5 周完成了这个校园场景的 Web 系统。接下来，我将从立项背景、需求分析、系统架构、技术栈和项目成果五个维度为大家详细介绍这个项目。</a:t>
            </a:r>
          </a:p>
          <a:p>
            <a:endParaRPr lang="zh-CN" dirty="0"/>
          </a:p>
          <a:p>
            <a:r>
              <a:rPr lang="zh-CN" dirty="0"/>
              <a:t>过渡短语</a:t>
            </a:r>
          </a:p>
          <a:p>
            <a:endParaRPr lang="zh-CN" dirty="0"/>
          </a:p>
          <a:p>
            <a:r>
              <a:rPr lang="zh-CN" dirty="0"/>
              <a:t>让我们先从项目的立项背景开始讲起。</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老师同学们大家好，我是张钊源，担任本组的项目经理。第九组完成的项目是西安交通大学食堂点评系统，这是我们的汇报大纲，囊括了软件开发的完整生命周期。</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三个现实存在的问题（缺乏渠道、信息差异大、决策效率低）</a:t>
            </a:r>
          </a:p>
          <a:p>
            <a:r>
              <a:rPr lang="zh-CN" dirty="0"/>
              <a:t>• 校园高频场景的解决价值</a:t>
            </a:r>
          </a:p>
          <a:p>
            <a:r>
              <a:rPr lang="zh-CN" dirty="0"/>
              <a:t>• 项目的现实意义</a:t>
            </a:r>
          </a:p>
          <a:p>
            <a:endParaRPr lang="zh-CN" dirty="0"/>
          </a:p>
          <a:p>
            <a:r>
              <a:rPr lang="zh-CN" dirty="0"/>
              <a:t>详细说明</a:t>
            </a:r>
          </a:p>
          <a:p>
            <a:endParaRPr lang="zh-CN" dirty="0"/>
          </a:p>
          <a:p>
            <a:r>
              <a:rPr lang="zh-CN" dirty="0"/>
              <a:t>项目背景源于我们对校园生活的真实观察。第一个问题是：校园食堂是学生日常高频使用的场景，但学生选择窗口时往往缺乏统一的参考渠道。大多数人都是凭个人经验、同学口碑或临时观察来决定。这导致了信息来源分散、缺乏可持续更新的参考平台。</a:t>
            </a:r>
          </a:p>
          <a:p>
            <a:endParaRPr lang="zh-CN" dirty="0"/>
          </a:p>
          <a:p>
            <a:r>
              <a:rPr lang="zh-CN" dirty="0"/>
              <a:t>第二个问题是信息差异大。康桥苑和梧桐苑的不同食堂，他们的不同窗口在口味、菜品类型、价格区间、服务态度等方面存在显著差异。但这些差异往往得不到系统的展示和结构化的沉淀。</a:t>
            </a:r>
          </a:p>
          <a:p>
            <a:endParaRPr lang="zh-CN" dirty="0"/>
          </a:p>
          <a:p>
            <a:r>
              <a:rPr lang="zh-CN" dirty="0"/>
              <a:t>第三个问题是决策效率低。学生在有限的就餐时间内难以作出最优选择，也无法形成有效的反馈循环来督促窗口的服务改进。</a:t>
            </a:r>
          </a:p>
          <a:p>
            <a:endParaRPr lang="zh-CN" dirty="0"/>
          </a:p>
          <a:p>
            <a:r>
              <a:rPr lang="zh-CN" dirty="0"/>
              <a:t>正是基于这些问题，我们立项了这个项目。</a:t>
            </a:r>
          </a:p>
          <a:p>
            <a:endParaRPr lang="zh-CN" dirty="0"/>
          </a:p>
          <a:p>
            <a:r>
              <a:rPr lang="zh-CN" dirty="0"/>
              <a:t>过渡短语</a:t>
            </a:r>
          </a:p>
          <a:p>
            <a:endParaRPr lang="zh-CN" dirty="0"/>
          </a:p>
          <a:p>
            <a:r>
              <a:rPr lang="zh-CN" dirty="0"/>
              <a:t>为了解决这些问题，我们为项目制定了以下核心目标。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四个并行的目标：展示入口、反馈闭环、后台维护、扩展预留</a:t>
            </a:r>
          </a:p>
          <a:p>
            <a:r>
              <a:rPr lang="zh-CN" dirty="0"/>
              <a:t>• 目标的层级化设计（必须 + 优先 + 后置）</a:t>
            </a:r>
          </a:p>
          <a:p>
            <a:r>
              <a:rPr lang="zh-CN" dirty="0"/>
              <a:t>• 项目成功标准的三个维度</a:t>
            </a:r>
          </a:p>
          <a:p>
            <a:endParaRPr lang="zh-CN" dirty="0"/>
          </a:p>
          <a:p>
            <a:r>
              <a:rPr lang="zh-CN" dirty="0"/>
              <a:t>详细说明</a:t>
            </a:r>
          </a:p>
          <a:p>
            <a:endParaRPr lang="zh-CN" dirty="0"/>
          </a:p>
          <a:p>
            <a:r>
              <a:rPr lang="zh-CN" dirty="0"/>
              <a:t>我们的核心目标可以分为四个层面：</a:t>
            </a:r>
          </a:p>
          <a:p>
            <a:endParaRPr lang="zh-CN" dirty="0"/>
          </a:p>
          <a:p>
            <a:r>
              <a:rPr lang="zh-CN" dirty="0"/>
              <a:t>首先是建立统一的展示入口。我们需要为用户提供一个清晰、直观的窗口信息查询平台，用户可以按食堂、按分类、按标签进行筛选和搜索。</a:t>
            </a:r>
          </a:p>
          <a:p>
            <a:endParaRPr lang="zh-CN" dirty="0"/>
          </a:p>
          <a:p>
            <a:r>
              <a:rPr lang="zh-CN" dirty="0"/>
              <a:t>其次是形成完整的反馈闭环。用户不仅可以浏览信息，还必须能够注册、登录、发表评论和评分、查看排行榜。这样每个用户的反馈都能记录并沉淀下来。</a:t>
            </a:r>
          </a:p>
          <a:p>
            <a:endParaRPr lang="zh-CN" dirty="0"/>
          </a:p>
          <a:p>
            <a:r>
              <a:rPr lang="zh-CN" dirty="0"/>
              <a:t>第三是支持管理员的后台维护。管理员需要能够管理标签、编辑食堂信息、新增或下线窗口、删除不适当的评论、甚至管理用户角色。这确保了系统数据的有效性和展示质量。</a:t>
            </a:r>
          </a:p>
          <a:p>
            <a:endParaRPr lang="zh-CN" dirty="0"/>
          </a:p>
          <a:p>
            <a:r>
              <a:rPr lang="zh-CN" dirty="0"/>
              <a:t>最后是为推荐类功能预留扩展空间。我们在数据库和 API 层都为将来的推荐算法、个性化功能预留了接口。</a:t>
            </a:r>
          </a:p>
          <a:p>
            <a:endParaRPr lang="zh-CN" dirty="0"/>
          </a:p>
          <a:p>
            <a:r>
              <a:rPr lang="zh-CN" dirty="0"/>
              <a:t>这四个目标的实现标准是：系统可运行、可演示、可维护，有完整的文档，以及学术严谨性与工程实践相结合。</a:t>
            </a:r>
          </a:p>
          <a:p>
            <a:endParaRPr lang="zh-CN" dirty="0"/>
          </a:p>
          <a:p>
            <a:r>
              <a:rPr lang="zh-CN" dirty="0"/>
              <a:t>过渡短语</a:t>
            </a:r>
          </a:p>
          <a:p>
            <a:endParaRPr lang="zh-CN" dirty="0"/>
          </a:p>
          <a:p>
            <a:r>
              <a:rPr lang="zh-CN" dirty="0"/>
              <a:t>有了既定的目标，我们进入了需求分析阶段。</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36400-89EB-C82A-DFDD-70C5B3D98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9D05E-297F-8BEE-DB14-8A1DEA0DAEB1}"/>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D18E10A0-EDCD-3AF8-01A3-2765F649A842}"/>
              </a:ext>
            </a:extLst>
          </p:cNvPr>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四个并行的目标：展示入口、反馈闭环、后台维护、扩展预留</a:t>
            </a:r>
          </a:p>
          <a:p>
            <a:r>
              <a:rPr lang="zh-CN" dirty="0"/>
              <a:t>• 目标的层级化设计（必须 + 优先 + 后置）</a:t>
            </a:r>
          </a:p>
          <a:p>
            <a:r>
              <a:rPr lang="zh-CN" dirty="0"/>
              <a:t>• 项目成功标准的三个维度</a:t>
            </a:r>
          </a:p>
          <a:p>
            <a:endParaRPr lang="zh-CN" dirty="0"/>
          </a:p>
          <a:p>
            <a:r>
              <a:rPr lang="zh-CN" dirty="0"/>
              <a:t>详细说明</a:t>
            </a:r>
          </a:p>
          <a:p>
            <a:endParaRPr lang="zh-CN" dirty="0"/>
          </a:p>
          <a:p>
            <a:r>
              <a:rPr lang="zh-CN" dirty="0"/>
              <a:t>我们的核心目标可以分为四个层面：</a:t>
            </a:r>
          </a:p>
          <a:p>
            <a:endParaRPr lang="zh-CN" dirty="0"/>
          </a:p>
          <a:p>
            <a:r>
              <a:rPr lang="zh-CN" dirty="0"/>
              <a:t>首先是建立统一的展示入口。我们需要为用户提供一个清晰、直观的窗口信息查询平台，用户可以按食堂、按分类、按标签进行筛选和搜索。</a:t>
            </a:r>
          </a:p>
          <a:p>
            <a:endParaRPr lang="zh-CN" dirty="0"/>
          </a:p>
          <a:p>
            <a:r>
              <a:rPr lang="zh-CN" dirty="0"/>
              <a:t>其次是形成完整的反馈闭环。用户不仅可以浏览信息，还必须能够注册、登录、发表评论和评分、查看排行榜。这样每个用户的反馈都能记录并沉淀下来。</a:t>
            </a:r>
          </a:p>
          <a:p>
            <a:endParaRPr lang="zh-CN" dirty="0"/>
          </a:p>
          <a:p>
            <a:r>
              <a:rPr lang="zh-CN" dirty="0"/>
              <a:t>第三是支持管理员的后台维护。管理员需要能够管理标签、编辑食堂信息、新增或下线窗口、删除不适当的评论、甚至管理用户角色。这确保了系统数据的有效性和展示质量。</a:t>
            </a:r>
          </a:p>
          <a:p>
            <a:endParaRPr lang="zh-CN" dirty="0"/>
          </a:p>
          <a:p>
            <a:r>
              <a:rPr lang="zh-CN" dirty="0"/>
              <a:t>最后是为推荐类功能预留扩展空间。我们在数据库和 API 层都为将来的推荐算法、个性化功能预留了接口。</a:t>
            </a:r>
          </a:p>
          <a:p>
            <a:endParaRPr lang="zh-CN" dirty="0"/>
          </a:p>
          <a:p>
            <a:r>
              <a:rPr lang="zh-CN" dirty="0"/>
              <a:t>这四个目标的实现标准是：系统可运行、可演示、可维护，有完整的文档，以及学术严谨性与工程实践相结合。</a:t>
            </a:r>
          </a:p>
          <a:p>
            <a:endParaRPr lang="zh-CN" dirty="0"/>
          </a:p>
          <a:p>
            <a:r>
              <a:rPr lang="zh-CN" dirty="0"/>
              <a:t>过渡短语</a:t>
            </a:r>
          </a:p>
          <a:p>
            <a:endParaRPr lang="zh-CN" dirty="0"/>
          </a:p>
          <a:p>
            <a:r>
              <a:rPr lang="zh-CN" dirty="0"/>
              <a:t>有了既定的目标，我们进入了需求分析阶段。</a:t>
            </a:r>
          </a:p>
        </p:txBody>
      </p:sp>
    </p:spTree>
    <p:extLst>
      <p:ext uri="{BB962C8B-B14F-4D97-AF65-F5344CB8AC3E}">
        <p14:creationId xmlns:p14="http://schemas.microsoft.com/office/powerpoint/2010/main" val="4060274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四个并行的目标：展示入口、反馈闭环、后台维护、扩展预留</a:t>
            </a:r>
          </a:p>
          <a:p>
            <a:r>
              <a:rPr lang="zh-CN" dirty="0"/>
              <a:t>• 目标的层级化设计（必须 + 优先 + 后置）</a:t>
            </a:r>
          </a:p>
          <a:p>
            <a:r>
              <a:rPr lang="zh-CN" dirty="0"/>
              <a:t>• 项目成功标准的三个维度</a:t>
            </a:r>
          </a:p>
          <a:p>
            <a:endParaRPr lang="zh-CN" dirty="0"/>
          </a:p>
          <a:p>
            <a:r>
              <a:rPr lang="zh-CN" dirty="0"/>
              <a:t>详细说明</a:t>
            </a:r>
          </a:p>
          <a:p>
            <a:endParaRPr lang="zh-CN" dirty="0"/>
          </a:p>
          <a:p>
            <a:r>
              <a:rPr lang="zh-CN" dirty="0"/>
              <a:t>我们的核心目标可以分为四个层面：</a:t>
            </a:r>
          </a:p>
          <a:p>
            <a:endParaRPr lang="zh-CN" dirty="0"/>
          </a:p>
          <a:p>
            <a:r>
              <a:rPr lang="zh-CN" dirty="0"/>
              <a:t>首先是建立统一的展示入口。我们需要为用户提供一个清晰、直观的窗口信息查询平台，用户可以按食堂、按分类、按标签进行筛选和搜索。</a:t>
            </a:r>
          </a:p>
          <a:p>
            <a:endParaRPr lang="zh-CN" dirty="0"/>
          </a:p>
          <a:p>
            <a:r>
              <a:rPr lang="zh-CN" dirty="0"/>
              <a:t>其次是形成完整的反馈闭环。用户不仅可以浏览信息，还必须能够注册、登录、发表评论和评分、查看排行榜。这样每个用户的反馈都能记录并沉淀下来。</a:t>
            </a:r>
          </a:p>
          <a:p>
            <a:endParaRPr lang="zh-CN" dirty="0"/>
          </a:p>
          <a:p>
            <a:r>
              <a:rPr lang="zh-CN" dirty="0"/>
              <a:t>第三是支持管理员的后台维护。管理员需要能够管理标签、编辑食堂信息、新增或下线窗口、删除不适当的评论、甚至管理用户角色。这确保了系统数据的有效性和展示质量。</a:t>
            </a:r>
          </a:p>
          <a:p>
            <a:endParaRPr lang="zh-CN" dirty="0"/>
          </a:p>
          <a:p>
            <a:r>
              <a:rPr lang="zh-CN" dirty="0"/>
              <a:t>最后是为推荐类功能预留扩展空间。我们在数据库和 API 层都为将来的推荐算法、个性化功能预留了接口。</a:t>
            </a:r>
          </a:p>
          <a:p>
            <a:endParaRPr lang="zh-CN" dirty="0"/>
          </a:p>
          <a:p>
            <a:r>
              <a:rPr lang="zh-CN" dirty="0"/>
              <a:t>这四个目标的实现标准是：系统可运行、可演示、可维护，有完整的文档，以及学术严谨性与工程实践相结合。</a:t>
            </a:r>
          </a:p>
          <a:p>
            <a:endParaRPr lang="zh-CN" dirty="0"/>
          </a:p>
          <a:p>
            <a:r>
              <a:rPr lang="zh-CN" dirty="0"/>
              <a:t>过渡短语</a:t>
            </a:r>
          </a:p>
          <a:p>
            <a:endParaRPr lang="zh-CN" dirty="0"/>
          </a:p>
          <a:p>
            <a:r>
              <a:rPr lang="zh-CN" dirty="0"/>
              <a:t>有了既定的目标，我们进入了需求分析阶段。</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系统的进阶功能，从FR-11到FR-20。这部分功能包括了访问历史、收藏、拉黑等个性化体验，以及“今天吃什么”、AI推荐等智能化服务，还有管理员的后台管理功能。这些功能大部分属于P1和P2优先级，是我们项目的扩展和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用户功能：9 个核心功能</a:t>
            </a:r>
          </a:p>
          <a:p>
            <a:r>
              <a:rPr lang="zh-CN" dirty="0"/>
              <a:t>• 管理员功能：5 个维护权限</a:t>
            </a:r>
          </a:p>
          <a:p>
            <a:r>
              <a:rPr lang="zh-CN" dirty="0"/>
              <a:t>• 优先级分布（P0/P1/P2）</a:t>
            </a:r>
          </a:p>
          <a:p>
            <a:endParaRPr lang="zh-CN" dirty="0"/>
          </a:p>
          <a:p>
            <a:r>
              <a:rPr lang="zh-CN" dirty="0"/>
              <a:t>详细说明</a:t>
            </a:r>
          </a:p>
          <a:p>
            <a:endParaRPr lang="zh-CN" dirty="0"/>
          </a:p>
          <a:p>
            <a:r>
              <a:rPr lang="zh-CN" dirty="0"/>
              <a:t>从用户角度，我们提供了 9 个核心功能。包括：浏览和搜索窗口、提交和管理评论、查看排行榜、个人资料管理、密码修改、收藏和拉黑窗口、浏览历史、"今天吃什么"推荐、以及 AI 美食助手。</a:t>
            </a:r>
          </a:p>
          <a:p>
            <a:endParaRPr lang="zh-CN" dirty="0"/>
          </a:p>
          <a:p>
            <a:r>
              <a:rPr lang="zh-CN" dirty="0"/>
              <a:t>从管理员角度，我们提供了 5 个后台维护权限。包括：标签管理、食堂信息管理、窗口管理（新增、修改、停用）、评论删除与审核、用户角色管理。</a:t>
            </a:r>
          </a:p>
          <a:p>
            <a:endParaRPr lang="zh-CN" dirty="0"/>
          </a:p>
          <a:p>
            <a:r>
              <a:rPr lang="zh-CN" dirty="0"/>
              <a:t>在需求的优先级划分上，我们采用了 P0、P1、P2 三级制度。P0 是必须实现的核心功能（注册登录、窗口浏览、评论互动、排行榜），本版本 100% 完成。P1 是优先级较高的功能（收藏、拉黑、历史、管理后台），完成度 80%。P2 是后置功能（"今天吃什么"、AI 助手、推荐算法），完成度 60%。这种分级策略使得我们既确保了核心功能的交付，也为将来的功能迭代预留了空间。</a:t>
            </a:r>
          </a:p>
          <a:p>
            <a:endParaRPr lang="zh-CN" dirty="0"/>
          </a:p>
          <a:p>
            <a:r>
              <a:rPr lang="zh-CN" dirty="0"/>
              <a:t>过渡短语</a:t>
            </a:r>
          </a:p>
          <a:p>
            <a:endParaRPr lang="zh-CN" dirty="0"/>
          </a:p>
          <a:p>
            <a:r>
              <a:rPr lang="zh-CN" dirty="0"/>
              <a:t>有了清晰的需求和功能划分，我们进入了系统架构阶段。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本页用于开场，把课程要求和本项目实现对应起来。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本页用于说明联调边界。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t>本页突出 ER 图标准化表达和关键约束。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这三页 PPT 主要回答一个问题，就是这个项目的前端到底做了什么。我的理解是，它不是单纯展示页面，而是把后端的用户、评价、推荐和管理能力组织成一个可交互的单页应用。[停顿]</a:t>
            </a:r>
          </a:p>
          <a:p>
            <a:endParaRPr lang="zh-CN" dirty="0"/>
          </a:p>
          <a:p>
            <a:r>
              <a:rPr lang="zh-CN" dirty="0"/>
              <a:t>第一页我先从整体结构讲起。前端核心代码集中在 `main.js`、`api/client.js`、`store/user.js` 和 `app.css` 四个文件里，分别对应页面逻辑、接口请求、用户状态和统一样式。再从业务角度，我把它归纳成四个核心页面：主页面、排行榜、个人中心和窗口评论页。</a:t>
            </a:r>
          </a:p>
          <a:p>
            <a:endParaRPr lang="zh-CN" dirty="0"/>
          </a:p>
          <a:p>
            <a:r>
              <a:rPr lang="zh-CN" dirty="0"/>
              <a:t>要点：① 从代码文件和业务页面两个维度理解前端 ② 说明它是单页应用而不是静态页面集合 ③ 引出后面四个页面的详细分析</a:t>
            </a:r>
          </a:p>
          <a:p>
            <a:r>
              <a:rPr lang="zh-CN" dirty="0"/>
              <a:t>时长：1 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[过渡] 在看清整体结构之后，第二步就是把前端拆回到具体页面，看每一页在系统里承担什么职责。</a:t>
            </a:r>
          </a:p>
          <a:p>
            <a:endParaRPr lang="zh-CN" dirty="0"/>
          </a:p>
          <a:p>
            <a:r>
              <a:rPr lang="zh-CN" dirty="0"/>
              <a:t>主页面负责发现和选择，是用户进入系统后的第一入口；排行榜页面负责比较和展示，用统一结构切换不同榜单；个人中心负责沉淀用户自己的信息和行为；窗口评论页则是整个业务闭环的关键，因为用户会在这里查看详情、发表评论、收藏或者拉黑。[停顿]</a:t>
            </a:r>
          </a:p>
          <a:p>
            <a:endParaRPr lang="zh-CN" dirty="0"/>
          </a:p>
          <a:p>
            <a:r>
              <a:rPr lang="zh-CN" dirty="0"/>
              <a:t>所以这四个页面并不是随意拼起来的，而是共同组成了一条完整的用户路径，也就是从发现窗口，到对比选择，再到形成偏好，最后提交反馈。</a:t>
            </a:r>
          </a:p>
          <a:p>
            <a:endParaRPr lang="zh-CN" dirty="0"/>
          </a:p>
          <a:p>
            <a:r>
              <a:rPr lang="zh-CN" dirty="0"/>
              <a:t>要点：① 四个页面各有明确职责 ② 页面之间通过用户路径串联 ③ 最关键的是窗口评论页承接核心业务交互</a:t>
            </a:r>
          </a:p>
          <a:p>
            <a:r>
              <a:rPr lang="zh-CN" dirty="0"/>
              <a:t>时长：1 分 20 秒</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RESTful 的 8 个核心端点</a:t>
            </a:r>
          </a:p>
          <a:p>
            <a:r>
              <a:rPr lang="zh-CN" dirty="0"/>
              <a:t>• 统一的 JSON 响应格式</a:t>
            </a:r>
          </a:p>
          <a:p>
            <a:r>
              <a:rPr lang="zh-CN" dirty="0"/>
              <a:t>• 分页、搜索、排序的参数设计</a:t>
            </a:r>
          </a:p>
          <a:p>
            <a:endParaRPr lang="zh-CN" dirty="0"/>
          </a:p>
          <a:p>
            <a:r>
              <a:rPr lang="zh-CN" dirty="0"/>
              <a:t>详细说明</a:t>
            </a:r>
          </a:p>
          <a:p>
            <a:endParaRPr lang="zh-CN" dirty="0"/>
          </a:p>
          <a:p>
            <a:r>
              <a:rPr lang="zh-CN" dirty="0"/>
              <a:t>我们的 API 设计遵循 RESTful 原则，共暴露了 18+ 个端点。最核心的 8 个是：</a:t>
            </a:r>
          </a:p>
          <a:p>
            <a:endParaRPr lang="zh-CN" dirty="0"/>
          </a:p>
          <a:p>
            <a:r>
              <a:rPr lang="zh-CN" dirty="0"/>
              <a:t>• GET /api/stalls——获取窗口列表，支持分页、搜索、筛选、排序</a:t>
            </a:r>
          </a:p>
          <a:p>
            <a:r>
              <a:rPr lang="zh-CN" dirty="0"/>
              <a:t>• GET /api/stalls/{id}——获取单个窗口的详情</a:t>
            </a:r>
          </a:p>
          <a:p>
            <a:r>
              <a:rPr lang="zh-CN" dirty="0"/>
              <a:t>• POST /api/reviews——提交一条评论</a:t>
            </a:r>
          </a:p>
          <a:p>
            <a:r>
              <a:rPr lang="zh-CN" dirty="0"/>
              <a:t>• PUT /api/reviews/{id}——修改一条评论</a:t>
            </a:r>
          </a:p>
          <a:p>
            <a:r>
              <a:rPr lang="zh-CN" dirty="0"/>
              <a:t>• DELETE /api/reviews/{id}——删除一条评论</a:t>
            </a:r>
          </a:p>
          <a:p>
            <a:r>
              <a:rPr lang="zh-CN" dirty="0"/>
              <a:t>• GET /api/rankings——获取排行榜（按评分、热度、最新）</a:t>
            </a:r>
          </a:p>
          <a:p>
            <a:r>
              <a:rPr lang="zh-CN" dirty="0"/>
              <a:t>• POST /api/auth/login——用户登录</a:t>
            </a:r>
          </a:p>
          <a:p>
            <a:r>
              <a:rPr lang="zh-CN" dirty="0"/>
              <a:t>• POST /api/auth/register——用户注册</a:t>
            </a:r>
          </a:p>
          <a:p>
            <a:endParaRPr lang="zh-CN" dirty="0"/>
          </a:p>
          <a:p>
            <a:r>
              <a:rPr lang="zh-CN" dirty="0"/>
              <a:t>所有响应都采用统一的 JSON 格式：</a:t>
            </a:r>
          </a:p>
          <a:p>
            <a:r>
              <a:rPr lang="zh-CN" dirty="0"/>
              <a:t>```</a:t>
            </a:r>
          </a:p>
          <a:p>
            <a:r>
              <a:rPr lang="zh-CN" dirty="0"/>
              <a:t>{</a:t>
            </a:r>
          </a:p>
          <a:p>
            <a:r>
              <a:rPr lang="zh-CN" dirty="0"/>
              <a:t>"code": 200,</a:t>
            </a:r>
          </a:p>
          <a:p>
            <a:r>
              <a:rPr lang="zh-CN" dirty="0"/>
              <a:t>"message": "success",</a:t>
            </a:r>
          </a:p>
          <a:p>
            <a:r>
              <a:rPr lang="zh-CN" dirty="0"/>
              <a:t>"data": { ... },</a:t>
            </a:r>
          </a:p>
          <a:p>
            <a:r>
              <a:rPr lang="zh-CN" dirty="0"/>
              <a:t>"page": 1,</a:t>
            </a:r>
          </a:p>
          <a:p>
            <a:r>
              <a:rPr lang="zh-CN" dirty="0"/>
              <a:t>"total": 100</a:t>
            </a:r>
          </a:p>
          <a:p>
            <a:r>
              <a:rPr lang="zh-CN" dirty="0"/>
              <a:t>}</a:t>
            </a:r>
          </a:p>
          <a:p>
            <a:r>
              <a:rPr lang="zh-CN" dirty="0"/>
              <a:t>```</a:t>
            </a:r>
          </a:p>
          <a:p>
            <a:endParaRPr lang="zh-CN" dirty="0"/>
          </a:p>
          <a:p>
            <a:r>
              <a:rPr lang="zh-CN" dirty="0"/>
              <a:t>这种设计确保了前后端通信的一致性，客户端可以统一处理响应。code 字段表示操作是否成功（200 成功、4xx 客户端错误、5xx 服务器错误）；message 提供可读的错误说明；data 承载实际的业务数据；page 和 total 支持分页。</a:t>
            </a:r>
          </a:p>
          <a:p>
            <a:endParaRPr lang="zh-CN" dirty="0"/>
          </a:p>
          <a:p>
            <a:r>
              <a:rPr lang="zh-CN" dirty="0"/>
              <a:t>过渡短语</a:t>
            </a:r>
          </a:p>
          <a:p>
            <a:endParaRPr lang="zh-CN" dirty="0"/>
          </a:p>
          <a:p>
            <a:r>
              <a:rPr lang="zh-CN" dirty="0"/>
              <a:t>这样的 API 设计看起来很规范，但为什么我们选择这样而不是其他？这涉及到技术选型的权衡。</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技术亮点：从零实现 HTTP 服务器、并发处理、JWT 认证</a:t>
            </a:r>
          </a:p>
          <a:p>
            <a:r>
              <a:rPr lang="zh-CN" dirty="0"/>
              <a:t>• 学习收获：HTTP 原理、数据库设计、前后端分离、工程流程</a:t>
            </a:r>
          </a:p>
          <a:p>
            <a:r>
              <a:rPr lang="zh-CN" dirty="0"/>
              <a:t>• 教学意义与实践价值</a:t>
            </a:r>
          </a:p>
          <a:p>
            <a:endParaRPr lang="zh-CN" dirty="0"/>
          </a:p>
          <a:p>
            <a:r>
              <a:rPr lang="zh-CN" dirty="0"/>
              <a:t>详细说明</a:t>
            </a:r>
          </a:p>
          <a:p>
            <a:endParaRPr lang="zh-CN" dirty="0"/>
          </a:p>
          <a:p>
            <a:r>
              <a:rPr lang="zh-CN" dirty="0"/>
              <a:t>技术亮点</a:t>
            </a:r>
          </a:p>
          <a:p>
            <a:endParaRPr lang="zh-CN" dirty="0"/>
          </a:p>
          <a:p>
            <a:r>
              <a:rPr lang="zh-CN" dirty="0"/>
              <a:t>1. 完全自研 HTTP 服务器和路由系统——我们没有使用框架，而是从底层 HTTP 协议出发，自己实现了请求解析、路由匹配、响应生成等核心功能。这意味着团队中的每个人都理解了 HTTP 请求/响应的完整生命周期，而不是把这些抽象复杂性隐藏在框架后面。</a:t>
            </a:r>
          </a:p>
          <a:p>
            <a:endParaRPr lang="zh-CN" dirty="0"/>
          </a:p>
          <a:p>
            <a:r>
              <a:rPr lang="zh-CN" dirty="0"/>
              <a:t>2. 并发处理能力——ThreadingHTTPServer 基于多线程架构，可以同时处理多个用户的并发请求。我们在开发过程中实际测试过高并发场景（几十个并发连接），系统稳定运行。</a:t>
            </a:r>
          </a:p>
          <a:p>
            <a:endParaRPr lang="zh-CN" dirty="0"/>
          </a:p>
          <a:p>
            <a:r>
              <a:rPr lang="zh-CN" dirty="0"/>
              <a:t>3. 前后端分离架构 + RESTful API——我们严格遵循分离原则，前端与后端通过标准的 HTTP + JSON 通信，使得将来可以轻松地更换前端框架（比如升级到 React）或部署到不同的服务器，而不会影响整个系统。</a:t>
            </a:r>
          </a:p>
          <a:p>
            <a:endParaRPr lang="zh-CN" dirty="0"/>
          </a:p>
          <a:p>
            <a:r>
              <a:rPr lang="zh-CN" dirty="0"/>
              <a:t>4. JWT 无状态认证机制与密码安全哈希——用户密码不以明文存储，而是通过哈希函数转换（bcrypt 等）；认证通过 JWT Token 实现，无需服务器维护 session 状态。</a:t>
            </a:r>
          </a:p>
          <a:p>
            <a:endParaRPr lang="zh-CN" dirty="0"/>
          </a:p>
          <a:p>
            <a:r>
              <a:rPr lang="zh-CN" dirty="0"/>
              <a:t>学习收获</a:t>
            </a:r>
          </a:p>
          <a:p>
            <a:endParaRPr lang="zh-CN" dirty="0"/>
          </a:p>
          <a:p>
            <a:r>
              <a:rPr lang="zh-CN" dirty="0"/>
              <a:t>1. 深度理解 HTTP 协议与 Web 架构原理——通过从零实现 HTTP 服务器，我们对请求方法（GET/POST/PUT/DELETE）、状态码、请求/响应头、CORS 跨域等概念有了实际的、编程层面的理解，而不仅仅是理论知识。</a:t>
            </a:r>
          </a:p>
          <a:p>
            <a:endParaRPr lang="zh-CN" dirty="0"/>
          </a:p>
          <a:p>
            <a:r>
              <a:rPr lang="zh-CN" dirty="0"/>
              <a:t>2. 数据库关系模型、SQL 查询优化、事务处理——设计了符合范式的四张核心表，实现了复杂的 SQL 查询（JOIN、GROUP BY、聚合），使用了事务保证数据一致性，并通过索引优化查询性能。</a:t>
            </a:r>
          </a:p>
          <a:p>
            <a:endParaRPr lang="zh-CN" dirty="0"/>
          </a:p>
          <a:p>
            <a:r>
              <a:rPr lang="zh-CN" dirty="0"/>
              <a:t>3. 前端状态管理与 SPA 路由原理——用纯 JavaScript 实现了 Hash 路由、localStorage 状态管理、DOM 动态更新，理解了单页应用的原理，这是现代前端框架的基础。</a:t>
            </a:r>
          </a:p>
          <a:p>
            <a:endParaRPr lang="zh-CN" dirty="0"/>
          </a:p>
          <a:p>
            <a:r>
              <a:rPr lang="zh-CN" dirty="0"/>
              <a:t>4. 工程流程——经历了完整的软件工程过程：需求分析（SRS）、架构设计（架构图、ER 图）、实现编码（模块化、代码规范）、测试验证（手动测试用例）、文档交付。</a:t>
            </a:r>
          </a:p>
          <a:p>
            <a:endParaRPr lang="zh-CN" dirty="0"/>
          </a:p>
          <a:p>
            <a:r>
              <a:rPr lang="zh-CN" dirty="0"/>
              <a:t>5. AI 集成能力——成功集成了 OpenRouter API，调用 Qwen 模型函数，实现了"AI 美食助手"功能。这说明我们不仅懂传统 Web 技术，也能跟上 AI 时代的节拍。</a:t>
            </a:r>
          </a:p>
          <a:p>
            <a:endParaRPr lang="zh-CN" dirty="0"/>
          </a:p>
          <a:p>
            <a:r>
              <a:rPr lang="zh-CN" dirty="0"/>
              <a:t>过渡短语</a:t>
            </a:r>
          </a:p>
          <a:p>
            <a:endParaRPr lang="zh-CN" dirty="0"/>
          </a:p>
          <a:p>
            <a:r>
              <a:rPr lang="zh-CN" dirty="0"/>
              <a:t>总结一下，我们的项目是一个完整的工程实践，体现了扎实的技术基础和前沿的应用意识。</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Vanilla JavaScript 的教学与工程价值</a:t>
            </a:r>
          </a:p>
          <a:p>
            <a:r>
              <a:rPr lang="zh-CN" dirty="0"/>
              <a:t>• SPA 路由与本地状态管理</a:t>
            </a:r>
          </a:p>
          <a:p>
            <a:r>
              <a:rPr lang="zh-CN" dirty="0"/>
              <a:t>• 约 500+ 行代码实现的完整应用</a:t>
            </a:r>
          </a:p>
          <a:p>
            <a:endParaRPr lang="zh-CN" dirty="0"/>
          </a:p>
          <a:p>
            <a:r>
              <a:rPr lang="zh-CN" dirty="0"/>
              <a:t>详细说明</a:t>
            </a:r>
          </a:p>
          <a:p>
            <a:endParaRPr lang="zh-CN" dirty="0"/>
          </a:p>
          <a:p>
            <a:r>
              <a:rPr lang="zh-CN" dirty="0"/>
              <a:t>Vanilla JavaScript</a:t>
            </a:r>
          </a:p>
          <a:p>
            <a:endParaRPr lang="zh-CN" dirty="0"/>
          </a:p>
          <a:p>
            <a:r>
              <a:rPr lang="zh-CN" dirty="0"/>
              <a:t>我们没有使用 React 或 Vue，而是完全基于 Vanilla JavaScript（纯 JS）实现前端。这个选择来自于教学的考虑——通过手写 JS，我们对 DOM 操作、事件绑定、异步编程、模块化组织都有更深的理解。</a:t>
            </a:r>
          </a:p>
          <a:p>
            <a:endParaRPr lang="zh-CN" dirty="0"/>
          </a:p>
          <a:p>
            <a:r>
              <a:rPr lang="zh-CN" dirty="0"/>
              <a:t>前端的所有页面逻辑集中在 main.js 文件中，约 500+ 行代码。包括：主路由切换（首页、排行榜、个人中心、管理后台等）、每个页面的渲染函数、对后端 API 的调用、表单验证、错误处理等。</a:t>
            </a:r>
          </a:p>
          <a:p>
            <a:endParaRPr lang="zh-CN" dirty="0"/>
          </a:p>
          <a:p>
            <a:r>
              <a:rPr lang="zh-CN" dirty="0"/>
              <a:t>模块化设计</a:t>
            </a:r>
          </a:p>
          <a:p>
            <a:endParaRPr lang="zh-CN" dirty="0"/>
          </a:p>
          <a:p>
            <a:r>
              <a:rPr lang="zh-CN" dirty="0"/>
              <a:t>我们没有上来就写一个 500 行的大文件（虽然最终是这样），而是在设计阶段就分模块：</a:t>
            </a:r>
          </a:p>
          <a:p>
            <a:endParaRPr lang="zh-CN" dirty="0"/>
          </a:p>
          <a:p>
            <a:r>
              <a:rPr lang="zh-CN" dirty="0"/>
              <a:t>• `api/client.js`——Fetch API 的封装，统一处理 HTTP 请求和错误</a:t>
            </a:r>
          </a:p>
          <a:p>
            <a:r>
              <a:rPr lang="zh-CN" dirty="0"/>
              <a:t>• `store/user.js`——基于 localStorage 的状态管理，存储登录状态、用户信息、页面缓存</a:t>
            </a:r>
          </a:p>
          <a:p>
            <a:r>
              <a:rPr lang="zh-CN" dirty="0"/>
              <a:t>• `views/` 目录——各个页面的視图函数（虽然在本版本中它们都在 main.js），便于后期拆分</a:t>
            </a:r>
          </a:p>
          <a:p>
            <a:endParaRPr lang="zh-CN" dirty="0"/>
          </a:p>
          <a:p>
            <a:r>
              <a:rPr lang="zh-CN" dirty="0"/>
              <a:t>SPA 路由</a:t>
            </a:r>
          </a:p>
          <a:p>
            <a:endParaRPr lang="zh-CN" dirty="0"/>
          </a:p>
          <a:p>
            <a:r>
              <a:rPr lang="zh-CN" dirty="0"/>
              <a:t>前端使用 Hash 路由（#/、#/rankings、#/profile 等）来实现单页应用，而不是每个页面都是独立的 HTML 文件。这样用户可以快速切换页面而无需重新加载。</a:t>
            </a:r>
          </a:p>
          <a:p>
            <a:endParaRPr lang="zh-CN" dirty="0"/>
          </a:p>
          <a:p>
            <a:r>
              <a:rPr lang="zh-CN" dirty="0"/>
              <a:t>样式系统</a:t>
            </a:r>
          </a:p>
          <a:p>
            <a:endParaRPr lang="zh-CN" dirty="0"/>
          </a:p>
          <a:p>
            <a:r>
              <a:rPr lang="zh-CN" dirty="0"/>
              <a:t>我们采用了 Google Fonts 的 Noto Sans SC 字体，建立了统一的色彩和排版系统。所有 UI 组件遵循一致的设计语言，使应用看起来专业且易用。</a:t>
            </a:r>
          </a:p>
          <a:p>
            <a:endParaRPr lang="zh-CN" dirty="0"/>
          </a:p>
          <a:p>
            <a:r>
              <a:rPr lang="zh-CN" dirty="0"/>
              <a:t>这个前端实现展示了一个 Web 开发者对客户端编程的深入理解——不依赖框架，从底层 API 出发，理解每一行代码的行为。</a:t>
            </a:r>
          </a:p>
          <a:p>
            <a:endParaRPr lang="zh-CN" dirty="0"/>
          </a:p>
          <a:p>
            <a:r>
              <a:rPr lang="zh-CN" dirty="0"/>
              <a:t>过渡短语</a:t>
            </a:r>
          </a:p>
          <a:p>
            <a:endParaRPr lang="zh-CN" dirty="0"/>
          </a:p>
          <a:p>
            <a:r>
              <a:rPr lang="zh-CN" dirty="0"/>
              <a:t>前后端都有了，让我们看看它们如何通过 API 协作。</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 分钟</a:t>
            </a:r>
          </a:p>
          <a:p>
            <a:endParaRPr lang="zh-CN" dirty="0"/>
          </a:p>
          <a:p>
            <a:r>
              <a:rPr lang="zh-CN" dirty="0"/>
              <a:t>关键要点</a:t>
            </a:r>
          </a:p>
          <a:p>
            <a:endParaRPr lang="zh-CN" dirty="0"/>
          </a:p>
          <a:p>
            <a:r>
              <a:rPr lang="zh-CN" dirty="0"/>
              <a:t>• 技术亮点：从零实现 HTTP 服务器、并发处理、JWT 认证</a:t>
            </a:r>
          </a:p>
          <a:p>
            <a:r>
              <a:rPr lang="zh-CN" dirty="0"/>
              <a:t>• 学习收获：HTTP 原理、数据库设计、前后端分离、工程流程</a:t>
            </a:r>
          </a:p>
          <a:p>
            <a:r>
              <a:rPr lang="zh-CN" dirty="0"/>
              <a:t>• 教学意义与实践价值</a:t>
            </a:r>
          </a:p>
          <a:p>
            <a:endParaRPr lang="zh-CN" dirty="0"/>
          </a:p>
          <a:p>
            <a:r>
              <a:rPr lang="zh-CN" dirty="0"/>
              <a:t>详细说明</a:t>
            </a:r>
          </a:p>
          <a:p>
            <a:endParaRPr lang="zh-CN" dirty="0"/>
          </a:p>
          <a:p>
            <a:r>
              <a:rPr lang="zh-CN" dirty="0"/>
              <a:t>技术亮点</a:t>
            </a:r>
          </a:p>
          <a:p>
            <a:endParaRPr lang="zh-CN" dirty="0"/>
          </a:p>
          <a:p>
            <a:r>
              <a:rPr lang="zh-CN" dirty="0"/>
              <a:t>1. 完全自研 HTTP 服务器和路由系统——我们没有使用框架，而是从底层 HTTP 协议出发，自己实现了请求解析、路由匹配、响应生成等核心功能。这意味着团队中的每个人都理解了 HTTP 请求/响应的完整生命周期，而不是把这些抽象复杂性隐藏在框架后面。</a:t>
            </a:r>
          </a:p>
          <a:p>
            <a:endParaRPr lang="zh-CN" dirty="0"/>
          </a:p>
          <a:p>
            <a:r>
              <a:rPr lang="zh-CN" dirty="0"/>
              <a:t>2. 并发处理能力——ThreadingHTTPServer 基于多线程架构，可以同时处理多个用户的并发请求。我们在开发过程中实际测试过高并发场景（几十个并发连接），系统稳定运行。</a:t>
            </a:r>
          </a:p>
          <a:p>
            <a:endParaRPr lang="zh-CN" dirty="0"/>
          </a:p>
          <a:p>
            <a:r>
              <a:rPr lang="zh-CN" dirty="0"/>
              <a:t>3. 前后端分离架构 + RESTful API——我们严格遵循分离原则，前端与后端通过标准的 HTTP + JSON 通信，使得将来可以轻松地更换前端框架（比如升级到 React）或部署到不同的服务器，而不会影响整个系统。</a:t>
            </a:r>
          </a:p>
          <a:p>
            <a:endParaRPr lang="zh-CN" dirty="0"/>
          </a:p>
          <a:p>
            <a:r>
              <a:rPr lang="zh-CN" dirty="0"/>
              <a:t>4. JWT 无状态认证机制与密码安全哈希——用户密码不以明文存储，而是通过哈希函数转换（bcrypt 等）；认证通过 JWT Token 实现，无需服务器维护 session 状态。</a:t>
            </a:r>
          </a:p>
          <a:p>
            <a:endParaRPr lang="zh-CN" dirty="0"/>
          </a:p>
          <a:p>
            <a:r>
              <a:rPr lang="zh-CN" dirty="0"/>
              <a:t>学习收获</a:t>
            </a:r>
          </a:p>
          <a:p>
            <a:endParaRPr lang="zh-CN" dirty="0"/>
          </a:p>
          <a:p>
            <a:r>
              <a:rPr lang="zh-CN" dirty="0"/>
              <a:t>1. 深度理解 HTTP 协议与 Web 架构原理——通过从零实现 HTTP 服务器，我们对请求方法（GET/POST/PUT/DELETE）、状态码、请求/响应头、CORS 跨域等概念有了实际的、编程层面的理解，而不仅仅是理论知识。</a:t>
            </a:r>
          </a:p>
          <a:p>
            <a:endParaRPr lang="zh-CN" dirty="0"/>
          </a:p>
          <a:p>
            <a:r>
              <a:rPr lang="zh-CN" dirty="0"/>
              <a:t>2. 数据库关系模型、SQL 查询优化、事务处理——设计了符合范式的四张核心表，实现了复杂的 SQL 查询（JOIN、GROUP BY、聚合），使用了事务保证数据一致性，并通过索引优化查询性能。</a:t>
            </a:r>
          </a:p>
          <a:p>
            <a:endParaRPr lang="zh-CN" dirty="0"/>
          </a:p>
          <a:p>
            <a:r>
              <a:rPr lang="zh-CN" dirty="0"/>
              <a:t>3. 前端状态管理与 SPA 路由原理——用纯 JavaScript 实现了 Hash 路由、localStorage 状态管理、DOM 动态更新，理解了单页应用的原理，这是现代前端框架的基础。</a:t>
            </a:r>
          </a:p>
          <a:p>
            <a:endParaRPr lang="zh-CN" dirty="0"/>
          </a:p>
          <a:p>
            <a:r>
              <a:rPr lang="zh-CN" dirty="0"/>
              <a:t>4. 工程流程——经历了完整的软件工程过程：需求分析（SRS）、架构设计（架构图、ER 图）、实现编码（模块化、代码规范）、测试验证（手动测试用例）、文档交付。</a:t>
            </a:r>
          </a:p>
          <a:p>
            <a:endParaRPr lang="zh-CN" dirty="0"/>
          </a:p>
          <a:p>
            <a:r>
              <a:rPr lang="zh-CN" dirty="0"/>
              <a:t>5. AI 集成能力——成功集成了 OpenRouter API，调用 Qwen 模型函数，实现了"AI 美食助手"功能。这说明我们不仅懂传统 Web 技术，也能跟上 AI 时代的节拍。</a:t>
            </a:r>
          </a:p>
          <a:p>
            <a:endParaRPr lang="zh-CN" dirty="0"/>
          </a:p>
          <a:p>
            <a:r>
              <a:rPr lang="zh-CN" dirty="0"/>
              <a:t>过渡短语</a:t>
            </a:r>
          </a:p>
          <a:p>
            <a:endParaRPr lang="zh-CN" dirty="0"/>
          </a:p>
          <a:p>
            <a:r>
              <a:rPr lang="zh-CN" dirty="0"/>
              <a:t>总结一下，我们的项目是一个完整的工程实践，体现了扎实的技术基础和前沿的应用意识。</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感谢老师与同学的支持</a:t>
            </a:r>
          </a:p>
          <a:p>
            <a:r>
              <a:rPr lang="zh-CN" dirty="0"/>
              <a:t>• 项目团队的分工与协作</a:t>
            </a:r>
          </a:p>
          <a:p>
            <a:r>
              <a:rPr lang="zh-CN" dirty="0"/>
              <a:t>• 欢迎讨论与建议</a:t>
            </a:r>
          </a:p>
          <a:p>
            <a:endParaRPr lang="zh-CN" dirty="0"/>
          </a:p>
          <a:p>
            <a:r>
              <a:rPr lang="zh-CN" dirty="0"/>
              <a:t>详细说明</a:t>
            </a:r>
          </a:p>
          <a:p>
            <a:endParaRPr lang="zh-CN" dirty="0"/>
          </a:p>
          <a:p>
            <a:r>
              <a:rPr lang="zh-CN" dirty="0"/>
              <a:t>非常感谢各位老师与同学的关注。这个项目能够顺利完成，离不开指导老师的意见反馈、团队成员的紧密配合。我们的团队分工明确：前端、后端、数据库、测试各司其职，又在设计阶段紧密配合，最终协作完成了这个完整的系统。</a:t>
            </a:r>
          </a:p>
          <a:p>
            <a:endParaRPr lang="zh-CN" dirty="0"/>
          </a:p>
          <a:p>
            <a:r>
              <a:rPr lang="zh-CN" dirty="0"/>
              <a:t>特别感谢项目经理张钊源的组织协调、各位技术负责人的深度投入，以及整个团队对软件工程这门课的认真态度。</a:t>
            </a:r>
          </a:p>
          <a:p>
            <a:endParaRPr lang="zh-CN" dirty="0"/>
          </a:p>
          <a:p>
            <a:r>
              <a:rPr lang="zh-CN" dirty="0"/>
              <a:t>我们欢迎各位提出意见和建议，如果对系统的技术细节感兴趣，也欢迎课后继续讨论。</a:t>
            </a:r>
          </a:p>
          <a:p>
            <a:endParaRPr lang="zh-CN" dirty="0"/>
          </a:p>
          <a:p>
            <a:r>
              <a:rPr lang="zh-CN" dirty="0"/>
              <a:t>过渡短语</a:t>
            </a:r>
          </a:p>
          <a:p>
            <a:endParaRPr lang="zh-CN" dirty="0"/>
          </a:p>
          <a:p>
            <a:r>
              <a:rPr lang="zh-CN" dirty="0"/>
              <a:t>现在我们进入 Q&amp;A 环节。</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1.5 分钟</a:t>
            </a:r>
          </a:p>
          <a:p>
            <a:endParaRPr lang="zh-CN" dirty="0"/>
          </a:p>
          <a:p>
            <a:r>
              <a:rPr lang="zh-CN" dirty="0"/>
              <a:t>关键要点</a:t>
            </a:r>
          </a:p>
          <a:p>
            <a:endParaRPr lang="zh-CN" dirty="0"/>
          </a:p>
          <a:p>
            <a:r>
              <a:rPr lang="zh-CN" dirty="0"/>
              <a:t>• 三个核心模块：认证、窗口管理、评价反馈</a:t>
            </a:r>
          </a:p>
          <a:p>
            <a:r>
              <a:rPr lang="zh-CN" dirty="0"/>
              <a:t>• 每个模块的具体功能分解</a:t>
            </a:r>
          </a:p>
          <a:p>
            <a:r>
              <a:rPr lang="zh-CN" dirty="0"/>
              <a:t>• 核心技术与实现策略</a:t>
            </a:r>
          </a:p>
          <a:p>
            <a:endParaRPr lang="zh-CN" dirty="0"/>
          </a:p>
          <a:p>
            <a:r>
              <a:rPr lang="zh-CN" dirty="0"/>
              <a:t>详细说明</a:t>
            </a:r>
          </a:p>
          <a:p>
            <a:endParaRPr lang="zh-CN" dirty="0"/>
          </a:p>
          <a:p>
            <a:r>
              <a:rPr lang="zh-CN" dirty="0"/>
              <a:t>在需求分析阶段，我们将系统分解为三个核心功能模块。</a:t>
            </a:r>
          </a:p>
          <a:p>
            <a:endParaRPr lang="zh-CN" dirty="0"/>
          </a:p>
          <a:p>
            <a:r>
              <a:rPr lang="zh-CN" dirty="0"/>
              <a:t>用户认证模块负责用户管理。包括注册和登录机制、登出与会话管理、密码修改、当前用户信息获取、以及登录态校验。这个模块的核心技术是 JWT Token，我们使用密码哈希来确保安全，使用 JWT 来实现无状态的分布式认证。</a:t>
            </a:r>
          </a:p>
          <a:p>
            <a:endParaRPr lang="zh-CN" dirty="0"/>
          </a:p>
          <a:p>
            <a:r>
              <a:rPr lang="zh-CN" dirty="0"/>
              <a:t>窗口管理模块负责信息展示和搜索。包括食堂与窗口列表、详情页、关键字搜索、多维筛选（按食堂、按分类、按标签、按价格区间）以及多维排序。这部分的核心是 RESTful API 设计，我们通过分页查询、动态筛选条件、以及数据库索引优化来提升性能。</a:t>
            </a:r>
          </a:p>
          <a:p>
            <a:endParaRPr lang="zh-CN" dirty="0"/>
          </a:p>
          <a:p>
            <a:r>
              <a:rPr lang="zh-CN" dirty="0"/>
              <a:t>评价反馈模块负责互动和排行。包括评分与评论提交、修改、删除、排行榜统计与展示、收藏和拉黑功能。这部分的核心技术是数据库事务和聚合查询，我们通过联合唯一约束来实现"单用户单窗口单评价"的策略。</a:t>
            </a:r>
          </a:p>
          <a:p>
            <a:endParaRPr lang="zh-CN" dirty="0"/>
          </a:p>
          <a:p>
            <a:r>
              <a:rPr lang="zh-CN" dirty="0"/>
              <a:t>过渡短语</a:t>
            </a:r>
          </a:p>
          <a:p>
            <a:endParaRPr lang="zh-CN" dirty="0"/>
          </a:p>
          <a:p>
            <a:r>
              <a:rPr lang="zh-CN" dirty="0"/>
              <a:t>现在让我们看看这些需求如何组织成一份完整功能清单。</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zh-CN" dirty="0"/>
              <a:t>演讲时间: 0.5 分钟</a:t>
            </a:r>
          </a:p>
          <a:p>
            <a:endParaRPr lang="zh-CN" dirty="0"/>
          </a:p>
          <a:p>
            <a:r>
              <a:rPr lang="zh-CN" dirty="0"/>
              <a:t>关键要点</a:t>
            </a:r>
          </a:p>
          <a:p>
            <a:endParaRPr lang="zh-CN" dirty="0"/>
          </a:p>
          <a:p>
            <a:r>
              <a:rPr lang="zh-CN" dirty="0"/>
              <a:t>• 再次感谢</a:t>
            </a:r>
          </a:p>
          <a:p>
            <a:r>
              <a:rPr lang="zh-CN" dirty="0"/>
              <a:t>• 开启问答环节</a:t>
            </a:r>
          </a:p>
          <a:p>
            <a:r>
              <a:rPr lang="zh-CN" dirty="0"/>
              <a:t>• 项目信息总结</a:t>
            </a:r>
          </a:p>
          <a:p>
            <a:endParaRPr lang="zh-CN" dirty="0"/>
          </a:p>
          <a:p>
            <a:r>
              <a:rPr lang="zh-CN" dirty="0"/>
              <a:t>详细说明</a:t>
            </a:r>
          </a:p>
          <a:p>
            <a:endParaRPr lang="zh-CN" dirty="0"/>
          </a:p>
          <a:p>
            <a:r>
              <a:rPr lang="zh-CN" dirty="0"/>
              <a:t>感谢各位的倾听！我们的演讲到此结束。这个项目是我们对《软件工程》课程的完整实践，既检验了前面所学的理论知识，也提升了我们的实际工程能力。</a:t>
            </a:r>
          </a:p>
          <a:p>
            <a:endParaRPr lang="zh-CN" dirty="0"/>
          </a:p>
          <a:p>
            <a:r>
              <a:rPr lang="zh-CN" dirty="0"/>
              <a:t>项目的所有细节——从代码到文档——都开源在 GitHub 上，欢迎任何人 star、fork 或提出 issue。</a:t>
            </a:r>
          </a:p>
          <a:p>
            <a:endParaRPr lang="zh-CN" dirty="0"/>
          </a:p>
          <a:p>
            <a:r>
              <a:rPr lang="zh-CN" dirty="0"/>
              <a:t>现在欢迎大家提问，我们团队会尽力解答系统的各个方面。</a:t>
            </a:r>
          </a:p>
          <a:p>
            <a:endParaRPr lang="zh-CN" dirty="0"/>
          </a:p>
          <a:p>
            <a:r>
              <a:rPr lang="zh-CN" dirty="0"/>
              <a:t>演讲总时长: 约 16 分钟（每页平均 1 分钟）</a:t>
            </a:r>
          </a:p>
          <a:p>
            <a:endParaRPr lang="zh-CN" dirty="0"/>
          </a:p>
          <a:p>
            <a:r>
              <a:rPr lang="zh-CN" dirty="0"/>
              <a:t>说话节奏建议:</a:t>
            </a:r>
          </a:p>
          <a:p>
            <a:r>
              <a:rPr lang="zh-CN" dirty="0"/>
              <a:t>• 初期（第 1-4 页）：缓缓引入，让听众进入状态</a:t>
            </a:r>
          </a:p>
          <a:p>
            <a:r>
              <a:rPr lang="zh-CN" dirty="0"/>
              <a:t>• 中期（第 5-12 页）：逐步加速，展示技术深度</a:t>
            </a:r>
          </a:p>
          <a:p>
            <a:r>
              <a:rPr lang="zh-CN" dirty="0"/>
              <a:t>• 高潮（第 13-14 页）：突出成果与亮点</a:t>
            </a:r>
          </a:p>
          <a:p>
            <a:r>
              <a:rPr lang="zh-CN" dirty="0"/>
              <a:t>• 收尾（第 15-16 页）：感谢与开放姿态</a:t>
            </a:r>
          </a:p>
          <a:p>
            <a:endParaRPr lang="zh-CN" dirty="0"/>
          </a:p>
          <a:p>
            <a:r>
              <a:rPr lang="zh-CN" dirty="0"/>
              <a:t>关键的停顿点: 在第 7 页（架构）、第 9 页（后端技术）、第 13 页（项目成果）处，暂停给听众 [Pause] 吸收重点。</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698813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image" Target="../media/image5.svg"/><Relationship Id="rId21" Type="http://schemas.openxmlformats.org/officeDocument/2006/relationships/tags" Target="../tags/tag21.xml"/><Relationship Id="rId34" Type="http://schemas.openxmlformats.org/officeDocument/2006/relationships/notesSlide" Target="../notesSlides/notesSlide2.xml"/><Relationship Id="rId42" Type="http://schemas.openxmlformats.org/officeDocument/2006/relationships/image" Target="../media/image8.sv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image" Target="../media/image7.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image" Target="../media/image3.svg"/><Relationship Id="rId40" Type="http://schemas.openxmlformats.org/officeDocument/2006/relationships/image" Target="../media/image6.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image" Target="../media/image2.sv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image" Target="../media/image1.sv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slideLayout" Target="../slideLayouts/slideLayout12.xml"/><Relationship Id="rId38"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3" Type="http://schemas.openxmlformats.org/officeDocument/2006/relationships/tags" Target="../tags/tag45.xml"/><Relationship Id="rId18" Type="http://schemas.openxmlformats.org/officeDocument/2006/relationships/tags" Target="../tags/tag50.xml"/><Relationship Id="rId26" Type="http://schemas.openxmlformats.org/officeDocument/2006/relationships/tags" Target="../tags/tag58.xml"/><Relationship Id="rId39" Type="http://schemas.openxmlformats.org/officeDocument/2006/relationships/tags" Target="../tags/tag71.xml"/><Relationship Id="rId21" Type="http://schemas.openxmlformats.org/officeDocument/2006/relationships/tags" Target="../tags/tag53.xml"/><Relationship Id="rId34" Type="http://schemas.openxmlformats.org/officeDocument/2006/relationships/tags" Target="../tags/tag66.xml"/><Relationship Id="rId42" Type="http://schemas.openxmlformats.org/officeDocument/2006/relationships/tags" Target="../tags/tag74.xml"/><Relationship Id="rId7" Type="http://schemas.openxmlformats.org/officeDocument/2006/relationships/tags" Target="../tags/tag39.xml"/><Relationship Id="rId2" Type="http://schemas.openxmlformats.org/officeDocument/2006/relationships/tags" Target="../tags/tag34.xml"/><Relationship Id="rId16" Type="http://schemas.openxmlformats.org/officeDocument/2006/relationships/tags" Target="../tags/tag48.xml"/><Relationship Id="rId29" Type="http://schemas.openxmlformats.org/officeDocument/2006/relationships/tags" Target="../tags/tag61.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56.xml"/><Relationship Id="rId32" Type="http://schemas.openxmlformats.org/officeDocument/2006/relationships/tags" Target="../tags/tag64.xml"/><Relationship Id="rId37" Type="http://schemas.openxmlformats.org/officeDocument/2006/relationships/tags" Target="../tags/tag69.xml"/><Relationship Id="rId40" Type="http://schemas.openxmlformats.org/officeDocument/2006/relationships/tags" Target="../tags/tag72.xml"/><Relationship Id="rId45" Type="http://schemas.openxmlformats.org/officeDocument/2006/relationships/image" Target="../media/image9.png"/><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55.xml"/><Relationship Id="rId28" Type="http://schemas.openxmlformats.org/officeDocument/2006/relationships/tags" Target="../tags/tag60.xml"/><Relationship Id="rId36" Type="http://schemas.openxmlformats.org/officeDocument/2006/relationships/tags" Target="../tags/tag68.xml"/><Relationship Id="rId10" Type="http://schemas.openxmlformats.org/officeDocument/2006/relationships/tags" Target="../tags/tag42.xml"/><Relationship Id="rId19" Type="http://schemas.openxmlformats.org/officeDocument/2006/relationships/tags" Target="../tags/tag51.xml"/><Relationship Id="rId31" Type="http://schemas.openxmlformats.org/officeDocument/2006/relationships/tags" Target="../tags/tag63.xml"/><Relationship Id="rId44" Type="http://schemas.openxmlformats.org/officeDocument/2006/relationships/notesSlide" Target="../notesSlides/notesSlide4.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 Id="rId27" Type="http://schemas.openxmlformats.org/officeDocument/2006/relationships/tags" Target="../tags/tag59.xml"/><Relationship Id="rId30" Type="http://schemas.openxmlformats.org/officeDocument/2006/relationships/tags" Target="../tags/tag62.xml"/><Relationship Id="rId35" Type="http://schemas.openxmlformats.org/officeDocument/2006/relationships/tags" Target="../tags/tag67.xml"/><Relationship Id="rId43" Type="http://schemas.openxmlformats.org/officeDocument/2006/relationships/slideLayout" Target="../slideLayouts/slideLayout12.xml"/><Relationship Id="rId8" Type="http://schemas.openxmlformats.org/officeDocument/2006/relationships/tags" Target="../tags/tag40.xml"/><Relationship Id="rId3" Type="http://schemas.openxmlformats.org/officeDocument/2006/relationships/tags" Target="../tags/tag35.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33" Type="http://schemas.openxmlformats.org/officeDocument/2006/relationships/tags" Target="../tags/tag65.xml"/><Relationship Id="rId38" Type="http://schemas.openxmlformats.org/officeDocument/2006/relationships/tags" Target="../tags/tag70.xml"/><Relationship Id="rId20" Type="http://schemas.openxmlformats.org/officeDocument/2006/relationships/tags" Target="../tags/tag52.xml"/><Relationship Id="rId41" Type="http://schemas.openxmlformats.org/officeDocument/2006/relationships/tags" Target="../tags/tag7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4.sv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tags" Target="../tags/tag92.xml"/><Relationship Id="rId3" Type="http://schemas.openxmlformats.org/officeDocument/2006/relationships/tags" Target="../tags/tag77.xml"/><Relationship Id="rId21" Type="http://schemas.openxmlformats.org/officeDocument/2006/relationships/tags" Target="../tags/tag95.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notesSlide" Target="../notesSlides/notesSlide11.xml"/><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slideLayout" Target="../slideLayouts/slideLayout12.xml"/><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tags" Target="../tags/tag97.xml"/><Relationship Id="rId10" Type="http://schemas.openxmlformats.org/officeDocument/2006/relationships/tags" Target="../tags/tag84.xml"/><Relationship Id="rId19" Type="http://schemas.openxmlformats.org/officeDocument/2006/relationships/tags" Target="../tags/tag93.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tags" Target="../tags/tag9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3" Type="http://schemas.openxmlformats.org/officeDocument/2006/relationships/tags" Target="../tags/tag100.xml"/><Relationship Id="rId21" Type="http://schemas.openxmlformats.org/officeDocument/2006/relationships/tags" Target="../tags/tag118.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notesSlide" Target="../notesSlides/notesSlide18.xml"/><Relationship Id="rId10" Type="http://schemas.openxmlformats.org/officeDocument/2006/relationships/tags" Target="../tags/tag107.xml"/><Relationship Id="rId19" Type="http://schemas.openxmlformats.org/officeDocument/2006/relationships/tags" Target="../tags/tag116.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3" Type="http://schemas.openxmlformats.org/officeDocument/2006/relationships/tags" Target="../tags/tag121.xml"/><Relationship Id="rId21" Type="http://schemas.openxmlformats.org/officeDocument/2006/relationships/tags" Target="../tags/tag139.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notesSlide" Target="../notesSlides/notesSlide21.xml"/><Relationship Id="rId10" Type="http://schemas.openxmlformats.org/officeDocument/2006/relationships/tags" Target="../tags/tag128.xml"/><Relationship Id="rId19" Type="http://schemas.openxmlformats.org/officeDocument/2006/relationships/tags" Target="../tags/tag137.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tags" Target="../tags/tag157.xml"/><Relationship Id="rId3" Type="http://schemas.openxmlformats.org/officeDocument/2006/relationships/tags" Target="../tags/tag142.xml"/><Relationship Id="rId21" Type="http://schemas.openxmlformats.org/officeDocument/2006/relationships/tags" Target="../tags/tag160.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tags" Target="../tags/tag15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tags" Target="../tags/tag159.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tags" Target="../tags/tag154.xml"/><Relationship Id="rId23" Type="http://schemas.openxmlformats.org/officeDocument/2006/relationships/notesSlide" Target="../notesSlides/notesSlide23.xml"/><Relationship Id="rId10" Type="http://schemas.openxmlformats.org/officeDocument/2006/relationships/tags" Target="../tags/tag149.xml"/><Relationship Id="rId19" Type="http://schemas.openxmlformats.org/officeDocument/2006/relationships/tags" Target="../tags/tag158.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 Id="rId22"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004E97">
                  <a:alpha val="8000"/>
                </a:srgbClr>
              </a:gs>
              <a:gs pos="100000">
                <a:srgbClr val="004E97">
                  <a:alpha val="0"/>
                </a:srgbClr>
              </a:gs>
            </a:gsLst>
            <a:path path="circle">
              <a:fillToRect l="50000" t="50000" r="50000" b="50000"/>
            </a:path>
          </a:gradFill>
          <a:ln>
            <a:noFill/>
          </a:ln>
        </p:spPr>
      </p:sp>
      <p:sp>
        <p:nvSpPr>
          <p:cNvPr id="4" name="Ellipse 4"/>
          <p:cNvSpPr/>
          <p:nvPr/>
        </p:nvSpPr>
        <p:spPr>
          <a:xfrm>
            <a:off x="666750" y="190500"/>
            <a:ext cx="1524000" cy="1524000"/>
          </a:xfrm>
          <a:prstGeom prst="ellipse">
            <a:avLst/>
          </a:prstGeom>
          <a:solidFill>
            <a:srgbClr val="004E97">
              <a:alpha val="5000"/>
            </a:srgbClr>
          </a:solidFill>
          <a:ln>
            <a:noFill/>
          </a:ln>
        </p:spPr>
      </p:sp>
      <p:sp>
        <p:nvSpPr>
          <p:cNvPr id="5" name="Ellipse 5"/>
          <p:cNvSpPr/>
          <p:nvPr/>
        </p:nvSpPr>
        <p:spPr>
          <a:xfrm>
            <a:off x="666750" y="285750"/>
            <a:ext cx="952500" cy="952500"/>
          </a:xfrm>
          <a:prstGeom prst="ellipse">
            <a:avLst/>
          </a:prstGeom>
          <a:solidFill>
            <a:srgbClr val="E6C46D">
              <a:alpha val="10000"/>
            </a:srgbClr>
          </a:solidFill>
          <a:ln>
            <a:noFill/>
          </a:ln>
        </p:spPr>
      </p:sp>
      <p:sp>
        <p:nvSpPr>
          <p:cNvPr id="6" name="Ellipse 6"/>
          <p:cNvSpPr/>
          <p:nvPr/>
        </p:nvSpPr>
        <p:spPr>
          <a:xfrm>
            <a:off x="10001250" y="5238750"/>
            <a:ext cx="1905000" cy="1905000"/>
          </a:xfrm>
          <a:prstGeom prst="ellipse">
            <a:avLst/>
          </a:prstGeom>
          <a:solidFill>
            <a:srgbClr val="A9C37C">
              <a:alpha val="8000"/>
            </a:srgbClr>
          </a:solidFill>
          <a:ln>
            <a:noFill/>
          </a:ln>
        </p:spPr>
      </p:sp>
      <p:sp>
        <p:nvSpPr>
          <p:cNvPr id="7" name="Ellipse 7"/>
          <p:cNvSpPr/>
          <p:nvPr/>
        </p:nvSpPr>
        <p:spPr>
          <a:xfrm>
            <a:off x="10858500" y="5905500"/>
            <a:ext cx="1143000" cy="1143000"/>
          </a:xfrm>
          <a:prstGeom prst="ellipse">
            <a:avLst/>
          </a:prstGeom>
          <a:solidFill>
            <a:srgbClr val="E6C46D">
              <a:alpha val="12000"/>
            </a:srgbClr>
          </a:solidFill>
          <a:ln>
            <a:noFill/>
          </a:ln>
        </p:spPr>
      </p:sp>
      <p:sp>
        <p:nvSpPr>
          <p:cNvPr id="8" name="Rectangle 8"/>
          <p:cNvSpPr/>
          <p:nvPr/>
        </p:nvSpPr>
        <p:spPr>
          <a:xfrm>
            <a:off x="0" y="2667000"/>
            <a:ext cx="12192000" cy="1524000"/>
          </a:xfrm>
          <a:prstGeom prst="rect">
            <a:avLst/>
          </a:prstGeom>
          <a:solidFill>
            <a:srgbClr val="004E97">
              <a:alpha val="4000"/>
            </a:srgbClr>
          </a:solidFill>
          <a:ln>
            <a:noFill/>
          </a:ln>
        </p:spPr>
        <p:txBody>
          <a:bodyPr/>
          <a:lstStyle/>
          <a:p>
            <a:endParaRPr lang="zh-CN" altLang="en-US" dirty="0">
              <a:latin typeface="Noto Serif SC"/>
              <a:ea typeface="Noto Serif SC"/>
              <a:cs typeface="Noto Serif SC"/>
            </a:endParaRPr>
          </a:p>
        </p:txBody>
      </p:sp>
      <p:sp>
        <p:nvSpPr>
          <p:cNvPr id="9" name="TextBox 9"/>
          <p:cNvSpPr txBox="1"/>
          <p:nvPr/>
        </p:nvSpPr>
        <p:spPr>
          <a:xfrm>
            <a:off x="2700840" y="2836446"/>
            <a:ext cx="6790320" cy="677108"/>
          </a:xfrm>
          <a:prstGeom prst="rect">
            <a:avLst/>
          </a:prstGeom>
          <a:noFill/>
          <a:ln>
            <a:noFill/>
          </a:ln>
        </p:spPr>
        <p:txBody>
          <a:bodyPr wrap="none" lIns="0" tIns="0" rIns="0" bIns="0" anchor="t" anchorCtr="0">
            <a:spAutoFit/>
          </a:bodyPr>
          <a:lstStyle/>
          <a:p>
            <a:pPr algn="ctr"/>
            <a:r>
              <a:rPr lang="zh-CN" sz="4400" b="1" dirty="0">
                <a:solidFill>
                  <a:srgbClr val="004E97"/>
                </a:solidFill>
                <a:latin typeface="黑体"/>
                <a:ea typeface="黑体"/>
                <a:cs typeface="黑体"/>
              </a:rPr>
              <a:t>西安交通大学食堂评价系统</a:t>
            </a:r>
          </a:p>
        </p:txBody>
      </p:sp>
      <p:sp>
        <p:nvSpPr>
          <p:cNvPr id="10" name="TextBox 10"/>
          <p:cNvSpPr txBox="1"/>
          <p:nvPr/>
        </p:nvSpPr>
        <p:spPr>
          <a:xfrm>
            <a:off x="4249340" y="3651250"/>
            <a:ext cx="3693319" cy="369332"/>
          </a:xfrm>
          <a:prstGeom prst="rect">
            <a:avLst/>
          </a:prstGeom>
          <a:noFill/>
          <a:ln>
            <a:noFill/>
          </a:ln>
        </p:spPr>
        <p:txBody>
          <a:bodyPr wrap="none" lIns="0" tIns="0" rIns="0" bIns="0" anchor="t" anchorCtr="0">
            <a:spAutoFit/>
          </a:bodyPr>
          <a:lstStyle/>
          <a:p>
            <a:pPr algn="ctr"/>
            <a:r>
              <a:rPr lang="zh-CN" sz="2400" dirty="0">
                <a:solidFill>
                  <a:srgbClr val="2B2B2B"/>
                </a:solidFill>
                <a:latin typeface="思源宋体" panose="02020400000000000000" pitchFamily="18" charset="-122"/>
                <a:ea typeface="思源宋体" panose="02020400000000000000" pitchFamily="18" charset="-122"/>
                <a:cs typeface="Noto Serif SC"/>
              </a:rPr>
              <a:t>《软件工程》课程项目答辩</a:t>
            </a:r>
          </a:p>
        </p:txBody>
      </p:sp>
      <p:sp>
        <p:nvSpPr>
          <p:cNvPr id="11" name="Line 11"/>
          <p:cNvSpPr/>
          <p:nvPr/>
        </p:nvSpPr>
        <p:spPr>
          <a:xfrm>
            <a:off x="3810000" y="4222750"/>
            <a:ext cx="4572000" cy="9525"/>
          </a:xfrm>
          <a:custGeom>
            <a:avLst/>
            <a:gdLst/>
            <a:ahLst/>
            <a:cxnLst/>
            <a:rect l="l" t="t" r="r" b="b"/>
            <a:pathLst>
              <a:path w="4572000" h="9525">
                <a:moveTo>
                  <a:pt x="0" y="0"/>
                </a:moveTo>
                <a:lnTo>
                  <a:pt x="4572000" y="0"/>
                </a:lnTo>
              </a:path>
            </a:pathLst>
          </a:custGeom>
          <a:noFill/>
          <a:ln w="19050">
            <a:solidFill>
              <a:srgbClr val="E6C46D"/>
            </a:solidFill>
          </a:ln>
        </p:spPr>
      </p:sp>
      <p:sp>
        <p:nvSpPr>
          <p:cNvPr id="12" name="TextBox 12"/>
          <p:cNvSpPr txBox="1"/>
          <p:nvPr/>
        </p:nvSpPr>
        <p:spPr>
          <a:xfrm>
            <a:off x="2864346" y="4540250"/>
            <a:ext cx="6463308" cy="276999"/>
          </a:xfrm>
          <a:prstGeom prst="rect">
            <a:avLst/>
          </a:prstGeom>
          <a:noFill/>
          <a:ln>
            <a:noFill/>
          </a:ln>
        </p:spPr>
        <p:txBody>
          <a:bodyPr wrap="none" lIns="0" tIns="0" rIns="0" bIns="0" anchor="t" anchorCtr="0">
            <a:spAutoFit/>
          </a:bodyPr>
          <a:lstStyle/>
          <a:p>
            <a:pPr algn="ctr"/>
            <a:r>
              <a:rPr lang="zh-CN" sz="1800" dirty="0">
                <a:solidFill>
                  <a:srgbClr val="333333"/>
                </a:solidFill>
                <a:latin typeface="思源宋体" panose="02020400000000000000" pitchFamily="18" charset="-122"/>
                <a:ea typeface="思源宋体" panose="02020400000000000000" pitchFamily="18" charset="-122"/>
                <a:cs typeface="Noto Serif SC"/>
              </a:rPr>
              <a:t>项目成员：、、、、、</a:t>
            </a:r>
          </a:p>
        </p:txBody>
      </p:sp>
      <p:sp>
        <p:nvSpPr>
          <p:cNvPr id="13" name="TextBox 13"/>
          <p:cNvSpPr txBox="1"/>
          <p:nvPr/>
        </p:nvSpPr>
        <p:spPr>
          <a:xfrm>
            <a:off x="5455600" y="5022850"/>
            <a:ext cx="1280800" cy="276999"/>
          </a:xfrm>
          <a:prstGeom prst="rect">
            <a:avLst/>
          </a:prstGeom>
          <a:noFill/>
          <a:ln>
            <a:noFill/>
          </a:ln>
        </p:spPr>
        <p:txBody>
          <a:bodyPr wrap="none" lIns="0" tIns="0" rIns="0" bIns="0" anchor="t" anchorCtr="0">
            <a:spAutoFit/>
          </a:bodyPr>
          <a:lstStyle/>
          <a:p>
            <a:pPr algn="ctr"/>
            <a:r>
              <a:rPr lang="zh-CN" sz="1800" dirty="0">
                <a:solidFill>
                  <a:srgbClr val="333333"/>
                </a:solidFill>
                <a:latin typeface="思源宋体" panose="02020400000000000000" pitchFamily="18" charset="-122"/>
                <a:ea typeface="思源宋体" panose="02020400000000000000" pitchFamily="18" charset="-122"/>
                <a:cs typeface="Noto Serif SC"/>
              </a:rPr>
              <a:t>2026 年 4 月</a:t>
            </a:r>
          </a:p>
        </p:txBody>
      </p:sp>
      <p:sp>
        <p:nvSpPr>
          <p:cNvPr id="14" name="Line 1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Tree>
    <p:extLst>
      <p:ext uri="{BB962C8B-B14F-4D97-AF65-F5344CB8AC3E}">
        <p14:creationId xmlns:p14="http://schemas.microsoft.com/office/powerpoint/2010/main" val="171917349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0039D294-9A9B-491E-BA37-D0AE3B9F589F}"/>
              </a:ext>
            </a:extLst>
          </p:cNvPr>
          <p:cNvSpPr/>
          <p:nvPr/>
        </p:nvSpPr>
        <p:spPr>
          <a:xfrm>
            <a:off x="0" y="0"/>
            <a:ext cx="12192000" cy="863600"/>
          </a:xfrm>
          <a:prstGeom prst="rect">
            <a:avLst/>
          </a:prstGeom>
          <a:solidFill>
            <a:srgbClr val="004E97">
              <a:alpha val="6000"/>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
        <p:nvSpPr>
          <p:cNvPr id="15" name="AutoShape 15"/>
          <p:cNvSpPr/>
          <p:nvPr>
            <p:custDataLst>
              <p:tags r:id="rId1"/>
            </p:custDataLst>
          </p:nvPr>
        </p:nvSpPr>
        <p:spPr>
          <a:xfrm>
            <a:off x="90805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11" name="AutoShape 11"/>
          <p:cNvSpPr/>
          <p:nvPr>
            <p:custDataLst>
              <p:tags r:id="rId2"/>
            </p:custDataLst>
          </p:nvPr>
        </p:nvSpPr>
        <p:spPr>
          <a:xfrm>
            <a:off x="62230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23" name="AutoShape 23"/>
          <p:cNvSpPr/>
          <p:nvPr>
            <p:custDataLst>
              <p:tags r:id="rId3"/>
            </p:custDataLst>
          </p:nvPr>
        </p:nvSpPr>
        <p:spPr>
          <a:xfrm>
            <a:off x="339725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27" name="AutoShape 27"/>
          <p:cNvSpPr/>
          <p:nvPr>
            <p:custDataLst>
              <p:tags r:id="rId4"/>
            </p:custDataLst>
          </p:nvPr>
        </p:nvSpPr>
        <p:spPr>
          <a:xfrm>
            <a:off x="62230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3" name="AutoShape 3"/>
          <p:cNvSpPr/>
          <p:nvPr>
            <p:custDataLst>
              <p:tags r:id="rId5"/>
            </p:custDataLst>
          </p:nvPr>
        </p:nvSpPr>
        <p:spPr>
          <a:xfrm>
            <a:off x="5080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4" name="Picture 4"/>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62000" y="1524000"/>
            <a:ext cx="508000" cy="508000"/>
          </a:xfrm>
          <a:prstGeom prst="rect">
            <a:avLst/>
          </a:prstGeom>
        </p:spPr>
      </p:pic>
      <p:sp>
        <p:nvSpPr>
          <p:cNvPr id="5" name="AutoShape 5"/>
          <p:cNvSpPr/>
          <p:nvPr>
            <p:custDataLst>
              <p:tags r:id="rId7"/>
            </p:custDataLst>
          </p:nvPr>
        </p:nvSpPr>
        <p:spPr>
          <a:xfrm>
            <a:off x="139700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立项背景</a:t>
            </a:r>
            <a:endParaRPr lang="en-US" sz="1100" dirty="0">
              <a:latin typeface="思源黑体 CN" panose="020B0500000000000000" pitchFamily="34" charset="-122"/>
              <a:ea typeface="思源黑体 CN" panose="020B0500000000000000" pitchFamily="34" charset="-122"/>
              <a:cs typeface="Noto Serif SC"/>
            </a:endParaRPr>
          </a:p>
        </p:txBody>
      </p:sp>
      <p:sp>
        <p:nvSpPr>
          <p:cNvPr id="6" name="AutoShape 6"/>
          <p:cNvSpPr/>
          <p:nvPr>
            <p:custDataLst>
              <p:tags r:id="rId8"/>
            </p:custDataLst>
          </p:nvPr>
        </p:nvSpPr>
        <p:spPr>
          <a:xfrm>
            <a:off x="76200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明确项目建设的核心目标</a:t>
            </a:r>
            <a:r>
              <a:rPr lang="zh-CN" altLang="en-US" b="0" i="0" u="none" strike="noStrike" dirty="0">
                <a:latin typeface="思源宋体" panose="02020400000000000000" pitchFamily="18" charset="-122"/>
                <a:ea typeface="思源宋体" panose="02020400000000000000" pitchFamily="18" charset="-122"/>
                <a:sym typeface="Noto Sans SC" panose="020B0200000000000000" charset="-122"/>
              </a:rPr>
              <a:t>，分析其可行性</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确立整体研发方向与里程碑</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7" name="AutoShape 7"/>
          <p:cNvSpPr/>
          <p:nvPr>
            <p:custDataLst>
              <p:tags r:id="rId9"/>
            </p:custDataLst>
          </p:nvPr>
        </p:nvSpPr>
        <p:spPr>
          <a:xfrm>
            <a:off x="3365500" y="1270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8" name="Picture 8"/>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541770" y="1524000"/>
            <a:ext cx="508000" cy="508000"/>
          </a:xfrm>
          <a:prstGeom prst="rect">
            <a:avLst/>
          </a:prstGeom>
        </p:spPr>
      </p:pic>
      <p:sp>
        <p:nvSpPr>
          <p:cNvPr id="9" name="AutoShape 9"/>
          <p:cNvSpPr/>
          <p:nvPr>
            <p:custDataLst>
              <p:tags r:id="rId11"/>
            </p:custDataLst>
          </p:nvPr>
        </p:nvSpPr>
        <p:spPr>
          <a:xfrm>
            <a:off x="71767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需求分析</a:t>
            </a:r>
            <a:endParaRPr lang="en-US" sz="1100" dirty="0">
              <a:latin typeface="思源黑体 CN" panose="020B0500000000000000" pitchFamily="34" charset="-122"/>
              <a:ea typeface="思源黑体 CN" panose="020B0500000000000000" pitchFamily="34" charset="-122"/>
              <a:cs typeface="Noto Serif SC"/>
            </a:endParaRPr>
          </a:p>
        </p:txBody>
      </p:sp>
      <p:sp>
        <p:nvSpPr>
          <p:cNvPr id="10" name="AutoShape 10"/>
          <p:cNvSpPr/>
          <p:nvPr>
            <p:custDataLst>
              <p:tags r:id="rId12"/>
            </p:custDataLst>
          </p:nvPr>
        </p:nvSpPr>
        <p:spPr>
          <a:xfrm>
            <a:off x="654177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深度拆解用户痛点与业务场景，输出详细的需求规格说明书</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(PRD)。</a:t>
            </a:r>
            <a:endParaRPr lang="en-US" dirty="0">
              <a:latin typeface="思源宋体" panose="02020400000000000000" pitchFamily="18" charset="-122"/>
              <a:ea typeface="思源宋体" panose="02020400000000000000" pitchFamily="18" charset="-122"/>
              <a:cs typeface="Noto Serif SC"/>
            </a:endParaRPr>
          </a:p>
        </p:txBody>
      </p:sp>
      <p:pic>
        <p:nvPicPr>
          <p:cNvPr id="12" name="Picture 12"/>
          <p:cNvPicPr>
            <a:picLocks noChangeAspect="1"/>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399270" y="1524000"/>
            <a:ext cx="508000" cy="508000"/>
          </a:xfrm>
          <a:prstGeom prst="rect">
            <a:avLst/>
          </a:prstGeom>
        </p:spPr>
      </p:pic>
      <p:sp>
        <p:nvSpPr>
          <p:cNvPr id="13" name="AutoShape 13"/>
          <p:cNvSpPr/>
          <p:nvPr>
            <p:custDataLst>
              <p:tags r:id="rId14"/>
            </p:custDataLst>
          </p:nvPr>
        </p:nvSpPr>
        <p:spPr>
          <a:xfrm>
            <a:off x="100342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架构设计</a:t>
            </a:r>
            <a:endParaRPr lang="en-US" sz="1100" dirty="0">
              <a:latin typeface="思源黑体 CN" panose="020B0500000000000000" pitchFamily="34" charset="-122"/>
              <a:ea typeface="思源黑体 CN" panose="020B0500000000000000" pitchFamily="34" charset="-122"/>
              <a:cs typeface="Noto Serif SC"/>
            </a:endParaRPr>
          </a:p>
        </p:txBody>
      </p:sp>
      <p:sp>
        <p:nvSpPr>
          <p:cNvPr id="14" name="AutoShape 14"/>
          <p:cNvSpPr/>
          <p:nvPr>
            <p:custDataLst>
              <p:tags r:id="rId15"/>
            </p:custDataLst>
          </p:nvPr>
        </p:nvSpPr>
        <p:spPr>
          <a:xfrm>
            <a:off x="9399270"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构建高可用、可扩展的系统技术架构，制定数据库与接口交互规范</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16" name="Picture 16"/>
          <p:cNvPicPr>
            <a:picLocks noChangeAspect="1"/>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3630295" y="1524000"/>
            <a:ext cx="508000" cy="508000"/>
          </a:xfrm>
          <a:prstGeom prst="rect">
            <a:avLst/>
          </a:prstGeom>
        </p:spPr>
      </p:pic>
      <p:sp>
        <p:nvSpPr>
          <p:cNvPr id="19" name="AutoShape 19"/>
          <p:cNvSpPr/>
          <p:nvPr>
            <p:custDataLst>
              <p:tags r:id="rId17"/>
            </p:custDataLst>
          </p:nvPr>
        </p:nvSpPr>
        <p:spPr>
          <a:xfrm>
            <a:off x="5080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20" name="Picture 20"/>
          <p:cNvPicPr>
            <a:picLocks noChangeAspect="1"/>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62000" y="3937000"/>
            <a:ext cx="508000" cy="508000"/>
          </a:xfrm>
          <a:prstGeom prst="rect">
            <a:avLst/>
          </a:prstGeom>
        </p:spPr>
      </p:pic>
      <p:sp>
        <p:nvSpPr>
          <p:cNvPr id="21" name="AutoShape 21"/>
          <p:cNvSpPr/>
          <p:nvPr>
            <p:custDataLst>
              <p:tags r:id="rId19"/>
            </p:custDataLst>
          </p:nvPr>
        </p:nvSpPr>
        <p:spPr>
          <a:xfrm>
            <a:off x="1270000" y="3937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开发实现</a:t>
            </a:r>
            <a:endParaRPr lang="en-US" sz="1700" b="1" i="0" u="none" strike="noStrike" dirty="0">
              <a:latin typeface="思源黑体 CN" panose="020B0500000000000000" pitchFamily="34" charset="-122"/>
              <a:ea typeface="思源黑体 CN" panose="020B0500000000000000" pitchFamily="34" charset="-122"/>
              <a:sym typeface="Noto Sans SC" panose="020B0200000000000000" charset="-122"/>
            </a:endParaRPr>
          </a:p>
          <a:p>
            <a:pPr indent="0" algn="ctr">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（前端）</a:t>
            </a:r>
          </a:p>
        </p:txBody>
      </p:sp>
      <p:sp>
        <p:nvSpPr>
          <p:cNvPr id="22" name="AutoShape 22"/>
          <p:cNvSpPr/>
          <p:nvPr>
            <p:custDataLst>
              <p:tags r:id="rId20"/>
            </p:custDataLst>
          </p:nvPr>
        </p:nvSpPr>
        <p:spPr>
          <a:xfrm>
            <a:off x="70866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遵循统一编码规范，进行核心功能模块开发与代码走查，确保质量</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24" name="Picture 24"/>
          <p:cNvPicPr>
            <a:picLocks noChangeAspect="1"/>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6477000" y="3937000"/>
            <a:ext cx="508000" cy="508000"/>
          </a:xfrm>
          <a:prstGeom prst="rect">
            <a:avLst/>
          </a:prstGeom>
        </p:spPr>
      </p:pic>
      <p:sp>
        <p:nvSpPr>
          <p:cNvPr id="25" name="AutoShape 25"/>
          <p:cNvSpPr/>
          <p:nvPr>
            <p:custDataLst>
              <p:tags r:id="rId22"/>
            </p:custDataLst>
          </p:nvPr>
        </p:nvSpPr>
        <p:spPr>
          <a:xfrm>
            <a:off x="7112000" y="3937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测试验证</a:t>
            </a:r>
            <a:endParaRPr lang="en-US" sz="1100" dirty="0">
              <a:latin typeface="思源黑体 CN" panose="020B0500000000000000" pitchFamily="34" charset="-122"/>
              <a:ea typeface="思源黑体 CN" panose="020B0500000000000000" pitchFamily="34" charset="-122"/>
              <a:cs typeface="Noto Serif SC"/>
            </a:endParaRPr>
          </a:p>
        </p:txBody>
      </p:sp>
      <p:sp>
        <p:nvSpPr>
          <p:cNvPr id="26" name="AutoShape 26"/>
          <p:cNvSpPr/>
          <p:nvPr>
            <p:custDataLst>
              <p:tags r:id="rId23"/>
            </p:custDataLst>
          </p:nvPr>
        </p:nvSpPr>
        <p:spPr>
          <a:xfrm>
            <a:off x="647700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执行单元、集成及UAT测试，全方位排查Bug，保障系统稳定性与可靠性</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31" name="AutoShape 31"/>
          <p:cNvSpPr/>
          <p:nvPr>
            <p:custDataLst>
              <p:tags r:id="rId24"/>
            </p:custDataLst>
          </p:nvPr>
        </p:nvSpPr>
        <p:spPr>
          <a:xfrm>
            <a:off x="9080500" y="3683000"/>
            <a:ext cx="2603500" cy="2159000"/>
          </a:xfrm>
          <a:prstGeom prst="roundRect">
            <a:avLst>
              <a:gd name="adj" fmla="val 7058"/>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32" name="Picture 32"/>
          <p:cNvPicPr>
            <a:picLocks noChangeAspect="1"/>
          </p:cNvPicPr>
          <p:nvPr>
            <p:custDataLst>
              <p:tags r:id="rId2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9334500" y="3937000"/>
            <a:ext cx="508000" cy="508000"/>
          </a:xfrm>
          <a:prstGeom prst="rect">
            <a:avLst/>
          </a:prstGeom>
        </p:spPr>
      </p:pic>
      <p:sp>
        <p:nvSpPr>
          <p:cNvPr id="33" name="AutoShape 33"/>
          <p:cNvSpPr/>
          <p:nvPr>
            <p:custDataLst>
              <p:tags r:id="rId26"/>
            </p:custDataLst>
          </p:nvPr>
        </p:nvSpPr>
        <p:spPr>
          <a:xfrm>
            <a:off x="9969500" y="3937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成果展望</a:t>
            </a:r>
            <a:endParaRPr lang="en-US" sz="1100" dirty="0">
              <a:latin typeface="思源黑体 CN" panose="020B0500000000000000" pitchFamily="34" charset="-122"/>
              <a:ea typeface="思源黑体 CN" panose="020B0500000000000000" pitchFamily="34" charset="-122"/>
              <a:cs typeface="Noto Serif SC"/>
            </a:endParaRPr>
          </a:p>
        </p:txBody>
      </p:sp>
      <p:sp>
        <p:nvSpPr>
          <p:cNvPr id="34" name="AutoShape 34"/>
          <p:cNvSpPr/>
          <p:nvPr>
            <p:custDataLst>
              <p:tags r:id="rId27"/>
            </p:custDataLst>
          </p:nvPr>
        </p:nvSpPr>
        <p:spPr>
          <a:xfrm>
            <a:off x="933450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全面复盘项目核心交付成果，总结经验教训，规划下一阶段迭代方向</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sp>
        <p:nvSpPr>
          <p:cNvPr id="38" name="AutoShape 21"/>
          <p:cNvSpPr/>
          <p:nvPr>
            <p:custDataLst>
              <p:tags r:id="rId28"/>
            </p:custDataLst>
          </p:nvPr>
        </p:nvSpPr>
        <p:spPr>
          <a:xfrm>
            <a:off x="4149090" y="3937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700" b="1" i="0" u="none" strike="noStrike" dirty="0" err="1">
                <a:latin typeface="思源黑体 CN" panose="020B0500000000000000" pitchFamily="34" charset="-122"/>
                <a:ea typeface="思源黑体 CN" panose="020B0500000000000000" pitchFamily="34" charset="-122"/>
                <a:sym typeface="Noto Sans SC" panose="020B0200000000000000" charset="-122"/>
              </a:rPr>
              <a:t>开发实现</a:t>
            </a:r>
            <a:endParaRPr lang="en-US" sz="1700" b="1" i="0" u="none" strike="noStrike" dirty="0">
              <a:latin typeface="思源黑体 CN" panose="020B0500000000000000" pitchFamily="34" charset="-122"/>
              <a:ea typeface="思源黑体 CN" panose="020B0500000000000000" pitchFamily="34" charset="-122"/>
              <a:sym typeface="Noto Sans SC" panose="020B0200000000000000" charset="-122"/>
            </a:endParaRPr>
          </a:p>
          <a:p>
            <a:pPr indent="0" algn="ctr">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（后端）</a:t>
            </a:r>
          </a:p>
        </p:txBody>
      </p:sp>
      <p:sp>
        <p:nvSpPr>
          <p:cNvPr id="39" name="AutoShape 22"/>
          <p:cNvSpPr/>
          <p:nvPr>
            <p:custDataLst>
              <p:tags r:id="rId29"/>
            </p:custDataLst>
          </p:nvPr>
        </p:nvSpPr>
        <p:spPr>
          <a:xfrm>
            <a:off x="3587750" y="4635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遵循统一编码规范，进行核心功能模块开发与代码走查，确保质量</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dirty="0">
              <a:latin typeface="思源宋体" panose="02020400000000000000" pitchFamily="18" charset="-122"/>
              <a:ea typeface="思源宋体" panose="02020400000000000000" pitchFamily="18" charset="-122"/>
              <a:cs typeface="Noto Serif SC"/>
            </a:endParaRPr>
          </a:p>
        </p:txBody>
      </p:sp>
      <p:pic>
        <p:nvPicPr>
          <p:cNvPr id="40" name="Picture 28"/>
          <p:cNvPicPr>
            <a:picLocks noChangeAspect="1"/>
          </p:cNvPicPr>
          <p:nvPr>
            <p:custDataLst>
              <p:tags r:id="rId3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3543935" y="3937000"/>
            <a:ext cx="508000" cy="508000"/>
          </a:xfrm>
          <a:prstGeom prst="rect">
            <a:avLst/>
          </a:prstGeom>
        </p:spPr>
      </p:pic>
      <p:sp>
        <p:nvSpPr>
          <p:cNvPr id="41" name="AutoShape 9"/>
          <p:cNvSpPr/>
          <p:nvPr>
            <p:custDataLst>
              <p:tags r:id="rId31"/>
            </p:custDataLst>
          </p:nvPr>
        </p:nvSpPr>
        <p:spPr>
          <a:xfrm>
            <a:off x="4319270" y="1524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zh-CN" altLang="en-US" sz="1700" b="1" i="0" u="none" strike="noStrike" dirty="0">
                <a:latin typeface="思源黑体 CN" panose="020B0500000000000000" pitchFamily="34" charset="-122"/>
                <a:ea typeface="思源黑体 CN" panose="020B0500000000000000" pitchFamily="34" charset="-122"/>
                <a:sym typeface="Noto Sans SC" panose="020B0200000000000000" charset="-122"/>
              </a:rPr>
              <a:t>项目管理</a:t>
            </a:r>
          </a:p>
        </p:txBody>
      </p:sp>
      <p:sp>
        <p:nvSpPr>
          <p:cNvPr id="42" name="AutoShape 6"/>
          <p:cNvSpPr/>
          <p:nvPr>
            <p:custDataLst>
              <p:tags r:id="rId32"/>
            </p:custDataLst>
          </p:nvPr>
        </p:nvSpPr>
        <p:spPr>
          <a:xfrm>
            <a:off x="3651885" y="2222500"/>
            <a:ext cx="215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latin typeface="Noto Serif SC"/>
                <a:ea typeface="Noto Serif SC"/>
                <a:cs typeface="Noto Serif SC"/>
              </a:defRPr>
            </a:pPr>
            <a:r>
              <a:rPr lang="zh-CN" altLang="en-US" b="0" i="0" u="none" strike="noStrike" dirty="0">
                <a:latin typeface="思源宋体" panose="02020400000000000000" pitchFamily="18" charset="-122"/>
                <a:ea typeface="思源宋体" panose="02020400000000000000" pitchFamily="18" charset="-122"/>
                <a:sym typeface="Noto Sans SC" panose="020B0200000000000000" charset="-122"/>
              </a:rPr>
              <a:t>团队成员与分工</a:t>
            </a:r>
          </a:p>
        </p:txBody>
      </p:sp>
      <p:sp>
        <p:nvSpPr>
          <p:cNvPr id="2" name="AutoShape 2"/>
          <p:cNvSpPr/>
          <p:nvPr/>
        </p:nvSpPr>
        <p:spPr>
          <a:xfrm>
            <a:off x="914400" y="292100"/>
            <a:ext cx="3810000" cy="431800"/>
          </a:xfrm>
          <a:prstGeom prst="rect">
            <a:avLst/>
          </a:prstGeom>
          <a:noFill/>
          <a:ln w="12700" cap="flat" cmpd="sng">
            <a:noFill/>
            <a:prstDash val="solid"/>
            <a:round/>
          </a:ln>
        </p:spPr>
        <p:txBody>
          <a:bodyPr vert="horz" wrap="square" lIns="0" tIns="0" rIns="0" bIns="0" rtlCol="0" anchor="ctr" anchorCtr="0"/>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汇报大纲</a:t>
            </a:r>
          </a:p>
        </p:txBody>
      </p:sp>
      <p:sp>
        <p:nvSpPr>
          <p:cNvPr id="28" name="Line 5">
            <a:extLst>
              <a:ext uri="{FF2B5EF4-FFF2-40B4-BE49-F238E27FC236}">
                <a16:creationId xmlns:a16="http://schemas.microsoft.com/office/drawing/2014/main" id="{5164D2B0-BCA6-4CB1-887E-CFAC287BE2AE}"/>
              </a:ext>
            </a:extLst>
          </p:cNvPr>
          <p:cNvSpPr/>
          <p:nvPr/>
        </p:nvSpPr>
        <p:spPr>
          <a:xfrm>
            <a:off x="952500" y="762000"/>
            <a:ext cx="3810000" cy="12700"/>
          </a:xfrm>
          <a:prstGeom prst="rect">
            <a:avLst/>
          </a:prstGeom>
          <a:solidFill>
            <a:srgbClr val="E6C46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Tree>
    <p:extLst>
      <p:ext uri="{BB962C8B-B14F-4D97-AF65-F5344CB8AC3E}">
        <p14:creationId xmlns:p14="http://schemas.microsoft.com/office/powerpoint/2010/main" val="9754827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4" name="Rectangle 4"/>
          <p:cNvSpPr/>
          <p:nvPr/>
        </p:nvSpPr>
        <p:spPr>
          <a:xfrm>
            <a:off x="0" y="0"/>
            <a:ext cx="12192000" cy="857250"/>
          </a:xfrm>
          <a:prstGeom prst="rect">
            <a:avLst/>
          </a:prstGeom>
          <a:solidFill>
            <a:srgbClr val="004E97">
              <a:alpha val="8000"/>
            </a:srgbClr>
          </a:solidFill>
          <a:ln>
            <a:noFill/>
          </a:ln>
        </p:spPr>
      </p:sp>
      <p:sp>
        <p:nvSpPr>
          <p:cNvPr id="5" name="TextBox 5"/>
          <p:cNvSpPr txBox="1"/>
          <p:nvPr/>
        </p:nvSpPr>
        <p:spPr>
          <a:xfrm>
            <a:off x="914400" y="295275"/>
            <a:ext cx="4405052"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rPr>
              <a:t>项目立项 · 背景与可行性</a:t>
            </a:r>
          </a:p>
        </p:txBody>
      </p:sp>
      <p:sp>
        <p:nvSpPr>
          <p:cNvPr id="6" name="Line 6"/>
          <p:cNvSpPr/>
          <p:nvPr/>
        </p:nvSpPr>
        <p:spPr>
          <a:xfrm flipV="1">
            <a:off x="952500" y="716281"/>
            <a:ext cx="4476148" cy="45719"/>
          </a:xfrm>
          <a:custGeom>
            <a:avLst/>
            <a:gdLst/>
            <a:ahLst/>
            <a:cxnLst/>
            <a:rect l="l" t="t" r="r" b="b"/>
            <a:pathLst>
              <a:path w="3810000" h="9525">
                <a:moveTo>
                  <a:pt x="0" y="0"/>
                </a:moveTo>
                <a:lnTo>
                  <a:pt x="3810000" y="0"/>
                </a:lnTo>
              </a:path>
            </a:pathLst>
          </a:custGeom>
          <a:noFill/>
          <a:ln w="19050">
            <a:solidFill>
              <a:srgbClr val="E6C46D"/>
            </a:solidFill>
          </a:ln>
        </p:spPr>
      </p:sp>
      <p:grpSp>
        <p:nvGrpSpPr>
          <p:cNvPr id="12" name="Group 12"/>
          <p:cNvGrpSpPr/>
          <p:nvPr/>
        </p:nvGrpSpPr>
        <p:grpSpPr>
          <a:xfrm>
            <a:off x="952500" y="1182257"/>
            <a:ext cx="4327475" cy="740543"/>
            <a:chOff x="952500" y="1182257"/>
            <a:chExt cx="4327475" cy="740543"/>
          </a:xfrm>
        </p:grpSpPr>
        <p:sp>
          <p:nvSpPr>
            <p:cNvPr id="7" name="Freeform 7"/>
            <p:cNvSpPr/>
            <p:nvPr/>
          </p:nvSpPr>
          <p:spPr>
            <a:xfrm>
              <a:off x="952500" y="1238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E6C46D"/>
            </a:solidFill>
            <a:ln>
              <a:noFill/>
            </a:ln>
          </p:spPr>
        </p:sp>
        <p:sp>
          <p:nvSpPr>
            <p:cNvPr id="8" name="TextBox 8"/>
            <p:cNvSpPr txBox="1"/>
            <p:nvPr/>
          </p:nvSpPr>
          <p:spPr>
            <a:xfrm>
              <a:off x="1022592" y="1285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9" name="TextBox 9"/>
            <p:cNvSpPr txBox="1"/>
            <p:nvPr/>
          </p:nvSpPr>
          <p:spPr>
            <a:xfrm>
              <a:off x="1506855" y="1182257"/>
              <a:ext cx="1384995"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缺乏统一渠道</a:t>
              </a:r>
            </a:p>
          </p:txBody>
        </p:sp>
        <p:sp>
          <p:nvSpPr>
            <p:cNvPr id="10" name="TextBox 10"/>
            <p:cNvSpPr txBox="1"/>
            <p:nvPr/>
          </p:nvSpPr>
          <p:spPr>
            <a:xfrm>
              <a:off x="1509712" y="1497806"/>
              <a:ext cx="3770263"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食堂是</a:t>
              </a:r>
              <a:r>
                <a:rPr lang="zh-CN" altLang="en-US" sz="1400" dirty="0">
                  <a:solidFill>
                    <a:srgbClr val="333333"/>
                  </a:solidFill>
                  <a:latin typeface="思源宋体" panose="02020400000000000000" pitchFamily="18" charset="-122"/>
                  <a:ea typeface="思源宋体" panose="02020400000000000000" pitchFamily="18" charset="-122"/>
                  <a:cs typeface="Calibri"/>
                </a:rPr>
                <a:t>日常</a:t>
              </a:r>
              <a:r>
                <a:rPr lang="zh-CN" sz="1400" dirty="0">
                  <a:solidFill>
                    <a:srgbClr val="333333"/>
                  </a:solidFill>
                  <a:latin typeface="思源宋体" panose="02020400000000000000" pitchFamily="18" charset="-122"/>
                  <a:ea typeface="思源宋体" panose="02020400000000000000" pitchFamily="18" charset="-122"/>
                  <a:cs typeface="Calibri"/>
                </a:rPr>
                <a:t>场景，选择窗口却无统一参考渠道</a:t>
              </a:r>
              <a:r>
                <a:rPr lang="zh-CN" altLang="en-US" sz="1400" dirty="0">
                  <a:solidFill>
                    <a:srgbClr val="333333"/>
                  </a:solidFill>
                  <a:latin typeface="思源宋体" panose="02020400000000000000" pitchFamily="18" charset="-122"/>
                  <a:ea typeface="思源宋体" panose="02020400000000000000" pitchFamily="18" charset="-122"/>
                  <a:cs typeface="Calibri"/>
                </a:rPr>
                <a:t>，</a:t>
              </a:r>
              <a:endParaRPr lang="zh-CN" sz="1400" dirty="0">
                <a:solidFill>
                  <a:srgbClr val="333333"/>
                </a:solidFill>
                <a:latin typeface="思源宋体" panose="02020400000000000000" pitchFamily="18" charset="-122"/>
                <a:ea typeface="思源宋体" panose="02020400000000000000" pitchFamily="18" charset="-122"/>
                <a:cs typeface="Calibri"/>
              </a:endParaRPr>
            </a:p>
          </p:txBody>
        </p:sp>
        <p:sp>
          <p:nvSpPr>
            <p:cNvPr id="11" name="TextBox 11"/>
            <p:cNvSpPr txBox="1"/>
            <p:nvPr/>
          </p:nvSpPr>
          <p:spPr>
            <a:xfrm>
              <a:off x="1509712" y="1707356"/>
              <a:ext cx="2333972"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主要依赖个人经验与同学口碑</a:t>
              </a:r>
            </a:p>
          </p:txBody>
        </p:sp>
      </p:grpSp>
      <p:grpSp>
        <p:nvGrpSpPr>
          <p:cNvPr id="18" name="Group 18"/>
          <p:cNvGrpSpPr/>
          <p:nvPr/>
        </p:nvGrpSpPr>
        <p:grpSpPr>
          <a:xfrm>
            <a:off x="952500" y="2324683"/>
            <a:ext cx="3250257" cy="741117"/>
            <a:chOff x="952500" y="2324683"/>
            <a:chExt cx="3250257" cy="741117"/>
          </a:xfrm>
        </p:grpSpPr>
        <p:sp>
          <p:nvSpPr>
            <p:cNvPr id="13" name="Freeform 13"/>
            <p:cNvSpPr/>
            <p:nvPr/>
          </p:nvSpPr>
          <p:spPr>
            <a:xfrm>
              <a:off x="952500" y="2381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A9C37C"/>
            </a:solidFill>
            <a:ln>
              <a:noFill/>
            </a:ln>
          </p:spPr>
        </p:sp>
        <p:sp>
          <p:nvSpPr>
            <p:cNvPr id="14" name="TextBox 14"/>
            <p:cNvSpPr txBox="1"/>
            <p:nvPr/>
          </p:nvSpPr>
          <p:spPr>
            <a:xfrm>
              <a:off x="1022592" y="2428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15" name="TextBox 15"/>
            <p:cNvSpPr txBox="1"/>
            <p:nvPr/>
          </p:nvSpPr>
          <p:spPr>
            <a:xfrm>
              <a:off x="1491906" y="2324683"/>
              <a:ext cx="1154162"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信息差异大</a:t>
              </a:r>
            </a:p>
          </p:txBody>
        </p:sp>
        <p:sp>
          <p:nvSpPr>
            <p:cNvPr id="16" name="TextBox 16"/>
            <p:cNvSpPr txBox="1"/>
            <p:nvPr/>
          </p:nvSpPr>
          <p:spPr>
            <a:xfrm>
              <a:off x="1509712" y="2640806"/>
              <a:ext cx="2693045"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口味、价格、服务等维度差异显著</a:t>
              </a:r>
            </a:p>
          </p:txBody>
        </p:sp>
        <p:sp>
          <p:nvSpPr>
            <p:cNvPr id="17" name="TextBox 17"/>
            <p:cNvSpPr txBox="1"/>
            <p:nvPr/>
          </p:nvSpPr>
          <p:spPr>
            <a:xfrm>
              <a:off x="1509712" y="2850356"/>
              <a:ext cx="2154436" cy="215444"/>
            </a:xfrm>
            <a:prstGeom prst="rect">
              <a:avLst/>
            </a:prstGeom>
            <a:noFill/>
            <a:ln>
              <a:noFill/>
            </a:ln>
          </p:spPr>
          <p:txBody>
            <a:bodyPr wrap="none" lIns="0" tIns="0" rIns="0" bIns="0" anchor="t" anchorCtr="0">
              <a:spAutoFit/>
            </a:bodyPr>
            <a:lstStyle/>
            <a:p>
              <a:pPr algn="l"/>
              <a:r>
                <a:rPr lang="zh-CN" sz="1400" dirty="0">
                  <a:solidFill>
                    <a:srgbClr val="333333"/>
                  </a:solidFill>
                  <a:latin typeface="思源宋体" panose="02020400000000000000" pitchFamily="18" charset="-122"/>
                  <a:ea typeface="思源宋体" panose="02020400000000000000" pitchFamily="18" charset="-122"/>
                  <a:cs typeface="Calibri"/>
                </a:rPr>
                <a:t>信息分散，缺乏结构化</a:t>
              </a:r>
              <a:r>
                <a:rPr lang="zh-CN" altLang="en-US" sz="1400" dirty="0">
                  <a:solidFill>
                    <a:srgbClr val="333333"/>
                  </a:solidFill>
                  <a:latin typeface="思源宋体" panose="02020400000000000000" pitchFamily="18" charset="-122"/>
                  <a:ea typeface="思源宋体" panose="02020400000000000000" pitchFamily="18" charset="-122"/>
                  <a:cs typeface="Calibri"/>
                </a:rPr>
                <a:t>整理</a:t>
              </a:r>
              <a:endParaRPr lang="zh-CN" sz="1400" dirty="0">
                <a:solidFill>
                  <a:srgbClr val="333333"/>
                </a:solidFill>
                <a:latin typeface="思源宋体" panose="02020400000000000000" pitchFamily="18" charset="-122"/>
                <a:ea typeface="思源宋体" panose="02020400000000000000" pitchFamily="18" charset="-122"/>
                <a:cs typeface="Calibri"/>
              </a:endParaRPr>
            </a:p>
          </p:txBody>
        </p:sp>
      </p:grpSp>
      <p:grpSp>
        <p:nvGrpSpPr>
          <p:cNvPr id="24" name="Group 24"/>
          <p:cNvGrpSpPr/>
          <p:nvPr/>
        </p:nvGrpSpPr>
        <p:grpSpPr>
          <a:xfrm>
            <a:off x="952500" y="3481301"/>
            <a:ext cx="2891184" cy="727499"/>
            <a:chOff x="952500" y="3481301"/>
            <a:chExt cx="2891184" cy="727499"/>
          </a:xfrm>
        </p:grpSpPr>
        <p:sp>
          <p:nvSpPr>
            <p:cNvPr id="19" name="Freeform 19"/>
            <p:cNvSpPr/>
            <p:nvPr/>
          </p:nvSpPr>
          <p:spPr>
            <a:xfrm>
              <a:off x="952500" y="3524250"/>
              <a:ext cx="304800" cy="304800"/>
            </a:xfrm>
            <a:custGeom>
              <a:avLst/>
              <a:gdLst/>
              <a:ahLst/>
              <a:cxnLst/>
              <a:rect l="l" t="t" r="r" b="b"/>
              <a:pathLst>
                <a:path w="304800" h="304800">
                  <a:moveTo>
                    <a:pt x="38100" y="0"/>
                  </a:move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cubicBezTo>
                    <a:pt x="0" y="17058"/>
                    <a:pt x="17058" y="0"/>
                    <a:pt x="38100" y="0"/>
                  </a:cubicBezTo>
                  <a:close/>
                </a:path>
              </a:pathLst>
            </a:custGeom>
            <a:solidFill>
              <a:srgbClr val="D32F2F"/>
            </a:solidFill>
            <a:ln>
              <a:noFill/>
            </a:ln>
          </p:spPr>
        </p:sp>
        <p:sp>
          <p:nvSpPr>
            <p:cNvPr id="20" name="TextBox 20"/>
            <p:cNvSpPr txBox="1"/>
            <p:nvPr/>
          </p:nvSpPr>
          <p:spPr>
            <a:xfrm>
              <a:off x="1022592" y="35718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21" name="TextBox 21"/>
            <p:cNvSpPr txBox="1"/>
            <p:nvPr/>
          </p:nvSpPr>
          <p:spPr>
            <a:xfrm>
              <a:off x="1490674" y="3481301"/>
              <a:ext cx="1154162" cy="276999"/>
            </a:xfrm>
            <a:prstGeom prst="rect">
              <a:avLst/>
            </a:prstGeom>
            <a:noFill/>
            <a:ln>
              <a:noFill/>
            </a:ln>
          </p:spPr>
          <p:txBody>
            <a:bodyPr wrap="non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rPr>
                <a:t>决策效率低</a:t>
              </a:r>
            </a:p>
          </p:txBody>
        </p:sp>
        <p:sp>
          <p:nvSpPr>
            <p:cNvPr id="22" name="TextBox 22"/>
            <p:cNvSpPr txBox="1"/>
            <p:nvPr/>
          </p:nvSpPr>
          <p:spPr>
            <a:xfrm>
              <a:off x="1509712" y="3783806"/>
              <a:ext cx="2333972" cy="215444"/>
            </a:xfrm>
            <a:prstGeom prst="rect">
              <a:avLst/>
            </a:prstGeom>
            <a:noFill/>
            <a:ln>
              <a:noFill/>
            </a:ln>
          </p:spPr>
          <p:txBody>
            <a:bodyPr wrap="none" lIns="0" tIns="0" rIns="0" bIns="0" anchor="t" anchorCtr="0">
              <a:spAutoFit/>
            </a:bodyPr>
            <a:lstStyle>
              <a:defPPr>
                <a:defRPr lang="en-US">
                  <a:latin typeface="Noto Serif SC" panose="02020200000000000000" pitchFamily="18" charset="-122"/>
                  <a:ea typeface="Noto Serif SC" panose="02020200000000000000" pitchFamily="18" charset="-122"/>
                </a:defRPr>
              </a:defPPr>
              <a:lvl1pPr>
                <a:defRPr sz="1400">
                  <a:solidFill>
                    <a:srgbClr val="333333"/>
                  </a:solidFill>
                  <a:latin typeface="Noto Serif SC" panose="02020200000000000000" pitchFamily="18" charset="-122"/>
                  <a:ea typeface="Noto Serif SC" panose="02020200000000000000" pitchFamily="18" charset="-122"/>
                  <a:cs typeface="Calibri"/>
                </a:defRPr>
              </a:lvl1pPr>
            </a:lstStyle>
            <a:p>
              <a:r>
                <a:rPr lang="zh-CN" altLang="en-US" dirty="0">
                  <a:latin typeface="思源宋体" panose="02020400000000000000" pitchFamily="18" charset="-122"/>
                  <a:ea typeface="思源宋体" panose="02020400000000000000" pitchFamily="18" charset="-122"/>
                </a:rPr>
                <a:t>就餐时间有限，难以高效决策</a:t>
              </a:r>
            </a:p>
          </p:txBody>
        </p:sp>
        <p:sp>
          <p:nvSpPr>
            <p:cNvPr id="23" name="TextBox 23"/>
            <p:cNvSpPr txBox="1"/>
            <p:nvPr/>
          </p:nvSpPr>
          <p:spPr>
            <a:xfrm>
              <a:off x="1509712" y="3993356"/>
              <a:ext cx="2154436" cy="215444"/>
            </a:xfrm>
            <a:prstGeom prst="rect">
              <a:avLst/>
            </a:prstGeom>
            <a:noFill/>
            <a:ln>
              <a:noFill/>
            </a:ln>
          </p:spPr>
          <p:txBody>
            <a:bodyPr wrap="none" lIns="0" tIns="0" rIns="0" bIns="0" anchor="t" anchorCtr="0">
              <a:spAutoFit/>
            </a:bodyPr>
            <a:lstStyle>
              <a:defPPr>
                <a:defRPr lang="en-US">
                  <a:latin typeface="Noto Serif SC" panose="02020200000000000000" pitchFamily="18" charset="-122"/>
                  <a:ea typeface="Noto Serif SC" panose="02020200000000000000" pitchFamily="18" charset="-122"/>
                </a:defRPr>
              </a:defPPr>
              <a:lvl1pPr>
                <a:defRPr sz="1400">
                  <a:solidFill>
                    <a:srgbClr val="333333"/>
                  </a:solidFill>
                  <a:latin typeface="Noto Serif SC" panose="02020200000000000000" pitchFamily="18" charset="-122"/>
                  <a:ea typeface="Noto Serif SC" panose="02020200000000000000" pitchFamily="18" charset="-122"/>
                  <a:cs typeface="Calibri"/>
                </a:defRPr>
              </a:lvl1pPr>
            </a:lstStyle>
            <a:p>
              <a:r>
                <a:rPr lang="zh-CN" altLang="en-US" dirty="0">
                  <a:latin typeface="思源宋体" panose="02020400000000000000" pitchFamily="18" charset="-122"/>
                  <a:ea typeface="思源宋体" panose="02020400000000000000" pitchFamily="18" charset="-122"/>
                </a:rPr>
                <a:t>缺乏反馈闭环促进服务改进</a:t>
              </a:r>
            </a:p>
          </p:txBody>
        </p:sp>
      </p:grpSp>
      <p:sp>
        <p:nvSpPr>
          <p:cNvPr id="25" name="Freeform 25"/>
          <p:cNvSpPr/>
          <p:nvPr/>
        </p:nvSpPr>
        <p:spPr>
          <a:xfrm>
            <a:off x="6667500" y="1238250"/>
            <a:ext cx="4953000" cy="4953000"/>
          </a:xfrm>
          <a:custGeom>
            <a:avLst/>
            <a:gdLst/>
            <a:ahLst/>
            <a:cxnLst/>
            <a:rect l="l" t="t" r="r" b="b"/>
            <a:pathLst>
              <a:path w="4953000" h="4953000">
                <a:moveTo>
                  <a:pt x="114300" y="0"/>
                </a:moveTo>
                <a:lnTo>
                  <a:pt x="4838700" y="0"/>
                </a:lnTo>
                <a:cubicBezTo>
                  <a:pt x="4901826" y="0"/>
                  <a:pt x="4953000" y="51174"/>
                  <a:pt x="4953000" y="114300"/>
                </a:cubicBezTo>
                <a:lnTo>
                  <a:pt x="4953000" y="4838700"/>
                </a:lnTo>
                <a:cubicBezTo>
                  <a:pt x="4953000" y="4901826"/>
                  <a:pt x="4901826" y="4953000"/>
                  <a:pt x="4838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5F5F5"/>
          </a:solidFill>
          <a:ln w="9525">
            <a:solidFill>
              <a:srgbClr val="EBEBEB"/>
            </a:solidFill>
          </a:ln>
        </p:spPr>
      </p:sp>
      <p:sp>
        <p:nvSpPr>
          <p:cNvPr id="26" name="TextBox 26"/>
          <p:cNvSpPr txBox="1"/>
          <p:nvPr/>
        </p:nvSpPr>
        <p:spPr>
          <a:xfrm>
            <a:off x="8502799" y="1441132"/>
            <a:ext cx="1282402" cy="307777"/>
          </a:xfrm>
          <a:prstGeom prst="rect">
            <a:avLst/>
          </a:prstGeom>
          <a:noFill/>
          <a:ln>
            <a:noFill/>
          </a:ln>
        </p:spPr>
        <p:txBody>
          <a:bodyPr wrap="none" lIns="0" tIns="0" rIns="0" bIns="0" anchor="t" anchorCtr="0">
            <a:spAutoFit/>
          </a:bodyPr>
          <a:lstStyle/>
          <a:p>
            <a:pPr algn="ctr"/>
            <a:r>
              <a:rPr lang="zh-CN" sz="2000" b="1" dirty="0">
                <a:solidFill>
                  <a:srgbClr val="004E97"/>
                </a:solidFill>
                <a:latin typeface="思源黑体 CN" panose="020B0500000000000000" pitchFamily="34" charset="-122"/>
                <a:ea typeface="思源黑体 CN" panose="020B0500000000000000" pitchFamily="34" charset="-122"/>
              </a:rPr>
              <a:t>可行性分析</a:t>
            </a:r>
          </a:p>
        </p:txBody>
      </p:sp>
      <p:grpSp>
        <p:nvGrpSpPr>
          <p:cNvPr id="32" name="Group 32"/>
          <p:cNvGrpSpPr/>
          <p:nvPr/>
        </p:nvGrpSpPr>
        <p:grpSpPr>
          <a:xfrm>
            <a:off x="6905625" y="1907942"/>
            <a:ext cx="4195183" cy="1187683"/>
            <a:chOff x="6905625" y="1907942"/>
            <a:chExt cx="4195183" cy="1187683"/>
          </a:xfrm>
        </p:grpSpPr>
        <p:sp>
          <p:nvSpPr>
            <p:cNvPr id="27" name="Ellipse 27"/>
            <p:cNvSpPr/>
            <p:nvPr/>
          </p:nvSpPr>
          <p:spPr>
            <a:xfrm>
              <a:off x="6905625" y="2047875"/>
              <a:ext cx="666750" cy="666750"/>
            </a:xfrm>
            <a:prstGeom prst="ellipse">
              <a:avLst/>
            </a:prstGeom>
            <a:solidFill>
              <a:srgbClr val="004E97">
                <a:alpha val="10000"/>
              </a:srgbClr>
            </a:solidFill>
            <a:ln w="19050">
              <a:solidFill>
                <a:srgbClr val="004E97"/>
              </a:solidFill>
            </a:ln>
          </p:spPr>
          <p:txBody>
            <a:bodyPr/>
            <a:lstStyle/>
            <a:p>
              <a:endParaRPr lang="zh-CN" altLang="en-US" dirty="0">
                <a:latin typeface="Noto Serif SC" panose="02020200000000000000" pitchFamily="18" charset="-122"/>
                <a:ea typeface="Noto Serif SC" panose="02020200000000000000" pitchFamily="18" charset="-122"/>
              </a:endParaRPr>
            </a:p>
          </p:txBody>
        </p:sp>
        <p:sp>
          <p:nvSpPr>
            <p:cNvPr id="28" name="TextBox 28"/>
            <p:cNvSpPr txBox="1"/>
            <p:nvPr/>
          </p:nvSpPr>
          <p:spPr>
            <a:xfrm>
              <a:off x="7071411" y="2200513"/>
              <a:ext cx="313134" cy="369332"/>
            </a:xfrm>
            <a:prstGeom prst="rect">
              <a:avLst/>
            </a:prstGeom>
            <a:noFill/>
            <a:ln>
              <a:noFill/>
            </a:ln>
          </p:spPr>
          <p:txBody>
            <a:bodyPr wrap="square" lIns="0" tIns="0" rIns="0" bIns="0" anchor="t" anchorCtr="0">
              <a:spAutoFit/>
            </a:bodyPr>
            <a:lstStyle/>
            <a:p>
              <a:pPr algn="ctr"/>
              <a:r>
                <a:rPr lang="zh-CN" sz="2400" b="1" dirty="0">
                  <a:solidFill>
                    <a:srgbClr val="004E97"/>
                  </a:solidFill>
                  <a:latin typeface="华文行楷" panose="02010800040101010101" pitchFamily="2" charset="-122"/>
                  <a:ea typeface="华文行楷" panose="02010800040101010101" pitchFamily="2" charset="-122"/>
                  <a:cs typeface="Arial"/>
                </a:rPr>
                <a:t>技</a:t>
              </a:r>
            </a:p>
          </p:txBody>
        </p:sp>
        <p:sp>
          <p:nvSpPr>
            <p:cNvPr id="29" name="TextBox 29"/>
            <p:cNvSpPr txBox="1"/>
            <p:nvPr/>
          </p:nvSpPr>
          <p:spPr>
            <a:xfrm>
              <a:off x="7030402" y="2569845"/>
              <a:ext cx="417195"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30" name="TextBox 30"/>
            <p:cNvSpPr txBox="1"/>
            <p:nvPr/>
          </p:nvSpPr>
          <p:spPr>
            <a:xfrm>
              <a:off x="8101589" y="1907942"/>
              <a:ext cx="795089"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技术</a:t>
              </a:r>
              <a:r>
                <a:rPr lang="zh-CN" sz="1500" b="1" dirty="0">
                  <a:solidFill>
                    <a:srgbClr val="1A1A1A"/>
                  </a:solidFill>
                  <a:latin typeface="思源黑体 CN" panose="020B0500000000000000" pitchFamily="34" charset="-122"/>
                  <a:ea typeface="思源黑体 CN" panose="020B0500000000000000" pitchFamily="34" charset="-122"/>
                  <a:cs typeface="Calibri"/>
                </a:rPr>
                <a:t>可行</a:t>
              </a:r>
            </a:p>
          </p:txBody>
        </p:sp>
        <p:sp>
          <p:nvSpPr>
            <p:cNvPr id="31" name="TextBox 31"/>
            <p:cNvSpPr txBox="1"/>
            <p:nvPr/>
          </p:nvSpPr>
          <p:spPr>
            <a:xfrm>
              <a:off x="8101589" y="2233851"/>
              <a:ext cx="2999219" cy="861774"/>
            </a:xfrm>
            <a:prstGeom prst="rect">
              <a:avLst/>
            </a:prstGeom>
            <a:noFill/>
            <a:ln>
              <a:noFill/>
            </a:ln>
          </p:spPr>
          <p:txBody>
            <a:bodyPr wrap="none" lIns="0" tIns="0" rIns="0" bIns="0" anchor="t" anchorCtr="0">
              <a:spAutoFit/>
            </a:bodyPr>
            <a:lstStyle/>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Python </a:t>
              </a:r>
              <a:r>
                <a:rPr lang="zh-CN" altLang="en-US" sz="1400" dirty="0">
                  <a:solidFill>
                    <a:srgbClr val="555555"/>
                  </a:solidFill>
                  <a:latin typeface="思源宋体" panose="02020400000000000000" pitchFamily="18" charset="-122"/>
                  <a:ea typeface="思源宋体" panose="02020400000000000000" pitchFamily="18" charset="-122"/>
                  <a:cs typeface="Calibri"/>
                </a:rPr>
                <a:t>标准库提供 </a:t>
              </a:r>
              <a:r>
                <a:rPr lang="en-US" altLang="zh-CN" sz="1400" dirty="0">
                  <a:solidFill>
                    <a:srgbClr val="555555"/>
                  </a:solidFill>
                  <a:latin typeface="思源宋体" panose="02020400000000000000" pitchFamily="18" charset="-122"/>
                  <a:ea typeface="思源宋体" panose="02020400000000000000" pitchFamily="18" charset="-122"/>
                  <a:cs typeface="Calibri"/>
                </a:rPr>
                <a:t>HTTP </a:t>
              </a:r>
              <a:r>
                <a:rPr lang="zh-CN" altLang="en-US" sz="1400" dirty="0">
                  <a:solidFill>
                    <a:srgbClr val="555555"/>
                  </a:solidFill>
                  <a:latin typeface="思源宋体" panose="02020400000000000000" pitchFamily="18" charset="-122"/>
                  <a:ea typeface="思源宋体" panose="02020400000000000000" pitchFamily="18" charset="-122"/>
                  <a:cs typeface="Calibri"/>
                </a:rPr>
                <a:t>服务器</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SQLite </a:t>
              </a:r>
              <a:r>
                <a:rPr lang="zh-CN" altLang="en-US" sz="1400" dirty="0">
                  <a:solidFill>
                    <a:srgbClr val="555555"/>
                  </a:solidFill>
                  <a:latin typeface="思源宋体" panose="02020400000000000000" pitchFamily="18" charset="-122"/>
                  <a:ea typeface="思源宋体" panose="02020400000000000000" pitchFamily="18" charset="-122"/>
                  <a:cs typeface="Calibri"/>
                </a:rPr>
                <a:t>零部署、</a:t>
              </a:r>
              <a:r>
                <a:rPr lang="en-US" altLang="zh-CN" sz="1400" dirty="0">
                  <a:solidFill>
                    <a:srgbClr val="555555"/>
                  </a:solidFill>
                  <a:latin typeface="思源宋体" panose="02020400000000000000" pitchFamily="18" charset="-122"/>
                  <a:ea typeface="思源宋体" panose="02020400000000000000" pitchFamily="18" charset="-122"/>
                  <a:cs typeface="Calibri"/>
                </a:rPr>
                <a:t>ACID </a:t>
              </a:r>
              <a:r>
                <a:rPr lang="zh-CN" altLang="en-US" sz="1400" dirty="0">
                  <a:solidFill>
                    <a:srgbClr val="555555"/>
                  </a:solidFill>
                  <a:latin typeface="思源宋体" panose="02020400000000000000" pitchFamily="18" charset="-122"/>
                  <a:ea typeface="思源宋体" panose="02020400000000000000" pitchFamily="18" charset="-122"/>
                  <a:cs typeface="Calibri"/>
                </a:rPr>
                <a:t>事务支持</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en-US" altLang="zh-CN" sz="1400" dirty="0">
                  <a:solidFill>
                    <a:srgbClr val="555555"/>
                  </a:solidFill>
                  <a:latin typeface="思源宋体" panose="02020400000000000000" pitchFamily="18" charset="-122"/>
                  <a:ea typeface="思源宋体" panose="02020400000000000000" pitchFamily="18" charset="-122"/>
                  <a:cs typeface="Calibri"/>
                </a:rPr>
                <a:t>Vanilla JS </a:t>
              </a:r>
              <a:r>
                <a:rPr lang="zh-CN" altLang="en-US" sz="1400" dirty="0">
                  <a:solidFill>
                    <a:srgbClr val="555555"/>
                  </a:solidFill>
                  <a:latin typeface="思源宋体" panose="02020400000000000000" pitchFamily="18" charset="-122"/>
                  <a:ea typeface="思源宋体" panose="02020400000000000000" pitchFamily="18" charset="-122"/>
                  <a:cs typeface="Calibri"/>
                </a:rPr>
                <a:t>无需构建工具链</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l"/>
              </a:pPr>
              <a:r>
                <a:rPr lang="zh-CN" altLang="en-US" sz="1400" dirty="0">
                  <a:solidFill>
                    <a:srgbClr val="555555"/>
                  </a:solidFill>
                  <a:latin typeface="思源宋体" panose="02020400000000000000" pitchFamily="18" charset="-122"/>
                  <a:ea typeface="思源宋体" panose="02020400000000000000" pitchFamily="18" charset="-122"/>
                  <a:cs typeface="Calibri"/>
                </a:rPr>
                <a:t>团队成员具备 </a:t>
              </a:r>
              <a:r>
                <a:rPr lang="en-US" altLang="zh-CN" sz="1400" dirty="0">
                  <a:solidFill>
                    <a:srgbClr val="555555"/>
                  </a:solidFill>
                  <a:latin typeface="思源宋体" panose="02020400000000000000" pitchFamily="18" charset="-122"/>
                  <a:ea typeface="思源宋体" panose="02020400000000000000" pitchFamily="18" charset="-122"/>
                  <a:cs typeface="Calibri"/>
                </a:rPr>
                <a:t>Python/JS </a:t>
              </a:r>
              <a:r>
                <a:rPr lang="zh-CN" altLang="en-US" sz="1400" dirty="0">
                  <a:solidFill>
                    <a:srgbClr val="555555"/>
                  </a:solidFill>
                  <a:latin typeface="思源宋体" panose="02020400000000000000" pitchFamily="18" charset="-122"/>
                  <a:ea typeface="思源宋体" panose="02020400000000000000" pitchFamily="18" charset="-122"/>
                  <a:cs typeface="Calibri"/>
                </a:rPr>
                <a:t>基础</a:t>
              </a:r>
              <a:endParaRPr lang="zh-CN" sz="1400" dirty="0">
                <a:solidFill>
                  <a:srgbClr val="555555"/>
                </a:solidFill>
                <a:latin typeface="思源宋体" panose="02020400000000000000" pitchFamily="18" charset="-122"/>
                <a:ea typeface="思源宋体" panose="02020400000000000000" pitchFamily="18" charset="-122"/>
                <a:cs typeface="Calibri"/>
              </a:endParaRPr>
            </a:p>
          </p:txBody>
        </p:sp>
      </p:grpSp>
      <p:grpSp>
        <p:nvGrpSpPr>
          <p:cNvPr id="38" name="Group 38"/>
          <p:cNvGrpSpPr/>
          <p:nvPr/>
        </p:nvGrpSpPr>
        <p:grpSpPr>
          <a:xfrm>
            <a:off x="6916782" y="3375884"/>
            <a:ext cx="4097464" cy="968048"/>
            <a:chOff x="6902733" y="3072066"/>
            <a:chExt cx="4097464" cy="968048"/>
          </a:xfrm>
        </p:grpSpPr>
        <p:sp>
          <p:nvSpPr>
            <p:cNvPr id="33" name="Ellipse 33"/>
            <p:cNvSpPr/>
            <p:nvPr/>
          </p:nvSpPr>
          <p:spPr>
            <a:xfrm>
              <a:off x="6902733" y="3164884"/>
              <a:ext cx="666750" cy="666750"/>
            </a:xfrm>
            <a:prstGeom prst="ellipse">
              <a:avLst/>
            </a:prstGeom>
            <a:solidFill>
              <a:srgbClr val="E6C46D">
                <a:alpha val="20000"/>
              </a:srgbClr>
            </a:solidFill>
            <a:ln w="19050">
              <a:solidFill>
                <a:srgbClr val="E6C46D"/>
              </a:solidFill>
            </a:ln>
          </p:spPr>
        </p:sp>
        <p:sp>
          <p:nvSpPr>
            <p:cNvPr id="34" name="TextBox 34"/>
            <p:cNvSpPr txBox="1"/>
            <p:nvPr/>
          </p:nvSpPr>
          <p:spPr>
            <a:xfrm>
              <a:off x="7137339" y="3342352"/>
              <a:ext cx="197539" cy="365760"/>
            </a:xfrm>
            <a:prstGeom prst="rect">
              <a:avLst/>
            </a:prstGeom>
            <a:noFill/>
            <a:ln>
              <a:noFill/>
            </a:ln>
          </p:spPr>
          <p:txBody>
            <a:bodyPr wrap="none" lIns="0" tIns="0" rIns="0" bIns="0" anchor="t" anchorCtr="0">
              <a:spAutoFit/>
            </a:bodyPr>
            <a:lstStyle/>
            <a:p>
              <a:pPr algn="ctr"/>
              <a:r>
                <a:rPr lang="zh-CN" sz="2400" b="1" dirty="0">
                  <a:solidFill>
                    <a:srgbClr val="E6A43A"/>
                  </a:solidFill>
                  <a:latin typeface="Noto Sans SC" panose="020B0200000000000000" pitchFamily="34" charset="-122"/>
                  <a:ea typeface="Noto Sans SC" panose="020B0200000000000000" pitchFamily="34" charset="-122"/>
                  <a:cs typeface="Arial"/>
                </a:rPr>
                <a:t>¥</a:t>
              </a:r>
            </a:p>
          </p:txBody>
        </p:sp>
        <p:sp>
          <p:nvSpPr>
            <p:cNvPr id="35" name="TextBox 35"/>
            <p:cNvSpPr txBox="1"/>
            <p:nvPr/>
          </p:nvSpPr>
          <p:spPr>
            <a:xfrm>
              <a:off x="7030402" y="3617595"/>
              <a:ext cx="417195"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36" name="TextBox 36"/>
            <p:cNvSpPr txBox="1"/>
            <p:nvPr/>
          </p:nvSpPr>
          <p:spPr>
            <a:xfrm>
              <a:off x="8129826" y="3072066"/>
              <a:ext cx="820738"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经济可行</a:t>
              </a:r>
            </a:p>
          </p:txBody>
        </p:sp>
        <p:sp>
          <p:nvSpPr>
            <p:cNvPr id="37" name="TextBox 37"/>
            <p:cNvSpPr txBox="1"/>
            <p:nvPr/>
          </p:nvSpPr>
          <p:spPr>
            <a:xfrm>
              <a:off x="8087540" y="3393783"/>
              <a:ext cx="2912657" cy="646331"/>
            </a:xfrm>
            <a:prstGeom prst="rect">
              <a:avLst/>
            </a:prstGeom>
            <a:noFill/>
            <a:ln>
              <a:noFill/>
            </a:ln>
          </p:spPr>
          <p:txBody>
            <a:bodyPr wrap="none" lIns="0" tIns="0" rIns="0" bIns="0" anchor="t" anchorCtr="0">
              <a:spAutoFit/>
            </a:bodyPr>
            <a:lstStyle/>
            <a:p>
              <a:pPr marL="171450" indent="-171450">
                <a:buFont typeface="Wingdings" panose="05000000000000000000" pitchFamily="2" charset="2"/>
                <a:buChar char="u"/>
              </a:pPr>
              <a:r>
                <a:rPr lang="zh-CN" altLang="en-US" sz="1400" dirty="0">
                  <a:solidFill>
                    <a:srgbClr val="555555"/>
                  </a:solidFill>
                  <a:latin typeface="思源宋体" panose="02020400000000000000" pitchFamily="18" charset="-122"/>
                  <a:ea typeface="思源宋体" panose="02020400000000000000" pitchFamily="18" charset="-122"/>
                  <a:cs typeface="Calibri"/>
                </a:rPr>
                <a:t>   全部使用开源</a:t>
              </a:r>
              <a:r>
                <a:rPr lang="en-US" altLang="zh-CN" sz="1400" dirty="0">
                  <a:solidFill>
                    <a:srgbClr val="555555"/>
                  </a:solidFill>
                  <a:latin typeface="思源宋体" panose="02020400000000000000" pitchFamily="18" charset="-122"/>
                  <a:ea typeface="思源宋体" panose="02020400000000000000" pitchFamily="18" charset="-122"/>
                  <a:cs typeface="Calibri"/>
                </a:rPr>
                <a:t>/</a:t>
              </a:r>
              <a:r>
                <a:rPr lang="zh-CN" altLang="en-US" sz="1400" dirty="0">
                  <a:solidFill>
                    <a:srgbClr val="555555"/>
                  </a:solidFill>
                  <a:latin typeface="思源宋体" panose="02020400000000000000" pitchFamily="18" charset="-122"/>
                  <a:ea typeface="思源宋体" panose="02020400000000000000" pitchFamily="18" charset="-122"/>
                  <a:cs typeface="Calibri"/>
                </a:rPr>
                <a:t>免费技术栈</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171450" indent="-171450">
                <a:buFont typeface="Wingdings" panose="05000000000000000000" pitchFamily="2" charset="2"/>
                <a:buChar char="u"/>
              </a:pPr>
              <a:r>
                <a:rPr lang="zh-CN" altLang="en-US" sz="1400" dirty="0">
                  <a:solidFill>
                    <a:srgbClr val="555555"/>
                  </a:solidFill>
                  <a:latin typeface="思源宋体" panose="02020400000000000000" pitchFamily="18" charset="-122"/>
                  <a:ea typeface="思源宋体" panose="02020400000000000000" pitchFamily="18" charset="-122"/>
                  <a:cs typeface="Calibri"/>
                </a:rPr>
                <a:t>   无需购买服务器或云服务</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171450" indent="-171450">
                <a:buFont typeface="Wingdings" panose="05000000000000000000" pitchFamily="2" charset="2"/>
                <a:buChar char="u"/>
              </a:pPr>
              <a:r>
                <a:rPr lang="en-US" altLang="zh-CN" sz="1400" dirty="0">
                  <a:solidFill>
                    <a:srgbClr val="555555"/>
                  </a:solidFill>
                  <a:latin typeface="思源宋体" panose="02020400000000000000" pitchFamily="18" charset="-122"/>
                  <a:ea typeface="思源宋体" panose="02020400000000000000" pitchFamily="18" charset="-122"/>
                  <a:cs typeface="Calibri"/>
                </a:rPr>
                <a:t>   </a:t>
              </a:r>
              <a:r>
                <a:rPr lang="en-US" altLang="zh-CN" sz="1400" dirty="0" err="1">
                  <a:solidFill>
                    <a:srgbClr val="555555"/>
                  </a:solidFill>
                  <a:latin typeface="思源宋体" panose="02020400000000000000" pitchFamily="18" charset="-122"/>
                  <a:ea typeface="思源宋体" panose="02020400000000000000" pitchFamily="18" charset="-122"/>
                  <a:cs typeface="Calibri"/>
                </a:rPr>
                <a:t>OpenRouter</a:t>
              </a:r>
              <a:r>
                <a:rPr lang="en-US" altLang="zh-CN" sz="1400" dirty="0">
                  <a:solidFill>
                    <a:srgbClr val="555555"/>
                  </a:solidFill>
                  <a:latin typeface="思源宋体" panose="02020400000000000000" pitchFamily="18" charset="-122"/>
                  <a:ea typeface="思源宋体" panose="02020400000000000000" pitchFamily="18" charset="-122"/>
                  <a:cs typeface="Calibri"/>
                </a:rPr>
                <a:t> </a:t>
              </a:r>
              <a:r>
                <a:rPr lang="zh-CN" altLang="en-US" sz="1400" dirty="0">
                  <a:solidFill>
                    <a:srgbClr val="555555"/>
                  </a:solidFill>
                  <a:latin typeface="思源宋体" panose="02020400000000000000" pitchFamily="18" charset="-122"/>
                  <a:ea typeface="思源宋体" panose="02020400000000000000" pitchFamily="18" charset="-122"/>
                  <a:cs typeface="Calibri"/>
                </a:rPr>
                <a:t>提供免费 </a:t>
              </a:r>
              <a:r>
                <a:rPr lang="en-US" altLang="zh-CN" sz="1400" dirty="0">
                  <a:solidFill>
                    <a:srgbClr val="555555"/>
                  </a:solidFill>
                  <a:latin typeface="思源宋体" panose="02020400000000000000" pitchFamily="18" charset="-122"/>
                  <a:ea typeface="思源宋体" panose="02020400000000000000" pitchFamily="18" charset="-122"/>
                  <a:cs typeface="Calibri"/>
                </a:rPr>
                <a:t>API </a:t>
              </a:r>
              <a:r>
                <a:rPr lang="zh-CN" altLang="en-US" sz="1400" dirty="0">
                  <a:solidFill>
                    <a:srgbClr val="555555"/>
                  </a:solidFill>
                  <a:latin typeface="思源宋体" panose="02020400000000000000" pitchFamily="18" charset="-122"/>
                  <a:ea typeface="思源宋体" panose="02020400000000000000" pitchFamily="18" charset="-122"/>
                  <a:cs typeface="Calibri"/>
                </a:rPr>
                <a:t>额度</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p:txBody>
        </p:sp>
      </p:grpSp>
      <p:grpSp>
        <p:nvGrpSpPr>
          <p:cNvPr id="44" name="Group 44"/>
          <p:cNvGrpSpPr/>
          <p:nvPr/>
        </p:nvGrpSpPr>
        <p:grpSpPr>
          <a:xfrm>
            <a:off x="6919674" y="4811712"/>
            <a:ext cx="4026250" cy="756796"/>
            <a:chOff x="6905625" y="4262437"/>
            <a:chExt cx="4026250" cy="756796"/>
          </a:xfrm>
        </p:grpSpPr>
        <p:sp>
          <p:nvSpPr>
            <p:cNvPr id="39" name="Ellipse 39"/>
            <p:cNvSpPr/>
            <p:nvPr/>
          </p:nvSpPr>
          <p:spPr>
            <a:xfrm>
              <a:off x="6905625" y="4302154"/>
              <a:ext cx="666750" cy="666750"/>
            </a:xfrm>
            <a:prstGeom prst="ellipse">
              <a:avLst/>
            </a:prstGeom>
            <a:solidFill>
              <a:srgbClr val="A9C37C">
                <a:alpha val="20000"/>
              </a:srgbClr>
            </a:solidFill>
            <a:ln w="19050">
              <a:solidFill>
                <a:srgbClr val="A9C37C"/>
              </a:solidFill>
            </a:ln>
          </p:spPr>
        </p:sp>
        <p:sp>
          <p:nvSpPr>
            <p:cNvPr id="40" name="TextBox 40"/>
            <p:cNvSpPr txBox="1"/>
            <p:nvPr/>
          </p:nvSpPr>
          <p:spPr>
            <a:xfrm>
              <a:off x="7137339" y="4455507"/>
              <a:ext cx="197539" cy="365760"/>
            </a:xfrm>
            <a:prstGeom prst="rect">
              <a:avLst/>
            </a:prstGeom>
            <a:noFill/>
            <a:ln>
              <a:noFill/>
            </a:ln>
          </p:spPr>
          <p:txBody>
            <a:bodyPr wrap="none" lIns="0" tIns="0" rIns="0" bIns="0" anchor="t" anchorCtr="0">
              <a:spAutoFit/>
            </a:bodyPr>
            <a:lstStyle/>
            <a:p>
              <a:pPr algn="ctr"/>
              <a:r>
                <a:rPr lang="zh-CN" sz="2400" b="1" dirty="0">
                  <a:solidFill>
                    <a:srgbClr val="6EA843"/>
                  </a:solidFill>
                  <a:latin typeface="Arial"/>
                  <a:ea typeface="SimHei"/>
                  <a:cs typeface="Arial"/>
                </a:rPr>
                <a:t>✓</a:t>
              </a:r>
            </a:p>
          </p:txBody>
        </p:sp>
        <p:sp>
          <p:nvSpPr>
            <p:cNvPr id="41" name="TextBox 41"/>
            <p:cNvSpPr txBox="1"/>
            <p:nvPr/>
          </p:nvSpPr>
          <p:spPr>
            <a:xfrm>
              <a:off x="7096125" y="4665345"/>
              <a:ext cx="285750" cy="182880"/>
            </a:xfrm>
            <a:prstGeom prst="rect">
              <a:avLst/>
            </a:prstGeom>
            <a:noFill/>
            <a:ln>
              <a:noFill/>
            </a:ln>
          </p:spPr>
          <p:txBody>
            <a:bodyPr wrap="none" lIns="0" tIns="0" rIns="0" bIns="0" anchor="t" anchorCtr="0">
              <a:spAutoFit/>
            </a:bodyPr>
            <a:lstStyle/>
            <a:p>
              <a:pPr algn="ctr"/>
              <a:endParaRPr lang="zh-CN" sz="900">
                <a:latin typeface="Noto Serif SC" panose="02020200000000000000" pitchFamily="18" charset="-122"/>
                <a:ea typeface="Noto Serif SC" panose="02020200000000000000" pitchFamily="18" charset="-122"/>
              </a:endParaRPr>
            </a:p>
          </p:txBody>
        </p:sp>
        <p:sp>
          <p:nvSpPr>
            <p:cNvPr id="42" name="TextBox 42"/>
            <p:cNvSpPr txBox="1"/>
            <p:nvPr/>
          </p:nvSpPr>
          <p:spPr>
            <a:xfrm>
              <a:off x="8129826" y="4262437"/>
              <a:ext cx="820738" cy="246221"/>
            </a:xfrm>
            <a:prstGeom prst="rect">
              <a:avLst/>
            </a:prstGeom>
            <a:noFill/>
            <a:ln>
              <a:noFill/>
            </a:ln>
          </p:spPr>
          <p:txBody>
            <a:bodyPr wrap="none" lIns="0" tIns="0" rIns="0" bIns="0" anchor="t" anchorCtr="0">
              <a:spAutoFit/>
            </a:bodyPr>
            <a:lstStyle/>
            <a:p>
              <a:pPr algn="l"/>
              <a:r>
                <a:rPr lang="zh-CN" sz="1600" b="1" dirty="0">
                  <a:solidFill>
                    <a:srgbClr val="1A1A1A"/>
                  </a:solidFill>
                  <a:latin typeface="思源黑体 CN" panose="020B0500000000000000" pitchFamily="34" charset="-122"/>
                  <a:ea typeface="思源黑体 CN" panose="020B0500000000000000" pitchFamily="34" charset="-122"/>
                  <a:cs typeface="Calibri"/>
                </a:rPr>
                <a:t>社会可行</a:t>
              </a:r>
            </a:p>
          </p:txBody>
        </p:sp>
        <p:sp>
          <p:nvSpPr>
            <p:cNvPr id="43" name="TextBox 43"/>
            <p:cNvSpPr txBox="1"/>
            <p:nvPr/>
          </p:nvSpPr>
          <p:spPr>
            <a:xfrm>
              <a:off x="8129826" y="4588346"/>
              <a:ext cx="2802049" cy="430887"/>
            </a:xfrm>
            <a:prstGeom prst="rect">
              <a:avLst/>
            </a:prstGeom>
            <a:noFill/>
            <a:ln>
              <a:noFill/>
            </a:ln>
          </p:spPr>
          <p:txBody>
            <a:bodyPr wrap="none" lIns="0" tIns="0" rIns="0" bIns="0" anchor="t" anchorCtr="0">
              <a:spAutoFit/>
            </a:bodyPr>
            <a:lstStyle/>
            <a:p>
              <a:pPr marL="285750" indent="-285750">
                <a:buFont typeface="Wingdings" panose="05000000000000000000" pitchFamily="2" charset="2"/>
                <a:buChar char="n"/>
              </a:pPr>
              <a:r>
                <a:rPr lang="zh-CN" altLang="en-US" sz="1400" dirty="0">
                  <a:solidFill>
                    <a:srgbClr val="555555"/>
                  </a:solidFill>
                  <a:latin typeface="思源宋体" panose="02020400000000000000" pitchFamily="18" charset="-122"/>
                  <a:ea typeface="思源宋体" panose="02020400000000000000" pitchFamily="18" charset="-122"/>
                  <a:cs typeface="Calibri"/>
                </a:rPr>
                <a:t>面向校园场景，无法律合规风险</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a:p>
              <a:pPr marL="285750" indent="-285750">
                <a:buFont typeface="Wingdings" panose="05000000000000000000" pitchFamily="2" charset="2"/>
                <a:buChar char="n"/>
              </a:pPr>
              <a:r>
                <a:rPr lang="zh-CN" altLang="en-US" sz="1400" dirty="0">
                  <a:solidFill>
                    <a:srgbClr val="555555"/>
                  </a:solidFill>
                  <a:latin typeface="思源宋体" panose="02020400000000000000" pitchFamily="18" charset="-122"/>
                  <a:ea typeface="思源宋体" panose="02020400000000000000" pitchFamily="18" charset="-122"/>
                  <a:cs typeface="Calibri"/>
                </a:rPr>
                <a:t>评价数据匿名化处理</a:t>
              </a:r>
              <a:endParaRPr lang="en-US" altLang="zh-CN" sz="1400" dirty="0">
                <a:solidFill>
                  <a:srgbClr val="555555"/>
                </a:solidFill>
                <a:latin typeface="思源宋体" panose="02020400000000000000" pitchFamily="18" charset="-122"/>
                <a:ea typeface="思源宋体" panose="02020400000000000000" pitchFamily="18" charset="-122"/>
                <a:cs typeface="Calibri"/>
              </a:endParaRPr>
            </a:p>
          </p:txBody>
        </p:sp>
      </p:gr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47" name="PlanCard">
            <a:extLst>
              <a:ext uri="{FF2B5EF4-FFF2-40B4-BE49-F238E27FC236}">
                <a16:creationId xmlns:a16="http://schemas.microsoft.com/office/drawing/2014/main" id="{DE4EDD5E-3055-4582-BE64-BC3202CAF5BC}"/>
              </a:ext>
            </a:extLst>
          </p:cNvPr>
          <p:cNvSpPr/>
          <p:nvPr/>
        </p:nvSpPr>
        <p:spPr>
          <a:xfrm>
            <a:off x="762000" y="4445000"/>
            <a:ext cx="4434244" cy="1905000"/>
          </a:xfrm>
          <a:prstGeom prst="roundRect">
            <a:avLst/>
          </a:prstGeom>
          <a:solidFill>
            <a:srgbClr val="F4F8FC"/>
          </a:solidFill>
          <a:ln w="1270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panose="02020200000000000000" pitchFamily="18" charset="-122"/>
              <a:ea typeface="Noto Serif SC" panose="02020200000000000000" pitchFamily="18" charset="-122"/>
            </a:endParaRPr>
          </a:p>
        </p:txBody>
      </p:sp>
      <p:sp>
        <p:nvSpPr>
          <p:cNvPr id="49" name="PlanTitle">
            <a:extLst>
              <a:ext uri="{FF2B5EF4-FFF2-40B4-BE49-F238E27FC236}">
                <a16:creationId xmlns:a16="http://schemas.microsoft.com/office/drawing/2014/main" id="{7F708C61-CD7C-4AD3-96E1-8AFD82B5A959}"/>
              </a:ext>
            </a:extLst>
          </p:cNvPr>
          <p:cNvSpPr txBox="1"/>
          <p:nvPr/>
        </p:nvSpPr>
        <p:spPr>
          <a:xfrm>
            <a:off x="990600" y="4572000"/>
            <a:ext cx="2372532" cy="323165"/>
          </a:xfrm>
          <a:prstGeom prst="rect">
            <a:avLst/>
          </a:prstGeom>
          <a:noFill/>
        </p:spPr>
        <p:txBody>
          <a:bodyPr vertOverflow="overflow" vert="horz" wrap="square" rtlCol="0" anchor="t">
            <a:spAutoFit/>
          </a:bodyPr>
          <a:lstStyle/>
          <a:p>
            <a:pPr algn="l"/>
            <a:r>
              <a:rPr lang="zh-CN" altLang="en-US" sz="1500" b="1" dirty="0">
                <a:solidFill>
                  <a:srgbClr val="004E97"/>
                </a:solidFill>
                <a:latin typeface="思源黑体 CN" panose="020B0500000000000000" pitchFamily="34" charset="-122"/>
                <a:ea typeface="思源黑体 CN" panose="020B0500000000000000" pitchFamily="34" charset="-122"/>
              </a:rPr>
              <a:t>项目计划概要</a:t>
            </a:r>
          </a:p>
        </p:txBody>
      </p:sp>
      <p:sp>
        <p:nvSpPr>
          <p:cNvPr id="50" name="PlanK0">
            <a:extLst>
              <a:ext uri="{FF2B5EF4-FFF2-40B4-BE49-F238E27FC236}">
                <a16:creationId xmlns:a16="http://schemas.microsoft.com/office/drawing/2014/main" id="{122A753A-A929-4B1D-A4A2-D1E711B029D3}"/>
              </a:ext>
            </a:extLst>
          </p:cNvPr>
          <p:cNvSpPr txBox="1"/>
          <p:nvPr/>
        </p:nvSpPr>
        <p:spPr>
          <a:xfrm>
            <a:off x="990600" y="4938793"/>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开发模型</a:t>
            </a:r>
          </a:p>
        </p:txBody>
      </p:sp>
      <p:sp>
        <p:nvSpPr>
          <p:cNvPr id="51" name="PlanV0">
            <a:extLst>
              <a:ext uri="{FF2B5EF4-FFF2-40B4-BE49-F238E27FC236}">
                <a16:creationId xmlns:a16="http://schemas.microsoft.com/office/drawing/2014/main" id="{48639901-2DB5-4E26-9434-30037BE7C4F6}"/>
              </a:ext>
            </a:extLst>
          </p:cNvPr>
          <p:cNvSpPr txBox="1"/>
          <p:nvPr/>
        </p:nvSpPr>
        <p:spPr>
          <a:xfrm>
            <a:off x="2032000" y="4953000"/>
            <a:ext cx="4064000" cy="292388"/>
          </a:xfrm>
          <a:prstGeom prst="rect">
            <a:avLst/>
          </a:prstGeom>
          <a:noFill/>
        </p:spPr>
        <p:txBody>
          <a:bodyPr vertOverflow="overflow" vert="horz" wrap="square" rtlCol="0" anchor="t">
            <a:spAutoFit/>
          </a:bodyPr>
          <a:lstStyle/>
          <a:p>
            <a:pPr algn="l"/>
            <a:r>
              <a:rPr lang="zh-CN" altLang="en-US" sz="1300" dirty="0">
                <a:solidFill>
                  <a:srgbClr val="1F1F1F"/>
                </a:solidFill>
                <a:latin typeface="思源宋体" panose="02020400000000000000" pitchFamily="18" charset="-122"/>
                <a:ea typeface="思源宋体" panose="02020400000000000000" pitchFamily="18" charset="-122"/>
              </a:rPr>
              <a:t>迭代模型，增量交付</a:t>
            </a:r>
          </a:p>
        </p:txBody>
      </p:sp>
      <p:sp>
        <p:nvSpPr>
          <p:cNvPr id="52" name="PlanK1">
            <a:extLst>
              <a:ext uri="{FF2B5EF4-FFF2-40B4-BE49-F238E27FC236}">
                <a16:creationId xmlns:a16="http://schemas.microsoft.com/office/drawing/2014/main" id="{BB015518-DC15-4728-B039-0376FF522F63}"/>
              </a:ext>
            </a:extLst>
          </p:cNvPr>
          <p:cNvSpPr txBox="1"/>
          <p:nvPr/>
        </p:nvSpPr>
        <p:spPr>
          <a:xfrm>
            <a:off x="990600" y="5276096"/>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总工期</a:t>
            </a:r>
          </a:p>
        </p:txBody>
      </p:sp>
      <p:sp>
        <p:nvSpPr>
          <p:cNvPr id="53" name="PlanV1">
            <a:extLst>
              <a:ext uri="{FF2B5EF4-FFF2-40B4-BE49-F238E27FC236}">
                <a16:creationId xmlns:a16="http://schemas.microsoft.com/office/drawing/2014/main" id="{9B01BEAD-1950-4E97-AFA0-879AF8F22210}"/>
              </a:ext>
            </a:extLst>
          </p:cNvPr>
          <p:cNvSpPr txBox="1"/>
          <p:nvPr/>
        </p:nvSpPr>
        <p:spPr>
          <a:xfrm>
            <a:off x="2032000" y="5283200"/>
            <a:ext cx="4064000" cy="292388"/>
          </a:xfrm>
          <a:prstGeom prst="rect">
            <a:avLst/>
          </a:prstGeom>
          <a:noFill/>
        </p:spPr>
        <p:txBody>
          <a:bodyPr vertOverflow="overflow" vert="horz" wrap="square" rtlCol="0" anchor="t">
            <a:spAutoFit/>
          </a:bodyPr>
          <a:lstStyle/>
          <a:p>
            <a:pPr algn="l"/>
            <a:r>
              <a:rPr lang="en-US" altLang="zh-CN" sz="1300" dirty="0">
                <a:solidFill>
                  <a:srgbClr val="1F1F1F"/>
                </a:solidFill>
                <a:latin typeface="思源宋体" panose="02020400000000000000" pitchFamily="18" charset="-122"/>
                <a:ea typeface="思源宋体" panose="02020400000000000000" pitchFamily="18" charset="-122"/>
              </a:rPr>
              <a:t>5 </a:t>
            </a:r>
            <a:r>
              <a:rPr lang="zh-CN" altLang="en-US" sz="1300" dirty="0">
                <a:solidFill>
                  <a:srgbClr val="1F1F1F"/>
                </a:solidFill>
                <a:latin typeface="思源宋体" panose="02020400000000000000" pitchFamily="18" charset="-122"/>
                <a:ea typeface="思源宋体" panose="02020400000000000000" pitchFamily="18" charset="-122"/>
              </a:rPr>
              <a:t>周，</a:t>
            </a:r>
            <a:r>
              <a:rPr lang="en-US" altLang="zh-CN" sz="1300" dirty="0">
                <a:solidFill>
                  <a:srgbClr val="1F1F1F"/>
                </a:solidFill>
                <a:latin typeface="思源宋体" panose="02020400000000000000" pitchFamily="18" charset="-122"/>
                <a:ea typeface="思源宋体" panose="02020400000000000000" pitchFamily="18" charset="-122"/>
              </a:rPr>
              <a:t>3 </a:t>
            </a:r>
            <a:r>
              <a:rPr lang="zh-CN" altLang="en-US" sz="1300" dirty="0">
                <a:solidFill>
                  <a:srgbClr val="1F1F1F"/>
                </a:solidFill>
                <a:latin typeface="思源宋体" panose="02020400000000000000" pitchFamily="18" charset="-122"/>
                <a:ea typeface="思源宋体" panose="02020400000000000000" pitchFamily="18" charset="-122"/>
              </a:rPr>
              <a:t>轮迭代</a:t>
            </a:r>
          </a:p>
        </p:txBody>
      </p:sp>
      <p:sp>
        <p:nvSpPr>
          <p:cNvPr id="54" name="PlanK2">
            <a:extLst>
              <a:ext uri="{FF2B5EF4-FFF2-40B4-BE49-F238E27FC236}">
                <a16:creationId xmlns:a16="http://schemas.microsoft.com/office/drawing/2014/main" id="{324AA0B7-2A9F-416E-8C23-0A70F8E73591}"/>
              </a:ext>
            </a:extLst>
          </p:cNvPr>
          <p:cNvSpPr txBox="1"/>
          <p:nvPr/>
        </p:nvSpPr>
        <p:spPr>
          <a:xfrm>
            <a:off x="990600" y="5607194"/>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代码规模</a:t>
            </a:r>
          </a:p>
        </p:txBody>
      </p:sp>
      <p:sp>
        <p:nvSpPr>
          <p:cNvPr id="55" name="PlanV2">
            <a:extLst>
              <a:ext uri="{FF2B5EF4-FFF2-40B4-BE49-F238E27FC236}">
                <a16:creationId xmlns:a16="http://schemas.microsoft.com/office/drawing/2014/main" id="{8BA50543-1306-4B1B-A5D3-8BB6B234ADA6}"/>
              </a:ext>
            </a:extLst>
          </p:cNvPr>
          <p:cNvSpPr txBox="1"/>
          <p:nvPr/>
        </p:nvSpPr>
        <p:spPr>
          <a:xfrm>
            <a:off x="2032000" y="5613400"/>
            <a:ext cx="4064000" cy="292388"/>
          </a:xfrm>
          <a:prstGeom prst="rect">
            <a:avLst/>
          </a:prstGeom>
          <a:noFill/>
        </p:spPr>
        <p:txBody>
          <a:bodyPr vertOverflow="overflow" vert="horz" wrap="square" rtlCol="0" anchor="t">
            <a:spAutoFit/>
          </a:bodyPr>
          <a:lstStyle/>
          <a:p>
            <a:pPr algn="l"/>
            <a:r>
              <a:rPr lang="zh-CN" altLang="en-US" sz="1300" dirty="0">
                <a:solidFill>
                  <a:srgbClr val="1F1F1F"/>
                </a:solidFill>
                <a:latin typeface="思源宋体" panose="02020400000000000000" pitchFamily="18" charset="-122"/>
                <a:ea typeface="思源宋体" panose="02020400000000000000" pitchFamily="18" charset="-122"/>
              </a:rPr>
              <a:t>约 </a:t>
            </a:r>
            <a:r>
              <a:rPr lang="en-US" altLang="zh-CN" sz="1300" dirty="0">
                <a:solidFill>
                  <a:srgbClr val="1F1F1F"/>
                </a:solidFill>
                <a:latin typeface="思源宋体" panose="02020400000000000000" pitchFamily="18" charset="-122"/>
                <a:ea typeface="思源宋体" panose="02020400000000000000" pitchFamily="18" charset="-122"/>
              </a:rPr>
              <a:t>4,000 </a:t>
            </a:r>
            <a:r>
              <a:rPr lang="zh-CN" altLang="en-US" sz="1300" dirty="0">
                <a:solidFill>
                  <a:srgbClr val="1F1F1F"/>
                </a:solidFill>
                <a:latin typeface="思源宋体" panose="02020400000000000000" pitchFamily="18" charset="-122"/>
                <a:ea typeface="思源宋体" panose="02020400000000000000" pitchFamily="18" charset="-122"/>
              </a:rPr>
              <a:t>行</a:t>
            </a:r>
          </a:p>
        </p:txBody>
      </p:sp>
      <p:sp>
        <p:nvSpPr>
          <p:cNvPr id="56" name="PlanK3">
            <a:extLst>
              <a:ext uri="{FF2B5EF4-FFF2-40B4-BE49-F238E27FC236}">
                <a16:creationId xmlns:a16="http://schemas.microsoft.com/office/drawing/2014/main" id="{EF367FD5-D4CC-4505-B5FC-D6D5A9BBE12C}"/>
              </a:ext>
            </a:extLst>
          </p:cNvPr>
          <p:cNvSpPr txBox="1"/>
          <p:nvPr/>
        </p:nvSpPr>
        <p:spPr>
          <a:xfrm>
            <a:off x="990600" y="5927348"/>
            <a:ext cx="889000" cy="292388"/>
          </a:xfrm>
          <a:prstGeom prst="rect">
            <a:avLst/>
          </a:prstGeom>
          <a:noFill/>
        </p:spPr>
        <p:txBody>
          <a:bodyPr vertOverflow="overflow" vert="horz" wrap="square" rtlCol="0" anchor="t">
            <a:spAutoFit/>
          </a:bodyPr>
          <a:lstStyle/>
          <a:p>
            <a:pPr algn="l"/>
            <a:r>
              <a:rPr lang="zh-CN" altLang="en-US" sz="1300" b="1" dirty="0">
                <a:solidFill>
                  <a:srgbClr val="666666"/>
                </a:solidFill>
                <a:latin typeface="思源黑体 CN" panose="020B0500000000000000" pitchFamily="34" charset="-122"/>
                <a:ea typeface="思源黑体 CN" panose="020B0500000000000000" pitchFamily="34" charset="-122"/>
              </a:rPr>
              <a:t>团队规模</a:t>
            </a:r>
          </a:p>
        </p:txBody>
      </p:sp>
      <p:sp>
        <p:nvSpPr>
          <p:cNvPr id="57" name="PlanV3">
            <a:extLst>
              <a:ext uri="{FF2B5EF4-FFF2-40B4-BE49-F238E27FC236}">
                <a16:creationId xmlns:a16="http://schemas.microsoft.com/office/drawing/2014/main" id="{C4F45DD5-B56B-4988-83F5-AE06F8E4A859}"/>
              </a:ext>
            </a:extLst>
          </p:cNvPr>
          <p:cNvSpPr txBox="1"/>
          <p:nvPr/>
        </p:nvSpPr>
        <p:spPr>
          <a:xfrm>
            <a:off x="2032000" y="5943600"/>
            <a:ext cx="4064000" cy="292388"/>
          </a:xfrm>
          <a:prstGeom prst="rect">
            <a:avLst/>
          </a:prstGeom>
          <a:noFill/>
        </p:spPr>
        <p:txBody>
          <a:bodyPr vertOverflow="overflow" vert="horz" wrap="square" rtlCol="0" anchor="t">
            <a:spAutoFit/>
          </a:bodyPr>
          <a:lstStyle/>
          <a:p>
            <a:pPr algn="l"/>
            <a:r>
              <a:rPr lang="en-US" altLang="zh-CN" sz="1300" dirty="0">
                <a:solidFill>
                  <a:srgbClr val="1F1F1F"/>
                </a:solidFill>
                <a:latin typeface="思源宋体" panose="02020400000000000000" pitchFamily="18" charset="-122"/>
                <a:ea typeface="思源宋体" panose="02020400000000000000" pitchFamily="18" charset="-122"/>
              </a:rPr>
              <a:t>6 </a:t>
            </a:r>
            <a:r>
              <a:rPr lang="zh-CN" altLang="en-US" sz="1300" dirty="0">
                <a:solidFill>
                  <a:srgbClr val="1F1F1F"/>
                </a:solidFill>
                <a:latin typeface="思源宋体" panose="02020400000000000000" pitchFamily="18" charset="-122"/>
                <a:ea typeface="思源宋体" panose="02020400000000000000" pitchFamily="18" charset="-122"/>
              </a:rPr>
              <a:t>人 </a:t>
            </a:r>
            <a:r>
              <a:rPr lang="en-US" altLang="zh-CN" sz="1300" dirty="0">
                <a:solidFill>
                  <a:srgbClr val="1F1F1F"/>
                </a:solidFill>
                <a:latin typeface="思源宋体" panose="02020400000000000000" pitchFamily="18" charset="-122"/>
                <a:ea typeface="思源宋体" panose="02020400000000000000" pitchFamily="18" charset="-122"/>
              </a:rPr>
              <a:t>· </a:t>
            </a:r>
            <a:r>
              <a:rPr lang="zh-CN" altLang="en-US" sz="1300" dirty="0">
                <a:solidFill>
                  <a:srgbClr val="1F1F1F"/>
                </a:solidFill>
                <a:latin typeface="思源宋体" panose="02020400000000000000" pitchFamily="18" charset="-122"/>
                <a:ea typeface="思源宋体" panose="02020400000000000000" pitchFamily="18" charset="-122"/>
              </a:rPr>
              <a:t>明确分工协作</a:t>
            </a:r>
          </a:p>
        </p:txBody>
      </p:sp>
    </p:spTree>
    <p:extLst>
      <p:ext uri="{BB962C8B-B14F-4D97-AF65-F5344CB8AC3E}">
        <p14:creationId xmlns:p14="http://schemas.microsoft.com/office/powerpoint/2010/main" val="22159985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
          <p:cNvSpPr/>
          <p:nvPr/>
        </p:nvSpPr>
        <p:spPr>
          <a:xfrm>
            <a:off x="0" y="0"/>
            <a:ext cx="12192000" cy="857250"/>
          </a:xfrm>
          <a:prstGeom prst="rect">
            <a:avLst/>
          </a:prstGeom>
          <a:solidFill>
            <a:srgbClr val="004E97">
              <a:alpha val="8000"/>
            </a:srgbClr>
          </a:solidFill>
          <a:ln>
            <a:noFill/>
          </a:ln>
        </p:spPr>
        <p:txBody>
          <a:bodyPr/>
          <a:lstStyle/>
          <a:p>
            <a:endParaRPr lang="zh-CN" altLang="en-US">
              <a:latin typeface="Noto Serif SC"/>
              <a:ea typeface="Noto Serif SC"/>
              <a:cs typeface="Noto Serif SC"/>
            </a:endParaRPr>
          </a:p>
        </p:txBody>
      </p:sp>
      <p:sp>
        <p:nvSpPr>
          <p:cNvPr id="4" name="TextBox 4"/>
          <p:cNvSpPr txBox="1"/>
          <p:nvPr/>
        </p:nvSpPr>
        <p:spPr>
          <a:xfrm>
            <a:off x="914400" y="295275"/>
            <a:ext cx="3635611"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项目管理 · 团队协作</a:t>
            </a:r>
          </a:p>
        </p:txBody>
      </p:sp>
      <p:sp>
        <p:nvSpPr>
          <p:cNvPr id="5" name="Line 5"/>
          <p:cNvSpPr/>
          <p:nvPr/>
        </p:nvSpPr>
        <p:spPr>
          <a:xfrm>
            <a:off x="952500" y="762000"/>
            <a:ext cx="3810000" cy="9525"/>
          </a:xfrm>
          <a:custGeom>
            <a:avLst/>
            <a:gdLst/>
            <a:ahLst/>
            <a:cxnLst/>
            <a:rect l="l" t="t" r="r" b="b"/>
            <a:pathLst>
              <a:path w="3810000" h="9525">
                <a:moveTo>
                  <a:pt x="0" y="0"/>
                </a:moveTo>
                <a:lnTo>
                  <a:pt x="3810000" y="0"/>
                </a:lnTo>
              </a:path>
            </a:pathLst>
          </a:custGeom>
          <a:noFill/>
          <a:ln w="19050">
            <a:solidFill>
              <a:srgbClr val="E6C46D"/>
            </a:solidFill>
          </a:ln>
        </p:spPr>
      </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pic>
        <p:nvPicPr>
          <p:cNvPr id="3" name="图片 2"/>
          <p:cNvPicPr>
            <a:picLocks noChangeAspect="1"/>
          </p:cNvPicPr>
          <p:nvPr/>
        </p:nvPicPr>
        <p:blipFill>
          <a:blip r:embed="rId45"/>
          <a:stretch>
            <a:fillRect/>
          </a:stretch>
        </p:blipFill>
        <p:spPr>
          <a:xfrm>
            <a:off x="539750" y="1447165"/>
            <a:ext cx="4715510" cy="3267507"/>
          </a:xfrm>
          <a:prstGeom prst="rect">
            <a:avLst/>
          </a:prstGeom>
        </p:spPr>
      </p:pic>
      <p:sp>
        <p:nvSpPr>
          <p:cNvPr id="48" name="文本框 47"/>
          <p:cNvSpPr txBox="1"/>
          <p:nvPr/>
        </p:nvSpPr>
        <p:spPr>
          <a:xfrm>
            <a:off x="2062480" y="1079002"/>
            <a:ext cx="4635500" cy="337185"/>
          </a:xfrm>
          <a:prstGeom prst="rect">
            <a:avLst/>
          </a:prstGeom>
          <a:noFill/>
        </p:spPr>
        <p:txBody>
          <a:bodyPr vertOverflow="overflow" vert="horz" wrap="square" rtlCol="0" anchor="t">
            <a:spAutoFit/>
          </a:bodyPr>
          <a:lstStyle/>
          <a:p>
            <a:pPr algn="l"/>
            <a:r>
              <a:rPr lang="en-US" altLang="zh-CN" sz="1600" b="1" dirty="0">
                <a:solidFill>
                  <a:srgbClr val="004E97"/>
                </a:solidFill>
                <a:latin typeface="思源黑体 CN" panose="020B0500000000000000" pitchFamily="34" charset="-122"/>
                <a:ea typeface="思源黑体 CN" panose="020B0500000000000000" pitchFamily="34" charset="-122"/>
                <a:cs typeface="Noto Sans SC"/>
              </a:rPr>
              <a:t>Brainstorming</a:t>
            </a:r>
          </a:p>
        </p:txBody>
      </p:sp>
      <p:sp>
        <p:nvSpPr>
          <p:cNvPr id="49" name="文本框 48"/>
          <p:cNvSpPr txBox="1"/>
          <p:nvPr/>
        </p:nvSpPr>
        <p:spPr>
          <a:xfrm>
            <a:off x="636270" y="4699000"/>
            <a:ext cx="4635500" cy="275590"/>
          </a:xfrm>
          <a:prstGeom prst="rect">
            <a:avLst/>
          </a:prstGeom>
          <a:noFill/>
        </p:spPr>
        <p:txBody>
          <a:bodyPr vertOverflow="overflow" vert="horz" wrap="square" rtlCol="0" anchor="t">
            <a:spAutoFit/>
          </a:bodyPr>
          <a:lstStyle/>
          <a:p>
            <a:pPr algn="ctr"/>
            <a:r>
              <a:rPr lang="zh-CN" altLang="en-US" sz="1200" dirty="0">
                <a:solidFill>
                  <a:srgbClr val="666666"/>
                </a:solidFill>
                <a:latin typeface="思源宋体" panose="02020400000000000000" pitchFamily="18" charset="-122"/>
                <a:ea typeface="思源宋体" panose="02020400000000000000" pitchFamily="18" charset="-122"/>
                <a:cs typeface="Noto Serif SC"/>
              </a:rPr>
              <a:t>团队 </a:t>
            </a:r>
            <a:r>
              <a:rPr lang="en-US" altLang="zh-CN" sz="1200" dirty="0">
                <a:solidFill>
                  <a:srgbClr val="666666"/>
                </a:solidFill>
                <a:latin typeface="思源宋体" panose="02020400000000000000" pitchFamily="18" charset="-122"/>
                <a:ea typeface="思源宋体" panose="02020400000000000000" pitchFamily="18" charset="-122"/>
                <a:cs typeface="Noto Serif SC"/>
              </a:rPr>
              <a:t>Brainstorming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阶段功能清单</a:t>
            </a:r>
          </a:p>
        </p:txBody>
      </p:sp>
      <p:sp>
        <p:nvSpPr>
          <p:cNvPr id="50" name="矩形: 圆角 49"/>
          <p:cNvSpPr/>
          <p:nvPr/>
        </p:nvSpPr>
        <p:spPr>
          <a:xfrm>
            <a:off x="539750" y="5016500"/>
            <a:ext cx="4824730" cy="12065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2" name="文本框 51"/>
          <p:cNvSpPr txBox="1"/>
          <p:nvPr/>
        </p:nvSpPr>
        <p:spPr>
          <a:xfrm>
            <a:off x="2350770" y="5051172"/>
            <a:ext cx="4824730" cy="338554"/>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讨论成果</a:t>
            </a:r>
          </a:p>
        </p:txBody>
      </p:sp>
      <p:sp>
        <p:nvSpPr>
          <p:cNvPr id="53" name="文本框 52"/>
          <p:cNvSpPr txBox="1"/>
          <p:nvPr/>
        </p:nvSpPr>
        <p:spPr>
          <a:xfrm>
            <a:off x="598170" y="5330747"/>
            <a:ext cx="482473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通过提出功能点并不断讨论，逐步明确项目核心功能与方向</a:t>
            </a:r>
          </a:p>
        </p:txBody>
      </p:sp>
      <p:sp>
        <p:nvSpPr>
          <p:cNvPr id="54" name="文本框 53"/>
          <p:cNvSpPr txBox="1"/>
          <p:nvPr/>
        </p:nvSpPr>
        <p:spPr>
          <a:xfrm>
            <a:off x="598170" y="5579958"/>
            <a:ext cx="482473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结合成员技能情况，确定技术栈与具体分工安排</a:t>
            </a:r>
          </a:p>
        </p:txBody>
      </p:sp>
      <p:sp>
        <p:nvSpPr>
          <p:cNvPr id="55" name="文本框 54"/>
          <p:cNvSpPr txBox="1"/>
          <p:nvPr/>
        </p:nvSpPr>
        <p:spPr>
          <a:xfrm>
            <a:off x="636270" y="5892524"/>
            <a:ext cx="4824730" cy="276999"/>
          </a:xfrm>
          <a:prstGeom prst="rect">
            <a:avLst/>
          </a:prstGeom>
          <a:noFill/>
        </p:spPr>
        <p:txBody>
          <a:bodyPr vertOverflow="overflow" vert="horz" wrap="square" rtlCol="0" anchor="t">
            <a:spAutoFit/>
          </a:bodyPr>
          <a:lstStyle/>
          <a:p>
            <a:pPr algn="l"/>
            <a:r>
              <a:rPr lang="zh-CN" altLang="en-US" sz="1200" b="1">
                <a:solidFill>
                  <a:srgbClr val="E6A43A"/>
                </a:solidFill>
                <a:latin typeface="思源黑体 CN" panose="020B0500000000000000" pitchFamily="34" charset="-122"/>
                <a:ea typeface="思源黑体 CN" panose="020B0500000000000000" pitchFamily="34" charset="-122"/>
                <a:cs typeface="Noto Sans SC"/>
              </a:rPr>
              <a:t>核心产出：功能列表 </a:t>
            </a:r>
            <a:r>
              <a:rPr lang="en-US" altLang="zh-CN" sz="1200" b="1">
                <a:solidFill>
                  <a:srgbClr val="E6A43A"/>
                </a:solidFill>
                <a:latin typeface="思源黑体 CN" panose="020B0500000000000000" pitchFamily="34" charset="-122"/>
                <a:ea typeface="思源黑体 CN" panose="020B0500000000000000" pitchFamily="34" charset="-122"/>
                <a:cs typeface="Noto Sans SC"/>
              </a:rPr>
              <a:t>· </a:t>
            </a:r>
            <a:r>
              <a:rPr lang="zh-CN" altLang="en-US" sz="1200" b="1">
                <a:solidFill>
                  <a:srgbClr val="E6A43A"/>
                </a:solidFill>
                <a:latin typeface="思源黑体 CN" panose="020B0500000000000000" pitchFamily="34" charset="-122"/>
                <a:ea typeface="思源黑体 CN" panose="020B0500000000000000" pitchFamily="34" charset="-122"/>
                <a:cs typeface="Noto Sans SC"/>
              </a:rPr>
              <a:t>技术选型 </a:t>
            </a:r>
            <a:r>
              <a:rPr lang="en-US" altLang="zh-CN" sz="1200" b="1">
                <a:solidFill>
                  <a:srgbClr val="E6A43A"/>
                </a:solidFill>
                <a:latin typeface="思源黑体 CN" panose="020B0500000000000000" pitchFamily="34" charset="-122"/>
                <a:ea typeface="思源黑体 CN" panose="020B0500000000000000" pitchFamily="34" charset="-122"/>
                <a:cs typeface="Noto Sans SC"/>
              </a:rPr>
              <a:t>· </a:t>
            </a:r>
            <a:r>
              <a:rPr lang="zh-CN" altLang="en-US" sz="1200" b="1">
                <a:solidFill>
                  <a:srgbClr val="E6A43A"/>
                </a:solidFill>
                <a:latin typeface="思源黑体 CN" panose="020B0500000000000000" pitchFamily="34" charset="-122"/>
                <a:ea typeface="思源黑体 CN" panose="020B0500000000000000" pitchFamily="34" charset="-122"/>
                <a:cs typeface="Noto Sans SC"/>
              </a:rPr>
              <a:t>团队分工</a:t>
            </a:r>
          </a:p>
        </p:txBody>
      </p:sp>
      <p:sp>
        <p:nvSpPr>
          <p:cNvPr id="56" name="文本框 55"/>
          <p:cNvSpPr txBox="1"/>
          <p:nvPr/>
        </p:nvSpPr>
        <p:spPr>
          <a:xfrm>
            <a:off x="8140700" y="1078116"/>
            <a:ext cx="4889500" cy="337185"/>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团队分工</a:t>
            </a:r>
          </a:p>
        </p:txBody>
      </p:sp>
      <p:sp>
        <p:nvSpPr>
          <p:cNvPr id="57" name="矩形: 圆角 56"/>
          <p:cNvSpPr/>
          <p:nvPr>
            <p:custDataLst>
              <p:tags r:id="rId1"/>
            </p:custDataLst>
          </p:nvPr>
        </p:nvSpPr>
        <p:spPr>
          <a:xfrm>
            <a:off x="5956300" y="1703070"/>
            <a:ext cx="2438400" cy="1371600"/>
          </a:xfrm>
          <a:prstGeom prst="roundRect">
            <a:avLst/>
          </a:prstGeom>
          <a:solidFill>
            <a:srgbClr val="FFFFFF"/>
          </a:solidFill>
          <a:ln w="1270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8" name="矩形 57"/>
          <p:cNvSpPr/>
          <p:nvPr>
            <p:custDataLst>
              <p:tags r:id="rId2"/>
            </p:custDataLst>
          </p:nvPr>
        </p:nvSpPr>
        <p:spPr>
          <a:xfrm>
            <a:off x="5778500" y="1714500"/>
            <a:ext cx="50800" cy="1371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59" name="椭圆 58"/>
          <p:cNvSpPr/>
          <p:nvPr>
            <p:custDataLst>
              <p:tags r:id="rId3"/>
            </p:custDataLst>
          </p:nvPr>
        </p:nvSpPr>
        <p:spPr>
          <a:xfrm>
            <a:off x="6032500" y="1892300"/>
            <a:ext cx="431800" cy="4318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800" b="1" dirty="0">
              <a:solidFill>
                <a:srgbClr val="FFFFFF"/>
              </a:solidFill>
              <a:latin typeface="Noto Sans SC"/>
              <a:ea typeface="Noto Sans SC"/>
              <a:cs typeface="Noto Sans SC"/>
            </a:endParaRPr>
          </a:p>
        </p:txBody>
      </p:sp>
      <p:sp>
        <p:nvSpPr>
          <p:cNvPr id="60" name="文本框 59"/>
          <p:cNvSpPr txBox="1"/>
          <p:nvPr>
            <p:custDataLst>
              <p:tags r:id="rId4"/>
            </p:custDataLst>
          </p:nvPr>
        </p:nvSpPr>
        <p:spPr>
          <a:xfrm>
            <a:off x="6464300" y="1841500"/>
            <a:ext cx="1676400" cy="337185"/>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张钊源</a:t>
            </a:r>
          </a:p>
        </p:txBody>
      </p:sp>
      <p:sp>
        <p:nvSpPr>
          <p:cNvPr id="61" name="文本框 60"/>
          <p:cNvSpPr txBox="1"/>
          <p:nvPr>
            <p:custDataLst>
              <p:tags r:id="rId5"/>
            </p:custDataLst>
          </p:nvPr>
        </p:nvSpPr>
        <p:spPr>
          <a:xfrm>
            <a:off x="6464300" y="2095500"/>
            <a:ext cx="1676400" cy="275590"/>
          </a:xfrm>
          <a:prstGeom prst="rect">
            <a:avLst/>
          </a:prstGeom>
          <a:noFill/>
        </p:spPr>
        <p:txBody>
          <a:bodyPr vertOverflow="overflow" vert="horz" wrap="square" rtlCol="0" anchor="t">
            <a:spAutoFit/>
          </a:bodyPr>
          <a:lstStyle/>
          <a:p>
            <a:pPr algn="l"/>
            <a:r>
              <a:rPr lang="en-US" altLang="zh-CN" sz="1200">
                <a:solidFill>
                  <a:srgbClr val="666666"/>
                </a:solidFill>
                <a:latin typeface="思源宋体" panose="02020400000000000000" pitchFamily="18" charset="-122"/>
                <a:ea typeface="思源宋体" panose="02020400000000000000" pitchFamily="18" charset="-122"/>
                <a:cs typeface="Noto Serif SC"/>
              </a:rPr>
              <a:t>PM · </a:t>
            </a:r>
            <a:r>
              <a:rPr lang="zh-CN" altLang="en-US" sz="1200">
                <a:solidFill>
                  <a:srgbClr val="666666"/>
                </a:solidFill>
                <a:latin typeface="思源宋体" panose="02020400000000000000" pitchFamily="18" charset="-122"/>
                <a:ea typeface="思源宋体" panose="02020400000000000000" pitchFamily="18" charset="-122"/>
                <a:cs typeface="Noto Serif SC"/>
              </a:rPr>
              <a:t>测试</a:t>
            </a:r>
          </a:p>
        </p:txBody>
      </p:sp>
      <p:sp>
        <p:nvSpPr>
          <p:cNvPr id="62" name="矩形 61"/>
          <p:cNvSpPr/>
          <p:nvPr>
            <p:custDataLst>
              <p:tags r:id="rId6"/>
            </p:custDataLst>
          </p:nvPr>
        </p:nvSpPr>
        <p:spPr>
          <a:xfrm>
            <a:off x="5956300" y="24511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3" name="文本框 62"/>
          <p:cNvSpPr txBox="1"/>
          <p:nvPr>
            <p:custDataLst>
              <p:tags r:id="rId7"/>
            </p:custDataLst>
          </p:nvPr>
        </p:nvSpPr>
        <p:spPr>
          <a:xfrm>
            <a:off x="5956299" y="2552700"/>
            <a:ext cx="2438399"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项目管理</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质量保障</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测试设计</a:t>
            </a:r>
          </a:p>
        </p:txBody>
      </p:sp>
      <p:sp>
        <p:nvSpPr>
          <p:cNvPr id="64" name="矩形: 圆角 63"/>
          <p:cNvSpPr/>
          <p:nvPr>
            <p:custDataLst>
              <p:tags r:id="rId8"/>
            </p:custDataLst>
          </p:nvPr>
        </p:nvSpPr>
        <p:spPr>
          <a:xfrm>
            <a:off x="8917940" y="1703070"/>
            <a:ext cx="2438400" cy="1371600"/>
          </a:xfrm>
          <a:prstGeom prst="roundRect">
            <a:avLst/>
          </a:prstGeom>
          <a:solidFill>
            <a:srgbClr val="FFFFFF"/>
          </a:solidFill>
          <a:ln w="12700" cap="flat" cmpd="sng" algn="ctr">
            <a:solidFill>
              <a:srgbClr val="2A8CB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5" name="矩形 64"/>
          <p:cNvSpPr/>
          <p:nvPr>
            <p:custDataLst>
              <p:tags r:id="rId9"/>
            </p:custDataLst>
          </p:nvPr>
        </p:nvSpPr>
        <p:spPr>
          <a:xfrm>
            <a:off x="8733790" y="1714500"/>
            <a:ext cx="50800" cy="13716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66" name="椭圆 65"/>
          <p:cNvSpPr/>
          <p:nvPr>
            <p:custDataLst>
              <p:tags r:id="rId10"/>
            </p:custDataLst>
          </p:nvPr>
        </p:nvSpPr>
        <p:spPr>
          <a:xfrm>
            <a:off x="9029700" y="1892300"/>
            <a:ext cx="431800" cy="431800"/>
          </a:xfrm>
          <a:prstGeom prst="ellipse">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67" name="文本框 66"/>
          <p:cNvSpPr txBox="1"/>
          <p:nvPr>
            <p:custDataLst>
              <p:tags r:id="rId11"/>
            </p:custDataLst>
          </p:nvPr>
        </p:nvSpPr>
        <p:spPr>
          <a:xfrm>
            <a:off x="9537700" y="1841500"/>
            <a:ext cx="1676400" cy="337185"/>
          </a:xfrm>
          <a:prstGeom prst="rect">
            <a:avLst/>
          </a:prstGeom>
          <a:noFill/>
        </p:spPr>
        <p:txBody>
          <a:bodyPr vertOverflow="overflow" vert="horz" wrap="square" rtlCol="0" anchor="t">
            <a:spAutoFit/>
          </a:bodyPr>
          <a:lstStyle/>
          <a:p>
            <a:pPr algn="l"/>
            <a:r>
              <a:rPr lang="zh-CN" altLang="en-US" sz="1600" b="1">
                <a:solidFill>
                  <a:srgbClr val="2A8CB8"/>
                </a:solidFill>
                <a:latin typeface="思源黑体 CN" panose="020B0500000000000000" pitchFamily="34" charset="-122"/>
                <a:ea typeface="思源黑体 CN" panose="020B0500000000000000" pitchFamily="34" charset="-122"/>
                <a:cs typeface="Noto Sans SC"/>
              </a:rPr>
              <a:t>赵思嘉</a:t>
            </a:r>
          </a:p>
        </p:txBody>
      </p:sp>
      <p:sp>
        <p:nvSpPr>
          <p:cNvPr id="68" name="文本框 67"/>
          <p:cNvSpPr txBox="1"/>
          <p:nvPr>
            <p:custDataLst>
              <p:tags r:id="rId12"/>
            </p:custDataLst>
          </p:nvPr>
        </p:nvSpPr>
        <p:spPr>
          <a:xfrm>
            <a:off x="9537700" y="20955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需求分析</a:t>
            </a:r>
          </a:p>
        </p:txBody>
      </p:sp>
      <p:sp>
        <p:nvSpPr>
          <p:cNvPr id="69" name="矩形 68"/>
          <p:cNvSpPr/>
          <p:nvPr>
            <p:custDataLst>
              <p:tags r:id="rId13"/>
            </p:custDataLst>
          </p:nvPr>
        </p:nvSpPr>
        <p:spPr>
          <a:xfrm>
            <a:off x="9029700" y="24511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0" name="文本框 69"/>
          <p:cNvSpPr txBox="1"/>
          <p:nvPr>
            <p:custDataLst>
              <p:tags r:id="rId14"/>
            </p:custDataLst>
          </p:nvPr>
        </p:nvSpPr>
        <p:spPr>
          <a:xfrm>
            <a:off x="9029700" y="2552700"/>
            <a:ext cx="262255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用例图·功能需求·数据建模</a:t>
            </a:r>
          </a:p>
        </p:txBody>
      </p:sp>
      <p:sp>
        <p:nvSpPr>
          <p:cNvPr id="71" name="矩形: 圆角 70"/>
          <p:cNvSpPr/>
          <p:nvPr>
            <p:custDataLst>
              <p:tags r:id="rId15"/>
            </p:custDataLst>
          </p:nvPr>
        </p:nvSpPr>
        <p:spPr>
          <a:xfrm>
            <a:off x="5956300" y="3201670"/>
            <a:ext cx="2438400" cy="1371600"/>
          </a:xfrm>
          <a:prstGeom prst="roundRect">
            <a:avLst/>
          </a:prstGeom>
          <a:solidFill>
            <a:srgbClr val="FFFFFF"/>
          </a:solidFill>
          <a:ln w="1270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2" name="矩形 71"/>
          <p:cNvSpPr/>
          <p:nvPr>
            <p:custDataLst>
              <p:tags r:id="rId16"/>
            </p:custDataLst>
          </p:nvPr>
        </p:nvSpPr>
        <p:spPr>
          <a:xfrm>
            <a:off x="5778500" y="3213100"/>
            <a:ext cx="50800" cy="13716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3" name="椭圆 72"/>
          <p:cNvSpPr/>
          <p:nvPr>
            <p:custDataLst>
              <p:tags r:id="rId17"/>
            </p:custDataLst>
          </p:nvPr>
        </p:nvSpPr>
        <p:spPr>
          <a:xfrm>
            <a:off x="6032500" y="3390900"/>
            <a:ext cx="431800" cy="4318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74" name="文本框 73"/>
          <p:cNvSpPr txBox="1"/>
          <p:nvPr>
            <p:custDataLst>
              <p:tags r:id="rId18"/>
            </p:custDataLst>
          </p:nvPr>
        </p:nvSpPr>
        <p:spPr>
          <a:xfrm>
            <a:off x="6464300" y="3340100"/>
            <a:ext cx="1676400" cy="337185"/>
          </a:xfrm>
          <a:prstGeom prst="rect">
            <a:avLst/>
          </a:prstGeom>
          <a:noFill/>
        </p:spPr>
        <p:txBody>
          <a:bodyPr vertOverflow="overflow" vert="horz" wrap="square" rtlCol="0" anchor="t">
            <a:spAutoFit/>
          </a:bodyPr>
          <a:lstStyle/>
          <a:p>
            <a:pPr algn="l"/>
            <a:r>
              <a:rPr lang="zh-CN" altLang="en-US" sz="1600" b="1">
                <a:solidFill>
                  <a:srgbClr val="E6A43A"/>
                </a:solidFill>
                <a:latin typeface="思源黑体 CN" panose="020B0500000000000000" pitchFamily="34" charset="-122"/>
                <a:ea typeface="思源黑体 CN" panose="020B0500000000000000" pitchFamily="34" charset="-122"/>
                <a:cs typeface="Noto Sans SC"/>
              </a:rPr>
              <a:t>陈博文</a:t>
            </a:r>
          </a:p>
        </p:txBody>
      </p:sp>
      <p:sp>
        <p:nvSpPr>
          <p:cNvPr id="75" name="文本框 74"/>
          <p:cNvSpPr txBox="1"/>
          <p:nvPr>
            <p:custDataLst>
              <p:tags r:id="rId19"/>
            </p:custDataLst>
          </p:nvPr>
        </p:nvSpPr>
        <p:spPr>
          <a:xfrm>
            <a:off x="6464300" y="35941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系统设计</a:t>
            </a:r>
          </a:p>
        </p:txBody>
      </p:sp>
      <p:sp>
        <p:nvSpPr>
          <p:cNvPr id="76" name="矩形 75"/>
          <p:cNvSpPr/>
          <p:nvPr>
            <p:custDataLst>
              <p:tags r:id="rId20"/>
            </p:custDataLst>
          </p:nvPr>
        </p:nvSpPr>
        <p:spPr>
          <a:xfrm>
            <a:off x="5956300" y="39497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7" name="文本框 76"/>
          <p:cNvSpPr txBox="1"/>
          <p:nvPr>
            <p:custDataLst>
              <p:tags r:id="rId21"/>
            </p:custDataLst>
          </p:nvPr>
        </p:nvSpPr>
        <p:spPr>
          <a:xfrm>
            <a:off x="5956299" y="4051300"/>
            <a:ext cx="2311801"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架构设计</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数据库</a:t>
            </a:r>
            <a:r>
              <a:rPr lang="en-US" altLang="zh-CN" dirty="0">
                <a:solidFill>
                  <a:srgbClr val="1F1F1F"/>
                </a:solidFill>
                <a:latin typeface="思源宋体" panose="02020400000000000000" pitchFamily="18" charset="-122"/>
                <a:ea typeface="思源宋体" panose="02020400000000000000" pitchFamily="18" charset="-122"/>
                <a:cs typeface="Noto Serif SC"/>
              </a:rPr>
              <a:t>·API </a:t>
            </a:r>
            <a:r>
              <a:rPr lang="zh-CN" altLang="en-US" dirty="0">
                <a:solidFill>
                  <a:srgbClr val="1F1F1F"/>
                </a:solidFill>
                <a:latin typeface="思源宋体" panose="02020400000000000000" pitchFamily="18" charset="-122"/>
                <a:ea typeface="思源宋体" panose="02020400000000000000" pitchFamily="18" charset="-122"/>
                <a:cs typeface="Noto Serif SC"/>
              </a:rPr>
              <a:t>设计</a:t>
            </a:r>
          </a:p>
        </p:txBody>
      </p:sp>
      <p:sp>
        <p:nvSpPr>
          <p:cNvPr id="78" name="矩形: 圆角 77"/>
          <p:cNvSpPr/>
          <p:nvPr>
            <p:custDataLst>
              <p:tags r:id="rId22"/>
            </p:custDataLst>
          </p:nvPr>
        </p:nvSpPr>
        <p:spPr>
          <a:xfrm>
            <a:off x="8917940" y="3213100"/>
            <a:ext cx="2438400" cy="1371600"/>
          </a:xfrm>
          <a:prstGeom prst="roundRect">
            <a:avLst/>
          </a:prstGeom>
          <a:solidFill>
            <a:srgbClr val="FFFFFF"/>
          </a:solidFill>
          <a:ln w="1270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9" name="矩形 78"/>
          <p:cNvSpPr/>
          <p:nvPr>
            <p:custDataLst>
              <p:tags r:id="rId23"/>
            </p:custDataLst>
          </p:nvPr>
        </p:nvSpPr>
        <p:spPr>
          <a:xfrm>
            <a:off x="8733790" y="3242310"/>
            <a:ext cx="50800" cy="13716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0" name="椭圆 79"/>
          <p:cNvSpPr/>
          <p:nvPr>
            <p:custDataLst>
              <p:tags r:id="rId24"/>
            </p:custDataLst>
          </p:nvPr>
        </p:nvSpPr>
        <p:spPr>
          <a:xfrm>
            <a:off x="9029700" y="3390900"/>
            <a:ext cx="431800" cy="4318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81" name="文本框 80"/>
          <p:cNvSpPr txBox="1"/>
          <p:nvPr>
            <p:custDataLst>
              <p:tags r:id="rId25"/>
            </p:custDataLst>
          </p:nvPr>
        </p:nvSpPr>
        <p:spPr>
          <a:xfrm>
            <a:off x="9537700" y="3340100"/>
            <a:ext cx="1676400" cy="337185"/>
          </a:xfrm>
          <a:prstGeom prst="rect">
            <a:avLst/>
          </a:prstGeom>
          <a:noFill/>
        </p:spPr>
        <p:txBody>
          <a:bodyPr vertOverflow="overflow" vert="horz" wrap="square" rtlCol="0" anchor="t">
            <a:spAutoFit/>
          </a:bodyPr>
          <a:lstStyle/>
          <a:p>
            <a:pPr algn="l"/>
            <a:r>
              <a:rPr lang="zh-CN" altLang="en-US" sz="1600" b="1">
                <a:solidFill>
                  <a:srgbClr val="6EA843"/>
                </a:solidFill>
                <a:latin typeface="思源黑体 CN" panose="020B0500000000000000" pitchFamily="34" charset="-122"/>
                <a:ea typeface="思源黑体 CN" panose="020B0500000000000000" pitchFamily="34" charset="-122"/>
                <a:cs typeface="Noto Sans SC"/>
              </a:rPr>
              <a:t>彭启邦</a:t>
            </a:r>
          </a:p>
        </p:txBody>
      </p:sp>
      <p:sp>
        <p:nvSpPr>
          <p:cNvPr id="82" name="文本框 81"/>
          <p:cNvSpPr txBox="1"/>
          <p:nvPr>
            <p:custDataLst>
              <p:tags r:id="rId26"/>
            </p:custDataLst>
          </p:nvPr>
        </p:nvSpPr>
        <p:spPr>
          <a:xfrm>
            <a:off x="9537700" y="35941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前端开发</a:t>
            </a:r>
          </a:p>
        </p:txBody>
      </p:sp>
      <p:sp>
        <p:nvSpPr>
          <p:cNvPr id="83" name="矩形 82"/>
          <p:cNvSpPr/>
          <p:nvPr>
            <p:custDataLst>
              <p:tags r:id="rId27"/>
            </p:custDataLst>
          </p:nvPr>
        </p:nvSpPr>
        <p:spPr>
          <a:xfrm>
            <a:off x="9029700" y="39497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4" name="文本框 83"/>
          <p:cNvSpPr txBox="1"/>
          <p:nvPr>
            <p:custDataLst>
              <p:tags r:id="rId28"/>
            </p:custDataLst>
          </p:nvPr>
        </p:nvSpPr>
        <p:spPr>
          <a:xfrm>
            <a:off x="9029700" y="4051300"/>
            <a:ext cx="2326640" cy="307777"/>
          </a:xfrm>
          <a:prstGeom prst="rect">
            <a:avLst/>
          </a:prstGeom>
          <a:noFill/>
        </p:spPr>
        <p:txBody>
          <a:bodyPr vertOverflow="overflow" vert="horz" wrap="square" rtlCol="0" anchor="t">
            <a:spAutoFit/>
          </a:bodyPr>
          <a:lstStyle/>
          <a:p>
            <a:pPr algn="l"/>
            <a:r>
              <a:rPr lang="en-US" altLang="zh-CN" dirty="0">
                <a:solidFill>
                  <a:srgbClr val="1F1F1F"/>
                </a:solidFill>
                <a:latin typeface="思源宋体" panose="02020400000000000000" pitchFamily="18" charset="-122"/>
                <a:ea typeface="思源宋体" panose="02020400000000000000" pitchFamily="18" charset="-122"/>
                <a:cs typeface="Noto Serif SC"/>
              </a:rPr>
              <a:t>SPA </a:t>
            </a:r>
            <a:r>
              <a:rPr lang="zh-CN" altLang="en-US" dirty="0">
                <a:solidFill>
                  <a:srgbClr val="1F1F1F"/>
                </a:solidFill>
                <a:latin typeface="思源宋体" panose="02020400000000000000" pitchFamily="18" charset="-122"/>
                <a:ea typeface="思源宋体" panose="02020400000000000000" pitchFamily="18" charset="-122"/>
                <a:cs typeface="Noto Serif SC"/>
              </a:rPr>
              <a:t>路由</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页面渲染</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交互</a:t>
            </a:r>
          </a:p>
        </p:txBody>
      </p:sp>
      <p:sp>
        <p:nvSpPr>
          <p:cNvPr id="85" name="矩形: 圆角 84"/>
          <p:cNvSpPr/>
          <p:nvPr>
            <p:custDataLst>
              <p:tags r:id="rId29"/>
            </p:custDataLst>
          </p:nvPr>
        </p:nvSpPr>
        <p:spPr>
          <a:xfrm>
            <a:off x="5956300" y="4711700"/>
            <a:ext cx="2438400" cy="1371600"/>
          </a:xfrm>
          <a:prstGeom prst="roundRect">
            <a:avLst/>
          </a:prstGeom>
          <a:solidFill>
            <a:srgbClr val="FFFFFF"/>
          </a:solidFill>
          <a:ln w="12700" cap="flat" cmpd="sng" algn="ctr">
            <a:solidFill>
              <a:srgbClr val="B84D8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6" name="矩形 85"/>
          <p:cNvSpPr/>
          <p:nvPr>
            <p:custDataLst>
              <p:tags r:id="rId30"/>
            </p:custDataLst>
          </p:nvPr>
        </p:nvSpPr>
        <p:spPr>
          <a:xfrm>
            <a:off x="5778500" y="4711700"/>
            <a:ext cx="50800" cy="1371600"/>
          </a:xfrm>
          <a:prstGeom prst="rect">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87" name="椭圆 86"/>
          <p:cNvSpPr/>
          <p:nvPr>
            <p:custDataLst>
              <p:tags r:id="rId31"/>
            </p:custDataLst>
          </p:nvPr>
        </p:nvSpPr>
        <p:spPr>
          <a:xfrm>
            <a:off x="6032500" y="4889500"/>
            <a:ext cx="431800" cy="431800"/>
          </a:xfrm>
          <a:prstGeom prst="ellipse">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88" name="文本框 87"/>
          <p:cNvSpPr txBox="1"/>
          <p:nvPr>
            <p:custDataLst>
              <p:tags r:id="rId32"/>
            </p:custDataLst>
          </p:nvPr>
        </p:nvSpPr>
        <p:spPr>
          <a:xfrm>
            <a:off x="6464300" y="4838700"/>
            <a:ext cx="1676400" cy="337185"/>
          </a:xfrm>
          <a:prstGeom prst="rect">
            <a:avLst/>
          </a:prstGeom>
          <a:noFill/>
        </p:spPr>
        <p:txBody>
          <a:bodyPr vertOverflow="overflow" vert="horz" wrap="square" rtlCol="0" anchor="t">
            <a:spAutoFit/>
          </a:bodyPr>
          <a:lstStyle/>
          <a:p>
            <a:pPr algn="l"/>
            <a:r>
              <a:rPr lang="zh-CN" altLang="en-US" sz="1600" b="1">
                <a:solidFill>
                  <a:srgbClr val="B84D8A"/>
                </a:solidFill>
                <a:latin typeface="思源黑体 CN" panose="020B0500000000000000" pitchFamily="34" charset="-122"/>
                <a:ea typeface="思源黑体 CN" panose="020B0500000000000000" pitchFamily="34" charset="-122"/>
                <a:cs typeface="Noto Sans SC"/>
              </a:rPr>
              <a:t>黄佳杰</a:t>
            </a:r>
          </a:p>
        </p:txBody>
      </p:sp>
      <p:sp>
        <p:nvSpPr>
          <p:cNvPr id="89" name="文本框 88"/>
          <p:cNvSpPr txBox="1"/>
          <p:nvPr>
            <p:custDataLst>
              <p:tags r:id="rId33"/>
            </p:custDataLst>
          </p:nvPr>
        </p:nvSpPr>
        <p:spPr>
          <a:xfrm>
            <a:off x="6464300" y="50927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后端开发</a:t>
            </a:r>
          </a:p>
        </p:txBody>
      </p:sp>
      <p:sp>
        <p:nvSpPr>
          <p:cNvPr id="90" name="矩形 89"/>
          <p:cNvSpPr/>
          <p:nvPr>
            <p:custDataLst>
              <p:tags r:id="rId34"/>
            </p:custDataLst>
          </p:nvPr>
        </p:nvSpPr>
        <p:spPr>
          <a:xfrm>
            <a:off x="5956300" y="54483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1" name="文本框 90"/>
          <p:cNvSpPr txBox="1"/>
          <p:nvPr>
            <p:custDataLst>
              <p:tags r:id="rId35"/>
            </p:custDataLst>
          </p:nvPr>
        </p:nvSpPr>
        <p:spPr>
          <a:xfrm>
            <a:off x="5956300" y="5549900"/>
            <a:ext cx="2533650" cy="307777"/>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框架搭建</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认证</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评论系统</a:t>
            </a:r>
          </a:p>
        </p:txBody>
      </p:sp>
      <p:sp>
        <p:nvSpPr>
          <p:cNvPr id="92" name="矩形: 圆角 91"/>
          <p:cNvSpPr/>
          <p:nvPr>
            <p:custDataLst>
              <p:tags r:id="rId36"/>
            </p:custDataLst>
          </p:nvPr>
        </p:nvSpPr>
        <p:spPr>
          <a:xfrm>
            <a:off x="8917940" y="4711700"/>
            <a:ext cx="2438400" cy="1371600"/>
          </a:xfrm>
          <a:prstGeom prst="roundRect">
            <a:avLst/>
          </a:prstGeom>
          <a:solidFill>
            <a:srgbClr val="FFFFFF"/>
          </a:solidFill>
          <a:ln w="12700" cap="flat" cmpd="sng" algn="ctr">
            <a:solidFill>
              <a:srgbClr val="6D4F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3" name="矩形 92"/>
          <p:cNvSpPr/>
          <p:nvPr>
            <p:custDataLst>
              <p:tags r:id="rId37"/>
            </p:custDataLst>
          </p:nvPr>
        </p:nvSpPr>
        <p:spPr>
          <a:xfrm>
            <a:off x="8733790" y="4711700"/>
            <a:ext cx="50800" cy="1371600"/>
          </a:xfrm>
          <a:prstGeom prst="rect">
            <a:avLst/>
          </a:prstGeom>
          <a:solidFill>
            <a:srgbClr val="6D4FB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4" name="椭圆 93"/>
          <p:cNvSpPr/>
          <p:nvPr>
            <p:custDataLst>
              <p:tags r:id="rId38"/>
            </p:custDataLst>
          </p:nvPr>
        </p:nvSpPr>
        <p:spPr>
          <a:xfrm>
            <a:off x="9029700" y="4889500"/>
            <a:ext cx="431800" cy="431800"/>
          </a:xfrm>
          <a:prstGeom prst="ellipse">
            <a:avLst/>
          </a:prstGeom>
          <a:solidFill>
            <a:srgbClr val="6D4FB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endParaRPr lang="zh-CN" altLang="en-US" sz="1600" b="1" dirty="0">
              <a:solidFill>
                <a:srgbClr val="FFFFFF"/>
              </a:solidFill>
              <a:latin typeface="Noto Sans SC"/>
              <a:ea typeface="Noto Sans SC"/>
              <a:cs typeface="Noto Sans SC"/>
            </a:endParaRPr>
          </a:p>
        </p:txBody>
      </p:sp>
      <p:sp>
        <p:nvSpPr>
          <p:cNvPr id="95" name="文本框 94"/>
          <p:cNvSpPr txBox="1"/>
          <p:nvPr>
            <p:custDataLst>
              <p:tags r:id="rId39"/>
            </p:custDataLst>
          </p:nvPr>
        </p:nvSpPr>
        <p:spPr>
          <a:xfrm>
            <a:off x="9537700" y="4838700"/>
            <a:ext cx="1676400" cy="337185"/>
          </a:xfrm>
          <a:prstGeom prst="rect">
            <a:avLst/>
          </a:prstGeom>
          <a:noFill/>
        </p:spPr>
        <p:txBody>
          <a:bodyPr vertOverflow="overflow" vert="horz" wrap="square" rtlCol="0" anchor="t">
            <a:spAutoFit/>
          </a:bodyPr>
          <a:lstStyle/>
          <a:p>
            <a:pPr algn="l"/>
            <a:r>
              <a:rPr lang="zh-CN" altLang="en-US" sz="1600" b="1">
                <a:solidFill>
                  <a:srgbClr val="6D4FB2"/>
                </a:solidFill>
                <a:latin typeface="思源黑体 CN" panose="020B0500000000000000" pitchFamily="34" charset="-122"/>
                <a:ea typeface="思源黑体 CN" panose="020B0500000000000000" pitchFamily="34" charset="-122"/>
                <a:cs typeface="Noto Sans SC"/>
              </a:rPr>
              <a:t>王炳翔</a:t>
            </a:r>
          </a:p>
        </p:txBody>
      </p:sp>
      <p:sp>
        <p:nvSpPr>
          <p:cNvPr id="96" name="文本框 95"/>
          <p:cNvSpPr txBox="1"/>
          <p:nvPr>
            <p:custDataLst>
              <p:tags r:id="rId40"/>
            </p:custDataLst>
          </p:nvPr>
        </p:nvSpPr>
        <p:spPr>
          <a:xfrm>
            <a:off x="9537700" y="5092700"/>
            <a:ext cx="1676400" cy="275590"/>
          </a:xfrm>
          <a:prstGeom prst="rect">
            <a:avLst/>
          </a:prstGeom>
          <a:noFill/>
        </p:spPr>
        <p:txBody>
          <a:bodyPr vertOverflow="overflow" vert="horz" wrap="square" rtlCol="0" anchor="t">
            <a:spAutoFit/>
          </a:bodyPr>
          <a:lstStyle/>
          <a:p>
            <a:pPr algn="l"/>
            <a:r>
              <a:rPr lang="zh-CN" altLang="en-US" sz="1200">
                <a:solidFill>
                  <a:srgbClr val="666666"/>
                </a:solidFill>
                <a:latin typeface="思源宋体" panose="02020400000000000000" pitchFamily="18" charset="-122"/>
                <a:ea typeface="思源宋体" panose="02020400000000000000" pitchFamily="18" charset="-122"/>
                <a:cs typeface="Noto Serif SC"/>
              </a:rPr>
              <a:t>后端开发</a:t>
            </a:r>
          </a:p>
        </p:txBody>
      </p:sp>
      <p:sp>
        <p:nvSpPr>
          <p:cNvPr id="97" name="矩形 96"/>
          <p:cNvSpPr/>
          <p:nvPr>
            <p:custDataLst>
              <p:tags r:id="rId41"/>
            </p:custDataLst>
          </p:nvPr>
        </p:nvSpPr>
        <p:spPr>
          <a:xfrm>
            <a:off x="9029700" y="5448300"/>
            <a:ext cx="2082800" cy="9525"/>
          </a:xfrm>
          <a:prstGeom prst="rect">
            <a:avLst/>
          </a:prstGeom>
          <a:solidFill>
            <a:srgbClr val="E0E6E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98" name="文本框 97"/>
          <p:cNvSpPr txBox="1"/>
          <p:nvPr>
            <p:custDataLst>
              <p:tags r:id="rId42"/>
            </p:custDataLst>
          </p:nvPr>
        </p:nvSpPr>
        <p:spPr>
          <a:xfrm>
            <a:off x="9029700" y="5549900"/>
            <a:ext cx="2082800" cy="306705"/>
          </a:xfrm>
          <a:prstGeom prst="rect">
            <a:avLst/>
          </a:prstGeom>
          <a:noFill/>
        </p:spPr>
        <p:txBody>
          <a:bodyPr vertOverflow="overflow" vert="horz" wrap="square" rtlCol="0" anchor="t">
            <a:spAutoFit/>
          </a:bodyPr>
          <a:lstStyle/>
          <a:p>
            <a:pPr algn="l"/>
            <a:r>
              <a:rPr lang="zh-CN" altLang="en-US" dirty="0">
                <a:solidFill>
                  <a:srgbClr val="1F1F1F"/>
                </a:solidFill>
                <a:latin typeface="思源宋体" panose="02020400000000000000" pitchFamily="18" charset="-122"/>
                <a:ea typeface="思源宋体" panose="02020400000000000000" pitchFamily="18" charset="-122"/>
                <a:cs typeface="Noto Serif SC"/>
              </a:rPr>
              <a:t>管理员</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查询</a:t>
            </a:r>
            <a:r>
              <a:rPr lang="en-US" altLang="zh-CN" dirty="0">
                <a:solidFill>
                  <a:srgbClr val="1F1F1F"/>
                </a:solidFill>
                <a:latin typeface="思源宋体" panose="02020400000000000000" pitchFamily="18" charset="-122"/>
                <a:ea typeface="思源宋体" panose="02020400000000000000" pitchFamily="18" charset="-122"/>
                <a:cs typeface="Noto Serif SC"/>
              </a:rPr>
              <a:t>·</a:t>
            </a:r>
            <a:r>
              <a:rPr lang="zh-CN" altLang="en-US" dirty="0">
                <a:solidFill>
                  <a:srgbClr val="1F1F1F"/>
                </a:solidFill>
                <a:latin typeface="思源宋体" panose="02020400000000000000" pitchFamily="18" charset="-122"/>
                <a:ea typeface="思源宋体" panose="02020400000000000000" pitchFamily="18" charset="-122"/>
                <a:cs typeface="Noto Serif SC"/>
              </a:rPr>
              <a:t>推荐系统</a:t>
            </a:r>
          </a:p>
        </p:txBody>
      </p:sp>
    </p:spTree>
    <p:extLst>
      <p:ext uri="{BB962C8B-B14F-4D97-AF65-F5344CB8AC3E}">
        <p14:creationId xmlns:p14="http://schemas.microsoft.com/office/powerpoint/2010/main" val="31480784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08B56-8CF4-DCC4-AF45-4D9B55461A85}"/>
            </a:ext>
          </a:extLst>
        </p:cNvPr>
        <p:cNvGrpSpPr/>
        <p:nvPr/>
      </p:nvGrpSpPr>
      <p:grpSpPr>
        <a:xfrm>
          <a:off x="0" y="0"/>
          <a:ext cx="0" cy="0"/>
          <a:chOff x="0" y="0"/>
          <a:chExt cx="0" cy="0"/>
        </a:xfrm>
      </p:grpSpPr>
      <p:sp>
        <p:nvSpPr>
          <p:cNvPr id="47" name="Rectangle 4">
            <a:extLst>
              <a:ext uri="{FF2B5EF4-FFF2-40B4-BE49-F238E27FC236}">
                <a16:creationId xmlns:a16="http://schemas.microsoft.com/office/drawing/2014/main" id="{F549FB19-6A87-F5C6-1AD3-AD58C7B8DB11}"/>
              </a:ext>
            </a:extLst>
          </p:cNvPr>
          <p:cNvSpPr/>
          <p:nvPr/>
        </p:nvSpPr>
        <p:spPr>
          <a:xfrm>
            <a:off x="0" y="0"/>
            <a:ext cx="12192000" cy="857250"/>
          </a:xfrm>
          <a:prstGeom prst="rect">
            <a:avLst/>
          </a:prstGeom>
          <a:solidFill>
            <a:srgbClr val="004E97">
              <a:alpha val="8000"/>
            </a:srgbClr>
          </a:solidFill>
          <a:ln>
            <a:noFill/>
          </a:ln>
        </p:spPr>
        <p:txBody>
          <a:bodyPr/>
          <a:lstStyle/>
          <a:p>
            <a:endParaRPr lang="zh-CN" altLang="en-US">
              <a:latin typeface="Noto Serif SC"/>
              <a:ea typeface="Noto Serif SC"/>
              <a:cs typeface="Noto Serif SC"/>
            </a:endParaRPr>
          </a:p>
        </p:txBody>
      </p:sp>
      <p:sp>
        <p:nvSpPr>
          <p:cNvPr id="4" name="TextBox 4">
            <a:extLst>
              <a:ext uri="{FF2B5EF4-FFF2-40B4-BE49-F238E27FC236}">
                <a16:creationId xmlns:a16="http://schemas.microsoft.com/office/drawing/2014/main" id="{B00417F6-6620-4029-EBA5-AF9B1444A891}"/>
              </a:ext>
            </a:extLst>
          </p:cNvPr>
          <p:cNvSpPr txBox="1"/>
          <p:nvPr/>
        </p:nvSpPr>
        <p:spPr>
          <a:xfrm>
            <a:off x="914400" y="295275"/>
            <a:ext cx="3635611"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项目管理 · </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原型设计</a:t>
            </a:r>
            <a:endParaRPr lang="zh-CN" sz="30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5" name="Line 5">
            <a:extLst>
              <a:ext uri="{FF2B5EF4-FFF2-40B4-BE49-F238E27FC236}">
                <a16:creationId xmlns:a16="http://schemas.microsoft.com/office/drawing/2014/main" id="{4406AEA0-4D0C-E518-6FAC-0C7DBCBDCAEB}"/>
              </a:ext>
            </a:extLst>
          </p:cNvPr>
          <p:cNvSpPr/>
          <p:nvPr/>
        </p:nvSpPr>
        <p:spPr>
          <a:xfrm>
            <a:off x="952500" y="762000"/>
            <a:ext cx="3810000" cy="9525"/>
          </a:xfrm>
          <a:custGeom>
            <a:avLst/>
            <a:gdLst/>
            <a:ahLst/>
            <a:cxnLst/>
            <a:rect l="l" t="t" r="r" b="b"/>
            <a:pathLst>
              <a:path w="3810000" h="9525">
                <a:moveTo>
                  <a:pt x="0" y="0"/>
                </a:moveTo>
                <a:lnTo>
                  <a:pt x="3810000" y="0"/>
                </a:lnTo>
              </a:path>
            </a:pathLst>
          </a:custGeom>
          <a:noFill/>
          <a:ln w="19050">
            <a:solidFill>
              <a:srgbClr val="E6C46D"/>
            </a:solidFill>
          </a:ln>
        </p:spPr>
      </p:sp>
      <p:sp>
        <p:nvSpPr>
          <p:cNvPr id="45" name="Line 45">
            <a:extLst>
              <a:ext uri="{FF2B5EF4-FFF2-40B4-BE49-F238E27FC236}">
                <a16:creationId xmlns:a16="http://schemas.microsoft.com/office/drawing/2014/main" id="{774A72E5-921E-0E5C-09FA-DF0D03EBA47A}"/>
              </a:ext>
            </a:extLst>
          </p:cNvPr>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pic>
        <p:nvPicPr>
          <p:cNvPr id="6" name="图片 5">
            <a:extLst>
              <a:ext uri="{FF2B5EF4-FFF2-40B4-BE49-F238E27FC236}">
                <a16:creationId xmlns:a16="http://schemas.microsoft.com/office/drawing/2014/main" id="{A383A137-7E31-DCA5-FCA1-8DEA1FCA6C9A}"/>
              </a:ext>
            </a:extLst>
          </p:cNvPr>
          <p:cNvPicPr>
            <a:picLocks noChangeAspect="1"/>
          </p:cNvPicPr>
          <p:nvPr/>
        </p:nvPicPr>
        <p:blipFill>
          <a:blip r:embed="rId3"/>
          <a:srcRect l="1043" r="1457"/>
          <a:stretch>
            <a:fillRect/>
          </a:stretch>
        </p:blipFill>
        <p:spPr>
          <a:xfrm>
            <a:off x="56984" y="857250"/>
            <a:ext cx="12078031" cy="5905104"/>
          </a:xfrm>
          <a:prstGeom prst="rect">
            <a:avLst/>
          </a:prstGeom>
        </p:spPr>
      </p:pic>
    </p:spTree>
    <p:extLst>
      <p:ext uri="{BB962C8B-B14F-4D97-AF65-F5344CB8AC3E}">
        <p14:creationId xmlns:p14="http://schemas.microsoft.com/office/powerpoint/2010/main" val="51295740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
          <p:cNvSpPr/>
          <p:nvPr/>
        </p:nvSpPr>
        <p:spPr>
          <a:xfrm>
            <a:off x="0" y="0"/>
            <a:ext cx="12192000" cy="857250"/>
          </a:xfrm>
          <a:prstGeom prst="rect">
            <a:avLst/>
          </a:prstGeom>
          <a:solidFill>
            <a:srgbClr val="004E97">
              <a:alpha val="8000"/>
            </a:srgbClr>
          </a:solidFill>
          <a:ln>
            <a:noFill/>
          </a:ln>
        </p:spPr>
      </p:sp>
      <p:sp>
        <p:nvSpPr>
          <p:cNvPr id="2" name="Rectangle 2"/>
          <p:cNvSpPr/>
          <p:nvPr/>
        </p:nvSpPr>
        <p:spPr>
          <a:xfrm>
            <a:off x="0" y="0"/>
            <a:ext cx="12192000" cy="6858000"/>
          </a:xfrm>
          <a:prstGeom prst="rect">
            <a:avLst/>
          </a:prstGeom>
          <a:solidFill>
            <a:srgbClr val="FFFFFF"/>
          </a:solidFill>
          <a:ln>
            <a:noFill/>
          </a:ln>
        </p:spPr>
      </p:sp>
      <p:sp>
        <p:nvSpPr>
          <p:cNvPr id="4" name="TextBox 4"/>
          <p:cNvSpPr txBox="1"/>
          <p:nvPr/>
        </p:nvSpPr>
        <p:spPr>
          <a:xfrm>
            <a:off x="914400" y="295275"/>
            <a:ext cx="3635611"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项目管理 · 质量保障</a:t>
            </a:r>
          </a:p>
        </p:txBody>
      </p:sp>
      <p:sp>
        <p:nvSpPr>
          <p:cNvPr id="5" name="Line 5"/>
          <p:cNvSpPr/>
          <p:nvPr/>
        </p:nvSpPr>
        <p:spPr>
          <a:xfrm>
            <a:off x="952500" y="762000"/>
            <a:ext cx="3810000" cy="9525"/>
          </a:xfrm>
          <a:custGeom>
            <a:avLst/>
            <a:gdLst/>
            <a:ahLst/>
            <a:cxnLst/>
            <a:rect l="l" t="t" r="r" b="b"/>
            <a:pathLst>
              <a:path w="3810000" h="9525">
                <a:moveTo>
                  <a:pt x="0" y="0"/>
                </a:moveTo>
                <a:lnTo>
                  <a:pt x="3810000" y="0"/>
                </a:lnTo>
              </a:path>
            </a:pathLst>
          </a:custGeom>
          <a:noFill/>
          <a:ln w="19050">
            <a:solidFill>
              <a:srgbClr val="E6C46D"/>
            </a:solidFill>
          </a:ln>
        </p:spPr>
      </p:sp>
      <p:sp>
        <p:nvSpPr>
          <p:cNvPr id="45" name="Line 45"/>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46" name="TextBox 46"/>
          <p:cNvSpPr txBox="1"/>
          <p:nvPr/>
        </p:nvSpPr>
        <p:spPr>
          <a:xfrm>
            <a:off x="11694477" y="6626066"/>
            <a:ext cx="127000" cy="215265"/>
          </a:xfrm>
          <a:prstGeom prst="rect">
            <a:avLst/>
          </a:prstGeom>
          <a:noFill/>
          <a:ln>
            <a:noFill/>
          </a:ln>
        </p:spPr>
        <p:txBody>
          <a:bodyPr wrap="none" lIns="0" tIns="0" rIns="0" bIns="0" anchor="t" anchorCtr="0">
            <a:spAutoFit/>
          </a:bodyPr>
          <a:lstStyle/>
          <a:p>
            <a:pPr algn="r"/>
            <a:endParaRPr lang="en-US" altLang="zh-CN" b="1" dirty="0">
              <a:solidFill>
                <a:srgbClr val="004E97"/>
              </a:solidFill>
              <a:latin typeface="Noto Sans SC"/>
              <a:ea typeface="Noto Sans SC"/>
              <a:cs typeface="Noto Sans SC"/>
            </a:endParaRPr>
          </a:p>
        </p:txBody>
      </p:sp>
      <p:sp>
        <p:nvSpPr>
          <p:cNvPr id="6" name="矩形: 圆角 5"/>
          <p:cNvSpPr/>
          <p:nvPr/>
        </p:nvSpPr>
        <p:spPr>
          <a:xfrm>
            <a:off x="762000" y="1270000"/>
            <a:ext cx="3429000" cy="3048000"/>
          </a:xfrm>
          <a:prstGeom prst="roundRect">
            <a:avLst/>
          </a:prstGeom>
          <a:solidFill>
            <a:srgbClr val="FFFFFF"/>
          </a:solidFill>
          <a:ln w="15875"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7" name="矩形 6"/>
          <p:cNvSpPr/>
          <p:nvPr/>
        </p:nvSpPr>
        <p:spPr>
          <a:xfrm>
            <a:off x="762000" y="1270000"/>
            <a:ext cx="3429000" cy="584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dirty="0">
              <a:latin typeface="Noto Serif SC"/>
              <a:ea typeface="Noto Serif SC"/>
              <a:cs typeface="Noto Serif SC"/>
            </a:endParaRPr>
          </a:p>
        </p:txBody>
      </p:sp>
      <p:sp>
        <p:nvSpPr>
          <p:cNvPr id="8" name="椭圆 7"/>
          <p:cNvSpPr/>
          <p:nvPr/>
        </p:nvSpPr>
        <p:spPr>
          <a:xfrm>
            <a:off x="9398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004E97"/>
                </a:solidFill>
                <a:latin typeface="Noto Sans SC"/>
                <a:ea typeface="Noto Sans SC"/>
                <a:cs typeface="Noto Sans SC"/>
              </a:rPr>
              <a:t>✓</a:t>
            </a:r>
          </a:p>
        </p:txBody>
      </p:sp>
      <p:sp>
        <p:nvSpPr>
          <p:cNvPr id="9" name="文本框 8"/>
          <p:cNvSpPr txBox="1"/>
          <p:nvPr/>
        </p:nvSpPr>
        <p:spPr>
          <a:xfrm>
            <a:off x="1447800" y="1371600"/>
            <a:ext cx="2667000" cy="368300"/>
          </a:xfrm>
          <a:prstGeom prst="rect">
            <a:avLst/>
          </a:prstGeom>
          <a:noFill/>
        </p:spPr>
        <p:txBody>
          <a:bodyPr vertOverflow="overflow" vert="horz" wrap="square" rtlCol="0" anchor="t">
            <a:spAutoFit/>
          </a:bodyPr>
          <a:lstStyle/>
          <a:p>
            <a:pPr algn="l"/>
            <a:r>
              <a:rPr lang="zh-CN" altLang="en-US" sz="1800" b="1" dirty="0">
                <a:solidFill>
                  <a:srgbClr val="FFFFFF"/>
                </a:solidFill>
                <a:latin typeface="思源黑体 CN" panose="020B0500000000000000" pitchFamily="34" charset="-122"/>
                <a:ea typeface="思源黑体 CN" panose="020B0500000000000000" pitchFamily="34" charset="-122"/>
                <a:cs typeface="Noto Sans SC"/>
              </a:rPr>
              <a:t>代码审查</a:t>
            </a:r>
          </a:p>
        </p:txBody>
      </p:sp>
      <p:sp>
        <p:nvSpPr>
          <p:cNvPr id="10" name="文本框 9"/>
          <p:cNvSpPr txBox="1"/>
          <p:nvPr/>
        </p:nvSpPr>
        <p:spPr>
          <a:xfrm>
            <a:off x="14478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Code Review</a:t>
            </a:r>
          </a:p>
        </p:txBody>
      </p:sp>
      <p:sp>
        <p:nvSpPr>
          <p:cNvPr id="11" name="椭圆 10"/>
          <p:cNvSpPr/>
          <p:nvPr/>
        </p:nvSpPr>
        <p:spPr>
          <a:xfrm>
            <a:off x="965200" y="2108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2" name="文本框 11"/>
          <p:cNvSpPr txBox="1"/>
          <p:nvPr/>
        </p:nvSpPr>
        <p:spPr>
          <a:xfrm>
            <a:off x="1117600" y="2032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每次重要提交前进行代码审核</a:t>
            </a:r>
          </a:p>
        </p:txBody>
      </p:sp>
      <p:sp>
        <p:nvSpPr>
          <p:cNvPr id="13" name="椭圆 12"/>
          <p:cNvSpPr/>
          <p:nvPr/>
        </p:nvSpPr>
        <p:spPr>
          <a:xfrm>
            <a:off x="965200" y="2616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4" name="文本框 13"/>
          <p:cNvSpPr txBox="1"/>
          <p:nvPr/>
        </p:nvSpPr>
        <p:spPr>
          <a:xfrm>
            <a:off x="1117600" y="2540000"/>
            <a:ext cx="2971800" cy="337185"/>
          </a:xfrm>
          <a:prstGeom prst="rect">
            <a:avLst/>
          </a:prstGeom>
          <a:noFill/>
        </p:spPr>
        <p:txBody>
          <a:bodyPr vertOverflow="overflow" vert="horz" wrap="square" rtlCol="0" anchor="t">
            <a:spAutoFit/>
          </a:bodyPr>
          <a:lstStyle/>
          <a:p>
            <a:pPr algn="l"/>
            <a:r>
              <a:rPr lang="zh-CN" altLang="en-US" sz="1600">
                <a:solidFill>
                  <a:srgbClr val="1F1F1F"/>
                </a:solidFill>
                <a:latin typeface="思源宋体" panose="02020400000000000000" pitchFamily="18" charset="-122"/>
                <a:ea typeface="思源宋体" panose="02020400000000000000" pitchFamily="18" charset="-122"/>
                <a:cs typeface="Noto Serif SC"/>
              </a:rPr>
              <a:t>重点：规范、安全、逻辑</a:t>
            </a:r>
          </a:p>
        </p:txBody>
      </p:sp>
      <p:sp>
        <p:nvSpPr>
          <p:cNvPr id="15" name="椭圆 14"/>
          <p:cNvSpPr/>
          <p:nvPr/>
        </p:nvSpPr>
        <p:spPr>
          <a:xfrm>
            <a:off x="965200" y="3124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6" name="文本框 15"/>
          <p:cNvSpPr txBox="1"/>
          <p:nvPr/>
        </p:nvSpPr>
        <p:spPr>
          <a:xfrm>
            <a:off x="1117600" y="3048000"/>
            <a:ext cx="2971800" cy="337185"/>
          </a:xfrm>
          <a:prstGeom prst="rect">
            <a:avLst/>
          </a:prstGeom>
          <a:noFill/>
        </p:spPr>
        <p:txBody>
          <a:bodyPr vertOverflow="overflow" vert="horz" wrap="square" rtlCol="0" anchor="t">
            <a:spAutoFit/>
          </a:bodyPr>
          <a:lstStyle/>
          <a:p>
            <a:pPr algn="l"/>
            <a:r>
              <a:rPr lang="en-US" altLang="zh-CN" sz="1600" dirty="0">
                <a:solidFill>
                  <a:srgbClr val="1F1F1F"/>
                </a:solidFill>
                <a:latin typeface="思源宋体" panose="02020400000000000000" pitchFamily="18" charset="-122"/>
                <a:ea typeface="思源宋体" panose="02020400000000000000" pitchFamily="18" charset="-122"/>
                <a:cs typeface="Noto Serif SC"/>
              </a:rPr>
              <a:t>AI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辅助审查，提高效率</a:t>
            </a:r>
          </a:p>
        </p:txBody>
      </p:sp>
      <p:sp>
        <p:nvSpPr>
          <p:cNvPr id="17" name="椭圆 16"/>
          <p:cNvSpPr/>
          <p:nvPr/>
        </p:nvSpPr>
        <p:spPr>
          <a:xfrm>
            <a:off x="965200" y="3632200"/>
            <a:ext cx="76200" cy="762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8" name="文本框 17"/>
          <p:cNvSpPr txBox="1"/>
          <p:nvPr/>
        </p:nvSpPr>
        <p:spPr>
          <a:xfrm>
            <a:off x="11176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发现并修复多处潜在问题</a:t>
            </a:r>
          </a:p>
        </p:txBody>
      </p:sp>
      <p:sp>
        <p:nvSpPr>
          <p:cNvPr id="19" name="矩形: 圆角 18"/>
          <p:cNvSpPr/>
          <p:nvPr/>
        </p:nvSpPr>
        <p:spPr>
          <a:xfrm>
            <a:off x="4381500" y="1270000"/>
            <a:ext cx="3429000" cy="3048000"/>
          </a:xfrm>
          <a:prstGeom prst="roundRect">
            <a:avLst/>
          </a:prstGeom>
          <a:solidFill>
            <a:srgbClr val="FFFFFF"/>
          </a:solidFill>
          <a:ln w="15875"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0" name="矩形 19"/>
          <p:cNvSpPr/>
          <p:nvPr/>
        </p:nvSpPr>
        <p:spPr>
          <a:xfrm>
            <a:off x="4381500" y="1270000"/>
            <a:ext cx="3429000" cy="584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1" name="椭圆 20"/>
          <p:cNvSpPr/>
          <p:nvPr/>
        </p:nvSpPr>
        <p:spPr>
          <a:xfrm>
            <a:off x="45593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E6A43A"/>
                </a:solidFill>
                <a:latin typeface="Noto Sans SC"/>
                <a:ea typeface="Noto Sans SC"/>
                <a:cs typeface="Noto Sans SC"/>
              </a:rPr>
              <a:t>📄</a:t>
            </a:r>
          </a:p>
        </p:txBody>
      </p:sp>
      <p:sp>
        <p:nvSpPr>
          <p:cNvPr id="22" name="文本框 21"/>
          <p:cNvSpPr txBox="1"/>
          <p:nvPr/>
        </p:nvSpPr>
        <p:spPr>
          <a:xfrm>
            <a:off x="5067300" y="1371600"/>
            <a:ext cx="2667000" cy="368300"/>
          </a:xfrm>
          <a:prstGeom prst="rect">
            <a:avLst/>
          </a:prstGeom>
          <a:noFill/>
        </p:spPr>
        <p:txBody>
          <a:bodyPr vertOverflow="overflow" vert="horz" wrap="square" rtlCol="0" anchor="t">
            <a:spAutoFit/>
          </a:bodyPr>
          <a:lstStyle/>
          <a:p>
            <a:pPr algn="l"/>
            <a:r>
              <a:rPr lang="zh-CN" altLang="en-US" sz="1800" b="1">
                <a:solidFill>
                  <a:srgbClr val="FFFFFF"/>
                </a:solidFill>
                <a:latin typeface="思源黑体 CN" panose="020B0500000000000000" pitchFamily="34" charset="-122"/>
                <a:ea typeface="思源黑体 CN" panose="020B0500000000000000" pitchFamily="34" charset="-122"/>
                <a:cs typeface="Noto Sans SC"/>
              </a:rPr>
              <a:t>文档审核</a:t>
            </a:r>
          </a:p>
        </p:txBody>
      </p:sp>
      <p:sp>
        <p:nvSpPr>
          <p:cNvPr id="23" name="文本框 22"/>
          <p:cNvSpPr txBox="1"/>
          <p:nvPr/>
        </p:nvSpPr>
        <p:spPr>
          <a:xfrm>
            <a:off x="50673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Document Review</a:t>
            </a:r>
          </a:p>
        </p:txBody>
      </p:sp>
      <p:sp>
        <p:nvSpPr>
          <p:cNvPr id="24" name="椭圆 23"/>
          <p:cNvSpPr/>
          <p:nvPr/>
        </p:nvSpPr>
        <p:spPr>
          <a:xfrm>
            <a:off x="4584700" y="2108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5" name="文本框 24"/>
          <p:cNvSpPr txBox="1"/>
          <p:nvPr/>
        </p:nvSpPr>
        <p:spPr>
          <a:xfrm>
            <a:off x="4737100" y="2008808"/>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确认需求准确无误</a:t>
            </a:r>
          </a:p>
        </p:txBody>
      </p:sp>
      <p:sp>
        <p:nvSpPr>
          <p:cNvPr id="26" name="椭圆 25"/>
          <p:cNvSpPr/>
          <p:nvPr/>
        </p:nvSpPr>
        <p:spPr>
          <a:xfrm>
            <a:off x="4584700" y="2616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7" name="文本框 26"/>
          <p:cNvSpPr txBox="1"/>
          <p:nvPr/>
        </p:nvSpPr>
        <p:spPr>
          <a:xfrm>
            <a:off x="4737100" y="2540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审核系统设计的合理性</a:t>
            </a:r>
          </a:p>
        </p:txBody>
      </p:sp>
      <p:sp>
        <p:nvSpPr>
          <p:cNvPr id="28" name="椭圆 27"/>
          <p:cNvSpPr/>
          <p:nvPr/>
        </p:nvSpPr>
        <p:spPr>
          <a:xfrm>
            <a:off x="4584700" y="3124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29" name="文本框 28"/>
          <p:cNvSpPr txBox="1"/>
          <p:nvPr/>
        </p:nvSpPr>
        <p:spPr>
          <a:xfrm>
            <a:off x="4737100" y="3048000"/>
            <a:ext cx="3073400" cy="58356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结合课程知识，完善报告和相关设计</a:t>
            </a:r>
          </a:p>
        </p:txBody>
      </p:sp>
      <p:sp>
        <p:nvSpPr>
          <p:cNvPr id="30" name="椭圆 29"/>
          <p:cNvSpPr/>
          <p:nvPr/>
        </p:nvSpPr>
        <p:spPr>
          <a:xfrm>
            <a:off x="4584700" y="3632200"/>
            <a:ext cx="76200" cy="762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1" name="文本框 30"/>
          <p:cNvSpPr txBox="1"/>
          <p:nvPr/>
        </p:nvSpPr>
        <p:spPr>
          <a:xfrm>
            <a:off x="47371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根据文档复核代码</a:t>
            </a:r>
          </a:p>
        </p:txBody>
      </p:sp>
      <p:sp>
        <p:nvSpPr>
          <p:cNvPr id="32" name="矩形: 圆角 31"/>
          <p:cNvSpPr/>
          <p:nvPr/>
        </p:nvSpPr>
        <p:spPr>
          <a:xfrm>
            <a:off x="8001000" y="1270000"/>
            <a:ext cx="3429000" cy="3048000"/>
          </a:xfrm>
          <a:prstGeom prst="roundRect">
            <a:avLst/>
          </a:prstGeom>
          <a:solidFill>
            <a:srgbClr val="FFFFFF"/>
          </a:solidFill>
          <a:ln w="15875"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3" name="矩形 32"/>
          <p:cNvSpPr/>
          <p:nvPr/>
        </p:nvSpPr>
        <p:spPr>
          <a:xfrm>
            <a:off x="8001000" y="1270000"/>
            <a:ext cx="3429000" cy="584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4" name="椭圆 33"/>
          <p:cNvSpPr/>
          <p:nvPr/>
        </p:nvSpPr>
        <p:spPr>
          <a:xfrm>
            <a:off x="8178800" y="1358900"/>
            <a:ext cx="406400" cy="4064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600" b="1" dirty="0">
                <a:solidFill>
                  <a:srgbClr val="6EA843"/>
                </a:solidFill>
                <a:latin typeface="Noto Sans SC"/>
                <a:ea typeface="Noto Sans SC"/>
                <a:cs typeface="Noto Sans SC"/>
              </a:rPr>
              <a:t>🔄</a:t>
            </a:r>
          </a:p>
        </p:txBody>
      </p:sp>
      <p:sp>
        <p:nvSpPr>
          <p:cNvPr id="35" name="文本框 34"/>
          <p:cNvSpPr txBox="1"/>
          <p:nvPr/>
        </p:nvSpPr>
        <p:spPr>
          <a:xfrm>
            <a:off x="8686800" y="1371600"/>
            <a:ext cx="2667000" cy="368300"/>
          </a:xfrm>
          <a:prstGeom prst="rect">
            <a:avLst/>
          </a:prstGeom>
          <a:noFill/>
        </p:spPr>
        <p:txBody>
          <a:bodyPr vertOverflow="overflow" vert="horz" wrap="square" rtlCol="0" anchor="t">
            <a:spAutoFit/>
          </a:bodyPr>
          <a:lstStyle/>
          <a:p>
            <a:pPr algn="l"/>
            <a:r>
              <a:rPr lang="zh-CN" altLang="en-US" sz="1800" b="1">
                <a:solidFill>
                  <a:srgbClr val="FFFFFF"/>
                </a:solidFill>
                <a:latin typeface="思源黑体 CN" panose="020B0500000000000000" pitchFamily="34" charset="-122"/>
                <a:ea typeface="思源黑体 CN" panose="020B0500000000000000" pitchFamily="34" charset="-122"/>
                <a:cs typeface="Noto Sans SC"/>
              </a:rPr>
              <a:t>迭代改进</a:t>
            </a:r>
          </a:p>
        </p:txBody>
      </p:sp>
      <p:sp>
        <p:nvSpPr>
          <p:cNvPr id="36" name="文本框 35"/>
          <p:cNvSpPr txBox="1"/>
          <p:nvPr/>
        </p:nvSpPr>
        <p:spPr>
          <a:xfrm>
            <a:off x="8686800" y="1625600"/>
            <a:ext cx="2667000" cy="275590"/>
          </a:xfrm>
          <a:prstGeom prst="rect">
            <a:avLst/>
          </a:prstGeom>
          <a:noFill/>
        </p:spPr>
        <p:txBody>
          <a:bodyPr vertOverflow="overflow" vert="horz" wrap="square" rtlCol="0" anchor="t">
            <a:spAutoFit/>
          </a:bodyPr>
          <a:lstStyle/>
          <a:p>
            <a:pPr algn="l"/>
            <a:r>
              <a:rPr lang="en-US" altLang="zh-CN" sz="1200" dirty="0">
                <a:solidFill>
                  <a:srgbClr val="E6F0FA"/>
                </a:solidFill>
                <a:latin typeface="思源宋体" panose="02020400000000000000" pitchFamily="18" charset="-122"/>
                <a:ea typeface="思源宋体" panose="02020400000000000000" pitchFamily="18" charset="-122"/>
                <a:cs typeface="Noto Serif SC"/>
              </a:rPr>
              <a:t>Iterative Improvement</a:t>
            </a:r>
          </a:p>
        </p:txBody>
      </p:sp>
      <p:sp>
        <p:nvSpPr>
          <p:cNvPr id="37" name="椭圆 36"/>
          <p:cNvSpPr/>
          <p:nvPr/>
        </p:nvSpPr>
        <p:spPr>
          <a:xfrm>
            <a:off x="8204200" y="2108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8" name="文本框 37"/>
          <p:cNvSpPr txBox="1"/>
          <p:nvPr/>
        </p:nvSpPr>
        <p:spPr>
          <a:xfrm>
            <a:off x="8356600" y="2032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1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轮：基础框架与核心功能</a:t>
            </a:r>
          </a:p>
        </p:txBody>
      </p:sp>
      <p:sp>
        <p:nvSpPr>
          <p:cNvPr id="39" name="椭圆 38"/>
          <p:cNvSpPr/>
          <p:nvPr/>
        </p:nvSpPr>
        <p:spPr>
          <a:xfrm>
            <a:off x="8204200" y="2616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0" name="文本框 39"/>
          <p:cNvSpPr txBox="1"/>
          <p:nvPr/>
        </p:nvSpPr>
        <p:spPr>
          <a:xfrm>
            <a:off x="8356600" y="2540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2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轮：排行榜、管理后台</a:t>
            </a:r>
          </a:p>
        </p:txBody>
      </p:sp>
      <p:sp>
        <p:nvSpPr>
          <p:cNvPr id="41" name="椭圆 40"/>
          <p:cNvSpPr/>
          <p:nvPr/>
        </p:nvSpPr>
        <p:spPr>
          <a:xfrm>
            <a:off x="8204200" y="3124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2" name="文本框 41"/>
          <p:cNvSpPr txBox="1"/>
          <p:nvPr/>
        </p:nvSpPr>
        <p:spPr>
          <a:xfrm>
            <a:off x="8356600" y="3048000"/>
            <a:ext cx="3073400" cy="338554"/>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第 </a:t>
            </a:r>
            <a:r>
              <a:rPr lang="en-US" altLang="zh-CN" sz="1600" dirty="0">
                <a:solidFill>
                  <a:srgbClr val="1F1F1F"/>
                </a:solidFill>
                <a:latin typeface="思源宋体" panose="02020400000000000000" pitchFamily="18" charset="-122"/>
                <a:ea typeface="思源宋体" panose="02020400000000000000" pitchFamily="18" charset="-122"/>
                <a:cs typeface="Noto Serif SC"/>
              </a:rPr>
              <a:t>3 </a:t>
            </a:r>
            <a:r>
              <a:rPr lang="zh-CN" altLang="en-US" sz="1600" dirty="0">
                <a:solidFill>
                  <a:srgbClr val="1F1F1F"/>
                </a:solidFill>
                <a:latin typeface="思源宋体" panose="02020400000000000000" pitchFamily="18" charset="-122"/>
                <a:ea typeface="思源宋体" panose="02020400000000000000" pitchFamily="18" charset="-122"/>
                <a:cs typeface="Noto Serif SC"/>
              </a:rPr>
              <a:t>轮：个性化推荐等高级功能</a:t>
            </a:r>
          </a:p>
        </p:txBody>
      </p:sp>
      <p:sp>
        <p:nvSpPr>
          <p:cNvPr id="43" name="椭圆 42"/>
          <p:cNvSpPr/>
          <p:nvPr/>
        </p:nvSpPr>
        <p:spPr>
          <a:xfrm>
            <a:off x="8204200" y="3632200"/>
            <a:ext cx="76200" cy="762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44" name="文本框 43"/>
          <p:cNvSpPr txBox="1"/>
          <p:nvPr/>
        </p:nvSpPr>
        <p:spPr>
          <a:xfrm>
            <a:off x="8356600" y="3556000"/>
            <a:ext cx="2971800" cy="337185"/>
          </a:xfrm>
          <a:prstGeom prst="rect">
            <a:avLst/>
          </a:prstGeom>
          <a:noFill/>
        </p:spPr>
        <p:txBody>
          <a:bodyPr vertOverflow="overflow" vert="horz" wrap="square" rtlCol="0" anchor="t">
            <a:spAutoFit/>
          </a:bodyPr>
          <a:lstStyle/>
          <a:p>
            <a:pPr algn="l"/>
            <a:r>
              <a:rPr lang="zh-CN" altLang="en-US" sz="1600" dirty="0">
                <a:solidFill>
                  <a:srgbClr val="1F1F1F"/>
                </a:solidFill>
                <a:latin typeface="思源宋体" panose="02020400000000000000" pitchFamily="18" charset="-122"/>
                <a:ea typeface="思源宋体" panose="02020400000000000000" pitchFamily="18" charset="-122"/>
                <a:cs typeface="Noto Serif SC"/>
              </a:rPr>
              <a:t>每轮复盘，持续改进</a:t>
            </a:r>
          </a:p>
        </p:txBody>
      </p:sp>
      <p:sp>
        <p:nvSpPr>
          <p:cNvPr id="99" name="矩形: 圆角 98"/>
          <p:cNvSpPr/>
          <p:nvPr/>
        </p:nvSpPr>
        <p:spPr>
          <a:xfrm>
            <a:off x="762000" y="4572000"/>
            <a:ext cx="10668000" cy="13970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00" name="矩形 99"/>
          <p:cNvSpPr/>
          <p:nvPr/>
        </p:nvSpPr>
        <p:spPr>
          <a:xfrm>
            <a:off x="762000" y="4572000"/>
            <a:ext cx="50800" cy="13970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01" name="文本框 100"/>
          <p:cNvSpPr txBox="1"/>
          <p:nvPr/>
        </p:nvSpPr>
        <p:spPr>
          <a:xfrm>
            <a:off x="990600" y="4699000"/>
            <a:ext cx="3810000" cy="337185"/>
          </a:xfrm>
          <a:prstGeom prst="rect">
            <a:avLst/>
          </a:prstGeom>
          <a:noFill/>
        </p:spPr>
        <p:txBody>
          <a:bodyPr vertOverflow="overflow" vert="horz" wrap="square" rtlCol="0" anchor="t">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质量保障三步循环</a:t>
            </a:r>
          </a:p>
        </p:txBody>
      </p:sp>
      <p:sp>
        <p:nvSpPr>
          <p:cNvPr id="115" name="矩形: 圆角 114"/>
          <p:cNvSpPr/>
          <p:nvPr/>
        </p:nvSpPr>
        <p:spPr>
          <a:xfrm>
            <a:off x="1498600" y="5118100"/>
            <a:ext cx="2032000" cy="6604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提交</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代码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文档</a:t>
            </a:r>
          </a:p>
        </p:txBody>
      </p:sp>
      <p:sp>
        <p:nvSpPr>
          <p:cNvPr id="116" name="箭头: 右 115"/>
          <p:cNvSpPr/>
          <p:nvPr/>
        </p:nvSpPr>
        <p:spPr>
          <a:xfrm>
            <a:off x="35560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17" name="矩形: 圆角 116"/>
          <p:cNvSpPr/>
          <p:nvPr/>
        </p:nvSpPr>
        <p:spPr>
          <a:xfrm>
            <a:off x="3860800" y="5118100"/>
            <a:ext cx="2032000" cy="6604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交叉审查</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代码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文档</a:t>
            </a:r>
          </a:p>
        </p:txBody>
      </p:sp>
      <p:sp>
        <p:nvSpPr>
          <p:cNvPr id="118" name="箭头: 右 117"/>
          <p:cNvSpPr/>
          <p:nvPr/>
        </p:nvSpPr>
        <p:spPr>
          <a:xfrm>
            <a:off x="59436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119" name="矩形: 圆角 118"/>
          <p:cNvSpPr/>
          <p:nvPr/>
        </p:nvSpPr>
        <p:spPr>
          <a:xfrm>
            <a:off x="6273800" y="5118100"/>
            <a:ext cx="2032000" cy="660400"/>
          </a:xfrm>
          <a:prstGeom prst="roundRect">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修复问题</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规范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安全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逻辑</a:t>
            </a:r>
          </a:p>
        </p:txBody>
      </p:sp>
      <p:sp>
        <p:nvSpPr>
          <p:cNvPr id="120" name="箭头: 右 119"/>
          <p:cNvSpPr/>
          <p:nvPr/>
        </p:nvSpPr>
        <p:spPr>
          <a:xfrm>
            <a:off x="8331200" y="5334000"/>
            <a:ext cx="304800" cy="228600"/>
          </a:xfrm>
          <a:prstGeom prst="rightArrow">
            <a:avLst/>
          </a:prstGeom>
          <a:solidFill>
            <a:srgbClr val="B8C4D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1600">
              <a:latin typeface="Noto Serif SC"/>
              <a:ea typeface="Noto Serif SC"/>
              <a:cs typeface="Noto Serif SC"/>
            </a:endParaRPr>
          </a:p>
        </p:txBody>
      </p:sp>
      <p:sp>
        <p:nvSpPr>
          <p:cNvPr id="3" name="Rectangle 4">
            <a:extLst>
              <a:ext uri="{FF2B5EF4-FFF2-40B4-BE49-F238E27FC236}">
                <a16:creationId xmlns:a16="http://schemas.microsoft.com/office/drawing/2014/main" id="{6FB05E97-2128-3ABD-AB5B-AA77DCB0299D}"/>
              </a:ext>
            </a:extLst>
          </p:cNvPr>
          <p:cNvSpPr/>
          <p:nvPr/>
        </p:nvSpPr>
        <p:spPr>
          <a:xfrm>
            <a:off x="0" y="-6350"/>
            <a:ext cx="12192000" cy="857250"/>
          </a:xfrm>
          <a:prstGeom prst="rect">
            <a:avLst/>
          </a:prstGeom>
          <a:solidFill>
            <a:srgbClr val="004E97">
              <a:alpha val="8000"/>
            </a:srgbClr>
          </a:solidFill>
          <a:ln>
            <a:noFill/>
          </a:ln>
        </p:spPr>
        <p:txBody>
          <a:bodyPr/>
          <a:lstStyle/>
          <a:p>
            <a:endParaRPr lang="zh-CN" altLang="en-US" dirty="0">
              <a:latin typeface="思源黑体 CN" panose="020B0500000000000000" pitchFamily="34" charset="-122"/>
              <a:ea typeface="思源黑体 CN" panose="020B0500000000000000" pitchFamily="34" charset="-122"/>
              <a:cs typeface="Noto Serif SC"/>
            </a:endParaRPr>
          </a:p>
        </p:txBody>
      </p:sp>
      <p:sp>
        <p:nvSpPr>
          <p:cNvPr id="121" name="矩形: 圆角 120"/>
          <p:cNvSpPr/>
          <p:nvPr/>
        </p:nvSpPr>
        <p:spPr>
          <a:xfrm>
            <a:off x="8661400" y="5118100"/>
            <a:ext cx="2032000" cy="6604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zh-CN" altLang="en-US" b="1" dirty="0">
                <a:solidFill>
                  <a:srgbClr val="FFFFFF"/>
                </a:solidFill>
                <a:latin typeface="思源黑体 CN" panose="020B0500000000000000" pitchFamily="34" charset="-122"/>
                <a:ea typeface="思源黑体 CN" panose="020B0500000000000000" pitchFamily="34" charset="-122"/>
                <a:cs typeface="Noto Sans SC"/>
              </a:rPr>
              <a:t>迭代改进</a:t>
            </a:r>
            <a:r>
              <a:rPr lang="zh-CN" altLang="en-US" b="1" dirty="0">
                <a:solidFill>
                  <a:srgbClr val="FFFFFF"/>
                </a:solidFill>
                <a:latin typeface="Noto Sans SC"/>
                <a:ea typeface="Noto Sans SC"/>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复盘 </a:t>
            </a:r>
            <a:r>
              <a:rPr lang="en-US" altLang="zh-CN" b="1" dirty="0">
                <a:solidFill>
                  <a:srgbClr val="FFFFFF"/>
                </a:solidFill>
                <a:latin typeface="思源宋体" panose="02020400000000000000" pitchFamily="18" charset="-122"/>
                <a:ea typeface="思源宋体" panose="02020400000000000000" pitchFamily="18" charset="-122"/>
                <a:cs typeface="Noto Sans SC"/>
              </a:rPr>
              <a:t>· </a:t>
            </a:r>
            <a:r>
              <a:rPr lang="zh-CN" altLang="en-US" b="1" dirty="0">
                <a:solidFill>
                  <a:srgbClr val="FFFFFF"/>
                </a:solidFill>
                <a:latin typeface="思源宋体" panose="02020400000000000000" pitchFamily="18" charset="-122"/>
                <a:ea typeface="思源宋体" panose="02020400000000000000" pitchFamily="18" charset="-122"/>
                <a:cs typeface="Noto Sans SC"/>
              </a:rPr>
              <a:t>提升</a:t>
            </a:r>
          </a:p>
        </p:txBody>
      </p:sp>
    </p:spTree>
    <p:extLst>
      <p:ext uri="{BB962C8B-B14F-4D97-AF65-F5344CB8AC3E}">
        <p14:creationId xmlns:p14="http://schemas.microsoft.com/office/powerpoint/2010/main" val="27898375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latin typeface="Noto Serif SC"/>
              <a:ea typeface="Noto Serif SC"/>
              <a:cs typeface="Noto Serif SC"/>
            </a:endParaRPr>
          </a:p>
        </p:txBody>
      </p:sp>
      <p:sp>
        <p:nvSpPr>
          <p:cNvPr id="3" name="Rectangle 3"/>
          <p:cNvSpPr/>
          <p:nvPr/>
        </p:nvSpPr>
        <p:spPr>
          <a:xfrm>
            <a:off x="0" y="0"/>
            <a:ext cx="12192000" cy="863600"/>
          </a:xfrm>
          <a:prstGeom prst="rect">
            <a:avLst/>
          </a:prstGeom>
          <a:solidFill>
            <a:srgbClr val="004E97">
              <a:alpha val="6000"/>
            </a:srgbClr>
          </a:solidFill>
          <a:ln>
            <a:noFill/>
          </a:ln>
        </p:spPr>
      </p:sp>
      <p:sp>
        <p:nvSpPr>
          <p:cNvPr id="4" name="TextBox 4"/>
          <p:cNvSpPr txBox="1"/>
          <p:nvPr/>
        </p:nvSpPr>
        <p:spPr>
          <a:xfrm>
            <a:off x="914400" y="292100"/>
            <a:ext cx="5559214"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项目概览与核心目标</a:t>
            </a:r>
          </a:p>
        </p:txBody>
      </p:sp>
      <p:sp>
        <p:nvSpPr>
          <p:cNvPr id="5" name="Line 5"/>
          <p:cNvSpPr/>
          <p:nvPr/>
        </p:nvSpPr>
        <p:spPr>
          <a:xfrm flipV="1">
            <a:off x="952500" y="716281"/>
            <a:ext cx="5524500" cy="45719"/>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58114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5" name="TextBox 55"/>
          <p:cNvSpPr txBox="1"/>
          <p:nvPr/>
        </p:nvSpPr>
        <p:spPr>
          <a:xfrm>
            <a:off x="11694477" y="6499066"/>
            <a:ext cx="127000" cy="215265"/>
          </a:xfrm>
          <a:prstGeom prst="rect">
            <a:avLst/>
          </a:prstGeom>
          <a:noFill/>
          <a:ln>
            <a:noFill/>
          </a:ln>
        </p:spPr>
        <p:txBody>
          <a:bodyPr wrap="none" lIns="0" tIns="0" rIns="0" bIns="0" anchor="t" anchorCtr="0">
            <a:spAutoFit/>
          </a:bodyPr>
          <a:lstStyle/>
          <a:p>
            <a:pPr algn="r"/>
            <a:endParaRPr lang="en-US" altLang="zh-CN" b="1" dirty="0">
              <a:solidFill>
                <a:srgbClr val="004E97"/>
              </a:solidFill>
              <a:latin typeface="Noto Serif SC"/>
              <a:ea typeface="Noto Serif SC"/>
              <a:cs typeface="Noto Serif SC"/>
            </a:endParaRPr>
          </a:p>
        </p:txBody>
      </p:sp>
      <p:pic>
        <p:nvPicPr>
          <p:cNvPr id="77" name="Picture 4"/>
          <p:cNvPicPr>
            <a:picLocks noChangeAspect="1"/>
          </p:cNvPicPr>
          <p:nvPr/>
        </p:nvPicPr>
        <p:blipFill>
          <a:blip r:embed="rId3"/>
          <a:srcRect l="20940" r="20940"/>
          <a:stretch>
            <a:fillRect/>
          </a:stretch>
        </p:blipFill>
        <p:spPr>
          <a:xfrm>
            <a:off x="635635" y="1063625"/>
            <a:ext cx="4318000" cy="4953000"/>
          </a:xfrm>
          <a:prstGeom prst="roundRect">
            <a:avLst>
              <a:gd name="adj" fmla="val 4705"/>
            </a:avLst>
          </a:prstGeom>
          <a:noFill/>
          <a:ln w="25400" cap="flat" cmpd="sng">
            <a:noFill/>
            <a:prstDash val="solid"/>
            <a:round/>
          </a:ln>
          <a:effectLst>
            <a:outerShdw blurRad="203200" dist="50800" dir="5400000" algn="tl" rotWithShape="0">
              <a:srgbClr val="000000">
                <a:alpha val="15000"/>
              </a:srgbClr>
            </a:outerShdw>
          </a:effectLst>
        </p:spPr>
      </p:pic>
      <p:sp>
        <p:nvSpPr>
          <p:cNvPr id="78" name="AutoShape 5"/>
          <p:cNvSpPr/>
          <p:nvPr/>
        </p:nvSpPr>
        <p:spPr>
          <a:xfrm>
            <a:off x="5334000" y="1016000"/>
            <a:ext cx="6096000" cy="1397000"/>
          </a:xfrm>
          <a:prstGeom prst="roundRect">
            <a:avLst>
              <a:gd name="adj" fmla="val 10909"/>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79" name="AutoShape 6"/>
          <p:cNvSpPr/>
          <p:nvPr/>
        </p:nvSpPr>
        <p:spPr>
          <a:xfrm>
            <a:off x="5524500" y="1257300"/>
            <a:ext cx="50800" cy="1016000"/>
          </a:xfrm>
          <a:prstGeom prst="roundRect">
            <a:avLst>
              <a:gd name="adj" fmla="val 0"/>
            </a:avLst>
          </a:prstGeom>
          <a:solidFill>
            <a:schemeClr val="tx2">
              <a:lumMod val="60000"/>
              <a:lumOff val="40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0" name="AutoShape 7"/>
          <p:cNvSpPr/>
          <p:nvPr/>
        </p:nvSpPr>
        <p:spPr>
          <a:xfrm>
            <a:off x="5715000" y="1228725"/>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err="1">
                <a:solidFill>
                  <a:schemeClr val="accent1">
                    <a:lumMod val="75000"/>
                  </a:schemeClr>
                </a:solidFill>
                <a:latin typeface="思源黑体 CN" panose="020B0500000000000000" pitchFamily="34" charset="-122"/>
                <a:ea typeface="思源黑体 CN" panose="020B0500000000000000" pitchFamily="34" charset="-122"/>
                <a:sym typeface="Noto Sans SC" panose="020B0200000000000000" charset="-122"/>
              </a:rPr>
              <a:t>项目背景</a:t>
            </a:r>
            <a:r>
              <a:rPr lang="en-US" sz="1600" b="1" i="0" u="none" strike="noStrike" dirty="0">
                <a:solidFill>
                  <a:schemeClr val="accent1">
                    <a:lumMod val="75000"/>
                  </a:schemeClr>
                </a:solidFill>
                <a:latin typeface="思源黑体 CN" panose="020B0500000000000000" pitchFamily="34" charset="-122"/>
                <a:ea typeface="思源黑体 CN" panose="020B0500000000000000" pitchFamily="34" charset="-122"/>
                <a:sym typeface="Noto Sans SC" panose="020B0200000000000000" charset="-122"/>
              </a:rPr>
              <a:t> · BACKGROUND</a:t>
            </a:r>
          </a:p>
        </p:txBody>
      </p:sp>
      <p:sp>
        <p:nvSpPr>
          <p:cNvPr id="81" name="AutoShape 8"/>
          <p:cNvSpPr/>
          <p:nvPr/>
        </p:nvSpPr>
        <p:spPr>
          <a:xfrm>
            <a:off x="5715000" y="1592262"/>
            <a:ext cx="546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latin typeface="Noto Serif SC"/>
                <a:ea typeface="Noto Serif SC"/>
                <a:cs typeface="Noto Serif SC"/>
              </a:defRPr>
            </a:pPr>
            <a:r>
              <a:rPr lang="en-US" b="0" i="0" u="none" strike="noStrike" dirty="0">
                <a:solidFill>
                  <a:srgbClr val="555555"/>
                </a:solidFill>
                <a:latin typeface="思源宋体" panose="02020400000000000000" pitchFamily="18" charset="-122"/>
                <a:ea typeface="思源宋体" panose="02020400000000000000" pitchFamily="18" charset="-122"/>
                <a:sym typeface="Noto Sans SC" panose="020B0200000000000000" charset="-122"/>
              </a:rPr>
              <a:t>校园食堂存在信息不对称痛点，学生依赖口口相传，决策成本高。本项目旨在构建统一的线上评价平台，连接师生与食堂，提供真实、结构化的就餐参考数据。</a:t>
            </a:r>
            <a:endParaRPr lang="en-US" sz="1200" dirty="0">
              <a:latin typeface="思源宋体" panose="02020400000000000000" pitchFamily="18" charset="-122"/>
              <a:ea typeface="思源宋体" panose="02020400000000000000" pitchFamily="18" charset="-122"/>
              <a:cs typeface="Noto Serif SC"/>
            </a:endParaRPr>
          </a:p>
        </p:txBody>
      </p:sp>
      <p:sp>
        <p:nvSpPr>
          <p:cNvPr id="82" name="AutoShape 9"/>
          <p:cNvSpPr/>
          <p:nvPr/>
        </p:nvSpPr>
        <p:spPr>
          <a:xfrm>
            <a:off x="5334000" y="267970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3" name="AutoShape 10"/>
          <p:cNvSpPr/>
          <p:nvPr/>
        </p:nvSpPr>
        <p:spPr>
          <a:xfrm>
            <a:off x="5492750" y="2870200"/>
            <a:ext cx="762000" cy="762000"/>
          </a:xfrm>
          <a:prstGeom prst="ellipse">
            <a:avLst/>
          </a:prstGeom>
          <a:solidFill>
            <a:schemeClr val="accent1">
              <a:lumMod val="75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85" name="AutoShape 12"/>
          <p:cNvSpPr/>
          <p:nvPr/>
        </p:nvSpPr>
        <p:spPr>
          <a:xfrm>
            <a:off x="6477000" y="2805430"/>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01.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构建功能闭环系统</a:t>
            </a:r>
            <a:endParaRPr lang="en-US" sz="1200" dirty="0">
              <a:latin typeface="思源黑体 CN" panose="020B0500000000000000" pitchFamily="34" charset="-122"/>
              <a:ea typeface="思源黑体 CN" panose="020B0500000000000000" pitchFamily="34" charset="-122"/>
              <a:cs typeface="Noto Serif SC"/>
            </a:endParaRPr>
          </a:p>
        </p:txBody>
      </p:sp>
      <p:sp>
        <p:nvSpPr>
          <p:cNvPr id="86" name="AutoShape 13"/>
          <p:cNvSpPr/>
          <p:nvPr/>
        </p:nvSpPr>
        <p:spPr>
          <a:xfrm>
            <a:off x="6508750" y="322516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打造集“浏览、搜索、评价、排行”于一体的Web原型，为师生提供一站式、可视化的就餐决策工具</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87" name="AutoShape 14"/>
          <p:cNvSpPr/>
          <p:nvPr/>
        </p:nvSpPr>
        <p:spPr>
          <a:xfrm>
            <a:off x="5334000" y="394335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dirty="0">
              <a:latin typeface="Noto Serif SC"/>
              <a:ea typeface="Noto Serif SC"/>
              <a:cs typeface="Noto Serif SC"/>
            </a:endParaRPr>
          </a:p>
        </p:txBody>
      </p:sp>
      <p:sp>
        <p:nvSpPr>
          <p:cNvPr id="88" name="AutoShape 15"/>
          <p:cNvSpPr/>
          <p:nvPr/>
        </p:nvSpPr>
        <p:spPr>
          <a:xfrm>
            <a:off x="5492750" y="4133850"/>
            <a:ext cx="762000" cy="762000"/>
          </a:xfrm>
          <a:prstGeom prst="ellipse">
            <a:avLst/>
          </a:prstGeom>
          <a:solidFill>
            <a:schemeClr val="accent1">
              <a:lumMod val="75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0" name="AutoShape 17"/>
          <p:cNvSpPr/>
          <p:nvPr/>
        </p:nvSpPr>
        <p:spPr>
          <a:xfrm>
            <a:off x="6477000" y="4064000"/>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02.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智能赋能用户决策</a:t>
            </a:r>
            <a:endParaRPr lang="en-US" sz="1200" dirty="0">
              <a:latin typeface="思源黑体 CN" panose="020B0500000000000000" pitchFamily="34" charset="-122"/>
              <a:ea typeface="思源黑体 CN" panose="020B0500000000000000" pitchFamily="34" charset="-122"/>
              <a:cs typeface="Noto Serif SC"/>
            </a:endParaRPr>
          </a:p>
        </p:txBody>
      </p:sp>
      <p:sp>
        <p:nvSpPr>
          <p:cNvPr id="91" name="AutoShape 18"/>
          <p:cNvSpPr/>
          <p:nvPr/>
        </p:nvSpPr>
        <p:spPr>
          <a:xfrm>
            <a:off x="6477000" y="448500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基于结构化评分与真实评论体系，帮助用户快速筛选高分优质窗口，有效规避口味“</a:t>
            </a: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雷区</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降低试错成本</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92" name="AutoShape 19"/>
          <p:cNvSpPr/>
          <p:nvPr/>
        </p:nvSpPr>
        <p:spPr>
          <a:xfrm>
            <a:off x="5334000" y="5219700"/>
            <a:ext cx="6096000" cy="1143000"/>
          </a:xfrm>
          <a:prstGeom prst="roundRect">
            <a:avLst>
              <a:gd name="adj" fmla="val 13333"/>
            </a:avLst>
          </a:prstGeom>
          <a:solidFill>
            <a:srgbClr val="FFFFFF">
              <a:alpha val="96000"/>
            </a:srgbClr>
          </a:solidFill>
          <a:ln w="25400" cap="flat" cmpd="sng">
            <a:noFill/>
            <a:prstDash val="solid"/>
            <a:round/>
          </a:ln>
          <a:effectLst>
            <a:outerShdw blurRad="152400" dist="25400" dir="54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3" name="AutoShape 20"/>
          <p:cNvSpPr/>
          <p:nvPr/>
        </p:nvSpPr>
        <p:spPr>
          <a:xfrm>
            <a:off x="5489742" y="5410200"/>
            <a:ext cx="762000" cy="762000"/>
          </a:xfrm>
          <a:prstGeom prst="ellipse">
            <a:avLst/>
          </a:prstGeom>
          <a:solidFill>
            <a:schemeClr val="accent1">
              <a:lumMod val="60000"/>
              <a:lumOff val="40000"/>
              <a:alpha val="12000"/>
            </a:scheme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95" name="AutoShape 22"/>
          <p:cNvSpPr/>
          <p:nvPr/>
        </p:nvSpPr>
        <p:spPr>
          <a:xfrm>
            <a:off x="6477000" y="5397299"/>
            <a:ext cx="469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600" b="1" i="0" u="none" strike="noStrike" dirty="0">
                <a:solidFill>
                  <a:srgbClr val="333333"/>
                </a:solidFill>
                <a:latin typeface="思源黑体 CN" panose="020B0500000000000000" pitchFamily="34" charset="-122"/>
                <a:ea typeface="思源黑体 CN" panose="020B0500000000000000" pitchFamily="34" charset="-122"/>
                <a:sym typeface="Noto Sans SC" panose="020B0200000000000000" charset="-122"/>
              </a:rPr>
              <a:t>03. </a:t>
            </a:r>
            <a:r>
              <a:rPr lang="en-US" sz="1600" b="1" i="0" u="none" strike="noStrike" dirty="0" err="1">
                <a:solidFill>
                  <a:srgbClr val="333333"/>
                </a:solidFill>
                <a:latin typeface="思源黑体 CN" panose="020B0500000000000000" pitchFamily="34" charset="-122"/>
                <a:ea typeface="思源黑体 CN" panose="020B0500000000000000" pitchFamily="34" charset="-122"/>
                <a:sym typeface="Noto Sans SC" panose="020B0200000000000000" charset="-122"/>
              </a:rPr>
              <a:t>支持食堂管理优化</a:t>
            </a:r>
            <a:endParaRPr lang="en-US" sz="1200" dirty="0">
              <a:latin typeface="思源黑体 CN" panose="020B0500000000000000" pitchFamily="34" charset="-122"/>
              <a:ea typeface="思源黑体 CN" panose="020B0500000000000000" pitchFamily="34" charset="-122"/>
              <a:cs typeface="Noto Serif SC"/>
            </a:endParaRPr>
          </a:p>
        </p:txBody>
      </p:sp>
      <p:sp>
        <p:nvSpPr>
          <p:cNvPr id="96" name="AutoShape 23"/>
          <p:cNvSpPr/>
          <p:nvPr/>
        </p:nvSpPr>
        <p:spPr>
          <a:xfrm>
            <a:off x="6477000" y="5805805"/>
            <a:ext cx="4699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latin typeface="Noto Serif SC"/>
                <a:ea typeface="Noto Serif SC"/>
                <a:cs typeface="Noto Serif SC"/>
              </a:defRPr>
            </a:pPr>
            <a:r>
              <a:rPr lang="en-US" b="0" i="0" u="none" strike="noStrike" dirty="0" err="1">
                <a:solidFill>
                  <a:srgbClr val="666666"/>
                </a:solidFill>
                <a:latin typeface="思源宋体" panose="02020400000000000000" pitchFamily="18" charset="-122"/>
                <a:ea typeface="思源宋体" panose="02020400000000000000" pitchFamily="18" charset="-122"/>
                <a:sym typeface="Noto Sans SC" panose="020B0200000000000000" charset="-122"/>
              </a:rPr>
              <a:t>沉淀客观的数据反馈渠道，助力食堂管理方精准洞察师生口味需求，推动菜品迭代与服务质量的持续提升</a:t>
            </a:r>
            <a:r>
              <a:rPr lang="en-US" b="0" i="0" u="none" strike="noStrike" dirty="0">
                <a:solidFill>
                  <a:srgbClr val="666666"/>
                </a:solidFill>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Tree>
    <p:extLst>
      <p:ext uri="{BB962C8B-B14F-4D97-AF65-F5344CB8AC3E}">
        <p14:creationId xmlns:p14="http://schemas.microsoft.com/office/powerpoint/2010/main" val="32219931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789773"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功能模块与用例</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8" name="AutoShape 4"/>
          <p:cNvSpPr/>
          <p:nvPr/>
        </p:nvSpPr>
        <p:spPr>
          <a:xfrm>
            <a:off x="508000" y="1016635"/>
            <a:ext cx="5207000" cy="5080000"/>
          </a:xfrm>
          <a:prstGeom prst="roundRect">
            <a:avLst>
              <a:gd name="adj" fmla="val 4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sz="1600">
              <a:latin typeface="Noto Serif SC"/>
              <a:ea typeface="Noto Serif SC"/>
              <a:cs typeface="Noto Serif SC"/>
            </a:endParaRPr>
          </a:p>
        </p:txBody>
      </p:sp>
      <p:sp>
        <p:nvSpPr>
          <p:cNvPr id="59" name="AutoShape 5"/>
          <p:cNvSpPr/>
          <p:nvPr/>
        </p:nvSpPr>
        <p:spPr>
          <a:xfrm>
            <a:off x="889000" y="141859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800" b="1" i="0" u="none" strike="noStrike" dirty="0" err="1">
                <a:solidFill>
                  <a:srgbClr val="1976D2"/>
                </a:solidFill>
                <a:latin typeface="思源黑体 CN" panose="020B0500000000000000" pitchFamily="34" charset="-122"/>
                <a:ea typeface="思源黑体 CN" panose="020B0500000000000000" pitchFamily="34" charset="-122"/>
                <a:sym typeface="Noto Sans SC" panose="020B0200000000000000" charset="-122"/>
              </a:rPr>
              <a:t>基础与核心功能</a:t>
            </a:r>
            <a:r>
              <a:rPr lang="en-US" sz="1800" b="1" i="0" u="none" strike="noStrike" dirty="0">
                <a:solidFill>
                  <a:srgbClr val="1976D2"/>
                </a:solidFill>
                <a:latin typeface="思源黑体 CN" panose="020B0500000000000000" pitchFamily="34" charset="-122"/>
                <a:ea typeface="思源黑体 CN" panose="020B0500000000000000" pitchFamily="34" charset="-122"/>
                <a:sym typeface="Noto Sans SC" panose="020B0200000000000000" charset="-122"/>
              </a:rPr>
              <a:t> (FR-01 ~ FR-10)</a:t>
            </a:r>
          </a:p>
        </p:txBody>
      </p:sp>
      <p:sp>
        <p:nvSpPr>
          <p:cNvPr id="60" name="AutoShape 6"/>
          <p:cNvSpPr/>
          <p:nvPr/>
        </p:nvSpPr>
        <p:spPr>
          <a:xfrm>
            <a:off x="889000" y="1926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1" name="AutoShape 7"/>
          <p:cNvSpPr/>
          <p:nvPr/>
        </p:nvSpPr>
        <p:spPr>
          <a:xfrm>
            <a:off x="10160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FR-01</a:t>
            </a:r>
          </a:p>
        </p:txBody>
      </p:sp>
      <p:sp>
        <p:nvSpPr>
          <p:cNvPr id="62" name="AutoShape 8"/>
          <p:cNvSpPr/>
          <p:nvPr/>
        </p:nvSpPr>
        <p:spPr>
          <a:xfrm>
            <a:off x="19685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dirty="0" err="1">
                <a:solidFill>
                  <a:srgbClr val="1976D2"/>
                </a:solidFill>
                <a:latin typeface="思源宋体" panose="02020400000000000000" pitchFamily="18" charset="-122"/>
                <a:ea typeface="思源宋体" panose="02020400000000000000" pitchFamily="18" charset="-122"/>
                <a:sym typeface="Noto Sans SC" panose="020B0200000000000000" charset="-122"/>
              </a:rPr>
              <a:t>用户认证</a:t>
            </a:r>
            <a:endParaRPr lang="en-US" b="1" i="0" u="none" strike="noStrike" dirty="0">
              <a:solidFill>
                <a:srgbClr val="1976D2"/>
              </a:solidFill>
              <a:latin typeface="思源宋体" panose="02020400000000000000" pitchFamily="18" charset="-122"/>
              <a:ea typeface="思源宋体" panose="02020400000000000000" pitchFamily="18" charset="-122"/>
              <a:sym typeface="Noto Sans SC" panose="020B0200000000000000" charset="-122"/>
            </a:endParaRPr>
          </a:p>
        </p:txBody>
      </p:sp>
      <p:sp>
        <p:nvSpPr>
          <p:cNvPr id="63" name="AutoShape 9"/>
          <p:cNvSpPr/>
          <p:nvPr/>
        </p:nvSpPr>
        <p:spPr>
          <a:xfrm>
            <a:off x="2921000" y="2117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4" name="AutoShape 10"/>
          <p:cNvSpPr/>
          <p:nvPr/>
        </p:nvSpPr>
        <p:spPr>
          <a:xfrm>
            <a:off x="2921000" y="2129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65" name="AutoShape 11"/>
          <p:cNvSpPr/>
          <p:nvPr/>
        </p:nvSpPr>
        <p:spPr>
          <a:xfrm>
            <a:off x="3556000" y="2053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支持注册、登录、退出，覆盖全角色</a:t>
            </a:r>
          </a:p>
        </p:txBody>
      </p:sp>
      <p:sp>
        <p:nvSpPr>
          <p:cNvPr id="66" name="AutoShape 12"/>
          <p:cNvSpPr/>
          <p:nvPr/>
        </p:nvSpPr>
        <p:spPr>
          <a:xfrm>
            <a:off x="889000" y="2688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67" name="AutoShape 13"/>
          <p:cNvSpPr/>
          <p:nvPr/>
        </p:nvSpPr>
        <p:spPr>
          <a:xfrm>
            <a:off x="10160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FR-02</a:t>
            </a:r>
          </a:p>
        </p:txBody>
      </p:sp>
      <p:sp>
        <p:nvSpPr>
          <p:cNvPr id="68" name="AutoShape 14"/>
          <p:cNvSpPr/>
          <p:nvPr/>
        </p:nvSpPr>
        <p:spPr>
          <a:xfrm>
            <a:off x="19685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权限控制</a:t>
            </a:r>
          </a:p>
        </p:txBody>
      </p:sp>
      <p:sp>
        <p:nvSpPr>
          <p:cNvPr id="69" name="AutoShape 15"/>
          <p:cNvSpPr/>
          <p:nvPr/>
        </p:nvSpPr>
        <p:spPr>
          <a:xfrm>
            <a:off x="2921000" y="2879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0" name="AutoShape 16"/>
          <p:cNvSpPr/>
          <p:nvPr/>
        </p:nvSpPr>
        <p:spPr>
          <a:xfrm>
            <a:off x="2921000" y="2891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71" name="AutoShape 17"/>
          <p:cNvSpPr/>
          <p:nvPr/>
        </p:nvSpPr>
        <p:spPr>
          <a:xfrm>
            <a:off x="3556000" y="2815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基于角色与状态管控页面及接口访问</a:t>
            </a:r>
          </a:p>
        </p:txBody>
      </p:sp>
      <p:sp>
        <p:nvSpPr>
          <p:cNvPr id="72" name="AutoShape 18"/>
          <p:cNvSpPr/>
          <p:nvPr/>
        </p:nvSpPr>
        <p:spPr>
          <a:xfrm>
            <a:off x="889000" y="3450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3" name="AutoShape 19"/>
          <p:cNvSpPr/>
          <p:nvPr/>
        </p:nvSpPr>
        <p:spPr>
          <a:xfrm>
            <a:off x="10160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FR-03</a:t>
            </a:r>
          </a:p>
        </p:txBody>
      </p:sp>
      <p:sp>
        <p:nvSpPr>
          <p:cNvPr id="74" name="AutoShape 20"/>
          <p:cNvSpPr/>
          <p:nvPr/>
        </p:nvSpPr>
        <p:spPr>
          <a:xfrm>
            <a:off x="19685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信息浏览</a:t>
            </a:r>
          </a:p>
        </p:txBody>
      </p:sp>
      <p:sp>
        <p:nvSpPr>
          <p:cNvPr id="75" name="AutoShape 21"/>
          <p:cNvSpPr/>
          <p:nvPr/>
        </p:nvSpPr>
        <p:spPr>
          <a:xfrm>
            <a:off x="2921000" y="3641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6" name="AutoShape 22"/>
          <p:cNvSpPr/>
          <p:nvPr/>
        </p:nvSpPr>
        <p:spPr>
          <a:xfrm>
            <a:off x="2921000" y="3653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77" name="AutoShape 23"/>
          <p:cNvSpPr/>
          <p:nvPr/>
        </p:nvSpPr>
        <p:spPr>
          <a:xfrm>
            <a:off x="3556000" y="3577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a:solidFill>
                  <a:srgbClr val="1976D2"/>
                </a:solidFill>
                <a:latin typeface="思源宋体" panose="02020400000000000000" pitchFamily="18" charset="-122"/>
                <a:ea typeface="思源宋体" panose="02020400000000000000" pitchFamily="18" charset="-122"/>
                <a:cs typeface="Noto Serif SC"/>
              </a:rPr>
              <a:t>系统应展示食堂列表、窗口列表和窗口详情页，供用户只读查看。</a:t>
            </a:r>
          </a:p>
        </p:txBody>
      </p:sp>
      <p:sp>
        <p:nvSpPr>
          <p:cNvPr id="78" name="AutoShape 24"/>
          <p:cNvSpPr/>
          <p:nvPr/>
        </p:nvSpPr>
        <p:spPr>
          <a:xfrm>
            <a:off x="889000" y="4212590"/>
            <a:ext cx="4699000" cy="6985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79" name="AutoShape 25"/>
          <p:cNvSpPr/>
          <p:nvPr/>
        </p:nvSpPr>
        <p:spPr>
          <a:xfrm>
            <a:off x="10160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FR-04</a:t>
            </a:r>
          </a:p>
        </p:txBody>
      </p:sp>
      <p:sp>
        <p:nvSpPr>
          <p:cNvPr id="80" name="AutoShape 26"/>
          <p:cNvSpPr/>
          <p:nvPr/>
        </p:nvSpPr>
        <p:spPr>
          <a:xfrm>
            <a:off x="19685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全局搜索</a:t>
            </a:r>
          </a:p>
        </p:txBody>
      </p:sp>
      <p:sp>
        <p:nvSpPr>
          <p:cNvPr id="81" name="AutoShape 27"/>
          <p:cNvSpPr/>
          <p:nvPr/>
        </p:nvSpPr>
        <p:spPr>
          <a:xfrm>
            <a:off x="2921000" y="4403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2" name="AutoShape 28"/>
          <p:cNvSpPr/>
          <p:nvPr/>
        </p:nvSpPr>
        <p:spPr>
          <a:xfrm>
            <a:off x="2921000" y="4415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83" name="AutoShape 29"/>
          <p:cNvSpPr/>
          <p:nvPr/>
        </p:nvSpPr>
        <p:spPr>
          <a:xfrm>
            <a:off x="3556000" y="4339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dirty="0" err="1">
                <a:solidFill>
                  <a:srgbClr val="1976D2"/>
                </a:solidFill>
                <a:latin typeface="思源宋体" panose="02020400000000000000" pitchFamily="18" charset="-122"/>
                <a:ea typeface="思源宋体" panose="02020400000000000000" pitchFamily="18" charset="-122"/>
                <a:cs typeface="Noto Serif SC"/>
              </a:rPr>
              <a:t>系统应提供搜索框，支持按关键字查询食堂名称、窗口名称以及类别</a:t>
            </a:r>
            <a:r>
              <a:rPr lang="en-US" sz="1200" dirty="0">
                <a:solidFill>
                  <a:srgbClr val="1976D2"/>
                </a:solidFill>
                <a:latin typeface="思源宋体" panose="02020400000000000000" pitchFamily="18" charset="-122"/>
                <a:ea typeface="思源宋体" panose="02020400000000000000" pitchFamily="18" charset="-122"/>
                <a:cs typeface="Noto Serif SC"/>
              </a:rPr>
              <a:t>/</a:t>
            </a:r>
            <a:r>
              <a:rPr lang="en-US" sz="1200" dirty="0" err="1">
                <a:solidFill>
                  <a:srgbClr val="1976D2"/>
                </a:solidFill>
                <a:latin typeface="思源宋体" panose="02020400000000000000" pitchFamily="18" charset="-122"/>
                <a:ea typeface="思源宋体" panose="02020400000000000000" pitchFamily="18" charset="-122"/>
                <a:cs typeface="Noto Serif SC"/>
              </a:rPr>
              <a:t>预置标签</a:t>
            </a:r>
            <a:endParaRPr lang="en-US" sz="1200" dirty="0">
              <a:solidFill>
                <a:srgbClr val="1976D2"/>
              </a:solidFill>
              <a:latin typeface="思源宋体" panose="02020400000000000000" pitchFamily="18" charset="-122"/>
              <a:ea typeface="思源宋体" panose="02020400000000000000" pitchFamily="18" charset="-122"/>
              <a:cs typeface="Noto Serif SC"/>
            </a:endParaRPr>
          </a:p>
        </p:txBody>
      </p:sp>
      <p:sp>
        <p:nvSpPr>
          <p:cNvPr id="84" name="AutoShape 30"/>
          <p:cNvSpPr/>
          <p:nvPr/>
        </p:nvSpPr>
        <p:spPr>
          <a:xfrm>
            <a:off x="889000" y="4974589"/>
            <a:ext cx="4699000" cy="866775"/>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5" name="AutoShape 31"/>
          <p:cNvSpPr/>
          <p:nvPr/>
        </p:nvSpPr>
        <p:spPr>
          <a:xfrm>
            <a:off x="10160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FR-05</a:t>
            </a:r>
          </a:p>
        </p:txBody>
      </p:sp>
      <p:sp>
        <p:nvSpPr>
          <p:cNvPr id="86" name="AutoShape 32"/>
          <p:cNvSpPr/>
          <p:nvPr/>
        </p:nvSpPr>
        <p:spPr>
          <a:xfrm>
            <a:off x="19685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筛选排序</a:t>
            </a:r>
          </a:p>
        </p:txBody>
      </p:sp>
      <p:sp>
        <p:nvSpPr>
          <p:cNvPr id="87" name="AutoShape 33"/>
          <p:cNvSpPr/>
          <p:nvPr/>
        </p:nvSpPr>
        <p:spPr>
          <a:xfrm>
            <a:off x="2921000" y="5165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88" name="AutoShape 34"/>
          <p:cNvSpPr/>
          <p:nvPr/>
        </p:nvSpPr>
        <p:spPr>
          <a:xfrm>
            <a:off x="2921000" y="5177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89" name="AutoShape 35"/>
          <p:cNvSpPr/>
          <p:nvPr/>
        </p:nvSpPr>
        <p:spPr>
          <a:xfrm>
            <a:off x="3556000" y="5101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dirty="0" err="1">
                <a:solidFill>
                  <a:srgbClr val="1976D2"/>
                </a:solidFill>
                <a:latin typeface="思源宋体" panose="02020400000000000000" pitchFamily="18" charset="-122"/>
                <a:ea typeface="思源宋体" panose="02020400000000000000" pitchFamily="18" charset="-122"/>
                <a:cs typeface="Noto Serif SC"/>
              </a:rPr>
              <a:t>系统应支持按食堂、类别、评分、人气等条件进行筛选或排序</a:t>
            </a:r>
            <a:endParaRPr lang="en-US" sz="1200" dirty="0">
              <a:solidFill>
                <a:srgbClr val="1976D2"/>
              </a:solidFill>
              <a:latin typeface="思源宋体" panose="02020400000000000000" pitchFamily="18" charset="-122"/>
              <a:ea typeface="思源宋体" panose="02020400000000000000" pitchFamily="18" charset="-122"/>
              <a:cs typeface="Noto Serif SC"/>
            </a:endParaRPr>
          </a:p>
        </p:txBody>
      </p:sp>
      <p:sp>
        <p:nvSpPr>
          <p:cNvPr id="90" name="AutoShape 36"/>
          <p:cNvSpPr/>
          <p:nvPr/>
        </p:nvSpPr>
        <p:spPr>
          <a:xfrm>
            <a:off x="5969000" y="1016635"/>
            <a:ext cx="5207000" cy="5080000"/>
          </a:xfrm>
          <a:prstGeom prst="roundRect">
            <a:avLst>
              <a:gd name="adj" fmla="val 4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latin typeface="Noto Serif SC"/>
                <a:ea typeface="Noto Serif SC"/>
                <a:cs typeface="Noto Serif SC"/>
              </a:defRPr>
            </a:pPr>
            <a:endParaRPr sz="1600">
              <a:latin typeface="Noto Serif SC"/>
              <a:ea typeface="Noto Serif SC"/>
              <a:cs typeface="Noto Serif SC"/>
            </a:endParaRPr>
          </a:p>
        </p:txBody>
      </p:sp>
      <p:sp>
        <p:nvSpPr>
          <p:cNvPr id="91" name="AutoShape 37"/>
          <p:cNvSpPr/>
          <p:nvPr/>
        </p:nvSpPr>
        <p:spPr>
          <a:xfrm>
            <a:off x="6350000" y="141859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800" b="1" i="0" u="none" strike="noStrike" dirty="0" err="1">
                <a:solidFill>
                  <a:srgbClr val="1976D2"/>
                </a:solidFill>
                <a:latin typeface="思源黑体 CN" panose="020B0500000000000000" pitchFamily="34" charset="-122"/>
                <a:ea typeface="思源黑体 CN" panose="020B0500000000000000" pitchFamily="34" charset="-122"/>
                <a:sym typeface="Noto Sans SC" panose="020B0200000000000000" charset="-122"/>
              </a:rPr>
              <a:t>交互与管理功能</a:t>
            </a:r>
            <a:r>
              <a:rPr lang="en-US" sz="1800" b="1" i="0" u="none" strike="noStrike" dirty="0">
                <a:solidFill>
                  <a:srgbClr val="1976D2"/>
                </a:solidFill>
                <a:latin typeface="思源黑体 CN" panose="020B0500000000000000" pitchFamily="34" charset="-122"/>
                <a:ea typeface="思源黑体 CN" panose="020B0500000000000000" pitchFamily="34" charset="-122"/>
                <a:sym typeface="Noto Sans SC" panose="020B0200000000000000" charset="-122"/>
              </a:rPr>
              <a:t> (FR-06 ~ FR-10)</a:t>
            </a:r>
          </a:p>
        </p:txBody>
      </p:sp>
      <p:sp>
        <p:nvSpPr>
          <p:cNvPr id="92" name="AutoShape 38"/>
          <p:cNvSpPr/>
          <p:nvPr/>
        </p:nvSpPr>
        <p:spPr>
          <a:xfrm>
            <a:off x="6350000" y="1926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3" name="AutoShape 39"/>
          <p:cNvSpPr/>
          <p:nvPr/>
        </p:nvSpPr>
        <p:spPr>
          <a:xfrm>
            <a:off x="64770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FR-06</a:t>
            </a:r>
          </a:p>
        </p:txBody>
      </p:sp>
      <p:sp>
        <p:nvSpPr>
          <p:cNvPr id="94" name="AutoShape 40"/>
          <p:cNvSpPr/>
          <p:nvPr/>
        </p:nvSpPr>
        <p:spPr>
          <a:xfrm>
            <a:off x="7429500" y="2091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榜单排行</a:t>
            </a:r>
          </a:p>
        </p:txBody>
      </p:sp>
      <p:sp>
        <p:nvSpPr>
          <p:cNvPr id="95" name="AutoShape 41"/>
          <p:cNvSpPr/>
          <p:nvPr/>
        </p:nvSpPr>
        <p:spPr>
          <a:xfrm>
            <a:off x="8382000" y="2117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6" name="AutoShape 42"/>
          <p:cNvSpPr/>
          <p:nvPr/>
        </p:nvSpPr>
        <p:spPr>
          <a:xfrm>
            <a:off x="8382000" y="2129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97" name="AutoShape 43"/>
          <p:cNvSpPr/>
          <p:nvPr/>
        </p:nvSpPr>
        <p:spPr>
          <a:xfrm>
            <a:off x="9017000" y="2053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dirty="0" err="1">
                <a:solidFill>
                  <a:srgbClr val="1976D2"/>
                </a:solidFill>
                <a:latin typeface="思源宋体" panose="02020400000000000000" pitchFamily="18" charset="-122"/>
                <a:ea typeface="思源宋体" panose="02020400000000000000" pitchFamily="18" charset="-122"/>
                <a:sym typeface="Noto Sans SC" panose="020B0200000000000000" charset="-122"/>
              </a:rPr>
              <a:t>展示评分榜、热度榜等多维排行榜</a:t>
            </a:r>
            <a:endParaRPr lang="en-US" sz="1200" b="0" i="0" u="none" strike="noStrike" dirty="0">
              <a:solidFill>
                <a:srgbClr val="1976D2"/>
              </a:solidFill>
              <a:latin typeface="思源宋体" panose="02020400000000000000" pitchFamily="18" charset="-122"/>
              <a:ea typeface="思源宋体" panose="02020400000000000000" pitchFamily="18" charset="-122"/>
              <a:sym typeface="Noto Sans SC" panose="020B0200000000000000" charset="-122"/>
            </a:endParaRPr>
          </a:p>
        </p:txBody>
      </p:sp>
      <p:sp>
        <p:nvSpPr>
          <p:cNvPr id="98" name="AutoShape 44"/>
          <p:cNvSpPr/>
          <p:nvPr/>
        </p:nvSpPr>
        <p:spPr>
          <a:xfrm>
            <a:off x="6350000" y="2688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99" name="AutoShape 45"/>
          <p:cNvSpPr/>
          <p:nvPr/>
        </p:nvSpPr>
        <p:spPr>
          <a:xfrm>
            <a:off x="64770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FR-07</a:t>
            </a:r>
          </a:p>
        </p:txBody>
      </p:sp>
      <p:sp>
        <p:nvSpPr>
          <p:cNvPr id="100" name="AutoShape 46"/>
          <p:cNvSpPr/>
          <p:nvPr/>
        </p:nvSpPr>
        <p:spPr>
          <a:xfrm>
            <a:off x="7429500" y="2853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窗口评论</a:t>
            </a:r>
          </a:p>
        </p:txBody>
      </p:sp>
      <p:sp>
        <p:nvSpPr>
          <p:cNvPr id="101" name="AutoShape 47"/>
          <p:cNvSpPr/>
          <p:nvPr/>
        </p:nvSpPr>
        <p:spPr>
          <a:xfrm>
            <a:off x="8382000" y="2879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2" name="AutoShape 48"/>
          <p:cNvSpPr/>
          <p:nvPr/>
        </p:nvSpPr>
        <p:spPr>
          <a:xfrm>
            <a:off x="8382000" y="2891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03" name="AutoShape 49"/>
          <p:cNvSpPr/>
          <p:nvPr/>
        </p:nvSpPr>
        <p:spPr>
          <a:xfrm>
            <a:off x="9017000" y="2815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登录用户可提交评分与文字评论内容</a:t>
            </a:r>
          </a:p>
        </p:txBody>
      </p:sp>
      <p:sp>
        <p:nvSpPr>
          <p:cNvPr id="104" name="AutoShape 50"/>
          <p:cNvSpPr/>
          <p:nvPr/>
        </p:nvSpPr>
        <p:spPr>
          <a:xfrm>
            <a:off x="6350000" y="3450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5" name="AutoShape 51"/>
          <p:cNvSpPr/>
          <p:nvPr/>
        </p:nvSpPr>
        <p:spPr>
          <a:xfrm>
            <a:off x="64770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FR-08</a:t>
            </a:r>
          </a:p>
        </p:txBody>
      </p:sp>
      <p:sp>
        <p:nvSpPr>
          <p:cNvPr id="106" name="AutoShape 52"/>
          <p:cNvSpPr/>
          <p:nvPr/>
        </p:nvSpPr>
        <p:spPr>
          <a:xfrm>
            <a:off x="7429500" y="3615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评论管理</a:t>
            </a:r>
          </a:p>
        </p:txBody>
      </p:sp>
      <p:sp>
        <p:nvSpPr>
          <p:cNvPr id="107" name="AutoShape 53"/>
          <p:cNvSpPr/>
          <p:nvPr/>
        </p:nvSpPr>
        <p:spPr>
          <a:xfrm>
            <a:off x="8382000" y="3641090"/>
            <a:ext cx="457200" cy="254000"/>
          </a:xfrm>
          <a:prstGeom prst="roundRect">
            <a:avLst>
              <a:gd name="adj" fmla="val 20000"/>
            </a:avLst>
          </a:prstGeom>
          <a:solidFill>
            <a:srgbClr val="FF9800">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08" name="AutoShape 54"/>
          <p:cNvSpPr/>
          <p:nvPr/>
        </p:nvSpPr>
        <p:spPr>
          <a:xfrm>
            <a:off x="8382000" y="3653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P1</a:t>
            </a:r>
          </a:p>
        </p:txBody>
      </p:sp>
      <p:sp>
        <p:nvSpPr>
          <p:cNvPr id="109" name="AutoShape 55"/>
          <p:cNvSpPr/>
          <p:nvPr/>
        </p:nvSpPr>
        <p:spPr>
          <a:xfrm>
            <a:off x="9017000" y="3577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管理员删违规评论，用户可维护自评</a:t>
            </a:r>
          </a:p>
        </p:txBody>
      </p:sp>
      <p:sp>
        <p:nvSpPr>
          <p:cNvPr id="110" name="AutoShape 56"/>
          <p:cNvSpPr/>
          <p:nvPr/>
        </p:nvSpPr>
        <p:spPr>
          <a:xfrm>
            <a:off x="6350000" y="4212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1" name="AutoShape 57"/>
          <p:cNvSpPr/>
          <p:nvPr/>
        </p:nvSpPr>
        <p:spPr>
          <a:xfrm>
            <a:off x="64770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FR-09</a:t>
            </a:r>
          </a:p>
        </p:txBody>
      </p:sp>
      <p:sp>
        <p:nvSpPr>
          <p:cNvPr id="112" name="AutoShape 58"/>
          <p:cNvSpPr/>
          <p:nvPr/>
        </p:nvSpPr>
        <p:spPr>
          <a:xfrm>
            <a:off x="7429500" y="4377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业务规则</a:t>
            </a:r>
          </a:p>
        </p:txBody>
      </p:sp>
      <p:sp>
        <p:nvSpPr>
          <p:cNvPr id="113" name="AutoShape 59"/>
          <p:cNvSpPr/>
          <p:nvPr/>
        </p:nvSpPr>
        <p:spPr>
          <a:xfrm>
            <a:off x="8382000" y="4403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4" name="AutoShape 60"/>
          <p:cNvSpPr/>
          <p:nvPr/>
        </p:nvSpPr>
        <p:spPr>
          <a:xfrm>
            <a:off x="8382000" y="4415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15" name="AutoShape 61"/>
          <p:cNvSpPr/>
          <p:nvPr/>
        </p:nvSpPr>
        <p:spPr>
          <a:xfrm>
            <a:off x="9017000" y="4339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同一用户同一窗口仅保留一条有效评</a:t>
            </a:r>
          </a:p>
        </p:txBody>
      </p:sp>
      <p:sp>
        <p:nvSpPr>
          <p:cNvPr id="116" name="AutoShape 62"/>
          <p:cNvSpPr/>
          <p:nvPr/>
        </p:nvSpPr>
        <p:spPr>
          <a:xfrm>
            <a:off x="6350000" y="4974590"/>
            <a:ext cx="4699000" cy="635000"/>
          </a:xfrm>
          <a:prstGeom prst="roundRect">
            <a:avLst>
              <a:gd name="adj" fmla="val 16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17" name="AutoShape 63"/>
          <p:cNvSpPr/>
          <p:nvPr/>
        </p:nvSpPr>
        <p:spPr>
          <a:xfrm>
            <a:off x="64770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FR-10</a:t>
            </a:r>
          </a:p>
        </p:txBody>
      </p:sp>
      <p:sp>
        <p:nvSpPr>
          <p:cNvPr id="118" name="AutoShape 64"/>
          <p:cNvSpPr/>
          <p:nvPr/>
        </p:nvSpPr>
        <p:spPr>
          <a:xfrm>
            <a:off x="7429500" y="5139690"/>
            <a:ext cx="88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1"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个人资料</a:t>
            </a:r>
          </a:p>
        </p:txBody>
      </p:sp>
      <p:sp>
        <p:nvSpPr>
          <p:cNvPr id="119" name="AutoShape 65"/>
          <p:cNvSpPr/>
          <p:nvPr/>
        </p:nvSpPr>
        <p:spPr>
          <a:xfrm>
            <a:off x="8382000" y="5165090"/>
            <a:ext cx="457200" cy="254000"/>
          </a:xfrm>
          <a:prstGeom prst="roundRect">
            <a:avLst>
              <a:gd name="adj" fmla="val 20000"/>
            </a:avLst>
          </a:prstGeom>
          <a:solidFill>
            <a:srgbClr val="2196F3">
              <a:alpha val="100000"/>
            </a:srgbClr>
          </a:solidFill>
          <a:ln w="25400" cap="flat" cmpd="sng">
            <a:noFill/>
            <a:prstDash val="solid"/>
            <a:round/>
          </a:ln>
        </p:spPr>
        <p:txBody>
          <a:bodyPr vert="horz" wrap="square" lIns="0" tIns="0" rIns="0" bIns="0" rtlCol="0" anchor="ctr" anchorCtr="0"/>
          <a:lstStyle/>
          <a:p>
            <a:pPr algn="ctr">
              <a:defRPr>
                <a:latin typeface="Noto Serif SC"/>
                <a:ea typeface="Noto Serif SC"/>
                <a:cs typeface="Noto Serif SC"/>
              </a:defRPr>
            </a:pPr>
            <a:endParaRPr sz="1600">
              <a:latin typeface="思源宋体" panose="02020400000000000000" pitchFamily="18" charset="-122"/>
              <a:ea typeface="思源宋体" panose="02020400000000000000" pitchFamily="18" charset="-122"/>
              <a:cs typeface="Noto Serif SC"/>
            </a:endParaRPr>
          </a:p>
        </p:txBody>
      </p:sp>
      <p:sp>
        <p:nvSpPr>
          <p:cNvPr id="120" name="AutoShape 66"/>
          <p:cNvSpPr/>
          <p:nvPr/>
        </p:nvSpPr>
        <p:spPr>
          <a:xfrm>
            <a:off x="8382000" y="5177790"/>
            <a:ext cx="4572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latin typeface="Noto Serif SC"/>
                <a:ea typeface="Noto Serif SC"/>
                <a:cs typeface="Noto Serif SC"/>
              </a:defRPr>
            </a:pPr>
            <a:r>
              <a:rPr lang="en-US" sz="1200" b="0" i="0" u="none" strike="noStrike">
                <a:solidFill>
                  <a:srgbClr val="FFFFFF"/>
                </a:solidFill>
                <a:latin typeface="思源宋体" panose="02020400000000000000" pitchFamily="18" charset="-122"/>
                <a:ea typeface="思源宋体" panose="02020400000000000000" pitchFamily="18" charset="-122"/>
                <a:sym typeface="Noto Sans SC" panose="020B0200000000000000" charset="-122"/>
              </a:rPr>
              <a:t>P0</a:t>
            </a:r>
          </a:p>
        </p:txBody>
      </p:sp>
      <p:sp>
        <p:nvSpPr>
          <p:cNvPr id="121" name="AutoShape 67"/>
          <p:cNvSpPr/>
          <p:nvPr/>
        </p:nvSpPr>
        <p:spPr>
          <a:xfrm>
            <a:off x="9017000" y="510159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200" b="0" i="0" u="none" strike="noStrike">
                <a:solidFill>
                  <a:srgbClr val="1976D2"/>
                </a:solidFill>
                <a:latin typeface="思源宋体" panose="02020400000000000000" pitchFamily="18" charset="-122"/>
                <a:ea typeface="思源宋体" panose="02020400000000000000" pitchFamily="18" charset="-122"/>
                <a:sym typeface="Noto Sans SC" panose="020B0200000000000000" charset="-122"/>
              </a:rPr>
              <a:t>查看基础信息，支持修改密码与偏好</a:t>
            </a:r>
          </a:p>
        </p:txBody>
      </p:sp>
    </p:spTree>
    <p:extLst>
      <p:ext uri="{BB962C8B-B14F-4D97-AF65-F5344CB8AC3E}">
        <p14:creationId xmlns:p14="http://schemas.microsoft.com/office/powerpoint/2010/main" val="294500865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2" name="Rectangle 3"/>
          <p:cNvSpPr/>
          <p:nvPr/>
        </p:nvSpPr>
        <p:spPr>
          <a:xfrm>
            <a:off x="0" y="0"/>
            <a:ext cx="12192000" cy="85725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2" name="AutoShape 2"/>
          <p:cNvSpPr/>
          <p:nvPr/>
        </p:nvSpPr>
        <p:spPr>
          <a:xfrm>
            <a:off x="592455" y="222250"/>
            <a:ext cx="11176000" cy="635000"/>
          </a:xfrm>
          <a:prstGeom prst="rect">
            <a:avLst/>
          </a:prstGeom>
          <a:noFill/>
          <a:ln w="12700" cap="flat" cmpd="sng">
            <a:noFill/>
            <a:prstDash val="solid"/>
            <a:round/>
          </a:ln>
        </p:spPr>
        <p:txBody>
          <a:bodyPr vert="horz" wrap="square" lIns="0" tIns="0" rIns="0" bIns="0" rtlCol="0" anchor="ctr" anchorCtr="0"/>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功能模块与用例（进阶）</a:t>
            </a:r>
          </a:p>
        </p:txBody>
      </p:sp>
      <p:sp>
        <p:nvSpPr>
          <p:cNvPr id="3" name="AutoShape 3"/>
          <p:cNvSpPr/>
          <p:nvPr/>
        </p:nvSpPr>
        <p:spPr>
          <a:xfrm>
            <a:off x="50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4" name="AutoShape 4"/>
          <p:cNvSpPr/>
          <p:nvPr/>
        </p:nvSpPr>
        <p:spPr>
          <a:xfrm>
            <a:off x="508000" y="1270000"/>
            <a:ext cx="3556000" cy="101600"/>
          </a:xfrm>
          <a:prstGeom prst="roundRect">
            <a:avLst>
              <a:gd name="adj" fmla="val 15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711200" cy="711200"/>
          </a:xfrm>
          <a:prstGeom prst="rect">
            <a:avLst/>
          </a:prstGeom>
        </p:spPr>
      </p:pic>
      <p:sp>
        <p:nvSpPr>
          <p:cNvPr id="6" name="AutoShape 6"/>
          <p:cNvSpPr/>
          <p:nvPr/>
        </p:nvSpPr>
        <p:spPr>
          <a:xfrm>
            <a:off x="165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个性化体验升级</a:t>
            </a:r>
            <a:endParaRPr lang="en-US" sz="1100" dirty="0">
              <a:latin typeface="思源黑体 CN" panose="020B0500000000000000" pitchFamily="34" charset="-122"/>
              <a:ea typeface="思源黑体 CN" panose="020B0500000000000000" pitchFamily="34" charset="-122"/>
              <a:cs typeface="Noto Serif SC"/>
            </a:endParaRPr>
          </a:p>
        </p:txBody>
      </p:sp>
      <p:sp>
        <p:nvSpPr>
          <p:cNvPr id="7" name="AutoShape 7"/>
          <p:cNvSpPr/>
          <p:nvPr/>
        </p:nvSpPr>
        <p:spPr>
          <a:xfrm>
            <a:off x="762000" y="2667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8" name="AutoShape 8"/>
          <p:cNvSpPr/>
          <p:nvPr/>
        </p:nvSpPr>
        <p:spPr>
          <a:xfrm>
            <a:off x="95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访问历史记录 (FR-11)</a:t>
            </a:r>
            <a:endParaRPr lang="en-US" sz="1100">
              <a:latin typeface="思源宋体" panose="02020400000000000000" pitchFamily="18" charset="-122"/>
              <a:ea typeface="思源宋体" panose="02020400000000000000" pitchFamily="18" charset="-122"/>
              <a:cs typeface="Noto Serif SC"/>
            </a:endParaRPr>
          </a:p>
        </p:txBody>
      </p:sp>
      <p:sp>
        <p:nvSpPr>
          <p:cNvPr id="9" name="AutoShape 9"/>
          <p:cNvSpPr/>
          <p:nvPr/>
        </p:nvSpPr>
        <p:spPr>
          <a:xfrm>
            <a:off x="95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完整记录用户浏览足迹，支持按时间回溯与关键词搜索。</a:t>
            </a:r>
            <a:endParaRPr lang="en-US" sz="1100">
              <a:latin typeface="思源宋体" panose="02020400000000000000" pitchFamily="18" charset="-122"/>
              <a:ea typeface="思源宋体" panose="02020400000000000000" pitchFamily="18" charset="-122"/>
              <a:cs typeface="Noto Serif SC"/>
            </a:endParaRPr>
          </a:p>
        </p:txBody>
      </p:sp>
      <p:sp>
        <p:nvSpPr>
          <p:cNvPr id="10" name="AutoShape 10"/>
          <p:cNvSpPr/>
          <p:nvPr/>
        </p:nvSpPr>
        <p:spPr>
          <a:xfrm>
            <a:off x="762000" y="3810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11" name="AutoShape 11"/>
          <p:cNvSpPr/>
          <p:nvPr/>
        </p:nvSpPr>
        <p:spPr>
          <a:xfrm>
            <a:off x="95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收藏与拉黑管理 (FR-12/13)</a:t>
            </a:r>
            <a:endParaRPr lang="en-US" sz="1100">
              <a:latin typeface="思源宋体" panose="02020400000000000000" pitchFamily="18" charset="-122"/>
              <a:ea typeface="思源宋体" panose="02020400000000000000" pitchFamily="18" charset="-122"/>
              <a:cs typeface="Noto Serif SC"/>
            </a:endParaRPr>
          </a:p>
        </p:txBody>
      </p:sp>
      <p:sp>
        <p:nvSpPr>
          <p:cNvPr id="12" name="AutoShape 12"/>
          <p:cNvSpPr/>
          <p:nvPr/>
        </p:nvSpPr>
        <p:spPr>
          <a:xfrm>
            <a:off x="95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支持内容收藏夹分类，及对指定用户/内容的屏蔽与拉黑操作。</a:t>
            </a:r>
            <a:endParaRPr lang="en-US" sz="1100">
              <a:latin typeface="思源宋体" panose="02020400000000000000" pitchFamily="18" charset="-122"/>
              <a:ea typeface="思源宋体" panose="02020400000000000000" pitchFamily="18" charset="-122"/>
              <a:cs typeface="Noto Serif SC"/>
            </a:endParaRPr>
          </a:p>
        </p:txBody>
      </p:sp>
      <p:sp>
        <p:nvSpPr>
          <p:cNvPr id="13" name="AutoShape 13"/>
          <p:cNvSpPr/>
          <p:nvPr/>
        </p:nvSpPr>
        <p:spPr>
          <a:xfrm>
            <a:off x="762000" y="4953000"/>
            <a:ext cx="3048000" cy="952500"/>
          </a:xfrm>
          <a:prstGeom prst="roundRect">
            <a:avLst>
              <a:gd name="adj" fmla="val 1066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14" name="AutoShape 14"/>
          <p:cNvSpPr/>
          <p:nvPr/>
        </p:nvSpPr>
        <p:spPr>
          <a:xfrm>
            <a:off x="95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个性化偏好设置 (FR-14)</a:t>
            </a:r>
            <a:endParaRPr lang="en-US" sz="1100">
              <a:latin typeface="思源宋体" panose="02020400000000000000" pitchFamily="18" charset="-122"/>
              <a:ea typeface="思源宋体" panose="02020400000000000000" pitchFamily="18" charset="-122"/>
              <a:cs typeface="Noto Serif SC"/>
            </a:endParaRPr>
          </a:p>
        </p:txBody>
      </p:sp>
      <p:sp>
        <p:nvSpPr>
          <p:cNvPr id="15" name="AutoShape 15"/>
          <p:cNvSpPr/>
          <p:nvPr/>
        </p:nvSpPr>
        <p:spPr>
          <a:xfrm>
            <a:off x="95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自定义首页展示模块、消息通知频率及内容推送阈值。</a:t>
            </a:r>
            <a:endParaRPr lang="en-US" sz="1100">
              <a:latin typeface="思源宋体" panose="02020400000000000000" pitchFamily="18" charset="-122"/>
              <a:ea typeface="思源宋体" panose="02020400000000000000" pitchFamily="18" charset="-122"/>
              <a:cs typeface="Noto Serif SC"/>
            </a:endParaRPr>
          </a:p>
        </p:txBody>
      </p:sp>
      <p:sp>
        <p:nvSpPr>
          <p:cNvPr id="16" name="AutoShape 16"/>
          <p:cNvSpPr/>
          <p:nvPr/>
        </p:nvSpPr>
        <p:spPr>
          <a:xfrm>
            <a:off x="431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17" name="AutoShape 17"/>
          <p:cNvSpPr/>
          <p:nvPr/>
        </p:nvSpPr>
        <p:spPr>
          <a:xfrm>
            <a:off x="4318000" y="1270000"/>
            <a:ext cx="3556000" cy="101600"/>
          </a:xfrm>
          <a:prstGeom prst="roundRect">
            <a:avLst>
              <a:gd name="adj" fmla="val 15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651000"/>
            <a:ext cx="711200" cy="711200"/>
          </a:xfrm>
          <a:prstGeom prst="rect">
            <a:avLst/>
          </a:prstGeom>
        </p:spPr>
      </p:pic>
      <p:sp>
        <p:nvSpPr>
          <p:cNvPr id="19" name="AutoShape 19"/>
          <p:cNvSpPr/>
          <p:nvPr/>
        </p:nvSpPr>
        <p:spPr>
          <a:xfrm>
            <a:off x="546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智能化服务赋能</a:t>
            </a:r>
            <a:endParaRPr lang="en-US" sz="1100" dirty="0">
              <a:latin typeface="思源黑体 CN" panose="020B0500000000000000" pitchFamily="34" charset="-122"/>
              <a:ea typeface="思源黑体 CN" panose="020B0500000000000000" pitchFamily="34" charset="-122"/>
              <a:cs typeface="Noto Serif SC"/>
            </a:endParaRPr>
          </a:p>
        </p:txBody>
      </p:sp>
      <p:sp>
        <p:nvSpPr>
          <p:cNvPr id="20" name="AutoShape 20"/>
          <p:cNvSpPr/>
          <p:nvPr/>
        </p:nvSpPr>
        <p:spPr>
          <a:xfrm>
            <a:off x="4572000" y="2667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1" name="AutoShape 21"/>
          <p:cNvSpPr/>
          <p:nvPr/>
        </p:nvSpPr>
        <p:spPr>
          <a:xfrm>
            <a:off x="476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「今天吃什么」推荐 (FR-15)</a:t>
            </a:r>
            <a:endParaRPr lang="en-US" sz="1100">
              <a:latin typeface="思源宋体" panose="02020400000000000000" pitchFamily="18" charset="-122"/>
              <a:ea typeface="思源宋体" panose="02020400000000000000" pitchFamily="18" charset="-122"/>
              <a:cs typeface="Noto Serif SC"/>
            </a:endParaRPr>
          </a:p>
        </p:txBody>
      </p:sp>
      <p:sp>
        <p:nvSpPr>
          <p:cNvPr id="22" name="AutoShape 22"/>
          <p:cNvSpPr/>
          <p:nvPr/>
        </p:nvSpPr>
        <p:spPr>
          <a:xfrm>
            <a:off x="476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基于实时地理位置与用户口味标签，提供随机决策推荐。</a:t>
            </a:r>
            <a:endParaRPr lang="en-US" sz="1100">
              <a:latin typeface="思源宋体" panose="02020400000000000000" pitchFamily="18" charset="-122"/>
              <a:ea typeface="思源宋体" panose="02020400000000000000" pitchFamily="18" charset="-122"/>
              <a:cs typeface="Noto Serif SC"/>
            </a:endParaRPr>
          </a:p>
        </p:txBody>
      </p:sp>
      <p:sp>
        <p:nvSpPr>
          <p:cNvPr id="23" name="AutoShape 23"/>
          <p:cNvSpPr/>
          <p:nvPr/>
        </p:nvSpPr>
        <p:spPr>
          <a:xfrm>
            <a:off x="4572000" y="3810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4" name="AutoShape 24"/>
          <p:cNvSpPr/>
          <p:nvPr/>
        </p:nvSpPr>
        <p:spPr>
          <a:xfrm>
            <a:off x="476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AI 智能内容分发 (FR-16/17)</a:t>
            </a:r>
            <a:endParaRPr lang="en-US" sz="1100">
              <a:latin typeface="思源宋体" panose="02020400000000000000" pitchFamily="18" charset="-122"/>
              <a:ea typeface="思源宋体" panose="02020400000000000000" pitchFamily="18" charset="-122"/>
              <a:cs typeface="Noto Serif SC"/>
            </a:endParaRPr>
          </a:p>
        </p:txBody>
      </p:sp>
      <p:sp>
        <p:nvSpPr>
          <p:cNvPr id="25" name="AutoShape 25"/>
          <p:cNvSpPr/>
          <p:nvPr/>
        </p:nvSpPr>
        <p:spPr>
          <a:xfrm>
            <a:off x="476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基于协同过滤算法，分析用户行为，精准推送高匹配度内容。</a:t>
            </a:r>
            <a:endParaRPr lang="en-US" sz="1100">
              <a:latin typeface="思源宋体" panose="02020400000000000000" pitchFamily="18" charset="-122"/>
              <a:ea typeface="思源宋体" panose="02020400000000000000" pitchFamily="18" charset="-122"/>
              <a:cs typeface="Noto Serif SC"/>
            </a:endParaRPr>
          </a:p>
        </p:txBody>
      </p:sp>
      <p:sp>
        <p:nvSpPr>
          <p:cNvPr id="26" name="AutoShape 26"/>
          <p:cNvSpPr/>
          <p:nvPr/>
        </p:nvSpPr>
        <p:spPr>
          <a:xfrm>
            <a:off x="4572000" y="4953000"/>
            <a:ext cx="3048000" cy="952500"/>
          </a:xfrm>
          <a:prstGeom prst="roundRect">
            <a:avLst>
              <a:gd name="adj" fmla="val 10666"/>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27" name="AutoShape 27"/>
          <p:cNvSpPr/>
          <p:nvPr/>
        </p:nvSpPr>
        <p:spPr>
          <a:xfrm>
            <a:off x="476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动态场景感知服务 (FR-18)</a:t>
            </a:r>
            <a:endParaRPr lang="en-US" sz="1100">
              <a:latin typeface="思源宋体" panose="02020400000000000000" pitchFamily="18" charset="-122"/>
              <a:ea typeface="思源宋体" panose="02020400000000000000" pitchFamily="18" charset="-122"/>
              <a:cs typeface="Noto Serif SC"/>
            </a:endParaRPr>
          </a:p>
        </p:txBody>
      </p:sp>
      <p:sp>
        <p:nvSpPr>
          <p:cNvPr id="28" name="AutoShape 28"/>
          <p:cNvSpPr/>
          <p:nvPr/>
        </p:nvSpPr>
        <p:spPr>
          <a:xfrm>
            <a:off x="476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根据时间段、天气等环境因素，动态调整推荐策略与服务入口。</a:t>
            </a:r>
            <a:endParaRPr lang="en-US" sz="1100">
              <a:latin typeface="思源宋体" panose="02020400000000000000" pitchFamily="18" charset="-122"/>
              <a:ea typeface="思源宋体" panose="02020400000000000000" pitchFamily="18" charset="-122"/>
              <a:cs typeface="Noto Serif SC"/>
            </a:endParaRPr>
          </a:p>
        </p:txBody>
      </p:sp>
      <p:sp>
        <p:nvSpPr>
          <p:cNvPr id="29" name="AutoShape 29"/>
          <p:cNvSpPr/>
          <p:nvPr/>
        </p:nvSpPr>
        <p:spPr>
          <a:xfrm>
            <a:off x="8128000" y="1270000"/>
            <a:ext cx="3556000" cy="5080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30" name="AutoShape 30"/>
          <p:cNvSpPr/>
          <p:nvPr/>
        </p:nvSpPr>
        <p:spPr>
          <a:xfrm>
            <a:off x="8128000" y="1270000"/>
            <a:ext cx="3556000" cy="101600"/>
          </a:xfrm>
          <a:prstGeom prst="roundRect">
            <a:avLst>
              <a:gd name="adj" fmla="val 15000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1651000"/>
            <a:ext cx="711200" cy="711200"/>
          </a:xfrm>
          <a:prstGeom prst="rect">
            <a:avLst/>
          </a:prstGeom>
        </p:spPr>
      </p:pic>
      <p:sp>
        <p:nvSpPr>
          <p:cNvPr id="32" name="AutoShape 32"/>
          <p:cNvSpPr/>
          <p:nvPr/>
        </p:nvSpPr>
        <p:spPr>
          <a:xfrm>
            <a:off x="9271000" y="1778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2000" b="1" i="0" u="none" strike="noStrike" dirty="0" err="1">
                <a:latin typeface="思源黑体 CN" panose="020B0500000000000000" pitchFamily="34" charset="-122"/>
                <a:ea typeface="思源黑体 CN" panose="020B0500000000000000" pitchFamily="34" charset="-122"/>
                <a:sym typeface="Noto Sans SC" panose="020B0200000000000000" charset="-122"/>
              </a:rPr>
              <a:t>管理后台支撑</a:t>
            </a:r>
            <a:endParaRPr lang="en-US" sz="1100" dirty="0">
              <a:latin typeface="思源黑体 CN" panose="020B0500000000000000" pitchFamily="34" charset="-122"/>
              <a:ea typeface="思源黑体 CN" panose="020B0500000000000000" pitchFamily="34" charset="-122"/>
              <a:cs typeface="Noto Serif SC"/>
            </a:endParaRPr>
          </a:p>
        </p:txBody>
      </p:sp>
      <p:sp>
        <p:nvSpPr>
          <p:cNvPr id="33" name="AutoShape 33"/>
          <p:cNvSpPr/>
          <p:nvPr/>
        </p:nvSpPr>
        <p:spPr>
          <a:xfrm>
            <a:off x="8382000" y="2667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34" name="AutoShape 34"/>
          <p:cNvSpPr/>
          <p:nvPr/>
        </p:nvSpPr>
        <p:spPr>
          <a:xfrm>
            <a:off x="8572500" y="2794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管理员用户管理 (FR-19)</a:t>
            </a:r>
            <a:endParaRPr lang="en-US" sz="1100">
              <a:latin typeface="思源宋体" panose="02020400000000000000" pitchFamily="18" charset="-122"/>
              <a:ea typeface="思源宋体" panose="02020400000000000000" pitchFamily="18" charset="-122"/>
              <a:cs typeface="Noto Serif SC"/>
            </a:endParaRPr>
          </a:p>
        </p:txBody>
      </p:sp>
      <p:sp>
        <p:nvSpPr>
          <p:cNvPr id="35" name="AutoShape 35"/>
          <p:cNvSpPr/>
          <p:nvPr/>
        </p:nvSpPr>
        <p:spPr>
          <a:xfrm>
            <a:off x="8572500" y="3149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支持多角色权限分配，及对注册用户的信息管理与状态审核。</a:t>
            </a:r>
            <a:endParaRPr lang="en-US" sz="1100">
              <a:latin typeface="思源宋体" panose="02020400000000000000" pitchFamily="18" charset="-122"/>
              <a:ea typeface="思源宋体" panose="02020400000000000000" pitchFamily="18" charset="-122"/>
              <a:cs typeface="Noto Serif SC"/>
            </a:endParaRPr>
          </a:p>
        </p:txBody>
      </p:sp>
      <p:sp>
        <p:nvSpPr>
          <p:cNvPr id="36" name="AutoShape 36"/>
          <p:cNvSpPr/>
          <p:nvPr/>
        </p:nvSpPr>
        <p:spPr>
          <a:xfrm>
            <a:off x="8382000" y="3810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37" name="AutoShape 37"/>
          <p:cNvSpPr/>
          <p:nvPr/>
        </p:nvSpPr>
        <p:spPr>
          <a:xfrm>
            <a:off x="8572500" y="3937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内容审核与风控 (FR-20)</a:t>
            </a:r>
            <a:endParaRPr lang="en-US" sz="1100">
              <a:latin typeface="思源宋体" panose="02020400000000000000" pitchFamily="18" charset="-122"/>
              <a:ea typeface="思源宋体" panose="02020400000000000000" pitchFamily="18" charset="-122"/>
              <a:cs typeface="Noto Serif SC"/>
            </a:endParaRPr>
          </a:p>
        </p:txBody>
      </p:sp>
      <p:sp>
        <p:nvSpPr>
          <p:cNvPr id="38" name="AutoShape 38"/>
          <p:cNvSpPr/>
          <p:nvPr/>
        </p:nvSpPr>
        <p:spPr>
          <a:xfrm>
            <a:off x="8572500" y="429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建立自动化+人工的审核机制，过滤违规内容，保障社区安全。</a:t>
            </a:r>
            <a:endParaRPr lang="en-US" sz="1100">
              <a:latin typeface="思源宋体" panose="02020400000000000000" pitchFamily="18" charset="-122"/>
              <a:ea typeface="思源宋体" panose="02020400000000000000" pitchFamily="18" charset="-122"/>
              <a:cs typeface="Noto Serif SC"/>
            </a:endParaRPr>
          </a:p>
        </p:txBody>
      </p:sp>
      <p:sp>
        <p:nvSpPr>
          <p:cNvPr id="39" name="AutoShape 39"/>
          <p:cNvSpPr/>
          <p:nvPr/>
        </p:nvSpPr>
        <p:spPr>
          <a:xfrm>
            <a:off x="8382000" y="4953000"/>
            <a:ext cx="3048000" cy="952500"/>
          </a:xfrm>
          <a:prstGeom prst="roundRect">
            <a:avLst>
              <a:gd name="adj" fmla="val 1066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思源宋体" panose="02020400000000000000" pitchFamily="18" charset="-122"/>
              <a:ea typeface="思源宋体" panose="02020400000000000000" pitchFamily="18" charset="-122"/>
              <a:cs typeface="Noto Serif SC"/>
            </a:endParaRPr>
          </a:p>
        </p:txBody>
      </p:sp>
      <p:sp>
        <p:nvSpPr>
          <p:cNvPr id="40" name="AutoShape 40"/>
          <p:cNvSpPr/>
          <p:nvPr/>
        </p:nvSpPr>
        <p:spPr>
          <a:xfrm>
            <a:off x="8572500" y="5080000"/>
            <a:ext cx="2667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sz="1400" b="1" i="0" u="none" strike="noStrike">
                <a:latin typeface="思源宋体" panose="02020400000000000000" pitchFamily="18" charset="-122"/>
                <a:ea typeface="思源宋体" panose="02020400000000000000" pitchFamily="18" charset="-122"/>
                <a:sym typeface="Noto Sans SC" panose="020B0200000000000000" charset="-122"/>
              </a:rPr>
              <a:t>数据统计与可视化看板</a:t>
            </a:r>
            <a:endParaRPr lang="en-US" sz="1100">
              <a:latin typeface="思源宋体" panose="02020400000000000000" pitchFamily="18" charset="-122"/>
              <a:ea typeface="思源宋体" panose="02020400000000000000" pitchFamily="18" charset="-122"/>
              <a:cs typeface="Noto Serif SC"/>
            </a:endParaRPr>
          </a:p>
        </p:txBody>
      </p:sp>
      <p:sp>
        <p:nvSpPr>
          <p:cNvPr id="41" name="AutoShape 41"/>
          <p:cNvSpPr/>
          <p:nvPr/>
        </p:nvSpPr>
        <p:spPr>
          <a:xfrm>
            <a:off x="8572500" y="5435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latin typeface="Noto Serif SC"/>
                <a:ea typeface="Noto Serif SC"/>
                <a:cs typeface="Noto Serif SC"/>
              </a:defRPr>
            </a:pPr>
            <a:r>
              <a:rPr lang="en-US" sz="1300" b="0" i="0" u="none" strike="noStrike">
                <a:latin typeface="思源宋体" panose="02020400000000000000" pitchFamily="18" charset="-122"/>
                <a:ea typeface="思源宋体" panose="02020400000000000000" pitchFamily="18" charset="-122"/>
                <a:sym typeface="Noto Sans SC" panose="020B0200000000000000" charset="-122"/>
              </a:rPr>
              <a:t>提供用户活跃度、内容发布量等多维度数据报表，辅助运营决策。</a:t>
            </a:r>
            <a:endParaRPr lang="en-US" sz="1100">
              <a:latin typeface="思源宋体" panose="02020400000000000000" pitchFamily="18" charset="-122"/>
              <a:ea typeface="思源宋体" panose="02020400000000000000" pitchFamily="18" charset="-122"/>
              <a:cs typeface="Noto Serif SC"/>
            </a:endParaRPr>
          </a:p>
        </p:txBody>
      </p:sp>
      <p:sp>
        <p:nvSpPr>
          <p:cNvPr id="43" name="Line 5"/>
          <p:cNvSpPr/>
          <p:nvPr/>
        </p:nvSpPr>
        <p:spPr>
          <a:xfrm>
            <a:off x="507365" y="762000"/>
            <a:ext cx="6430645" cy="80645"/>
          </a:xfrm>
          <a:custGeom>
            <a:avLst/>
            <a:gdLst/>
            <a:ahLst/>
            <a:cxnLst/>
            <a:rect l="l" t="t" r="r" b="b"/>
            <a:pathLst>
              <a:path w="4762500" h="9525">
                <a:moveTo>
                  <a:pt x="0" y="0"/>
                </a:moveTo>
                <a:lnTo>
                  <a:pt x="4762500" y="0"/>
                </a:lnTo>
              </a:path>
            </a:pathLst>
          </a:custGeom>
          <a:noFill/>
          <a:ln w="19050">
            <a:solidFill>
              <a:srgbClr val="E6C46D"/>
            </a:solidFill>
          </a:ln>
        </p:spPr>
        <p:txBody>
          <a:bodyPr/>
          <a:lstStyle/>
          <a:p>
            <a:endParaRPr lang="zh-CN" altLang="en-US">
              <a:latin typeface="Noto Serif SC"/>
              <a:ea typeface="Noto Serif SC"/>
              <a:cs typeface="Noto Serif SC"/>
            </a:endParaRPr>
          </a:p>
        </p:txBody>
      </p:sp>
    </p:spTree>
    <p:extLst>
      <p:ext uri="{BB962C8B-B14F-4D97-AF65-F5344CB8AC3E}">
        <p14:creationId xmlns:p14="http://schemas.microsoft.com/office/powerpoint/2010/main" val="237285518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9"/>
          <p:cNvSpPr/>
          <p:nvPr/>
        </p:nvSpPr>
        <p:spPr>
          <a:xfrm>
            <a:off x="11011535" y="4295775"/>
            <a:ext cx="889000" cy="889000"/>
          </a:xfrm>
          <a:prstGeom prst="roundRect">
            <a:avLst>
              <a:gd name="adj" fmla="val 28571"/>
            </a:avLst>
          </a:prstGeom>
          <a:solidFill>
            <a:srgbClr val="FDF2F8">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sp>
        <p:nvSpPr>
          <p:cNvPr id="45" name="Rectangle 3"/>
          <p:cNvSpPr/>
          <p:nvPr/>
        </p:nvSpPr>
        <p:spPr>
          <a:xfrm>
            <a:off x="0" y="0"/>
            <a:ext cx="12192000" cy="857250"/>
          </a:xfrm>
          <a:prstGeom prst="rect">
            <a:avLst/>
          </a:prstGeom>
          <a:solidFill>
            <a:srgbClr val="004E97">
              <a:alpha val="6000"/>
            </a:srgbClr>
          </a:solidFill>
          <a:ln>
            <a:noFill/>
          </a:ln>
        </p:spPr>
      </p:sp>
      <p:sp>
        <p:nvSpPr>
          <p:cNvPr id="47" name="文本框 46"/>
          <p:cNvSpPr txBox="1"/>
          <p:nvPr/>
        </p:nvSpPr>
        <p:spPr>
          <a:xfrm>
            <a:off x="492125" y="152400"/>
            <a:ext cx="6096000" cy="553998"/>
          </a:xfrm>
          <a:prstGeom prst="rect">
            <a:avLst/>
          </a:prstGeom>
          <a:noFill/>
        </p:spPr>
        <p:txBody>
          <a:bodyPr wrap="square" rtlCol="0" anchor="t">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需求分析 · 用例图</a:t>
            </a:r>
          </a:p>
        </p:txBody>
      </p:sp>
      <p:pic>
        <p:nvPicPr>
          <p:cNvPr id="126728348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327785" y="1035685"/>
            <a:ext cx="9535795" cy="5432425"/>
          </a:xfrm>
          <a:prstGeom prst="rect">
            <a:avLst/>
          </a:prstGeom>
          <a:noFill/>
          <a:ln>
            <a:noFill/>
          </a:ln>
        </p:spPr>
      </p:pic>
      <p:sp>
        <p:nvSpPr>
          <p:cNvPr id="4" name="AutoShape 4"/>
          <p:cNvSpPr/>
          <p:nvPr/>
        </p:nvSpPr>
        <p:spPr>
          <a:xfrm>
            <a:off x="290830" y="4003675"/>
            <a:ext cx="889000" cy="889000"/>
          </a:xfrm>
          <a:prstGeom prst="roundRect">
            <a:avLst>
              <a:gd name="adj" fmla="val 2857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latin typeface="Noto Serif SC"/>
                <a:ea typeface="Noto Serif SC"/>
                <a:cs typeface="Noto Serif SC"/>
              </a:defRPr>
            </a:pPr>
            <a:endParaRPr>
              <a:latin typeface="Noto Serif SC"/>
              <a:ea typeface="Noto Serif SC"/>
              <a:cs typeface="Noto Serif SC"/>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2125" y="4219575"/>
            <a:ext cx="457200" cy="457200"/>
          </a:xfrm>
          <a:prstGeom prst="rect">
            <a:avLst/>
          </a:prstGeom>
        </p:spPr>
      </p:pic>
      <p:sp>
        <p:nvSpPr>
          <p:cNvPr id="7" name="AutoShape 7"/>
          <p:cNvSpPr/>
          <p:nvPr/>
        </p:nvSpPr>
        <p:spPr>
          <a:xfrm>
            <a:off x="290830" y="4829175"/>
            <a:ext cx="2014855" cy="157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latin typeface="Noto Serif SC"/>
                <a:ea typeface="Noto Serif SC"/>
                <a:cs typeface="Noto Serif SC"/>
              </a:defRPr>
            </a:pPr>
            <a:r>
              <a:rPr lang="en-US" b="0" i="0" u="none" strike="noStrike" dirty="0" err="1">
                <a:latin typeface="思源宋体" panose="02020400000000000000" pitchFamily="18" charset="-122"/>
                <a:ea typeface="思源宋体" panose="02020400000000000000" pitchFamily="18" charset="-122"/>
                <a:sym typeface="Noto Sans SC" panose="020B0200000000000000" charset="-122"/>
              </a:rPr>
              <a:t>核心操作：浏览公开内容、精准搜索资源、发布互动评论、收藏感兴趣内容、管理个人资料与偏好</a:t>
            </a:r>
            <a:r>
              <a:rPr lang="en-US" b="0" i="0" u="none" strike="noStrike" dirty="0">
                <a:latin typeface="思源宋体" panose="02020400000000000000" pitchFamily="18" charset="-122"/>
                <a:ea typeface="思源宋体" panose="02020400000000000000" pitchFamily="18" charset="-122"/>
                <a:sym typeface="Noto Sans SC" panose="020B0200000000000000" charset="-122"/>
              </a:rPr>
              <a:t>。</a:t>
            </a:r>
            <a:endParaRPr lang="en-US" sz="1200" dirty="0">
              <a:latin typeface="思源宋体" panose="02020400000000000000" pitchFamily="18" charset="-122"/>
              <a:ea typeface="思源宋体" panose="02020400000000000000" pitchFamily="18" charset="-122"/>
              <a:cs typeface="Noto Serif SC"/>
            </a:endParaRPr>
          </a:p>
        </p:txBody>
      </p:sp>
      <p:sp>
        <p:nvSpPr>
          <p:cNvPr id="2" name="文本框 1"/>
          <p:cNvSpPr txBox="1"/>
          <p:nvPr/>
        </p:nvSpPr>
        <p:spPr>
          <a:xfrm>
            <a:off x="10248064" y="2326005"/>
            <a:ext cx="1749425" cy="1677670"/>
          </a:xfrm>
          <a:prstGeom prst="rect">
            <a:avLst/>
          </a:prstGeom>
          <a:noFill/>
        </p:spPr>
        <p:txBody>
          <a:bodyPr wrap="square" rtlCol="0" anchor="t">
            <a:noAutofit/>
          </a:bodyPr>
          <a:lstStyle/>
          <a:p>
            <a:pPr indent="0" algn="l">
              <a:lnSpc>
                <a:spcPct val="125000"/>
              </a:lnSpc>
              <a:defRPr>
                <a:latin typeface="Noto Serif SC"/>
                <a:ea typeface="Noto Serif SC"/>
                <a:cs typeface="Noto Serif SC"/>
              </a:defRPr>
            </a:pPr>
            <a:r>
              <a:rPr lang="en-US" dirty="0" err="1">
                <a:latin typeface="思源宋体" panose="02020400000000000000" pitchFamily="18" charset="-122"/>
                <a:ea typeface="思源宋体" panose="02020400000000000000" pitchFamily="18" charset="-122"/>
                <a:sym typeface="Noto Sans SC" panose="020B0200000000000000" charset="-122"/>
              </a:rPr>
              <a:t>核心职责：全平台用户信息管理、内容审核与发布、系统基础配置维护、业务数据统计分析、角色权限分配管控</a:t>
            </a:r>
            <a:r>
              <a:rPr lang="en-US" dirty="0">
                <a:latin typeface="思源宋体" panose="02020400000000000000" pitchFamily="18" charset="-122"/>
                <a:ea typeface="思源宋体" panose="02020400000000000000" pitchFamily="18" charset="-122"/>
                <a:sym typeface="Noto Sans SC" panose="020B0200000000000000" charset="-122"/>
              </a:rPr>
              <a:t>。</a:t>
            </a:r>
            <a:endParaRPr lang="en-US" altLang="en-US" dirty="0">
              <a:solidFill>
                <a:srgbClr val="475569"/>
              </a:solidFill>
              <a:latin typeface="思源宋体" panose="02020400000000000000" pitchFamily="18" charset="-122"/>
              <a:ea typeface="思源宋体" panose="02020400000000000000" pitchFamily="18" charset="-122"/>
              <a:sym typeface="Noto Sans SC" panose="020B0200000000000000" charset="-122"/>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42040" y="4511675"/>
            <a:ext cx="457200" cy="457200"/>
          </a:xfrm>
          <a:prstGeom prst="rect">
            <a:avLst/>
          </a:prstGeom>
        </p:spPr>
      </p:pic>
    </p:spTree>
    <p:extLst>
      <p:ext uri="{BB962C8B-B14F-4D97-AF65-F5344CB8AC3E}">
        <p14:creationId xmlns:p14="http://schemas.microsoft.com/office/powerpoint/2010/main" val="37484269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设计思路</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7" name="矩形 6"/>
          <p:cNvSpPr>
            <a:spLocks noGrp="1"/>
          </p:cNvSpPr>
          <p:nvPr/>
        </p:nvSpPr>
        <p:spPr>
          <a:xfrm>
            <a:off x="885825" y="1162050"/>
            <a:ext cx="103441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3F4A57"/>
                </a:solidFill>
                <a:latin typeface="Noto Serif SC"/>
                <a:ea typeface="Noto Serif SC"/>
                <a:cs typeface="Noto Serif SC"/>
              </a:defRPr>
            </a:pPr>
            <a:r>
              <a:rPr lang="zh-CN" sz="1600" b="0" dirty="0">
                <a:solidFill>
                  <a:srgbClr val="3F4A57"/>
                </a:solidFill>
                <a:latin typeface="思源宋体" panose="02020400000000000000" pitchFamily="18" charset="-122"/>
                <a:ea typeface="思源宋体" panose="02020400000000000000" pitchFamily="18" charset="-122"/>
                <a:cs typeface="Noto Serif SC"/>
              </a:rPr>
              <a:t>采用三层结构，从</a:t>
            </a:r>
            <a:r>
              <a:rPr sz="1600" b="0" dirty="0" err="1">
                <a:solidFill>
                  <a:srgbClr val="3F4A57"/>
                </a:solidFill>
                <a:latin typeface="思源宋体" panose="02020400000000000000" pitchFamily="18" charset="-122"/>
                <a:ea typeface="思源宋体" panose="02020400000000000000" pitchFamily="18" charset="-122"/>
                <a:cs typeface="Noto Serif SC"/>
              </a:rPr>
              <a:t>分层、模块、接口、数据</a:t>
            </a:r>
            <a:r>
              <a:rPr lang="zh-CN" sz="1600" b="0" dirty="0">
                <a:solidFill>
                  <a:srgbClr val="3F4A57"/>
                </a:solidFill>
                <a:latin typeface="思源宋体" panose="02020400000000000000" pitchFamily="18" charset="-122"/>
                <a:ea typeface="思源宋体" panose="02020400000000000000" pitchFamily="18" charset="-122"/>
                <a:cs typeface="Noto Serif SC"/>
              </a:rPr>
              <a:t>四个方面约束：</a:t>
            </a:r>
          </a:p>
        </p:txBody>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1" name="圆角矩形 10"/>
          <p:cNvSpPr>
            <a:spLocks noGrp="1"/>
          </p:cNvSpPr>
          <p:nvPr>
            <p:custDataLst>
              <p:tags r:id="rId1"/>
            </p:custDataLst>
          </p:nvPr>
        </p:nvSpPr>
        <p:spPr>
          <a:xfrm>
            <a:off x="666750" y="1943100"/>
            <a:ext cx="5810250" cy="800100"/>
          </a:xfrm>
          <a:prstGeom prst="roundRect">
            <a:avLst>
              <a:gd name="adj" fmla="val 9524"/>
            </a:avLst>
          </a:prstGeom>
          <a:solidFill>
            <a:srgbClr val="F8E9EE"/>
          </a:solidFill>
          <a:ln w="13335">
            <a:solidFill>
              <a:srgbClr val="E74C4C"/>
            </a:solidFill>
            <a:prstDash val="solid"/>
          </a:ln>
        </p:spPr>
        <p:txBody>
          <a:bodyPr/>
          <a:lstStyle/>
          <a:p>
            <a:endParaRPr lang="zh-CN" altLang="en-US">
              <a:latin typeface="Noto Serif SC"/>
              <a:ea typeface="Noto Serif SC"/>
              <a:cs typeface="Noto Serif SC"/>
            </a:endParaRPr>
          </a:p>
        </p:txBody>
      </p:sp>
      <p:sp>
        <p:nvSpPr>
          <p:cNvPr id="12" name="矩形 11"/>
          <p:cNvSpPr>
            <a:spLocks noGrp="1"/>
          </p:cNvSpPr>
          <p:nvPr>
            <p:custDataLst>
              <p:tags r:id="rId2"/>
            </p:custDataLst>
          </p:nvPr>
        </p:nvSpPr>
        <p:spPr>
          <a:xfrm>
            <a:off x="800100" y="2057400"/>
            <a:ext cx="5543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ans SC"/>
                <a:ea typeface="Noto Sans SC"/>
                <a:cs typeface="Noto Sans SC"/>
              </a:defRPr>
            </a:pPr>
            <a:r>
              <a:rPr sz="1600" b="1">
                <a:solidFill>
                  <a:srgbClr val="E74C4C"/>
                </a:solidFill>
                <a:latin typeface="思源黑体 CN" panose="020B0500000000000000" pitchFamily="34" charset="-122"/>
                <a:ea typeface="思源黑体 CN" panose="020B0500000000000000" pitchFamily="34" charset="-122"/>
                <a:cs typeface="Noto Sans SC"/>
              </a:rPr>
              <a:t>表示层</a:t>
            </a:r>
          </a:p>
        </p:txBody>
      </p:sp>
      <p:sp>
        <p:nvSpPr>
          <p:cNvPr id="13" name="矩形 12"/>
          <p:cNvSpPr>
            <a:spLocks noGrp="1"/>
          </p:cNvSpPr>
          <p:nvPr>
            <p:custDataLst>
              <p:tags r:id="rId3"/>
            </p:custDataLst>
          </p:nvPr>
        </p:nvSpPr>
        <p:spPr>
          <a:xfrm>
            <a:off x="800100" y="2343150"/>
            <a:ext cx="55435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dirty="0" err="1">
                <a:solidFill>
                  <a:srgbClr val="5F6875"/>
                </a:solidFill>
                <a:latin typeface="思源宋体" panose="02020400000000000000" pitchFamily="18" charset="-122"/>
                <a:ea typeface="思源宋体" panose="02020400000000000000" pitchFamily="18" charset="-122"/>
                <a:cs typeface="Noto Serif SC"/>
              </a:rPr>
              <a:t>页面路由</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搜索筛选</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评论交互</a:t>
            </a:r>
            <a:r>
              <a:rPr sz="1400" b="0" dirty="0">
                <a:solidFill>
                  <a:srgbClr val="5F6875"/>
                </a:solidFill>
                <a:latin typeface="思源宋体" panose="02020400000000000000" pitchFamily="18" charset="-122"/>
                <a:ea typeface="思源宋体" panose="02020400000000000000" pitchFamily="18" charset="-122"/>
                <a:cs typeface="Noto Serif SC"/>
              </a:rPr>
              <a:t> / </a:t>
            </a:r>
            <a:r>
              <a:rPr sz="1400" b="0" dirty="0" err="1">
                <a:solidFill>
                  <a:srgbClr val="5F6875"/>
                </a:solidFill>
                <a:latin typeface="思源宋体" panose="02020400000000000000" pitchFamily="18" charset="-122"/>
                <a:ea typeface="思源宋体" panose="02020400000000000000" pitchFamily="18" charset="-122"/>
                <a:cs typeface="Noto Serif SC"/>
              </a:rPr>
              <a:t>后台界面</a:t>
            </a:r>
            <a:endParaRPr sz="1400" b="0" dirty="0">
              <a:solidFill>
                <a:srgbClr val="5F6875"/>
              </a:solidFill>
              <a:latin typeface="思源宋体" panose="02020400000000000000" pitchFamily="18" charset="-122"/>
              <a:ea typeface="思源宋体" panose="02020400000000000000" pitchFamily="18" charset="-122"/>
              <a:cs typeface="Noto Serif SC"/>
            </a:endParaRPr>
          </a:p>
        </p:txBody>
      </p:sp>
      <p:sp>
        <p:nvSpPr>
          <p:cNvPr id="14" name="矩形 13"/>
          <p:cNvSpPr>
            <a:spLocks noGrp="1"/>
          </p:cNvSpPr>
          <p:nvPr>
            <p:custDataLst>
              <p:tags r:id="rId4"/>
            </p:custDataLst>
          </p:nvPr>
        </p:nvSpPr>
        <p:spPr>
          <a:xfrm>
            <a:off x="3524250" y="2743200"/>
            <a:ext cx="38100" cy="266700"/>
          </a:xfrm>
          <a:prstGeom prst="rect">
            <a:avLst/>
          </a:prstGeom>
          <a:solidFill>
            <a:srgbClr val="E74C4C"/>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5" name="圆角矩形 14"/>
          <p:cNvSpPr>
            <a:spLocks noGrp="1"/>
          </p:cNvSpPr>
          <p:nvPr>
            <p:custDataLst>
              <p:tags r:id="rId5"/>
            </p:custDataLst>
          </p:nvPr>
        </p:nvSpPr>
        <p:spPr>
          <a:xfrm>
            <a:off x="838200" y="2819400"/>
            <a:ext cx="5467350" cy="800100"/>
          </a:xfrm>
          <a:prstGeom prst="roundRect">
            <a:avLst>
              <a:gd name="adj" fmla="val 9524"/>
            </a:avLst>
          </a:prstGeom>
          <a:solidFill>
            <a:srgbClr val="E9EEF5"/>
          </a:solidFill>
          <a:ln w="13335">
            <a:solidFill>
              <a:srgbClr val="17324D"/>
            </a:solidFill>
            <a:prstDash val="solid"/>
          </a:ln>
        </p:spPr>
        <p:txBody>
          <a:bodyPr/>
          <a:lstStyle/>
          <a:p>
            <a:endParaRPr lang="zh-CN" altLang="en-US">
              <a:latin typeface="Noto Serif SC"/>
              <a:ea typeface="Noto Serif SC"/>
              <a:cs typeface="Noto Serif SC"/>
            </a:endParaRPr>
          </a:p>
        </p:txBody>
      </p:sp>
      <p:sp>
        <p:nvSpPr>
          <p:cNvPr id="16" name="矩形 15"/>
          <p:cNvSpPr>
            <a:spLocks noGrp="1"/>
          </p:cNvSpPr>
          <p:nvPr>
            <p:custDataLst>
              <p:tags r:id="rId6"/>
            </p:custDataLst>
          </p:nvPr>
        </p:nvSpPr>
        <p:spPr>
          <a:xfrm>
            <a:off x="971550" y="2933700"/>
            <a:ext cx="5200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ans SC"/>
                <a:ea typeface="Noto Sans SC"/>
                <a:cs typeface="Noto Sans SC"/>
              </a:defRPr>
            </a:pPr>
            <a:r>
              <a:rPr sz="1600" b="1">
                <a:solidFill>
                  <a:srgbClr val="17324D"/>
                </a:solidFill>
                <a:latin typeface="思源黑体 CN" panose="020B0500000000000000" pitchFamily="34" charset="-122"/>
                <a:ea typeface="思源黑体 CN" panose="020B0500000000000000" pitchFamily="34" charset="-122"/>
                <a:cs typeface="Noto Sans SC"/>
              </a:rPr>
              <a:t>业务逻辑层</a:t>
            </a:r>
          </a:p>
        </p:txBody>
      </p:sp>
      <p:sp>
        <p:nvSpPr>
          <p:cNvPr id="17" name="矩形 16"/>
          <p:cNvSpPr>
            <a:spLocks noGrp="1"/>
          </p:cNvSpPr>
          <p:nvPr>
            <p:custDataLst>
              <p:tags r:id="rId7"/>
            </p:custDataLst>
          </p:nvPr>
        </p:nvSpPr>
        <p:spPr>
          <a:xfrm>
            <a:off x="971550" y="3219450"/>
            <a:ext cx="52006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鉴权 / 窗口 / 评价 / 排行 / 推荐 / 管理</a:t>
            </a:r>
          </a:p>
        </p:txBody>
      </p:sp>
      <p:sp>
        <p:nvSpPr>
          <p:cNvPr id="18" name="矩形 17"/>
          <p:cNvSpPr>
            <a:spLocks noGrp="1"/>
          </p:cNvSpPr>
          <p:nvPr>
            <p:custDataLst>
              <p:tags r:id="rId8"/>
            </p:custDataLst>
          </p:nvPr>
        </p:nvSpPr>
        <p:spPr>
          <a:xfrm>
            <a:off x="3524250" y="3619500"/>
            <a:ext cx="38100" cy="266700"/>
          </a:xfrm>
          <a:prstGeom prst="rect">
            <a:avLst/>
          </a:prstGeom>
          <a:solidFill>
            <a:srgbClr val="17324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19" name="圆角矩形 18"/>
          <p:cNvSpPr>
            <a:spLocks noGrp="1"/>
          </p:cNvSpPr>
          <p:nvPr>
            <p:custDataLst>
              <p:tags r:id="rId9"/>
            </p:custDataLst>
          </p:nvPr>
        </p:nvSpPr>
        <p:spPr>
          <a:xfrm>
            <a:off x="1009650" y="3695700"/>
            <a:ext cx="5124450" cy="800100"/>
          </a:xfrm>
          <a:prstGeom prst="roundRect">
            <a:avLst>
              <a:gd name="adj" fmla="val 9524"/>
            </a:avLst>
          </a:prstGeom>
          <a:solidFill>
            <a:srgbClr val="E5F5F3"/>
          </a:solidFill>
          <a:ln w="13335">
            <a:solidFill>
              <a:srgbClr val="1D9A8A"/>
            </a:solidFill>
            <a:prstDash val="solid"/>
          </a:ln>
        </p:spPr>
        <p:txBody>
          <a:bodyPr/>
          <a:lstStyle/>
          <a:p>
            <a:endParaRPr lang="zh-CN" altLang="en-US">
              <a:latin typeface="Noto Serif SC"/>
              <a:ea typeface="Noto Serif SC"/>
              <a:cs typeface="Noto Serif SC"/>
            </a:endParaRPr>
          </a:p>
        </p:txBody>
      </p:sp>
      <p:sp>
        <p:nvSpPr>
          <p:cNvPr id="20" name="矩形 19"/>
          <p:cNvSpPr>
            <a:spLocks noGrp="1"/>
          </p:cNvSpPr>
          <p:nvPr>
            <p:custDataLst>
              <p:tags r:id="rId10"/>
            </p:custDataLst>
          </p:nvPr>
        </p:nvSpPr>
        <p:spPr>
          <a:xfrm>
            <a:off x="1143000" y="3810000"/>
            <a:ext cx="4857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ans SC"/>
                <a:ea typeface="Noto Sans SC"/>
                <a:cs typeface="Noto Sans SC"/>
              </a:defRPr>
            </a:pPr>
            <a:r>
              <a:rPr sz="1600" b="1">
                <a:solidFill>
                  <a:srgbClr val="1D9A8A"/>
                </a:solidFill>
                <a:latin typeface="思源黑体 CN" panose="020B0500000000000000" pitchFamily="34" charset="-122"/>
                <a:ea typeface="思源黑体 CN" panose="020B0500000000000000" pitchFamily="34" charset="-122"/>
                <a:cs typeface="Noto Sans SC"/>
              </a:rPr>
              <a:t>数据访问层</a:t>
            </a:r>
          </a:p>
        </p:txBody>
      </p:sp>
      <p:sp>
        <p:nvSpPr>
          <p:cNvPr id="21" name="矩形 20"/>
          <p:cNvSpPr>
            <a:spLocks noGrp="1"/>
          </p:cNvSpPr>
          <p:nvPr>
            <p:custDataLst>
              <p:tags r:id="rId11"/>
            </p:custDataLst>
          </p:nvPr>
        </p:nvSpPr>
        <p:spPr>
          <a:xfrm>
            <a:off x="1143000" y="4095750"/>
            <a:ext cx="48577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SQL 封装 / 统一读写 / 统计回算</a:t>
            </a:r>
          </a:p>
        </p:txBody>
      </p:sp>
      <p:sp>
        <p:nvSpPr>
          <p:cNvPr id="22" name="矩形 21"/>
          <p:cNvSpPr>
            <a:spLocks noGrp="1"/>
          </p:cNvSpPr>
          <p:nvPr>
            <p:custDataLst>
              <p:tags r:id="rId12"/>
            </p:custDataLst>
          </p:nvPr>
        </p:nvSpPr>
        <p:spPr>
          <a:xfrm>
            <a:off x="3524250" y="4495800"/>
            <a:ext cx="38100" cy="266700"/>
          </a:xfrm>
          <a:prstGeom prst="rect">
            <a:avLst/>
          </a:prstGeom>
          <a:solidFill>
            <a:srgbClr val="1D9A8A"/>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23" name="圆角矩形 22"/>
          <p:cNvSpPr>
            <a:spLocks noGrp="1"/>
          </p:cNvSpPr>
          <p:nvPr>
            <p:custDataLst>
              <p:tags r:id="rId13"/>
            </p:custDataLst>
          </p:nvPr>
        </p:nvSpPr>
        <p:spPr>
          <a:xfrm>
            <a:off x="1181100" y="4572000"/>
            <a:ext cx="4781550" cy="800100"/>
          </a:xfrm>
          <a:prstGeom prst="roundRect">
            <a:avLst>
              <a:gd name="adj" fmla="val 9524"/>
            </a:avLst>
          </a:prstGeom>
          <a:solidFill>
            <a:srgbClr val="FFF2D6"/>
          </a:solidFill>
          <a:ln w="13335">
            <a:solidFill>
              <a:srgbClr val="D99A23"/>
            </a:solidFill>
            <a:prstDash val="solid"/>
          </a:ln>
        </p:spPr>
        <p:txBody>
          <a:bodyPr/>
          <a:lstStyle/>
          <a:p>
            <a:endParaRPr lang="zh-CN" altLang="en-US">
              <a:latin typeface="Noto Serif SC"/>
              <a:ea typeface="Noto Serif SC"/>
              <a:cs typeface="Noto Serif SC"/>
            </a:endParaRPr>
          </a:p>
        </p:txBody>
      </p:sp>
      <p:sp>
        <p:nvSpPr>
          <p:cNvPr id="24" name="矩形 23"/>
          <p:cNvSpPr>
            <a:spLocks noGrp="1"/>
          </p:cNvSpPr>
          <p:nvPr>
            <p:custDataLst>
              <p:tags r:id="rId14"/>
            </p:custDataLst>
          </p:nvPr>
        </p:nvSpPr>
        <p:spPr>
          <a:xfrm>
            <a:off x="1314450" y="4686300"/>
            <a:ext cx="4514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D99A23"/>
                </a:solidFill>
                <a:latin typeface="Noto Sans SC"/>
                <a:ea typeface="Noto Sans SC"/>
                <a:cs typeface="Noto Sans SC"/>
              </a:defRPr>
            </a:pPr>
            <a:r>
              <a:rPr sz="1600" b="1">
                <a:solidFill>
                  <a:srgbClr val="D99A23"/>
                </a:solidFill>
                <a:latin typeface="思源黑体 CN" panose="020B0500000000000000" pitchFamily="34" charset="-122"/>
                <a:ea typeface="思源黑体 CN" panose="020B0500000000000000" pitchFamily="34" charset="-122"/>
                <a:cs typeface="Noto Sans SC"/>
              </a:rPr>
              <a:t>SQLite 数据库</a:t>
            </a:r>
          </a:p>
        </p:txBody>
      </p:sp>
      <p:sp>
        <p:nvSpPr>
          <p:cNvPr id="25" name="矩形 24"/>
          <p:cNvSpPr>
            <a:spLocks noGrp="1"/>
          </p:cNvSpPr>
          <p:nvPr>
            <p:custDataLst>
              <p:tags r:id="rId15"/>
            </p:custDataLst>
          </p:nvPr>
        </p:nvSpPr>
        <p:spPr>
          <a:xfrm>
            <a:off x="1314450" y="4972050"/>
            <a:ext cx="45148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050" b="0">
                <a:solidFill>
                  <a:srgbClr val="5F6875"/>
                </a:solidFill>
                <a:latin typeface="Noto Serif SC"/>
                <a:ea typeface="Noto Serif SC"/>
                <a:cs typeface="Noto Serif SC"/>
              </a:defRPr>
            </a:pPr>
            <a:r>
              <a:rPr sz="1400" b="0">
                <a:solidFill>
                  <a:srgbClr val="5F6875"/>
                </a:solidFill>
                <a:latin typeface="思源宋体" panose="02020400000000000000" pitchFamily="18" charset="-122"/>
                <a:ea typeface="思源宋体" panose="02020400000000000000" pitchFamily="18" charset="-122"/>
                <a:cs typeface="Noto Serif SC"/>
              </a:rPr>
              <a:t>用户 / 食堂 / 窗口 / 标签 / 评论 / 行为</a:t>
            </a:r>
          </a:p>
        </p:txBody>
      </p:sp>
      <p:sp>
        <p:nvSpPr>
          <p:cNvPr id="26" name="圆角矩形 25"/>
          <p:cNvSpPr>
            <a:spLocks noGrp="1"/>
          </p:cNvSpPr>
          <p:nvPr/>
        </p:nvSpPr>
        <p:spPr>
          <a:xfrm>
            <a:off x="7209790" y="1695450"/>
            <a:ext cx="3838575"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27" name="矩形 26"/>
          <p:cNvSpPr>
            <a:spLocks noGrp="1"/>
          </p:cNvSpPr>
          <p:nvPr>
            <p:custDataLst>
              <p:tags r:id="rId16"/>
            </p:custDataLst>
          </p:nvPr>
        </p:nvSpPr>
        <p:spPr>
          <a:xfrm>
            <a:off x="7143750" y="1695450"/>
            <a:ext cx="66675" cy="781050"/>
          </a:xfrm>
          <a:prstGeom prst="rect">
            <a:avLst/>
          </a:prstGeom>
          <a:solidFill>
            <a:srgbClr val="E74C4C"/>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28" name="矩形 27"/>
          <p:cNvSpPr>
            <a:spLocks noGrp="1"/>
          </p:cNvSpPr>
          <p:nvPr>
            <p:custDataLst>
              <p:tags r:id="rId17"/>
            </p:custDataLst>
          </p:nvPr>
        </p:nvSpPr>
        <p:spPr>
          <a:xfrm>
            <a:off x="7334249" y="1733549"/>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dirty="0" err="1">
                <a:solidFill>
                  <a:srgbClr val="172033"/>
                </a:solidFill>
                <a:latin typeface="思源黑体 CN" panose="020B0500000000000000" pitchFamily="34" charset="-122"/>
                <a:ea typeface="思源黑体 CN" panose="020B0500000000000000" pitchFamily="34" charset="-122"/>
                <a:cs typeface="Noto Serif SC"/>
              </a:rPr>
              <a:t>分层</a:t>
            </a:r>
            <a:endParaRPr sz="1600" dirty="0">
              <a:solidFill>
                <a:srgbClr val="172033"/>
              </a:solidFill>
              <a:latin typeface="思源黑体 CN" panose="020B0500000000000000" pitchFamily="34" charset="-122"/>
              <a:ea typeface="思源黑体 CN" panose="020B0500000000000000" pitchFamily="34" charset="-122"/>
              <a:cs typeface="Noto Serif SC"/>
            </a:endParaRPr>
          </a:p>
        </p:txBody>
      </p:sp>
      <p:sp>
        <p:nvSpPr>
          <p:cNvPr id="29" name="矩形 28"/>
          <p:cNvSpPr>
            <a:spLocks noGrp="1"/>
          </p:cNvSpPr>
          <p:nvPr/>
        </p:nvSpPr>
        <p:spPr>
          <a:xfrm>
            <a:off x="7372350" y="1989722"/>
            <a:ext cx="3609338"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页面不直接访问数据库；业务规则集中在服务层</a:t>
            </a:r>
            <a:r>
              <a:rPr sz="1400" b="0" dirty="0">
                <a:solidFill>
                  <a:srgbClr val="172033"/>
                </a:solidFill>
                <a:latin typeface="思源宋体" panose="02020400000000000000" pitchFamily="18" charset="-122"/>
                <a:ea typeface="思源宋体" panose="02020400000000000000" pitchFamily="18" charset="-122"/>
                <a:cs typeface="Noto Serif SC"/>
              </a:rPr>
              <a:t>。</a:t>
            </a:r>
          </a:p>
        </p:txBody>
      </p:sp>
      <p:sp>
        <p:nvSpPr>
          <p:cNvPr id="30" name="圆角矩形 29"/>
          <p:cNvSpPr>
            <a:spLocks noGrp="1"/>
          </p:cNvSpPr>
          <p:nvPr/>
        </p:nvSpPr>
        <p:spPr>
          <a:xfrm>
            <a:off x="7143750" y="278130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31" name="矩形 30"/>
          <p:cNvSpPr>
            <a:spLocks noGrp="1"/>
          </p:cNvSpPr>
          <p:nvPr>
            <p:custDataLst>
              <p:tags r:id="rId18"/>
            </p:custDataLst>
          </p:nvPr>
        </p:nvSpPr>
        <p:spPr>
          <a:xfrm>
            <a:off x="7143750" y="2781300"/>
            <a:ext cx="66675" cy="781050"/>
          </a:xfrm>
          <a:prstGeom prst="rect">
            <a:avLst/>
          </a:prstGeom>
          <a:solidFill>
            <a:srgbClr val="17324D"/>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32" name="矩形 31"/>
          <p:cNvSpPr>
            <a:spLocks noGrp="1"/>
          </p:cNvSpPr>
          <p:nvPr>
            <p:custDataLst>
              <p:tags r:id="rId19"/>
            </p:custDataLst>
          </p:nvPr>
        </p:nvSpPr>
        <p:spPr>
          <a:xfrm>
            <a:off x="7334249" y="2847975"/>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模块</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33" name="矩形 32"/>
          <p:cNvSpPr>
            <a:spLocks noGrp="1"/>
          </p:cNvSpPr>
          <p:nvPr/>
        </p:nvSpPr>
        <p:spPr>
          <a:xfrm>
            <a:off x="7334250" y="3208922"/>
            <a:ext cx="3562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认证、窗口、评价、排行、推荐、管理分离</a:t>
            </a:r>
            <a:r>
              <a:rPr sz="1400" b="0" dirty="0">
                <a:solidFill>
                  <a:srgbClr val="172033"/>
                </a:solidFill>
                <a:latin typeface="思源宋体" panose="02020400000000000000" pitchFamily="18" charset="-122"/>
                <a:ea typeface="思源宋体" panose="02020400000000000000" pitchFamily="18" charset="-122"/>
                <a:cs typeface="Noto Serif SC"/>
              </a:rPr>
              <a:t>。</a:t>
            </a:r>
          </a:p>
        </p:txBody>
      </p:sp>
      <p:sp>
        <p:nvSpPr>
          <p:cNvPr id="34" name="圆角矩形 33"/>
          <p:cNvSpPr>
            <a:spLocks noGrp="1"/>
          </p:cNvSpPr>
          <p:nvPr/>
        </p:nvSpPr>
        <p:spPr>
          <a:xfrm>
            <a:off x="7143750" y="375285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思源黑体 CN" panose="020B0500000000000000" pitchFamily="34" charset="-122"/>
              <a:ea typeface="思源黑体 CN" panose="020B0500000000000000" pitchFamily="34" charset="-122"/>
              <a:cs typeface="Noto Serif SC"/>
            </a:endParaRPr>
          </a:p>
        </p:txBody>
      </p:sp>
      <p:sp>
        <p:nvSpPr>
          <p:cNvPr id="35" name="矩形 34"/>
          <p:cNvSpPr>
            <a:spLocks noGrp="1"/>
          </p:cNvSpPr>
          <p:nvPr>
            <p:custDataLst>
              <p:tags r:id="rId20"/>
            </p:custDataLst>
          </p:nvPr>
        </p:nvSpPr>
        <p:spPr>
          <a:xfrm>
            <a:off x="7143750" y="3752850"/>
            <a:ext cx="66675" cy="781050"/>
          </a:xfrm>
          <a:prstGeom prst="rect">
            <a:avLst/>
          </a:prstGeom>
          <a:solidFill>
            <a:srgbClr val="1D9A8A"/>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36" name="矩形 35"/>
          <p:cNvSpPr>
            <a:spLocks noGrp="1"/>
          </p:cNvSpPr>
          <p:nvPr>
            <p:custDataLst>
              <p:tags r:id="rId21"/>
            </p:custDataLst>
          </p:nvPr>
        </p:nvSpPr>
        <p:spPr>
          <a:xfrm>
            <a:off x="7334250" y="3848100"/>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接口</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37" name="矩形 36"/>
          <p:cNvSpPr>
            <a:spLocks noGrp="1"/>
          </p:cNvSpPr>
          <p:nvPr/>
        </p:nvSpPr>
        <p:spPr>
          <a:xfrm>
            <a:off x="7334249" y="4095749"/>
            <a:ext cx="3647439" cy="476251"/>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200" b="0">
                <a:solidFill>
                  <a:srgbClr val="172033"/>
                </a:solidFill>
                <a:latin typeface="Noto Serif SC"/>
                <a:ea typeface="Noto Serif SC"/>
                <a:cs typeface="Noto Serif SC"/>
              </a:defRPr>
            </a:pPr>
            <a:r>
              <a:rPr lang="en-US" sz="1400" dirty="0" err="1">
                <a:solidFill>
                  <a:schemeClr val="tx1"/>
                </a:solidFill>
                <a:latin typeface="思源宋体" panose="02020400000000000000" pitchFamily="18" charset="-122"/>
                <a:ea typeface="思源宋体" panose="02020400000000000000" pitchFamily="18" charset="-122"/>
                <a:sym typeface="+mn-ea"/>
              </a:rPr>
              <a:t>前后端通过</a:t>
            </a:r>
            <a:r>
              <a:rPr lang="en-US" sz="1400" dirty="0">
                <a:solidFill>
                  <a:schemeClr val="tx1"/>
                </a:solidFill>
                <a:latin typeface="思源宋体" panose="02020400000000000000" pitchFamily="18" charset="-122"/>
                <a:ea typeface="思源宋体" panose="02020400000000000000" pitchFamily="18" charset="-122"/>
                <a:sym typeface="+mn-ea"/>
              </a:rPr>
              <a:t> RESTful API </a:t>
            </a:r>
            <a:r>
              <a:rPr lang="en-US" sz="1400" dirty="0" err="1">
                <a:solidFill>
                  <a:schemeClr val="tx1"/>
                </a:solidFill>
                <a:latin typeface="思源宋体" panose="02020400000000000000" pitchFamily="18" charset="-122"/>
                <a:ea typeface="思源宋体" panose="02020400000000000000" pitchFamily="18" charset="-122"/>
                <a:sym typeface="+mn-ea"/>
              </a:rPr>
              <a:t>交互，统一</a:t>
            </a:r>
            <a:r>
              <a:rPr lang="en-US" sz="1400" dirty="0">
                <a:solidFill>
                  <a:schemeClr val="tx1"/>
                </a:solidFill>
                <a:latin typeface="思源宋体" panose="02020400000000000000" pitchFamily="18" charset="-122"/>
                <a:ea typeface="思源宋体" panose="02020400000000000000" pitchFamily="18" charset="-122"/>
                <a:sym typeface="+mn-ea"/>
              </a:rPr>
              <a:t> JSON </a:t>
            </a:r>
            <a:r>
              <a:rPr lang="en-US" sz="1400" dirty="0" err="1">
                <a:solidFill>
                  <a:schemeClr val="tx1"/>
                </a:solidFill>
                <a:latin typeface="思源宋体" panose="02020400000000000000" pitchFamily="18" charset="-122"/>
                <a:ea typeface="思源宋体" panose="02020400000000000000" pitchFamily="18" charset="-122"/>
                <a:sym typeface="+mn-ea"/>
              </a:rPr>
              <a:t>返回结构，登录态通过</a:t>
            </a:r>
            <a:r>
              <a:rPr lang="en-US" sz="1400" dirty="0">
                <a:solidFill>
                  <a:schemeClr val="tx1"/>
                </a:solidFill>
                <a:latin typeface="思源宋体" panose="02020400000000000000" pitchFamily="18" charset="-122"/>
                <a:ea typeface="思源宋体" panose="02020400000000000000" pitchFamily="18" charset="-122"/>
                <a:sym typeface="+mn-ea"/>
              </a:rPr>
              <a:t> Bearer Token </a:t>
            </a:r>
            <a:r>
              <a:rPr lang="en-US" sz="1400" dirty="0" err="1">
                <a:solidFill>
                  <a:schemeClr val="tx1"/>
                </a:solidFill>
                <a:latin typeface="思源宋体" panose="02020400000000000000" pitchFamily="18" charset="-122"/>
                <a:ea typeface="思源宋体" panose="02020400000000000000" pitchFamily="18" charset="-122"/>
                <a:sym typeface="+mn-ea"/>
              </a:rPr>
              <a:t>传递</a:t>
            </a:r>
            <a:endParaRPr lang="en-US" sz="1400" b="0" dirty="0">
              <a:solidFill>
                <a:schemeClr val="tx1"/>
              </a:solidFill>
              <a:latin typeface="思源宋体" panose="02020400000000000000" pitchFamily="18" charset="-122"/>
              <a:ea typeface="思源宋体" panose="02020400000000000000" pitchFamily="18" charset="-122"/>
              <a:sym typeface="+mn-ea"/>
            </a:endParaRPr>
          </a:p>
        </p:txBody>
      </p:sp>
      <p:sp>
        <p:nvSpPr>
          <p:cNvPr id="38" name="圆角矩形 37"/>
          <p:cNvSpPr>
            <a:spLocks noGrp="1"/>
          </p:cNvSpPr>
          <p:nvPr/>
        </p:nvSpPr>
        <p:spPr>
          <a:xfrm>
            <a:off x="7143750" y="4724400"/>
            <a:ext cx="3905250" cy="781050"/>
          </a:xfrm>
          <a:prstGeom prst="roundRect">
            <a:avLst>
              <a:gd name="adj" fmla="val 9756"/>
            </a:avLst>
          </a:prstGeom>
          <a:solidFill>
            <a:srgbClr val="FFFFFF"/>
          </a:solidFill>
          <a:ln w="9525">
            <a:solidFill>
              <a:srgbClr val="D7DEE8"/>
            </a:solidFill>
            <a:prstDash val="solid"/>
          </a:ln>
        </p:spPr>
        <p:txBody>
          <a:bodyPr/>
          <a:lstStyle/>
          <a:p>
            <a:endParaRPr lang="zh-CN" altLang="en-US">
              <a:latin typeface="Noto Serif SC"/>
              <a:ea typeface="Noto Serif SC"/>
              <a:cs typeface="Noto Serif SC"/>
            </a:endParaRPr>
          </a:p>
        </p:txBody>
      </p:sp>
      <p:sp>
        <p:nvSpPr>
          <p:cNvPr id="39" name="矩形 38"/>
          <p:cNvSpPr>
            <a:spLocks noGrp="1"/>
          </p:cNvSpPr>
          <p:nvPr>
            <p:custDataLst>
              <p:tags r:id="rId22"/>
            </p:custDataLst>
          </p:nvPr>
        </p:nvSpPr>
        <p:spPr>
          <a:xfrm>
            <a:off x="7143750" y="4724400"/>
            <a:ext cx="66675" cy="781050"/>
          </a:xfrm>
          <a:prstGeom prst="rect">
            <a:avLst/>
          </a:prstGeom>
          <a:solidFill>
            <a:srgbClr val="D99A23"/>
          </a:solidFill>
          <a:ln w="0">
            <a:solidFill>
              <a:srgbClr val="000000">
                <a:alpha val="0"/>
              </a:srgbClr>
            </a:solidFill>
            <a:prstDash val="solid"/>
          </a:ln>
        </p:spPr>
        <p:txBody>
          <a:bodyPr/>
          <a:lstStyle/>
          <a:p>
            <a:endParaRPr lang="zh-CN" altLang="en-US">
              <a:latin typeface="Noto Serif SC"/>
              <a:ea typeface="Noto Serif SC"/>
              <a:cs typeface="Noto Serif SC"/>
            </a:endParaRPr>
          </a:p>
        </p:txBody>
      </p:sp>
      <p:sp>
        <p:nvSpPr>
          <p:cNvPr id="40" name="矩形 39"/>
          <p:cNvSpPr>
            <a:spLocks noGrp="1"/>
          </p:cNvSpPr>
          <p:nvPr>
            <p:custDataLst>
              <p:tags r:id="rId23"/>
            </p:custDataLst>
          </p:nvPr>
        </p:nvSpPr>
        <p:spPr>
          <a:xfrm>
            <a:off x="7334250" y="4781550"/>
            <a:ext cx="3524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33"/>
                </a:solidFill>
                <a:latin typeface="Noto Sans SC"/>
                <a:ea typeface="Noto Sans SC"/>
                <a:cs typeface="Noto Sans SC"/>
              </a:defRPr>
            </a:pPr>
            <a:r>
              <a:rPr sz="1600" b="1" dirty="0" err="1">
                <a:solidFill>
                  <a:srgbClr val="172033"/>
                </a:solidFill>
                <a:latin typeface="思源黑体 CN" panose="020B0500000000000000" pitchFamily="34" charset="-122"/>
                <a:ea typeface="思源黑体 CN" panose="020B0500000000000000" pitchFamily="34" charset="-122"/>
                <a:cs typeface="Noto Sans SC"/>
              </a:rPr>
              <a:t>数据</a:t>
            </a:r>
            <a:endParaRPr sz="1600" b="1" dirty="0">
              <a:solidFill>
                <a:srgbClr val="172033"/>
              </a:solidFill>
              <a:latin typeface="思源黑体 CN" panose="020B0500000000000000" pitchFamily="34" charset="-122"/>
              <a:ea typeface="思源黑体 CN" panose="020B0500000000000000" pitchFamily="34" charset="-122"/>
              <a:cs typeface="Noto Sans SC"/>
            </a:endParaRPr>
          </a:p>
        </p:txBody>
      </p:sp>
      <p:sp>
        <p:nvSpPr>
          <p:cNvPr id="41" name="矩形 40"/>
          <p:cNvSpPr>
            <a:spLocks noGrp="1"/>
          </p:cNvSpPr>
          <p:nvPr/>
        </p:nvSpPr>
        <p:spPr>
          <a:xfrm>
            <a:off x="7334250" y="5029200"/>
            <a:ext cx="3524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72033"/>
                </a:solidFill>
                <a:latin typeface="Noto Serif SC"/>
                <a:ea typeface="Noto Serif SC"/>
                <a:cs typeface="Noto Serif SC"/>
              </a:defRPr>
            </a:pPr>
            <a:r>
              <a:rPr sz="1400" b="0" dirty="0" err="1">
                <a:solidFill>
                  <a:srgbClr val="172033"/>
                </a:solidFill>
                <a:latin typeface="思源宋体" panose="02020400000000000000" pitchFamily="18" charset="-122"/>
                <a:ea typeface="思源宋体" panose="02020400000000000000" pitchFamily="18" charset="-122"/>
                <a:cs typeface="Noto Serif SC"/>
              </a:rPr>
              <a:t>数据库以用户、食堂、窗</a:t>
            </a:r>
            <a:r>
              <a:rPr sz="1400" dirty="0" err="1">
                <a:latin typeface="思源宋体" panose="02020400000000000000" pitchFamily="18" charset="-122"/>
                <a:ea typeface="思源宋体" panose="02020400000000000000" pitchFamily="18" charset="-122"/>
                <a:sym typeface="+mn-ea"/>
              </a:rPr>
              <a:t>口、评论为核心，并扩展标签、收藏、黑名单、历史等表</a:t>
            </a:r>
            <a:endParaRPr sz="1400" b="0" dirty="0">
              <a:solidFill>
                <a:srgbClr val="172033"/>
              </a:solidFill>
              <a:latin typeface="思源宋体" panose="02020400000000000000" pitchFamily="18" charset="-122"/>
              <a:ea typeface="思源宋体" panose="02020400000000000000" pitchFamily="18" charset="-122"/>
              <a:sym typeface="+mn-ea"/>
            </a:endParaRPr>
          </a:p>
        </p:txBody>
      </p:sp>
      <p:sp>
        <p:nvSpPr>
          <p:cNvPr id="44" name="矩形 43"/>
          <p:cNvSpPr>
            <a:spLocks noGrp="1"/>
          </p:cNvSpPr>
          <p:nvPr/>
        </p:nvSpPr>
        <p:spPr>
          <a:xfrm>
            <a:off x="1028700" y="5867400"/>
            <a:ext cx="986790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50" b="0">
                <a:solidFill>
                  <a:srgbClr val="172033"/>
                </a:solidFill>
                <a:latin typeface="Noto Serif SC"/>
                <a:ea typeface="Noto Serif SC"/>
                <a:cs typeface="Noto Serif SC"/>
              </a:defRPr>
            </a:pPr>
            <a:endParaRPr sz="1400" b="0">
              <a:solidFill>
                <a:srgbClr val="172033"/>
              </a:solidFill>
              <a:latin typeface="Noto Serif SC"/>
              <a:ea typeface="Noto Serif SC"/>
              <a:cs typeface="Noto Serif SC"/>
            </a:endParaRPr>
          </a:p>
        </p:txBody>
      </p:sp>
    </p:spTree>
    <p:extLst>
      <p:ext uri="{BB962C8B-B14F-4D97-AF65-F5344CB8AC3E}">
        <p14:creationId xmlns:p14="http://schemas.microsoft.com/office/powerpoint/2010/main" val="107106828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idx="12"/>
          </p:nvPr>
        </p:nvSpPr>
        <p:spPr>
          <a:xfrm>
            <a:off x="1524000" y="1122363"/>
            <a:ext cx="9144000" cy="2387600"/>
          </a:xfrm>
        </p:spPr>
        <p:txBody>
          <a:bodyPr/>
          <a:lstStyle/>
          <a:p>
            <a:endParaRPr sz="1600">
              <a:latin typeface="Noto Serif SC"/>
              <a:ea typeface="Noto Serif SC"/>
              <a:cs typeface="Noto Serif SC"/>
            </a:endParaRPr>
          </a:p>
        </p:txBody>
      </p:sp>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sp>
      <p:sp>
        <p:nvSpPr>
          <p:cNvPr id="4" name="矩形 3"/>
          <p:cNvSpPr>
            <a:spLocks noGrp="1"/>
          </p:cNvSpPr>
          <p:nvPr/>
        </p:nvSpPr>
        <p:spPr>
          <a:xfrm>
            <a:off x="0" y="876300"/>
            <a:ext cx="12192000" cy="5981700"/>
          </a:xfrm>
          <a:prstGeom prst="rect">
            <a:avLst/>
          </a:prstGeom>
          <a:solidFill>
            <a:srgbClr val="FFFFFF"/>
          </a:solidFill>
          <a:ln w="0">
            <a:solidFill>
              <a:srgbClr val="000000">
                <a:alpha val="0"/>
              </a:srgbClr>
            </a:solidFill>
            <a:prstDash val="solid"/>
          </a:ln>
        </p:spPr>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模块划分</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sp>
      <p:sp>
        <p:nvSpPr>
          <p:cNvPr id="7" name="矩形 6"/>
          <p:cNvSpPr>
            <a:spLocks noGrp="1"/>
          </p:cNvSpPr>
          <p:nvPr/>
        </p:nvSpPr>
        <p:spPr>
          <a:xfrm>
            <a:off x="866775" y="1122680"/>
            <a:ext cx="10344150" cy="51562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350" b="0">
                <a:solidFill>
                  <a:srgbClr val="3F4A57"/>
                </a:solidFill>
                <a:latin typeface="Noto Serif SC"/>
                <a:ea typeface="Noto Serif SC"/>
                <a:cs typeface="Noto Serif SC"/>
              </a:defRPr>
            </a:pPr>
            <a:r>
              <a:rPr b="0" dirty="0" err="1">
                <a:solidFill>
                  <a:srgbClr val="3F4A57"/>
                </a:solidFill>
                <a:latin typeface="思源宋体" panose="02020400000000000000" pitchFamily="18" charset="-122"/>
                <a:ea typeface="思源宋体" panose="02020400000000000000" pitchFamily="18" charset="-122"/>
                <a:cs typeface="Noto Serif SC"/>
              </a:rPr>
              <a:t>页面、API、服务和数据模型各守边界，降低联调成本，也便于单独测试每个模块</a:t>
            </a:r>
            <a:r>
              <a:rPr b="0" dirty="0">
                <a:solidFill>
                  <a:srgbClr val="3F4A57"/>
                </a:solidFill>
                <a:latin typeface="思源宋体" panose="02020400000000000000" pitchFamily="18" charset="-122"/>
                <a:ea typeface="思源宋体" panose="02020400000000000000" pitchFamily="18" charset="-122"/>
                <a:cs typeface="Noto Serif SC"/>
              </a:rPr>
              <a:t>。</a:t>
            </a:r>
          </a:p>
        </p:txBody>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sp>
      <p:sp>
        <p:nvSpPr>
          <p:cNvPr id="10" name="矩形 9"/>
          <p:cNvSpPr>
            <a:spLocks noGrp="1"/>
          </p:cNvSpPr>
          <p:nvPr/>
        </p:nvSpPr>
        <p:spPr>
          <a:xfrm>
            <a:off x="11715750" y="6334125"/>
            <a:ext cx="28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6C6C6C"/>
                </a:solidFill>
                <a:latin typeface="Noto Serif SC"/>
                <a:ea typeface="Noto Serif SC"/>
                <a:cs typeface="Noto Serif SC"/>
              </a:defRPr>
            </a:pPr>
            <a:endParaRPr sz="1000" b="0">
              <a:solidFill>
                <a:srgbClr val="6C6C6C"/>
              </a:solidFill>
              <a:latin typeface="Noto Serif SC"/>
              <a:ea typeface="Noto Serif SC"/>
              <a:cs typeface="Noto Serif SC"/>
            </a:endParaRPr>
          </a:p>
        </p:txBody>
      </p:sp>
      <p:sp>
        <p:nvSpPr>
          <p:cNvPr id="11" name="圆角矩形 10"/>
          <p:cNvSpPr>
            <a:spLocks noGrp="1"/>
          </p:cNvSpPr>
          <p:nvPr/>
        </p:nvSpPr>
        <p:spPr>
          <a:xfrm>
            <a:off x="647700" y="1809750"/>
            <a:ext cx="2667000" cy="3390900"/>
          </a:xfrm>
          <a:prstGeom prst="roundRect">
            <a:avLst>
              <a:gd name="adj" fmla="val 2857"/>
            </a:avLst>
          </a:prstGeom>
          <a:solidFill>
            <a:srgbClr val="FFFFFF"/>
          </a:solidFill>
          <a:ln w="13335">
            <a:solidFill>
              <a:srgbClr val="E74C4C"/>
            </a:solidFill>
            <a:prstDash val="solid"/>
          </a:ln>
        </p:spPr>
      </p:sp>
      <p:sp>
        <p:nvSpPr>
          <p:cNvPr id="12" name="圆角矩形 11"/>
          <p:cNvSpPr>
            <a:spLocks noGrp="1"/>
          </p:cNvSpPr>
          <p:nvPr/>
        </p:nvSpPr>
        <p:spPr>
          <a:xfrm>
            <a:off x="4762500" y="1809750"/>
            <a:ext cx="2667000" cy="3390900"/>
          </a:xfrm>
          <a:prstGeom prst="roundRect">
            <a:avLst>
              <a:gd name="adj" fmla="val 2857"/>
            </a:avLst>
          </a:prstGeom>
          <a:solidFill>
            <a:srgbClr val="FFFFFF"/>
          </a:solidFill>
          <a:ln w="13335">
            <a:solidFill>
              <a:srgbClr val="1D9A8A"/>
            </a:solidFill>
            <a:prstDash val="solid"/>
          </a:ln>
        </p:spPr>
      </p:sp>
      <p:sp>
        <p:nvSpPr>
          <p:cNvPr id="13" name="圆角矩形 12"/>
          <p:cNvSpPr>
            <a:spLocks noGrp="1"/>
          </p:cNvSpPr>
          <p:nvPr/>
        </p:nvSpPr>
        <p:spPr>
          <a:xfrm>
            <a:off x="8858250" y="1809750"/>
            <a:ext cx="2667000" cy="3390900"/>
          </a:xfrm>
          <a:prstGeom prst="roundRect">
            <a:avLst>
              <a:gd name="adj" fmla="val 2857"/>
            </a:avLst>
          </a:prstGeom>
          <a:solidFill>
            <a:srgbClr val="FFFFFF"/>
          </a:solidFill>
          <a:ln w="13335">
            <a:solidFill>
              <a:srgbClr val="17324D"/>
            </a:solidFill>
            <a:prstDash val="solid"/>
          </a:ln>
        </p:spPr>
      </p:sp>
      <p:sp>
        <p:nvSpPr>
          <p:cNvPr id="14" name="矩形 13"/>
          <p:cNvSpPr>
            <a:spLocks noGrp="1"/>
          </p:cNvSpPr>
          <p:nvPr/>
        </p:nvSpPr>
        <p:spPr>
          <a:xfrm>
            <a:off x="91440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E74C4C"/>
                </a:solidFill>
                <a:latin typeface="Noto Serif SC"/>
                <a:ea typeface="Noto Serif SC"/>
                <a:cs typeface="Noto Serif SC"/>
              </a:defRPr>
            </a:pPr>
            <a:r>
              <a:rPr sz="2000" b="1">
                <a:solidFill>
                  <a:srgbClr val="E74C4C"/>
                </a:solidFill>
                <a:latin typeface="思源黑体 CN" panose="020B0500000000000000" pitchFamily="34" charset="-122"/>
                <a:ea typeface="思源黑体 CN" panose="020B0500000000000000" pitchFamily="34" charset="-122"/>
                <a:cs typeface="Noto Sans SC"/>
              </a:rPr>
              <a:t>前端表示层</a:t>
            </a:r>
          </a:p>
        </p:txBody>
      </p:sp>
      <p:sp>
        <p:nvSpPr>
          <p:cNvPr id="15" name="矩形 14"/>
          <p:cNvSpPr>
            <a:spLocks noGrp="1"/>
          </p:cNvSpPr>
          <p:nvPr/>
        </p:nvSpPr>
        <p:spPr>
          <a:xfrm>
            <a:off x="504825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D9A8A"/>
                </a:solidFill>
                <a:latin typeface="Noto Serif SC"/>
                <a:ea typeface="Noto Serif SC"/>
                <a:cs typeface="Noto Serif SC"/>
              </a:defRPr>
            </a:pPr>
            <a:r>
              <a:rPr sz="2000" b="1">
                <a:solidFill>
                  <a:srgbClr val="1D9A8A"/>
                </a:solidFill>
                <a:latin typeface="思源黑体 CN" panose="020B0500000000000000" pitchFamily="34" charset="-122"/>
                <a:ea typeface="思源黑体 CN" panose="020B0500000000000000" pitchFamily="34" charset="-122"/>
                <a:cs typeface="Noto Sans SC"/>
              </a:rPr>
              <a:t>接口契约</a:t>
            </a:r>
          </a:p>
        </p:txBody>
      </p:sp>
      <p:sp>
        <p:nvSpPr>
          <p:cNvPr id="16" name="矩形 15"/>
          <p:cNvSpPr>
            <a:spLocks noGrp="1"/>
          </p:cNvSpPr>
          <p:nvPr/>
        </p:nvSpPr>
        <p:spPr>
          <a:xfrm>
            <a:off x="9144000" y="22479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7324D"/>
                </a:solidFill>
                <a:latin typeface="Noto Serif SC"/>
                <a:ea typeface="Noto Serif SC"/>
                <a:cs typeface="Noto Serif SC"/>
              </a:defRPr>
            </a:pPr>
            <a:r>
              <a:rPr sz="2000" b="1">
                <a:solidFill>
                  <a:srgbClr val="17324D"/>
                </a:solidFill>
                <a:latin typeface="思源黑体 CN" panose="020B0500000000000000" pitchFamily="34" charset="-122"/>
                <a:ea typeface="思源黑体 CN" panose="020B0500000000000000" pitchFamily="34" charset="-122"/>
                <a:cs typeface="Noto Sans SC"/>
              </a:rPr>
              <a:t>后端业务层</a:t>
            </a:r>
          </a:p>
        </p:txBody>
      </p:sp>
      <p:sp>
        <p:nvSpPr>
          <p:cNvPr id="17" name="圆角矩形 16"/>
          <p:cNvSpPr>
            <a:spLocks noGrp="1"/>
          </p:cNvSpPr>
          <p:nvPr/>
        </p:nvSpPr>
        <p:spPr>
          <a:xfrm>
            <a:off x="914400" y="2724150"/>
            <a:ext cx="2133600" cy="609600"/>
          </a:xfrm>
          <a:prstGeom prst="roundRect">
            <a:avLst>
              <a:gd name="adj" fmla="val 12500"/>
            </a:avLst>
          </a:prstGeom>
          <a:solidFill>
            <a:srgbClr val="F8E9EE"/>
          </a:solidFill>
          <a:ln w="13335">
            <a:solidFill>
              <a:srgbClr val="E74C4C"/>
            </a:solidFill>
            <a:prstDash val="solid"/>
          </a:ln>
        </p:spPr>
      </p:sp>
      <p:sp>
        <p:nvSpPr>
          <p:cNvPr id="18" name="矩形 17"/>
          <p:cNvSpPr>
            <a:spLocks noGrp="1"/>
          </p:cNvSpPr>
          <p:nvPr/>
        </p:nvSpPr>
        <p:spPr>
          <a:xfrm>
            <a:off x="104775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页面模块</a:t>
            </a:r>
          </a:p>
        </p:txBody>
      </p:sp>
      <p:sp>
        <p:nvSpPr>
          <p:cNvPr id="19" name="矩形 18"/>
          <p:cNvSpPr>
            <a:spLocks noGrp="1"/>
          </p:cNvSpPr>
          <p:nvPr/>
        </p:nvSpPr>
        <p:spPr>
          <a:xfrm>
            <a:off x="104775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fontScale="92500"/>
          </a:bodyPr>
          <a:lstStyle/>
          <a:p>
            <a:pPr algn="ctr">
              <a:defRPr sz="865" b="0">
                <a:solidFill>
                  <a:srgbClr val="5F6875"/>
                </a:solidFill>
                <a:latin typeface="Noto Serif SC"/>
                <a:ea typeface="Noto Serif SC"/>
                <a:cs typeface="Noto Serif SC"/>
              </a:defRPr>
            </a:pPr>
            <a:r>
              <a:rPr sz="1200" b="0" dirty="0" err="1">
                <a:solidFill>
                  <a:srgbClr val="5F6875"/>
                </a:solidFill>
                <a:latin typeface="思源宋体" panose="02020400000000000000" pitchFamily="18" charset="-122"/>
                <a:ea typeface="思源宋体" panose="02020400000000000000" pitchFamily="18" charset="-122"/>
                <a:cs typeface="Noto Serif SC"/>
              </a:rPr>
              <a:t>首页</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详情</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个人中心</a:t>
            </a:r>
            <a:r>
              <a:rPr sz="1200" b="0" dirty="0">
                <a:solidFill>
                  <a:srgbClr val="5F6875"/>
                </a:solidFill>
                <a:latin typeface="思源宋体" panose="02020400000000000000" pitchFamily="18" charset="-122"/>
                <a:ea typeface="思源宋体" panose="02020400000000000000" pitchFamily="18" charset="-122"/>
                <a:cs typeface="Noto Serif SC"/>
              </a:rPr>
              <a:t> / </a:t>
            </a:r>
            <a:r>
              <a:rPr sz="1200" b="0" dirty="0" err="1">
                <a:solidFill>
                  <a:srgbClr val="5F6875"/>
                </a:solidFill>
                <a:latin typeface="思源宋体" panose="02020400000000000000" pitchFamily="18" charset="-122"/>
                <a:ea typeface="思源宋体" panose="02020400000000000000" pitchFamily="18" charset="-122"/>
                <a:cs typeface="Noto Serif SC"/>
              </a:rPr>
              <a:t>后台</a:t>
            </a:r>
            <a:endParaRPr sz="1200" b="0" dirty="0">
              <a:solidFill>
                <a:srgbClr val="5F6875"/>
              </a:solidFill>
              <a:latin typeface="思源宋体" panose="02020400000000000000" pitchFamily="18" charset="-122"/>
              <a:ea typeface="思源宋体" panose="02020400000000000000" pitchFamily="18" charset="-122"/>
              <a:cs typeface="Noto Serif SC"/>
            </a:endParaRPr>
          </a:p>
        </p:txBody>
      </p:sp>
      <p:sp>
        <p:nvSpPr>
          <p:cNvPr id="20" name="圆角矩形 19"/>
          <p:cNvSpPr>
            <a:spLocks noGrp="1"/>
          </p:cNvSpPr>
          <p:nvPr/>
        </p:nvSpPr>
        <p:spPr>
          <a:xfrm>
            <a:off x="914400" y="3467100"/>
            <a:ext cx="2133600" cy="609600"/>
          </a:xfrm>
          <a:prstGeom prst="roundRect">
            <a:avLst>
              <a:gd name="adj" fmla="val 12500"/>
            </a:avLst>
          </a:prstGeom>
          <a:solidFill>
            <a:srgbClr val="F8E9EE"/>
          </a:solidFill>
          <a:ln w="13335">
            <a:solidFill>
              <a:srgbClr val="E74C4C"/>
            </a:solidFill>
            <a:prstDash val="solid"/>
          </a:ln>
        </p:spPr>
      </p:sp>
      <p:sp>
        <p:nvSpPr>
          <p:cNvPr id="21" name="矩形 20"/>
          <p:cNvSpPr>
            <a:spLocks noGrp="1"/>
          </p:cNvSpPr>
          <p:nvPr/>
        </p:nvSpPr>
        <p:spPr>
          <a:xfrm>
            <a:off x="104775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交互模块</a:t>
            </a:r>
          </a:p>
        </p:txBody>
      </p:sp>
      <p:sp>
        <p:nvSpPr>
          <p:cNvPr id="22" name="矩形 21"/>
          <p:cNvSpPr>
            <a:spLocks noGrp="1"/>
          </p:cNvSpPr>
          <p:nvPr/>
        </p:nvSpPr>
        <p:spPr>
          <a:xfrm>
            <a:off x="104775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搜索 / 筛选 / 评分 / 评论</a:t>
            </a:r>
          </a:p>
        </p:txBody>
      </p:sp>
      <p:sp>
        <p:nvSpPr>
          <p:cNvPr id="23" name="圆角矩形 22"/>
          <p:cNvSpPr>
            <a:spLocks noGrp="1"/>
          </p:cNvSpPr>
          <p:nvPr/>
        </p:nvSpPr>
        <p:spPr>
          <a:xfrm>
            <a:off x="914400" y="4210050"/>
            <a:ext cx="2133600" cy="609600"/>
          </a:xfrm>
          <a:prstGeom prst="roundRect">
            <a:avLst>
              <a:gd name="adj" fmla="val 12500"/>
            </a:avLst>
          </a:prstGeom>
          <a:solidFill>
            <a:srgbClr val="F8E9EE"/>
          </a:solidFill>
          <a:ln w="13335">
            <a:solidFill>
              <a:srgbClr val="E74C4C"/>
            </a:solidFill>
            <a:prstDash val="solid"/>
          </a:ln>
        </p:spPr>
      </p:sp>
      <p:sp>
        <p:nvSpPr>
          <p:cNvPr id="24" name="矩形 23"/>
          <p:cNvSpPr>
            <a:spLocks noGrp="1"/>
          </p:cNvSpPr>
          <p:nvPr/>
        </p:nvSpPr>
        <p:spPr>
          <a:xfrm>
            <a:off x="104775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请求封装</a:t>
            </a:r>
          </a:p>
        </p:txBody>
      </p:sp>
      <p:sp>
        <p:nvSpPr>
          <p:cNvPr id="25" name="矩形 24"/>
          <p:cNvSpPr>
            <a:spLocks noGrp="1"/>
          </p:cNvSpPr>
          <p:nvPr/>
        </p:nvSpPr>
        <p:spPr>
          <a:xfrm>
            <a:off x="1047750" y="45053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fetch 调用 / Token 携带</a:t>
            </a:r>
          </a:p>
        </p:txBody>
      </p:sp>
      <p:sp>
        <p:nvSpPr>
          <p:cNvPr id="26" name="圆角矩形 25"/>
          <p:cNvSpPr>
            <a:spLocks noGrp="1"/>
          </p:cNvSpPr>
          <p:nvPr/>
        </p:nvSpPr>
        <p:spPr>
          <a:xfrm>
            <a:off x="5029200" y="2724150"/>
            <a:ext cx="2133600" cy="609600"/>
          </a:xfrm>
          <a:prstGeom prst="roundRect">
            <a:avLst>
              <a:gd name="adj" fmla="val 12500"/>
            </a:avLst>
          </a:prstGeom>
          <a:solidFill>
            <a:srgbClr val="E5F5F3"/>
          </a:solidFill>
          <a:ln w="13335">
            <a:solidFill>
              <a:srgbClr val="1D9A8A"/>
            </a:solidFill>
            <a:prstDash val="solid"/>
          </a:ln>
        </p:spPr>
      </p:sp>
      <p:sp>
        <p:nvSpPr>
          <p:cNvPr id="27" name="矩形 26"/>
          <p:cNvSpPr>
            <a:spLocks noGrp="1"/>
          </p:cNvSpPr>
          <p:nvPr/>
        </p:nvSpPr>
        <p:spPr>
          <a:xfrm>
            <a:off x="516255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RESTful API</a:t>
            </a:r>
          </a:p>
        </p:txBody>
      </p:sp>
      <p:sp>
        <p:nvSpPr>
          <p:cNvPr id="28" name="矩形 27"/>
          <p:cNvSpPr>
            <a:spLocks noGrp="1"/>
          </p:cNvSpPr>
          <p:nvPr/>
        </p:nvSpPr>
        <p:spPr>
          <a:xfrm>
            <a:off x="516255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GET /api/stalls</a:t>
            </a:r>
          </a:p>
        </p:txBody>
      </p:sp>
      <p:sp>
        <p:nvSpPr>
          <p:cNvPr id="29" name="圆角矩形 28"/>
          <p:cNvSpPr>
            <a:spLocks noGrp="1"/>
          </p:cNvSpPr>
          <p:nvPr/>
        </p:nvSpPr>
        <p:spPr>
          <a:xfrm>
            <a:off x="5029200" y="3467100"/>
            <a:ext cx="2133600" cy="609600"/>
          </a:xfrm>
          <a:prstGeom prst="roundRect">
            <a:avLst>
              <a:gd name="adj" fmla="val 12500"/>
            </a:avLst>
          </a:prstGeom>
          <a:solidFill>
            <a:srgbClr val="E5F5F3"/>
          </a:solidFill>
          <a:ln w="13335">
            <a:solidFill>
              <a:srgbClr val="1D9A8A"/>
            </a:solidFill>
            <a:prstDash val="solid"/>
          </a:ln>
        </p:spPr>
      </p:sp>
      <p:sp>
        <p:nvSpPr>
          <p:cNvPr id="30" name="矩形 29"/>
          <p:cNvSpPr>
            <a:spLocks noGrp="1"/>
          </p:cNvSpPr>
          <p:nvPr/>
        </p:nvSpPr>
        <p:spPr>
          <a:xfrm>
            <a:off x="516255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统一 JSON</a:t>
            </a:r>
          </a:p>
        </p:txBody>
      </p:sp>
      <p:sp>
        <p:nvSpPr>
          <p:cNvPr id="31" name="矩形 30"/>
          <p:cNvSpPr>
            <a:spLocks noGrp="1"/>
          </p:cNvSpPr>
          <p:nvPr/>
        </p:nvSpPr>
        <p:spPr>
          <a:xfrm>
            <a:off x="516255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dirty="0">
                <a:solidFill>
                  <a:srgbClr val="5F6875"/>
                </a:solidFill>
                <a:latin typeface="思源宋体" panose="02020400000000000000" pitchFamily="18" charset="-122"/>
                <a:ea typeface="思源宋体" panose="02020400000000000000" pitchFamily="18" charset="-122"/>
                <a:cs typeface="Noto Serif SC"/>
              </a:rPr>
              <a:t>code / message / data</a:t>
            </a:r>
          </a:p>
        </p:txBody>
      </p:sp>
      <p:sp>
        <p:nvSpPr>
          <p:cNvPr id="32" name="圆角矩形 31"/>
          <p:cNvSpPr>
            <a:spLocks noGrp="1"/>
          </p:cNvSpPr>
          <p:nvPr/>
        </p:nvSpPr>
        <p:spPr>
          <a:xfrm>
            <a:off x="5029200" y="4210050"/>
            <a:ext cx="2133600" cy="609600"/>
          </a:xfrm>
          <a:prstGeom prst="roundRect">
            <a:avLst>
              <a:gd name="adj" fmla="val 12500"/>
            </a:avLst>
          </a:prstGeom>
          <a:solidFill>
            <a:srgbClr val="E5F5F3"/>
          </a:solidFill>
          <a:ln w="13335">
            <a:solidFill>
              <a:srgbClr val="1D9A8A"/>
            </a:solidFill>
            <a:prstDash val="solid"/>
          </a:ln>
        </p:spPr>
      </p:sp>
      <p:sp>
        <p:nvSpPr>
          <p:cNvPr id="33" name="矩形 32"/>
          <p:cNvSpPr>
            <a:spLocks noGrp="1"/>
          </p:cNvSpPr>
          <p:nvPr/>
        </p:nvSpPr>
        <p:spPr>
          <a:xfrm>
            <a:off x="516255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登录态</a:t>
            </a:r>
          </a:p>
        </p:txBody>
      </p:sp>
      <p:sp>
        <p:nvSpPr>
          <p:cNvPr id="34" name="矩形 33"/>
          <p:cNvSpPr>
            <a:spLocks noGrp="1"/>
          </p:cNvSpPr>
          <p:nvPr/>
        </p:nvSpPr>
        <p:spPr>
          <a:xfrm>
            <a:off x="5029200" y="4505325"/>
            <a:ext cx="2114550" cy="3143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100" b="0" dirty="0">
                <a:solidFill>
                  <a:srgbClr val="5F6875"/>
                </a:solidFill>
                <a:latin typeface="思源宋体" panose="02020400000000000000" pitchFamily="18" charset="-122"/>
                <a:ea typeface="思源宋体" panose="02020400000000000000" pitchFamily="18" charset="-122"/>
                <a:cs typeface="Noto Serif SC"/>
              </a:rPr>
              <a:t>Authorization: Bearer &lt;token&gt;</a:t>
            </a:r>
          </a:p>
        </p:txBody>
      </p:sp>
      <p:sp>
        <p:nvSpPr>
          <p:cNvPr id="35" name="圆角矩形 34"/>
          <p:cNvSpPr>
            <a:spLocks noGrp="1"/>
          </p:cNvSpPr>
          <p:nvPr/>
        </p:nvSpPr>
        <p:spPr>
          <a:xfrm>
            <a:off x="9124950" y="2724150"/>
            <a:ext cx="2133600" cy="609600"/>
          </a:xfrm>
          <a:prstGeom prst="roundRect">
            <a:avLst>
              <a:gd name="adj" fmla="val 12500"/>
            </a:avLst>
          </a:prstGeom>
          <a:solidFill>
            <a:srgbClr val="E9EEF5"/>
          </a:solidFill>
          <a:ln w="13335">
            <a:solidFill>
              <a:srgbClr val="17324D"/>
            </a:solidFill>
            <a:prstDash val="solid"/>
          </a:ln>
        </p:spPr>
      </p:sp>
      <p:sp>
        <p:nvSpPr>
          <p:cNvPr id="36" name="矩形 35"/>
          <p:cNvSpPr>
            <a:spLocks noGrp="1"/>
          </p:cNvSpPr>
          <p:nvPr/>
        </p:nvSpPr>
        <p:spPr>
          <a:xfrm>
            <a:off x="9258300" y="28003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AuthService</a:t>
            </a:r>
          </a:p>
        </p:txBody>
      </p:sp>
      <p:sp>
        <p:nvSpPr>
          <p:cNvPr id="37" name="矩形 36"/>
          <p:cNvSpPr>
            <a:spLocks noGrp="1"/>
          </p:cNvSpPr>
          <p:nvPr/>
        </p:nvSpPr>
        <p:spPr>
          <a:xfrm>
            <a:off x="9258300" y="30194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注册登录 / 权限校验</a:t>
            </a:r>
          </a:p>
        </p:txBody>
      </p:sp>
      <p:sp>
        <p:nvSpPr>
          <p:cNvPr id="38" name="圆角矩形 37"/>
          <p:cNvSpPr>
            <a:spLocks noGrp="1"/>
          </p:cNvSpPr>
          <p:nvPr/>
        </p:nvSpPr>
        <p:spPr>
          <a:xfrm>
            <a:off x="9124950" y="3467100"/>
            <a:ext cx="2133600" cy="609600"/>
          </a:xfrm>
          <a:prstGeom prst="roundRect">
            <a:avLst>
              <a:gd name="adj" fmla="val 12500"/>
            </a:avLst>
          </a:prstGeom>
          <a:solidFill>
            <a:srgbClr val="E9EEF5"/>
          </a:solidFill>
          <a:ln w="13335">
            <a:solidFill>
              <a:srgbClr val="17324D"/>
            </a:solidFill>
            <a:prstDash val="solid"/>
          </a:ln>
        </p:spPr>
      </p:sp>
      <p:sp>
        <p:nvSpPr>
          <p:cNvPr id="39" name="矩形 38"/>
          <p:cNvSpPr>
            <a:spLocks noGrp="1"/>
          </p:cNvSpPr>
          <p:nvPr/>
        </p:nvSpPr>
        <p:spPr>
          <a:xfrm>
            <a:off x="9258300" y="354330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ReviewService</a:t>
            </a:r>
          </a:p>
        </p:txBody>
      </p:sp>
      <p:sp>
        <p:nvSpPr>
          <p:cNvPr id="40" name="矩形 39"/>
          <p:cNvSpPr>
            <a:spLocks noGrp="1"/>
          </p:cNvSpPr>
          <p:nvPr/>
        </p:nvSpPr>
        <p:spPr>
          <a:xfrm>
            <a:off x="9258300" y="376237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思源宋体" panose="02020400000000000000" pitchFamily="18" charset="-122"/>
                <a:ea typeface="思源宋体" panose="02020400000000000000" pitchFamily="18" charset="-122"/>
                <a:cs typeface="Noto Serif SC"/>
              </a:rPr>
              <a:t>评论写入 / 评分回算</a:t>
            </a:r>
          </a:p>
        </p:txBody>
      </p:sp>
      <p:sp>
        <p:nvSpPr>
          <p:cNvPr id="41" name="圆角矩形 40"/>
          <p:cNvSpPr>
            <a:spLocks noGrp="1"/>
          </p:cNvSpPr>
          <p:nvPr/>
        </p:nvSpPr>
        <p:spPr>
          <a:xfrm>
            <a:off x="9124950" y="4210050"/>
            <a:ext cx="2133600" cy="609600"/>
          </a:xfrm>
          <a:prstGeom prst="roundRect">
            <a:avLst>
              <a:gd name="adj" fmla="val 12500"/>
            </a:avLst>
          </a:prstGeom>
          <a:solidFill>
            <a:srgbClr val="E9EEF5"/>
          </a:solidFill>
          <a:ln w="13335">
            <a:solidFill>
              <a:srgbClr val="17324D"/>
            </a:solidFill>
            <a:prstDash val="solid"/>
          </a:ln>
        </p:spPr>
      </p:sp>
      <p:sp>
        <p:nvSpPr>
          <p:cNvPr id="42" name="矩形 41"/>
          <p:cNvSpPr>
            <a:spLocks noGrp="1"/>
          </p:cNvSpPr>
          <p:nvPr/>
        </p:nvSpPr>
        <p:spPr>
          <a:xfrm>
            <a:off x="9258300" y="4286250"/>
            <a:ext cx="1866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7324D"/>
                </a:solidFill>
                <a:latin typeface="Noto Serif SC"/>
                <a:ea typeface="Noto Serif SC"/>
                <a:cs typeface="Noto Serif SC"/>
              </a:defRPr>
            </a:pPr>
            <a:r>
              <a:rPr sz="1400" b="1">
                <a:solidFill>
                  <a:srgbClr val="17324D"/>
                </a:solidFill>
                <a:latin typeface="Noto Sans SC"/>
                <a:ea typeface="Noto Sans SC"/>
                <a:cs typeface="Noto Sans SC"/>
              </a:rPr>
              <a:t>RecommendService</a:t>
            </a:r>
          </a:p>
        </p:txBody>
      </p:sp>
      <p:sp>
        <p:nvSpPr>
          <p:cNvPr id="43" name="矩形 42"/>
          <p:cNvSpPr>
            <a:spLocks noGrp="1"/>
          </p:cNvSpPr>
          <p:nvPr/>
        </p:nvSpPr>
        <p:spPr>
          <a:xfrm>
            <a:off x="9258300" y="4505325"/>
            <a:ext cx="1866900" cy="238125"/>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865" b="0">
                <a:solidFill>
                  <a:srgbClr val="5F6875"/>
                </a:solidFill>
                <a:latin typeface="Noto Serif SC"/>
                <a:ea typeface="Noto Serif SC"/>
                <a:cs typeface="Noto Serif SC"/>
              </a:defRPr>
            </a:pPr>
            <a:r>
              <a:rPr sz="1200" b="0">
                <a:solidFill>
                  <a:srgbClr val="5F6875"/>
                </a:solidFill>
                <a:latin typeface="Noto Serif SC"/>
                <a:ea typeface="Noto Serif SC"/>
                <a:cs typeface="Noto Serif SC"/>
              </a:rPr>
              <a:t>偏好匹配 / 黑名单过滤</a:t>
            </a:r>
          </a:p>
        </p:txBody>
      </p:sp>
      <p:sp>
        <p:nvSpPr>
          <p:cNvPr id="44" name="矩形 43"/>
          <p:cNvSpPr>
            <a:spLocks noGrp="1"/>
          </p:cNvSpPr>
          <p:nvPr/>
        </p:nvSpPr>
        <p:spPr>
          <a:xfrm>
            <a:off x="3314700" y="3581400"/>
            <a:ext cx="1447800" cy="38100"/>
          </a:xfrm>
          <a:prstGeom prst="rect">
            <a:avLst/>
          </a:prstGeom>
          <a:solidFill>
            <a:srgbClr val="E74C4C"/>
          </a:solidFill>
          <a:ln w="0">
            <a:solidFill>
              <a:srgbClr val="000000">
                <a:alpha val="0"/>
              </a:srgbClr>
            </a:solidFill>
            <a:prstDash val="solid"/>
          </a:ln>
        </p:spPr>
      </p:sp>
      <p:sp>
        <p:nvSpPr>
          <p:cNvPr id="45" name="矩形 44"/>
          <p:cNvSpPr>
            <a:spLocks noGrp="1"/>
          </p:cNvSpPr>
          <p:nvPr/>
        </p:nvSpPr>
        <p:spPr>
          <a:xfrm>
            <a:off x="7429500" y="3581400"/>
            <a:ext cx="1428750" cy="38100"/>
          </a:xfrm>
          <a:prstGeom prst="rect">
            <a:avLst/>
          </a:prstGeom>
          <a:solidFill>
            <a:srgbClr val="1D9A8A"/>
          </a:solidFill>
          <a:ln w="0">
            <a:solidFill>
              <a:srgbClr val="000000">
                <a:alpha val="0"/>
              </a:srgbClr>
            </a:solidFill>
            <a:prstDash val="solid"/>
          </a:ln>
        </p:spPr>
      </p:sp>
      <p:sp>
        <p:nvSpPr>
          <p:cNvPr id="46" name="等腰三角形 45"/>
          <p:cNvSpPr>
            <a:spLocks noGrp="1"/>
          </p:cNvSpPr>
          <p:nvPr/>
        </p:nvSpPr>
        <p:spPr>
          <a:xfrm rot="5400000">
            <a:off x="4638675" y="3495675"/>
            <a:ext cx="209550" cy="209550"/>
          </a:xfrm>
          <a:prstGeom prst="triangle">
            <a:avLst/>
          </a:prstGeom>
          <a:solidFill>
            <a:srgbClr val="E74C4C"/>
          </a:solidFill>
          <a:ln w="0">
            <a:solidFill>
              <a:srgbClr val="E74C4C"/>
            </a:solidFill>
            <a:prstDash val="solid"/>
          </a:ln>
        </p:spPr>
      </p:sp>
      <p:sp>
        <p:nvSpPr>
          <p:cNvPr id="47" name="等腰三角形 46"/>
          <p:cNvSpPr>
            <a:spLocks noGrp="1"/>
          </p:cNvSpPr>
          <p:nvPr/>
        </p:nvSpPr>
        <p:spPr>
          <a:xfrm rot="5400000">
            <a:off x="8734425" y="3495675"/>
            <a:ext cx="209550" cy="209550"/>
          </a:xfrm>
          <a:prstGeom prst="triangle">
            <a:avLst/>
          </a:prstGeom>
          <a:solidFill>
            <a:srgbClr val="1D9A8A"/>
          </a:solidFill>
          <a:ln w="0">
            <a:solidFill>
              <a:srgbClr val="1D9A8A"/>
            </a:solidFill>
            <a:prstDash val="solid"/>
          </a:ln>
        </p:spPr>
      </p:sp>
      <p:sp>
        <p:nvSpPr>
          <p:cNvPr id="48" name="矩形 47"/>
          <p:cNvSpPr>
            <a:spLocks noGrp="1"/>
          </p:cNvSpPr>
          <p:nvPr/>
        </p:nvSpPr>
        <p:spPr>
          <a:xfrm>
            <a:off x="3638550" y="329565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E74C4C"/>
                </a:solidFill>
                <a:latin typeface="Noto Serif SC"/>
                <a:ea typeface="Noto Serif SC"/>
                <a:cs typeface="Noto Serif SC"/>
              </a:defRPr>
            </a:pPr>
            <a:r>
              <a:rPr sz="1200" b="1" dirty="0" err="1">
                <a:solidFill>
                  <a:srgbClr val="E74C4C"/>
                </a:solidFill>
                <a:latin typeface="思源黑体 CN" panose="020B0500000000000000" pitchFamily="34" charset="-122"/>
                <a:ea typeface="思源黑体 CN" panose="020B0500000000000000" pitchFamily="34" charset="-122"/>
                <a:cs typeface="Noto Sans SC"/>
              </a:rPr>
              <a:t>页面请求</a:t>
            </a:r>
            <a:endParaRPr sz="1200" b="1" dirty="0">
              <a:solidFill>
                <a:srgbClr val="E74C4C"/>
              </a:solidFill>
              <a:latin typeface="思源黑体 CN" panose="020B0500000000000000" pitchFamily="34" charset="-122"/>
              <a:ea typeface="思源黑体 CN" panose="020B0500000000000000" pitchFamily="34" charset="-122"/>
              <a:cs typeface="Noto Sans SC"/>
            </a:endParaRPr>
          </a:p>
        </p:txBody>
      </p:sp>
      <p:sp>
        <p:nvSpPr>
          <p:cNvPr id="49" name="矩形 48"/>
          <p:cNvSpPr>
            <a:spLocks noGrp="1"/>
          </p:cNvSpPr>
          <p:nvPr/>
        </p:nvSpPr>
        <p:spPr>
          <a:xfrm>
            <a:off x="7743825" y="329565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D9A8A"/>
                </a:solidFill>
                <a:latin typeface="Noto Serif SC"/>
                <a:ea typeface="Noto Serif SC"/>
                <a:cs typeface="Noto Serif SC"/>
              </a:defRPr>
            </a:pPr>
            <a:r>
              <a:rPr sz="1200" b="1" dirty="0" err="1">
                <a:solidFill>
                  <a:srgbClr val="1D9A8A"/>
                </a:solidFill>
                <a:latin typeface="思源黑体 CN" panose="020B0500000000000000" pitchFamily="34" charset="-122"/>
                <a:ea typeface="思源黑体 CN" panose="020B0500000000000000" pitchFamily="34" charset="-122"/>
                <a:cs typeface="Noto Sans SC"/>
              </a:rPr>
              <a:t>服务处理</a:t>
            </a:r>
            <a:endParaRPr sz="1200" b="1" dirty="0">
              <a:solidFill>
                <a:srgbClr val="1D9A8A"/>
              </a:solidFill>
              <a:latin typeface="思源黑体 CN" panose="020B0500000000000000" pitchFamily="34" charset="-122"/>
              <a:ea typeface="思源黑体 CN" panose="020B0500000000000000" pitchFamily="34" charset="-122"/>
              <a:cs typeface="Noto Sans SC"/>
            </a:endParaRPr>
          </a:p>
        </p:txBody>
      </p:sp>
      <p:sp>
        <p:nvSpPr>
          <p:cNvPr id="50" name="圆角矩形 49"/>
          <p:cNvSpPr>
            <a:spLocks noGrp="1"/>
          </p:cNvSpPr>
          <p:nvPr/>
        </p:nvSpPr>
        <p:spPr>
          <a:xfrm>
            <a:off x="3476625" y="5419725"/>
            <a:ext cx="5219700" cy="552450"/>
          </a:xfrm>
          <a:prstGeom prst="roundRect">
            <a:avLst>
              <a:gd name="adj" fmla="val 13793"/>
            </a:avLst>
          </a:prstGeom>
          <a:solidFill>
            <a:srgbClr val="FFFFFF"/>
          </a:solidFill>
          <a:ln w="12383">
            <a:solidFill>
              <a:srgbClr val="D99A23"/>
            </a:solidFill>
            <a:prstDash val="solid"/>
          </a:ln>
        </p:spPr>
        <p:txBody>
          <a:bodyPr/>
          <a:lstStyle/>
          <a:p>
            <a:endParaRPr lang="zh-CN" altLang="en-US">
              <a:latin typeface="Noto Serif SC"/>
              <a:ea typeface="Noto Serif SC"/>
              <a:cs typeface="Noto Serif SC"/>
            </a:endParaRPr>
          </a:p>
        </p:txBody>
      </p:sp>
      <p:sp>
        <p:nvSpPr>
          <p:cNvPr id="51" name="矩形 50"/>
          <p:cNvSpPr>
            <a:spLocks noGrp="1"/>
          </p:cNvSpPr>
          <p:nvPr/>
        </p:nvSpPr>
        <p:spPr>
          <a:xfrm>
            <a:off x="3733800" y="5493385"/>
            <a:ext cx="470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共享数据模型：User</a:t>
            </a:r>
            <a:r>
              <a:rPr sz="1400" dirty="0">
                <a:solidFill>
                  <a:srgbClr val="172033"/>
                </a:solidFill>
                <a:latin typeface="思源黑体 CN" panose="020B0500000000000000" pitchFamily="34" charset="-122"/>
                <a:ea typeface="思源黑体 CN" panose="020B0500000000000000" pitchFamily="34" charset="-122"/>
                <a:cs typeface="Noto Sans SC"/>
              </a:rPr>
              <a:t> / Canteen / Stall / Review / Tag / Favorite / Blacklist / History</a:t>
            </a:r>
          </a:p>
        </p:txBody>
      </p:sp>
      <p:sp>
        <p:nvSpPr>
          <p:cNvPr id="55" name="圆角矩形 54"/>
          <p:cNvSpPr>
            <a:spLocks noGrp="1"/>
          </p:cNvSpPr>
          <p:nvPr/>
        </p:nvSpPr>
        <p:spPr>
          <a:xfrm>
            <a:off x="9124950" y="4210050"/>
            <a:ext cx="2133600" cy="609600"/>
          </a:xfrm>
          <a:prstGeom prst="roundRect">
            <a:avLst>
              <a:gd name="adj" fmla="val 12500"/>
            </a:avLst>
          </a:prstGeom>
          <a:solidFill>
            <a:srgbClr val="E9EEF5"/>
          </a:solidFill>
          <a:ln w="13335">
            <a:solidFill>
              <a:srgbClr val="17324D"/>
            </a:solidFill>
            <a:prstDash val="solid"/>
          </a:ln>
        </p:spPr>
        <p:txBody>
          <a:bodyPr/>
          <a:lstStyle/>
          <a:p>
            <a:pPr algn="ctr"/>
            <a:r>
              <a:rPr lang="zh-CN" altLang="en-US" sz="1600">
                <a:latin typeface="Noto Serif SC"/>
                <a:ea typeface="Noto Serif SC"/>
                <a:cs typeface="Noto Serif SC"/>
              </a:rPr>
              <a:t>…………</a:t>
            </a:r>
          </a:p>
        </p:txBody>
      </p:sp>
    </p:spTree>
    <p:extLst>
      <p:ext uri="{BB962C8B-B14F-4D97-AF65-F5344CB8AC3E}">
        <p14:creationId xmlns:p14="http://schemas.microsoft.com/office/powerpoint/2010/main" val="27843788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63600"/>
          </a:xfrm>
          <a:prstGeom prst="rect">
            <a:avLst/>
          </a:prstGeom>
          <a:solidFill>
            <a:srgbClr val="004E97">
              <a:alpha val="6000"/>
            </a:srgbClr>
          </a:solidFill>
          <a:ln w="12700">
            <a:solidFill>
              <a:srgbClr val="FFFFFF">
                <a:alpha val="0"/>
              </a:srgbClr>
            </a:solidFill>
            <a:prstDash val="solid"/>
          </a:ln>
        </p:spPr>
      </p:sp>
      <p:sp>
        <p:nvSpPr>
          <p:cNvPr id="4" name="Shape 2"/>
          <p:cNvSpPr/>
          <p:nvPr/>
        </p:nvSpPr>
        <p:spPr>
          <a:xfrm>
            <a:off x="942150" y="749808"/>
            <a:ext cx="4901184" cy="27432"/>
          </a:xfrm>
          <a:prstGeom prst="rect">
            <a:avLst/>
          </a:prstGeom>
          <a:solidFill>
            <a:srgbClr val="E6C46D"/>
          </a:solidFill>
          <a:ln w="12700">
            <a:solidFill>
              <a:srgbClr val="D8B24C">
                <a:alpha val="0"/>
              </a:srgbClr>
            </a:solidFill>
            <a:prstDash val="solid"/>
          </a:ln>
        </p:spPr>
      </p:sp>
      <p:sp>
        <p:nvSpPr>
          <p:cNvPr id="5" name="Shape 3"/>
          <p:cNvSpPr/>
          <p:nvPr/>
        </p:nvSpPr>
        <p:spPr>
          <a:xfrm>
            <a:off x="942150" y="6446520"/>
            <a:ext cx="10332720" cy="22860"/>
          </a:xfrm>
          <a:prstGeom prst="rect">
            <a:avLst/>
          </a:prstGeom>
          <a:solidFill>
            <a:srgbClr val="D8B24C"/>
          </a:solidFill>
          <a:ln w="12700">
            <a:solidFill>
              <a:srgbClr val="D8B24C">
                <a:alpha val="0"/>
              </a:srgbClr>
            </a:solidFill>
            <a:prstDash val="solid"/>
          </a:ln>
        </p:spPr>
      </p:sp>
      <p:sp>
        <p:nvSpPr>
          <p:cNvPr id="8" name="Shape 6"/>
          <p:cNvSpPr/>
          <p:nvPr/>
        </p:nvSpPr>
        <p:spPr>
          <a:xfrm>
            <a:off x="1143191" y="1609090"/>
            <a:ext cx="1143000" cy="310896"/>
          </a:xfrm>
          <a:prstGeom prst="roundRect">
            <a:avLst>
              <a:gd name="adj" fmla="val 23529"/>
            </a:avLst>
          </a:prstGeom>
          <a:solidFill>
            <a:srgbClr val="0B5AA8"/>
          </a:solidFill>
          <a:ln w="12700">
            <a:solidFill>
              <a:srgbClr val="0B5AA8"/>
            </a:solidFill>
            <a:prstDash val="solid"/>
          </a:ln>
        </p:spPr>
      </p:sp>
      <p:sp>
        <p:nvSpPr>
          <p:cNvPr id="9" name="Text 7"/>
          <p:cNvSpPr/>
          <p:nvPr/>
        </p:nvSpPr>
        <p:spPr>
          <a:xfrm>
            <a:off x="1216343"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边界类</a:t>
            </a:r>
          </a:p>
        </p:txBody>
      </p:sp>
      <p:sp>
        <p:nvSpPr>
          <p:cNvPr id="10" name="Shape 8"/>
          <p:cNvSpPr/>
          <p:nvPr/>
        </p:nvSpPr>
        <p:spPr>
          <a:xfrm>
            <a:off x="4764215" y="1609090"/>
            <a:ext cx="1143000" cy="310896"/>
          </a:xfrm>
          <a:prstGeom prst="roundRect">
            <a:avLst>
              <a:gd name="adj" fmla="val 23529"/>
            </a:avLst>
          </a:prstGeom>
          <a:solidFill>
            <a:srgbClr val="D8B24C"/>
          </a:solidFill>
          <a:ln w="12700">
            <a:solidFill>
              <a:srgbClr val="D8B24C"/>
            </a:solidFill>
            <a:prstDash val="solid"/>
          </a:ln>
        </p:spPr>
      </p:sp>
      <p:sp>
        <p:nvSpPr>
          <p:cNvPr id="11" name="Text 9"/>
          <p:cNvSpPr/>
          <p:nvPr/>
        </p:nvSpPr>
        <p:spPr>
          <a:xfrm>
            <a:off x="4837367"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控制类</a:t>
            </a:r>
          </a:p>
        </p:txBody>
      </p:sp>
      <p:sp>
        <p:nvSpPr>
          <p:cNvPr id="12" name="Shape 10"/>
          <p:cNvSpPr/>
          <p:nvPr/>
        </p:nvSpPr>
        <p:spPr>
          <a:xfrm>
            <a:off x="8302943" y="1609090"/>
            <a:ext cx="1143000" cy="310896"/>
          </a:xfrm>
          <a:prstGeom prst="roundRect">
            <a:avLst>
              <a:gd name="adj" fmla="val 23529"/>
            </a:avLst>
          </a:prstGeom>
          <a:solidFill>
            <a:srgbClr val="97B45A"/>
          </a:solidFill>
          <a:ln w="12700">
            <a:solidFill>
              <a:srgbClr val="97B45A"/>
            </a:solidFill>
            <a:prstDash val="solid"/>
          </a:ln>
        </p:spPr>
      </p:sp>
      <p:sp>
        <p:nvSpPr>
          <p:cNvPr id="13" name="Text 11"/>
          <p:cNvSpPr/>
          <p:nvPr/>
        </p:nvSpPr>
        <p:spPr>
          <a:xfrm>
            <a:off x="8376095" y="1673098"/>
            <a:ext cx="996696" cy="164592"/>
          </a:xfrm>
          <a:prstGeom prst="rect">
            <a:avLst/>
          </a:prstGeom>
          <a:noFill/>
        </p:spPr>
        <p:txBody>
          <a:bodyPr wrap="square" lIns="0" tIns="0" rIns="0" bIns="0" rtlCol="0" anchor="ctr"/>
          <a:lstStyle/>
          <a:p>
            <a:pPr marL="0" indent="0" algn="ctr">
              <a:buNone/>
            </a:pPr>
            <a:r>
              <a:rPr lang="en-US" b="1" dirty="0">
                <a:solidFill>
                  <a:srgbClr val="FFFFFF"/>
                </a:solidFill>
                <a:latin typeface="思源黑体 CN" panose="020B0500000000000000" pitchFamily="34" charset="-122"/>
                <a:ea typeface="思源黑体 CN" panose="020B0500000000000000" pitchFamily="34" charset="-122"/>
                <a:cs typeface="Noto Sans SC"/>
              </a:rPr>
              <a:t>实体类</a:t>
            </a:r>
          </a:p>
        </p:txBody>
      </p:sp>
      <p:sp>
        <p:nvSpPr>
          <p:cNvPr id="14" name="Shape 12"/>
          <p:cNvSpPr/>
          <p:nvPr/>
        </p:nvSpPr>
        <p:spPr>
          <a:xfrm>
            <a:off x="3026855" y="2523490"/>
            <a:ext cx="1527048" cy="0"/>
          </a:xfrm>
          <a:prstGeom prst="line">
            <a:avLst/>
          </a:prstGeom>
          <a:noFill/>
          <a:ln w="12700">
            <a:solidFill>
              <a:srgbClr val="AEB8C5"/>
            </a:solidFill>
            <a:prstDash val="solid"/>
            <a:tailEnd type="triangle"/>
          </a:ln>
        </p:spPr>
      </p:sp>
      <p:sp>
        <p:nvSpPr>
          <p:cNvPr id="15" name="Shape 13"/>
          <p:cNvSpPr/>
          <p:nvPr/>
        </p:nvSpPr>
        <p:spPr>
          <a:xfrm>
            <a:off x="3026855" y="3511042"/>
            <a:ext cx="1527048" cy="0"/>
          </a:xfrm>
          <a:prstGeom prst="line">
            <a:avLst/>
          </a:prstGeom>
          <a:noFill/>
          <a:ln w="12700">
            <a:solidFill>
              <a:srgbClr val="AEB8C5"/>
            </a:solidFill>
            <a:prstDash val="solid"/>
            <a:tailEnd type="triangle"/>
          </a:ln>
        </p:spPr>
      </p:sp>
      <p:sp>
        <p:nvSpPr>
          <p:cNvPr id="16" name="Shape 14"/>
          <p:cNvSpPr/>
          <p:nvPr/>
        </p:nvSpPr>
        <p:spPr>
          <a:xfrm>
            <a:off x="3026855" y="4498594"/>
            <a:ext cx="1527048" cy="0"/>
          </a:xfrm>
          <a:prstGeom prst="line">
            <a:avLst/>
          </a:prstGeom>
          <a:noFill/>
          <a:ln w="12700">
            <a:solidFill>
              <a:srgbClr val="AEB8C5"/>
            </a:solidFill>
            <a:prstDash val="solid"/>
            <a:tailEnd type="triangle"/>
          </a:ln>
        </p:spPr>
      </p:sp>
      <p:sp>
        <p:nvSpPr>
          <p:cNvPr id="17" name="Shape 15"/>
          <p:cNvSpPr/>
          <p:nvPr/>
        </p:nvSpPr>
        <p:spPr>
          <a:xfrm>
            <a:off x="3026855" y="5486146"/>
            <a:ext cx="1527048" cy="0"/>
          </a:xfrm>
          <a:prstGeom prst="line">
            <a:avLst/>
          </a:prstGeom>
          <a:noFill/>
          <a:ln w="12700">
            <a:solidFill>
              <a:srgbClr val="AEB8C5"/>
            </a:solidFill>
            <a:prstDash val="solid"/>
            <a:tailEnd type="triangle"/>
          </a:ln>
        </p:spPr>
      </p:sp>
      <p:sp>
        <p:nvSpPr>
          <p:cNvPr id="18" name="Shape 16"/>
          <p:cNvSpPr/>
          <p:nvPr/>
        </p:nvSpPr>
        <p:spPr>
          <a:xfrm>
            <a:off x="6355271" y="2523490"/>
            <a:ext cx="1645920" cy="0"/>
          </a:xfrm>
          <a:prstGeom prst="line">
            <a:avLst/>
          </a:prstGeom>
          <a:noFill/>
          <a:ln w="12700">
            <a:solidFill>
              <a:srgbClr val="AEB8C5"/>
            </a:solidFill>
            <a:prstDash val="solid"/>
            <a:tailEnd type="triangle"/>
          </a:ln>
        </p:spPr>
      </p:sp>
      <p:sp>
        <p:nvSpPr>
          <p:cNvPr id="19" name="Shape 17"/>
          <p:cNvSpPr/>
          <p:nvPr/>
        </p:nvSpPr>
        <p:spPr>
          <a:xfrm>
            <a:off x="6355271" y="3511042"/>
            <a:ext cx="1645920" cy="0"/>
          </a:xfrm>
          <a:prstGeom prst="line">
            <a:avLst/>
          </a:prstGeom>
          <a:noFill/>
          <a:ln w="12700">
            <a:solidFill>
              <a:srgbClr val="AEB8C5"/>
            </a:solidFill>
            <a:prstDash val="solid"/>
            <a:tailEnd type="triangle"/>
          </a:ln>
        </p:spPr>
      </p:sp>
      <p:sp>
        <p:nvSpPr>
          <p:cNvPr id="20" name="Shape 18"/>
          <p:cNvSpPr/>
          <p:nvPr/>
        </p:nvSpPr>
        <p:spPr>
          <a:xfrm>
            <a:off x="6355271" y="4013962"/>
            <a:ext cx="1645920" cy="484632"/>
          </a:xfrm>
          <a:prstGeom prst="line">
            <a:avLst/>
          </a:prstGeom>
          <a:noFill/>
          <a:ln w="12700">
            <a:solidFill>
              <a:srgbClr val="AEB8C5"/>
            </a:solidFill>
            <a:prstDash val="solid"/>
            <a:tailEnd type="triangle"/>
          </a:ln>
        </p:spPr>
      </p:sp>
      <p:sp>
        <p:nvSpPr>
          <p:cNvPr id="21" name="Shape 19"/>
          <p:cNvSpPr/>
          <p:nvPr/>
        </p:nvSpPr>
        <p:spPr>
          <a:xfrm>
            <a:off x="6355271" y="4498594"/>
            <a:ext cx="1645920" cy="0"/>
          </a:xfrm>
          <a:prstGeom prst="line">
            <a:avLst/>
          </a:prstGeom>
          <a:noFill/>
          <a:ln w="12700">
            <a:solidFill>
              <a:srgbClr val="AEB8C5"/>
            </a:solidFill>
            <a:prstDash val="solid"/>
            <a:tailEnd type="triangle"/>
          </a:ln>
        </p:spPr>
      </p:sp>
      <p:sp>
        <p:nvSpPr>
          <p:cNvPr id="22" name="Shape 20"/>
          <p:cNvSpPr/>
          <p:nvPr/>
        </p:nvSpPr>
        <p:spPr>
          <a:xfrm>
            <a:off x="6355271" y="4498594"/>
            <a:ext cx="1645920" cy="484632"/>
          </a:xfrm>
          <a:prstGeom prst="line">
            <a:avLst/>
          </a:prstGeom>
          <a:noFill/>
          <a:ln w="12700">
            <a:solidFill>
              <a:srgbClr val="AEB8C5"/>
            </a:solidFill>
            <a:prstDash val="solid"/>
            <a:tailEnd type="triangle"/>
          </a:ln>
        </p:spPr>
      </p:sp>
      <p:sp>
        <p:nvSpPr>
          <p:cNvPr id="23" name="Shape 21"/>
          <p:cNvSpPr/>
          <p:nvPr/>
        </p:nvSpPr>
        <p:spPr>
          <a:xfrm>
            <a:off x="6355271" y="2523490"/>
            <a:ext cx="1645920" cy="2962656"/>
          </a:xfrm>
          <a:prstGeom prst="line">
            <a:avLst/>
          </a:prstGeom>
          <a:noFill/>
          <a:ln w="12700">
            <a:solidFill>
              <a:srgbClr val="AEB8C5"/>
            </a:solidFill>
            <a:prstDash val="solid"/>
            <a:tailEnd type="triangle"/>
          </a:ln>
        </p:spPr>
      </p:sp>
      <p:sp>
        <p:nvSpPr>
          <p:cNvPr id="24" name="Shape 22"/>
          <p:cNvSpPr/>
          <p:nvPr/>
        </p:nvSpPr>
        <p:spPr>
          <a:xfrm>
            <a:off x="6355271" y="3511042"/>
            <a:ext cx="1645920" cy="1975104"/>
          </a:xfrm>
          <a:prstGeom prst="line">
            <a:avLst/>
          </a:prstGeom>
          <a:noFill/>
          <a:ln w="12700">
            <a:solidFill>
              <a:srgbClr val="AEB8C5"/>
            </a:solidFill>
            <a:prstDash val="solid"/>
            <a:tailEnd type="triangle"/>
          </a:ln>
        </p:spPr>
      </p:sp>
      <p:sp>
        <p:nvSpPr>
          <p:cNvPr id="25" name="Shape 23"/>
          <p:cNvSpPr/>
          <p:nvPr/>
        </p:nvSpPr>
        <p:spPr>
          <a:xfrm>
            <a:off x="6355271" y="4498594"/>
            <a:ext cx="1645920" cy="987552"/>
          </a:xfrm>
          <a:prstGeom prst="line">
            <a:avLst/>
          </a:prstGeom>
          <a:noFill/>
          <a:ln w="12700">
            <a:solidFill>
              <a:srgbClr val="AEB8C5"/>
            </a:solidFill>
            <a:prstDash val="solid"/>
            <a:tailEnd type="triangle"/>
          </a:ln>
        </p:spPr>
      </p:sp>
      <p:sp>
        <p:nvSpPr>
          <p:cNvPr id="26" name="Shape 24"/>
          <p:cNvSpPr/>
          <p:nvPr/>
        </p:nvSpPr>
        <p:spPr>
          <a:xfrm>
            <a:off x="933006" y="1920240"/>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27" name="Shape 25"/>
          <p:cNvSpPr/>
          <p:nvPr/>
        </p:nvSpPr>
        <p:spPr>
          <a:xfrm>
            <a:off x="933006" y="1920240"/>
            <a:ext cx="1975104" cy="256032"/>
          </a:xfrm>
          <a:prstGeom prst="rect">
            <a:avLst/>
          </a:prstGeom>
          <a:solidFill>
            <a:srgbClr val="0B5AA8">
              <a:alpha val="16000"/>
            </a:srgbClr>
          </a:solidFill>
          <a:ln w="12700">
            <a:solidFill>
              <a:srgbClr val="0B5AA8"/>
            </a:solidFill>
            <a:prstDash val="solid"/>
          </a:ln>
        </p:spPr>
      </p:sp>
      <p:sp>
        <p:nvSpPr>
          <p:cNvPr id="29" name="Text 27"/>
          <p:cNvSpPr/>
          <p:nvPr/>
        </p:nvSpPr>
        <p:spPr>
          <a:xfrm>
            <a:off x="942023" y="2011553"/>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LoginPage</a:t>
            </a:r>
          </a:p>
        </p:txBody>
      </p:sp>
      <p:sp>
        <p:nvSpPr>
          <p:cNvPr id="30" name="Text 28"/>
          <p:cNvSpPr/>
          <p:nvPr/>
        </p:nvSpPr>
        <p:spPr>
          <a:xfrm>
            <a:off x="1161479" y="2222119"/>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输入账号密码</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接收登录结果</a:t>
            </a:r>
          </a:p>
        </p:txBody>
      </p:sp>
      <p:sp>
        <p:nvSpPr>
          <p:cNvPr id="31" name="Shape 29"/>
          <p:cNvSpPr/>
          <p:nvPr/>
        </p:nvSpPr>
        <p:spPr>
          <a:xfrm>
            <a:off x="933006" y="2907792"/>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32" name="Shape 30"/>
          <p:cNvSpPr/>
          <p:nvPr/>
        </p:nvSpPr>
        <p:spPr>
          <a:xfrm>
            <a:off x="933006" y="2907792"/>
            <a:ext cx="1975104" cy="256032"/>
          </a:xfrm>
          <a:prstGeom prst="rect">
            <a:avLst/>
          </a:prstGeom>
          <a:solidFill>
            <a:srgbClr val="0B5AA8">
              <a:alpha val="16000"/>
            </a:srgbClr>
          </a:solidFill>
          <a:ln w="12700">
            <a:solidFill>
              <a:srgbClr val="0B5AA8"/>
            </a:solidFill>
            <a:prstDash val="solid"/>
          </a:ln>
        </p:spPr>
      </p:sp>
      <p:sp>
        <p:nvSpPr>
          <p:cNvPr id="34" name="Text 32"/>
          <p:cNvSpPr/>
          <p:nvPr/>
        </p:nvSpPr>
        <p:spPr>
          <a:xfrm>
            <a:off x="1006158" y="2999105"/>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StallListPage</a:t>
            </a:r>
          </a:p>
        </p:txBody>
      </p:sp>
      <p:sp>
        <p:nvSpPr>
          <p:cNvPr id="35" name="Text 33"/>
          <p:cNvSpPr/>
          <p:nvPr/>
        </p:nvSpPr>
        <p:spPr>
          <a:xfrm>
            <a:off x="1161479" y="3242029"/>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搜索 / 筛选窗口</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查看排行</a:t>
            </a:r>
          </a:p>
        </p:txBody>
      </p:sp>
      <p:sp>
        <p:nvSpPr>
          <p:cNvPr id="36" name="Shape 34"/>
          <p:cNvSpPr/>
          <p:nvPr/>
        </p:nvSpPr>
        <p:spPr>
          <a:xfrm>
            <a:off x="933006" y="3895344"/>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37" name="Shape 35"/>
          <p:cNvSpPr/>
          <p:nvPr/>
        </p:nvSpPr>
        <p:spPr>
          <a:xfrm>
            <a:off x="933006" y="3895344"/>
            <a:ext cx="1975104" cy="256032"/>
          </a:xfrm>
          <a:prstGeom prst="rect">
            <a:avLst/>
          </a:prstGeom>
          <a:solidFill>
            <a:srgbClr val="0B5AA8">
              <a:alpha val="16000"/>
            </a:srgbClr>
          </a:solidFill>
          <a:ln w="12700">
            <a:solidFill>
              <a:srgbClr val="0B5AA8"/>
            </a:solidFill>
            <a:prstDash val="solid"/>
          </a:ln>
        </p:spPr>
      </p:sp>
      <p:sp>
        <p:nvSpPr>
          <p:cNvPr id="39" name="Text 37"/>
          <p:cNvSpPr/>
          <p:nvPr/>
        </p:nvSpPr>
        <p:spPr>
          <a:xfrm>
            <a:off x="1006158" y="3986657"/>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StallDetailPage</a:t>
            </a:r>
          </a:p>
        </p:txBody>
      </p:sp>
      <p:sp>
        <p:nvSpPr>
          <p:cNvPr id="40" name="Text 38"/>
          <p:cNvSpPr/>
          <p:nvPr/>
        </p:nvSpPr>
        <p:spPr>
          <a:xfrm>
            <a:off x="1161479" y="4196588"/>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展示详情</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发起评论</a:t>
            </a:r>
          </a:p>
        </p:txBody>
      </p:sp>
      <p:sp>
        <p:nvSpPr>
          <p:cNvPr id="41" name="Shape 39"/>
          <p:cNvSpPr/>
          <p:nvPr/>
        </p:nvSpPr>
        <p:spPr>
          <a:xfrm>
            <a:off x="933006" y="4882896"/>
            <a:ext cx="1975104" cy="804672"/>
          </a:xfrm>
          <a:prstGeom prst="roundRect">
            <a:avLst>
              <a:gd name="adj" fmla="val 5682"/>
            </a:avLst>
          </a:prstGeom>
          <a:solidFill>
            <a:srgbClr val="FFFFFF"/>
          </a:solidFill>
          <a:ln w="12700">
            <a:solidFill>
              <a:srgbClr val="0B5AA8"/>
            </a:solidFill>
            <a:prstDash val="solid"/>
          </a:ln>
          <a:effectLst>
            <a:outerShdw blurRad="12700" dist="5080" dir="2700000" algn="bl" rotWithShape="0">
              <a:srgbClr val="000000">
                <a:alpha val="10000"/>
              </a:srgbClr>
            </a:outerShdw>
          </a:effectLst>
        </p:spPr>
      </p:sp>
      <p:sp>
        <p:nvSpPr>
          <p:cNvPr id="42" name="Shape 40"/>
          <p:cNvSpPr/>
          <p:nvPr/>
        </p:nvSpPr>
        <p:spPr>
          <a:xfrm>
            <a:off x="933006" y="4882896"/>
            <a:ext cx="1975104" cy="256032"/>
          </a:xfrm>
          <a:prstGeom prst="rect">
            <a:avLst/>
          </a:prstGeom>
          <a:solidFill>
            <a:srgbClr val="0B5AA8">
              <a:alpha val="16000"/>
            </a:srgbClr>
          </a:solidFill>
          <a:ln w="12700">
            <a:solidFill>
              <a:srgbClr val="0B5AA8"/>
            </a:solidFill>
            <a:prstDash val="solid"/>
          </a:ln>
        </p:spPr>
      </p:sp>
      <p:sp>
        <p:nvSpPr>
          <p:cNvPr id="44" name="Text 42"/>
          <p:cNvSpPr/>
          <p:nvPr/>
        </p:nvSpPr>
        <p:spPr>
          <a:xfrm>
            <a:off x="942023" y="4938649"/>
            <a:ext cx="1828800"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AdminPage</a:t>
            </a:r>
          </a:p>
        </p:txBody>
      </p:sp>
      <p:sp>
        <p:nvSpPr>
          <p:cNvPr id="45" name="Text 43"/>
          <p:cNvSpPr/>
          <p:nvPr/>
        </p:nvSpPr>
        <p:spPr>
          <a:xfrm>
            <a:off x="1161479" y="5184140"/>
            <a:ext cx="1755648"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维护窗口 / 标签</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管理用户评论</a:t>
            </a:r>
          </a:p>
        </p:txBody>
      </p:sp>
      <p:sp>
        <p:nvSpPr>
          <p:cNvPr id="46" name="Shape 44"/>
          <p:cNvSpPr/>
          <p:nvPr/>
        </p:nvSpPr>
        <p:spPr>
          <a:xfrm>
            <a:off x="4553903" y="2112010"/>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47" name="Shape 45"/>
          <p:cNvSpPr/>
          <p:nvPr/>
        </p:nvSpPr>
        <p:spPr>
          <a:xfrm>
            <a:off x="4553903" y="2112010"/>
            <a:ext cx="1801368" cy="256032"/>
          </a:xfrm>
          <a:prstGeom prst="rect">
            <a:avLst/>
          </a:prstGeom>
          <a:solidFill>
            <a:srgbClr val="D8B24C">
              <a:alpha val="16000"/>
            </a:srgbClr>
          </a:solidFill>
          <a:ln w="12700">
            <a:solidFill>
              <a:srgbClr val="D8B24C"/>
            </a:solidFill>
            <a:prstDash val="solid"/>
          </a:ln>
        </p:spPr>
      </p:sp>
      <p:sp>
        <p:nvSpPr>
          <p:cNvPr id="49" name="Text 47"/>
          <p:cNvSpPr/>
          <p:nvPr/>
        </p:nvSpPr>
        <p:spPr>
          <a:xfrm>
            <a:off x="4627055" y="2221738"/>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AuthService</a:t>
            </a:r>
          </a:p>
        </p:txBody>
      </p:sp>
      <p:sp>
        <p:nvSpPr>
          <p:cNvPr id="50" name="Text 48"/>
          <p:cNvSpPr/>
          <p:nvPr/>
        </p:nvSpPr>
        <p:spPr>
          <a:xfrm>
            <a:off x="4663631" y="2441194"/>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login()</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checkToken()</a:t>
            </a:r>
          </a:p>
        </p:txBody>
      </p:sp>
      <p:sp>
        <p:nvSpPr>
          <p:cNvPr id="51" name="Shape 49"/>
          <p:cNvSpPr/>
          <p:nvPr/>
        </p:nvSpPr>
        <p:spPr>
          <a:xfrm>
            <a:off x="4553903" y="3099562"/>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52" name="Shape 50"/>
          <p:cNvSpPr/>
          <p:nvPr/>
        </p:nvSpPr>
        <p:spPr>
          <a:xfrm>
            <a:off x="4553903" y="3099562"/>
            <a:ext cx="1801368" cy="256032"/>
          </a:xfrm>
          <a:prstGeom prst="rect">
            <a:avLst/>
          </a:prstGeom>
          <a:solidFill>
            <a:srgbClr val="D8B24C">
              <a:alpha val="16000"/>
            </a:srgbClr>
          </a:solidFill>
          <a:ln w="12700">
            <a:solidFill>
              <a:srgbClr val="D8B24C"/>
            </a:solidFill>
            <a:prstDash val="solid"/>
          </a:ln>
        </p:spPr>
      </p:sp>
      <p:sp>
        <p:nvSpPr>
          <p:cNvPr id="54" name="Text 52"/>
          <p:cNvSpPr/>
          <p:nvPr/>
        </p:nvSpPr>
        <p:spPr>
          <a:xfrm>
            <a:off x="4627055" y="3209290"/>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StallService</a:t>
            </a:r>
          </a:p>
        </p:txBody>
      </p:sp>
      <p:sp>
        <p:nvSpPr>
          <p:cNvPr id="55" name="Text 53"/>
          <p:cNvSpPr/>
          <p:nvPr/>
        </p:nvSpPr>
        <p:spPr>
          <a:xfrm>
            <a:off x="4663631" y="3428746"/>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listStalls()</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getDetail()</a:t>
            </a:r>
          </a:p>
        </p:txBody>
      </p:sp>
      <p:sp>
        <p:nvSpPr>
          <p:cNvPr id="56" name="Shape 54"/>
          <p:cNvSpPr/>
          <p:nvPr/>
        </p:nvSpPr>
        <p:spPr>
          <a:xfrm>
            <a:off x="4553903" y="4087114"/>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57" name="Shape 55"/>
          <p:cNvSpPr/>
          <p:nvPr/>
        </p:nvSpPr>
        <p:spPr>
          <a:xfrm>
            <a:off x="4553903" y="4087114"/>
            <a:ext cx="1801368" cy="256032"/>
          </a:xfrm>
          <a:prstGeom prst="rect">
            <a:avLst/>
          </a:prstGeom>
          <a:solidFill>
            <a:srgbClr val="D8B24C">
              <a:alpha val="16000"/>
            </a:srgbClr>
          </a:solidFill>
          <a:ln w="12700">
            <a:solidFill>
              <a:srgbClr val="D8B24C"/>
            </a:solidFill>
            <a:prstDash val="solid"/>
          </a:ln>
        </p:spPr>
      </p:sp>
      <p:sp>
        <p:nvSpPr>
          <p:cNvPr id="59" name="Text 57"/>
          <p:cNvSpPr/>
          <p:nvPr/>
        </p:nvSpPr>
        <p:spPr>
          <a:xfrm>
            <a:off x="4627055" y="4196842"/>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ReviewService</a:t>
            </a:r>
          </a:p>
        </p:txBody>
      </p:sp>
      <p:sp>
        <p:nvSpPr>
          <p:cNvPr id="60" name="Text 58"/>
          <p:cNvSpPr/>
          <p:nvPr/>
        </p:nvSpPr>
        <p:spPr>
          <a:xfrm>
            <a:off x="4663631" y="4416298"/>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createReview()</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recountStats()</a:t>
            </a:r>
          </a:p>
        </p:txBody>
      </p:sp>
      <p:sp>
        <p:nvSpPr>
          <p:cNvPr id="61" name="Shape 59"/>
          <p:cNvSpPr/>
          <p:nvPr/>
        </p:nvSpPr>
        <p:spPr>
          <a:xfrm>
            <a:off x="4553903" y="5074666"/>
            <a:ext cx="1801368" cy="804672"/>
          </a:xfrm>
          <a:prstGeom prst="roundRect">
            <a:avLst>
              <a:gd name="adj" fmla="val 5682"/>
            </a:avLst>
          </a:prstGeom>
          <a:solidFill>
            <a:srgbClr val="FFFFFF"/>
          </a:solidFill>
          <a:ln w="12700">
            <a:solidFill>
              <a:srgbClr val="D8B24C"/>
            </a:solidFill>
            <a:prstDash val="solid"/>
          </a:ln>
          <a:effectLst>
            <a:outerShdw blurRad="12700" dist="5080" dir="2700000" algn="bl" rotWithShape="0">
              <a:srgbClr val="000000">
                <a:alpha val="10000"/>
              </a:srgbClr>
            </a:outerShdw>
          </a:effectLst>
        </p:spPr>
      </p:sp>
      <p:sp>
        <p:nvSpPr>
          <p:cNvPr id="62" name="Shape 60"/>
          <p:cNvSpPr/>
          <p:nvPr/>
        </p:nvSpPr>
        <p:spPr>
          <a:xfrm>
            <a:off x="4553903" y="5074666"/>
            <a:ext cx="1801368" cy="256032"/>
          </a:xfrm>
          <a:prstGeom prst="rect">
            <a:avLst/>
          </a:prstGeom>
          <a:solidFill>
            <a:srgbClr val="D8B24C">
              <a:alpha val="16000"/>
            </a:srgbClr>
          </a:solidFill>
          <a:ln w="12700">
            <a:solidFill>
              <a:srgbClr val="D8B24C"/>
            </a:solidFill>
            <a:prstDash val="solid"/>
          </a:ln>
        </p:spPr>
      </p:sp>
      <p:sp>
        <p:nvSpPr>
          <p:cNvPr id="64" name="Text 62"/>
          <p:cNvSpPr/>
          <p:nvPr/>
        </p:nvSpPr>
        <p:spPr>
          <a:xfrm>
            <a:off x="4627055" y="5184394"/>
            <a:ext cx="1655064"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AdminService</a:t>
            </a:r>
          </a:p>
        </p:txBody>
      </p:sp>
      <p:sp>
        <p:nvSpPr>
          <p:cNvPr id="65" name="Text 63"/>
          <p:cNvSpPr/>
          <p:nvPr/>
        </p:nvSpPr>
        <p:spPr>
          <a:xfrm>
            <a:off x="4663631" y="5403850"/>
            <a:ext cx="1581912"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updateStall()</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 manageTag()</a:t>
            </a:r>
          </a:p>
        </p:txBody>
      </p:sp>
      <p:sp>
        <p:nvSpPr>
          <p:cNvPr id="66" name="Shape 64"/>
          <p:cNvSpPr/>
          <p:nvPr/>
        </p:nvSpPr>
        <p:spPr>
          <a:xfrm>
            <a:off x="8001191" y="2112010"/>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67" name="Shape 65"/>
          <p:cNvSpPr/>
          <p:nvPr/>
        </p:nvSpPr>
        <p:spPr>
          <a:xfrm>
            <a:off x="8001191" y="2112010"/>
            <a:ext cx="2103120" cy="256032"/>
          </a:xfrm>
          <a:prstGeom prst="rect">
            <a:avLst/>
          </a:prstGeom>
          <a:solidFill>
            <a:srgbClr val="97B45A">
              <a:alpha val="16000"/>
            </a:srgbClr>
          </a:solidFill>
          <a:ln w="12700">
            <a:solidFill>
              <a:srgbClr val="97B45A"/>
            </a:solidFill>
            <a:prstDash val="solid"/>
          </a:ln>
        </p:spPr>
      </p:sp>
      <p:sp>
        <p:nvSpPr>
          <p:cNvPr id="69" name="Text 67"/>
          <p:cNvSpPr/>
          <p:nvPr/>
        </p:nvSpPr>
        <p:spPr>
          <a:xfrm>
            <a:off x="8074343" y="2221738"/>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User</a:t>
            </a:r>
          </a:p>
        </p:txBody>
      </p:sp>
      <p:sp>
        <p:nvSpPr>
          <p:cNvPr id="70" name="Text 68"/>
          <p:cNvSpPr/>
          <p:nvPr/>
        </p:nvSpPr>
        <p:spPr>
          <a:xfrm>
            <a:off x="8110919" y="2441194"/>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student_id, role</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password_hash</a:t>
            </a:r>
          </a:p>
        </p:txBody>
      </p:sp>
      <p:sp>
        <p:nvSpPr>
          <p:cNvPr id="71" name="Shape 69"/>
          <p:cNvSpPr/>
          <p:nvPr/>
        </p:nvSpPr>
        <p:spPr>
          <a:xfrm>
            <a:off x="8001191" y="3099562"/>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72" name="Shape 70"/>
          <p:cNvSpPr/>
          <p:nvPr/>
        </p:nvSpPr>
        <p:spPr>
          <a:xfrm>
            <a:off x="8001191" y="3099562"/>
            <a:ext cx="2103120" cy="256032"/>
          </a:xfrm>
          <a:prstGeom prst="rect">
            <a:avLst/>
          </a:prstGeom>
          <a:solidFill>
            <a:srgbClr val="97B45A">
              <a:alpha val="16000"/>
            </a:srgbClr>
          </a:solidFill>
          <a:ln w="12700">
            <a:solidFill>
              <a:srgbClr val="97B45A"/>
            </a:solidFill>
            <a:prstDash val="solid"/>
          </a:ln>
        </p:spPr>
      </p:sp>
      <p:sp>
        <p:nvSpPr>
          <p:cNvPr id="74" name="Text 72"/>
          <p:cNvSpPr/>
          <p:nvPr/>
        </p:nvSpPr>
        <p:spPr>
          <a:xfrm>
            <a:off x="8074343" y="3209290"/>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Stall</a:t>
            </a:r>
          </a:p>
        </p:txBody>
      </p:sp>
      <p:sp>
        <p:nvSpPr>
          <p:cNvPr id="75" name="Text 73"/>
          <p:cNvSpPr/>
          <p:nvPr/>
        </p:nvSpPr>
        <p:spPr>
          <a:xfrm>
            <a:off x="8110919" y="3428746"/>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canteen_id</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avg_rating, review_count</a:t>
            </a:r>
          </a:p>
        </p:txBody>
      </p:sp>
      <p:sp>
        <p:nvSpPr>
          <p:cNvPr id="76" name="Shape 74"/>
          <p:cNvSpPr/>
          <p:nvPr/>
        </p:nvSpPr>
        <p:spPr>
          <a:xfrm>
            <a:off x="8001191" y="4087114"/>
            <a:ext cx="2103120"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77" name="Shape 75"/>
          <p:cNvSpPr/>
          <p:nvPr/>
        </p:nvSpPr>
        <p:spPr>
          <a:xfrm>
            <a:off x="8001191" y="4087114"/>
            <a:ext cx="2103120" cy="256032"/>
          </a:xfrm>
          <a:prstGeom prst="rect">
            <a:avLst/>
          </a:prstGeom>
          <a:solidFill>
            <a:srgbClr val="97B45A">
              <a:alpha val="16000"/>
            </a:srgbClr>
          </a:solidFill>
          <a:ln w="12700">
            <a:solidFill>
              <a:srgbClr val="97B45A"/>
            </a:solidFill>
            <a:prstDash val="solid"/>
          </a:ln>
        </p:spPr>
      </p:sp>
      <p:sp>
        <p:nvSpPr>
          <p:cNvPr id="79" name="Text 77"/>
          <p:cNvSpPr/>
          <p:nvPr/>
        </p:nvSpPr>
        <p:spPr>
          <a:xfrm>
            <a:off x="8074343" y="4196842"/>
            <a:ext cx="1956816"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Review</a:t>
            </a:r>
          </a:p>
        </p:txBody>
      </p:sp>
      <p:sp>
        <p:nvSpPr>
          <p:cNvPr id="80" name="Text 78"/>
          <p:cNvSpPr/>
          <p:nvPr/>
        </p:nvSpPr>
        <p:spPr>
          <a:xfrm>
            <a:off x="8110919" y="4416298"/>
            <a:ext cx="1883664"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user_id, stall_id</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rating, content</a:t>
            </a:r>
          </a:p>
        </p:txBody>
      </p:sp>
      <p:sp>
        <p:nvSpPr>
          <p:cNvPr id="81" name="Shape 79"/>
          <p:cNvSpPr/>
          <p:nvPr/>
        </p:nvSpPr>
        <p:spPr>
          <a:xfrm>
            <a:off x="8001191" y="5074666"/>
            <a:ext cx="987552"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82" name="Shape 80"/>
          <p:cNvSpPr/>
          <p:nvPr/>
        </p:nvSpPr>
        <p:spPr>
          <a:xfrm>
            <a:off x="8001191" y="5074666"/>
            <a:ext cx="987552" cy="256032"/>
          </a:xfrm>
          <a:prstGeom prst="rect">
            <a:avLst/>
          </a:prstGeom>
          <a:solidFill>
            <a:srgbClr val="97B45A">
              <a:alpha val="16000"/>
            </a:srgbClr>
          </a:solidFill>
          <a:ln w="12700">
            <a:solidFill>
              <a:srgbClr val="97B45A"/>
            </a:solidFill>
            <a:prstDash val="solid"/>
          </a:ln>
        </p:spPr>
      </p:sp>
      <p:sp>
        <p:nvSpPr>
          <p:cNvPr id="84" name="Text 82"/>
          <p:cNvSpPr/>
          <p:nvPr/>
        </p:nvSpPr>
        <p:spPr>
          <a:xfrm>
            <a:off x="8074343" y="5184394"/>
            <a:ext cx="841248"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Tag</a:t>
            </a:r>
          </a:p>
        </p:txBody>
      </p:sp>
      <p:sp>
        <p:nvSpPr>
          <p:cNvPr id="85" name="Text 83"/>
          <p:cNvSpPr/>
          <p:nvPr/>
        </p:nvSpPr>
        <p:spPr>
          <a:xfrm>
            <a:off x="8110919" y="5403850"/>
            <a:ext cx="768096"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id, name</a:t>
            </a:r>
          </a:p>
        </p:txBody>
      </p:sp>
      <p:sp>
        <p:nvSpPr>
          <p:cNvPr id="86" name="Shape 84"/>
          <p:cNvSpPr/>
          <p:nvPr/>
        </p:nvSpPr>
        <p:spPr>
          <a:xfrm>
            <a:off x="9135047" y="5074666"/>
            <a:ext cx="987552" cy="804672"/>
          </a:xfrm>
          <a:prstGeom prst="roundRect">
            <a:avLst>
              <a:gd name="adj" fmla="val 5682"/>
            </a:avLst>
          </a:prstGeom>
          <a:solidFill>
            <a:srgbClr val="FFFFFF"/>
          </a:solidFill>
          <a:ln w="12700">
            <a:solidFill>
              <a:srgbClr val="97B45A"/>
            </a:solidFill>
            <a:prstDash val="solid"/>
          </a:ln>
          <a:effectLst>
            <a:outerShdw blurRad="12700" dist="5080" dir="2700000" algn="bl" rotWithShape="0">
              <a:srgbClr val="000000">
                <a:alpha val="10000"/>
              </a:srgbClr>
            </a:outerShdw>
          </a:effectLst>
        </p:spPr>
      </p:sp>
      <p:sp>
        <p:nvSpPr>
          <p:cNvPr id="87" name="Shape 85"/>
          <p:cNvSpPr/>
          <p:nvPr/>
        </p:nvSpPr>
        <p:spPr>
          <a:xfrm>
            <a:off x="9135047" y="5074666"/>
            <a:ext cx="987552" cy="256032"/>
          </a:xfrm>
          <a:prstGeom prst="rect">
            <a:avLst/>
          </a:prstGeom>
          <a:solidFill>
            <a:srgbClr val="97B45A">
              <a:alpha val="16000"/>
            </a:srgbClr>
          </a:solidFill>
          <a:ln w="12700">
            <a:solidFill>
              <a:srgbClr val="97B45A"/>
            </a:solidFill>
            <a:prstDash val="solid"/>
          </a:ln>
        </p:spPr>
      </p:sp>
      <p:sp>
        <p:nvSpPr>
          <p:cNvPr id="89" name="Text 87"/>
          <p:cNvSpPr/>
          <p:nvPr/>
        </p:nvSpPr>
        <p:spPr>
          <a:xfrm>
            <a:off x="9208199" y="5184394"/>
            <a:ext cx="841248" cy="100584"/>
          </a:xfrm>
          <a:prstGeom prst="rect">
            <a:avLst/>
          </a:prstGeom>
          <a:noFill/>
        </p:spPr>
        <p:txBody>
          <a:bodyPr wrap="square" lIns="0" tIns="0" rIns="0" bIns="0" rtlCol="0" anchor="ctr"/>
          <a:lstStyle/>
          <a:p>
            <a:pPr marL="0" indent="0" algn="ctr">
              <a:buNone/>
            </a:pPr>
            <a:r>
              <a:rPr lang="en-US" b="1" dirty="0">
                <a:solidFill>
                  <a:srgbClr val="1F1F1F"/>
                </a:solidFill>
                <a:latin typeface="思源黑体 CN" panose="020B0500000000000000" pitchFamily="34" charset="-122"/>
                <a:ea typeface="思源黑体 CN" panose="020B0500000000000000" pitchFamily="34" charset="-122"/>
                <a:cs typeface="Noto Sans SC"/>
              </a:rPr>
              <a:t>Behavior</a:t>
            </a:r>
          </a:p>
        </p:txBody>
      </p:sp>
      <p:sp>
        <p:nvSpPr>
          <p:cNvPr id="90" name="Text 88"/>
          <p:cNvSpPr/>
          <p:nvPr/>
        </p:nvSpPr>
        <p:spPr>
          <a:xfrm>
            <a:off x="9244775" y="5403850"/>
            <a:ext cx="768096" cy="420624"/>
          </a:xfrm>
          <a:prstGeom prst="rect">
            <a:avLst/>
          </a:prstGeom>
          <a:noFill/>
        </p:spPr>
        <p:txBody>
          <a:bodyPr wrap="square" lIns="381" tIns="381" rIns="381" bIns="381" rtlCol="0" anchor="ctr"/>
          <a:lstStyle/>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favorite</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blacklist</a:t>
            </a:r>
            <a:endParaRPr lang="en-US" sz="1200" dirty="0">
              <a:latin typeface="思源宋体" panose="02020400000000000000" pitchFamily="18" charset="-122"/>
              <a:ea typeface="思源宋体" panose="02020400000000000000" pitchFamily="18" charset="-122"/>
              <a:cs typeface="Noto Serif SC"/>
            </a:endParaRPr>
          </a:p>
          <a:p>
            <a:pPr marL="0" indent="0">
              <a:buNone/>
            </a:pPr>
            <a:r>
              <a:rPr lang="en-US" sz="1200" dirty="0">
                <a:solidFill>
                  <a:srgbClr val="555555"/>
                </a:solidFill>
                <a:latin typeface="思源宋体" panose="02020400000000000000" pitchFamily="18" charset="-122"/>
                <a:ea typeface="思源宋体" panose="02020400000000000000" pitchFamily="18" charset="-122"/>
                <a:cs typeface="Noto Serif SC"/>
              </a:rPr>
              <a:t>history</a:t>
            </a:r>
          </a:p>
        </p:txBody>
      </p:sp>
      <p:sp>
        <p:nvSpPr>
          <p:cNvPr id="94" name="矩形 93"/>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系统架构 · 类图</a:t>
            </a:r>
          </a:p>
        </p:txBody>
      </p:sp>
    </p:spTree>
    <p:extLst>
      <p:ext uri="{BB962C8B-B14F-4D97-AF65-F5344CB8AC3E}">
        <p14:creationId xmlns:p14="http://schemas.microsoft.com/office/powerpoint/2010/main" val="14862994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idx="12"/>
          </p:nvPr>
        </p:nvSpPr>
        <p:spPr>
          <a:xfrm>
            <a:off x="1524000" y="1122363"/>
            <a:ext cx="9144000" cy="2387600"/>
          </a:xfrm>
        </p:spPr>
        <p:txBody>
          <a:bodyPr/>
          <a:lstStyle/>
          <a:p>
            <a:endParaRPr>
              <a:latin typeface="Noto Serif SC"/>
              <a:ea typeface="Noto Serif SC"/>
              <a:cs typeface="Noto Serif SC"/>
            </a:endParaRPr>
          </a:p>
        </p:txBody>
      </p:sp>
      <p:sp>
        <p:nvSpPr>
          <p:cNvPr id="3" name="矩形 2"/>
          <p:cNvSpPr>
            <a:spLocks noGrp="1"/>
          </p:cNvSpPr>
          <p:nvPr/>
        </p:nvSpPr>
        <p:spPr>
          <a:xfrm>
            <a:off x="0" y="0"/>
            <a:ext cx="12192000" cy="863600"/>
          </a:xfrm>
          <a:prstGeom prst="rect">
            <a:avLst/>
          </a:prstGeom>
          <a:solidFill>
            <a:srgbClr val="004E97">
              <a:alpha val="6000"/>
            </a:srgbClr>
          </a:solidFill>
          <a:ln w="0">
            <a:solidFill>
              <a:srgbClr val="000000">
                <a:alpha val="0"/>
              </a:srgbClr>
            </a:solidFill>
            <a:prstDash val="solid"/>
          </a:ln>
        </p:spPr>
      </p:sp>
      <p:sp>
        <p:nvSpPr>
          <p:cNvPr id="4" name="矩形 3"/>
          <p:cNvSpPr>
            <a:spLocks noGrp="1"/>
          </p:cNvSpPr>
          <p:nvPr/>
        </p:nvSpPr>
        <p:spPr>
          <a:xfrm>
            <a:off x="0" y="876300"/>
            <a:ext cx="12192000" cy="5981700"/>
          </a:xfrm>
          <a:prstGeom prst="rect">
            <a:avLst/>
          </a:prstGeom>
          <a:solidFill>
            <a:srgbClr val="FFFFFF"/>
          </a:solidFill>
          <a:ln w="0">
            <a:solidFill>
              <a:srgbClr val="000000">
                <a:alpha val="0"/>
              </a:srgbClr>
            </a:solidFill>
            <a:prstDash val="solid"/>
          </a:ln>
        </p:spPr>
      </p:sp>
      <p:sp>
        <p:nvSpPr>
          <p:cNvPr id="5" name="矩形 4"/>
          <p:cNvSpPr>
            <a:spLocks noGrp="1"/>
          </p:cNvSpPr>
          <p:nvPr/>
        </p:nvSpPr>
        <p:spPr>
          <a:xfrm>
            <a:off x="914400" y="292100"/>
            <a:ext cx="8382000" cy="431800"/>
          </a:xfrm>
          <a:prstGeom prst="rect">
            <a:avLst/>
          </a:prstGeom>
          <a:solidFill>
            <a:srgbClr val="000000">
              <a:alpha val="0"/>
            </a:srgbClr>
          </a:solidFill>
          <a:ln w="0">
            <a:solidFill>
              <a:srgbClr val="000000">
                <a:alpha val="0"/>
              </a:srgbClr>
            </a:solidFill>
            <a:prstDash val="solid"/>
          </a:ln>
        </p:spPr>
        <p:txBody>
          <a:bodyPr lIns="0" tIns="0" rIns="0" bIns="0" anchor="t"/>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数据库设计 · 标准化 ER 图与关键约束</a:t>
            </a:r>
          </a:p>
        </p:txBody>
      </p:sp>
      <p:sp>
        <p:nvSpPr>
          <p:cNvPr id="6" name="矩形 5"/>
          <p:cNvSpPr>
            <a:spLocks noGrp="1"/>
          </p:cNvSpPr>
          <p:nvPr/>
        </p:nvSpPr>
        <p:spPr>
          <a:xfrm>
            <a:off x="942975" y="752475"/>
            <a:ext cx="3905250" cy="28575"/>
          </a:xfrm>
          <a:prstGeom prst="rect">
            <a:avLst/>
          </a:prstGeom>
          <a:solidFill>
            <a:srgbClr val="E6C46D"/>
          </a:solidFill>
          <a:ln w="0">
            <a:solidFill>
              <a:srgbClr val="000000">
                <a:alpha val="0"/>
              </a:srgbClr>
            </a:solidFill>
            <a:prstDash val="solid"/>
          </a:ln>
        </p:spPr>
      </p:sp>
      <p:sp>
        <p:nvSpPr>
          <p:cNvPr id="7" name="矩形 6"/>
          <p:cNvSpPr>
            <a:spLocks noGrp="1"/>
          </p:cNvSpPr>
          <p:nvPr/>
        </p:nvSpPr>
        <p:spPr>
          <a:xfrm>
            <a:off x="876300" y="990600"/>
            <a:ext cx="103441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3F4A57"/>
                </a:solidFill>
                <a:latin typeface="Noto Serif SC"/>
                <a:ea typeface="Noto Serif SC"/>
                <a:cs typeface="Noto Serif SC"/>
              </a:defRPr>
            </a:pPr>
            <a:r>
              <a:rPr sz="1400" b="0" dirty="0">
                <a:solidFill>
                  <a:srgbClr val="3F4A57"/>
                </a:solidFill>
                <a:latin typeface="思源宋体" panose="02020400000000000000" pitchFamily="18" charset="-122"/>
                <a:ea typeface="思源宋体" panose="02020400000000000000" pitchFamily="18" charset="-122"/>
                <a:cs typeface="Noto Serif SC"/>
              </a:rPr>
              <a:t>用 9 </a:t>
            </a:r>
            <a:r>
              <a:rPr sz="1400" b="0" dirty="0" err="1">
                <a:solidFill>
                  <a:srgbClr val="3F4A57"/>
                </a:solidFill>
                <a:latin typeface="思源宋体" panose="02020400000000000000" pitchFamily="18" charset="-122"/>
                <a:ea typeface="思源宋体" panose="02020400000000000000" pitchFamily="18" charset="-122"/>
                <a:cs typeface="Noto Serif SC"/>
              </a:rPr>
              <a:t>张业务表支撑评价、排行、推荐和个人中心，关键业务规则落在外键与唯一约束上</a:t>
            </a:r>
            <a:r>
              <a:rPr sz="1400" b="0" dirty="0">
                <a:solidFill>
                  <a:srgbClr val="3F4A57"/>
                </a:solidFill>
                <a:latin typeface="思源宋体" panose="02020400000000000000" pitchFamily="18" charset="-122"/>
                <a:ea typeface="思源宋体" panose="02020400000000000000" pitchFamily="18" charset="-122"/>
                <a:cs typeface="Noto Serif SC"/>
              </a:rPr>
              <a:t>。</a:t>
            </a:r>
          </a:p>
        </p:txBody>
      </p:sp>
      <p:sp>
        <p:nvSpPr>
          <p:cNvPr id="8" name="矩形 7"/>
          <p:cNvSpPr>
            <a:spLocks noGrp="1"/>
          </p:cNvSpPr>
          <p:nvPr/>
        </p:nvSpPr>
        <p:spPr>
          <a:xfrm>
            <a:off x="866775" y="6210300"/>
            <a:ext cx="10439400" cy="66675"/>
          </a:xfrm>
          <a:prstGeom prst="rect">
            <a:avLst/>
          </a:prstGeom>
          <a:solidFill>
            <a:srgbClr val="D99A23"/>
          </a:solidFill>
          <a:ln w="0">
            <a:solidFill>
              <a:srgbClr val="000000">
                <a:alpha val="0"/>
              </a:srgbClr>
            </a:solidFill>
            <a:prstDash val="solid"/>
          </a:ln>
        </p:spPr>
      </p:sp>
      <p:sp>
        <p:nvSpPr>
          <p:cNvPr id="9" name="矩形 8"/>
          <p:cNvSpPr>
            <a:spLocks noGrp="1"/>
          </p:cNvSpPr>
          <p:nvPr/>
        </p:nvSpPr>
        <p:spPr>
          <a:xfrm>
            <a:off x="942975" y="6448425"/>
            <a:ext cx="10325100" cy="19050"/>
          </a:xfrm>
          <a:prstGeom prst="rect">
            <a:avLst/>
          </a:prstGeom>
          <a:solidFill>
            <a:srgbClr val="D99A23"/>
          </a:solidFill>
          <a:ln w="0">
            <a:solidFill>
              <a:srgbClr val="000000">
                <a:alpha val="0"/>
              </a:srgbClr>
            </a:solidFill>
            <a:prstDash val="solid"/>
          </a:ln>
        </p:spPr>
      </p:sp>
      <p:sp>
        <p:nvSpPr>
          <p:cNvPr id="11" name="圆角矩形 10"/>
          <p:cNvSpPr>
            <a:spLocks noGrp="1"/>
          </p:cNvSpPr>
          <p:nvPr/>
        </p:nvSpPr>
        <p:spPr>
          <a:xfrm>
            <a:off x="628650" y="1504950"/>
            <a:ext cx="1695450" cy="1352550"/>
          </a:xfrm>
          <a:prstGeom prst="roundRect">
            <a:avLst>
              <a:gd name="adj" fmla="val 6349"/>
            </a:avLst>
          </a:prstGeom>
          <a:solidFill>
            <a:srgbClr val="FFFFFF"/>
          </a:solidFill>
          <a:ln w="13335">
            <a:solidFill>
              <a:srgbClr val="E74C4C"/>
            </a:solidFill>
            <a:prstDash val="solid"/>
          </a:ln>
        </p:spPr>
      </p:sp>
      <p:sp>
        <p:nvSpPr>
          <p:cNvPr id="12" name="圆角矩形 11"/>
          <p:cNvSpPr>
            <a:spLocks noGrp="1"/>
          </p:cNvSpPr>
          <p:nvPr/>
        </p:nvSpPr>
        <p:spPr>
          <a:xfrm>
            <a:off x="742950" y="1600200"/>
            <a:ext cx="1466850" cy="266700"/>
          </a:xfrm>
          <a:prstGeom prst="roundRect">
            <a:avLst>
              <a:gd name="adj" fmla="val 28571"/>
            </a:avLst>
          </a:prstGeom>
          <a:solidFill>
            <a:srgbClr val="F8E9EE"/>
          </a:solidFill>
          <a:ln w="7620">
            <a:solidFill>
              <a:srgbClr val="E74C4C"/>
            </a:solidFill>
            <a:prstDash val="solid"/>
          </a:ln>
        </p:spPr>
      </p:sp>
      <p:sp>
        <p:nvSpPr>
          <p:cNvPr id="13" name="矩形 12"/>
          <p:cNvSpPr>
            <a:spLocks noGrp="1"/>
          </p:cNvSpPr>
          <p:nvPr/>
        </p:nvSpPr>
        <p:spPr>
          <a:xfrm>
            <a:off x="800100" y="16573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USER</a:t>
            </a:r>
          </a:p>
        </p:txBody>
      </p:sp>
      <p:sp>
        <p:nvSpPr>
          <p:cNvPr id="14" name="矩形 13"/>
          <p:cNvSpPr>
            <a:spLocks noGrp="1"/>
          </p:cNvSpPr>
          <p:nvPr/>
        </p:nvSpPr>
        <p:spPr>
          <a:xfrm>
            <a:off x="781050" y="1962150"/>
            <a:ext cx="1390650" cy="19050"/>
          </a:xfrm>
          <a:prstGeom prst="rect">
            <a:avLst/>
          </a:prstGeom>
          <a:solidFill>
            <a:srgbClr val="DDE4EE"/>
          </a:solidFill>
          <a:ln w="0">
            <a:solidFill>
              <a:srgbClr val="000000">
                <a:alpha val="0"/>
              </a:srgbClr>
            </a:solidFill>
            <a:prstDash val="solid"/>
          </a:ln>
        </p:spPr>
      </p:sp>
      <p:sp>
        <p:nvSpPr>
          <p:cNvPr id="15" name="矩形 14"/>
          <p:cNvSpPr>
            <a:spLocks noGrp="1"/>
          </p:cNvSpPr>
          <p:nvPr/>
        </p:nvSpPr>
        <p:spPr>
          <a:xfrm>
            <a:off x="762000" y="1981200"/>
            <a:ext cx="1390650" cy="5715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student_id UQ</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username</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role / status</a:t>
            </a:r>
          </a:p>
        </p:txBody>
      </p:sp>
      <p:sp>
        <p:nvSpPr>
          <p:cNvPr id="16" name="圆角矩形 15"/>
          <p:cNvSpPr>
            <a:spLocks noGrp="1"/>
          </p:cNvSpPr>
          <p:nvPr/>
        </p:nvSpPr>
        <p:spPr>
          <a:xfrm>
            <a:off x="3695700" y="1504950"/>
            <a:ext cx="1866900" cy="1473200"/>
          </a:xfrm>
          <a:prstGeom prst="roundRect">
            <a:avLst>
              <a:gd name="adj" fmla="val 5634"/>
            </a:avLst>
          </a:prstGeom>
          <a:solidFill>
            <a:srgbClr val="FFFFFF"/>
          </a:solidFill>
          <a:ln w="13335">
            <a:solidFill>
              <a:srgbClr val="D99A23"/>
            </a:solidFill>
            <a:prstDash val="solid"/>
          </a:ln>
        </p:spPr>
      </p:sp>
      <p:sp>
        <p:nvSpPr>
          <p:cNvPr id="17" name="圆角矩形 16"/>
          <p:cNvSpPr>
            <a:spLocks noGrp="1"/>
          </p:cNvSpPr>
          <p:nvPr/>
        </p:nvSpPr>
        <p:spPr>
          <a:xfrm>
            <a:off x="3810000" y="1600200"/>
            <a:ext cx="1638300" cy="266700"/>
          </a:xfrm>
          <a:prstGeom prst="roundRect">
            <a:avLst>
              <a:gd name="adj" fmla="val 28571"/>
            </a:avLst>
          </a:prstGeom>
          <a:solidFill>
            <a:srgbClr val="FFF2D6"/>
          </a:solidFill>
          <a:ln w="7620">
            <a:solidFill>
              <a:srgbClr val="D99A23"/>
            </a:solidFill>
            <a:prstDash val="solid"/>
          </a:ln>
        </p:spPr>
      </p:sp>
      <p:sp>
        <p:nvSpPr>
          <p:cNvPr id="18" name="矩形 17"/>
          <p:cNvSpPr>
            <a:spLocks noGrp="1"/>
          </p:cNvSpPr>
          <p:nvPr/>
        </p:nvSpPr>
        <p:spPr>
          <a:xfrm>
            <a:off x="3867150" y="1657350"/>
            <a:ext cx="15240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D99A23"/>
                </a:solidFill>
                <a:latin typeface="Noto Serif SC"/>
                <a:ea typeface="Noto Serif SC"/>
                <a:cs typeface="Noto Serif SC"/>
              </a:defRPr>
            </a:pPr>
            <a:r>
              <a:rPr sz="1400" b="1">
                <a:solidFill>
                  <a:srgbClr val="D99A23"/>
                </a:solidFill>
                <a:latin typeface="思源黑体 CN" panose="020B0500000000000000" pitchFamily="34" charset="-122"/>
                <a:ea typeface="思源黑体 CN" panose="020B0500000000000000" pitchFamily="34" charset="-122"/>
                <a:cs typeface="Noto Sans SC"/>
              </a:rPr>
              <a:t>REVIEW</a:t>
            </a:r>
          </a:p>
        </p:txBody>
      </p:sp>
      <p:sp>
        <p:nvSpPr>
          <p:cNvPr id="19" name="矩形 18"/>
          <p:cNvSpPr>
            <a:spLocks noGrp="1"/>
          </p:cNvSpPr>
          <p:nvPr/>
        </p:nvSpPr>
        <p:spPr>
          <a:xfrm>
            <a:off x="3848100" y="1962150"/>
            <a:ext cx="1562100" cy="19050"/>
          </a:xfrm>
          <a:prstGeom prst="rect">
            <a:avLst/>
          </a:prstGeom>
          <a:solidFill>
            <a:srgbClr val="DDE4EE"/>
          </a:solidFill>
          <a:ln w="0">
            <a:solidFill>
              <a:srgbClr val="000000">
                <a:alpha val="0"/>
              </a:srgbClr>
            </a:solidFill>
            <a:prstDash val="solid"/>
          </a:ln>
        </p:spPr>
      </p:sp>
      <p:sp>
        <p:nvSpPr>
          <p:cNvPr id="20" name="矩形 19"/>
          <p:cNvSpPr>
            <a:spLocks noGrp="1"/>
          </p:cNvSpPr>
          <p:nvPr/>
        </p:nvSpPr>
        <p:spPr>
          <a:xfrm>
            <a:off x="3848100" y="2057400"/>
            <a:ext cx="1562100" cy="723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rating / content</a:t>
            </a:r>
          </a:p>
        </p:txBody>
      </p:sp>
      <p:sp>
        <p:nvSpPr>
          <p:cNvPr id="21" name="圆角矩形 20"/>
          <p:cNvSpPr>
            <a:spLocks noGrp="1"/>
          </p:cNvSpPr>
          <p:nvPr/>
        </p:nvSpPr>
        <p:spPr>
          <a:xfrm>
            <a:off x="6858000" y="1504950"/>
            <a:ext cx="1905000" cy="1543050"/>
          </a:xfrm>
          <a:prstGeom prst="roundRect">
            <a:avLst>
              <a:gd name="adj" fmla="val 5634"/>
            </a:avLst>
          </a:prstGeom>
          <a:solidFill>
            <a:srgbClr val="FFFFFF"/>
          </a:solidFill>
          <a:ln w="13335">
            <a:solidFill>
              <a:srgbClr val="17324D"/>
            </a:solidFill>
            <a:prstDash val="solid"/>
          </a:ln>
        </p:spPr>
      </p:sp>
      <p:sp>
        <p:nvSpPr>
          <p:cNvPr id="22" name="圆角矩形 21"/>
          <p:cNvSpPr>
            <a:spLocks noGrp="1"/>
          </p:cNvSpPr>
          <p:nvPr/>
        </p:nvSpPr>
        <p:spPr>
          <a:xfrm>
            <a:off x="6972300" y="1600200"/>
            <a:ext cx="1581150" cy="266700"/>
          </a:xfrm>
          <a:prstGeom prst="roundRect">
            <a:avLst>
              <a:gd name="adj" fmla="val 28571"/>
            </a:avLst>
          </a:prstGeom>
          <a:solidFill>
            <a:srgbClr val="E9EEF5"/>
          </a:solidFill>
          <a:ln w="7620">
            <a:solidFill>
              <a:srgbClr val="17324D"/>
            </a:solidFill>
            <a:prstDash val="solid"/>
          </a:ln>
        </p:spPr>
      </p:sp>
      <p:sp>
        <p:nvSpPr>
          <p:cNvPr id="23" name="矩形 22"/>
          <p:cNvSpPr>
            <a:spLocks noGrp="1"/>
          </p:cNvSpPr>
          <p:nvPr/>
        </p:nvSpPr>
        <p:spPr>
          <a:xfrm>
            <a:off x="7029450" y="1657350"/>
            <a:ext cx="14668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7324D"/>
                </a:solidFill>
                <a:latin typeface="Noto Serif SC"/>
                <a:ea typeface="Noto Serif SC"/>
                <a:cs typeface="Noto Serif SC"/>
              </a:defRPr>
            </a:pPr>
            <a:r>
              <a:rPr sz="1400" b="1">
                <a:solidFill>
                  <a:srgbClr val="17324D"/>
                </a:solidFill>
                <a:latin typeface="思源黑体 CN" panose="020B0500000000000000" pitchFamily="34" charset="-122"/>
                <a:ea typeface="思源黑体 CN" panose="020B0500000000000000" pitchFamily="34" charset="-122"/>
                <a:cs typeface="Noto Sans SC"/>
              </a:rPr>
              <a:t>STALL</a:t>
            </a:r>
          </a:p>
        </p:txBody>
      </p:sp>
      <p:sp>
        <p:nvSpPr>
          <p:cNvPr id="24" name="矩形 23"/>
          <p:cNvSpPr>
            <a:spLocks noGrp="1"/>
          </p:cNvSpPr>
          <p:nvPr/>
        </p:nvSpPr>
        <p:spPr>
          <a:xfrm>
            <a:off x="7010400" y="1962150"/>
            <a:ext cx="1504950" cy="19050"/>
          </a:xfrm>
          <a:prstGeom prst="rect">
            <a:avLst/>
          </a:prstGeom>
          <a:solidFill>
            <a:srgbClr val="DDE4EE"/>
          </a:solidFill>
          <a:ln w="0">
            <a:solidFill>
              <a:srgbClr val="000000">
                <a:alpha val="0"/>
              </a:srgbClr>
            </a:solidFill>
            <a:prstDash val="solid"/>
          </a:ln>
        </p:spPr>
      </p:sp>
      <p:sp>
        <p:nvSpPr>
          <p:cNvPr id="25" name="矩形 24"/>
          <p:cNvSpPr>
            <a:spLocks noGrp="1"/>
          </p:cNvSpPr>
          <p:nvPr/>
        </p:nvSpPr>
        <p:spPr>
          <a:xfrm>
            <a:off x="6972300" y="1981200"/>
            <a:ext cx="1657350" cy="723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canteen_id 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name / category</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avg_rating</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review_count</a:t>
            </a:r>
          </a:p>
        </p:txBody>
      </p:sp>
      <p:sp>
        <p:nvSpPr>
          <p:cNvPr id="26" name="圆角矩形 25"/>
          <p:cNvSpPr>
            <a:spLocks noGrp="1"/>
          </p:cNvSpPr>
          <p:nvPr/>
        </p:nvSpPr>
        <p:spPr>
          <a:xfrm>
            <a:off x="9391650" y="1504950"/>
            <a:ext cx="1695450" cy="1352550"/>
          </a:xfrm>
          <a:prstGeom prst="roundRect">
            <a:avLst>
              <a:gd name="adj" fmla="val 6667"/>
            </a:avLst>
          </a:prstGeom>
          <a:solidFill>
            <a:srgbClr val="FFFFFF"/>
          </a:solidFill>
          <a:ln w="13335">
            <a:solidFill>
              <a:srgbClr val="1D9A8A"/>
            </a:solidFill>
            <a:prstDash val="solid"/>
          </a:ln>
        </p:spPr>
      </p:sp>
      <p:sp>
        <p:nvSpPr>
          <p:cNvPr id="27" name="圆角矩形 26"/>
          <p:cNvSpPr>
            <a:spLocks noGrp="1"/>
          </p:cNvSpPr>
          <p:nvPr/>
        </p:nvSpPr>
        <p:spPr>
          <a:xfrm>
            <a:off x="9505950" y="1600200"/>
            <a:ext cx="1466850" cy="266700"/>
          </a:xfrm>
          <a:prstGeom prst="roundRect">
            <a:avLst>
              <a:gd name="adj" fmla="val 28571"/>
            </a:avLst>
          </a:prstGeom>
          <a:solidFill>
            <a:srgbClr val="E5F5F3"/>
          </a:solidFill>
          <a:ln w="7620">
            <a:solidFill>
              <a:srgbClr val="1D9A8A"/>
            </a:solidFill>
            <a:prstDash val="solid"/>
          </a:ln>
        </p:spPr>
      </p:sp>
      <p:sp>
        <p:nvSpPr>
          <p:cNvPr id="28" name="矩形 27"/>
          <p:cNvSpPr>
            <a:spLocks noGrp="1"/>
          </p:cNvSpPr>
          <p:nvPr/>
        </p:nvSpPr>
        <p:spPr>
          <a:xfrm>
            <a:off x="9563100" y="16573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CANTEEN</a:t>
            </a:r>
          </a:p>
        </p:txBody>
      </p:sp>
      <p:sp>
        <p:nvSpPr>
          <p:cNvPr id="29" name="矩形 28"/>
          <p:cNvSpPr>
            <a:spLocks noGrp="1"/>
          </p:cNvSpPr>
          <p:nvPr/>
        </p:nvSpPr>
        <p:spPr>
          <a:xfrm>
            <a:off x="9544050" y="1962150"/>
            <a:ext cx="1390650" cy="19050"/>
          </a:xfrm>
          <a:prstGeom prst="rect">
            <a:avLst/>
          </a:prstGeom>
          <a:solidFill>
            <a:srgbClr val="DDE4EE"/>
          </a:solidFill>
          <a:ln w="0">
            <a:solidFill>
              <a:srgbClr val="000000">
                <a:alpha val="0"/>
              </a:srgbClr>
            </a:solidFill>
            <a:prstDash val="solid"/>
          </a:ln>
        </p:spPr>
      </p:sp>
      <p:sp>
        <p:nvSpPr>
          <p:cNvPr id="30" name="矩形 29"/>
          <p:cNvSpPr>
            <a:spLocks noGrp="1"/>
          </p:cNvSpPr>
          <p:nvPr/>
        </p:nvSpPr>
        <p:spPr>
          <a:xfrm>
            <a:off x="9544050" y="2057400"/>
            <a:ext cx="1390650" cy="5143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name UQ</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location</a:t>
            </a:r>
          </a:p>
        </p:txBody>
      </p:sp>
      <p:sp>
        <p:nvSpPr>
          <p:cNvPr id="31" name="圆角矩形 30"/>
          <p:cNvSpPr>
            <a:spLocks noGrp="1"/>
          </p:cNvSpPr>
          <p:nvPr/>
        </p:nvSpPr>
        <p:spPr>
          <a:xfrm>
            <a:off x="6858000" y="3581400"/>
            <a:ext cx="1810385" cy="1191895"/>
          </a:xfrm>
          <a:prstGeom prst="roundRect">
            <a:avLst>
              <a:gd name="adj" fmla="val 7407"/>
            </a:avLst>
          </a:prstGeom>
          <a:solidFill>
            <a:srgbClr val="FFFFFF"/>
          </a:solidFill>
          <a:ln w="13335">
            <a:solidFill>
              <a:srgbClr val="1D9A8A"/>
            </a:solidFill>
            <a:prstDash val="solid"/>
          </a:ln>
        </p:spPr>
      </p:sp>
      <p:sp>
        <p:nvSpPr>
          <p:cNvPr id="32" name="圆角矩形 31"/>
          <p:cNvSpPr>
            <a:spLocks noGrp="1"/>
          </p:cNvSpPr>
          <p:nvPr/>
        </p:nvSpPr>
        <p:spPr>
          <a:xfrm>
            <a:off x="6972300" y="3676650"/>
            <a:ext cx="1581150" cy="266700"/>
          </a:xfrm>
          <a:prstGeom prst="roundRect">
            <a:avLst>
              <a:gd name="adj" fmla="val 28571"/>
            </a:avLst>
          </a:prstGeom>
          <a:solidFill>
            <a:srgbClr val="E5F5F3"/>
          </a:solidFill>
          <a:ln w="7620">
            <a:solidFill>
              <a:srgbClr val="1D9A8A"/>
            </a:solidFill>
            <a:prstDash val="solid"/>
          </a:ln>
        </p:spPr>
      </p:sp>
      <p:sp>
        <p:nvSpPr>
          <p:cNvPr id="33" name="矩形 32"/>
          <p:cNvSpPr>
            <a:spLocks noGrp="1"/>
          </p:cNvSpPr>
          <p:nvPr/>
        </p:nvSpPr>
        <p:spPr>
          <a:xfrm>
            <a:off x="7029450" y="3733800"/>
            <a:ext cx="14668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9A8A"/>
                </a:solidFill>
                <a:latin typeface="Noto Serif SC"/>
                <a:ea typeface="Noto Serif SC"/>
                <a:cs typeface="Noto Serif SC"/>
              </a:defRPr>
            </a:pPr>
            <a:r>
              <a:rPr sz="1400" b="1">
                <a:solidFill>
                  <a:srgbClr val="1D9A8A"/>
                </a:solidFill>
                <a:latin typeface="思源黑体 CN" panose="020B0500000000000000" pitchFamily="34" charset="-122"/>
                <a:ea typeface="思源黑体 CN" panose="020B0500000000000000" pitchFamily="34" charset="-122"/>
                <a:cs typeface="Noto Sans SC"/>
              </a:rPr>
              <a:t>STALL_TAG</a:t>
            </a:r>
          </a:p>
        </p:txBody>
      </p:sp>
      <p:sp>
        <p:nvSpPr>
          <p:cNvPr id="34" name="矩形 33"/>
          <p:cNvSpPr>
            <a:spLocks noGrp="1"/>
          </p:cNvSpPr>
          <p:nvPr/>
        </p:nvSpPr>
        <p:spPr>
          <a:xfrm>
            <a:off x="7010400" y="4038600"/>
            <a:ext cx="1504950" cy="19050"/>
          </a:xfrm>
          <a:prstGeom prst="rect">
            <a:avLst/>
          </a:prstGeom>
          <a:solidFill>
            <a:srgbClr val="DDE4EE"/>
          </a:solidFill>
          <a:ln w="0">
            <a:solidFill>
              <a:srgbClr val="000000">
                <a:alpha val="0"/>
              </a:srgbClr>
            </a:solidFill>
            <a:prstDash val="solid"/>
          </a:ln>
        </p:spPr>
      </p:sp>
      <p:sp>
        <p:nvSpPr>
          <p:cNvPr id="35" name="矩形 34"/>
          <p:cNvSpPr>
            <a:spLocks noGrp="1"/>
          </p:cNvSpPr>
          <p:nvPr/>
        </p:nvSpPr>
        <p:spPr>
          <a:xfrm>
            <a:off x="7010400" y="4133850"/>
            <a:ext cx="1504950" cy="4000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stall_id PK/FK</a:t>
            </a:r>
          </a:p>
          <a:p>
            <a:pPr algn="l">
              <a:defRPr sz="1015" b="0">
                <a:solidFill>
                  <a:srgbClr val="172033"/>
                </a:solidFill>
                <a:latin typeface="Noto Serif SC"/>
                <a:ea typeface="Noto Serif SC"/>
                <a:cs typeface="Noto Serif SC"/>
              </a:defRPr>
            </a:pPr>
            <a:r>
              <a:rPr sz="1400" b="0">
                <a:solidFill>
                  <a:srgbClr val="172033"/>
                </a:solidFill>
                <a:latin typeface="思源宋体" panose="02020400000000000000" pitchFamily="18" charset="-122"/>
                <a:ea typeface="思源宋体" panose="02020400000000000000" pitchFamily="18" charset="-122"/>
                <a:cs typeface="Noto Serif SC"/>
              </a:rPr>
              <a:t>tag_id PK/FK</a:t>
            </a:r>
          </a:p>
        </p:txBody>
      </p:sp>
      <p:sp>
        <p:nvSpPr>
          <p:cNvPr id="36" name="圆角矩形 35"/>
          <p:cNvSpPr>
            <a:spLocks noGrp="1"/>
          </p:cNvSpPr>
          <p:nvPr/>
        </p:nvSpPr>
        <p:spPr>
          <a:xfrm>
            <a:off x="9391650" y="3562350"/>
            <a:ext cx="1695450" cy="1211580"/>
          </a:xfrm>
          <a:prstGeom prst="roundRect">
            <a:avLst>
              <a:gd name="adj" fmla="val 7407"/>
            </a:avLst>
          </a:prstGeom>
          <a:solidFill>
            <a:srgbClr val="FFFFFF"/>
          </a:solidFill>
          <a:ln w="13335">
            <a:solidFill>
              <a:srgbClr val="3A8C5A"/>
            </a:solidFill>
            <a:prstDash val="solid"/>
          </a:ln>
        </p:spPr>
        <p:txBody>
          <a:bodyPr/>
          <a:lstStyle/>
          <a:p>
            <a:endParaRPr lang="zh-CN" altLang="en-US">
              <a:latin typeface="Noto Serif SC"/>
              <a:ea typeface="Noto Serif SC"/>
              <a:cs typeface="Noto Serif SC"/>
            </a:endParaRPr>
          </a:p>
        </p:txBody>
      </p:sp>
      <p:sp>
        <p:nvSpPr>
          <p:cNvPr id="37" name="圆角矩形 36"/>
          <p:cNvSpPr>
            <a:spLocks noGrp="1"/>
          </p:cNvSpPr>
          <p:nvPr/>
        </p:nvSpPr>
        <p:spPr>
          <a:xfrm>
            <a:off x="9505950" y="3657600"/>
            <a:ext cx="1466850" cy="266700"/>
          </a:xfrm>
          <a:prstGeom prst="roundRect">
            <a:avLst>
              <a:gd name="adj" fmla="val 28571"/>
            </a:avLst>
          </a:prstGeom>
          <a:solidFill>
            <a:srgbClr val="EAF5EE"/>
          </a:solidFill>
          <a:ln w="7620">
            <a:solidFill>
              <a:srgbClr val="3A8C5A"/>
            </a:solidFill>
            <a:prstDash val="solid"/>
          </a:ln>
        </p:spPr>
      </p:sp>
      <p:sp>
        <p:nvSpPr>
          <p:cNvPr id="38" name="矩形 37"/>
          <p:cNvSpPr>
            <a:spLocks noGrp="1"/>
          </p:cNvSpPr>
          <p:nvPr/>
        </p:nvSpPr>
        <p:spPr>
          <a:xfrm>
            <a:off x="9563100" y="3714750"/>
            <a:ext cx="13525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3A8C5A"/>
                </a:solidFill>
                <a:latin typeface="Noto Serif SC"/>
                <a:ea typeface="Noto Serif SC"/>
                <a:cs typeface="Noto Serif SC"/>
              </a:defRPr>
            </a:pPr>
            <a:r>
              <a:rPr sz="1400" b="1">
                <a:solidFill>
                  <a:srgbClr val="3A8C5A"/>
                </a:solidFill>
                <a:latin typeface="思源黑体 CN" panose="020B0500000000000000" pitchFamily="34" charset="-122"/>
                <a:ea typeface="思源黑体 CN" panose="020B0500000000000000" pitchFamily="34" charset="-122"/>
                <a:cs typeface="Noto Sans SC"/>
              </a:rPr>
              <a:t>TAG</a:t>
            </a:r>
          </a:p>
        </p:txBody>
      </p:sp>
      <p:sp>
        <p:nvSpPr>
          <p:cNvPr id="39" name="矩形 38"/>
          <p:cNvSpPr>
            <a:spLocks noGrp="1"/>
          </p:cNvSpPr>
          <p:nvPr/>
        </p:nvSpPr>
        <p:spPr>
          <a:xfrm>
            <a:off x="9544050" y="4019550"/>
            <a:ext cx="1390650" cy="19050"/>
          </a:xfrm>
          <a:prstGeom prst="rect">
            <a:avLst/>
          </a:prstGeom>
          <a:solidFill>
            <a:srgbClr val="DDE4EE"/>
          </a:solidFill>
          <a:ln w="0">
            <a:solidFill>
              <a:srgbClr val="000000">
                <a:alpha val="0"/>
              </a:srgbClr>
            </a:solidFill>
            <a:prstDash val="solid"/>
          </a:ln>
        </p:spPr>
      </p:sp>
      <p:sp>
        <p:nvSpPr>
          <p:cNvPr id="40" name="矩形 39"/>
          <p:cNvSpPr>
            <a:spLocks noGrp="1"/>
          </p:cNvSpPr>
          <p:nvPr/>
        </p:nvSpPr>
        <p:spPr>
          <a:xfrm>
            <a:off x="9544050" y="4114800"/>
            <a:ext cx="1390650" cy="4000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id PK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name UQ</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description</a:t>
            </a:r>
          </a:p>
        </p:txBody>
      </p:sp>
      <p:sp>
        <p:nvSpPr>
          <p:cNvPr id="41" name="圆角矩形 40"/>
          <p:cNvSpPr>
            <a:spLocks noGrp="1"/>
          </p:cNvSpPr>
          <p:nvPr/>
        </p:nvSpPr>
        <p:spPr>
          <a:xfrm>
            <a:off x="628650" y="3581400"/>
            <a:ext cx="1600200" cy="1191260"/>
          </a:xfrm>
          <a:prstGeom prst="roundRect">
            <a:avLst>
              <a:gd name="adj" fmla="val 7692"/>
            </a:avLst>
          </a:prstGeom>
          <a:solidFill>
            <a:srgbClr val="FFFFFF"/>
          </a:solidFill>
          <a:ln w="13335">
            <a:solidFill>
              <a:srgbClr val="E74C4C"/>
            </a:solidFill>
            <a:prstDash val="solid"/>
          </a:ln>
        </p:spPr>
      </p:sp>
      <p:sp>
        <p:nvSpPr>
          <p:cNvPr id="42" name="圆角矩形 41"/>
          <p:cNvSpPr>
            <a:spLocks noGrp="1"/>
          </p:cNvSpPr>
          <p:nvPr/>
        </p:nvSpPr>
        <p:spPr>
          <a:xfrm>
            <a:off x="742950" y="3676650"/>
            <a:ext cx="1371600" cy="266700"/>
          </a:xfrm>
          <a:prstGeom prst="roundRect">
            <a:avLst>
              <a:gd name="adj" fmla="val 28571"/>
            </a:avLst>
          </a:prstGeom>
          <a:solidFill>
            <a:srgbClr val="F8E9EE"/>
          </a:solidFill>
          <a:ln w="7620">
            <a:solidFill>
              <a:srgbClr val="E74C4C"/>
            </a:solidFill>
            <a:prstDash val="solid"/>
          </a:ln>
        </p:spPr>
      </p:sp>
      <p:sp>
        <p:nvSpPr>
          <p:cNvPr id="43" name="矩形 42"/>
          <p:cNvSpPr>
            <a:spLocks noGrp="1"/>
          </p:cNvSpPr>
          <p:nvPr/>
        </p:nvSpPr>
        <p:spPr>
          <a:xfrm>
            <a:off x="80010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dirty="0">
                <a:solidFill>
                  <a:srgbClr val="E74C4C"/>
                </a:solidFill>
                <a:latin typeface="思源黑体 CN" panose="020B0500000000000000" pitchFamily="34" charset="-122"/>
                <a:ea typeface="思源黑体 CN" panose="020B0500000000000000" pitchFamily="34" charset="-122"/>
                <a:cs typeface="Noto Sans SC"/>
              </a:rPr>
              <a:t>FAVORITE</a:t>
            </a:r>
          </a:p>
        </p:txBody>
      </p:sp>
      <p:sp>
        <p:nvSpPr>
          <p:cNvPr id="44" name="矩形 43"/>
          <p:cNvSpPr>
            <a:spLocks noGrp="1"/>
          </p:cNvSpPr>
          <p:nvPr/>
        </p:nvSpPr>
        <p:spPr>
          <a:xfrm>
            <a:off x="781050" y="4038600"/>
            <a:ext cx="1295400" cy="19050"/>
          </a:xfrm>
          <a:prstGeom prst="rect">
            <a:avLst/>
          </a:prstGeom>
          <a:solidFill>
            <a:srgbClr val="DDE4EE"/>
          </a:solidFill>
          <a:ln w="0">
            <a:solidFill>
              <a:srgbClr val="000000">
                <a:alpha val="0"/>
              </a:srgbClr>
            </a:solidFill>
            <a:prstDash val="solid"/>
          </a:ln>
        </p:spPr>
      </p:sp>
      <p:sp>
        <p:nvSpPr>
          <p:cNvPr id="45" name="矩形 44"/>
          <p:cNvSpPr>
            <a:spLocks noGrp="1"/>
          </p:cNvSpPr>
          <p:nvPr/>
        </p:nvSpPr>
        <p:spPr>
          <a:xfrm>
            <a:off x="78105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created_at</a:t>
            </a:r>
          </a:p>
        </p:txBody>
      </p:sp>
      <p:sp>
        <p:nvSpPr>
          <p:cNvPr id="46" name="圆角矩形 45"/>
          <p:cNvSpPr>
            <a:spLocks noGrp="1"/>
          </p:cNvSpPr>
          <p:nvPr/>
        </p:nvSpPr>
        <p:spPr>
          <a:xfrm>
            <a:off x="2362200" y="3581400"/>
            <a:ext cx="1504950" cy="1191260"/>
          </a:xfrm>
          <a:prstGeom prst="roundRect">
            <a:avLst>
              <a:gd name="adj" fmla="val 7692"/>
            </a:avLst>
          </a:prstGeom>
          <a:solidFill>
            <a:srgbClr val="FFFFFF"/>
          </a:solidFill>
          <a:ln w="13335">
            <a:solidFill>
              <a:srgbClr val="E74C4C"/>
            </a:solidFill>
            <a:prstDash val="solid"/>
          </a:ln>
        </p:spPr>
      </p:sp>
      <p:sp>
        <p:nvSpPr>
          <p:cNvPr id="47" name="圆角矩形 46"/>
          <p:cNvSpPr>
            <a:spLocks noGrp="1"/>
          </p:cNvSpPr>
          <p:nvPr/>
        </p:nvSpPr>
        <p:spPr>
          <a:xfrm>
            <a:off x="2476500" y="3676650"/>
            <a:ext cx="1371600" cy="266700"/>
          </a:xfrm>
          <a:prstGeom prst="roundRect">
            <a:avLst>
              <a:gd name="adj" fmla="val 28571"/>
            </a:avLst>
          </a:prstGeom>
          <a:solidFill>
            <a:srgbClr val="F8E9EE"/>
          </a:solidFill>
          <a:ln w="7620">
            <a:solidFill>
              <a:srgbClr val="E74C4C"/>
            </a:solidFill>
            <a:prstDash val="solid"/>
          </a:ln>
        </p:spPr>
      </p:sp>
      <p:sp>
        <p:nvSpPr>
          <p:cNvPr id="48" name="矩形 47"/>
          <p:cNvSpPr>
            <a:spLocks noGrp="1"/>
          </p:cNvSpPr>
          <p:nvPr/>
        </p:nvSpPr>
        <p:spPr>
          <a:xfrm>
            <a:off x="253365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BLACKLIST</a:t>
            </a:r>
          </a:p>
        </p:txBody>
      </p:sp>
      <p:sp>
        <p:nvSpPr>
          <p:cNvPr id="49" name="矩形 48"/>
          <p:cNvSpPr>
            <a:spLocks noGrp="1"/>
          </p:cNvSpPr>
          <p:nvPr/>
        </p:nvSpPr>
        <p:spPr>
          <a:xfrm>
            <a:off x="2514600" y="4038600"/>
            <a:ext cx="1295400" cy="19050"/>
          </a:xfrm>
          <a:prstGeom prst="rect">
            <a:avLst/>
          </a:prstGeom>
          <a:solidFill>
            <a:srgbClr val="DDE4EE"/>
          </a:solidFill>
          <a:ln w="0">
            <a:solidFill>
              <a:srgbClr val="000000">
                <a:alpha val="0"/>
              </a:srgbClr>
            </a:solidFill>
            <a:prstDash val="solid"/>
          </a:ln>
        </p:spPr>
      </p:sp>
      <p:sp>
        <p:nvSpPr>
          <p:cNvPr id="50" name="矩形 49"/>
          <p:cNvSpPr>
            <a:spLocks noGrp="1"/>
          </p:cNvSpPr>
          <p:nvPr/>
        </p:nvSpPr>
        <p:spPr>
          <a:xfrm>
            <a:off x="251460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created_at</a:t>
            </a:r>
          </a:p>
        </p:txBody>
      </p:sp>
      <p:sp>
        <p:nvSpPr>
          <p:cNvPr id="51" name="圆角矩形 50"/>
          <p:cNvSpPr>
            <a:spLocks noGrp="1"/>
          </p:cNvSpPr>
          <p:nvPr/>
        </p:nvSpPr>
        <p:spPr>
          <a:xfrm>
            <a:off x="4095750" y="3581400"/>
            <a:ext cx="1631950" cy="1191260"/>
          </a:xfrm>
          <a:prstGeom prst="roundRect">
            <a:avLst>
              <a:gd name="adj" fmla="val 7692"/>
            </a:avLst>
          </a:prstGeom>
          <a:solidFill>
            <a:srgbClr val="FFFFFF"/>
          </a:solidFill>
          <a:ln w="13335">
            <a:solidFill>
              <a:srgbClr val="E74C4C"/>
            </a:solidFill>
            <a:prstDash val="solid"/>
          </a:ln>
        </p:spPr>
      </p:sp>
      <p:sp>
        <p:nvSpPr>
          <p:cNvPr id="52" name="圆角矩形 51"/>
          <p:cNvSpPr>
            <a:spLocks noGrp="1"/>
          </p:cNvSpPr>
          <p:nvPr/>
        </p:nvSpPr>
        <p:spPr>
          <a:xfrm>
            <a:off x="4210050" y="3676650"/>
            <a:ext cx="1371600" cy="266700"/>
          </a:xfrm>
          <a:prstGeom prst="roundRect">
            <a:avLst>
              <a:gd name="adj" fmla="val 28571"/>
            </a:avLst>
          </a:prstGeom>
          <a:solidFill>
            <a:srgbClr val="F8E9EE"/>
          </a:solidFill>
          <a:ln w="7620">
            <a:solidFill>
              <a:srgbClr val="E74C4C"/>
            </a:solidFill>
            <a:prstDash val="solid"/>
          </a:ln>
        </p:spPr>
      </p:sp>
      <p:sp>
        <p:nvSpPr>
          <p:cNvPr id="53" name="矩形 52"/>
          <p:cNvSpPr>
            <a:spLocks noGrp="1"/>
          </p:cNvSpPr>
          <p:nvPr/>
        </p:nvSpPr>
        <p:spPr>
          <a:xfrm>
            <a:off x="4267200" y="3733800"/>
            <a:ext cx="125730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E74C4C"/>
                </a:solidFill>
                <a:latin typeface="Noto Serif SC"/>
                <a:ea typeface="Noto Serif SC"/>
                <a:cs typeface="Noto Serif SC"/>
              </a:defRPr>
            </a:pPr>
            <a:r>
              <a:rPr sz="1400" b="1">
                <a:solidFill>
                  <a:srgbClr val="E74C4C"/>
                </a:solidFill>
                <a:latin typeface="思源黑体 CN" panose="020B0500000000000000" pitchFamily="34" charset="-122"/>
                <a:ea typeface="思源黑体 CN" panose="020B0500000000000000" pitchFamily="34" charset="-122"/>
                <a:cs typeface="Noto Sans SC"/>
              </a:rPr>
              <a:t>HISTORY</a:t>
            </a:r>
          </a:p>
        </p:txBody>
      </p:sp>
      <p:sp>
        <p:nvSpPr>
          <p:cNvPr id="54" name="矩形 53"/>
          <p:cNvSpPr>
            <a:spLocks noGrp="1"/>
          </p:cNvSpPr>
          <p:nvPr/>
        </p:nvSpPr>
        <p:spPr>
          <a:xfrm>
            <a:off x="4248150" y="4038600"/>
            <a:ext cx="1295400" cy="19050"/>
          </a:xfrm>
          <a:prstGeom prst="rect">
            <a:avLst/>
          </a:prstGeom>
          <a:solidFill>
            <a:srgbClr val="DDE4EE"/>
          </a:solidFill>
          <a:ln w="0">
            <a:solidFill>
              <a:srgbClr val="000000">
                <a:alpha val="0"/>
              </a:srgbClr>
            </a:solidFill>
            <a:prstDash val="solid"/>
          </a:ln>
        </p:spPr>
      </p:sp>
      <p:sp>
        <p:nvSpPr>
          <p:cNvPr id="55" name="矩形 54"/>
          <p:cNvSpPr>
            <a:spLocks noGrp="1"/>
          </p:cNvSpPr>
          <p:nvPr/>
        </p:nvSpPr>
        <p:spPr>
          <a:xfrm>
            <a:off x="4248150" y="4133850"/>
            <a:ext cx="12954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user_id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stall_id FK</a:t>
            </a:r>
          </a:p>
          <a:p>
            <a:pPr algn="l">
              <a:defRPr sz="1015" b="0">
                <a:solidFill>
                  <a:srgbClr val="172033"/>
                </a:solidFill>
                <a:latin typeface="Noto Serif SC"/>
                <a:ea typeface="Noto Serif SC"/>
                <a:cs typeface="Noto Serif SC"/>
              </a:defRPr>
            </a:pPr>
            <a:r>
              <a:rPr sz="1300" b="0">
                <a:solidFill>
                  <a:srgbClr val="172033"/>
                </a:solidFill>
                <a:latin typeface="思源宋体" panose="02020400000000000000" pitchFamily="18" charset="-122"/>
                <a:ea typeface="思源宋体" panose="02020400000000000000" pitchFamily="18" charset="-122"/>
                <a:cs typeface="Noto Serif SC"/>
              </a:rPr>
              <a:t>visited_at</a:t>
            </a:r>
          </a:p>
        </p:txBody>
      </p:sp>
      <p:sp>
        <p:nvSpPr>
          <p:cNvPr id="56" name="矩形 55"/>
          <p:cNvSpPr>
            <a:spLocks noGrp="1"/>
          </p:cNvSpPr>
          <p:nvPr/>
        </p:nvSpPr>
        <p:spPr>
          <a:xfrm>
            <a:off x="2324100" y="2105025"/>
            <a:ext cx="1371600" cy="28575"/>
          </a:xfrm>
          <a:prstGeom prst="rect">
            <a:avLst/>
          </a:prstGeom>
          <a:solidFill>
            <a:srgbClr val="D7DEE8"/>
          </a:solidFill>
          <a:ln w="0">
            <a:solidFill>
              <a:srgbClr val="000000">
                <a:alpha val="0"/>
              </a:srgbClr>
            </a:solidFill>
            <a:prstDash val="solid"/>
          </a:ln>
        </p:spPr>
      </p:sp>
      <p:sp>
        <p:nvSpPr>
          <p:cNvPr id="57" name="矩形 56"/>
          <p:cNvSpPr>
            <a:spLocks noGrp="1"/>
          </p:cNvSpPr>
          <p:nvPr/>
        </p:nvSpPr>
        <p:spPr>
          <a:xfrm>
            <a:off x="27432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58" name="矩形 57"/>
          <p:cNvSpPr>
            <a:spLocks noGrp="1"/>
          </p:cNvSpPr>
          <p:nvPr/>
        </p:nvSpPr>
        <p:spPr>
          <a:xfrm>
            <a:off x="5562600" y="2105025"/>
            <a:ext cx="1295400" cy="28575"/>
          </a:xfrm>
          <a:prstGeom prst="rect">
            <a:avLst/>
          </a:prstGeom>
          <a:solidFill>
            <a:srgbClr val="D7DEE8"/>
          </a:solidFill>
          <a:ln w="0">
            <a:solidFill>
              <a:srgbClr val="000000">
                <a:alpha val="0"/>
              </a:srgbClr>
            </a:solidFill>
            <a:prstDash val="solid"/>
          </a:ln>
        </p:spPr>
      </p:sp>
      <p:sp>
        <p:nvSpPr>
          <p:cNvPr id="59" name="矩形 58"/>
          <p:cNvSpPr>
            <a:spLocks noGrp="1"/>
          </p:cNvSpPr>
          <p:nvPr/>
        </p:nvSpPr>
        <p:spPr>
          <a:xfrm>
            <a:off x="59436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0" name="矩形 59"/>
          <p:cNvSpPr>
            <a:spLocks noGrp="1"/>
          </p:cNvSpPr>
          <p:nvPr/>
        </p:nvSpPr>
        <p:spPr>
          <a:xfrm>
            <a:off x="8667750" y="2105025"/>
            <a:ext cx="723900" cy="28575"/>
          </a:xfrm>
          <a:prstGeom prst="rect">
            <a:avLst/>
          </a:prstGeom>
          <a:solidFill>
            <a:srgbClr val="D7DEE8"/>
          </a:solidFill>
          <a:ln w="0">
            <a:solidFill>
              <a:srgbClr val="000000">
                <a:alpha val="0"/>
              </a:srgbClr>
            </a:solidFill>
            <a:prstDash val="solid"/>
          </a:ln>
        </p:spPr>
      </p:sp>
      <p:sp>
        <p:nvSpPr>
          <p:cNvPr id="61" name="矩形 60"/>
          <p:cNvSpPr>
            <a:spLocks noGrp="1"/>
          </p:cNvSpPr>
          <p:nvPr/>
        </p:nvSpPr>
        <p:spPr>
          <a:xfrm>
            <a:off x="8763000" y="1876425"/>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2" name="矩形 61"/>
          <p:cNvSpPr>
            <a:spLocks noGrp="1"/>
          </p:cNvSpPr>
          <p:nvPr/>
        </p:nvSpPr>
        <p:spPr>
          <a:xfrm>
            <a:off x="7715250" y="3123565"/>
            <a:ext cx="76200" cy="457835"/>
          </a:xfrm>
          <a:prstGeom prst="rect">
            <a:avLst/>
          </a:prstGeom>
          <a:solidFill>
            <a:srgbClr val="D7DEE8"/>
          </a:solidFill>
          <a:ln w="0">
            <a:solidFill>
              <a:srgbClr val="000000">
                <a:alpha val="0"/>
              </a:srgbClr>
            </a:solidFill>
            <a:prstDash val="solid"/>
          </a:ln>
        </p:spPr>
      </p:sp>
      <p:sp>
        <p:nvSpPr>
          <p:cNvPr id="63" name="矩形 62"/>
          <p:cNvSpPr>
            <a:spLocks noGrp="1"/>
          </p:cNvSpPr>
          <p:nvPr/>
        </p:nvSpPr>
        <p:spPr>
          <a:xfrm>
            <a:off x="7839075" y="31242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64" name="矩形 63"/>
          <p:cNvSpPr>
            <a:spLocks noGrp="1"/>
          </p:cNvSpPr>
          <p:nvPr/>
        </p:nvSpPr>
        <p:spPr>
          <a:xfrm>
            <a:off x="8667750" y="4095750"/>
            <a:ext cx="723900" cy="28575"/>
          </a:xfrm>
          <a:prstGeom prst="rect">
            <a:avLst/>
          </a:prstGeom>
          <a:solidFill>
            <a:srgbClr val="D7DEE8"/>
          </a:solidFill>
          <a:ln w="0">
            <a:solidFill>
              <a:srgbClr val="000000">
                <a:alpha val="0"/>
              </a:srgbClr>
            </a:solidFill>
            <a:prstDash val="solid"/>
          </a:ln>
        </p:spPr>
      </p:sp>
      <p:sp>
        <p:nvSpPr>
          <p:cNvPr id="65" name="矩形 64"/>
          <p:cNvSpPr>
            <a:spLocks noGrp="1"/>
          </p:cNvSpPr>
          <p:nvPr/>
        </p:nvSpPr>
        <p:spPr>
          <a:xfrm>
            <a:off x="8763000" y="386715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N : 1</a:t>
            </a:r>
          </a:p>
        </p:txBody>
      </p:sp>
      <p:sp>
        <p:nvSpPr>
          <p:cNvPr id="66" name="矩形 65"/>
          <p:cNvSpPr>
            <a:spLocks noGrp="1"/>
          </p:cNvSpPr>
          <p:nvPr/>
        </p:nvSpPr>
        <p:spPr>
          <a:xfrm>
            <a:off x="1381125" y="2857500"/>
            <a:ext cx="76200" cy="723900"/>
          </a:xfrm>
          <a:prstGeom prst="rect">
            <a:avLst/>
          </a:prstGeom>
          <a:solidFill>
            <a:srgbClr val="D7DEE8"/>
          </a:solidFill>
          <a:ln w="0">
            <a:solidFill>
              <a:srgbClr val="000000">
                <a:alpha val="0"/>
              </a:srgbClr>
            </a:solidFill>
            <a:prstDash val="solid"/>
          </a:ln>
        </p:spPr>
      </p:sp>
      <p:sp>
        <p:nvSpPr>
          <p:cNvPr id="67" name="矩形 66"/>
          <p:cNvSpPr>
            <a:spLocks noGrp="1"/>
          </p:cNvSpPr>
          <p:nvPr/>
        </p:nvSpPr>
        <p:spPr>
          <a:xfrm>
            <a:off x="1504950" y="30480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69" name="矩形 68"/>
          <p:cNvSpPr>
            <a:spLocks noGrp="1"/>
          </p:cNvSpPr>
          <p:nvPr/>
        </p:nvSpPr>
        <p:spPr>
          <a:xfrm>
            <a:off x="2705100" y="30480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dirty="0">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70" name="矩形 69"/>
          <p:cNvSpPr>
            <a:spLocks noGrp="1"/>
          </p:cNvSpPr>
          <p:nvPr/>
        </p:nvSpPr>
        <p:spPr>
          <a:xfrm>
            <a:off x="4848225" y="3048000"/>
            <a:ext cx="76200" cy="533400"/>
          </a:xfrm>
          <a:prstGeom prst="rect">
            <a:avLst/>
          </a:prstGeom>
          <a:solidFill>
            <a:srgbClr val="D7DEE8"/>
          </a:solidFill>
          <a:ln w="0">
            <a:solidFill>
              <a:srgbClr val="000000">
                <a:alpha val="0"/>
              </a:srgbClr>
            </a:solidFill>
            <a:prstDash val="solid"/>
          </a:ln>
        </p:spPr>
      </p:sp>
      <p:sp>
        <p:nvSpPr>
          <p:cNvPr id="71" name="矩形 70"/>
          <p:cNvSpPr>
            <a:spLocks noGrp="1"/>
          </p:cNvSpPr>
          <p:nvPr/>
        </p:nvSpPr>
        <p:spPr>
          <a:xfrm>
            <a:off x="4972050" y="3124200"/>
            <a:ext cx="533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72033"/>
                </a:solidFill>
                <a:latin typeface="Noto Serif SC"/>
                <a:ea typeface="Noto Serif SC"/>
                <a:cs typeface="Noto Serif SC"/>
              </a:defRPr>
            </a:pPr>
            <a:r>
              <a:rPr sz="1400" b="1">
                <a:solidFill>
                  <a:srgbClr val="172033"/>
                </a:solidFill>
                <a:latin typeface="思源黑体 CN" panose="020B0500000000000000" pitchFamily="34" charset="-122"/>
                <a:ea typeface="思源黑体 CN" panose="020B0500000000000000" pitchFamily="34" charset="-122"/>
                <a:cs typeface="Noto Sans SC"/>
              </a:rPr>
              <a:t>1 : N</a:t>
            </a:r>
          </a:p>
        </p:txBody>
      </p:sp>
      <p:sp>
        <p:nvSpPr>
          <p:cNvPr id="72" name="圆角矩形 71"/>
          <p:cNvSpPr>
            <a:spLocks noGrp="1"/>
          </p:cNvSpPr>
          <p:nvPr/>
        </p:nvSpPr>
        <p:spPr>
          <a:xfrm>
            <a:off x="666750" y="5135245"/>
            <a:ext cx="10344150" cy="742950"/>
          </a:xfrm>
          <a:prstGeom prst="roundRect">
            <a:avLst>
              <a:gd name="adj" fmla="val 10256"/>
            </a:avLst>
          </a:prstGeom>
          <a:solidFill>
            <a:srgbClr val="FFFFFF"/>
          </a:solidFill>
          <a:ln w="12383">
            <a:solidFill>
              <a:srgbClr val="D99A23"/>
            </a:solidFill>
            <a:prstDash val="solid"/>
          </a:ln>
        </p:spPr>
      </p:sp>
      <p:sp>
        <p:nvSpPr>
          <p:cNvPr id="73" name="矩形 72"/>
          <p:cNvSpPr>
            <a:spLocks noGrp="1"/>
          </p:cNvSpPr>
          <p:nvPr/>
        </p:nvSpPr>
        <p:spPr>
          <a:xfrm>
            <a:off x="914400" y="5219700"/>
            <a:ext cx="9867900" cy="3619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200"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关键约束：user.student_id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唯一；stall</a:t>
            </a:r>
            <a:r>
              <a:rPr sz="1400" dirty="0">
                <a:solidFill>
                  <a:srgbClr val="172033"/>
                </a:solidFill>
                <a:latin typeface="思源黑体 CN" panose="020B0500000000000000" pitchFamily="34" charset="-122"/>
                <a:ea typeface="思源黑体 CN" panose="020B0500000000000000" pitchFamily="34" charset="-122"/>
                <a:cs typeface="Noto Sans SC"/>
              </a:rPr>
              <a:t>(</a:t>
            </a:r>
            <a:r>
              <a:rPr sz="1400" dirty="0" err="1">
                <a:solidFill>
                  <a:srgbClr val="172033"/>
                </a:solidFill>
                <a:latin typeface="思源黑体 CN" panose="020B0500000000000000" pitchFamily="34" charset="-122"/>
                <a:ea typeface="思源黑体 CN" panose="020B0500000000000000" pitchFamily="34" charset="-122"/>
                <a:cs typeface="Noto Sans SC"/>
              </a:rPr>
              <a:t>canteen_id</a:t>
            </a:r>
            <a:r>
              <a:rPr sz="1400" dirty="0">
                <a:solidFill>
                  <a:srgbClr val="172033"/>
                </a:solidFill>
                <a:latin typeface="思源黑体 CN" panose="020B0500000000000000" pitchFamily="34" charset="-122"/>
                <a:ea typeface="思源黑体 CN" panose="020B0500000000000000" pitchFamily="34" charset="-122"/>
                <a:cs typeface="Noto Sans SC"/>
              </a:rPr>
              <a:t>, name) </a:t>
            </a:r>
            <a:r>
              <a:rPr sz="1400" dirty="0" err="1">
                <a:solidFill>
                  <a:srgbClr val="172033"/>
                </a:solidFill>
                <a:latin typeface="思源黑体 CN" panose="020B0500000000000000" pitchFamily="34" charset="-122"/>
                <a:ea typeface="思源黑体 CN" panose="020B0500000000000000" pitchFamily="34" charset="-122"/>
                <a:cs typeface="Noto Sans SC"/>
              </a:rPr>
              <a:t>唯一；review</a:t>
            </a:r>
            <a:r>
              <a:rPr sz="1400" dirty="0">
                <a:solidFill>
                  <a:srgbClr val="172033"/>
                </a:solidFill>
                <a:latin typeface="思源黑体 CN" panose="020B0500000000000000" pitchFamily="34" charset="-122"/>
                <a:ea typeface="思源黑体 CN" panose="020B0500000000000000" pitchFamily="34" charset="-122"/>
                <a:cs typeface="Noto Sans SC"/>
              </a:rPr>
              <a:t> / favorite / blacklist 的 (</a:t>
            </a:r>
            <a:r>
              <a:rPr sz="1400" dirty="0" err="1">
                <a:solidFill>
                  <a:srgbClr val="172033"/>
                </a:solidFill>
                <a:latin typeface="思源黑体 CN" panose="020B0500000000000000" pitchFamily="34" charset="-122"/>
                <a:ea typeface="思源黑体 CN" panose="020B0500000000000000" pitchFamily="34" charset="-122"/>
                <a:cs typeface="Noto Sans SC"/>
              </a:rPr>
              <a:t>user_id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stall_id</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联合唯一</a:t>
            </a:r>
            <a:r>
              <a:rPr sz="1400" dirty="0">
                <a:solidFill>
                  <a:srgbClr val="172033"/>
                </a:solidFill>
                <a:latin typeface="思源黑体 CN" panose="020B0500000000000000" pitchFamily="34" charset="-122"/>
                <a:ea typeface="思源黑体 CN" panose="020B0500000000000000" pitchFamily="34" charset="-122"/>
                <a:cs typeface="Noto Sans SC"/>
              </a:rPr>
              <a:t>。</a:t>
            </a:r>
          </a:p>
          <a:p>
            <a:pPr algn="l">
              <a:defRPr sz="1200" b="1">
                <a:solidFill>
                  <a:srgbClr val="172033"/>
                </a:solidFill>
                <a:latin typeface="Noto Serif SC"/>
                <a:ea typeface="Noto Serif SC"/>
                <a:cs typeface="Noto Serif SC"/>
              </a:defRPr>
            </a:pPr>
            <a:r>
              <a:rPr sz="1400" dirty="0" err="1">
                <a:solidFill>
                  <a:srgbClr val="172033"/>
                </a:solidFill>
                <a:latin typeface="思源黑体 CN" panose="020B0500000000000000" pitchFamily="34" charset="-122"/>
                <a:ea typeface="思源黑体 CN" panose="020B0500000000000000" pitchFamily="34" charset="-122"/>
                <a:cs typeface="Noto Sans SC"/>
              </a:rPr>
              <a:t>stall_tag</a:t>
            </a:r>
            <a:r>
              <a:rPr sz="1400" dirty="0">
                <a:solidFill>
                  <a:srgbClr val="172033"/>
                </a:solidFill>
                <a:latin typeface="思源黑体 CN" panose="020B0500000000000000" pitchFamily="34" charset="-122"/>
                <a:ea typeface="思源黑体 CN" panose="020B0500000000000000" pitchFamily="34" charset="-122"/>
                <a:cs typeface="Noto Sans SC"/>
              </a:rPr>
              <a:t> </a:t>
            </a:r>
            <a:r>
              <a:rPr sz="1400" dirty="0" err="1">
                <a:solidFill>
                  <a:srgbClr val="172033"/>
                </a:solidFill>
                <a:latin typeface="思源黑体 CN" panose="020B0500000000000000" pitchFamily="34" charset="-122"/>
                <a:ea typeface="思源黑体 CN" panose="020B0500000000000000" pitchFamily="34" charset="-122"/>
                <a:cs typeface="Noto Sans SC"/>
              </a:rPr>
              <a:t>使用联合主键，把</a:t>
            </a:r>
            <a:r>
              <a:rPr sz="1400" dirty="0">
                <a:solidFill>
                  <a:srgbClr val="172033"/>
                </a:solidFill>
                <a:latin typeface="思源黑体 CN" panose="020B0500000000000000" pitchFamily="34" charset="-122"/>
                <a:ea typeface="思源黑体 CN" panose="020B0500000000000000" pitchFamily="34" charset="-122"/>
                <a:cs typeface="Noto Sans SC"/>
              </a:rPr>
              <a:t> Stall 与 Tag </a:t>
            </a:r>
            <a:r>
              <a:rPr sz="1400" dirty="0" err="1">
                <a:solidFill>
                  <a:srgbClr val="172033"/>
                </a:solidFill>
                <a:latin typeface="思源黑体 CN" panose="020B0500000000000000" pitchFamily="34" charset="-122"/>
                <a:ea typeface="思源黑体 CN" panose="020B0500000000000000" pitchFamily="34" charset="-122"/>
                <a:cs typeface="Noto Sans SC"/>
              </a:rPr>
              <a:t>的多对多关系拆成关联实体</a:t>
            </a:r>
            <a:r>
              <a:rPr sz="1400" dirty="0">
                <a:solidFill>
                  <a:srgbClr val="172033"/>
                </a:solidFill>
                <a:latin typeface="思源黑体 CN" panose="020B0500000000000000" pitchFamily="34" charset="-122"/>
                <a:ea typeface="思源黑体 CN" panose="020B0500000000000000" pitchFamily="34" charset="-122"/>
                <a:cs typeface="Noto Sans SC"/>
              </a:rPr>
              <a:t>。</a:t>
            </a:r>
          </a:p>
        </p:txBody>
      </p:sp>
      <p:sp>
        <p:nvSpPr>
          <p:cNvPr id="74" name="矩形 73"/>
          <p:cNvSpPr>
            <a:spLocks noGrp="1"/>
          </p:cNvSpPr>
          <p:nvPr/>
        </p:nvSpPr>
        <p:spPr>
          <a:xfrm rot="19080000">
            <a:off x="2566035" y="2749550"/>
            <a:ext cx="76200" cy="974090"/>
          </a:xfrm>
          <a:prstGeom prst="rect">
            <a:avLst/>
          </a:prstGeom>
          <a:solidFill>
            <a:srgbClr val="D7DEE8"/>
          </a:solidFill>
          <a:ln w="0">
            <a:solidFill>
              <a:srgbClr val="000000">
                <a:alpha val="0"/>
              </a:srgbClr>
            </a:solidFill>
            <a:prstDash val="solid"/>
          </a:ln>
        </p:spPr>
      </p:sp>
    </p:spTree>
    <p:extLst>
      <p:ext uri="{BB962C8B-B14F-4D97-AF65-F5344CB8AC3E}">
        <p14:creationId xmlns:p14="http://schemas.microsoft.com/office/powerpoint/2010/main" val="3338386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3"/>
          <p:cNvSpPr/>
          <p:nvPr/>
        </p:nvSpPr>
        <p:spPr>
          <a:xfrm>
            <a:off x="0" y="0"/>
            <a:ext cx="12192000" cy="86360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5" name="Ellipse 5"/>
          <p:cNvSpPr/>
          <p:nvPr/>
        </p:nvSpPr>
        <p:spPr>
          <a:xfrm>
            <a:off x="-95250" y="4191000"/>
            <a:ext cx="3429000" cy="3429000"/>
          </a:xfrm>
          <a:prstGeom prst="ellipse">
            <a:avLst/>
          </a:prstGeom>
          <a:solidFill>
            <a:srgbClr val="E8652B">
              <a:alpha val="6000"/>
            </a:srgbClr>
          </a:solidFill>
          <a:ln>
            <a:noFill/>
          </a:ln>
        </p:spPr>
        <p:txBody>
          <a:bodyPr/>
          <a:lstStyle/>
          <a:p>
            <a:endParaRPr lang="zh-CN" altLang="en-US">
              <a:latin typeface="Noto Serif SC"/>
              <a:ea typeface="Noto Serif SC"/>
              <a:cs typeface="Noto Serif SC"/>
            </a:endParaRPr>
          </a:p>
        </p:txBody>
      </p:sp>
      <p:sp>
        <p:nvSpPr>
          <p:cNvPr id="7" name="TextBox 7"/>
          <p:cNvSpPr txBox="1"/>
          <p:nvPr/>
        </p:nvSpPr>
        <p:spPr>
          <a:xfrm>
            <a:off x="914400" y="292100"/>
            <a:ext cx="1538883"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前端设计</a:t>
            </a:r>
          </a:p>
        </p:txBody>
      </p:sp>
      <p:sp>
        <p:nvSpPr>
          <p:cNvPr id="9" name="Freeform 9"/>
          <p:cNvSpPr/>
          <p:nvPr/>
        </p:nvSpPr>
        <p:spPr>
          <a:xfrm>
            <a:off x="609600" y="1320800"/>
            <a:ext cx="5907650" cy="609600"/>
          </a:xfrm>
          <a:custGeom>
            <a:avLst/>
            <a:gdLst/>
            <a:ahLst/>
            <a:cxnLst/>
            <a:rect l="l" t="t" r="r" b="b"/>
            <a:pathLst>
              <a:path w="3581400" h="609600">
                <a:moveTo>
                  <a:pt x="171450" y="0"/>
                </a:moveTo>
                <a:lnTo>
                  <a:pt x="3409950" y="0"/>
                </a:lnTo>
                <a:cubicBezTo>
                  <a:pt x="3504639" y="0"/>
                  <a:pt x="3581400" y="76761"/>
                  <a:pt x="3581400" y="171450"/>
                </a:cubicBezTo>
                <a:lnTo>
                  <a:pt x="3581400" y="438150"/>
                </a:lnTo>
                <a:cubicBezTo>
                  <a:pt x="3581400" y="532839"/>
                  <a:pt x="3504639" y="609600"/>
                  <a:pt x="3409950" y="609600"/>
                </a:cubicBezTo>
                <a:lnTo>
                  <a:pt x="171450" y="609600"/>
                </a:lnTo>
                <a:cubicBezTo>
                  <a:pt x="76761" y="609600"/>
                  <a:pt x="0" y="532839"/>
                  <a:pt x="0" y="438150"/>
                </a:cubicBezTo>
                <a:lnTo>
                  <a:pt x="0" y="171450"/>
                </a:lnTo>
                <a:cubicBezTo>
                  <a:pt x="0" y="76761"/>
                  <a:pt x="76761" y="0"/>
                  <a:pt x="171450" y="0"/>
                </a:cubicBezTo>
                <a:close/>
              </a:path>
            </a:pathLst>
          </a:custGeom>
          <a:solidFill>
            <a:srgbClr val="F5A623">
              <a:alpha val="18000"/>
            </a:srgbClr>
          </a:solidFill>
          <a:ln>
            <a:noFill/>
          </a:ln>
        </p:spPr>
        <p:txBody>
          <a:bodyPr/>
          <a:lstStyle/>
          <a:p>
            <a:endParaRPr lang="zh-CN" altLang="en-US">
              <a:latin typeface="Noto Serif SC"/>
              <a:ea typeface="Noto Serif SC"/>
              <a:cs typeface="Noto Serif SC"/>
            </a:endParaRPr>
          </a:p>
        </p:txBody>
      </p:sp>
      <p:sp>
        <p:nvSpPr>
          <p:cNvPr id="10" name="TextBox 10"/>
          <p:cNvSpPr txBox="1"/>
          <p:nvPr/>
        </p:nvSpPr>
        <p:spPr>
          <a:xfrm>
            <a:off x="800100" y="1536700"/>
            <a:ext cx="5568832" cy="246221"/>
          </a:xfrm>
          <a:prstGeom prst="rect">
            <a:avLst/>
          </a:prstGeom>
          <a:noFill/>
          <a:ln>
            <a:noFill/>
          </a:ln>
        </p:spPr>
        <p:txBody>
          <a:bodyPr wrap="none" lIns="0" tIns="0" rIns="0" bIns="0" anchor="t" anchorCtr="0">
            <a:spAutoFit/>
          </a:bodyPr>
          <a:lstStyle/>
          <a:p>
            <a:pPr algn="l"/>
            <a:r>
              <a:rPr lang="zh-CN" sz="1600" b="1" dirty="0">
                <a:solidFill>
                  <a:srgbClr val="A84A20"/>
                </a:solidFill>
                <a:latin typeface="思源黑体 CN" panose="020B0500000000000000" pitchFamily="34" charset="-122"/>
                <a:ea typeface="思源黑体 CN" panose="020B0500000000000000" pitchFamily="34" charset="-122"/>
                <a:cs typeface="Noto Sans SC"/>
              </a:rPr>
              <a:t>代码定位：单页应用 + 统一接口层 + 本地状态 + 统一设计系统</a:t>
            </a:r>
          </a:p>
        </p:txBody>
      </p:sp>
      <p:grpSp>
        <p:nvGrpSpPr>
          <p:cNvPr id="26" name="Group 26"/>
          <p:cNvGrpSpPr/>
          <p:nvPr/>
        </p:nvGrpSpPr>
        <p:grpSpPr>
          <a:xfrm>
            <a:off x="666750" y="2346484"/>
            <a:ext cx="10972800" cy="1066800"/>
            <a:chOff x="609600" y="2781300"/>
            <a:chExt cx="10972800" cy="1066800"/>
          </a:xfrm>
          <a:effectLst>
            <a:outerShdw blurRad="114300" dist="38100" dir="10799140" algn="tl" rotWithShape="0">
              <a:srgbClr val="C9AF91">
                <a:alpha val="24000"/>
              </a:srgbClr>
            </a:outerShdw>
          </a:effectLst>
        </p:grpSpPr>
        <p:sp>
          <p:nvSpPr>
            <p:cNvPr id="11" name="Freeform 11"/>
            <p:cNvSpPr/>
            <p:nvPr/>
          </p:nvSpPr>
          <p:spPr>
            <a:xfrm>
              <a:off x="609600" y="2781300"/>
              <a:ext cx="10972800" cy="1066800"/>
            </a:xfrm>
            <a:custGeom>
              <a:avLst/>
              <a:gdLst/>
              <a:ahLst/>
              <a:cxnLst/>
              <a:rect l="l" t="t" r="r" b="b"/>
              <a:pathLst>
                <a:path w="10972800" h="1066800">
                  <a:moveTo>
                    <a:pt x="171450" y="0"/>
                  </a:moveTo>
                  <a:lnTo>
                    <a:pt x="10801350" y="0"/>
                  </a:lnTo>
                  <a:cubicBezTo>
                    <a:pt x="10896039" y="0"/>
                    <a:pt x="10972800" y="76761"/>
                    <a:pt x="10972800" y="171450"/>
                  </a:cubicBezTo>
                  <a:lnTo>
                    <a:pt x="10972800" y="895350"/>
                  </a:lnTo>
                  <a:cubicBezTo>
                    <a:pt x="10972800" y="990039"/>
                    <a:pt x="10896039" y="1066800"/>
                    <a:pt x="10801350" y="1066800"/>
                  </a:cubicBezTo>
                  <a:lnTo>
                    <a:pt x="171450" y="1066800"/>
                  </a:lnTo>
                  <a:cubicBezTo>
                    <a:pt x="76761" y="1066800"/>
                    <a:pt x="0" y="990039"/>
                    <a:pt x="0" y="895350"/>
                  </a:cubicBezTo>
                  <a:lnTo>
                    <a:pt x="0" y="171450"/>
                  </a:lnTo>
                  <a:cubicBezTo>
                    <a:pt x="0" y="76761"/>
                    <a:pt x="76761" y="0"/>
                    <a:pt x="17145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12" name="Freeform 12"/>
            <p:cNvSpPr/>
            <p:nvPr/>
          </p:nvSpPr>
          <p:spPr>
            <a:xfrm>
              <a:off x="609600" y="2781300"/>
              <a:ext cx="10972800" cy="1066800"/>
            </a:xfrm>
            <a:custGeom>
              <a:avLst/>
              <a:gdLst/>
              <a:ahLst/>
              <a:cxnLst/>
              <a:rect l="l" t="t" r="r" b="b"/>
              <a:pathLst>
                <a:path w="10972800" h="1066800">
                  <a:moveTo>
                    <a:pt x="171450" y="0"/>
                  </a:moveTo>
                  <a:lnTo>
                    <a:pt x="10801350" y="0"/>
                  </a:lnTo>
                  <a:cubicBezTo>
                    <a:pt x="10896039" y="0"/>
                    <a:pt x="10972800" y="76761"/>
                    <a:pt x="10972800" y="171450"/>
                  </a:cubicBezTo>
                  <a:lnTo>
                    <a:pt x="10972800" y="895350"/>
                  </a:lnTo>
                  <a:cubicBezTo>
                    <a:pt x="10972800" y="990039"/>
                    <a:pt x="10896039" y="1066800"/>
                    <a:pt x="10801350" y="1066800"/>
                  </a:cubicBezTo>
                  <a:lnTo>
                    <a:pt x="171450" y="1066800"/>
                  </a:lnTo>
                  <a:cubicBezTo>
                    <a:pt x="76761" y="1066800"/>
                    <a:pt x="0" y="990039"/>
                    <a:pt x="0" y="895350"/>
                  </a:cubicBezTo>
                  <a:lnTo>
                    <a:pt x="0" y="171450"/>
                  </a:lnTo>
                  <a:cubicBezTo>
                    <a:pt x="0" y="76761"/>
                    <a:pt x="76761" y="0"/>
                    <a:pt x="17145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13" name="TextBox 13"/>
            <p:cNvSpPr txBox="1"/>
            <p:nvPr/>
          </p:nvSpPr>
          <p:spPr>
            <a:xfrm>
              <a:off x="916305" y="2978468"/>
              <a:ext cx="1231106"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9A866F"/>
                  </a:solidFill>
                  <a:latin typeface="思源黑体 CN" panose="020B0500000000000000" pitchFamily="34" charset="-122"/>
                  <a:ea typeface="思源黑体 CN" panose="020B0500000000000000" pitchFamily="34" charset="-122"/>
                  <a:cs typeface="Noto Sans SC"/>
                </a:rPr>
                <a:t>核心文件分工</a:t>
              </a:r>
            </a:p>
          </p:txBody>
        </p:sp>
        <p:sp>
          <p:nvSpPr>
            <p:cNvPr id="14" name="Freeform 14"/>
            <p:cNvSpPr/>
            <p:nvPr/>
          </p:nvSpPr>
          <p:spPr>
            <a:xfrm>
              <a:off x="800100" y="3238500"/>
              <a:ext cx="2476500" cy="495300"/>
            </a:xfrm>
            <a:custGeom>
              <a:avLst/>
              <a:gdLst/>
              <a:ahLst/>
              <a:cxnLst/>
              <a:rect l="l" t="t" r="r" b="b"/>
              <a:pathLst>
                <a:path w="2476500" h="495300">
                  <a:moveTo>
                    <a:pt x="152400" y="0"/>
                  </a:moveTo>
                  <a:lnTo>
                    <a:pt x="2324100" y="0"/>
                  </a:lnTo>
                  <a:cubicBezTo>
                    <a:pt x="2408268" y="0"/>
                    <a:pt x="2476500" y="68232"/>
                    <a:pt x="2476500" y="152400"/>
                  </a:cubicBezTo>
                  <a:lnTo>
                    <a:pt x="2476500" y="342900"/>
                  </a:lnTo>
                  <a:cubicBezTo>
                    <a:pt x="2476500" y="427068"/>
                    <a:pt x="2408268" y="495300"/>
                    <a:pt x="2324100" y="495300"/>
                  </a:cubicBezTo>
                  <a:lnTo>
                    <a:pt x="152400" y="495300"/>
                  </a:lnTo>
                  <a:cubicBezTo>
                    <a:pt x="68232" y="495300"/>
                    <a:pt x="0" y="427068"/>
                    <a:pt x="0" y="342900"/>
                  </a:cubicBezTo>
                  <a:lnTo>
                    <a:pt x="0" y="152400"/>
                  </a:lnTo>
                  <a:cubicBezTo>
                    <a:pt x="0" y="68232"/>
                    <a:pt x="68232" y="0"/>
                    <a:pt x="152400" y="0"/>
                  </a:cubicBezTo>
                  <a:close/>
                </a:path>
              </a:pathLst>
            </a:custGeom>
            <a:solidFill>
              <a:srgbClr val="E8652B">
                <a:alpha val="10000"/>
              </a:srgbClr>
            </a:solidFill>
            <a:ln>
              <a:noFill/>
            </a:ln>
            <a:effectLst>
              <a:outerShdw blurRad="114300" dist="38100" dir="10799140" algn="tl" rotWithShape="0">
                <a:srgbClr val="C9AF91">
                  <a:alpha val="24000"/>
                </a:srgbClr>
              </a:outerShdw>
            </a:effectLst>
          </p:spPr>
        </p:sp>
        <p:sp>
          <p:nvSpPr>
            <p:cNvPr id="15" name="TextBox 15"/>
            <p:cNvSpPr txBox="1"/>
            <p:nvPr/>
          </p:nvSpPr>
          <p:spPr>
            <a:xfrm>
              <a:off x="1068705" y="3349942"/>
              <a:ext cx="743793"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C44A15"/>
                  </a:solidFill>
                  <a:latin typeface="思源黑体 CN" panose="020B0500000000000000" pitchFamily="34" charset="-122"/>
                  <a:ea typeface="思源黑体 CN" panose="020B0500000000000000" pitchFamily="34" charset="-122"/>
                  <a:cs typeface="Noto Sans SC"/>
                </a:rPr>
                <a:t>main.js</a:t>
              </a:r>
            </a:p>
          </p:txBody>
        </p:sp>
        <p:sp>
          <p:nvSpPr>
            <p:cNvPr id="16" name="TextBox 16"/>
            <p:cNvSpPr txBox="1"/>
            <p:nvPr/>
          </p:nvSpPr>
          <p:spPr>
            <a:xfrm>
              <a:off x="1906905" y="3317416"/>
              <a:ext cx="12192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页面渲染、路由、</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交互逻辑</a:t>
              </a:r>
            </a:p>
          </p:txBody>
        </p:sp>
        <p:sp>
          <p:nvSpPr>
            <p:cNvPr id="17" name="Freeform 17"/>
            <p:cNvSpPr/>
            <p:nvPr/>
          </p:nvSpPr>
          <p:spPr>
            <a:xfrm>
              <a:off x="3524250" y="3238500"/>
              <a:ext cx="2819400" cy="495300"/>
            </a:xfrm>
            <a:custGeom>
              <a:avLst/>
              <a:gdLst/>
              <a:ahLst/>
              <a:cxnLst/>
              <a:rect l="l" t="t" r="r" b="b"/>
              <a:pathLst>
                <a:path w="2819400" h="495300">
                  <a:moveTo>
                    <a:pt x="152400" y="0"/>
                  </a:moveTo>
                  <a:lnTo>
                    <a:pt x="2667000" y="0"/>
                  </a:lnTo>
                  <a:cubicBezTo>
                    <a:pt x="2751168" y="0"/>
                    <a:pt x="2819400" y="68232"/>
                    <a:pt x="2819400" y="152400"/>
                  </a:cubicBezTo>
                  <a:lnTo>
                    <a:pt x="2819400" y="342900"/>
                  </a:lnTo>
                  <a:cubicBezTo>
                    <a:pt x="2819400" y="427068"/>
                    <a:pt x="2751168" y="495300"/>
                    <a:pt x="2667000" y="495300"/>
                  </a:cubicBezTo>
                  <a:lnTo>
                    <a:pt x="152400" y="495300"/>
                  </a:lnTo>
                  <a:cubicBezTo>
                    <a:pt x="68232" y="495300"/>
                    <a:pt x="0" y="427068"/>
                    <a:pt x="0" y="342900"/>
                  </a:cubicBezTo>
                  <a:lnTo>
                    <a:pt x="0" y="152400"/>
                  </a:lnTo>
                  <a:cubicBezTo>
                    <a:pt x="0" y="68232"/>
                    <a:pt x="68232" y="0"/>
                    <a:pt x="152400" y="0"/>
                  </a:cubicBezTo>
                  <a:close/>
                </a:path>
              </a:pathLst>
            </a:custGeom>
            <a:solidFill>
              <a:srgbClr val="1A9E96">
                <a:alpha val="11000"/>
              </a:srgbClr>
            </a:solidFill>
            <a:ln>
              <a:noFill/>
            </a:ln>
            <a:effectLst>
              <a:outerShdw blurRad="114300" dist="38100" dir="10799140" algn="tl" rotWithShape="0">
                <a:srgbClr val="C9AF91">
                  <a:alpha val="24000"/>
                </a:srgbClr>
              </a:outerShdw>
            </a:effectLst>
          </p:spPr>
        </p:sp>
        <p:sp>
          <p:nvSpPr>
            <p:cNvPr id="18" name="TextBox 18"/>
            <p:cNvSpPr txBox="1"/>
            <p:nvPr/>
          </p:nvSpPr>
          <p:spPr>
            <a:xfrm>
              <a:off x="3792855" y="3349942"/>
              <a:ext cx="1197444"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0D7A74"/>
                  </a:solidFill>
                  <a:latin typeface="思源黑体 CN" panose="020B0500000000000000" pitchFamily="34" charset="-122"/>
                  <a:ea typeface="思源黑体 CN" panose="020B0500000000000000" pitchFamily="34" charset="-122"/>
                  <a:cs typeface="Noto Sans SC"/>
                </a:rPr>
                <a:t>api/client.js</a:t>
              </a:r>
            </a:p>
          </p:txBody>
        </p:sp>
        <p:sp>
          <p:nvSpPr>
            <p:cNvPr id="19" name="TextBox 19"/>
            <p:cNvSpPr txBox="1"/>
            <p:nvPr/>
          </p:nvSpPr>
          <p:spPr>
            <a:xfrm>
              <a:off x="5158592" y="3309362"/>
              <a:ext cx="9144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统一封装后端</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接口请求</a:t>
              </a:r>
            </a:p>
          </p:txBody>
        </p:sp>
        <p:sp>
          <p:nvSpPr>
            <p:cNvPr id="20" name="Freeform 20"/>
            <p:cNvSpPr/>
            <p:nvPr/>
          </p:nvSpPr>
          <p:spPr>
            <a:xfrm>
              <a:off x="6591300" y="3238500"/>
              <a:ext cx="2762250" cy="495300"/>
            </a:xfrm>
            <a:custGeom>
              <a:avLst/>
              <a:gdLst/>
              <a:ahLst/>
              <a:cxnLst/>
              <a:rect l="l" t="t" r="r" b="b"/>
              <a:pathLst>
                <a:path w="2762250" h="495300">
                  <a:moveTo>
                    <a:pt x="152400" y="0"/>
                  </a:moveTo>
                  <a:lnTo>
                    <a:pt x="2609850" y="0"/>
                  </a:lnTo>
                  <a:cubicBezTo>
                    <a:pt x="2694018" y="0"/>
                    <a:pt x="2762250" y="68232"/>
                    <a:pt x="2762250" y="152400"/>
                  </a:cubicBezTo>
                  <a:lnTo>
                    <a:pt x="2762250" y="342900"/>
                  </a:lnTo>
                  <a:cubicBezTo>
                    <a:pt x="2762250" y="427068"/>
                    <a:pt x="2694018" y="495300"/>
                    <a:pt x="2609850" y="495300"/>
                  </a:cubicBezTo>
                  <a:lnTo>
                    <a:pt x="152400" y="495300"/>
                  </a:lnTo>
                  <a:cubicBezTo>
                    <a:pt x="68232" y="495300"/>
                    <a:pt x="0" y="427068"/>
                    <a:pt x="0" y="342900"/>
                  </a:cubicBezTo>
                  <a:lnTo>
                    <a:pt x="0" y="152400"/>
                  </a:lnTo>
                  <a:cubicBezTo>
                    <a:pt x="0" y="68232"/>
                    <a:pt x="68232" y="0"/>
                    <a:pt x="152400" y="0"/>
                  </a:cubicBezTo>
                  <a:close/>
                </a:path>
              </a:pathLst>
            </a:custGeom>
            <a:solidFill>
              <a:srgbClr val="F5A623">
                <a:alpha val="14000"/>
              </a:srgbClr>
            </a:solidFill>
            <a:ln>
              <a:noFill/>
            </a:ln>
            <a:effectLst>
              <a:outerShdw blurRad="114300" dist="38100" dir="10799140" algn="tl" rotWithShape="0">
                <a:srgbClr val="C9AF91">
                  <a:alpha val="24000"/>
                </a:srgbClr>
              </a:outerShdw>
            </a:effectLst>
          </p:spPr>
        </p:sp>
        <p:sp>
          <p:nvSpPr>
            <p:cNvPr id="21" name="TextBox 21"/>
            <p:cNvSpPr txBox="1"/>
            <p:nvPr/>
          </p:nvSpPr>
          <p:spPr>
            <a:xfrm>
              <a:off x="6802412" y="3349942"/>
              <a:ext cx="1275990"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BD7814"/>
                  </a:solidFill>
                  <a:latin typeface="思源黑体 CN" panose="020B0500000000000000" pitchFamily="34" charset="-122"/>
                  <a:ea typeface="思源黑体 CN" panose="020B0500000000000000" pitchFamily="34" charset="-122"/>
                  <a:cs typeface="Noto Sans SC"/>
                </a:rPr>
                <a:t>store/user.js</a:t>
              </a:r>
            </a:p>
          </p:txBody>
        </p:sp>
        <p:sp>
          <p:nvSpPr>
            <p:cNvPr id="22" name="TextBox 22"/>
            <p:cNvSpPr txBox="1"/>
            <p:nvPr/>
          </p:nvSpPr>
          <p:spPr>
            <a:xfrm>
              <a:off x="8231505" y="3317416"/>
              <a:ext cx="968214" cy="369332"/>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维护 token 与</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用户状态</a:t>
              </a:r>
            </a:p>
          </p:txBody>
        </p:sp>
        <p:sp>
          <p:nvSpPr>
            <p:cNvPr id="23" name="Freeform 23"/>
            <p:cNvSpPr/>
            <p:nvPr/>
          </p:nvSpPr>
          <p:spPr>
            <a:xfrm>
              <a:off x="9467850" y="3238500"/>
              <a:ext cx="1924050" cy="495300"/>
            </a:xfrm>
            <a:custGeom>
              <a:avLst/>
              <a:gdLst/>
              <a:ahLst/>
              <a:cxnLst/>
              <a:rect l="l" t="t" r="r" b="b"/>
              <a:pathLst>
                <a:path w="1924050" h="495300">
                  <a:moveTo>
                    <a:pt x="152400" y="0"/>
                  </a:moveTo>
                  <a:lnTo>
                    <a:pt x="1771650" y="0"/>
                  </a:lnTo>
                  <a:cubicBezTo>
                    <a:pt x="1855818" y="0"/>
                    <a:pt x="1924050" y="68232"/>
                    <a:pt x="1924050" y="152400"/>
                  </a:cubicBezTo>
                  <a:lnTo>
                    <a:pt x="1924050" y="342900"/>
                  </a:lnTo>
                  <a:cubicBezTo>
                    <a:pt x="1924050" y="427068"/>
                    <a:pt x="1855818" y="495300"/>
                    <a:pt x="1771650" y="495300"/>
                  </a:cubicBezTo>
                  <a:lnTo>
                    <a:pt x="152400" y="495300"/>
                  </a:lnTo>
                  <a:cubicBezTo>
                    <a:pt x="68232" y="495300"/>
                    <a:pt x="0" y="427068"/>
                    <a:pt x="0" y="342900"/>
                  </a:cubicBezTo>
                  <a:lnTo>
                    <a:pt x="0" y="152400"/>
                  </a:lnTo>
                  <a:cubicBezTo>
                    <a:pt x="0" y="68232"/>
                    <a:pt x="68232" y="0"/>
                    <a:pt x="152400" y="0"/>
                  </a:cubicBezTo>
                  <a:close/>
                </a:path>
              </a:pathLst>
            </a:custGeom>
            <a:solidFill>
              <a:srgbClr val="2EAD6B">
                <a:alpha val="10000"/>
              </a:srgbClr>
            </a:solidFill>
            <a:ln>
              <a:noFill/>
            </a:ln>
            <a:effectLst>
              <a:outerShdw blurRad="114300" dist="38100" dir="10799140" algn="tl" rotWithShape="0">
                <a:srgbClr val="C9AF91">
                  <a:alpha val="24000"/>
                </a:srgbClr>
              </a:outerShdw>
            </a:effectLst>
          </p:spPr>
        </p:sp>
        <p:sp>
          <p:nvSpPr>
            <p:cNvPr id="24" name="TextBox 24"/>
            <p:cNvSpPr txBox="1"/>
            <p:nvPr/>
          </p:nvSpPr>
          <p:spPr>
            <a:xfrm>
              <a:off x="9637623" y="3349942"/>
              <a:ext cx="76142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21874F"/>
                  </a:solidFill>
                  <a:latin typeface="思源黑体 CN" panose="020B0500000000000000" pitchFamily="34" charset="-122"/>
                  <a:ea typeface="思源黑体 CN" panose="020B0500000000000000" pitchFamily="34" charset="-122"/>
                  <a:cs typeface="Noto Sans SC"/>
                </a:rPr>
                <a:t>app.css</a:t>
              </a:r>
            </a:p>
          </p:txBody>
        </p:sp>
        <p:sp>
          <p:nvSpPr>
            <p:cNvPr id="25" name="TextBox 25"/>
            <p:cNvSpPr txBox="1"/>
            <p:nvPr/>
          </p:nvSpPr>
          <p:spPr>
            <a:xfrm>
              <a:off x="10446067" y="3323634"/>
              <a:ext cx="914400" cy="368935"/>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200" dirty="0">
                  <a:solidFill>
                    <a:srgbClr val="6E5A45"/>
                  </a:solidFill>
                  <a:latin typeface="思源宋体" panose="02020400000000000000" pitchFamily="18" charset="-122"/>
                  <a:ea typeface="思源宋体" panose="02020400000000000000" pitchFamily="18" charset="-122"/>
                  <a:cs typeface="Noto Serif SC"/>
                </a:rPr>
                <a:t>统一颜色、卡</a:t>
              </a:r>
            </a:p>
            <a:p>
              <a:pPr algn="l"/>
              <a:r>
                <a:rPr lang="zh-CN" sz="1200" dirty="0">
                  <a:solidFill>
                    <a:srgbClr val="6E5A45"/>
                  </a:solidFill>
                  <a:latin typeface="思源宋体" panose="02020400000000000000" pitchFamily="18" charset="-122"/>
                  <a:ea typeface="思源宋体" panose="02020400000000000000" pitchFamily="18" charset="-122"/>
                  <a:cs typeface="Noto Serif SC"/>
                </a:rPr>
                <a:t>片和布局</a:t>
              </a:r>
            </a:p>
          </p:txBody>
        </p:sp>
      </p:grpSp>
      <p:grpSp>
        <p:nvGrpSpPr>
          <p:cNvPr id="33" name="Group 33"/>
          <p:cNvGrpSpPr/>
          <p:nvPr/>
        </p:nvGrpSpPr>
        <p:grpSpPr>
          <a:xfrm>
            <a:off x="647700" y="4171950"/>
            <a:ext cx="2762250" cy="1943100"/>
            <a:chOff x="647700" y="4171950"/>
            <a:chExt cx="2762250" cy="1943100"/>
          </a:xfrm>
          <a:effectLst>
            <a:outerShdw blurRad="114300" dist="38100" dir="10799140" algn="tl" rotWithShape="0">
              <a:srgbClr val="C9AF91">
                <a:alpha val="24000"/>
              </a:srgbClr>
            </a:outerShdw>
          </a:effectLst>
        </p:grpSpPr>
        <p:sp>
          <p:nvSpPr>
            <p:cNvPr id="27" name="Freeform 27"/>
            <p:cNvSpPr/>
            <p:nvPr/>
          </p:nvSpPr>
          <p:spPr>
            <a:xfrm>
              <a:off x="6477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28" name="Freeform 28"/>
            <p:cNvSpPr/>
            <p:nvPr/>
          </p:nvSpPr>
          <p:spPr>
            <a:xfrm>
              <a:off x="6477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29" name="TextBox 29"/>
            <p:cNvSpPr txBox="1"/>
            <p:nvPr/>
          </p:nvSpPr>
          <p:spPr>
            <a:xfrm>
              <a:off x="861060" y="4366260"/>
              <a:ext cx="90569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E8652B"/>
                  </a:solidFill>
                  <a:latin typeface="思源黑体 CN" panose="020B0500000000000000" pitchFamily="34" charset="-122"/>
                  <a:ea typeface="思源黑体 CN" panose="020B0500000000000000" pitchFamily="34" charset="-122"/>
                  <a:cs typeface="Noto Sans SC"/>
                </a:rPr>
                <a:t>01 主页面</a:t>
              </a:r>
            </a:p>
          </p:txBody>
        </p:sp>
        <p:sp>
          <p:nvSpPr>
            <p:cNvPr id="30" name="TextBox 30"/>
            <p:cNvSpPr txBox="1"/>
            <p:nvPr/>
          </p:nvSpPr>
          <p:spPr>
            <a:xfrm>
              <a:off x="855345" y="4679632"/>
              <a:ext cx="1481175"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浏览与发现入口</a:t>
              </a:r>
            </a:p>
          </p:txBody>
        </p:sp>
        <p:sp>
          <p:nvSpPr>
            <p:cNvPr id="31" name="TextBox 31"/>
            <p:cNvSpPr txBox="1"/>
            <p:nvPr/>
          </p:nvSpPr>
          <p:spPr>
            <a:xfrm>
              <a:off x="859155" y="5073968"/>
              <a:ext cx="1904367"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窗口列表、筛选、排序、</a:t>
              </a:r>
            </a:p>
          </p:txBody>
        </p:sp>
        <p:sp>
          <p:nvSpPr>
            <p:cNvPr id="32" name="TextBox 32"/>
            <p:cNvSpPr txBox="1"/>
            <p:nvPr/>
          </p:nvSpPr>
          <p:spPr>
            <a:xfrm>
              <a:off x="859155" y="5340668"/>
              <a:ext cx="1971694"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今天吃什么、AI 美食助手</a:t>
              </a:r>
            </a:p>
          </p:txBody>
        </p:sp>
      </p:grpSp>
      <p:grpSp>
        <p:nvGrpSpPr>
          <p:cNvPr id="40" name="Group 40"/>
          <p:cNvGrpSpPr/>
          <p:nvPr/>
        </p:nvGrpSpPr>
        <p:grpSpPr>
          <a:xfrm>
            <a:off x="3390900" y="4171950"/>
            <a:ext cx="2762250" cy="1943100"/>
            <a:chOff x="3390900" y="4171950"/>
            <a:chExt cx="2762250" cy="1943100"/>
          </a:xfrm>
          <a:effectLst>
            <a:outerShdw blurRad="114300" dist="38100" dir="10799140" algn="tl" rotWithShape="0">
              <a:srgbClr val="C9AF91">
                <a:alpha val="24000"/>
              </a:srgbClr>
            </a:outerShdw>
          </a:effectLst>
        </p:grpSpPr>
        <p:sp>
          <p:nvSpPr>
            <p:cNvPr id="34" name="Freeform 34"/>
            <p:cNvSpPr/>
            <p:nvPr/>
          </p:nvSpPr>
          <p:spPr>
            <a:xfrm>
              <a:off x="33909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35" name="Freeform 35"/>
            <p:cNvSpPr/>
            <p:nvPr/>
          </p:nvSpPr>
          <p:spPr>
            <a:xfrm>
              <a:off x="33909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36" name="TextBox 36"/>
            <p:cNvSpPr txBox="1"/>
            <p:nvPr/>
          </p:nvSpPr>
          <p:spPr>
            <a:xfrm>
              <a:off x="3604260" y="4366260"/>
              <a:ext cx="905697"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latin typeface="思源黑体 CN" panose="020B0500000000000000" pitchFamily="34" charset="-122"/>
                  <a:ea typeface="思源黑体 CN" panose="020B0500000000000000" pitchFamily="34" charset="-122"/>
                  <a:cs typeface="Noto Sans SC"/>
                </a:rPr>
                <a:t>02 排行榜</a:t>
              </a:r>
            </a:p>
          </p:txBody>
        </p:sp>
        <p:sp>
          <p:nvSpPr>
            <p:cNvPr id="37" name="TextBox 37"/>
            <p:cNvSpPr txBox="1"/>
            <p:nvPr/>
          </p:nvSpPr>
          <p:spPr>
            <a:xfrm>
              <a:off x="3598545" y="4679632"/>
              <a:ext cx="1269578"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通用榜单页面</a:t>
              </a:r>
            </a:p>
          </p:txBody>
        </p:sp>
        <p:sp>
          <p:nvSpPr>
            <p:cNvPr id="38" name="TextBox 38"/>
            <p:cNvSpPr txBox="1"/>
            <p:nvPr/>
          </p:nvSpPr>
          <p:spPr>
            <a:xfrm>
              <a:off x="3602355" y="5073968"/>
              <a:ext cx="2250616"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评分榜、热度榜、最新评价榜</a:t>
              </a:r>
            </a:p>
          </p:txBody>
        </p:sp>
        <p:sp>
          <p:nvSpPr>
            <p:cNvPr id="39" name="TextBox 39"/>
            <p:cNvSpPr txBox="1"/>
            <p:nvPr/>
          </p:nvSpPr>
          <p:spPr>
            <a:xfrm>
              <a:off x="3602355" y="5340668"/>
              <a:ext cx="1572546"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同一套 tab 结构复用</a:t>
              </a:r>
            </a:p>
          </p:txBody>
        </p:sp>
      </p:grpSp>
      <p:grpSp>
        <p:nvGrpSpPr>
          <p:cNvPr id="47" name="Group 47"/>
          <p:cNvGrpSpPr/>
          <p:nvPr/>
        </p:nvGrpSpPr>
        <p:grpSpPr>
          <a:xfrm>
            <a:off x="6134100" y="4171950"/>
            <a:ext cx="2762250" cy="1943100"/>
            <a:chOff x="6134100" y="4171950"/>
            <a:chExt cx="2762250" cy="1943100"/>
          </a:xfrm>
          <a:effectLst>
            <a:outerShdw blurRad="114300" dist="38100" dir="10799140" algn="tl" rotWithShape="0">
              <a:srgbClr val="C9AF91">
                <a:alpha val="24000"/>
              </a:srgbClr>
            </a:outerShdw>
          </a:effectLst>
        </p:grpSpPr>
        <p:sp>
          <p:nvSpPr>
            <p:cNvPr id="41" name="Freeform 41"/>
            <p:cNvSpPr/>
            <p:nvPr/>
          </p:nvSpPr>
          <p:spPr>
            <a:xfrm>
              <a:off x="61341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42" name="Freeform 42"/>
            <p:cNvSpPr/>
            <p:nvPr/>
          </p:nvSpPr>
          <p:spPr>
            <a:xfrm>
              <a:off x="61341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43" name="TextBox 43"/>
            <p:cNvSpPr txBox="1"/>
            <p:nvPr/>
          </p:nvSpPr>
          <p:spPr>
            <a:xfrm>
              <a:off x="6347460" y="4366260"/>
              <a:ext cx="1110882"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F5A623"/>
                  </a:solidFill>
                  <a:latin typeface="思源黑体 CN" panose="020B0500000000000000" pitchFamily="34" charset="-122"/>
                  <a:ea typeface="思源黑体 CN" panose="020B0500000000000000" pitchFamily="34" charset="-122"/>
                  <a:cs typeface="Noto Sans SC"/>
                </a:rPr>
                <a:t>03 个人中心</a:t>
              </a:r>
            </a:p>
          </p:txBody>
        </p:sp>
        <p:sp>
          <p:nvSpPr>
            <p:cNvPr id="44" name="TextBox 44"/>
            <p:cNvSpPr txBox="1"/>
            <p:nvPr/>
          </p:nvSpPr>
          <p:spPr>
            <a:xfrm>
              <a:off x="6341745" y="4679632"/>
              <a:ext cx="1481175"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用户行为管理页</a:t>
              </a:r>
            </a:p>
          </p:txBody>
        </p:sp>
        <p:sp>
          <p:nvSpPr>
            <p:cNvPr id="45" name="TextBox 45"/>
            <p:cNvSpPr txBox="1"/>
            <p:nvPr/>
          </p:nvSpPr>
          <p:spPr>
            <a:xfrm>
              <a:off x="6345555" y="5073968"/>
              <a:ext cx="2077492"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资料、密码、评论、收藏、</a:t>
              </a:r>
            </a:p>
          </p:txBody>
        </p:sp>
        <p:sp>
          <p:nvSpPr>
            <p:cNvPr id="46" name="TextBox 46"/>
            <p:cNvSpPr txBox="1"/>
            <p:nvPr/>
          </p:nvSpPr>
          <p:spPr>
            <a:xfrm>
              <a:off x="6345555" y="5340668"/>
              <a:ext cx="1384995"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黑名单、浏览历史</a:t>
              </a:r>
            </a:p>
          </p:txBody>
        </p:sp>
      </p:grpSp>
      <p:grpSp>
        <p:nvGrpSpPr>
          <p:cNvPr id="54" name="Group 54"/>
          <p:cNvGrpSpPr/>
          <p:nvPr/>
        </p:nvGrpSpPr>
        <p:grpSpPr>
          <a:xfrm>
            <a:off x="8877300" y="4171950"/>
            <a:ext cx="2762250" cy="1943100"/>
            <a:chOff x="8877300" y="4171950"/>
            <a:chExt cx="2762250" cy="1943100"/>
          </a:xfrm>
          <a:effectLst>
            <a:outerShdw blurRad="114300" dist="38100" dir="10799140" algn="tl" rotWithShape="0">
              <a:srgbClr val="C9AF91">
                <a:alpha val="24000"/>
              </a:srgbClr>
            </a:outerShdw>
          </a:effectLst>
        </p:grpSpPr>
        <p:sp>
          <p:nvSpPr>
            <p:cNvPr id="48" name="Freeform 48"/>
            <p:cNvSpPr/>
            <p:nvPr/>
          </p:nvSpPr>
          <p:spPr>
            <a:xfrm>
              <a:off x="88773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solidFill>
              <a:srgbClr val="FFFDF9"/>
            </a:solidFill>
            <a:ln>
              <a:noFill/>
            </a:ln>
            <a:effectLst>
              <a:outerShdw blurRad="114300" dist="38100" dir="10799140" algn="tl" rotWithShape="0">
                <a:srgbClr val="C9AF91">
                  <a:alpha val="24000"/>
                </a:srgbClr>
              </a:outerShdw>
            </a:effectLst>
          </p:spPr>
        </p:sp>
        <p:sp>
          <p:nvSpPr>
            <p:cNvPr id="49" name="Freeform 49"/>
            <p:cNvSpPr/>
            <p:nvPr/>
          </p:nvSpPr>
          <p:spPr>
            <a:xfrm>
              <a:off x="8877300" y="4171950"/>
              <a:ext cx="2762250" cy="1943100"/>
            </a:xfrm>
            <a:custGeom>
              <a:avLst/>
              <a:gdLst/>
              <a:ahLst/>
              <a:cxnLst/>
              <a:rect l="l" t="t" r="r" b="b"/>
              <a:pathLst>
                <a:path w="2762250" h="1943100">
                  <a:moveTo>
                    <a:pt x="152400" y="0"/>
                  </a:moveTo>
                  <a:lnTo>
                    <a:pt x="2609850" y="0"/>
                  </a:lnTo>
                  <a:cubicBezTo>
                    <a:pt x="2694018" y="0"/>
                    <a:pt x="2762250" y="68232"/>
                    <a:pt x="2762250" y="152400"/>
                  </a:cubicBezTo>
                  <a:lnTo>
                    <a:pt x="2762250" y="1790700"/>
                  </a:lnTo>
                  <a:cubicBezTo>
                    <a:pt x="2762250" y="1874868"/>
                    <a:pt x="2694018" y="1943100"/>
                    <a:pt x="2609850" y="1943100"/>
                  </a:cubicBezTo>
                  <a:lnTo>
                    <a:pt x="152400" y="1943100"/>
                  </a:lnTo>
                  <a:cubicBezTo>
                    <a:pt x="68232" y="1943100"/>
                    <a:pt x="0" y="1874868"/>
                    <a:pt x="0" y="1790700"/>
                  </a:cubicBezTo>
                  <a:lnTo>
                    <a:pt x="0" y="152400"/>
                  </a:lnTo>
                  <a:cubicBezTo>
                    <a:pt x="0" y="68232"/>
                    <a:pt x="68232" y="0"/>
                    <a:pt x="152400" y="0"/>
                  </a:cubicBezTo>
                  <a:close/>
                </a:path>
              </a:pathLst>
            </a:custGeom>
            <a:noFill/>
            <a:ln w="19050">
              <a:solidFill>
                <a:srgbClr val="EADBCB"/>
              </a:solidFill>
            </a:ln>
            <a:effectLst>
              <a:outerShdw blurRad="114300" dist="38100" dir="10799140" algn="tl" rotWithShape="0">
                <a:srgbClr val="C9AF91">
                  <a:alpha val="24000"/>
                </a:srgbClr>
              </a:outerShdw>
            </a:effectLst>
          </p:spPr>
        </p:sp>
        <p:sp>
          <p:nvSpPr>
            <p:cNvPr id="50" name="TextBox 50"/>
            <p:cNvSpPr txBox="1"/>
            <p:nvPr/>
          </p:nvSpPr>
          <p:spPr>
            <a:xfrm>
              <a:off x="9090660" y="4366260"/>
              <a:ext cx="1316066" cy="246221"/>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00" b="1" dirty="0">
                  <a:solidFill>
                    <a:srgbClr val="2EAD6B"/>
                  </a:solidFill>
                  <a:latin typeface="思源黑体 CN" panose="020B0500000000000000" pitchFamily="34" charset="-122"/>
                  <a:ea typeface="思源黑体 CN" panose="020B0500000000000000" pitchFamily="34" charset="-122"/>
                  <a:cs typeface="Noto Sans SC"/>
                </a:rPr>
                <a:t>04 窗口评论页</a:t>
              </a:r>
            </a:p>
          </p:txBody>
        </p:sp>
        <p:sp>
          <p:nvSpPr>
            <p:cNvPr id="51" name="TextBox 51"/>
            <p:cNvSpPr txBox="1"/>
            <p:nvPr/>
          </p:nvSpPr>
          <p:spPr>
            <a:xfrm>
              <a:off x="9084945" y="4679632"/>
              <a:ext cx="1269578" cy="253916"/>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650" b="1" dirty="0">
                  <a:solidFill>
                    <a:srgbClr val="2D1B0E"/>
                  </a:solidFill>
                  <a:latin typeface="思源黑体 CN" panose="020B0500000000000000" pitchFamily="34" charset="-122"/>
                  <a:ea typeface="思源黑体 CN" panose="020B0500000000000000" pitchFamily="34" charset="-122"/>
                  <a:cs typeface="Noto Sans SC"/>
                </a:rPr>
                <a:t>业务闭环页面</a:t>
              </a:r>
            </a:p>
          </p:txBody>
        </p:sp>
        <p:sp>
          <p:nvSpPr>
            <p:cNvPr id="52" name="TextBox 52"/>
            <p:cNvSpPr txBox="1"/>
            <p:nvPr/>
          </p:nvSpPr>
          <p:spPr>
            <a:xfrm>
              <a:off x="9088755" y="5073968"/>
              <a:ext cx="2077492"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详情、评分、评论、收藏、</a:t>
              </a:r>
            </a:p>
          </p:txBody>
        </p:sp>
        <p:sp>
          <p:nvSpPr>
            <p:cNvPr id="53" name="TextBox 53"/>
            <p:cNvSpPr txBox="1"/>
            <p:nvPr/>
          </p:nvSpPr>
          <p:spPr>
            <a:xfrm>
              <a:off x="9088755" y="5340668"/>
              <a:ext cx="1211870" cy="207749"/>
            </a:xfrm>
            <a:prstGeom prst="rect">
              <a:avLst/>
            </a:prstGeom>
            <a:noFill/>
            <a:ln>
              <a:noFill/>
            </a:ln>
            <a:effectLst>
              <a:outerShdw blurRad="114300" dist="38100" dir="10799140" algn="tl" rotWithShape="0">
                <a:srgbClr val="C9AF91">
                  <a:alpha val="24000"/>
                </a:srgbClr>
              </a:outerShdw>
            </a:effectLst>
          </p:spPr>
          <p:txBody>
            <a:bodyPr wrap="none" lIns="0" tIns="0" rIns="0" bIns="0" anchor="t" anchorCtr="0">
              <a:spAutoFit/>
            </a:bodyPr>
            <a:lstStyle/>
            <a:p>
              <a:pPr algn="l"/>
              <a:r>
                <a:rPr lang="zh-CN" sz="1350" dirty="0">
                  <a:solidFill>
                    <a:srgbClr val="6E5A45"/>
                  </a:solidFill>
                  <a:latin typeface="思源宋体" panose="02020400000000000000" pitchFamily="18" charset="-122"/>
                  <a:ea typeface="思源宋体" panose="02020400000000000000" pitchFamily="18" charset="-122"/>
                  <a:cs typeface="Noto Serif SC"/>
                </a:rPr>
                <a:t>拉黑与历史记录</a:t>
              </a:r>
            </a:p>
          </p:txBody>
        </p:sp>
      </p:grpSp>
      <p:sp>
        <p:nvSpPr>
          <p:cNvPr id="55" name="Line 55"/>
          <p:cNvSpPr/>
          <p:nvPr/>
        </p:nvSpPr>
        <p:spPr>
          <a:xfrm>
            <a:off x="609600" y="6477000"/>
            <a:ext cx="10972800" cy="9525"/>
          </a:xfrm>
          <a:custGeom>
            <a:avLst/>
            <a:gdLst/>
            <a:ahLst/>
            <a:cxnLst/>
            <a:rect l="l" t="t" r="r" b="b"/>
            <a:pathLst>
              <a:path w="10972800" h="9525">
                <a:moveTo>
                  <a:pt x="0" y="0"/>
                </a:moveTo>
                <a:lnTo>
                  <a:pt x="10972800" y="0"/>
                </a:lnTo>
              </a:path>
            </a:pathLst>
          </a:custGeom>
          <a:noFill/>
          <a:ln w="9525">
            <a:solidFill>
              <a:srgbClr val="D9C6B5"/>
            </a:solidFill>
          </a:ln>
        </p:spPr>
        <p:txBody>
          <a:bodyPr/>
          <a:lstStyle/>
          <a:p>
            <a:endParaRPr lang="zh-CN" altLang="en-US">
              <a:latin typeface="Noto Serif SC"/>
              <a:ea typeface="Noto Serif SC"/>
              <a:cs typeface="Noto Serif SC"/>
            </a:endParaRPr>
          </a:p>
        </p:txBody>
      </p:sp>
      <p:sp>
        <p:nvSpPr>
          <p:cNvPr id="3" name="Line 5">
            <a:extLst>
              <a:ext uri="{FF2B5EF4-FFF2-40B4-BE49-F238E27FC236}">
                <a16:creationId xmlns:a16="http://schemas.microsoft.com/office/drawing/2014/main" id="{1198D2A5-DB19-4167-AB3D-7B09CD88868C}"/>
              </a:ext>
            </a:extLst>
          </p:cNvPr>
          <p:cNvSpPr/>
          <p:nvPr/>
        </p:nvSpPr>
        <p:spPr>
          <a:xfrm>
            <a:off x="952500" y="762000"/>
            <a:ext cx="3810000" cy="12700"/>
          </a:xfrm>
          <a:prstGeom prst="rect">
            <a:avLst/>
          </a:prstGeom>
          <a:solidFill>
            <a:srgbClr val="E6C46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zh-CN" altLang="en-US"/>
          </a:p>
        </p:txBody>
      </p:sp>
    </p:spTree>
    <p:extLst>
      <p:ext uri="{BB962C8B-B14F-4D97-AF65-F5344CB8AC3E}">
        <p14:creationId xmlns:p14="http://schemas.microsoft.com/office/powerpoint/2010/main" val="126321668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571500" y="504825"/>
            <a:ext cx="11049000" cy="5848350"/>
          </a:xfrm>
          <a:custGeom>
            <a:avLst/>
            <a:gdLst/>
            <a:ahLst/>
            <a:cxnLst/>
            <a:rect l="l" t="t" r="r" b="b"/>
            <a:pathLst>
              <a:path w="11049000" h="5848350">
                <a:moveTo>
                  <a:pt x="266700" y="0"/>
                </a:moveTo>
                <a:lnTo>
                  <a:pt x="10782300" y="0"/>
                </a:lnTo>
                <a:cubicBezTo>
                  <a:pt x="10929594" y="0"/>
                  <a:pt x="11049000" y="119406"/>
                  <a:pt x="11049000" y="266700"/>
                </a:cubicBezTo>
                <a:lnTo>
                  <a:pt x="11049000" y="5581650"/>
                </a:lnTo>
                <a:cubicBezTo>
                  <a:pt x="11049000" y="5728944"/>
                  <a:pt x="10929594" y="5848350"/>
                  <a:pt x="10782300" y="5848350"/>
                </a:cubicBezTo>
                <a:lnTo>
                  <a:pt x="266700" y="5848350"/>
                </a:lnTo>
                <a:cubicBezTo>
                  <a:pt x="119406" y="5848350"/>
                  <a:pt x="0" y="5728944"/>
                  <a:pt x="0" y="5581650"/>
                </a:cubicBezTo>
                <a:lnTo>
                  <a:pt x="0" y="266700"/>
                </a:lnTo>
                <a:cubicBezTo>
                  <a:pt x="0" y="119406"/>
                  <a:pt x="119406" y="0"/>
                  <a:pt x="266700" y="0"/>
                </a:cubicBezTo>
                <a:close/>
              </a:path>
            </a:pathLst>
          </a:custGeom>
          <a:solidFill>
            <a:srgbClr val="EFF6FF"/>
          </a:solidFill>
          <a:ln w="19050">
            <a:solidFill>
              <a:srgbClr val="EADBCB"/>
            </a:solidFill>
          </a:ln>
        </p:spPr>
      </p:sp>
      <p:sp>
        <p:nvSpPr>
          <p:cNvPr id="4" name="TextBox 4"/>
          <p:cNvSpPr txBox="1"/>
          <p:nvPr/>
        </p:nvSpPr>
        <p:spPr>
          <a:xfrm>
            <a:off x="842010" y="641985"/>
            <a:ext cx="5699760" cy="430530"/>
          </a:xfrm>
          <a:prstGeom prst="rect">
            <a:avLst/>
          </a:prstGeom>
          <a:noFill/>
          <a:ln>
            <a:noFill/>
          </a:ln>
        </p:spPr>
        <p:txBody>
          <a:bodyPr wrap="none" lIns="0" tIns="0" rIns="0" bIns="0" anchor="t" anchorCtr="0">
            <a:spAutoFit/>
          </a:bodyPr>
          <a:lstStyle/>
          <a:p>
            <a:pPr algn="l">
              <a:buSzTx/>
            </a:pPr>
            <a:r>
              <a:rPr sz="2800" b="1" dirty="0" err="1">
                <a:solidFill>
                  <a:srgbClr val="0B5FA5"/>
                </a:solidFill>
                <a:latin typeface="思源黑体 CN" panose="020B0500000000000000" pitchFamily="34" charset="-122"/>
                <a:ea typeface="思源黑体 CN" panose="020B0500000000000000" pitchFamily="34" charset="-122"/>
                <a:cs typeface="Noto Sans SC" panose="020B0200000000000000" charset="-122"/>
              </a:rPr>
              <a:t>四个核心页面如何支撑用户使用流程</a:t>
            </a:r>
            <a:endParaRPr sz="2800" b="1" dirty="0">
              <a:solidFill>
                <a:srgbClr val="0B5FA5"/>
              </a:solidFill>
              <a:latin typeface="思源黑体 CN" panose="020B0500000000000000" pitchFamily="34" charset="-122"/>
              <a:ea typeface="思源黑体 CN" panose="020B0500000000000000" pitchFamily="34" charset="-122"/>
              <a:cs typeface="Noto Sans SC" panose="020B0200000000000000" charset="-122"/>
            </a:endParaRPr>
          </a:p>
        </p:txBody>
      </p:sp>
      <p:sp>
        <p:nvSpPr>
          <p:cNvPr id="5" name="TextBox 5"/>
          <p:cNvSpPr txBox="1"/>
          <p:nvPr/>
        </p:nvSpPr>
        <p:spPr>
          <a:xfrm>
            <a:off x="859155" y="1111568"/>
            <a:ext cx="6934200" cy="215265"/>
          </a:xfrm>
          <a:prstGeom prst="rect">
            <a:avLst/>
          </a:prstGeom>
          <a:noFill/>
          <a:ln>
            <a:noFill/>
          </a:ln>
        </p:spPr>
        <p:txBody>
          <a:bodyPr wrap="none" lIns="0" tIns="0" rIns="0" bIns="0" anchor="t" anchorCtr="0">
            <a:spAutoFit/>
          </a:bodyPr>
          <a:lstStyle/>
          <a:p>
            <a:pPr algn="l"/>
            <a:r>
              <a:rPr sz="14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页面不是孤立存在，而是围绕“发现窗口、查看详情、提交反馈、形成偏好”组织起来的</a:t>
            </a:r>
            <a:endParaRPr lang="zh-CN" sz="1350" dirty="0">
              <a:solidFill>
                <a:srgbClr val="6E5A45"/>
              </a:solidFill>
              <a:latin typeface="思源宋体" panose="02020400000000000000" pitchFamily="18" charset="-122"/>
              <a:ea typeface="思源宋体" panose="02020400000000000000" pitchFamily="18" charset="-122"/>
            </a:endParaRPr>
          </a:p>
        </p:txBody>
      </p:sp>
      <p:grpSp>
        <p:nvGrpSpPr>
          <p:cNvPr id="13" name="Group 13"/>
          <p:cNvGrpSpPr/>
          <p:nvPr/>
        </p:nvGrpSpPr>
        <p:grpSpPr>
          <a:xfrm>
            <a:off x="819150" y="1600200"/>
            <a:ext cx="5086350" cy="1695450"/>
            <a:chOff x="819150" y="1600200"/>
            <a:chExt cx="5086350" cy="1695450"/>
          </a:xfrm>
          <a:solidFill>
            <a:srgbClr val="F8E9EE"/>
          </a:solidFill>
          <a:effectLst>
            <a:outerShdw blurRad="114300" dist="38100" dir="10799140" algn="tl" rotWithShape="0">
              <a:srgbClr val="C9AF91">
                <a:alpha val="22000"/>
              </a:srgbClr>
            </a:outerShdw>
          </a:effectLst>
        </p:grpSpPr>
        <p:sp>
          <p:nvSpPr>
            <p:cNvPr id="6" name="Freeform 6"/>
            <p:cNvSpPr/>
            <p:nvPr/>
          </p:nvSpPr>
          <p:spPr>
            <a:xfrm>
              <a:off x="819150" y="160020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E7C7B1"/>
              </a:solidFill>
            </a:ln>
            <a:effectLst>
              <a:outerShdw blurRad="114300" dist="38100" dir="10799140" algn="tl" rotWithShape="0">
                <a:srgbClr val="C9AF91">
                  <a:alpha val="22000"/>
                </a:srgbClr>
              </a:outerShdw>
            </a:effectLst>
          </p:spPr>
        </p:sp>
        <p:sp>
          <p:nvSpPr>
            <p:cNvPr id="7" name="TextBox 7"/>
            <p:cNvSpPr txBox="1"/>
            <p:nvPr/>
          </p:nvSpPr>
          <p:spPr>
            <a:xfrm>
              <a:off x="1032510" y="1775460"/>
              <a:ext cx="461665"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rgbClr val="E8652B"/>
                  </a:solidFill>
                  <a:latin typeface="思源黑体 CN" panose="020B0500000000000000" pitchFamily="34" charset="-122"/>
                  <a:ea typeface="思源黑体 CN" panose="020B0500000000000000" pitchFamily="34" charset="-122"/>
                </a:rPr>
                <a:t>主页面</a:t>
              </a:r>
            </a:p>
          </p:txBody>
        </p:sp>
        <p:sp>
          <p:nvSpPr>
            <p:cNvPr id="8" name="TextBox 8"/>
            <p:cNvSpPr txBox="1"/>
            <p:nvPr/>
          </p:nvSpPr>
          <p:spPr>
            <a:xfrm>
              <a:off x="1022985" y="2037398"/>
              <a:ext cx="1782445"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dirty="0" err="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负责发现和选择</a:t>
              </a:r>
              <a:endParaRPr lang="zh-CN" sz="2000" b="1" dirty="0">
                <a:solidFill>
                  <a:srgbClr val="3F4A57"/>
                </a:solidFill>
                <a:latin typeface="思源黑体 CN" panose="020B0500000000000000" pitchFamily="34" charset="-122"/>
                <a:ea typeface="思源黑体 CN" panose="020B0500000000000000" pitchFamily="34" charset="-122"/>
                <a:cs typeface="Noto Sans SC" panose="020B0200000000000000" charset="-122"/>
              </a:endParaRPr>
            </a:p>
          </p:txBody>
        </p:sp>
        <p:sp>
          <p:nvSpPr>
            <p:cNvPr id="9" name="TextBox 9"/>
            <p:cNvSpPr txBox="1"/>
            <p:nvPr/>
          </p:nvSpPr>
          <p:spPr>
            <a:xfrm>
              <a:off x="1030605" y="2464435"/>
              <a:ext cx="4721860" cy="200025"/>
            </a:xfrm>
            <a:prstGeom prst="rect">
              <a:avLst/>
            </a:prstGeom>
            <a:grpFill/>
            <a:ln>
              <a:noFill/>
            </a:ln>
            <a:effectLst>
              <a:outerShdw blurRad="114300" dist="38100" dir="10799140" algn="tl" rotWithShape="0">
                <a:srgbClr val="C9AF91">
                  <a:alpha val="22000"/>
                </a:srgbClr>
              </a:outerShdw>
            </a:effectLst>
          </p:spPr>
          <p:txBody>
            <a:bodyPr wrap="square" lIns="0" tIns="0" rIns="0" bIns="0" anchor="t" anchorCtr="0">
              <a:spAutoFit/>
            </a:bodyPr>
            <a:lstStyle/>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核心模块：窗口列表、筛选栏、排序、今天吃什么、AI</a:t>
              </a:r>
              <a:r>
                <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rPr>
                <a:t> </a:t>
              </a: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助手</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p:txBody>
        </p:sp>
        <p:sp>
          <p:nvSpPr>
            <p:cNvPr id="11" name="Freeform 11"/>
            <p:cNvSpPr/>
            <p:nvPr/>
          </p:nvSpPr>
          <p:spPr>
            <a:xfrm>
              <a:off x="4572000" y="1809750"/>
              <a:ext cx="1181100" cy="457200"/>
            </a:xfrm>
            <a:custGeom>
              <a:avLst/>
              <a:gdLst/>
              <a:ahLst/>
              <a:cxnLst/>
              <a:rect l="l" t="t" r="r" b="b"/>
              <a:pathLst>
                <a:path w="1181100" h="457200">
                  <a:moveTo>
                    <a:pt x="133350" y="0"/>
                  </a:moveTo>
                  <a:lnTo>
                    <a:pt x="1047750" y="0"/>
                  </a:lnTo>
                  <a:cubicBezTo>
                    <a:pt x="1121397" y="0"/>
                    <a:pt x="1181100" y="59703"/>
                    <a:pt x="1181100" y="133350"/>
                  </a:cubicBezTo>
                  <a:lnTo>
                    <a:pt x="1181100" y="323850"/>
                  </a:lnTo>
                  <a:cubicBezTo>
                    <a:pt x="1181100" y="397497"/>
                    <a:pt x="1121397" y="457200"/>
                    <a:pt x="10477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12" name="TextBox 12"/>
            <p:cNvSpPr txBox="1"/>
            <p:nvPr/>
          </p:nvSpPr>
          <p:spPr>
            <a:xfrm>
              <a:off x="4854773" y="193738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A84A20"/>
                  </a:solidFill>
                  <a:latin typeface="思源黑体 CN" panose="020B0500000000000000" pitchFamily="34" charset="-122"/>
                  <a:ea typeface="思源黑体 CN" panose="020B0500000000000000" pitchFamily="34" charset="-122"/>
                </a:rPr>
                <a:t>首页入口</a:t>
              </a:r>
            </a:p>
          </p:txBody>
        </p:sp>
      </p:grpSp>
      <p:grpSp>
        <p:nvGrpSpPr>
          <p:cNvPr id="21" name="Group 21"/>
          <p:cNvGrpSpPr/>
          <p:nvPr/>
        </p:nvGrpSpPr>
        <p:grpSpPr>
          <a:xfrm>
            <a:off x="6286500" y="1600200"/>
            <a:ext cx="5086350" cy="1695450"/>
            <a:chOff x="6286500" y="1600200"/>
            <a:chExt cx="5086350" cy="1695450"/>
          </a:xfrm>
          <a:solidFill>
            <a:srgbClr val="FFF2D6"/>
          </a:solidFill>
          <a:effectLst>
            <a:outerShdw blurRad="114300" dist="38100" dir="10799140" algn="tl" rotWithShape="0">
              <a:srgbClr val="C9AF91">
                <a:alpha val="22000"/>
              </a:srgbClr>
            </a:outerShdw>
          </a:effectLst>
        </p:grpSpPr>
        <p:sp>
          <p:nvSpPr>
            <p:cNvPr id="14" name="Freeform 14"/>
            <p:cNvSpPr/>
            <p:nvPr/>
          </p:nvSpPr>
          <p:spPr>
            <a:xfrm>
              <a:off x="6286500" y="160020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BFE5E2"/>
              </a:solidFill>
            </a:ln>
            <a:effectLst>
              <a:outerShdw blurRad="114300" dist="38100" dir="10799140" algn="tl" rotWithShape="0">
                <a:srgbClr val="C9AF91">
                  <a:alpha val="22000"/>
                </a:srgbClr>
              </a:outerShdw>
            </a:effectLst>
          </p:spPr>
        </p:sp>
        <p:sp>
          <p:nvSpPr>
            <p:cNvPr id="15" name="TextBox 15"/>
            <p:cNvSpPr txBox="1"/>
            <p:nvPr/>
          </p:nvSpPr>
          <p:spPr>
            <a:xfrm>
              <a:off x="6499860" y="1775460"/>
              <a:ext cx="461665"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rgbClr val="1A9E96"/>
                  </a:solidFill>
                  <a:latin typeface="思源黑体 CN" panose="020B0500000000000000" pitchFamily="34" charset="-122"/>
                  <a:ea typeface="思源黑体 CN" panose="020B0500000000000000" pitchFamily="34" charset="-122"/>
                </a:rPr>
                <a:t>排行榜</a:t>
              </a:r>
            </a:p>
          </p:txBody>
        </p:sp>
        <p:sp>
          <p:nvSpPr>
            <p:cNvPr id="16" name="TextBox 16"/>
            <p:cNvSpPr txBox="1"/>
            <p:nvPr/>
          </p:nvSpPr>
          <p:spPr>
            <a:xfrm>
              <a:off x="6490335" y="2037398"/>
              <a:ext cx="1782445"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负责比较和展示</a:t>
              </a:r>
              <a:endParaRPr lang="zh-CN" sz="1950" dirty="0">
                <a:solidFill>
                  <a:srgbClr val="2D1B0E"/>
                </a:solidFill>
                <a:latin typeface="思源黑体 CN" panose="020B0500000000000000" pitchFamily="34" charset="-122"/>
                <a:ea typeface="思源黑体 CN" panose="020B0500000000000000" pitchFamily="34" charset="-122"/>
              </a:endParaRPr>
            </a:p>
          </p:txBody>
        </p:sp>
        <p:sp>
          <p:nvSpPr>
            <p:cNvPr id="17" name="TextBox 17"/>
            <p:cNvSpPr txBox="1"/>
            <p:nvPr/>
          </p:nvSpPr>
          <p:spPr>
            <a:xfrm>
              <a:off x="6497955" y="2464118"/>
              <a:ext cx="4669790" cy="40005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评分榜、热度榜、最新评价榜使用统一页面结构，通过</a:t>
              </a:r>
              <a:r>
                <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rPr>
                <a:t> tab </a:t>
              </a: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切换</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a:p>
              <a:pPr algn="l">
                <a:buSzTx/>
              </a:pPr>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数据源</a:t>
              </a:r>
              <a:endParaRPr lang="zh-CN" sz="1300" dirty="0">
                <a:solidFill>
                  <a:srgbClr val="6E5A45"/>
                </a:solidFill>
                <a:latin typeface="思源宋体" panose="02020400000000000000" pitchFamily="18" charset="-122"/>
                <a:ea typeface="思源宋体" panose="02020400000000000000" pitchFamily="18" charset="-122"/>
                <a:cs typeface="PingFang SC Regular" panose="020B0400000000000000" charset="-122"/>
              </a:endParaRPr>
            </a:p>
          </p:txBody>
        </p:sp>
        <p:sp>
          <p:nvSpPr>
            <p:cNvPr id="19" name="Freeform 19"/>
            <p:cNvSpPr/>
            <p:nvPr/>
          </p:nvSpPr>
          <p:spPr>
            <a:xfrm>
              <a:off x="10267950" y="1809750"/>
              <a:ext cx="952500" cy="457200"/>
            </a:xfrm>
            <a:custGeom>
              <a:avLst/>
              <a:gdLst/>
              <a:ahLst/>
              <a:cxnLst/>
              <a:rect l="l" t="t" r="r" b="b"/>
              <a:pathLst>
                <a:path w="952500" h="457200">
                  <a:moveTo>
                    <a:pt x="133350" y="0"/>
                  </a:moveTo>
                  <a:lnTo>
                    <a:pt x="819150" y="0"/>
                  </a:lnTo>
                  <a:cubicBezTo>
                    <a:pt x="892797" y="0"/>
                    <a:pt x="952500" y="59703"/>
                    <a:pt x="952500" y="133350"/>
                  </a:cubicBezTo>
                  <a:lnTo>
                    <a:pt x="952500" y="323850"/>
                  </a:lnTo>
                  <a:cubicBezTo>
                    <a:pt x="952500" y="397497"/>
                    <a:pt x="892797" y="457200"/>
                    <a:pt x="8191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20" name="TextBox 20"/>
            <p:cNvSpPr txBox="1"/>
            <p:nvPr/>
          </p:nvSpPr>
          <p:spPr>
            <a:xfrm>
              <a:off x="10436423" y="193738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0D7A74"/>
                  </a:solidFill>
                  <a:latin typeface="思源黑体 CN" panose="020B0500000000000000" pitchFamily="34" charset="-122"/>
                  <a:ea typeface="思源黑体 CN" panose="020B0500000000000000" pitchFamily="34" charset="-122"/>
                </a:rPr>
                <a:t>通用榜单</a:t>
              </a:r>
            </a:p>
          </p:txBody>
        </p:sp>
      </p:grpSp>
      <p:sp>
        <p:nvSpPr>
          <p:cNvPr id="22" name="Freeform 22"/>
          <p:cNvSpPr/>
          <p:nvPr/>
        </p:nvSpPr>
        <p:spPr>
          <a:xfrm>
            <a:off x="819150" y="352425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solidFill>
            <a:srgbClr val="E5F5F3"/>
          </a:solidFill>
          <a:ln w="19050">
            <a:solidFill>
              <a:srgbClr val="EFD8A8"/>
            </a:solidFill>
          </a:ln>
          <a:effectLst>
            <a:outerShdw blurRad="114300" dist="38100" dir="10799140" algn="tl" rotWithShape="0">
              <a:srgbClr val="C9AF91">
                <a:alpha val="22000"/>
              </a:srgbClr>
            </a:outerShdw>
          </a:effectLst>
        </p:spPr>
      </p:sp>
      <p:sp>
        <p:nvSpPr>
          <p:cNvPr id="23" name="TextBox 23"/>
          <p:cNvSpPr txBox="1"/>
          <p:nvPr/>
        </p:nvSpPr>
        <p:spPr>
          <a:xfrm>
            <a:off x="1032510" y="3699510"/>
            <a:ext cx="615553" cy="184666"/>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lang="zh-CN" sz="1200" b="1" dirty="0">
                <a:solidFill>
                  <a:schemeClr val="accent6"/>
                </a:solidFill>
                <a:latin typeface="思源黑体 CN" panose="020B0500000000000000" pitchFamily="34" charset="-122"/>
                <a:ea typeface="思源黑体 CN" panose="020B0500000000000000" pitchFamily="34" charset="-122"/>
              </a:rPr>
              <a:t>个人中心</a:t>
            </a:r>
          </a:p>
        </p:txBody>
      </p:sp>
      <p:sp>
        <p:nvSpPr>
          <p:cNvPr id="24" name="TextBox 24"/>
          <p:cNvSpPr txBox="1"/>
          <p:nvPr/>
        </p:nvSpPr>
        <p:spPr>
          <a:xfrm>
            <a:off x="1022985" y="3961765"/>
            <a:ext cx="2037080" cy="307340"/>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dirty="0" err="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负责沉淀用户状态</a:t>
            </a:r>
            <a:endParaRPr lang="zh-CN" sz="1950" b="1" dirty="0">
              <a:solidFill>
                <a:srgbClr val="2D1B0E"/>
              </a:solidFill>
              <a:latin typeface="思源黑体 CN" panose="020B0500000000000000" pitchFamily="34" charset="-122"/>
              <a:ea typeface="思源黑体 CN" panose="020B0500000000000000" pitchFamily="34" charset="-122"/>
            </a:endParaRPr>
          </a:p>
        </p:txBody>
      </p:sp>
      <p:sp>
        <p:nvSpPr>
          <p:cNvPr id="25" name="TextBox 25"/>
          <p:cNvSpPr txBox="1"/>
          <p:nvPr/>
        </p:nvSpPr>
        <p:spPr>
          <a:xfrm>
            <a:off x="1030605" y="4388485"/>
            <a:ext cx="3632200" cy="200025"/>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管理资料、密码、评论、收藏、黑名单和浏览历史</a:t>
            </a:r>
            <a:endParaRPr lang="zh-CN" sz="1350" dirty="0">
              <a:solidFill>
                <a:srgbClr val="6E5A45"/>
              </a:solidFill>
              <a:latin typeface="思源宋体" panose="02020400000000000000" pitchFamily="18" charset="-122"/>
              <a:ea typeface="思源宋体" panose="02020400000000000000" pitchFamily="18" charset="-122"/>
            </a:endParaRPr>
          </a:p>
        </p:txBody>
      </p:sp>
      <p:sp>
        <p:nvSpPr>
          <p:cNvPr id="27" name="Freeform 27"/>
          <p:cNvSpPr/>
          <p:nvPr/>
        </p:nvSpPr>
        <p:spPr>
          <a:xfrm>
            <a:off x="4552950" y="3733800"/>
            <a:ext cx="1219200" cy="457200"/>
          </a:xfrm>
          <a:custGeom>
            <a:avLst/>
            <a:gdLst/>
            <a:ahLst/>
            <a:cxnLst/>
            <a:rect l="l" t="t" r="r" b="b"/>
            <a:pathLst>
              <a:path w="1219200" h="457200">
                <a:moveTo>
                  <a:pt x="133350" y="0"/>
                </a:moveTo>
                <a:lnTo>
                  <a:pt x="1085850" y="0"/>
                </a:lnTo>
                <a:cubicBezTo>
                  <a:pt x="1159497" y="0"/>
                  <a:pt x="1219200" y="59703"/>
                  <a:pt x="1219200" y="133350"/>
                </a:cubicBezTo>
                <a:lnTo>
                  <a:pt x="1219200" y="323850"/>
                </a:lnTo>
                <a:cubicBezTo>
                  <a:pt x="1219200" y="397497"/>
                  <a:pt x="1159497" y="457200"/>
                  <a:pt x="1085850" y="457200"/>
                </a:cubicBezTo>
                <a:lnTo>
                  <a:pt x="133350" y="457200"/>
                </a:lnTo>
                <a:cubicBezTo>
                  <a:pt x="59703" y="457200"/>
                  <a:pt x="0" y="397497"/>
                  <a:pt x="0" y="323850"/>
                </a:cubicBezTo>
                <a:lnTo>
                  <a:pt x="0" y="133350"/>
                </a:lnTo>
                <a:cubicBezTo>
                  <a:pt x="0" y="59703"/>
                  <a:pt x="59703" y="0"/>
                  <a:pt x="133350" y="0"/>
                </a:cubicBezTo>
                <a:close/>
              </a:path>
            </a:pathLst>
          </a:custGeom>
          <a:solidFill>
            <a:srgbClr val="E5F5F3"/>
          </a:solidFill>
          <a:ln>
            <a:noFill/>
          </a:ln>
          <a:effectLst>
            <a:outerShdw blurRad="114300" dist="38100" dir="10799140" algn="tl" rotWithShape="0">
              <a:srgbClr val="C9AF91">
                <a:alpha val="22000"/>
              </a:srgbClr>
            </a:outerShdw>
          </a:effectLst>
        </p:spPr>
      </p:sp>
      <p:sp>
        <p:nvSpPr>
          <p:cNvPr id="28" name="TextBox 28"/>
          <p:cNvSpPr txBox="1"/>
          <p:nvPr/>
        </p:nvSpPr>
        <p:spPr>
          <a:xfrm>
            <a:off x="4777512" y="3861435"/>
            <a:ext cx="769441" cy="184666"/>
          </a:xfrm>
          <a:prstGeom prst="rect">
            <a:avLst/>
          </a:prstGeom>
          <a:solidFill>
            <a:srgbClr val="E5F5F3"/>
          </a:solid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chemeClr val="accent6"/>
                </a:solidFill>
                <a:latin typeface="思源黑体 CN" panose="020B0500000000000000" pitchFamily="34" charset="-122"/>
                <a:ea typeface="思源黑体 CN" panose="020B0500000000000000" pitchFamily="34" charset="-122"/>
              </a:rPr>
              <a:t>用户侧管理</a:t>
            </a:r>
          </a:p>
        </p:txBody>
      </p:sp>
      <p:grpSp>
        <p:nvGrpSpPr>
          <p:cNvPr id="37" name="Group 37"/>
          <p:cNvGrpSpPr/>
          <p:nvPr/>
        </p:nvGrpSpPr>
        <p:grpSpPr>
          <a:xfrm>
            <a:off x="6286500" y="3524250"/>
            <a:ext cx="5086350" cy="1695450"/>
            <a:chOff x="6286500" y="3524250"/>
            <a:chExt cx="5086350" cy="1695450"/>
          </a:xfrm>
          <a:solidFill>
            <a:srgbClr val="F5F5F5"/>
          </a:solidFill>
          <a:effectLst>
            <a:outerShdw blurRad="114300" dist="38100" dir="10799140" algn="tl" rotWithShape="0">
              <a:srgbClr val="C9AF91">
                <a:alpha val="22000"/>
              </a:srgbClr>
            </a:outerShdw>
          </a:effectLst>
        </p:grpSpPr>
        <p:sp>
          <p:nvSpPr>
            <p:cNvPr id="30" name="Freeform 30"/>
            <p:cNvSpPr/>
            <p:nvPr/>
          </p:nvSpPr>
          <p:spPr>
            <a:xfrm>
              <a:off x="6286500" y="3524250"/>
              <a:ext cx="5086350" cy="169545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pFill/>
            <a:ln w="19050">
              <a:solidFill>
                <a:srgbClr val="C9E8D5"/>
              </a:solidFill>
            </a:ln>
            <a:effectLst>
              <a:outerShdw blurRad="114300" dist="38100" dir="10799140" algn="tl" rotWithShape="0">
                <a:srgbClr val="C9AF91">
                  <a:alpha val="22000"/>
                </a:srgbClr>
              </a:outerShdw>
            </a:effectLst>
          </p:spPr>
          <p:txBody>
            <a:bodyPr/>
            <a:lstStyle/>
            <a:p>
              <a:endParaRPr lang="zh-CN" altLang="en-US"/>
            </a:p>
          </p:txBody>
        </p:sp>
        <p:sp>
          <p:nvSpPr>
            <p:cNvPr id="31" name="TextBox 31"/>
            <p:cNvSpPr txBox="1"/>
            <p:nvPr/>
          </p:nvSpPr>
          <p:spPr>
            <a:xfrm>
              <a:off x="6499860" y="3699510"/>
              <a:ext cx="950595" cy="184150"/>
            </a:xfrm>
            <a:prstGeom prst="rect">
              <a:avLst/>
            </a:prstGeom>
            <a:grpFill/>
            <a:ln>
              <a:noFill/>
            </a:ln>
            <a:effectLst>
              <a:outerShdw blurRad="114300" dist="38100" dir="10799140" algn="tl" rotWithShape="0">
                <a:srgbClr val="C9AF91">
                  <a:alpha val="22000"/>
                </a:srgbClr>
              </a:outerShdw>
            </a:effectLst>
          </p:spPr>
          <p:txBody>
            <a:bodyPr wrap="square" lIns="0" tIns="0" rIns="0" bIns="0" anchor="t" anchorCtr="0">
              <a:spAutoFit/>
            </a:bodyPr>
            <a:lstStyle/>
            <a:p>
              <a:pPr algn="l"/>
              <a:r>
                <a:rPr lang="zh-CN" sz="1200" b="1" dirty="0">
                  <a:solidFill>
                    <a:srgbClr val="2EAD6B"/>
                  </a:solidFill>
                  <a:latin typeface="思源黑体 CN" panose="020B0500000000000000" pitchFamily="34" charset="-122"/>
                  <a:ea typeface="思源黑体 CN" panose="020B0500000000000000" pitchFamily="34" charset="-122"/>
                </a:rPr>
                <a:t>窗口评论页</a:t>
              </a:r>
            </a:p>
          </p:txBody>
        </p:sp>
        <p:sp>
          <p:nvSpPr>
            <p:cNvPr id="32" name="TextBox 32"/>
            <p:cNvSpPr txBox="1"/>
            <p:nvPr/>
          </p:nvSpPr>
          <p:spPr>
            <a:xfrm>
              <a:off x="6490335" y="3961448"/>
              <a:ext cx="2037080" cy="30734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2000" b="1">
                  <a:solidFill>
                    <a:srgbClr val="3F4A57"/>
                  </a:solidFill>
                  <a:latin typeface="思源黑体 CN" panose="020B0500000000000000" pitchFamily="34" charset="-122"/>
                  <a:ea typeface="思源黑体 CN" panose="020B0500000000000000" pitchFamily="34" charset="-122"/>
                  <a:cs typeface="Noto Sans SC" panose="020B0200000000000000" charset="-122"/>
                </a:rPr>
                <a:t>负责形成业务闭环</a:t>
              </a:r>
              <a:endParaRPr lang="zh-CN" sz="1950" b="1" dirty="0">
                <a:solidFill>
                  <a:srgbClr val="2D1B0E"/>
                </a:solidFill>
                <a:latin typeface="思源黑体 CN" panose="020B0500000000000000" pitchFamily="34" charset="-122"/>
                <a:ea typeface="思源黑体 CN" panose="020B0500000000000000" pitchFamily="34" charset="-122"/>
              </a:endParaRPr>
            </a:p>
          </p:txBody>
        </p:sp>
        <p:sp>
          <p:nvSpPr>
            <p:cNvPr id="33" name="TextBox 33"/>
            <p:cNvSpPr txBox="1"/>
            <p:nvPr/>
          </p:nvSpPr>
          <p:spPr>
            <a:xfrm>
              <a:off x="6497955" y="4388168"/>
              <a:ext cx="4622800" cy="400050"/>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展示窗口详情和评论，同时支持评分、评论、收藏、拉黑和历史</a:t>
              </a:r>
              <a:endParaRPr sz="1300" dirty="0">
                <a:solidFill>
                  <a:srgbClr val="3F4A57"/>
                </a:solidFill>
                <a:latin typeface="思源宋体" panose="02020400000000000000" pitchFamily="18" charset="-122"/>
                <a:ea typeface="思源宋体" panose="02020400000000000000" pitchFamily="18" charset="-122"/>
                <a:cs typeface="Noto Sans SC" panose="020B0200000000000000" charset="-122"/>
              </a:endParaRPr>
            </a:p>
            <a:p>
              <a:pPr algn="l"/>
              <a:r>
                <a:rPr sz="1300" dirty="0" err="1">
                  <a:solidFill>
                    <a:srgbClr val="3F4A57"/>
                  </a:solidFill>
                  <a:latin typeface="思源宋体" panose="02020400000000000000" pitchFamily="18" charset="-122"/>
                  <a:ea typeface="思源宋体" panose="02020400000000000000" pitchFamily="18" charset="-122"/>
                  <a:cs typeface="Noto Sans SC" panose="020B0200000000000000" charset="-122"/>
                </a:rPr>
                <a:t>记录</a:t>
              </a:r>
              <a:endParaRPr lang="zh-CN" sz="1350" dirty="0">
                <a:solidFill>
                  <a:srgbClr val="6E5A45"/>
                </a:solidFill>
                <a:latin typeface="思源宋体" panose="02020400000000000000" pitchFamily="18" charset="-122"/>
                <a:ea typeface="思源宋体" panose="02020400000000000000" pitchFamily="18" charset="-122"/>
              </a:endParaRPr>
            </a:p>
          </p:txBody>
        </p:sp>
        <p:sp>
          <p:nvSpPr>
            <p:cNvPr id="35" name="Freeform 35"/>
            <p:cNvSpPr/>
            <p:nvPr/>
          </p:nvSpPr>
          <p:spPr>
            <a:xfrm>
              <a:off x="10248900" y="3733800"/>
              <a:ext cx="990600" cy="457200"/>
            </a:xfrm>
            <a:custGeom>
              <a:avLst/>
              <a:gdLst/>
              <a:ahLst/>
              <a:cxnLst/>
              <a:rect l="l" t="t" r="r" b="b"/>
              <a:pathLst>
                <a:path w="990600" h="457200">
                  <a:moveTo>
                    <a:pt x="133350" y="0"/>
                  </a:moveTo>
                  <a:lnTo>
                    <a:pt x="857250" y="0"/>
                  </a:lnTo>
                  <a:cubicBezTo>
                    <a:pt x="930897" y="0"/>
                    <a:pt x="990600" y="59703"/>
                    <a:pt x="990600" y="133350"/>
                  </a:cubicBezTo>
                  <a:lnTo>
                    <a:pt x="990600" y="323850"/>
                  </a:lnTo>
                  <a:cubicBezTo>
                    <a:pt x="990600" y="397497"/>
                    <a:pt x="930897" y="457200"/>
                    <a:pt x="857250" y="457200"/>
                  </a:cubicBezTo>
                  <a:lnTo>
                    <a:pt x="133350" y="457200"/>
                  </a:lnTo>
                  <a:cubicBezTo>
                    <a:pt x="59703" y="457200"/>
                    <a:pt x="0" y="397497"/>
                    <a:pt x="0" y="323850"/>
                  </a:cubicBezTo>
                  <a:lnTo>
                    <a:pt x="0" y="133350"/>
                  </a:lnTo>
                  <a:cubicBezTo>
                    <a:pt x="0" y="59703"/>
                    <a:pt x="59703" y="0"/>
                    <a:pt x="133350" y="0"/>
                  </a:cubicBezTo>
                  <a:close/>
                </a:path>
              </a:pathLst>
            </a:custGeom>
            <a:grpFill/>
            <a:ln>
              <a:noFill/>
            </a:ln>
            <a:effectLst>
              <a:outerShdw blurRad="114300" dist="38100" dir="10799140" algn="tl" rotWithShape="0">
                <a:srgbClr val="C9AF91">
                  <a:alpha val="22000"/>
                </a:srgbClr>
              </a:outerShdw>
            </a:effectLst>
          </p:spPr>
        </p:sp>
        <p:sp>
          <p:nvSpPr>
            <p:cNvPr id="36" name="TextBox 36"/>
            <p:cNvSpPr txBox="1"/>
            <p:nvPr/>
          </p:nvSpPr>
          <p:spPr>
            <a:xfrm>
              <a:off x="10436423" y="3861435"/>
              <a:ext cx="615553" cy="184666"/>
            </a:xfrm>
            <a:prstGeom prst="rect">
              <a:avLst/>
            </a:prstGeom>
            <a:grpFill/>
            <a:ln>
              <a:noFill/>
            </a:ln>
            <a:effectLst>
              <a:outerShdw blurRad="114300" dist="38100" dir="10799140" algn="tl" rotWithShape="0">
                <a:srgbClr val="C9AF91">
                  <a:alpha val="22000"/>
                </a:srgbClr>
              </a:outerShdw>
            </a:effectLst>
          </p:spPr>
          <p:txBody>
            <a:bodyPr wrap="none" lIns="0" tIns="0" rIns="0" bIns="0" anchor="t" anchorCtr="0">
              <a:spAutoFit/>
            </a:bodyPr>
            <a:lstStyle/>
            <a:p>
              <a:pPr algn="ctr"/>
              <a:r>
                <a:rPr lang="zh-CN" sz="1200" b="1" dirty="0">
                  <a:solidFill>
                    <a:srgbClr val="21874F"/>
                  </a:solidFill>
                  <a:latin typeface="思源黑体 CN" panose="020B0500000000000000" pitchFamily="34" charset="-122"/>
                  <a:ea typeface="思源黑体 CN" panose="020B0500000000000000" pitchFamily="34" charset="-122"/>
                </a:rPr>
                <a:t>评价闭环</a:t>
              </a:r>
            </a:p>
          </p:txBody>
        </p:sp>
      </p:grpSp>
      <p:sp>
        <p:nvSpPr>
          <p:cNvPr id="38" name="Line 38"/>
          <p:cNvSpPr/>
          <p:nvPr/>
        </p:nvSpPr>
        <p:spPr>
          <a:xfrm>
            <a:off x="2266950" y="5505450"/>
            <a:ext cx="7677150" cy="9525"/>
          </a:xfrm>
          <a:custGeom>
            <a:avLst/>
            <a:gdLst/>
            <a:ahLst/>
            <a:cxnLst/>
            <a:rect l="l" t="t" r="r" b="b"/>
            <a:pathLst>
              <a:path w="7677150" h="9525">
                <a:moveTo>
                  <a:pt x="0" y="0"/>
                </a:moveTo>
                <a:lnTo>
                  <a:pt x="7677150" y="0"/>
                </a:lnTo>
              </a:path>
            </a:pathLst>
          </a:custGeom>
          <a:noFill/>
          <a:ln w="28575">
            <a:solidFill>
              <a:srgbClr val="D9C6B5"/>
            </a:solidFill>
            <a:custDash>
              <a:ds d="266666" sp="266666"/>
            </a:custDash>
          </a:ln>
        </p:spPr>
      </p:sp>
      <p:sp>
        <p:nvSpPr>
          <p:cNvPr id="39" name="Ellipse 39"/>
          <p:cNvSpPr/>
          <p:nvPr/>
        </p:nvSpPr>
        <p:spPr>
          <a:xfrm>
            <a:off x="2209800" y="5429250"/>
            <a:ext cx="152400" cy="152400"/>
          </a:xfrm>
          <a:prstGeom prst="ellipse">
            <a:avLst/>
          </a:prstGeom>
          <a:solidFill>
            <a:srgbClr val="E8652B"/>
          </a:solidFill>
          <a:ln>
            <a:noFill/>
          </a:ln>
        </p:spPr>
      </p:sp>
      <p:sp>
        <p:nvSpPr>
          <p:cNvPr id="40" name="Ellipse 40"/>
          <p:cNvSpPr/>
          <p:nvPr/>
        </p:nvSpPr>
        <p:spPr>
          <a:xfrm>
            <a:off x="4781550" y="5429250"/>
            <a:ext cx="152400" cy="152400"/>
          </a:xfrm>
          <a:prstGeom prst="ellipse">
            <a:avLst/>
          </a:prstGeom>
          <a:solidFill>
            <a:srgbClr val="1A9E96"/>
          </a:solidFill>
          <a:ln>
            <a:noFill/>
          </a:ln>
        </p:spPr>
      </p:sp>
      <p:sp>
        <p:nvSpPr>
          <p:cNvPr id="41" name="Ellipse 41"/>
          <p:cNvSpPr/>
          <p:nvPr/>
        </p:nvSpPr>
        <p:spPr>
          <a:xfrm>
            <a:off x="7353300" y="5429250"/>
            <a:ext cx="152400" cy="152400"/>
          </a:xfrm>
          <a:prstGeom prst="ellipse">
            <a:avLst/>
          </a:prstGeom>
          <a:solidFill>
            <a:srgbClr val="F5A623"/>
          </a:solidFill>
          <a:ln>
            <a:noFill/>
          </a:ln>
        </p:spPr>
      </p:sp>
      <p:sp>
        <p:nvSpPr>
          <p:cNvPr id="42" name="Ellipse 42"/>
          <p:cNvSpPr/>
          <p:nvPr/>
        </p:nvSpPr>
        <p:spPr>
          <a:xfrm>
            <a:off x="9829800" y="5429250"/>
            <a:ext cx="152400" cy="152400"/>
          </a:xfrm>
          <a:prstGeom prst="ellipse">
            <a:avLst/>
          </a:prstGeom>
          <a:solidFill>
            <a:srgbClr val="2EAD6B"/>
          </a:solidFill>
          <a:ln>
            <a:noFill/>
          </a:ln>
        </p:spPr>
      </p:sp>
      <p:sp>
        <p:nvSpPr>
          <p:cNvPr id="43" name="TextBox 43"/>
          <p:cNvSpPr txBox="1"/>
          <p:nvPr/>
        </p:nvSpPr>
        <p:spPr>
          <a:xfrm>
            <a:off x="19397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发现窗口</a:t>
            </a:r>
          </a:p>
        </p:txBody>
      </p:sp>
      <p:sp>
        <p:nvSpPr>
          <p:cNvPr id="44" name="TextBox 44"/>
          <p:cNvSpPr txBox="1"/>
          <p:nvPr/>
        </p:nvSpPr>
        <p:spPr>
          <a:xfrm>
            <a:off x="451150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对比选择</a:t>
            </a:r>
          </a:p>
        </p:txBody>
      </p:sp>
      <p:sp>
        <p:nvSpPr>
          <p:cNvPr id="45" name="TextBox 45"/>
          <p:cNvSpPr txBox="1"/>
          <p:nvPr/>
        </p:nvSpPr>
        <p:spPr>
          <a:xfrm>
            <a:off x="70832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形成偏好</a:t>
            </a:r>
          </a:p>
        </p:txBody>
      </p:sp>
      <p:sp>
        <p:nvSpPr>
          <p:cNvPr id="46" name="TextBox 46"/>
          <p:cNvSpPr txBox="1"/>
          <p:nvPr/>
        </p:nvSpPr>
        <p:spPr>
          <a:xfrm>
            <a:off x="9559751" y="5693092"/>
            <a:ext cx="692497" cy="207749"/>
          </a:xfrm>
          <a:prstGeom prst="rect">
            <a:avLst/>
          </a:prstGeom>
          <a:noFill/>
          <a:ln>
            <a:noFill/>
          </a:ln>
        </p:spPr>
        <p:txBody>
          <a:bodyPr wrap="none" lIns="0" tIns="0" rIns="0" bIns="0" anchor="t" anchorCtr="0">
            <a:spAutoFit/>
          </a:bodyPr>
          <a:lstStyle/>
          <a:p>
            <a:pPr algn="ctr"/>
            <a:r>
              <a:rPr lang="zh-CN" sz="1350" b="1" dirty="0">
                <a:solidFill>
                  <a:srgbClr val="2D1B0E"/>
                </a:solidFill>
                <a:latin typeface="思源黑体 CN" panose="020B0500000000000000" pitchFamily="34" charset="-122"/>
                <a:ea typeface="思源黑体 CN" panose="020B0500000000000000" pitchFamily="34" charset="-122"/>
              </a:rPr>
              <a:t>提交反馈</a:t>
            </a:r>
          </a:p>
        </p:txBody>
      </p:sp>
      <p:sp>
        <p:nvSpPr>
          <p:cNvPr id="47" name="Line 47"/>
          <p:cNvSpPr/>
          <p:nvPr/>
        </p:nvSpPr>
        <p:spPr>
          <a:xfrm>
            <a:off x="571500" y="6477000"/>
            <a:ext cx="11049000" cy="9525"/>
          </a:xfrm>
          <a:custGeom>
            <a:avLst/>
            <a:gdLst/>
            <a:ahLst/>
            <a:cxnLst/>
            <a:rect l="l" t="t" r="r" b="b"/>
            <a:pathLst>
              <a:path w="11049000" h="9525">
                <a:moveTo>
                  <a:pt x="0" y="0"/>
                </a:moveTo>
                <a:lnTo>
                  <a:pt x="11049000" y="0"/>
                </a:lnTo>
              </a:path>
            </a:pathLst>
          </a:custGeom>
          <a:noFill/>
          <a:ln w="9525">
            <a:solidFill>
              <a:srgbClr val="D9C6B5"/>
            </a:solidFill>
          </a:ln>
        </p:spPr>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14"/>
          <p:cNvSpPr/>
          <p:nvPr/>
        </p:nvSpPr>
        <p:spPr>
          <a:xfrm>
            <a:off x="574040" y="1172845"/>
            <a:ext cx="3368675" cy="3919220"/>
          </a:xfrm>
          <a:custGeom>
            <a:avLst/>
            <a:gdLst/>
            <a:ahLst/>
            <a:cxnLst/>
            <a:rect l="l" t="t" r="r" b="b"/>
            <a:pathLst>
              <a:path w="5086350" h="1695450">
                <a:moveTo>
                  <a:pt x="171450" y="0"/>
                </a:moveTo>
                <a:lnTo>
                  <a:pt x="4914900" y="0"/>
                </a:lnTo>
                <a:cubicBezTo>
                  <a:pt x="5009589" y="0"/>
                  <a:pt x="5086350" y="76761"/>
                  <a:pt x="5086350" y="171450"/>
                </a:cubicBezTo>
                <a:lnTo>
                  <a:pt x="5086350" y="1524000"/>
                </a:lnTo>
                <a:cubicBezTo>
                  <a:pt x="5086350" y="1618689"/>
                  <a:pt x="5009589" y="1695450"/>
                  <a:pt x="4914900" y="1695450"/>
                </a:cubicBezTo>
                <a:lnTo>
                  <a:pt x="171450" y="1695450"/>
                </a:lnTo>
                <a:cubicBezTo>
                  <a:pt x="76761" y="1695450"/>
                  <a:pt x="0" y="1618689"/>
                  <a:pt x="0" y="1524000"/>
                </a:cubicBezTo>
                <a:lnTo>
                  <a:pt x="0" y="171450"/>
                </a:lnTo>
                <a:cubicBezTo>
                  <a:pt x="0" y="76761"/>
                  <a:pt x="76761" y="0"/>
                  <a:pt x="171450" y="0"/>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9050">
            <a:solidFill>
              <a:srgbClr val="BFE5E2"/>
            </a:solidFill>
          </a:ln>
          <a:effectLst>
            <a:glow rad="63500">
              <a:schemeClr val="accent1">
                <a:alpha val="40000"/>
              </a:schemeClr>
            </a:glow>
            <a:outerShdw blurRad="114300" dist="38100" dir="10799140" algn="tl" rotWithShape="0">
              <a:srgbClr val="C9AF91">
                <a:alpha val="22000"/>
              </a:srgbClr>
            </a:outerShdw>
            <a:reflection blurRad="6350" stA="50000" endA="275" endPos="40000" dist="101600" dir="5400000" sy="-100000" algn="bl" rotWithShape="0"/>
          </a:effectLst>
        </p:spPr>
        <p:txBody>
          <a:bodyPr/>
          <a:lstStyle/>
          <a:p>
            <a:endParaRPr lang="zh-CN" altLang="en-US">
              <a:latin typeface="Noto Serif SC"/>
              <a:ea typeface="Noto Serif SC"/>
              <a:cs typeface="Noto Serif SC"/>
            </a:endParaRPr>
          </a:p>
        </p:txBody>
      </p:sp>
      <p:sp>
        <p:nvSpPr>
          <p:cNvPr id="3" name="Rectangle 3"/>
          <p:cNvSpPr/>
          <p:nvPr/>
        </p:nvSpPr>
        <p:spPr>
          <a:xfrm>
            <a:off x="0" y="0"/>
            <a:ext cx="12192000" cy="857250"/>
          </a:xfrm>
          <a:prstGeom prst="rect">
            <a:avLst/>
          </a:prstGeom>
          <a:solidFill>
            <a:srgbClr val="004E97">
              <a:alpha val="6000"/>
            </a:srgbClr>
          </a:solidFill>
          <a:ln>
            <a:noFill/>
          </a:ln>
        </p:spPr>
        <p:txBody>
          <a:bodyPr/>
          <a:lstStyle/>
          <a:p>
            <a:endParaRPr lang="zh-CN" altLang="en-US">
              <a:latin typeface="Noto Serif SC"/>
              <a:ea typeface="Noto Serif SC"/>
              <a:cs typeface="Noto Serif SC"/>
            </a:endParaRPr>
          </a:p>
        </p:txBody>
      </p:sp>
      <p:sp>
        <p:nvSpPr>
          <p:cNvPr id="4" name="TextBox 4"/>
          <p:cNvSpPr txBox="1"/>
          <p:nvPr/>
        </p:nvSpPr>
        <p:spPr>
          <a:xfrm>
            <a:off x="914400" y="295275"/>
            <a:ext cx="4443524" cy="46166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接口设计 · RESTful 标准</a:t>
            </a:r>
          </a:p>
        </p:txBody>
      </p:sp>
      <p:sp>
        <p:nvSpPr>
          <p:cNvPr id="5" name="TextBox 5"/>
          <p:cNvSpPr txBox="1"/>
          <p:nvPr/>
        </p:nvSpPr>
        <p:spPr>
          <a:xfrm>
            <a:off x="929640" y="1234440"/>
            <a:ext cx="1407437" cy="276999"/>
          </a:xfrm>
          <a:prstGeom prst="rect">
            <a:avLst/>
          </a:prstGeom>
          <a:noFill/>
          <a:ln>
            <a:noFill/>
          </a:ln>
        </p:spPr>
        <p:txBody>
          <a:bodyPr wrap="none" lIns="0" tIns="0" rIns="0" bIns="0" anchor="t" anchorCtr="0">
            <a:spAutoFit/>
          </a:bodyPr>
          <a:lstStyle/>
          <a:p>
            <a:pPr algn="l"/>
            <a:r>
              <a:rPr lang="zh-CN" sz="1800" b="1" dirty="0">
                <a:latin typeface="思源黑体 CN" panose="020B0500000000000000" pitchFamily="34" charset="-122"/>
                <a:ea typeface="思源黑体 CN" panose="020B0500000000000000" pitchFamily="34" charset="-122"/>
                <a:cs typeface="Noto Sans SC"/>
              </a:rPr>
              <a:t>核心 API 端点</a:t>
            </a:r>
          </a:p>
        </p:txBody>
      </p:sp>
      <p:sp>
        <p:nvSpPr>
          <p:cNvPr id="6" name="TextBox 6"/>
          <p:cNvSpPr txBox="1"/>
          <p:nvPr/>
        </p:nvSpPr>
        <p:spPr>
          <a:xfrm>
            <a:off x="782154" y="1696085"/>
            <a:ext cx="2436564"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a:t>
            </a:r>
            <a:r>
              <a:rPr lang="zh-CN" sz="1300" dirty="0">
                <a:solidFill>
                  <a:srgbClr val="3D3D3D"/>
                </a:solidFill>
                <a:latin typeface="思源宋体" panose="02020400000000000000" pitchFamily="18" charset="-122"/>
                <a:ea typeface="思源宋体" panose="02020400000000000000" pitchFamily="18" charset="-122"/>
                <a:cs typeface="Noto Serif SC"/>
              </a:rPr>
              <a:t> /api/stalls 获取窗口列表</a:t>
            </a:r>
          </a:p>
        </p:txBody>
      </p:sp>
      <p:sp>
        <p:nvSpPr>
          <p:cNvPr id="7" name="TextBox 7"/>
          <p:cNvSpPr txBox="1"/>
          <p:nvPr/>
        </p:nvSpPr>
        <p:spPr>
          <a:xfrm>
            <a:off x="782154" y="1981835"/>
            <a:ext cx="2781211"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 </a:t>
            </a:r>
            <a:r>
              <a:rPr lang="zh-CN" sz="1300" dirty="0">
                <a:solidFill>
                  <a:srgbClr val="3D3D3D"/>
                </a:solidFill>
                <a:latin typeface="思源宋体" panose="02020400000000000000" pitchFamily="18" charset="-122"/>
                <a:ea typeface="思源宋体" panose="02020400000000000000" pitchFamily="18" charset="-122"/>
                <a:cs typeface="Noto Serif SC"/>
              </a:rPr>
              <a:t>/api/stalls/{id} 获取窗口详情</a:t>
            </a:r>
          </a:p>
        </p:txBody>
      </p:sp>
      <p:sp>
        <p:nvSpPr>
          <p:cNvPr id="8" name="TextBox 8"/>
          <p:cNvSpPr txBox="1"/>
          <p:nvPr/>
        </p:nvSpPr>
        <p:spPr>
          <a:xfrm>
            <a:off x="782154" y="2267585"/>
            <a:ext cx="2402902"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/api/reviews 提交评论</a:t>
            </a:r>
          </a:p>
        </p:txBody>
      </p:sp>
      <p:sp>
        <p:nvSpPr>
          <p:cNvPr id="9" name="TextBox 9"/>
          <p:cNvSpPr txBox="1"/>
          <p:nvPr/>
        </p:nvSpPr>
        <p:spPr>
          <a:xfrm>
            <a:off x="782154" y="2553335"/>
            <a:ext cx="2657779"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PUT</a:t>
            </a:r>
            <a:r>
              <a:rPr lang="zh-CN" sz="1300" dirty="0">
                <a:solidFill>
                  <a:srgbClr val="3D3D3D"/>
                </a:solidFill>
                <a:latin typeface="思源宋体" panose="02020400000000000000" pitchFamily="18" charset="-122"/>
                <a:ea typeface="思源宋体" panose="02020400000000000000" pitchFamily="18" charset="-122"/>
                <a:cs typeface="Noto Serif SC"/>
              </a:rPr>
              <a:t> /api/reviews/{id} 修改评论</a:t>
            </a:r>
          </a:p>
        </p:txBody>
      </p:sp>
      <p:sp>
        <p:nvSpPr>
          <p:cNvPr id="10" name="TextBox 10"/>
          <p:cNvSpPr txBox="1"/>
          <p:nvPr/>
        </p:nvSpPr>
        <p:spPr>
          <a:xfrm>
            <a:off x="782154" y="2839085"/>
            <a:ext cx="2976777"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DELETE </a:t>
            </a:r>
            <a:r>
              <a:rPr lang="zh-CN" sz="1300" dirty="0">
                <a:solidFill>
                  <a:srgbClr val="3D3D3D"/>
                </a:solidFill>
                <a:latin typeface="思源宋体" panose="02020400000000000000" pitchFamily="18" charset="-122"/>
                <a:ea typeface="思源宋体" panose="02020400000000000000" pitchFamily="18" charset="-122"/>
                <a:cs typeface="Noto Serif SC"/>
              </a:rPr>
              <a:t>/api/reviews/{id} 删除评论</a:t>
            </a:r>
          </a:p>
        </p:txBody>
      </p:sp>
      <p:sp>
        <p:nvSpPr>
          <p:cNvPr id="11" name="TextBox 11"/>
          <p:cNvSpPr txBox="1"/>
          <p:nvPr/>
        </p:nvSpPr>
        <p:spPr>
          <a:xfrm>
            <a:off x="782154" y="3124835"/>
            <a:ext cx="2568011"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GET </a:t>
            </a:r>
            <a:r>
              <a:rPr lang="zh-CN" sz="1300" dirty="0">
                <a:solidFill>
                  <a:srgbClr val="3D3D3D"/>
                </a:solidFill>
                <a:latin typeface="思源宋体" panose="02020400000000000000" pitchFamily="18" charset="-122"/>
                <a:ea typeface="思源宋体" panose="02020400000000000000" pitchFamily="18" charset="-122"/>
                <a:cs typeface="Noto Serif SC"/>
              </a:rPr>
              <a:t>/api/rankings 获取排行榜</a:t>
            </a:r>
          </a:p>
        </p:txBody>
      </p:sp>
      <p:sp>
        <p:nvSpPr>
          <p:cNvPr id="12" name="TextBox 12"/>
          <p:cNvSpPr txBox="1"/>
          <p:nvPr/>
        </p:nvSpPr>
        <p:spPr>
          <a:xfrm>
            <a:off x="782154" y="3410585"/>
            <a:ext cx="2627322"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/api/auth/login 用户登录</a:t>
            </a:r>
          </a:p>
        </p:txBody>
      </p:sp>
      <p:sp>
        <p:nvSpPr>
          <p:cNvPr id="13" name="TextBox 13"/>
          <p:cNvSpPr txBox="1"/>
          <p:nvPr/>
        </p:nvSpPr>
        <p:spPr>
          <a:xfrm>
            <a:off x="782154" y="3696335"/>
            <a:ext cx="2837315" cy="200055"/>
          </a:xfrm>
          <a:prstGeom prst="rect">
            <a:avLst/>
          </a:prstGeom>
          <a:noFill/>
          <a:ln>
            <a:noFill/>
          </a:ln>
        </p:spPr>
        <p:txBody>
          <a:bodyPr wrap="non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 </a:t>
            </a:r>
            <a:r>
              <a:rPr lang="zh-CN" sz="1300" dirty="0">
                <a:solidFill>
                  <a:srgbClr val="7030A0"/>
                </a:solidFill>
                <a:latin typeface="思源宋体" panose="02020400000000000000" pitchFamily="18" charset="-122"/>
                <a:ea typeface="思源宋体" panose="02020400000000000000" pitchFamily="18" charset="-122"/>
                <a:cs typeface="Noto Serif SC"/>
              </a:rPr>
              <a:t>POST</a:t>
            </a:r>
            <a:r>
              <a:rPr lang="zh-CN" sz="1300" dirty="0">
                <a:solidFill>
                  <a:srgbClr val="3D3D3D"/>
                </a:solidFill>
                <a:latin typeface="思源宋体" panose="02020400000000000000" pitchFamily="18" charset="-122"/>
                <a:ea typeface="思源宋体" panose="02020400000000000000" pitchFamily="18" charset="-122"/>
                <a:cs typeface="Noto Serif SC"/>
              </a:rPr>
              <a:t> /api/auth/register 用户注册</a:t>
            </a:r>
          </a:p>
        </p:txBody>
      </p:sp>
      <p:sp>
        <p:nvSpPr>
          <p:cNvPr id="14" name="TextBox 14"/>
          <p:cNvSpPr txBox="1"/>
          <p:nvPr/>
        </p:nvSpPr>
        <p:spPr>
          <a:xfrm>
            <a:off x="4809490" y="1234440"/>
            <a:ext cx="2333625" cy="276860"/>
          </a:xfrm>
          <a:prstGeom prst="rect">
            <a:avLst/>
          </a:prstGeom>
          <a:noFill/>
          <a:ln>
            <a:noFill/>
          </a:ln>
        </p:spPr>
        <p:txBody>
          <a:bodyPr wrap="square" lIns="0" tIns="0" rIns="0" bIns="0" anchor="t" anchorCtr="0">
            <a:spAutoFit/>
          </a:bodyPr>
          <a:lstStyle/>
          <a:p>
            <a:pPr algn="l"/>
            <a:r>
              <a:rPr lang="zh-CN" sz="1800" b="1" dirty="0">
                <a:solidFill>
                  <a:srgbClr val="004E97"/>
                </a:solidFill>
                <a:latin typeface="思源黑体 CN" panose="020B0500000000000000" pitchFamily="34" charset="-122"/>
                <a:ea typeface="思源黑体 CN" panose="020B0500000000000000" pitchFamily="34" charset="-122"/>
                <a:cs typeface="Noto Sans SC"/>
              </a:rPr>
              <a:t>响应格式统一</a:t>
            </a:r>
          </a:p>
        </p:txBody>
      </p:sp>
      <p:sp>
        <p:nvSpPr>
          <p:cNvPr id="15" name="Freeform 15"/>
          <p:cNvSpPr/>
          <p:nvPr/>
        </p:nvSpPr>
        <p:spPr>
          <a:xfrm>
            <a:off x="4809490" y="1696085"/>
            <a:ext cx="6532245" cy="2388870"/>
          </a:xfrm>
          <a:custGeom>
            <a:avLst/>
            <a:gdLst/>
            <a:ahLst/>
            <a:cxnLst/>
            <a:rect l="l" t="t" r="r" b="b"/>
            <a:pathLst>
              <a:path w="4762500" h="2667000">
                <a:moveTo>
                  <a:pt x="76200" y="0"/>
                </a:moveTo>
                <a:lnTo>
                  <a:pt x="4686300" y="0"/>
                </a:lnTo>
                <a:cubicBezTo>
                  <a:pt x="4728384" y="0"/>
                  <a:pt x="4762500" y="34116"/>
                  <a:pt x="4762500" y="76200"/>
                </a:cubicBezTo>
                <a:lnTo>
                  <a:pt x="4762500" y="2590800"/>
                </a:lnTo>
                <a:cubicBezTo>
                  <a:pt x="4762500" y="2632884"/>
                  <a:pt x="4728384" y="2667000"/>
                  <a:pt x="4686300" y="2667000"/>
                </a:cubicBezTo>
                <a:lnTo>
                  <a:pt x="76200" y="2667000"/>
                </a:lnTo>
                <a:cubicBezTo>
                  <a:pt x="34116" y="2667000"/>
                  <a:pt x="0" y="2632884"/>
                  <a:pt x="0" y="2590800"/>
                </a:cubicBezTo>
                <a:lnTo>
                  <a:pt x="0" y="76200"/>
                </a:lnTo>
                <a:cubicBezTo>
                  <a:pt x="0" y="34116"/>
                  <a:pt x="34116" y="0"/>
                  <a:pt x="76200" y="0"/>
                </a:cubicBezTo>
                <a:close/>
              </a:path>
            </a:pathLst>
          </a:custGeom>
          <a:solidFill>
            <a:schemeClr val="accent1">
              <a:lumMod val="40000"/>
              <a:lumOff val="60000"/>
            </a:schemeClr>
          </a:solidFill>
          <a:ln w="9525">
            <a:solidFill>
              <a:srgbClr val="EBEBEB"/>
            </a:solidFill>
          </a:ln>
          <a:effectLst>
            <a:reflection blurRad="6350" stA="52000" endA="300" endPos="35000" dir="5400000" sy="-100000" algn="bl" rotWithShape="0"/>
          </a:effectLst>
        </p:spPr>
        <p:txBody>
          <a:bodyPr/>
          <a:lstStyle/>
          <a:p>
            <a:endParaRPr lang="zh-CN" altLang="en-US">
              <a:latin typeface="Noto Serif SC"/>
              <a:ea typeface="Noto Serif SC"/>
              <a:cs typeface="Noto Serif SC"/>
            </a:endParaRPr>
          </a:p>
        </p:txBody>
      </p:sp>
      <p:sp>
        <p:nvSpPr>
          <p:cNvPr id="16" name="TextBox 16"/>
          <p:cNvSpPr txBox="1"/>
          <p:nvPr/>
        </p:nvSpPr>
        <p:spPr>
          <a:xfrm>
            <a:off x="5011420" y="1903095"/>
            <a:ext cx="13017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a:t>
            </a:r>
          </a:p>
        </p:txBody>
      </p:sp>
      <p:sp>
        <p:nvSpPr>
          <p:cNvPr id="17" name="TextBox 17"/>
          <p:cNvSpPr txBox="1"/>
          <p:nvPr/>
        </p:nvSpPr>
        <p:spPr>
          <a:xfrm>
            <a:off x="5201920" y="2141220"/>
            <a:ext cx="202311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"code": 200, // 状态码</a:t>
            </a:r>
          </a:p>
        </p:txBody>
      </p:sp>
      <p:sp>
        <p:nvSpPr>
          <p:cNvPr id="18" name="TextBox 18"/>
          <p:cNvSpPr txBox="1"/>
          <p:nvPr/>
        </p:nvSpPr>
        <p:spPr>
          <a:xfrm>
            <a:off x="5201920" y="2379345"/>
            <a:ext cx="277114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"message": "success", // 消息</a:t>
            </a:r>
          </a:p>
        </p:txBody>
      </p:sp>
      <p:sp>
        <p:nvSpPr>
          <p:cNvPr id="19" name="TextBox 19"/>
          <p:cNvSpPr txBox="1"/>
          <p:nvPr/>
        </p:nvSpPr>
        <p:spPr>
          <a:xfrm>
            <a:off x="5201920" y="2617470"/>
            <a:ext cx="240157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"data": {...}, // 实际数据</a:t>
            </a:r>
          </a:p>
        </p:txBody>
      </p:sp>
      <p:sp>
        <p:nvSpPr>
          <p:cNvPr id="20" name="TextBox 20"/>
          <p:cNvSpPr txBox="1"/>
          <p:nvPr/>
        </p:nvSpPr>
        <p:spPr>
          <a:xfrm>
            <a:off x="5201920" y="2855595"/>
            <a:ext cx="196024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"page": 1, // 分页信息</a:t>
            </a:r>
          </a:p>
        </p:txBody>
      </p:sp>
      <p:sp>
        <p:nvSpPr>
          <p:cNvPr id="21" name="TextBox 21"/>
          <p:cNvSpPr txBox="1"/>
          <p:nvPr/>
        </p:nvSpPr>
        <p:spPr>
          <a:xfrm>
            <a:off x="5201920" y="3093720"/>
            <a:ext cx="2113280"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"total": 100 // 总记录数</a:t>
            </a:r>
          </a:p>
        </p:txBody>
      </p:sp>
      <p:sp>
        <p:nvSpPr>
          <p:cNvPr id="22" name="TextBox 22"/>
          <p:cNvSpPr txBox="1"/>
          <p:nvPr/>
        </p:nvSpPr>
        <p:spPr>
          <a:xfrm>
            <a:off x="5011420" y="3331845"/>
            <a:ext cx="130175" cy="200055"/>
          </a:xfrm>
          <a:prstGeom prst="rect">
            <a:avLst/>
          </a:prstGeom>
          <a:noFill/>
          <a:ln>
            <a:noFill/>
          </a:ln>
        </p:spPr>
        <p:txBody>
          <a:bodyPr wrap="square" lIns="0" tIns="0" rIns="0" bIns="0" anchor="t" anchorCtr="0">
            <a:spAutoFit/>
          </a:bodyPr>
          <a:lstStyle/>
          <a:p>
            <a:pPr algn="l"/>
            <a:r>
              <a:rPr lang="zh-CN" sz="1300" dirty="0">
                <a:solidFill>
                  <a:srgbClr val="3D3D3D"/>
                </a:solidFill>
                <a:latin typeface="思源宋体" panose="02020400000000000000" pitchFamily="18" charset="-122"/>
                <a:ea typeface="思源宋体" panose="02020400000000000000" pitchFamily="18" charset="-122"/>
                <a:cs typeface="Noto Serif SC"/>
              </a:rPr>
              <a:t>}</a:t>
            </a:r>
          </a:p>
        </p:txBody>
      </p:sp>
      <p:sp>
        <p:nvSpPr>
          <p:cNvPr id="23" name="Line 23"/>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txBody>
          <a:bodyPr/>
          <a:lstStyle/>
          <a:p>
            <a:endParaRPr lang="zh-CN" altLang="en-US">
              <a:latin typeface="Noto Serif SC"/>
              <a:ea typeface="Noto Serif SC"/>
              <a:cs typeface="Noto Serif SC"/>
            </a:endParaRPr>
          </a:p>
        </p:txBody>
      </p:sp>
      <p:sp>
        <p:nvSpPr>
          <p:cNvPr id="24" name="TextBox 24"/>
          <p:cNvSpPr txBox="1"/>
          <p:nvPr/>
        </p:nvSpPr>
        <p:spPr>
          <a:xfrm>
            <a:off x="11728228" y="6626066"/>
            <a:ext cx="93250" cy="167640"/>
          </a:xfrm>
          <a:prstGeom prst="rect">
            <a:avLst/>
          </a:prstGeom>
          <a:noFill/>
          <a:ln>
            <a:noFill/>
          </a:ln>
        </p:spPr>
        <p:txBody>
          <a:bodyPr wrap="none" lIns="0" tIns="0" rIns="0" bIns="0" anchor="t" anchorCtr="0">
            <a:spAutoFit/>
          </a:bodyPr>
          <a:lstStyle/>
          <a:p>
            <a:pPr algn="r"/>
            <a:r>
              <a:rPr lang="zh-CN" sz="1300" dirty="0">
                <a:solidFill>
                  <a:srgbClr val="999999"/>
                </a:solidFill>
                <a:latin typeface="Noto Serif SC"/>
                <a:ea typeface="Noto Serif SC"/>
                <a:cs typeface="Noto Serif SC"/>
              </a:rPr>
              <a:t>11</a:t>
            </a:r>
          </a:p>
        </p:txBody>
      </p:sp>
    </p:spTree>
    <p:extLst>
      <p:ext uri="{BB962C8B-B14F-4D97-AF65-F5344CB8AC3E}">
        <p14:creationId xmlns:p14="http://schemas.microsoft.com/office/powerpoint/2010/main" val="11003859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78130"/>
            <a:ext cx="2308324"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后端整体设计</a:t>
            </a:r>
          </a:p>
        </p:txBody>
      </p:sp>
      <p:sp>
        <p:nvSpPr>
          <p:cNvPr id="5" name="Line 5"/>
          <p:cNvSpPr/>
          <p:nvPr/>
        </p:nvSpPr>
        <p:spPr>
          <a:xfrm>
            <a:off x="952500" y="744855"/>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68755"/>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1999" y="1608773"/>
            <a:ext cx="109004" cy="215444"/>
          </a:xfrm>
          <a:prstGeom prst="rect">
            <a:avLst/>
          </a:prstGeom>
          <a:noFill/>
          <a:ln>
            <a:noFill/>
          </a:ln>
        </p:spPr>
        <p:txBody>
          <a:bodyPr wrap="none" lIns="0" tIns="0" rIns="0" bIns="0" anchor="t" anchorCtr="0">
            <a:spAutoFit/>
          </a:bodyPr>
          <a:lstStyle/>
          <a:p>
            <a:pPr algn="ctr"/>
            <a:r>
              <a:rPr lang="zh-CN"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9411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004E97"/>
                </a:solidFill>
                <a:latin typeface="思源黑体 CN" panose="020B0500000000000000" pitchFamily="34" charset="-122"/>
                <a:ea typeface="思源黑体 CN" panose="020B0500000000000000" pitchFamily="34" charset="-122"/>
                <a:cs typeface="Noto Sans SC"/>
              </a:rPr>
              <a:t>后端整体目标</a:t>
            </a:r>
          </a:p>
        </p:txBody>
      </p:sp>
      <p:sp>
        <p:nvSpPr>
          <p:cNvPr id="11" name="Line 11"/>
          <p:cNvSpPr/>
          <p:nvPr>
            <p:custDataLst>
              <p:tags r:id="rId6"/>
            </p:custDataLst>
          </p:nvPr>
        </p:nvSpPr>
        <p:spPr>
          <a:xfrm>
            <a:off x="952500" y="2316480"/>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68755"/>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6690" y="1608773"/>
            <a:ext cx="118622" cy="215444"/>
          </a:xfrm>
          <a:prstGeom prst="rect">
            <a:avLst/>
          </a:prstGeom>
          <a:noFill/>
          <a:ln>
            <a:noFill/>
          </a:ln>
        </p:spPr>
        <p:txBody>
          <a:bodyPr wrap="none" lIns="0" tIns="0" rIns="0" bIns="0" anchor="t" anchorCtr="0">
            <a:spAutoFit/>
          </a:bodyPr>
          <a:lstStyle/>
          <a:p>
            <a:pPr algn="ctr"/>
            <a:r>
              <a:rPr lang="zh-CN"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606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5F7F35"/>
                </a:solidFill>
                <a:latin typeface="思源黑体 CN" panose="020B0500000000000000" pitchFamily="34" charset="-122"/>
                <a:ea typeface="思源黑体 CN" panose="020B0500000000000000" pitchFamily="34" charset="-122"/>
                <a:cs typeface="Noto Sans SC"/>
              </a:rPr>
              <a:t>后端整体结构</a:t>
            </a:r>
          </a:p>
        </p:txBody>
      </p:sp>
      <p:sp>
        <p:nvSpPr>
          <p:cNvPr id="26" name="Line 26"/>
          <p:cNvSpPr/>
          <p:nvPr>
            <p:custDataLst>
              <p:tags r:id="rId12"/>
            </p:custDataLst>
          </p:nvPr>
        </p:nvSpPr>
        <p:spPr>
          <a:xfrm>
            <a:off x="4572000" y="2316480"/>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16355"/>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1635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68755"/>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58593" y="1608773"/>
            <a:ext cx="113814" cy="215444"/>
          </a:xfrm>
          <a:prstGeom prst="rect">
            <a:avLst/>
          </a:prstGeom>
          <a:noFill/>
          <a:ln>
            <a:noFill/>
          </a:ln>
        </p:spPr>
        <p:txBody>
          <a:bodyPr wrap="none" lIns="0" tIns="0" rIns="0" bIns="0" anchor="t" anchorCtr="0">
            <a:spAutoFit/>
          </a:bodyPr>
          <a:lstStyle/>
          <a:p>
            <a:pPr algn="ctr"/>
            <a:r>
              <a:rPr lang="zh-CN"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180195" y="1980247"/>
            <a:ext cx="1070610" cy="215265"/>
          </a:xfrm>
          <a:prstGeom prst="rect">
            <a:avLst/>
          </a:prstGeom>
          <a:noFill/>
          <a:ln>
            <a:noFill/>
          </a:ln>
        </p:spPr>
        <p:txBody>
          <a:bodyPr wrap="none" lIns="0" tIns="0" rIns="0" bIns="0" anchor="t" anchorCtr="0">
            <a:spAutoFit/>
          </a:bodyPr>
          <a:lstStyle/>
          <a:p>
            <a:pPr algn="ctr"/>
            <a:r>
              <a:rPr lang="zh-CN" altLang="en-US" b="1" dirty="0">
                <a:solidFill>
                  <a:srgbClr val="9A7620"/>
                </a:solidFill>
                <a:latin typeface="思源黑体 CN" panose="020B0500000000000000" pitchFamily="34" charset="-122"/>
                <a:ea typeface="思源黑体 CN" panose="020B0500000000000000" pitchFamily="34" charset="-122"/>
                <a:cs typeface="Noto Sans SC"/>
              </a:rPr>
              <a:t>整体设计特点</a:t>
            </a:r>
          </a:p>
        </p:txBody>
      </p:sp>
      <p:sp>
        <p:nvSpPr>
          <p:cNvPr id="41" name="Line 41"/>
          <p:cNvSpPr/>
          <p:nvPr>
            <p:custDataLst>
              <p:tags r:id="rId18"/>
            </p:custDataLst>
          </p:nvPr>
        </p:nvSpPr>
        <p:spPr>
          <a:xfrm>
            <a:off x="8191500" y="2316480"/>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59855"/>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31720"/>
            <a:ext cx="3420110" cy="2195195"/>
          </a:xfrm>
          <a:prstGeom prst="rect">
            <a:avLst/>
          </a:prstGeom>
          <a:noFill/>
        </p:spPr>
        <p:txBody>
          <a:bodyPr wrap="square" rtlCol="0">
            <a:noAutofit/>
          </a:bodyPr>
          <a:lstStyle/>
          <a:p>
            <a:r>
              <a:rPr lang="zh-CN" altLang="en-US" sz="1600" dirty="0">
                <a:latin typeface="思源宋体" panose="02020400000000000000" pitchFamily="18" charset="-122"/>
                <a:ea typeface="思源宋体" panose="02020400000000000000" pitchFamily="18" charset="-122"/>
                <a:cs typeface="Noto Serif SC"/>
              </a:rPr>
              <a:t>为前端提供统一、稳定、可复用的 </a:t>
            </a:r>
            <a:r>
              <a:rPr lang="en-US" altLang="zh-CN" sz="1600" b="1" dirty="0">
                <a:latin typeface="思源宋体" panose="02020400000000000000" pitchFamily="18" charset="-122"/>
                <a:ea typeface="思源宋体" panose="02020400000000000000" pitchFamily="18" charset="-122"/>
                <a:cs typeface="Noto Serif SC"/>
              </a:rPr>
              <a:t>HTTP API</a:t>
            </a:r>
          </a:p>
          <a:p>
            <a:endParaRPr lang="en-US" altLang="zh-CN"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支撑注册登录、窗口查询、评论、排行榜、推荐、后台管理等完整业务流程</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通过分层设计降低耦合，通过数据库约束和业务规则保证数据一致性</a:t>
            </a:r>
          </a:p>
        </p:txBody>
      </p:sp>
      <p:sp>
        <p:nvSpPr>
          <p:cNvPr id="55" name="文本框 54"/>
          <p:cNvSpPr txBox="1"/>
          <p:nvPr>
            <p:custDataLst>
              <p:tags r:id="rId20"/>
            </p:custDataLst>
          </p:nvPr>
        </p:nvSpPr>
        <p:spPr>
          <a:xfrm>
            <a:off x="4381500" y="2386330"/>
            <a:ext cx="3417570" cy="3239770"/>
          </a:xfrm>
          <a:prstGeom prst="rect">
            <a:avLst/>
          </a:prstGeom>
          <a:noFill/>
        </p:spPr>
        <p:txBody>
          <a:bodyPr wrap="square" rtlCol="0">
            <a:noAutofit/>
          </a:bodyPr>
          <a:lstStyle/>
          <a:p>
            <a:r>
              <a:rPr lang="zh-CN" altLang="en-US" sz="1600" b="1" dirty="0">
                <a:latin typeface="思源宋体" panose="02020400000000000000" pitchFamily="18" charset="-122"/>
                <a:ea typeface="思源宋体" panose="02020400000000000000" pitchFamily="18" charset="-122"/>
                <a:cs typeface="Noto Serif SC"/>
              </a:rPr>
              <a:t>表示层</a:t>
            </a:r>
            <a:r>
              <a:rPr lang="zh-CN" altLang="en-US" sz="1600" dirty="0">
                <a:latin typeface="思源宋体" panose="02020400000000000000" pitchFamily="18" charset="-122"/>
                <a:ea typeface="思源宋体" panose="02020400000000000000" pitchFamily="18" charset="-122"/>
                <a:cs typeface="Noto Serif SC"/>
              </a:rPr>
              <a:t>：前端页面通过 </a:t>
            </a:r>
            <a:r>
              <a:rPr lang="en-US" altLang="zh-CN" sz="1600" dirty="0">
                <a:latin typeface="思源宋体" panose="02020400000000000000" pitchFamily="18" charset="-122"/>
                <a:ea typeface="思源宋体" panose="02020400000000000000" pitchFamily="18" charset="-122"/>
                <a:cs typeface="Noto Serif SC"/>
              </a:rPr>
              <a:t>HTTP </a:t>
            </a:r>
            <a:r>
              <a:rPr lang="zh-CN" altLang="en-US" sz="1600" dirty="0">
                <a:latin typeface="思源宋体" panose="02020400000000000000" pitchFamily="18" charset="-122"/>
                <a:ea typeface="思源宋体" panose="02020400000000000000" pitchFamily="18" charset="-122"/>
                <a:cs typeface="Noto Serif SC"/>
              </a:rPr>
              <a:t>调用后端接口</a:t>
            </a:r>
          </a:p>
          <a:p>
            <a:r>
              <a:rPr lang="zh-CN" altLang="en-US" sz="1600" b="1" dirty="0">
                <a:latin typeface="思源宋体" panose="02020400000000000000" pitchFamily="18" charset="-122"/>
                <a:ea typeface="思源宋体" panose="02020400000000000000" pitchFamily="18" charset="-122"/>
                <a:cs typeface="Noto Serif SC"/>
              </a:rPr>
              <a:t>路由层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main.py </a:t>
            </a:r>
            <a:r>
              <a:rPr lang="zh-CN" altLang="en-US" sz="1600" dirty="0">
                <a:latin typeface="思源宋体" panose="02020400000000000000" pitchFamily="18" charset="-122"/>
                <a:ea typeface="思源宋体" panose="02020400000000000000" pitchFamily="18" charset="-122"/>
                <a:cs typeface="Noto Serif SC"/>
              </a:rPr>
              <a:t>负责请求分发、参数读取、登录校验入口和统一响应</a:t>
            </a:r>
          </a:p>
          <a:p>
            <a:r>
              <a:rPr lang="zh-CN" altLang="en-US" sz="1600" b="1" dirty="0">
                <a:latin typeface="思源宋体" panose="02020400000000000000" pitchFamily="18" charset="-122"/>
                <a:ea typeface="思源宋体" panose="02020400000000000000" pitchFamily="18" charset="-122"/>
                <a:cs typeface="Noto Serif SC"/>
              </a:rPr>
              <a:t>业务层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services </a:t>
            </a:r>
            <a:r>
              <a:rPr lang="zh-CN" altLang="en-US" sz="1600" dirty="0">
                <a:latin typeface="思源宋体" panose="02020400000000000000" pitchFamily="18" charset="-122"/>
                <a:ea typeface="思源宋体" panose="02020400000000000000" pitchFamily="18" charset="-122"/>
                <a:cs typeface="Noto Serif SC"/>
              </a:rPr>
              <a:t>负责认证、评论、查询、推荐、管理等核心业务逻辑</a:t>
            </a:r>
          </a:p>
          <a:p>
            <a:r>
              <a:rPr lang="zh-CN" altLang="en-US" sz="1600" b="1" dirty="0">
                <a:latin typeface="思源宋体" panose="02020400000000000000" pitchFamily="18" charset="-122"/>
                <a:ea typeface="思源宋体" panose="02020400000000000000" pitchFamily="18" charset="-122"/>
                <a:cs typeface="Noto Serif SC"/>
              </a:rPr>
              <a:t>数据层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database </a:t>
            </a:r>
            <a:r>
              <a:rPr lang="zh-CN" altLang="en-US" sz="1600" dirty="0">
                <a:latin typeface="思源宋体" panose="02020400000000000000" pitchFamily="18" charset="-122"/>
                <a:ea typeface="思源宋体" panose="02020400000000000000" pitchFamily="18" charset="-122"/>
                <a:cs typeface="Noto Serif SC"/>
              </a:rPr>
              <a:t>负责建表、初始化、连接和持久化</a:t>
            </a:r>
          </a:p>
          <a:p>
            <a:r>
              <a:rPr lang="zh-CN" altLang="en-US" sz="1600" b="1" dirty="0">
                <a:latin typeface="思源宋体" panose="02020400000000000000" pitchFamily="18" charset="-122"/>
                <a:ea typeface="思源宋体" panose="02020400000000000000" pitchFamily="18" charset="-122"/>
                <a:cs typeface="Noto Serif SC"/>
              </a:rPr>
              <a:t>工具层</a:t>
            </a:r>
            <a:r>
              <a:rPr lang="zh-CN" altLang="en-US" sz="1600" dirty="0">
                <a:latin typeface="思源宋体" panose="02020400000000000000" pitchFamily="18" charset="-122"/>
                <a:ea typeface="思源宋体" panose="02020400000000000000" pitchFamily="18" charset="-122"/>
                <a:cs typeface="Noto Serif SC"/>
              </a:rPr>
              <a:t>：</a:t>
            </a:r>
            <a:r>
              <a:rPr lang="en-US" altLang="zh-CN" sz="1600" dirty="0">
                <a:latin typeface="思源宋体" panose="02020400000000000000" pitchFamily="18" charset="-122"/>
                <a:ea typeface="思源宋体" panose="02020400000000000000" pitchFamily="18" charset="-122"/>
                <a:cs typeface="Noto Serif SC"/>
              </a:rPr>
              <a:t>utils </a:t>
            </a:r>
            <a:r>
              <a:rPr lang="zh-CN" altLang="en-US" sz="1600" dirty="0">
                <a:latin typeface="思源宋体" panose="02020400000000000000" pitchFamily="18" charset="-122"/>
                <a:ea typeface="思源宋体" panose="02020400000000000000" pitchFamily="18" charset="-122"/>
                <a:cs typeface="Noto Serif SC"/>
              </a:rPr>
              <a:t>负责密码哈希、签名令牌、错误码和统一响应格式</a:t>
            </a:r>
          </a:p>
        </p:txBody>
      </p:sp>
      <p:sp>
        <p:nvSpPr>
          <p:cNvPr id="56" name="文本框 55"/>
          <p:cNvSpPr txBox="1"/>
          <p:nvPr>
            <p:custDataLst>
              <p:tags r:id="rId21"/>
            </p:custDataLst>
          </p:nvPr>
        </p:nvSpPr>
        <p:spPr>
          <a:xfrm>
            <a:off x="8009890" y="2386330"/>
            <a:ext cx="3419475" cy="3244850"/>
          </a:xfrm>
          <a:prstGeom prst="rect">
            <a:avLst/>
          </a:prstGeom>
          <a:noFill/>
        </p:spPr>
        <p:txBody>
          <a:bodyPr wrap="square" rtlCol="0">
            <a:noAutofit/>
          </a:bodyPr>
          <a:lstStyle/>
          <a:p>
            <a:r>
              <a:rPr lang="zh-CN" altLang="en-US" sz="1600" dirty="0">
                <a:latin typeface="思源宋体" panose="02020400000000000000" pitchFamily="18" charset="-122"/>
                <a:ea typeface="思源宋体" panose="02020400000000000000" pitchFamily="18" charset="-122"/>
                <a:cs typeface="Noto Serif SC"/>
              </a:rPr>
              <a:t>前端不直接操作数据库，而是统一经过</a:t>
            </a:r>
            <a:r>
              <a:rPr lang="zh-CN" altLang="en-US" sz="1600" b="1" dirty="0">
                <a:latin typeface="思源宋体" panose="02020400000000000000" pitchFamily="18" charset="-122"/>
                <a:ea typeface="思源宋体" panose="02020400000000000000" pitchFamily="18" charset="-122"/>
                <a:cs typeface="Noto Serif SC"/>
              </a:rPr>
              <a:t>后端 </a:t>
            </a:r>
            <a:r>
              <a:rPr lang="en-US" altLang="zh-CN" sz="1600" b="1" dirty="0">
                <a:latin typeface="思源宋体" panose="02020400000000000000" pitchFamily="18" charset="-122"/>
                <a:ea typeface="思源宋体" panose="02020400000000000000" pitchFamily="18" charset="-122"/>
                <a:cs typeface="Noto Serif SC"/>
              </a:rPr>
              <a:t>API</a:t>
            </a:r>
          </a:p>
          <a:p>
            <a:endParaRPr lang="en-US" altLang="zh-CN"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路由层不直接堆业务逻辑，而是把规则收拢到 </a:t>
            </a:r>
            <a:r>
              <a:rPr lang="en-US" altLang="zh-CN" sz="1600" dirty="0">
                <a:latin typeface="思源宋体" panose="02020400000000000000" pitchFamily="18" charset="-122"/>
                <a:ea typeface="思源宋体" panose="02020400000000000000" pitchFamily="18" charset="-122"/>
                <a:cs typeface="Noto Serif SC"/>
              </a:rPr>
              <a:t>service </a:t>
            </a:r>
            <a:r>
              <a:rPr lang="zh-CN" altLang="en-US" sz="1600" dirty="0">
                <a:latin typeface="思源宋体" panose="02020400000000000000" pitchFamily="18" charset="-122"/>
                <a:ea typeface="思源宋体" panose="02020400000000000000" pitchFamily="18" charset="-122"/>
                <a:cs typeface="Noto Serif SC"/>
              </a:rPr>
              <a:t>层</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数据库既保存核心实体，也保存用户行为数据，为推荐与排行提供支撑</a:t>
            </a:r>
          </a:p>
        </p:txBody>
      </p:sp>
    </p:spTree>
    <p:extLst>
      <p:ext uri="{BB962C8B-B14F-4D97-AF65-F5344CB8AC3E}">
        <p14:creationId xmlns:p14="http://schemas.microsoft.com/office/powerpoint/2010/main" val="401587371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2308324"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后端整体设计</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graphicFrame>
        <p:nvGraphicFramePr>
          <p:cNvPr id="13" name="表格 12"/>
          <p:cNvGraphicFramePr/>
          <p:nvPr>
            <p:extLst>
              <p:ext uri="{D42A27DB-BD31-4B8C-83A1-F6EECF244321}">
                <p14:modId xmlns:p14="http://schemas.microsoft.com/office/powerpoint/2010/main" val="3554532664"/>
              </p:ext>
            </p:extLst>
          </p:nvPr>
        </p:nvGraphicFramePr>
        <p:xfrm>
          <a:off x="996315" y="1068705"/>
          <a:ext cx="10412730" cy="5201920"/>
        </p:xfrm>
        <a:graphic>
          <a:graphicData uri="http://schemas.openxmlformats.org/drawingml/2006/table">
            <a:tbl>
              <a:tblPr/>
              <a:tblGrid>
                <a:gridCol w="3470910">
                  <a:extLst>
                    <a:ext uri="{9D8B030D-6E8A-4147-A177-3AD203B41FA5}">
                      <a16:colId xmlns:a16="http://schemas.microsoft.com/office/drawing/2014/main" val="20000"/>
                    </a:ext>
                  </a:extLst>
                </a:gridCol>
                <a:gridCol w="3470910">
                  <a:extLst>
                    <a:ext uri="{9D8B030D-6E8A-4147-A177-3AD203B41FA5}">
                      <a16:colId xmlns:a16="http://schemas.microsoft.com/office/drawing/2014/main" val="20001"/>
                    </a:ext>
                  </a:extLst>
                </a:gridCol>
                <a:gridCol w="3470910">
                  <a:extLst>
                    <a:ext uri="{9D8B030D-6E8A-4147-A177-3AD203B41FA5}">
                      <a16:colId xmlns:a16="http://schemas.microsoft.com/office/drawing/2014/main" val="20002"/>
                    </a:ext>
                  </a:extLst>
                </a:gridCol>
              </a:tblGrid>
              <a:tr h="236220">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核心实体</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职责概要</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709930">
                <a:tc>
                  <a:txBody>
                    <a:bodyPr/>
                    <a:lstStyle/>
                    <a:p>
                      <a:pPr>
                        <a:lnSpc>
                          <a:spcPct val="114000"/>
                        </a:lnSpc>
                        <a:spcBef>
                          <a:spcPct val="0"/>
                        </a:spcBef>
                        <a:spcAft>
                          <a:spcPct val="0"/>
                        </a:spcAft>
                      </a:pPr>
                      <a:r>
                        <a:rPr lang="zh-CN" sz="1400" dirty="0">
                          <a:latin typeface="思源宋体" panose="02020400000000000000" pitchFamily="18" charset="-122"/>
                          <a:ea typeface="思源宋体" panose="02020400000000000000" pitchFamily="18" charset="-122"/>
                          <a:cs typeface="Noto Serif SC"/>
                        </a:rPr>
                        <a:t>用户与认证模块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user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注册、登录、退出、获取当前用户、修改密码、编辑个人资料、维护</a:t>
                      </a:r>
                      <a:r>
                        <a:rPr lang="zh-CN" altLang="en-US" sz="1400">
                          <a:latin typeface="思源宋体" panose="02020400000000000000" pitchFamily="18" charset="-122"/>
                          <a:ea typeface="思源宋体" panose="02020400000000000000" pitchFamily="18" charset="-122"/>
                          <a:cs typeface="Noto Serif SC"/>
                        </a:rPr>
                        <a:t>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偏好。</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食堂与窗口模块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canteen, stall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食堂列表</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详情、窗口列表</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详情、窗口状态控制与基础信息展示。</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标签与分类模块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tag, stall_tag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维护窗口标签、按标签筛选窗口、为推荐算法提供语义特征。</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708660">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评价评论模块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review, user, stall</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提交</a:t>
                      </a:r>
                      <a:r>
                        <a:rPr lang="en-US" altLang="zh-CN" sz="1400">
                          <a:latin typeface="思源宋体" panose="02020400000000000000" pitchFamily="18" charset="-122"/>
                          <a:ea typeface="思源宋体" panose="02020400000000000000" pitchFamily="18" charset="-122"/>
                          <a:cs typeface="Noto Serif SC"/>
                        </a:rPr>
                        <a:t>/</a:t>
                      </a:r>
                      <a:r>
                        <a:rPr lang="zh-CN" altLang="en-US" sz="1400">
                          <a:latin typeface="思源宋体" panose="02020400000000000000" pitchFamily="18" charset="-122"/>
                          <a:ea typeface="思源宋体" panose="02020400000000000000" pitchFamily="18" charset="-122"/>
                          <a:cs typeface="Noto Serif SC"/>
                        </a:rPr>
                        <a:t>更新评论、查看窗口评论、查看本人评论、逻辑删除评论并回算评分。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用户行为模块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favorite, blacklist, history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收藏、黑名单、访问历史记录与分页查询。</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排行榜模块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stall, review</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评分榜、热度榜、最新评价榜查询。</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47307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推荐与</a:t>
                      </a:r>
                      <a:r>
                        <a:rPr lang="zh-CN" altLang="en-US" sz="1400">
                          <a:latin typeface="思源宋体" panose="02020400000000000000" pitchFamily="18" charset="-122"/>
                          <a:ea typeface="思源宋体" panose="02020400000000000000" pitchFamily="18" charset="-122"/>
                          <a:cs typeface="Noto Serif SC"/>
                        </a:rPr>
                        <a:t> </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stall, review, favorite, blacklist, history, tag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今日推荐、个性化推荐、</a:t>
                      </a:r>
                      <a:r>
                        <a:rPr lang="en-US" altLang="zh-CN" sz="1400">
                          <a:latin typeface="思源宋体" panose="02020400000000000000" pitchFamily="18" charset="-122"/>
                          <a:ea typeface="思源宋体" panose="02020400000000000000" pitchFamily="18" charset="-122"/>
                          <a:cs typeface="Noto Serif SC"/>
                        </a:rPr>
                        <a:t>AI </a:t>
                      </a:r>
                      <a:r>
                        <a:rPr lang="zh-CN" altLang="en-US" sz="1400">
                          <a:latin typeface="思源宋体" panose="02020400000000000000" pitchFamily="18" charset="-122"/>
                          <a:ea typeface="思源宋体" panose="02020400000000000000" pitchFamily="18" charset="-122"/>
                          <a:cs typeface="Noto Serif SC"/>
                        </a:rPr>
                        <a:t>聊天推荐流、本地降级推荐。</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709295">
                <a:tc>
                  <a:txBody>
                    <a:bodyPr/>
                    <a:lstStyle/>
                    <a:p>
                      <a:pPr>
                        <a:lnSpc>
                          <a:spcPct val="114000"/>
                        </a:lnSpc>
                        <a:spcBef>
                          <a:spcPct val="0"/>
                        </a:spcBef>
                        <a:spcAft>
                          <a:spcPct val="0"/>
                        </a:spcAft>
                      </a:pPr>
                      <a:r>
                        <a:rPr lang="zh-CN" sz="1400">
                          <a:latin typeface="思源宋体" panose="02020400000000000000" pitchFamily="18" charset="-122"/>
                          <a:ea typeface="思源宋体" panose="02020400000000000000" pitchFamily="18" charset="-122"/>
                          <a:cs typeface="Noto Serif SC"/>
                        </a:rPr>
                        <a:t>管理员模块</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en-US" altLang="zh-CN" sz="1400">
                          <a:latin typeface="思源宋体" panose="02020400000000000000" pitchFamily="18" charset="-122"/>
                          <a:ea typeface="思源宋体" panose="02020400000000000000" pitchFamily="18" charset="-122"/>
                          <a:cs typeface="Noto Serif SC"/>
                        </a:rPr>
                        <a:t>canteen, stall, tag, review, user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nSpc>
                          <a:spcPct val="114000"/>
                        </a:lnSpc>
                        <a:spcBef>
                          <a:spcPct val="0"/>
                        </a:spcBef>
                        <a:spcAft>
                          <a:spcPct val="0"/>
                        </a:spcAft>
                      </a:pPr>
                      <a:r>
                        <a:rPr lang="zh-CN" sz="1400" dirty="0">
                          <a:latin typeface="思源宋体" panose="02020400000000000000" pitchFamily="18" charset="-122"/>
                          <a:ea typeface="思源宋体" panose="02020400000000000000" pitchFamily="18" charset="-122"/>
                          <a:cs typeface="Noto Serif SC"/>
                        </a:rPr>
                        <a:t>窗口新增</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修改</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停用、食堂维护、评论删除、用户角色调整、标签管理。</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8275448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3077766"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后端总体架构展示</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pic>
        <p:nvPicPr>
          <p:cNvPr id="6" name="图片 5"/>
          <p:cNvPicPr>
            <a:picLocks noChangeAspect="1"/>
          </p:cNvPicPr>
          <p:nvPr/>
        </p:nvPicPr>
        <p:blipFill>
          <a:blip r:embed="rId3"/>
          <a:srcRect l="5116" b="6342"/>
          <a:stretch>
            <a:fillRect/>
          </a:stretch>
        </p:blipFill>
        <p:spPr>
          <a:xfrm>
            <a:off x="1293861" y="881980"/>
            <a:ext cx="9604277" cy="5509295"/>
          </a:xfrm>
          <a:prstGeom prst="rect">
            <a:avLst/>
          </a:prstGeom>
        </p:spPr>
      </p:pic>
    </p:spTree>
    <p:extLst>
      <p:ext uri="{BB962C8B-B14F-4D97-AF65-F5344CB8AC3E}">
        <p14:creationId xmlns:p14="http://schemas.microsoft.com/office/powerpoint/2010/main" val="287862470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3795911"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负责内容</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2044700" y="1997392"/>
            <a:ext cx="86360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负责的模块</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577840" y="1997392"/>
            <a:ext cx="103632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核心工作逻辑</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1109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负责部分的特点</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2195195"/>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后端</a:t>
            </a:r>
            <a:r>
              <a:rPr lang="zh-CN" altLang="en-US" sz="1400" b="1" dirty="0">
                <a:latin typeface="思源宋体" panose="02020400000000000000" pitchFamily="18" charset="-122"/>
                <a:ea typeface="思源宋体" panose="02020400000000000000" pitchFamily="18" charset="-122"/>
                <a:cs typeface="Noto Serif SC"/>
              </a:rPr>
              <a:t>总体架构设计</a:t>
            </a:r>
            <a:r>
              <a:rPr lang="zh-CN" altLang="en-US" sz="1400" dirty="0">
                <a:latin typeface="思源宋体" panose="02020400000000000000" pitchFamily="18" charset="-122"/>
                <a:ea typeface="思源宋体" panose="02020400000000000000" pitchFamily="18" charset="-122"/>
                <a:cs typeface="Noto Serif SC"/>
              </a:rPr>
              <a:t>与请求分发主流程</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用户认证、登录态识别与权限控制</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评论模块与评论数据生命周期管理</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评论变化后的评分统计与一致性维护</a:t>
            </a:r>
          </a:p>
        </p:txBody>
      </p:sp>
      <p:sp>
        <p:nvSpPr>
          <p:cNvPr id="55" name="文本框 54"/>
          <p:cNvSpPr txBox="1"/>
          <p:nvPr>
            <p:custDataLst>
              <p:tags r:id="rId20"/>
            </p:custDataLst>
          </p:nvPr>
        </p:nvSpPr>
        <p:spPr>
          <a:xfrm>
            <a:off x="4381500" y="2403474"/>
            <a:ext cx="3417570" cy="3692525"/>
          </a:xfrm>
          <a:prstGeom prst="rect">
            <a:avLst/>
          </a:prstGeom>
          <a:noFill/>
        </p:spPr>
        <p:txBody>
          <a:bodyPr wrap="square" rtlCol="0">
            <a:noAutofit/>
          </a:bodyPr>
          <a:lstStyle/>
          <a:p>
            <a:r>
              <a:rPr lang="zh-CN" altLang="en-US" dirty="0">
                <a:latin typeface="思源宋体" panose="02020400000000000000" pitchFamily="18" charset="-122"/>
                <a:ea typeface="思源宋体" panose="02020400000000000000" pitchFamily="18" charset="-122"/>
              </a:rPr>
              <a:t>后端整体采用</a:t>
            </a:r>
            <a:r>
              <a:rPr lang="zh-CN" altLang="en-US" b="1" dirty="0">
                <a:latin typeface="思源宋体" panose="02020400000000000000" pitchFamily="18" charset="-122"/>
                <a:ea typeface="思源宋体" panose="02020400000000000000" pitchFamily="18" charset="-122"/>
              </a:rPr>
              <a:t>分层设计</a:t>
            </a:r>
            <a:r>
              <a:rPr lang="zh-CN" altLang="en-US" dirty="0">
                <a:latin typeface="思源宋体" panose="02020400000000000000" pitchFamily="18" charset="-122"/>
                <a:ea typeface="思源宋体" panose="02020400000000000000" pitchFamily="18" charset="-122"/>
              </a:rPr>
              <a:t>，将系统划分为路由层、业务层和数据层，以保证请求能够稳定完成接收、处理与数据访问；</a:t>
            </a:r>
            <a:endParaRPr lang="en-US" altLang="zh-CN" dirty="0">
              <a:latin typeface="思源宋体" panose="02020400000000000000" pitchFamily="18" charset="-122"/>
              <a:ea typeface="思源宋体" panose="02020400000000000000" pitchFamily="18" charset="-122"/>
            </a:endParaRPr>
          </a:p>
          <a:p>
            <a:endParaRPr lang="en-US" altLang="zh-CN" dirty="0">
              <a:latin typeface="思源宋体" panose="02020400000000000000" pitchFamily="18" charset="-122"/>
              <a:ea typeface="思源宋体" panose="02020400000000000000" pitchFamily="18" charset="-122"/>
            </a:endParaRPr>
          </a:p>
          <a:p>
            <a:r>
              <a:rPr lang="zh-CN" altLang="en-US" dirty="0">
                <a:latin typeface="思源宋体" panose="02020400000000000000" pitchFamily="18" charset="-122"/>
                <a:ea typeface="思源宋体" panose="02020400000000000000" pitchFamily="18" charset="-122"/>
              </a:rPr>
              <a:t>围绕认证与权限控制，实现注册、登录、退出、获取当前用户、修改密码和编辑个人资料等接口，并完成登录态识别、管理员权限校验和认证链路控制；</a:t>
            </a:r>
            <a:endParaRPr lang="en-US" altLang="zh-CN" dirty="0">
              <a:latin typeface="思源宋体" panose="02020400000000000000" pitchFamily="18" charset="-122"/>
              <a:ea typeface="思源宋体" panose="02020400000000000000" pitchFamily="18" charset="-122"/>
            </a:endParaRPr>
          </a:p>
          <a:p>
            <a:endParaRPr lang="en-US" altLang="zh-CN" dirty="0">
              <a:latin typeface="思源宋体" panose="02020400000000000000" pitchFamily="18" charset="-122"/>
              <a:ea typeface="思源宋体" panose="02020400000000000000" pitchFamily="18" charset="-122"/>
            </a:endParaRPr>
          </a:p>
          <a:p>
            <a:r>
              <a:rPr lang="zh-CN" altLang="en-US" dirty="0">
                <a:latin typeface="思源宋体" panose="02020400000000000000" pitchFamily="18" charset="-122"/>
                <a:ea typeface="思源宋体" panose="02020400000000000000" pitchFamily="18" charset="-122"/>
              </a:rPr>
              <a:t>围绕评论业务，实现评论提交、更新、本人评论查询和逻辑删除等功能，通过数据库约束与业务逻辑共同保证同一用户对同一窗口仅有一条有效评论，并在评论变更后自动重算窗口平均评分与评论数量，确保详情页、列表页和排行榜等数据保持一致。</a:t>
            </a:r>
            <a:endParaRPr lang="zh-CN" altLang="en-US" sz="1400" dirty="0">
              <a:latin typeface="思源宋体" panose="02020400000000000000" pitchFamily="18" charset="-122"/>
              <a:ea typeface="思源宋体" panose="02020400000000000000" pitchFamily="18" charset="-122"/>
              <a:cs typeface="Noto Serif SC"/>
            </a:endParaRP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模块数量相对少，但都属于底层核心能力，针对的是</a:t>
            </a:r>
            <a:r>
              <a:rPr lang="zh-CN" altLang="en-US" sz="1400" b="1" dirty="0">
                <a:latin typeface="思源宋体" panose="02020400000000000000" pitchFamily="18" charset="-122"/>
                <a:ea typeface="思源宋体" panose="02020400000000000000" pitchFamily="18" charset="-122"/>
                <a:cs typeface="Noto Serif SC"/>
              </a:rPr>
              <a:t>基础框架</a:t>
            </a:r>
            <a:r>
              <a:rPr lang="zh-CN" altLang="en-US" sz="1400" dirty="0">
                <a:latin typeface="思源宋体" panose="02020400000000000000" pitchFamily="18" charset="-122"/>
                <a:ea typeface="思源宋体" panose="02020400000000000000" pitchFamily="18" charset="-122"/>
                <a:cs typeface="Noto Serif SC"/>
              </a:rPr>
              <a:t>的搭建。</a:t>
            </a: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重点在于系统安全性、请求稳定性和核心数据一致性。</a:t>
            </a:r>
          </a:p>
        </p:txBody>
      </p:sp>
    </p:spTree>
    <p:extLst>
      <p:ext uri="{BB962C8B-B14F-4D97-AF65-F5344CB8AC3E}">
        <p14:creationId xmlns:p14="http://schemas.microsoft.com/office/powerpoint/2010/main" val="56935165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9500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认证与评论链路</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TextBox 6"/>
          <p:cNvSpPr txBox="1"/>
          <p:nvPr/>
        </p:nvSpPr>
        <p:spPr>
          <a:xfrm>
            <a:off x="933450" y="1266825"/>
            <a:ext cx="820738" cy="246221"/>
          </a:xfrm>
          <a:prstGeom prst="rect">
            <a:avLst/>
          </a:prstGeom>
          <a:noFill/>
          <a:ln>
            <a:noFill/>
          </a:ln>
        </p:spPr>
        <p:txBody>
          <a:bodyPr wrap="none" lIns="0" tIns="0" rIns="0" bIns="0" anchor="t" anchorCtr="0">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认证逻辑</a:t>
            </a:r>
          </a:p>
        </p:txBody>
      </p:sp>
      <p:sp>
        <p:nvSpPr>
          <p:cNvPr id="7" name="TextBox 7"/>
          <p:cNvSpPr txBox="1"/>
          <p:nvPr/>
        </p:nvSpPr>
        <p:spPr>
          <a:xfrm>
            <a:off x="1224915" y="1528763"/>
            <a:ext cx="6299200" cy="1723390"/>
          </a:xfrm>
          <a:prstGeom prst="rect">
            <a:avLst/>
          </a:prstGeom>
          <a:noFill/>
          <a:ln>
            <a:noFill/>
          </a:ln>
        </p:spPr>
        <p:txBody>
          <a:bodyPr wrap="none" lIns="0" tIns="0" rIns="0" bIns="0" anchor="t" anchorCtr="0">
            <a:spAutoFit/>
          </a:bodyPr>
          <a:lstStyle/>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用户注册时，后端接收学号、用户名和密码，并将密码做哈希后再存库</a:t>
            </a: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用户登录时，后端校验学号、密码和用户状态是否有效</a:t>
            </a: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登录成功后返回签名令牌，前端将 </a:t>
            </a:r>
            <a:r>
              <a:rPr lang="en-US" altLang="zh-CN" sz="1600" dirty="0">
                <a:solidFill>
                  <a:schemeClr val="tx1"/>
                </a:solidFill>
                <a:latin typeface="思源宋体" panose="02020400000000000000" pitchFamily="18" charset="-122"/>
                <a:ea typeface="思源宋体" panose="02020400000000000000" pitchFamily="18" charset="-122"/>
                <a:cs typeface="Noto Serif SC"/>
              </a:rPr>
              <a:t>token </a:t>
            </a:r>
            <a:r>
              <a:rPr lang="zh-CN" altLang="en-US" sz="1600" dirty="0">
                <a:solidFill>
                  <a:schemeClr val="tx1"/>
                </a:solidFill>
                <a:latin typeface="思源宋体" panose="02020400000000000000" pitchFamily="18" charset="-122"/>
                <a:ea typeface="思源宋体" panose="02020400000000000000" pitchFamily="18" charset="-122"/>
                <a:cs typeface="Noto Serif SC"/>
              </a:rPr>
              <a:t>保存到 </a:t>
            </a:r>
            <a:r>
              <a:rPr lang="en-US" altLang="zh-CN" sz="1600" dirty="0" err="1">
                <a:solidFill>
                  <a:schemeClr val="tx1"/>
                </a:solidFill>
                <a:latin typeface="思源宋体" panose="02020400000000000000" pitchFamily="18" charset="-122"/>
                <a:ea typeface="思源宋体" panose="02020400000000000000" pitchFamily="18" charset="-122"/>
                <a:cs typeface="Noto Serif SC"/>
              </a:rPr>
              <a:t>localStorage</a:t>
            </a:r>
            <a:endParaRPr lang="en-US" altLang="zh-CN" sz="1600" dirty="0">
              <a:solidFill>
                <a:schemeClr val="tx1"/>
              </a:solidFill>
              <a:latin typeface="思源宋体" panose="02020400000000000000" pitchFamily="18" charset="-122"/>
              <a:ea typeface="思源宋体" panose="02020400000000000000" pitchFamily="18" charset="-122"/>
              <a:cs typeface="Noto Serif SC"/>
            </a:endParaRPr>
          </a:p>
          <a:p>
            <a:pPr algn="l"/>
            <a:endParaRPr lang="zh-CN" altLang="en-US" sz="1600" dirty="0">
              <a:solidFill>
                <a:schemeClr val="tx1"/>
              </a:solidFill>
              <a:latin typeface="思源宋体" panose="02020400000000000000" pitchFamily="18" charset="-122"/>
              <a:ea typeface="思源宋体" panose="02020400000000000000" pitchFamily="18" charset="-122"/>
              <a:cs typeface="Noto Serif SC"/>
            </a:endParaRPr>
          </a:p>
          <a:p>
            <a:pPr algn="l"/>
            <a:r>
              <a:rPr lang="zh-CN" altLang="en-US" sz="1600" dirty="0">
                <a:solidFill>
                  <a:schemeClr val="tx1"/>
                </a:solidFill>
                <a:latin typeface="思源宋体" panose="02020400000000000000" pitchFamily="18" charset="-122"/>
                <a:ea typeface="思源宋体" panose="02020400000000000000" pitchFamily="18" charset="-122"/>
                <a:cs typeface="Noto Serif SC"/>
              </a:rPr>
              <a:t>后续请求统一通过 </a:t>
            </a:r>
            <a:r>
              <a:rPr lang="en-US" altLang="zh-CN" sz="1600" dirty="0">
                <a:solidFill>
                  <a:schemeClr val="tx1"/>
                </a:solidFill>
                <a:latin typeface="思源宋体" panose="02020400000000000000" pitchFamily="18" charset="-122"/>
                <a:ea typeface="思源宋体" panose="02020400000000000000" pitchFamily="18" charset="-122"/>
                <a:cs typeface="Noto Serif SC"/>
              </a:rPr>
              <a:t>Authorization: Bearer token`</a:t>
            </a:r>
            <a:r>
              <a:rPr lang="zh-CN" altLang="en-US" sz="1600" dirty="0">
                <a:solidFill>
                  <a:schemeClr val="tx1"/>
                </a:solidFill>
                <a:latin typeface="思源宋体" panose="02020400000000000000" pitchFamily="18" charset="-122"/>
                <a:ea typeface="思源宋体" panose="02020400000000000000" pitchFamily="18" charset="-122"/>
                <a:cs typeface="Noto Serif SC"/>
              </a:rPr>
              <a:t>携带登录态</a:t>
            </a:r>
          </a:p>
        </p:txBody>
      </p:sp>
      <p:sp>
        <p:nvSpPr>
          <p:cNvPr id="11" name="TextBox 11"/>
          <p:cNvSpPr txBox="1"/>
          <p:nvPr/>
        </p:nvSpPr>
        <p:spPr>
          <a:xfrm>
            <a:off x="933450" y="3420903"/>
            <a:ext cx="820738" cy="246221"/>
          </a:xfrm>
          <a:prstGeom prst="rect">
            <a:avLst/>
          </a:prstGeom>
          <a:noFill/>
          <a:ln>
            <a:noFill/>
          </a:ln>
        </p:spPr>
        <p:txBody>
          <a:bodyPr wrap="none" lIns="0" tIns="0" rIns="0" bIns="0" anchor="t" anchorCtr="0">
            <a:spAutoFit/>
          </a:bodyPr>
          <a:lstStyle/>
          <a:p>
            <a:pPr algn="l"/>
            <a:r>
              <a:rPr lang="zh-CN" altLang="en-US" sz="1600" b="1" dirty="0">
                <a:solidFill>
                  <a:srgbClr val="004E97"/>
                </a:solidFill>
                <a:latin typeface="思源黑体 CN" panose="020B0500000000000000" pitchFamily="34" charset="-122"/>
                <a:ea typeface="思源黑体 CN" panose="020B0500000000000000" pitchFamily="34" charset="-122"/>
                <a:cs typeface="Noto Sans SC"/>
              </a:rPr>
              <a:t>评论逻辑</a:t>
            </a:r>
          </a:p>
        </p:txBody>
      </p:sp>
      <p:sp>
        <p:nvSpPr>
          <p:cNvPr id="17" name="Line 17"/>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19" name="文本框 18"/>
          <p:cNvSpPr txBox="1"/>
          <p:nvPr/>
        </p:nvSpPr>
        <p:spPr>
          <a:xfrm>
            <a:off x="1132551" y="3733324"/>
            <a:ext cx="5180965" cy="2306955"/>
          </a:xfrm>
          <a:prstGeom prst="rect">
            <a:avLst/>
          </a:prstGeom>
          <a:noFill/>
        </p:spPr>
        <p:txBody>
          <a:bodyPr wrap="square" rtlCol="0">
            <a:spAutoFit/>
          </a:bodyPr>
          <a:lstStyle/>
          <a:p>
            <a:r>
              <a:rPr lang="zh-CN" altLang="en-US" sz="1600" dirty="0">
                <a:latin typeface="思源宋体" panose="02020400000000000000" pitchFamily="18" charset="-122"/>
                <a:ea typeface="思源宋体" panose="02020400000000000000" pitchFamily="18" charset="-122"/>
                <a:cs typeface="Noto Serif SC"/>
              </a:rPr>
              <a:t>用户提交评论时，系统先判断该用户是否已经评论过该窗口</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若评论已存在，则执行更新；若不存在，则创建新评论</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删除评论时采用软删除，而不是直接物理删除</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每次评论新增、更新或删除后，系统都会重新计算窗口平均分和评论数</a:t>
            </a:r>
          </a:p>
        </p:txBody>
      </p:sp>
    </p:spTree>
    <p:extLst>
      <p:ext uri="{BB962C8B-B14F-4D97-AF65-F5344CB8AC3E}">
        <p14:creationId xmlns:p14="http://schemas.microsoft.com/office/powerpoint/2010/main" val="14489887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9500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代码级技术实现</a:t>
            </a: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6" name="Freeform 6"/>
          <p:cNvSpPr/>
          <p:nvPr>
            <p:custDataLst>
              <p:tags r:id="rId1"/>
            </p:custDataLst>
          </p:nvPr>
        </p:nvSpPr>
        <p:spPr>
          <a:xfrm>
            <a:off x="762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5F5F5"/>
          </a:solidFill>
          <a:ln w="9525">
            <a:solidFill>
              <a:srgbClr val="EBEBEB"/>
            </a:solidFill>
          </a:ln>
        </p:spPr>
      </p:sp>
      <p:sp>
        <p:nvSpPr>
          <p:cNvPr id="7" name="Freeform 7"/>
          <p:cNvSpPr/>
          <p:nvPr>
            <p:custDataLst>
              <p:tags r:id="rId2"/>
            </p:custDataLst>
          </p:nvPr>
        </p:nvSpPr>
        <p:spPr>
          <a:xfrm>
            <a:off x="762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004E97"/>
          </a:solidFill>
          <a:ln>
            <a:noFill/>
          </a:ln>
        </p:spPr>
      </p:sp>
      <p:sp>
        <p:nvSpPr>
          <p:cNvPr id="8" name="Ellipse 8"/>
          <p:cNvSpPr/>
          <p:nvPr>
            <p:custDataLst>
              <p:tags r:id="rId3"/>
            </p:custDataLst>
          </p:nvPr>
        </p:nvSpPr>
        <p:spPr>
          <a:xfrm>
            <a:off x="2247900" y="1485900"/>
            <a:ext cx="457200" cy="457200"/>
          </a:xfrm>
          <a:prstGeom prst="ellipse">
            <a:avLst/>
          </a:prstGeom>
          <a:solidFill>
            <a:srgbClr val="004E97">
              <a:alpha val="15000"/>
            </a:srgbClr>
          </a:solidFill>
          <a:ln>
            <a:noFill/>
          </a:ln>
        </p:spPr>
      </p:sp>
      <p:sp>
        <p:nvSpPr>
          <p:cNvPr id="9" name="TextBox 9"/>
          <p:cNvSpPr txBox="1"/>
          <p:nvPr>
            <p:custDataLst>
              <p:tags r:id="rId4"/>
            </p:custDataLst>
          </p:nvPr>
        </p:nvSpPr>
        <p:spPr>
          <a:xfrm>
            <a:off x="2423601" y="1625918"/>
            <a:ext cx="105798" cy="207749"/>
          </a:xfrm>
          <a:prstGeom prst="rect">
            <a:avLst/>
          </a:prstGeom>
          <a:noFill/>
          <a:ln>
            <a:noFill/>
          </a:ln>
        </p:spPr>
        <p:txBody>
          <a:bodyPr wrap="none" lIns="0" tIns="0" rIns="0" bIns="0" anchor="t" anchorCtr="0">
            <a:spAutoFit/>
          </a:bodyPr>
          <a:lstStyle/>
          <a:p>
            <a:pPr algn="ctr"/>
            <a:r>
              <a:rPr lang="zh-CN" sz="1350" dirty="0">
                <a:solidFill>
                  <a:srgbClr val="004E97"/>
                </a:solidFill>
                <a:latin typeface="思源黑体 CN" panose="020B0500000000000000" pitchFamily="34" charset="-122"/>
                <a:ea typeface="思源黑体 CN" panose="020B0500000000000000" pitchFamily="34" charset="-122"/>
                <a:cs typeface="Noto Serif SC"/>
              </a:rPr>
              <a:t>A</a:t>
            </a:r>
          </a:p>
        </p:txBody>
      </p:sp>
      <p:sp>
        <p:nvSpPr>
          <p:cNvPr id="10" name="TextBox 10"/>
          <p:cNvSpPr txBox="1"/>
          <p:nvPr>
            <p:custDataLst>
              <p:tags r:id="rId5"/>
            </p:custDataLst>
          </p:nvPr>
        </p:nvSpPr>
        <p:spPr>
          <a:xfrm>
            <a:off x="1785620" y="1997392"/>
            <a:ext cx="1381760" cy="207645"/>
          </a:xfrm>
          <a:prstGeom prst="rect">
            <a:avLst/>
          </a:prstGeom>
          <a:noFill/>
          <a:ln>
            <a:noFill/>
          </a:ln>
        </p:spPr>
        <p:txBody>
          <a:bodyPr wrap="none" lIns="0" tIns="0" rIns="0" bIns="0" anchor="t" anchorCtr="0">
            <a:spAutoFit/>
          </a:bodyPr>
          <a:lstStyle/>
          <a:p>
            <a:pPr algn="ctr"/>
            <a:r>
              <a:rPr lang="zh-CN" altLang="en-US" sz="1350" b="1" dirty="0">
                <a:solidFill>
                  <a:srgbClr val="004E97"/>
                </a:solidFill>
                <a:latin typeface="思源黑体 CN" panose="020B0500000000000000" pitchFamily="34" charset="-122"/>
                <a:ea typeface="思源黑体 CN" panose="020B0500000000000000" pitchFamily="34" charset="-122"/>
                <a:cs typeface="Noto Sans SC"/>
              </a:rPr>
              <a:t>服务端与路由实现</a:t>
            </a:r>
          </a:p>
        </p:txBody>
      </p:sp>
      <p:sp>
        <p:nvSpPr>
          <p:cNvPr id="11" name="Line 11"/>
          <p:cNvSpPr/>
          <p:nvPr>
            <p:custDataLst>
              <p:tags r:id="rId6"/>
            </p:custDataLst>
          </p:nvPr>
        </p:nvSpPr>
        <p:spPr>
          <a:xfrm>
            <a:off x="952500" y="2333625"/>
            <a:ext cx="3048000" cy="9525"/>
          </a:xfrm>
          <a:custGeom>
            <a:avLst/>
            <a:gdLst/>
            <a:ahLst/>
            <a:cxnLst/>
            <a:rect l="l" t="t" r="r" b="b"/>
            <a:pathLst>
              <a:path w="3048000" h="9525">
                <a:moveTo>
                  <a:pt x="0" y="0"/>
                </a:moveTo>
                <a:lnTo>
                  <a:pt x="3048000" y="0"/>
                </a:lnTo>
              </a:path>
            </a:pathLst>
          </a:custGeom>
          <a:noFill/>
          <a:ln w="9525">
            <a:solidFill>
              <a:srgbClr val="EBEBEB"/>
            </a:solidFill>
          </a:ln>
        </p:spPr>
      </p:sp>
      <p:sp>
        <p:nvSpPr>
          <p:cNvPr id="21" name="Freeform 21"/>
          <p:cNvSpPr/>
          <p:nvPr>
            <p:custDataLst>
              <p:tags r:id="rId7"/>
            </p:custDataLst>
          </p:nvPr>
        </p:nvSpPr>
        <p:spPr>
          <a:xfrm>
            <a:off x="43815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7F8F2"/>
          </a:solidFill>
          <a:ln w="9525">
            <a:solidFill>
              <a:srgbClr val="EBEBEB"/>
            </a:solidFill>
          </a:ln>
        </p:spPr>
      </p:sp>
      <p:sp>
        <p:nvSpPr>
          <p:cNvPr id="22" name="Freeform 22"/>
          <p:cNvSpPr/>
          <p:nvPr>
            <p:custDataLst>
              <p:tags r:id="rId8"/>
            </p:custDataLst>
          </p:nvPr>
        </p:nvSpPr>
        <p:spPr>
          <a:xfrm>
            <a:off x="43815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A9C37C"/>
          </a:solidFill>
          <a:ln>
            <a:noFill/>
          </a:ln>
        </p:spPr>
      </p:sp>
      <p:sp>
        <p:nvSpPr>
          <p:cNvPr id="23" name="Ellipse 23"/>
          <p:cNvSpPr/>
          <p:nvPr>
            <p:custDataLst>
              <p:tags r:id="rId9"/>
            </p:custDataLst>
          </p:nvPr>
        </p:nvSpPr>
        <p:spPr>
          <a:xfrm>
            <a:off x="5867400" y="1485900"/>
            <a:ext cx="457200" cy="457200"/>
          </a:xfrm>
          <a:prstGeom prst="ellipse">
            <a:avLst/>
          </a:prstGeom>
          <a:solidFill>
            <a:srgbClr val="A9C37C">
              <a:alpha val="20000"/>
            </a:srgbClr>
          </a:solidFill>
          <a:ln>
            <a:noFill/>
          </a:ln>
        </p:spPr>
      </p:sp>
      <p:sp>
        <p:nvSpPr>
          <p:cNvPr id="24" name="TextBox 24"/>
          <p:cNvSpPr txBox="1"/>
          <p:nvPr>
            <p:custDataLst>
              <p:tags r:id="rId10"/>
            </p:custDataLst>
          </p:nvPr>
        </p:nvSpPr>
        <p:spPr>
          <a:xfrm>
            <a:off x="6039093" y="1625918"/>
            <a:ext cx="113813" cy="207749"/>
          </a:xfrm>
          <a:prstGeom prst="rect">
            <a:avLst/>
          </a:prstGeom>
          <a:noFill/>
          <a:ln>
            <a:noFill/>
          </a:ln>
        </p:spPr>
        <p:txBody>
          <a:bodyPr wrap="none" lIns="0" tIns="0" rIns="0" bIns="0" anchor="t" anchorCtr="0">
            <a:spAutoFit/>
          </a:bodyPr>
          <a:lstStyle/>
          <a:p>
            <a:pPr algn="ctr"/>
            <a:r>
              <a:rPr lang="zh-CN" sz="1350" dirty="0">
                <a:solidFill>
                  <a:srgbClr val="5F7F35"/>
                </a:solidFill>
                <a:latin typeface="思源黑体 CN" panose="020B0500000000000000" pitchFamily="34" charset="-122"/>
                <a:ea typeface="思源黑体 CN" panose="020B0500000000000000" pitchFamily="34" charset="-122"/>
                <a:cs typeface="Noto Serif SC"/>
              </a:rPr>
              <a:t>B</a:t>
            </a:r>
          </a:p>
        </p:txBody>
      </p:sp>
      <p:sp>
        <p:nvSpPr>
          <p:cNvPr id="25" name="TextBox 25"/>
          <p:cNvSpPr txBox="1"/>
          <p:nvPr>
            <p:custDataLst>
              <p:tags r:id="rId11"/>
            </p:custDataLst>
          </p:nvPr>
        </p:nvSpPr>
        <p:spPr>
          <a:xfrm>
            <a:off x="5491480" y="1997392"/>
            <a:ext cx="1209040" cy="207645"/>
          </a:xfrm>
          <a:prstGeom prst="rect">
            <a:avLst/>
          </a:prstGeom>
          <a:noFill/>
          <a:ln>
            <a:noFill/>
          </a:ln>
        </p:spPr>
        <p:txBody>
          <a:bodyPr wrap="none" lIns="0" tIns="0" rIns="0" bIns="0" anchor="t" anchorCtr="0">
            <a:spAutoFit/>
          </a:bodyPr>
          <a:lstStyle/>
          <a:p>
            <a:pPr algn="ctr"/>
            <a:r>
              <a:rPr lang="zh-CN" altLang="en-US" sz="1350" b="1" dirty="0">
                <a:solidFill>
                  <a:srgbClr val="5F7F35"/>
                </a:solidFill>
                <a:latin typeface="思源黑体 CN" panose="020B0500000000000000" pitchFamily="34" charset="-122"/>
                <a:ea typeface="思源黑体 CN" panose="020B0500000000000000" pitchFamily="34" charset="-122"/>
                <a:cs typeface="Noto Sans SC"/>
              </a:rPr>
              <a:t>认证与安全实现</a:t>
            </a:r>
          </a:p>
        </p:txBody>
      </p:sp>
      <p:sp>
        <p:nvSpPr>
          <p:cNvPr id="26" name="Line 26"/>
          <p:cNvSpPr/>
          <p:nvPr>
            <p:custDataLst>
              <p:tags r:id="rId12"/>
            </p:custDataLst>
          </p:nvPr>
        </p:nvSpPr>
        <p:spPr>
          <a:xfrm>
            <a:off x="4572000" y="2333625"/>
            <a:ext cx="3048000" cy="9525"/>
          </a:xfrm>
          <a:custGeom>
            <a:avLst/>
            <a:gdLst/>
            <a:ahLst/>
            <a:cxnLst/>
            <a:rect l="l" t="t" r="r" b="b"/>
            <a:pathLst>
              <a:path w="3048000" h="9525">
                <a:moveTo>
                  <a:pt x="0" y="0"/>
                </a:moveTo>
                <a:lnTo>
                  <a:pt x="3048000" y="0"/>
                </a:lnTo>
              </a:path>
            </a:pathLst>
          </a:custGeom>
          <a:noFill/>
          <a:ln w="9525">
            <a:solidFill>
              <a:srgbClr val="E4EBD8"/>
            </a:solidFill>
          </a:ln>
        </p:spPr>
      </p:sp>
      <p:sp>
        <p:nvSpPr>
          <p:cNvPr id="36" name="Freeform 36"/>
          <p:cNvSpPr/>
          <p:nvPr>
            <p:custDataLst>
              <p:tags r:id="rId13"/>
            </p:custDataLst>
          </p:nvPr>
        </p:nvSpPr>
        <p:spPr>
          <a:xfrm>
            <a:off x="8001000" y="1333500"/>
            <a:ext cx="3429000" cy="4762500"/>
          </a:xfrm>
          <a:custGeom>
            <a:avLst/>
            <a:gdLst/>
            <a:ahLst/>
            <a:cxnLst/>
            <a:rect l="l" t="t" r="r" b="b"/>
            <a:pathLst>
              <a:path w="3429000" h="4762500">
                <a:moveTo>
                  <a:pt x="114300" y="0"/>
                </a:moveTo>
                <a:lnTo>
                  <a:pt x="3314700" y="0"/>
                </a:lnTo>
                <a:cubicBezTo>
                  <a:pt x="3377826" y="0"/>
                  <a:pt x="3429000" y="51174"/>
                  <a:pt x="3429000" y="114300"/>
                </a:cubicBezTo>
                <a:lnTo>
                  <a:pt x="3429000" y="4648200"/>
                </a:lnTo>
                <a:cubicBezTo>
                  <a:pt x="3429000" y="4711326"/>
                  <a:pt x="3377826" y="4762500"/>
                  <a:pt x="331470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BF8EF"/>
          </a:solidFill>
          <a:ln w="9525">
            <a:solidFill>
              <a:srgbClr val="EBEBEB"/>
            </a:solidFill>
          </a:ln>
        </p:spPr>
      </p:sp>
      <p:sp>
        <p:nvSpPr>
          <p:cNvPr id="37" name="Freeform 37"/>
          <p:cNvSpPr/>
          <p:nvPr>
            <p:custDataLst>
              <p:tags r:id="rId14"/>
            </p:custDataLst>
          </p:nvPr>
        </p:nvSpPr>
        <p:spPr>
          <a:xfrm>
            <a:off x="8001000" y="1333500"/>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E6C46D"/>
          </a:solidFill>
          <a:ln>
            <a:noFill/>
          </a:ln>
        </p:spPr>
      </p:sp>
      <p:sp>
        <p:nvSpPr>
          <p:cNvPr id="38" name="Ellipse 38"/>
          <p:cNvSpPr/>
          <p:nvPr>
            <p:custDataLst>
              <p:tags r:id="rId15"/>
            </p:custDataLst>
          </p:nvPr>
        </p:nvSpPr>
        <p:spPr>
          <a:xfrm>
            <a:off x="9486900" y="1485900"/>
            <a:ext cx="457200" cy="457200"/>
          </a:xfrm>
          <a:prstGeom prst="ellipse">
            <a:avLst/>
          </a:prstGeom>
          <a:solidFill>
            <a:srgbClr val="E6C46D">
              <a:alpha val="22000"/>
            </a:srgbClr>
          </a:solidFill>
          <a:ln>
            <a:noFill/>
          </a:ln>
        </p:spPr>
      </p:sp>
      <p:sp>
        <p:nvSpPr>
          <p:cNvPr id="39" name="TextBox 39"/>
          <p:cNvSpPr txBox="1"/>
          <p:nvPr>
            <p:custDataLst>
              <p:tags r:id="rId16"/>
            </p:custDataLst>
          </p:nvPr>
        </p:nvSpPr>
        <p:spPr>
          <a:xfrm>
            <a:off x="9660196" y="1625918"/>
            <a:ext cx="110608" cy="207749"/>
          </a:xfrm>
          <a:prstGeom prst="rect">
            <a:avLst/>
          </a:prstGeom>
          <a:noFill/>
          <a:ln>
            <a:noFill/>
          </a:ln>
        </p:spPr>
        <p:txBody>
          <a:bodyPr wrap="none" lIns="0" tIns="0" rIns="0" bIns="0" anchor="t" anchorCtr="0">
            <a:spAutoFit/>
          </a:bodyPr>
          <a:lstStyle/>
          <a:p>
            <a:pPr algn="ctr"/>
            <a:r>
              <a:rPr lang="zh-CN" sz="1350" dirty="0">
                <a:solidFill>
                  <a:srgbClr val="9A7620"/>
                </a:solidFill>
                <a:latin typeface="思源黑体 CN" panose="020B0500000000000000" pitchFamily="34" charset="-122"/>
                <a:ea typeface="思源黑体 CN" panose="020B0500000000000000" pitchFamily="34" charset="-122"/>
                <a:cs typeface="Noto Serif SC"/>
              </a:rPr>
              <a:t>C</a:t>
            </a:r>
          </a:p>
        </p:txBody>
      </p:sp>
      <p:sp>
        <p:nvSpPr>
          <p:cNvPr id="40" name="TextBox 40"/>
          <p:cNvSpPr txBox="1"/>
          <p:nvPr>
            <p:custDataLst>
              <p:tags r:id="rId17"/>
            </p:custDataLst>
          </p:nvPr>
        </p:nvSpPr>
        <p:spPr>
          <a:xfrm>
            <a:off x="9024620" y="1997392"/>
            <a:ext cx="1381760" cy="207645"/>
          </a:xfrm>
          <a:prstGeom prst="rect">
            <a:avLst/>
          </a:prstGeom>
          <a:noFill/>
          <a:ln>
            <a:noFill/>
          </a:ln>
        </p:spPr>
        <p:txBody>
          <a:bodyPr wrap="none" lIns="0" tIns="0" rIns="0" bIns="0" anchor="t" anchorCtr="0">
            <a:spAutoFit/>
          </a:bodyPr>
          <a:lstStyle/>
          <a:p>
            <a:pPr algn="ctr"/>
            <a:r>
              <a:rPr lang="zh-CN" altLang="en-US" sz="1350" b="1" dirty="0">
                <a:solidFill>
                  <a:srgbClr val="9A7620"/>
                </a:solidFill>
                <a:latin typeface="思源黑体 CN" panose="020B0500000000000000" pitchFamily="34" charset="-122"/>
                <a:ea typeface="思源黑体 CN" panose="020B0500000000000000" pitchFamily="34" charset="-122"/>
                <a:cs typeface="Noto Sans SC"/>
              </a:rPr>
              <a:t>评论与一致性实现</a:t>
            </a:r>
          </a:p>
        </p:txBody>
      </p:sp>
      <p:sp>
        <p:nvSpPr>
          <p:cNvPr id="41" name="Line 41"/>
          <p:cNvSpPr/>
          <p:nvPr>
            <p:custDataLst>
              <p:tags r:id="rId18"/>
            </p:custDataLst>
          </p:nvPr>
        </p:nvSpPr>
        <p:spPr>
          <a:xfrm>
            <a:off x="8191500" y="2333625"/>
            <a:ext cx="3048000" cy="9525"/>
          </a:xfrm>
          <a:custGeom>
            <a:avLst/>
            <a:gdLst/>
            <a:ahLst/>
            <a:cxnLst/>
            <a:rect l="l" t="t" r="r" b="b"/>
            <a:pathLst>
              <a:path w="3048000" h="9525">
                <a:moveTo>
                  <a:pt x="0" y="0"/>
                </a:moveTo>
                <a:lnTo>
                  <a:pt x="3048000" y="0"/>
                </a:lnTo>
              </a:path>
            </a:pathLst>
          </a:custGeom>
          <a:noFill/>
          <a:ln w="9525">
            <a:solidFill>
              <a:srgbClr val="F1E3BD"/>
            </a:solidFill>
          </a:ln>
        </p:spPr>
      </p:sp>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54" name="文本框 53"/>
          <p:cNvSpPr txBox="1"/>
          <p:nvPr>
            <p:custDataLst>
              <p:tags r:id="rId19"/>
            </p:custDataLst>
          </p:nvPr>
        </p:nvSpPr>
        <p:spPr>
          <a:xfrm>
            <a:off x="762000" y="2348865"/>
            <a:ext cx="3420110" cy="2195195"/>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服务端使用了 </a:t>
            </a:r>
            <a:r>
              <a:rPr lang="en-US" altLang="zh-CN" sz="1400" dirty="0">
                <a:latin typeface="思源宋体" panose="02020400000000000000" pitchFamily="18" charset="-122"/>
                <a:ea typeface="思源宋体" panose="02020400000000000000" pitchFamily="18" charset="-122"/>
                <a:cs typeface="Noto Serif SC"/>
              </a:rPr>
              <a:t>Python </a:t>
            </a:r>
            <a:r>
              <a:rPr lang="zh-CN" altLang="en-US" sz="1400" dirty="0">
                <a:latin typeface="思源宋体" panose="02020400000000000000" pitchFamily="18" charset="-122"/>
                <a:ea typeface="思源宋体" panose="02020400000000000000" pitchFamily="18" charset="-122"/>
                <a:cs typeface="Noto Serif SC"/>
              </a:rPr>
              <a:t>标准</a:t>
            </a:r>
            <a:r>
              <a:rPr lang="en-US" altLang="zh-CN" sz="1400" dirty="0" err="1">
                <a:latin typeface="思源宋体" panose="02020400000000000000" pitchFamily="18" charset="-122"/>
                <a:ea typeface="思源宋体" panose="02020400000000000000" pitchFamily="18" charset="-122"/>
                <a:cs typeface="Noto Serif SC"/>
              </a:rPr>
              <a:t>http.server</a:t>
            </a:r>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核心类包括</a:t>
            </a:r>
          </a:p>
          <a:p>
            <a:r>
              <a:rPr lang="en-US" altLang="zh-CN" sz="1400" dirty="0" err="1">
                <a:latin typeface="思源宋体" panose="02020400000000000000" pitchFamily="18" charset="-122"/>
                <a:ea typeface="思源宋体" panose="02020400000000000000" pitchFamily="18" charset="-122"/>
                <a:cs typeface="Noto Serif SC"/>
              </a:rPr>
              <a:t>BaseHTTPRequestHandler</a:t>
            </a:r>
            <a:r>
              <a:rPr lang="zh-CN" altLang="en-US" sz="1400" dirty="0">
                <a:latin typeface="思源宋体" panose="02020400000000000000" pitchFamily="18" charset="-122"/>
                <a:ea typeface="思源宋体" panose="02020400000000000000" pitchFamily="18" charset="-122"/>
                <a:cs typeface="Noto Serif SC"/>
              </a:rPr>
              <a:t>和</a:t>
            </a:r>
            <a:r>
              <a:rPr lang="en-US" altLang="zh-CN" sz="1400" dirty="0" err="1">
                <a:latin typeface="思源宋体" panose="02020400000000000000" pitchFamily="18" charset="-122"/>
                <a:ea typeface="思源宋体" panose="02020400000000000000" pitchFamily="18" charset="-122"/>
                <a:cs typeface="Noto Serif SC"/>
              </a:rPr>
              <a:t>ThreadingHTTPServer</a:t>
            </a:r>
            <a:endParaRPr lang="en-US" altLang="zh-CN" sz="1400" dirty="0">
              <a:latin typeface="思源宋体" panose="02020400000000000000" pitchFamily="18" charset="-122"/>
              <a:ea typeface="思源宋体" panose="02020400000000000000" pitchFamily="18" charset="-122"/>
              <a:cs typeface="Noto Serif SC"/>
            </a:endParaRPr>
          </a:p>
          <a:p>
            <a:endParaRPr lang="zh-CN" altLang="en-US"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在</a:t>
            </a:r>
            <a:r>
              <a:rPr lang="en-US" altLang="zh-CN" sz="1400" dirty="0">
                <a:latin typeface="思源宋体" panose="02020400000000000000" pitchFamily="18" charset="-122"/>
                <a:ea typeface="思源宋体" panose="02020400000000000000" pitchFamily="18" charset="-122"/>
                <a:cs typeface="Noto Serif SC"/>
              </a:rPr>
              <a:t>main.py </a:t>
            </a:r>
            <a:r>
              <a:rPr lang="zh-CN" altLang="en-US" sz="1400" dirty="0">
                <a:latin typeface="思源宋体" panose="02020400000000000000" pitchFamily="18" charset="-122"/>
                <a:ea typeface="思源宋体" panose="02020400000000000000" pitchFamily="18" charset="-122"/>
                <a:cs typeface="Noto Serif SC"/>
              </a:rPr>
              <a:t>中通过“</a:t>
            </a:r>
            <a:r>
              <a:rPr lang="en-US" altLang="zh-CN" sz="1400" dirty="0">
                <a:latin typeface="思源宋体" panose="02020400000000000000" pitchFamily="18" charset="-122"/>
                <a:ea typeface="思源宋体" panose="02020400000000000000" pitchFamily="18" charset="-122"/>
                <a:cs typeface="Noto Serif SC"/>
              </a:rPr>
              <a:t>HTTP </a:t>
            </a:r>
            <a:r>
              <a:rPr lang="zh-CN" altLang="en-US" sz="1400" dirty="0">
                <a:latin typeface="思源宋体" panose="02020400000000000000" pitchFamily="18" charset="-122"/>
                <a:ea typeface="思源宋体" panose="02020400000000000000" pitchFamily="18" charset="-122"/>
                <a:cs typeface="Noto Serif SC"/>
              </a:rPr>
              <a:t>方法 + 路径正则”的路由表实现接口分发</a:t>
            </a:r>
          </a:p>
          <a:p>
            <a:r>
              <a:rPr lang="zh-CN" altLang="en-US" sz="1400" dirty="0">
                <a:latin typeface="思源宋体" panose="02020400000000000000" pitchFamily="18" charset="-122"/>
                <a:ea typeface="思源宋体" panose="02020400000000000000" pitchFamily="18" charset="-122"/>
                <a:cs typeface="Noto Serif SC"/>
              </a:rPr>
              <a:t>- 这样做的原因是项目规模适中，使用标准库可以直接控制请求处理流程</a:t>
            </a:r>
          </a:p>
          <a:p>
            <a:r>
              <a:rPr lang="zh-CN" altLang="en-US" sz="1400" dirty="0">
                <a:latin typeface="思源宋体" panose="02020400000000000000" pitchFamily="18" charset="-122"/>
                <a:ea typeface="思源宋体" panose="02020400000000000000" pitchFamily="18" charset="-122"/>
                <a:cs typeface="Noto Serif SC"/>
              </a:rPr>
              <a:t>- 好处是结构清晰、依赖少、路由和请求分发过程更容易讲清楚</a:t>
            </a:r>
          </a:p>
          <a:p>
            <a:r>
              <a:rPr lang="zh-CN" altLang="en-US" sz="1400" dirty="0">
                <a:latin typeface="思源宋体" panose="02020400000000000000" pitchFamily="18" charset="-122"/>
                <a:ea typeface="思源宋体" panose="02020400000000000000" pitchFamily="18" charset="-122"/>
                <a:cs typeface="Noto Serif SC"/>
              </a:rPr>
              <a:t>- 特点是路由层负责参数读取和入口校验，具体业务逻辑继续下沉到各个 </a:t>
            </a:r>
            <a:r>
              <a:rPr lang="en-US" altLang="zh-CN" sz="1400" dirty="0">
                <a:latin typeface="思源宋体" panose="02020400000000000000" pitchFamily="18" charset="-122"/>
                <a:ea typeface="思源宋体" panose="02020400000000000000" pitchFamily="18" charset="-122"/>
                <a:cs typeface="Noto Serif SC"/>
              </a:rPr>
              <a:t>service</a:t>
            </a:r>
          </a:p>
        </p:txBody>
      </p:sp>
      <p:sp>
        <p:nvSpPr>
          <p:cNvPr id="55" name="文本框 54"/>
          <p:cNvSpPr txBox="1"/>
          <p:nvPr>
            <p:custDataLst>
              <p:tags r:id="rId20"/>
            </p:custDataLst>
          </p:nvPr>
        </p:nvSpPr>
        <p:spPr>
          <a:xfrm>
            <a:off x="4381500" y="2403475"/>
            <a:ext cx="3417570" cy="323977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密码处理使用了 </a:t>
            </a:r>
            <a:r>
              <a:rPr lang="en-US" altLang="zh-CN" sz="1400" dirty="0">
                <a:latin typeface="思源宋体" panose="02020400000000000000" pitchFamily="18" charset="-122"/>
                <a:ea typeface="思源宋体" panose="02020400000000000000" pitchFamily="18" charset="-122"/>
                <a:cs typeface="Noto Serif SC"/>
              </a:rPr>
              <a:t>hashlib、hmac、base64、os</a:t>
            </a:r>
          </a:p>
          <a:p>
            <a:r>
              <a:rPr lang="zh-CN" altLang="en-US" sz="1400" dirty="0">
                <a:latin typeface="思源宋体" panose="02020400000000000000" pitchFamily="18" charset="-122"/>
                <a:ea typeface="思源宋体" panose="02020400000000000000" pitchFamily="18" charset="-122"/>
                <a:cs typeface="Noto Serif SC"/>
              </a:rPr>
              <a:t>密码哈希算法采用 </a:t>
            </a:r>
            <a:r>
              <a:rPr lang="en-US" altLang="zh-CN" sz="1400" dirty="0">
                <a:latin typeface="思源宋体" panose="02020400000000000000" pitchFamily="18" charset="-122"/>
                <a:ea typeface="思源宋体" panose="02020400000000000000" pitchFamily="18" charset="-122"/>
                <a:cs typeface="Noto Serif SC"/>
              </a:rPr>
              <a:t>hashlib.pbkdf2_hmac("sha256", ...)</a:t>
            </a:r>
          </a:p>
          <a:p>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登录成功后返回签名令牌，令牌生成与校验基于 </a:t>
            </a:r>
            <a:r>
              <a:rPr lang="en-US" altLang="zh-CN" sz="1400" dirty="0">
                <a:latin typeface="思源宋体" panose="02020400000000000000" pitchFamily="18" charset="-122"/>
                <a:ea typeface="思源宋体" panose="02020400000000000000" pitchFamily="18" charset="-122"/>
                <a:cs typeface="Noto Serif SC"/>
              </a:rPr>
              <a:t>HMAC + SHA256</a:t>
            </a:r>
          </a:p>
          <a:p>
            <a:r>
              <a:rPr lang="zh-CN" altLang="en-US" sz="1400" dirty="0">
                <a:latin typeface="思源宋体" panose="02020400000000000000" pitchFamily="18" charset="-122"/>
                <a:ea typeface="思源宋体" panose="02020400000000000000" pitchFamily="18" charset="-122"/>
                <a:cs typeface="Noto Serif SC"/>
              </a:rPr>
              <a:t>- 这样做的原因是认证模块需要具备基本的安全性和可控性</a:t>
            </a:r>
          </a:p>
          <a:p>
            <a:r>
              <a:rPr lang="zh-CN" altLang="en-US" sz="1400" dirty="0">
                <a:latin typeface="思源宋体" panose="02020400000000000000" pitchFamily="18" charset="-122"/>
                <a:ea typeface="思源宋体" panose="02020400000000000000" pitchFamily="18" charset="-122"/>
                <a:cs typeface="Noto Serif SC"/>
              </a:rPr>
              <a:t>- 好处是密码不会明文存储，登录态也可以由后端独立完成校验</a:t>
            </a:r>
          </a:p>
          <a:p>
            <a:r>
              <a:rPr lang="zh-CN" altLang="en-US" sz="1400" dirty="0">
                <a:latin typeface="思源宋体" panose="02020400000000000000" pitchFamily="18" charset="-122"/>
                <a:ea typeface="思源宋体" panose="02020400000000000000" pitchFamily="18" charset="-122"/>
                <a:cs typeface="Noto Serif SC"/>
              </a:rPr>
              <a:t>- 特点是令牌中直接包含 </a:t>
            </a:r>
            <a:r>
              <a:rPr lang="en-US" altLang="zh-CN" sz="1400" dirty="0" err="1">
                <a:latin typeface="思源宋体" panose="02020400000000000000" pitchFamily="18" charset="-122"/>
                <a:ea typeface="思源宋体" panose="02020400000000000000" pitchFamily="18" charset="-122"/>
                <a:cs typeface="Noto Serif SC"/>
              </a:rPr>
              <a:t>user_id</a:t>
            </a:r>
            <a:r>
              <a:rPr lang="zh-CN" altLang="en-US" sz="1400" dirty="0">
                <a:latin typeface="思源宋体" panose="02020400000000000000" pitchFamily="18" charset="-122"/>
                <a:ea typeface="思源宋体" panose="02020400000000000000" pitchFamily="18" charset="-122"/>
                <a:cs typeface="Noto Serif SC"/>
              </a:rPr>
              <a:t>和 </a:t>
            </a:r>
            <a:r>
              <a:rPr lang="en-US" altLang="zh-CN" sz="1400" dirty="0">
                <a:latin typeface="思源宋体" panose="02020400000000000000" pitchFamily="18" charset="-122"/>
                <a:ea typeface="思源宋体" panose="02020400000000000000" pitchFamily="18" charset="-122"/>
                <a:cs typeface="Noto Serif SC"/>
              </a:rPr>
              <a:t>role，</a:t>
            </a:r>
            <a:r>
              <a:rPr lang="zh-CN" altLang="en-US" sz="1400" dirty="0">
                <a:latin typeface="思源宋体" panose="02020400000000000000" pitchFamily="18" charset="-122"/>
                <a:ea typeface="思源宋体" panose="02020400000000000000" pitchFamily="18" charset="-122"/>
                <a:cs typeface="Noto Serif SC"/>
              </a:rPr>
              <a:t>便于后端进行身份识别和权限判断</a:t>
            </a:r>
          </a:p>
        </p:txBody>
      </p:sp>
      <p:sp>
        <p:nvSpPr>
          <p:cNvPr id="56" name="文本框 55"/>
          <p:cNvSpPr txBox="1"/>
          <p:nvPr>
            <p:custDataLst>
              <p:tags r:id="rId21"/>
            </p:custDataLst>
          </p:nvPr>
        </p:nvSpPr>
        <p:spPr>
          <a:xfrm>
            <a:off x="8009890" y="2403475"/>
            <a:ext cx="3419475" cy="3244850"/>
          </a:xfrm>
          <a:prstGeom prst="rect">
            <a:avLst/>
          </a:prstGeom>
          <a:noFill/>
        </p:spPr>
        <p:txBody>
          <a:bodyPr wrap="square" rtlCol="0">
            <a:noAutofit/>
          </a:bodyPr>
          <a:lstStyle/>
          <a:p>
            <a:r>
              <a:rPr lang="zh-CN" altLang="en-US" sz="1400" dirty="0">
                <a:latin typeface="思源宋体" panose="02020400000000000000" pitchFamily="18" charset="-122"/>
                <a:ea typeface="思源宋体" panose="02020400000000000000" pitchFamily="18" charset="-122"/>
                <a:cs typeface="Noto Serif SC"/>
              </a:rPr>
              <a:t>评论和窗口统计数据使用 </a:t>
            </a:r>
            <a:r>
              <a:rPr lang="en-US" altLang="zh-CN" sz="1400" dirty="0">
                <a:latin typeface="思源宋体" panose="02020400000000000000" pitchFamily="18" charset="-122"/>
                <a:ea typeface="思源宋体" panose="02020400000000000000" pitchFamily="18" charset="-122"/>
                <a:cs typeface="Noto Serif SC"/>
              </a:rPr>
              <a:t>sqlite3</a:t>
            </a:r>
            <a:r>
              <a:rPr lang="zh-CN" altLang="en-US" sz="1400" dirty="0">
                <a:latin typeface="思源宋体" panose="02020400000000000000" pitchFamily="18" charset="-122"/>
                <a:ea typeface="思源宋体" panose="02020400000000000000" pitchFamily="18" charset="-122"/>
                <a:cs typeface="Noto Serif SC"/>
              </a:rPr>
              <a:t>持久化</a:t>
            </a:r>
          </a:p>
          <a:p>
            <a:endParaRPr lang="zh-CN" altLang="en-US" sz="1400" dirty="0">
              <a:latin typeface="思源宋体" panose="02020400000000000000" pitchFamily="18" charset="-122"/>
              <a:ea typeface="思源宋体" panose="02020400000000000000" pitchFamily="18" charset="-122"/>
              <a:cs typeface="Noto Serif SC"/>
            </a:endParaRPr>
          </a:p>
          <a:p>
            <a:r>
              <a:rPr lang="en-US" altLang="zh-CN" sz="1400" dirty="0">
                <a:latin typeface="思源宋体" panose="02020400000000000000" pitchFamily="18" charset="-122"/>
                <a:ea typeface="思源宋体" panose="02020400000000000000" pitchFamily="18" charset="-122"/>
                <a:cs typeface="Noto Serif SC"/>
              </a:rPr>
              <a:t>review</a:t>
            </a:r>
            <a:r>
              <a:rPr lang="zh-CN" altLang="en-US" sz="1400" dirty="0">
                <a:latin typeface="思源宋体" panose="02020400000000000000" pitchFamily="18" charset="-122"/>
                <a:ea typeface="思源宋体" panose="02020400000000000000" pitchFamily="18" charset="-122"/>
                <a:cs typeface="Noto Serif SC"/>
              </a:rPr>
              <a:t>表通过</a:t>
            </a:r>
            <a:r>
              <a:rPr lang="en-US" altLang="zh-CN" sz="1400" dirty="0">
                <a:latin typeface="思源宋体" panose="02020400000000000000" pitchFamily="18" charset="-122"/>
                <a:ea typeface="思源宋体" panose="02020400000000000000" pitchFamily="18" charset="-122"/>
                <a:cs typeface="Noto Serif SC"/>
              </a:rPr>
              <a:t>UNIQUE(</a:t>
            </a:r>
            <a:r>
              <a:rPr lang="en-US" altLang="zh-CN" sz="1400" dirty="0" err="1">
                <a:latin typeface="思源宋体" panose="02020400000000000000" pitchFamily="18" charset="-122"/>
                <a:ea typeface="思源宋体" panose="02020400000000000000" pitchFamily="18" charset="-122"/>
                <a:cs typeface="Noto Serif SC"/>
              </a:rPr>
              <a:t>user_id,stall_id</a:t>
            </a:r>
            <a:r>
              <a:rPr lang="en-US" altLang="zh-CN" sz="1400" dirty="0">
                <a:latin typeface="思源宋体" panose="02020400000000000000" pitchFamily="18" charset="-122"/>
                <a:ea typeface="思源宋体" panose="02020400000000000000" pitchFamily="18" charset="-122"/>
                <a:cs typeface="Noto Serif SC"/>
              </a:rPr>
              <a:t>)</a:t>
            </a:r>
            <a:r>
              <a:rPr lang="zh-CN" altLang="en-US" sz="1400" dirty="0">
                <a:latin typeface="思源宋体" panose="02020400000000000000" pitchFamily="18" charset="-122"/>
                <a:ea typeface="思源宋体" panose="02020400000000000000" pitchFamily="18" charset="-122"/>
                <a:cs typeface="Noto Serif SC"/>
              </a:rPr>
              <a:t>约束保证同一用户同一窗口只有一条有效评论</a:t>
            </a:r>
          </a:p>
          <a:p>
            <a:r>
              <a:rPr lang="zh-CN" altLang="en-US" sz="1400" dirty="0">
                <a:latin typeface="思源宋体" panose="02020400000000000000" pitchFamily="18" charset="-122"/>
                <a:ea typeface="思源宋体" panose="02020400000000000000" pitchFamily="18" charset="-122"/>
                <a:cs typeface="Noto Serif SC"/>
              </a:rPr>
              <a:t>评论删除采用软删除即写入</a:t>
            </a:r>
            <a:r>
              <a:rPr lang="en-US" altLang="zh-CN" sz="1400" dirty="0" err="1">
                <a:latin typeface="思源宋体" panose="02020400000000000000" pitchFamily="18" charset="-122"/>
                <a:ea typeface="思源宋体" panose="02020400000000000000" pitchFamily="18" charset="-122"/>
                <a:cs typeface="Noto Serif SC"/>
              </a:rPr>
              <a:t>is_deleted</a:t>
            </a:r>
            <a:r>
              <a:rPr lang="en-US" altLang="zh-CN" sz="1400" dirty="0">
                <a:latin typeface="思源宋体" panose="02020400000000000000" pitchFamily="18" charset="-122"/>
                <a:ea typeface="思源宋体" panose="02020400000000000000" pitchFamily="18" charset="-122"/>
                <a:cs typeface="Noto Serif SC"/>
              </a:rPr>
              <a:t>=1</a:t>
            </a:r>
          </a:p>
          <a:p>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在 </a:t>
            </a:r>
            <a:r>
              <a:rPr lang="en-US" altLang="zh-CN" sz="1400" dirty="0">
                <a:latin typeface="思源宋体" panose="02020400000000000000" pitchFamily="18" charset="-122"/>
                <a:ea typeface="思源宋体" panose="02020400000000000000" pitchFamily="18" charset="-122"/>
                <a:cs typeface="Noto Serif SC"/>
              </a:rPr>
              <a:t>review_service.py </a:t>
            </a:r>
            <a:r>
              <a:rPr lang="zh-CN" altLang="en-US" sz="1400" dirty="0">
                <a:latin typeface="思源宋体" panose="02020400000000000000" pitchFamily="18" charset="-122"/>
                <a:ea typeface="思源宋体" panose="02020400000000000000" pitchFamily="18" charset="-122"/>
                <a:cs typeface="Noto Serif SC"/>
              </a:rPr>
              <a:t>中，评论新增、更新、删除后都会触发统计重算，自动更新 </a:t>
            </a:r>
            <a:r>
              <a:rPr lang="en-US" altLang="zh-CN" sz="1400" dirty="0" err="1">
                <a:latin typeface="思源宋体" panose="02020400000000000000" pitchFamily="18" charset="-122"/>
                <a:ea typeface="思源宋体" panose="02020400000000000000" pitchFamily="18" charset="-122"/>
                <a:cs typeface="Noto Serif SC"/>
              </a:rPr>
              <a:t>stall.avg_rating</a:t>
            </a:r>
            <a:r>
              <a:rPr lang="zh-CN" altLang="en-US" sz="1400" dirty="0">
                <a:latin typeface="思源宋体" panose="02020400000000000000" pitchFamily="18" charset="-122"/>
                <a:ea typeface="思源宋体" panose="02020400000000000000" pitchFamily="18" charset="-122"/>
                <a:cs typeface="Noto Serif SC"/>
              </a:rPr>
              <a:t>和 </a:t>
            </a:r>
            <a:r>
              <a:rPr lang="en-US" altLang="zh-CN" sz="1400" dirty="0" err="1">
                <a:latin typeface="思源宋体" panose="02020400000000000000" pitchFamily="18" charset="-122"/>
                <a:ea typeface="思源宋体" panose="02020400000000000000" pitchFamily="18" charset="-122"/>
                <a:cs typeface="Noto Serif SC"/>
              </a:rPr>
              <a:t>stall.review_count</a:t>
            </a:r>
            <a:endParaRPr lang="en-US" altLang="zh-CN" sz="1400" dirty="0">
              <a:latin typeface="思源宋体" panose="02020400000000000000" pitchFamily="18" charset="-122"/>
              <a:ea typeface="思源宋体" panose="02020400000000000000" pitchFamily="18" charset="-122"/>
              <a:cs typeface="Noto Serif SC"/>
            </a:endParaRPr>
          </a:p>
          <a:p>
            <a:r>
              <a:rPr lang="zh-CN" altLang="en-US" sz="1400" dirty="0">
                <a:latin typeface="思源宋体" panose="02020400000000000000" pitchFamily="18" charset="-122"/>
                <a:ea typeface="思源宋体" panose="02020400000000000000" pitchFamily="18" charset="-122"/>
                <a:cs typeface="Noto Serif SC"/>
              </a:rPr>
              <a:t>- 这样做的原因是评论不仅是用户内容，也是评分和排行的重要数据来源</a:t>
            </a:r>
          </a:p>
          <a:p>
            <a:r>
              <a:rPr lang="zh-CN" altLang="en-US" sz="1400" dirty="0">
                <a:latin typeface="思源宋体" panose="02020400000000000000" pitchFamily="18" charset="-122"/>
                <a:ea typeface="思源宋体" panose="02020400000000000000" pitchFamily="18" charset="-122"/>
                <a:cs typeface="Noto Serif SC"/>
              </a:rPr>
              <a:t>- 好处是可以保证详情页、列表页和排行榜中的统计数据始终一致</a:t>
            </a:r>
          </a:p>
          <a:p>
            <a:r>
              <a:rPr lang="zh-CN" altLang="en-US" sz="1400" dirty="0">
                <a:latin typeface="思源宋体" panose="02020400000000000000" pitchFamily="18" charset="-122"/>
                <a:ea typeface="思源宋体" panose="02020400000000000000" pitchFamily="18" charset="-122"/>
                <a:cs typeface="Noto Serif SC"/>
              </a:rPr>
              <a:t>- 特点是业务规则和数据库约束共同工作，一起保证数据一致性</a:t>
            </a:r>
          </a:p>
        </p:txBody>
      </p:sp>
    </p:spTree>
    <p:extLst>
      <p:ext uri="{BB962C8B-B14F-4D97-AF65-F5344CB8AC3E}">
        <p14:creationId xmlns:p14="http://schemas.microsoft.com/office/powerpoint/2010/main" val="331672214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3175" y="0"/>
            <a:ext cx="12192000" cy="6858000"/>
          </a:xfrm>
          <a:prstGeom prst="rect">
            <a:avLst/>
          </a:prstGeom>
          <a:solidFill>
            <a:srgbClr val="FFFFFF"/>
          </a:solidFill>
          <a:ln>
            <a:noFill/>
          </a:ln>
        </p:spPr>
      </p:sp>
      <p:sp>
        <p:nvSpPr>
          <p:cNvPr id="3" name="Rectangle 3"/>
          <p:cNvSpPr/>
          <p:nvPr/>
        </p:nvSpPr>
        <p:spPr>
          <a:xfrm>
            <a:off x="3175" y="0"/>
            <a:ext cx="12192000" cy="857250"/>
          </a:xfrm>
          <a:prstGeom prst="rect">
            <a:avLst/>
          </a:prstGeom>
          <a:solidFill>
            <a:srgbClr val="004E97">
              <a:alpha val="6000"/>
            </a:srgbClr>
          </a:solidFill>
          <a:ln>
            <a:noFill/>
          </a:ln>
        </p:spPr>
      </p:sp>
      <p:sp>
        <p:nvSpPr>
          <p:cNvPr id="4" name="TextBox 4"/>
          <p:cNvSpPr txBox="1"/>
          <p:nvPr/>
        </p:nvSpPr>
        <p:spPr>
          <a:xfrm>
            <a:off x="917575" y="292100"/>
            <a:ext cx="4180632"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后端开发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A：</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评论处理图</a:t>
            </a:r>
          </a:p>
        </p:txBody>
      </p:sp>
      <p:sp>
        <p:nvSpPr>
          <p:cNvPr id="5" name="Line 5"/>
          <p:cNvSpPr/>
          <p:nvPr/>
        </p:nvSpPr>
        <p:spPr>
          <a:xfrm>
            <a:off x="955675"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52" name="Line 52"/>
          <p:cNvSpPr/>
          <p:nvPr/>
        </p:nvSpPr>
        <p:spPr>
          <a:xfrm>
            <a:off x="765175" y="649732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765175" y="1899285"/>
            <a:ext cx="3882390" cy="2799715"/>
          </a:xfrm>
          <a:prstGeom prst="rect">
            <a:avLst/>
          </a:prstGeom>
          <a:noFill/>
        </p:spPr>
        <p:txBody>
          <a:bodyPr wrap="square" rtlCol="0">
            <a:spAutoFit/>
          </a:bodyPr>
          <a:lstStyle/>
          <a:p>
            <a:r>
              <a:rPr lang="zh-CN" altLang="en-US" sz="1600" dirty="0">
                <a:latin typeface="思源宋体" panose="02020400000000000000" pitchFamily="18" charset="-122"/>
                <a:ea typeface="思源宋体" panose="02020400000000000000" pitchFamily="18" charset="-122"/>
                <a:cs typeface="Noto Serif SC"/>
              </a:rPr>
              <a:t>评论链路展示</a:t>
            </a:r>
          </a:p>
          <a:p>
            <a:r>
              <a:rPr lang="zh-CN" altLang="en-US" sz="1600" dirty="0">
                <a:latin typeface="思源宋体" panose="02020400000000000000" pitchFamily="18" charset="-122"/>
                <a:ea typeface="思源宋体" panose="02020400000000000000" pitchFamily="18" charset="-122"/>
                <a:cs typeface="Noto Serif SC"/>
              </a:rPr>
              <a:t>用户提交评论后，请求先经过前端接口封装，再进入后端路由层</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路由层调用评论 </a:t>
            </a:r>
            <a:r>
              <a:rPr lang="en-US" altLang="zh-CN" sz="1600" dirty="0">
                <a:latin typeface="思源宋体" panose="02020400000000000000" pitchFamily="18" charset="-122"/>
                <a:ea typeface="思源宋体" panose="02020400000000000000" pitchFamily="18" charset="-122"/>
                <a:cs typeface="Noto Serif SC"/>
              </a:rPr>
              <a:t>service </a:t>
            </a:r>
            <a:r>
              <a:rPr lang="zh-CN" altLang="en-US" sz="1600" dirty="0">
                <a:latin typeface="思源宋体" panose="02020400000000000000" pitchFamily="18" charset="-122"/>
                <a:ea typeface="思源宋体" panose="02020400000000000000" pitchFamily="18" charset="-122"/>
                <a:cs typeface="Noto Serif SC"/>
              </a:rPr>
              <a:t>完成创建或更新</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评论变更后自动触发窗口评分与评论数重算</a:t>
            </a:r>
          </a:p>
          <a:p>
            <a:endParaRPr lang="zh-CN" altLang="en-US" sz="1600" dirty="0">
              <a:latin typeface="思源宋体" panose="02020400000000000000" pitchFamily="18" charset="-122"/>
              <a:ea typeface="思源宋体" panose="02020400000000000000" pitchFamily="18" charset="-122"/>
              <a:cs typeface="Noto Serif SC"/>
            </a:endParaRPr>
          </a:p>
          <a:p>
            <a:r>
              <a:rPr lang="zh-CN" altLang="en-US" sz="1600" dirty="0">
                <a:latin typeface="思源宋体" panose="02020400000000000000" pitchFamily="18" charset="-122"/>
                <a:ea typeface="思源宋体" panose="02020400000000000000" pitchFamily="18" charset="-122"/>
                <a:cs typeface="Noto Serif SC"/>
              </a:rPr>
              <a:t>最终保证详情页、列表页和排行榜看到的是统一结果</a:t>
            </a:r>
          </a:p>
        </p:txBody>
      </p:sp>
      <p:pic>
        <p:nvPicPr>
          <p:cNvPr id="7" name="图片 6"/>
          <p:cNvPicPr>
            <a:picLocks noChangeAspect="1"/>
          </p:cNvPicPr>
          <p:nvPr/>
        </p:nvPicPr>
        <p:blipFill>
          <a:blip r:embed="rId3"/>
          <a:stretch>
            <a:fillRect/>
          </a:stretch>
        </p:blipFill>
        <p:spPr>
          <a:xfrm>
            <a:off x="4556191" y="1533525"/>
            <a:ext cx="7453374" cy="4192654"/>
          </a:xfrm>
          <a:prstGeom prst="rect">
            <a:avLst/>
          </a:prstGeom>
        </p:spPr>
      </p:pic>
    </p:spTree>
    <p:extLst>
      <p:ext uri="{BB962C8B-B14F-4D97-AF65-F5344CB8AC3E}">
        <p14:creationId xmlns:p14="http://schemas.microsoft.com/office/powerpoint/2010/main" val="24871713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a42c452a7a761ea425e41e46689fcbe">
            <a:hlinkClick r:id="" action="ppaction://media"/>
            <a:extLst>
              <a:ext uri="{FF2B5EF4-FFF2-40B4-BE49-F238E27FC236}">
                <a16:creationId xmlns:a16="http://schemas.microsoft.com/office/drawing/2014/main" id="{DB4324CB-81A0-5259-40EA-AA413D701FC4}"/>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5585" b="5458"/>
          <a:stretch>
            <a:fillRect/>
          </a:stretch>
        </p:blipFill>
        <p:spPr>
          <a:xfrm>
            <a:off x="-1" y="-1"/>
            <a:ext cx="12227751" cy="6798365"/>
          </a:xfrm>
          <a:prstGeom prst="rect">
            <a:avLst/>
          </a:prstGeom>
        </p:spPr>
      </p:pic>
    </p:spTree>
    <p:extLst>
      <p:ext uri="{BB962C8B-B14F-4D97-AF65-F5344CB8AC3E}">
        <p14:creationId xmlns:p14="http://schemas.microsoft.com/office/powerpoint/2010/main" val="3346991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325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dirty="0">
              <a:latin typeface="Noto Serif SC"/>
              <a:ea typeface="Noto Serif SC"/>
              <a:cs typeface="Noto Serif SC"/>
            </a:endParaRPr>
          </a:p>
        </p:txBody>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4789773" cy="461665"/>
          </a:xfrm>
          <a:prstGeom prst="rect">
            <a:avLst/>
          </a:prstGeom>
          <a:noFill/>
          <a:ln>
            <a:noFill/>
          </a:ln>
        </p:spPr>
        <p:txBody>
          <a:bodyPr wrap="none" lIns="0" tIns="0" rIns="0" bIns="0" anchor="t" anchorCtr="0">
            <a:spAutoFit/>
          </a:bodyPr>
          <a:lstStyle/>
          <a:p>
            <a:pPr algn="l"/>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软件测试 </a:t>
            </a:r>
            <a:r>
              <a:rPr lang="en-US" altLang="zh-CN" sz="3000" b="1" dirty="0">
                <a:solidFill>
                  <a:srgbClr val="004E97"/>
                </a:solidFill>
                <a:latin typeface="思源黑体 CN" panose="020B0500000000000000" pitchFamily="34" charset="-122"/>
                <a:ea typeface="思源黑体 CN" panose="020B0500000000000000" pitchFamily="34" charset="-122"/>
                <a:cs typeface="Noto Sans SC"/>
              </a:rPr>
              <a:t>· </a:t>
            </a:r>
            <a:r>
              <a:rPr lang="zh-CN" altLang="en-US" sz="3000" b="1" dirty="0">
                <a:solidFill>
                  <a:srgbClr val="004E97"/>
                </a:solidFill>
                <a:latin typeface="思源黑体 CN" panose="020B0500000000000000" pitchFamily="34" charset="-122"/>
                <a:ea typeface="思源黑体 CN" panose="020B0500000000000000" pitchFamily="34" charset="-122"/>
                <a:cs typeface="Noto Sans SC"/>
              </a:rPr>
              <a:t>策略与用例设计</a:t>
            </a:r>
            <a:endParaRPr lang="zh-CN" sz="30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5" name="Line 5"/>
          <p:cNvSpPr/>
          <p:nvPr/>
        </p:nvSpPr>
        <p:spPr>
          <a:xfrm>
            <a:off x="952500" y="762000"/>
            <a:ext cx="4286250" cy="9525"/>
          </a:xfrm>
          <a:custGeom>
            <a:avLst/>
            <a:gdLst/>
            <a:ahLst/>
            <a:cxnLst/>
            <a:rect l="l" t="t" r="r" b="b"/>
            <a:pathLst>
              <a:path w="4286250" h="9525">
                <a:moveTo>
                  <a:pt x="0" y="0"/>
                </a:moveTo>
                <a:lnTo>
                  <a:pt x="4286250" y="0"/>
                </a:lnTo>
              </a:path>
            </a:pathLst>
          </a:custGeom>
          <a:noFill/>
          <a:ln w="19050">
            <a:solidFill>
              <a:srgbClr val="E6C46D"/>
            </a:solidFill>
          </a:ln>
        </p:spPr>
      </p:sp>
      <p:sp>
        <p:nvSpPr>
          <p:cNvPr id="17" name="Line 17"/>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78" name="文本框 77"/>
          <p:cNvSpPr txBox="1"/>
          <p:nvPr/>
        </p:nvSpPr>
        <p:spPr>
          <a:xfrm>
            <a:off x="952500" y="1206500"/>
            <a:ext cx="5080000" cy="323165"/>
          </a:xfrm>
          <a:prstGeom prst="rect">
            <a:avLst/>
          </a:prstGeom>
          <a:noFill/>
        </p:spPr>
        <p:txBody>
          <a:bodyPr vertOverflow="overflow" vert="horz" wrap="square" rtlCol="0" anchor="t">
            <a:spAutoFit/>
          </a:bodyPr>
          <a:lstStyle/>
          <a:p>
            <a:pPr algn="l"/>
            <a:r>
              <a:rPr lang="zh-CN" altLang="en-US" sz="1500" b="1">
                <a:solidFill>
                  <a:srgbClr val="004E97"/>
                </a:solidFill>
                <a:latin typeface="思源黑体 CN" panose="020B0500000000000000" pitchFamily="34" charset="-122"/>
                <a:ea typeface="思源黑体 CN" panose="020B0500000000000000" pitchFamily="34" charset="-122"/>
                <a:cs typeface="Noto Sans SC"/>
              </a:rPr>
              <a:t>测试层次结构</a:t>
            </a:r>
          </a:p>
        </p:txBody>
      </p:sp>
      <p:sp>
        <p:nvSpPr>
          <p:cNvPr id="79" name="矩形 78"/>
          <p:cNvSpPr/>
          <p:nvPr/>
        </p:nvSpPr>
        <p:spPr>
          <a:xfrm>
            <a:off x="2095500" y="1625600"/>
            <a:ext cx="2540000" cy="584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系统测试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API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黑盒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0" name="矩形 79"/>
          <p:cNvSpPr/>
          <p:nvPr/>
        </p:nvSpPr>
        <p:spPr>
          <a:xfrm>
            <a:off x="1714500" y="2260600"/>
            <a:ext cx="3302000" cy="5842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集成测试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业务流程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(15</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1" name="矩形 80"/>
          <p:cNvSpPr/>
          <p:nvPr/>
        </p:nvSpPr>
        <p:spPr>
          <a:xfrm>
            <a:off x="1333500" y="2895600"/>
            <a:ext cx="4064000" cy="584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单元测试</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服务层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黑盒</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等价类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(19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2" name="矩形 81"/>
          <p:cNvSpPr/>
          <p:nvPr/>
        </p:nvSpPr>
        <p:spPr>
          <a:xfrm>
            <a:off x="952500" y="3530600"/>
            <a:ext cx="4826000" cy="584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300" b="1">
                <a:solidFill>
                  <a:srgbClr val="FFFFFF"/>
                </a:solidFill>
                <a:latin typeface="思源黑体 CN" panose="020B0500000000000000" pitchFamily="34" charset="-122"/>
                <a:ea typeface="思源黑体 CN" panose="020B0500000000000000" pitchFamily="34" charset="-122"/>
                <a:cs typeface="Noto Sans SC"/>
              </a:rPr>
              <a:t>单元测试</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工具层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  </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白盒测试   </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(9</a:t>
            </a:r>
            <a:r>
              <a:rPr lang="zh-CN" altLang="en-US" sz="1300" b="1">
                <a:solidFill>
                  <a:srgbClr val="FFFFFF"/>
                </a:solidFill>
                <a:latin typeface="思源黑体 CN" panose="020B0500000000000000" pitchFamily="34" charset="-122"/>
                <a:ea typeface="思源黑体 CN" panose="020B0500000000000000" pitchFamily="34" charset="-122"/>
                <a:cs typeface="Noto Sans SC"/>
              </a:rPr>
              <a:t>用例</a:t>
            </a:r>
            <a:r>
              <a:rPr lang="en-US" altLang="zh-CN" sz="1300" b="1">
                <a:solidFill>
                  <a:srgbClr val="FFFFFF"/>
                </a:solidFill>
                <a:latin typeface="思源黑体 CN" panose="020B0500000000000000" pitchFamily="34" charset="-122"/>
                <a:ea typeface="思源黑体 CN" panose="020B0500000000000000" pitchFamily="34" charset="-122"/>
                <a:cs typeface="Noto Sans SC"/>
              </a:rPr>
              <a:t>)</a:t>
            </a:r>
            <a:endParaRPr lang="zh-CN" altLang="en-US" sz="1300" b="1">
              <a:solidFill>
                <a:srgbClr val="FFFFFF"/>
              </a:solidFill>
              <a:latin typeface="思源黑体 CN" panose="020B0500000000000000" pitchFamily="34" charset="-122"/>
              <a:ea typeface="思源黑体 CN" panose="020B0500000000000000" pitchFamily="34" charset="-122"/>
              <a:cs typeface="Noto Sans SC"/>
            </a:endParaRPr>
          </a:p>
        </p:txBody>
      </p:sp>
      <p:sp>
        <p:nvSpPr>
          <p:cNvPr id="84" name="文本框 83"/>
          <p:cNvSpPr txBox="1"/>
          <p:nvPr/>
        </p:nvSpPr>
        <p:spPr>
          <a:xfrm>
            <a:off x="1778000" y="4443511"/>
            <a:ext cx="5080000" cy="307777"/>
          </a:xfrm>
          <a:prstGeom prst="rect">
            <a:avLst/>
          </a:prstGeom>
          <a:noFill/>
        </p:spPr>
        <p:txBody>
          <a:bodyPr vertOverflow="overflow" vert="horz" wrap="square" rtlCol="0" anchor="t">
            <a:spAutoFit/>
          </a:bodyPr>
          <a:lstStyle/>
          <a:p>
            <a:pPr algn="l"/>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合计 </a:t>
            </a:r>
            <a:r>
              <a:rPr lang="en-US" altLang="zh-CN" sz="1400" b="1" dirty="0">
                <a:solidFill>
                  <a:srgbClr val="004E97"/>
                </a:solidFill>
                <a:latin typeface="思源黑体 CN" panose="020B0500000000000000" pitchFamily="34" charset="-122"/>
                <a:ea typeface="思源黑体 CN" panose="020B0500000000000000" pitchFamily="34" charset="-122"/>
                <a:cs typeface="Noto Sans SC"/>
              </a:rPr>
              <a:t>62 </a:t>
            </a:r>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个用例，遵循分层递进策略</a:t>
            </a:r>
          </a:p>
        </p:txBody>
      </p:sp>
      <p:sp>
        <p:nvSpPr>
          <p:cNvPr id="85" name="矩形: 圆角 84"/>
          <p:cNvSpPr/>
          <p:nvPr/>
        </p:nvSpPr>
        <p:spPr>
          <a:xfrm>
            <a:off x="762000" y="4952999"/>
            <a:ext cx="5207000" cy="1193799"/>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87" name="文本框 86"/>
          <p:cNvSpPr txBox="1"/>
          <p:nvPr/>
        </p:nvSpPr>
        <p:spPr>
          <a:xfrm>
            <a:off x="990600" y="5054600"/>
            <a:ext cx="3810000" cy="292388"/>
          </a:xfrm>
          <a:prstGeom prst="rect">
            <a:avLst/>
          </a:prstGeom>
          <a:noFill/>
        </p:spPr>
        <p:txBody>
          <a:bodyPr vertOverflow="overflow" vert="horz" wrap="square" rtlCol="0" anchor="t">
            <a:spAutoFit/>
          </a:bodyPr>
          <a:lstStyle/>
          <a:p>
            <a:pPr algn="l"/>
            <a:r>
              <a:rPr lang="zh-CN" altLang="en-US" sz="1300" b="1">
                <a:solidFill>
                  <a:srgbClr val="004E97"/>
                </a:solidFill>
                <a:latin typeface="思源黑体 CN" panose="020B0500000000000000" pitchFamily="34" charset="-122"/>
                <a:ea typeface="思源黑体 CN" panose="020B0500000000000000" pitchFamily="34" charset="-122"/>
                <a:cs typeface="Noto Sans SC"/>
              </a:rPr>
              <a:t>测试工具与环境</a:t>
            </a:r>
          </a:p>
        </p:txBody>
      </p:sp>
      <p:sp>
        <p:nvSpPr>
          <p:cNvPr id="88" name="文本框 87"/>
          <p:cNvSpPr txBox="1"/>
          <p:nvPr/>
        </p:nvSpPr>
        <p:spPr>
          <a:xfrm>
            <a:off x="990600" y="5334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测试框架：</a:t>
            </a:r>
            <a:r>
              <a:rPr lang="en-US" altLang="zh-CN" sz="1150">
                <a:solidFill>
                  <a:srgbClr val="1F1F1F"/>
                </a:solidFill>
                <a:latin typeface="思源宋体" panose="02020400000000000000" pitchFamily="18" charset="-122"/>
                <a:ea typeface="思源宋体" panose="02020400000000000000" pitchFamily="18" charset="-122"/>
                <a:cs typeface="Noto Serif SC"/>
              </a:rPr>
              <a:t>pytest 9.0</a:t>
            </a:r>
            <a:endParaRPr lang="zh-CN" altLang="en-US" sz="1150">
              <a:solidFill>
                <a:srgbClr val="1F1F1F"/>
              </a:solidFill>
              <a:latin typeface="思源宋体" panose="02020400000000000000" pitchFamily="18" charset="-122"/>
              <a:ea typeface="思源宋体" panose="02020400000000000000" pitchFamily="18" charset="-122"/>
              <a:cs typeface="Noto Serif SC"/>
            </a:endParaRPr>
          </a:p>
        </p:txBody>
      </p:sp>
      <p:sp>
        <p:nvSpPr>
          <p:cNvPr id="89" name="文本框 88"/>
          <p:cNvSpPr txBox="1"/>
          <p:nvPr/>
        </p:nvSpPr>
        <p:spPr>
          <a:xfrm>
            <a:off x="990600" y="5588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数据库隔离：每个用例使用独立临时 </a:t>
            </a:r>
            <a:r>
              <a:rPr lang="en-US" altLang="zh-CN" sz="1150">
                <a:solidFill>
                  <a:srgbClr val="1F1F1F"/>
                </a:solidFill>
                <a:latin typeface="思源宋体" panose="02020400000000000000" pitchFamily="18" charset="-122"/>
                <a:ea typeface="思源宋体" panose="02020400000000000000" pitchFamily="18" charset="-122"/>
                <a:cs typeface="Noto Serif SC"/>
              </a:rPr>
              <a:t>SQLite</a:t>
            </a:r>
            <a:endParaRPr lang="zh-CN" altLang="en-US" sz="1150">
              <a:solidFill>
                <a:srgbClr val="1F1F1F"/>
              </a:solidFill>
              <a:latin typeface="思源宋体" panose="02020400000000000000" pitchFamily="18" charset="-122"/>
              <a:ea typeface="思源宋体" panose="02020400000000000000" pitchFamily="18" charset="-122"/>
              <a:cs typeface="Noto Serif SC"/>
            </a:endParaRPr>
          </a:p>
        </p:txBody>
      </p:sp>
      <p:sp>
        <p:nvSpPr>
          <p:cNvPr id="90" name="文本框 89"/>
          <p:cNvSpPr txBox="1"/>
          <p:nvPr/>
        </p:nvSpPr>
        <p:spPr>
          <a:xfrm>
            <a:off x="990600" y="5842000"/>
            <a:ext cx="4953000" cy="269304"/>
          </a:xfrm>
          <a:prstGeom prst="rect">
            <a:avLst/>
          </a:prstGeom>
          <a:noFill/>
        </p:spPr>
        <p:txBody>
          <a:bodyPr vertOverflow="overflow" vert="horz" wrap="square" rtlCol="0" anchor="t">
            <a:spAutoFit/>
          </a:bodyPr>
          <a:lstStyle/>
          <a:p>
            <a:pPr algn="l"/>
            <a:r>
              <a:rPr lang="en-US" altLang="zh-CN" sz="1150">
                <a:solidFill>
                  <a:srgbClr val="1F1F1F"/>
                </a:solidFill>
                <a:latin typeface="思源宋体" panose="02020400000000000000" pitchFamily="18" charset="-122"/>
                <a:ea typeface="思源宋体" panose="02020400000000000000" pitchFamily="18" charset="-122"/>
                <a:cs typeface="Noto Serif SC"/>
              </a:rPr>
              <a:t>• </a:t>
            </a:r>
            <a:r>
              <a:rPr lang="zh-CN" altLang="en-US" sz="1150">
                <a:solidFill>
                  <a:srgbClr val="1F1F1F"/>
                </a:solidFill>
                <a:latin typeface="思源宋体" panose="02020400000000000000" pitchFamily="18" charset="-122"/>
                <a:ea typeface="思源宋体" panose="02020400000000000000" pitchFamily="18" charset="-122"/>
                <a:cs typeface="Noto Serif SC"/>
              </a:rPr>
              <a:t>系统测试：启动真实 </a:t>
            </a:r>
            <a:r>
              <a:rPr lang="en-US" altLang="zh-CN" sz="1150">
                <a:solidFill>
                  <a:srgbClr val="1F1F1F"/>
                </a:solidFill>
                <a:latin typeface="思源宋体" panose="02020400000000000000" pitchFamily="18" charset="-122"/>
                <a:ea typeface="思源宋体" panose="02020400000000000000" pitchFamily="18" charset="-122"/>
                <a:cs typeface="Noto Serif SC"/>
              </a:rPr>
              <a:t>HTTP </a:t>
            </a:r>
            <a:r>
              <a:rPr lang="zh-CN" altLang="en-US" sz="1150">
                <a:solidFill>
                  <a:srgbClr val="1F1F1F"/>
                </a:solidFill>
                <a:latin typeface="思源宋体" panose="02020400000000000000" pitchFamily="18" charset="-122"/>
                <a:ea typeface="思源宋体" panose="02020400000000000000" pitchFamily="18" charset="-122"/>
                <a:cs typeface="Noto Serif SC"/>
              </a:rPr>
              <a:t>服务器模拟完整链路</a:t>
            </a:r>
          </a:p>
        </p:txBody>
      </p:sp>
      <p:sp>
        <p:nvSpPr>
          <p:cNvPr id="91" name="文本框 90"/>
          <p:cNvSpPr txBox="1"/>
          <p:nvPr/>
        </p:nvSpPr>
        <p:spPr>
          <a:xfrm>
            <a:off x="6286500" y="1206500"/>
            <a:ext cx="5080000" cy="323165"/>
          </a:xfrm>
          <a:prstGeom prst="rect">
            <a:avLst/>
          </a:prstGeom>
          <a:noFill/>
        </p:spPr>
        <p:txBody>
          <a:bodyPr vertOverflow="overflow" vert="horz" wrap="square" rtlCol="0" anchor="t">
            <a:spAutoFit/>
          </a:bodyPr>
          <a:lstStyle/>
          <a:p>
            <a:pPr algn="ctr"/>
            <a:r>
              <a:rPr lang="zh-CN" altLang="en-US" sz="1500" b="1">
                <a:solidFill>
                  <a:srgbClr val="004E97"/>
                </a:solidFill>
                <a:latin typeface="思源黑体 CN" panose="020B0500000000000000" pitchFamily="34" charset="-122"/>
                <a:ea typeface="思源黑体 CN" panose="020B0500000000000000" pitchFamily="34" charset="-122"/>
                <a:cs typeface="Noto Sans SC"/>
              </a:rPr>
              <a:t>测试方法映射</a:t>
            </a:r>
          </a:p>
        </p:txBody>
      </p:sp>
      <p:sp>
        <p:nvSpPr>
          <p:cNvPr id="92" name="矩形 91"/>
          <p:cNvSpPr/>
          <p:nvPr/>
        </p:nvSpPr>
        <p:spPr>
          <a:xfrm>
            <a:off x="6286500" y="1625600"/>
            <a:ext cx="5080000" cy="355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思源黑体 CN" panose="020B0500000000000000" pitchFamily="34" charset="-122"/>
              <a:ea typeface="思源黑体 CN" panose="020B0500000000000000" pitchFamily="34" charset="-122"/>
              <a:cs typeface="Noto Serif SC"/>
            </a:endParaRPr>
          </a:p>
        </p:txBody>
      </p:sp>
      <p:sp>
        <p:nvSpPr>
          <p:cNvPr id="93" name="文本框 92"/>
          <p:cNvSpPr txBox="1"/>
          <p:nvPr/>
        </p:nvSpPr>
        <p:spPr>
          <a:xfrm>
            <a:off x="6362700" y="1689100"/>
            <a:ext cx="11176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层次</a:t>
            </a:r>
          </a:p>
        </p:txBody>
      </p:sp>
      <p:sp>
        <p:nvSpPr>
          <p:cNvPr id="94" name="文本框 93"/>
          <p:cNvSpPr txBox="1"/>
          <p:nvPr/>
        </p:nvSpPr>
        <p:spPr>
          <a:xfrm>
            <a:off x="7480300" y="1689100"/>
            <a:ext cx="16764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测试方法</a:t>
            </a:r>
          </a:p>
        </p:txBody>
      </p:sp>
      <p:sp>
        <p:nvSpPr>
          <p:cNvPr id="95" name="文本框 94"/>
          <p:cNvSpPr txBox="1"/>
          <p:nvPr/>
        </p:nvSpPr>
        <p:spPr>
          <a:xfrm>
            <a:off x="9156700" y="1689100"/>
            <a:ext cx="2286000" cy="261610"/>
          </a:xfrm>
          <a:prstGeom prst="rect">
            <a:avLst/>
          </a:prstGeom>
          <a:noFill/>
        </p:spPr>
        <p:txBody>
          <a:bodyPr vertOverflow="overflow" vert="horz" wrap="square" rtlCol="0" anchor="t">
            <a:spAutoFit/>
          </a:bodyPr>
          <a:lstStyle/>
          <a:p>
            <a:pPr algn="ctr"/>
            <a:r>
              <a:rPr lang="zh-CN" altLang="en-US" sz="1100" b="1">
                <a:solidFill>
                  <a:srgbClr val="FFFFFF"/>
                </a:solidFill>
                <a:latin typeface="思源黑体 CN" panose="020B0500000000000000" pitchFamily="34" charset="-122"/>
                <a:ea typeface="思源黑体 CN" panose="020B0500000000000000" pitchFamily="34" charset="-122"/>
                <a:cs typeface="Noto Sans SC"/>
              </a:rPr>
              <a:t>测试对象</a:t>
            </a:r>
          </a:p>
        </p:txBody>
      </p:sp>
      <p:sp>
        <p:nvSpPr>
          <p:cNvPr id="96" name="矩形 95"/>
          <p:cNvSpPr/>
          <p:nvPr/>
        </p:nvSpPr>
        <p:spPr>
          <a:xfrm>
            <a:off x="6286500" y="1981200"/>
            <a:ext cx="5080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97" name="矩形: 圆角 96"/>
          <p:cNvSpPr/>
          <p:nvPr/>
        </p:nvSpPr>
        <p:spPr>
          <a:xfrm>
            <a:off x="6362700" y="2044700"/>
            <a:ext cx="965200" cy="2286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工具层</a:t>
            </a:r>
          </a:p>
        </p:txBody>
      </p:sp>
      <p:sp>
        <p:nvSpPr>
          <p:cNvPr id="98" name="文本框 97"/>
          <p:cNvSpPr txBox="1"/>
          <p:nvPr/>
        </p:nvSpPr>
        <p:spPr>
          <a:xfrm>
            <a:off x="7480300" y="20447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白盒测试</a:t>
            </a:r>
          </a:p>
        </p:txBody>
      </p:sp>
      <p:sp>
        <p:nvSpPr>
          <p:cNvPr id="99" name="文本框 98"/>
          <p:cNvSpPr txBox="1"/>
          <p:nvPr/>
        </p:nvSpPr>
        <p:spPr>
          <a:xfrm>
            <a:off x="9156700" y="2044700"/>
            <a:ext cx="2286000" cy="261610"/>
          </a:xfrm>
          <a:prstGeom prst="rect">
            <a:avLst/>
          </a:prstGeom>
          <a:noFill/>
        </p:spPr>
        <p:txBody>
          <a:bodyPr vertOverflow="overflow" vert="horz" wrap="square" rtlCol="0" anchor="t">
            <a:spAutoFit/>
          </a:bodyPr>
          <a:lstStyle/>
          <a:p>
            <a:pPr algn="ctr"/>
            <a:r>
              <a:rPr lang="en-US" altLang="zh-CN" sz="1100">
                <a:solidFill>
                  <a:srgbClr val="666666"/>
                </a:solidFill>
                <a:latin typeface="思源宋体" panose="02020400000000000000" pitchFamily="18" charset="-122"/>
                <a:ea typeface="思源宋体" panose="02020400000000000000" pitchFamily="18" charset="-122"/>
                <a:cs typeface="Noto Serif SC"/>
              </a:rPr>
              <a:t>JWT · </a:t>
            </a:r>
            <a:r>
              <a:rPr lang="zh-CN" altLang="en-US" sz="1100">
                <a:solidFill>
                  <a:srgbClr val="666666"/>
                </a:solidFill>
                <a:latin typeface="思源宋体" panose="02020400000000000000" pitchFamily="18" charset="-122"/>
                <a:ea typeface="思源宋体" panose="02020400000000000000" pitchFamily="18" charset="-122"/>
                <a:cs typeface="Noto Serif SC"/>
              </a:rPr>
              <a:t>密码哈希</a:t>
            </a:r>
          </a:p>
        </p:txBody>
      </p:sp>
      <p:sp>
        <p:nvSpPr>
          <p:cNvPr id="100" name="矩形 99"/>
          <p:cNvSpPr/>
          <p:nvPr/>
        </p:nvSpPr>
        <p:spPr>
          <a:xfrm>
            <a:off x="6286500" y="2336800"/>
            <a:ext cx="5080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1" name="矩形: 圆角 100"/>
          <p:cNvSpPr/>
          <p:nvPr/>
        </p:nvSpPr>
        <p:spPr>
          <a:xfrm>
            <a:off x="6362700" y="2400300"/>
            <a:ext cx="965200" cy="2286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服务层</a:t>
            </a:r>
          </a:p>
        </p:txBody>
      </p:sp>
      <p:sp>
        <p:nvSpPr>
          <p:cNvPr id="102" name="文本框 101"/>
          <p:cNvSpPr txBox="1"/>
          <p:nvPr/>
        </p:nvSpPr>
        <p:spPr>
          <a:xfrm>
            <a:off x="7480300" y="24003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黑盒</a:t>
            </a:r>
            <a:r>
              <a:rPr lang="en-US" altLang="zh-CN" sz="1100" b="1">
                <a:solidFill>
                  <a:srgbClr val="1F1F1F"/>
                </a:solidFill>
                <a:latin typeface="思源黑体 CN" panose="020B0500000000000000" pitchFamily="34" charset="-122"/>
                <a:ea typeface="思源黑体 CN" panose="020B0500000000000000" pitchFamily="34" charset="-122"/>
                <a:cs typeface="Noto Sans SC"/>
              </a:rPr>
              <a:t>·</a:t>
            </a:r>
            <a:r>
              <a:rPr lang="zh-CN" altLang="en-US" sz="1100" b="1">
                <a:solidFill>
                  <a:srgbClr val="1F1F1F"/>
                </a:solidFill>
                <a:latin typeface="思源黑体 CN" panose="020B0500000000000000" pitchFamily="34" charset="-122"/>
                <a:ea typeface="思源黑体 CN" panose="020B0500000000000000" pitchFamily="34" charset="-122"/>
                <a:cs typeface="Noto Sans SC"/>
              </a:rPr>
              <a:t>等价类</a:t>
            </a:r>
          </a:p>
        </p:txBody>
      </p:sp>
      <p:sp>
        <p:nvSpPr>
          <p:cNvPr id="103" name="文本框 102"/>
          <p:cNvSpPr txBox="1"/>
          <p:nvPr/>
        </p:nvSpPr>
        <p:spPr>
          <a:xfrm>
            <a:off x="9156700" y="2400300"/>
            <a:ext cx="2286000" cy="261610"/>
          </a:xfrm>
          <a:prstGeom prst="rect">
            <a:avLst/>
          </a:prstGeom>
          <a:noFill/>
        </p:spPr>
        <p:txBody>
          <a:bodyPr vertOverflow="overflow" vert="horz" wrap="square" rtlCol="0" anchor="t">
            <a:spAutoFit/>
          </a:bodyPr>
          <a:lstStyle/>
          <a:p>
            <a:pPr algn="ctr"/>
            <a:r>
              <a:rPr lang="zh-CN" altLang="en-US" sz="1100">
                <a:solidFill>
                  <a:srgbClr val="666666"/>
                </a:solidFill>
                <a:latin typeface="思源宋体" panose="02020400000000000000" pitchFamily="18" charset="-122"/>
                <a:ea typeface="思源宋体" panose="02020400000000000000" pitchFamily="18" charset="-122"/>
                <a:cs typeface="Noto Serif SC"/>
              </a:rPr>
              <a:t>窗口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评论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排行榜</a:t>
            </a:r>
          </a:p>
        </p:txBody>
      </p:sp>
      <p:sp>
        <p:nvSpPr>
          <p:cNvPr id="104" name="矩形 103"/>
          <p:cNvSpPr/>
          <p:nvPr/>
        </p:nvSpPr>
        <p:spPr>
          <a:xfrm>
            <a:off x="6286500" y="2692400"/>
            <a:ext cx="5080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5" name="矩形: 圆角 104"/>
          <p:cNvSpPr/>
          <p:nvPr/>
        </p:nvSpPr>
        <p:spPr>
          <a:xfrm>
            <a:off x="6362700" y="2755900"/>
            <a:ext cx="965200" cy="228600"/>
          </a:xfrm>
          <a:prstGeom prst="round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集成测试</a:t>
            </a:r>
          </a:p>
        </p:txBody>
      </p:sp>
      <p:sp>
        <p:nvSpPr>
          <p:cNvPr id="106" name="文本框 105"/>
          <p:cNvSpPr txBox="1"/>
          <p:nvPr/>
        </p:nvSpPr>
        <p:spPr>
          <a:xfrm>
            <a:off x="7480300" y="27559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自顶向下集成</a:t>
            </a:r>
          </a:p>
        </p:txBody>
      </p:sp>
      <p:sp>
        <p:nvSpPr>
          <p:cNvPr id="107" name="文本框 106"/>
          <p:cNvSpPr txBox="1"/>
          <p:nvPr/>
        </p:nvSpPr>
        <p:spPr>
          <a:xfrm>
            <a:off x="9156700" y="2755900"/>
            <a:ext cx="2286000" cy="261610"/>
          </a:xfrm>
          <a:prstGeom prst="rect">
            <a:avLst/>
          </a:prstGeom>
          <a:noFill/>
        </p:spPr>
        <p:txBody>
          <a:bodyPr vertOverflow="overflow" vert="horz" wrap="square" rtlCol="0" anchor="t">
            <a:spAutoFit/>
          </a:bodyPr>
          <a:lstStyle/>
          <a:p>
            <a:pPr algn="ctr"/>
            <a:r>
              <a:rPr lang="zh-CN" altLang="en-US" sz="1100">
                <a:solidFill>
                  <a:srgbClr val="666666"/>
                </a:solidFill>
                <a:latin typeface="思源宋体" panose="02020400000000000000" pitchFamily="18" charset="-122"/>
                <a:ea typeface="思源宋体" panose="02020400000000000000" pitchFamily="18" charset="-122"/>
                <a:cs typeface="Noto Serif SC"/>
              </a:rPr>
              <a:t>注册→评论→排行榜</a:t>
            </a:r>
          </a:p>
        </p:txBody>
      </p:sp>
      <p:sp>
        <p:nvSpPr>
          <p:cNvPr id="108" name="矩形 107"/>
          <p:cNvSpPr/>
          <p:nvPr/>
        </p:nvSpPr>
        <p:spPr>
          <a:xfrm>
            <a:off x="6286500" y="3048000"/>
            <a:ext cx="5080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ctr"/>
            <a:endParaRPr lang="zh-CN" altLang="en-US">
              <a:latin typeface="Noto Serif SC"/>
              <a:ea typeface="Noto Serif SC"/>
              <a:cs typeface="Noto Serif SC"/>
            </a:endParaRPr>
          </a:p>
        </p:txBody>
      </p:sp>
      <p:sp>
        <p:nvSpPr>
          <p:cNvPr id="109" name="矩形: 圆角 108"/>
          <p:cNvSpPr/>
          <p:nvPr/>
        </p:nvSpPr>
        <p:spPr>
          <a:xfrm>
            <a:off x="6362700" y="3111500"/>
            <a:ext cx="965200" cy="2286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1050" b="1">
                <a:solidFill>
                  <a:srgbClr val="FFFFFF"/>
                </a:solidFill>
                <a:latin typeface="思源黑体 CN" panose="020B0500000000000000" pitchFamily="34" charset="-122"/>
                <a:ea typeface="思源黑体 CN" panose="020B0500000000000000" pitchFamily="34" charset="-122"/>
                <a:cs typeface="Noto Sans SC"/>
              </a:rPr>
              <a:t>系统测试</a:t>
            </a:r>
          </a:p>
        </p:txBody>
      </p:sp>
      <p:sp>
        <p:nvSpPr>
          <p:cNvPr id="110" name="文本框 109"/>
          <p:cNvSpPr txBox="1"/>
          <p:nvPr/>
        </p:nvSpPr>
        <p:spPr>
          <a:xfrm>
            <a:off x="7480300" y="3111500"/>
            <a:ext cx="1676400" cy="261610"/>
          </a:xfrm>
          <a:prstGeom prst="rect">
            <a:avLst/>
          </a:prstGeom>
          <a:noFill/>
        </p:spPr>
        <p:txBody>
          <a:bodyPr vertOverflow="overflow" vert="horz" wrap="square" rtlCol="0" anchor="t">
            <a:spAutoFit/>
          </a:bodyPr>
          <a:lstStyle/>
          <a:p>
            <a:pPr algn="ctr"/>
            <a:r>
              <a:rPr lang="zh-CN" altLang="en-US" sz="1100" b="1">
                <a:solidFill>
                  <a:srgbClr val="1F1F1F"/>
                </a:solidFill>
                <a:latin typeface="思源黑体 CN" panose="020B0500000000000000" pitchFamily="34" charset="-122"/>
                <a:ea typeface="思源黑体 CN" panose="020B0500000000000000" pitchFamily="34" charset="-122"/>
                <a:cs typeface="Noto Sans SC"/>
              </a:rPr>
              <a:t>黑盒 </a:t>
            </a:r>
            <a:r>
              <a:rPr lang="en-US" altLang="zh-CN" sz="1100" b="1">
                <a:solidFill>
                  <a:srgbClr val="1F1F1F"/>
                </a:solidFill>
                <a:latin typeface="思源黑体 CN" panose="020B0500000000000000" pitchFamily="34" charset="-122"/>
                <a:ea typeface="思源黑体 CN" panose="020B0500000000000000" pitchFamily="34" charset="-122"/>
                <a:cs typeface="Noto Sans SC"/>
              </a:rPr>
              <a:t>API</a:t>
            </a:r>
            <a:endParaRPr lang="zh-CN" altLang="en-US" sz="1100" b="1">
              <a:solidFill>
                <a:srgbClr val="1F1F1F"/>
              </a:solidFill>
              <a:latin typeface="思源黑体 CN" panose="020B0500000000000000" pitchFamily="34" charset="-122"/>
              <a:ea typeface="思源黑体 CN" panose="020B0500000000000000" pitchFamily="34" charset="-122"/>
              <a:cs typeface="Noto Sans SC"/>
            </a:endParaRPr>
          </a:p>
        </p:txBody>
      </p:sp>
      <p:sp>
        <p:nvSpPr>
          <p:cNvPr id="111" name="文本框 110"/>
          <p:cNvSpPr txBox="1"/>
          <p:nvPr/>
        </p:nvSpPr>
        <p:spPr>
          <a:xfrm>
            <a:off x="9156700" y="3111500"/>
            <a:ext cx="2286000" cy="261610"/>
          </a:xfrm>
          <a:prstGeom prst="rect">
            <a:avLst/>
          </a:prstGeom>
          <a:noFill/>
        </p:spPr>
        <p:txBody>
          <a:bodyPr vertOverflow="overflow" vert="horz" wrap="square" rtlCol="0" anchor="t">
            <a:spAutoFit/>
          </a:bodyPr>
          <a:lstStyle/>
          <a:p>
            <a:pPr algn="ctr"/>
            <a:r>
              <a:rPr lang="en-US" altLang="zh-CN" sz="1100">
                <a:solidFill>
                  <a:srgbClr val="666666"/>
                </a:solidFill>
                <a:latin typeface="思源宋体" panose="02020400000000000000" pitchFamily="18" charset="-122"/>
                <a:ea typeface="思源宋体" panose="02020400000000000000" pitchFamily="18" charset="-122"/>
                <a:cs typeface="Noto Serif SC"/>
              </a:rPr>
              <a:t>HTTP </a:t>
            </a:r>
            <a:r>
              <a:rPr lang="zh-CN" altLang="en-US" sz="1100">
                <a:solidFill>
                  <a:srgbClr val="666666"/>
                </a:solidFill>
                <a:latin typeface="思源宋体" panose="02020400000000000000" pitchFamily="18" charset="-122"/>
                <a:ea typeface="思源宋体" panose="02020400000000000000" pitchFamily="18" charset="-122"/>
                <a:cs typeface="Noto Serif SC"/>
              </a:rPr>
              <a:t>接口 </a:t>
            </a:r>
            <a:r>
              <a:rPr lang="en-US" altLang="zh-CN" sz="1100">
                <a:solidFill>
                  <a:srgbClr val="666666"/>
                </a:solidFill>
                <a:latin typeface="思源宋体" panose="02020400000000000000" pitchFamily="18" charset="-122"/>
                <a:ea typeface="思源宋体" panose="02020400000000000000" pitchFamily="18" charset="-122"/>
                <a:cs typeface="Noto Serif SC"/>
              </a:rPr>
              <a:t>· </a:t>
            </a:r>
            <a:r>
              <a:rPr lang="zh-CN" altLang="en-US" sz="1100">
                <a:solidFill>
                  <a:srgbClr val="666666"/>
                </a:solidFill>
                <a:latin typeface="思源宋体" panose="02020400000000000000" pitchFamily="18" charset="-122"/>
                <a:ea typeface="思源宋体" panose="02020400000000000000" pitchFamily="18" charset="-122"/>
                <a:cs typeface="Noto Serif SC"/>
              </a:rPr>
              <a:t>权限</a:t>
            </a:r>
          </a:p>
        </p:txBody>
      </p:sp>
      <p:sp>
        <p:nvSpPr>
          <p:cNvPr id="112" name="矩形: 圆角 111"/>
          <p:cNvSpPr/>
          <p:nvPr/>
        </p:nvSpPr>
        <p:spPr>
          <a:xfrm>
            <a:off x="6286500" y="3514098"/>
            <a:ext cx="5143500" cy="26416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4" name="文本框 113"/>
          <p:cNvSpPr txBox="1"/>
          <p:nvPr/>
        </p:nvSpPr>
        <p:spPr>
          <a:xfrm>
            <a:off x="6515100" y="3492500"/>
            <a:ext cx="3810000" cy="307777"/>
          </a:xfrm>
          <a:prstGeom prst="rect">
            <a:avLst/>
          </a:prstGeom>
          <a:noFill/>
        </p:spPr>
        <p:txBody>
          <a:bodyPr vertOverflow="overflow" vert="horz" wrap="square" rtlCol="0" anchor="t">
            <a:spAutoFit/>
          </a:bodyPr>
          <a:lstStyle/>
          <a:p>
            <a:pPr algn="ctr"/>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典型测试用例</a:t>
            </a:r>
          </a:p>
        </p:txBody>
      </p:sp>
      <p:sp>
        <p:nvSpPr>
          <p:cNvPr id="115" name="矩形: 圆角 114"/>
          <p:cNvSpPr/>
          <p:nvPr/>
        </p:nvSpPr>
        <p:spPr>
          <a:xfrm>
            <a:off x="6515100" y="3797300"/>
            <a:ext cx="1016000" cy="2286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TC-U-05</a:t>
            </a:r>
          </a:p>
        </p:txBody>
      </p:sp>
      <p:sp>
        <p:nvSpPr>
          <p:cNvPr id="116" name="文本框 115"/>
          <p:cNvSpPr txBox="1"/>
          <p:nvPr/>
        </p:nvSpPr>
        <p:spPr>
          <a:xfrm>
            <a:off x="7620000" y="3797300"/>
            <a:ext cx="1143000" cy="261610"/>
          </a:xfrm>
          <a:prstGeom prst="rect">
            <a:avLst/>
          </a:prstGeom>
          <a:noFill/>
        </p:spPr>
        <p:txBody>
          <a:bodyPr vertOverflow="overflow" vert="horz" wrap="square" rtlCol="0" anchor="t">
            <a:spAutoFit/>
          </a:bodyPr>
          <a:lstStyle/>
          <a:p>
            <a:pPr algn="l"/>
            <a:r>
              <a:rPr lang="zh-CN" altLang="en-US" sz="1100" b="1">
                <a:solidFill>
                  <a:srgbClr val="6EA843"/>
                </a:solidFill>
                <a:latin typeface="思源黑体 CN" panose="020B0500000000000000" pitchFamily="34" charset="-122"/>
                <a:ea typeface="思源黑体 CN" panose="020B0500000000000000" pitchFamily="34" charset="-122"/>
                <a:cs typeface="Noto Sans SC"/>
              </a:rPr>
              <a:t>白盒</a:t>
            </a:r>
            <a:r>
              <a:rPr lang="en-US" altLang="zh-CN" sz="1100" b="1">
                <a:solidFill>
                  <a:srgbClr val="6EA843"/>
                </a:solidFill>
                <a:latin typeface="思源黑体 CN" panose="020B0500000000000000" pitchFamily="34" charset="-122"/>
                <a:ea typeface="思源黑体 CN" panose="020B0500000000000000" pitchFamily="34" charset="-122"/>
                <a:cs typeface="Noto Sans SC"/>
              </a:rPr>
              <a:t>·</a:t>
            </a:r>
            <a:r>
              <a:rPr lang="zh-CN" altLang="en-US" sz="1100" b="1">
                <a:solidFill>
                  <a:srgbClr val="6EA843"/>
                </a:solidFill>
                <a:latin typeface="思源黑体 CN" panose="020B0500000000000000" pitchFamily="34" charset="-122"/>
                <a:ea typeface="思源黑体 CN" panose="020B0500000000000000" pitchFamily="34" charset="-122"/>
                <a:cs typeface="Noto Sans SC"/>
              </a:rPr>
              <a:t>边界</a:t>
            </a:r>
          </a:p>
        </p:txBody>
      </p:sp>
      <p:sp>
        <p:nvSpPr>
          <p:cNvPr id="117" name="文本框 116"/>
          <p:cNvSpPr txBox="1"/>
          <p:nvPr/>
        </p:nvSpPr>
        <p:spPr>
          <a:xfrm>
            <a:off x="6515100" y="40513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过期令牌：系统时间前移 </a:t>
            </a:r>
            <a:r>
              <a:rPr lang="en-US" altLang="zh-CN" sz="1100">
                <a:solidFill>
                  <a:srgbClr val="1F1F1F"/>
                </a:solidFill>
                <a:latin typeface="思源宋体" panose="02020400000000000000" pitchFamily="18" charset="-122"/>
                <a:ea typeface="思源宋体" panose="02020400000000000000" pitchFamily="18" charset="-122"/>
                <a:cs typeface="Noto Serif SC"/>
              </a:rPr>
              <a:t>8 </a:t>
            </a:r>
            <a:r>
              <a:rPr lang="zh-CN" altLang="en-US" sz="1100">
                <a:solidFill>
                  <a:srgbClr val="1F1F1F"/>
                </a:solidFill>
                <a:latin typeface="思源宋体" panose="02020400000000000000" pitchFamily="18" charset="-122"/>
                <a:ea typeface="思源宋体" panose="02020400000000000000" pitchFamily="18" charset="-122"/>
                <a:cs typeface="Noto Serif SC"/>
              </a:rPr>
              <a:t>天 → </a:t>
            </a:r>
            <a:r>
              <a:rPr lang="en-US" altLang="zh-CN" sz="1100">
                <a:solidFill>
                  <a:srgbClr val="1F1F1F"/>
                </a:solidFill>
                <a:latin typeface="思源宋体" panose="02020400000000000000" pitchFamily="18" charset="-122"/>
                <a:ea typeface="思源宋体" panose="02020400000000000000" pitchFamily="18" charset="-122"/>
                <a:cs typeface="Noto Serif SC"/>
              </a:rPr>
              <a:t>JWT </a:t>
            </a:r>
            <a:r>
              <a:rPr lang="zh-CN" altLang="en-US" sz="1100">
                <a:solidFill>
                  <a:srgbClr val="1F1F1F"/>
                </a:solidFill>
                <a:latin typeface="思源宋体" panose="02020400000000000000" pitchFamily="18" charset="-122"/>
                <a:ea typeface="思源宋体" panose="02020400000000000000" pitchFamily="18" charset="-122"/>
                <a:cs typeface="Noto Serif SC"/>
              </a:rPr>
              <a:t>返回 </a:t>
            </a:r>
            <a:r>
              <a:rPr lang="en-US" altLang="zh-CN" sz="1100">
                <a:solidFill>
                  <a:srgbClr val="1F1F1F"/>
                </a:solidFill>
                <a:latin typeface="思源宋体" panose="02020400000000000000" pitchFamily="18" charset="-122"/>
                <a:ea typeface="思源宋体" panose="02020400000000000000" pitchFamily="18" charset="-122"/>
                <a:cs typeface="Noto Serif SC"/>
              </a:rPr>
              <a:t>None</a:t>
            </a:r>
            <a:endParaRPr lang="zh-CN" altLang="en-US" sz="1100">
              <a:solidFill>
                <a:srgbClr val="1F1F1F"/>
              </a:solidFill>
              <a:latin typeface="思源宋体" panose="02020400000000000000" pitchFamily="18" charset="-122"/>
              <a:ea typeface="思源宋体" panose="02020400000000000000" pitchFamily="18" charset="-122"/>
              <a:cs typeface="Noto Serif SC"/>
            </a:endParaRPr>
          </a:p>
        </p:txBody>
      </p:sp>
      <p:sp>
        <p:nvSpPr>
          <p:cNvPr id="118" name="矩形: 圆角 117"/>
          <p:cNvSpPr/>
          <p:nvPr/>
        </p:nvSpPr>
        <p:spPr>
          <a:xfrm>
            <a:off x="6515100" y="4381500"/>
            <a:ext cx="1016000" cy="2286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TC-U-11</a:t>
            </a:r>
          </a:p>
        </p:txBody>
      </p:sp>
      <p:sp>
        <p:nvSpPr>
          <p:cNvPr id="119" name="文本框 118"/>
          <p:cNvSpPr txBox="1"/>
          <p:nvPr/>
        </p:nvSpPr>
        <p:spPr>
          <a:xfrm>
            <a:off x="7620000" y="4381500"/>
            <a:ext cx="1143000" cy="261610"/>
          </a:xfrm>
          <a:prstGeom prst="rect">
            <a:avLst/>
          </a:prstGeom>
          <a:noFill/>
        </p:spPr>
        <p:txBody>
          <a:bodyPr vertOverflow="overflow" vert="horz" wrap="square" rtlCol="0" anchor="t">
            <a:spAutoFit/>
          </a:bodyPr>
          <a:lstStyle/>
          <a:p>
            <a:pPr algn="l"/>
            <a:r>
              <a:rPr lang="zh-CN" altLang="en-US" sz="1100" b="1">
                <a:solidFill>
                  <a:srgbClr val="E6A43A"/>
                </a:solidFill>
                <a:latin typeface="思源黑体 CN" panose="020B0500000000000000" pitchFamily="34" charset="-122"/>
                <a:ea typeface="思源黑体 CN" panose="020B0500000000000000" pitchFamily="34" charset="-122"/>
                <a:cs typeface="Noto Sans SC"/>
              </a:rPr>
              <a:t>黑盒</a:t>
            </a:r>
            <a:r>
              <a:rPr lang="en-US" altLang="zh-CN" sz="1100" b="1">
                <a:solidFill>
                  <a:srgbClr val="E6A43A"/>
                </a:solidFill>
                <a:latin typeface="思源黑体 CN" panose="020B0500000000000000" pitchFamily="34" charset="-122"/>
                <a:ea typeface="思源黑体 CN" panose="020B0500000000000000" pitchFamily="34" charset="-122"/>
                <a:cs typeface="Noto Sans SC"/>
              </a:rPr>
              <a:t>·</a:t>
            </a:r>
            <a:r>
              <a:rPr lang="zh-CN" altLang="en-US" sz="1100" b="1">
                <a:solidFill>
                  <a:srgbClr val="E6A43A"/>
                </a:solidFill>
                <a:latin typeface="思源黑体 CN" panose="020B0500000000000000" pitchFamily="34" charset="-122"/>
                <a:ea typeface="思源黑体 CN" panose="020B0500000000000000" pitchFamily="34" charset="-122"/>
                <a:cs typeface="Noto Sans SC"/>
              </a:rPr>
              <a:t>等价</a:t>
            </a:r>
          </a:p>
        </p:txBody>
      </p:sp>
      <p:sp>
        <p:nvSpPr>
          <p:cNvPr id="120" name="文本框 119"/>
          <p:cNvSpPr txBox="1"/>
          <p:nvPr/>
        </p:nvSpPr>
        <p:spPr>
          <a:xfrm>
            <a:off x="6515100" y="46355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停用窗口（</a:t>
            </a:r>
            <a:r>
              <a:rPr lang="en-US" altLang="zh-CN" sz="1100">
                <a:solidFill>
                  <a:srgbClr val="1F1F1F"/>
                </a:solidFill>
                <a:latin typeface="思源宋体" panose="02020400000000000000" pitchFamily="18" charset="-122"/>
                <a:ea typeface="思源宋体" panose="02020400000000000000" pitchFamily="18" charset="-122"/>
                <a:cs typeface="Noto Serif SC"/>
              </a:rPr>
              <a:t>status=0</a:t>
            </a:r>
            <a:r>
              <a:rPr lang="zh-CN" altLang="en-US" sz="1100">
                <a:solidFill>
                  <a:srgbClr val="1F1F1F"/>
                </a:solidFill>
                <a:latin typeface="思源宋体" panose="02020400000000000000" pitchFamily="18" charset="-122"/>
                <a:ea typeface="思源宋体" panose="02020400000000000000" pitchFamily="18" charset="-122"/>
                <a:cs typeface="Noto Serif SC"/>
              </a:rPr>
              <a:t>）不出现在搜索结果</a:t>
            </a:r>
          </a:p>
        </p:txBody>
      </p:sp>
      <p:sp>
        <p:nvSpPr>
          <p:cNvPr id="121" name="矩形: 圆角 120"/>
          <p:cNvSpPr/>
          <p:nvPr/>
        </p:nvSpPr>
        <p:spPr>
          <a:xfrm>
            <a:off x="6515100" y="4965700"/>
            <a:ext cx="1016000" cy="228600"/>
          </a:xfrm>
          <a:prstGeom prst="round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TC-I-05</a:t>
            </a:r>
          </a:p>
        </p:txBody>
      </p:sp>
      <p:sp>
        <p:nvSpPr>
          <p:cNvPr id="122" name="文本框 121"/>
          <p:cNvSpPr txBox="1"/>
          <p:nvPr/>
        </p:nvSpPr>
        <p:spPr>
          <a:xfrm>
            <a:off x="7620000" y="4965700"/>
            <a:ext cx="1143000" cy="261610"/>
          </a:xfrm>
          <a:prstGeom prst="rect">
            <a:avLst/>
          </a:prstGeom>
          <a:noFill/>
        </p:spPr>
        <p:txBody>
          <a:bodyPr vertOverflow="overflow" vert="horz" wrap="square" rtlCol="0" anchor="t">
            <a:spAutoFit/>
          </a:bodyPr>
          <a:lstStyle/>
          <a:p>
            <a:pPr algn="l"/>
            <a:r>
              <a:rPr lang="zh-CN" altLang="en-US" sz="1100" b="1">
                <a:solidFill>
                  <a:srgbClr val="2A8CB8"/>
                </a:solidFill>
                <a:latin typeface="思源黑体 CN" panose="020B0500000000000000" pitchFamily="34" charset="-122"/>
                <a:ea typeface="思源黑体 CN" panose="020B0500000000000000" pitchFamily="34" charset="-122"/>
                <a:cs typeface="Noto Sans SC"/>
              </a:rPr>
              <a:t>集成</a:t>
            </a:r>
            <a:r>
              <a:rPr lang="en-US" altLang="zh-CN" sz="1100" b="1">
                <a:solidFill>
                  <a:srgbClr val="2A8CB8"/>
                </a:solidFill>
                <a:latin typeface="思源黑体 CN" panose="020B0500000000000000" pitchFamily="34" charset="-122"/>
                <a:ea typeface="思源黑体 CN" panose="020B0500000000000000" pitchFamily="34" charset="-122"/>
                <a:cs typeface="Noto Sans SC"/>
              </a:rPr>
              <a:t>·</a:t>
            </a:r>
            <a:r>
              <a:rPr lang="zh-CN" altLang="en-US" sz="1100" b="1">
                <a:solidFill>
                  <a:srgbClr val="2A8CB8"/>
                </a:solidFill>
                <a:latin typeface="思源黑体 CN" panose="020B0500000000000000" pitchFamily="34" charset="-122"/>
                <a:ea typeface="思源黑体 CN" panose="020B0500000000000000" pitchFamily="34" charset="-122"/>
                <a:cs typeface="Noto Sans SC"/>
              </a:rPr>
              <a:t>数据流</a:t>
            </a:r>
          </a:p>
        </p:txBody>
      </p:sp>
      <p:sp>
        <p:nvSpPr>
          <p:cNvPr id="123" name="文本框 122"/>
          <p:cNvSpPr txBox="1"/>
          <p:nvPr/>
        </p:nvSpPr>
        <p:spPr>
          <a:xfrm>
            <a:off x="6515100" y="52197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提交高分评论后，窗口升至评分榜首</a:t>
            </a:r>
          </a:p>
        </p:txBody>
      </p:sp>
      <p:sp>
        <p:nvSpPr>
          <p:cNvPr id="124" name="矩形: 圆角 123"/>
          <p:cNvSpPr/>
          <p:nvPr/>
        </p:nvSpPr>
        <p:spPr>
          <a:xfrm>
            <a:off x="6515100" y="5549900"/>
            <a:ext cx="1016000" cy="228600"/>
          </a:xfrm>
          <a:prstGeom prst="round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950" b="1">
                <a:solidFill>
                  <a:srgbClr val="FFFFFF"/>
                </a:solidFill>
                <a:latin typeface="思源黑体 CN" panose="020B0500000000000000" pitchFamily="34" charset="-122"/>
                <a:ea typeface="思源黑体 CN" panose="020B0500000000000000" pitchFamily="34" charset="-122"/>
                <a:cs typeface="Noto Sans SC"/>
              </a:rPr>
              <a:t>TC-S-18</a:t>
            </a:r>
          </a:p>
        </p:txBody>
      </p:sp>
      <p:sp>
        <p:nvSpPr>
          <p:cNvPr id="125" name="文本框 124"/>
          <p:cNvSpPr txBox="1"/>
          <p:nvPr/>
        </p:nvSpPr>
        <p:spPr>
          <a:xfrm>
            <a:off x="7620000" y="5549900"/>
            <a:ext cx="1143000" cy="261610"/>
          </a:xfrm>
          <a:prstGeom prst="rect">
            <a:avLst/>
          </a:prstGeom>
          <a:noFill/>
        </p:spPr>
        <p:txBody>
          <a:bodyPr vertOverflow="overflow" vert="horz" wrap="square" rtlCol="0" anchor="t">
            <a:spAutoFit/>
          </a:bodyPr>
          <a:lstStyle/>
          <a:p>
            <a:pPr algn="l"/>
            <a:r>
              <a:rPr lang="zh-CN" altLang="en-US" sz="1100" b="1">
                <a:solidFill>
                  <a:srgbClr val="004E97"/>
                </a:solidFill>
                <a:latin typeface="思源黑体 CN" panose="020B0500000000000000" pitchFamily="34" charset="-122"/>
                <a:ea typeface="思源黑体 CN" panose="020B0500000000000000" pitchFamily="34" charset="-122"/>
                <a:cs typeface="Noto Sans SC"/>
              </a:rPr>
              <a:t>系统</a:t>
            </a:r>
            <a:r>
              <a:rPr lang="en-US" altLang="zh-CN" sz="1100" b="1">
                <a:solidFill>
                  <a:srgbClr val="004E97"/>
                </a:solidFill>
                <a:latin typeface="思源黑体 CN" panose="020B0500000000000000" pitchFamily="34" charset="-122"/>
                <a:ea typeface="思源黑体 CN" panose="020B0500000000000000" pitchFamily="34" charset="-122"/>
                <a:cs typeface="Noto Sans SC"/>
              </a:rPr>
              <a:t>·</a:t>
            </a:r>
            <a:r>
              <a:rPr lang="zh-CN" altLang="en-US" sz="1100" b="1">
                <a:solidFill>
                  <a:srgbClr val="004E97"/>
                </a:solidFill>
                <a:latin typeface="思源黑体 CN" panose="020B0500000000000000" pitchFamily="34" charset="-122"/>
                <a:ea typeface="思源黑体 CN" panose="020B0500000000000000" pitchFamily="34" charset="-122"/>
                <a:cs typeface="Noto Sans SC"/>
              </a:rPr>
              <a:t>安全</a:t>
            </a:r>
          </a:p>
        </p:txBody>
      </p:sp>
      <p:sp>
        <p:nvSpPr>
          <p:cNvPr id="126" name="文本框 125"/>
          <p:cNvSpPr txBox="1"/>
          <p:nvPr/>
        </p:nvSpPr>
        <p:spPr>
          <a:xfrm>
            <a:off x="6515100" y="5803900"/>
            <a:ext cx="4826000" cy="261610"/>
          </a:xfrm>
          <a:prstGeom prst="rect">
            <a:avLst/>
          </a:prstGeom>
          <a:noFill/>
        </p:spPr>
        <p:txBody>
          <a:bodyPr vertOverflow="overflow" vert="horz" wrap="square" rtlCol="0" anchor="t">
            <a:spAutoFit/>
          </a:bodyPr>
          <a:lstStyle/>
          <a:p>
            <a:pPr algn="l"/>
            <a:r>
              <a:rPr lang="zh-CN" altLang="en-US" sz="1100">
                <a:solidFill>
                  <a:srgbClr val="1F1F1F"/>
                </a:solidFill>
                <a:latin typeface="思源宋体" panose="02020400000000000000" pitchFamily="18" charset="-122"/>
                <a:ea typeface="思源宋体" panose="02020400000000000000" pitchFamily="18" charset="-122"/>
                <a:cs typeface="Noto Serif SC"/>
              </a:rPr>
              <a:t>普通用户访问管理员接口返回 </a:t>
            </a:r>
            <a:r>
              <a:rPr lang="en-US" altLang="zh-CN" sz="1100">
                <a:solidFill>
                  <a:srgbClr val="1F1F1F"/>
                </a:solidFill>
                <a:latin typeface="思源宋体" panose="02020400000000000000" pitchFamily="18" charset="-122"/>
                <a:ea typeface="思源宋体" panose="02020400000000000000" pitchFamily="18" charset="-122"/>
                <a:cs typeface="Noto Serif SC"/>
              </a:rPr>
              <a:t>4003</a:t>
            </a:r>
            <a:endParaRPr lang="zh-CN" altLang="en-US" sz="1100">
              <a:solidFill>
                <a:srgbClr val="1F1F1F"/>
              </a:solidFill>
              <a:latin typeface="思源宋体" panose="02020400000000000000" pitchFamily="18" charset="-122"/>
              <a:ea typeface="思源宋体" panose="02020400000000000000" pitchFamily="18" charset="-122"/>
              <a:cs typeface="Noto Serif SC"/>
            </a:endParaRPr>
          </a:p>
        </p:txBody>
      </p:sp>
    </p:spTree>
    <p:extLst>
      <p:ext uri="{BB962C8B-B14F-4D97-AF65-F5344CB8AC3E}">
        <p14:creationId xmlns:p14="http://schemas.microsoft.com/office/powerpoint/2010/main" val="142350540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2"/>
          <p:cNvSpPr/>
          <p:nvPr/>
        </p:nvSpPr>
        <p:spPr>
          <a:xfrm>
            <a:off x="0" y="0"/>
            <a:ext cx="12192000" cy="6858000"/>
          </a:xfrm>
          <a:prstGeom prst="rect">
            <a:avLst/>
          </a:prstGeom>
          <a:solidFill>
            <a:srgbClr val="FFFFFF"/>
          </a:solidFill>
          <a:ln>
            <a:noFill/>
          </a:ln>
        </p:spPr>
      </p:sp>
      <p:sp>
        <p:nvSpPr>
          <p:cNvPr id="78" name="Rectangle 3"/>
          <p:cNvSpPr/>
          <p:nvPr/>
        </p:nvSpPr>
        <p:spPr>
          <a:xfrm>
            <a:off x="0" y="0"/>
            <a:ext cx="12192000" cy="857250"/>
          </a:xfrm>
          <a:prstGeom prst="rect">
            <a:avLst/>
          </a:prstGeom>
          <a:solidFill>
            <a:srgbClr val="004E97">
              <a:alpha val="6000"/>
            </a:srgbClr>
          </a:solidFill>
          <a:ln>
            <a:noFill/>
          </a:ln>
        </p:spPr>
      </p:sp>
      <p:sp>
        <p:nvSpPr>
          <p:cNvPr id="9" name="Line 9"/>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79" name="TextBox 4"/>
          <p:cNvSpPr txBox="1"/>
          <p:nvPr/>
        </p:nvSpPr>
        <p:spPr>
          <a:xfrm>
            <a:off x="889000" y="278705"/>
            <a:ext cx="4789773" cy="461665"/>
          </a:xfrm>
          <a:prstGeom prst="rect">
            <a:avLst/>
          </a:prstGeom>
          <a:noFill/>
          <a:ln>
            <a:noFill/>
          </a:ln>
        </p:spPr>
        <p:txBody>
          <a:bodyPr wrap="none" lIns="0" tIns="0" rIns="0" bIns="0" anchor="t" anchorCtr="0">
            <a:spAutoFit/>
          </a:bodyPr>
          <a:lstStyle/>
          <a:p>
            <a:r>
              <a:rPr lang="zh-CN" altLang="en-US" sz="3000" b="1">
                <a:solidFill>
                  <a:srgbClr val="004E97"/>
                </a:solidFill>
                <a:latin typeface="思源黑体 CN" panose="020B0500000000000000" pitchFamily="34" charset="-122"/>
                <a:ea typeface="思源黑体 CN" panose="020B0500000000000000" pitchFamily="34" charset="-122"/>
                <a:cs typeface="Noto Sans SC"/>
              </a:rPr>
              <a:t>软件测试 </a:t>
            </a:r>
            <a:r>
              <a:rPr lang="en-US" altLang="zh-CN" sz="3000" b="1">
                <a:solidFill>
                  <a:srgbClr val="004E97"/>
                </a:solidFill>
                <a:latin typeface="思源黑体 CN" panose="020B0500000000000000" pitchFamily="34" charset="-122"/>
                <a:ea typeface="思源黑体 CN" panose="020B0500000000000000" pitchFamily="34" charset="-122"/>
                <a:cs typeface="Noto Sans SC"/>
              </a:rPr>
              <a:t>· </a:t>
            </a:r>
            <a:r>
              <a:rPr lang="zh-CN" altLang="en-US" sz="3000" b="1">
                <a:solidFill>
                  <a:srgbClr val="004E97"/>
                </a:solidFill>
                <a:latin typeface="思源黑体 CN" panose="020B0500000000000000" pitchFamily="34" charset="-122"/>
                <a:ea typeface="思源黑体 CN" panose="020B0500000000000000" pitchFamily="34" charset="-122"/>
                <a:cs typeface="Noto Sans SC"/>
              </a:rPr>
              <a:t>结果与缺陷修复</a:t>
            </a:r>
            <a:endParaRPr lang="zh-CN" sz="30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80" name="Line 5"/>
          <p:cNvSpPr/>
          <p:nvPr/>
        </p:nvSpPr>
        <p:spPr>
          <a:xfrm>
            <a:off x="888999" y="804863"/>
            <a:ext cx="5023811" cy="45719"/>
          </a:xfrm>
          <a:custGeom>
            <a:avLst/>
            <a:gdLst/>
            <a:ahLst/>
            <a:cxnLst/>
            <a:rect l="l" t="t" r="r" b="b"/>
            <a:pathLst>
              <a:path w="3810000" h="9525">
                <a:moveTo>
                  <a:pt x="0" y="0"/>
                </a:moveTo>
                <a:lnTo>
                  <a:pt x="3810000" y="0"/>
                </a:lnTo>
              </a:path>
            </a:pathLst>
          </a:custGeom>
          <a:noFill/>
          <a:ln w="19050">
            <a:solidFill>
              <a:srgbClr val="E6C46D"/>
            </a:solidFill>
          </a:ln>
        </p:spPr>
      </p:sp>
      <p:sp>
        <p:nvSpPr>
          <p:cNvPr id="2" name="矩形: 圆角 1"/>
          <p:cNvSpPr/>
          <p:nvPr/>
        </p:nvSpPr>
        <p:spPr>
          <a:xfrm>
            <a:off x="762000" y="1206500"/>
            <a:ext cx="2501900" cy="1206500"/>
          </a:xfrm>
          <a:prstGeom prst="roundRect">
            <a:avLst/>
          </a:prstGeom>
          <a:solidFill>
            <a:srgbClr val="FFFFFF"/>
          </a:solidFill>
          <a:ln w="190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3" name="矩形 2"/>
          <p:cNvSpPr/>
          <p:nvPr/>
        </p:nvSpPr>
        <p:spPr>
          <a:xfrm>
            <a:off x="762000" y="1206500"/>
            <a:ext cx="2501900" cy="635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4" name="文本框 3"/>
          <p:cNvSpPr txBox="1"/>
          <p:nvPr/>
        </p:nvSpPr>
        <p:spPr>
          <a:xfrm>
            <a:off x="762000" y="1384300"/>
            <a:ext cx="2501900" cy="646331"/>
          </a:xfrm>
          <a:prstGeom prst="rect">
            <a:avLst/>
          </a:prstGeom>
          <a:noFill/>
        </p:spPr>
        <p:txBody>
          <a:bodyPr vertOverflow="overflow" vert="horz" wrap="square" rtlCol="0" anchor="t">
            <a:spAutoFit/>
          </a:bodyPr>
          <a:lstStyle/>
          <a:p>
            <a:pPr algn="l"/>
            <a:r>
              <a:rPr lang="en-US" altLang="zh-CN" sz="3600" b="1">
                <a:solidFill>
                  <a:srgbClr val="004E97"/>
                </a:solidFill>
                <a:latin typeface="思源黑体 CN" panose="020B0500000000000000" pitchFamily="34" charset="-122"/>
                <a:ea typeface="思源黑体 CN" panose="020B0500000000000000" pitchFamily="34" charset="-122"/>
                <a:cs typeface="Noto Sans SC"/>
              </a:rPr>
              <a:t>62</a:t>
            </a:r>
          </a:p>
        </p:txBody>
      </p:sp>
      <p:sp>
        <p:nvSpPr>
          <p:cNvPr id="5" name="文本框 4"/>
          <p:cNvSpPr txBox="1"/>
          <p:nvPr/>
        </p:nvSpPr>
        <p:spPr>
          <a:xfrm>
            <a:off x="7620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总用例数</a:t>
            </a:r>
          </a:p>
        </p:txBody>
      </p:sp>
      <p:sp>
        <p:nvSpPr>
          <p:cNvPr id="6" name="矩形: 圆角 5"/>
          <p:cNvSpPr/>
          <p:nvPr/>
        </p:nvSpPr>
        <p:spPr>
          <a:xfrm>
            <a:off x="3441700" y="1206500"/>
            <a:ext cx="2501900" cy="1206500"/>
          </a:xfrm>
          <a:prstGeom prst="roundRect">
            <a:avLst/>
          </a:prstGeom>
          <a:solidFill>
            <a:srgbClr val="FFFFFF"/>
          </a:solidFill>
          <a:ln w="1905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7" name="矩形 6"/>
          <p:cNvSpPr/>
          <p:nvPr/>
        </p:nvSpPr>
        <p:spPr>
          <a:xfrm>
            <a:off x="3441700" y="1206500"/>
            <a:ext cx="2501900" cy="635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 name="文本框 7"/>
          <p:cNvSpPr txBox="1"/>
          <p:nvPr/>
        </p:nvSpPr>
        <p:spPr>
          <a:xfrm>
            <a:off x="3441700" y="1384300"/>
            <a:ext cx="2501900" cy="646331"/>
          </a:xfrm>
          <a:prstGeom prst="rect">
            <a:avLst/>
          </a:prstGeom>
          <a:noFill/>
        </p:spPr>
        <p:txBody>
          <a:bodyPr vertOverflow="overflow" vert="horz" wrap="square" rtlCol="0" anchor="t">
            <a:spAutoFit/>
          </a:bodyPr>
          <a:lstStyle/>
          <a:p>
            <a:pPr algn="l"/>
            <a:r>
              <a:rPr lang="en-US" altLang="zh-CN" sz="3600" b="1">
                <a:solidFill>
                  <a:srgbClr val="6EA843"/>
                </a:solidFill>
                <a:latin typeface="思源黑体 CN" panose="020B0500000000000000" pitchFamily="34" charset="-122"/>
                <a:ea typeface="思源黑体 CN" panose="020B0500000000000000" pitchFamily="34" charset="-122"/>
                <a:cs typeface="Noto Sans SC"/>
              </a:rPr>
              <a:t>62</a:t>
            </a:r>
          </a:p>
        </p:txBody>
      </p:sp>
      <p:sp>
        <p:nvSpPr>
          <p:cNvPr id="11" name="文本框 10"/>
          <p:cNvSpPr txBox="1"/>
          <p:nvPr/>
        </p:nvSpPr>
        <p:spPr>
          <a:xfrm>
            <a:off x="34417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通过</a:t>
            </a:r>
          </a:p>
        </p:txBody>
      </p:sp>
      <p:sp>
        <p:nvSpPr>
          <p:cNvPr id="12" name="矩形: 圆角 11"/>
          <p:cNvSpPr/>
          <p:nvPr/>
        </p:nvSpPr>
        <p:spPr>
          <a:xfrm>
            <a:off x="6121400" y="1206500"/>
            <a:ext cx="2501900" cy="1206500"/>
          </a:xfrm>
          <a:prstGeom prst="roundRect">
            <a:avLst/>
          </a:prstGeom>
          <a:solidFill>
            <a:srgbClr val="FFFFFF"/>
          </a:solidFill>
          <a:ln w="19050"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13" name="矩形 12"/>
          <p:cNvSpPr/>
          <p:nvPr/>
        </p:nvSpPr>
        <p:spPr>
          <a:xfrm>
            <a:off x="6121400" y="1206500"/>
            <a:ext cx="2501900" cy="63500"/>
          </a:xfrm>
          <a:prstGeom prst="rect">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76" name="文本框 75"/>
          <p:cNvSpPr txBox="1"/>
          <p:nvPr/>
        </p:nvSpPr>
        <p:spPr>
          <a:xfrm>
            <a:off x="6121400" y="1384300"/>
            <a:ext cx="2501900" cy="646331"/>
          </a:xfrm>
          <a:prstGeom prst="rect">
            <a:avLst/>
          </a:prstGeom>
          <a:noFill/>
        </p:spPr>
        <p:txBody>
          <a:bodyPr vertOverflow="overflow" vert="horz" wrap="square" rtlCol="0" anchor="t">
            <a:spAutoFit/>
          </a:bodyPr>
          <a:lstStyle/>
          <a:p>
            <a:pPr algn="l"/>
            <a:r>
              <a:rPr lang="en-US" altLang="zh-CN" sz="3600" b="1">
                <a:solidFill>
                  <a:srgbClr val="D32F2F"/>
                </a:solidFill>
                <a:latin typeface="思源黑体 CN" panose="020B0500000000000000" pitchFamily="34" charset="-122"/>
                <a:ea typeface="思源黑体 CN" panose="020B0500000000000000" pitchFamily="34" charset="-122"/>
                <a:cs typeface="Noto Sans SC"/>
              </a:rPr>
              <a:t>0</a:t>
            </a:r>
          </a:p>
        </p:txBody>
      </p:sp>
      <p:sp>
        <p:nvSpPr>
          <p:cNvPr id="81" name="文本框 80"/>
          <p:cNvSpPr txBox="1"/>
          <p:nvPr/>
        </p:nvSpPr>
        <p:spPr>
          <a:xfrm>
            <a:off x="61214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失败</a:t>
            </a:r>
          </a:p>
        </p:txBody>
      </p:sp>
      <p:sp>
        <p:nvSpPr>
          <p:cNvPr id="82" name="矩形: 圆角 81"/>
          <p:cNvSpPr/>
          <p:nvPr/>
        </p:nvSpPr>
        <p:spPr>
          <a:xfrm>
            <a:off x="8801100" y="1206500"/>
            <a:ext cx="2501900" cy="1206500"/>
          </a:xfrm>
          <a:prstGeom prst="roundRect">
            <a:avLst/>
          </a:prstGeom>
          <a:solidFill>
            <a:srgbClr val="FFFFFF"/>
          </a:solidFill>
          <a:ln w="1905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3" name="矩形 82"/>
          <p:cNvSpPr/>
          <p:nvPr/>
        </p:nvSpPr>
        <p:spPr>
          <a:xfrm>
            <a:off x="8801100" y="1206500"/>
            <a:ext cx="2501900" cy="635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4" name="文本框 83"/>
          <p:cNvSpPr txBox="1"/>
          <p:nvPr/>
        </p:nvSpPr>
        <p:spPr>
          <a:xfrm>
            <a:off x="8801100" y="1384300"/>
            <a:ext cx="2501900" cy="646331"/>
          </a:xfrm>
          <a:prstGeom prst="rect">
            <a:avLst/>
          </a:prstGeom>
          <a:noFill/>
        </p:spPr>
        <p:txBody>
          <a:bodyPr vertOverflow="overflow" vert="horz" wrap="square" rtlCol="0" anchor="t">
            <a:spAutoFit/>
          </a:bodyPr>
          <a:lstStyle/>
          <a:p>
            <a:pPr algn="l"/>
            <a:r>
              <a:rPr lang="en-US" altLang="zh-CN" sz="3600" b="1">
                <a:solidFill>
                  <a:srgbClr val="E6A43A"/>
                </a:solidFill>
                <a:latin typeface="思源黑体 CN" panose="020B0500000000000000" pitchFamily="34" charset="-122"/>
                <a:ea typeface="思源黑体 CN" panose="020B0500000000000000" pitchFamily="34" charset="-122"/>
                <a:cs typeface="Noto Sans SC"/>
              </a:rPr>
              <a:t>100%</a:t>
            </a:r>
          </a:p>
        </p:txBody>
      </p:sp>
      <p:sp>
        <p:nvSpPr>
          <p:cNvPr id="85" name="文本框 84"/>
          <p:cNvSpPr txBox="1"/>
          <p:nvPr/>
        </p:nvSpPr>
        <p:spPr>
          <a:xfrm>
            <a:off x="8801100" y="2019300"/>
            <a:ext cx="2501900" cy="292388"/>
          </a:xfrm>
          <a:prstGeom prst="rect">
            <a:avLst/>
          </a:prstGeom>
          <a:noFill/>
        </p:spPr>
        <p:txBody>
          <a:bodyPr vertOverflow="overflow" vert="horz" wrap="square" rtlCol="0" anchor="t">
            <a:spAutoFit/>
          </a:bodyPr>
          <a:lstStyle/>
          <a:p>
            <a:pPr algn="l"/>
            <a:r>
              <a:rPr lang="zh-CN" altLang="en-US" sz="1300" b="1">
                <a:solidFill>
                  <a:srgbClr val="1F1F1F"/>
                </a:solidFill>
                <a:latin typeface="思源黑体 CN" panose="020B0500000000000000" pitchFamily="34" charset="-122"/>
                <a:ea typeface="思源黑体 CN" panose="020B0500000000000000" pitchFamily="34" charset="-122"/>
                <a:cs typeface="Noto Sans SC"/>
              </a:rPr>
              <a:t>通过率</a:t>
            </a:r>
          </a:p>
        </p:txBody>
      </p:sp>
      <p:sp>
        <p:nvSpPr>
          <p:cNvPr id="86" name="矩形: 圆角 85"/>
          <p:cNvSpPr/>
          <p:nvPr/>
        </p:nvSpPr>
        <p:spPr>
          <a:xfrm>
            <a:off x="762000" y="2514600"/>
            <a:ext cx="10668000" cy="254000"/>
          </a:xfrm>
          <a:prstGeom prst="roundRect">
            <a:avLst/>
          </a:prstGeom>
          <a:solidFill>
            <a:srgbClr val="E8EFE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7" name="矩形: 圆角 86"/>
          <p:cNvSpPr/>
          <p:nvPr/>
        </p:nvSpPr>
        <p:spPr>
          <a:xfrm>
            <a:off x="762000" y="2514600"/>
            <a:ext cx="10668000" cy="254000"/>
          </a:xfrm>
          <a:prstGeom prst="round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黑体 CN" panose="020B0500000000000000" pitchFamily="34" charset="-122"/>
              <a:ea typeface="思源黑体 CN" panose="020B0500000000000000" pitchFamily="34" charset="-122"/>
              <a:cs typeface="Noto Serif SC"/>
            </a:endParaRPr>
          </a:p>
        </p:txBody>
      </p:sp>
      <p:sp>
        <p:nvSpPr>
          <p:cNvPr id="88" name="文本框 87"/>
          <p:cNvSpPr txBox="1"/>
          <p:nvPr/>
        </p:nvSpPr>
        <p:spPr>
          <a:xfrm>
            <a:off x="762000" y="2514600"/>
            <a:ext cx="10668000" cy="254000"/>
          </a:xfrm>
          <a:prstGeom prst="rect">
            <a:avLst/>
          </a:prstGeom>
          <a:noFill/>
        </p:spPr>
        <p:txBody>
          <a:bodyPr vertOverflow="overflow" vert="horz" wrap="none" rtlCol="0" anchor="ctr" anchorCtr="0">
            <a:noAutofit/>
          </a:bodyPr>
          <a:lstStyle/>
          <a:p>
            <a:pPr algn="ctr"/>
            <a:r>
              <a:rPr lang="en-US" altLang="zh-CN" sz="1100" b="1">
                <a:solidFill>
                  <a:srgbClr val="FFFFFF"/>
                </a:solidFill>
                <a:latin typeface="思源黑体 CN" panose="020B0500000000000000" pitchFamily="34" charset="-122"/>
                <a:ea typeface="思源黑体 CN" panose="020B0500000000000000" pitchFamily="34" charset="-122"/>
                <a:cs typeface="Noto Sans SC"/>
              </a:rPr>
              <a:t>100% · </a:t>
            </a:r>
            <a:r>
              <a:rPr lang="zh-CN" altLang="en-US" sz="1100" b="1">
                <a:solidFill>
                  <a:srgbClr val="FFFFFF"/>
                </a:solidFill>
                <a:latin typeface="思源黑体 CN" panose="020B0500000000000000" pitchFamily="34" charset="-122"/>
                <a:ea typeface="思源黑体 CN" panose="020B0500000000000000" pitchFamily="34" charset="-122"/>
                <a:cs typeface="Noto Sans SC"/>
              </a:rPr>
              <a:t>全部通过</a:t>
            </a:r>
          </a:p>
        </p:txBody>
      </p:sp>
      <p:sp>
        <p:nvSpPr>
          <p:cNvPr id="89" name="文本框 88"/>
          <p:cNvSpPr txBox="1"/>
          <p:nvPr/>
        </p:nvSpPr>
        <p:spPr>
          <a:xfrm>
            <a:off x="952500" y="2946400"/>
            <a:ext cx="3810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分层通过情况</a:t>
            </a:r>
          </a:p>
        </p:txBody>
      </p:sp>
      <p:sp>
        <p:nvSpPr>
          <p:cNvPr id="90" name="矩形 89"/>
          <p:cNvSpPr/>
          <p:nvPr/>
        </p:nvSpPr>
        <p:spPr>
          <a:xfrm>
            <a:off x="762000" y="3327400"/>
            <a:ext cx="5461000" cy="355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1" name="文本框 90"/>
          <p:cNvSpPr txBox="1"/>
          <p:nvPr/>
        </p:nvSpPr>
        <p:spPr>
          <a:xfrm>
            <a:off x="889000" y="3378200"/>
            <a:ext cx="2540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层次</a:t>
            </a:r>
          </a:p>
        </p:txBody>
      </p:sp>
      <p:sp>
        <p:nvSpPr>
          <p:cNvPr id="92" name="文本框 91"/>
          <p:cNvSpPr txBox="1"/>
          <p:nvPr/>
        </p:nvSpPr>
        <p:spPr>
          <a:xfrm>
            <a:off x="3683000" y="3378200"/>
            <a:ext cx="1016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用例数</a:t>
            </a:r>
          </a:p>
        </p:txBody>
      </p:sp>
      <p:sp>
        <p:nvSpPr>
          <p:cNvPr id="93" name="文本框 92"/>
          <p:cNvSpPr txBox="1"/>
          <p:nvPr/>
        </p:nvSpPr>
        <p:spPr>
          <a:xfrm>
            <a:off x="4953000" y="3378200"/>
            <a:ext cx="1143000" cy="276999"/>
          </a:xfrm>
          <a:prstGeom prst="rect">
            <a:avLst/>
          </a:prstGeom>
          <a:noFill/>
        </p:spPr>
        <p:txBody>
          <a:bodyPr vertOverflow="overflow" vert="horz" wrap="square" rtlCol="0" anchor="t">
            <a:spAutoFit/>
          </a:bodyPr>
          <a:lstStyle/>
          <a:p>
            <a:pPr algn="l"/>
            <a:r>
              <a:rPr lang="zh-CN" altLang="en-US" sz="1200" b="1" dirty="0">
                <a:solidFill>
                  <a:srgbClr val="FFFFFF"/>
                </a:solidFill>
                <a:latin typeface="思源黑体 CN" panose="020B0500000000000000" pitchFamily="34" charset="-122"/>
                <a:ea typeface="思源黑体 CN" panose="020B0500000000000000" pitchFamily="34" charset="-122"/>
                <a:cs typeface="Noto Sans SC"/>
              </a:rPr>
              <a:t>通过率</a:t>
            </a:r>
          </a:p>
        </p:txBody>
      </p:sp>
      <p:sp>
        <p:nvSpPr>
          <p:cNvPr id="94" name="矩形 93"/>
          <p:cNvSpPr/>
          <p:nvPr/>
        </p:nvSpPr>
        <p:spPr>
          <a:xfrm>
            <a:off x="762000" y="3683000"/>
            <a:ext cx="5461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5" name="矩形 94"/>
          <p:cNvSpPr/>
          <p:nvPr/>
        </p:nvSpPr>
        <p:spPr>
          <a:xfrm>
            <a:off x="889000" y="3810000"/>
            <a:ext cx="101600" cy="1016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96" name="文本框 95"/>
          <p:cNvSpPr txBox="1"/>
          <p:nvPr/>
        </p:nvSpPr>
        <p:spPr>
          <a:xfrm>
            <a:off x="1066800" y="37338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单元</a:t>
            </a:r>
            <a:r>
              <a:rPr lang="en-US" altLang="zh-CN" sz="1200">
                <a:solidFill>
                  <a:srgbClr val="1F1F1F"/>
                </a:solidFill>
                <a:latin typeface="思源宋体" panose="02020400000000000000" pitchFamily="18" charset="-122"/>
                <a:ea typeface="思源宋体" panose="02020400000000000000" pitchFamily="18" charset="-122"/>
                <a:cs typeface="Noto Serif SC"/>
              </a:rPr>
              <a:t>·</a:t>
            </a:r>
            <a:r>
              <a:rPr lang="zh-CN" altLang="en-US" sz="1200">
                <a:solidFill>
                  <a:srgbClr val="1F1F1F"/>
                </a:solidFill>
                <a:latin typeface="思源宋体" panose="02020400000000000000" pitchFamily="18" charset="-122"/>
                <a:ea typeface="思源宋体" panose="02020400000000000000" pitchFamily="18" charset="-122"/>
                <a:cs typeface="Noto Serif SC"/>
              </a:rPr>
              <a:t>工具层</a:t>
            </a:r>
          </a:p>
        </p:txBody>
      </p:sp>
      <p:sp>
        <p:nvSpPr>
          <p:cNvPr id="97" name="文本框 96"/>
          <p:cNvSpPr txBox="1"/>
          <p:nvPr/>
        </p:nvSpPr>
        <p:spPr>
          <a:xfrm>
            <a:off x="3683000" y="37338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9</a:t>
            </a:r>
          </a:p>
        </p:txBody>
      </p:sp>
      <p:sp>
        <p:nvSpPr>
          <p:cNvPr id="98" name="文本框 97"/>
          <p:cNvSpPr txBox="1"/>
          <p:nvPr/>
        </p:nvSpPr>
        <p:spPr>
          <a:xfrm>
            <a:off x="4953000" y="37338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99" name="矩形 98"/>
          <p:cNvSpPr/>
          <p:nvPr/>
        </p:nvSpPr>
        <p:spPr>
          <a:xfrm>
            <a:off x="762000" y="4038600"/>
            <a:ext cx="5461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00" name="矩形 99"/>
          <p:cNvSpPr/>
          <p:nvPr/>
        </p:nvSpPr>
        <p:spPr>
          <a:xfrm>
            <a:off x="889000" y="4165600"/>
            <a:ext cx="101600" cy="1016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01" name="文本框 100"/>
          <p:cNvSpPr txBox="1"/>
          <p:nvPr/>
        </p:nvSpPr>
        <p:spPr>
          <a:xfrm>
            <a:off x="1066800" y="40894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单元</a:t>
            </a:r>
            <a:r>
              <a:rPr lang="en-US" altLang="zh-CN" sz="1200">
                <a:solidFill>
                  <a:srgbClr val="1F1F1F"/>
                </a:solidFill>
                <a:latin typeface="思源宋体" panose="02020400000000000000" pitchFamily="18" charset="-122"/>
                <a:ea typeface="思源宋体" panose="02020400000000000000" pitchFamily="18" charset="-122"/>
                <a:cs typeface="Noto Serif SC"/>
              </a:rPr>
              <a:t>·</a:t>
            </a:r>
            <a:r>
              <a:rPr lang="zh-CN" altLang="en-US" sz="1200">
                <a:solidFill>
                  <a:srgbClr val="1F1F1F"/>
                </a:solidFill>
                <a:latin typeface="思源宋体" panose="02020400000000000000" pitchFamily="18" charset="-122"/>
                <a:ea typeface="思源宋体" panose="02020400000000000000" pitchFamily="18" charset="-122"/>
                <a:cs typeface="Noto Serif SC"/>
              </a:rPr>
              <a:t>服务层</a:t>
            </a:r>
          </a:p>
        </p:txBody>
      </p:sp>
      <p:sp>
        <p:nvSpPr>
          <p:cNvPr id="102" name="文本框 101"/>
          <p:cNvSpPr txBox="1"/>
          <p:nvPr/>
        </p:nvSpPr>
        <p:spPr>
          <a:xfrm>
            <a:off x="3683000" y="40894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19</a:t>
            </a:r>
          </a:p>
        </p:txBody>
      </p:sp>
      <p:sp>
        <p:nvSpPr>
          <p:cNvPr id="103" name="文本框 102"/>
          <p:cNvSpPr txBox="1"/>
          <p:nvPr/>
        </p:nvSpPr>
        <p:spPr>
          <a:xfrm>
            <a:off x="4953000" y="40894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04" name="矩形 103"/>
          <p:cNvSpPr/>
          <p:nvPr/>
        </p:nvSpPr>
        <p:spPr>
          <a:xfrm>
            <a:off x="762000" y="4394200"/>
            <a:ext cx="5461000" cy="355600"/>
          </a:xfrm>
          <a:prstGeom prst="rect">
            <a:avLst/>
          </a:prstGeom>
          <a:solidFill>
            <a:srgbClr val="FFFFFF"/>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宋体" panose="02020400000000000000" pitchFamily="18" charset="-122"/>
              <a:ea typeface="思源宋体" panose="02020400000000000000" pitchFamily="18" charset="-122"/>
              <a:cs typeface="Noto Serif SC"/>
            </a:endParaRPr>
          </a:p>
        </p:txBody>
      </p:sp>
      <p:sp>
        <p:nvSpPr>
          <p:cNvPr id="105" name="矩形 104"/>
          <p:cNvSpPr/>
          <p:nvPr/>
        </p:nvSpPr>
        <p:spPr>
          <a:xfrm>
            <a:off x="889000" y="4521200"/>
            <a:ext cx="101600" cy="101600"/>
          </a:xfrm>
          <a:prstGeom prst="rect">
            <a:avLst/>
          </a:prstGeom>
          <a:solidFill>
            <a:srgbClr val="2A8C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06" name="文本框 105"/>
          <p:cNvSpPr txBox="1"/>
          <p:nvPr/>
        </p:nvSpPr>
        <p:spPr>
          <a:xfrm>
            <a:off x="1066800" y="44450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集成测试</a:t>
            </a:r>
          </a:p>
        </p:txBody>
      </p:sp>
      <p:sp>
        <p:nvSpPr>
          <p:cNvPr id="107" name="文本框 106"/>
          <p:cNvSpPr txBox="1"/>
          <p:nvPr/>
        </p:nvSpPr>
        <p:spPr>
          <a:xfrm>
            <a:off x="3683000" y="44450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15</a:t>
            </a:r>
          </a:p>
        </p:txBody>
      </p:sp>
      <p:sp>
        <p:nvSpPr>
          <p:cNvPr id="108" name="文本框 107"/>
          <p:cNvSpPr txBox="1"/>
          <p:nvPr/>
        </p:nvSpPr>
        <p:spPr>
          <a:xfrm>
            <a:off x="4953000" y="44450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09" name="矩形 108"/>
          <p:cNvSpPr/>
          <p:nvPr/>
        </p:nvSpPr>
        <p:spPr>
          <a:xfrm>
            <a:off x="762000" y="4749800"/>
            <a:ext cx="5461000" cy="355600"/>
          </a:xfrm>
          <a:prstGeom prst="rect">
            <a:avLst/>
          </a:prstGeom>
          <a:solidFill>
            <a:srgbClr val="F4F8FC"/>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0" name="矩形 109"/>
          <p:cNvSpPr/>
          <p:nvPr/>
        </p:nvSpPr>
        <p:spPr>
          <a:xfrm>
            <a:off x="889000" y="4876800"/>
            <a:ext cx="101600" cy="1016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sz="2000">
              <a:latin typeface="Noto Serif SC"/>
              <a:ea typeface="Noto Serif SC"/>
              <a:cs typeface="Noto Serif SC"/>
            </a:endParaRPr>
          </a:p>
        </p:txBody>
      </p:sp>
      <p:sp>
        <p:nvSpPr>
          <p:cNvPr id="111" name="文本框 110"/>
          <p:cNvSpPr txBox="1"/>
          <p:nvPr/>
        </p:nvSpPr>
        <p:spPr>
          <a:xfrm>
            <a:off x="1066800" y="4800600"/>
            <a:ext cx="2540000" cy="276999"/>
          </a:xfrm>
          <a:prstGeom prst="rect">
            <a:avLst/>
          </a:prstGeom>
          <a:noFill/>
        </p:spPr>
        <p:txBody>
          <a:bodyPr vertOverflow="overflow" vert="horz" wrap="square" rtlCol="0" anchor="t">
            <a:spAutoFit/>
          </a:bodyPr>
          <a:lstStyle/>
          <a:p>
            <a:pPr algn="l"/>
            <a:r>
              <a:rPr lang="zh-CN" altLang="en-US" sz="1200">
                <a:solidFill>
                  <a:srgbClr val="1F1F1F"/>
                </a:solidFill>
                <a:latin typeface="思源宋体" panose="02020400000000000000" pitchFamily="18" charset="-122"/>
                <a:ea typeface="思源宋体" panose="02020400000000000000" pitchFamily="18" charset="-122"/>
                <a:cs typeface="Noto Serif SC"/>
              </a:rPr>
              <a:t>系统测试</a:t>
            </a:r>
          </a:p>
        </p:txBody>
      </p:sp>
      <p:sp>
        <p:nvSpPr>
          <p:cNvPr id="112" name="文本框 111"/>
          <p:cNvSpPr txBox="1"/>
          <p:nvPr/>
        </p:nvSpPr>
        <p:spPr>
          <a:xfrm>
            <a:off x="3683000" y="4800600"/>
            <a:ext cx="1016000" cy="276999"/>
          </a:xfrm>
          <a:prstGeom prst="rect">
            <a:avLst/>
          </a:prstGeom>
          <a:noFill/>
        </p:spPr>
        <p:txBody>
          <a:bodyPr vertOverflow="overflow" vert="horz" wrap="square" rtlCol="0" anchor="t">
            <a:spAutoFit/>
          </a:bodyPr>
          <a:lstStyle/>
          <a:p>
            <a:pPr algn="l"/>
            <a:r>
              <a:rPr lang="en-US" altLang="zh-CN" sz="1200">
                <a:solidFill>
                  <a:srgbClr val="1F1F1F"/>
                </a:solidFill>
                <a:latin typeface="思源宋体" panose="02020400000000000000" pitchFamily="18" charset="-122"/>
                <a:ea typeface="思源宋体" panose="02020400000000000000" pitchFamily="18" charset="-122"/>
                <a:cs typeface="Noto Serif SC"/>
              </a:rPr>
              <a:t>19</a:t>
            </a:r>
          </a:p>
        </p:txBody>
      </p:sp>
      <p:sp>
        <p:nvSpPr>
          <p:cNvPr id="113" name="文本框 112"/>
          <p:cNvSpPr txBox="1"/>
          <p:nvPr/>
        </p:nvSpPr>
        <p:spPr>
          <a:xfrm>
            <a:off x="4953000" y="4800600"/>
            <a:ext cx="1143000" cy="276999"/>
          </a:xfrm>
          <a:prstGeom prst="rect">
            <a:avLst/>
          </a:prstGeom>
          <a:noFill/>
        </p:spPr>
        <p:txBody>
          <a:bodyPr vertOverflow="overflow" vert="horz" wrap="square" rtlCol="0" anchor="t">
            <a:spAutoFit/>
          </a:bodyPr>
          <a:lstStyle/>
          <a:p>
            <a:pPr algn="l"/>
            <a:r>
              <a:rPr lang="en-US" altLang="zh-CN" sz="1200" b="1">
                <a:solidFill>
                  <a:srgbClr val="6EA843"/>
                </a:solidFill>
                <a:latin typeface="思源黑体 CN" panose="020B0500000000000000" pitchFamily="34" charset="-122"/>
                <a:ea typeface="思源黑体 CN" panose="020B0500000000000000" pitchFamily="34" charset="-122"/>
                <a:cs typeface="Noto Sans SC"/>
              </a:rPr>
              <a:t>100%</a:t>
            </a:r>
          </a:p>
        </p:txBody>
      </p:sp>
      <p:sp>
        <p:nvSpPr>
          <p:cNvPr id="114" name="矩形 113"/>
          <p:cNvSpPr/>
          <p:nvPr/>
        </p:nvSpPr>
        <p:spPr>
          <a:xfrm>
            <a:off x="762000" y="5105400"/>
            <a:ext cx="5461000" cy="355600"/>
          </a:xfrm>
          <a:prstGeom prst="rect">
            <a:avLst/>
          </a:prstGeom>
          <a:solidFill>
            <a:srgbClr val="E8F1FA"/>
          </a:solidFill>
          <a:ln w="6350" cap="flat" cmpd="sng" algn="ctr">
            <a:solidFill>
              <a:srgbClr val="DDE4E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15" name="文本框 114"/>
          <p:cNvSpPr txBox="1"/>
          <p:nvPr/>
        </p:nvSpPr>
        <p:spPr>
          <a:xfrm>
            <a:off x="889000" y="5156200"/>
            <a:ext cx="2540000" cy="276999"/>
          </a:xfrm>
          <a:prstGeom prst="rect">
            <a:avLst/>
          </a:prstGeom>
          <a:noFill/>
        </p:spPr>
        <p:txBody>
          <a:bodyPr vertOverflow="overflow" vert="horz" wrap="square" rtlCol="0" anchor="t">
            <a:spAutoFit/>
          </a:bodyPr>
          <a:lstStyle/>
          <a:p>
            <a:pPr algn="l"/>
            <a:r>
              <a:rPr lang="zh-CN" altLang="en-US" sz="1200" b="1">
                <a:solidFill>
                  <a:srgbClr val="1F1F1F"/>
                </a:solidFill>
                <a:latin typeface="思源黑体 CN" panose="020B0500000000000000" pitchFamily="34" charset="-122"/>
                <a:ea typeface="思源黑体 CN" panose="020B0500000000000000" pitchFamily="34" charset="-122"/>
                <a:cs typeface="Noto Sans SC"/>
              </a:rPr>
              <a:t>合计</a:t>
            </a:r>
          </a:p>
        </p:txBody>
      </p:sp>
      <p:sp>
        <p:nvSpPr>
          <p:cNvPr id="116" name="文本框 115"/>
          <p:cNvSpPr txBox="1"/>
          <p:nvPr/>
        </p:nvSpPr>
        <p:spPr>
          <a:xfrm>
            <a:off x="3683000" y="5156200"/>
            <a:ext cx="1016000" cy="276999"/>
          </a:xfrm>
          <a:prstGeom prst="rect">
            <a:avLst/>
          </a:prstGeom>
          <a:noFill/>
        </p:spPr>
        <p:txBody>
          <a:bodyPr vertOverflow="overflow" vert="horz" wrap="square" rtlCol="0" anchor="t">
            <a:spAutoFit/>
          </a:bodyPr>
          <a:lstStyle/>
          <a:p>
            <a:pPr algn="l"/>
            <a:r>
              <a:rPr lang="en-US" altLang="zh-CN" sz="1200" b="1">
                <a:solidFill>
                  <a:srgbClr val="1F1F1F"/>
                </a:solidFill>
                <a:latin typeface="思源黑体 CN" panose="020B0500000000000000" pitchFamily="34" charset="-122"/>
                <a:ea typeface="思源黑体 CN" panose="020B0500000000000000" pitchFamily="34" charset="-122"/>
                <a:cs typeface="Noto Sans SC"/>
              </a:rPr>
              <a:t>62</a:t>
            </a:r>
          </a:p>
        </p:txBody>
      </p:sp>
      <p:sp>
        <p:nvSpPr>
          <p:cNvPr id="117" name="文本框 116"/>
          <p:cNvSpPr txBox="1"/>
          <p:nvPr/>
        </p:nvSpPr>
        <p:spPr>
          <a:xfrm>
            <a:off x="4953000" y="5156200"/>
            <a:ext cx="1143000" cy="276999"/>
          </a:xfrm>
          <a:prstGeom prst="rect">
            <a:avLst/>
          </a:prstGeom>
          <a:noFill/>
        </p:spPr>
        <p:txBody>
          <a:bodyPr vertOverflow="overflow" vert="horz" wrap="square" rtlCol="0" anchor="t">
            <a:spAutoFit/>
          </a:bodyPr>
          <a:lstStyle/>
          <a:p>
            <a:pPr algn="l"/>
            <a:r>
              <a:rPr lang="en-US" altLang="zh-CN" sz="1200" b="1">
                <a:solidFill>
                  <a:srgbClr val="004E97"/>
                </a:solidFill>
                <a:latin typeface="思源黑体 CN" panose="020B0500000000000000" pitchFamily="34" charset="-122"/>
                <a:ea typeface="思源黑体 CN" panose="020B0500000000000000" pitchFamily="34" charset="-122"/>
                <a:cs typeface="Noto Sans SC"/>
              </a:rPr>
              <a:t>100%</a:t>
            </a:r>
          </a:p>
        </p:txBody>
      </p:sp>
      <p:sp>
        <p:nvSpPr>
          <p:cNvPr id="118" name="文本框 117"/>
          <p:cNvSpPr txBox="1"/>
          <p:nvPr/>
        </p:nvSpPr>
        <p:spPr>
          <a:xfrm>
            <a:off x="6477000" y="2946400"/>
            <a:ext cx="5080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测试发现并修复的缺陷</a:t>
            </a:r>
          </a:p>
        </p:txBody>
      </p:sp>
      <p:sp>
        <p:nvSpPr>
          <p:cNvPr id="119" name="矩形: 圆角 118"/>
          <p:cNvSpPr/>
          <p:nvPr/>
        </p:nvSpPr>
        <p:spPr>
          <a:xfrm>
            <a:off x="6477000" y="3327400"/>
            <a:ext cx="4953000" cy="2489200"/>
          </a:xfrm>
          <a:prstGeom prst="roundRect">
            <a:avLst/>
          </a:prstGeom>
          <a:solidFill>
            <a:srgbClr val="F4F8FC"/>
          </a:solidFill>
          <a:ln w="9525"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21" name="椭圆 120"/>
          <p:cNvSpPr/>
          <p:nvPr/>
        </p:nvSpPr>
        <p:spPr>
          <a:xfrm>
            <a:off x="6604000" y="34798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dirty="0">
                <a:solidFill>
                  <a:srgbClr val="FFFFFF"/>
                </a:solidFill>
                <a:latin typeface="思源黑体 CN" panose="020B0500000000000000" pitchFamily="34" charset="-122"/>
                <a:ea typeface="思源黑体 CN" panose="020B0500000000000000" pitchFamily="34" charset="-122"/>
                <a:cs typeface="Noto Sans SC"/>
              </a:rPr>
              <a:t>1</a:t>
            </a:r>
          </a:p>
        </p:txBody>
      </p:sp>
      <p:sp>
        <p:nvSpPr>
          <p:cNvPr id="122" name="文本框 121"/>
          <p:cNvSpPr txBox="1"/>
          <p:nvPr/>
        </p:nvSpPr>
        <p:spPr>
          <a:xfrm>
            <a:off x="6934200" y="3429000"/>
            <a:ext cx="3810000" cy="269304"/>
          </a:xfrm>
          <a:prstGeom prst="rect">
            <a:avLst/>
          </a:prstGeom>
          <a:noFill/>
        </p:spPr>
        <p:txBody>
          <a:bodyPr vertOverflow="overflow" vert="horz" wrap="square" rtlCol="0" anchor="t">
            <a:spAutoFit/>
          </a:bodyPr>
          <a:lstStyle/>
          <a:p>
            <a:pPr algn="l"/>
            <a:r>
              <a:rPr lang="zh-CN" altLang="en-US" sz="1150" b="1" dirty="0">
                <a:solidFill>
                  <a:srgbClr val="1F1F1F"/>
                </a:solidFill>
                <a:latin typeface="思源黑体 CN" panose="020B0500000000000000" pitchFamily="34" charset="-122"/>
                <a:ea typeface="思源黑体 CN" panose="020B0500000000000000" pitchFamily="34" charset="-122"/>
                <a:cs typeface="Noto Sans SC"/>
              </a:rPr>
              <a:t>停用窗口仍出现在搜索结果</a:t>
            </a:r>
          </a:p>
        </p:txBody>
      </p:sp>
      <p:sp>
        <p:nvSpPr>
          <p:cNvPr id="123" name="矩形: 圆角 122"/>
          <p:cNvSpPr/>
          <p:nvPr/>
        </p:nvSpPr>
        <p:spPr>
          <a:xfrm>
            <a:off x="6934200" y="36703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TC-U-11</a:t>
            </a:r>
          </a:p>
        </p:txBody>
      </p:sp>
      <p:sp>
        <p:nvSpPr>
          <p:cNvPr id="124" name="文本框 123"/>
          <p:cNvSpPr txBox="1"/>
          <p:nvPr/>
        </p:nvSpPr>
        <p:spPr>
          <a:xfrm>
            <a:off x="7772400" y="36703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stall_service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添加 </a:t>
            </a:r>
            <a:r>
              <a:rPr lang="en-US" altLang="zh-CN" sz="1050">
                <a:solidFill>
                  <a:srgbClr val="666666"/>
                </a:solidFill>
                <a:latin typeface="思源宋体" panose="02020400000000000000" pitchFamily="18" charset="-122"/>
                <a:ea typeface="思源宋体" panose="02020400000000000000" pitchFamily="18" charset="-122"/>
                <a:cs typeface="Noto Serif SC"/>
              </a:rPr>
              <a:t>status=1 </a:t>
            </a:r>
            <a:r>
              <a:rPr lang="zh-CN" altLang="en-US" sz="1050">
                <a:solidFill>
                  <a:srgbClr val="666666"/>
                </a:solidFill>
                <a:latin typeface="思源宋体" panose="02020400000000000000" pitchFamily="18" charset="-122"/>
                <a:ea typeface="思源宋体" panose="02020400000000000000" pitchFamily="18" charset="-122"/>
                <a:cs typeface="Noto Serif SC"/>
              </a:rPr>
              <a:t>过滤</a:t>
            </a:r>
          </a:p>
        </p:txBody>
      </p:sp>
      <p:sp>
        <p:nvSpPr>
          <p:cNvPr id="125" name="椭圆 124"/>
          <p:cNvSpPr/>
          <p:nvPr/>
        </p:nvSpPr>
        <p:spPr>
          <a:xfrm>
            <a:off x="6604000" y="40513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2</a:t>
            </a:r>
          </a:p>
        </p:txBody>
      </p:sp>
      <p:sp>
        <p:nvSpPr>
          <p:cNvPr id="126" name="文本框 125"/>
          <p:cNvSpPr txBox="1"/>
          <p:nvPr/>
        </p:nvSpPr>
        <p:spPr>
          <a:xfrm>
            <a:off x="6934200" y="40005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排行榜包含停用窗口</a:t>
            </a:r>
          </a:p>
        </p:txBody>
      </p:sp>
      <p:sp>
        <p:nvSpPr>
          <p:cNvPr id="127" name="矩形: 圆角 126"/>
          <p:cNvSpPr/>
          <p:nvPr/>
        </p:nvSpPr>
        <p:spPr>
          <a:xfrm>
            <a:off x="6934200" y="42418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TC-U-28</a:t>
            </a:r>
          </a:p>
        </p:txBody>
      </p:sp>
      <p:sp>
        <p:nvSpPr>
          <p:cNvPr id="128" name="文本框 127"/>
          <p:cNvSpPr txBox="1"/>
          <p:nvPr/>
        </p:nvSpPr>
        <p:spPr>
          <a:xfrm>
            <a:off x="7772400" y="42418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ranking_service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同步 </a:t>
            </a:r>
            <a:r>
              <a:rPr lang="en-US" altLang="zh-CN" sz="1050">
                <a:solidFill>
                  <a:srgbClr val="666666"/>
                </a:solidFill>
                <a:latin typeface="思源宋体" panose="02020400000000000000" pitchFamily="18" charset="-122"/>
                <a:ea typeface="思源宋体" panose="02020400000000000000" pitchFamily="18" charset="-122"/>
                <a:cs typeface="Noto Serif SC"/>
              </a:rPr>
              <a:t>status </a:t>
            </a:r>
            <a:r>
              <a:rPr lang="zh-CN" altLang="en-US" sz="1050">
                <a:solidFill>
                  <a:srgbClr val="666666"/>
                </a:solidFill>
                <a:latin typeface="思源宋体" panose="02020400000000000000" pitchFamily="18" charset="-122"/>
                <a:ea typeface="思源宋体" panose="02020400000000000000" pitchFamily="18" charset="-122"/>
                <a:cs typeface="Noto Serif SC"/>
              </a:rPr>
              <a:t>过滤</a:t>
            </a:r>
          </a:p>
        </p:txBody>
      </p:sp>
      <p:sp>
        <p:nvSpPr>
          <p:cNvPr id="129" name="椭圆 128"/>
          <p:cNvSpPr/>
          <p:nvPr/>
        </p:nvSpPr>
        <p:spPr>
          <a:xfrm>
            <a:off x="6604000" y="46228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3</a:t>
            </a:r>
          </a:p>
        </p:txBody>
      </p:sp>
      <p:sp>
        <p:nvSpPr>
          <p:cNvPr id="130" name="文本框 129"/>
          <p:cNvSpPr txBox="1"/>
          <p:nvPr/>
        </p:nvSpPr>
        <p:spPr>
          <a:xfrm>
            <a:off x="6934200" y="45720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浏览历史短时间重复记录</a:t>
            </a:r>
          </a:p>
        </p:txBody>
      </p:sp>
      <p:sp>
        <p:nvSpPr>
          <p:cNvPr id="131" name="矩形: 圆角 130"/>
          <p:cNvSpPr/>
          <p:nvPr/>
        </p:nvSpPr>
        <p:spPr>
          <a:xfrm>
            <a:off x="6934200" y="48133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850" b="1">
                <a:solidFill>
                  <a:srgbClr val="FFFFFF"/>
                </a:solidFill>
                <a:latin typeface="思源黑体 CN" panose="020B0500000000000000" pitchFamily="34" charset="-122"/>
                <a:ea typeface="思源黑体 CN" panose="020B0500000000000000" pitchFamily="34" charset="-122"/>
                <a:cs typeface="Noto Sans SC"/>
              </a:rPr>
              <a:t>TC-I-12</a:t>
            </a:r>
          </a:p>
        </p:txBody>
      </p:sp>
      <p:sp>
        <p:nvSpPr>
          <p:cNvPr id="132" name="文本框 131"/>
          <p:cNvSpPr txBox="1"/>
          <p:nvPr/>
        </p:nvSpPr>
        <p:spPr>
          <a:xfrm>
            <a:off x="7772400" y="4813300"/>
            <a:ext cx="3556000" cy="253916"/>
          </a:xfrm>
          <a:prstGeom prst="rect">
            <a:avLst/>
          </a:prstGeom>
          <a:noFill/>
        </p:spPr>
        <p:txBody>
          <a:bodyPr vertOverflow="overflow" vert="horz" wrap="square" rtlCol="0" anchor="t">
            <a:spAutoFit/>
          </a:bodyPr>
          <a:lstStyle/>
          <a:p>
            <a:pPr algn="l"/>
            <a:r>
              <a:rPr lang="en-US" altLang="zh-CN" sz="1050">
                <a:solidFill>
                  <a:srgbClr val="666666"/>
                </a:solidFill>
                <a:latin typeface="思源宋体" panose="02020400000000000000" pitchFamily="18" charset="-122"/>
                <a:ea typeface="思源宋体" panose="02020400000000000000" pitchFamily="18" charset="-122"/>
                <a:cs typeface="Noto Serif SC"/>
              </a:rPr>
              <a:t>→ user_service </a:t>
            </a:r>
            <a:r>
              <a:rPr lang="zh-CN" altLang="en-US" sz="1050">
                <a:solidFill>
                  <a:srgbClr val="666666"/>
                </a:solidFill>
                <a:latin typeface="思源宋体" panose="02020400000000000000" pitchFamily="18" charset="-122"/>
                <a:ea typeface="思源宋体" panose="02020400000000000000" pitchFamily="18" charset="-122"/>
                <a:cs typeface="Noto Serif SC"/>
              </a:rPr>
              <a:t>添加 </a:t>
            </a:r>
            <a:r>
              <a:rPr lang="en-US" altLang="zh-CN" sz="1050">
                <a:solidFill>
                  <a:srgbClr val="666666"/>
                </a:solidFill>
                <a:latin typeface="思源宋体" panose="02020400000000000000" pitchFamily="18" charset="-122"/>
                <a:ea typeface="思源宋体" panose="02020400000000000000" pitchFamily="18" charset="-122"/>
                <a:cs typeface="Noto Serif SC"/>
              </a:rPr>
              <a:t>30 </a:t>
            </a:r>
            <a:r>
              <a:rPr lang="zh-CN" altLang="en-US" sz="1050">
                <a:solidFill>
                  <a:srgbClr val="666666"/>
                </a:solidFill>
                <a:latin typeface="思源宋体" panose="02020400000000000000" pitchFamily="18" charset="-122"/>
                <a:ea typeface="思源宋体" panose="02020400000000000000" pitchFamily="18" charset="-122"/>
                <a:cs typeface="Noto Serif SC"/>
              </a:rPr>
              <a:t>分钟去重</a:t>
            </a:r>
          </a:p>
        </p:txBody>
      </p:sp>
      <p:sp>
        <p:nvSpPr>
          <p:cNvPr id="133" name="椭圆 132"/>
          <p:cNvSpPr/>
          <p:nvPr/>
        </p:nvSpPr>
        <p:spPr>
          <a:xfrm>
            <a:off x="6604000" y="5194300"/>
            <a:ext cx="254000" cy="254000"/>
          </a:xfrm>
          <a:prstGeom prst="ellipse">
            <a:avLst/>
          </a:prstGeom>
          <a:solidFill>
            <a:srgbClr val="D32F2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000" b="1">
                <a:solidFill>
                  <a:srgbClr val="FFFFFF"/>
                </a:solidFill>
                <a:latin typeface="思源黑体 CN" panose="020B0500000000000000" pitchFamily="34" charset="-122"/>
                <a:ea typeface="思源黑体 CN" panose="020B0500000000000000" pitchFamily="34" charset="-122"/>
                <a:cs typeface="Noto Sans SC"/>
              </a:rPr>
              <a:t>4</a:t>
            </a:r>
          </a:p>
        </p:txBody>
      </p:sp>
      <p:sp>
        <p:nvSpPr>
          <p:cNvPr id="134" name="文本框 133"/>
          <p:cNvSpPr txBox="1"/>
          <p:nvPr/>
        </p:nvSpPr>
        <p:spPr>
          <a:xfrm>
            <a:off x="6934200" y="5143500"/>
            <a:ext cx="3810000" cy="269304"/>
          </a:xfrm>
          <a:prstGeom prst="rect">
            <a:avLst/>
          </a:prstGeom>
          <a:noFill/>
        </p:spPr>
        <p:txBody>
          <a:bodyPr vertOverflow="overflow" vert="horz" wrap="square" rtlCol="0" anchor="t">
            <a:spAutoFit/>
          </a:bodyPr>
          <a:lstStyle/>
          <a:p>
            <a:pPr algn="l"/>
            <a:r>
              <a:rPr lang="zh-CN" altLang="en-US" sz="1150" b="1">
                <a:solidFill>
                  <a:srgbClr val="1F1F1F"/>
                </a:solidFill>
                <a:latin typeface="思源黑体 CN" panose="020B0500000000000000" pitchFamily="34" charset="-122"/>
                <a:ea typeface="思源黑体 CN" panose="020B0500000000000000" pitchFamily="34" charset="-122"/>
                <a:cs typeface="Noto Sans SC"/>
              </a:rPr>
              <a:t>超管角色</a:t>
            </a:r>
            <a:r>
              <a:rPr lang="en-US" altLang="zh-CN" sz="1150" b="1">
                <a:solidFill>
                  <a:srgbClr val="1F1F1F"/>
                </a:solidFill>
                <a:latin typeface="思源黑体 CN" panose="020B0500000000000000" pitchFamily="34" charset="-122"/>
                <a:ea typeface="思源黑体 CN" panose="020B0500000000000000" pitchFamily="34" charset="-122"/>
                <a:cs typeface="Noto Sans SC"/>
              </a:rPr>
              <a:t>(role=2)</a:t>
            </a:r>
            <a:r>
              <a:rPr lang="zh-CN" altLang="en-US" sz="1150" b="1">
                <a:solidFill>
                  <a:srgbClr val="1F1F1F"/>
                </a:solidFill>
                <a:latin typeface="思源黑体 CN" panose="020B0500000000000000" pitchFamily="34" charset="-122"/>
                <a:ea typeface="思源黑体 CN" panose="020B0500000000000000" pitchFamily="34" charset="-122"/>
                <a:cs typeface="Noto Sans SC"/>
              </a:rPr>
              <a:t>与文档不一致</a:t>
            </a:r>
          </a:p>
        </p:txBody>
      </p:sp>
      <p:sp>
        <p:nvSpPr>
          <p:cNvPr id="135" name="矩形: 圆角 134"/>
          <p:cNvSpPr/>
          <p:nvPr/>
        </p:nvSpPr>
        <p:spPr>
          <a:xfrm>
            <a:off x="6934200" y="5384800"/>
            <a:ext cx="762000" cy="177800"/>
          </a:xfrm>
          <a:prstGeom prst="round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zh-CN" altLang="en-US" sz="850" b="1">
                <a:solidFill>
                  <a:srgbClr val="FFFFFF"/>
                </a:solidFill>
                <a:latin typeface="思源黑体 CN" panose="020B0500000000000000" pitchFamily="34" charset="-122"/>
                <a:ea typeface="思源黑体 CN" panose="020B0500000000000000" pitchFamily="34" charset="-122"/>
                <a:cs typeface="Noto Sans SC"/>
              </a:rPr>
              <a:t>代码审查</a:t>
            </a:r>
          </a:p>
        </p:txBody>
      </p:sp>
      <p:sp>
        <p:nvSpPr>
          <p:cNvPr id="136" name="文本框 135"/>
          <p:cNvSpPr txBox="1"/>
          <p:nvPr/>
        </p:nvSpPr>
        <p:spPr>
          <a:xfrm>
            <a:off x="7772400" y="5384800"/>
            <a:ext cx="3556000" cy="253916"/>
          </a:xfrm>
          <a:prstGeom prst="rect">
            <a:avLst/>
          </a:prstGeom>
          <a:noFill/>
        </p:spPr>
        <p:txBody>
          <a:bodyPr vertOverflow="overflow" vert="horz" wrap="square" rtlCol="0" anchor="t">
            <a:spAutoFit/>
          </a:bodyPr>
          <a:lstStyle/>
          <a:p>
            <a:pPr algn="l"/>
            <a:r>
              <a:rPr lang="zh-CN" altLang="en-US" sz="1050" dirty="0">
                <a:solidFill>
                  <a:srgbClr val="666666"/>
                </a:solidFill>
                <a:latin typeface="思源宋体" panose="02020400000000000000" pitchFamily="18" charset="-122"/>
                <a:ea typeface="思源宋体" panose="02020400000000000000" pitchFamily="18" charset="-122"/>
                <a:cs typeface="Noto Serif SC"/>
              </a:rPr>
              <a:t>→ 合并两级角色</a:t>
            </a:r>
          </a:p>
        </p:txBody>
      </p:sp>
      <p:sp>
        <p:nvSpPr>
          <p:cNvPr id="138" name="文本框 137"/>
          <p:cNvSpPr txBox="1"/>
          <p:nvPr/>
        </p:nvSpPr>
        <p:spPr>
          <a:xfrm>
            <a:off x="952500" y="6057900"/>
            <a:ext cx="10414000" cy="279400"/>
          </a:xfrm>
          <a:prstGeom prst="rect">
            <a:avLst/>
          </a:prstGeom>
          <a:noFill/>
        </p:spPr>
        <p:txBody>
          <a:bodyPr vertOverflow="overflow" vert="horz" wrap="square" rtlCol="0" anchor="t">
            <a:spAutoFit/>
          </a:bodyPr>
          <a:lstStyle/>
          <a:p>
            <a:pPr algn="l"/>
            <a:r>
              <a:rPr lang="zh-CN" altLang="en-US" sz="1200" b="1">
                <a:solidFill>
                  <a:srgbClr val="FFFFFF"/>
                </a:solidFill>
                <a:latin typeface="Noto Sans SC"/>
                <a:ea typeface="Noto Sans SC"/>
                <a:cs typeface="Noto Sans SC"/>
              </a:rPr>
              <a:t>核心功能通过验证  </a:t>
            </a:r>
            <a:r>
              <a:rPr lang="en-US" altLang="zh-CN" sz="1200" b="1">
                <a:solidFill>
                  <a:srgbClr val="FFFFFF"/>
                </a:solidFill>
                <a:latin typeface="Noto Sans SC"/>
                <a:ea typeface="Noto Sans SC"/>
                <a:cs typeface="Noto Sans SC"/>
              </a:rPr>
              <a:t>·  </a:t>
            </a:r>
            <a:r>
              <a:rPr lang="zh-CN" altLang="en-US" sz="1200" b="1">
                <a:solidFill>
                  <a:srgbClr val="FFFFFF"/>
                </a:solidFill>
                <a:latin typeface="Noto Sans SC"/>
                <a:ea typeface="Noto Sans SC"/>
                <a:cs typeface="Noto Sans SC"/>
              </a:rPr>
              <a:t>修复 </a:t>
            </a:r>
            <a:r>
              <a:rPr lang="en-US" altLang="zh-CN" sz="1200" b="1">
                <a:solidFill>
                  <a:srgbClr val="FFFFFF"/>
                </a:solidFill>
                <a:latin typeface="Noto Sans SC"/>
                <a:ea typeface="Noto Sans SC"/>
                <a:cs typeface="Noto Sans SC"/>
              </a:rPr>
              <a:t>4 </a:t>
            </a:r>
            <a:r>
              <a:rPr lang="zh-CN" altLang="en-US" sz="1200" b="1">
                <a:solidFill>
                  <a:srgbClr val="FFFFFF"/>
                </a:solidFill>
                <a:latin typeface="Noto Sans SC"/>
                <a:ea typeface="Noto Sans SC"/>
                <a:cs typeface="Noto Sans SC"/>
              </a:rPr>
              <a:t>处缺陷  </a:t>
            </a:r>
            <a:r>
              <a:rPr lang="en-US" altLang="zh-CN" sz="1200" b="1">
                <a:solidFill>
                  <a:srgbClr val="FFFFFF"/>
                </a:solidFill>
                <a:latin typeface="Noto Sans SC"/>
                <a:ea typeface="Noto Sans SC"/>
                <a:cs typeface="Noto Sans SC"/>
              </a:rPr>
              <a:t>·  python run_tests.py </a:t>
            </a:r>
            <a:r>
              <a:rPr lang="zh-CN" altLang="en-US" sz="1200" b="1">
                <a:solidFill>
                  <a:srgbClr val="FFFFFF"/>
                </a:solidFill>
                <a:latin typeface="Noto Sans SC"/>
                <a:ea typeface="Noto Sans SC"/>
                <a:cs typeface="Noto Sans SC"/>
              </a:rPr>
              <a:t>一键复现</a:t>
            </a:r>
          </a:p>
        </p:txBody>
      </p:sp>
    </p:spTree>
    <p:extLst>
      <p:ext uri="{BB962C8B-B14F-4D97-AF65-F5344CB8AC3E}">
        <p14:creationId xmlns:p14="http://schemas.microsoft.com/office/powerpoint/2010/main" val="68816371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5130165" cy="46164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项目成果 · 交付物与核心指标</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939800" y="1206500"/>
            <a:ext cx="3556000" cy="338554"/>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项目交付物</a:t>
            </a:r>
          </a:p>
        </p:txBody>
      </p:sp>
      <p:sp>
        <p:nvSpPr>
          <p:cNvPr id="7" name="矩形: 圆角 6"/>
          <p:cNvSpPr/>
          <p:nvPr/>
        </p:nvSpPr>
        <p:spPr>
          <a:xfrm>
            <a:off x="762000" y="16256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8" name="矩形 7"/>
          <p:cNvSpPr/>
          <p:nvPr/>
        </p:nvSpPr>
        <p:spPr>
          <a:xfrm>
            <a:off x="762000" y="1625600"/>
            <a:ext cx="50800" cy="9144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9" name="椭圆 8"/>
          <p:cNvSpPr/>
          <p:nvPr/>
        </p:nvSpPr>
        <p:spPr>
          <a:xfrm>
            <a:off x="939800" y="1841500"/>
            <a:ext cx="482600" cy="4826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01</a:t>
            </a:r>
          </a:p>
        </p:txBody>
      </p:sp>
      <p:sp>
        <p:nvSpPr>
          <p:cNvPr id="10" name="文本框 9"/>
          <p:cNvSpPr txBox="1"/>
          <p:nvPr/>
        </p:nvSpPr>
        <p:spPr>
          <a:xfrm>
            <a:off x="1587500" y="1803400"/>
            <a:ext cx="4318000" cy="307777"/>
          </a:xfrm>
          <a:prstGeom prst="rect">
            <a:avLst/>
          </a:prstGeom>
          <a:noFill/>
        </p:spPr>
        <p:txBody>
          <a:bodyPr vertOverflow="overflow" vert="horz" wrap="square" rtlCol="0" anchor="t">
            <a:spAutoFit/>
          </a:bodyPr>
          <a:lstStyle/>
          <a:p>
            <a:pPr algn="l"/>
            <a:r>
              <a:rPr lang="zh-CN" altLang="en-US" sz="1400" b="1" dirty="0">
                <a:solidFill>
                  <a:srgbClr val="004E97"/>
                </a:solidFill>
                <a:latin typeface="思源黑体 CN" panose="020B0500000000000000" pitchFamily="34" charset="-122"/>
                <a:ea typeface="思源黑体 CN" panose="020B0500000000000000" pitchFamily="34" charset="-122"/>
                <a:cs typeface="Noto Sans SC"/>
              </a:rPr>
              <a:t>可运行的系统原型</a:t>
            </a:r>
          </a:p>
        </p:txBody>
      </p:sp>
      <p:sp>
        <p:nvSpPr>
          <p:cNvPr id="11" name="文本框 10"/>
          <p:cNvSpPr txBox="1"/>
          <p:nvPr/>
        </p:nvSpPr>
        <p:spPr>
          <a:xfrm>
            <a:off x="1587500" y="2108200"/>
            <a:ext cx="4318000" cy="279400"/>
          </a:xfrm>
          <a:prstGeom prst="rect">
            <a:avLst/>
          </a:prstGeom>
          <a:noFill/>
        </p:spPr>
        <p:txBody>
          <a:bodyPr vertOverflow="overflow" vert="horz" wrap="square" rtlCol="0" anchor="t">
            <a:spAutoFit/>
          </a:bodyPr>
          <a:lstStyle/>
          <a:p>
            <a:pPr algn="l"/>
            <a:r>
              <a:rPr lang="zh-CN" altLang="en-US" sz="1200" dirty="0">
                <a:solidFill>
                  <a:srgbClr val="1F1F1F"/>
                </a:solidFill>
                <a:latin typeface="思源宋体" panose="02020400000000000000" pitchFamily="18" charset="-122"/>
                <a:ea typeface="思源宋体" panose="02020400000000000000" pitchFamily="18" charset="-122"/>
                <a:cs typeface="Noto Serif SC"/>
              </a:rPr>
              <a:t>启动后端</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前端即可完整体验全部功能</a:t>
            </a:r>
          </a:p>
        </p:txBody>
      </p:sp>
      <p:sp>
        <p:nvSpPr>
          <p:cNvPr id="12" name="矩形: 圆角 11"/>
          <p:cNvSpPr/>
          <p:nvPr/>
        </p:nvSpPr>
        <p:spPr>
          <a:xfrm>
            <a:off x="762000" y="26670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3" name="矩形 12"/>
          <p:cNvSpPr/>
          <p:nvPr/>
        </p:nvSpPr>
        <p:spPr>
          <a:xfrm>
            <a:off x="762000" y="2667000"/>
            <a:ext cx="50800" cy="9144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4" name="椭圆 13"/>
          <p:cNvSpPr/>
          <p:nvPr/>
        </p:nvSpPr>
        <p:spPr>
          <a:xfrm>
            <a:off x="939800" y="2882900"/>
            <a:ext cx="482600" cy="482600"/>
          </a:xfrm>
          <a:prstGeom prst="ellipse">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02</a:t>
            </a:r>
          </a:p>
        </p:txBody>
      </p:sp>
      <p:sp>
        <p:nvSpPr>
          <p:cNvPr id="15" name="文本框 14"/>
          <p:cNvSpPr txBox="1"/>
          <p:nvPr/>
        </p:nvSpPr>
        <p:spPr>
          <a:xfrm>
            <a:off x="1587500" y="28448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完整的文档体系</a:t>
            </a:r>
          </a:p>
        </p:txBody>
      </p:sp>
      <p:sp>
        <p:nvSpPr>
          <p:cNvPr id="16" name="文本框 15"/>
          <p:cNvSpPr txBox="1"/>
          <p:nvPr/>
        </p:nvSpPr>
        <p:spPr>
          <a:xfrm>
            <a:off x="1587500" y="3149600"/>
            <a:ext cx="4318000" cy="279400"/>
          </a:xfrm>
          <a:prstGeom prst="rect">
            <a:avLst/>
          </a:prstGeom>
          <a:noFill/>
        </p:spPr>
        <p:txBody>
          <a:bodyPr vertOverflow="overflow" vert="horz" wrap="square" rtlCol="0" anchor="t">
            <a:spAutoFit/>
          </a:bodyPr>
          <a:lstStyle/>
          <a:p>
            <a:r>
              <a:rPr lang="zh-CN" altLang="en-US" sz="1200" dirty="0">
                <a:solidFill>
                  <a:srgbClr val="1F1F1F"/>
                </a:solidFill>
                <a:latin typeface="思源宋体" panose="02020400000000000000" pitchFamily="18" charset="-122"/>
                <a:ea typeface="思源宋体" panose="02020400000000000000" pitchFamily="18" charset="-122"/>
                <a:cs typeface="Noto Serif SC"/>
              </a:rPr>
              <a:t>立项报告 </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 </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需求分析</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 · </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系统设计</a:t>
            </a:r>
          </a:p>
        </p:txBody>
      </p:sp>
      <p:sp>
        <p:nvSpPr>
          <p:cNvPr id="17" name="矩形: 圆角 16"/>
          <p:cNvSpPr/>
          <p:nvPr/>
        </p:nvSpPr>
        <p:spPr>
          <a:xfrm>
            <a:off x="762000" y="37084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8" name="矩形 17"/>
          <p:cNvSpPr/>
          <p:nvPr/>
        </p:nvSpPr>
        <p:spPr>
          <a:xfrm>
            <a:off x="762000" y="3708400"/>
            <a:ext cx="50800" cy="9144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19" name="椭圆 18"/>
          <p:cNvSpPr/>
          <p:nvPr/>
        </p:nvSpPr>
        <p:spPr>
          <a:xfrm>
            <a:off x="939800" y="3924300"/>
            <a:ext cx="482600" cy="482600"/>
          </a:xfrm>
          <a:prstGeom prst="ellipse">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03</a:t>
            </a:r>
          </a:p>
        </p:txBody>
      </p:sp>
      <p:sp>
        <p:nvSpPr>
          <p:cNvPr id="20" name="文本框 19"/>
          <p:cNvSpPr txBox="1"/>
          <p:nvPr/>
        </p:nvSpPr>
        <p:spPr>
          <a:xfrm>
            <a:off x="1587500" y="38862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源代码</a:t>
            </a:r>
            <a:endParaRPr lang="zh-CN" altLang="en-US" sz="1400" b="1" dirty="0">
              <a:solidFill>
                <a:srgbClr val="004E97"/>
              </a:solidFill>
              <a:latin typeface="思源黑体 CN" panose="020B0500000000000000" pitchFamily="34" charset="-122"/>
              <a:ea typeface="思源黑体 CN" panose="020B0500000000000000" pitchFamily="34" charset="-122"/>
              <a:cs typeface="Noto Sans SC"/>
            </a:endParaRPr>
          </a:p>
        </p:txBody>
      </p:sp>
      <p:sp>
        <p:nvSpPr>
          <p:cNvPr id="21" name="文本框 20"/>
          <p:cNvSpPr txBox="1"/>
          <p:nvPr/>
        </p:nvSpPr>
        <p:spPr>
          <a:xfrm>
            <a:off x="1587500" y="4145094"/>
            <a:ext cx="4318000" cy="461665"/>
          </a:xfrm>
          <a:prstGeom prst="rect">
            <a:avLst/>
          </a:prstGeom>
          <a:noFill/>
        </p:spPr>
        <p:txBody>
          <a:bodyPr vertOverflow="overflow" vert="horz" wrap="square" rtlCol="0" anchor="t">
            <a:spAutoFit/>
          </a:bodyPr>
          <a:lstStyle/>
          <a:p>
            <a:r>
              <a:rPr lang="zh-CN" altLang="en-US" sz="1200" dirty="0">
                <a:solidFill>
                  <a:srgbClr val="1F1F1F"/>
                </a:solidFill>
                <a:latin typeface="思源宋体" panose="02020400000000000000" pitchFamily="18" charset="-122"/>
                <a:ea typeface="思源宋体" panose="02020400000000000000" pitchFamily="18" charset="-122"/>
                <a:cs typeface="Noto Serif SC"/>
              </a:rPr>
              <a:t>全部代码上传 </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GitHub </a:t>
            </a:r>
            <a:r>
              <a:rPr lang="zh-CN" altLang="en-US" sz="1200" dirty="0">
                <a:solidFill>
                  <a:srgbClr val="1F1F1F"/>
                </a:solidFill>
                <a:latin typeface="思源宋体" panose="02020400000000000000" pitchFamily="18" charset="-122"/>
                <a:ea typeface="思源宋体" panose="02020400000000000000" pitchFamily="18" charset="-122"/>
                <a:cs typeface="Noto Serif SC"/>
              </a:rPr>
              <a:t>：</a:t>
            </a:r>
            <a:r>
              <a:rPr lang="en-US" altLang="zh-CN" sz="1200" dirty="0">
                <a:solidFill>
                  <a:srgbClr val="1F1F1F"/>
                </a:solidFill>
                <a:latin typeface="思源宋体" panose="02020400000000000000" pitchFamily="18" charset="-122"/>
                <a:ea typeface="思源宋体" panose="02020400000000000000" pitchFamily="18" charset="-122"/>
                <a:cs typeface="Noto Serif SC"/>
              </a:rPr>
              <a:t>https://github.com/AstralArtisan/XJTUCanteen</a:t>
            </a:r>
            <a:endParaRPr lang="zh-CN" altLang="en-US" sz="1200" dirty="0">
              <a:solidFill>
                <a:srgbClr val="1F1F1F"/>
              </a:solidFill>
              <a:latin typeface="思源宋体" panose="02020400000000000000" pitchFamily="18" charset="-122"/>
              <a:ea typeface="思源宋体" panose="02020400000000000000" pitchFamily="18" charset="-122"/>
              <a:cs typeface="Noto Serif SC"/>
            </a:endParaRPr>
          </a:p>
        </p:txBody>
      </p:sp>
      <p:sp>
        <p:nvSpPr>
          <p:cNvPr id="22" name="矩形: 圆角 21"/>
          <p:cNvSpPr/>
          <p:nvPr/>
        </p:nvSpPr>
        <p:spPr>
          <a:xfrm>
            <a:off x="762000" y="4749800"/>
            <a:ext cx="5270500" cy="914400"/>
          </a:xfrm>
          <a:prstGeom prst="roundRect">
            <a:avLst/>
          </a:prstGeom>
          <a:solidFill>
            <a:srgbClr val="F4F8FC"/>
          </a:solidFill>
          <a:ln w="63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3" name="矩形 22"/>
          <p:cNvSpPr/>
          <p:nvPr/>
        </p:nvSpPr>
        <p:spPr>
          <a:xfrm>
            <a:off x="762000" y="4749800"/>
            <a:ext cx="50800" cy="914400"/>
          </a:xfrm>
          <a:prstGeom prst="rect">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4" name="椭圆 23"/>
          <p:cNvSpPr/>
          <p:nvPr/>
        </p:nvSpPr>
        <p:spPr>
          <a:xfrm>
            <a:off x="939800" y="4965700"/>
            <a:ext cx="482600" cy="482600"/>
          </a:xfrm>
          <a:prstGeom prst="ellipse">
            <a:avLst/>
          </a:prstGeom>
          <a:solidFill>
            <a:srgbClr val="B84D8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l"/>
            <a:r>
              <a:rPr lang="en-US" altLang="zh-CN" sz="1400" b="1">
                <a:solidFill>
                  <a:srgbClr val="FFFFFF"/>
                </a:solidFill>
                <a:latin typeface="思源黑体 CN" panose="020B0500000000000000" pitchFamily="34" charset="-122"/>
                <a:ea typeface="思源黑体 CN" panose="020B0500000000000000" pitchFamily="34" charset="-122"/>
                <a:cs typeface="Noto Sans SC"/>
              </a:rPr>
              <a:t>04</a:t>
            </a:r>
          </a:p>
        </p:txBody>
      </p:sp>
      <p:sp>
        <p:nvSpPr>
          <p:cNvPr id="25" name="文本框 24"/>
          <p:cNvSpPr txBox="1"/>
          <p:nvPr/>
        </p:nvSpPr>
        <p:spPr>
          <a:xfrm>
            <a:off x="1587500" y="4927600"/>
            <a:ext cx="4318000" cy="307777"/>
          </a:xfrm>
          <a:prstGeom prst="rect">
            <a:avLst/>
          </a:prstGeom>
          <a:noFill/>
        </p:spPr>
        <p:txBody>
          <a:bodyPr vertOverflow="overflow" vert="horz" wrap="square" rtlCol="0" anchor="t">
            <a:spAutoFit/>
          </a:bodyPr>
          <a:lstStyle/>
          <a:p>
            <a:pPr algn="l"/>
            <a:r>
              <a:rPr lang="zh-CN" altLang="en-US" sz="1400" b="1">
                <a:solidFill>
                  <a:srgbClr val="004E97"/>
                </a:solidFill>
                <a:latin typeface="思源黑体 CN" panose="020B0500000000000000" pitchFamily="34" charset="-122"/>
                <a:ea typeface="思源黑体 CN" panose="020B0500000000000000" pitchFamily="34" charset="-122"/>
                <a:cs typeface="Noto Sans SC"/>
              </a:rPr>
              <a:t>答辩演示</a:t>
            </a:r>
          </a:p>
        </p:txBody>
      </p:sp>
      <p:sp>
        <p:nvSpPr>
          <p:cNvPr id="26" name="文本框 25"/>
          <p:cNvSpPr txBox="1"/>
          <p:nvPr/>
        </p:nvSpPr>
        <p:spPr>
          <a:xfrm>
            <a:off x="1587500" y="5232400"/>
            <a:ext cx="4318000" cy="279400"/>
          </a:xfrm>
          <a:prstGeom prst="rect">
            <a:avLst/>
          </a:prstGeom>
          <a:noFill/>
        </p:spPr>
        <p:txBody>
          <a:bodyPr vertOverflow="overflow" vert="horz" wrap="square" rtlCol="0" anchor="t">
            <a:spAutoFit/>
          </a:bodyPr>
          <a:lstStyle/>
          <a:p>
            <a:pPr algn="l"/>
            <a:r>
              <a:rPr lang="zh-CN" altLang="en-US" sz="1200" dirty="0">
                <a:solidFill>
                  <a:srgbClr val="1F1F1F"/>
                </a:solidFill>
                <a:latin typeface="思源宋体" panose="02020400000000000000" pitchFamily="18" charset="-122"/>
                <a:ea typeface="思源宋体" panose="02020400000000000000" pitchFamily="18" charset="-122"/>
                <a:cs typeface="Noto Serif SC"/>
              </a:rPr>
              <a:t>覆盖完整软件工程生命周期</a:t>
            </a:r>
          </a:p>
        </p:txBody>
      </p:sp>
      <p:sp>
        <p:nvSpPr>
          <p:cNvPr id="27" name="文本框 26"/>
          <p:cNvSpPr txBox="1"/>
          <p:nvPr/>
        </p:nvSpPr>
        <p:spPr>
          <a:xfrm>
            <a:off x="6324600" y="1206500"/>
            <a:ext cx="3556000" cy="338554"/>
          </a:xfrm>
          <a:prstGeom prst="rect">
            <a:avLst/>
          </a:prstGeom>
          <a:noFill/>
        </p:spPr>
        <p:txBody>
          <a:bodyPr vertOverflow="overflow" vert="horz" wrap="square" rtlCol="0" anchor="t">
            <a:spAutoFit/>
          </a:bodyPr>
          <a:lstStyle/>
          <a:p>
            <a:pPr algn="l"/>
            <a:r>
              <a:rPr lang="zh-CN" altLang="en-US" sz="1600" b="1">
                <a:solidFill>
                  <a:srgbClr val="004E97"/>
                </a:solidFill>
                <a:latin typeface="思源黑体 CN" panose="020B0500000000000000" pitchFamily="34" charset="-122"/>
                <a:ea typeface="思源黑体 CN" panose="020B0500000000000000" pitchFamily="34" charset="-122"/>
                <a:cs typeface="Noto Sans SC"/>
              </a:rPr>
              <a:t>核心指标</a:t>
            </a:r>
          </a:p>
        </p:txBody>
      </p:sp>
      <p:sp>
        <p:nvSpPr>
          <p:cNvPr id="28" name="矩形: 圆角 27"/>
          <p:cNvSpPr/>
          <p:nvPr/>
        </p:nvSpPr>
        <p:spPr>
          <a:xfrm>
            <a:off x="6324600" y="1625600"/>
            <a:ext cx="1689100" cy="2019300"/>
          </a:xfrm>
          <a:prstGeom prst="roundRect">
            <a:avLst/>
          </a:prstGeom>
          <a:solidFill>
            <a:srgbClr val="FFFFFF"/>
          </a:solidFill>
          <a:ln w="19050"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9" name="文本框 28"/>
          <p:cNvSpPr txBox="1"/>
          <p:nvPr/>
        </p:nvSpPr>
        <p:spPr>
          <a:xfrm>
            <a:off x="6324600" y="1879600"/>
            <a:ext cx="1689100" cy="533400"/>
          </a:xfrm>
          <a:prstGeom prst="rect">
            <a:avLst/>
          </a:prstGeom>
          <a:noFill/>
        </p:spPr>
        <p:txBody>
          <a:bodyPr vertOverflow="overflow" vert="horz" wrap="square" rtlCol="0" anchor="t">
            <a:spAutoFit/>
          </a:bodyPr>
          <a:lstStyle/>
          <a:p>
            <a:pPr algn="l"/>
            <a:r>
              <a:rPr lang="en-US" altLang="zh-CN" sz="2800" b="1">
                <a:solidFill>
                  <a:srgbClr val="004E97"/>
                </a:solidFill>
                <a:latin typeface="思源黑体 CN" panose="020B0500000000000000" pitchFamily="34" charset="-122"/>
                <a:ea typeface="思源黑体 CN" panose="020B0500000000000000" pitchFamily="34" charset="-122"/>
                <a:cs typeface="Noto Sans SC"/>
              </a:rPr>
              <a:t>4,381</a:t>
            </a:r>
          </a:p>
        </p:txBody>
      </p:sp>
      <p:sp>
        <p:nvSpPr>
          <p:cNvPr id="30" name="文本框 29"/>
          <p:cNvSpPr txBox="1"/>
          <p:nvPr/>
        </p:nvSpPr>
        <p:spPr>
          <a:xfrm>
            <a:off x="63246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行代码</a:t>
            </a:r>
          </a:p>
        </p:txBody>
      </p:sp>
      <p:sp>
        <p:nvSpPr>
          <p:cNvPr id="31" name="文本框 30"/>
          <p:cNvSpPr txBox="1"/>
          <p:nvPr/>
        </p:nvSpPr>
        <p:spPr>
          <a:xfrm>
            <a:off x="6324600" y="2997200"/>
            <a:ext cx="1689100" cy="254000"/>
          </a:xfrm>
          <a:prstGeom prst="rect">
            <a:avLst/>
          </a:prstGeom>
          <a:noFill/>
        </p:spPr>
        <p:txBody>
          <a:bodyPr vertOverflow="overflow" vert="horz" wrap="square" rtlCol="0" anchor="t">
            <a:spAutoFit/>
          </a:bodyPr>
          <a:lstStyle/>
          <a:p>
            <a:pPr algn="l"/>
            <a:r>
              <a:rPr lang="zh-CN" altLang="en-US" sz="1050" dirty="0">
                <a:solidFill>
                  <a:srgbClr val="666666"/>
                </a:solidFill>
                <a:latin typeface="思源宋体" panose="02020400000000000000" pitchFamily="18" charset="-122"/>
                <a:ea typeface="思源宋体" panose="02020400000000000000" pitchFamily="18" charset="-122"/>
                <a:cs typeface="Noto Serif SC"/>
              </a:rPr>
              <a:t>前后端合计</a:t>
            </a:r>
          </a:p>
        </p:txBody>
      </p:sp>
      <p:sp>
        <p:nvSpPr>
          <p:cNvPr id="32" name="矩形: 圆角 31"/>
          <p:cNvSpPr/>
          <p:nvPr/>
        </p:nvSpPr>
        <p:spPr>
          <a:xfrm>
            <a:off x="8115300" y="1625600"/>
            <a:ext cx="1689100" cy="2019300"/>
          </a:xfrm>
          <a:prstGeom prst="roundRect">
            <a:avLst/>
          </a:prstGeom>
          <a:solidFill>
            <a:srgbClr val="FFFFFF"/>
          </a:solidFill>
          <a:ln w="19050"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思源宋体" panose="02020400000000000000" pitchFamily="18" charset="-122"/>
              <a:ea typeface="思源宋体" panose="02020400000000000000" pitchFamily="18" charset="-122"/>
              <a:cs typeface="Noto Serif SC"/>
            </a:endParaRPr>
          </a:p>
        </p:txBody>
      </p:sp>
      <p:sp>
        <p:nvSpPr>
          <p:cNvPr id="33" name="文本框 32"/>
          <p:cNvSpPr txBox="1"/>
          <p:nvPr/>
        </p:nvSpPr>
        <p:spPr>
          <a:xfrm>
            <a:off x="8115300" y="1879600"/>
            <a:ext cx="1689100" cy="533400"/>
          </a:xfrm>
          <a:prstGeom prst="rect">
            <a:avLst/>
          </a:prstGeom>
          <a:noFill/>
        </p:spPr>
        <p:txBody>
          <a:bodyPr vertOverflow="overflow" vert="horz" wrap="square" rtlCol="0" anchor="t">
            <a:spAutoFit/>
          </a:bodyPr>
          <a:lstStyle/>
          <a:p>
            <a:pPr algn="l"/>
            <a:r>
              <a:rPr lang="en-US" altLang="zh-CN" sz="2800" b="1">
                <a:solidFill>
                  <a:srgbClr val="E6A43A"/>
                </a:solidFill>
                <a:latin typeface="思源黑体 CN" panose="020B0500000000000000" pitchFamily="34" charset="-122"/>
                <a:ea typeface="思源黑体 CN" panose="020B0500000000000000" pitchFamily="34" charset="-122"/>
                <a:cs typeface="Noto Sans SC"/>
              </a:rPr>
              <a:t>42</a:t>
            </a:r>
          </a:p>
        </p:txBody>
      </p:sp>
      <p:sp>
        <p:nvSpPr>
          <p:cNvPr id="34" name="文本框 33"/>
          <p:cNvSpPr txBox="1"/>
          <p:nvPr/>
        </p:nvSpPr>
        <p:spPr>
          <a:xfrm>
            <a:off x="81153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 </a:t>
            </a:r>
            <a:r>
              <a:rPr lang="en-US" altLang="zh-CN" sz="1400" b="1" dirty="0">
                <a:solidFill>
                  <a:srgbClr val="1F1F1F"/>
                </a:solidFill>
                <a:latin typeface="思源黑体 CN" panose="020B0500000000000000" pitchFamily="34" charset="-122"/>
                <a:ea typeface="思源黑体 CN" panose="020B0500000000000000" pitchFamily="34" charset="-122"/>
                <a:cs typeface="Noto Sans SC"/>
              </a:rPr>
              <a:t>API</a:t>
            </a:r>
            <a:endParaRPr lang="zh-CN" altLang="en-US" sz="1400" b="1" dirty="0">
              <a:solidFill>
                <a:srgbClr val="1F1F1F"/>
              </a:solidFill>
              <a:latin typeface="思源黑体 CN" panose="020B0500000000000000" pitchFamily="34" charset="-122"/>
              <a:ea typeface="思源黑体 CN" panose="020B0500000000000000" pitchFamily="34" charset="-122"/>
              <a:cs typeface="Noto Sans SC"/>
            </a:endParaRPr>
          </a:p>
        </p:txBody>
      </p:sp>
      <p:sp>
        <p:nvSpPr>
          <p:cNvPr id="35" name="文本框 34"/>
          <p:cNvSpPr txBox="1"/>
          <p:nvPr/>
        </p:nvSpPr>
        <p:spPr>
          <a:xfrm>
            <a:off x="8115300" y="2997200"/>
            <a:ext cx="1689100" cy="254000"/>
          </a:xfrm>
          <a:prstGeom prst="rect">
            <a:avLst/>
          </a:prstGeom>
          <a:noFill/>
        </p:spPr>
        <p:txBody>
          <a:bodyPr vertOverflow="overflow" vert="horz" wrap="square" rtlCol="0" anchor="t">
            <a:spAutoFit/>
          </a:bodyPr>
          <a:lstStyle/>
          <a:p>
            <a:pPr algn="l"/>
            <a:r>
              <a:rPr lang="en-US" altLang="zh-CN" sz="1050" dirty="0">
                <a:solidFill>
                  <a:srgbClr val="666666"/>
                </a:solidFill>
                <a:latin typeface="思源宋体" panose="02020400000000000000" pitchFamily="18" charset="-122"/>
                <a:ea typeface="思源宋体" panose="02020400000000000000" pitchFamily="18" charset="-122"/>
                <a:cs typeface="Noto Serif SC"/>
              </a:rPr>
              <a:t>RESTful </a:t>
            </a:r>
            <a:r>
              <a:rPr lang="zh-CN" altLang="en-US" sz="1050" dirty="0">
                <a:solidFill>
                  <a:srgbClr val="666666"/>
                </a:solidFill>
                <a:latin typeface="思源宋体" panose="02020400000000000000" pitchFamily="18" charset="-122"/>
                <a:ea typeface="思源宋体" panose="02020400000000000000" pitchFamily="18" charset="-122"/>
                <a:cs typeface="Noto Serif SC"/>
              </a:rPr>
              <a:t>端点</a:t>
            </a:r>
          </a:p>
        </p:txBody>
      </p:sp>
      <p:sp>
        <p:nvSpPr>
          <p:cNvPr id="36" name="矩形: 圆角 35"/>
          <p:cNvSpPr/>
          <p:nvPr/>
        </p:nvSpPr>
        <p:spPr>
          <a:xfrm>
            <a:off x="9906000" y="1625600"/>
            <a:ext cx="1689100" cy="2019300"/>
          </a:xfrm>
          <a:prstGeom prst="roundRect">
            <a:avLst/>
          </a:prstGeom>
          <a:solidFill>
            <a:srgbClr val="FFFFFF"/>
          </a:solidFill>
          <a:ln w="19050"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7" name="文本框 36"/>
          <p:cNvSpPr txBox="1"/>
          <p:nvPr/>
        </p:nvSpPr>
        <p:spPr>
          <a:xfrm>
            <a:off x="9906000" y="1879600"/>
            <a:ext cx="1689100" cy="533400"/>
          </a:xfrm>
          <a:prstGeom prst="rect">
            <a:avLst/>
          </a:prstGeom>
          <a:noFill/>
        </p:spPr>
        <p:txBody>
          <a:bodyPr vertOverflow="overflow" vert="horz" wrap="square" rtlCol="0" anchor="t">
            <a:spAutoFit/>
          </a:bodyPr>
          <a:lstStyle/>
          <a:p>
            <a:pPr algn="l"/>
            <a:r>
              <a:rPr lang="en-US" altLang="zh-CN" sz="2800" b="1" dirty="0">
                <a:solidFill>
                  <a:srgbClr val="6EA843"/>
                </a:solidFill>
                <a:latin typeface="思源黑体 CN" panose="020B0500000000000000" pitchFamily="34" charset="-122"/>
                <a:ea typeface="思源黑体 CN" panose="020B0500000000000000" pitchFamily="34" charset="-122"/>
                <a:cs typeface="Noto Sans SC"/>
              </a:rPr>
              <a:t>9</a:t>
            </a:r>
          </a:p>
        </p:txBody>
      </p:sp>
      <p:sp>
        <p:nvSpPr>
          <p:cNvPr id="38" name="文本框 37"/>
          <p:cNvSpPr txBox="1"/>
          <p:nvPr/>
        </p:nvSpPr>
        <p:spPr>
          <a:xfrm>
            <a:off x="9906000" y="25781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张数据表</a:t>
            </a:r>
          </a:p>
        </p:txBody>
      </p:sp>
      <p:sp>
        <p:nvSpPr>
          <p:cNvPr id="39" name="文本框 38"/>
          <p:cNvSpPr txBox="1"/>
          <p:nvPr/>
        </p:nvSpPr>
        <p:spPr>
          <a:xfrm>
            <a:off x="9906000" y="29972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SQLite</a:t>
            </a:r>
          </a:p>
        </p:txBody>
      </p:sp>
      <p:sp>
        <p:nvSpPr>
          <p:cNvPr id="40" name="矩形: 圆角 39"/>
          <p:cNvSpPr/>
          <p:nvPr/>
        </p:nvSpPr>
        <p:spPr>
          <a:xfrm>
            <a:off x="6324600" y="3848100"/>
            <a:ext cx="1689100" cy="2019300"/>
          </a:xfrm>
          <a:prstGeom prst="roundRect">
            <a:avLst/>
          </a:prstGeom>
          <a:solidFill>
            <a:srgbClr val="FFFFFF"/>
          </a:solidFill>
          <a:ln w="19050" cap="flat" cmpd="sng" algn="ctr">
            <a:solidFill>
              <a:srgbClr val="D32F2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1" name="文本框 40"/>
          <p:cNvSpPr txBox="1"/>
          <p:nvPr/>
        </p:nvSpPr>
        <p:spPr>
          <a:xfrm>
            <a:off x="6324600" y="4102100"/>
            <a:ext cx="1689100" cy="533400"/>
          </a:xfrm>
          <a:prstGeom prst="rect">
            <a:avLst/>
          </a:prstGeom>
          <a:noFill/>
        </p:spPr>
        <p:txBody>
          <a:bodyPr vertOverflow="overflow" vert="horz" wrap="square" rtlCol="0" anchor="t">
            <a:spAutoFit/>
          </a:bodyPr>
          <a:lstStyle/>
          <a:p>
            <a:pPr algn="l"/>
            <a:r>
              <a:rPr lang="en-US" altLang="zh-CN" sz="2800" b="1" dirty="0">
                <a:solidFill>
                  <a:srgbClr val="D32F2F"/>
                </a:solidFill>
                <a:latin typeface="思源黑体 CN" panose="020B0500000000000000" pitchFamily="34" charset="-122"/>
                <a:ea typeface="思源黑体 CN" panose="020B0500000000000000" pitchFamily="34" charset="-122"/>
                <a:cs typeface="Noto Sans SC"/>
              </a:rPr>
              <a:t>62</a:t>
            </a:r>
          </a:p>
        </p:txBody>
      </p:sp>
      <p:sp>
        <p:nvSpPr>
          <p:cNvPr id="42" name="文本框 41"/>
          <p:cNvSpPr txBox="1"/>
          <p:nvPr/>
        </p:nvSpPr>
        <p:spPr>
          <a:xfrm>
            <a:off x="63246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个测试用例</a:t>
            </a:r>
          </a:p>
        </p:txBody>
      </p:sp>
      <p:sp>
        <p:nvSpPr>
          <p:cNvPr id="43" name="文本框 42"/>
          <p:cNvSpPr txBox="1"/>
          <p:nvPr/>
        </p:nvSpPr>
        <p:spPr>
          <a:xfrm>
            <a:off x="6324600" y="52197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100%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通过率</a:t>
            </a:r>
          </a:p>
        </p:txBody>
      </p:sp>
      <p:sp>
        <p:nvSpPr>
          <p:cNvPr id="44" name="矩形: 圆角 43"/>
          <p:cNvSpPr/>
          <p:nvPr/>
        </p:nvSpPr>
        <p:spPr>
          <a:xfrm>
            <a:off x="8115300" y="3848100"/>
            <a:ext cx="1689100" cy="2019300"/>
          </a:xfrm>
          <a:prstGeom prst="roundRect">
            <a:avLst/>
          </a:prstGeom>
          <a:solidFill>
            <a:srgbClr val="FFFFFF"/>
          </a:solidFill>
          <a:ln w="19050" cap="flat" cmpd="sng" algn="ctr">
            <a:solidFill>
              <a:srgbClr val="6D4F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5" name="文本框 44"/>
          <p:cNvSpPr txBox="1"/>
          <p:nvPr/>
        </p:nvSpPr>
        <p:spPr>
          <a:xfrm>
            <a:off x="8115300" y="4102100"/>
            <a:ext cx="1689100" cy="533400"/>
          </a:xfrm>
          <a:prstGeom prst="rect">
            <a:avLst/>
          </a:prstGeom>
          <a:noFill/>
        </p:spPr>
        <p:txBody>
          <a:bodyPr vertOverflow="overflow" vert="horz" wrap="square" rtlCol="0" anchor="t">
            <a:spAutoFit/>
          </a:bodyPr>
          <a:lstStyle/>
          <a:p>
            <a:pPr algn="l"/>
            <a:r>
              <a:rPr lang="en-US" altLang="zh-CN" sz="2800" b="1">
                <a:solidFill>
                  <a:srgbClr val="6D4FB2"/>
                </a:solidFill>
                <a:latin typeface="思源黑体 CN" panose="020B0500000000000000" pitchFamily="34" charset="-122"/>
                <a:ea typeface="思源黑体 CN" panose="020B0500000000000000" pitchFamily="34" charset="-122"/>
                <a:cs typeface="Noto Sans SC"/>
              </a:rPr>
              <a:t>8</a:t>
            </a:r>
          </a:p>
        </p:txBody>
      </p:sp>
      <p:sp>
        <p:nvSpPr>
          <p:cNvPr id="46" name="文本框 45"/>
          <p:cNvSpPr txBox="1"/>
          <p:nvPr/>
        </p:nvSpPr>
        <p:spPr>
          <a:xfrm>
            <a:off x="81153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个页面路由</a:t>
            </a:r>
          </a:p>
        </p:txBody>
      </p:sp>
      <p:sp>
        <p:nvSpPr>
          <p:cNvPr id="47" name="文本框 46"/>
          <p:cNvSpPr txBox="1"/>
          <p:nvPr/>
        </p:nvSpPr>
        <p:spPr>
          <a:xfrm>
            <a:off x="8115300" y="5219700"/>
            <a:ext cx="1689100" cy="276999"/>
          </a:xfrm>
          <a:prstGeom prst="rect">
            <a:avLst/>
          </a:prstGeom>
          <a:noFill/>
        </p:spPr>
        <p:txBody>
          <a:bodyPr vertOverflow="overflow" vert="horz" wrap="square" rtlCol="0" anchor="t">
            <a:spAutoFit/>
          </a:bodyPr>
          <a:lstStyle/>
          <a:p>
            <a:pPr algn="l"/>
            <a:r>
              <a:rPr lang="en-US" altLang="zh-CN" sz="1200">
                <a:solidFill>
                  <a:srgbClr val="666666"/>
                </a:solidFill>
                <a:latin typeface="思源宋体" panose="02020400000000000000" pitchFamily="18" charset="-122"/>
                <a:ea typeface="思源宋体" panose="02020400000000000000" pitchFamily="18" charset="-122"/>
                <a:cs typeface="Noto Serif SC"/>
              </a:rPr>
              <a:t>SPA </a:t>
            </a:r>
            <a:r>
              <a:rPr lang="zh-CN" altLang="en-US" sz="1200">
                <a:solidFill>
                  <a:srgbClr val="666666"/>
                </a:solidFill>
                <a:latin typeface="思源宋体" panose="02020400000000000000" pitchFamily="18" charset="-122"/>
                <a:ea typeface="思源宋体" panose="02020400000000000000" pitchFamily="18" charset="-122"/>
                <a:cs typeface="Noto Serif SC"/>
              </a:rPr>
              <a:t>应用</a:t>
            </a:r>
          </a:p>
        </p:txBody>
      </p:sp>
      <p:sp>
        <p:nvSpPr>
          <p:cNvPr id="48" name="矩形: 圆角 47"/>
          <p:cNvSpPr/>
          <p:nvPr/>
        </p:nvSpPr>
        <p:spPr>
          <a:xfrm>
            <a:off x="9906000" y="3848100"/>
            <a:ext cx="1689100" cy="2019300"/>
          </a:xfrm>
          <a:prstGeom prst="roundRect">
            <a:avLst/>
          </a:prstGeom>
          <a:solidFill>
            <a:srgbClr val="FFFFFF"/>
          </a:solidFill>
          <a:ln w="19050" cap="flat" cmpd="sng" algn="ctr">
            <a:solidFill>
              <a:srgbClr val="2A8CB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9" name="文本框 48"/>
          <p:cNvSpPr txBox="1"/>
          <p:nvPr/>
        </p:nvSpPr>
        <p:spPr>
          <a:xfrm>
            <a:off x="9906000" y="4102100"/>
            <a:ext cx="1689100" cy="533400"/>
          </a:xfrm>
          <a:prstGeom prst="rect">
            <a:avLst/>
          </a:prstGeom>
          <a:noFill/>
        </p:spPr>
        <p:txBody>
          <a:bodyPr vertOverflow="overflow" vert="horz" wrap="square" rtlCol="0" anchor="t">
            <a:spAutoFit/>
          </a:bodyPr>
          <a:lstStyle/>
          <a:p>
            <a:pPr algn="l"/>
            <a:r>
              <a:rPr lang="en-US" altLang="zh-CN" sz="2800" b="1">
                <a:solidFill>
                  <a:srgbClr val="2A8CB8"/>
                </a:solidFill>
                <a:latin typeface="思源黑体 CN" panose="020B0500000000000000" pitchFamily="34" charset="-122"/>
                <a:ea typeface="思源黑体 CN" panose="020B0500000000000000" pitchFamily="34" charset="-122"/>
                <a:cs typeface="Noto Sans SC"/>
              </a:rPr>
              <a:t>3</a:t>
            </a:r>
          </a:p>
        </p:txBody>
      </p:sp>
      <p:sp>
        <p:nvSpPr>
          <p:cNvPr id="50" name="文本框 49"/>
          <p:cNvSpPr txBox="1"/>
          <p:nvPr/>
        </p:nvSpPr>
        <p:spPr>
          <a:xfrm>
            <a:off x="9906000" y="4800600"/>
            <a:ext cx="1689100" cy="307777"/>
          </a:xfrm>
          <a:prstGeom prst="rect">
            <a:avLst/>
          </a:prstGeom>
          <a:noFill/>
        </p:spPr>
        <p:txBody>
          <a:bodyPr vertOverflow="overflow" vert="horz" wrap="square" rtlCol="0" anchor="t">
            <a:spAutoFit/>
          </a:bodyPr>
          <a:lstStyle/>
          <a:p>
            <a:pPr algn="l"/>
            <a:r>
              <a:rPr lang="zh-CN" altLang="en-US" sz="1400" b="1" dirty="0">
                <a:solidFill>
                  <a:srgbClr val="1F1F1F"/>
                </a:solidFill>
                <a:latin typeface="思源黑体 CN" panose="020B0500000000000000" pitchFamily="34" charset="-122"/>
                <a:ea typeface="思源黑体 CN" panose="020B0500000000000000" pitchFamily="34" charset="-122"/>
                <a:cs typeface="Noto Sans SC"/>
              </a:rPr>
              <a:t>轮迭代</a:t>
            </a:r>
          </a:p>
        </p:txBody>
      </p:sp>
      <p:sp>
        <p:nvSpPr>
          <p:cNvPr id="51" name="文本框 50"/>
          <p:cNvSpPr txBox="1"/>
          <p:nvPr/>
        </p:nvSpPr>
        <p:spPr>
          <a:xfrm>
            <a:off x="9906000" y="5219700"/>
            <a:ext cx="1689100" cy="276999"/>
          </a:xfrm>
          <a:prstGeom prst="rect">
            <a:avLst/>
          </a:prstGeom>
          <a:noFill/>
        </p:spPr>
        <p:txBody>
          <a:bodyPr vertOverflow="overflow" vert="horz" wrap="square" rtlCol="0" anchor="t">
            <a:spAutoFit/>
          </a:bodyPr>
          <a:lstStyle/>
          <a:p>
            <a:pPr algn="l"/>
            <a:r>
              <a:rPr lang="en-US" altLang="zh-CN" sz="1200" dirty="0">
                <a:solidFill>
                  <a:srgbClr val="666666"/>
                </a:solidFill>
                <a:latin typeface="思源宋体" panose="02020400000000000000" pitchFamily="18" charset="-122"/>
                <a:ea typeface="思源宋体" panose="02020400000000000000" pitchFamily="18" charset="-122"/>
                <a:cs typeface="Noto Serif SC"/>
              </a:rPr>
              <a:t>5 </a:t>
            </a:r>
            <a:r>
              <a:rPr lang="zh-CN" altLang="en-US" sz="1200" dirty="0">
                <a:solidFill>
                  <a:srgbClr val="666666"/>
                </a:solidFill>
                <a:latin typeface="思源宋体" panose="02020400000000000000" pitchFamily="18" charset="-122"/>
                <a:ea typeface="思源宋体" panose="02020400000000000000" pitchFamily="18" charset="-122"/>
                <a:cs typeface="Noto Serif SC"/>
              </a:rPr>
              <a:t>周周期</a:t>
            </a:r>
          </a:p>
        </p:txBody>
      </p:sp>
      <p:sp>
        <p:nvSpPr>
          <p:cNvPr id="53" name="文本框 52"/>
          <p:cNvSpPr txBox="1"/>
          <p:nvPr/>
        </p:nvSpPr>
        <p:spPr>
          <a:xfrm>
            <a:off x="952500" y="6083300"/>
            <a:ext cx="10414000" cy="254000"/>
          </a:xfrm>
          <a:prstGeom prst="rect">
            <a:avLst/>
          </a:prstGeom>
          <a:noFill/>
        </p:spPr>
        <p:txBody>
          <a:bodyPr vertOverflow="overflow" vert="horz" wrap="square" rtlCol="0" anchor="t">
            <a:spAutoFit/>
          </a:bodyPr>
          <a:lstStyle/>
          <a:p>
            <a:pPr algn="l"/>
            <a:r>
              <a:rPr lang="en-US" altLang="zh-CN" sz="1200" b="1">
                <a:solidFill>
                  <a:srgbClr val="FFFFFF"/>
                </a:solidFill>
                <a:latin typeface="Noto Sans SC"/>
                <a:ea typeface="Noto Sans SC"/>
                <a:cs typeface="Noto Sans SC"/>
              </a:rPr>
              <a:t>6 </a:t>
            </a:r>
            <a:r>
              <a:rPr lang="zh-CN" altLang="en-US" sz="1200" b="1">
                <a:solidFill>
                  <a:srgbClr val="FFFFFF"/>
                </a:solidFill>
                <a:latin typeface="Noto Sans SC"/>
                <a:ea typeface="Noto Sans SC"/>
                <a:cs typeface="Noto Sans SC"/>
              </a:rPr>
              <a:t>人团队  </a:t>
            </a:r>
            <a:r>
              <a:rPr lang="en-US" altLang="zh-CN" sz="1200" b="1">
                <a:solidFill>
                  <a:srgbClr val="FFFFFF"/>
                </a:solidFill>
                <a:latin typeface="Noto Sans SC"/>
                <a:ea typeface="Noto Sans SC"/>
                <a:cs typeface="Noto Sans SC"/>
              </a:rPr>
              <a:t>·  5 </a:t>
            </a:r>
            <a:r>
              <a:rPr lang="zh-CN" altLang="en-US" sz="1200" b="1">
                <a:solidFill>
                  <a:srgbClr val="FFFFFF"/>
                </a:solidFill>
                <a:latin typeface="Noto Sans SC"/>
                <a:ea typeface="Noto Sans SC"/>
                <a:cs typeface="Noto Sans SC"/>
              </a:rPr>
              <a:t>周周期  </a:t>
            </a:r>
            <a:r>
              <a:rPr lang="en-US" altLang="zh-CN" sz="1200" b="1">
                <a:solidFill>
                  <a:srgbClr val="FFFFFF"/>
                </a:solidFill>
                <a:latin typeface="Noto Sans SC"/>
                <a:ea typeface="Noto Sans SC"/>
                <a:cs typeface="Noto Sans SC"/>
              </a:rPr>
              <a:t>·  3 </a:t>
            </a:r>
            <a:r>
              <a:rPr lang="zh-CN" altLang="en-US" sz="1200" b="1">
                <a:solidFill>
                  <a:srgbClr val="FFFFFF"/>
                </a:solidFill>
                <a:latin typeface="Noto Sans SC"/>
                <a:ea typeface="Noto Sans SC"/>
                <a:cs typeface="Noto Sans SC"/>
              </a:rPr>
              <a:t>轮迭代  </a:t>
            </a:r>
            <a:r>
              <a:rPr lang="en-US" altLang="zh-CN" sz="1200" b="1">
                <a:solidFill>
                  <a:srgbClr val="FFFFFF"/>
                </a:solidFill>
                <a:latin typeface="Noto Sans SC"/>
                <a:ea typeface="Noto Sans SC"/>
                <a:cs typeface="Noto Sans SC"/>
              </a:rPr>
              <a:t>·  </a:t>
            </a:r>
            <a:r>
              <a:rPr lang="zh-CN" altLang="en-US" sz="1200" b="1">
                <a:solidFill>
                  <a:srgbClr val="FFFFFF"/>
                </a:solidFill>
                <a:latin typeface="Noto Sans SC"/>
                <a:ea typeface="Noto Sans SC"/>
                <a:cs typeface="Noto Sans SC"/>
              </a:rPr>
              <a:t>交付可运行系统与完整文档体系</a:t>
            </a:r>
          </a:p>
        </p:txBody>
      </p:sp>
    </p:spTree>
    <p:extLst>
      <p:ext uri="{BB962C8B-B14F-4D97-AF65-F5344CB8AC3E}">
        <p14:creationId xmlns:p14="http://schemas.microsoft.com/office/powerpoint/2010/main" val="281801397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57250"/>
          </a:xfrm>
          <a:prstGeom prst="rect">
            <a:avLst/>
          </a:prstGeom>
          <a:solidFill>
            <a:srgbClr val="004E97">
              <a:alpha val="6000"/>
            </a:srgbClr>
          </a:solidFill>
          <a:ln>
            <a:noFill/>
          </a:ln>
        </p:spPr>
      </p:sp>
      <p:sp>
        <p:nvSpPr>
          <p:cNvPr id="4" name="TextBox 4"/>
          <p:cNvSpPr txBox="1"/>
          <p:nvPr/>
        </p:nvSpPr>
        <p:spPr>
          <a:xfrm>
            <a:off x="914400" y="295275"/>
            <a:ext cx="5511800" cy="461645"/>
          </a:xfrm>
          <a:prstGeom prst="rect">
            <a:avLst/>
          </a:prstGeom>
          <a:noFill/>
          <a:ln>
            <a:noFill/>
          </a:ln>
        </p:spPr>
        <p:txBody>
          <a:bodyPr wrap="none" lIns="0" tIns="0" rIns="0" bIns="0" anchor="t" anchorCtr="0">
            <a:spAutoFit/>
          </a:bodyPr>
          <a:lstStyle/>
          <a:p>
            <a:pPr algn="l"/>
            <a:r>
              <a:rPr lang="zh-CN" sz="3000" b="1" dirty="0">
                <a:solidFill>
                  <a:srgbClr val="004E97"/>
                </a:solidFill>
                <a:latin typeface="思源黑体 CN" panose="020B0500000000000000" pitchFamily="34" charset="-122"/>
                <a:ea typeface="思源黑体 CN" panose="020B0500000000000000" pitchFamily="34" charset="-122"/>
                <a:cs typeface="Noto Sans SC"/>
              </a:rPr>
              <a:t>项目展望 · 未来方向与课程收获</a:t>
            </a:r>
          </a:p>
        </p:txBody>
      </p:sp>
      <p:sp>
        <p:nvSpPr>
          <p:cNvPr id="5" name="Line 5"/>
          <p:cNvSpPr/>
          <p:nvPr/>
        </p:nvSpPr>
        <p:spPr>
          <a:xfrm>
            <a:off x="952500" y="762000"/>
            <a:ext cx="4762500" cy="9525"/>
          </a:xfrm>
          <a:custGeom>
            <a:avLst/>
            <a:gdLst/>
            <a:ahLst/>
            <a:cxnLst/>
            <a:rect l="l" t="t" r="r" b="b"/>
            <a:pathLst>
              <a:path w="4762500" h="9525">
                <a:moveTo>
                  <a:pt x="0" y="0"/>
                </a:moveTo>
                <a:lnTo>
                  <a:pt x="4762500" y="0"/>
                </a:lnTo>
              </a:path>
            </a:pathLst>
          </a:custGeom>
          <a:noFill/>
          <a:ln w="19050">
            <a:solidFill>
              <a:srgbClr val="E6C46D"/>
            </a:solidFill>
          </a:ln>
        </p:spPr>
      </p:sp>
      <p:sp>
        <p:nvSpPr>
          <p:cNvPr id="54" name="Line 54"/>
          <p:cNvSpPr/>
          <p:nvPr/>
        </p:nvSpPr>
        <p:spPr>
          <a:xfrm>
            <a:off x="762000" y="6477000"/>
            <a:ext cx="10668000" cy="9525"/>
          </a:xfrm>
          <a:custGeom>
            <a:avLst/>
            <a:gdLst/>
            <a:ahLst/>
            <a:cxnLst/>
            <a:rect l="l" t="t" r="r" b="b"/>
            <a:pathLst>
              <a:path w="10668000" h="9525">
                <a:moveTo>
                  <a:pt x="0" y="0"/>
                </a:moveTo>
                <a:lnTo>
                  <a:pt x="10668000" y="0"/>
                </a:lnTo>
              </a:path>
            </a:pathLst>
          </a:custGeom>
          <a:noFill/>
          <a:ln w="28575">
            <a:solidFill>
              <a:srgbClr val="E6C46D">
                <a:alpha val="60000"/>
              </a:srgbClr>
            </a:solidFill>
          </a:ln>
        </p:spPr>
      </p:sp>
      <p:sp>
        <p:nvSpPr>
          <p:cNvPr id="6" name="文本框 5"/>
          <p:cNvSpPr txBox="1"/>
          <p:nvPr/>
        </p:nvSpPr>
        <p:spPr>
          <a:xfrm>
            <a:off x="2269780" y="987044"/>
            <a:ext cx="3556000" cy="461665"/>
          </a:xfrm>
          <a:prstGeom prst="rect">
            <a:avLst/>
          </a:prstGeom>
          <a:noFill/>
        </p:spPr>
        <p:txBody>
          <a:bodyPr vertOverflow="overflow" vert="horz" wrap="square" rtlCol="0" anchor="t">
            <a:spAutoFit/>
          </a:bodyPr>
          <a:lstStyle/>
          <a:p>
            <a:pPr algn="l"/>
            <a:r>
              <a:rPr lang="zh-CN" altLang="en-US" sz="2400" b="1" dirty="0">
                <a:solidFill>
                  <a:schemeClr val="accent2">
                    <a:lumMod val="75000"/>
                  </a:schemeClr>
                </a:solidFill>
                <a:latin typeface="思源黑体 CN" panose="020B0500000000000000" pitchFamily="34" charset="-122"/>
                <a:ea typeface="思源黑体 CN" panose="020B0500000000000000" pitchFamily="34" charset="-122"/>
                <a:cs typeface="Noto Sans SC"/>
              </a:rPr>
              <a:t>未来改进方向</a:t>
            </a:r>
          </a:p>
        </p:txBody>
      </p:sp>
      <p:sp>
        <p:nvSpPr>
          <p:cNvPr id="7" name="椭圆 6"/>
          <p:cNvSpPr/>
          <p:nvPr/>
        </p:nvSpPr>
        <p:spPr>
          <a:xfrm>
            <a:off x="787400" y="16256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01</a:t>
            </a:r>
          </a:p>
        </p:txBody>
      </p:sp>
      <p:sp>
        <p:nvSpPr>
          <p:cNvPr id="8" name="文本框 7"/>
          <p:cNvSpPr txBox="1"/>
          <p:nvPr/>
        </p:nvSpPr>
        <p:spPr>
          <a:xfrm>
            <a:off x="1333500" y="1575074"/>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前端框架升级</a:t>
            </a:r>
          </a:p>
        </p:txBody>
      </p:sp>
      <p:sp>
        <p:nvSpPr>
          <p:cNvPr id="9" name="文本框 8"/>
          <p:cNvSpPr txBox="1"/>
          <p:nvPr/>
        </p:nvSpPr>
        <p:spPr>
          <a:xfrm>
            <a:off x="1333500" y="18669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迁移至 </a:t>
            </a:r>
            <a:r>
              <a:rPr lang="en-US" altLang="zh-CN" sz="1400" dirty="0">
                <a:solidFill>
                  <a:srgbClr val="1F1F1F"/>
                </a:solidFill>
                <a:latin typeface="思源宋体" panose="02020400000000000000" pitchFamily="18" charset="-122"/>
                <a:ea typeface="思源宋体" panose="02020400000000000000" pitchFamily="18" charset="-122"/>
                <a:cs typeface="Noto Serif SC"/>
              </a:rPr>
              <a:t>Vue/React</a:t>
            </a:r>
            <a:r>
              <a:rPr lang="zh-CN" altLang="en-US" sz="1400" dirty="0">
                <a:solidFill>
                  <a:srgbClr val="1F1F1F"/>
                </a:solidFill>
                <a:latin typeface="思源宋体" panose="02020400000000000000" pitchFamily="18" charset="-122"/>
                <a:ea typeface="思源宋体" panose="02020400000000000000" pitchFamily="18" charset="-122"/>
                <a:cs typeface="Noto Serif SC"/>
              </a:rPr>
              <a:t>，提升开发效率与组件复用</a:t>
            </a:r>
          </a:p>
        </p:txBody>
      </p:sp>
      <p:sp>
        <p:nvSpPr>
          <p:cNvPr id="10" name="椭圆 9"/>
          <p:cNvSpPr/>
          <p:nvPr/>
        </p:nvSpPr>
        <p:spPr>
          <a:xfrm>
            <a:off x="787400" y="24384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02</a:t>
            </a:r>
          </a:p>
        </p:txBody>
      </p:sp>
      <p:sp>
        <p:nvSpPr>
          <p:cNvPr id="11" name="文本框 10"/>
          <p:cNvSpPr txBox="1"/>
          <p:nvPr/>
        </p:nvSpPr>
        <p:spPr>
          <a:xfrm>
            <a:off x="1333500" y="2428034"/>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数据库升级</a:t>
            </a:r>
          </a:p>
        </p:txBody>
      </p:sp>
      <p:sp>
        <p:nvSpPr>
          <p:cNvPr id="12" name="文本框 11"/>
          <p:cNvSpPr txBox="1"/>
          <p:nvPr/>
        </p:nvSpPr>
        <p:spPr>
          <a:xfrm>
            <a:off x="1333500" y="26797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切换 </a:t>
            </a:r>
            <a:r>
              <a:rPr lang="en-US" altLang="zh-CN" sz="1400" dirty="0">
                <a:solidFill>
                  <a:srgbClr val="1F1F1F"/>
                </a:solidFill>
                <a:latin typeface="思源宋体" panose="02020400000000000000" pitchFamily="18" charset="-122"/>
                <a:ea typeface="思源宋体" panose="02020400000000000000" pitchFamily="18" charset="-122"/>
                <a:cs typeface="Noto Serif SC"/>
              </a:rPr>
              <a:t>MySQL/PostgreSQL</a:t>
            </a:r>
            <a:r>
              <a:rPr lang="zh-CN" altLang="en-US" sz="1400" dirty="0">
                <a:solidFill>
                  <a:srgbClr val="1F1F1F"/>
                </a:solidFill>
                <a:latin typeface="思源宋体" panose="02020400000000000000" pitchFamily="18" charset="-122"/>
                <a:ea typeface="思源宋体" panose="02020400000000000000" pitchFamily="18" charset="-122"/>
                <a:cs typeface="Noto Serif SC"/>
              </a:rPr>
              <a:t>，支持更高并发与数据量</a:t>
            </a:r>
          </a:p>
        </p:txBody>
      </p:sp>
      <p:sp>
        <p:nvSpPr>
          <p:cNvPr id="13" name="椭圆 12"/>
          <p:cNvSpPr/>
          <p:nvPr/>
        </p:nvSpPr>
        <p:spPr>
          <a:xfrm>
            <a:off x="787400" y="32512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03</a:t>
            </a:r>
          </a:p>
        </p:txBody>
      </p:sp>
      <p:sp>
        <p:nvSpPr>
          <p:cNvPr id="14" name="文本框 13"/>
          <p:cNvSpPr txBox="1"/>
          <p:nvPr/>
        </p:nvSpPr>
        <p:spPr>
          <a:xfrm>
            <a:off x="1333500" y="3201798"/>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推荐算法优化</a:t>
            </a:r>
          </a:p>
        </p:txBody>
      </p:sp>
      <p:sp>
        <p:nvSpPr>
          <p:cNvPr id="15" name="文本框 14"/>
          <p:cNvSpPr txBox="1"/>
          <p:nvPr/>
        </p:nvSpPr>
        <p:spPr>
          <a:xfrm>
            <a:off x="1333500" y="34925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引入协同过滤算法，实现更精准个性化推荐</a:t>
            </a:r>
          </a:p>
        </p:txBody>
      </p:sp>
      <p:sp>
        <p:nvSpPr>
          <p:cNvPr id="16" name="椭圆 15"/>
          <p:cNvSpPr/>
          <p:nvPr/>
        </p:nvSpPr>
        <p:spPr>
          <a:xfrm>
            <a:off x="787400" y="40640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a:solidFill>
                  <a:srgbClr val="FFFFFF"/>
                </a:solidFill>
                <a:latin typeface="思源黑体 CN" panose="020B0500000000000000" pitchFamily="34" charset="-122"/>
                <a:ea typeface="思源黑体 CN" panose="020B0500000000000000" pitchFamily="34" charset="-122"/>
                <a:cs typeface="Noto Sans SC"/>
              </a:rPr>
              <a:t>04</a:t>
            </a:r>
          </a:p>
        </p:txBody>
      </p:sp>
      <p:sp>
        <p:nvSpPr>
          <p:cNvPr id="17" name="文本框 16"/>
          <p:cNvSpPr txBox="1"/>
          <p:nvPr/>
        </p:nvSpPr>
        <p:spPr>
          <a:xfrm>
            <a:off x="1333500" y="4032089"/>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移动端适配</a:t>
            </a:r>
          </a:p>
        </p:txBody>
      </p:sp>
      <p:sp>
        <p:nvSpPr>
          <p:cNvPr id="18" name="文本框 17"/>
          <p:cNvSpPr txBox="1"/>
          <p:nvPr/>
        </p:nvSpPr>
        <p:spPr>
          <a:xfrm>
            <a:off x="1333500" y="43053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开发小程序或内嵌至移动交大，贴合移动端使用场景</a:t>
            </a:r>
          </a:p>
        </p:txBody>
      </p:sp>
      <p:sp>
        <p:nvSpPr>
          <p:cNvPr id="19" name="椭圆 18"/>
          <p:cNvSpPr/>
          <p:nvPr/>
        </p:nvSpPr>
        <p:spPr>
          <a:xfrm>
            <a:off x="787400" y="4876800"/>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dirty="0">
                <a:solidFill>
                  <a:srgbClr val="FFFFFF"/>
                </a:solidFill>
                <a:latin typeface="思源黑体 CN" panose="020B0500000000000000" pitchFamily="34" charset="-122"/>
                <a:ea typeface="思源黑体 CN" panose="020B0500000000000000" pitchFamily="34" charset="-122"/>
                <a:cs typeface="Noto Sans SC"/>
              </a:rPr>
              <a:t>05</a:t>
            </a:r>
          </a:p>
        </p:txBody>
      </p:sp>
      <p:sp>
        <p:nvSpPr>
          <p:cNvPr id="20" name="文本框 19"/>
          <p:cNvSpPr txBox="1"/>
          <p:nvPr/>
        </p:nvSpPr>
        <p:spPr>
          <a:xfrm>
            <a:off x="1333500" y="4832511"/>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数据可视化</a:t>
            </a:r>
          </a:p>
        </p:txBody>
      </p:sp>
      <p:sp>
        <p:nvSpPr>
          <p:cNvPr id="21" name="文本框 20"/>
          <p:cNvSpPr txBox="1"/>
          <p:nvPr/>
        </p:nvSpPr>
        <p:spPr>
          <a:xfrm>
            <a:off x="1333500" y="5118100"/>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增加评分趋势图、用户活跃度等数据分析</a:t>
            </a:r>
          </a:p>
        </p:txBody>
      </p:sp>
      <p:sp>
        <p:nvSpPr>
          <p:cNvPr id="22" name="矩形 21"/>
          <p:cNvSpPr/>
          <p:nvPr/>
        </p:nvSpPr>
        <p:spPr>
          <a:xfrm>
            <a:off x="6159500" y="1270000"/>
            <a:ext cx="12700" cy="4699000"/>
          </a:xfrm>
          <a:prstGeom prst="rect">
            <a:avLst/>
          </a:prstGeom>
          <a:solidFill>
            <a:srgbClr val="D0D8E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3" name="文本框 22"/>
          <p:cNvSpPr txBox="1"/>
          <p:nvPr/>
        </p:nvSpPr>
        <p:spPr>
          <a:xfrm>
            <a:off x="8095559" y="990676"/>
            <a:ext cx="3556000" cy="461665"/>
          </a:xfrm>
          <a:prstGeom prst="rect">
            <a:avLst/>
          </a:prstGeom>
          <a:noFill/>
        </p:spPr>
        <p:txBody>
          <a:bodyPr vertOverflow="overflow" vert="horz" wrap="square" rtlCol="0" anchor="t">
            <a:spAutoFit/>
          </a:bodyPr>
          <a:lstStyle/>
          <a:p>
            <a:pPr algn="l"/>
            <a:r>
              <a:rPr lang="zh-CN" altLang="en-US" sz="2400" b="1" dirty="0">
                <a:solidFill>
                  <a:schemeClr val="accent2">
                    <a:lumMod val="75000"/>
                  </a:schemeClr>
                </a:solidFill>
                <a:latin typeface="思源黑体 CN" panose="020B0500000000000000" pitchFamily="34" charset="-122"/>
                <a:ea typeface="思源黑体 CN" panose="020B0500000000000000" pitchFamily="34" charset="-122"/>
                <a:cs typeface="Noto Sans SC"/>
              </a:rPr>
              <a:t>课程收获</a:t>
            </a:r>
          </a:p>
        </p:txBody>
      </p:sp>
      <p:sp>
        <p:nvSpPr>
          <p:cNvPr id="24" name="矩形: 圆角 23"/>
          <p:cNvSpPr/>
          <p:nvPr/>
        </p:nvSpPr>
        <p:spPr>
          <a:xfrm>
            <a:off x="6350000" y="1625600"/>
            <a:ext cx="5143500" cy="1219200"/>
          </a:xfrm>
          <a:prstGeom prst="roundRect">
            <a:avLst/>
          </a:prstGeom>
          <a:solidFill>
            <a:srgbClr val="F4F8FC"/>
          </a:solidFill>
          <a:ln w="9525" cap="flat" cmpd="sng" algn="ctr">
            <a:solidFill>
              <a:srgbClr val="004E97"/>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5" name="矩形 24"/>
          <p:cNvSpPr/>
          <p:nvPr/>
        </p:nvSpPr>
        <p:spPr>
          <a:xfrm>
            <a:off x="6350000" y="1625600"/>
            <a:ext cx="50800" cy="1219200"/>
          </a:xfrm>
          <a:prstGeom prst="rect">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26" name="文本框 25"/>
          <p:cNvSpPr txBox="1"/>
          <p:nvPr/>
        </p:nvSpPr>
        <p:spPr>
          <a:xfrm>
            <a:off x="6578600" y="1727200"/>
            <a:ext cx="2540000" cy="307777"/>
          </a:xfrm>
          <a:prstGeom prst="rect">
            <a:avLst/>
          </a:prstGeom>
          <a:noFill/>
        </p:spPr>
        <p:txBody>
          <a:bodyPr vertOverflow="overflow" vert="horz" wrap="square" rtlCol="0" anchor="t">
            <a:spAutoFit/>
          </a:bodyPr>
          <a:lstStyle/>
          <a:p>
            <a:pPr algn="l"/>
            <a:r>
              <a:rPr lang="zh-CN" altLang="en-US" b="1">
                <a:solidFill>
                  <a:srgbClr val="004E97"/>
                </a:solidFill>
                <a:latin typeface="思源黑体 CN" panose="020B0500000000000000" pitchFamily="34" charset="-122"/>
                <a:ea typeface="思源黑体 CN" panose="020B0500000000000000" pitchFamily="34" charset="-122"/>
                <a:cs typeface="Noto Sans SC"/>
              </a:rPr>
              <a:t>工程实践</a:t>
            </a:r>
          </a:p>
        </p:txBody>
      </p:sp>
      <p:sp>
        <p:nvSpPr>
          <p:cNvPr id="27" name="文本框 26"/>
          <p:cNvSpPr txBox="1"/>
          <p:nvPr/>
        </p:nvSpPr>
        <p:spPr>
          <a:xfrm>
            <a:off x="6578600" y="2044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28" name="文本框 27"/>
          <p:cNvSpPr txBox="1"/>
          <p:nvPr/>
        </p:nvSpPr>
        <p:spPr>
          <a:xfrm>
            <a:off x="6731000" y="2044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完整经历软件工程生命周期</a:t>
            </a:r>
          </a:p>
        </p:txBody>
      </p:sp>
      <p:sp>
        <p:nvSpPr>
          <p:cNvPr id="29" name="文本框 28"/>
          <p:cNvSpPr txBox="1"/>
          <p:nvPr/>
        </p:nvSpPr>
        <p:spPr>
          <a:xfrm>
            <a:off x="6578600" y="2298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30" name="文本框 29"/>
          <p:cNvSpPr txBox="1"/>
          <p:nvPr/>
        </p:nvSpPr>
        <p:spPr>
          <a:xfrm>
            <a:off x="6731000" y="2298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立项 → 需求 → 设计 → 实现 → 测试</a:t>
            </a:r>
          </a:p>
        </p:txBody>
      </p:sp>
      <p:sp>
        <p:nvSpPr>
          <p:cNvPr id="31" name="文本框 30"/>
          <p:cNvSpPr txBox="1"/>
          <p:nvPr/>
        </p:nvSpPr>
        <p:spPr>
          <a:xfrm>
            <a:off x="6578600" y="2552700"/>
            <a:ext cx="127000" cy="338554"/>
          </a:xfrm>
          <a:prstGeom prst="rect">
            <a:avLst/>
          </a:prstGeom>
          <a:noFill/>
        </p:spPr>
        <p:txBody>
          <a:bodyPr vertOverflow="overflow" vert="horz" wrap="square" rtlCol="0" anchor="t">
            <a:spAutoFit/>
          </a:bodyPr>
          <a:lstStyle/>
          <a:p>
            <a:pPr algn="l"/>
            <a:r>
              <a:rPr lang="en-US" altLang="zh-CN" sz="1600" b="1">
                <a:solidFill>
                  <a:srgbClr val="004E97"/>
                </a:solidFill>
                <a:latin typeface="Noto Sans SC" panose="020B0200000000000000" charset="-122"/>
                <a:ea typeface="Noto Sans SC" panose="020B0200000000000000" charset="-122"/>
              </a:rPr>
              <a:t>•</a:t>
            </a:r>
          </a:p>
        </p:txBody>
      </p:sp>
      <p:sp>
        <p:nvSpPr>
          <p:cNvPr id="32" name="文本框 31"/>
          <p:cNvSpPr txBox="1"/>
          <p:nvPr/>
        </p:nvSpPr>
        <p:spPr>
          <a:xfrm>
            <a:off x="6731000" y="25527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理解各阶段意义与产出物</a:t>
            </a:r>
          </a:p>
        </p:txBody>
      </p:sp>
      <p:sp>
        <p:nvSpPr>
          <p:cNvPr id="33" name="矩形: 圆角 32"/>
          <p:cNvSpPr/>
          <p:nvPr/>
        </p:nvSpPr>
        <p:spPr>
          <a:xfrm>
            <a:off x="6350000" y="2921000"/>
            <a:ext cx="5143500" cy="1473200"/>
          </a:xfrm>
          <a:prstGeom prst="roundRect">
            <a:avLst/>
          </a:prstGeom>
          <a:solidFill>
            <a:srgbClr val="F4F8FC"/>
          </a:solidFill>
          <a:ln w="9525" cap="flat" cmpd="sng" algn="ctr">
            <a:solidFill>
              <a:srgbClr val="E6A43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4" name="矩形 33"/>
          <p:cNvSpPr/>
          <p:nvPr/>
        </p:nvSpPr>
        <p:spPr>
          <a:xfrm>
            <a:off x="6350000" y="2921000"/>
            <a:ext cx="50800" cy="1473200"/>
          </a:xfrm>
          <a:prstGeom prst="rect">
            <a:avLst/>
          </a:prstGeom>
          <a:solidFill>
            <a:srgbClr val="E6A43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35" name="文本框 34"/>
          <p:cNvSpPr txBox="1"/>
          <p:nvPr/>
        </p:nvSpPr>
        <p:spPr>
          <a:xfrm>
            <a:off x="6578600" y="3022600"/>
            <a:ext cx="2540000" cy="307777"/>
          </a:xfrm>
          <a:prstGeom prst="rect">
            <a:avLst/>
          </a:prstGeom>
          <a:noFill/>
        </p:spPr>
        <p:txBody>
          <a:bodyPr vertOverflow="overflow" vert="horz" wrap="square" rtlCol="0" anchor="t">
            <a:spAutoFit/>
          </a:bodyPr>
          <a:lstStyle/>
          <a:p>
            <a:pPr algn="l"/>
            <a:r>
              <a:rPr lang="zh-CN" altLang="en-US" b="1">
                <a:solidFill>
                  <a:srgbClr val="E6A43A"/>
                </a:solidFill>
                <a:latin typeface="思源黑体 CN" panose="020B0500000000000000" pitchFamily="34" charset="-122"/>
                <a:ea typeface="思源黑体 CN" panose="020B0500000000000000" pitchFamily="34" charset="-122"/>
                <a:cs typeface="Noto Sans SC"/>
              </a:rPr>
              <a:t>技术深度</a:t>
            </a:r>
          </a:p>
        </p:txBody>
      </p:sp>
      <p:sp>
        <p:nvSpPr>
          <p:cNvPr id="36" name="文本框 35"/>
          <p:cNvSpPr txBox="1"/>
          <p:nvPr/>
        </p:nvSpPr>
        <p:spPr>
          <a:xfrm>
            <a:off x="6578600" y="3340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37" name="文本框 36"/>
          <p:cNvSpPr txBox="1"/>
          <p:nvPr/>
        </p:nvSpPr>
        <p:spPr>
          <a:xfrm>
            <a:off x="6731000" y="3340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深度理解 </a:t>
            </a:r>
            <a:r>
              <a:rPr lang="en-US" altLang="zh-CN" sz="1400">
                <a:solidFill>
                  <a:srgbClr val="1F1F1F"/>
                </a:solidFill>
                <a:latin typeface="思源宋体" panose="02020400000000000000" pitchFamily="18" charset="-122"/>
                <a:ea typeface="思源宋体" panose="02020400000000000000" pitchFamily="18" charset="-122"/>
                <a:cs typeface="Noto Serif SC"/>
              </a:rPr>
              <a:t>HTTP </a:t>
            </a:r>
            <a:r>
              <a:rPr lang="zh-CN" altLang="en-US" sz="1400">
                <a:solidFill>
                  <a:srgbClr val="1F1F1F"/>
                </a:solidFill>
                <a:latin typeface="思源宋体" panose="02020400000000000000" pitchFamily="18" charset="-122"/>
                <a:ea typeface="思源宋体" panose="02020400000000000000" pitchFamily="18" charset="-122"/>
                <a:cs typeface="Noto Serif SC"/>
              </a:rPr>
              <a:t>协议与 </a:t>
            </a:r>
            <a:r>
              <a:rPr lang="en-US" altLang="zh-CN" sz="1400">
                <a:solidFill>
                  <a:srgbClr val="1F1F1F"/>
                </a:solidFill>
                <a:latin typeface="思源宋体" panose="02020400000000000000" pitchFamily="18" charset="-122"/>
                <a:ea typeface="思源宋体" panose="02020400000000000000" pitchFamily="18" charset="-122"/>
                <a:cs typeface="Noto Serif SC"/>
              </a:rPr>
              <a:t>Web </a:t>
            </a:r>
            <a:r>
              <a:rPr lang="zh-CN" altLang="en-US" sz="1400">
                <a:solidFill>
                  <a:srgbClr val="1F1F1F"/>
                </a:solidFill>
                <a:latin typeface="思源宋体" panose="02020400000000000000" pitchFamily="18" charset="-122"/>
                <a:ea typeface="思源宋体" panose="02020400000000000000" pitchFamily="18" charset="-122"/>
                <a:cs typeface="Noto Serif SC"/>
              </a:rPr>
              <a:t>架构</a:t>
            </a:r>
          </a:p>
        </p:txBody>
      </p:sp>
      <p:sp>
        <p:nvSpPr>
          <p:cNvPr id="38" name="文本框 37"/>
          <p:cNvSpPr txBox="1"/>
          <p:nvPr/>
        </p:nvSpPr>
        <p:spPr>
          <a:xfrm>
            <a:off x="6578600" y="3594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39" name="文本框 38"/>
          <p:cNvSpPr txBox="1"/>
          <p:nvPr/>
        </p:nvSpPr>
        <p:spPr>
          <a:xfrm>
            <a:off x="6731000" y="3594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数据库设计 </a:t>
            </a:r>
            <a:r>
              <a:rPr lang="en-US" altLang="zh-CN" sz="1400">
                <a:solidFill>
                  <a:srgbClr val="1F1F1F"/>
                </a:solidFill>
                <a:latin typeface="思源宋体" panose="02020400000000000000" pitchFamily="18" charset="-122"/>
                <a:ea typeface="思源宋体" panose="02020400000000000000" pitchFamily="18" charset="-122"/>
                <a:cs typeface="Noto Serif SC"/>
              </a:rPr>
              <a:t>· SQL </a:t>
            </a:r>
            <a:r>
              <a:rPr lang="zh-CN" altLang="en-US" sz="1400">
                <a:solidFill>
                  <a:srgbClr val="1F1F1F"/>
                </a:solidFill>
                <a:latin typeface="思源宋体" panose="02020400000000000000" pitchFamily="18" charset="-122"/>
                <a:ea typeface="思源宋体" panose="02020400000000000000" pitchFamily="18" charset="-122"/>
                <a:cs typeface="Noto Serif SC"/>
              </a:rPr>
              <a:t>优化 </a:t>
            </a:r>
            <a:r>
              <a:rPr lang="en-US" altLang="zh-CN" sz="1400">
                <a:solidFill>
                  <a:srgbClr val="1F1F1F"/>
                </a:solidFill>
                <a:latin typeface="思源宋体" panose="02020400000000000000" pitchFamily="18" charset="-122"/>
                <a:ea typeface="思源宋体" panose="02020400000000000000" pitchFamily="18" charset="-122"/>
                <a:cs typeface="Noto Serif SC"/>
              </a:rPr>
              <a:t>· </a:t>
            </a:r>
            <a:r>
              <a:rPr lang="zh-CN" altLang="en-US" sz="1400">
                <a:solidFill>
                  <a:srgbClr val="1F1F1F"/>
                </a:solidFill>
                <a:latin typeface="思源宋体" panose="02020400000000000000" pitchFamily="18" charset="-122"/>
                <a:ea typeface="思源宋体" panose="02020400000000000000" pitchFamily="18" charset="-122"/>
                <a:cs typeface="Noto Serif SC"/>
              </a:rPr>
              <a:t>事务处理</a:t>
            </a:r>
          </a:p>
        </p:txBody>
      </p:sp>
      <p:sp>
        <p:nvSpPr>
          <p:cNvPr id="40" name="文本框 39"/>
          <p:cNvSpPr txBox="1"/>
          <p:nvPr/>
        </p:nvSpPr>
        <p:spPr>
          <a:xfrm>
            <a:off x="6578600" y="3848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41" name="文本框 40"/>
          <p:cNvSpPr txBox="1"/>
          <p:nvPr/>
        </p:nvSpPr>
        <p:spPr>
          <a:xfrm>
            <a:off x="6731000" y="38481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前端 </a:t>
            </a:r>
            <a:r>
              <a:rPr lang="en-US" altLang="zh-CN" sz="1400">
                <a:solidFill>
                  <a:srgbClr val="1F1F1F"/>
                </a:solidFill>
                <a:latin typeface="思源宋体" panose="02020400000000000000" pitchFamily="18" charset="-122"/>
                <a:ea typeface="思源宋体" panose="02020400000000000000" pitchFamily="18" charset="-122"/>
                <a:cs typeface="Noto Serif SC"/>
              </a:rPr>
              <a:t>SPA </a:t>
            </a:r>
            <a:r>
              <a:rPr lang="zh-CN" altLang="en-US" sz="1400">
                <a:solidFill>
                  <a:srgbClr val="1F1F1F"/>
                </a:solidFill>
                <a:latin typeface="思源宋体" panose="02020400000000000000" pitchFamily="18" charset="-122"/>
                <a:ea typeface="思源宋体" panose="02020400000000000000" pitchFamily="18" charset="-122"/>
                <a:cs typeface="Noto Serif SC"/>
              </a:rPr>
              <a:t>路由与状态管理原理</a:t>
            </a:r>
          </a:p>
        </p:txBody>
      </p:sp>
      <p:sp>
        <p:nvSpPr>
          <p:cNvPr id="42" name="文本框 41"/>
          <p:cNvSpPr txBox="1"/>
          <p:nvPr/>
        </p:nvSpPr>
        <p:spPr>
          <a:xfrm>
            <a:off x="6578600" y="4102100"/>
            <a:ext cx="127000" cy="338554"/>
          </a:xfrm>
          <a:prstGeom prst="rect">
            <a:avLst/>
          </a:prstGeom>
          <a:noFill/>
        </p:spPr>
        <p:txBody>
          <a:bodyPr vertOverflow="overflow" vert="horz" wrap="square" rtlCol="0" anchor="t">
            <a:spAutoFit/>
          </a:bodyPr>
          <a:lstStyle/>
          <a:p>
            <a:pPr algn="l"/>
            <a:r>
              <a:rPr lang="en-US" altLang="zh-CN" sz="1600" b="1">
                <a:solidFill>
                  <a:srgbClr val="E6A43A"/>
                </a:solidFill>
                <a:latin typeface="Noto Sans SC" panose="020B0200000000000000" charset="-122"/>
                <a:ea typeface="Noto Sans SC" panose="020B0200000000000000" charset="-122"/>
              </a:rPr>
              <a:t>•</a:t>
            </a:r>
          </a:p>
        </p:txBody>
      </p:sp>
      <p:sp>
        <p:nvSpPr>
          <p:cNvPr id="43" name="文本框 42"/>
          <p:cNvSpPr txBox="1"/>
          <p:nvPr/>
        </p:nvSpPr>
        <p:spPr>
          <a:xfrm>
            <a:off x="6731000" y="4102100"/>
            <a:ext cx="4635500" cy="307777"/>
          </a:xfrm>
          <a:prstGeom prst="rect">
            <a:avLst/>
          </a:prstGeom>
          <a:noFill/>
        </p:spPr>
        <p:txBody>
          <a:bodyPr vertOverflow="overflow" vert="horz" wrap="square" rtlCol="0" anchor="t">
            <a:spAutoFit/>
          </a:bodyPr>
          <a:lstStyle/>
          <a:p>
            <a:pPr algn="l"/>
            <a:r>
              <a:rPr lang="en-US" altLang="zh-CN" sz="1400">
                <a:solidFill>
                  <a:srgbClr val="1F1F1F"/>
                </a:solidFill>
                <a:latin typeface="思源宋体" panose="02020400000000000000" pitchFamily="18" charset="-122"/>
                <a:ea typeface="思源宋体" panose="02020400000000000000" pitchFamily="18" charset="-122"/>
                <a:cs typeface="Noto Serif SC"/>
              </a:rPr>
              <a:t>AI </a:t>
            </a:r>
            <a:r>
              <a:rPr lang="zh-CN" altLang="en-US" sz="1400">
                <a:solidFill>
                  <a:srgbClr val="1F1F1F"/>
                </a:solidFill>
                <a:latin typeface="思源宋体" panose="02020400000000000000" pitchFamily="18" charset="-122"/>
                <a:ea typeface="思源宋体" panose="02020400000000000000" pitchFamily="18" charset="-122"/>
                <a:cs typeface="Noto Serif SC"/>
              </a:rPr>
              <a:t>集成与 </a:t>
            </a:r>
            <a:r>
              <a:rPr lang="en-US" altLang="zh-CN" sz="1400">
                <a:solidFill>
                  <a:srgbClr val="1F1F1F"/>
                </a:solidFill>
                <a:latin typeface="思源宋体" panose="02020400000000000000" pitchFamily="18" charset="-122"/>
                <a:ea typeface="思源宋体" panose="02020400000000000000" pitchFamily="18" charset="-122"/>
                <a:cs typeface="Noto Serif SC"/>
              </a:rPr>
              <a:t>API </a:t>
            </a:r>
            <a:r>
              <a:rPr lang="zh-CN" altLang="en-US" sz="1400">
                <a:solidFill>
                  <a:srgbClr val="1F1F1F"/>
                </a:solidFill>
                <a:latin typeface="思源宋体" panose="02020400000000000000" pitchFamily="18" charset="-122"/>
                <a:ea typeface="思源宋体" panose="02020400000000000000" pitchFamily="18" charset="-122"/>
                <a:cs typeface="Noto Serif SC"/>
              </a:rPr>
              <a:t>调用实践</a:t>
            </a:r>
          </a:p>
        </p:txBody>
      </p:sp>
      <p:sp>
        <p:nvSpPr>
          <p:cNvPr id="44" name="矩形: 圆角 43"/>
          <p:cNvSpPr/>
          <p:nvPr/>
        </p:nvSpPr>
        <p:spPr>
          <a:xfrm>
            <a:off x="6350000" y="4470400"/>
            <a:ext cx="5143500" cy="1219200"/>
          </a:xfrm>
          <a:prstGeom prst="roundRect">
            <a:avLst/>
          </a:prstGeom>
          <a:solidFill>
            <a:srgbClr val="F4F8FC"/>
          </a:solidFill>
          <a:ln w="9525" cap="flat" cmpd="sng" algn="ctr">
            <a:solidFill>
              <a:srgbClr val="6EA843"/>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5" name="矩形 44"/>
          <p:cNvSpPr/>
          <p:nvPr/>
        </p:nvSpPr>
        <p:spPr>
          <a:xfrm>
            <a:off x="6350000" y="4470400"/>
            <a:ext cx="50800" cy="1219200"/>
          </a:xfrm>
          <a:prstGeom prst="rect">
            <a:avLst/>
          </a:prstGeom>
          <a:solidFill>
            <a:srgbClr val="6EA843"/>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CN" altLang="en-US">
              <a:latin typeface="Noto Serif SC"/>
              <a:ea typeface="Noto Serif SC"/>
              <a:cs typeface="Noto Serif SC"/>
            </a:endParaRPr>
          </a:p>
        </p:txBody>
      </p:sp>
      <p:sp>
        <p:nvSpPr>
          <p:cNvPr id="46" name="文本框 45"/>
          <p:cNvSpPr txBox="1"/>
          <p:nvPr/>
        </p:nvSpPr>
        <p:spPr>
          <a:xfrm>
            <a:off x="6578600" y="4572000"/>
            <a:ext cx="2540000" cy="307777"/>
          </a:xfrm>
          <a:prstGeom prst="rect">
            <a:avLst/>
          </a:prstGeom>
          <a:noFill/>
        </p:spPr>
        <p:txBody>
          <a:bodyPr vertOverflow="overflow" vert="horz" wrap="square" rtlCol="0" anchor="t">
            <a:spAutoFit/>
          </a:bodyPr>
          <a:lstStyle/>
          <a:p>
            <a:pPr algn="l"/>
            <a:r>
              <a:rPr lang="zh-CN" altLang="en-US" b="1">
                <a:solidFill>
                  <a:srgbClr val="6EA843"/>
                </a:solidFill>
                <a:latin typeface="思源黑体 CN" panose="020B0500000000000000" pitchFamily="34" charset="-122"/>
                <a:ea typeface="思源黑体 CN" panose="020B0500000000000000" pitchFamily="34" charset="-122"/>
                <a:cs typeface="Noto Sans SC"/>
              </a:rPr>
              <a:t>团队协作</a:t>
            </a:r>
          </a:p>
        </p:txBody>
      </p:sp>
      <p:sp>
        <p:nvSpPr>
          <p:cNvPr id="47" name="文本框 46"/>
          <p:cNvSpPr txBox="1"/>
          <p:nvPr/>
        </p:nvSpPr>
        <p:spPr>
          <a:xfrm>
            <a:off x="6578600" y="4889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48" name="文本框 47"/>
          <p:cNvSpPr txBox="1"/>
          <p:nvPr/>
        </p:nvSpPr>
        <p:spPr>
          <a:xfrm>
            <a:off x="6731000" y="48895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项目管理与分工协调经验</a:t>
            </a:r>
          </a:p>
        </p:txBody>
      </p:sp>
      <p:sp>
        <p:nvSpPr>
          <p:cNvPr id="49" name="文本框 48"/>
          <p:cNvSpPr txBox="1"/>
          <p:nvPr/>
        </p:nvSpPr>
        <p:spPr>
          <a:xfrm>
            <a:off x="6578600" y="5143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50" name="文本框 49"/>
          <p:cNvSpPr txBox="1"/>
          <p:nvPr/>
        </p:nvSpPr>
        <p:spPr>
          <a:xfrm>
            <a:off x="6731000" y="5143500"/>
            <a:ext cx="4635500" cy="307777"/>
          </a:xfrm>
          <a:prstGeom prst="rect">
            <a:avLst/>
          </a:prstGeom>
          <a:noFill/>
        </p:spPr>
        <p:txBody>
          <a:bodyPr vertOverflow="overflow" vert="horz" wrap="square" rtlCol="0" anchor="t">
            <a:spAutoFit/>
          </a:bodyPr>
          <a:lstStyle/>
          <a:p>
            <a:pPr algn="l"/>
            <a:r>
              <a:rPr lang="zh-CN" altLang="en-US" sz="1400">
                <a:solidFill>
                  <a:srgbClr val="1F1F1F"/>
                </a:solidFill>
                <a:latin typeface="思源宋体" panose="02020400000000000000" pitchFamily="18" charset="-122"/>
                <a:ea typeface="思源宋体" panose="02020400000000000000" pitchFamily="18" charset="-122"/>
                <a:cs typeface="Noto Serif SC"/>
              </a:rPr>
              <a:t>代码审查与文档审核流程</a:t>
            </a:r>
          </a:p>
        </p:txBody>
      </p:sp>
      <p:sp>
        <p:nvSpPr>
          <p:cNvPr id="51" name="文本框 50"/>
          <p:cNvSpPr txBox="1"/>
          <p:nvPr/>
        </p:nvSpPr>
        <p:spPr>
          <a:xfrm>
            <a:off x="6578600" y="5397500"/>
            <a:ext cx="127000" cy="338554"/>
          </a:xfrm>
          <a:prstGeom prst="rect">
            <a:avLst/>
          </a:prstGeom>
          <a:noFill/>
        </p:spPr>
        <p:txBody>
          <a:bodyPr vertOverflow="overflow" vert="horz" wrap="square" rtlCol="0" anchor="t">
            <a:spAutoFit/>
          </a:bodyPr>
          <a:lstStyle/>
          <a:p>
            <a:pPr algn="l"/>
            <a:r>
              <a:rPr lang="en-US" altLang="zh-CN" sz="1600" b="1">
                <a:solidFill>
                  <a:srgbClr val="6EA843"/>
                </a:solidFill>
                <a:latin typeface="Noto Sans SC" panose="020B0200000000000000" charset="-122"/>
                <a:ea typeface="Noto Sans SC" panose="020B0200000000000000" charset="-122"/>
              </a:rPr>
              <a:t>•</a:t>
            </a:r>
          </a:p>
        </p:txBody>
      </p:sp>
      <p:sp>
        <p:nvSpPr>
          <p:cNvPr id="52" name="文本框 51"/>
          <p:cNvSpPr txBox="1"/>
          <p:nvPr/>
        </p:nvSpPr>
        <p:spPr>
          <a:xfrm>
            <a:off x="6731000" y="5397500"/>
            <a:ext cx="46355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迭代开发与持续改进意识</a:t>
            </a:r>
          </a:p>
        </p:txBody>
      </p:sp>
      <p:sp>
        <p:nvSpPr>
          <p:cNvPr id="56" name="文本框 55"/>
          <p:cNvSpPr txBox="1"/>
          <p:nvPr/>
        </p:nvSpPr>
        <p:spPr>
          <a:xfrm>
            <a:off x="952500" y="6083300"/>
            <a:ext cx="10414000" cy="254000"/>
          </a:xfrm>
          <a:prstGeom prst="rect">
            <a:avLst/>
          </a:prstGeom>
          <a:noFill/>
        </p:spPr>
        <p:txBody>
          <a:bodyPr vertOverflow="overflow" vert="horz" wrap="square" rtlCol="0" anchor="t">
            <a:spAutoFit/>
          </a:bodyPr>
          <a:lstStyle/>
          <a:p>
            <a:pPr algn="l"/>
            <a:r>
              <a:rPr lang="zh-CN" altLang="en-US" sz="1200" b="1">
                <a:solidFill>
                  <a:srgbClr val="FFFFFF"/>
                </a:solidFill>
                <a:latin typeface="Noto Sans SC"/>
                <a:ea typeface="Noto Sans SC"/>
                <a:cs typeface="Noto Sans SC"/>
              </a:rPr>
              <a:t>这不仅是一次课程作业，更是一次完整的软件工程实践</a:t>
            </a:r>
          </a:p>
        </p:txBody>
      </p:sp>
      <p:sp>
        <p:nvSpPr>
          <p:cNvPr id="53" name="椭圆 52">
            <a:extLst>
              <a:ext uri="{FF2B5EF4-FFF2-40B4-BE49-F238E27FC236}">
                <a16:creationId xmlns:a16="http://schemas.microsoft.com/office/drawing/2014/main" id="{5E1E869F-7EC2-7620-3ADD-D58838700509}"/>
              </a:ext>
            </a:extLst>
          </p:cNvPr>
          <p:cNvSpPr/>
          <p:nvPr/>
        </p:nvSpPr>
        <p:spPr>
          <a:xfrm>
            <a:off x="787400" y="5682447"/>
            <a:ext cx="381000" cy="381000"/>
          </a:xfrm>
          <a:prstGeom prst="ellipse">
            <a:avLst/>
          </a:prstGeom>
          <a:solidFill>
            <a:srgbClr val="004E9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altLang="zh-CN" sz="1200" b="1" dirty="0">
                <a:solidFill>
                  <a:srgbClr val="FFFFFF"/>
                </a:solidFill>
                <a:latin typeface="思源黑体 CN" panose="020B0500000000000000" pitchFamily="34" charset="-122"/>
                <a:ea typeface="思源黑体 CN" panose="020B0500000000000000" pitchFamily="34" charset="-122"/>
                <a:cs typeface="Noto Sans SC"/>
              </a:rPr>
              <a:t>06</a:t>
            </a:r>
          </a:p>
        </p:txBody>
      </p:sp>
      <p:sp>
        <p:nvSpPr>
          <p:cNvPr id="55" name="文本框 54">
            <a:extLst>
              <a:ext uri="{FF2B5EF4-FFF2-40B4-BE49-F238E27FC236}">
                <a16:creationId xmlns:a16="http://schemas.microsoft.com/office/drawing/2014/main" id="{1FEF7FFE-FDF0-B09F-9169-7B3C31827A0B}"/>
              </a:ext>
            </a:extLst>
          </p:cNvPr>
          <p:cNvSpPr txBox="1"/>
          <p:nvPr/>
        </p:nvSpPr>
        <p:spPr>
          <a:xfrm>
            <a:off x="1333500" y="5638158"/>
            <a:ext cx="4572000" cy="307777"/>
          </a:xfrm>
          <a:prstGeom prst="rect">
            <a:avLst/>
          </a:prstGeom>
          <a:noFill/>
        </p:spPr>
        <p:txBody>
          <a:bodyPr vertOverflow="overflow" vert="horz" wrap="square" rtlCol="0" anchor="t">
            <a:spAutoFit/>
          </a:bodyPr>
          <a:lstStyle/>
          <a:p>
            <a:pPr algn="l"/>
            <a:r>
              <a:rPr lang="zh-CN" altLang="en-US" b="1" dirty="0">
                <a:solidFill>
                  <a:srgbClr val="004E97"/>
                </a:solidFill>
                <a:latin typeface="思源黑体 CN" panose="020B0500000000000000" pitchFamily="34" charset="-122"/>
                <a:ea typeface="思源黑体 CN" panose="020B0500000000000000" pitchFamily="34" charset="-122"/>
                <a:cs typeface="Noto Sans SC"/>
              </a:rPr>
              <a:t>扩展应用</a:t>
            </a:r>
          </a:p>
        </p:txBody>
      </p:sp>
      <p:sp>
        <p:nvSpPr>
          <p:cNvPr id="57" name="文本框 56">
            <a:extLst>
              <a:ext uri="{FF2B5EF4-FFF2-40B4-BE49-F238E27FC236}">
                <a16:creationId xmlns:a16="http://schemas.microsoft.com/office/drawing/2014/main" id="{DAAF9903-3771-B19D-531F-3A99BB1BD7ED}"/>
              </a:ext>
            </a:extLst>
          </p:cNvPr>
          <p:cNvSpPr txBox="1"/>
          <p:nvPr/>
        </p:nvSpPr>
        <p:spPr>
          <a:xfrm>
            <a:off x="1333500" y="5923747"/>
            <a:ext cx="4572000" cy="307777"/>
          </a:xfrm>
          <a:prstGeom prst="rect">
            <a:avLst/>
          </a:prstGeom>
          <a:noFill/>
        </p:spPr>
        <p:txBody>
          <a:bodyPr vertOverflow="overflow" vert="horz" wrap="square" rtlCol="0" anchor="t">
            <a:spAutoFit/>
          </a:bodyPr>
          <a:lstStyle/>
          <a:p>
            <a:pPr algn="l"/>
            <a:r>
              <a:rPr lang="zh-CN" altLang="en-US" sz="1400" dirty="0">
                <a:solidFill>
                  <a:srgbClr val="1F1F1F"/>
                </a:solidFill>
                <a:latin typeface="思源宋体" panose="02020400000000000000" pitchFamily="18" charset="-122"/>
                <a:ea typeface="思源宋体" panose="02020400000000000000" pitchFamily="18" charset="-122"/>
                <a:cs typeface="Noto Serif SC"/>
              </a:rPr>
              <a:t>未来可增加其他校区及校外餐饮店铺，具有良好扩展性</a:t>
            </a:r>
          </a:p>
        </p:txBody>
      </p:sp>
    </p:spTree>
    <p:extLst>
      <p:ext uri="{BB962C8B-B14F-4D97-AF65-F5344CB8AC3E}">
        <p14:creationId xmlns:p14="http://schemas.microsoft.com/office/powerpoint/2010/main" val="58018756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004E97">
                  <a:alpha val="10000"/>
                </a:srgbClr>
              </a:gs>
              <a:gs pos="100000">
                <a:srgbClr val="A9C37C">
                  <a:alpha val="5000"/>
                </a:srgbClr>
              </a:gs>
            </a:gsLst>
            <a:path path="circle">
              <a:fillToRect l="50000" t="50000" r="50000" b="50000"/>
            </a:path>
          </a:gradFill>
          <a:ln>
            <a:noFill/>
          </a:ln>
        </p:spPr>
      </p:sp>
      <p:sp>
        <p:nvSpPr>
          <p:cNvPr id="4" name="Ellipse 4"/>
          <p:cNvSpPr/>
          <p:nvPr/>
        </p:nvSpPr>
        <p:spPr>
          <a:xfrm>
            <a:off x="4381500" y="1714500"/>
            <a:ext cx="3429000" cy="3429000"/>
          </a:xfrm>
          <a:prstGeom prst="ellipse">
            <a:avLst/>
          </a:prstGeom>
          <a:solidFill>
            <a:srgbClr val="E6C46D">
              <a:alpha val="8000"/>
            </a:srgbClr>
          </a:solidFill>
          <a:ln>
            <a:noFill/>
          </a:ln>
        </p:spPr>
      </p:sp>
      <p:sp>
        <p:nvSpPr>
          <p:cNvPr id="5" name="Ellipse 5"/>
          <p:cNvSpPr/>
          <p:nvPr/>
        </p:nvSpPr>
        <p:spPr>
          <a:xfrm>
            <a:off x="4762500" y="2095500"/>
            <a:ext cx="2667000" cy="2667000"/>
          </a:xfrm>
          <a:prstGeom prst="ellipse">
            <a:avLst/>
          </a:prstGeom>
          <a:solidFill>
            <a:srgbClr val="004E97">
              <a:alpha val="6000"/>
            </a:srgbClr>
          </a:solidFill>
          <a:ln>
            <a:noFill/>
          </a:ln>
        </p:spPr>
      </p:sp>
      <p:sp>
        <p:nvSpPr>
          <p:cNvPr id="6" name="TextBox 6"/>
          <p:cNvSpPr txBox="1"/>
          <p:nvPr/>
        </p:nvSpPr>
        <p:spPr>
          <a:xfrm>
            <a:off x="5278660" y="2980373"/>
            <a:ext cx="2061210" cy="830580"/>
          </a:xfrm>
          <a:prstGeom prst="rect">
            <a:avLst/>
          </a:prstGeom>
          <a:noFill/>
          <a:ln>
            <a:noFill/>
          </a:ln>
        </p:spPr>
        <p:txBody>
          <a:bodyPr wrap="none" lIns="0" tIns="0" rIns="0" bIns="0" anchor="t" anchorCtr="0">
            <a:spAutoFit/>
          </a:bodyPr>
          <a:lstStyle/>
          <a:p>
            <a:pPr algn="ctr"/>
            <a:r>
              <a:rPr lang="zh-CN" sz="5400" b="1" dirty="0">
                <a:solidFill>
                  <a:srgbClr val="004E97"/>
                </a:solidFill>
                <a:latin typeface="思源黑体 CN" panose="020B0500000000000000" pitchFamily="34" charset="-122"/>
                <a:ea typeface="思源黑体 CN" panose="020B0500000000000000" pitchFamily="34" charset="-122"/>
                <a:cs typeface="Noto Sans SC"/>
              </a:rPr>
              <a:t>谢谢！</a:t>
            </a:r>
          </a:p>
        </p:txBody>
      </p:sp>
      <p:grpSp>
        <p:nvGrpSpPr>
          <p:cNvPr id="12" name="Group 12"/>
          <p:cNvGrpSpPr/>
          <p:nvPr/>
        </p:nvGrpSpPr>
        <p:grpSpPr>
          <a:xfrm>
            <a:off x="4370983" y="5285073"/>
            <a:ext cx="3488135" cy="960596"/>
            <a:chOff x="4351933" y="4251960"/>
            <a:chExt cx="3488135" cy="960596"/>
          </a:xfrm>
        </p:grpSpPr>
        <p:sp>
          <p:nvSpPr>
            <p:cNvPr id="8" name="TextBox 8"/>
            <p:cNvSpPr txBox="1"/>
            <p:nvPr/>
          </p:nvSpPr>
          <p:spPr>
            <a:xfrm>
              <a:off x="4351933" y="4251960"/>
              <a:ext cx="3488135"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项目名称：西安交通大学食堂评价系统</a:t>
              </a:r>
            </a:p>
          </p:txBody>
        </p:sp>
        <p:sp>
          <p:nvSpPr>
            <p:cNvPr id="9" name="TextBox 9"/>
            <p:cNvSpPr txBox="1"/>
            <p:nvPr/>
          </p:nvSpPr>
          <p:spPr>
            <a:xfrm>
              <a:off x="5275263" y="4490085"/>
              <a:ext cx="1641475"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项目经理：</a:t>
              </a:r>
            </a:p>
          </p:txBody>
        </p:sp>
        <p:sp>
          <p:nvSpPr>
            <p:cNvPr id="10" name="TextBox 10"/>
            <p:cNvSpPr txBox="1"/>
            <p:nvPr/>
          </p:nvSpPr>
          <p:spPr>
            <a:xfrm>
              <a:off x="4967486" y="4728210"/>
              <a:ext cx="2257028"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课程名称：《软件工程》</a:t>
              </a:r>
            </a:p>
          </p:txBody>
        </p:sp>
        <p:sp>
          <p:nvSpPr>
            <p:cNvPr id="11" name="TextBox 11"/>
            <p:cNvSpPr txBox="1"/>
            <p:nvPr/>
          </p:nvSpPr>
          <p:spPr>
            <a:xfrm>
              <a:off x="5093321" y="4966335"/>
              <a:ext cx="2005357" cy="246221"/>
            </a:xfrm>
            <a:prstGeom prst="rect">
              <a:avLst/>
            </a:prstGeom>
            <a:noFill/>
            <a:ln>
              <a:noFill/>
            </a:ln>
          </p:spPr>
          <p:txBody>
            <a:bodyPr wrap="none" lIns="0" tIns="0" rIns="0" bIns="0" anchor="t" anchorCtr="0">
              <a:spAutoFit/>
            </a:bodyPr>
            <a:lstStyle/>
            <a:p>
              <a:pPr algn="ctr"/>
              <a:r>
                <a:rPr lang="zh-CN" sz="1600" dirty="0">
                  <a:solidFill>
                    <a:srgbClr val="666666"/>
                  </a:solidFill>
                  <a:latin typeface="思源宋体" panose="02020400000000000000" pitchFamily="18" charset="-122"/>
                  <a:ea typeface="思源宋体" panose="02020400000000000000" pitchFamily="18" charset="-122"/>
                  <a:cs typeface="Noto Serif SC"/>
                </a:rPr>
                <a:t>完成时间：2026年4月</a:t>
              </a:r>
            </a:p>
          </p:txBody>
        </p:sp>
      </p:grpSp>
      <p:sp>
        <p:nvSpPr>
          <p:cNvPr id="13" name="Line 13"/>
          <p:cNvSpPr/>
          <p:nvPr/>
        </p:nvSpPr>
        <p:spPr>
          <a:xfrm>
            <a:off x="3829050" y="6462363"/>
            <a:ext cx="4572000" cy="9525"/>
          </a:xfrm>
          <a:custGeom>
            <a:avLst/>
            <a:gdLst/>
            <a:ahLst/>
            <a:cxnLst/>
            <a:rect l="l" t="t" r="r" b="b"/>
            <a:pathLst>
              <a:path w="4572000" h="9525">
                <a:moveTo>
                  <a:pt x="0" y="0"/>
                </a:moveTo>
                <a:lnTo>
                  <a:pt x="4572000" y="0"/>
                </a:lnTo>
              </a:path>
            </a:pathLst>
          </a:custGeom>
          <a:noFill/>
          <a:ln w="19050">
            <a:solidFill>
              <a:srgbClr val="E6C46D"/>
            </a:solidFill>
          </a:ln>
        </p:spPr>
      </p:sp>
    </p:spTree>
    <p:extLst>
      <p:ext uri="{BB962C8B-B14F-4D97-AF65-F5344CB8AC3E}">
        <p14:creationId xmlns:p14="http://schemas.microsoft.com/office/powerpoint/2010/main" val="256298521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00,&quot;width&quot;:8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40,&quot;top&quot;:100,&quot;width&quot;:8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44.9,&quot;left&quot;:455,&quot;top&quot;:134.1,&quot;width&quot;:44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52.5,&quot;top&quot;:133.5,&quot;width&quot;:805.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76.35,&quot;left&quot;:60,&quot;top&quot;:103.65,&quot;width&quot;:840}"/>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75,&quot;left&quot;:60,&quot;top&quot;:105,&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6FFBA08-D408-4177-ADE4-2E6646A5D1FE}">
  <we:reference id="wa200010001" version="1.0.0.1" store="en-US" storeType="OMEX"/>
  <we:alternateReferences>
    <we:reference id="WA200010001" version="1.0.0.1" store="" storeType="OMEX"/>
  </we:alternateReferences>
  <we:properties>
    <we:property name="claude.fileId" value="&quot;2721fdc2-266f-4446-b127-492bc159e84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356</TotalTime>
  <Words>10690</Words>
  <Application>Microsoft Office PowerPoint</Application>
  <PresentationFormat>宽屏</PresentationFormat>
  <Paragraphs>1354</Paragraphs>
  <Slides>30</Slides>
  <Notes>30</Notes>
  <HiddenSlides>0</HiddenSlides>
  <MMClips>1</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30</vt:i4>
      </vt:variant>
    </vt:vector>
  </HeadingPairs>
  <TitlesOfParts>
    <vt:vector size="40" baseType="lpstr">
      <vt:lpstr>Noto Sans SC</vt:lpstr>
      <vt:lpstr>Noto Serif SC</vt:lpstr>
      <vt:lpstr>黑体</vt:lpstr>
      <vt:lpstr>华文行楷</vt:lpstr>
      <vt:lpstr>思源黑体 CN</vt:lpstr>
      <vt:lpstr>思源宋体</vt:lpstr>
      <vt:lpstr>Arial</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OMEN</dc:creator>
  <cp:lastModifiedBy>钊源 张</cp:lastModifiedBy>
  <cp:revision>28</cp:revision>
  <cp:lastPrinted>2026-04-19T15:09:23Z</cp:lastPrinted>
  <dcterms:created xsi:type="dcterms:W3CDTF">2026-04-19T12:47:30Z</dcterms:created>
  <dcterms:modified xsi:type="dcterms:W3CDTF">2026-04-24T08:38:53Z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43017BB60E36185CB5C8E46922CF7089_43</vt:lpwstr>
  </property>
</Properties>
</file>