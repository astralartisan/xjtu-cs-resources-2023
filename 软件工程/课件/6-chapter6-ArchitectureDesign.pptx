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0" r:id="rId1"/>
  </p:sldMasterIdLst>
  <p:notesMasterIdLst>
    <p:notesMasterId r:id="rId91"/>
  </p:notesMasterIdLst>
  <p:sldIdLst>
    <p:sldId id="356" r:id="rId2"/>
    <p:sldId id="256" r:id="rId3"/>
    <p:sldId id="257" r:id="rId4"/>
    <p:sldId id="314" r:id="rId5"/>
    <p:sldId id="432" r:id="rId6"/>
    <p:sldId id="263" r:id="rId7"/>
    <p:sldId id="456" r:id="rId8"/>
    <p:sldId id="473" r:id="rId9"/>
    <p:sldId id="474" r:id="rId10"/>
    <p:sldId id="475" r:id="rId11"/>
    <p:sldId id="465" r:id="rId12"/>
    <p:sldId id="476" r:id="rId13"/>
    <p:sldId id="477" r:id="rId14"/>
    <p:sldId id="466" r:id="rId15"/>
    <p:sldId id="467" r:id="rId16"/>
    <p:sldId id="468" r:id="rId17"/>
    <p:sldId id="478" r:id="rId18"/>
    <p:sldId id="488" r:id="rId19"/>
    <p:sldId id="489" r:id="rId20"/>
    <p:sldId id="495" r:id="rId21"/>
    <p:sldId id="492" r:id="rId22"/>
    <p:sldId id="479" r:id="rId23"/>
    <p:sldId id="482" r:id="rId24"/>
    <p:sldId id="480" r:id="rId25"/>
    <p:sldId id="483" r:id="rId26"/>
    <p:sldId id="484" r:id="rId27"/>
    <p:sldId id="469" r:id="rId28"/>
    <p:sldId id="470" r:id="rId29"/>
    <p:sldId id="471" r:id="rId30"/>
    <p:sldId id="435" r:id="rId31"/>
    <p:sldId id="366" r:id="rId32"/>
    <p:sldId id="367" r:id="rId33"/>
    <p:sldId id="436" r:id="rId34"/>
    <p:sldId id="315" r:id="rId35"/>
    <p:sldId id="472" r:id="rId36"/>
    <p:sldId id="365" r:id="rId37"/>
    <p:sldId id="433" r:id="rId38"/>
    <p:sldId id="434" r:id="rId39"/>
    <p:sldId id="316" r:id="rId40"/>
    <p:sldId id="464" r:id="rId41"/>
    <p:sldId id="369" r:id="rId42"/>
    <p:sldId id="401" r:id="rId43"/>
    <p:sldId id="403" r:id="rId44"/>
    <p:sldId id="404" r:id="rId45"/>
    <p:sldId id="406" r:id="rId46"/>
    <p:sldId id="402" r:id="rId47"/>
    <p:sldId id="405" r:id="rId48"/>
    <p:sldId id="457" r:id="rId49"/>
    <p:sldId id="407" r:id="rId50"/>
    <p:sldId id="408" r:id="rId51"/>
    <p:sldId id="437" r:id="rId52"/>
    <p:sldId id="409" r:id="rId53"/>
    <p:sldId id="438" r:id="rId54"/>
    <p:sldId id="410" r:id="rId55"/>
    <p:sldId id="320" r:id="rId56"/>
    <p:sldId id="411" r:id="rId57"/>
    <p:sldId id="439" r:id="rId58"/>
    <p:sldId id="412" r:id="rId59"/>
    <p:sldId id="413" r:id="rId60"/>
    <p:sldId id="414" r:id="rId61"/>
    <p:sldId id="458" r:id="rId62"/>
    <p:sldId id="416" r:id="rId63"/>
    <p:sldId id="417" r:id="rId64"/>
    <p:sldId id="418" r:id="rId65"/>
    <p:sldId id="419" r:id="rId66"/>
    <p:sldId id="420" r:id="rId67"/>
    <p:sldId id="441" r:id="rId68"/>
    <p:sldId id="421" r:id="rId69"/>
    <p:sldId id="423" r:id="rId70"/>
    <p:sldId id="424" r:id="rId71"/>
    <p:sldId id="422" r:id="rId72"/>
    <p:sldId id="459" r:id="rId73"/>
    <p:sldId id="460" r:id="rId74"/>
    <p:sldId id="461" r:id="rId75"/>
    <p:sldId id="462" r:id="rId76"/>
    <p:sldId id="449" r:id="rId77"/>
    <p:sldId id="425" r:id="rId78"/>
    <p:sldId id="426" r:id="rId79"/>
    <p:sldId id="427" r:id="rId80"/>
    <p:sldId id="428" r:id="rId81"/>
    <p:sldId id="430" r:id="rId82"/>
    <p:sldId id="453" r:id="rId83"/>
    <p:sldId id="455" r:id="rId84"/>
    <p:sldId id="452" r:id="rId85"/>
    <p:sldId id="450" r:id="rId86"/>
    <p:sldId id="451" r:id="rId87"/>
    <p:sldId id="400" r:id="rId88"/>
    <p:sldId id="364" r:id="rId89"/>
    <p:sldId id="463" r:id="rId90"/>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99CC"/>
    <a:srgbClr val="33CC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396" autoAdjust="0"/>
    <p:restoredTop sz="96619" autoAdjust="0"/>
  </p:normalViewPr>
  <p:slideViewPr>
    <p:cSldViewPr>
      <p:cViewPr varScale="1">
        <p:scale>
          <a:sx n="121" d="100"/>
          <a:sy n="121" d="100"/>
        </p:scale>
        <p:origin x="1522"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tableStyles" Target="tableStyle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C4E8EAAC-C7D3-400E-869E-98F09071ED8C}"/>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cs typeface="Arial" charset="0"/>
              </a:defRPr>
            </a:lvl1pPr>
          </a:lstStyle>
          <a:p>
            <a:pPr>
              <a:defRPr/>
            </a:pPr>
            <a:endParaRPr lang="en-US"/>
          </a:p>
        </p:txBody>
      </p:sp>
      <p:sp>
        <p:nvSpPr>
          <p:cNvPr id="75779" name="Rectangle 3">
            <a:extLst>
              <a:ext uri="{FF2B5EF4-FFF2-40B4-BE49-F238E27FC236}">
                <a16:creationId xmlns:a16="http://schemas.microsoft.com/office/drawing/2014/main" id="{02809FC4-303A-457B-848E-F998A887934B}"/>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cs typeface="Arial" charset="0"/>
              </a:defRPr>
            </a:lvl1pPr>
          </a:lstStyle>
          <a:p>
            <a:pPr>
              <a:defRPr/>
            </a:pPr>
            <a:endParaRPr lang="en-US"/>
          </a:p>
        </p:txBody>
      </p:sp>
      <p:sp>
        <p:nvSpPr>
          <p:cNvPr id="48132" name="Rectangle 4">
            <a:extLst>
              <a:ext uri="{FF2B5EF4-FFF2-40B4-BE49-F238E27FC236}">
                <a16:creationId xmlns:a16="http://schemas.microsoft.com/office/drawing/2014/main" id="{80043731-9719-456E-817C-1E3EDA44D13A}"/>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81" name="Rectangle 5">
            <a:extLst>
              <a:ext uri="{FF2B5EF4-FFF2-40B4-BE49-F238E27FC236}">
                <a16:creationId xmlns:a16="http://schemas.microsoft.com/office/drawing/2014/main" id="{6F7B2DF2-BE67-4A82-82B5-B0452AEC7C81}"/>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5782" name="Rectangle 6">
            <a:extLst>
              <a:ext uri="{FF2B5EF4-FFF2-40B4-BE49-F238E27FC236}">
                <a16:creationId xmlns:a16="http://schemas.microsoft.com/office/drawing/2014/main" id="{2E891C2D-46B4-41BA-A3A3-74223EA4FE98}"/>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cs typeface="Arial" charset="0"/>
              </a:defRPr>
            </a:lvl1pPr>
          </a:lstStyle>
          <a:p>
            <a:pPr>
              <a:defRPr/>
            </a:pPr>
            <a:endParaRPr lang="en-US"/>
          </a:p>
        </p:txBody>
      </p:sp>
      <p:sp>
        <p:nvSpPr>
          <p:cNvPr id="75783" name="Rectangle 7">
            <a:extLst>
              <a:ext uri="{FF2B5EF4-FFF2-40B4-BE49-F238E27FC236}">
                <a16:creationId xmlns:a16="http://schemas.microsoft.com/office/drawing/2014/main" id="{CB5FF5E3-5EC4-47A9-992F-2748A5E2A7EC}"/>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DEBEB704-F0CE-4A73-959E-434E8AA84F78}"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kumimoji="1" sz="12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kumimoji="1" sz="12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kumimoji="1" sz="12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kumimoji="1"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设计要点与设计活动</a:t>
            </a:r>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2</a:t>
            </a:fld>
            <a:endParaRPr lang="en-US" altLang="zh-CN"/>
          </a:p>
        </p:txBody>
      </p:sp>
    </p:spTree>
    <p:extLst>
      <p:ext uri="{BB962C8B-B14F-4D97-AF65-F5344CB8AC3E}">
        <p14:creationId xmlns:p14="http://schemas.microsoft.com/office/powerpoint/2010/main" val="29575054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F9F35EB9-312B-46D0-A4BD-8EF199A1863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FEB825C-B114-407A-8F79-023A8A383AD9}" type="slidenum">
              <a:rPr lang="en-US" altLang="zh-CN"/>
              <a:pPr eaLnBrk="1" hangingPunct="1"/>
              <a:t>3</a:t>
            </a:fld>
            <a:endParaRPr lang="en-US" altLang="zh-CN"/>
          </a:p>
        </p:txBody>
      </p:sp>
      <p:sp>
        <p:nvSpPr>
          <p:cNvPr id="49155" name="Rectangle 2">
            <a:extLst>
              <a:ext uri="{FF2B5EF4-FFF2-40B4-BE49-F238E27FC236}">
                <a16:creationId xmlns:a16="http://schemas.microsoft.com/office/drawing/2014/main" id="{7CC5AF4C-0B26-452C-9156-A65F2BA130F2}"/>
              </a:ext>
            </a:extLst>
          </p:cNvPr>
          <p:cNvSpPr>
            <a:spLocks noGrp="1" noRot="1" noChangeAspect="1" noChangeArrowheads="1" noTextEdit="1"/>
          </p:cNvSpPr>
          <p:nvPr>
            <p:ph type="sldImg"/>
          </p:nvPr>
        </p:nvSpPr>
        <p:spPr>
          <a:ln/>
        </p:spPr>
      </p:sp>
      <p:sp>
        <p:nvSpPr>
          <p:cNvPr id="49156" name="Rectangle 3">
            <a:extLst>
              <a:ext uri="{FF2B5EF4-FFF2-40B4-BE49-F238E27FC236}">
                <a16:creationId xmlns:a16="http://schemas.microsoft.com/office/drawing/2014/main" id="{DB48D712-E718-4C22-906D-3476F164EE6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zh-CN" altLang="en-US" b="0" i="0" dirty="0">
                <a:solidFill>
                  <a:srgbClr val="2A2B2E"/>
                </a:solidFill>
                <a:effectLst/>
                <a:latin typeface="PingFang SC"/>
              </a:rPr>
              <a:t>设计的要素</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系统设计的输入和输出</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设计活动</a:t>
            </a:r>
            <a:br>
              <a:rPr lang="zh-CN" altLang="en-US" dirty="0"/>
            </a:br>
            <a:endParaRPr lang="zh-CN" altLang="en-US" b="0" i="0" dirty="0">
              <a:solidFill>
                <a:srgbClr val="2A2B2E"/>
              </a:solidFill>
              <a:effectLst/>
              <a:latin typeface="PingFang SC"/>
            </a:endParaRPr>
          </a:p>
          <a:p>
            <a:r>
              <a:rPr lang="zh-CN" altLang="en-US" b="0" i="0" dirty="0">
                <a:solidFill>
                  <a:srgbClr val="2A2B2E"/>
                </a:solidFill>
                <a:effectLst/>
                <a:latin typeface="PingFang SC"/>
              </a:rPr>
              <a:t>设计活动</a:t>
            </a:r>
            <a:r>
              <a:rPr lang="en-US" altLang="zh-CN" b="0" i="0" dirty="0">
                <a:solidFill>
                  <a:srgbClr val="2A2B2E"/>
                </a:solidFill>
                <a:effectLst/>
                <a:latin typeface="PingFang SC"/>
              </a:rPr>
              <a:t>:</a:t>
            </a:r>
            <a:r>
              <a:rPr lang="zh-CN" altLang="en-US" b="0" i="0" dirty="0">
                <a:solidFill>
                  <a:srgbClr val="2A2B2E"/>
                </a:solidFill>
                <a:effectLst/>
                <a:latin typeface="PingFang SC"/>
              </a:rPr>
              <a:t>设计环境</a:t>
            </a:r>
            <a:endParaRPr lang="zh-CN" altLang="zh-CN" dirty="0">
              <a:latin typeface="Arial" panose="020B0604020202020204" pitchFamily="34" charset="0"/>
              <a:cs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描述系统分析与系统设计之间的区别</a:t>
            </a:r>
            <a:endParaRPr lang="en-US" altLang="zh-CN" dirty="0"/>
          </a:p>
          <a:p>
            <a:r>
              <a:rPr lang="zh-CN" altLang="en-US" dirty="0"/>
              <a:t>解释每个主要的设计活动</a:t>
            </a:r>
            <a:endParaRPr lang="en-US" altLang="zh-CN" dirty="0"/>
          </a:p>
          <a:p>
            <a:r>
              <a:rPr lang="zh-CN" altLang="en-US" dirty="0"/>
              <a:t>描述主要的硬件和网络环境的选择</a:t>
            </a:r>
            <a:endParaRPr lang="en-US" altLang="zh-CN" dirty="0"/>
          </a:p>
          <a:p>
            <a:r>
              <a:rPr lang="zh-CN" altLang="en-US" dirty="0"/>
              <a:t>描述不同的托管服务</a:t>
            </a:r>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4</a:t>
            </a:fld>
            <a:endParaRPr lang="en-US" altLang="zh-CN"/>
          </a:p>
        </p:txBody>
      </p:sp>
    </p:spTree>
    <p:extLst>
      <p:ext uri="{BB962C8B-B14F-4D97-AF65-F5344CB8AC3E}">
        <p14:creationId xmlns:p14="http://schemas.microsoft.com/office/powerpoint/2010/main" val="8289102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F9F35EB9-312B-46D0-A4BD-8EF199A1863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FEB825C-B114-407A-8F79-023A8A383AD9}" type="slidenum">
              <a:rPr lang="en-US" altLang="zh-CN"/>
              <a:pPr eaLnBrk="1" hangingPunct="1"/>
              <a:t>5</a:t>
            </a:fld>
            <a:endParaRPr lang="en-US" altLang="zh-CN"/>
          </a:p>
        </p:txBody>
      </p:sp>
      <p:sp>
        <p:nvSpPr>
          <p:cNvPr id="49155" name="Rectangle 2">
            <a:extLst>
              <a:ext uri="{FF2B5EF4-FFF2-40B4-BE49-F238E27FC236}">
                <a16:creationId xmlns:a16="http://schemas.microsoft.com/office/drawing/2014/main" id="{7CC5AF4C-0B26-452C-9156-A65F2BA130F2}"/>
              </a:ext>
            </a:extLst>
          </p:cNvPr>
          <p:cNvSpPr>
            <a:spLocks noGrp="1" noRot="1" noChangeAspect="1" noChangeArrowheads="1" noTextEdit="1"/>
          </p:cNvSpPr>
          <p:nvPr>
            <p:ph type="sldImg"/>
          </p:nvPr>
        </p:nvSpPr>
        <p:spPr>
          <a:ln/>
        </p:spPr>
      </p:sp>
      <p:sp>
        <p:nvSpPr>
          <p:cNvPr id="49156" name="Rectangle 3">
            <a:extLst>
              <a:ext uri="{FF2B5EF4-FFF2-40B4-BE49-F238E27FC236}">
                <a16:creationId xmlns:a16="http://schemas.microsoft.com/office/drawing/2014/main" id="{DB48D712-E718-4C22-906D-3476F164EE6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b="0" i="0" dirty="0">
                <a:solidFill>
                  <a:srgbClr val="2A2B2E"/>
                </a:solidFill>
                <a:effectLst/>
                <a:latin typeface="PingFang SC"/>
              </a:rPr>
              <a:t>设计的要素</a:t>
            </a:r>
            <a:endParaRPr lang="zh-CN" altLang="zh-C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363506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分析告诉我们“什么”是需要的，而设计告诉我们“如何”配置和构建系统</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第</a:t>
            </a:r>
            <a:r>
              <a:rPr lang="en-US" altLang="zh-CN" b="0" i="0" dirty="0">
                <a:solidFill>
                  <a:srgbClr val="2A2B2E"/>
                </a:solidFill>
                <a:effectLst/>
                <a:latin typeface="PingFang SC"/>
              </a:rPr>
              <a:t>2</a:t>
            </a:r>
            <a:r>
              <a:rPr lang="zh-CN" altLang="en-US" b="0" i="0" dirty="0">
                <a:solidFill>
                  <a:srgbClr val="2A2B2E"/>
                </a:solidFill>
                <a:effectLst/>
                <a:latin typeface="PingFang SC"/>
              </a:rPr>
              <a:t>、</a:t>
            </a:r>
            <a:r>
              <a:rPr lang="en-US" altLang="zh-CN" b="0" i="0" dirty="0">
                <a:solidFill>
                  <a:srgbClr val="2A2B2E"/>
                </a:solidFill>
                <a:effectLst/>
                <a:latin typeface="PingFang SC"/>
              </a:rPr>
              <a:t>3</a:t>
            </a:r>
            <a:r>
              <a:rPr lang="zh-CN" altLang="en-US" b="0" i="0" dirty="0">
                <a:solidFill>
                  <a:srgbClr val="2A2B2E"/>
                </a:solidFill>
                <a:effectLst/>
                <a:latin typeface="PingFang SC"/>
              </a:rPr>
              <a:t>、</a:t>
            </a:r>
            <a:r>
              <a:rPr lang="en-US" altLang="zh-CN" b="0" i="0" dirty="0">
                <a:solidFill>
                  <a:srgbClr val="2A2B2E"/>
                </a:solidFill>
                <a:effectLst/>
                <a:latin typeface="PingFang SC"/>
              </a:rPr>
              <a:t>4</a:t>
            </a:r>
            <a:r>
              <a:rPr lang="zh-CN" altLang="en-US" b="0" i="0" dirty="0">
                <a:solidFill>
                  <a:srgbClr val="2A2B2E"/>
                </a:solidFill>
                <a:effectLst/>
                <a:latin typeface="PingFang SC"/>
              </a:rPr>
              <a:t>和</a:t>
            </a:r>
            <a:r>
              <a:rPr lang="en-US" altLang="zh-CN" b="0" i="0" dirty="0">
                <a:solidFill>
                  <a:srgbClr val="2A2B2E"/>
                </a:solidFill>
                <a:effectLst/>
                <a:latin typeface="PingFang SC"/>
              </a:rPr>
              <a:t>5</a:t>
            </a:r>
            <a:r>
              <a:rPr lang="zh-CN" altLang="en-US" b="0" i="0" dirty="0">
                <a:solidFill>
                  <a:srgbClr val="2A2B2E"/>
                </a:solidFill>
                <a:effectLst/>
                <a:latin typeface="PingFang SC"/>
              </a:rPr>
              <a:t>章涵盖了系统需求</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本章介绍系统设计和系统开发中涉及的设计活动</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设计在需求和实际实现之间架起了桥梁</a:t>
            </a:r>
            <a:br>
              <a:rPr lang="zh-CN" altLang="en-US" dirty="0"/>
            </a:br>
            <a:endParaRPr lang="zh-CN" altLang="en-US" b="0" i="0" dirty="0">
              <a:solidFill>
                <a:srgbClr val="2A2B2E"/>
              </a:solidFill>
              <a:effectLst/>
              <a:latin typeface="PingFang SC"/>
            </a:endParaRPr>
          </a:p>
          <a:p>
            <a:r>
              <a:rPr lang="zh-CN" altLang="en-US" b="0" i="0" dirty="0">
                <a:solidFill>
                  <a:srgbClr val="2A2B2E"/>
                </a:solidFill>
                <a:effectLst/>
                <a:latin typeface="PingFang SC"/>
              </a:rPr>
              <a:t>设计的目的是定义、组织和构造最终解决方案的组成部分，作为施工的蓝图</a:t>
            </a:r>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6</a:t>
            </a:fld>
            <a:endParaRPr lang="en-US" altLang="zh-CN"/>
          </a:p>
        </p:txBody>
      </p:sp>
    </p:spTree>
    <p:extLst>
      <p:ext uri="{BB962C8B-B14F-4D97-AF65-F5344CB8AC3E}">
        <p14:creationId xmlns:p14="http://schemas.microsoft.com/office/powerpoint/2010/main" val="15677167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分析告诉我们“什么”是需要的，而设计告诉我们“如何”配置和构建系统</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第</a:t>
            </a:r>
            <a:r>
              <a:rPr lang="en-US" altLang="zh-CN" b="0" i="0" dirty="0">
                <a:solidFill>
                  <a:srgbClr val="2A2B2E"/>
                </a:solidFill>
                <a:effectLst/>
                <a:latin typeface="PingFang SC"/>
              </a:rPr>
              <a:t>2</a:t>
            </a:r>
            <a:r>
              <a:rPr lang="zh-CN" altLang="en-US" b="0" i="0" dirty="0">
                <a:solidFill>
                  <a:srgbClr val="2A2B2E"/>
                </a:solidFill>
                <a:effectLst/>
                <a:latin typeface="PingFang SC"/>
              </a:rPr>
              <a:t>、</a:t>
            </a:r>
            <a:r>
              <a:rPr lang="en-US" altLang="zh-CN" b="0" i="0" dirty="0">
                <a:solidFill>
                  <a:srgbClr val="2A2B2E"/>
                </a:solidFill>
                <a:effectLst/>
                <a:latin typeface="PingFang SC"/>
              </a:rPr>
              <a:t>3</a:t>
            </a:r>
            <a:r>
              <a:rPr lang="zh-CN" altLang="en-US" b="0" i="0" dirty="0">
                <a:solidFill>
                  <a:srgbClr val="2A2B2E"/>
                </a:solidFill>
                <a:effectLst/>
                <a:latin typeface="PingFang SC"/>
              </a:rPr>
              <a:t>、</a:t>
            </a:r>
            <a:r>
              <a:rPr lang="en-US" altLang="zh-CN" b="0" i="0" dirty="0">
                <a:solidFill>
                  <a:srgbClr val="2A2B2E"/>
                </a:solidFill>
                <a:effectLst/>
                <a:latin typeface="PingFang SC"/>
              </a:rPr>
              <a:t>4</a:t>
            </a:r>
            <a:r>
              <a:rPr lang="zh-CN" altLang="en-US" b="0" i="0" dirty="0">
                <a:solidFill>
                  <a:srgbClr val="2A2B2E"/>
                </a:solidFill>
                <a:effectLst/>
                <a:latin typeface="PingFang SC"/>
              </a:rPr>
              <a:t>和</a:t>
            </a:r>
            <a:r>
              <a:rPr lang="en-US" altLang="zh-CN" b="0" i="0" dirty="0">
                <a:solidFill>
                  <a:srgbClr val="2A2B2E"/>
                </a:solidFill>
                <a:effectLst/>
                <a:latin typeface="PingFang SC"/>
              </a:rPr>
              <a:t>5</a:t>
            </a:r>
            <a:r>
              <a:rPr lang="zh-CN" altLang="en-US" b="0" i="0" dirty="0">
                <a:solidFill>
                  <a:srgbClr val="2A2B2E"/>
                </a:solidFill>
                <a:effectLst/>
                <a:latin typeface="PingFang SC"/>
              </a:rPr>
              <a:t>章涵盖了系统需求</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本章介绍系统设计和系统开发中涉及的设计活动</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设计在需求和实际实现之间架起了桥梁</a:t>
            </a:r>
            <a:br>
              <a:rPr lang="zh-CN" altLang="en-US" dirty="0"/>
            </a:br>
            <a:endParaRPr lang="zh-CN" altLang="en-US" b="0" i="0" dirty="0">
              <a:solidFill>
                <a:srgbClr val="2A2B2E"/>
              </a:solidFill>
              <a:effectLst/>
              <a:latin typeface="PingFang SC"/>
            </a:endParaRPr>
          </a:p>
          <a:p>
            <a:r>
              <a:rPr lang="zh-CN" altLang="en-US" b="0" i="0" dirty="0">
                <a:solidFill>
                  <a:srgbClr val="2A2B2E"/>
                </a:solidFill>
                <a:effectLst/>
                <a:latin typeface="PingFang SC"/>
              </a:rPr>
              <a:t>设计的目的是定义、组织和构造最终解决方案的组成部分，作为施工的蓝图</a:t>
            </a:r>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7</a:t>
            </a:fld>
            <a:endParaRPr lang="en-US" altLang="zh-CN"/>
          </a:p>
        </p:txBody>
      </p:sp>
    </p:spTree>
    <p:extLst>
      <p:ext uri="{BB962C8B-B14F-4D97-AF65-F5344CB8AC3E}">
        <p14:creationId xmlns:p14="http://schemas.microsoft.com/office/powerpoint/2010/main" val="10045050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8</a:t>
            </a:fld>
            <a:endParaRPr lang="en-US" altLang="zh-CN"/>
          </a:p>
        </p:txBody>
      </p:sp>
    </p:spTree>
    <p:extLst>
      <p:ext uri="{BB962C8B-B14F-4D97-AF65-F5344CB8AC3E}">
        <p14:creationId xmlns:p14="http://schemas.microsoft.com/office/powerpoint/2010/main" val="22890168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分析告诉我们“什么”是需要的，而设计告诉我们“如何”配置和构建系统</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第</a:t>
            </a:r>
            <a:r>
              <a:rPr lang="en-US" altLang="zh-CN" b="0" i="0" dirty="0">
                <a:solidFill>
                  <a:srgbClr val="2A2B2E"/>
                </a:solidFill>
                <a:effectLst/>
                <a:latin typeface="PingFang SC"/>
              </a:rPr>
              <a:t>2</a:t>
            </a:r>
            <a:r>
              <a:rPr lang="zh-CN" altLang="en-US" b="0" i="0" dirty="0">
                <a:solidFill>
                  <a:srgbClr val="2A2B2E"/>
                </a:solidFill>
                <a:effectLst/>
                <a:latin typeface="PingFang SC"/>
              </a:rPr>
              <a:t>、</a:t>
            </a:r>
            <a:r>
              <a:rPr lang="en-US" altLang="zh-CN" b="0" i="0" dirty="0">
                <a:solidFill>
                  <a:srgbClr val="2A2B2E"/>
                </a:solidFill>
                <a:effectLst/>
                <a:latin typeface="PingFang SC"/>
              </a:rPr>
              <a:t>3</a:t>
            </a:r>
            <a:r>
              <a:rPr lang="zh-CN" altLang="en-US" b="0" i="0" dirty="0">
                <a:solidFill>
                  <a:srgbClr val="2A2B2E"/>
                </a:solidFill>
                <a:effectLst/>
                <a:latin typeface="PingFang SC"/>
              </a:rPr>
              <a:t>、</a:t>
            </a:r>
            <a:r>
              <a:rPr lang="en-US" altLang="zh-CN" b="0" i="0" dirty="0">
                <a:solidFill>
                  <a:srgbClr val="2A2B2E"/>
                </a:solidFill>
                <a:effectLst/>
                <a:latin typeface="PingFang SC"/>
              </a:rPr>
              <a:t>4</a:t>
            </a:r>
            <a:r>
              <a:rPr lang="zh-CN" altLang="en-US" b="0" i="0" dirty="0">
                <a:solidFill>
                  <a:srgbClr val="2A2B2E"/>
                </a:solidFill>
                <a:effectLst/>
                <a:latin typeface="PingFang SC"/>
              </a:rPr>
              <a:t>和</a:t>
            </a:r>
            <a:r>
              <a:rPr lang="en-US" altLang="zh-CN" b="0" i="0" dirty="0">
                <a:solidFill>
                  <a:srgbClr val="2A2B2E"/>
                </a:solidFill>
                <a:effectLst/>
                <a:latin typeface="PingFang SC"/>
              </a:rPr>
              <a:t>5</a:t>
            </a:r>
            <a:r>
              <a:rPr lang="zh-CN" altLang="en-US" b="0" i="0" dirty="0">
                <a:solidFill>
                  <a:srgbClr val="2A2B2E"/>
                </a:solidFill>
                <a:effectLst/>
                <a:latin typeface="PingFang SC"/>
              </a:rPr>
              <a:t>章涵盖了系统需求</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本章介绍系统设计和系统开发中涉及的设计活动</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设计在需求和实际实现之间架起了桥梁</a:t>
            </a:r>
            <a:br>
              <a:rPr lang="zh-CN" altLang="en-US" dirty="0"/>
            </a:br>
            <a:endParaRPr lang="zh-CN" altLang="en-US" b="0" i="0" dirty="0">
              <a:solidFill>
                <a:srgbClr val="2A2B2E"/>
              </a:solidFill>
              <a:effectLst/>
              <a:latin typeface="PingFang SC"/>
            </a:endParaRPr>
          </a:p>
          <a:p>
            <a:r>
              <a:rPr lang="zh-CN" altLang="en-US" b="0" i="0" dirty="0">
                <a:solidFill>
                  <a:srgbClr val="2A2B2E"/>
                </a:solidFill>
                <a:effectLst/>
                <a:latin typeface="PingFang SC"/>
              </a:rPr>
              <a:t>设计的目的是定义、组织和构造最终解决方案的组成部分，作为施工的蓝图</a:t>
            </a:r>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9</a:t>
            </a:fld>
            <a:endParaRPr lang="en-US" altLang="zh-CN"/>
          </a:p>
        </p:txBody>
      </p:sp>
    </p:spTree>
    <p:extLst>
      <p:ext uri="{BB962C8B-B14F-4D97-AF65-F5344CB8AC3E}">
        <p14:creationId xmlns:p14="http://schemas.microsoft.com/office/powerpoint/2010/main" val="5090542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分析告诉我们“什么”是需要的，而设计告诉我们“如何”配置和构建系统</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第</a:t>
            </a:r>
            <a:r>
              <a:rPr lang="en-US" altLang="zh-CN" b="0" i="0" dirty="0">
                <a:solidFill>
                  <a:srgbClr val="2A2B2E"/>
                </a:solidFill>
                <a:effectLst/>
                <a:latin typeface="PingFang SC"/>
              </a:rPr>
              <a:t>2</a:t>
            </a:r>
            <a:r>
              <a:rPr lang="zh-CN" altLang="en-US" b="0" i="0" dirty="0">
                <a:solidFill>
                  <a:srgbClr val="2A2B2E"/>
                </a:solidFill>
                <a:effectLst/>
                <a:latin typeface="PingFang SC"/>
              </a:rPr>
              <a:t>、</a:t>
            </a:r>
            <a:r>
              <a:rPr lang="en-US" altLang="zh-CN" b="0" i="0" dirty="0">
                <a:solidFill>
                  <a:srgbClr val="2A2B2E"/>
                </a:solidFill>
                <a:effectLst/>
                <a:latin typeface="PingFang SC"/>
              </a:rPr>
              <a:t>3</a:t>
            </a:r>
            <a:r>
              <a:rPr lang="zh-CN" altLang="en-US" b="0" i="0" dirty="0">
                <a:solidFill>
                  <a:srgbClr val="2A2B2E"/>
                </a:solidFill>
                <a:effectLst/>
                <a:latin typeface="PingFang SC"/>
              </a:rPr>
              <a:t>、</a:t>
            </a:r>
            <a:r>
              <a:rPr lang="en-US" altLang="zh-CN" b="0" i="0" dirty="0">
                <a:solidFill>
                  <a:srgbClr val="2A2B2E"/>
                </a:solidFill>
                <a:effectLst/>
                <a:latin typeface="PingFang SC"/>
              </a:rPr>
              <a:t>4</a:t>
            </a:r>
            <a:r>
              <a:rPr lang="zh-CN" altLang="en-US" b="0" i="0" dirty="0">
                <a:solidFill>
                  <a:srgbClr val="2A2B2E"/>
                </a:solidFill>
                <a:effectLst/>
                <a:latin typeface="PingFang SC"/>
              </a:rPr>
              <a:t>和</a:t>
            </a:r>
            <a:r>
              <a:rPr lang="en-US" altLang="zh-CN" b="0" i="0" dirty="0">
                <a:solidFill>
                  <a:srgbClr val="2A2B2E"/>
                </a:solidFill>
                <a:effectLst/>
                <a:latin typeface="PingFang SC"/>
              </a:rPr>
              <a:t>5</a:t>
            </a:r>
            <a:r>
              <a:rPr lang="zh-CN" altLang="en-US" b="0" i="0" dirty="0">
                <a:solidFill>
                  <a:srgbClr val="2A2B2E"/>
                </a:solidFill>
                <a:effectLst/>
                <a:latin typeface="PingFang SC"/>
              </a:rPr>
              <a:t>章涵盖了系统需求</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本章介绍系统设计和系统开发中涉及的设计活动</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设计在需求和实际实现之间架起了桥梁</a:t>
            </a:r>
            <a:br>
              <a:rPr lang="zh-CN" altLang="en-US" dirty="0"/>
            </a:br>
            <a:endParaRPr lang="zh-CN" altLang="en-US" b="0" i="0" dirty="0">
              <a:solidFill>
                <a:srgbClr val="2A2B2E"/>
              </a:solidFill>
              <a:effectLst/>
              <a:latin typeface="PingFang SC"/>
            </a:endParaRPr>
          </a:p>
          <a:p>
            <a:r>
              <a:rPr lang="zh-CN" altLang="en-US" b="0" i="0" dirty="0">
                <a:solidFill>
                  <a:srgbClr val="2A2B2E"/>
                </a:solidFill>
                <a:effectLst/>
                <a:latin typeface="PingFang SC"/>
              </a:rPr>
              <a:t>设计的目的是定义、组织和构造最终解决方案的组成部分，作为施工的蓝图</a:t>
            </a:r>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10</a:t>
            </a:fld>
            <a:endParaRPr lang="en-US" altLang="zh-CN"/>
          </a:p>
        </p:txBody>
      </p:sp>
    </p:spTree>
    <p:extLst>
      <p:ext uri="{BB962C8B-B14F-4D97-AF65-F5344CB8AC3E}">
        <p14:creationId xmlns:p14="http://schemas.microsoft.com/office/powerpoint/2010/main" val="26051121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11</a:t>
            </a:fld>
            <a:endParaRPr lang="en-US" altLang="zh-CN"/>
          </a:p>
        </p:txBody>
      </p:sp>
    </p:spTree>
    <p:extLst>
      <p:ext uri="{BB962C8B-B14F-4D97-AF65-F5344CB8AC3E}">
        <p14:creationId xmlns:p14="http://schemas.microsoft.com/office/powerpoint/2010/main" val="29832639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12</a:t>
            </a:fld>
            <a:endParaRPr lang="en-US" altLang="zh-CN"/>
          </a:p>
        </p:txBody>
      </p:sp>
    </p:spTree>
    <p:extLst>
      <p:ext uri="{BB962C8B-B14F-4D97-AF65-F5344CB8AC3E}">
        <p14:creationId xmlns:p14="http://schemas.microsoft.com/office/powerpoint/2010/main" val="13877974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13</a:t>
            </a:fld>
            <a:endParaRPr lang="en-US" altLang="zh-CN"/>
          </a:p>
        </p:txBody>
      </p:sp>
    </p:spTree>
    <p:extLst>
      <p:ext uri="{BB962C8B-B14F-4D97-AF65-F5344CB8AC3E}">
        <p14:creationId xmlns:p14="http://schemas.microsoft.com/office/powerpoint/2010/main" val="24156966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14</a:t>
            </a:fld>
            <a:endParaRPr lang="en-US" altLang="zh-CN"/>
          </a:p>
        </p:txBody>
      </p:sp>
    </p:spTree>
    <p:extLst>
      <p:ext uri="{BB962C8B-B14F-4D97-AF65-F5344CB8AC3E}">
        <p14:creationId xmlns:p14="http://schemas.microsoft.com/office/powerpoint/2010/main" val="3703566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15</a:t>
            </a:fld>
            <a:endParaRPr lang="en-US" altLang="zh-CN"/>
          </a:p>
        </p:txBody>
      </p:sp>
    </p:spTree>
    <p:extLst>
      <p:ext uri="{BB962C8B-B14F-4D97-AF65-F5344CB8AC3E}">
        <p14:creationId xmlns:p14="http://schemas.microsoft.com/office/powerpoint/2010/main" val="2144806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16</a:t>
            </a:fld>
            <a:endParaRPr lang="en-US" altLang="zh-CN"/>
          </a:p>
        </p:txBody>
      </p:sp>
    </p:spTree>
    <p:extLst>
      <p:ext uri="{BB962C8B-B14F-4D97-AF65-F5344CB8AC3E}">
        <p14:creationId xmlns:p14="http://schemas.microsoft.com/office/powerpoint/2010/main" val="34857560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17</a:t>
            </a:fld>
            <a:endParaRPr lang="en-US" altLang="zh-CN"/>
          </a:p>
        </p:txBody>
      </p:sp>
    </p:spTree>
    <p:extLst>
      <p:ext uri="{BB962C8B-B14F-4D97-AF65-F5344CB8AC3E}">
        <p14:creationId xmlns:p14="http://schemas.microsoft.com/office/powerpoint/2010/main" val="9196335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18</a:t>
            </a:fld>
            <a:endParaRPr lang="en-US" altLang="zh-CN"/>
          </a:p>
        </p:txBody>
      </p:sp>
    </p:spTree>
    <p:extLst>
      <p:ext uri="{BB962C8B-B14F-4D97-AF65-F5344CB8AC3E}">
        <p14:creationId xmlns:p14="http://schemas.microsoft.com/office/powerpoint/2010/main" val="12821900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19</a:t>
            </a:fld>
            <a:endParaRPr lang="en-US" altLang="zh-CN"/>
          </a:p>
        </p:txBody>
      </p:sp>
    </p:spTree>
    <p:extLst>
      <p:ext uri="{BB962C8B-B14F-4D97-AF65-F5344CB8AC3E}">
        <p14:creationId xmlns:p14="http://schemas.microsoft.com/office/powerpoint/2010/main" val="61617771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20</a:t>
            </a:fld>
            <a:endParaRPr lang="en-US" altLang="zh-CN"/>
          </a:p>
        </p:txBody>
      </p:sp>
    </p:spTree>
    <p:extLst>
      <p:ext uri="{BB962C8B-B14F-4D97-AF65-F5344CB8AC3E}">
        <p14:creationId xmlns:p14="http://schemas.microsoft.com/office/powerpoint/2010/main" val="12085106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21</a:t>
            </a:fld>
            <a:endParaRPr lang="en-US" altLang="zh-CN"/>
          </a:p>
        </p:txBody>
      </p:sp>
    </p:spTree>
    <p:extLst>
      <p:ext uri="{BB962C8B-B14F-4D97-AF65-F5344CB8AC3E}">
        <p14:creationId xmlns:p14="http://schemas.microsoft.com/office/powerpoint/2010/main" val="39137729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22</a:t>
            </a:fld>
            <a:endParaRPr lang="en-US" altLang="zh-CN"/>
          </a:p>
        </p:txBody>
      </p:sp>
    </p:spTree>
    <p:extLst>
      <p:ext uri="{BB962C8B-B14F-4D97-AF65-F5344CB8AC3E}">
        <p14:creationId xmlns:p14="http://schemas.microsoft.com/office/powerpoint/2010/main" val="66659721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23</a:t>
            </a:fld>
            <a:endParaRPr lang="en-US" altLang="zh-CN"/>
          </a:p>
        </p:txBody>
      </p:sp>
    </p:spTree>
    <p:extLst>
      <p:ext uri="{BB962C8B-B14F-4D97-AF65-F5344CB8AC3E}">
        <p14:creationId xmlns:p14="http://schemas.microsoft.com/office/powerpoint/2010/main" val="333875313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24</a:t>
            </a:fld>
            <a:endParaRPr lang="en-US" altLang="zh-CN"/>
          </a:p>
        </p:txBody>
      </p:sp>
    </p:spTree>
    <p:extLst>
      <p:ext uri="{BB962C8B-B14F-4D97-AF65-F5344CB8AC3E}">
        <p14:creationId xmlns:p14="http://schemas.microsoft.com/office/powerpoint/2010/main" val="305893015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25</a:t>
            </a:fld>
            <a:endParaRPr lang="en-US" altLang="zh-CN"/>
          </a:p>
        </p:txBody>
      </p:sp>
    </p:spTree>
    <p:extLst>
      <p:ext uri="{BB962C8B-B14F-4D97-AF65-F5344CB8AC3E}">
        <p14:creationId xmlns:p14="http://schemas.microsoft.com/office/powerpoint/2010/main" val="26119606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26</a:t>
            </a:fld>
            <a:endParaRPr lang="en-US" altLang="zh-CN"/>
          </a:p>
        </p:txBody>
      </p:sp>
    </p:spTree>
    <p:extLst>
      <p:ext uri="{BB962C8B-B14F-4D97-AF65-F5344CB8AC3E}">
        <p14:creationId xmlns:p14="http://schemas.microsoft.com/office/powerpoint/2010/main" val="254953545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27</a:t>
            </a:fld>
            <a:endParaRPr lang="en-US" altLang="zh-CN"/>
          </a:p>
        </p:txBody>
      </p:sp>
    </p:spTree>
    <p:extLst>
      <p:ext uri="{BB962C8B-B14F-4D97-AF65-F5344CB8AC3E}">
        <p14:creationId xmlns:p14="http://schemas.microsoft.com/office/powerpoint/2010/main" val="152022217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28</a:t>
            </a:fld>
            <a:endParaRPr lang="en-US" altLang="zh-CN"/>
          </a:p>
        </p:txBody>
      </p:sp>
    </p:spTree>
    <p:extLst>
      <p:ext uri="{BB962C8B-B14F-4D97-AF65-F5344CB8AC3E}">
        <p14:creationId xmlns:p14="http://schemas.microsoft.com/office/powerpoint/2010/main" val="320374226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29</a:t>
            </a:fld>
            <a:endParaRPr lang="en-US" altLang="zh-CN"/>
          </a:p>
        </p:txBody>
      </p:sp>
    </p:spTree>
    <p:extLst>
      <p:ext uri="{BB962C8B-B14F-4D97-AF65-F5344CB8AC3E}">
        <p14:creationId xmlns:p14="http://schemas.microsoft.com/office/powerpoint/2010/main" val="340278883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F9F35EB9-312B-46D0-A4BD-8EF199A1863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FEB825C-B114-407A-8F79-023A8A383AD9}" type="slidenum">
              <a:rPr lang="en-US" altLang="zh-CN"/>
              <a:pPr eaLnBrk="1" hangingPunct="1"/>
              <a:t>30</a:t>
            </a:fld>
            <a:endParaRPr lang="en-US" altLang="zh-CN"/>
          </a:p>
        </p:txBody>
      </p:sp>
      <p:sp>
        <p:nvSpPr>
          <p:cNvPr id="49155" name="Rectangle 2">
            <a:extLst>
              <a:ext uri="{FF2B5EF4-FFF2-40B4-BE49-F238E27FC236}">
                <a16:creationId xmlns:a16="http://schemas.microsoft.com/office/drawing/2014/main" id="{7CC5AF4C-0B26-452C-9156-A65F2BA130F2}"/>
              </a:ext>
            </a:extLst>
          </p:cNvPr>
          <p:cNvSpPr>
            <a:spLocks noGrp="1" noRot="1" noChangeAspect="1" noChangeArrowheads="1" noTextEdit="1"/>
          </p:cNvSpPr>
          <p:nvPr>
            <p:ph type="sldImg"/>
          </p:nvPr>
        </p:nvSpPr>
        <p:spPr>
          <a:ln/>
        </p:spPr>
      </p:sp>
      <p:sp>
        <p:nvSpPr>
          <p:cNvPr id="49156" name="Rectangle 3">
            <a:extLst>
              <a:ext uri="{FF2B5EF4-FFF2-40B4-BE49-F238E27FC236}">
                <a16:creationId xmlns:a16="http://schemas.microsoft.com/office/drawing/2014/main" id="{DB48D712-E718-4C22-906D-3476F164EE6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b="0" i="0" dirty="0">
                <a:solidFill>
                  <a:srgbClr val="2A2B2E"/>
                </a:solidFill>
                <a:effectLst/>
                <a:latin typeface="PingFang SC"/>
              </a:rPr>
              <a:t>系统设计的输入和输出</a:t>
            </a:r>
            <a:endParaRPr lang="zh-CN" altLang="zh-C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0525905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分析活动：</a:t>
            </a:r>
            <a:endParaRPr lang="en-US" altLang="zh-CN" dirty="0"/>
          </a:p>
          <a:p>
            <a:r>
              <a:rPr lang="en-US" altLang="zh-CN" dirty="0"/>
              <a:t>    </a:t>
            </a:r>
            <a:r>
              <a:rPr lang="zh-CN" altLang="en-US" dirty="0"/>
              <a:t>目标：</a:t>
            </a:r>
            <a:r>
              <a:rPr lang="en-US" altLang="zh-CN" dirty="0"/>
              <a:t>1. </a:t>
            </a:r>
            <a:r>
              <a:rPr lang="zh-CN" altLang="en-US" dirty="0"/>
              <a:t>业务事件和处理过程</a:t>
            </a:r>
            <a:endParaRPr lang="en-US" altLang="zh-CN" dirty="0"/>
          </a:p>
          <a:p>
            <a:r>
              <a:rPr lang="en-US" altLang="zh-CN" dirty="0"/>
              <a:t>              2. </a:t>
            </a:r>
            <a:r>
              <a:rPr lang="zh-CN" altLang="en-US" dirty="0"/>
              <a:t>系统活动和处理需求</a:t>
            </a:r>
            <a:endParaRPr lang="en-US" altLang="zh-CN" dirty="0"/>
          </a:p>
          <a:p>
            <a:r>
              <a:rPr lang="en-US" altLang="zh-CN" dirty="0"/>
              <a:t>              3. </a:t>
            </a:r>
            <a:r>
              <a:rPr lang="zh-CN" altLang="en-US" dirty="0"/>
              <a:t>信息存储需求</a:t>
            </a:r>
            <a:endParaRPr lang="en-US" altLang="zh-CN" dirty="0"/>
          </a:p>
          <a:p>
            <a:endParaRPr lang="en-US" altLang="zh-CN" dirty="0"/>
          </a:p>
          <a:p>
            <a:r>
              <a:rPr lang="zh-CN" altLang="en-US" dirty="0"/>
              <a:t>设计活动：</a:t>
            </a:r>
            <a:endParaRPr lang="en-US" altLang="zh-CN" dirty="0"/>
          </a:p>
          <a:p>
            <a:r>
              <a:rPr lang="en-US" altLang="zh-CN" dirty="0"/>
              <a:t>    </a:t>
            </a:r>
            <a:r>
              <a:rPr lang="zh-CN" altLang="en-US" dirty="0"/>
              <a:t>目标：</a:t>
            </a:r>
            <a:r>
              <a:rPr lang="en-US" altLang="zh-CN" dirty="0"/>
              <a:t>1. </a:t>
            </a:r>
            <a:r>
              <a:rPr lang="zh-CN" altLang="en-US" dirty="0"/>
              <a:t>定义组织和构建最终解决方案系统的各个组件，他们将成为系统构建的蓝图</a:t>
            </a:r>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31</a:t>
            </a:fld>
            <a:endParaRPr lang="en-US" altLang="zh-CN"/>
          </a:p>
        </p:txBody>
      </p:sp>
    </p:spTree>
    <p:extLst>
      <p:ext uri="{BB962C8B-B14F-4D97-AF65-F5344CB8AC3E}">
        <p14:creationId xmlns:p14="http://schemas.microsoft.com/office/powerpoint/2010/main" val="118353044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分析：类图，用例图，系统顺序图，用例描述，状态机图，活动图</a:t>
            </a:r>
            <a:endParaRPr lang="en-US" altLang="zh-CN" dirty="0"/>
          </a:p>
          <a:p>
            <a:r>
              <a:rPr lang="zh-CN" altLang="en-US" dirty="0"/>
              <a:t>设计：包图，节点和位置关系图，设计类图，顺序图，数据库模式，用户界面屏幕和报表，系统安全和控制，通信图</a:t>
            </a:r>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32</a:t>
            </a:fld>
            <a:endParaRPr lang="en-US" altLang="zh-CN"/>
          </a:p>
        </p:txBody>
      </p:sp>
    </p:spTree>
    <p:extLst>
      <p:ext uri="{BB962C8B-B14F-4D97-AF65-F5344CB8AC3E}">
        <p14:creationId xmlns:p14="http://schemas.microsoft.com/office/powerpoint/2010/main" val="342587973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F9F35EB9-312B-46D0-A4BD-8EF199A1863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FEB825C-B114-407A-8F79-023A8A383AD9}" type="slidenum">
              <a:rPr lang="en-US" altLang="zh-CN"/>
              <a:pPr eaLnBrk="1" hangingPunct="1"/>
              <a:t>33</a:t>
            </a:fld>
            <a:endParaRPr lang="en-US" altLang="zh-CN"/>
          </a:p>
        </p:txBody>
      </p:sp>
      <p:sp>
        <p:nvSpPr>
          <p:cNvPr id="49155" name="Rectangle 2">
            <a:extLst>
              <a:ext uri="{FF2B5EF4-FFF2-40B4-BE49-F238E27FC236}">
                <a16:creationId xmlns:a16="http://schemas.microsoft.com/office/drawing/2014/main" id="{7CC5AF4C-0B26-452C-9156-A65F2BA130F2}"/>
              </a:ext>
            </a:extLst>
          </p:cNvPr>
          <p:cNvSpPr>
            <a:spLocks noGrp="1" noRot="1" noChangeAspect="1" noChangeArrowheads="1" noTextEdit="1"/>
          </p:cNvSpPr>
          <p:nvPr>
            <p:ph type="sldImg"/>
          </p:nvPr>
        </p:nvSpPr>
        <p:spPr>
          <a:ln/>
        </p:spPr>
      </p:sp>
      <p:sp>
        <p:nvSpPr>
          <p:cNvPr id="49156" name="Rectangle 3">
            <a:extLst>
              <a:ext uri="{FF2B5EF4-FFF2-40B4-BE49-F238E27FC236}">
                <a16:creationId xmlns:a16="http://schemas.microsoft.com/office/drawing/2014/main" id="{DB48D712-E718-4C22-906D-3476F164EE6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Arial" panose="020B0604020202020204" pitchFamily="34" charset="0"/>
                <a:cs typeface="Arial" panose="020B0604020202020204" pitchFamily="34" charset="0"/>
              </a:rPr>
              <a:t>设计活动</a:t>
            </a:r>
            <a:endParaRPr lang="zh-CN" altLang="zh-C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2256874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架构设计</a:t>
            </a:r>
            <a:br>
              <a:rPr lang="zh-CN" altLang="en-US" dirty="0"/>
            </a:br>
            <a:r>
              <a:rPr lang="zh-CN" altLang="en-US" dirty="0"/>
              <a:t>  </a:t>
            </a:r>
            <a:r>
              <a:rPr lang="zh-CN" altLang="en-US" b="0" i="0" dirty="0">
                <a:solidFill>
                  <a:srgbClr val="2A2B2E"/>
                </a:solidFill>
                <a:effectLst/>
                <a:latin typeface="PingFang SC"/>
              </a:rPr>
              <a:t>总体设计了系统结构</a:t>
            </a:r>
            <a:br>
              <a:rPr lang="zh-CN" altLang="en-US" dirty="0"/>
            </a:br>
            <a:r>
              <a:rPr lang="zh-CN" altLang="en-US" dirty="0"/>
              <a:t>  </a:t>
            </a:r>
            <a:r>
              <a:rPr lang="zh-CN" altLang="en-US" b="0" i="0" dirty="0">
                <a:solidFill>
                  <a:srgbClr val="2A2B2E"/>
                </a:solidFill>
                <a:effectLst/>
                <a:latin typeface="PingFang SC"/>
              </a:rPr>
              <a:t>也称为总体设计和概念设计</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详细设计</a:t>
            </a:r>
            <a:br>
              <a:rPr lang="zh-CN" altLang="en-US" dirty="0"/>
            </a:br>
            <a:r>
              <a:rPr lang="zh-CN" altLang="en-US" dirty="0"/>
              <a:t>  </a:t>
            </a:r>
            <a:r>
              <a:rPr lang="zh-CN" altLang="en-US" b="0" i="0" dirty="0">
                <a:solidFill>
                  <a:srgbClr val="2A2B2E"/>
                </a:solidFill>
                <a:effectLst/>
                <a:latin typeface="PingFang SC"/>
              </a:rPr>
              <a:t>低层设计即包括具体程序细节的设计</a:t>
            </a:r>
            <a:br>
              <a:rPr lang="zh-CN" altLang="en-US" dirty="0"/>
            </a:br>
            <a:r>
              <a:rPr lang="zh-CN" altLang="en-US" dirty="0"/>
              <a:t>    </a:t>
            </a:r>
            <a:r>
              <a:rPr lang="zh-CN" altLang="en-US" b="0" i="0" dirty="0">
                <a:solidFill>
                  <a:srgbClr val="2A2B2E"/>
                </a:solidFill>
                <a:effectLst/>
                <a:latin typeface="PingFang SC"/>
              </a:rPr>
              <a:t>每个用例的设计</a:t>
            </a:r>
            <a:br>
              <a:rPr lang="zh-CN" altLang="en-US" dirty="0"/>
            </a:br>
            <a:r>
              <a:rPr lang="zh-CN" altLang="en-US" dirty="0"/>
              <a:t>    </a:t>
            </a:r>
            <a:r>
              <a:rPr lang="zh-CN" altLang="en-US" b="0" i="0" dirty="0">
                <a:solidFill>
                  <a:srgbClr val="2A2B2E"/>
                </a:solidFill>
                <a:effectLst/>
                <a:latin typeface="PingFang SC"/>
              </a:rPr>
              <a:t>数据库设计</a:t>
            </a:r>
            <a:br>
              <a:rPr lang="zh-CN" altLang="en-US" dirty="0"/>
            </a:br>
            <a:r>
              <a:rPr lang="zh-CN" altLang="en-US" dirty="0"/>
              <a:t>    </a:t>
            </a:r>
            <a:r>
              <a:rPr lang="zh-CN" altLang="en-US" b="0" i="0" dirty="0">
                <a:solidFill>
                  <a:srgbClr val="2A2B2E"/>
                </a:solidFill>
                <a:effectLst/>
                <a:latin typeface="PingFang SC"/>
              </a:rPr>
              <a:t>用户和系统界面的设计</a:t>
            </a:r>
            <a:br>
              <a:rPr lang="zh-CN" altLang="en-US" dirty="0"/>
            </a:br>
            <a:r>
              <a:rPr lang="zh-CN" altLang="en-US" dirty="0"/>
              <a:t>    </a:t>
            </a:r>
            <a:r>
              <a:rPr lang="zh-CN" altLang="en-US" b="0" i="0" dirty="0">
                <a:solidFill>
                  <a:srgbClr val="2A2B2E"/>
                </a:solidFill>
                <a:effectLst/>
                <a:latin typeface="PingFang SC"/>
              </a:rPr>
              <a:t>控制和安全的设计</a:t>
            </a:r>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34</a:t>
            </a:fld>
            <a:endParaRPr lang="en-US" altLang="zh-CN"/>
          </a:p>
        </p:txBody>
      </p:sp>
    </p:spTree>
    <p:extLst>
      <p:ext uri="{BB962C8B-B14F-4D97-AF65-F5344CB8AC3E}">
        <p14:creationId xmlns:p14="http://schemas.microsoft.com/office/powerpoint/2010/main" val="333883151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35</a:t>
            </a:fld>
            <a:endParaRPr lang="en-US" altLang="zh-CN"/>
          </a:p>
        </p:txBody>
      </p:sp>
    </p:spTree>
    <p:extLst>
      <p:ext uri="{BB962C8B-B14F-4D97-AF65-F5344CB8AC3E}">
        <p14:creationId xmlns:p14="http://schemas.microsoft.com/office/powerpoint/2010/main" val="189899778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以防火墙为代表的安全和控制设计</a:t>
            </a:r>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36</a:t>
            </a:fld>
            <a:endParaRPr lang="en-US" altLang="zh-CN"/>
          </a:p>
        </p:txBody>
      </p:sp>
    </p:spTree>
    <p:extLst>
      <p:ext uri="{BB962C8B-B14F-4D97-AF65-F5344CB8AC3E}">
        <p14:creationId xmlns:p14="http://schemas.microsoft.com/office/powerpoint/2010/main" val="115069794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外部系统：外部访问的用户、员工通过</a:t>
            </a:r>
            <a:r>
              <a:rPr lang="en-US" altLang="zh-CN" dirty="0"/>
              <a:t>VPN</a:t>
            </a:r>
            <a:r>
              <a:rPr lang="zh-CN" altLang="en-US" dirty="0"/>
              <a:t>的方式链接内部应用程序</a:t>
            </a:r>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37</a:t>
            </a:fld>
            <a:endParaRPr lang="en-US" altLang="zh-CN"/>
          </a:p>
        </p:txBody>
      </p:sp>
    </p:spTree>
    <p:extLst>
      <p:ext uri="{BB962C8B-B14F-4D97-AF65-F5344CB8AC3E}">
        <p14:creationId xmlns:p14="http://schemas.microsoft.com/office/powerpoint/2010/main" val="69051009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数据库服务器</a:t>
            </a:r>
            <a:endParaRPr lang="en-US" altLang="zh-CN" dirty="0"/>
          </a:p>
          <a:p>
            <a:r>
              <a:rPr lang="zh-CN" altLang="en-US" dirty="0"/>
              <a:t>应用服务器</a:t>
            </a:r>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38</a:t>
            </a:fld>
            <a:endParaRPr lang="en-US" altLang="zh-CN"/>
          </a:p>
        </p:txBody>
      </p:sp>
    </p:spTree>
    <p:extLst>
      <p:ext uri="{BB962C8B-B14F-4D97-AF65-F5344CB8AC3E}">
        <p14:creationId xmlns:p14="http://schemas.microsoft.com/office/powerpoint/2010/main" val="375759226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设计环境</a:t>
            </a:r>
            <a:endParaRPr lang="en-US" altLang="zh-CN" dirty="0"/>
          </a:p>
          <a:p>
            <a:r>
              <a:rPr lang="zh-CN" altLang="en-US" dirty="0"/>
              <a:t>设计应用程序结构和软件</a:t>
            </a:r>
            <a:endParaRPr lang="en-US" altLang="zh-CN" dirty="0"/>
          </a:p>
          <a:p>
            <a:r>
              <a:rPr lang="zh-CN" altLang="en-US" dirty="0"/>
              <a:t>设计系统界面</a:t>
            </a:r>
            <a:endParaRPr lang="en-US" altLang="zh-CN" dirty="0"/>
          </a:p>
          <a:p>
            <a:r>
              <a:rPr lang="zh-CN" altLang="en-US" dirty="0"/>
              <a:t>设计用户界面</a:t>
            </a:r>
            <a:endParaRPr lang="en-US" altLang="zh-CN" dirty="0"/>
          </a:p>
          <a:p>
            <a:r>
              <a:rPr lang="zh-CN" altLang="en-US" dirty="0"/>
              <a:t>设计数据库</a:t>
            </a:r>
            <a:endParaRPr lang="en-US" altLang="zh-CN" dirty="0"/>
          </a:p>
          <a:p>
            <a:r>
              <a:rPr lang="zh-CN" altLang="en-US" dirty="0"/>
              <a:t>设计系统控制和安全</a:t>
            </a:r>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39</a:t>
            </a:fld>
            <a:endParaRPr lang="en-US" altLang="zh-CN"/>
          </a:p>
        </p:txBody>
      </p:sp>
    </p:spTree>
    <p:extLst>
      <p:ext uri="{BB962C8B-B14F-4D97-AF65-F5344CB8AC3E}">
        <p14:creationId xmlns:p14="http://schemas.microsoft.com/office/powerpoint/2010/main" val="386481936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设计环境：软件执行的环境</a:t>
            </a:r>
            <a:endParaRPr lang="en-US" altLang="zh-CN" dirty="0"/>
          </a:p>
          <a:p>
            <a:r>
              <a:rPr lang="zh-CN" altLang="en-US" dirty="0"/>
              <a:t>设计应用程序结构和软件：软件所有要素和每个用例是如何执行的</a:t>
            </a:r>
            <a:endParaRPr lang="en-US" altLang="zh-CN" dirty="0"/>
          </a:p>
          <a:p>
            <a:r>
              <a:rPr lang="zh-CN" altLang="en-US" dirty="0"/>
              <a:t>设计系统界面：系统会如何与组织内外部的所有其他系统相互通信</a:t>
            </a:r>
            <a:endParaRPr lang="en-US" altLang="zh-CN" dirty="0"/>
          </a:p>
          <a:p>
            <a:r>
              <a:rPr lang="zh-CN" altLang="en-US" dirty="0"/>
              <a:t>设计用户界面：用户如何与系统交互</a:t>
            </a:r>
            <a:endParaRPr lang="en-US" altLang="zh-CN" dirty="0"/>
          </a:p>
          <a:p>
            <a:r>
              <a:rPr lang="zh-CN" altLang="en-US" dirty="0"/>
              <a:t>设计数据库：所有信息的存储需求</a:t>
            </a:r>
            <a:endParaRPr lang="en-US" altLang="zh-CN" dirty="0"/>
          </a:p>
          <a:p>
            <a:r>
              <a:rPr lang="zh-CN" altLang="en-US" dirty="0"/>
              <a:t>设计系统控制和安全：确保系统和数据是安全的且处于被保护状态</a:t>
            </a:r>
          </a:p>
          <a:p>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40</a:t>
            </a:fld>
            <a:endParaRPr lang="en-US" altLang="zh-CN"/>
          </a:p>
        </p:txBody>
      </p:sp>
    </p:spTree>
    <p:extLst>
      <p:ext uri="{BB962C8B-B14F-4D97-AF65-F5344CB8AC3E}">
        <p14:creationId xmlns:p14="http://schemas.microsoft.com/office/powerpoint/2010/main" val="10543203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设计活动：</a:t>
            </a:r>
            <a:endParaRPr lang="en-US" altLang="zh-CN" dirty="0"/>
          </a:p>
          <a:p>
            <a:r>
              <a:rPr lang="zh-CN" altLang="en-US" dirty="0"/>
              <a:t>设计环境</a:t>
            </a:r>
            <a:endParaRPr lang="en-US" altLang="zh-CN" dirty="0"/>
          </a:p>
          <a:p>
            <a:endParaRPr lang="en-US" altLang="zh-CN" dirty="0"/>
          </a:p>
          <a:p>
            <a:pPr algn="l"/>
            <a:r>
              <a:rPr lang="zh-CN" altLang="en-US" b="0" i="0" dirty="0">
                <a:solidFill>
                  <a:srgbClr val="2A2B2E"/>
                </a:solidFill>
                <a:effectLst/>
                <a:latin typeface="PingFang SC"/>
              </a:rPr>
              <a:t>环境是支持软件应用程序所需的所有技术</a:t>
            </a:r>
            <a:br>
              <a:rPr lang="zh-CN" altLang="en-US" dirty="0"/>
            </a:br>
            <a:r>
              <a:rPr lang="zh-CN" altLang="en-US" dirty="0"/>
              <a:t>  </a:t>
            </a:r>
            <a:r>
              <a:rPr lang="zh-CN" altLang="en-US" b="0" i="0" dirty="0">
                <a:solidFill>
                  <a:srgbClr val="2A2B2E"/>
                </a:solidFill>
                <a:effectLst/>
                <a:latin typeface="PingFang SC"/>
              </a:rPr>
              <a:t>服务器、台式电脑</a:t>
            </a:r>
            <a:br>
              <a:rPr lang="zh-CN" altLang="en-US" dirty="0"/>
            </a:br>
            <a:r>
              <a:rPr lang="zh-CN" altLang="en-US" dirty="0"/>
              <a:t>  </a:t>
            </a:r>
            <a:r>
              <a:rPr lang="zh-CN" altLang="en-US" b="0" i="0" dirty="0">
                <a:solidFill>
                  <a:srgbClr val="2A2B2E"/>
                </a:solidFill>
                <a:effectLst/>
                <a:latin typeface="PingFang SC"/>
              </a:rPr>
              <a:t>移动设备，操作系统</a:t>
            </a:r>
            <a:br>
              <a:rPr lang="zh-CN" altLang="en-US" dirty="0"/>
            </a:br>
            <a:r>
              <a:rPr lang="zh-CN" altLang="en-US" dirty="0"/>
              <a:t>  </a:t>
            </a:r>
            <a:r>
              <a:rPr lang="zh-CN" altLang="en-US" b="0" i="0" dirty="0">
                <a:solidFill>
                  <a:srgbClr val="2A2B2E"/>
                </a:solidFill>
                <a:effectLst/>
                <a:latin typeface="PingFang SC"/>
              </a:rPr>
              <a:t>通信能力，输入和输出能力</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在第二章中，这被称为技术架构</a:t>
            </a:r>
            <a:br>
              <a:rPr lang="zh-CN" altLang="en-US" dirty="0"/>
            </a:br>
            <a:endParaRPr lang="zh-CN" altLang="en-US" b="0" i="0" dirty="0">
              <a:solidFill>
                <a:srgbClr val="2A2B2E"/>
              </a:solidFill>
              <a:effectLst/>
              <a:latin typeface="PingFang SC"/>
            </a:endParaRPr>
          </a:p>
          <a:p>
            <a:r>
              <a:rPr lang="zh-CN" altLang="en-US" b="0" i="0" dirty="0">
                <a:solidFill>
                  <a:srgbClr val="2A2B2E"/>
                </a:solidFill>
                <a:effectLst/>
                <a:latin typeface="PingFang SC"/>
              </a:rPr>
              <a:t>本章后面将更详细地讨论此活动</a:t>
            </a:r>
            <a:endParaRPr lang="en-US" altLang="zh-CN" dirty="0"/>
          </a:p>
          <a:p>
            <a:r>
              <a:rPr lang="en-US" altLang="zh-CN" dirty="0"/>
              <a:t> </a:t>
            </a:r>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41</a:t>
            </a:fld>
            <a:endParaRPr lang="en-US" altLang="zh-CN"/>
          </a:p>
        </p:txBody>
      </p:sp>
    </p:spTree>
    <p:extLst>
      <p:ext uri="{BB962C8B-B14F-4D97-AF65-F5344CB8AC3E}">
        <p14:creationId xmlns:p14="http://schemas.microsoft.com/office/powerpoint/2010/main" val="375817365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将系统分解成子系统</a:t>
            </a:r>
            <a:endParaRPr lang="en-US" altLang="zh-CN" dirty="0"/>
          </a:p>
          <a:p>
            <a:endParaRPr lang="en-US" altLang="zh-CN" dirty="0"/>
          </a:p>
          <a:p>
            <a:r>
              <a:rPr lang="zh-CN" altLang="en-US" dirty="0"/>
              <a:t>定义软件架构：</a:t>
            </a:r>
            <a:endParaRPr lang="en-US" altLang="zh-CN" dirty="0"/>
          </a:p>
          <a:p>
            <a:r>
              <a:rPr lang="en-US" altLang="zh-CN" dirty="0"/>
              <a:t>    </a:t>
            </a:r>
            <a:r>
              <a:rPr lang="zh-CN" altLang="en-US" dirty="0"/>
              <a:t>三层架构或者</a:t>
            </a:r>
            <a:r>
              <a:rPr lang="en-US" altLang="zh-CN" dirty="0"/>
              <a:t>MVC</a:t>
            </a:r>
            <a:r>
              <a:rPr lang="zh-CN" altLang="en-US" dirty="0"/>
              <a:t>设计模式（将应用程序分成了业务层、视图层和数据层）</a:t>
            </a:r>
            <a:endParaRPr lang="en-US" altLang="zh-CN" dirty="0"/>
          </a:p>
          <a:p>
            <a:endParaRPr lang="en-US" altLang="zh-CN" dirty="0"/>
          </a:p>
          <a:p>
            <a:r>
              <a:rPr lang="zh-CN" altLang="en-US" dirty="0"/>
              <a:t>设计用例细节：</a:t>
            </a:r>
            <a:endParaRPr lang="en-US" altLang="zh-CN" dirty="0"/>
          </a:p>
          <a:p>
            <a:r>
              <a:rPr lang="en-US" altLang="zh-CN" dirty="0"/>
              <a:t>    </a:t>
            </a:r>
            <a:r>
              <a:rPr lang="zh-CN" altLang="en-US" dirty="0"/>
              <a:t>设计类图，顺序图，状态机图</a:t>
            </a:r>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42</a:t>
            </a:fld>
            <a:endParaRPr lang="en-US" altLang="zh-CN"/>
          </a:p>
        </p:txBody>
      </p:sp>
    </p:spTree>
    <p:extLst>
      <p:ext uri="{BB962C8B-B14F-4D97-AF65-F5344CB8AC3E}">
        <p14:creationId xmlns:p14="http://schemas.microsoft.com/office/powerpoint/2010/main" val="199804943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设计类图：</a:t>
            </a:r>
            <a:endParaRPr lang="en-US" altLang="zh-CN" dirty="0"/>
          </a:p>
          <a:p>
            <a:r>
              <a:rPr lang="en-US" altLang="zh-CN" b="0" i="0" dirty="0">
                <a:solidFill>
                  <a:srgbClr val="2A2B2E"/>
                </a:solidFill>
                <a:effectLst/>
                <a:latin typeface="PingFang SC"/>
              </a:rPr>
              <a:t>  </a:t>
            </a:r>
            <a:r>
              <a:rPr lang="zh-CN" altLang="en-US" b="0" i="0" dirty="0">
                <a:solidFill>
                  <a:srgbClr val="2A2B2E"/>
                </a:solidFill>
                <a:effectLst/>
                <a:latin typeface="PingFang SC"/>
              </a:rPr>
              <a:t>两个用例的详细设计：</a:t>
            </a:r>
            <a:endParaRPr lang="en-US" altLang="zh-CN" b="0" i="0" dirty="0">
              <a:solidFill>
                <a:srgbClr val="2A2B2E"/>
              </a:solidFill>
              <a:effectLst/>
              <a:latin typeface="PingFang SC"/>
            </a:endParaRPr>
          </a:p>
          <a:p>
            <a:r>
              <a:rPr lang="en-US" altLang="zh-CN" b="0" i="0" dirty="0">
                <a:solidFill>
                  <a:srgbClr val="2A2B2E"/>
                </a:solidFill>
                <a:effectLst/>
                <a:latin typeface="PingFang SC"/>
              </a:rPr>
              <a:t>     </a:t>
            </a:r>
            <a:r>
              <a:rPr lang="en-US" altLang="zh-CN" b="0" i="0" dirty="0" err="1">
                <a:solidFill>
                  <a:srgbClr val="2A2B2E"/>
                </a:solidFill>
                <a:effectLst/>
                <a:latin typeface="PingFang SC"/>
              </a:rPr>
              <a:t>processNewSale</a:t>
            </a:r>
            <a:r>
              <a:rPr lang="en-US" altLang="zh-CN" b="0" i="0" dirty="0">
                <a:solidFill>
                  <a:srgbClr val="2A2B2E"/>
                </a:solidFill>
                <a:effectLst/>
                <a:latin typeface="PingFang SC"/>
              </a:rPr>
              <a:t>()</a:t>
            </a:r>
          </a:p>
          <a:p>
            <a:r>
              <a:rPr lang="en-US" altLang="zh-CN" b="0" i="0" dirty="0">
                <a:solidFill>
                  <a:srgbClr val="2A2B2E"/>
                </a:solidFill>
                <a:effectLst/>
                <a:latin typeface="PingFang SC"/>
              </a:rPr>
              <a:t>     </a:t>
            </a:r>
            <a:r>
              <a:rPr lang="en-US" altLang="zh-CN" b="0" i="0" dirty="0" err="1">
                <a:solidFill>
                  <a:srgbClr val="2A2B2E"/>
                </a:solidFill>
                <a:effectLst/>
                <a:latin typeface="PingFang SC"/>
              </a:rPr>
              <a:t>makePayment</a:t>
            </a:r>
            <a:r>
              <a:rPr lang="en-US" altLang="zh-CN" b="0" i="0" dirty="0">
                <a:solidFill>
                  <a:srgbClr val="2A2B2E"/>
                </a:solidFill>
                <a:effectLst/>
                <a:latin typeface="PingFang SC"/>
              </a:rPr>
              <a:t>()</a:t>
            </a:r>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43</a:t>
            </a:fld>
            <a:endParaRPr lang="en-US" altLang="zh-CN"/>
          </a:p>
        </p:txBody>
      </p:sp>
    </p:spTree>
    <p:extLst>
      <p:ext uri="{BB962C8B-B14F-4D97-AF65-F5344CB8AC3E}">
        <p14:creationId xmlns:p14="http://schemas.microsoft.com/office/powerpoint/2010/main" val="224003918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设计系统界面</a:t>
            </a:r>
            <a:endParaRPr lang="en-US" altLang="zh-CN" dirty="0"/>
          </a:p>
          <a:p>
            <a:endParaRPr lang="en-US" altLang="zh-CN" dirty="0"/>
          </a:p>
          <a:p>
            <a:r>
              <a:rPr lang="zh-CN" altLang="en-US" dirty="0"/>
              <a:t>信息系统与内部和外部的许多其他系统相互作用</a:t>
            </a:r>
            <a:endParaRPr lang="en-US" altLang="zh-CN" dirty="0"/>
          </a:p>
          <a:p>
            <a:r>
              <a:rPr lang="zh-CN" altLang="en-US" b="0" i="0" dirty="0">
                <a:solidFill>
                  <a:srgbClr val="2A2B2E"/>
                </a:solidFill>
                <a:effectLst/>
                <a:latin typeface="PingFang SC"/>
              </a:rPr>
              <a:t>  现在更加一体化了</a:t>
            </a:r>
            <a:endParaRPr lang="en-US" altLang="zh-CN" dirty="0"/>
          </a:p>
          <a:p>
            <a:endParaRPr lang="en-US" altLang="zh-CN" dirty="0"/>
          </a:p>
          <a:p>
            <a:r>
              <a:rPr lang="zh-CN" altLang="en-US" dirty="0"/>
              <a:t>系统接口以许多不同的方式与其他系统连接</a:t>
            </a:r>
            <a:endParaRPr lang="en-US" altLang="zh-CN" dirty="0"/>
          </a:p>
          <a:p>
            <a:r>
              <a:rPr lang="zh-CN" altLang="en-US" dirty="0"/>
              <a:t>  保存其他系统使用的数据</a:t>
            </a:r>
            <a:endParaRPr lang="en-US" altLang="zh-CN" dirty="0"/>
          </a:p>
          <a:p>
            <a:r>
              <a:rPr lang="zh-CN" altLang="en-US" dirty="0"/>
              <a:t>  读取其他系统保存的数据</a:t>
            </a:r>
            <a:endParaRPr lang="en-US" altLang="zh-CN" dirty="0"/>
          </a:p>
          <a:p>
            <a:r>
              <a:rPr lang="zh-CN" altLang="en-US" dirty="0"/>
              <a:t>  实时请求信息</a:t>
            </a:r>
            <a:endParaRPr lang="en-US" altLang="zh-CN" dirty="0"/>
          </a:p>
          <a:p>
            <a:r>
              <a:rPr lang="en-US" altLang="zh-CN" dirty="0"/>
              <a:t>  </a:t>
            </a:r>
            <a:r>
              <a:rPr lang="zh-CN" altLang="en-US" dirty="0"/>
              <a:t>软件服务</a:t>
            </a:r>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44</a:t>
            </a:fld>
            <a:endParaRPr lang="en-US" altLang="zh-CN"/>
          </a:p>
        </p:txBody>
      </p:sp>
    </p:spTree>
    <p:extLst>
      <p:ext uri="{BB962C8B-B14F-4D97-AF65-F5344CB8AC3E}">
        <p14:creationId xmlns:p14="http://schemas.microsoft.com/office/powerpoint/2010/main" val="112851972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系统到系统接口：</a:t>
            </a:r>
            <a:endParaRPr lang="en-US" altLang="zh-CN" dirty="0"/>
          </a:p>
          <a:p>
            <a:r>
              <a:rPr lang="zh-CN" altLang="en-US" dirty="0"/>
              <a:t>定义基于文本的系统界面的一个校准方法是使用可扩展标记语言</a:t>
            </a:r>
            <a:r>
              <a:rPr lang="en-US" altLang="zh-CN" dirty="0"/>
              <a:t>XML</a:t>
            </a:r>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45</a:t>
            </a:fld>
            <a:endParaRPr lang="en-US" altLang="zh-CN"/>
          </a:p>
        </p:txBody>
      </p:sp>
    </p:spTree>
    <p:extLst>
      <p:ext uri="{BB962C8B-B14F-4D97-AF65-F5344CB8AC3E}">
        <p14:creationId xmlns:p14="http://schemas.microsoft.com/office/powerpoint/2010/main" val="35600744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设计活动：设计用户界面</a:t>
            </a:r>
            <a:endParaRPr lang="en-US" altLang="zh-CN" dirty="0"/>
          </a:p>
          <a:p>
            <a:endParaRPr lang="en-US" altLang="zh-CN" dirty="0"/>
          </a:p>
          <a:p>
            <a:r>
              <a:rPr lang="zh-CN" altLang="en-US" dirty="0"/>
              <a:t>根据需求设计对话框</a:t>
            </a:r>
            <a:endParaRPr lang="en-US" altLang="zh-CN" dirty="0"/>
          </a:p>
          <a:p>
            <a:r>
              <a:rPr lang="zh-CN" altLang="en-US" dirty="0"/>
              <a:t>  活动的用例流</a:t>
            </a:r>
            <a:endParaRPr lang="en-US" altLang="zh-CN" dirty="0"/>
          </a:p>
          <a:p>
            <a:r>
              <a:rPr lang="en-US" altLang="zh-CN" dirty="0"/>
              <a:t>  </a:t>
            </a:r>
            <a:r>
              <a:rPr lang="zh-CN" altLang="en-US" dirty="0"/>
              <a:t>系统顺序图</a:t>
            </a:r>
            <a:endParaRPr lang="en-US" altLang="zh-CN" dirty="0"/>
          </a:p>
          <a:p>
            <a:endParaRPr lang="en-US" altLang="zh-CN" dirty="0"/>
          </a:p>
          <a:p>
            <a:r>
              <a:rPr lang="zh-CN" altLang="en-US" dirty="0"/>
              <a:t>设计增加了屏幕布局，外观和感觉，导航，用户体验</a:t>
            </a:r>
            <a:endParaRPr lang="en-US" altLang="zh-CN" dirty="0"/>
          </a:p>
          <a:p>
            <a:endParaRPr lang="en-US" altLang="zh-CN" dirty="0"/>
          </a:p>
          <a:p>
            <a:r>
              <a:rPr lang="zh-CN" altLang="en-US" dirty="0"/>
              <a:t>许多不同的环境和设备设计界面</a:t>
            </a:r>
            <a:endParaRPr lang="en-US" altLang="zh-CN" dirty="0"/>
          </a:p>
          <a:p>
            <a:r>
              <a:rPr lang="zh-CN" altLang="en-US" dirty="0"/>
              <a:t>  笔记本电脑，平板电脑，</a:t>
            </a:r>
            <a:r>
              <a:rPr lang="en-US" altLang="zh-CN" dirty="0" err="1"/>
              <a:t>ipad</a:t>
            </a:r>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46</a:t>
            </a:fld>
            <a:endParaRPr lang="en-US" altLang="zh-CN"/>
          </a:p>
        </p:txBody>
      </p:sp>
    </p:spTree>
    <p:extLst>
      <p:ext uri="{BB962C8B-B14F-4D97-AF65-F5344CB8AC3E}">
        <p14:creationId xmlns:p14="http://schemas.microsoft.com/office/powerpoint/2010/main" val="390557060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设计数据库</a:t>
            </a:r>
            <a:endParaRPr lang="en-US" altLang="zh-CN" dirty="0"/>
          </a:p>
          <a:p>
            <a:endParaRPr lang="en-US" altLang="zh-CN" dirty="0"/>
          </a:p>
          <a:p>
            <a:r>
              <a:rPr lang="zh-CN" altLang="en-US" dirty="0"/>
              <a:t>从域模型类图开始</a:t>
            </a:r>
            <a:endParaRPr lang="en-US" altLang="zh-CN" dirty="0"/>
          </a:p>
          <a:p>
            <a:endParaRPr lang="en-US" altLang="zh-CN" dirty="0"/>
          </a:p>
          <a:p>
            <a:r>
              <a:rPr lang="zh-CN" altLang="en-US" dirty="0"/>
              <a:t>选择数据库结构</a:t>
            </a:r>
            <a:endParaRPr lang="en-US" altLang="zh-CN" dirty="0"/>
          </a:p>
          <a:p>
            <a:r>
              <a:rPr lang="zh-CN" altLang="en-US" dirty="0"/>
              <a:t>  通常是关系数据库</a:t>
            </a:r>
            <a:endParaRPr lang="en-US" altLang="zh-CN" dirty="0"/>
          </a:p>
          <a:p>
            <a:r>
              <a:rPr lang="en-US" altLang="zh-CN" dirty="0"/>
              <a:t>  ODBMS:</a:t>
            </a:r>
            <a:r>
              <a:rPr lang="zh-CN" altLang="en-US" dirty="0"/>
              <a:t>开放式数据库管理系统</a:t>
            </a:r>
            <a:r>
              <a:rPr lang="en-US" altLang="zh-CN" dirty="0"/>
              <a:t>(NoSQL, Hadoop, Spark)</a:t>
            </a:r>
          </a:p>
          <a:p>
            <a:endParaRPr lang="en-US" altLang="zh-CN" dirty="0"/>
          </a:p>
          <a:p>
            <a:r>
              <a:rPr lang="zh-CN" altLang="en-US" dirty="0"/>
              <a:t>设计数据库架构（分布式还是集中式）</a:t>
            </a:r>
            <a:endParaRPr lang="en-US" altLang="zh-CN" dirty="0"/>
          </a:p>
          <a:p>
            <a:endParaRPr lang="en-US" altLang="zh-CN" dirty="0"/>
          </a:p>
          <a:p>
            <a:r>
              <a:rPr lang="zh-CN" altLang="en-US" dirty="0"/>
              <a:t>设计数据库模式</a:t>
            </a:r>
            <a:endParaRPr lang="en-US" altLang="zh-CN" dirty="0"/>
          </a:p>
          <a:p>
            <a:r>
              <a:rPr lang="zh-CN" altLang="en-US" b="0" i="0" dirty="0">
                <a:solidFill>
                  <a:srgbClr val="2A2B2E"/>
                </a:solidFill>
                <a:effectLst/>
                <a:latin typeface="PingFang SC"/>
              </a:rPr>
              <a:t>   关系中的表和列</a:t>
            </a:r>
            <a:endParaRPr lang="en-US" altLang="zh-CN" dirty="0"/>
          </a:p>
          <a:p>
            <a:endParaRPr lang="en-US" altLang="zh-CN" dirty="0"/>
          </a:p>
          <a:p>
            <a:r>
              <a:rPr lang="zh-CN" altLang="en-US" dirty="0"/>
              <a:t>设计引用完整性约束（外键引用）</a:t>
            </a:r>
            <a:endParaRPr lang="en-US" altLang="zh-CN" dirty="0"/>
          </a:p>
          <a:p>
            <a:endParaRPr lang="en-US" altLang="zh-CN"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47</a:t>
            </a:fld>
            <a:endParaRPr lang="en-US" altLang="zh-CN"/>
          </a:p>
        </p:txBody>
      </p:sp>
    </p:spTree>
    <p:extLst>
      <p:ext uri="{BB962C8B-B14F-4D97-AF65-F5344CB8AC3E}">
        <p14:creationId xmlns:p14="http://schemas.microsoft.com/office/powerpoint/2010/main" val="111569594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设计数据库模式</a:t>
            </a:r>
            <a:endParaRPr lang="en-US" altLang="zh-CN" dirty="0"/>
          </a:p>
          <a:p>
            <a:r>
              <a:rPr lang="zh-CN" altLang="en-US" b="0" i="0" dirty="0">
                <a:solidFill>
                  <a:srgbClr val="2A2B2E"/>
                </a:solidFill>
                <a:effectLst/>
                <a:latin typeface="PingFang SC"/>
              </a:rPr>
              <a:t>   关系中的表和列</a:t>
            </a:r>
            <a:endParaRPr lang="en-US" altLang="zh-CN" dirty="0"/>
          </a:p>
          <a:p>
            <a:endParaRPr lang="en-US" altLang="zh-CN" dirty="0"/>
          </a:p>
          <a:p>
            <a:r>
              <a:rPr lang="zh-CN" altLang="en-US" dirty="0"/>
              <a:t>设计引用完整性约束（外键引用）</a:t>
            </a:r>
            <a:endParaRPr lang="en-US" altLang="zh-CN" dirty="0"/>
          </a:p>
          <a:p>
            <a:endParaRPr lang="en-US" altLang="zh-CN"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48</a:t>
            </a:fld>
            <a:endParaRPr lang="en-US" altLang="zh-CN"/>
          </a:p>
        </p:txBody>
      </p:sp>
    </p:spTree>
    <p:extLst>
      <p:ext uri="{BB962C8B-B14F-4D97-AF65-F5344CB8AC3E}">
        <p14:creationId xmlns:p14="http://schemas.microsoft.com/office/powerpoint/2010/main" val="269334731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Mysql</a:t>
            </a:r>
            <a:r>
              <a:rPr lang="zh-CN" altLang="en-US" dirty="0"/>
              <a:t>中定义的数据库表的例子</a:t>
            </a:r>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49</a:t>
            </a:fld>
            <a:endParaRPr lang="en-US" altLang="zh-CN"/>
          </a:p>
        </p:txBody>
      </p:sp>
    </p:spTree>
    <p:extLst>
      <p:ext uri="{BB962C8B-B14F-4D97-AF65-F5344CB8AC3E}">
        <p14:creationId xmlns:p14="http://schemas.microsoft.com/office/powerpoint/2010/main" val="226906855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设计安全和系统控制</a:t>
            </a:r>
            <a:endParaRPr lang="en-US" altLang="zh-CN" dirty="0"/>
          </a:p>
          <a:p>
            <a:endParaRPr lang="en-US" altLang="zh-CN" dirty="0"/>
          </a:p>
          <a:p>
            <a:r>
              <a:rPr lang="zh-CN" altLang="en-US" dirty="0"/>
              <a:t>保护组织的资产</a:t>
            </a:r>
            <a:endParaRPr lang="en-US" altLang="zh-CN" dirty="0"/>
          </a:p>
          <a:p>
            <a:r>
              <a:rPr lang="zh-CN" altLang="en-US" dirty="0"/>
              <a:t>在互联网和无线领域变得至关重要</a:t>
            </a:r>
            <a:endParaRPr lang="en-US" altLang="zh-CN" dirty="0"/>
          </a:p>
          <a:p>
            <a:r>
              <a:rPr lang="zh-CN" altLang="en-US" dirty="0"/>
              <a:t>用户界面控制：授权用户才能访问系统</a:t>
            </a:r>
            <a:endParaRPr lang="en-US" altLang="zh-CN" dirty="0"/>
          </a:p>
          <a:p>
            <a:r>
              <a:rPr lang="zh-CN" altLang="en-US" dirty="0"/>
              <a:t>应用程序控制</a:t>
            </a:r>
            <a:r>
              <a:rPr lang="en-US" altLang="zh-CN" dirty="0"/>
              <a:t>: </a:t>
            </a:r>
            <a:r>
              <a:rPr lang="zh-CN" altLang="en-US" dirty="0"/>
              <a:t>确保准确记录事务  且 系统执行的工作能正确完成</a:t>
            </a:r>
            <a:endParaRPr lang="en-US" altLang="zh-CN" dirty="0"/>
          </a:p>
          <a:p>
            <a:r>
              <a:rPr lang="zh-CN" altLang="en-US" dirty="0"/>
              <a:t>数据库控制：防止未经授权的情况下访问数据库；防止由于软硬件故障造成的意外数据丢失</a:t>
            </a:r>
            <a:endParaRPr lang="en-US" altLang="zh-CN" dirty="0"/>
          </a:p>
          <a:p>
            <a:r>
              <a:rPr lang="zh-CN" altLang="en-US" dirty="0"/>
              <a:t>网络控制：保证网络间的通信得到保护</a:t>
            </a:r>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50</a:t>
            </a:fld>
            <a:endParaRPr lang="en-US" altLang="zh-CN"/>
          </a:p>
        </p:txBody>
      </p:sp>
    </p:spTree>
    <p:extLst>
      <p:ext uri="{BB962C8B-B14F-4D97-AF65-F5344CB8AC3E}">
        <p14:creationId xmlns:p14="http://schemas.microsoft.com/office/powerpoint/2010/main" val="44914990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F9F35EB9-312B-46D0-A4BD-8EF199A1863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FEB825C-B114-407A-8F79-023A8A383AD9}" type="slidenum">
              <a:rPr lang="en-US" altLang="zh-CN"/>
              <a:pPr eaLnBrk="1" hangingPunct="1"/>
              <a:t>51</a:t>
            </a:fld>
            <a:endParaRPr lang="en-US" altLang="zh-CN"/>
          </a:p>
        </p:txBody>
      </p:sp>
      <p:sp>
        <p:nvSpPr>
          <p:cNvPr id="49155" name="Rectangle 2">
            <a:extLst>
              <a:ext uri="{FF2B5EF4-FFF2-40B4-BE49-F238E27FC236}">
                <a16:creationId xmlns:a16="http://schemas.microsoft.com/office/drawing/2014/main" id="{7CC5AF4C-0B26-452C-9156-A65F2BA130F2}"/>
              </a:ext>
            </a:extLst>
          </p:cNvPr>
          <p:cNvSpPr>
            <a:spLocks noGrp="1" noRot="1" noChangeAspect="1" noChangeArrowheads="1" noTextEdit="1"/>
          </p:cNvSpPr>
          <p:nvPr>
            <p:ph type="sldImg"/>
          </p:nvPr>
        </p:nvSpPr>
        <p:spPr>
          <a:ln/>
        </p:spPr>
      </p:sp>
      <p:sp>
        <p:nvSpPr>
          <p:cNvPr id="49156" name="Rectangle 3">
            <a:extLst>
              <a:ext uri="{FF2B5EF4-FFF2-40B4-BE49-F238E27FC236}">
                <a16:creationId xmlns:a16="http://schemas.microsoft.com/office/drawing/2014/main" id="{DB48D712-E718-4C22-906D-3476F164EE6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b="0" i="0" dirty="0">
                <a:solidFill>
                  <a:srgbClr val="2A2B2E"/>
                </a:solidFill>
                <a:effectLst/>
                <a:latin typeface="PingFang SC"/>
              </a:rPr>
              <a:t>设计活动</a:t>
            </a:r>
            <a:r>
              <a:rPr lang="en-US" altLang="zh-CN" b="0" i="0" dirty="0">
                <a:solidFill>
                  <a:srgbClr val="2A2B2E"/>
                </a:solidFill>
                <a:effectLst/>
                <a:latin typeface="PingFang SC"/>
              </a:rPr>
              <a:t>:</a:t>
            </a:r>
            <a:r>
              <a:rPr lang="zh-CN" altLang="en-US" b="0" i="0" dirty="0">
                <a:solidFill>
                  <a:srgbClr val="2A2B2E"/>
                </a:solidFill>
                <a:effectLst/>
                <a:latin typeface="PingFang SC"/>
              </a:rPr>
              <a:t>设计环境</a:t>
            </a:r>
            <a:endParaRPr lang="zh-CN" altLang="zh-C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8826152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内部部署设计</a:t>
            </a:r>
            <a:endParaRPr lang="en-US" altLang="zh-CN" dirty="0"/>
          </a:p>
          <a:p>
            <a:endParaRPr lang="en-US" altLang="zh-CN" dirty="0"/>
          </a:p>
          <a:p>
            <a:pPr algn="l"/>
            <a:r>
              <a:rPr lang="zh-CN" altLang="en-US" b="0" i="0" dirty="0">
                <a:solidFill>
                  <a:srgbClr val="2A2B2E"/>
                </a:solidFill>
                <a:effectLst/>
                <a:latin typeface="PingFang SC"/>
              </a:rPr>
              <a:t>  独立软件系统</a:t>
            </a:r>
            <a:br>
              <a:rPr lang="zh-CN" altLang="en-US" dirty="0"/>
            </a:br>
            <a:r>
              <a:rPr lang="zh-CN" altLang="en-US" b="0" i="0" dirty="0">
                <a:solidFill>
                  <a:srgbClr val="2A2B2E"/>
                </a:solidFill>
                <a:effectLst/>
                <a:latin typeface="PingFang SC"/>
              </a:rPr>
              <a:t>     在一台设备上运行，无需联网</a:t>
            </a:r>
            <a:endParaRPr lang="en-US" altLang="zh-CN" dirty="0"/>
          </a:p>
          <a:p>
            <a:endParaRPr lang="en-US" altLang="zh-CN" dirty="0"/>
          </a:p>
          <a:p>
            <a:r>
              <a:rPr lang="zh-CN" altLang="en-US" dirty="0"/>
              <a:t>  基于网络的内部系统</a:t>
            </a:r>
            <a:endParaRPr lang="en-US" altLang="zh-CN" dirty="0"/>
          </a:p>
          <a:p>
            <a:r>
              <a:rPr lang="en-US" altLang="zh-CN" dirty="0"/>
              <a:t>     </a:t>
            </a:r>
            <a:r>
              <a:rPr lang="zh-CN" altLang="en-US" dirty="0"/>
              <a:t>局域网，客户端</a:t>
            </a:r>
            <a:r>
              <a:rPr lang="en-US" altLang="zh-CN" dirty="0"/>
              <a:t>-</a:t>
            </a:r>
            <a:r>
              <a:rPr lang="zh-CN" altLang="en-US" dirty="0"/>
              <a:t>服务器架构</a:t>
            </a:r>
            <a:endParaRPr lang="en-US" altLang="zh-CN" dirty="0"/>
          </a:p>
          <a:p>
            <a:r>
              <a:rPr lang="zh-CN" altLang="en-US" dirty="0"/>
              <a:t>     桌面应用（音乐播放器）和基于浏览器的应用（淘宝）</a:t>
            </a:r>
            <a:endParaRPr lang="en-US" altLang="zh-CN" dirty="0"/>
          </a:p>
          <a:p>
            <a:endParaRPr lang="en-US" altLang="zh-CN" dirty="0"/>
          </a:p>
          <a:p>
            <a:r>
              <a:rPr lang="zh-CN" altLang="en-US" dirty="0"/>
              <a:t>  三层客户端服务器架构</a:t>
            </a:r>
            <a:endParaRPr lang="en-US" altLang="zh-CN" dirty="0"/>
          </a:p>
          <a:p>
            <a:r>
              <a:rPr lang="zh-CN" altLang="en-US" dirty="0"/>
              <a:t>    视图层、域层和数据层</a:t>
            </a:r>
            <a:endParaRPr lang="en-US" altLang="zh-CN" dirty="0"/>
          </a:p>
          <a:p>
            <a:r>
              <a:rPr lang="en-US" altLang="zh-CN" dirty="0"/>
              <a:t>  </a:t>
            </a:r>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52</a:t>
            </a:fld>
            <a:endParaRPr lang="en-US" altLang="zh-CN"/>
          </a:p>
        </p:txBody>
      </p:sp>
    </p:spTree>
    <p:extLst>
      <p:ext uri="{BB962C8B-B14F-4D97-AF65-F5344CB8AC3E}">
        <p14:creationId xmlns:p14="http://schemas.microsoft.com/office/powerpoint/2010/main" val="276575908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 基于网络的内部系统</a:t>
            </a:r>
            <a:endParaRPr lang="en-US" altLang="zh-CN" dirty="0"/>
          </a:p>
          <a:p>
            <a:r>
              <a:rPr lang="en-US" altLang="zh-CN" dirty="0"/>
              <a:t>     </a:t>
            </a:r>
            <a:r>
              <a:rPr lang="zh-CN" altLang="en-US" dirty="0"/>
              <a:t>局域网，客户端</a:t>
            </a:r>
            <a:r>
              <a:rPr lang="en-US" altLang="zh-CN" dirty="0"/>
              <a:t>-</a:t>
            </a:r>
            <a:r>
              <a:rPr lang="zh-CN" altLang="en-US" dirty="0"/>
              <a:t>服务器架构</a:t>
            </a:r>
            <a:endParaRPr lang="en-US" altLang="zh-CN" dirty="0"/>
          </a:p>
          <a:p>
            <a:r>
              <a:rPr lang="zh-CN" altLang="en-US" dirty="0"/>
              <a:t>     桌面应用（音乐播放器）和基于浏览器的应用（淘宝）</a:t>
            </a:r>
            <a:endParaRPr lang="en-US" altLang="zh-CN" dirty="0"/>
          </a:p>
          <a:p>
            <a:r>
              <a:rPr lang="en-US" altLang="zh-CN" dirty="0"/>
              <a:t>  </a:t>
            </a:r>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53</a:t>
            </a:fld>
            <a:endParaRPr lang="en-US" altLang="zh-CN"/>
          </a:p>
        </p:txBody>
      </p:sp>
    </p:spTree>
    <p:extLst>
      <p:ext uri="{BB962C8B-B14F-4D97-AF65-F5344CB8AC3E}">
        <p14:creationId xmlns:p14="http://schemas.microsoft.com/office/powerpoint/2010/main" val="316350452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内部网络系统的网络图</a:t>
            </a:r>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54</a:t>
            </a:fld>
            <a:endParaRPr lang="en-US" altLang="zh-CN"/>
          </a:p>
        </p:txBody>
      </p:sp>
    </p:spTree>
    <p:extLst>
      <p:ext uri="{BB962C8B-B14F-4D97-AF65-F5344CB8AC3E}">
        <p14:creationId xmlns:p14="http://schemas.microsoft.com/office/powerpoint/2010/main" val="339495986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局域网</a:t>
            </a:r>
            <a:r>
              <a:rPr lang="en-US" altLang="zh-CN" b="0" i="0" dirty="0">
                <a:solidFill>
                  <a:srgbClr val="2A2B2E"/>
                </a:solidFill>
                <a:effectLst/>
                <a:latin typeface="PingFang SC"/>
              </a:rPr>
              <a:t>(LAN)</a:t>
            </a:r>
            <a:r>
              <a:rPr lang="zh-CN" altLang="en-US" b="0" i="0" dirty="0">
                <a:solidFill>
                  <a:srgbClr val="2A2B2E"/>
                </a:solidFill>
                <a:effectLst/>
                <a:latin typeface="PingFang SC"/>
              </a:rPr>
              <a:t>：是一种计算机网络，在这种网络中，布线和硬件都被限制在一个单一的位置</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客户机</a:t>
            </a:r>
            <a:r>
              <a:rPr lang="en-US" altLang="zh-CN" b="0" i="0" dirty="0">
                <a:solidFill>
                  <a:srgbClr val="2A2B2E"/>
                </a:solidFill>
                <a:effectLst/>
                <a:latin typeface="PingFang SC"/>
              </a:rPr>
              <a:t>-</a:t>
            </a:r>
            <a:r>
              <a:rPr lang="zh-CN" altLang="en-US" b="0" i="0" dirty="0">
                <a:solidFill>
                  <a:srgbClr val="2A2B2E"/>
                </a:solidFill>
                <a:effectLst/>
                <a:latin typeface="PingFang SC"/>
              </a:rPr>
              <a:t>服务器结构：是一种计算机网络配置，由用户计算机和提供公共服务的中央计算机组成</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客户端计算机</a:t>
            </a:r>
            <a:r>
              <a:rPr lang="en-US" altLang="zh-CN" b="0" i="0" dirty="0">
                <a:solidFill>
                  <a:srgbClr val="2A2B2E"/>
                </a:solidFill>
                <a:effectLst/>
                <a:latin typeface="PingFang SC"/>
              </a:rPr>
              <a:t>:</a:t>
            </a:r>
            <a:r>
              <a:rPr lang="zh-CN" altLang="en-US" b="0" i="0" dirty="0">
                <a:solidFill>
                  <a:srgbClr val="2A2B2E"/>
                </a:solidFill>
                <a:effectLst/>
                <a:latin typeface="PingFang SC"/>
              </a:rPr>
              <a:t>用户用来执行计算任务的计算机</a:t>
            </a:r>
            <a:br>
              <a:rPr lang="zh-CN" altLang="en-US" dirty="0"/>
            </a:br>
            <a:endParaRPr lang="zh-CN" altLang="en-US" b="0" i="0" dirty="0">
              <a:solidFill>
                <a:srgbClr val="2A2B2E"/>
              </a:solidFill>
              <a:effectLst/>
              <a:latin typeface="PingFang SC"/>
            </a:endParaRPr>
          </a:p>
          <a:p>
            <a:r>
              <a:rPr lang="zh-CN" altLang="en-US" b="0" i="0" dirty="0">
                <a:solidFill>
                  <a:srgbClr val="2A2B2E"/>
                </a:solidFill>
                <a:effectLst/>
                <a:latin typeface="PingFang SC"/>
              </a:rPr>
              <a:t>服务器计算机</a:t>
            </a:r>
            <a:r>
              <a:rPr lang="en-US" altLang="zh-CN" b="0" i="0" dirty="0">
                <a:solidFill>
                  <a:srgbClr val="2A2B2E"/>
                </a:solidFill>
                <a:effectLst/>
                <a:latin typeface="PingFang SC"/>
              </a:rPr>
              <a:t>:</a:t>
            </a:r>
            <a:r>
              <a:rPr lang="zh-CN" altLang="en-US" b="0" i="0" dirty="0">
                <a:solidFill>
                  <a:srgbClr val="2A2B2E"/>
                </a:solidFill>
                <a:effectLst/>
                <a:latin typeface="PingFang SC"/>
              </a:rPr>
              <a:t>通过网络向客户端计算机提供服务</a:t>
            </a:r>
            <a:r>
              <a:rPr lang="en-US" altLang="zh-CN" b="0" i="0" dirty="0">
                <a:solidFill>
                  <a:srgbClr val="2A2B2E"/>
                </a:solidFill>
                <a:effectLst/>
                <a:latin typeface="PingFang SC"/>
              </a:rPr>
              <a:t>(</a:t>
            </a:r>
            <a:r>
              <a:rPr lang="zh-CN" altLang="en-US" b="0" i="0" dirty="0">
                <a:solidFill>
                  <a:srgbClr val="2A2B2E"/>
                </a:solidFill>
                <a:effectLst/>
                <a:latin typeface="PingFang SC"/>
              </a:rPr>
              <a:t>如数据库访问</a:t>
            </a:r>
            <a:r>
              <a:rPr lang="en-US" altLang="zh-CN" b="0" i="0" dirty="0">
                <a:solidFill>
                  <a:srgbClr val="2A2B2E"/>
                </a:solidFill>
                <a:effectLst/>
                <a:latin typeface="PingFang SC"/>
              </a:rPr>
              <a:t>)</a:t>
            </a:r>
            <a:r>
              <a:rPr lang="zh-CN" altLang="en-US" b="0" i="0" dirty="0">
                <a:solidFill>
                  <a:srgbClr val="2A2B2E"/>
                </a:solidFill>
                <a:effectLst/>
                <a:latin typeface="PingFang SC"/>
              </a:rPr>
              <a:t>的中央计算机</a:t>
            </a:r>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55</a:t>
            </a:fld>
            <a:endParaRPr lang="en-US" altLang="zh-CN"/>
          </a:p>
        </p:txBody>
      </p:sp>
    </p:spTree>
    <p:extLst>
      <p:ext uri="{BB962C8B-B14F-4D97-AF65-F5344CB8AC3E}">
        <p14:creationId xmlns:p14="http://schemas.microsoft.com/office/powerpoint/2010/main" val="87156967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在一个基于浏览器的系统中，用户计算机的报表是通过因特网浏览器处理的，服务器处理完成后，再通过超文本标记语言（</a:t>
            </a:r>
            <a:r>
              <a:rPr lang="en-US" altLang="zh-CN" dirty="0"/>
              <a:t>HTML</a:t>
            </a:r>
            <a:r>
              <a:rPr lang="zh-CN" altLang="en-US" dirty="0"/>
              <a:t>）页面传递给客户端计算机</a:t>
            </a:r>
            <a:endParaRPr lang="en-US" altLang="zh-CN" dirty="0"/>
          </a:p>
          <a:p>
            <a:endParaRPr lang="en-US" altLang="zh-CN" dirty="0"/>
          </a:p>
          <a:p>
            <a:pPr algn="l"/>
            <a:r>
              <a:rPr lang="zh-CN" altLang="en-US" b="0" i="0" dirty="0">
                <a:solidFill>
                  <a:srgbClr val="2A2B2E"/>
                </a:solidFill>
                <a:effectLst/>
                <a:latin typeface="PingFang SC"/>
              </a:rPr>
              <a:t>桌面应用程序</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基于浏览器的内部网络</a:t>
            </a:r>
            <a:br>
              <a:rPr lang="zh-CN" altLang="en-US" dirty="0"/>
            </a:br>
            <a:r>
              <a:rPr lang="zh-CN" altLang="en-US" dirty="0"/>
              <a:t>  </a:t>
            </a:r>
            <a:r>
              <a:rPr lang="zh-CN" altLang="en-US" b="0" i="0" dirty="0">
                <a:solidFill>
                  <a:srgbClr val="2A2B2E"/>
                </a:solidFill>
                <a:effectLst/>
                <a:latin typeface="PingFang SC"/>
              </a:rPr>
              <a:t>超文本标记语言</a:t>
            </a:r>
            <a:r>
              <a:rPr lang="en-US" altLang="zh-CN" b="0" i="0" dirty="0">
                <a:solidFill>
                  <a:srgbClr val="2A2B2E"/>
                </a:solidFill>
                <a:effectLst/>
                <a:latin typeface="PingFang SC"/>
              </a:rPr>
              <a:t>(HTML):</a:t>
            </a:r>
            <a:r>
              <a:rPr lang="zh-CN" altLang="en-US" b="0" i="0" dirty="0">
                <a:solidFill>
                  <a:srgbClr val="2A2B2E"/>
                </a:solidFill>
                <a:effectLst/>
                <a:latin typeface="PingFang SC"/>
              </a:rPr>
              <a:t>用于构建</a:t>
            </a:r>
            <a:r>
              <a:rPr lang="en-US" altLang="zh-CN" b="0" i="0" dirty="0">
                <a:solidFill>
                  <a:srgbClr val="2A2B2E"/>
                </a:solidFill>
                <a:effectLst/>
                <a:latin typeface="PingFang SC"/>
              </a:rPr>
              <a:t>Web</a:t>
            </a:r>
            <a:r>
              <a:rPr lang="zh-CN" altLang="en-US" b="0" i="0" dirty="0">
                <a:solidFill>
                  <a:srgbClr val="2A2B2E"/>
                </a:solidFill>
                <a:effectLst/>
                <a:latin typeface="PingFang SC"/>
              </a:rPr>
              <a:t>页面的主要语言，它由关于</a:t>
            </a:r>
            <a:r>
              <a:rPr lang="zh-CN" altLang="en-US" b="0" i="0" u="sng" dirty="0">
                <a:solidFill>
                  <a:srgbClr val="2A2B2E"/>
                </a:solidFill>
                <a:effectLst/>
                <a:latin typeface="PingFang SC"/>
              </a:rPr>
              <a:t>如何显示页面</a:t>
            </a:r>
            <a:r>
              <a:rPr lang="zh-CN" altLang="en-US" b="0" i="0" dirty="0">
                <a:solidFill>
                  <a:srgbClr val="2A2B2E"/>
                </a:solidFill>
                <a:effectLst/>
                <a:latin typeface="PingFang SC"/>
              </a:rPr>
              <a:t>的标记和规则组成</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传输控制协议</a:t>
            </a:r>
            <a:r>
              <a:rPr lang="en-US" altLang="zh-CN" b="0" i="0" dirty="0">
                <a:solidFill>
                  <a:srgbClr val="2A2B2E"/>
                </a:solidFill>
                <a:effectLst/>
                <a:latin typeface="PingFang SC"/>
              </a:rPr>
              <a:t>/</a:t>
            </a:r>
            <a:r>
              <a:rPr lang="zh-CN" altLang="en-US" b="0" i="0" dirty="0">
                <a:solidFill>
                  <a:srgbClr val="2A2B2E"/>
                </a:solidFill>
                <a:effectLst/>
                <a:latin typeface="PingFang SC"/>
              </a:rPr>
              <a:t>互联网协议</a:t>
            </a:r>
            <a:r>
              <a:rPr lang="en-US" altLang="zh-CN" b="0" i="0" dirty="0">
                <a:solidFill>
                  <a:srgbClr val="2A2B2E"/>
                </a:solidFill>
                <a:effectLst/>
                <a:latin typeface="PingFang SC"/>
              </a:rPr>
              <a:t>(TCP/IP)</a:t>
            </a:r>
            <a:br>
              <a:rPr lang="zh-CN" altLang="en-US" dirty="0"/>
            </a:br>
            <a:r>
              <a:rPr lang="zh-CN" altLang="en-US" dirty="0"/>
              <a:t>  </a:t>
            </a:r>
            <a:r>
              <a:rPr lang="zh-CN" altLang="en-US" b="0" i="0" dirty="0">
                <a:solidFill>
                  <a:srgbClr val="2A2B2E"/>
                </a:solidFill>
                <a:effectLst/>
                <a:latin typeface="PingFang SC"/>
              </a:rPr>
              <a:t>互联网的基础协议</a:t>
            </a:r>
            <a:r>
              <a:rPr lang="en-US" altLang="zh-CN" b="0" i="0" dirty="0">
                <a:solidFill>
                  <a:srgbClr val="2A2B2E"/>
                </a:solidFill>
                <a:effectLst/>
                <a:latin typeface="PingFang SC"/>
              </a:rPr>
              <a:t>;</a:t>
            </a:r>
            <a:r>
              <a:rPr lang="zh-CN" altLang="en-US" b="0" i="0" dirty="0">
                <a:solidFill>
                  <a:srgbClr val="2A2B2E"/>
                </a:solidFill>
                <a:effectLst/>
                <a:latin typeface="PingFang SC"/>
              </a:rPr>
              <a:t>用于在联网计算机之间提供可靠的消息传递</a:t>
            </a:r>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56</a:t>
            </a:fld>
            <a:endParaRPr lang="en-US" altLang="zh-CN"/>
          </a:p>
        </p:txBody>
      </p:sp>
    </p:spTree>
    <p:extLst>
      <p:ext uri="{BB962C8B-B14F-4D97-AF65-F5344CB8AC3E}">
        <p14:creationId xmlns:p14="http://schemas.microsoft.com/office/powerpoint/2010/main" val="258518637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三层客户端服务器架构</a:t>
            </a:r>
            <a:endParaRPr lang="en-US" altLang="zh-CN" dirty="0"/>
          </a:p>
          <a:p>
            <a:r>
              <a:rPr lang="en-US" altLang="zh-CN" dirty="0"/>
              <a:t>  </a:t>
            </a:r>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57</a:t>
            </a:fld>
            <a:endParaRPr lang="en-US" altLang="zh-CN"/>
          </a:p>
        </p:txBody>
      </p:sp>
    </p:spTree>
    <p:extLst>
      <p:ext uri="{BB962C8B-B14F-4D97-AF65-F5344CB8AC3E}">
        <p14:creationId xmlns:p14="http://schemas.microsoft.com/office/powerpoint/2010/main" val="191460471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三层客户机</a:t>
            </a:r>
            <a:r>
              <a:rPr lang="en-US" altLang="zh-CN" b="0" i="0" dirty="0">
                <a:solidFill>
                  <a:srgbClr val="2A2B2E"/>
                </a:solidFill>
                <a:effectLst/>
                <a:latin typeface="PingFang SC"/>
              </a:rPr>
              <a:t>-</a:t>
            </a:r>
            <a:r>
              <a:rPr lang="zh-CN" altLang="en-US" b="0" i="0" dirty="0">
                <a:solidFill>
                  <a:srgbClr val="2A2B2E"/>
                </a:solidFill>
                <a:effectLst/>
                <a:latin typeface="PingFang SC"/>
              </a:rPr>
              <a:t>服务器结构：将应用程序划分为视图层、业务逻辑层和数据层的客户机</a:t>
            </a:r>
            <a:r>
              <a:rPr lang="en-US" altLang="zh-CN" b="0" i="0" dirty="0">
                <a:solidFill>
                  <a:srgbClr val="2A2B2E"/>
                </a:solidFill>
                <a:effectLst/>
                <a:latin typeface="PingFang SC"/>
              </a:rPr>
              <a:t>/</a:t>
            </a:r>
            <a:r>
              <a:rPr lang="zh-CN" altLang="en-US" b="0" i="0" dirty="0">
                <a:solidFill>
                  <a:srgbClr val="2A2B2E"/>
                </a:solidFill>
                <a:effectLst/>
                <a:latin typeface="PingFang SC"/>
              </a:rPr>
              <a:t>服务器体系结构</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视图层</a:t>
            </a:r>
            <a:r>
              <a:rPr lang="en-US" altLang="zh-CN" b="0" i="0" dirty="0">
                <a:solidFill>
                  <a:srgbClr val="2A2B2E"/>
                </a:solidFill>
                <a:effectLst/>
                <a:latin typeface="PingFang SC"/>
              </a:rPr>
              <a:t>:</a:t>
            </a:r>
            <a:r>
              <a:rPr lang="zh-CN" altLang="en-US" b="0" i="0" dirty="0">
                <a:solidFill>
                  <a:srgbClr val="2A2B2E"/>
                </a:solidFill>
                <a:effectLst/>
                <a:latin typeface="PingFang SC"/>
              </a:rPr>
              <a:t>三层架构中包含用户界面的部分</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业务逻辑层或领域层</a:t>
            </a:r>
            <a:r>
              <a:rPr lang="en-US" altLang="zh-CN" b="0" i="0" dirty="0">
                <a:solidFill>
                  <a:srgbClr val="2A2B2E"/>
                </a:solidFill>
                <a:effectLst/>
                <a:latin typeface="PingFang SC"/>
              </a:rPr>
              <a:t>:</a:t>
            </a:r>
            <a:r>
              <a:rPr lang="zh-CN" altLang="en-US" b="0" i="0" dirty="0">
                <a:solidFill>
                  <a:srgbClr val="2A2B2E"/>
                </a:solidFill>
                <a:effectLst/>
                <a:latin typeface="PingFang SC"/>
              </a:rPr>
              <a:t>三层体系结构的一部分，包含实现业务规则和流程的程序</a:t>
            </a:r>
            <a:br>
              <a:rPr lang="zh-CN" altLang="en-US" dirty="0"/>
            </a:br>
            <a:endParaRPr lang="zh-CN" altLang="en-US" b="0" i="0" dirty="0">
              <a:solidFill>
                <a:srgbClr val="2A2B2E"/>
              </a:solidFill>
              <a:effectLst/>
              <a:latin typeface="PingFang SC"/>
            </a:endParaRPr>
          </a:p>
          <a:p>
            <a:r>
              <a:rPr lang="zh-CN" altLang="en-US" b="0" i="0" dirty="0">
                <a:solidFill>
                  <a:srgbClr val="2A2B2E"/>
                </a:solidFill>
                <a:effectLst/>
                <a:latin typeface="PingFang SC"/>
              </a:rPr>
              <a:t>数据层</a:t>
            </a:r>
            <a:r>
              <a:rPr lang="en-US" altLang="zh-CN" b="0" i="0" dirty="0">
                <a:solidFill>
                  <a:srgbClr val="2A2B2E"/>
                </a:solidFill>
                <a:effectLst/>
                <a:latin typeface="PingFang SC"/>
              </a:rPr>
              <a:t>:</a:t>
            </a:r>
            <a:r>
              <a:rPr lang="zh-CN" altLang="en-US" b="0" i="0" dirty="0">
                <a:solidFill>
                  <a:srgbClr val="2A2B2E"/>
                </a:solidFill>
                <a:effectLst/>
                <a:latin typeface="PingFang SC"/>
              </a:rPr>
              <a:t>三层体系结构中与数据交互的部分</a:t>
            </a:r>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58</a:t>
            </a:fld>
            <a:endParaRPr lang="en-US" altLang="zh-CN"/>
          </a:p>
        </p:txBody>
      </p:sp>
    </p:spTree>
    <p:extLst>
      <p:ext uri="{BB962C8B-B14F-4D97-AF65-F5344CB8AC3E}">
        <p14:creationId xmlns:p14="http://schemas.microsoft.com/office/powerpoint/2010/main" val="260612041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用户请求 </a:t>
            </a:r>
            <a:r>
              <a:rPr lang="en-US" altLang="zh-CN" dirty="0"/>
              <a:t>-&gt; </a:t>
            </a:r>
            <a:r>
              <a:rPr lang="zh-CN" altLang="en-US" dirty="0"/>
              <a:t>信息请求 </a:t>
            </a:r>
            <a:r>
              <a:rPr lang="en-US" altLang="zh-CN" dirty="0"/>
              <a:t>-&gt; </a:t>
            </a:r>
            <a:r>
              <a:rPr lang="zh-CN" altLang="en-US" dirty="0"/>
              <a:t>数据连接请求</a:t>
            </a:r>
            <a:endParaRPr lang="en-US" altLang="zh-CN" dirty="0"/>
          </a:p>
          <a:p>
            <a:r>
              <a:rPr lang="zh-CN" altLang="en-US" dirty="0"/>
              <a:t>格式化的响应 </a:t>
            </a:r>
            <a:r>
              <a:rPr lang="en-US" altLang="zh-CN" dirty="0"/>
              <a:t>&lt;- </a:t>
            </a:r>
            <a:r>
              <a:rPr lang="zh-CN" altLang="en-US" dirty="0"/>
              <a:t>未格式化的响应  </a:t>
            </a:r>
            <a:r>
              <a:rPr lang="en-US" altLang="zh-CN" dirty="0"/>
              <a:t>&lt;-  </a:t>
            </a:r>
            <a:r>
              <a:rPr lang="zh-CN" altLang="en-US" dirty="0"/>
              <a:t>数据访问响应</a:t>
            </a:r>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59</a:t>
            </a:fld>
            <a:endParaRPr lang="en-US" altLang="zh-CN"/>
          </a:p>
        </p:txBody>
      </p:sp>
    </p:spTree>
    <p:extLst>
      <p:ext uri="{BB962C8B-B14F-4D97-AF65-F5344CB8AC3E}">
        <p14:creationId xmlns:p14="http://schemas.microsoft.com/office/powerpoint/2010/main" val="330372842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视图层逻辑：格式化屏幕</a:t>
            </a:r>
            <a:r>
              <a:rPr lang="en-US" altLang="zh-CN" dirty="0"/>
              <a:t>/</a:t>
            </a:r>
            <a:r>
              <a:rPr lang="zh-CN" altLang="en-US" dirty="0"/>
              <a:t>报表</a:t>
            </a:r>
            <a:endParaRPr lang="en-US" altLang="zh-CN" dirty="0"/>
          </a:p>
          <a:p>
            <a:r>
              <a:rPr lang="zh-CN" altLang="en-US" dirty="0"/>
              <a:t>域层逻辑：实施业务规则</a:t>
            </a:r>
            <a:endParaRPr lang="en-US" altLang="zh-CN" dirty="0"/>
          </a:p>
          <a:p>
            <a:r>
              <a:rPr lang="zh-CN" altLang="en-US" dirty="0"/>
              <a:t>数据层逻辑：规划查询</a:t>
            </a:r>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60</a:t>
            </a:fld>
            <a:endParaRPr lang="en-US" altLang="zh-CN"/>
          </a:p>
        </p:txBody>
      </p:sp>
    </p:spTree>
    <p:extLst>
      <p:ext uri="{BB962C8B-B14F-4D97-AF65-F5344CB8AC3E}">
        <p14:creationId xmlns:p14="http://schemas.microsoft.com/office/powerpoint/2010/main" val="193343632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Internet</a:t>
            </a:r>
            <a:r>
              <a:rPr lang="zh-CN" altLang="en-US" dirty="0"/>
              <a:t>部署的托管替代方案</a:t>
            </a:r>
            <a:endParaRPr lang="en-US" altLang="zh-CN" dirty="0"/>
          </a:p>
          <a:p>
            <a:r>
              <a:rPr lang="en-US" altLang="zh-CN" dirty="0"/>
              <a:t>    </a:t>
            </a:r>
            <a:r>
              <a:rPr lang="zh-CN" altLang="en-US" dirty="0"/>
              <a:t>场地出租</a:t>
            </a:r>
            <a:endParaRPr lang="en-US" altLang="zh-CN" dirty="0"/>
          </a:p>
          <a:p>
            <a:r>
              <a:rPr lang="en-US" altLang="zh-CN" dirty="0"/>
              <a:t>    </a:t>
            </a:r>
            <a:r>
              <a:rPr lang="zh-CN" altLang="en-US" dirty="0"/>
              <a:t>托管式服务</a:t>
            </a:r>
            <a:endParaRPr lang="en-US" altLang="zh-CN" dirty="0"/>
          </a:p>
          <a:p>
            <a:r>
              <a:rPr lang="en-US" altLang="zh-CN" dirty="0"/>
              <a:t>    </a:t>
            </a:r>
            <a:r>
              <a:rPr lang="zh-CN" altLang="en-US" dirty="0"/>
              <a:t>虚拟服务</a:t>
            </a:r>
            <a:endParaRPr lang="en-US" altLang="zh-CN" dirty="0"/>
          </a:p>
          <a:p>
            <a:r>
              <a:rPr lang="en-US" altLang="zh-CN" dirty="0"/>
              <a:t>    </a:t>
            </a:r>
            <a:r>
              <a:rPr lang="zh-CN" altLang="en-US" dirty="0"/>
              <a:t>云计算</a:t>
            </a:r>
            <a:endParaRPr lang="en-US" altLang="zh-CN"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61</a:t>
            </a:fld>
            <a:endParaRPr lang="en-US" altLang="zh-CN"/>
          </a:p>
        </p:txBody>
      </p:sp>
    </p:spTree>
    <p:extLst>
      <p:ext uri="{BB962C8B-B14F-4D97-AF65-F5344CB8AC3E}">
        <p14:creationId xmlns:p14="http://schemas.microsoft.com/office/powerpoint/2010/main" val="47846618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软件应用的</a:t>
            </a:r>
            <a:r>
              <a:rPr lang="en-US" altLang="zh-CN" dirty="0"/>
              <a:t>Internet</a:t>
            </a:r>
            <a:r>
              <a:rPr lang="zh-CN" altLang="en-US" dirty="0"/>
              <a:t>部署</a:t>
            </a:r>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62</a:t>
            </a:fld>
            <a:endParaRPr lang="en-US" altLang="zh-CN"/>
          </a:p>
        </p:txBody>
      </p:sp>
    </p:spTree>
    <p:extLst>
      <p:ext uri="{BB962C8B-B14F-4D97-AF65-F5344CB8AC3E}">
        <p14:creationId xmlns:p14="http://schemas.microsoft.com/office/powerpoint/2010/main" val="239460997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通过网络来实现应用程序相比传统的客户端</a:t>
            </a:r>
            <a:r>
              <a:rPr lang="en-US" altLang="zh-CN" dirty="0"/>
              <a:t>/</a:t>
            </a:r>
            <a:r>
              <a:rPr lang="zh-CN" altLang="en-US" dirty="0"/>
              <a:t>服务器应用有很多优点：</a:t>
            </a:r>
            <a:endParaRPr lang="en-US" altLang="zh-CN" dirty="0"/>
          </a:p>
          <a:p>
            <a:endParaRPr lang="en-US" altLang="zh-CN" dirty="0"/>
          </a:p>
          <a:p>
            <a:r>
              <a:rPr lang="zh-CN" altLang="en-US" dirty="0"/>
              <a:t>可访问性：对大量潜在用户来说是可访问的</a:t>
            </a:r>
            <a:endParaRPr lang="en-US" altLang="zh-CN" dirty="0"/>
          </a:p>
          <a:p>
            <a:r>
              <a:rPr lang="zh-CN" altLang="en-US" dirty="0"/>
              <a:t>通信成本低：互联网之间的连接对私人来说成本是较低的</a:t>
            </a:r>
            <a:endParaRPr lang="en-US" altLang="zh-CN" dirty="0"/>
          </a:p>
          <a:p>
            <a:r>
              <a:rPr lang="zh-CN" altLang="en-US" dirty="0"/>
              <a:t>广泛应用的标准</a:t>
            </a:r>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63</a:t>
            </a:fld>
            <a:endParaRPr lang="en-US" altLang="zh-CN"/>
          </a:p>
        </p:txBody>
      </p:sp>
    </p:spTree>
    <p:extLst>
      <p:ext uri="{BB962C8B-B14F-4D97-AF65-F5344CB8AC3E}">
        <p14:creationId xmlns:p14="http://schemas.microsoft.com/office/powerpoint/2010/main" val="428245600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潜在问题：</a:t>
            </a:r>
            <a:endParaRPr lang="en-US" altLang="zh-CN" dirty="0"/>
          </a:p>
          <a:p>
            <a:endParaRPr lang="en-US" altLang="zh-CN" dirty="0"/>
          </a:p>
          <a:p>
            <a:r>
              <a:rPr lang="zh-CN" altLang="en-US" dirty="0"/>
              <a:t>安全性</a:t>
            </a:r>
            <a:r>
              <a:rPr lang="en-US" altLang="zh-CN" dirty="0"/>
              <a:t>-</a:t>
            </a:r>
            <a:r>
              <a:rPr lang="en-US" altLang="zh-CN" b="0" i="0" dirty="0">
                <a:effectLst/>
                <a:latin typeface="PingFang SC"/>
              </a:rPr>
              <a:t>Web</a:t>
            </a:r>
            <a:r>
              <a:rPr lang="zh-CN" altLang="en-US" b="0" i="0" dirty="0">
                <a:effectLst/>
                <a:latin typeface="PingFang SC"/>
              </a:rPr>
              <a:t>服务器是安全漏洞的明确目标，因为</a:t>
            </a:r>
            <a:r>
              <a:rPr lang="en-US" altLang="zh-CN" b="0" i="0" dirty="0">
                <a:effectLst/>
                <a:latin typeface="PingFang SC"/>
              </a:rPr>
              <a:t>Web</a:t>
            </a:r>
            <a:r>
              <a:rPr lang="zh-CN" altLang="en-US" b="0" i="0" dirty="0">
                <a:effectLst/>
                <a:latin typeface="PingFang SC"/>
              </a:rPr>
              <a:t>标准是开放且广为人知的。网络的大规模互联以及互联网和</a:t>
            </a:r>
            <a:r>
              <a:rPr lang="en-US" altLang="zh-CN" b="0" i="0" dirty="0">
                <a:effectLst/>
                <a:latin typeface="PingFang SC"/>
              </a:rPr>
              <a:t>Web</a:t>
            </a:r>
            <a:r>
              <a:rPr lang="zh-CN" altLang="en-US" b="0" i="0" dirty="0">
                <a:effectLst/>
                <a:latin typeface="PingFang SC"/>
              </a:rPr>
              <a:t>标准的使用使服务器能够被全球范围内的黑客攻击。</a:t>
            </a:r>
            <a:endParaRPr lang="en-US" altLang="zh-CN" dirty="0"/>
          </a:p>
          <a:p>
            <a:r>
              <a:rPr lang="zh-CN" altLang="en-US" dirty="0"/>
              <a:t>吞吐量</a:t>
            </a:r>
            <a:r>
              <a:rPr lang="en-US" altLang="zh-CN" dirty="0"/>
              <a:t>-</a:t>
            </a:r>
            <a:r>
              <a:rPr lang="zh-CN" altLang="en-US" b="0" i="0" dirty="0">
                <a:effectLst/>
                <a:latin typeface="PingFang SC"/>
              </a:rPr>
              <a:t>当出现高负载时，吞吐量和响应时间可能会显著下降。配置必须不仅支持日常平均用户数量，还要支持高峰负载时的用户数量 。</a:t>
            </a:r>
            <a:endParaRPr lang="en-US" altLang="zh-CN" dirty="0"/>
          </a:p>
          <a:p>
            <a:r>
              <a:rPr lang="zh-CN" altLang="en-US" dirty="0"/>
              <a:t>变化的标准</a:t>
            </a:r>
            <a:r>
              <a:rPr lang="en-US" altLang="zh-CN" dirty="0"/>
              <a:t>-</a:t>
            </a:r>
            <a:r>
              <a:rPr lang="zh-CN" altLang="en-US" b="0" i="0" dirty="0">
                <a:effectLst/>
                <a:latin typeface="PingFang SC"/>
              </a:rPr>
              <a:t>网络标准变化迅速。客户端软件每隔几个月就会更新一次。广泛使用的应用程序的开发者面临着一个两难境地：使用最新的标准来增加功能，还是使用较旧的标准以确保与旧版用户软件有更好的兼容性 。</a:t>
            </a:r>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64</a:t>
            </a:fld>
            <a:endParaRPr lang="en-US" altLang="zh-CN"/>
          </a:p>
        </p:txBody>
      </p:sp>
    </p:spTree>
    <p:extLst>
      <p:ext uri="{BB962C8B-B14F-4D97-AF65-F5344CB8AC3E}">
        <p14:creationId xmlns:p14="http://schemas.microsoft.com/office/powerpoint/2010/main" val="231832625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传输中的数据保护是通过超文本传输协议安全（</a:t>
            </a:r>
            <a:r>
              <a:rPr lang="en-US" altLang="zh-CN" dirty="0"/>
              <a:t>HTTPS</a:t>
            </a:r>
            <a:r>
              <a:rPr lang="zh-CN" altLang="en-US" dirty="0"/>
              <a:t>）来实现，</a:t>
            </a:r>
            <a:r>
              <a:rPr lang="en-US" altLang="zh-CN" dirty="0"/>
              <a:t>HTTPS</a:t>
            </a:r>
            <a:r>
              <a:rPr lang="zh-CN" altLang="en-US" dirty="0"/>
              <a:t>是超文本传输协议（</a:t>
            </a:r>
            <a:r>
              <a:rPr lang="en-US" altLang="zh-CN" dirty="0"/>
              <a:t>HTTP</a:t>
            </a:r>
            <a:r>
              <a:rPr lang="zh-CN" altLang="en-US" dirty="0"/>
              <a:t>）和传输层安全（</a:t>
            </a:r>
            <a:r>
              <a:rPr lang="en-US" altLang="zh-CN" dirty="0"/>
              <a:t>TLS</a:t>
            </a:r>
            <a:r>
              <a:rPr lang="zh-CN" altLang="en-US" dirty="0"/>
              <a:t>）协议的结合</a:t>
            </a:r>
            <a:endParaRPr lang="en-US" altLang="zh-CN" dirty="0"/>
          </a:p>
          <a:p>
            <a:endParaRPr lang="en-US" altLang="zh-CN" dirty="0"/>
          </a:p>
          <a:p>
            <a:r>
              <a:rPr lang="en-US" altLang="zh-CN" dirty="0"/>
              <a:t>TLS</a:t>
            </a:r>
            <a:r>
              <a:rPr lang="zh-CN" altLang="en-US" dirty="0"/>
              <a:t>：是安全套接层的高级版本</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65</a:t>
            </a:fld>
            <a:endParaRPr lang="en-US" altLang="zh-CN"/>
          </a:p>
        </p:txBody>
      </p:sp>
    </p:spTree>
    <p:extLst>
      <p:ext uri="{BB962C8B-B14F-4D97-AF65-F5344CB8AC3E}">
        <p14:creationId xmlns:p14="http://schemas.microsoft.com/office/powerpoint/2010/main" val="152373710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多层服务器结构</a:t>
            </a:r>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66</a:t>
            </a:fld>
            <a:endParaRPr lang="en-US" altLang="zh-CN"/>
          </a:p>
        </p:txBody>
      </p:sp>
    </p:spTree>
    <p:extLst>
      <p:ext uri="{BB962C8B-B14F-4D97-AF65-F5344CB8AC3E}">
        <p14:creationId xmlns:p14="http://schemas.microsoft.com/office/powerpoint/2010/main" val="94831462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Internet</a:t>
            </a:r>
            <a:r>
              <a:rPr lang="zh-CN" altLang="en-US" dirty="0"/>
              <a:t>部署的托管替代方案</a:t>
            </a:r>
            <a:endParaRPr lang="en-US" altLang="zh-CN" dirty="0"/>
          </a:p>
          <a:p>
            <a:r>
              <a:rPr lang="en-US" altLang="zh-CN" dirty="0"/>
              <a:t>    </a:t>
            </a:r>
            <a:r>
              <a:rPr lang="zh-CN" altLang="en-US" dirty="0"/>
              <a:t>场地出租</a:t>
            </a:r>
            <a:endParaRPr lang="en-US" altLang="zh-CN" dirty="0"/>
          </a:p>
          <a:p>
            <a:r>
              <a:rPr lang="en-US" altLang="zh-CN" dirty="0"/>
              <a:t>    </a:t>
            </a:r>
            <a:r>
              <a:rPr lang="zh-CN" altLang="en-US" dirty="0"/>
              <a:t>托管式服务</a:t>
            </a:r>
            <a:endParaRPr lang="en-US" altLang="zh-CN" dirty="0"/>
          </a:p>
          <a:p>
            <a:r>
              <a:rPr lang="en-US" altLang="zh-CN" dirty="0"/>
              <a:t>    </a:t>
            </a:r>
            <a:r>
              <a:rPr lang="zh-CN" altLang="en-US" dirty="0"/>
              <a:t>虚拟服务</a:t>
            </a:r>
            <a:endParaRPr lang="en-US" altLang="zh-CN" dirty="0"/>
          </a:p>
          <a:p>
            <a:r>
              <a:rPr lang="en-US" altLang="zh-CN" dirty="0"/>
              <a:t>    </a:t>
            </a:r>
            <a:r>
              <a:rPr lang="zh-CN" altLang="en-US" dirty="0"/>
              <a:t>云计算</a:t>
            </a:r>
            <a:endParaRPr lang="en-US" altLang="zh-CN"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67</a:t>
            </a:fld>
            <a:endParaRPr lang="en-US" altLang="zh-CN"/>
          </a:p>
        </p:txBody>
      </p:sp>
    </p:spTree>
    <p:extLst>
      <p:ext uri="{BB962C8B-B14F-4D97-AF65-F5344CB8AC3E}">
        <p14:creationId xmlns:p14="http://schemas.microsoft.com/office/powerpoint/2010/main" val="15128617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托管：</a:t>
            </a:r>
            <a:endParaRPr lang="en-US" altLang="zh-CN" dirty="0"/>
          </a:p>
          <a:p>
            <a:r>
              <a:rPr lang="zh-CN" altLang="en-US" dirty="0"/>
              <a:t>托管指的是代表应用软件和数据所属的人来运行和维护一个计算机系统</a:t>
            </a:r>
            <a:endParaRPr lang="en-US" altLang="zh-CN" dirty="0"/>
          </a:p>
          <a:p>
            <a:r>
              <a:rPr lang="zh-CN" altLang="en-US" dirty="0"/>
              <a:t>在安全位置提供物理服务器并将这些服务出售给希望部署</a:t>
            </a:r>
            <a:r>
              <a:rPr lang="en-US" altLang="zh-CN" dirty="0"/>
              <a:t>Web</a:t>
            </a:r>
            <a:r>
              <a:rPr lang="zh-CN" altLang="en-US" dirty="0"/>
              <a:t>站点的其他企业的过程</a:t>
            </a:r>
            <a:endParaRPr lang="en-US" altLang="zh-CN" dirty="0"/>
          </a:p>
          <a:p>
            <a:endParaRPr lang="en-US" altLang="zh-CN" dirty="0"/>
          </a:p>
          <a:p>
            <a:r>
              <a:rPr lang="zh-CN" altLang="en-US" dirty="0"/>
              <a:t>考虑托管方案时的问题：</a:t>
            </a:r>
            <a:endParaRPr lang="en-US" altLang="zh-CN" dirty="0"/>
          </a:p>
          <a:p>
            <a:r>
              <a:rPr lang="zh-CN" altLang="en-US" dirty="0"/>
              <a:t>可靠性</a:t>
            </a:r>
            <a:r>
              <a:rPr lang="en-US" altLang="zh-CN" dirty="0"/>
              <a:t>-</a:t>
            </a:r>
            <a:r>
              <a:rPr lang="zh-CN" altLang="en-US" dirty="0"/>
              <a:t>硬件环境必须可靠，备份需要很好地建立</a:t>
            </a:r>
            <a:endParaRPr lang="en-US" altLang="zh-CN" dirty="0"/>
          </a:p>
          <a:p>
            <a:r>
              <a:rPr lang="zh-CN" altLang="en-US" dirty="0"/>
              <a:t>安全性</a:t>
            </a:r>
            <a:r>
              <a:rPr lang="en-US" altLang="zh-CN" dirty="0"/>
              <a:t>-</a:t>
            </a:r>
            <a:r>
              <a:rPr lang="zh-CN" altLang="en-US" dirty="0"/>
              <a:t>软硬件安全</a:t>
            </a:r>
            <a:endParaRPr lang="en-US" altLang="zh-CN" dirty="0"/>
          </a:p>
          <a:p>
            <a:r>
              <a:rPr lang="zh-CN" altLang="en-US" dirty="0"/>
              <a:t>物理设备</a:t>
            </a:r>
            <a:r>
              <a:rPr lang="en-US" altLang="zh-CN" dirty="0"/>
              <a:t>-</a:t>
            </a:r>
            <a:r>
              <a:rPr lang="zh-CN" altLang="en-US" dirty="0"/>
              <a:t>电源、备用发电机、空调来保持一个恒定的物理环境</a:t>
            </a:r>
            <a:endParaRPr lang="en-US" altLang="zh-CN" dirty="0"/>
          </a:p>
          <a:p>
            <a:r>
              <a:rPr lang="zh-CN" altLang="en-US" dirty="0"/>
              <a:t>员工：全天候待命的技术员工</a:t>
            </a:r>
            <a:endParaRPr lang="en-US" altLang="zh-CN" dirty="0"/>
          </a:p>
          <a:p>
            <a:r>
              <a:rPr lang="zh-CN" altLang="en-US" dirty="0"/>
              <a:t>增长：外部系统通常会随着业务的扩展而快速增长</a:t>
            </a:r>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68</a:t>
            </a:fld>
            <a:endParaRPr lang="en-US" altLang="zh-CN"/>
          </a:p>
        </p:txBody>
      </p:sp>
    </p:spTree>
    <p:extLst>
      <p:ext uri="{BB962C8B-B14F-4D97-AF65-F5344CB8AC3E}">
        <p14:creationId xmlns:p14="http://schemas.microsoft.com/office/powerpoint/2010/main" val="200493245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场地出租：</a:t>
            </a:r>
            <a:r>
              <a:rPr lang="zh-CN" altLang="en-US" b="0" i="0" dirty="0">
                <a:solidFill>
                  <a:srgbClr val="2A2B2E"/>
                </a:solidFill>
                <a:effectLst/>
                <a:latin typeface="PingFang SC"/>
              </a:rPr>
              <a:t>主机托管一种具有安全位置的托管服务，但其中的计算机通常由客户企业拥有</a:t>
            </a:r>
            <a:endParaRPr lang="en-US" altLang="zh-CN" dirty="0"/>
          </a:p>
          <a:p>
            <a:r>
              <a:rPr lang="zh-CN" altLang="en-US" dirty="0"/>
              <a:t>管理服务：</a:t>
            </a:r>
            <a:r>
              <a:rPr lang="zh-CN" altLang="en-US" b="0" i="0" dirty="0">
                <a:solidFill>
                  <a:srgbClr val="2A2B2E"/>
                </a:solidFill>
                <a:effectLst/>
                <a:latin typeface="PingFang SC"/>
              </a:rPr>
              <a:t>客户端拥有软件，但可能需要购买额外的服务，例如安装和管理操作系统、</a:t>
            </a:r>
            <a:r>
              <a:rPr lang="en-US" altLang="zh-CN" b="0" i="0" dirty="0">
                <a:solidFill>
                  <a:srgbClr val="2A2B2E"/>
                </a:solidFill>
                <a:effectLst/>
                <a:latin typeface="PingFang SC"/>
              </a:rPr>
              <a:t>Internet</a:t>
            </a:r>
            <a:r>
              <a:rPr lang="zh-CN" altLang="en-US" b="0" i="0" dirty="0">
                <a:solidFill>
                  <a:srgbClr val="2A2B2E"/>
                </a:solidFill>
                <a:effectLst/>
                <a:latin typeface="PingFang SC"/>
              </a:rPr>
              <a:t>服务器、数据库服务器和负载平衡软件</a:t>
            </a:r>
            <a:endParaRPr lang="en-US" altLang="zh-CN" dirty="0"/>
          </a:p>
          <a:p>
            <a:r>
              <a:rPr lang="zh-CN" altLang="en-US" dirty="0"/>
              <a:t>虚拟服务器：</a:t>
            </a:r>
            <a:r>
              <a:rPr lang="zh-CN" altLang="en-US" b="0" i="0" dirty="0">
                <a:solidFill>
                  <a:srgbClr val="2A2B2E"/>
                </a:solidFill>
                <a:effectLst/>
                <a:latin typeface="PingFang SC"/>
              </a:rPr>
              <a:t>客户公司租用一台虚拟服务器，该服务器配置为实服务器，具有一定的</a:t>
            </a:r>
            <a:r>
              <a:rPr lang="en-US" altLang="zh-CN" b="0" i="0" dirty="0">
                <a:solidFill>
                  <a:srgbClr val="2A2B2E"/>
                </a:solidFill>
                <a:effectLst/>
                <a:latin typeface="PingFang SC"/>
              </a:rPr>
              <a:t>CPU</a:t>
            </a:r>
            <a:r>
              <a:rPr lang="zh-CN" altLang="en-US" b="0" i="0" dirty="0">
                <a:solidFill>
                  <a:srgbClr val="2A2B2E"/>
                </a:solidFill>
                <a:effectLst/>
                <a:latin typeface="PingFang SC"/>
              </a:rPr>
              <a:t>容量、内部内存、硬盘内存和带宽，供</a:t>
            </a:r>
            <a:r>
              <a:rPr lang="en-US" altLang="zh-CN" b="0" i="0" dirty="0">
                <a:solidFill>
                  <a:srgbClr val="2A2B2E"/>
                </a:solidFill>
                <a:effectLst/>
                <a:latin typeface="PingFang SC"/>
              </a:rPr>
              <a:t>Internet</a:t>
            </a:r>
            <a:r>
              <a:rPr lang="zh-CN" altLang="en-US" b="0" i="0" dirty="0">
                <a:solidFill>
                  <a:srgbClr val="2A2B2E"/>
                </a:solidFill>
                <a:effectLst/>
                <a:latin typeface="PingFang SC"/>
              </a:rPr>
              <a:t>使用</a:t>
            </a:r>
            <a:endParaRPr lang="en-US" altLang="zh-CN"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69</a:t>
            </a:fld>
            <a:endParaRPr lang="en-US" altLang="zh-CN"/>
          </a:p>
        </p:txBody>
      </p:sp>
    </p:spTree>
    <p:extLst>
      <p:ext uri="{BB962C8B-B14F-4D97-AF65-F5344CB8AC3E}">
        <p14:creationId xmlns:p14="http://schemas.microsoft.com/office/powerpoint/2010/main" val="170291577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 </a:t>
            </a:r>
            <a:r>
              <a:rPr lang="zh-CN" altLang="en-US" dirty="0"/>
              <a:t>云计算：</a:t>
            </a:r>
            <a:endParaRPr lang="en-US" altLang="zh-CN" dirty="0"/>
          </a:p>
          <a:p>
            <a:r>
              <a:rPr lang="en-US" altLang="zh-CN" b="0" i="0" dirty="0">
                <a:solidFill>
                  <a:srgbClr val="2A2B2E"/>
                </a:solidFill>
                <a:effectLst/>
                <a:latin typeface="PingFang SC"/>
              </a:rPr>
              <a:t>   </a:t>
            </a:r>
            <a:r>
              <a:rPr lang="zh-CN" altLang="en-US" b="0" i="0" dirty="0">
                <a:solidFill>
                  <a:srgbClr val="2A2B2E"/>
                </a:solidFill>
                <a:effectLst/>
                <a:latin typeface="PingFang SC"/>
              </a:rPr>
              <a:t>一种虚拟服务器的扩展，其中可用的资源包括计算、存储和</a:t>
            </a:r>
            <a:r>
              <a:rPr lang="en-US" altLang="zh-CN" b="0" i="0" dirty="0">
                <a:solidFill>
                  <a:srgbClr val="2A2B2E"/>
                </a:solidFill>
                <a:effectLst/>
                <a:latin typeface="PingFang SC"/>
              </a:rPr>
              <a:t>Internet</a:t>
            </a:r>
            <a:r>
              <a:rPr lang="zh-CN" altLang="en-US" b="0" i="0" dirty="0">
                <a:solidFill>
                  <a:srgbClr val="2A2B2E"/>
                </a:solidFill>
                <a:effectLst/>
                <a:latin typeface="PingFang SC"/>
              </a:rPr>
              <a:t>访问，并且它们似乎具有无限的可用性。</a:t>
            </a:r>
            <a:endParaRPr lang="en-US" altLang="zh-CN" b="0" i="0" dirty="0">
              <a:solidFill>
                <a:srgbClr val="2A2B2E"/>
              </a:solidFill>
              <a:effectLst/>
              <a:latin typeface="PingFang SC"/>
            </a:endParaRPr>
          </a:p>
          <a:p>
            <a:r>
              <a:rPr lang="en-US" altLang="zh-CN" b="0" i="0" dirty="0">
                <a:solidFill>
                  <a:srgbClr val="2A2B2E"/>
                </a:solidFill>
                <a:effectLst/>
                <a:latin typeface="PingFang SC"/>
              </a:rPr>
              <a:t>   </a:t>
            </a:r>
            <a:r>
              <a:rPr lang="zh-CN" altLang="en-US" b="0" i="0" dirty="0">
                <a:solidFill>
                  <a:srgbClr val="2A2B2E"/>
                </a:solidFill>
                <a:effectLst/>
                <a:latin typeface="PingFang SC"/>
              </a:rPr>
              <a:t>客户机应该能够购买计算能力，就像购买水或电这样的公用事业一样。</a:t>
            </a:r>
            <a:endParaRPr lang="en-US" altLang="zh-CN" b="0" i="0" dirty="0">
              <a:solidFill>
                <a:srgbClr val="2A2B2E"/>
              </a:solidFill>
              <a:effectLst/>
              <a:latin typeface="PingFang SC"/>
            </a:endParaRPr>
          </a:p>
          <a:p>
            <a:r>
              <a:rPr lang="en-US" altLang="zh-CN" b="0" i="0" dirty="0">
                <a:solidFill>
                  <a:srgbClr val="2A2B2E"/>
                </a:solidFill>
                <a:effectLst/>
                <a:latin typeface="PingFang SC"/>
              </a:rPr>
              <a:t>   </a:t>
            </a:r>
            <a:r>
              <a:rPr lang="zh-CN" altLang="en-US" b="0" i="0" dirty="0">
                <a:solidFill>
                  <a:srgbClr val="2A2B2E"/>
                </a:solidFill>
                <a:effectLst/>
                <a:latin typeface="PingFang SC"/>
              </a:rPr>
              <a:t>客户机不应该关心诸如如何或在何处提供计算能力等环境问题，就像个人不必担心如何产生电力一样</a:t>
            </a:r>
            <a:endParaRPr lang="en-US" altLang="zh-CN" b="0" i="0" dirty="0">
              <a:solidFill>
                <a:srgbClr val="2A2B2E"/>
              </a:solidFill>
              <a:effectLst/>
              <a:latin typeface="PingFang SC"/>
            </a:endParaRPr>
          </a:p>
          <a:p>
            <a:endParaRPr lang="en-US" altLang="zh-CN" dirty="0"/>
          </a:p>
          <a:p>
            <a:r>
              <a:rPr lang="zh-CN" altLang="en-US" dirty="0"/>
              <a:t>服务水平协议：</a:t>
            </a:r>
            <a:endParaRPr lang="en-US" altLang="zh-CN" dirty="0"/>
          </a:p>
          <a:p>
            <a:r>
              <a:rPr lang="zh-CN" altLang="en-US" b="0" i="0" dirty="0">
                <a:solidFill>
                  <a:srgbClr val="2A2B2E"/>
                </a:solidFill>
                <a:effectLst/>
                <a:latin typeface="PingFang SC"/>
              </a:rPr>
              <a:t>   对于所有替代方案，企业和托管公司之间保证特定级别系统可用性的合同的一部分</a:t>
            </a:r>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70</a:t>
            </a:fld>
            <a:endParaRPr lang="en-US" altLang="zh-CN"/>
          </a:p>
        </p:txBody>
      </p:sp>
    </p:spTree>
    <p:extLst>
      <p:ext uri="{BB962C8B-B14F-4D97-AF65-F5344CB8AC3E}">
        <p14:creationId xmlns:p14="http://schemas.microsoft.com/office/powerpoint/2010/main" val="3777356566"/>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托管选择                           </a:t>
            </a:r>
            <a:r>
              <a:rPr lang="en-US" altLang="zh-CN" dirty="0"/>
              <a:t> </a:t>
            </a:r>
            <a:r>
              <a:rPr lang="zh-CN" altLang="en-US" dirty="0"/>
              <a:t>场地出租     </a:t>
            </a:r>
            <a:r>
              <a:rPr lang="en-US" altLang="zh-CN" dirty="0"/>
              <a:t> </a:t>
            </a:r>
            <a:r>
              <a:rPr lang="zh-CN" altLang="en-US" dirty="0"/>
              <a:t>管理服务   </a:t>
            </a:r>
            <a:r>
              <a:rPr lang="en-US" altLang="zh-CN" dirty="0"/>
              <a:t> </a:t>
            </a:r>
            <a:r>
              <a:rPr lang="zh-CN" altLang="en-US" dirty="0"/>
              <a:t>虚拟服务器 </a:t>
            </a:r>
            <a:r>
              <a:rPr lang="en-US" altLang="zh-CN" dirty="0"/>
              <a:t> </a:t>
            </a:r>
            <a:r>
              <a:rPr lang="zh-CN" altLang="en-US" dirty="0"/>
              <a:t>云计算</a:t>
            </a:r>
            <a:endParaRPr lang="en-US" altLang="zh-CN" dirty="0"/>
          </a:p>
          <a:p>
            <a:endParaRPr lang="en-US" altLang="zh-CN" dirty="0"/>
          </a:p>
          <a:p>
            <a:r>
              <a:rPr lang="zh-CN" altLang="en-US" dirty="0"/>
              <a:t>托管服务提供场地和设施</a:t>
            </a:r>
            <a:endParaRPr lang="en-US" altLang="zh-CN" dirty="0"/>
          </a:p>
          <a:p>
            <a:r>
              <a:rPr lang="zh-CN" altLang="en-US" dirty="0"/>
              <a:t>客户拥有计算机</a:t>
            </a:r>
            <a:endParaRPr lang="en-US" altLang="zh-CN" dirty="0"/>
          </a:p>
          <a:p>
            <a:r>
              <a:rPr lang="zh-CN" altLang="en-US" dirty="0"/>
              <a:t>客户管理计算机配置</a:t>
            </a:r>
            <a:endParaRPr lang="en-US" altLang="zh-CN" dirty="0"/>
          </a:p>
          <a:p>
            <a:r>
              <a:rPr lang="zh-CN" altLang="en-US" dirty="0"/>
              <a:t>可扩展性</a:t>
            </a:r>
            <a:endParaRPr lang="en-US" altLang="zh-CN" dirty="0"/>
          </a:p>
          <a:p>
            <a:r>
              <a:rPr lang="zh-CN" altLang="en-US" dirty="0"/>
              <a:t>维护</a:t>
            </a:r>
            <a:endParaRPr lang="en-US" altLang="zh-CN" dirty="0"/>
          </a:p>
          <a:p>
            <a:r>
              <a:rPr lang="zh-CN" altLang="en-US" dirty="0"/>
              <a:t>备份与恢复</a:t>
            </a:r>
            <a:endParaRPr lang="en-US" altLang="zh-CN"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71</a:t>
            </a:fld>
            <a:endParaRPr lang="en-US" altLang="zh-CN"/>
          </a:p>
        </p:txBody>
      </p:sp>
    </p:spTree>
    <p:extLst>
      <p:ext uri="{BB962C8B-B14F-4D97-AF65-F5344CB8AC3E}">
        <p14:creationId xmlns:p14="http://schemas.microsoft.com/office/powerpoint/2010/main" val="3530863338"/>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场地出租</a:t>
            </a:r>
            <a:endParaRPr lang="en-US" altLang="zh-CN" dirty="0"/>
          </a:p>
          <a:p>
            <a:endParaRPr lang="en-US" altLang="zh-CN" dirty="0"/>
          </a:p>
          <a:p>
            <a:r>
              <a:rPr lang="zh-CN" altLang="en-US" dirty="0"/>
              <a:t>托管服务提供场地和设施</a:t>
            </a:r>
            <a:endParaRPr lang="en-US" altLang="zh-CN" dirty="0"/>
          </a:p>
          <a:p>
            <a:r>
              <a:rPr lang="zh-CN" altLang="en-US" dirty="0"/>
              <a:t>客户拥有计算机</a:t>
            </a:r>
            <a:endParaRPr lang="en-US" altLang="zh-CN" dirty="0"/>
          </a:p>
          <a:p>
            <a:r>
              <a:rPr lang="zh-CN" altLang="en-US" dirty="0"/>
              <a:t>客户管理计算机配置</a:t>
            </a:r>
            <a:endParaRPr lang="en-US" altLang="zh-CN" dirty="0"/>
          </a:p>
          <a:p>
            <a:r>
              <a:rPr lang="zh-CN" altLang="en-US" dirty="0"/>
              <a:t>可扩展性</a:t>
            </a:r>
            <a:endParaRPr lang="en-US" altLang="zh-CN" dirty="0"/>
          </a:p>
          <a:p>
            <a:r>
              <a:rPr lang="zh-CN" altLang="en-US" dirty="0"/>
              <a:t>维护</a:t>
            </a:r>
            <a:endParaRPr lang="en-US" altLang="zh-CN" dirty="0"/>
          </a:p>
          <a:p>
            <a:r>
              <a:rPr lang="zh-CN" altLang="en-US" dirty="0"/>
              <a:t>备份与恢复</a:t>
            </a:r>
            <a:endParaRPr lang="en-US" altLang="zh-CN"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72</a:t>
            </a:fld>
            <a:endParaRPr lang="en-US" altLang="zh-CN"/>
          </a:p>
        </p:txBody>
      </p:sp>
    </p:spTree>
    <p:extLst>
      <p:ext uri="{BB962C8B-B14F-4D97-AF65-F5344CB8AC3E}">
        <p14:creationId xmlns:p14="http://schemas.microsoft.com/office/powerpoint/2010/main" val="226647584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管理服务 </a:t>
            </a:r>
            <a:endParaRPr lang="en-US" altLang="zh-CN" dirty="0"/>
          </a:p>
          <a:p>
            <a:endParaRPr lang="en-US" altLang="zh-CN" dirty="0"/>
          </a:p>
          <a:p>
            <a:r>
              <a:rPr lang="zh-CN" altLang="en-US" dirty="0"/>
              <a:t>托管服务提供场地和设施</a:t>
            </a:r>
            <a:endParaRPr lang="en-US" altLang="zh-CN" dirty="0"/>
          </a:p>
          <a:p>
            <a:r>
              <a:rPr lang="zh-CN" altLang="en-US" dirty="0"/>
              <a:t>客户拥有计算机</a:t>
            </a:r>
            <a:endParaRPr lang="en-US" altLang="zh-CN" dirty="0"/>
          </a:p>
          <a:p>
            <a:r>
              <a:rPr lang="zh-CN" altLang="en-US" dirty="0"/>
              <a:t>客户管理计算机配置</a:t>
            </a:r>
            <a:endParaRPr lang="en-US" altLang="zh-CN" dirty="0"/>
          </a:p>
          <a:p>
            <a:r>
              <a:rPr lang="zh-CN" altLang="en-US" dirty="0"/>
              <a:t>可扩展性</a:t>
            </a:r>
            <a:endParaRPr lang="en-US" altLang="zh-CN" dirty="0"/>
          </a:p>
          <a:p>
            <a:r>
              <a:rPr lang="zh-CN" altLang="en-US" dirty="0"/>
              <a:t>维护</a:t>
            </a:r>
            <a:endParaRPr lang="en-US" altLang="zh-CN" dirty="0"/>
          </a:p>
          <a:p>
            <a:r>
              <a:rPr lang="zh-CN" altLang="en-US" dirty="0"/>
              <a:t>备份与恢复</a:t>
            </a:r>
            <a:endParaRPr lang="en-US" altLang="zh-CN"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73</a:t>
            </a:fld>
            <a:endParaRPr lang="en-US" altLang="zh-CN"/>
          </a:p>
        </p:txBody>
      </p:sp>
    </p:spTree>
    <p:extLst>
      <p:ext uri="{BB962C8B-B14F-4D97-AF65-F5344CB8AC3E}">
        <p14:creationId xmlns:p14="http://schemas.microsoft.com/office/powerpoint/2010/main" val="2241265839"/>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虚拟服务器 </a:t>
            </a:r>
            <a:endParaRPr lang="en-US" altLang="zh-CN" dirty="0"/>
          </a:p>
          <a:p>
            <a:endParaRPr lang="en-US" altLang="zh-CN" dirty="0"/>
          </a:p>
          <a:p>
            <a:r>
              <a:rPr lang="zh-CN" altLang="en-US" dirty="0"/>
              <a:t>托管服务提供场地和设施</a:t>
            </a:r>
            <a:endParaRPr lang="en-US" altLang="zh-CN" dirty="0"/>
          </a:p>
          <a:p>
            <a:r>
              <a:rPr lang="zh-CN" altLang="en-US" dirty="0"/>
              <a:t>客户拥有计算机</a:t>
            </a:r>
            <a:endParaRPr lang="en-US" altLang="zh-CN" dirty="0"/>
          </a:p>
          <a:p>
            <a:r>
              <a:rPr lang="zh-CN" altLang="en-US" dirty="0"/>
              <a:t>客户管理计算机配置</a:t>
            </a:r>
            <a:endParaRPr lang="en-US" altLang="zh-CN" dirty="0"/>
          </a:p>
          <a:p>
            <a:r>
              <a:rPr lang="zh-CN" altLang="en-US" dirty="0"/>
              <a:t>可扩展性</a:t>
            </a:r>
            <a:endParaRPr lang="en-US" altLang="zh-CN" dirty="0"/>
          </a:p>
          <a:p>
            <a:r>
              <a:rPr lang="zh-CN" altLang="en-US" dirty="0"/>
              <a:t>维护</a:t>
            </a:r>
            <a:endParaRPr lang="en-US" altLang="zh-CN" dirty="0"/>
          </a:p>
          <a:p>
            <a:r>
              <a:rPr lang="zh-CN" altLang="en-US" dirty="0"/>
              <a:t>备份与恢复</a:t>
            </a:r>
            <a:endParaRPr lang="en-US" altLang="zh-CN"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74</a:t>
            </a:fld>
            <a:endParaRPr lang="en-US" altLang="zh-CN"/>
          </a:p>
        </p:txBody>
      </p:sp>
    </p:spTree>
    <p:extLst>
      <p:ext uri="{BB962C8B-B14F-4D97-AF65-F5344CB8AC3E}">
        <p14:creationId xmlns:p14="http://schemas.microsoft.com/office/powerpoint/2010/main" val="281788240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云计算</a:t>
            </a:r>
            <a:endParaRPr lang="en-US" altLang="zh-CN" dirty="0"/>
          </a:p>
          <a:p>
            <a:endParaRPr lang="en-US" altLang="zh-CN" dirty="0"/>
          </a:p>
          <a:p>
            <a:r>
              <a:rPr lang="zh-CN" altLang="en-US" dirty="0"/>
              <a:t>托管服务提供场地和设施</a:t>
            </a:r>
            <a:endParaRPr lang="en-US" altLang="zh-CN" dirty="0"/>
          </a:p>
          <a:p>
            <a:r>
              <a:rPr lang="zh-CN" altLang="en-US" dirty="0"/>
              <a:t>客户拥有计算机</a:t>
            </a:r>
            <a:endParaRPr lang="en-US" altLang="zh-CN" dirty="0"/>
          </a:p>
          <a:p>
            <a:r>
              <a:rPr lang="zh-CN" altLang="en-US" dirty="0"/>
              <a:t>客户管理计算机配置</a:t>
            </a:r>
            <a:endParaRPr lang="en-US" altLang="zh-CN" dirty="0"/>
          </a:p>
          <a:p>
            <a:r>
              <a:rPr lang="zh-CN" altLang="en-US" dirty="0"/>
              <a:t>可扩展性</a:t>
            </a:r>
            <a:endParaRPr lang="en-US" altLang="zh-CN" dirty="0"/>
          </a:p>
          <a:p>
            <a:r>
              <a:rPr lang="zh-CN" altLang="en-US" dirty="0"/>
              <a:t>维护</a:t>
            </a:r>
            <a:endParaRPr lang="en-US" altLang="zh-CN" dirty="0"/>
          </a:p>
          <a:p>
            <a:r>
              <a:rPr lang="zh-CN" altLang="en-US" dirty="0"/>
              <a:t>备份与恢复</a:t>
            </a:r>
            <a:endParaRPr lang="en-US" altLang="zh-CN"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75</a:t>
            </a:fld>
            <a:endParaRPr lang="en-US" altLang="zh-CN"/>
          </a:p>
        </p:txBody>
      </p:sp>
    </p:spTree>
    <p:extLst>
      <p:ext uri="{BB962C8B-B14F-4D97-AF65-F5344CB8AC3E}">
        <p14:creationId xmlns:p14="http://schemas.microsoft.com/office/powerpoint/2010/main" val="2394863682"/>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b="0" i="0" dirty="0">
                <a:solidFill>
                  <a:srgbClr val="2A2B2E"/>
                </a:solidFill>
                <a:effectLst/>
                <a:latin typeface="PingFang SC"/>
              </a:rPr>
              <a:t>Internet</a:t>
            </a:r>
            <a:r>
              <a:rPr lang="zh-CN" altLang="en-US" b="0" i="0" dirty="0">
                <a:solidFill>
                  <a:srgbClr val="2A2B2E"/>
                </a:solidFill>
                <a:effectLst/>
                <a:latin typeface="PingFang SC"/>
              </a:rPr>
              <a:t>部署的客户端设备的多样性</a:t>
            </a:r>
            <a:br>
              <a:rPr lang="zh-CN" altLang="en-US" dirty="0"/>
            </a:br>
            <a:endParaRPr lang="zh-CN" altLang="en-US" b="0" i="0" dirty="0">
              <a:solidFill>
                <a:srgbClr val="2A2B2E"/>
              </a:solidFill>
              <a:effectLst/>
              <a:latin typeface="PingFang SC"/>
            </a:endParaRPr>
          </a:p>
          <a:p>
            <a:r>
              <a:rPr lang="zh-CN" altLang="en-US" b="0" i="0" dirty="0">
                <a:solidFill>
                  <a:srgbClr val="2A2B2E"/>
                </a:solidFill>
                <a:effectLst/>
                <a:latin typeface="PingFang SC"/>
              </a:rPr>
              <a:t>    全尺寸，平板电脑和笔记本电脑，智能手机</a:t>
            </a:r>
            <a:endParaRPr lang="en-US" altLang="zh-CN"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76</a:t>
            </a:fld>
            <a:endParaRPr lang="en-US" altLang="zh-CN"/>
          </a:p>
        </p:txBody>
      </p:sp>
    </p:spTree>
    <p:extLst>
      <p:ext uri="{BB962C8B-B14F-4D97-AF65-F5344CB8AC3E}">
        <p14:creationId xmlns:p14="http://schemas.microsoft.com/office/powerpoint/2010/main" val="4110561957"/>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全尺寸器件</a:t>
            </a:r>
            <a:br>
              <a:rPr lang="zh-CN" altLang="en-US" dirty="0"/>
            </a:br>
            <a:r>
              <a:rPr lang="zh-CN" altLang="en-US" b="0" i="0" dirty="0">
                <a:solidFill>
                  <a:srgbClr val="2A2B2E"/>
                </a:solidFill>
                <a:effectLst/>
                <a:latin typeface="PingFang SC"/>
              </a:rPr>
              <a:t>  台式机，笔记本电脑，</a:t>
            </a:r>
            <a:r>
              <a:rPr lang="en-US" altLang="zh-CN" b="0" i="0" dirty="0">
                <a:solidFill>
                  <a:srgbClr val="2A2B2E"/>
                </a:solidFill>
                <a:effectLst/>
                <a:latin typeface="PingFang SC"/>
              </a:rPr>
              <a:t>15-27</a:t>
            </a:r>
            <a:r>
              <a:rPr lang="zh-CN" altLang="en-US" b="0" i="0" dirty="0">
                <a:solidFill>
                  <a:srgbClr val="2A2B2E"/>
                </a:solidFill>
                <a:effectLst/>
                <a:latin typeface="PingFang SC"/>
              </a:rPr>
              <a:t>英寸的高分辨率</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中级平板设备</a:t>
            </a:r>
          </a:p>
          <a:p>
            <a:pPr algn="l"/>
            <a:r>
              <a:rPr lang="zh-CN" altLang="en-US" b="0" i="0" dirty="0">
                <a:solidFill>
                  <a:srgbClr val="2A2B2E"/>
                </a:solidFill>
                <a:effectLst/>
                <a:latin typeface="PingFang SC"/>
              </a:rPr>
              <a:t>  平板电脑</a:t>
            </a:r>
            <a:r>
              <a:rPr lang="en-US" altLang="zh-CN" b="0" i="0" dirty="0">
                <a:solidFill>
                  <a:srgbClr val="2A2B2E"/>
                </a:solidFill>
                <a:effectLst/>
                <a:latin typeface="PingFang SC"/>
              </a:rPr>
              <a:t>8-10</a:t>
            </a:r>
            <a:r>
              <a:rPr lang="zh-CN" altLang="en-US" b="0" i="0" dirty="0">
                <a:solidFill>
                  <a:srgbClr val="2A2B2E"/>
                </a:solidFill>
                <a:effectLst/>
                <a:latin typeface="PingFang SC"/>
              </a:rPr>
              <a:t>英寸，横向或纵向模式，较低的分辨率，可能需要特定的视图层</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小型移动计算设备</a:t>
            </a:r>
            <a:br>
              <a:rPr lang="zh-CN" altLang="en-US" dirty="0"/>
            </a:br>
            <a:r>
              <a:rPr lang="zh-CN" altLang="en-US" dirty="0"/>
              <a:t>  </a:t>
            </a:r>
            <a:r>
              <a:rPr lang="zh-CN" altLang="en-US" b="0" i="0" dirty="0">
                <a:solidFill>
                  <a:srgbClr val="2A2B2E"/>
                </a:solidFill>
                <a:effectLst/>
                <a:latin typeface="PingFang SC"/>
              </a:rPr>
              <a:t>非常小的屏幕，常规网站难以阅读，确实需要特定的视图层用于移动网页浏览</a:t>
            </a:r>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77</a:t>
            </a:fld>
            <a:endParaRPr lang="en-US" altLang="zh-CN"/>
          </a:p>
        </p:txBody>
      </p:sp>
    </p:spTree>
    <p:extLst>
      <p:ext uri="{BB962C8B-B14F-4D97-AF65-F5344CB8AC3E}">
        <p14:creationId xmlns:p14="http://schemas.microsoft.com/office/powerpoint/2010/main" val="258988731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设计远程和分布式环境</a:t>
            </a:r>
            <a:r>
              <a:rPr lang="en-US" altLang="zh-CN" dirty="0"/>
              <a:t>:</a:t>
            </a:r>
          </a:p>
          <a:p>
            <a:endParaRPr lang="en-US" altLang="zh-CN" dirty="0"/>
          </a:p>
          <a:p>
            <a:r>
              <a:rPr lang="zh-CN" altLang="en-US" dirty="0"/>
              <a:t>同一</a:t>
            </a:r>
            <a:r>
              <a:rPr lang="en-US" altLang="zh-CN" dirty="0"/>
              <a:t>Web</a:t>
            </a:r>
            <a:r>
              <a:rPr lang="zh-CN" altLang="en-US" dirty="0"/>
              <a:t>应用程序的两个接口，用于内部访问和外部访问（后端、前端，</a:t>
            </a:r>
            <a:r>
              <a:rPr lang="en-US" altLang="zh-CN" dirty="0"/>
              <a:t>UI</a:t>
            </a:r>
            <a:r>
              <a:rPr lang="zh-CN" altLang="en-US" dirty="0"/>
              <a:t>界面）：不安全</a:t>
            </a:r>
            <a:endParaRPr lang="en-US" altLang="zh-CN" dirty="0"/>
          </a:p>
          <a:p>
            <a:endParaRPr lang="en-US" altLang="zh-CN" dirty="0"/>
          </a:p>
          <a:p>
            <a:r>
              <a:rPr lang="en-US" altLang="zh-CN" dirty="0"/>
              <a:t>VPN</a:t>
            </a:r>
            <a:r>
              <a:rPr lang="zh-CN" altLang="en-US" dirty="0"/>
              <a:t>：虚拟专用网络</a:t>
            </a:r>
            <a:endParaRPr lang="en-US" altLang="zh-CN" dirty="0"/>
          </a:p>
          <a:p>
            <a:r>
              <a:rPr lang="zh-CN" altLang="en-US" b="0" i="0" dirty="0">
                <a:solidFill>
                  <a:srgbClr val="2A2B2E"/>
                </a:solidFill>
                <a:effectLst/>
                <a:latin typeface="PingFang SC"/>
              </a:rPr>
              <a:t>   建立在公共网络</a:t>
            </a:r>
            <a:r>
              <a:rPr lang="en-US" altLang="zh-CN" b="0" i="0" dirty="0">
                <a:solidFill>
                  <a:srgbClr val="2A2B2E"/>
                </a:solidFill>
                <a:effectLst/>
                <a:latin typeface="PingFang SC"/>
              </a:rPr>
              <a:t>(Internet)</a:t>
            </a:r>
            <a:r>
              <a:rPr lang="zh-CN" altLang="en-US" b="0" i="0" dirty="0">
                <a:solidFill>
                  <a:srgbClr val="2A2B2E"/>
                </a:solidFill>
                <a:effectLst/>
                <a:latin typeface="PingFang SC"/>
              </a:rPr>
              <a:t>之上的具有安全性和封闭访问的封闭网络</a:t>
            </a:r>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78</a:t>
            </a:fld>
            <a:endParaRPr lang="en-US" altLang="zh-CN"/>
          </a:p>
        </p:txBody>
      </p:sp>
    </p:spTree>
    <p:extLst>
      <p:ext uri="{BB962C8B-B14F-4D97-AF65-F5344CB8AC3E}">
        <p14:creationId xmlns:p14="http://schemas.microsoft.com/office/powerpoint/2010/main" val="2518418648"/>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在远程计算机和总公司服务器之间有一个安全的管道</a:t>
            </a:r>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79</a:t>
            </a:fld>
            <a:endParaRPr lang="en-US" altLang="zh-CN"/>
          </a:p>
        </p:txBody>
      </p:sp>
    </p:spTree>
    <p:extLst>
      <p:ext uri="{BB962C8B-B14F-4D97-AF65-F5344CB8AC3E}">
        <p14:creationId xmlns:p14="http://schemas.microsoft.com/office/powerpoint/2010/main" val="417122832"/>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许多地点</a:t>
            </a:r>
            <a:r>
              <a:rPr lang="en-US" altLang="zh-CN" b="0" i="0" dirty="0">
                <a:solidFill>
                  <a:srgbClr val="2A2B2E"/>
                </a:solidFill>
                <a:effectLst/>
                <a:latin typeface="PingFang SC"/>
              </a:rPr>
              <a:t>:</a:t>
            </a:r>
            <a:r>
              <a:rPr lang="zh-CN" altLang="en-US" b="0" i="0" dirty="0">
                <a:solidFill>
                  <a:srgbClr val="2A2B2E"/>
                </a:solidFill>
                <a:effectLst/>
                <a:latin typeface="PingFang SC"/>
              </a:rPr>
              <a:t>需要精心设计的远程访问</a:t>
            </a:r>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80</a:t>
            </a:fld>
            <a:endParaRPr lang="en-US" altLang="zh-CN"/>
          </a:p>
        </p:txBody>
      </p:sp>
    </p:spTree>
    <p:extLst>
      <p:ext uri="{BB962C8B-B14F-4D97-AF65-F5344CB8AC3E}">
        <p14:creationId xmlns:p14="http://schemas.microsoft.com/office/powerpoint/2010/main" val="280747412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RMO</a:t>
            </a:r>
            <a:r>
              <a:rPr lang="zh-CN" altLang="en-US" dirty="0"/>
              <a:t>的最新技术架构</a:t>
            </a:r>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81</a:t>
            </a:fld>
            <a:endParaRPr lang="en-US" altLang="zh-CN"/>
          </a:p>
        </p:txBody>
      </p:sp>
    </p:spTree>
    <p:extLst>
      <p:ext uri="{BB962C8B-B14F-4D97-AF65-F5344CB8AC3E}">
        <p14:creationId xmlns:p14="http://schemas.microsoft.com/office/powerpoint/2010/main" val="456815525"/>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RMO</a:t>
            </a:r>
            <a:r>
              <a:rPr lang="zh-CN" altLang="en-US" dirty="0"/>
              <a:t>的最新技术架构</a:t>
            </a:r>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82</a:t>
            </a:fld>
            <a:endParaRPr lang="en-US" altLang="zh-CN"/>
          </a:p>
        </p:txBody>
      </p:sp>
    </p:spTree>
    <p:extLst>
      <p:ext uri="{BB962C8B-B14F-4D97-AF65-F5344CB8AC3E}">
        <p14:creationId xmlns:p14="http://schemas.microsoft.com/office/powerpoint/2010/main" val="3667799818"/>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高速的局域网：帕克城数据中心</a:t>
            </a:r>
            <a:endParaRPr lang="en-US" altLang="zh-CN" dirty="0"/>
          </a:p>
          <a:p>
            <a:endParaRPr lang="en-US" altLang="zh-CN" dirty="0"/>
          </a:p>
          <a:p>
            <a:r>
              <a:rPr lang="zh-CN" altLang="en-US" dirty="0"/>
              <a:t>高速数据库</a:t>
            </a:r>
            <a:endParaRPr lang="en-US" altLang="zh-CN" dirty="0"/>
          </a:p>
          <a:p>
            <a:r>
              <a:rPr lang="zh-CN" altLang="en-US" dirty="0"/>
              <a:t>应用服务器</a:t>
            </a:r>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83</a:t>
            </a:fld>
            <a:endParaRPr lang="en-US" altLang="zh-CN"/>
          </a:p>
        </p:txBody>
      </p:sp>
    </p:spTree>
    <p:extLst>
      <p:ext uri="{BB962C8B-B14F-4D97-AF65-F5344CB8AC3E}">
        <p14:creationId xmlns:p14="http://schemas.microsoft.com/office/powerpoint/2010/main" val="379494072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84</a:t>
            </a:fld>
            <a:endParaRPr lang="en-US" altLang="zh-CN"/>
          </a:p>
        </p:txBody>
      </p:sp>
    </p:spTree>
    <p:extLst>
      <p:ext uri="{BB962C8B-B14F-4D97-AF65-F5344CB8AC3E}">
        <p14:creationId xmlns:p14="http://schemas.microsoft.com/office/powerpoint/2010/main" val="4179342529"/>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VPN</a:t>
            </a:r>
            <a:r>
              <a:rPr lang="zh-CN" altLang="en-US" dirty="0"/>
              <a:t>的</a:t>
            </a:r>
            <a:r>
              <a:rPr lang="en-US" altLang="zh-CN" dirty="0"/>
              <a:t>gateway</a:t>
            </a:r>
            <a:r>
              <a:rPr lang="zh-CN" altLang="en-US" dirty="0"/>
              <a:t>：零售商店</a:t>
            </a:r>
            <a:endParaRPr lang="en-US" altLang="zh-CN" dirty="0"/>
          </a:p>
          <a:p>
            <a:r>
              <a:rPr lang="zh-CN" altLang="en-US" dirty="0"/>
              <a:t>防火墙：客户应用</a:t>
            </a:r>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85</a:t>
            </a:fld>
            <a:endParaRPr lang="en-US" altLang="zh-CN"/>
          </a:p>
        </p:txBody>
      </p:sp>
    </p:spTree>
    <p:extLst>
      <p:ext uri="{BB962C8B-B14F-4D97-AF65-F5344CB8AC3E}">
        <p14:creationId xmlns:p14="http://schemas.microsoft.com/office/powerpoint/2010/main" val="1835525830"/>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高速的局域网：帕克城数据中心</a:t>
            </a:r>
            <a:endParaRPr lang="en-US" altLang="zh-CN" dirty="0"/>
          </a:p>
          <a:p>
            <a:endParaRPr lang="en-US" altLang="zh-CN" dirty="0"/>
          </a:p>
          <a:p>
            <a:r>
              <a:rPr lang="zh-CN" altLang="en-US" dirty="0"/>
              <a:t>高速数据库</a:t>
            </a:r>
            <a:endParaRPr lang="en-US" altLang="zh-CN" dirty="0"/>
          </a:p>
          <a:p>
            <a:r>
              <a:rPr lang="zh-CN" altLang="en-US" dirty="0"/>
              <a:t>应用服务器</a:t>
            </a:r>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86</a:t>
            </a:fld>
            <a:endParaRPr lang="en-US" altLang="zh-CN"/>
          </a:p>
        </p:txBody>
      </p:sp>
    </p:spTree>
    <p:extLst>
      <p:ext uri="{BB962C8B-B14F-4D97-AF65-F5344CB8AC3E}">
        <p14:creationId xmlns:p14="http://schemas.microsoft.com/office/powerpoint/2010/main" val="2883823544"/>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本章讨论了系统设计、六个设计活动和环境设计。</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系统设计是需求和实现之间的桥梁</a:t>
            </a:r>
            <a:r>
              <a:rPr lang="en-US" altLang="zh-CN" b="0" i="0" dirty="0">
                <a:solidFill>
                  <a:srgbClr val="2A2B2E"/>
                </a:solidFill>
                <a:effectLst/>
                <a:latin typeface="PingFang SC"/>
              </a:rPr>
              <a:t>——</a:t>
            </a:r>
            <a:r>
              <a:rPr lang="zh-CN" altLang="en-US" b="0" i="0" dirty="0">
                <a:solidFill>
                  <a:srgbClr val="2A2B2E"/>
                </a:solidFill>
                <a:effectLst/>
                <a:latin typeface="PingFang SC"/>
              </a:rPr>
              <a:t>需要构建的蓝图。</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设计有两个层次</a:t>
            </a:r>
            <a:r>
              <a:rPr lang="en-US" altLang="zh-CN" b="0" i="0" dirty="0">
                <a:solidFill>
                  <a:srgbClr val="2A2B2E"/>
                </a:solidFill>
                <a:effectLst/>
                <a:latin typeface="PingFang SC"/>
              </a:rPr>
              <a:t>:</a:t>
            </a:r>
            <a:r>
              <a:rPr lang="zh-CN" altLang="en-US" b="0" i="0" dirty="0">
                <a:solidFill>
                  <a:srgbClr val="2A2B2E"/>
                </a:solidFill>
                <a:effectLst/>
                <a:latin typeface="PingFang SC"/>
              </a:rPr>
              <a:t>架构设计和细节设计。</a:t>
            </a:r>
            <a:br>
              <a:rPr lang="zh-CN" altLang="en-US" dirty="0"/>
            </a:br>
            <a:endParaRPr lang="zh-CN" altLang="en-US" b="0" i="0" dirty="0">
              <a:solidFill>
                <a:srgbClr val="2A2B2E"/>
              </a:solidFill>
              <a:effectLst/>
              <a:latin typeface="PingFang SC"/>
            </a:endParaRPr>
          </a:p>
          <a:p>
            <a:r>
              <a:rPr lang="zh-CN" altLang="en-US" b="0" i="0" dirty="0">
                <a:solidFill>
                  <a:srgbClr val="2A2B2E"/>
                </a:solidFill>
                <a:effectLst/>
                <a:latin typeface="PingFang SC"/>
              </a:rPr>
              <a:t>功能需求的模型</a:t>
            </a:r>
            <a:r>
              <a:rPr lang="en-US" altLang="zh-CN" b="0" i="0" dirty="0">
                <a:solidFill>
                  <a:srgbClr val="2A2B2E"/>
                </a:solidFill>
                <a:effectLst/>
                <a:latin typeface="PingFang SC"/>
              </a:rPr>
              <a:t>(</a:t>
            </a:r>
            <a:r>
              <a:rPr lang="zh-CN" altLang="en-US" b="0" i="0" dirty="0">
                <a:solidFill>
                  <a:srgbClr val="2A2B2E"/>
                </a:solidFill>
                <a:effectLst/>
                <a:latin typeface="PingFang SC"/>
              </a:rPr>
              <a:t>领域模型类图、用例图、系统序列图、用例描述、状态机图和活动图</a:t>
            </a:r>
            <a:r>
              <a:rPr lang="en-US" altLang="zh-CN" b="0" i="0" dirty="0">
                <a:solidFill>
                  <a:srgbClr val="2A2B2E"/>
                </a:solidFill>
                <a:effectLst/>
                <a:latin typeface="PingFang SC"/>
              </a:rPr>
              <a:t>)</a:t>
            </a:r>
            <a:r>
              <a:rPr lang="zh-CN" altLang="en-US" b="0" i="0" dirty="0">
                <a:solidFill>
                  <a:srgbClr val="2A2B2E"/>
                </a:solidFill>
                <a:effectLst/>
                <a:latin typeface="PingFang SC"/>
              </a:rPr>
              <a:t>被用作创建设计模型的基础。</a:t>
            </a:r>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87</a:t>
            </a:fld>
            <a:endParaRPr lang="en-US" altLang="zh-CN"/>
          </a:p>
        </p:txBody>
      </p:sp>
    </p:spTree>
    <p:extLst>
      <p:ext uri="{BB962C8B-B14F-4D97-AF65-F5344CB8AC3E}">
        <p14:creationId xmlns:p14="http://schemas.microsoft.com/office/powerpoint/2010/main" val="1477306296"/>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有六个设计活动</a:t>
            </a:r>
            <a:r>
              <a:rPr lang="en-US" altLang="zh-CN" b="0" i="0" dirty="0">
                <a:solidFill>
                  <a:srgbClr val="2A2B2E"/>
                </a:solidFill>
                <a:effectLst/>
                <a:latin typeface="PingFang SC"/>
              </a:rPr>
              <a:t>:</a:t>
            </a:r>
            <a:r>
              <a:rPr lang="zh-CN" altLang="en-US" b="0" i="0" dirty="0">
                <a:solidFill>
                  <a:srgbClr val="2A2B2E"/>
                </a:solidFill>
                <a:effectLst/>
                <a:latin typeface="PingFang SC"/>
              </a:rPr>
              <a:t>设计环境、设计应用程序体系结构和软件、设计用户界面、设计系统界面、设计数据库、设计系统控制和安全性。</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第一个活动，设计环境，详细介绍。这包括为内部部署设计和为外部部署设计。</a:t>
            </a:r>
            <a:br>
              <a:rPr lang="zh-CN" altLang="en-US" dirty="0"/>
            </a:br>
            <a:endParaRPr lang="zh-CN" altLang="en-US" b="0" i="0" dirty="0">
              <a:solidFill>
                <a:srgbClr val="2A2B2E"/>
              </a:solidFill>
              <a:effectLst/>
              <a:latin typeface="PingFang SC"/>
            </a:endParaRPr>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88</a:t>
            </a:fld>
            <a:endParaRPr lang="en-US" altLang="zh-CN"/>
          </a:p>
        </p:txBody>
      </p:sp>
    </p:spTree>
    <p:extLst>
      <p:ext uri="{BB962C8B-B14F-4D97-AF65-F5344CB8AC3E}">
        <p14:creationId xmlns:p14="http://schemas.microsoft.com/office/powerpoint/2010/main" val="2431216433"/>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重要的问题是三层体系结构、使用</a:t>
            </a:r>
            <a:r>
              <a:rPr lang="en-US" altLang="zh-CN" b="0" i="0" dirty="0">
                <a:solidFill>
                  <a:srgbClr val="2A2B2E"/>
                </a:solidFill>
                <a:effectLst/>
                <a:latin typeface="PingFang SC"/>
              </a:rPr>
              <a:t>Internet</a:t>
            </a:r>
            <a:r>
              <a:rPr lang="zh-CN" altLang="en-US" b="0" i="0" dirty="0">
                <a:solidFill>
                  <a:srgbClr val="2A2B2E"/>
                </a:solidFill>
                <a:effectLst/>
                <a:latin typeface="PingFang SC"/>
              </a:rPr>
              <a:t>进行部署以及托管替代方案。</a:t>
            </a:r>
            <a:br>
              <a:rPr lang="zh-CN" altLang="en-US" dirty="0"/>
            </a:br>
            <a:endParaRPr lang="zh-CN" altLang="en-US" b="0" i="0" dirty="0">
              <a:solidFill>
                <a:srgbClr val="2A2B2E"/>
              </a:solidFill>
              <a:effectLst/>
              <a:latin typeface="PingFang SC"/>
            </a:endParaRPr>
          </a:p>
          <a:p>
            <a:r>
              <a:rPr lang="zh-CN" altLang="en-US" b="0" i="0" dirty="0">
                <a:solidFill>
                  <a:srgbClr val="2A2B2E"/>
                </a:solidFill>
                <a:effectLst/>
                <a:latin typeface="PingFang SC"/>
              </a:rPr>
              <a:t>托管替代方案包括主机托管、托管服务、虚拟服务器和云计算。</a:t>
            </a:r>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89</a:t>
            </a:fld>
            <a:endParaRPr lang="en-US" altLang="zh-CN"/>
          </a:p>
        </p:txBody>
      </p:sp>
    </p:spTree>
    <p:extLst>
      <p:ext uri="{BB962C8B-B14F-4D97-AF65-F5344CB8AC3E}">
        <p14:creationId xmlns:p14="http://schemas.microsoft.com/office/powerpoint/2010/main" val="31383730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Line 2">
            <a:extLst>
              <a:ext uri="{FF2B5EF4-FFF2-40B4-BE49-F238E27FC236}">
                <a16:creationId xmlns:a16="http://schemas.microsoft.com/office/drawing/2014/main" id="{54AB6BD7-B7F0-464D-A324-DFB0AB45A1EA}"/>
              </a:ext>
            </a:extLst>
          </p:cNvPr>
          <p:cNvSpPr>
            <a:spLocks noChangeShapeType="1"/>
          </p:cNvSpPr>
          <p:nvPr/>
        </p:nvSpPr>
        <p:spPr bwMode="auto">
          <a:xfrm>
            <a:off x="7315200" y="1066800"/>
            <a:ext cx="0" cy="4495800"/>
          </a:xfrm>
          <a:prstGeom prst="line">
            <a:avLst/>
          </a:prstGeom>
          <a:noFill/>
          <a:ln w="9525">
            <a:solidFill>
              <a:schemeClr val="tx1"/>
            </a:solidFill>
            <a:round/>
            <a:headEnd/>
            <a:tailEnd/>
          </a:ln>
          <a:effectLst/>
        </p:spPr>
        <p:txBody>
          <a:bodyPr/>
          <a:lstStyle/>
          <a:p>
            <a:pPr>
              <a:defRPr/>
            </a:pPr>
            <a:endParaRPr lang="en-US">
              <a:latin typeface="Arial" charset="0"/>
              <a:cs typeface="Arial" charset="0"/>
            </a:endParaRPr>
          </a:p>
        </p:txBody>
      </p:sp>
      <p:grpSp>
        <p:nvGrpSpPr>
          <p:cNvPr id="5" name="Group 8">
            <a:extLst>
              <a:ext uri="{FF2B5EF4-FFF2-40B4-BE49-F238E27FC236}">
                <a16:creationId xmlns:a16="http://schemas.microsoft.com/office/drawing/2014/main" id="{2B1A1417-F0D3-4945-9A06-CFD484633B0D}"/>
              </a:ext>
            </a:extLst>
          </p:cNvPr>
          <p:cNvGrpSpPr>
            <a:grpSpLocks/>
          </p:cNvGrpSpPr>
          <p:nvPr/>
        </p:nvGrpSpPr>
        <p:grpSpPr bwMode="auto">
          <a:xfrm>
            <a:off x="7493000" y="2992438"/>
            <a:ext cx="1338263" cy="2189162"/>
            <a:chOff x="4704" y="1885"/>
            <a:chExt cx="843" cy="1379"/>
          </a:xfrm>
        </p:grpSpPr>
        <p:sp>
          <p:nvSpPr>
            <p:cNvPr id="6" name="Oval 9">
              <a:extLst>
                <a:ext uri="{FF2B5EF4-FFF2-40B4-BE49-F238E27FC236}">
                  <a16:creationId xmlns:a16="http://schemas.microsoft.com/office/drawing/2014/main" id="{869DF303-0002-4E98-96F3-B10EAC5BF67E}"/>
                </a:ext>
              </a:extLst>
            </p:cNvPr>
            <p:cNvSpPr>
              <a:spLocks noChangeArrowheads="1"/>
            </p:cNvSpPr>
            <p:nvPr/>
          </p:nvSpPr>
          <p:spPr bwMode="auto">
            <a:xfrm>
              <a:off x="4704" y="1885"/>
              <a:ext cx="127" cy="127"/>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7" name="Oval 10">
              <a:extLst>
                <a:ext uri="{FF2B5EF4-FFF2-40B4-BE49-F238E27FC236}">
                  <a16:creationId xmlns:a16="http://schemas.microsoft.com/office/drawing/2014/main" id="{7B2ED7E4-E1F2-41E3-B2AD-02C1B7F34BFC}"/>
                </a:ext>
              </a:extLst>
            </p:cNvPr>
            <p:cNvSpPr>
              <a:spLocks noChangeArrowheads="1"/>
            </p:cNvSpPr>
            <p:nvPr/>
          </p:nvSpPr>
          <p:spPr bwMode="auto">
            <a:xfrm>
              <a:off x="4883" y="1885"/>
              <a:ext cx="127" cy="127"/>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8" name="Oval 11">
              <a:extLst>
                <a:ext uri="{FF2B5EF4-FFF2-40B4-BE49-F238E27FC236}">
                  <a16:creationId xmlns:a16="http://schemas.microsoft.com/office/drawing/2014/main" id="{E3F688DE-95F0-4054-AB98-24B84AC31CB9}"/>
                </a:ext>
              </a:extLst>
            </p:cNvPr>
            <p:cNvSpPr>
              <a:spLocks noChangeArrowheads="1"/>
            </p:cNvSpPr>
            <p:nvPr/>
          </p:nvSpPr>
          <p:spPr bwMode="auto">
            <a:xfrm>
              <a:off x="5062" y="1885"/>
              <a:ext cx="127" cy="127"/>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9" name="Oval 12">
              <a:extLst>
                <a:ext uri="{FF2B5EF4-FFF2-40B4-BE49-F238E27FC236}">
                  <a16:creationId xmlns:a16="http://schemas.microsoft.com/office/drawing/2014/main" id="{88DB5376-0F60-4D4A-B3A5-7EEF72AC6688}"/>
                </a:ext>
              </a:extLst>
            </p:cNvPr>
            <p:cNvSpPr>
              <a:spLocks noChangeArrowheads="1"/>
            </p:cNvSpPr>
            <p:nvPr/>
          </p:nvSpPr>
          <p:spPr bwMode="auto">
            <a:xfrm>
              <a:off x="4704" y="2064"/>
              <a:ext cx="127" cy="127"/>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0" name="Oval 13">
              <a:extLst>
                <a:ext uri="{FF2B5EF4-FFF2-40B4-BE49-F238E27FC236}">
                  <a16:creationId xmlns:a16="http://schemas.microsoft.com/office/drawing/2014/main" id="{068CC8CA-0B37-4366-B8A2-F4224A0DBE18}"/>
                </a:ext>
              </a:extLst>
            </p:cNvPr>
            <p:cNvSpPr>
              <a:spLocks noChangeArrowheads="1"/>
            </p:cNvSpPr>
            <p:nvPr/>
          </p:nvSpPr>
          <p:spPr bwMode="auto">
            <a:xfrm>
              <a:off x="4883" y="2064"/>
              <a:ext cx="127" cy="127"/>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1" name="Oval 14">
              <a:extLst>
                <a:ext uri="{FF2B5EF4-FFF2-40B4-BE49-F238E27FC236}">
                  <a16:creationId xmlns:a16="http://schemas.microsoft.com/office/drawing/2014/main" id="{8E3404F1-3A4B-49A1-887B-D5C492AF0E6E}"/>
                </a:ext>
              </a:extLst>
            </p:cNvPr>
            <p:cNvSpPr>
              <a:spLocks noChangeArrowheads="1"/>
            </p:cNvSpPr>
            <p:nvPr/>
          </p:nvSpPr>
          <p:spPr bwMode="auto">
            <a:xfrm>
              <a:off x="5062" y="2064"/>
              <a:ext cx="127" cy="127"/>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2" name="Oval 15">
              <a:extLst>
                <a:ext uri="{FF2B5EF4-FFF2-40B4-BE49-F238E27FC236}">
                  <a16:creationId xmlns:a16="http://schemas.microsoft.com/office/drawing/2014/main" id="{2FC9366E-1FB4-404C-A5B8-9024C10D7371}"/>
                </a:ext>
              </a:extLst>
            </p:cNvPr>
            <p:cNvSpPr>
              <a:spLocks noChangeArrowheads="1"/>
            </p:cNvSpPr>
            <p:nvPr/>
          </p:nvSpPr>
          <p:spPr bwMode="auto">
            <a:xfrm>
              <a:off x="5241" y="2064"/>
              <a:ext cx="127" cy="127"/>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13" name="Oval 16">
              <a:extLst>
                <a:ext uri="{FF2B5EF4-FFF2-40B4-BE49-F238E27FC236}">
                  <a16:creationId xmlns:a16="http://schemas.microsoft.com/office/drawing/2014/main" id="{389C9AF1-0133-49E7-8B6A-07ECE065C030}"/>
                </a:ext>
              </a:extLst>
            </p:cNvPr>
            <p:cNvSpPr>
              <a:spLocks noChangeArrowheads="1"/>
            </p:cNvSpPr>
            <p:nvPr/>
          </p:nvSpPr>
          <p:spPr bwMode="auto">
            <a:xfrm>
              <a:off x="4704" y="2243"/>
              <a:ext cx="127" cy="127"/>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4" name="Oval 17">
              <a:extLst>
                <a:ext uri="{FF2B5EF4-FFF2-40B4-BE49-F238E27FC236}">
                  <a16:creationId xmlns:a16="http://schemas.microsoft.com/office/drawing/2014/main" id="{C29789FB-B8F3-43E5-BF51-9DA26082ECD9}"/>
                </a:ext>
              </a:extLst>
            </p:cNvPr>
            <p:cNvSpPr>
              <a:spLocks noChangeArrowheads="1"/>
            </p:cNvSpPr>
            <p:nvPr/>
          </p:nvSpPr>
          <p:spPr bwMode="auto">
            <a:xfrm>
              <a:off x="4883" y="2243"/>
              <a:ext cx="127" cy="127"/>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5" name="Oval 18">
              <a:extLst>
                <a:ext uri="{FF2B5EF4-FFF2-40B4-BE49-F238E27FC236}">
                  <a16:creationId xmlns:a16="http://schemas.microsoft.com/office/drawing/2014/main" id="{22B6A461-3CD0-4BF5-AFF9-FE5E941D664C}"/>
                </a:ext>
              </a:extLst>
            </p:cNvPr>
            <p:cNvSpPr>
              <a:spLocks noChangeArrowheads="1"/>
            </p:cNvSpPr>
            <p:nvPr/>
          </p:nvSpPr>
          <p:spPr bwMode="auto">
            <a:xfrm>
              <a:off x="5062" y="2243"/>
              <a:ext cx="127" cy="127"/>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16" name="Oval 19">
              <a:extLst>
                <a:ext uri="{FF2B5EF4-FFF2-40B4-BE49-F238E27FC236}">
                  <a16:creationId xmlns:a16="http://schemas.microsoft.com/office/drawing/2014/main" id="{9B9ACF2D-3DAF-4B53-92FD-82A686309370}"/>
                </a:ext>
              </a:extLst>
            </p:cNvPr>
            <p:cNvSpPr>
              <a:spLocks noChangeArrowheads="1"/>
            </p:cNvSpPr>
            <p:nvPr/>
          </p:nvSpPr>
          <p:spPr bwMode="auto">
            <a:xfrm>
              <a:off x="5241" y="2243"/>
              <a:ext cx="127" cy="127"/>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17" name="Oval 20">
              <a:extLst>
                <a:ext uri="{FF2B5EF4-FFF2-40B4-BE49-F238E27FC236}">
                  <a16:creationId xmlns:a16="http://schemas.microsoft.com/office/drawing/2014/main" id="{9C6B06DF-0DD7-4E4A-940C-F02B864AD087}"/>
                </a:ext>
              </a:extLst>
            </p:cNvPr>
            <p:cNvSpPr>
              <a:spLocks noChangeArrowheads="1"/>
            </p:cNvSpPr>
            <p:nvPr/>
          </p:nvSpPr>
          <p:spPr bwMode="auto">
            <a:xfrm>
              <a:off x="5420" y="2243"/>
              <a:ext cx="127" cy="127"/>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18" name="Oval 21">
              <a:extLst>
                <a:ext uri="{FF2B5EF4-FFF2-40B4-BE49-F238E27FC236}">
                  <a16:creationId xmlns:a16="http://schemas.microsoft.com/office/drawing/2014/main" id="{908ACC52-6851-4E5C-AC01-BAD80AEA0896}"/>
                </a:ext>
              </a:extLst>
            </p:cNvPr>
            <p:cNvSpPr>
              <a:spLocks noChangeArrowheads="1"/>
            </p:cNvSpPr>
            <p:nvPr/>
          </p:nvSpPr>
          <p:spPr bwMode="auto">
            <a:xfrm>
              <a:off x="4704" y="2421"/>
              <a:ext cx="127" cy="128"/>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9" name="Oval 22">
              <a:extLst>
                <a:ext uri="{FF2B5EF4-FFF2-40B4-BE49-F238E27FC236}">
                  <a16:creationId xmlns:a16="http://schemas.microsoft.com/office/drawing/2014/main" id="{79B931BC-E175-4661-AE18-07DEA27C38BD}"/>
                </a:ext>
              </a:extLst>
            </p:cNvPr>
            <p:cNvSpPr>
              <a:spLocks noChangeArrowheads="1"/>
            </p:cNvSpPr>
            <p:nvPr/>
          </p:nvSpPr>
          <p:spPr bwMode="auto">
            <a:xfrm>
              <a:off x="4883" y="2421"/>
              <a:ext cx="127" cy="128"/>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20" name="Oval 23">
              <a:extLst>
                <a:ext uri="{FF2B5EF4-FFF2-40B4-BE49-F238E27FC236}">
                  <a16:creationId xmlns:a16="http://schemas.microsoft.com/office/drawing/2014/main" id="{42B5C5DD-C00F-4B2E-B803-85A670EB64AB}"/>
                </a:ext>
              </a:extLst>
            </p:cNvPr>
            <p:cNvSpPr>
              <a:spLocks noChangeArrowheads="1"/>
            </p:cNvSpPr>
            <p:nvPr/>
          </p:nvSpPr>
          <p:spPr bwMode="auto">
            <a:xfrm>
              <a:off x="5062" y="2421"/>
              <a:ext cx="127" cy="128"/>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21" name="Oval 24">
              <a:extLst>
                <a:ext uri="{FF2B5EF4-FFF2-40B4-BE49-F238E27FC236}">
                  <a16:creationId xmlns:a16="http://schemas.microsoft.com/office/drawing/2014/main" id="{79B69959-C87D-4F6D-B6DF-BE6349DBA0FC}"/>
                </a:ext>
              </a:extLst>
            </p:cNvPr>
            <p:cNvSpPr>
              <a:spLocks noChangeArrowheads="1"/>
            </p:cNvSpPr>
            <p:nvPr/>
          </p:nvSpPr>
          <p:spPr bwMode="auto">
            <a:xfrm>
              <a:off x="5241" y="2421"/>
              <a:ext cx="127" cy="128"/>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22" name="Oval 25">
              <a:extLst>
                <a:ext uri="{FF2B5EF4-FFF2-40B4-BE49-F238E27FC236}">
                  <a16:creationId xmlns:a16="http://schemas.microsoft.com/office/drawing/2014/main" id="{940685EE-3E88-43FC-85E8-409AB3DCF887}"/>
                </a:ext>
              </a:extLst>
            </p:cNvPr>
            <p:cNvSpPr>
              <a:spLocks noChangeArrowheads="1"/>
            </p:cNvSpPr>
            <p:nvPr/>
          </p:nvSpPr>
          <p:spPr bwMode="auto">
            <a:xfrm>
              <a:off x="4704" y="2600"/>
              <a:ext cx="127" cy="128"/>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23" name="Oval 26">
              <a:extLst>
                <a:ext uri="{FF2B5EF4-FFF2-40B4-BE49-F238E27FC236}">
                  <a16:creationId xmlns:a16="http://schemas.microsoft.com/office/drawing/2014/main" id="{A69ECDD4-2EC3-4CFE-8E67-A710EB6C0F2B}"/>
                </a:ext>
              </a:extLst>
            </p:cNvPr>
            <p:cNvSpPr>
              <a:spLocks noChangeArrowheads="1"/>
            </p:cNvSpPr>
            <p:nvPr/>
          </p:nvSpPr>
          <p:spPr bwMode="auto">
            <a:xfrm>
              <a:off x="4883" y="2600"/>
              <a:ext cx="127" cy="128"/>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24" name="Oval 27">
              <a:extLst>
                <a:ext uri="{FF2B5EF4-FFF2-40B4-BE49-F238E27FC236}">
                  <a16:creationId xmlns:a16="http://schemas.microsoft.com/office/drawing/2014/main" id="{ADA72BEA-1D38-4159-B1A9-1834AFE88E07}"/>
                </a:ext>
              </a:extLst>
            </p:cNvPr>
            <p:cNvSpPr>
              <a:spLocks noChangeArrowheads="1"/>
            </p:cNvSpPr>
            <p:nvPr/>
          </p:nvSpPr>
          <p:spPr bwMode="auto">
            <a:xfrm>
              <a:off x="5062" y="2600"/>
              <a:ext cx="127" cy="128"/>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25" name="Oval 28">
              <a:extLst>
                <a:ext uri="{FF2B5EF4-FFF2-40B4-BE49-F238E27FC236}">
                  <a16:creationId xmlns:a16="http://schemas.microsoft.com/office/drawing/2014/main" id="{D2CE7DF5-FCA9-43F4-8ACD-F17A63D5D01D}"/>
                </a:ext>
              </a:extLst>
            </p:cNvPr>
            <p:cNvSpPr>
              <a:spLocks noChangeArrowheads="1"/>
            </p:cNvSpPr>
            <p:nvPr/>
          </p:nvSpPr>
          <p:spPr bwMode="auto">
            <a:xfrm>
              <a:off x="5241" y="2600"/>
              <a:ext cx="127" cy="128"/>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26" name="Oval 29">
              <a:extLst>
                <a:ext uri="{FF2B5EF4-FFF2-40B4-BE49-F238E27FC236}">
                  <a16:creationId xmlns:a16="http://schemas.microsoft.com/office/drawing/2014/main" id="{D61039ED-57B9-482A-9FD1-B677C6473F69}"/>
                </a:ext>
              </a:extLst>
            </p:cNvPr>
            <p:cNvSpPr>
              <a:spLocks noChangeArrowheads="1"/>
            </p:cNvSpPr>
            <p:nvPr/>
          </p:nvSpPr>
          <p:spPr bwMode="auto">
            <a:xfrm>
              <a:off x="5420" y="2600"/>
              <a:ext cx="127" cy="128"/>
            </a:xfrm>
            <a:prstGeom prst="ellipse">
              <a:avLst/>
            </a:prstGeom>
            <a:solidFill>
              <a:schemeClr val="folHlink"/>
            </a:solidFill>
            <a:ln w="9525">
              <a:noFill/>
              <a:round/>
              <a:headEnd/>
              <a:tailEnd/>
            </a:ln>
            <a:effectLst/>
          </p:spPr>
          <p:txBody>
            <a:bodyPr wrap="none" anchor="ctr"/>
            <a:lstStyle/>
            <a:p>
              <a:pPr>
                <a:defRPr/>
              </a:pPr>
              <a:endParaRPr lang="en-US">
                <a:latin typeface="Arial" charset="0"/>
                <a:cs typeface="Arial" charset="0"/>
              </a:endParaRPr>
            </a:p>
          </p:txBody>
        </p:sp>
        <p:sp>
          <p:nvSpPr>
            <p:cNvPr id="27" name="Oval 30">
              <a:extLst>
                <a:ext uri="{FF2B5EF4-FFF2-40B4-BE49-F238E27FC236}">
                  <a16:creationId xmlns:a16="http://schemas.microsoft.com/office/drawing/2014/main" id="{BD61A2E4-3FAF-43BC-876E-4E57E20A34B4}"/>
                </a:ext>
              </a:extLst>
            </p:cNvPr>
            <p:cNvSpPr>
              <a:spLocks noChangeArrowheads="1"/>
            </p:cNvSpPr>
            <p:nvPr/>
          </p:nvSpPr>
          <p:spPr bwMode="auto">
            <a:xfrm>
              <a:off x="4704" y="2779"/>
              <a:ext cx="127" cy="127"/>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28" name="Oval 31">
              <a:extLst>
                <a:ext uri="{FF2B5EF4-FFF2-40B4-BE49-F238E27FC236}">
                  <a16:creationId xmlns:a16="http://schemas.microsoft.com/office/drawing/2014/main" id="{4A6D36CC-C1A4-4FCA-A0B5-30676A51DC96}"/>
                </a:ext>
              </a:extLst>
            </p:cNvPr>
            <p:cNvSpPr>
              <a:spLocks noChangeArrowheads="1"/>
            </p:cNvSpPr>
            <p:nvPr/>
          </p:nvSpPr>
          <p:spPr bwMode="auto">
            <a:xfrm>
              <a:off x="4883" y="2779"/>
              <a:ext cx="127" cy="127"/>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29" name="Oval 32">
              <a:extLst>
                <a:ext uri="{FF2B5EF4-FFF2-40B4-BE49-F238E27FC236}">
                  <a16:creationId xmlns:a16="http://schemas.microsoft.com/office/drawing/2014/main" id="{07566216-EFC2-48E5-AE3C-0F2ADD242802}"/>
                </a:ext>
              </a:extLst>
            </p:cNvPr>
            <p:cNvSpPr>
              <a:spLocks noChangeArrowheads="1"/>
            </p:cNvSpPr>
            <p:nvPr/>
          </p:nvSpPr>
          <p:spPr bwMode="auto">
            <a:xfrm>
              <a:off x="5062" y="2779"/>
              <a:ext cx="127" cy="127"/>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30" name="Oval 33">
              <a:extLst>
                <a:ext uri="{FF2B5EF4-FFF2-40B4-BE49-F238E27FC236}">
                  <a16:creationId xmlns:a16="http://schemas.microsoft.com/office/drawing/2014/main" id="{D801DEC2-799A-420B-B18A-491546E045D0}"/>
                </a:ext>
              </a:extLst>
            </p:cNvPr>
            <p:cNvSpPr>
              <a:spLocks noChangeArrowheads="1"/>
            </p:cNvSpPr>
            <p:nvPr/>
          </p:nvSpPr>
          <p:spPr bwMode="auto">
            <a:xfrm>
              <a:off x="5241" y="2779"/>
              <a:ext cx="127" cy="127"/>
            </a:xfrm>
            <a:prstGeom prst="ellipse">
              <a:avLst/>
            </a:prstGeom>
            <a:solidFill>
              <a:schemeClr val="folHlink"/>
            </a:solidFill>
            <a:ln w="9525">
              <a:noFill/>
              <a:round/>
              <a:headEnd/>
              <a:tailEnd/>
            </a:ln>
            <a:effectLst/>
          </p:spPr>
          <p:txBody>
            <a:bodyPr wrap="none" anchor="ctr"/>
            <a:lstStyle/>
            <a:p>
              <a:pPr>
                <a:defRPr/>
              </a:pPr>
              <a:endParaRPr lang="en-US">
                <a:latin typeface="Arial" charset="0"/>
                <a:cs typeface="Arial" charset="0"/>
              </a:endParaRPr>
            </a:p>
          </p:txBody>
        </p:sp>
        <p:sp>
          <p:nvSpPr>
            <p:cNvPr id="31" name="Oval 34">
              <a:extLst>
                <a:ext uri="{FF2B5EF4-FFF2-40B4-BE49-F238E27FC236}">
                  <a16:creationId xmlns:a16="http://schemas.microsoft.com/office/drawing/2014/main" id="{EE90DBF0-51B5-4492-986A-AC17CC8FEF6D}"/>
                </a:ext>
              </a:extLst>
            </p:cNvPr>
            <p:cNvSpPr>
              <a:spLocks noChangeArrowheads="1"/>
            </p:cNvSpPr>
            <p:nvPr/>
          </p:nvSpPr>
          <p:spPr bwMode="auto">
            <a:xfrm>
              <a:off x="4704" y="2958"/>
              <a:ext cx="127" cy="127"/>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32" name="Oval 35">
              <a:extLst>
                <a:ext uri="{FF2B5EF4-FFF2-40B4-BE49-F238E27FC236}">
                  <a16:creationId xmlns:a16="http://schemas.microsoft.com/office/drawing/2014/main" id="{9AF528FB-E035-4058-9F10-31B7F32ECC63}"/>
                </a:ext>
              </a:extLst>
            </p:cNvPr>
            <p:cNvSpPr>
              <a:spLocks noChangeArrowheads="1"/>
            </p:cNvSpPr>
            <p:nvPr/>
          </p:nvSpPr>
          <p:spPr bwMode="auto">
            <a:xfrm>
              <a:off x="4883" y="2958"/>
              <a:ext cx="127" cy="127"/>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33" name="Oval 36">
              <a:extLst>
                <a:ext uri="{FF2B5EF4-FFF2-40B4-BE49-F238E27FC236}">
                  <a16:creationId xmlns:a16="http://schemas.microsoft.com/office/drawing/2014/main" id="{10FBE228-FAA5-480C-AD37-5EFF5B12B20D}"/>
                </a:ext>
              </a:extLst>
            </p:cNvPr>
            <p:cNvSpPr>
              <a:spLocks noChangeArrowheads="1"/>
            </p:cNvSpPr>
            <p:nvPr/>
          </p:nvSpPr>
          <p:spPr bwMode="auto">
            <a:xfrm>
              <a:off x="5062" y="2958"/>
              <a:ext cx="127" cy="127"/>
            </a:xfrm>
            <a:prstGeom prst="ellipse">
              <a:avLst/>
            </a:prstGeom>
            <a:solidFill>
              <a:schemeClr val="folHlink"/>
            </a:solidFill>
            <a:ln w="9525">
              <a:noFill/>
              <a:round/>
              <a:headEnd/>
              <a:tailEnd/>
            </a:ln>
            <a:effectLst/>
          </p:spPr>
          <p:txBody>
            <a:bodyPr wrap="none" anchor="ctr"/>
            <a:lstStyle/>
            <a:p>
              <a:pPr>
                <a:defRPr/>
              </a:pPr>
              <a:endParaRPr lang="en-US">
                <a:latin typeface="Arial" charset="0"/>
                <a:cs typeface="Arial" charset="0"/>
              </a:endParaRPr>
            </a:p>
          </p:txBody>
        </p:sp>
        <p:sp>
          <p:nvSpPr>
            <p:cNvPr id="34" name="Oval 37">
              <a:extLst>
                <a:ext uri="{FF2B5EF4-FFF2-40B4-BE49-F238E27FC236}">
                  <a16:creationId xmlns:a16="http://schemas.microsoft.com/office/drawing/2014/main" id="{FB2DEDCC-B362-4C2B-A4DB-A473C88D9AF4}"/>
                </a:ext>
              </a:extLst>
            </p:cNvPr>
            <p:cNvSpPr>
              <a:spLocks noChangeArrowheads="1"/>
            </p:cNvSpPr>
            <p:nvPr/>
          </p:nvSpPr>
          <p:spPr bwMode="auto">
            <a:xfrm>
              <a:off x="5241" y="2958"/>
              <a:ext cx="127" cy="127"/>
            </a:xfrm>
            <a:prstGeom prst="ellipse">
              <a:avLst/>
            </a:prstGeom>
            <a:solidFill>
              <a:schemeClr val="folHlink"/>
            </a:solidFill>
            <a:ln w="9525">
              <a:noFill/>
              <a:round/>
              <a:headEnd/>
              <a:tailEnd/>
            </a:ln>
            <a:effectLst/>
          </p:spPr>
          <p:txBody>
            <a:bodyPr wrap="none" anchor="ctr"/>
            <a:lstStyle/>
            <a:p>
              <a:pPr>
                <a:defRPr/>
              </a:pPr>
              <a:endParaRPr lang="en-US">
                <a:latin typeface="Arial" charset="0"/>
                <a:cs typeface="Arial" charset="0"/>
              </a:endParaRPr>
            </a:p>
          </p:txBody>
        </p:sp>
        <p:sp>
          <p:nvSpPr>
            <p:cNvPr id="35" name="Oval 38">
              <a:extLst>
                <a:ext uri="{FF2B5EF4-FFF2-40B4-BE49-F238E27FC236}">
                  <a16:creationId xmlns:a16="http://schemas.microsoft.com/office/drawing/2014/main" id="{3E325066-6B1B-4CF6-9459-6DF2D0A0AE11}"/>
                </a:ext>
              </a:extLst>
            </p:cNvPr>
            <p:cNvSpPr>
              <a:spLocks noChangeArrowheads="1"/>
            </p:cNvSpPr>
            <p:nvPr/>
          </p:nvSpPr>
          <p:spPr bwMode="auto">
            <a:xfrm>
              <a:off x="4883" y="3137"/>
              <a:ext cx="127" cy="127"/>
            </a:xfrm>
            <a:prstGeom prst="ellipse">
              <a:avLst/>
            </a:prstGeom>
            <a:solidFill>
              <a:schemeClr val="folHlink"/>
            </a:solidFill>
            <a:ln w="9525">
              <a:noFill/>
              <a:round/>
              <a:headEnd/>
              <a:tailEnd/>
            </a:ln>
            <a:effectLst/>
          </p:spPr>
          <p:txBody>
            <a:bodyPr wrap="none" anchor="ctr"/>
            <a:lstStyle/>
            <a:p>
              <a:pPr>
                <a:defRPr/>
              </a:pPr>
              <a:endParaRPr lang="en-US">
                <a:latin typeface="Arial" charset="0"/>
                <a:cs typeface="Arial" charset="0"/>
              </a:endParaRPr>
            </a:p>
          </p:txBody>
        </p:sp>
        <p:sp>
          <p:nvSpPr>
            <p:cNvPr id="36" name="Oval 39">
              <a:extLst>
                <a:ext uri="{FF2B5EF4-FFF2-40B4-BE49-F238E27FC236}">
                  <a16:creationId xmlns:a16="http://schemas.microsoft.com/office/drawing/2014/main" id="{93DF9E16-757F-4CBD-B117-02A2EB289A97}"/>
                </a:ext>
              </a:extLst>
            </p:cNvPr>
            <p:cNvSpPr>
              <a:spLocks noChangeArrowheads="1"/>
            </p:cNvSpPr>
            <p:nvPr/>
          </p:nvSpPr>
          <p:spPr bwMode="auto">
            <a:xfrm>
              <a:off x="5241" y="3137"/>
              <a:ext cx="127" cy="127"/>
            </a:xfrm>
            <a:prstGeom prst="ellipse">
              <a:avLst/>
            </a:prstGeom>
            <a:solidFill>
              <a:schemeClr val="folHlink"/>
            </a:solidFill>
            <a:ln w="9525">
              <a:noFill/>
              <a:round/>
              <a:headEnd/>
              <a:tailEnd/>
            </a:ln>
            <a:effectLst/>
          </p:spPr>
          <p:txBody>
            <a:bodyPr wrap="none" anchor="ctr"/>
            <a:lstStyle/>
            <a:p>
              <a:pPr>
                <a:defRPr/>
              </a:pPr>
              <a:endParaRPr lang="en-US">
                <a:latin typeface="Arial" charset="0"/>
                <a:cs typeface="Arial" charset="0"/>
              </a:endParaRPr>
            </a:p>
          </p:txBody>
        </p:sp>
      </p:grpSp>
      <p:sp>
        <p:nvSpPr>
          <p:cNvPr id="37" name="Line 40">
            <a:extLst>
              <a:ext uri="{FF2B5EF4-FFF2-40B4-BE49-F238E27FC236}">
                <a16:creationId xmlns:a16="http://schemas.microsoft.com/office/drawing/2014/main" id="{2F1AFB32-ADF4-4D84-AD3F-B2FAFFF07681}"/>
              </a:ext>
            </a:extLst>
          </p:cNvPr>
          <p:cNvSpPr>
            <a:spLocks noChangeShapeType="1"/>
          </p:cNvSpPr>
          <p:nvPr/>
        </p:nvSpPr>
        <p:spPr bwMode="auto">
          <a:xfrm>
            <a:off x="304800" y="2819400"/>
            <a:ext cx="8229600" cy="0"/>
          </a:xfrm>
          <a:prstGeom prst="line">
            <a:avLst/>
          </a:prstGeom>
          <a:noFill/>
          <a:ln w="6350">
            <a:solidFill>
              <a:schemeClr val="tx1"/>
            </a:solidFill>
            <a:round/>
            <a:headEnd/>
            <a:tailEnd/>
          </a:ln>
          <a:effectLst/>
        </p:spPr>
        <p:txBody>
          <a:bodyPr/>
          <a:lstStyle/>
          <a:p>
            <a:pPr>
              <a:defRPr/>
            </a:pPr>
            <a:endParaRPr lang="en-US">
              <a:latin typeface="Arial" charset="0"/>
              <a:cs typeface="Arial" charset="0"/>
            </a:endParaRPr>
          </a:p>
        </p:txBody>
      </p:sp>
      <p:sp>
        <p:nvSpPr>
          <p:cNvPr id="38" name="Rectangle 41">
            <a:extLst>
              <a:ext uri="{FF2B5EF4-FFF2-40B4-BE49-F238E27FC236}">
                <a16:creationId xmlns:a16="http://schemas.microsoft.com/office/drawing/2014/main" id="{49A36961-B183-49BF-8078-DC289C9A3E71}"/>
              </a:ext>
            </a:extLst>
          </p:cNvPr>
          <p:cNvSpPr>
            <a:spLocks noChangeArrowheads="1"/>
          </p:cNvSpPr>
          <p:nvPr/>
        </p:nvSpPr>
        <p:spPr bwMode="auto">
          <a:xfrm>
            <a:off x="457200" y="1676400"/>
            <a:ext cx="6781800" cy="1076325"/>
          </a:xfrm>
          <a:prstGeom prst="rect">
            <a:avLst/>
          </a:prstGeom>
          <a:noFill/>
          <a:ln w="9525">
            <a:noFill/>
            <a:miter lim="800000"/>
            <a:headEnd/>
            <a:tailEnd/>
          </a:ln>
          <a:effectLst/>
        </p:spPr>
        <p:txBody>
          <a:bodyPr anchor="b"/>
          <a:lstStyle/>
          <a:p>
            <a:pPr algn="r">
              <a:defRPr/>
            </a:pPr>
            <a:endParaRPr lang="en-US" altLang="en-US" sz="3200" b="1">
              <a:solidFill>
                <a:schemeClr val="tx2"/>
              </a:solidFill>
              <a:latin typeface="Arial" charset="0"/>
              <a:cs typeface="Arial" charset="0"/>
            </a:endParaRPr>
          </a:p>
        </p:txBody>
      </p:sp>
      <p:sp>
        <p:nvSpPr>
          <p:cNvPr id="120835" name="Rectangle 3"/>
          <p:cNvSpPr>
            <a:spLocks noGrp="1" noChangeArrowheads="1"/>
          </p:cNvSpPr>
          <p:nvPr>
            <p:ph type="ctrTitle"/>
          </p:nvPr>
        </p:nvSpPr>
        <p:spPr>
          <a:xfrm>
            <a:off x="304800" y="304800"/>
            <a:ext cx="6781800" cy="1076325"/>
          </a:xfrm>
        </p:spPr>
        <p:txBody>
          <a:bodyPr/>
          <a:lstStyle>
            <a:lvl1pPr algn="r">
              <a:defRPr sz="3200"/>
            </a:lvl1pPr>
          </a:lstStyle>
          <a:p>
            <a:r>
              <a:rPr lang="en-US" altLang="en-US"/>
              <a:t>Click to edit Master title style</a:t>
            </a:r>
          </a:p>
        </p:txBody>
      </p:sp>
      <p:sp>
        <p:nvSpPr>
          <p:cNvPr id="120836" name="Rectangle 4"/>
          <p:cNvSpPr>
            <a:spLocks noGrp="1" noChangeArrowheads="1"/>
          </p:cNvSpPr>
          <p:nvPr>
            <p:ph type="subTitle" idx="1"/>
          </p:nvPr>
        </p:nvSpPr>
        <p:spPr>
          <a:xfrm>
            <a:off x="914400" y="3048000"/>
            <a:ext cx="6248400" cy="2362200"/>
          </a:xfrm>
        </p:spPr>
        <p:txBody>
          <a:bodyPr/>
          <a:lstStyle>
            <a:lvl1pPr marL="0" indent="0" algn="r">
              <a:buFont typeface="Wingdings" pitchFamily="2" charset="2"/>
              <a:buNone/>
              <a:defRPr sz="3200"/>
            </a:lvl1pPr>
          </a:lstStyle>
          <a:p>
            <a:r>
              <a:rPr lang="en-US" altLang="en-US"/>
              <a:t>Click to edit Master subtitle style</a:t>
            </a:r>
          </a:p>
        </p:txBody>
      </p:sp>
      <p:sp>
        <p:nvSpPr>
          <p:cNvPr id="39" name="Rectangle 5">
            <a:extLst>
              <a:ext uri="{FF2B5EF4-FFF2-40B4-BE49-F238E27FC236}">
                <a16:creationId xmlns:a16="http://schemas.microsoft.com/office/drawing/2014/main" id="{6AA9A22D-8CCA-47A6-BFDA-F0ECA088B15C}"/>
              </a:ext>
            </a:extLst>
          </p:cNvPr>
          <p:cNvSpPr>
            <a:spLocks noGrp="1" noChangeArrowheads="1"/>
          </p:cNvSpPr>
          <p:nvPr>
            <p:ph type="dt" sz="half" idx="10"/>
          </p:nvPr>
        </p:nvSpPr>
        <p:spPr>
          <a:xfrm>
            <a:off x="457200" y="6248400"/>
            <a:ext cx="1371600" cy="457200"/>
          </a:xfrm>
        </p:spPr>
        <p:txBody>
          <a:bodyPr/>
          <a:lstStyle>
            <a:lvl1pPr>
              <a:defRPr/>
            </a:lvl1pPr>
          </a:lstStyle>
          <a:p>
            <a:pPr>
              <a:defRPr/>
            </a:pPr>
            <a:endParaRPr lang="en-US" altLang="en-US"/>
          </a:p>
        </p:txBody>
      </p:sp>
      <p:sp>
        <p:nvSpPr>
          <p:cNvPr id="40" name="Rectangle 6">
            <a:extLst>
              <a:ext uri="{FF2B5EF4-FFF2-40B4-BE49-F238E27FC236}">
                <a16:creationId xmlns:a16="http://schemas.microsoft.com/office/drawing/2014/main" id="{74745432-335C-4476-A6F0-C14895848C10}"/>
              </a:ext>
            </a:extLst>
          </p:cNvPr>
          <p:cNvSpPr>
            <a:spLocks noGrp="1" noChangeArrowheads="1"/>
          </p:cNvSpPr>
          <p:nvPr>
            <p:ph type="ftr" sz="quarter" idx="11"/>
          </p:nvPr>
        </p:nvSpPr>
        <p:spPr>
          <a:xfrm>
            <a:off x="1981200" y="6248400"/>
            <a:ext cx="5105400" cy="457200"/>
          </a:xfrm>
        </p:spPr>
        <p:txBody>
          <a:bodyPr/>
          <a:lstStyle>
            <a:lvl1pPr>
              <a:defRPr/>
            </a:lvl1pPr>
          </a:lstStyle>
          <a:p>
            <a:pPr>
              <a:defRPr/>
            </a:pPr>
            <a:r>
              <a:rPr lang="en-US" altLang="en-US"/>
              <a:t>Systems Analysis and Design in a Changing World, 6th Edition</a:t>
            </a:r>
          </a:p>
        </p:txBody>
      </p:sp>
      <p:sp>
        <p:nvSpPr>
          <p:cNvPr id="41" name="Rectangle 7">
            <a:extLst>
              <a:ext uri="{FF2B5EF4-FFF2-40B4-BE49-F238E27FC236}">
                <a16:creationId xmlns:a16="http://schemas.microsoft.com/office/drawing/2014/main" id="{72949A16-AA2C-41C0-9E72-1327168DAA83}"/>
              </a:ext>
            </a:extLst>
          </p:cNvPr>
          <p:cNvSpPr>
            <a:spLocks noGrp="1" noChangeArrowheads="1"/>
          </p:cNvSpPr>
          <p:nvPr>
            <p:ph type="sldNum" sz="quarter" idx="12"/>
          </p:nvPr>
        </p:nvSpPr>
        <p:spPr>
          <a:xfrm>
            <a:off x="7315200" y="6248400"/>
            <a:ext cx="1371600" cy="457200"/>
          </a:xfrm>
        </p:spPr>
        <p:txBody>
          <a:bodyPr/>
          <a:lstStyle>
            <a:lvl1pPr>
              <a:defRPr/>
            </a:lvl1pPr>
          </a:lstStyle>
          <a:p>
            <a:fld id="{A041E185-CB68-4932-8659-4E66294E8375}" type="slidenum">
              <a:rPr lang="en-US" altLang="en-US"/>
              <a:pPr/>
              <a:t>‹#›</a:t>
            </a:fld>
            <a:endParaRPr lang="en-US" altLang="en-US"/>
          </a:p>
        </p:txBody>
      </p:sp>
    </p:spTree>
    <p:extLst>
      <p:ext uri="{BB962C8B-B14F-4D97-AF65-F5344CB8AC3E}">
        <p14:creationId xmlns:p14="http://schemas.microsoft.com/office/powerpoint/2010/main" val="27701533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A80A18FD-68F1-4D49-970C-5A4F88FF9116}"/>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E8FE5FA9-D0BB-41C1-8366-3814FF299E36}"/>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6" name="Rectangle 7">
            <a:extLst>
              <a:ext uri="{FF2B5EF4-FFF2-40B4-BE49-F238E27FC236}">
                <a16:creationId xmlns:a16="http://schemas.microsoft.com/office/drawing/2014/main" id="{546F59F2-395E-4ED9-9869-61DE1A063CD8}"/>
              </a:ext>
            </a:extLst>
          </p:cNvPr>
          <p:cNvSpPr>
            <a:spLocks noGrp="1" noChangeArrowheads="1"/>
          </p:cNvSpPr>
          <p:nvPr>
            <p:ph type="sldNum" sz="quarter" idx="12"/>
          </p:nvPr>
        </p:nvSpPr>
        <p:spPr>
          <a:ln/>
        </p:spPr>
        <p:txBody>
          <a:bodyPr/>
          <a:lstStyle>
            <a:lvl1pPr>
              <a:defRPr/>
            </a:lvl1pPr>
          </a:lstStyle>
          <a:p>
            <a:fld id="{A8BA0676-233E-41E6-AB00-DB3D9BE0E88E}" type="slidenum">
              <a:rPr lang="en-US" altLang="en-US"/>
              <a:pPr/>
              <a:t>‹#›</a:t>
            </a:fld>
            <a:endParaRPr lang="en-US" altLang="en-US"/>
          </a:p>
        </p:txBody>
      </p:sp>
    </p:spTree>
    <p:extLst>
      <p:ext uri="{BB962C8B-B14F-4D97-AF65-F5344CB8AC3E}">
        <p14:creationId xmlns:p14="http://schemas.microsoft.com/office/powerpoint/2010/main" val="442306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a:extLst>
              <a:ext uri="{FF2B5EF4-FFF2-40B4-BE49-F238E27FC236}">
                <a16:creationId xmlns:a16="http://schemas.microsoft.com/office/drawing/2014/main" id="{A6C77AF2-4ABA-4163-8408-87B41401C94B}"/>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B82B3F46-9605-462E-A6DC-6F59F6C867C5}"/>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6" name="Rectangle 7">
            <a:extLst>
              <a:ext uri="{FF2B5EF4-FFF2-40B4-BE49-F238E27FC236}">
                <a16:creationId xmlns:a16="http://schemas.microsoft.com/office/drawing/2014/main" id="{6D311E9C-64C5-4251-9B6D-1F49B8BE0D00}"/>
              </a:ext>
            </a:extLst>
          </p:cNvPr>
          <p:cNvSpPr>
            <a:spLocks noGrp="1" noChangeArrowheads="1"/>
          </p:cNvSpPr>
          <p:nvPr>
            <p:ph type="sldNum" sz="quarter" idx="12"/>
          </p:nvPr>
        </p:nvSpPr>
        <p:spPr>
          <a:ln/>
        </p:spPr>
        <p:txBody>
          <a:bodyPr/>
          <a:lstStyle>
            <a:lvl1pPr>
              <a:defRPr/>
            </a:lvl1pPr>
          </a:lstStyle>
          <a:p>
            <a:fld id="{E3C519E8-F8A2-42BA-8762-B494068CD4C6}" type="slidenum">
              <a:rPr lang="en-US" altLang="en-US"/>
              <a:pPr/>
              <a:t>‹#›</a:t>
            </a:fld>
            <a:endParaRPr lang="en-US" altLang="en-US"/>
          </a:p>
        </p:txBody>
      </p:sp>
    </p:spTree>
    <p:extLst>
      <p:ext uri="{BB962C8B-B14F-4D97-AF65-F5344CB8AC3E}">
        <p14:creationId xmlns:p14="http://schemas.microsoft.com/office/powerpoint/2010/main" val="5592213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id="{5FB12BA5-03A6-4CC7-AAF0-ABEB3B585542}"/>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80D6A853-7802-4A12-8752-F8224AD00D64}"/>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7" name="Rectangle 7">
            <a:extLst>
              <a:ext uri="{FF2B5EF4-FFF2-40B4-BE49-F238E27FC236}">
                <a16:creationId xmlns:a16="http://schemas.microsoft.com/office/drawing/2014/main" id="{F36EB5E5-5CBE-4ED3-B9F5-F53003C852DB}"/>
              </a:ext>
            </a:extLst>
          </p:cNvPr>
          <p:cNvSpPr>
            <a:spLocks noGrp="1" noChangeArrowheads="1"/>
          </p:cNvSpPr>
          <p:nvPr>
            <p:ph type="sldNum" sz="quarter" idx="12"/>
          </p:nvPr>
        </p:nvSpPr>
        <p:spPr>
          <a:ln/>
        </p:spPr>
        <p:txBody>
          <a:bodyPr/>
          <a:lstStyle>
            <a:lvl1pPr>
              <a:defRPr/>
            </a:lvl1pPr>
          </a:lstStyle>
          <a:p>
            <a:fld id="{30E59144-D78C-49A5-ADF4-86936C999968}" type="slidenum">
              <a:rPr lang="en-US" altLang="en-US"/>
              <a:pPr/>
              <a:t>‹#›</a:t>
            </a:fld>
            <a:endParaRPr lang="en-US" altLang="en-US"/>
          </a:p>
        </p:txBody>
      </p:sp>
    </p:spTree>
    <p:extLst>
      <p:ext uri="{BB962C8B-B14F-4D97-AF65-F5344CB8AC3E}">
        <p14:creationId xmlns:p14="http://schemas.microsoft.com/office/powerpoint/2010/main" val="12032724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a:extLst>
              <a:ext uri="{FF2B5EF4-FFF2-40B4-BE49-F238E27FC236}">
                <a16:creationId xmlns:a16="http://schemas.microsoft.com/office/drawing/2014/main" id="{D3CBB128-5996-4DAB-9DF9-ED83E28C3F4D}"/>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8" name="Rectangle 6">
            <a:extLst>
              <a:ext uri="{FF2B5EF4-FFF2-40B4-BE49-F238E27FC236}">
                <a16:creationId xmlns:a16="http://schemas.microsoft.com/office/drawing/2014/main" id="{F62AE02F-4493-4B49-88C8-9B670BB37B1D}"/>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9" name="Rectangle 7">
            <a:extLst>
              <a:ext uri="{FF2B5EF4-FFF2-40B4-BE49-F238E27FC236}">
                <a16:creationId xmlns:a16="http://schemas.microsoft.com/office/drawing/2014/main" id="{3DECD447-08FE-45D4-92AD-C61485F63878}"/>
              </a:ext>
            </a:extLst>
          </p:cNvPr>
          <p:cNvSpPr>
            <a:spLocks noGrp="1" noChangeArrowheads="1"/>
          </p:cNvSpPr>
          <p:nvPr>
            <p:ph type="sldNum" sz="quarter" idx="12"/>
          </p:nvPr>
        </p:nvSpPr>
        <p:spPr>
          <a:ln/>
        </p:spPr>
        <p:txBody>
          <a:bodyPr/>
          <a:lstStyle>
            <a:lvl1pPr>
              <a:defRPr/>
            </a:lvl1pPr>
          </a:lstStyle>
          <a:p>
            <a:fld id="{9417638B-5661-4B4D-BAB8-B962B6BD1854}" type="slidenum">
              <a:rPr lang="en-US" altLang="en-US"/>
              <a:pPr/>
              <a:t>‹#›</a:t>
            </a:fld>
            <a:endParaRPr lang="en-US" altLang="en-US"/>
          </a:p>
        </p:txBody>
      </p:sp>
    </p:spTree>
    <p:extLst>
      <p:ext uri="{BB962C8B-B14F-4D97-AF65-F5344CB8AC3E}">
        <p14:creationId xmlns:p14="http://schemas.microsoft.com/office/powerpoint/2010/main" val="7012709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a:extLst>
              <a:ext uri="{FF2B5EF4-FFF2-40B4-BE49-F238E27FC236}">
                <a16:creationId xmlns:a16="http://schemas.microsoft.com/office/drawing/2014/main" id="{878ED1A8-3CE3-4BAE-9CEC-E89CAF3B32BC}"/>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6">
            <a:extLst>
              <a:ext uri="{FF2B5EF4-FFF2-40B4-BE49-F238E27FC236}">
                <a16:creationId xmlns:a16="http://schemas.microsoft.com/office/drawing/2014/main" id="{6D2C81CB-863C-4408-9ED7-86FD456CC68E}"/>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5" name="Rectangle 7">
            <a:extLst>
              <a:ext uri="{FF2B5EF4-FFF2-40B4-BE49-F238E27FC236}">
                <a16:creationId xmlns:a16="http://schemas.microsoft.com/office/drawing/2014/main" id="{D8B8EA39-13A6-4DA3-AC7D-91BE3C574CB5}"/>
              </a:ext>
            </a:extLst>
          </p:cNvPr>
          <p:cNvSpPr>
            <a:spLocks noGrp="1" noChangeArrowheads="1"/>
          </p:cNvSpPr>
          <p:nvPr>
            <p:ph type="sldNum" sz="quarter" idx="12"/>
          </p:nvPr>
        </p:nvSpPr>
        <p:spPr>
          <a:ln/>
        </p:spPr>
        <p:txBody>
          <a:bodyPr/>
          <a:lstStyle>
            <a:lvl1pPr>
              <a:defRPr/>
            </a:lvl1pPr>
          </a:lstStyle>
          <a:p>
            <a:fld id="{27BCE053-EC53-448B-9460-CC13B1536AB8}" type="slidenum">
              <a:rPr lang="en-US" altLang="en-US"/>
              <a:pPr/>
              <a:t>‹#›</a:t>
            </a:fld>
            <a:endParaRPr lang="en-US" altLang="en-US"/>
          </a:p>
        </p:txBody>
      </p:sp>
    </p:spTree>
    <p:extLst>
      <p:ext uri="{BB962C8B-B14F-4D97-AF65-F5344CB8AC3E}">
        <p14:creationId xmlns:p14="http://schemas.microsoft.com/office/powerpoint/2010/main" val="39085784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0F145258-269C-431D-A374-893841A004E4}"/>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3" name="Rectangle 6">
            <a:extLst>
              <a:ext uri="{FF2B5EF4-FFF2-40B4-BE49-F238E27FC236}">
                <a16:creationId xmlns:a16="http://schemas.microsoft.com/office/drawing/2014/main" id="{C139B8B3-FD93-4BE2-8A87-A65BC5540BB9}"/>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4" name="Rectangle 7">
            <a:extLst>
              <a:ext uri="{FF2B5EF4-FFF2-40B4-BE49-F238E27FC236}">
                <a16:creationId xmlns:a16="http://schemas.microsoft.com/office/drawing/2014/main" id="{6E5B3B97-6813-4A58-B5EE-DDB993F93677}"/>
              </a:ext>
            </a:extLst>
          </p:cNvPr>
          <p:cNvSpPr>
            <a:spLocks noGrp="1" noChangeArrowheads="1"/>
          </p:cNvSpPr>
          <p:nvPr>
            <p:ph type="sldNum" sz="quarter" idx="12"/>
          </p:nvPr>
        </p:nvSpPr>
        <p:spPr>
          <a:ln/>
        </p:spPr>
        <p:txBody>
          <a:bodyPr/>
          <a:lstStyle>
            <a:lvl1pPr>
              <a:defRPr/>
            </a:lvl1pPr>
          </a:lstStyle>
          <a:p>
            <a:fld id="{1A13C23E-1A2F-4720-9AEC-7D44DF43248D}" type="slidenum">
              <a:rPr lang="en-US" altLang="en-US"/>
              <a:pPr/>
              <a:t>‹#›</a:t>
            </a:fld>
            <a:endParaRPr lang="en-US" altLang="en-US"/>
          </a:p>
        </p:txBody>
      </p:sp>
    </p:spTree>
    <p:extLst>
      <p:ext uri="{BB962C8B-B14F-4D97-AF65-F5344CB8AC3E}">
        <p14:creationId xmlns:p14="http://schemas.microsoft.com/office/powerpoint/2010/main" val="2368334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id="{FF979669-3EC1-4C5C-A283-57D28A4CA9BF}"/>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6CB45A71-7DCF-478F-952E-17B834E9A09F}"/>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7" name="Rectangle 7">
            <a:extLst>
              <a:ext uri="{FF2B5EF4-FFF2-40B4-BE49-F238E27FC236}">
                <a16:creationId xmlns:a16="http://schemas.microsoft.com/office/drawing/2014/main" id="{54BDB1B5-D257-41C7-893C-3D7F07E692AF}"/>
              </a:ext>
            </a:extLst>
          </p:cNvPr>
          <p:cNvSpPr>
            <a:spLocks noGrp="1" noChangeArrowheads="1"/>
          </p:cNvSpPr>
          <p:nvPr>
            <p:ph type="sldNum" sz="quarter" idx="12"/>
          </p:nvPr>
        </p:nvSpPr>
        <p:spPr>
          <a:ln/>
        </p:spPr>
        <p:txBody>
          <a:bodyPr/>
          <a:lstStyle>
            <a:lvl1pPr>
              <a:defRPr/>
            </a:lvl1pPr>
          </a:lstStyle>
          <a:p>
            <a:fld id="{80419B82-2C50-4AF5-A6E9-4D3B5E430103}" type="slidenum">
              <a:rPr lang="en-US" altLang="en-US"/>
              <a:pPr/>
              <a:t>‹#›</a:t>
            </a:fld>
            <a:endParaRPr lang="en-US" altLang="en-US"/>
          </a:p>
        </p:txBody>
      </p:sp>
    </p:spTree>
    <p:extLst>
      <p:ext uri="{BB962C8B-B14F-4D97-AF65-F5344CB8AC3E}">
        <p14:creationId xmlns:p14="http://schemas.microsoft.com/office/powerpoint/2010/main" val="26430819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id="{A0394277-4BE1-4981-BF56-4AAC4CCC6122}"/>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AEF5B81A-7FD2-4820-8381-B6BF32D82241}"/>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7" name="Rectangle 7">
            <a:extLst>
              <a:ext uri="{FF2B5EF4-FFF2-40B4-BE49-F238E27FC236}">
                <a16:creationId xmlns:a16="http://schemas.microsoft.com/office/drawing/2014/main" id="{176AD584-77F4-4680-AEB6-407ED892F07C}"/>
              </a:ext>
            </a:extLst>
          </p:cNvPr>
          <p:cNvSpPr>
            <a:spLocks noGrp="1" noChangeArrowheads="1"/>
          </p:cNvSpPr>
          <p:nvPr>
            <p:ph type="sldNum" sz="quarter" idx="12"/>
          </p:nvPr>
        </p:nvSpPr>
        <p:spPr>
          <a:ln/>
        </p:spPr>
        <p:txBody>
          <a:bodyPr/>
          <a:lstStyle>
            <a:lvl1pPr>
              <a:defRPr/>
            </a:lvl1pPr>
          </a:lstStyle>
          <a:p>
            <a:fld id="{AFD07873-E375-40EB-95D2-9D23C3EFD5AF}" type="slidenum">
              <a:rPr lang="en-US" altLang="en-US"/>
              <a:pPr/>
              <a:t>‹#›</a:t>
            </a:fld>
            <a:endParaRPr lang="en-US" altLang="en-US"/>
          </a:p>
        </p:txBody>
      </p:sp>
    </p:spTree>
    <p:extLst>
      <p:ext uri="{BB962C8B-B14F-4D97-AF65-F5344CB8AC3E}">
        <p14:creationId xmlns:p14="http://schemas.microsoft.com/office/powerpoint/2010/main" val="24480491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5214B0E2-DB1B-49FF-864F-A99E6CC63597}"/>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E6ECBC77-E91F-4EA0-A888-8D3C3C3D6065}"/>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6" name="Rectangle 7">
            <a:extLst>
              <a:ext uri="{FF2B5EF4-FFF2-40B4-BE49-F238E27FC236}">
                <a16:creationId xmlns:a16="http://schemas.microsoft.com/office/drawing/2014/main" id="{19722AC4-E4A7-453C-84BD-959567FC0A16}"/>
              </a:ext>
            </a:extLst>
          </p:cNvPr>
          <p:cNvSpPr>
            <a:spLocks noGrp="1" noChangeArrowheads="1"/>
          </p:cNvSpPr>
          <p:nvPr>
            <p:ph type="sldNum" sz="quarter" idx="12"/>
          </p:nvPr>
        </p:nvSpPr>
        <p:spPr>
          <a:ln/>
        </p:spPr>
        <p:txBody>
          <a:bodyPr/>
          <a:lstStyle>
            <a:lvl1pPr>
              <a:defRPr/>
            </a:lvl1pPr>
          </a:lstStyle>
          <a:p>
            <a:fld id="{774F4704-577B-4828-B188-49AB8D594B20}" type="slidenum">
              <a:rPr lang="en-US" altLang="en-US"/>
              <a:pPr/>
              <a:t>‹#›</a:t>
            </a:fld>
            <a:endParaRPr lang="en-US" altLang="en-US"/>
          </a:p>
        </p:txBody>
      </p:sp>
    </p:spTree>
    <p:extLst>
      <p:ext uri="{BB962C8B-B14F-4D97-AF65-F5344CB8AC3E}">
        <p14:creationId xmlns:p14="http://schemas.microsoft.com/office/powerpoint/2010/main" val="26441946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22238"/>
            <a:ext cx="2057400" cy="600868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22238"/>
            <a:ext cx="6019800" cy="60086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798B17D1-9ADF-4C46-97DA-3BD6B0156BB8}"/>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73B0473D-9871-48C2-891C-BAEE1A907EDA}"/>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6" name="Rectangle 7">
            <a:extLst>
              <a:ext uri="{FF2B5EF4-FFF2-40B4-BE49-F238E27FC236}">
                <a16:creationId xmlns:a16="http://schemas.microsoft.com/office/drawing/2014/main" id="{30C696AE-6502-499A-A470-56F5986F2F3E}"/>
              </a:ext>
            </a:extLst>
          </p:cNvPr>
          <p:cNvSpPr>
            <a:spLocks noGrp="1" noChangeArrowheads="1"/>
          </p:cNvSpPr>
          <p:nvPr>
            <p:ph type="sldNum" sz="quarter" idx="12"/>
          </p:nvPr>
        </p:nvSpPr>
        <p:spPr>
          <a:ln/>
        </p:spPr>
        <p:txBody>
          <a:bodyPr/>
          <a:lstStyle>
            <a:lvl1pPr>
              <a:defRPr/>
            </a:lvl1pPr>
          </a:lstStyle>
          <a:p>
            <a:fld id="{7E712C0E-A350-4F25-B86F-3CBF0CDCBC30}" type="slidenum">
              <a:rPr lang="en-US" altLang="en-US"/>
              <a:pPr/>
              <a:t>‹#›</a:t>
            </a:fld>
            <a:endParaRPr lang="en-US" altLang="en-US"/>
          </a:p>
        </p:txBody>
      </p:sp>
    </p:spTree>
    <p:extLst>
      <p:ext uri="{BB962C8B-B14F-4D97-AF65-F5344CB8AC3E}">
        <p14:creationId xmlns:p14="http://schemas.microsoft.com/office/powerpoint/2010/main" val="24513906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122238"/>
            <a:ext cx="8229600" cy="60086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5">
            <a:extLst>
              <a:ext uri="{FF2B5EF4-FFF2-40B4-BE49-F238E27FC236}">
                <a16:creationId xmlns:a16="http://schemas.microsoft.com/office/drawing/2014/main" id="{CCAA3467-F26B-4A5E-A51E-C6CD155A503B}"/>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6">
            <a:extLst>
              <a:ext uri="{FF2B5EF4-FFF2-40B4-BE49-F238E27FC236}">
                <a16:creationId xmlns:a16="http://schemas.microsoft.com/office/drawing/2014/main" id="{BF8AE5FC-D7F3-477C-ADEB-6C6C31D691BF}"/>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5" name="Rectangle 7">
            <a:extLst>
              <a:ext uri="{FF2B5EF4-FFF2-40B4-BE49-F238E27FC236}">
                <a16:creationId xmlns:a16="http://schemas.microsoft.com/office/drawing/2014/main" id="{E1E5EBDD-BB71-4A73-A1AC-F45E370FC390}"/>
              </a:ext>
            </a:extLst>
          </p:cNvPr>
          <p:cNvSpPr>
            <a:spLocks noGrp="1" noChangeArrowheads="1"/>
          </p:cNvSpPr>
          <p:nvPr>
            <p:ph type="sldNum" sz="quarter" idx="12"/>
          </p:nvPr>
        </p:nvSpPr>
        <p:spPr>
          <a:ln/>
        </p:spPr>
        <p:txBody>
          <a:bodyPr/>
          <a:lstStyle>
            <a:lvl1pPr>
              <a:defRPr/>
            </a:lvl1pPr>
          </a:lstStyle>
          <a:p>
            <a:fld id="{381CBE79-EEB6-427C-ACEA-08DF05F1B8A9}" type="slidenum">
              <a:rPr lang="en-US" altLang="en-US"/>
              <a:pPr/>
              <a:t>‹#›</a:t>
            </a:fld>
            <a:endParaRPr lang="en-US" altLang="en-US"/>
          </a:p>
        </p:txBody>
      </p:sp>
    </p:spTree>
    <p:extLst>
      <p:ext uri="{BB962C8B-B14F-4D97-AF65-F5344CB8AC3E}">
        <p14:creationId xmlns:p14="http://schemas.microsoft.com/office/powerpoint/2010/main" val="3851286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7543800" cy="1295400"/>
          </a:xfrm>
        </p:spPr>
        <p:txBody>
          <a:bodyPr/>
          <a:lstStyle/>
          <a:p>
            <a:r>
              <a:rPr lang="en-US"/>
              <a:t>Click to edit Master title style</a:t>
            </a:r>
          </a:p>
        </p:txBody>
      </p:sp>
      <p:sp>
        <p:nvSpPr>
          <p:cNvPr id="3" name="Text Placeholder 2"/>
          <p:cNvSpPr>
            <a:spLocks noGrp="1"/>
          </p:cNvSpPr>
          <p:nvPr>
            <p:ph type="body" sz="half" idx="1"/>
          </p:nvPr>
        </p:nvSpPr>
        <p:spPr>
          <a:xfrm>
            <a:off x="457200" y="1719263"/>
            <a:ext cx="40386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19263"/>
            <a:ext cx="40386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id="{13CA9B8D-DA35-4992-B28F-1D784675B65D}"/>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42BCA8E4-BB61-4457-AC41-229D5AC6DACE}"/>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7" name="Rectangle 7">
            <a:extLst>
              <a:ext uri="{FF2B5EF4-FFF2-40B4-BE49-F238E27FC236}">
                <a16:creationId xmlns:a16="http://schemas.microsoft.com/office/drawing/2014/main" id="{90F3428D-92C9-4486-909B-51B8D1EE14A8}"/>
              </a:ext>
            </a:extLst>
          </p:cNvPr>
          <p:cNvSpPr>
            <a:spLocks noGrp="1" noChangeArrowheads="1"/>
          </p:cNvSpPr>
          <p:nvPr>
            <p:ph type="sldNum" sz="quarter" idx="12"/>
          </p:nvPr>
        </p:nvSpPr>
        <p:spPr>
          <a:ln/>
        </p:spPr>
        <p:txBody>
          <a:bodyPr/>
          <a:lstStyle>
            <a:lvl1pPr>
              <a:defRPr/>
            </a:lvl1pPr>
          </a:lstStyle>
          <a:p>
            <a:fld id="{5331D440-6584-45B9-9DBD-62703592E424}" type="slidenum">
              <a:rPr lang="en-US" altLang="en-US"/>
              <a:pPr/>
              <a:t>‹#›</a:t>
            </a:fld>
            <a:endParaRPr lang="en-US" altLang="en-US"/>
          </a:p>
        </p:txBody>
      </p:sp>
    </p:spTree>
    <p:extLst>
      <p:ext uri="{BB962C8B-B14F-4D97-AF65-F5344CB8AC3E}">
        <p14:creationId xmlns:p14="http://schemas.microsoft.com/office/powerpoint/2010/main" val="32001295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9810" name="Line 2">
            <a:extLst>
              <a:ext uri="{FF2B5EF4-FFF2-40B4-BE49-F238E27FC236}">
                <a16:creationId xmlns:a16="http://schemas.microsoft.com/office/drawing/2014/main" id="{12AEAFAE-8A6D-4352-B4AC-0FB9C88A1317}"/>
              </a:ext>
            </a:extLst>
          </p:cNvPr>
          <p:cNvSpPr>
            <a:spLocks noChangeShapeType="1"/>
          </p:cNvSpPr>
          <p:nvPr/>
        </p:nvSpPr>
        <p:spPr bwMode="auto">
          <a:xfrm>
            <a:off x="7962900" y="152400"/>
            <a:ext cx="0" cy="1524000"/>
          </a:xfrm>
          <a:prstGeom prst="line">
            <a:avLst/>
          </a:prstGeom>
          <a:noFill/>
          <a:ln w="9525">
            <a:solidFill>
              <a:schemeClr val="tx1"/>
            </a:solidFill>
            <a:round/>
            <a:headEnd/>
            <a:tailEnd/>
          </a:ln>
          <a:effectLst/>
        </p:spPr>
        <p:txBody>
          <a:bodyPr/>
          <a:lstStyle/>
          <a:p>
            <a:pPr>
              <a:defRPr/>
            </a:pPr>
            <a:endParaRPr lang="en-US">
              <a:latin typeface="Arial" charset="0"/>
              <a:cs typeface="Arial" charset="0"/>
            </a:endParaRPr>
          </a:p>
        </p:txBody>
      </p:sp>
      <p:sp>
        <p:nvSpPr>
          <p:cNvPr id="1027" name="Rectangle 3">
            <a:extLst>
              <a:ext uri="{FF2B5EF4-FFF2-40B4-BE49-F238E27FC236}">
                <a16:creationId xmlns:a16="http://schemas.microsoft.com/office/drawing/2014/main" id="{4CEB706D-B979-4704-B689-D7E814B551E1}"/>
              </a:ext>
            </a:extLst>
          </p:cNvPr>
          <p:cNvSpPr>
            <a:spLocks noGrp="1" noChangeArrowheads="1"/>
          </p:cNvSpPr>
          <p:nvPr>
            <p:ph type="title"/>
          </p:nvPr>
        </p:nvSpPr>
        <p:spPr bwMode="auto">
          <a:xfrm>
            <a:off x="457200" y="122238"/>
            <a:ext cx="75438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8" name="Rectangle 4">
            <a:extLst>
              <a:ext uri="{FF2B5EF4-FFF2-40B4-BE49-F238E27FC236}">
                <a16:creationId xmlns:a16="http://schemas.microsoft.com/office/drawing/2014/main" id="{80F8D2F1-F4F6-4AFF-BDD5-038030DFD051}"/>
              </a:ext>
            </a:extLst>
          </p:cNvPr>
          <p:cNvSpPr>
            <a:spLocks noGrp="1" noChangeArrowheads="1"/>
          </p:cNvSpPr>
          <p:nvPr>
            <p:ph type="body" idx="1"/>
          </p:nvPr>
        </p:nvSpPr>
        <p:spPr bwMode="auto">
          <a:xfrm>
            <a:off x="457200" y="1719263"/>
            <a:ext cx="8229600" cy="441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19813" name="Rectangle 5">
            <a:extLst>
              <a:ext uri="{FF2B5EF4-FFF2-40B4-BE49-F238E27FC236}">
                <a16:creationId xmlns:a16="http://schemas.microsoft.com/office/drawing/2014/main" id="{1509BD9B-4A4E-442C-9E38-0BA51A8D7843}"/>
              </a:ext>
            </a:extLst>
          </p:cNvPr>
          <p:cNvSpPr>
            <a:spLocks noGrp="1" noChangeArrowheads="1"/>
          </p:cNvSpPr>
          <p:nvPr>
            <p:ph type="dt" sz="half" idx="2"/>
          </p:nvPr>
        </p:nvSpPr>
        <p:spPr bwMode="auto">
          <a:xfrm>
            <a:off x="457200" y="6248400"/>
            <a:ext cx="12192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latin typeface="Arial" charset="0"/>
                <a:cs typeface="Arial" charset="0"/>
              </a:defRPr>
            </a:lvl1pPr>
          </a:lstStyle>
          <a:p>
            <a:pPr>
              <a:defRPr/>
            </a:pPr>
            <a:endParaRPr lang="en-US" altLang="en-US"/>
          </a:p>
        </p:txBody>
      </p:sp>
      <p:sp>
        <p:nvSpPr>
          <p:cNvPr id="119814" name="Rectangle 6">
            <a:extLst>
              <a:ext uri="{FF2B5EF4-FFF2-40B4-BE49-F238E27FC236}">
                <a16:creationId xmlns:a16="http://schemas.microsoft.com/office/drawing/2014/main" id="{3D5A3F0F-7AAC-49C2-ACD0-FEE38E003386}"/>
              </a:ext>
            </a:extLst>
          </p:cNvPr>
          <p:cNvSpPr>
            <a:spLocks noGrp="1" noChangeArrowheads="1"/>
          </p:cNvSpPr>
          <p:nvPr>
            <p:ph type="ftr" sz="quarter" idx="3"/>
          </p:nvPr>
        </p:nvSpPr>
        <p:spPr bwMode="auto">
          <a:xfrm>
            <a:off x="1828800" y="6248400"/>
            <a:ext cx="54864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Arial" charset="0"/>
                <a:cs typeface="Arial" charset="0"/>
              </a:defRPr>
            </a:lvl1pPr>
          </a:lstStyle>
          <a:p>
            <a:pPr>
              <a:defRPr/>
            </a:pPr>
            <a:r>
              <a:rPr lang="en-US" altLang="en-US"/>
              <a:t>Systems Analysis and Design in a Changing World, 6th Edition</a:t>
            </a:r>
          </a:p>
        </p:txBody>
      </p:sp>
      <p:sp>
        <p:nvSpPr>
          <p:cNvPr id="119815" name="Rectangle 7">
            <a:extLst>
              <a:ext uri="{FF2B5EF4-FFF2-40B4-BE49-F238E27FC236}">
                <a16:creationId xmlns:a16="http://schemas.microsoft.com/office/drawing/2014/main" id="{3E95561A-2F1D-493D-81EB-4132E2A5A35A}"/>
              </a:ext>
            </a:extLst>
          </p:cNvPr>
          <p:cNvSpPr>
            <a:spLocks noGrp="1" noChangeArrowheads="1"/>
          </p:cNvSpPr>
          <p:nvPr>
            <p:ph type="sldNum" sz="quarter" idx="4"/>
          </p:nvPr>
        </p:nvSpPr>
        <p:spPr bwMode="auto">
          <a:xfrm>
            <a:off x="7543800" y="6248400"/>
            <a:ext cx="1143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a:lvl1pPr>
          </a:lstStyle>
          <a:p>
            <a:fld id="{14F347EE-64A2-454A-BA86-B14EB33C0DBD}" type="slidenum">
              <a:rPr lang="en-US" altLang="en-US"/>
              <a:pPr/>
              <a:t>‹#›</a:t>
            </a:fld>
            <a:endParaRPr lang="en-US" altLang="en-US"/>
          </a:p>
        </p:txBody>
      </p:sp>
      <p:grpSp>
        <p:nvGrpSpPr>
          <p:cNvPr id="1032" name="Group 8">
            <a:extLst>
              <a:ext uri="{FF2B5EF4-FFF2-40B4-BE49-F238E27FC236}">
                <a16:creationId xmlns:a16="http://schemas.microsoft.com/office/drawing/2014/main" id="{BFCA1373-52CC-4439-A0A5-7479E7BD7611}"/>
              </a:ext>
            </a:extLst>
          </p:cNvPr>
          <p:cNvGrpSpPr>
            <a:grpSpLocks/>
          </p:cNvGrpSpPr>
          <p:nvPr/>
        </p:nvGrpSpPr>
        <p:grpSpPr bwMode="auto">
          <a:xfrm>
            <a:off x="8153400" y="152400"/>
            <a:ext cx="792163" cy="1295400"/>
            <a:chOff x="5136" y="960"/>
            <a:chExt cx="528" cy="864"/>
          </a:xfrm>
        </p:grpSpPr>
        <p:sp>
          <p:nvSpPr>
            <p:cNvPr id="119817" name="Oval 9">
              <a:extLst>
                <a:ext uri="{FF2B5EF4-FFF2-40B4-BE49-F238E27FC236}">
                  <a16:creationId xmlns:a16="http://schemas.microsoft.com/office/drawing/2014/main" id="{234BB954-09E6-4232-98A3-ADE120467EB8}"/>
                </a:ext>
              </a:extLst>
            </p:cNvPr>
            <p:cNvSpPr>
              <a:spLocks noChangeArrowheads="1"/>
            </p:cNvSpPr>
            <p:nvPr/>
          </p:nvSpPr>
          <p:spPr bwMode="auto">
            <a:xfrm>
              <a:off x="5136" y="960"/>
              <a:ext cx="80" cy="80"/>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19818" name="Oval 10">
              <a:extLst>
                <a:ext uri="{FF2B5EF4-FFF2-40B4-BE49-F238E27FC236}">
                  <a16:creationId xmlns:a16="http://schemas.microsoft.com/office/drawing/2014/main" id="{54A9A876-A64C-4426-A3CC-487EC29731A5}"/>
                </a:ext>
              </a:extLst>
            </p:cNvPr>
            <p:cNvSpPr>
              <a:spLocks noChangeArrowheads="1"/>
            </p:cNvSpPr>
            <p:nvPr/>
          </p:nvSpPr>
          <p:spPr bwMode="auto">
            <a:xfrm>
              <a:off x="5248" y="960"/>
              <a:ext cx="79" cy="80"/>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19819" name="Oval 11">
              <a:extLst>
                <a:ext uri="{FF2B5EF4-FFF2-40B4-BE49-F238E27FC236}">
                  <a16:creationId xmlns:a16="http://schemas.microsoft.com/office/drawing/2014/main" id="{7A0393EE-D351-4692-881E-5D6343ABD5CC}"/>
                </a:ext>
              </a:extLst>
            </p:cNvPr>
            <p:cNvSpPr>
              <a:spLocks noChangeArrowheads="1"/>
            </p:cNvSpPr>
            <p:nvPr/>
          </p:nvSpPr>
          <p:spPr bwMode="auto">
            <a:xfrm>
              <a:off x="5360" y="960"/>
              <a:ext cx="78" cy="80"/>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19820" name="Oval 12">
              <a:extLst>
                <a:ext uri="{FF2B5EF4-FFF2-40B4-BE49-F238E27FC236}">
                  <a16:creationId xmlns:a16="http://schemas.microsoft.com/office/drawing/2014/main" id="{E7F253BC-7175-478A-9F56-3F1BF1B315F4}"/>
                </a:ext>
              </a:extLst>
            </p:cNvPr>
            <p:cNvSpPr>
              <a:spLocks noChangeArrowheads="1"/>
            </p:cNvSpPr>
            <p:nvPr/>
          </p:nvSpPr>
          <p:spPr bwMode="auto">
            <a:xfrm>
              <a:off x="5136" y="1072"/>
              <a:ext cx="80" cy="78"/>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19821" name="Oval 13">
              <a:extLst>
                <a:ext uri="{FF2B5EF4-FFF2-40B4-BE49-F238E27FC236}">
                  <a16:creationId xmlns:a16="http://schemas.microsoft.com/office/drawing/2014/main" id="{C9C84615-FDBE-482E-AA91-132449ED17B1}"/>
                </a:ext>
              </a:extLst>
            </p:cNvPr>
            <p:cNvSpPr>
              <a:spLocks noChangeArrowheads="1"/>
            </p:cNvSpPr>
            <p:nvPr/>
          </p:nvSpPr>
          <p:spPr bwMode="auto">
            <a:xfrm>
              <a:off x="5248" y="1072"/>
              <a:ext cx="79" cy="78"/>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19822" name="Oval 14">
              <a:extLst>
                <a:ext uri="{FF2B5EF4-FFF2-40B4-BE49-F238E27FC236}">
                  <a16:creationId xmlns:a16="http://schemas.microsoft.com/office/drawing/2014/main" id="{20A12D67-81ED-419D-9CF1-D28E77C2B476}"/>
                </a:ext>
              </a:extLst>
            </p:cNvPr>
            <p:cNvSpPr>
              <a:spLocks noChangeArrowheads="1"/>
            </p:cNvSpPr>
            <p:nvPr/>
          </p:nvSpPr>
          <p:spPr bwMode="auto">
            <a:xfrm>
              <a:off x="5360" y="1072"/>
              <a:ext cx="78" cy="78"/>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19823" name="Oval 15">
              <a:extLst>
                <a:ext uri="{FF2B5EF4-FFF2-40B4-BE49-F238E27FC236}">
                  <a16:creationId xmlns:a16="http://schemas.microsoft.com/office/drawing/2014/main" id="{43E72870-C5F0-4079-A819-AE3CAD5ACC8C}"/>
                </a:ext>
              </a:extLst>
            </p:cNvPr>
            <p:cNvSpPr>
              <a:spLocks noChangeArrowheads="1"/>
            </p:cNvSpPr>
            <p:nvPr/>
          </p:nvSpPr>
          <p:spPr bwMode="auto">
            <a:xfrm>
              <a:off x="5472" y="1072"/>
              <a:ext cx="78" cy="78"/>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119824" name="Oval 16">
              <a:extLst>
                <a:ext uri="{FF2B5EF4-FFF2-40B4-BE49-F238E27FC236}">
                  <a16:creationId xmlns:a16="http://schemas.microsoft.com/office/drawing/2014/main" id="{5CDFBA62-C5B4-4E40-A96D-1CEC942E8A16}"/>
                </a:ext>
              </a:extLst>
            </p:cNvPr>
            <p:cNvSpPr>
              <a:spLocks noChangeArrowheads="1"/>
            </p:cNvSpPr>
            <p:nvPr/>
          </p:nvSpPr>
          <p:spPr bwMode="auto">
            <a:xfrm>
              <a:off x="5136" y="1184"/>
              <a:ext cx="80" cy="78"/>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19825" name="Oval 17">
              <a:extLst>
                <a:ext uri="{FF2B5EF4-FFF2-40B4-BE49-F238E27FC236}">
                  <a16:creationId xmlns:a16="http://schemas.microsoft.com/office/drawing/2014/main" id="{71BBA2DF-B9AB-4146-8113-24C5100AC13E}"/>
                </a:ext>
              </a:extLst>
            </p:cNvPr>
            <p:cNvSpPr>
              <a:spLocks noChangeArrowheads="1"/>
            </p:cNvSpPr>
            <p:nvPr/>
          </p:nvSpPr>
          <p:spPr bwMode="auto">
            <a:xfrm>
              <a:off x="5248" y="1184"/>
              <a:ext cx="79" cy="78"/>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19826" name="Oval 18">
              <a:extLst>
                <a:ext uri="{FF2B5EF4-FFF2-40B4-BE49-F238E27FC236}">
                  <a16:creationId xmlns:a16="http://schemas.microsoft.com/office/drawing/2014/main" id="{22131998-E426-4258-A84F-536D53505A39}"/>
                </a:ext>
              </a:extLst>
            </p:cNvPr>
            <p:cNvSpPr>
              <a:spLocks noChangeArrowheads="1"/>
            </p:cNvSpPr>
            <p:nvPr/>
          </p:nvSpPr>
          <p:spPr bwMode="auto">
            <a:xfrm>
              <a:off x="5360" y="1184"/>
              <a:ext cx="78" cy="78"/>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119827" name="Oval 19">
              <a:extLst>
                <a:ext uri="{FF2B5EF4-FFF2-40B4-BE49-F238E27FC236}">
                  <a16:creationId xmlns:a16="http://schemas.microsoft.com/office/drawing/2014/main" id="{6FFF99EA-6452-4128-9F60-4ECFF14C1CDA}"/>
                </a:ext>
              </a:extLst>
            </p:cNvPr>
            <p:cNvSpPr>
              <a:spLocks noChangeArrowheads="1"/>
            </p:cNvSpPr>
            <p:nvPr/>
          </p:nvSpPr>
          <p:spPr bwMode="auto">
            <a:xfrm>
              <a:off x="5472" y="1184"/>
              <a:ext cx="78" cy="78"/>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119828" name="Oval 20">
              <a:extLst>
                <a:ext uri="{FF2B5EF4-FFF2-40B4-BE49-F238E27FC236}">
                  <a16:creationId xmlns:a16="http://schemas.microsoft.com/office/drawing/2014/main" id="{5A22328F-08B5-48CB-9F7C-45274F1D6E22}"/>
                </a:ext>
              </a:extLst>
            </p:cNvPr>
            <p:cNvSpPr>
              <a:spLocks noChangeArrowheads="1"/>
            </p:cNvSpPr>
            <p:nvPr/>
          </p:nvSpPr>
          <p:spPr bwMode="auto">
            <a:xfrm>
              <a:off x="5584" y="1184"/>
              <a:ext cx="80" cy="78"/>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119829" name="Oval 21">
              <a:extLst>
                <a:ext uri="{FF2B5EF4-FFF2-40B4-BE49-F238E27FC236}">
                  <a16:creationId xmlns:a16="http://schemas.microsoft.com/office/drawing/2014/main" id="{ECF6FF9D-69C3-428A-9C6C-B9EB3FFC1F61}"/>
                </a:ext>
              </a:extLst>
            </p:cNvPr>
            <p:cNvSpPr>
              <a:spLocks noChangeArrowheads="1"/>
            </p:cNvSpPr>
            <p:nvPr/>
          </p:nvSpPr>
          <p:spPr bwMode="auto">
            <a:xfrm>
              <a:off x="5136" y="1296"/>
              <a:ext cx="80" cy="80"/>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19830" name="Oval 22">
              <a:extLst>
                <a:ext uri="{FF2B5EF4-FFF2-40B4-BE49-F238E27FC236}">
                  <a16:creationId xmlns:a16="http://schemas.microsoft.com/office/drawing/2014/main" id="{5FDF3858-A803-4D21-9CAA-681F6CFF6AB3}"/>
                </a:ext>
              </a:extLst>
            </p:cNvPr>
            <p:cNvSpPr>
              <a:spLocks noChangeArrowheads="1"/>
            </p:cNvSpPr>
            <p:nvPr/>
          </p:nvSpPr>
          <p:spPr bwMode="auto">
            <a:xfrm>
              <a:off x="5248" y="1296"/>
              <a:ext cx="79" cy="80"/>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119831" name="Oval 23">
              <a:extLst>
                <a:ext uri="{FF2B5EF4-FFF2-40B4-BE49-F238E27FC236}">
                  <a16:creationId xmlns:a16="http://schemas.microsoft.com/office/drawing/2014/main" id="{F23FD14D-3E7D-4BC7-B41E-840AEDA98C89}"/>
                </a:ext>
              </a:extLst>
            </p:cNvPr>
            <p:cNvSpPr>
              <a:spLocks noChangeArrowheads="1"/>
            </p:cNvSpPr>
            <p:nvPr/>
          </p:nvSpPr>
          <p:spPr bwMode="auto">
            <a:xfrm>
              <a:off x="5360" y="1296"/>
              <a:ext cx="78" cy="80"/>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119832" name="Oval 24">
              <a:extLst>
                <a:ext uri="{FF2B5EF4-FFF2-40B4-BE49-F238E27FC236}">
                  <a16:creationId xmlns:a16="http://schemas.microsoft.com/office/drawing/2014/main" id="{684EC781-7702-4DE0-A3F4-14357C700E91}"/>
                </a:ext>
              </a:extLst>
            </p:cNvPr>
            <p:cNvSpPr>
              <a:spLocks noChangeArrowheads="1"/>
            </p:cNvSpPr>
            <p:nvPr/>
          </p:nvSpPr>
          <p:spPr bwMode="auto">
            <a:xfrm>
              <a:off x="5472" y="1296"/>
              <a:ext cx="78" cy="80"/>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119833" name="Oval 25">
              <a:extLst>
                <a:ext uri="{FF2B5EF4-FFF2-40B4-BE49-F238E27FC236}">
                  <a16:creationId xmlns:a16="http://schemas.microsoft.com/office/drawing/2014/main" id="{66471D04-E680-4F23-9C8D-827C39DF21F5}"/>
                </a:ext>
              </a:extLst>
            </p:cNvPr>
            <p:cNvSpPr>
              <a:spLocks noChangeArrowheads="1"/>
            </p:cNvSpPr>
            <p:nvPr/>
          </p:nvSpPr>
          <p:spPr bwMode="auto">
            <a:xfrm>
              <a:off x="5136" y="1408"/>
              <a:ext cx="80" cy="80"/>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119834" name="Oval 26">
              <a:extLst>
                <a:ext uri="{FF2B5EF4-FFF2-40B4-BE49-F238E27FC236}">
                  <a16:creationId xmlns:a16="http://schemas.microsoft.com/office/drawing/2014/main" id="{951B862D-A829-406B-92BB-86D162CD563B}"/>
                </a:ext>
              </a:extLst>
            </p:cNvPr>
            <p:cNvSpPr>
              <a:spLocks noChangeArrowheads="1"/>
            </p:cNvSpPr>
            <p:nvPr/>
          </p:nvSpPr>
          <p:spPr bwMode="auto">
            <a:xfrm>
              <a:off x="5248" y="1408"/>
              <a:ext cx="79" cy="80"/>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119835" name="Oval 27">
              <a:extLst>
                <a:ext uri="{FF2B5EF4-FFF2-40B4-BE49-F238E27FC236}">
                  <a16:creationId xmlns:a16="http://schemas.microsoft.com/office/drawing/2014/main" id="{D038E047-57FB-49D1-9A37-9D015684A0F6}"/>
                </a:ext>
              </a:extLst>
            </p:cNvPr>
            <p:cNvSpPr>
              <a:spLocks noChangeArrowheads="1"/>
            </p:cNvSpPr>
            <p:nvPr/>
          </p:nvSpPr>
          <p:spPr bwMode="auto">
            <a:xfrm>
              <a:off x="5360" y="1408"/>
              <a:ext cx="78" cy="80"/>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119836" name="Oval 28">
              <a:extLst>
                <a:ext uri="{FF2B5EF4-FFF2-40B4-BE49-F238E27FC236}">
                  <a16:creationId xmlns:a16="http://schemas.microsoft.com/office/drawing/2014/main" id="{A6C2BBA6-9A46-42F7-B2E5-EEA0D72F80BC}"/>
                </a:ext>
              </a:extLst>
            </p:cNvPr>
            <p:cNvSpPr>
              <a:spLocks noChangeArrowheads="1"/>
            </p:cNvSpPr>
            <p:nvPr/>
          </p:nvSpPr>
          <p:spPr bwMode="auto">
            <a:xfrm>
              <a:off x="5472" y="1408"/>
              <a:ext cx="78" cy="80"/>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119837" name="Oval 29">
              <a:extLst>
                <a:ext uri="{FF2B5EF4-FFF2-40B4-BE49-F238E27FC236}">
                  <a16:creationId xmlns:a16="http://schemas.microsoft.com/office/drawing/2014/main" id="{508F4FB9-6847-43F9-BA3E-FDEDD6A9472A}"/>
                </a:ext>
              </a:extLst>
            </p:cNvPr>
            <p:cNvSpPr>
              <a:spLocks noChangeArrowheads="1"/>
            </p:cNvSpPr>
            <p:nvPr/>
          </p:nvSpPr>
          <p:spPr bwMode="auto">
            <a:xfrm>
              <a:off x="5584" y="1408"/>
              <a:ext cx="80" cy="80"/>
            </a:xfrm>
            <a:prstGeom prst="ellipse">
              <a:avLst/>
            </a:prstGeom>
            <a:solidFill>
              <a:schemeClr val="folHlink"/>
            </a:solidFill>
            <a:ln w="9525">
              <a:noFill/>
              <a:round/>
              <a:headEnd/>
              <a:tailEnd/>
            </a:ln>
            <a:effectLst/>
          </p:spPr>
          <p:txBody>
            <a:bodyPr wrap="none" anchor="ctr"/>
            <a:lstStyle/>
            <a:p>
              <a:pPr>
                <a:defRPr/>
              </a:pPr>
              <a:endParaRPr lang="en-US">
                <a:latin typeface="Arial" charset="0"/>
                <a:cs typeface="Arial" charset="0"/>
              </a:endParaRPr>
            </a:p>
          </p:txBody>
        </p:sp>
        <p:sp>
          <p:nvSpPr>
            <p:cNvPr id="119838" name="Oval 30">
              <a:extLst>
                <a:ext uri="{FF2B5EF4-FFF2-40B4-BE49-F238E27FC236}">
                  <a16:creationId xmlns:a16="http://schemas.microsoft.com/office/drawing/2014/main" id="{ECD20DF7-A7B6-48B3-801F-B53B833AFE98}"/>
                </a:ext>
              </a:extLst>
            </p:cNvPr>
            <p:cNvSpPr>
              <a:spLocks noChangeArrowheads="1"/>
            </p:cNvSpPr>
            <p:nvPr/>
          </p:nvSpPr>
          <p:spPr bwMode="auto">
            <a:xfrm>
              <a:off x="5136" y="1520"/>
              <a:ext cx="80" cy="79"/>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119839" name="Oval 31">
              <a:extLst>
                <a:ext uri="{FF2B5EF4-FFF2-40B4-BE49-F238E27FC236}">
                  <a16:creationId xmlns:a16="http://schemas.microsoft.com/office/drawing/2014/main" id="{311551EF-A9DE-41E1-AC29-5F33710BC28B}"/>
                </a:ext>
              </a:extLst>
            </p:cNvPr>
            <p:cNvSpPr>
              <a:spLocks noChangeArrowheads="1"/>
            </p:cNvSpPr>
            <p:nvPr/>
          </p:nvSpPr>
          <p:spPr bwMode="auto">
            <a:xfrm>
              <a:off x="5248" y="1520"/>
              <a:ext cx="79" cy="79"/>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119840" name="Oval 32">
              <a:extLst>
                <a:ext uri="{FF2B5EF4-FFF2-40B4-BE49-F238E27FC236}">
                  <a16:creationId xmlns:a16="http://schemas.microsoft.com/office/drawing/2014/main" id="{182B6E70-C6F4-4267-998A-99B150E74154}"/>
                </a:ext>
              </a:extLst>
            </p:cNvPr>
            <p:cNvSpPr>
              <a:spLocks noChangeArrowheads="1"/>
            </p:cNvSpPr>
            <p:nvPr/>
          </p:nvSpPr>
          <p:spPr bwMode="auto">
            <a:xfrm>
              <a:off x="5360" y="1520"/>
              <a:ext cx="78" cy="79"/>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119841" name="Oval 33">
              <a:extLst>
                <a:ext uri="{FF2B5EF4-FFF2-40B4-BE49-F238E27FC236}">
                  <a16:creationId xmlns:a16="http://schemas.microsoft.com/office/drawing/2014/main" id="{33619555-98D5-426B-9879-6461EA1858C7}"/>
                </a:ext>
              </a:extLst>
            </p:cNvPr>
            <p:cNvSpPr>
              <a:spLocks noChangeArrowheads="1"/>
            </p:cNvSpPr>
            <p:nvPr/>
          </p:nvSpPr>
          <p:spPr bwMode="auto">
            <a:xfrm>
              <a:off x="5472" y="1520"/>
              <a:ext cx="78" cy="79"/>
            </a:xfrm>
            <a:prstGeom prst="ellipse">
              <a:avLst/>
            </a:prstGeom>
            <a:solidFill>
              <a:schemeClr val="folHlink"/>
            </a:solidFill>
            <a:ln w="9525">
              <a:noFill/>
              <a:round/>
              <a:headEnd/>
              <a:tailEnd/>
            </a:ln>
            <a:effectLst/>
          </p:spPr>
          <p:txBody>
            <a:bodyPr wrap="none" anchor="ctr"/>
            <a:lstStyle/>
            <a:p>
              <a:pPr>
                <a:defRPr/>
              </a:pPr>
              <a:endParaRPr lang="en-US">
                <a:latin typeface="Arial" charset="0"/>
                <a:cs typeface="Arial" charset="0"/>
              </a:endParaRPr>
            </a:p>
          </p:txBody>
        </p:sp>
        <p:sp>
          <p:nvSpPr>
            <p:cNvPr id="119842" name="Oval 34">
              <a:extLst>
                <a:ext uri="{FF2B5EF4-FFF2-40B4-BE49-F238E27FC236}">
                  <a16:creationId xmlns:a16="http://schemas.microsoft.com/office/drawing/2014/main" id="{B0C36093-0055-4EB6-99ED-CBC9F750B752}"/>
                </a:ext>
              </a:extLst>
            </p:cNvPr>
            <p:cNvSpPr>
              <a:spLocks noChangeArrowheads="1"/>
            </p:cNvSpPr>
            <p:nvPr/>
          </p:nvSpPr>
          <p:spPr bwMode="auto">
            <a:xfrm>
              <a:off x="5136" y="1632"/>
              <a:ext cx="80" cy="78"/>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119843" name="Oval 35">
              <a:extLst>
                <a:ext uri="{FF2B5EF4-FFF2-40B4-BE49-F238E27FC236}">
                  <a16:creationId xmlns:a16="http://schemas.microsoft.com/office/drawing/2014/main" id="{9F7A0BDE-2872-425F-9F23-2BA3E90C5D8F}"/>
                </a:ext>
              </a:extLst>
            </p:cNvPr>
            <p:cNvSpPr>
              <a:spLocks noChangeArrowheads="1"/>
            </p:cNvSpPr>
            <p:nvPr/>
          </p:nvSpPr>
          <p:spPr bwMode="auto">
            <a:xfrm>
              <a:off x="5248" y="1632"/>
              <a:ext cx="79" cy="78"/>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119844" name="Oval 36">
              <a:extLst>
                <a:ext uri="{FF2B5EF4-FFF2-40B4-BE49-F238E27FC236}">
                  <a16:creationId xmlns:a16="http://schemas.microsoft.com/office/drawing/2014/main" id="{1AF82F85-D41D-454C-AD70-AD8A5207109C}"/>
                </a:ext>
              </a:extLst>
            </p:cNvPr>
            <p:cNvSpPr>
              <a:spLocks noChangeArrowheads="1"/>
            </p:cNvSpPr>
            <p:nvPr/>
          </p:nvSpPr>
          <p:spPr bwMode="auto">
            <a:xfrm>
              <a:off x="5360" y="1632"/>
              <a:ext cx="78" cy="78"/>
            </a:xfrm>
            <a:prstGeom prst="ellipse">
              <a:avLst/>
            </a:prstGeom>
            <a:solidFill>
              <a:schemeClr val="folHlink"/>
            </a:solidFill>
            <a:ln w="9525">
              <a:noFill/>
              <a:round/>
              <a:headEnd/>
              <a:tailEnd/>
            </a:ln>
            <a:effectLst/>
          </p:spPr>
          <p:txBody>
            <a:bodyPr wrap="none" anchor="ctr"/>
            <a:lstStyle/>
            <a:p>
              <a:pPr>
                <a:defRPr/>
              </a:pPr>
              <a:endParaRPr lang="en-US">
                <a:latin typeface="Arial" charset="0"/>
                <a:cs typeface="Arial" charset="0"/>
              </a:endParaRPr>
            </a:p>
          </p:txBody>
        </p:sp>
        <p:sp>
          <p:nvSpPr>
            <p:cNvPr id="119845" name="Oval 37">
              <a:extLst>
                <a:ext uri="{FF2B5EF4-FFF2-40B4-BE49-F238E27FC236}">
                  <a16:creationId xmlns:a16="http://schemas.microsoft.com/office/drawing/2014/main" id="{F3887536-BFCA-452D-A126-03A9C86FFFEB}"/>
                </a:ext>
              </a:extLst>
            </p:cNvPr>
            <p:cNvSpPr>
              <a:spLocks noChangeArrowheads="1"/>
            </p:cNvSpPr>
            <p:nvPr/>
          </p:nvSpPr>
          <p:spPr bwMode="auto">
            <a:xfrm>
              <a:off x="5472" y="1632"/>
              <a:ext cx="78" cy="78"/>
            </a:xfrm>
            <a:prstGeom prst="ellipse">
              <a:avLst/>
            </a:prstGeom>
            <a:solidFill>
              <a:schemeClr val="folHlink"/>
            </a:solidFill>
            <a:ln w="9525">
              <a:noFill/>
              <a:round/>
              <a:headEnd/>
              <a:tailEnd/>
            </a:ln>
            <a:effectLst/>
          </p:spPr>
          <p:txBody>
            <a:bodyPr wrap="none" anchor="ctr"/>
            <a:lstStyle/>
            <a:p>
              <a:pPr>
                <a:defRPr/>
              </a:pPr>
              <a:endParaRPr lang="en-US">
                <a:latin typeface="Arial" charset="0"/>
                <a:cs typeface="Arial" charset="0"/>
              </a:endParaRPr>
            </a:p>
          </p:txBody>
        </p:sp>
        <p:sp>
          <p:nvSpPr>
            <p:cNvPr id="119846" name="Oval 38">
              <a:extLst>
                <a:ext uri="{FF2B5EF4-FFF2-40B4-BE49-F238E27FC236}">
                  <a16:creationId xmlns:a16="http://schemas.microsoft.com/office/drawing/2014/main" id="{917E208B-F454-4CD1-9CC4-194CCCCA3ED0}"/>
                </a:ext>
              </a:extLst>
            </p:cNvPr>
            <p:cNvSpPr>
              <a:spLocks noChangeArrowheads="1"/>
            </p:cNvSpPr>
            <p:nvPr/>
          </p:nvSpPr>
          <p:spPr bwMode="auto">
            <a:xfrm>
              <a:off x="5248" y="1744"/>
              <a:ext cx="79" cy="80"/>
            </a:xfrm>
            <a:prstGeom prst="ellipse">
              <a:avLst/>
            </a:prstGeom>
            <a:solidFill>
              <a:schemeClr val="folHlink"/>
            </a:solidFill>
            <a:ln w="9525">
              <a:noFill/>
              <a:round/>
              <a:headEnd/>
              <a:tailEnd/>
            </a:ln>
            <a:effectLst/>
          </p:spPr>
          <p:txBody>
            <a:bodyPr wrap="none" anchor="ctr"/>
            <a:lstStyle/>
            <a:p>
              <a:pPr>
                <a:defRPr/>
              </a:pPr>
              <a:endParaRPr lang="en-US">
                <a:latin typeface="Arial" charset="0"/>
                <a:cs typeface="Arial" charset="0"/>
              </a:endParaRPr>
            </a:p>
          </p:txBody>
        </p:sp>
        <p:sp>
          <p:nvSpPr>
            <p:cNvPr id="119847" name="Oval 39">
              <a:extLst>
                <a:ext uri="{FF2B5EF4-FFF2-40B4-BE49-F238E27FC236}">
                  <a16:creationId xmlns:a16="http://schemas.microsoft.com/office/drawing/2014/main" id="{64575B4E-1CF9-4389-B188-93F4640DB895}"/>
                </a:ext>
              </a:extLst>
            </p:cNvPr>
            <p:cNvSpPr>
              <a:spLocks noChangeArrowheads="1"/>
            </p:cNvSpPr>
            <p:nvPr/>
          </p:nvSpPr>
          <p:spPr bwMode="auto">
            <a:xfrm>
              <a:off x="5472" y="1744"/>
              <a:ext cx="78" cy="80"/>
            </a:xfrm>
            <a:prstGeom prst="ellipse">
              <a:avLst/>
            </a:prstGeom>
            <a:solidFill>
              <a:schemeClr val="folHlink"/>
            </a:solidFill>
            <a:ln w="9525">
              <a:noFill/>
              <a:round/>
              <a:headEnd/>
              <a:tailEnd/>
            </a:ln>
            <a:effectLst/>
          </p:spPr>
          <p:txBody>
            <a:bodyPr wrap="none" anchor="ctr"/>
            <a:lstStyle/>
            <a:p>
              <a:pPr>
                <a:defRPr/>
              </a:pPr>
              <a:endParaRPr lang="en-US">
                <a:latin typeface="Arial" charset="0"/>
                <a:cs typeface="Arial" charset="0"/>
              </a:endParaRPr>
            </a:p>
          </p:txBody>
        </p:sp>
      </p:grpSp>
    </p:spTree>
  </p:cSld>
  <p:clrMap bg1="lt1" tx1="dk1" bg2="lt2" tx2="dk2" accent1="accent1" accent2="accent2" accent3="accent3" accent4="accent4" accent5="accent5" accent6="accent6" hlink="hlink" folHlink="folHlink"/>
  <p:sldLayoutIdLst>
    <p:sldLayoutId id="2147483721"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 id="2147483720" r:id="rId13"/>
  </p:sldLayoutIdLst>
  <p:hf hdr="0" dt="0"/>
  <p:txStyles>
    <p:title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charset="0"/>
          <a:cs typeface="Arial" charset="0"/>
        </a:defRPr>
      </a:lvl2pPr>
      <a:lvl3pPr algn="l" rtl="0" eaLnBrk="0" fontAlgn="base" hangingPunct="0">
        <a:spcBef>
          <a:spcPct val="0"/>
        </a:spcBef>
        <a:spcAft>
          <a:spcPct val="0"/>
        </a:spcAft>
        <a:defRPr sz="3900" b="1">
          <a:solidFill>
            <a:schemeClr val="tx2"/>
          </a:solidFill>
          <a:latin typeface="Arial" charset="0"/>
          <a:cs typeface="Arial" charset="0"/>
        </a:defRPr>
      </a:lvl3pPr>
      <a:lvl4pPr algn="l" rtl="0" eaLnBrk="0" fontAlgn="base" hangingPunct="0">
        <a:spcBef>
          <a:spcPct val="0"/>
        </a:spcBef>
        <a:spcAft>
          <a:spcPct val="0"/>
        </a:spcAft>
        <a:defRPr sz="3900" b="1">
          <a:solidFill>
            <a:schemeClr val="tx2"/>
          </a:solidFill>
          <a:latin typeface="Arial" charset="0"/>
          <a:cs typeface="Arial" charset="0"/>
        </a:defRPr>
      </a:lvl4pPr>
      <a:lvl5pPr algn="l" rtl="0" eaLnBrk="0" fontAlgn="base" hangingPunct="0">
        <a:spcBef>
          <a:spcPct val="0"/>
        </a:spcBef>
        <a:spcAft>
          <a:spcPct val="0"/>
        </a:spcAft>
        <a:defRPr sz="3900" b="1">
          <a:solidFill>
            <a:schemeClr val="tx2"/>
          </a:solidFill>
          <a:latin typeface="Arial" charset="0"/>
          <a:cs typeface="Arial" charset="0"/>
        </a:defRPr>
      </a:lvl5pPr>
      <a:lvl6pPr marL="457200" algn="l" rtl="0" fontAlgn="base">
        <a:spcBef>
          <a:spcPct val="0"/>
        </a:spcBef>
        <a:spcAft>
          <a:spcPct val="0"/>
        </a:spcAft>
        <a:defRPr sz="3900" b="1">
          <a:solidFill>
            <a:schemeClr val="tx2"/>
          </a:solidFill>
          <a:latin typeface="Arial" charset="0"/>
          <a:cs typeface="Arial" charset="0"/>
        </a:defRPr>
      </a:lvl6pPr>
      <a:lvl7pPr marL="914400" algn="l" rtl="0" fontAlgn="base">
        <a:spcBef>
          <a:spcPct val="0"/>
        </a:spcBef>
        <a:spcAft>
          <a:spcPct val="0"/>
        </a:spcAft>
        <a:defRPr sz="3900" b="1">
          <a:solidFill>
            <a:schemeClr val="tx2"/>
          </a:solidFill>
          <a:latin typeface="Arial" charset="0"/>
          <a:cs typeface="Arial" charset="0"/>
        </a:defRPr>
      </a:lvl7pPr>
      <a:lvl8pPr marL="1371600" algn="l" rtl="0" fontAlgn="base">
        <a:spcBef>
          <a:spcPct val="0"/>
        </a:spcBef>
        <a:spcAft>
          <a:spcPct val="0"/>
        </a:spcAft>
        <a:defRPr sz="3900" b="1">
          <a:solidFill>
            <a:schemeClr val="tx2"/>
          </a:solidFill>
          <a:latin typeface="Arial" charset="0"/>
          <a:cs typeface="Arial" charset="0"/>
        </a:defRPr>
      </a:lvl8pPr>
      <a:lvl9pPr marL="1828800" algn="l" rtl="0" fontAlgn="base">
        <a:spcBef>
          <a:spcPct val="0"/>
        </a:spcBef>
        <a:spcAft>
          <a:spcPct val="0"/>
        </a:spcAft>
        <a:defRPr sz="3900" b="1">
          <a:solidFill>
            <a:schemeClr val="tx2"/>
          </a:solidFill>
          <a:latin typeface="Arial" charset="0"/>
          <a:cs typeface="Arial" charset="0"/>
        </a:defRPr>
      </a:lvl9pPr>
    </p:titleStyle>
    <p:body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mn-ea"/>
          <a:cs typeface="+mn-cs"/>
        </a:defRPr>
      </a:lvl1pPr>
      <a:lvl2pPr marL="692150" indent="-347663"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cs typeface="+mn-cs"/>
        </a:defRPr>
      </a:lvl2pPr>
      <a:lvl3pPr marL="987425" indent="-293688"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cs typeface="+mn-cs"/>
        </a:defRPr>
      </a:lvl3pPr>
      <a:lvl4pPr marL="1281113"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cs typeface="+mn-cs"/>
        </a:defRPr>
      </a:lvl4pPr>
      <a:lvl5pPr marL="1598613" indent="-315913"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cs typeface="+mn-cs"/>
        </a:defRPr>
      </a:lvl5pPr>
      <a:lvl6pPr marL="20558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6pPr>
      <a:lvl7pPr marL="25130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7pPr>
      <a:lvl8pPr marL="29702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8pPr>
      <a:lvl9pPr marL="34274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4.wmf"/></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8.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53.xml"/><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58.xml"/><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59.xml"/><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1.xml"/><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notesSlide" Target="../notesSlides/notesSlide65.xml"/><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notesSlide" Target="../notesSlides/notesSlide70.xml"/><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notesSlide" Target="../notesSlides/notesSlide71.xml"/><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notesSlide" Target="../notesSlides/notesSlide72.xml"/><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notesSlide" Target="../notesSlides/notesSlide73.xml"/><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notesSlide" Target="../notesSlides/notesSlide74.xml"/><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8.xml"/><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79.xml"/><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Footer Placeholder 3">
            <a:extLst>
              <a:ext uri="{FF2B5EF4-FFF2-40B4-BE49-F238E27FC236}">
                <a16:creationId xmlns:a16="http://schemas.microsoft.com/office/drawing/2014/main" id="{0D547713-02A7-4A38-9784-ED78BEFE9BCD}"/>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Systems Analysis and Design in a Changing World, 6th Edition</a:t>
            </a:r>
          </a:p>
        </p:txBody>
      </p:sp>
      <p:sp>
        <p:nvSpPr>
          <p:cNvPr id="3075" name="Slide Number Placeholder 4">
            <a:extLst>
              <a:ext uri="{FF2B5EF4-FFF2-40B4-BE49-F238E27FC236}">
                <a16:creationId xmlns:a16="http://schemas.microsoft.com/office/drawing/2014/main" id="{33524ADC-7F4A-49AF-8B91-DACD2D059E2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345C4CF-4499-4C91-BDB8-D3516B46A650}" type="slidenum">
              <a:rPr lang="en-US" altLang="en-US"/>
              <a:pPr eaLnBrk="1" hangingPunct="1"/>
              <a:t>1</a:t>
            </a:fld>
            <a:endParaRPr lang="en-US" altLang="en-US"/>
          </a:p>
        </p:txBody>
      </p:sp>
      <p:sp>
        <p:nvSpPr>
          <p:cNvPr id="3076" name="Text Box 3">
            <a:extLst>
              <a:ext uri="{FF2B5EF4-FFF2-40B4-BE49-F238E27FC236}">
                <a16:creationId xmlns:a16="http://schemas.microsoft.com/office/drawing/2014/main" id="{AD059294-B462-49D1-B52E-8DDB1E1D51DF}"/>
              </a:ext>
            </a:extLst>
          </p:cNvPr>
          <p:cNvSpPr txBox="1">
            <a:spLocks noChangeArrowheads="1"/>
          </p:cNvSpPr>
          <p:nvPr/>
        </p:nvSpPr>
        <p:spPr bwMode="auto">
          <a:xfrm>
            <a:off x="1066800" y="4495800"/>
            <a:ext cx="7086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zh-CN" sz="4000">
                <a:solidFill>
                  <a:schemeClr val="bg1"/>
                </a:solidFill>
                <a:ea typeface="宋体" panose="02010600030101010101" pitchFamily="2" charset="-122"/>
              </a:rPr>
              <a:t>Chapter 6</a:t>
            </a:r>
          </a:p>
        </p:txBody>
      </p:sp>
      <p:sp>
        <p:nvSpPr>
          <p:cNvPr id="3077" name="TextBox 6">
            <a:extLst>
              <a:ext uri="{FF2B5EF4-FFF2-40B4-BE49-F238E27FC236}">
                <a16:creationId xmlns:a16="http://schemas.microsoft.com/office/drawing/2014/main" id="{6431DF41-6A6F-44A8-9198-6860198BAAAD}"/>
              </a:ext>
            </a:extLst>
          </p:cNvPr>
          <p:cNvSpPr txBox="1">
            <a:spLocks noChangeArrowheads="1"/>
          </p:cNvSpPr>
          <p:nvPr/>
        </p:nvSpPr>
        <p:spPr bwMode="auto">
          <a:xfrm>
            <a:off x="838200" y="152400"/>
            <a:ext cx="8153400" cy="2616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4400">
                <a:solidFill>
                  <a:srgbClr val="003399"/>
                </a:solidFill>
                <a:latin typeface="Times New Roman" panose="02020603050405020304" pitchFamily="18" charset="0"/>
                <a:ea typeface="宋体" panose="02010600030101010101" pitchFamily="2" charset="-122"/>
                <a:cs typeface="Times New Roman" panose="02020603050405020304" pitchFamily="18" charset="0"/>
              </a:rPr>
              <a:t>INTRODUCTION TO </a:t>
            </a:r>
          </a:p>
          <a:p>
            <a:pPr eaLnBrk="1" hangingPunct="1"/>
            <a:r>
              <a:rPr lang="en-US" altLang="zh-CN" sz="4400">
                <a:solidFill>
                  <a:srgbClr val="003399"/>
                </a:solidFill>
                <a:latin typeface="Times New Roman" panose="02020603050405020304" pitchFamily="18" charset="0"/>
                <a:ea typeface="宋体" panose="02010600030101010101" pitchFamily="2" charset="-122"/>
                <a:cs typeface="Times New Roman" panose="02020603050405020304" pitchFamily="18" charset="0"/>
              </a:rPr>
              <a:t>SYSTEMS ANALYSIS AND DESIGN:</a:t>
            </a:r>
          </a:p>
          <a:p>
            <a:pPr algn="r" eaLnBrk="1" hangingPunct="1"/>
            <a:r>
              <a:rPr lang="en-US" altLang="zh-CN" sz="3200">
                <a:solidFill>
                  <a:srgbClr val="0070C0"/>
                </a:solidFill>
                <a:latin typeface="Times New Roman" panose="02020603050405020304" pitchFamily="18" charset="0"/>
                <a:ea typeface="宋体" panose="02010600030101010101" pitchFamily="2" charset="-122"/>
                <a:cs typeface="Times New Roman" panose="02020603050405020304" pitchFamily="18" charset="0"/>
              </a:rPr>
              <a:t>AN AGILE, ITERATIVE APPROACH</a:t>
            </a:r>
          </a:p>
        </p:txBody>
      </p:sp>
      <p:sp>
        <p:nvSpPr>
          <p:cNvPr id="8" name="Rectangle 7">
            <a:extLst>
              <a:ext uri="{FF2B5EF4-FFF2-40B4-BE49-F238E27FC236}">
                <a16:creationId xmlns:a16="http://schemas.microsoft.com/office/drawing/2014/main" id="{1F3E3FC9-2FF3-47D4-A951-2C92130C97E3}"/>
              </a:ext>
            </a:extLst>
          </p:cNvPr>
          <p:cNvSpPr/>
          <p:nvPr/>
        </p:nvSpPr>
        <p:spPr>
          <a:xfrm>
            <a:off x="0" y="3048000"/>
            <a:ext cx="9144000" cy="3810000"/>
          </a:xfrm>
          <a:prstGeom prst="rect">
            <a:avLst/>
          </a:prstGeom>
          <a:solidFill>
            <a:srgbClr val="000066"/>
          </a:solidFill>
          <a:ln>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dirty="0">
              <a:solidFill>
                <a:srgbClr val="0033CC"/>
              </a:solidFill>
            </a:endParaRPr>
          </a:p>
        </p:txBody>
      </p:sp>
      <p:sp>
        <p:nvSpPr>
          <p:cNvPr id="3079" name="TextBox 10">
            <a:extLst>
              <a:ext uri="{FF2B5EF4-FFF2-40B4-BE49-F238E27FC236}">
                <a16:creationId xmlns:a16="http://schemas.microsoft.com/office/drawing/2014/main" id="{7B655B71-E935-429A-9D61-0EE58A15FC97}"/>
              </a:ext>
            </a:extLst>
          </p:cNvPr>
          <p:cNvSpPr txBox="1">
            <a:spLocks noChangeArrowheads="1"/>
          </p:cNvSpPr>
          <p:nvPr/>
        </p:nvSpPr>
        <p:spPr bwMode="auto">
          <a:xfrm>
            <a:off x="685800" y="4495800"/>
            <a:ext cx="31242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3200">
                <a:solidFill>
                  <a:schemeClr val="bg1"/>
                </a:solidFill>
                <a:ea typeface="宋体" panose="02010600030101010101" pitchFamily="2" charset="-122"/>
              </a:rPr>
              <a:t>CHAPTER 6</a:t>
            </a:r>
          </a:p>
        </p:txBody>
      </p:sp>
      <p:sp>
        <p:nvSpPr>
          <p:cNvPr id="3080" name="TextBox 9">
            <a:extLst>
              <a:ext uri="{FF2B5EF4-FFF2-40B4-BE49-F238E27FC236}">
                <a16:creationId xmlns:a16="http://schemas.microsoft.com/office/drawing/2014/main" id="{74F647FB-34B6-4BE3-B7DD-AB648F534DEF}"/>
              </a:ext>
            </a:extLst>
          </p:cNvPr>
          <p:cNvSpPr txBox="1">
            <a:spLocks noChangeArrowheads="1"/>
          </p:cNvSpPr>
          <p:nvPr/>
        </p:nvSpPr>
        <p:spPr bwMode="auto">
          <a:xfrm>
            <a:off x="3810000" y="3200400"/>
            <a:ext cx="5105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2400">
                <a:solidFill>
                  <a:schemeClr val="bg1"/>
                </a:solidFill>
                <a:ea typeface="宋体" panose="02010600030101010101" pitchFamily="2" charset="-122"/>
              </a:rPr>
              <a:t>SATZINGER | JACKSON | BURD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50928326-33C7-41F2-B0FB-2D7E4EBF240E}"/>
              </a:ext>
            </a:extLst>
          </p:cNvPr>
          <p:cNvSpPr>
            <a:spLocks noGrp="1" noChangeArrowheads="1"/>
          </p:cNvSpPr>
          <p:nvPr>
            <p:ph type="ctrTitle"/>
          </p:nvPr>
        </p:nvSpPr>
        <p:spPr>
          <a:xfrm>
            <a:off x="685800" y="609600"/>
            <a:ext cx="6411913" cy="1143000"/>
          </a:xfrm>
        </p:spPr>
        <p:txBody>
          <a:bodyPr/>
          <a:lstStyle/>
          <a:p>
            <a:pPr algn="l" eaLnBrk="1" hangingPunct="1"/>
            <a:r>
              <a:rPr lang="en-US" altLang="zh-CN" sz="3600" dirty="0">
                <a:ea typeface="宋体" panose="02010600030101010101" pitchFamily="2" charset="-122"/>
              </a:rPr>
              <a:t>Essentials of Design and the Design Activities</a:t>
            </a:r>
          </a:p>
        </p:txBody>
      </p:sp>
      <p:sp>
        <p:nvSpPr>
          <p:cNvPr id="4099" name="Rectangle 3">
            <a:extLst>
              <a:ext uri="{FF2B5EF4-FFF2-40B4-BE49-F238E27FC236}">
                <a16:creationId xmlns:a16="http://schemas.microsoft.com/office/drawing/2014/main" id="{70E5C654-43AA-4EAD-82B9-630DE533F131}"/>
              </a:ext>
            </a:extLst>
          </p:cNvPr>
          <p:cNvSpPr>
            <a:spLocks noGrp="1" noChangeArrowheads="1"/>
          </p:cNvSpPr>
          <p:nvPr>
            <p:ph type="subTitle" idx="1"/>
          </p:nvPr>
        </p:nvSpPr>
        <p:spPr>
          <a:xfrm>
            <a:off x="1970088" y="3656013"/>
            <a:ext cx="4267200" cy="1522412"/>
          </a:xfrm>
        </p:spPr>
        <p:txBody>
          <a:bodyPr/>
          <a:lstStyle/>
          <a:p>
            <a:pPr eaLnBrk="1" hangingPunct="1">
              <a:lnSpc>
                <a:spcPct val="80000"/>
              </a:lnSpc>
            </a:pPr>
            <a:r>
              <a:rPr lang="en-US" altLang="zh-CN" sz="2400">
                <a:ea typeface="宋体" panose="02010600030101010101" pitchFamily="2" charset="-122"/>
              </a:rPr>
              <a:t>Introduction to Systems </a:t>
            </a:r>
          </a:p>
          <a:p>
            <a:pPr eaLnBrk="1" hangingPunct="1">
              <a:lnSpc>
                <a:spcPct val="80000"/>
              </a:lnSpc>
            </a:pPr>
            <a:r>
              <a:rPr lang="en-US" altLang="zh-CN" sz="2400">
                <a:ea typeface="宋体" panose="02010600030101010101" pitchFamily="2" charset="-122"/>
              </a:rPr>
              <a:t>Analysis and Design: </a:t>
            </a:r>
          </a:p>
          <a:p>
            <a:pPr eaLnBrk="1" hangingPunct="1">
              <a:lnSpc>
                <a:spcPct val="80000"/>
              </a:lnSpc>
            </a:pPr>
            <a:r>
              <a:rPr lang="en-US" altLang="zh-CN" sz="2400">
                <a:ea typeface="宋体" panose="02010600030101010101" pitchFamily="2" charset="-122"/>
              </a:rPr>
              <a:t>An Agile, Iteractive Approach </a:t>
            </a:r>
          </a:p>
          <a:p>
            <a:pPr eaLnBrk="1" hangingPunct="1">
              <a:lnSpc>
                <a:spcPct val="80000"/>
              </a:lnSpc>
            </a:pPr>
            <a:r>
              <a:rPr lang="en-US" altLang="zh-CN" sz="2400">
                <a:ea typeface="宋体" panose="02010600030101010101" pitchFamily="2" charset="-122"/>
              </a:rPr>
              <a:t>6</a:t>
            </a:r>
            <a:r>
              <a:rPr lang="en-US" altLang="zh-CN" sz="2400" baseline="30000">
                <a:ea typeface="宋体" panose="02010600030101010101" pitchFamily="2" charset="-122"/>
              </a:rPr>
              <a:t>th</a:t>
            </a:r>
            <a:r>
              <a:rPr lang="en-US" altLang="zh-CN" sz="2400">
                <a:ea typeface="宋体" panose="02010600030101010101" pitchFamily="2" charset="-122"/>
              </a:rPr>
              <a:t> Ed</a:t>
            </a:r>
          </a:p>
          <a:p>
            <a:pPr eaLnBrk="1" hangingPunct="1">
              <a:lnSpc>
                <a:spcPct val="80000"/>
              </a:lnSpc>
            </a:pPr>
            <a:endParaRPr lang="en-US" altLang="zh-CN" sz="2400">
              <a:ea typeface="宋体" panose="02010600030101010101" pitchFamily="2" charset="-122"/>
            </a:endParaRPr>
          </a:p>
          <a:p>
            <a:pPr eaLnBrk="1" hangingPunct="1">
              <a:lnSpc>
                <a:spcPct val="80000"/>
              </a:lnSpc>
            </a:pPr>
            <a:r>
              <a:rPr lang="en-US" altLang="zh-CN" sz="2400">
                <a:ea typeface="宋体" panose="02010600030101010101" pitchFamily="2" charset="-122"/>
              </a:rPr>
              <a:t>Satzinger, Jackson &amp; Burd</a:t>
            </a:r>
          </a:p>
        </p:txBody>
      </p:sp>
      <p:sp>
        <p:nvSpPr>
          <p:cNvPr id="4100" name="Rectangle 4">
            <a:extLst>
              <a:ext uri="{FF2B5EF4-FFF2-40B4-BE49-F238E27FC236}">
                <a16:creationId xmlns:a16="http://schemas.microsoft.com/office/drawing/2014/main" id="{91CABF73-477F-43BE-A741-E334C606CF6D}"/>
              </a:ext>
            </a:extLst>
          </p:cNvPr>
          <p:cNvSpPr>
            <a:spLocks noChangeArrowheads="1"/>
          </p:cNvSpPr>
          <p:nvPr/>
        </p:nvSpPr>
        <p:spPr bwMode="auto">
          <a:xfrm>
            <a:off x="381000" y="1828800"/>
            <a:ext cx="67818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br>
              <a:rPr lang="en-US" altLang="zh-CN" sz="2000" b="1">
                <a:solidFill>
                  <a:schemeClr val="tx2"/>
                </a:solidFill>
                <a:ea typeface="宋体" panose="02010600030101010101" pitchFamily="2" charset="-122"/>
              </a:rPr>
            </a:br>
            <a:r>
              <a:rPr lang="en-US" altLang="zh-CN" sz="4000" b="1">
                <a:solidFill>
                  <a:schemeClr val="tx2"/>
                </a:solidFill>
                <a:ea typeface="宋体" panose="02010600030101010101" pitchFamily="2" charset="-122"/>
              </a:rPr>
              <a:t>Chapter 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Footer Placeholder 4">
            <a:extLst>
              <a:ext uri="{FF2B5EF4-FFF2-40B4-BE49-F238E27FC236}">
                <a16:creationId xmlns:a16="http://schemas.microsoft.com/office/drawing/2014/main" id="{46C70101-3F41-4FB0-82D8-67EFAF11A4D1}"/>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5123" name="Slide Number Placeholder 5">
            <a:extLst>
              <a:ext uri="{FF2B5EF4-FFF2-40B4-BE49-F238E27FC236}">
                <a16:creationId xmlns:a16="http://schemas.microsoft.com/office/drawing/2014/main" id="{4C924B88-EF74-42E3-A7A8-267A5444104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9568D79-C975-4B7D-9C16-7B45C0063EDD}" type="slidenum">
              <a:rPr lang="en-US" altLang="en-US"/>
              <a:pPr eaLnBrk="1" hangingPunct="1"/>
              <a:t>3</a:t>
            </a:fld>
            <a:endParaRPr lang="en-US" altLang="en-US"/>
          </a:p>
        </p:txBody>
      </p:sp>
      <p:sp>
        <p:nvSpPr>
          <p:cNvPr id="5124" name="Rectangle 2">
            <a:extLst>
              <a:ext uri="{FF2B5EF4-FFF2-40B4-BE49-F238E27FC236}">
                <a16:creationId xmlns:a16="http://schemas.microsoft.com/office/drawing/2014/main" id="{64AA83B5-87A1-459A-BE63-C7FE4FE1EFDF}"/>
              </a:ext>
            </a:extLst>
          </p:cNvPr>
          <p:cNvSpPr>
            <a:spLocks noGrp="1" noChangeArrowheads="1"/>
          </p:cNvSpPr>
          <p:nvPr>
            <p:ph type="title"/>
          </p:nvPr>
        </p:nvSpPr>
        <p:spPr/>
        <p:txBody>
          <a:bodyPr/>
          <a:lstStyle/>
          <a:p>
            <a:pPr eaLnBrk="1" hangingPunct="1"/>
            <a:r>
              <a:rPr lang="en-US" altLang="zh-CN">
                <a:ea typeface="宋体" panose="02010600030101010101" pitchFamily="2" charset="-122"/>
              </a:rPr>
              <a:t>Chapter 6 Outline</a:t>
            </a:r>
          </a:p>
        </p:txBody>
      </p:sp>
      <p:sp>
        <p:nvSpPr>
          <p:cNvPr id="5125" name="Rectangle 3">
            <a:extLst>
              <a:ext uri="{FF2B5EF4-FFF2-40B4-BE49-F238E27FC236}">
                <a16:creationId xmlns:a16="http://schemas.microsoft.com/office/drawing/2014/main" id="{AD2D061E-90BF-4146-ADB7-9BA17BB68976}"/>
              </a:ext>
            </a:extLst>
          </p:cNvPr>
          <p:cNvSpPr>
            <a:spLocks noGrp="1" noChangeArrowheads="1"/>
          </p:cNvSpPr>
          <p:nvPr>
            <p:ph type="body" idx="1"/>
          </p:nvPr>
        </p:nvSpPr>
        <p:spPr>
          <a:xfrm>
            <a:off x="457200" y="1752600"/>
            <a:ext cx="8229600" cy="4411663"/>
          </a:xfrm>
        </p:spPr>
        <p:txBody>
          <a:bodyPr/>
          <a:lstStyle/>
          <a:p>
            <a:pPr eaLnBrk="1" hangingPunct="1"/>
            <a:r>
              <a:rPr lang="en-US" altLang="zh-CN" sz="3200" dirty="0">
                <a:ea typeface="宋体" panose="02010600030101010101" pitchFamily="2" charset="-122"/>
              </a:rPr>
              <a:t>The Elements of Design</a:t>
            </a:r>
            <a:r>
              <a:rPr lang="zh-CN" altLang="en-US" sz="3200" dirty="0">
                <a:ea typeface="宋体" panose="02010600030101010101" pitchFamily="2" charset="-122"/>
              </a:rPr>
              <a:t>（设计的要素）</a:t>
            </a:r>
            <a:endParaRPr lang="en-US" altLang="zh-CN" sz="3200" dirty="0">
              <a:ea typeface="宋体" panose="02010600030101010101" pitchFamily="2" charset="-122"/>
            </a:endParaRPr>
          </a:p>
          <a:p>
            <a:pPr eaLnBrk="1" hangingPunct="1"/>
            <a:r>
              <a:rPr lang="en-US" altLang="zh-CN" sz="3200" dirty="0">
                <a:ea typeface="宋体" panose="02010600030101010101" pitchFamily="2" charset="-122"/>
              </a:rPr>
              <a:t>Inputs and Outputs for Systems Design</a:t>
            </a:r>
            <a:r>
              <a:rPr lang="zh-CN" altLang="en-US" sz="3200" dirty="0">
                <a:ea typeface="宋体" panose="02010600030101010101" pitchFamily="2" charset="-122"/>
              </a:rPr>
              <a:t>（系统设计的输入和输出）</a:t>
            </a:r>
            <a:endParaRPr lang="en-US" altLang="zh-CN" sz="3200" dirty="0">
              <a:ea typeface="宋体" panose="02010600030101010101" pitchFamily="2" charset="-122"/>
            </a:endParaRPr>
          </a:p>
          <a:p>
            <a:pPr eaLnBrk="1" hangingPunct="1"/>
            <a:r>
              <a:rPr lang="en-US" altLang="zh-CN" sz="3200" dirty="0">
                <a:ea typeface="宋体" panose="02010600030101010101" pitchFamily="2" charset="-122"/>
              </a:rPr>
              <a:t>Design Activities</a:t>
            </a:r>
            <a:r>
              <a:rPr lang="zh-CN" altLang="en-US" sz="3200" dirty="0">
                <a:ea typeface="宋体" panose="02010600030101010101" pitchFamily="2" charset="-122"/>
              </a:rPr>
              <a:t>（设计活动）</a:t>
            </a:r>
            <a:endParaRPr lang="en-US" altLang="zh-CN" sz="3200" dirty="0">
              <a:ea typeface="宋体" panose="02010600030101010101" pitchFamily="2" charset="-122"/>
            </a:endParaRPr>
          </a:p>
          <a:p>
            <a:pPr eaLnBrk="1" hangingPunct="1"/>
            <a:r>
              <a:rPr lang="en-US" altLang="zh-CN" sz="3200" dirty="0">
                <a:ea typeface="宋体" panose="02010600030101010101" pitchFamily="2" charset="-122"/>
              </a:rPr>
              <a:t>Design Activity: Design the Environment</a:t>
            </a:r>
            <a:r>
              <a:rPr lang="zh-CN" altLang="en-US" sz="3200" dirty="0">
                <a:ea typeface="宋体" panose="02010600030101010101" pitchFamily="2" charset="-122"/>
              </a:rPr>
              <a:t>（设计活动：设计环境）</a:t>
            </a:r>
            <a:endParaRPr lang="en-US" altLang="zh-CN" sz="3200" dirty="0">
              <a:ea typeface="宋体" panose="02010600030101010101" pitchFamily="2" charset="-122"/>
            </a:endParaRPr>
          </a:p>
          <a:p>
            <a:pPr eaLnBrk="1" hangingPunct="1"/>
            <a:endParaRPr lang="en-US" altLang="zh-CN" sz="3600" dirty="0">
              <a:ea typeface="宋体" panose="02010600030101010101" pitchFamily="2" charset="-122"/>
            </a:endParaRPr>
          </a:p>
        </p:txBody>
      </p:sp>
      <p:sp>
        <p:nvSpPr>
          <p:cNvPr id="5126" name="Rectangle 5">
            <a:extLst>
              <a:ext uri="{FF2B5EF4-FFF2-40B4-BE49-F238E27FC236}">
                <a16:creationId xmlns:a16="http://schemas.microsoft.com/office/drawing/2014/main" id="{6A90B39B-3E57-42B2-8CA9-2ADE3941B9B2}"/>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Number Placeholder 5">
            <a:extLst>
              <a:ext uri="{FF2B5EF4-FFF2-40B4-BE49-F238E27FC236}">
                <a16:creationId xmlns:a16="http://schemas.microsoft.com/office/drawing/2014/main" id="{F7187DF5-393A-4CA9-ABAC-839C0E195F6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B6A8CA9-0159-48F5-8C23-195A6D25A094}" type="slidenum">
              <a:rPr lang="en-US" altLang="en-US"/>
              <a:pPr eaLnBrk="1" hangingPunct="1"/>
              <a:t>4</a:t>
            </a:fld>
            <a:endParaRPr lang="en-US" altLang="en-US"/>
          </a:p>
        </p:txBody>
      </p:sp>
      <p:sp>
        <p:nvSpPr>
          <p:cNvPr id="6147" name="Rectangle 2">
            <a:extLst>
              <a:ext uri="{FF2B5EF4-FFF2-40B4-BE49-F238E27FC236}">
                <a16:creationId xmlns:a16="http://schemas.microsoft.com/office/drawing/2014/main" id="{8A741EAA-BCF5-42A8-9A09-B7EDDEFA36B4}"/>
              </a:ext>
            </a:extLst>
          </p:cNvPr>
          <p:cNvSpPr>
            <a:spLocks noGrp="1" noChangeArrowheads="1"/>
          </p:cNvSpPr>
          <p:nvPr>
            <p:ph type="title"/>
          </p:nvPr>
        </p:nvSpPr>
        <p:spPr>
          <a:xfrm>
            <a:off x="457200" y="122238"/>
            <a:ext cx="7543800" cy="1020762"/>
          </a:xfrm>
        </p:spPr>
        <p:txBody>
          <a:bodyPr/>
          <a:lstStyle/>
          <a:p>
            <a:pPr eaLnBrk="1" hangingPunct="1"/>
            <a:r>
              <a:rPr lang="en-US" altLang="zh-CN">
                <a:ea typeface="宋体" panose="02010600030101010101" pitchFamily="2" charset="-122"/>
              </a:rPr>
              <a:t>Learning Objectives</a:t>
            </a:r>
          </a:p>
        </p:txBody>
      </p:sp>
      <p:sp>
        <p:nvSpPr>
          <p:cNvPr id="6148" name="Rectangle 4">
            <a:extLst>
              <a:ext uri="{FF2B5EF4-FFF2-40B4-BE49-F238E27FC236}">
                <a16:creationId xmlns:a16="http://schemas.microsoft.com/office/drawing/2014/main" id="{01FD1DEE-69E1-4F82-B2D2-AD77B2F66784}"/>
              </a:ext>
            </a:extLst>
          </p:cNvPr>
          <p:cNvSpPr>
            <a:spLocks noGrp="1" noChangeArrowheads="1"/>
          </p:cNvSpPr>
          <p:nvPr>
            <p:ph idx="1"/>
          </p:nvPr>
        </p:nvSpPr>
        <p:spPr>
          <a:xfrm>
            <a:off x="381000" y="1387807"/>
            <a:ext cx="8305800" cy="4683125"/>
          </a:xfrm>
        </p:spPr>
        <p:txBody>
          <a:bodyPr/>
          <a:lstStyle/>
          <a:p>
            <a:pPr eaLnBrk="1" hangingPunct="1"/>
            <a:r>
              <a:rPr lang="en-US" altLang="zh-CN" dirty="0">
                <a:ea typeface="宋体" panose="02010600030101010101" pitchFamily="2" charset="-122"/>
              </a:rPr>
              <a:t>Describe the difference between systems analysis and systems design</a:t>
            </a:r>
            <a:r>
              <a:rPr lang="zh-CN" altLang="en-US" dirty="0">
                <a:ea typeface="宋体" panose="02010600030101010101" pitchFamily="2" charset="-122"/>
              </a:rPr>
              <a:t>（描述系统分析与系统设计之间的区别）</a:t>
            </a:r>
            <a:endParaRPr lang="en-US" altLang="zh-CN" dirty="0">
              <a:ea typeface="宋体" panose="02010600030101010101" pitchFamily="2" charset="-122"/>
            </a:endParaRPr>
          </a:p>
          <a:p>
            <a:pPr eaLnBrk="1" hangingPunct="1"/>
            <a:r>
              <a:rPr lang="en-US" altLang="zh-CN" dirty="0">
                <a:ea typeface="宋体" panose="02010600030101010101" pitchFamily="2" charset="-122"/>
              </a:rPr>
              <a:t>Explain each major design activity</a:t>
            </a:r>
            <a:r>
              <a:rPr lang="zh-CN" altLang="en-US" dirty="0">
                <a:ea typeface="宋体" panose="02010600030101010101" pitchFamily="2" charset="-122"/>
              </a:rPr>
              <a:t>（解释每个主要的设计活动）</a:t>
            </a:r>
            <a:endParaRPr lang="en-US" altLang="zh-CN" dirty="0">
              <a:ea typeface="宋体" panose="02010600030101010101" pitchFamily="2" charset="-122"/>
            </a:endParaRPr>
          </a:p>
          <a:p>
            <a:pPr eaLnBrk="1" hangingPunct="1"/>
            <a:r>
              <a:rPr lang="en-US" altLang="zh-CN" dirty="0">
                <a:ea typeface="宋体" panose="02010600030101010101" pitchFamily="2" charset="-122"/>
              </a:rPr>
              <a:t>Describe the major hardware and network environment options</a:t>
            </a:r>
            <a:r>
              <a:rPr lang="zh-CN" altLang="en-US" dirty="0">
                <a:ea typeface="宋体" panose="02010600030101010101" pitchFamily="2" charset="-122"/>
              </a:rPr>
              <a:t>（描述主要的硬件的网络环境的选择）</a:t>
            </a:r>
            <a:endParaRPr lang="en-US" altLang="zh-CN" dirty="0">
              <a:ea typeface="宋体" panose="02010600030101010101" pitchFamily="2" charset="-122"/>
            </a:endParaRPr>
          </a:p>
          <a:p>
            <a:pPr eaLnBrk="1" hangingPunct="1"/>
            <a:r>
              <a:rPr lang="en-US" altLang="zh-CN" dirty="0">
                <a:ea typeface="宋体" panose="02010600030101010101" pitchFamily="2" charset="-122"/>
              </a:rPr>
              <a:t>Describe the various hosting services available</a:t>
            </a:r>
            <a:r>
              <a:rPr lang="zh-CN" altLang="en-US" dirty="0">
                <a:ea typeface="宋体" panose="02010600030101010101" pitchFamily="2" charset="-122"/>
              </a:rPr>
              <a:t>（描述不同的托管服务）</a:t>
            </a:r>
            <a:endParaRPr lang="en-US" altLang="zh-CN" dirty="0">
              <a:ea typeface="宋体" panose="02010600030101010101" pitchFamily="2" charset="-122"/>
            </a:endParaRPr>
          </a:p>
        </p:txBody>
      </p:sp>
      <p:sp>
        <p:nvSpPr>
          <p:cNvPr id="6149" name="Footer Placeholder 4">
            <a:extLst>
              <a:ext uri="{FF2B5EF4-FFF2-40B4-BE49-F238E27FC236}">
                <a16:creationId xmlns:a16="http://schemas.microsoft.com/office/drawing/2014/main" id="{C4C743C8-0ED0-4E67-A204-8FF29872EBD9}"/>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6150" name="Rectangle 6">
            <a:extLst>
              <a:ext uri="{FF2B5EF4-FFF2-40B4-BE49-F238E27FC236}">
                <a16:creationId xmlns:a16="http://schemas.microsoft.com/office/drawing/2014/main" id="{C84A38FD-9982-4EFE-8E74-1BD2FE56CC9F}"/>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Footer Placeholder 4">
            <a:extLst>
              <a:ext uri="{FF2B5EF4-FFF2-40B4-BE49-F238E27FC236}">
                <a16:creationId xmlns:a16="http://schemas.microsoft.com/office/drawing/2014/main" id="{46C70101-3F41-4FB0-82D8-67EFAF11A4D1}"/>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5123" name="Slide Number Placeholder 5">
            <a:extLst>
              <a:ext uri="{FF2B5EF4-FFF2-40B4-BE49-F238E27FC236}">
                <a16:creationId xmlns:a16="http://schemas.microsoft.com/office/drawing/2014/main" id="{4C924B88-EF74-42E3-A7A8-267A5444104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9568D79-C975-4B7D-9C16-7B45C0063EDD}" type="slidenum">
              <a:rPr lang="en-US" altLang="en-US"/>
              <a:pPr eaLnBrk="1" hangingPunct="1"/>
              <a:t>5</a:t>
            </a:fld>
            <a:endParaRPr lang="en-US" altLang="en-US"/>
          </a:p>
        </p:txBody>
      </p:sp>
      <p:sp>
        <p:nvSpPr>
          <p:cNvPr id="5124" name="Rectangle 2">
            <a:extLst>
              <a:ext uri="{FF2B5EF4-FFF2-40B4-BE49-F238E27FC236}">
                <a16:creationId xmlns:a16="http://schemas.microsoft.com/office/drawing/2014/main" id="{64AA83B5-87A1-459A-BE63-C7FE4FE1EFDF}"/>
              </a:ext>
            </a:extLst>
          </p:cNvPr>
          <p:cNvSpPr>
            <a:spLocks noGrp="1" noChangeArrowheads="1"/>
          </p:cNvSpPr>
          <p:nvPr>
            <p:ph type="title"/>
          </p:nvPr>
        </p:nvSpPr>
        <p:spPr/>
        <p:txBody>
          <a:bodyPr/>
          <a:lstStyle/>
          <a:p>
            <a:pPr eaLnBrk="1" hangingPunct="1"/>
            <a:r>
              <a:rPr lang="en-US" altLang="zh-CN">
                <a:ea typeface="宋体" panose="02010600030101010101" pitchFamily="2" charset="-122"/>
              </a:rPr>
              <a:t>Chapter 6 Outline</a:t>
            </a:r>
          </a:p>
        </p:txBody>
      </p:sp>
      <p:sp>
        <p:nvSpPr>
          <p:cNvPr id="5125" name="Rectangle 3">
            <a:extLst>
              <a:ext uri="{FF2B5EF4-FFF2-40B4-BE49-F238E27FC236}">
                <a16:creationId xmlns:a16="http://schemas.microsoft.com/office/drawing/2014/main" id="{AD2D061E-90BF-4146-ADB7-9BA17BB68976}"/>
              </a:ext>
            </a:extLst>
          </p:cNvPr>
          <p:cNvSpPr>
            <a:spLocks noGrp="1" noChangeArrowheads="1"/>
          </p:cNvSpPr>
          <p:nvPr>
            <p:ph type="body" idx="1"/>
          </p:nvPr>
        </p:nvSpPr>
        <p:spPr>
          <a:xfrm>
            <a:off x="457200" y="1752600"/>
            <a:ext cx="8229600" cy="4411663"/>
          </a:xfrm>
        </p:spPr>
        <p:txBody>
          <a:bodyPr/>
          <a:lstStyle/>
          <a:p>
            <a:pPr eaLnBrk="1" hangingPunct="1"/>
            <a:r>
              <a:rPr lang="en-US" altLang="zh-CN" sz="3200" dirty="0">
                <a:solidFill>
                  <a:srgbClr val="C00000"/>
                </a:solidFill>
                <a:ea typeface="宋体" panose="02010600030101010101" pitchFamily="2" charset="-122"/>
              </a:rPr>
              <a:t>The Elements of Design</a:t>
            </a:r>
            <a:r>
              <a:rPr lang="zh-CN" altLang="en-US" sz="3200" dirty="0">
                <a:solidFill>
                  <a:srgbClr val="C00000"/>
                </a:solidFill>
                <a:ea typeface="宋体" panose="02010600030101010101" pitchFamily="2" charset="-122"/>
              </a:rPr>
              <a:t>（设计的要素）</a:t>
            </a:r>
            <a:endParaRPr lang="en-US" altLang="zh-CN" sz="3200" dirty="0">
              <a:solidFill>
                <a:srgbClr val="C00000"/>
              </a:solidFill>
              <a:ea typeface="宋体" panose="02010600030101010101" pitchFamily="2" charset="-122"/>
            </a:endParaRPr>
          </a:p>
          <a:p>
            <a:pPr eaLnBrk="1" hangingPunct="1"/>
            <a:r>
              <a:rPr lang="en-US" altLang="zh-CN" sz="3200" dirty="0">
                <a:ea typeface="宋体" panose="02010600030101010101" pitchFamily="2" charset="-122"/>
              </a:rPr>
              <a:t>Inputs and Outputs for Systems Design</a:t>
            </a:r>
          </a:p>
          <a:p>
            <a:pPr eaLnBrk="1" hangingPunct="1"/>
            <a:r>
              <a:rPr lang="en-US" altLang="zh-CN" sz="3200" dirty="0">
                <a:ea typeface="宋体" panose="02010600030101010101" pitchFamily="2" charset="-122"/>
              </a:rPr>
              <a:t>Design Activities</a:t>
            </a:r>
          </a:p>
          <a:p>
            <a:pPr eaLnBrk="1" hangingPunct="1"/>
            <a:r>
              <a:rPr lang="en-US" altLang="zh-CN" sz="3200" dirty="0">
                <a:ea typeface="宋体" panose="02010600030101010101" pitchFamily="2" charset="-122"/>
              </a:rPr>
              <a:t>Design Activity: Design the Environment</a:t>
            </a:r>
          </a:p>
          <a:p>
            <a:pPr eaLnBrk="1" hangingPunct="1"/>
            <a:endParaRPr lang="en-US" altLang="zh-CN" sz="3600" dirty="0">
              <a:ea typeface="宋体" panose="02010600030101010101" pitchFamily="2" charset="-122"/>
            </a:endParaRPr>
          </a:p>
        </p:txBody>
      </p:sp>
      <p:sp>
        <p:nvSpPr>
          <p:cNvPr id="5126" name="Rectangle 5">
            <a:extLst>
              <a:ext uri="{FF2B5EF4-FFF2-40B4-BE49-F238E27FC236}">
                <a16:creationId xmlns:a16="http://schemas.microsoft.com/office/drawing/2014/main" id="{6A90B39B-3E57-42B2-8CA9-2ADE3941B9B2}"/>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extLst>
      <p:ext uri="{BB962C8B-B14F-4D97-AF65-F5344CB8AC3E}">
        <p14:creationId xmlns:p14="http://schemas.microsoft.com/office/powerpoint/2010/main" val="18032196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5">
            <a:extLst>
              <a:ext uri="{FF2B5EF4-FFF2-40B4-BE49-F238E27FC236}">
                <a16:creationId xmlns:a16="http://schemas.microsoft.com/office/drawing/2014/main" id="{507E40BF-9040-45CA-966B-C4CEF3EDA4F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6392913-A17C-4256-9C37-27AC38B3AA0A}" type="slidenum">
              <a:rPr lang="en-US" altLang="en-US"/>
              <a:pPr eaLnBrk="1" hangingPunct="1"/>
              <a:t>6</a:t>
            </a:fld>
            <a:endParaRPr lang="en-US" altLang="en-US"/>
          </a:p>
        </p:txBody>
      </p:sp>
      <p:sp>
        <p:nvSpPr>
          <p:cNvPr id="7171" name="Rectangle 2">
            <a:extLst>
              <a:ext uri="{FF2B5EF4-FFF2-40B4-BE49-F238E27FC236}">
                <a16:creationId xmlns:a16="http://schemas.microsoft.com/office/drawing/2014/main" id="{E19DB2ED-F1B5-4517-B465-1B18A7789458}"/>
              </a:ext>
            </a:extLst>
          </p:cNvPr>
          <p:cNvSpPr>
            <a:spLocks noGrp="1" noChangeArrowheads="1"/>
          </p:cNvSpPr>
          <p:nvPr>
            <p:ph type="title"/>
          </p:nvPr>
        </p:nvSpPr>
        <p:spPr>
          <a:xfrm>
            <a:off x="457200" y="122238"/>
            <a:ext cx="7543800" cy="1020762"/>
          </a:xfrm>
        </p:spPr>
        <p:txBody>
          <a:bodyPr/>
          <a:lstStyle/>
          <a:p>
            <a:pPr eaLnBrk="1" hangingPunct="1"/>
            <a:r>
              <a:rPr lang="en-US" altLang="zh-CN">
                <a:ea typeface="宋体" panose="02010600030101010101" pitchFamily="2" charset="-122"/>
              </a:rPr>
              <a:t>Overview</a:t>
            </a:r>
          </a:p>
        </p:txBody>
      </p:sp>
      <p:sp>
        <p:nvSpPr>
          <p:cNvPr id="7172" name="Rectangle 3">
            <a:extLst>
              <a:ext uri="{FF2B5EF4-FFF2-40B4-BE49-F238E27FC236}">
                <a16:creationId xmlns:a16="http://schemas.microsoft.com/office/drawing/2014/main" id="{8B1CA47F-CF26-4598-BD45-CB868B6A4226}"/>
              </a:ext>
            </a:extLst>
          </p:cNvPr>
          <p:cNvSpPr>
            <a:spLocks noGrp="1" noChangeArrowheads="1"/>
          </p:cNvSpPr>
          <p:nvPr>
            <p:ph type="body" idx="1"/>
          </p:nvPr>
        </p:nvSpPr>
        <p:spPr>
          <a:xfrm>
            <a:off x="304800" y="1219200"/>
            <a:ext cx="8229600" cy="4953000"/>
          </a:xfrm>
        </p:spPr>
        <p:txBody>
          <a:bodyPr/>
          <a:lstStyle/>
          <a:p>
            <a:pPr eaLnBrk="1" hangingPunct="1"/>
            <a:r>
              <a:rPr lang="en-US" altLang="zh-CN" sz="2600" dirty="0">
                <a:solidFill>
                  <a:srgbClr val="C00000"/>
                </a:solidFill>
                <a:ea typeface="宋体" panose="02010600030101010101" pitchFamily="2" charset="-122"/>
              </a:rPr>
              <a:t>Analysis says “what” is required</a:t>
            </a:r>
            <a:r>
              <a:rPr lang="zh-CN" altLang="en-US" sz="2600" dirty="0">
                <a:solidFill>
                  <a:srgbClr val="C00000"/>
                </a:solidFill>
                <a:ea typeface="宋体" panose="02010600030101010101" pitchFamily="2" charset="-122"/>
              </a:rPr>
              <a:t>（什么是需要的）</a:t>
            </a:r>
            <a:r>
              <a:rPr lang="en-US" altLang="zh-CN" sz="2600" dirty="0">
                <a:solidFill>
                  <a:srgbClr val="C00000"/>
                </a:solidFill>
                <a:ea typeface="宋体" panose="02010600030101010101" pitchFamily="2" charset="-122"/>
              </a:rPr>
              <a:t> </a:t>
            </a:r>
            <a:r>
              <a:rPr lang="en-US" altLang="zh-CN" sz="2600" dirty="0">
                <a:ea typeface="宋体" panose="02010600030101010101" pitchFamily="2" charset="-122"/>
              </a:rPr>
              <a:t>and </a:t>
            </a:r>
            <a:r>
              <a:rPr lang="en-US" altLang="zh-CN" sz="2600" dirty="0">
                <a:solidFill>
                  <a:srgbClr val="C00000"/>
                </a:solidFill>
                <a:ea typeface="宋体" panose="02010600030101010101" pitchFamily="2" charset="-122"/>
              </a:rPr>
              <a:t>design tells us “how” the system will be configured and constructed</a:t>
            </a:r>
            <a:r>
              <a:rPr lang="zh-CN" altLang="en-US" sz="2600" dirty="0">
                <a:solidFill>
                  <a:srgbClr val="C00000"/>
                </a:solidFill>
                <a:ea typeface="宋体" panose="02010600030101010101" pitchFamily="2" charset="-122"/>
              </a:rPr>
              <a:t>（如何配置和构建系统）</a:t>
            </a:r>
            <a:endParaRPr lang="en-US" altLang="zh-CN" sz="2600" dirty="0">
              <a:solidFill>
                <a:srgbClr val="C00000"/>
              </a:solidFill>
              <a:ea typeface="宋体" panose="02010600030101010101" pitchFamily="2" charset="-122"/>
            </a:endParaRPr>
          </a:p>
          <a:p>
            <a:pPr eaLnBrk="1" hangingPunct="1"/>
            <a:r>
              <a:rPr lang="en-GB" altLang="zh-CN" sz="2600" dirty="0"/>
              <a:t>Chapters 2, 3, 4 and 5 covered systems analysis activities (</a:t>
            </a:r>
            <a:r>
              <a:rPr lang="zh-CN" altLang="en-US" sz="2600" dirty="0"/>
              <a:t>需求</a:t>
            </a:r>
            <a:r>
              <a:rPr lang="en-GB" altLang="zh-CN" sz="2600" dirty="0"/>
              <a:t>)</a:t>
            </a:r>
          </a:p>
          <a:p>
            <a:pPr eaLnBrk="1" hangingPunct="1"/>
            <a:r>
              <a:rPr lang="en-GB" altLang="zh-CN" sz="2600" dirty="0"/>
              <a:t>This chapter introduces system design and the design activities involved in systems development</a:t>
            </a:r>
            <a:r>
              <a:rPr lang="zh-CN" altLang="en-US" sz="2600" dirty="0"/>
              <a:t>（本章介绍系统设计和系统开发中涉及的设计活动）</a:t>
            </a:r>
            <a:endParaRPr lang="en-GB" altLang="zh-CN" sz="2600" dirty="0"/>
          </a:p>
          <a:p>
            <a:pPr eaLnBrk="1" hangingPunct="1"/>
            <a:endParaRPr lang="en-GB" altLang="zh-CN" sz="2600" dirty="0"/>
          </a:p>
        </p:txBody>
      </p:sp>
      <p:sp>
        <p:nvSpPr>
          <p:cNvPr id="7173" name="Footer Placeholder 4">
            <a:extLst>
              <a:ext uri="{FF2B5EF4-FFF2-40B4-BE49-F238E27FC236}">
                <a16:creationId xmlns:a16="http://schemas.microsoft.com/office/drawing/2014/main" id="{E22E0CAA-6560-4A06-AC1A-2DECF0BBD24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7174" name="Rectangle 7">
            <a:extLst>
              <a:ext uri="{FF2B5EF4-FFF2-40B4-BE49-F238E27FC236}">
                <a16:creationId xmlns:a16="http://schemas.microsoft.com/office/drawing/2014/main" id="{B82196E8-7A25-400F-B832-DE0EC05E4D21}"/>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5">
            <a:extLst>
              <a:ext uri="{FF2B5EF4-FFF2-40B4-BE49-F238E27FC236}">
                <a16:creationId xmlns:a16="http://schemas.microsoft.com/office/drawing/2014/main" id="{507E40BF-9040-45CA-966B-C4CEF3EDA4F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6392913-A17C-4256-9C37-27AC38B3AA0A}" type="slidenum">
              <a:rPr lang="en-US" altLang="en-US"/>
              <a:pPr eaLnBrk="1" hangingPunct="1"/>
              <a:t>7</a:t>
            </a:fld>
            <a:endParaRPr lang="en-US" altLang="en-US"/>
          </a:p>
        </p:txBody>
      </p:sp>
      <p:sp>
        <p:nvSpPr>
          <p:cNvPr id="7171" name="Rectangle 2">
            <a:extLst>
              <a:ext uri="{FF2B5EF4-FFF2-40B4-BE49-F238E27FC236}">
                <a16:creationId xmlns:a16="http://schemas.microsoft.com/office/drawing/2014/main" id="{E19DB2ED-F1B5-4517-B465-1B18A7789458}"/>
              </a:ext>
            </a:extLst>
          </p:cNvPr>
          <p:cNvSpPr>
            <a:spLocks noGrp="1" noChangeArrowheads="1"/>
          </p:cNvSpPr>
          <p:nvPr>
            <p:ph type="title"/>
          </p:nvPr>
        </p:nvSpPr>
        <p:spPr>
          <a:xfrm>
            <a:off x="457200" y="122238"/>
            <a:ext cx="7543800" cy="1020762"/>
          </a:xfrm>
        </p:spPr>
        <p:txBody>
          <a:bodyPr/>
          <a:lstStyle/>
          <a:p>
            <a:pPr eaLnBrk="1" hangingPunct="1"/>
            <a:r>
              <a:rPr lang="en-US" altLang="zh-CN">
                <a:ea typeface="宋体" panose="02010600030101010101" pitchFamily="2" charset="-122"/>
              </a:rPr>
              <a:t>Overview</a:t>
            </a:r>
          </a:p>
        </p:txBody>
      </p:sp>
      <p:sp>
        <p:nvSpPr>
          <p:cNvPr id="7172" name="Rectangle 3">
            <a:extLst>
              <a:ext uri="{FF2B5EF4-FFF2-40B4-BE49-F238E27FC236}">
                <a16:creationId xmlns:a16="http://schemas.microsoft.com/office/drawing/2014/main" id="{8B1CA47F-CF26-4598-BD45-CB868B6A4226}"/>
              </a:ext>
            </a:extLst>
          </p:cNvPr>
          <p:cNvSpPr>
            <a:spLocks noGrp="1" noChangeArrowheads="1"/>
          </p:cNvSpPr>
          <p:nvPr>
            <p:ph type="body" idx="1"/>
          </p:nvPr>
        </p:nvSpPr>
        <p:spPr>
          <a:xfrm>
            <a:off x="304800" y="1219200"/>
            <a:ext cx="8229600" cy="4953000"/>
          </a:xfrm>
        </p:spPr>
        <p:txBody>
          <a:bodyPr/>
          <a:lstStyle/>
          <a:p>
            <a:pPr eaLnBrk="1" hangingPunct="1"/>
            <a:r>
              <a:rPr lang="en-GB" altLang="zh-CN" sz="2600" dirty="0"/>
              <a:t>Design bridges the gap between requirements to actual implementation</a:t>
            </a:r>
            <a:r>
              <a:rPr lang="zh-CN" altLang="en-US" sz="2600" dirty="0"/>
              <a:t>（设计在需求和实际实现之间架起了桥梁）</a:t>
            </a:r>
            <a:endParaRPr lang="en-GB" altLang="zh-CN" sz="2600" dirty="0"/>
          </a:p>
          <a:p>
            <a:pPr eaLnBrk="1" hangingPunct="1"/>
            <a:r>
              <a:rPr lang="en-US" altLang="zh-CN" sz="2600" dirty="0">
                <a:ea typeface="宋体" panose="02010600030101010101" pitchFamily="2" charset="-122"/>
              </a:rPr>
              <a:t>Objective of design is to define, organize, and structure the components of the final solution to serve as a blue print for construction</a:t>
            </a:r>
            <a:r>
              <a:rPr lang="zh-CN" altLang="en-US" sz="2600" dirty="0">
                <a:ea typeface="宋体" panose="02010600030101010101" pitchFamily="2" charset="-122"/>
              </a:rPr>
              <a:t>（</a:t>
            </a:r>
            <a:r>
              <a:rPr lang="zh-CN" altLang="en-US" sz="2800" dirty="0">
                <a:solidFill>
                  <a:srgbClr val="2A2B2E"/>
                </a:solidFill>
                <a:latin typeface="PingFang SC"/>
              </a:rPr>
              <a:t>设计的目的是定义、组织和构造最终解决方案的组成部分，作为施工的蓝图</a:t>
            </a:r>
            <a:r>
              <a:rPr lang="zh-CN" altLang="en-US" sz="2600" dirty="0">
                <a:ea typeface="宋体" panose="02010600030101010101" pitchFamily="2" charset="-122"/>
              </a:rPr>
              <a:t>）</a:t>
            </a:r>
            <a:endParaRPr lang="en-US" altLang="zh-CN" sz="2600" dirty="0">
              <a:ea typeface="宋体" panose="02010600030101010101" pitchFamily="2" charset="-122"/>
            </a:endParaRPr>
          </a:p>
          <a:p>
            <a:pPr eaLnBrk="1" hangingPunct="1"/>
            <a:endParaRPr lang="en-GB" altLang="zh-CN" sz="2600" dirty="0"/>
          </a:p>
        </p:txBody>
      </p:sp>
      <p:sp>
        <p:nvSpPr>
          <p:cNvPr id="7173" name="Footer Placeholder 4">
            <a:extLst>
              <a:ext uri="{FF2B5EF4-FFF2-40B4-BE49-F238E27FC236}">
                <a16:creationId xmlns:a16="http://schemas.microsoft.com/office/drawing/2014/main" id="{E22E0CAA-6560-4A06-AC1A-2DECF0BBD24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7174" name="Rectangle 7">
            <a:extLst>
              <a:ext uri="{FF2B5EF4-FFF2-40B4-BE49-F238E27FC236}">
                <a16:creationId xmlns:a16="http://schemas.microsoft.com/office/drawing/2014/main" id="{B82196E8-7A25-400F-B832-DE0EC05E4D21}"/>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extLst>
      <p:ext uri="{BB962C8B-B14F-4D97-AF65-F5344CB8AC3E}">
        <p14:creationId xmlns:p14="http://schemas.microsoft.com/office/powerpoint/2010/main" val="3257022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17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5">
            <a:extLst>
              <a:ext uri="{FF2B5EF4-FFF2-40B4-BE49-F238E27FC236}">
                <a16:creationId xmlns:a16="http://schemas.microsoft.com/office/drawing/2014/main" id="{507E40BF-9040-45CA-966B-C4CEF3EDA4F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6392913-A17C-4256-9C37-27AC38B3AA0A}" type="slidenum">
              <a:rPr lang="en-US" altLang="en-US"/>
              <a:pPr eaLnBrk="1" hangingPunct="1"/>
              <a:t>8</a:t>
            </a:fld>
            <a:endParaRPr lang="en-US" altLang="en-US"/>
          </a:p>
        </p:txBody>
      </p:sp>
      <p:sp>
        <p:nvSpPr>
          <p:cNvPr id="7171" name="Rectangle 2">
            <a:extLst>
              <a:ext uri="{FF2B5EF4-FFF2-40B4-BE49-F238E27FC236}">
                <a16:creationId xmlns:a16="http://schemas.microsoft.com/office/drawing/2014/main" id="{E19DB2ED-F1B5-4517-B465-1B18A7789458}"/>
              </a:ext>
            </a:extLst>
          </p:cNvPr>
          <p:cNvSpPr>
            <a:spLocks noGrp="1" noChangeArrowheads="1"/>
          </p:cNvSpPr>
          <p:nvPr>
            <p:ph type="title"/>
          </p:nvPr>
        </p:nvSpPr>
        <p:spPr>
          <a:xfrm>
            <a:off x="457200" y="122238"/>
            <a:ext cx="7543800" cy="1020762"/>
          </a:xfrm>
        </p:spPr>
        <p:txBody>
          <a:bodyPr/>
          <a:lstStyle/>
          <a:p>
            <a:pPr eaLnBrk="1" hangingPunct="1"/>
            <a:r>
              <a:rPr lang="zh-CN" altLang="en-US" dirty="0">
                <a:ea typeface="宋体" panose="02010600030101010101" pitchFamily="2" charset="-122"/>
              </a:rPr>
              <a:t>系统设计</a:t>
            </a:r>
            <a:endParaRPr lang="en-US" altLang="zh-CN" dirty="0">
              <a:ea typeface="宋体" panose="02010600030101010101" pitchFamily="2" charset="-122"/>
            </a:endParaRPr>
          </a:p>
        </p:txBody>
      </p:sp>
      <p:sp>
        <p:nvSpPr>
          <p:cNvPr id="7173" name="Footer Placeholder 4">
            <a:extLst>
              <a:ext uri="{FF2B5EF4-FFF2-40B4-BE49-F238E27FC236}">
                <a16:creationId xmlns:a16="http://schemas.microsoft.com/office/drawing/2014/main" id="{E22E0CAA-6560-4A06-AC1A-2DECF0BBD24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7174" name="Rectangle 7">
            <a:extLst>
              <a:ext uri="{FF2B5EF4-FFF2-40B4-BE49-F238E27FC236}">
                <a16:creationId xmlns:a16="http://schemas.microsoft.com/office/drawing/2014/main" id="{B82196E8-7A25-400F-B832-DE0EC05E4D21}"/>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grpSp>
        <p:nvGrpSpPr>
          <p:cNvPr id="8" name="Group 25">
            <a:extLst>
              <a:ext uri="{FF2B5EF4-FFF2-40B4-BE49-F238E27FC236}">
                <a16:creationId xmlns:a16="http://schemas.microsoft.com/office/drawing/2014/main" id="{D8C214FD-3F24-4776-830C-CE177590482B}"/>
              </a:ext>
            </a:extLst>
          </p:cNvPr>
          <p:cNvGrpSpPr>
            <a:grpSpLocks/>
          </p:cNvGrpSpPr>
          <p:nvPr/>
        </p:nvGrpSpPr>
        <p:grpSpPr bwMode="auto">
          <a:xfrm>
            <a:off x="2355410" y="2476500"/>
            <a:ext cx="4953000" cy="1905000"/>
            <a:chOff x="1680" y="1872"/>
            <a:chExt cx="3120" cy="1200"/>
          </a:xfrm>
        </p:grpSpPr>
        <p:sp>
          <p:nvSpPr>
            <p:cNvPr id="9" name="Rectangle 11">
              <a:extLst>
                <a:ext uri="{FF2B5EF4-FFF2-40B4-BE49-F238E27FC236}">
                  <a16:creationId xmlns:a16="http://schemas.microsoft.com/office/drawing/2014/main" id="{C2F078E5-7D62-4EF0-8B50-220361E14149}"/>
                </a:ext>
              </a:extLst>
            </p:cNvPr>
            <p:cNvSpPr>
              <a:spLocks noChangeArrowheads="1"/>
            </p:cNvSpPr>
            <p:nvPr/>
          </p:nvSpPr>
          <p:spPr bwMode="auto">
            <a:xfrm>
              <a:off x="1680" y="1920"/>
              <a:ext cx="528" cy="288"/>
            </a:xfrm>
            <a:prstGeom prst="rect">
              <a:avLst/>
            </a:prstGeom>
            <a:noFill/>
            <a:ln w="38100" cmpd="dbl">
              <a:solidFill>
                <a:srgbClr val="FF7C80"/>
              </a:solidFill>
              <a:miter lim="800000"/>
              <a:headEnd/>
              <a:tailEnd/>
            </a:ln>
            <a:effectLst/>
          </p:spPr>
          <p:txBody>
            <a:bodyPr wrap="none" anchor="ctr"/>
            <a:lstStyle/>
            <a:p>
              <a:pPr>
                <a:defRPr/>
              </a:pPr>
              <a:r>
                <a:rPr lang="en-US" altLang="zh-CN" sz="1800" b="1">
                  <a:effectLst>
                    <a:outerShdw blurRad="38100" dist="38100" dir="2700000" algn="tl">
                      <a:srgbClr val="000000"/>
                    </a:outerShdw>
                  </a:effectLst>
                  <a:latin typeface="Times New Roman" charset="0"/>
                  <a:ea typeface="幼圆" pitchFamily="49" charset="-122"/>
                </a:rPr>
                <a:t>Who</a:t>
              </a:r>
            </a:p>
          </p:txBody>
        </p:sp>
        <p:grpSp>
          <p:nvGrpSpPr>
            <p:cNvPr id="10" name="Group 14">
              <a:extLst>
                <a:ext uri="{FF2B5EF4-FFF2-40B4-BE49-F238E27FC236}">
                  <a16:creationId xmlns:a16="http://schemas.microsoft.com/office/drawing/2014/main" id="{E72AC28E-6A32-4677-A6B3-CB3107E5F023}"/>
                </a:ext>
              </a:extLst>
            </p:cNvPr>
            <p:cNvGrpSpPr>
              <a:grpSpLocks/>
            </p:cNvGrpSpPr>
            <p:nvPr/>
          </p:nvGrpSpPr>
          <p:grpSpPr bwMode="auto">
            <a:xfrm>
              <a:off x="2208" y="1872"/>
              <a:ext cx="1824" cy="384"/>
              <a:chOff x="1872" y="1344"/>
              <a:chExt cx="1824" cy="384"/>
            </a:xfrm>
          </p:grpSpPr>
          <p:sp>
            <p:nvSpPr>
              <p:cNvPr id="21" name="Rectangle 12">
                <a:extLst>
                  <a:ext uri="{FF2B5EF4-FFF2-40B4-BE49-F238E27FC236}">
                    <a16:creationId xmlns:a16="http://schemas.microsoft.com/office/drawing/2014/main" id="{022B6FE6-4AD4-4F43-AB3A-93EF2A39E1F9}"/>
                  </a:ext>
                </a:extLst>
              </p:cNvPr>
              <p:cNvSpPr>
                <a:spLocks noChangeArrowheads="1"/>
              </p:cNvSpPr>
              <p:nvPr/>
            </p:nvSpPr>
            <p:spPr bwMode="auto">
              <a:xfrm>
                <a:off x="1968" y="1344"/>
                <a:ext cx="1728" cy="384"/>
              </a:xfrm>
              <a:prstGeom prst="rect">
                <a:avLst/>
              </a:prstGeom>
              <a:solidFill>
                <a:schemeClr val="bg1"/>
              </a:solidFill>
              <a:ln w="9525">
                <a:solidFill>
                  <a:srgbClr val="99CC00"/>
                </a:solidFill>
                <a:miter lim="800000"/>
                <a:headEnd/>
                <a:tailEnd/>
              </a:ln>
              <a:effectLst/>
            </p:spPr>
            <p:txBody>
              <a:bodyPr wrap="none" anchor="ctr"/>
              <a:lstStyle/>
              <a:p>
                <a:pPr algn="l">
                  <a:defRPr/>
                </a:pPr>
                <a:r>
                  <a:rPr lang="zh-CN" altLang="en-US" sz="1800" b="1" dirty="0">
                    <a:effectLst>
                      <a:outerShdw blurRad="38100" dist="38100" dir="2700000" algn="tl">
                        <a:srgbClr val="000000"/>
                      </a:outerShdw>
                    </a:effectLst>
                    <a:latin typeface="幼圆" pitchFamily="49" charset="-122"/>
                    <a:ea typeface="幼圆" pitchFamily="49" charset="-122"/>
                  </a:rPr>
                  <a:t> 为谁设计，用户是谁？</a:t>
                </a:r>
              </a:p>
            </p:txBody>
          </p:sp>
          <p:sp>
            <p:nvSpPr>
              <p:cNvPr id="22" name="Line 13">
                <a:extLst>
                  <a:ext uri="{FF2B5EF4-FFF2-40B4-BE49-F238E27FC236}">
                    <a16:creationId xmlns:a16="http://schemas.microsoft.com/office/drawing/2014/main" id="{7DF5F91B-1DD4-4B52-94B7-54BD980CBEEB}"/>
                  </a:ext>
                </a:extLst>
              </p:cNvPr>
              <p:cNvSpPr>
                <a:spLocks noChangeShapeType="1"/>
              </p:cNvSpPr>
              <p:nvPr/>
            </p:nvSpPr>
            <p:spPr bwMode="auto">
              <a:xfrm>
                <a:off x="1872" y="1536"/>
                <a:ext cx="96" cy="2"/>
              </a:xfrm>
              <a:prstGeom prst="line">
                <a:avLst/>
              </a:prstGeom>
              <a:noFill/>
              <a:ln w="38100" cmpd="dbl">
                <a:solidFill>
                  <a:srgbClr val="FF7C8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1" name="Rectangle 15">
              <a:extLst>
                <a:ext uri="{FF2B5EF4-FFF2-40B4-BE49-F238E27FC236}">
                  <a16:creationId xmlns:a16="http://schemas.microsoft.com/office/drawing/2014/main" id="{D36F689B-96A9-4EEF-A2AC-DB0115B10AFE}"/>
                </a:ext>
              </a:extLst>
            </p:cNvPr>
            <p:cNvSpPr>
              <a:spLocks noChangeArrowheads="1"/>
            </p:cNvSpPr>
            <p:nvPr/>
          </p:nvSpPr>
          <p:spPr bwMode="auto">
            <a:xfrm>
              <a:off x="1680" y="2352"/>
              <a:ext cx="528" cy="288"/>
            </a:xfrm>
            <a:prstGeom prst="rect">
              <a:avLst/>
            </a:prstGeom>
            <a:noFill/>
            <a:ln w="38100" cmpd="dbl">
              <a:solidFill>
                <a:srgbClr val="FF7C80"/>
              </a:solidFill>
              <a:miter lim="800000"/>
              <a:headEnd/>
              <a:tailEnd/>
            </a:ln>
            <a:effectLst/>
          </p:spPr>
          <p:txBody>
            <a:bodyPr wrap="none" anchor="ctr"/>
            <a:lstStyle/>
            <a:p>
              <a:pPr>
                <a:defRPr/>
              </a:pPr>
              <a:r>
                <a:rPr lang="en-US" altLang="zh-CN" sz="1800" b="1">
                  <a:effectLst>
                    <a:outerShdw blurRad="38100" dist="38100" dir="2700000" algn="tl">
                      <a:srgbClr val="000000"/>
                    </a:outerShdw>
                  </a:effectLst>
                  <a:latin typeface="Times New Roman" charset="0"/>
                  <a:ea typeface="幼圆" pitchFamily="49" charset="-122"/>
                </a:rPr>
                <a:t>What</a:t>
              </a:r>
            </a:p>
          </p:txBody>
        </p:sp>
        <p:grpSp>
          <p:nvGrpSpPr>
            <p:cNvPr id="12" name="Group 16">
              <a:extLst>
                <a:ext uri="{FF2B5EF4-FFF2-40B4-BE49-F238E27FC236}">
                  <a16:creationId xmlns:a16="http://schemas.microsoft.com/office/drawing/2014/main" id="{B73270E1-11A7-4034-A57F-58D3AE58E4B6}"/>
                </a:ext>
              </a:extLst>
            </p:cNvPr>
            <p:cNvGrpSpPr>
              <a:grpSpLocks/>
            </p:cNvGrpSpPr>
            <p:nvPr/>
          </p:nvGrpSpPr>
          <p:grpSpPr bwMode="auto">
            <a:xfrm>
              <a:off x="2208" y="2304"/>
              <a:ext cx="1824" cy="384"/>
              <a:chOff x="1872" y="1344"/>
              <a:chExt cx="1824" cy="384"/>
            </a:xfrm>
          </p:grpSpPr>
          <p:sp>
            <p:nvSpPr>
              <p:cNvPr id="19" name="Rectangle 17">
                <a:extLst>
                  <a:ext uri="{FF2B5EF4-FFF2-40B4-BE49-F238E27FC236}">
                    <a16:creationId xmlns:a16="http://schemas.microsoft.com/office/drawing/2014/main" id="{15DE5A53-2D81-4E44-BD3A-87B079619CF6}"/>
                  </a:ext>
                </a:extLst>
              </p:cNvPr>
              <p:cNvSpPr>
                <a:spLocks noChangeArrowheads="1"/>
              </p:cNvSpPr>
              <p:nvPr/>
            </p:nvSpPr>
            <p:spPr bwMode="auto">
              <a:xfrm>
                <a:off x="1968" y="1344"/>
                <a:ext cx="1728" cy="384"/>
              </a:xfrm>
              <a:prstGeom prst="rect">
                <a:avLst/>
              </a:prstGeom>
              <a:solidFill>
                <a:schemeClr val="bg1"/>
              </a:solidFill>
              <a:ln w="9525">
                <a:solidFill>
                  <a:srgbClr val="99CC00"/>
                </a:solidFill>
                <a:miter lim="800000"/>
                <a:headEnd/>
                <a:tailEnd/>
              </a:ln>
              <a:effectLst/>
            </p:spPr>
            <p:txBody>
              <a:bodyPr wrap="none" anchor="ctr"/>
              <a:lstStyle/>
              <a:p>
                <a:pPr algn="l">
                  <a:defRPr/>
                </a:pPr>
                <a:r>
                  <a:rPr lang="zh-CN" altLang="en-US" sz="1800" b="1">
                    <a:effectLst>
                      <a:outerShdw blurRad="38100" dist="38100" dir="2700000" algn="tl">
                        <a:srgbClr val="000000"/>
                      </a:outerShdw>
                    </a:effectLst>
                    <a:latin typeface="幼圆" pitchFamily="49" charset="-122"/>
                    <a:ea typeface="幼圆" pitchFamily="49" charset="-122"/>
                  </a:rPr>
                  <a:t> 要解决哪些问题？</a:t>
                </a:r>
              </a:p>
            </p:txBody>
          </p:sp>
          <p:sp>
            <p:nvSpPr>
              <p:cNvPr id="20" name="Line 18">
                <a:extLst>
                  <a:ext uri="{FF2B5EF4-FFF2-40B4-BE49-F238E27FC236}">
                    <a16:creationId xmlns:a16="http://schemas.microsoft.com/office/drawing/2014/main" id="{3D070689-66EA-4617-B8C4-6FE64768951E}"/>
                  </a:ext>
                </a:extLst>
              </p:cNvPr>
              <p:cNvSpPr>
                <a:spLocks noChangeShapeType="1"/>
              </p:cNvSpPr>
              <p:nvPr/>
            </p:nvSpPr>
            <p:spPr bwMode="auto">
              <a:xfrm>
                <a:off x="1872" y="1536"/>
                <a:ext cx="96" cy="2"/>
              </a:xfrm>
              <a:prstGeom prst="line">
                <a:avLst/>
              </a:prstGeom>
              <a:noFill/>
              <a:ln w="38100" cmpd="dbl">
                <a:solidFill>
                  <a:srgbClr val="FF7C8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3" name="Rectangle 19">
              <a:extLst>
                <a:ext uri="{FF2B5EF4-FFF2-40B4-BE49-F238E27FC236}">
                  <a16:creationId xmlns:a16="http://schemas.microsoft.com/office/drawing/2014/main" id="{2346E44D-67F7-45F0-8482-FC76DAD3E434}"/>
                </a:ext>
              </a:extLst>
            </p:cNvPr>
            <p:cNvSpPr>
              <a:spLocks noChangeArrowheads="1"/>
            </p:cNvSpPr>
            <p:nvPr/>
          </p:nvSpPr>
          <p:spPr bwMode="auto">
            <a:xfrm>
              <a:off x="1680" y="2736"/>
              <a:ext cx="528" cy="288"/>
            </a:xfrm>
            <a:prstGeom prst="rect">
              <a:avLst/>
            </a:prstGeom>
            <a:noFill/>
            <a:ln w="38100" cmpd="dbl">
              <a:solidFill>
                <a:srgbClr val="FF7C80"/>
              </a:solidFill>
              <a:miter lim="800000"/>
              <a:headEnd/>
              <a:tailEnd/>
            </a:ln>
            <a:effectLst/>
          </p:spPr>
          <p:txBody>
            <a:bodyPr wrap="none" anchor="ctr"/>
            <a:lstStyle/>
            <a:p>
              <a:pPr>
                <a:defRPr/>
              </a:pPr>
              <a:r>
                <a:rPr lang="en-US" altLang="zh-CN" sz="1800" b="1">
                  <a:effectLst>
                    <a:outerShdw blurRad="38100" dist="38100" dir="2700000" algn="tl">
                      <a:srgbClr val="000000"/>
                    </a:outerShdw>
                  </a:effectLst>
                  <a:latin typeface="Times New Roman" charset="0"/>
                  <a:ea typeface="幼圆" pitchFamily="49" charset="-122"/>
                </a:rPr>
                <a:t>Why</a:t>
              </a:r>
            </a:p>
          </p:txBody>
        </p:sp>
        <p:grpSp>
          <p:nvGrpSpPr>
            <p:cNvPr id="14" name="Group 20">
              <a:extLst>
                <a:ext uri="{FF2B5EF4-FFF2-40B4-BE49-F238E27FC236}">
                  <a16:creationId xmlns:a16="http://schemas.microsoft.com/office/drawing/2014/main" id="{BAA577BB-847A-4FEA-BCE7-F71537898C91}"/>
                </a:ext>
              </a:extLst>
            </p:cNvPr>
            <p:cNvGrpSpPr>
              <a:grpSpLocks/>
            </p:cNvGrpSpPr>
            <p:nvPr/>
          </p:nvGrpSpPr>
          <p:grpSpPr bwMode="auto">
            <a:xfrm>
              <a:off x="2208" y="2688"/>
              <a:ext cx="1824" cy="384"/>
              <a:chOff x="1872" y="1344"/>
              <a:chExt cx="1824" cy="384"/>
            </a:xfrm>
          </p:grpSpPr>
          <p:sp>
            <p:nvSpPr>
              <p:cNvPr id="17" name="Rectangle 21">
                <a:extLst>
                  <a:ext uri="{FF2B5EF4-FFF2-40B4-BE49-F238E27FC236}">
                    <a16:creationId xmlns:a16="http://schemas.microsoft.com/office/drawing/2014/main" id="{7DF16EB8-537F-42AD-ACD1-5C17D7DA9699}"/>
                  </a:ext>
                </a:extLst>
              </p:cNvPr>
              <p:cNvSpPr>
                <a:spLocks noChangeArrowheads="1"/>
              </p:cNvSpPr>
              <p:nvPr/>
            </p:nvSpPr>
            <p:spPr bwMode="auto">
              <a:xfrm>
                <a:off x="1968" y="1344"/>
                <a:ext cx="1728" cy="384"/>
              </a:xfrm>
              <a:prstGeom prst="rect">
                <a:avLst/>
              </a:prstGeom>
              <a:solidFill>
                <a:schemeClr val="bg1"/>
              </a:solidFill>
              <a:ln w="9525">
                <a:solidFill>
                  <a:srgbClr val="99CC00"/>
                </a:solidFill>
                <a:miter lim="800000"/>
                <a:headEnd/>
                <a:tailEnd/>
              </a:ln>
              <a:effectLst/>
            </p:spPr>
            <p:txBody>
              <a:bodyPr wrap="none" anchor="ctr"/>
              <a:lstStyle/>
              <a:p>
                <a:pPr algn="l">
                  <a:defRPr/>
                </a:pPr>
                <a:r>
                  <a:rPr lang="zh-CN" altLang="en-US" sz="1800" b="1">
                    <a:effectLst>
                      <a:outerShdw blurRad="38100" dist="38100" dir="2700000" algn="tl">
                        <a:srgbClr val="000000"/>
                      </a:outerShdw>
                    </a:effectLst>
                    <a:latin typeface="幼圆" pitchFamily="49" charset="-122"/>
                    <a:ea typeface="幼圆" pitchFamily="49" charset="-122"/>
                  </a:rPr>
                  <a:t> 为什么要解决这些问题</a:t>
                </a:r>
              </a:p>
            </p:txBody>
          </p:sp>
          <p:sp>
            <p:nvSpPr>
              <p:cNvPr id="18" name="Line 22">
                <a:extLst>
                  <a:ext uri="{FF2B5EF4-FFF2-40B4-BE49-F238E27FC236}">
                    <a16:creationId xmlns:a16="http://schemas.microsoft.com/office/drawing/2014/main" id="{2E2EA4DF-4BC9-4B4F-BAC5-1EC72EACF773}"/>
                  </a:ext>
                </a:extLst>
              </p:cNvPr>
              <p:cNvSpPr>
                <a:spLocks noChangeShapeType="1"/>
              </p:cNvSpPr>
              <p:nvPr/>
            </p:nvSpPr>
            <p:spPr bwMode="auto">
              <a:xfrm>
                <a:off x="1872" y="1536"/>
                <a:ext cx="96" cy="2"/>
              </a:xfrm>
              <a:prstGeom prst="line">
                <a:avLst/>
              </a:prstGeom>
              <a:noFill/>
              <a:ln w="38100" cmpd="dbl">
                <a:solidFill>
                  <a:srgbClr val="FF7C8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5" name="AutoShape 23">
              <a:extLst>
                <a:ext uri="{FF2B5EF4-FFF2-40B4-BE49-F238E27FC236}">
                  <a16:creationId xmlns:a16="http://schemas.microsoft.com/office/drawing/2014/main" id="{51163B1B-1698-4682-B687-44BF2E2B6CF0}"/>
                </a:ext>
              </a:extLst>
            </p:cNvPr>
            <p:cNvSpPr>
              <a:spLocks/>
            </p:cNvSpPr>
            <p:nvPr/>
          </p:nvSpPr>
          <p:spPr bwMode="auto">
            <a:xfrm>
              <a:off x="4176" y="1872"/>
              <a:ext cx="192" cy="1200"/>
            </a:xfrm>
            <a:prstGeom prst="rightBrace">
              <a:avLst>
                <a:gd name="adj1" fmla="val 52083"/>
                <a:gd name="adj2" fmla="val 50000"/>
              </a:avLst>
            </a:prstGeom>
            <a:noFill/>
            <a:ln w="9525">
              <a:solidFill>
                <a:srgbClr val="CC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endParaRPr lang="zh-CN" altLang="en-US"/>
            </a:p>
          </p:txBody>
        </p:sp>
        <p:sp>
          <p:nvSpPr>
            <p:cNvPr id="16" name="Rectangle 24">
              <a:extLst>
                <a:ext uri="{FF2B5EF4-FFF2-40B4-BE49-F238E27FC236}">
                  <a16:creationId xmlns:a16="http://schemas.microsoft.com/office/drawing/2014/main" id="{AB619979-CE35-4A6C-9517-4D5BA4630D9A}"/>
                </a:ext>
              </a:extLst>
            </p:cNvPr>
            <p:cNvSpPr>
              <a:spLocks noChangeArrowheads="1"/>
            </p:cNvSpPr>
            <p:nvPr/>
          </p:nvSpPr>
          <p:spPr bwMode="auto">
            <a:xfrm>
              <a:off x="4320" y="2352"/>
              <a:ext cx="480" cy="288"/>
            </a:xfrm>
            <a:prstGeom prst="rect">
              <a:avLst/>
            </a:prstGeom>
            <a:noFill/>
            <a:ln w="38100" cmpd="dbl">
              <a:noFill/>
              <a:miter lim="800000"/>
              <a:headEnd/>
              <a:tailEnd/>
            </a:ln>
            <a:effectLst/>
          </p:spPr>
          <p:txBody>
            <a:bodyPr wrap="none" anchor="ctr"/>
            <a:lstStyle/>
            <a:p>
              <a:pPr>
                <a:defRPr/>
              </a:pPr>
              <a:r>
                <a:rPr lang="en-US" altLang="zh-CN" sz="1800" b="1">
                  <a:effectLst>
                    <a:outerShdw blurRad="38100" dist="38100" dir="2700000" algn="tl">
                      <a:srgbClr val="000000"/>
                    </a:outerShdw>
                  </a:effectLst>
                  <a:latin typeface="Times New Roman" charset="0"/>
                  <a:ea typeface="幼圆" pitchFamily="49" charset="-122"/>
                </a:rPr>
                <a:t> </a:t>
              </a:r>
              <a:r>
                <a:rPr lang="en-US" altLang="zh-CN" sz="2400" b="1">
                  <a:effectLst>
                    <a:outerShdw blurRad="38100" dist="38100" dir="2700000" algn="tl">
                      <a:srgbClr val="000000"/>
                    </a:outerShdw>
                  </a:effectLst>
                  <a:latin typeface="Times New Roman" charset="0"/>
                  <a:ea typeface="幼圆" pitchFamily="49" charset="-122"/>
                </a:rPr>
                <a:t>3W</a:t>
              </a:r>
            </a:p>
          </p:txBody>
        </p:sp>
      </p:grpSp>
    </p:spTree>
    <p:extLst>
      <p:ext uri="{BB962C8B-B14F-4D97-AF65-F5344CB8AC3E}">
        <p14:creationId xmlns:p14="http://schemas.microsoft.com/office/powerpoint/2010/main" val="36349819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5">
            <a:extLst>
              <a:ext uri="{FF2B5EF4-FFF2-40B4-BE49-F238E27FC236}">
                <a16:creationId xmlns:a16="http://schemas.microsoft.com/office/drawing/2014/main" id="{507E40BF-9040-45CA-966B-C4CEF3EDA4F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6392913-A17C-4256-9C37-27AC38B3AA0A}" type="slidenum">
              <a:rPr lang="en-US" altLang="en-US"/>
              <a:pPr eaLnBrk="1" hangingPunct="1"/>
              <a:t>9</a:t>
            </a:fld>
            <a:endParaRPr lang="en-US" altLang="en-US"/>
          </a:p>
        </p:txBody>
      </p:sp>
      <p:sp>
        <p:nvSpPr>
          <p:cNvPr id="7171" name="Rectangle 2">
            <a:extLst>
              <a:ext uri="{FF2B5EF4-FFF2-40B4-BE49-F238E27FC236}">
                <a16:creationId xmlns:a16="http://schemas.microsoft.com/office/drawing/2014/main" id="{E19DB2ED-F1B5-4517-B465-1B18A7789458}"/>
              </a:ext>
            </a:extLst>
          </p:cNvPr>
          <p:cNvSpPr>
            <a:spLocks noGrp="1" noChangeArrowheads="1"/>
          </p:cNvSpPr>
          <p:nvPr>
            <p:ph type="title"/>
          </p:nvPr>
        </p:nvSpPr>
        <p:spPr>
          <a:xfrm>
            <a:off x="457200" y="122238"/>
            <a:ext cx="7543800" cy="1020762"/>
          </a:xfrm>
        </p:spPr>
        <p:txBody>
          <a:bodyPr/>
          <a:lstStyle/>
          <a:p>
            <a:pPr eaLnBrk="1" hangingPunct="1"/>
            <a:r>
              <a:rPr lang="zh-CN" altLang="en-US" dirty="0">
                <a:ea typeface="宋体" panose="02010600030101010101" pitchFamily="2" charset="-122"/>
              </a:rPr>
              <a:t>系统设计过程</a:t>
            </a:r>
            <a:endParaRPr lang="en-US" altLang="zh-CN" dirty="0">
              <a:ea typeface="宋体" panose="02010600030101010101" pitchFamily="2" charset="-122"/>
            </a:endParaRPr>
          </a:p>
        </p:txBody>
      </p:sp>
      <p:sp>
        <p:nvSpPr>
          <p:cNvPr id="7173" name="Footer Placeholder 4">
            <a:extLst>
              <a:ext uri="{FF2B5EF4-FFF2-40B4-BE49-F238E27FC236}">
                <a16:creationId xmlns:a16="http://schemas.microsoft.com/office/drawing/2014/main" id="{E22E0CAA-6560-4A06-AC1A-2DECF0BBD24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7174" name="Rectangle 7">
            <a:extLst>
              <a:ext uri="{FF2B5EF4-FFF2-40B4-BE49-F238E27FC236}">
                <a16:creationId xmlns:a16="http://schemas.microsoft.com/office/drawing/2014/main" id="{B82196E8-7A25-400F-B832-DE0EC05E4D21}"/>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3" name="Oval 1043">
            <a:extLst>
              <a:ext uri="{FF2B5EF4-FFF2-40B4-BE49-F238E27FC236}">
                <a16:creationId xmlns:a16="http://schemas.microsoft.com/office/drawing/2014/main" id="{060B0853-2197-4865-92EC-63C68FE0C1F8}"/>
              </a:ext>
            </a:extLst>
          </p:cNvPr>
          <p:cNvSpPr>
            <a:spLocks noChangeArrowheads="1"/>
          </p:cNvSpPr>
          <p:nvPr/>
        </p:nvSpPr>
        <p:spPr bwMode="auto">
          <a:xfrm>
            <a:off x="4724400" y="3810000"/>
            <a:ext cx="838200" cy="838200"/>
          </a:xfrm>
          <a:prstGeom prst="ellipse">
            <a:avLst/>
          </a:prstGeom>
          <a:gradFill rotWithShape="0">
            <a:gsLst>
              <a:gs pos="0">
                <a:srgbClr val="CC00FF"/>
              </a:gs>
              <a:gs pos="50000">
                <a:srgbClr val="5E0076"/>
              </a:gs>
              <a:gs pos="100000">
                <a:srgbClr val="CC00FF"/>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b="1">
                <a:solidFill>
                  <a:schemeClr val="bg1"/>
                </a:solidFill>
              </a:rPr>
              <a:t>编码</a:t>
            </a:r>
          </a:p>
        </p:txBody>
      </p:sp>
      <p:sp>
        <p:nvSpPr>
          <p:cNvPr id="24" name="Oval 1044">
            <a:extLst>
              <a:ext uri="{FF2B5EF4-FFF2-40B4-BE49-F238E27FC236}">
                <a16:creationId xmlns:a16="http://schemas.microsoft.com/office/drawing/2014/main" id="{603BD739-8015-4D92-973D-13CA373A722E}"/>
              </a:ext>
            </a:extLst>
          </p:cNvPr>
          <p:cNvSpPr>
            <a:spLocks noChangeArrowheads="1"/>
          </p:cNvSpPr>
          <p:nvPr/>
        </p:nvSpPr>
        <p:spPr bwMode="auto">
          <a:xfrm>
            <a:off x="6477000" y="3810000"/>
            <a:ext cx="838200" cy="838200"/>
          </a:xfrm>
          <a:prstGeom prst="ellipse">
            <a:avLst/>
          </a:prstGeom>
          <a:solidFill>
            <a:srgbClr val="FF3399"/>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b="1">
                <a:solidFill>
                  <a:schemeClr val="bg1"/>
                </a:solidFill>
              </a:rPr>
              <a:t>测试</a:t>
            </a:r>
          </a:p>
        </p:txBody>
      </p:sp>
      <p:sp>
        <p:nvSpPr>
          <p:cNvPr id="25" name="Oval 1042">
            <a:extLst>
              <a:ext uri="{FF2B5EF4-FFF2-40B4-BE49-F238E27FC236}">
                <a16:creationId xmlns:a16="http://schemas.microsoft.com/office/drawing/2014/main" id="{939485E3-B2B9-4119-A0A3-BB077673EF46}"/>
              </a:ext>
            </a:extLst>
          </p:cNvPr>
          <p:cNvSpPr>
            <a:spLocks noChangeArrowheads="1"/>
          </p:cNvSpPr>
          <p:nvPr/>
        </p:nvSpPr>
        <p:spPr bwMode="auto">
          <a:xfrm>
            <a:off x="2743200" y="2819400"/>
            <a:ext cx="838200" cy="838200"/>
          </a:xfrm>
          <a:prstGeom prst="ellipse">
            <a:avLst/>
          </a:prstGeom>
          <a:gradFill rotWithShape="0">
            <a:gsLst>
              <a:gs pos="0">
                <a:srgbClr val="66FF66"/>
              </a:gs>
              <a:gs pos="50000">
                <a:srgbClr val="2F762F"/>
              </a:gs>
              <a:gs pos="100000">
                <a:srgbClr val="66FF66"/>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b="1">
                <a:solidFill>
                  <a:schemeClr val="bg1"/>
                </a:solidFill>
              </a:rPr>
              <a:t>设计</a:t>
            </a:r>
          </a:p>
        </p:txBody>
      </p:sp>
      <p:grpSp>
        <p:nvGrpSpPr>
          <p:cNvPr id="26" name="Group 1068">
            <a:extLst>
              <a:ext uri="{FF2B5EF4-FFF2-40B4-BE49-F238E27FC236}">
                <a16:creationId xmlns:a16="http://schemas.microsoft.com/office/drawing/2014/main" id="{8A19D57D-3B06-4D57-97EC-BB45DF5AEA1D}"/>
              </a:ext>
            </a:extLst>
          </p:cNvPr>
          <p:cNvGrpSpPr>
            <a:grpSpLocks/>
          </p:cNvGrpSpPr>
          <p:nvPr/>
        </p:nvGrpSpPr>
        <p:grpSpPr bwMode="auto">
          <a:xfrm>
            <a:off x="2362200" y="2286000"/>
            <a:ext cx="914400" cy="609600"/>
            <a:chOff x="1680" y="1632"/>
            <a:chExt cx="576" cy="384"/>
          </a:xfrm>
        </p:grpSpPr>
        <p:sp>
          <p:nvSpPr>
            <p:cNvPr id="27" name="Line 1045">
              <a:extLst>
                <a:ext uri="{FF2B5EF4-FFF2-40B4-BE49-F238E27FC236}">
                  <a16:creationId xmlns:a16="http://schemas.microsoft.com/office/drawing/2014/main" id="{E601A49D-268D-4C19-BE22-4254CF45848B}"/>
                </a:ext>
              </a:extLst>
            </p:cNvPr>
            <p:cNvSpPr>
              <a:spLocks noChangeShapeType="1"/>
            </p:cNvSpPr>
            <p:nvPr/>
          </p:nvSpPr>
          <p:spPr bwMode="auto">
            <a:xfrm>
              <a:off x="1920" y="1824"/>
              <a:ext cx="96" cy="192"/>
            </a:xfrm>
            <a:prstGeom prst="line">
              <a:avLst/>
            </a:prstGeom>
            <a:noFill/>
            <a:ln w="19050">
              <a:solidFill>
                <a:srgbClr val="538E3E"/>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 name="Rectangle 1052">
              <a:extLst>
                <a:ext uri="{FF2B5EF4-FFF2-40B4-BE49-F238E27FC236}">
                  <a16:creationId xmlns:a16="http://schemas.microsoft.com/office/drawing/2014/main" id="{2F56DE96-6D47-4011-BE90-E88519A4D662}"/>
                </a:ext>
              </a:extLst>
            </p:cNvPr>
            <p:cNvSpPr>
              <a:spLocks noChangeArrowheads="1"/>
            </p:cNvSpPr>
            <p:nvPr/>
          </p:nvSpPr>
          <p:spPr bwMode="auto">
            <a:xfrm>
              <a:off x="1680" y="1632"/>
              <a:ext cx="57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pPr algn="l"/>
              <a:r>
                <a:rPr lang="zh-CN" altLang="en-US" sz="1400" dirty="0">
                  <a:solidFill>
                    <a:srgbClr val="8736E8"/>
                  </a:solidFill>
                  <a:latin typeface="幼圆" panose="02010509060101010101" pitchFamily="49" charset="-122"/>
                  <a:ea typeface="幼圆" panose="02010509060101010101" pitchFamily="49" charset="-122"/>
                </a:rPr>
                <a:t>信息描述</a:t>
              </a:r>
            </a:p>
          </p:txBody>
        </p:sp>
      </p:grpSp>
      <p:grpSp>
        <p:nvGrpSpPr>
          <p:cNvPr id="29" name="Group 1069">
            <a:extLst>
              <a:ext uri="{FF2B5EF4-FFF2-40B4-BE49-F238E27FC236}">
                <a16:creationId xmlns:a16="http://schemas.microsoft.com/office/drawing/2014/main" id="{71288DB1-3D7A-4775-8181-8A74537E8DE2}"/>
              </a:ext>
            </a:extLst>
          </p:cNvPr>
          <p:cNvGrpSpPr>
            <a:grpSpLocks/>
          </p:cNvGrpSpPr>
          <p:nvPr/>
        </p:nvGrpSpPr>
        <p:grpSpPr bwMode="auto">
          <a:xfrm>
            <a:off x="1447800" y="2743200"/>
            <a:ext cx="1295400" cy="381000"/>
            <a:chOff x="1104" y="1920"/>
            <a:chExt cx="816" cy="240"/>
          </a:xfrm>
        </p:grpSpPr>
        <p:sp>
          <p:nvSpPr>
            <p:cNvPr id="30" name="Line 1049">
              <a:extLst>
                <a:ext uri="{FF2B5EF4-FFF2-40B4-BE49-F238E27FC236}">
                  <a16:creationId xmlns:a16="http://schemas.microsoft.com/office/drawing/2014/main" id="{951FE68F-BAF0-4035-BAD3-5D666B658EE0}"/>
                </a:ext>
              </a:extLst>
            </p:cNvPr>
            <p:cNvSpPr>
              <a:spLocks noChangeShapeType="1"/>
            </p:cNvSpPr>
            <p:nvPr/>
          </p:nvSpPr>
          <p:spPr bwMode="auto">
            <a:xfrm>
              <a:off x="1680" y="2064"/>
              <a:ext cx="240" cy="96"/>
            </a:xfrm>
            <a:prstGeom prst="line">
              <a:avLst/>
            </a:prstGeom>
            <a:noFill/>
            <a:ln w="19050">
              <a:solidFill>
                <a:srgbClr val="538E3E"/>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 name="Rectangle 1053">
              <a:extLst>
                <a:ext uri="{FF2B5EF4-FFF2-40B4-BE49-F238E27FC236}">
                  <a16:creationId xmlns:a16="http://schemas.microsoft.com/office/drawing/2014/main" id="{514E0B4D-0C3D-48A3-B3FA-135B4517DA9A}"/>
                </a:ext>
              </a:extLst>
            </p:cNvPr>
            <p:cNvSpPr>
              <a:spLocks noChangeArrowheads="1"/>
            </p:cNvSpPr>
            <p:nvPr/>
          </p:nvSpPr>
          <p:spPr bwMode="auto">
            <a:xfrm>
              <a:off x="1104" y="1920"/>
              <a:ext cx="57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pPr algn="l"/>
              <a:r>
                <a:rPr lang="zh-CN" altLang="en-US" sz="1400">
                  <a:solidFill>
                    <a:srgbClr val="8736E8"/>
                  </a:solidFill>
                  <a:latin typeface="幼圆" panose="02010509060101010101" pitchFamily="49" charset="-122"/>
                  <a:ea typeface="幼圆" panose="02010509060101010101" pitchFamily="49" charset="-122"/>
                </a:rPr>
                <a:t>功能描述</a:t>
              </a:r>
            </a:p>
          </p:txBody>
        </p:sp>
      </p:grpSp>
      <p:grpSp>
        <p:nvGrpSpPr>
          <p:cNvPr id="32" name="Group 1070">
            <a:extLst>
              <a:ext uri="{FF2B5EF4-FFF2-40B4-BE49-F238E27FC236}">
                <a16:creationId xmlns:a16="http://schemas.microsoft.com/office/drawing/2014/main" id="{C9EBD2DE-7359-4895-BBFD-E5AFD9F087A4}"/>
              </a:ext>
            </a:extLst>
          </p:cNvPr>
          <p:cNvGrpSpPr>
            <a:grpSpLocks/>
          </p:cNvGrpSpPr>
          <p:nvPr/>
        </p:nvGrpSpPr>
        <p:grpSpPr bwMode="auto">
          <a:xfrm>
            <a:off x="1447800" y="3352800"/>
            <a:ext cx="1295400" cy="304800"/>
            <a:chOff x="1104" y="2304"/>
            <a:chExt cx="816" cy="192"/>
          </a:xfrm>
        </p:grpSpPr>
        <p:sp>
          <p:nvSpPr>
            <p:cNvPr id="33" name="Line 1050">
              <a:extLst>
                <a:ext uri="{FF2B5EF4-FFF2-40B4-BE49-F238E27FC236}">
                  <a16:creationId xmlns:a16="http://schemas.microsoft.com/office/drawing/2014/main" id="{F0933B46-B427-43EB-B2D4-83AFD7B5C88F}"/>
                </a:ext>
              </a:extLst>
            </p:cNvPr>
            <p:cNvSpPr>
              <a:spLocks noChangeShapeType="1"/>
            </p:cNvSpPr>
            <p:nvPr/>
          </p:nvSpPr>
          <p:spPr bwMode="auto">
            <a:xfrm flipV="1">
              <a:off x="1680" y="2304"/>
              <a:ext cx="240" cy="96"/>
            </a:xfrm>
            <a:prstGeom prst="line">
              <a:avLst/>
            </a:prstGeom>
            <a:noFill/>
            <a:ln w="19050">
              <a:solidFill>
                <a:srgbClr val="538E3E"/>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 name="Rectangle 1054">
              <a:extLst>
                <a:ext uri="{FF2B5EF4-FFF2-40B4-BE49-F238E27FC236}">
                  <a16:creationId xmlns:a16="http://schemas.microsoft.com/office/drawing/2014/main" id="{814405ED-041A-4C2B-B99A-20F25D3A25E5}"/>
                </a:ext>
              </a:extLst>
            </p:cNvPr>
            <p:cNvSpPr>
              <a:spLocks noChangeArrowheads="1"/>
            </p:cNvSpPr>
            <p:nvPr/>
          </p:nvSpPr>
          <p:spPr bwMode="auto">
            <a:xfrm>
              <a:off x="1104" y="2304"/>
              <a:ext cx="57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pPr algn="l"/>
              <a:r>
                <a:rPr lang="zh-CN" altLang="en-US" sz="1400">
                  <a:solidFill>
                    <a:srgbClr val="8736E8"/>
                  </a:solidFill>
                  <a:latin typeface="幼圆" panose="02010509060101010101" pitchFamily="49" charset="-122"/>
                  <a:ea typeface="幼圆" panose="02010509060101010101" pitchFamily="49" charset="-122"/>
                </a:rPr>
                <a:t>行为描述</a:t>
              </a:r>
            </a:p>
          </p:txBody>
        </p:sp>
      </p:grpSp>
      <p:grpSp>
        <p:nvGrpSpPr>
          <p:cNvPr id="35" name="Group 1071">
            <a:extLst>
              <a:ext uri="{FF2B5EF4-FFF2-40B4-BE49-F238E27FC236}">
                <a16:creationId xmlns:a16="http://schemas.microsoft.com/office/drawing/2014/main" id="{66B4EBF0-16D3-4E29-9F41-95584BB6C2C7}"/>
              </a:ext>
            </a:extLst>
          </p:cNvPr>
          <p:cNvGrpSpPr>
            <a:grpSpLocks/>
          </p:cNvGrpSpPr>
          <p:nvPr/>
        </p:nvGrpSpPr>
        <p:grpSpPr bwMode="auto">
          <a:xfrm>
            <a:off x="2362200" y="3581400"/>
            <a:ext cx="914400" cy="685800"/>
            <a:chOff x="1680" y="2448"/>
            <a:chExt cx="576" cy="432"/>
          </a:xfrm>
        </p:grpSpPr>
        <p:sp>
          <p:nvSpPr>
            <p:cNvPr id="36" name="Line 1051">
              <a:extLst>
                <a:ext uri="{FF2B5EF4-FFF2-40B4-BE49-F238E27FC236}">
                  <a16:creationId xmlns:a16="http://schemas.microsoft.com/office/drawing/2014/main" id="{4AFBCF17-189C-4CD6-9F92-92D0ADE19DAB}"/>
                </a:ext>
              </a:extLst>
            </p:cNvPr>
            <p:cNvSpPr>
              <a:spLocks noChangeShapeType="1"/>
            </p:cNvSpPr>
            <p:nvPr/>
          </p:nvSpPr>
          <p:spPr bwMode="auto">
            <a:xfrm flipV="1">
              <a:off x="1872" y="2448"/>
              <a:ext cx="144" cy="240"/>
            </a:xfrm>
            <a:prstGeom prst="line">
              <a:avLst/>
            </a:prstGeom>
            <a:noFill/>
            <a:ln w="19050">
              <a:solidFill>
                <a:srgbClr val="538E3E"/>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 name="Rectangle 1055">
              <a:extLst>
                <a:ext uri="{FF2B5EF4-FFF2-40B4-BE49-F238E27FC236}">
                  <a16:creationId xmlns:a16="http://schemas.microsoft.com/office/drawing/2014/main" id="{09071CCD-3CEE-4875-BE9F-5D909D523AFC}"/>
                </a:ext>
              </a:extLst>
            </p:cNvPr>
            <p:cNvSpPr>
              <a:spLocks noChangeArrowheads="1"/>
            </p:cNvSpPr>
            <p:nvPr/>
          </p:nvSpPr>
          <p:spPr bwMode="auto">
            <a:xfrm>
              <a:off x="1680" y="2688"/>
              <a:ext cx="57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pPr algn="l"/>
              <a:r>
                <a:rPr lang="zh-CN" altLang="en-US" sz="1400">
                  <a:solidFill>
                    <a:srgbClr val="8736E8"/>
                  </a:solidFill>
                  <a:latin typeface="幼圆" panose="02010509060101010101" pitchFamily="49" charset="-122"/>
                  <a:ea typeface="幼圆" panose="02010509060101010101" pitchFamily="49" charset="-122"/>
                </a:rPr>
                <a:t>其他需求</a:t>
              </a:r>
            </a:p>
          </p:txBody>
        </p:sp>
      </p:grpSp>
      <p:grpSp>
        <p:nvGrpSpPr>
          <p:cNvPr id="38" name="Group 1073">
            <a:extLst>
              <a:ext uri="{FF2B5EF4-FFF2-40B4-BE49-F238E27FC236}">
                <a16:creationId xmlns:a16="http://schemas.microsoft.com/office/drawing/2014/main" id="{F00EC7C4-750A-4E7E-8273-80B68E233E02}"/>
              </a:ext>
            </a:extLst>
          </p:cNvPr>
          <p:cNvGrpSpPr>
            <a:grpSpLocks/>
          </p:cNvGrpSpPr>
          <p:nvPr/>
        </p:nvGrpSpPr>
        <p:grpSpPr bwMode="auto">
          <a:xfrm>
            <a:off x="3581400" y="3352800"/>
            <a:ext cx="1371600" cy="685800"/>
            <a:chOff x="2448" y="2304"/>
            <a:chExt cx="864" cy="432"/>
          </a:xfrm>
        </p:grpSpPr>
        <p:sp>
          <p:nvSpPr>
            <p:cNvPr id="39" name="Line 1056">
              <a:extLst>
                <a:ext uri="{FF2B5EF4-FFF2-40B4-BE49-F238E27FC236}">
                  <a16:creationId xmlns:a16="http://schemas.microsoft.com/office/drawing/2014/main" id="{0606BA2A-F9B7-496F-AB45-FA40D4E056C8}"/>
                </a:ext>
              </a:extLst>
            </p:cNvPr>
            <p:cNvSpPr>
              <a:spLocks noChangeShapeType="1"/>
            </p:cNvSpPr>
            <p:nvPr/>
          </p:nvSpPr>
          <p:spPr bwMode="auto">
            <a:xfrm>
              <a:off x="2448" y="2304"/>
              <a:ext cx="768" cy="432"/>
            </a:xfrm>
            <a:prstGeom prst="line">
              <a:avLst/>
            </a:prstGeom>
            <a:noFill/>
            <a:ln w="19050">
              <a:solidFill>
                <a:srgbClr val="538E3E"/>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0" name="Rectangle 1057">
              <a:extLst>
                <a:ext uri="{FF2B5EF4-FFF2-40B4-BE49-F238E27FC236}">
                  <a16:creationId xmlns:a16="http://schemas.microsoft.com/office/drawing/2014/main" id="{6EA5AF3A-D46D-4B41-9AF1-188C97BB90D3}"/>
                </a:ext>
              </a:extLst>
            </p:cNvPr>
            <p:cNvSpPr>
              <a:spLocks noChangeArrowheads="1"/>
            </p:cNvSpPr>
            <p:nvPr/>
          </p:nvSpPr>
          <p:spPr bwMode="auto">
            <a:xfrm rot="1765175">
              <a:off x="2496" y="2352"/>
              <a:ext cx="816"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pPr algn="l"/>
              <a:r>
                <a:rPr lang="zh-CN" altLang="en-US" sz="1400">
                  <a:solidFill>
                    <a:srgbClr val="8736E8"/>
                  </a:solidFill>
                  <a:latin typeface="幼圆" panose="02010509060101010101" pitchFamily="49" charset="-122"/>
                  <a:ea typeface="幼圆" panose="02010509060101010101" pitchFamily="49" charset="-122"/>
                </a:rPr>
                <a:t>总体结构设计</a:t>
              </a:r>
            </a:p>
          </p:txBody>
        </p:sp>
      </p:grpSp>
      <p:grpSp>
        <p:nvGrpSpPr>
          <p:cNvPr id="41" name="Group 1074">
            <a:extLst>
              <a:ext uri="{FF2B5EF4-FFF2-40B4-BE49-F238E27FC236}">
                <a16:creationId xmlns:a16="http://schemas.microsoft.com/office/drawing/2014/main" id="{F7691725-1692-48D9-BE5A-FE270D34F2AF}"/>
              </a:ext>
            </a:extLst>
          </p:cNvPr>
          <p:cNvGrpSpPr>
            <a:grpSpLocks/>
          </p:cNvGrpSpPr>
          <p:nvPr/>
        </p:nvGrpSpPr>
        <p:grpSpPr bwMode="auto">
          <a:xfrm>
            <a:off x="3581400" y="2819400"/>
            <a:ext cx="1524000" cy="990600"/>
            <a:chOff x="2448" y="1968"/>
            <a:chExt cx="960" cy="624"/>
          </a:xfrm>
        </p:grpSpPr>
        <p:sp>
          <p:nvSpPr>
            <p:cNvPr id="42" name="Line 1058">
              <a:extLst>
                <a:ext uri="{FF2B5EF4-FFF2-40B4-BE49-F238E27FC236}">
                  <a16:creationId xmlns:a16="http://schemas.microsoft.com/office/drawing/2014/main" id="{1E6AC655-8F9D-4F60-8FF3-2DF25BACEF7C}"/>
                </a:ext>
              </a:extLst>
            </p:cNvPr>
            <p:cNvSpPr>
              <a:spLocks noChangeShapeType="1"/>
            </p:cNvSpPr>
            <p:nvPr/>
          </p:nvSpPr>
          <p:spPr bwMode="auto">
            <a:xfrm>
              <a:off x="2448" y="2160"/>
              <a:ext cx="960" cy="0"/>
            </a:xfrm>
            <a:prstGeom prst="line">
              <a:avLst/>
            </a:prstGeom>
            <a:noFill/>
            <a:ln w="19050">
              <a:solidFill>
                <a:srgbClr val="538E3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 name="Line 1059">
              <a:extLst>
                <a:ext uri="{FF2B5EF4-FFF2-40B4-BE49-F238E27FC236}">
                  <a16:creationId xmlns:a16="http://schemas.microsoft.com/office/drawing/2014/main" id="{4064C68F-188C-4D2C-9162-5FD7B3D28972}"/>
                </a:ext>
              </a:extLst>
            </p:cNvPr>
            <p:cNvSpPr>
              <a:spLocks noChangeShapeType="1"/>
            </p:cNvSpPr>
            <p:nvPr/>
          </p:nvSpPr>
          <p:spPr bwMode="auto">
            <a:xfrm flipH="1">
              <a:off x="3408" y="2160"/>
              <a:ext cx="0" cy="432"/>
            </a:xfrm>
            <a:prstGeom prst="line">
              <a:avLst/>
            </a:prstGeom>
            <a:noFill/>
            <a:ln w="19050">
              <a:solidFill>
                <a:srgbClr val="538E3E"/>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4" name="Rectangle 1062">
              <a:extLst>
                <a:ext uri="{FF2B5EF4-FFF2-40B4-BE49-F238E27FC236}">
                  <a16:creationId xmlns:a16="http://schemas.microsoft.com/office/drawing/2014/main" id="{01F59EB5-5CCD-4935-A473-C32B3AA148CB}"/>
                </a:ext>
              </a:extLst>
            </p:cNvPr>
            <p:cNvSpPr>
              <a:spLocks noChangeArrowheads="1"/>
            </p:cNvSpPr>
            <p:nvPr/>
          </p:nvSpPr>
          <p:spPr bwMode="auto">
            <a:xfrm>
              <a:off x="2592" y="1968"/>
              <a:ext cx="57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pPr algn="l"/>
              <a:r>
                <a:rPr lang="zh-CN" altLang="en-US" sz="1400">
                  <a:solidFill>
                    <a:srgbClr val="8736E8"/>
                  </a:solidFill>
                  <a:latin typeface="幼圆" panose="02010509060101010101" pitchFamily="49" charset="-122"/>
                  <a:ea typeface="幼圆" panose="02010509060101010101" pitchFamily="49" charset="-122"/>
                </a:rPr>
                <a:t>数据设计</a:t>
              </a:r>
            </a:p>
          </p:txBody>
        </p:sp>
      </p:grpSp>
      <p:grpSp>
        <p:nvGrpSpPr>
          <p:cNvPr id="45" name="Group 1072">
            <a:extLst>
              <a:ext uri="{FF2B5EF4-FFF2-40B4-BE49-F238E27FC236}">
                <a16:creationId xmlns:a16="http://schemas.microsoft.com/office/drawing/2014/main" id="{353B9731-BF87-40BC-883C-05FA8395B31F}"/>
              </a:ext>
            </a:extLst>
          </p:cNvPr>
          <p:cNvGrpSpPr>
            <a:grpSpLocks/>
          </p:cNvGrpSpPr>
          <p:nvPr/>
        </p:nvGrpSpPr>
        <p:grpSpPr bwMode="auto">
          <a:xfrm>
            <a:off x="3429000" y="3581400"/>
            <a:ext cx="1295400" cy="762000"/>
            <a:chOff x="2352" y="2448"/>
            <a:chExt cx="816" cy="480"/>
          </a:xfrm>
        </p:grpSpPr>
        <p:sp>
          <p:nvSpPr>
            <p:cNvPr id="46" name="Line 1060">
              <a:extLst>
                <a:ext uri="{FF2B5EF4-FFF2-40B4-BE49-F238E27FC236}">
                  <a16:creationId xmlns:a16="http://schemas.microsoft.com/office/drawing/2014/main" id="{06E5ECCB-0794-41C7-BB7D-3A35AF19719B}"/>
                </a:ext>
              </a:extLst>
            </p:cNvPr>
            <p:cNvSpPr>
              <a:spLocks noChangeShapeType="1"/>
            </p:cNvSpPr>
            <p:nvPr/>
          </p:nvSpPr>
          <p:spPr bwMode="auto">
            <a:xfrm flipH="1">
              <a:off x="2352" y="2448"/>
              <a:ext cx="0" cy="480"/>
            </a:xfrm>
            <a:prstGeom prst="line">
              <a:avLst/>
            </a:prstGeom>
            <a:noFill/>
            <a:ln w="19050">
              <a:solidFill>
                <a:srgbClr val="538E3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 name="Line 1061">
              <a:extLst>
                <a:ext uri="{FF2B5EF4-FFF2-40B4-BE49-F238E27FC236}">
                  <a16:creationId xmlns:a16="http://schemas.microsoft.com/office/drawing/2014/main" id="{32AE0BC7-16AC-4013-AB9C-D383F63C61E2}"/>
                </a:ext>
              </a:extLst>
            </p:cNvPr>
            <p:cNvSpPr>
              <a:spLocks noChangeShapeType="1"/>
            </p:cNvSpPr>
            <p:nvPr/>
          </p:nvSpPr>
          <p:spPr bwMode="auto">
            <a:xfrm>
              <a:off x="2352" y="2928"/>
              <a:ext cx="816" cy="0"/>
            </a:xfrm>
            <a:prstGeom prst="line">
              <a:avLst/>
            </a:prstGeom>
            <a:noFill/>
            <a:ln w="19050">
              <a:solidFill>
                <a:srgbClr val="538E3E"/>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8" name="Rectangle 1063">
              <a:extLst>
                <a:ext uri="{FF2B5EF4-FFF2-40B4-BE49-F238E27FC236}">
                  <a16:creationId xmlns:a16="http://schemas.microsoft.com/office/drawing/2014/main" id="{32E98927-0AEC-4A34-83A4-CEAFB32EA2CF}"/>
                </a:ext>
              </a:extLst>
            </p:cNvPr>
            <p:cNvSpPr>
              <a:spLocks noChangeArrowheads="1"/>
            </p:cNvSpPr>
            <p:nvPr/>
          </p:nvSpPr>
          <p:spPr bwMode="auto">
            <a:xfrm>
              <a:off x="2448" y="2736"/>
              <a:ext cx="57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pPr algn="l"/>
              <a:r>
                <a:rPr lang="zh-CN" altLang="en-US" sz="1400">
                  <a:solidFill>
                    <a:srgbClr val="8736E8"/>
                  </a:solidFill>
                  <a:latin typeface="幼圆" panose="02010509060101010101" pitchFamily="49" charset="-122"/>
                  <a:ea typeface="幼圆" panose="02010509060101010101" pitchFamily="49" charset="-122"/>
                </a:rPr>
                <a:t>过程设计</a:t>
              </a:r>
            </a:p>
          </p:txBody>
        </p:sp>
      </p:grpSp>
      <p:grpSp>
        <p:nvGrpSpPr>
          <p:cNvPr id="49" name="Group 1075">
            <a:extLst>
              <a:ext uri="{FF2B5EF4-FFF2-40B4-BE49-F238E27FC236}">
                <a16:creationId xmlns:a16="http://schemas.microsoft.com/office/drawing/2014/main" id="{D079D720-DBFF-483B-B1DB-C00E77C14E81}"/>
              </a:ext>
            </a:extLst>
          </p:cNvPr>
          <p:cNvGrpSpPr>
            <a:grpSpLocks/>
          </p:cNvGrpSpPr>
          <p:nvPr/>
        </p:nvGrpSpPr>
        <p:grpSpPr bwMode="auto">
          <a:xfrm>
            <a:off x="5486400" y="3886200"/>
            <a:ext cx="990600" cy="304800"/>
            <a:chOff x="3648" y="2640"/>
            <a:chExt cx="624" cy="192"/>
          </a:xfrm>
        </p:grpSpPr>
        <p:sp>
          <p:nvSpPr>
            <p:cNvPr id="50" name="Line 1064">
              <a:extLst>
                <a:ext uri="{FF2B5EF4-FFF2-40B4-BE49-F238E27FC236}">
                  <a16:creationId xmlns:a16="http://schemas.microsoft.com/office/drawing/2014/main" id="{F2ADD8EF-40AA-480D-8055-EA3303678366}"/>
                </a:ext>
              </a:extLst>
            </p:cNvPr>
            <p:cNvSpPr>
              <a:spLocks noChangeShapeType="1"/>
            </p:cNvSpPr>
            <p:nvPr/>
          </p:nvSpPr>
          <p:spPr bwMode="auto">
            <a:xfrm>
              <a:off x="3696" y="2832"/>
              <a:ext cx="576" cy="0"/>
            </a:xfrm>
            <a:prstGeom prst="line">
              <a:avLst/>
            </a:prstGeom>
            <a:noFill/>
            <a:ln w="19050">
              <a:solidFill>
                <a:srgbClr val="538E3E"/>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 name="Rectangle 1065">
              <a:extLst>
                <a:ext uri="{FF2B5EF4-FFF2-40B4-BE49-F238E27FC236}">
                  <a16:creationId xmlns:a16="http://schemas.microsoft.com/office/drawing/2014/main" id="{ADD9002E-6601-40BA-A5F1-5CB32D14B7FB}"/>
                </a:ext>
              </a:extLst>
            </p:cNvPr>
            <p:cNvSpPr>
              <a:spLocks noChangeArrowheads="1"/>
            </p:cNvSpPr>
            <p:nvPr/>
          </p:nvSpPr>
          <p:spPr bwMode="auto">
            <a:xfrm>
              <a:off x="3648" y="2640"/>
              <a:ext cx="57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400">
                  <a:solidFill>
                    <a:srgbClr val="8736E8"/>
                  </a:solidFill>
                  <a:latin typeface="幼圆" panose="02010509060101010101" pitchFamily="49" charset="-122"/>
                  <a:ea typeface="幼圆" panose="02010509060101010101" pitchFamily="49" charset="-122"/>
                </a:rPr>
                <a:t> 程序模块</a:t>
              </a:r>
            </a:p>
          </p:txBody>
        </p:sp>
      </p:grpSp>
      <p:grpSp>
        <p:nvGrpSpPr>
          <p:cNvPr id="52" name="Group 1076">
            <a:extLst>
              <a:ext uri="{FF2B5EF4-FFF2-40B4-BE49-F238E27FC236}">
                <a16:creationId xmlns:a16="http://schemas.microsoft.com/office/drawing/2014/main" id="{732CE108-8F90-4F3F-98A1-2EF042888250}"/>
              </a:ext>
            </a:extLst>
          </p:cNvPr>
          <p:cNvGrpSpPr>
            <a:grpSpLocks/>
          </p:cNvGrpSpPr>
          <p:nvPr/>
        </p:nvGrpSpPr>
        <p:grpSpPr bwMode="auto">
          <a:xfrm>
            <a:off x="7239000" y="3505200"/>
            <a:ext cx="914400" cy="685800"/>
            <a:chOff x="4752" y="2400"/>
            <a:chExt cx="576" cy="432"/>
          </a:xfrm>
        </p:grpSpPr>
        <p:sp>
          <p:nvSpPr>
            <p:cNvPr id="53" name="Line 1066">
              <a:extLst>
                <a:ext uri="{FF2B5EF4-FFF2-40B4-BE49-F238E27FC236}">
                  <a16:creationId xmlns:a16="http://schemas.microsoft.com/office/drawing/2014/main" id="{C5E08B7E-83CE-4444-A598-C8A7BF239C92}"/>
                </a:ext>
              </a:extLst>
            </p:cNvPr>
            <p:cNvSpPr>
              <a:spLocks noChangeShapeType="1"/>
            </p:cNvSpPr>
            <p:nvPr/>
          </p:nvSpPr>
          <p:spPr bwMode="auto">
            <a:xfrm>
              <a:off x="4800" y="2832"/>
              <a:ext cx="528" cy="0"/>
            </a:xfrm>
            <a:prstGeom prst="line">
              <a:avLst/>
            </a:prstGeom>
            <a:noFill/>
            <a:ln w="19050">
              <a:solidFill>
                <a:srgbClr val="538E3E"/>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 name="Rectangle 1067">
              <a:extLst>
                <a:ext uri="{FF2B5EF4-FFF2-40B4-BE49-F238E27FC236}">
                  <a16:creationId xmlns:a16="http://schemas.microsoft.com/office/drawing/2014/main" id="{E0DCCF9E-DB2E-481C-A801-A03A5F61AAA8}"/>
                </a:ext>
              </a:extLst>
            </p:cNvPr>
            <p:cNvSpPr>
              <a:spLocks noChangeArrowheads="1"/>
            </p:cNvSpPr>
            <p:nvPr/>
          </p:nvSpPr>
          <p:spPr bwMode="auto">
            <a:xfrm>
              <a:off x="4752" y="2400"/>
              <a:ext cx="576"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400">
                  <a:solidFill>
                    <a:srgbClr val="8736E8"/>
                  </a:solidFill>
                  <a:latin typeface="幼圆" panose="02010509060101010101" pitchFamily="49" charset="-122"/>
                  <a:ea typeface="幼圆" panose="02010509060101010101" pitchFamily="49" charset="-122"/>
                </a:rPr>
                <a:t>集成并确</a:t>
              </a:r>
            </a:p>
            <a:p>
              <a:r>
                <a:rPr lang="zh-CN" altLang="en-US" sz="1400">
                  <a:solidFill>
                    <a:srgbClr val="8736E8"/>
                  </a:solidFill>
                  <a:latin typeface="幼圆" panose="02010509060101010101" pitchFamily="49" charset="-122"/>
                  <a:ea typeface="幼圆" panose="02010509060101010101" pitchFamily="49" charset="-122"/>
                </a:rPr>
                <a:t>认的软件</a:t>
              </a:r>
            </a:p>
          </p:txBody>
        </p:sp>
      </p:grpSp>
    </p:spTree>
    <p:extLst>
      <p:ext uri="{BB962C8B-B14F-4D97-AF65-F5344CB8AC3E}">
        <p14:creationId xmlns:p14="http://schemas.microsoft.com/office/powerpoint/2010/main" val="3827124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blinds(vertical)">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blinds(vertical)">
                                      <p:cBhvr>
                                        <p:cTn id="12" dur="5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5"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blinds(vertical)">
                                      <p:cBhvr>
                                        <p:cTn id="17" dur="5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5" fill="hold" nodeType="click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blinds(vertical)">
                                      <p:cBhvr>
                                        <p:cTn id="22" dur="500"/>
                                        <p:tgtEl>
                                          <p:spTgt spid="32"/>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5" fill="hold" nodeType="clickEffect">
                                  <p:stCondLst>
                                    <p:cond delay="0"/>
                                  </p:stCondLst>
                                  <p:childTnLst>
                                    <p:set>
                                      <p:cBhvr>
                                        <p:cTn id="26" dur="1" fill="hold">
                                          <p:stCondLst>
                                            <p:cond delay="0"/>
                                          </p:stCondLst>
                                        </p:cTn>
                                        <p:tgtEl>
                                          <p:spTgt spid="35"/>
                                        </p:tgtEl>
                                        <p:attrNameLst>
                                          <p:attrName>style.visibility</p:attrName>
                                        </p:attrNameLst>
                                      </p:cBhvr>
                                      <p:to>
                                        <p:strVal val="visible"/>
                                      </p:to>
                                    </p:set>
                                    <p:animEffect transition="in" filter="blinds(vertical)">
                                      <p:cBhvr>
                                        <p:cTn id="27" dur="500"/>
                                        <p:tgtEl>
                                          <p:spTgt spid="35"/>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5" fill="hold" nodeType="clickEffect">
                                  <p:stCondLst>
                                    <p:cond delay="0"/>
                                  </p:stCondLst>
                                  <p:childTnLst>
                                    <p:set>
                                      <p:cBhvr>
                                        <p:cTn id="31" dur="1" fill="hold">
                                          <p:stCondLst>
                                            <p:cond delay="0"/>
                                          </p:stCondLst>
                                        </p:cTn>
                                        <p:tgtEl>
                                          <p:spTgt spid="38"/>
                                        </p:tgtEl>
                                        <p:attrNameLst>
                                          <p:attrName>style.visibility</p:attrName>
                                        </p:attrNameLst>
                                      </p:cBhvr>
                                      <p:to>
                                        <p:strVal val="visible"/>
                                      </p:to>
                                    </p:set>
                                    <p:animEffect transition="in" filter="blinds(vertical)">
                                      <p:cBhvr>
                                        <p:cTn id="32" dur="500"/>
                                        <p:tgtEl>
                                          <p:spTgt spid="38"/>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5" fill="hold" nodeType="clickEffect">
                                  <p:stCondLst>
                                    <p:cond delay="0"/>
                                  </p:stCondLst>
                                  <p:childTnLst>
                                    <p:set>
                                      <p:cBhvr>
                                        <p:cTn id="36" dur="1" fill="hold">
                                          <p:stCondLst>
                                            <p:cond delay="0"/>
                                          </p:stCondLst>
                                        </p:cTn>
                                        <p:tgtEl>
                                          <p:spTgt spid="41"/>
                                        </p:tgtEl>
                                        <p:attrNameLst>
                                          <p:attrName>style.visibility</p:attrName>
                                        </p:attrNameLst>
                                      </p:cBhvr>
                                      <p:to>
                                        <p:strVal val="visible"/>
                                      </p:to>
                                    </p:set>
                                    <p:animEffect transition="in" filter="blinds(vertical)">
                                      <p:cBhvr>
                                        <p:cTn id="37" dur="500"/>
                                        <p:tgtEl>
                                          <p:spTgt spid="41"/>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5" fill="hold" nodeType="clickEffect">
                                  <p:stCondLst>
                                    <p:cond delay="0"/>
                                  </p:stCondLst>
                                  <p:childTnLst>
                                    <p:set>
                                      <p:cBhvr>
                                        <p:cTn id="41" dur="1" fill="hold">
                                          <p:stCondLst>
                                            <p:cond delay="0"/>
                                          </p:stCondLst>
                                        </p:cTn>
                                        <p:tgtEl>
                                          <p:spTgt spid="45"/>
                                        </p:tgtEl>
                                        <p:attrNameLst>
                                          <p:attrName>style.visibility</p:attrName>
                                        </p:attrNameLst>
                                      </p:cBhvr>
                                      <p:to>
                                        <p:strVal val="visible"/>
                                      </p:to>
                                    </p:set>
                                    <p:animEffect transition="in" filter="blinds(vertical)">
                                      <p:cBhvr>
                                        <p:cTn id="42" dur="500"/>
                                        <p:tgtEl>
                                          <p:spTgt spid="45"/>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5" fill="hold" grpId="0" nodeType="click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blinds(vertical)">
                                      <p:cBhvr>
                                        <p:cTn id="47" dur="500"/>
                                        <p:tgtEl>
                                          <p:spTgt spid="23"/>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5" fill="hold" nodeType="clickEffect">
                                  <p:stCondLst>
                                    <p:cond delay="0"/>
                                  </p:stCondLst>
                                  <p:childTnLst>
                                    <p:set>
                                      <p:cBhvr>
                                        <p:cTn id="51" dur="1" fill="hold">
                                          <p:stCondLst>
                                            <p:cond delay="0"/>
                                          </p:stCondLst>
                                        </p:cTn>
                                        <p:tgtEl>
                                          <p:spTgt spid="49"/>
                                        </p:tgtEl>
                                        <p:attrNameLst>
                                          <p:attrName>style.visibility</p:attrName>
                                        </p:attrNameLst>
                                      </p:cBhvr>
                                      <p:to>
                                        <p:strVal val="visible"/>
                                      </p:to>
                                    </p:set>
                                    <p:animEffect transition="in" filter="blinds(vertical)">
                                      <p:cBhvr>
                                        <p:cTn id="52" dur="500"/>
                                        <p:tgtEl>
                                          <p:spTgt spid="49"/>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5" fill="hold" grpId="0" nodeType="clickEffect">
                                  <p:stCondLst>
                                    <p:cond delay="0"/>
                                  </p:stCondLst>
                                  <p:childTnLst>
                                    <p:set>
                                      <p:cBhvr>
                                        <p:cTn id="56" dur="1" fill="hold">
                                          <p:stCondLst>
                                            <p:cond delay="0"/>
                                          </p:stCondLst>
                                        </p:cTn>
                                        <p:tgtEl>
                                          <p:spTgt spid="24"/>
                                        </p:tgtEl>
                                        <p:attrNameLst>
                                          <p:attrName>style.visibility</p:attrName>
                                        </p:attrNameLst>
                                      </p:cBhvr>
                                      <p:to>
                                        <p:strVal val="visible"/>
                                      </p:to>
                                    </p:set>
                                    <p:animEffect transition="in" filter="blinds(vertical)">
                                      <p:cBhvr>
                                        <p:cTn id="57" dur="500"/>
                                        <p:tgtEl>
                                          <p:spTgt spid="24"/>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5" fill="hold" nodeType="clickEffect">
                                  <p:stCondLst>
                                    <p:cond delay="0"/>
                                  </p:stCondLst>
                                  <p:childTnLst>
                                    <p:set>
                                      <p:cBhvr>
                                        <p:cTn id="61" dur="1" fill="hold">
                                          <p:stCondLst>
                                            <p:cond delay="0"/>
                                          </p:stCondLst>
                                        </p:cTn>
                                        <p:tgtEl>
                                          <p:spTgt spid="52"/>
                                        </p:tgtEl>
                                        <p:attrNameLst>
                                          <p:attrName>style.visibility</p:attrName>
                                        </p:attrNameLst>
                                      </p:cBhvr>
                                      <p:to>
                                        <p:strVal val="visible"/>
                                      </p:to>
                                    </p:set>
                                    <p:animEffect transition="in" filter="blinds(vertical)">
                                      <p:cBhvr>
                                        <p:cTn id="62"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autoUpdateAnimBg="0"/>
      <p:bldP spid="24" grpId="0" animBg="1" autoUpdateAnimBg="0"/>
      <p:bldP spid="25" grpId="0" animBg="1"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5">
            <a:extLst>
              <a:ext uri="{FF2B5EF4-FFF2-40B4-BE49-F238E27FC236}">
                <a16:creationId xmlns:a16="http://schemas.microsoft.com/office/drawing/2014/main" id="{507E40BF-9040-45CA-966B-C4CEF3EDA4F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6392913-A17C-4256-9C37-27AC38B3AA0A}" type="slidenum">
              <a:rPr lang="en-US" altLang="en-US"/>
              <a:pPr eaLnBrk="1" hangingPunct="1"/>
              <a:t>10</a:t>
            </a:fld>
            <a:endParaRPr lang="en-US" altLang="en-US"/>
          </a:p>
        </p:txBody>
      </p:sp>
      <p:sp>
        <p:nvSpPr>
          <p:cNvPr id="7171" name="Rectangle 2">
            <a:extLst>
              <a:ext uri="{FF2B5EF4-FFF2-40B4-BE49-F238E27FC236}">
                <a16:creationId xmlns:a16="http://schemas.microsoft.com/office/drawing/2014/main" id="{E19DB2ED-F1B5-4517-B465-1B18A7789458}"/>
              </a:ext>
            </a:extLst>
          </p:cNvPr>
          <p:cNvSpPr>
            <a:spLocks noGrp="1" noChangeArrowheads="1"/>
          </p:cNvSpPr>
          <p:nvPr>
            <p:ph type="title"/>
          </p:nvPr>
        </p:nvSpPr>
        <p:spPr>
          <a:xfrm>
            <a:off x="457200" y="122238"/>
            <a:ext cx="7543800" cy="1020762"/>
          </a:xfrm>
        </p:spPr>
        <p:txBody>
          <a:bodyPr/>
          <a:lstStyle/>
          <a:p>
            <a:pPr eaLnBrk="1" hangingPunct="1"/>
            <a:r>
              <a:rPr lang="zh-CN" altLang="en-US" dirty="0">
                <a:ea typeface="宋体" panose="02010600030101010101" pitchFamily="2" charset="-122"/>
              </a:rPr>
              <a:t>系统设计方法</a:t>
            </a:r>
            <a:endParaRPr lang="en-US" altLang="zh-CN" dirty="0">
              <a:ea typeface="宋体" panose="02010600030101010101" pitchFamily="2" charset="-122"/>
            </a:endParaRPr>
          </a:p>
        </p:txBody>
      </p:sp>
      <p:sp>
        <p:nvSpPr>
          <p:cNvPr id="7173" name="Footer Placeholder 4">
            <a:extLst>
              <a:ext uri="{FF2B5EF4-FFF2-40B4-BE49-F238E27FC236}">
                <a16:creationId xmlns:a16="http://schemas.microsoft.com/office/drawing/2014/main" id="{E22E0CAA-6560-4A06-AC1A-2DECF0BBD24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7174" name="Rectangle 7">
            <a:extLst>
              <a:ext uri="{FF2B5EF4-FFF2-40B4-BE49-F238E27FC236}">
                <a16:creationId xmlns:a16="http://schemas.microsoft.com/office/drawing/2014/main" id="{B82196E8-7A25-400F-B832-DE0EC05E4D21}"/>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55" name="AutoShape 2">
            <a:extLst>
              <a:ext uri="{FF2B5EF4-FFF2-40B4-BE49-F238E27FC236}">
                <a16:creationId xmlns:a16="http://schemas.microsoft.com/office/drawing/2014/main" id="{3C692E2D-3D56-4427-AEC2-D6AD693E074C}"/>
              </a:ext>
            </a:extLst>
          </p:cNvPr>
          <p:cNvSpPr>
            <a:spLocks/>
          </p:cNvSpPr>
          <p:nvPr/>
        </p:nvSpPr>
        <p:spPr bwMode="auto">
          <a:xfrm>
            <a:off x="2406650" y="3198891"/>
            <a:ext cx="1905000" cy="533400"/>
          </a:xfrm>
          <a:prstGeom prst="borderCallout1">
            <a:avLst>
              <a:gd name="adj1" fmla="val 146462"/>
              <a:gd name="adj2" fmla="val 103525"/>
              <a:gd name="adj3" fmla="val -39532"/>
              <a:gd name="adj4" fmla="val 104000"/>
            </a:avLst>
          </a:prstGeom>
          <a:noFill/>
          <a:ln w="9525">
            <a:solidFill>
              <a:srgbClr val="FF7C80"/>
            </a:solidFill>
            <a:miter lim="800000"/>
            <a:headEnd/>
            <a:tailEnd/>
          </a:ln>
          <a:effectLst/>
        </p:spPr>
        <p:txBody>
          <a:bodyPr anchor="ctr"/>
          <a:lstStyle/>
          <a:p>
            <a:pPr>
              <a:defRPr/>
            </a:pPr>
            <a:r>
              <a:rPr lang="zh-CN" altLang="en-US" sz="1800" b="1">
                <a:effectLst>
                  <a:outerShdw blurRad="38100" dist="38100" dir="2700000" algn="tl">
                    <a:srgbClr val="000000"/>
                  </a:outerShdw>
                </a:effectLst>
                <a:latin typeface="幼圆" pitchFamily="49" charset="-122"/>
                <a:ea typeface="幼圆" pitchFamily="49" charset="-122"/>
              </a:rPr>
              <a:t>软件设计方法</a:t>
            </a:r>
          </a:p>
        </p:txBody>
      </p:sp>
      <p:grpSp>
        <p:nvGrpSpPr>
          <p:cNvPr id="56" name="Group 27">
            <a:extLst>
              <a:ext uri="{FF2B5EF4-FFF2-40B4-BE49-F238E27FC236}">
                <a16:creationId xmlns:a16="http://schemas.microsoft.com/office/drawing/2014/main" id="{C1705054-5664-4D5F-890B-1EE828056865}"/>
              </a:ext>
            </a:extLst>
          </p:cNvPr>
          <p:cNvGrpSpPr>
            <a:grpSpLocks/>
          </p:cNvGrpSpPr>
          <p:nvPr/>
        </p:nvGrpSpPr>
        <p:grpSpPr bwMode="auto">
          <a:xfrm>
            <a:off x="4457700" y="2970291"/>
            <a:ext cx="2438400" cy="457200"/>
            <a:chOff x="2976" y="1488"/>
            <a:chExt cx="1536" cy="288"/>
          </a:xfrm>
        </p:grpSpPr>
        <p:sp>
          <p:nvSpPr>
            <p:cNvPr id="57" name="Rectangle 4">
              <a:extLst>
                <a:ext uri="{FF2B5EF4-FFF2-40B4-BE49-F238E27FC236}">
                  <a16:creationId xmlns:a16="http://schemas.microsoft.com/office/drawing/2014/main" id="{93927466-86C9-45A2-8F21-E3A66C736ABF}"/>
                </a:ext>
              </a:extLst>
            </p:cNvPr>
            <p:cNvSpPr>
              <a:spLocks noChangeArrowheads="1"/>
            </p:cNvSpPr>
            <p:nvPr/>
          </p:nvSpPr>
          <p:spPr bwMode="auto">
            <a:xfrm>
              <a:off x="3160" y="1488"/>
              <a:ext cx="1352" cy="288"/>
            </a:xfrm>
            <a:prstGeom prst="rect">
              <a:avLst/>
            </a:prstGeom>
            <a:noFill/>
            <a:ln w="38100" cmpd="dbl">
              <a:solidFill>
                <a:srgbClr val="FF7C80"/>
              </a:solidFill>
              <a:miter lim="800000"/>
              <a:headEnd/>
              <a:tailEnd/>
            </a:ln>
            <a:effectLst/>
          </p:spPr>
          <p:txBody>
            <a:bodyPr wrap="none" anchor="ctr"/>
            <a:lstStyle/>
            <a:p>
              <a:pPr>
                <a:defRPr/>
              </a:pPr>
              <a:r>
                <a:rPr lang="zh-CN" altLang="en-US" sz="1800" b="1">
                  <a:effectLst>
                    <a:outerShdw blurRad="38100" dist="38100" dir="2700000" algn="tl">
                      <a:srgbClr val="000000"/>
                    </a:outerShdw>
                  </a:effectLst>
                  <a:latin typeface="Times New Roman" charset="0"/>
                  <a:ea typeface="幼圆" pitchFamily="49" charset="-122"/>
                </a:rPr>
                <a:t> 结构化设计方法</a:t>
              </a:r>
            </a:p>
          </p:txBody>
        </p:sp>
        <p:sp>
          <p:nvSpPr>
            <p:cNvPr id="58" name="Line 5">
              <a:extLst>
                <a:ext uri="{FF2B5EF4-FFF2-40B4-BE49-F238E27FC236}">
                  <a16:creationId xmlns:a16="http://schemas.microsoft.com/office/drawing/2014/main" id="{572D749D-6217-464F-8579-CAAF8D85BEE0}"/>
                </a:ext>
              </a:extLst>
            </p:cNvPr>
            <p:cNvSpPr>
              <a:spLocks noChangeShapeType="1"/>
            </p:cNvSpPr>
            <p:nvPr/>
          </p:nvSpPr>
          <p:spPr bwMode="auto">
            <a:xfrm>
              <a:off x="2976" y="1632"/>
              <a:ext cx="192" cy="1"/>
            </a:xfrm>
            <a:prstGeom prst="line">
              <a:avLst/>
            </a:prstGeom>
            <a:noFill/>
            <a:ln w="9525">
              <a:solidFill>
                <a:srgbClr val="FF7C8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9" name="Group 30">
            <a:extLst>
              <a:ext uri="{FF2B5EF4-FFF2-40B4-BE49-F238E27FC236}">
                <a16:creationId xmlns:a16="http://schemas.microsoft.com/office/drawing/2014/main" id="{FCFF545C-7CDB-4B80-8349-8A43BCC8A8E1}"/>
              </a:ext>
            </a:extLst>
          </p:cNvPr>
          <p:cNvGrpSpPr>
            <a:grpSpLocks/>
          </p:cNvGrpSpPr>
          <p:nvPr/>
        </p:nvGrpSpPr>
        <p:grpSpPr bwMode="auto">
          <a:xfrm>
            <a:off x="4457700" y="3503691"/>
            <a:ext cx="2578100" cy="457200"/>
            <a:chOff x="2984" y="2496"/>
            <a:chExt cx="1624" cy="288"/>
          </a:xfrm>
        </p:grpSpPr>
        <p:sp>
          <p:nvSpPr>
            <p:cNvPr id="60" name="Rectangle 25">
              <a:extLst>
                <a:ext uri="{FF2B5EF4-FFF2-40B4-BE49-F238E27FC236}">
                  <a16:creationId xmlns:a16="http://schemas.microsoft.com/office/drawing/2014/main" id="{8ACA1F86-CEFC-4EE5-BFD8-ECE632969F42}"/>
                </a:ext>
              </a:extLst>
            </p:cNvPr>
            <p:cNvSpPr>
              <a:spLocks noChangeArrowheads="1"/>
            </p:cNvSpPr>
            <p:nvPr/>
          </p:nvSpPr>
          <p:spPr bwMode="auto">
            <a:xfrm>
              <a:off x="3168" y="2496"/>
              <a:ext cx="1440" cy="288"/>
            </a:xfrm>
            <a:prstGeom prst="rect">
              <a:avLst/>
            </a:prstGeom>
            <a:noFill/>
            <a:ln w="38100" cmpd="dbl">
              <a:solidFill>
                <a:srgbClr val="FF7C80"/>
              </a:solidFill>
              <a:miter lim="800000"/>
              <a:headEnd/>
              <a:tailEnd/>
            </a:ln>
            <a:effectLst/>
          </p:spPr>
          <p:txBody>
            <a:bodyPr wrap="none" anchor="ctr"/>
            <a:lstStyle/>
            <a:p>
              <a:pPr>
                <a:defRPr/>
              </a:pPr>
              <a:r>
                <a:rPr lang="zh-CN" altLang="en-US" sz="1800" b="1">
                  <a:effectLst>
                    <a:outerShdw blurRad="38100" dist="38100" dir="2700000" algn="tl">
                      <a:srgbClr val="000000"/>
                    </a:outerShdw>
                  </a:effectLst>
                  <a:latin typeface="Times New Roman" charset="0"/>
                  <a:ea typeface="幼圆" pitchFamily="49" charset="-122"/>
                </a:rPr>
                <a:t>面向对象的设计方法</a:t>
              </a:r>
            </a:p>
          </p:txBody>
        </p:sp>
        <p:sp>
          <p:nvSpPr>
            <p:cNvPr id="61" name="Line 26">
              <a:extLst>
                <a:ext uri="{FF2B5EF4-FFF2-40B4-BE49-F238E27FC236}">
                  <a16:creationId xmlns:a16="http://schemas.microsoft.com/office/drawing/2014/main" id="{807C27E6-22B3-4F4E-84F4-5BD04EB9162C}"/>
                </a:ext>
              </a:extLst>
            </p:cNvPr>
            <p:cNvSpPr>
              <a:spLocks noChangeShapeType="1"/>
            </p:cNvSpPr>
            <p:nvPr/>
          </p:nvSpPr>
          <p:spPr bwMode="auto">
            <a:xfrm>
              <a:off x="2984" y="2640"/>
              <a:ext cx="192" cy="1"/>
            </a:xfrm>
            <a:prstGeom prst="line">
              <a:avLst/>
            </a:prstGeom>
            <a:noFill/>
            <a:ln w="9525">
              <a:solidFill>
                <a:srgbClr val="FF7C8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Tree>
    <p:extLst>
      <p:ext uri="{BB962C8B-B14F-4D97-AF65-F5344CB8AC3E}">
        <p14:creationId xmlns:p14="http://schemas.microsoft.com/office/powerpoint/2010/main" val="22381099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5">
            <a:extLst>
              <a:ext uri="{FF2B5EF4-FFF2-40B4-BE49-F238E27FC236}">
                <a16:creationId xmlns:a16="http://schemas.microsoft.com/office/drawing/2014/main" id="{BCB1B8A4-02A2-4AAF-9314-3F7AEAF6E6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69799E2-B99C-4EAE-8D85-3CB7B1E6B441}" type="slidenum">
              <a:rPr lang="en-US" altLang="en-US"/>
              <a:pPr eaLnBrk="1" hangingPunct="1"/>
              <a:t>11</a:t>
            </a:fld>
            <a:endParaRPr lang="en-US" altLang="en-US"/>
          </a:p>
        </p:txBody>
      </p:sp>
      <p:sp>
        <p:nvSpPr>
          <p:cNvPr id="9219" name="Rectangle 2">
            <a:extLst>
              <a:ext uri="{FF2B5EF4-FFF2-40B4-BE49-F238E27FC236}">
                <a16:creationId xmlns:a16="http://schemas.microsoft.com/office/drawing/2014/main" id="{2613ED5F-13D3-4D93-BBD3-15C1DAFD0014}"/>
              </a:ext>
            </a:extLst>
          </p:cNvPr>
          <p:cNvSpPr>
            <a:spLocks noGrp="1" noChangeArrowheads="1"/>
          </p:cNvSpPr>
          <p:nvPr>
            <p:ph type="title"/>
          </p:nvPr>
        </p:nvSpPr>
        <p:spPr>
          <a:xfrm>
            <a:off x="457200" y="122238"/>
            <a:ext cx="7543800" cy="1020762"/>
          </a:xfrm>
        </p:spPr>
        <p:txBody>
          <a:bodyPr/>
          <a:lstStyle/>
          <a:p>
            <a:pPr eaLnBrk="1" hangingPunct="1"/>
            <a:r>
              <a:rPr lang="zh-CN" altLang="en-US" sz="3600" dirty="0">
                <a:ea typeface="宋体" panose="02010600030101010101" pitchFamily="2" charset="-122"/>
              </a:rPr>
              <a:t>设计原理</a:t>
            </a:r>
            <a:endParaRPr lang="en-US" altLang="zh-CN" sz="3600" dirty="0">
              <a:ea typeface="宋体" panose="02010600030101010101" pitchFamily="2" charset="-122"/>
            </a:endParaRPr>
          </a:p>
        </p:txBody>
      </p:sp>
      <p:sp>
        <p:nvSpPr>
          <p:cNvPr id="9220" name="Rectangle 3">
            <a:extLst>
              <a:ext uri="{FF2B5EF4-FFF2-40B4-BE49-F238E27FC236}">
                <a16:creationId xmlns:a16="http://schemas.microsoft.com/office/drawing/2014/main" id="{F432533E-F133-439A-AB27-1EF55B029342}"/>
              </a:ext>
            </a:extLst>
          </p:cNvPr>
          <p:cNvSpPr>
            <a:spLocks noGrp="1" noChangeArrowheads="1"/>
          </p:cNvSpPr>
          <p:nvPr>
            <p:ph type="body" idx="1"/>
          </p:nvPr>
        </p:nvSpPr>
        <p:spPr>
          <a:xfrm>
            <a:off x="304800" y="1371600"/>
            <a:ext cx="8229600" cy="4419600"/>
          </a:xfrm>
        </p:spPr>
        <p:txBody>
          <a:bodyPr/>
          <a:lstStyle/>
          <a:p>
            <a:pPr eaLnBrk="1" hangingPunct="1"/>
            <a:r>
              <a:rPr lang="zh-CN" altLang="en-US" sz="2800" b="1" dirty="0">
                <a:ea typeface="宋体" panose="02010600030101010101" pitchFamily="2" charset="-122"/>
              </a:rPr>
              <a:t>模块化</a:t>
            </a:r>
            <a:endParaRPr lang="en-US" altLang="zh-CN" sz="2800" b="1" dirty="0">
              <a:ea typeface="宋体" panose="02010600030101010101" pitchFamily="2" charset="-122"/>
            </a:endParaRPr>
          </a:p>
          <a:p>
            <a:pPr lvl="1" eaLnBrk="1" hangingPunct="1"/>
            <a:r>
              <a:rPr lang="zh-CN" altLang="en-US" sz="2400" dirty="0">
                <a:ea typeface="宋体" panose="02010600030101010101" pitchFamily="2" charset="-122"/>
              </a:rPr>
              <a:t>模块是构成程序的基本构件。</a:t>
            </a:r>
          </a:p>
          <a:p>
            <a:pPr lvl="1" eaLnBrk="1" hangingPunct="1"/>
            <a:r>
              <a:rPr lang="zh-CN" altLang="en-US" sz="2400" dirty="0">
                <a:ea typeface="宋体" panose="02010600030101010101" pitchFamily="2" charset="-122"/>
              </a:rPr>
              <a:t>模块化就是把程序划分成独立命名且可独立访问的模块，每个模块完成一个子功能，把这些模块集成起来构成一个整体，可以完成指定的功能满足用户的需求。</a:t>
            </a:r>
          </a:p>
          <a:p>
            <a:pPr eaLnBrk="1" hangingPunct="1"/>
            <a:endParaRPr lang="en-US" altLang="zh-CN" sz="2800" dirty="0">
              <a:ea typeface="宋体" panose="02010600030101010101" pitchFamily="2" charset="-122"/>
            </a:endParaRPr>
          </a:p>
        </p:txBody>
      </p:sp>
      <p:sp>
        <p:nvSpPr>
          <p:cNvPr id="9221" name="Footer Placeholder 4">
            <a:extLst>
              <a:ext uri="{FF2B5EF4-FFF2-40B4-BE49-F238E27FC236}">
                <a16:creationId xmlns:a16="http://schemas.microsoft.com/office/drawing/2014/main" id="{0B6C4D25-AB6A-421B-BD55-99DE8ADA9AA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9222" name="Rectangle 6">
            <a:extLst>
              <a:ext uri="{FF2B5EF4-FFF2-40B4-BE49-F238E27FC236}">
                <a16:creationId xmlns:a16="http://schemas.microsoft.com/office/drawing/2014/main" id="{B46003C0-7BBF-45F9-B3F0-FBE10EA37144}"/>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extLst>
      <p:ext uri="{BB962C8B-B14F-4D97-AF65-F5344CB8AC3E}">
        <p14:creationId xmlns:p14="http://schemas.microsoft.com/office/powerpoint/2010/main" val="12023323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5">
            <a:extLst>
              <a:ext uri="{FF2B5EF4-FFF2-40B4-BE49-F238E27FC236}">
                <a16:creationId xmlns:a16="http://schemas.microsoft.com/office/drawing/2014/main" id="{BCB1B8A4-02A2-4AAF-9314-3F7AEAF6E6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69799E2-B99C-4EAE-8D85-3CB7B1E6B441}" type="slidenum">
              <a:rPr lang="en-US" altLang="en-US"/>
              <a:pPr eaLnBrk="1" hangingPunct="1"/>
              <a:t>12</a:t>
            </a:fld>
            <a:endParaRPr lang="en-US" altLang="en-US"/>
          </a:p>
        </p:txBody>
      </p:sp>
      <p:sp>
        <p:nvSpPr>
          <p:cNvPr id="9219" name="Rectangle 2">
            <a:extLst>
              <a:ext uri="{FF2B5EF4-FFF2-40B4-BE49-F238E27FC236}">
                <a16:creationId xmlns:a16="http://schemas.microsoft.com/office/drawing/2014/main" id="{2613ED5F-13D3-4D93-BBD3-15C1DAFD0014}"/>
              </a:ext>
            </a:extLst>
          </p:cNvPr>
          <p:cNvSpPr>
            <a:spLocks noGrp="1" noChangeArrowheads="1"/>
          </p:cNvSpPr>
          <p:nvPr>
            <p:ph type="title"/>
          </p:nvPr>
        </p:nvSpPr>
        <p:spPr>
          <a:xfrm>
            <a:off x="457200" y="122238"/>
            <a:ext cx="7543800" cy="1020762"/>
          </a:xfrm>
        </p:spPr>
        <p:txBody>
          <a:bodyPr/>
          <a:lstStyle/>
          <a:p>
            <a:pPr eaLnBrk="1" hangingPunct="1"/>
            <a:r>
              <a:rPr lang="zh-CN" altLang="en-US" sz="3600" dirty="0">
                <a:ea typeface="宋体" panose="02010600030101010101" pitchFamily="2" charset="-122"/>
              </a:rPr>
              <a:t>设计原理</a:t>
            </a:r>
            <a:endParaRPr lang="en-US" altLang="zh-CN" sz="3600" dirty="0">
              <a:ea typeface="宋体" panose="02010600030101010101" pitchFamily="2" charset="-122"/>
            </a:endParaRPr>
          </a:p>
        </p:txBody>
      </p:sp>
      <p:sp>
        <p:nvSpPr>
          <p:cNvPr id="12" name="文本框 11">
            <a:extLst>
              <a:ext uri="{FF2B5EF4-FFF2-40B4-BE49-F238E27FC236}">
                <a16:creationId xmlns:a16="http://schemas.microsoft.com/office/drawing/2014/main" id="{4725BF32-F822-42F0-A741-73A7DD3DE9B1}"/>
              </a:ext>
            </a:extLst>
          </p:cNvPr>
          <p:cNvSpPr txBox="1"/>
          <p:nvPr/>
        </p:nvSpPr>
        <p:spPr>
          <a:xfrm>
            <a:off x="685800" y="1257559"/>
            <a:ext cx="7620000" cy="5028941"/>
          </a:xfrm>
          <a:prstGeom prst="rect">
            <a:avLst/>
          </a:prstGeom>
          <a:noFill/>
        </p:spPr>
        <p:txBody>
          <a:bodyPr wrap="square">
            <a:spAutoFit/>
          </a:bodyPr>
          <a:lstStyle/>
          <a:p>
            <a:pPr eaLnBrk="1" hangingPunct="1">
              <a:lnSpc>
                <a:spcPct val="150000"/>
              </a:lnSpc>
              <a:spcBef>
                <a:spcPct val="0"/>
              </a:spcBef>
              <a:buFontTx/>
              <a:buNone/>
            </a:pPr>
            <a:r>
              <a:rPr lang="zh-CN" altLang="en-US" sz="1800" dirty="0">
                <a:latin typeface="Arial" panose="020B0604020202020204" pitchFamily="34" charset="0"/>
                <a:ea typeface="经典宋体简" charset="-122"/>
              </a:rPr>
              <a:t>设函数</a:t>
            </a:r>
            <a:r>
              <a:rPr lang="en-US" altLang="zh-CN" sz="1800" dirty="0">
                <a:latin typeface="Arial" panose="020B0604020202020204" pitchFamily="34" charset="0"/>
                <a:ea typeface="经典宋体简" charset="-122"/>
              </a:rPr>
              <a:t>C(x)</a:t>
            </a:r>
            <a:r>
              <a:rPr lang="zh-CN" altLang="en-US" sz="1800" dirty="0">
                <a:latin typeface="Arial" panose="020B0604020202020204" pitchFamily="34" charset="0"/>
                <a:ea typeface="经典宋体简" charset="-122"/>
              </a:rPr>
              <a:t>定义问题</a:t>
            </a:r>
            <a:r>
              <a:rPr lang="en-US" altLang="zh-CN" sz="1800" dirty="0">
                <a:latin typeface="Arial" panose="020B0604020202020204" pitchFamily="34" charset="0"/>
                <a:ea typeface="经典宋体简" charset="-122"/>
              </a:rPr>
              <a:t>x</a:t>
            </a:r>
            <a:r>
              <a:rPr lang="zh-CN" altLang="en-US" sz="1800" dirty="0">
                <a:latin typeface="Arial" panose="020B0604020202020204" pitchFamily="34" charset="0"/>
                <a:ea typeface="经典宋体简" charset="-122"/>
              </a:rPr>
              <a:t>的复杂程度，函数</a:t>
            </a:r>
            <a:r>
              <a:rPr lang="en-US" altLang="zh-CN" sz="1800" dirty="0">
                <a:latin typeface="Arial" panose="020B0604020202020204" pitchFamily="34" charset="0"/>
                <a:ea typeface="经典宋体简" charset="-122"/>
              </a:rPr>
              <a:t>E(x)</a:t>
            </a:r>
            <a:r>
              <a:rPr lang="zh-CN" altLang="en-US" sz="1800" dirty="0">
                <a:latin typeface="Arial" panose="020B0604020202020204" pitchFamily="34" charset="0"/>
                <a:ea typeface="经典宋体简" charset="-122"/>
              </a:rPr>
              <a:t>确定解决问题</a:t>
            </a:r>
            <a:r>
              <a:rPr lang="en-US" altLang="zh-CN" sz="1800" dirty="0">
                <a:latin typeface="Arial" panose="020B0604020202020204" pitchFamily="34" charset="0"/>
                <a:ea typeface="经典宋体简" charset="-122"/>
              </a:rPr>
              <a:t>x</a:t>
            </a:r>
            <a:r>
              <a:rPr lang="zh-CN" altLang="en-US" sz="1800" dirty="0">
                <a:latin typeface="Arial" panose="020B0604020202020204" pitchFamily="34" charset="0"/>
                <a:ea typeface="经典宋体简" charset="-122"/>
              </a:rPr>
              <a:t>需要的工作量</a:t>
            </a:r>
            <a:r>
              <a:rPr lang="en-US" altLang="zh-CN" sz="1800" dirty="0">
                <a:latin typeface="Arial" panose="020B0604020202020204" pitchFamily="34" charset="0"/>
                <a:ea typeface="经典宋体简" charset="-122"/>
              </a:rPr>
              <a:t>(</a:t>
            </a:r>
            <a:r>
              <a:rPr lang="zh-CN" altLang="en-US" sz="1800" dirty="0">
                <a:latin typeface="Arial" panose="020B0604020202020204" pitchFamily="34" charset="0"/>
                <a:ea typeface="经典宋体简" charset="-122"/>
              </a:rPr>
              <a:t>时间</a:t>
            </a:r>
            <a:r>
              <a:rPr lang="en-US" altLang="zh-CN" sz="1800" dirty="0">
                <a:latin typeface="Arial" panose="020B0604020202020204" pitchFamily="34" charset="0"/>
                <a:ea typeface="经典宋体简" charset="-122"/>
              </a:rPr>
              <a:t>)</a:t>
            </a:r>
            <a:r>
              <a:rPr lang="zh-CN" altLang="en-US" sz="1800" dirty="0">
                <a:latin typeface="Arial" panose="020B0604020202020204" pitchFamily="34" charset="0"/>
                <a:ea typeface="经典宋体简" charset="-122"/>
              </a:rPr>
              <a:t>。对于两个问题</a:t>
            </a:r>
            <a:r>
              <a:rPr lang="en-US" altLang="zh-CN" sz="1800" dirty="0">
                <a:latin typeface="Arial" panose="020B0604020202020204" pitchFamily="34" charset="0"/>
                <a:ea typeface="经典宋体简" charset="-122"/>
              </a:rPr>
              <a:t>P1</a:t>
            </a:r>
            <a:r>
              <a:rPr lang="zh-CN" altLang="en-US" sz="1800" dirty="0">
                <a:latin typeface="Arial" panose="020B0604020202020204" pitchFamily="34" charset="0"/>
                <a:ea typeface="经典宋体简" charset="-122"/>
              </a:rPr>
              <a:t>和</a:t>
            </a:r>
            <a:r>
              <a:rPr lang="en-US" altLang="zh-CN" sz="1800" dirty="0">
                <a:latin typeface="Arial" panose="020B0604020202020204" pitchFamily="34" charset="0"/>
                <a:ea typeface="经典宋体简" charset="-122"/>
              </a:rPr>
              <a:t>P2</a:t>
            </a:r>
            <a:r>
              <a:rPr lang="zh-CN" altLang="en-US" sz="1800" dirty="0">
                <a:latin typeface="Arial" panose="020B0604020202020204" pitchFamily="34" charset="0"/>
                <a:ea typeface="经典宋体简" charset="-122"/>
              </a:rPr>
              <a:t>，如果</a:t>
            </a:r>
          </a:p>
          <a:p>
            <a:pPr algn="ctr" eaLnBrk="1" hangingPunct="1">
              <a:lnSpc>
                <a:spcPct val="150000"/>
              </a:lnSpc>
              <a:spcBef>
                <a:spcPct val="0"/>
              </a:spcBef>
              <a:buFontTx/>
              <a:buNone/>
            </a:pPr>
            <a:r>
              <a:rPr lang="en-US" altLang="zh-CN" sz="1800" dirty="0">
                <a:latin typeface="Arial" panose="020B0604020202020204" pitchFamily="34" charset="0"/>
                <a:ea typeface="经典宋体简" charset="-122"/>
              </a:rPr>
              <a:t>C(P1)&gt;C(P2)</a:t>
            </a:r>
          </a:p>
          <a:p>
            <a:pPr eaLnBrk="1" hangingPunct="1">
              <a:lnSpc>
                <a:spcPct val="150000"/>
              </a:lnSpc>
              <a:spcBef>
                <a:spcPct val="0"/>
              </a:spcBef>
              <a:buFontTx/>
              <a:buNone/>
            </a:pPr>
            <a:r>
              <a:rPr lang="zh-CN" altLang="en-US" sz="1800" dirty="0">
                <a:latin typeface="Arial" panose="020B0604020202020204" pitchFamily="34" charset="0"/>
                <a:ea typeface="经典宋体简" charset="-122"/>
              </a:rPr>
              <a:t>显然                                         </a:t>
            </a:r>
            <a:r>
              <a:rPr lang="en-US" altLang="zh-CN" sz="1800" dirty="0">
                <a:latin typeface="Arial" panose="020B0604020202020204" pitchFamily="34" charset="0"/>
                <a:ea typeface="经典宋体简" charset="-122"/>
              </a:rPr>
              <a:t>E(P1)&gt;E(P2)</a:t>
            </a:r>
          </a:p>
          <a:p>
            <a:pPr eaLnBrk="1" hangingPunct="1">
              <a:lnSpc>
                <a:spcPct val="150000"/>
              </a:lnSpc>
              <a:spcBef>
                <a:spcPct val="0"/>
              </a:spcBef>
              <a:buFontTx/>
              <a:buNone/>
            </a:pPr>
            <a:r>
              <a:rPr lang="zh-CN" altLang="en-US" sz="1800" dirty="0">
                <a:latin typeface="Arial" panose="020B0604020202020204" pitchFamily="34" charset="0"/>
                <a:ea typeface="经典宋体简" charset="-122"/>
              </a:rPr>
              <a:t>根据人类解决一般问题的经验，另一个有趣的规律是</a:t>
            </a:r>
          </a:p>
          <a:p>
            <a:pPr algn="ctr" eaLnBrk="1" hangingPunct="1">
              <a:lnSpc>
                <a:spcPct val="150000"/>
              </a:lnSpc>
              <a:spcBef>
                <a:spcPct val="0"/>
              </a:spcBef>
              <a:buFontTx/>
              <a:buNone/>
            </a:pPr>
            <a:r>
              <a:rPr lang="en-US" altLang="zh-CN" sz="1800" dirty="0">
                <a:latin typeface="Arial" panose="020B0604020202020204" pitchFamily="34" charset="0"/>
                <a:ea typeface="经典宋体简" charset="-122"/>
              </a:rPr>
              <a:t>C(P1+P2)&gt;C(P1)+C(P2)</a:t>
            </a:r>
          </a:p>
          <a:p>
            <a:pPr eaLnBrk="1" hangingPunct="1">
              <a:lnSpc>
                <a:spcPct val="150000"/>
              </a:lnSpc>
              <a:spcBef>
                <a:spcPct val="0"/>
              </a:spcBef>
              <a:buFontTx/>
              <a:buNone/>
            </a:pPr>
            <a:r>
              <a:rPr lang="zh-CN" altLang="en-US" sz="1800" dirty="0">
                <a:latin typeface="Arial" panose="020B0604020202020204" pitchFamily="34" charset="0"/>
                <a:ea typeface="经典宋体简" charset="-122"/>
              </a:rPr>
              <a:t>也就是说，如果一个问题由</a:t>
            </a:r>
            <a:r>
              <a:rPr lang="en-US" altLang="zh-CN" sz="1800" dirty="0">
                <a:latin typeface="Arial" panose="020B0604020202020204" pitchFamily="34" charset="0"/>
                <a:ea typeface="经典宋体简" charset="-122"/>
              </a:rPr>
              <a:t>P1</a:t>
            </a:r>
            <a:r>
              <a:rPr lang="zh-CN" altLang="en-US" sz="1800" dirty="0">
                <a:latin typeface="Arial" panose="020B0604020202020204" pitchFamily="34" charset="0"/>
                <a:ea typeface="经典宋体简" charset="-122"/>
              </a:rPr>
              <a:t>和</a:t>
            </a:r>
            <a:r>
              <a:rPr lang="en-US" altLang="zh-CN" sz="1800" dirty="0">
                <a:latin typeface="Arial" panose="020B0604020202020204" pitchFamily="34" charset="0"/>
                <a:ea typeface="经典宋体简" charset="-122"/>
              </a:rPr>
              <a:t>P2</a:t>
            </a:r>
            <a:r>
              <a:rPr lang="zh-CN" altLang="en-US" sz="1800" dirty="0">
                <a:latin typeface="Arial" panose="020B0604020202020204" pitchFamily="34" charset="0"/>
                <a:ea typeface="经典宋体简" charset="-122"/>
              </a:rPr>
              <a:t>两个问题组合而成，那么它的复杂程度大于分别考虑每个问题时的复杂程度之和。</a:t>
            </a:r>
          </a:p>
          <a:p>
            <a:pPr eaLnBrk="1" hangingPunct="1">
              <a:lnSpc>
                <a:spcPct val="150000"/>
              </a:lnSpc>
              <a:spcBef>
                <a:spcPct val="0"/>
              </a:spcBef>
              <a:buFontTx/>
              <a:buNone/>
            </a:pPr>
            <a:r>
              <a:rPr lang="zh-CN" altLang="en-US" sz="1800" dirty="0">
                <a:latin typeface="Arial" panose="020B0604020202020204" pitchFamily="34" charset="0"/>
                <a:ea typeface="经典宋体简" charset="-122"/>
              </a:rPr>
              <a:t>综上所述，得到下面的不等式</a:t>
            </a:r>
          </a:p>
          <a:p>
            <a:pPr algn="ctr" eaLnBrk="1" hangingPunct="1">
              <a:lnSpc>
                <a:spcPct val="150000"/>
              </a:lnSpc>
              <a:spcBef>
                <a:spcPct val="0"/>
              </a:spcBef>
              <a:buFontTx/>
              <a:buNone/>
            </a:pPr>
            <a:r>
              <a:rPr lang="en-US" altLang="zh-CN" sz="1800" dirty="0">
                <a:latin typeface="Arial" panose="020B0604020202020204" pitchFamily="34" charset="0"/>
                <a:ea typeface="经典宋体简" charset="-122"/>
              </a:rPr>
              <a:t>E(P1+P2)&gt;E(P1)+E(P2)</a:t>
            </a:r>
          </a:p>
          <a:p>
            <a:pPr eaLnBrk="1" hangingPunct="1">
              <a:lnSpc>
                <a:spcPct val="150000"/>
              </a:lnSpc>
              <a:spcBef>
                <a:spcPct val="0"/>
              </a:spcBef>
              <a:buFontTx/>
              <a:buNone/>
            </a:pPr>
            <a:r>
              <a:rPr lang="zh-CN" altLang="en-US" sz="1800" dirty="0">
                <a:latin typeface="Arial" panose="020B0604020202020204" pitchFamily="34" charset="0"/>
                <a:ea typeface="经典宋体简" charset="-122"/>
              </a:rPr>
              <a:t>这个不等式导致“各个击破”的结论</a:t>
            </a:r>
            <a:r>
              <a:rPr lang="en-US" altLang="zh-CN" sz="1800" dirty="0">
                <a:latin typeface="Arial" panose="020B0604020202020204" pitchFamily="34" charset="0"/>
                <a:ea typeface="经典宋体简" charset="-122"/>
              </a:rPr>
              <a:t>——</a:t>
            </a:r>
            <a:r>
              <a:rPr lang="zh-CN" altLang="en-US" sz="1800" dirty="0">
                <a:latin typeface="Arial" panose="020B0604020202020204" pitchFamily="34" charset="0"/>
                <a:ea typeface="经典宋体简" charset="-122"/>
              </a:rPr>
              <a:t>把复杂的问题分解成许多容易解决的小问题，原来的问题也就容易解决了。这就是模块化的根据。</a:t>
            </a:r>
          </a:p>
        </p:txBody>
      </p:sp>
    </p:spTree>
    <p:extLst>
      <p:ext uri="{BB962C8B-B14F-4D97-AF65-F5344CB8AC3E}">
        <p14:creationId xmlns:p14="http://schemas.microsoft.com/office/powerpoint/2010/main" val="1807302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5">
            <a:extLst>
              <a:ext uri="{FF2B5EF4-FFF2-40B4-BE49-F238E27FC236}">
                <a16:creationId xmlns:a16="http://schemas.microsoft.com/office/drawing/2014/main" id="{BCB1B8A4-02A2-4AAF-9314-3F7AEAF6E6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69799E2-B99C-4EAE-8D85-3CB7B1E6B441}" type="slidenum">
              <a:rPr lang="en-US" altLang="en-US"/>
              <a:pPr eaLnBrk="1" hangingPunct="1"/>
              <a:t>13</a:t>
            </a:fld>
            <a:endParaRPr lang="en-US" altLang="en-US"/>
          </a:p>
        </p:txBody>
      </p:sp>
      <p:sp>
        <p:nvSpPr>
          <p:cNvPr id="9219" name="Rectangle 2">
            <a:extLst>
              <a:ext uri="{FF2B5EF4-FFF2-40B4-BE49-F238E27FC236}">
                <a16:creationId xmlns:a16="http://schemas.microsoft.com/office/drawing/2014/main" id="{2613ED5F-13D3-4D93-BBD3-15C1DAFD0014}"/>
              </a:ext>
            </a:extLst>
          </p:cNvPr>
          <p:cNvSpPr>
            <a:spLocks noGrp="1" noChangeArrowheads="1"/>
          </p:cNvSpPr>
          <p:nvPr>
            <p:ph type="title"/>
          </p:nvPr>
        </p:nvSpPr>
        <p:spPr>
          <a:xfrm>
            <a:off x="457200" y="122238"/>
            <a:ext cx="7543800" cy="1020762"/>
          </a:xfrm>
        </p:spPr>
        <p:txBody>
          <a:bodyPr/>
          <a:lstStyle/>
          <a:p>
            <a:pPr eaLnBrk="1" hangingPunct="1"/>
            <a:r>
              <a:rPr lang="zh-CN" altLang="en-US" sz="3600" dirty="0">
                <a:ea typeface="宋体" panose="02010600030101010101" pitchFamily="2" charset="-122"/>
              </a:rPr>
              <a:t>设计原理</a:t>
            </a:r>
            <a:endParaRPr lang="en-US" altLang="zh-CN" sz="3600" dirty="0">
              <a:ea typeface="宋体" panose="02010600030101010101" pitchFamily="2" charset="-122"/>
            </a:endParaRPr>
          </a:p>
        </p:txBody>
      </p:sp>
      <p:sp>
        <p:nvSpPr>
          <p:cNvPr id="9221" name="Footer Placeholder 4">
            <a:extLst>
              <a:ext uri="{FF2B5EF4-FFF2-40B4-BE49-F238E27FC236}">
                <a16:creationId xmlns:a16="http://schemas.microsoft.com/office/drawing/2014/main" id="{0B6C4D25-AB6A-421B-BD55-99DE8ADA9AA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9222" name="Rectangle 6">
            <a:extLst>
              <a:ext uri="{FF2B5EF4-FFF2-40B4-BE49-F238E27FC236}">
                <a16:creationId xmlns:a16="http://schemas.microsoft.com/office/drawing/2014/main" id="{B46003C0-7BBF-45F9-B3F0-FBE10EA37144}"/>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grpSp>
        <p:nvGrpSpPr>
          <p:cNvPr id="8" name="Group 24">
            <a:extLst>
              <a:ext uri="{FF2B5EF4-FFF2-40B4-BE49-F238E27FC236}">
                <a16:creationId xmlns:a16="http://schemas.microsoft.com/office/drawing/2014/main" id="{D44DDCAC-4455-4647-8B52-FB485E0E49FE}"/>
              </a:ext>
            </a:extLst>
          </p:cNvPr>
          <p:cNvGrpSpPr>
            <a:grpSpLocks/>
          </p:cNvGrpSpPr>
          <p:nvPr/>
        </p:nvGrpSpPr>
        <p:grpSpPr bwMode="auto">
          <a:xfrm>
            <a:off x="4222750" y="3280362"/>
            <a:ext cx="1752600" cy="727075"/>
            <a:chOff x="2256" y="2326"/>
            <a:chExt cx="1104" cy="458"/>
          </a:xfrm>
        </p:grpSpPr>
        <p:sp>
          <p:nvSpPr>
            <p:cNvPr id="9" name="Text Box 15">
              <a:extLst>
                <a:ext uri="{FF2B5EF4-FFF2-40B4-BE49-F238E27FC236}">
                  <a16:creationId xmlns:a16="http://schemas.microsoft.com/office/drawing/2014/main" id="{40AB8D4A-C9F6-4EBB-857D-C4E6DEF67E5B}"/>
                </a:ext>
              </a:extLst>
            </p:cNvPr>
            <p:cNvSpPr txBox="1">
              <a:spLocks noChangeArrowheads="1"/>
            </p:cNvSpPr>
            <p:nvPr/>
          </p:nvSpPr>
          <p:spPr bwMode="auto">
            <a:xfrm>
              <a:off x="2256" y="2326"/>
              <a:ext cx="1104" cy="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600" dirty="0">
                  <a:solidFill>
                    <a:srgbClr val="8736E8"/>
                  </a:solidFill>
                  <a:latin typeface="幼圆" panose="02010509060101010101" pitchFamily="49" charset="-122"/>
                  <a:ea typeface="幼圆" panose="02010509060101010101" pitchFamily="49" charset="-122"/>
                </a:rPr>
                <a:t>最小成本区</a:t>
              </a:r>
            </a:p>
            <a:p>
              <a:r>
                <a:rPr lang="en-US" altLang="zh-CN" sz="1800" b="1" dirty="0">
                  <a:solidFill>
                    <a:srgbClr val="FF3399"/>
                  </a:solidFill>
                  <a:ea typeface="幼圆" panose="02010509060101010101" pitchFamily="49" charset="-122"/>
                </a:rPr>
                <a:t>      M</a:t>
              </a:r>
            </a:p>
          </p:txBody>
        </p:sp>
        <p:sp>
          <p:nvSpPr>
            <p:cNvPr id="10" name="AutoShape 23">
              <a:extLst>
                <a:ext uri="{FF2B5EF4-FFF2-40B4-BE49-F238E27FC236}">
                  <a16:creationId xmlns:a16="http://schemas.microsoft.com/office/drawing/2014/main" id="{1DF3DC72-925C-4294-A5C9-1DFB8CBAA470}"/>
                </a:ext>
              </a:extLst>
            </p:cNvPr>
            <p:cNvSpPr>
              <a:spLocks/>
            </p:cNvSpPr>
            <p:nvPr/>
          </p:nvSpPr>
          <p:spPr bwMode="auto">
            <a:xfrm rot="5377465">
              <a:off x="2544" y="2592"/>
              <a:ext cx="96" cy="288"/>
            </a:xfrm>
            <a:prstGeom prst="leftBrace">
              <a:avLst>
                <a:gd name="adj1" fmla="val 29167"/>
                <a:gd name="adj2" fmla="val 50000"/>
              </a:avLst>
            </a:prstGeom>
            <a:noFill/>
            <a:ln w="9525">
              <a:solidFill>
                <a:srgbClr val="006699"/>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endParaRPr lang="zh-CN" altLang="en-US"/>
            </a:p>
          </p:txBody>
        </p:sp>
      </p:grpSp>
      <p:grpSp>
        <p:nvGrpSpPr>
          <p:cNvPr id="11" name="Group 26">
            <a:extLst>
              <a:ext uri="{FF2B5EF4-FFF2-40B4-BE49-F238E27FC236}">
                <a16:creationId xmlns:a16="http://schemas.microsoft.com/office/drawing/2014/main" id="{7BFBDF16-50B5-403E-93C1-EFC920541CB3}"/>
              </a:ext>
            </a:extLst>
          </p:cNvPr>
          <p:cNvGrpSpPr>
            <a:grpSpLocks/>
          </p:cNvGrpSpPr>
          <p:nvPr/>
        </p:nvGrpSpPr>
        <p:grpSpPr bwMode="auto">
          <a:xfrm>
            <a:off x="1600200" y="3016837"/>
            <a:ext cx="5410200" cy="3155950"/>
            <a:chOff x="556" y="2160"/>
            <a:chExt cx="3408" cy="1988"/>
          </a:xfrm>
        </p:grpSpPr>
        <p:sp>
          <p:nvSpPr>
            <p:cNvPr id="13" name="Line 6">
              <a:extLst>
                <a:ext uri="{FF2B5EF4-FFF2-40B4-BE49-F238E27FC236}">
                  <a16:creationId xmlns:a16="http://schemas.microsoft.com/office/drawing/2014/main" id="{158E59D9-9A1B-4236-80E9-BD09173535AB}"/>
                </a:ext>
              </a:extLst>
            </p:cNvPr>
            <p:cNvSpPr>
              <a:spLocks noChangeShapeType="1"/>
            </p:cNvSpPr>
            <p:nvPr/>
          </p:nvSpPr>
          <p:spPr bwMode="auto">
            <a:xfrm>
              <a:off x="1564" y="2160"/>
              <a:ext cx="0" cy="1728"/>
            </a:xfrm>
            <a:prstGeom prst="line">
              <a:avLst/>
            </a:prstGeom>
            <a:noFill/>
            <a:ln w="9525">
              <a:solidFill>
                <a:srgbClr val="8736E8"/>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4" name="Line 7">
              <a:extLst>
                <a:ext uri="{FF2B5EF4-FFF2-40B4-BE49-F238E27FC236}">
                  <a16:creationId xmlns:a16="http://schemas.microsoft.com/office/drawing/2014/main" id="{8359CA5F-AE29-46B4-A193-10227E76ED5C}"/>
                </a:ext>
              </a:extLst>
            </p:cNvPr>
            <p:cNvSpPr>
              <a:spLocks noChangeShapeType="1"/>
            </p:cNvSpPr>
            <p:nvPr/>
          </p:nvSpPr>
          <p:spPr bwMode="auto">
            <a:xfrm>
              <a:off x="1564" y="3888"/>
              <a:ext cx="2112" cy="0"/>
            </a:xfrm>
            <a:prstGeom prst="line">
              <a:avLst/>
            </a:prstGeom>
            <a:noFill/>
            <a:ln w="9525">
              <a:solidFill>
                <a:srgbClr val="8736E8"/>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 name="Arc 8">
              <a:extLst>
                <a:ext uri="{FF2B5EF4-FFF2-40B4-BE49-F238E27FC236}">
                  <a16:creationId xmlns:a16="http://schemas.microsoft.com/office/drawing/2014/main" id="{8DC0D5ED-EA9F-4997-AA8A-6053A1427F12}"/>
                </a:ext>
              </a:extLst>
            </p:cNvPr>
            <p:cNvSpPr>
              <a:spLocks/>
            </p:cNvSpPr>
            <p:nvPr/>
          </p:nvSpPr>
          <p:spPr bwMode="auto">
            <a:xfrm flipH="1" flipV="1">
              <a:off x="1776" y="2496"/>
              <a:ext cx="1755" cy="1200"/>
            </a:xfrm>
            <a:custGeom>
              <a:avLst/>
              <a:gdLst>
                <a:gd name="T0" fmla="*/ 0 w 21348"/>
                <a:gd name="T1" fmla="*/ 0 h 21600"/>
                <a:gd name="T2" fmla="*/ 144 w 21348"/>
                <a:gd name="T3" fmla="*/ 57 h 21600"/>
                <a:gd name="T4" fmla="*/ 0 w 21348"/>
                <a:gd name="T5" fmla="*/ 67 h 21600"/>
                <a:gd name="T6" fmla="*/ 0 60000 65536"/>
                <a:gd name="T7" fmla="*/ 0 60000 65536"/>
                <a:gd name="T8" fmla="*/ 0 60000 65536"/>
                <a:gd name="T9" fmla="*/ 0 w 21348"/>
                <a:gd name="T10" fmla="*/ 0 h 21600"/>
                <a:gd name="T11" fmla="*/ 21348 w 21348"/>
                <a:gd name="T12" fmla="*/ 21600 h 21600"/>
              </a:gdLst>
              <a:ahLst/>
              <a:cxnLst>
                <a:cxn ang="T6">
                  <a:pos x="T0" y="T1"/>
                </a:cxn>
                <a:cxn ang="T7">
                  <a:pos x="T2" y="T3"/>
                </a:cxn>
                <a:cxn ang="T8">
                  <a:pos x="T4" y="T5"/>
                </a:cxn>
              </a:cxnLst>
              <a:rect l="T9" t="T10" r="T11" b="T12"/>
              <a:pathLst>
                <a:path w="21348" h="21600" fill="none" extrusionOk="0">
                  <a:moveTo>
                    <a:pt x="-1" y="0"/>
                  </a:moveTo>
                  <a:cubicBezTo>
                    <a:pt x="10659" y="0"/>
                    <a:pt x="19724" y="7775"/>
                    <a:pt x="21347" y="18310"/>
                  </a:cubicBezTo>
                </a:path>
                <a:path w="21348" h="21600" stroke="0" extrusionOk="0">
                  <a:moveTo>
                    <a:pt x="-1" y="0"/>
                  </a:moveTo>
                  <a:cubicBezTo>
                    <a:pt x="10659" y="0"/>
                    <a:pt x="19724" y="7775"/>
                    <a:pt x="21347" y="18310"/>
                  </a:cubicBezTo>
                  <a:lnTo>
                    <a:pt x="0" y="21600"/>
                  </a:lnTo>
                  <a:lnTo>
                    <a:pt x="-1" y="0"/>
                  </a:lnTo>
                  <a:close/>
                </a:path>
              </a:pathLst>
            </a:custGeom>
            <a:noFill/>
            <a:ln w="3175">
              <a:solidFill>
                <a:srgbClr val="6161F7"/>
              </a:solidFill>
              <a:round/>
              <a:headEnd/>
              <a:tailEnd/>
            </a:ln>
            <a:extLst>
              <a:ext uri="{909E8E84-426E-40DD-AFC4-6F175D3DCCD1}">
                <a14:hiddenFill xmlns:a14="http://schemas.microsoft.com/office/drawing/2010/main">
                  <a:solidFill>
                    <a:srgbClr val="FFFFFF"/>
                  </a:solidFill>
                </a14:hiddenFill>
              </a:ext>
            </a:extLst>
          </p:spPr>
          <p:txBody>
            <a:bodyPr rot="10800000" wrap="none" anchor="ctr"/>
            <a:lstStyle/>
            <a:p>
              <a:endParaRPr lang="zh-CN" altLang="en-US"/>
            </a:p>
          </p:txBody>
        </p:sp>
        <p:sp>
          <p:nvSpPr>
            <p:cNvPr id="16" name="Arc 9">
              <a:extLst>
                <a:ext uri="{FF2B5EF4-FFF2-40B4-BE49-F238E27FC236}">
                  <a16:creationId xmlns:a16="http://schemas.microsoft.com/office/drawing/2014/main" id="{335D1602-2B42-41FD-B1DF-73AA0B6C48D9}"/>
                </a:ext>
              </a:extLst>
            </p:cNvPr>
            <p:cNvSpPr>
              <a:spLocks/>
            </p:cNvSpPr>
            <p:nvPr/>
          </p:nvSpPr>
          <p:spPr bwMode="auto">
            <a:xfrm flipV="1">
              <a:off x="1708" y="2592"/>
              <a:ext cx="1584" cy="1056"/>
            </a:xfrm>
            <a:custGeom>
              <a:avLst/>
              <a:gdLst>
                <a:gd name="T0" fmla="*/ 0 w 21501"/>
                <a:gd name="T1" fmla="*/ 0 h 21600"/>
                <a:gd name="T2" fmla="*/ 117 w 21501"/>
                <a:gd name="T3" fmla="*/ 47 h 21600"/>
                <a:gd name="T4" fmla="*/ 0 w 21501"/>
                <a:gd name="T5" fmla="*/ 52 h 21600"/>
                <a:gd name="T6" fmla="*/ 0 60000 65536"/>
                <a:gd name="T7" fmla="*/ 0 60000 65536"/>
                <a:gd name="T8" fmla="*/ 0 60000 65536"/>
                <a:gd name="T9" fmla="*/ 0 w 21501"/>
                <a:gd name="T10" fmla="*/ 0 h 21600"/>
                <a:gd name="T11" fmla="*/ 21501 w 21501"/>
                <a:gd name="T12" fmla="*/ 21600 h 21600"/>
              </a:gdLst>
              <a:ahLst/>
              <a:cxnLst>
                <a:cxn ang="T6">
                  <a:pos x="T0" y="T1"/>
                </a:cxn>
                <a:cxn ang="T7">
                  <a:pos x="T2" y="T3"/>
                </a:cxn>
                <a:cxn ang="T8">
                  <a:pos x="T4" y="T5"/>
                </a:cxn>
              </a:cxnLst>
              <a:rect l="T9" t="T10" r="T11" b="T12"/>
              <a:pathLst>
                <a:path w="21501" h="21600" fill="none" extrusionOk="0">
                  <a:moveTo>
                    <a:pt x="-1" y="0"/>
                  </a:moveTo>
                  <a:cubicBezTo>
                    <a:pt x="11127" y="0"/>
                    <a:pt x="20434" y="8454"/>
                    <a:pt x="21500" y="19531"/>
                  </a:cubicBezTo>
                </a:path>
                <a:path w="21501" h="21600" stroke="0" extrusionOk="0">
                  <a:moveTo>
                    <a:pt x="-1" y="0"/>
                  </a:moveTo>
                  <a:cubicBezTo>
                    <a:pt x="11127" y="0"/>
                    <a:pt x="20434" y="8454"/>
                    <a:pt x="21500" y="19531"/>
                  </a:cubicBezTo>
                  <a:lnTo>
                    <a:pt x="0" y="21600"/>
                  </a:lnTo>
                  <a:lnTo>
                    <a:pt x="-1" y="0"/>
                  </a:lnTo>
                  <a:close/>
                </a:path>
              </a:pathLst>
            </a:custGeom>
            <a:noFill/>
            <a:ln w="3175">
              <a:solidFill>
                <a:srgbClr val="FF99CC"/>
              </a:solidFill>
              <a:round/>
              <a:headEnd/>
              <a:tailEnd/>
            </a:ln>
            <a:extLst>
              <a:ext uri="{909E8E84-426E-40DD-AFC4-6F175D3DCCD1}">
                <a14:hiddenFill xmlns:a14="http://schemas.microsoft.com/office/drawing/2010/main">
                  <a:solidFill>
                    <a:srgbClr val="FFFFFF"/>
                  </a:solidFill>
                </a14:hiddenFill>
              </a:ext>
            </a:extLst>
          </p:spPr>
          <p:txBody>
            <a:bodyPr rot="10800000" wrap="none" anchor="ctr"/>
            <a:lstStyle/>
            <a:p>
              <a:endParaRPr lang="zh-CN" altLang="en-US"/>
            </a:p>
          </p:txBody>
        </p:sp>
        <p:sp>
          <p:nvSpPr>
            <p:cNvPr id="17" name="Line 11">
              <a:extLst>
                <a:ext uri="{FF2B5EF4-FFF2-40B4-BE49-F238E27FC236}">
                  <a16:creationId xmlns:a16="http://schemas.microsoft.com/office/drawing/2014/main" id="{76F89679-38C7-41F9-A49B-BA42B015FD1F}"/>
                </a:ext>
              </a:extLst>
            </p:cNvPr>
            <p:cNvSpPr>
              <a:spLocks noChangeShapeType="1"/>
            </p:cNvSpPr>
            <p:nvPr/>
          </p:nvSpPr>
          <p:spPr bwMode="auto">
            <a:xfrm flipH="1">
              <a:off x="2400" y="2832"/>
              <a:ext cx="0" cy="1056"/>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 name="Text Box 16">
              <a:extLst>
                <a:ext uri="{FF2B5EF4-FFF2-40B4-BE49-F238E27FC236}">
                  <a16:creationId xmlns:a16="http://schemas.microsoft.com/office/drawing/2014/main" id="{4653EAB7-9671-4EF9-AEDC-AC7CE217B520}"/>
                </a:ext>
              </a:extLst>
            </p:cNvPr>
            <p:cNvSpPr txBox="1">
              <a:spLocks noChangeArrowheads="1"/>
            </p:cNvSpPr>
            <p:nvPr/>
          </p:nvSpPr>
          <p:spPr bwMode="auto">
            <a:xfrm>
              <a:off x="3100" y="3456"/>
              <a:ext cx="81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600">
                  <a:solidFill>
                    <a:srgbClr val="8736E8"/>
                  </a:solidFill>
                  <a:latin typeface="幼圆" panose="02010509060101010101" pitchFamily="49" charset="-122"/>
                  <a:ea typeface="幼圆" panose="02010509060101010101" pitchFamily="49" charset="-122"/>
                </a:rPr>
                <a:t>模块成本</a:t>
              </a:r>
              <a:endParaRPr lang="en-US" altLang="zh-CN" sz="1800">
                <a:solidFill>
                  <a:srgbClr val="8736E8"/>
                </a:solidFill>
                <a:latin typeface="幼圆" panose="02010509060101010101" pitchFamily="49" charset="-122"/>
                <a:ea typeface="幼圆" panose="02010509060101010101" pitchFamily="49" charset="-122"/>
              </a:endParaRPr>
            </a:p>
          </p:txBody>
        </p:sp>
        <p:sp>
          <p:nvSpPr>
            <p:cNvPr id="19" name="Text Box 17">
              <a:extLst>
                <a:ext uri="{FF2B5EF4-FFF2-40B4-BE49-F238E27FC236}">
                  <a16:creationId xmlns:a16="http://schemas.microsoft.com/office/drawing/2014/main" id="{E822BF0F-0621-4237-9CC7-728FB38810AD}"/>
                </a:ext>
              </a:extLst>
            </p:cNvPr>
            <p:cNvSpPr txBox="1">
              <a:spLocks noChangeArrowheads="1"/>
            </p:cNvSpPr>
            <p:nvPr/>
          </p:nvSpPr>
          <p:spPr bwMode="auto">
            <a:xfrm>
              <a:off x="3148" y="2448"/>
              <a:ext cx="81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600">
                  <a:solidFill>
                    <a:srgbClr val="8736E8"/>
                  </a:solidFill>
                  <a:latin typeface="幼圆" panose="02010509060101010101" pitchFamily="49" charset="-122"/>
                  <a:ea typeface="幼圆" panose="02010509060101010101" pitchFamily="49" charset="-122"/>
                </a:rPr>
                <a:t>接口成本</a:t>
              </a:r>
              <a:endParaRPr lang="en-US" altLang="zh-CN" sz="1800">
                <a:solidFill>
                  <a:srgbClr val="8736E8"/>
                </a:solidFill>
                <a:latin typeface="幼圆" panose="02010509060101010101" pitchFamily="49" charset="-122"/>
                <a:ea typeface="幼圆" panose="02010509060101010101" pitchFamily="49" charset="-122"/>
              </a:endParaRPr>
            </a:p>
          </p:txBody>
        </p:sp>
        <p:sp>
          <p:nvSpPr>
            <p:cNvPr id="20" name="Text Box 18">
              <a:extLst>
                <a:ext uri="{FF2B5EF4-FFF2-40B4-BE49-F238E27FC236}">
                  <a16:creationId xmlns:a16="http://schemas.microsoft.com/office/drawing/2014/main" id="{452506E3-93EF-4D04-88C2-25A8A847A1EF}"/>
                </a:ext>
              </a:extLst>
            </p:cNvPr>
            <p:cNvSpPr txBox="1">
              <a:spLocks noChangeArrowheads="1"/>
            </p:cNvSpPr>
            <p:nvPr/>
          </p:nvSpPr>
          <p:spPr bwMode="auto">
            <a:xfrm>
              <a:off x="3340" y="2160"/>
              <a:ext cx="57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600">
                  <a:solidFill>
                    <a:srgbClr val="8736E8"/>
                  </a:solidFill>
                  <a:latin typeface="幼圆" panose="02010509060101010101" pitchFamily="49" charset="-122"/>
                  <a:ea typeface="幼圆" panose="02010509060101010101" pitchFamily="49" charset="-122"/>
                </a:rPr>
                <a:t>总成本</a:t>
              </a:r>
              <a:endParaRPr lang="en-US" altLang="zh-CN" sz="1800">
                <a:solidFill>
                  <a:srgbClr val="8736E8"/>
                </a:solidFill>
                <a:latin typeface="幼圆" panose="02010509060101010101" pitchFamily="49" charset="-122"/>
                <a:ea typeface="幼圆" panose="02010509060101010101" pitchFamily="49" charset="-122"/>
              </a:endParaRPr>
            </a:p>
          </p:txBody>
        </p:sp>
        <p:sp>
          <p:nvSpPr>
            <p:cNvPr id="21" name="Text Box 19">
              <a:extLst>
                <a:ext uri="{FF2B5EF4-FFF2-40B4-BE49-F238E27FC236}">
                  <a16:creationId xmlns:a16="http://schemas.microsoft.com/office/drawing/2014/main" id="{EF4D3DA6-A3B0-40DD-B355-5A37A7C96C93}"/>
                </a:ext>
              </a:extLst>
            </p:cNvPr>
            <p:cNvSpPr txBox="1">
              <a:spLocks noChangeArrowheads="1"/>
            </p:cNvSpPr>
            <p:nvPr/>
          </p:nvSpPr>
          <p:spPr bwMode="auto">
            <a:xfrm>
              <a:off x="556" y="2160"/>
              <a:ext cx="1056"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600" dirty="0">
                  <a:solidFill>
                    <a:srgbClr val="CC00FF"/>
                  </a:solidFill>
                  <a:latin typeface="幼圆" panose="02010509060101010101" pitchFamily="49" charset="-122"/>
                  <a:ea typeface="幼圆" panose="02010509060101010101" pitchFamily="49" charset="-122"/>
                </a:rPr>
                <a:t>软件开发工作量</a:t>
              </a:r>
            </a:p>
            <a:p>
              <a:r>
                <a:rPr lang="zh-CN" altLang="en-US" sz="1600" dirty="0">
                  <a:solidFill>
                    <a:srgbClr val="CC00FF"/>
                  </a:solidFill>
                  <a:latin typeface="幼圆" panose="02010509060101010101" pitchFamily="49" charset="-122"/>
                  <a:ea typeface="幼圆" panose="02010509060101010101" pitchFamily="49" charset="-122"/>
                </a:rPr>
                <a:t> </a:t>
              </a:r>
              <a:endParaRPr lang="en-US" altLang="zh-CN" sz="1600" dirty="0">
                <a:solidFill>
                  <a:srgbClr val="CC00FF"/>
                </a:solidFill>
                <a:latin typeface="幼圆" panose="02010509060101010101" pitchFamily="49" charset="-122"/>
                <a:ea typeface="幼圆" panose="02010509060101010101" pitchFamily="49" charset="-122"/>
              </a:endParaRPr>
            </a:p>
          </p:txBody>
        </p:sp>
        <p:sp>
          <p:nvSpPr>
            <p:cNvPr id="22" name="Text Box 21">
              <a:extLst>
                <a:ext uri="{FF2B5EF4-FFF2-40B4-BE49-F238E27FC236}">
                  <a16:creationId xmlns:a16="http://schemas.microsoft.com/office/drawing/2014/main" id="{DAF09B06-05AA-4B0C-AE40-0FFBE9340616}"/>
                </a:ext>
              </a:extLst>
            </p:cNvPr>
            <p:cNvSpPr txBox="1">
              <a:spLocks noChangeArrowheads="1"/>
            </p:cNvSpPr>
            <p:nvPr/>
          </p:nvSpPr>
          <p:spPr bwMode="auto">
            <a:xfrm>
              <a:off x="3024" y="3936"/>
              <a:ext cx="67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600">
                  <a:solidFill>
                    <a:srgbClr val="CC00FF"/>
                  </a:solidFill>
                  <a:latin typeface="幼圆" panose="02010509060101010101" pitchFamily="49" charset="-122"/>
                  <a:ea typeface="幼圆" panose="02010509060101010101" pitchFamily="49" charset="-122"/>
                </a:rPr>
                <a:t>模块数 </a:t>
              </a:r>
              <a:endParaRPr lang="en-US" altLang="zh-CN" sz="1800">
                <a:solidFill>
                  <a:srgbClr val="CC00FF"/>
                </a:solidFill>
                <a:latin typeface="幼圆" panose="02010509060101010101" pitchFamily="49" charset="-122"/>
                <a:ea typeface="幼圆" panose="02010509060101010101" pitchFamily="49" charset="-122"/>
              </a:endParaRPr>
            </a:p>
          </p:txBody>
        </p:sp>
        <p:sp>
          <p:nvSpPr>
            <p:cNvPr id="23" name="Arc 14">
              <a:extLst>
                <a:ext uri="{FF2B5EF4-FFF2-40B4-BE49-F238E27FC236}">
                  <a16:creationId xmlns:a16="http://schemas.microsoft.com/office/drawing/2014/main" id="{D505E04A-32D9-4DAB-AFD2-0E01A8023BEF}"/>
                </a:ext>
              </a:extLst>
            </p:cNvPr>
            <p:cNvSpPr>
              <a:spLocks/>
            </p:cNvSpPr>
            <p:nvPr/>
          </p:nvSpPr>
          <p:spPr bwMode="auto">
            <a:xfrm flipV="1">
              <a:off x="2544" y="2208"/>
              <a:ext cx="748" cy="624"/>
            </a:xfrm>
            <a:custGeom>
              <a:avLst/>
              <a:gdLst>
                <a:gd name="T0" fmla="*/ 0 w 21600"/>
                <a:gd name="T1" fmla="*/ 0 h 21600"/>
                <a:gd name="T2" fmla="*/ 26 w 21600"/>
                <a:gd name="T3" fmla="*/ 18 h 21600"/>
                <a:gd name="T4" fmla="*/ 0 w 21600"/>
                <a:gd name="T5" fmla="*/ 18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rgbClr val="FF3399"/>
              </a:solidFill>
              <a:prstDash val="lgDash"/>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 name="Arc 13">
              <a:extLst>
                <a:ext uri="{FF2B5EF4-FFF2-40B4-BE49-F238E27FC236}">
                  <a16:creationId xmlns:a16="http://schemas.microsoft.com/office/drawing/2014/main" id="{922DF739-F314-4A35-B681-6FF9D4F80EB1}"/>
                </a:ext>
              </a:extLst>
            </p:cNvPr>
            <p:cNvSpPr>
              <a:spLocks/>
            </p:cNvSpPr>
            <p:nvPr/>
          </p:nvSpPr>
          <p:spPr bwMode="auto">
            <a:xfrm flipH="1" flipV="1">
              <a:off x="1756" y="2256"/>
              <a:ext cx="864" cy="576"/>
            </a:xfrm>
            <a:custGeom>
              <a:avLst/>
              <a:gdLst>
                <a:gd name="T0" fmla="*/ 0 w 21600"/>
                <a:gd name="T1" fmla="*/ 0 h 21600"/>
                <a:gd name="T2" fmla="*/ 35 w 21600"/>
                <a:gd name="T3" fmla="*/ 15 h 21600"/>
                <a:gd name="T4" fmla="*/ 0 w 21600"/>
                <a:gd name="T5" fmla="*/ 15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rgbClr val="FF3399"/>
              </a:solidFill>
              <a:prstDash val="lgDash"/>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 name="Line 25">
              <a:extLst>
                <a:ext uri="{FF2B5EF4-FFF2-40B4-BE49-F238E27FC236}">
                  <a16:creationId xmlns:a16="http://schemas.microsoft.com/office/drawing/2014/main" id="{57DCEB28-0F82-426E-9F16-0CA0A0915A94}"/>
                </a:ext>
              </a:extLst>
            </p:cNvPr>
            <p:cNvSpPr>
              <a:spLocks noChangeShapeType="1"/>
            </p:cNvSpPr>
            <p:nvPr/>
          </p:nvSpPr>
          <p:spPr bwMode="auto">
            <a:xfrm flipH="1">
              <a:off x="2688" y="2832"/>
              <a:ext cx="0" cy="1056"/>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6" name="文本框 25">
            <a:extLst>
              <a:ext uri="{FF2B5EF4-FFF2-40B4-BE49-F238E27FC236}">
                <a16:creationId xmlns:a16="http://schemas.microsoft.com/office/drawing/2014/main" id="{9A070501-F742-4453-998E-31E586470CAC}"/>
              </a:ext>
            </a:extLst>
          </p:cNvPr>
          <p:cNvSpPr txBox="1"/>
          <p:nvPr/>
        </p:nvSpPr>
        <p:spPr>
          <a:xfrm>
            <a:off x="511177" y="1386513"/>
            <a:ext cx="8226423" cy="1445267"/>
          </a:xfrm>
          <a:prstGeom prst="rect">
            <a:avLst/>
          </a:prstGeom>
          <a:noFill/>
        </p:spPr>
        <p:txBody>
          <a:bodyPr wrap="square">
            <a:spAutoFit/>
          </a:bodyPr>
          <a:lstStyle/>
          <a:p>
            <a:pPr eaLnBrk="1" hangingPunct="1">
              <a:lnSpc>
                <a:spcPct val="125000"/>
              </a:lnSpc>
              <a:spcBef>
                <a:spcPct val="0"/>
              </a:spcBef>
              <a:buFontTx/>
              <a:buNone/>
            </a:pPr>
            <a:r>
              <a:rPr lang="zh-CN" altLang="en-US" sz="1800" dirty="0">
                <a:latin typeface="Arial" panose="020B0604020202020204" pitchFamily="34" charset="0"/>
                <a:ea typeface="经典宋体简" charset="-122"/>
              </a:rPr>
              <a:t>如图，当模块数目增加时每个模块的规模将减小，开发单个模块需要的成本</a:t>
            </a:r>
            <a:r>
              <a:rPr lang="en-US" altLang="zh-CN" sz="1800" dirty="0">
                <a:latin typeface="Arial" panose="020B0604020202020204" pitchFamily="34" charset="0"/>
                <a:ea typeface="经典宋体简" charset="-122"/>
              </a:rPr>
              <a:t>(</a:t>
            </a:r>
            <a:r>
              <a:rPr lang="zh-CN" altLang="en-US" sz="1800" dirty="0">
                <a:latin typeface="Arial" panose="020B0604020202020204" pitchFamily="34" charset="0"/>
                <a:ea typeface="经典宋体简" charset="-122"/>
              </a:rPr>
              <a:t>工作量</a:t>
            </a:r>
            <a:r>
              <a:rPr lang="en-US" altLang="zh-CN" sz="1800" dirty="0">
                <a:latin typeface="Arial" panose="020B0604020202020204" pitchFamily="34" charset="0"/>
                <a:ea typeface="经典宋体简" charset="-122"/>
              </a:rPr>
              <a:t>)</a:t>
            </a:r>
            <a:r>
              <a:rPr lang="zh-CN" altLang="en-US" sz="1800" dirty="0">
                <a:latin typeface="Arial" panose="020B0604020202020204" pitchFamily="34" charset="0"/>
                <a:ea typeface="经典宋体简" charset="-122"/>
              </a:rPr>
              <a:t>确实减少了；但是，随着模块数目增加，设计模块间接口所需要的工作量也将增加。根据这两个因素，得出了图中的总成本曲线。每个程序都相应地有一个最适当的模块数目</a:t>
            </a:r>
            <a:r>
              <a:rPr lang="en-US" altLang="zh-CN" sz="1800" dirty="0">
                <a:latin typeface="Arial" panose="020B0604020202020204" pitchFamily="34" charset="0"/>
                <a:ea typeface="经典宋体简" charset="-122"/>
              </a:rPr>
              <a:t>M</a:t>
            </a:r>
            <a:r>
              <a:rPr lang="zh-CN" altLang="en-US" sz="1800" dirty="0">
                <a:latin typeface="Arial" panose="020B0604020202020204" pitchFamily="34" charset="0"/>
                <a:ea typeface="经典宋体简" charset="-122"/>
              </a:rPr>
              <a:t>，使得系统的开发成本最小。</a:t>
            </a:r>
            <a:endParaRPr lang="zh-CN" altLang="en-US" dirty="0"/>
          </a:p>
        </p:txBody>
      </p:sp>
    </p:spTree>
    <p:extLst>
      <p:ext uri="{BB962C8B-B14F-4D97-AF65-F5344CB8AC3E}">
        <p14:creationId xmlns:p14="http://schemas.microsoft.com/office/powerpoint/2010/main" val="32086378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5">
            <a:extLst>
              <a:ext uri="{FF2B5EF4-FFF2-40B4-BE49-F238E27FC236}">
                <a16:creationId xmlns:a16="http://schemas.microsoft.com/office/drawing/2014/main" id="{BCB1B8A4-02A2-4AAF-9314-3F7AEAF6E6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69799E2-B99C-4EAE-8D85-3CB7B1E6B441}" type="slidenum">
              <a:rPr lang="en-US" altLang="en-US"/>
              <a:pPr eaLnBrk="1" hangingPunct="1"/>
              <a:t>14</a:t>
            </a:fld>
            <a:endParaRPr lang="en-US" altLang="en-US"/>
          </a:p>
        </p:txBody>
      </p:sp>
      <p:sp>
        <p:nvSpPr>
          <p:cNvPr id="9219" name="Rectangle 2">
            <a:extLst>
              <a:ext uri="{FF2B5EF4-FFF2-40B4-BE49-F238E27FC236}">
                <a16:creationId xmlns:a16="http://schemas.microsoft.com/office/drawing/2014/main" id="{2613ED5F-13D3-4D93-BBD3-15C1DAFD0014}"/>
              </a:ext>
            </a:extLst>
          </p:cNvPr>
          <p:cNvSpPr>
            <a:spLocks noGrp="1" noChangeArrowheads="1"/>
          </p:cNvSpPr>
          <p:nvPr>
            <p:ph type="title"/>
          </p:nvPr>
        </p:nvSpPr>
        <p:spPr>
          <a:xfrm>
            <a:off x="457200" y="122238"/>
            <a:ext cx="7543800" cy="1020762"/>
          </a:xfrm>
        </p:spPr>
        <p:txBody>
          <a:bodyPr/>
          <a:lstStyle/>
          <a:p>
            <a:pPr eaLnBrk="1" hangingPunct="1"/>
            <a:r>
              <a:rPr lang="zh-CN" altLang="en-US" sz="3600" dirty="0">
                <a:ea typeface="宋体" panose="02010600030101010101" pitchFamily="2" charset="-122"/>
              </a:rPr>
              <a:t>设计原理</a:t>
            </a:r>
            <a:endParaRPr lang="en-US" altLang="zh-CN" sz="3600" dirty="0">
              <a:ea typeface="宋体" panose="02010600030101010101" pitchFamily="2" charset="-122"/>
            </a:endParaRPr>
          </a:p>
        </p:txBody>
      </p:sp>
      <p:sp>
        <p:nvSpPr>
          <p:cNvPr id="9220" name="Rectangle 3">
            <a:extLst>
              <a:ext uri="{FF2B5EF4-FFF2-40B4-BE49-F238E27FC236}">
                <a16:creationId xmlns:a16="http://schemas.microsoft.com/office/drawing/2014/main" id="{F432533E-F133-439A-AB27-1EF55B029342}"/>
              </a:ext>
            </a:extLst>
          </p:cNvPr>
          <p:cNvSpPr>
            <a:spLocks noGrp="1" noChangeArrowheads="1"/>
          </p:cNvSpPr>
          <p:nvPr>
            <p:ph type="body" idx="1"/>
          </p:nvPr>
        </p:nvSpPr>
        <p:spPr>
          <a:xfrm>
            <a:off x="304800" y="1371600"/>
            <a:ext cx="8229600" cy="4419600"/>
          </a:xfrm>
        </p:spPr>
        <p:txBody>
          <a:bodyPr/>
          <a:lstStyle/>
          <a:p>
            <a:pPr eaLnBrk="1" hangingPunct="1"/>
            <a:r>
              <a:rPr lang="zh-CN" altLang="en-US" sz="2800" b="1" dirty="0">
                <a:ea typeface="宋体" panose="02010600030101010101" pitchFamily="2" charset="-122"/>
              </a:rPr>
              <a:t>抽象</a:t>
            </a:r>
            <a:endParaRPr lang="en-US" altLang="zh-CN" sz="2800" b="1" dirty="0">
              <a:ea typeface="宋体" panose="02010600030101010101" pitchFamily="2" charset="-122"/>
            </a:endParaRPr>
          </a:p>
          <a:p>
            <a:pPr lvl="1" eaLnBrk="1" hangingPunct="1"/>
            <a:r>
              <a:rPr lang="zh-CN" altLang="en-US" sz="2400" dirty="0">
                <a:ea typeface="宋体" panose="02010600030101010101" pitchFamily="2" charset="-122"/>
              </a:rPr>
              <a:t>人类在认识复杂现象的过程中使用的最强有力的思维工具是抽象。人们在实践中认识到，在现实世界中一定事物、状态或过程之间总存在着某些相似的方面</a:t>
            </a:r>
            <a:r>
              <a:rPr lang="en-US" altLang="zh-CN" sz="2400" dirty="0">
                <a:ea typeface="宋体" panose="02010600030101010101" pitchFamily="2" charset="-122"/>
              </a:rPr>
              <a:t>(</a:t>
            </a:r>
            <a:r>
              <a:rPr lang="zh-CN" altLang="en-US" sz="2400" dirty="0">
                <a:ea typeface="宋体" panose="02010600030101010101" pitchFamily="2" charset="-122"/>
              </a:rPr>
              <a:t>共性</a:t>
            </a:r>
            <a:r>
              <a:rPr lang="en-US" altLang="zh-CN" sz="2400" dirty="0">
                <a:ea typeface="宋体" panose="02010600030101010101" pitchFamily="2" charset="-122"/>
              </a:rPr>
              <a:t>)</a:t>
            </a:r>
            <a:r>
              <a:rPr lang="zh-CN" altLang="en-US" sz="2400" dirty="0">
                <a:ea typeface="宋体" panose="02010600030101010101" pitchFamily="2" charset="-122"/>
              </a:rPr>
              <a:t>。把这些相似的方面集中和概括起来，暂时忽略它们之间的差异，这就是抽象。或者说抽象就是抽出事物的本质特性而暂时不考虑它们的细节。</a:t>
            </a:r>
          </a:p>
          <a:p>
            <a:pPr lvl="1" eaLnBrk="1" hangingPunct="1"/>
            <a:r>
              <a:rPr lang="zh-CN" altLang="en-US" sz="2400" dirty="0">
                <a:ea typeface="宋体" panose="02010600030101010101" pitchFamily="2" charset="-122"/>
              </a:rPr>
              <a:t>软件工程过程的每一步都是对软件解法的抽象层次的一次精化。在可行性研究阶段，软件作为系统的一个完整部件；在需求分析期间，软件解法是使用在问题环境内熟悉的方式描述的；当由总体设计向详细设计过渡时，抽象的程度也就随之减少了；最后，当源程序写出来以后，也就达到了抽象的最低层。</a:t>
            </a:r>
          </a:p>
          <a:p>
            <a:pPr lvl="1" eaLnBrk="1" hangingPunct="1"/>
            <a:endParaRPr lang="en-US" altLang="zh-CN" sz="2800" dirty="0">
              <a:ea typeface="宋体" panose="02010600030101010101" pitchFamily="2" charset="-122"/>
            </a:endParaRPr>
          </a:p>
        </p:txBody>
      </p:sp>
      <p:sp>
        <p:nvSpPr>
          <p:cNvPr id="9222" name="Rectangle 6">
            <a:extLst>
              <a:ext uri="{FF2B5EF4-FFF2-40B4-BE49-F238E27FC236}">
                <a16:creationId xmlns:a16="http://schemas.microsoft.com/office/drawing/2014/main" id="{B46003C0-7BBF-45F9-B3F0-FBE10EA37144}"/>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extLst>
      <p:ext uri="{BB962C8B-B14F-4D97-AF65-F5344CB8AC3E}">
        <p14:creationId xmlns:p14="http://schemas.microsoft.com/office/powerpoint/2010/main" val="33619954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5">
            <a:extLst>
              <a:ext uri="{FF2B5EF4-FFF2-40B4-BE49-F238E27FC236}">
                <a16:creationId xmlns:a16="http://schemas.microsoft.com/office/drawing/2014/main" id="{BCB1B8A4-02A2-4AAF-9314-3F7AEAF6E6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69799E2-B99C-4EAE-8D85-3CB7B1E6B441}" type="slidenum">
              <a:rPr lang="en-US" altLang="en-US"/>
              <a:pPr eaLnBrk="1" hangingPunct="1"/>
              <a:t>15</a:t>
            </a:fld>
            <a:endParaRPr lang="en-US" altLang="en-US"/>
          </a:p>
        </p:txBody>
      </p:sp>
      <p:sp>
        <p:nvSpPr>
          <p:cNvPr id="9219" name="Rectangle 2">
            <a:extLst>
              <a:ext uri="{FF2B5EF4-FFF2-40B4-BE49-F238E27FC236}">
                <a16:creationId xmlns:a16="http://schemas.microsoft.com/office/drawing/2014/main" id="{2613ED5F-13D3-4D93-BBD3-15C1DAFD0014}"/>
              </a:ext>
            </a:extLst>
          </p:cNvPr>
          <p:cNvSpPr>
            <a:spLocks noGrp="1" noChangeArrowheads="1"/>
          </p:cNvSpPr>
          <p:nvPr>
            <p:ph type="title"/>
          </p:nvPr>
        </p:nvSpPr>
        <p:spPr>
          <a:xfrm>
            <a:off x="457200" y="122238"/>
            <a:ext cx="7543800" cy="1020762"/>
          </a:xfrm>
        </p:spPr>
        <p:txBody>
          <a:bodyPr/>
          <a:lstStyle/>
          <a:p>
            <a:pPr eaLnBrk="1" hangingPunct="1"/>
            <a:r>
              <a:rPr lang="zh-CN" altLang="en-US" sz="3600" dirty="0">
                <a:ea typeface="宋体" panose="02010600030101010101" pitchFamily="2" charset="-122"/>
              </a:rPr>
              <a:t>设计原理</a:t>
            </a:r>
            <a:endParaRPr lang="en-US" altLang="zh-CN" sz="3600" dirty="0">
              <a:ea typeface="宋体" panose="02010600030101010101" pitchFamily="2" charset="-122"/>
            </a:endParaRPr>
          </a:p>
        </p:txBody>
      </p:sp>
      <p:sp>
        <p:nvSpPr>
          <p:cNvPr id="9220" name="Rectangle 3">
            <a:extLst>
              <a:ext uri="{FF2B5EF4-FFF2-40B4-BE49-F238E27FC236}">
                <a16:creationId xmlns:a16="http://schemas.microsoft.com/office/drawing/2014/main" id="{F432533E-F133-439A-AB27-1EF55B029342}"/>
              </a:ext>
            </a:extLst>
          </p:cNvPr>
          <p:cNvSpPr>
            <a:spLocks noGrp="1" noChangeArrowheads="1"/>
          </p:cNvSpPr>
          <p:nvPr>
            <p:ph type="body" idx="1"/>
          </p:nvPr>
        </p:nvSpPr>
        <p:spPr>
          <a:xfrm>
            <a:off x="304800" y="1371600"/>
            <a:ext cx="8229600" cy="4419600"/>
          </a:xfrm>
        </p:spPr>
        <p:txBody>
          <a:bodyPr/>
          <a:lstStyle/>
          <a:p>
            <a:pPr eaLnBrk="1" hangingPunct="1"/>
            <a:r>
              <a:rPr lang="zh-CN" altLang="en-US" sz="2800" b="1" dirty="0">
                <a:ea typeface="宋体" panose="02010600030101010101" pitchFamily="2" charset="-122"/>
              </a:rPr>
              <a:t>逐步求精</a:t>
            </a:r>
            <a:endParaRPr lang="en-US" altLang="zh-CN" sz="2800" b="1" dirty="0">
              <a:ea typeface="宋体" panose="02010600030101010101" pitchFamily="2" charset="-122"/>
            </a:endParaRPr>
          </a:p>
          <a:p>
            <a:pPr lvl="1" eaLnBrk="1" hangingPunct="1"/>
            <a:r>
              <a:rPr lang="zh-CN" altLang="en-US" sz="2400" dirty="0">
                <a:ea typeface="宋体" panose="02010600030101010101" pitchFamily="2" charset="-122"/>
              </a:rPr>
              <a:t>逐步求精定义为为了能集中精力解决主要问题而尽量推迟对问题细节的考虑。</a:t>
            </a:r>
          </a:p>
          <a:p>
            <a:pPr lvl="1" eaLnBrk="1" hangingPunct="1"/>
            <a:r>
              <a:rPr lang="zh-CN" altLang="en-US" sz="2400" dirty="0">
                <a:ea typeface="宋体" panose="02010600030101010101" pitchFamily="2" charset="-122"/>
              </a:rPr>
              <a:t>逐步求精最初是由</a:t>
            </a:r>
            <a:r>
              <a:rPr lang="en-US" altLang="zh-CN" sz="2400" dirty="0">
                <a:ea typeface="宋体" panose="02010600030101010101" pitchFamily="2" charset="-122"/>
              </a:rPr>
              <a:t>Niklaus Wirth</a:t>
            </a:r>
            <a:r>
              <a:rPr lang="zh-CN" altLang="en-US" sz="2400" dirty="0">
                <a:ea typeface="宋体" panose="02010600030101010101" pitchFamily="2" charset="-122"/>
              </a:rPr>
              <a:t>提出的一种自顶向下的设计策略。按照这种设计策略，程序的体系结构是通过逐步精化处理过程的层次而设计出来的。通过逐步分解对功能的宏观陈述而开发出层次结构，直至最终得出用程序设计语言表达的程序。</a:t>
            </a:r>
          </a:p>
          <a:p>
            <a:pPr lvl="1" eaLnBrk="1" hangingPunct="1"/>
            <a:r>
              <a:rPr lang="zh-CN" altLang="en-US" sz="2400" dirty="0">
                <a:ea typeface="宋体" panose="02010600030101010101" pitchFamily="2" charset="-122"/>
              </a:rPr>
              <a:t>求精实际上是细化过程。</a:t>
            </a:r>
          </a:p>
          <a:p>
            <a:pPr lvl="1" eaLnBrk="1" hangingPunct="1"/>
            <a:r>
              <a:rPr lang="zh-CN" altLang="en-US" sz="2400" dirty="0">
                <a:ea typeface="宋体" panose="02010600030101010101" pitchFamily="2" charset="-122"/>
              </a:rPr>
              <a:t>抽象与求精是一对互补的概念。</a:t>
            </a:r>
            <a:endParaRPr lang="en-US" altLang="zh-CN" sz="2800" dirty="0">
              <a:ea typeface="宋体" panose="02010600030101010101" pitchFamily="2" charset="-122"/>
            </a:endParaRPr>
          </a:p>
        </p:txBody>
      </p:sp>
      <p:sp>
        <p:nvSpPr>
          <p:cNvPr id="9222" name="Rectangle 6">
            <a:extLst>
              <a:ext uri="{FF2B5EF4-FFF2-40B4-BE49-F238E27FC236}">
                <a16:creationId xmlns:a16="http://schemas.microsoft.com/office/drawing/2014/main" id="{B46003C0-7BBF-45F9-B3F0-FBE10EA37144}"/>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extLst>
      <p:ext uri="{BB962C8B-B14F-4D97-AF65-F5344CB8AC3E}">
        <p14:creationId xmlns:p14="http://schemas.microsoft.com/office/powerpoint/2010/main" val="5931681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5">
            <a:extLst>
              <a:ext uri="{FF2B5EF4-FFF2-40B4-BE49-F238E27FC236}">
                <a16:creationId xmlns:a16="http://schemas.microsoft.com/office/drawing/2014/main" id="{BCB1B8A4-02A2-4AAF-9314-3F7AEAF6E6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69799E2-B99C-4EAE-8D85-3CB7B1E6B441}" type="slidenum">
              <a:rPr lang="en-US" altLang="en-US"/>
              <a:pPr eaLnBrk="1" hangingPunct="1"/>
              <a:t>16</a:t>
            </a:fld>
            <a:endParaRPr lang="en-US" altLang="en-US"/>
          </a:p>
        </p:txBody>
      </p:sp>
      <p:sp>
        <p:nvSpPr>
          <p:cNvPr id="9219" name="Rectangle 2">
            <a:extLst>
              <a:ext uri="{FF2B5EF4-FFF2-40B4-BE49-F238E27FC236}">
                <a16:creationId xmlns:a16="http://schemas.microsoft.com/office/drawing/2014/main" id="{2613ED5F-13D3-4D93-BBD3-15C1DAFD0014}"/>
              </a:ext>
            </a:extLst>
          </p:cNvPr>
          <p:cNvSpPr>
            <a:spLocks noGrp="1" noChangeArrowheads="1"/>
          </p:cNvSpPr>
          <p:nvPr>
            <p:ph type="title"/>
          </p:nvPr>
        </p:nvSpPr>
        <p:spPr>
          <a:xfrm>
            <a:off x="457200" y="122238"/>
            <a:ext cx="7543800" cy="1020762"/>
          </a:xfrm>
        </p:spPr>
        <p:txBody>
          <a:bodyPr/>
          <a:lstStyle/>
          <a:p>
            <a:pPr eaLnBrk="1" hangingPunct="1"/>
            <a:r>
              <a:rPr lang="zh-CN" altLang="en-US" sz="3600" dirty="0">
                <a:ea typeface="宋体" panose="02010600030101010101" pitchFamily="2" charset="-122"/>
              </a:rPr>
              <a:t>设计原理</a:t>
            </a:r>
            <a:endParaRPr lang="en-US" altLang="zh-CN" sz="3600" dirty="0">
              <a:ea typeface="宋体" panose="02010600030101010101" pitchFamily="2" charset="-122"/>
            </a:endParaRPr>
          </a:p>
        </p:txBody>
      </p:sp>
      <p:sp>
        <p:nvSpPr>
          <p:cNvPr id="9220" name="Rectangle 3">
            <a:extLst>
              <a:ext uri="{FF2B5EF4-FFF2-40B4-BE49-F238E27FC236}">
                <a16:creationId xmlns:a16="http://schemas.microsoft.com/office/drawing/2014/main" id="{F432533E-F133-439A-AB27-1EF55B029342}"/>
              </a:ext>
            </a:extLst>
          </p:cNvPr>
          <p:cNvSpPr>
            <a:spLocks noGrp="1" noChangeArrowheads="1"/>
          </p:cNvSpPr>
          <p:nvPr>
            <p:ph type="body" idx="1"/>
          </p:nvPr>
        </p:nvSpPr>
        <p:spPr>
          <a:xfrm>
            <a:off x="304800" y="1371600"/>
            <a:ext cx="8382000" cy="4419600"/>
          </a:xfrm>
        </p:spPr>
        <p:txBody>
          <a:bodyPr/>
          <a:lstStyle/>
          <a:p>
            <a:pPr eaLnBrk="1" hangingPunct="1"/>
            <a:r>
              <a:rPr lang="zh-CN" altLang="en-US" sz="2800" b="1" dirty="0">
                <a:ea typeface="宋体" panose="02010600030101010101" pitchFamily="2" charset="-122"/>
              </a:rPr>
              <a:t>模块独立</a:t>
            </a:r>
            <a:endParaRPr lang="en-US" altLang="zh-CN" sz="2800" b="1" dirty="0">
              <a:ea typeface="宋体" panose="02010600030101010101" pitchFamily="2" charset="-122"/>
            </a:endParaRPr>
          </a:p>
          <a:p>
            <a:pPr eaLnBrk="1" hangingPunct="1">
              <a:lnSpc>
                <a:spcPct val="125000"/>
              </a:lnSpc>
              <a:spcBef>
                <a:spcPct val="0"/>
              </a:spcBef>
              <a:buFontTx/>
              <a:buNone/>
            </a:pPr>
            <a:r>
              <a:rPr lang="zh-CN" altLang="en-US" sz="2400" dirty="0">
                <a:ea typeface="宋体" panose="02010600030101010101" pitchFamily="2" charset="-122"/>
              </a:rPr>
              <a:t>模块的独立性很重要，因为</a:t>
            </a:r>
          </a:p>
          <a:p>
            <a:pPr eaLnBrk="1" hangingPunct="1">
              <a:lnSpc>
                <a:spcPct val="125000"/>
              </a:lnSpc>
              <a:spcBef>
                <a:spcPct val="0"/>
              </a:spcBef>
              <a:buFontTx/>
              <a:buAutoNum type="circleNumDbPlain"/>
            </a:pPr>
            <a:r>
              <a:rPr lang="zh-CN" altLang="en-US" sz="2400" dirty="0">
                <a:ea typeface="宋体" panose="02010600030101010101" pitchFamily="2" charset="-122"/>
              </a:rPr>
              <a:t>有效的模块化</a:t>
            </a:r>
            <a:r>
              <a:rPr lang="en-US" altLang="zh-CN" sz="2400" dirty="0">
                <a:ea typeface="宋体" panose="02010600030101010101" pitchFamily="2" charset="-122"/>
              </a:rPr>
              <a:t>(</a:t>
            </a:r>
            <a:r>
              <a:rPr lang="zh-CN" altLang="en-US" sz="2400" dirty="0">
                <a:ea typeface="宋体" panose="02010600030101010101" pitchFamily="2" charset="-122"/>
              </a:rPr>
              <a:t>即具有独立的模块</a:t>
            </a:r>
            <a:r>
              <a:rPr lang="en-US" altLang="zh-CN" sz="2400" dirty="0">
                <a:ea typeface="宋体" panose="02010600030101010101" pitchFamily="2" charset="-122"/>
              </a:rPr>
              <a:t>)</a:t>
            </a:r>
            <a:r>
              <a:rPr lang="zh-CN" altLang="en-US" sz="2400" dirty="0">
                <a:ea typeface="宋体" panose="02010600030101010101" pitchFamily="2" charset="-122"/>
              </a:rPr>
              <a:t>的软件比较容易开发出来。</a:t>
            </a:r>
          </a:p>
          <a:p>
            <a:pPr eaLnBrk="1" hangingPunct="1">
              <a:lnSpc>
                <a:spcPct val="125000"/>
              </a:lnSpc>
              <a:spcBef>
                <a:spcPct val="0"/>
              </a:spcBef>
              <a:buFontTx/>
              <a:buAutoNum type="circleNumDbPlain"/>
            </a:pPr>
            <a:r>
              <a:rPr lang="zh-CN" altLang="en-US" sz="2400" dirty="0">
                <a:ea typeface="宋体" panose="02010600030101010101" pitchFamily="2" charset="-122"/>
              </a:rPr>
              <a:t>独立的模块比较容易测试和维护。</a:t>
            </a:r>
          </a:p>
          <a:p>
            <a:pPr eaLnBrk="1" hangingPunct="1">
              <a:lnSpc>
                <a:spcPct val="125000"/>
              </a:lnSpc>
              <a:spcBef>
                <a:spcPct val="0"/>
              </a:spcBef>
              <a:buFontTx/>
              <a:buNone/>
            </a:pPr>
            <a:r>
              <a:rPr lang="zh-CN" altLang="en-US" sz="2400" dirty="0">
                <a:ea typeface="宋体" panose="02010600030101010101" pitchFamily="2" charset="-122"/>
              </a:rPr>
              <a:t>模块的独立程度可以由两个定性标准度量，这两个标准分为为</a:t>
            </a:r>
            <a:r>
              <a:rPr lang="zh-CN" altLang="en-US" sz="2400" b="1" dirty="0">
                <a:solidFill>
                  <a:srgbClr val="C00000"/>
                </a:solidFill>
                <a:ea typeface="宋体" panose="02010600030101010101" pitchFamily="2" charset="-122"/>
              </a:rPr>
              <a:t>内聚</a:t>
            </a:r>
            <a:r>
              <a:rPr lang="zh-CN" altLang="en-US" sz="2400" dirty="0">
                <a:ea typeface="宋体" panose="02010600030101010101" pitchFamily="2" charset="-122"/>
              </a:rPr>
              <a:t>和</a:t>
            </a:r>
            <a:r>
              <a:rPr lang="zh-CN" altLang="en-US" sz="2400" b="1" dirty="0">
                <a:solidFill>
                  <a:srgbClr val="C00000"/>
                </a:solidFill>
                <a:ea typeface="宋体" panose="02010600030101010101" pitchFamily="2" charset="-122"/>
              </a:rPr>
              <a:t>耦合</a:t>
            </a:r>
            <a:r>
              <a:rPr lang="zh-CN" altLang="en-US" sz="2400" dirty="0">
                <a:ea typeface="宋体" panose="02010600030101010101" pitchFamily="2" charset="-122"/>
              </a:rPr>
              <a:t>。</a:t>
            </a:r>
          </a:p>
        </p:txBody>
      </p:sp>
      <p:sp>
        <p:nvSpPr>
          <p:cNvPr id="9222" name="Rectangle 6">
            <a:extLst>
              <a:ext uri="{FF2B5EF4-FFF2-40B4-BE49-F238E27FC236}">
                <a16:creationId xmlns:a16="http://schemas.microsoft.com/office/drawing/2014/main" id="{B46003C0-7BBF-45F9-B3F0-FBE10EA37144}"/>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extLst>
      <p:ext uri="{BB962C8B-B14F-4D97-AF65-F5344CB8AC3E}">
        <p14:creationId xmlns:p14="http://schemas.microsoft.com/office/powerpoint/2010/main" val="41264688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5">
            <a:extLst>
              <a:ext uri="{FF2B5EF4-FFF2-40B4-BE49-F238E27FC236}">
                <a16:creationId xmlns:a16="http://schemas.microsoft.com/office/drawing/2014/main" id="{BCB1B8A4-02A2-4AAF-9314-3F7AEAF6E6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69799E2-B99C-4EAE-8D85-3CB7B1E6B441}" type="slidenum">
              <a:rPr lang="en-US" altLang="en-US"/>
              <a:pPr eaLnBrk="1" hangingPunct="1"/>
              <a:t>17</a:t>
            </a:fld>
            <a:endParaRPr lang="en-US" altLang="en-US"/>
          </a:p>
        </p:txBody>
      </p:sp>
      <p:sp>
        <p:nvSpPr>
          <p:cNvPr id="9219" name="Rectangle 2">
            <a:extLst>
              <a:ext uri="{FF2B5EF4-FFF2-40B4-BE49-F238E27FC236}">
                <a16:creationId xmlns:a16="http://schemas.microsoft.com/office/drawing/2014/main" id="{2613ED5F-13D3-4D93-BBD3-15C1DAFD0014}"/>
              </a:ext>
            </a:extLst>
          </p:cNvPr>
          <p:cNvSpPr>
            <a:spLocks noGrp="1" noChangeArrowheads="1"/>
          </p:cNvSpPr>
          <p:nvPr>
            <p:ph type="title"/>
          </p:nvPr>
        </p:nvSpPr>
        <p:spPr>
          <a:xfrm>
            <a:off x="457200" y="122238"/>
            <a:ext cx="7543800" cy="1020762"/>
          </a:xfrm>
        </p:spPr>
        <p:txBody>
          <a:bodyPr/>
          <a:lstStyle/>
          <a:p>
            <a:pPr eaLnBrk="1" hangingPunct="1"/>
            <a:r>
              <a:rPr lang="zh-CN" altLang="en-US" sz="3600" dirty="0">
                <a:ea typeface="宋体" panose="02010600030101010101" pitchFamily="2" charset="-122"/>
              </a:rPr>
              <a:t>设计原理</a:t>
            </a:r>
            <a:endParaRPr lang="en-US" altLang="zh-CN" sz="3600" dirty="0">
              <a:ea typeface="宋体" panose="02010600030101010101" pitchFamily="2" charset="-122"/>
            </a:endParaRPr>
          </a:p>
        </p:txBody>
      </p:sp>
      <p:sp>
        <p:nvSpPr>
          <p:cNvPr id="9220" name="Rectangle 3">
            <a:extLst>
              <a:ext uri="{FF2B5EF4-FFF2-40B4-BE49-F238E27FC236}">
                <a16:creationId xmlns:a16="http://schemas.microsoft.com/office/drawing/2014/main" id="{F432533E-F133-439A-AB27-1EF55B029342}"/>
              </a:ext>
            </a:extLst>
          </p:cNvPr>
          <p:cNvSpPr>
            <a:spLocks noGrp="1" noChangeArrowheads="1"/>
          </p:cNvSpPr>
          <p:nvPr>
            <p:ph type="body" idx="1"/>
          </p:nvPr>
        </p:nvSpPr>
        <p:spPr>
          <a:xfrm>
            <a:off x="304800" y="1371600"/>
            <a:ext cx="8382000" cy="4419600"/>
          </a:xfrm>
        </p:spPr>
        <p:txBody>
          <a:bodyPr/>
          <a:lstStyle/>
          <a:p>
            <a:pPr eaLnBrk="1" hangingPunct="1"/>
            <a:r>
              <a:rPr lang="zh-CN" altLang="en-US" sz="2800" b="1" dirty="0">
                <a:ea typeface="宋体" panose="02010600030101010101" pitchFamily="2" charset="-122"/>
              </a:rPr>
              <a:t>内聚</a:t>
            </a:r>
            <a:endParaRPr lang="en-US" altLang="zh-CN" sz="2800" b="1" dirty="0">
              <a:ea typeface="宋体" panose="02010600030101010101" pitchFamily="2" charset="-122"/>
            </a:endParaRPr>
          </a:p>
          <a:p>
            <a:pPr eaLnBrk="1" hangingPunct="1">
              <a:lnSpc>
                <a:spcPct val="125000"/>
              </a:lnSpc>
              <a:spcBef>
                <a:spcPct val="0"/>
              </a:spcBef>
            </a:pPr>
            <a:r>
              <a:rPr lang="zh-CN" altLang="en-US" sz="2400" dirty="0">
                <a:solidFill>
                  <a:srgbClr val="C00000"/>
                </a:solidFill>
                <a:ea typeface="宋体" panose="02010600030101010101" pitchFamily="2" charset="-122"/>
              </a:rPr>
              <a:t>内聚衡量一个模块内部各个元素彼此结合的紧密程度</a:t>
            </a:r>
            <a:r>
              <a:rPr lang="zh-CN" altLang="en-US" sz="2400" dirty="0">
                <a:ea typeface="宋体" panose="02010600030101010101" pitchFamily="2" charset="-122"/>
              </a:rPr>
              <a:t>，它是信息隐藏和局部化概念的自然扩展。简单地说，理想内聚的模块只做一件事情。</a:t>
            </a:r>
          </a:p>
          <a:p>
            <a:pPr eaLnBrk="1" hangingPunct="1">
              <a:lnSpc>
                <a:spcPct val="125000"/>
              </a:lnSpc>
              <a:spcBef>
                <a:spcPct val="0"/>
              </a:spcBef>
            </a:pPr>
            <a:r>
              <a:rPr lang="zh-CN" altLang="en-US" sz="2400" dirty="0">
                <a:ea typeface="宋体" panose="02010600030101010101" pitchFamily="2" charset="-122"/>
              </a:rPr>
              <a:t>内聚和耦合是密切相关的，模块内的高内聚往往意味着模块间的松耦合。</a:t>
            </a:r>
          </a:p>
          <a:p>
            <a:pPr eaLnBrk="1" hangingPunct="1">
              <a:lnSpc>
                <a:spcPct val="125000"/>
              </a:lnSpc>
              <a:spcBef>
                <a:spcPct val="0"/>
              </a:spcBef>
            </a:pPr>
            <a:r>
              <a:rPr lang="zh-CN" altLang="en-US" sz="2400" dirty="0">
                <a:ea typeface="宋体" panose="02010600030101010101" pitchFamily="2" charset="-122"/>
              </a:rPr>
              <a:t>内聚分为三大类</a:t>
            </a:r>
            <a:r>
              <a:rPr lang="zh-CN" altLang="en-US" sz="2400" dirty="0">
                <a:solidFill>
                  <a:srgbClr val="C00000"/>
                </a:solidFill>
                <a:ea typeface="宋体" panose="02010600030101010101" pitchFamily="2" charset="-122"/>
              </a:rPr>
              <a:t>低内聚、中内聚和高内聚</a:t>
            </a:r>
          </a:p>
          <a:p>
            <a:pPr eaLnBrk="1" hangingPunct="1"/>
            <a:endParaRPr lang="en-US" altLang="zh-CN" sz="2800" b="1" dirty="0">
              <a:ea typeface="宋体" panose="02010600030101010101" pitchFamily="2" charset="-122"/>
            </a:endParaRPr>
          </a:p>
        </p:txBody>
      </p:sp>
      <p:sp>
        <p:nvSpPr>
          <p:cNvPr id="5" name="Line 32">
            <a:extLst>
              <a:ext uri="{FF2B5EF4-FFF2-40B4-BE49-F238E27FC236}">
                <a16:creationId xmlns:a16="http://schemas.microsoft.com/office/drawing/2014/main" id="{EEF765D2-1FD7-4FC2-99EC-80EA074B3FD4}"/>
              </a:ext>
            </a:extLst>
          </p:cNvPr>
          <p:cNvSpPr>
            <a:spLocks noChangeShapeType="1"/>
          </p:cNvSpPr>
          <p:nvPr/>
        </p:nvSpPr>
        <p:spPr bwMode="auto">
          <a:xfrm>
            <a:off x="3086100" y="4953000"/>
            <a:ext cx="2819400" cy="0"/>
          </a:xfrm>
          <a:prstGeom prst="line">
            <a:avLst/>
          </a:prstGeom>
          <a:noFill/>
          <a:ln w="19050">
            <a:solidFill>
              <a:srgbClr val="538E3E"/>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6" name="Text Box 33">
            <a:extLst>
              <a:ext uri="{FF2B5EF4-FFF2-40B4-BE49-F238E27FC236}">
                <a16:creationId xmlns:a16="http://schemas.microsoft.com/office/drawing/2014/main" id="{A5DFA3C4-6CB8-4487-BA4E-BF3B7EEAE385}"/>
              </a:ext>
            </a:extLst>
          </p:cNvPr>
          <p:cNvSpPr txBox="1">
            <a:spLocks noChangeArrowheads="1"/>
          </p:cNvSpPr>
          <p:nvPr/>
        </p:nvSpPr>
        <p:spPr bwMode="auto">
          <a:xfrm>
            <a:off x="6616700" y="4854575"/>
            <a:ext cx="3619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400">
                <a:solidFill>
                  <a:srgbClr val="5C22EC"/>
                </a:solidFill>
                <a:ea typeface="幼圆" panose="02010509060101010101" pitchFamily="49" charset="-122"/>
              </a:rPr>
              <a:t>低</a:t>
            </a:r>
          </a:p>
        </p:txBody>
      </p:sp>
      <p:graphicFrame>
        <p:nvGraphicFramePr>
          <p:cNvPr id="7" name="Group 62">
            <a:extLst>
              <a:ext uri="{FF2B5EF4-FFF2-40B4-BE49-F238E27FC236}">
                <a16:creationId xmlns:a16="http://schemas.microsoft.com/office/drawing/2014/main" id="{872E6725-D719-4135-9DD7-9E7C7615F2E8}"/>
              </a:ext>
            </a:extLst>
          </p:cNvPr>
          <p:cNvGraphicFramePr>
            <a:graphicFrameLocks noGrp="1"/>
          </p:cNvGraphicFramePr>
          <p:nvPr>
            <p:extLst>
              <p:ext uri="{D42A27DB-BD31-4B8C-83A1-F6EECF244321}">
                <p14:modId xmlns:p14="http://schemas.microsoft.com/office/powerpoint/2010/main" val="921243151"/>
              </p:ext>
            </p:extLst>
          </p:nvPr>
        </p:nvGraphicFramePr>
        <p:xfrm>
          <a:off x="2019300" y="5181600"/>
          <a:ext cx="5105400" cy="609600"/>
        </p:xfrm>
        <a:graphic>
          <a:graphicData uri="http://schemas.openxmlformats.org/drawingml/2006/table">
            <a:tbl>
              <a:tblPr/>
              <a:tblGrid>
                <a:gridCol w="825500">
                  <a:extLst>
                    <a:ext uri="{9D8B030D-6E8A-4147-A177-3AD203B41FA5}">
                      <a16:colId xmlns:a16="http://schemas.microsoft.com/office/drawing/2014/main" val="20000"/>
                    </a:ext>
                  </a:extLst>
                </a:gridCol>
                <a:gridCol w="698500">
                  <a:extLst>
                    <a:ext uri="{9D8B030D-6E8A-4147-A177-3AD203B41FA5}">
                      <a16:colId xmlns:a16="http://schemas.microsoft.com/office/drawing/2014/main" val="20001"/>
                    </a:ext>
                  </a:extLst>
                </a:gridCol>
                <a:gridCol w="698500">
                  <a:extLst>
                    <a:ext uri="{9D8B030D-6E8A-4147-A177-3AD203B41FA5}">
                      <a16:colId xmlns:a16="http://schemas.microsoft.com/office/drawing/2014/main" val="20002"/>
                    </a:ext>
                  </a:extLst>
                </a:gridCol>
                <a:gridCol w="698500">
                  <a:extLst>
                    <a:ext uri="{9D8B030D-6E8A-4147-A177-3AD203B41FA5}">
                      <a16:colId xmlns:a16="http://schemas.microsoft.com/office/drawing/2014/main" val="20003"/>
                    </a:ext>
                  </a:extLst>
                </a:gridCol>
                <a:gridCol w="698500">
                  <a:extLst>
                    <a:ext uri="{9D8B030D-6E8A-4147-A177-3AD203B41FA5}">
                      <a16:colId xmlns:a16="http://schemas.microsoft.com/office/drawing/2014/main" val="20004"/>
                    </a:ext>
                  </a:extLst>
                </a:gridCol>
                <a:gridCol w="635000">
                  <a:extLst>
                    <a:ext uri="{9D8B030D-6E8A-4147-A177-3AD203B41FA5}">
                      <a16:colId xmlns:a16="http://schemas.microsoft.com/office/drawing/2014/main" val="20005"/>
                    </a:ext>
                  </a:extLst>
                </a:gridCol>
                <a:gridCol w="850900">
                  <a:extLst>
                    <a:ext uri="{9D8B030D-6E8A-4147-A177-3AD203B41FA5}">
                      <a16:colId xmlns:a16="http://schemas.microsoft.com/office/drawing/2014/main" val="20006"/>
                    </a:ext>
                  </a:extLst>
                </a:gridCol>
              </a:tblGrid>
              <a:tr h="609600">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400" b="0" i="0" u="none" strike="noStrike" cap="none" normalizeH="0" baseline="0">
                          <a:ln>
                            <a:noFill/>
                          </a:ln>
                          <a:solidFill>
                            <a:schemeClr val="bg1"/>
                          </a:solidFill>
                          <a:effectLst/>
                          <a:latin typeface="Times New Roman" charset="0"/>
                          <a:ea typeface="幼圆" pitchFamily="49" charset="-122"/>
                        </a:rPr>
                        <a:t>功能</a:t>
                      </a:r>
                    </a:p>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400" b="0" i="0" u="none" strike="noStrike" cap="none" normalizeH="0" baseline="0">
                          <a:ln>
                            <a:noFill/>
                          </a:ln>
                          <a:solidFill>
                            <a:schemeClr val="bg1"/>
                          </a:solidFill>
                          <a:effectLst/>
                          <a:latin typeface="Times New Roman" charset="0"/>
                          <a:ea typeface="幼圆" pitchFamily="49" charset="-122"/>
                        </a:rPr>
                        <a:t>内聚</a:t>
                      </a:r>
                    </a:p>
                  </a:txBody>
                  <a:tcPr anchor="ctr" horzOverflow="overflow">
                    <a:lnL w="12700" cap="flat" cmpd="sng" algn="ctr">
                      <a:solidFill>
                        <a:srgbClr val="8736E8"/>
                      </a:solidFill>
                      <a:prstDash val="solid"/>
                      <a:round/>
                      <a:headEnd type="none" w="med" len="med"/>
                      <a:tailEnd type="none" w="med" len="med"/>
                    </a:lnL>
                    <a:lnR w="12700" cap="flat" cmpd="sng" algn="ctr">
                      <a:solidFill>
                        <a:srgbClr val="8736E8"/>
                      </a:solidFill>
                      <a:prstDash val="solid"/>
                      <a:round/>
                      <a:headEnd type="none" w="med" len="med"/>
                      <a:tailEnd type="none" w="med" len="med"/>
                    </a:lnR>
                    <a:lnT w="12700" cap="flat" cmpd="sng" algn="ctr">
                      <a:solidFill>
                        <a:srgbClr val="8736E8"/>
                      </a:solidFill>
                      <a:prstDash val="solid"/>
                      <a:round/>
                      <a:headEnd type="none" w="med" len="med"/>
                      <a:tailEnd type="none" w="med" len="med"/>
                    </a:lnT>
                    <a:lnB w="12700" cap="flat" cmpd="sng" algn="ctr">
                      <a:solidFill>
                        <a:srgbClr val="8736E8"/>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400" b="0" i="0" u="none" strike="noStrike" cap="none" normalizeH="0" baseline="0">
                          <a:ln>
                            <a:noFill/>
                          </a:ln>
                          <a:solidFill>
                            <a:srgbClr val="538E3E"/>
                          </a:solidFill>
                          <a:effectLst/>
                          <a:latin typeface="Times New Roman" charset="0"/>
                          <a:ea typeface="幼圆" pitchFamily="49" charset="-122"/>
                        </a:rPr>
                        <a:t>信息</a:t>
                      </a:r>
                    </a:p>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400" b="0" i="0" u="none" strike="noStrike" cap="none" normalizeH="0" baseline="0">
                          <a:ln>
                            <a:noFill/>
                          </a:ln>
                          <a:solidFill>
                            <a:srgbClr val="538E3E"/>
                          </a:solidFill>
                          <a:effectLst/>
                          <a:latin typeface="Times New Roman" charset="0"/>
                          <a:ea typeface="幼圆" pitchFamily="49" charset="-122"/>
                        </a:rPr>
                        <a:t>内聚</a:t>
                      </a:r>
                    </a:p>
                  </a:txBody>
                  <a:tcPr anchor="ctr" horzOverflow="overflow">
                    <a:lnL w="12700" cap="flat" cmpd="sng" algn="ctr">
                      <a:solidFill>
                        <a:srgbClr val="8736E8"/>
                      </a:solidFill>
                      <a:prstDash val="solid"/>
                      <a:round/>
                      <a:headEnd type="none" w="med" len="med"/>
                      <a:tailEnd type="none" w="med" len="med"/>
                    </a:lnL>
                    <a:lnR w="12700" cap="flat" cmpd="sng" algn="ctr">
                      <a:solidFill>
                        <a:srgbClr val="8736E8"/>
                      </a:solidFill>
                      <a:prstDash val="solid"/>
                      <a:round/>
                      <a:headEnd type="none" w="med" len="med"/>
                      <a:tailEnd type="none" w="med" len="med"/>
                    </a:lnR>
                    <a:lnT w="12700" cap="flat" cmpd="sng" algn="ctr">
                      <a:solidFill>
                        <a:srgbClr val="8736E8"/>
                      </a:solidFill>
                      <a:prstDash val="solid"/>
                      <a:round/>
                      <a:headEnd type="none" w="med" len="med"/>
                      <a:tailEnd type="none" w="med" len="med"/>
                    </a:lnT>
                    <a:lnB w="12700" cap="flat" cmpd="sng" algn="ctr">
                      <a:solidFill>
                        <a:srgbClr val="8736E8"/>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400" b="0" i="0" u="none" strike="noStrike" cap="none" normalizeH="0" baseline="0">
                          <a:ln>
                            <a:noFill/>
                          </a:ln>
                          <a:solidFill>
                            <a:srgbClr val="538E3E"/>
                          </a:solidFill>
                          <a:effectLst/>
                          <a:latin typeface="Times New Roman" charset="0"/>
                          <a:ea typeface="幼圆" pitchFamily="49" charset="-122"/>
                        </a:rPr>
                        <a:t>通信</a:t>
                      </a:r>
                    </a:p>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400" b="0" i="0" u="none" strike="noStrike" cap="none" normalizeH="0" baseline="0">
                          <a:ln>
                            <a:noFill/>
                          </a:ln>
                          <a:solidFill>
                            <a:srgbClr val="538E3E"/>
                          </a:solidFill>
                          <a:effectLst/>
                          <a:latin typeface="Times New Roman" charset="0"/>
                          <a:ea typeface="幼圆" pitchFamily="49" charset="-122"/>
                        </a:rPr>
                        <a:t>内聚</a:t>
                      </a:r>
                    </a:p>
                  </a:txBody>
                  <a:tcPr anchor="ctr" horzOverflow="overflow">
                    <a:lnL w="12700" cap="flat" cmpd="sng" algn="ctr">
                      <a:solidFill>
                        <a:srgbClr val="8736E8"/>
                      </a:solidFill>
                      <a:prstDash val="solid"/>
                      <a:round/>
                      <a:headEnd type="none" w="med" len="med"/>
                      <a:tailEnd type="none" w="med" len="med"/>
                    </a:lnL>
                    <a:lnR w="12700" cap="flat" cmpd="sng" algn="ctr">
                      <a:solidFill>
                        <a:srgbClr val="8736E8"/>
                      </a:solidFill>
                      <a:prstDash val="solid"/>
                      <a:round/>
                      <a:headEnd type="none" w="med" len="med"/>
                      <a:tailEnd type="none" w="med" len="med"/>
                    </a:lnR>
                    <a:lnT w="12700" cap="flat" cmpd="sng" algn="ctr">
                      <a:solidFill>
                        <a:srgbClr val="8736E8"/>
                      </a:solidFill>
                      <a:prstDash val="solid"/>
                      <a:round/>
                      <a:headEnd type="none" w="med" len="med"/>
                      <a:tailEnd type="none" w="med" len="med"/>
                    </a:lnT>
                    <a:lnB w="12700" cap="flat" cmpd="sng" algn="ctr">
                      <a:solidFill>
                        <a:srgbClr val="8736E8"/>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400" b="0" i="0" u="none" strike="noStrike" cap="none" normalizeH="0" baseline="0">
                          <a:ln>
                            <a:noFill/>
                          </a:ln>
                          <a:solidFill>
                            <a:srgbClr val="538E3E"/>
                          </a:solidFill>
                          <a:effectLst/>
                          <a:latin typeface="Times New Roman" charset="0"/>
                          <a:ea typeface="幼圆" pitchFamily="49" charset="-122"/>
                        </a:rPr>
                        <a:t>过程</a:t>
                      </a:r>
                    </a:p>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400" b="0" i="0" u="none" strike="noStrike" cap="none" normalizeH="0" baseline="0">
                          <a:ln>
                            <a:noFill/>
                          </a:ln>
                          <a:solidFill>
                            <a:srgbClr val="538E3E"/>
                          </a:solidFill>
                          <a:effectLst/>
                          <a:latin typeface="Times New Roman" charset="0"/>
                          <a:ea typeface="幼圆" pitchFamily="49" charset="-122"/>
                        </a:rPr>
                        <a:t>内聚</a:t>
                      </a:r>
                    </a:p>
                  </a:txBody>
                  <a:tcPr anchor="ctr" horzOverflow="overflow">
                    <a:lnL w="12700" cap="flat" cmpd="sng" algn="ctr">
                      <a:solidFill>
                        <a:srgbClr val="8736E8"/>
                      </a:solidFill>
                      <a:prstDash val="solid"/>
                      <a:round/>
                      <a:headEnd type="none" w="med" len="med"/>
                      <a:tailEnd type="none" w="med" len="med"/>
                    </a:lnL>
                    <a:lnR w="12700" cap="flat" cmpd="sng" algn="ctr">
                      <a:solidFill>
                        <a:srgbClr val="8736E8"/>
                      </a:solidFill>
                      <a:prstDash val="solid"/>
                      <a:round/>
                      <a:headEnd type="none" w="med" len="med"/>
                      <a:tailEnd type="none" w="med" len="med"/>
                    </a:lnR>
                    <a:lnT w="12700" cap="flat" cmpd="sng" algn="ctr">
                      <a:solidFill>
                        <a:srgbClr val="8736E8"/>
                      </a:solidFill>
                      <a:prstDash val="solid"/>
                      <a:round/>
                      <a:headEnd type="none" w="med" len="med"/>
                      <a:tailEnd type="none" w="med" len="med"/>
                    </a:lnT>
                    <a:lnB w="12700" cap="flat" cmpd="sng" algn="ctr">
                      <a:solidFill>
                        <a:srgbClr val="8736E8"/>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400" b="0" i="0" u="none" strike="noStrike" cap="none" normalizeH="0" baseline="0">
                          <a:ln>
                            <a:noFill/>
                          </a:ln>
                          <a:solidFill>
                            <a:srgbClr val="538E3E"/>
                          </a:solidFill>
                          <a:effectLst/>
                          <a:latin typeface="Times New Roman" charset="0"/>
                          <a:ea typeface="幼圆" pitchFamily="49" charset="-122"/>
                        </a:rPr>
                        <a:t>时间</a:t>
                      </a:r>
                    </a:p>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400" b="0" i="0" u="none" strike="noStrike" cap="none" normalizeH="0" baseline="0">
                          <a:ln>
                            <a:noFill/>
                          </a:ln>
                          <a:solidFill>
                            <a:srgbClr val="538E3E"/>
                          </a:solidFill>
                          <a:effectLst/>
                          <a:latin typeface="Times New Roman" charset="0"/>
                          <a:ea typeface="幼圆" pitchFamily="49" charset="-122"/>
                        </a:rPr>
                        <a:t>内聚</a:t>
                      </a:r>
                    </a:p>
                  </a:txBody>
                  <a:tcPr anchor="ctr" horzOverflow="overflow">
                    <a:lnL w="12700" cap="flat" cmpd="sng" algn="ctr">
                      <a:solidFill>
                        <a:srgbClr val="8736E8"/>
                      </a:solidFill>
                      <a:prstDash val="solid"/>
                      <a:round/>
                      <a:headEnd type="none" w="med" len="med"/>
                      <a:tailEnd type="none" w="med" len="med"/>
                    </a:lnL>
                    <a:lnR w="12700" cap="flat" cmpd="sng" algn="ctr">
                      <a:solidFill>
                        <a:srgbClr val="8736E8"/>
                      </a:solidFill>
                      <a:prstDash val="solid"/>
                      <a:round/>
                      <a:headEnd type="none" w="med" len="med"/>
                      <a:tailEnd type="none" w="med" len="med"/>
                    </a:lnR>
                    <a:lnT w="12700" cap="flat" cmpd="sng" algn="ctr">
                      <a:solidFill>
                        <a:srgbClr val="8736E8"/>
                      </a:solidFill>
                      <a:prstDash val="solid"/>
                      <a:round/>
                      <a:headEnd type="none" w="med" len="med"/>
                      <a:tailEnd type="none" w="med" len="med"/>
                    </a:lnT>
                    <a:lnB w="12700" cap="flat" cmpd="sng" algn="ctr">
                      <a:solidFill>
                        <a:srgbClr val="8736E8"/>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400" b="0" i="0" u="none" strike="noStrike" cap="none" normalizeH="0" baseline="0">
                          <a:ln>
                            <a:noFill/>
                          </a:ln>
                          <a:solidFill>
                            <a:srgbClr val="538E3E"/>
                          </a:solidFill>
                          <a:effectLst/>
                          <a:latin typeface="Times New Roman" charset="0"/>
                          <a:ea typeface="幼圆" pitchFamily="49" charset="-122"/>
                        </a:rPr>
                        <a:t>逻辑</a:t>
                      </a:r>
                    </a:p>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400" b="0" i="0" u="none" strike="noStrike" cap="none" normalizeH="0" baseline="0">
                          <a:ln>
                            <a:noFill/>
                          </a:ln>
                          <a:solidFill>
                            <a:srgbClr val="538E3E"/>
                          </a:solidFill>
                          <a:effectLst/>
                          <a:latin typeface="Times New Roman" charset="0"/>
                          <a:ea typeface="幼圆" pitchFamily="49" charset="-122"/>
                        </a:rPr>
                        <a:t>内聚</a:t>
                      </a:r>
                    </a:p>
                  </a:txBody>
                  <a:tcPr anchor="ctr" horzOverflow="overflow">
                    <a:lnL w="12700" cap="flat" cmpd="sng" algn="ctr">
                      <a:solidFill>
                        <a:srgbClr val="8736E8"/>
                      </a:solidFill>
                      <a:prstDash val="solid"/>
                      <a:round/>
                      <a:headEnd type="none" w="med" len="med"/>
                      <a:tailEnd type="none" w="med" len="med"/>
                    </a:lnL>
                    <a:lnR w="12700" cap="flat" cmpd="sng" algn="ctr">
                      <a:solidFill>
                        <a:srgbClr val="8736E8"/>
                      </a:solidFill>
                      <a:prstDash val="solid"/>
                      <a:round/>
                      <a:headEnd type="none" w="med" len="med"/>
                      <a:tailEnd type="none" w="med" len="med"/>
                    </a:lnR>
                    <a:lnT w="12700" cap="flat" cmpd="sng" algn="ctr">
                      <a:solidFill>
                        <a:srgbClr val="8736E8"/>
                      </a:solidFill>
                      <a:prstDash val="solid"/>
                      <a:round/>
                      <a:headEnd type="none" w="med" len="med"/>
                      <a:tailEnd type="none" w="med" len="med"/>
                    </a:lnT>
                    <a:lnB w="12700" cap="flat" cmpd="sng" algn="ctr">
                      <a:solidFill>
                        <a:srgbClr val="8736E8"/>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zh-CN" altLang="en-US" sz="1400" b="0" i="0" u="none" strike="noStrike" cap="none" normalizeH="0" baseline="0" dirty="0">
                          <a:ln>
                            <a:noFill/>
                          </a:ln>
                          <a:solidFill>
                            <a:srgbClr val="538E3E"/>
                          </a:solidFill>
                          <a:effectLst/>
                          <a:latin typeface="Times New Roman" charset="0"/>
                          <a:ea typeface="幼圆" pitchFamily="49" charset="-122"/>
                        </a:rPr>
                        <a:t>巧合性内聚</a:t>
                      </a:r>
                    </a:p>
                  </a:txBody>
                  <a:tcPr anchor="ctr" horzOverflow="overflow">
                    <a:lnL w="12700" cap="flat" cmpd="sng" algn="ctr">
                      <a:solidFill>
                        <a:srgbClr val="8736E8"/>
                      </a:solidFill>
                      <a:prstDash val="solid"/>
                      <a:round/>
                      <a:headEnd type="none" w="med" len="med"/>
                      <a:tailEnd type="none" w="med" len="med"/>
                    </a:lnL>
                    <a:lnR w="12700" cap="flat" cmpd="sng" algn="ctr">
                      <a:solidFill>
                        <a:srgbClr val="8736E8"/>
                      </a:solidFill>
                      <a:prstDash val="solid"/>
                      <a:round/>
                      <a:headEnd type="none" w="med" len="med"/>
                      <a:tailEnd type="none" w="med" len="med"/>
                    </a:lnR>
                    <a:lnT w="12700" cap="flat" cmpd="sng" algn="ctr">
                      <a:solidFill>
                        <a:srgbClr val="8736E8"/>
                      </a:solidFill>
                      <a:prstDash val="solid"/>
                      <a:round/>
                      <a:headEnd type="none" w="med" len="med"/>
                      <a:tailEnd type="none" w="med" len="med"/>
                    </a:lnT>
                    <a:lnB w="12700" cap="flat" cmpd="sng" algn="ctr">
                      <a:solidFill>
                        <a:srgbClr val="8736E8"/>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8" name="Text Box 52">
            <a:extLst>
              <a:ext uri="{FF2B5EF4-FFF2-40B4-BE49-F238E27FC236}">
                <a16:creationId xmlns:a16="http://schemas.microsoft.com/office/drawing/2014/main" id="{C72D54E6-DA6A-473F-A9BA-D2E7CC52F24C}"/>
              </a:ext>
            </a:extLst>
          </p:cNvPr>
          <p:cNvSpPr txBox="1">
            <a:spLocks noChangeArrowheads="1"/>
          </p:cNvSpPr>
          <p:nvPr/>
        </p:nvSpPr>
        <p:spPr bwMode="auto">
          <a:xfrm>
            <a:off x="2171700" y="4876800"/>
            <a:ext cx="406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400">
                <a:solidFill>
                  <a:srgbClr val="5C22EC"/>
                </a:solidFill>
                <a:ea typeface="幼圆" panose="02010509060101010101" pitchFamily="49" charset="-122"/>
              </a:rPr>
              <a:t> 高</a:t>
            </a:r>
          </a:p>
        </p:txBody>
      </p:sp>
      <p:sp>
        <p:nvSpPr>
          <p:cNvPr id="9" name="Text Box 53">
            <a:extLst>
              <a:ext uri="{FF2B5EF4-FFF2-40B4-BE49-F238E27FC236}">
                <a16:creationId xmlns:a16="http://schemas.microsoft.com/office/drawing/2014/main" id="{ECEF7A8E-3BA1-4E1C-A850-ED916ADA98D4}"/>
              </a:ext>
            </a:extLst>
          </p:cNvPr>
          <p:cNvSpPr txBox="1">
            <a:spLocks noChangeArrowheads="1"/>
          </p:cNvSpPr>
          <p:nvPr/>
        </p:nvSpPr>
        <p:spPr bwMode="auto">
          <a:xfrm>
            <a:off x="2247900" y="5791200"/>
            <a:ext cx="3619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400">
                <a:solidFill>
                  <a:srgbClr val="5C22EC"/>
                </a:solidFill>
                <a:ea typeface="幼圆" panose="02010509060101010101" pitchFamily="49" charset="-122"/>
              </a:rPr>
              <a:t>强</a:t>
            </a:r>
          </a:p>
        </p:txBody>
      </p:sp>
      <p:sp>
        <p:nvSpPr>
          <p:cNvPr id="10" name="Text Box 54">
            <a:extLst>
              <a:ext uri="{FF2B5EF4-FFF2-40B4-BE49-F238E27FC236}">
                <a16:creationId xmlns:a16="http://schemas.microsoft.com/office/drawing/2014/main" id="{F2D91385-8D62-4508-A9F4-7BAD585C7868}"/>
              </a:ext>
            </a:extLst>
          </p:cNvPr>
          <p:cNvSpPr txBox="1">
            <a:spLocks noChangeArrowheads="1"/>
          </p:cNvSpPr>
          <p:nvPr/>
        </p:nvSpPr>
        <p:spPr bwMode="auto">
          <a:xfrm>
            <a:off x="6616700" y="5845175"/>
            <a:ext cx="3619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400">
                <a:solidFill>
                  <a:srgbClr val="5C22EC"/>
                </a:solidFill>
                <a:ea typeface="幼圆" panose="02010509060101010101" pitchFamily="49" charset="-122"/>
              </a:rPr>
              <a:t>弱</a:t>
            </a:r>
          </a:p>
        </p:txBody>
      </p:sp>
      <p:sp>
        <p:nvSpPr>
          <p:cNvPr id="11" name="Text Box 55">
            <a:extLst>
              <a:ext uri="{FF2B5EF4-FFF2-40B4-BE49-F238E27FC236}">
                <a16:creationId xmlns:a16="http://schemas.microsoft.com/office/drawing/2014/main" id="{68697AF6-DD66-49ED-972B-5F4BEBDF2DAA}"/>
              </a:ext>
            </a:extLst>
          </p:cNvPr>
          <p:cNvSpPr txBox="1">
            <a:spLocks noChangeArrowheads="1"/>
          </p:cNvSpPr>
          <p:nvPr/>
        </p:nvSpPr>
        <p:spPr bwMode="auto">
          <a:xfrm>
            <a:off x="4038600" y="4764088"/>
            <a:ext cx="952500" cy="304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pPr eaLnBrk="1" hangingPunct="1">
              <a:spcBef>
                <a:spcPct val="20000"/>
              </a:spcBef>
              <a:buClr>
                <a:schemeClr val="accent1"/>
              </a:buClr>
              <a:buSzPct val="90000"/>
              <a:buFont typeface="Monotype Sorts" pitchFamily="2" charset="2"/>
              <a:buNone/>
            </a:pPr>
            <a:r>
              <a:rPr kumimoji="1" lang="zh-CN" altLang="en-US" sz="1400">
                <a:solidFill>
                  <a:srgbClr val="538E3E"/>
                </a:solidFill>
                <a:ea typeface="幼圆" panose="02010509060101010101" pitchFamily="49" charset="-122"/>
              </a:rPr>
              <a:t> </a:t>
            </a:r>
            <a:r>
              <a:rPr kumimoji="1" lang="zh-CN" altLang="en-US" sz="1400">
                <a:solidFill>
                  <a:srgbClr val="CC00FF"/>
                </a:solidFill>
                <a:ea typeface="幼圆" panose="02010509060101010101" pitchFamily="49" charset="-122"/>
              </a:rPr>
              <a:t>内聚</a:t>
            </a:r>
            <a:r>
              <a:rPr lang="zh-CN" altLang="en-US" sz="1400">
                <a:solidFill>
                  <a:srgbClr val="CC00FF"/>
                </a:solidFill>
                <a:ea typeface="幼圆" panose="02010509060101010101" pitchFamily="49" charset="-122"/>
              </a:rPr>
              <a:t>性</a:t>
            </a:r>
          </a:p>
        </p:txBody>
      </p:sp>
      <p:sp>
        <p:nvSpPr>
          <p:cNvPr id="12" name="Line 56">
            <a:extLst>
              <a:ext uri="{FF2B5EF4-FFF2-40B4-BE49-F238E27FC236}">
                <a16:creationId xmlns:a16="http://schemas.microsoft.com/office/drawing/2014/main" id="{098C1431-211F-425C-92D1-26AE97E5F6E8}"/>
              </a:ext>
            </a:extLst>
          </p:cNvPr>
          <p:cNvSpPr>
            <a:spLocks noChangeShapeType="1"/>
          </p:cNvSpPr>
          <p:nvPr/>
        </p:nvSpPr>
        <p:spPr bwMode="auto">
          <a:xfrm>
            <a:off x="3086100" y="6019800"/>
            <a:ext cx="2819400" cy="0"/>
          </a:xfrm>
          <a:prstGeom prst="line">
            <a:avLst/>
          </a:prstGeom>
          <a:noFill/>
          <a:ln w="19050">
            <a:solidFill>
              <a:srgbClr val="538E3E"/>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3" name="Text Box 57">
            <a:extLst>
              <a:ext uri="{FF2B5EF4-FFF2-40B4-BE49-F238E27FC236}">
                <a16:creationId xmlns:a16="http://schemas.microsoft.com/office/drawing/2014/main" id="{312483CC-5980-4FE1-B0A4-5C35D03A7556}"/>
              </a:ext>
            </a:extLst>
          </p:cNvPr>
          <p:cNvSpPr txBox="1">
            <a:spLocks noChangeArrowheads="1"/>
          </p:cNvSpPr>
          <p:nvPr/>
        </p:nvSpPr>
        <p:spPr bwMode="auto">
          <a:xfrm>
            <a:off x="3924300" y="5867400"/>
            <a:ext cx="1073150" cy="304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400">
                <a:solidFill>
                  <a:srgbClr val="5C22EC"/>
                </a:solidFill>
                <a:ea typeface="幼圆" panose="02010509060101010101" pitchFamily="49" charset="-122"/>
              </a:rPr>
              <a:t>模块独立性</a:t>
            </a:r>
          </a:p>
        </p:txBody>
      </p:sp>
    </p:spTree>
    <p:extLst>
      <p:ext uri="{BB962C8B-B14F-4D97-AF65-F5344CB8AC3E}">
        <p14:creationId xmlns:p14="http://schemas.microsoft.com/office/powerpoint/2010/main" val="31016404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5">
            <a:extLst>
              <a:ext uri="{FF2B5EF4-FFF2-40B4-BE49-F238E27FC236}">
                <a16:creationId xmlns:a16="http://schemas.microsoft.com/office/drawing/2014/main" id="{BCB1B8A4-02A2-4AAF-9314-3F7AEAF6E6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69799E2-B99C-4EAE-8D85-3CB7B1E6B441}" type="slidenum">
              <a:rPr lang="en-US" altLang="en-US"/>
              <a:pPr eaLnBrk="1" hangingPunct="1"/>
              <a:t>18</a:t>
            </a:fld>
            <a:endParaRPr lang="en-US" altLang="en-US"/>
          </a:p>
        </p:txBody>
      </p:sp>
      <p:sp>
        <p:nvSpPr>
          <p:cNvPr id="9219" name="Rectangle 2">
            <a:extLst>
              <a:ext uri="{FF2B5EF4-FFF2-40B4-BE49-F238E27FC236}">
                <a16:creationId xmlns:a16="http://schemas.microsoft.com/office/drawing/2014/main" id="{2613ED5F-13D3-4D93-BBD3-15C1DAFD0014}"/>
              </a:ext>
            </a:extLst>
          </p:cNvPr>
          <p:cNvSpPr>
            <a:spLocks noGrp="1" noChangeArrowheads="1"/>
          </p:cNvSpPr>
          <p:nvPr>
            <p:ph type="title"/>
          </p:nvPr>
        </p:nvSpPr>
        <p:spPr>
          <a:xfrm>
            <a:off x="457200" y="122238"/>
            <a:ext cx="7543800" cy="1020762"/>
          </a:xfrm>
        </p:spPr>
        <p:txBody>
          <a:bodyPr/>
          <a:lstStyle/>
          <a:p>
            <a:pPr eaLnBrk="1" hangingPunct="1"/>
            <a:r>
              <a:rPr lang="zh-CN" altLang="en-US" sz="3600" dirty="0">
                <a:ea typeface="宋体" panose="02010600030101010101" pitchFamily="2" charset="-122"/>
              </a:rPr>
              <a:t>设计原理</a:t>
            </a:r>
            <a:endParaRPr lang="en-US" altLang="zh-CN" sz="3600" dirty="0">
              <a:ea typeface="宋体" panose="02010600030101010101" pitchFamily="2" charset="-122"/>
            </a:endParaRPr>
          </a:p>
        </p:txBody>
      </p:sp>
      <p:sp>
        <p:nvSpPr>
          <p:cNvPr id="9220" name="Rectangle 3">
            <a:extLst>
              <a:ext uri="{FF2B5EF4-FFF2-40B4-BE49-F238E27FC236}">
                <a16:creationId xmlns:a16="http://schemas.microsoft.com/office/drawing/2014/main" id="{F432533E-F133-439A-AB27-1EF55B029342}"/>
              </a:ext>
            </a:extLst>
          </p:cNvPr>
          <p:cNvSpPr>
            <a:spLocks noGrp="1" noChangeArrowheads="1"/>
          </p:cNvSpPr>
          <p:nvPr>
            <p:ph type="body" idx="1"/>
          </p:nvPr>
        </p:nvSpPr>
        <p:spPr>
          <a:xfrm>
            <a:off x="304800" y="1371600"/>
            <a:ext cx="8382000" cy="4419600"/>
          </a:xfrm>
        </p:spPr>
        <p:txBody>
          <a:bodyPr/>
          <a:lstStyle/>
          <a:p>
            <a:pPr eaLnBrk="1" hangingPunct="1"/>
            <a:r>
              <a:rPr lang="zh-CN" altLang="en-US" sz="2800" b="1" dirty="0">
                <a:ea typeface="宋体" panose="02010600030101010101" pitchFamily="2" charset="-122"/>
              </a:rPr>
              <a:t>内聚</a:t>
            </a:r>
            <a:endParaRPr lang="en-US" altLang="zh-CN" sz="2800" b="1" dirty="0">
              <a:ea typeface="宋体" panose="02010600030101010101" pitchFamily="2" charset="-122"/>
            </a:endParaRPr>
          </a:p>
          <a:p>
            <a:pPr eaLnBrk="1" hangingPunct="1"/>
            <a:endParaRPr lang="en-US" altLang="zh-CN" sz="2800" b="1" dirty="0">
              <a:ea typeface="宋体" panose="02010600030101010101" pitchFamily="2" charset="-122"/>
            </a:endParaRPr>
          </a:p>
        </p:txBody>
      </p:sp>
      <p:sp>
        <p:nvSpPr>
          <p:cNvPr id="23" name="TextBox 7">
            <a:extLst>
              <a:ext uri="{FF2B5EF4-FFF2-40B4-BE49-F238E27FC236}">
                <a16:creationId xmlns:a16="http://schemas.microsoft.com/office/drawing/2014/main" id="{8396E699-0C66-451A-9168-D5846DFCB507}"/>
              </a:ext>
            </a:extLst>
          </p:cNvPr>
          <p:cNvSpPr>
            <a:spLocks noChangeArrowheads="1"/>
          </p:cNvSpPr>
          <p:nvPr/>
        </p:nvSpPr>
        <p:spPr bwMode="auto">
          <a:xfrm>
            <a:off x="387350" y="1933575"/>
            <a:ext cx="8299450" cy="3295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ru-RU"/>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l"/>
            <a:r>
              <a:rPr lang="en-US" altLang="zh-CN" sz="2400" dirty="0">
                <a:solidFill>
                  <a:srgbClr val="C00000"/>
                </a:solidFill>
                <a:ea typeface="经典宋体简" charset="-122"/>
              </a:rPr>
              <a:t>【</a:t>
            </a:r>
            <a:r>
              <a:rPr lang="zh-CN" altLang="en-US" sz="2400" dirty="0">
                <a:solidFill>
                  <a:srgbClr val="C00000"/>
                </a:solidFill>
                <a:ea typeface="经典宋体简" charset="-122"/>
              </a:rPr>
              <a:t>低内聚</a:t>
            </a:r>
            <a:r>
              <a:rPr lang="en-US" altLang="zh-CN" sz="2400" dirty="0">
                <a:solidFill>
                  <a:srgbClr val="C00000"/>
                </a:solidFill>
                <a:ea typeface="经典宋体简" charset="-122"/>
              </a:rPr>
              <a:t>】</a:t>
            </a:r>
            <a:r>
              <a:rPr lang="zh-CN" altLang="en-US" sz="2400" dirty="0">
                <a:solidFill>
                  <a:srgbClr val="C00000"/>
                </a:solidFill>
                <a:ea typeface="经典宋体简" charset="-122"/>
              </a:rPr>
              <a:t>巧合性内聚：</a:t>
            </a:r>
            <a:r>
              <a:rPr lang="zh-CN" altLang="en-US" sz="2400" dirty="0">
                <a:ea typeface="经典宋体简" charset="-122"/>
              </a:rPr>
              <a:t>当模块内各部之间没有联系，或者即使有联系，这种联系也很松散。则称这种模块为巧合内聚模块。                      </a:t>
            </a:r>
          </a:p>
        </p:txBody>
      </p:sp>
      <p:grpSp>
        <p:nvGrpSpPr>
          <p:cNvPr id="6" name="Group 34">
            <a:extLst>
              <a:ext uri="{FF2B5EF4-FFF2-40B4-BE49-F238E27FC236}">
                <a16:creationId xmlns:a16="http://schemas.microsoft.com/office/drawing/2014/main" id="{B2D98A98-E182-4AFD-ADC1-B60D099E0FD3}"/>
              </a:ext>
            </a:extLst>
          </p:cNvPr>
          <p:cNvGrpSpPr>
            <a:grpSpLocks/>
          </p:cNvGrpSpPr>
          <p:nvPr/>
        </p:nvGrpSpPr>
        <p:grpSpPr bwMode="auto">
          <a:xfrm>
            <a:off x="3048000" y="3352800"/>
            <a:ext cx="2667000" cy="2667000"/>
            <a:chOff x="2256" y="2448"/>
            <a:chExt cx="1584" cy="1296"/>
          </a:xfrm>
        </p:grpSpPr>
        <p:sp>
          <p:nvSpPr>
            <p:cNvPr id="7" name="Rectangle 26">
              <a:extLst>
                <a:ext uri="{FF2B5EF4-FFF2-40B4-BE49-F238E27FC236}">
                  <a16:creationId xmlns:a16="http://schemas.microsoft.com/office/drawing/2014/main" id="{3BE9E477-E039-48EB-9A14-B95B4C241A5C}"/>
                </a:ext>
              </a:extLst>
            </p:cNvPr>
            <p:cNvSpPr>
              <a:spLocks noChangeArrowheads="1"/>
            </p:cNvSpPr>
            <p:nvPr/>
          </p:nvSpPr>
          <p:spPr bwMode="auto">
            <a:xfrm>
              <a:off x="2256" y="2928"/>
              <a:ext cx="1584" cy="816"/>
            </a:xfrm>
            <a:prstGeom prst="rect">
              <a:avLst/>
            </a:prstGeom>
            <a:solidFill>
              <a:schemeClr val="bg1"/>
            </a:solidFill>
            <a:ln w="9525">
              <a:solidFill>
                <a:schemeClr val="tx1"/>
              </a:solidFill>
              <a:miter lim="800000"/>
              <a:headEnd/>
              <a:tailEnd/>
            </a:ln>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400" b="1">
                  <a:solidFill>
                    <a:srgbClr val="046C36"/>
                  </a:solidFill>
                  <a:latin typeface="Arial" panose="020B0604020202020204" pitchFamily="34" charset="0"/>
                  <a:ea typeface="宋体" panose="02010600030101010101" pitchFamily="2" charset="-122"/>
                </a:rPr>
                <a:t>M   STORE RECN() TO N</a:t>
              </a:r>
            </a:p>
            <a:p>
              <a:r>
                <a:rPr lang="en-US" altLang="zh-CN" sz="1400" b="1">
                  <a:solidFill>
                    <a:srgbClr val="046C36"/>
                  </a:solidFill>
                  <a:latin typeface="Arial" panose="020B0604020202020204" pitchFamily="34" charset="0"/>
                  <a:ea typeface="宋体" panose="02010600030101010101" pitchFamily="2" charset="-122"/>
                </a:rPr>
                <a:t>       READ MASTRE FILE </a:t>
              </a:r>
            </a:p>
            <a:p>
              <a:r>
                <a:rPr lang="en-US" altLang="zh-CN" sz="1400" b="1">
                  <a:solidFill>
                    <a:srgbClr val="046C36"/>
                  </a:solidFill>
                  <a:latin typeface="Arial" panose="020B0604020202020204" pitchFamily="34" charset="0"/>
                  <a:ea typeface="宋体" panose="02010600030101010101" pitchFamily="2" charset="-122"/>
                </a:rPr>
                <a:t>ADD 1 TO X         </a:t>
              </a:r>
            </a:p>
            <a:p>
              <a:r>
                <a:rPr lang="en-US" altLang="zh-CN" sz="1400" b="1">
                  <a:solidFill>
                    <a:srgbClr val="046C36"/>
                  </a:solidFill>
                  <a:latin typeface="Arial" panose="020B0604020202020204" pitchFamily="34" charset="0"/>
                  <a:ea typeface="宋体" panose="02010600030101010101" pitchFamily="2" charset="-122"/>
                </a:rPr>
                <a:t>。。。  。。。    </a:t>
              </a:r>
            </a:p>
          </p:txBody>
        </p:sp>
        <p:sp>
          <p:nvSpPr>
            <p:cNvPr id="8" name="Rectangle 27">
              <a:extLst>
                <a:ext uri="{FF2B5EF4-FFF2-40B4-BE49-F238E27FC236}">
                  <a16:creationId xmlns:a16="http://schemas.microsoft.com/office/drawing/2014/main" id="{56D90B25-921F-4966-81EE-3EBE49769A0E}"/>
                </a:ext>
              </a:extLst>
            </p:cNvPr>
            <p:cNvSpPr>
              <a:spLocks noChangeArrowheads="1"/>
            </p:cNvSpPr>
            <p:nvPr/>
          </p:nvSpPr>
          <p:spPr bwMode="auto">
            <a:xfrm>
              <a:off x="2400" y="2448"/>
              <a:ext cx="384" cy="240"/>
            </a:xfrm>
            <a:prstGeom prst="rect">
              <a:avLst/>
            </a:prstGeom>
            <a:solidFill>
              <a:schemeClr val="bg1"/>
            </a:solidFill>
            <a:ln w="9525">
              <a:solidFill>
                <a:schemeClr val="tx1"/>
              </a:solidFill>
              <a:miter lim="800000"/>
              <a:headEnd/>
              <a:tailEnd/>
            </a:ln>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b="1">
                  <a:solidFill>
                    <a:srgbClr val="046C36"/>
                  </a:solidFill>
                  <a:ea typeface="宋体" panose="02010600030101010101" pitchFamily="2" charset="-122"/>
                </a:rPr>
                <a:t>A</a:t>
              </a:r>
            </a:p>
          </p:txBody>
        </p:sp>
        <p:sp>
          <p:nvSpPr>
            <p:cNvPr id="9" name="Rectangle 28">
              <a:extLst>
                <a:ext uri="{FF2B5EF4-FFF2-40B4-BE49-F238E27FC236}">
                  <a16:creationId xmlns:a16="http://schemas.microsoft.com/office/drawing/2014/main" id="{ABE7A85B-91B1-4BC6-9836-C7EA2DAB46D1}"/>
                </a:ext>
              </a:extLst>
            </p:cNvPr>
            <p:cNvSpPr>
              <a:spLocks noChangeArrowheads="1"/>
            </p:cNvSpPr>
            <p:nvPr/>
          </p:nvSpPr>
          <p:spPr bwMode="auto">
            <a:xfrm>
              <a:off x="2832" y="2448"/>
              <a:ext cx="384" cy="240"/>
            </a:xfrm>
            <a:prstGeom prst="rect">
              <a:avLst/>
            </a:prstGeom>
            <a:solidFill>
              <a:schemeClr val="bg1"/>
            </a:solidFill>
            <a:ln w="9525">
              <a:solidFill>
                <a:schemeClr val="tx1"/>
              </a:solidFill>
              <a:miter lim="800000"/>
              <a:headEnd/>
              <a:tailEnd/>
            </a:ln>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b="1">
                  <a:solidFill>
                    <a:srgbClr val="046C36"/>
                  </a:solidFill>
                  <a:ea typeface="宋体" panose="02010600030101010101" pitchFamily="2" charset="-122"/>
                </a:rPr>
                <a:t>B</a:t>
              </a:r>
            </a:p>
          </p:txBody>
        </p:sp>
        <p:sp>
          <p:nvSpPr>
            <p:cNvPr id="10" name="Rectangle 29">
              <a:extLst>
                <a:ext uri="{FF2B5EF4-FFF2-40B4-BE49-F238E27FC236}">
                  <a16:creationId xmlns:a16="http://schemas.microsoft.com/office/drawing/2014/main" id="{AA73527B-30AD-476C-B7A6-1E36C6CDC754}"/>
                </a:ext>
              </a:extLst>
            </p:cNvPr>
            <p:cNvSpPr>
              <a:spLocks noChangeArrowheads="1"/>
            </p:cNvSpPr>
            <p:nvPr/>
          </p:nvSpPr>
          <p:spPr bwMode="auto">
            <a:xfrm>
              <a:off x="3264" y="2448"/>
              <a:ext cx="384" cy="240"/>
            </a:xfrm>
            <a:prstGeom prst="rect">
              <a:avLst/>
            </a:prstGeom>
            <a:solidFill>
              <a:schemeClr val="bg1"/>
            </a:solidFill>
            <a:ln w="9525">
              <a:solidFill>
                <a:schemeClr val="tx1"/>
              </a:solidFill>
              <a:miter lim="800000"/>
              <a:headEnd/>
              <a:tailEnd/>
            </a:ln>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b="1">
                  <a:solidFill>
                    <a:srgbClr val="046C36"/>
                  </a:solidFill>
                  <a:ea typeface="宋体" panose="02010600030101010101" pitchFamily="2" charset="-122"/>
                </a:rPr>
                <a:t>C</a:t>
              </a:r>
            </a:p>
          </p:txBody>
        </p:sp>
        <p:sp>
          <p:nvSpPr>
            <p:cNvPr id="11" name="Line 30">
              <a:extLst>
                <a:ext uri="{FF2B5EF4-FFF2-40B4-BE49-F238E27FC236}">
                  <a16:creationId xmlns:a16="http://schemas.microsoft.com/office/drawing/2014/main" id="{5716817C-D986-4C09-B47D-9AE49ADCA7F2}"/>
                </a:ext>
              </a:extLst>
            </p:cNvPr>
            <p:cNvSpPr>
              <a:spLocks noChangeShapeType="1"/>
            </p:cNvSpPr>
            <p:nvPr/>
          </p:nvSpPr>
          <p:spPr bwMode="auto">
            <a:xfrm>
              <a:off x="3024" y="2688"/>
              <a:ext cx="0"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 name="Line 31">
              <a:extLst>
                <a:ext uri="{FF2B5EF4-FFF2-40B4-BE49-F238E27FC236}">
                  <a16:creationId xmlns:a16="http://schemas.microsoft.com/office/drawing/2014/main" id="{0C7B1C13-C9EE-4971-A0D9-C03688F1A968}"/>
                </a:ext>
              </a:extLst>
            </p:cNvPr>
            <p:cNvSpPr>
              <a:spLocks noChangeShapeType="1"/>
            </p:cNvSpPr>
            <p:nvPr/>
          </p:nvSpPr>
          <p:spPr bwMode="auto">
            <a:xfrm flipH="1">
              <a:off x="3312" y="2688"/>
              <a:ext cx="144"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 name="Line 32">
              <a:extLst>
                <a:ext uri="{FF2B5EF4-FFF2-40B4-BE49-F238E27FC236}">
                  <a16:creationId xmlns:a16="http://schemas.microsoft.com/office/drawing/2014/main" id="{713D7ADA-0C40-4DAB-BB81-EEF0E41798B7}"/>
                </a:ext>
              </a:extLst>
            </p:cNvPr>
            <p:cNvSpPr>
              <a:spLocks noChangeShapeType="1"/>
            </p:cNvSpPr>
            <p:nvPr/>
          </p:nvSpPr>
          <p:spPr bwMode="auto">
            <a:xfrm>
              <a:off x="2592" y="2688"/>
              <a:ext cx="144"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Tree>
    <p:extLst>
      <p:ext uri="{BB962C8B-B14F-4D97-AF65-F5344CB8AC3E}">
        <p14:creationId xmlns:p14="http://schemas.microsoft.com/office/powerpoint/2010/main" val="22681474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5">
            <a:extLst>
              <a:ext uri="{FF2B5EF4-FFF2-40B4-BE49-F238E27FC236}">
                <a16:creationId xmlns:a16="http://schemas.microsoft.com/office/drawing/2014/main" id="{BCB1B8A4-02A2-4AAF-9314-3F7AEAF6E6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69799E2-B99C-4EAE-8D85-3CB7B1E6B441}" type="slidenum">
              <a:rPr lang="en-US" altLang="en-US"/>
              <a:pPr eaLnBrk="1" hangingPunct="1"/>
              <a:t>19</a:t>
            </a:fld>
            <a:endParaRPr lang="en-US" altLang="en-US"/>
          </a:p>
        </p:txBody>
      </p:sp>
      <p:sp>
        <p:nvSpPr>
          <p:cNvPr id="9219" name="Rectangle 2">
            <a:extLst>
              <a:ext uri="{FF2B5EF4-FFF2-40B4-BE49-F238E27FC236}">
                <a16:creationId xmlns:a16="http://schemas.microsoft.com/office/drawing/2014/main" id="{2613ED5F-13D3-4D93-BBD3-15C1DAFD0014}"/>
              </a:ext>
            </a:extLst>
          </p:cNvPr>
          <p:cNvSpPr>
            <a:spLocks noGrp="1" noChangeArrowheads="1"/>
          </p:cNvSpPr>
          <p:nvPr>
            <p:ph type="title"/>
          </p:nvPr>
        </p:nvSpPr>
        <p:spPr>
          <a:xfrm>
            <a:off x="457200" y="122238"/>
            <a:ext cx="7543800" cy="1020762"/>
          </a:xfrm>
        </p:spPr>
        <p:txBody>
          <a:bodyPr/>
          <a:lstStyle/>
          <a:p>
            <a:pPr eaLnBrk="1" hangingPunct="1"/>
            <a:r>
              <a:rPr lang="zh-CN" altLang="en-US" sz="3600" dirty="0">
                <a:ea typeface="宋体" panose="02010600030101010101" pitchFamily="2" charset="-122"/>
              </a:rPr>
              <a:t>设计原理</a:t>
            </a:r>
            <a:endParaRPr lang="en-US" altLang="zh-CN" sz="3600" dirty="0">
              <a:ea typeface="宋体" panose="02010600030101010101" pitchFamily="2" charset="-122"/>
            </a:endParaRPr>
          </a:p>
        </p:txBody>
      </p:sp>
      <p:sp>
        <p:nvSpPr>
          <p:cNvPr id="9220" name="Rectangle 3">
            <a:extLst>
              <a:ext uri="{FF2B5EF4-FFF2-40B4-BE49-F238E27FC236}">
                <a16:creationId xmlns:a16="http://schemas.microsoft.com/office/drawing/2014/main" id="{F432533E-F133-439A-AB27-1EF55B029342}"/>
              </a:ext>
            </a:extLst>
          </p:cNvPr>
          <p:cNvSpPr>
            <a:spLocks noGrp="1" noChangeArrowheads="1"/>
          </p:cNvSpPr>
          <p:nvPr>
            <p:ph type="body" idx="1"/>
          </p:nvPr>
        </p:nvSpPr>
        <p:spPr>
          <a:xfrm>
            <a:off x="304800" y="1371600"/>
            <a:ext cx="8382000" cy="4419600"/>
          </a:xfrm>
        </p:spPr>
        <p:txBody>
          <a:bodyPr/>
          <a:lstStyle/>
          <a:p>
            <a:pPr eaLnBrk="1" hangingPunct="1"/>
            <a:r>
              <a:rPr lang="zh-CN" altLang="en-US" sz="2800" b="1" dirty="0">
                <a:ea typeface="宋体" panose="02010600030101010101" pitchFamily="2" charset="-122"/>
              </a:rPr>
              <a:t>内聚</a:t>
            </a:r>
            <a:endParaRPr lang="en-US" altLang="zh-CN" sz="2800" b="1" dirty="0">
              <a:ea typeface="宋体" panose="02010600030101010101" pitchFamily="2" charset="-122"/>
            </a:endParaRPr>
          </a:p>
          <a:p>
            <a:pPr eaLnBrk="1" hangingPunct="1"/>
            <a:endParaRPr lang="en-US" altLang="zh-CN" sz="2800" b="1" dirty="0">
              <a:ea typeface="宋体" panose="02010600030101010101" pitchFamily="2" charset="-122"/>
            </a:endParaRPr>
          </a:p>
        </p:txBody>
      </p:sp>
      <p:sp>
        <p:nvSpPr>
          <p:cNvPr id="23" name="TextBox 7">
            <a:extLst>
              <a:ext uri="{FF2B5EF4-FFF2-40B4-BE49-F238E27FC236}">
                <a16:creationId xmlns:a16="http://schemas.microsoft.com/office/drawing/2014/main" id="{8396E699-0C66-451A-9168-D5846DFCB507}"/>
              </a:ext>
            </a:extLst>
          </p:cNvPr>
          <p:cNvSpPr>
            <a:spLocks noChangeArrowheads="1"/>
          </p:cNvSpPr>
          <p:nvPr/>
        </p:nvSpPr>
        <p:spPr bwMode="auto">
          <a:xfrm>
            <a:off x="387350" y="1933575"/>
            <a:ext cx="8299450" cy="3295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ru-RU"/>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l"/>
            <a:r>
              <a:rPr lang="en-US" altLang="zh-CN" sz="2400" dirty="0">
                <a:solidFill>
                  <a:srgbClr val="C00000"/>
                </a:solidFill>
                <a:ea typeface="经典宋体简" charset="-122"/>
              </a:rPr>
              <a:t>【</a:t>
            </a:r>
            <a:r>
              <a:rPr lang="zh-CN" altLang="en-US" sz="2400" dirty="0">
                <a:solidFill>
                  <a:srgbClr val="C00000"/>
                </a:solidFill>
                <a:ea typeface="经典宋体简" charset="-122"/>
              </a:rPr>
              <a:t>低内聚</a:t>
            </a:r>
            <a:r>
              <a:rPr lang="en-US" altLang="zh-CN" sz="2400" dirty="0">
                <a:solidFill>
                  <a:srgbClr val="C00000"/>
                </a:solidFill>
                <a:ea typeface="经典宋体简" charset="-122"/>
              </a:rPr>
              <a:t>】</a:t>
            </a:r>
            <a:r>
              <a:rPr lang="zh-CN" altLang="en-US" sz="2400" dirty="0">
                <a:solidFill>
                  <a:srgbClr val="C00000"/>
                </a:solidFill>
                <a:ea typeface="经典宋体简" charset="-122"/>
              </a:rPr>
              <a:t>逻辑性内聚：</a:t>
            </a:r>
            <a:r>
              <a:rPr lang="zh-CN" altLang="en-US" sz="2400" dirty="0">
                <a:ea typeface="经典宋体简" charset="-122"/>
              </a:rPr>
              <a:t>这种模块是把几种功能组合在一起，每次调用时，则由传递给模块的判定参数来确定该模块应执行哪一种功能。               </a:t>
            </a:r>
          </a:p>
          <a:p>
            <a:pPr algn="l"/>
            <a:endParaRPr lang="zh-CN" altLang="en-US" sz="2400" dirty="0">
              <a:ea typeface="经典宋体简" charset="-122"/>
            </a:endParaRPr>
          </a:p>
        </p:txBody>
      </p:sp>
      <p:grpSp>
        <p:nvGrpSpPr>
          <p:cNvPr id="14" name="Group 1056">
            <a:extLst>
              <a:ext uri="{FF2B5EF4-FFF2-40B4-BE49-F238E27FC236}">
                <a16:creationId xmlns:a16="http://schemas.microsoft.com/office/drawing/2014/main" id="{EDDBC94B-AD89-46E4-8C24-102669A9B3A0}"/>
              </a:ext>
            </a:extLst>
          </p:cNvPr>
          <p:cNvGrpSpPr>
            <a:grpSpLocks/>
          </p:cNvGrpSpPr>
          <p:nvPr/>
        </p:nvGrpSpPr>
        <p:grpSpPr bwMode="auto">
          <a:xfrm>
            <a:off x="3581400" y="3165475"/>
            <a:ext cx="2057400" cy="3124200"/>
            <a:chOff x="2640" y="2064"/>
            <a:chExt cx="1296" cy="1968"/>
          </a:xfrm>
        </p:grpSpPr>
        <p:sp>
          <p:nvSpPr>
            <p:cNvPr id="15" name="Rectangle 1037">
              <a:extLst>
                <a:ext uri="{FF2B5EF4-FFF2-40B4-BE49-F238E27FC236}">
                  <a16:creationId xmlns:a16="http://schemas.microsoft.com/office/drawing/2014/main" id="{5807B196-F276-47C9-AA37-5658DF729FFF}"/>
                </a:ext>
              </a:extLst>
            </p:cNvPr>
            <p:cNvSpPr>
              <a:spLocks noChangeArrowheads="1"/>
            </p:cNvSpPr>
            <p:nvPr/>
          </p:nvSpPr>
          <p:spPr bwMode="auto">
            <a:xfrm>
              <a:off x="2832" y="2064"/>
              <a:ext cx="768" cy="288"/>
            </a:xfrm>
            <a:prstGeom prst="rect">
              <a:avLst/>
            </a:prstGeom>
            <a:solidFill>
              <a:schemeClr val="bg1"/>
            </a:solidFill>
            <a:ln w="9525">
              <a:solidFill>
                <a:schemeClr val="tx1"/>
              </a:solidFill>
              <a:miter lim="800000"/>
              <a:headEnd/>
              <a:tailEnd/>
            </a:ln>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a:solidFill>
                    <a:srgbClr val="046C36"/>
                  </a:solidFill>
                  <a:ea typeface="黑体" panose="02010609060101010101" pitchFamily="49" charset="-122"/>
                </a:rPr>
                <a:t>调用模块</a:t>
              </a:r>
            </a:p>
          </p:txBody>
        </p:sp>
        <p:sp>
          <p:nvSpPr>
            <p:cNvPr id="16" name="Line 1038">
              <a:extLst>
                <a:ext uri="{FF2B5EF4-FFF2-40B4-BE49-F238E27FC236}">
                  <a16:creationId xmlns:a16="http://schemas.microsoft.com/office/drawing/2014/main" id="{E8BBE503-7738-48F3-B3A0-CB187187AA54}"/>
                </a:ext>
              </a:extLst>
            </p:cNvPr>
            <p:cNvSpPr>
              <a:spLocks noChangeShapeType="1"/>
            </p:cNvSpPr>
            <p:nvPr/>
          </p:nvSpPr>
          <p:spPr bwMode="auto">
            <a:xfrm>
              <a:off x="3264" y="2352"/>
              <a:ext cx="0" cy="14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 name="AutoShape 1039">
              <a:extLst>
                <a:ext uri="{FF2B5EF4-FFF2-40B4-BE49-F238E27FC236}">
                  <a16:creationId xmlns:a16="http://schemas.microsoft.com/office/drawing/2014/main" id="{F7BC9170-3CD6-4C8E-BDBC-A2C338D8698D}"/>
                </a:ext>
              </a:extLst>
            </p:cNvPr>
            <p:cNvSpPr>
              <a:spLocks noChangeArrowheads="1"/>
            </p:cNvSpPr>
            <p:nvPr/>
          </p:nvSpPr>
          <p:spPr bwMode="auto">
            <a:xfrm>
              <a:off x="2880" y="2496"/>
              <a:ext cx="768" cy="288"/>
            </a:xfrm>
            <a:prstGeom prst="diamond">
              <a:avLst/>
            </a:prstGeom>
            <a:solidFill>
              <a:schemeClr val="bg1"/>
            </a:solidFill>
            <a:ln w="9525">
              <a:solidFill>
                <a:schemeClr val="tx1"/>
              </a:solidFill>
              <a:miter lim="800000"/>
              <a:headEnd/>
              <a:tailEnd/>
            </a:ln>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a:solidFill>
                    <a:srgbClr val="046C36"/>
                  </a:solidFill>
                  <a:ea typeface="黑体" panose="02010609060101010101" pitchFamily="49" charset="-122"/>
                </a:rPr>
                <a:t>判定</a:t>
              </a:r>
            </a:p>
          </p:txBody>
        </p:sp>
        <p:sp>
          <p:nvSpPr>
            <p:cNvPr id="18" name="Line 1040">
              <a:extLst>
                <a:ext uri="{FF2B5EF4-FFF2-40B4-BE49-F238E27FC236}">
                  <a16:creationId xmlns:a16="http://schemas.microsoft.com/office/drawing/2014/main" id="{5FB9C93B-AE0A-4DC5-84E8-80FED04B12F6}"/>
                </a:ext>
              </a:extLst>
            </p:cNvPr>
            <p:cNvSpPr>
              <a:spLocks noChangeShapeType="1"/>
            </p:cNvSpPr>
            <p:nvPr/>
          </p:nvSpPr>
          <p:spPr bwMode="auto">
            <a:xfrm>
              <a:off x="2736" y="2640"/>
              <a:ext cx="14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 name="Line 1041">
              <a:extLst>
                <a:ext uri="{FF2B5EF4-FFF2-40B4-BE49-F238E27FC236}">
                  <a16:creationId xmlns:a16="http://schemas.microsoft.com/office/drawing/2014/main" id="{6E89876E-AD26-4A1B-A749-12EB83FE0BFE}"/>
                </a:ext>
              </a:extLst>
            </p:cNvPr>
            <p:cNvSpPr>
              <a:spLocks noChangeShapeType="1"/>
            </p:cNvSpPr>
            <p:nvPr/>
          </p:nvSpPr>
          <p:spPr bwMode="auto">
            <a:xfrm>
              <a:off x="3648" y="2640"/>
              <a:ext cx="14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 name="Line 1042">
              <a:extLst>
                <a:ext uri="{FF2B5EF4-FFF2-40B4-BE49-F238E27FC236}">
                  <a16:creationId xmlns:a16="http://schemas.microsoft.com/office/drawing/2014/main" id="{2F708FE1-519A-4DB1-8193-CF106BE6767C}"/>
                </a:ext>
              </a:extLst>
            </p:cNvPr>
            <p:cNvSpPr>
              <a:spLocks noChangeShapeType="1"/>
            </p:cNvSpPr>
            <p:nvPr/>
          </p:nvSpPr>
          <p:spPr bwMode="auto">
            <a:xfrm>
              <a:off x="2736" y="2640"/>
              <a:ext cx="0"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 name="Line 1043">
              <a:extLst>
                <a:ext uri="{FF2B5EF4-FFF2-40B4-BE49-F238E27FC236}">
                  <a16:creationId xmlns:a16="http://schemas.microsoft.com/office/drawing/2014/main" id="{7CBA8851-A400-4DC7-9E29-9FEFF664ADE5}"/>
                </a:ext>
              </a:extLst>
            </p:cNvPr>
            <p:cNvSpPr>
              <a:spLocks noChangeShapeType="1"/>
            </p:cNvSpPr>
            <p:nvPr/>
          </p:nvSpPr>
          <p:spPr bwMode="auto">
            <a:xfrm>
              <a:off x="3792" y="2640"/>
              <a:ext cx="0"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 name="Rectangle 1044">
              <a:extLst>
                <a:ext uri="{FF2B5EF4-FFF2-40B4-BE49-F238E27FC236}">
                  <a16:creationId xmlns:a16="http://schemas.microsoft.com/office/drawing/2014/main" id="{B9D638DE-3302-41BE-95CD-EB1BC4995CC9}"/>
                </a:ext>
              </a:extLst>
            </p:cNvPr>
            <p:cNvSpPr>
              <a:spLocks noChangeArrowheads="1"/>
            </p:cNvSpPr>
            <p:nvPr/>
          </p:nvSpPr>
          <p:spPr bwMode="auto">
            <a:xfrm>
              <a:off x="2640" y="2832"/>
              <a:ext cx="240" cy="960"/>
            </a:xfrm>
            <a:prstGeom prst="rect">
              <a:avLst/>
            </a:prstGeom>
            <a:solidFill>
              <a:schemeClr val="bg1"/>
            </a:solidFill>
            <a:ln w="9525">
              <a:solidFill>
                <a:schemeClr val="tx1"/>
              </a:solidFill>
              <a:miter lim="800000"/>
              <a:headEnd/>
              <a:tailEnd/>
            </a:ln>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endParaRPr lang="zh-CN" altLang="en-US" sz="1800">
                <a:solidFill>
                  <a:srgbClr val="046C36"/>
                </a:solidFill>
                <a:ea typeface="黑体" panose="02010609060101010101" pitchFamily="49" charset="-122"/>
              </a:endParaRPr>
            </a:p>
            <a:p>
              <a:r>
                <a:rPr lang="zh-CN" altLang="en-US" sz="1800">
                  <a:solidFill>
                    <a:srgbClr val="046C36"/>
                  </a:solidFill>
                  <a:ea typeface="黑体" panose="02010609060101010101" pitchFamily="49" charset="-122"/>
                </a:rPr>
                <a:t>读</a:t>
              </a:r>
            </a:p>
            <a:p>
              <a:r>
                <a:rPr lang="zh-CN" altLang="en-US" sz="1800">
                  <a:solidFill>
                    <a:srgbClr val="046C36"/>
                  </a:solidFill>
                  <a:ea typeface="黑体" panose="02010609060101010101" pitchFamily="49" charset="-122"/>
                </a:rPr>
                <a:t>一</a:t>
              </a:r>
            </a:p>
            <a:p>
              <a:r>
                <a:rPr lang="zh-CN" altLang="en-US" sz="1800">
                  <a:solidFill>
                    <a:srgbClr val="046C36"/>
                  </a:solidFill>
                  <a:ea typeface="黑体" panose="02010609060101010101" pitchFamily="49" charset="-122"/>
                </a:rPr>
                <a:t>个</a:t>
              </a:r>
            </a:p>
            <a:p>
              <a:r>
                <a:rPr lang="zh-CN" altLang="en-US" sz="1800">
                  <a:solidFill>
                    <a:srgbClr val="046C36"/>
                  </a:solidFill>
                  <a:ea typeface="黑体" panose="02010609060101010101" pitchFamily="49" charset="-122"/>
                </a:rPr>
                <a:t>记</a:t>
              </a:r>
            </a:p>
            <a:p>
              <a:r>
                <a:rPr lang="zh-CN" altLang="en-US" sz="1800">
                  <a:solidFill>
                    <a:srgbClr val="046C36"/>
                  </a:solidFill>
                  <a:ea typeface="黑体" panose="02010609060101010101" pitchFamily="49" charset="-122"/>
                </a:rPr>
                <a:t>录</a:t>
              </a:r>
            </a:p>
            <a:p>
              <a:endParaRPr lang="zh-CN" altLang="en-US" sz="1800">
                <a:solidFill>
                  <a:srgbClr val="046C36"/>
                </a:solidFill>
                <a:ea typeface="黑体" panose="02010609060101010101" pitchFamily="49" charset="-122"/>
              </a:endParaRPr>
            </a:p>
          </p:txBody>
        </p:sp>
        <p:sp>
          <p:nvSpPr>
            <p:cNvPr id="24" name="Rectangle 1045">
              <a:extLst>
                <a:ext uri="{FF2B5EF4-FFF2-40B4-BE49-F238E27FC236}">
                  <a16:creationId xmlns:a16="http://schemas.microsoft.com/office/drawing/2014/main" id="{9EF57EDB-51C1-4AED-BBAE-7721ABF574B2}"/>
                </a:ext>
              </a:extLst>
            </p:cNvPr>
            <p:cNvSpPr>
              <a:spLocks noChangeArrowheads="1"/>
            </p:cNvSpPr>
            <p:nvPr/>
          </p:nvSpPr>
          <p:spPr bwMode="auto">
            <a:xfrm>
              <a:off x="3648" y="2832"/>
              <a:ext cx="288" cy="960"/>
            </a:xfrm>
            <a:prstGeom prst="rect">
              <a:avLst/>
            </a:prstGeom>
            <a:solidFill>
              <a:schemeClr val="bg1"/>
            </a:solidFill>
            <a:ln w="9525">
              <a:solidFill>
                <a:schemeClr val="tx1"/>
              </a:solidFill>
              <a:miter lim="800000"/>
              <a:headEnd/>
              <a:tailEnd/>
            </a:ln>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endParaRPr lang="zh-CN" altLang="en-US" sz="1800">
                <a:solidFill>
                  <a:srgbClr val="046C36"/>
                </a:solidFill>
                <a:ea typeface="黑体" panose="02010609060101010101" pitchFamily="49" charset="-122"/>
              </a:endParaRPr>
            </a:p>
            <a:p>
              <a:r>
                <a:rPr lang="zh-CN" altLang="en-US" sz="1800">
                  <a:solidFill>
                    <a:srgbClr val="046C36"/>
                  </a:solidFill>
                  <a:ea typeface="黑体" panose="02010609060101010101" pitchFamily="49" charset="-122"/>
                </a:rPr>
                <a:t>写</a:t>
              </a:r>
            </a:p>
            <a:p>
              <a:r>
                <a:rPr lang="zh-CN" altLang="en-US" sz="1800">
                  <a:solidFill>
                    <a:srgbClr val="046C36"/>
                  </a:solidFill>
                  <a:ea typeface="黑体" panose="02010609060101010101" pitchFamily="49" charset="-122"/>
                </a:rPr>
                <a:t>一</a:t>
              </a:r>
            </a:p>
            <a:p>
              <a:r>
                <a:rPr lang="zh-CN" altLang="en-US" sz="1800">
                  <a:solidFill>
                    <a:srgbClr val="046C36"/>
                  </a:solidFill>
                  <a:ea typeface="黑体" panose="02010609060101010101" pitchFamily="49" charset="-122"/>
                </a:rPr>
                <a:t>个</a:t>
              </a:r>
            </a:p>
            <a:p>
              <a:r>
                <a:rPr lang="zh-CN" altLang="en-US" sz="1800">
                  <a:solidFill>
                    <a:srgbClr val="046C36"/>
                  </a:solidFill>
                  <a:ea typeface="黑体" panose="02010609060101010101" pitchFamily="49" charset="-122"/>
                </a:rPr>
                <a:t>记</a:t>
              </a:r>
            </a:p>
            <a:p>
              <a:r>
                <a:rPr lang="zh-CN" altLang="en-US" sz="1800">
                  <a:solidFill>
                    <a:srgbClr val="046C36"/>
                  </a:solidFill>
                  <a:ea typeface="黑体" panose="02010609060101010101" pitchFamily="49" charset="-122"/>
                </a:rPr>
                <a:t>录</a:t>
              </a:r>
            </a:p>
            <a:p>
              <a:endParaRPr lang="zh-CN" altLang="en-US" sz="1800">
                <a:solidFill>
                  <a:srgbClr val="046C36"/>
                </a:solidFill>
                <a:ea typeface="黑体" panose="02010609060101010101" pitchFamily="49" charset="-122"/>
              </a:endParaRPr>
            </a:p>
          </p:txBody>
        </p:sp>
        <p:sp>
          <p:nvSpPr>
            <p:cNvPr id="25" name="Line 1046">
              <a:extLst>
                <a:ext uri="{FF2B5EF4-FFF2-40B4-BE49-F238E27FC236}">
                  <a16:creationId xmlns:a16="http://schemas.microsoft.com/office/drawing/2014/main" id="{D7BB37BF-DBD0-486F-AB37-ADDE41004CDC}"/>
                </a:ext>
              </a:extLst>
            </p:cNvPr>
            <p:cNvSpPr>
              <a:spLocks noChangeShapeType="1"/>
            </p:cNvSpPr>
            <p:nvPr/>
          </p:nvSpPr>
          <p:spPr bwMode="auto">
            <a:xfrm>
              <a:off x="2736" y="3792"/>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 name="Line 1047">
              <a:extLst>
                <a:ext uri="{FF2B5EF4-FFF2-40B4-BE49-F238E27FC236}">
                  <a16:creationId xmlns:a16="http://schemas.microsoft.com/office/drawing/2014/main" id="{FC741331-87FE-4203-BB2C-7890FCBC0F04}"/>
                </a:ext>
              </a:extLst>
            </p:cNvPr>
            <p:cNvSpPr>
              <a:spLocks noChangeShapeType="1"/>
            </p:cNvSpPr>
            <p:nvPr/>
          </p:nvSpPr>
          <p:spPr bwMode="auto">
            <a:xfrm>
              <a:off x="3840" y="3792"/>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 name="Line 1048">
              <a:extLst>
                <a:ext uri="{FF2B5EF4-FFF2-40B4-BE49-F238E27FC236}">
                  <a16:creationId xmlns:a16="http://schemas.microsoft.com/office/drawing/2014/main" id="{0AE62D3A-8B63-41A5-B114-DFDB8DE4BCC8}"/>
                </a:ext>
              </a:extLst>
            </p:cNvPr>
            <p:cNvSpPr>
              <a:spLocks noChangeShapeType="1"/>
            </p:cNvSpPr>
            <p:nvPr/>
          </p:nvSpPr>
          <p:spPr bwMode="auto">
            <a:xfrm>
              <a:off x="2736" y="3888"/>
              <a:ext cx="110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 name="Line 1049">
              <a:extLst>
                <a:ext uri="{FF2B5EF4-FFF2-40B4-BE49-F238E27FC236}">
                  <a16:creationId xmlns:a16="http://schemas.microsoft.com/office/drawing/2014/main" id="{BB1B1B34-58A3-439D-8954-D047A102D2DB}"/>
                </a:ext>
              </a:extLst>
            </p:cNvPr>
            <p:cNvSpPr>
              <a:spLocks noChangeShapeType="1"/>
            </p:cNvSpPr>
            <p:nvPr/>
          </p:nvSpPr>
          <p:spPr bwMode="auto">
            <a:xfrm>
              <a:off x="3312" y="3888"/>
              <a:ext cx="0" cy="14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29" name="Text Box 1054">
            <a:extLst>
              <a:ext uri="{FF2B5EF4-FFF2-40B4-BE49-F238E27FC236}">
                <a16:creationId xmlns:a16="http://schemas.microsoft.com/office/drawing/2014/main" id="{0A7D3806-8AC5-42EB-975C-475A54411EC0}"/>
              </a:ext>
            </a:extLst>
          </p:cNvPr>
          <p:cNvSpPr txBox="1">
            <a:spLocks noChangeArrowheads="1"/>
          </p:cNvSpPr>
          <p:nvPr/>
        </p:nvSpPr>
        <p:spPr bwMode="auto">
          <a:xfrm>
            <a:off x="2743200" y="4308475"/>
            <a:ext cx="458788" cy="153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a:solidFill>
                  <a:schemeClr val="accent2"/>
                </a:solidFill>
                <a:ea typeface="幼圆" panose="02010509060101010101" pitchFamily="49" charset="-122"/>
              </a:rPr>
              <a:t>被调用模块</a:t>
            </a:r>
          </a:p>
        </p:txBody>
      </p:sp>
      <p:sp>
        <p:nvSpPr>
          <p:cNvPr id="30" name="Rectangle 1055">
            <a:extLst>
              <a:ext uri="{FF2B5EF4-FFF2-40B4-BE49-F238E27FC236}">
                <a16:creationId xmlns:a16="http://schemas.microsoft.com/office/drawing/2014/main" id="{7473D08F-80C6-4007-8E54-65CCF79F1BE7}"/>
              </a:ext>
            </a:extLst>
          </p:cNvPr>
          <p:cNvSpPr>
            <a:spLocks noChangeArrowheads="1"/>
          </p:cNvSpPr>
          <p:nvPr/>
        </p:nvSpPr>
        <p:spPr bwMode="auto">
          <a:xfrm>
            <a:off x="3200400" y="3698875"/>
            <a:ext cx="2743200" cy="2667000"/>
          </a:xfrm>
          <a:prstGeom prst="rect">
            <a:avLst/>
          </a:prstGeom>
          <a:noFill/>
          <a:ln w="9525">
            <a:solidFill>
              <a:srgbClr val="CC00FF"/>
            </a:solidFill>
            <a:prstDash val="lgDash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endParaRPr lang="zh-CN" altLang="en-US"/>
          </a:p>
        </p:txBody>
      </p:sp>
    </p:spTree>
    <p:extLst>
      <p:ext uri="{BB962C8B-B14F-4D97-AF65-F5344CB8AC3E}">
        <p14:creationId xmlns:p14="http://schemas.microsoft.com/office/powerpoint/2010/main" val="19852165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5">
            <a:extLst>
              <a:ext uri="{FF2B5EF4-FFF2-40B4-BE49-F238E27FC236}">
                <a16:creationId xmlns:a16="http://schemas.microsoft.com/office/drawing/2014/main" id="{BCB1B8A4-02A2-4AAF-9314-3F7AEAF6E6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69799E2-B99C-4EAE-8D85-3CB7B1E6B441}" type="slidenum">
              <a:rPr lang="en-US" altLang="en-US"/>
              <a:pPr eaLnBrk="1" hangingPunct="1"/>
              <a:t>20</a:t>
            </a:fld>
            <a:endParaRPr lang="en-US" altLang="en-US"/>
          </a:p>
        </p:txBody>
      </p:sp>
      <p:sp>
        <p:nvSpPr>
          <p:cNvPr id="9219" name="Rectangle 2">
            <a:extLst>
              <a:ext uri="{FF2B5EF4-FFF2-40B4-BE49-F238E27FC236}">
                <a16:creationId xmlns:a16="http://schemas.microsoft.com/office/drawing/2014/main" id="{2613ED5F-13D3-4D93-BBD3-15C1DAFD0014}"/>
              </a:ext>
            </a:extLst>
          </p:cNvPr>
          <p:cNvSpPr>
            <a:spLocks noGrp="1" noChangeArrowheads="1"/>
          </p:cNvSpPr>
          <p:nvPr>
            <p:ph type="title"/>
          </p:nvPr>
        </p:nvSpPr>
        <p:spPr>
          <a:xfrm>
            <a:off x="457200" y="122238"/>
            <a:ext cx="7543800" cy="1020762"/>
          </a:xfrm>
        </p:spPr>
        <p:txBody>
          <a:bodyPr/>
          <a:lstStyle/>
          <a:p>
            <a:pPr eaLnBrk="1" hangingPunct="1"/>
            <a:r>
              <a:rPr lang="zh-CN" altLang="en-US" sz="3600" dirty="0">
                <a:ea typeface="宋体" panose="02010600030101010101" pitchFamily="2" charset="-122"/>
              </a:rPr>
              <a:t>设计原理</a:t>
            </a:r>
            <a:endParaRPr lang="en-US" altLang="zh-CN" sz="3600" dirty="0">
              <a:ea typeface="宋体" panose="02010600030101010101" pitchFamily="2" charset="-122"/>
            </a:endParaRPr>
          </a:p>
        </p:txBody>
      </p:sp>
      <p:sp>
        <p:nvSpPr>
          <p:cNvPr id="9220" name="Rectangle 3">
            <a:extLst>
              <a:ext uri="{FF2B5EF4-FFF2-40B4-BE49-F238E27FC236}">
                <a16:creationId xmlns:a16="http://schemas.microsoft.com/office/drawing/2014/main" id="{F432533E-F133-439A-AB27-1EF55B029342}"/>
              </a:ext>
            </a:extLst>
          </p:cNvPr>
          <p:cNvSpPr>
            <a:spLocks noGrp="1" noChangeArrowheads="1"/>
          </p:cNvSpPr>
          <p:nvPr>
            <p:ph type="body" idx="1"/>
          </p:nvPr>
        </p:nvSpPr>
        <p:spPr>
          <a:xfrm>
            <a:off x="304800" y="1371600"/>
            <a:ext cx="8382000" cy="4419600"/>
          </a:xfrm>
        </p:spPr>
        <p:txBody>
          <a:bodyPr/>
          <a:lstStyle/>
          <a:p>
            <a:pPr eaLnBrk="1" hangingPunct="1"/>
            <a:r>
              <a:rPr lang="zh-CN" altLang="en-US" sz="2800" b="1" dirty="0">
                <a:ea typeface="宋体" panose="02010600030101010101" pitchFamily="2" charset="-122"/>
              </a:rPr>
              <a:t>内聚</a:t>
            </a:r>
            <a:endParaRPr lang="en-US" altLang="zh-CN" sz="2800" b="1" dirty="0">
              <a:ea typeface="宋体" panose="02010600030101010101" pitchFamily="2" charset="-122"/>
            </a:endParaRPr>
          </a:p>
          <a:p>
            <a:pPr eaLnBrk="1" hangingPunct="1"/>
            <a:endParaRPr lang="en-US" altLang="zh-CN" sz="2800" b="1" dirty="0">
              <a:ea typeface="宋体" panose="02010600030101010101" pitchFamily="2" charset="-122"/>
            </a:endParaRPr>
          </a:p>
        </p:txBody>
      </p:sp>
      <p:sp>
        <p:nvSpPr>
          <p:cNvPr id="23" name="TextBox 7">
            <a:extLst>
              <a:ext uri="{FF2B5EF4-FFF2-40B4-BE49-F238E27FC236}">
                <a16:creationId xmlns:a16="http://schemas.microsoft.com/office/drawing/2014/main" id="{8396E699-0C66-451A-9168-D5846DFCB507}"/>
              </a:ext>
            </a:extLst>
          </p:cNvPr>
          <p:cNvSpPr>
            <a:spLocks noChangeArrowheads="1"/>
          </p:cNvSpPr>
          <p:nvPr/>
        </p:nvSpPr>
        <p:spPr bwMode="auto">
          <a:xfrm>
            <a:off x="387350" y="1933575"/>
            <a:ext cx="8299450" cy="3295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ru-RU"/>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l"/>
            <a:r>
              <a:rPr lang="en-US" altLang="zh-CN" sz="2400" dirty="0">
                <a:solidFill>
                  <a:srgbClr val="C00000"/>
                </a:solidFill>
                <a:ea typeface="经典宋体简" charset="-122"/>
              </a:rPr>
              <a:t>【</a:t>
            </a:r>
            <a:r>
              <a:rPr lang="zh-CN" altLang="en-US" sz="2400" dirty="0">
                <a:solidFill>
                  <a:srgbClr val="C00000"/>
                </a:solidFill>
                <a:ea typeface="经典宋体简" charset="-122"/>
              </a:rPr>
              <a:t>低内聚</a:t>
            </a:r>
            <a:r>
              <a:rPr lang="en-US" altLang="zh-CN" sz="2400" dirty="0">
                <a:solidFill>
                  <a:srgbClr val="C00000"/>
                </a:solidFill>
                <a:ea typeface="经典宋体简" charset="-122"/>
              </a:rPr>
              <a:t>】</a:t>
            </a:r>
            <a:r>
              <a:rPr lang="zh-CN" altLang="en-US" sz="2400" dirty="0">
                <a:solidFill>
                  <a:srgbClr val="C00000"/>
                </a:solidFill>
                <a:ea typeface="经典宋体简" charset="-122"/>
              </a:rPr>
              <a:t>时间内聚：</a:t>
            </a:r>
            <a:r>
              <a:rPr lang="zh-CN" altLang="en-US" sz="2400" dirty="0">
                <a:ea typeface="经典宋体简" charset="-122"/>
              </a:rPr>
              <a:t>一个模块包含的任务必须在同一段时间内执行，就叫时间内聚。</a:t>
            </a:r>
            <a:endParaRPr lang="en-US" altLang="zh-CN" sz="2400" dirty="0">
              <a:ea typeface="经典宋体简" charset="-122"/>
            </a:endParaRPr>
          </a:p>
          <a:p>
            <a:pPr algn="l"/>
            <a:endParaRPr lang="en-US" altLang="zh-CN" sz="2400" dirty="0">
              <a:ea typeface="经典宋体简" charset="-122"/>
            </a:endParaRPr>
          </a:p>
          <a:p>
            <a:pPr eaLnBrk="1" hangingPunct="1">
              <a:lnSpc>
                <a:spcPct val="125000"/>
              </a:lnSpc>
              <a:spcBef>
                <a:spcPct val="0"/>
              </a:spcBef>
              <a:buFontTx/>
              <a:buNone/>
            </a:pPr>
            <a:r>
              <a:rPr lang="en-US" altLang="zh-CN" sz="2400" dirty="0">
                <a:solidFill>
                  <a:srgbClr val="C00000"/>
                </a:solidFill>
                <a:latin typeface="Arial" panose="020B0604020202020204" pitchFamily="34" charset="0"/>
                <a:ea typeface="经典宋体简" charset="-122"/>
              </a:rPr>
              <a:t>【</a:t>
            </a:r>
            <a:r>
              <a:rPr lang="zh-CN" altLang="en-US" sz="2400" dirty="0">
                <a:solidFill>
                  <a:srgbClr val="C00000"/>
                </a:solidFill>
                <a:latin typeface="Arial" panose="020B0604020202020204" pitchFamily="34" charset="0"/>
                <a:ea typeface="经典宋体简" charset="-122"/>
              </a:rPr>
              <a:t>中内聚</a:t>
            </a:r>
            <a:r>
              <a:rPr lang="en-US" altLang="zh-CN" sz="2400" dirty="0">
                <a:solidFill>
                  <a:srgbClr val="C00000"/>
                </a:solidFill>
                <a:latin typeface="Arial" panose="020B0604020202020204" pitchFamily="34" charset="0"/>
                <a:ea typeface="经典宋体简" charset="-122"/>
              </a:rPr>
              <a:t>】</a:t>
            </a:r>
            <a:r>
              <a:rPr lang="zh-CN" altLang="en-US" sz="2400" dirty="0">
                <a:solidFill>
                  <a:srgbClr val="C00000"/>
                </a:solidFill>
                <a:latin typeface="Arial" panose="020B0604020202020204" pitchFamily="34" charset="0"/>
                <a:ea typeface="经典宋体简" charset="-122"/>
              </a:rPr>
              <a:t>过程内聚：</a:t>
            </a:r>
            <a:r>
              <a:rPr lang="zh-CN" altLang="en-US" sz="2400" dirty="0">
                <a:latin typeface="Arial" panose="020B0604020202020204" pitchFamily="34" charset="0"/>
                <a:ea typeface="经典宋体简" charset="-122"/>
              </a:rPr>
              <a:t>一个模块内的处理元素是相关的，而且必须以特定次序执行，则称为过程内聚。</a:t>
            </a:r>
            <a:endParaRPr lang="en-US" altLang="zh-CN" sz="2400" dirty="0">
              <a:latin typeface="Arial" panose="020B0604020202020204" pitchFamily="34" charset="0"/>
              <a:ea typeface="经典宋体简" charset="-122"/>
            </a:endParaRPr>
          </a:p>
          <a:p>
            <a:pPr eaLnBrk="1" hangingPunct="1">
              <a:lnSpc>
                <a:spcPct val="125000"/>
              </a:lnSpc>
              <a:spcBef>
                <a:spcPct val="0"/>
              </a:spcBef>
              <a:buFontTx/>
              <a:buNone/>
            </a:pPr>
            <a:endParaRPr lang="zh-CN" altLang="en-US" sz="2400" dirty="0">
              <a:latin typeface="Arial" panose="020B0604020202020204" pitchFamily="34" charset="0"/>
              <a:ea typeface="经典宋体简" charset="-122"/>
            </a:endParaRPr>
          </a:p>
          <a:p>
            <a:pPr eaLnBrk="1" hangingPunct="1">
              <a:lnSpc>
                <a:spcPct val="125000"/>
              </a:lnSpc>
              <a:spcBef>
                <a:spcPct val="0"/>
              </a:spcBef>
              <a:buFontTx/>
              <a:buNone/>
            </a:pPr>
            <a:r>
              <a:rPr lang="en-US" altLang="zh-CN" sz="2400" dirty="0">
                <a:solidFill>
                  <a:srgbClr val="C00000"/>
                </a:solidFill>
                <a:latin typeface="Arial" panose="020B0604020202020204" pitchFamily="34" charset="0"/>
                <a:ea typeface="经典宋体简" charset="-122"/>
              </a:rPr>
              <a:t>【</a:t>
            </a:r>
            <a:r>
              <a:rPr lang="zh-CN" altLang="en-US" sz="2400" dirty="0">
                <a:solidFill>
                  <a:srgbClr val="C00000"/>
                </a:solidFill>
                <a:latin typeface="Arial" panose="020B0604020202020204" pitchFamily="34" charset="0"/>
                <a:ea typeface="经典宋体简" charset="-122"/>
              </a:rPr>
              <a:t>中内聚</a:t>
            </a:r>
            <a:r>
              <a:rPr lang="en-US" altLang="zh-CN" sz="2400" dirty="0">
                <a:solidFill>
                  <a:srgbClr val="C00000"/>
                </a:solidFill>
                <a:latin typeface="Arial" panose="020B0604020202020204" pitchFamily="34" charset="0"/>
                <a:ea typeface="经典宋体简" charset="-122"/>
              </a:rPr>
              <a:t>】</a:t>
            </a:r>
            <a:r>
              <a:rPr lang="zh-CN" altLang="en-US" sz="2400" dirty="0">
                <a:solidFill>
                  <a:srgbClr val="C00000"/>
                </a:solidFill>
                <a:latin typeface="Arial" panose="020B0604020202020204" pitchFamily="34" charset="0"/>
                <a:ea typeface="经典宋体简" charset="-122"/>
              </a:rPr>
              <a:t>通信内聚：</a:t>
            </a:r>
            <a:r>
              <a:rPr lang="zh-CN" altLang="en-US" sz="2400" dirty="0">
                <a:latin typeface="Arial" panose="020B0604020202020204" pitchFamily="34" charset="0"/>
                <a:ea typeface="经典宋体简" charset="-122"/>
              </a:rPr>
              <a:t>模块中所有元素都使用同一个输入数据和</a:t>
            </a:r>
            <a:r>
              <a:rPr lang="en-US" altLang="zh-CN" sz="2400" dirty="0">
                <a:latin typeface="Arial" panose="020B0604020202020204" pitchFamily="34" charset="0"/>
                <a:ea typeface="经典宋体简" charset="-122"/>
              </a:rPr>
              <a:t>(</a:t>
            </a:r>
            <a:r>
              <a:rPr lang="zh-CN" altLang="en-US" sz="2400" dirty="0">
                <a:latin typeface="Arial" panose="020B0604020202020204" pitchFamily="34" charset="0"/>
                <a:ea typeface="经典宋体简" charset="-122"/>
              </a:rPr>
              <a:t>或</a:t>
            </a:r>
            <a:r>
              <a:rPr lang="en-US" altLang="zh-CN" sz="2400" dirty="0">
                <a:latin typeface="Arial" panose="020B0604020202020204" pitchFamily="34" charset="0"/>
                <a:ea typeface="经典宋体简" charset="-122"/>
              </a:rPr>
              <a:t>)</a:t>
            </a:r>
            <a:r>
              <a:rPr lang="zh-CN" altLang="en-US" sz="2400" dirty="0">
                <a:latin typeface="Arial" panose="020B0604020202020204" pitchFamily="34" charset="0"/>
                <a:ea typeface="经典宋体简" charset="-122"/>
              </a:rPr>
              <a:t>产生同一个输出数据，则称为通信内聚。</a:t>
            </a:r>
          </a:p>
          <a:p>
            <a:pPr algn="l"/>
            <a:endParaRPr lang="zh-CN" altLang="en-US" sz="2400" dirty="0">
              <a:ea typeface="经典宋体简" charset="-122"/>
            </a:endParaRPr>
          </a:p>
          <a:p>
            <a:pPr algn="l"/>
            <a:r>
              <a:rPr lang="zh-CN" altLang="en-US" sz="2400" dirty="0">
                <a:ea typeface="经典宋体简" charset="-122"/>
              </a:rPr>
              <a:t>                      </a:t>
            </a:r>
          </a:p>
        </p:txBody>
      </p:sp>
    </p:spTree>
    <p:extLst>
      <p:ext uri="{BB962C8B-B14F-4D97-AF65-F5344CB8AC3E}">
        <p14:creationId xmlns:p14="http://schemas.microsoft.com/office/powerpoint/2010/main" val="34326003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5">
            <a:extLst>
              <a:ext uri="{FF2B5EF4-FFF2-40B4-BE49-F238E27FC236}">
                <a16:creationId xmlns:a16="http://schemas.microsoft.com/office/drawing/2014/main" id="{BCB1B8A4-02A2-4AAF-9314-3F7AEAF6E6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69799E2-B99C-4EAE-8D85-3CB7B1E6B441}" type="slidenum">
              <a:rPr lang="en-US" altLang="en-US"/>
              <a:pPr eaLnBrk="1" hangingPunct="1"/>
              <a:t>21</a:t>
            </a:fld>
            <a:endParaRPr lang="en-US" altLang="en-US"/>
          </a:p>
        </p:txBody>
      </p:sp>
      <p:sp>
        <p:nvSpPr>
          <p:cNvPr id="9219" name="Rectangle 2">
            <a:extLst>
              <a:ext uri="{FF2B5EF4-FFF2-40B4-BE49-F238E27FC236}">
                <a16:creationId xmlns:a16="http://schemas.microsoft.com/office/drawing/2014/main" id="{2613ED5F-13D3-4D93-BBD3-15C1DAFD0014}"/>
              </a:ext>
            </a:extLst>
          </p:cNvPr>
          <p:cNvSpPr>
            <a:spLocks noGrp="1" noChangeArrowheads="1"/>
          </p:cNvSpPr>
          <p:nvPr>
            <p:ph type="title"/>
          </p:nvPr>
        </p:nvSpPr>
        <p:spPr>
          <a:xfrm>
            <a:off x="457200" y="122238"/>
            <a:ext cx="7543800" cy="1020762"/>
          </a:xfrm>
        </p:spPr>
        <p:txBody>
          <a:bodyPr/>
          <a:lstStyle/>
          <a:p>
            <a:pPr eaLnBrk="1" hangingPunct="1"/>
            <a:r>
              <a:rPr lang="zh-CN" altLang="en-US" sz="3600" dirty="0">
                <a:ea typeface="宋体" panose="02010600030101010101" pitchFamily="2" charset="-122"/>
              </a:rPr>
              <a:t>设计原理</a:t>
            </a:r>
            <a:endParaRPr lang="en-US" altLang="zh-CN" sz="3600" dirty="0">
              <a:ea typeface="宋体" panose="02010600030101010101" pitchFamily="2" charset="-122"/>
            </a:endParaRPr>
          </a:p>
        </p:txBody>
      </p:sp>
      <p:sp>
        <p:nvSpPr>
          <p:cNvPr id="9220" name="Rectangle 3">
            <a:extLst>
              <a:ext uri="{FF2B5EF4-FFF2-40B4-BE49-F238E27FC236}">
                <a16:creationId xmlns:a16="http://schemas.microsoft.com/office/drawing/2014/main" id="{F432533E-F133-439A-AB27-1EF55B029342}"/>
              </a:ext>
            </a:extLst>
          </p:cNvPr>
          <p:cNvSpPr>
            <a:spLocks noGrp="1" noChangeArrowheads="1"/>
          </p:cNvSpPr>
          <p:nvPr>
            <p:ph type="body" idx="1"/>
          </p:nvPr>
        </p:nvSpPr>
        <p:spPr>
          <a:xfrm>
            <a:off x="304800" y="1371600"/>
            <a:ext cx="8382000" cy="4419600"/>
          </a:xfrm>
        </p:spPr>
        <p:txBody>
          <a:bodyPr/>
          <a:lstStyle/>
          <a:p>
            <a:pPr eaLnBrk="1" hangingPunct="1"/>
            <a:r>
              <a:rPr lang="zh-CN" altLang="en-US" sz="2800" b="1" dirty="0">
                <a:ea typeface="宋体" panose="02010600030101010101" pitchFamily="2" charset="-122"/>
              </a:rPr>
              <a:t>内聚</a:t>
            </a:r>
            <a:endParaRPr lang="en-US" altLang="zh-CN" sz="2800" b="1" dirty="0">
              <a:ea typeface="宋体" panose="02010600030101010101" pitchFamily="2" charset="-122"/>
            </a:endParaRPr>
          </a:p>
          <a:p>
            <a:pPr eaLnBrk="1" hangingPunct="1"/>
            <a:endParaRPr lang="en-US" altLang="zh-CN" sz="2800" b="1" dirty="0">
              <a:ea typeface="宋体" panose="02010600030101010101" pitchFamily="2" charset="-122"/>
            </a:endParaRPr>
          </a:p>
        </p:txBody>
      </p:sp>
      <p:sp>
        <p:nvSpPr>
          <p:cNvPr id="65" name="TextBox 7">
            <a:extLst>
              <a:ext uri="{FF2B5EF4-FFF2-40B4-BE49-F238E27FC236}">
                <a16:creationId xmlns:a16="http://schemas.microsoft.com/office/drawing/2014/main" id="{35C65B15-0E97-4613-864D-8E153DE688F7}"/>
              </a:ext>
            </a:extLst>
          </p:cNvPr>
          <p:cNvSpPr>
            <a:spLocks noChangeArrowheads="1"/>
          </p:cNvSpPr>
          <p:nvPr/>
        </p:nvSpPr>
        <p:spPr bwMode="auto">
          <a:xfrm>
            <a:off x="387350" y="1933575"/>
            <a:ext cx="8299450" cy="3295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ru-RU"/>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r>
              <a:rPr lang="en-US" altLang="zh-CN" sz="2400" dirty="0">
                <a:solidFill>
                  <a:srgbClr val="C00000"/>
                </a:solidFill>
                <a:ea typeface="经典宋体简" charset="-122"/>
              </a:rPr>
              <a:t>【</a:t>
            </a:r>
            <a:r>
              <a:rPr lang="zh-CN" altLang="en-US" sz="2400" dirty="0">
                <a:solidFill>
                  <a:srgbClr val="C00000"/>
                </a:solidFill>
                <a:ea typeface="经典宋体简" charset="-122"/>
              </a:rPr>
              <a:t>高内聚</a:t>
            </a:r>
            <a:r>
              <a:rPr lang="en-US" altLang="zh-CN" sz="2400" dirty="0">
                <a:solidFill>
                  <a:srgbClr val="C00000"/>
                </a:solidFill>
                <a:ea typeface="经典宋体简" charset="-122"/>
              </a:rPr>
              <a:t>】</a:t>
            </a:r>
            <a:r>
              <a:rPr lang="zh-CN" altLang="en-US" sz="2400" dirty="0">
                <a:solidFill>
                  <a:srgbClr val="C00000"/>
                </a:solidFill>
                <a:ea typeface="经典宋体简" charset="-122"/>
              </a:rPr>
              <a:t>功能性内聚：</a:t>
            </a:r>
            <a:r>
              <a:rPr lang="zh-CN" altLang="en-US" sz="2400" dirty="0">
                <a:latin typeface="Arial" panose="020B0604020202020204" pitchFamily="34" charset="0"/>
                <a:ea typeface="经典宋体简" charset="-122"/>
              </a:rPr>
              <a:t>模块内所有处理元素属于一个整体，完成一个单一的功能，则称为功能内聚。功能内聚是最高程度的内聚。</a:t>
            </a:r>
          </a:p>
          <a:p>
            <a:pPr algn="l"/>
            <a:r>
              <a:rPr lang="zh-CN" altLang="en-US" sz="2400" dirty="0">
                <a:ea typeface="经典宋体简" charset="-122"/>
              </a:rPr>
              <a:t>            </a:t>
            </a:r>
          </a:p>
          <a:p>
            <a:pPr algn="l"/>
            <a:endParaRPr lang="zh-CN" altLang="en-US" sz="2400" dirty="0">
              <a:ea typeface="经典宋体简" charset="-122"/>
            </a:endParaRPr>
          </a:p>
        </p:txBody>
      </p:sp>
      <p:grpSp>
        <p:nvGrpSpPr>
          <p:cNvPr id="24" name="Group 58">
            <a:extLst>
              <a:ext uri="{FF2B5EF4-FFF2-40B4-BE49-F238E27FC236}">
                <a16:creationId xmlns:a16="http://schemas.microsoft.com/office/drawing/2014/main" id="{582EE299-2E95-44A2-BD93-8E4194357CB1}"/>
              </a:ext>
            </a:extLst>
          </p:cNvPr>
          <p:cNvGrpSpPr>
            <a:grpSpLocks/>
          </p:cNvGrpSpPr>
          <p:nvPr/>
        </p:nvGrpSpPr>
        <p:grpSpPr bwMode="auto">
          <a:xfrm>
            <a:off x="2590800" y="3890067"/>
            <a:ext cx="3276600" cy="1371600"/>
            <a:chOff x="2112" y="2016"/>
            <a:chExt cx="2064" cy="864"/>
          </a:xfrm>
        </p:grpSpPr>
        <p:sp>
          <p:nvSpPr>
            <p:cNvPr id="25" name="Rectangle 23">
              <a:extLst>
                <a:ext uri="{FF2B5EF4-FFF2-40B4-BE49-F238E27FC236}">
                  <a16:creationId xmlns:a16="http://schemas.microsoft.com/office/drawing/2014/main" id="{9704E949-1527-4108-9812-4D257DBFA995}"/>
                </a:ext>
              </a:extLst>
            </p:cNvPr>
            <p:cNvSpPr>
              <a:spLocks noChangeArrowheads="1"/>
            </p:cNvSpPr>
            <p:nvPr/>
          </p:nvSpPr>
          <p:spPr bwMode="auto">
            <a:xfrm>
              <a:off x="2688" y="2016"/>
              <a:ext cx="960" cy="288"/>
            </a:xfrm>
            <a:prstGeom prst="rect">
              <a:avLst/>
            </a:prstGeom>
            <a:solidFill>
              <a:schemeClr val="bg1"/>
            </a:solidFill>
            <a:ln w="9525">
              <a:solidFill>
                <a:srgbClr val="CC00FF"/>
              </a:solidFill>
              <a:miter lim="800000"/>
              <a:headEnd/>
              <a:tailEnd/>
            </a:ln>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a:solidFill>
                    <a:srgbClr val="CC00FF"/>
                  </a:solidFill>
                  <a:ea typeface="幼圆" panose="02010509060101010101" pitchFamily="49" charset="-122"/>
                </a:rPr>
                <a:t>主控模块</a:t>
              </a:r>
            </a:p>
          </p:txBody>
        </p:sp>
        <p:sp>
          <p:nvSpPr>
            <p:cNvPr id="26" name="Line 24">
              <a:extLst>
                <a:ext uri="{FF2B5EF4-FFF2-40B4-BE49-F238E27FC236}">
                  <a16:creationId xmlns:a16="http://schemas.microsoft.com/office/drawing/2014/main" id="{9A648810-2BD7-42F2-8636-4A921069A9D3}"/>
                </a:ext>
              </a:extLst>
            </p:cNvPr>
            <p:cNvSpPr>
              <a:spLocks noChangeShapeType="1"/>
            </p:cNvSpPr>
            <p:nvPr/>
          </p:nvSpPr>
          <p:spPr bwMode="auto">
            <a:xfrm>
              <a:off x="3168" y="2304"/>
              <a:ext cx="0" cy="240"/>
            </a:xfrm>
            <a:prstGeom prst="line">
              <a:avLst/>
            </a:prstGeom>
            <a:noFill/>
            <a:ln w="9525">
              <a:solidFill>
                <a:srgbClr val="CC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 name="Line 25">
              <a:extLst>
                <a:ext uri="{FF2B5EF4-FFF2-40B4-BE49-F238E27FC236}">
                  <a16:creationId xmlns:a16="http://schemas.microsoft.com/office/drawing/2014/main" id="{D394DF1A-CE46-4BC1-88E3-CC0EE6CE0D9E}"/>
                </a:ext>
              </a:extLst>
            </p:cNvPr>
            <p:cNvSpPr>
              <a:spLocks noChangeShapeType="1"/>
            </p:cNvSpPr>
            <p:nvPr/>
          </p:nvSpPr>
          <p:spPr bwMode="auto">
            <a:xfrm>
              <a:off x="2352" y="2400"/>
              <a:ext cx="1584" cy="0"/>
            </a:xfrm>
            <a:prstGeom prst="line">
              <a:avLst/>
            </a:prstGeom>
            <a:noFill/>
            <a:ln w="9525">
              <a:solidFill>
                <a:srgbClr val="CC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 name="Line 26">
              <a:extLst>
                <a:ext uri="{FF2B5EF4-FFF2-40B4-BE49-F238E27FC236}">
                  <a16:creationId xmlns:a16="http://schemas.microsoft.com/office/drawing/2014/main" id="{9475F087-3A1F-4384-9178-4DBE2F62829D}"/>
                </a:ext>
              </a:extLst>
            </p:cNvPr>
            <p:cNvSpPr>
              <a:spLocks noChangeShapeType="1"/>
            </p:cNvSpPr>
            <p:nvPr/>
          </p:nvSpPr>
          <p:spPr bwMode="auto">
            <a:xfrm>
              <a:off x="2352" y="2400"/>
              <a:ext cx="0" cy="144"/>
            </a:xfrm>
            <a:prstGeom prst="line">
              <a:avLst/>
            </a:prstGeom>
            <a:noFill/>
            <a:ln w="9525">
              <a:solidFill>
                <a:srgbClr val="CC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 name="Line 27">
              <a:extLst>
                <a:ext uri="{FF2B5EF4-FFF2-40B4-BE49-F238E27FC236}">
                  <a16:creationId xmlns:a16="http://schemas.microsoft.com/office/drawing/2014/main" id="{CA7AFD18-1D6E-497C-9AE1-9F63ACF707F2}"/>
                </a:ext>
              </a:extLst>
            </p:cNvPr>
            <p:cNvSpPr>
              <a:spLocks noChangeShapeType="1"/>
            </p:cNvSpPr>
            <p:nvPr/>
          </p:nvSpPr>
          <p:spPr bwMode="auto">
            <a:xfrm>
              <a:off x="3936" y="2400"/>
              <a:ext cx="0" cy="144"/>
            </a:xfrm>
            <a:prstGeom prst="line">
              <a:avLst/>
            </a:prstGeom>
            <a:noFill/>
            <a:ln w="9525">
              <a:solidFill>
                <a:srgbClr val="CC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 name="Rectangle 28">
              <a:extLst>
                <a:ext uri="{FF2B5EF4-FFF2-40B4-BE49-F238E27FC236}">
                  <a16:creationId xmlns:a16="http://schemas.microsoft.com/office/drawing/2014/main" id="{5A3CFEDF-1E1C-4205-AB03-FDE7D1E951FF}"/>
                </a:ext>
              </a:extLst>
            </p:cNvPr>
            <p:cNvSpPr>
              <a:spLocks noChangeArrowheads="1"/>
            </p:cNvSpPr>
            <p:nvPr/>
          </p:nvSpPr>
          <p:spPr bwMode="auto">
            <a:xfrm>
              <a:off x="2112" y="2544"/>
              <a:ext cx="528" cy="336"/>
            </a:xfrm>
            <a:prstGeom prst="rect">
              <a:avLst/>
            </a:prstGeom>
            <a:solidFill>
              <a:schemeClr val="bg1"/>
            </a:solidFill>
            <a:ln w="9525">
              <a:solidFill>
                <a:srgbClr val="CC00FF"/>
              </a:solidFill>
              <a:miter lim="800000"/>
              <a:headEnd/>
              <a:tailEnd/>
            </a:ln>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a:solidFill>
                    <a:srgbClr val="CC00FF"/>
                  </a:solidFill>
                  <a:ea typeface="幼圆" panose="02010509060101010101" pitchFamily="49" charset="-122"/>
                </a:rPr>
                <a:t>录入</a:t>
              </a:r>
            </a:p>
          </p:txBody>
        </p:sp>
        <p:sp>
          <p:nvSpPr>
            <p:cNvPr id="31" name="Rectangle 29">
              <a:extLst>
                <a:ext uri="{FF2B5EF4-FFF2-40B4-BE49-F238E27FC236}">
                  <a16:creationId xmlns:a16="http://schemas.microsoft.com/office/drawing/2014/main" id="{320E2F12-53CA-4980-A4AB-B99A84DA9784}"/>
                </a:ext>
              </a:extLst>
            </p:cNvPr>
            <p:cNvSpPr>
              <a:spLocks noChangeArrowheads="1"/>
            </p:cNvSpPr>
            <p:nvPr/>
          </p:nvSpPr>
          <p:spPr bwMode="auto">
            <a:xfrm>
              <a:off x="2928" y="2544"/>
              <a:ext cx="480" cy="336"/>
            </a:xfrm>
            <a:prstGeom prst="rect">
              <a:avLst/>
            </a:prstGeom>
            <a:solidFill>
              <a:schemeClr val="bg1"/>
            </a:solidFill>
            <a:ln w="9525">
              <a:solidFill>
                <a:srgbClr val="CC00FF"/>
              </a:solidFill>
              <a:miter lim="800000"/>
              <a:headEnd/>
              <a:tailEnd/>
            </a:ln>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a:solidFill>
                    <a:srgbClr val="CC00FF"/>
                  </a:solidFill>
                  <a:ea typeface="幼圆" panose="02010509060101010101" pitchFamily="49" charset="-122"/>
                </a:rPr>
                <a:t>查询</a:t>
              </a:r>
            </a:p>
          </p:txBody>
        </p:sp>
        <p:sp>
          <p:nvSpPr>
            <p:cNvPr id="32" name="Rectangle 30">
              <a:extLst>
                <a:ext uri="{FF2B5EF4-FFF2-40B4-BE49-F238E27FC236}">
                  <a16:creationId xmlns:a16="http://schemas.microsoft.com/office/drawing/2014/main" id="{046C4B9D-C4D3-4ED5-B2A4-6A7351655967}"/>
                </a:ext>
              </a:extLst>
            </p:cNvPr>
            <p:cNvSpPr>
              <a:spLocks noChangeArrowheads="1"/>
            </p:cNvSpPr>
            <p:nvPr/>
          </p:nvSpPr>
          <p:spPr bwMode="auto">
            <a:xfrm>
              <a:off x="3648" y="2544"/>
              <a:ext cx="528" cy="336"/>
            </a:xfrm>
            <a:prstGeom prst="rect">
              <a:avLst/>
            </a:prstGeom>
            <a:solidFill>
              <a:schemeClr val="bg1"/>
            </a:solidFill>
            <a:ln w="9525">
              <a:solidFill>
                <a:srgbClr val="CC00FF"/>
              </a:solidFill>
              <a:miter lim="800000"/>
              <a:headEnd/>
              <a:tailEnd/>
            </a:ln>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a:solidFill>
                    <a:srgbClr val="CC00FF"/>
                  </a:solidFill>
                  <a:ea typeface="幼圆" panose="02010509060101010101" pitchFamily="49" charset="-122"/>
                </a:rPr>
                <a:t>打印</a:t>
              </a:r>
            </a:p>
          </p:txBody>
        </p:sp>
      </p:grpSp>
    </p:spTree>
    <p:extLst>
      <p:ext uri="{BB962C8B-B14F-4D97-AF65-F5344CB8AC3E}">
        <p14:creationId xmlns:p14="http://schemas.microsoft.com/office/powerpoint/2010/main" val="33192249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5">
            <a:extLst>
              <a:ext uri="{FF2B5EF4-FFF2-40B4-BE49-F238E27FC236}">
                <a16:creationId xmlns:a16="http://schemas.microsoft.com/office/drawing/2014/main" id="{BCB1B8A4-02A2-4AAF-9314-3F7AEAF6E6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69799E2-B99C-4EAE-8D85-3CB7B1E6B441}" type="slidenum">
              <a:rPr lang="en-US" altLang="en-US"/>
              <a:pPr eaLnBrk="1" hangingPunct="1"/>
              <a:t>22</a:t>
            </a:fld>
            <a:endParaRPr lang="en-US" altLang="en-US"/>
          </a:p>
        </p:txBody>
      </p:sp>
      <p:sp>
        <p:nvSpPr>
          <p:cNvPr id="9219" name="Rectangle 2">
            <a:extLst>
              <a:ext uri="{FF2B5EF4-FFF2-40B4-BE49-F238E27FC236}">
                <a16:creationId xmlns:a16="http://schemas.microsoft.com/office/drawing/2014/main" id="{2613ED5F-13D3-4D93-BBD3-15C1DAFD0014}"/>
              </a:ext>
            </a:extLst>
          </p:cNvPr>
          <p:cNvSpPr>
            <a:spLocks noGrp="1" noChangeArrowheads="1"/>
          </p:cNvSpPr>
          <p:nvPr>
            <p:ph type="title"/>
          </p:nvPr>
        </p:nvSpPr>
        <p:spPr>
          <a:xfrm>
            <a:off x="457200" y="122238"/>
            <a:ext cx="7543800" cy="1020762"/>
          </a:xfrm>
        </p:spPr>
        <p:txBody>
          <a:bodyPr/>
          <a:lstStyle/>
          <a:p>
            <a:pPr eaLnBrk="1" hangingPunct="1"/>
            <a:r>
              <a:rPr lang="zh-CN" altLang="en-US" sz="3600" dirty="0">
                <a:ea typeface="宋体" panose="02010600030101010101" pitchFamily="2" charset="-122"/>
              </a:rPr>
              <a:t>设计原理</a:t>
            </a:r>
            <a:endParaRPr lang="en-US" altLang="zh-CN" sz="3600" dirty="0">
              <a:ea typeface="宋体" panose="02010600030101010101" pitchFamily="2" charset="-122"/>
            </a:endParaRPr>
          </a:p>
        </p:txBody>
      </p:sp>
      <p:sp>
        <p:nvSpPr>
          <p:cNvPr id="9220" name="Rectangle 3">
            <a:extLst>
              <a:ext uri="{FF2B5EF4-FFF2-40B4-BE49-F238E27FC236}">
                <a16:creationId xmlns:a16="http://schemas.microsoft.com/office/drawing/2014/main" id="{F432533E-F133-439A-AB27-1EF55B029342}"/>
              </a:ext>
            </a:extLst>
          </p:cNvPr>
          <p:cNvSpPr>
            <a:spLocks noGrp="1" noChangeArrowheads="1"/>
          </p:cNvSpPr>
          <p:nvPr>
            <p:ph type="body" idx="1"/>
          </p:nvPr>
        </p:nvSpPr>
        <p:spPr>
          <a:xfrm>
            <a:off x="304800" y="1371600"/>
            <a:ext cx="8382000" cy="4419600"/>
          </a:xfrm>
        </p:spPr>
        <p:txBody>
          <a:bodyPr/>
          <a:lstStyle/>
          <a:p>
            <a:pPr eaLnBrk="1" hangingPunct="1">
              <a:lnSpc>
                <a:spcPct val="125000"/>
              </a:lnSpc>
            </a:pPr>
            <a:r>
              <a:rPr lang="zh-CN" altLang="en-US" sz="2800" b="1" dirty="0">
                <a:ea typeface="宋体" panose="02010600030101010101" pitchFamily="2" charset="-122"/>
              </a:rPr>
              <a:t>耦合</a:t>
            </a:r>
          </a:p>
          <a:p>
            <a:pPr eaLnBrk="1" hangingPunct="1">
              <a:lnSpc>
                <a:spcPct val="125000"/>
              </a:lnSpc>
              <a:spcBef>
                <a:spcPct val="0"/>
              </a:spcBef>
            </a:pPr>
            <a:r>
              <a:rPr lang="zh-CN" altLang="en-US" sz="2400" dirty="0">
                <a:solidFill>
                  <a:srgbClr val="C00000"/>
                </a:solidFill>
                <a:ea typeface="宋体" panose="02010600030101010101" pitchFamily="2" charset="-122"/>
              </a:rPr>
              <a:t>耦合是对一个软件结构内不同模块之间互连程度的度量。</a:t>
            </a:r>
            <a:r>
              <a:rPr lang="zh-CN" altLang="en-US" sz="2400" dirty="0">
                <a:ea typeface="宋体" panose="02010600030101010101" pitchFamily="2" charset="-122"/>
              </a:rPr>
              <a:t>耦合强弱取决于模块间接口的复杂程度，进入或访问一个模块的点，以及通过接口的数据。</a:t>
            </a:r>
          </a:p>
          <a:p>
            <a:pPr eaLnBrk="1" hangingPunct="1">
              <a:lnSpc>
                <a:spcPct val="125000"/>
              </a:lnSpc>
              <a:spcBef>
                <a:spcPct val="0"/>
              </a:spcBef>
            </a:pPr>
            <a:r>
              <a:rPr lang="zh-CN" altLang="en-US" sz="2400" dirty="0">
                <a:ea typeface="宋体" panose="02010600030101010101" pitchFamily="2" charset="-122"/>
              </a:rPr>
              <a:t>耦合分为</a:t>
            </a:r>
            <a:r>
              <a:rPr lang="zh-CN" altLang="en-US" sz="2400" dirty="0">
                <a:solidFill>
                  <a:srgbClr val="C00000"/>
                </a:solidFill>
                <a:ea typeface="宋体" panose="02010600030101010101" pitchFamily="2" charset="-122"/>
              </a:rPr>
              <a:t>数据耦合、控制耦合、公共耦合和内容耦合</a:t>
            </a:r>
            <a:r>
              <a:rPr lang="zh-CN" altLang="en-US" sz="2400" dirty="0">
                <a:ea typeface="宋体" panose="02010600030101010101" pitchFamily="2" charset="-122"/>
              </a:rPr>
              <a:t>等</a:t>
            </a:r>
          </a:p>
        </p:txBody>
      </p:sp>
      <p:sp>
        <p:nvSpPr>
          <p:cNvPr id="9222" name="Rectangle 6">
            <a:extLst>
              <a:ext uri="{FF2B5EF4-FFF2-40B4-BE49-F238E27FC236}">
                <a16:creationId xmlns:a16="http://schemas.microsoft.com/office/drawing/2014/main" id="{B46003C0-7BBF-45F9-B3F0-FBE10EA37144}"/>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15" name="Line 1054">
            <a:extLst>
              <a:ext uri="{FF2B5EF4-FFF2-40B4-BE49-F238E27FC236}">
                <a16:creationId xmlns:a16="http://schemas.microsoft.com/office/drawing/2014/main" id="{D97A067B-A2DC-4012-9903-8FD8290057DB}"/>
              </a:ext>
            </a:extLst>
          </p:cNvPr>
          <p:cNvSpPr>
            <a:spLocks noChangeShapeType="1"/>
          </p:cNvSpPr>
          <p:nvPr/>
        </p:nvSpPr>
        <p:spPr bwMode="auto">
          <a:xfrm>
            <a:off x="2975429" y="4642983"/>
            <a:ext cx="3505200" cy="0"/>
          </a:xfrm>
          <a:prstGeom prst="line">
            <a:avLst/>
          </a:prstGeom>
          <a:noFill/>
          <a:ln w="19050">
            <a:solidFill>
              <a:srgbClr val="538E3E"/>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 name="Text Box 1055">
            <a:extLst>
              <a:ext uri="{FF2B5EF4-FFF2-40B4-BE49-F238E27FC236}">
                <a16:creationId xmlns:a16="http://schemas.microsoft.com/office/drawing/2014/main" id="{B5D8B0A6-A5A9-452B-8F83-5160A5127628}"/>
              </a:ext>
            </a:extLst>
          </p:cNvPr>
          <p:cNvSpPr txBox="1">
            <a:spLocks noChangeArrowheads="1"/>
          </p:cNvSpPr>
          <p:nvPr/>
        </p:nvSpPr>
        <p:spPr bwMode="auto">
          <a:xfrm>
            <a:off x="1908629" y="4490583"/>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a:solidFill>
                  <a:srgbClr val="5C22EC"/>
                </a:solidFill>
                <a:ea typeface="幼圆" panose="02010509060101010101" pitchFamily="49" charset="-122"/>
              </a:rPr>
              <a:t>低</a:t>
            </a:r>
          </a:p>
        </p:txBody>
      </p:sp>
      <p:graphicFrame>
        <p:nvGraphicFramePr>
          <p:cNvPr id="17" name="Group 1080">
            <a:extLst>
              <a:ext uri="{FF2B5EF4-FFF2-40B4-BE49-F238E27FC236}">
                <a16:creationId xmlns:a16="http://schemas.microsoft.com/office/drawing/2014/main" id="{044CFBBF-DA65-4314-9E9F-4D33C85A87DD}"/>
              </a:ext>
            </a:extLst>
          </p:cNvPr>
          <p:cNvGraphicFramePr>
            <a:graphicFrameLocks noGrp="1"/>
          </p:cNvGraphicFramePr>
          <p:nvPr>
            <p:extLst>
              <p:ext uri="{D42A27DB-BD31-4B8C-83A1-F6EECF244321}">
                <p14:modId xmlns:p14="http://schemas.microsoft.com/office/powerpoint/2010/main" val="1222627107"/>
              </p:ext>
            </p:extLst>
          </p:nvPr>
        </p:nvGraphicFramePr>
        <p:xfrm>
          <a:off x="1603829" y="4871583"/>
          <a:ext cx="5943600" cy="695325"/>
        </p:xfrm>
        <a:graphic>
          <a:graphicData uri="http://schemas.openxmlformats.org/drawingml/2006/table">
            <a:tbl>
              <a:tblPr/>
              <a:tblGrid>
                <a:gridCol w="990600">
                  <a:extLst>
                    <a:ext uri="{9D8B030D-6E8A-4147-A177-3AD203B41FA5}">
                      <a16:colId xmlns:a16="http://schemas.microsoft.com/office/drawing/2014/main" val="20000"/>
                    </a:ext>
                  </a:extLst>
                </a:gridCol>
                <a:gridCol w="838200">
                  <a:extLst>
                    <a:ext uri="{9D8B030D-6E8A-4147-A177-3AD203B41FA5}">
                      <a16:colId xmlns:a16="http://schemas.microsoft.com/office/drawing/2014/main" val="20001"/>
                    </a:ext>
                  </a:extLst>
                </a:gridCol>
                <a:gridCol w="838200">
                  <a:extLst>
                    <a:ext uri="{9D8B030D-6E8A-4147-A177-3AD203B41FA5}">
                      <a16:colId xmlns:a16="http://schemas.microsoft.com/office/drawing/2014/main" val="20002"/>
                    </a:ext>
                  </a:extLst>
                </a:gridCol>
                <a:gridCol w="838200">
                  <a:extLst>
                    <a:ext uri="{9D8B030D-6E8A-4147-A177-3AD203B41FA5}">
                      <a16:colId xmlns:a16="http://schemas.microsoft.com/office/drawing/2014/main" val="20003"/>
                    </a:ext>
                  </a:extLst>
                </a:gridCol>
                <a:gridCol w="838200">
                  <a:extLst>
                    <a:ext uri="{9D8B030D-6E8A-4147-A177-3AD203B41FA5}">
                      <a16:colId xmlns:a16="http://schemas.microsoft.com/office/drawing/2014/main" val="20004"/>
                    </a:ext>
                  </a:extLst>
                </a:gridCol>
                <a:gridCol w="762000">
                  <a:extLst>
                    <a:ext uri="{9D8B030D-6E8A-4147-A177-3AD203B41FA5}">
                      <a16:colId xmlns:a16="http://schemas.microsoft.com/office/drawing/2014/main" val="20005"/>
                    </a:ext>
                  </a:extLst>
                </a:gridCol>
                <a:gridCol w="838200">
                  <a:extLst>
                    <a:ext uri="{9D8B030D-6E8A-4147-A177-3AD203B41FA5}">
                      <a16:colId xmlns:a16="http://schemas.microsoft.com/office/drawing/2014/main" val="20006"/>
                    </a:ext>
                  </a:extLst>
                </a:gridCol>
              </a:tblGrid>
              <a:tr h="695325">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1" i="0" u="none" strike="noStrike" cap="none" normalizeH="0" baseline="0">
                          <a:ln>
                            <a:noFill/>
                          </a:ln>
                          <a:solidFill>
                            <a:schemeClr val="bg1"/>
                          </a:solidFill>
                          <a:effectLst/>
                          <a:latin typeface="Times New Roman" charset="0"/>
                          <a:ea typeface="黑体" pitchFamily="2" charset="-122"/>
                        </a:rPr>
                        <a:t>非直接</a:t>
                      </a:r>
                    </a:p>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1" i="0" u="none" strike="noStrike" cap="none" normalizeH="0" baseline="0">
                          <a:ln>
                            <a:noFill/>
                          </a:ln>
                          <a:solidFill>
                            <a:schemeClr val="bg1"/>
                          </a:solidFill>
                          <a:effectLst/>
                          <a:latin typeface="Times New Roman" charset="0"/>
                          <a:ea typeface="黑体" pitchFamily="2" charset="-122"/>
                        </a:rPr>
                        <a:t>耦合</a:t>
                      </a:r>
                    </a:p>
                  </a:txBody>
                  <a:tcPr marT="45745" marB="45745" anchor="ctr" horzOverflow="overflow">
                    <a:lnL w="12700" cap="flat" cmpd="sng" algn="ctr">
                      <a:solidFill>
                        <a:srgbClr val="8736E8"/>
                      </a:solidFill>
                      <a:prstDash val="solid"/>
                      <a:round/>
                      <a:headEnd type="none" w="med" len="med"/>
                      <a:tailEnd type="none" w="med" len="med"/>
                    </a:lnL>
                    <a:lnR w="12700" cap="flat" cmpd="sng" algn="ctr">
                      <a:solidFill>
                        <a:srgbClr val="8736E8"/>
                      </a:solidFill>
                      <a:prstDash val="solid"/>
                      <a:round/>
                      <a:headEnd type="none" w="med" len="med"/>
                      <a:tailEnd type="none" w="med" len="med"/>
                    </a:lnR>
                    <a:lnT w="12700" cap="flat" cmpd="sng" algn="ctr">
                      <a:solidFill>
                        <a:srgbClr val="8736E8"/>
                      </a:solidFill>
                      <a:prstDash val="solid"/>
                      <a:round/>
                      <a:headEnd type="none" w="med" len="med"/>
                      <a:tailEnd type="none" w="med" len="med"/>
                    </a:lnT>
                    <a:lnB w="12700" cap="flat" cmpd="sng" algn="ctr">
                      <a:solidFill>
                        <a:srgbClr val="8736E8"/>
                      </a:solidFill>
                      <a:prstDash val="solid"/>
                      <a:round/>
                      <a:headEnd type="none" w="med" len="med"/>
                      <a:tailEnd type="none" w="med" len="med"/>
                    </a:lnB>
                    <a:lnTlToBr>
                      <a:noFill/>
                    </a:lnTlToBr>
                    <a:lnBlToTr>
                      <a:noFill/>
                    </a:lnBlToTr>
                    <a:solidFill>
                      <a:srgbClr val="91D880"/>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1" i="0" u="none" strike="noStrike" cap="none" normalizeH="0" baseline="0">
                          <a:ln>
                            <a:noFill/>
                          </a:ln>
                          <a:solidFill>
                            <a:schemeClr val="bg1"/>
                          </a:solidFill>
                          <a:effectLst/>
                          <a:latin typeface="Times New Roman" charset="0"/>
                          <a:ea typeface="黑体" pitchFamily="2" charset="-122"/>
                        </a:rPr>
                        <a:t>数据</a:t>
                      </a:r>
                    </a:p>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1" i="0" u="none" strike="noStrike" cap="none" normalizeH="0" baseline="0">
                          <a:ln>
                            <a:noFill/>
                          </a:ln>
                          <a:solidFill>
                            <a:schemeClr val="bg1"/>
                          </a:solidFill>
                          <a:effectLst/>
                          <a:latin typeface="Times New Roman" charset="0"/>
                          <a:ea typeface="黑体" pitchFamily="2" charset="-122"/>
                        </a:rPr>
                        <a:t>耦合</a:t>
                      </a:r>
                    </a:p>
                  </a:txBody>
                  <a:tcPr marT="45745" marB="45745" anchor="ctr" horzOverflow="overflow">
                    <a:lnL w="12700" cap="flat" cmpd="sng" algn="ctr">
                      <a:solidFill>
                        <a:srgbClr val="8736E8"/>
                      </a:solidFill>
                      <a:prstDash val="solid"/>
                      <a:round/>
                      <a:headEnd type="none" w="med" len="med"/>
                      <a:tailEnd type="none" w="med" len="med"/>
                    </a:lnL>
                    <a:lnR w="12700" cap="flat" cmpd="sng" algn="ctr">
                      <a:solidFill>
                        <a:srgbClr val="8736E8"/>
                      </a:solidFill>
                      <a:prstDash val="solid"/>
                      <a:round/>
                      <a:headEnd type="none" w="med" len="med"/>
                      <a:tailEnd type="none" w="med" len="med"/>
                    </a:lnR>
                    <a:lnT w="12700" cap="flat" cmpd="sng" algn="ctr">
                      <a:solidFill>
                        <a:srgbClr val="8736E8"/>
                      </a:solidFill>
                      <a:prstDash val="solid"/>
                      <a:round/>
                      <a:headEnd type="none" w="med" len="med"/>
                      <a:tailEnd type="none" w="med" len="med"/>
                    </a:lnT>
                    <a:lnB w="12700" cap="flat" cmpd="sng" algn="ctr">
                      <a:solidFill>
                        <a:srgbClr val="8736E8"/>
                      </a:solidFill>
                      <a:prstDash val="solid"/>
                      <a:round/>
                      <a:headEnd type="none" w="med" len="med"/>
                      <a:tailEnd type="none" w="med" len="med"/>
                    </a:lnB>
                    <a:lnTlToBr>
                      <a:noFill/>
                    </a:lnTlToBr>
                    <a:lnBlToTr>
                      <a:noFill/>
                    </a:lnBlToTr>
                    <a:solidFill>
                      <a:srgbClr val="91D880"/>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1" i="0" u="none" strike="noStrike" cap="none" normalizeH="0" baseline="0">
                          <a:ln>
                            <a:noFill/>
                          </a:ln>
                          <a:solidFill>
                            <a:schemeClr val="bg1"/>
                          </a:solidFill>
                          <a:effectLst/>
                          <a:latin typeface="Times New Roman" charset="0"/>
                          <a:ea typeface="黑体" pitchFamily="2" charset="-122"/>
                        </a:rPr>
                        <a:t>标记</a:t>
                      </a:r>
                    </a:p>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1" i="0" u="none" strike="noStrike" cap="none" normalizeH="0" baseline="0">
                          <a:ln>
                            <a:noFill/>
                          </a:ln>
                          <a:solidFill>
                            <a:schemeClr val="bg1"/>
                          </a:solidFill>
                          <a:effectLst/>
                          <a:latin typeface="Times New Roman" charset="0"/>
                          <a:ea typeface="黑体" pitchFamily="2" charset="-122"/>
                        </a:rPr>
                        <a:t>耦合</a:t>
                      </a:r>
                    </a:p>
                  </a:txBody>
                  <a:tcPr marT="45745" marB="45745" anchor="ctr" horzOverflow="overflow">
                    <a:lnL w="12700" cap="flat" cmpd="sng" algn="ctr">
                      <a:solidFill>
                        <a:srgbClr val="8736E8"/>
                      </a:solidFill>
                      <a:prstDash val="solid"/>
                      <a:round/>
                      <a:headEnd type="none" w="med" len="med"/>
                      <a:tailEnd type="none" w="med" len="med"/>
                    </a:lnL>
                    <a:lnR w="12700" cap="flat" cmpd="sng" algn="ctr">
                      <a:solidFill>
                        <a:srgbClr val="8736E8"/>
                      </a:solidFill>
                      <a:prstDash val="solid"/>
                      <a:round/>
                      <a:headEnd type="none" w="med" len="med"/>
                      <a:tailEnd type="none" w="med" len="med"/>
                    </a:lnR>
                    <a:lnT w="12700" cap="flat" cmpd="sng" algn="ctr">
                      <a:solidFill>
                        <a:srgbClr val="8736E8"/>
                      </a:solidFill>
                      <a:prstDash val="solid"/>
                      <a:round/>
                      <a:headEnd type="none" w="med" len="med"/>
                      <a:tailEnd type="none" w="med" len="med"/>
                    </a:lnT>
                    <a:lnB w="12700" cap="flat" cmpd="sng" algn="ctr">
                      <a:solidFill>
                        <a:srgbClr val="8736E8"/>
                      </a:solidFill>
                      <a:prstDash val="solid"/>
                      <a:round/>
                      <a:headEnd type="none" w="med" len="med"/>
                      <a:tailEnd type="none" w="med" len="med"/>
                    </a:lnB>
                    <a:lnTlToBr>
                      <a:noFill/>
                    </a:lnTlToBr>
                    <a:lnBlToTr>
                      <a:noFill/>
                    </a:lnBlToTr>
                    <a:solidFill>
                      <a:srgbClr val="91D880"/>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600" b="0" i="0" u="none" strike="noStrike" cap="none" normalizeH="0" baseline="0" dirty="0">
                          <a:ln>
                            <a:noFill/>
                          </a:ln>
                          <a:solidFill>
                            <a:srgbClr val="538E3E"/>
                          </a:solidFill>
                          <a:effectLst/>
                          <a:latin typeface="Times New Roman" charset="0"/>
                          <a:ea typeface="幼圆" pitchFamily="49" charset="-122"/>
                        </a:rPr>
                        <a:t>控制</a:t>
                      </a:r>
                    </a:p>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600" b="0" i="0" u="none" strike="noStrike" cap="none" normalizeH="0" baseline="0" dirty="0">
                          <a:ln>
                            <a:noFill/>
                          </a:ln>
                          <a:solidFill>
                            <a:srgbClr val="538E3E"/>
                          </a:solidFill>
                          <a:effectLst/>
                          <a:latin typeface="Times New Roman" charset="0"/>
                          <a:ea typeface="幼圆" pitchFamily="49" charset="-122"/>
                        </a:rPr>
                        <a:t>耦合</a:t>
                      </a:r>
                    </a:p>
                  </a:txBody>
                  <a:tcPr marT="45745" marB="45745" anchor="ctr" horzOverflow="overflow">
                    <a:lnL w="12700" cap="flat" cmpd="sng" algn="ctr">
                      <a:solidFill>
                        <a:srgbClr val="8736E8"/>
                      </a:solidFill>
                      <a:prstDash val="solid"/>
                      <a:round/>
                      <a:headEnd type="none" w="med" len="med"/>
                      <a:tailEnd type="none" w="med" len="med"/>
                    </a:lnL>
                    <a:lnR w="12700" cap="flat" cmpd="sng" algn="ctr">
                      <a:solidFill>
                        <a:srgbClr val="8736E8"/>
                      </a:solidFill>
                      <a:prstDash val="solid"/>
                      <a:round/>
                      <a:headEnd type="none" w="med" len="med"/>
                      <a:tailEnd type="none" w="med" len="med"/>
                    </a:lnR>
                    <a:lnT w="12700" cap="flat" cmpd="sng" algn="ctr">
                      <a:solidFill>
                        <a:srgbClr val="8736E8"/>
                      </a:solidFill>
                      <a:prstDash val="solid"/>
                      <a:round/>
                      <a:headEnd type="none" w="med" len="med"/>
                      <a:tailEnd type="none" w="med" len="med"/>
                    </a:lnT>
                    <a:lnB w="12700" cap="flat" cmpd="sng" algn="ctr">
                      <a:solidFill>
                        <a:srgbClr val="8736E8"/>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600" b="0" i="0" u="none" strike="noStrike" cap="none" normalizeH="0" baseline="0" dirty="0">
                          <a:ln>
                            <a:noFill/>
                          </a:ln>
                          <a:solidFill>
                            <a:srgbClr val="538E3E"/>
                          </a:solidFill>
                          <a:effectLst/>
                          <a:latin typeface="Times New Roman" charset="0"/>
                          <a:ea typeface="幼圆" pitchFamily="49" charset="-122"/>
                        </a:rPr>
                        <a:t>外部</a:t>
                      </a:r>
                    </a:p>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600" b="0" i="0" u="none" strike="noStrike" cap="none" normalizeH="0" baseline="0" dirty="0">
                          <a:ln>
                            <a:noFill/>
                          </a:ln>
                          <a:solidFill>
                            <a:srgbClr val="538E3E"/>
                          </a:solidFill>
                          <a:effectLst/>
                          <a:latin typeface="Times New Roman" charset="0"/>
                          <a:ea typeface="幼圆" pitchFamily="49" charset="-122"/>
                        </a:rPr>
                        <a:t>耦合</a:t>
                      </a:r>
                    </a:p>
                  </a:txBody>
                  <a:tcPr marT="45745" marB="45745" anchor="ctr" horzOverflow="overflow">
                    <a:lnL w="12700" cap="flat" cmpd="sng" algn="ctr">
                      <a:solidFill>
                        <a:srgbClr val="8736E8"/>
                      </a:solidFill>
                      <a:prstDash val="solid"/>
                      <a:round/>
                      <a:headEnd type="none" w="med" len="med"/>
                      <a:tailEnd type="none" w="med" len="med"/>
                    </a:lnL>
                    <a:lnR w="12700" cap="flat" cmpd="sng" algn="ctr">
                      <a:solidFill>
                        <a:srgbClr val="8736E8"/>
                      </a:solidFill>
                      <a:prstDash val="solid"/>
                      <a:round/>
                      <a:headEnd type="none" w="med" len="med"/>
                      <a:tailEnd type="none" w="med" len="med"/>
                    </a:lnR>
                    <a:lnT w="12700" cap="flat" cmpd="sng" algn="ctr">
                      <a:solidFill>
                        <a:srgbClr val="8736E8"/>
                      </a:solidFill>
                      <a:prstDash val="solid"/>
                      <a:round/>
                      <a:headEnd type="none" w="med" len="med"/>
                      <a:tailEnd type="none" w="med" len="med"/>
                    </a:lnT>
                    <a:lnB w="12700" cap="flat" cmpd="sng" algn="ctr">
                      <a:solidFill>
                        <a:srgbClr val="8736E8"/>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600" b="0" i="0" u="none" strike="noStrike" cap="none" normalizeH="0" baseline="0">
                          <a:ln>
                            <a:noFill/>
                          </a:ln>
                          <a:solidFill>
                            <a:srgbClr val="538E3E"/>
                          </a:solidFill>
                          <a:effectLst/>
                          <a:latin typeface="Times New Roman" charset="0"/>
                          <a:ea typeface="幼圆" pitchFamily="49" charset="-122"/>
                        </a:rPr>
                        <a:t>公共</a:t>
                      </a:r>
                    </a:p>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600" b="0" i="0" u="none" strike="noStrike" cap="none" normalizeH="0" baseline="0">
                          <a:ln>
                            <a:noFill/>
                          </a:ln>
                          <a:solidFill>
                            <a:srgbClr val="538E3E"/>
                          </a:solidFill>
                          <a:effectLst/>
                          <a:latin typeface="Times New Roman" charset="0"/>
                          <a:ea typeface="幼圆" pitchFamily="49" charset="-122"/>
                        </a:rPr>
                        <a:t>耦合</a:t>
                      </a:r>
                    </a:p>
                  </a:txBody>
                  <a:tcPr marT="45745" marB="45745" anchor="ctr" horzOverflow="overflow">
                    <a:lnL w="12700" cap="flat" cmpd="sng" algn="ctr">
                      <a:solidFill>
                        <a:srgbClr val="8736E8"/>
                      </a:solidFill>
                      <a:prstDash val="solid"/>
                      <a:round/>
                      <a:headEnd type="none" w="med" len="med"/>
                      <a:tailEnd type="none" w="med" len="med"/>
                    </a:lnL>
                    <a:lnR w="12700" cap="flat" cmpd="sng" algn="ctr">
                      <a:solidFill>
                        <a:srgbClr val="8736E8"/>
                      </a:solidFill>
                      <a:prstDash val="solid"/>
                      <a:round/>
                      <a:headEnd type="none" w="med" len="med"/>
                      <a:tailEnd type="none" w="med" len="med"/>
                    </a:lnR>
                    <a:lnT w="12700" cap="flat" cmpd="sng" algn="ctr">
                      <a:solidFill>
                        <a:srgbClr val="8736E8"/>
                      </a:solidFill>
                      <a:prstDash val="solid"/>
                      <a:round/>
                      <a:headEnd type="none" w="med" len="med"/>
                      <a:tailEnd type="none" w="med" len="med"/>
                    </a:lnT>
                    <a:lnB w="12700" cap="flat" cmpd="sng" algn="ctr">
                      <a:solidFill>
                        <a:srgbClr val="8736E8"/>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600" b="0" i="0" u="none" strike="noStrike" cap="none" normalizeH="0" baseline="0" dirty="0">
                          <a:ln>
                            <a:noFill/>
                          </a:ln>
                          <a:solidFill>
                            <a:srgbClr val="538E3E"/>
                          </a:solidFill>
                          <a:effectLst/>
                          <a:latin typeface="Times New Roman" charset="0"/>
                          <a:ea typeface="幼圆" pitchFamily="49" charset="-122"/>
                        </a:rPr>
                        <a:t>内容</a:t>
                      </a:r>
                    </a:p>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600" b="0" i="0" u="none" strike="noStrike" cap="none" normalizeH="0" baseline="0" dirty="0">
                          <a:ln>
                            <a:noFill/>
                          </a:ln>
                          <a:solidFill>
                            <a:srgbClr val="538E3E"/>
                          </a:solidFill>
                          <a:effectLst/>
                          <a:latin typeface="Times New Roman" charset="0"/>
                          <a:ea typeface="幼圆" pitchFamily="49" charset="-122"/>
                        </a:rPr>
                        <a:t>耦合</a:t>
                      </a:r>
                    </a:p>
                  </a:txBody>
                  <a:tcPr marT="45745" marB="45745" anchor="ctr" horzOverflow="overflow">
                    <a:lnL w="12700" cap="flat" cmpd="sng" algn="ctr">
                      <a:solidFill>
                        <a:srgbClr val="8736E8"/>
                      </a:solidFill>
                      <a:prstDash val="solid"/>
                      <a:round/>
                      <a:headEnd type="none" w="med" len="med"/>
                      <a:tailEnd type="none" w="med" len="med"/>
                    </a:lnL>
                    <a:lnR w="12700" cap="flat" cmpd="sng" algn="ctr">
                      <a:solidFill>
                        <a:srgbClr val="8736E8"/>
                      </a:solidFill>
                      <a:prstDash val="solid"/>
                      <a:round/>
                      <a:headEnd type="none" w="med" len="med"/>
                      <a:tailEnd type="none" w="med" len="med"/>
                    </a:lnR>
                    <a:lnT w="12700" cap="flat" cmpd="sng" algn="ctr">
                      <a:solidFill>
                        <a:srgbClr val="8736E8"/>
                      </a:solidFill>
                      <a:prstDash val="solid"/>
                      <a:round/>
                      <a:headEnd type="none" w="med" len="med"/>
                      <a:tailEnd type="none" w="med" len="med"/>
                    </a:lnT>
                    <a:lnB w="12700" cap="flat" cmpd="sng" algn="ctr">
                      <a:solidFill>
                        <a:srgbClr val="8736E8"/>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8" name="Text Box 1074">
            <a:extLst>
              <a:ext uri="{FF2B5EF4-FFF2-40B4-BE49-F238E27FC236}">
                <a16:creationId xmlns:a16="http://schemas.microsoft.com/office/drawing/2014/main" id="{EC87E0AC-96A0-4BC9-A8CB-56E307877CF3}"/>
              </a:ext>
            </a:extLst>
          </p:cNvPr>
          <p:cNvSpPr txBox="1">
            <a:spLocks noChangeArrowheads="1"/>
          </p:cNvSpPr>
          <p:nvPr/>
        </p:nvSpPr>
        <p:spPr bwMode="auto">
          <a:xfrm>
            <a:off x="6833054" y="4506458"/>
            <a:ext cx="4699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a:solidFill>
                  <a:srgbClr val="5C22EC"/>
                </a:solidFill>
                <a:ea typeface="幼圆" panose="02010509060101010101" pitchFamily="49" charset="-122"/>
              </a:rPr>
              <a:t> 高</a:t>
            </a:r>
          </a:p>
        </p:txBody>
      </p:sp>
      <p:sp>
        <p:nvSpPr>
          <p:cNvPr id="19" name="Text Box 1075">
            <a:extLst>
              <a:ext uri="{FF2B5EF4-FFF2-40B4-BE49-F238E27FC236}">
                <a16:creationId xmlns:a16="http://schemas.microsoft.com/office/drawing/2014/main" id="{FFEA2FC8-BE5E-43F3-ACFA-51B54EF3676C}"/>
              </a:ext>
            </a:extLst>
          </p:cNvPr>
          <p:cNvSpPr txBox="1">
            <a:spLocks noChangeArrowheads="1"/>
          </p:cNvSpPr>
          <p:nvPr/>
        </p:nvSpPr>
        <p:spPr bwMode="auto">
          <a:xfrm>
            <a:off x="6937829" y="5633583"/>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a:solidFill>
                  <a:srgbClr val="5C22EC"/>
                </a:solidFill>
                <a:ea typeface="幼圆" panose="02010509060101010101" pitchFamily="49" charset="-122"/>
              </a:rPr>
              <a:t>弱</a:t>
            </a:r>
          </a:p>
        </p:txBody>
      </p:sp>
      <p:sp>
        <p:nvSpPr>
          <p:cNvPr id="20" name="Text Box 1076">
            <a:extLst>
              <a:ext uri="{FF2B5EF4-FFF2-40B4-BE49-F238E27FC236}">
                <a16:creationId xmlns:a16="http://schemas.microsoft.com/office/drawing/2014/main" id="{2ED8F001-7CE5-49D8-9A43-C8A98EC14A23}"/>
              </a:ext>
            </a:extLst>
          </p:cNvPr>
          <p:cNvSpPr txBox="1">
            <a:spLocks noChangeArrowheads="1"/>
          </p:cNvSpPr>
          <p:nvPr/>
        </p:nvSpPr>
        <p:spPr bwMode="auto">
          <a:xfrm>
            <a:off x="1880054" y="5649458"/>
            <a:ext cx="4699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a:solidFill>
                  <a:srgbClr val="5C22EC"/>
                </a:solidFill>
                <a:ea typeface="幼圆" panose="02010509060101010101" pitchFamily="49" charset="-122"/>
              </a:rPr>
              <a:t> 强</a:t>
            </a:r>
          </a:p>
        </p:txBody>
      </p:sp>
      <p:sp>
        <p:nvSpPr>
          <p:cNvPr id="21" name="Text Box 1077">
            <a:extLst>
              <a:ext uri="{FF2B5EF4-FFF2-40B4-BE49-F238E27FC236}">
                <a16:creationId xmlns:a16="http://schemas.microsoft.com/office/drawing/2014/main" id="{F1DA751B-1006-4407-ADB0-9E4DDE217C6B}"/>
              </a:ext>
            </a:extLst>
          </p:cNvPr>
          <p:cNvSpPr txBox="1">
            <a:spLocks noChangeArrowheads="1"/>
          </p:cNvSpPr>
          <p:nvPr/>
        </p:nvSpPr>
        <p:spPr bwMode="auto">
          <a:xfrm>
            <a:off x="4270829" y="4414383"/>
            <a:ext cx="869950" cy="3667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a:solidFill>
                  <a:srgbClr val="5C22EC"/>
                </a:solidFill>
                <a:ea typeface="幼圆" panose="02010509060101010101" pitchFamily="49" charset="-122"/>
              </a:rPr>
              <a:t>耦合性</a:t>
            </a:r>
          </a:p>
        </p:txBody>
      </p:sp>
      <p:sp>
        <p:nvSpPr>
          <p:cNvPr id="22" name="Line 1078">
            <a:extLst>
              <a:ext uri="{FF2B5EF4-FFF2-40B4-BE49-F238E27FC236}">
                <a16:creationId xmlns:a16="http://schemas.microsoft.com/office/drawing/2014/main" id="{5B519624-CCD2-482A-BCB8-CCEB3A049B76}"/>
              </a:ext>
            </a:extLst>
          </p:cNvPr>
          <p:cNvSpPr>
            <a:spLocks noChangeShapeType="1"/>
          </p:cNvSpPr>
          <p:nvPr/>
        </p:nvSpPr>
        <p:spPr bwMode="auto">
          <a:xfrm>
            <a:off x="2975429" y="5862183"/>
            <a:ext cx="3505200" cy="0"/>
          </a:xfrm>
          <a:prstGeom prst="line">
            <a:avLst/>
          </a:prstGeom>
          <a:noFill/>
          <a:ln w="19050">
            <a:solidFill>
              <a:srgbClr val="538E3E"/>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23" name="Text Box 1079">
            <a:extLst>
              <a:ext uri="{FF2B5EF4-FFF2-40B4-BE49-F238E27FC236}">
                <a16:creationId xmlns:a16="http://schemas.microsoft.com/office/drawing/2014/main" id="{B214A2F3-9CDC-40F6-B3BB-3250B79EF088}"/>
              </a:ext>
            </a:extLst>
          </p:cNvPr>
          <p:cNvSpPr txBox="1">
            <a:spLocks noChangeArrowheads="1"/>
          </p:cNvSpPr>
          <p:nvPr/>
        </p:nvSpPr>
        <p:spPr bwMode="auto">
          <a:xfrm>
            <a:off x="3966029" y="5633583"/>
            <a:ext cx="1327150" cy="3667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a:solidFill>
                  <a:srgbClr val="5C22EC"/>
                </a:solidFill>
                <a:ea typeface="幼圆" panose="02010509060101010101" pitchFamily="49" charset="-122"/>
              </a:rPr>
              <a:t>模块独立性</a:t>
            </a:r>
          </a:p>
        </p:txBody>
      </p:sp>
    </p:spTree>
    <p:extLst>
      <p:ext uri="{BB962C8B-B14F-4D97-AF65-F5344CB8AC3E}">
        <p14:creationId xmlns:p14="http://schemas.microsoft.com/office/powerpoint/2010/main" val="1134662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blinds(vertical)">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blinds(vertical)">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8"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slide(fromLeft)">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5" fill="hold" grpId="0"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blinds(vertical)">
                                      <p:cBhvr>
                                        <p:cTn id="22" dur="5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5"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blinds(vertical)">
                                      <p:cBhvr>
                                        <p:cTn id="27" dur="500"/>
                                        <p:tgtEl>
                                          <p:spTgt spid="18"/>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5" fill="hold" grpId="0"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blinds(vertical)">
                                      <p:cBhvr>
                                        <p:cTn id="32" dur="500"/>
                                        <p:tgtEl>
                                          <p:spTgt spid="19"/>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5" fill="hold" nodeType="click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blinds(vertical)">
                                      <p:cBhvr>
                                        <p:cTn id="37" dur="500"/>
                                        <p:tgtEl>
                                          <p:spTgt spid="22"/>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5" fill="hold" grpId="0" nodeType="click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blinds(vertical)">
                                      <p:cBhvr>
                                        <p:cTn id="42" dur="500"/>
                                        <p:tgtEl>
                                          <p:spTgt spid="23"/>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5" fill="hold" grpId="0" nodeType="click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blinds(vertical)">
                                      <p:cBhvr>
                                        <p:cTn id="4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utoUpdateAnimBg="0"/>
      <p:bldP spid="18" grpId="0" autoUpdateAnimBg="0"/>
      <p:bldP spid="19" grpId="0" autoUpdateAnimBg="0"/>
      <p:bldP spid="20" grpId="0" autoUpdateAnimBg="0"/>
      <p:bldP spid="21" grpId="0" animBg="1" autoUpdateAnimBg="0"/>
      <p:bldP spid="23" grpId="0" animBg="1"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5">
            <a:extLst>
              <a:ext uri="{FF2B5EF4-FFF2-40B4-BE49-F238E27FC236}">
                <a16:creationId xmlns:a16="http://schemas.microsoft.com/office/drawing/2014/main" id="{BCB1B8A4-02A2-4AAF-9314-3F7AEAF6E6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69799E2-B99C-4EAE-8D85-3CB7B1E6B441}" type="slidenum">
              <a:rPr lang="en-US" altLang="en-US"/>
              <a:pPr eaLnBrk="1" hangingPunct="1"/>
              <a:t>23</a:t>
            </a:fld>
            <a:endParaRPr lang="en-US" altLang="en-US"/>
          </a:p>
        </p:txBody>
      </p:sp>
      <p:sp>
        <p:nvSpPr>
          <p:cNvPr id="9219" name="Rectangle 2">
            <a:extLst>
              <a:ext uri="{FF2B5EF4-FFF2-40B4-BE49-F238E27FC236}">
                <a16:creationId xmlns:a16="http://schemas.microsoft.com/office/drawing/2014/main" id="{2613ED5F-13D3-4D93-BBD3-15C1DAFD0014}"/>
              </a:ext>
            </a:extLst>
          </p:cNvPr>
          <p:cNvSpPr>
            <a:spLocks noGrp="1" noChangeArrowheads="1"/>
          </p:cNvSpPr>
          <p:nvPr>
            <p:ph type="title"/>
          </p:nvPr>
        </p:nvSpPr>
        <p:spPr>
          <a:xfrm>
            <a:off x="457200" y="122238"/>
            <a:ext cx="7543800" cy="1020762"/>
          </a:xfrm>
        </p:spPr>
        <p:txBody>
          <a:bodyPr/>
          <a:lstStyle/>
          <a:p>
            <a:pPr eaLnBrk="1" hangingPunct="1"/>
            <a:r>
              <a:rPr lang="zh-CN" altLang="en-US" sz="3600" dirty="0">
                <a:ea typeface="宋体" panose="02010600030101010101" pitchFamily="2" charset="-122"/>
              </a:rPr>
              <a:t>设计原理</a:t>
            </a:r>
            <a:endParaRPr lang="en-US" altLang="zh-CN" sz="3600" dirty="0">
              <a:ea typeface="宋体" panose="02010600030101010101" pitchFamily="2" charset="-122"/>
            </a:endParaRPr>
          </a:p>
        </p:txBody>
      </p:sp>
      <p:sp>
        <p:nvSpPr>
          <p:cNvPr id="9220" name="Rectangle 3">
            <a:extLst>
              <a:ext uri="{FF2B5EF4-FFF2-40B4-BE49-F238E27FC236}">
                <a16:creationId xmlns:a16="http://schemas.microsoft.com/office/drawing/2014/main" id="{F432533E-F133-439A-AB27-1EF55B029342}"/>
              </a:ext>
            </a:extLst>
          </p:cNvPr>
          <p:cNvSpPr>
            <a:spLocks noGrp="1" noChangeArrowheads="1"/>
          </p:cNvSpPr>
          <p:nvPr>
            <p:ph type="body" idx="1"/>
          </p:nvPr>
        </p:nvSpPr>
        <p:spPr>
          <a:xfrm>
            <a:off x="304800" y="1371600"/>
            <a:ext cx="8382000" cy="4419600"/>
          </a:xfrm>
        </p:spPr>
        <p:txBody>
          <a:bodyPr/>
          <a:lstStyle/>
          <a:p>
            <a:pPr eaLnBrk="1" hangingPunct="1">
              <a:lnSpc>
                <a:spcPct val="125000"/>
              </a:lnSpc>
            </a:pPr>
            <a:r>
              <a:rPr lang="zh-CN" altLang="en-US" sz="2800" b="1" dirty="0">
                <a:ea typeface="宋体" panose="02010600030101010101" pitchFamily="2" charset="-122"/>
              </a:rPr>
              <a:t>耦合</a:t>
            </a:r>
          </a:p>
          <a:p>
            <a:pPr eaLnBrk="1" hangingPunct="1">
              <a:lnSpc>
                <a:spcPct val="125000"/>
              </a:lnSpc>
              <a:spcBef>
                <a:spcPct val="0"/>
              </a:spcBef>
            </a:pPr>
            <a:r>
              <a:rPr lang="zh-CN" altLang="en-US" sz="2400" b="1" dirty="0">
                <a:solidFill>
                  <a:srgbClr val="C00000"/>
                </a:solidFill>
                <a:ea typeface="宋体" panose="02010600030101010101" pitchFamily="2" charset="-122"/>
              </a:rPr>
              <a:t>数据耦合：</a:t>
            </a:r>
            <a:r>
              <a:rPr lang="zh-CN" altLang="en-US" sz="2400" dirty="0">
                <a:latin typeface="Arial" panose="020B0604020202020204" pitchFamily="34" charset="0"/>
                <a:ea typeface="经典宋体简" charset="-122"/>
              </a:rPr>
              <a:t>两个模块彼此间通过参数交换信息，而且交换的信息仅仅是数据，那么这种耦合称为数据耦合。数据耦合是低耦合。系统中至少必须存在这种耦合</a:t>
            </a:r>
            <a:endParaRPr lang="en-US" altLang="zh-CN" sz="2400" dirty="0">
              <a:solidFill>
                <a:srgbClr val="C00000"/>
              </a:solidFill>
              <a:ea typeface="宋体" panose="02010600030101010101" pitchFamily="2" charset="-122"/>
            </a:endParaRPr>
          </a:p>
          <a:p>
            <a:pPr eaLnBrk="1" hangingPunct="1">
              <a:lnSpc>
                <a:spcPct val="125000"/>
              </a:lnSpc>
              <a:spcBef>
                <a:spcPct val="0"/>
              </a:spcBef>
            </a:pPr>
            <a:r>
              <a:rPr lang="zh-CN" altLang="en-US" sz="2400" b="1" dirty="0">
                <a:solidFill>
                  <a:srgbClr val="C00000"/>
                </a:solidFill>
                <a:ea typeface="宋体" panose="02010600030101010101" pitchFamily="2" charset="-122"/>
              </a:rPr>
              <a:t>控制耦合：</a:t>
            </a:r>
            <a:r>
              <a:rPr lang="zh-CN" altLang="en-US" sz="2400" dirty="0">
                <a:latin typeface="Arial" panose="020B0604020202020204" pitchFamily="34" charset="0"/>
                <a:ea typeface="经典宋体简" charset="-122"/>
              </a:rPr>
              <a:t>传递的信息中有控制信息</a:t>
            </a:r>
            <a:r>
              <a:rPr lang="en-US" altLang="zh-CN" sz="2400" dirty="0">
                <a:latin typeface="Arial" panose="020B0604020202020204" pitchFamily="34" charset="0"/>
                <a:ea typeface="经典宋体简" charset="-122"/>
              </a:rPr>
              <a:t>(</a:t>
            </a:r>
            <a:r>
              <a:rPr lang="zh-CN" altLang="en-US" sz="2400" dirty="0">
                <a:latin typeface="Arial" panose="020B0604020202020204" pitchFamily="34" charset="0"/>
                <a:ea typeface="经典宋体简" charset="-122"/>
              </a:rPr>
              <a:t>尽管有时这种控制信息以数据的形式出现</a:t>
            </a:r>
            <a:r>
              <a:rPr lang="en-US" altLang="zh-CN" sz="2400" dirty="0">
                <a:latin typeface="Arial" panose="020B0604020202020204" pitchFamily="34" charset="0"/>
                <a:ea typeface="经典宋体简" charset="-122"/>
              </a:rPr>
              <a:t>)</a:t>
            </a:r>
            <a:r>
              <a:rPr lang="zh-CN" altLang="en-US" sz="2400" dirty="0">
                <a:latin typeface="Arial" panose="020B0604020202020204" pitchFamily="34" charset="0"/>
                <a:ea typeface="经典宋体简" charset="-122"/>
              </a:rPr>
              <a:t>，则这种耦合称为控制耦合。控制耦合是中等程度的耦合。</a:t>
            </a:r>
            <a:endParaRPr lang="en-US" altLang="zh-CN" sz="2400" dirty="0">
              <a:solidFill>
                <a:srgbClr val="C00000"/>
              </a:solidFill>
              <a:ea typeface="宋体" panose="02010600030101010101" pitchFamily="2" charset="-122"/>
            </a:endParaRPr>
          </a:p>
          <a:p>
            <a:pPr eaLnBrk="1" hangingPunct="1">
              <a:lnSpc>
                <a:spcPct val="125000"/>
              </a:lnSpc>
              <a:spcBef>
                <a:spcPct val="0"/>
              </a:spcBef>
            </a:pPr>
            <a:endParaRPr lang="zh-CN" altLang="en-US" sz="2400" dirty="0">
              <a:ea typeface="宋体" panose="02010600030101010101" pitchFamily="2" charset="-122"/>
            </a:endParaRPr>
          </a:p>
        </p:txBody>
      </p:sp>
      <p:grpSp>
        <p:nvGrpSpPr>
          <p:cNvPr id="46" name="Group 1074">
            <a:extLst>
              <a:ext uri="{FF2B5EF4-FFF2-40B4-BE49-F238E27FC236}">
                <a16:creationId xmlns:a16="http://schemas.microsoft.com/office/drawing/2014/main" id="{7FA81935-A639-471A-A618-7E613290618F}"/>
              </a:ext>
            </a:extLst>
          </p:cNvPr>
          <p:cNvGrpSpPr>
            <a:grpSpLocks/>
          </p:cNvGrpSpPr>
          <p:nvPr/>
        </p:nvGrpSpPr>
        <p:grpSpPr bwMode="auto">
          <a:xfrm>
            <a:off x="3629818" y="4436268"/>
            <a:ext cx="2313782" cy="2299494"/>
            <a:chOff x="2400" y="2064"/>
            <a:chExt cx="1728" cy="1776"/>
          </a:xfrm>
        </p:grpSpPr>
        <p:sp>
          <p:nvSpPr>
            <p:cNvPr id="47" name="Rectangle 1051">
              <a:extLst>
                <a:ext uri="{FF2B5EF4-FFF2-40B4-BE49-F238E27FC236}">
                  <a16:creationId xmlns:a16="http://schemas.microsoft.com/office/drawing/2014/main" id="{CFF31F6E-68D0-4D2F-947F-026507D18FAC}"/>
                </a:ext>
              </a:extLst>
            </p:cNvPr>
            <p:cNvSpPr>
              <a:spLocks noChangeArrowheads="1"/>
            </p:cNvSpPr>
            <p:nvPr/>
          </p:nvSpPr>
          <p:spPr bwMode="auto">
            <a:xfrm>
              <a:off x="2880" y="2064"/>
              <a:ext cx="768" cy="240"/>
            </a:xfrm>
            <a:prstGeom prst="rect">
              <a:avLst/>
            </a:prstGeom>
            <a:solidFill>
              <a:schemeClr val="bg1"/>
            </a:solidFill>
            <a:ln w="9525">
              <a:solidFill>
                <a:schemeClr val="tx1"/>
              </a:solidFill>
              <a:miter lim="800000"/>
              <a:headEnd/>
              <a:tailEnd/>
            </a:ln>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000">
                  <a:solidFill>
                    <a:srgbClr val="FF3399"/>
                  </a:solidFill>
                  <a:latin typeface="Arial" panose="020B0604020202020204" pitchFamily="34" charset="0"/>
                  <a:ea typeface="黑体" panose="02010609060101010101" pitchFamily="49" charset="-122"/>
                </a:rPr>
                <a:t>A </a:t>
              </a:r>
              <a:r>
                <a:rPr lang="zh-CN" altLang="en-US" sz="1800">
                  <a:solidFill>
                    <a:srgbClr val="046C36"/>
                  </a:solidFill>
                  <a:ea typeface="黑体" panose="02010609060101010101" pitchFamily="49" charset="-122"/>
                </a:rPr>
                <a:t>模块</a:t>
              </a:r>
            </a:p>
          </p:txBody>
        </p:sp>
        <p:sp>
          <p:nvSpPr>
            <p:cNvPr id="48" name="Line 1052">
              <a:extLst>
                <a:ext uri="{FF2B5EF4-FFF2-40B4-BE49-F238E27FC236}">
                  <a16:creationId xmlns:a16="http://schemas.microsoft.com/office/drawing/2014/main" id="{12E79DD7-1F9F-45CE-8184-0DE6AD8F8D05}"/>
                </a:ext>
              </a:extLst>
            </p:cNvPr>
            <p:cNvSpPr>
              <a:spLocks noChangeShapeType="1"/>
            </p:cNvSpPr>
            <p:nvPr/>
          </p:nvSpPr>
          <p:spPr bwMode="auto">
            <a:xfrm>
              <a:off x="3264" y="2304"/>
              <a:ext cx="0"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 name="AutoShape 1053">
              <a:extLst>
                <a:ext uri="{FF2B5EF4-FFF2-40B4-BE49-F238E27FC236}">
                  <a16:creationId xmlns:a16="http://schemas.microsoft.com/office/drawing/2014/main" id="{29451DBA-0FB7-448E-B63E-3017F1401314}"/>
                </a:ext>
              </a:extLst>
            </p:cNvPr>
            <p:cNvSpPr>
              <a:spLocks noChangeArrowheads="1"/>
            </p:cNvSpPr>
            <p:nvPr/>
          </p:nvSpPr>
          <p:spPr bwMode="auto">
            <a:xfrm>
              <a:off x="2880" y="2496"/>
              <a:ext cx="768" cy="288"/>
            </a:xfrm>
            <a:prstGeom prst="diamond">
              <a:avLst/>
            </a:prstGeom>
            <a:solidFill>
              <a:schemeClr val="bg1"/>
            </a:solidFill>
            <a:ln w="9525">
              <a:solidFill>
                <a:schemeClr val="tx1"/>
              </a:solidFill>
              <a:miter lim="800000"/>
              <a:headEnd/>
              <a:tailEnd/>
            </a:ln>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600">
                  <a:solidFill>
                    <a:srgbClr val="FF3399"/>
                  </a:solidFill>
                  <a:latin typeface="Arial" panose="020B0604020202020204" pitchFamily="34" charset="0"/>
                  <a:ea typeface="黑体" panose="02010609060101010101" pitchFamily="49" charset="-122"/>
                </a:rPr>
                <a:t>flag</a:t>
              </a:r>
            </a:p>
          </p:txBody>
        </p:sp>
        <p:sp>
          <p:nvSpPr>
            <p:cNvPr id="50" name="Line 1054">
              <a:extLst>
                <a:ext uri="{FF2B5EF4-FFF2-40B4-BE49-F238E27FC236}">
                  <a16:creationId xmlns:a16="http://schemas.microsoft.com/office/drawing/2014/main" id="{D8C1A254-204E-4C05-B7D8-7EC743228D45}"/>
                </a:ext>
              </a:extLst>
            </p:cNvPr>
            <p:cNvSpPr>
              <a:spLocks noChangeShapeType="1"/>
            </p:cNvSpPr>
            <p:nvPr/>
          </p:nvSpPr>
          <p:spPr bwMode="auto">
            <a:xfrm>
              <a:off x="2736" y="2880"/>
              <a:ext cx="105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 name="Line 1056">
              <a:extLst>
                <a:ext uri="{FF2B5EF4-FFF2-40B4-BE49-F238E27FC236}">
                  <a16:creationId xmlns:a16="http://schemas.microsoft.com/office/drawing/2014/main" id="{754FB3AF-E7A4-4743-A773-1516A4D292A7}"/>
                </a:ext>
              </a:extLst>
            </p:cNvPr>
            <p:cNvSpPr>
              <a:spLocks noChangeShapeType="1"/>
            </p:cNvSpPr>
            <p:nvPr/>
          </p:nvSpPr>
          <p:spPr bwMode="auto">
            <a:xfrm>
              <a:off x="2736" y="2880"/>
              <a:ext cx="0"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 name="Rectangle 1058">
              <a:extLst>
                <a:ext uri="{FF2B5EF4-FFF2-40B4-BE49-F238E27FC236}">
                  <a16:creationId xmlns:a16="http://schemas.microsoft.com/office/drawing/2014/main" id="{198F07EF-3AC6-4734-A1C7-DF7DA02CBAE1}"/>
                </a:ext>
              </a:extLst>
            </p:cNvPr>
            <p:cNvSpPr>
              <a:spLocks noChangeArrowheads="1"/>
            </p:cNvSpPr>
            <p:nvPr/>
          </p:nvSpPr>
          <p:spPr bwMode="auto">
            <a:xfrm>
              <a:off x="2640" y="3072"/>
              <a:ext cx="240" cy="288"/>
            </a:xfrm>
            <a:prstGeom prst="rect">
              <a:avLst/>
            </a:prstGeom>
            <a:solidFill>
              <a:schemeClr val="bg1"/>
            </a:solidFill>
            <a:ln w="9525">
              <a:solidFill>
                <a:schemeClr val="tx1"/>
              </a:solidFill>
              <a:miter lim="800000"/>
              <a:headEnd/>
              <a:tailEnd/>
            </a:ln>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a:solidFill>
                    <a:srgbClr val="046C36"/>
                  </a:solidFill>
                  <a:latin typeface="Arial" panose="020B0604020202020204" pitchFamily="34" charset="0"/>
                  <a:ea typeface="黑体" panose="02010609060101010101" pitchFamily="49" charset="-122"/>
                </a:rPr>
                <a:t>f1</a:t>
              </a:r>
            </a:p>
          </p:txBody>
        </p:sp>
        <p:sp>
          <p:nvSpPr>
            <p:cNvPr id="53" name="Line 1060">
              <a:extLst>
                <a:ext uri="{FF2B5EF4-FFF2-40B4-BE49-F238E27FC236}">
                  <a16:creationId xmlns:a16="http://schemas.microsoft.com/office/drawing/2014/main" id="{0D92D572-1FAD-4F31-97F3-9CD206A8115C}"/>
                </a:ext>
              </a:extLst>
            </p:cNvPr>
            <p:cNvSpPr>
              <a:spLocks noChangeShapeType="1"/>
            </p:cNvSpPr>
            <p:nvPr/>
          </p:nvSpPr>
          <p:spPr bwMode="auto">
            <a:xfrm>
              <a:off x="2736" y="3360"/>
              <a:ext cx="0"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 name="Line 1061">
              <a:extLst>
                <a:ext uri="{FF2B5EF4-FFF2-40B4-BE49-F238E27FC236}">
                  <a16:creationId xmlns:a16="http://schemas.microsoft.com/office/drawing/2014/main" id="{3A8493A7-7E7E-4246-9F25-D457D2DAC830}"/>
                </a:ext>
              </a:extLst>
            </p:cNvPr>
            <p:cNvSpPr>
              <a:spLocks noChangeShapeType="1"/>
            </p:cNvSpPr>
            <p:nvPr/>
          </p:nvSpPr>
          <p:spPr bwMode="auto">
            <a:xfrm>
              <a:off x="3792" y="3360"/>
              <a:ext cx="0"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 name="Line 1062">
              <a:extLst>
                <a:ext uri="{FF2B5EF4-FFF2-40B4-BE49-F238E27FC236}">
                  <a16:creationId xmlns:a16="http://schemas.microsoft.com/office/drawing/2014/main" id="{2FE2B365-C3F8-4D74-B72B-35DD585F3C15}"/>
                </a:ext>
              </a:extLst>
            </p:cNvPr>
            <p:cNvSpPr>
              <a:spLocks noChangeShapeType="1"/>
            </p:cNvSpPr>
            <p:nvPr/>
          </p:nvSpPr>
          <p:spPr bwMode="auto">
            <a:xfrm>
              <a:off x="2736" y="3552"/>
              <a:ext cx="105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 name="Line 1063">
              <a:extLst>
                <a:ext uri="{FF2B5EF4-FFF2-40B4-BE49-F238E27FC236}">
                  <a16:creationId xmlns:a16="http://schemas.microsoft.com/office/drawing/2014/main" id="{127F92F8-0587-41D4-8365-B8344D05133E}"/>
                </a:ext>
              </a:extLst>
            </p:cNvPr>
            <p:cNvSpPr>
              <a:spLocks noChangeShapeType="1"/>
            </p:cNvSpPr>
            <p:nvPr/>
          </p:nvSpPr>
          <p:spPr bwMode="auto">
            <a:xfrm>
              <a:off x="3312" y="3552"/>
              <a:ext cx="0"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7" name="Rectangle 1065">
              <a:extLst>
                <a:ext uri="{FF2B5EF4-FFF2-40B4-BE49-F238E27FC236}">
                  <a16:creationId xmlns:a16="http://schemas.microsoft.com/office/drawing/2014/main" id="{DDBD8A03-A399-4E46-84A2-4BB70E6FF59A}"/>
                </a:ext>
              </a:extLst>
            </p:cNvPr>
            <p:cNvSpPr>
              <a:spLocks noChangeArrowheads="1"/>
            </p:cNvSpPr>
            <p:nvPr/>
          </p:nvSpPr>
          <p:spPr bwMode="auto">
            <a:xfrm>
              <a:off x="2400" y="2400"/>
              <a:ext cx="1728" cy="1344"/>
            </a:xfrm>
            <a:prstGeom prst="rect">
              <a:avLst/>
            </a:prstGeom>
            <a:noFill/>
            <a:ln w="9525">
              <a:solidFill>
                <a:srgbClr val="CC00FF"/>
              </a:solidFill>
              <a:prstDash val="lgDashDot"/>
              <a:miter lim="800000"/>
              <a:headEnd/>
              <a:tailEnd/>
            </a:ln>
            <a:extLst>
              <a:ext uri="{909E8E84-426E-40DD-AFC4-6F175D3DCCD1}">
                <a14:hiddenFill xmlns:a14="http://schemas.microsoft.com/office/drawing/2010/main">
                  <a:solidFill>
                    <a:srgbClr val="FFFFFF"/>
                  </a:solidFill>
                </a14:hiddenFill>
              </a:ext>
            </a:extLst>
          </p:spPr>
          <p:txBody>
            <a:bodyPr wrap="none"/>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pPr algn="l"/>
              <a:r>
                <a:rPr lang="en-US" altLang="zh-CN" sz="2000">
                  <a:solidFill>
                    <a:srgbClr val="FF3399"/>
                  </a:solidFill>
                  <a:latin typeface="Arial" panose="020B0604020202020204" pitchFamily="34" charset="0"/>
                </a:rPr>
                <a:t>B</a:t>
              </a:r>
            </a:p>
          </p:txBody>
        </p:sp>
        <p:sp>
          <p:nvSpPr>
            <p:cNvPr id="58" name="Rectangle 1066">
              <a:extLst>
                <a:ext uri="{FF2B5EF4-FFF2-40B4-BE49-F238E27FC236}">
                  <a16:creationId xmlns:a16="http://schemas.microsoft.com/office/drawing/2014/main" id="{7D3C53E6-39D6-4D3F-BD03-A4258A6C71C9}"/>
                </a:ext>
              </a:extLst>
            </p:cNvPr>
            <p:cNvSpPr>
              <a:spLocks noChangeArrowheads="1"/>
            </p:cNvSpPr>
            <p:nvPr/>
          </p:nvSpPr>
          <p:spPr bwMode="auto">
            <a:xfrm>
              <a:off x="2976" y="3072"/>
              <a:ext cx="240" cy="288"/>
            </a:xfrm>
            <a:prstGeom prst="rect">
              <a:avLst/>
            </a:prstGeom>
            <a:solidFill>
              <a:schemeClr val="bg1"/>
            </a:solidFill>
            <a:ln w="9525">
              <a:solidFill>
                <a:schemeClr val="tx1"/>
              </a:solidFill>
              <a:miter lim="800000"/>
              <a:headEnd/>
              <a:tailEnd/>
            </a:ln>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a:solidFill>
                    <a:srgbClr val="046C36"/>
                  </a:solidFill>
                  <a:latin typeface="Arial" panose="020B0604020202020204" pitchFamily="34" charset="0"/>
                  <a:ea typeface="黑体" panose="02010609060101010101" pitchFamily="49" charset="-122"/>
                </a:rPr>
                <a:t>f2</a:t>
              </a:r>
            </a:p>
          </p:txBody>
        </p:sp>
        <p:sp>
          <p:nvSpPr>
            <p:cNvPr id="59" name="Line 1067">
              <a:extLst>
                <a:ext uri="{FF2B5EF4-FFF2-40B4-BE49-F238E27FC236}">
                  <a16:creationId xmlns:a16="http://schemas.microsoft.com/office/drawing/2014/main" id="{002EEE5A-0B7B-49CC-A114-47231C557B96}"/>
                </a:ext>
              </a:extLst>
            </p:cNvPr>
            <p:cNvSpPr>
              <a:spLocks noChangeShapeType="1"/>
            </p:cNvSpPr>
            <p:nvPr/>
          </p:nvSpPr>
          <p:spPr bwMode="auto">
            <a:xfrm>
              <a:off x="3264" y="2784"/>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 name="Rectangle 1068">
              <a:extLst>
                <a:ext uri="{FF2B5EF4-FFF2-40B4-BE49-F238E27FC236}">
                  <a16:creationId xmlns:a16="http://schemas.microsoft.com/office/drawing/2014/main" id="{877981ED-63A0-4188-8282-7ED7F91F922C}"/>
                </a:ext>
              </a:extLst>
            </p:cNvPr>
            <p:cNvSpPr>
              <a:spLocks noChangeArrowheads="1"/>
            </p:cNvSpPr>
            <p:nvPr/>
          </p:nvSpPr>
          <p:spPr bwMode="auto">
            <a:xfrm>
              <a:off x="3648" y="3072"/>
              <a:ext cx="240" cy="288"/>
            </a:xfrm>
            <a:prstGeom prst="rect">
              <a:avLst/>
            </a:prstGeom>
            <a:solidFill>
              <a:schemeClr val="bg1"/>
            </a:solidFill>
            <a:ln w="9525">
              <a:solidFill>
                <a:schemeClr val="tx1"/>
              </a:solidFill>
              <a:miter lim="800000"/>
              <a:headEnd/>
              <a:tailEnd/>
            </a:ln>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a:solidFill>
                    <a:srgbClr val="046C36"/>
                  </a:solidFill>
                  <a:latin typeface="Arial" panose="020B0604020202020204" pitchFamily="34" charset="0"/>
                  <a:ea typeface="黑体" panose="02010609060101010101" pitchFamily="49" charset="-122"/>
                </a:rPr>
                <a:t>fn</a:t>
              </a:r>
            </a:p>
          </p:txBody>
        </p:sp>
        <p:sp>
          <p:nvSpPr>
            <p:cNvPr id="61" name="Line 1069">
              <a:extLst>
                <a:ext uri="{FF2B5EF4-FFF2-40B4-BE49-F238E27FC236}">
                  <a16:creationId xmlns:a16="http://schemas.microsoft.com/office/drawing/2014/main" id="{1BF0303A-C9C4-4EDE-A9CA-8463E275EE2A}"/>
                </a:ext>
              </a:extLst>
            </p:cNvPr>
            <p:cNvSpPr>
              <a:spLocks noChangeShapeType="1"/>
            </p:cNvSpPr>
            <p:nvPr/>
          </p:nvSpPr>
          <p:spPr bwMode="auto">
            <a:xfrm>
              <a:off x="3072" y="2880"/>
              <a:ext cx="0"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2" name="Line 1070">
              <a:extLst>
                <a:ext uri="{FF2B5EF4-FFF2-40B4-BE49-F238E27FC236}">
                  <a16:creationId xmlns:a16="http://schemas.microsoft.com/office/drawing/2014/main" id="{66EA1F66-C0F1-44F8-B5CC-ED6DB2A1686C}"/>
                </a:ext>
              </a:extLst>
            </p:cNvPr>
            <p:cNvSpPr>
              <a:spLocks noChangeShapeType="1"/>
            </p:cNvSpPr>
            <p:nvPr/>
          </p:nvSpPr>
          <p:spPr bwMode="auto">
            <a:xfrm>
              <a:off x="3792" y="2880"/>
              <a:ext cx="0"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3" name="Rectangle 1071">
              <a:extLst>
                <a:ext uri="{FF2B5EF4-FFF2-40B4-BE49-F238E27FC236}">
                  <a16:creationId xmlns:a16="http://schemas.microsoft.com/office/drawing/2014/main" id="{7721E612-9A11-41B5-A2A9-A77F50CDB28E}"/>
                </a:ext>
              </a:extLst>
            </p:cNvPr>
            <p:cNvSpPr>
              <a:spLocks noChangeArrowheads="1"/>
            </p:cNvSpPr>
            <p:nvPr/>
          </p:nvSpPr>
          <p:spPr bwMode="auto">
            <a:xfrm>
              <a:off x="3312" y="3072"/>
              <a:ext cx="240" cy="2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a:solidFill>
                    <a:srgbClr val="046C36"/>
                  </a:solidFill>
                  <a:latin typeface="Arial" panose="020B0604020202020204" pitchFamily="34" charset="0"/>
                  <a:ea typeface="黑体" panose="02010609060101010101" pitchFamily="49" charset="-122"/>
                </a:rPr>
                <a:t>… …</a:t>
              </a:r>
            </a:p>
          </p:txBody>
        </p:sp>
        <p:sp>
          <p:nvSpPr>
            <p:cNvPr id="64" name="Line 1073">
              <a:extLst>
                <a:ext uri="{FF2B5EF4-FFF2-40B4-BE49-F238E27FC236}">
                  <a16:creationId xmlns:a16="http://schemas.microsoft.com/office/drawing/2014/main" id="{CC303709-7DB3-4E56-900F-755829273C1B}"/>
                </a:ext>
              </a:extLst>
            </p:cNvPr>
            <p:cNvSpPr>
              <a:spLocks noChangeShapeType="1"/>
            </p:cNvSpPr>
            <p:nvPr/>
          </p:nvSpPr>
          <p:spPr bwMode="auto">
            <a:xfrm>
              <a:off x="3072" y="3360"/>
              <a:ext cx="0"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Tree>
    <p:extLst>
      <p:ext uri="{BB962C8B-B14F-4D97-AF65-F5344CB8AC3E}">
        <p14:creationId xmlns:p14="http://schemas.microsoft.com/office/powerpoint/2010/main" val="766535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blinds(vertical)">
                                      <p:cBhvr>
                                        <p:cTn id="7"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5">
            <a:extLst>
              <a:ext uri="{FF2B5EF4-FFF2-40B4-BE49-F238E27FC236}">
                <a16:creationId xmlns:a16="http://schemas.microsoft.com/office/drawing/2014/main" id="{BCB1B8A4-02A2-4AAF-9314-3F7AEAF6E6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69799E2-B99C-4EAE-8D85-3CB7B1E6B441}" type="slidenum">
              <a:rPr lang="en-US" altLang="en-US"/>
              <a:pPr eaLnBrk="1" hangingPunct="1"/>
              <a:t>24</a:t>
            </a:fld>
            <a:endParaRPr lang="en-US" altLang="en-US"/>
          </a:p>
        </p:txBody>
      </p:sp>
      <p:sp>
        <p:nvSpPr>
          <p:cNvPr id="9219" name="Rectangle 2">
            <a:extLst>
              <a:ext uri="{FF2B5EF4-FFF2-40B4-BE49-F238E27FC236}">
                <a16:creationId xmlns:a16="http://schemas.microsoft.com/office/drawing/2014/main" id="{2613ED5F-13D3-4D93-BBD3-15C1DAFD0014}"/>
              </a:ext>
            </a:extLst>
          </p:cNvPr>
          <p:cNvSpPr>
            <a:spLocks noGrp="1" noChangeArrowheads="1"/>
          </p:cNvSpPr>
          <p:nvPr>
            <p:ph type="title"/>
          </p:nvPr>
        </p:nvSpPr>
        <p:spPr>
          <a:xfrm>
            <a:off x="457200" y="122238"/>
            <a:ext cx="7543800" cy="1020762"/>
          </a:xfrm>
        </p:spPr>
        <p:txBody>
          <a:bodyPr/>
          <a:lstStyle/>
          <a:p>
            <a:pPr eaLnBrk="1" hangingPunct="1"/>
            <a:r>
              <a:rPr lang="zh-CN" altLang="en-US" sz="3600" dirty="0">
                <a:ea typeface="宋体" panose="02010600030101010101" pitchFamily="2" charset="-122"/>
              </a:rPr>
              <a:t>设计原理</a:t>
            </a:r>
            <a:endParaRPr lang="en-US" altLang="zh-CN" sz="3600" dirty="0">
              <a:ea typeface="宋体" panose="02010600030101010101" pitchFamily="2" charset="-122"/>
            </a:endParaRPr>
          </a:p>
        </p:txBody>
      </p:sp>
      <p:sp>
        <p:nvSpPr>
          <p:cNvPr id="9220" name="Rectangle 3">
            <a:extLst>
              <a:ext uri="{FF2B5EF4-FFF2-40B4-BE49-F238E27FC236}">
                <a16:creationId xmlns:a16="http://schemas.microsoft.com/office/drawing/2014/main" id="{F432533E-F133-439A-AB27-1EF55B029342}"/>
              </a:ext>
            </a:extLst>
          </p:cNvPr>
          <p:cNvSpPr>
            <a:spLocks noGrp="1" noChangeArrowheads="1"/>
          </p:cNvSpPr>
          <p:nvPr>
            <p:ph type="body" idx="1"/>
          </p:nvPr>
        </p:nvSpPr>
        <p:spPr>
          <a:xfrm>
            <a:off x="304800" y="1371600"/>
            <a:ext cx="8382000" cy="4419600"/>
          </a:xfrm>
        </p:spPr>
        <p:txBody>
          <a:bodyPr/>
          <a:lstStyle/>
          <a:p>
            <a:pPr eaLnBrk="1" hangingPunct="1">
              <a:lnSpc>
                <a:spcPct val="125000"/>
              </a:lnSpc>
            </a:pPr>
            <a:r>
              <a:rPr lang="zh-CN" altLang="en-US" sz="2800" b="1" dirty="0">
                <a:ea typeface="宋体" panose="02010600030101010101" pitchFamily="2" charset="-122"/>
              </a:rPr>
              <a:t>耦合</a:t>
            </a:r>
          </a:p>
          <a:p>
            <a:pPr eaLnBrk="1" hangingPunct="1">
              <a:lnSpc>
                <a:spcPct val="125000"/>
              </a:lnSpc>
              <a:spcBef>
                <a:spcPct val="0"/>
              </a:spcBef>
            </a:pPr>
            <a:r>
              <a:rPr lang="zh-CN" altLang="en-US" sz="2400" b="1" dirty="0">
                <a:solidFill>
                  <a:srgbClr val="C00000"/>
                </a:solidFill>
                <a:ea typeface="宋体" panose="02010600030101010101" pitchFamily="2" charset="-122"/>
              </a:rPr>
              <a:t>公共耦合：</a:t>
            </a:r>
            <a:r>
              <a:rPr lang="zh-CN" altLang="en-US" sz="2400" dirty="0">
                <a:latin typeface="Arial" panose="020B0604020202020204" pitchFamily="34" charset="0"/>
                <a:ea typeface="经典宋体简" charset="-122"/>
              </a:rPr>
              <a:t>当两个或多个模块通过一个公共数据环境相互作用时，它们之间的耦合称为公共环境耦合。公共环境可以是变量、共享的通信区、内存的公共覆盖区、任何存储介质上的文件、物理设备等。</a:t>
            </a:r>
          </a:p>
          <a:p>
            <a:pPr eaLnBrk="1" hangingPunct="1">
              <a:lnSpc>
                <a:spcPct val="125000"/>
              </a:lnSpc>
              <a:spcBef>
                <a:spcPct val="0"/>
              </a:spcBef>
            </a:pPr>
            <a:endParaRPr lang="zh-CN" altLang="en-US" sz="2400" dirty="0">
              <a:ea typeface="宋体" panose="02010600030101010101" pitchFamily="2" charset="-122"/>
            </a:endParaRPr>
          </a:p>
        </p:txBody>
      </p:sp>
      <p:sp>
        <p:nvSpPr>
          <p:cNvPr id="9222" name="Rectangle 6">
            <a:extLst>
              <a:ext uri="{FF2B5EF4-FFF2-40B4-BE49-F238E27FC236}">
                <a16:creationId xmlns:a16="http://schemas.microsoft.com/office/drawing/2014/main" id="{B46003C0-7BBF-45F9-B3F0-FBE10EA37144}"/>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grpSp>
        <p:nvGrpSpPr>
          <p:cNvPr id="24" name="Group 61">
            <a:extLst>
              <a:ext uri="{FF2B5EF4-FFF2-40B4-BE49-F238E27FC236}">
                <a16:creationId xmlns:a16="http://schemas.microsoft.com/office/drawing/2014/main" id="{CEF87EA4-8719-4B28-AB6F-5E83E6ACF6F9}"/>
              </a:ext>
            </a:extLst>
          </p:cNvPr>
          <p:cNvGrpSpPr>
            <a:grpSpLocks/>
          </p:cNvGrpSpPr>
          <p:nvPr/>
        </p:nvGrpSpPr>
        <p:grpSpPr bwMode="auto">
          <a:xfrm>
            <a:off x="2362200" y="3962400"/>
            <a:ext cx="5181600" cy="2590800"/>
            <a:chOff x="1488" y="1728"/>
            <a:chExt cx="4096" cy="2400"/>
          </a:xfrm>
        </p:grpSpPr>
        <p:sp>
          <p:nvSpPr>
            <p:cNvPr id="25" name="Rectangle 39">
              <a:extLst>
                <a:ext uri="{FF2B5EF4-FFF2-40B4-BE49-F238E27FC236}">
                  <a16:creationId xmlns:a16="http://schemas.microsoft.com/office/drawing/2014/main" id="{E172ADF5-D31B-4BB1-8548-E32A08DAA3B7}"/>
                </a:ext>
              </a:extLst>
            </p:cNvPr>
            <p:cNvSpPr>
              <a:spLocks noChangeArrowheads="1"/>
            </p:cNvSpPr>
            <p:nvPr/>
          </p:nvSpPr>
          <p:spPr bwMode="auto">
            <a:xfrm>
              <a:off x="2736" y="1728"/>
              <a:ext cx="672" cy="1008"/>
            </a:xfrm>
            <a:prstGeom prst="rect">
              <a:avLst/>
            </a:prstGeom>
            <a:solidFill>
              <a:srgbClr val="99CC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2000" b="1" dirty="0">
                  <a:solidFill>
                    <a:schemeClr val="bg1"/>
                  </a:solidFill>
                </a:rPr>
                <a:t>全局</a:t>
              </a:r>
            </a:p>
            <a:p>
              <a:r>
                <a:rPr lang="zh-CN" altLang="en-US" sz="2000" b="1" dirty="0">
                  <a:solidFill>
                    <a:schemeClr val="bg1"/>
                  </a:solidFill>
                </a:rPr>
                <a:t>数据区</a:t>
              </a:r>
            </a:p>
            <a:p>
              <a:endParaRPr lang="zh-CN" altLang="en-US" sz="2000" b="1" dirty="0">
                <a:solidFill>
                  <a:schemeClr val="bg1"/>
                </a:solidFill>
              </a:endParaRPr>
            </a:p>
            <a:p>
              <a:endParaRPr lang="zh-CN" altLang="en-US" sz="2000" b="1" dirty="0">
                <a:solidFill>
                  <a:schemeClr val="bg1"/>
                </a:solidFill>
              </a:endParaRPr>
            </a:p>
          </p:txBody>
        </p:sp>
        <p:sp>
          <p:nvSpPr>
            <p:cNvPr id="26" name="Rectangle 40">
              <a:extLst>
                <a:ext uri="{FF2B5EF4-FFF2-40B4-BE49-F238E27FC236}">
                  <a16:creationId xmlns:a16="http://schemas.microsoft.com/office/drawing/2014/main" id="{7753AEE5-7A01-4EED-83D2-6B7293DEDBBA}"/>
                </a:ext>
              </a:extLst>
            </p:cNvPr>
            <p:cNvSpPr>
              <a:spLocks noChangeArrowheads="1"/>
            </p:cNvSpPr>
            <p:nvPr/>
          </p:nvSpPr>
          <p:spPr bwMode="auto">
            <a:xfrm>
              <a:off x="1536" y="2352"/>
              <a:ext cx="336" cy="336"/>
            </a:xfrm>
            <a:prstGeom prst="rect">
              <a:avLst/>
            </a:prstGeom>
            <a:solidFill>
              <a:schemeClr val="bg1"/>
            </a:solidFill>
            <a:ln w="9525">
              <a:solidFill>
                <a:schemeClr val="tx1"/>
              </a:solidFill>
              <a:miter lim="800000"/>
              <a:headEnd/>
              <a:tailEnd/>
            </a:ln>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000" b="1">
                  <a:solidFill>
                    <a:schemeClr val="tx2"/>
                  </a:solidFill>
                </a:rPr>
                <a:t>A</a:t>
              </a:r>
            </a:p>
          </p:txBody>
        </p:sp>
        <p:sp>
          <p:nvSpPr>
            <p:cNvPr id="27" name="Rectangle 41">
              <a:extLst>
                <a:ext uri="{FF2B5EF4-FFF2-40B4-BE49-F238E27FC236}">
                  <a16:creationId xmlns:a16="http://schemas.microsoft.com/office/drawing/2014/main" id="{74AD6BC7-BCE0-4F8C-8776-2D486D934450}"/>
                </a:ext>
              </a:extLst>
            </p:cNvPr>
            <p:cNvSpPr>
              <a:spLocks noChangeArrowheads="1"/>
            </p:cNvSpPr>
            <p:nvPr/>
          </p:nvSpPr>
          <p:spPr bwMode="auto">
            <a:xfrm>
              <a:off x="1776" y="2928"/>
              <a:ext cx="336" cy="336"/>
            </a:xfrm>
            <a:prstGeom prst="rect">
              <a:avLst/>
            </a:prstGeom>
            <a:solidFill>
              <a:srgbClr val="9EE6F4"/>
            </a:solidFill>
            <a:ln w="9525">
              <a:solidFill>
                <a:srgbClr val="9EE6F4"/>
              </a:solidFill>
              <a:miter lim="800000"/>
              <a:headEnd/>
              <a:tailEnd/>
            </a:ln>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000" b="1">
                  <a:solidFill>
                    <a:schemeClr val="tx2"/>
                  </a:solidFill>
                </a:rPr>
                <a:t>B</a:t>
              </a:r>
            </a:p>
          </p:txBody>
        </p:sp>
        <p:sp>
          <p:nvSpPr>
            <p:cNvPr id="28" name="Rectangle 42">
              <a:extLst>
                <a:ext uri="{FF2B5EF4-FFF2-40B4-BE49-F238E27FC236}">
                  <a16:creationId xmlns:a16="http://schemas.microsoft.com/office/drawing/2014/main" id="{8D8C820A-4B4E-4AE9-B834-D862E36C6C35}"/>
                </a:ext>
              </a:extLst>
            </p:cNvPr>
            <p:cNvSpPr>
              <a:spLocks noChangeArrowheads="1"/>
            </p:cNvSpPr>
            <p:nvPr/>
          </p:nvSpPr>
          <p:spPr bwMode="auto">
            <a:xfrm>
              <a:off x="2064" y="3552"/>
              <a:ext cx="336" cy="336"/>
            </a:xfrm>
            <a:prstGeom prst="rect">
              <a:avLst/>
            </a:prstGeom>
            <a:solidFill>
              <a:srgbClr val="9EE6F4"/>
            </a:solidFill>
            <a:ln w="9525">
              <a:solidFill>
                <a:srgbClr val="9EE6F4"/>
              </a:solidFill>
              <a:miter lim="800000"/>
              <a:headEnd/>
              <a:tailEnd/>
            </a:ln>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000" b="1">
                  <a:solidFill>
                    <a:schemeClr val="tx2"/>
                  </a:solidFill>
                </a:rPr>
                <a:t>C</a:t>
              </a:r>
            </a:p>
          </p:txBody>
        </p:sp>
        <p:sp>
          <p:nvSpPr>
            <p:cNvPr id="29" name="Line 43">
              <a:extLst>
                <a:ext uri="{FF2B5EF4-FFF2-40B4-BE49-F238E27FC236}">
                  <a16:creationId xmlns:a16="http://schemas.microsoft.com/office/drawing/2014/main" id="{DB6BB3B0-CC6A-4334-B326-7BFFC03173FA}"/>
                </a:ext>
              </a:extLst>
            </p:cNvPr>
            <p:cNvSpPr>
              <a:spLocks noChangeShapeType="1"/>
            </p:cNvSpPr>
            <p:nvPr/>
          </p:nvSpPr>
          <p:spPr bwMode="auto">
            <a:xfrm>
              <a:off x="1728" y="225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 name="Line 44">
              <a:extLst>
                <a:ext uri="{FF2B5EF4-FFF2-40B4-BE49-F238E27FC236}">
                  <a16:creationId xmlns:a16="http://schemas.microsoft.com/office/drawing/2014/main" id="{B4DB2A6A-E05D-46C5-B1C1-E02511C16B78}"/>
                </a:ext>
              </a:extLst>
            </p:cNvPr>
            <p:cNvSpPr>
              <a:spLocks noChangeShapeType="1"/>
            </p:cNvSpPr>
            <p:nvPr/>
          </p:nvSpPr>
          <p:spPr bwMode="auto">
            <a:xfrm>
              <a:off x="1728" y="2688"/>
              <a:ext cx="192"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 name="Line 45">
              <a:extLst>
                <a:ext uri="{FF2B5EF4-FFF2-40B4-BE49-F238E27FC236}">
                  <a16:creationId xmlns:a16="http://schemas.microsoft.com/office/drawing/2014/main" id="{679A2CD8-394D-4334-89C9-5CD63BBA78FF}"/>
                </a:ext>
              </a:extLst>
            </p:cNvPr>
            <p:cNvSpPr>
              <a:spLocks noChangeShapeType="1"/>
            </p:cNvSpPr>
            <p:nvPr/>
          </p:nvSpPr>
          <p:spPr bwMode="auto">
            <a:xfrm flipH="1">
              <a:off x="1488" y="2688"/>
              <a:ext cx="192"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 name="Line 46">
              <a:extLst>
                <a:ext uri="{FF2B5EF4-FFF2-40B4-BE49-F238E27FC236}">
                  <a16:creationId xmlns:a16="http://schemas.microsoft.com/office/drawing/2014/main" id="{FDB3EEA3-0D8C-4FE1-AB40-CE84942AE481}"/>
                </a:ext>
              </a:extLst>
            </p:cNvPr>
            <p:cNvSpPr>
              <a:spLocks noChangeShapeType="1"/>
            </p:cNvSpPr>
            <p:nvPr/>
          </p:nvSpPr>
          <p:spPr bwMode="auto">
            <a:xfrm>
              <a:off x="2016" y="3264"/>
              <a:ext cx="240"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 name="Line 47">
              <a:extLst>
                <a:ext uri="{FF2B5EF4-FFF2-40B4-BE49-F238E27FC236}">
                  <a16:creationId xmlns:a16="http://schemas.microsoft.com/office/drawing/2014/main" id="{0C67C059-D042-42A3-8A55-0236F48E0BBB}"/>
                </a:ext>
              </a:extLst>
            </p:cNvPr>
            <p:cNvSpPr>
              <a:spLocks noChangeShapeType="1"/>
            </p:cNvSpPr>
            <p:nvPr/>
          </p:nvSpPr>
          <p:spPr bwMode="auto">
            <a:xfrm flipH="1">
              <a:off x="1728" y="3264"/>
              <a:ext cx="192"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 name="Rectangle 48">
              <a:extLst>
                <a:ext uri="{FF2B5EF4-FFF2-40B4-BE49-F238E27FC236}">
                  <a16:creationId xmlns:a16="http://schemas.microsoft.com/office/drawing/2014/main" id="{ED9F04AF-3B2A-4C45-90AD-CCE7944DDEB4}"/>
                </a:ext>
              </a:extLst>
            </p:cNvPr>
            <p:cNvSpPr>
              <a:spLocks noChangeArrowheads="1"/>
            </p:cNvSpPr>
            <p:nvPr/>
          </p:nvSpPr>
          <p:spPr bwMode="auto">
            <a:xfrm>
              <a:off x="3840" y="2448"/>
              <a:ext cx="336" cy="336"/>
            </a:xfrm>
            <a:prstGeom prst="rect">
              <a:avLst/>
            </a:prstGeom>
            <a:solidFill>
              <a:schemeClr val="bg1"/>
            </a:solidFill>
            <a:ln w="9525">
              <a:solidFill>
                <a:schemeClr val="tx1"/>
              </a:solidFill>
              <a:miter lim="800000"/>
              <a:headEnd/>
              <a:tailEnd/>
            </a:ln>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000" b="1">
                  <a:solidFill>
                    <a:schemeClr val="tx2"/>
                  </a:solidFill>
                </a:rPr>
                <a:t>D</a:t>
              </a:r>
            </a:p>
          </p:txBody>
        </p:sp>
        <p:sp>
          <p:nvSpPr>
            <p:cNvPr id="35" name="Rectangle 49">
              <a:extLst>
                <a:ext uri="{FF2B5EF4-FFF2-40B4-BE49-F238E27FC236}">
                  <a16:creationId xmlns:a16="http://schemas.microsoft.com/office/drawing/2014/main" id="{4183FB77-42FA-4FAD-8EC2-B148DE24C0F4}"/>
                </a:ext>
              </a:extLst>
            </p:cNvPr>
            <p:cNvSpPr>
              <a:spLocks noChangeArrowheads="1"/>
            </p:cNvSpPr>
            <p:nvPr/>
          </p:nvSpPr>
          <p:spPr bwMode="auto">
            <a:xfrm>
              <a:off x="3840" y="3024"/>
              <a:ext cx="336" cy="336"/>
            </a:xfrm>
            <a:prstGeom prst="rect">
              <a:avLst/>
            </a:prstGeom>
            <a:solidFill>
              <a:srgbClr val="9EE6F4"/>
            </a:solidFill>
            <a:ln w="9525">
              <a:solidFill>
                <a:srgbClr val="9EE6F4"/>
              </a:solidFill>
              <a:miter lim="800000"/>
              <a:headEnd/>
              <a:tailEnd/>
            </a:ln>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000" b="1">
                  <a:solidFill>
                    <a:schemeClr val="tx2"/>
                  </a:solidFill>
                </a:rPr>
                <a:t>E</a:t>
              </a:r>
            </a:p>
          </p:txBody>
        </p:sp>
        <p:sp>
          <p:nvSpPr>
            <p:cNvPr id="36" name="Rectangle 50">
              <a:extLst>
                <a:ext uri="{FF2B5EF4-FFF2-40B4-BE49-F238E27FC236}">
                  <a16:creationId xmlns:a16="http://schemas.microsoft.com/office/drawing/2014/main" id="{67FCA4EC-133F-4757-87F7-ABC7245138A3}"/>
                </a:ext>
              </a:extLst>
            </p:cNvPr>
            <p:cNvSpPr>
              <a:spLocks noChangeArrowheads="1"/>
            </p:cNvSpPr>
            <p:nvPr/>
          </p:nvSpPr>
          <p:spPr bwMode="auto">
            <a:xfrm>
              <a:off x="4464" y="2448"/>
              <a:ext cx="336" cy="336"/>
            </a:xfrm>
            <a:prstGeom prst="rect">
              <a:avLst/>
            </a:prstGeom>
            <a:solidFill>
              <a:schemeClr val="bg1"/>
            </a:solidFill>
            <a:ln w="9525">
              <a:solidFill>
                <a:schemeClr val="tx1"/>
              </a:solidFill>
              <a:miter lim="800000"/>
              <a:headEnd/>
              <a:tailEnd/>
            </a:ln>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000" b="1">
                  <a:solidFill>
                    <a:schemeClr val="tx2"/>
                  </a:solidFill>
                </a:rPr>
                <a:t>F</a:t>
              </a:r>
            </a:p>
          </p:txBody>
        </p:sp>
        <p:sp>
          <p:nvSpPr>
            <p:cNvPr id="37" name="Line 51">
              <a:extLst>
                <a:ext uri="{FF2B5EF4-FFF2-40B4-BE49-F238E27FC236}">
                  <a16:creationId xmlns:a16="http://schemas.microsoft.com/office/drawing/2014/main" id="{09DD4863-148D-4808-BC16-5A1EC46C0544}"/>
                </a:ext>
              </a:extLst>
            </p:cNvPr>
            <p:cNvSpPr>
              <a:spLocks noChangeShapeType="1"/>
            </p:cNvSpPr>
            <p:nvPr/>
          </p:nvSpPr>
          <p:spPr bwMode="auto">
            <a:xfrm>
              <a:off x="4032" y="2352"/>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 name="Line 52">
              <a:extLst>
                <a:ext uri="{FF2B5EF4-FFF2-40B4-BE49-F238E27FC236}">
                  <a16:creationId xmlns:a16="http://schemas.microsoft.com/office/drawing/2014/main" id="{151F3C5A-B45E-4564-B1A7-4DE1F6F6FEBE}"/>
                </a:ext>
              </a:extLst>
            </p:cNvPr>
            <p:cNvSpPr>
              <a:spLocks noChangeShapeType="1"/>
            </p:cNvSpPr>
            <p:nvPr/>
          </p:nvSpPr>
          <p:spPr bwMode="auto">
            <a:xfrm>
              <a:off x="4032" y="2784"/>
              <a:ext cx="0"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 name="Line 53">
              <a:extLst>
                <a:ext uri="{FF2B5EF4-FFF2-40B4-BE49-F238E27FC236}">
                  <a16:creationId xmlns:a16="http://schemas.microsoft.com/office/drawing/2014/main" id="{291C0E2B-D7C7-494B-AFD7-ABFA9B0A9391}"/>
                </a:ext>
              </a:extLst>
            </p:cNvPr>
            <p:cNvSpPr>
              <a:spLocks noChangeShapeType="1"/>
            </p:cNvSpPr>
            <p:nvPr/>
          </p:nvSpPr>
          <p:spPr bwMode="auto">
            <a:xfrm flipH="1">
              <a:off x="4080" y="2784"/>
              <a:ext cx="528"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 name="Line 54">
              <a:extLst>
                <a:ext uri="{FF2B5EF4-FFF2-40B4-BE49-F238E27FC236}">
                  <a16:creationId xmlns:a16="http://schemas.microsoft.com/office/drawing/2014/main" id="{B5EDD0BB-D2EA-4093-BDCE-E7F00800D30E}"/>
                </a:ext>
              </a:extLst>
            </p:cNvPr>
            <p:cNvSpPr>
              <a:spLocks noChangeShapeType="1"/>
            </p:cNvSpPr>
            <p:nvPr/>
          </p:nvSpPr>
          <p:spPr bwMode="auto">
            <a:xfrm flipV="1">
              <a:off x="2112" y="2496"/>
              <a:ext cx="768" cy="624"/>
            </a:xfrm>
            <a:prstGeom prst="line">
              <a:avLst/>
            </a:prstGeom>
            <a:noFill/>
            <a:ln w="6350">
              <a:solidFill>
                <a:schemeClr val="tx1"/>
              </a:solidFill>
              <a:prstDash val="lgDash"/>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41" name="Line 55">
              <a:extLst>
                <a:ext uri="{FF2B5EF4-FFF2-40B4-BE49-F238E27FC236}">
                  <a16:creationId xmlns:a16="http://schemas.microsoft.com/office/drawing/2014/main" id="{239E7894-4A4B-470A-AB9D-56EBA0B80B26}"/>
                </a:ext>
              </a:extLst>
            </p:cNvPr>
            <p:cNvSpPr>
              <a:spLocks noChangeShapeType="1"/>
            </p:cNvSpPr>
            <p:nvPr/>
          </p:nvSpPr>
          <p:spPr bwMode="auto">
            <a:xfrm flipV="1">
              <a:off x="2400" y="2640"/>
              <a:ext cx="576" cy="1104"/>
            </a:xfrm>
            <a:prstGeom prst="line">
              <a:avLst/>
            </a:prstGeom>
            <a:noFill/>
            <a:ln w="6350">
              <a:solidFill>
                <a:schemeClr val="tx1"/>
              </a:solidFill>
              <a:prstDash val="lg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2" name="Line 56">
              <a:extLst>
                <a:ext uri="{FF2B5EF4-FFF2-40B4-BE49-F238E27FC236}">
                  <a16:creationId xmlns:a16="http://schemas.microsoft.com/office/drawing/2014/main" id="{771676A3-B5CF-48C9-B9C1-AC5DD8257359}"/>
                </a:ext>
              </a:extLst>
            </p:cNvPr>
            <p:cNvSpPr>
              <a:spLocks noChangeShapeType="1"/>
            </p:cNvSpPr>
            <p:nvPr/>
          </p:nvSpPr>
          <p:spPr bwMode="auto">
            <a:xfrm flipH="1" flipV="1">
              <a:off x="3168" y="2640"/>
              <a:ext cx="672" cy="528"/>
            </a:xfrm>
            <a:prstGeom prst="line">
              <a:avLst/>
            </a:prstGeom>
            <a:noFill/>
            <a:ln w="6350">
              <a:solidFill>
                <a:schemeClr val="tx1"/>
              </a:solidFill>
              <a:prstDash val="lgDash"/>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43" name="Line 57">
              <a:extLst>
                <a:ext uri="{FF2B5EF4-FFF2-40B4-BE49-F238E27FC236}">
                  <a16:creationId xmlns:a16="http://schemas.microsoft.com/office/drawing/2014/main" id="{A44DCB57-3A9A-42BF-B797-C3D3F9A63C1D}"/>
                </a:ext>
              </a:extLst>
            </p:cNvPr>
            <p:cNvSpPr>
              <a:spLocks noChangeShapeType="1"/>
            </p:cNvSpPr>
            <p:nvPr/>
          </p:nvSpPr>
          <p:spPr bwMode="auto">
            <a:xfrm>
              <a:off x="4656" y="2352"/>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 name="Rectangle 58">
              <a:extLst>
                <a:ext uri="{FF2B5EF4-FFF2-40B4-BE49-F238E27FC236}">
                  <a16:creationId xmlns:a16="http://schemas.microsoft.com/office/drawing/2014/main" id="{EF648A1B-8C64-46F4-A3F5-E6EC205A0F92}"/>
                </a:ext>
              </a:extLst>
            </p:cNvPr>
            <p:cNvSpPr>
              <a:spLocks noChangeArrowheads="1"/>
            </p:cNvSpPr>
            <p:nvPr/>
          </p:nvSpPr>
          <p:spPr bwMode="auto">
            <a:xfrm>
              <a:off x="2880" y="2256"/>
              <a:ext cx="384" cy="38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endParaRPr lang="zh-CN" altLang="en-US"/>
            </a:p>
          </p:txBody>
        </p:sp>
        <p:sp>
          <p:nvSpPr>
            <p:cNvPr id="45" name="Text Box 59">
              <a:extLst>
                <a:ext uri="{FF2B5EF4-FFF2-40B4-BE49-F238E27FC236}">
                  <a16:creationId xmlns:a16="http://schemas.microsoft.com/office/drawing/2014/main" id="{0D6B1CE1-978A-49B4-B388-3F08FD13A52F}"/>
                </a:ext>
              </a:extLst>
            </p:cNvPr>
            <p:cNvSpPr txBox="1">
              <a:spLocks noChangeArrowheads="1"/>
            </p:cNvSpPr>
            <p:nvPr/>
          </p:nvSpPr>
          <p:spPr bwMode="auto">
            <a:xfrm>
              <a:off x="4091" y="3897"/>
              <a:ext cx="1493" cy="23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a:latin typeface="Arial" panose="020B0604020202020204" pitchFamily="34" charset="0"/>
                  <a:ea typeface="幼圆" panose="02010509060101010101" pitchFamily="49" charset="-122"/>
                </a:rPr>
                <a:t>B、C、E</a:t>
              </a:r>
              <a:r>
                <a:rPr lang="en-US" altLang="zh-CN" sz="1800" b="1">
                  <a:latin typeface="幼圆" panose="02010509060101010101" pitchFamily="49" charset="-122"/>
                  <a:ea typeface="幼圆" panose="02010509060101010101" pitchFamily="49" charset="-122"/>
                </a:rPr>
                <a:t> </a:t>
              </a:r>
              <a:r>
                <a:rPr lang="zh-CN" altLang="en-US" sz="1800">
                  <a:latin typeface="幼圆" panose="02010509060101010101" pitchFamily="49" charset="-122"/>
                  <a:ea typeface="幼圆" panose="02010509060101010101" pitchFamily="49" charset="-122"/>
                </a:rPr>
                <a:t>为公共耦合</a:t>
              </a:r>
            </a:p>
          </p:txBody>
        </p:sp>
      </p:grpSp>
    </p:spTree>
    <p:extLst>
      <p:ext uri="{BB962C8B-B14F-4D97-AF65-F5344CB8AC3E}">
        <p14:creationId xmlns:p14="http://schemas.microsoft.com/office/powerpoint/2010/main" val="951158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blinds(vertical)">
                                      <p:cBhvr>
                                        <p:cTn id="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5">
            <a:extLst>
              <a:ext uri="{FF2B5EF4-FFF2-40B4-BE49-F238E27FC236}">
                <a16:creationId xmlns:a16="http://schemas.microsoft.com/office/drawing/2014/main" id="{BCB1B8A4-02A2-4AAF-9314-3F7AEAF6E6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69799E2-B99C-4EAE-8D85-3CB7B1E6B441}" type="slidenum">
              <a:rPr lang="en-US" altLang="en-US"/>
              <a:pPr eaLnBrk="1" hangingPunct="1"/>
              <a:t>25</a:t>
            </a:fld>
            <a:endParaRPr lang="en-US" altLang="en-US"/>
          </a:p>
        </p:txBody>
      </p:sp>
      <p:sp>
        <p:nvSpPr>
          <p:cNvPr id="9219" name="Rectangle 2">
            <a:extLst>
              <a:ext uri="{FF2B5EF4-FFF2-40B4-BE49-F238E27FC236}">
                <a16:creationId xmlns:a16="http://schemas.microsoft.com/office/drawing/2014/main" id="{2613ED5F-13D3-4D93-BBD3-15C1DAFD0014}"/>
              </a:ext>
            </a:extLst>
          </p:cNvPr>
          <p:cNvSpPr>
            <a:spLocks noGrp="1" noChangeArrowheads="1"/>
          </p:cNvSpPr>
          <p:nvPr>
            <p:ph type="title"/>
          </p:nvPr>
        </p:nvSpPr>
        <p:spPr>
          <a:xfrm>
            <a:off x="457200" y="122238"/>
            <a:ext cx="7543800" cy="1020762"/>
          </a:xfrm>
        </p:spPr>
        <p:txBody>
          <a:bodyPr/>
          <a:lstStyle/>
          <a:p>
            <a:pPr eaLnBrk="1" hangingPunct="1"/>
            <a:r>
              <a:rPr lang="zh-CN" altLang="en-US" sz="3600" dirty="0">
                <a:ea typeface="宋体" panose="02010600030101010101" pitchFamily="2" charset="-122"/>
              </a:rPr>
              <a:t>设计原理</a:t>
            </a:r>
            <a:endParaRPr lang="en-US" altLang="zh-CN" sz="3600" dirty="0">
              <a:ea typeface="宋体" panose="02010600030101010101" pitchFamily="2" charset="-122"/>
            </a:endParaRPr>
          </a:p>
        </p:txBody>
      </p:sp>
      <p:sp>
        <p:nvSpPr>
          <p:cNvPr id="9220" name="Rectangle 3">
            <a:extLst>
              <a:ext uri="{FF2B5EF4-FFF2-40B4-BE49-F238E27FC236}">
                <a16:creationId xmlns:a16="http://schemas.microsoft.com/office/drawing/2014/main" id="{F432533E-F133-439A-AB27-1EF55B029342}"/>
              </a:ext>
            </a:extLst>
          </p:cNvPr>
          <p:cNvSpPr>
            <a:spLocks noGrp="1" noChangeArrowheads="1"/>
          </p:cNvSpPr>
          <p:nvPr>
            <p:ph type="body" idx="1"/>
          </p:nvPr>
        </p:nvSpPr>
        <p:spPr>
          <a:xfrm>
            <a:off x="304800" y="1371600"/>
            <a:ext cx="8610600" cy="4419600"/>
          </a:xfrm>
        </p:spPr>
        <p:txBody>
          <a:bodyPr/>
          <a:lstStyle/>
          <a:p>
            <a:pPr eaLnBrk="1" hangingPunct="1">
              <a:lnSpc>
                <a:spcPct val="125000"/>
              </a:lnSpc>
            </a:pPr>
            <a:r>
              <a:rPr lang="zh-CN" altLang="en-US" sz="2800" b="1" dirty="0">
                <a:ea typeface="宋体" panose="02010600030101010101" pitchFamily="2" charset="-122"/>
              </a:rPr>
              <a:t>耦合</a:t>
            </a:r>
          </a:p>
          <a:p>
            <a:pPr eaLnBrk="1" hangingPunct="1">
              <a:lnSpc>
                <a:spcPct val="125000"/>
              </a:lnSpc>
              <a:spcBef>
                <a:spcPct val="0"/>
              </a:spcBef>
              <a:buFontTx/>
              <a:buNone/>
            </a:pPr>
            <a:r>
              <a:rPr lang="zh-CN" altLang="en-US" sz="2400" b="1" dirty="0">
                <a:solidFill>
                  <a:srgbClr val="C00000"/>
                </a:solidFill>
                <a:ea typeface="宋体" panose="02010600030101010101" pitchFamily="2" charset="-122"/>
              </a:rPr>
              <a:t>内容耦合：</a:t>
            </a:r>
            <a:r>
              <a:rPr lang="zh-CN" altLang="en-US" sz="2400" dirty="0">
                <a:latin typeface="Arial" panose="020B0604020202020204" pitchFamily="34" charset="0"/>
                <a:ea typeface="经典宋体简" charset="-122"/>
              </a:rPr>
              <a:t>最高程度的耦合是内容耦合。如果出现下列情况之一，两个模块间就发生了内容耦合。</a:t>
            </a:r>
          </a:p>
          <a:p>
            <a:pPr eaLnBrk="1" hangingPunct="1">
              <a:lnSpc>
                <a:spcPct val="125000"/>
              </a:lnSpc>
              <a:spcBef>
                <a:spcPct val="0"/>
              </a:spcBef>
              <a:buSzPct val="70000"/>
              <a:buFont typeface="Wingdings" panose="05000000000000000000" pitchFamily="2" charset="2"/>
              <a:buChar char="l"/>
            </a:pPr>
            <a:r>
              <a:rPr lang="zh-CN" altLang="en-US" sz="2400" dirty="0">
                <a:latin typeface="Arial" panose="020B0604020202020204" pitchFamily="34" charset="0"/>
                <a:ea typeface="经典宋体简" charset="-122"/>
              </a:rPr>
              <a:t>一个模块访问另一个模块的内部数据。</a:t>
            </a:r>
          </a:p>
          <a:p>
            <a:pPr eaLnBrk="1" hangingPunct="1">
              <a:lnSpc>
                <a:spcPct val="125000"/>
              </a:lnSpc>
              <a:spcBef>
                <a:spcPct val="0"/>
              </a:spcBef>
              <a:buSzPct val="70000"/>
              <a:buFont typeface="Wingdings" panose="05000000000000000000" pitchFamily="2" charset="2"/>
              <a:buChar char="l"/>
            </a:pPr>
            <a:r>
              <a:rPr lang="en-US" altLang="zh-CN" sz="2400" dirty="0">
                <a:latin typeface="Arial" panose="020B0604020202020204" pitchFamily="34" charset="0"/>
                <a:ea typeface="经典宋体简" charset="-122"/>
              </a:rPr>
              <a:t> </a:t>
            </a:r>
            <a:r>
              <a:rPr lang="zh-CN" altLang="en-US" sz="2400" dirty="0">
                <a:latin typeface="Arial" panose="020B0604020202020204" pitchFamily="34" charset="0"/>
                <a:ea typeface="经典宋体简" charset="-122"/>
              </a:rPr>
              <a:t>一个模块不通过正常入口而转到另一个模块的内部。</a:t>
            </a:r>
          </a:p>
          <a:p>
            <a:pPr eaLnBrk="1" hangingPunct="1">
              <a:lnSpc>
                <a:spcPct val="125000"/>
              </a:lnSpc>
              <a:spcBef>
                <a:spcPct val="0"/>
              </a:spcBef>
              <a:buSzPct val="70000"/>
              <a:buFont typeface="Wingdings" panose="05000000000000000000" pitchFamily="2" charset="2"/>
              <a:buChar char="l"/>
            </a:pPr>
            <a:r>
              <a:rPr lang="en-US" altLang="zh-CN" sz="2400" dirty="0">
                <a:latin typeface="Arial" panose="020B0604020202020204" pitchFamily="34" charset="0"/>
                <a:ea typeface="经典宋体简" charset="-122"/>
              </a:rPr>
              <a:t> </a:t>
            </a:r>
            <a:r>
              <a:rPr lang="zh-CN" altLang="en-US" sz="2400" dirty="0">
                <a:latin typeface="Arial" panose="020B0604020202020204" pitchFamily="34" charset="0"/>
                <a:ea typeface="经典宋体简" charset="-122"/>
              </a:rPr>
              <a:t>两个模块有一部分程序代码重叠</a:t>
            </a:r>
            <a:r>
              <a:rPr lang="en-US" altLang="zh-CN" sz="2400" dirty="0">
                <a:latin typeface="Arial" panose="020B0604020202020204" pitchFamily="34" charset="0"/>
                <a:ea typeface="经典宋体简" charset="-122"/>
              </a:rPr>
              <a:t>(</a:t>
            </a:r>
            <a:r>
              <a:rPr lang="zh-CN" altLang="en-US" sz="2400" dirty="0">
                <a:latin typeface="Arial" panose="020B0604020202020204" pitchFamily="34" charset="0"/>
                <a:ea typeface="经典宋体简" charset="-122"/>
              </a:rPr>
              <a:t>只可能出现在汇编程序中</a:t>
            </a:r>
            <a:r>
              <a:rPr lang="en-US" altLang="zh-CN" sz="2400" dirty="0">
                <a:latin typeface="Arial" panose="020B0604020202020204" pitchFamily="34" charset="0"/>
                <a:ea typeface="经典宋体简" charset="-122"/>
              </a:rPr>
              <a:t>)</a:t>
            </a:r>
            <a:r>
              <a:rPr lang="zh-CN" altLang="en-US" sz="2400" dirty="0">
                <a:latin typeface="Arial" panose="020B0604020202020204" pitchFamily="34" charset="0"/>
                <a:ea typeface="经典宋体简" charset="-122"/>
              </a:rPr>
              <a:t>。</a:t>
            </a:r>
          </a:p>
          <a:p>
            <a:pPr eaLnBrk="1" hangingPunct="1">
              <a:lnSpc>
                <a:spcPct val="125000"/>
              </a:lnSpc>
              <a:spcBef>
                <a:spcPct val="0"/>
              </a:spcBef>
              <a:buSzPct val="70000"/>
              <a:buFont typeface="Wingdings" panose="05000000000000000000" pitchFamily="2" charset="2"/>
              <a:buChar char="l"/>
            </a:pPr>
            <a:r>
              <a:rPr lang="en-US" altLang="zh-CN" sz="2400" dirty="0">
                <a:latin typeface="Arial" panose="020B0604020202020204" pitchFamily="34" charset="0"/>
                <a:ea typeface="经典宋体简" charset="-122"/>
              </a:rPr>
              <a:t> </a:t>
            </a:r>
            <a:r>
              <a:rPr lang="zh-CN" altLang="en-US" sz="2400" dirty="0">
                <a:latin typeface="Arial" panose="020B0604020202020204" pitchFamily="34" charset="0"/>
                <a:ea typeface="经典宋体简" charset="-122"/>
              </a:rPr>
              <a:t>一个模块有多个入口</a:t>
            </a:r>
            <a:r>
              <a:rPr lang="en-US" altLang="zh-CN" sz="2400" dirty="0">
                <a:latin typeface="Arial" panose="020B0604020202020204" pitchFamily="34" charset="0"/>
                <a:ea typeface="经典宋体简" charset="-122"/>
              </a:rPr>
              <a:t>(</a:t>
            </a:r>
            <a:r>
              <a:rPr lang="zh-CN" altLang="en-US" sz="2400" dirty="0">
                <a:latin typeface="Arial" panose="020B0604020202020204" pitchFamily="34" charset="0"/>
                <a:ea typeface="经典宋体简" charset="-122"/>
              </a:rPr>
              <a:t>这意味着一个模块有几种功能</a:t>
            </a:r>
            <a:r>
              <a:rPr lang="en-US" altLang="zh-CN" sz="2400" dirty="0">
                <a:latin typeface="Arial" panose="020B0604020202020204" pitchFamily="34" charset="0"/>
                <a:ea typeface="经典宋体简" charset="-122"/>
              </a:rPr>
              <a:t>)</a:t>
            </a:r>
            <a:r>
              <a:rPr lang="zh-CN" altLang="en-US" sz="2400" dirty="0">
                <a:latin typeface="Arial" panose="020B0604020202020204" pitchFamily="34" charset="0"/>
                <a:ea typeface="经典宋体简" charset="-122"/>
              </a:rPr>
              <a:t>。</a:t>
            </a:r>
          </a:p>
          <a:p>
            <a:pPr eaLnBrk="1" hangingPunct="1">
              <a:lnSpc>
                <a:spcPct val="125000"/>
              </a:lnSpc>
              <a:spcBef>
                <a:spcPct val="0"/>
              </a:spcBef>
              <a:buFontTx/>
              <a:buNone/>
            </a:pPr>
            <a:endParaRPr lang="en-US" altLang="zh-CN" sz="2000" dirty="0">
              <a:latin typeface="Arial" panose="020B0604020202020204" pitchFamily="34" charset="0"/>
              <a:ea typeface="经典宋体简" charset="-122"/>
            </a:endParaRPr>
          </a:p>
          <a:p>
            <a:pPr eaLnBrk="1" hangingPunct="1">
              <a:lnSpc>
                <a:spcPct val="125000"/>
              </a:lnSpc>
              <a:spcBef>
                <a:spcPct val="0"/>
              </a:spcBef>
              <a:buFontTx/>
              <a:buNone/>
            </a:pPr>
            <a:r>
              <a:rPr lang="zh-CN" altLang="en-US" sz="2400" b="1" dirty="0">
                <a:solidFill>
                  <a:srgbClr val="FF0000"/>
                </a:solidFill>
                <a:latin typeface="Arial" panose="020B0604020202020204" pitchFamily="34" charset="0"/>
                <a:ea typeface="经典宋体简" charset="-122"/>
              </a:rPr>
              <a:t>应该坚决避免使用内容耦合。</a:t>
            </a:r>
          </a:p>
          <a:p>
            <a:pPr eaLnBrk="1" hangingPunct="1">
              <a:lnSpc>
                <a:spcPct val="125000"/>
              </a:lnSpc>
              <a:spcBef>
                <a:spcPct val="0"/>
              </a:spcBef>
            </a:pPr>
            <a:endParaRPr lang="zh-CN" altLang="en-US" sz="2400" dirty="0">
              <a:ea typeface="宋体" panose="02010600030101010101" pitchFamily="2" charset="-122"/>
            </a:endParaRPr>
          </a:p>
        </p:txBody>
      </p:sp>
      <p:sp>
        <p:nvSpPr>
          <p:cNvPr id="9222" name="Rectangle 6">
            <a:extLst>
              <a:ext uri="{FF2B5EF4-FFF2-40B4-BE49-F238E27FC236}">
                <a16:creationId xmlns:a16="http://schemas.microsoft.com/office/drawing/2014/main" id="{B46003C0-7BBF-45F9-B3F0-FBE10EA37144}"/>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dirty="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dirty="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dirty="0">
              <a:ea typeface="宋体" panose="02010600030101010101" pitchFamily="2" charset="-122"/>
            </a:endParaRPr>
          </a:p>
        </p:txBody>
      </p:sp>
    </p:spTree>
    <p:extLst>
      <p:ext uri="{BB962C8B-B14F-4D97-AF65-F5344CB8AC3E}">
        <p14:creationId xmlns:p14="http://schemas.microsoft.com/office/powerpoint/2010/main" val="7010549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5">
            <a:extLst>
              <a:ext uri="{FF2B5EF4-FFF2-40B4-BE49-F238E27FC236}">
                <a16:creationId xmlns:a16="http://schemas.microsoft.com/office/drawing/2014/main" id="{BCB1B8A4-02A2-4AAF-9314-3F7AEAF6E6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69799E2-B99C-4EAE-8D85-3CB7B1E6B441}" type="slidenum">
              <a:rPr lang="en-US" altLang="en-US"/>
              <a:pPr eaLnBrk="1" hangingPunct="1"/>
              <a:t>26</a:t>
            </a:fld>
            <a:endParaRPr lang="en-US" altLang="en-US"/>
          </a:p>
        </p:txBody>
      </p:sp>
      <p:sp>
        <p:nvSpPr>
          <p:cNvPr id="9219" name="Rectangle 2">
            <a:extLst>
              <a:ext uri="{FF2B5EF4-FFF2-40B4-BE49-F238E27FC236}">
                <a16:creationId xmlns:a16="http://schemas.microsoft.com/office/drawing/2014/main" id="{2613ED5F-13D3-4D93-BBD3-15C1DAFD0014}"/>
              </a:ext>
            </a:extLst>
          </p:cNvPr>
          <p:cNvSpPr>
            <a:spLocks noGrp="1" noChangeArrowheads="1"/>
          </p:cNvSpPr>
          <p:nvPr>
            <p:ph type="title"/>
          </p:nvPr>
        </p:nvSpPr>
        <p:spPr>
          <a:xfrm>
            <a:off x="457200" y="122238"/>
            <a:ext cx="7543800" cy="1020762"/>
          </a:xfrm>
        </p:spPr>
        <p:txBody>
          <a:bodyPr/>
          <a:lstStyle/>
          <a:p>
            <a:pPr eaLnBrk="1" hangingPunct="1"/>
            <a:r>
              <a:rPr lang="zh-CN" altLang="en-US" sz="3600" dirty="0">
                <a:ea typeface="宋体" panose="02010600030101010101" pitchFamily="2" charset="-122"/>
              </a:rPr>
              <a:t>设计原理</a:t>
            </a:r>
            <a:endParaRPr lang="en-US" altLang="zh-CN" sz="3600" dirty="0">
              <a:ea typeface="宋体" panose="02010600030101010101" pitchFamily="2" charset="-122"/>
            </a:endParaRPr>
          </a:p>
        </p:txBody>
      </p:sp>
      <p:sp>
        <p:nvSpPr>
          <p:cNvPr id="9220" name="Rectangle 3">
            <a:extLst>
              <a:ext uri="{FF2B5EF4-FFF2-40B4-BE49-F238E27FC236}">
                <a16:creationId xmlns:a16="http://schemas.microsoft.com/office/drawing/2014/main" id="{F432533E-F133-439A-AB27-1EF55B029342}"/>
              </a:ext>
            </a:extLst>
          </p:cNvPr>
          <p:cNvSpPr>
            <a:spLocks noGrp="1" noChangeArrowheads="1"/>
          </p:cNvSpPr>
          <p:nvPr>
            <p:ph type="body" idx="1"/>
          </p:nvPr>
        </p:nvSpPr>
        <p:spPr>
          <a:xfrm>
            <a:off x="304800" y="1371600"/>
            <a:ext cx="8610600" cy="4419600"/>
          </a:xfrm>
        </p:spPr>
        <p:txBody>
          <a:bodyPr/>
          <a:lstStyle/>
          <a:p>
            <a:pPr eaLnBrk="1" hangingPunct="1">
              <a:lnSpc>
                <a:spcPct val="125000"/>
              </a:lnSpc>
            </a:pPr>
            <a:r>
              <a:rPr lang="zh-CN" altLang="en-US" sz="2800" b="1" dirty="0">
                <a:ea typeface="宋体" panose="02010600030101010101" pitchFamily="2" charset="-122"/>
              </a:rPr>
              <a:t>耦合</a:t>
            </a:r>
          </a:p>
          <a:p>
            <a:pPr eaLnBrk="1" hangingPunct="1">
              <a:lnSpc>
                <a:spcPct val="125000"/>
              </a:lnSpc>
              <a:spcBef>
                <a:spcPct val="0"/>
              </a:spcBef>
            </a:pPr>
            <a:r>
              <a:rPr lang="zh-CN" altLang="en-US" sz="2400" dirty="0">
                <a:latin typeface="Arial" panose="020B0604020202020204" pitchFamily="34" charset="0"/>
                <a:ea typeface="经典宋体简" charset="-122"/>
              </a:rPr>
              <a:t>总之，耦合是影响软件复杂程度的一个重要因素。</a:t>
            </a:r>
          </a:p>
          <a:p>
            <a:pPr eaLnBrk="1" hangingPunct="1">
              <a:lnSpc>
                <a:spcPct val="125000"/>
              </a:lnSpc>
              <a:spcBef>
                <a:spcPct val="0"/>
              </a:spcBef>
            </a:pPr>
            <a:r>
              <a:rPr lang="zh-CN" altLang="en-US" sz="2400" dirty="0">
                <a:latin typeface="Arial" panose="020B0604020202020204" pitchFamily="34" charset="0"/>
                <a:ea typeface="经典宋体简" charset="-122"/>
              </a:rPr>
              <a:t>应该采取下述设计原则：</a:t>
            </a:r>
          </a:p>
          <a:p>
            <a:pPr marL="0" indent="0" eaLnBrk="1" hangingPunct="1">
              <a:lnSpc>
                <a:spcPct val="125000"/>
              </a:lnSpc>
              <a:spcBef>
                <a:spcPct val="0"/>
              </a:spcBef>
              <a:buNone/>
            </a:pPr>
            <a:r>
              <a:rPr lang="zh-CN" altLang="en-US" sz="2400" dirty="0">
                <a:solidFill>
                  <a:srgbClr val="C00000"/>
                </a:solidFill>
                <a:latin typeface="Arial" panose="020B0604020202020204" pitchFamily="34" charset="0"/>
                <a:ea typeface="经典宋体简" charset="-122"/>
              </a:rPr>
              <a:t>   尽量使用数据耦合，少用控制耦合，限制公共环境耦合的范围，完全不用内容耦合。</a:t>
            </a:r>
          </a:p>
          <a:p>
            <a:pPr eaLnBrk="1" hangingPunct="1">
              <a:lnSpc>
                <a:spcPct val="125000"/>
              </a:lnSpc>
              <a:spcBef>
                <a:spcPct val="0"/>
              </a:spcBef>
              <a:buFontTx/>
              <a:buNone/>
            </a:pPr>
            <a:endParaRPr lang="en-US" altLang="zh-CN" sz="2000" dirty="0">
              <a:latin typeface="Arial" panose="020B0604020202020204" pitchFamily="34" charset="0"/>
              <a:ea typeface="经典宋体简" charset="-122"/>
            </a:endParaRPr>
          </a:p>
          <a:p>
            <a:pPr eaLnBrk="1" hangingPunct="1">
              <a:lnSpc>
                <a:spcPct val="125000"/>
              </a:lnSpc>
              <a:spcBef>
                <a:spcPct val="0"/>
              </a:spcBef>
            </a:pPr>
            <a:endParaRPr lang="zh-CN" altLang="en-US" sz="2400" dirty="0">
              <a:ea typeface="宋体" panose="02010600030101010101" pitchFamily="2" charset="-122"/>
            </a:endParaRPr>
          </a:p>
        </p:txBody>
      </p:sp>
      <p:sp>
        <p:nvSpPr>
          <p:cNvPr id="9222" name="Rectangle 6">
            <a:extLst>
              <a:ext uri="{FF2B5EF4-FFF2-40B4-BE49-F238E27FC236}">
                <a16:creationId xmlns:a16="http://schemas.microsoft.com/office/drawing/2014/main" id="{B46003C0-7BBF-45F9-B3F0-FBE10EA37144}"/>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dirty="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dirty="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dirty="0">
              <a:ea typeface="宋体" panose="02010600030101010101" pitchFamily="2" charset="-122"/>
            </a:endParaRPr>
          </a:p>
        </p:txBody>
      </p:sp>
    </p:spTree>
    <p:extLst>
      <p:ext uri="{BB962C8B-B14F-4D97-AF65-F5344CB8AC3E}">
        <p14:creationId xmlns:p14="http://schemas.microsoft.com/office/powerpoint/2010/main" val="33833552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5">
            <a:extLst>
              <a:ext uri="{FF2B5EF4-FFF2-40B4-BE49-F238E27FC236}">
                <a16:creationId xmlns:a16="http://schemas.microsoft.com/office/drawing/2014/main" id="{BCB1B8A4-02A2-4AAF-9314-3F7AEAF6E6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69799E2-B99C-4EAE-8D85-3CB7B1E6B441}" type="slidenum">
              <a:rPr lang="en-US" altLang="en-US"/>
              <a:pPr eaLnBrk="1" hangingPunct="1"/>
              <a:t>27</a:t>
            </a:fld>
            <a:endParaRPr lang="en-US" altLang="en-US"/>
          </a:p>
        </p:txBody>
      </p:sp>
      <p:sp>
        <p:nvSpPr>
          <p:cNvPr id="9219" name="Rectangle 2">
            <a:extLst>
              <a:ext uri="{FF2B5EF4-FFF2-40B4-BE49-F238E27FC236}">
                <a16:creationId xmlns:a16="http://schemas.microsoft.com/office/drawing/2014/main" id="{2613ED5F-13D3-4D93-BBD3-15C1DAFD0014}"/>
              </a:ext>
            </a:extLst>
          </p:cNvPr>
          <p:cNvSpPr>
            <a:spLocks noGrp="1" noChangeArrowheads="1"/>
          </p:cNvSpPr>
          <p:nvPr>
            <p:ph type="title"/>
          </p:nvPr>
        </p:nvSpPr>
        <p:spPr>
          <a:xfrm>
            <a:off x="457200" y="122238"/>
            <a:ext cx="7543800" cy="1020762"/>
          </a:xfrm>
        </p:spPr>
        <p:txBody>
          <a:bodyPr/>
          <a:lstStyle/>
          <a:p>
            <a:pPr eaLnBrk="1" hangingPunct="1"/>
            <a:r>
              <a:rPr lang="zh-CN" altLang="en-US" sz="3600" dirty="0">
                <a:ea typeface="宋体" panose="02010600030101010101" pitchFamily="2" charset="-122"/>
              </a:rPr>
              <a:t>启发规则</a:t>
            </a:r>
            <a:endParaRPr lang="en-US" altLang="zh-CN" sz="3600" dirty="0">
              <a:ea typeface="宋体" panose="02010600030101010101" pitchFamily="2" charset="-122"/>
            </a:endParaRPr>
          </a:p>
        </p:txBody>
      </p:sp>
      <p:sp>
        <p:nvSpPr>
          <p:cNvPr id="9220" name="Rectangle 3">
            <a:extLst>
              <a:ext uri="{FF2B5EF4-FFF2-40B4-BE49-F238E27FC236}">
                <a16:creationId xmlns:a16="http://schemas.microsoft.com/office/drawing/2014/main" id="{F432533E-F133-439A-AB27-1EF55B029342}"/>
              </a:ext>
            </a:extLst>
          </p:cNvPr>
          <p:cNvSpPr>
            <a:spLocks noGrp="1" noChangeArrowheads="1"/>
          </p:cNvSpPr>
          <p:nvPr>
            <p:ph type="body" idx="1"/>
          </p:nvPr>
        </p:nvSpPr>
        <p:spPr>
          <a:xfrm>
            <a:off x="304800" y="1371600"/>
            <a:ext cx="8382000" cy="4419600"/>
          </a:xfrm>
        </p:spPr>
        <p:txBody>
          <a:bodyPr/>
          <a:lstStyle/>
          <a:p>
            <a:pPr eaLnBrk="1" hangingPunct="1">
              <a:lnSpc>
                <a:spcPct val="125000"/>
              </a:lnSpc>
              <a:spcBef>
                <a:spcPct val="0"/>
              </a:spcBef>
              <a:buFontTx/>
              <a:buNone/>
            </a:pPr>
            <a:r>
              <a:rPr lang="en-US" altLang="zh-CN" sz="2400" b="1" dirty="0">
                <a:latin typeface="Arial" panose="020B0604020202020204" pitchFamily="34" charset="0"/>
                <a:ea typeface="经典宋体简" charset="-122"/>
              </a:rPr>
              <a:t>1.</a:t>
            </a:r>
            <a:r>
              <a:rPr lang="zh-CN" altLang="en-US" sz="2400" b="1" dirty="0">
                <a:latin typeface="Arial" panose="020B0604020202020204" pitchFamily="34" charset="0"/>
                <a:ea typeface="经典宋体简" charset="-122"/>
              </a:rPr>
              <a:t>改进软件结构提高模块独立性</a:t>
            </a:r>
          </a:p>
          <a:p>
            <a:pPr eaLnBrk="1" hangingPunct="1">
              <a:lnSpc>
                <a:spcPct val="125000"/>
              </a:lnSpc>
              <a:spcBef>
                <a:spcPct val="0"/>
              </a:spcBef>
              <a:buFontTx/>
              <a:buNone/>
            </a:pPr>
            <a:r>
              <a:rPr lang="zh-CN" altLang="en-US" sz="2400" dirty="0">
                <a:latin typeface="Arial" panose="020B0604020202020204" pitchFamily="34" charset="0"/>
                <a:ea typeface="经典宋体简" charset="-122"/>
              </a:rPr>
              <a:t>    设计出软件的初步结构以后，应该审查分析这个结构，通过模块分解或合并，力求</a:t>
            </a:r>
            <a:r>
              <a:rPr lang="zh-CN" altLang="en-US" sz="2400" dirty="0">
                <a:solidFill>
                  <a:srgbClr val="C00000"/>
                </a:solidFill>
                <a:latin typeface="Arial" panose="020B0604020202020204" pitchFamily="34" charset="0"/>
                <a:ea typeface="经典宋体简" charset="-122"/>
              </a:rPr>
              <a:t>降低耦合提高内聚</a:t>
            </a:r>
            <a:r>
              <a:rPr lang="zh-CN" altLang="en-US" sz="2400" dirty="0">
                <a:latin typeface="Arial" panose="020B0604020202020204" pitchFamily="34" charset="0"/>
                <a:ea typeface="经典宋体简" charset="-122"/>
              </a:rPr>
              <a:t>。</a:t>
            </a:r>
          </a:p>
          <a:p>
            <a:pPr eaLnBrk="1" hangingPunct="1">
              <a:lnSpc>
                <a:spcPct val="125000"/>
              </a:lnSpc>
              <a:spcBef>
                <a:spcPct val="0"/>
              </a:spcBef>
              <a:buFontTx/>
              <a:buNone/>
            </a:pPr>
            <a:r>
              <a:rPr lang="en-US" altLang="zh-CN" sz="2400" b="1" dirty="0">
                <a:latin typeface="Arial" panose="020B0604020202020204" pitchFamily="34" charset="0"/>
                <a:ea typeface="经典宋体简" charset="-122"/>
              </a:rPr>
              <a:t>2. </a:t>
            </a:r>
            <a:r>
              <a:rPr lang="zh-CN" altLang="en-US" sz="2400" b="1" dirty="0">
                <a:latin typeface="Arial" panose="020B0604020202020204" pitchFamily="34" charset="0"/>
                <a:ea typeface="经典宋体简" charset="-122"/>
              </a:rPr>
              <a:t>模块规模应该适中</a:t>
            </a:r>
          </a:p>
          <a:p>
            <a:pPr eaLnBrk="1" hangingPunct="1">
              <a:lnSpc>
                <a:spcPct val="125000"/>
              </a:lnSpc>
              <a:spcBef>
                <a:spcPct val="0"/>
              </a:spcBef>
              <a:buFontTx/>
              <a:buNone/>
            </a:pPr>
            <a:r>
              <a:rPr lang="zh-CN" altLang="en-US" sz="2400" dirty="0">
                <a:latin typeface="Arial" panose="020B0604020202020204" pitchFamily="34" charset="0"/>
                <a:ea typeface="经典宋体简" charset="-122"/>
              </a:rPr>
              <a:t>    一个模块的规模不应过大，最好能写在一页纸内</a:t>
            </a:r>
            <a:r>
              <a:rPr lang="en-US" altLang="zh-CN" sz="2400" dirty="0">
                <a:latin typeface="Arial" panose="020B0604020202020204" pitchFamily="34" charset="0"/>
                <a:ea typeface="经典宋体简" charset="-122"/>
              </a:rPr>
              <a:t>(</a:t>
            </a:r>
            <a:r>
              <a:rPr lang="zh-CN" altLang="en-US" sz="2400" dirty="0">
                <a:latin typeface="Arial" panose="020B0604020202020204" pitchFamily="34" charset="0"/>
                <a:ea typeface="经典宋体简" charset="-122"/>
              </a:rPr>
              <a:t>通常不超过</a:t>
            </a:r>
            <a:r>
              <a:rPr lang="en-US" altLang="zh-CN" sz="2400" dirty="0">
                <a:latin typeface="Arial" panose="020B0604020202020204" pitchFamily="34" charset="0"/>
                <a:ea typeface="经典宋体简" charset="-122"/>
              </a:rPr>
              <a:t>60</a:t>
            </a:r>
            <a:r>
              <a:rPr lang="zh-CN" altLang="en-US" sz="2400" dirty="0">
                <a:latin typeface="Arial" panose="020B0604020202020204" pitchFamily="34" charset="0"/>
                <a:ea typeface="经典宋体简" charset="-122"/>
              </a:rPr>
              <a:t>行语句</a:t>
            </a:r>
            <a:r>
              <a:rPr lang="en-US" altLang="zh-CN" sz="2400" dirty="0">
                <a:latin typeface="Arial" panose="020B0604020202020204" pitchFamily="34" charset="0"/>
                <a:ea typeface="经典宋体简" charset="-122"/>
              </a:rPr>
              <a:t>)</a:t>
            </a:r>
          </a:p>
          <a:p>
            <a:pPr eaLnBrk="1" hangingPunct="1">
              <a:lnSpc>
                <a:spcPct val="125000"/>
              </a:lnSpc>
              <a:spcBef>
                <a:spcPct val="0"/>
              </a:spcBef>
              <a:buFontTx/>
              <a:buNone/>
            </a:pPr>
            <a:r>
              <a:rPr lang="en-US" altLang="zh-CN" sz="2400" b="1" dirty="0">
                <a:latin typeface="Arial" panose="020B0604020202020204" pitchFamily="34" charset="0"/>
                <a:ea typeface="经典宋体简" charset="-122"/>
              </a:rPr>
              <a:t>3.</a:t>
            </a:r>
            <a:r>
              <a:rPr lang="zh-CN" altLang="en-US" sz="2400" b="1" dirty="0">
                <a:latin typeface="Arial" panose="020B0604020202020204" pitchFamily="34" charset="0"/>
                <a:ea typeface="经典宋体简" charset="-122"/>
              </a:rPr>
              <a:t>深度、宽度、扇出和扇入都应适当</a:t>
            </a:r>
          </a:p>
          <a:p>
            <a:pPr lvl="1" eaLnBrk="1" hangingPunct="1">
              <a:lnSpc>
                <a:spcPct val="125000"/>
              </a:lnSpc>
              <a:spcBef>
                <a:spcPct val="0"/>
              </a:spcBef>
              <a:buNone/>
            </a:pPr>
            <a:r>
              <a:rPr lang="zh-CN" altLang="en-US" sz="2400" dirty="0">
                <a:latin typeface="Arial" panose="020B0604020202020204" pitchFamily="34" charset="0"/>
                <a:ea typeface="经典宋体简" charset="-122"/>
              </a:rPr>
              <a:t>深度：软件结构中控制的层数</a:t>
            </a:r>
          </a:p>
          <a:p>
            <a:pPr lvl="1" eaLnBrk="1" hangingPunct="1">
              <a:lnSpc>
                <a:spcPct val="125000"/>
              </a:lnSpc>
              <a:spcBef>
                <a:spcPct val="0"/>
              </a:spcBef>
              <a:buNone/>
            </a:pPr>
            <a:r>
              <a:rPr lang="zh-CN" altLang="en-US" sz="2400" dirty="0">
                <a:latin typeface="Arial" panose="020B0604020202020204" pitchFamily="34" charset="0"/>
                <a:ea typeface="经典宋体简" charset="-122"/>
              </a:rPr>
              <a:t>宽度：软件结构内同一个层次上的模块总数的最大值</a:t>
            </a:r>
          </a:p>
          <a:p>
            <a:pPr lvl="1" eaLnBrk="1" hangingPunct="1">
              <a:lnSpc>
                <a:spcPct val="125000"/>
              </a:lnSpc>
              <a:spcBef>
                <a:spcPct val="0"/>
              </a:spcBef>
              <a:buNone/>
            </a:pPr>
            <a:r>
              <a:rPr lang="zh-CN" altLang="en-US" sz="2400" dirty="0">
                <a:latin typeface="Arial" panose="020B0604020202020204" pitchFamily="34" charset="0"/>
                <a:ea typeface="经典宋体简" charset="-122"/>
              </a:rPr>
              <a:t>扇出：一个模块直接控制</a:t>
            </a:r>
            <a:r>
              <a:rPr lang="en-US" altLang="zh-CN" sz="2400" dirty="0">
                <a:latin typeface="Arial" panose="020B0604020202020204" pitchFamily="34" charset="0"/>
                <a:ea typeface="经典宋体简" charset="-122"/>
              </a:rPr>
              <a:t>(</a:t>
            </a:r>
            <a:r>
              <a:rPr lang="zh-CN" altLang="en-US" sz="2400" dirty="0">
                <a:latin typeface="Arial" panose="020B0604020202020204" pitchFamily="34" charset="0"/>
                <a:ea typeface="经典宋体简" charset="-122"/>
              </a:rPr>
              <a:t>调用</a:t>
            </a:r>
            <a:r>
              <a:rPr lang="en-US" altLang="zh-CN" sz="2400" dirty="0">
                <a:latin typeface="Arial" panose="020B0604020202020204" pitchFamily="34" charset="0"/>
                <a:ea typeface="经典宋体简" charset="-122"/>
              </a:rPr>
              <a:t>)</a:t>
            </a:r>
            <a:r>
              <a:rPr lang="zh-CN" altLang="en-US" sz="2400" dirty="0">
                <a:latin typeface="Arial" panose="020B0604020202020204" pitchFamily="34" charset="0"/>
                <a:ea typeface="经典宋体简" charset="-122"/>
              </a:rPr>
              <a:t>的模块数目</a:t>
            </a:r>
          </a:p>
          <a:p>
            <a:pPr lvl="1" eaLnBrk="1" hangingPunct="1">
              <a:lnSpc>
                <a:spcPct val="125000"/>
              </a:lnSpc>
              <a:spcBef>
                <a:spcPct val="0"/>
              </a:spcBef>
              <a:buNone/>
            </a:pPr>
            <a:r>
              <a:rPr lang="zh-CN" altLang="en-US" sz="2400" dirty="0">
                <a:latin typeface="Arial" panose="020B0604020202020204" pitchFamily="34" charset="0"/>
                <a:ea typeface="经典宋体简" charset="-122"/>
              </a:rPr>
              <a:t>扇入：一个模块被多少个上级模块直接调用的数目</a:t>
            </a:r>
            <a:endParaRPr lang="zh-CN" altLang="en-US" sz="1800" dirty="0">
              <a:ea typeface="宋体" panose="02010600030101010101" pitchFamily="2" charset="-122"/>
            </a:endParaRPr>
          </a:p>
        </p:txBody>
      </p:sp>
      <p:sp>
        <p:nvSpPr>
          <p:cNvPr id="9222" name="Rectangle 6">
            <a:extLst>
              <a:ext uri="{FF2B5EF4-FFF2-40B4-BE49-F238E27FC236}">
                <a16:creationId xmlns:a16="http://schemas.microsoft.com/office/drawing/2014/main" id="{B46003C0-7BBF-45F9-B3F0-FBE10EA37144}"/>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extLst>
      <p:ext uri="{BB962C8B-B14F-4D97-AF65-F5344CB8AC3E}">
        <p14:creationId xmlns:p14="http://schemas.microsoft.com/office/powerpoint/2010/main" val="35024320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5">
            <a:extLst>
              <a:ext uri="{FF2B5EF4-FFF2-40B4-BE49-F238E27FC236}">
                <a16:creationId xmlns:a16="http://schemas.microsoft.com/office/drawing/2014/main" id="{BCB1B8A4-02A2-4AAF-9314-3F7AEAF6E6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69799E2-B99C-4EAE-8D85-3CB7B1E6B441}" type="slidenum">
              <a:rPr lang="en-US" altLang="en-US"/>
              <a:pPr eaLnBrk="1" hangingPunct="1"/>
              <a:t>28</a:t>
            </a:fld>
            <a:endParaRPr lang="en-US" altLang="en-US"/>
          </a:p>
        </p:txBody>
      </p:sp>
      <p:sp>
        <p:nvSpPr>
          <p:cNvPr id="9219" name="Rectangle 2">
            <a:extLst>
              <a:ext uri="{FF2B5EF4-FFF2-40B4-BE49-F238E27FC236}">
                <a16:creationId xmlns:a16="http://schemas.microsoft.com/office/drawing/2014/main" id="{2613ED5F-13D3-4D93-BBD3-15C1DAFD0014}"/>
              </a:ext>
            </a:extLst>
          </p:cNvPr>
          <p:cNvSpPr>
            <a:spLocks noGrp="1" noChangeArrowheads="1"/>
          </p:cNvSpPr>
          <p:nvPr>
            <p:ph type="title"/>
          </p:nvPr>
        </p:nvSpPr>
        <p:spPr>
          <a:xfrm>
            <a:off x="457200" y="122238"/>
            <a:ext cx="7543800" cy="1020762"/>
          </a:xfrm>
        </p:spPr>
        <p:txBody>
          <a:bodyPr/>
          <a:lstStyle/>
          <a:p>
            <a:pPr eaLnBrk="1" hangingPunct="1"/>
            <a:r>
              <a:rPr lang="zh-CN" altLang="en-US" sz="3600" dirty="0">
                <a:ea typeface="宋体" panose="02010600030101010101" pitchFamily="2" charset="-122"/>
              </a:rPr>
              <a:t>启发规则</a:t>
            </a:r>
            <a:endParaRPr lang="en-US" altLang="zh-CN" sz="3600" dirty="0">
              <a:ea typeface="宋体" panose="02010600030101010101" pitchFamily="2" charset="-122"/>
            </a:endParaRPr>
          </a:p>
        </p:txBody>
      </p:sp>
      <p:sp>
        <p:nvSpPr>
          <p:cNvPr id="9220" name="Rectangle 3">
            <a:extLst>
              <a:ext uri="{FF2B5EF4-FFF2-40B4-BE49-F238E27FC236}">
                <a16:creationId xmlns:a16="http://schemas.microsoft.com/office/drawing/2014/main" id="{F432533E-F133-439A-AB27-1EF55B029342}"/>
              </a:ext>
            </a:extLst>
          </p:cNvPr>
          <p:cNvSpPr>
            <a:spLocks noGrp="1" noChangeArrowheads="1"/>
          </p:cNvSpPr>
          <p:nvPr>
            <p:ph type="body" idx="1"/>
          </p:nvPr>
        </p:nvSpPr>
        <p:spPr>
          <a:xfrm>
            <a:off x="304800" y="1371600"/>
            <a:ext cx="8686800" cy="4419600"/>
          </a:xfrm>
        </p:spPr>
        <p:txBody>
          <a:bodyPr/>
          <a:lstStyle/>
          <a:p>
            <a:pPr eaLnBrk="1" hangingPunct="1">
              <a:lnSpc>
                <a:spcPct val="125000"/>
              </a:lnSpc>
              <a:spcBef>
                <a:spcPct val="0"/>
              </a:spcBef>
              <a:buFontTx/>
              <a:buNone/>
            </a:pPr>
            <a:r>
              <a:rPr lang="en-US" altLang="zh-CN" sz="2400" b="1" dirty="0">
                <a:latin typeface="Arial" panose="020B0604020202020204" pitchFamily="34" charset="0"/>
                <a:ea typeface="经典宋体简" charset="-122"/>
              </a:rPr>
              <a:t>4.</a:t>
            </a:r>
            <a:r>
              <a:rPr lang="zh-CN" altLang="en-US" sz="2400" b="1" dirty="0">
                <a:latin typeface="Arial" panose="020B0604020202020204" pitchFamily="34" charset="0"/>
                <a:ea typeface="经典宋体简" charset="-122"/>
              </a:rPr>
              <a:t>模块的作用域应该在控制域之内</a:t>
            </a:r>
          </a:p>
          <a:p>
            <a:pPr eaLnBrk="1" hangingPunct="1">
              <a:lnSpc>
                <a:spcPct val="125000"/>
              </a:lnSpc>
              <a:spcBef>
                <a:spcPct val="0"/>
              </a:spcBef>
              <a:buFontTx/>
              <a:buNone/>
            </a:pPr>
            <a:r>
              <a:rPr lang="zh-CN" altLang="en-US" sz="2400" dirty="0">
                <a:latin typeface="Arial" panose="020B0604020202020204" pitchFamily="34" charset="0"/>
                <a:ea typeface="经典宋体简" charset="-122"/>
              </a:rPr>
              <a:t>作用域：受该模块内一个判定影响的所有模块的集合。</a:t>
            </a:r>
          </a:p>
          <a:p>
            <a:pPr eaLnBrk="1" hangingPunct="1">
              <a:lnSpc>
                <a:spcPct val="125000"/>
              </a:lnSpc>
              <a:spcBef>
                <a:spcPct val="0"/>
              </a:spcBef>
              <a:buFontTx/>
              <a:buNone/>
            </a:pPr>
            <a:r>
              <a:rPr lang="zh-CN" altLang="en-US" sz="2400" dirty="0">
                <a:latin typeface="Arial" panose="020B0604020202020204" pitchFamily="34" charset="0"/>
                <a:ea typeface="经典宋体简" charset="-122"/>
              </a:rPr>
              <a:t>控制域：模块本身以及所有直接或间接从属于它的模块的集合。</a:t>
            </a:r>
          </a:p>
        </p:txBody>
      </p:sp>
      <p:sp>
        <p:nvSpPr>
          <p:cNvPr id="9222" name="Rectangle 6">
            <a:extLst>
              <a:ext uri="{FF2B5EF4-FFF2-40B4-BE49-F238E27FC236}">
                <a16:creationId xmlns:a16="http://schemas.microsoft.com/office/drawing/2014/main" id="{B46003C0-7BBF-45F9-B3F0-FBE10EA37144}"/>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pic>
        <p:nvPicPr>
          <p:cNvPr id="6" name="图片 1">
            <a:extLst>
              <a:ext uri="{FF2B5EF4-FFF2-40B4-BE49-F238E27FC236}">
                <a16:creationId xmlns:a16="http://schemas.microsoft.com/office/drawing/2014/main" id="{1F89E6BA-E337-4AA5-A229-D607041493D8}"/>
              </a:ext>
            </a:extLst>
          </p:cNvPr>
          <p:cNvPicPr preferRelativeResize="0">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4188" y="3517900"/>
            <a:ext cx="4248150" cy="2849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7">
            <a:extLst>
              <a:ext uri="{FF2B5EF4-FFF2-40B4-BE49-F238E27FC236}">
                <a16:creationId xmlns:a16="http://schemas.microsoft.com/office/drawing/2014/main" id="{0DFA5B38-771F-4B3F-A77B-2360995D4898}"/>
              </a:ext>
            </a:extLst>
          </p:cNvPr>
          <p:cNvSpPr>
            <a:spLocks noChangeArrowheads="1"/>
          </p:cNvSpPr>
          <p:nvPr/>
        </p:nvSpPr>
        <p:spPr bwMode="auto">
          <a:xfrm>
            <a:off x="5160963" y="4495800"/>
            <a:ext cx="2813050" cy="1235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SzPct val="100000"/>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SzPct val="100000"/>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SzPct val="100000"/>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eaLnBrk="1" hangingPunct="1">
              <a:lnSpc>
                <a:spcPct val="125000"/>
              </a:lnSpc>
              <a:spcBef>
                <a:spcPct val="0"/>
              </a:spcBef>
              <a:buFontTx/>
              <a:buNone/>
            </a:pPr>
            <a:r>
              <a:rPr lang="zh-CN" altLang="en-US" sz="2000">
                <a:latin typeface="Arial" panose="020B0604020202020204" pitchFamily="34" charset="0"/>
                <a:ea typeface="经典宋体简" charset="-122"/>
              </a:rPr>
              <a:t>在图中模块</a:t>
            </a:r>
            <a:r>
              <a:rPr lang="en-US" altLang="zh-CN" sz="2000">
                <a:latin typeface="Arial" panose="020B0604020202020204" pitchFamily="34" charset="0"/>
                <a:ea typeface="经典宋体简" charset="-122"/>
              </a:rPr>
              <a:t>A</a:t>
            </a:r>
            <a:r>
              <a:rPr lang="zh-CN" altLang="en-US" sz="2000">
                <a:latin typeface="Arial" panose="020B0604020202020204" pitchFamily="34" charset="0"/>
                <a:ea typeface="经典宋体简" charset="-122"/>
              </a:rPr>
              <a:t>的控制域是</a:t>
            </a:r>
            <a:r>
              <a:rPr lang="en-US" altLang="zh-CN" sz="2000">
                <a:latin typeface="Arial" panose="020B0604020202020204" pitchFamily="34" charset="0"/>
                <a:ea typeface="经典宋体简" charset="-122"/>
              </a:rPr>
              <a:t>A</a:t>
            </a:r>
            <a:r>
              <a:rPr lang="zh-CN" altLang="en-US" sz="2000">
                <a:latin typeface="Arial" panose="020B0604020202020204" pitchFamily="34" charset="0"/>
                <a:ea typeface="经典宋体简" charset="-122"/>
              </a:rPr>
              <a:t>、</a:t>
            </a:r>
            <a:r>
              <a:rPr lang="en-US" altLang="zh-CN" sz="2000">
                <a:latin typeface="Arial" panose="020B0604020202020204" pitchFamily="34" charset="0"/>
                <a:ea typeface="经典宋体简" charset="-122"/>
              </a:rPr>
              <a:t>B</a:t>
            </a:r>
            <a:r>
              <a:rPr lang="zh-CN" altLang="en-US" sz="2000">
                <a:latin typeface="Arial" panose="020B0604020202020204" pitchFamily="34" charset="0"/>
                <a:ea typeface="经典宋体简" charset="-122"/>
              </a:rPr>
              <a:t>、</a:t>
            </a:r>
            <a:r>
              <a:rPr lang="en-US" altLang="zh-CN" sz="2000">
                <a:latin typeface="Arial" panose="020B0604020202020204" pitchFamily="34" charset="0"/>
                <a:ea typeface="经典宋体简" charset="-122"/>
              </a:rPr>
              <a:t>C</a:t>
            </a:r>
            <a:r>
              <a:rPr lang="zh-CN" altLang="en-US" sz="2000">
                <a:latin typeface="Arial" panose="020B0604020202020204" pitchFamily="34" charset="0"/>
                <a:ea typeface="经典宋体简" charset="-122"/>
              </a:rPr>
              <a:t>、</a:t>
            </a:r>
            <a:r>
              <a:rPr lang="en-US" altLang="zh-CN" sz="2000">
                <a:latin typeface="Arial" panose="020B0604020202020204" pitchFamily="34" charset="0"/>
                <a:ea typeface="经典宋体简" charset="-122"/>
              </a:rPr>
              <a:t>D</a:t>
            </a:r>
            <a:r>
              <a:rPr lang="zh-CN" altLang="en-US" sz="2000">
                <a:latin typeface="Arial" panose="020B0604020202020204" pitchFamily="34" charset="0"/>
                <a:ea typeface="经典宋体简" charset="-122"/>
              </a:rPr>
              <a:t>、</a:t>
            </a:r>
            <a:r>
              <a:rPr lang="en-US" altLang="zh-CN" sz="2000">
                <a:latin typeface="Arial" panose="020B0604020202020204" pitchFamily="34" charset="0"/>
                <a:ea typeface="经典宋体简" charset="-122"/>
              </a:rPr>
              <a:t>E</a:t>
            </a:r>
            <a:r>
              <a:rPr lang="zh-CN" altLang="en-US" sz="2000">
                <a:latin typeface="Arial" panose="020B0604020202020204" pitchFamily="34" charset="0"/>
                <a:ea typeface="经典宋体简" charset="-122"/>
              </a:rPr>
              <a:t>、</a:t>
            </a:r>
            <a:r>
              <a:rPr lang="en-US" altLang="zh-CN" sz="2000">
                <a:latin typeface="Arial" panose="020B0604020202020204" pitchFamily="34" charset="0"/>
                <a:ea typeface="经典宋体简" charset="-122"/>
              </a:rPr>
              <a:t>F</a:t>
            </a:r>
            <a:r>
              <a:rPr lang="zh-CN" altLang="en-US" sz="2000">
                <a:latin typeface="Arial" panose="020B0604020202020204" pitchFamily="34" charset="0"/>
                <a:ea typeface="经典宋体简" charset="-122"/>
              </a:rPr>
              <a:t>等模块的集合。</a:t>
            </a:r>
          </a:p>
        </p:txBody>
      </p:sp>
    </p:spTree>
    <p:extLst>
      <p:ext uri="{BB962C8B-B14F-4D97-AF65-F5344CB8AC3E}">
        <p14:creationId xmlns:p14="http://schemas.microsoft.com/office/powerpoint/2010/main" val="2245109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5">
            <a:extLst>
              <a:ext uri="{FF2B5EF4-FFF2-40B4-BE49-F238E27FC236}">
                <a16:creationId xmlns:a16="http://schemas.microsoft.com/office/drawing/2014/main" id="{BCB1B8A4-02A2-4AAF-9314-3F7AEAF6E6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69799E2-B99C-4EAE-8D85-3CB7B1E6B441}" type="slidenum">
              <a:rPr lang="en-US" altLang="en-US"/>
              <a:pPr eaLnBrk="1" hangingPunct="1"/>
              <a:t>29</a:t>
            </a:fld>
            <a:endParaRPr lang="en-US" altLang="en-US"/>
          </a:p>
        </p:txBody>
      </p:sp>
      <p:sp>
        <p:nvSpPr>
          <p:cNvPr id="9219" name="Rectangle 2">
            <a:extLst>
              <a:ext uri="{FF2B5EF4-FFF2-40B4-BE49-F238E27FC236}">
                <a16:creationId xmlns:a16="http://schemas.microsoft.com/office/drawing/2014/main" id="{2613ED5F-13D3-4D93-BBD3-15C1DAFD0014}"/>
              </a:ext>
            </a:extLst>
          </p:cNvPr>
          <p:cNvSpPr>
            <a:spLocks noGrp="1" noChangeArrowheads="1"/>
          </p:cNvSpPr>
          <p:nvPr>
            <p:ph type="title"/>
          </p:nvPr>
        </p:nvSpPr>
        <p:spPr>
          <a:xfrm>
            <a:off x="457200" y="122238"/>
            <a:ext cx="7543800" cy="1020762"/>
          </a:xfrm>
        </p:spPr>
        <p:txBody>
          <a:bodyPr/>
          <a:lstStyle/>
          <a:p>
            <a:pPr eaLnBrk="1" hangingPunct="1"/>
            <a:r>
              <a:rPr lang="zh-CN" altLang="en-US" sz="3600" dirty="0">
                <a:ea typeface="宋体" panose="02010600030101010101" pitchFamily="2" charset="-122"/>
              </a:rPr>
              <a:t>启发规则</a:t>
            </a:r>
            <a:endParaRPr lang="en-US" altLang="zh-CN" sz="3600" dirty="0">
              <a:ea typeface="宋体" panose="02010600030101010101" pitchFamily="2" charset="-122"/>
            </a:endParaRPr>
          </a:p>
        </p:txBody>
      </p:sp>
      <p:sp>
        <p:nvSpPr>
          <p:cNvPr id="9220" name="Rectangle 3">
            <a:extLst>
              <a:ext uri="{FF2B5EF4-FFF2-40B4-BE49-F238E27FC236}">
                <a16:creationId xmlns:a16="http://schemas.microsoft.com/office/drawing/2014/main" id="{F432533E-F133-439A-AB27-1EF55B029342}"/>
              </a:ext>
            </a:extLst>
          </p:cNvPr>
          <p:cNvSpPr>
            <a:spLocks noGrp="1" noChangeArrowheads="1"/>
          </p:cNvSpPr>
          <p:nvPr>
            <p:ph type="body" idx="1"/>
          </p:nvPr>
        </p:nvSpPr>
        <p:spPr>
          <a:xfrm>
            <a:off x="304800" y="1371600"/>
            <a:ext cx="8382000" cy="4419600"/>
          </a:xfrm>
        </p:spPr>
        <p:txBody>
          <a:bodyPr/>
          <a:lstStyle/>
          <a:p>
            <a:pPr eaLnBrk="1" hangingPunct="1">
              <a:lnSpc>
                <a:spcPct val="125000"/>
              </a:lnSpc>
              <a:spcBef>
                <a:spcPct val="0"/>
              </a:spcBef>
            </a:pPr>
            <a:r>
              <a:rPr lang="zh-CN" altLang="en-US" sz="2800" dirty="0">
                <a:latin typeface="Arial" panose="020B0604020202020204" pitchFamily="34" charset="0"/>
                <a:ea typeface="经典宋体简" charset="-122"/>
              </a:rPr>
              <a:t>在一个设计得很好的系统中，所有受判定影响的模块应该从属于做出判定的那个模块，最好局限于做出判定的那个模块及它的直属下级模块</a:t>
            </a:r>
          </a:p>
          <a:p>
            <a:pPr eaLnBrk="1" hangingPunct="1">
              <a:lnSpc>
                <a:spcPct val="125000"/>
              </a:lnSpc>
              <a:spcBef>
                <a:spcPct val="0"/>
              </a:spcBef>
            </a:pPr>
            <a:r>
              <a:rPr lang="zh-CN" altLang="en-US" sz="2800" dirty="0">
                <a:latin typeface="Arial" panose="020B0604020202020204" pitchFamily="34" charset="0"/>
                <a:ea typeface="经典宋体简" charset="-122"/>
              </a:rPr>
              <a:t>怎样修改软件结构才能使作用域是控制域的子集呢</a:t>
            </a:r>
            <a:r>
              <a:rPr lang="en-US" altLang="zh-CN" sz="2800" dirty="0">
                <a:latin typeface="Arial" panose="020B0604020202020204" pitchFamily="34" charset="0"/>
                <a:ea typeface="经典宋体简" charset="-122"/>
              </a:rPr>
              <a:t>?</a:t>
            </a:r>
          </a:p>
          <a:p>
            <a:pPr lvl="1" eaLnBrk="1" hangingPunct="1">
              <a:lnSpc>
                <a:spcPct val="125000"/>
              </a:lnSpc>
              <a:spcBef>
                <a:spcPct val="0"/>
              </a:spcBef>
            </a:pPr>
            <a:r>
              <a:rPr lang="zh-CN" altLang="en-US" sz="2400" dirty="0">
                <a:latin typeface="Arial" panose="020B0604020202020204" pitchFamily="34" charset="0"/>
                <a:ea typeface="经典宋体简" charset="-122"/>
              </a:rPr>
              <a:t>方法</a:t>
            </a:r>
            <a:r>
              <a:rPr lang="en-US" altLang="zh-CN" sz="2400" dirty="0">
                <a:latin typeface="Arial" panose="020B0604020202020204" pitchFamily="34" charset="0"/>
                <a:ea typeface="经典宋体简" charset="-122"/>
              </a:rPr>
              <a:t>1</a:t>
            </a:r>
            <a:r>
              <a:rPr lang="zh-CN" altLang="en-US" sz="2400" dirty="0">
                <a:latin typeface="Arial" panose="020B0604020202020204" pitchFamily="34" charset="0"/>
                <a:ea typeface="经典宋体简" charset="-122"/>
              </a:rPr>
              <a:t>是把做判定的点往上移（例如，把判定从模块</a:t>
            </a:r>
            <a:r>
              <a:rPr lang="en-US" altLang="zh-CN" sz="2400" dirty="0">
                <a:latin typeface="Arial" panose="020B0604020202020204" pitchFamily="34" charset="0"/>
                <a:ea typeface="经典宋体简" charset="-122"/>
              </a:rPr>
              <a:t>A</a:t>
            </a:r>
            <a:r>
              <a:rPr lang="zh-CN" altLang="en-US" sz="2400" dirty="0">
                <a:latin typeface="Arial" panose="020B0604020202020204" pitchFamily="34" charset="0"/>
                <a:ea typeface="经典宋体简" charset="-122"/>
              </a:rPr>
              <a:t>中移到模块</a:t>
            </a:r>
            <a:r>
              <a:rPr lang="en-US" altLang="zh-CN" sz="2400" dirty="0">
                <a:latin typeface="Arial" panose="020B0604020202020204" pitchFamily="34" charset="0"/>
                <a:ea typeface="经典宋体简" charset="-122"/>
              </a:rPr>
              <a:t>M</a:t>
            </a:r>
            <a:r>
              <a:rPr lang="zh-CN" altLang="en-US" sz="2400" dirty="0">
                <a:latin typeface="Arial" panose="020B0604020202020204" pitchFamily="34" charset="0"/>
                <a:ea typeface="经典宋体简" charset="-122"/>
              </a:rPr>
              <a:t>中）</a:t>
            </a:r>
          </a:p>
          <a:p>
            <a:pPr lvl="1" eaLnBrk="1" hangingPunct="1">
              <a:lnSpc>
                <a:spcPct val="125000"/>
              </a:lnSpc>
              <a:spcBef>
                <a:spcPct val="0"/>
              </a:spcBef>
            </a:pPr>
            <a:r>
              <a:rPr lang="zh-CN" altLang="en-US" sz="2400" dirty="0">
                <a:latin typeface="Arial" panose="020B0604020202020204" pitchFamily="34" charset="0"/>
                <a:ea typeface="经典宋体简" charset="-122"/>
              </a:rPr>
              <a:t>方法</a:t>
            </a:r>
            <a:r>
              <a:rPr lang="en-US" altLang="zh-CN" sz="2400" dirty="0">
                <a:latin typeface="Arial" panose="020B0604020202020204" pitchFamily="34" charset="0"/>
                <a:ea typeface="经典宋体简" charset="-122"/>
              </a:rPr>
              <a:t>2</a:t>
            </a:r>
            <a:r>
              <a:rPr lang="zh-CN" altLang="en-US" sz="2400" dirty="0">
                <a:latin typeface="Arial" panose="020B0604020202020204" pitchFamily="34" charset="0"/>
                <a:ea typeface="经典宋体简" charset="-122"/>
              </a:rPr>
              <a:t>是把那些在作用域内但不在控制域内的模块移到控制域内（例如，把模块</a:t>
            </a:r>
            <a:r>
              <a:rPr lang="en-US" altLang="zh-CN" sz="2400" dirty="0">
                <a:latin typeface="Arial" panose="020B0604020202020204" pitchFamily="34" charset="0"/>
                <a:ea typeface="经典宋体简" charset="-122"/>
              </a:rPr>
              <a:t>G</a:t>
            </a:r>
            <a:r>
              <a:rPr lang="zh-CN" altLang="en-US" sz="2400" dirty="0">
                <a:latin typeface="Arial" panose="020B0604020202020204" pitchFamily="34" charset="0"/>
                <a:ea typeface="经典宋体简" charset="-122"/>
              </a:rPr>
              <a:t>移到模块</a:t>
            </a:r>
            <a:r>
              <a:rPr lang="en-US" altLang="zh-CN" sz="2400" dirty="0">
                <a:latin typeface="Arial" panose="020B0604020202020204" pitchFamily="34" charset="0"/>
                <a:ea typeface="经典宋体简" charset="-122"/>
              </a:rPr>
              <a:t>A</a:t>
            </a:r>
            <a:r>
              <a:rPr lang="zh-CN" altLang="en-US" sz="2400" dirty="0">
                <a:latin typeface="Arial" panose="020B0604020202020204" pitchFamily="34" charset="0"/>
                <a:ea typeface="经典宋体简" charset="-122"/>
              </a:rPr>
              <a:t>的下面，成为它的直属下级模块。）</a:t>
            </a:r>
          </a:p>
        </p:txBody>
      </p:sp>
      <p:sp>
        <p:nvSpPr>
          <p:cNvPr id="9222" name="Rectangle 6">
            <a:extLst>
              <a:ext uri="{FF2B5EF4-FFF2-40B4-BE49-F238E27FC236}">
                <a16:creationId xmlns:a16="http://schemas.microsoft.com/office/drawing/2014/main" id="{B46003C0-7BBF-45F9-B3F0-FBE10EA37144}"/>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extLst>
      <p:ext uri="{BB962C8B-B14F-4D97-AF65-F5344CB8AC3E}">
        <p14:creationId xmlns:p14="http://schemas.microsoft.com/office/powerpoint/2010/main" val="2453182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20">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220">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22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Footer Placeholder 4">
            <a:extLst>
              <a:ext uri="{FF2B5EF4-FFF2-40B4-BE49-F238E27FC236}">
                <a16:creationId xmlns:a16="http://schemas.microsoft.com/office/drawing/2014/main" id="{46C70101-3F41-4FB0-82D8-67EFAF11A4D1}"/>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5123" name="Slide Number Placeholder 5">
            <a:extLst>
              <a:ext uri="{FF2B5EF4-FFF2-40B4-BE49-F238E27FC236}">
                <a16:creationId xmlns:a16="http://schemas.microsoft.com/office/drawing/2014/main" id="{4C924B88-EF74-42E3-A7A8-267A5444104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9568D79-C975-4B7D-9C16-7B45C0063EDD}" type="slidenum">
              <a:rPr lang="en-US" altLang="en-US"/>
              <a:pPr eaLnBrk="1" hangingPunct="1"/>
              <a:t>30</a:t>
            </a:fld>
            <a:endParaRPr lang="en-US" altLang="en-US"/>
          </a:p>
        </p:txBody>
      </p:sp>
      <p:sp>
        <p:nvSpPr>
          <p:cNvPr id="5124" name="Rectangle 2">
            <a:extLst>
              <a:ext uri="{FF2B5EF4-FFF2-40B4-BE49-F238E27FC236}">
                <a16:creationId xmlns:a16="http://schemas.microsoft.com/office/drawing/2014/main" id="{64AA83B5-87A1-459A-BE63-C7FE4FE1EFDF}"/>
              </a:ext>
            </a:extLst>
          </p:cNvPr>
          <p:cNvSpPr>
            <a:spLocks noGrp="1" noChangeArrowheads="1"/>
          </p:cNvSpPr>
          <p:nvPr>
            <p:ph type="title"/>
          </p:nvPr>
        </p:nvSpPr>
        <p:spPr/>
        <p:txBody>
          <a:bodyPr/>
          <a:lstStyle/>
          <a:p>
            <a:pPr eaLnBrk="1" hangingPunct="1"/>
            <a:r>
              <a:rPr lang="en-US" altLang="zh-CN">
                <a:ea typeface="宋体" panose="02010600030101010101" pitchFamily="2" charset="-122"/>
              </a:rPr>
              <a:t>Chapter 6 Outline</a:t>
            </a:r>
          </a:p>
        </p:txBody>
      </p:sp>
      <p:sp>
        <p:nvSpPr>
          <p:cNvPr id="5125" name="Rectangle 3">
            <a:extLst>
              <a:ext uri="{FF2B5EF4-FFF2-40B4-BE49-F238E27FC236}">
                <a16:creationId xmlns:a16="http://schemas.microsoft.com/office/drawing/2014/main" id="{AD2D061E-90BF-4146-ADB7-9BA17BB68976}"/>
              </a:ext>
            </a:extLst>
          </p:cNvPr>
          <p:cNvSpPr>
            <a:spLocks noGrp="1" noChangeArrowheads="1"/>
          </p:cNvSpPr>
          <p:nvPr>
            <p:ph type="body" idx="1"/>
          </p:nvPr>
        </p:nvSpPr>
        <p:spPr>
          <a:xfrm>
            <a:off x="457200" y="1752600"/>
            <a:ext cx="8229600" cy="4411663"/>
          </a:xfrm>
        </p:spPr>
        <p:txBody>
          <a:bodyPr/>
          <a:lstStyle/>
          <a:p>
            <a:pPr eaLnBrk="1" hangingPunct="1"/>
            <a:r>
              <a:rPr lang="en-US" altLang="zh-CN" sz="3200" dirty="0">
                <a:ea typeface="宋体" panose="02010600030101010101" pitchFamily="2" charset="-122"/>
              </a:rPr>
              <a:t>The Elements of Design</a:t>
            </a:r>
          </a:p>
          <a:p>
            <a:pPr eaLnBrk="1" hangingPunct="1"/>
            <a:r>
              <a:rPr lang="en-US" altLang="zh-CN" sz="3200" dirty="0">
                <a:solidFill>
                  <a:srgbClr val="C00000"/>
                </a:solidFill>
                <a:ea typeface="宋体" panose="02010600030101010101" pitchFamily="2" charset="-122"/>
              </a:rPr>
              <a:t>Inputs and Outputs for Systems Design</a:t>
            </a:r>
            <a:r>
              <a:rPr lang="zh-CN" altLang="en-US" sz="3200" dirty="0">
                <a:solidFill>
                  <a:srgbClr val="C00000"/>
                </a:solidFill>
                <a:ea typeface="宋体" panose="02010600030101010101" pitchFamily="2" charset="-122"/>
              </a:rPr>
              <a:t>（系统设计的输入和输出）</a:t>
            </a:r>
            <a:endParaRPr lang="en-US" altLang="zh-CN" sz="3200" dirty="0">
              <a:solidFill>
                <a:srgbClr val="C00000"/>
              </a:solidFill>
              <a:ea typeface="宋体" panose="02010600030101010101" pitchFamily="2" charset="-122"/>
            </a:endParaRPr>
          </a:p>
          <a:p>
            <a:pPr eaLnBrk="1" hangingPunct="1"/>
            <a:r>
              <a:rPr lang="en-US" altLang="zh-CN" sz="3200" dirty="0">
                <a:ea typeface="宋体" panose="02010600030101010101" pitchFamily="2" charset="-122"/>
              </a:rPr>
              <a:t>Design Activities</a:t>
            </a:r>
          </a:p>
          <a:p>
            <a:pPr eaLnBrk="1" hangingPunct="1"/>
            <a:r>
              <a:rPr lang="en-US" altLang="zh-CN" sz="3200" dirty="0">
                <a:ea typeface="宋体" panose="02010600030101010101" pitchFamily="2" charset="-122"/>
              </a:rPr>
              <a:t>Design Activity: Design the Environment</a:t>
            </a:r>
          </a:p>
          <a:p>
            <a:pPr eaLnBrk="1" hangingPunct="1"/>
            <a:endParaRPr lang="en-US" altLang="zh-CN" sz="3600" dirty="0">
              <a:ea typeface="宋体" panose="02010600030101010101" pitchFamily="2" charset="-122"/>
            </a:endParaRPr>
          </a:p>
        </p:txBody>
      </p:sp>
      <p:sp>
        <p:nvSpPr>
          <p:cNvPr id="5126" name="Rectangle 5">
            <a:extLst>
              <a:ext uri="{FF2B5EF4-FFF2-40B4-BE49-F238E27FC236}">
                <a16:creationId xmlns:a16="http://schemas.microsoft.com/office/drawing/2014/main" id="{6A90B39B-3E57-42B2-8CA9-2ADE3941B9B2}"/>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extLst>
      <p:ext uri="{BB962C8B-B14F-4D97-AF65-F5344CB8AC3E}">
        <p14:creationId xmlns:p14="http://schemas.microsoft.com/office/powerpoint/2010/main" val="39187624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Footer Placeholder 4">
            <a:extLst>
              <a:ext uri="{FF2B5EF4-FFF2-40B4-BE49-F238E27FC236}">
                <a16:creationId xmlns:a16="http://schemas.microsoft.com/office/drawing/2014/main" id="{6BA96408-5E37-4096-88B4-7066D56444A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Systems Analysis and Design in a Changing World, 6th Edition</a:t>
            </a:r>
          </a:p>
        </p:txBody>
      </p:sp>
      <p:sp>
        <p:nvSpPr>
          <p:cNvPr id="10243" name="Slide Number Placeholder 5">
            <a:extLst>
              <a:ext uri="{FF2B5EF4-FFF2-40B4-BE49-F238E27FC236}">
                <a16:creationId xmlns:a16="http://schemas.microsoft.com/office/drawing/2014/main" id="{38947F94-E406-4F8E-A5D3-A4412D7E6B0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53291F6-1737-4543-9532-5A7175921830}" type="slidenum">
              <a:rPr lang="en-US" altLang="en-US"/>
              <a:pPr eaLnBrk="1" hangingPunct="1"/>
              <a:t>31</a:t>
            </a:fld>
            <a:endParaRPr lang="en-US" altLang="en-US"/>
          </a:p>
        </p:txBody>
      </p:sp>
      <p:sp>
        <p:nvSpPr>
          <p:cNvPr id="10244" name="Rectangle 2">
            <a:extLst>
              <a:ext uri="{FF2B5EF4-FFF2-40B4-BE49-F238E27FC236}">
                <a16:creationId xmlns:a16="http://schemas.microsoft.com/office/drawing/2014/main" id="{399C9D3C-3889-4795-A175-A4306171AFAD}"/>
              </a:ext>
            </a:extLst>
          </p:cNvPr>
          <p:cNvSpPr>
            <a:spLocks noGrp="1" noChangeArrowheads="1"/>
          </p:cNvSpPr>
          <p:nvPr>
            <p:ph type="title"/>
          </p:nvPr>
        </p:nvSpPr>
        <p:spPr>
          <a:xfrm>
            <a:off x="457200" y="122238"/>
            <a:ext cx="7543800" cy="1249362"/>
          </a:xfrm>
        </p:spPr>
        <p:txBody>
          <a:bodyPr/>
          <a:lstStyle/>
          <a:p>
            <a:pPr eaLnBrk="1" hangingPunct="1"/>
            <a:r>
              <a:rPr lang="en-US" altLang="zh-CN" sz="3600">
                <a:ea typeface="宋体" panose="02010600030101010101" pitchFamily="2" charset="-122"/>
              </a:rPr>
              <a:t>Analysis Objectives versus Design Objectives</a:t>
            </a:r>
          </a:p>
        </p:txBody>
      </p:sp>
      <p:pic>
        <p:nvPicPr>
          <p:cNvPr id="10245" name="Picture 6">
            <a:extLst>
              <a:ext uri="{FF2B5EF4-FFF2-40B4-BE49-F238E27FC236}">
                <a16:creationId xmlns:a16="http://schemas.microsoft.com/office/drawing/2014/main" id="{482AB0AB-8DDC-49FE-8867-11ABD38FAE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1371600"/>
            <a:ext cx="6296025" cy="5211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6" name="Footer Placeholder 4">
            <a:extLst>
              <a:ext uri="{FF2B5EF4-FFF2-40B4-BE49-F238E27FC236}">
                <a16:creationId xmlns:a16="http://schemas.microsoft.com/office/drawing/2014/main" id="{7353DBAF-5318-40D2-87E2-5FF7D56BDC20}"/>
              </a:ext>
            </a:extLst>
          </p:cNvPr>
          <p:cNvSpPr txBox="1">
            <a:spLocks/>
          </p:cNvSpPr>
          <p:nvPr/>
        </p:nvSpPr>
        <p:spPr bwMode="auto">
          <a:xfrm>
            <a:off x="1981200" y="6400800"/>
            <a:ext cx="548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400"/>
              <a:t>Introduction to Systems Analysis and Design, 6th Edition</a:t>
            </a:r>
          </a:p>
        </p:txBody>
      </p:sp>
      <p:sp>
        <p:nvSpPr>
          <p:cNvPr id="10247" name="Rectangle 6">
            <a:extLst>
              <a:ext uri="{FF2B5EF4-FFF2-40B4-BE49-F238E27FC236}">
                <a16:creationId xmlns:a16="http://schemas.microsoft.com/office/drawing/2014/main" id="{79220492-D9A5-4F64-ADBE-52E4C90942A6}"/>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9" name="文本框 8">
            <a:extLst>
              <a:ext uri="{FF2B5EF4-FFF2-40B4-BE49-F238E27FC236}">
                <a16:creationId xmlns:a16="http://schemas.microsoft.com/office/drawing/2014/main" id="{1AE143B1-C419-4AAE-A5C5-703F84D92DDE}"/>
              </a:ext>
            </a:extLst>
          </p:cNvPr>
          <p:cNvSpPr txBox="1"/>
          <p:nvPr/>
        </p:nvSpPr>
        <p:spPr>
          <a:xfrm>
            <a:off x="4953000" y="1621938"/>
            <a:ext cx="4572000" cy="1200329"/>
          </a:xfrm>
          <a:prstGeom prst="rect">
            <a:avLst/>
          </a:prstGeom>
          <a:noFill/>
        </p:spPr>
        <p:txBody>
          <a:bodyPr wrap="square">
            <a:spAutoFit/>
          </a:bodyPr>
          <a:lstStyle/>
          <a:p>
            <a:r>
              <a:rPr lang="zh-CN" altLang="en-US" dirty="0"/>
              <a:t>分析活动：</a:t>
            </a:r>
            <a:endParaRPr lang="en-US" altLang="zh-CN" dirty="0"/>
          </a:p>
          <a:p>
            <a:r>
              <a:rPr lang="en-US" altLang="zh-CN" dirty="0"/>
              <a:t>    </a:t>
            </a:r>
            <a:r>
              <a:rPr lang="zh-CN" altLang="en-US" dirty="0"/>
              <a:t>目标：</a:t>
            </a:r>
            <a:r>
              <a:rPr lang="en-US" altLang="zh-CN" dirty="0"/>
              <a:t>1. </a:t>
            </a:r>
            <a:r>
              <a:rPr lang="zh-CN" altLang="en-US" dirty="0"/>
              <a:t>业务事件和处理过程</a:t>
            </a:r>
            <a:endParaRPr lang="en-US" altLang="zh-CN" dirty="0"/>
          </a:p>
          <a:p>
            <a:r>
              <a:rPr lang="en-US" altLang="zh-CN" dirty="0"/>
              <a:t>              2. </a:t>
            </a:r>
            <a:r>
              <a:rPr lang="zh-CN" altLang="en-US" dirty="0"/>
              <a:t>系统活动和处理需求</a:t>
            </a:r>
            <a:endParaRPr lang="en-US" altLang="zh-CN" dirty="0"/>
          </a:p>
          <a:p>
            <a:r>
              <a:rPr lang="en-US" altLang="zh-CN" dirty="0"/>
              <a:t>              3. </a:t>
            </a:r>
            <a:r>
              <a:rPr lang="zh-CN" altLang="en-US" dirty="0"/>
              <a:t>信息存储需求</a:t>
            </a:r>
            <a:endParaRPr lang="en-US" altLang="zh-CN" dirty="0"/>
          </a:p>
        </p:txBody>
      </p:sp>
      <p:sp>
        <p:nvSpPr>
          <p:cNvPr id="11" name="文本框 10">
            <a:extLst>
              <a:ext uri="{FF2B5EF4-FFF2-40B4-BE49-F238E27FC236}">
                <a16:creationId xmlns:a16="http://schemas.microsoft.com/office/drawing/2014/main" id="{DD158849-93A3-4045-A3C1-FFC43575D01E}"/>
              </a:ext>
            </a:extLst>
          </p:cNvPr>
          <p:cNvSpPr txBox="1"/>
          <p:nvPr/>
        </p:nvSpPr>
        <p:spPr>
          <a:xfrm>
            <a:off x="1491230" y="4803874"/>
            <a:ext cx="2699770" cy="1477328"/>
          </a:xfrm>
          <a:prstGeom prst="rect">
            <a:avLst/>
          </a:prstGeom>
          <a:noFill/>
        </p:spPr>
        <p:txBody>
          <a:bodyPr wrap="square">
            <a:spAutoFit/>
          </a:bodyPr>
          <a:lstStyle/>
          <a:p>
            <a:r>
              <a:rPr lang="zh-CN" altLang="en-US" dirty="0"/>
              <a:t>设计活动：</a:t>
            </a:r>
            <a:endParaRPr lang="en-US" altLang="zh-CN" dirty="0"/>
          </a:p>
          <a:p>
            <a:r>
              <a:rPr lang="en-US" altLang="zh-CN" dirty="0"/>
              <a:t>    </a:t>
            </a:r>
            <a:r>
              <a:rPr lang="zh-CN" altLang="en-US" dirty="0"/>
              <a:t>目标：定义组织和构建最终解决方案系统的各个组件，他们将成为系统构建的蓝图</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5">
            <a:extLst>
              <a:ext uri="{FF2B5EF4-FFF2-40B4-BE49-F238E27FC236}">
                <a16:creationId xmlns:a16="http://schemas.microsoft.com/office/drawing/2014/main" id="{7D63DCF5-AF81-4780-B5C8-1C539C047B8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F29C8D8-5CC7-43E7-8941-8EE05CD2FEAC}" type="slidenum">
              <a:rPr lang="en-US" altLang="en-US"/>
              <a:pPr eaLnBrk="1" hangingPunct="1"/>
              <a:t>32</a:t>
            </a:fld>
            <a:endParaRPr lang="en-US" altLang="en-US"/>
          </a:p>
        </p:txBody>
      </p:sp>
      <p:sp>
        <p:nvSpPr>
          <p:cNvPr id="11267" name="Rectangle 2">
            <a:extLst>
              <a:ext uri="{FF2B5EF4-FFF2-40B4-BE49-F238E27FC236}">
                <a16:creationId xmlns:a16="http://schemas.microsoft.com/office/drawing/2014/main" id="{8239B161-CA6B-49E6-A286-42CC217EB4F1}"/>
              </a:ext>
            </a:extLst>
          </p:cNvPr>
          <p:cNvSpPr>
            <a:spLocks noGrp="1" noChangeArrowheads="1"/>
          </p:cNvSpPr>
          <p:nvPr>
            <p:ph type="title"/>
          </p:nvPr>
        </p:nvSpPr>
        <p:spPr>
          <a:xfrm>
            <a:off x="304800" y="228600"/>
            <a:ext cx="2362200" cy="3916363"/>
          </a:xfrm>
        </p:spPr>
        <p:txBody>
          <a:bodyPr/>
          <a:lstStyle/>
          <a:p>
            <a:pPr eaLnBrk="1" hangingPunct="1"/>
            <a:r>
              <a:rPr lang="en-US" altLang="zh-CN" sz="3600">
                <a:ea typeface="宋体" panose="02010600030101010101" pitchFamily="2" charset="-122"/>
              </a:rPr>
              <a:t>Analysis vs. Design Models</a:t>
            </a:r>
            <a:endParaRPr lang="en-US" altLang="zh-CN" sz="2800" i="1">
              <a:ea typeface="宋体" panose="02010600030101010101" pitchFamily="2" charset="-122"/>
            </a:endParaRPr>
          </a:p>
        </p:txBody>
      </p:sp>
      <p:pic>
        <p:nvPicPr>
          <p:cNvPr id="11268" name="Picture 6">
            <a:extLst>
              <a:ext uri="{FF2B5EF4-FFF2-40B4-BE49-F238E27FC236}">
                <a16:creationId xmlns:a16="http://schemas.microsoft.com/office/drawing/2014/main" id="{6B15D587-29FA-4B1F-89E1-C74DDAA227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400" y="304800"/>
            <a:ext cx="3346450" cy="3630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69" name="Picture 7">
            <a:extLst>
              <a:ext uri="{FF2B5EF4-FFF2-40B4-BE49-F238E27FC236}">
                <a16:creationId xmlns:a16="http://schemas.microsoft.com/office/drawing/2014/main" id="{AF35A342-6946-4980-940A-B23655A2D2D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72163" y="2514600"/>
            <a:ext cx="3271837" cy="373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70" name="Footer Placeholder 4">
            <a:extLst>
              <a:ext uri="{FF2B5EF4-FFF2-40B4-BE49-F238E27FC236}">
                <a16:creationId xmlns:a16="http://schemas.microsoft.com/office/drawing/2014/main" id="{2F9F21A2-7E03-4ACB-984E-60DC4263BE1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11271" name="Rectangle 7">
            <a:extLst>
              <a:ext uri="{FF2B5EF4-FFF2-40B4-BE49-F238E27FC236}">
                <a16:creationId xmlns:a16="http://schemas.microsoft.com/office/drawing/2014/main" id="{4D556C0B-804F-4F13-9CF8-7AA0B30AD777}"/>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9" name="文本框 8">
            <a:extLst>
              <a:ext uri="{FF2B5EF4-FFF2-40B4-BE49-F238E27FC236}">
                <a16:creationId xmlns:a16="http://schemas.microsoft.com/office/drawing/2014/main" id="{933D878F-D202-449E-9F5D-26587AD69574}"/>
              </a:ext>
            </a:extLst>
          </p:cNvPr>
          <p:cNvSpPr txBox="1"/>
          <p:nvPr/>
        </p:nvSpPr>
        <p:spPr>
          <a:xfrm>
            <a:off x="5886498" y="357654"/>
            <a:ext cx="1657302" cy="1477328"/>
          </a:xfrm>
          <a:prstGeom prst="rect">
            <a:avLst/>
          </a:prstGeom>
          <a:noFill/>
        </p:spPr>
        <p:txBody>
          <a:bodyPr wrap="square">
            <a:spAutoFit/>
          </a:bodyPr>
          <a:lstStyle/>
          <a:p>
            <a:r>
              <a:rPr lang="zh-CN" altLang="en-US" dirty="0"/>
              <a:t>分析：类图，用例图，系统顺序图，用例描述，状态机图，活动图</a:t>
            </a:r>
            <a:endParaRPr lang="en-US" altLang="zh-CN" dirty="0"/>
          </a:p>
        </p:txBody>
      </p:sp>
      <p:sp>
        <p:nvSpPr>
          <p:cNvPr id="11" name="文本框 10">
            <a:extLst>
              <a:ext uri="{FF2B5EF4-FFF2-40B4-BE49-F238E27FC236}">
                <a16:creationId xmlns:a16="http://schemas.microsoft.com/office/drawing/2014/main" id="{1CBF2E7F-6845-4CEA-8518-8FCB917191DF}"/>
              </a:ext>
            </a:extLst>
          </p:cNvPr>
          <p:cNvSpPr txBox="1"/>
          <p:nvPr/>
        </p:nvSpPr>
        <p:spPr>
          <a:xfrm>
            <a:off x="2286000" y="4824581"/>
            <a:ext cx="3657600" cy="1200329"/>
          </a:xfrm>
          <a:prstGeom prst="rect">
            <a:avLst/>
          </a:prstGeom>
          <a:noFill/>
        </p:spPr>
        <p:txBody>
          <a:bodyPr wrap="square">
            <a:spAutoFit/>
          </a:bodyPr>
          <a:lstStyle/>
          <a:p>
            <a:r>
              <a:rPr lang="zh-CN" altLang="en-US" dirty="0"/>
              <a:t>设计：包图，节点和位置关系图，设计类图，顺序图，数据库模式，用户界面屏幕和报表，系统安全和控制，通信图</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Footer Placeholder 4">
            <a:extLst>
              <a:ext uri="{FF2B5EF4-FFF2-40B4-BE49-F238E27FC236}">
                <a16:creationId xmlns:a16="http://schemas.microsoft.com/office/drawing/2014/main" id="{46C70101-3F41-4FB0-82D8-67EFAF11A4D1}"/>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5123" name="Slide Number Placeholder 5">
            <a:extLst>
              <a:ext uri="{FF2B5EF4-FFF2-40B4-BE49-F238E27FC236}">
                <a16:creationId xmlns:a16="http://schemas.microsoft.com/office/drawing/2014/main" id="{4C924B88-EF74-42E3-A7A8-267A5444104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9568D79-C975-4B7D-9C16-7B45C0063EDD}" type="slidenum">
              <a:rPr lang="en-US" altLang="en-US"/>
              <a:pPr eaLnBrk="1" hangingPunct="1"/>
              <a:t>33</a:t>
            </a:fld>
            <a:endParaRPr lang="en-US" altLang="en-US"/>
          </a:p>
        </p:txBody>
      </p:sp>
      <p:sp>
        <p:nvSpPr>
          <p:cNvPr id="5124" name="Rectangle 2">
            <a:extLst>
              <a:ext uri="{FF2B5EF4-FFF2-40B4-BE49-F238E27FC236}">
                <a16:creationId xmlns:a16="http://schemas.microsoft.com/office/drawing/2014/main" id="{64AA83B5-87A1-459A-BE63-C7FE4FE1EFDF}"/>
              </a:ext>
            </a:extLst>
          </p:cNvPr>
          <p:cNvSpPr>
            <a:spLocks noGrp="1" noChangeArrowheads="1"/>
          </p:cNvSpPr>
          <p:nvPr>
            <p:ph type="title"/>
          </p:nvPr>
        </p:nvSpPr>
        <p:spPr/>
        <p:txBody>
          <a:bodyPr/>
          <a:lstStyle/>
          <a:p>
            <a:pPr eaLnBrk="1" hangingPunct="1"/>
            <a:r>
              <a:rPr lang="en-US" altLang="zh-CN">
                <a:ea typeface="宋体" panose="02010600030101010101" pitchFamily="2" charset="-122"/>
              </a:rPr>
              <a:t>Chapter 6 Outline</a:t>
            </a:r>
          </a:p>
        </p:txBody>
      </p:sp>
      <p:sp>
        <p:nvSpPr>
          <p:cNvPr id="5125" name="Rectangle 3">
            <a:extLst>
              <a:ext uri="{FF2B5EF4-FFF2-40B4-BE49-F238E27FC236}">
                <a16:creationId xmlns:a16="http://schemas.microsoft.com/office/drawing/2014/main" id="{AD2D061E-90BF-4146-ADB7-9BA17BB68976}"/>
              </a:ext>
            </a:extLst>
          </p:cNvPr>
          <p:cNvSpPr>
            <a:spLocks noGrp="1" noChangeArrowheads="1"/>
          </p:cNvSpPr>
          <p:nvPr>
            <p:ph type="body" idx="1"/>
          </p:nvPr>
        </p:nvSpPr>
        <p:spPr>
          <a:xfrm>
            <a:off x="457200" y="1752600"/>
            <a:ext cx="8229600" cy="4411663"/>
          </a:xfrm>
        </p:spPr>
        <p:txBody>
          <a:bodyPr/>
          <a:lstStyle/>
          <a:p>
            <a:pPr eaLnBrk="1" hangingPunct="1"/>
            <a:r>
              <a:rPr lang="en-US" altLang="zh-CN" sz="3200" dirty="0">
                <a:ea typeface="宋体" panose="02010600030101010101" pitchFamily="2" charset="-122"/>
              </a:rPr>
              <a:t>The Elements of Design</a:t>
            </a:r>
          </a:p>
          <a:p>
            <a:pPr eaLnBrk="1" hangingPunct="1"/>
            <a:r>
              <a:rPr lang="en-US" altLang="zh-CN" sz="3200" dirty="0">
                <a:ea typeface="宋体" panose="02010600030101010101" pitchFamily="2" charset="-122"/>
              </a:rPr>
              <a:t>Inputs and Outputs for Systems Design</a:t>
            </a:r>
          </a:p>
          <a:p>
            <a:pPr eaLnBrk="1" hangingPunct="1"/>
            <a:r>
              <a:rPr lang="en-US" altLang="zh-CN" sz="3200" dirty="0">
                <a:solidFill>
                  <a:srgbClr val="C00000"/>
                </a:solidFill>
                <a:ea typeface="宋体" panose="02010600030101010101" pitchFamily="2" charset="-122"/>
              </a:rPr>
              <a:t>Design Activities</a:t>
            </a:r>
            <a:r>
              <a:rPr lang="zh-CN" altLang="en-US" sz="3200" dirty="0">
                <a:solidFill>
                  <a:srgbClr val="C00000"/>
                </a:solidFill>
                <a:ea typeface="宋体" panose="02010600030101010101" pitchFamily="2" charset="-122"/>
              </a:rPr>
              <a:t>（设计活动）</a:t>
            </a:r>
            <a:endParaRPr lang="en-US" altLang="zh-CN" sz="3200" dirty="0">
              <a:solidFill>
                <a:srgbClr val="C00000"/>
              </a:solidFill>
              <a:ea typeface="宋体" panose="02010600030101010101" pitchFamily="2" charset="-122"/>
            </a:endParaRPr>
          </a:p>
          <a:p>
            <a:pPr eaLnBrk="1" hangingPunct="1"/>
            <a:r>
              <a:rPr lang="en-US" altLang="zh-CN" sz="3200" dirty="0">
                <a:ea typeface="宋体" panose="02010600030101010101" pitchFamily="2" charset="-122"/>
              </a:rPr>
              <a:t>Design Activity: Design the Environment</a:t>
            </a:r>
          </a:p>
          <a:p>
            <a:pPr eaLnBrk="1" hangingPunct="1"/>
            <a:endParaRPr lang="en-US" altLang="zh-CN" sz="3600" dirty="0">
              <a:ea typeface="宋体" panose="02010600030101010101" pitchFamily="2" charset="-122"/>
            </a:endParaRPr>
          </a:p>
        </p:txBody>
      </p:sp>
      <p:sp>
        <p:nvSpPr>
          <p:cNvPr id="5126" name="Rectangle 5">
            <a:extLst>
              <a:ext uri="{FF2B5EF4-FFF2-40B4-BE49-F238E27FC236}">
                <a16:creationId xmlns:a16="http://schemas.microsoft.com/office/drawing/2014/main" id="{6A90B39B-3E57-42B2-8CA9-2ADE3941B9B2}"/>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extLst>
      <p:ext uri="{BB962C8B-B14F-4D97-AF65-F5344CB8AC3E}">
        <p14:creationId xmlns:p14="http://schemas.microsoft.com/office/powerpoint/2010/main" val="1893788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5">
            <a:extLst>
              <a:ext uri="{FF2B5EF4-FFF2-40B4-BE49-F238E27FC236}">
                <a16:creationId xmlns:a16="http://schemas.microsoft.com/office/drawing/2014/main" id="{BCB1B8A4-02A2-4AAF-9314-3F7AEAF6E6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69799E2-B99C-4EAE-8D85-3CB7B1E6B441}" type="slidenum">
              <a:rPr lang="en-US" altLang="en-US"/>
              <a:pPr eaLnBrk="1" hangingPunct="1"/>
              <a:t>34</a:t>
            </a:fld>
            <a:endParaRPr lang="en-US" altLang="en-US"/>
          </a:p>
        </p:txBody>
      </p:sp>
      <p:sp>
        <p:nvSpPr>
          <p:cNvPr id="9219" name="Rectangle 2">
            <a:extLst>
              <a:ext uri="{FF2B5EF4-FFF2-40B4-BE49-F238E27FC236}">
                <a16:creationId xmlns:a16="http://schemas.microsoft.com/office/drawing/2014/main" id="{2613ED5F-13D3-4D93-BBD3-15C1DAFD0014}"/>
              </a:ext>
            </a:extLst>
          </p:cNvPr>
          <p:cNvSpPr>
            <a:spLocks noGrp="1" noChangeArrowheads="1"/>
          </p:cNvSpPr>
          <p:nvPr>
            <p:ph type="title"/>
          </p:nvPr>
        </p:nvSpPr>
        <p:spPr>
          <a:xfrm>
            <a:off x="457200" y="122238"/>
            <a:ext cx="7543800" cy="1020762"/>
          </a:xfrm>
        </p:spPr>
        <p:txBody>
          <a:bodyPr/>
          <a:lstStyle/>
          <a:p>
            <a:pPr eaLnBrk="1" hangingPunct="1"/>
            <a:r>
              <a:rPr lang="en-US" altLang="zh-CN" sz="3600">
                <a:ea typeface="宋体" panose="02010600030101010101" pitchFamily="2" charset="-122"/>
              </a:rPr>
              <a:t>Two Levels of Design</a:t>
            </a:r>
          </a:p>
        </p:txBody>
      </p:sp>
      <p:sp>
        <p:nvSpPr>
          <p:cNvPr id="9220" name="Rectangle 3">
            <a:extLst>
              <a:ext uri="{FF2B5EF4-FFF2-40B4-BE49-F238E27FC236}">
                <a16:creationId xmlns:a16="http://schemas.microsoft.com/office/drawing/2014/main" id="{F432533E-F133-439A-AB27-1EF55B029342}"/>
              </a:ext>
            </a:extLst>
          </p:cNvPr>
          <p:cNvSpPr>
            <a:spLocks noGrp="1" noChangeArrowheads="1"/>
          </p:cNvSpPr>
          <p:nvPr>
            <p:ph type="body" idx="1"/>
          </p:nvPr>
        </p:nvSpPr>
        <p:spPr>
          <a:xfrm>
            <a:off x="304800" y="1371600"/>
            <a:ext cx="8229600" cy="4419600"/>
          </a:xfrm>
        </p:spPr>
        <p:txBody>
          <a:bodyPr/>
          <a:lstStyle/>
          <a:p>
            <a:pPr eaLnBrk="1" hangingPunct="1"/>
            <a:r>
              <a:rPr lang="en-US" altLang="zh-CN" sz="2600" dirty="0">
                <a:ea typeface="宋体" panose="02010600030101010101" pitchFamily="2" charset="-122"/>
              </a:rPr>
              <a:t>Architectural Design</a:t>
            </a:r>
            <a:r>
              <a:rPr lang="zh-CN" altLang="en-US" sz="2600" dirty="0">
                <a:ea typeface="宋体" panose="02010600030101010101" pitchFamily="2" charset="-122"/>
              </a:rPr>
              <a:t>（架构设计</a:t>
            </a:r>
            <a:r>
              <a:rPr lang="en-US" altLang="zh-CN" sz="2600" dirty="0">
                <a:ea typeface="宋体" panose="02010600030101010101" pitchFamily="2" charset="-122"/>
              </a:rPr>
              <a:t>/</a:t>
            </a:r>
            <a:r>
              <a:rPr lang="zh-CN" altLang="en-US" sz="2600" dirty="0">
                <a:ea typeface="宋体" panose="02010600030101010101" pitchFamily="2" charset="-122"/>
              </a:rPr>
              <a:t>总体设计）</a:t>
            </a:r>
            <a:endParaRPr lang="en-US" altLang="zh-CN" sz="2600" dirty="0">
              <a:ea typeface="宋体" panose="02010600030101010101" pitchFamily="2" charset="-122"/>
            </a:endParaRPr>
          </a:p>
          <a:p>
            <a:pPr lvl="1" eaLnBrk="1" hangingPunct="1"/>
            <a:r>
              <a:rPr lang="en-US" altLang="zh-CN" sz="2200" dirty="0">
                <a:ea typeface="宋体" panose="02010600030101010101" pitchFamily="2" charset="-122"/>
              </a:rPr>
              <a:t>Broad design of the overall system structure</a:t>
            </a:r>
            <a:r>
              <a:rPr lang="zh-CN" altLang="en-US" sz="2200" dirty="0">
                <a:ea typeface="宋体" panose="02010600030101010101" pitchFamily="2" charset="-122"/>
              </a:rPr>
              <a:t>（总体设计了系统结构）</a:t>
            </a:r>
            <a:endParaRPr lang="en-US" altLang="zh-CN" sz="2200" dirty="0">
              <a:ea typeface="宋体" panose="02010600030101010101" pitchFamily="2" charset="-122"/>
            </a:endParaRPr>
          </a:p>
          <a:p>
            <a:pPr lvl="1" eaLnBrk="1" hangingPunct="1"/>
            <a:r>
              <a:rPr lang="en-US" altLang="zh-CN" sz="2200" dirty="0">
                <a:ea typeface="宋体" panose="02010600030101010101" pitchFamily="2" charset="-122"/>
              </a:rPr>
              <a:t>Also called General Design and Conceptual Design</a:t>
            </a:r>
            <a:r>
              <a:rPr lang="zh-CN" altLang="en-US" sz="2200" dirty="0">
                <a:ea typeface="宋体" panose="02010600030101010101" pitchFamily="2" charset="-122"/>
              </a:rPr>
              <a:t>（也称为总体设计和概念设计）</a:t>
            </a:r>
            <a:endParaRPr lang="en-US" altLang="zh-CN" sz="2200" dirty="0">
              <a:ea typeface="宋体" panose="02010600030101010101" pitchFamily="2" charset="-122"/>
            </a:endParaRPr>
          </a:p>
          <a:p>
            <a:pPr eaLnBrk="1" hangingPunct="1"/>
            <a:r>
              <a:rPr lang="en-US" altLang="zh-CN" sz="2600" dirty="0">
                <a:ea typeface="宋体" panose="02010600030101010101" pitchFamily="2" charset="-122"/>
              </a:rPr>
              <a:t>Detailed Design</a:t>
            </a:r>
            <a:r>
              <a:rPr lang="zh-CN" altLang="en-US" sz="2600" dirty="0">
                <a:ea typeface="宋体" panose="02010600030101010101" pitchFamily="2" charset="-122"/>
              </a:rPr>
              <a:t>（详细设计）</a:t>
            </a:r>
            <a:endParaRPr lang="en-US" altLang="zh-CN" sz="2600" dirty="0">
              <a:ea typeface="宋体" panose="02010600030101010101" pitchFamily="2" charset="-122"/>
            </a:endParaRPr>
          </a:p>
          <a:p>
            <a:pPr lvl="1" eaLnBrk="1" hangingPunct="1"/>
            <a:r>
              <a:rPr lang="en-US" altLang="zh-CN" sz="2200" dirty="0">
                <a:ea typeface="宋体" panose="02010600030101010101" pitchFamily="2" charset="-122"/>
              </a:rPr>
              <a:t>Low level design that includes the design of the specific program details </a:t>
            </a:r>
            <a:r>
              <a:rPr lang="zh-CN" altLang="en-US" sz="2200" dirty="0">
                <a:ea typeface="宋体" panose="02010600030101010101" pitchFamily="2" charset="-122"/>
              </a:rPr>
              <a:t>（底层设计包括具体程序细节的设计）</a:t>
            </a:r>
            <a:endParaRPr lang="en-US" altLang="zh-CN" sz="2200" dirty="0">
              <a:ea typeface="宋体" panose="02010600030101010101" pitchFamily="2" charset="-122"/>
            </a:endParaRPr>
          </a:p>
          <a:p>
            <a:pPr lvl="2" eaLnBrk="1" hangingPunct="1"/>
            <a:r>
              <a:rPr lang="en-GB" altLang="zh-CN" sz="1900" dirty="0"/>
              <a:t>Design of each use case</a:t>
            </a:r>
            <a:r>
              <a:rPr lang="zh-CN" altLang="en-US" sz="1900" dirty="0"/>
              <a:t>（每个用例的设计）</a:t>
            </a:r>
            <a:endParaRPr lang="en-GB" altLang="zh-CN" sz="1900" dirty="0"/>
          </a:p>
          <a:p>
            <a:pPr lvl="2" eaLnBrk="1" hangingPunct="1"/>
            <a:r>
              <a:rPr lang="en-GB" altLang="zh-CN" sz="1900" dirty="0"/>
              <a:t>Design of the database</a:t>
            </a:r>
            <a:r>
              <a:rPr lang="zh-CN" altLang="en-US" sz="1900" dirty="0"/>
              <a:t>（数据库设计）</a:t>
            </a:r>
            <a:endParaRPr lang="en-GB" altLang="zh-CN" sz="1900" dirty="0"/>
          </a:p>
          <a:p>
            <a:pPr lvl="2" eaLnBrk="1" hangingPunct="1"/>
            <a:r>
              <a:rPr lang="en-GB" altLang="zh-CN" sz="1900" dirty="0"/>
              <a:t>Design of user and system interfaces</a:t>
            </a:r>
            <a:r>
              <a:rPr lang="zh-CN" altLang="en-US" sz="1900" dirty="0"/>
              <a:t>（用户和系统界面的设计）</a:t>
            </a:r>
            <a:endParaRPr lang="en-GB" altLang="zh-CN" sz="1900" dirty="0"/>
          </a:p>
          <a:p>
            <a:pPr lvl="2" eaLnBrk="1" hangingPunct="1"/>
            <a:r>
              <a:rPr lang="en-GB" altLang="zh-CN" sz="1900" dirty="0"/>
              <a:t>Design of controls and security</a:t>
            </a:r>
            <a:r>
              <a:rPr lang="zh-CN" altLang="en-US" sz="1900" dirty="0"/>
              <a:t>（控制和安全的设计）</a:t>
            </a:r>
            <a:endParaRPr lang="en-GB" altLang="zh-CN" sz="1900" dirty="0"/>
          </a:p>
        </p:txBody>
      </p:sp>
      <p:sp>
        <p:nvSpPr>
          <p:cNvPr id="9221" name="Footer Placeholder 4">
            <a:extLst>
              <a:ext uri="{FF2B5EF4-FFF2-40B4-BE49-F238E27FC236}">
                <a16:creationId xmlns:a16="http://schemas.microsoft.com/office/drawing/2014/main" id="{0B6C4D25-AB6A-421B-BD55-99DE8ADA9AA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9222" name="Rectangle 6">
            <a:extLst>
              <a:ext uri="{FF2B5EF4-FFF2-40B4-BE49-F238E27FC236}">
                <a16:creationId xmlns:a16="http://schemas.microsoft.com/office/drawing/2014/main" id="{B46003C0-7BBF-45F9-B3F0-FBE10EA37144}"/>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extLst>
      <p:ext uri="{BB962C8B-B14F-4D97-AF65-F5344CB8AC3E}">
        <p14:creationId xmlns:p14="http://schemas.microsoft.com/office/powerpoint/2010/main" val="29085780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5">
            <a:extLst>
              <a:ext uri="{FF2B5EF4-FFF2-40B4-BE49-F238E27FC236}">
                <a16:creationId xmlns:a16="http://schemas.microsoft.com/office/drawing/2014/main" id="{BCB1B8A4-02A2-4AAF-9314-3F7AEAF6E6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69799E2-B99C-4EAE-8D85-3CB7B1E6B441}" type="slidenum">
              <a:rPr lang="en-US" altLang="en-US"/>
              <a:pPr eaLnBrk="1" hangingPunct="1"/>
              <a:t>35</a:t>
            </a:fld>
            <a:endParaRPr lang="en-US" altLang="en-US"/>
          </a:p>
        </p:txBody>
      </p:sp>
      <p:sp>
        <p:nvSpPr>
          <p:cNvPr id="9219" name="Rectangle 2">
            <a:extLst>
              <a:ext uri="{FF2B5EF4-FFF2-40B4-BE49-F238E27FC236}">
                <a16:creationId xmlns:a16="http://schemas.microsoft.com/office/drawing/2014/main" id="{2613ED5F-13D3-4D93-BBD3-15C1DAFD0014}"/>
              </a:ext>
            </a:extLst>
          </p:cNvPr>
          <p:cNvSpPr>
            <a:spLocks noGrp="1" noChangeArrowheads="1"/>
          </p:cNvSpPr>
          <p:nvPr>
            <p:ph type="title"/>
          </p:nvPr>
        </p:nvSpPr>
        <p:spPr>
          <a:xfrm>
            <a:off x="457200" y="122238"/>
            <a:ext cx="7543800" cy="1020762"/>
          </a:xfrm>
        </p:spPr>
        <p:txBody>
          <a:bodyPr/>
          <a:lstStyle/>
          <a:p>
            <a:pPr eaLnBrk="1" hangingPunct="1"/>
            <a:r>
              <a:rPr lang="en-US" altLang="zh-CN" sz="3600" dirty="0">
                <a:ea typeface="宋体" panose="02010600030101010101" pitchFamily="2" charset="-122"/>
              </a:rPr>
              <a:t>Two Levels of Design</a:t>
            </a:r>
          </a:p>
        </p:txBody>
      </p:sp>
      <p:sp>
        <p:nvSpPr>
          <p:cNvPr id="9220" name="Rectangle 3">
            <a:extLst>
              <a:ext uri="{FF2B5EF4-FFF2-40B4-BE49-F238E27FC236}">
                <a16:creationId xmlns:a16="http://schemas.microsoft.com/office/drawing/2014/main" id="{F432533E-F133-439A-AB27-1EF55B029342}"/>
              </a:ext>
            </a:extLst>
          </p:cNvPr>
          <p:cNvSpPr>
            <a:spLocks noGrp="1" noChangeArrowheads="1"/>
          </p:cNvSpPr>
          <p:nvPr>
            <p:ph type="body" idx="1"/>
          </p:nvPr>
        </p:nvSpPr>
        <p:spPr>
          <a:xfrm>
            <a:off x="304800" y="1371600"/>
            <a:ext cx="8229600" cy="4419600"/>
          </a:xfrm>
        </p:spPr>
        <p:txBody>
          <a:bodyPr/>
          <a:lstStyle/>
          <a:p>
            <a:pPr>
              <a:lnSpc>
                <a:spcPct val="150000"/>
              </a:lnSpc>
              <a:spcBef>
                <a:spcPct val="0"/>
              </a:spcBef>
            </a:pPr>
            <a:r>
              <a:rPr lang="zh-CN" altLang="en-US" sz="2000" dirty="0">
                <a:ea typeface="经典宋体简" charset="-122"/>
              </a:rPr>
              <a:t>总体设计的基本目的就是回答</a:t>
            </a:r>
            <a:r>
              <a:rPr lang="zh-CN" altLang="en-US" sz="2000" dirty="0">
                <a:latin typeface="Arial" panose="020B0604020202020204" pitchFamily="34" charset="0"/>
                <a:ea typeface="经典宋体简" charset="-122"/>
              </a:rPr>
              <a:t>“</a:t>
            </a:r>
            <a:r>
              <a:rPr lang="zh-CN" altLang="en-US" sz="2000" dirty="0">
                <a:ea typeface="经典宋体简" charset="-122"/>
              </a:rPr>
              <a:t>概括地说，系统应该如何实现</a:t>
            </a:r>
            <a:r>
              <a:rPr lang="zh-CN" altLang="en-US" sz="2000" dirty="0">
                <a:latin typeface="Arial" panose="020B0604020202020204" pitchFamily="34" charset="0"/>
                <a:ea typeface="经典宋体简" charset="-122"/>
              </a:rPr>
              <a:t>”</a:t>
            </a:r>
            <a:r>
              <a:rPr lang="zh-CN" altLang="en-US" sz="2000" dirty="0">
                <a:ea typeface="经典宋体简" charset="-122"/>
              </a:rPr>
              <a:t>这个问题，因此，总体设计又称为概要设计或初步设计。</a:t>
            </a:r>
            <a:endParaRPr lang="en-US" altLang="zh-CN" sz="2000" dirty="0">
              <a:ea typeface="经典宋体简" charset="-122"/>
            </a:endParaRPr>
          </a:p>
          <a:p>
            <a:pPr>
              <a:lnSpc>
                <a:spcPct val="150000"/>
              </a:lnSpc>
              <a:spcBef>
                <a:spcPct val="0"/>
              </a:spcBef>
            </a:pPr>
            <a:r>
              <a:rPr lang="zh-CN" altLang="en-US" sz="2000" dirty="0">
                <a:ea typeface="经典宋体简" charset="-122"/>
              </a:rPr>
              <a:t>详细设计的目标是确定应该怎样具体地实现所要求的系统。详细设计阶段的任务不是具体地编写程序，而是要设计出程序的“蓝图”，详细设计的结果基本上决定了最终的程序代码</a:t>
            </a:r>
            <a:r>
              <a:rPr lang="zh-CN" altLang="en-US" sz="2000">
                <a:ea typeface="经典宋体简" charset="-122"/>
              </a:rPr>
              <a:t>的质量。</a:t>
            </a:r>
            <a:endParaRPr lang="en-GB" altLang="zh-CN" sz="1900" dirty="0"/>
          </a:p>
        </p:txBody>
      </p:sp>
      <p:sp>
        <p:nvSpPr>
          <p:cNvPr id="9221" name="Footer Placeholder 4">
            <a:extLst>
              <a:ext uri="{FF2B5EF4-FFF2-40B4-BE49-F238E27FC236}">
                <a16:creationId xmlns:a16="http://schemas.microsoft.com/office/drawing/2014/main" id="{0B6C4D25-AB6A-421B-BD55-99DE8ADA9AA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9222" name="Rectangle 6">
            <a:extLst>
              <a:ext uri="{FF2B5EF4-FFF2-40B4-BE49-F238E27FC236}">
                <a16:creationId xmlns:a16="http://schemas.microsoft.com/office/drawing/2014/main" id="{B46003C0-7BBF-45F9-B3F0-FBE10EA37144}"/>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extLst>
      <p:ext uri="{BB962C8B-B14F-4D97-AF65-F5344CB8AC3E}">
        <p14:creationId xmlns:p14="http://schemas.microsoft.com/office/powerpoint/2010/main" val="15953963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5">
            <a:extLst>
              <a:ext uri="{FF2B5EF4-FFF2-40B4-BE49-F238E27FC236}">
                <a16:creationId xmlns:a16="http://schemas.microsoft.com/office/drawing/2014/main" id="{64FF0DD0-C292-4298-8D34-2AEC7986EDE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72503DF-CF5E-4ECA-A9E5-5D320CEE6541}" type="slidenum">
              <a:rPr lang="en-US" altLang="en-US"/>
              <a:pPr eaLnBrk="1" hangingPunct="1"/>
              <a:t>36</a:t>
            </a:fld>
            <a:endParaRPr lang="en-US" altLang="en-US"/>
          </a:p>
        </p:txBody>
      </p:sp>
      <p:pic>
        <p:nvPicPr>
          <p:cNvPr id="8196" name="Picture 4">
            <a:extLst>
              <a:ext uri="{FF2B5EF4-FFF2-40B4-BE49-F238E27FC236}">
                <a16:creationId xmlns:a16="http://schemas.microsoft.com/office/drawing/2014/main" id="{CBC6788E-A315-49F6-B9EE-5C2BD19CD1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1066800"/>
            <a:ext cx="6907213" cy="5329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7" name="Footer Placeholder 4">
            <a:extLst>
              <a:ext uri="{FF2B5EF4-FFF2-40B4-BE49-F238E27FC236}">
                <a16:creationId xmlns:a16="http://schemas.microsoft.com/office/drawing/2014/main" id="{15789D3E-C54A-493F-ADF9-05164D00F331}"/>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8198" name="Rectangle 7">
            <a:extLst>
              <a:ext uri="{FF2B5EF4-FFF2-40B4-BE49-F238E27FC236}">
                <a16:creationId xmlns:a16="http://schemas.microsoft.com/office/drawing/2014/main" id="{D1934E1D-5120-4A53-AF54-5C446E015EDB}"/>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 name="矩形 1">
            <a:extLst>
              <a:ext uri="{FF2B5EF4-FFF2-40B4-BE49-F238E27FC236}">
                <a16:creationId xmlns:a16="http://schemas.microsoft.com/office/drawing/2014/main" id="{E46CFCB4-7A6E-49B2-8D48-1D2A723DB01F}"/>
              </a:ext>
            </a:extLst>
          </p:cNvPr>
          <p:cNvSpPr/>
          <p:nvPr/>
        </p:nvSpPr>
        <p:spPr>
          <a:xfrm>
            <a:off x="2514600" y="2133600"/>
            <a:ext cx="1905000" cy="1524000"/>
          </a:xfrm>
          <a:prstGeom prst="rect">
            <a:avLst/>
          </a:prstGeom>
          <a:noFill/>
          <a:ln w="381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Rectangle 2">
            <a:extLst>
              <a:ext uri="{FF2B5EF4-FFF2-40B4-BE49-F238E27FC236}">
                <a16:creationId xmlns:a16="http://schemas.microsoft.com/office/drawing/2014/main" id="{8F6F5D1F-6C39-4C5A-84C2-A819F9396571}"/>
              </a:ext>
            </a:extLst>
          </p:cNvPr>
          <p:cNvSpPr txBox="1">
            <a:spLocks noChangeArrowheads="1"/>
          </p:cNvSpPr>
          <p:nvPr/>
        </p:nvSpPr>
        <p:spPr bwMode="auto">
          <a:xfrm>
            <a:off x="457200" y="0"/>
            <a:ext cx="7543800" cy="1020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charset="0"/>
                <a:cs typeface="Arial" charset="0"/>
              </a:defRPr>
            </a:lvl2pPr>
            <a:lvl3pPr algn="l" rtl="0" eaLnBrk="0" fontAlgn="base" hangingPunct="0">
              <a:spcBef>
                <a:spcPct val="0"/>
              </a:spcBef>
              <a:spcAft>
                <a:spcPct val="0"/>
              </a:spcAft>
              <a:defRPr sz="3900" b="1">
                <a:solidFill>
                  <a:schemeClr val="tx2"/>
                </a:solidFill>
                <a:latin typeface="Arial" charset="0"/>
                <a:cs typeface="Arial" charset="0"/>
              </a:defRPr>
            </a:lvl3pPr>
            <a:lvl4pPr algn="l" rtl="0" eaLnBrk="0" fontAlgn="base" hangingPunct="0">
              <a:spcBef>
                <a:spcPct val="0"/>
              </a:spcBef>
              <a:spcAft>
                <a:spcPct val="0"/>
              </a:spcAft>
              <a:defRPr sz="3900" b="1">
                <a:solidFill>
                  <a:schemeClr val="tx2"/>
                </a:solidFill>
                <a:latin typeface="Arial" charset="0"/>
                <a:cs typeface="Arial" charset="0"/>
              </a:defRPr>
            </a:lvl4pPr>
            <a:lvl5pPr algn="l" rtl="0" eaLnBrk="0" fontAlgn="base" hangingPunct="0">
              <a:spcBef>
                <a:spcPct val="0"/>
              </a:spcBef>
              <a:spcAft>
                <a:spcPct val="0"/>
              </a:spcAft>
              <a:defRPr sz="3900" b="1">
                <a:solidFill>
                  <a:schemeClr val="tx2"/>
                </a:solidFill>
                <a:latin typeface="Arial" charset="0"/>
                <a:cs typeface="Arial" charset="0"/>
              </a:defRPr>
            </a:lvl5pPr>
            <a:lvl6pPr marL="457200" algn="l" rtl="0" fontAlgn="base">
              <a:spcBef>
                <a:spcPct val="0"/>
              </a:spcBef>
              <a:spcAft>
                <a:spcPct val="0"/>
              </a:spcAft>
              <a:defRPr sz="3900" b="1">
                <a:solidFill>
                  <a:schemeClr val="tx2"/>
                </a:solidFill>
                <a:latin typeface="Arial" charset="0"/>
                <a:cs typeface="Arial" charset="0"/>
              </a:defRPr>
            </a:lvl6pPr>
            <a:lvl7pPr marL="914400" algn="l" rtl="0" fontAlgn="base">
              <a:spcBef>
                <a:spcPct val="0"/>
              </a:spcBef>
              <a:spcAft>
                <a:spcPct val="0"/>
              </a:spcAft>
              <a:defRPr sz="3900" b="1">
                <a:solidFill>
                  <a:schemeClr val="tx2"/>
                </a:solidFill>
                <a:latin typeface="Arial" charset="0"/>
                <a:cs typeface="Arial" charset="0"/>
              </a:defRPr>
            </a:lvl7pPr>
            <a:lvl8pPr marL="1371600" algn="l" rtl="0" fontAlgn="base">
              <a:spcBef>
                <a:spcPct val="0"/>
              </a:spcBef>
              <a:spcAft>
                <a:spcPct val="0"/>
              </a:spcAft>
              <a:defRPr sz="3900" b="1">
                <a:solidFill>
                  <a:schemeClr val="tx2"/>
                </a:solidFill>
                <a:latin typeface="Arial" charset="0"/>
                <a:cs typeface="Arial" charset="0"/>
              </a:defRPr>
            </a:lvl8pPr>
            <a:lvl9pPr marL="1828800" algn="l" rtl="0" fontAlgn="base">
              <a:spcBef>
                <a:spcPct val="0"/>
              </a:spcBef>
              <a:spcAft>
                <a:spcPct val="0"/>
              </a:spcAft>
              <a:defRPr sz="3900" b="1">
                <a:solidFill>
                  <a:schemeClr val="tx2"/>
                </a:solidFill>
                <a:latin typeface="Arial" charset="0"/>
                <a:cs typeface="Arial" charset="0"/>
              </a:defRPr>
            </a:lvl9pPr>
          </a:lstStyle>
          <a:p>
            <a:pPr eaLnBrk="1" hangingPunct="1"/>
            <a:r>
              <a:rPr lang="zh-CN" altLang="en-US" sz="4000" kern="0">
                <a:ea typeface="宋体" panose="02010600030101010101" pitchFamily="2" charset="-122"/>
              </a:rPr>
              <a:t>总体设计</a:t>
            </a:r>
            <a:endParaRPr lang="en-US" altLang="zh-CN" sz="2800" kern="0" dirty="0">
              <a:ea typeface="宋体" panose="02010600030101010101" pitchFamily="2" charset="-122"/>
            </a:endParaRPr>
          </a:p>
        </p:txBody>
      </p:sp>
    </p:spTree>
    <p:extLst>
      <p:ext uri="{BB962C8B-B14F-4D97-AF65-F5344CB8AC3E}">
        <p14:creationId xmlns:p14="http://schemas.microsoft.com/office/powerpoint/2010/main" val="33402413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5">
            <a:extLst>
              <a:ext uri="{FF2B5EF4-FFF2-40B4-BE49-F238E27FC236}">
                <a16:creationId xmlns:a16="http://schemas.microsoft.com/office/drawing/2014/main" id="{64FF0DD0-C292-4298-8D34-2AEC7986EDE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72503DF-CF5E-4ECA-A9E5-5D320CEE6541}" type="slidenum">
              <a:rPr lang="en-US" altLang="en-US"/>
              <a:pPr eaLnBrk="1" hangingPunct="1"/>
              <a:t>37</a:t>
            </a:fld>
            <a:endParaRPr lang="en-US" altLang="en-US"/>
          </a:p>
        </p:txBody>
      </p:sp>
      <p:sp>
        <p:nvSpPr>
          <p:cNvPr id="8195" name="Rectangle 2">
            <a:extLst>
              <a:ext uri="{FF2B5EF4-FFF2-40B4-BE49-F238E27FC236}">
                <a16:creationId xmlns:a16="http://schemas.microsoft.com/office/drawing/2014/main" id="{C858BD45-36EF-44E1-A1AF-31E67418D3DC}"/>
              </a:ext>
            </a:extLst>
          </p:cNvPr>
          <p:cNvSpPr>
            <a:spLocks noGrp="1" noChangeArrowheads="1"/>
          </p:cNvSpPr>
          <p:nvPr>
            <p:ph type="title"/>
          </p:nvPr>
        </p:nvSpPr>
        <p:spPr>
          <a:xfrm>
            <a:off x="457200" y="0"/>
            <a:ext cx="7543800" cy="1020763"/>
          </a:xfrm>
        </p:spPr>
        <p:txBody>
          <a:bodyPr/>
          <a:lstStyle/>
          <a:p>
            <a:pPr eaLnBrk="1" hangingPunct="1"/>
            <a:r>
              <a:rPr lang="zh-CN" altLang="en-US" sz="4000" dirty="0">
                <a:ea typeface="宋体" panose="02010600030101010101" pitchFamily="2" charset="-122"/>
              </a:rPr>
              <a:t>总体设计</a:t>
            </a:r>
            <a:endParaRPr lang="en-US" altLang="zh-CN" sz="2800" dirty="0">
              <a:ea typeface="宋体" panose="02010600030101010101" pitchFamily="2" charset="-122"/>
            </a:endParaRPr>
          </a:p>
        </p:txBody>
      </p:sp>
      <p:pic>
        <p:nvPicPr>
          <p:cNvPr id="8196" name="Picture 4">
            <a:extLst>
              <a:ext uri="{FF2B5EF4-FFF2-40B4-BE49-F238E27FC236}">
                <a16:creationId xmlns:a16="http://schemas.microsoft.com/office/drawing/2014/main" id="{CBC6788E-A315-49F6-B9EE-5C2BD19CD1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1066800"/>
            <a:ext cx="6907213" cy="5329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7" name="Footer Placeholder 4">
            <a:extLst>
              <a:ext uri="{FF2B5EF4-FFF2-40B4-BE49-F238E27FC236}">
                <a16:creationId xmlns:a16="http://schemas.microsoft.com/office/drawing/2014/main" id="{15789D3E-C54A-493F-ADF9-05164D00F331}"/>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8198" name="Rectangle 7">
            <a:extLst>
              <a:ext uri="{FF2B5EF4-FFF2-40B4-BE49-F238E27FC236}">
                <a16:creationId xmlns:a16="http://schemas.microsoft.com/office/drawing/2014/main" id="{D1934E1D-5120-4A53-AF54-5C446E015EDB}"/>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 name="矩形 1">
            <a:extLst>
              <a:ext uri="{FF2B5EF4-FFF2-40B4-BE49-F238E27FC236}">
                <a16:creationId xmlns:a16="http://schemas.microsoft.com/office/drawing/2014/main" id="{E46CFCB4-7A6E-49B2-8D48-1D2A723DB01F}"/>
              </a:ext>
            </a:extLst>
          </p:cNvPr>
          <p:cNvSpPr/>
          <p:nvPr/>
        </p:nvSpPr>
        <p:spPr>
          <a:xfrm>
            <a:off x="2463006" y="4843463"/>
            <a:ext cx="2185194" cy="1481137"/>
          </a:xfrm>
          <a:prstGeom prst="rect">
            <a:avLst/>
          </a:prstGeom>
          <a:noFill/>
          <a:ln w="381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AFCBE815-F0E8-4F6D-80B4-F4070E8F409C}"/>
              </a:ext>
            </a:extLst>
          </p:cNvPr>
          <p:cNvSpPr txBox="1"/>
          <p:nvPr/>
        </p:nvSpPr>
        <p:spPr>
          <a:xfrm>
            <a:off x="957369" y="3759590"/>
            <a:ext cx="2590800" cy="923330"/>
          </a:xfrm>
          <a:prstGeom prst="rect">
            <a:avLst/>
          </a:prstGeom>
          <a:solidFill>
            <a:srgbClr val="C00000"/>
          </a:solidFill>
        </p:spPr>
        <p:txBody>
          <a:bodyPr wrap="square" rtlCol="0">
            <a:spAutoFit/>
          </a:bodyPr>
          <a:lstStyle/>
          <a:p>
            <a:r>
              <a:rPr lang="zh-CN" altLang="en-US" b="1" dirty="0">
                <a:solidFill>
                  <a:schemeClr val="bg1"/>
                </a:solidFill>
              </a:rPr>
              <a:t>外部系统：外部访问的用户、员工通过</a:t>
            </a:r>
            <a:r>
              <a:rPr lang="en-US" altLang="zh-CN" b="1" dirty="0">
                <a:solidFill>
                  <a:schemeClr val="bg1"/>
                </a:solidFill>
              </a:rPr>
              <a:t>VPN</a:t>
            </a:r>
            <a:r>
              <a:rPr lang="zh-CN" altLang="en-US" b="1" dirty="0">
                <a:solidFill>
                  <a:schemeClr val="bg1"/>
                </a:solidFill>
              </a:rPr>
              <a:t>的方式链接内部应用程序</a:t>
            </a:r>
          </a:p>
        </p:txBody>
      </p:sp>
    </p:spTree>
    <p:extLst>
      <p:ext uri="{BB962C8B-B14F-4D97-AF65-F5344CB8AC3E}">
        <p14:creationId xmlns:p14="http://schemas.microsoft.com/office/powerpoint/2010/main" val="124346036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5">
            <a:extLst>
              <a:ext uri="{FF2B5EF4-FFF2-40B4-BE49-F238E27FC236}">
                <a16:creationId xmlns:a16="http://schemas.microsoft.com/office/drawing/2014/main" id="{64FF0DD0-C292-4298-8D34-2AEC7986EDE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72503DF-CF5E-4ECA-A9E5-5D320CEE6541}" type="slidenum">
              <a:rPr lang="en-US" altLang="en-US"/>
              <a:pPr eaLnBrk="1" hangingPunct="1"/>
              <a:t>38</a:t>
            </a:fld>
            <a:endParaRPr lang="en-US" altLang="en-US"/>
          </a:p>
        </p:txBody>
      </p:sp>
      <p:sp>
        <p:nvSpPr>
          <p:cNvPr id="8195" name="Rectangle 2">
            <a:extLst>
              <a:ext uri="{FF2B5EF4-FFF2-40B4-BE49-F238E27FC236}">
                <a16:creationId xmlns:a16="http://schemas.microsoft.com/office/drawing/2014/main" id="{C858BD45-36EF-44E1-A1AF-31E67418D3DC}"/>
              </a:ext>
            </a:extLst>
          </p:cNvPr>
          <p:cNvSpPr>
            <a:spLocks noGrp="1" noChangeArrowheads="1"/>
          </p:cNvSpPr>
          <p:nvPr>
            <p:ph type="title"/>
          </p:nvPr>
        </p:nvSpPr>
        <p:spPr>
          <a:xfrm>
            <a:off x="457200" y="0"/>
            <a:ext cx="7543800" cy="1020763"/>
          </a:xfrm>
        </p:spPr>
        <p:txBody>
          <a:bodyPr/>
          <a:lstStyle/>
          <a:p>
            <a:pPr eaLnBrk="1" hangingPunct="1"/>
            <a:r>
              <a:rPr lang="zh-CN" altLang="en-US" sz="4000" dirty="0">
                <a:ea typeface="宋体" panose="02010600030101010101" pitchFamily="2" charset="-122"/>
              </a:rPr>
              <a:t>总体设计</a:t>
            </a:r>
            <a:endParaRPr lang="en-US" altLang="zh-CN" sz="2800" dirty="0">
              <a:ea typeface="宋体" panose="02010600030101010101" pitchFamily="2" charset="-122"/>
            </a:endParaRPr>
          </a:p>
        </p:txBody>
      </p:sp>
      <p:pic>
        <p:nvPicPr>
          <p:cNvPr id="8196" name="Picture 4">
            <a:extLst>
              <a:ext uri="{FF2B5EF4-FFF2-40B4-BE49-F238E27FC236}">
                <a16:creationId xmlns:a16="http://schemas.microsoft.com/office/drawing/2014/main" id="{CBC6788E-A315-49F6-B9EE-5C2BD19CD1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1066800"/>
            <a:ext cx="6907213" cy="5329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7" name="Footer Placeholder 4">
            <a:extLst>
              <a:ext uri="{FF2B5EF4-FFF2-40B4-BE49-F238E27FC236}">
                <a16:creationId xmlns:a16="http://schemas.microsoft.com/office/drawing/2014/main" id="{15789D3E-C54A-493F-ADF9-05164D00F331}"/>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8198" name="Rectangle 7">
            <a:extLst>
              <a:ext uri="{FF2B5EF4-FFF2-40B4-BE49-F238E27FC236}">
                <a16:creationId xmlns:a16="http://schemas.microsoft.com/office/drawing/2014/main" id="{D1934E1D-5120-4A53-AF54-5C446E015EDB}"/>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 name="矩形 1">
            <a:extLst>
              <a:ext uri="{FF2B5EF4-FFF2-40B4-BE49-F238E27FC236}">
                <a16:creationId xmlns:a16="http://schemas.microsoft.com/office/drawing/2014/main" id="{E46CFCB4-7A6E-49B2-8D48-1D2A723DB01F}"/>
              </a:ext>
            </a:extLst>
          </p:cNvPr>
          <p:cNvSpPr/>
          <p:nvPr/>
        </p:nvSpPr>
        <p:spPr>
          <a:xfrm>
            <a:off x="4257174" y="3581401"/>
            <a:ext cx="543426" cy="1295400"/>
          </a:xfrm>
          <a:prstGeom prst="rect">
            <a:avLst/>
          </a:prstGeom>
          <a:noFill/>
          <a:ln w="381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52DB5E74-8C5B-4AAA-9640-916E0CEF1178}"/>
              </a:ext>
            </a:extLst>
          </p:cNvPr>
          <p:cNvSpPr/>
          <p:nvPr/>
        </p:nvSpPr>
        <p:spPr>
          <a:xfrm>
            <a:off x="4953000" y="3505200"/>
            <a:ext cx="685800" cy="990600"/>
          </a:xfrm>
          <a:prstGeom prst="rect">
            <a:avLst/>
          </a:prstGeom>
          <a:noFill/>
          <a:ln w="381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FFFDB04A-5DFC-47CF-99A5-87871CC6DB5F}"/>
              </a:ext>
            </a:extLst>
          </p:cNvPr>
          <p:cNvSpPr/>
          <p:nvPr/>
        </p:nvSpPr>
        <p:spPr>
          <a:xfrm>
            <a:off x="5791200" y="2114550"/>
            <a:ext cx="1066800" cy="800100"/>
          </a:xfrm>
          <a:prstGeom prst="rect">
            <a:avLst/>
          </a:prstGeom>
          <a:noFill/>
          <a:ln w="381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D482345D-C70F-4820-9913-EFF5304CBB60}"/>
              </a:ext>
            </a:extLst>
          </p:cNvPr>
          <p:cNvSpPr txBox="1"/>
          <p:nvPr/>
        </p:nvSpPr>
        <p:spPr>
          <a:xfrm>
            <a:off x="2514600" y="4495799"/>
            <a:ext cx="1666374" cy="369332"/>
          </a:xfrm>
          <a:prstGeom prst="rect">
            <a:avLst/>
          </a:prstGeom>
          <a:solidFill>
            <a:srgbClr val="C00000"/>
          </a:solidFill>
        </p:spPr>
        <p:txBody>
          <a:bodyPr wrap="square" rtlCol="0">
            <a:spAutoFit/>
          </a:bodyPr>
          <a:lstStyle/>
          <a:p>
            <a:r>
              <a:rPr lang="zh-CN" altLang="en-US" b="1" dirty="0">
                <a:solidFill>
                  <a:schemeClr val="bg1"/>
                </a:solidFill>
              </a:rPr>
              <a:t>数据库服务器</a:t>
            </a:r>
          </a:p>
        </p:txBody>
      </p:sp>
      <p:sp>
        <p:nvSpPr>
          <p:cNvPr id="11" name="文本框 10">
            <a:extLst>
              <a:ext uri="{FF2B5EF4-FFF2-40B4-BE49-F238E27FC236}">
                <a16:creationId xmlns:a16="http://schemas.microsoft.com/office/drawing/2014/main" id="{3AFC5D4B-2C25-4FFA-B858-0672F259323B}"/>
              </a:ext>
            </a:extLst>
          </p:cNvPr>
          <p:cNvSpPr txBox="1"/>
          <p:nvPr/>
        </p:nvSpPr>
        <p:spPr>
          <a:xfrm>
            <a:off x="6024813" y="4169847"/>
            <a:ext cx="1666374" cy="369332"/>
          </a:xfrm>
          <a:prstGeom prst="rect">
            <a:avLst/>
          </a:prstGeom>
          <a:solidFill>
            <a:srgbClr val="C00000"/>
          </a:solidFill>
        </p:spPr>
        <p:txBody>
          <a:bodyPr wrap="square" rtlCol="0">
            <a:spAutoFit/>
          </a:bodyPr>
          <a:lstStyle/>
          <a:p>
            <a:pPr algn="ctr"/>
            <a:r>
              <a:rPr lang="zh-CN" altLang="en-US" b="1" dirty="0">
                <a:solidFill>
                  <a:schemeClr val="bg1"/>
                </a:solidFill>
              </a:rPr>
              <a:t>应用服务器</a:t>
            </a:r>
          </a:p>
        </p:txBody>
      </p:sp>
      <p:sp>
        <p:nvSpPr>
          <p:cNvPr id="12" name="文本框 11">
            <a:extLst>
              <a:ext uri="{FF2B5EF4-FFF2-40B4-BE49-F238E27FC236}">
                <a16:creationId xmlns:a16="http://schemas.microsoft.com/office/drawing/2014/main" id="{5CC1676D-EA9D-403E-BCB9-025FA971E189}"/>
              </a:ext>
            </a:extLst>
          </p:cNvPr>
          <p:cNvSpPr txBox="1"/>
          <p:nvPr/>
        </p:nvSpPr>
        <p:spPr>
          <a:xfrm>
            <a:off x="5721309" y="1131578"/>
            <a:ext cx="1666374" cy="369332"/>
          </a:xfrm>
          <a:prstGeom prst="rect">
            <a:avLst/>
          </a:prstGeom>
          <a:solidFill>
            <a:srgbClr val="C00000"/>
          </a:solidFill>
        </p:spPr>
        <p:txBody>
          <a:bodyPr wrap="square" rtlCol="0">
            <a:spAutoFit/>
          </a:bodyPr>
          <a:lstStyle/>
          <a:p>
            <a:pPr algn="ctr"/>
            <a:r>
              <a:rPr lang="zh-CN" altLang="en-US" b="1" dirty="0">
                <a:solidFill>
                  <a:schemeClr val="bg1"/>
                </a:solidFill>
              </a:rPr>
              <a:t>内部电脑</a:t>
            </a:r>
          </a:p>
        </p:txBody>
      </p:sp>
    </p:spTree>
    <p:extLst>
      <p:ext uri="{BB962C8B-B14F-4D97-AF65-F5344CB8AC3E}">
        <p14:creationId xmlns:p14="http://schemas.microsoft.com/office/powerpoint/2010/main" val="166465598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5">
            <a:extLst>
              <a:ext uri="{FF2B5EF4-FFF2-40B4-BE49-F238E27FC236}">
                <a16:creationId xmlns:a16="http://schemas.microsoft.com/office/drawing/2014/main" id="{77CEB74E-5C63-449D-979D-C63FD034E51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BBF81C6-0427-434C-80B4-F7D21406B12F}" type="slidenum">
              <a:rPr lang="en-US" altLang="en-US"/>
              <a:pPr eaLnBrk="1" hangingPunct="1"/>
              <a:t>39</a:t>
            </a:fld>
            <a:endParaRPr lang="en-US" altLang="en-US"/>
          </a:p>
        </p:txBody>
      </p:sp>
      <p:sp>
        <p:nvSpPr>
          <p:cNvPr id="12291" name="Rectangle 2">
            <a:extLst>
              <a:ext uri="{FF2B5EF4-FFF2-40B4-BE49-F238E27FC236}">
                <a16:creationId xmlns:a16="http://schemas.microsoft.com/office/drawing/2014/main" id="{AFF93988-4BA8-4052-8BBC-4E42BB97B04F}"/>
              </a:ext>
            </a:extLst>
          </p:cNvPr>
          <p:cNvSpPr>
            <a:spLocks noGrp="1" noChangeArrowheads="1"/>
          </p:cNvSpPr>
          <p:nvPr>
            <p:ph type="title"/>
          </p:nvPr>
        </p:nvSpPr>
        <p:spPr>
          <a:xfrm>
            <a:off x="457200" y="122238"/>
            <a:ext cx="7543800" cy="1096962"/>
          </a:xfrm>
        </p:spPr>
        <p:txBody>
          <a:bodyPr/>
          <a:lstStyle/>
          <a:p>
            <a:pPr eaLnBrk="1" hangingPunct="1"/>
            <a:r>
              <a:rPr lang="zh-CN" altLang="en-US" sz="3400" dirty="0">
                <a:ea typeface="宋体" panose="02010600030101010101" pitchFamily="2" charset="-122"/>
              </a:rPr>
              <a:t>详细设计</a:t>
            </a:r>
            <a:r>
              <a:rPr lang="en-US" altLang="zh-CN" sz="3400" dirty="0">
                <a:ea typeface="宋体" panose="02010600030101010101" pitchFamily="2" charset="-122"/>
              </a:rPr>
              <a:t>-</a:t>
            </a:r>
            <a:r>
              <a:rPr lang="zh-CN" altLang="en-US" sz="3400" dirty="0">
                <a:ea typeface="宋体" panose="02010600030101010101" pitchFamily="2" charset="-122"/>
              </a:rPr>
              <a:t>设计活动</a:t>
            </a:r>
            <a:endParaRPr lang="en-US" altLang="zh-CN" sz="3400" dirty="0">
              <a:ea typeface="宋体" panose="02010600030101010101" pitchFamily="2" charset="-122"/>
            </a:endParaRPr>
          </a:p>
        </p:txBody>
      </p:sp>
      <p:pic>
        <p:nvPicPr>
          <p:cNvPr id="12292" name="Picture 6">
            <a:extLst>
              <a:ext uri="{FF2B5EF4-FFF2-40B4-BE49-F238E27FC236}">
                <a16:creationId xmlns:a16="http://schemas.microsoft.com/office/drawing/2014/main" id="{F8E7AB63-53F7-4606-9055-2B4DC6BC38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591801"/>
            <a:ext cx="9144000" cy="308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3" name="Footer Placeholder 4">
            <a:extLst>
              <a:ext uri="{FF2B5EF4-FFF2-40B4-BE49-F238E27FC236}">
                <a16:creationId xmlns:a16="http://schemas.microsoft.com/office/drawing/2014/main" id="{D1FC0229-F01F-46A7-93F8-860CBAF74EBE}"/>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12294" name="Rectangle 6">
            <a:extLst>
              <a:ext uri="{FF2B5EF4-FFF2-40B4-BE49-F238E27FC236}">
                <a16:creationId xmlns:a16="http://schemas.microsoft.com/office/drawing/2014/main" id="{447244C0-07B1-46EC-AEEC-81504A551BCA}"/>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7" name="文本框 6">
            <a:extLst>
              <a:ext uri="{FF2B5EF4-FFF2-40B4-BE49-F238E27FC236}">
                <a16:creationId xmlns:a16="http://schemas.microsoft.com/office/drawing/2014/main" id="{E9E6B9AF-BE19-48E0-9CE2-E0BE966EFAAE}"/>
              </a:ext>
            </a:extLst>
          </p:cNvPr>
          <p:cNvSpPr txBox="1"/>
          <p:nvPr/>
        </p:nvSpPr>
        <p:spPr>
          <a:xfrm>
            <a:off x="-7434" y="4324912"/>
            <a:ext cx="3433763" cy="1754326"/>
          </a:xfrm>
          <a:prstGeom prst="rect">
            <a:avLst/>
          </a:prstGeom>
          <a:noFill/>
        </p:spPr>
        <p:txBody>
          <a:bodyPr wrap="square">
            <a:spAutoFit/>
          </a:bodyPr>
          <a:lstStyle/>
          <a:p>
            <a:r>
              <a:rPr lang="zh-CN" altLang="en-US" dirty="0"/>
              <a:t>设计环境</a:t>
            </a:r>
            <a:endParaRPr lang="en-US" altLang="zh-CN" dirty="0"/>
          </a:p>
          <a:p>
            <a:r>
              <a:rPr lang="zh-CN" altLang="en-US" dirty="0"/>
              <a:t>设计应用程序结构和软件</a:t>
            </a:r>
            <a:endParaRPr lang="en-US" altLang="zh-CN" dirty="0"/>
          </a:p>
          <a:p>
            <a:r>
              <a:rPr lang="zh-CN" altLang="en-US" dirty="0"/>
              <a:t>设计系统界面</a:t>
            </a:r>
            <a:endParaRPr lang="en-US" altLang="zh-CN" dirty="0"/>
          </a:p>
          <a:p>
            <a:r>
              <a:rPr lang="zh-CN" altLang="en-US" dirty="0"/>
              <a:t>设计用户界面</a:t>
            </a:r>
            <a:endParaRPr lang="en-US" altLang="zh-CN" dirty="0"/>
          </a:p>
          <a:p>
            <a:r>
              <a:rPr lang="zh-CN" altLang="en-US" dirty="0"/>
              <a:t>设计数据库</a:t>
            </a:r>
            <a:endParaRPr lang="en-US" altLang="zh-CN" dirty="0"/>
          </a:p>
          <a:p>
            <a:r>
              <a:rPr lang="zh-CN" altLang="en-US" dirty="0"/>
              <a:t>设计系统控制和安全</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表格 9">
            <a:extLst>
              <a:ext uri="{FF2B5EF4-FFF2-40B4-BE49-F238E27FC236}">
                <a16:creationId xmlns:a16="http://schemas.microsoft.com/office/drawing/2014/main" id="{9A2D7126-4DCA-49E4-9409-E32FCA8FDEE2}"/>
              </a:ext>
            </a:extLst>
          </p:cNvPr>
          <p:cNvGraphicFramePr>
            <a:graphicFrameLocks noGrp="1"/>
          </p:cNvGraphicFramePr>
          <p:nvPr>
            <p:ph idx="1"/>
            <p:extLst>
              <p:ext uri="{D42A27DB-BD31-4B8C-83A1-F6EECF244321}">
                <p14:modId xmlns:p14="http://schemas.microsoft.com/office/powerpoint/2010/main" val="2506826492"/>
              </p:ext>
            </p:extLst>
          </p:nvPr>
        </p:nvGraphicFramePr>
        <p:xfrm>
          <a:off x="471535" y="2286000"/>
          <a:ext cx="8229600" cy="2595880"/>
        </p:xfrm>
        <a:graphic>
          <a:graphicData uri="http://schemas.openxmlformats.org/drawingml/2006/table">
            <a:tbl>
              <a:tblPr firstRow="1" bandRow="1">
                <a:tableStyleId>{5C22544A-7EE6-4342-B048-85BDC9FD1C3A}</a:tableStyleId>
              </a:tblPr>
              <a:tblGrid>
                <a:gridCol w="2819400">
                  <a:extLst>
                    <a:ext uri="{9D8B030D-6E8A-4147-A177-3AD203B41FA5}">
                      <a16:colId xmlns:a16="http://schemas.microsoft.com/office/drawing/2014/main" val="1166374174"/>
                    </a:ext>
                  </a:extLst>
                </a:gridCol>
                <a:gridCol w="5410200">
                  <a:extLst>
                    <a:ext uri="{9D8B030D-6E8A-4147-A177-3AD203B41FA5}">
                      <a16:colId xmlns:a16="http://schemas.microsoft.com/office/drawing/2014/main" val="1022190293"/>
                    </a:ext>
                  </a:extLst>
                </a:gridCol>
              </a:tblGrid>
              <a:tr h="370840">
                <a:tc>
                  <a:txBody>
                    <a:bodyPr/>
                    <a:lstStyle/>
                    <a:p>
                      <a:r>
                        <a:rPr lang="zh-CN" altLang="en-US" b="1" dirty="0">
                          <a:solidFill>
                            <a:schemeClr val="tx1"/>
                          </a:solidFill>
                        </a:rPr>
                        <a:t>设计活动</a:t>
                      </a:r>
                    </a:p>
                  </a:txBody>
                  <a:tcPr/>
                </a:tc>
                <a:tc>
                  <a:txBody>
                    <a:bodyPr/>
                    <a:lstStyle/>
                    <a:p>
                      <a:r>
                        <a:rPr lang="zh-CN" altLang="en-US" b="1" dirty="0">
                          <a:solidFill>
                            <a:schemeClr val="tx1"/>
                          </a:solidFill>
                        </a:rPr>
                        <a:t>关键问题</a:t>
                      </a:r>
                    </a:p>
                  </a:txBody>
                  <a:tcPr/>
                </a:tc>
                <a:extLst>
                  <a:ext uri="{0D108BD9-81ED-4DB2-BD59-A6C34878D82A}">
                    <a16:rowId xmlns:a16="http://schemas.microsoft.com/office/drawing/2014/main" val="2160614853"/>
                  </a:ext>
                </a:extLst>
              </a:tr>
              <a:tr h="370840">
                <a:tc>
                  <a:txBody>
                    <a:bodyPr/>
                    <a:lstStyle/>
                    <a:p>
                      <a:r>
                        <a:rPr lang="zh-CN" altLang="en-US" b="0" dirty="0">
                          <a:solidFill>
                            <a:schemeClr val="tx1"/>
                          </a:solidFill>
                        </a:rPr>
                        <a:t>设计环境</a:t>
                      </a:r>
                    </a:p>
                  </a:txBody>
                  <a:tcPr/>
                </a:tc>
                <a:tc>
                  <a:txBody>
                    <a:bodyPr/>
                    <a:lstStyle/>
                    <a:p>
                      <a:r>
                        <a:rPr lang="zh-CN" altLang="en-US" b="0" dirty="0">
                          <a:solidFill>
                            <a:schemeClr val="tx1"/>
                          </a:solidFill>
                        </a:rPr>
                        <a:t>软件执行的环境</a:t>
                      </a:r>
                    </a:p>
                  </a:txBody>
                  <a:tcPr/>
                </a:tc>
                <a:extLst>
                  <a:ext uri="{0D108BD9-81ED-4DB2-BD59-A6C34878D82A}">
                    <a16:rowId xmlns:a16="http://schemas.microsoft.com/office/drawing/2014/main" val="1084396092"/>
                  </a:ext>
                </a:extLst>
              </a:tr>
              <a:tr h="370840">
                <a:tc>
                  <a:txBody>
                    <a:bodyPr/>
                    <a:lstStyle/>
                    <a:p>
                      <a:r>
                        <a:rPr lang="zh-CN" altLang="en-US" b="0" dirty="0">
                          <a:solidFill>
                            <a:schemeClr val="tx1"/>
                          </a:solidFill>
                        </a:rPr>
                        <a:t>设计应用程序结构和软件</a:t>
                      </a:r>
                    </a:p>
                  </a:txBody>
                  <a:tcPr/>
                </a:tc>
                <a:tc>
                  <a:txBody>
                    <a:bodyPr/>
                    <a:lstStyle/>
                    <a:p>
                      <a:r>
                        <a:rPr lang="zh-CN" altLang="en-US" b="0" dirty="0">
                          <a:solidFill>
                            <a:schemeClr val="tx1"/>
                          </a:solidFill>
                        </a:rPr>
                        <a:t>软件所有要素和每个用例是如何执行的</a:t>
                      </a:r>
                    </a:p>
                  </a:txBody>
                  <a:tcPr/>
                </a:tc>
                <a:extLst>
                  <a:ext uri="{0D108BD9-81ED-4DB2-BD59-A6C34878D82A}">
                    <a16:rowId xmlns:a16="http://schemas.microsoft.com/office/drawing/2014/main" val="3466835918"/>
                  </a:ext>
                </a:extLst>
              </a:tr>
              <a:tr h="370840">
                <a:tc>
                  <a:txBody>
                    <a:bodyPr/>
                    <a:lstStyle/>
                    <a:p>
                      <a:r>
                        <a:rPr lang="zh-CN" altLang="en-US" b="0" dirty="0">
                          <a:solidFill>
                            <a:schemeClr val="tx1"/>
                          </a:solidFill>
                        </a:rPr>
                        <a:t>设计系统界面</a:t>
                      </a:r>
                    </a:p>
                  </a:txBody>
                  <a:tcPr/>
                </a:tc>
                <a:tc>
                  <a:txBody>
                    <a:bodyPr/>
                    <a:lstStyle/>
                    <a:p>
                      <a:r>
                        <a:rPr lang="zh-CN" altLang="en-US" b="0" dirty="0">
                          <a:solidFill>
                            <a:schemeClr val="tx1"/>
                          </a:solidFill>
                        </a:rPr>
                        <a:t>系统会如何与组织内外部的所有其他系统相互通信</a:t>
                      </a:r>
                    </a:p>
                  </a:txBody>
                  <a:tcPr/>
                </a:tc>
                <a:extLst>
                  <a:ext uri="{0D108BD9-81ED-4DB2-BD59-A6C34878D82A}">
                    <a16:rowId xmlns:a16="http://schemas.microsoft.com/office/drawing/2014/main" val="991312606"/>
                  </a:ext>
                </a:extLst>
              </a:tr>
              <a:tr h="370840">
                <a:tc>
                  <a:txBody>
                    <a:bodyPr/>
                    <a:lstStyle/>
                    <a:p>
                      <a:r>
                        <a:rPr lang="zh-CN" altLang="en-US" b="0" dirty="0">
                          <a:solidFill>
                            <a:schemeClr val="tx1"/>
                          </a:solidFill>
                        </a:rPr>
                        <a:t>设计用户界面</a:t>
                      </a:r>
                    </a:p>
                  </a:txBody>
                  <a:tcPr/>
                </a:tc>
                <a:tc>
                  <a:txBody>
                    <a:bodyPr/>
                    <a:lstStyle/>
                    <a:p>
                      <a:r>
                        <a:rPr lang="zh-CN" altLang="en-US" b="0" dirty="0">
                          <a:solidFill>
                            <a:schemeClr val="tx1"/>
                          </a:solidFill>
                        </a:rPr>
                        <a:t>用户如何与系统交互</a:t>
                      </a:r>
                    </a:p>
                  </a:txBody>
                  <a:tcPr/>
                </a:tc>
                <a:extLst>
                  <a:ext uri="{0D108BD9-81ED-4DB2-BD59-A6C34878D82A}">
                    <a16:rowId xmlns:a16="http://schemas.microsoft.com/office/drawing/2014/main" val="1889819269"/>
                  </a:ext>
                </a:extLst>
              </a:tr>
              <a:tr h="370840">
                <a:tc>
                  <a:txBody>
                    <a:bodyPr/>
                    <a:lstStyle/>
                    <a:p>
                      <a:r>
                        <a:rPr lang="zh-CN" altLang="en-US" b="0" dirty="0">
                          <a:solidFill>
                            <a:schemeClr val="tx1"/>
                          </a:solidFill>
                        </a:rPr>
                        <a:t>设计数据库</a:t>
                      </a:r>
                    </a:p>
                  </a:txBody>
                  <a:tcPr/>
                </a:tc>
                <a:tc>
                  <a:txBody>
                    <a:bodyPr/>
                    <a:lstStyle/>
                    <a:p>
                      <a:r>
                        <a:rPr lang="zh-CN" altLang="en-US" b="0" dirty="0">
                          <a:solidFill>
                            <a:schemeClr val="tx1"/>
                          </a:solidFill>
                        </a:rPr>
                        <a:t>所有信息的存储需求</a:t>
                      </a:r>
                    </a:p>
                  </a:txBody>
                  <a:tcPr/>
                </a:tc>
                <a:extLst>
                  <a:ext uri="{0D108BD9-81ED-4DB2-BD59-A6C34878D82A}">
                    <a16:rowId xmlns:a16="http://schemas.microsoft.com/office/drawing/2014/main" val="1170627539"/>
                  </a:ext>
                </a:extLst>
              </a:tr>
              <a:tr h="370840">
                <a:tc>
                  <a:txBody>
                    <a:bodyPr/>
                    <a:lstStyle/>
                    <a:p>
                      <a:r>
                        <a:rPr lang="zh-CN" altLang="en-US" b="0" dirty="0">
                          <a:solidFill>
                            <a:schemeClr val="tx1"/>
                          </a:solidFill>
                        </a:rPr>
                        <a:t>设计系统控制和安全</a:t>
                      </a:r>
                    </a:p>
                  </a:txBody>
                  <a:tcPr/>
                </a:tc>
                <a:tc>
                  <a:txBody>
                    <a:bodyPr/>
                    <a:lstStyle/>
                    <a:p>
                      <a:r>
                        <a:rPr lang="zh-CN" altLang="en-US" b="0" dirty="0">
                          <a:solidFill>
                            <a:schemeClr val="tx1"/>
                          </a:solidFill>
                        </a:rPr>
                        <a:t>确保系统和数据是安全的的且处于被保护状态</a:t>
                      </a:r>
                    </a:p>
                  </a:txBody>
                  <a:tcPr/>
                </a:tc>
                <a:extLst>
                  <a:ext uri="{0D108BD9-81ED-4DB2-BD59-A6C34878D82A}">
                    <a16:rowId xmlns:a16="http://schemas.microsoft.com/office/drawing/2014/main" val="1743954911"/>
                  </a:ext>
                </a:extLst>
              </a:tr>
            </a:tbl>
          </a:graphicData>
        </a:graphic>
      </p:graphicFrame>
      <p:sp>
        <p:nvSpPr>
          <p:cNvPr id="4" name="页脚占位符 3">
            <a:extLst>
              <a:ext uri="{FF2B5EF4-FFF2-40B4-BE49-F238E27FC236}">
                <a16:creationId xmlns:a16="http://schemas.microsoft.com/office/drawing/2014/main" id="{2A543935-0DC3-43C9-B398-98469E9B52AB}"/>
              </a:ext>
            </a:extLst>
          </p:cNvPr>
          <p:cNvSpPr>
            <a:spLocks noGrp="1"/>
          </p:cNvSpPr>
          <p:nvPr>
            <p:ph type="ftr" sz="quarter" idx="11"/>
          </p:nvPr>
        </p:nvSpPr>
        <p:spPr/>
        <p:txBody>
          <a:bodyPr/>
          <a:lstStyle/>
          <a:p>
            <a:pPr>
              <a:defRPr/>
            </a:pPr>
            <a:r>
              <a:rPr lang="en-US" altLang="en-US"/>
              <a:t>Systems Analysis and Design in a Changing World, 6th Edition</a:t>
            </a:r>
          </a:p>
        </p:txBody>
      </p:sp>
      <p:sp>
        <p:nvSpPr>
          <p:cNvPr id="5" name="灯片编号占位符 4">
            <a:extLst>
              <a:ext uri="{FF2B5EF4-FFF2-40B4-BE49-F238E27FC236}">
                <a16:creationId xmlns:a16="http://schemas.microsoft.com/office/drawing/2014/main" id="{AE4D2D06-3EDB-434D-8ECE-455A0407ACC7}"/>
              </a:ext>
            </a:extLst>
          </p:cNvPr>
          <p:cNvSpPr>
            <a:spLocks noGrp="1"/>
          </p:cNvSpPr>
          <p:nvPr>
            <p:ph type="sldNum" sz="quarter" idx="12"/>
          </p:nvPr>
        </p:nvSpPr>
        <p:spPr/>
        <p:txBody>
          <a:bodyPr/>
          <a:lstStyle/>
          <a:p>
            <a:fld id="{A8BA0676-233E-41E6-AB00-DB3D9BE0E88E}" type="slidenum">
              <a:rPr lang="en-US" altLang="en-US" smtClean="0"/>
              <a:pPr/>
              <a:t>40</a:t>
            </a:fld>
            <a:endParaRPr lang="en-US" altLang="en-US"/>
          </a:p>
        </p:txBody>
      </p:sp>
      <p:sp>
        <p:nvSpPr>
          <p:cNvPr id="8" name="Rectangle 2">
            <a:extLst>
              <a:ext uri="{FF2B5EF4-FFF2-40B4-BE49-F238E27FC236}">
                <a16:creationId xmlns:a16="http://schemas.microsoft.com/office/drawing/2014/main" id="{9958B4C6-61EF-48FE-BB0D-CE0B80814583}"/>
              </a:ext>
            </a:extLst>
          </p:cNvPr>
          <p:cNvSpPr>
            <a:spLocks noGrp="1" noChangeArrowheads="1"/>
          </p:cNvSpPr>
          <p:nvPr>
            <p:ph type="title"/>
          </p:nvPr>
        </p:nvSpPr>
        <p:spPr>
          <a:xfrm>
            <a:off x="457200" y="122238"/>
            <a:ext cx="7543800" cy="1096962"/>
          </a:xfrm>
        </p:spPr>
        <p:txBody>
          <a:bodyPr/>
          <a:lstStyle/>
          <a:p>
            <a:pPr eaLnBrk="1" hangingPunct="1"/>
            <a:r>
              <a:rPr lang="en-US" altLang="zh-CN" sz="3400" dirty="0">
                <a:ea typeface="宋体" panose="02010600030101010101" pitchFamily="2" charset="-122"/>
              </a:rPr>
              <a:t>Design Activities and Key Question</a:t>
            </a:r>
            <a:br>
              <a:rPr lang="en-US" altLang="zh-CN" sz="3400" dirty="0">
                <a:ea typeface="宋体" panose="02010600030101010101" pitchFamily="2" charset="-122"/>
              </a:rPr>
            </a:br>
            <a:r>
              <a:rPr lang="zh-CN" altLang="en-US" sz="3400" dirty="0">
                <a:ea typeface="宋体" panose="02010600030101010101" pitchFamily="2" charset="-122"/>
              </a:rPr>
              <a:t>（设计活动和关键问题）</a:t>
            </a:r>
            <a:endParaRPr lang="en-US" altLang="zh-CN" sz="3400" dirty="0">
              <a:ea typeface="宋体" panose="02010600030101010101" pitchFamily="2" charset="-122"/>
            </a:endParaRPr>
          </a:p>
        </p:txBody>
      </p:sp>
    </p:spTree>
    <p:extLst>
      <p:ext uri="{BB962C8B-B14F-4D97-AF65-F5344CB8AC3E}">
        <p14:creationId xmlns:p14="http://schemas.microsoft.com/office/powerpoint/2010/main" val="426434166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6">
            <a:extLst>
              <a:ext uri="{FF2B5EF4-FFF2-40B4-BE49-F238E27FC236}">
                <a16:creationId xmlns:a16="http://schemas.microsoft.com/office/drawing/2014/main" id="{D0CD9DAC-85F1-4E00-91BF-02260006986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761C350-ED48-46FB-BFEF-C625791ADC36}" type="slidenum">
              <a:rPr lang="en-US" altLang="en-US"/>
              <a:pPr eaLnBrk="1" hangingPunct="1"/>
              <a:t>41</a:t>
            </a:fld>
            <a:endParaRPr lang="en-US" altLang="en-US"/>
          </a:p>
        </p:txBody>
      </p:sp>
      <p:sp>
        <p:nvSpPr>
          <p:cNvPr id="14339" name="Rectangle 2">
            <a:extLst>
              <a:ext uri="{FF2B5EF4-FFF2-40B4-BE49-F238E27FC236}">
                <a16:creationId xmlns:a16="http://schemas.microsoft.com/office/drawing/2014/main" id="{D213692C-591D-4EAC-A974-1B857E6D66F5}"/>
              </a:ext>
            </a:extLst>
          </p:cNvPr>
          <p:cNvSpPr>
            <a:spLocks noGrp="1" noChangeArrowheads="1"/>
          </p:cNvSpPr>
          <p:nvPr>
            <p:ph type="title"/>
          </p:nvPr>
        </p:nvSpPr>
        <p:spPr>
          <a:xfrm>
            <a:off x="457200" y="122238"/>
            <a:ext cx="7543800" cy="1096962"/>
          </a:xfrm>
        </p:spPr>
        <p:txBody>
          <a:bodyPr/>
          <a:lstStyle/>
          <a:p>
            <a:pPr eaLnBrk="1" hangingPunct="1"/>
            <a:r>
              <a:rPr lang="en-US" altLang="zh-CN" sz="3600" dirty="0">
                <a:ea typeface="宋体" panose="02010600030101010101" pitchFamily="2" charset="-122"/>
              </a:rPr>
              <a:t>Design Activities:</a:t>
            </a:r>
            <a:r>
              <a:rPr lang="zh-CN" altLang="en-US" sz="3600" dirty="0">
                <a:ea typeface="宋体" panose="02010600030101010101" pitchFamily="2" charset="-122"/>
              </a:rPr>
              <a:t>设计活动</a:t>
            </a:r>
            <a:br>
              <a:rPr lang="en-US" altLang="zh-CN" sz="3600" dirty="0">
                <a:ea typeface="宋体" panose="02010600030101010101" pitchFamily="2" charset="-122"/>
              </a:rPr>
            </a:br>
            <a:r>
              <a:rPr lang="en-US" altLang="zh-CN" sz="2800" dirty="0">
                <a:ea typeface="宋体" panose="02010600030101010101" pitchFamily="2" charset="-122"/>
              </a:rPr>
              <a:t>Design the environment </a:t>
            </a:r>
            <a:r>
              <a:rPr lang="zh-CN" altLang="en-US" sz="2800" dirty="0">
                <a:ea typeface="宋体" panose="02010600030101010101" pitchFamily="2" charset="-122"/>
              </a:rPr>
              <a:t>设计环境</a:t>
            </a:r>
            <a:endParaRPr lang="en-US" altLang="zh-CN" sz="2800" dirty="0">
              <a:ea typeface="宋体" panose="02010600030101010101" pitchFamily="2" charset="-122"/>
            </a:endParaRPr>
          </a:p>
        </p:txBody>
      </p:sp>
      <p:sp>
        <p:nvSpPr>
          <p:cNvPr id="14340" name="Rectangle 3">
            <a:extLst>
              <a:ext uri="{FF2B5EF4-FFF2-40B4-BE49-F238E27FC236}">
                <a16:creationId xmlns:a16="http://schemas.microsoft.com/office/drawing/2014/main" id="{F3E73C73-6007-4AD8-81A5-7237EC88F760}"/>
              </a:ext>
            </a:extLst>
          </p:cNvPr>
          <p:cNvSpPr>
            <a:spLocks noGrp="1" noChangeArrowheads="1"/>
          </p:cNvSpPr>
          <p:nvPr>
            <p:ph type="body" sz="half" idx="1"/>
          </p:nvPr>
        </p:nvSpPr>
        <p:spPr>
          <a:xfrm>
            <a:off x="457200" y="1295400"/>
            <a:ext cx="8001000" cy="4876800"/>
          </a:xfrm>
        </p:spPr>
        <p:txBody>
          <a:bodyPr/>
          <a:lstStyle/>
          <a:p>
            <a:pPr eaLnBrk="1" hangingPunct="1"/>
            <a:r>
              <a:rPr lang="en-GB" altLang="zh-CN" sz="2800" dirty="0"/>
              <a:t>The environment is all of the technology required to support the software application</a:t>
            </a:r>
            <a:r>
              <a:rPr lang="zh-CN" altLang="en-US" sz="2800" dirty="0"/>
              <a:t>（环境是支持软件应用程序所需的所有技术）</a:t>
            </a:r>
            <a:endParaRPr lang="en-GB" altLang="zh-CN" sz="2800" dirty="0"/>
          </a:p>
          <a:p>
            <a:pPr lvl="1" eaLnBrk="1" hangingPunct="1"/>
            <a:r>
              <a:rPr lang="en-GB" altLang="zh-CN" sz="2400" dirty="0"/>
              <a:t>Servers, Desktop computers</a:t>
            </a:r>
            <a:r>
              <a:rPr lang="zh-CN" altLang="en-US" sz="2400" dirty="0"/>
              <a:t>（服务器、台式电脑）</a:t>
            </a:r>
            <a:endParaRPr lang="en-GB" altLang="zh-CN" sz="2400" dirty="0"/>
          </a:p>
          <a:p>
            <a:pPr lvl="1" eaLnBrk="1" hangingPunct="1"/>
            <a:r>
              <a:rPr lang="en-GB" altLang="zh-CN" sz="2400" dirty="0"/>
              <a:t>Mobile devices, Operating systems</a:t>
            </a:r>
            <a:r>
              <a:rPr lang="zh-CN" altLang="en-US" sz="2400" dirty="0"/>
              <a:t>（移动设备、操作系统）</a:t>
            </a:r>
            <a:endParaRPr lang="en-GB" altLang="zh-CN" sz="2400" dirty="0"/>
          </a:p>
          <a:p>
            <a:pPr lvl="1" eaLnBrk="1" hangingPunct="1"/>
            <a:r>
              <a:rPr lang="en-GB" altLang="zh-CN" sz="2400" dirty="0"/>
              <a:t>Communication capabilities, Input and output capabilities</a:t>
            </a:r>
            <a:r>
              <a:rPr lang="zh-CN" altLang="en-US" sz="2400" dirty="0"/>
              <a:t>（通信能力、输入和输出的能力）</a:t>
            </a:r>
            <a:endParaRPr lang="en-GB" altLang="zh-CN" sz="2400" dirty="0"/>
          </a:p>
        </p:txBody>
      </p:sp>
      <p:sp>
        <p:nvSpPr>
          <p:cNvPr id="14341" name="Footer Placeholder 4">
            <a:extLst>
              <a:ext uri="{FF2B5EF4-FFF2-40B4-BE49-F238E27FC236}">
                <a16:creationId xmlns:a16="http://schemas.microsoft.com/office/drawing/2014/main" id="{19CB7D7B-A197-4388-925C-393E222915E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14342" name="Rectangle 6">
            <a:extLst>
              <a:ext uri="{FF2B5EF4-FFF2-40B4-BE49-F238E27FC236}">
                <a16:creationId xmlns:a16="http://schemas.microsoft.com/office/drawing/2014/main" id="{49B7F44D-AE19-4077-8B22-DCFA2F8E996F}"/>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6">
            <a:extLst>
              <a:ext uri="{FF2B5EF4-FFF2-40B4-BE49-F238E27FC236}">
                <a16:creationId xmlns:a16="http://schemas.microsoft.com/office/drawing/2014/main" id="{9C73C5FD-7E86-4793-B326-28CA73D19E5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C600077-FF40-47D3-8F51-A260B0BBE27C}" type="slidenum">
              <a:rPr lang="en-US" altLang="en-US"/>
              <a:pPr eaLnBrk="1" hangingPunct="1"/>
              <a:t>42</a:t>
            </a:fld>
            <a:endParaRPr lang="en-US" altLang="en-US"/>
          </a:p>
        </p:txBody>
      </p:sp>
      <p:sp>
        <p:nvSpPr>
          <p:cNvPr id="15363" name="Rectangle 2">
            <a:extLst>
              <a:ext uri="{FF2B5EF4-FFF2-40B4-BE49-F238E27FC236}">
                <a16:creationId xmlns:a16="http://schemas.microsoft.com/office/drawing/2014/main" id="{E6638A67-FC16-4824-AD2D-97C26D7C9422}"/>
              </a:ext>
            </a:extLst>
          </p:cNvPr>
          <p:cNvSpPr>
            <a:spLocks noGrp="1" noChangeArrowheads="1"/>
          </p:cNvSpPr>
          <p:nvPr>
            <p:ph type="title"/>
          </p:nvPr>
        </p:nvSpPr>
        <p:spPr>
          <a:xfrm>
            <a:off x="457200" y="350838"/>
            <a:ext cx="7543800" cy="1020762"/>
          </a:xfrm>
        </p:spPr>
        <p:txBody>
          <a:bodyPr/>
          <a:lstStyle/>
          <a:p>
            <a:pPr eaLnBrk="1" hangingPunct="1"/>
            <a:r>
              <a:rPr lang="en-US" altLang="zh-CN" sz="3600" dirty="0">
                <a:ea typeface="宋体" panose="02010600030101010101" pitchFamily="2" charset="-122"/>
              </a:rPr>
              <a:t>Design Activities:</a:t>
            </a:r>
            <a:br>
              <a:rPr lang="en-US" altLang="zh-CN" sz="3600" dirty="0">
                <a:ea typeface="宋体" panose="02010600030101010101" pitchFamily="2" charset="-122"/>
              </a:rPr>
            </a:br>
            <a:r>
              <a:rPr lang="en-US" altLang="zh-CN" sz="2400" dirty="0">
                <a:ea typeface="宋体" panose="02010600030101010101" pitchFamily="2" charset="-122"/>
              </a:rPr>
              <a:t>Design the application architecture and software</a:t>
            </a:r>
            <a:br>
              <a:rPr lang="en-US" altLang="zh-CN" sz="2400" dirty="0">
                <a:ea typeface="宋体" panose="02010600030101010101" pitchFamily="2" charset="-122"/>
              </a:rPr>
            </a:br>
            <a:r>
              <a:rPr lang="zh-CN" altLang="en-US" sz="2400" dirty="0">
                <a:ea typeface="宋体" panose="02010600030101010101" pitchFamily="2" charset="-122"/>
              </a:rPr>
              <a:t>设计软件结构</a:t>
            </a:r>
            <a:endParaRPr lang="en-US" altLang="zh-CN" sz="2400" dirty="0">
              <a:ea typeface="宋体" panose="02010600030101010101" pitchFamily="2" charset="-122"/>
            </a:endParaRPr>
          </a:p>
        </p:txBody>
      </p:sp>
      <p:sp>
        <p:nvSpPr>
          <p:cNvPr id="15364" name="Rectangle 3">
            <a:extLst>
              <a:ext uri="{FF2B5EF4-FFF2-40B4-BE49-F238E27FC236}">
                <a16:creationId xmlns:a16="http://schemas.microsoft.com/office/drawing/2014/main" id="{93829497-957C-4D3D-AC27-DAC9F6341BF0}"/>
              </a:ext>
            </a:extLst>
          </p:cNvPr>
          <p:cNvSpPr>
            <a:spLocks noGrp="1" noChangeArrowheads="1"/>
          </p:cNvSpPr>
          <p:nvPr>
            <p:ph type="body" sz="half" idx="1"/>
          </p:nvPr>
        </p:nvSpPr>
        <p:spPr>
          <a:xfrm>
            <a:off x="457200" y="1371600"/>
            <a:ext cx="8001000" cy="4800600"/>
          </a:xfrm>
        </p:spPr>
        <p:txBody>
          <a:bodyPr/>
          <a:lstStyle/>
          <a:p>
            <a:pPr eaLnBrk="1" hangingPunct="1"/>
            <a:r>
              <a:rPr lang="en-GB" altLang="zh-CN" sz="2800" dirty="0"/>
              <a:t>Partition system into subsystems</a:t>
            </a:r>
            <a:r>
              <a:rPr lang="zh-CN" altLang="en-US" sz="2800" dirty="0"/>
              <a:t>（将系统分解成子系统）</a:t>
            </a:r>
            <a:endParaRPr lang="en-GB" altLang="zh-CN" sz="2800" dirty="0"/>
          </a:p>
          <a:p>
            <a:pPr eaLnBrk="1" hangingPunct="1"/>
            <a:r>
              <a:rPr lang="en-GB" altLang="zh-CN" sz="2800" dirty="0"/>
              <a:t>Define software architecture</a:t>
            </a:r>
            <a:r>
              <a:rPr lang="zh-CN" altLang="en-US" sz="2800" dirty="0"/>
              <a:t>（定义软件架构）</a:t>
            </a:r>
            <a:endParaRPr lang="en-GB" altLang="zh-CN" sz="2800" dirty="0"/>
          </a:p>
          <a:p>
            <a:pPr lvl="1" eaLnBrk="1" hangingPunct="1"/>
            <a:r>
              <a:rPr lang="en-GB" altLang="zh-CN" sz="2400" dirty="0"/>
              <a:t>Three layer or model-view-controller</a:t>
            </a:r>
            <a:r>
              <a:rPr lang="zh-CN" altLang="en-US" sz="2400" dirty="0"/>
              <a:t>（三层架构或</a:t>
            </a:r>
            <a:r>
              <a:rPr lang="en-US" altLang="zh-CN" sz="2400" dirty="0"/>
              <a:t>MVC</a:t>
            </a:r>
            <a:r>
              <a:rPr lang="zh-CN" altLang="en-US" sz="2400" dirty="0"/>
              <a:t>设计模式：将应用程序</a:t>
            </a:r>
            <a:r>
              <a:rPr lang="zh-CN" altLang="en-US" sz="2400"/>
              <a:t>分成业务层、</a:t>
            </a:r>
            <a:r>
              <a:rPr lang="zh-CN" altLang="en-US" sz="2400" dirty="0"/>
              <a:t>视图层和数据层）</a:t>
            </a:r>
            <a:endParaRPr lang="en-GB" altLang="zh-CN" sz="2400" dirty="0"/>
          </a:p>
          <a:p>
            <a:pPr eaLnBrk="1" hangingPunct="1"/>
            <a:r>
              <a:rPr lang="en-GB" altLang="zh-CN" sz="2800" dirty="0"/>
              <a:t>Detailed design of each use case</a:t>
            </a:r>
            <a:r>
              <a:rPr lang="zh-CN" altLang="en-US" sz="2800" dirty="0"/>
              <a:t>（设计用例细节）</a:t>
            </a:r>
            <a:endParaRPr lang="en-GB" altLang="zh-CN" sz="2800" dirty="0"/>
          </a:p>
          <a:p>
            <a:pPr lvl="1" eaLnBrk="1" hangingPunct="1"/>
            <a:r>
              <a:rPr lang="en-GB" altLang="zh-CN" sz="2400" dirty="0"/>
              <a:t>Design class diagrams</a:t>
            </a:r>
            <a:r>
              <a:rPr lang="zh-CN" altLang="en-US" sz="2400" dirty="0"/>
              <a:t>（设计类图）</a:t>
            </a:r>
            <a:endParaRPr lang="en-GB" altLang="zh-CN" sz="2400" dirty="0"/>
          </a:p>
          <a:p>
            <a:pPr lvl="1" eaLnBrk="1" hangingPunct="1"/>
            <a:r>
              <a:rPr lang="en-GB" altLang="zh-CN" sz="2400" dirty="0"/>
              <a:t>Sequence diagrams</a:t>
            </a:r>
            <a:r>
              <a:rPr lang="zh-CN" altLang="en-US" sz="2400" dirty="0"/>
              <a:t>（顺序图）</a:t>
            </a:r>
            <a:endParaRPr lang="en-GB" altLang="zh-CN" sz="2400" dirty="0"/>
          </a:p>
          <a:p>
            <a:pPr lvl="1" eaLnBrk="1" hangingPunct="1"/>
            <a:r>
              <a:rPr lang="en-GB" altLang="zh-CN" sz="2400" dirty="0"/>
              <a:t>State machine diagrams</a:t>
            </a:r>
            <a:r>
              <a:rPr lang="zh-CN" altLang="en-US" sz="2400" dirty="0"/>
              <a:t>（状态机图）</a:t>
            </a:r>
            <a:endParaRPr lang="en-GB" altLang="zh-CN" sz="2400" dirty="0"/>
          </a:p>
        </p:txBody>
      </p:sp>
      <p:sp>
        <p:nvSpPr>
          <p:cNvPr id="15365" name="Footer Placeholder 4">
            <a:extLst>
              <a:ext uri="{FF2B5EF4-FFF2-40B4-BE49-F238E27FC236}">
                <a16:creationId xmlns:a16="http://schemas.microsoft.com/office/drawing/2014/main" id="{E5C11255-4A3B-4CA8-B9A7-BCDBF12B0B4E}"/>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15366" name="Rectangle 6">
            <a:extLst>
              <a:ext uri="{FF2B5EF4-FFF2-40B4-BE49-F238E27FC236}">
                <a16:creationId xmlns:a16="http://schemas.microsoft.com/office/drawing/2014/main" id="{02CD0F35-56C0-435C-9512-E4753118BC67}"/>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5">
            <a:extLst>
              <a:ext uri="{FF2B5EF4-FFF2-40B4-BE49-F238E27FC236}">
                <a16:creationId xmlns:a16="http://schemas.microsoft.com/office/drawing/2014/main" id="{FFFC18DA-BDFF-4FB2-88D2-47F397EDAFE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1EA16DA-3251-494A-895F-77223DF7CBAA}" type="slidenum">
              <a:rPr lang="en-US" altLang="en-US"/>
              <a:pPr eaLnBrk="1" hangingPunct="1"/>
              <a:t>43</a:t>
            </a:fld>
            <a:endParaRPr lang="en-US" altLang="en-US"/>
          </a:p>
        </p:txBody>
      </p:sp>
      <p:sp>
        <p:nvSpPr>
          <p:cNvPr id="16387" name="Rectangle 2">
            <a:extLst>
              <a:ext uri="{FF2B5EF4-FFF2-40B4-BE49-F238E27FC236}">
                <a16:creationId xmlns:a16="http://schemas.microsoft.com/office/drawing/2014/main" id="{1D24F6AF-0246-40C5-8DAA-FE238989E196}"/>
              </a:ext>
            </a:extLst>
          </p:cNvPr>
          <p:cNvSpPr>
            <a:spLocks noGrp="1" noChangeArrowheads="1"/>
          </p:cNvSpPr>
          <p:nvPr>
            <p:ph type="title"/>
          </p:nvPr>
        </p:nvSpPr>
        <p:spPr>
          <a:xfrm>
            <a:off x="152400" y="838200"/>
            <a:ext cx="2819400" cy="4419600"/>
          </a:xfrm>
        </p:spPr>
        <p:txBody>
          <a:bodyPr/>
          <a:lstStyle/>
          <a:p>
            <a:pPr eaLnBrk="1" hangingPunct="1"/>
            <a:r>
              <a:rPr lang="en-US" altLang="zh-CN" sz="2800" dirty="0">
                <a:ea typeface="宋体" panose="02010600030101010101" pitchFamily="2" charset="-122"/>
              </a:rPr>
              <a:t>Design Class Diagram </a:t>
            </a:r>
            <a:br>
              <a:rPr lang="en-US" altLang="zh-CN" sz="2800" dirty="0">
                <a:ea typeface="宋体" panose="02010600030101010101" pitchFamily="2" charset="-122"/>
              </a:rPr>
            </a:br>
            <a:br>
              <a:rPr lang="en-US" altLang="zh-CN" sz="2800" dirty="0">
                <a:ea typeface="宋体" panose="02010600030101010101" pitchFamily="2" charset="-122"/>
              </a:rPr>
            </a:br>
            <a:br>
              <a:rPr lang="en-US" altLang="zh-CN" sz="2800" dirty="0">
                <a:ea typeface="宋体" panose="02010600030101010101" pitchFamily="2" charset="-122"/>
              </a:rPr>
            </a:br>
            <a:r>
              <a:rPr lang="en-US" altLang="zh-CN" sz="2400" dirty="0">
                <a:ea typeface="宋体" panose="02010600030101010101" pitchFamily="2" charset="-122"/>
              </a:rPr>
              <a:t>Detail design for two use cases:</a:t>
            </a:r>
            <a:br>
              <a:rPr lang="en-US" altLang="zh-CN" sz="2400" dirty="0">
                <a:ea typeface="宋体" panose="02010600030101010101" pitchFamily="2" charset="-122"/>
              </a:rPr>
            </a:br>
            <a:r>
              <a:rPr lang="en-US" altLang="zh-CN" sz="2400" i="1" dirty="0">
                <a:ea typeface="宋体" panose="02010600030101010101" pitchFamily="2" charset="-122"/>
              </a:rPr>
              <a:t>Process New Sale</a:t>
            </a:r>
            <a:br>
              <a:rPr lang="en-US" altLang="zh-CN" sz="2400" i="1" dirty="0">
                <a:ea typeface="宋体" panose="02010600030101010101" pitchFamily="2" charset="-122"/>
              </a:rPr>
            </a:br>
            <a:r>
              <a:rPr lang="zh-CN" altLang="en-US" sz="2400" i="1" dirty="0">
                <a:ea typeface="宋体" panose="02010600030101010101" pitchFamily="2" charset="-122"/>
              </a:rPr>
              <a:t>（处理新订单）</a:t>
            </a:r>
            <a:br>
              <a:rPr lang="en-US" altLang="zh-CN" sz="2400" dirty="0">
                <a:ea typeface="宋体" panose="02010600030101010101" pitchFamily="2" charset="-122"/>
              </a:rPr>
            </a:br>
            <a:r>
              <a:rPr lang="en-US" altLang="zh-CN" sz="2400" i="1" dirty="0">
                <a:ea typeface="宋体" panose="02010600030101010101" pitchFamily="2" charset="-122"/>
              </a:rPr>
              <a:t>Make payment</a:t>
            </a:r>
            <a:br>
              <a:rPr lang="en-US" altLang="zh-CN" sz="2400" i="1" dirty="0">
                <a:ea typeface="宋体" panose="02010600030101010101" pitchFamily="2" charset="-122"/>
              </a:rPr>
            </a:br>
            <a:r>
              <a:rPr lang="zh-CN" altLang="en-US" sz="2400" i="1" dirty="0">
                <a:ea typeface="宋体" panose="02010600030101010101" pitchFamily="2" charset="-122"/>
              </a:rPr>
              <a:t>（付款）</a:t>
            </a:r>
            <a:endParaRPr lang="en-US" altLang="zh-CN" sz="2400" i="1" dirty="0">
              <a:ea typeface="宋体" panose="02010600030101010101" pitchFamily="2" charset="-122"/>
            </a:endParaRPr>
          </a:p>
        </p:txBody>
      </p:sp>
      <p:pic>
        <p:nvPicPr>
          <p:cNvPr id="16388" name="Picture 4">
            <a:extLst>
              <a:ext uri="{FF2B5EF4-FFF2-40B4-BE49-F238E27FC236}">
                <a16:creationId xmlns:a16="http://schemas.microsoft.com/office/drawing/2014/main" id="{83ACF889-3178-4D6B-85B1-AA451B9E7B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17838" y="228600"/>
            <a:ext cx="5699125" cy="601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9" name="Footer Placeholder 4">
            <a:extLst>
              <a:ext uri="{FF2B5EF4-FFF2-40B4-BE49-F238E27FC236}">
                <a16:creationId xmlns:a16="http://schemas.microsoft.com/office/drawing/2014/main" id="{F83DFFCD-2DDC-44CF-AC2D-A2D3AD573094}"/>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16390" name="Rectangle 6">
            <a:extLst>
              <a:ext uri="{FF2B5EF4-FFF2-40B4-BE49-F238E27FC236}">
                <a16:creationId xmlns:a16="http://schemas.microsoft.com/office/drawing/2014/main" id="{D075ECEE-A871-4057-A9F3-C8BD63EFA425}"/>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 name="矩形 1">
            <a:extLst>
              <a:ext uri="{FF2B5EF4-FFF2-40B4-BE49-F238E27FC236}">
                <a16:creationId xmlns:a16="http://schemas.microsoft.com/office/drawing/2014/main" id="{4304EF8A-D56B-4306-9B54-F73ECD61A2A5}"/>
              </a:ext>
            </a:extLst>
          </p:cNvPr>
          <p:cNvSpPr/>
          <p:nvPr/>
        </p:nvSpPr>
        <p:spPr>
          <a:xfrm>
            <a:off x="3017838" y="228600"/>
            <a:ext cx="1706562" cy="15240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6">
            <a:extLst>
              <a:ext uri="{FF2B5EF4-FFF2-40B4-BE49-F238E27FC236}">
                <a16:creationId xmlns:a16="http://schemas.microsoft.com/office/drawing/2014/main" id="{98A82DBC-6CFE-44D2-89AD-58FE55D5CE9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37D4CAE-C26B-436D-95E6-A114D84BA442}" type="slidenum">
              <a:rPr lang="en-US" altLang="en-US"/>
              <a:pPr eaLnBrk="1" hangingPunct="1"/>
              <a:t>44</a:t>
            </a:fld>
            <a:endParaRPr lang="en-US" altLang="en-US"/>
          </a:p>
        </p:txBody>
      </p:sp>
      <p:sp>
        <p:nvSpPr>
          <p:cNvPr id="18435" name="Rectangle 2">
            <a:extLst>
              <a:ext uri="{FF2B5EF4-FFF2-40B4-BE49-F238E27FC236}">
                <a16:creationId xmlns:a16="http://schemas.microsoft.com/office/drawing/2014/main" id="{FC14A194-FF9F-43C8-A3C0-7F54B56CD783}"/>
              </a:ext>
            </a:extLst>
          </p:cNvPr>
          <p:cNvSpPr>
            <a:spLocks noGrp="1" noChangeArrowheads="1"/>
          </p:cNvSpPr>
          <p:nvPr>
            <p:ph type="title"/>
          </p:nvPr>
        </p:nvSpPr>
        <p:spPr>
          <a:xfrm>
            <a:off x="457200" y="122238"/>
            <a:ext cx="7543800" cy="1020762"/>
          </a:xfrm>
        </p:spPr>
        <p:txBody>
          <a:bodyPr/>
          <a:lstStyle/>
          <a:p>
            <a:pPr eaLnBrk="1" hangingPunct="1"/>
            <a:r>
              <a:rPr lang="en-US" altLang="zh-CN" sz="3600" dirty="0">
                <a:ea typeface="宋体" panose="02010600030101010101" pitchFamily="2" charset="-122"/>
              </a:rPr>
              <a:t>Design Activities</a:t>
            </a:r>
            <a:r>
              <a:rPr lang="en-US" altLang="zh-CN" sz="3200" dirty="0">
                <a:ea typeface="宋体" panose="02010600030101010101" pitchFamily="2" charset="-122"/>
              </a:rPr>
              <a:t>:</a:t>
            </a:r>
            <a:br>
              <a:rPr lang="en-US" altLang="zh-CN" sz="3200" dirty="0">
                <a:ea typeface="宋体" panose="02010600030101010101" pitchFamily="2" charset="-122"/>
              </a:rPr>
            </a:br>
            <a:r>
              <a:rPr lang="en-US" altLang="zh-CN" sz="2800" dirty="0">
                <a:ea typeface="宋体" panose="02010600030101010101" pitchFamily="2" charset="-122"/>
              </a:rPr>
              <a:t>Design the system interfaces</a:t>
            </a:r>
            <a:r>
              <a:rPr lang="zh-CN" altLang="en-US" sz="2800" dirty="0">
                <a:ea typeface="宋体" panose="02010600030101010101" pitchFamily="2" charset="-122"/>
              </a:rPr>
              <a:t>设计系统界面</a:t>
            </a:r>
            <a:endParaRPr lang="en-US" altLang="zh-CN" sz="2800" dirty="0">
              <a:ea typeface="宋体" panose="02010600030101010101" pitchFamily="2" charset="-122"/>
            </a:endParaRPr>
          </a:p>
        </p:txBody>
      </p:sp>
      <p:sp>
        <p:nvSpPr>
          <p:cNvPr id="18436" name="Rectangle 3">
            <a:extLst>
              <a:ext uri="{FF2B5EF4-FFF2-40B4-BE49-F238E27FC236}">
                <a16:creationId xmlns:a16="http://schemas.microsoft.com/office/drawing/2014/main" id="{0157D9F0-6935-4491-BACB-71F1B284537B}"/>
              </a:ext>
            </a:extLst>
          </p:cNvPr>
          <p:cNvSpPr>
            <a:spLocks noGrp="1" noChangeArrowheads="1"/>
          </p:cNvSpPr>
          <p:nvPr>
            <p:ph type="body" sz="half" idx="1"/>
          </p:nvPr>
        </p:nvSpPr>
        <p:spPr>
          <a:xfrm>
            <a:off x="457200" y="1371600"/>
            <a:ext cx="8534400" cy="4800600"/>
          </a:xfrm>
        </p:spPr>
        <p:txBody>
          <a:bodyPr/>
          <a:lstStyle/>
          <a:p>
            <a:pPr eaLnBrk="1" hangingPunct="1"/>
            <a:r>
              <a:rPr lang="en-GB" altLang="zh-CN" sz="2800" dirty="0"/>
              <a:t>Information system interacts with many other systems, internal and external</a:t>
            </a:r>
            <a:r>
              <a:rPr lang="zh-CN" altLang="en-US" sz="2800" dirty="0"/>
              <a:t>（信息系统与内部和外部的许多其他系统相互作用）</a:t>
            </a:r>
            <a:endParaRPr lang="en-GB" altLang="zh-CN" sz="2800" dirty="0"/>
          </a:p>
          <a:p>
            <a:pPr eaLnBrk="1" hangingPunct="1"/>
            <a:r>
              <a:rPr lang="en-GB" altLang="zh-CN" sz="2800" dirty="0"/>
              <a:t>System interfaces connect with other systems in many different ways</a:t>
            </a:r>
            <a:r>
              <a:rPr lang="zh-CN" altLang="en-US" sz="2800" dirty="0"/>
              <a:t>（系统接口以许多不同的方式与其他系统连接）</a:t>
            </a:r>
            <a:endParaRPr lang="en-GB" altLang="zh-CN" sz="2800" dirty="0"/>
          </a:p>
          <a:p>
            <a:pPr lvl="1" eaLnBrk="1" hangingPunct="1"/>
            <a:r>
              <a:rPr lang="en-GB" altLang="zh-CN" sz="2400" dirty="0"/>
              <a:t>Save data another system uses</a:t>
            </a:r>
            <a:r>
              <a:rPr lang="zh-CN" altLang="en-US" sz="2400" dirty="0"/>
              <a:t>（保存其他系统使用的数据）</a:t>
            </a:r>
            <a:endParaRPr lang="en-GB" altLang="zh-CN" sz="2400" dirty="0"/>
          </a:p>
          <a:p>
            <a:pPr lvl="1" eaLnBrk="1" hangingPunct="1"/>
            <a:r>
              <a:rPr lang="en-GB" altLang="zh-CN" sz="2400" dirty="0"/>
              <a:t>Read data another system saved</a:t>
            </a:r>
            <a:r>
              <a:rPr lang="zh-CN" altLang="en-US" sz="2400" dirty="0"/>
              <a:t>（读取其他系统保存的数据）</a:t>
            </a:r>
            <a:endParaRPr lang="en-GB" altLang="zh-CN" sz="2400" dirty="0"/>
          </a:p>
          <a:p>
            <a:pPr lvl="1" eaLnBrk="1" hangingPunct="1"/>
            <a:r>
              <a:rPr lang="en-GB" altLang="zh-CN" sz="2400" dirty="0"/>
              <a:t>Real time request for information</a:t>
            </a:r>
            <a:r>
              <a:rPr lang="zh-CN" altLang="en-US" sz="2400" dirty="0"/>
              <a:t>（实时请求信息）</a:t>
            </a:r>
            <a:endParaRPr lang="en-GB" altLang="zh-CN" sz="2400" dirty="0"/>
          </a:p>
          <a:p>
            <a:pPr lvl="1" eaLnBrk="1" hangingPunct="1"/>
            <a:endParaRPr lang="en-GB" altLang="zh-CN" sz="2400" dirty="0"/>
          </a:p>
        </p:txBody>
      </p:sp>
      <p:sp>
        <p:nvSpPr>
          <p:cNvPr id="18437" name="Footer Placeholder 4">
            <a:extLst>
              <a:ext uri="{FF2B5EF4-FFF2-40B4-BE49-F238E27FC236}">
                <a16:creationId xmlns:a16="http://schemas.microsoft.com/office/drawing/2014/main" id="{8ADEDAB9-F62D-4EB5-8AB2-B7B5E60B8FC0}"/>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18438" name="Rectangle 6">
            <a:extLst>
              <a:ext uri="{FF2B5EF4-FFF2-40B4-BE49-F238E27FC236}">
                <a16:creationId xmlns:a16="http://schemas.microsoft.com/office/drawing/2014/main" id="{87FE286C-7ADB-4476-B747-9FA456DF9BD8}"/>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436">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436">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8436">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43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6">
            <a:extLst>
              <a:ext uri="{FF2B5EF4-FFF2-40B4-BE49-F238E27FC236}">
                <a16:creationId xmlns:a16="http://schemas.microsoft.com/office/drawing/2014/main" id="{5C2FC97B-5174-426A-BEB6-ECE724EA454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E901ADD-B4A0-43DC-8799-0F510C4E8232}" type="slidenum">
              <a:rPr lang="en-US" altLang="en-US"/>
              <a:pPr eaLnBrk="1" hangingPunct="1"/>
              <a:t>45</a:t>
            </a:fld>
            <a:endParaRPr lang="en-US" altLang="en-US"/>
          </a:p>
        </p:txBody>
      </p:sp>
      <p:sp>
        <p:nvSpPr>
          <p:cNvPr id="19459" name="Rectangle 2">
            <a:extLst>
              <a:ext uri="{FF2B5EF4-FFF2-40B4-BE49-F238E27FC236}">
                <a16:creationId xmlns:a16="http://schemas.microsoft.com/office/drawing/2014/main" id="{06BB761A-2CDD-4D38-8B4F-51EFC4987D67}"/>
              </a:ext>
            </a:extLst>
          </p:cNvPr>
          <p:cNvSpPr>
            <a:spLocks noGrp="1" noChangeArrowheads="1"/>
          </p:cNvSpPr>
          <p:nvPr>
            <p:ph type="title"/>
          </p:nvPr>
        </p:nvSpPr>
        <p:spPr>
          <a:xfrm>
            <a:off x="457200" y="122238"/>
            <a:ext cx="7543800" cy="1020762"/>
          </a:xfrm>
        </p:spPr>
        <p:txBody>
          <a:bodyPr/>
          <a:lstStyle/>
          <a:p>
            <a:pPr eaLnBrk="1" hangingPunct="1"/>
            <a:r>
              <a:rPr lang="en-GB" altLang="zh-CN" sz="3200" dirty="0"/>
              <a:t>System to system interface</a:t>
            </a:r>
            <a:br>
              <a:rPr lang="en-GB" altLang="zh-CN" sz="3200" dirty="0"/>
            </a:br>
            <a:r>
              <a:rPr lang="en-GB" altLang="zh-CN" sz="3200" dirty="0"/>
              <a:t>using XML</a:t>
            </a:r>
            <a:endParaRPr lang="en-US" altLang="zh-CN" sz="3200" dirty="0">
              <a:ea typeface="宋体" panose="02010600030101010101" pitchFamily="2" charset="-122"/>
            </a:endParaRPr>
          </a:p>
        </p:txBody>
      </p:sp>
      <p:pic>
        <p:nvPicPr>
          <p:cNvPr id="19460" name="Picture 4">
            <a:extLst>
              <a:ext uri="{FF2B5EF4-FFF2-40B4-BE49-F238E27FC236}">
                <a16:creationId xmlns:a16="http://schemas.microsoft.com/office/drawing/2014/main" id="{54905728-EE0B-4A76-BF6D-9A6D2CEF44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193800"/>
            <a:ext cx="8229600" cy="5116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1" name="Footer Placeholder 4">
            <a:extLst>
              <a:ext uri="{FF2B5EF4-FFF2-40B4-BE49-F238E27FC236}">
                <a16:creationId xmlns:a16="http://schemas.microsoft.com/office/drawing/2014/main" id="{37087CEF-34FC-4962-8F61-D757ACD31E84}"/>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19462" name="Rectangle 6">
            <a:extLst>
              <a:ext uri="{FF2B5EF4-FFF2-40B4-BE49-F238E27FC236}">
                <a16:creationId xmlns:a16="http://schemas.microsoft.com/office/drawing/2014/main" id="{8FDF92DE-6B02-4219-AF33-31AAD3C6361A}"/>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6">
            <a:extLst>
              <a:ext uri="{FF2B5EF4-FFF2-40B4-BE49-F238E27FC236}">
                <a16:creationId xmlns:a16="http://schemas.microsoft.com/office/drawing/2014/main" id="{8E0C5148-63F3-4222-A84D-4441FBE6849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C73FE6B-2D7C-481A-8F93-E7BD4E1712B9}" type="slidenum">
              <a:rPr lang="en-US" altLang="en-US"/>
              <a:pPr eaLnBrk="1" hangingPunct="1"/>
              <a:t>46</a:t>
            </a:fld>
            <a:endParaRPr lang="en-US" altLang="en-US"/>
          </a:p>
        </p:txBody>
      </p:sp>
      <p:sp>
        <p:nvSpPr>
          <p:cNvPr id="17411" name="Rectangle 2">
            <a:extLst>
              <a:ext uri="{FF2B5EF4-FFF2-40B4-BE49-F238E27FC236}">
                <a16:creationId xmlns:a16="http://schemas.microsoft.com/office/drawing/2014/main" id="{90569B63-33DA-4A91-8930-CFF64912F6E1}"/>
              </a:ext>
            </a:extLst>
          </p:cNvPr>
          <p:cNvSpPr>
            <a:spLocks noGrp="1" noChangeArrowheads="1"/>
          </p:cNvSpPr>
          <p:nvPr>
            <p:ph type="title"/>
          </p:nvPr>
        </p:nvSpPr>
        <p:spPr>
          <a:xfrm>
            <a:off x="457200" y="55331"/>
            <a:ext cx="7543800" cy="1020762"/>
          </a:xfrm>
        </p:spPr>
        <p:txBody>
          <a:bodyPr/>
          <a:lstStyle/>
          <a:p>
            <a:pPr eaLnBrk="1" hangingPunct="1"/>
            <a:r>
              <a:rPr lang="en-US" altLang="zh-CN" sz="3600" dirty="0">
                <a:ea typeface="宋体" panose="02010600030101010101" pitchFamily="2" charset="-122"/>
              </a:rPr>
              <a:t>Design Activities</a:t>
            </a:r>
            <a:r>
              <a:rPr lang="en-US" altLang="zh-CN" sz="3200" dirty="0">
                <a:ea typeface="宋体" panose="02010600030101010101" pitchFamily="2" charset="-122"/>
              </a:rPr>
              <a:t>:</a:t>
            </a:r>
            <a:r>
              <a:rPr lang="zh-CN" altLang="en-US" sz="3200" dirty="0">
                <a:ea typeface="宋体" panose="02010600030101010101" pitchFamily="2" charset="-122"/>
              </a:rPr>
              <a:t>设计活动</a:t>
            </a:r>
            <a:br>
              <a:rPr lang="en-US" altLang="zh-CN" sz="3200" dirty="0">
                <a:ea typeface="宋体" panose="02010600030101010101" pitchFamily="2" charset="-122"/>
              </a:rPr>
            </a:br>
            <a:r>
              <a:rPr lang="en-US" altLang="zh-CN" sz="2800" dirty="0">
                <a:ea typeface="宋体" panose="02010600030101010101" pitchFamily="2" charset="-122"/>
              </a:rPr>
              <a:t>Design the user interfaces</a:t>
            </a:r>
            <a:r>
              <a:rPr lang="zh-CN" altLang="en-US" sz="2800" dirty="0">
                <a:ea typeface="宋体" panose="02010600030101010101" pitchFamily="2" charset="-122"/>
              </a:rPr>
              <a:t>设计用户界面</a:t>
            </a:r>
            <a:endParaRPr lang="en-US" altLang="zh-CN" sz="2800" dirty="0">
              <a:ea typeface="宋体" panose="02010600030101010101" pitchFamily="2" charset="-122"/>
            </a:endParaRPr>
          </a:p>
        </p:txBody>
      </p:sp>
      <p:sp>
        <p:nvSpPr>
          <p:cNvPr id="17412" name="Rectangle 3">
            <a:extLst>
              <a:ext uri="{FF2B5EF4-FFF2-40B4-BE49-F238E27FC236}">
                <a16:creationId xmlns:a16="http://schemas.microsoft.com/office/drawing/2014/main" id="{F0E7AA26-EAE4-44E5-B518-855C12283B00}"/>
              </a:ext>
            </a:extLst>
          </p:cNvPr>
          <p:cNvSpPr>
            <a:spLocks noGrp="1" noChangeArrowheads="1"/>
          </p:cNvSpPr>
          <p:nvPr>
            <p:ph type="body" sz="half" idx="1"/>
          </p:nvPr>
        </p:nvSpPr>
        <p:spPr>
          <a:xfrm>
            <a:off x="457200" y="1371600"/>
            <a:ext cx="8001000" cy="4800600"/>
          </a:xfrm>
        </p:spPr>
        <p:txBody>
          <a:bodyPr/>
          <a:lstStyle/>
          <a:p>
            <a:pPr eaLnBrk="1" hangingPunct="1"/>
            <a:r>
              <a:rPr lang="en-GB" altLang="zh-CN" sz="2800" dirty="0"/>
              <a:t>Dialog design begins with requirements</a:t>
            </a:r>
            <a:r>
              <a:rPr lang="zh-CN" altLang="en-US" sz="2800" dirty="0"/>
              <a:t>（根据需求设计对话框）</a:t>
            </a:r>
            <a:endParaRPr lang="en-GB" altLang="zh-CN" sz="2800" dirty="0"/>
          </a:p>
          <a:p>
            <a:pPr lvl="1" eaLnBrk="1" hangingPunct="1"/>
            <a:r>
              <a:rPr lang="en-GB" altLang="zh-CN" sz="2400" dirty="0"/>
              <a:t>Use case flow of activities</a:t>
            </a:r>
            <a:r>
              <a:rPr lang="zh-CN" altLang="en-US" sz="2400" dirty="0"/>
              <a:t>（活动的用例流）</a:t>
            </a:r>
            <a:endParaRPr lang="en-GB" altLang="zh-CN" sz="2400" dirty="0"/>
          </a:p>
          <a:p>
            <a:pPr lvl="1" eaLnBrk="1" hangingPunct="1"/>
            <a:r>
              <a:rPr lang="en-GB" altLang="zh-CN" sz="2400" dirty="0"/>
              <a:t>System sequenced diagram</a:t>
            </a:r>
            <a:r>
              <a:rPr lang="zh-CN" altLang="en-US" sz="2400" dirty="0"/>
              <a:t>（系统顺序图）</a:t>
            </a:r>
            <a:endParaRPr lang="en-GB" altLang="zh-CN" sz="2400" dirty="0"/>
          </a:p>
          <a:p>
            <a:pPr eaLnBrk="1" hangingPunct="1"/>
            <a:r>
              <a:rPr lang="en-GB" altLang="zh-CN" sz="2800" dirty="0"/>
              <a:t>Design adds in screen layout, look and feel, navigation, user experience</a:t>
            </a:r>
            <a:r>
              <a:rPr lang="zh-CN" altLang="en-US" sz="2800" dirty="0"/>
              <a:t>（设计增加了屏幕布局、外观和感觉、导航和用户体验）</a:t>
            </a:r>
            <a:endParaRPr lang="en-GB" altLang="zh-CN" sz="2800" dirty="0"/>
          </a:p>
          <a:p>
            <a:pPr eaLnBrk="1" hangingPunct="1"/>
            <a:r>
              <a:rPr lang="en-GB" altLang="zh-CN" sz="2800" dirty="0"/>
              <a:t>Now we require interface design for many different environment and devices</a:t>
            </a:r>
            <a:r>
              <a:rPr lang="zh-CN" altLang="en-US" sz="2800" dirty="0"/>
              <a:t>（许多不同的环境和设备设计界面）</a:t>
            </a:r>
            <a:endParaRPr lang="en-GB" altLang="zh-CN" sz="2800" dirty="0"/>
          </a:p>
          <a:p>
            <a:pPr lvl="1" eaLnBrk="1" hangingPunct="1"/>
            <a:r>
              <a:rPr lang="en-GB" altLang="zh-CN" sz="2400" dirty="0"/>
              <a:t>Smart phone</a:t>
            </a:r>
            <a:r>
              <a:rPr lang="zh-CN" altLang="en-US" sz="2400" dirty="0"/>
              <a:t>，</a:t>
            </a:r>
            <a:r>
              <a:rPr lang="en-GB" altLang="zh-CN" sz="2400" dirty="0"/>
              <a:t>Notebooks, tablets, iPads</a:t>
            </a:r>
          </a:p>
          <a:p>
            <a:pPr marL="344487" lvl="1" indent="0" eaLnBrk="1" hangingPunct="1">
              <a:buNone/>
            </a:pPr>
            <a:endParaRPr lang="en-GB" altLang="zh-CN" sz="2400" dirty="0"/>
          </a:p>
        </p:txBody>
      </p:sp>
      <p:sp>
        <p:nvSpPr>
          <p:cNvPr id="17413" name="Footer Placeholder 4">
            <a:extLst>
              <a:ext uri="{FF2B5EF4-FFF2-40B4-BE49-F238E27FC236}">
                <a16:creationId xmlns:a16="http://schemas.microsoft.com/office/drawing/2014/main" id="{CC0D7119-4A43-4905-A8F8-B16A3C8D608D}"/>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412">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412">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741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6">
            <a:extLst>
              <a:ext uri="{FF2B5EF4-FFF2-40B4-BE49-F238E27FC236}">
                <a16:creationId xmlns:a16="http://schemas.microsoft.com/office/drawing/2014/main" id="{1927A710-B3E9-43E8-9F3E-829E8173EBE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365085B-76BE-414D-B9DA-45C48D6FBAE6}" type="slidenum">
              <a:rPr lang="en-US" altLang="en-US"/>
              <a:pPr eaLnBrk="1" hangingPunct="1"/>
              <a:t>47</a:t>
            </a:fld>
            <a:endParaRPr lang="en-US" altLang="en-US"/>
          </a:p>
        </p:txBody>
      </p:sp>
      <p:sp>
        <p:nvSpPr>
          <p:cNvPr id="20483" name="Rectangle 2">
            <a:extLst>
              <a:ext uri="{FF2B5EF4-FFF2-40B4-BE49-F238E27FC236}">
                <a16:creationId xmlns:a16="http://schemas.microsoft.com/office/drawing/2014/main" id="{6DCBE84C-3941-4C96-AD8A-42B5E806FCE8}"/>
              </a:ext>
            </a:extLst>
          </p:cNvPr>
          <p:cNvSpPr>
            <a:spLocks noGrp="1" noChangeArrowheads="1"/>
          </p:cNvSpPr>
          <p:nvPr>
            <p:ph type="title"/>
          </p:nvPr>
        </p:nvSpPr>
        <p:spPr>
          <a:xfrm>
            <a:off x="457200" y="122238"/>
            <a:ext cx="7543800" cy="1020762"/>
          </a:xfrm>
        </p:spPr>
        <p:txBody>
          <a:bodyPr/>
          <a:lstStyle/>
          <a:p>
            <a:pPr eaLnBrk="1" hangingPunct="1"/>
            <a:r>
              <a:rPr lang="en-US" altLang="zh-CN" sz="3600" dirty="0">
                <a:ea typeface="宋体" panose="02010600030101010101" pitchFamily="2" charset="-122"/>
              </a:rPr>
              <a:t>Design Activities:</a:t>
            </a:r>
            <a:br>
              <a:rPr lang="en-US" altLang="zh-CN" sz="3200" dirty="0">
                <a:ea typeface="宋体" panose="02010600030101010101" pitchFamily="2" charset="-122"/>
              </a:rPr>
            </a:br>
            <a:r>
              <a:rPr lang="en-US" altLang="zh-CN" sz="2800" dirty="0">
                <a:ea typeface="宋体" panose="02010600030101010101" pitchFamily="2" charset="-122"/>
              </a:rPr>
              <a:t>Design the database</a:t>
            </a:r>
            <a:r>
              <a:rPr lang="zh-CN" altLang="en-US" sz="2800" dirty="0">
                <a:ea typeface="宋体" panose="02010600030101010101" pitchFamily="2" charset="-122"/>
              </a:rPr>
              <a:t>设计数据库</a:t>
            </a:r>
            <a:endParaRPr lang="en-US" altLang="zh-CN" sz="2800" dirty="0">
              <a:ea typeface="宋体" panose="02010600030101010101" pitchFamily="2" charset="-122"/>
            </a:endParaRPr>
          </a:p>
        </p:txBody>
      </p:sp>
      <p:sp>
        <p:nvSpPr>
          <p:cNvPr id="20484" name="Rectangle 3">
            <a:extLst>
              <a:ext uri="{FF2B5EF4-FFF2-40B4-BE49-F238E27FC236}">
                <a16:creationId xmlns:a16="http://schemas.microsoft.com/office/drawing/2014/main" id="{AA77FE2F-EB07-4D9E-9825-9C467D2FDCBC}"/>
              </a:ext>
            </a:extLst>
          </p:cNvPr>
          <p:cNvSpPr>
            <a:spLocks noGrp="1" noChangeArrowheads="1"/>
          </p:cNvSpPr>
          <p:nvPr>
            <p:ph type="body" sz="half" idx="1"/>
          </p:nvPr>
        </p:nvSpPr>
        <p:spPr>
          <a:xfrm>
            <a:off x="457200" y="1371600"/>
            <a:ext cx="8686800" cy="4800600"/>
          </a:xfrm>
        </p:spPr>
        <p:txBody>
          <a:bodyPr/>
          <a:lstStyle/>
          <a:p>
            <a:pPr eaLnBrk="1" hangingPunct="1"/>
            <a:r>
              <a:rPr lang="en-GB" altLang="zh-CN" sz="2800" dirty="0"/>
              <a:t>Starting with the domain model class diagram (or ERD)</a:t>
            </a:r>
            <a:r>
              <a:rPr lang="zh-CN" altLang="en-US" sz="2800" dirty="0"/>
              <a:t>（从域模型类图开始）</a:t>
            </a:r>
            <a:endParaRPr lang="en-GB" altLang="zh-CN" sz="2800" dirty="0"/>
          </a:p>
          <a:p>
            <a:pPr eaLnBrk="1" hangingPunct="1"/>
            <a:r>
              <a:rPr lang="en-GB" altLang="zh-CN" sz="2800" dirty="0"/>
              <a:t>Choose database structure</a:t>
            </a:r>
            <a:r>
              <a:rPr lang="zh-CN" altLang="en-US" sz="2800" dirty="0"/>
              <a:t>（选择数据库结构）</a:t>
            </a:r>
            <a:endParaRPr lang="en-GB" altLang="zh-CN" sz="2800" dirty="0"/>
          </a:p>
          <a:p>
            <a:pPr lvl="1" eaLnBrk="1" hangingPunct="1"/>
            <a:r>
              <a:rPr lang="en-GB" altLang="zh-CN" sz="2400" dirty="0"/>
              <a:t>Usually relational database </a:t>
            </a:r>
            <a:r>
              <a:rPr lang="zh-CN" altLang="en-US" sz="2400" dirty="0"/>
              <a:t>（</a:t>
            </a:r>
            <a:r>
              <a:rPr lang="en-US" altLang="zh-CN" sz="2400" dirty="0"/>
              <a:t>Oracle, </a:t>
            </a:r>
            <a:r>
              <a:rPr lang="en-US" altLang="zh-CN" sz="2400" dirty="0" err="1"/>
              <a:t>mysql</a:t>
            </a:r>
            <a:r>
              <a:rPr lang="zh-CN" altLang="en-US" sz="2400" dirty="0"/>
              <a:t>）</a:t>
            </a:r>
            <a:endParaRPr lang="en-GB" altLang="zh-CN" sz="2400" dirty="0"/>
          </a:p>
          <a:p>
            <a:pPr lvl="1" eaLnBrk="1" hangingPunct="1"/>
            <a:r>
              <a:rPr lang="en-GB" altLang="zh-CN" sz="2400" dirty="0"/>
              <a:t>Could be ODBMS (Open Database Management System) framework</a:t>
            </a:r>
          </a:p>
          <a:p>
            <a:pPr eaLnBrk="1" hangingPunct="1"/>
            <a:r>
              <a:rPr lang="en-GB" altLang="zh-CN" sz="2800" dirty="0"/>
              <a:t>Design architecture (distributed, etc.)</a:t>
            </a:r>
            <a:r>
              <a:rPr lang="zh-CN" altLang="en-US" sz="2800" dirty="0"/>
              <a:t>（设计数据库架构，分布式还是集中式）</a:t>
            </a:r>
            <a:endParaRPr lang="en-GB" altLang="zh-CN" sz="2800" dirty="0"/>
          </a:p>
        </p:txBody>
      </p:sp>
      <p:sp>
        <p:nvSpPr>
          <p:cNvPr id="20486" name="Rectangle 6">
            <a:extLst>
              <a:ext uri="{FF2B5EF4-FFF2-40B4-BE49-F238E27FC236}">
                <a16:creationId xmlns:a16="http://schemas.microsoft.com/office/drawing/2014/main" id="{A0DEC4A7-DA1B-4702-B0E7-297A5B89A343}"/>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6">
            <a:extLst>
              <a:ext uri="{FF2B5EF4-FFF2-40B4-BE49-F238E27FC236}">
                <a16:creationId xmlns:a16="http://schemas.microsoft.com/office/drawing/2014/main" id="{1927A710-B3E9-43E8-9F3E-829E8173EBE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365085B-76BE-414D-B9DA-45C48D6FBAE6}" type="slidenum">
              <a:rPr lang="en-US" altLang="en-US"/>
              <a:pPr eaLnBrk="1" hangingPunct="1"/>
              <a:t>48</a:t>
            </a:fld>
            <a:endParaRPr lang="en-US" altLang="en-US"/>
          </a:p>
        </p:txBody>
      </p:sp>
      <p:sp>
        <p:nvSpPr>
          <p:cNvPr id="20483" name="Rectangle 2">
            <a:extLst>
              <a:ext uri="{FF2B5EF4-FFF2-40B4-BE49-F238E27FC236}">
                <a16:creationId xmlns:a16="http://schemas.microsoft.com/office/drawing/2014/main" id="{6DCBE84C-3941-4C96-AD8A-42B5E806FCE8}"/>
              </a:ext>
            </a:extLst>
          </p:cNvPr>
          <p:cNvSpPr>
            <a:spLocks noGrp="1" noChangeArrowheads="1"/>
          </p:cNvSpPr>
          <p:nvPr>
            <p:ph type="title"/>
          </p:nvPr>
        </p:nvSpPr>
        <p:spPr>
          <a:xfrm>
            <a:off x="457200" y="122238"/>
            <a:ext cx="7543800" cy="1020762"/>
          </a:xfrm>
        </p:spPr>
        <p:txBody>
          <a:bodyPr/>
          <a:lstStyle/>
          <a:p>
            <a:pPr eaLnBrk="1" hangingPunct="1"/>
            <a:r>
              <a:rPr lang="en-US" altLang="zh-CN" sz="3600" dirty="0">
                <a:ea typeface="宋体" panose="02010600030101010101" pitchFamily="2" charset="-122"/>
              </a:rPr>
              <a:t>Design Activities:</a:t>
            </a:r>
            <a:br>
              <a:rPr lang="en-US" altLang="zh-CN" sz="3200" dirty="0">
                <a:ea typeface="宋体" panose="02010600030101010101" pitchFamily="2" charset="-122"/>
              </a:rPr>
            </a:br>
            <a:r>
              <a:rPr lang="en-US" altLang="zh-CN" sz="2800" dirty="0">
                <a:ea typeface="宋体" panose="02010600030101010101" pitchFamily="2" charset="-122"/>
              </a:rPr>
              <a:t>Design the database</a:t>
            </a:r>
            <a:r>
              <a:rPr lang="zh-CN" altLang="en-US" sz="2800" dirty="0">
                <a:ea typeface="宋体" panose="02010600030101010101" pitchFamily="2" charset="-122"/>
              </a:rPr>
              <a:t>设计数据库</a:t>
            </a:r>
            <a:endParaRPr lang="en-US" altLang="zh-CN" sz="2800" dirty="0">
              <a:ea typeface="宋体" panose="02010600030101010101" pitchFamily="2" charset="-122"/>
            </a:endParaRPr>
          </a:p>
        </p:txBody>
      </p:sp>
      <p:sp>
        <p:nvSpPr>
          <p:cNvPr id="20484" name="Rectangle 3">
            <a:extLst>
              <a:ext uri="{FF2B5EF4-FFF2-40B4-BE49-F238E27FC236}">
                <a16:creationId xmlns:a16="http://schemas.microsoft.com/office/drawing/2014/main" id="{AA77FE2F-EB07-4D9E-9825-9C467D2FDCBC}"/>
              </a:ext>
            </a:extLst>
          </p:cNvPr>
          <p:cNvSpPr>
            <a:spLocks noGrp="1" noChangeArrowheads="1"/>
          </p:cNvSpPr>
          <p:nvPr>
            <p:ph type="body" sz="half" idx="1"/>
          </p:nvPr>
        </p:nvSpPr>
        <p:spPr>
          <a:xfrm>
            <a:off x="457200" y="1371600"/>
            <a:ext cx="8686800" cy="4800600"/>
          </a:xfrm>
        </p:spPr>
        <p:txBody>
          <a:bodyPr/>
          <a:lstStyle/>
          <a:p>
            <a:pPr eaLnBrk="1" hangingPunct="1"/>
            <a:r>
              <a:rPr lang="en-GB" altLang="zh-CN" sz="2800" dirty="0"/>
              <a:t>Design database schema</a:t>
            </a:r>
            <a:r>
              <a:rPr lang="zh-CN" altLang="en-US" sz="2800" dirty="0"/>
              <a:t>（设计数据库模式）</a:t>
            </a:r>
            <a:endParaRPr lang="en-GB" altLang="zh-CN" sz="2800" dirty="0"/>
          </a:p>
          <a:p>
            <a:pPr lvl="1" eaLnBrk="1" hangingPunct="1"/>
            <a:r>
              <a:rPr lang="en-GB" altLang="zh-CN" sz="2400" dirty="0"/>
              <a:t>Tables and columns in relational</a:t>
            </a:r>
            <a:r>
              <a:rPr lang="zh-CN" altLang="en-US" sz="2400" dirty="0"/>
              <a:t>（关系中的表和列）</a:t>
            </a:r>
            <a:endParaRPr lang="en-GB" altLang="zh-CN" sz="2400" dirty="0"/>
          </a:p>
          <a:p>
            <a:pPr eaLnBrk="1" hangingPunct="1"/>
            <a:r>
              <a:rPr lang="en-GB" altLang="zh-CN" sz="2800" dirty="0"/>
              <a:t>Design referential integrity constraints</a:t>
            </a:r>
            <a:r>
              <a:rPr lang="zh-CN" altLang="en-US" sz="2800" dirty="0"/>
              <a:t>（设计引用完整性约束）</a:t>
            </a:r>
            <a:endParaRPr lang="en-GB" altLang="zh-CN" sz="2800" dirty="0"/>
          </a:p>
          <a:p>
            <a:pPr lvl="1" eaLnBrk="1" hangingPunct="1"/>
            <a:r>
              <a:rPr lang="en-GB" altLang="zh-CN" sz="2400" dirty="0"/>
              <a:t>Foreign key references</a:t>
            </a:r>
            <a:r>
              <a:rPr lang="zh-CN" altLang="en-US" sz="2400" dirty="0"/>
              <a:t>（外键引用）</a:t>
            </a:r>
            <a:endParaRPr lang="en-GB" altLang="zh-CN" sz="2400" dirty="0"/>
          </a:p>
        </p:txBody>
      </p:sp>
      <p:sp>
        <p:nvSpPr>
          <p:cNvPr id="20486" name="Rectangle 6">
            <a:extLst>
              <a:ext uri="{FF2B5EF4-FFF2-40B4-BE49-F238E27FC236}">
                <a16:creationId xmlns:a16="http://schemas.microsoft.com/office/drawing/2014/main" id="{A0DEC4A7-DA1B-4702-B0E7-297A5B89A343}"/>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extLst>
      <p:ext uri="{BB962C8B-B14F-4D97-AF65-F5344CB8AC3E}">
        <p14:creationId xmlns:p14="http://schemas.microsoft.com/office/powerpoint/2010/main" val="13948984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6">
            <a:extLst>
              <a:ext uri="{FF2B5EF4-FFF2-40B4-BE49-F238E27FC236}">
                <a16:creationId xmlns:a16="http://schemas.microsoft.com/office/drawing/2014/main" id="{E96721AA-3BE9-4AE4-8FD2-C5E6DB6F673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9077DED-439C-458F-8DC7-7C984F512DF2}" type="slidenum">
              <a:rPr lang="en-US" altLang="en-US"/>
              <a:pPr eaLnBrk="1" hangingPunct="1"/>
              <a:t>49</a:t>
            </a:fld>
            <a:endParaRPr lang="en-US" altLang="en-US"/>
          </a:p>
        </p:txBody>
      </p:sp>
      <p:sp>
        <p:nvSpPr>
          <p:cNvPr id="21507" name="Rectangle 2">
            <a:extLst>
              <a:ext uri="{FF2B5EF4-FFF2-40B4-BE49-F238E27FC236}">
                <a16:creationId xmlns:a16="http://schemas.microsoft.com/office/drawing/2014/main" id="{D1E2C1BF-6B11-470D-B841-CEF9CB083380}"/>
              </a:ext>
            </a:extLst>
          </p:cNvPr>
          <p:cNvSpPr>
            <a:spLocks noGrp="1" noChangeArrowheads="1"/>
          </p:cNvSpPr>
          <p:nvPr>
            <p:ph type="title"/>
          </p:nvPr>
        </p:nvSpPr>
        <p:spPr>
          <a:xfrm>
            <a:off x="457200" y="122238"/>
            <a:ext cx="7543800" cy="1477962"/>
          </a:xfrm>
        </p:spPr>
        <p:txBody>
          <a:bodyPr/>
          <a:lstStyle/>
          <a:p>
            <a:pPr eaLnBrk="1" hangingPunct="1"/>
            <a:r>
              <a:rPr lang="en-US" altLang="zh-CN" sz="3600">
                <a:ea typeface="宋体" panose="02010600030101010101" pitchFamily="2" charset="-122"/>
              </a:rPr>
              <a:t>Database Table Definition</a:t>
            </a:r>
            <a:br>
              <a:rPr lang="en-US" altLang="zh-CN" sz="3600">
                <a:ea typeface="宋体" panose="02010600030101010101" pitchFamily="2" charset="-122"/>
              </a:rPr>
            </a:br>
            <a:r>
              <a:rPr lang="en-US" altLang="zh-CN" sz="2800">
                <a:ea typeface="宋体" panose="02010600030101010101" pitchFamily="2" charset="-122"/>
              </a:rPr>
              <a:t>Using mySQL</a:t>
            </a:r>
          </a:p>
        </p:txBody>
      </p:sp>
      <p:pic>
        <p:nvPicPr>
          <p:cNvPr id="21508" name="Picture 6">
            <a:extLst>
              <a:ext uri="{FF2B5EF4-FFF2-40B4-BE49-F238E27FC236}">
                <a16:creationId xmlns:a16="http://schemas.microsoft.com/office/drawing/2014/main" id="{5F21D694-35EB-482B-94D8-889F3F354C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2057400"/>
            <a:ext cx="8888413" cy="3160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9" name="Footer Placeholder 4">
            <a:extLst>
              <a:ext uri="{FF2B5EF4-FFF2-40B4-BE49-F238E27FC236}">
                <a16:creationId xmlns:a16="http://schemas.microsoft.com/office/drawing/2014/main" id="{8F7841D0-11F6-4816-957E-72242F64E9E4}"/>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21510" name="Rectangle 6">
            <a:extLst>
              <a:ext uri="{FF2B5EF4-FFF2-40B4-BE49-F238E27FC236}">
                <a16:creationId xmlns:a16="http://schemas.microsoft.com/office/drawing/2014/main" id="{C218070B-3549-4214-8E11-C2221E58212A}"/>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6">
            <a:extLst>
              <a:ext uri="{FF2B5EF4-FFF2-40B4-BE49-F238E27FC236}">
                <a16:creationId xmlns:a16="http://schemas.microsoft.com/office/drawing/2014/main" id="{22FE5A2A-3D41-4477-8705-FDD793E705B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5E04A6A-8914-4750-8154-0863EB302416}" type="slidenum">
              <a:rPr lang="en-US" altLang="en-US"/>
              <a:pPr eaLnBrk="1" hangingPunct="1"/>
              <a:t>50</a:t>
            </a:fld>
            <a:endParaRPr lang="en-US" altLang="en-US"/>
          </a:p>
        </p:txBody>
      </p:sp>
      <p:sp>
        <p:nvSpPr>
          <p:cNvPr id="22531" name="Rectangle 2">
            <a:extLst>
              <a:ext uri="{FF2B5EF4-FFF2-40B4-BE49-F238E27FC236}">
                <a16:creationId xmlns:a16="http://schemas.microsoft.com/office/drawing/2014/main" id="{561A2AA2-ECC4-4727-9AEE-CA2B2D07525C}"/>
              </a:ext>
            </a:extLst>
          </p:cNvPr>
          <p:cNvSpPr>
            <a:spLocks noGrp="1" noChangeArrowheads="1"/>
          </p:cNvSpPr>
          <p:nvPr>
            <p:ph type="title"/>
          </p:nvPr>
        </p:nvSpPr>
        <p:spPr>
          <a:xfrm>
            <a:off x="479502" y="367507"/>
            <a:ext cx="7543800" cy="1020762"/>
          </a:xfrm>
        </p:spPr>
        <p:txBody>
          <a:bodyPr/>
          <a:lstStyle/>
          <a:p>
            <a:pPr eaLnBrk="1" hangingPunct="1"/>
            <a:r>
              <a:rPr lang="en-US" altLang="zh-CN" sz="3600" dirty="0">
                <a:ea typeface="宋体" panose="02010600030101010101" pitchFamily="2" charset="-122"/>
              </a:rPr>
              <a:t>Design Activities:</a:t>
            </a:r>
            <a:br>
              <a:rPr lang="en-US" altLang="zh-CN" sz="3200" dirty="0">
                <a:ea typeface="宋体" panose="02010600030101010101" pitchFamily="2" charset="-122"/>
              </a:rPr>
            </a:br>
            <a:r>
              <a:rPr lang="en-US" altLang="zh-CN" sz="2800" dirty="0">
                <a:ea typeface="宋体" panose="02010600030101010101" pitchFamily="2" charset="-122"/>
              </a:rPr>
              <a:t>Design the security and system controls</a:t>
            </a:r>
            <a:br>
              <a:rPr lang="en-US" altLang="zh-CN" sz="2800" dirty="0">
                <a:ea typeface="宋体" panose="02010600030101010101" pitchFamily="2" charset="-122"/>
              </a:rPr>
            </a:br>
            <a:r>
              <a:rPr lang="zh-CN" altLang="en-US" sz="2800" dirty="0">
                <a:ea typeface="宋体" panose="02010600030101010101" pitchFamily="2" charset="-122"/>
              </a:rPr>
              <a:t>（设计安全和系统控制）</a:t>
            </a:r>
            <a:endParaRPr lang="en-US" altLang="zh-CN" sz="2800" dirty="0">
              <a:ea typeface="宋体" panose="02010600030101010101" pitchFamily="2" charset="-122"/>
            </a:endParaRPr>
          </a:p>
        </p:txBody>
      </p:sp>
      <p:sp>
        <p:nvSpPr>
          <p:cNvPr id="22532" name="Rectangle 3">
            <a:extLst>
              <a:ext uri="{FF2B5EF4-FFF2-40B4-BE49-F238E27FC236}">
                <a16:creationId xmlns:a16="http://schemas.microsoft.com/office/drawing/2014/main" id="{D1597BD5-879E-4CFA-A1E2-2CEDA409E604}"/>
              </a:ext>
            </a:extLst>
          </p:cNvPr>
          <p:cNvSpPr>
            <a:spLocks noGrp="1" noChangeArrowheads="1"/>
          </p:cNvSpPr>
          <p:nvPr>
            <p:ph type="body" sz="half" idx="1"/>
          </p:nvPr>
        </p:nvSpPr>
        <p:spPr>
          <a:xfrm>
            <a:off x="457200" y="1524000"/>
            <a:ext cx="8001000" cy="4648200"/>
          </a:xfrm>
        </p:spPr>
        <p:txBody>
          <a:bodyPr/>
          <a:lstStyle/>
          <a:p>
            <a:pPr eaLnBrk="1" hangingPunct="1"/>
            <a:r>
              <a:rPr lang="en-GB" altLang="zh-CN" sz="3200" dirty="0"/>
              <a:t>Protect the organization’s assets</a:t>
            </a:r>
            <a:r>
              <a:rPr lang="zh-CN" altLang="en-US" sz="3200" dirty="0"/>
              <a:t>（保护组织的资产）</a:t>
            </a:r>
            <a:endParaRPr lang="en-GB" altLang="zh-CN" sz="3200" dirty="0"/>
          </a:p>
          <a:p>
            <a:pPr eaLnBrk="1" hangingPunct="1"/>
            <a:r>
              <a:rPr lang="en-GB" altLang="zh-CN" sz="3200" dirty="0"/>
              <a:t>Becomes crucial in Internet and wireless</a:t>
            </a:r>
            <a:r>
              <a:rPr lang="zh-CN" altLang="en-US" sz="3200" dirty="0"/>
              <a:t>（在互联网和无线领域变得至关重要）</a:t>
            </a:r>
            <a:endParaRPr lang="en-GB" altLang="zh-CN" sz="3200" dirty="0"/>
          </a:p>
          <a:p>
            <a:pPr eaLnBrk="1" hangingPunct="1"/>
            <a:r>
              <a:rPr lang="en-GB" altLang="zh-CN" sz="3200" dirty="0"/>
              <a:t>User interface controls</a:t>
            </a:r>
            <a:r>
              <a:rPr lang="zh-CN" altLang="en-US" sz="3200" dirty="0"/>
              <a:t>（用户界面控制）</a:t>
            </a:r>
            <a:endParaRPr lang="en-GB" altLang="zh-CN" sz="3200" dirty="0"/>
          </a:p>
          <a:p>
            <a:pPr eaLnBrk="1" hangingPunct="1"/>
            <a:r>
              <a:rPr lang="en-GB" altLang="zh-CN" sz="3200" dirty="0"/>
              <a:t>Application controls</a:t>
            </a:r>
            <a:r>
              <a:rPr lang="zh-CN" altLang="en-US" sz="3200" dirty="0"/>
              <a:t>（应用程序控制）</a:t>
            </a:r>
            <a:endParaRPr lang="en-GB" altLang="zh-CN" sz="3200" dirty="0"/>
          </a:p>
          <a:p>
            <a:pPr eaLnBrk="1" hangingPunct="1"/>
            <a:r>
              <a:rPr lang="en-GB" altLang="zh-CN" sz="3200" dirty="0"/>
              <a:t>Database controls</a:t>
            </a:r>
            <a:r>
              <a:rPr lang="zh-CN" altLang="en-US" sz="3200" dirty="0"/>
              <a:t>（数据库控制）</a:t>
            </a:r>
            <a:endParaRPr lang="en-GB" altLang="zh-CN" sz="3200" dirty="0"/>
          </a:p>
          <a:p>
            <a:pPr eaLnBrk="1" hangingPunct="1"/>
            <a:r>
              <a:rPr lang="en-GB" altLang="zh-CN" sz="3200" dirty="0"/>
              <a:t>Network controls</a:t>
            </a:r>
            <a:r>
              <a:rPr lang="zh-CN" altLang="en-US" sz="3200" dirty="0"/>
              <a:t>（网络控制）</a:t>
            </a:r>
            <a:endParaRPr lang="en-GB" altLang="zh-CN" sz="3200" dirty="0"/>
          </a:p>
          <a:p>
            <a:pPr eaLnBrk="1" hangingPunct="1">
              <a:buFont typeface="Wingdings" panose="05000000000000000000" pitchFamily="2" charset="2"/>
              <a:buNone/>
            </a:pPr>
            <a:endParaRPr lang="en-GB" altLang="zh-CN" sz="3200" dirty="0"/>
          </a:p>
          <a:p>
            <a:pPr eaLnBrk="1" hangingPunct="1"/>
            <a:endParaRPr lang="en-GB" altLang="zh-CN" sz="3200" dirty="0"/>
          </a:p>
        </p:txBody>
      </p:sp>
      <p:sp>
        <p:nvSpPr>
          <p:cNvPr id="22533" name="Footer Placeholder 4">
            <a:extLst>
              <a:ext uri="{FF2B5EF4-FFF2-40B4-BE49-F238E27FC236}">
                <a16:creationId xmlns:a16="http://schemas.microsoft.com/office/drawing/2014/main" id="{F66F0272-E026-45E4-BCE4-AF53FBC11444}"/>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22534" name="Rectangle 6">
            <a:extLst>
              <a:ext uri="{FF2B5EF4-FFF2-40B4-BE49-F238E27FC236}">
                <a16:creationId xmlns:a16="http://schemas.microsoft.com/office/drawing/2014/main" id="{7D84EB78-0019-4887-9110-7431342B1683}"/>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Footer Placeholder 4">
            <a:extLst>
              <a:ext uri="{FF2B5EF4-FFF2-40B4-BE49-F238E27FC236}">
                <a16:creationId xmlns:a16="http://schemas.microsoft.com/office/drawing/2014/main" id="{46C70101-3F41-4FB0-82D8-67EFAF11A4D1}"/>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5123" name="Slide Number Placeholder 5">
            <a:extLst>
              <a:ext uri="{FF2B5EF4-FFF2-40B4-BE49-F238E27FC236}">
                <a16:creationId xmlns:a16="http://schemas.microsoft.com/office/drawing/2014/main" id="{4C924B88-EF74-42E3-A7A8-267A5444104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9568D79-C975-4B7D-9C16-7B45C0063EDD}" type="slidenum">
              <a:rPr lang="en-US" altLang="en-US"/>
              <a:pPr eaLnBrk="1" hangingPunct="1"/>
              <a:t>51</a:t>
            </a:fld>
            <a:endParaRPr lang="en-US" altLang="en-US"/>
          </a:p>
        </p:txBody>
      </p:sp>
      <p:sp>
        <p:nvSpPr>
          <p:cNvPr id="5124" name="Rectangle 2">
            <a:extLst>
              <a:ext uri="{FF2B5EF4-FFF2-40B4-BE49-F238E27FC236}">
                <a16:creationId xmlns:a16="http://schemas.microsoft.com/office/drawing/2014/main" id="{64AA83B5-87A1-459A-BE63-C7FE4FE1EFDF}"/>
              </a:ext>
            </a:extLst>
          </p:cNvPr>
          <p:cNvSpPr>
            <a:spLocks noGrp="1" noChangeArrowheads="1"/>
          </p:cNvSpPr>
          <p:nvPr>
            <p:ph type="title"/>
          </p:nvPr>
        </p:nvSpPr>
        <p:spPr/>
        <p:txBody>
          <a:bodyPr/>
          <a:lstStyle/>
          <a:p>
            <a:pPr eaLnBrk="1" hangingPunct="1"/>
            <a:r>
              <a:rPr lang="en-US" altLang="zh-CN">
                <a:ea typeface="宋体" panose="02010600030101010101" pitchFamily="2" charset="-122"/>
              </a:rPr>
              <a:t>Chapter 6 Outline</a:t>
            </a:r>
          </a:p>
        </p:txBody>
      </p:sp>
      <p:sp>
        <p:nvSpPr>
          <p:cNvPr id="5125" name="Rectangle 3">
            <a:extLst>
              <a:ext uri="{FF2B5EF4-FFF2-40B4-BE49-F238E27FC236}">
                <a16:creationId xmlns:a16="http://schemas.microsoft.com/office/drawing/2014/main" id="{AD2D061E-90BF-4146-ADB7-9BA17BB68976}"/>
              </a:ext>
            </a:extLst>
          </p:cNvPr>
          <p:cNvSpPr>
            <a:spLocks noGrp="1" noChangeArrowheads="1"/>
          </p:cNvSpPr>
          <p:nvPr>
            <p:ph type="body" idx="1"/>
          </p:nvPr>
        </p:nvSpPr>
        <p:spPr>
          <a:xfrm>
            <a:off x="457200" y="1752600"/>
            <a:ext cx="8229600" cy="4411663"/>
          </a:xfrm>
        </p:spPr>
        <p:txBody>
          <a:bodyPr/>
          <a:lstStyle/>
          <a:p>
            <a:pPr eaLnBrk="1" hangingPunct="1"/>
            <a:r>
              <a:rPr lang="en-US" altLang="zh-CN" sz="3200" dirty="0">
                <a:ea typeface="宋体" panose="02010600030101010101" pitchFamily="2" charset="-122"/>
              </a:rPr>
              <a:t>The Elements of Design</a:t>
            </a:r>
          </a:p>
          <a:p>
            <a:pPr eaLnBrk="1" hangingPunct="1"/>
            <a:r>
              <a:rPr lang="en-US" altLang="zh-CN" sz="3200" dirty="0">
                <a:ea typeface="宋体" panose="02010600030101010101" pitchFamily="2" charset="-122"/>
              </a:rPr>
              <a:t>Inputs and Outputs for Systems Design</a:t>
            </a:r>
          </a:p>
          <a:p>
            <a:pPr eaLnBrk="1" hangingPunct="1"/>
            <a:r>
              <a:rPr lang="en-US" altLang="zh-CN" sz="3200" dirty="0">
                <a:ea typeface="宋体" panose="02010600030101010101" pitchFamily="2" charset="-122"/>
              </a:rPr>
              <a:t>Design Activities</a:t>
            </a:r>
          </a:p>
          <a:p>
            <a:pPr eaLnBrk="1" hangingPunct="1"/>
            <a:r>
              <a:rPr lang="en-US" altLang="zh-CN" sz="3200" dirty="0">
                <a:solidFill>
                  <a:srgbClr val="C00000"/>
                </a:solidFill>
                <a:ea typeface="宋体" panose="02010600030101010101" pitchFamily="2" charset="-122"/>
              </a:rPr>
              <a:t>Design Activity: Design the Environment</a:t>
            </a:r>
            <a:r>
              <a:rPr lang="zh-CN" altLang="en-US" sz="3200" dirty="0">
                <a:solidFill>
                  <a:srgbClr val="C00000"/>
                </a:solidFill>
                <a:ea typeface="宋体" panose="02010600030101010101" pitchFamily="2" charset="-122"/>
              </a:rPr>
              <a:t>（设计活动：设计环境）</a:t>
            </a:r>
            <a:endParaRPr lang="en-US" altLang="zh-CN" sz="3200" dirty="0">
              <a:solidFill>
                <a:srgbClr val="C00000"/>
              </a:solidFill>
              <a:ea typeface="宋体" panose="02010600030101010101" pitchFamily="2" charset="-122"/>
            </a:endParaRPr>
          </a:p>
          <a:p>
            <a:pPr eaLnBrk="1" hangingPunct="1"/>
            <a:endParaRPr lang="en-US" altLang="zh-CN" sz="3600" dirty="0">
              <a:ea typeface="宋体" panose="02010600030101010101" pitchFamily="2" charset="-122"/>
            </a:endParaRPr>
          </a:p>
        </p:txBody>
      </p:sp>
      <p:sp>
        <p:nvSpPr>
          <p:cNvPr id="5126" name="Rectangle 5">
            <a:extLst>
              <a:ext uri="{FF2B5EF4-FFF2-40B4-BE49-F238E27FC236}">
                <a16:creationId xmlns:a16="http://schemas.microsoft.com/office/drawing/2014/main" id="{6A90B39B-3E57-42B2-8CA9-2ADE3941B9B2}"/>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extLst>
      <p:ext uri="{BB962C8B-B14F-4D97-AF65-F5344CB8AC3E}">
        <p14:creationId xmlns:p14="http://schemas.microsoft.com/office/powerpoint/2010/main" val="406886850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6">
            <a:extLst>
              <a:ext uri="{FF2B5EF4-FFF2-40B4-BE49-F238E27FC236}">
                <a16:creationId xmlns:a16="http://schemas.microsoft.com/office/drawing/2014/main" id="{F00CA098-E519-4C47-9206-317B0743621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894916C-718E-467A-89A7-917F334A22B4}" type="slidenum">
              <a:rPr lang="en-US" altLang="en-US"/>
              <a:pPr eaLnBrk="1" hangingPunct="1"/>
              <a:t>52</a:t>
            </a:fld>
            <a:endParaRPr lang="en-US" altLang="en-US"/>
          </a:p>
        </p:txBody>
      </p:sp>
      <p:sp>
        <p:nvSpPr>
          <p:cNvPr id="23555" name="Rectangle 2">
            <a:extLst>
              <a:ext uri="{FF2B5EF4-FFF2-40B4-BE49-F238E27FC236}">
                <a16:creationId xmlns:a16="http://schemas.microsoft.com/office/drawing/2014/main" id="{13515184-8DF8-4A48-88A8-882E6A7F400B}"/>
              </a:ext>
            </a:extLst>
          </p:cNvPr>
          <p:cNvSpPr>
            <a:spLocks noGrp="1" noChangeArrowheads="1"/>
          </p:cNvSpPr>
          <p:nvPr>
            <p:ph type="title"/>
          </p:nvPr>
        </p:nvSpPr>
        <p:spPr>
          <a:xfrm>
            <a:off x="457200" y="396081"/>
            <a:ext cx="7543800" cy="1173162"/>
          </a:xfrm>
        </p:spPr>
        <p:txBody>
          <a:bodyPr/>
          <a:lstStyle/>
          <a:p>
            <a:pPr eaLnBrk="1" hangingPunct="1"/>
            <a:r>
              <a:rPr lang="en-US" altLang="zh-CN" sz="3600" dirty="0">
                <a:ea typeface="宋体" panose="02010600030101010101" pitchFamily="2" charset="-122"/>
              </a:rPr>
              <a:t>Design the Environment</a:t>
            </a:r>
            <a:br>
              <a:rPr lang="en-US" altLang="zh-CN" sz="3200" dirty="0">
                <a:ea typeface="宋体" panose="02010600030101010101" pitchFamily="2" charset="-122"/>
              </a:rPr>
            </a:br>
            <a:r>
              <a:rPr lang="en-US" altLang="zh-CN" sz="2800" dirty="0">
                <a:ea typeface="宋体" panose="02010600030101010101" pitchFamily="2" charset="-122"/>
              </a:rPr>
              <a:t>The design activity now in more detail</a:t>
            </a:r>
            <a:br>
              <a:rPr lang="en-US" altLang="zh-CN" sz="2800" dirty="0">
                <a:ea typeface="宋体" panose="02010600030101010101" pitchFamily="2" charset="-122"/>
              </a:rPr>
            </a:br>
            <a:r>
              <a:rPr lang="zh-CN" altLang="en-US" sz="2800" dirty="0">
                <a:ea typeface="宋体" panose="02010600030101010101" pitchFamily="2" charset="-122"/>
              </a:rPr>
              <a:t>（内部部署设计）</a:t>
            </a:r>
            <a:endParaRPr lang="en-US" altLang="zh-CN" sz="2800" dirty="0">
              <a:ea typeface="宋体" panose="02010600030101010101" pitchFamily="2" charset="-122"/>
            </a:endParaRPr>
          </a:p>
        </p:txBody>
      </p:sp>
      <p:sp>
        <p:nvSpPr>
          <p:cNvPr id="23556" name="Rectangle 4">
            <a:extLst>
              <a:ext uri="{FF2B5EF4-FFF2-40B4-BE49-F238E27FC236}">
                <a16:creationId xmlns:a16="http://schemas.microsoft.com/office/drawing/2014/main" id="{08C08CD2-C6E3-48CD-9833-8DAD8F536950}"/>
              </a:ext>
            </a:extLst>
          </p:cNvPr>
          <p:cNvSpPr>
            <a:spLocks noGrp="1" noChangeArrowheads="1"/>
          </p:cNvSpPr>
          <p:nvPr>
            <p:ph type="body" sz="half" idx="1"/>
          </p:nvPr>
        </p:nvSpPr>
        <p:spPr>
          <a:xfrm>
            <a:off x="0" y="1624806"/>
            <a:ext cx="9144000" cy="4759325"/>
          </a:xfrm>
        </p:spPr>
        <p:txBody>
          <a:bodyPr/>
          <a:lstStyle/>
          <a:p>
            <a:pPr eaLnBrk="1" hangingPunct="1"/>
            <a:r>
              <a:rPr lang="en-US" altLang="zh-CN" sz="3200" dirty="0">
                <a:ea typeface="宋体" panose="02010600030101010101" pitchFamily="2" charset="-122"/>
              </a:rPr>
              <a:t>Design for Internal Deployment</a:t>
            </a:r>
            <a:r>
              <a:rPr lang="zh-CN" altLang="en-US" sz="3200" dirty="0">
                <a:ea typeface="宋体" panose="02010600030101010101" pitchFamily="2" charset="-122"/>
              </a:rPr>
              <a:t>（内部部署设计）</a:t>
            </a:r>
            <a:endParaRPr lang="en-US" altLang="zh-CN" sz="3200" dirty="0">
              <a:ea typeface="宋体" panose="02010600030101010101" pitchFamily="2" charset="-122"/>
            </a:endParaRPr>
          </a:p>
          <a:p>
            <a:pPr lvl="1" eaLnBrk="1" hangingPunct="1"/>
            <a:r>
              <a:rPr lang="en-US" altLang="zh-CN" sz="2800" dirty="0">
                <a:ea typeface="宋体" panose="02010600030101010101" pitchFamily="2" charset="-122"/>
              </a:rPr>
              <a:t>Stand alone software systems</a:t>
            </a:r>
            <a:r>
              <a:rPr lang="zh-CN" altLang="en-US" sz="2800" dirty="0">
                <a:ea typeface="宋体" panose="02010600030101010101" pitchFamily="2" charset="-122"/>
              </a:rPr>
              <a:t> （独立软件系统）</a:t>
            </a:r>
            <a:endParaRPr lang="en-US" altLang="zh-CN" sz="2800" dirty="0">
              <a:ea typeface="宋体" panose="02010600030101010101" pitchFamily="2" charset="-122"/>
            </a:endParaRPr>
          </a:p>
          <a:p>
            <a:pPr lvl="2" eaLnBrk="1" hangingPunct="1"/>
            <a:r>
              <a:rPr lang="en-US" altLang="zh-CN" sz="2400" dirty="0">
                <a:ea typeface="宋体" panose="02010600030101010101" pitchFamily="2" charset="-122"/>
              </a:rPr>
              <a:t>Run on one device without networking</a:t>
            </a:r>
          </a:p>
          <a:p>
            <a:pPr lvl="1" eaLnBrk="1" hangingPunct="1"/>
            <a:r>
              <a:rPr lang="en-US" altLang="zh-CN" sz="2800" dirty="0">
                <a:ea typeface="宋体" panose="02010600030101010101" pitchFamily="2" charset="-122"/>
              </a:rPr>
              <a:t>Internal network-based systems</a:t>
            </a:r>
            <a:r>
              <a:rPr lang="zh-CN" altLang="en-US" sz="2800" dirty="0">
                <a:ea typeface="宋体" panose="02010600030101010101" pitchFamily="2" charset="-122"/>
              </a:rPr>
              <a:t> （基于网络的内部系统）</a:t>
            </a:r>
            <a:endParaRPr lang="en-US" altLang="zh-CN" sz="2800" dirty="0">
              <a:ea typeface="宋体" panose="02010600030101010101" pitchFamily="2" charset="-122"/>
            </a:endParaRPr>
          </a:p>
          <a:p>
            <a:pPr lvl="2" eaLnBrk="1" hangingPunct="1"/>
            <a:r>
              <a:rPr lang="en-US" altLang="zh-CN" sz="2400" dirty="0">
                <a:ea typeface="宋体" panose="02010600030101010101" pitchFamily="2" charset="-122"/>
              </a:rPr>
              <a:t>Local area network, client-server architecture</a:t>
            </a:r>
          </a:p>
          <a:p>
            <a:pPr lvl="2" eaLnBrk="1" hangingPunct="1"/>
            <a:r>
              <a:rPr lang="en-US" altLang="zh-CN" sz="2400" dirty="0">
                <a:ea typeface="宋体" panose="02010600030101010101" pitchFamily="2" charset="-122"/>
              </a:rPr>
              <a:t>Desktop applications and browser-based applications</a:t>
            </a:r>
          </a:p>
          <a:p>
            <a:pPr lvl="1" eaLnBrk="1" hangingPunct="1"/>
            <a:r>
              <a:rPr lang="en-US" altLang="zh-CN" sz="2800" dirty="0">
                <a:ea typeface="宋体" panose="02010600030101010101" pitchFamily="2" charset="-122"/>
              </a:rPr>
              <a:t>Three-layer client server architecture</a:t>
            </a:r>
            <a:r>
              <a:rPr lang="zh-CN" altLang="en-US" sz="2800" dirty="0">
                <a:ea typeface="宋体" panose="02010600030101010101" pitchFamily="2" charset="-122"/>
              </a:rPr>
              <a:t>（三层客户端服务器架构）</a:t>
            </a:r>
            <a:endParaRPr lang="en-US" altLang="zh-CN" sz="2800" dirty="0">
              <a:ea typeface="宋体" panose="02010600030101010101" pitchFamily="2" charset="-122"/>
            </a:endParaRPr>
          </a:p>
          <a:p>
            <a:pPr lvl="2" eaLnBrk="1" hangingPunct="1"/>
            <a:r>
              <a:rPr lang="en-US" altLang="zh-CN" sz="2400" dirty="0">
                <a:ea typeface="宋体" panose="02010600030101010101" pitchFamily="2" charset="-122"/>
              </a:rPr>
              <a:t>View layer, domain layer, and data layer</a:t>
            </a:r>
          </a:p>
        </p:txBody>
      </p:sp>
      <p:sp>
        <p:nvSpPr>
          <p:cNvPr id="23557" name="Footer Placeholder 4">
            <a:extLst>
              <a:ext uri="{FF2B5EF4-FFF2-40B4-BE49-F238E27FC236}">
                <a16:creationId xmlns:a16="http://schemas.microsoft.com/office/drawing/2014/main" id="{E7DA4EC1-43B5-47E1-A6F3-AB1405FDE3A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23558" name="Rectangle 6">
            <a:extLst>
              <a:ext uri="{FF2B5EF4-FFF2-40B4-BE49-F238E27FC236}">
                <a16:creationId xmlns:a16="http://schemas.microsoft.com/office/drawing/2014/main" id="{E287DDA7-9334-4A22-8483-9035DD545CC4}"/>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6">
            <a:extLst>
              <a:ext uri="{FF2B5EF4-FFF2-40B4-BE49-F238E27FC236}">
                <a16:creationId xmlns:a16="http://schemas.microsoft.com/office/drawing/2014/main" id="{F00CA098-E519-4C47-9206-317B0743621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894916C-718E-467A-89A7-917F334A22B4}" type="slidenum">
              <a:rPr lang="en-US" altLang="en-US"/>
              <a:pPr eaLnBrk="1" hangingPunct="1"/>
              <a:t>53</a:t>
            </a:fld>
            <a:endParaRPr lang="en-US" altLang="en-US"/>
          </a:p>
        </p:txBody>
      </p:sp>
      <p:sp>
        <p:nvSpPr>
          <p:cNvPr id="23555" name="Rectangle 2">
            <a:extLst>
              <a:ext uri="{FF2B5EF4-FFF2-40B4-BE49-F238E27FC236}">
                <a16:creationId xmlns:a16="http://schemas.microsoft.com/office/drawing/2014/main" id="{13515184-8DF8-4A48-88A8-882E6A7F400B}"/>
              </a:ext>
            </a:extLst>
          </p:cNvPr>
          <p:cNvSpPr>
            <a:spLocks noGrp="1" noChangeArrowheads="1"/>
          </p:cNvSpPr>
          <p:nvPr>
            <p:ph type="title"/>
          </p:nvPr>
        </p:nvSpPr>
        <p:spPr>
          <a:xfrm>
            <a:off x="457200" y="122238"/>
            <a:ext cx="7543800" cy="1173162"/>
          </a:xfrm>
        </p:spPr>
        <p:txBody>
          <a:bodyPr/>
          <a:lstStyle/>
          <a:p>
            <a:pPr eaLnBrk="1" hangingPunct="1"/>
            <a:r>
              <a:rPr lang="en-US" altLang="zh-CN" sz="3600" dirty="0">
                <a:ea typeface="宋体" panose="02010600030101010101" pitchFamily="2" charset="-122"/>
              </a:rPr>
              <a:t>Design the Environment</a:t>
            </a:r>
            <a:br>
              <a:rPr lang="en-US" altLang="zh-CN" sz="3200" dirty="0">
                <a:ea typeface="宋体" panose="02010600030101010101" pitchFamily="2" charset="-122"/>
              </a:rPr>
            </a:br>
            <a:r>
              <a:rPr lang="en-US" altLang="zh-CN" sz="2800" dirty="0">
                <a:ea typeface="宋体" panose="02010600030101010101" pitchFamily="2" charset="-122"/>
              </a:rPr>
              <a:t>The design activity now in more detail</a:t>
            </a:r>
          </a:p>
        </p:txBody>
      </p:sp>
      <p:sp>
        <p:nvSpPr>
          <p:cNvPr id="23556" name="Rectangle 4">
            <a:extLst>
              <a:ext uri="{FF2B5EF4-FFF2-40B4-BE49-F238E27FC236}">
                <a16:creationId xmlns:a16="http://schemas.microsoft.com/office/drawing/2014/main" id="{08C08CD2-C6E3-48CD-9833-8DAD8F536950}"/>
              </a:ext>
            </a:extLst>
          </p:cNvPr>
          <p:cNvSpPr>
            <a:spLocks noGrp="1" noChangeArrowheads="1"/>
          </p:cNvSpPr>
          <p:nvPr>
            <p:ph type="body" sz="half" idx="1"/>
          </p:nvPr>
        </p:nvSpPr>
        <p:spPr>
          <a:xfrm>
            <a:off x="457200" y="1371600"/>
            <a:ext cx="8153400" cy="4759325"/>
          </a:xfrm>
        </p:spPr>
        <p:txBody>
          <a:bodyPr/>
          <a:lstStyle/>
          <a:p>
            <a:pPr eaLnBrk="1" hangingPunct="1"/>
            <a:r>
              <a:rPr lang="en-US" altLang="zh-CN" sz="3200" dirty="0">
                <a:ea typeface="宋体" panose="02010600030101010101" pitchFamily="2" charset="-122"/>
              </a:rPr>
              <a:t>Design for Internal Deployment</a:t>
            </a:r>
          </a:p>
          <a:p>
            <a:pPr lvl="1" eaLnBrk="1" hangingPunct="1"/>
            <a:r>
              <a:rPr lang="en-US" altLang="zh-CN" sz="2800" dirty="0">
                <a:ea typeface="宋体" panose="02010600030101010101" pitchFamily="2" charset="-122"/>
              </a:rPr>
              <a:t>Stand alone software systems</a:t>
            </a:r>
          </a:p>
          <a:p>
            <a:pPr lvl="2" eaLnBrk="1" hangingPunct="1"/>
            <a:r>
              <a:rPr lang="en-US" altLang="zh-CN" sz="2400" dirty="0">
                <a:ea typeface="宋体" panose="02010600030101010101" pitchFamily="2" charset="-122"/>
              </a:rPr>
              <a:t>Run on one device without networking</a:t>
            </a:r>
          </a:p>
          <a:p>
            <a:pPr lvl="1" eaLnBrk="1" hangingPunct="1"/>
            <a:r>
              <a:rPr lang="en-US" altLang="zh-CN" sz="2800" dirty="0">
                <a:solidFill>
                  <a:srgbClr val="C00000"/>
                </a:solidFill>
                <a:ea typeface="宋体" panose="02010600030101010101" pitchFamily="2" charset="-122"/>
              </a:rPr>
              <a:t>Internal network-based systems</a:t>
            </a:r>
            <a:r>
              <a:rPr lang="zh-CN" altLang="en-US" sz="2800" dirty="0">
                <a:ea typeface="宋体" panose="02010600030101010101" pitchFamily="2" charset="-122"/>
              </a:rPr>
              <a:t> （基于网络的内部系统）</a:t>
            </a:r>
            <a:endParaRPr lang="en-US" altLang="zh-CN" sz="2800" dirty="0">
              <a:solidFill>
                <a:srgbClr val="C00000"/>
              </a:solidFill>
              <a:ea typeface="宋体" panose="02010600030101010101" pitchFamily="2" charset="-122"/>
            </a:endParaRPr>
          </a:p>
          <a:p>
            <a:pPr lvl="2" eaLnBrk="1" hangingPunct="1"/>
            <a:r>
              <a:rPr lang="en-US" altLang="zh-CN" sz="2400" dirty="0">
                <a:solidFill>
                  <a:srgbClr val="C00000"/>
                </a:solidFill>
                <a:ea typeface="宋体" panose="02010600030101010101" pitchFamily="2" charset="-122"/>
              </a:rPr>
              <a:t>Local area network, client-server architecture</a:t>
            </a:r>
            <a:r>
              <a:rPr lang="zh-CN" altLang="en-US" sz="2400" dirty="0">
                <a:solidFill>
                  <a:srgbClr val="C00000"/>
                </a:solidFill>
                <a:ea typeface="宋体" panose="02010600030101010101" pitchFamily="2" charset="-122"/>
              </a:rPr>
              <a:t>（局域网，客户端</a:t>
            </a:r>
            <a:r>
              <a:rPr lang="en-US" altLang="zh-CN" sz="2400" dirty="0">
                <a:solidFill>
                  <a:srgbClr val="C00000"/>
                </a:solidFill>
                <a:ea typeface="宋体" panose="02010600030101010101" pitchFamily="2" charset="-122"/>
              </a:rPr>
              <a:t>-</a:t>
            </a:r>
            <a:r>
              <a:rPr lang="zh-CN" altLang="en-US" sz="2400" dirty="0">
                <a:solidFill>
                  <a:srgbClr val="C00000"/>
                </a:solidFill>
                <a:ea typeface="宋体" panose="02010600030101010101" pitchFamily="2" charset="-122"/>
              </a:rPr>
              <a:t>服务器架构）</a:t>
            </a:r>
            <a:endParaRPr lang="en-US" altLang="zh-CN" sz="2400" dirty="0">
              <a:solidFill>
                <a:srgbClr val="C00000"/>
              </a:solidFill>
              <a:ea typeface="宋体" panose="02010600030101010101" pitchFamily="2" charset="-122"/>
            </a:endParaRPr>
          </a:p>
          <a:p>
            <a:pPr lvl="2" eaLnBrk="1" hangingPunct="1"/>
            <a:r>
              <a:rPr lang="en-US" altLang="zh-CN" sz="2400" dirty="0">
                <a:solidFill>
                  <a:srgbClr val="C00000"/>
                </a:solidFill>
                <a:ea typeface="宋体" panose="02010600030101010101" pitchFamily="2" charset="-122"/>
              </a:rPr>
              <a:t>Desktop applications and browser-based applications</a:t>
            </a:r>
            <a:r>
              <a:rPr lang="zh-CN" altLang="en-US" sz="2400" dirty="0">
                <a:solidFill>
                  <a:srgbClr val="C00000"/>
                </a:solidFill>
                <a:ea typeface="宋体" panose="02010600030101010101" pitchFamily="2" charset="-122"/>
              </a:rPr>
              <a:t>（桌面应用和基于浏览器的应用）</a:t>
            </a:r>
            <a:endParaRPr lang="en-US" altLang="zh-CN" sz="2400" dirty="0">
              <a:solidFill>
                <a:srgbClr val="C00000"/>
              </a:solidFill>
              <a:ea typeface="宋体" panose="02010600030101010101" pitchFamily="2" charset="-122"/>
            </a:endParaRPr>
          </a:p>
          <a:p>
            <a:pPr lvl="1" eaLnBrk="1" hangingPunct="1"/>
            <a:r>
              <a:rPr lang="en-US" altLang="zh-CN" sz="2800" dirty="0">
                <a:ea typeface="宋体" panose="02010600030101010101" pitchFamily="2" charset="-122"/>
              </a:rPr>
              <a:t>Three-layer client server architecture</a:t>
            </a:r>
          </a:p>
          <a:p>
            <a:pPr lvl="2" eaLnBrk="1" hangingPunct="1"/>
            <a:r>
              <a:rPr lang="en-US" altLang="zh-CN" sz="2400" dirty="0">
                <a:ea typeface="宋体" panose="02010600030101010101" pitchFamily="2" charset="-122"/>
              </a:rPr>
              <a:t>View layer, domain layer, and data layer</a:t>
            </a:r>
          </a:p>
        </p:txBody>
      </p:sp>
      <p:sp>
        <p:nvSpPr>
          <p:cNvPr id="23558" name="Rectangle 6">
            <a:extLst>
              <a:ext uri="{FF2B5EF4-FFF2-40B4-BE49-F238E27FC236}">
                <a16:creationId xmlns:a16="http://schemas.microsoft.com/office/drawing/2014/main" id="{E287DDA7-9334-4A22-8483-9035DD545CC4}"/>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extLst>
      <p:ext uri="{BB962C8B-B14F-4D97-AF65-F5344CB8AC3E}">
        <p14:creationId xmlns:p14="http://schemas.microsoft.com/office/powerpoint/2010/main" val="268256623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6">
            <a:extLst>
              <a:ext uri="{FF2B5EF4-FFF2-40B4-BE49-F238E27FC236}">
                <a16:creationId xmlns:a16="http://schemas.microsoft.com/office/drawing/2014/main" id="{1B616D98-4584-41E0-A75B-40C134D242E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06426A0-374B-442D-9E25-FCC9C76988DE}" type="slidenum">
              <a:rPr lang="en-US" altLang="en-US"/>
              <a:pPr eaLnBrk="1" hangingPunct="1"/>
              <a:t>54</a:t>
            </a:fld>
            <a:endParaRPr lang="en-US" altLang="en-US"/>
          </a:p>
        </p:txBody>
      </p:sp>
      <p:sp>
        <p:nvSpPr>
          <p:cNvPr id="24579" name="Rectangle 2">
            <a:extLst>
              <a:ext uri="{FF2B5EF4-FFF2-40B4-BE49-F238E27FC236}">
                <a16:creationId xmlns:a16="http://schemas.microsoft.com/office/drawing/2014/main" id="{9F887434-4573-492E-8CD8-361694D57FC3}"/>
              </a:ext>
            </a:extLst>
          </p:cNvPr>
          <p:cNvSpPr>
            <a:spLocks noGrp="1" noChangeArrowheads="1"/>
          </p:cNvSpPr>
          <p:nvPr>
            <p:ph type="title"/>
          </p:nvPr>
        </p:nvSpPr>
        <p:spPr>
          <a:xfrm>
            <a:off x="457200" y="457200"/>
            <a:ext cx="7543800" cy="1173162"/>
          </a:xfrm>
        </p:spPr>
        <p:txBody>
          <a:bodyPr/>
          <a:lstStyle/>
          <a:p>
            <a:pPr eaLnBrk="1" hangingPunct="1"/>
            <a:r>
              <a:rPr lang="en-US" altLang="zh-CN" sz="3600" dirty="0">
                <a:ea typeface="宋体" panose="02010600030101010101" pitchFamily="2" charset="-122"/>
              </a:rPr>
              <a:t>Network Diagram</a:t>
            </a:r>
            <a:br>
              <a:rPr lang="en-US" altLang="zh-CN" sz="3600" dirty="0">
                <a:ea typeface="宋体" panose="02010600030101010101" pitchFamily="2" charset="-122"/>
              </a:rPr>
            </a:br>
            <a:r>
              <a:rPr lang="en-US" altLang="zh-CN" sz="2800" dirty="0">
                <a:ea typeface="宋体" panose="02010600030101010101" pitchFamily="2" charset="-122"/>
              </a:rPr>
              <a:t>Internal Network System</a:t>
            </a:r>
            <a:br>
              <a:rPr lang="en-US" altLang="zh-CN" sz="2800" dirty="0">
                <a:ea typeface="宋体" panose="02010600030101010101" pitchFamily="2" charset="-122"/>
              </a:rPr>
            </a:br>
            <a:r>
              <a:rPr lang="zh-CN" altLang="en-US" sz="2800" dirty="0">
                <a:ea typeface="宋体" panose="02010600030101010101" pitchFamily="2" charset="-122"/>
              </a:rPr>
              <a:t>内部网络系统的网络图</a:t>
            </a:r>
            <a:endParaRPr lang="en-US" altLang="zh-CN" sz="2800" dirty="0">
              <a:ea typeface="宋体" panose="02010600030101010101" pitchFamily="2" charset="-122"/>
            </a:endParaRPr>
          </a:p>
        </p:txBody>
      </p:sp>
      <p:pic>
        <p:nvPicPr>
          <p:cNvPr id="24580" name="Picture 5">
            <a:extLst>
              <a:ext uri="{FF2B5EF4-FFF2-40B4-BE49-F238E27FC236}">
                <a16:creationId xmlns:a16="http://schemas.microsoft.com/office/drawing/2014/main" id="{594571CF-C25D-406E-A11E-0C4B03F878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1716802"/>
            <a:ext cx="6553200" cy="4710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1" name="Footer Placeholder 4">
            <a:extLst>
              <a:ext uri="{FF2B5EF4-FFF2-40B4-BE49-F238E27FC236}">
                <a16:creationId xmlns:a16="http://schemas.microsoft.com/office/drawing/2014/main" id="{C1C9CEA4-383C-4FD7-9D30-7B1BF7EC2FA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24582" name="Rectangle 6">
            <a:extLst>
              <a:ext uri="{FF2B5EF4-FFF2-40B4-BE49-F238E27FC236}">
                <a16:creationId xmlns:a16="http://schemas.microsoft.com/office/drawing/2014/main" id="{AE328D91-685E-47A3-ACB5-B08CBD2AB7D4}"/>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6">
            <a:extLst>
              <a:ext uri="{FF2B5EF4-FFF2-40B4-BE49-F238E27FC236}">
                <a16:creationId xmlns:a16="http://schemas.microsoft.com/office/drawing/2014/main" id="{B375736E-D573-4E7B-8784-6D4C55CDEF2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4075583-A687-47D3-9244-C53C5A0EBCD2}" type="slidenum">
              <a:rPr lang="en-US" altLang="en-US"/>
              <a:pPr eaLnBrk="1" hangingPunct="1"/>
              <a:t>55</a:t>
            </a:fld>
            <a:endParaRPr lang="en-US" altLang="en-US"/>
          </a:p>
        </p:txBody>
      </p:sp>
      <p:sp>
        <p:nvSpPr>
          <p:cNvPr id="25603" name="Rectangle 2">
            <a:extLst>
              <a:ext uri="{FF2B5EF4-FFF2-40B4-BE49-F238E27FC236}">
                <a16:creationId xmlns:a16="http://schemas.microsoft.com/office/drawing/2014/main" id="{9E2A8EB4-2347-4184-9FC1-F4B91A25220E}"/>
              </a:ext>
            </a:extLst>
          </p:cNvPr>
          <p:cNvSpPr>
            <a:spLocks noGrp="1" noChangeArrowheads="1"/>
          </p:cNvSpPr>
          <p:nvPr>
            <p:ph type="title"/>
          </p:nvPr>
        </p:nvSpPr>
        <p:spPr>
          <a:xfrm>
            <a:off x="457200" y="122238"/>
            <a:ext cx="7543800" cy="868362"/>
          </a:xfrm>
        </p:spPr>
        <p:txBody>
          <a:bodyPr/>
          <a:lstStyle/>
          <a:p>
            <a:pPr eaLnBrk="1" hangingPunct="1"/>
            <a:r>
              <a:rPr lang="en-US" altLang="zh-CN" sz="3600">
                <a:ea typeface="宋体" panose="02010600030101010101" pitchFamily="2" charset="-122"/>
              </a:rPr>
              <a:t>Internal Network Terminology</a:t>
            </a:r>
          </a:p>
        </p:txBody>
      </p:sp>
      <p:sp>
        <p:nvSpPr>
          <p:cNvPr id="25604" name="Rectangle 3">
            <a:extLst>
              <a:ext uri="{FF2B5EF4-FFF2-40B4-BE49-F238E27FC236}">
                <a16:creationId xmlns:a16="http://schemas.microsoft.com/office/drawing/2014/main" id="{CE8198BD-2641-472E-9AF7-923A87DD4591}"/>
              </a:ext>
            </a:extLst>
          </p:cNvPr>
          <p:cNvSpPr>
            <a:spLocks noGrp="1" noChangeArrowheads="1"/>
          </p:cNvSpPr>
          <p:nvPr>
            <p:ph type="body" sz="half" idx="1"/>
          </p:nvPr>
        </p:nvSpPr>
        <p:spPr>
          <a:xfrm>
            <a:off x="457200" y="1219200"/>
            <a:ext cx="8001000" cy="4953000"/>
          </a:xfrm>
        </p:spPr>
        <p:txBody>
          <a:bodyPr/>
          <a:lstStyle/>
          <a:p>
            <a:pPr eaLnBrk="1" hangingPunct="1">
              <a:lnSpc>
                <a:spcPct val="90000"/>
              </a:lnSpc>
            </a:pPr>
            <a:r>
              <a:rPr lang="en-GB" altLang="zh-CN" sz="2800" dirty="0"/>
              <a:t>Local area network </a:t>
            </a:r>
            <a:r>
              <a:rPr lang="en-US" altLang="zh-CN" sz="2800" dirty="0"/>
              <a:t>(LAN</a:t>
            </a:r>
            <a:r>
              <a:rPr lang="zh-CN" altLang="en-US" sz="2800" dirty="0"/>
              <a:t>，局域网</a:t>
            </a:r>
            <a:r>
              <a:rPr lang="en-US" altLang="zh-CN" sz="2800" dirty="0"/>
              <a:t>)</a:t>
            </a:r>
            <a:endParaRPr lang="en-GB" altLang="zh-CN" sz="2800" dirty="0"/>
          </a:p>
          <a:p>
            <a:pPr lvl="1" eaLnBrk="1" hangingPunct="1">
              <a:lnSpc>
                <a:spcPct val="90000"/>
              </a:lnSpc>
            </a:pPr>
            <a:r>
              <a:rPr lang="en-GB" altLang="zh-CN" sz="2200" dirty="0"/>
              <a:t>a computer network in which the cabling and hardware are confined to a single location</a:t>
            </a:r>
            <a:endParaRPr lang="en-GB" altLang="zh-CN" sz="2500" dirty="0"/>
          </a:p>
          <a:p>
            <a:pPr eaLnBrk="1" hangingPunct="1">
              <a:lnSpc>
                <a:spcPct val="90000"/>
              </a:lnSpc>
            </a:pPr>
            <a:r>
              <a:rPr lang="en-GB" altLang="zh-CN" sz="2800" dirty="0"/>
              <a:t>Client-server architecture</a:t>
            </a:r>
            <a:r>
              <a:rPr lang="zh-CN" altLang="en-US" sz="2800" dirty="0"/>
              <a:t>（客户机</a:t>
            </a:r>
            <a:r>
              <a:rPr lang="en-US" altLang="zh-CN" sz="2800" dirty="0"/>
              <a:t>-</a:t>
            </a:r>
            <a:r>
              <a:rPr lang="zh-CN" altLang="en-US" sz="2800" dirty="0"/>
              <a:t>服务器）</a:t>
            </a:r>
            <a:endParaRPr lang="en-GB" altLang="zh-CN" sz="2800" dirty="0"/>
          </a:p>
          <a:p>
            <a:pPr lvl="1" eaLnBrk="1" hangingPunct="1">
              <a:lnSpc>
                <a:spcPct val="90000"/>
              </a:lnSpc>
            </a:pPr>
            <a:r>
              <a:rPr lang="en-GB" altLang="zh-CN" sz="2200" dirty="0"/>
              <a:t>a computer network configuration with user’s computers and central computers that provide common services</a:t>
            </a:r>
            <a:endParaRPr lang="en-GB" altLang="zh-CN" sz="2400" dirty="0"/>
          </a:p>
          <a:p>
            <a:pPr eaLnBrk="1" hangingPunct="1">
              <a:lnSpc>
                <a:spcPct val="90000"/>
              </a:lnSpc>
            </a:pPr>
            <a:r>
              <a:rPr lang="en-GB" altLang="zh-CN" sz="2800" dirty="0"/>
              <a:t>Client computers</a:t>
            </a:r>
            <a:r>
              <a:rPr lang="zh-CN" altLang="en-US" sz="2800" dirty="0"/>
              <a:t>（客户端）</a:t>
            </a:r>
            <a:endParaRPr lang="en-GB" altLang="zh-CN" sz="2800" dirty="0"/>
          </a:p>
          <a:p>
            <a:pPr lvl="1" eaLnBrk="1" hangingPunct="1">
              <a:lnSpc>
                <a:spcPct val="90000"/>
              </a:lnSpc>
            </a:pPr>
            <a:r>
              <a:rPr lang="en-GB" altLang="zh-CN" sz="2200" dirty="0"/>
              <a:t>the computers at which the users work to perform their computational tasks</a:t>
            </a:r>
            <a:endParaRPr lang="en-GB" altLang="zh-CN" sz="2400" dirty="0"/>
          </a:p>
          <a:p>
            <a:pPr eaLnBrk="1" hangingPunct="1">
              <a:lnSpc>
                <a:spcPct val="90000"/>
              </a:lnSpc>
            </a:pPr>
            <a:r>
              <a:rPr lang="en-GB" altLang="zh-CN" sz="2800" dirty="0"/>
              <a:t>Server computer</a:t>
            </a:r>
            <a:r>
              <a:rPr lang="zh-CN" altLang="en-US" sz="2800" dirty="0"/>
              <a:t>（服务器）</a:t>
            </a:r>
            <a:endParaRPr lang="en-GB" altLang="zh-CN" sz="2800" dirty="0"/>
          </a:p>
          <a:p>
            <a:pPr lvl="1" eaLnBrk="1" hangingPunct="1">
              <a:lnSpc>
                <a:spcPct val="90000"/>
              </a:lnSpc>
            </a:pPr>
            <a:r>
              <a:rPr lang="en-GB" altLang="zh-CN" sz="2200" dirty="0"/>
              <a:t>the central computer that provides services (such as database access) to the client computers over a network</a:t>
            </a:r>
            <a:endParaRPr lang="en-GB" altLang="zh-CN" sz="2500" dirty="0"/>
          </a:p>
        </p:txBody>
      </p:sp>
      <p:sp>
        <p:nvSpPr>
          <p:cNvPr id="25605" name="Footer Placeholder 4">
            <a:extLst>
              <a:ext uri="{FF2B5EF4-FFF2-40B4-BE49-F238E27FC236}">
                <a16:creationId xmlns:a16="http://schemas.microsoft.com/office/drawing/2014/main" id="{7BC86220-ED34-4159-B855-57C5B7E9938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25606" name="Rectangle 6">
            <a:extLst>
              <a:ext uri="{FF2B5EF4-FFF2-40B4-BE49-F238E27FC236}">
                <a16:creationId xmlns:a16="http://schemas.microsoft.com/office/drawing/2014/main" id="{AF00FEC0-8BF8-4593-872D-3F1D0E21DDB7}"/>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604">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5604">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5604">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560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6">
            <a:extLst>
              <a:ext uri="{FF2B5EF4-FFF2-40B4-BE49-F238E27FC236}">
                <a16:creationId xmlns:a16="http://schemas.microsoft.com/office/drawing/2014/main" id="{74A66F49-CE8C-4341-8E13-561425F85CB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282A63B-97F7-4773-96DE-9926FDAE4682}" type="slidenum">
              <a:rPr lang="en-US" altLang="en-US"/>
              <a:pPr eaLnBrk="1" hangingPunct="1"/>
              <a:t>56</a:t>
            </a:fld>
            <a:endParaRPr lang="en-US" altLang="en-US"/>
          </a:p>
        </p:txBody>
      </p:sp>
      <p:sp>
        <p:nvSpPr>
          <p:cNvPr id="26627" name="Rectangle 2">
            <a:extLst>
              <a:ext uri="{FF2B5EF4-FFF2-40B4-BE49-F238E27FC236}">
                <a16:creationId xmlns:a16="http://schemas.microsoft.com/office/drawing/2014/main" id="{485AE508-4404-419F-ABB1-97FCE8932683}"/>
              </a:ext>
            </a:extLst>
          </p:cNvPr>
          <p:cNvSpPr>
            <a:spLocks noGrp="1" noChangeArrowheads="1"/>
          </p:cNvSpPr>
          <p:nvPr>
            <p:ph type="title"/>
          </p:nvPr>
        </p:nvSpPr>
        <p:spPr>
          <a:xfrm>
            <a:off x="457200" y="122238"/>
            <a:ext cx="7543800" cy="868362"/>
          </a:xfrm>
        </p:spPr>
        <p:txBody>
          <a:bodyPr/>
          <a:lstStyle/>
          <a:p>
            <a:pPr eaLnBrk="1" hangingPunct="1"/>
            <a:r>
              <a:rPr lang="en-US" altLang="zh-CN" sz="3600" dirty="0">
                <a:ea typeface="宋体" panose="02010600030101010101" pitchFamily="2" charset="-122"/>
              </a:rPr>
              <a:t>Internal Network Terminology</a:t>
            </a:r>
          </a:p>
        </p:txBody>
      </p:sp>
      <p:sp>
        <p:nvSpPr>
          <p:cNvPr id="26628" name="Rectangle 3">
            <a:extLst>
              <a:ext uri="{FF2B5EF4-FFF2-40B4-BE49-F238E27FC236}">
                <a16:creationId xmlns:a16="http://schemas.microsoft.com/office/drawing/2014/main" id="{7AFA0A95-B80A-46DE-8E7C-F11783DE18A6}"/>
              </a:ext>
            </a:extLst>
          </p:cNvPr>
          <p:cNvSpPr>
            <a:spLocks noGrp="1" noChangeArrowheads="1"/>
          </p:cNvSpPr>
          <p:nvPr>
            <p:ph type="body" sz="half" idx="1"/>
          </p:nvPr>
        </p:nvSpPr>
        <p:spPr>
          <a:xfrm>
            <a:off x="457200" y="1219200"/>
            <a:ext cx="8001000" cy="4953000"/>
          </a:xfrm>
        </p:spPr>
        <p:txBody>
          <a:bodyPr/>
          <a:lstStyle/>
          <a:p>
            <a:pPr eaLnBrk="1" hangingPunct="1"/>
            <a:r>
              <a:rPr lang="en-US" altLang="zh-CN" sz="3200" dirty="0">
                <a:ea typeface="宋体" panose="02010600030101010101" pitchFamily="2" charset="-122"/>
              </a:rPr>
              <a:t>Desktop applications </a:t>
            </a:r>
            <a:r>
              <a:rPr lang="zh-CN" altLang="en-US" sz="3200" dirty="0">
                <a:ea typeface="宋体" panose="02010600030101010101" pitchFamily="2" charset="-122"/>
              </a:rPr>
              <a:t>（桌面应用程序）</a:t>
            </a:r>
            <a:endParaRPr lang="en-US" altLang="zh-CN" sz="3200" dirty="0">
              <a:ea typeface="宋体" panose="02010600030101010101" pitchFamily="2" charset="-122"/>
            </a:endParaRPr>
          </a:p>
          <a:p>
            <a:pPr eaLnBrk="1" hangingPunct="1"/>
            <a:r>
              <a:rPr lang="en-GB" altLang="zh-CN" sz="3200" dirty="0"/>
              <a:t>Browser-based internal network</a:t>
            </a:r>
            <a:r>
              <a:rPr lang="zh-CN" altLang="en-US" sz="3200" dirty="0">
                <a:ea typeface="宋体" panose="02010600030101010101" pitchFamily="2" charset="-122"/>
              </a:rPr>
              <a:t>（基于浏览器的内部网络）</a:t>
            </a:r>
            <a:endParaRPr lang="en-GB" altLang="zh-CN" sz="3200" dirty="0">
              <a:ea typeface="宋体" panose="02010600030101010101" pitchFamily="2" charset="-122"/>
            </a:endParaRPr>
          </a:p>
          <a:p>
            <a:pPr lvl="1" eaLnBrk="1" hangingPunct="1"/>
            <a:r>
              <a:rPr lang="en-GB" altLang="zh-CN" sz="2800" dirty="0"/>
              <a:t>Hypertext markup language (HTML)</a:t>
            </a:r>
          </a:p>
          <a:p>
            <a:pPr lvl="2" eaLnBrk="1" hangingPunct="1"/>
            <a:r>
              <a:rPr lang="en-GB" altLang="zh-CN" sz="2400" dirty="0"/>
              <a:t>the predominant language for constructing Web pages and which consists of tags and rules about </a:t>
            </a:r>
            <a:r>
              <a:rPr lang="en-GB" altLang="zh-CN" sz="2400" u="sng" dirty="0"/>
              <a:t>how to display pages</a:t>
            </a:r>
          </a:p>
          <a:p>
            <a:pPr lvl="1" eaLnBrk="1" hangingPunct="1"/>
            <a:r>
              <a:rPr lang="en-GB" altLang="zh-CN" sz="2800" dirty="0"/>
              <a:t>Transmission Control Protocol/Internet Protocol (TCP/IP)</a:t>
            </a:r>
          </a:p>
          <a:p>
            <a:pPr lvl="2" eaLnBrk="1" hangingPunct="1"/>
            <a:r>
              <a:rPr lang="en-GB" altLang="zh-CN" sz="2400" dirty="0"/>
              <a:t>The foundation protocol of the Internet; used to provide reliable delivery of messages between networked computers</a:t>
            </a:r>
          </a:p>
          <a:p>
            <a:pPr lvl="1" eaLnBrk="1" hangingPunct="1">
              <a:buFont typeface="Wingdings" panose="05000000000000000000" pitchFamily="2" charset="2"/>
              <a:buNone/>
            </a:pPr>
            <a:endParaRPr lang="en-GB" altLang="zh-CN" sz="2400" dirty="0"/>
          </a:p>
        </p:txBody>
      </p:sp>
      <p:sp>
        <p:nvSpPr>
          <p:cNvPr id="26630" name="Rectangle 6">
            <a:extLst>
              <a:ext uri="{FF2B5EF4-FFF2-40B4-BE49-F238E27FC236}">
                <a16:creationId xmlns:a16="http://schemas.microsoft.com/office/drawing/2014/main" id="{EDC62DCD-5792-4834-BCD1-D352AD155A36}"/>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628">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628">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6628">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662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6">
            <a:extLst>
              <a:ext uri="{FF2B5EF4-FFF2-40B4-BE49-F238E27FC236}">
                <a16:creationId xmlns:a16="http://schemas.microsoft.com/office/drawing/2014/main" id="{F00CA098-E519-4C47-9206-317B0743621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894916C-718E-467A-89A7-917F334A22B4}" type="slidenum">
              <a:rPr lang="en-US" altLang="en-US"/>
              <a:pPr eaLnBrk="1" hangingPunct="1"/>
              <a:t>57</a:t>
            </a:fld>
            <a:endParaRPr lang="en-US" altLang="en-US"/>
          </a:p>
        </p:txBody>
      </p:sp>
      <p:sp>
        <p:nvSpPr>
          <p:cNvPr id="23555" name="Rectangle 2">
            <a:extLst>
              <a:ext uri="{FF2B5EF4-FFF2-40B4-BE49-F238E27FC236}">
                <a16:creationId xmlns:a16="http://schemas.microsoft.com/office/drawing/2014/main" id="{13515184-8DF8-4A48-88A8-882E6A7F400B}"/>
              </a:ext>
            </a:extLst>
          </p:cNvPr>
          <p:cNvSpPr>
            <a:spLocks noGrp="1" noChangeArrowheads="1"/>
          </p:cNvSpPr>
          <p:nvPr>
            <p:ph type="title"/>
          </p:nvPr>
        </p:nvSpPr>
        <p:spPr>
          <a:xfrm>
            <a:off x="457200" y="122238"/>
            <a:ext cx="7543800" cy="1173162"/>
          </a:xfrm>
        </p:spPr>
        <p:txBody>
          <a:bodyPr/>
          <a:lstStyle/>
          <a:p>
            <a:pPr eaLnBrk="1" hangingPunct="1"/>
            <a:r>
              <a:rPr lang="en-US" altLang="zh-CN" sz="3600">
                <a:ea typeface="宋体" panose="02010600030101010101" pitchFamily="2" charset="-122"/>
              </a:rPr>
              <a:t>Design the Environment</a:t>
            </a:r>
            <a:br>
              <a:rPr lang="en-US" altLang="zh-CN" sz="3200">
                <a:ea typeface="宋体" panose="02010600030101010101" pitchFamily="2" charset="-122"/>
              </a:rPr>
            </a:br>
            <a:r>
              <a:rPr lang="en-US" altLang="zh-CN" sz="2800">
                <a:ea typeface="宋体" panose="02010600030101010101" pitchFamily="2" charset="-122"/>
              </a:rPr>
              <a:t>The design activity now in more detail</a:t>
            </a:r>
          </a:p>
        </p:txBody>
      </p:sp>
      <p:sp>
        <p:nvSpPr>
          <p:cNvPr id="23556" name="Rectangle 4">
            <a:extLst>
              <a:ext uri="{FF2B5EF4-FFF2-40B4-BE49-F238E27FC236}">
                <a16:creationId xmlns:a16="http://schemas.microsoft.com/office/drawing/2014/main" id="{08C08CD2-C6E3-48CD-9833-8DAD8F536950}"/>
              </a:ext>
            </a:extLst>
          </p:cNvPr>
          <p:cNvSpPr>
            <a:spLocks noGrp="1" noChangeArrowheads="1"/>
          </p:cNvSpPr>
          <p:nvPr>
            <p:ph type="body" sz="half" idx="1"/>
          </p:nvPr>
        </p:nvSpPr>
        <p:spPr>
          <a:xfrm>
            <a:off x="457200" y="1371600"/>
            <a:ext cx="8153400" cy="4759325"/>
          </a:xfrm>
        </p:spPr>
        <p:txBody>
          <a:bodyPr/>
          <a:lstStyle/>
          <a:p>
            <a:pPr eaLnBrk="1" hangingPunct="1"/>
            <a:r>
              <a:rPr lang="en-US" altLang="zh-CN" sz="3200" dirty="0">
                <a:ea typeface="宋体" panose="02010600030101010101" pitchFamily="2" charset="-122"/>
              </a:rPr>
              <a:t>Design for Internal Deployment</a:t>
            </a:r>
            <a:r>
              <a:rPr lang="zh-CN" altLang="en-US" sz="3200" dirty="0">
                <a:ea typeface="宋体" panose="02010600030101010101" pitchFamily="2" charset="-122"/>
              </a:rPr>
              <a:t>（三层客户端服务器架构）</a:t>
            </a:r>
            <a:endParaRPr lang="en-US" altLang="zh-CN" sz="3200" dirty="0">
              <a:ea typeface="宋体" panose="02010600030101010101" pitchFamily="2" charset="-122"/>
            </a:endParaRPr>
          </a:p>
          <a:p>
            <a:pPr lvl="1" eaLnBrk="1" hangingPunct="1"/>
            <a:r>
              <a:rPr lang="en-US" altLang="zh-CN" sz="2800" dirty="0">
                <a:ea typeface="宋体" panose="02010600030101010101" pitchFamily="2" charset="-122"/>
              </a:rPr>
              <a:t>Stand alone software systems</a:t>
            </a:r>
          </a:p>
          <a:p>
            <a:pPr lvl="2" eaLnBrk="1" hangingPunct="1"/>
            <a:r>
              <a:rPr lang="en-US" altLang="zh-CN" sz="2400" dirty="0">
                <a:ea typeface="宋体" panose="02010600030101010101" pitchFamily="2" charset="-122"/>
              </a:rPr>
              <a:t>Run on one device without networking</a:t>
            </a:r>
          </a:p>
          <a:p>
            <a:pPr lvl="1" eaLnBrk="1" hangingPunct="1"/>
            <a:r>
              <a:rPr lang="en-US" altLang="zh-CN" sz="2800" dirty="0">
                <a:ea typeface="宋体" panose="02010600030101010101" pitchFamily="2" charset="-122"/>
              </a:rPr>
              <a:t>Internal network-based systems</a:t>
            </a:r>
          </a:p>
          <a:p>
            <a:pPr lvl="2" eaLnBrk="1" hangingPunct="1"/>
            <a:r>
              <a:rPr lang="en-US" altLang="zh-CN" sz="2400" dirty="0">
                <a:ea typeface="宋体" panose="02010600030101010101" pitchFamily="2" charset="-122"/>
              </a:rPr>
              <a:t>Local area network, client-server architecture</a:t>
            </a:r>
          </a:p>
          <a:p>
            <a:pPr lvl="2" eaLnBrk="1" hangingPunct="1"/>
            <a:r>
              <a:rPr lang="en-US" altLang="zh-CN" sz="2400" dirty="0">
                <a:ea typeface="宋体" panose="02010600030101010101" pitchFamily="2" charset="-122"/>
              </a:rPr>
              <a:t>Desktop applications and browser-based applications</a:t>
            </a:r>
          </a:p>
          <a:p>
            <a:pPr lvl="1" eaLnBrk="1" hangingPunct="1"/>
            <a:r>
              <a:rPr lang="en-US" altLang="zh-CN" sz="2800" dirty="0">
                <a:solidFill>
                  <a:srgbClr val="C00000"/>
                </a:solidFill>
                <a:ea typeface="宋体" panose="02010600030101010101" pitchFamily="2" charset="-122"/>
              </a:rPr>
              <a:t>Three-layer client server architecture</a:t>
            </a:r>
            <a:r>
              <a:rPr lang="zh-CN" altLang="en-US" sz="2800" dirty="0">
                <a:solidFill>
                  <a:srgbClr val="C00000"/>
                </a:solidFill>
                <a:ea typeface="宋体" panose="02010600030101010101" pitchFamily="2" charset="-122"/>
              </a:rPr>
              <a:t>（三层客户端服务器架构）</a:t>
            </a:r>
            <a:endParaRPr lang="en-US" altLang="zh-CN" sz="2800" dirty="0">
              <a:solidFill>
                <a:srgbClr val="C00000"/>
              </a:solidFill>
              <a:ea typeface="宋体" panose="02010600030101010101" pitchFamily="2" charset="-122"/>
            </a:endParaRPr>
          </a:p>
          <a:p>
            <a:pPr lvl="2" eaLnBrk="1" hangingPunct="1"/>
            <a:r>
              <a:rPr lang="en-US" altLang="zh-CN" sz="2400" dirty="0">
                <a:solidFill>
                  <a:srgbClr val="C00000"/>
                </a:solidFill>
                <a:ea typeface="宋体" panose="02010600030101010101" pitchFamily="2" charset="-122"/>
              </a:rPr>
              <a:t>View layer, domain layer, and data layer</a:t>
            </a:r>
          </a:p>
        </p:txBody>
      </p:sp>
      <p:sp>
        <p:nvSpPr>
          <p:cNvPr id="23558" name="Rectangle 6">
            <a:extLst>
              <a:ext uri="{FF2B5EF4-FFF2-40B4-BE49-F238E27FC236}">
                <a16:creationId xmlns:a16="http://schemas.microsoft.com/office/drawing/2014/main" id="{E287DDA7-9334-4A22-8483-9035DD545CC4}"/>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extLst>
      <p:ext uri="{BB962C8B-B14F-4D97-AF65-F5344CB8AC3E}">
        <p14:creationId xmlns:p14="http://schemas.microsoft.com/office/powerpoint/2010/main" val="127235567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6">
            <a:extLst>
              <a:ext uri="{FF2B5EF4-FFF2-40B4-BE49-F238E27FC236}">
                <a16:creationId xmlns:a16="http://schemas.microsoft.com/office/drawing/2014/main" id="{BF377710-6E2D-47EC-9CA3-0A12A050781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DB5743A-3CEB-4514-A6B5-C0FE227127B8}" type="slidenum">
              <a:rPr lang="en-US" altLang="en-US"/>
              <a:pPr eaLnBrk="1" hangingPunct="1"/>
              <a:t>58</a:t>
            </a:fld>
            <a:endParaRPr lang="en-US" altLang="en-US"/>
          </a:p>
        </p:txBody>
      </p:sp>
      <p:sp>
        <p:nvSpPr>
          <p:cNvPr id="27651" name="Rectangle 2">
            <a:extLst>
              <a:ext uri="{FF2B5EF4-FFF2-40B4-BE49-F238E27FC236}">
                <a16:creationId xmlns:a16="http://schemas.microsoft.com/office/drawing/2014/main" id="{C9DD494A-04F0-461F-8105-DD244F5564D1}"/>
              </a:ext>
            </a:extLst>
          </p:cNvPr>
          <p:cNvSpPr>
            <a:spLocks noGrp="1" noChangeArrowheads="1"/>
          </p:cNvSpPr>
          <p:nvPr>
            <p:ph type="title"/>
          </p:nvPr>
        </p:nvSpPr>
        <p:spPr>
          <a:xfrm>
            <a:off x="457200" y="122238"/>
            <a:ext cx="7543800" cy="868362"/>
          </a:xfrm>
        </p:spPr>
        <p:txBody>
          <a:bodyPr/>
          <a:lstStyle/>
          <a:p>
            <a:pPr eaLnBrk="1" hangingPunct="1"/>
            <a:r>
              <a:rPr lang="en-US" altLang="zh-CN" sz="3600">
                <a:ea typeface="宋体" panose="02010600030101010101" pitchFamily="2" charset="-122"/>
              </a:rPr>
              <a:t>Three Layer Architecture</a:t>
            </a:r>
          </a:p>
        </p:txBody>
      </p:sp>
      <p:sp>
        <p:nvSpPr>
          <p:cNvPr id="27652" name="Rectangle 3">
            <a:extLst>
              <a:ext uri="{FF2B5EF4-FFF2-40B4-BE49-F238E27FC236}">
                <a16:creationId xmlns:a16="http://schemas.microsoft.com/office/drawing/2014/main" id="{C714533E-16EE-4BE0-9E33-4A3C47A6D490}"/>
              </a:ext>
            </a:extLst>
          </p:cNvPr>
          <p:cNvSpPr>
            <a:spLocks noGrp="1" noChangeArrowheads="1"/>
          </p:cNvSpPr>
          <p:nvPr>
            <p:ph type="body" sz="half" idx="1"/>
          </p:nvPr>
        </p:nvSpPr>
        <p:spPr>
          <a:xfrm>
            <a:off x="457200" y="1219200"/>
            <a:ext cx="8001000" cy="4953000"/>
          </a:xfrm>
        </p:spPr>
        <p:txBody>
          <a:bodyPr/>
          <a:lstStyle/>
          <a:p>
            <a:pPr eaLnBrk="1" hangingPunct="1"/>
            <a:r>
              <a:rPr lang="en-GB" altLang="zh-CN" sz="2800" dirty="0"/>
              <a:t>Three Layer Client-Server Architecture</a:t>
            </a:r>
            <a:r>
              <a:rPr lang="zh-CN" altLang="en-US" sz="2800" dirty="0"/>
              <a:t>（三层客户机</a:t>
            </a:r>
            <a:r>
              <a:rPr lang="en-US" altLang="zh-CN" sz="2800" dirty="0"/>
              <a:t>-</a:t>
            </a:r>
            <a:r>
              <a:rPr lang="zh-CN" altLang="en-US" sz="2800" dirty="0"/>
              <a:t>服务器结构）</a:t>
            </a:r>
            <a:endParaRPr lang="en-GB" altLang="zh-CN" sz="2800" dirty="0"/>
          </a:p>
          <a:p>
            <a:pPr lvl="1" eaLnBrk="1" hangingPunct="1"/>
            <a:r>
              <a:rPr lang="en-GB" altLang="zh-CN" sz="2000" dirty="0"/>
              <a:t>a client/server architecture that divides an application into view layer, business logic layer, and data layer</a:t>
            </a:r>
          </a:p>
          <a:p>
            <a:pPr eaLnBrk="1" hangingPunct="1"/>
            <a:r>
              <a:rPr lang="en-GB" altLang="zh-CN" sz="2800" dirty="0"/>
              <a:t>View layer </a:t>
            </a:r>
            <a:r>
              <a:rPr lang="zh-CN" altLang="en-US" sz="2800" dirty="0"/>
              <a:t>（视图层）</a:t>
            </a:r>
            <a:endParaRPr lang="en-GB" altLang="zh-CN" sz="2800" dirty="0"/>
          </a:p>
          <a:p>
            <a:pPr lvl="1" eaLnBrk="1" hangingPunct="1"/>
            <a:r>
              <a:rPr lang="en-GB" altLang="zh-CN" sz="2000" dirty="0"/>
              <a:t>the part of the three-layer architecture that contains the user interface</a:t>
            </a:r>
          </a:p>
          <a:p>
            <a:pPr eaLnBrk="1" hangingPunct="1"/>
            <a:r>
              <a:rPr lang="en-GB" altLang="zh-CN" sz="2800" dirty="0"/>
              <a:t>Business logic layer or domain layer </a:t>
            </a:r>
            <a:r>
              <a:rPr lang="zh-CN" altLang="en-US" sz="2800" dirty="0"/>
              <a:t>（业务逻辑层或领域层）</a:t>
            </a:r>
            <a:endParaRPr lang="en-GB" altLang="zh-CN" sz="2800" dirty="0"/>
          </a:p>
          <a:p>
            <a:pPr lvl="1" eaLnBrk="1" hangingPunct="1"/>
            <a:r>
              <a:rPr lang="en-GB" altLang="zh-CN" sz="2000" dirty="0"/>
              <a:t>the part of a three-layer architecture that contains the programs that implement the business rules and processes</a:t>
            </a:r>
          </a:p>
          <a:p>
            <a:pPr eaLnBrk="1" hangingPunct="1"/>
            <a:r>
              <a:rPr lang="en-GB" altLang="zh-CN" sz="2800" dirty="0"/>
              <a:t>Data layer </a:t>
            </a:r>
            <a:r>
              <a:rPr lang="zh-CN" altLang="en-US" sz="2800" dirty="0"/>
              <a:t>（数据层）</a:t>
            </a:r>
            <a:endParaRPr lang="en-GB" altLang="zh-CN" sz="2800" dirty="0"/>
          </a:p>
          <a:p>
            <a:pPr lvl="1" eaLnBrk="1" hangingPunct="1"/>
            <a:r>
              <a:rPr lang="en-GB" altLang="zh-CN" sz="2000" dirty="0"/>
              <a:t>the part of a three-layer architecture that interacts with the data</a:t>
            </a:r>
          </a:p>
        </p:txBody>
      </p:sp>
      <p:sp>
        <p:nvSpPr>
          <p:cNvPr id="27654" name="Rectangle 6">
            <a:extLst>
              <a:ext uri="{FF2B5EF4-FFF2-40B4-BE49-F238E27FC236}">
                <a16:creationId xmlns:a16="http://schemas.microsoft.com/office/drawing/2014/main" id="{1F2987B9-6389-4DCF-A0E3-05D35C95E974}"/>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652">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7652">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7652">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7652">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7652">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765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6">
            <a:extLst>
              <a:ext uri="{FF2B5EF4-FFF2-40B4-BE49-F238E27FC236}">
                <a16:creationId xmlns:a16="http://schemas.microsoft.com/office/drawing/2014/main" id="{23EB7019-240A-4EC0-BA4D-757AD932965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73E8FB6-757B-4A86-8563-1D0E558541D9}" type="slidenum">
              <a:rPr lang="en-US" altLang="en-US"/>
              <a:pPr eaLnBrk="1" hangingPunct="1"/>
              <a:t>59</a:t>
            </a:fld>
            <a:endParaRPr lang="en-US" altLang="en-US"/>
          </a:p>
        </p:txBody>
      </p:sp>
      <p:sp>
        <p:nvSpPr>
          <p:cNvPr id="28675" name="Rectangle 2">
            <a:extLst>
              <a:ext uri="{FF2B5EF4-FFF2-40B4-BE49-F238E27FC236}">
                <a16:creationId xmlns:a16="http://schemas.microsoft.com/office/drawing/2014/main" id="{2266B4AD-86BE-4BF1-80B4-7AB7F3846AAE}"/>
              </a:ext>
            </a:extLst>
          </p:cNvPr>
          <p:cNvSpPr>
            <a:spLocks noGrp="1" noChangeArrowheads="1"/>
          </p:cNvSpPr>
          <p:nvPr>
            <p:ph type="title"/>
          </p:nvPr>
        </p:nvSpPr>
        <p:spPr>
          <a:xfrm>
            <a:off x="457200" y="122238"/>
            <a:ext cx="7848600" cy="2011362"/>
          </a:xfrm>
        </p:spPr>
        <p:txBody>
          <a:bodyPr/>
          <a:lstStyle/>
          <a:p>
            <a:pPr eaLnBrk="1" hangingPunct="1"/>
            <a:r>
              <a:rPr lang="en-US" altLang="zh-CN" sz="4000">
                <a:ea typeface="宋体" panose="02010600030101010101" pitchFamily="2" charset="-122"/>
              </a:rPr>
              <a:t>Abstract Three Layer Architecture</a:t>
            </a:r>
            <a:endParaRPr lang="en-US" altLang="zh-CN" sz="3200">
              <a:ea typeface="宋体" panose="02010600030101010101" pitchFamily="2" charset="-122"/>
            </a:endParaRPr>
          </a:p>
        </p:txBody>
      </p:sp>
      <p:pic>
        <p:nvPicPr>
          <p:cNvPr id="28676" name="Picture 4">
            <a:extLst>
              <a:ext uri="{FF2B5EF4-FFF2-40B4-BE49-F238E27FC236}">
                <a16:creationId xmlns:a16="http://schemas.microsoft.com/office/drawing/2014/main" id="{80F0E1AE-3112-41BE-A12A-5484A77F92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3988" y="2438400"/>
            <a:ext cx="8990012" cy="1423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7" name="Footer Placeholder 4">
            <a:extLst>
              <a:ext uri="{FF2B5EF4-FFF2-40B4-BE49-F238E27FC236}">
                <a16:creationId xmlns:a16="http://schemas.microsoft.com/office/drawing/2014/main" id="{332B6BDD-5DA2-43D9-9055-925ED258B49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28678" name="Rectangle 6">
            <a:extLst>
              <a:ext uri="{FF2B5EF4-FFF2-40B4-BE49-F238E27FC236}">
                <a16:creationId xmlns:a16="http://schemas.microsoft.com/office/drawing/2014/main" id="{3A130DF2-FE2C-43F6-BA76-EE6F66AA2A74}"/>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 name="矩形: 圆角 1">
            <a:extLst>
              <a:ext uri="{FF2B5EF4-FFF2-40B4-BE49-F238E27FC236}">
                <a16:creationId xmlns:a16="http://schemas.microsoft.com/office/drawing/2014/main" id="{430B2E1F-E954-4AFB-B0C9-1C33947E169E}"/>
              </a:ext>
            </a:extLst>
          </p:cNvPr>
          <p:cNvSpPr/>
          <p:nvPr/>
        </p:nvSpPr>
        <p:spPr>
          <a:xfrm>
            <a:off x="381000" y="2667000"/>
            <a:ext cx="1066800" cy="228600"/>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圆角 7">
            <a:extLst>
              <a:ext uri="{FF2B5EF4-FFF2-40B4-BE49-F238E27FC236}">
                <a16:creationId xmlns:a16="http://schemas.microsoft.com/office/drawing/2014/main" id="{B4E97E5C-EA8B-4B9A-BB5E-001C907E5A7A}"/>
              </a:ext>
            </a:extLst>
          </p:cNvPr>
          <p:cNvSpPr/>
          <p:nvPr/>
        </p:nvSpPr>
        <p:spPr>
          <a:xfrm>
            <a:off x="3429000" y="2438400"/>
            <a:ext cx="952500" cy="457200"/>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圆角 8">
            <a:extLst>
              <a:ext uri="{FF2B5EF4-FFF2-40B4-BE49-F238E27FC236}">
                <a16:creationId xmlns:a16="http://schemas.microsoft.com/office/drawing/2014/main" id="{C9A80B59-75F6-4E12-8BF4-F6A284A17409}"/>
              </a:ext>
            </a:extLst>
          </p:cNvPr>
          <p:cNvSpPr/>
          <p:nvPr/>
        </p:nvSpPr>
        <p:spPr>
          <a:xfrm>
            <a:off x="6362700" y="2438400"/>
            <a:ext cx="952500" cy="457200"/>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圆角 9">
            <a:extLst>
              <a:ext uri="{FF2B5EF4-FFF2-40B4-BE49-F238E27FC236}">
                <a16:creationId xmlns:a16="http://schemas.microsoft.com/office/drawing/2014/main" id="{A87E0F11-8D9C-4F83-9832-B46574819FA7}"/>
              </a:ext>
            </a:extLst>
          </p:cNvPr>
          <p:cNvSpPr/>
          <p:nvPr/>
        </p:nvSpPr>
        <p:spPr>
          <a:xfrm>
            <a:off x="6305550" y="3348037"/>
            <a:ext cx="1066800" cy="457200"/>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圆角 10">
            <a:extLst>
              <a:ext uri="{FF2B5EF4-FFF2-40B4-BE49-F238E27FC236}">
                <a16:creationId xmlns:a16="http://schemas.microsoft.com/office/drawing/2014/main" id="{9F7BC4EB-2E59-4525-AE7A-2F0C18087013}"/>
              </a:ext>
            </a:extLst>
          </p:cNvPr>
          <p:cNvSpPr/>
          <p:nvPr/>
        </p:nvSpPr>
        <p:spPr>
          <a:xfrm>
            <a:off x="3429000" y="3348037"/>
            <a:ext cx="952500" cy="457200"/>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圆角 11">
            <a:extLst>
              <a:ext uri="{FF2B5EF4-FFF2-40B4-BE49-F238E27FC236}">
                <a16:creationId xmlns:a16="http://schemas.microsoft.com/office/drawing/2014/main" id="{0F9932C9-19B5-4904-9A1C-54A77C9AB8BD}"/>
              </a:ext>
            </a:extLst>
          </p:cNvPr>
          <p:cNvSpPr/>
          <p:nvPr/>
        </p:nvSpPr>
        <p:spPr>
          <a:xfrm>
            <a:off x="457200" y="3343274"/>
            <a:ext cx="952500" cy="457200"/>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633F4501-CFF8-4B42-8368-CDDB72549E84}"/>
              </a:ext>
            </a:extLst>
          </p:cNvPr>
          <p:cNvSpPr txBox="1"/>
          <p:nvPr/>
        </p:nvSpPr>
        <p:spPr>
          <a:xfrm>
            <a:off x="381000" y="2256116"/>
            <a:ext cx="1134723" cy="369332"/>
          </a:xfrm>
          <a:prstGeom prst="rect">
            <a:avLst/>
          </a:prstGeom>
          <a:noFill/>
        </p:spPr>
        <p:txBody>
          <a:bodyPr wrap="square">
            <a:spAutoFit/>
          </a:bodyPr>
          <a:lstStyle/>
          <a:p>
            <a:r>
              <a:rPr lang="zh-CN" altLang="en-US" dirty="0"/>
              <a:t>用户请求</a:t>
            </a:r>
          </a:p>
        </p:txBody>
      </p:sp>
      <p:sp>
        <p:nvSpPr>
          <p:cNvPr id="15" name="文本框 14">
            <a:extLst>
              <a:ext uri="{FF2B5EF4-FFF2-40B4-BE49-F238E27FC236}">
                <a16:creationId xmlns:a16="http://schemas.microsoft.com/office/drawing/2014/main" id="{DBAC2CE8-7427-4A3B-8F61-61DA7BFDFD07}"/>
              </a:ext>
            </a:extLst>
          </p:cNvPr>
          <p:cNvSpPr txBox="1"/>
          <p:nvPr/>
        </p:nvSpPr>
        <p:spPr>
          <a:xfrm>
            <a:off x="3344523" y="2035731"/>
            <a:ext cx="1303677" cy="369332"/>
          </a:xfrm>
          <a:prstGeom prst="rect">
            <a:avLst/>
          </a:prstGeom>
          <a:noFill/>
        </p:spPr>
        <p:txBody>
          <a:bodyPr wrap="square">
            <a:spAutoFit/>
          </a:bodyPr>
          <a:lstStyle/>
          <a:p>
            <a:r>
              <a:rPr lang="zh-CN" altLang="en-US" dirty="0"/>
              <a:t>信息请求</a:t>
            </a:r>
          </a:p>
        </p:txBody>
      </p:sp>
      <p:sp>
        <p:nvSpPr>
          <p:cNvPr id="16" name="文本框 15">
            <a:extLst>
              <a:ext uri="{FF2B5EF4-FFF2-40B4-BE49-F238E27FC236}">
                <a16:creationId xmlns:a16="http://schemas.microsoft.com/office/drawing/2014/main" id="{695D09F4-91C0-405C-A75D-40E318F740DF}"/>
              </a:ext>
            </a:extLst>
          </p:cNvPr>
          <p:cNvSpPr txBox="1"/>
          <p:nvPr/>
        </p:nvSpPr>
        <p:spPr>
          <a:xfrm>
            <a:off x="5991099" y="2035731"/>
            <a:ext cx="1695701" cy="369332"/>
          </a:xfrm>
          <a:prstGeom prst="rect">
            <a:avLst/>
          </a:prstGeom>
          <a:noFill/>
        </p:spPr>
        <p:txBody>
          <a:bodyPr wrap="square">
            <a:spAutoFit/>
          </a:bodyPr>
          <a:lstStyle/>
          <a:p>
            <a:r>
              <a:rPr lang="zh-CN" altLang="en-US" dirty="0"/>
              <a:t>数据连接请求</a:t>
            </a:r>
          </a:p>
        </p:txBody>
      </p:sp>
      <p:sp>
        <p:nvSpPr>
          <p:cNvPr id="17" name="文本框 16">
            <a:extLst>
              <a:ext uri="{FF2B5EF4-FFF2-40B4-BE49-F238E27FC236}">
                <a16:creationId xmlns:a16="http://schemas.microsoft.com/office/drawing/2014/main" id="{929E0C40-2194-4D97-B4A8-629F013203B2}"/>
              </a:ext>
            </a:extLst>
          </p:cNvPr>
          <p:cNvSpPr txBox="1"/>
          <p:nvPr/>
        </p:nvSpPr>
        <p:spPr>
          <a:xfrm>
            <a:off x="6096000" y="3860006"/>
            <a:ext cx="1695701" cy="369332"/>
          </a:xfrm>
          <a:prstGeom prst="rect">
            <a:avLst/>
          </a:prstGeom>
          <a:noFill/>
        </p:spPr>
        <p:txBody>
          <a:bodyPr wrap="square">
            <a:spAutoFit/>
          </a:bodyPr>
          <a:lstStyle/>
          <a:p>
            <a:r>
              <a:rPr lang="zh-CN" altLang="en-US" dirty="0"/>
              <a:t>数据访问响应</a:t>
            </a:r>
          </a:p>
        </p:txBody>
      </p:sp>
      <p:sp>
        <p:nvSpPr>
          <p:cNvPr id="18" name="文本框 17">
            <a:extLst>
              <a:ext uri="{FF2B5EF4-FFF2-40B4-BE49-F238E27FC236}">
                <a16:creationId xmlns:a16="http://schemas.microsoft.com/office/drawing/2014/main" id="{7FFE2554-E53A-4C44-BC9C-4941078FC88F}"/>
              </a:ext>
            </a:extLst>
          </p:cNvPr>
          <p:cNvSpPr txBox="1"/>
          <p:nvPr/>
        </p:nvSpPr>
        <p:spPr>
          <a:xfrm>
            <a:off x="2969044" y="3870031"/>
            <a:ext cx="1872411" cy="369332"/>
          </a:xfrm>
          <a:prstGeom prst="rect">
            <a:avLst/>
          </a:prstGeom>
          <a:noFill/>
        </p:spPr>
        <p:txBody>
          <a:bodyPr wrap="square">
            <a:spAutoFit/>
          </a:bodyPr>
          <a:lstStyle/>
          <a:p>
            <a:r>
              <a:rPr lang="zh-CN" altLang="en-US" dirty="0"/>
              <a:t>未格式化的响应</a:t>
            </a:r>
          </a:p>
        </p:txBody>
      </p:sp>
      <p:sp>
        <p:nvSpPr>
          <p:cNvPr id="19" name="文本框 18">
            <a:extLst>
              <a:ext uri="{FF2B5EF4-FFF2-40B4-BE49-F238E27FC236}">
                <a16:creationId xmlns:a16="http://schemas.microsoft.com/office/drawing/2014/main" id="{FEB9CD47-A15B-4C56-BD2E-E4306532F7AA}"/>
              </a:ext>
            </a:extLst>
          </p:cNvPr>
          <p:cNvSpPr txBox="1"/>
          <p:nvPr/>
        </p:nvSpPr>
        <p:spPr>
          <a:xfrm>
            <a:off x="131856" y="3860006"/>
            <a:ext cx="1872411" cy="369332"/>
          </a:xfrm>
          <a:prstGeom prst="rect">
            <a:avLst/>
          </a:prstGeom>
          <a:noFill/>
        </p:spPr>
        <p:txBody>
          <a:bodyPr wrap="square">
            <a:spAutoFit/>
          </a:bodyPr>
          <a:lstStyle/>
          <a:p>
            <a:r>
              <a:rPr lang="zh-CN" altLang="en-US" dirty="0"/>
              <a:t>格式化的响应</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xit" presetSubtype="0" fill="hold" grpId="1" nodeType="withEffect">
                                  <p:stCondLst>
                                    <p:cond delay="0"/>
                                  </p:stCondLst>
                                  <p:childTnLst>
                                    <p:set>
                                      <p:cBhvr>
                                        <p:cTn id="12" dur="1" fill="hold">
                                          <p:stCondLst>
                                            <p:cond delay="0"/>
                                          </p:stCondLst>
                                        </p:cTn>
                                        <p:tgtEl>
                                          <p:spTgt spid="2"/>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xit" presetSubtype="0" fill="hold" grpId="1" nodeType="withEffect">
                                  <p:stCondLst>
                                    <p:cond delay="0"/>
                                  </p:stCondLst>
                                  <p:childTnLst>
                                    <p:set>
                                      <p:cBhvr>
                                        <p:cTn id="18" dur="1" fill="hold">
                                          <p:stCondLst>
                                            <p:cond delay="0"/>
                                          </p:stCondLst>
                                        </p:cTn>
                                        <p:tgtEl>
                                          <p:spTgt spid="8"/>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xit" presetSubtype="0" fill="hold" grpId="1" nodeType="withEffect">
                                  <p:stCondLst>
                                    <p:cond delay="0"/>
                                  </p:stCondLst>
                                  <p:childTnLst>
                                    <p:set>
                                      <p:cBhvr>
                                        <p:cTn id="24" dur="1" fill="hold">
                                          <p:stCondLst>
                                            <p:cond delay="0"/>
                                          </p:stCondLst>
                                        </p:cTn>
                                        <p:tgtEl>
                                          <p:spTgt spid="9"/>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par>
                                <p:cTn id="29" presetID="1" presetClass="exit" presetSubtype="0" fill="hold" grpId="1" nodeType="withEffect">
                                  <p:stCondLst>
                                    <p:cond delay="0"/>
                                  </p:stCondLst>
                                  <p:childTnLst>
                                    <p:set>
                                      <p:cBhvr>
                                        <p:cTn id="30" dur="1" fill="hold">
                                          <p:stCondLst>
                                            <p:cond delay="0"/>
                                          </p:stCondLst>
                                        </p:cTn>
                                        <p:tgtEl>
                                          <p:spTgt spid="10"/>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par>
                                <p:cTn id="35" presetID="1" presetClass="exit" presetSubtype="0" fill="hold" grpId="1" nodeType="withEffect">
                                  <p:stCondLst>
                                    <p:cond delay="0"/>
                                  </p:stCondLst>
                                  <p:childTnLst>
                                    <p:set>
                                      <p:cBhvr>
                                        <p:cTn id="36" dur="1" fill="hold">
                                          <p:stCondLst>
                                            <p:cond delay="0"/>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8" grpId="0" animBg="1"/>
      <p:bldP spid="8" grpId="1" animBg="1"/>
      <p:bldP spid="9" grpId="0" animBg="1"/>
      <p:bldP spid="9" grpId="1" animBg="1"/>
      <p:bldP spid="10" grpId="0" animBg="1"/>
      <p:bldP spid="10" grpId="1" animBg="1"/>
      <p:bldP spid="11" grpId="0" animBg="1"/>
      <p:bldP spid="11" grpId="1" animBg="1"/>
      <p:bldP spid="12"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6">
            <a:extLst>
              <a:ext uri="{FF2B5EF4-FFF2-40B4-BE49-F238E27FC236}">
                <a16:creationId xmlns:a16="http://schemas.microsoft.com/office/drawing/2014/main" id="{4177B983-2D00-40B0-871D-5EFB307B441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269BCFC-C588-4D10-BA75-9F68E64C7454}" type="slidenum">
              <a:rPr lang="en-US" altLang="en-US"/>
              <a:pPr eaLnBrk="1" hangingPunct="1"/>
              <a:t>60</a:t>
            </a:fld>
            <a:endParaRPr lang="en-US" altLang="en-US"/>
          </a:p>
        </p:txBody>
      </p:sp>
      <p:sp>
        <p:nvSpPr>
          <p:cNvPr id="29699" name="Rectangle 2">
            <a:extLst>
              <a:ext uri="{FF2B5EF4-FFF2-40B4-BE49-F238E27FC236}">
                <a16:creationId xmlns:a16="http://schemas.microsoft.com/office/drawing/2014/main" id="{504DFD98-EA66-4328-96BC-608779771746}"/>
              </a:ext>
            </a:extLst>
          </p:cNvPr>
          <p:cNvSpPr>
            <a:spLocks noGrp="1" noChangeArrowheads="1"/>
          </p:cNvSpPr>
          <p:nvPr>
            <p:ph type="title"/>
          </p:nvPr>
        </p:nvSpPr>
        <p:spPr>
          <a:xfrm>
            <a:off x="457200" y="122238"/>
            <a:ext cx="7543800" cy="1249362"/>
          </a:xfrm>
        </p:spPr>
        <p:txBody>
          <a:bodyPr/>
          <a:lstStyle/>
          <a:p>
            <a:pPr eaLnBrk="1" hangingPunct="1"/>
            <a:r>
              <a:rPr lang="en-US" altLang="zh-CN" sz="3600">
                <a:ea typeface="宋体" panose="02010600030101010101" pitchFamily="2" charset="-122"/>
              </a:rPr>
              <a:t>Internal Deployment with</a:t>
            </a:r>
            <a:br>
              <a:rPr lang="en-US" altLang="zh-CN" sz="3600">
                <a:ea typeface="宋体" panose="02010600030101010101" pitchFamily="2" charset="-122"/>
              </a:rPr>
            </a:br>
            <a:r>
              <a:rPr lang="en-US" altLang="zh-CN" sz="3600">
                <a:ea typeface="宋体" panose="02010600030101010101" pitchFamily="2" charset="-122"/>
              </a:rPr>
              <a:t>Three Layer Architecture</a:t>
            </a:r>
          </a:p>
        </p:txBody>
      </p:sp>
      <p:pic>
        <p:nvPicPr>
          <p:cNvPr id="29700" name="Picture 5">
            <a:extLst>
              <a:ext uri="{FF2B5EF4-FFF2-40B4-BE49-F238E27FC236}">
                <a16:creationId xmlns:a16="http://schemas.microsoft.com/office/drawing/2014/main" id="{D6EB1050-34DE-457D-868D-D4E69641BE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1676400"/>
            <a:ext cx="8686800" cy="431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1" name="Footer Placeholder 4">
            <a:extLst>
              <a:ext uri="{FF2B5EF4-FFF2-40B4-BE49-F238E27FC236}">
                <a16:creationId xmlns:a16="http://schemas.microsoft.com/office/drawing/2014/main" id="{C3DD1C63-6A6A-4955-96E4-19EDD432F02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29702" name="Rectangle 6">
            <a:extLst>
              <a:ext uri="{FF2B5EF4-FFF2-40B4-BE49-F238E27FC236}">
                <a16:creationId xmlns:a16="http://schemas.microsoft.com/office/drawing/2014/main" id="{3D595D81-0C26-499E-91F6-788D9A32446B}"/>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6">
            <a:extLst>
              <a:ext uri="{FF2B5EF4-FFF2-40B4-BE49-F238E27FC236}">
                <a16:creationId xmlns:a16="http://schemas.microsoft.com/office/drawing/2014/main" id="{C660B430-657F-4892-80F3-B8BA5E94235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440C8F3-29C2-4B2D-B179-584D57F422E0}" type="slidenum">
              <a:rPr lang="en-US" altLang="en-US"/>
              <a:pPr eaLnBrk="1" hangingPunct="1"/>
              <a:t>61</a:t>
            </a:fld>
            <a:endParaRPr lang="en-US" altLang="en-US"/>
          </a:p>
        </p:txBody>
      </p:sp>
      <p:sp>
        <p:nvSpPr>
          <p:cNvPr id="30723" name="Rectangle 2">
            <a:extLst>
              <a:ext uri="{FF2B5EF4-FFF2-40B4-BE49-F238E27FC236}">
                <a16:creationId xmlns:a16="http://schemas.microsoft.com/office/drawing/2014/main" id="{DEF834CB-7C7A-482B-8F41-0613712A490D}"/>
              </a:ext>
            </a:extLst>
          </p:cNvPr>
          <p:cNvSpPr>
            <a:spLocks noGrp="1" noChangeArrowheads="1"/>
          </p:cNvSpPr>
          <p:nvPr>
            <p:ph type="title"/>
          </p:nvPr>
        </p:nvSpPr>
        <p:spPr>
          <a:xfrm>
            <a:off x="304800" y="122238"/>
            <a:ext cx="7696200" cy="1173162"/>
          </a:xfrm>
        </p:spPr>
        <p:txBody>
          <a:bodyPr/>
          <a:lstStyle/>
          <a:p>
            <a:pPr eaLnBrk="1" hangingPunct="1"/>
            <a:r>
              <a:rPr lang="en-US" altLang="zh-CN" sz="4000">
                <a:ea typeface="宋体" panose="02010600030101010101" pitchFamily="2" charset="-122"/>
              </a:rPr>
              <a:t>Design the Environment</a:t>
            </a:r>
            <a:br>
              <a:rPr lang="en-US" altLang="zh-CN" sz="3600">
                <a:ea typeface="宋体" panose="02010600030101010101" pitchFamily="2" charset="-122"/>
              </a:rPr>
            </a:br>
            <a:r>
              <a:rPr lang="en-US" altLang="zh-CN" sz="2800">
                <a:ea typeface="宋体" panose="02010600030101010101" pitchFamily="2" charset="-122"/>
              </a:rPr>
              <a:t>(continued)</a:t>
            </a:r>
          </a:p>
        </p:txBody>
      </p:sp>
      <p:sp>
        <p:nvSpPr>
          <p:cNvPr id="30724" name="Rectangle 3">
            <a:extLst>
              <a:ext uri="{FF2B5EF4-FFF2-40B4-BE49-F238E27FC236}">
                <a16:creationId xmlns:a16="http://schemas.microsoft.com/office/drawing/2014/main" id="{2D1FFD34-F679-4663-B9D3-83CE976B39B8}"/>
              </a:ext>
            </a:extLst>
          </p:cNvPr>
          <p:cNvSpPr>
            <a:spLocks noGrp="1" noChangeArrowheads="1"/>
          </p:cNvSpPr>
          <p:nvPr>
            <p:ph type="body" sz="half" idx="1"/>
          </p:nvPr>
        </p:nvSpPr>
        <p:spPr>
          <a:xfrm>
            <a:off x="457200" y="1371600"/>
            <a:ext cx="8153400" cy="4759325"/>
          </a:xfrm>
        </p:spPr>
        <p:txBody>
          <a:bodyPr/>
          <a:lstStyle/>
          <a:p>
            <a:pPr eaLnBrk="1" hangingPunct="1">
              <a:lnSpc>
                <a:spcPct val="90000"/>
              </a:lnSpc>
            </a:pPr>
            <a:r>
              <a:rPr lang="en-US" altLang="zh-CN" sz="3200" dirty="0">
                <a:ea typeface="宋体" panose="02010600030101010101" pitchFamily="2" charset="-122"/>
              </a:rPr>
              <a:t>Design for External Deployment</a:t>
            </a:r>
          </a:p>
          <a:p>
            <a:pPr lvl="1" eaLnBrk="1" hangingPunct="1">
              <a:lnSpc>
                <a:spcPct val="90000"/>
              </a:lnSpc>
            </a:pPr>
            <a:r>
              <a:rPr lang="en-US" altLang="zh-CN" sz="2800" dirty="0">
                <a:solidFill>
                  <a:srgbClr val="C00000"/>
                </a:solidFill>
                <a:ea typeface="宋体" panose="02010600030101010101" pitchFamily="2" charset="-122"/>
              </a:rPr>
              <a:t>Configuration for Internet deployment</a:t>
            </a:r>
          </a:p>
          <a:p>
            <a:pPr lvl="2" eaLnBrk="1" hangingPunct="1">
              <a:lnSpc>
                <a:spcPct val="90000"/>
              </a:lnSpc>
            </a:pPr>
            <a:r>
              <a:rPr lang="en-US" altLang="zh-CN" sz="2400" dirty="0">
                <a:solidFill>
                  <a:srgbClr val="C00000"/>
                </a:solidFill>
                <a:ea typeface="宋体" panose="02010600030101010101" pitchFamily="2" charset="-122"/>
              </a:rPr>
              <a:t>Advantages and risks</a:t>
            </a:r>
          </a:p>
          <a:p>
            <a:pPr lvl="1" eaLnBrk="1" hangingPunct="1">
              <a:lnSpc>
                <a:spcPct val="90000"/>
              </a:lnSpc>
            </a:pPr>
            <a:r>
              <a:rPr lang="en-US" altLang="zh-CN" sz="2800" dirty="0">
                <a:ea typeface="宋体" panose="02010600030101010101" pitchFamily="2" charset="-122"/>
              </a:rPr>
              <a:t>Hosting Alternatives for Internet deployment</a:t>
            </a:r>
            <a:r>
              <a:rPr lang="zh-CN" altLang="en-US" sz="2800" dirty="0">
                <a:ea typeface="宋体" panose="02010600030101010101" pitchFamily="2" charset="-122"/>
              </a:rPr>
              <a:t>（</a:t>
            </a:r>
            <a:r>
              <a:rPr lang="en-US" altLang="zh-CN" sz="2800" dirty="0">
                <a:ea typeface="宋体" panose="02010600030101010101" pitchFamily="2" charset="-122"/>
              </a:rPr>
              <a:t>Internet</a:t>
            </a:r>
            <a:r>
              <a:rPr lang="zh-CN" altLang="en-US" sz="2800" dirty="0">
                <a:ea typeface="宋体" panose="02010600030101010101" pitchFamily="2" charset="-122"/>
              </a:rPr>
              <a:t>部署的托管替代方案）</a:t>
            </a:r>
            <a:endParaRPr lang="en-US" altLang="zh-CN" sz="2800" dirty="0">
              <a:ea typeface="宋体" panose="02010600030101010101" pitchFamily="2" charset="-122"/>
            </a:endParaRPr>
          </a:p>
          <a:p>
            <a:pPr lvl="2" eaLnBrk="1" hangingPunct="1">
              <a:lnSpc>
                <a:spcPct val="90000"/>
              </a:lnSpc>
            </a:pPr>
            <a:r>
              <a:rPr lang="en-US" altLang="zh-CN" sz="2400" dirty="0">
                <a:ea typeface="宋体" panose="02010600030101010101" pitchFamily="2" charset="-122"/>
              </a:rPr>
              <a:t>Colocation</a:t>
            </a:r>
            <a:r>
              <a:rPr lang="zh-CN" altLang="en-US" sz="2400" dirty="0">
                <a:ea typeface="宋体" panose="02010600030101010101" pitchFamily="2" charset="-122"/>
              </a:rPr>
              <a:t>（场地出租）</a:t>
            </a:r>
            <a:endParaRPr lang="en-US" altLang="zh-CN" sz="2400" dirty="0">
              <a:ea typeface="宋体" panose="02010600030101010101" pitchFamily="2" charset="-122"/>
            </a:endParaRPr>
          </a:p>
          <a:p>
            <a:pPr lvl="2" eaLnBrk="1" hangingPunct="1">
              <a:lnSpc>
                <a:spcPct val="90000"/>
              </a:lnSpc>
            </a:pPr>
            <a:r>
              <a:rPr lang="en-US" altLang="zh-CN" sz="2400" dirty="0">
                <a:ea typeface="宋体" panose="02010600030101010101" pitchFamily="2" charset="-122"/>
              </a:rPr>
              <a:t>Managed services</a:t>
            </a:r>
            <a:r>
              <a:rPr lang="zh-CN" altLang="en-US" sz="2400" dirty="0">
                <a:ea typeface="宋体" panose="02010600030101010101" pitchFamily="2" charset="-122"/>
              </a:rPr>
              <a:t>（托管式服务）</a:t>
            </a:r>
            <a:endParaRPr lang="en-US" altLang="zh-CN" sz="2400" dirty="0">
              <a:ea typeface="宋体" panose="02010600030101010101" pitchFamily="2" charset="-122"/>
            </a:endParaRPr>
          </a:p>
          <a:p>
            <a:pPr lvl="2" eaLnBrk="1" hangingPunct="1">
              <a:lnSpc>
                <a:spcPct val="90000"/>
              </a:lnSpc>
            </a:pPr>
            <a:r>
              <a:rPr lang="en-US" altLang="zh-CN" sz="2400" dirty="0">
                <a:ea typeface="宋体" panose="02010600030101010101" pitchFamily="2" charset="-122"/>
              </a:rPr>
              <a:t>Virtual Servers</a:t>
            </a:r>
            <a:r>
              <a:rPr lang="zh-CN" altLang="en-US" sz="2400" dirty="0">
                <a:ea typeface="宋体" panose="02010600030101010101" pitchFamily="2" charset="-122"/>
              </a:rPr>
              <a:t>（虚拟服务）</a:t>
            </a:r>
            <a:endParaRPr lang="en-US" altLang="zh-CN" sz="2400" dirty="0">
              <a:ea typeface="宋体" panose="02010600030101010101" pitchFamily="2" charset="-122"/>
            </a:endParaRPr>
          </a:p>
          <a:p>
            <a:pPr lvl="2" eaLnBrk="1" hangingPunct="1">
              <a:lnSpc>
                <a:spcPct val="90000"/>
              </a:lnSpc>
            </a:pPr>
            <a:r>
              <a:rPr lang="en-US" altLang="zh-CN" sz="2400" dirty="0">
                <a:ea typeface="宋体" panose="02010600030101010101" pitchFamily="2" charset="-122"/>
              </a:rPr>
              <a:t>Cloud computing</a:t>
            </a:r>
            <a:r>
              <a:rPr lang="zh-CN" altLang="en-US" sz="2400" dirty="0">
                <a:ea typeface="宋体" panose="02010600030101010101" pitchFamily="2" charset="-122"/>
              </a:rPr>
              <a:t>（云计算）</a:t>
            </a:r>
            <a:endParaRPr lang="en-US" altLang="zh-CN" sz="2400" dirty="0">
              <a:ea typeface="宋体" panose="02010600030101010101" pitchFamily="2" charset="-122"/>
            </a:endParaRPr>
          </a:p>
          <a:p>
            <a:pPr lvl="1" eaLnBrk="1" hangingPunct="1">
              <a:lnSpc>
                <a:spcPct val="90000"/>
              </a:lnSpc>
            </a:pPr>
            <a:r>
              <a:rPr lang="en-US" altLang="zh-CN" sz="2800" dirty="0">
                <a:ea typeface="宋体" panose="02010600030101010101" pitchFamily="2" charset="-122"/>
              </a:rPr>
              <a:t>Diversity of Client Devices with Internet deployment</a:t>
            </a:r>
          </a:p>
          <a:p>
            <a:pPr lvl="2" eaLnBrk="1" hangingPunct="1">
              <a:lnSpc>
                <a:spcPct val="90000"/>
              </a:lnSpc>
            </a:pPr>
            <a:r>
              <a:rPr lang="en-US" altLang="zh-CN" sz="2400" dirty="0">
                <a:ea typeface="宋体" panose="02010600030101010101" pitchFamily="2" charset="-122"/>
              </a:rPr>
              <a:t>Full size, tablets and notebooks, smart phones</a:t>
            </a:r>
          </a:p>
        </p:txBody>
      </p:sp>
      <p:sp>
        <p:nvSpPr>
          <p:cNvPr id="30726" name="Rectangle 6">
            <a:extLst>
              <a:ext uri="{FF2B5EF4-FFF2-40B4-BE49-F238E27FC236}">
                <a16:creationId xmlns:a16="http://schemas.microsoft.com/office/drawing/2014/main" id="{D6FF707B-B5FD-4239-89A3-42567037A2DF}"/>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extLst>
      <p:ext uri="{BB962C8B-B14F-4D97-AF65-F5344CB8AC3E}">
        <p14:creationId xmlns:p14="http://schemas.microsoft.com/office/powerpoint/2010/main" val="385442623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6">
            <a:extLst>
              <a:ext uri="{FF2B5EF4-FFF2-40B4-BE49-F238E27FC236}">
                <a16:creationId xmlns:a16="http://schemas.microsoft.com/office/drawing/2014/main" id="{5B1A304E-9F84-4A56-A1F6-16A10C7A8D8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CD22CD4-BA5E-4CD7-84DD-543A7722F9CC}" type="slidenum">
              <a:rPr lang="en-US" altLang="en-US"/>
              <a:pPr eaLnBrk="1" hangingPunct="1"/>
              <a:t>62</a:t>
            </a:fld>
            <a:endParaRPr lang="en-US" altLang="en-US"/>
          </a:p>
        </p:txBody>
      </p:sp>
      <p:sp>
        <p:nvSpPr>
          <p:cNvPr id="31747" name="Rectangle 2">
            <a:extLst>
              <a:ext uri="{FF2B5EF4-FFF2-40B4-BE49-F238E27FC236}">
                <a16:creationId xmlns:a16="http://schemas.microsoft.com/office/drawing/2014/main" id="{FAC1E733-E4CC-4A2B-8C96-E320DF053800}"/>
              </a:ext>
            </a:extLst>
          </p:cNvPr>
          <p:cNvSpPr>
            <a:spLocks noGrp="1" noChangeArrowheads="1"/>
          </p:cNvSpPr>
          <p:nvPr>
            <p:ph type="title"/>
          </p:nvPr>
        </p:nvSpPr>
        <p:spPr>
          <a:xfrm>
            <a:off x="304800" y="122238"/>
            <a:ext cx="7696200" cy="1173162"/>
          </a:xfrm>
        </p:spPr>
        <p:txBody>
          <a:bodyPr/>
          <a:lstStyle/>
          <a:p>
            <a:pPr eaLnBrk="1" hangingPunct="1"/>
            <a:r>
              <a:rPr lang="en-US" altLang="zh-CN" sz="3600">
                <a:ea typeface="宋体" panose="02010600030101010101" pitchFamily="2" charset="-122"/>
              </a:rPr>
              <a:t>Configuration for Internet Deployment</a:t>
            </a:r>
          </a:p>
        </p:txBody>
      </p:sp>
      <p:pic>
        <p:nvPicPr>
          <p:cNvPr id="31748" name="Picture 5">
            <a:extLst>
              <a:ext uri="{FF2B5EF4-FFF2-40B4-BE49-F238E27FC236}">
                <a16:creationId xmlns:a16="http://schemas.microsoft.com/office/drawing/2014/main" id="{E90A5F9C-D505-49F0-B90B-6689F74DB5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371600"/>
            <a:ext cx="7643813" cy="4675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9" name="Footer Placeholder 4">
            <a:extLst>
              <a:ext uri="{FF2B5EF4-FFF2-40B4-BE49-F238E27FC236}">
                <a16:creationId xmlns:a16="http://schemas.microsoft.com/office/drawing/2014/main" id="{10733C56-2FAB-43D1-A5C5-76746E685E8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31750" name="Rectangle 6">
            <a:extLst>
              <a:ext uri="{FF2B5EF4-FFF2-40B4-BE49-F238E27FC236}">
                <a16:creationId xmlns:a16="http://schemas.microsoft.com/office/drawing/2014/main" id="{8BD667F9-5FF6-4EAA-AF05-E54DB0738D98}"/>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Number Placeholder 6">
            <a:extLst>
              <a:ext uri="{FF2B5EF4-FFF2-40B4-BE49-F238E27FC236}">
                <a16:creationId xmlns:a16="http://schemas.microsoft.com/office/drawing/2014/main" id="{CA322DB2-134D-423C-AAEE-1530FDF937F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51D49C7-8EAB-4DCF-A55C-F49F2F3D74AB}" type="slidenum">
              <a:rPr lang="en-US" altLang="en-US"/>
              <a:pPr eaLnBrk="1" hangingPunct="1"/>
              <a:t>63</a:t>
            </a:fld>
            <a:endParaRPr lang="en-US" altLang="en-US"/>
          </a:p>
        </p:txBody>
      </p:sp>
      <p:sp>
        <p:nvSpPr>
          <p:cNvPr id="32771" name="Rectangle 2">
            <a:extLst>
              <a:ext uri="{FF2B5EF4-FFF2-40B4-BE49-F238E27FC236}">
                <a16:creationId xmlns:a16="http://schemas.microsoft.com/office/drawing/2014/main" id="{47763A23-2613-4EAF-A6E1-6D758A7B98DE}"/>
              </a:ext>
            </a:extLst>
          </p:cNvPr>
          <p:cNvSpPr>
            <a:spLocks noGrp="1" noChangeArrowheads="1"/>
          </p:cNvSpPr>
          <p:nvPr>
            <p:ph type="title"/>
          </p:nvPr>
        </p:nvSpPr>
        <p:spPr>
          <a:xfrm>
            <a:off x="304800" y="122238"/>
            <a:ext cx="7696200" cy="1173162"/>
          </a:xfrm>
        </p:spPr>
        <p:txBody>
          <a:bodyPr/>
          <a:lstStyle/>
          <a:p>
            <a:pPr eaLnBrk="1" hangingPunct="1"/>
            <a:r>
              <a:rPr lang="en-US" altLang="zh-CN" sz="3600">
                <a:ea typeface="宋体" panose="02010600030101010101" pitchFamily="2" charset="-122"/>
              </a:rPr>
              <a:t>Configuration for Internet Deployment</a:t>
            </a:r>
          </a:p>
        </p:txBody>
      </p:sp>
      <p:sp>
        <p:nvSpPr>
          <p:cNvPr id="32772" name="Rectangle 4">
            <a:extLst>
              <a:ext uri="{FF2B5EF4-FFF2-40B4-BE49-F238E27FC236}">
                <a16:creationId xmlns:a16="http://schemas.microsoft.com/office/drawing/2014/main" id="{D8A0EFC0-0DCD-45D7-B5E2-F9F1C2382AD9}"/>
              </a:ext>
            </a:extLst>
          </p:cNvPr>
          <p:cNvSpPr>
            <a:spLocks noGrp="1" noChangeArrowheads="1"/>
          </p:cNvSpPr>
          <p:nvPr>
            <p:ph type="body" sz="half" idx="1"/>
          </p:nvPr>
        </p:nvSpPr>
        <p:spPr>
          <a:xfrm>
            <a:off x="457200" y="1371600"/>
            <a:ext cx="8153400" cy="4759325"/>
          </a:xfrm>
          <a:noFill/>
        </p:spPr>
        <p:txBody>
          <a:bodyPr/>
          <a:lstStyle/>
          <a:p>
            <a:pPr eaLnBrk="1" hangingPunct="1"/>
            <a:r>
              <a:rPr lang="en-US" altLang="zh-CN" sz="2800" dirty="0">
                <a:ea typeface="宋体" panose="02010600030101010101" pitchFamily="2" charset="-122"/>
              </a:rPr>
              <a:t>Advantages</a:t>
            </a:r>
            <a:r>
              <a:rPr lang="zh-CN" altLang="en-US" sz="2800" dirty="0">
                <a:ea typeface="宋体" panose="02010600030101010101" pitchFamily="2" charset="-122"/>
              </a:rPr>
              <a:t>（优点）</a:t>
            </a:r>
            <a:endParaRPr lang="en-US" altLang="zh-CN" sz="2800" dirty="0">
              <a:ea typeface="宋体" panose="02010600030101010101" pitchFamily="2" charset="-122"/>
            </a:endParaRPr>
          </a:p>
          <a:p>
            <a:pPr lvl="1" eaLnBrk="1" hangingPunct="1"/>
            <a:r>
              <a:rPr lang="en-US" altLang="zh-CN" sz="2000" b="1" dirty="0">
                <a:ea typeface="宋体" panose="02010600030101010101" pitchFamily="2" charset="-122"/>
              </a:rPr>
              <a:t>Accessibility</a:t>
            </a:r>
            <a:r>
              <a:rPr lang="zh-CN" altLang="en-US" sz="2000" b="1" dirty="0">
                <a:ea typeface="宋体" panose="02010600030101010101" pitchFamily="2" charset="-122"/>
              </a:rPr>
              <a:t>（可访问性）</a:t>
            </a:r>
            <a:r>
              <a:rPr lang="en-US" altLang="zh-CN" sz="2000" dirty="0">
                <a:ea typeface="宋体" panose="02010600030101010101" pitchFamily="2" charset="-122"/>
              </a:rPr>
              <a:t>—Web-based applications are accessible to a large number of potential users (including customers, suppliers, and off-site employees).</a:t>
            </a:r>
          </a:p>
          <a:p>
            <a:pPr lvl="1" eaLnBrk="1" hangingPunct="1"/>
            <a:r>
              <a:rPr lang="en-US" altLang="zh-CN" sz="2000" b="1" dirty="0">
                <a:ea typeface="宋体" panose="02010600030101010101" pitchFamily="2" charset="-122"/>
              </a:rPr>
              <a:t>Low-cost communication</a:t>
            </a:r>
            <a:r>
              <a:rPr lang="zh-CN" altLang="en-US" sz="2000" b="1" dirty="0">
                <a:ea typeface="宋体" panose="02010600030101010101" pitchFamily="2" charset="-122"/>
              </a:rPr>
              <a:t>（通信成本低）</a:t>
            </a:r>
            <a:r>
              <a:rPr lang="en-US" altLang="zh-CN" sz="2000" b="1" dirty="0">
                <a:ea typeface="宋体" panose="02010600030101010101" pitchFamily="2" charset="-122"/>
              </a:rPr>
              <a:t>—</a:t>
            </a:r>
            <a:r>
              <a:rPr lang="en-US" altLang="zh-CN" sz="2000" dirty="0">
                <a:ea typeface="宋体" panose="02010600030101010101" pitchFamily="2" charset="-122"/>
              </a:rPr>
              <a:t>The high-capacity networks that form the Internet backbone were initially funded primarily by governments. Traffic on the backbone networks travels free of extra charges to the end user. Connections to the Internet can be purchased from a variety of private Internet service providers at relatively low costs.</a:t>
            </a:r>
          </a:p>
          <a:p>
            <a:pPr lvl="1" eaLnBrk="1" hangingPunct="1"/>
            <a:r>
              <a:rPr lang="en-US" altLang="zh-CN" sz="2000" b="1" dirty="0">
                <a:ea typeface="宋体" panose="02010600030101010101" pitchFamily="2" charset="-122"/>
              </a:rPr>
              <a:t>Widely implemented standards</a:t>
            </a:r>
            <a:r>
              <a:rPr lang="zh-CN" altLang="en-US" sz="2000" b="1" dirty="0">
                <a:ea typeface="宋体" panose="02010600030101010101" pitchFamily="2" charset="-122"/>
              </a:rPr>
              <a:t>（广泛应用的标准）</a:t>
            </a:r>
            <a:r>
              <a:rPr lang="en-US" altLang="zh-CN" sz="2000" b="1" dirty="0">
                <a:ea typeface="宋体" panose="02010600030101010101" pitchFamily="2" charset="-122"/>
              </a:rPr>
              <a:t>—</a:t>
            </a:r>
            <a:r>
              <a:rPr lang="en-US" altLang="zh-CN" sz="2000" dirty="0">
                <a:ea typeface="宋体" panose="02010600030101010101" pitchFamily="2" charset="-122"/>
              </a:rPr>
              <a:t>Web standards are well known, and many computing professionals are already trained in their use.</a:t>
            </a:r>
          </a:p>
        </p:txBody>
      </p:sp>
      <p:sp>
        <p:nvSpPr>
          <p:cNvPr id="32773" name="Footer Placeholder 4">
            <a:extLst>
              <a:ext uri="{FF2B5EF4-FFF2-40B4-BE49-F238E27FC236}">
                <a16:creationId xmlns:a16="http://schemas.microsoft.com/office/drawing/2014/main" id="{0E372D69-CF0D-49A3-A9B4-3524983A6F8E}"/>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32774" name="Rectangle 6">
            <a:extLst>
              <a:ext uri="{FF2B5EF4-FFF2-40B4-BE49-F238E27FC236}">
                <a16:creationId xmlns:a16="http://schemas.microsoft.com/office/drawing/2014/main" id="{1C4DB35C-A0CC-4DDA-99BC-1261B7E4D05C}"/>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Number Placeholder 6">
            <a:extLst>
              <a:ext uri="{FF2B5EF4-FFF2-40B4-BE49-F238E27FC236}">
                <a16:creationId xmlns:a16="http://schemas.microsoft.com/office/drawing/2014/main" id="{03563F52-F7EF-4B57-9E25-AA67D848BBE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C09069E-42DA-4C4F-BAA4-BA5D2DC8DBAB}" type="slidenum">
              <a:rPr lang="en-US" altLang="en-US"/>
              <a:pPr eaLnBrk="1" hangingPunct="1"/>
              <a:t>64</a:t>
            </a:fld>
            <a:endParaRPr lang="en-US" altLang="en-US"/>
          </a:p>
        </p:txBody>
      </p:sp>
      <p:sp>
        <p:nvSpPr>
          <p:cNvPr id="33795" name="Rectangle 2">
            <a:extLst>
              <a:ext uri="{FF2B5EF4-FFF2-40B4-BE49-F238E27FC236}">
                <a16:creationId xmlns:a16="http://schemas.microsoft.com/office/drawing/2014/main" id="{7834E5FE-6EDA-4983-9A01-BB9E51B3B636}"/>
              </a:ext>
            </a:extLst>
          </p:cNvPr>
          <p:cNvSpPr>
            <a:spLocks noGrp="1" noChangeArrowheads="1"/>
          </p:cNvSpPr>
          <p:nvPr>
            <p:ph type="title"/>
          </p:nvPr>
        </p:nvSpPr>
        <p:spPr>
          <a:xfrm>
            <a:off x="304800" y="122238"/>
            <a:ext cx="7696200" cy="1173162"/>
          </a:xfrm>
        </p:spPr>
        <p:txBody>
          <a:bodyPr/>
          <a:lstStyle/>
          <a:p>
            <a:pPr eaLnBrk="1" hangingPunct="1"/>
            <a:r>
              <a:rPr lang="en-US" altLang="zh-CN" sz="3600">
                <a:ea typeface="宋体" panose="02010600030101010101" pitchFamily="2" charset="-122"/>
              </a:rPr>
              <a:t>Configuration for Internet Deployment</a:t>
            </a:r>
          </a:p>
        </p:txBody>
      </p:sp>
      <p:sp>
        <p:nvSpPr>
          <p:cNvPr id="33796" name="Rectangle 3">
            <a:extLst>
              <a:ext uri="{FF2B5EF4-FFF2-40B4-BE49-F238E27FC236}">
                <a16:creationId xmlns:a16="http://schemas.microsoft.com/office/drawing/2014/main" id="{8C054AB2-5E1D-4788-BB5E-3320BE9CA214}"/>
              </a:ext>
            </a:extLst>
          </p:cNvPr>
          <p:cNvSpPr>
            <a:spLocks noGrp="1" noChangeArrowheads="1"/>
          </p:cNvSpPr>
          <p:nvPr>
            <p:ph type="body" sz="half" idx="1"/>
          </p:nvPr>
        </p:nvSpPr>
        <p:spPr>
          <a:xfrm>
            <a:off x="457200" y="1371600"/>
            <a:ext cx="8153400" cy="5105400"/>
          </a:xfrm>
          <a:noFill/>
        </p:spPr>
        <p:txBody>
          <a:bodyPr/>
          <a:lstStyle/>
          <a:p>
            <a:pPr eaLnBrk="1" hangingPunct="1"/>
            <a:r>
              <a:rPr lang="en-US" altLang="zh-CN" sz="2800" dirty="0">
                <a:ea typeface="宋体" panose="02010600030101010101" pitchFamily="2" charset="-122"/>
              </a:rPr>
              <a:t>Potential Problems</a:t>
            </a:r>
            <a:r>
              <a:rPr lang="zh-CN" altLang="en-US" sz="2800" dirty="0">
                <a:ea typeface="宋体" panose="02010600030101010101" pitchFamily="2" charset="-122"/>
              </a:rPr>
              <a:t>（潜在问题）</a:t>
            </a:r>
            <a:endParaRPr lang="en-US" altLang="zh-CN" sz="2800" dirty="0">
              <a:ea typeface="宋体" panose="02010600030101010101" pitchFamily="2" charset="-122"/>
            </a:endParaRPr>
          </a:p>
          <a:p>
            <a:pPr lvl="1" eaLnBrk="1" hangingPunct="1"/>
            <a:r>
              <a:rPr lang="en-US" altLang="zh-CN" sz="2000" b="1" dirty="0">
                <a:ea typeface="宋体" panose="02010600030101010101" pitchFamily="2" charset="-122"/>
              </a:rPr>
              <a:t>Security</a:t>
            </a:r>
            <a:r>
              <a:rPr lang="zh-CN" altLang="en-US" sz="2000" b="1" dirty="0">
                <a:ea typeface="宋体" panose="02010600030101010101" pitchFamily="2" charset="-122"/>
              </a:rPr>
              <a:t>（安全性）</a:t>
            </a:r>
            <a:r>
              <a:rPr lang="en-US" altLang="zh-CN" sz="2000" dirty="0">
                <a:ea typeface="宋体" panose="02010600030101010101" pitchFamily="2" charset="-122"/>
              </a:rPr>
              <a:t>—Web servers are a well-defined target for security breaches because Web standards are open and widely known. Wide-scale interconnection of networks and the use of Internet and Web standards make servers accessible to a global pool of hackers.</a:t>
            </a:r>
          </a:p>
          <a:p>
            <a:pPr lvl="1" eaLnBrk="1" hangingPunct="1"/>
            <a:r>
              <a:rPr lang="en-US" altLang="zh-CN" sz="2000" b="1" dirty="0">
                <a:ea typeface="宋体" panose="02010600030101010101" pitchFamily="2" charset="-122"/>
              </a:rPr>
              <a:t>Throughput</a:t>
            </a:r>
            <a:r>
              <a:rPr lang="zh-CN" altLang="en-US" sz="2000" b="1" dirty="0">
                <a:ea typeface="宋体" panose="02010600030101010101" pitchFamily="2" charset="-122"/>
              </a:rPr>
              <a:t>（吞吐量）</a:t>
            </a:r>
            <a:r>
              <a:rPr lang="en-US" altLang="zh-CN" sz="2000" dirty="0">
                <a:ea typeface="宋体" panose="02010600030101010101" pitchFamily="2" charset="-122"/>
              </a:rPr>
              <a:t>—When high loads occur, throughput and response time can suffer significantly. The configuration must support not only daily average users but also a peak-load number of users.</a:t>
            </a:r>
          </a:p>
          <a:p>
            <a:pPr lvl="1" eaLnBrk="1" hangingPunct="1"/>
            <a:r>
              <a:rPr lang="en-US" altLang="zh-CN" sz="2000" b="1" dirty="0">
                <a:ea typeface="宋体" panose="02010600030101010101" pitchFamily="2" charset="-122"/>
              </a:rPr>
              <a:t>Changing standards</a:t>
            </a:r>
            <a:r>
              <a:rPr lang="zh-CN" altLang="en-US" sz="2000" b="1" dirty="0">
                <a:ea typeface="宋体" panose="02010600030101010101" pitchFamily="2" charset="-122"/>
              </a:rPr>
              <a:t>（变化的标准）</a:t>
            </a:r>
            <a:r>
              <a:rPr lang="en-US" altLang="zh-CN" sz="2000" b="1" dirty="0">
                <a:ea typeface="宋体" panose="02010600030101010101" pitchFamily="2" charset="-122"/>
              </a:rPr>
              <a:t>—</a:t>
            </a:r>
            <a:r>
              <a:rPr lang="en-US" altLang="zh-CN" sz="2000" dirty="0">
                <a:ea typeface="宋体" panose="02010600030101010101" pitchFamily="2" charset="-122"/>
              </a:rPr>
              <a:t>Web standards change rapidly. Client software is updated every few months. Developers of widely used applications are faced with a dilemma: Use the latest standards to increase functionality or use older standards to ensure greater compatibility with older user software.</a:t>
            </a:r>
          </a:p>
        </p:txBody>
      </p:sp>
      <p:sp>
        <p:nvSpPr>
          <p:cNvPr id="33797" name="Footer Placeholder 4">
            <a:extLst>
              <a:ext uri="{FF2B5EF4-FFF2-40B4-BE49-F238E27FC236}">
                <a16:creationId xmlns:a16="http://schemas.microsoft.com/office/drawing/2014/main" id="{FE4ADE53-FA79-4191-9E14-08651FD0B1B1}"/>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33798" name="Rectangle 6">
            <a:extLst>
              <a:ext uri="{FF2B5EF4-FFF2-40B4-BE49-F238E27FC236}">
                <a16:creationId xmlns:a16="http://schemas.microsoft.com/office/drawing/2014/main" id="{BD67BB2A-0196-4019-8B19-B2EB97E8F44D}"/>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6">
            <a:extLst>
              <a:ext uri="{FF2B5EF4-FFF2-40B4-BE49-F238E27FC236}">
                <a16:creationId xmlns:a16="http://schemas.microsoft.com/office/drawing/2014/main" id="{5D0700B5-A5D2-4E89-8204-4F237C84A8B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0E3D54A-93AC-4AC2-8EF8-A2BBBF077423}" type="slidenum">
              <a:rPr lang="en-US" altLang="en-US"/>
              <a:pPr eaLnBrk="1" hangingPunct="1"/>
              <a:t>65</a:t>
            </a:fld>
            <a:endParaRPr lang="en-US" altLang="en-US"/>
          </a:p>
        </p:txBody>
      </p:sp>
      <p:sp>
        <p:nvSpPr>
          <p:cNvPr id="34819" name="Rectangle 2">
            <a:extLst>
              <a:ext uri="{FF2B5EF4-FFF2-40B4-BE49-F238E27FC236}">
                <a16:creationId xmlns:a16="http://schemas.microsoft.com/office/drawing/2014/main" id="{1A0D78EE-7446-460F-89A2-B43F9EDF1BE2}"/>
              </a:ext>
            </a:extLst>
          </p:cNvPr>
          <p:cNvSpPr>
            <a:spLocks noGrp="1" noChangeArrowheads="1"/>
          </p:cNvSpPr>
          <p:nvPr>
            <p:ph type="title"/>
          </p:nvPr>
        </p:nvSpPr>
        <p:spPr>
          <a:xfrm>
            <a:off x="304800" y="122238"/>
            <a:ext cx="7696200" cy="1173162"/>
          </a:xfrm>
        </p:spPr>
        <p:txBody>
          <a:bodyPr/>
          <a:lstStyle/>
          <a:p>
            <a:pPr eaLnBrk="1" hangingPunct="1"/>
            <a:r>
              <a:rPr lang="en-US" altLang="zh-CN" sz="3600">
                <a:ea typeface="宋体" panose="02010600030101010101" pitchFamily="2" charset="-122"/>
              </a:rPr>
              <a:t>Configuration for Internet Deployment</a:t>
            </a:r>
          </a:p>
        </p:txBody>
      </p:sp>
      <p:sp>
        <p:nvSpPr>
          <p:cNvPr id="34820" name="Rectangle 3">
            <a:extLst>
              <a:ext uri="{FF2B5EF4-FFF2-40B4-BE49-F238E27FC236}">
                <a16:creationId xmlns:a16="http://schemas.microsoft.com/office/drawing/2014/main" id="{5F211D70-A085-43C8-8330-F90A51A41333}"/>
              </a:ext>
            </a:extLst>
          </p:cNvPr>
          <p:cNvSpPr>
            <a:spLocks noGrp="1" noChangeArrowheads="1"/>
          </p:cNvSpPr>
          <p:nvPr>
            <p:ph type="body" sz="half" idx="1"/>
          </p:nvPr>
        </p:nvSpPr>
        <p:spPr>
          <a:xfrm>
            <a:off x="457200" y="1371600"/>
            <a:ext cx="8153400" cy="4759325"/>
          </a:xfrm>
          <a:noFill/>
        </p:spPr>
        <p:txBody>
          <a:bodyPr/>
          <a:lstStyle/>
          <a:p>
            <a:pPr eaLnBrk="1" hangingPunct="1"/>
            <a:r>
              <a:rPr lang="en-US" altLang="zh-CN" sz="3200" dirty="0">
                <a:ea typeface="宋体" panose="02010600030101010101" pitchFamily="2" charset="-122"/>
              </a:rPr>
              <a:t>Security improved by: </a:t>
            </a:r>
          </a:p>
          <a:p>
            <a:pPr lvl="1" eaLnBrk="1" hangingPunct="1"/>
            <a:r>
              <a:rPr lang="en-US" altLang="zh-CN" sz="2800" dirty="0">
                <a:ea typeface="宋体" panose="02010600030101010101" pitchFamily="2" charset="-122"/>
              </a:rPr>
              <a:t>Hypertext Transfer Protocol Secure (HTTPS) </a:t>
            </a:r>
            <a:r>
              <a:rPr lang="zh-CN" altLang="en-US" sz="2800" dirty="0">
                <a:ea typeface="宋体" panose="02010600030101010101" pitchFamily="2" charset="-122"/>
              </a:rPr>
              <a:t>（超文本传输协议和传输层安全）</a:t>
            </a:r>
            <a:endParaRPr lang="en-US" altLang="zh-CN" sz="2800" dirty="0">
              <a:ea typeface="宋体" panose="02010600030101010101" pitchFamily="2" charset="-122"/>
            </a:endParaRPr>
          </a:p>
          <a:p>
            <a:pPr lvl="2" eaLnBrk="1" hangingPunct="1"/>
            <a:r>
              <a:rPr lang="en-US" altLang="zh-CN" sz="2100" dirty="0">
                <a:ea typeface="宋体" panose="02010600030101010101" pitchFamily="2" charset="-122"/>
              </a:rPr>
              <a:t>an encrypted form of information transfer on the Internet that </a:t>
            </a:r>
            <a:r>
              <a:rPr lang="en-US" altLang="zh-CN" sz="2100" dirty="0">
                <a:solidFill>
                  <a:srgbClr val="C00000"/>
                </a:solidFill>
                <a:ea typeface="宋体" panose="02010600030101010101" pitchFamily="2" charset="-122"/>
              </a:rPr>
              <a:t>combines HTTP and TLS</a:t>
            </a:r>
          </a:p>
          <a:p>
            <a:pPr lvl="1" eaLnBrk="1" hangingPunct="1"/>
            <a:r>
              <a:rPr lang="en-US" altLang="zh-CN" sz="2800" dirty="0">
                <a:ea typeface="宋体" panose="02010600030101010101" pitchFamily="2" charset="-122"/>
              </a:rPr>
              <a:t>Transport Layer Security (TLS)</a:t>
            </a:r>
            <a:r>
              <a:rPr lang="zh-CN" altLang="en-US" sz="2800" dirty="0">
                <a:ea typeface="宋体" panose="02010600030101010101" pitchFamily="2" charset="-122"/>
              </a:rPr>
              <a:t>（是安全套接层的高级版本）</a:t>
            </a:r>
            <a:r>
              <a:rPr lang="en-US" altLang="zh-CN" sz="2800" dirty="0">
                <a:ea typeface="宋体" panose="02010600030101010101" pitchFamily="2" charset="-122"/>
              </a:rPr>
              <a:t> </a:t>
            </a:r>
          </a:p>
          <a:p>
            <a:pPr lvl="2" eaLnBrk="1" hangingPunct="1"/>
            <a:r>
              <a:rPr lang="en-US" altLang="zh-CN" sz="2100" dirty="0">
                <a:ea typeface="宋体" panose="02010600030101010101" pitchFamily="2" charset="-122"/>
              </a:rPr>
              <a:t>An advanced version of Secure Sockets Layer (SSL) protocol used to transmit information over the Internet securely</a:t>
            </a:r>
          </a:p>
        </p:txBody>
      </p:sp>
      <p:sp>
        <p:nvSpPr>
          <p:cNvPr id="34821" name="Footer Placeholder 4">
            <a:extLst>
              <a:ext uri="{FF2B5EF4-FFF2-40B4-BE49-F238E27FC236}">
                <a16:creationId xmlns:a16="http://schemas.microsoft.com/office/drawing/2014/main" id="{704242C4-0556-4BB4-BF0E-384077496C6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34822" name="Rectangle 6">
            <a:extLst>
              <a:ext uri="{FF2B5EF4-FFF2-40B4-BE49-F238E27FC236}">
                <a16:creationId xmlns:a16="http://schemas.microsoft.com/office/drawing/2014/main" id="{BE81DFBB-9F8D-4D2D-8FAC-BC5791E36BD9}"/>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820">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482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Number Placeholder 6">
            <a:extLst>
              <a:ext uri="{FF2B5EF4-FFF2-40B4-BE49-F238E27FC236}">
                <a16:creationId xmlns:a16="http://schemas.microsoft.com/office/drawing/2014/main" id="{C77E2290-9E3B-481C-B88E-2E513720001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FE14F94-F017-47A9-A4A0-C64228E4F80F}" type="slidenum">
              <a:rPr lang="en-US" altLang="en-US"/>
              <a:pPr eaLnBrk="1" hangingPunct="1"/>
              <a:t>66</a:t>
            </a:fld>
            <a:endParaRPr lang="en-US" altLang="en-US"/>
          </a:p>
        </p:txBody>
      </p:sp>
      <p:sp>
        <p:nvSpPr>
          <p:cNvPr id="35843" name="Rectangle 3">
            <a:extLst>
              <a:ext uri="{FF2B5EF4-FFF2-40B4-BE49-F238E27FC236}">
                <a16:creationId xmlns:a16="http://schemas.microsoft.com/office/drawing/2014/main" id="{485DAC81-DCCF-4B31-932F-CC5DBE5A37FD}"/>
              </a:ext>
            </a:extLst>
          </p:cNvPr>
          <p:cNvSpPr>
            <a:spLocks noGrp="1" noChangeArrowheads="1"/>
          </p:cNvSpPr>
          <p:nvPr>
            <p:ph type="body" sz="half" idx="1"/>
          </p:nvPr>
        </p:nvSpPr>
        <p:spPr>
          <a:xfrm>
            <a:off x="0" y="1371600"/>
            <a:ext cx="2667000" cy="1981200"/>
          </a:xfrm>
          <a:noFill/>
        </p:spPr>
        <p:txBody>
          <a:bodyPr/>
          <a:lstStyle/>
          <a:p>
            <a:pPr eaLnBrk="1" hangingPunct="1"/>
            <a:r>
              <a:rPr lang="en-US" altLang="zh-CN" sz="2800" dirty="0">
                <a:ea typeface="宋体" panose="02010600030101010101" pitchFamily="2" charset="-122"/>
              </a:rPr>
              <a:t>Performance</a:t>
            </a:r>
            <a:r>
              <a:rPr lang="en-US" altLang="zh-CN" sz="2400" dirty="0">
                <a:ea typeface="宋体" panose="02010600030101010101" pitchFamily="2" charset="-122"/>
              </a:rPr>
              <a:t> improved by multiple server configurations</a:t>
            </a:r>
          </a:p>
          <a:p>
            <a:pPr marL="0" indent="0" eaLnBrk="1" hangingPunct="1">
              <a:buNone/>
            </a:pPr>
            <a:r>
              <a:rPr lang="zh-CN" altLang="en-US" sz="2400" dirty="0">
                <a:ea typeface="宋体" panose="02010600030101010101" pitchFamily="2" charset="-122"/>
              </a:rPr>
              <a:t>（多层服务器结构）</a:t>
            </a:r>
            <a:endParaRPr lang="en-US" altLang="zh-CN" sz="2400" dirty="0">
              <a:ea typeface="宋体" panose="02010600030101010101" pitchFamily="2" charset="-122"/>
            </a:endParaRPr>
          </a:p>
        </p:txBody>
      </p:sp>
      <p:pic>
        <p:nvPicPr>
          <p:cNvPr id="35844" name="Picture 4">
            <a:extLst>
              <a:ext uri="{FF2B5EF4-FFF2-40B4-BE49-F238E27FC236}">
                <a16:creationId xmlns:a16="http://schemas.microsoft.com/office/drawing/2014/main" id="{3BE8FB81-88DD-411B-ACC4-EA11FAA0C1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01950" y="304800"/>
            <a:ext cx="5619750" cy="5846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5" name="Footer Placeholder 4">
            <a:extLst>
              <a:ext uri="{FF2B5EF4-FFF2-40B4-BE49-F238E27FC236}">
                <a16:creationId xmlns:a16="http://schemas.microsoft.com/office/drawing/2014/main" id="{FCF1F612-7770-4734-879B-BF541BEDEEFE}"/>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35846" name="Rectangle 6">
            <a:extLst>
              <a:ext uri="{FF2B5EF4-FFF2-40B4-BE49-F238E27FC236}">
                <a16:creationId xmlns:a16="http://schemas.microsoft.com/office/drawing/2014/main" id="{31C15FD5-AA62-4623-A3E2-8430FEF64000}"/>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6">
            <a:extLst>
              <a:ext uri="{FF2B5EF4-FFF2-40B4-BE49-F238E27FC236}">
                <a16:creationId xmlns:a16="http://schemas.microsoft.com/office/drawing/2014/main" id="{C660B430-657F-4892-80F3-B8BA5E94235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440C8F3-29C2-4B2D-B179-584D57F422E0}" type="slidenum">
              <a:rPr lang="en-US" altLang="en-US"/>
              <a:pPr eaLnBrk="1" hangingPunct="1"/>
              <a:t>67</a:t>
            </a:fld>
            <a:endParaRPr lang="en-US" altLang="en-US"/>
          </a:p>
        </p:txBody>
      </p:sp>
      <p:sp>
        <p:nvSpPr>
          <p:cNvPr id="30723" name="Rectangle 2">
            <a:extLst>
              <a:ext uri="{FF2B5EF4-FFF2-40B4-BE49-F238E27FC236}">
                <a16:creationId xmlns:a16="http://schemas.microsoft.com/office/drawing/2014/main" id="{DEF834CB-7C7A-482B-8F41-0613712A490D}"/>
              </a:ext>
            </a:extLst>
          </p:cNvPr>
          <p:cNvSpPr>
            <a:spLocks noGrp="1" noChangeArrowheads="1"/>
          </p:cNvSpPr>
          <p:nvPr>
            <p:ph type="title"/>
          </p:nvPr>
        </p:nvSpPr>
        <p:spPr>
          <a:xfrm>
            <a:off x="304800" y="122238"/>
            <a:ext cx="7696200" cy="1173162"/>
          </a:xfrm>
        </p:spPr>
        <p:txBody>
          <a:bodyPr/>
          <a:lstStyle/>
          <a:p>
            <a:pPr eaLnBrk="1" hangingPunct="1"/>
            <a:r>
              <a:rPr lang="en-US" altLang="zh-CN" sz="4000">
                <a:ea typeface="宋体" panose="02010600030101010101" pitchFamily="2" charset="-122"/>
              </a:rPr>
              <a:t>Design the Environment</a:t>
            </a:r>
            <a:br>
              <a:rPr lang="en-US" altLang="zh-CN" sz="3600">
                <a:ea typeface="宋体" panose="02010600030101010101" pitchFamily="2" charset="-122"/>
              </a:rPr>
            </a:br>
            <a:r>
              <a:rPr lang="en-US" altLang="zh-CN" sz="2800">
                <a:ea typeface="宋体" panose="02010600030101010101" pitchFamily="2" charset="-122"/>
              </a:rPr>
              <a:t>(continued)</a:t>
            </a:r>
          </a:p>
        </p:txBody>
      </p:sp>
      <p:sp>
        <p:nvSpPr>
          <p:cNvPr id="30724" name="Rectangle 3">
            <a:extLst>
              <a:ext uri="{FF2B5EF4-FFF2-40B4-BE49-F238E27FC236}">
                <a16:creationId xmlns:a16="http://schemas.microsoft.com/office/drawing/2014/main" id="{2D1FFD34-F679-4663-B9D3-83CE976B39B8}"/>
              </a:ext>
            </a:extLst>
          </p:cNvPr>
          <p:cNvSpPr>
            <a:spLocks noGrp="1" noChangeArrowheads="1"/>
          </p:cNvSpPr>
          <p:nvPr>
            <p:ph type="body" sz="half" idx="1"/>
          </p:nvPr>
        </p:nvSpPr>
        <p:spPr>
          <a:xfrm>
            <a:off x="457200" y="1371600"/>
            <a:ext cx="8153400" cy="4759325"/>
          </a:xfrm>
        </p:spPr>
        <p:txBody>
          <a:bodyPr/>
          <a:lstStyle/>
          <a:p>
            <a:pPr eaLnBrk="1" hangingPunct="1">
              <a:lnSpc>
                <a:spcPct val="90000"/>
              </a:lnSpc>
            </a:pPr>
            <a:r>
              <a:rPr lang="en-US" altLang="zh-CN" sz="3200" dirty="0">
                <a:ea typeface="宋体" panose="02010600030101010101" pitchFamily="2" charset="-122"/>
              </a:rPr>
              <a:t>Design for External Deployment</a:t>
            </a:r>
          </a:p>
          <a:p>
            <a:pPr lvl="1" eaLnBrk="1" hangingPunct="1">
              <a:lnSpc>
                <a:spcPct val="90000"/>
              </a:lnSpc>
            </a:pPr>
            <a:r>
              <a:rPr lang="en-US" altLang="zh-CN" sz="2800" dirty="0">
                <a:ea typeface="宋体" panose="02010600030101010101" pitchFamily="2" charset="-122"/>
              </a:rPr>
              <a:t>Configuration for Internet deployment</a:t>
            </a:r>
          </a:p>
          <a:p>
            <a:pPr lvl="2" eaLnBrk="1" hangingPunct="1">
              <a:lnSpc>
                <a:spcPct val="90000"/>
              </a:lnSpc>
            </a:pPr>
            <a:r>
              <a:rPr lang="en-US" altLang="zh-CN" sz="2400" dirty="0">
                <a:ea typeface="宋体" panose="02010600030101010101" pitchFamily="2" charset="-122"/>
              </a:rPr>
              <a:t>Advantages and risks</a:t>
            </a:r>
          </a:p>
          <a:p>
            <a:pPr lvl="1" eaLnBrk="1" hangingPunct="1">
              <a:lnSpc>
                <a:spcPct val="90000"/>
              </a:lnSpc>
            </a:pPr>
            <a:r>
              <a:rPr lang="en-US" altLang="zh-CN" sz="2800" dirty="0">
                <a:solidFill>
                  <a:srgbClr val="C00000"/>
                </a:solidFill>
                <a:ea typeface="宋体" panose="02010600030101010101" pitchFamily="2" charset="-122"/>
              </a:rPr>
              <a:t>Hosting Alternatives for Internet deployment</a:t>
            </a:r>
            <a:r>
              <a:rPr lang="zh-CN" altLang="en-US" sz="2800" dirty="0">
                <a:solidFill>
                  <a:srgbClr val="C00000"/>
                </a:solidFill>
                <a:ea typeface="宋体" panose="02010600030101010101" pitchFamily="2" charset="-122"/>
              </a:rPr>
              <a:t>（</a:t>
            </a:r>
            <a:r>
              <a:rPr lang="en-US" altLang="zh-CN" sz="2800" dirty="0">
                <a:solidFill>
                  <a:srgbClr val="C00000"/>
                </a:solidFill>
                <a:ea typeface="宋体" panose="02010600030101010101" pitchFamily="2" charset="-122"/>
              </a:rPr>
              <a:t>Internet</a:t>
            </a:r>
            <a:r>
              <a:rPr lang="zh-CN" altLang="en-US" sz="2800" dirty="0">
                <a:solidFill>
                  <a:srgbClr val="C00000"/>
                </a:solidFill>
                <a:ea typeface="宋体" panose="02010600030101010101" pitchFamily="2" charset="-122"/>
              </a:rPr>
              <a:t>部署的托管替代方案）</a:t>
            </a:r>
            <a:endParaRPr lang="en-US" altLang="zh-CN" sz="2800" dirty="0">
              <a:solidFill>
                <a:srgbClr val="C00000"/>
              </a:solidFill>
              <a:ea typeface="宋体" panose="02010600030101010101" pitchFamily="2" charset="-122"/>
            </a:endParaRPr>
          </a:p>
          <a:p>
            <a:pPr lvl="2" eaLnBrk="1" hangingPunct="1">
              <a:lnSpc>
                <a:spcPct val="90000"/>
              </a:lnSpc>
            </a:pPr>
            <a:r>
              <a:rPr lang="en-US" altLang="zh-CN" sz="2400" dirty="0">
                <a:solidFill>
                  <a:srgbClr val="C00000"/>
                </a:solidFill>
                <a:ea typeface="宋体" panose="02010600030101010101" pitchFamily="2" charset="-122"/>
              </a:rPr>
              <a:t>Colocation</a:t>
            </a:r>
            <a:r>
              <a:rPr lang="zh-CN" altLang="en-US" sz="2400" dirty="0">
                <a:solidFill>
                  <a:srgbClr val="C00000"/>
                </a:solidFill>
                <a:ea typeface="宋体" panose="02010600030101010101" pitchFamily="2" charset="-122"/>
              </a:rPr>
              <a:t>（场地出租）</a:t>
            </a:r>
            <a:endParaRPr lang="en-US" altLang="zh-CN" sz="2400" dirty="0">
              <a:solidFill>
                <a:srgbClr val="C00000"/>
              </a:solidFill>
              <a:ea typeface="宋体" panose="02010600030101010101" pitchFamily="2" charset="-122"/>
            </a:endParaRPr>
          </a:p>
          <a:p>
            <a:pPr lvl="2" eaLnBrk="1" hangingPunct="1">
              <a:lnSpc>
                <a:spcPct val="90000"/>
              </a:lnSpc>
            </a:pPr>
            <a:r>
              <a:rPr lang="en-US" altLang="zh-CN" sz="2400" dirty="0">
                <a:solidFill>
                  <a:srgbClr val="C00000"/>
                </a:solidFill>
                <a:ea typeface="宋体" panose="02010600030101010101" pitchFamily="2" charset="-122"/>
              </a:rPr>
              <a:t>Managed services</a:t>
            </a:r>
            <a:r>
              <a:rPr lang="zh-CN" altLang="en-US" sz="2400" dirty="0">
                <a:solidFill>
                  <a:srgbClr val="C00000"/>
                </a:solidFill>
                <a:ea typeface="宋体" panose="02010600030101010101" pitchFamily="2" charset="-122"/>
              </a:rPr>
              <a:t>（托管式服务）</a:t>
            </a:r>
            <a:endParaRPr lang="en-US" altLang="zh-CN" sz="2400" dirty="0">
              <a:solidFill>
                <a:srgbClr val="C00000"/>
              </a:solidFill>
              <a:ea typeface="宋体" panose="02010600030101010101" pitchFamily="2" charset="-122"/>
            </a:endParaRPr>
          </a:p>
          <a:p>
            <a:pPr lvl="2" eaLnBrk="1" hangingPunct="1">
              <a:lnSpc>
                <a:spcPct val="90000"/>
              </a:lnSpc>
            </a:pPr>
            <a:r>
              <a:rPr lang="en-US" altLang="zh-CN" sz="2400" dirty="0">
                <a:solidFill>
                  <a:srgbClr val="C00000"/>
                </a:solidFill>
                <a:ea typeface="宋体" panose="02010600030101010101" pitchFamily="2" charset="-122"/>
              </a:rPr>
              <a:t>Virtual Servers</a:t>
            </a:r>
            <a:r>
              <a:rPr lang="zh-CN" altLang="en-US" sz="2400" dirty="0">
                <a:solidFill>
                  <a:srgbClr val="C00000"/>
                </a:solidFill>
                <a:ea typeface="宋体" panose="02010600030101010101" pitchFamily="2" charset="-122"/>
              </a:rPr>
              <a:t>（虚拟服务）</a:t>
            </a:r>
            <a:endParaRPr lang="en-US" altLang="zh-CN" sz="2400" dirty="0">
              <a:solidFill>
                <a:srgbClr val="C00000"/>
              </a:solidFill>
              <a:ea typeface="宋体" panose="02010600030101010101" pitchFamily="2" charset="-122"/>
            </a:endParaRPr>
          </a:p>
          <a:p>
            <a:pPr lvl="2" eaLnBrk="1" hangingPunct="1">
              <a:lnSpc>
                <a:spcPct val="90000"/>
              </a:lnSpc>
            </a:pPr>
            <a:r>
              <a:rPr lang="en-US" altLang="zh-CN" sz="2400" dirty="0">
                <a:solidFill>
                  <a:srgbClr val="C00000"/>
                </a:solidFill>
                <a:ea typeface="宋体" panose="02010600030101010101" pitchFamily="2" charset="-122"/>
              </a:rPr>
              <a:t>Cloud computing</a:t>
            </a:r>
            <a:r>
              <a:rPr lang="zh-CN" altLang="en-US" sz="2400" dirty="0">
                <a:solidFill>
                  <a:srgbClr val="C00000"/>
                </a:solidFill>
                <a:ea typeface="宋体" panose="02010600030101010101" pitchFamily="2" charset="-122"/>
              </a:rPr>
              <a:t>（云计算）</a:t>
            </a:r>
            <a:endParaRPr lang="en-US" altLang="zh-CN" sz="2400" dirty="0">
              <a:solidFill>
                <a:srgbClr val="C00000"/>
              </a:solidFill>
              <a:ea typeface="宋体" panose="02010600030101010101" pitchFamily="2" charset="-122"/>
            </a:endParaRPr>
          </a:p>
          <a:p>
            <a:pPr lvl="1" eaLnBrk="1" hangingPunct="1">
              <a:lnSpc>
                <a:spcPct val="90000"/>
              </a:lnSpc>
            </a:pPr>
            <a:r>
              <a:rPr lang="en-US" altLang="zh-CN" sz="2800" dirty="0">
                <a:ea typeface="宋体" panose="02010600030101010101" pitchFamily="2" charset="-122"/>
              </a:rPr>
              <a:t>Diversity of Client Devices with Internet deployment</a:t>
            </a:r>
          </a:p>
          <a:p>
            <a:pPr lvl="2" eaLnBrk="1" hangingPunct="1">
              <a:lnSpc>
                <a:spcPct val="90000"/>
              </a:lnSpc>
            </a:pPr>
            <a:r>
              <a:rPr lang="en-US" altLang="zh-CN" sz="2400" dirty="0">
                <a:ea typeface="宋体" panose="02010600030101010101" pitchFamily="2" charset="-122"/>
              </a:rPr>
              <a:t>Full size, tablets and notebooks, smart phones</a:t>
            </a:r>
          </a:p>
        </p:txBody>
      </p:sp>
      <p:sp>
        <p:nvSpPr>
          <p:cNvPr id="30726" name="Rectangle 6">
            <a:extLst>
              <a:ext uri="{FF2B5EF4-FFF2-40B4-BE49-F238E27FC236}">
                <a16:creationId xmlns:a16="http://schemas.microsoft.com/office/drawing/2014/main" id="{D6FF707B-B5FD-4239-89A3-42567037A2DF}"/>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extLst>
      <p:ext uri="{BB962C8B-B14F-4D97-AF65-F5344CB8AC3E}">
        <p14:creationId xmlns:p14="http://schemas.microsoft.com/office/powerpoint/2010/main" val="411596475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Number Placeholder 6">
            <a:extLst>
              <a:ext uri="{FF2B5EF4-FFF2-40B4-BE49-F238E27FC236}">
                <a16:creationId xmlns:a16="http://schemas.microsoft.com/office/drawing/2014/main" id="{AE1A96DD-ACE1-4497-BFB7-E5F6A98FC74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4F19A79-C235-4661-A9B6-5E78F9C7E055}" type="slidenum">
              <a:rPr lang="en-US" altLang="en-US"/>
              <a:pPr eaLnBrk="1" hangingPunct="1"/>
              <a:t>68</a:t>
            </a:fld>
            <a:endParaRPr lang="en-US" altLang="en-US"/>
          </a:p>
        </p:txBody>
      </p:sp>
      <p:sp>
        <p:nvSpPr>
          <p:cNvPr id="36867" name="Rectangle 2">
            <a:extLst>
              <a:ext uri="{FF2B5EF4-FFF2-40B4-BE49-F238E27FC236}">
                <a16:creationId xmlns:a16="http://schemas.microsoft.com/office/drawing/2014/main" id="{A88F1D5C-B6FF-4277-A9E0-F97972CADC4A}"/>
              </a:ext>
            </a:extLst>
          </p:cNvPr>
          <p:cNvSpPr>
            <a:spLocks noGrp="1" noChangeArrowheads="1"/>
          </p:cNvSpPr>
          <p:nvPr>
            <p:ph type="title"/>
          </p:nvPr>
        </p:nvSpPr>
        <p:spPr>
          <a:xfrm>
            <a:off x="304800" y="122238"/>
            <a:ext cx="7696200" cy="1173162"/>
          </a:xfrm>
        </p:spPr>
        <p:txBody>
          <a:bodyPr/>
          <a:lstStyle/>
          <a:p>
            <a:pPr eaLnBrk="1" hangingPunct="1"/>
            <a:r>
              <a:rPr lang="en-US" altLang="zh-CN" sz="3600">
                <a:ea typeface="宋体" panose="02010600030101010101" pitchFamily="2" charset="-122"/>
              </a:rPr>
              <a:t>Hosting Alternatives for Internet Deployment</a:t>
            </a:r>
          </a:p>
        </p:txBody>
      </p:sp>
      <p:sp>
        <p:nvSpPr>
          <p:cNvPr id="36868" name="Rectangle 3">
            <a:extLst>
              <a:ext uri="{FF2B5EF4-FFF2-40B4-BE49-F238E27FC236}">
                <a16:creationId xmlns:a16="http://schemas.microsoft.com/office/drawing/2014/main" id="{93BDF239-9758-4B9D-9253-E7A4D5DA4137}"/>
              </a:ext>
            </a:extLst>
          </p:cNvPr>
          <p:cNvSpPr>
            <a:spLocks noGrp="1" noChangeArrowheads="1"/>
          </p:cNvSpPr>
          <p:nvPr>
            <p:ph type="body" sz="half" idx="1"/>
          </p:nvPr>
        </p:nvSpPr>
        <p:spPr>
          <a:xfrm>
            <a:off x="457200" y="1371600"/>
            <a:ext cx="8153400" cy="4759325"/>
          </a:xfrm>
          <a:noFill/>
        </p:spPr>
        <p:txBody>
          <a:bodyPr/>
          <a:lstStyle/>
          <a:p>
            <a:pPr eaLnBrk="1" hangingPunct="1"/>
            <a:r>
              <a:rPr lang="en-US" altLang="zh-CN" sz="2800" dirty="0">
                <a:ea typeface="宋体" panose="02010600030101010101" pitchFamily="2" charset="-122"/>
              </a:rPr>
              <a:t>Hosting</a:t>
            </a:r>
            <a:r>
              <a:rPr lang="zh-CN" altLang="en-US" sz="2800" dirty="0">
                <a:ea typeface="宋体" panose="02010600030101010101" pitchFamily="2" charset="-122"/>
              </a:rPr>
              <a:t>（托管）</a:t>
            </a:r>
            <a:r>
              <a:rPr lang="en-US" altLang="zh-CN" sz="3200" dirty="0">
                <a:ea typeface="宋体" panose="02010600030101010101" pitchFamily="2" charset="-122"/>
              </a:rPr>
              <a:t>: </a:t>
            </a:r>
          </a:p>
          <a:p>
            <a:pPr lvl="1" eaLnBrk="1" hangingPunct="1"/>
            <a:r>
              <a:rPr lang="en-US" altLang="zh-CN" sz="2400" dirty="0">
                <a:ea typeface="宋体" panose="02010600030101010101" pitchFamily="2" charset="-122"/>
              </a:rPr>
              <a:t>Running and maintaining a computer system on someone’s behalf where the application software and the database reside</a:t>
            </a:r>
            <a:r>
              <a:rPr lang="zh-CN" altLang="en-US" sz="2400" dirty="0">
                <a:ea typeface="宋体" panose="02010600030101010101" pitchFamily="2" charset="-122"/>
              </a:rPr>
              <a:t>（托管指的是代表应用软件和数据所属的人来运行和维护一个计算机系统）</a:t>
            </a:r>
            <a:endParaRPr lang="en-US" altLang="zh-CN" sz="2400" dirty="0">
              <a:ea typeface="宋体" panose="02010600030101010101" pitchFamily="2" charset="-122"/>
            </a:endParaRPr>
          </a:p>
          <a:p>
            <a:pPr lvl="1" eaLnBrk="1" hangingPunct="1"/>
            <a:endParaRPr lang="en-US" altLang="zh-CN" sz="2400" dirty="0">
              <a:ea typeface="宋体" panose="02010600030101010101" pitchFamily="2" charset="-122"/>
            </a:endParaRPr>
          </a:p>
          <a:p>
            <a:pPr eaLnBrk="1" hangingPunct="1"/>
            <a:r>
              <a:rPr lang="en-US" altLang="zh-CN" sz="2800" dirty="0">
                <a:ea typeface="宋体" panose="02010600030101010101" pitchFamily="2" charset="-122"/>
              </a:rPr>
              <a:t>Issues when considering hosting alternatives</a:t>
            </a:r>
            <a:r>
              <a:rPr lang="zh-CN" altLang="en-US" sz="2800" dirty="0">
                <a:ea typeface="宋体" panose="02010600030101010101" pitchFamily="2" charset="-122"/>
              </a:rPr>
              <a:t>（考虑托管方案时的问题）</a:t>
            </a:r>
            <a:endParaRPr lang="en-US" altLang="zh-CN" sz="2800" dirty="0">
              <a:ea typeface="宋体" panose="02010600030101010101" pitchFamily="2" charset="-122"/>
            </a:endParaRPr>
          </a:p>
          <a:p>
            <a:pPr lvl="1" eaLnBrk="1" hangingPunct="1"/>
            <a:r>
              <a:rPr lang="en-US" altLang="zh-CN" sz="2400" dirty="0">
                <a:ea typeface="宋体" panose="02010600030101010101" pitchFamily="2" charset="-122"/>
              </a:rPr>
              <a:t>Reliability</a:t>
            </a:r>
            <a:r>
              <a:rPr lang="zh-CN" altLang="en-US" sz="2400" dirty="0">
                <a:ea typeface="宋体" panose="02010600030101010101" pitchFamily="2" charset="-122"/>
              </a:rPr>
              <a:t>（可靠性）</a:t>
            </a:r>
            <a:r>
              <a:rPr lang="en-US" altLang="zh-CN" sz="2400" dirty="0">
                <a:ea typeface="宋体" panose="02010600030101010101" pitchFamily="2" charset="-122"/>
              </a:rPr>
              <a:t>, security</a:t>
            </a:r>
            <a:r>
              <a:rPr lang="zh-CN" altLang="en-US" sz="2400" dirty="0">
                <a:ea typeface="宋体" panose="02010600030101010101" pitchFamily="2" charset="-122"/>
              </a:rPr>
              <a:t>（安全性）</a:t>
            </a:r>
            <a:r>
              <a:rPr lang="en-US" altLang="zh-CN" sz="2400" dirty="0">
                <a:ea typeface="宋体" panose="02010600030101010101" pitchFamily="2" charset="-122"/>
              </a:rPr>
              <a:t>, physical facilities</a:t>
            </a:r>
            <a:r>
              <a:rPr lang="zh-CN" altLang="en-US" sz="2400" dirty="0">
                <a:ea typeface="宋体" panose="02010600030101010101" pitchFamily="2" charset="-122"/>
              </a:rPr>
              <a:t>（物理设备）</a:t>
            </a:r>
            <a:r>
              <a:rPr lang="en-US" altLang="zh-CN" sz="2400" dirty="0">
                <a:ea typeface="宋体" panose="02010600030101010101" pitchFamily="2" charset="-122"/>
              </a:rPr>
              <a:t>, staff</a:t>
            </a:r>
            <a:r>
              <a:rPr lang="zh-CN" altLang="en-US" sz="2400" dirty="0">
                <a:ea typeface="宋体" panose="02010600030101010101" pitchFamily="2" charset="-122"/>
              </a:rPr>
              <a:t>（员工）</a:t>
            </a:r>
            <a:r>
              <a:rPr lang="en-US" altLang="zh-CN" sz="2400" dirty="0">
                <a:ea typeface="宋体" panose="02010600030101010101" pitchFamily="2" charset="-122"/>
              </a:rPr>
              <a:t>, potential for growth</a:t>
            </a:r>
            <a:r>
              <a:rPr lang="zh-CN" altLang="en-US" sz="2400" dirty="0">
                <a:ea typeface="宋体" panose="02010600030101010101" pitchFamily="2" charset="-122"/>
              </a:rPr>
              <a:t>（增长）</a:t>
            </a:r>
            <a:endParaRPr lang="en-US" altLang="zh-CN" sz="2400" dirty="0">
              <a:ea typeface="宋体" panose="02010600030101010101" pitchFamily="2" charset="-122"/>
            </a:endParaRPr>
          </a:p>
          <a:p>
            <a:pPr eaLnBrk="1" hangingPunct="1"/>
            <a:endParaRPr lang="en-US" altLang="zh-CN" sz="2800" dirty="0">
              <a:ea typeface="宋体" panose="02010600030101010101" pitchFamily="2" charset="-122"/>
            </a:endParaRPr>
          </a:p>
        </p:txBody>
      </p:sp>
      <p:sp>
        <p:nvSpPr>
          <p:cNvPr id="36869" name="Footer Placeholder 4">
            <a:extLst>
              <a:ext uri="{FF2B5EF4-FFF2-40B4-BE49-F238E27FC236}">
                <a16:creationId xmlns:a16="http://schemas.microsoft.com/office/drawing/2014/main" id="{DA9EAEC3-47A2-4D2A-8C93-1D5D435EBA2E}"/>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36870" name="Rectangle 6">
            <a:extLst>
              <a:ext uri="{FF2B5EF4-FFF2-40B4-BE49-F238E27FC236}">
                <a16:creationId xmlns:a16="http://schemas.microsoft.com/office/drawing/2014/main" id="{ADD8C72C-5086-4C22-B077-BD523E35E5DC}"/>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Number Placeholder 6">
            <a:extLst>
              <a:ext uri="{FF2B5EF4-FFF2-40B4-BE49-F238E27FC236}">
                <a16:creationId xmlns:a16="http://schemas.microsoft.com/office/drawing/2014/main" id="{DF8307D1-115E-4C82-A30F-3C3632CB9B9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B0A8EBC-2AF9-4845-B944-994C746ABFBD}" type="slidenum">
              <a:rPr lang="en-US" altLang="en-US"/>
              <a:pPr eaLnBrk="1" hangingPunct="1"/>
              <a:t>69</a:t>
            </a:fld>
            <a:endParaRPr lang="en-US" altLang="en-US"/>
          </a:p>
        </p:txBody>
      </p:sp>
      <p:sp>
        <p:nvSpPr>
          <p:cNvPr id="38915" name="Rectangle 2">
            <a:extLst>
              <a:ext uri="{FF2B5EF4-FFF2-40B4-BE49-F238E27FC236}">
                <a16:creationId xmlns:a16="http://schemas.microsoft.com/office/drawing/2014/main" id="{07C14598-09C0-42CB-A2B3-CACDCDCC4D01}"/>
              </a:ext>
            </a:extLst>
          </p:cNvPr>
          <p:cNvSpPr>
            <a:spLocks noGrp="1" noChangeArrowheads="1"/>
          </p:cNvSpPr>
          <p:nvPr>
            <p:ph type="title"/>
          </p:nvPr>
        </p:nvSpPr>
        <p:spPr>
          <a:xfrm>
            <a:off x="304800" y="122238"/>
            <a:ext cx="7696200" cy="1173162"/>
          </a:xfrm>
        </p:spPr>
        <p:txBody>
          <a:bodyPr/>
          <a:lstStyle/>
          <a:p>
            <a:pPr eaLnBrk="1" hangingPunct="1"/>
            <a:r>
              <a:rPr lang="en-US" altLang="zh-CN" sz="3600">
                <a:ea typeface="宋体" panose="02010600030101010101" pitchFamily="2" charset="-122"/>
              </a:rPr>
              <a:t>Hosting Alternatives for Internet Deployment </a:t>
            </a:r>
            <a:r>
              <a:rPr lang="en-US" altLang="zh-CN" sz="2400">
                <a:ea typeface="宋体" panose="02010600030101010101" pitchFamily="2" charset="-122"/>
              </a:rPr>
              <a:t>(continued)</a:t>
            </a:r>
          </a:p>
        </p:txBody>
      </p:sp>
      <p:sp>
        <p:nvSpPr>
          <p:cNvPr id="38916" name="Rectangle 3">
            <a:extLst>
              <a:ext uri="{FF2B5EF4-FFF2-40B4-BE49-F238E27FC236}">
                <a16:creationId xmlns:a16="http://schemas.microsoft.com/office/drawing/2014/main" id="{AB2067EE-140E-4C4D-BF54-795BBFE7CBF3}"/>
              </a:ext>
            </a:extLst>
          </p:cNvPr>
          <p:cNvSpPr>
            <a:spLocks noGrp="1" noChangeArrowheads="1"/>
          </p:cNvSpPr>
          <p:nvPr>
            <p:ph type="body" sz="half" idx="1"/>
          </p:nvPr>
        </p:nvSpPr>
        <p:spPr>
          <a:xfrm>
            <a:off x="457200" y="1371600"/>
            <a:ext cx="8153400" cy="4759325"/>
          </a:xfrm>
          <a:noFill/>
        </p:spPr>
        <p:txBody>
          <a:bodyPr/>
          <a:lstStyle/>
          <a:p>
            <a:pPr eaLnBrk="1" hangingPunct="1">
              <a:lnSpc>
                <a:spcPct val="90000"/>
              </a:lnSpc>
            </a:pPr>
            <a:r>
              <a:rPr lang="en-US" altLang="zh-CN" sz="2800" dirty="0">
                <a:ea typeface="宋体" panose="02010600030101010101" pitchFamily="2" charset="-122"/>
              </a:rPr>
              <a:t>Colocation</a:t>
            </a:r>
            <a:r>
              <a:rPr lang="zh-CN" altLang="en-US" sz="3200" dirty="0">
                <a:ea typeface="宋体" panose="02010600030101010101" pitchFamily="2" charset="-122"/>
              </a:rPr>
              <a:t>（场地出租）</a:t>
            </a:r>
            <a:endParaRPr lang="en-US" altLang="zh-CN" sz="3200" dirty="0">
              <a:ea typeface="宋体" panose="02010600030101010101" pitchFamily="2" charset="-122"/>
            </a:endParaRPr>
          </a:p>
          <a:p>
            <a:pPr lvl="1" eaLnBrk="1" hangingPunct="1">
              <a:lnSpc>
                <a:spcPct val="90000"/>
              </a:lnSpc>
            </a:pPr>
            <a:r>
              <a:rPr lang="en-US" altLang="zh-CN" sz="2200" dirty="0">
                <a:ea typeface="宋体" panose="02010600030101010101" pitchFamily="2" charset="-122"/>
              </a:rPr>
              <a:t>a hosting service with a secure location but in which the computers are usually owned by the client businesses </a:t>
            </a:r>
          </a:p>
          <a:p>
            <a:pPr eaLnBrk="1" hangingPunct="1">
              <a:lnSpc>
                <a:spcPct val="90000"/>
              </a:lnSpc>
            </a:pPr>
            <a:r>
              <a:rPr lang="en-US" altLang="zh-CN" sz="2800" dirty="0">
                <a:ea typeface="宋体" panose="02010600030101010101" pitchFamily="2" charset="-122"/>
              </a:rPr>
              <a:t>Managed Services</a:t>
            </a:r>
            <a:r>
              <a:rPr lang="zh-CN" altLang="en-US" sz="2800" dirty="0">
                <a:ea typeface="宋体" panose="02010600030101010101" pitchFamily="2" charset="-122"/>
              </a:rPr>
              <a:t>（管理服务）</a:t>
            </a:r>
            <a:endParaRPr lang="en-US" altLang="zh-CN" sz="2800" dirty="0">
              <a:ea typeface="宋体" panose="02010600030101010101" pitchFamily="2" charset="-122"/>
            </a:endParaRPr>
          </a:p>
          <a:p>
            <a:pPr lvl="1" eaLnBrk="1" hangingPunct="1">
              <a:lnSpc>
                <a:spcPct val="90000"/>
              </a:lnSpc>
            </a:pPr>
            <a:r>
              <a:rPr lang="en-US" altLang="zh-CN" sz="2200" dirty="0">
                <a:ea typeface="宋体" panose="02010600030101010101" pitchFamily="2" charset="-122"/>
              </a:rPr>
              <a:t>a client owns software but may want to purchase additional services, such as installing and managing the operating system, the Internet servers, database servers, and load balancing software</a:t>
            </a:r>
          </a:p>
          <a:p>
            <a:pPr eaLnBrk="1" hangingPunct="1">
              <a:lnSpc>
                <a:spcPct val="90000"/>
              </a:lnSpc>
            </a:pPr>
            <a:r>
              <a:rPr lang="en-US" altLang="zh-CN" sz="2600" dirty="0">
                <a:ea typeface="宋体" panose="02010600030101010101" pitchFamily="2" charset="-122"/>
              </a:rPr>
              <a:t>Virtual servers</a:t>
            </a:r>
            <a:r>
              <a:rPr lang="zh-CN" altLang="en-US" sz="2600" dirty="0">
                <a:ea typeface="宋体" panose="02010600030101010101" pitchFamily="2" charset="-122"/>
              </a:rPr>
              <a:t>（虚拟服务器）</a:t>
            </a:r>
            <a:endParaRPr lang="en-US" altLang="zh-CN" sz="2600" dirty="0">
              <a:ea typeface="宋体" panose="02010600030101010101" pitchFamily="2" charset="-122"/>
            </a:endParaRPr>
          </a:p>
          <a:p>
            <a:pPr lvl="1" eaLnBrk="1" hangingPunct="1">
              <a:lnSpc>
                <a:spcPct val="90000"/>
              </a:lnSpc>
            </a:pPr>
            <a:r>
              <a:rPr lang="en-US" altLang="zh-CN" sz="2200" dirty="0">
                <a:ea typeface="宋体" panose="02010600030101010101" pitchFamily="2" charset="-122"/>
              </a:rPr>
              <a:t>the client company leases a virtual server that is configured as a real server, with a certain amount of CPU capacity, internal memory, hard drive memory, and bandwidth to the Internet</a:t>
            </a:r>
          </a:p>
        </p:txBody>
      </p:sp>
      <p:sp>
        <p:nvSpPr>
          <p:cNvPr id="38917" name="Footer Placeholder 4">
            <a:extLst>
              <a:ext uri="{FF2B5EF4-FFF2-40B4-BE49-F238E27FC236}">
                <a16:creationId xmlns:a16="http://schemas.microsoft.com/office/drawing/2014/main" id="{E62128D8-79D7-4EA2-8BB3-158916B078C7}"/>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38918" name="Rectangle 6">
            <a:extLst>
              <a:ext uri="{FF2B5EF4-FFF2-40B4-BE49-F238E27FC236}">
                <a16:creationId xmlns:a16="http://schemas.microsoft.com/office/drawing/2014/main" id="{6FD939F9-3727-4A96-A57B-0BA396FA28A5}"/>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extLst>
      <p:ext uri="{BB962C8B-B14F-4D97-AF65-F5344CB8AC3E}">
        <p14:creationId xmlns:p14="http://schemas.microsoft.com/office/powerpoint/2010/main" val="2588433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916">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8916">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8916">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891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6">
            <a:extLst>
              <a:ext uri="{FF2B5EF4-FFF2-40B4-BE49-F238E27FC236}">
                <a16:creationId xmlns:a16="http://schemas.microsoft.com/office/drawing/2014/main" id="{423A6C22-2DE4-4830-8393-0BE8CCA8306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512DC26-491F-4531-AF98-69D723CA2BB2}" type="slidenum">
              <a:rPr lang="en-US" altLang="en-US"/>
              <a:pPr eaLnBrk="1" hangingPunct="1"/>
              <a:t>70</a:t>
            </a:fld>
            <a:endParaRPr lang="en-US" altLang="en-US"/>
          </a:p>
        </p:txBody>
      </p:sp>
      <p:sp>
        <p:nvSpPr>
          <p:cNvPr id="39939" name="Rectangle 2">
            <a:extLst>
              <a:ext uri="{FF2B5EF4-FFF2-40B4-BE49-F238E27FC236}">
                <a16:creationId xmlns:a16="http://schemas.microsoft.com/office/drawing/2014/main" id="{9FF23689-641C-428B-9942-9BFB908BB999}"/>
              </a:ext>
            </a:extLst>
          </p:cNvPr>
          <p:cNvSpPr>
            <a:spLocks noGrp="1" noChangeArrowheads="1"/>
          </p:cNvSpPr>
          <p:nvPr>
            <p:ph type="title"/>
          </p:nvPr>
        </p:nvSpPr>
        <p:spPr>
          <a:xfrm>
            <a:off x="304800" y="122238"/>
            <a:ext cx="7696200" cy="1173162"/>
          </a:xfrm>
        </p:spPr>
        <p:txBody>
          <a:bodyPr/>
          <a:lstStyle/>
          <a:p>
            <a:pPr eaLnBrk="1" hangingPunct="1"/>
            <a:r>
              <a:rPr lang="en-US" altLang="zh-CN" sz="3600">
                <a:ea typeface="宋体" panose="02010600030101010101" pitchFamily="2" charset="-122"/>
              </a:rPr>
              <a:t>Hosting Alternatives for Internet Deployment </a:t>
            </a:r>
            <a:r>
              <a:rPr lang="en-US" altLang="zh-CN" sz="2400">
                <a:ea typeface="宋体" panose="02010600030101010101" pitchFamily="2" charset="-122"/>
              </a:rPr>
              <a:t>(continued)</a:t>
            </a:r>
          </a:p>
        </p:txBody>
      </p:sp>
      <p:sp>
        <p:nvSpPr>
          <p:cNvPr id="39940" name="Rectangle 3">
            <a:extLst>
              <a:ext uri="{FF2B5EF4-FFF2-40B4-BE49-F238E27FC236}">
                <a16:creationId xmlns:a16="http://schemas.microsoft.com/office/drawing/2014/main" id="{B2DBD00C-8A3F-4E63-A1AB-C25E355B2692}"/>
              </a:ext>
            </a:extLst>
          </p:cNvPr>
          <p:cNvSpPr>
            <a:spLocks noGrp="1" noChangeArrowheads="1"/>
          </p:cNvSpPr>
          <p:nvPr>
            <p:ph type="body" sz="half" idx="1"/>
          </p:nvPr>
        </p:nvSpPr>
        <p:spPr>
          <a:xfrm>
            <a:off x="457200" y="1371600"/>
            <a:ext cx="8153400" cy="5029200"/>
          </a:xfrm>
          <a:noFill/>
        </p:spPr>
        <p:txBody>
          <a:bodyPr/>
          <a:lstStyle/>
          <a:p>
            <a:pPr eaLnBrk="1" hangingPunct="1">
              <a:lnSpc>
                <a:spcPct val="90000"/>
              </a:lnSpc>
            </a:pPr>
            <a:r>
              <a:rPr lang="en-US" altLang="zh-CN" sz="2800" dirty="0">
                <a:ea typeface="宋体" panose="02010600030101010101" pitchFamily="2" charset="-122"/>
              </a:rPr>
              <a:t>Cloud Computing </a:t>
            </a:r>
            <a:r>
              <a:rPr lang="zh-CN" altLang="en-US" sz="2800" dirty="0">
                <a:ea typeface="宋体" panose="02010600030101010101" pitchFamily="2" charset="-122"/>
              </a:rPr>
              <a:t>（云计算）</a:t>
            </a:r>
            <a:endParaRPr lang="en-US" altLang="zh-CN" sz="2800" dirty="0">
              <a:ea typeface="宋体" panose="02010600030101010101" pitchFamily="2" charset="-122"/>
            </a:endParaRPr>
          </a:p>
          <a:p>
            <a:pPr lvl="1" eaLnBrk="1" hangingPunct="1">
              <a:lnSpc>
                <a:spcPct val="90000"/>
              </a:lnSpc>
            </a:pPr>
            <a:r>
              <a:rPr lang="en-US" altLang="zh-CN" sz="2200" dirty="0">
                <a:ea typeface="宋体" panose="02010600030101010101" pitchFamily="2" charset="-122"/>
              </a:rPr>
              <a:t>an extension of virtual servers in which the resources available include computing, storage, and Internet access and they appear to have unlimited availability</a:t>
            </a:r>
          </a:p>
          <a:p>
            <a:pPr lvl="1" eaLnBrk="1" hangingPunct="1">
              <a:lnSpc>
                <a:spcPct val="90000"/>
              </a:lnSpc>
            </a:pPr>
            <a:r>
              <a:rPr lang="en-US" altLang="zh-CN" sz="2200" dirty="0">
                <a:ea typeface="宋体" panose="02010600030101010101" pitchFamily="2" charset="-122"/>
              </a:rPr>
              <a:t>a client should be able to buy computing capacity much like one purchases such a utility as water or electricity</a:t>
            </a:r>
          </a:p>
          <a:p>
            <a:pPr lvl="1" eaLnBrk="1" hangingPunct="1">
              <a:lnSpc>
                <a:spcPct val="90000"/>
              </a:lnSpc>
            </a:pPr>
            <a:r>
              <a:rPr lang="en-US" altLang="zh-CN" sz="2200" dirty="0">
                <a:ea typeface="宋体" panose="02010600030101010101" pitchFamily="2" charset="-122"/>
              </a:rPr>
              <a:t>the client shouldn’t have to be concerned with such environmental issues as how or where this computing capacity is provided, just as an individual doesn’t have to worry about how electricity is generated</a:t>
            </a:r>
          </a:p>
          <a:p>
            <a:pPr eaLnBrk="1" hangingPunct="1">
              <a:lnSpc>
                <a:spcPct val="90000"/>
              </a:lnSpc>
            </a:pPr>
            <a:r>
              <a:rPr lang="en-US" altLang="zh-CN" sz="2800" dirty="0">
                <a:ea typeface="宋体" panose="02010600030101010101" pitchFamily="2" charset="-122"/>
              </a:rPr>
              <a:t>Service Level Agreement</a:t>
            </a:r>
            <a:r>
              <a:rPr lang="zh-CN" altLang="en-US" sz="2800" dirty="0">
                <a:ea typeface="宋体" panose="02010600030101010101" pitchFamily="2" charset="-122"/>
              </a:rPr>
              <a:t>（服务水平协议）</a:t>
            </a:r>
            <a:endParaRPr lang="en-US" altLang="zh-CN" sz="2800" dirty="0">
              <a:ea typeface="宋体" panose="02010600030101010101" pitchFamily="2" charset="-122"/>
            </a:endParaRPr>
          </a:p>
          <a:p>
            <a:pPr lvl="1" eaLnBrk="1" hangingPunct="1">
              <a:lnSpc>
                <a:spcPct val="90000"/>
              </a:lnSpc>
            </a:pPr>
            <a:r>
              <a:rPr lang="en-US" altLang="zh-CN" sz="2200" dirty="0">
                <a:ea typeface="宋体" panose="02010600030101010101" pitchFamily="2" charset="-122"/>
              </a:rPr>
              <a:t>For all alternatives, part of the contract between a business and a hosting company that guarantees a specific level of system availability</a:t>
            </a:r>
          </a:p>
        </p:txBody>
      </p:sp>
      <p:sp>
        <p:nvSpPr>
          <p:cNvPr id="39941" name="Footer Placeholder 4">
            <a:extLst>
              <a:ext uri="{FF2B5EF4-FFF2-40B4-BE49-F238E27FC236}">
                <a16:creationId xmlns:a16="http://schemas.microsoft.com/office/drawing/2014/main" id="{ADB4464B-98BD-4CA4-811A-8AE3F5F851C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39942" name="Rectangle 6">
            <a:extLst>
              <a:ext uri="{FF2B5EF4-FFF2-40B4-BE49-F238E27FC236}">
                <a16:creationId xmlns:a16="http://schemas.microsoft.com/office/drawing/2014/main" id="{C50E32D8-19CE-418E-B91E-31055AEF910A}"/>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extLst>
      <p:ext uri="{BB962C8B-B14F-4D97-AF65-F5344CB8AC3E}">
        <p14:creationId xmlns:p14="http://schemas.microsoft.com/office/powerpoint/2010/main" val="1216403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940">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994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6">
            <a:extLst>
              <a:ext uri="{FF2B5EF4-FFF2-40B4-BE49-F238E27FC236}">
                <a16:creationId xmlns:a16="http://schemas.microsoft.com/office/drawing/2014/main" id="{463E5C78-CF14-4B14-A78E-64767615EB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8DBC766-DDD4-411C-B666-22CA311F8478}" type="slidenum">
              <a:rPr lang="en-US" altLang="en-US"/>
              <a:pPr eaLnBrk="1" hangingPunct="1"/>
              <a:t>71</a:t>
            </a:fld>
            <a:endParaRPr lang="en-US" altLang="en-US"/>
          </a:p>
        </p:txBody>
      </p:sp>
      <p:sp>
        <p:nvSpPr>
          <p:cNvPr id="37891" name="Rectangle 2">
            <a:extLst>
              <a:ext uri="{FF2B5EF4-FFF2-40B4-BE49-F238E27FC236}">
                <a16:creationId xmlns:a16="http://schemas.microsoft.com/office/drawing/2014/main" id="{758685FE-92D0-4388-8198-8E034270622F}"/>
              </a:ext>
            </a:extLst>
          </p:cNvPr>
          <p:cNvSpPr>
            <a:spLocks noGrp="1" noChangeArrowheads="1"/>
          </p:cNvSpPr>
          <p:nvPr>
            <p:ph type="title"/>
          </p:nvPr>
        </p:nvSpPr>
        <p:spPr>
          <a:xfrm>
            <a:off x="304800" y="122238"/>
            <a:ext cx="7696200" cy="1173162"/>
          </a:xfrm>
        </p:spPr>
        <p:txBody>
          <a:bodyPr/>
          <a:lstStyle/>
          <a:p>
            <a:pPr eaLnBrk="1" hangingPunct="1"/>
            <a:r>
              <a:rPr lang="en-US" altLang="zh-CN" sz="3600">
                <a:ea typeface="宋体" panose="02010600030101010101" pitchFamily="2" charset="-122"/>
              </a:rPr>
              <a:t>Hosting Alternatives for Internet Deployment </a:t>
            </a:r>
            <a:r>
              <a:rPr lang="en-US" altLang="zh-CN" sz="2400">
                <a:ea typeface="宋体" panose="02010600030101010101" pitchFamily="2" charset="-122"/>
              </a:rPr>
              <a:t>(continued)</a:t>
            </a:r>
          </a:p>
        </p:txBody>
      </p:sp>
      <p:pic>
        <p:nvPicPr>
          <p:cNvPr id="37892" name="Picture 4">
            <a:extLst>
              <a:ext uri="{FF2B5EF4-FFF2-40B4-BE49-F238E27FC236}">
                <a16:creationId xmlns:a16="http://schemas.microsoft.com/office/drawing/2014/main" id="{9AA74A1C-E3DB-45A9-B28B-2F7105C9B8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4353" y="1964208"/>
            <a:ext cx="7086600" cy="3360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3" name="Footer Placeholder 4">
            <a:extLst>
              <a:ext uri="{FF2B5EF4-FFF2-40B4-BE49-F238E27FC236}">
                <a16:creationId xmlns:a16="http://schemas.microsoft.com/office/drawing/2014/main" id="{C6852DF8-E99C-4036-8E86-44A11323409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37894" name="Rectangle 6">
            <a:extLst>
              <a:ext uri="{FF2B5EF4-FFF2-40B4-BE49-F238E27FC236}">
                <a16:creationId xmlns:a16="http://schemas.microsoft.com/office/drawing/2014/main" id="{2350CC7C-CDF6-4B64-B55B-7246A5D975B0}"/>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 name="矩形 1">
            <a:extLst>
              <a:ext uri="{FF2B5EF4-FFF2-40B4-BE49-F238E27FC236}">
                <a16:creationId xmlns:a16="http://schemas.microsoft.com/office/drawing/2014/main" id="{7FF6A649-BD4F-4AF2-9EA5-87BC082C6415}"/>
              </a:ext>
            </a:extLst>
          </p:cNvPr>
          <p:cNvSpPr/>
          <p:nvPr/>
        </p:nvSpPr>
        <p:spPr>
          <a:xfrm>
            <a:off x="1984353" y="2438870"/>
            <a:ext cx="1597047" cy="2886075"/>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56E0D9C7-C4A3-4370-8C04-7C1120EBAB2E}"/>
              </a:ext>
            </a:extLst>
          </p:cNvPr>
          <p:cNvSpPr txBox="1"/>
          <p:nvPr/>
        </p:nvSpPr>
        <p:spPr>
          <a:xfrm>
            <a:off x="92228" y="2965670"/>
            <a:ext cx="4572000" cy="646331"/>
          </a:xfrm>
          <a:prstGeom prst="rect">
            <a:avLst/>
          </a:prstGeom>
          <a:noFill/>
        </p:spPr>
        <p:txBody>
          <a:bodyPr wrap="square">
            <a:spAutoFit/>
          </a:bodyPr>
          <a:lstStyle/>
          <a:p>
            <a:r>
              <a:rPr lang="zh-CN" altLang="en-US" dirty="0"/>
              <a:t>场地和设施</a:t>
            </a:r>
            <a:endParaRPr lang="en-US" altLang="zh-CN" dirty="0"/>
          </a:p>
          <a:p>
            <a:endParaRPr lang="en-US" altLang="zh-CN" dirty="0"/>
          </a:p>
        </p:txBody>
      </p:sp>
      <p:sp>
        <p:nvSpPr>
          <p:cNvPr id="12" name="文本框 11">
            <a:extLst>
              <a:ext uri="{FF2B5EF4-FFF2-40B4-BE49-F238E27FC236}">
                <a16:creationId xmlns:a16="http://schemas.microsoft.com/office/drawing/2014/main" id="{86343331-D2DA-4C88-8150-757126ED2496}"/>
              </a:ext>
            </a:extLst>
          </p:cNvPr>
          <p:cNvSpPr txBox="1"/>
          <p:nvPr/>
        </p:nvSpPr>
        <p:spPr>
          <a:xfrm>
            <a:off x="25750" y="3361088"/>
            <a:ext cx="4597224" cy="646331"/>
          </a:xfrm>
          <a:prstGeom prst="rect">
            <a:avLst/>
          </a:prstGeom>
          <a:noFill/>
        </p:spPr>
        <p:txBody>
          <a:bodyPr wrap="square">
            <a:spAutoFit/>
          </a:bodyPr>
          <a:lstStyle/>
          <a:p>
            <a:r>
              <a:rPr lang="zh-CN" altLang="en-US" dirty="0"/>
              <a:t>客户拥有设备？</a:t>
            </a:r>
            <a:endParaRPr lang="en-US" altLang="zh-CN" dirty="0"/>
          </a:p>
          <a:p>
            <a:endParaRPr lang="zh-CN" altLang="en-US" dirty="0"/>
          </a:p>
        </p:txBody>
      </p:sp>
      <p:sp>
        <p:nvSpPr>
          <p:cNvPr id="14" name="文本框 13">
            <a:extLst>
              <a:ext uri="{FF2B5EF4-FFF2-40B4-BE49-F238E27FC236}">
                <a16:creationId xmlns:a16="http://schemas.microsoft.com/office/drawing/2014/main" id="{8E9533DE-F16D-4DE8-8D77-006A128039F7}"/>
              </a:ext>
            </a:extLst>
          </p:cNvPr>
          <p:cNvSpPr txBox="1"/>
          <p:nvPr/>
        </p:nvSpPr>
        <p:spPr>
          <a:xfrm>
            <a:off x="49136" y="3791849"/>
            <a:ext cx="4597224" cy="369332"/>
          </a:xfrm>
          <a:prstGeom prst="rect">
            <a:avLst/>
          </a:prstGeom>
          <a:noFill/>
        </p:spPr>
        <p:txBody>
          <a:bodyPr wrap="square">
            <a:spAutoFit/>
          </a:bodyPr>
          <a:lstStyle/>
          <a:p>
            <a:r>
              <a:rPr lang="zh-CN" altLang="en-US" dirty="0"/>
              <a:t>客户管理配置？</a:t>
            </a:r>
            <a:endParaRPr lang="en-US" altLang="zh-CN" dirty="0"/>
          </a:p>
        </p:txBody>
      </p:sp>
      <p:sp>
        <p:nvSpPr>
          <p:cNvPr id="16" name="文本框 15">
            <a:extLst>
              <a:ext uri="{FF2B5EF4-FFF2-40B4-BE49-F238E27FC236}">
                <a16:creationId xmlns:a16="http://schemas.microsoft.com/office/drawing/2014/main" id="{FAAFAEA5-B2B1-4998-AD1B-FE2B1A68629E}"/>
              </a:ext>
            </a:extLst>
          </p:cNvPr>
          <p:cNvSpPr txBox="1"/>
          <p:nvPr/>
        </p:nvSpPr>
        <p:spPr>
          <a:xfrm>
            <a:off x="68722" y="4181137"/>
            <a:ext cx="4597224" cy="369332"/>
          </a:xfrm>
          <a:prstGeom prst="rect">
            <a:avLst/>
          </a:prstGeom>
          <a:noFill/>
        </p:spPr>
        <p:txBody>
          <a:bodyPr wrap="square">
            <a:spAutoFit/>
          </a:bodyPr>
          <a:lstStyle/>
          <a:p>
            <a:r>
              <a:rPr lang="zh-CN" altLang="en-US" dirty="0"/>
              <a:t>可扩展性</a:t>
            </a:r>
            <a:endParaRPr lang="en-US" altLang="zh-CN" dirty="0"/>
          </a:p>
        </p:txBody>
      </p:sp>
      <p:sp>
        <p:nvSpPr>
          <p:cNvPr id="18" name="文本框 17">
            <a:extLst>
              <a:ext uri="{FF2B5EF4-FFF2-40B4-BE49-F238E27FC236}">
                <a16:creationId xmlns:a16="http://schemas.microsoft.com/office/drawing/2014/main" id="{92B18BD7-8C16-45C4-822F-4F80A9F50FA3}"/>
              </a:ext>
            </a:extLst>
          </p:cNvPr>
          <p:cNvSpPr txBox="1"/>
          <p:nvPr/>
        </p:nvSpPr>
        <p:spPr>
          <a:xfrm>
            <a:off x="92228" y="4613240"/>
            <a:ext cx="4597224" cy="369332"/>
          </a:xfrm>
          <a:prstGeom prst="rect">
            <a:avLst/>
          </a:prstGeom>
          <a:noFill/>
        </p:spPr>
        <p:txBody>
          <a:bodyPr wrap="square">
            <a:spAutoFit/>
          </a:bodyPr>
          <a:lstStyle/>
          <a:p>
            <a:r>
              <a:rPr lang="zh-CN" altLang="en-US" dirty="0"/>
              <a:t>维护</a:t>
            </a:r>
            <a:endParaRPr lang="en-US" altLang="zh-CN" dirty="0"/>
          </a:p>
        </p:txBody>
      </p:sp>
      <p:sp>
        <p:nvSpPr>
          <p:cNvPr id="20" name="文本框 19">
            <a:extLst>
              <a:ext uri="{FF2B5EF4-FFF2-40B4-BE49-F238E27FC236}">
                <a16:creationId xmlns:a16="http://schemas.microsoft.com/office/drawing/2014/main" id="{1D4F7077-4C2D-42C3-9CB5-6BE44D8C6C92}"/>
              </a:ext>
            </a:extLst>
          </p:cNvPr>
          <p:cNvSpPr txBox="1"/>
          <p:nvPr/>
        </p:nvSpPr>
        <p:spPr>
          <a:xfrm>
            <a:off x="79616" y="4986767"/>
            <a:ext cx="4597224" cy="369332"/>
          </a:xfrm>
          <a:prstGeom prst="rect">
            <a:avLst/>
          </a:prstGeom>
          <a:noFill/>
        </p:spPr>
        <p:txBody>
          <a:bodyPr wrap="square">
            <a:spAutoFit/>
          </a:bodyPr>
          <a:lstStyle/>
          <a:p>
            <a:r>
              <a:rPr lang="zh-CN" altLang="en-US" dirty="0"/>
              <a:t>备份与恢复</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6">
            <a:extLst>
              <a:ext uri="{FF2B5EF4-FFF2-40B4-BE49-F238E27FC236}">
                <a16:creationId xmlns:a16="http://schemas.microsoft.com/office/drawing/2014/main" id="{463E5C78-CF14-4B14-A78E-64767615EB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8DBC766-DDD4-411C-B666-22CA311F8478}" type="slidenum">
              <a:rPr lang="en-US" altLang="en-US"/>
              <a:pPr eaLnBrk="1" hangingPunct="1"/>
              <a:t>72</a:t>
            </a:fld>
            <a:endParaRPr lang="en-US" altLang="en-US"/>
          </a:p>
        </p:txBody>
      </p:sp>
      <p:sp>
        <p:nvSpPr>
          <p:cNvPr id="37891" name="Rectangle 2">
            <a:extLst>
              <a:ext uri="{FF2B5EF4-FFF2-40B4-BE49-F238E27FC236}">
                <a16:creationId xmlns:a16="http://schemas.microsoft.com/office/drawing/2014/main" id="{758685FE-92D0-4388-8198-8E034270622F}"/>
              </a:ext>
            </a:extLst>
          </p:cNvPr>
          <p:cNvSpPr>
            <a:spLocks noGrp="1" noChangeArrowheads="1"/>
          </p:cNvSpPr>
          <p:nvPr>
            <p:ph type="title"/>
          </p:nvPr>
        </p:nvSpPr>
        <p:spPr>
          <a:xfrm>
            <a:off x="304800" y="122238"/>
            <a:ext cx="7696200" cy="1173162"/>
          </a:xfrm>
        </p:spPr>
        <p:txBody>
          <a:bodyPr/>
          <a:lstStyle/>
          <a:p>
            <a:pPr eaLnBrk="1" hangingPunct="1"/>
            <a:r>
              <a:rPr lang="en-US" altLang="zh-CN" sz="3600">
                <a:ea typeface="宋体" panose="02010600030101010101" pitchFamily="2" charset="-122"/>
              </a:rPr>
              <a:t>Hosting Alternatives for Internet Deployment </a:t>
            </a:r>
            <a:r>
              <a:rPr lang="en-US" altLang="zh-CN" sz="2400">
                <a:ea typeface="宋体" panose="02010600030101010101" pitchFamily="2" charset="-122"/>
              </a:rPr>
              <a:t>(continued)</a:t>
            </a:r>
          </a:p>
        </p:txBody>
      </p:sp>
      <p:pic>
        <p:nvPicPr>
          <p:cNvPr id="37892" name="Picture 4">
            <a:extLst>
              <a:ext uri="{FF2B5EF4-FFF2-40B4-BE49-F238E27FC236}">
                <a16:creationId xmlns:a16="http://schemas.microsoft.com/office/drawing/2014/main" id="{9AA74A1C-E3DB-45A9-B28B-2F7105C9B8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4353" y="1964208"/>
            <a:ext cx="7086600" cy="3360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3" name="Footer Placeholder 4">
            <a:extLst>
              <a:ext uri="{FF2B5EF4-FFF2-40B4-BE49-F238E27FC236}">
                <a16:creationId xmlns:a16="http://schemas.microsoft.com/office/drawing/2014/main" id="{C6852DF8-E99C-4036-8E86-44A11323409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37894" name="Rectangle 6">
            <a:extLst>
              <a:ext uri="{FF2B5EF4-FFF2-40B4-BE49-F238E27FC236}">
                <a16:creationId xmlns:a16="http://schemas.microsoft.com/office/drawing/2014/main" id="{2350CC7C-CDF6-4B64-B55B-7246A5D975B0}"/>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 name="矩形 1">
            <a:extLst>
              <a:ext uri="{FF2B5EF4-FFF2-40B4-BE49-F238E27FC236}">
                <a16:creationId xmlns:a16="http://schemas.microsoft.com/office/drawing/2014/main" id="{7FF6A649-BD4F-4AF2-9EA5-87BC082C6415}"/>
              </a:ext>
            </a:extLst>
          </p:cNvPr>
          <p:cNvSpPr/>
          <p:nvPr/>
        </p:nvSpPr>
        <p:spPr>
          <a:xfrm>
            <a:off x="3581400" y="2438870"/>
            <a:ext cx="1095440" cy="2886075"/>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56E0D9C7-C4A3-4370-8C04-7C1120EBAB2E}"/>
              </a:ext>
            </a:extLst>
          </p:cNvPr>
          <p:cNvSpPr txBox="1"/>
          <p:nvPr/>
        </p:nvSpPr>
        <p:spPr>
          <a:xfrm>
            <a:off x="92228" y="2965670"/>
            <a:ext cx="4572000" cy="646331"/>
          </a:xfrm>
          <a:prstGeom prst="rect">
            <a:avLst/>
          </a:prstGeom>
          <a:noFill/>
        </p:spPr>
        <p:txBody>
          <a:bodyPr wrap="square">
            <a:spAutoFit/>
          </a:bodyPr>
          <a:lstStyle/>
          <a:p>
            <a:r>
              <a:rPr lang="zh-CN" altLang="en-US" dirty="0"/>
              <a:t>场地和设施</a:t>
            </a:r>
            <a:endParaRPr lang="en-US" altLang="zh-CN" dirty="0"/>
          </a:p>
          <a:p>
            <a:endParaRPr lang="en-US" altLang="zh-CN" dirty="0"/>
          </a:p>
        </p:txBody>
      </p:sp>
      <p:sp>
        <p:nvSpPr>
          <p:cNvPr id="12" name="文本框 11">
            <a:extLst>
              <a:ext uri="{FF2B5EF4-FFF2-40B4-BE49-F238E27FC236}">
                <a16:creationId xmlns:a16="http://schemas.microsoft.com/office/drawing/2014/main" id="{86343331-D2DA-4C88-8150-757126ED2496}"/>
              </a:ext>
            </a:extLst>
          </p:cNvPr>
          <p:cNvSpPr txBox="1"/>
          <p:nvPr/>
        </p:nvSpPr>
        <p:spPr>
          <a:xfrm>
            <a:off x="25750" y="3361088"/>
            <a:ext cx="4597224" cy="646331"/>
          </a:xfrm>
          <a:prstGeom prst="rect">
            <a:avLst/>
          </a:prstGeom>
          <a:noFill/>
        </p:spPr>
        <p:txBody>
          <a:bodyPr wrap="square">
            <a:spAutoFit/>
          </a:bodyPr>
          <a:lstStyle/>
          <a:p>
            <a:r>
              <a:rPr lang="zh-CN" altLang="en-US" dirty="0"/>
              <a:t>客户拥有设备？</a:t>
            </a:r>
            <a:endParaRPr lang="en-US" altLang="zh-CN" dirty="0"/>
          </a:p>
          <a:p>
            <a:endParaRPr lang="zh-CN" altLang="en-US" dirty="0"/>
          </a:p>
        </p:txBody>
      </p:sp>
      <p:sp>
        <p:nvSpPr>
          <p:cNvPr id="14" name="文本框 13">
            <a:extLst>
              <a:ext uri="{FF2B5EF4-FFF2-40B4-BE49-F238E27FC236}">
                <a16:creationId xmlns:a16="http://schemas.microsoft.com/office/drawing/2014/main" id="{8E9533DE-F16D-4DE8-8D77-006A128039F7}"/>
              </a:ext>
            </a:extLst>
          </p:cNvPr>
          <p:cNvSpPr txBox="1"/>
          <p:nvPr/>
        </p:nvSpPr>
        <p:spPr>
          <a:xfrm>
            <a:off x="49136" y="3791849"/>
            <a:ext cx="4597224" cy="369332"/>
          </a:xfrm>
          <a:prstGeom prst="rect">
            <a:avLst/>
          </a:prstGeom>
          <a:noFill/>
        </p:spPr>
        <p:txBody>
          <a:bodyPr wrap="square">
            <a:spAutoFit/>
          </a:bodyPr>
          <a:lstStyle/>
          <a:p>
            <a:r>
              <a:rPr lang="zh-CN" altLang="en-US" dirty="0"/>
              <a:t>客户管理配置？</a:t>
            </a:r>
            <a:endParaRPr lang="en-US" altLang="zh-CN" dirty="0"/>
          </a:p>
        </p:txBody>
      </p:sp>
      <p:sp>
        <p:nvSpPr>
          <p:cNvPr id="16" name="文本框 15">
            <a:extLst>
              <a:ext uri="{FF2B5EF4-FFF2-40B4-BE49-F238E27FC236}">
                <a16:creationId xmlns:a16="http://schemas.microsoft.com/office/drawing/2014/main" id="{FAAFAEA5-B2B1-4998-AD1B-FE2B1A68629E}"/>
              </a:ext>
            </a:extLst>
          </p:cNvPr>
          <p:cNvSpPr txBox="1"/>
          <p:nvPr/>
        </p:nvSpPr>
        <p:spPr>
          <a:xfrm>
            <a:off x="68722" y="4181137"/>
            <a:ext cx="4597224" cy="369332"/>
          </a:xfrm>
          <a:prstGeom prst="rect">
            <a:avLst/>
          </a:prstGeom>
          <a:noFill/>
        </p:spPr>
        <p:txBody>
          <a:bodyPr wrap="square">
            <a:spAutoFit/>
          </a:bodyPr>
          <a:lstStyle/>
          <a:p>
            <a:r>
              <a:rPr lang="zh-CN" altLang="en-US" dirty="0"/>
              <a:t>可扩展性</a:t>
            </a:r>
            <a:endParaRPr lang="en-US" altLang="zh-CN" dirty="0"/>
          </a:p>
        </p:txBody>
      </p:sp>
      <p:sp>
        <p:nvSpPr>
          <p:cNvPr id="18" name="文本框 17">
            <a:extLst>
              <a:ext uri="{FF2B5EF4-FFF2-40B4-BE49-F238E27FC236}">
                <a16:creationId xmlns:a16="http://schemas.microsoft.com/office/drawing/2014/main" id="{92B18BD7-8C16-45C4-822F-4F80A9F50FA3}"/>
              </a:ext>
            </a:extLst>
          </p:cNvPr>
          <p:cNvSpPr txBox="1"/>
          <p:nvPr/>
        </p:nvSpPr>
        <p:spPr>
          <a:xfrm>
            <a:off x="92228" y="4613240"/>
            <a:ext cx="4597224" cy="369332"/>
          </a:xfrm>
          <a:prstGeom prst="rect">
            <a:avLst/>
          </a:prstGeom>
          <a:noFill/>
        </p:spPr>
        <p:txBody>
          <a:bodyPr wrap="square">
            <a:spAutoFit/>
          </a:bodyPr>
          <a:lstStyle/>
          <a:p>
            <a:r>
              <a:rPr lang="zh-CN" altLang="en-US" dirty="0"/>
              <a:t>维护</a:t>
            </a:r>
            <a:endParaRPr lang="en-US" altLang="zh-CN" dirty="0"/>
          </a:p>
        </p:txBody>
      </p:sp>
      <p:sp>
        <p:nvSpPr>
          <p:cNvPr id="20" name="文本框 19">
            <a:extLst>
              <a:ext uri="{FF2B5EF4-FFF2-40B4-BE49-F238E27FC236}">
                <a16:creationId xmlns:a16="http://schemas.microsoft.com/office/drawing/2014/main" id="{1D4F7077-4C2D-42C3-9CB5-6BE44D8C6C92}"/>
              </a:ext>
            </a:extLst>
          </p:cNvPr>
          <p:cNvSpPr txBox="1"/>
          <p:nvPr/>
        </p:nvSpPr>
        <p:spPr>
          <a:xfrm>
            <a:off x="79616" y="4986767"/>
            <a:ext cx="4597224" cy="369332"/>
          </a:xfrm>
          <a:prstGeom prst="rect">
            <a:avLst/>
          </a:prstGeom>
          <a:noFill/>
        </p:spPr>
        <p:txBody>
          <a:bodyPr wrap="square">
            <a:spAutoFit/>
          </a:bodyPr>
          <a:lstStyle/>
          <a:p>
            <a:r>
              <a:rPr lang="zh-CN" altLang="en-US" dirty="0"/>
              <a:t>备份与恢复</a:t>
            </a:r>
          </a:p>
        </p:txBody>
      </p:sp>
    </p:spTree>
    <p:extLst>
      <p:ext uri="{BB962C8B-B14F-4D97-AF65-F5344CB8AC3E}">
        <p14:creationId xmlns:p14="http://schemas.microsoft.com/office/powerpoint/2010/main" val="1495939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6">
            <a:extLst>
              <a:ext uri="{FF2B5EF4-FFF2-40B4-BE49-F238E27FC236}">
                <a16:creationId xmlns:a16="http://schemas.microsoft.com/office/drawing/2014/main" id="{463E5C78-CF14-4B14-A78E-64767615EB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8DBC766-DDD4-411C-B666-22CA311F8478}" type="slidenum">
              <a:rPr lang="en-US" altLang="en-US"/>
              <a:pPr eaLnBrk="1" hangingPunct="1"/>
              <a:t>73</a:t>
            </a:fld>
            <a:endParaRPr lang="en-US" altLang="en-US"/>
          </a:p>
        </p:txBody>
      </p:sp>
      <p:sp>
        <p:nvSpPr>
          <p:cNvPr id="37891" name="Rectangle 2">
            <a:extLst>
              <a:ext uri="{FF2B5EF4-FFF2-40B4-BE49-F238E27FC236}">
                <a16:creationId xmlns:a16="http://schemas.microsoft.com/office/drawing/2014/main" id="{758685FE-92D0-4388-8198-8E034270622F}"/>
              </a:ext>
            </a:extLst>
          </p:cNvPr>
          <p:cNvSpPr>
            <a:spLocks noGrp="1" noChangeArrowheads="1"/>
          </p:cNvSpPr>
          <p:nvPr>
            <p:ph type="title"/>
          </p:nvPr>
        </p:nvSpPr>
        <p:spPr>
          <a:xfrm>
            <a:off x="304800" y="122238"/>
            <a:ext cx="7696200" cy="1173162"/>
          </a:xfrm>
        </p:spPr>
        <p:txBody>
          <a:bodyPr/>
          <a:lstStyle/>
          <a:p>
            <a:pPr eaLnBrk="1" hangingPunct="1"/>
            <a:r>
              <a:rPr lang="en-US" altLang="zh-CN" sz="3600">
                <a:ea typeface="宋体" panose="02010600030101010101" pitchFamily="2" charset="-122"/>
              </a:rPr>
              <a:t>Hosting Alternatives for Internet Deployment </a:t>
            </a:r>
            <a:r>
              <a:rPr lang="en-US" altLang="zh-CN" sz="2400">
                <a:ea typeface="宋体" panose="02010600030101010101" pitchFamily="2" charset="-122"/>
              </a:rPr>
              <a:t>(continued)</a:t>
            </a:r>
          </a:p>
        </p:txBody>
      </p:sp>
      <p:pic>
        <p:nvPicPr>
          <p:cNvPr id="37892" name="Picture 4">
            <a:extLst>
              <a:ext uri="{FF2B5EF4-FFF2-40B4-BE49-F238E27FC236}">
                <a16:creationId xmlns:a16="http://schemas.microsoft.com/office/drawing/2014/main" id="{9AA74A1C-E3DB-45A9-B28B-2F7105C9B8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4353" y="1964208"/>
            <a:ext cx="7086600" cy="3360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3" name="Footer Placeholder 4">
            <a:extLst>
              <a:ext uri="{FF2B5EF4-FFF2-40B4-BE49-F238E27FC236}">
                <a16:creationId xmlns:a16="http://schemas.microsoft.com/office/drawing/2014/main" id="{C6852DF8-E99C-4036-8E86-44A11323409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37894" name="Rectangle 6">
            <a:extLst>
              <a:ext uri="{FF2B5EF4-FFF2-40B4-BE49-F238E27FC236}">
                <a16:creationId xmlns:a16="http://schemas.microsoft.com/office/drawing/2014/main" id="{2350CC7C-CDF6-4B64-B55B-7246A5D975B0}"/>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 name="矩形 1">
            <a:extLst>
              <a:ext uri="{FF2B5EF4-FFF2-40B4-BE49-F238E27FC236}">
                <a16:creationId xmlns:a16="http://schemas.microsoft.com/office/drawing/2014/main" id="{7FF6A649-BD4F-4AF2-9EA5-87BC082C6415}"/>
              </a:ext>
            </a:extLst>
          </p:cNvPr>
          <p:cNvSpPr/>
          <p:nvPr/>
        </p:nvSpPr>
        <p:spPr>
          <a:xfrm>
            <a:off x="4669886" y="2459163"/>
            <a:ext cx="1095440" cy="2865781"/>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56E0D9C7-C4A3-4370-8C04-7C1120EBAB2E}"/>
              </a:ext>
            </a:extLst>
          </p:cNvPr>
          <p:cNvSpPr txBox="1"/>
          <p:nvPr/>
        </p:nvSpPr>
        <p:spPr>
          <a:xfrm>
            <a:off x="92228" y="2965670"/>
            <a:ext cx="4572000" cy="646331"/>
          </a:xfrm>
          <a:prstGeom prst="rect">
            <a:avLst/>
          </a:prstGeom>
          <a:noFill/>
        </p:spPr>
        <p:txBody>
          <a:bodyPr wrap="square">
            <a:spAutoFit/>
          </a:bodyPr>
          <a:lstStyle/>
          <a:p>
            <a:r>
              <a:rPr lang="zh-CN" altLang="en-US" dirty="0"/>
              <a:t>场地和设施</a:t>
            </a:r>
            <a:endParaRPr lang="en-US" altLang="zh-CN" dirty="0"/>
          </a:p>
          <a:p>
            <a:endParaRPr lang="en-US" altLang="zh-CN" dirty="0"/>
          </a:p>
        </p:txBody>
      </p:sp>
      <p:sp>
        <p:nvSpPr>
          <p:cNvPr id="12" name="文本框 11">
            <a:extLst>
              <a:ext uri="{FF2B5EF4-FFF2-40B4-BE49-F238E27FC236}">
                <a16:creationId xmlns:a16="http://schemas.microsoft.com/office/drawing/2014/main" id="{86343331-D2DA-4C88-8150-757126ED2496}"/>
              </a:ext>
            </a:extLst>
          </p:cNvPr>
          <p:cNvSpPr txBox="1"/>
          <p:nvPr/>
        </p:nvSpPr>
        <p:spPr>
          <a:xfrm>
            <a:off x="25750" y="3361088"/>
            <a:ext cx="4597224" cy="646331"/>
          </a:xfrm>
          <a:prstGeom prst="rect">
            <a:avLst/>
          </a:prstGeom>
          <a:noFill/>
        </p:spPr>
        <p:txBody>
          <a:bodyPr wrap="square">
            <a:spAutoFit/>
          </a:bodyPr>
          <a:lstStyle/>
          <a:p>
            <a:r>
              <a:rPr lang="zh-CN" altLang="en-US" dirty="0"/>
              <a:t>客户拥有设备？</a:t>
            </a:r>
            <a:endParaRPr lang="en-US" altLang="zh-CN" dirty="0"/>
          </a:p>
          <a:p>
            <a:endParaRPr lang="zh-CN" altLang="en-US" dirty="0"/>
          </a:p>
        </p:txBody>
      </p:sp>
      <p:sp>
        <p:nvSpPr>
          <p:cNvPr id="14" name="文本框 13">
            <a:extLst>
              <a:ext uri="{FF2B5EF4-FFF2-40B4-BE49-F238E27FC236}">
                <a16:creationId xmlns:a16="http://schemas.microsoft.com/office/drawing/2014/main" id="{8E9533DE-F16D-4DE8-8D77-006A128039F7}"/>
              </a:ext>
            </a:extLst>
          </p:cNvPr>
          <p:cNvSpPr txBox="1"/>
          <p:nvPr/>
        </p:nvSpPr>
        <p:spPr>
          <a:xfrm>
            <a:off x="49136" y="3791849"/>
            <a:ext cx="4597224" cy="369332"/>
          </a:xfrm>
          <a:prstGeom prst="rect">
            <a:avLst/>
          </a:prstGeom>
          <a:noFill/>
        </p:spPr>
        <p:txBody>
          <a:bodyPr wrap="square">
            <a:spAutoFit/>
          </a:bodyPr>
          <a:lstStyle/>
          <a:p>
            <a:r>
              <a:rPr lang="zh-CN" altLang="en-US" dirty="0"/>
              <a:t>客户管理配置？</a:t>
            </a:r>
            <a:endParaRPr lang="en-US" altLang="zh-CN" dirty="0"/>
          </a:p>
        </p:txBody>
      </p:sp>
      <p:sp>
        <p:nvSpPr>
          <p:cNvPr id="16" name="文本框 15">
            <a:extLst>
              <a:ext uri="{FF2B5EF4-FFF2-40B4-BE49-F238E27FC236}">
                <a16:creationId xmlns:a16="http://schemas.microsoft.com/office/drawing/2014/main" id="{FAAFAEA5-B2B1-4998-AD1B-FE2B1A68629E}"/>
              </a:ext>
            </a:extLst>
          </p:cNvPr>
          <p:cNvSpPr txBox="1"/>
          <p:nvPr/>
        </p:nvSpPr>
        <p:spPr>
          <a:xfrm>
            <a:off x="68722" y="4181137"/>
            <a:ext cx="4597224" cy="369332"/>
          </a:xfrm>
          <a:prstGeom prst="rect">
            <a:avLst/>
          </a:prstGeom>
          <a:noFill/>
        </p:spPr>
        <p:txBody>
          <a:bodyPr wrap="square">
            <a:spAutoFit/>
          </a:bodyPr>
          <a:lstStyle/>
          <a:p>
            <a:r>
              <a:rPr lang="zh-CN" altLang="en-US" dirty="0"/>
              <a:t>可扩展性</a:t>
            </a:r>
            <a:endParaRPr lang="en-US" altLang="zh-CN" dirty="0"/>
          </a:p>
        </p:txBody>
      </p:sp>
      <p:sp>
        <p:nvSpPr>
          <p:cNvPr id="18" name="文本框 17">
            <a:extLst>
              <a:ext uri="{FF2B5EF4-FFF2-40B4-BE49-F238E27FC236}">
                <a16:creationId xmlns:a16="http://schemas.microsoft.com/office/drawing/2014/main" id="{92B18BD7-8C16-45C4-822F-4F80A9F50FA3}"/>
              </a:ext>
            </a:extLst>
          </p:cNvPr>
          <p:cNvSpPr txBox="1"/>
          <p:nvPr/>
        </p:nvSpPr>
        <p:spPr>
          <a:xfrm>
            <a:off x="92228" y="4613240"/>
            <a:ext cx="4597224" cy="369332"/>
          </a:xfrm>
          <a:prstGeom prst="rect">
            <a:avLst/>
          </a:prstGeom>
          <a:noFill/>
        </p:spPr>
        <p:txBody>
          <a:bodyPr wrap="square">
            <a:spAutoFit/>
          </a:bodyPr>
          <a:lstStyle/>
          <a:p>
            <a:r>
              <a:rPr lang="zh-CN" altLang="en-US" dirty="0"/>
              <a:t>维护</a:t>
            </a:r>
            <a:endParaRPr lang="en-US" altLang="zh-CN" dirty="0"/>
          </a:p>
        </p:txBody>
      </p:sp>
      <p:sp>
        <p:nvSpPr>
          <p:cNvPr id="20" name="文本框 19">
            <a:extLst>
              <a:ext uri="{FF2B5EF4-FFF2-40B4-BE49-F238E27FC236}">
                <a16:creationId xmlns:a16="http://schemas.microsoft.com/office/drawing/2014/main" id="{1D4F7077-4C2D-42C3-9CB5-6BE44D8C6C92}"/>
              </a:ext>
            </a:extLst>
          </p:cNvPr>
          <p:cNvSpPr txBox="1"/>
          <p:nvPr/>
        </p:nvSpPr>
        <p:spPr>
          <a:xfrm>
            <a:off x="79616" y="4986767"/>
            <a:ext cx="4597224" cy="369332"/>
          </a:xfrm>
          <a:prstGeom prst="rect">
            <a:avLst/>
          </a:prstGeom>
          <a:noFill/>
        </p:spPr>
        <p:txBody>
          <a:bodyPr wrap="square">
            <a:spAutoFit/>
          </a:bodyPr>
          <a:lstStyle/>
          <a:p>
            <a:r>
              <a:rPr lang="zh-CN" altLang="en-US" dirty="0"/>
              <a:t>备份与恢复</a:t>
            </a:r>
          </a:p>
        </p:txBody>
      </p:sp>
    </p:spTree>
    <p:extLst>
      <p:ext uri="{BB962C8B-B14F-4D97-AF65-F5344CB8AC3E}">
        <p14:creationId xmlns:p14="http://schemas.microsoft.com/office/powerpoint/2010/main" val="1115732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6">
            <a:extLst>
              <a:ext uri="{FF2B5EF4-FFF2-40B4-BE49-F238E27FC236}">
                <a16:creationId xmlns:a16="http://schemas.microsoft.com/office/drawing/2014/main" id="{463E5C78-CF14-4B14-A78E-64767615EB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8DBC766-DDD4-411C-B666-22CA311F8478}" type="slidenum">
              <a:rPr lang="en-US" altLang="en-US"/>
              <a:pPr eaLnBrk="1" hangingPunct="1"/>
              <a:t>74</a:t>
            </a:fld>
            <a:endParaRPr lang="en-US" altLang="en-US"/>
          </a:p>
        </p:txBody>
      </p:sp>
      <p:sp>
        <p:nvSpPr>
          <p:cNvPr id="37891" name="Rectangle 2">
            <a:extLst>
              <a:ext uri="{FF2B5EF4-FFF2-40B4-BE49-F238E27FC236}">
                <a16:creationId xmlns:a16="http://schemas.microsoft.com/office/drawing/2014/main" id="{758685FE-92D0-4388-8198-8E034270622F}"/>
              </a:ext>
            </a:extLst>
          </p:cNvPr>
          <p:cNvSpPr>
            <a:spLocks noGrp="1" noChangeArrowheads="1"/>
          </p:cNvSpPr>
          <p:nvPr>
            <p:ph type="title"/>
          </p:nvPr>
        </p:nvSpPr>
        <p:spPr>
          <a:xfrm>
            <a:off x="304800" y="122238"/>
            <a:ext cx="7696200" cy="1173162"/>
          </a:xfrm>
        </p:spPr>
        <p:txBody>
          <a:bodyPr/>
          <a:lstStyle/>
          <a:p>
            <a:pPr eaLnBrk="1" hangingPunct="1"/>
            <a:r>
              <a:rPr lang="en-US" altLang="zh-CN" sz="3600">
                <a:ea typeface="宋体" panose="02010600030101010101" pitchFamily="2" charset="-122"/>
              </a:rPr>
              <a:t>Hosting Alternatives for Internet Deployment </a:t>
            </a:r>
            <a:r>
              <a:rPr lang="en-US" altLang="zh-CN" sz="2400">
                <a:ea typeface="宋体" panose="02010600030101010101" pitchFamily="2" charset="-122"/>
              </a:rPr>
              <a:t>(continued)</a:t>
            </a:r>
          </a:p>
        </p:txBody>
      </p:sp>
      <p:pic>
        <p:nvPicPr>
          <p:cNvPr id="37892" name="Picture 4">
            <a:extLst>
              <a:ext uri="{FF2B5EF4-FFF2-40B4-BE49-F238E27FC236}">
                <a16:creationId xmlns:a16="http://schemas.microsoft.com/office/drawing/2014/main" id="{9AA74A1C-E3DB-45A9-B28B-2F7105C9B8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4353" y="1964208"/>
            <a:ext cx="7086600" cy="3360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3" name="Footer Placeholder 4">
            <a:extLst>
              <a:ext uri="{FF2B5EF4-FFF2-40B4-BE49-F238E27FC236}">
                <a16:creationId xmlns:a16="http://schemas.microsoft.com/office/drawing/2014/main" id="{C6852DF8-E99C-4036-8E86-44A11323409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37894" name="Rectangle 6">
            <a:extLst>
              <a:ext uri="{FF2B5EF4-FFF2-40B4-BE49-F238E27FC236}">
                <a16:creationId xmlns:a16="http://schemas.microsoft.com/office/drawing/2014/main" id="{2350CC7C-CDF6-4B64-B55B-7246A5D975B0}"/>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 name="矩形 1">
            <a:extLst>
              <a:ext uri="{FF2B5EF4-FFF2-40B4-BE49-F238E27FC236}">
                <a16:creationId xmlns:a16="http://schemas.microsoft.com/office/drawing/2014/main" id="{7FF6A649-BD4F-4AF2-9EA5-87BC082C6415}"/>
              </a:ext>
            </a:extLst>
          </p:cNvPr>
          <p:cNvSpPr/>
          <p:nvPr/>
        </p:nvSpPr>
        <p:spPr>
          <a:xfrm>
            <a:off x="5767562" y="2431250"/>
            <a:ext cx="1547638" cy="2886075"/>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56E0D9C7-C4A3-4370-8C04-7C1120EBAB2E}"/>
              </a:ext>
            </a:extLst>
          </p:cNvPr>
          <p:cNvSpPr txBox="1"/>
          <p:nvPr/>
        </p:nvSpPr>
        <p:spPr>
          <a:xfrm>
            <a:off x="92228" y="2965670"/>
            <a:ext cx="4572000" cy="646331"/>
          </a:xfrm>
          <a:prstGeom prst="rect">
            <a:avLst/>
          </a:prstGeom>
          <a:noFill/>
        </p:spPr>
        <p:txBody>
          <a:bodyPr wrap="square">
            <a:spAutoFit/>
          </a:bodyPr>
          <a:lstStyle/>
          <a:p>
            <a:r>
              <a:rPr lang="zh-CN" altLang="en-US" dirty="0"/>
              <a:t>场地和设施</a:t>
            </a:r>
            <a:endParaRPr lang="en-US" altLang="zh-CN" dirty="0"/>
          </a:p>
          <a:p>
            <a:endParaRPr lang="en-US" altLang="zh-CN" dirty="0"/>
          </a:p>
        </p:txBody>
      </p:sp>
      <p:sp>
        <p:nvSpPr>
          <p:cNvPr id="12" name="文本框 11">
            <a:extLst>
              <a:ext uri="{FF2B5EF4-FFF2-40B4-BE49-F238E27FC236}">
                <a16:creationId xmlns:a16="http://schemas.microsoft.com/office/drawing/2014/main" id="{86343331-D2DA-4C88-8150-757126ED2496}"/>
              </a:ext>
            </a:extLst>
          </p:cNvPr>
          <p:cNvSpPr txBox="1"/>
          <p:nvPr/>
        </p:nvSpPr>
        <p:spPr>
          <a:xfrm>
            <a:off x="25750" y="3361088"/>
            <a:ext cx="4597224" cy="646331"/>
          </a:xfrm>
          <a:prstGeom prst="rect">
            <a:avLst/>
          </a:prstGeom>
          <a:noFill/>
        </p:spPr>
        <p:txBody>
          <a:bodyPr wrap="square">
            <a:spAutoFit/>
          </a:bodyPr>
          <a:lstStyle/>
          <a:p>
            <a:r>
              <a:rPr lang="zh-CN" altLang="en-US" dirty="0"/>
              <a:t>客户拥有设备？</a:t>
            </a:r>
            <a:endParaRPr lang="en-US" altLang="zh-CN" dirty="0"/>
          </a:p>
          <a:p>
            <a:endParaRPr lang="zh-CN" altLang="en-US" dirty="0"/>
          </a:p>
        </p:txBody>
      </p:sp>
      <p:sp>
        <p:nvSpPr>
          <p:cNvPr id="14" name="文本框 13">
            <a:extLst>
              <a:ext uri="{FF2B5EF4-FFF2-40B4-BE49-F238E27FC236}">
                <a16:creationId xmlns:a16="http://schemas.microsoft.com/office/drawing/2014/main" id="{8E9533DE-F16D-4DE8-8D77-006A128039F7}"/>
              </a:ext>
            </a:extLst>
          </p:cNvPr>
          <p:cNvSpPr txBox="1"/>
          <p:nvPr/>
        </p:nvSpPr>
        <p:spPr>
          <a:xfrm>
            <a:off x="49136" y="3791849"/>
            <a:ext cx="4597224" cy="369332"/>
          </a:xfrm>
          <a:prstGeom prst="rect">
            <a:avLst/>
          </a:prstGeom>
          <a:noFill/>
        </p:spPr>
        <p:txBody>
          <a:bodyPr wrap="square">
            <a:spAutoFit/>
          </a:bodyPr>
          <a:lstStyle/>
          <a:p>
            <a:r>
              <a:rPr lang="zh-CN" altLang="en-US" dirty="0"/>
              <a:t>客户管理配置？</a:t>
            </a:r>
            <a:endParaRPr lang="en-US" altLang="zh-CN" dirty="0"/>
          </a:p>
        </p:txBody>
      </p:sp>
      <p:sp>
        <p:nvSpPr>
          <p:cNvPr id="16" name="文本框 15">
            <a:extLst>
              <a:ext uri="{FF2B5EF4-FFF2-40B4-BE49-F238E27FC236}">
                <a16:creationId xmlns:a16="http://schemas.microsoft.com/office/drawing/2014/main" id="{FAAFAEA5-B2B1-4998-AD1B-FE2B1A68629E}"/>
              </a:ext>
            </a:extLst>
          </p:cNvPr>
          <p:cNvSpPr txBox="1"/>
          <p:nvPr/>
        </p:nvSpPr>
        <p:spPr>
          <a:xfrm>
            <a:off x="68722" y="4181137"/>
            <a:ext cx="4597224" cy="369332"/>
          </a:xfrm>
          <a:prstGeom prst="rect">
            <a:avLst/>
          </a:prstGeom>
          <a:noFill/>
        </p:spPr>
        <p:txBody>
          <a:bodyPr wrap="square">
            <a:spAutoFit/>
          </a:bodyPr>
          <a:lstStyle/>
          <a:p>
            <a:r>
              <a:rPr lang="zh-CN" altLang="en-US" dirty="0"/>
              <a:t>可扩展性</a:t>
            </a:r>
            <a:endParaRPr lang="en-US" altLang="zh-CN" dirty="0"/>
          </a:p>
        </p:txBody>
      </p:sp>
      <p:sp>
        <p:nvSpPr>
          <p:cNvPr id="18" name="文本框 17">
            <a:extLst>
              <a:ext uri="{FF2B5EF4-FFF2-40B4-BE49-F238E27FC236}">
                <a16:creationId xmlns:a16="http://schemas.microsoft.com/office/drawing/2014/main" id="{92B18BD7-8C16-45C4-822F-4F80A9F50FA3}"/>
              </a:ext>
            </a:extLst>
          </p:cNvPr>
          <p:cNvSpPr txBox="1"/>
          <p:nvPr/>
        </p:nvSpPr>
        <p:spPr>
          <a:xfrm>
            <a:off x="92228" y="4613240"/>
            <a:ext cx="4597224" cy="369332"/>
          </a:xfrm>
          <a:prstGeom prst="rect">
            <a:avLst/>
          </a:prstGeom>
          <a:noFill/>
        </p:spPr>
        <p:txBody>
          <a:bodyPr wrap="square">
            <a:spAutoFit/>
          </a:bodyPr>
          <a:lstStyle/>
          <a:p>
            <a:r>
              <a:rPr lang="zh-CN" altLang="en-US" dirty="0"/>
              <a:t>维护</a:t>
            </a:r>
            <a:endParaRPr lang="en-US" altLang="zh-CN" dirty="0"/>
          </a:p>
        </p:txBody>
      </p:sp>
      <p:sp>
        <p:nvSpPr>
          <p:cNvPr id="20" name="文本框 19">
            <a:extLst>
              <a:ext uri="{FF2B5EF4-FFF2-40B4-BE49-F238E27FC236}">
                <a16:creationId xmlns:a16="http://schemas.microsoft.com/office/drawing/2014/main" id="{1D4F7077-4C2D-42C3-9CB5-6BE44D8C6C92}"/>
              </a:ext>
            </a:extLst>
          </p:cNvPr>
          <p:cNvSpPr txBox="1"/>
          <p:nvPr/>
        </p:nvSpPr>
        <p:spPr>
          <a:xfrm>
            <a:off x="79616" y="4986767"/>
            <a:ext cx="4597224" cy="369332"/>
          </a:xfrm>
          <a:prstGeom prst="rect">
            <a:avLst/>
          </a:prstGeom>
          <a:noFill/>
        </p:spPr>
        <p:txBody>
          <a:bodyPr wrap="square">
            <a:spAutoFit/>
          </a:bodyPr>
          <a:lstStyle/>
          <a:p>
            <a:r>
              <a:rPr lang="zh-CN" altLang="en-US" dirty="0"/>
              <a:t>备份与恢复</a:t>
            </a:r>
          </a:p>
        </p:txBody>
      </p:sp>
    </p:spTree>
    <p:extLst>
      <p:ext uri="{BB962C8B-B14F-4D97-AF65-F5344CB8AC3E}">
        <p14:creationId xmlns:p14="http://schemas.microsoft.com/office/powerpoint/2010/main" val="1643108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6">
            <a:extLst>
              <a:ext uri="{FF2B5EF4-FFF2-40B4-BE49-F238E27FC236}">
                <a16:creationId xmlns:a16="http://schemas.microsoft.com/office/drawing/2014/main" id="{463E5C78-CF14-4B14-A78E-64767615EB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8DBC766-DDD4-411C-B666-22CA311F8478}" type="slidenum">
              <a:rPr lang="en-US" altLang="en-US"/>
              <a:pPr eaLnBrk="1" hangingPunct="1"/>
              <a:t>75</a:t>
            </a:fld>
            <a:endParaRPr lang="en-US" altLang="en-US"/>
          </a:p>
        </p:txBody>
      </p:sp>
      <p:sp>
        <p:nvSpPr>
          <p:cNvPr id="37891" name="Rectangle 2">
            <a:extLst>
              <a:ext uri="{FF2B5EF4-FFF2-40B4-BE49-F238E27FC236}">
                <a16:creationId xmlns:a16="http://schemas.microsoft.com/office/drawing/2014/main" id="{758685FE-92D0-4388-8198-8E034270622F}"/>
              </a:ext>
            </a:extLst>
          </p:cNvPr>
          <p:cNvSpPr>
            <a:spLocks noGrp="1" noChangeArrowheads="1"/>
          </p:cNvSpPr>
          <p:nvPr>
            <p:ph type="title"/>
          </p:nvPr>
        </p:nvSpPr>
        <p:spPr>
          <a:xfrm>
            <a:off x="304800" y="122238"/>
            <a:ext cx="7696200" cy="1173162"/>
          </a:xfrm>
        </p:spPr>
        <p:txBody>
          <a:bodyPr/>
          <a:lstStyle/>
          <a:p>
            <a:pPr eaLnBrk="1" hangingPunct="1"/>
            <a:r>
              <a:rPr lang="en-US" altLang="zh-CN" sz="3600">
                <a:ea typeface="宋体" panose="02010600030101010101" pitchFamily="2" charset="-122"/>
              </a:rPr>
              <a:t>Hosting Alternatives for Internet Deployment </a:t>
            </a:r>
            <a:r>
              <a:rPr lang="en-US" altLang="zh-CN" sz="2400">
                <a:ea typeface="宋体" panose="02010600030101010101" pitchFamily="2" charset="-122"/>
              </a:rPr>
              <a:t>(continued)</a:t>
            </a:r>
          </a:p>
        </p:txBody>
      </p:sp>
      <p:pic>
        <p:nvPicPr>
          <p:cNvPr id="37892" name="Picture 4">
            <a:extLst>
              <a:ext uri="{FF2B5EF4-FFF2-40B4-BE49-F238E27FC236}">
                <a16:creationId xmlns:a16="http://schemas.microsoft.com/office/drawing/2014/main" id="{9AA74A1C-E3DB-45A9-B28B-2F7105C9B8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4353" y="1964208"/>
            <a:ext cx="7086600" cy="3360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3" name="Footer Placeholder 4">
            <a:extLst>
              <a:ext uri="{FF2B5EF4-FFF2-40B4-BE49-F238E27FC236}">
                <a16:creationId xmlns:a16="http://schemas.microsoft.com/office/drawing/2014/main" id="{C6852DF8-E99C-4036-8E86-44A11323409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37894" name="Rectangle 6">
            <a:extLst>
              <a:ext uri="{FF2B5EF4-FFF2-40B4-BE49-F238E27FC236}">
                <a16:creationId xmlns:a16="http://schemas.microsoft.com/office/drawing/2014/main" id="{2350CC7C-CDF6-4B64-B55B-7246A5D975B0}"/>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 name="矩形 1">
            <a:extLst>
              <a:ext uri="{FF2B5EF4-FFF2-40B4-BE49-F238E27FC236}">
                <a16:creationId xmlns:a16="http://schemas.microsoft.com/office/drawing/2014/main" id="{7FF6A649-BD4F-4AF2-9EA5-87BC082C6415}"/>
              </a:ext>
            </a:extLst>
          </p:cNvPr>
          <p:cNvSpPr/>
          <p:nvPr/>
        </p:nvSpPr>
        <p:spPr>
          <a:xfrm>
            <a:off x="7330986" y="2412200"/>
            <a:ext cx="1733397" cy="2886075"/>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56E0D9C7-C4A3-4370-8C04-7C1120EBAB2E}"/>
              </a:ext>
            </a:extLst>
          </p:cNvPr>
          <p:cNvSpPr txBox="1"/>
          <p:nvPr/>
        </p:nvSpPr>
        <p:spPr>
          <a:xfrm>
            <a:off x="92228" y="2965670"/>
            <a:ext cx="4572000" cy="646331"/>
          </a:xfrm>
          <a:prstGeom prst="rect">
            <a:avLst/>
          </a:prstGeom>
          <a:noFill/>
        </p:spPr>
        <p:txBody>
          <a:bodyPr wrap="square">
            <a:spAutoFit/>
          </a:bodyPr>
          <a:lstStyle/>
          <a:p>
            <a:r>
              <a:rPr lang="zh-CN" altLang="en-US" dirty="0"/>
              <a:t>场地和设施</a:t>
            </a:r>
            <a:endParaRPr lang="en-US" altLang="zh-CN" dirty="0"/>
          </a:p>
          <a:p>
            <a:endParaRPr lang="en-US" altLang="zh-CN" dirty="0"/>
          </a:p>
        </p:txBody>
      </p:sp>
      <p:sp>
        <p:nvSpPr>
          <p:cNvPr id="12" name="文本框 11">
            <a:extLst>
              <a:ext uri="{FF2B5EF4-FFF2-40B4-BE49-F238E27FC236}">
                <a16:creationId xmlns:a16="http://schemas.microsoft.com/office/drawing/2014/main" id="{86343331-D2DA-4C88-8150-757126ED2496}"/>
              </a:ext>
            </a:extLst>
          </p:cNvPr>
          <p:cNvSpPr txBox="1"/>
          <p:nvPr/>
        </p:nvSpPr>
        <p:spPr>
          <a:xfrm>
            <a:off x="25750" y="3361088"/>
            <a:ext cx="4597224" cy="646331"/>
          </a:xfrm>
          <a:prstGeom prst="rect">
            <a:avLst/>
          </a:prstGeom>
          <a:noFill/>
        </p:spPr>
        <p:txBody>
          <a:bodyPr wrap="square">
            <a:spAutoFit/>
          </a:bodyPr>
          <a:lstStyle/>
          <a:p>
            <a:r>
              <a:rPr lang="zh-CN" altLang="en-US" dirty="0"/>
              <a:t>客户拥有设备？</a:t>
            </a:r>
            <a:endParaRPr lang="en-US" altLang="zh-CN" dirty="0"/>
          </a:p>
          <a:p>
            <a:endParaRPr lang="zh-CN" altLang="en-US" dirty="0"/>
          </a:p>
        </p:txBody>
      </p:sp>
      <p:sp>
        <p:nvSpPr>
          <p:cNvPr id="14" name="文本框 13">
            <a:extLst>
              <a:ext uri="{FF2B5EF4-FFF2-40B4-BE49-F238E27FC236}">
                <a16:creationId xmlns:a16="http://schemas.microsoft.com/office/drawing/2014/main" id="{8E9533DE-F16D-4DE8-8D77-006A128039F7}"/>
              </a:ext>
            </a:extLst>
          </p:cNvPr>
          <p:cNvSpPr txBox="1"/>
          <p:nvPr/>
        </p:nvSpPr>
        <p:spPr>
          <a:xfrm>
            <a:off x="49136" y="3791849"/>
            <a:ext cx="4597224" cy="369332"/>
          </a:xfrm>
          <a:prstGeom prst="rect">
            <a:avLst/>
          </a:prstGeom>
          <a:noFill/>
        </p:spPr>
        <p:txBody>
          <a:bodyPr wrap="square">
            <a:spAutoFit/>
          </a:bodyPr>
          <a:lstStyle/>
          <a:p>
            <a:r>
              <a:rPr lang="zh-CN" altLang="en-US" dirty="0"/>
              <a:t>客户管理配置？</a:t>
            </a:r>
            <a:endParaRPr lang="en-US" altLang="zh-CN" dirty="0"/>
          </a:p>
        </p:txBody>
      </p:sp>
      <p:sp>
        <p:nvSpPr>
          <p:cNvPr id="16" name="文本框 15">
            <a:extLst>
              <a:ext uri="{FF2B5EF4-FFF2-40B4-BE49-F238E27FC236}">
                <a16:creationId xmlns:a16="http://schemas.microsoft.com/office/drawing/2014/main" id="{FAAFAEA5-B2B1-4998-AD1B-FE2B1A68629E}"/>
              </a:ext>
            </a:extLst>
          </p:cNvPr>
          <p:cNvSpPr txBox="1"/>
          <p:nvPr/>
        </p:nvSpPr>
        <p:spPr>
          <a:xfrm>
            <a:off x="68722" y="4181137"/>
            <a:ext cx="4597224" cy="369332"/>
          </a:xfrm>
          <a:prstGeom prst="rect">
            <a:avLst/>
          </a:prstGeom>
          <a:noFill/>
        </p:spPr>
        <p:txBody>
          <a:bodyPr wrap="square">
            <a:spAutoFit/>
          </a:bodyPr>
          <a:lstStyle/>
          <a:p>
            <a:r>
              <a:rPr lang="zh-CN" altLang="en-US" dirty="0"/>
              <a:t>可扩展性</a:t>
            </a:r>
            <a:endParaRPr lang="en-US" altLang="zh-CN" dirty="0"/>
          </a:p>
        </p:txBody>
      </p:sp>
      <p:sp>
        <p:nvSpPr>
          <p:cNvPr id="18" name="文本框 17">
            <a:extLst>
              <a:ext uri="{FF2B5EF4-FFF2-40B4-BE49-F238E27FC236}">
                <a16:creationId xmlns:a16="http://schemas.microsoft.com/office/drawing/2014/main" id="{92B18BD7-8C16-45C4-822F-4F80A9F50FA3}"/>
              </a:ext>
            </a:extLst>
          </p:cNvPr>
          <p:cNvSpPr txBox="1"/>
          <p:nvPr/>
        </p:nvSpPr>
        <p:spPr>
          <a:xfrm>
            <a:off x="92228" y="4613240"/>
            <a:ext cx="4597224" cy="369332"/>
          </a:xfrm>
          <a:prstGeom prst="rect">
            <a:avLst/>
          </a:prstGeom>
          <a:noFill/>
        </p:spPr>
        <p:txBody>
          <a:bodyPr wrap="square">
            <a:spAutoFit/>
          </a:bodyPr>
          <a:lstStyle/>
          <a:p>
            <a:r>
              <a:rPr lang="zh-CN" altLang="en-US" dirty="0"/>
              <a:t>维护</a:t>
            </a:r>
            <a:endParaRPr lang="en-US" altLang="zh-CN" dirty="0"/>
          </a:p>
        </p:txBody>
      </p:sp>
      <p:sp>
        <p:nvSpPr>
          <p:cNvPr id="20" name="文本框 19">
            <a:extLst>
              <a:ext uri="{FF2B5EF4-FFF2-40B4-BE49-F238E27FC236}">
                <a16:creationId xmlns:a16="http://schemas.microsoft.com/office/drawing/2014/main" id="{1D4F7077-4C2D-42C3-9CB5-6BE44D8C6C92}"/>
              </a:ext>
            </a:extLst>
          </p:cNvPr>
          <p:cNvSpPr txBox="1"/>
          <p:nvPr/>
        </p:nvSpPr>
        <p:spPr>
          <a:xfrm>
            <a:off x="79616" y="4986767"/>
            <a:ext cx="4597224" cy="369332"/>
          </a:xfrm>
          <a:prstGeom prst="rect">
            <a:avLst/>
          </a:prstGeom>
          <a:noFill/>
        </p:spPr>
        <p:txBody>
          <a:bodyPr wrap="square">
            <a:spAutoFit/>
          </a:bodyPr>
          <a:lstStyle/>
          <a:p>
            <a:r>
              <a:rPr lang="zh-CN" altLang="en-US" dirty="0"/>
              <a:t>备份与恢复</a:t>
            </a:r>
          </a:p>
        </p:txBody>
      </p:sp>
    </p:spTree>
    <p:extLst>
      <p:ext uri="{BB962C8B-B14F-4D97-AF65-F5344CB8AC3E}">
        <p14:creationId xmlns:p14="http://schemas.microsoft.com/office/powerpoint/2010/main" val="1942375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6">
            <a:extLst>
              <a:ext uri="{FF2B5EF4-FFF2-40B4-BE49-F238E27FC236}">
                <a16:creationId xmlns:a16="http://schemas.microsoft.com/office/drawing/2014/main" id="{C660B430-657F-4892-80F3-B8BA5E94235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440C8F3-29C2-4B2D-B179-584D57F422E0}" type="slidenum">
              <a:rPr lang="en-US" altLang="en-US"/>
              <a:pPr eaLnBrk="1" hangingPunct="1"/>
              <a:t>76</a:t>
            </a:fld>
            <a:endParaRPr lang="en-US" altLang="en-US"/>
          </a:p>
        </p:txBody>
      </p:sp>
      <p:sp>
        <p:nvSpPr>
          <p:cNvPr id="30723" name="Rectangle 2">
            <a:extLst>
              <a:ext uri="{FF2B5EF4-FFF2-40B4-BE49-F238E27FC236}">
                <a16:creationId xmlns:a16="http://schemas.microsoft.com/office/drawing/2014/main" id="{DEF834CB-7C7A-482B-8F41-0613712A490D}"/>
              </a:ext>
            </a:extLst>
          </p:cNvPr>
          <p:cNvSpPr>
            <a:spLocks noGrp="1" noChangeArrowheads="1"/>
          </p:cNvSpPr>
          <p:nvPr>
            <p:ph type="title"/>
          </p:nvPr>
        </p:nvSpPr>
        <p:spPr>
          <a:xfrm>
            <a:off x="304800" y="122238"/>
            <a:ext cx="7696200" cy="1173162"/>
          </a:xfrm>
        </p:spPr>
        <p:txBody>
          <a:bodyPr/>
          <a:lstStyle/>
          <a:p>
            <a:pPr eaLnBrk="1" hangingPunct="1"/>
            <a:r>
              <a:rPr lang="en-US" altLang="zh-CN" sz="4000">
                <a:ea typeface="宋体" panose="02010600030101010101" pitchFamily="2" charset="-122"/>
              </a:rPr>
              <a:t>Design the Environment</a:t>
            </a:r>
            <a:br>
              <a:rPr lang="en-US" altLang="zh-CN" sz="3600">
                <a:ea typeface="宋体" panose="02010600030101010101" pitchFamily="2" charset="-122"/>
              </a:rPr>
            </a:br>
            <a:r>
              <a:rPr lang="en-US" altLang="zh-CN" sz="2800">
                <a:ea typeface="宋体" panose="02010600030101010101" pitchFamily="2" charset="-122"/>
              </a:rPr>
              <a:t>(continued)</a:t>
            </a:r>
          </a:p>
        </p:txBody>
      </p:sp>
      <p:sp>
        <p:nvSpPr>
          <p:cNvPr id="30724" name="Rectangle 3">
            <a:extLst>
              <a:ext uri="{FF2B5EF4-FFF2-40B4-BE49-F238E27FC236}">
                <a16:creationId xmlns:a16="http://schemas.microsoft.com/office/drawing/2014/main" id="{2D1FFD34-F679-4663-B9D3-83CE976B39B8}"/>
              </a:ext>
            </a:extLst>
          </p:cNvPr>
          <p:cNvSpPr>
            <a:spLocks noGrp="1" noChangeArrowheads="1"/>
          </p:cNvSpPr>
          <p:nvPr>
            <p:ph type="body" sz="half" idx="1"/>
          </p:nvPr>
        </p:nvSpPr>
        <p:spPr>
          <a:xfrm>
            <a:off x="457200" y="1371600"/>
            <a:ext cx="8153400" cy="4759325"/>
          </a:xfrm>
        </p:spPr>
        <p:txBody>
          <a:bodyPr/>
          <a:lstStyle/>
          <a:p>
            <a:pPr eaLnBrk="1" hangingPunct="1">
              <a:lnSpc>
                <a:spcPct val="90000"/>
              </a:lnSpc>
            </a:pPr>
            <a:r>
              <a:rPr lang="en-US" altLang="zh-CN" sz="3200" dirty="0">
                <a:ea typeface="宋体" panose="02010600030101010101" pitchFamily="2" charset="-122"/>
              </a:rPr>
              <a:t>Design for External Deployment</a:t>
            </a:r>
          </a:p>
          <a:p>
            <a:pPr lvl="1" eaLnBrk="1" hangingPunct="1">
              <a:lnSpc>
                <a:spcPct val="90000"/>
              </a:lnSpc>
            </a:pPr>
            <a:r>
              <a:rPr lang="en-US" altLang="zh-CN" sz="2800" dirty="0">
                <a:ea typeface="宋体" panose="02010600030101010101" pitchFamily="2" charset="-122"/>
              </a:rPr>
              <a:t>Configuration for Internet deployment</a:t>
            </a:r>
          </a:p>
          <a:p>
            <a:pPr lvl="2" eaLnBrk="1" hangingPunct="1">
              <a:lnSpc>
                <a:spcPct val="90000"/>
              </a:lnSpc>
            </a:pPr>
            <a:r>
              <a:rPr lang="en-US" altLang="zh-CN" sz="2400" dirty="0">
                <a:ea typeface="宋体" panose="02010600030101010101" pitchFamily="2" charset="-122"/>
              </a:rPr>
              <a:t>Advantages and risks</a:t>
            </a:r>
          </a:p>
          <a:p>
            <a:pPr lvl="1" eaLnBrk="1" hangingPunct="1">
              <a:lnSpc>
                <a:spcPct val="90000"/>
              </a:lnSpc>
            </a:pPr>
            <a:r>
              <a:rPr lang="en-US" altLang="zh-CN" sz="2800" dirty="0">
                <a:ea typeface="宋体" panose="02010600030101010101" pitchFamily="2" charset="-122"/>
              </a:rPr>
              <a:t>Hosting Alternatives for Internet deployment</a:t>
            </a:r>
          </a:p>
          <a:p>
            <a:pPr lvl="2" eaLnBrk="1" hangingPunct="1">
              <a:lnSpc>
                <a:spcPct val="90000"/>
              </a:lnSpc>
            </a:pPr>
            <a:r>
              <a:rPr lang="en-US" altLang="zh-CN" sz="2400" dirty="0">
                <a:ea typeface="宋体" panose="02010600030101010101" pitchFamily="2" charset="-122"/>
              </a:rPr>
              <a:t>Colocation</a:t>
            </a:r>
          </a:p>
          <a:p>
            <a:pPr lvl="2" eaLnBrk="1" hangingPunct="1">
              <a:lnSpc>
                <a:spcPct val="90000"/>
              </a:lnSpc>
            </a:pPr>
            <a:r>
              <a:rPr lang="en-US" altLang="zh-CN" sz="2400" dirty="0">
                <a:ea typeface="宋体" panose="02010600030101010101" pitchFamily="2" charset="-122"/>
              </a:rPr>
              <a:t>Managed services</a:t>
            </a:r>
          </a:p>
          <a:p>
            <a:pPr lvl="2" eaLnBrk="1" hangingPunct="1">
              <a:lnSpc>
                <a:spcPct val="90000"/>
              </a:lnSpc>
            </a:pPr>
            <a:r>
              <a:rPr lang="en-US" altLang="zh-CN" sz="2400" dirty="0">
                <a:ea typeface="宋体" panose="02010600030101010101" pitchFamily="2" charset="-122"/>
              </a:rPr>
              <a:t>Virtual Servers</a:t>
            </a:r>
          </a:p>
          <a:p>
            <a:pPr lvl="2" eaLnBrk="1" hangingPunct="1">
              <a:lnSpc>
                <a:spcPct val="90000"/>
              </a:lnSpc>
            </a:pPr>
            <a:r>
              <a:rPr lang="en-US" altLang="zh-CN" sz="2400" dirty="0">
                <a:ea typeface="宋体" panose="02010600030101010101" pitchFamily="2" charset="-122"/>
              </a:rPr>
              <a:t>Cloud computing</a:t>
            </a:r>
          </a:p>
          <a:p>
            <a:pPr lvl="1" eaLnBrk="1" hangingPunct="1">
              <a:lnSpc>
                <a:spcPct val="90000"/>
              </a:lnSpc>
            </a:pPr>
            <a:r>
              <a:rPr lang="en-US" altLang="zh-CN" sz="2800" dirty="0">
                <a:solidFill>
                  <a:srgbClr val="C00000"/>
                </a:solidFill>
                <a:ea typeface="宋体" panose="02010600030101010101" pitchFamily="2" charset="-122"/>
              </a:rPr>
              <a:t>Diversity of Client Devices with Internet deployment</a:t>
            </a:r>
            <a:r>
              <a:rPr lang="zh-CN" altLang="en-US" sz="2800" dirty="0">
                <a:solidFill>
                  <a:srgbClr val="C00000"/>
                </a:solidFill>
                <a:ea typeface="宋体" panose="02010600030101010101" pitchFamily="2" charset="-122"/>
              </a:rPr>
              <a:t>（客户端设备的多样性）</a:t>
            </a:r>
            <a:endParaRPr lang="en-US" altLang="zh-CN" sz="2800" dirty="0">
              <a:solidFill>
                <a:srgbClr val="C00000"/>
              </a:solidFill>
              <a:ea typeface="宋体" panose="02010600030101010101" pitchFamily="2" charset="-122"/>
            </a:endParaRPr>
          </a:p>
          <a:p>
            <a:pPr lvl="2" eaLnBrk="1" hangingPunct="1">
              <a:lnSpc>
                <a:spcPct val="90000"/>
              </a:lnSpc>
            </a:pPr>
            <a:r>
              <a:rPr lang="en-US" altLang="zh-CN" sz="2400" dirty="0">
                <a:ea typeface="宋体" panose="02010600030101010101" pitchFamily="2" charset="-122"/>
              </a:rPr>
              <a:t>Full size, tablets and notebooks, smart phones</a:t>
            </a:r>
          </a:p>
        </p:txBody>
      </p:sp>
      <p:sp>
        <p:nvSpPr>
          <p:cNvPr id="30725" name="Footer Placeholder 4">
            <a:extLst>
              <a:ext uri="{FF2B5EF4-FFF2-40B4-BE49-F238E27FC236}">
                <a16:creationId xmlns:a16="http://schemas.microsoft.com/office/drawing/2014/main" id="{DD549323-7563-47AB-9BA8-CB09A3E56803}"/>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30726" name="Rectangle 6">
            <a:extLst>
              <a:ext uri="{FF2B5EF4-FFF2-40B4-BE49-F238E27FC236}">
                <a16:creationId xmlns:a16="http://schemas.microsoft.com/office/drawing/2014/main" id="{D6FF707B-B5FD-4239-89A3-42567037A2DF}"/>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extLst>
      <p:ext uri="{BB962C8B-B14F-4D97-AF65-F5344CB8AC3E}">
        <p14:creationId xmlns:p14="http://schemas.microsoft.com/office/powerpoint/2010/main" val="116920896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6">
            <a:extLst>
              <a:ext uri="{FF2B5EF4-FFF2-40B4-BE49-F238E27FC236}">
                <a16:creationId xmlns:a16="http://schemas.microsoft.com/office/drawing/2014/main" id="{58AA71C4-1C92-4610-A770-924C4D9A5AF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F1BDFF7-FF70-422C-876B-D7A7F5F6A0CD}" type="slidenum">
              <a:rPr lang="en-US" altLang="en-US"/>
              <a:pPr eaLnBrk="1" hangingPunct="1"/>
              <a:t>77</a:t>
            </a:fld>
            <a:endParaRPr lang="en-US" altLang="en-US"/>
          </a:p>
        </p:txBody>
      </p:sp>
      <p:sp>
        <p:nvSpPr>
          <p:cNvPr id="40963" name="Rectangle 2">
            <a:extLst>
              <a:ext uri="{FF2B5EF4-FFF2-40B4-BE49-F238E27FC236}">
                <a16:creationId xmlns:a16="http://schemas.microsoft.com/office/drawing/2014/main" id="{9E397188-7CCD-4AC6-BC7D-F13F8FB76CB9}"/>
              </a:ext>
            </a:extLst>
          </p:cNvPr>
          <p:cNvSpPr>
            <a:spLocks noGrp="1" noChangeArrowheads="1"/>
          </p:cNvSpPr>
          <p:nvPr>
            <p:ph type="title"/>
          </p:nvPr>
        </p:nvSpPr>
        <p:spPr>
          <a:xfrm>
            <a:off x="304800" y="122238"/>
            <a:ext cx="7696200" cy="1173162"/>
          </a:xfrm>
        </p:spPr>
        <p:txBody>
          <a:bodyPr/>
          <a:lstStyle/>
          <a:p>
            <a:pPr eaLnBrk="1" hangingPunct="1"/>
            <a:r>
              <a:rPr lang="en-US" altLang="zh-CN" sz="3600">
                <a:ea typeface="宋体" panose="02010600030101010101" pitchFamily="2" charset="-122"/>
              </a:rPr>
              <a:t>Diversity of Client Devices with Internet Deployment</a:t>
            </a:r>
            <a:endParaRPr lang="en-US" altLang="zh-CN" sz="2400">
              <a:ea typeface="宋体" panose="02010600030101010101" pitchFamily="2" charset="-122"/>
            </a:endParaRPr>
          </a:p>
        </p:txBody>
      </p:sp>
      <p:sp>
        <p:nvSpPr>
          <p:cNvPr id="40964" name="Rectangle 3">
            <a:extLst>
              <a:ext uri="{FF2B5EF4-FFF2-40B4-BE49-F238E27FC236}">
                <a16:creationId xmlns:a16="http://schemas.microsoft.com/office/drawing/2014/main" id="{92CB687A-2634-4103-A09E-5FE7B6150861}"/>
              </a:ext>
            </a:extLst>
          </p:cNvPr>
          <p:cNvSpPr>
            <a:spLocks noGrp="1" noChangeArrowheads="1"/>
          </p:cNvSpPr>
          <p:nvPr>
            <p:ph type="body" sz="half" idx="1"/>
          </p:nvPr>
        </p:nvSpPr>
        <p:spPr>
          <a:xfrm>
            <a:off x="457200" y="1371600"/>
            <a:ext cx="8153400" cy="5029200"/>
          </a:xfrm>
          <a:noFill/>
        </p:spPr>
        <p:txBody>
          <a:bodyPr/>
          <a:lstStyle/>
          <a:p>
            <a:pPr eaLnBrk="1" hangingPunct="1"/>
            <a:r>
              <a:rPr lang="en-US" altLang="zh-CN" sz="2800" dirty="0">
                <a:ea typeface="宋体" panose="02010600030101010101" pitchFamily="2" charset="-122"/>
              </a:rPr>
              <a:t>Full size devices</a:t>
            </a:r>
            <a:r>
              <a:rPr lang="zh-CN" altLang="en-US" sz="2800" dirty="0">
                <a:ea typeface="宋体" panose="02010600030101010101" pitchFamily="2" charset="-122"/>
              </a:rPr>
              <a:t>（全尺寸设备）</a:t>
            </a:r>
            <a:endParaRPr lang="en-US" altLang="zh-CN" sz="2800" dirty="0">
              <a:ea typeface="宋体" panose="02010600030101010101" pitchFamily="2" charset="-122"/>
            </a:endParaRPr>
          </a:p>
          <a:p>
            <a:pPr lvl="1" eaLnBrk="1" hangingPunct="1"/>
            <a:r>
              <a:rPr lang="en-US" altLang="zh-CN" sz="2400" dirty="0">
                <a:ea typeface="宋体" panose="02010600030101010101" pitchFamily="2" charset="-122"/>
              </a:rPr>
              <a:t>Desktops, laptops, 15-27” high resolution</a:t>
            </a:r>
          </a:p>
          <a:p>
            <a:pPr eaLnBrk="1" hangingPunct="1"/>
            <a:r>
              <a:rPr lang="en-US" altLang="zh-CN" sz="2800" dirty="0">
                <a:ea typeface="宋体" panose="02010600030101010101" pitchFamily="2" charset="-122"/>
              </a:rPr>
              <a:t>Mid level tablet devices</a:t>
            </a:r>
            <a:r>
              <a:rPr lang="zh-CN" altLang="en-US" sz="2800" dirty="0">
                <a:ea typeface="宋体" panose="02010600030101010101" pitchFamily="2" charset="-122"/>
              </a:rPr>
              <a:t>（中级平板设备）</a:t>
            </a:r>
            <a:endParaRPr lang="en-US" altLang="zh-CN" sz="2800" dirty="0">
              <a:ea typeface="宋体" panose="02010600030101010101" pitchFamily="2" charset="-122"/>
            </a:endParaRPr>
          </a:p>
          <a:p>
            <a:pPr lvl="1" eaLnBrk="1" hangingPunct="1"/>
            <a:r>
              <a:rPr lang="en-US" altLang="zh-CN" sz="2400" dirty="0">
                <a:ea typeface="宋体" panose="02010600030101010101" pitchFamily="2" charset="-122"/>
              </a:rPr>
              <a:t>Tablets 8-10 inches, landscape or portrait mode, lower resolution, might need specific view layer</a:t>
            </a:r>
          </a:p>
          <a:p>
            <a:pPr eaLnBrk="1" hangingPunct="1"/>
            <a:r>
              <a:rPr lang="en-US" altLang="zh-CN" sz="2800" dirty="0">
                <a:ea typeface="宋体" panose="02010600030101010101" pitchFamily="2" charset="-122"/>
              </a:rPr>
              <a:t>Small mobile computing devices</a:t>
            </a:r>
            <a:r>
              <a:rPr lang="zh-CN" altLang="en-US" sz="2800" dirty="0">
                <a:ea typeface="宋体" panose="02010600030101010101" pitchFamily="2" charset="-122"/>
              </a:rPr>
              <a:t>（小型移动设备）</a:t>
            </a:r>
            <a:endParaRPr lang="en-US" altLang="zh-CN" sz="2800" dirty="0">
              <a:ea typeface="宋体" panose="02010600030101010101" pitchFamily="2" charset="-122"/>
            </a:endParaRPr>
          </a:p>
          <a:p>
            <a:pPr lvl="1" eaLnBrk="1" hangingPunct="1"/>
            <a:r>
              <a:rPr lang="en-US" altLang="zh-CN" sz="2400" dirty="0">
                <a:ea typeface="宋体" panose="02010600030101010101" pitchFamily="2" charset="-122"/>
              </a:rPr>
              <a:t>Very small screens, regular web sites hard to read, really need specific view layer for mobile web viewing</a:t>
            </a:r>
          </a:p>
          <a:p>
            <a:pPr eaLnBrk="1" hangingPunct="1">
              <a:buFont typeface="Wingdings" panose="05000000000000000000" pitchFamily="2" charset="2"/>
              <a:buNone/>
            </a:pPr>
            <a:endParaRPr lang="en-US" altLang="zh-CN" sz="2400" dirty="0">
              <a:ea typeface="宋体" panose="02010600030101010101" pitchFamily="2" charset="-122"/>
            </a:endParaRPr>
          </a:p>
        </p:txBody>
      </p:sp>
      <p:sp>
        <p:nvSpPr>
          <p:cNvPr id="40965" name="Footer Placeholder 4">
            <a:extLst>
              <a:ext uri="{FF2B5EF4-FFF2-40B4-BE49-F238E27FC236}">
                <a16:creationId xmlns:a16="http://schemas.microsoft.com/office/drawing/2014/main" id="{4C3FB352-137C-4313-BEFC-F2D001B2A77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40966" name="Rectangle 6">
            <a:extLst>
              <a:ext uri="{FF2B5EF4-FFF2-40B4-BE49-F238E27FC236}">
                <a16:creationId xmlns:a16="http://schemas.microsoft.com/office/drawing/2014/main" id="{E190EE92-01A5-482A-A9B0-BC123DEB4D63}"/>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6">
            <a:extLst>
              <a:ext uri="{FF2B5EF4-FFF2-40B4-BE49-F238E27FC236}">
                <a16:creationId xmlns:a16="http://schemas.microsoft.com/office/drawing/2014/main" id="{BA0698F3-C1AE-487F-93DC-A783C79738A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79B2868-2097-4A9D-9CEA-04DFEF51B920}" type="slidenum">
              <a:rPr lang="en-US" altLang="en-US"/>
              <a:pPr eaLnBrk="1" hangingPunct="1"/>
              <a:t>78</a:t>
            </a:fld>
            <a:endParaRPr lang="en-US" altLang="en-US"/>
          </a:p>
        </p:txBody>
      </p:sp>
      <p:sp>
        <p:nvSpPr>
          <p:cNvPr id="41987" name="Rectangle 2">
            <a:extLst>
              <a:ext uri="{FF2B5EF4-FFF2-40B4-BE49-F238E27FC236}">
                <a16:creationId xmlns:a16="http://schemas.microsoft.com/office/drawing/2014/main" id="{BF44B295-8D5D-4ADD-953C-DC9354042C93}"/>
              </a:ext>
            </a:extLst>
          </p:cNvPr>
          <p:cNvSpPr>
            <a:spLocks noGrp="1" noChangeArrowheads="1"/>
          </p:cNvSpPr>
          <p:nvPr>
            <p:ph type="title"/>
          </p:nvPr>
        </p:nvSpPr>
        <p:spPr>
          <a:xfrm>
            <a:off x="304800" y="122238"/>
            <a:ext cx="7696200" cy="1173162"/>
          </a:xfrm>
        </p:spPr>
        <p:txBody>
          <a:bodyPr/>
          <a:lstStyle/>
          <a:p>
            <a:pPr eaLnBrk="1" hangingPunct="1"/>
            <a:r>
              <a:rPr lang="en-US" altLang="zh-CN" sz="3600">
                <a:ea typeface="宋体" panose="02010600030101010101" pitchFamily="2" charset="-122"/>
              </a:rPr>
              <a:t>Design for Remote, Distributed Environment</a:t>
            </a:r>
            <a:endParaRPr lang="en-US" altLang="zh-CN" sz="2400">
              <a:ea typeface="宋体" panose="02010600030101010101" pitchFamily="2" charset="-122"/>
            </a:endParaRPr>
          </a:p>
        </p:txBody>
      </p:sp>
      <p:sp>
        <p:nvSpPr>
          <p:cNvPr id="41988" name="Rectangle 3">
            <a:extLst>
              <a:ext uri="{FF2B5EF4-FFF2-40B4-BE49-F238E27FC236}">
                <a16:creationId xmlns:a16="http://schemas.microsoft.com/office/drawing/2014/main" id="{E27FBEC7-9FB8-4888-9982-165C77403DBF}"/>
              </a:ext>
            </a:extLst>
          </p:cNvPr>
          <p:cNvSpPr>
            <a:spLocks noGrp="1" noChangeArrowheads="1"/>
          </p:cNvSpPr>
          <p:nvPr>
            <p:ph type="body" sz="half" idx="1"/>
          </p:nvPr>
        </p:nvSpPr>
        <p:spPr>
          <a:xfrm>
            <a:off x="457200" y="1676400"/>
            <a:ext cx="8153400" cy="4419600"/>
          </a:xfrm>
          <a:noFill/>
        </p:spPr>
        <p:txBody>
          <a:bodyPr/>
          <a:lstStyle/>
          <a:p>
            <a:pPr eaLnBrk="1" hangingPunct="1"/>
            <a:r>
              <a:rPr lang="en-US" altLang="zh-CN" sz="2800" dirty="0">
                <a:ea typeface="宋体" panose="02010600030101010101" pitchFamily="2" charset="-122"/>
              </a:rPr>
              <a:t>Two interfaces to same Web app for internal vs. external access</a:t>
            </a:r>
            <a:r>
              <a:rPr lang="zh-CN" altLang="en-US" sz="2800" dirty="0">
                <a:ea typeface="宋体" panose="02010600030101010101" pitchFamily="2" charset="-122"/>
              </a:rPr>
              <a:t>（设计远程和分布式环境）</a:t>
            </a:r>
            <a:endParaRPr lang="en-US" altLang="zh-CN" sz="2800" dirty="0">
              <a:ea typeface="宋体" panose="02010600030101010101" pitchFamily="2" charset="-122"/>
            </a:endParaRPr>
          </a:p>
          <a:p>
            <a:pPr lvl="1" eaLnBrk="1" hangingPunct="1"/>
            <a:r>
              <a:rPr lang="en-US" altLang="zh-CN" sz="2400" dirty="0">
                <a:ea typeface="宋体" panose="02010600030101010101" pitchFamily="2" charset="-122"/>
              </a:rPr>
              <a:t>Back end, Front end UI to same Web app</a:t>
            </a:r>
          </a:p>
          <a:p>
            <a:pPr lvl="1" eaLnBrk="1" hangingPunct="1"/>
            <a:r>
              <a:rPr lang="en-US" altLang="zh-CN" sz="2400" dirty="0">
                <a:ea typeface="宋体" panose="02010600030101010101" pitchFamily="2" charset="-122"/>
              </a:rPr>
              <a:t>Not as secure</a:t>
            </a:r>
          </a:p>
          <a:p>
            <a:pPr lvl="1" eaLnBrk="1" hangingPunct="1">
              <a:buFont typeface="Wingdings" panose="05000000000000000000" pitchFamily="2" charset="2"/>
              <a:buNone/>
            </a:pPr>
            <a:endParaRPr lang="en-US" altLang="zh-CN" sz="2500" dirty="0">
              <a:ea typeface="宋体" panose="02010600030101010101" pitchFamily="2" charset="-122"/>
            </a:endParaRPr>
          </a:p>
          <a:p>
            <a:pPr eaLnBrk="1" hangingPunct="1"/>
            <a:r>
              <a:rPr lang="en-US" altLang="zh-CN" sz="2800" dirty="0">
                <a:ea typeface="宋体" panose="02010600030101010101" pitchFamily="2" charset="-122"/>
              </a:rPr>
              <a:t>Virtual private network (VPN)</a:t>
            </a:r>
          </a:p>
          <a:p>
            <a:pPr lvl="1" eaLnBrk="1" hangingPunct="1"/>
            <a:r>
              <a:rPr lang="en-US" altLang="zh-CN" sz="2400" dirty="0">
                <a:ea typeface="宋体" panose="02010600030101010101" pitchFamily="2" charset="-122"/>
              </a:rPr>
              <a:t>Closed network with security and closed access built on top of a public network (Internet)</a:t>
            </a:r>
          </a:p>
        </p:txBody>
      </p:sp>
      <p:sp>
        <p:nvSpPr>
          <p:cNvPr id="41989" name="Footer Placeholder 4">
            <a:extLst>
              <a:ext uri="{FF2B5EF4-FFF2-40B4-BE49-F238E27FC236}">
                <a16:creationId xmlns:a16="http://schemas.microsoft.com/office/drawing/2014/main" id="{D0E06A4A-16DA-4AD7-ADC9-F814158293C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41990" name="Rectangle 6">
            <a:extLst>
              <a:ext uri="{FF2B5EF4-FFF2-40B4-BE49-F238E27FC236}">
                <a16:creationId xmlns:a16="http://schemas.microsoft.com/office/drawing/2014/main" id="{01BF6D8A-9C68-4C08-BFD5-FFCD110557F5}"/>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6">
            <a:extLst>
              <a:ext uri="{FF2B5EF4-FFF2-40B4-BE49-F238E27FC236}">
                <a16:creationId xmlns:a16="http://schemas.microsoft.com/office/drawing/2014/main" id="{B4B36438-5E95-41BA-BE9B-75590953705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FEDDB03-6D54-44F2-9239-53487CDB0A64}" type="slidenum">
              <a:rPr lang="en-US" altLang="en-US"/>
              <a:pPr eaLnBrk="1" hangingPunct="1"/>
              <a:t>79</a:t>
            </a:fld>
            <a:endParaRPr lang="en-US" altLang="en-US"/>
          </a:p>
        </p:txBody>
      </p:sp>
      <p:sp>
        <p:nvSpPr>
          <p:cNvPr id="43011" name="Rectangle 2">
            <a:extLst>
              <a:ext uri="{FF2B5EF4-FFF2-40B4-BE49-F238E27FC236}">
                <a16:creationId xmlns:a16="http://schemas.microsoft.com/office/drawing/2014/main" id="{0A6711C6-49E7-4173-9C9F-69F375FEE95C}"/>
              </a:ext>
            </a:extLst>
          </p:cNvPr>
          <p:cNvSpPr>
            <a:spLocks noGrp="1" noChangeArrowheads="1"/>
          </p:cNvSpPr>
          <p:nvPr>
            <p:ph type="title"/>
          </p:nvPr>
        </p:nvSpPr>
        <p:spPr>
          <a:xfrm>
            <a:off x="304800" y="122238"/>
            <a:ext cx="7696200" cy="1173162"/>
          </a:xfrm>
        </p:spPr>
        <p:txBody>
          <a:bodyPr/>
          <a:lstStyle/>
          <a:p>
            <a:pPr eaLnBrk="1" hangingPunct="1"/>
            <a:r>
              <a:rPr lang="en-US" altLang="zh-CN" sz="3600">
                <a:ea typeface="宋体" panose="02010600030101010101" pitchFamily="2" charset="-122"/>
              </a:rPr>
              <a:t>Virtual Private Network (VPN)</a:t>
            </a:r>
            <a:endParaRPr lang="en-US" altLang="zh-CN" sz="2400">
              <a:ea typeface="宋体" panose="02010600030101010101" pitchFamily="2" charset="-122"/>
            </a:endParaRPr>
          </a:p>
        </p:txBody>
      </p:sp>
      <p:pic>
        <p:nvPicPr>
          <p:cNvPr id="43012" name="Picture 6">
            <a:extLst>
              <a:ext uri="{FF2B5EF4-FFF2-40B4-BE49-F238E27FC236}">
                <a16:creationId xmlns:a16="http://schemas.microsoft.com/office/drawing/2014/main" id="{FC97203E-4EB4-42CF-99F7-3BD2208E76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1600200"/>
            <a:ext cx="7772400" cy="4656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3" name="Footer Placeholder 4">
            <a:extLst>
              <a:ext uri="{FF2B5EF4-FFF2-40B4-BE49-F238E27FC236}">
                <a16:creationId xmlns:a16="http://schemas.microsoft.com/office/drawing/2014/main" id="{999456AF-2E5B-4EF8-B738-C9ADD5F149D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43014" name="Rectangle 6">
            <a:extLst>
              <a:ext uri="{FF2B5EF4-FFF2-40B4-BE49-F238E27FC236}">
                <a16:creationId xmlns:a16="http://schemas.microsoft.com/office/drawing/2014/main" id="{22B22B49-763D-4464-A0D4-B57087337EE9}"/>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Number Placeholder 6">
            <a:extLst>
              <a:ext uri="{FF2B5EF4-FFF2-40B4-BE49-F238E27FC236}">
                <a16:creationId xmlns:a16="http://schemas.microsoft.com/office/drawing/2014/main" id="{42C146E8-A017-46AE-9B3C-EE3B3C4F2F9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F0963C0-72DC-4ED5-A998-277771237C10}" type="slidenum">
              <a:rPr lang="en-US" altLang="en-US"/>
              <a:pPr eaLnBrk="1" hangingPunct="1"/>
              <a:t>80</a:t>
            </a:fld>
            <a:endParaRPr lang="en-US" altLang="en-US"/>
          </a:p>
        </p:txBody>
      </p:sp>
      <p:sp>
        <p:nvSpPr>
          <p:cNvPr id="44035" name="Rectangle 2">
            <a:extLst>
              <a:ext uri="{FF2B5EF4-FFF2-40B4-BE49-F238E27FC236}">
                <a16:creationId xmlns:a16="http://schemas.microsoft.com/office/drawing/2014/main" id="{2FC9F7E3-5EED-4D99-B2BF-76DE0BDAEBFF}"/>
              </a:ext>
            </a:extLst>
          </p:cNvPr>
          <p:cNvSpPr>
            <a:spLocks noGrp="1" noChangeArrowheads="1"/>
          </p:cNvSpPr>
          <p:nvPr>
            <p:ph type="title"/>
          </p:nvPr>
        </p:nvSpPr>
        <p:spPr>
          <a:xfrm>
            <a:off x="0" y="914400"/>
            <a:ext cx="2971800" cy="3810000"/>
          </a:xfrm>
        </p:spPr>
        <p:txBody>
          <a:bodyPr/>
          <a:lstStyle/>
          <a:p>
            <a:pPr eaLnBrk="1" hangingPunct="1"/>
            <a:r>
              <a:rPr lang="en-US" altLang="zh-CN" sz="3200" dirty="0">
                <a:ea typeface="宋体" panose="02010600030101010101" pitchFamily="2" charset="-122"/>
              </a:rPr>
              <a:t>RMO Technology Architecture:</a:t>
            </a:r>
            <a:br>
              <a:rPr lang="en-US" altLang="zh-CN" sz="3200" dirty="0">
                <a:ea typeface="宋体" panose="02010600030101010101" pitchFamily="2" charset="-122"/>
              </a:rPr>
            </a:br>
            <a:br>
              <a:rPr lang="en-US" altLang="zh-CN" sz="3200" dirty="0">
                <a:ea typeface="宋体" panose="02010600030101010101" pitchFamily="2" charset="-122"/>
              </a:rPr>
            </a:br>
            <a:r>
              <a:rPr lang="en-US" altLang="zh-CN" sz="2800" dirty="0">
                <a:ea typeface="宋体" panose="02010600030101010101" pitchFamily="2" charset="-122"/>
              </a:rPr>
              <a:t>Lots of locations:</a:t>
            </a:r>
            <a:br>
              <a:rPr lang="en-US" altLang="zh-CN" sz="2800" dirty="0">
                <a:ea typeface="宋体" panose="02010600030101010101" pitchFamily="2" charset="-122"/>
              </a:rPr>
            </a:br>
            <a:r>
              <a:rPr lang="en-US" altLang="zh-CN" sz="2800" dirty="0">
                <a:ea typeface="宋体" panose="02010600030101010101" pitchFamily="2" charset="-122"/>
              </a:rPr>
              <a:t>Need carefully designed remote access</a:t>
            </a:r>
            <a:br>
              <a:rPr lang="en-US" altLang="zh-CN" sz="2800" dirty="0">
                <a:ea typeface="宋体" panose="02010600030101010101" pitchFamily="2" charset="-122"/>
              </a:rPr>
            </a:br>
            <a:r>
              <a:rPr lang="zh-CN" altLang="en-US" sz="2800" dirty="0">
                <a:ea typeface="宋体" panose="02010600030101010101" pitchFamily="2" charset="-122"/>
              </a:rPr>
              <a:t>（多地点办公）</a:t>
            </a:r>
            <a:endParaRPr lang="en-US" altLang="zh-CN" sz="2800" dirty="0">
              <a:ea typeface="宋体" panose="02010600030101010101" pitchFamily="2" charset="-122"/>
            </a:endParaRPr>
          </a:p>
        </p:txBody>
      </p:sp>
      <p:pic>
        <p:nvPicPr>
          <p:cNvPr id="44036" name="Picture 4">
            <a:extLst>
              <a:ext uri="{FF2B5EF4-FFF2-40B4-BE49-F238E27FC236}">
                <a16:creationId xmlns:a16="http://schemas.microsoft.com/office/drawing/2014/main" id="{A9EE4409-BFB3-4AC9-BF59-25562668F9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1800" y="304800"/>
            <a:ext cx="4956175" cy="584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37" name="Footer Placeholder 4">
            <a:extLst>
              <a:ext uri="{FF2B5EF4-FFF2-40B4-BE49-F238E27FC236}">
                <a16:creationId xmlns:a16="http://schemas.microsoft.com/office/drawing/2014/main" id="{7BD1DC92-1656-46D1-AFDD-843223D6B39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44038" name="Rectangle 6">
            <a:extLst>
              <a:ext uri="{FF2B5EF4-FFF2-40B4-BE49-F238E27FC236}">
                <a16:creationId xmlns:a16="http://schemas.microsoft.com/office/drawing/2014/main" id="{1486032A-6BE3-43CF-B115-F6316F322157}"/>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Number Placeholder 5">
            <a:extLst>
              <a:ext uri="{FF2B5EF4-FFF2-40B4-BE49-F238E27FC236}">
                <a16:creationId xmlns:a16="http://schemas.microsoft.com/office/drawing/2014/main" id="{45E7B5CE-678D-4E29-BFA3-99F73713D89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905D246-0B91-469D-8B44-AAAC5C7B0B48}" type="slidenum">
              <a:rPr lang="en-US" altLang="en-US"/>
              <a:pPr eaLnBrk="1" hangingPunct="1"/>
              <a:t>81</a:t>
            </a:fld>
            <a:endParaRPr lang="en-US" altLang="en-US"/>
          </a:p>
        </p:txBody>
      </p:sp>
      <p:sp>
        <p:nvSpPr>
          <p:cNvPr id="45059" name="Rectangle 2">
            <a:extLst>
              <a:ext uri="{FF2B5EF4-FFF2-40B4-BE49-F238E27FC236}">
                <a16:creationId xmlns:a16="http://schemas.microsoft.com/office/drawing/2014/main" id="{20B61CFA-C83A-40BF-B864-699E71B66AF6}"/>
              </a:ext>
            </a:extLst>
          </p:cNvPr>
          <p:cNvSpPr>
            <a:spLocks noGrp="1" noChangeArrowheads="1"/>
          </p:cNvSpPr>
          <p:nvPr>
            <p:ph type="title"/>
          </p:nvPr>
        </p:nvSpPr>
        <p:spPr>
          <a:xfrm>
            <a:off x="457200" y="0"/>
            <a:ext cx="7543800" cy="1219200"/>
          </a:xfrm>
        </p:spPr>
        <p:txBody>
          <a:bodyPr/>
          <a:lstStyle/>
          <a:p>
            <a:pPr eaLnBrk="1" hangingPunct="1"/>
            <a:r>
              <a:rPr lang="en-US" altLang="zh-CN" sz="3600">
                <a:ea typeface="宋体" panose="02010600030101010101" pitchFamily="2" charset="-122"/>
              </a:rPr>
              <a:t>RMO’s Current Technology Architecture</a:t>
            </a:r>
          </a:p>
        </p:txBody>
      </p:sp>
      <p:pic>
        <p:nvPicPr>
          <p:cNvPr id="45060" name="Picture 4">
            <a:extLst>
              <a:ext uri="{FF2B5EF4-FFF2-40B4-BE49-F238E27FC236}">
                <a16:creationId xmlns:a16="http://schemas.microsoft.com/office/drawing/2014/main" id="{B93E46E6-09B9-44D1-BD93-6322ADB97D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295400"/>
            <a:ext cx="7924800" cy="4960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61" name="Footer Placeholder 4">
            <a:extLst>
              <a:ext uri="{FF2B5EF4-FFF2-40B4-BE49-F238E27FC236}">
                <a16:creationId xmlns:a16="http://schemas.microsoft.com/office/drawing/2014/main" id="{7C16FF43-83C4-4579-AB21-1F319EF20700}"/>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45062" name="Rectangle 6">
            <a:extLst>
              <a:ext uri="{FF2B5EF4-FFF2-40B4-BE49-F238E27FC236}">
                <a16:creationId xmlns:a16="http://schemas.microsoft.com/office/drawing/2014/main" id="{9B73E15B-AA8A-4001-95F3-01C041645725}"/>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 name="矩形 1">
            <a:extLst>
              <a:ext uri="{FF2B5EF4-FFF2-40B4-BE49-F238E27FC236}">
                <a16:creationId xmlns:a16="http://schemas.microsoft.com/office/drawing/2014/main" id="{37A8138D-F4DB-4FC9-B1F7-D301C1AF4EB6}"/>
              </a:ext>
            </a:extLst>
          </p:cNvPr>
          <p:cNvSpPr/>
          <p:nvPr/>
        </p:nvSpPr>
        <p:spPr>
          <a:xfrm>
            <a:off x="3276600" y="2971800"/>
            <a:ext cx="1295400" cy="914400"/>
          </a:xfrm>
          <a:prstGeom prst="rect">
            <a:avLst/>
          </a:prstGeom>
          <a:noFill/>
          <a:ln w="28575">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Number Placeholder 5">
            <a:extLst>
              <a:ext uri="{FF2B5EF4-FFF2-40B4-BE49-F238E27FC236}">
                <a16:creationId xmlns:a16="http://schemas.microsoft.com/office/drawing/2014/main" id="{45E7B5CE-678D-4E29-BFA3-99F73713D89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905D246-0B91-469D-8B44-AAAC5C7B0B48}" type="slidenum">
              <a:rPr lang="en-US" altLang="en-US"/>
              <a:pPr eaLnBrk="1" hangingPunct="1"/>
              <a:t>82</a:t>
            </a:fld>
            <a:endParaRPr lang="en-US" altLang="en-US"/>
          </a:p>
        </p:txBody>
      </p:sp>
      <p:sp>
        <p:nvSpPr>
          <p:cNvPr id="45059" name="Rectangle 2">
            <a:extLst>
              <a:ext uri="{FF2B5EF4-FFF2-40B4-BE49-F238E27FC236}">
                <a16:creationId xmlns:a16="http://schemas.microsoft.com/office/drawing/2014/main" id="{20B61CFA-C83A-40BF-B864-699E71B66AF6}"/>
              </a:ext>
            </a:extLst>
          </p:cNvPr>
          <p:cNvSpPr>
            <a:spLocks noGrp="1" noChangeArrowheads="1"/>
          </p:cNvSpPr>
          <p:nvPr>
            <p:ph type="title"/>
          </p:nvPr>
        </p:nvSpPr>
        <p:spPr>
          <a:xfrm>
            <a:off x="457200" y="0"/>
            <a:ext cx="7543800" cy="1219200"/>
          </a:xfrm>
        </p:spPr>
        <p:txBody>
          <a:bodyPr/>
          <a:lstStyle/>
          <a:p>
            <a:pPr eaLnBrk="1" hangingPunct="1"/>
            <a:r>
              <a:rPr lang="en-US" altLang="zh-CN" sz="3600">
                <a:ea typeface="宋体" panose="02010600030101010101" pitchFamily="2" charset="-122"/>
              </a:rPr>
              <a:t>RMO’s Current Technology Architecture</a:t>
            </a:r>
          </a:p>
        </p:txBody>
      </p:sp>
      <p:pic>
        <p:nvPicPr>
          <p:cNvPr id="45060" name="Picture 4">
            <a:extLst>
              <a:ext uri="{FF2B5EF4-FFF2-40B4-BE49-F238E27FC236}">
                <a16:creationId xmlns:a16="http://schemas.microsoft.com/office/drawing/2014/main" id="{B93E46E6-09B9-44D1-BD93-6322ADB97D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295400"/>
            <a:ext cx="7924800" cy="4960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61" name="Footer Placeholder 4">
            <a:extLst>
              <a:ext uri="{FF2B5EF4-FFF2-40B4-BE49-F238E27FC236}">
                <a16:creationId xmlns:a16="http://schemas.microsoft.com/office/drawing/2014/main" id="{7C16FF43-83C4-4579-AB21-1F319EF20700}"/>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45062" name="Rectangle 6">
            <a:extLst>
              <a:ext uri="{FF2B5EF4-FFF2-40B4-BE49-F238E27FC236}">
                <a16:creationId xmlns:a16="http://schemas.microsoft.com/office/drawing/2014/main" id="{9B73E15B-AA8A-4001-95F3-01C041645725}"/>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 name="矩形 1">
            <a:extLst>
              <a:ext uri="{FF2B5EF4-FFF2-40B4-BE49-F238E27FC236}">
                <a16:creationId xmlns:a16="http://schemas.microsoft.com/office/drawing/2014/main" id="{37A8138D-F4DB-4FC9-B1F7-D301C1AF4EB6}"/>
              </a:ext>
            </a:extLst>
          </p:cNvPr>
          <p:cNvSpPr/>
          <p:nvPr/>
        </p:nvSpPr>
        <p:spPr>
          <a:xfrm>
            <a:off x="2209800" y="4800600"/>
            <a:ext cx="1295400" cy="1447800"/>
          </a:xfrm>
          <a:prstGeom prst="rect">
            <a:avLst/>
          </a:prstGeom>
          <a:noFill/>
          <a:ln w="28575">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26888197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Number Placeholder 5">
            <a:extLst>
              <a:ext uri="{FF2B5EF4-FFF2-40B4-BE49-F238E27FC236}">
                <a16:creationId xmlns:a16="http://schemas.microsoft.com/office/drawing/2014/main" id="{45E7B5CE-678D-4E29-BFA3-99F73713D89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905D246-0B91-469D-8B44-AAAC5C7B0B48}" type="slidenum">
              <a:rPr lang="en-US" altLang="en-US"/>
              <a:pPr eaLnBrk="1" hangingPunct="1"/>
              <a:t>83</a:t>
            </a:fld>
            <a:endParaRPr lang="en-US" altLang="en-US"/>
          </a:p>
        </p:txBody>
      </p:sp>
      <p:sp>
        <p:nvSpPr>
          <p:cNvPr id="45059" name="Rectangle 2">
            <a:extLst>
              <a:ext uri="{FF2B5EF4-FFF2-40B4-BE49-F238E27FC236}">
                <a16:creationId xmlns:a16="http://schemas.microsoft.com/office/drawing/2014/main" id="{20B61CFA-C83A-40BF-B864-699E71B66AF6}"/>
              </a:ext>
            </a:extLst>
          </p:cNvPr>
          <p:cNvSpPr>
            <a:spLocks noGrp="1" noChangeArrowheads="1"/>
          </p:cNvSpPr>
          <p:nvPr>
            <p:ph type="title"/>
          </p:nvPr>
        </p:nvSpPr>
        <p:spPr>
          <a:xfrm>
            <a:off x="457200" y="0"/>
            <a:ext cx="7543800" cy="1219200"/>
          </a:xfrm>
        </p:spPr>
        <p:txBody>
          <a:bodyPr/>
          <a:lstStyle/>
          <a:p>
            <a:pPr eaLnBrk="1" hangingPunct="1"/>
            <a:r>
              <a:rPr lang="en-US" altLang="zh-CN" sz="3600">
                <a:ea typeface="宋体" panose="02010600030101010101" pitchFamily="2" charset="-122"/>
              </a:rPr>
              <a:t>RMO’s Current Technology Architecture</a:t>
            </a:r>
          </a:p>
        </p:txBody>
      </p:sp>
      <p:pic>
        <p:nvPicPr>
          <p:cNvPr id="45060" name="Picture 4">
            <a:extLst>
              <a:ext uri="{FF2B5EF4-FFF2-40B4-BE49-F238E27FC236}">
                <a16:creationId xmlns:a16="http://schemas.microsoft.com/office/drawing/2014/main" id="{B93E46E6-09B9-44D1-BD93-6322ADB97D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295400"/>
            <a:ext cx="7924800" cy="4960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61" name="Footer Placeholder 4">
            <a:extLst>
              <a:ext uri="{FF2B5EF4-FFF2-40B4-BE49-F238E27FC236}">
                <a16:creationId xmlns:a16="http://schemas.microsoft.com/office/drawing/2014/main" id="{7C16FF43-83C4-4579-AB21-1F319EF20700}"/>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45062" name="Rectangle 6">
            <a:extLst>
              <a:ext uri="{FF2B5EF4-FFF2-40B4-BE49-F238E27FC236}">
                <a16:creationId xmlns:a16="http://schemas.microsoft.com/office/drawing/2014/main" id="{9B73E15B-AA8A-4001-95F3-01C041645725}"/>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 name="矩形 1">
            <a:extLst>
              <a:ext uri="{FF2B5EF4-FFF2-40B4-BE49-F238E27FC236}">
                <a16:creationId xmlns:a16="http://schemas.microsoft.com/office/drawing/2014/main" id="{37A8138D-F4DB-4FC9-B1F7-D301C1AF4EB6}"/>
              </a:ext>
            </a:extLst>
          </p:cNvPr>
          <p:cNvSpPr/>
          <p:nvPr/>
        </p:nvSpPr>
        <p:spPr>
          <a:xfrm flipH="1" flipV="1">
            <a:off x="5181599" y="5252720"/>
            <a:ext cx="1600200" cy="919480"/>
          </a:xfrm>
          <a:prstGeom prst="rect">
            <a:avLst/>
          </a:prstGeom>
          <a:noFill/>
          <a:ln w="28575">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80198117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Number Placeholder 5">
            <a:extLst>
              <a:ext uri="{FF2B5EF4-FFF2-40B4-BE49-F238E27FC236}">
                <a16:creationId xmlns:a16="http://schemas.microsoft.com/office/drawing/2014/main" id="{45E7B5CE-678D-4E29-BFA3-99F73713D89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905D246-0B91-469D-8B44-AAAC5C7B0B48}" type="slidenum">
              <a:rPr lang="en-US" altLang="en-US"/>
              <a:pPr eaLnBrk="1" hangingPunct="1"/>
              <a:t>84</a:t>
            </a:fld>
            <a:endParaRPr lang="en-US" altLang="en-US"/>
          </a:p>
        </p:txBody>
      </p:sp>
      <p:sp>
        <p:nvSpPr>
          <p:cNvPr id="45059" name="Rectangle 2">
            <a:extLst>
              <a:ext uri="{FF2B5EF4-FFF2-40B4-BE49-F238E27FC236}">
                <a16:creationId xmlns:a16="http://schemas.microsoft.com/office/drawing/2014/main" id="{20B61CFA-C83A-40BF-B864-699E71B66AF6}"/>
              </a:ext>
            </a:extLst>
          </p:cNvPr>
          <p:cNvSpPr>
            <a:spLocks noGrp="1" noChangeArrowheads="1"/>
          </p:cNvSpPr>
          <p:nvPr>
            <p:ph type="title"/>
          </p:nvPr>
        </p:nvSpPr>
        <p:spPr>
          <a:xfrm>
            <a:off x="457200" y="0"/>
            <a:ext cx="7543800" cy="1219200"/>
          </a:xfrm>
        </p:spPr>
        <p:txBody>
          <a:bodyPr/>
          <a:lstStyle/>
          <a:p>
            <a:pPr eaLnBrk="1" hangingPunct="1"/>
            <a:r>
              <a:rPr lang="en-US" altLang="zh-CN" sz="3600">
                <a:ea typeface="宋体" panose="02010600030101010101" pitchFamily="2" charset="-122"/>
              </a:rPr>
              <a:t>RMO’s Current Technology Architecture</a:t>
            </a:r>
          </a:p>
        </p:txBody>
      </p:sp>
      <p:pic>
        <p:nvPicPr>
          <p:cNvPr id="45060" name="Picture 4">
            <a:extLst>
              <a:ext uri="{FF2B5EF4-FFF2-40B4-BE49-F238E27FC236}">
                <a16:creationId xmlns:a16="http://schemas.microsoft.com/office/drawing/2014/main" id="{B93E46E6-09B9-44D1-BD93-6322ADB97D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295400"/>
            <a:ext cx="7924800" cy="4960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61" name="Footer Placeholder 4">
            <a:extLst>
              <a:ext uri="{FF2B5EF4-FFF2-40B4-BE49-F238E27FC236}">
                <a16:creationId xmlns:a16="http://schemas.microsoft.com/office/drawing/2014/main" id="{7C16FF43-83C4-4579-AB21-1F319EF20700}"/>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45062" name="Rectangle 6">
            <a:extLst>
              <a:ext uri="{FF2B5EF4-FFF2-40B4-BE49-F238E27FC236}">
                <a16:creationId xmlns:a16="http://schemas.microsoft.com/office/drawing/2014/main" id="{9B73E15B-AA8A-4001-95F3-01C041645725}"/>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 name="矩形 1">
            <a:extLst>
              <a:ext uri="{FF2B5EF4-FFF2-40B4-BE49-F238E27FC236}">
                <a16:creationId xmlns:a16="http://schemas.microsoft.com/office/drawing/2014/main" id="{37A8138D-F4DB-4FC9-B1F7-D301C1AF4EB6}"/>
              </a:ext>
            </a:extLst>
          </p:cNvPr>
          <p:cNvSpPr/>
          <p:nvPr/>
        </p:nvSpPr>
        <p:spPr>
          <a:xfrm>
            <a:off x="614680" y="1295400"/>
            <a:ext cx="2585720" cy="3352800"/>
          </a:xfrm>
          <a:prstGeom prst="rect">
            <a:avLst/>
          </a:prstGeom>
          <a:noFill/>
          <a:ln w="28575">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68467920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Number Placeholder 5">
            <a:extLst>
              <a:ext uri="{FF2B5EF4-FFF2-40B4-BE49-F238E27FC236}">
                <a16:creationId xmlns:a16="http://schemas.microsoft.com/office/drawing/2014/main" id="{45E7B5CE-678D-4E29-BFA3-99F73713D89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905D246-0B91-469D-8B44-AAAC5C7B0B48}" type="slidenum">
              <a:rPr lang="en-US" altLang="en-US"/>
              <a:pPr eaLnBrk="1" hangingPunct="1"/>
              <a:t>85</a:t>
            </a:fld>
            <a:endParaRPr lang="en-US" altLang="en-US"/>
          </a:p>
        </p:txBody>
      </p:sp>
      <p:sp>
        <p:nvSpPr>
          <p:cNvPr id="45059" name="Rectangle 2">
            <a:extLst>
              <a:ext uri="{FF2B5EF4-FFF2-40B4-BE49-F238E27FC236}">
                <a16:creationId xmlns:a16="http://schemas.microsoft.com/office/drawing/2014/main" id="{20B61CFA-C83A-40BF-B864-699E71B66AF6}"/>
              </a:ext>
            </a:extLst>
          </p:cNvPr>
          <p:cNvSpPr>
            <a:spLocks noGrp="1" noChangeArrowheads="1"/>
          </p:cNvSpPr>
          <p:nvPr>
            <p:ph type="title"/>
          </p:nvPr>
        </p:nvSpPr>
        <p:spPr>
          <a:xfrm>
            <a:off x="457200" y="0"/>
            <a:ext cx="7543800" cy="1219200"/>
          </a:xfrm>
        </p:spPr>
        <p:txBody>
          <a:bodyPr/>
          <a:lstStyle/>
          <a:p>
            <a:pPr eaLnBrk="1" hangingPunct="1"/>
            <a:r>
              <a:rPr lang="en-US" altLang="zh-CN" sz="3600">
                <a:ea typeface="宋体" panose="02010600030101010101" pitchFamily="2" charset="-122"/>
              </a:rPr>
              <a:t>RMO’s Current Technology Architecture</a:t>
            </a:r>
          </a:p>
        </p:txBody>
      </p:sp>
      <p:pic>
        <p:nvPicPr>
          <p:cNvPr id="45060" name="Picture 4">
            <a:extLst>
              <a:ext uri="{FF2B5EF4-FFF2-40B4-BE49-F238E27FC236}">
                <a16:creationId xmlns:a16="http://schemas.microsoft.com/office/drawing/2014/main" id="{B93E46E6-09B9-44D1-BD93-6322ADB97D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295400"/>
            <a:ext cx="7924800" cy="4960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61" name="Footer Placeholder 4">
            <a:extLst>
              <a:ext uri="{FF2B5EF4-FFF2-40B4-BE49-F238E27FC236}">
                <a16:creationId xmlns:a16="http://schemas.microsoft.com/office/drawing/2014/main" id="{7C16FF43-83C4-4579-AB21-1F319EF20700}"/>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45062" name="Rectangle 6">
            <a:extLst>
              <a:ext uri="{FF2B5EF4-FFF2-40B4-BE49-F238E27FC236}">
                <a16:creationId xmlns:a16="http://schemas.microsoft.com/office/drawing/2014/main" id="{9B73E15B-AA8A-4001-95F3-01C041645725}"/>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 name="矩形 1">
            <a:extLst>
              <a:ext uri="{FF2B5EF4-FFF2-40B4-BE49-F238E27FC236}">
                <a16:creationId xmlns:a16="http://schemas.microsoft.com/office/drawing/2014/main" id="{37A8138D-F4DB-4FC9-B1F7-D301C1AF4EB6}"/>
              </a:ext>
            </a:extLst>
          </p:cNvPr>
          <p:cNvSpPr/>
          <p:nvPr/>
        </p:nvSpPr>
        <p:spPr>
          <a:xfrm>
            <a:off x="4229100" y="1295400"/>
            <a:ext cx="2095500" cy="4038600"/>
          </a:xfrm>
          <a:prstGeom prst="rect">
            <a:avLst/>
          </a:prstGeom>
          <a:noFill/>
          <a:ln w="28575">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74852899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Number Placeholder 5">
            <a:extLst>
              <a:ext uri="{FF2B5EF4-FFF2-40B4-BE49-F238E27FC236}">
                <a16:creationId xmlns:a16="http://schemas.microsoft.com/office/drawing/2014/main" id="{45E7B5CE-678D-4E29-BFA3-99F73713D89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905D246-0B91-469D-8B44-AAAC5C7B0B48}" type="slidenum">
              <a:rPr lang="en-US" altLang="en-US"/>
              <a:pPr eaLnBrk="1" hangingPunct="1"/>
              <a:t>86</a:t>
            </a:fld>
            <a:endParaRPr lang="en-US" altLang="en-US"/>
          </a:p>
        </p:txBody>
      </p:sp>
      <p:sp>
        <p:nvSpPr>
          <p:cNvPr id="45059" name="Rectangle 2">
            <a:extLst>
              <a:ext uri="{FF2B5EF4-FFF2-40B4-BE49-F238E27FC236}">
                <a16:creationId xmlns:a16="http://schemas.microsoft.com/office/drawing/2014/main" id="{20B61CFA-C83A-40BF-B864-699E71B66AF6}"/>
              </a:ext>
            </a:extLst>
          </p:cNvPr>
          <p:cNvSpPr>
            <a:spLocks noGrp="1" noChangeArrowheads="1"/>
          </p:cNvSpPr>
          <p:nvPr>
            <p:ph type="title"/>
          </p:nvPr>
        </p:nvSpPr>
        <p:spPr>
          <a:xfrm>
            <a:off x="457200" y="0"/>
            <a:ext cx="7543800" cy="1219200"/>
          </a:xfrm>
        </p:spPr>
        <p:txBody>
          <a:bodyPr/>
          <a:lstStyle/>
          <a:p>
            <a:pPr eaLnBrk="1" hangingPunct="1"/>
            <a:r>
              <a:rPr lang="en-US" altLang="zh-CN" sz="3600">
                <a:ea typeface="宋体" panose="02010600030101010101" pitchFamily="2" charset="-122"/>
              </a:rPr>
              <a:t>RMO’s Current Technology Architecture</a:t>
            </a:r>
          </a:p>
        </p:txBody>
      </p:sp>
      <p:pic>
        <p:nvPicPr>
          <p:cNvPr id="45060" name="Picture 4">
            <a:extLst>
              <a:ext uri="{FF2B5EF4-FFF2-40B4-BE49-F238E27FC236}">
                <a16:creationId xmlns:a16="http://schemas.microsoft.com/office/drawing/2014/main" id="{B93E46E6-09B9-44D1-BD93-6322ADB97D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295400"/>
            <a:ext cx="7924800" cy="4960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61" name="Footer Placeholder 4">
            <a:extLst>
              <a:ext uri="{FF2B5EF4-FFF2-40B4-BE49-F238E27FC236}">
                <a16:creationId xmlns:a16="http://schemas.microsoft.com/office/drawing/2014/main" id="{7C16FF43-83C4-4579-AB21-1F319EF20700}"/>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45062" name="Rectangle 6">
            <a:extLst>
              <a:ext uri="{FF2B5EF4-FFF2-40B4-BE49-F238E27FC236}">
                <a16:creationId xmlns:a16="http://schemas.microsoft.com/office/drawing/2014/main" id="{9B73E15B-AA8A-4001-95F3-01C041645725}"/>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 name="矩形 1">
            <a:extLst>
              <a:ext uri="{FF2B5EF4-FFF2-40B4-BE49-F238E27FC236}">
                <a16:creationId xmlns:a16="http://schemas.microsoft.com/office/drawing/2014/main" id="{37A8138D-F4DB-4FC9-B1F7-D301C1AF4EB6}"/>
              </a:ext>
            </a:extLst>
          </p:cNvPr>
          <p:cNvSpPr/>
          <p:nvPr/>
        </p:nvSpPr>
        <p:spPr>
          <a:xfrm>
            <a:off x="6343015" y="1214120"/>
            <a:ext cx="2095500" cy="4038600"/>
          </a:xfrm>
          <a:prstGeom prst="rect">
            <a:avLst/>
          </a:prstGeom>
          <a:noFill/>
          <a:ln w="28575">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71732007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Number Placeholder 5">
            <a:extLst>
              <a:ext uri="{FF2B5EF4-FFF2-40B4-BE49-F238E27FC236}">
                <a16:creationId xmlns:a16="http://schemas.microsoft.com/office/drawing/2014/main" id="{AEE433CB-5B76-4629-9B91-E5F28CE0988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72DF9FF-AB3B-4C84-93A0-E98D1430CB7C}" type="slidenum">
              <a:rPr lang="en-US" altLang="en-US"/>
              <a:pPr eaLnBrk="1" hangingPunct="1"/>
              <a:t>87</a:t>
            </a:fld>
            <a:endParaRPr lang="en-US" altLang="en-US"/>
          </a:p>
        </p:txBody>
      </p:sp>
      <p:sp>
        <p:nvSpPr>
          <p:cNvPr id="46083" name="Rectangle 2">
            <a:extLst>
              <a:ext uri="{FF2B5EF4-FFF2-40B4-BE49-F238E27FC236}">
                <a16:creationId xmlns:a16="http://schemas.microsoft.com/office/drawing/2014/main" id="{6741B1E8-E033-47FE-9F6D-6AD6403A4CAD}"/>
              </a:ext>
            </a:extLst>
          </p:cNvPr>
          <p:cNvSpPr>
            <a:spLocks noGrp="1" noChangeArrowheads="1"/>
          </p:cNvSpPr>
          <p:nvPr>
            <p:ph type="title"/>
          </p:nvPr>
        </p:nvSpPr>
        <p:spPr>
          <a:xfrm>
            <a:off x="457200" y="122238"/>
            <a:ext cx="7543800" cy="868362"/>
          </a:xfrm>
        </p:spPr>
        <p:txBody>
          <a:bodyPr/>
          <a:lstStyle/>
          <a:p>
            <a:pPr eaLnBrk="1" hangingPunct="1"/>
            <a:r>
              <a:rPr lang="en-US" altLang="zh-CN">
                <a:ea typeface="宋体" panose="02010600030101010101" pitchFamily="2" charset="-122"/>
              </a:rPr>
              <a:t>Summary</a:t>
            </a:r>
          </a:p>
        </p:txBody>
      </p:sp>
      <p:sp>
        <p:nvSpPr>
          <p:cNvPr id="46084" name="Rectangle 3">
            <a:extLst>
              <a:ext uri="{FF2B5EF4-FFF2-40B4-BE49-F238E27FC236}">
                <a16:creationId xmlns:a16="http://schemas.microsoft.com/office/drawing/2014/main" id="{B6C809A2-8F8E-4B77-A289-01AF04CB11B9}"/>
              </a:ext>
            </a:extLst>
          </p:cNvPr>
          <p:cNvSpPr>
            <a:spLocks noGrp="1" noChangeArrowheads="1"/>
          </p:cNvSpPr>
          <p:nvPr>
            <p:ph type="body" idx="1"/>
          </p:nvPr>
        </p:nvSpPr>
        <p:spPr>
          <a:xfrm>
            <a:off x="457200" y="1600200"/>
            <a:ext cx="8229600" cy="4191000"/>
          </a:xfrm>
        </p:spPr>
        <p:txBody>
          <a:bodyPr/>
          <a:lstStyle/>
          <a:p>
            <a:pPr marL="571500" indent="-571500" eaLnBrk="1" hangingPunct="1"/>
            <a:endParaRPr lang="en-GB" altLang="zh-CN" sz="2800"/>
          </a:p>
          <a:p>
            <a:pPr marL="571500" indent="-571500" eaLnBrk="1" hangingPunct="1"/>
            <a:endParaRPr lang="en-GB" altLang="zh-CN" sz="3200"/>
          </a:p>
        </p:txBody>
      </p:sp>
      <p:sp>
        <p:nvSpPr>
          <p:cNvPr id="46085" name="Rectangle 4">
            <a:extLst>
              <a:ext uri="{FF2B5EF4-FFF2-40B4-BE49-F238E27FC236}">
                <a16:creationId xmlns:a16="http://schemas.microsoft.com/office/drawing/2014/main" id="{F6A0D9E0-AFDB-427C-92ED-9EE00584B6DD}"/>
              </a:ext>
            </a:extLst>
          </p:cNvPr>
          <p:cNvSpPr>
            <a:spLocks noChangeArrowheads="1"/>
          </p:cNvSpPr>
          <p:nvPr/>
        </p:nvSpPr>
        <p:spPr bwMode="auto">
          <a:xfrm>
            <a:off x="609600" y="1143000"/>
            <a:ext cx="8229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71500" indent="-5715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None/>
            </a:pPr>
            <a:endParaRPr lang="en-GB" altLang="zh-CN" sz="2400"/>
          </a:p>
        </p:txBody>
      </p:sp>
      <p:sp>
        <p:nvSpPr>
          <p:cNvPr id="46086" name="Rectangle 5">
            <a:extLst>
              <a:ext uri="{FF2B5EF4-FFF2-40B4-BE49-F238E27FC236}">
                <a16:creationId xmlns:a16="http://schemas.microsoft.com/office/drawing/2014/main" id="{4ED02B6F-C71F-46BA-8FBC-A2540898C209}"/>
              </a:ext>
            </a:extLst>
          </p:cNvPr>
          <p:cNvSpPr>
            <a:spLocks noChangeArrowheads="1"/>
          </p:cNvSpPr>
          <p:nvPr/>
        </p:nvSpPr>
        <p:spPr bwMode="auto">
          <a:xfrm>
            <a:off x="533400" y="1219200"/>
            <a:ext cx="80010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endParaRPr lang="en-GB" altLang="zh-CN" sz="2600"/>
          </a:p>
        </p:txBody>
      </p:sp>
      <p:sp>
        <p:nvSpPr>
          <p:cNvPr id="46087" name="Rectangle 7">
            <a:extLst>
              <a:ext uri="{FF2B5EF4-FFF2-40B4-BE49-F238E27FC236}">
                <a16:creationId xmlns:a16="http://schemas.microsoft.com/office/drawing/2014/main" id="{F7A78D48-ABB4-44BD-81CE-C761429A8BEC}"/>
              </a:ext>
            </a:extLst>
          </p:cNvPr>
          <p:cNvSpPr>
            <a:spLocks noChangeArrowheads="1"/>
          </p:cNvSpPr>
          <p:nvPr/>
        </p:nvSpPr>
        <p:spPr bwMode="auto">
          <a:xfrm>
            <a:off x="304800" y="12192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endParaRPr lang="en-GB" altLang="zh-CN" sz="2400" i="1"/>
          </a:p>
        </p:txBody>
      </p:sp>
      <p:sp>
        <p:nvSpPr>
          <p:cNvPr id="46088" name="Rectangle 8">
            <a:extLst>
              <a:ext uri="{FF2B5EF4-FFF2-40B4-BE49-F238E27FC236}">
                <a16:creationId xmlns:a16="http://schemas.microsoft.com/office/drawing/2014/main" id="{18AA5FF2-9E8C-460A-BDB8-5516E2450BAC}"/>
              </a:ext>
            </a:extLst>
          </p:cNvPr>
          <p:cNvSpPr>
            <a:spLocks noChangeArrowheads="1"/>
          </p:cNvSpPr>
          <p:nvPr/>
        </p:nvSpPr>
        <p:spPr bwMode="auto">
          <a:xfrm>
            <a:off x="457200" y="1066800"/>
            <a:ext cx="83820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r>
              <a:rPr lang="en-US" altLang="zh-CN" sz="2400" dirty="0">
                <a:ea typeface="宋体" panose="02010600030101010101" pitchFamily="2" charset="-122"/>
              </a:rPr>
              <a:t>This chapter discussed </a:t>
            </a:r>
            <a:r>
              <a:rPr lang="en-US" altLang="zh-CN" sz="2400" dirty="0">
                <a:solidFill>
                  <a:srgbClr val="C00000"/>
                </a:solidFill>
                <a:ea typeface="宋体" panose="02010600030101010101" pitchFamily="2" charset="-122"/>
              </a:rPr>
              <a:t>system design</a:t>
            </a:r>
            <a:r>
              <a:rPr lang="zh-CN" altLang="en-US" sz="2400" dirty="0">
                <a:solidFill>
                  <a:srgbClr val="C00000"/>
                </a:solidFill>
                <a:ea typeface="宋体" panose="02010600030101010101" pitchFamily="2" charset="-122"/>
              </a:rPr>
              <a:t>（系统设计）</a:t>
            </a:r>
            <a:r>
              <a:rPr lang="en-US" altLang="zh-CN" sz="2400" dirty="0">
                <a:ea typeface="宋体" panose="02010600030101010101" pitchFamily="2" charset="-122"/>
              </a:rPr>
              <a:t>, the </a:t>
            </a:r>
            <a:r>
              <a:rPr lang="en-US" altLang="zh-CN" sz="2400" dirty="0">
                <a:solidFill>
                  <a:srgbClr val="C00000"/>
                </a:solidFill>
                <a:ea typeface="宋体" panose="02010600030101010101" pitchFamily="2" charset="-122"/>
              </a:rPr>
              <a:t>six design activities</a:t>
            </a:r>
            <a:r>
              <a:rPr lang="en-US" altLang="zh-CN" sz="2400" dirty="0">
                <a:ea typeface="宋体" panose="02010600030101010101" pitchFamily="2" charset="-122"/>
              </a:rPr>
              <a:t>, and </a:t>
            </a:r>
            <a:r>
              <a:rPr lang="en-US" altLang="zh-CN" sz="2400" dirty="0">
                <a:solidFill>
                  <a:srgbClr val="C00000"/>
                </a:solidFill>
                <a:ea typeface="宋体" panose="02010600030101010101" pitchFamily="2" charset="-122"/>
              </a:rPr>
              <a:t>designing the environment</a:t>
            </a:r>
            <a:r>
              <a:rPr lang="en-US" altLang="zh-CN" sz="2400" dirty="0">
                <a:ea typeface="宋体" panose="02010600030101010101" pitchFamily="2" charset="-122"/>
              </a:rPr>
              <a:t>.</a:t>
            </a:r>
          </a:p>
          <a:p>
            <a:pPr eaLnBrk="1" hangingPunct="1">
              <a:spcBef>
                <a:spcPct val="20000"/>
              </a:spcBef>
              <a:buClr>
                <a:schemeClr val="tx2"/>
              </a:buClr>
              <a:buSzPct val="70000"/>
              <a:buFont typeface="Wingdings" panose="05000000000000000000" pitchFamily="2" charset="2"/>
              <a:buChar char="l"/>
            </a:pPr>
            <a:r>
              <a:rPr lang="en-US" altLang="zh-CN" sz="2400" dirty="0">
                <a:ea typeface="宋体" panose="02010600030101010101" pitchFamily="2" charset="-122"/>
              </a:rPr>
              <a:t>System design is the bridge between requirements and implementation—a blue print for what needs to be built. </a:t>
            </a:r>
            <a:r>
              <a:rPr lang="zh-CN" altLang="en-US" sz="2400" dirty="0">
                <a:ea typeface="宋体" panose="02010600030101010101" pitchFamily="2" charset="-122"/>
              </a:rPr>
              <a:t>（系统设计是需求和实现之间的桥梁）</a:t>
            </a:r>
            <a:endParaRPr lang="en-US" altLang="zh-CN" sz="2400" dirty="0">
              <a:ea typeface="宋体" panose="02010600030101010101" pitchFamily="2" charset="-122"/>
            </a:endParaRPr>
          </a:p>
          <a:p>
            <a:pPr eaLnBrk="1" hangingPunct="1">
              <a:spcBef>
                <a:spcPct val="20000"/>
              </a:spcBef>
              <a:buClr>
                <a:schemeClr val="tx2"/>
              </a:buClr>
              <a:buSzPct val="70000"/>
              <a:buFont typeface="Wingdings" panose="05000000000000000000" pitchFamily="2" charset="2"/>
              <a:buChar char="l"/>
            </a:pPr>
            <a:r>
              <a:rPr lang="en-US" altLang="zh-CN" sz="2400" dirty="0">
                <a:ea typeface="宋体" panose="02010600030101010101" pitchFamily="2" charset="-122"/>
              </a:rPr>
              <a:t>Design occurs at two levels: architectural design and detail design. </a:t>
            </a:r>
            <a:r>
              <a:rPr lang="zh-CN" altLang="en-US" sz="2400" dirty="0">
                <a:ea typeface="宋体" panose="02010600030101010101" pitchFamily="2" charset="-122"/>
              </a:rPr>
              <a:t>（设计有两个层次：架构设计和细节设计）</a:t>
            </a:r>
            <a:endParaRPr lang="en-US" altLang="zh-CN" sz="2400" dirty="0">
              <a:ea typeface="宋体" panose="02010600030101010101" pitchFamily="2" charset="-122"/>
            </a:endParaRPr>
          </a:p>
          <a:p>
            <a:pPr eaLnBrk="1" hangingPunct="1">
              <a:spcBef>
                <a:spcPct val="20000"/>
              </a:spcBef>
              <a:buClr>
                <a:schemeClr val="tx2"/>
              </a:buClr>
              <a:buSzPct val="70000"/>
              <a:buFont typeface="Wingdings" panose="05000000000000000000" pitchFamily="2" charset="2"/>
              <a:buChar char="l"/>
            </a:pPr>
            <a:r>
              <a:rPr lang="en-US" altLang="zh-CN" sz="2400" dirty="0">
                <a:ea typeface="宋体" panose="02010600030101010101" pitchFamily="2" charset="-122"/>
              </a:rPr>
              <a:t>Models of the functional requirements (domain model class diagrams, use case diagrams, system sequence diagrams, use case descriptions, state machine diagrams, and activities diagrams) are used as the basis for creating design models.</a:t>
            </a:r>
            <a:r>
              <a:rPr lang="en-US" altLang="zh-CN" sz="2800" dirty="0">
                <a:ea typeface="宋体" panose="02010600030101010101" pitchFamily="2" charset="-122"/>
              </a:rPr>
              <a:t> </a:t>
            </a:r>
            <a:r>
              <a:rPr lang="zh-CN" altLang="en-US" sz="2800" dirty="0">
                <a:ea typeface="宋体" panose="02010600030101010101" pitchFamily="2" charset="-122"/>
              </a:rPr>
              <a:t>（功能需求模型被用作创建设计模型的基础）</a:t>
            </a:r>
            <a:endParaRPr lang="en-US" altLang="zh-CN" sz="2800" dirty="0">
              <a:ea typeface="宋体" panose="02010600030101010101" pitchFamily="2" charset="-122"/>
            </a:endParaRPr>
          </a:p>
        </p:txBody>
      </p:sp>
      <p:sp>
        <p:nvSpPr>
          <p:cNvPr id="46089" name="Footer Placeholder 4">
            <a:extLst>
              <a:ext uri="{FF2B5EF4-FFF2-40B4-BE49-F238E27FC236}">
                <a16:creationId xmlns:a16="http://schemas.microsoft.com/office/drawing/2014/main" id="{E457FEE4-A1F3-4633-A4A6-EFFD302BDA5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46090" name="Rectangle 10">
            <a:extLst>
              <a:ext uri="{FF2B5EF4-FFF2-40B4-BE49-F238E27FC236}">
                <a16:creationId xmlns:a16="http://schemas.microsoft.com/office/drawing/2014/main" id="{2EE00D3E-7FC1-4DFA-9DF1-8E4177EF0C62}"/>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08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608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608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Number Placeholder 5">
            <a:extLst>
              <a:ext uri="{FF2B5EF4-FFF2-40B4-BE49-F238E27FC236}">
                <a16:creationId xmlns:a16="http://schemas.microsoft.com/office/drawing/2014/main" id="{3F887253-83EB-47F5-B9AF-0087E25FDE8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D0559EE-52EB-4BF0-B336-D6E65C1F1C29}" type="slidenum">
              <a:rPr lang="en-US" altLang="en-US"/>
              <a:pPr eaLnBrk="1" hangingPunct="1"/>
              <a:t>88</a:t>
            </a:fld>
            <a:endParaRPr lang="en-US" altLang="en-US"/>
          </a:p>
        </p:txBody>
      </p:sp>
      <p:sp>
        <p:nvSpPr>
          <p:cNvPr id="47107" name="Rectangle 2">
            <a:extLst>
              <a:ext uri="{FF2B5EF4-FFF2-40B4-BE49-F238E27FC236}">
                <a16:creationId xmlns:a16="http://schemas.microsoft.com/office/drawing/2014/main" id="{08007048-C593-4072-8897-74E35CBDF0CF}"/>
              </a:ext>
            </a:extLst>
          </p:cNvPr>
          <p:cNvSpPr>
            <a:spLocks noGrp="1" noChangeArrowheads="1"/>
          </p:cNvSpPr>
          <p:nvPr>
            <p:ph type="title"/>
          </p:nvPr>
        </p:nvSpPr>
        <p:spPr>
          <a:xfrm>
            <a:off x="457200" y="122238"/>
            <a:ext cx="7543800" cy="868362"/>
          </a:xfrm>
        </p:spPr>
        <p:txBody>
          <a:bodyPr/>
          <a:lstStyle/>
          <a:p>
            <a:pPr eaLnBrk="1" hangingPunct="1"/>
            <a:r>
              <a:rPr lang="en-US" altLang="zh-CN">
                <a:ea typeface="宋体" panose="02010600030101010101" pitchFamily="2" charset="-122"/>
              </a:rPr>
              <a:t>Summary </a:t>
            </a:r>
            <a:r>
              <a:rPr lang="en-US" altLang="zh-CN" sz="2800">
                <a:ea typeface="宋体" panose="02010600030101010101" pitchFamily="2" charset="-122"/>
              </a:rPr>
              <a:t>(continued)</a:t>
            </a:r>
          </a:p>
        </p:txBody>
      </p:sp>
      <p:sp>
        <p:nvSpPr>
          <p:cNvPr id="47108" name="Rectangle 3">
            <a:extLst>
              <a:ext uri="{FF2B5EF4-FFF2-40B4-BE49-F238E27FC236}">
                <a16:creationId xmlns:a16="http://schemas.microsoft.com/office/drawing/2014/main" id="{F0EA4E64-1D05-44B2-961C-5C266D8F8F53}"/>
              </a:ext>
            </a:extLst>
          </p:cNvPr>
          <p:cNvSpPr>
            <a:spLocks noGrp="1" noChangeArrowheads="1"/>
          </p:cNvSpPr>
          <p:nvPr>
            <p:ph type="body" idx="1"/>
          </p:nvPr>
        </p:nvSpPr>
        <p:spPr>
          <a:xfrm>
            <a:off x="457200" y="1600200"/>
            <a:ext cx="8229600" cy="4191000"/>
          </a:xfrm>
        </p:spPr>
        <p:txBody>
          <a:bodyPr/>
          <a:lstStyle/>
          <a:p>
            <a:pPr marL="571500" indent="-571500" eaLnBrk="1" hangingPunct="1"/>
            <a:endParaRPr lang="en-GB" altLang="zh-CN" sz="2800"/>
          </a:p>
          <a:p>
            <a:pPr marL="571500" indent="-571500" eaLnBrk="1" hangingPunct="1"/>
            <a:endParaRPr lang="en-GB" altLang="zh-CN" sz="3200"/>
          </a:p>
        </p:txBody>
      </p:sp>
      <p:sp>
        <p:nvSpPr>
          <p:cNvPr id="47109" name="Rectangle 4">
            <a:extLst>
              <a:ext uri="{FF2B5EF4-FFF2-40B4-BE49-F238E27FC236}">
                <a16:creationId xmlns:a16="http://schemas.microsoft.com/office/drawing/2014/main" id="{0453FD31-7234-4A44-9431-1C858AE77588}"/>
              </a:ext>
            </a:extLst>
          </p:cNvPr>
          <p:cNvSpPr>
            <a:spLocks noChangeArrowheads="1"/>
          </p:cNvSpPr>
          <p:nvPr/>
        </p:nvSpPr>
        <p:spPr bwMode="auto">
          <a:xfrm>
            <a:off x="609600" y="1143000"/>
            <a:ext cx="8229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71500" indent="-5715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None/>
            </a:pPr>
            <a:endParaRPr lang="en-GB" altLang="zh-CN" sz="2400"/>
          </a:p>
        </p:txBody>
      </p:sp>
      <p:sp>
        <p:nvSpPr>
          <p:cNvPr id="47110" name="Rectangle 5">
            <a:extLst>
              <a:ext uri="{FF2B5EF4-FFF2-40B4-BE49-F238E27FC236}">
                <a16:creationId xmlns:a16="http://schemas.microsoft.com/office/drawing/2014/main" id="{6A52D49E-699C-4FA2-852B-42B77D1861B6}"/>
              </a:ext>
            </a:extLst>
          </p:cNvPr>
          <p:cNvSpPr>
            <a:spLocks noChangeArrowheads="1"/>
          </p:cNvSpPr>
          <p:nvPr/>
        </p:nvSpPr>
        <p:spPr bwMode="auto">
          <a:xfrm>
            <a:off x="533400" y="1219200"/>
            <a:ext cx="80010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endParaRPr lang="en-GB" altLang="zh-CN" sz="2600"/>
          </a:p>
        </p:txBody>
      </p:sp>
      <p:sp>
        <p:nvSpPr>
          <p:cNvPr id="47111" name="Rectangle 6">
            <a:extLst>
              <a:ext uri="{FF2B5EF4-FFF2-40B4-BE49-F238E27FC236}">
                <a16:creationId xmlns:a16="http://schemas.microsoft.com/office/drawing/2014/main" id="{62CD3BF7-B149-417F-B3A2-FF4E8361DA8A}"/>
              </a:ext>
            </a:extLst>
          </p:cNvPr>
          <p:cNvSpPr>
            <a:spLocks noChangeArrowheads="1"/>
          </p:cNvSpPr>
          <p:nvPr/>
        </p:nvSpPr>
        <p:spPr bwMode="auto">
          <a:xfrm>
            <a:off x="304800" y="1219200"/>
            <a:ext cx="82296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endParaRPr lang="en-GB" altLang="zh-CN" sz="2400" i="1"/>
          </a:p>
        </p:txBody>
      </p:sp>
      <p:sp>
        <p:nvSpPr>
          <p:cNvPr id="47112" name="Rectangle 7">
            <a:extLst>
              <a:ext uri="{FF2B5EF4-FFF2-40B4-BE49-F238E27FC236}">
                <a16:creationId xmlns:a16="http://schemas.microsoft.com/office/drawing/2014/main" id="{7405294A-9433-44C3-B863-312ECCAEDE19}"/>
              </a:ext>
            </a:extLst>
          </p:cNvPr>
          <p:cNvSpPr>
            <a:spLocks noChangeArrowheads="1"/>
          </p:cNvSpPr>
          <p:nvPr/>
        </p:nvSpPr>
        <p:spPr bwMode="auto">
          <a:xfrm>
            <a:off x="457200" y="1219200"/>
            <a:ext cx="81534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r>
              <a:rPr lang="en-US" altLang="zh-CN" sz="2400" dirty="0">
                <a:ea typeface="宋体" panose="02010600030101010101" pitchFamily="2" charset="-122"/>
              </a:rPr>
              <a:t>There are six design activities</a:t>
            </a:r>
            <a:r>
              <a:rPr lang="zh-CN" altLang="en-US" sz="2400" dirty="0">
                <a:ea typeface="宋体" panose="02010600030101010101" pitchFamily="2" charset="-122"/>
              </a:rPr>
              <a:t>（六个设计活动）</a:t>
            </a:r>
            <a:r>
              <a:rPr lang="en-US" altLang="zh-CN" sz="2400" dirty="0">
                <a:ea typeface="宋体" panose="02010600030101010101" pitchFamily="2" charset="-122"/>
              </a:rPr>
              <a:t>: design the </a:t>
            </a:r>
            <a:r>
              <a:rPr lang="en-US" altLang="zh-CN" sz="2400" dirty="0">
                <a:solidFill>
                  <a:srgbClr val="C00000"/>
                </a:solidFill>
                <a:ea typeface="宋体" panose="02010600030101010101" pitchFamily="2" charset="-122"/>
              </a:rPr>
              <a:t>environment</a:t>
            </a:r>
            <a:r>
              <a:rPr lang="en-US" altLang="zh-CN" sz="2400" dirty="0">
                <a:ea typeface="宋体" panose="02010600030101010101" pitchFamily="2" charset="-122"/>
              </a:rPr>
              <a:t>, design the </a:t>
            </a:r>
            <a:r>
              <a:rPr lang="en-US" altLang="zh-CN" sz="2400" dirty="0">
                <a:solidFill>
                  <a:srgbClr val="C00000"/>
                </a:solidFill>
                <a:ea typeface="宋体" panose="02010600030101010101" pitchFamily="2" charset="-122"/>
              </a:rPr>
              <a:t>application architecture and software</a:t>
            </a:r>
            <a:r>
              <a:rPr lang="en-US" altLang="zh-CN" sz="2400" dirty="0">
                <a:ea typeface="宋体" panose="02010600030101010101" pitchFamily="2" charset="-122"/>
              </a:rPr>
              <a:t>, design </a:t>
            </a:r>
            <a:r>
              <a:rPr lang="en-US" altLang="zh-CN" sz="2400" dirty="0">
                <a:solidFill>
                  <a:srgbClr val="C00000"/>
                </a:solidFill>
                <a:ea typeface="宋体" panose="02010600030101010101" pitchFamily="2" charset="-122"/>
              </a:rPr>
              <a:t>user interfaces</a:t>
            </a:r>
            <a:r>
              <a:rPr lang="en-US" altLang="zh-CN" sz="2400" dirty="0">
                <a:ea typeface="宋体" panose="02010600030101010101" pitchFamily="2" charset="-122"/>
              </a:rPr>
              <a:t>, design </a:t>
            </a:r>
            <a:r>
              <a:rPr lang="en-US" altLang="zh-CN" sz="2400" dirty="0">
                <a:solidFill>
                  <a:srgbClr val="C00000"/>
                </a:solidFill>
                <a:ea typeface="宋体" panose="02010600030101010101" pitchFamily="2" charset="-122"/>
              </a:rPr>
              <a:t>system interfaces</a:t>
            </a:r>
            <a:r>
              <a:rPr lang="en-US" altLang="zh-CN" sz="2400" dirty="0">
                <a:ea typeface="宋体" panose="02010600030101010101" pitchFamily="2" charset="-122"/>
              </a:rPr>
              <a:t>, design the </a:t>
            </a:r>
            <a:r>
              <a:rPr lang="en-US" altLang="zh-CN" sz="2400" dirty="0">
                <a:solidFill>
                  <a:srgbClr val="C00000"/>
                </a:solidFill>
                <a:ea typeface="宋体" panose="02010600030101010101" pitchFamily="2" charset="-122"/>
              </a:rPr>
              <a:t>database</a:t>
            </a:r>
            <a:r>
              <a:rPr lang="en-US" altLang="zh-CN" sz="2400" dirty="0">
                <a:ea typeface="宋体" panose="02010600030101010101" pitchFamily="2" charset="-122"/>
              </a:rPr>
              <a:t>, and design </a:t>
            </a:r>
            <a:r>
              <a:rPr lang="en-US" altLang="zh-CN" sz="2400" dirty="0">
                <a:solidFill>
                  <a:srgbClr val="C00000"/>
                </a:solidFill>
                <a:ea typeface="宋体" panose="02010600030101010101" pitchFamily="2" charset="-122"/>
              </a:rPr>
              <a:t>system controls and security</a:t>
            </a:r>
            <a:r>
              <a:rPr lang="en-US" altLang="zh-CN" sz="2400" dirty="0">
                <a:ea typeface="宋体" panose="02010600030101010101" pitchFamily="2" charset="-122"/>
              </a:rPr>
              <a:t>.</a:t>
            </a:r>
            <a:r>
              <a:rPr lang="zh-CN" altLang="en-US" sz="2400" dirty="0">
                <a:ea typeface="宋体" panose="02010600030101010101" pitchFamily="2" charset="-122"/>
              </a:rPr>
              <a:t>（设计环境、设计体系结构和软件、设计用户界面、设计系统界面、设计数据库、设计系统控制和安全性）</a:t>
            </a:r>
            <a:endParaRPr lang="en-US" altLang="zh-CN" sz="2400" dirty="0">
              <a:ea typeface="宋体" panose="02010600030101010101" pitchFamily="2" charset="-122"/>
            </a:endParaRPr>
          </a:p>
          <a:p>
            <a:pPr eaLnBrk="1" hangingPunct="1">
              <a:spcBef>
                <a:spcPct val="20000"/>
              </a:spcBef>
              <a:buClr>
                <a:schemeClr val="tx2"/>
              </a:buClr>
              <a:buSzPct val="70000"/>
              <a:buFont typeface="Wingdings" panose="05000000000000000000" pitchFamily="2" charset="2"/>
              <a:buChar char="l"/>
            </a:pPr>
            <a:r>
              <a:rPr lang="en-US" altLang="zh-CN" sz="2400" dirty="0">
                <a:ea typeface="宋体" panose="02010600030101010101" pitchFamily="2" charset="-122"/>
              </a:rPr>
              <a:t>The first activity, Design the environment, is covered in detail. This includes designing for internal deployment and design for external deployment.</a:t>
            </a:r>
            <a:r>
              <a:rPr lang="zh-CN" altLang="en-US" sz="2400" dirty="0">
                <a:ea typeface="宋体" panose="02010600030101010101" pitchFamily="2" charset="-122"/>
              </a:rPr>
              <a:t>（设计环境包括内部设计和外部设计）</a:t>
            </a:r>
            <a:endParaRPr lang="en-US" altLang="zh-CN" sz="2400" dirty="0">
              <a:ea typeface="宋体" panose="02010600030101010101" pitchFamily="2" charset="-122"/>
            </a:endParaRPr>
          </a:p>
        </p:txBody>
      </p:sp>
      <p:sp>
        <p:nvSpPr>
          <p:cNvPr id="47113" name="Footer Placeholder 4">
            <a:extLst>
              <a:ext uri="{FF2B5EF4-FFF2-40B4-BE49-F238E27FC236}">
                <a16:creationId xmlns:a16="http://schemas.microsoft.com/office/drawing/2014/main" id="{3FDB71E5-E12C-4CD2-A817-A6F8A8C619C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47114" name="Rectangle 10">
            <a:extLst>
              <a:ext uri="{FF2B5EF4-FFF2-40B4-BE49-F238E27FC236}">
                <a16:creationId xmlns:a16="http://schemas.microsoft.com/office/drawing/2014/main" id="{58D34061-D4CD-4471-9FA4-19CF6D51899C}"/>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1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Number Placeholder 5">
            <a:extLst>
              <a:ext uri="{FF2B5EF4-FFF2-40B4-BE49-F238E27FC236}">
                <a16:creationId xmlns:a16="http://schemas.microsoft.com/office/drawing/2014/main" id="{3F887253-83EB-47F5-B9AF-0087E25FDE8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D0559EE-52EB-4BF0-B336-D6E65C1F1C29}" type="slidenum">
              <a:rPr lang="en-US" altLang="en-US"/>
              <a:pPr eaLnBrk="1" hangingPunct="1"/>
              <a:t>89</a:t>
            </a:fld>
            <a:endParaRPr lang="en-US" altLang="en-US"/>
          </a:p>
        </p:txBody>
      </p:sp>
      <p:sp>
        <p:nvSpPr>
          <p:cNvPr id="47107" name="Rectangle 2">
            <a:extLst>
              <a:ext uri="{FF2B5EF4-FFF2-40B4-BE49-F238E27FC236}">
                <a16:creationId xmlns:a16="http://schemas.microsoft.com/office/drawing/2014/main" id="{08007048-C593-4072-8897-74E35CBDF0CF}"/>
              </a:ext>
            </a:extLst>
          </p:cNvPr>
          <p:cNvSpPr>
            <a:spLocks noGrp="1" noChangeArrowheads="1"/>
          </p:cNvSpPr>
          <p:nvPr>
            <p:ph type="title"/>
          </p:nvPr>
        </p:nvSpPr>
        <p:spPr>
          <a:xfrm>
            <a:off x="457200" y="122238"/>
            <a:ext cx="7543800" cy="868362"/>
          </a:xfrm>
        </p:spPr>
        <p:txBody>
          <a:bodyPr/>
          <a:lstStyle/>
          <a:p>
            <a:pPr eaLnBrk="1" hangingPunct="1"/>
            <a:r>
              <a:rPr lang="en-US" altLang="zh-CN">
                <a:ea typeface="宋体" panose="02010600030101010101" pitchFamily="2" charset="-122"/>
              </a:rPr>
              <a:t>Summary </a:t>
            </a:r>
            <a:r>
              <a:rPr lang="en-US" altLang="zh-CN" sz="2800">
                <a:ea typeface="宋体" panose="02010600030101010101" pitchFamily="2" charset="-122"/>
              </a:rPr>
              <a:t>(continued)</a:t>
            </a:r>
          </a:p>
        </p:txBody>
      </p:sp>
      <p:sp>
        <p:nvSpPr>
          <p:cNvPr id="47108" name="Rectangle 3">
            <a:extLst>
              <a:ext uri="{FF2B5EF4-FFF2-40B4-BE49-F238E27FC236}">
                <a16:creationId xmlns:a16="http://schemas.microsoft.com/office/drawing/2014/main" id="{F0EA4E64-1D05-44B2-961C-5C266D8F8F53}"/>
              </a:ext>
            </a:extLst>
          </p:cNvPr>
          <p:cNvSpPr>
            <a:spLocks noGrp="1" noChangeArrowheads="1"/>
          </p:cNvSpPr>
          <p:nvPr>
            <p:ph type="body" idx="1"/>
          </p:nvPr>
        </p:nvSpPr>
        <p:spPr>
          <a:xfrm>
            <a:off x="457200" y="1600200"/>
            <a:ext cx="8229600" cy="4191000"/>
          </a:xfrm>
        </p:spPr>
        <p:txBody>
          <a:bodyPr/>
          <a:lstStyle/>
          <a:p>
            <a:pPr marL="571500" indent="-571500" eaLnBrk="1" hangingPunct="1"/>
            <a:endParaRPr lang="en-GB" altLang="zh-CN" sz="2800"/>
          </a:p>
          <a:p>
            <a:pPr marL="571500" indent="-571500" eaLnBrk="1" hangingPunct="1"/>
            <a:endParaRPr lang="en-GB" altLang="zh-CN" sz="3200"/>
          </a:p>
        </p:txBody>
      </p:sp>
      <p:sp>
        <p:nvSpPr>
          <p:cNvPr id="47109" name="Rectangle 4">
            <a:extLst>
              <a:ext uri="{FF2B5EF4-FFF2-40B4-BE49-F238E27FC236}">
                <a16:creationId xmlns:a16="http://schemas.microsoft.com/office/drawing/2014/main" id="{0453FD31-7234-4A44-9431-1C858AE77588}"/>
              </a:ext>
            </a:extLst>
          </p:cNvPr>
          <p:cNvSpPr>
            <a:spLocks noChangeArrowheads="1"/>
          </p:cNvSpPr>
          <p:nvPr/>
        </p:nvSpPr>
        <p:spPr bwMode="auto">
          <a:xfrm>
            <a:off x="609600" y="1143000"/>
            <a:ext cx="8229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71500" indent="-5715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None/>
            </a:pPr>
            <a:endParaRPr lang="en-GB" altLang="zh-CN" sz="2400"/>
          </a:p>
        </p:txBody>
      </p:sp>
      <p:sp>
        <p:nvSpPr>
          <p:cNvPr id="47110" name="Rectangle 5">
            <a:extLst>
              <a:ext uri="{FF2B5EF4-FFF2-40B4-BE49-F238E27FC236}">
                <a16:creationId xmlns:a16="http://schemas.microsoft.com/office/drawing/2014/main" id="{6A52D49E-699C-4FA2-852B-42B77D1861B6}"/>
              </a:ext>
            </a:extLst>
          </p:cNvPr>
          <p:cNvSpPr>
            <a:spLocks noChangeArrowheads="1"/>
          </p:cNvSpPr>
          <p:nvPr/>
        </p:nvSpPr>
        <p:spPr bwMode="auto">
          <a:xfrm>
            <a:off x="533400" y="1219200"/>
            <a:ext cx="80010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endParaRPr lang="en-GB" altLang="zh-CN" sz="2600"/>
          </a:p>
        </p:txBody>
      </p:sp>
      <p:sp>
        <p:nvSpPr>
          <p:cNvPr id="47111" name="Rectangle 6">
            <a:extLst>
              <a:ext uri="{FF2B5EF4-FFF2-40B4-BE49-F238E27FC236}">
                <a16:creationId xmlns:a16="http://schemas.microsoft.com/office/drawing/2014/main" id="{62CD3BF7-B149-417F-B3A2-FF4E8361DA8A}"/>
              </a:ext>
            </a:extLst>
          </p:cNvPr>
          <p:cNvSpPr>
            <a:spLocks noChangeArrowheads="1"/>
          </p:cNvSpPr>
          <p:nvPr/>
        </p:nvSpPr>
        <p:spPr bwMode="auto">
          <a:xfrm>
            <a:off x="304800" y="1219200"/>
            <a:ext cx="82296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endParaRPr lang="en-GB" altLang="zh-CN" sz="2400" i="1"/>
          </a:p>
        </p:txBody>
      </p:sp>
      <p:sp>
        <p:nvSpPr>
          <p:cNvPr id="47112" name="Rectangle 7">
            <a:extLst>
              <a:ext uri="{FF2B5EF4-FFF2-40B4-BE49-F238E27FC236}">
                <a16:creationId xmlns:a16="http://schemas.microsoft.com/office/drawing/2014/main" id="{7405294A-9433-44C3-B863-312ECCAEDE19}"/>
              </a:ext>
            </a:extLst>
          </p:cNvPr>
          <p:cNvSpPr>
            <a:spLocks noChangeArrowheads="1"/>
          </p:cNvSpPr>
          <p:nvPr/>
        </p:nvSpPr>
        <p:spPr bwMode="auto">
          <a:xfrm>
            <a:off x="457200" y="1219200"/>
            <a:ext cx="81534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r>
              <a:rPr lang="en-US" altLang="zh-CN" sz="2400" dirty="0">
                <a:ea typeface="宋体" panose="02010600030101010101" pitchFamily="2" charset="-122"/>
              </a:rPr>
              <a:t>Important issues are three layer architecture, deploying using the Internet, and hosting alternatives. </a:t>
            </a:r>
            <a:r>
              <a:rPr lang="zh-CN" altLang="en-US" sz="2400" dirty="0">
                <a:ea typeface="宋体" panose="02010600030101010101" pitchFamily="2" charset="-122"/>
              </a:rPr>
              <a:t>（三层体系结构、使用</a:t>
            </a:r>
            <a:r>
              <a:rPr lang="en-US" altLang="zh-CN" sz="2400" dirty="0">
                <a:ea typeface="宋体" panose="02010600030101010101" pitchFamily="2" charset="-122"/>
              </a:rPr>
              <a:t>Internet</a:t>
            </a:r>
            <a:r>
              <a:rPr lang="zh-CN" altLang="en-US" sz="2400" dirty="0">
                <a:ea typeface="宋体" panose="02010600030101010101" pitchFamily="2" charset="-122"/>
              </a:rPr>
              <a:t>部署、托管替代方案）</a:t>
            </a:r>
            <a:endParaRPr lang="en-US" altLang="zh-CN" sz="2400" dirty="0">
              <a:ea typeface="宋体" panose="02010600030101010101" pitchFamily="2" charset="-122"/>
            </a:endParaRPr>
          </a:p>
          <a:p>
            <a:pPr eaLnBrk="1" hangingPunct="1">
              <a:spcBef>
                <a:spcPct val="20000"/>
              </a:spcBef>
              <a:buClr>
                <a:schemeClr val="tx2"/>
              </a:buClr>
              <a:buSzPct val="70000"/>
              <a:buFont typeface="Wingdings" panose="05000000000000000000" pitchFamily="2" charset="2"/>
              <a:buChar char="l"/>
            </a:pPr>
            <a:r>
              <a:rPr lang="en-US" altLang="zh-CN" sz="2400" dirty="0">
                <a:ea typeface="宋体" panose="02010600030101010101" pitchFamily="2" charset="-122"/>
              </a:rPr>
              <a:t>Hosting alternatives include colocation, managed services, virtual servers, and cloud computing.</a:t>
            </a:r>
            <a:r>
              <a:rPr lang="zh-CN" altLang="en-US" sz="2400">
                <a:ea typeface="宋体" panose="02010600030101010101" pitchFamily="2" charset="-122"/>
              </a:rPr>
              <a:t>（托管替代方案包括主机托管、托管服务、虚拟服务器和云计算）</a:t>
            </a:r>
            <a:endParaRPr lang="en-US" altLang="zh-CN" sz="2400" dirty="0">
              <a:ea typeface="宋体" panose="02010600030101010101" pitchFamily="2" charset="-122"/>
            </a:endParaRPr>
          </a:p>
        </p:txBody>
      </p:sp>
      <p:sp>
        <p:nvSpPr>
          <p:cNvPr id="47113" name="Footer Placeholder 4">
            <a:extLst>
              <a:ext uri="{FF2B5EF4-FFF2-40B4-BE49-F238E27FC236}">
                <a16:creationId xmlns:a16="http://schemas.microsoft.com/office/drawing/2014/main" id="{3FDB71E5-E12C-4CD2-A817-A6F8A8C619C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47114" name="Rectangle 10">
            <a:extLst>
              <a:ext uri="{FF2B5EF4-FFF2-40B4-BE49-F238E27FC236}">
                <a16:creationId xmlns:a16="http://schemas.microsoft.com/office/drawing/2014/main" id="{58D34061-D4CD-4471-9FA4-19CF6D51899C}"/>
              </a:ext>
            </a:extLst>
          </p:cNvPr>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extLst>
      <p:ext uri="{BB962C8B-B14F-4D97-AF65-F5344CB8AC3E}">
        <p14:creationId xmlns:p14="http://schemas.microsoft.com/office/powerpoint/2010/main" val="3792642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1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1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Network">
  <a:themeElements>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Network">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Capsules</Template>
  <TotalTime>7477</TotalTime>
  <Words>13333</Words>
  <Application>Microsoft Office PowerPoint</Application>
  <PresentationFormat>全屏显示(4:3)</PresentationFormat>
  <Paragraphs>1246</Paragraphs>
  <Slides>89</Slides>
  <Notes>88</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89</vt:i4>
      </vt:variant>
    </vt:vector>
  </HeadingPairs>
  <TitlesOfParts>
    <vt:vector size="99" baseType="lpstr">
      <vt:lpstr>Monotype Sorts</vt:lpstr>
      <vt:lpstr>PingFang SC</vt:lpstr>
      <vt:lpstr>黑体</vt:lpstr>
      <vt:lpstr>经典宋体简</vt:lpstr>
      <vt:lpstr>宋体</vt:lpstr>
      <vt:lpstr>幼圆</vt:lpstr>
      <vt:lpstr>Arial</vt:lpstr>
      <vt:lpstr>Times New Roman</vt:lpstr>
      <vt:lpstr>Wingdings</vt:lpstr>
      <vt:lpstr>Network</vt:lpstr>
      <vt:lpstr>PowerPoint 演示文稿</vt:lpstr>
      <vt:lpstr>Essentials of Design and the Design Activities</vt:lpstr>
      <vt:lpstr>Chapter 6 Outline</vt:lpstr>
      <vt:lpstr>Learning Objectives</vt:lpstr>
      <vt:lpstr>Chapter 6 Outline</vt:lpstr>
      <vt:lpstr>Overview</vt:lpstr>
      <vt:lpstr>Overview</vt:lpstr>
      <vt:lpstr>系统设计</vt:lpstr>
      <vt:lpstr>系统设计过程</vt:lpstr>
      <vt:lpstr>系统设计方法</vt:lpstr>
      <vt:lpstr>设计原理</vt:lpstr>
      <vt:lpstr>设计原理</vt:lpstr>
      <vt:lpstr>设计原理</vt:lpstr>
      <vt:lpstr>设计原理</vt:lpstr>
      <vt:lpstr>设计原理</vt:lpstr>
      <vt:lpstr>设计原理</vt:lpstr>
      <vt:lpstr>设计原理</vt:lpstr>
      <vt:lpstr>设计原理</vt:lpstr>
      <vt:lpstr>设计原理</vt:lpstr>
      <vt:lpstr>设计原理</vt:lpstr>
      <vt:lpstr>设计原理</vt:lpstr>
      <vt:lpstr>设计原理</vt:lpstr>
      <vt:lpstr>设计原理</vt:lpstr>
      <vt:lpstr>设计原理</vt:lpstr>
      <vt:lpstr>设计原理</vt:lpstr>
      <vt:lpstr>设计原理</vt:lpstr>
      <vt:lpstr>启发规则</vt:lpstr>
      <vt:lpstr>启发规则</vt:lpstr>
      <vt:lpstr>启发规则</vt:lpstr>
      <vt:lpstr>Chapter 6 Outline</vt:lpstr>
      <vt:lpstr>Analysis Objectives versus Design Objectives</vt:lpstr>
      <vt:lpstr>Analysis vs. Design Models</vt:lpstr>
      <vt:lpstr>Chapter 6 Outline</vt:lpstr>
      <vt:lpstr>Two Levels of Design</vt:lpstr>
      <vt:lpstr>Two Levels of Design</vt:lpstr>
      <vt:lpstr>PowerPoint 演示文稿</vt:lpstr>
      <vt:lpstr>总体设计</vt:lpstr>
      <vt:lpstr>总体设计</vt:lpstr>
      <vt:lpstr>详细设计-设计活动</vt:lpstr>
      <vt:lpstr>Design Activities and Key Question （设计活动和关键问题）</vt:lpstr>
      <vt:lpstr>Design Activities:设计活动 Design the environment 设计环境</vt:lpstr>
      <vt:lpstr>Design Activities: Design the application architecture and software 设计软件结构</vt:lpstr>
      <vt:lpstr>Design Class Diagram    Detail design for two use cases: Process New Sale （处理新订单） Make payment （付款）</vt:lpstr>
      <vt:lpstr>Design Activities: Design the system interfaces设计系统界面</vt:lpstr>
      <vt:lpstr>System to system interface using XML</vt:lpstr>
      <vt:lpstr>Design Activities:设计活动 Design the user interfaces设计用户界面</vt:lpstr>
      <vt:lpstr>Design Activities: Design the database设计数据库</vt:lpstr>
      <vt:lpstr>Design Activities: Design the database设计数据库</vt:lpstr>
      <vt:lpstr>Database Table Definition Using mySQL</vt:lpstr>
      <vt:lpstr>Design Activities: Design the security and system controls （设计安全和系统控制）</vt:lpstr>
      <vt:lpstr>Chapter 6 Outline</vt:lpstr>
      <vt:lpstr>Design the Environment The design activity now in more detail （内部部署设计）</vt:lpstr>
      <vt:lpstr>Design the Environment The design activity now in more detail</vt:lpstr>
      <vt:lpstr>Network Diagram Internal Network System 内部网络系统的网络图</vt:lpstr>
      <vt:lpstr>Internal Network Terminology</vt:lpstr>
      <vt:lpstr>Internal Network Terminology</vt:lpstr>
      <vt:lpstr>Design the Environment The design activity now in more detail</vt:lpstr>
      <vt:lpstr>Three Layer Architecture</vt:lpstr>
      <vt:lpstr>Abstract Three Layer Architecture</vt:lpstr>
      <vt:lpstr>Internal Deployment with Three Layer Architecture</vt:lpstr>
      <vt:lpstr>Design the Environment (continued)</vt:lpstr>
      <vt:lpstr>Configuration for Internet Deployment</vt:lpstr>
      <vt:lpstr>Configuration for Internet Deployment</vt:lpstr>
      <vt:lpstr>Configuration for Internet Deployment</vt:lpstr>
      <vt:lpstr>Configuration for Internet Deployment</vt:lpstr>
      <vt:lpstr>PowerPoint 演示文稿</vt:lpstr>
      <vt:lpstr>Design the Environment (continued)</vt:lpstr>
      <vt:lpstr>Hosting Alternatives for Internet Deployment</vt:lpstr>
      <vt:lpstr>Hosting Alternatives for Internet Deployment (continued)</vt:lpstr>
      <vt:lpstr>Hosting Alternatives for Internet Deployment (continued)</vt:lpstr>
      <vt:lpstr>Hosting Alternatives for Internet Deployment (continued)</vt:lpstr>
      <vt:lpstr>Hosting Alternatives for Internet Deployment (continued)</vt:lpstr>
      <vt:lpstr>Hosting Alternatives for Internet Deployment (continued)</vt:lpstr>
      <vt:lpstr>Hosting Alternatives for Internet Deployment (continued)</vt:lpstr>
      <vt:lpstr>Hosting Alternatives for Internet Deployment (continued)</vt:lpstr>
      <vt:lpstr>Design the Environment (continued)</vt:lpstr>
      <vt:lpstr>Diversity of Client Devices with Internet Deployment</vt:lpstr>
      <vt:lpstr>Design for Remote, Distributed Environment</vt:lpstr>
      <vt:lpstr>Virtual Private Network (VPN)</vt:lpstr>
      <vt:lpstr>RMO Technology Architecture:  Lots of locations: Need carefully designed remote access （多地点办公）</vt:lpstr>
      <vt:lpstr>RMO’s Current Technology Architecture</vt:lpstr>
      <vt:lpstr>RMO’s Current Technology Architecture</vt:lpstr>
      <vt:lpstr>RMO’s Current Technology Architecture</vt:lpstr>
      <vt:lpstr>RMO’s Current Technology Architecture</vt:lpstr>
      <vt:lpstr>RMO’s Current Technology Architecture</vt:lpstr>
      <vt:lpstr>RMO’s Current Technology Architecture</vt:lpstr>
      <vt:lpstr>Summary</vt:lpstr>
      <vt:lpstr>Summary (continued)</vt:lpstr>
      <vt:lpstr>Summary (continued)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From bla to bla</dc:title>
  <dc:creator>John</dc:creator>
  <cp:lastModifiedBy>钊源 张</cp:lastModifiedBy>
  <cp:revision>229</cp:revision>
  <cp:lastPrinted>1601-01-01T00:00:00Z</cp:lastPrinted>
  <dcterms:created xsi:type="dcterms:W3CDTF">2011-10-31T16:54:53Z</dcterms:created>
  <dcterms:modified xsi:type="dcterms:W3CDTF">2026-05-28T15:54:28Z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4</vt:i4>
  </property>
</Properties>
</file>