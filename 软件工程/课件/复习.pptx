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8"/>
  </p:notesMasterIdLst>
  <p:sldIdLst>
    <p:sldId id="256" r:id="rId2"/>
    <p:sldId id="577" r:id="rId3"/>
    <p:sldId id="572" r:id="rId4"/>
    <p:sldId id="573" r:id="rId5"/>
    <p:sldId id="575" r:id="rId6"/>
    <p:sldId id="263" r:id="rId7"/>
    <p:sldId id="264" r:id="rId8"/>
    <p:sldId id="578" r:id="rId9"/>
    <p:sldId id="579" r:id="rId10"/>
    <p:sldId id="580" r:id="rId11"/>
    <p:sldId id="613" r:id="rId12"/>
    <p:sldId id="614" r:id="rId13"/>
    <p:sldId id="615" r:id="rId14"/>
    <p:sldId id="574" r:id="rId15"/>
    <p:sldId id="592" r:id="rId16"/>
    <p:sldId id="606" r:id="rId17"/>
    <p:sldId id="607" r:id="rId18"/>
    <p:sldId id="610" r:id="rId19"/>
    <p:sldId id="581" r:id="rId20"/>
    <p:sldId id="618" r:id="rId21"/>
    <p:sldId id="582" r:id="rId22"/>
    <p:sldId id="591" r:id="rId23"/>
    <p:sldId id="617" r:id="rId24"/>
    <p:sldId id="616" r:id="rId25"/>
    <p:sldId id="678" r:id="rId26"/>
    <p:sldId id="576" r:id="rId27"/>
    <p:sldId id="583" r:id="rId28"/>
    <p:sldId id="584" r:id="rId29"/>
    <p:sldId id="585" r:id="rId30"/>
    <p:sldId id="586" r:id="rId31"/>
    <p:sldId id="587" r:id="rId32"/>
    <p:sldId id="588" r:id="rId33"/>
    <p:sldId id="279" r:id="rId34"/>
    <p:sldId id="589" r:id="rId35"/>
    <p:sldId id="590" r:id="rId36"/>
    <p:sldId id="619" r:id="rId37"/>
    <p:sldId id="620" r:id="rId38"/>
    <p:sldId id="621" r:id="rId39"/>
    <p:sldId id="622" r:id="rId40"/>
    <p:sldId id="623" r:id="rId41"/>
    <p:sldId id="611" r:id="rId42"/>
    <p:sldId id="624" r:id="rId43"/>
    <p:sldId id="625" r:id="rId44"/>
    <p:sldId id="626" r:id="rId45"/>
    <p:sldId id="627" r:id="rId46"/>
    <p:sldId id="628" r:id="rId47"/>
    <p:sldId id="551" r:id="rId48"/>
    <p:sldId id="630" r:id="rId49"/>
    <p:sldId id="653" r:id="rId50"/>
    <p:sldId id="632" r:id="rId51"/>
    <p:sldId id="633" r:id="rId52"/>
    <p:sldId id="634" r:id="rId53"/>
    <p:sldId id="635" r:id="rId54"/>
    <p:sldId id="636" r:id="rId55"/>
    <p:sldId id="637" r:id="rId56"/>
    <p:sldId id="638" r:id="rId57"/>
    <p:sldId id="639" r:id="rId58"/>
    <p:sldId id="640" r:id="rId59"/>
    <p:sldId id="641" r:id="rId60"/>
    <p:sldId id="646" r:id="rId61"/>
    <p:sldId id="647" r:id="rId62"/>
    <p:sldId id="642" r:id="rId63"/>
    <p:sldId id="648" r:id="rId64"/>
    <p:sldId id="649" r:id="rId65"/>
    <p:sldId id="650" r:id="rId66"/>
    <p:sldId id="651" r:id="rId67"/>
    <p:sldId id="643" r:id="rId68"/>
    <p:sldId id="644" r:id="rId69"/>
    <p:sldId id="654" r:id="rId70"/>
    <p:sldId id="652" r:id="rId71"/>
    <p:sldId id="629" r:id="rId72"/>
    <p:sldId id="325" r:id="rId73"/>
    <p:sldId id="555" r:id="rId74"/>
    <p:sldId id="556" r:id="rId75"/>
    <p:sldId id="558" r:id="rId76"/>
    <p:sldId id="655" r:id="rId77"/>
    <p:sldId id="552" r:id="rId78"/>
    <p:sldId id="554" r:id="rId79"/>
    <p:sldId id="267" r:id="rId80"/>
    <p:sldId id="368" r:id="rId81"/>
    <p:sldId id="357" r:id="rId82"/>
    <p:sldId id="358" r:id="rId83"/>
    <p:sldId id="699" r:id="rId84"/>
    <p:sldId id="701" r:id="rId85"/>
    <p:sldId id="268" r:id="rId86"/>
    <p:sldId id="657" r:id="rId87"/>
    <p:sldId id="269" r:id="rId88"/>
    <p:sldId id="377" r:id="rId89"/>
    <p:sldId id="378" r:id="rId90"/>
    <p:sldId id="380" r:id="rId91"/>
    <p:sldId id="381" r:id="rId92"/>
    <p:sldId id="548" r:id="rId93"/>
    <p:sldId id="270" r:id="rId94"/>
    <p:sldId id="658" r:id="rId95"/>
    <p:sldId id="661" r:id="rId96"/>
    <p:sldId id="662" r:id="rId97"/>
    <p:sldId id="663" r:id="rId98"/>
    <p:sldId id="664" r:id="rId99"/>
    <p:sldId id="665" r:id="rId100"/>
    <p:sldId id="403" r:id="rId101"/>
    <p:sldId id="271" r:id="rId102"/>
    <p:sldId id="666" r:id="rId103"/>
    <p:sldId id="690" r:id="rId104"/>
    <p:sldId id="691" r:id="rId105"/>
    <p:sldId id="692" r:id="rId106"/>
    <p:sldId id="693" r:id="rId107"/>
    <p:sldId id="694" r:id="rId108"/>
    <p:sldId id="695" r:id="rId109"/>
    <p:sldId id="696" r:id="rId110"/>
    <p:sldId id="697" r:id="rId111"/>
    <p:sldId id="673" r:id="rId112"/>
    <p:sldId id="667" r:id="rId113"/>
    <p:sldId id="676" r:id="rId114"/>
    <p:sldId id="679" r:id="rId115"/>
    <p:sldId id="680" r:id="rId116"/>
    <p:sldId id="698" r:id="rId117"/>
    <p:sldId id="700" r:id="rId118"/>
    <p:sldId id="596" r:id="rId119"/>
    <p:sldId id="683" r:id="rId120"/>
    <p:sldId id="685" r:id="rId121"/>
    <p:sldId id="689" r:id="rId122"/>
    <p:sldId id="660" r:id="rId123"/>
    <p:sldId id="686" r:id="rId124"/>
    <p:sldId id="687" r:id="rId125"/>
    <p:sldId id="929" r:id="rId126"/>
    <p:sldId id="479" r:id="rId127"/>
    <p:sldId id="947" r:id="rId128"/>
    <p:sldId id="928" r:id="rId129"/>
    <p:sldId id="948" r:id="rId130"/>
    <p:sldId id="702" r:id="rId131"/>
    <p:sldId id="703" r:id="rId132"/>
    <p:sldId id="562" r:id="rId133"/>
    <p:sldId id="563" r:id="rId134"/>
    <p:sldId id="704" r:id="rId135"/>
    <p:sldId id="705" r:id="rId136"/>
    <p:sldId id="706" r:id="rId137"/>
    <p:sldId id="707" r:id="rId138"/>
    <p:sldId id="708" r:id="rId139"/>
    <p:sldId id="273" r:id="rId140"/>
    <p:sldId id="925" r:id="rId141"/>
    <p:sldId id="924" r:id="rId142"/>
    <p:sldId id="878" r:id="rId143"/>
    <p:sldId id="879" r:id="rId144"/>
    <p:sldId id="880" r:id="rId145"/>
    <p:sldId id="919" r:id="rId146"/>
    <p:sldId id="926" r:id="rId147"/>
    <p:sldId id="275" r:id="rId148"/>
    <p:sldId id="564" r:id="rId149"/>
    <p:sldId id="274" r:id="rId150"/>
    <p:sldId id="571" r:id="rId151"/>
    <p:sldId id="276" r:id="rId152"/>
    <p:sldId id="277" r:id="rId153"/>
    <p:sldId id="608" r:id="rId154"/>
    <p:sldId id="934" r:id="rId155"/>
    <p:sldId id="936" r:id="rId156"/>
    <p:sldId id="931" r:id="rId157"/>
    <p:sldId id="674" r:id="rId158"/>
    <p:sldId id="941" r:id="rId159"/>
    <p:sldId id="945" r:id="rId160"/>
    <p:sldId id="946" r:id="rId161"/>
    <p:sldId id="949" r:id="rId162"/>
    <p:sldId id="675" r:id="rId163"/>
    <p:sldId id="684" r:id="rId164"/>
    <p:sldId id="932" r:id="rId165"/>
    <p:sldId id="955" r:id="rId166"/>
    <p:sldId id="927" r:id="rId167"/>
    <p:sldId id="278" r:id="rId168"/>
    <p:sldId id="541" r:id="rId169"/>
    <p:sldId id="529" r:id="rId170"/>
    <p:sldId id="530" r:id="rId171"/>
    <p:sldId id="525" r:id="rId172"/>
    <p:sldId id="524" r:id="rId173"/>
    <p:sldId id="523" r:id="rId174"/>
    <p:sldId id="952" r:id="rId175"/>
    <p:sldId id="953" r:id="rId176"/>
    <p:sldId id="954" r:id="rId177"/>
    <p:sldId id="262" r:id="rId178"/>
    <p:sldId id="543" r:id="rId179"/>
    <p:sldId id="513" r:id="rId180"/>
    <p:sldId id="514" r:id="rId181"/>
    <p:sldId id="515" r:id="rId182"/>
    <p:sldId id="516" r:id="rId183"/>
    <p:sldId id="517" r:id="rId184"/>
    <p:sldId id="1009" r:id="rId185"/>
    <p:sldId id="1010" r:id="rId186"/>
    <p:sldId id="1012" r:id="rId187"/>
    <p:sldId id="1013" r:id="rId188"/>
    <p:sldId id="1014" r:id="rId189"/>
    <p:sldId id="1015" r:id="rId190"/>
    <p:sldId id="1024" r:id="rId191"/>
    <p:sldId id="1025" r:id="rId192"/>
    <p:sldId id="1026" r:id="rId193"/>
    <p:sldId id="1027" r:id="rId194"/>
    <p:sldId id="1028" r:id="rId195"/>
    <p:sldId id="528" r:id="rId196"/>
    <p:sldId id="1030" r:id="rId197"/>
    <p:sldId id="1031" r:id="rId198"/>
    <p:sldId id="1033" r:id="rId199"/>
    <p:sldId id="531" r:id="rId200"/>
    <p:sldId id="532" r:id="rId201"/>
    <p:sldId id="533" r:id="rId202"/>
    <p:sldId id="544" r:id="rId203"/>
    <p:sldId id="545" r:id="rId204"/>
    <p:sldId id="546" r:id="rId205"/>
    <p:sldId id="1055" r:id="rId206"/>
    <p:sldId id="1056" r:id="rId207"/>
    <p:sldId id="1057" r:id="rId208"/>
    <p:sldId id="1059" r:id="rId209"/>
    <p:sldId id="547" r:id="rId210"/>
    <p:sldId id="1060" r:id="rId211"/>
    <p:sldId id="1061" r:id="rId212"/>
    <p:sldId id="1095" r:id="rId213"/>
    <p:sldId id="930" r:id="rId214"/>
    <p:sldId id="668" r:id="rId215"/>
    <p:sldId id="605" r:id="rId216"/>
    <p:sldId id="669" r:id="rId217"/>
    <p:sldId id="670" r:id="rId218"/>
    <p:sldId id="671" r:id="rId219"/>
    <p:sldId id="672" r:id="rId220"/>
    <p:sldId id="603" r:id="rId221"/>
    <p:sldId id="937" r:id="rId222"/>
    <p:sldId id="938" r:id="rId223"/>
    <p:sldId id="940" r:id="rId224"/>
    <p:sldId id="677" r:id="rId225"/>
    <p:sldId id="600" r:id="rId226"/>
    <p:sldId id="942" r:id="rId227"/>
    <p:sldId id="943" r:id="rId228"/>
    <p:sldId id="944" r:id="rId229"/>
    <p:sldId id="950" r:id="rId230"/>
    <p:sldId id="951" r:id="rId231"/>
    <p:sldId id="959" r:id="rId232"/>
    <p:sldId id="956" r:id="rId233"/>
    <p:sldId id="957" r:id="rId234"/>
    <p:sldId id="604" r:id="rId235"/>
    <p:sldId id="958" r:id="rId236"/>
    <p:sldId id="682" r:id="rId2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BBAF3CBA-895B-4A52-9F2E-9185F39244D3}">
          <p14:sldIdLst>
            <p14:sldId id="256"/>
          </p14:sldIdLst>
        </p14:section>
        <p14:section name="绪论" id="{5589A6EE-C8CF-4B03-9F9F-5B4C1431A568}">
          <p14:sldIdLst>
            <p14:sldId id="577"/>
            <p14:sldId id="572"/>
            <p14:sldId id="573"/>
            <p14:sldId id="575"/>
            <p14:sldId id="263"/>
            <p14:sldId id="264"/>
            <p14:sldId id="578"/>
            <p14:sldId id="579"/>
            <p14:sldId id="580"/>
            <p14:sldId id="613"/>
            <p14:sldId id="614"/>
            <p14:sldId id="615"/>
            <p14:sldId id="574"/>
            <p14:sldId id="592"/>
            <p14:sldId id="606"/>
            <p14:sldId id="607"/>
            <p14:sldId id="610"/>
            <p14:sldId id="581"/>
            <p14:sldId id="618"/>
            <p14:sldId id="582"/>
            <p14:sldId id="591"/>
            <p14:sldId id="617"/>
            <p14:sldId id="616"/>
            <p14:sldId id="678"/>
            <p14:sldId id="576"/>
          </p14:sldIdLst>
        </p14:section>
        <p14:section name="项目立项" id="{27923C86-2218-48B3-96D8-AD7DAB023767}">
          <p14:sldIdLst>
            <p14:sldId id="583"/>
            <p14:sldId id="584"/>
            <p14:sldId id="585"/>
            <p14:sldId id="586"/>
            <p14:sldId id="587"/>
            <p14:sldId id="588"/>
            <p14:sldId id="279"/>
            <p14:sldId id="589"/>
            <p14:sldId id="590"/>
            <p14:sldId id="619"/>
            <p14:sldId id="620"/>
            <p14:sldId id="621"/>
            <p14:sldId id="622"/>
            <p14:sldId id="623"/>
          </p14:sldIdLst>
        </p14:section>
        <p14:section name="需求分析" id="{50A093EB-832C-42D7-A9C2-5C5754D20481}">
          <p14:sldIdLst>
            <p14:sldId id="611"/>
            <p14:sldId id="624"/>
            <p14:sldId id="625"/>
            <p14:sldId id="626"/>
            <p14:sldId id="627"/>
            <p14:sldId id="628"/>
            <p14:sldId id="551"/>
            <p14:sldId id="630"/>
            <p14:sldId id="653"/>
            <p14:sldId id="632"/>
            <p14:sldId id="633"/>
            <p14:sldId id="634"/>
            <p14:sldId id="635"/>
            <p14:sldId id="636"/>
            <p14:sldId id="637"/>
            <p14:sldId id="638"/>
            <p14:sldId id="639"/>
            <p14:sldId id="640"/>
            <p14:sldId id="641"/>
            <p14:sldId id="646"/>
            <p14:sldId id="647"/>
            <p14:sldId id="642"/>
            <p14:sldId id="648"/>
            <p14:sldId id="649"/>
            <p14:sldId id="650"/>
            <p14:sldId id="651"/>
            <p14:sldId id="643"/>
            <p14:sldId id="644"/>
            <p14:sldId id="654"/>
            <p14:sldId id="652"/>
            <p14:sldId id="629"/>
            <p14:sldId id="325"/>
            <p14:sldId id="555"/>
            <p14:sldId id="556"/>
            <p14:sldId id="558"/>
            <p14:sldId id="655"/>
            <p14:sldId id="552"/>
            <p14:sldId id="554"/>
            <p14:sldId id="267"/>
            <p14:sldId id="368"/>
            <p14:sldId id="357"/>
            <p14:sldId id="358"/>
            <p14:sldId id="699"/>
            <p14:sldId id="701"/>
            <p14:sldId id="268"/>
            <p14:sldId id="657"/>
            <p14:sldId id="269"/>
            <p14:sldId id="377"/>
            <p14:sldId id="378"/>
            <p14:sldId id="380"/>
            <p14:sldId id="381"/>
            <p14:sldId id="548"/>
            <p14:sldId id="270"/>
            <p14:sldId id="658"/>
            <p14:sldId id="661"/>
            <p14:sldId id="662"/>
            <p14:sldId id="663"/>
            <p14:sldId id="664"/>
            <p14:sldId id="665"/>
            <p14:sldId id="403"/>
            <p14:sldId id="271"/>
            <p14:sldId id="666"/>
            <p14:sldId id="690"/>
            <p14:sldId id="691"/>
            <p14:sldId id="692"/>
            <p14:sldId id="693"/>
            <p14:sldId id="694"/>
            <p14:sldId id="695"/>
            <p14:sldId id="696"/>
            <p14:sldId id="697"/>
            <p14:sldId id="673"/>
            <p14:sldId id="667"/>
            <p14:sldId id="676"/>
            <p14:sldId id="679"/>
            <p14:sldId id="680"/>
            <p14:sldId id="698"/>
            <p14:sldId id="700"/>
            <p14:sldId id="596"/>
            <p14:sldId id="683"/>
            <p14:sldId id="685"/>
            <p14:sldId id="689"/>
          </p14:sldIdLst>
        </p14:section>
        <p14:section name="系统设计" id="{EAC8E88E-3A4C-44AF-8338-6769A16037B1}">
          <p14:sldIdLst>
            <p14:sldId id="660"/>
            <p14:sldId id="686"/>
            <p14:sldId id="687"/>
            <p14:sldId id="929"/>
            <p14:sldId id="479"/>
            <p14:sldId id="947"/>
            <p14:sldId id="928"/>
            <p14:sldId id="948"/>
            <p14:sldId id="702"/>
            <p14:sldId id="703"/>
            <p14:sldId id="562"/>
            <p14:sldId id="563"/>
            <p14:sldId id="704"/>
            <p14:sldId id="705"/>
            <p14:sldId id="706"/>
            <p14:sldId id="707"/>
            <p14:sldId id="708"/>
            <p14:sldId id="273"/>
            <p14:sldId id="925"/>
            <p14:sldId id="924"/>
            <p14:sldId id="878"/>
            <p14:sldId id="879"/>
            <p14:sldId id="880"/>
            <p14:sldId id="919"/>
            <p14:sldId id="926"/>
            <p14:sldId id="275"/>
            <p14:sldId id="564"/>
            <p14:sldId id="274"/>
            <p14:sldId id="571"/>
            <p14:sldId id="276"/>
            <p14:sldId id="277"/>
            <p14:sldId id="608"/>
            <p14:sldId id="934"/>
            <p14:sldId id="936"/>
            <p14:sldId id="931"/>
            <p14:sldId id="674"/>
            <p14:sldId id="941"/>
            <p14:sldId id="945"/>
            <p14:sldId id="946"/>
            <p14:sldId id="949"/>
            <p14:sldId id="675"/>
            <p14:sldId id="684"/>
            <p14:sldId id="932"/>
            <p14:sldId id="955"/>
          </p14:sldIdLst>
        </p14:section>
        <p14:section name="实现" id="{EC1921C4-8255-4353-BEDA-7298F8CC72CA}">
          <p14:sldIdLst>
            <p14:sldId id="927"/>
            <p14:sldId id="278"/>
            <p14:sldId id="541"/>
            <p14:sldId id="529"/>
            <p14:sldId id="530"/>
            <p14:sldId id="525"/>
            <p14:sldId id="524"/>
            <p14:sldId id="523"/>
            <p14:sldId id="952"/>
            <p14:sldId id="953"/>
            <p14:sldId id="954"/>
          </p14:sldIdLst>
        </p14:section>
        <p14:section name="测试" id="{F00C3CEA-0485-469E-B9B9-2850A99AB44A}">
          <p14:sldIdLst>
            <p14:sldId id="262"/>
            <p14:sldId id="543"/>
            <p14:sldId id="513"/>
            <p14:sldId id="514"/>
            <p14:sldId id="515"/>
            <p14:sldId id="516"/>
            <p14:sldId id="517"/>
            <p14:sldId id="1009"/>
            <p14:sldId id="1010"/>
            <p14:sldId id="1012"/>
            <p14:sldId id="1013"/>
            <p14:sldId id="1014"/>
            <p14:sldId id="1015"/>
            <p14:sldId id="1024"/>
            <p14:sldId id="1025"/>
            <p14:sldId id="1026"/>
            <p14:sldId id="1027"/>
            <p14:sldId id="1028"/>
            <p14:sldId id="528"/>
            <p14:sldId id="1030"/>
            <p14:sldId id="1031"/>
            <p14:sldId id="1033"/>
            <p14:sldId id="531"/>
            <p14:sldId id="532"/>
            <p14:sldId id="533"/>
            <p14:sldId id="544"/>
            <p14:sldId id="545"/>
            <p14:sldId id="546"/>
            <p14:sldId id="1055"/>
            <p14:sldId id="1056"/>
            <p14:sldId id="1057"/>
            <p14:sldId id="1059"/>
            <p14:sldId id="547"/>
            <p14:sldId id="1060"/>
            <p14:sldId id="1061"/>
            <p14:sldId id="1095"/>
            <p14:sldId id="930"/>
            <p14:sldId id="668"/>
            <p14:sldId id="605"/>
            <p14:sldId id="669"/>
            <p14:sldId id="670"/>
            <p14:sldId id="671"/>
            <p14:sldId id="672"/>
            <p14:sldId id="603"/>
            <p14:sldId id="937"/>
            <p14:sldId id="938"/>
            <p14:sldId id="940"/>
            <p14:sldId id="677"/>
            <p14:sldId id="600"/>
            <p14:sldId id="942"/>
            <p14:sldId id="943"/>
            <p14:sldId id="944"/>
            <p14:sldId id="950"/>
            <p14:sldId id="951"/>
            <p14:sldId id="959"/>
            <p14:sldId id="956"/>
            <p14:sldId id="957"/>
            <p14:sldId id="604"/>
            <p14:sldId id="958"/>
            <p14:sldId id="6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9354"/>
    <a:srgbClr val="6062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43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notesMaster" Target="notesMasters/notesMaster1.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presProps" Target="presProps.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viewProps" Target="viewProps.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tableStyles" Target="tableStyles.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F4CDA1-89A0-4004-810E-8A5484CEDDE3}" type="datetimeFigureOut">
              <a:rPr lang="zh-CN" altLang="en-US" smtClean="0"/>
              <a:t>2026/6/10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08D2EF-F3E6-42C1-A0D2-4F06E3039716}" type="slidenum">
              <a:rPr lang="zh-CN" altLang="en-US" smtClean="0"/>
              <a:t>‹#›</a:t>
            </a:fld>
            <a:endParaRPr lang="zh-CN" altLang="en-US"/>
          </a:p>
        </p:txBody>
      </p:sp>
    </p:spTree>
    <p:extLst>
      <p:ext uri="{BB962C8B-B14F-4D97-AF65-F5344CB8AC3E}">
        <p14:creationId xmlns:p14="http://schemas.microsoft.com/office/powerpoint/2010/main" val="3154061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功能类别</a:t>
            </a:r>
            <a:r>
              <a:rPr lang="en-US" altLang="zh-CN" dirty="0"/>
              <a:t>	FRPS+</a:t>
            </a:r>
            <a:r>
              <a:rPr lang="zh-CN" altLang="en-US" dirty="0"/>
              <a:t>类别        例子</a:t>
            </a:r>
            <a:endParaRPr lang="en-US" altLang="zh-CN" dirty="0"/>
          </a:p>
          <a:p>
            <a:r>
              <a:rPr lang="zh-CN" altLang="en-US" dirty="0"/>
              <a:t>功能性需求      功能性需求       业务规则和流程</a:t>
            </a:r>
            <a:endParaRPr lang="en-US" altLang="zh-CN" dirty="0"/>
          </a:p>
          <a:p>
            <a:endParaRPr lang="en-US" altLang="zh-CN" dirty="0"/>
          </a:p>
          <a:p>
            <a:r>
              <a:rPr lang="zh-CN" altLang="en-US" dirty="0"/>
              <a:t>非功能性需求   可用性             用户界面，易用性</a:t>
            </a:r>
            <a:endParaRPr lang="en-US" altLang="zh-CN" dirty="0"/>
          </a:p>
          <a:p>
            <a:r>
              <a:rPr lang="en-US" altLang="zh-CN" dirty="0"/>
              <a:t>                       </a:t>
            </a:r>
            <a:r>
              <a:rPr lang="zh-CN" altLang="en-US" dirty="0"/>
              <a:t>可靠性             故障率，恢复方法</a:t>
            </a:r>
            <a:endParaRPr lang="en-US" altLang="zh-CN" dirty="0"/>
          </a:p>
          <a:p>
            <a:r>
              <a:rPr lang="en-US" altLang="zh-CN" dirty="0"/>
              <a:t>                       </a:t>
            </a:r>
            <a:r>
              <a:rPr lang="zh-CN" altLang="en-US" dirty="0"/>
              <a:t>效能                 响应时间，吞吐率</a:t>
            </a:r>
            <a:endParaRPr lang="en-US" altLang="zh-CN" dirty="0"/>
          </a:p>
          <a:p>
            <a:r>
              <a:rPr lang="en-US" altLang="zh-CN" dirty="0"/>
              <a:t>                       </a:t>
            </a:r>
            <a:r>
              <a:rPr lang="zh-CN" altLang="en-US" dirty="0"/>
              <a:t>安全                 访问控制，加密</a:t>
            </a:r>
            <a:endParaRPr lang="en-US" altLang="zh-CN" dirty="0"/>
          </a:p>
          <a:p>
            <a:r>
              <a:rPr lang="en-US" altLang="zh-CN" dirty="0"/>
              <a:t>                      +</a:t>
            </a:r>
            <a:r>
              <a:rPr lang="zh-CN" altLang="en-US" dirty="0"/>
              <a:t>设计限制        硬件条件和软件条件</a:t>
            </a:r>
            <a:endParaRPr lang="en-US" altLang="zh-CN" dirty="0"/>
          </a:p>
          <a:p>
            <a:r>
              <a:rPr lang="en-US" altLang="zh-CN" dirty="0"/>
              <a:t>                         </a:t>
            </a:r>
            <a:r>
              <a:rPr lang="zh-CN" altLang="en-US" dirty="0"/>
              <a:t>开发               开发工具，协议</a:t>
            </a:r>
            <a:endParaRPr lang="en-US" altLang="zh-CN" dirty="0"/>
          </a:p>
          <a:p>
            <a:r>
              <a:rPr lang="en-US" altLang="zh-CN" dirty="0"/>
              <a:t>                         </a:t>
            </a:r>
            <a:r>
              <a:rPr lang="zh-CN" altLang="en-US" dirty="0"/>
              <a:t>接口               数据交互格式</a:t>
            </a:r>
            <a:endParaRPr lang="en-US" altLang="zh-CN" dirty="0"/>
          </a:p>
          <a:p>
            <a:r>
              <a:rPr lang="en-US" altLang="zh-CN" dirty="0"/>
              <a:t>                         </a:t>
            </a:r>
            <a:r>
              <a:rPr lang="zh-CN" altLang="en-US" dirty="0"/>
              <a:t>物理层           大小，重量，能量要求</a:t>
            </a:r>
            <a:endParaRPr lang="en-US" altLang="zh-CN" dirty="0"/>
          </a:p>
          <a:p>
            <a:r>
              <a:rPr lang="en-US" altLang="zh-CN" dirty="0"/>
              <a:t>                        </a:t>
            </a:r>
            <a:r>
              <a:rPr lang="zh-CN" altLang="en-US" dirty="0"/>
              <a:t>支持                安装和更新              </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5D09110F-BF0E-4C67-9619-123B55BA0F73}" type="slidenum">
              <a:rPr lang="en-US" altLang="zh-CN" smtClean="0"/>
              <a:pPr/>
              <a:t>72</a:t>
            </a:fld>
            <a:endParaRPr lang="en-US" altLang="zh-CN"/>
          </a:p>
        </p:txBody>
      </p:sp>
    </p:spTree>
    <p:extLst>
      <p:ext uri="{BB962C8B-B14F-4D97-AF65-F5344CB8AC3E}">
        <p14:creationId xmlns:p14="http://schemas.microsoft.com/office/powerpoint/2010/main" val="4085899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销户 </a:t>
            </a:r>
            <a:r>
              <a:rPr lang="en-US" altLang="zh-CN" dirty="0"/>
              <a:t>-&gt; </a:t>
            </a:r>
            <a:r>
              <a:rPr lang="zh-CN" altLang="en-US" dirty="0"/>
              <a:t>结算 （</a:t>
            </a:r>
            <a:r>
              <a:rPr lang="en-US" altLang="zh-CN" dirty="0"/>
              <a:t>include</a:t>
            </a:r>
            <a:r>
              <a:rPr lang="zh-CN" altLang="en-US" dirty="0"/>
              <a:t>包含关系）</a:t>
            </a:r>
            <a:endParaRPr lang="en-US" altLang="zh-CN" dirty="0"/>
          </a:p>
          <a:p>
            <a:endParaRPr lang="en-US" altLang="zh-CN" dirty="0"/>
          </a:p>
          <a:p>
            <a:r>
              <a:rPr lang="zh-CN" altLang="en-US" dirty="0"/>
              <a:t>停机提醒 </a:t>
            </a:r>
            <a:r>
              <a:rPr lang="en-US" altLang="zh-CN" dirty="0"/>
              <a:t>—&gt;</a:t>
            </a:r>
            <a:r>
              <a:rPr lang="zh-CN" altLang="en-US" dirty="0"/>
              <a:t>短信</a:t>
            </a:r>
            <a:r>
              <a:rPr lang="en-US" altLang="zh-CN" dirty="0"/>
              <a:t>/</a:t>
            </a:r>
            <a:r>
              <a:rPr lang="zh-CN" altLang="en-US" dirty="0"/>
              <a:t>邮件提醒 （</a:t>
            </a:r>
            <a:r>
              <a:rPr lang="en-US" altLang="zh-CN" dirty="0"/>
              <a:t>extend</a:t>
            </a:r>
            <a:r>
              <a:rPr lang="zh-CN" altLang="en-US" dirty="0"/>
              <a:t>扩展关系）</a:t>
            </a:r>
          </a:p>
        </p:txBody>
      </p:sp>
      <p:sp>
        <p:nvSpPr>
          <p:cNvPr id="4" name="灯片编号占位符 3"/>
          <p:cNvSpPr>
            <a:spLocks noGrp="1"/>
          </p:cNvSpPr>
          <p:nvPr>
            <p:ph type="sldNum" sz="quarter" idx="5"/>
          </p:nvPr>
        </p:nvSpPr>
        <p:spPr/>
        <p:txBody>
          <a:bodyPr/>
          <a:lstStyle/>
          <a:p>
            <a:fld id="{080A0B00-FA49-4E50-81BC-0193F6FCA898}" type="slidenum">
              <a:rPr lang="en-US" altLang="zh-CN" smtClean="0"/>
              <a:pPr/>
              <a:t>82</a:t>
            </a:fld>
            <a:endParaRPr lang="en-US" altLang="zh-CN"/>
          </a:p>
        </p:txBody>
      </p:sp>
    </p:spTree>
    <p:extLst>
      <p:ext uri="{BB962C8B-B14F-4D97-AF65-F5344CB8AC3E}">
        <p14:creationId xmlns:p14="http://schemas.microsoft.com/office/powerpoint/2010/main" val="319617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D09110F-BF0E-4C67-9619-123B55BA0F73}" type="slidenum">
              <a:rPr lang="en-US" altLang="zh-CN" smtClean="0"/>
              <a:pPr/>
              <a:t>86</a:t>
            </a:fld>
            <a:endParaRPr lang="en-US" altLang="zh-CN"/>
          </a:p>
        </p:txBody>
      </p:sp>
    </p:spTree>
    <p:extLst>
      <p:ext uri="{BB962C8B-B14F-4D97-AF65-F5344CB8AC3E}">
        <p14:creationId xmlns:p14="http://schemas.microsoft.com/office/powerpoint/2010/main" val="4022705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带环路的系统顺序图示例</a:t>
            </a:r>
            <a:endParaRPr lang="zh-CN" altLang="en-US" dirty="0"/>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88</a:t>
            </a:fld>
            <a:endParaRPr lang="en-US" altLang="zh-CN"/>
          </a:p>
        </p:txBody>
      </p:sp>
    </p:spTree>
    <p:extLst>
      <p:ext uri="{BB962C8B-B14F-4D97-AF65-F5344CB8AC3E}">
        <p14:creationId xmlns:p14="http://schemas.microsoft.com/office/powerpoint/2010/main" val="34840218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可选框架：添加配件</a:t>
            </a:r>
            <a:endParaRPr lang="en-US" altLang="zh-CN" dirty="0"/>
          </a:p>
          <a:p>
            <a:endParaRPr lang="en-US" altLang="zh-CN" dirty="0"/>
          </a:p>
          <a:p>
            <a:r>
              <a:rPr lang="zh-CN" altLang="en-US" dirty="0"/>
              <a:t>判断框架：增加税（位置码） 或者 增加免税代码</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89</a:t>
            </a:fld>
            <a:endParaRPr lang="en-US" altLang="zh-CN"/>
          </a:p>
        </p:txBody>
      </p:sp>
    </p:spTree>
    <p:extLst>
      <p:ext uri="{BB962C8B-B14F-4D97-AF65-F5344CB8AC3E}">
        <p14:creationId xmlns:p14="http://schemas.microsoft.com/office/powerpoint/2010/main" val="15157176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创建客户账户用例的顺序图</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90</a:t>
            </a:fld>
            <a:endParaRPr lang="en-US" altLang="zh-CN"/>
          </a:p>
        </p:txBody>
      </p:sp>
    </p:spTree>
    <p:extLst>
      <p:ext uri="{BB962C8B-B14F-4D97-AF65-F5344CB8AC3E}">
        <p14:creationId xmlns:p14="http://schemas.microsoft.com/office/powerpoint/2010/main" val="4613131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创建运输商品用例的顺序图</a:t>
            </a:r>
          </a:p>
        </p:txBody>
      </p:sp>
      <p:sp>
        <p:nvSpPr>
          <p:cNvPr id="4" name="灯片编号占位符 3"/>
          <p:cNvSpPr>
            <a:spLocks noGrp="1"/>
          </p:cNvSpPr>
          <p:nvPr>
            <p:ph type="sldNum" sz="quarter" idx="5"/>
          </p:nvPr>
        </p:nvSpPr>
        <p:spPr/>
        <p:txBody>
          <a:bodyPr/>
          <a:lstStyle/>
          <a:p>
            <a:fld id="{73453281-1A0B-4AAE-8A08-D35863A4C213}" type="slidenum">
              <a:rPr lang="en-US" altLang="zh-CN" smtClean="0"/>
              <a:pPr/>
              <a:t>91</a:t>
            </a:fld>
            <a:endParaRPr lang="en-US" altLang="zh-CN"/>
          </a:p>
        </p:txBody>
      </p:sp>
    </p:spTree>
    <p:extLst>
      <p:ext uri="{BB962C8B-B14F-4D97-AF65-F5344CB8AC3E}">
        <p14:creationId xmlns:p14="http://schemas.microsoft.com/office/powerpoint/2010/main" val="40586591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126</a:t>
            </a:fld>
            <a:endParaRPr lang="en-US" altLang="zh-CN"/>
          </a:p>
        </p:txBody>
      </p:sp>
    </p:spTree>
    <p:extLst>
      <p:ext uri="{BB962C8B-B14F-4D97-AF65-F5344CB8AC3E}">
        <p14:creationId xmlns:p14="http://schemas.microsoft.com/office/powerpoint/2010/main" val="6665972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127</a:t>
            </a:fld>
            <a:endParaRPr lang="en-US" altLang="zh-CN"/>
          </a:p>
        </p:txBody>
      </p:sp>
    </p:spTree>
    <p:extLst>
      <p:ext uri="{BB962C8B-B14F-4D97-AF65-F5344CB8AC3E}">
        <p14:creationId xmlns:p14="http://schemas.microsoft.com/office/powerpoint/2010/main" val="2223295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fld id="{DEBEB704-F0CE-4A73-959E-434E8AA84F78}" type="slidenum">
              <a:rPr lang="en-US" altLang="zh-CN" smtClean="0"/>
              <a:pPr/>
              <a:t>129</a:t>
            </a:fld>
            <a:endParaRPr lang="en-US" altLang="zh-CN"/>
          </a:p>
        </p:txBody>
      </p:sp>
    </p:spTree>
    <p:extLst>
      <p:ext uri="{BB962C8B-B14F-4D97-AF65-F5344CB8AC3E}">
        <p14:creationId xmlns:p14="http://schemas.microsoft.com/office/powerpoint/2010/main" val="39323538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141</a:t>
            </a:fld>
            <a:endParaRPr lang="en-US" altLang="zh-CN"/>
          </a:p>
        </p:txBody>
      </p:sp>
    </p:spTree>
    <p:extLst>
      <p:ext uri="{BB962C8B-B14F-4D97-AF65-F5344CB8AC3E}">
        <p14:creationId xmlns:p14="http://schemas.microsoft.com/office/powerpoint/2010/main" val="8178940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7">
            <a:extLst>
              <a:ext uri="{FF2B5EF4-FFF2-40B4-BE49-F238E27FC236}">
                <a16:creationId xmlns:a16="http://schemas.microsoft.com/office/drawing/2014/main" id="{47B9602A-7BCC-4237-A601-A0A77D496B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r"/>
            <a:fld id="{03C2BEED-2705-4C90-838C-1CCCB11921B9}" type="slidenum">
              <a:rPr lang="zh-CN" altLang="en-US" sz="1200">
                <a:ea typeface="宋体" panose="02010600030101010101" pitchFamily="2" charset="-122"/>
              </a:rPr>
              <a:pPr algn="r"/>
              <a:t>142</a:t>
            </a:fld>
            <a:endParaRPr lang="en-US" altLang="zh-CN" sz="1200">
              <a:ea typeface="宋体" panose="02010600030101010101" pitchFamily="2" charset="-122"/>
            </a:endParaRPr>
          </a:p>
        </p:txBody>
      </p:sp>
      <p:sp>
        <p:nvSpPr>
          <p:cNvPr id="393219" name="Rectangle 2">
            <a:extLst>
              <a:ext uri="{FF2B5EF4-FFF2-40B4-BE49-F238E27FC236}">
                <a16:creationId xmlns:a16="http://schemas.microsoft.com/office/drawing/2014/main" id="{3044ADA0-93E3-4AB8-B40F-C56B3A6BCAB0}"/>
              </a:ext>
            </a:extLst>
          </p:cNvPr>
          <p:cNvSpPr>
            <a:spLocks noGrp="1" noRot="1" noChangeAspect="1" noChangeArrowheads="1" noTextEdit="1"/>
          </p:cNvSpPr>
          <p:nvPr>
            <p:ph type="sldImg"/>
          </p:nvPr>
        </p:nvSpPr>
        <p:spPr>
          <a:solidFill>
            <a:srgbClr val="FFFFFF"/>
          </a:solidFill>
          <a:ln/>
        </p:spPr>
      </p:sp>
      <p:sp>
        <p:nvSpPr>
          <p:cNvPr id="393220" name="Rectangle 3">
            <a:extLst>
              <a:ext uri="{FF2B5EF4-FFF2-40B4-BE49-F238E27FC236}">
                <a16:creationId xmlns:a16="http://schemas.microsoft.com/office/drawing/2014/main" id="{08F65AC7-5DBF-4026-BBEC-B06C28C4B715}"/>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zh-CN" altLang="en-US">
                <a:latin typeface="Times New Roman" panose="02020603050405020304" pitchFamily="18" charset="0"/>
              </a:rPr>
              <a:t>      </a:t>
            </a:r>
            <a:r>
              <a:rPr kumimoji="0" lang="zh-CN" altLang="en-US" sz="2000">
                <a:solidFill>
                  <a:schemeClr val="accent2"/>
                </a:solidFill>
                <a:latin typeface="Times New Roman" panose="02020603050405020304" pitchFamily="18" charset="0"/>
                <a:ea typeface="楷体_GB2312" pitchFamily="49" charset="-122"/>
              </a:rPr>
              <a:t>  </a:t>
            </a:r>
            <a:endParaRPr lang="zh-CN" altLang="en-US">
              <a:latin typeface="Times New Roman" panose="02020603050405020304" pitchFamily="18" charset="0"/>
            </a:endParaRPr>
          </a:p>
        </p:txBody>
      </p:sp>
    </p:spTree>
    <p:extLst>
      <p:ext uri="{BB962C8B-B14F-4D97-AF65-F5344CB8AC3E}">
        <p14:creationId xmlns:p14="http://schemas.microsoft.com/office/powerpoint/2010/main" val="17877740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7">
            <a:extLst>
              <a:ext uri="{FF2B5EF4-FFF2-40B4-BE49-F238E27FC236}">
                <a16:creationId xmlns:a16="http://schemas.microsoft.com/office/drawing/2014/main" id="{ECD5EBD3-38F3-419B-BFB9-7F4D346C09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r"/>
            <a:fld id="{287E17BB-B008-4134-861A-CE1DB83952F3}" type="slidenum">
              <a:rPr lang="zh-CN" altLang="en-US" sz="1200">
                <a:ea typeface="宋体" panose="02010600030101010101" pitchFamily="2" charset="-122"/>
              </a:rPr>
              <a:pPr algn="r"/>
              <a:t>143</a:t>
            </a:fld>
            <a:endParaRPr lang="en-US" altLang="zh-CN" sz="1200">
              <a:ea typeface="宋体" panose="02010600030101010101" pitchFamily="2" charset="-122"/>
            </a:endParaRPr>
          </a:p>
        </p:txBody>
      </p:sp>
      <p:sp>
        <p:nvSpPr>
          <p:cNvPr id="395267" name="Rectangle 2">
            <a:extLst>
              <a:ext uri="{FF2B5EF4-FFF2-40B4-BE49-F238E27FC236}">
                <a16:creationId xmlns:a16="http://schemas.microsoft.com/office/drawing/2014/main" id="{7946013C-12E4-42E3-8105-EDEC1A218E17}"/>
              </a:ext>
            </a:extLst>
          </p:cNvPr>
          <p:cNvSpPr>
            <a:spLocks noGrp="1" noRot="1" noChangeAspect="1" noChangeArrowheads="1" noTextEdit="1"/>
          </p:cNvSpPr>
          <p:nvPr>
            <p:ph type="sldImg"/>
          </p:nvPr>
        </p:nvSpPr>
        <p:spPr>
          <a:solidFill>
            <a:srgbClr val="FFFFFF"/>
          </a:solidFill>
          <a:ln/>
        </p:spPr>
      </p:sp>
      <p:sp>
        <p:nvSpPr>
          <p:cNvPr id="395268" name="Rectangle 3">
            <a:extLst>
              <a:ext uri="{FF2B5EF4-FFF2-40B4-BE49-F238E27FC236}">
                <a16:creationId xmlns:a16="http://schemas.microsoft.com/office/drawing/2014/main" id="{EFEA8389-9F1F-4AE5-AA99-A6D06E913FC0}"/>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zh-CN" altLang="en-US">
                <a:latin typeface="Times New Roman" panose="02020603050405020304" pitchFamily="18" charset="0"/>
              </a:rPr>
              <a:t>      </a:t>
            </a:r>
            <a:r>
              <a:rPr kumimoji="0" lang="zh-CN" altLang="en-US" sz="2000">
                <a:solidFill>
                  <a:schemeClr val="accent2"/>
                </a:solidFill>
                <a:latin typeface="Times New Roman" panose="02020603050405020304" pitchFamily="18" charset="0"/>
                <a:ea typeface="楷体_GB2312" pitchFamily="49" charset="-122"/>
              </a:rPr>
              <a:t> </a:t>
            </a:r>
            <a:endParaRPr lang="zh-CN" altLang="en-US">
              <a:latin typeface="Times New Roman" panose="02020603050405020304" pitchFamily="18" charset="0"/>
            </a:endParaRPr>
          </a:p>
        </p:txBody>
      </p:sp>
    </p:spTree>
    <p:extLst>
      <p:ext uri="{BB962C8B-B14F-4D97-AF65-F5344CB8AC3E}">
        <p14:creationId xmlns:p14="http://schemas.microsoft.com/office/powerpoint/2010/main" val="9192304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7">
            <a:extLst>
              <a:ext uri="{FF2B5EF4-FFF2-40B4-BE49-F238E27FC236}">
                <a16:creationId xmlns:a16="http://schemas.microsoft.com/office/drawing/2014/main" id="{2B73E5F3-8317-45FF-A8CE-E50A2A5615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r"/>
            <a:fld id="{8CCE325C-C470-4222-8DC0-0155D76BB0BF}" type="slidenum">
              <a:rPr lang="zh-CN" altLang="en-US" sz="1200">
                <a:ea typeface="宋体" panose="02010600030101010101" pitchFamily="2" charset="-122"/>
              </a:rPr>
              <a:pPr algn="r"/>
              <a:t>144</a:t>
            </a:fld>
            <a:endParaRPr lang="en-US" altLang="zh-CN" sz="1200">
              <a:ea typeface="宋体" panose="02010600030101010101" pitchFamily="2" charset="-122"/>
            </a:endParaRPr>
          </a:p>
        </p:txBody>
      </p:sp>
      <p:sp>
        <p:nvSpPr>
          <p:cNvPr id="397315" name="Rectangle 2">
            <a:extLst>
              <a:ext uri="{FF2B5EF4-FFF2-40B4-BE49-F238E27FC236}">
                <a16:creationId xmlns:a16="http://schemas.microsoft.com/office/drawing/2014/main" id="{B6A5CD29-F32D-4A44-BA77-F9010222A9DE}"/>
              </a:ext>
            </a:extLst>
          </p:cNvPr>
          <p:cNvSpPr>
            <a:spLocks noGrp="1" noRot="1" noChangeAspect="1" noChangeArrowheads="1" noTextEdit="1"/>
          </p:cNvSpPr>
          <p:nvPr>
            <p:ph type="sldImg"/>
          </p:nvPr>
        </p:nvSpPr>
        <p:spPr>
          <a:solidFill>
            <a:srgbClr val="FFFFFF"/>
          </a:solidFill>
          <a:ln/>
        </p:spPr>
      </p:sp>
      <p:sp>
        <p:nvSpPr>
          <p:cNvPr id="397316" name="Rectangle 3">
            <a:extLst>
              <a:ext uri="{FF2B5EF4-FFF2-40B4-BE49-F238E27FC236}">
                <a16:creationId xmlns:a16="http://schemas.microsoft.com/office/drawing/2014/main" id="{C100433B-8727-4E06-BADD-6BF78C95CDF2}"/>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zh-CN" altLang="en-US">
                <a:latin typeface="Times New Roman" panose="02020603050405020304" pitchFamily="18" charset="0"/>
              </a:rPr>
              <a:t>      </a:t>
            </a:r>
            <a:r>
              <a:rPr kumimoji="0" lang="zh-CN" altLang="en-US" sz="2000">
                <a:solidFill>
                  <a:schemeClr val="accent2"/>
                </a:solidFill>
                <a:latin typeface="Times New Roman" panose="02020603050405020304" pitchFamily="18" charset="0"/>
                <a:ea typeface="楷体_GB2312" pitchFamily="49" charset="-122"/>
              </a:rPr>
              <a:t> 显而易见，用</a:t>
            </a:r>
            <a:r>
              <a:rPr kumimoji="0" lang="en-US" altLang="zh-CN" sz="2000">
                <a:solidFill>
                  <a:schemeClr val="accent2"/>
                </a:solidFill>
                <a:latin typeface="Times New Roman" panose="02020603050405020304" pitchFamily="18" charset="0"/>
                <a:ea typeface="楷体_GB2312" pitchFamily="49" charset="-122"/>
              </a:rPr>
              <a:t>PAD </a:t>
            </a:r>
            <a:r>
              <a:rPr kumimoji="0" lang="zh-CN" altLang="en-US" sz="2000">
                <a:solidFill>
                  <a:schemeClr val="accent2"/>
                </a:solidFill>
                <a:latin typeface="Times New Roman" panose="02020603050405020304" pitchFamily="18" charset="0"/>
                <a:ea typeface="楷体_GB2312" pitchFamily="49" charset="-122"/>
              </a:rPr>
              <a:t>图表达的软件过程将呈树形结构，它即克服了传统的流程图不能清晰表现程序结构的缺点，又不像</a:t>
            </a:r>
            <a:r>
              <a:rPr kumimoji="0" lang="en-US" altLang="zh-CN" sz="2000">
                <a:solidFill>
                  <a:schemeClr val="accent2"/>
                </a:solidFill>
                <a:latin typeface="Times New Roman" panose="02020603050405020304" pitchFamily="18" charset="0"/>
                <a:ea typeface="楷体_GB2312" pitchFamily="49" charset="-122"/>
              </a:rPr>
              <a:t>N-S</a:t>
            </a:r>
            <a:r>
              <a:rPr kumimoji="0" lang="zh-CN" altLang="en-US" sz="2000">
                <a:solidFill>
                  <a:schemeClr val="accent2"/>
                </a:solidFill>
                <a:latin typeface="Times New Roman" panose="02020603050405020304" pitchFamily="18" charset="0"/>
                <a:ea typeface="楷体_GB2312" pitchFamily="49" charset="-122"/>
              </a:rPr>
              <a:t>图那样受到把全部程序约束在一个方框内的限制，这就是它的优势所在。</a:t>
            </a:r>
            <a:endParaRPr lang="zh-CN" altLang="en-US">
              <a:latin typeface="Times New Roman" panose="02020603050405020304" pitchFamily="18" charset="0"/>
            </a:endParaRPr>
          </a:p>
        </p:txBody>
      </p:sp>
    </p:spTree>
    <p:extLst>
      <p:ext uri="{BB962C8B-B14F-4D97-AF65-F5344CB8AC3E}">
        <p14:creationId xmlns:p14="http://schemas.microsoft.com/office/powerpoint/2010/main" val="23656482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7">
            <a:extLst>
              <a:ext uri="{FF2B5EF4-FFF2-40B4-BE49-F238E27FC236}">
                <a16:creationId xmlns:a16="http://schemas.microsoft.com/office/drawing/2014/main" id="{1FEA2A35-F460-491E-BE4B-819B9DB0E0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r"/>
            <a:fld id="{81CE9C29-255A-41F0-B11B-8F5CA9E163CC}" type="slidenum">
              <a:rPr lang="zh-CN" altLang="en-US" sz="1200">
                <a:ea typeface="宋体" panose="02010600030101010101" pitchFamily="2" charset="-122"/>
              </a:rPr>
              <a:pPr algn="r"/>
              <a:t>145</a:t>
            </a:fld>
            <a:endParaRPr lang="en-US" altLang="zh-CN" sz="1200">
              <a:ea typeface="宋体" panose="02010600030101010101" pitchFamily="2" charset="-122"/>
            </a:endParaRPr>
          </a:p>
        </p:txBody>
      </p:sp>
      <p:sp>
        <p:nvSpPr>
          <p:cNvPr id="399363" name="Rectangle 1026">
            <a:extLst>
              <a:ext uri="{FF2B5EF4-FFF2-40B4-BE49-F238E27FC236}">
                <a16:creationId xmlns:a16="http://schemas.microsoft.com/office/drawing/2014/main" id="{BD41559D-9405-4705-922F-7D6628EC6101}"/>
              </a:ext>
            </a:extLst>
          </p:cNvPr>
          <p:cNvSpPr>
            <a:spLocks noGrp="1" noRot="1" noChangeAspect="1" noChangeArrowheads="1" noTextEdit="1"/>
          </p:cNvSpPr>
          <p:nvPr>
            <p:ph type="sldImg"/>
          </p:nvPr>
        </p:nvSpPr>
        <p:spPr>
          <a:solidFill>
            <a:srgbClr val="FFFFFF"/>
          </a:solidFill>
          <a:ln/>
        </p:spPr>
      </p:sp>
      <p:sp>
        <p:nvSpPr>
          <p:cNvPr id="399364" name="Rectangle 1027">
            <a:extLst>
              <a:ext uri="{FF2B5EF4-FFF2-40B4-BE49-F238E27FC236}">
                <a16:creationId xmlns:a16="http://schemas.microsoft.com/office/drawing/2014/main" id="{29521132-04D5-48E6-9692-A7A65CDC6E82}"/>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zh-CN" altLang="en-US">
                <a:latin typeface="Times New Roman" panose="02020603050405020304" pitchFamily="18" charset="0"/>
              </a:rPr>
              <a:t>      </a:t>
            </a:r>
            <a:r>
              <a:rPr kumimoji="0" lang="zh-CN" altLang="en-US" sz="2000">
                <a:solidFill>
                  <a:schemeClr val="accent2"/>
                </a:solidFill>
                <a:latin typeface="Times New Roman" panose="02020603050405020304" pitchFamily="18" charset="0"/>
                <a:ea typeface="楷体_GB2312" pitchFamily="49" charset="-122"/>
              </a:rPr>
              <a:t> 显而易见，用</a:t>
            </a:r>
            <a:r>
              <a:rPr kumimoji="0" lang="en-US" altLang="zh-CN" sz="2000">
                <a:solidFill>
                  <a:schemeClr val="accent2"/>
                </a:solidFill>
                <a:latin typeface="Times New Roman" panose="02020603050405020304" pitchFamily="18" charset="0"/>
                <a:ea typeface="楷体_GB2312" pitchFamily="49" charset="-122"/>
              </a:rPr>
              <a:t>PAD </a:t>
            </a:r>
            <a:r>
              <a:rPr kumimoji="0" lang="zh-CN" altLang="en-US" sz="2000">
                <a:solidFill>
                  <a:schemeClr val="accent2"/>
                </a:solidFill>
                <a:latin typeface="Times New Roman" panose="02020603050405020304" pitchFamily="18" charset="0"/>
                <a:ea typeface="楷体_GB2312" pitchFamily="49" charset="-122"/>
              </a:rPr>
              <a:t>图表达的软件过程将呈树形结构，它即克服了传统的流程图不能清晰表现程序结构的缺点，又不像</a:t>
            </a:r>
            <a:r>
              <a:rPr kumimoji="0" lang="en-US" altLang="zh-CN" sz="2000">
                <a:solidFill>
                  <a:schemeClr val="accent2"/>
                </a:solidFill>
                <a:latin typeface="Times New Roman" panose="02020603050405020304" pitchFamily="18" charset="0"/>
                <a:ea typeface="楷体_GB2312" pitchFamily="49" charset="-122"/>
              </a:rPr>
              <a:t>N-S</a:t>
            </a:r>
            <a:r>
              <a:rPr kumimoji="0" lang="zh-CN" altLang="en-US" sz="2000">
                <a:solidFill>
                  <a:schemeClr val="accent2"/>
                </a:solidFill>
                <a:latin typeface="Times New Roman" panose="02020603050405020304" pitchFamily="18" charset="0"/>
                <a:ea typeface="楷体_GB2312" pitchFamily="49" charset="-122"/>
              </a:rPr>
              <a:t>图那样受到把全部程序约束在一个方框内的限制，这就是它的优势所在。</a:t>
            </a:r>
            <a:endParaRPr lang="zh-CN" altLang="en-US">
              <a:latin typeface="Times New Roman" panose="02020603050405020304" pitchFamily="18" charset="0"/>
            </a:endParaRPr>
          </a:p>
        </p:txBody>
      </p:sp>
    </p:spTree>
    <p:extLst>
      <p:ext uri="{BB962C8B-B14F-4D97-AF65-F5344CB8AC3E}">
        <p14:creationId xmlns:p14="http://schemas.microsoft.com/office/powerpoint/2010/main" val="34944703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a:t>RMO</a:t>
            </a:r>
            <a:r>
              <a:rPr lang="zh-CN" altLang="en-US" dirty="0"/>
              <a:t>顾客账户子系统从</a:t>
            </a:r>
            <a:r>
              <a:rPr lang="en-US" altLang="zh-CN" dirty="0" err="1"/>
              <a:t>custoerform</a:t>
            </a:r>
            <a:r>
              <a:rPr lang="zh-CN" altLang="en-US" dirty="0"/>
              <a:t>窗口接收输入消息</a:t>
            </a:r>
            <a:endParaRPr lang="en-US" altLang="zh-CN" dirty="0"/>
          </a:p>
          <a:p>
            <a:pPr marL="0" indent="0">
              <a:buNone/>
            </a:pPr>
            <a:endParaRPr lang="en-US" altLang="zh-CN" dirty="0"/>
          </a:p>
          <a:p>
            <a:pPr marL="0" indent="0">
              <a:buNone/>
            </a:pPr>
            <a:r>
              <a:rPr lang="zh-CN" altLang="en-US" dirty="0"/>
              <a:t>这些消息传送给</a:t>
            </a:r>
            <a:r>
              <a:rPr lang="en-US" altLang="zh-CN" dirty="0" err="1"/>
              <a:t>customerhandler</a:t>
            </a:r>
            <a:r>
              <a:rPr lang="zh-CN" altLang="en-US" dirty="0"/>
              <a:t>，它相当于一个开关，将接收到的消息路由给正确的域类</a:t>
            </a:r>
            <a:endParaRPr lang="en-US" altLang="zh-CN"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168</a:t>
            </a:fld>
            <a:endParaRPr lang="en-US" altLang="zh-CN"/>
          </a:p>
        </p:txBody>
      </p:sp>
    </p:spTree>
    <p:extLst>
      <p:ext uri="{BB962C8B-B14F-4D97-AF65-F5344CB8AC3E}">
        <p14:creationId xmlns:p14="http://schemas.microsoft.com/office/powerpoint/2010/main" val="601874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问题：一个类必须被另一个标准类替代。替换类已经具有一组预定义的方法签名，这些方法签名不同于原始类的方法签名。如何以最小的影响链接新类，从而不必在整个系统中将名称更改为新类中的方法名称</a:t>
            </a:r>
            <a:endParaRPr lang="en-US" altLang="zh-CN" dirty="0"/>
          </a:p>
          <a:p>
            <a:endParaRPr lang="en-US" altLang="zh-CN" dirty="0"/>
          </a:p>
          <a:p>
            <a:r>
              <a:rPr lang="zh-CN" altLang="en-US" dirty="0"/>
              <a:t>解决方法：写一个新类（适配器类），这个类作为初始系统和被替换的类之间的连接。这个类的方法特征与初始类相似。每个方法要求替换类有正确的方法特征。</a:t>
            </a:r>
            <a:endParaRPr lang="en-US" altLang="zh-CN" dirty="0"/>
          </a:p>
          <a:p>
            <a:endParaRPr lang="en-US" altLang="zh-CN" dirty="0"/>
          </a:p>
          <a:p>
            <a:r>
              <a:rPr lang="zh-CN" altLang="en-US" dirty="0"/>
              <a:t>样例：在</a:t>
            </a:r>
            <a:r>
              <a:rPr lang="en-US" altLang="zh-CN" dirty="0"/>
              <a:t>RMO</a:t>
            </a:r>
            <a:r>
              <a:rPr lang="zh-CN" altLang="en-US" dirty="0"/>
              <a:t>系统的许多地方，需要购买类库来提供特别处理。</a:t>
            </a:r>
            <a:endParaRPr lang="en-US" altLang="zh-CN" dirty="0"/>
          </a:p>
          <a:p>
            <a:r>
              <a:rPr lang="zh-CN" altLang="en-US" dirty="0"/>
              <a:t>这些类库可以提供特殊服务，比如计算税务和运输包裹的费用。</a:t>
            </a:r>
            <a:endParaRPr lang="en-US" altLang="zh-CN" dirty="0"/>
          </a:p>
          <a:p>
            <a:r>
              <a:rPr lang="zh-CN" altLang="en-US" dirty="0"/>
              <a:t>有时候，这些服务库被更新成新的版本。有时候，一个服务库甚至被替换给一个完全不同的供应商。</a:t>
            </a:r>
            <a:endParaRPr lang="en-US" altLang="zh-CN" dirty="0"/>
          </a:p>
          <a:p>
            <a:r>
              <a:rPr lang="en-US" altLang="zh-CN" dirty="0"/>
              <a:t>RMO</a:t>
            </a:r>
            <a:r>
              <a:rPr lang="zh-CN" altLang="en-US" dirty="0"/>
              <a:t>系统的员工通过在每个替换雷倩部署一个适配器间接链接被替换的类</a:t>
            </a:r>
            <a:endParaRPr lang="en-US" altLang="zh-CN" dirty="0"/>
          </a:p>
          <a:p>
            <a:endParaRPr lang="en-US" altLang="zh-CN" dirty="0"/>
          </a:p>
          <a:p>
            <a:r>
              <a:rPr lang="zh-CN" altLang="en-US" dirty="0"/>
              <a:t>优点和结果：被改造的类能被替换成需要的类型。适配器类的改变是有限的，并且不会与系统连锁</a:t>
            </a:r>
            <a:endParaRPr lang="en-US" altLang="zh-CN" dirty="0"/>
          </a:p>
          <a:p>
            <a:endParaRPr lang="en-US" altLang="zh-CN" dirty="0"/>
          </a:p>
          <a:p>
            <a:r>
              <a:rPr lang="zh-CN" altLang="en-US" dirty="0"/>
              <a:t>已通过的参数可能变得更复杂，并且很难限制适配器类的改变</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171</a:t>
            </a:fld>
            <a:endParaRPr lang="en-US" altLang="zh-CN"/>
          </a:p>
        </p:txBody>
      </p:sp>
    </p:spTree>
    <p:extLst>
      <p:ext uri="{BB962C8B-B14F-4D97-AF65-F5344CB8AC3E}">
        <p14:creationId xmlns:p14="http://schemas.microsoft.com/office/powerpoint/2010/main" val="23941852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问题：一个类只允许是用一个实例。这个实例可能被系统的许多地方调用。（例如，一个工厂类或者主窗口类，管理系统资源的服务类，例如数据库连接）</a:t>
            </a:r>
            <a:endParaRPr lang="en-US" altLang="zh-CN" dirty="0"/>
          </a:p>
          <a:p>
            <a:endParaRPr lang="en-US" altLang="zh-CN" dirty="0"/>
          </a:p>
          <a:p>
            <a:r>
              <a:rPr lang="zh-CN" altLang="en-US" dirty="0"/>
              <a:t>解决方案：单例类有一个静态变量指向它自己的一种实例。所有类的构造器都是私有的，可以通过一种或多种方法防伪，比如</a:t>
            </a:r>
            <a:r>
              <a:rPr lang="en-US" altLang="zh-CN" dirty="0" err="1"/>
              <a:t>getInstance</a:t>
            </a:r>
            <a:r>
              <a:rPr lang="zh-CN" altLang="en-US" dirty="0"/>
              <a:t>（）</a:t>
            </a:r>
            <a:endParaRPr lang="en-US" altLang="zh-CN" dirty="0"/>
          </a:p>
          <a:p>
            <a:endParaRPr lang="en-US" altLang="zh-CN" dirty="0"/>
          </a:p>
          <a:p>
            <a:r>
              <a:rPr lang="zh-CN" altLang="en-US" dirty="0"/>
              <a:t>样例：在</a:t>
            </a:r>
            <a:r>
              <a:rPr lang="en-US" altLang="zh-CN" dirty="0"/>
              <a:t>RMO</a:t>
            </a:r>
            <a:r>
              <a:rPr lang="zh-CN" altLang="en-US" dirty="0"/>
              <a:t>系统重，数据库的连接是通过一个名为</a:t>
            </a:r>
            <a:r>
              <a:rPr lang="en-US" altLang="zh-CN" dirty="0"/>
              <a:t>connection</a:t>
            </a:r>
            <a:r>
              <a:rPr lang="zh-CN" altLang="en-US" dirty="0"/>
              <a:t>的类。然而，就效率而言，我们想要每个桌面系统与数据库仅连接一次，并尽可能快。只有一种情况下可以连接，那就是被请求时。</a:t>
            </a:r>
            <a:endParaRPr lang="en-US" altLang="zh-CN" dirty="0"/>
          </a:p>
          <a:p>
            <a:r>
              <a:rPr lang="zh-CN" altLang="en-US" dirty="0"/>
              <a:t>连接类被编译成一个单例</a:t>
            </a:r>
            <a:endParaRPr lang="en-US" altLang="zh-CN" dirty="0"/>
          </a:p>
          <a:p>
            <a:endParaRPr lang="en-US" altLang="zh-CN" dirty="0"/>
          </a:p>
          <a:p>
            <a:r>
              <a:rPr lang="zh-CN" altLang="en-US" dirty="0"/>
              <a:t>优点：在某些时间只需要一个对象实例，但如果它只从一个地方实例化，那么我们可能不需要这个单例。这个单例对象控制它自己并确保值创建了一个实例，无论它被调用多少次，无论它在系统的什么地方出现</a:t>
            </a:r>
            <a:endParaRPr lang="en-US" altLang="zh-CN" dirty="0"/>
          </a:p>
          <a:p>
            <a:endParaRPr lang="en-US" altLang="zh-CN" dirty="0"/>
          </a:p>
          <a:p>
            <a:r>
              <a:rPr lang="en-US" altLang="zh-CN" dirty="0"/>
              <a:t>synchronized </a:t>
            </a:r>
            <a:r>
              <a:rPr lang="zh-CN" altLang="en-US" dirty="0"/>
              <a:t>是 </a:t>
            </a:r>
            <a:r>
              <a:rPr lang="en-US" altLang="zh-CN" dirty="0"/>
              <a:t>Java </a:t>
            </a:r>
            <a:r>
              <a:rPr lang="zh-CN" altLang="en-US" dirty="0"/>
              <a:t>中的关键字，是利用锁的机制来实现同步的。</a:t>
            </a:r>
          </a:p>
          <a:p>
            <a:r>
              <a:rPr lang="zh-CN" altLang="en-US" dirty="0"/>
              <a:t>锁机制有如下两种特性：</a:t>
            </a:r>
          </a:p>
          <a:p>
            <a:pPr>
              <a:buFont typeface="Arial" panose="020B0604020202020204" pitchFamily="34" charset="0"/>
              <a:buChar char="•"/>
            </a:pPr>
            <a:r>
              <a:rPr lang="zh-CN" altLang="en-US" dirty="0"/>
              <a:t>互斥性：即在同一时间只允许一个线程持有某个对象锁，通过这种特性来实现多线程中的协调机制，这样在同一时间只有一个线程对需同步的代码块</a:t>
            </a:r>
            <a:r>
              <a:rPr lang="en-US" altLang="zh-CN" dirty="0"/>
              <a:t>(</a:t>
            </a:r>
            <a:r>
              <a:rPr lang="zh-CN" altLang="en-US" dirty="0"/>
              <a:t>复合操作</a:t>
            </a:r>
            <a:r>
              <a:rPr lang="en-US" altLang="zh-CN" dirty="0"/>
              <a:t>)</a:t>
            </a:r>
            <a:r>
              <a:rPr lang="zh-CN" altLang="en-US" dirty="0"/>
              <a:t>进行访问。互斥性我们也往往称为操作的原子性。</a:t>
            </a:r>
          </a:p>
          <a:p>
            <a:pPr>
              <a:buFont typeface="Arial" panose="020B0604020202020204" pitchFamily="34" charset="0"/>
              <a:buChar char="•"/>
            </a:pPr>
            <a:r>
              <a:rPr lang="zh-CN" altLang="en-US" dirty="0"/>
              <a:t>可见性：必须确保在锁被释放之前，对共享变量所做的修改，对于随后获得该锁的另一个线程是可见的（即在获得锁时应获得最新共享变量的值），否则另一个线程可能是在本地缓存的某个副本上继续操作从而引起不一致。</a:t>
            </a:r>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172</a:t>
            </a:fld>
            <a:endParaRPr lang="en-US" altLang="zh-CN"/>
          </a:p>
        </p:txBody>
      </p:sp>
    </p:spTree>
    <p:extLst>
      <p:ext uri="{BB962C8B-B14F-4D97-AF65-F5344CB8AC3E}">
        <p14:creationId xmlns:p14="http://schemas.microsoft.com/office/powerpoint/2010/main" val="39477910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问题：谁应该为创建了不明确属于问题域类的工具类型对象负责？</a:t>
            </a:r>
            <a:endParaRPr lang="en-US" altLang="zh-CN" dirty="0"/>
          </a:p>
          <a:p>
            <a:r>
              <a:rPr lang="zh-CN" altLang="en-US" dirty="0"/>
              <a:t>（在设计中经常需要工具类，包括数据访问对象或者控制器类。什么类需要创建这些工具对象呢？多数情况下，域类创建他们没有意义，因为这不是域类的责任之一）</a:t>
            </a:r>
            <a:endParaRPr lang="en-US" altLang="zh-CN" dirty="0"/>
          </a:p>
          <a:p>
            <a:endParaRPr lang="en-US" altLang="zh-CN" dirty="0"/>
          </a:p>
          <a:p>
            <a:r>
              <a:rPr lang="zh-CN" altLang="en-US" dirty="0"/>
              <a:t>解决方案：创建一个工厂类。它的责任仅仅是实例化工具类</a:t>
            </a:r>
            <a:endParaRPr lang="en-US" altLang="zh-CN" dirty="0"/>
          </a:p>
          <a:p>
            <a:endParaRPr lang="en-US" altLang="zh-CN" dirty="0"/>
          </a:p>
          <a:p>
            <a:r>
              <a:rPr lang="zh-CN" altLang="en-US" dirty="0"/>
              <a:t>样例：</a:t>
            </a:r>
            <a:r>
              <a:rPr lang="en-US" altLang="zh-CN" dirty="0"/>
              <a:t>RMO</a:t>
            </a:r>
            <a:r>
              <a:rPr lang="zh-CN" altLang="en-US" dirty="0"/>
              <a:t>系统的几个位置需要从订单对象中活动数据并获得</a:t>
            </a:r>
            <a:r>
              <a:rPr lang="en-US" altLang="zh-CN" dirty="0" err="1"/>
              <a:t>Order_DA</a:t>
            </a:r>
            <a:r>
              <a:rPr lang="zh-CN" altLang="en-US" dirty="0"/>
              <a:t>（数据访问）对象的引用。</a:t>
            </a:r>
            <a:r>
              <a:rPr lang="en-US" altLang="zh-CN" dirty="0" err="1"/>
              <a:t>Order_DA</a:t>
            </a:r>
            <a:r>
              <a:rPr lang="zh-CN" altLang="en-US" dirty="0"/>
              <a:t>对象不知是否已经实例化。定义一个数据访问工厂并创建一个界面。请求的对象是用在界面中被定义的方法以获取</a:t>
            </a:r>
            <a:r>
              <a:rPr lang="en-US" altLang="zh-CN" dirty="0" err="1"/>
              <a:t>Order_DA</a:t>
            </a:r>
            <a:r>
              <a:rPr lang="zh-CN" altLang="en-US" dirty="0"/>
              <a:t>对象的引用。然后它就能读取订单的数据库</a:t>
            </a:r>
            <a:endParaRPr lang="en-US" altLang="zh-CN" dirty="0"/>
          </a:p>
          <a:p>
            <a:endParaRPr lang="en-US" altLang="zh-CN" dirty="0"/>
          </a:p>
          <a:p>
            <a:r>
              <a:rPr lang="zh-CN" altLang="en-US" dirty="0"/>
              <a:t>优点和结果：问题域类具有更高的内聚性</a:t>
            </a:r>
            <a:endParaRPr lang="en-US" altLang="zh-CN" dirty="0"/>
          </a:p>
          <a:p>
            <a:r>
              <a:rPr lang="zh-CN" altLang="en-US" dirty="0"/>
              <a:t>是业务逻辑和数据层之间的耦合更少</a:t>
            </a:r>
            <a:endParaRPr lang="en-US" altLang="zh-CN" dirty="0"/>
          </a:p>
          <a:p>
            <a:r>
              <a:rPr lang="zh-CN" altLang="en-US" dirty="0"/>
              <a:t>更小、更加可维持的类</a:t>
            </a:r>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173</a:t>
            </a:fld>
            <a:endParaRPr lang="en-US" altLang="zh-CN"/>
          </a:p>
        </p:txBody>
      </p:sp>
    </p:spTree>
    <p:extLst>
      <p:ext uri="{BB962C8B-B14F-4D97-AF65-F5344CB8AC3E}">
        <p14:creationId xmlns:p14="http://schemas.microsoft.com/office/powerpoint/2010/main" val="11645822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问题：谁应该为创建了不明确属于问题域类的工具类型对象负责？</a:t>
            </a:r>
            <a:endParaRPr lang="en-US" altLang="zh-CN" dirty="0"/>
          </a:p>
          <a:p>
            <a:r>
              <a:rPr lang="zh-CN" altLang="en-US" dirty="0"/>
              <a:t>（在设计中经常需要工具类，包括数据访问对象或者控制器类。什么类需要创建这些工具对象呢？多数情况下，域类创建他们没有意义，因为这不是域类的责任之一）</a:t>
            </a:r>
            <a:endParaRPr lang="en-US" altLang="zh-CN" dirty="0"/>
          </a:p>
          <a:p>
            <a:endParaRPr lang="en-US" altLang="zh-CN" dirty="0"/>
          </a:p>
          <a:p>
            <a:r>
              <a:rPr lang="zh-CN" altLang="en-US" dirty="0"/>
              <a:t>解决方案：创建一个工厂类。它的责任仅仅是实例化工具类</a:t>
            </a:r>
            <a:endParaRPr lang="en-US" altLang="zh-CN" dirty="0"/>
          </a:p>
          <a:p>
            <a:endParaRPr lang="en-US" altLang="zh-CN" dirty="0"/>
          </a:p>
          <a:p>
            <a:r>
              <a:rPr lang="zh-CN" altLang="en-US" dirty="0"/>
              <a:t>样例：</a:t>
            </a:r>
            <a:r>
              <a:rPr lang="en-US" altLang="zh-CN" dirty="0"/>
              <a:t>RMO</a:t>
            </a:r>
            <a:r>
              <a:rPr lang="zh-CN" altLang="en-US" dirty="0"/>
              <a:t>系统的几个位置需要从订单对象中活动数据并获得</a:t>
            </a:r>
            <a:r>
              <a:rPr lang="en-US" altLang="zh-CN" dirty="0" err="1"/>
              <a:t>Order_DA</a:t>
            </a:r>
            <a:r>
              <a:rPr lang="zh-CN" altLang="en-US" dirty="0"/>
              <a:t>（数据访问）对象的引用。</a:t>
            </a:r>
            <a:r>
              <a:rPr lang="en-US" altLang="zh-CN" dirty="0" err="1"/>
              <a:t>Order_DA</a:t>
            </a:r>
            <a:r>
              <a:rPr lang="zh-CN" altLang="en-US" dirty="0"/>
              <a:t>对象不知是否已经实例化。定义一个数据访问工厂并创建一个界面。请求的对象是用在界面中被定义的方法以获取</a:t>
            </a:r>
            <a:r>
              <a:rPr lang="en-US" altLang="zh-CN" dirty="0" err="1"/>
              <a:t>Order_DA</a:t>
            </a:r>
            <a:r>
              <a:rPr lang="zh-CN" altLang="en-US" dirty="0"/>
              <a:t>对象的引用。然后它就能读取订单的数据库</a:t>
            </a:r>
            <a:endParaRPr lang="en-US" altLang="zh-CN" dirty="0"/>
          </a:p>
          <a:p>
            <a:endParaRPr lang="en-US" altLang="zh-CN" dirty="0"/>
          </a:p>
          <a:p>
            <a:r>
              <a:rPr lang="zh-CN" altLang="en-US" dirty="0"/>
              <a:t>优点和结果：问题域类具有更高的内聚性</a:t>
            </a:r>
            <a:endParaRPr lang="en-US" altLang="zh-CN" dirty="0"/>
          </a:p>
          <a:p>
            <a:r>
              <a:rPr lang="zh-CN" altLang="en-US" dirty="0"/>
              <a:t>是业务逻辑和数据层之间的耦合更少</a:t>
            </a:r>
            <a:endParaRPr lang="en-US" altLang="zh-CN" dirty="0"/>
          </a:p>
          <a:p>
            <a:r>
              <a:rPr lang="zh-CN" altLang="en-US" dirty="0"/>
              <a:t>更小、更加可维持的类</a:t>
            </a:r>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178</a:t>
            </a:fld>
            <a:endParaRPr lang="en-US" altLang="zh-CN"/>
          </a:p>
        </p:txBody>
      </p:sp>
    </p:spTree>
    <p:extLst>
      <p:ext uri="{BB962C8B-B14F-4D97-AF65-F5344CB8AC3E}">
        <p14:creationId xmlns:p14="http://schemas.microsoft.com/office/powerpoint/2010/main" val="32252156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E5FD73E1-EE03-4358-B143-24758386D0E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DD64DA3-302D-4E2E-BC0C-2174B7347925}" type="slidenum">
              <a:rPr lang="zh-CN" altLang="en-US" smtClean="0">
                <a:latin typeface="Times New Roman" panose="02020603050405020304" pitchFamily="18" charset="0"/>
              </a:rPr>
              <a:pPr/>
              <a:t>179</a:t>
            </a:fld>
            <a:endParaRPr lang="en-US" altLang="zh-CN">
              <a:latin typeface="Times New Roman" panose="02020603050405020304" pitchFamily="18" charset="0"/>
            </a:endParaRPr>
          </a:p>
        </p:txBody>
      </p:sp>
      <p:sp>
        <p:nvSpPr>
          <p:cNvPr id="20483" name="Rectangle 2">
            <a:extLst>
              <a:ext uri="{FF2B5EF4-FFF2-40B4-BE49-F238E27FC236}">
                <a16:creationId xmlns:a16="http://schemas.microsoft.com/office/drawing/2014/main" id="{BE4009AD-DD92-41DB-B815-1D8696C8D091}"/>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20484" name="Rectangle 3">
            <a:extLst>
              <a:ext uri="{FF2B5EF4-FFF2-40B4-BE49-F238E27FC236}">
                <a16:creationId xmlns:a16="http://schemas.microsoft.com/office/drawing/2014/main" id="{A1077C41-38FE-47B8-B089-2742AA6BFEB4}"/>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从前面的内容我们已经知道，白盒测试是以程序内部的逻辑结构为基础的设计测试用例技术。它包括以下两种测试方法：</a:t>
            </a:r>
          </a:p>
          <a:p>
            <a:pPr eaLnBrk="1" hangingPunct="1"/>
            <a:r>
              <a:rPr lang="zh-CN" altLang="en-US">
                <a:latin typeface="Times New Roman" panose="02020603050405020304" pitchFamily="18" charset="0"/>
              </a:rPr>
              <a:t>              一、逻辑覆盖方法：</a:t>
            </a:r>
            <a:r>
              <a:rPr lang="zh-CN" altLang="en-US" sz="1800">
                <a:solidFill>
                  <a:srgbClr val="1AA1A4"/>
                </a:solidFill>
                <a:latin typeface="黑体" panose="02010609060101010101" pitchFamily="49" charset="-122"/>
                <a:ea typeface="黑体" panose="02010609060101010101" pitchFamily="49" charset="-122"/>
              </a:rPr>
              <a:t>这一方法要求，测试人员对程序的逻辑结构有清楚的了解，甚至要能掌握源程序的所有细节。</a:t>
            </a:r>
            <a:r>
              <a:rPr lang="zh-CN" altLang="en-US">
                <a:latin typeface="Times New Roman" panose="02020603050405020304" pitchFamily="18" charset="0"/>
              </a:rPr>
              <a:t> 。。。。。  。。。</a:t>
            </a:r>
          </a:p>
          <a:p>
            <a:pPr eaLnBrk="1" hangingPunct="1"/>
            <a:r>
              <a:rPr lang="zh-CN" altLang="en-US">
                <a:latin typeface="Times New Roman" panose="02020603050405020304" pitchFamily="18" charset="0"/>
              </a:rPr>
              <a:t>                  按照对被测程序的有效程度，逻辑覆盖测试可由弱到强区分为两种覆盖标准，如下页所示</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295200A1-D116-4511-A7E1-B0C6D4DAEAB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400B1B0-3C1D-4383-98AD-E2A6755B588C}" type="slidenum">
              <a:rPr lang="zh-CN" altLang="en-US" smtClean="0">
                <a:latin typeface="Times New Roman" panose="02020603050405020304" pitchFamily="18" charset="0"/>
              </a:rPr>
              <a:pPr/>
              <a:t>180</a:t>
            </a:fld>
            <a:endParaRPr lang="en-US" altLang="zh-CN">
              <a:latin typeface="Times New Roman" panose="02020603050405020304" pitchFamily="18" charset="0"/>
            </a:endParaRPr>
          </a:p>
        </p:txBody>
      </p:sp>
      <p:sp>
        <p:nvSpPr>
          <p:cNvPr id="22531" name="Rectangle 2">
            <a:extLst>
              <a:ext uri="{FF2B5EF4-FFF2-40B4-BE49-F238E27FC236}">
                <a16:creationId xmlns:a16="http://schemas.microsoft.com/office/drawing/2014/main" id="{D6766C3F-0792-4722-B9F5-9CB730733399}"/>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22532" name="Rectangle 3">
            <a:extLst>
              <a:ext uri="{FF2B5EF4-FFF2-40B4-BE49-F238E27FC236}">
                <a16:creationId xmlns:a16="http://schemas.microsoft.com/office/drawing/2014/main" id="{2ADED95C-A9DE-46B7-BC35-AFE76ACB0D0F}"/>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按照对被测程序的有效程度，逻辑覆盖测试可由弱到强区分为两种覆盖标准，如下页所示</a:t>
            </a:r>
          </a:p>
          <a:p>
            <a:pPr eaLnBrk="1" hangingPunct="1"/>
            <a:r>
              <a:rPr lang="zh-CN" altLang="en-US">
                <a:latin typeface="Times New Roman" panose="02020603050405020304" pitchFamily="18" charset="0"/>
              </a:rPr>
              <a:t>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A67C2C71-D76B-4F34-884A-4BE7874D53F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5FF846F-3BEA-4413-9A70-C0A149A698CC}" type="slidenum">
              <a:rPr lang="zh-CN" altLang="en-US" smtClean="0">
                <a:latin typeface="Times New Roman" panose="02020603050405020304" pitchFamily="18" charset="0"/>
              </a:rPr>
              <a:pPr/>
              <a:t>181</a:t>
            </a:fld>
            <a:endParaRPr lang="en-US" altLang="zh-CN">
              <a:latin typeface="Times New Roman" panose="02020603050405020304" pitchFamily="18" charset="0"/>
            </a:endParaRPr>
          </a:p>
        </p:txBody>
      </p:sp>
      <p:sp>
        <p:nvSpPr>
          <p:cNvPr id="24579" name="Rectangle 2">
            <a:extLst>
              <a:ext uri="{FF2B5EF4-FFF2-40B4-BE49-F238E27FC236}">
                <a16:creationId xmlns:a16="http://schemas.microsoft.com/office/drawing/2014/main" id="{9380DB2B-FAC2-4430-9BF1-A99A46AFC7E9}"/>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24580" name="Rectangle 3">
            <a:extLst>
              <a:ext uri="{FF2B5EF4-FFF2-40B4-BE49-F238E27FC236}">
                <a16:creationId xmlns:a16="http://schemas.microsoft.com/office/drawing/2014/main" id="{3C085B3F-3F05-4D36-8A91-F87CE93A00BA}"/>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FCA421AB-328D-4195-9A28-048AADBF8FC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973C3E3-F0CE-4873-8A79-5AC6CF36E222}" type="slidenum">
              <a:rPr lang="zh-CN" altLang="en-US" smtClean="0">
                <a:latin typeface="Times New Roman" panose="02020603050405020304" pitchFamily="18" charset="0"/>
              </a:rPr>
              <a:pPr/>
              <a:t>182</a:t>
            </a:fld>
            <a:endParaRPr lang="en-US" altLang="zh-CN">
              <a:latin typeface="Times New Roman" panose="02020603050405020304" pitchFamily="18" charset="0"/>
            </a:endParaRPr>
          </a:p>
        </p:txBody>
      </p:sp>
      <p:sp>
        <p:nvSpPr>
          <p:cNvPr id="26627" name="Rectangle 2">
            <a:extLst>
              <a:ext uri="{FF2B5EF4-FFF2-40B4-BE49-F238E27FC236}">
                <a16:creationId xmlns:a16="http://schemas.microsoft.com/office/drawing/2014/main" id="{1D266B16-313B-4B2F-9EF7-FC6554229EB1}"/>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26628" name="Rectangle 3">
            <a:extLst>
              <a:ext uri="{FF2B5EF4-FFF2-40B4-BE49-F238E27FC236}">
                <a16:creationId xmlns:a16="http://schemas.microsoft.com/office/drawing/2014/main" id="{8E750A23-F442-4AAF-8F89-AE44226DF731}"/>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852843A1-9439-4DEC-8446-859BAA94CA7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301DFCD-BCCC-4FAE-8CAB-F6F960A8098D}" type="slidenum">
              <a:rPr lang="zh-CN" altLang="en-US" smtClean="0">
                <a:latin typeface="Times New Roman" panose="02020603050405020304" pitchFamily="18" charset="0"/>
              </a:rPr>
              <a:pPr/>
              <a:t>183</a:t>
            </a:fld>
            <a:endParaRPr lang="en-US" altLang="zh-CN">
              <a:latin typeface="Times New Roman" panose="02020603050405020304" pitchFamily="18" charset="0"/>
            </a:endParaRPr>
          </a:p>
        </p:txBody>
      </p:sp>
      <p:sp>
        <p:nvSpPr>
          <p:cNvPr id="28675" name="Rectangle 2">
            <a:extLst>
              <a:ext uri="{FF2B5EF4-FFF2-40B4-BE49-F238E27FC236}">
                <a16:creationId xmlns:a16="http://schemas.microsoft.com/office/drawing/2014/main" id="{B3FDC855-E1DA-42C7-BD81-3C7DC4323A7E}"/>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1269763" name="Rectangle 3">
            <a:extLst>
              <a:ext uri="{FF2B5EF4-FFF2-40B4-BE49-F238E27FC236}">
                <a16:creationId xmlns:a16="http://schemas.microsoft.com/office/drawing/2014/main" id="{AF0C4399-4CC9-4812-A71C-F2213CC0F1B6}"/>
              </a:ext>
            </a:extLst>
          </p:cNvPr>
          <p:cNvSpPr>
            <a:spLocks noGrp="1" noChangeArrowheads="1"/>
          </p:cNvSpPr>
          <p:nvPr>
            <p:ph type="body" idx="1"/>
          </p:nvPr>
        </p:nvSpPr>
        <p:spPr>
          <a:solidFill>
            <a:srgbClr val="FFFFFF"/>
          </a:solidFill>
          <a:ln>
            <a:solidFill>
              <a:srgbClr val="000000"/>
            </a:solidFill>
          </a:ln>
        </p:spPr>
        <p:txBody>
          <a:bodyPr/>
          <a:lstStyle/>
          <a:p>
            <a:pPr eaLnBrk="1" hangingPunct="1">
              <a:defRPr/>
            </a:pPr>
            <a:r>
              <a:rPr lang="zh-CN" altLang="en-US"/>
              <a:t>         所谓的语句覆盖就是设计若干个测试用例，运行被测程序，使得</a:t>
            </a:r>
            <a:r>
              <a:rPr lang="zh-CN" altLang="en-US" b="1" u="sng">
                <a:effectLst>
                  <a:outerShdw blurRad="38100" dist="38100" dir="2700000" algn="tl">
                    <a:srgbClr val="C0C0C0"/>
                  </a:outerShdw>
                </a:effectLst>
              </a:rPr>
              <a:t>每一个 可执行语句至少要执行一次</a:t>
            </a:r>
            <a:r>
              <a:rPr lang="zh-CN" altLang="en-US"/>
              <a:t>。</a:t>
            </a:r>
          </a:p>
          <a:p>
            <a:pPr eaLnBrk="1" hangingPunct="1">
              <a:defRPr/>
            </a:pPr>
            <a:r>
              <a:rPr lang="zh-CN" altLang="en-US"/>
              <a:t>请见上例。设计测试用例格式如下：</a:t>
            </a:r>
          </a:p>
          <a:p>
            <a:pPr eaLnBrk="1" hangingPunct="1">
              <a:defRPr/>
            </a:pPr>
            <a:r>
              <a:rPr lang="zh-CN" altLang="en-US"/>
              <a:t>                 [ 输入为 </a:t>
            </a:r>
            <a:r>
              <a:rPr lang="en-US" altLang="zh-CN" b="1"/>
              <a:t>A，B，X</a:t>
            </a:r>
            <a:r>
              <a:rPr lang="en-US" altLang="zh-CN"/>
              <a:t> ] ,  [</a:t>
            </a:r>
            <a:r>
              <a:rPr lang="zh-CN" altLang="en-US"/>
              <a:t>输出为 </a:t>
            </a:r>
            <a:r>
              <a:rPr lang="en-US" altLang="zh-CN" b="1"/>
              <a:t>A，B，X</a:t>
            </a:r>
            <a:r>
              <a:rPr lang="en-US" altLang="zh-CN"/>
              <a:t>] </a:t>
            </a:r>
          </a:p>
          <a:p>
            <a:pPr eaLnBrk="1" hangingPunct="1">
              <a:defRPr/>
            </a:pPr>
            <a:r>
              <a:rPr lang="en-US" altLang="zh-CN"/>
              <a:t>                              </a:t>
            </a:r>
            <a:r>
              <a:rPr lang="en-US" altLang="zh-CN" b="1"/>
              <a:t>2， 0，4                   2，0，3</a:t>
            </a:r>
          </a:p>
          <a:p>
            <a:pPr eaLnBrk="1" hangingPunct="1">
              <a:defRPr/>
            </a:pPr>
            <a:r>
              <a:rPr lang="en-US" altLang="zh-CN" b="1"/>
              <a:t>      </a:t>
            </a:r>
            <a:r>
              <a:rPr lang="zh-CN" altLang="en-US"/>
              <a:t>从程序中每个可执行语句都得到执行这一点来看，语句覆盖的方法似乎能够比较全面地检验每一个可执行语句。但需要注意的是一：这种覆盖也绝对不是完美无缺的。假设，上图中给出的程序中，两个判断的逻辑运算有问题，例如，第一个判断中逻辑运算符“  ^ ” 错写成了 “ </a:t>
            </a:r>
            <a:r>
              <a:rPr lang="en-US" altLang="zh-CN"/>
              <a:t>V” ，</a:t>
            </a:r>
            <a:r>
              <a:rPr lang="zh-CN" altLang="en-US"/>
              <a:t>或者第二个判断中的逻辑运算符 “</a:t>
            </a:r>
            <a:r>
              <a:rPr lang="en-US" altLang="zh-CN"/>
              <a:t>V”</a:t>
            </a:r>
            <a:r>
              <a:rPr lang="zh-CN" altLang="en-US"/>
              <a:t>错写成了“　^”　，利用上面的测试用例，仍可覆盖所有４个可执行语句。这说明了虽然做到了语句覆盖，但可能发现不了判断中逻辑运算中出现的错误。则与与后面介绍的其它覆盖相比，语句覆盖是最弱的逻辑覆盖准则。</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09F5EF71-4564-4BC0-B9DA-19A0B4E2459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BBA74AA-C7FB-4520-A12B-6766B45E542A}" type="slidenum">
              <a:rPr lang="zh-CN" altLang="en-US" smtClean="0">
                <a:latin typeface="Times New Roman" panose="02020603050405020304" pitchFamily="18" charset="0"/>
              </a:rPr>
              <a:pPr/>
              <a:t>184</a:t>
            </a:fld>
            <a:endParaRPr lang="en-US" altLang="zh-CN">
              <a:latin typeface="Times New Roman" panose="02020603050405020304" pitchFamily="18" charset="0"/>
            </a:endParaRPr>
          </a:p>
        </p:txBody>
      </p:sp>
      <p:sp>
        <p:nvSpPr>
          <p:cNvPr id="30723" name="Rectangle 1026">
            <a:extLst>
              <a:ext uri="{FF2B5EF4-FFF2-40B4-BE49-F238E27FC236}">
                <a16:creationId xmlns:a16="http://schemas.microsoft.com/office/drawing/2014/main" id="{C1B432B5-106D-4488-A78D-91EDC6C02330}"/>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2391043" name="Rectangle 1027">
            <a:extLst>
              <a:ext uri="{FF2B5EF4-FFF2-40B4-BE49-F238E27FC236}">
                <a16:creationId xmlns:a16="http://schemas.microsoft.com/office/drawing/2014/main" id="{71084557-C425-4F21-A3F9-070BF54D9325}"/>
              </a:ext>
            </a:extLst>
          </p:cNvPr>
          <p:cNvSpPr>
            <a:spLocks noGrp="1" noChangeArrowheads="1"/>
          </p:cNvSpPr>
          <p:nvPr>
            <p:ph type="body" idx="1"/>
          </p:nvPr>
        </p:nvSpPr>
        <p:spPr>
          <a:solidFill>
            <a:srgbClr val="FFFFFF"/>
          </a:solidFill>
          <a:ln>
            <a:solidFill>
              <a:srgbClr val="000000"/>
            </a:solidFill>
          </a:ln>
        </p:spPr>
        <p:txBody>
          <a:bodyPr/>
          <a:lstStyle/>
          <a:p>
            <a:pPr eaLnBrk="1" hangingPunct="1">
              <a:defRPr/>
            </a:pPr>
            <a:r>
              <a:rPr lang="zh-CN" altLang="en-US"/>
              <a:t>         所谓的语句覆盖就是设计若干个测试用例，运行被测程序，使得</a:t>
            </a:r>
            <a:r>
              <a:rPr lang="zh-CN" altLang="en-US" b="1" u="sng">
                <a:effectLst>
                  <a:outerShdw blurRad="38100" dist="38100" dir="2700000" algn="tl">
                    <a:srgbClr val="C0C0C0"/>
                  </a:outerShdw>
                </a:effectLst>
              </a:rPr>
              <a:t>每一个 可执行语句至少要执行一次</a:t>
            </a:r>
            <a:r>
              <a:rPr lang="zh-CN" altLang="en-US"/>
              <a:t>。</a:t>
            </a:r>
          </a:p>
          <a:p>
            <a:pPr eaLnBrk="1" hangingPunct="1">
              <a:defRPr/>
            </a:pPr>
            <a:r>
              <a:rPr lang="zh-CN" altLang="en-US"/>
              <a:t>请见上例。设计测试用例格式如下：</a:t>
            </a:r>
          </a:p>
          <a:p>
            <a:pPr eaLnBrk="1" hangingPunct="1">
              <a:defRPr/>
            </a:pPr>
            <a:r>
              <a:rPr lang="zh-CN" altLang="en-US"/>
              <a:t>                 [ 输入为 </a:t>
            </a:r>
            <a:r>
              <a:rPr lang="en-US" altLang="zh-CN" b="1"/>
              <a:t>A，B，X</a:t>
            </a:r>
            <a:r>
              <a:rPr lang="en-US" altLang="zh-CN"/>
              <a:t> ] ,  [</a:t>
            </a:r>
            <a:r>
              <a:rPr lang="zh-CN" altLang="en-US"/>
              <a:t>输出为 </a:t>
            </a:r>
            <a:r>
              <a:rPr lang="en-US" altLang="zh-CN" b="1"/>
              <a:t>A，B，X</a:t>
            </a:r>
            <a:r>
              <a:rPr lang="en-US" altLang="zh-CN"/>
              <a:t>] </a:t>
            </a:r>
          </a:p>
          <a:p>
            <a:pPr eaLnBrk="1" hangingPunct="1">
              <a:defRPr/>
            </a:pPr>
            <a:r>
              <a:rPr lang="en-US" altLang="zh-CN"/>
              <a:t>                              </a:t>
            </a:r>
            <a:r>
              <a:rPr lang="en-US" altLang="zh-CN" b="1"/>
              <a:t>2， 0，4                   2，0，3</a:t>
            </a:r>
          </a:p>
          <a:p>
            <a:pPr eaLnBrk="1" hangingPunct="1">
              <a:defRPr/>
            </a:pPr>
            <a:r>
              <a:rPr lang="en-US" altLang="zh-CN" b="1"/>
              <a:t>      </a:t>
            </a:r>
            <a:r>
              <a:rPr lang="zh-CN" altLang="en-US"/>
              <a:t>从程序中每个可执行语句都得到执行这一点来看，语句覆盖的方法似乎能够比较全面地检验每一个可执行语句。</a:t>
            </a:r>
          </a:p>
          <a:p>
            <a:pPr eaLnBrk="1" hangingPunct="1">
              <a:defRPr/>
            </a:pPr>
            <a:r>
              <a:rPr lang="zh-CN" altLang="en-US"/>
              <a:t>但与后面介绍的其它覆盖相比，语句覆盖是最弱的逻辑覆盖准则。</a:t>
            </a:r>
            <a:endParaRPr lang="zh-CN" altLang="en-US" b="1"/>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1B61370C-D1B7-4D18-9B69-BBA1DC8ED7E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80FF3B9-DCDD-4113-9018-0EADBB0C506D}" type="slidenum">
              <a:rPr lang="zh-CN" altLang="en-US" smtClean="0">
                <a:latin typeface="Times New Roman" panose="02020603050405020304" pitchFamily="18" charset="0"/>
              </a:rPr>
              <a:pPr/>
              <a:t>185</a:t>
            </a:fld>
            <a:endParaRPr lang="en-US" altLang="zh-CN">
              <a:latin typeface="Times New Roman" panose="02020603050405020304" pitchFamily="18" charset="0"/>
            </a:endParaRPr>
          </a:p>
        </p:txBody>
      </p:sp>
      <p:sp>
        <p:nvSpPr>
          <p:cNvPr id="32771" name="Rectangle 2">
            <a:extLst>
              <a:ext uri="{FF2B5EF4-FFF2-40B4-BE49-F238E27FC236}">
                <a16:creationId xmlns:a16="http://schemas.microsoft.com/office/drawing/2014/main" id="{279C74B3-41A4-4199-B459-26E272D7785C}"/>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32772" name="Rectangle 3">
            <a:extLst>
              <a:ext uri="{FF2B5EF4-FFF2-40B4-BE49-F238E27FC236}">
                <a16:creationId xmlns:a16="http://schemas.microsoft.com/office/drawing/2014/main" id="{AC3D5355-A0E0-4260-8C0D-382FC6749BBF}"/>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a:t>
            </a:r>
            <a:endParaRPr lang="zh-CN" altLang="en-US" b="1">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9840470C-1AC2-4F97-BEC9-2D0648F25AE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1293F44-1D0B-4AEA-BA86-2D0F0E955A74}" type="slidenum">
              <a:rPr lang="zh-CN" altLang="en-US" smtClean="0">
                <a:latin typeface="Times New Roman" panose="02020603050405020304" pitchFamily="18" charset="0"/>
              </a:rPr>
              <a:pPr/>
              <a:t>186</a:t>
            </a:fld>
            <a:endParaRPr lang="en-US" altLang="zh-CN">
              <a:latin typeface="Times New Roman" panose="02020603050405020304" pitchFamily="18" charset="0"/>
            </a:endParaRPr>
          </a:p>
        </p:txBody>
      </p:sp>
      <p:sp>
        <p:nvSpPr>
          <p:cNvPr id="34819" name="Rectangle 2">
            <a:extLst>
              <a:ext uri="{FF2B5EF4-FFF2-40B4-BE49-F238E27FC236}">
                <a16:creationId xmlns:a16="http://schemas.microsoft.com/office/drawing/2014/main" id="{EC2C06E7-D823-4F0C-B825-23520491E1F5}"/>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34820" name="Rectangle 3">
            <a:extLst>
              <a:ext uri="{FF2B5EF4-FFF2-40B4-BE49-F238E27FC236}">
                <a16:creationId xmlns:a16="http://schemas.microsoft.com/office/drawing/2014/main" id="{D79C8EA2-DF02-47CC-8C48-1AE72FB92008}"/>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a:t>
            </a:r>
            <a:endParaRPr lang="zh-CN" altLang="en-US" b="1">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FF7A4AF6-83A8-499C-9715-02D9096D0B4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4435DB5-B9FB-447C-A1B9-E3A7B8AEBCA8}" type="slidenum">
              <a:rPr lang="zh-CN" altLang="en-US" smtClean="0">
                <a:latin typeface="Times New Roman" panose="02020603050405020304" pitchFamily="18" charset="0"/>
              </a:rPr>
              <a:pPr/>
              <a:t>187</a:t>
            </a:fld>
            <a:endParaRPr lang="en-US" altLang="zh-CN">
              <a:latin typeface="Times New Roman" panose="02020603050405020304" pitchFamily="18" charset="0"/>
            </a:endParaRPr>
          </a:p>
        </p:txBody>
      </p:sp>
      <p:sp>
        <p:nvSpPr>
          <p:cNvPr id="36867" name="Rectangle 2">
            <a:extLst>
              <a:ext uri="{FF2B5EF4-FFF2-40B4-BE49-F238E27FC236}">
                <a16:creationId xmlns:a16="http://schemas.microsoft.com/office/drawing/2014/main" id="{0CD60393-32B8-4592-BD30-79915DAD73BB}"/>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36868" name="Rectangle 3">
            <a:extLst>
              <a:ext uri="{FF2B5EF4-FFF2-40B4-BE49-F238E27FC236}">
                <a16:creationId xmlns:a16="http://schemas.microsoft.com/office/drawing/2014/main" id="{66DB83C2-4AF3-4404-B0A8-6B821CF2E07B}"/>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而将</a:t>
            </a:r>
            <a:r>
              <a:rPr lang="en-US" altLang="zh-CN">
                <a:latin typeface="Times New Roman" panose="02020603050405020304" pitchFamily="18" charset="0"/>
              </a:rPr>
              <a:t>L4</a:t>
            </a:r>
            <a:r>
              <a:rPr lang="zh-CN" altLang="en-US">
                <a:latin typeface="Times New Roman" panose="02020603050405020304" pitchFamily="18" charset="0"/>
              </a:rPr>
              <a:t>的判定路径的测试用例数据定为输入为 </a:t>
            </a:r>
            <a:r>
              <a:rPr lang="zh-CN" altLang="en-US" b="1">
                <a:latin typeface="Times New Roman" panose="02020603050405020304" pitchFamily="18" charset="0"/>
              </a:rPr>
              <a:t>(3,0,3) ，则输出为 (3,0,1)  则它将覆盖 </a:t>
            </a:r>
            <a:r>
              <a:rPr lang="en-US" altLang="zh-CN" b="1">
                <a:latin typeface="Times New Roman" panose="02020603050405020304" pitchFamily="18" charset="0"/>
              </a:rPr>
              <a:t>L4 a,c,d</a:t>
            </a:r>
          </a:p>
          <a:p>
            <a:pPr eaLnBrk="1" hangingPunct="1"/>
            <a:r>
              <a:rPr lang="en-US" altLang="zh-CN">
                <a:latin typeface="Times New Roman" panose="02020603050405020304" pitchFamily="18" charset="0"/>
              </a:rPr>
              <a:t>       </a:t>
            </a:r>
            <a:r>
              <a:rPr lang="zh-CN" altLang="en-US">
                <a:latin typeface="Times New Roman" panose="02020603050405020304" pitchFamily="18" charset="0"/>
              </a:rPr>
              <a:t>所以，测试用例的取法并不是唯一的。注意有例外情形，例如，若把上图中第二个判断中的条件</a:t>
            </a:r>
          </a:p>
          <a:p>
            <a:pPr eaLnBrk="1" hangingPunct="1"/>
            <a:r>
              <a:rPr lang="en-US" altLang="zh-CN">
                <a:latin typeface="Times New Roman" panose="02020603050405020304" pitchFamily="18" charset="0"/>
              </a:rPr>
              <a:t>      </a:t>
            </a:r>
            <a:r>
              <a:rPr lang="en-US" altLang="zh-CN" b="1" u="sng">
                <a:latin typeface="Times New Roman" panose="02020603050405020304" pitchFamily="18" charset="0"/>
              </a:rPr>
              <a:t>X&gt;1   </a:t>
            </a:r>
            <a:r>
              <a:rPr lang="zh-CN" altLang="en-US" b="1" u="sng">
                <a:latin typeface="Times New Roman" panose="02020603050405020304" pitchFamily="18" charset="0"/>
              </a:rPr>
              <a:t>错写成 </a:t>
            </a:r>
            <a:r>
              <a:rPr lang="en-US" altLang="zh-CN" b="1" u="sng">
                <a:latin typeface="Times New Roman" panose="02020603050405020304" pitchFamily="18" charset="0"/>
              </a:rPr>
              <a:t>X&lt;1 </a:t>
            </a:r>
            <a:r>
              <a:rPr lang="en-US" altLang="zh-CN">
                <a:latin typeface="Times New Roman" panose="02020603050405020304" pitchFamily="18" charset="0"/>
              </a:rPr>
              <a:t>    </a:t>
            </a:r>
            <a:r>
              <a:rPr lang="zh-CN" altLang="en-US">
                <a:latin typeface="Times New Roman" panose="02020603050405020304" pitchFamily="18" charset="0"/>
              </a:rPr>
              <a:t>那么再利用上面的两组测试用例，仍能得到同样的结果。这表明，只要判定覆盖，还不能保证一定能查出在判断的条件中存在的错误。因此，还需要更强的逻辑覆盖准则来检验判断内部的条件。</a:t>
            </a:r>
          </a:p>
          <a:p>
            <a:pPr eaLnBrk="1" hangingPunct="1"/>
            <a:endParaRPr lang="zh-CN" altLang="en-US" b="1" u="sng">
              <a:latin typeface="Times New Roman" panose="02020603050405020304" pitchFamily="18" charset="0"/>
            </a:endParaRPr>
          </a:p>
          <a:p>
            <a:pPr eaLnBrk="1" hangingPunct="1"/>
            <a:endParaRPr lang="zh-CN" altLang="en-US" b="1">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1B2E9AB2-F1AD-4D93-9545-FB03A05A21B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A547B01-8720-4A16-8303-1FAF78B769C9}" type="slidenum">
              <a:rPr lang="zh-CN" altLang="en-US" smtClean="0">
                <a:latin typeface="Times New Roman" panose="02020603050405020304" pitchFamily="18" charset="0"/>
              </a:rPr>
              <a:pPr/>
              <a:t>188</a:t>
            </a:fld>
            <a:endParaRPr lang="en-US" altLang="zh-CN">
              <a:latin typeface="Times New Roman" panose="02020603050405020304" pitchFamily="18" charset="0"/>
            </a:endParaRPr>
          </a:p>
        </p:txBody>
      </p:sp>
      <p:sp>
        <p:nvSpPr>
          <p:cNvPr id="38915" name="Rectangle 2">
            <a:extLst>
              <a:ext uri="{FF2B5EF4-FFF2-40B4-BE49-F238E27FC236}">
                <a16:creationId xmlns:a16="http://schemas.microsoft.com/office/drawing/2014/main" id="{54E3CB90-31B8-4F18-A6D1-8BD53D77D5A9}"/>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38916" name="Rectangle 3">
            <a:extLst>
              <a:ext uri="{FF2B5EF4-FFF2-40B4-BE49-F238E27FC236}">
                <a16:creationId xmlns:a16="http://schemas.microsoft.com/office/drawing/2014/main" id="{8980D495-A598-461E-AB74-69815E45E72C}"/>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a:t>
            </a:r>
            <a:endParaRPr lang="zh-CN" altLang="en-US" b="1">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F3868B60-3C1A-4218-A820-72B56D297D9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5CF4E7F-22C8-41A1-9B15-81BC378A82C3}" type="slidenum">
              <a:rPr lang="zh-CN" altLang="en-US" smtClean="0">
                <a:latin typeface="Times New Roman" panose="02020603050405020304" pitchFamily="18" charset="0"/>
              </a:rPr>
              <a:pPr/>
              <a:t>189</a:t>
            </a:fld>
            <a:endParaRPr lang="en-US" altLang="zh-CN">
              <a:latin typeface="Times New Roman" panose="02020603050405020304" pitchFamily="18" charset="0"/>
            </a:endParaRPr>
          </a:p>
        </p:txBody>
      </p:sp>
      <p:sp>
        <p:nvSpPr>
          <p:cNvPr id="40963" name="Rectangle 2">
            <a:extLst>
              <a:ext uri="{FF2B5EF4-FFF2-40B4-BE49-F238E27FC236}">
                <a16:creationId xmlns:a16="http://schemas.microsoft.com/office/drawing/2014/main" id="{884897FF-5286-482B-A94F-BCECEC540A6B}"/>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40964" name="Rectangle 3">
            <a:extLst>
              <a:ext uri="{FF2B5EF4-FFF2-40B4-BE49-F238E27FC236}">
                <a16:creationId xmlns:a16="http://schemas.microsoft.com/office/drawing/2014/main" id="{165AA420-4607-4854-A5D5-E0209F28D0E6}"/>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601B35F3-082B-444D-9FF4-91DE0842972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5CC5842-24B1-4D30-AE9E-039715CE4744}" type="slidenum">
              <a:rPr lang="zh-CN" altLang="en-US" smtClean="0">
                <a:latin typeface="Times New Roman" panose="02020603050405020304" pitchFamily="18" charset="0"/>
              </a:rPr>
              <a:pPr/>
              <a:t>190</a:t>
            </a:fld>
            <a:endParaRPr lang="en-US" altLang="zh-CN">
              <a:latin typeface="Times New Roman" panose="02020603050405020304" pitchFamily="18" charset="0"/>
            </a:endParaRPr>
          </a:p>
        </p:txBody>
      </p:sp>
      <p:sp>
        <p:nvSpPr>
          <p:cNvPr id="43011" name="Rectangle 2">
            <a:extLst>
              <a:ext uri="{FF2B5EF4-FFF2-40B4-BE49-F238E27FC236}">
                <a16:creationId xmlns:a16="http://schemas.microsoft.com/office/drawing/2014/main" id="{2A5492B7-26C2-4E72-A06B-87E47B491DC5}"/>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43012" name="Rectangle 3">
            <a:extLst>
              <a:ext uri="{FF2B5EF4-FFF2-40B4-BE49-F238E27FC236}">
                <a16:creationId xmlns:a16="http://schemas.microsoft.com/office/drawing/2014/main" id="{2105350B-4042-4111-BE4B-CB19DCFDA8E1}"/>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从第一组测试用例的执行情况来看，它不但覆盖了所有判断的取 真 分支和取 假 分支，而且也覆盖了判断中所有条件可能的取值。</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32FB6DE5-A97C-415F-B196-5F8BDE5A71D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4CD6464-F9B4-4E53-8742-42B40CF5C755}" type="slidenum">
              <a:rPr lang="zh-CN" altLang="en-US" smtClean="0">
                <a:latin typeface="Times New Roman" panose="02020603050405020304" pitchFamily="18" charset="0"/>
              </a:rPr>
              <a:pPr/>
              <a:t>191</a:t>
            </a:fld>
            <a:endParaRPr lang="en-US" altLang="zh-CN">
              <a:latin typeface="Times New Roman" panose="02020603050405020304" pitchFamily="18" charset="0"/>
            </a:endParaRPr>
          </a:p>
        </p:txBody>
      </p:sp>
      <p:sp>
        <p:nvSpPr>
          <p:cNvPr id="45059" name="Rectangle 2">
            <a:extLst>
              <a:ext uri="{FF2B5EF4-FFF2-40B4-BE49-F238E27FC236}">
                <a16:creationId xmlns:a16="http://schemas.microsoft.com/office/drawing/2014/main" id="{E9CF95D2-5DCE-45FD-A795-7AD4FDDD3675}"/>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45060" name="Rectangle 3">
            <a:extLst>
              <a:ext uri="{FF2B5EF4-FFF2-40B4-BE49-F238E27FC236}">
                <a16:creationId xmlns:a16="http://schemas.microsoft.com/office/drawing/2014/main" id="{24AFD281-EB5F-4CA0-A330-834487E903EC}"/>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1E8D606-46CD-4644-8090-2F2250D9ED6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E736DB1-5CF4-4DE7-8B72-DE8484D28969}" type="slidenum">
              <a:rPr lang="zh-CN" altLang="en-US" smtClean="0">
                <a:latin typeface="Times New Roman" panose="02020603050405020304" pitchFamily="18" charset="0"/>
              </a:rPr>
              <a:pPr/>
              <a:t>192</a:t>
            </a:fld>
            <a:endParaRPr lang="en-US" altLang="zh-CN">
              <a:latin typeface="Times New Roman" panose="02020603050405020304" pitchFamily="18" charset="0"/>
            </a:endParaRPr>
          </a:p>
        </p:txBody>
      </p:sp>
      <p:sp>
        <p:nvSpPr>
          <p:cNvPr id="47107" name="Rectangle 2">
            <a:extLst>
              <a:ext uri="{FF2B5EF4-FFF2-40B4-BE49-F238E27FC236}">
                <a16:creationId xmlns:a16="http://schemas.microsoft.com/office/drawing/2014/main" id="{E84D6366-5CAD-4C94-94D5-BAF845304FE6}"/>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47108" name="Rectangle 3">
            <a:extLst>
              <a:ext uri="{FF2B5EF4-FFF2-40B4-BE49-F238E27FC236}">
                <a16:creationId xmlns:a16="http://schemas.microsoft.com/office/drawing/2014/main" id="{FE63FA57-34D1-4141-83BA-883637A362D8}"/>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a:t>
            </a:r>
            <a:endParaRPr lang="zh-CN" altLang="en-US" b="1">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52C50A05-6D53-41A3-A502-7CFC9ED00CA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19CD768-A43F-4E71-8773-6BD20C76D7F0}" type="slidenum">
              <a:rPr lang="zh-CN" altLang="en-US" smtClean="0">
                <a:latin typeface="Times New Roman" panose="02020603050405020304" pitchFamily="18" charset="0"/>
              </a:rPr>
              <a:pPr/>
              <a:t>193</a:t>
            </a:fld>
            <a:endParaRPr lang="en-US" altLang="zh-CN">
              <a:latin typeface="Times New Roman" panose="02020603050405020304" pitchFamily="18" charset="0"/>
            </a:endParaRPr>
          </a:p>
        </p:txBody>
      </p:sp>
      <p:sp>
        <p:nvSpPr>
          <p:cNvPr id="49155" name="Rectangle 2">
            <a:extLst>
              <a:ext uri="{FF2B5EF4-FFF2-40B4-BE49-F238E27FC236}">
                <a16:creationId xmlns:a16="http://schemas.microsoft.com/office/drawing/2014/main" id="{205E8A95-ECAC-4755-A3F0-6FF1557365A8}"/>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49156" name="Rectangle 3">
            <a:extLst>
              <a:ext uri="{FF2B5EF4-FFF2-40B4-BE49-F238E27FC236}">
                <a16:creationId xmlns:a16="http://schemas.microsoft.com/office/drawing/2014/main" id="{D0517E8C-DA0B-4E8A-8E02-943FB1A9DF95}"/>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覆盖了8个条件取值和4个分支。</a:t>
            </a:r>
          </a:p>
          <a:p>
            <a:pPr eaLnBrk="1" hangingPunct="1"/>
            <a:r>
              <a:rPr lang="zh-CN" altLang="en-US">
                <a:latin typeface="Times New Roman" panose="02020603050405020304" pitchFamily="18" charset="0"/>
              </a:rPr>
              <a:t>         其实，判定/条件覆盖也有缺陷。从表面上看，它测试了所有条件的取值。但事实并非如此，因为往往某些条件覆盖另一些条件。</a:t>
            </a:r>
          </a:p>
          <a:p>
            <a:pPr eaLnBrk="1" hangingPunct="1"/>
            <a:r>
              <a:rPr lang="zh-CN" altLang="en-US">
                <a:latin typeface="Times New Roman" panose="02020603050405020304" pitchFamily="18" charset="0"/>
              </a:rPr>
              <a:t>   如，对于表达式 (</a:t>
            </a:r>
            <a:r>
              <a:rPr lang="en-US" altLang="zh-CN">
                <a:latin typeface="Times New Roman" panose="02020603050405020304" pitchFamily="18" charset="0"/>
              </a:rPr>
              <a:t>A&gt;1) and (B=0) </a:t>
            </a:r>
            <a:r>
              <a:rPr lang="zh-CN" altLang="en-US">
                <a:latin typeface="Times New Roman" panose="02020603050405020304" pitchFamily="18" charset="0"/>
              </a:rPr>
              <a:t>来说，若 （</a:t>
            </a:r>
            <a:r>
              <a:rPr lang="en-US" altLang="zh-CN">
                <a:latin typeface="Times New Roman" panose="02020603050405020304" pitchFamily="18" charset="0"/>
              </a:rPr>
              <a:t>A&gt;1) </a:t>
            </a:r>
            <a:r>
              <a:rPr lang="zh-CN" altLang="en-US">
                <a:latin typeface="Times New Roman" panose="02020603050405020304" pitchFamily="18" charset="0"/>
              </a:rPr>
              <a:t>的测试结果为真，则还要测试 (</a:t>
            </a:r>
            <a:r>
              <a:rPr lang="en-US" altLang="zh-CN">
                <a:latin typeface="Times New Roman" panose="02020603050405020304" pitchFamily="18" charset="0"/>
              </a:rPr>
              <a:t>B=0) ，</a:t>
            </a:r>
            <a:r>
              <a:rPr lang="zh-CN" altLang="en-US">
                <a:latin typeface="Times New Roman" panose="02020603050405020304" pitchFamily="18" charset="0"/>
              </a:rPr>
              <a:t>才能决定表达式的值；按照程序中的逻辑关系来看，而若 (</a:t>
            </a:r>
            <a:r>
              <a:rPr lang="en-US" altLang="zh-CN">
                <a:latin typeface="Times New Roman" panose="02020603050405020304" pitchFamily="18" charset="0"/>
              </a:rPr>
              <a:t>A&gt;1) </a:t>
            </a:r>
            <a:r>
              <a:rPr lang="zh-CN" altLang="en-US">
                <a:latin typeface="Times New Roman" panose="02020603050405020304" pitchFamily="18" charset="0"/>
              </a:rPr>
              <a:t>的测试结果为假，那么就可以立刻确定该表达式的结果也应该为假。这时，往往就不会再测试(</a:t>
            </a:r>
            <a:r>
              <a:rPr lang="en-US" altLang="zh-CN">
                <a:latin typeface="Times New Roman" panose="02020603050405020304" pitchFamily="18" charset="0"/>
              </a:rPr>
              <a:t>B=0) </a:t>
            </a:r>
            <a:r>
              <a:rPr lang="zh-CN" altLang="en-US">
                <a:latin typeface="Times New Roman" panose="02020603050405020304" pitchFamily="18" charset="0"/>
              </a:rPr>
              <a:t>的取值了。因此，条件 (</a:t>
            </a:r>
            <a:r>
              <a:rPr lang="en-US" altLang="zh-CN">
                <a:latin typeface="Times New Roman" panose="02020603050405020304" pitchFamily="18" charset="0"/>
              </a:rPr>
              <a:t>B=0) </a:t>
            </a:r>
            <a:r>
              <a:rPr lang="zh-CN" altLang="en-US">
                <a:latin typeface="Times New Roman" panose="02020603050405020304" pitchFamily="18" charset="0"/>
              </a:rPr>
              <a:t>就没有检查了。</a:t>
            </a:r>
          </a:p>
          <a:p>
            <a:pPr eaLnBrk="1" hangingPunct="1"/>
            <a:r>
              <a:rPr lang="zh-CN" altLang="en-US">
                <a:latin typeface="Times New Roman" panose="02020603050405020304" pitchFamily="18" charset="0"/>
              </a:rPr>
              <a:t>      同样，对于条件表达式 (</a:t>
            </a:r>
            <a:r>
              <a:rPr lang="en-US" altLang="zh-CN">
                <a:latin typeface="Times New Roman" panose="02020603050405020304" pitchFamily="18" charset="0"/>
              </a:rPr>
              <a:t>A=2) or (X&gt;1) </a:t>
            </a:r>
            <a:r>
              <a:rPr lang="zh-CN" altLang="en-US">
                <a:latin typeface="Times New Roman" panose="02020603050405020304" pitchFamily="18" charset="0"/>
              </a:rPr>
              <a:t>来说，若  (</a:t>
            </a:r>
            <a:r>
              <a:rPr lang="en-US" altLang="zh-CN">
                <a:latin typeface="Times New Roman" panose="02020603050405020304" pitchFamily="18" charset="0"/>
              </a:rPr>
              <a:t>A=2) </a:t>
            </a:r>
            <a:r>
              <a:rPr lang="zh-CN" altLang="en-US">
                <a:latin typeface="Times New Roman" panose="02020603050405020304" pitchFamily="18" charset="0"/>
              </a:rPr>
              <a:t>的测试结果为真，就可以立即决定表达式的结果为 真，而此时，条件 (</a:t>
            </a:r>
            <a:r>
              <a:rPr lang="en-US" altLang="zh-CN">
                <a:latin typeface="Times New Roman" panose="02020603050405020304" pitchFamily="18" charset="0"/>
              </a:rPr>
              <a:t>X&gt;1) </a:t>
            </a:r>
            <a:r>
              <a:rPr lang="zh-CN" altLang="en-US">
                <a:latin typeface="Times New Roman" panose="02020603050405020304" pitchFamily="18" charset="0"/>
              </a:rPr>
              <a:t>就没有进行检查。因此，采用判定/条件覆盖，逻辑表达式中的错误不一定能够查得出来。 </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C75D54E8-E615-4FF5-80E1-A5A5081A322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8E667A8-382A-4FF1-BF84-C3EAF73B2BBD}" type="slidenum">
              <a:rPr lang="zh-CN" altLang="en-US" smtClean="0">
                <a:latin typeface="Times New Roman" panose="02020603050405020304" pitchFamily="18" charset="0"/>
              </a:rPr>
              <a:pPr/>
              <a:t>194</a:t>
            </a:fld>
            <a:endParaRPr lang="en-US" altLang="zh-CN">
              <a:latin typeface="Times New Roman" panose="02020603050405020304" pitchFamily="18" charset="0"/>
            </a:endParaRPr>
          </a:p>
        </p:txBody>
      </p:sp>
      <p:sp>
        <p:nvSpPr>
          <p:cNvPr id="51203" name="Rectangle 2">
            <a:extLst>
              <a:ext uri="{FF2B5EF4-FFF2-40B4-BE49-F238E27FC236}">
                <a16:creationId xmlns:a16="http://schemas.microsoft.com/office/drawing/2014/main" id="{1C9682C4-F9CC-4D89-81F8-83AC8A32254B}"/>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51204" name="Rectangle 3">
            <a:extLst>
              <a:ext uri="{FF2B5EF4-FFF2-40B4-BE49-F238E27FC236}">
                <a16:creationId xmlns:a16="http://schemas.microsoft.com/office/drawing/2014/main" id="{1351E15C-B405-46A5-BBD7-BD3F72A18178}"/>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为了检查所有条件的取值，则应将所以条件组合进行测试。</a:t>
            </a:r>
            <a:endParaRPr lang="zh-CN" altLang="en-US" b="1">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9AB97899-D599-4020-865D-C5CA8AC8E36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E4563D3-EADE-40D8-B2C9-04CB821B6F44}" type="slidenum">
              <a:rPr lang="zh-CN" altLang="en-US" smtClean="0">
                <a:latin typeface="Times New Roman" panose="02020603050405020304" pitchFamily="18" charset="0"/>
              </a:rPr>
              <a:pPr/>
              <a:t>195</a:t>
            </a:fld>
            <a:endParaRPr lang="en-US" altLang="zh-CN">
              <a:latin typeface="Times New Roman" panose="02020603050405020304" pitchFamily="18" charset="0"/>
            </a:endParaRPr>
          </a:p>
        </p:txBody>
      </p:sp>
      <p:sp>
        <p:nvSpPr>
          <p:cNvPr id="53251" name="Rectangle 2">
            <a:extLst>
              <a:ext uri="{FF2B5EF4-FFF2-40B4-BE49-F238E27FC236}">
                <a16:creationId xmlns:a16="http://schemas.microsoft.com/office/drawing/2014/main" id="{6DF5A1CD-7070-4BAE-BB6B-2AC8A4731BB5}"/>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53252" name="Rectangle 3">
            <a:extLst>
              <a:ext uri="{FF2B5EF4-FFF2-40B4-BE49-F238E27FC236}">
                <a16:creationId xmlns:a16="http://schemas.microsoft.com/office/drawing/2014/main" id="{80B97C75-11F9-4513-908C-B92634BBF06B}"/>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对于每个判断，要求所有可能的条件取值的组合都必须取到。在上述的流程图中各有两个条件，所以，她有4个条件取值的组合。所以我们可以取4个测试用例，来覆盖上面的 8  种条件取值的组合。但必须明确，这里并未要求第一个判断的4个组合与第二个判断的4个组合再进行组合。要是那样的话，就需要 4 的2次方=16个测试用例了。</a:t>
            </a:r>
            <a:endParaRPr lang="zh-CN" altLang="en-US" b="1">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FBF61A72-25AC-4D4F-BF21-23F04D42B68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87D308F-028D-4140-AC51-26024E7A7AC6}" type="slidenum">
              <a:rPr lang="zh-CN" altLang="en-US" smtClean="0">
                <a:latin typeface="Times New Roman" panose="02020603050405020304" pitchFamily="18" charset="0"/>
              </a:rPr>
              <a:pPr/>
              <a:t>196</a:t>
            </a:fld>
            <a:endParaRPr lang="en-US" altLang="zh-CN">
              <a:latin typeface="Times New Roman" panose="02020603050405020304" pitchFamily="18" charset="0"/>
            </a:endParaRPr>
          </a:p>
        </p:txBody>
      </p:sp>
      <p:sp>
        <p:nvSpPr>
          <p:cNvPr id="55299" name="Rectangle 2">
            <a:extLst>
              <a:ext uri="{FF2B5EF4-FFF2-40B4-BE49-F238E27FC236}">
                <a16:creationId xmlns:a16="http://schemas.microsoft.com/office/drawing/2014/main" id="{383F36F2-E97B-486B-83F9-35EA8A17F4C8}"/>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55300" name="Rectangle 3">
            <a:extLst>
              <a:ext uri="{FF2B5EF4-FFF2-40B4-BE49-F238E27FC236}">
                <a16:creationId xmlns:a16="http://schemas.microsoft.com/office/drawing/2014/main" id="{257ABA0A-6029-4149-9489-05B792C4F6CE}"/>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对于每个判断，要求所有可能的条件取值的组合都必须取到。在上述的流程图中各有两个条件，所以，她有4个条件取值的组合。所以我们可以取4个测试用例，来覆盖上面的 8  种条件取值的组合。但必须明确，这里并未要求第一个判断的4个组合与第二个判断的4个组合再进行组合。要是那样的话，就需要 4 的2次方=16个测试用例了。</a:t>
            </a:r>
            <a:endParaRPr lang="zh-CN" altLang="en-US" b="1">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FE7C173D-C642-4E11-A168-2DD952A1886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08F3CDD-AE1A-4E3B-9764-CB37A5B06E73}" type="slidenum">
              <a:rPr lang="zh-CN" altLang="en-US" smtClean="0">
                <a:latin typeface="Times New Roman" panose="02020603050405020304" pitchFamily="18" charset="0"/>
              </a:rPr>
              <a:pPr/>
              <a:t>197</a:t>
            </a:fld>
            <a:endParaRPr lang="en-US" altLang="zh-CN">
              <a:latin typeface="Times New Roman" panose="02020603050405020304" pitchFamily="18" charset="0"/>
            </a:endParaRPr>
          </a:p>
        </p:txBody>
      </p:sp>
      <p:sp>
        <p:nvSpPr>
          <p:cNvPr id="57347" name="Rectangle 2">
            <a:extLst>
              <a:ext uri="{FF2B5EF4-FFF2-40B4-BE49-F238E27FC236}">
                <a16:creationId xmlns:a16="http://schemas.microsoft.com/office/drawing/2014/main" id="{825A3867-BED8-4ED4-86CF-82694EE2479B}"/>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57348" name="Rectangle 3">
            <a:extLst>
              <a:ext uri="{FF2B5EF4-FFF2-40B4-BE49-F238E27FC236}">
                <a16:creationId xmlns:a16="http://schemas.microsoft.com/office/drawing/2014/main" id="{E4A93AB5-FF4F-4E5E-BBFD-90C079C639E1}"/>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从分析中可以看出，在这组测试用例中它覆盖了所有条件的可能取值的组合，覆盖了所有判断的可取分支，但路径掉了</a:t>
            </a:r>
            <a:r>
              <a:rPr lang="en-US" altLang="zh-CN">
                <a:latin typeface="Times New Roman" panose="02020603050405020304" pitchFamily="18" charset="0"/>
              </a:rPr>
              <a:t>L4。 </a:t>
            </a:r>
            <a:r>
              <a:rPr lang="zh-CN" altLang="en-US">
                <a:latin typeface="Times New Roman" panose="02020603050405020304" pitchFamily="18" charset="0"/>
              </a:rPr>
              <a:t>所以测试还不算完全。</a:t>
            </a:r>
            <a:endParaRPr lang="zh-CN" altLang="en-US" b="1">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2AB4C3CF-505B-41CC-B5F3-081D28AAB7A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45896A9-768C-4395-8ABE-77FE40249DFC}" type="slidenum">
              <a:rPr lang="zh-CN" altLang="en-US" smtClean="0">
                <a:latin typeface="Times New Roman" panose="02020603050405020304" pitchFamily="18" charset="0"/>
              </a:rPr>
              <a:pPr/>
              <a:t>198</a:t>
            </a:fld>
            <a:endParaRPr lang="en-US" altLang="zh-CN">
              <a:latin typeface="Times New Roman" panose="02020603050405020304" pitchFamily="18" charset="0"/>
            </a:endParaRPr>
          </a:p>
        </p:txBody>
      </p:sp>
      <p:sp>
        <p:nvSpPr>
          <p:cNvPr id="59395" name="Rectangle 2">
            <a:extLst>
              <a:ext uri="{FF2B5EF4-FFF2-40B4-BE49-F238E27FC236}">
                <a16:creationId xmlns:a16="http://schemas.microsoft.com/office/drawing/2014/main" id="{8A41EB95-920C-4EEF-A6E5-2E43CF78B455}"/>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59396" name="Rectangle 3">
            <a:extLst>
              <a:ext uri="{FF2B5EF4-FFF2-40B4-BE49-F238E27FC236}">
                <a16:creationId xmlns:a16="http://schemas.microsoft.com/office/drawing/2014/main" id="{ACA06B9A-D524-49A2-BA78-393115359E19}"/>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从前面的内容我们已经知道，白盒测试是以程序内部的逻辑结构为基础的设计测试用例技术。它包括以下两种测试方法：</a:t>
            </a:r>
          </a:p>
          <a:p>
            <a:pPr eaLnBrk="1" hangingPunct="1"/>
            <a:r>
              <a:rPr lang="zh-CN" altLang="en-US">
                <a:latin typeface="Times New Roman" panose="02020603050405020304" pitchFamily="18" charset="0"/>
              </a:rPr>
              <a:t>              一、逻辑覆盖方法：</a:t>
            </a:r>
            <a:r>
              <a:rPr lang="zh-CN" altLang="en-US" sz="1800">
                <a:solidFill>
                  <a:srgbClr val="1AA1A4"/>
                </a:solidFill>
                <a:latin typeface="黑体" panose="02010609060101010101" pitchFamily="49" charset="-122"/>
                <a:ea typeface="黑体" panose="02010609060101010101" pitchFamily="49" charset="-122"/>
              </a:rPr>
              <a:t>这一方法要求，测试人员对程序的逻辑结构有清楚的了解，甚至要能掌握源程序的所有细节。</a:t>
            </a:r>
            <a:r>
              <a:rPr lang="zh-CN" altLang="en-US">
                <a:latin typeface="Times New Roman" panose="02020603050405020304" pitchFamily="18" charset="0"/>
              </a:rPr>
              <a:t> 。。。。。  。。。</a:t>
            </a:r>
          </a:p>
          <a:p>
            <a:pPr eaLnBrk="1" hangingPunct="1"/>
            <a:r>
              <a:rPr lang="zh-CN" altLang="en-US">
                <a:latin typeface="Times New Roman" panose="02020603050405020304" pitchFamily="18" charset="0"/>
              </a:rPr>
              <a:t>                  按照对被测程序的有效程度，逻辑覆盖测试可由弱到强区分为两种覆盖标准，如下页所示</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76CCA77F-E569-410C-BDDE-10EF236B4FF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6258256-A1D2-4855-84F9-AB2918991BED}" type="slidenum">
              <a:rPr lang="zh-CN" altLang="en-US" smtClean="0">
                <a:latin typeface="Times New Roman" panose="02020603050405020304" pitchFamily="18" charset="0"/>
              </a:rPr>
              <a:pPr/>
              <a:t>199</a:t>
            </a:fld>
            <a:endParaRPr lang="en-US" altLang="zh-CN">
              <a:latin typeface="Times New Roman" panose="02020603050405020304" pitchFamily="18" charset="0"/>
            </a:endParaRPr>
          </a:p>
        </p:txBody>
      </p:sp>
      <p:sp>
        <p:nvSpPr>
          <p:cNvPr id="61443" name="Rectangle 2">
            <a:extLst>
              <a:ext uri="{FF2B5EF4-FFF2-40B4-BE49-F238E27FC236}">
                <a16:creationId xmlns:a16="http://schemas.microsoft.com/office/drawing/2014/main" id="{BBCBF14B-E64A-4946-A0D0-3BC6A0EDFFFB}"/>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61444" name="Rectangle 3">
            <a:extLst>
              <a:ext uri="{FF2B5EF4-FFF2-40B4-BE49-F238E27FC236}">
                <a16:creationId xmlns:a16="http://schemas.microsoft.com/office/drawing/2014/main" id="{1CD4E755-D953-431B-9AB7-6461F9FE9FB6}"/>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从上述分析情况来看，路径测试的特征是，它不但包含了</a:t>
            </a:r>
            <a:r>
              <a:rPr lang="zh-CN" altLang="en-US" b="1">
                <a:latin typeface="Times New Roman" panose="02020603050405020304" pitchFamily="18" charset="0"/>
              </a:rPr>
              <a:t>语句覆盖</a:t>
            </a:r>
            <a:r>
              <a:rPr lang="zh-CN" altLang="en-US">
                <a:latin typeface="Times New Roman" panose="02020603050405020304" pitchFamily="18" charset="0"/>
              </a:rPr>
              <a:t>同时也满足了</a:t>
            </a:r>
            <a:r>
              <a:rPr lang="zh-CN" altLang="en-US" b="1">
                <a:latin typeface="Times New Roman" panose="02020603050405020304" pitchFamily="18" charset="0"/>
              </a:rPr>
              <a:t>判定覆盖</a:t>
            </a:r>
            <a:r>
              <a:rPr lang="zh-CN" altLang="en-US">
                <a:latin typeface="Times New Roman" panose="02020603050405020304" pitchFamily="18" charset="0"/>
              </a:rPr>
              <a:t>（在程序图上分别称为点覆盖与边覆盖）。换句话说，只要满足了路径覆盖，也就必然满足语句和判定覆盖。</a:t>
            </a:r>
            <a:endParaRPr lang="zh-CN" altLang="en-US" b="1">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A1F52915-B5DE-4A48-A9B0-5BE9E8C9163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9E215CD-FCF9-459E-8D79-ABEF212C0466}" type="slidenum">
              <a:rPr lang="zh-CN" altLang="en-US" smtClean="0">
                <a:latin typeface="Times New Roman" panose="02020603050405020304" pitchFamily="18" charset="0"/>
              </a:rPr>
              <a:pPr/>
              <a:t>200</a:t>
            </a:fld>
            <a:endParaRPr lang="en-US" altLang="zh-CN">
              <a:latin typeface="Times New Roman" panose="02020603050405020304" pitchFamily="18" charset="0"/>
            </a:endParaRPr>
          </a:p>
        </p:txBody>
      </p:sp>
      <p:sp>
        <p:nvSpPr>
          <p:cNvPr id="63491" name="Rectangle 2">
            <a:extLst>
              <a:ext uri="{FF2B5EF4-FFF2-40B4-BE49-F238E27FC236}">
                <a16:creationId xmlns:a16="http://schemas.microsoft.com/office/drawing/2014/main" id="{EF35A395-11E0-48DE-82B1-B8AEADD1FA15}"/>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63492" name="Rectangle 3">
            <a:extLst>
              <a:ext uri="{FF2B5EF4-FFF2-40B4-BE49-F238E27FC236}">
                <a16:creationId xmlns:a16="http://schemas.microsoft.com/office/drawing/2014/main" id="{684B1F6B-A2EC-49D3-B53E-35E6E6C7FD6C}"/>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a:t>
            </a:r>
            <a:endParaRPr lang="zh-CN" altLang="en-US" b="1">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2741F995-BF86-4F6A-AAC7-FFC32B7343E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CB43F7E-0DF3-4766-8019-2A7FA7254399}" type="slidenum">
              <a:rPr lang="zh-CN" altLang="en-US" smtClean="0">
                <a:latin typeface="Times New Roman" panose="02020603050405020304" pitchFamily="18" charset="0"/>
              </a:rPr>
              <a:pPr/>
              <a:t>201</a:t>
            </a:fld>
            <a:endParaRPr lang="en-US" altLang="zh-CN">
              <a:latin typeface="Times New Roman" panose="02020603050405020304" pitchFamily="18" charset="0"/>
            </a:endParaRPr>
          </a:p>
        </p:txBody>
      </p:sp>
      <p:sp>
        <p:nvSpPr>
          <p:cNvPr id="65539" name="Rectangle 2">
            <a:extLst>
              <a:ext uri="{FF2B5EF4-FFF2-40B4-BE49-F238E27FC236}">
                <a16:creationId xmlns:a16="http://schemas.microsoft.com/office/drawing/2014/main" id="{C3A362D0-0435-4E96-87B6-D2EFB6150EFA}"/>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65540" name="Rectangle 3">
            <a:extLst>
              <a:ext uri="{FF2B5EF4-FFF2-40B4-BE49-F238E27FC236}">
                <a16:creationId xmlns:a16="http://schemas.microsoft.com/office/drawing/2014/main" id="{76F4C4C5-1951-4346-8F64-C267E210ADC0}"/>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a:t>
            </a:r>
            <a:endParaRPr lang="zh-CN" altLang="en-US" b="1">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问题：谁应该为创建了不明确属于问题域类的工具类型对象负责？</a:t>
            </a:r>
            <a:endParaRPr lang="en-US" altLang="zh-CN" dirty="0"/>
          </a:p>
          <a:p>
            <a:r>
              <a:rPr lang="zh-CN" altLang="en-US" dirty="0"/>
              <a:t>（在设计中经常需要工具类，包括数据访问对象或者控制器类。什么类需要创建这些工具对象呢？多数情况下，域类创建他们没有意义，因为这不是域类的责任之一）</a:t>
            </a:r>
            <a:endParaRPr lang="en-US" altLang="zh-CN" dirty="0"/>
          </a:p>
          <a:p>
            <a:endParaRPr lang="en-US" altLang="zh-CN" dirty="0"/>
          </a:p>
          <a:p>
            <a:r>
              <a:rPr lang="zh-CN" altLang="en-US" dirty="0"/>
              <a:t>解决方案：创建一个工厂类。它的责任仅仅是实例化工具类</a:t>
            </a:r>
            <a:endParaRPr lang="en-US" altLang="zh-CN" dirty="0"/>
          </a:p>
          <a:p>
            <a:endParaRPr lang="en-US" altLang="zh-CN" dirty="0"/>
          </a:p>
          <a:p>
            <a:r>
              <a:rPr lang="zh-CN" altLang="en-US" dirty="0"/>
              <a:t>样例：</a:t>
            </a:r>
            <a:r>
              <a:rPr lang="en-US" altLang="zh-CN" dirty="0"/>
              <a:t>RMO</a:t>
            </a:r>
            <a:r>
              <a:rPr lang="zh-CN" altLang="en-US" dirty="0"/>
              <a:t>系统的几个位置需要从订单对象中活动数据并获得</a:t>
            </a:r>
            <a:r>
              <a:rPr lang="en-US" altLang="zh-CN" dirty="0" err="1"/>
              <a:t>Order_DA</a:t>
            </a:r>
            <a:r>
              <a:rPr lang="zh-CN" altLang="en-US" dirty="0"/>
              <a:t>（数据访问）对象的引用。</a:t>
            </a:r>
            <a:r>
              <a:rPr lang="en-US" altLang="zh-CN" dirty="0" err="1"/>
              <a:t>Order_DA</a:t>
            </a:r>
            <a:r>
              <a:rPr lang="zh-CN" altLang="en-US" dirty="0"/>
              <a:t>对象不知是否已经实例化。定义一个数据访问工厂并创建一个界面。请求的对象是用在界面中被定义的方法以获取</a:t>
            </a:r>
            <a:r>
              <a:rPr lang="en-US" altLang="zh-CN" dirty="0" err="1"/>
              <a:t>Order_DA</a:t>
            </a:r>
            <a:r>
              <a:rPr lang="zh-CN" altLang="en-US" dirty="0"/>
              <a:t>对象的引用。然后它就能读取订单的数据库</a:t>
            </a:r>
            <a:endParaRPr lang="en-US" altLang="zh-CN" dirty="0"/>
          </a:p>
          <a:p>
            <a:endParaRPr lang="en-US" altLang="zh-CN" dirty="0"/>
          </a:p>
          <a:p>
            <a:r>
              <a:rPr lang="zh-CN" altLang="en-US" dirty="0"/>
              <a:t>优点和结果：问题域类具有更高的内聚性</a:t>
            </a:r>
            <a:endParaRPr lang="en-US" altLang="zh-CN" dirty="0"/>
          </a:p>
          <a:p>
            <a:r>
              <a:rPr lang="zh-CN" altLang="en-US" dirty="0"/>
              <a:t>是业务逻辑和数据层之间的耦合更少</a:t>
            </a:r>
            <a:endParaRPr lang="en-US" altLang="zh-CN" dirty="0"/>
          </a:p>
          <a:p>
            <a:r>
              <a:rPr lang="zh-CN" altLang="en-US" dirty="0"/>
              <a:t>更小、更加可维持的类</a:t>
            </a:r>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202</a:t>
            </a:fld>
            <a:endParaRPr lang="en-US" altLang="zh-CN"/>
          </a:p>
        </p:txBody>
      </p:sp>
    </p:spTree>
    <p:extLst>
      <p:ext uri="{BB962C8B-B14F-4D97-AF65-F5344CB8AC3E}">
        <p14:creationId xmlns:p14="http://schemas.microsoft.com/office/powerpoint/2010/main" val="5722880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问题：谁应该为创建了不明确属于问题域类的工具类型对象负责？</a:t>
            </a:r>
            <a:endParaRPr lang="en-US" altLang="zh-CN" dirty="0"/>
          </a:p>
          <a:p>
            <a:r>
              <a:rPr lang="zh-CN" altLang="en-US" dirty="0"/>
              <a:t>（在设计中经常需要工具类，包括数据访问对象或者控制器类。什么类需要创建这些工具对象呢？多数情况下，域类创建他们没有意义，因为这不是域类的责任之一）</a:t>
            </a:r>
            <a:endParaRPr lang="en-US" altLang="zh-CN" dirty="0"/>
          </a:p>
          <a:p>
            <a:endParaRPr lang="en-US" altLang="zh-CN" dirty="0"/>
          </a:p>
          <a:p>
            <a:r>
              <a:rPr lang="zh-CN" altLang="en-US" dirty="0"/>
              <a:t>解决方案：创建一个工厂类。它的责任仅仅是实例化工具类</a:t>
            </a:r>
            <a:endParaRPr lang="en-US" altLang="zh-CN" dirty="0"/>
          </a:p>
          <a:p>
            <a:endParaRPr lang="en-US" altLang="zh-CN" dirty="0"/>
          </a:p>
          <a:p>
            <a:r>
              <a:rPr lang="zh-CN" altLang="en-US" dirty="0"/>
              <a:t>样例：</a:t>
            </a:r>
            <a:r>
              <a:rPr lang="en-US" altLang="zh-CN" dirty="0"/>
              <a:t>RMO</a:t>
            </a:r>
            <a:r>
              <a:rPr lang="zh-CN" altLang="en-US" dirty="0"/>
              <a:t>系统的几个位置需要从订单对象中活动数据并获得</a:t>
            </a:r>
            <a:r>
              <a:rPr lang="en-US" altLang="zh-CN" dirty="0" err="1"/>
              <a:t>Order_DA</a:t>
            </a:r>
            <a:r>
              <a:rPr lang="zh-CN" altLang="en-US" dirty="0"/>
              <a:t>（数据访问）对象的引用。</a:t>
            </a:r>
            <a:r>
              <a:rPr lang="en-US" altLang="zh-CN" dirty="0" err="1"/>
              <a:t>Order_DA</a:t>
            </a:r>
            <a:r>
              <a:rPr lang="zh-CN" altLang="en-US" dirty="0"/>
              <a:t>对象不知是否已经实例化。定义一个数据访问工厂并创建一个界面。请求的对象是用在界面中被定义的方法以获取</a:t>
            </a:r>
            <a:r>
              <a:rPr lang="en-US" altLang="zh-CN" dirty="0" err="1"/>
              <a:t>Order_DA</a:t>
            </a:r>
            <a:r>
              <a:rPr lang="zh-CN" altLang="en-US" dirty="0"/>
              <a:t>对象的引用。然后它就能读取订单的数据库</a:t>
            </a:r>
            <a:endParaRPr lang="en-US" altLang="zh-CN" dirty="0"/>
          </a:p>
          <a:p>
            <a:endParaRPr lang="en-US" altLang="zh-CN" dirty="0"/>
          </a:p>
          <a:p>
            <a:r>
              <a:rPr lang="zh-CN" altLang="en-US" dirty="0"/>
              <a:t>优点和结果：问题域类具有更高的内聚性</a:t>
            </a:r>
            <a:endParaRPr lang="en-US" altLang="zh-CN" dirty="0"/>
          </a:p>
          <a:p>
            <a:r>
              <a:rPr lang="zh-CN" altLang="en-US" dirty="0"/>
              <a:t>是业务逻辑和数据层之间的耦合更少</a:t>
            </a:r>
            <a:endParaRPr lang="en-US" altLang="zh-CN" dirty="0"/>
          </a:p>
          <a:p>
            <a:r>
              <a:rPr lang="zh-CN" altLang="en-US" dirty="0"/>
              <a:t>更小、更加可维持的类</a:t>
            </a:r>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203</a:t>
            </a:fld>
            <a:endParaRPr lang="en-US" altLang="zh-CN"/>
          </a:p>
        </p:txBody>
      </p:sp>
    </p:spTree>
    <p:extLst>
      <p:ext uri="{BB962C8B-B14F-4D97-AF65-F5344CB8AC3E}">
        <p14:creationId xmlns:p14="http://schemas.microsoft.com/office/powerpoint/2010/main" val="20570746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问题：谁应该为创建了不明确属于问题域类的工具类型对象负责？</a:t>
            </a:r>
            <a:endParaRPr lang="en-US" altLang="zh-CN" dirty="0"/>
          </a:p>
          <a:p>
            <a:r>
              <a:rPr lang="zh-CN" altLang="en-US" dirty="0"/>
              <a:t>（在设计中经常需要工具类，包括数据访问对象或者控制器类。什么类需要创建这些工具对象呢？多数情况下，域类创建他们没有意义，因为这不是域类的责任之一）</a:t>
            </a:r>
            <a:endParaRPr lang="en-US" altLang="zh-CN" dirty="0"/>
          </a:p>
          <a:p>
            <a:endParaRPr lang="en-US" altLang="zh-CN" dirty="0"/>
          </a:p>
          <a:p>
            <a:r>
              <a:rPr lang="zh-CN" altLang="en-US" dirty="0"/>
              <a:t>解决方案：创建一个工厂类。它的责任仅仅是实例化工具类</a:t>
            </a:r>
            <a:endParaRPr lang="en-US" altLang="zh-CN" dirty="0"/>
          </a:p>
          <a:p>
            <a:endParaRPr lang="en-US" altLang="zh-CN" dirty="0"/>
          </a:p>
          <a:p>
            <a:r>
              <a:rPr lang="zh-CN" altLang="en-US" dirty="0"/>
              <a:t>样例：</a:t>
            </a:r>
            <a:r>
              <a:rPr lang="en-US" altLang="zh-CN" dirty="0"/>
              <a:t>RMO</a:t>
            </a:r>
            <a:r>
              <a:rPr lang="zh-CN" altLang="en-US" dirty="0"/>
              <a:t>系统的几个位置需要从订单对象中活动数据并获得</a:t>
            </a:r>
            <a:r>
              <a:rPr lang="en-US" altLang="zh-CN" dirty="0" err="1"/>
              <a:t>Order_DA</a:t>
            </a:r>
            <a:r>
              <a:rPr lang="zh-CN" altLang="en-US" dirty="0"/>
              <a:t>（数据访问）对象的引用。</a:t>
            </a:r>
            <a:r>
              <a:rPr lang="en-US" altLang="zh-CN" dirty="0" err="1"/>
              <a:t>Order_DA</a:t>
            </a:r>
            <a:r>
              <a:rPr lang="zh-CN" altLang="en-US" dirty="0"/>
              <a:t>对象不知是否已经实例化。定义一个数据访问工厂并创建一个界面。请求的对象是用在界面中被定义的方法以获取</a:t>
            </a:r>
            <a:r>
              <a:rPr lang="en-US" altLang="zh-CN" dirty="0" err="1"/>
              <a:t>Order_DA</a:t>
            </a:r>
            <a:r>
              <a:rPr lang="zh-CN" altLang="en-US" dirty="0"/>
              <a:t>对象的引用。然后它就能读取订单的数据库</a:t>
            </a:r>
            <a:endParaRPr lang="en-US" altLang="zh-CN" dirty="0"/>
          </a:p>
          <a:p>
            <a:endParaRPr lang="en-US" altLang="zh-CN" dirty="0"/>
          </a:p>
          <a:p>
            <a:r>
              <a:rPr lang="zh-CN" altLang="en-US" dirty="0"/>
              <a:t>优点和结果：问题域类具有更高的内聚性</a:t>
            </a:r>
            <a:endParaRPr lang="en-US" altLang="zh-CN" dirty="0"/>
          </a:p>
          <a:p>
            <a:r>
              <a:rPr lang="zh-CN" altLang="en-US" dirty="0"/>
              <a:t>是业务逻辑和数据层之间的耦合更少</a:t>
            </a:r>
            <a:endParaRPr lang="en-US" altLang="zh-CN" dirty="0"/>
          </a:p>
          <a:p>
            <a:r>
              <a:rPr lang="zh-CN" altLang="en-US" dirty="0"/>
              <a:t>更小、更加可维持的类</a:t>
            </a:r>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204</a:t>
            </a:fld>
            <a:endParaRPr lang="en-US" altLang="zh-CN"/>
          </a:p>
        </p:txBody>
      </p:sp>
    </p:spTree>
    <p:extLst>
      <p:ext uri="{BB962C8B-B14F-4D97-AF65-F5344CB8AC3E}">
        <p14:creationId xmlns:p14="http://schemas.microsoft.com/office/powerpoint/2010/main" val="47842650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a:extLst>
              <a:ext uri="{FF2B5EF4-FFF2-40B4-BE49-F238E27FC236}">
                <a16:creationId xmlns:a16="http://schemas.microsoft.com/office/drawing/2014/main" id="{F40635C1-9836-4AAF-8AA6-CE738D03FA2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7B103D2-4820-4440-A927-CB7A871960C9}" type="slidenum">
              <a:rPr lang="zh-CN" altLang="en-US" smtClean="0">
                <a:latin typeface="Times New Roman" panose="02020603050405020304" pitchFamily="18" charset="0"/>
              </a:rPr>
              <a:pPr/>
              <a:t>205</a:t>
            </a:fld>
            <a:endParaRPr lang="en-US" altLang="zh-CN">
              <a:latin typeface="Times New Roman" panose="02020603050405020304" pitchFamily="18" charset="0"/>
            </a:endParaRPr>
          </a:p>
        </p:txBody>
      </p:sp>
      <p:sp>
        <p:nvSpPr>
          <p:cNvPr id="131075" name="Rectangle 2">
            <a:extLst>
              <a:ext uri="{FF2B5EF4-FFF2-40B4-BE49-F238E27FC236}">
                <a16:creationId xmlns:a16="http://schemas.microsoft.com/office/drawing/2014/main" id="{F7A21B17-CBB3-4A2B-AE7D-5DE5C28666D0}"/>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131076" name="Rectangle 3">
            <a:extLst>
              <a:ext uri="{FF2B5EF4-FFF2-40B4-BE49-F238E27FC236}">
                <a16:creationId xmlns:a16="http://schemas.microsoft.com/office/drawing/2014/main" id="{1A50C425-18C8-4A56-BEF2-0C0B74329246}"/>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a:t>
            </a:r>
            <a:endParaRPr lang="zh-CN" altLang="en-US" sz="2000">
              <a:solidFill>
                <a:srgbClr val="49AB39"/>
              </a:solidFill>
              <a:latin typeface="黑体" panose="02010609060101010101" pitchFamily="49" charset="-122"/>
              <a:ea typeface="黑体" panose="02010609060101010101" pitchFamily="49"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a:extLst>
              <a:ext uri="{FF2B5EF4-FFF2-40B4-BE49-F238E27FC236}">
                <a16:creationId xmlns:a16="http://schemas.microsoft.com/office/drawing/2014/main" id="{84C2B6AF-04CE-4A3B-8DF5-EAAE3664952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3359150-83B8-421C-9395-D9FA0CF66DF0}" type="slidenum">
              <a:rPr lang="zh-CN" altLang="en-US" smtClean="0">
                <a:latin typeface="Times New Roman" panose="02020603050405020304" pitchFamily="18" charset="0"/>
              </a:rPr>
              <a:pPr/>
              <a:t>206</a:t>
            </a:fld>
            <a:endParaRPr lang="en-US" altLang="zh-CN">
              <a:latin typeface="Times New Roman" panose="02020603050405020304" pitchFamily="18" charset="0"/>
            </a:endParaRPr>
          </a:p>
        </p:txBody>
      </p:sp>
      <p:sp>
        <p:nvSpPr>
          <p:cNvPr id="133123" name="Rectangle 2">
            <a:extLst>
              <a:ext uri="{FF2B5EF4-FFF2-40B4-BE49-F238E27FC236}">
                <a16:creationId xmlns:a16="http://schemas.microsoft.com/office/drawing/2014/main" id="{F6B44E86-52D2-4748-8C81-E26B16280351}"/>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133124" name="Rectangle 3">
            <a:extLst>
              <a:ext uri="{FF2B5EF4-FFF2-40B4-BE49-F238E27FC236}">
                <a16:creationId xmlns:a16="http://schemas.microsoft.com/office/drawing/2014/main" id="{9A5029DA-6ED7-4B6A-8DC2-E7D13CE74019}"/>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a:t>
            </a:r>
            <a:endParaRPr lang="zh-CN" altLang="en-US" sz="2000">
              <a:solidFill>
                <a:srgbClr val="49AB39"/>
              </a:solidFill>
              <a:latin typeface="黑体" panose="02010609060101010101" pitchFamily="49" charset="-122"/>
              <a:ea typeface="黑体" panose="02010609060101010101" pitchFamily="49"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a:extLst>
              <a:ext uri="{FF2B5EF4-FFF2-40B4-BE49-F238E27FC236}">
                <a16:creationId xmlns:a16="http://schemas.microsoft.com/office/drawing/2014/main" id="{9F60E3C1-A6C6-4758-ABAC-8254A755DD9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3CD0E23-592F-49CF-BEC8-4FEA6379F0DF}" type="slidenum">
              <a:rPr lang="zh-CN" altLang="en-US" smtClean="0">
                <a:latin typeface="Times New Roman" panose="02020603050405020304" pitchFamily="18" charset="0"/>
              </a:rPr>
              <a:pPr/>
              <a:t>207</a:t>
            </a:fld>
            <a:endParaRPr lang="en-US" altLang="zh-CN">
              <a:latin typeface="Times New Roman" panose="02020603050405020304" pitchFamily="18" charset="0"/>
            </a:endParaRPr>
          </a:p>
        </p:txBody>
      </p:sp>
      <p:sp>
        <p:nvSpPr>
          <p:cNvPr id="135171" name="Rectangle 2">
            <a:extLst>
              <a:ext uri="{FF2B5EF4-FFF2-40B4-BE49-F238E27FC236}">
                <a16:creationId xmlns:a16="http://schemas.microsoft.com/office/drawing/2014/main" id="{6E39E836-6C90-4DA8-8C82-0AB208D4B226}"/>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135172" name="Rectangle 3">
            <a:extLst>
              <a:ext uri="{FF2B5EF4-FFF2-40B4-BE49-F238E27FC236}">
                <a16:creationId xmlns:a16="http://schemas.microsoft.com/office/drawing/2014/main" id="{99915A1B-7AF3-4F2D-8001-C56D5DB6FFE6}"/>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a:spcBef>
                <a:spcPct val="0"/>
              </a:spcBef>
            </a:pPr>
            <a:r>
              <a:rPr lang="zh-CN" altLang="en-US" sz="1800" b="1">
                <a:solidFill>
                  <a:srgbClr val="345BC8"/>
                </a:solidFill>
                <a:latin typeface="Times New Roman" panose="02020603050405020304" pitchFamily="18" charset="0"/>
                <a:ea typeface="文鼎细圆" pitchFamily="49" charset="-122"/>
              </a:rPr>
              <a:t>表中的 </a:t>
            </a:r>
            <a:r>
              <a:rPr lang="en-US" altLang="zh-CN" sz="2000">
                <a:solidFill>
                  <a:schemeClr val="accent2"/>
                </a:solidFill>
                <a:latin typeface="Times New Roman" panose="02020603050405020304" pitchFamily="18" charset="0"/>
                <a:ea typeface="文鼎细圆" pitchFamily="49" charset="-122"/>
              </a:rPr>
              <a:t>①</a:t>
            </a:r>
            <a:r>
              <a:rPr lang="zh-CN" altLang="en-US" sz="1800" b="1">
                <a:solidFill>
                  <a:srgbClr val="345BC8"/>
                </a:solidFill>
                <a:latin typeface="Times New Roman" panose="02020603050405020304" pitchFamily="18" charset="0"/>
                <a:ea typeface="文鼎细圆" pitchFamily="49" charset="-122"/>
              </a:rPr>
              <a:t> 、 </a:t>
            </a:r>
            <a:r>
              <a:rPr lang="zh-CN" altLang="en-US" sz="2000">
                <a:solidFill>
                  <a:schemeClr val="accent2"/>
                </a:solidFill>
                <a:latin typeface="Times New Roman" panose="02020603050405020304" pitchFamily="18" charset="0"/>
                <a:ea typeface="文鼎细圆" pitchFamily="49" charset="-122"/>
              </a:rPr>
              <a:t>⑤、 ⑧ 的</a:t>
            </a:r>
            <a:r>
              <a:rPr lang="zh-CN" altLang="en-US" sz="2000">
                <a:solidFill>
                  <a:srgbClr val="345BC8"/>
                </a:solidFill>
                <a:latin typeface="Times New Roman" panose="02020603050405020304" pitchFamily="18" charset="0"/>
                <a:ea typeface="文鼎细圆" pitchFamily="49" charset="-122"/>
              </a:rPr>
              <a:t>3个有效等价类，则可以公用一个测试用例:</a:t>
            </a:r>
            <a:endParaRPr lang="zh-CN" altLang="en-US" sz="2000">
              <a:solidFill>
                <a:schemeClr val="accent2"/>
              </a:solidFill>
              <a:latin typeface="Times New Roman" panose="02020603050405020304" pitchFamily="18" charset="0"/>
              <a:ea typeface="文鼎细圆" pitchFamily="49" charset="-122"/>
            </a:endParaRPr>
          </a:p>
          <a:p>
            <a:pPr algn="ctr">
              <a:spcBef>
                <a:spcPct val="0"/>
              </a:spcBef>
            </a:pPr>
            <a:endParaRPr lang="zh-CN" altLang="en-US" sz="2000">
              <a:solidFill>
                <a:srgbClr val="49AB39"/>
              </a:solidFill>
              <a:latin typeface="黑体" panose="02010609060101010101" pitchFamily="49" charset="-122"/>
              <a:ea typeface="黑体" panose="02010609060101010101" pitchFamily="49"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a:extLst>
              <a:ext uri="{FF2B5EF4-FFF2-40B4-BE49-F238E27FC236}">
                <a16:creationId xmlns:a16="http://schemas.microsoft.com/office/drawing/2014/main" id="{B34D87E1-7BF9-4124-A745-A73B7066D2C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77A487D-A190-40D2-B966-43A7839DD803}" type="slidenum">
              <a:rPr lang="zh-CN" altLang="en-US" smtClean="0">
                <a:latin typeface="Times New Roman" panose="02020603050405020304" pitchFamily="18" charset="0"/>
              </a:rPr>
              <a:pPr/>
              <a:t>208</a:t>
            </a:fld>
            <a:endParaRPr lang="en-US" altLang="zh-CN">
              <a:latin typeface="Times New Roman" panose="02020603050405020304" pitchFamily="18" charset="0"/>
            </a:endParaRPr>
          </a:p>
        </p:txBody>
      </p:sp>
      <p:sp>
        <p:nvSpPr>
          <p:cNvPr id="137219" name="Rectangle 2">
            <a:extLst>
              <a:ext uri="{FF2B5EF4-FFF2-40B4-BE49-F238E27FC236}">
                <a16:creationId xmlns:a16="http://schemas.microsoft.com/office/drawing/2014/main" id="{D5D2547B-0349-4115-9174-4F4693278D7B}"/>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137220" name="Rectangle 3">
            <a:extLst>
              <a:ext uri="{FF2B5EF4-FFF2-40B4-BE49-F238E27FC236}">
                <a16:creationId xmlns:a16="http://schemas.microsoft.com/office/drawing/2014/main" id="{A624380C-870E-4E73-A445-FDDB0E818620}"/>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algn="ctr">
              <a:spcBef>
                <a:spcPct val="0"/>
              </a:spcBef>
            </a:pPr>
            <a:endParaRPr lang="zh-CN" altLang="en-US" sz="2000">
              <a:solidFill>
                <a:srgbClr val="49AB39"/>
              </a:solidFill>
              <a:latin typeface="黑体" panose="02010609060101010101" pitchFamily="49" charset="-122"/>
              <a:ea typeface="黑体" panose="02010609060101010101" pitchFamily="49"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问题：谁应该为创建了不明确属于问题域类的工具类型对象负责？</a:t>
            </a:r>
            <a:endParaRPr lang="en-US" altLang="zh-CN" dirty="0"/>
          </a:p>
          <a:p>
            <a:r>
              <a:rPr lang="zh-CN" altLang="en-US" dirty="0"/>
              <a:t>（在设计中经常需要工具类，包括数据访问对象或者控制器类。什么类需要创建这些工具对象呢？多数情况下，域类创建他们没有意义，因为这不是域类的责任之一）</a:t>
            </a:r>
            <a:endParaRPr lang="en-US" altLang="zh-CN" dirty="0"/>
          </a:p>
          <a:p>
            <a:endParaRPr lang="en-US" altLang="zh-CN" dirty="0"/>
          </a:p>
          <a:p>
            <a:r>
              <a:rPr lang="zh-CN" altLang="en-US" dirty="0"/>
              <a:t>解决方案：创建一个工厂类。它的责任仅仅是实例化工具类</a:t>
            </a:r>
            <a:endParaRPr lang="en-US" altLang="zh-CN" dirty="0"/>
          </a:p>
          <a:p>
            <a:endParaRPr lang="en-US" altLang="zh-CN" dirty="0"/>
          </a:p>
          <a:p>
            <a:r>
              <a:rPr lang="zh-CN" altLang="en-US" dirty="0"/>
              <a:t>样例：</a:t>
            </a:r>
            <a:r>
              <a:rPr lang="en-US" altLang="zh-CN" dirty="0"/>
              <a:t>RMO</a:t>
            </a:r>
            <a:r>
              <a:rPr lang="zh-CN" altLang="en-US" dirty="0"/>
              <a:t>系统的几个位置需要从订单对象中活动数据并获得</a:t>
            </a:r>
            <a:r>
              <a:rPr lang="en-US" altLang="zh-CN" dirty="0" err="1"/>
              <a:t>Order_DA</a:t>
            </a:r>
            <a:r>
              <a:rPr lang="zh-CN" altLang="en-US" dirty="0"/>
              <a:t>（数据访问）对象的引用。</a:t>
            </a:r>
            <a:r>
              <a:rPr lang="en-US" altLang="zh-CN" dirty="0" err="1"/>
              <a:t>Order_DA</a:t>
            </a:r>
            <a:r>
              <a:rPr lang="zh-CN" altLang="en-US" dirty="0"/>
              <a:t>对象不知是否已经实例化。定义一个数据访问工厂并创建一个界面。请求的对象是用在界面中被定义的方法以获取</a:t>
            </a:r>
            <a:r>
              <a:rPr lang="en-US" altLang="zh-CN" dirty="0" err="1"/>
              <a:t>Order_DA</a:t>
            </a:r>
            <a:r>
              <a:rPr lang="zh-CN" altLang="en-US" dirty="0"/>
              <a:t>对象的引用。然后它就能读取订单的数据库</a:t>
            </a:r>
            <a:endParaRPr lang="en-US" altLang="zh-CN" dirty="0"/>
          </a:p>
          <a:p>
            <a:endParaRPr lang="en-US" altLang="zh-CN" dirty="0"/>
          </a:p>
          <a:p>
            <a:r>
              <a:rPr lang="zh-CN" altLang="en-US" dirty="0"/>
              <a:t>优点和结果：问题域类具有更高的内聚性</a:t>
            </a:r>
            <a:endParaRPr lang="en-US" altLang="zh-CN" dirty="0"/>
          </a:p>
          <a:p>
            <a:r>
              <a:rPr lang="zh-CN" altLang="en-US" dirty="0"/>
              <a:t>是业务逻辑和数据层之间的耦合更少</a:t>
            </a:r>
            <a:endParaRPr lang="en-US" altLang="zh-CN" dirty="0"/>
          </a:p>
          <a:p>
            <a:r>
              <a:rPr lang="zh-CN" altLang="en-US" dirty="0"/>
              <a:t>更小、更加可维持的类</a:t>
            </a:r>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49E27BB-29EF-40C4-9DC6-72035873FF66}" type="slidenum">
              <a:rPr lang="en-US" altLang="zh-CN" smtClean="0"/>
              <a:pPr/>
              <a:t>209</a:t>
            </a:fld>
            <a:endParaRPr lang="en-US" altLang="zh-CN"/>
          </a:p>
        </p:txBody>
      </p:sp>
    </p:spTree>
    <p:extLst>
      <p:ext uri="{BB962C8B-B14F-4D97-AF65-F5344CB8AC3E}">
        <p14:creationId xmlns:p14="http://schemas.microsoft.com/office/powerpoint/2010/main" val="5372328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a:extLst>
              <a:ext uri="{FF2B5EF4-FFF2-40B4-BE49-F238E27FC236}">
                <a16:creationId xmlns:a16="http://schemas.microsoft.com/office/drawing/2014/main" id="{AF606AA3-AE6D-4E61-883B-47761A58392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655D87D-9B32-4384-A37A-4AC3C51F93A5}" type="slidenum">
              <a:rPr lang="zh-CN" altLang="en-US" smtClean="0">
                <a:latin typeface="Times New Roman" panose="02020603050405020304" pitchFamily="18" charset="0"/>
              </a:rPr>
              <a:pPr/>
              <a:t>210</a:t>
            </a:fld>
            <a:endParaRPr lang="en-US" altLang="zh-CN">
              <a:latin typeface="Times New Roman" panose="02020603050405020304" pitchFamily="18" charset="0"/>
            </a:endParaRPr>
          </a:p>
        </p:txBody>
      </p:sp>
      <p:sp>
        <p:nvSpPr>
          <p:cNvPr id="139267" name="Rectangle 2">
            <a:extLst>
              <a:ext uri="{FF2B5EF4-FFF2-40B4-BE49-F238E27FC236}">
                <a16:creationId xmlns:a16="http://schemas.microsoft.com/office/drawing/2014/main" id="{D4A159D5-8135-4BA5-8F2B-6BD4222D4A9D}"/>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139268" name="Rectangle 3">
            <a:extLst>
              <a:ext uri="{FF2B5EF4-FFF2-40B4-BE49-F238E27FC236}">
                <a16:creationId xmlns:a16="http://schemas.microsoft.com/office/drawing/2014/main" id="{562159CE-32CC-4F59-A018-569B898B656F}"/>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a:t>
            </a:r>
          </a:p>
          <a:p>
            <a:pPr eaLnBrk="1" hangingPunct="1"/>
            <a:r>
              <a:rPr lang="zh-CN" altLang="en-US">
                <a:latin typeface="Times New Roman" panose="02020603050405020304" pitchFamily="18" charset="0"/>
              </a:rPr>
              <a:t>       实践表明，程序员在处理边界情况时，很容易因疏忽或考虑不周而发生编码错误。例如，在数组容量</a:t>
            </a:r>
            <a:r>
              <a:rPr lang="en-US" altLang="zh-CN">
                <a:latin typeface="Times New Roman" panose="02020603050405020304" pitchFamily="18" charset="0"/>
              </a:rPr>
              <a:t>、</a:t>
            </a:r>
            <a:r>
              <a:rPr lang="zh-CN" altLang="en-US">
                <a:latin typeface="Times New Roman" panose="02020603050405020304" pitchFamily="18" charset="0"/>
              </a:rPr>
              <a:t>循环次数、以及输入数据与输出数据的边界值附近程序出错的概率往往较大。</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a:extLst>
              <a:ext uri="{FF2B5EF4-FFF2-40B4-BE49-F238E27FC236}">
                <a16:creationId xmlns:a16="http://schemas.microsoft.com/office/drawing/2014/main" id="{9560C1A4-D644-4D9F-A384-41785FB7326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B4B93F2-DAF1-4702-950A-3CA6D86328A8}" type="slidenum">
              <a:rPr lang="zh-CN" altLang="en-US" smtClean="0">
                <a:latin typeface="Times New Roman" panose="02020603050405020304" pitchFamily="18" charset="0"/>
              </a:rPr>
              <a:pPr/>
              <a:t>211</a:t>
            </a:fld>
            <a:endParaRPr lang="en-US" altLang="zh-CN">
              <a:latin typeface="Times New Roman" panose="02020603050405020304" pitchFamily="18" charset="0"/>
            </a:endParaRPr>
          </a:p>
        </p:txBody>
      </p:sp>
      <p:sp>
        <p:nvSpPr>
          <p:cNvPr id="141315" name="Rectangle 2">
            <a:extLst>
              <a:ext uri="{FF2B5EF4-FFF2-40B4-BE49-F238E27FC236}">
                <a16:creationId xmlns:a16="http://schemas.microsoft.com/office/drawing/2014/main" id="{AB2A9890-5533-4779-A65F-135CFB809FBE}"/>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141316" name="Rectangle 3">
            <a:extLst>
              <a:ext uri="{FF2B5EF4-FFF2-40B4-BE49-F238E27FC236}">
                <a16:creationId xmlns:a16="http://schemas.microsoft.com/office/drawing/2014/main" id="{9D9309C0-0548-4660-B725-0CA4283D9891}"/>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zh-CN" altLang="en-US">
                <a:latin typeface="Times New Roman" panose="02020603050405020304" pitchFamily="18" charset="0"/>
              </a:rPr>
              <a:t>       </a:t>
            </a:r>
            <a:r>
              <a:rPr lang="zh-CN" altLang="en-US" sz="2000">
                <a:solidFill>
                  <a:srgbClr val="345BC8"/>
                </a:solidFill>
                <a:latin typeface="Times New Roman" panose="02020603050405020304" pitchFamily="18" charset="0"/>
                <a:ea typeface="楷体_GB2312" pitchFamily="49" charset="-122"/>
              </a:rPr>
              <a:t>当我们用等价分类法设计测试用例时，测试数据可以在等价类值域内任意选取。如前例所示。现假设在前例中，如果只为了接受年龄合格的报名者则 程序中可能设有语句为:</a:t>
            </a:r>
          </a:p>
          <a:p>
            <a:pPr eaLnBrk="1" hangingPunct="1"/>
            <a:r>
              <a:rPr lang="zh-CN" altLang="en-US">
                <a:latin typeface="Times New Roman" panose="02020603050405020304" pitchFamily="18" charset="0"/>
              </a:rPr>
              <a:t>      但是如果在编码中要是把以上语句中的“〈=” 误写为 “ </a:t>
            </a:r>
            <a:r>
              <a:rPr lang="zh-CN" altLang="en-US" b="1" u="sng">
                <a:latin typeface="Times New Roman" panose="02020603050405020304" pitchFamily="18" charset="0"/>
              </a:rPr>
              <a:t>〈</a:t>
            </a:r>
            <a:r>
              <a:rPr lang="zh-CN" altLang="en-US">
                <a:latin typeface="Times New Roman" panose="02020603050405020304" pitchFamily="18" charset="0"/>
              </a:rPr>
              <a:t> ” 的话，那么我们在用利用上例中的测试用例，则都不回发现这种错误。</a:t>
            </a:r>
          </a:p>
          <a:p>
            <a:pPr eaLnBrk="1" hangingPunct="1"/>
            <a:r>
              <a:rPr lang="zh-CN" altLang="en-US">
                <a:latin typeface="Times New Roman" panose="02020603050405020304" pitchFamily="18" charset="0"/>
              </a:rPr>
              <a:t>      而所谓的边界值分析，就是把测试的重点放在各个等价类的边界，选取刚好等于、刚好大于和刚刚小于边界值的数据为测试数据，并根据此设计出相应的测试用例。</a:t>
            </a:r>
          </a:p>
          <a:p>
            <a:pPr eaLnBrk="1" hangingPunct="1"/>
            <a:endParaRPr lang="zh-CN" altLang="en-US" sz="2000">
              <a:solidFill>
                <a:srgbClr val="345BC8"/>
              </a:solidFill>
              <a:latin typeface="Times New Roman" panose="02020603050405020304" pitchFamily="18" charset="0"/>
              <a:ea typeface="楷体_GB2312" pitchFamily="49"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a:extLst>
              <a:ext uri="{FF2B5EF4-FFF2-40B4-BE49-F238E27FC236}">
                <a16:creationId xmlns:a16="http://schemas.microsoft.com/office/drawing/2014/main" id="{F2E2173A-FCF6-4285-B379-71CF6365C4A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604B2FFD-8382-4B7E-AD26-BC6446FAAC5F}" type="slidenum">
              <a:rPr lang="zh-CN" altLang="en-US" smtClean="0">
                <a:latin typeface="Times New Roman" panose="02020603050405020304" pitchFamily="18" charset="0"/>
              </a:rPr>
              <a:pPr/>
              <a:t>212</a:t>
            </a:fld>
            <a:endParaRPr lang="en-US" altLang="zh-CN">
              <a:latin typeface="Times New Roman" panose="02020603050405020304" pitchFamily="18" charset="0"/>
            </a:endParaRPr>
          </a:p>
        </p:txBody>
      </p:sp>
      <p:sp>
        <p:nvSpPr>
          <p:cNvPr id="143363" name="Rectangle 2">
            <a:extLst>
              <a:ext uri="{FF2B5EF4-FFF2-40B4-BE49-F238E27FC236}">
                <a16:creationId xmlns:a16="http://schemas.microsoft.com/office/drawing/2014/main" id="{82C07BC9-E9F6-46CD-AE78-9C7843F3891F}"/>
              </a:ext>
            </a:extLst>
          </p:cNvPr>
          <p:cNvSpPr>
            <a:spLocks noChangeArrowheads="1" noTextEdit="1"/>
          </p:cNvSpPr>
          <p:nvPr>
            <p:ph type="sldImg"/>
          </p:nvPr>
        </p:nvSpPr>
        <p:spPr bwMode="auto">
          <a:solidFill>
            <a:srgbClr val="FFFFFF"/>
          </a:solidFill>
          <a:ln>
            <a:solidFill>
              <a:srgbClr val="000000"/>
            </a:solidFill>
            <a:miter lim="800000"/>
            <a:headEnd/>
            <a:tailEnd/>
          </a:ln>
        </p:spPr>
      </p:sp>
      <p:sp>
        <p:nvSpPr>
          <p:cNvPr id="143364" name="Rectangle 3">
            <a:extLst>
              <a:ext uri="{FF2B5EF4-FFF2-40B4-BE49-F238E27FC236}">
                <a16:creationId xmlns:a16="http://schemas.microsoft.com/office/drawing/2014/main" id="{6D56D0C1-9E68-47ED-BF1C-62301C4C0725}"/>
              </a:ext>
            </a:extLst>
          </p:cNvPr>
          <p:cNvSpPr>
            <a:spLocks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a:spcBef>
                <a:spcPct val="0"/>
              </a:spcBef>
            </a:pPr>
            <a:r>
              <a:rPr lang="zh-CN" altLang="en-US" sz="1800" b="1">
                <a:solidFill>
                  <a:srgbClr val="345BC8"/>
                </a:solidFill>
                <a:latin typeface="Times New Roman" panose="02020603050405020304" pitchFamily="18" charset="0"/>
                <a:ea typeface="文鼎细圆" pitchFamily="49" charset="-122"/>
              </a:rPr>
              <a:t> </a:t>
            </a:r>
            <a:endParaRPr lang="zh-CN" altLang="en-US" sz="2000">
              <a:solidFill>
                <a:schemeClr val="accent2"/>
              </a:solidFill>
              <a:latin typeface="Times New Roman" panose="02020603050405020304" pitchFamily="18" charset="0"/>
              <a:ea typeface="文鼎细圆" pitchFamily="49" charset="-122"/>
            </a:endParaRPr>
          </a:p>
          <a:p>
            <a:pPr algn="ctr">
              <a:spcBef>
                <a:spcPct val="0"/>
              </a:spcBef>
            </a:pPr>
            <a:endParaRPr lang="zh-CN" altLang="en-US" sz="2000">
              <a:solidFill>
                <a:srgbClr val="49AB39"/>
              </a:solidFill>
              <a:latin typeface="黑体" panose="02010609060101010101" pitchFamily="49" charset="-122"/>
              <a:ea typeface="黑体" panose="02010609060101010101" pitchFamily="49"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897637-34AC-4B58-ACAE-45F81A8DB1E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30F4A88-B968-4C55-B00C-13E52A1C88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8020C3A-4048-40E0-9000-6994D6FF13D6}"/>
              </a:ext>
            </a:extLst>
          </p:cNvPr>
          <p:cNvSpPr>
            <a:spLocks noGrp="1"/>
          </p:cNvSpPr>
          <p:nvPr>
            <p:ph type="dt" sz="half" idx="10"/>
          </p:nvPr>
        </p:nvSpPr>
        <p:spPr/>
        <p:txBody>
          <a:bodyPr/>
          <a:lstStyle/>
          <a:p>
            <a:fld id="{402D5F58-96E1-4A52-8685-F038787A1475}" type="datetimeFigureOut">
              <a:rPr lang="zh-CN" altLang="en-US" smtClean="0"/>
              <a:t>2026/6/10</a:t>
            </a:fld>
            <a:endParaRPr lang="zh-CN" altLang="en-US"/>
          </a:p>
        </p:txBody>
      </p:sp>
      <p:sp>
        <p:nvSpPr>
          <p:cNvPr id="5" name="页脚占位符 4">
            <a:extLst>
              <a:ext uri="{FF2B5EF4-FFF2-40B4-BE49-F238E27FC236}">
                <a16:creationId xmlns:a16="http://schemas.microsoft.com/office/drawing/2014/main" id="{E68FB970-CA34-44CC-BB24-6844350313B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C0D189F-AE84-4C24-AA03-E5533F945B6C}"/>
              </a:ext>
            </a:extLst>
          </p:cNvPr>
          <p:cNvSpPr>
            <a:spLocks noGrp="1"/>
          </p:cNvSpPr>
          <p:nvPr>
            <p:ph type="sldNum" sz="quarter" idx="12"/>
          </p:nvPr>
        </p:nvSpPr>
        <p:spPr/>
        <p:txBody>
          <a:bodyPr/>
          <a:lstStyle/>
          <a:p>
            <a:fld id="{96666617-7A17-4363-A0A0-5E52786ED021}" type="slidenum">
              <a:rPr lang="zh-CN" altLang="en-US" smtClean="0"/>
              <a:t>‹#›</a:t>
            </a:fld>
            <a:endParaRPr lang="zh-CN" altLang="en-US"/>
          </a:p>
        </p:txBody>
      </p:sp>
    </p:spTree>
    <p:extLst>
      <p:ext uri="{BB962C8B-B14F-4D97-AF65-F5344CB8AC3E}">
        <p14:creationId xmlns:p14="http://schemas.microsoft.com/office/powerpoint/2010/main" val="9367581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7212C1-7AB5-49E0-9B29-36A03AA23BE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7072410-1E97-43BA-88AC-5585417653A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0E5D28A-501B-424C-8DD3-64DF8CA33AAD}"/>
              </a:ext>
            </a:extLst>
          </p:cNvPr>
          <p:cNvSpPr>
            <a:spLocks noGrp="1"/>
          </p:cNvSpPr>
          <p:nvPr>
            <p:ph type="dt" sz="half" idx="10"/>
          </p:nvPr>
        </p:nvSpPr>
        <p:spPr/>
        <p:txBody>
          <a:bodyPr/>
          <a:lstStyle/>
          <a:p>
            <a:fld id="{402D5F58-96E1-4A52-8685-F038787A1475}" type="datetimeFigureOut">
              <a:rPr lang="zh-CN" altLang="en-US" smtClean="0"/>
              <a:t>2026/6/10</a:t>
            </a:fld>
            <a:endParaRPr lang="zh-CN" altLang="en-US"/>
          </a:p>
        </p:txBody>
      </p:sp>
      <p:sp>
        <p:nvSpPr>
          <p:cNvPr id="5" name="页脚占位符 4">
            <a:extLst>
              <a:ext uri="{FF2B5EF4-FFF2-40B4-BE49-F238E27FC236}">
                <a16:creationId xmlns:a16="http://schemas.microsoft.com/office/drawing/2014/main" id="{5204EF5D-F99E-4E33-A2AC-14920866425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AEA2BB8-7837-4A4A-92F5-CF6EF2C61243}"/>
              </a:ext>
            </a:extLst>
          </p:cNvPr>
          <p:cNvSpPr>
            <a:spLocks noGrp="1"/>
          </p:cNvSpPr>
          <p:nvPr>
            <p:ph type="sldNum" sz="quarter" idx="12"/>
          </p:nvPr>
        </p:nvSpPr>
        <p:spPr/>
        <p:txBody>
          <a:bodyPr/>
          <a:lstStyle/>
          <a:p>
            <a:fld id="{96666617-7A17-4363-A0A0-5E52786ED021}" type="slidenum">
              <a:rPr lang="zh-CN" altLang="en-US" smtClean="0"/>
              <a:t>‹#›</a:t>
            </a:fld>
            <a:endParaRPr lang="zh-CN" altLang="en-US"/>
          </a:p>
        </p:txBody>
      </p:sp>
    </p:spTree>
    <p:extLst>
      <p:ext uri="{BB962C8B-B14F-4D97-AF65-F5344CB8AC3E}">
        <p14:creationId xmlns:p14="http://schemas.microsoft.com/office/powerpoint/2010/main" val="2790487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BD6E97-C90C-4A46-9E33-B6C70EB6FA7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2E10C6F-AB26-43D0-A760-458584CA4A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5F6234B-C1D9-4C30-B433-631148E072FD}"/>
              </a:ext>
            </a:extLst>
          </p:cNvPr>
          <p:cNvSpPr>
            <a:spLocks noGrp="1"/>
          </p:cNvSpPr>
          <p:nvPr>
            <p:ph type="dt" sz="half" idx="10"/>
          </p:nvPr>
        </p:nvSpPr>
        <p:spPr/>
        <p:txBody>
          <a:bodyPr/>
          <a:lstStyle/>
          <a:p>
            <a:fld id="{402D5F58-96E1-4A52-8685-F038787A1475}" type="datetimeFigureOut">
              <a:rPr lang="zh-CN" altLang="en-US" smtClean="0"/>
              <a:t>2026/6/10</a:t>
            </a:fld>
            <a:endParaRPr lang="zh-CN" altLang="en-US"/>
          </a:p>
        </p:txBody>
      </p:sp>
      <p:sp>
        <p:nvSpPr>
          <p:cNvPr id="5" name="页脚占位符 4">
            <a:extLst>
              <a:ext uri="{FF2B5EF4-FFF2-40B4-BE49-F238E27FC236}">
                <a16:creationId xmlns:a16="http://schemas.microsoft.com/office/drawing/2014/main" id="{D103C809-F87D-43C4-8FCD-C4077952567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99BE12E-AC57-4DBD-AD4B-8547F8F54CC1}"/>
              </a:ext>
            </a:extLst>
          </p:cNvPr>
          <p:cNvSpPr>
            <a:spLocks noGrp="1"/>
          </p:cNvSpPr>
          <p:nvPr>
            <p:ph type="sldNum" sz="quarter" idx="12"/>
          </p:nvPr>
        </p:nvSpPr>
        <p:spPr/>
        <p:txBody>
          <a:bodyPr/>
          <a:lstStyle/>
          <a:p>
            <a:fld id="{96666617-7A17-4363-A0A0-5E52786ED021}" type="slidenum">
              <a:rPr lang="zh-CN" altLang="en-US" smtClean="0"/>
              <a:t>‹#›</a:t>
            </a:fld>
            <a:endParaRPr lang="zh-CN" altLang="en-US"/>
          </a:p>
        </p:txBody>
      </p:sp>
    </p:spTree>
    <p:extLst>
      <p:ext uri="{BB962C8B-B14F-4D97-AF65-F5344CB8AC3E}">
        <p14:creationId xmlns:p14="http://schemas.microsoft.com/office/powerpoint/2010/main" val="7397869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56BB79-FCE5-43F1-B542-A9B46F64EA5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09E185C-2B34-43BE-A21D-E8E0403C486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B87B6AE-50DD-41C2-A449-8019A003A5B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6F0963C-437A-44C6-BE17-F300E84965C8}"/>
              </a:ext>
            </a:extLst>
          </p:cNvPr>
          <p:cNvSpPr>
            <a:spLocks noGrp="1"/>
          </p:cNvSpPr>
          <p:nvPr>
            <p:ph type="dt" sz="half" idx="10"/>
          </p:nvPr>
        </p:nvSpPr>
        <p:spPr/>
        <p:txBody>
          <a:bodyPr/>
          <a:lstStyle/>
          <a:p>
            <a:fld id="{402D5F58-96E1-4A52-8685-F038787A1475}" type="datetimeFigureOut">
              <a:rPr lang="zh-CN" altLang="en-US" smtClean="0"/>
              <a:t>2026/6/10</a:t>
            </a:fld>
            <a:endParaRPr lang="zh-CN" altLang="en-US"/>
          </a:p>
        </p:txBody>
      </p:sp>
      <p:sp>
        <p:nvSpPr>
          <p:cNvPr id="6" name="页脚占位符 5">
            <a:extLst>
              <a:ext uri="{FF2B5EF4-FFF2-40B4-BE49-F238E27FC236}">
                <a16:creationId xmlns:a16="http://schemas.microsoft.com/office/drawing/2014/main" id="{76151F83-C32E-4C5C-A6D7-2EDA527DD25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F7F9826-6021-49EA-B844-720165FCECD6}"/>
              </a:ext>
            </a:extLst>
          </p:cNvPr>
          <p:cNvSpPr>
            <a:spLocks noGrp="1"/>
          </p:cNvSpPr>
          <p:nvPr>
            <p:ph type="sldNum" sz="quarter" idx="12"/>
          </p:nvPr>
        </p:nvSpPr>
        <p:spPr/>
        <p:txBody>
          <a:bodyPr/>
          <a:lstStyle/>
          <a:p>
            <a:fld id="{96666617-7A17-4363-A0A0-5E52786ED021}" type="slidenum">
              <a:rPr lang="zh-CN" altLang="en-US" smtClean="0"/>
              <a:t>‹#›</a:t>
            </a:fld>
            <a:endParaRPr lang="zh-CN" altLang="en-US"/>
          </a:p>
        </p:txBody>
      </p:sp>
    </p:spTree>
    <p:extLst>
      <p:ext uri="{BB962C8B-B14F-4D97-AF65-F5344CB8AC3E}">
        <p14:creationId xmlns:p14="http://schemas.microsoft.com/office/powerpoint/2010/main" val="3192255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C0E67E-990B-4834-8823-F9C43B00AF3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E36929A-5C60-41EB-A5D0-9C40A3D3F5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E0B37A4-ACEF-4A4F-9A9F-3EE5E3F579E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7EAD4E4-DBDC-4C08-B051-4885F56A85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C7D35D7-3A62-4B0A-A0A2-B293F7D2497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7577BC6C-2AF2-472E-9140-2FB41FDB2A58}"/>
              </a:ext>
            </a:extLst>
          </p:cNvPr>
          <p:cNvSpPr>
            <a:spLocks noGrp="1"/>
          </p:cNvSpPr>
          <p:nvPr>
            <p:ph type="dt" sz="half" idx="10"/>
          </p:nvPr>
        </p:nvSpPr>
        <p:spPr/>
        <p:txBody>
          <a:bodyPr/>
          <a:lstStyle/>
          <a:p>
            <a:fld id="{402D5F58-96E1-4A52-8685-F038787A1475}" type="datetimeFigureOut">
              <a:rPr lang="zh-CN" altLang="en-US" smtClean="0"/>
              <a:t>2026/6/10</a:t>
            </a:fld>
            <a:endParaRPr lang="zh-CN" altLang="en-US"/>
          </a:p>
        </p:txBody>
      </p:sp>
      <p:sp>
        <p:nvSpPr>
          <p:cNvPr id="8" name="页脚占位符 7">
            <a:extLst>
              <a:ext uri="{FF2B5EF4-FFF2-40B4-BE49-F238E27FC236}">
                <a16:creationId xmlns:a16="http://schemas.microsoft.com/office/drawing/2014/main" id="{5C01EA4C-113A-4208-AA41-4520E43C018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8DF7B6F-BC1C-47F7-B94C-36D63D04C38F}"/>
              </a:ext>
            </a:extLst>
          </p:cNvPr>
          <p:cNvSpPr>
            <a:spLocks noGrp="1"/>
          </p:cNvSpPr>
          <p:nvPr>
            <p:ph type="sldNum" sz="quarter" idx="12"/>
          </p:nvPr>
        </p:nvSpPr>
        <p:spPr/>
        <p:txBody>
          <a:bodyPr/>
          <a:lstStyle/>
          <a:p>
            <a:fld id="{96666617-7A17-4363-A0A0-5E52786ED021}" type="slidenum">
              <a:rPr lang="zh-CN" altLang="en-US" smtClean="0"/>
              <a:t>‹#›</a:t>
            </a:fld>
            <a:endParaRPr lang="zh-CN" altLang="en-US"/>
          </a:p>
        </p:txBody>
      </p:sp>
    </p:spTree>
    <p:extLst>
      <p:ext uri="{BB962C8B-B14F-4D97-AF65-F5344CB8AC3E}">
        <p14:creationId xmlns:p14="http://schemas.microsoft.com/office/powerpoint/2010/main" val="2373699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F82E6B-E641-4906-ADDB-D077C29F008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85269F7-0455-4BE9-BE2F-17EC987805D4}"/>
              </a:ext>
            </a:extLst>
          </p:cNvPr>
          <p:cNvSpPr>
            <a:spLocks noGrp="1"/>
          </p:cNvSpPr>
          <p:nvPr>
            <p:ph type="dt" sz="half" idx="10"/>
          </p:nvPr>
        </p:nvSpPr>
        <p:spPr/>
        <p:txBody>
          <a:bodyPr/>
          <a:lstStyle/>
          <a:p>
            <a:fld id="{402D5F58-96E1-4A52-8685-F038787A1475}" type="datetimeFigureOut">
              <a:rPr lang="zh-CN" altLang="en-US" smtClean="0"/>
              <a:t>2026/6/10</a:t>
            </a:fld>
            <a:endParaRPr lang="zh-CN" altLang="en-US"/>
          </a:p>
        </p:txBody>
      </p:sp>
      <p:sp>
        <p:nvSpPr>
          <p:cNvPr id="4" name="页脚占位符 3">
            <a:extLst>
              <a:ext uri="{FF2B5EF4-FFF2-40B4-BE49-F238E27FC236}">
                <a16:creationId xmlns:a16="http://schemas.microsoft.com/office/drawing/2014/main" id="{E3196171-B052-44DE-B537-83351A3AE9B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D18F62B-E51C-4126-99AF-CE3C49FBE17F}"/>
              </a:ext>
            </a:extLst>
          </p:cNvPr>
          <p:cNvSpPr>
            <a:spLocks noGrp="1"/>
          </p:cNvSpPr>
          <p:nvPr>
            <p:ph type="sldNum" sz="quarter" idx="12"/>
          </p:nvPr>
        </p:nvSpPr>
        <p:spPr/>
        <p:txBody>
          <a:bodyPr/>
          <a:lstStyle/>
          <a:p>
            <a:fld id="{96666617-7A17-4363-A0A0-5E52786ED021}" type="slidenum">
              <a:rPr lang="zh-CN" altLang="en-US" smtClean="0"/>
              <a:t>‹#›</a:t>
            </a:fld>
            <a:endParaRPr lang="zh-CN" altLang="en-US"/>
          </a:p>
        </p:txBody>
      </p:sp>
    </p:spTree>
    <p:extLst>
      <p:ext uri="{BB962C8B-B14F-4D97-AF65-F5344CB8AC3E}">
        <p14:creationId xmlns:p14="http://schemas.microsoft.com/office/powerpoint/2010/main" val="526857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0DE3C1B-E7D7-40E8-8B15-AE4E7F2A1B70}"/>
              </a:ext>
            </a:extLst>
          </p:cNvPr>
          <p:cNvSpPr>
            <a:spLocks noGrp="1"/>
          </p:cNvSpPr>
          <p:nvPr>
            <p:ph type="dt" sz="half" idx="10"/>
          </p:nvPr>
        </p:nvSpPr>
        <p:spPr/>
        <p:txBody>
          <a:bodyPr/>
          <a:lstStyle/>
          <a:p>
            <a:fld id="{402D5F58-96E1-4A52-8685-F038787A1475}" type="datetimeFigureOut">
              <a:rPr lang="zh-CN" altLang="en-US" smtClean="0"/>
              <a:t>2026/6/10</a:t>
            </a:fld>
            <a:endParaRPr lang="zh-CN" altLang="en-US"/>
          </a:p>
        </p:txBody>
      </p:sp>
      <p:sp>
        <p:nvSpPr>
          <p:cNvPr id="3" name="页脚占位符 2">
            <a:extLst>
              <a:ext uri="{FF2B5EF4-FFF2-40B4-BE49-F238E27FC236}">
                <a16:creationId xmlns:a16="http://schemas.microsoft.com/office/drawing/2014/main" id="{2BC848B2-3006-4E07-BE5C-F91197E3A5C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539809B-CB37-445B-9131-231B6D292650}"/>
              </a:ext>
            </a:extLst>
          </p:cNvPr>
          <p:cNvSpPr>
            <a:spLocks noGrp="1"/>
          </p:cNvSpPr>
          <p:nvPr>
            <p:ph type="sldNum" sz="quarter" idx="12"/>
          </p:nvPr>
        </p:nvSpPr>
        <p:spPr/>
        <p:txBody>
          <a:bodyPr/>
          <a:lstStyle/>
          <a:p>
            <a:fld id="{96666617-7A17-4363-A0A0-5E52786ED021}" type="slidenum">
              <a:rPr lang="zh-CN" altLang="en-US" smtClean="0"/>
              <a:t>‹#›</a:t>
            </a:fld>
            <a:endParaRPr lang="zh-CN" altLang="en-US"/>
          </a:p>
        </p:txBody>
      </p:sp>
    </p:spTree>
    <p:extLst>
      <p:ext uri="{BB962C8B-B14F-4D97-AF65-F5344CB8AC3E}">
        <p14:creationId xmlns:p14="http://schemas.microsoft.com/office/powerpoint/2010/main" val="40367764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47B778-F892-4EDB-84EE-A1FBE2D5F1F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3F39E42-6BCD-456B-A3BD-7BD7425A17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8732B0D-9778-48D5-AF34-54BE37B4BA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A0EA86-7F31-420E-AAB8-CA11463D882E}"/>
              </a:ext>
            </a:extLst>
          </p:cNvPr>
          <p:cNvSpPr>
            <a:spLocks noGrp="1"/>
          </p:cNvSpPr>
          <p:nvPr>
            <p:ph type="dt" sz="half" idx="10"/>
          </p:nvPr>
        </p:nvSpPr>
        <p:spPr/>
        <p:txBody>
          <a:bodyPr/>
          <a:lstStyle/>
          <a:p>
            <a:fld id="{402D5F58-96E1-4A52-8685-F038787A1475}" type="datetimeFigureOut">
              <a:rPr lang="zh-CN" altLang="en-US" smtClean="0"/>
              <a:t>2026/6/10</a:t>
            </a:fld>
            <a:endParaRPr lang="zh-CN" altLang="en-US"/>
          </a:p>
        </p:txBody>
      </p:sp>
      <p:sp>
        <p:nvSpPr>
          <p:cNvPr id="6" name="页脚占位符 5">
            <a:extLst>
              <a:ext uri="{FF2B5EF4-FFF2-40B4-BE49-F238E27FC236}">
                <a16:creationId xmlns:a16="http://schemas.microsoft.com/office/drawing/2014/main" id="{8B9E70FC-A482-4E45-BF17-8187810F45B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63BD70D-DD20-4B04-83AE-80F5E6D9CFEB}"/>
              </a:ext>
            </a:extLst>
          </p:cNvPr>
          <p:cNvSpPr>
            <a:spLocks noGrp="1"/>
          </p:cNvSpPr>
          <p:nvPr>
            <p:ph type="sldNum" sz="quarter" idx="12"/>
          </p:nvPr>
        </p:nvSpPr>
        <p:spPr/>
        <p:txBody>
          <a:bodyPr/>
          <a:lstStyle/>
          <a:p>
            <a:fld id="{96666617-7A17-4363-A0A0-5E52786ED021}" type="slidenum">
              <a:rPr lang="zh-CN" altLang="en-US" smtClean="0"/>
              <a:t>‹#›</a:t>
            </a:fld>
            <a:endParaRPr lang="zh-CN" altLang="en-US"/>
          </a:p>
        </p:txBody>
      </p:sp>
    </p:spTree>
    <p:extLst>
      <p:ext uri="{BB962C8B-B14F-4D97-AF65-F5344CB8AC3E}">
        <p14:creationId xmlns:p14="http://schemas.microsoft.com/office/powerpoint/2010/main" val="3066185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9123B9-1261-4471-A016-CDB723BE430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3F13378F-4E29-4322-B0B5-9B93F03BED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27B1599-7686-4D86-9810-FEAB57DDE0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26B8009-A294-4163-AE94-15BE27BE4922}"/>
              </a:ext>
            </a:extLst>
          </p:cNvPr>
          <p:cNvSpPr>
            <a:spLocks noGrp="1"/>
          </p:cNvSpPr>
          <p:nvPr>
            <p:ph type="dt" sz="half" idx="10"/>
          </p:nvPr>
        </p:nvSpPr>
        <p:spPr/>
        <p:txBody>
          <a:bodyPr/>
          <a:lstStyle/>
          <a:p>
            <a:fld id="{402D5F58-96E1-4A52-8685-F038787A1475}" type="datetimeFigureOut">
              <a:rPr lang="zh-CN" altLang="en-US" smtClean="0"/>
              <a:t>2026/6/10</a:t>
            </a:fld>
            <a:endParaRPr lang="zh-CN" altLang="en-US"/>
          </a:p>
        </p:txBody>
      </p:sp>
      <p:sp>
        <p:nvSpPr>
          <p:cNvPr id="6" name="页脚占位符 5">
            <a:extLst>
              <a:ext uri="{FF2B5EF4-FFF2-40B4-BE49-F238E27FC236}">
                <a16:creationId xmlns:a16="http://schemas.microsoft.com/office/drawing/2014/main" id="{652C6435-8D59-4356-8981-D5118C598D1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F2EA041-708D-4440-A21B-59EB190447B8}"/>
              </a:ext>
            </a:extLst>
          </p:cNvPr>
          <p:cNvSpPr>
            <a:spLocks noGrp="1"/>
          </p:cNvSpPr>
          <p:nvPr>
            <p:ph type="sldNum" sz="quarter" idx="12"/>
          </p:nvPr>
        </p:nvSpPr>
        <p:spPr/>
        <p:txBody>
          <a:bodyPr/>
          <a:lstStyle/>
          <a:p>
            <a:fld id="{96666617-7A17-4363-A0A0-5E52786ED021}" type="slidenum">
              <a:rPr lang="zh-CN" altLang="en-US" smtClean="0"/>
              <a:t>‹#›</a:t>
            </a:fld>
            <a:endParaRPr lang="zh-CN" altLang="en-US"/>
          </a:p>
        </p:txBody>
      </p:sp>
    </p:spTree>
    <p:extLst>
      <p:ext uri="{BB962C8B-B14F-4D97-AF65-F5344CB8AC3E}">
        <p14:creationId xmlns:p14="http://schemas.microsoft.com/office/powerpoint/2010/main" val="3908018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B6C2BB-3B02-4E3E-82FE-698B4CCBA38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9E1D13B-0F3C-4149-82F4-CDB26C99B16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E4D15D1-2A9C-4890-88AD-E6FB9E434B0E}"/>
              </a:ext>
            </a:extLst>
          </p:cNvPr>
          <p:cNvSpPr>
            <a:spLocks noGrp="1"/>
          </p:cNvSpPr>
          <p:nvPr>
            <p:ph type="dt" sz="half" idx="10"/>
          </p:nvPr>
        </p:nvSpPr>
        <p:spPr/>
        <p:txBody>
          <a:bodyPr/>
          <a:lstStyle/>
          <a:p>
            <a:fld id="{402D5F58-96E1-4A52-8685-F038787A1475}" type="datetimeFigureOut">
              <a:rPr lang="zh-CN" altLang="en-US" smtClean="0"/>
              <a:t>2026/6/10</a:t>
            </a:fld>
            <a:endParaRPr lang="zh-CN" altLang="en-US"/>
          </a:p>
        </p:txBody>
      </p:sp>
      <p:sp>
        <p:nvSpPr>
          <p:cNvPr id="5" name="页脚占位符 4">
            <a:extLst>
              <a:ext uri="{FF2B5EF4-FFF2-40B4-BE49-F238E27FC236}">
                <a16:creationId xmlns:a16="http://schemas.microsoft.com/office/drawing/2014/main" id="{7A29217A-8284-45C0-9C66-4DA8C13AA36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3E2DEAB-FA56-4BEF-B340-A00E1AC616AB}"/>
              </a:ext>
            </a:extLst>
          </p:cNvPr>
          <p:cNvSpPr>
            <a:spLocks noGrp="1"/>
          </p:cNvSpPr>
          <p:nvPr>
            <p:ph type="sldNum" sz="quarter" idx="12"/>
          </p:nvPr>
        </p:nvSpPr>
        <p:spPr/>
        <p:txBody>
          <a:bodyPr/>
          <a:lstStyle/>
          <a:p>
            <a:fld id="{96666617-7A17-4363-A0A0-5E52786ED021}" type="slidenum">
              <a:rPr lang="zh-CN" altLang="en-US" smtClean="0"/>
              <a:t>‹#›</a:t>
            </a:fld>
            <a:endParaRPr lang="zh-CN" altLang="en-US"/>
          </a:p>
        </p:txBody>
      </p:sp>
    </p:spTree>
    <p:extLst>
      <p:ext uri="{BB962C8B-B14F-4D97-AF65-F5344CB8AC3E}">
        <p14:creationId xmlns:p14="http://schemas.microsoft.com/office/powerpoint/2010/main" val="3347562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34299B-D0B1-4CDE-B394-80DA99542B9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70B01BF-7CD0-47ED-A5FA-FE6E1121754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8A13D52-37E7-4DA9-A3B9-A67E8E6BC3DF}"/>
              </a:ext>
            </a:extLst>
          </p:cNvPr>
          <p:cNvSpPr>
            <a:spLocks noGrp="1"/>
          </p:cNvSpPr>
          <p:nvPr>
            <p:ph type="dt" sz="half" idx="10"/>
          </p:nvPr>
        </p:nvSpPr>
        <p:spPr/>
        <p:txBody>
          <a:bodyPr/>
          <a:lstStyle/>
          <a:p>
            <a:fld id="{402D5F58-96E1-4A52-8685-F038787A1475}" type="datetimeFigureOut">
              <a:rPr lang="zh-CN" altLang="en-US" smtClean="0"/>
              <a:t>2026/6/10</a:t>
            </a:fld>
            <a:endParaRPr lang="zh-CN" altLang="en-US"/>
          </a:p>
        </p:txBody>
      </p:sp>
      <p:sp>
        <p:nvSpPr>
          <p:cNvPr id="5" name="页脚占位符 4">
            <a:extLst>
              <a:ext uri="{FF2B5EF4-FFF2-40B4-BE49-F238E27FC236}">
                <a16:creationId xmlns:a16="http://schemas.microsoft.com/office/drawing/2014/main" id="{79FE9D31-C407-4FCA-8202-7C5F42C37F4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37CD896-9FE2-4E21-ACD3-1D279C305F2E}"/>
              </a:ext>
            </a:extLst>
          </p:cNvPr>
          <p:cNvSpPr>
            <a:spLocks noGrp="1"/>
          </p:cNvSpPr>
          <p:nvPr>
            <p:ph type="sldNum" sz="quarter" idx="12"/>
          </p:nvPr>
        </p:nvSpPr>
        <p:spPr/>
        <p:txBody>
          <a:bodyPr/>
          <a:lstStyle/>
          <a:p>
            <a:fld id="{96666617-7A17-4363-A0A0-5E52786ED021}" type="slidenum">
              <a:rPr lang="zh-CN" altLang="en-US" smtClean="0"/>
              <a:t>‹#›</a:t>
            </a:fld>
            <a:endParaRPr lang="zh-CN" altLang="en-US"/>
          </a:p>
        </p:txBody>
      </p:sp>
    </p:spTree>
    <p:extLst>
      <p:ext uri="{BB962C8B-B14F-4D97-AF65-F5344CB8AC3E}">
        <p14:creationId xmlns:p14="http://schemas.microsoft.com/office/powerpoint/2010/main" val="11920396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10058400" cy="1295400"/>
          </a:xfrm>
        </p:spPr>
        <p:txBody>
          <a:bodyPr/>
          <a:lstStyle/>
          <a:p>
            <a:r>
              <a:rPr lang="en-US"/>
              <a:t>Click to edit Master title style</a:t>
            </a:r>
          </a:p>
        </p:txBody>
      </p:sp>
      <p:sp>
        <p:nvSpPr>
          <p:cNvPr id="3" name="Text Placeholder 2"/>
          <p:cNvSpPr>
            <a:spLocks noGrp="1"/>
          </p:cNvSpPr>
          <p:nvPr>
            <p:ph type="body" sz="half" idx="1"/>
          </p:nvPr>
        </p:nvSpPr>
        <p:spPr>
          <a:xfrm>
            <a:off x="609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66F0ECB7-2709-47FF-B696-6097B136041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F0FD48A2-81BE-4E2B-96A5-9889249F5BDC}"/>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E592F5A9-5CE3-476E-90B0-9227A58E9BDD}"/>
              </a:ext>
            </a:extLst>
          </p:cNvPr>
          <p:cNvSpPr>
            <a:spLocks noGrp="1" noChangeArrowheads="1"/>
          </p:cNvSpPr>
          <p:nvPr>
            <p:ph type="sldNum" sz="quarter" idx="12"/>
          </p:nvPr>
        </p:nvSpPr>
        <p:spPr>
          <a:ln/>
        </p:spPr>
        <p:txBody>
          <a:bodyPr/>
          <a:lstStyle>
            <a:lvl1pPr>
              <a:defRPr/>
            </a:lvl1pPr>
          </a:lstStyle>
          <a:p>
            <a:fld id="{B753FDD0-7D31-4A1B-A2DD-1773C1FEDA0B}" type="slidenum">
              <a:rPr lang="en-US" altLang="en-US"/>
              <a:pPr/>
              <a:t>‹#›</a:t>
            </a:fld>
            <a:endParaRPr lang="en-US" altLang="en-US"/>
          </a:p>
        </p:txBody>
      </p:sp>
    </p:spTree>
    <p:extLst>
      <p:ext uri="{BB962C8B-B14F-4D97-AF65-F5344CB8AC3E}">
        <p14:creationId xmlns:p14="http://schemas.microsoft.com/office/powerpoint/2010/main" val="2247586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8A98831-582B-47AD-B9B2-7AE071DF19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5F486DA-3185-4095-A607-936FBB3CA5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7DC8613-C1A7-4CF3-A110-F7F0361231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2D5F58-96E1-4A52-8685-F038787A1475}" type="datetimeFigureOut">
              <a:rPr lang="zh-CN" altLang="en-US" smtClean="0"/>
              <a:t>2026/6/10</a:t>
            </a:fld>
            <a:endParaRPr lang="zh-CN" altLang="en-US"/>
          </a:p>
        </p:txBody>
      </p:sp>
      <p:sp>
        <p:nvSpPr>
          <p:cNvPr id="5" name="页脚占位符 4">
            <a:extLst>
              <a:ext uri="{FF2B5EF4-FFF2-40B4-BE49-F238E27FC236}">
                <a16:creationId xmlns:a16="http://schemas.microsoft.com/office/drawing/2014/main" id="{53542E64-9272-41B5-9E6F-6DD79CA280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FA6948BD-04D7-4731-BE8A-2E1BC73DD7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666617-7A17-4363-A0A0-5E52786ED021}" type="slidenum">
              <a:rPr lang="zh-CN" altLang="en-US" smtClean="0"/>
              <a:t>‹#›</a:t>
            </a:fld>
            <a:endParaRPr lang="zh-CN" altLang="en-US"/>
          </a:p>
        </p:txBody>
      </p:sp>
    </p:spTree>
    <p:extLst>
      <p:ext uri="{BB962C8B-B14F-4D97-AF65-F5344CB8AC3E}">
        <p14:creationId xmlns:p14="http://schemas.microsoft.com/office/powerpoint/2010/main" val="16951020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4.e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wmf"/><Relationship Id="rId1" Type="http://schemas.openxmlformats.org/officeDocument/2006/relationships/slideLayout" Target="../slideLayouts/slideLayout2.xml"/><Relationship Id="rId4" Type="http://schemas.openxmlformats.org/officeDocument/2006/relationships/image" Target="../media/image35.wmf"/></Relationships>
</file>

<file path=ppt/slides/_rels/slide88.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42.wmf"/><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wmf"/><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62.wmf"/><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17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slide" Target="slide188.xml"/><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3" Type="http://schemas.openxmlformats.org/officeDocument/2006/relationships/slide" Target="slide188.xml"/><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3" Type="http://schemas.openxmlformats.org/officeDocument/2006/relationships/slide" Target="slide188.xml"/><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3" Type="http://schemas.openxmlformats.org/officeDocument/2006/relationships/slide" Target="slide188.xml"/><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3" Type="http://schemas.openxmlformats.org/officeDocument/2006/relationships/slide" Target="slide188.xml"/><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3" Type="http://schemas.openxmlformats.org/officeDocument/2006/relationships/slide" Target="slide188.xml"/><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3" Type="http://schemas.openxmlformats.org/officeDocument/2006/relationships/slide" Target="slide188.xml"/><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3" Type="http://schemas.openxmlformats.org/officeDocument/2006/relationships/slide" Target="slide188.xml"/><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image" Target="../media/image80.png"/></Relationships>
</file>

<file path=ppt/slides/_rels/slide23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294989-4383-4C0F-AB43-D0964FF9E9EE}"/>
              </a:ext>
            </a:extLst>
          </p:cNvPr>
          <p:cNvSpPr>
            <a:spLocks noGrp="1"/>
          </p:cNvSpPr>
          <p:nvPr>
            <p:ph type="ctrTitle"/>
          </p:nvPr>
        </p:nvSpPr>
        <p:spPr/>
        <p:txBody>
          <a:bodyPr/>
          <a:lstStyle/>
          <a:p>
            <a:r>
              <a:rPr lang="zh-CN" altLang="en-US" dirty="0"/>
              <a:t>软件工程课程</a:t>
            </a:r>
          </a:p>
        </p:txBody>
      </p:sp>
      <p:sp>
        <p:nvSpPr>
          <p:cNvPr id="3" name="副标题 2">
            <a:extLst>
              <a:ext uri="{FF2B5EF4-FFF2-40B4-BE49-F238E27FC236}">
                <a16:creationId xmlns:a16="http://schemas.microsoft.com/office/drawing/2014/main" id="{770C946C-4ED9-4C4B-A646-30E1A821F002}"/>
              </a:ext>
            </a:extLst>
          </p:cNvPr>
          <p:cNvSpPr>
            <a:spLocks noGrp="1"/>
          </p:cNvSpPr>
          <p:nvPr>
            <p:ph type="subTitle" idx="1"/>
          </p:nvPr>
        </p:nvSpPr>
        <p:spPr/>
        <p:txBody>
          <a:bodyPr>
            <a:normAutofit/>
          </a:bodyPr>
          <a:lstStyle/>
          <a:p>
            <a:r>
              <a:rPr lang="zh-CN" altLang="en-US" sz="4000" dirty="0">
                <a:latin typeface="+mj-lt"/>
                <a:ea typeface="+mj-ea"/>
                <a:cs typeface="+mj-cs"/>
              </a:rPr>
              <a:t>内容总结</a:t>
            </a:r>
            <a:endParaRPr lang="en-US" altLang="zh-CN" sz="4000" dirty="0">
              <a:latin typeface="+mj-lt"/>
              <a:ea typeface="+mj-ea"/>
              <a:cs typeface="+mj-cs"/>
            </a:endParaRPr>
          </a:p>
          <a:p>
            <a:endParaRPr lang="en-US" altLang="zh-CN" dirty="0"/>
          </a:p>
          <a:p>
            <a:r>
              <a:rPr lang="zh-CN" altLang="en-US" dirty="0"/>
              <a:t>王鸽</a:t>
            </a:r>
          </a:p>
        </p:txBody>
      </p:sp>
    </p:spTree>
    <p:extLst>
      <p:ext uri="{BB962C8B-B14F-4D97-AF65-F5344CB8AC3E}">
        <p14:creationId xmlns:p14="http://schemas.microsoft.com/office/powerpoint/2010/main" val="130726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大纲</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软件工程概念</a:t>
            </a:r>
            <a:endParaRPr lang="en-US" altLang="zh-CN" dirty="0"/>
          </a:p>
          <a:p>
            <a:r>
              <a:rPr lang="zh-CN" altLang="en-US" dirty="0"/>
              <a:t>项目立项</a:t>
            </a:r>
            <a:endParaRPr lang="en-US" altLang="zh-CN" dirty="0"/>
          </a:p>
          <a:p>
            <a:r>
              <a:rPr lang="zh-CN" altLang="en-US" dirty="0"/>
              <a:t>需求分析</a:t>
            </a:r>
            <a:endParaRPr lang="en-US" altLang="zh-CN" dirty="0"/>
          </a:p>
          <a:p>
            <a:r>
              <a:rPr lang="zh-CN" altLang="en-US" dirty="0"/>
              <a:t>系统设计</a:t>
            </a:r>
            <a:endParaRPr lang="en-US" altLang="zh-CN" dirty="0"/>
          </a:p>
          <a:p>
            <a:r>
              <a:rPr lang="zh-CN" altLang="en-US" dirty="0"/>
              <a:t>系统实现</a:t>
            </a:r>
            <a:endParaRPr lang="en-US" altLang="zh-CN" dirty="0"/>
          </a:p>
          <a:p>
            <a:r>
              <a:rPr lang="zh-CN" altLang="en-US" dirty="0"/>
              <a:t>软件测试</a:t>
            </a:r>
          </a:p>
        </p:txBody>
      </p:sp>
    </p:spTree>
    <p:extLst>
      <p:ext uri="{BB962C8B-B14F-4D97-AF65-F5344CB8AC3E}">
        <p14:creationId xmlns:p14="http://schemas.microsoft.com/office/powerpoint/2010/main" val="2706299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大纲</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solidFill>
                  <a:srgbClr val="C00000"/>
                </a:solidFill>
              </a:rPr>
              <a:t>软件工程概念</a:t>
            </a:r>
            <a:endParaRPr lang="en-US" altLang="zh-CN" dirty="0"/>
          </a:p>
          <a:p>
            <a:r>
              <a:rPr lang="zh-CN" altLang="en-US" dirty="0"/>
              <a:t>项目立项</a:t>
            </a:r>
            <a:endParaRPr lang="en-US" altLang="zh-CN" dirty="0"/>
          </a:p>
          <a:p>
            <a:r>
              <a:rPr lang="zh-CN" altLang="en-US" dirty="0"/>
              <a:t>需求分析</a:t>
            </a:r>
            <a:endParaRPr lang="en-US" altLang="zh-CN" dirty="0"/>
          </a:p>
          <a:p>
            <a:r>
              <a:rPr lang="zh-CN" altLang="en-US" dirty="0"/>
              <a:t>系统设计</a:t>
            </a:r>
            <a:endParaRPr lang="en-US" altLang="zh-CN" dirty="0"/>
          </a:p>
          <a:p>
            <a:r>
              <a:rPr lang="zh-CN" altLang="en-US" dirty="0"/>
              <a:t>系统实现</a:t>
            </a:r>
            <a:endParaRPr lang="en-US" altLang="zh-CN" dirty="0"/>
          </a:p>
          <a:p>
            <a:r>
              <a:rPr lang="zh-CN" altLang="en-US" dirty="0"/>
              <a:t>软件测试</a:t>
            </a:r>
          </a:p>
        </p:txBody>
      </p:sp>
    </p:spTree>
    <p:extLst>
      <p:ext uri="{BB962C8B-B14F-4D97-AF65-F5344CB8AC3E}">
        <p14:creationId xmlns:p14="http://schemas.microsoft.com/office/powerpoint/2010/main" val="4252212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3958692-9861-4841-8E86-249BBA0B98D5}"/>
              </a:ext>
            </a:extLst>
          </p:cNvPr>
          <p:cNvSpPr>
            <a:spLocks noGrp="1"/>
          </p:cNvSpPr>
          <p:nvPr>
            <p:ph idx="1"/>
          </p:nvPr>
        </p:nvSpPr>
        <p:spPr>
          <a:xfrm>
            <a:off x="838200" y="1325563"/>
            <a:ext cx="10515600" cy="4351338"/>
          </a:xfrm>
        </p:spPr>
        <p:txBody>
          <a:bodyPr>
            <a:normAutofit lnSpcReduction="10000"/>
          </a:bodyPr>
          <a:lstStyle/>
          <a:p>
            <a:pPr>
              <a:lnSpc>
                <a:spcPct val="120000"/>
              </a:lnSpc>
            </a:pP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软件</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是指在计算机系统中运行的程序、程序所处理的数据以及与程序开发、使用和维护相关的文档的集合。</a:t>
            </a:r>
            <a:endPar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软件危机</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是指在软件开发和维护过程中，由于开发方法落后、管理不完善以及软件系统复杂度不断提高而产生的一系列困难和问题</a:t>
            </a:r>
            <a:r>
              <a:rPr lang="zh-CN" altLang="en-US" sz="2400" kern="100" dirty="0">
                <a:latin typeface="Times New Roman" panose="02020603050405020304" pitchFamily="18" charset="0"/>
                <a:ea typeface="宋体" panose="02010600030101010101" pitchFamily="2" charset="-122"/>
                <a:cs typeface="Times New Roman" panose="02020603050405020304" pitchFamily="18" charset="0"/>
              </a:rPr>
              <a:t>，主要表现在多个方面：</a:t>
            </a:r>
            <a:endParaRPr lang="en-US" altLang="zh-CN" sz="2400" kern="1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20000"/>
              </a:lnSpc>
            </a:pPr>
            <a:r>
              <a:rPr lang="zh-CN" altLang="en-US" sz="2000" kern="100" dirty="0">
                <a:latin typeface="Times New Roman" panose="02020603050405020304" pitchFamily="18" charset="0"/>
                <a:ea typeface="宋体" panose="02010600030101010101" pitchFamily="2" charset="-122"/>
                <a:cs typeface="Times New Roman" panose="02020603050405020304" pitchFamily="18" charset="0"/>
              </a:rPr>
              <a:t>软件开发成本增加</a:t>
            </a:r>
            <a:endParaRPr lang="en-US" altLang="zh-CN" sz="2000" kern="1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20000"/>
              </a:lnSpc>
            </a:pPr>
            <a:r>
              <a:rPr lang="zh-CN" altLang="en-US" sz="2000" kern="100" dirty="0">
                <a:latin typeface="Times New Roman" panose="02020603050405020304" pitchFamily="18" charset="0"/>
                <a:ea typeface="宋体" panose="02010600030101010101" pitchFamily="2" charset="-122"/>
                <a:cs typeface="Times New Roman" panose="02020603050405020304" pitchFamily="18" charset="0"/>
              </a:rPr>
              <a:t>软件开发周期过长</a:t>
            </a:r>
            <a:endParaRPr lang="en-US" altLang="zh-CN" sz="2000" kern="1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20000"/>
              </a:lnSpc>
            </a:pPr>
            <a:r>
              <a:rPr lang="zh-CN" altLang="en-US" sz="2000" kern="100" dirty="0">
                <a:latin typeface="Times New Roman" panose="02020603050405020304" pitchFamily="18" charset="0"/>
                <a:ea typeface="宋体" panose="02010600030101010101" pitchFamily="2" charset="-122"/>
                <a:cs typeface="Times New Roman" panose="02020603050405020304" pitchFamily="18" charset="0"/>
              </a:rPr>
              <a:t>软件质量难以保证</a:t>
            </a:r>
            <a:endParaRPr lang="en-US" altLang="zh-CN" sz="2000" kern="1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20000"/>
              </a:lnSpc>
            </a:pPr>
            <a:r>
              <a:rPr lang="zh-CN" altLang="en-US" sz="2000" kern="100" dirty="0">
                <a:latin typeface="Times New Roman" panose="02020603050405020304" pitchFamily="18" charset="0"/>
                <a:ea typeface="宋体" panose="02010600030101010101" pitchFamily="2" charset="-122"/>
                <a:cs typeface="Times New Roman" panose="02020603050405020304" pitchFamily="18" charset="0"/>
              </a:rPr>
              <a:t>软件维护工作困难</a:t>
            </a:r>
            <a:endParaRPr lang="en-US" altLang="zh-CN" sz="2000" kern="100" dirty="0">
              <a:latin typeface="Times New Roman" panose="02020603050405020304" pitchFamily="18" charset="0"/>
              <a:ea typeface="宋体" panose="02010600030101010101" pitchFamily="2" charset="-122"/>
              <a:cs typeface="Times New Roman" panose="02020603050405020304" pitchFamily="18" charset="0"/>
            </a:endParaRPr>
          </a:p>
          <a:p>
            <a:pPr lvl="1">
              <a:lnSpc>
                <a:spcPct val="120000"/>
              </a:lnSpc>
            </a:pPr>
            <a:r>
              <a:rPr lang="zh-CN" altLang="en-US" sz="2000" kern="100" dirty="0">
                <a:latin typeface="Times New Roman" panose="02020603050405020304" pitchFamily="18" charset="0"/>
                <a:ea typeface="宋体" panose="02010600030101010101" pitchFamily="2" charset="-122"/>
                <a:cs typeface="Times New Roman" panose="02020603050405020304" pitchFamily="18" charset="0"/>
              </a:rPr>
              <a:t>软件开发效率低下</a:t>
            </a:r>
            <a:endParaRPr lang="en-US" altLang="zh-CN" sz="2000" kern="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标题 1">
            <a:extLst>
              <a:ext uri="{FF2B5EF4-FFF2-40B4-BE49-F238E27FC236}">
                <a16:creationId xmlns:a16="http://schemas.microsoft.com/office/drawing/2014/main" id="{12AB3BBD-08CB-4C47-8EF7-89AD812E6C7E}"/>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a:t>软件工程概念</a:t>
            </a:r>
            <a:endParaRPr lang="zh-CN" altLang="en-US" dirty="0"/>
          </a:p>
        </p:txBody>
      </p:sp>
    </p:spTree>
    <p:extLst>
      <p:ext uri="{BB962C8B-B14F-4D97-AF65-F5344CB8AC3E}">
        <p14:creationId xmlns:p14="http://schemas.microsoft.com/office/powerpoint/2010/main" val="611833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BF5D8E-BAEA-4839-88B4-E1FB7FDD4063}"/>
              </a:ext>
            </a:extLst>
          </p:cNvPr>
          <p:cNvSpPr>
            <a:spLocks noGrp="1"/>
          </p:cNvSpPr>
          <p:nvPr>
            <p:ph type="title"/>
          </p:nvPr>
        </p:nvSpPr>
        <p:spPr>
          <a:xfrm>
            <a:off x="838200" y="0"/>
            <a:ext cx="10515600" cy="1325563"/>
          </a:xfrm>
        </p:spPr>
        <p:txBody>
          <a:bodyPr/>
          <a:lstStyle/>
          <a:p>
            <a:r>
              <a:rPr lang="zh-CN" altLang="en-US" dirty="0"/>
              <a:t>软件工程概念</a:t>
            </a:r>
          </a:p>
        </p:txBody>
      </p:sp>
      <p:sp>
        <p:nvSpPr>
          <p:cNvPr id="3" name="内容占位符 2">
            <a:extLst>
              <a:ext uri="{FF2B5EF4-FFF2-40B4-BE49-F238E27FC236}">
                <a16:creationId xmlns:a16="http://schemas.microsoft.com/office/drawing/2014/main" id="{D3958692-9861-4841-8E86-249BBA0B98D5}"/>
              </a:ext>
            </a:extLst>
          </p:cNvPr>
          <p:cNvSpPr>
            <a:spLocks noGrp="1"/>
          </p:cNvSpPr>
          <p:nvPr>
            <p:ph idx="1"/>
          </p:nvPr>
        </p:nvSpPr>
        <p:spPr>
          <a:xfrm>
            <a:off x="838200" y="1253331"/>
            <a:ext cx="10515600" cy="4351338"/>
          </a:xfrm>
        </p:spPr>
        <p:txBody>
          <a:bodyPr>
            <a:noAutofit/>
          </a:bodyPr>
          <a:lstStyle/>
          <a:p>
            <a:pPr>
              <a:lnSpc>
                <a:spcPct val="150000"/>
              </a:lnSpc>
            </a:pPr>
            <a:r>
              <a:rPr lang="zh-CN" altLang="zh-CN" sz="2000" b="1" kern="100" dirty="0">
                <a:effectLst/>
                <a:latin typeface="Times New Roman" panose="02020603050405020304" pitchFamily="18" charset="0"/>
                <a:ea typeface="宋体" panose="02010600030101010101" pitchFamily="2" charset="-122"/>
                <a:cs typeface="Times New Roman" panose="02020603050405020304" pitchFamily="18" charset="0"/>
              </a:rPr>
              <a:t>软件</a:t>
            </a:r>
            <a:r>
              <a:rPr lang="zh-CN" altLang="en-US" sz="2000" b="1" kern="100" dirty="0">
                <a:effectLst/>
                <a:latin typeface="Times New Roman" panose="02020603050405020304" pitchFamily="18" charset="0"/>
                <a:ea typeface="宋体" panose="02010600030101010101" pitchFamily="2" charset="-122"/>
                <a:cs typeface="Times New Roman" panose="02020603050405020304" pitchFamily="18" charset="0"/>
              </a:rPr>
              <a:t>生命周期</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涵盖项目计划、需求分析、系统设计、编码、测试、维护等核心活动：</a:t>
            </a:r>
            <a:endPar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lnSpc>
                <a:spcPct val="150000"/>
              </a:lnSpc>
              <a:buFont typeface="+mj-lt"/>
              <a:buAutoNum type="arabicPeriod"/>
            </a:pP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项目立项</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该阶段核心目标是回答“系统是否具备可行性”及“若可行，项目计划如何”。</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lnSpc>
                <a:spcPct val="150000"/>
              </a:lnSpc>
              <a:buFont typeface="+mj-lt"/>
              <a:buAutoNum type="arabicPeriod"/>
            </a:pP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需求分析</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需求分析阶段的核心任务是准确界定</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系统必须做什么</a:t>
            </a:r>
            <a:r>
              <a:rPr lang="en-US" altLang="zh-CN" sz="1800" kern="100" dirty="0">
                <a:effectLst/>
                <a:latin typeface="Times New Roman" panose="02020603050405020304" pitchFamily="18" charset="0"/>
                <a:ea typeface="宋体" panose="02010600030101010101" pitchFamily="2" charset="-122"/>
              </a:rPr>
              <a:t>”</a:t>
            </a:r>
            <a:r>
              <a:rPr lang="zh-CN" altLang="en-US" sz="1800" kern="100" dirty="0">
                <a:effectLst/>
                <a:latin typeface="Times New Roman" panose="02020603050405020304" pitchFamily="18" charset="0"/>
                <a:ea typeface="宋体" panose="02010600030101010101" pitchFamily="2" charset="-122"/>
              </a:rPr>
              <a:t>。</a:t>
            </a:r>
            <a:endParaRPr lang="en-US" altLang="zh-CN" sz="1800" kern="100" dirty="0">
              <a:effectLst/>
              <a:latin typeface="Times New Roman" panose="02020603050405020304" pitchFamily="18" charset="0"/>
              <a:ea typeface="宋体" panose="02010600030101010101" pitchFamily="2" charset="-122"/>
            </a:endParaRPr>
          </a:p>
          <a:p>
            <a:pPr marL="342900" lvl="0" indent="-342900" algn="l">
              <a:lnSpc>
                <a:spcPct val="150000"/>
              </a:lnSpc>
              <a:buFont typeface="+mj-lt"/>
              <a:buAutoNum type="arabicPeriod"/>
            </a:pP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系统设计</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系统设计分为概要设计与详细设计两部分，其中，</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概要设计</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聚焦于回答</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系统如何设计</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的问题。</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详细设计</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属于模块内部的结构级设计，是对概要设计的精细化拆解。</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lnSpc>
                <a:spcPct val="150000"/>
              </a:lnSpc>
              <a:buFont typeface="+mj-lt"/>
              <a:buAutoNum type="arabicPeriod"/>
            </a:pP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编码：</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编码阶段的核心任务是将设计阶段的过程描述转化为计算机可执行的程序代码</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lnSpc>
                <a:spcPct val="150000"/>
              </a:lnSpc>
              <a:buFont typeface="+mj-lt"/>
              <a:buAutoNum type="arabicPeriod"/>
            </a:pP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测试</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测试</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是保障软件质量的关键手段，通过设计测试用例对软件各组成部分进行系统性验证。</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lnSpc>
                <a:spcPct val="150000"/>
              </a:lnSpc>
              <a:buFont typeface="+mj-lt"/>
              <a:buAutoNum type="arabicPeriod"/>
            </a:pPr>
            <a:r>
              <a:rPr lang="zh-CN" altLang="en-US" sz="1800" b="1" kern="100" dirty="0">
                <a:latin typeface="Times New Roman" panose="02020603050405020304" pitchFamily="18" charset="0"/>
                <a:ea typeface="宋体" panose="02010600030101010101" pitchFamily="2" charset="-122"/>
                <a:cs typeface="Times New Roman" panose="02020603050405020304" pitchFamily="18" charset="0"/>
              </a:rPr>
              <a:t>维护：</a:t>
            </a:r>
            <a:r>
              <a:rPr lang="zh-CN" altLang="en-US" sz="1800" kern="100" dirty="0">
                <a:latin typeface="Times New Roman" panose="02020603050405020304" pitchFamily="18" charset="0"/>
                <a:ea typeface="宋体" panose="02010600030101010101" pitchFamily="2" charset="-122"/>
                <a:cs typeface="Times New Roman" panose="02020603050405020304" pitchFamily="18" charset="0"/>
              </a:rPr>
              <a:t>维软件维护的动因主要包括三类：修复运行中发现的潜在缺陷、适应软件运行环境的变化、响应用户业务变更带来的功能扩展与增强需求</a:t>
            </a:r>
          </a:p>
        </p:txBody>
      </p:sp>
    </p:spTree>
    <p:extLst>
      <p:ext uri="{BB962C8B-B14F-4D97-AF65-F5344CB8AC3E}">
        <p14:creationId xmlns:p14="http://schemas.microsoft.com/office/powerpoint/2010/main" val="1331361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b="1" dirty="0"/>
              <a:t>软件开发生命周期模型</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a:xfrm>
            <a:off x="838199" y="1825625"/>
            <a:ext cx="10950677" cy="4351338"/>
          </a:xfrm>
        </p:spPr>
        <p:txBody>
          <a:bodyPr/>
          <a:lstStyle/>
          <a:p>
            <a:pPr marL="0" indent="0">
              <a:buNone/>
            </a:pPr>
            <a:r>
              <a:rPr lang="zh-CN" altLang="en-US" dirty="0"/>
              <a:t>分类：</a:t>
            </a:r>
            <a:endParaRPr lang="en-US" altLang="zh-CN" dirty="0"/>
          </a:p>
          <a:p>
            <a:r>
              <a:rPr lang="zh-CN" altLang="en-US" dirty="0"/>
              <a:t>预测型模型：</a:t>
            </a:r>
            <a:endParaRPr lang="en-US" altLang="zh-CN" dirty="0"/>
          </a:p>
          <a:p>
            <a:pPr lvl="1"/>
            <a:r>
              <a:rPr lang="zh-CN" altLang="en-US" dirty="0"/>
              <a:t>瀑布模型（</a:t>
            </a:r>
            <a:r>
              <a:rPr lang="en-US" altLang="zh-CN" dirty="0"/>
              <a:t>Waterfall Model</a:t>
            </a:r>
            <a:r>
              <a:rPr lang="zh-CN" altLang="en-US" dirty="0"/>
              <a:t>）</a:t>
            </a:r>
            <a:endParaRPr lang="en-US" altLang="zh-CN" dirty="0"/>
          </a:p>
          <a:p>
            <a:r>
              <a:rPr lang="zh-CN" altLang="en-US" dirty="0"/>
              <a:t>适应性模型</a:t>
            </a:r>
            <a:endParaRPr lang="en-US" altLang="zh-CN" dirty="0"/>
          </a:p>
          <a:p>
            <a:pPr lvl="1"/>
            <a:r>
              <a:rPr lang="zh-CN" altLang="en-US" dirty="0"/>
              <a:t>迭代模型（</a:t>
            </a:r>
            <a:r>
              <a:rPr lang="en-US" altLang="zh-CN" dirty="0"/>
              <a:t>Iterative Model</a:t>
            </a:r>
            <a:r>
              <a:rPr lang="zh-CN" altLang="en-US" dirty="0"/>
              <a:t>）</a:t>
            </a:r>
          </a:p>
          <a:p>
            <a:pPr lvl="1"/>
            <a:r>
              <a:rPr lang="zh-CN" altLang="en-US" dirty="0"/>
              <a:t>螺旋模型（</a:t>
            </a:r>
            <a:r>
              <a:rPr lang="en-US" altLang="zh-CN" dirty="0"/>
              <a:t>Spiral Model</a:t>
            </a:r>
            <a:r>
              <a:rPr lang="zh-CN" altLang="en-US" dirty="0"/>
              <a:t>）</a:t>
            </a:r>
            <a:endParaRPr lang="en-US" altLang="zh-CN" dirty="0"/>
          </a:p>
        </p:txBody>
      </p:sp>
    </p:spTree>
    <p:extLst>
      <p:ext uri="{BB962C8B-B14F-4D97-AF65-F5344CB8AC3E}">
        <p14:creationId xmlns:p14="http://schemas.microsoft.com/office/powerpoint/2010/main" val="963904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7">
            <a:extLst>
              <a:ext uri="{FF2B5EF4-FFF2-40B4-BE49-F238E27FC236}">
                <a16:creationId xmlns:a16="http://schemas.microsoft.com/office/drawing/2014/main" id="{67724C76-509E-4B12-A7D8-768C57A3D1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593" y="2190032"/>
            <a:ext cx="4218174" cy="2932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2905E436-DD65-45CB-B372-8B8135ADDA97}"/>
              </a:ext>
            </a:extLst>
          </p:cNvPr>
          <p:cNvSpPr txBox="1"/>
          <p:nvPr/>
        </p:nvSpPr>
        <p:spPr>
          <a:xfrm>
            <a:off x="718723" y="5252308"/>
            <a:ext cx="3225914" cy="369332"/>
          </a:xfrm>
          <a:prstGeom prst="rect">
            <a:avLst/>
          </a:prstGeom>
          <a:noFill/>
        </p:spPr>
        <p:txBody>
          <a:bodyPr wrap="square">
            <a:spAutoFit/>
          </a:bodyPr>
          <a:lstStyle/>
          <a:p>
            <a:pPr lvl="1"/>
            <a:r>
              <a:rPr lang="zh-CN" altLang="en-US" b="1" dirty="0"/>
              <a:t>瀑布模型：一蹴而就</a:t>
            </a:r>
            <a:endParaRPr lang="en-US" altLang="zh-CN" b="1" dirty="0"/>
          </a:p>
        </p:txBody>
      </p:sp>
      <p:pic>
        <p:nvPicPr>
          <p:cNvPr id="9" name="Picture 7">
            <a:extLst>
              <a:ext uri="{FF2B5EF4-FFF2-40B4-BE49-F238E27FC236}">
                <a16:creationId xmlns:a16="http://schemas.microsoft.com/office/drawing/2014/main" id="{7863EC29-B370-4B63-BA44-12EF4E96E1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4000" y="2190033"/>
            <a:ext cx="3039800" cy="2932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a:extLst>
              <a:ext uri="{FF2B5EF4-FFF2-40B4-BE49-F238E27FC236}">
                <a16:creationId xmlns:a16="http://schemas.microsoft.com/office/drawing/2014/main" id="{0C485F3B-D15E-4D9D-9707-77AAB77F0CB8}"/>
              </a:ext>
            </a:extLst>
          </p:cNvPr>
          <p:cNvSpPr txBox="1"/>
          <p:nvPr/>
        </p:nvSpPr>
        <p:spPr>
          <a:xfrm>
            <a:off x="8818722" y="5252311"/>
            <a:ext cx="2458065" cy="369332"/>
          </a:xfrm>
          <a:prstGeom prst="rect">
            <a:avLst/>
          </a:prstGeom>
          <a:noFill/>
        </p:spPr>
        <p:txBody>
          <a:bodyPr wrap="square">
            <a:spAutoFit/>
          </a:bodyPr>
          <a:lstStyle/>
          <a:p>
            <a:pPr lvl="1"/>
            <a:r>
              <a:rPr lang="zh-CN" altLang="en-US" b="1" dirty="0"/>
              <a:t>螺旋模型</a:t>
            </a:r>
            <a:endParaRPr lang="en-US" altLang="zh-CN" b="1" dirty="0"/>
          </a:p>
        </p:txBody>
      </p:sp>
      <p:pic>
        <p:nvPicPr>
          <p:cNvPr id="11" name="Picture 7">
            <a:extLst>
              <a:ext uri="{FF2B5EF4-FFF2-40B4-BE49-F238E27FC236}">
                <a16:creationId xmlns:a16="http://schemas.microsoft.com/office/drawing/2014/main" id="{DB25DC1E-286F-4109-897A-9CC277E3A8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16073" y="2190032"/>
            <a:ext cx="2837354" cy="2969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a:extLst>
              <a:ext uri="{FF2B5EF4-FFF2-40B4-BE49-F238E27FC236}">
                <a16:creationId xmlns:a16="http://schemas.microsoft.com/office/drawing/2014/main" id="{6316850C-C197-4E24-A143-38F31B7FD509}"/>
              </a:ext>
            </a:extLst>
          </p:cNvPr>
          <p:cNvSpPr txBox="1"/>
          <p:nvPr/>
        </p:nvSpPr>
        <p:spPr>
          <a:xfrm>
            <a:off x="5390543" y="5252310"/>
            <a:ext cx="2458065" cy="369332"/>
          </a:xfrm>
          <a:prstGeom prst="rect">
            <a:avLst/>
          </a:prstGeom>
          <a:noFill/>
        </p:spPr>
        <p:txBody>
          <a:bodyPr wrap="square">
            <a:spAutoFit/>
          </a:bodyPr>
          <a:lstStyle/>
          <a:p>
            <a:pPr lvl="1"/>
            <a:r>
              <a:rPr lang="zh-CN" altLang="en-US" b="1" dirty="0"/>
              <a:t>迭代模型</a:t>
            </a:r>
            <a:endParaRPr lang="en-US" altLang="zh-CN" b="1" dirty="0"/>
          </a:p>
        </p:txBody>
      </p:sp>
      <p:sp>
        <p:nvSpPr>
          <p:cNvPr id="13" name="标题 1">
            <a:extLst>
              <a:ext uri="{FF2B5EF4-FFF2-40B4-BE49-F238E27FC236}">
                <a16:creationId xmlns:a16="http://schemas.microsoft.com/office/drawing/2014/main" id="{64A0F7CA-7659-4114-91E8-373E563C982A}"/>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a:t>软件开发生命周期模型</a:t>
            </a:r>
            <a:endParaRPr lang="zh-CN" altLang="en-US" b="1" dirty="0"/>
          </a:p>
        </p:txBody>
      </p:sp>
    </p:spTree>
    <p:extLst>
      <p:ext uri="{BB962C8B-B14F-4D97-AF65-F5344CB8AC3E}">
        <p14:creationId xmlns:p14="http://schemas.microsoft.com/office/powerpoint/2010/main" val="2572125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679DFE1-45DD-48A6-913A-F286BFF8E163}"/>
              </a:ext>
            </a:extLst>
          </p:cNvPr>
          <p:cNvSpPr>
            <a:spLocks noGrp="1"/>
          </p:cNvSpPr>
          <p:nvPr>
            <p:ph idx="1"/>
          </p:nvPr>
        </p:nvSpPr>
        <p:spPr/>
        <p:txBody>
          <a:bodyPr>
            <a:normAutofit/>
          </a:bodyPr>
          <a:lstStyle/>
          <a:p>
            <a:r>
              <a:rPr lang="zh-CN" altLang="en-US" sz="2000" b="1" dirty="0"/>
              <a:t>瀑布模型</a:t>
            </a:r>
            <a:r>
              <a:rPr lang="zh-CN" altLang="en-US" sz="2000" dirty="0"/>
              <a:t>：</a:t>
            </a:r>
            <a:endParaRPr lang="en-US" altLang="zh-CN" sz="2000" dirty="0"/>
          </a:p>
          <a:p>
            <a:pPr>
              <a:lnSpc>
                <a:spcPct val="150000"/>
              </a:lnSpc>
            </a:pPr>
            <a:r>
              <a:rPr lang="zh-CN" altLang="en-US" sz="2000" b="1" dirty="0"/>
              <a:t>特点：</a:t>
            </a:r>
            <a:r>
              <a:rPr lang="zh-CN" altLang="en-US" sz="2000" dirty="0"/>
              <a:t>瀑布模型严格遵循软件生存周期各阶段的目标、任务规范与质量要求开展开发活动，该模型尤为强调开发前期需求定义的完备性与准确性，通过强化各阶段活动的严谨管控，力求规避开发后期修正所带来的高昂成本。</a:t>
            </a:r>
            <a:endParaRPr lang="en-US" altLang="zh-CN" sz="2000" dirty="0"/>
          </a:p>
          <a:p>
            <a:pPr>
              <a:lnSpc>
                <a:spcPct val="150000"/>
              </a:lnSpc>
            </a:pPr>
            <a:r>
              <a:rPr lang="zh-CN" altLang="en-US" sz="2000" b="1" dirty="0"/>
              <a:t>优点：</a:t>
            </a:r>
            <a:r>
              <a:rPr lang="zh-CN" altLang="en-US" sz="2000" dirty="0"/>
              <a:t>传统瀑布模型为软件产业发展提供了基础性框架，部分缓解了早期软件危机</a:t>
            </a:r>
            <a:endParaRPr lang="en-US" altLang="zh-CN" sz="2000" dirty="0"/>
          </a:p>
          <a:p>
            <a:pPr>
              <a:lnSpc>
                <a:spcPct val="150000"/>
              </a:lnSpc>
            </a:pPr>
            <a:r>
              <a:rPr lang="zh-CN" altLang="en-US" sz="2000" b="1" dirty="0"/>
              <a:t>缺点：</a:t>
            </a:r>
            <a:r>
              <a:rPr lang="zh-CN" altLang="en-US" sz="2000" dirty="0"/>
              <a:t>本质上属于线性顺序模型，适应性差</a:t>
            </a:r>
            <a:endParaRPr lang="en-US" altLang="zh-CN" sz="2000" dirty="0"/>
          </a:p>
          <a:p>
            <a:pPr>
              <a:lnSpc>
                <a:spcPct val="150000"/>
              </a:lnSpc>
            </a:pPr>
            <a:r>
              <a:rPr lang="zh-CN" altLang="en-US" sz="2000" dirty="0"/>
              <a:t>适用：简单功能与性能明确、完整且无重大需求变更的软件开发场景</a:t>
            </a:r>
            <a:endParaRPr lang="en-US" altLang="zh-CN" sz="2000" dirty="0"/>
          </a:p>
          <a:p>
            <a:endParaRPr lang="zh-CN" altLang="en-US" sz="2000" dirty="0"/>
          </a:p>
        </p:txBody>
      </p:sp>
      <p:sp>
        <p:nvSpPr>
          <p:cNvPr id="6" name="标题 1">
            <a:extLst>
              <a:ext uri="{FF2B5EF4-FFF2-40B4-BE49-F238E27FC236}">
                <a16:creationId xmlns:a16="http://schemas.microsoft.com/office/drawing/2014/main" id="{1F299139-F59B-4394-9F6C-C605472B2B7F}"/>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a:t>软件开发生命周期模型</a:t>
            </a:r>
            <a:endParaRPr lang="zh-CN" altLang="en-US" b="1" dirty="0"/>
          </a:p>
        </p:txBody>
      </p:sp>
    </p:spTree>
    <p:extLst>
      <p:ext uri="{BB962C8B-B14F-4D97-AF65-F5344CB8AC3E}">
        <p14:creationId xmlns:p14="http://schemas.microsoft.com/office/powerpoint/2010/main" val="3298199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679DFE1-45DD-48A6-913A-F286BFF8E163}"/>
              </a:ext>
            </a:extLst>
          </p:cNvPr>
          <p:cNvSpPr>
            <a:spLocks noGrp="1"/>
          </p:cNvSpPr>
          <p:nvPr>
            <p:ph idx="1"/>
          </p:nvPr>
        </p:nvSpPr>
        <p:spPr/>
        <p:txBody>
          <a:bodyPr>
            <a:noAutofit/>
          </a:bodyPr>
          <a:lstStyle/>
          <a:p>
            <a:r>
              <a:rPr lang="zh-CN" altLang="en-US" sz="2000" b="1" dirty="0"/>
              <a:t>迭代模型</a:t>
            </a:r>
            <a:r>
              <a:rPr lang="zh-CN" altLang="en-US" sz="2000" dirty="0"/>
              <a:t>：</a:t>
            </a:r>
            <a:endParaRPr lang="en-US" altLang="zh-CN" sz="2000" dirty="0"/>
          </a:p>
          <a:p>
            <a:pPr>
              <a:lnSpc>
                <a:spcPct val="150000"/>
              </a:lnSpc>
            </a:pPr>
            <a:r>
              <a:rPr lang="zh-CN" altLang="en-US" sz="2000" b="1" dirty="0"/>
              <a:t>特点：</a:t>
            </a:r>
            <a:r>
              <a:rPr lang="zh-CN" altLang="en-US" sz="2000" dirty="0"/>
              <a:t>增量模型又称为渐增模型，也称为有计划的产品改进模型，它从一组给定的需求开始，通过构造一系列可执行中间版本来实施开发活动。</a:t>
            </a:r>
            <a:endParaRPr lang="en-US" altLang="zh-CN" sz="2000" dirty="0"/>
          </a:p>
          <a:p>
            <a:pPr>
              <a:lnSpc>
                <a:spcPct val="150000"/>
              </a:lnSpc>
            </a:pPr>
            <a:r>
              <a:rPr lang="zh-CN" altLang="en-US" sz="2000" dirty="0"/>
              <a:t>增量模型和瀑布模型之间存在本质区别：瀑布模型属于整体开发模型，规定在开始下一阶段工作之前，必须完成前一阶段的所有细节；而增量模型属于非整体开发模型，它推迟某些阶段或所有阶段中的细节实现，从而较早地产生可工作的软件。</a:t>
            </a:r>
            <a:endParaRPr lang="en-US" altLang="zh-CN" sz="2000" dirty="0"/>
          </a:p>
          <a:p>
            <a:pPr>
              <a:lnSpc>
                <a:spcPct val="150000"/>
              </a:lnSpc>
            </a:pPr>
            <a:r>
              <a:rPr lang="zh-CN" altLang="en-US" sz="2000" b="1" dirty="0"/>
              <a:t>优点：</a:t>
            </a:r>
            <a:r>
              <a:rPr lang="zh-CN" altLang="en-US" sz="2000" dirty="0"/>
              <a:t>快速交付、适应变化、降低风险</a:t>
            </a:r>
            <a:endParaRPr lang="en-US" altLang="zh-CN" sz="2000" dirty="0"/>
          </a:p>
          <a:p>
            <a:pPr>
              <a:lnSpc>
                <a:spcPct val="150000"/>
              </a:lnSpc>
            </a:pPr>
            <a:r>
              <a:rPr lang="zh-CN" altLang="en-US" sz="2000" b="1" dirty="0"/>
              <a:t>缺点：</a:t>
            </a:r>
            <a:r>
              <a:rPr lang="zh-CN" altLang="en-US" sz="2000" dirty="0"/>
              <a:t>可能不适用于某些类型的软件、需要更多的沟通和协作、系统可能不稳定</a:t>
            </a:r>
            <a:endParaRPr lang="en-US" altLang="zh-CN" sz="2000" dirty="0"/>
          </a:p>
          <a:p>
            <a:pPr>
              <a:lnSpc>
                <a:spcPct val="150000"/>
              </a:lnSpc>
            </a:pPr>
            <a:r>
              <a:rPr lang="zh-CN" altLang="en-US" sz="2000" b="1" dirty="0"/>
              <a:t>适用：</a:t>
            </a:r>
            <a:r>
              <a:rPr lang="zh-CN" altLang="en-US" sz="2000" dirty="0"/>
              <a:t>复杂的软件系统</a:t>
            </a:r>
          </a:p>
        </p:txBody>
      </p:sp>
      <p:sp>
        <p:nvSpPr>
          <p:cNvPr id="8" name="标题 1">
            <a:extLst>
              <a:ext uri="{FF2B5EF4-FFF2-40B4-BE49-F238E27FC236}">
                <a16:creationId xmlns:a16="http://schemas.microsoft.com/office/drawing/2014/main" id="{C9D72D4C-A8C4-444C-A9E3-5EBFAF18B540}"/>
              </a:ext>
            </a:extLst>
          </p:cNvPr>
          <p:cNvSpPr>
            <a:spLocks noGrp="1"/>
          </p:cNvSpPr>
          <p:nvPr>
            <p:ph type="title"/>
          </p:nvPr>
        </p:nvSpPr>
        <p:spPr>
          <a:xfrm>
            <a:off x="838200" y="365125"/>
            <a:ext cx="10515600" cy="1325563"/>
          </a:xfrm>
        </p:spPr>
        <p:txBody>
          <a:bodyPr/>
          <a:lstStyle/>
          <a:p>
            <a:r>
              <a:rPr lang="zh-CN" altLang="en-US" b="1" dirty="0"/>
              <a:t>软件开发生命周期模型</a:t>
            </a:r>
          </a:p>
        </p:txBody>
      </p:sp>
    </p:spTree>
    <p:extLst>
      <p:ext uri="{BB962C8B-B14F-4D97-AF65-F5344CB8AC3E}">
        <p14:creationId xmlns:p14="http://schemas.microsoft.com/office/powerpoint/2010/main" val="444013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679DFE1-45DD-48A6-913A-F286BFF8E163}"/>
              </a:ext>
            </a:extLst>
          </p:cNvPr>
          <p:cNvSpPr>
            <a:spLocks noGrp="1"/>
          </p:cNvSpPr>
          <p:nvPr>
            <p:ph idx="1"/>
          </p:nvPr>
        </p:nvSpPr>
        <p:spPr/>
        <p:txBody>
          <a:bodyPr>
            <a:normAutofit/>
          </a:bodyPr>
          <a:lstStyle/>
          <a:p>
            <a:r>
              <a:rPr lang="zh-CN" altLang="en-US" sz="2000" b="1" dirty="0"/>
              <a:t>螺旋模型</a:t>
            </a:r>
            <a:r>
              <a:rPr lang="zh-CN" altLang="en-US" sz="2000" dirty="0"/>
              <a:t>：</a:t>
            </a:r>
            <a:endParaRPr lang="en-US" altLang="zh-CN" sz="2000" dirty="0"/>
          </a:p>
          <a:p>
            <a:pPr>
              <a:lnSpc>
                <a:spcPct val="150000"/>
              </a:lnSpc>
            </a:pPr>
            <a:r>
              <a:rPr lang="zh-CN" altLang="en-US" sz="2000" b="1" dirty="0"/>
              <a:t>特点：</a:t>
            </a:r>
            <a:r>
              <a:rPr lang="zh-CN" altLang="en-US" sz="2000" dirty="0"/>
              <a:t>螺旋模型将开发过程拆解为多个螺旋周期，每个周期的阶段划分与瀑布模型高度契合</a:t>
            </a:r>
            <a:endParaRPr lang="en-US" altLang="zh-CN" sz="2000" dirty="0"/>
          </a:p>
          <a:p>
            <a:pPr>
              <a:lnSpc>
                <a:spcPct val="150000"/>
              </a:lnSpc>
            </a:pPr>
            <a:r>
              <a:rPr lang="zh-CN" altLang="en-US" sz="2000" b="1" dirty="0"/>
              <a:t>优点：全过程风险管理、阶段质量保障、项目价值验证</a:t>
            </a:r>
            <a:endParaRPr lang="en-US" altLang="zh-CN" sz="2000" b="1" dirty="0"/>
          </a:p>
          <a:p>
            <a:pPr>
              <a:lnSpc>
                <a:spcPct val="150000"/>
              </a:lnSpc>
            </a:pPr>
            <a:r>
              <a:rPr lang="zh-CN" altLang="en-US" sz="2000" b="1" dirty="0"/>
              <a:t>缺点：</a:t>
            </a:r>
            <a:r>
              <a:rPr lang="zh-CN" altLang="en-US" sz="2000" dirty="0"/>
              <a:t>高度依赖风险评估经验、迭代次数难以控制</a:t>
            </a:r>
            <a:endParaRPr lang="en-US" altLang="zh-CN" sz="2000" dirty="0"/>
          </a:p>
          <a:p>
            <a:pPr>
              <a:lnSpc>
                <a:spcPct val="150000"/>
              </a:lnSpc>
            </a:pPr>
            <a:r>
              <a:rPr lang="zh-CN" altLang="en-US" sz="2000" b="1" dirty="0"/>
              <a:t>适用</a:t>
            </a:r>
            <a:r>
              <a:rPr lang="zh-CN" altLang="en-US" sz="2000" dirty="0"/>
              <a:t>：</a:t>
            </a:r>
            <a:r>
              <a:rPr lang="zh-CN" altLang="zh-CN" sz="2000" dirty="0"/>
              <a:t>复杂、高风险、需求不明确项目的系统性开发框架</a:t>
            </a:r>
            <a:endParaRPr lang="zh-CN" altLang="en-US" sz="2000" dirty="0"/>
          </a:p>
        </p:txBody>
      </p:sp>
      <p:sp>
        <p:nvSpPr>
          <p:cNvPr id="6" name="标题 1">
            <a:extLst>
              <a:ext uri="{FF2B5EF4-FFF2-40B4-BE49-F238E27FC236}">
                <a16:creationId xmlns:a16="http://schemas.microsoft.com/office/drawing/2014/main" id="{4A781527-AD47-4A55-9211-11D0B550DC12}"/>
              </a:ext>
            </a:extLst>
          </p:cNvPr>
          <p:cNvSpPr>
            <a:spLocks noGrp="1"/>
          </p:cNvSpPr>
          <p:nvPr>
            <p:ph type="title"/>
          </p:nvPr>
        </p:nvSpPr>
        <p:spPr>
          <a:xfrm>
            <a:off x="838200" y="365125"/>
            <a:ext cx="10515600" cy="1325563"/>
          </a:xfrm>
        </p:spPr>
        <p:txBody>
          <a:bodyPr/>
          <a:lstStyle/>
          <a:p>
            <a:r>
              <a:rPr lang="zh-CN" altLang="en-US" b="1" dirty="0"/>
              <a:t>软件开发生命周期模型</a:t>
            </a:r>
          </a:p>
        </p:txBody>
      </p:sp>
    </p:spTree>
    <p:extLst>
      <p:ext uri="{BB962C8B-B14F-4D97-AF65-F5344CB8AC3E}">
        <p14:creationId xmlns:p14="http://schemas.microsoft.com/office/powerpoint/2010/main" val="811915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679DFE1-45DD-48A6-913A-F286BFF8E163}"/>
              </a:ext>
            </a:extLst>
          </p:cNvPr>
          <p:cNvSpPr>
            <a:spLocks noGrp="1"/>
          </p:cNvSpPr>
          <p:nvPr>
            <p:ph idx="1"/>
          </p:nvPr>
        </p:nvSpPr>
        <p:spPr/>
        <p:txBody>
          <a:bodyPr>
            <a:normAutofit/>
          </a:bodyPr>
          <a:lstStyle/>
          <a:p>
            <a:pPr>
              <a:lnSpc>
                <a:spcPct val="150000"/>
              </a:lnSpc>
            </a:pPr>
            <a:r>
              <a:rPr lang="zh-CN" altLang="en-US" sz="2000" b="1" dirty="0"/>
              <a:t>结构化方法：</a:t>
            </a:r>
            <a:r>
              <a:rPr lang="en-US" altLang="zh-CN" sz="2000" dirty="0"/>
              <a:t>1968</a:t>
            </a:r>
            <a:r>
              <a:rPr lang="zh-CN" altLang="en-US" sz="2000" dirty="0"/>
              <a:t>年，</a:t>
            </a:r>
            <a:r>
              <a:rPr lang="en-US" altLang="zh-CN" sz="2000" dirty="0" err="1"/>
              <a:t>Edsger</a:t>
            </a:r>
            <a:r>
              <a:rPr lang="en-US" altLang="zh-CN" sz="2000" dirty="0"/>
              <a:t> Dijkstra </a:t>
            </a:r>
            <a:r>
              <a:rPr lang="zh-CN" altLang="en-US" sz="2000" dirty="0"/>
              <a:t>提出“结构化编程”思想，强调程序应避免使用无条件跳转语句（如</a:t>
            </a:r>
            <a:r>
              <a:rPr lang="en-US" altLang="zh-CN" sz="2000" dirty="0"/>
              <a:t>GOTO</a:t>
            </a:r>
            <a:r>
              <a:rPr lang="zh-CN" altLang="en-US" sz="2000" dirty="0"/>
              <a:t>），转而采用</a:t>
            </a:r>
            <a:r>
              <a:rPr lang="zh-CN" altLang="en-US" sz="2000" b="1" dirty="0"/>
              <a:t>顺序、选择、循环三种基本控制结构</a:t>
            </a:r>
            <a:endParaRPr lang="en-US" altLang="zh-CN" sz="2000" b="1" dirty="0"/>
          </a:p>
          <a:p>
            <a:pPr>
              <a:lnSpc>
                <a:spcPct val="150000"/>
              </a:lnSpc>
            </a:pPr>
            <a:r>
              <a:rPr lang="zh-CN" altLang="en-US" sz="2000" b="1" dirty="0"/>
              <a:t>面向对象方法：</a:t>
            </a:r>
            <a:r>
              <a:rPr lang="zh-CN" altLang="en-US" sz="2000" dirty="0"/>
              <a:t>面向对象开发方法是一种以“对象”为中心、</a:t>
            </a:r>
            <a:r>
              <a:rPr lang="zh-CN" altLang="en-US" sz="2000" b="1" dirty="0"/>
              <a:t>模拟人类认知世界方式</a:t>
            </a:r>
            <a:r>
              <a:rPr lang="zh-CN" altLang="en-US" sz="2000" dirty="0"/>
              <a:t>的软件开发方法论。其核心理念是将现实世界中的实体及其相互关系直接映射为软件系统中的对象及对象间的关系，从而缩小问题空间与解决方案空间之间的鸿沟。</a:t>
            </a:r>
            <a:endParaRPr lang="en-US" altLang="zh-CN" sz="2000" dirty="0"/>
          </a:p>
        </p:txBody>
      </p:sp>
      <p:sp>
        <p:nvSpPr>
          <p:cNvPr id="6" name="标题 1">
            <a:extLst>
              <a:ext uri="{FF2B5EF4-FFF2-40B4-BE49-F238E27FC236}">
                <a16:creationId xmlns:a16="http://schemas.microsoft.com/office/drawing/2014/main" id="{4A781527-AD47-4A55-9211-11D0B550DC12}"/>
              </a:ext>
            </a:extLst>
          </p:cNvPr>
          <p:cNvSpPr>
            <a:spLocks noGrp="1"/>
          </p:cNvSpPr>
          <p:nvPr>
            <p:ph type="title"/>
          </p:nvPr>
        </p:nvSpPr>
        <p:spPr>
          <a:xfrm>
            <a:off x="838200" y="365125"/>
            <a:ext cx="10515600" cy="1325563"/>
          </a:xfrm>
        </p:spPr>
        <p:txBody>
          <a:bodyPr/>
          <a:lstStyle/>
          <a:p>
            <a:r>
              <a:rPr lang="zh-CN" altLang="en-US" b="1" dirty="0"/>
              <a:t>软件开发方法</a:t>
            </a:r>
          </a:p>
        </p:txBody>
      </p:sp>
    </p:spTree>
    <p:extLst>
      <p:ext uri="{BB962C8B-B14F-4D97-AF65-F5344CB8AC3E}">
        <p14:creationId xmlns:p14="http://schemas.microsoft.com/office/powerpoint/2010/main" val="1205951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679DFE1-45DD-48A6-913A-F286BFF8E163}"/>
              </a:ext>
            </a:extLst>
          </p:cNvPr>
          <p:cNvSpPr>
            <a:spLocks noGrp="1"/>
          </p:cNvSpPr>
          <p:nvPr>
            <p:ph idx="1"/>
          </p:nvPr>
        </p:nvSpPr>
        <p:spPr/>
        <p:txBody>
          <a:bodyPr>
            <a:normAutofit/>
          </a:bodyPr>
          <a:lstStyle/>
          <a:p>
            <a:pPr>
              <a:lnSpc>
                <a:spcPct val="150000"/>
              </a:lnSpc>
            </a:pPr>
            <a:r>
              <a:rPr lang="zh-CN" altLang="en-US" sz="2000" b="1" dirty="0"/>
              <a:t>结构化方法：</a:t>
            </a:r>
            <a:r>
              <a:rPr lang="en-US" altLang="zh-CN" sz="2000" dirty="0"/>
              <a:t>1968</a:t>
            </a:r>
            <a:r>
              <a:rPr lang="zh-CN" altLang="en-US" sz="2000" dirty="0"/>
              <a:t>年，</a:t>
            </a:r>
            <a:r>
              <a:rPr lang="en-US" altLang="zh-CN" sz="2000" dirty="0" err="1"/>
              <a:t>Edsger</a:t>
            </a:r>
            <a:r>
              <a:rPr lang="en-US" altLang="zh-CN" sz="2000" dirty="0"/>
              <a:t> Dijkstra </a:t>
            </a:r>
            <a:r>
              <a:rPr lang="zh-CN" altLang="en-US" sz="2000" dirty="0"/>
              <a:t>提出“结构化编程”思想，强调程序应避免使用无条件跳转语句（如</a:t>
            </a:r>
            <a:r>
              <a:rPr lang="en-US" altLang="zh-CN" sz="2000" dirty="0"/>
              <a:t>GOTO</a:t>
            </a:r>
            <a:r>
              <a:rPr lang="zh-CN" altLang="en-US" sz="2000" dirty="0"/>
              <a:t>），转而采用顺序、选择、循环三种基本控制结构</a:t>
            </a:r>
            <a:endParaRPr lang="en-US" altLang="zh-CN" sz="2000" dirty="0"/>
          </a:p>
        </p:txBody>
      </p:sp>
      <p:sp>
        <p:nvSpPr>
          <p:cNvPr id="6" name="标题 1">
            <a:extLst>
              <a:ext uri="{FF2B5EF4-FFF2-40B4-BE49-F238E27FC236}">
                <a16:creationId xmlns:a16="http://schemas.microsoft.com/office/drawing/2014/main" id="{4A781527-AD47-4A55-9211-11D0B550DC12}"/>
              </a:ext>
            </a:extLst>
          </p:cNvPr>
          <p:cNvSpPr>
            <a:spLocks noGrp="1"/>
          </p:cNvSpPr>
          <p:nvPr>
            <p:ph type="title"/>
          </p:nvPr>
        </p:nvSpPr>
        <p:spPr>
          <a:xfrm>
            <a:off x="838200" y="365125"/>
            <a:ext cx="10515600" cy="1325563"/>
          </a:xfrm>
        </p:spPr>
        <p:txBody>
          <a:bodyPr/>
          <a:lstStyle/>
          <a:p>
            <a:r>
              <a:rPr lang="zh-CN" altLang="en-US" b="1" dirty="0"/>
              <a:t>软件开发方法</a:t>
            </a:r>
          </a:p>
        </p:txBody>
      </p:sp>
      <p:sp>
        <p:nvSpPr>
          <p:cNvPr id="2" name="Rectangle 2">
            <a:extLst>
              <a:ext uri="{FF2B5EF4-FFF2-40B4-BE49-F238E27FC236}">
                <a16:creationId xmlns:a16="http://schemas.microsoft.com/office/drawing/2014/main" id="{5395E60C-DBA1-4212-8990-1FD28D1FD86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7" name="图片 6">
            <a:extLst>
              <a:ext uri="{FF2B5EF4-FFF2-40B4-BE49-F238E27FC236}">
                <a16:creationId xmlns:a16="http://schemas.microsoft.com/office/drawing/2014/main" id="{AF291177-C288-4A58-ABE0-C3168F55D5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6735" y="2811277"/>
            <a:ext cx="4515157" cy="3939774"/>
          </a:xfrm>
          <a:prstGeom prst="rect">
            <a:avLst/>
          </a:prstGeom>
        </p:spPr>
      </p:pic>
    </p:spTree>
    <p:extLst>
      <p:ext uri="{BB962C8B-B14F-4D97-AF65-F5344CB8AC3E}">
        <p14:creationId xmlns:p14="http://schemas.microsoft.com/office/powerpoint/2010/main" val="246456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679DFE1-45DD-48A6-913A-F286BFF8E163}"/>
              </a:ext>
            </a:extLst>
          </p:cNvPr>
          <p:cNvSpPr>
            <a:spLocks noGrp="1"/>
          </p:cNvSpPr>
          <p:nvPr>
            <p:ph idx="1"/>
          </p:nvPr>
        </p:nvSpPr>
        <p:spPr/>
        <p:txBody>
          <a:bodyPr>
            <a:normAutofit/>
          </a:bodyPr>
          <a:lstStyle/>
          <a:p>
            <a:pPr>
              <a:lnSpc>
                <a:spcPct val="150000"/>
              </a:lnSpc>
            </a:pPr>
            <a:r>
              <a:rPr lang="zh-CN" altLang="en-US" sz="2000" b="1" dirty="0"/>
              <a:t>面向对象开发方法</a:t>
            </a:r>
            <a:r>
              <a:rPr lang="zh-CN" altLang="en-US" sz="2000" dirty="0"/>
              <a:t>是一种以“对象”为中心、模拟人类认知世界方式的软件开发方法论。其核心理念是将现实世界中的实体及其相互关系直接映射为软件系统中的对象及对象间的关系，从而缩小问题空间与解决方案空间之间的鸿沟。</a:t>
            </a:r>
            <a:endParaRPr lang="en-US" altLang="zh-CN" sz="2000" dirty="0"/>
          </a:p>
          <a:p>
            <a:pPr>
              <a:lnSpc>
                <a:spcPct val="150000"/>
              </a:lnSpc>
            </a:pPr>
            <a:r>
              <a:rPr lang="zh-CN" altLang="en-US" sz="2000" dirty="0"/>
              <a:t>对象：对象是面向对象方法中最基本的运行实体，它是一个封装了数据（属性）和操作（方法）的独立单元，能够对外提供特定的服务。</a:t>
            </a:r>
            <a:endParaRPr lang="en-US" altLang="zh-CN" sz="2000" dirty="0"/>
          </a:p>
          <a:p>
            <a:pPr>
              <a:lnSpc>
                <a:spcPct val="150000"/>
              </a:lnSpc>
            </a:pPr>
            <a:r>
              <a:rPr lang="zh-CN" altLang="en-US" sz="2000" dirty="0"/>
              <a:t>封装：封装是指将对象的属性与操作绑定在一起，并隐藏对象内部实现细节的机制。</a:t>
            </a:r>
            <a:endParaRPr lang="en-US" altLang="zh-CN" sz="2000" dirty="0"/>
          </a:p>
          <a:p>
            <a:pPr>
              <a:lnSpc>
                <a:spcPct val="150000"/>
              </a:lnSpc>
            </a:pPr>
            <a:r>
              <a:rPr lang="zh-CN" altLang="en-US" sz="2000" dirty="0"/>
              <a:t>继承是类之间的一种层次关系，它允许一个子类共享父类的属性和操作。</a:t>
            </a:r>
            <a:endParaRPr lang="en-US" altLang="zh-CN" sz="2000" dirty="0"/>
          </a:p>
          <a:p>
            <a:pPr>
              <a:lnSpc>
                <a:spcPct val="150000"/>
              </a:lnSpc>
            </a:pPr>
            <a:r>
              <a:rPr lang="zh-CN" altLang="en-US" sz="2000" dirty="0"/>
              <a:t>多态是指在继承关系中，同一操作在不同子类中可以实现不同的行为。</a:t>
            </a:r>
            <a:endParaRPr lang="en-US" altLang="zh-CN" sz="2000" dirty="0"/>
          </a:p>
        </p:txBody>
      </p:sp>
      <p:sp>
        <p:nvSpPr>
          <p:cNvPr id="6" name="标题 1">
            <a:extLst>
              <a:ext uri="{FF2B5EF4-FFF2-40B4-BE49-F238E27FC236}">
                <a16:creationId xmlns:a16="http://schemas.microsoft.com/office/drawing/2014/main" id="{4A781527-AD47-4A55-9211-11D0B550DC12}"/>
              </a:ext>
            </a:extLst>
          </p:cNvPr>
          <p:cNvSpPr>
            <a:spLocks noGrp="1"/>
          </p:cNvSpPr>
          <p:nvPr>
            <p:ph type="title"/>
          </p:nvPr>
        </p:nvSpPr>
        <p:spPr>
          <a:xfrm>
            <a:off x="838200" y="365125"/>
            <a:ext cx="10515600" cy="1325563"/>
          </a:xfrm>
        </p:spPr>
        <p:txBody>
          <a:bodyPr/>
          <a:lstStyle/>
          <a:p>
            <a:r>
              <a:rPr lang="zh-CN" altLang="en-US" b="1" dirty="0"/>
              <a:t>软件开发方法</a:t>
            </a:r>
          </a:p>
        </p:txBody>
      </p:sp>
      <p:sp>
        <p:nvSpPr>
          <p:cNvPr id="2" name="Rectangle 2">
            <a:extLst>
              <a:ext uri="{FF2B5EF4-FFF2-40B4-BE49-F238E27FC236}">
                <a16:creationId xmlns:a16="http://schemas.microsoft.com/office/drawing/2014/main" id="{5395E60C-DBA1-4212-8990-1FD28D1FD86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515999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F7B0621-BC1D-467B-A31F-E08F1A99468C}"/>
              </a:ext>
            </a:extLst>
          </p:cNvPr>
          <p:cNvSpPr>
            <a:spLocks noGrp="1"/>
          </p:cNvSpPr>
          <p:nvPr>
            <p:ph idx="1"/>
          </p:nvPr>
        </p:nvSpPr>
        <p:spPr>
          <a:xfrm>
            <a:off x="838200" y="1427592"/>
            <a:ext cx="10515600" cy="4351338"/>
          </a:xfrm>
        </p:spPr>
        <p:txBody>
          <a:bodyPr/>
          <a:lstStyle/>
          <a:p>
            <a:pPr indent="255905" algn="just">
              <a:lnSpc>
                <a:spcPct val="200000"/>
              </a:lnSpc>
            </a:pPr>
            <a:r>
              <a:rPr lang="zh-CN" altLang="zh-CN" sz="1800" kern="100" dirty="0">
                <a:effectLst/>
                <a:latin typeface="Times New Roman" panose="02020603050405020304" pitchFamily="18" charset="0"/>
                <a:ea typeface="宋体" panose="02010600030101010101" pitchFamily="2" charset="-122"/>
                <a:cs typeface="宋体" panose="02010600030101010101" pitchFamily="2" charset="-122"/>
              </a:rPr>
              <a:t>以下哪一项不是软件危机的表现形式</a:t>
            </a:r>
            <a:r>
              <a:rPr lang="en-US" altLang="zh-CN" sz="1800" kern="100" dirty="0">
                <a:effectLst/>
                <a:latin typeface="Times New Roman" panose="02020603050405020304" pitchFamily="18" charset="0"/>
                <a:ea typeface="宋体" panose="02010600030101010101" pitchFamily="2" charset="-122"/>
                <a:cs typeface="宋体" panose="02010600030101010101" pitchFamily="2" charset="-122"/>
              </a:rPr>
              <a:t>( )</a:t>
            </a:r>
            <a:endParaRPr lang="zh-CN" altLang="zh-CN" sz="1800" kern="100" dirty="0">
              <a:effectLst/>
              <a:latin typeface="Calibri" panose="020F0502020204030204" pitchFamily="34" charset="0"/>
              <a:ea typeface="宋体" panose="02010600030101010101" pitchFamily="2" charset="-122"/>
              <a:cs typeface="Courier New" panose="02070309020205020404" pitchFamily="49" charset="0"/>
            </a:endParaRPr>
          </a:p>
          <a:p>
            <a:pPr indent="255905" algn="just">
              <a:lnSpc>
                <a:spcPct val="200000"/>
              </a:lnSpc>
            </a:pPr>
            <a:r>
              <a:rPr lang="en-US" altLang="zh-CN" sz="1800" kern="100" dirty="0">
                <a:effectLst/>
                <a:latin typeface="Times New Roman" panose="02020603050405020304" pitchFamily="18" charset="0"/>
                <a:ea typeface="宋体" panose="02010600030101010101" pitchFamily="2" charset="-122"/>
                <a:cs typeface="宋体" panose="02010600030101010101" pitchFamily="2" charset="-122"/>
              </a:rPr>
              <a:t>A. </a:t>
            </a:r>
            <a:r>
              <a:rPr lang="zh-CN" altLang="zh-CN" sz="1800" kern="100" dirty="0">
                <a:effectLst/>
                <a:latin typeface="Times New Roman" panose="02020603050405020304" pitchFamily="18" charset="0"/>
                <a:ea typeface="宋体" panose="02010600030101010101" pitchFamily="2" charset="-122"/>
                <a:cs typeface="宋体" panose="02010600030101010101" pitchFamily="2" charset="-122"/>
              </a:rPr>
              <a:t>开发的软件不满足用户需要</a:t>
            </a:r>
            <a:r>
              <a:rPr lang="en-US" altLang="zh-CN" sz="1800" kern="100" dirty="0">
                <a:effectLst/>
                <a:latin typeface="Times New Roman" panose="02020603050405020304" pitchFamily="18" charset="0"/>
                <a:ea typeface="宋体" panose="02010600030101010101" pitchFamily="2" charset="-122"/>
                <a:cs typeface="宋体" panose="02010600030101010101" pitchFamily="2" charset="-122"/>
              </a:rPr>
              <a:t>     B. </a:t>
            </a:r>
            <a:r>
              <a:rPr lang="zh-CN" altLang="zh-CN" sz="1800" kern="100" dirty="0">
                <a:effectLst/>
                <a:latin typeface="Times New Roman" panose="02020603050405020304" pitchFamily="18" charset="0"/>
                <a:ea typeface="宋体" panose="02010600030101010101" pitchFamily="2" charset="-122"/>
                <a:cs typeface="宋体" panose="02010600030101010101" pitchFamily="2" charset="-122"/>
              </a:rPr>
              <a:t>开发的软件可维护性差</a:t>
            </a:r>
            <a:r>
              <a:rPr lang="zh-CN" altLang="zh-CN" sz="1800" kern="100" dirty="0">
                <a:effectLst/>
                <a:latin typeface="Calibri" panose="020F0502020204030204" pitchFamily="34" charset="0"/>
                <a:ea typeface="Times New Roman" panose="02020603050405020304" pitchFamily="18" charset="0"/>
                <a:cs typeface="宋体" panose="02010600030101010101" pitchFamily="2" charset="-122"/>
              </a:rPr>
              <a:t> </a:t>
            </a:r>
            <a:endParaRPr lang="zh-CN" altLang="zh-CN" sz="1800" kern="100" dirty="0">
              <a:effectLst/>
              <a:latin typeface="Calibri" panose="020F0502020204030204" pitchFamily="34" charset="0"/>
              <a:ea typeface="宋体" panose="02010600030101010101" pitchFamily="2" charset="-122"/>
              <a:cs typeface="Courier New" panose="02070309020205020404" pitchFamily="49" charset="0"/>
            </a:endParaRPr>
          </a:p>
          <a:p>
            <a:pPr indent="255905" algn="just">
              <a:lnSpc>
                <a:spcPct val="200000"/>
              </a:lnSpc>
            </a:pPr>
            <a:r>
              <a:rPr lang="en-US" altLang="zh-CN" sz="1800" kern="100" dirty="0">
                <a:effectLst/>
                <a:latin typeface="Times New Roman" panose="02020603050405020304" pitchFamily="18" charset="0"/>
                <a:ea typeface="宋体" panose="02010600030101010101" pitchFamily="2" charset="-122"/>
                <a:cs typeface="宋体" panose="02010600030101010101" pitchFamily="2" charset="-122"/>
              </a:rPr>
              <a:t>C. </a:t>
            </a:r>
            <a:r>
              <a:rPr lang="zh-CN" altLang="zh-CN" sz="1800" kern="100" dirty="0">
                <a:effectLst/>
                <a:latin typeface="Times New Roman" panose="02020603050405020304" pitchFamily="18" charset="0"/>
                <a:ea typeface="宋体" panose="02010600030101010101" pitchFamily="2" charset="-122"/>
                <a:cs typeface="宋体" panose="02010600030101010101" pitchFamily="2" charset="-122"/>
              </a:rPr>
              <a:t>开发的软件价格便宜</a:t>
            </a:r>
            <a:r>
              <a:rPr lang="en-US" altLang="zh-CN" sz="1800" kern="100" dirty="0">
                <a:effectLst/>
                <a:latin typeface="Times New Roman" panose="02020603050405020304" pitchFamily="18" charset="0"/>
                <a:ea typeface="宋体" panose="02010600030101010101" pitchFamily="2" charset="-122"/>
                <a:cs typeface="宋体" panose="02010600030101010101" pitchFamily="2" charset="-122"/>
              </a:rPr>
              <a:t>                 D. </a:t>
            </a:r>
            <a:r>
              <a:rPr lang="zh-CN" altLang="zh-CN" sz="1800" kern="100" dirty="0">
                <a:effectLst/>
                <a:latin typeface="Times New Roman" panose="02020603050405020304" pitchFamily="18" charset="0"/>
                <a:ea typeface="宋体" panose="02010600030101010101" pitchFamily="2" charset="-122"/>
                <a:cs typeface="宋体" panose="02010600030101010101" pitchFamily="2" charset="-122"/>
              </a:rPr>
              <a:t>开发的软件可靠性差</a:t>
            </a:r>
            <a:endParaRPr lang="zh-CN" altLang="zh-CN" sz="1800" kern="100" dirty="0">
              <a:effectLst/>
              <a:latin typeface="Calibri" panose="020F0502020204030204" pitchFamily="34" charset="0"/>
              <a:ea typeface="宋体" panose="02010600030101010101" pitchFamily="2" charset="-122"/>
              <a:cs typeface="Courier New" panose="02070309020205020404" pitchFamily="49" charset="0"/>
            </a:endParaRPr>
          </a:p>
        </p:txBody>
      </p:sp>
      <p:sp>
        <p:nvSpPr>
          <p:cNvPr id="6" name="标题 1">
            <a:extLst>
              <a:ext uri="{FF2B5EF4-FFF2-40B4-BE49-F238E27FC236}">
                <a16:creationId xmlns:a16="http://schemas.microsoft.com/office/drawing/2014/main" id="{4A8BD595-E53C-45B1-9DC3-D28CDCACB553}"/>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例题</a:t>
            </a:r>
          </a:p>
        </p:txBody>
      </p:sp>
      <p:sp>
        <p:nvSpPr>
          <p:cNvPr id="8" name="文本框 7">
            <a:extLst>
              <a:ext uri="{FF2B5EF4-FFF2-40B4-BE49-F238E27FC236}">
                <a16:creationId xmlns:a16="http://schemas.microsoft.com/office/drawing/2014/main" id="{B03CB994-595B-4602-8D24-3ED3987E55CE}"/>
              </a:ext>
            </a:extLst>
          </p:cNvPr>
          <p:cNvSpPr txBox="1"/>
          <p:nvPr/>
        </p:nvSpPr>
        <p:spPr>
          <a:xfrm>
            <a:off x="1066800" y="3739634"/>
            <a:ext cx="6096000" cy="369332"/>
          </a:xfrm>
          <a:prstGeom prst="rect">
            <a:avLst/>
          </a:prstGeom>
          <a:noFill/>
        </p:spPr>
        <p:txBody>
          <a:bodyPr wrap="square">
            <a:spAutoFit/>
          </a:bodyPr>
          <a:lstStyle/>
          <a:p>
            <a:r>
              <a:rPr lang="zh-CN" altLang="en-US" sz="1800" kern="100" dirty="0">
                <a:latin typeface="Times New Roman" panose="02020603050405020304" pitchFamily="18" charset="0"/>
                <a:ea typeface="宋体" panose="02010600030101010101" pitchFamily="2" charset="-122"/>
              </a:rPr>
              <a:t>答案：</a:t>
            </a:r>
            <a:r>
              <a:rPr lang="en-US" altLang="zh-CN" sz="1800" kern="100" dirty="0">
                <a:latin typeface="Times New Roman" panose="02020603050405020304" pitchFamily="18" charset="0"/>
                <a:ea typeface="宋体" panose="02010600030101010101" pitchFamily="2" charset="-122"/>
              </a:rPr>
              <a:t>C</a:t>
            </a:r>
            <a:endParaRPr lang="zh-CN" altLang="en-US" sz="1800" kern="1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793488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 一个软件项目是否进行开发的结论是在（  </a:t>
            </a:r>
            <a:r>
              <a:rPr lang="en-US" altLang="zh-CN" sz="2800" dirty="0"/>
              <a:t>  </a:t>
            </a:r>
            <a:r>
              <a:rPr lang="zh-CN" altLang="en-US" sz="2800" dirty="0"/>
              <a:t>）文档中作出的。</a:t>
            </a:r>
            <a:br>
              <a:rPr lang="zh-CN" altLang="en-US" sz="2800" dirty="0"/>
            </a:br>
            <a:r>
              <a:rPr lang="en-US" altLang="zh-CN" sz="2800" dirty="0"/>
              <a:t>A</a:t>
            </a:r>
            <a:r>
              <a:rPr lang="zh-CN" altLang="en-US" sz="2800" dirty="0"/>
              <a:t>．软件计划	</a:t>
            </a:r>
            <a:br>
              <a:rPr lang="en-US" altLang="zh-CN" sz="2800" dirty="0"/>
            </a:br>
            <a:r>
              <a:rPr lang="en-US" altLang="zh-CN" sz="2800" dirty="0"/>
              <a:t>B</a:t>
            </a:r>
            <a:r>
              <a:rPr lang="zh-CN" altLang="en-US" sz="2800" dirty="0"/>
              <a:t>．可行性报告	</a:t>
            </a:r>
            <a:br>
              <a:rPr lang="en-US" altLang="zh-CN" sz="2800" dirty="0"/>
            </a:br>
            <a:r>
              <a:rPr lang="en-US" altLang="zh-CN" sz="2800" dirty="0"/>
              <a:t>C</a:t>
            </a:r>
            <a:r>
              <a:rPr lang="zh-CN" altLang="en-US" sz="2800" dirty="0"/>
              <a:t>．测试报告	</a:t>
            </a:r>
            <a:br>
              <a:rPr lang="en-US" altLang="zh-CN" sz="2800" dirty="0"/>
            </a:br>
            <a:r>
              <a:rPr lang="en-US" altLang="zh-CN" sz="2800" dirty="0"/>
              <a:t>D</a:t>
            </a:r>
            <a:r>
              <a:rPr lang="zh-CN" altLang="en-US" sz="2800" dirty="0"/>
              <a:t>．需求分析说明书</a:t>
            </a: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B</a:t>
            </a:r>
          </a:p>
        </p:txBody>
      </p:sp>
    </p:spTree>
    <p:extLst>
      <p:ext uri="{BB962C8B-B14F-4D97-AF65-F5344CB8AC3E}">
        <p14:creationId xmlns:p14="http://schemas.microsoft.com/office/powerpoint/2010/main" val="868480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编码阶段是位于哪个阶段之后</a:t>
            </a:r>
            <a:r>
              <a:rPr lang="en-US" altLang="zh-CN" sz="2800" dirty="0"/>
              <a:t>(  )</a:t>
            </a:r>
            <a:br>
              <a:rPr lang="en-US" altLang="zh-CN" sz="2800" dirty="0"/>
            </a:br>
            <a:r>
              <a:rPr lang="en-US" altLang="zh-CN" sz="2800" dirty="0"/>
              <a:t>A. </a:t>
            </a:r>
            <a:r>
              <a:rPr lang="zh-CN" altLang="en-US" sz="2800" dirty="0"/>
              <a:t>详细设计		</a:t>
            </a:r>
            <a:br>
              <a:rPr lang="en-US" altLang="zh-CN" sz="2800" dirty="0"/>
            </a:br>
            <a:r>
              <a:rPr lang="en-US" altLang="zh-CN" sz="2800" dirty="0"/>
              <a:t>B. </a:t>
            </a:r>
            <a:r>
              <a:rPr lang="zh-CN" altLang="en-US" sz="2800" dirty="0"/>
              <a:t>可行性研究		</a:t>
            </a:r>
            <a:br>
              <a:rPr lang="en-US" altLang="zh-CN" sz="2800" dirty="0"/>
            </a:br>
            <a:r>
              <a:rPr lang="en-US" altLang="zh-CN" sz="2800" dirty="0"/>
              <a:t>C. </a:t>
            </a:r>
            <a:r>
              <a:rPr lang="zh-CN" altLang="en-US" sz="2800" dirty="0"/>
              <a:t>总体设计		</a:t>
            </a:r>
            <a:br>
              <a:rPr lang="en-US" altLang="zh-CN" sz="2800" dirty="0"/>
            </a:br>
            <a:r>
              <a:rPr lang="en-US" altLang="zh-CN" sz="2800" dirty="0"/>
              <a:t>D. </a:t>
            </a:r>
            <a:r>
              <a:rPr lang="zh-CN" altLang="en-US" sz="2800" dirty="0"/>
              <a:t>需求分析</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 A</a:t>
            </a:r>
          </a:p>
        </p:txBody>
      </p:sp>
    </p:spTree>
    <p:extLst>
      <p:ext uri="{BB962C8B-B14F-4D97-AF65-F5344CB8AC3E}">
        <p14:creationId xmlns:p14="http://schemas.microsoft.com/office/powerpoint/2010/main" val="3522326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模块内部的算法设计在结构化方法的（  </a:t>
            </a:r>
            <a:r>
              <a:rPr lang="en-US" altLang="zh-CN" sz="2800" dirty="0"/>
              <a:t>  </a:t>
            </a:r>
            <a:r>
              <a:rPr lang="zh-CN" altLang="en-US" sz="2800" dirty="0"/>
              <a:t>）阶段进行。</a:t>
            </a:r>
            <a:br>
              <a:rPr lang="zh-CN" altLang="en-US" sz="2800" dirty="0"/>
            </a:br>
            <a:r>
              <a:rPr lang="en-US" altLang="zh-CN" sz="2800" dirty="0"/>
              <a:t>A</a:t>
            </a:r>
            <a:r>
              <a:rPr lang="zh-CN" altLang="en-US" sz="2800" dirty="0"/>
              <a:t>．系统分析		</a:t>
            </a:r>
            <a:br>
              <a:rPr lang="en-US" altLang="zh-CN" sz="2800" dirty="0"/>
            </a:br>
            <a:r>
              <a:rPr lang="en-US" altLang="zh-CN" sz="2800" dirty="0"/>
              <a:t>B</a:t>
            </a:r>
            <a:r>
              <a:rPr lang="zh-CN" altLang="en-US" sz="2800" dirty="0"/>
              <a:t>．概要设计</a:t>
            </a:r>
            <a:br>
              <a:rPr lang="en-US" altLang="zh-CN" sz="2800" dirty="0"/>
            </a:br>
            <a:r>
              <a:rPr lang="en-US" altLang="zh-CN" sz="2800" dirty="0"/>
              <a:t>C</a:t>
            </a:r>
            <a:r>
              <a:rPr lang="zh-CN" altLang="en-US" sz="2800" dirty="0"/>
              <a:t>．详细设计	</a:t>
            </a:r>
            <a:br>
              <a:rPr lang="en-US" altLang="zh-CN" sz="2800" dirty="0"/>
            </a:br>
            <a:r>
              <a:rPr lang="en-US" altLang="zh-CN" sz="2800" dirty="0"/>
              <a:t>D</a:t>
            </a:r>
            <a:r>
              <a:rPr lang="zh-CN" altLang="en-US" sz="2800" dirty="0"/>
              <a:t>．可行性分析</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C</a:t>
            </a:r>
          </a:p>
        </p:txBody>
      </p:sp>
    </p:spTree>
    <p:extLst>
      <p:ext uri="{BB962C8B-B14F-4D97-AF65-F5344CB8AC3E}">
        <p14:creationId xmlns:p14="http://schemas.microsoft.com/office/powerpoint/2010/main" val="2183166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需求分析阶段的任务是确定（ ）</a:t>
            </a:r>
            <a:br>
              <a:rPr lang="zh-CN" altLang="en-US" sz="2800" dirty="0"/>
            </a:br>
            <a:r>
              <a:rPr lang="en-US" altLang="zh-CN" sz="2800" dirty="0"/>
              <a:t>A</a:t>
            </a:r>
            <a:r>
              <a:rPr lang="zh-CN" altLang="en-US" sz="2800" dirty="0"/>
              <a:t>．软件开发方法</a:t>
            </a:r>
            <a:br>
              <a:rPr lang="en-US" altLang="zh-CN" sz="2800" dirty="0"/>
            </a:br>
            <a:r>
              <a:rPr lang="en-US" altLang="zh-CN" sz="2800" dirty="0"/>
              <a:t>B</a:t>
            </a:r>
            <a:r>
              <a:rPr lang="zh-CN" altLang="en-US" sz="2800" dirty="0"/>
              <a:t>．软件开发工具</a:t>
            </a:r>
            <a:br>
              <a:rPr lang="en-US" altLang="zh-CN" sz="2800" dirty="0"/>
            </a:br>
            <a:r>
              <a:rPr lang="en-US" altLang="zh-CN" sz="2800" dirty="0"/>
              <a:t>C</a:t>
            </a:r>
            <a:r>
              <a:rPr lang="zh-CN" altLang="en-US" sz="2800" dirty="0"/>
              <a:t>．软件开发费   </a:t>
            </a:r>
            <a:br>
              <a:rPr lang="en-US" altLang="zh-CN" sz="2800" dirty="0"/>
            </a:br>
            <a:r>
              <a:rPr lang="en-US" altLang="zh-CN" sz="2800" dirty="0"/>
              <a:t>D</a:t>
            </a:r>
            <a:r>
              <a:rPr lang="zh-CN" altLang="en-US" sz="2800" dirty="0"/>
              <a:t>．软件系统的功能</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 D </a:t>
            </a:r>
          </a:p>
        </p:txBody>
      </p:sp>
    </p:spTree>
    <p:extLst>
      <p:ext uri="{BB962C8B-B14F-4D97-AF65-F5344CB8AC3E}">
        <p14:creationId xmlns:p14="http://schemas.microsoft.com/office/powerpoint/2010/main" val="3391743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F7B0621-BC1D-467B-A31F-E08F1A99468C}"/>
              </a:ext>
            </a:extLst>
          </p:cNvPr>
          <p:cNvSpPr>
            <a:spLocks noGrp="1"/>
          </p:cNvSpPr>
          <p:nvPr>
            <p:ph idx="1"/>
          </p:nvPr>
        </p:nvSpPr>
        <p:spPr>
          <a:xfrm>
            <a:off x="838200" y="1427592"/>
            <a:ext cx="10515600" cy="4351338"/>
          </a:xfrm>
        </p:spPr>
        <p:txBody>
          <a:bodyPr/>
          <a:lstStyle/>
          <a:p>
            <a:pPr indent="255905" algn="just">
              <a:lnSpc>
                <a:spcPct val="200000"/>
              </a:lnSpc>
            </a:pP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瀑布模型本质上是一种</a:t>
            </a: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    )</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A</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．线性顺序模型  			</a:t>
            </a: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B</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．顺序迭代模型  </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C</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．线性迭代模型  			</a:t>
            </a: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D</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．及早见产品模型</a:t>
            </a:r>
          </a:p>
        </p:txBody>
      </p:sp>
      <p:sp>
        <p:nvSpPr>
          <p:cNvPr id="6" name="标题 1">
            <a:extLst>
              <a:ext uri="{FF2B5EF4-FFF2-40B4-BE49-F238E27FC236}">
                <a16:creationId xmlns:a16="http://schemas.microsoft.com/office/drawing/2014/main" id="{4A8BD595-E53C-45B1-9DC3-D28CDCACB553}"/>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例题</a:t>
            </a:r>
          </a:p>
        </p:txBody>
      </p:sp>
      <p:sp>
        <p:nvSpPr>
          <p:cNvPr id="5" name="文本框 4">
            <a:extLst>
              <a:ext uri="{FF2B5EF4-FFF2-40B4-BE49-F238E27FC236}">
                <a16:creationId xmlns:a16="http://schemas.microsoft.com/office/drawing/2014/main" id="{D925C86C-E9D0-4866-9778-CAD0EE6C99D1}"/>
              </a:ext>
            </a:extLst>
          </p:cNvPr>
          <p:cNvSpPr txBox="1"/>
          <p:nvPr/>
        </p:nvSpPr>
        <p:spPr>
          <a:xfrm>
            <a:off x="1047750" y="3717561"/>
            <a:ext cx="6096000" cy="369332"/>
          </a:xfrm>
          <a:prstGeom prst="rect">
            <a:avLst/>
          </a:prstGeom>
          <a:noFill/>
        </p:spPr>
        <p:txBody>
          <a:bodyPr wrap="square">
            <a:spAutoFit/>
          </a:bodyPr>
          <a:lstStyle/>
          <a:p>
            <a:r>
              <a:rPr lang="zh-CN" altLang="en-US" sz="1800" kern="100" dirty="0">
                <a:latin typeface="Times New Roman" panose="02020603050405020304" pitchFamily="18" charset="0"/>
                <a:ea typeface="宋体" panose="02010600030101010101" pitchFamily="2" charset="-122"/>
              </a:rPr>
              <a:t>答案：</a:t>
            </a:r>
            <a:r>
              <a:rPr lang="en-US" altLang="zh-CN" sz="1800" kern="100" dirty="0">
                <a:latin typeface="Times New Roman" panose="02020603050405020304" pitchFamily="18" charset="0"/>
                <a:ea typeface="宋体" panose="02010600030101010101" pitchFamily="2" charset="-122"/>
              </a:rPr>
              <a:t>A</a:t>
            </a:r>
            <a:endParaRPr lang="zh-CN" altLang="en-US" sz="1800" kern="1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5291473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F7B0621-BC1D-467B-A31F-E08F1A99468C}"/>
              </a:ext>
            </a:extLst>
          </p:cNvPr>
          <p:cNvSpPr>
            <a:spLocks noGrp="1"/>
          </p:cNvSpPr>
          <p:nvPr>
            <p:ph idx="1"/>
          </p:nvPr>
        </p:nvSpPr>
        <p:spPr>
          <a:xfrm>
            <a:off x="838200" y="1427592"/>
            <a:ext cx="10515600" cy="4351338"/>
          </a:xfrm>
        </p:spPr>
        <p:txBody>
          <a:bodyPr/>
          <a:lstStyle/>
          <a:p>
            <a:pPr indent="255905" algn="just">
              <a:lnSpc>
                <a:spcPct val="200000"/>
              </a:lnSpc>
            </a:pP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瀑布模型表达了一种系统的、顺序的软件开发方法。以下关于瀑布模型的叙述中，正确的是</a:t>
            </a: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    )</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A</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．瀑布模型能够非常快速地开发大规模软件项目</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B</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．只有很大的开发团队才可使用瀑布模型</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C</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．瀑布模型已不再适合于现今的软件开发环境</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D</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．瀑布模型适用于软件需求确定、开发过程能够采用线性方式完成的项目</a:t>
            </a:r>
          </a:p>
        </p:txBody>
      </p:sp>
      <p:sp>
        <p:nvSpPr>
          <p:cNvPr id="6" name="标题 1">
            <a:extLst>
              <a:ext uri="{FF2B5EF4-FFF2-40B4-BE49-F238E27FC236}">
                <a16:creationId xmlns:a16="http://schemas.microsoft.com/office/drawing/2014/main" id="{4A8BD595-E53C-45B1-9DC3-D28CDCACB553}"/>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例题</a:t>
            </a:r>
          </a:p>
        </p:txBody>
      </p:sp>
      <p:sp>
        <p:nvSpPr>
          <p:cNvPr id="5" name="文本框 4">
            <a:extLst>
              <a:ext uri="{FF2B5EF4-FFF2-40B4-BE49-F238E27FC236}">
                <a16:creationId xmlns:a16="http://schemas.microsoft.com/office/drawing/2014/main" id="{D925C86C-E9D0-4866-9778-CAD0EE6C99D1}"/>
              </a:ext>
            </a:extLst>
          </p:cNvPr>
          <p:cNvSpPr txBox="1"/>
          <p:nvPr/>
        </p:nvSpPr>
        <p:spPr>
          <a:xfrm>
            <a:off x="1097177" y="4866739"/>
            <a:ext cx="6096000" cy="369332"/>
          </a:xfrm>
          <a:prstGeom prst="rect">
            <a:avLst/>
          </a:prstGeom>
          <a:noFill/>
        </p:spPr>
        <p:txBody>
          <a:bodyPr wrap="square">
            <a:spAutoFit/>
          </a:bodyPr>
          <a:lstStyle/>
          <a:p>
            <a:r>
              <a:rPr lang="zh-CN" altLang="en-US" sz="1800" kern="100" dirty="0">
                <a:latin typeface="Times New Roman" panose="02020603050405020304" pitchFamily="18" charset="0"/>
                <a:ea typeface="宋体" panose="02010600030101010101" pitchFamily="2" charset="-122"/>
              </a:rPr>
              <a:t>答案：</a:t>
            </a:r>
            <a:r>
              <a:rPr lang="en-US" altLang="zh-CN" kern="100" dirty="0">
                <a:latin typeface="Times New Roman" panose="02020603050405020304" pitchFamily="18" charset="0"/>
                <a:ea typeface="宋体" panose="02010600030101010101" pitchFamily="2" charset="-122"/>
              </a:rPr>
              <a:t>D</a:t>
            </a:r>
            <a:endParaRPr lang="zh-CN" altLang="en-US" sz="1800" kern="1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421948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F7B0621-BC1D-467B-A31F-E08F1A99468C}"/>
              </a:ext>
            </a:extLst>
          </p:cNvPr>
          <p:cNvSpPr>
            <a:spLocks noGrp="1"/>
          </p:cNvSpPr>
          <p:nvPr>
            <p:ph idx="1"/>
          </p:nvPr>
        </p:nvSpPr>
        <p:spPr>
          <a:xfrm>
            <a:off x="838200" y="1427592"/>
            <a:ext cx="10515600" cy="4351338"/>
          </a:xfrm>
        </p:spPr>
        <p:txBody>
          <a:bodyPr/>
          <a:lstStyle/>
          <a:p>
            <a:pPr indent="255905" algn="just">
              <a:lnSpc>
                <a:spcPct val="200000"/>
              </a:lnSpc>
            </a:pP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瀑布模型的关键不足在于</a:t>
            </a: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 ) </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A. </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过于简单                     </a:t>
            </a: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B. </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各个阶段需要进行评审 </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C. </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过于灵活                     </a:t>
            </a: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D. </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不能适应需求的动态变更</a:t>
            </a:r>
          </a:p>
        </p:txBody>
      </p:sp>
      <p:sp>
        <p:nvSpPr>
          <p:cNvPr id="6" name="标题 1">
            <a:extLst>
              <a:ext uri="{FF2B5EF4-FFF2-40B4-BE49-F238E27FC236}">
                <a16:creationId xmlns:a16="http://schemas.microsoft.com/office/drawing/2014/main" id="{4A8BD595-E53C-45B1-9DC3-D28CDCACB553}"/>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例题</a:t>
            </a:r>
          </a:p>
        </p:txBody>
      </p:sp>
      <p:sp>
        <p:nvSpPr>
          <p:cNvPr id="5" name="文本框 4">
            <a:extLst>
              <a:ext uri="{FF2B5EF4-FFF2-40B4-BE49-F238E27FC236}">
                <a16:creationId xmlns:a16="http://schemas.microsoft.com/office/drawing/2014/main" id="{F1FA2335-4F09-464D-B8AE-739A0BB66D45}"/>
              </a:ext>
            </a:extLst>
          </p:cNvPr>
          <p:cNvSpPr txBox="1"/>
          <p:nvPr/>
        </p:nvSpPr>
        <p:spPr>
          <a:xfrm>
            <a:off x="838200" y="3777734"/>
            <a:ext cx="6096000" cy="369332"/>
          </a:xfrm>
          <a:prstGeom prst="rect">
            <a:avLst/>
          </a:prstGeom>
          <a:noFill/>
        </p:spPr>
        <p:txBody>
          <a:bodyPr wrap="square">
            <a:spAutoFit/>
          </a:bodyPr>
          <a:lstStyle/>
          <a:p>
            <a:r>
              <a:rPr lang="zh-CN" altLang="en-US" sz="1800" kern="100" dirty="0">
                <a:latin typeface="Times New Roman" panose="02020603050405020304" pitchFamily="18" charset="0"/>
                <a:ea typeface="宋体" panose="02010600030101010101" pitchFamily="2" charset="-122"/>
              </a:rPr>
              <a:t>答案：</a:t>
            </a:r>
            <a:r>
              <a:rPr lang="en-US" altLang="zh-CN" sz="1800" kern="100" dirty="0">
                <a:latin typeface="Times New Roman" panose="02020603050405020304" pitchFamily="18" charset="0"/>
                <a:ea typeface="宋体" panose="02010600030101010101" pitchFamily="2" charset="-122"/>
              </a:rPr>
              <a:t>D</a:t>
            </a:r>
            <a:endParaRPr lang="zh-CN" altLang="en-US" sz="1800" kern="1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5744266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 </a:t>
            </a:r>
            <a:r>
              <a:rPr lang="en-US" altLang="zh-CN" sz="2800" dirty="0"/>
              <a:t> </a:t>
            </a:r>
            <a:r>
              <a:rPr lang="zh-CN" altLang="en-US" sz="2800" dirty="0"/>
              <a:t>）是把对象的属性和操作结合在一起，构成一个独立的对象，其内部信息对外界是隐蔽的，外界只能通过有限的接口与对象发生联系。 </a:t>
            </a:r>
            <a:br>
              <a:rPr lang="zh-CN" altLang="en-US" sz="2800" dirty="0"/>
            </a:br>
            <a:r>
              <a:rPr lang="en-US" altLang="zh-CN" sz="2800" dirty="0"/>
              <a:t>A </a:t>
            </a:r>
            <a:r>
              <a:rPr lang="zh-CN" altLang="en-US" sz="2800" dirty="0"/>
              <a:t>封装				</a:t>
            </a:r>
            <a:br>
              <a:rPr lang="en-US" altLang="zh-CN" sz="2800" dirty="0"/>
            </a:br>
            <a:r>
              <a:rPr lang="en-US" altLang="zh-CN" sz="2800" dirty="0"/>
              <a:t>B </a:t>
            </a:r>
            <a:r>
              <a:rPr lang="zh-CN" altLang="en-US" sz="2800" dirty="0"/>
              <a:t>继承 				</a:t>
            </a:r>
            <a:br>
              <a:rPr lang="en-US" altLang="zh-CN" sz="2800" dirty="0"/>
            </a:br>
            <a:r>
              <a:rPr lang="en-US" altLang="zh-CN" sz="2800" dirty="0"/>
              <a:t>C </a:t>
            </a:r>
            <a:r>
              <a:rPr lang="zh-CN" altLang="en-US" sz="2800" dirty="0"/>
              <a:t>多态性			</a:t>
            </a:r>
            <a:br>
              <a:rPr lang="en-US" altLang="zh-CN" sz="2800" dirty="0"/>
            </a:br>
            <a:r>
              <a:rPr lang="en-US" altLang="zh-CN" sz="2800" dirty="0"/>
              <a:t>D </a:t>
            </a:r>
            <a:r>
              <a:rPr lang="zh-CN" altLang="en-US" sz="2800" dirty="0"/>
              <a:t>消息</a:t>
            </a: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A</a:t>
            </a:r>
          </a:p>
        </p:txBody>
      </p:sp>
    </p:spTree>
    <p:extLst>
      <p:ext uri="{BB962C8B-B14F-4D97-AF65-F5344CB8AC3E}">
        <p14:creationId xmlns:p14="http://schemas.microsoft.com/office/powerpoint/2010/main" val="3708450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程序的三种基本控制结构是：</a:t>
            </a:r>
            <a:br>
              <a:rPr lang="en-US" altLang="zh-CN" sz="2800" dirty="0"/>
            </a:br>
            <a:r>
              <a:rPr lang="en-US" altLang="zh-CN" sz="2800" dirty="0"/>
              <a:t>A</a:t>
            </a:r>
            <a:r>
              <a:rPr lang="zh-CN" altLang="en-US" sz="2800" dirty="0"/>
              <a:t>．过程、子程序和分程序</a:t>
            </a:r>
            <a:br>
              <a:rPr lang="zh-CN" altLang="en-US" sz="2800" dirty="0"/>
            </a:br>
            <a:r>
              <a:rPr lang="en-US" altLang="zh-CN" sz="2800" dirty="0"/>
              <a:t>B</a:t>
            </a:r>
            <a:r>
              <a:rPr lang="zh-CN" altLang="en-US" sz="2800" dirty="0"/>
              <a:t>．顺序、选择和重复</a:t>
            </a:r>
            <a:br>
              <a:rPr lang="zh-CN" altLang="en-US" sz="2800" dirty="0"/>
            </a:br>
            <a:r>
              <a:rPr lang="en-US" altLang="zh-CN" sz="2800" dirty="0"/>
              <a:t>C</a:t>
            </a:r>
            <a:r>
              <a:rPr lang="zh-CN" altLang="en-US" sz="2800" dirty="0"/>
              <a:t>．递归、堆栈和队列</a:t>
            </a:r>
            <a:br>
              <a:rPr lang="zh-CN" altLang="en-US" sz="2800" dirty="0"/>
            </a:br>
            <a:r>
              <a:rPr lang="en-US" altLang="zh-CN" sz="2800" dirty="0"/>
              <a:t>D</a:t>
            </a:r>
            <a:r>
              <a:rPr lang="zh-CN" altLang="en-US" sz="2800" dirty="0"/>
              <a:t>．调用、返回和转移</a:t>
            </a: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B</a:t>
            </a:r>
          </a:p>
        </p:txBody>
      </p:sp>
    </p:spTree>
    <p:extLst>
      <p:ext uri="{BB962C8B-B14F-4D97-AF65-F5344CB8AC3E}">
        <p14:creationId xmlns:p14="http://schemas.microsoft.com/office/powerpoint/2010/main" val="861620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程序的三种基本控制结构的共同特点是：</a:t>
            </a:r>
            <a:br>
              <a:rPr lang="en-US" altLang="zh-CN" sz="2800" dirty="0"/>
            </a:br>
            <a:r>
              <a:rPr lang="en-US" altLang="zh-CN" sz="2800" dirty="0"/>
              <a:t>A</a:t>
            </a:r>
            <a:r>
              <a:rPr lang="zh-CN" altLang="en-US" sz="2800" dirty="0"/>
              <a:t>．不能嵌套使用</a:t>
            </a:r>
            <a:br>
              <a:rPr lang="zh-CN" altLang="en-US" sz="2800" dirty="0"/>
            </a:br>
            <a:r>
              <a:rPr lang="en-US" altLang="zh-CN" sz="2800" dirty="0"/>
              <a:t>B</a:t>
            </a:r>
            <a:r>
              <a:rPr lang="zh-CN" altLang="en-US" sz="2800" dirty="0"/>
              <a:t>．只能用来写简单程序</a:t>
            </a:r>
            <a:br>
              <a:rPr lang="zh-CN" altLang="en-US" sz="2800" dirty="0"/>
            </a:br>
            <a:r>
              <a:rPr lang="en-US" altLang="zh-CN" sz="2800" dirty="0"/>
              <a:t>C</a:t>
            </a:r>
            <a:r>
              <a:rPr lang="zh-CN" altLang="en-US" sz="2800" dirty="0"/>
              <a:t>．已经用硬件实现</a:t>
            </a:r>
            <a:br>
              <a:rPr lang="zh-CN" altLang="en-US" sz="2800" dirty="0"/>
            </a:br>
            <a:r>
              <a:rPr lang="en-US" altLang="zh-CN" sz="2800" dirty="0"/>
              <a:t>D</a:t>
            </a:r>
            <a:r>
              <a:rPr lang="zh-CN" altLang="en-US" sz="2800" dirty="0"/>
              <a:t>．只有一个入口和一个出口</a:t>
            </a: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D</a:t>
            </a:r>
          </a:p>
        </p:txBody>
      </p:sp>
    </p:spTree>
    <p:extLst>
      <p:ext uri="{BB962C8B-B14F-4D97-AF65-F5344CB8AC3E}">
        <p14:creationId xmlns:p14="http://schemas.microsoft.com/office/powerpoint/2010/main" val="816742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p:txBody>
          <a:bodyPr>
            <a:normAutofit/>
          </a:bodyPr>
          <a:lstStyle/>
          <a:p>
            <a:r>
              <a:rPr lang="en-US" altLang="zh-CN" sz="2800" dirty="0"/>
              <a:t>【</a:t>
            </a:r>
            <a:r>
              <a:rPr lang="zh-CN" altLang="en-US" sz="2800" dirty="0"/>
              <a:t>简答</a:t>
            </a:r>
            <a:r>
              <a:rPr lang="en-US" altLang="zh-CN" sz="2800" dirty="0"/>
              <a:t>】</a:t>
            </a:r>
            <a:r>
              <a:rPr lang="zh-CN" altLang="en-US" sz="2800" dirty="0"/>
              <a:t>请阐述结构化方法（</a:t>
            </a:r>
            <a:r>
              <a:rPr lang="en-US" altLang="zh-CN" sz="2800" dirty="0"/>
              <a:t>Structured architectural</a:t>
            </a:r>
            <a:r>
              <a:rPr lang="zh-CN" altLang="en-US" sz="2800" dirty="0"/>
              <a:t>）和面向对象方法（</a:t>
            </a:r>
            <a:r>
              <a:rPr lang="en-US" altLang="zh-CN" sz="2800" dirty="0"/>
              <a:t>Object-oriented architectural</a:t>
            </a:r>
            <a:r>
              <a:rPr lang="zh-CN" altLang="en-US" sz="2800" dirty="0"/>
              <a:t>）的不同点</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p:txBody>
          <a:bodyPr/>
          <a:lstStyle/>
          <a:p>
            <a:r>
              <a:rPr lang="zh-CN" altLang="en-US" dirty="0"/>
              <a:t>答案：</a:t>
            </a:r>
            <a:endParaRPr lang="en-US" altLang="zh-CN" dirty="0"/>
          </a:p>
          <a:p>
            <a:r>
              <a:rPr lang="zh-CN" altLang="en-US" dirty="0"/>
              <a:t>结构化方法注重控制流程和数据流程的设计，主要通过顺序、选择和循环等结构来完成程序的开发；</a:t>
            </a:r>
            <a:endParaRPr lang="en-US" altLang="zh-CN" dirty="0"/>
          </a:p>
          <a:p>
            <a:r>
              <a:rPr lang="zh-CN" altLang="en-US" dirty="0"/>
              <a:t>面向对象方法将数据和方法封装在类的内部</a:t>
            </a:r>
            <a:r>
              <a:rPr lang="en-US" altLang="zh-CN" dirty="0"/>
              <a:t>,</a:t>
            </a:r>
            <a:r>
              <a:rPr lang="zh-CN" altLang="en-US" dirty="0"/>
              <a:t>通过类的实例化来创建对象。</a:t>
            </a:r>
          </a:p>
        </p:txBody>
      </p:sp>
    </p:spTree>
    <p:extLst>
      <p:ext uri="{BB962C8B-B14F-4D97-AF65-F5344CB8AC3E}">
        <p14:creationId xmlns:p14="http://schemas.microsoft.com/office/powerpoint/2010/main" val="1736676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p:txBody>
          <a:bodyPr>
            <a:normAutofit/>
          </a:bodyPr>
          <a:lstStyle/>
          <a:p>
            <a:r>
              <a:rPr lang="en-US" altLang="zh-CN" sz="2800" dirty="0"/>
              <a:t>【</a:t>
            </a:r>
            <a:r>
              <a:rPr lang="zh-CN" altLang="en-US" sz="2800" dirty="0"/>
              <a:t>简答</a:t>
            </a:r>
            <a:r>
              <a:rPr lang="en-US" altLang="zh-CN" sz="2800" dirty="0"/>
              <a:t>】</a:t>
            </a:r>
            <a:r>
              <a:rPr lang="zh-CN" altLang="en-US" sz="2800" dirty="0"/>
              <a:t>请阐述瀑布模型、螺旋模型和敏捷开发的特点和适用的系统</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p:txBody>
          <a:bodyPr/>
          <a:lstStyle/>
          <a:p>
            <a:r>
              <a:rPr lang="zh-CN" altLang="en-US" dirty="0"/>
              <a:t>答案：</a:t>
            </a:r>
            <a:endParaRPr lang="en-US" altLang="zh-CN" dirty="0"/>
          </a:p>
          <a:p>
            <a:r>
              <a:rPr lang="zh-CN" altLang="en-US" dirty="0"/>
              <a:t>瀑布模型：每个步骤依次进行，适合需求明确、简单的系统</a:t>
            </a:r>
          </a:p>
          <a:p>
            <a:r>
              <a:rPr lang="zh-CN" altLang="en-US" dirty="0"/>
              <a:t>螺旋模型：每个步骤依次进行，完成一轮迭代后进入下一轮迭代，适合需求尚不完备、需要与用户多次沟通、功能较为复杂的系统</a:t>
            </a:r>
          </a:p>
          <a:p>
            <a:r>
              <a:rPr lang="zh-CN" altLang="en-US" dirty="0"/>
              <a:t>敏捷开发：迭代进行，但步骤间没有明确的先后关系，适合用户需求变动频繁的系统</a:t>
            </a:r>
          </a:p>
        </p:txBody>
      </p:sp>
    </p:spTree>
    <p:extLst>
      <p:ext uri="{BB962C8B-B14F-4D97-AF65-F5344CB8AC3E}">
        <p14:creationId xmlns:p14="http://schemas.microsoft.com/office/powerpoint/2010/main" val="2993429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大纲</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软件工程概念</a:t>
            </a:r>
            <a:endParaRPr lang="en-US" altLang="zh-CN" dirty="0"/>
          </a:p>
          <a:p>
            <a:r>
              <a:rPr lang="zh-CN" altLang="en-US" dirty="0">
                <a:solidFill>
                  <a:srgbClr val="C00000"/>
                </a:solidFill>
              </a:rPr>
              <a:t>项目立项</a:t>
            </a:r>
            <a:endParaRPr lang="en-US" altLang="zh-CN" dirty="0">
              <a:solidFill>
                <a:srgbClr val="C00000"/>
              </a:solidFill>
            </a:endParaRPr>
          </a:p>
          <a:p>
            <a:r>
              <a:rPr lang="zh-CN" altLang="en-US" dirty="0"/>
              <a:t>需求分析</a:t>
            </a:r>
            <a:endParaRPr lang="en-US" altLang="zh-CN" dirty="0"/>
          </a:p>
          <a:p>
            <a:r>
              <a:rPr lang="zh-CN" altLang="en-US" dirty="0"/>
              <a:t>系统设计</a:t>
            </a:r>
            <a:endParaRPr lang="en-US" altLang="zh-CN" dirty="0"/>
          </a:p>
          <a:p>
            <a:r>
              <a:rPr lang="zh-CN" altLang="en-US" dirty="0"/>
              <a:t>系统实现</a:t>
            </a:r>
            <a:endParaRPr lang="en-US" altLang="zh-CN" dirty="0"/>
          </a:p>
          <a:p>
            <a:r>
              <a:rPr lang="zh-CN" altLang="en-US" dirty="0"/>
              <a:t>软件测试</a:t>
            </a:r>
          </a:p>
        </p:txBody>
      </p:sp>
    </p:spTree>
    <p:extLst>
      <p:ext uri="{BB962C8B-B14F-4D97-AF65-F5344CB8AC3E}">
        <p14:creationId xmlns:p14="http://schemas.microsoft.com/office/powerpoint/2010/main" val="2160051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9AECE3-C97A-41B7-AFC9-B64350FD6AA1}"/>
              </a:ext>
            </a:extLst>
          </p:cNvPr>
          <p:cNvSpPr>
            <a:spLocks noGrp="1"/>
          </p:cNvSpPr>
          <p:nvPr>
            <p:ph type="title"/>
          </p:nvPr>
        </p:nvSpPr>
        <p:spPr/>
        <p:txBody>
          <a:bodyPr/>
          <a:lstStyle/>
          <a:p>
            <a:r>
              <a:rPr lang="zh-CN" altLang="en-US" dirty="0"/>
              <a:t>可行性分析</a:t>
            </a:r>
          </a:p>
        </p:txBody>
      </p:sp>
      <p:sp>
        <p:nvSpPr>
          <p:cNvPr id="6" name="内容占位符 3">
            <a:extLst>
              <a:ext uri="{FF2B5EF4-FFF2-40B4-BE49-F238E27FC236}">
                <a16:creationId xmlns:a16="http://schemas.microsoft.com/office/drawing/2014/main" id="{8727B96B-5674-4290-A2BB-48057A0F7E3E}"/>
              </a:ext>
            </a:extLst>
          </p:cNvPr>
          <p:cNvSpPr txBox="1">
            <a:spLocks/>
          </p:cNvSpPr>
          <p:nvPr/>
        </p:nvSpPr>
        <p:spPr>
          <a:xfrm>
            <a:off x="990600" y="1978025"/>
            <a:ext cx="10515600"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b="1" dirty="0"/>
              <a:t>可行性研究的任务：</a:t>
            </a:r>
            <a:r>
              <a:rPr lang="zh-CN" altLang="en-US" dirty="0"/>
              <a:t>可行性研究的根本任务是在软件项目正式启动之前，从多个维度系统评估项目的可行性与投资价值，为管理层的项目决策提供科学依据。</a:t>
            </a:r>
            <a:endParaRPr lang="en-US" altLang="zh-CN" dirty="0"/>
          </a:p>
          <a:p>
            <a:pPr>
              <a:lnSpc>
                <a:spcPct val="150000"/>
              </a:lnSpc>
            </a:pPr>
            <a:r>
              <a:rPr lang="zh-CN" altLang="en-US" b="1" dirty="0"/>
              <a:t>其核心目标是回答三个关键问题：</a:t>
            </a:r>
            <a:endParaRPr lang="en-US" altLang="zh-CN" b="1" dirty="0"/>
          </a:p>
          <a:p>
            <a:pPr lvl="1">
              <a:lnSpc>
                <a:spcPct val="150000"/>
              </a:lnSpc>
            </a:pPr>
            <a:r>
              <a:rPr lang="zh-CN" altLang="en-US" dirty="0"/>
              <a:t>技术可行性：该项目在现有技术条件下是否能够实现？</a:t>
            </a:r>
            <a:endParaRPr lang="en-US" altLang="zh-CN" dirty="0"/>
          </a:p>
          <a:p>
            <a:pPr lvl="1">
              <a:lnSpc>
                <a:spcPct val="150000"/>
              </a:lnSpc>
            </a:pPr>
            <a:r>
              <a:rPr lang="zh-CN" altLang="en-US" dirty="0"/>
              <a:t>经济可行性：该项目在经济上是否值得投资？</a:t>
            </a:r>
            <a:endParaRPr lang="en-US" altLang="zh-CN" dirty="0"/>
          </a:p>
          <a:p>
            <a:pPr lvl="1">
              <a:lnSpc>
                <a:spcPct val="150000"/>
              </a:lnSpc>
            </a:pPr>
            <a:r>
              <a:rPr lang="zh-CN" altLang="en-US" dirty="0"/>
              <a:t>社会可行性：该项目在法律法规和社会伦理层面是否存在障碍？</a:t>
            </a:r>
            <a:endParaRPr lang="en-US" altLang="zh-CN" dirty="0"/>
          </a:p>
        </p:txBody>
      </p:sp>
    </p:spTree>
    <p:extLst>
      <p:ext uri="{BB962C8B-B14F-4D97-AF65-F5344CB8AC3E}">
        <p14:creationId xmlns:p14="http://schemas.microsoft.com/office/powerpoint/2010/main" val="29863168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9AECE3-C97A-41B7-AFC9-B64350FD6AA1}"/>
              </a:ext>
            </a:extLst>
          </p:cNvPr>
          <p:cNvSpPr>
            <a:spLocks noGrp="1"/>
          </p:cNvSpPr>
          <p:nvPr>
            <p:ph type="title"/>
          </p:nvPr>
        </p:nvSpPr>
        <p:spPr/>
        <p:txBody>
          <a:bodyPr/>
          <a:lstStyle/>
          <a:p>
            <a:r>
              <a:rPr lang="zh-CN" altLang="en-US" dirty="0"/>
              <a:t>项目计划</a:t>
            </a:r>
          </a:p>
        </p:txBody>
      </p:sp>
      <p:sp>
        <p:nvSpPr>
          <p:cNvPr id="6" name="内容占位符 3">
            <a:extLst>
              <a:ext uri="{FF2B5EF4-FFF2-40B4-BE49-F238E27FC236}">
                <a16:creationId xmlns:a16="http://schemas.microsoft.com/office/drawing/2014/main" id="{8727B96B-5674-4290-A2BB-48057A0F7E3E}"/>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b="1" dirty="0"/>
              <a:t>项目计划的任务：</a:t>
            </a:r>
            <a:r>
              <a:rPr lang="zh-CN" altLang="en-US" dirty="0"/>
              <a:t>一个完整的软件项目计划通常包括项目范围、项目资源、进度安排、成本估算、培训计划以及项目里程碑等内容。这些内容共同构成了软件项目实施的总体规划。</a:t>
            </a:r>
            <a:endParaRPr lang="en-US" altLang="zh-CN" dirty="0"/>
          </a:p>
        </p:txBody>
      </p:sp>
    </p:spTree>
    <p:extLst>
      <p:ext uri="{BB962C8B-B14F-4D97-AF65-F5344CB8AC3E}">
        <p14:creationId xmlns:p14="http://schemas.microsoft.com/office/powerpoint/2010/main" val="13470793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9AECE3-C97A-41B7-AFC9-B64350FD6AA1}"/>
              </a:ext>
            </a:extLst>
          </p:cNvPr>
          <p:cNvSpPr>
            <a:spLocks noGrp="1"/>
          </p:cNvSpPr>
          <p:nvPr>
            <p:ph type="title"/>
          </p:nvPr>
        </p:nvSpPr>
        <p:spPr/>
        <p:txBody>
          <a:bodyPr/>
          <a:lstStyle/>
          <a:p>
            <a:r>
              <a:rPr lang="zh-CN" altLang="en-US" dirty="0"/>
              <a:t>项目计划</a:t>
            </a:r>
          </a:p>
        </p:txBody>
      </p:sp>
      <p:sp>
        <p:nvSpPr>
          <p:cNvPr id="6" name="内容占位符 3">
            <a:extLst>
              <a:ext uri="{FF2B5EF4-FFF2-40B4-BE49-F238E27FC236}">
                <a16:creationId xmlns:a16="http://schemas.microsoft.com/office/drawing/2014/main" id="{8727B96B-5674-4290-A2BB-48057A0F7E3E}"/>
              </a:ext>
            </a:extLst>
          </p:cNvPr>
          <p:cNvSpPr txBox="1">
            <a:spLocks/>
          </p:cNvSpPr>
          <p:nvPr/>
        </p:nvSpPr>
        <p:spPr>
          <a:xfrm>
            <a:off x="838200" y="1690688"/>
            <a:ext cx="10515600" cy="4351338"/>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3300" b="1" dirty="0"/>
              <a:t>软件规模估算：</a:t>
            </a:r>
            <a:endParaRPr lang="en-US" altLang="zh-CN" sz="3300" b="1" dirty="0"/>
          </a:p>
          <a:p>
            <a:pPr>
              <a:lnSpc>
                <a:spcPct val="150000"/>
              </a:lnSpc>
            </a:pPr>
            <a:r>
              <a:rPr lang="en-US" altLang="zh-CN" dirty="0"/>
              <a:t>1</a:t>
            </a:r>
            <a:r>
              <a:rPr lang="zh-CN" altLang="en-US" dirty="0"/>
              <a:t>）代码行估算</a:t>
            </a:r>
          </a:p>
          <a:p>
            <a:pPr>
              <a:lnSpc>
                <a:spcPct val="150000"/>
              </a:lnSpc>
            </a:pPr>
            <a:r>
              <a:rPr lang="zh-CN" altLang="en-US" dirty="0"/>
              <a:t>将系统按功能模块进行分解，直到每个模块的规模可以较为准确地估算。</a:t>
            </a:r>
          </a:p>
          <a:p>
            <a:pPr>
              <a:lnSpc>
                <a:spcPct val="150000"/>
              </a:lnSpc>
            </a:pPr>
            <a:r>
              <a:rPr lang="en-US" altLang="zh-CN" dirty="0"/>
              <a:t>2</a:t>
            </a:r>
            <a:r>
              <a:rPr lang="zh-CN" altLang="en-US" dirty="0"/>
              <a:t>）功能点估算</a:t>
            </a:r>
          </a:p>
          <a:p>
            <a:pPr>
              <a:lnSpc>
                <a:spcPct val="150000"/>
              </a:lnSpc>
            </a:pPr>
            <a:r>
              <a:rPr lang="zh-CN" altLang="en-US" dirty="0"/>
              <a:t>将系统功能划分为五类基本组件</a:t>
            </a:r>
            <a:r>
              <a:rPr lang="en-US" altLang="zh-CN" dirty="0"/>
              <a:t>——</a:t>
            </a:r>
            <a:r>
              <a:rPr lang="zh-CN" altLang="en-US" dirty="0"/>
              <a:t>外部输入、外部输出、外部查询、内部逻辑文件、外部接口文件。根据各类组件的数量及其复杂度权重，计算出未调整功能点数。</a:t>
            </a:r>
          </a:p>
          <a:p>
            <a:pPr>
              <a:lnSpc>
                <a:spcPct val="150000"/>
              </a:lnSpc>
            </a:pPr>
            <a:endParaRPr lang="en-US" altLang="zh-CN" b="1" dirty="0"/>
          </a:p>
        </p:txBody>
      </p:sp>
    </p:spTree>
    <p:extLst>
      <p:ext uri="{BB962C8B-B14F-4D97-AF65-F5344CB8AC3E}">
        <p14:creationId xmlns:p14="http://schemas.microsoft.com/office/powerpoint/2010/main" val="15712571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9AECE3-C97A-41B7-AFC9-B64350FD6AA1}"/>
              </a:ext>
            </a:extLst>
          </p:cNvPr>
          <p:cNvSpPr>
            <a:spLocks noGrp="1"/>
          </p:cNvSpPr>
          <p:nvPr>
            <p:ph type="title"/>
          </p:nvPr>
        </p:nvSpPr>
        <p:spPr/>
        <p:txBody>
          <a:bodyPr/>
          <a:lstStyle/>
          <a:p>
            <a:r>
              <a:rPr lang="zh-CN" altLang="en-US" dirty="0"/>
              <a:t>项目计划</a:t>
            </a:r>
          </a:p>
        </p:txBody>
      </p:sp>
      <p:sp>
        <p:nvSpPr>
          <p:cNvPr id="6" name="内容占位符 3">
            <a:extLst>
              <a:ext uri="{FF2B5EF4-FFF2-40B4-BE49-F238E27FC236}">
                <a16:creationId xmlns:a16="http://schemas.microsoft.com/office/drawing/2014/main" id="{8727B96B-5674-4290-A2BB-48057A0F7E3E}"/>
              </a:ext>
            </a:extLst>
          </p:cNvPr>
          <p:cNvSpPr txBox="1">
            <a:spLocks/>
          </p:cNvSpPr>
          <p:nvPr/>
        </p:nvSpPr>
        <p:spPr>
          <a:xfrm>
            <a:off x="990600" y="1463675"/>
            <a:ext cx="1080135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b="1" dirty="0"/>
              <a:t>软件工作量估算：</a:t>
            </a:r>
            <a:endParaRPr lang="en-US" altLang="zh-CN" b="1" dirty="0"/>
          </a:p>
          <a:p>
            <a:pPr>
              <a:lnSpc>
                <a:spcPct val="150000"/>
              </a:lnSpc>
            </a:pPr>
            <a:r>
              <a:rPr lang="en-US" altLang="zh-CN" sz="2400" dirty="0"/>
              <a:t>COCOMO</a:t>
            </a:r>
            <a:r>
              <a:rPr lang="zh-CN" altLang="en-US" sz="2400" dirty="0"/>
              <a:t>模型：</a:t>
            </a:r>
            <a:r>
              <a:rPr lang="en-US" altLang="zh-CN" sz="2400" dirty="0"/>
              <a:t>COCOMO</a:t>
            </a:r>
            <a:r>
              <a:rPr lang="zh-CN" altLang="en-US" sz="2400" dirty="0"/>
              <a:t>模型将项目类型分为三类：</a:t>
            </a:r>
          </a:p>
          <a:p>
            <a:pPr>
              <a:lnSpc>
                <a:spcPct val="150000"/>
              </a:lnSpc>
            </a:pPr>
            <a:r>
              <a:rPr lang="zh-CN" altLang="en-US" sz="2400" dirty="0"/>
              <a:t>（</a:t>
            </a:r>
            <a:r>
              <a:rPr lang="en-US" altLang="zh-CN" sz="2400" dirty="0"/>
              <a:t>1</a:t>
            </a:r>
            <a:r>
              <a:rPr lang="zh-CN" altLang="en-US" sz="2400" dirty="0"/>
              <a:t>）组织型：相对较小、较简单的软件项目。</a:t>
            </a:r>
            <a:endParaRPr lang="en-US" altLang="zh-CN" sz="2400" dirty="0"/>
          </a:p>
          <a:p>
            <a:pPr>
              <a:lnSpc>
                <a:spcPct val="150000"/>
              </a:lnSpc>
            </a:pPr>
            <a:r>
              <a:rPr lang="zh-CN" altLang="en-US" sz="2400" dirty="0"/>
              <a:t>（</a:t>
            </a:r>
            <a:r>
              <a:rPr lang="en-US" altLang="zh-CN" sz="2400" dirty="0"/>
              <a:t>2</a:t>
            </a:r>
            <a:r>
              <a:rPr lang="zh-CN" altLang="en-US" sz="2400" dirty="0"/>
              <a:t>）嵌入型：要求在紧密联系的硬件、软件和操作的限制条件下运行，通常与某种复杂的硬件设备紧密结合在一起。</a:t>
            </a:r>
            <a:endParaRPr lang="en-US" altLang="zh-CN" sz="2400" dirty="0"/>
          </a:p>
          <a:p>
            <a:pPr>
              <a:lnSpc>
                <a:spcPct val="150000"/>
              </a:lnSpc>
            </a:pPr>
            <a:r>
              <a:rPr lang="zh-CN" altLang="en-US" sz="2400" dirty="0"/>
              <a:t>（</a:t>
            </a:r>
            <a:r>
              <a:rPr lang="en-US" altLang="zh-CN" sz="2400" dirty="0"/>
              <a:t>3</a:t>
            </a:r>
            <a:r>
              <a:rPr lang="zh-CN" altLang="en-US" sz="2400" dirty="0"/>
              <a:t>）半独立型：介于上述两种软件之间，规模和复杂度都属于中等或更高，最大可达</a:t>
            </a:r>
            <a:r>
              <a:rPr lang="en-US" altLang="zh-CN" sz="2400" dirty="0"/>
              <a:t>30</a:t>
            </a:r>
            <a:r>
              <a:rPr lang="zh-CN" altLang="en-US" sz="2400" dirty="0"/>
              <a:t>万行。</a:t>
            </a:r>
          </a:p>
        </p:txBody>
      </p:sp>
    </p:spTree>
    <p:extLst>
      <p:ext uri="{BB962C8B-B14F-4D97-AF65-F5344CB8AC3E}">
        <p14:creationId xmlns:p14="http://schemas.microsoft.com/office/powerpoint/2010/main" val="35854329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5EB6C7B9-CCED-427C-BA4E-92D2C6FA9E5A}"/>
              </a:ext>
            </a:extLst>
          </p:cNvPr>
          <p:cNvSpPr>
            <a:spLocks noGrp="1"/>
          </p:cNvSpPr>
          <p:nvPr>
            <p:ph idx="1"/>
          </p:nvPr>
        </p:nvSpPr>
        <p:spPr>
          <a:xfrm>
            <a:off x="838201" y="1825625"/>
            <a:ext cx="6966848" cy="4351338"/>
          </a:xfrm>
        </p:spPr>
        <p:txBody>
          <a:bodyPr>
            <a:normAutofit fontScale="47500" lnSpcReduction="20000"/>
          </a:bodyPr>
          <a:lstStyle/>
          <a:p>
            <a:pPr>
              <a:lnSpc>
                <a:spcPct val="170000"/>
              </a:lnSpc>
            </a:pPr>
            <a:r>
              <a:rPr lang="zh-CN" altLang="en-US" sz="4000" b="1" dirty="0"/>
              <a:t>软件工作量估算：</a:t>
            </a:r>
            <a:endParaRPr lang="en-US" altLang="zh-CN" sz="4000" b="1" dirty="0"/>
          </a:p>
          <a:p>
            <a:pPr>
              <a:lnSpc>
                <a:spcPct val="150000"/>
              </a:lnSpc>
            </a:pPr>
            <a:r>
              <a:rPr lang="zh-CN" altLang="en-US" sz="3800" b="1" dirty="0"/>
              <a:t>基本</a:t>
            </a:r>
            <a:r>
              <a:rPr lang="en-US" altLang="zh-CN" sz="3800" b="1" dirty="0"/>
              <a:t>COCOMO</a:t>
            </a:r>
            <a:r>
              <a:rPr lang="zh-CN" altLang="en-US" sz="3800" b="1" dirty="0"/>
              <a:t>：</a:t>
            </a:r>
            <a:r>
              <a:rPr lang="zh-CN" altLang="en-US" sz="3800" dirty="0"/>
              <a:t>基本</a:t>
            </a:r>
            <a:r>
              <a:rPr lang="en-US" altLang="zh-CN" sz="3800" dirty="0"/>
              <a:t>COCOMO</a:t>
            </a:r>
            <a:r>
              <a:rPr lang="zh-CN" altLang="en-US" sz="3800" dirty="0"/>
              <a:t>是一个静态单变量模型，它用一个已估算出来的原代码行数为自变量的经验函数计算软件开发工作量，计算公式为：</a:t>
            </a:r>
            <a:endParaRPr lang="en-US" altLang="zh-CN" sz="3800" dirty="0"/>
          </a:p>
          <a:p>
            <a:pPr>
              <a:lnSpc>
                <a:spcPct val="150000"/>
              </a:lnSpc>
            </a:pPr>
            <a:endParaRPr lang="en-US" altLang="zh-CN" sz="3800" dirty="0"/>
          </a:p>
          <a:p>
            <a:pPr marL="0" indent="0">
              <a:lnSpc>
                <a:spcPct val="150000"/>
              </a:lnSpc>
              <a:buNone/>
            </a:pPr>
            <a:r>
              <a:rPr lang="zh-CN" altLang="en-US" sz="3800" dirty="0"/>
              <a:t>其中，</a:t>
            </a:r>
            <a:r>
              <a:rPr lang="en-US" altLang="zh-CN" sz="3800" dirty="0"/>
              <a:t>E</a:t>
            </a:r>
            <a:r>
              <a:rPr lang="zh-CN" altLang="en-US" sz="3800" dirty="0"/>
              <a:t>是工作量（人月），</a:t>
            </a:r>
            <a:r>
              <a:rPr lang="en-US" altLang="zh-CN" sz="3800" dirty="0"/>
              <a:t>KLOC</a:t>
            </a:r>
            <a:r>
              <a:rPr lang="zh-CN" altLang="en-US" sz="3800" dirty="0"/>
              <a:t>为估计提交的代码行数，</a:t>
            </a:r>
            <a:r>
              <a:rPr lang="en-US" altLang="zh-CN" sz="3800" dirty="0"/>
              <a:t>a</a:t>
            </a:r>
            <a:r>
              <a:rPr lang="zh-CN" altLang="en-US" sz="3800" dirty="0"/>
              <a:t>和</a:t>
            </a:r>
            <a:r>
              <a:rPr lang="en-US" altLang="zh-CN" sz="3800" dirty="0"/>
              <a:t>b</a:t>
            </a:r>
            <a:r>
              <a:rPr lang="zh-CN" altLang="en-US" sz="3800" dirty="0"/>
              <a:t>为根据项目类型确定的常数，取值可参考表 </a:t>
            </a:r>
            <a:r>
              <a:rPr lang="en-US" altLang="zh-CN" sz="3800" dirty="0"/>
              <a:t>2 1</a:t>
            </a:r>
            <a:r>
              <a:rPr lang="zh-CN" altLang="en-US" sz="3800" dirty="0"/>
              <a:t>。根据工作量，可以估算开发时间，计算公式如下：</a:t>
            </a:r>
            <a:endParaRPr lang="en-US" altLang="zh-CN" sz="3800" dirty="0"/>
          </a:p>
          <a:p>
            <a:pPr marL="0" indent="0">
              <a:lnSpc>
                <a:spcPct val="150000"/>
              </a:lnSpc>
              <a:buNone/>
            </a:pPr>
            <a:endParaRPr lang="en-US" altLang="zh-CN" sz="3800" dirty="0"/>
          </a:p>
          <a:p>
            <a:pPr marL="0" indent="0">
              <a:lnSpc>
                <a:spcPct val="150000"/>
              </a:lnSpc>
              <a:buNone/>
            </a:pPr>
            <a:r>
              <a:rPr lang="zh-CN" altLang="en-US" sz="3800" dirty="0"/>
              <a:t>其中</a:t>
            </a:r>
            <a:r>
              <a:rPr lang="en-US" altLang="zh-CN" sz="3800" dirty="0"/>
              <a:t>D</a:t>
            </a:r>
            <a:r>
              <a:rPr lang="zh-CN" altLang="en-US" sz="3800" dirty="0"/>
              <a:t>为所需的开发时间（月），</a:t>
            </a:r>
            <a:r>
              <a:rPr lang="en-US" altLang="zh-CN" sz="3800" dirty="0"/>
              <a:t>c</a:t>
            </a:r>
            <a:r>
              <a:rPr lang="zh-CN" altLang="en-US" sz="3800" dirty="0"/>
              <a:t>和</a:t>
            </a:r>
            <a:r>
              <a:rPr lang="en-US" altLang="zh-CN" sz="3800" dirty="0"/>
              <a:t>d</a:t>
            </a:r>
            <a:r>
              <a:rPr lang="zh-CN" altLang="en-US" sz="3800" dirty="0"/>
              <a:t>为根据项目类型确定的常数</a:t>
            </a:r>
          </a:p>
        </p:txBody>
      </p:sp>
      <p:pic>
        <p:nvPicPr>
          <p:cNvPr id="7" name="图片 6">
            <a:extLst>
              <a:ext uri="{FF2B5EF4-FFF2-40B4-BE49-F238E27FC236}">
                <a16:creationId xmlns:a16="http://schemas.microsoft.com/office/drawing/2014/main" id="{66098475-026A-4AC0-A902-99440251D0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0672" y="3448913"/>
            <a:ext cx="2361905" cy="552381"/>
          </a:xfrm>
          <a:prstGeom prst="rect">
            <a:avLst/>
          </a:prstGeom>
        </p:spPr>
      </p:pic>
      <p:pic>
        <p:nvPicPr>
          <p:cNvPr id="9" name="图片 8">
            <a:extLst>
              <a:ext uri="{FF2B5EF4-FFF2-40B4-BE49-F238E27FC236}">
                <a16:creationId xmlns:a16="http://schemas.microsoft.com/office/drawing/2014/main" id="{30101C5E-3994-4589-941C-0FC59CF731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07699" y="5158078"/>
            <a:ext cx="1590476" cy="533333"/>
          </a:xfrm>
          <a:prstGeom prst="rect">
            <a:avLst/>
          </a:prstGeom>
        </p:spPr>
      </p:pic>
      <p:sp>
        <p:nvSpPr>
          <p:cNvPr id="8" name="标题 1">
            <a:extLst>
              <a:ext uri="{FF2B5EF4-FFF2-40B4-BE49-F238E27FC236}">
                <a16:creationId xmlns:a16="http://schemas.microsoft.com/office/drawing/2014/main" id="{D37E5E94-6EB5-4620-8C68-59B871F1993A}"/>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a:t>项目计划</a:t>
            </a:r>
            <a:endParaRPr lang="zh-CN" altLang="en-US" dirty="0"/>
          </a:p>
        </p:txBody>
      </p:sp>
      <mc:AlternateContent xmlns:mc="http://schemas.openxmlformats.org/markup-compatibility/2006" xmlns:a14="http://schemas.microsoft.com/office/drawing/2010/main">
        <mc:Choice Requires="a14">
          <p:graphicFrame>
            <p:nvGraphicFramePr>
              <p:cNvPr id="10" name="表格 9">
                <a:extLst>
                  <a:ext uri="{FF2B5EF4-FFF2-40B4-BE49-F238E27FC236}">
                    <a16:creationId xmlns:a16="http://schemas.microsoft.com/office/drawing/2014/main" id="{FDA48316-DCFD-4373-B5D6-D1E82751E49B}"/>
                  </a:ext>
                </a:extLst>
              </p:cNvPr>
              <p:cNvGraphicFramePr>
                <a:graphicFrameLocks noGrp="1"/>
              </p:cNvGraphicFramePr>
              <p:nvPr>
                <p:extLst>
                  <p:ext uri="{D42A27DB-BD31-4B8C-83A1-F6EECF244321}">
                    <p14:modId xmlns:p14="http://schemas.microsoft.com/office/powerpoint/2010/main" val="2844883812"/>
                  </p:ext>
                </p:extLst>
              </p:nvPr>
            </p:nvGraphicFramePr>
            <p:xfrm>
              <a:off x="7805048" y="4502725"/>
              <a:ext cx="4197350" cy="922020"/>
            </p:xfrm>
            <a:graphic>
              <a:graphicData uri="http://schemas.openxmlformats.org/drawingml/2006/table">
                <a:tbl>
                  <a:tblPr>
                    <a:tableStyleId>{5C22544A-7EE6-4342-B048-85BDC9FD1C3A}</a:tableStyleId>
                  </a:tblPr>
                  <a:tblGrid>
                    <a:gridCol w="1149350">
                      <a:extLst>
                        <a:ext uri="{9D8B030D-6E8A-4147-A177-3AD203B41FA5}">
                          <a16:colId xmlns:a16="http://schemas.microsoft.com/office/drawing/2014/main" val="3205175829"/>
                        </a:ext>
                      </a:extLst>
                    </a:gridCol>
                    <a:gridCol w="643107">
                      <a:extLst>
                        <a:ext uri="{9D8B030D-6E8A-4147-A177-3AD203B41FA5}">
                          <a16:colId xmlns:a16="http://schemas.microsoft.com/office/drawing/2014/main" val="3653725285"/>
                        </a:ext>
                      </a:extLst>
                    </a:gridCol>
                    <a:gridCol w="827903">
                      <a:extLst>
                        <a:ext uri="{9D8B030D-6E8A-4147-A177-3AD203B41FA5}">
                          <a16:colId xmlns:a16="http://schemas.microsoft.com/office/drawing/2014/main" val="404982639"/>
                        </a:ext>
                      </a:extLst>
                    </a:gridCol>
                    <a:gridCol w="715581">
                      <a:extLst>
                        <a:ext uri="{9D8B030D-6E8A-4147-A177-3AD203B41FA5}">
                          <a16:colId xmlns:a16="http://schemas.microsoft.com/office/drawing/2014/main" val="549529952"/>
                        </a:ext>
                      </a:extLst>
                    </a:gridCol>
                    <a:gridCol w="861409">
                      <a:extLst>
                        <a:ext uri="{9D8B030D-6E8A-4147-A177-3AD203B41FA5}">
                          <a16:colId xmlns:a16="http://schemas.microsoft.com/office/drawing/2014/main" val="2821660149"/>
                        </a:ext>
                      </a:extLst>
                    </a:gridCol>
                  </a:tblGrid>
                  <a:tr h="215900">
                    <a:tc>
                      <a:txBody>
                        <a:bodyPr/>
                        <a:lstStyle/>
                        <a:p>
                          <a:pPr indent="266700" algn="ctr"/>
                          <a:r>
                            <a:rPr lang="zh-CN" sz="1400" kern="100">
                              <a:effectLst/>
                            </a:rPr>
                            <a:t>方 式</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𝑎</m:t>
                                </m:r>
                              </m:oMath>
                            </m:oMathPara>
                          </a14:m>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𝑏</m:t>
                                </m:r>
                              </m:oMath>
                            </m:oMathPara>
                          </a14:m>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𝑐</m:t>
                                </m:r>
                              </m:oMath>
                            </m:oMathPara>
                          </a14:m>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14:m>
                            <m:oMathPara xmlns:m="http://schemas.openxmlformats.org/officeDocument/2006/math">
                              <m:oMathParaPr>
                                <m:jc m:val="centerGroup"/>
                              </m:oMathParaPr>
                              <m:oMath xmlns:m="http://schemas.openxmlformats.org/officeDocument/2006/math">
                                <m:r>
                                  <a:rPr lang="en-US" sz="1400" kern="100">
                                    <a:effectLst/>
                                    <a:latin typeface="Cambria Math" panose="02040503050406030204" pitchFamily="18" charset="0"/>
                                  </a:rPr>
                                  <m:t>𝑑</m:t>
                                </m:r>
                              </m:oMath>
                            </m:oMathPara>
                          </a14:m>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2902748023"/>
                      </a:ext>
                    </a:extLst>
                  </a:tr>
                  <a:tr h="215900">
                    <a:tc>
                      <a:txBody>
                        <a:bodyPr/>
                        <a:lstStyle/>
                        <a:p>
                          <a:pPr indent="266700" algn="ctr"/>
                          <a:r>
                            <a:rPr lang="zh-CN" sz="1400" kern="100" dirty="0">
                              <a:effectLst/>
                            </a:rPr>
                            <a:t>组织型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2.4</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1.05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dirty="0">
                              <a:effectLst/>
                            </a:rPr>
                            <a:t>0.38</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277262318"/>
                      </a:ext>
                    </a:extLst>
                  </a:tr>
                  <a:tr h="215900">
                    <a:tc>
                      <a:txBody>
                        <a:bodyPr/>
                        <a:lstStyle/>
                        <a:p>
                          <a:pPr indent="266700" algn="ctr"/>
                          <a:r>
                            <a:rPr lang="zh-CN" sz="1400" kern="100" dirty="0">
                              <a:effectLst/>
                            </a:rPr>
                            <a:t>半独立型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3.0</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1.12</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dirty="0">
                              <a:effectLst/>
                            </a:rPr>
                            <a:t>0.35</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1113843982"/>
                      </a:ext>
                    </a:extLst>
                  </a:tr>
                  <a:tr h="215900">
                    <a:tc>
                      <a:txBody>
                        <a:bodyPr/>
                        <a:lstStyle/>
                        <a:p>
                          <a:pPr indent="266700" algn="ctr"/>
                          <a:r>
                            <a:rPr lang="zh-CN" sz="1400" kern="100" dirty="0">
                              <a:effectLst/>
                            </a:rPr>
                            <a:t>嵌入型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3.6</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1.2</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dirty="0">
                              <a:effectLst/>
                            </a:rPr>
                            <a:t>0.32</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1169828618"/>
                      </a:ext>
                    </a:extLst>
                  </a:tr>
                </a:tbl>
              </a:graphicData>
            </a:graphic>
          </p:graphicFrame>
        </mc:Choice>
        <mc:Fallback xmlns="">
          <p:graphicFrame>
            <p:nvGraphicFramePr>
              <p:cNvPr id="10" name="表格 9">
                <a:extLst>
                  <a:ext uri="{FF2B5EF4-FFF2-40B4-BE49-F238E27FC236}">
                    <a16:creationId xmlns:a16="http://schemas.microsoft.com/office/drawing/2014/main" id="{FDA48316-DCFD-4373-B5D6-D1E82751E49B}"/>
                  </a:ext>
                </a:extLst>
              </p:cNvPr>
              <p:cNvGraphicFramePr>
                <a:graphicFrameLocks noGrp="1"/>
              </p:cNvGraphicFramePr>
              <p:nvPr>
                <p:extLst>
                  <p:ext uri="{D42A27DB-BD31-4B8C-83A1-F6EECF244321}">
                    <p14:modId xmlns:p14="http://schemas.microsoft.com/office/powerpoint/2010/main" val="2844883812"/>
                  </p:ext>
                </p:extLst>
              </p:nvPr>
            </p:nvGraphicFramePr>
            <p:xfrm>
              <a:off x="7805048" y="4502725"/>
              <a:ext cx="4197350" cy="922020"/>
            </p:xfrm>
            <a:graphic>
              <a:graphicData uri="http://schemas.openxmlformats.org/drawingml/2006/table">
                <a:tbl>
                  <a:tblPr>
                    <a:tableStyleId>{5C22544A-7EE6-4342-B048-85BDC9FD1C3A}</a:tableStyleId>
                  </a:tblPr>
                  <a:tblGrid>
                    <a:gridCol w="1149350">
                      <a:extLst>
                        <a:ext uri="{9D8B030D-6E8A-4147-A177-3AD203B41FA5}">
                          <a16:colId xmlns:a16="http://schemas.microsoft.com/office/drawing/2014/main" val="3205175829"/>
                        </a:ext>
                      </a:extLst>
                    </a:gridCol>
                    <a:gridCol w="643107">
                      <a:extLst>
                        <a:ext uri="{9D8B030D-6E8A-4147-A177-3AD203B41FA5}">
                          <a16:colId xmlns:a16="http://schemas.microsoft.com/office/drawing/2014/main" val="3653725285"/>
                        </a:ext>
                      </a:extLst>
                    </a:gridCol>
                    <a:gridCol w="827903">
                      <a:extLst>
                        <a:ext uri="{9D8B030D-6E8A-4147-A177-3AD203B41FA5}">
                          <a16:colId xmlns:a16="http://schemas.microsoft.com/office/drawing/2014/main" val="404982639"/>
                        </a:ext>
                      </a:extLst>
                    </a:gridCol>
                    <a:gridCol w="715581">
                      <a:extLst>
                        <a:ext uri="{9D8B030D-6E8A-4147-A177-3AD203B41FA5}">
                          <a16:colId xmlns:a16="http://schemas.microsoft.com/office/drawing/2014/main" val="549529952"/>
                        </a:ext>
                      </a:extLst>
                    </a:gridCol>
                    <a:gridCol w="861409">
                      <a:extLst>
                        <a:ext uri="{9D8B030D-6E8A-4147-A177-3AD203B41FA5}">
                          <a16:colId xmlns:a16="http://schemas.microsoft.com/office/drawing/2014/main" val="2821660149"/>
                        </a:ext>
                      </a:extLst>
                    </a:gridCol>
                  </a:tblGrid>
                  <a:tr h="274320">
                    <a:tc>
                      <a:txBody>
                        <a:bodyPr/>
                        <a:lstStyle/>
                        <a:p>
                          <a:pPr indent="266700" algn="ctr"/>
                          <a:r>
                            <a:rPr lang="zh-CN" sz="1400" kern="100">
                              <a:effectLst/>
                            </a:rPr>
                            <a:t>方 式</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endParaRPr lang="zh-CN"/>
                        </a:p>
                      </a:txBody>
                      <a:tcPr marL="68580" marR="68580" marT="0" marB="0" anchor="ctr">
                        <a:blipFill>
                          <a:blip r:embed="rId4"/>
                          <a:stretch>
                            <a:fillRect l="-180952" t="-8889" r="-378095" b="-277778"/>
                          </a:stretch>
                        </a:blipFill>
                      </a:tcPr>
                    </a:tc>
                    <a:tc>
                      <a:txBody>
                        <a:bodyPr/>
                        <a:lstStyle/>
                        <a:p>
                          <a:endParaRPr lang="zh-CN"/>
                        </a:p>
                      </a:txBody>
                      <a:tcPr marL="68580" marR="68580" marT="0" marB="0" anchor="ctr">
                        <a:blipFill>
                          <a:blip r:embed="rId4"/>
                          <a:stretch>
                            <a:fillRect l="-216912" t="-8889" r="-191912" b="-277778"/>
                          </a:stretch>
                        </a:blipFill>
                      </a:tcPr>
                    </a:tc>
                    <a:tc>
                      <a:txBody>
                        <a:bodyPr/>
                        <a:lstStyle/>
                        <a:p>
                          <a:endParaRPr lang="zh-CN"/>
                        </a:p>
                      </a:txBody>
                      <a:tcPr marL="68580" marR="68580" marT="0" marB="0" anchor="ctr">
                        <a:blipFill>
                          <a:blip r:embed="rId4"/>
                          <a:stretch>
                            <a:fillRect l="-365254" t="-8889" r="-121186" b="-277778"/>
                          </a:stretch>
                        </a:blipFill>
                      </a:tcPr>
                    </a:tc>
                    <a:tc>
                      <a:txBody>
                        <a:bodyPr/>
                        <a:lstStyle/>
                        <a:p>
                          <a:endParaRPr lang="zh-CN"/>
                        </a:p>
                      </a:txBody>
                      <a:tcPr marL="68580" marR="68580" marT="0" marB="0" anchor="ctr">
                        <a:blipFill>
                          <a:blip r:embed="rId4"/>
                          <a:stretch>
                            <a:fillRect l="-389362" t="-8889" r="-1418" b="-277778"/>
                          </a:stretch>
                        </a:blipFill>
                      </a:tcPr>
                    </a:tc>
                    <a:extLst>
                      <a:ext uri="{0D108BD9-81ED-4DB2-BD59-A6C34878D82A}">
                        <a16:rowId xmlns:a16="http://schemas.microsoft.com/office/drawing/2014/main" val="2902748023"/>
                      </a:ext>
                    </a:extLst>
                  </a:tr>
                  <a:tr h="215900">
                    <a:tc>
                      <a:txBody>
                        <a:bodyPr/>
                        <a:lstStyle/>
                        <a:p>
                          <a:pPr indent="266700" algn="ctr"/>
                          <a:r>
                            <a:rPr lang="zh-CN" sz="1400" kern="100" dirty="0">
                              <a:effectLst/>
                            </a:rPr>
                            <a:t>组织型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2.4</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1.05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dirty="0">
                              <a:effectLst/>
                            </a:rPr>
                            <a:t>0.38</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277262318"/>
                      </a:ext>
                    </a:extLst>
                  </a:tr>
                  <a:tr h="215900">
                    <a:tc>
                      <a:txBody>
                        <a:bodyPr/>
                        <a:lstStyle/>
                        <a:p>
                          <a:pPr indent="266700" algn="ctr"/>
                          <a:r>
                            <a:rPr lang="zh-CN" sz="1400" kern="100" dirty="0">
                              <a:effectLst/>
                            </a:rPr>
                            <a:t>半独立型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3.0</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1.12</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dirty="0">
                              <a:effectLst/>
                            </a:rPr>
                            <a:t>0.35</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1113843982"/>
                      </a:ext>
                    </a:extLst>
                  </a:tr>
                  <a:tr h="215900">
                    <a:tc>
                      <a:txBody>
                        <a:bodyPr/>
                        <a:lstStyle/>
                        <a:p>
                          <a:pPr indent="266700" algn="ctr"/>
                          <a:r>
                            <a:rPr lang="zh-CN" sz="1400" kern="100" dirty="0">
                              <a:effectLst/>
                            </a:rPr>
                            <a:t>嵌入型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3.6</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1.2</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dirty="0">
                              <a:effectLst/>
                            </a:rPr>
                            <a:t>0.32</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1169828618"/>
                      </a:ext>
                    </a:extLst>
                  </a:tr>
                </a:tbl>
              </a:graphicData>
            </a:graphic>
          </p:graphicFrame>
        </mc:Fallback>
      </mc:AlternateContent>
      <p:sp>
        <p:nvSpPr>
          <p:cNvPr id="11" name="Rectangle 1">
            <a:extLst>
              <a:ext uri="{FF2B5EF4-FFF2-40B4-BE49-F238E27FC236}">
                <a16:creationId xmlns:a16="http://schemas.microsoft.com/office/drawing/2014/main" id="{39149D36-AC1E-4905-8283-993F0E045171}"/>
              </a:ext>
            </a:extLst>
          </p:cNvPr>
          <p:cNvSpPr>
            <a:spLocks noChangeArrowheads="1"/>
          </p:cNvSpPr>
          <p:nvPr/>
        </p:nvSpPr>
        <p:spPr bwMode="auto">
          <a:xfrm>
            <a:off x="8453647" y="4102159"/>
            <a:ext cx="290015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表</a:t>
            </a:r>
            <a:r>
              <a:rPr kumimoji="0" lang="en-US" altLang="zh-CN" sz="12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2-1 </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基本</a:t>
            </a:r>
            <a:r>
              <a:rPr kumimoji="0" lang="en-US" altLang="zh-CN" sz="12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COCOMO</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模型参数举例</a:t>
            </a:r>
            <a:endParaRPr kumimoji="0" lang="zh-CN" altLang="en-US" sz="600" b="0" i="0" u="none" strike="noStrike" cap="none" normalizeH="0" baseline="0" dirty="0">
              <a:ln>
                <a:noFill/>
              </a:ln>
              <a:solidFill>
                <a:schemeClr val="tx1"/>
              </a:solidFill>
              <a:effectLst/>
            </a:endParaRP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497053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a:extLst>
              <a:ext uri="{FF2B5EF4-FFF2-40B4-BE49-F238E27FC236}">
                <a16:creationId xmlns:a16="http://schemas.microsoft.com/office/drawing/2014/main" id="{97AD3D4B-0D77-4A84-90B4-1ED662DF1B1B}"/>
              </a:ext>
            </a:extLst>
          </p:cNvPr>
          <p:cNvSpPr>
            <a:spLocks noGrp="1"/>
          </p:cNvSpPr>
          <p:nvPr>
            <p:ph idx="1"/>
          </p:nvPr>
        </p:nvSpPr>
        <p:spPr/>
        <p:txBody>
          <a:bodyPr/>
          <a:lstStyle/>
          <a:p>
            <a:r>
              <a:rPr lang="zh-CN" altLang="en-US" sz="2800" b="1" dirty="0"/>
              <a:t>软件工作量估算：</a:t>
            </a:r>
            <a:endParaRPr lang="en-US" altLang="zh-CN" sz="2800" b="1" dirty="0"/>
          </a:p>
          <a:p>
            <a:r>
              <a:rPr lang="zh-CN" altLang="en-US" u="sng" dirty="0"/>
              <a:t>生产率</a:t>
            </a:r>
            <a:r>
              <a:rPr lang="zh-CN" altLang="en-US" dirty="0"/>
              <a:t>及</a:t>
            </a:r>
            <a:r>
              <a:rPr lang="zh-CN" altLang="en-US" u="sng" dirty="0"/>
              <a:t>所需人员数</a:t>
            </a:r>
            <a:r>
              <a:rPr lang="zh-CN" altLang="en-US" dirty="0"/>
              <a:t>的公式：</a:t>
            </a:r>
          </a:p>
        </p:txBody>
      </p:sp>
      <p:pic>
        <p:nvPicPr>
          <p:cNvPr id="13" name="图片 12">
            <a:extLst>
              <a:ext uri="{FF2B5EF4-FFF2-40B4-BE49-F238E27FC236}">
                <a16:creationId xmlns:a16="http://schemas.microsoft.com/office/drawing/2014/main" id="{A181E4BF-B180-4E06-B72B-4034C97F00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25838" y="2971650"/>
            <a:ext cx="2019048" cy="1542857"/>
          </a:xfrm>
          <a:prstGeom prst="rect">
            <a:avLst/>
          </a:prstGeom>
        </p:spPr>
      </p:pic>
      <p:sp>
        <p:nvSpPr>
          <p:cNvPr id="9" name="标题 1">
            <a:extLst>
              <a:ext uri="{FF2B5EF4-FFF2-40B4-BE49-F238E27FC236}">
                <a16:creationId xmlns:a16="http://schemas.microsoft.com/office/drawing/2014/main" id="{77987CC9-D051-4FC9-BCE3-8F9FD5476C2A}"/>
              </a:ext>
            </a:extLst>
          </p:cNvPr>
          <p:cNvSpPr>
            <a:spLocks noGrp="1"/>
          </p:cNvSpPr>
          <p:nvPr>
            <p:ph type="title"/>
          </p:nvPr>
        </p:nvSpPr>
        <p:spPr>
          <a:xfrm>
            <a:off x="838200" y="365125"/>
            <a:ext cx="10515600" cy="1325563"/>
          </a:xfrm>
        </p:spPr>
        <p:txBody>
          <a:bodyPr/>
          <a:lstStyle/>
          <a:p>
            <a:r>
              <a:rPr lang="zh-CN" altLang="en-US" dirty="0"/>
              <a:t>项目计划</a:t>
            </a:r>
          </a:p>
        </p:txBody>
      </p:sp>
    </p:spTree>
    <p:extLst>
      <p:ext uri="{BB962C8B-B14F-4D97-AF65-F5344CB8AC3E}">
        <p14:creationId xmlns:p14="http://schemas.microsoft.com/office/powerpoint/2010/main" val="21793493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F7B0621-BC1D-467B-A31F-E08F1A99468C}"/>
              </a:ext>
            </a:extLst>
          </p:cNvPr>
          <p:cNvSpPr>
            <a:spLocks noGrp="1"/>
          </p:cNvSpPr>
          <p:nvPr>
            <p:ph idx="1"/>
          </p:nvPr>
        </p:nvSpPr>
        <p:spPr>
          <a:xfrm>
            <a:off x="838200" y="1427592"/>
            <a:ext cx="10515600" cy="4351338"/>
          </a:xfrm>
        </p:spPr>
        <p:txBody>
          <a:bodyPr/>
          <a:lstStyle/>
          <a:p>
            <a:pPr indent="255905" algn="just">
              <a:lnSpc>
                <a:spcPct val="200000"/>
              </a:lnSpc>
            </a:pP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可行性研究的根本任务是？</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A. </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确定项目预算</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B. </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评估项目是否值得做、是否能够做</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C. </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制定项目进度计划</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D. </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确定项目团队</a:t>
            </a:r>
          </a:p>
        </p:txBody>
      </p:sp>
      <p:sp>
        <p:nvSpPr>
          <p:cNvPr id="6" name="标题 1">
            <a:extLst>
              <a:ext uri="{FF2B5EF4-FFF2-40B4-BE49-F238E27FC236}">
                <a16:creationId xmlns:a16="http://schemas.microsoft.com/office/drawing/2014/main" id="{4A8BD595-E53C-45B1-9DC3-D28CDCACB553}"/>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例题</a:t>
            </a:r>
          </a:p>
        </p:txBody>
      </p:sp>
      <p:sp>
        <p:nvSpPr>
          <p:cNvPr id="5" name="文本框 4">
            <a:extLst>
              <a:ext uri="{FF2B5EF4-FFF2-40B4-BE49-F238E27FC236}">
                <a16:creationId xmlns:a16="http://schemas.microsoft.com/office/drawing/2014/main" id="{F1FA2335-4F09-464D-B8AE-739A0BB66D45}"/>
              </a:ext>
            </a:extLst>
          </p:cNvPr>
          <p:cNvSpPr txBox="1"/>
          <p:nvPr/>
        </p:nvSpPr>
        <p:spPr>
          <a:xfrm>
            <a:off x="1011195" y="5061076"/>
            <a:ext cx="6096000" cy="369332"/>
          </a:xfrm>
          <a:prstGeom prst="rect">
            <a:avLst/>
          </a:prstGeom>
          <a:noFill/>
        </p:spPr>
        <p:txBody>
          <a:bodyPr wrap="square">
            <a:spAutoFit/>
          </a:bodyPr>
          <a:lstStyle/>
          <a:p>
            <a:r>
              <a:rPr lang="zh-CN" altLang="en-US" sz="1800" kern="100" dirty="0">
                <a:latin typeface="Times New Roman" panose="02020603050405020304" pitchFamily="18" charset="0"/>
                <a:ea typeface="宋体" panose="02010600030101010101" pitchFamily="2" charset="-122"/>
              </a:rPr>
              <a:t>答案：</a:t>
            </a:r>
            <a:r>
              <a:rPr lang="en-US" altLang="zh-CN" sz="1800" kern="100" dirty="0">
                <a:latin typeface="Times New Roman" panose="02020603050405020304" pitchFamily="18" charset="0"/>
                <a:ea typeface="宋体" panose="02010600030101010101" pitchFamily="2" charset="-122"/>
              </a:rPr>
              <a:t>B</a:t>
            </a:r>
            <a:endParaRPr lang="zh-CN" altLang="en-US" sz="1800" kern="1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7657772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F7B0621-BC1D-467B-A31F-E08F1A99468C}"/>
              </a:ext>
            </a:extLst>
          </p:cNvPr>
          <p:cNvSpPr>
            <a:spLocks noGrp="1"/>
          </p:cNvSpPr>
          <p:nvPr>
            <p:ph idx="1"/>
          </p:nvPr>
        </p:nvSpPr>
        <p:spPr>
          <a:xfrm>
            <a:off x="838200" y="1427592"/>
            <a:ext cx="10515600" cy="4351338"/>
          </a:xfrm>
        </p:spPr>
        <p:txBody>
          <a:bodyPr/>
          <a:lstStyle/>
          <a:p>
            <a:pPr indent="255905" algn="just">
              <a:lnSpc>
                <a:spcPct val="200000"/>
              </a:lnSpc>
            </a:pP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社会可行性分析主要评估？</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A. </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项目是否盈利</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B. </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技术是否成熟</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C. </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是否符合法律法规和社会伦理</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D. </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进度是否可控</a:t>
            </a:r>
          </a:p>
        </p:txBody>
      </p:sp>
      <p:sp>
        <p:nvSpPr>
          <p:cNvPr id="6" name="标题 1">
            <a:extLst>
              <a:ext uri="{FF2B5EF4-FFF2-40B4-BE49-F238E27FC236}">
                <a16:creationId xmlns:a16="http://schemas.microsoft.com/office/drawing/2014/main" id="{4A8BD595-E53C-45B1-9DC3-D28CDCACB553}"/>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例题</a:t>
            </a:r>
          </a:p>
        </p:txBody>
      </p:sp>
      <p:sp>
        <p:nvSpPr>
          <p:cNvPr id="5" name="文本框 4">
            <a:extLst>
              <a:ext uri="{FF2B5EF4-FFF2-40B4-BE49-F238E27FC236}">
                <a16:creationId xmlns:a16="http://schemas.microsoft.com/office/drawing/2014/main" id="{F1FA2335-4F09-464D-B8AE-739A0BB66D45}"/>
              </a:ext>
            </a:extLst>
          </p:cNvPr>
          <p:cNvSpPr txBox="1"/>
          <p:nvPr/>
        </p:nvSpPr>
        <p:spPr>
          <a:xfrm>
            <a:off x="1011195" y="5061076"/>
            <a:ext cx="6096000" cy="369332"/>
          </a:xfrm>
          <a:prstGeom prst="rect">
            <a:avLst/>
          </a:prstGeom>
          <a:noFill/>
        </p:spPr>
        <p:txBody>
          <a:bodyPr wrap="square">
            <a:spAutoFit/>
          </a:bodyPr>
          <a:lstStyle/>
          <a:p>
            <a:r>
              <a:rPr lang="zh-CN" altLang="en-US" sz="1800" kern="100" dirty="0">
                <a:latin typeface="Times New Roman" panose="02020603050405020304" pitchFamily="18" charset="0"/>
                <a:ea typeface="宋体" panose="02010600030101010101" pitchFamily="2" charset="-122"/>
              </a:rPr>
              <a:t>答案：</a:t>
            </a:r>
            <a:r>
              <a:rPr lang="en-US" altLang="zh-CN" kern="100" dirty="0">
                <a:latin typeface="Times New Roman" panose="02020603050405020304" pitchFamily="18" charset="0"/>
                <a:ea typeface="宋体" panose="02010600030101010101" pitchFamily="2" charset="-122"/>
              </a:rPr>
              <a:t>C</a:t>
            </a:r>
            <a:endParaRPr lang="zh-CN" altLang="en-US" sz="1800" kern="1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4813424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F7B0621-BC1D-467B-A31F-E08F1A99468C}"/>
              </a:ext>
            </a:extLst>
          </p:cNvPr>
          <p:cNvSpPr>
            <a:spLocks noGrp="1"/>
          </p:cNvSpPr>
          <p:nvPr>
            <p:ph idx="1"/>
          </p:nvPr>
        </p:nvSpPr>
        <p:spPr>
          <a:xfrm>
            <a:off x="838200" y="1427592"/>
            <a:ext cx="10515600" cy="4351338"/>
          </a:xfrm>
        </p:spPr>
        <p:txBody>
          <a:bodyPr/>
          <a:lstStyle/>
          <a:p>
            <a:pPr indent="255905" algn="just">
              <a:lnSpc>
                <a:spcPct val="200000"/>
              </a:lnSpc>
            </a:pP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以下哪项不属于技术可行性分析的内容？</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A. </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技术成熟度评估</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B. </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资源可用性分析</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C. </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市场需求预测</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D. </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技术风险识别</a:t>
            </a:r>
          </a:p>
        </p:txBody>
      </p:sp>
      <p:sp>
        <p:nvSpPr>
          <p:cNvPr id="6" name="标题 1">
            <a:extLst>
              <a:ext uri="{FF2B5EF4-FFF2-40B4-BE49-F238E27FC236}">
                <a16:creationId xmlns:a16="http://schemas.microsoft.com/office/drawing/2014/main" id="{4A8BD595-E53C-45B1-9DC3-D28CDCACB553}"/>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例题</a:t>
            </a:r>
          </a:p>
        </p:txBody>
      </p:sp>
      <p:sp>
        <p:nvSpPr>
          <p:cNvPr id="5" name="文本框 4">
            <a:extLst>
              <a:ext uri="{FF2B5EF4-FFF2-40B4-BE49-F238E27FC236}">
                <a16:creationId xmlns:a16="http://schemas.microsoft.com/office/drawing/2014/main" id="{F1FA2335-4F09-464D-B8AE-739A0BB66D45}"/>
              </a:ext>
            </a:extLst>
          </p:cNvPr>
          <p:cNvSpPr txBox="1"/>
          <p:nvPr/>
        </p:nvSpPr>
        <p:spPr>
          <a:xfrm>
            <a:off x="1011195" y="5061076"/>
            <a:ext cx="6096000" cy="369332"/>
          </a:xfrm>
          <a:prstGeom prst="rect">
            <a:avLst/>
          </a:prstGeom>
          <a:noFill/>
        </p:spPr>
        <p:txBody>
          <a:bodyPr wrap="square">
            <a:spAutoFit/>
          </a:bodyPr>
          <a:lstStyle/>
          <a:p>
            <a:r>
              <a:rPr lang="zh-CN" altLang="en-US" sz="1800" kern="100" dirty="0">
                <a:latin typeface="Times New Roman" panose="02020603050405020304" pitchFamily="18" charset="0"/>
                <a:ea typeface="宋体" panose="02010600030101010101" pitchFamily="2" charset="-122"/>
              </a:rPr>
              <a:t>答案：</a:t>
            </a:r>
            <a:r>
              <a:rPr lang="en-US" altLang="zh-CN" kern="100" dirty="0">
                <a:latin typeface="Times New Roman" panose="02020603050405020304" pitchFamily="18" charset="0"/>
                <a:ea typeface="宋体" panose="02010600030101010101" pitchFamily="2" charset="-122"/>
              </a:rPr>
              <a:t>C</a:t>
            </a:r>
            <a:endParaRPr lang="zh-CN" altLang="en-US" sz="1800" kern="1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7317213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F7B0621-BC1D-467B-A31F-E08F1A99468C}"/>
              </a:ext>
            </a:extLst>
          </p:cNvPr>
          <p:cNvSpPr>
            <a:spLocks noGrp="1"/>
          </p:cNvSpPr>
          <p:nvPr>
            <p:ph idx="1"/>
          </p:nvPr>
        </p:nvSpPr>
        <p:spPr>
          <a:xfrm>
            <a:off x="838200" y="1427592"/>
            <a:ext cx="10515600" cy="4351338"/>
          </a:xfrm>
        </p:spPr>
        <p:txBody>
          <a:bodyPr/>
          <a:lstStyle/>
          <a:p>
            <a:pPr indent="255905" algn="just">
              <a:lnSpc>
                <a:spcPct val="200000"/>
              </a:lnSpc>
            </a:pP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以下哪项不属于技术可行性分析的内容？</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A. </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技术成熟度评估</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B. </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资源可用性分析</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C. </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市场需求预测</a:t>
            </a:r>
          </a:p>
          <a:p>
            <a:pPr indent="255905" algn="just">
              <a:lnSpc>
                <a:spcPct val="200000"/>
              </a:lnSpc>
            </a:pPr>
            <a:r>
              <a:rPr lang="en-US" altLang="zh-CN" sz="1800" kern="100" dirty="0">
                <a:latin typeface="Times New Roman" panose="02020603050405020304" pitchFamily="18" charset="0"/>
                <a:ea typeface="宋体" panose="02010600030101010101" pitchFamily="2" charset="-122"/>
                <a:cs typeface="宋体" panose="02010600030101010101" pitchFamily="2" charset="-122"/>
              </a:rPr>
              <a:t>D. </a:t>
            </a:r>
            <a:r>
              <a:rPr lang="zh-CN" altLang="en-US" sz="1800" kern="100" dirty="0">
                <a:latin typeface="Times New Roman" panose="02020603050405020304" pitchFamily="18" charset="0"/>
                <a:ea typeface="宋体" panose="02010600030101010101" pitchFamily="2" charset="-122"/>
                <a:cs typeface="宋体" panose="02010600030101010101" pitchFamily="2" charset="-122"/>
              </a:rPr>
              <a:t>技术风险识别</a:t>
            </a:r>
          </a:p>
        </p:txBody>
      </p:sp>
      <p:sp>
        <p:nvSpPr>
          <p:cNvPr id="6" name="标题 1">
            <a:extLst>
              <a:ext uri="{FF2B5EF4-FFF2-40B4-BE49-F238E27FC236}">
                <a16:creationId xmlns:a16="http://schemas.microsoft.com/office/drawing/2014/main" id="{4A8BD595-E53C-45B1-9DC3-D28CDCACB553}"/>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例题</a:t>
            </a:r>
          </a:p>
        </p:txBody>
      </p:sp>
      <p:sp>
        <p:nvSpPr>
          <p:cNvPr id="5" name="文本框 4">
            <a:extLst>
              <a:ext uri="{FF2B5EF4-FFF2-40B4-BE49-F238E27FC236}">
                <a16:creationId xmlns:a16="http://schemas.microsoft.com/office/drawing/2014/main" id="{F1FA2335-4F09-464D-B8AE-739A0BB66D45}"/>
              </a:ext>
            </a:extLst>
          </p:cNvPr>
          <p:cNvSpPr txBox="1"/>
          <p:nvPr/>
        </p:nvSpPr>
        <p:spPr>
          <a:xfrm>
            <a:off x="1011195" y="5061076"/>
            <a:ext cx="6096000" cy="369332"/>
          </a:xfrm>
          <a:prstGeom prst="rect">
            <a:avLst/>
          </a:prstGeom>
          <a:noFill/>
        </p:spPr>
        <p:txBody>
          <a:bodyPr wrap="square">
            <a:spAutoFit/>
          </a:bodyPr>
          <a:lstStyle/>
          <a:p>
            <a:r>
              <a:rPr lang="zh-CN" altLang="en-US" sz="1800" kern="100" dirty="0">
                <a:latin typeface="Times New Roman" panose="02020603050405020304" pitchFamily="18" charset="0"/>
                <a:ea typeface="宋体" panose="02010600030101010101" pitchFamily="2" charset="-122"/>
              </a:rPr>
              <a:t>答案：</a:t>
            </a:r>
            <a:r>
              <a:rPr lang="en-US" altLang="zh-CN" kern="100" dirty="0">
                <a:latin typeface="Times New Roman" panose="02020603050405020304" pitchFamily="18" charset="0"/>
                <a:ea typeface="宋体" panose="02010600030101010101" pitchFamily="2" charset="-122"/>
              </a:rPr>
              <a:t>C</a:t>
            </a:r>
            <a:endParaRPr lang="zh-CN" altLang="en-US" sz="1800" kern="1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7315219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F7B0621-BC1D-467B-A31F-E08F1A99468C}"/>
              </a:ext>
            </a:extLst>
          </p:cNvPr>
          <p:cNvSpPr>
            <a:spLocks noGrp="1"/>
          </p:cNvSpPr>
          <p:nvPr>
            <p:ph idx="1"/>
          </p:nvPr>
        </p:nvSpPr>
        <p:spPr>
          <a:xfrm>
            <a:off x="838200" y="1427592"/>
            <a:ext cx="10515600" cy="4351338"/>
          </a:xfrm>
        </p:spPr>
        <p:txBody>
          <a:bodyPr>
            <a:noAutofit/>
          </a:bodyPr>
          <a:lstStyle/>
          <a:p>
            <a:pPr indent="255905" algn="just">
              <a:lnSpc>
                <a:spcPct val="200000"/>
              </a:lnSpc>
            </a:pPr>
            <a:r>
              <a:rPr lang="zh-CN" altLang="en-US" sz="1600" kern="100" dirty="0">
                <a:latin typeface="Times New Roman" panose="02020603050405020304" pitchFamily="18" charset="0"/>
                <a:ea typeface="宋体" panose="02010600030101010101" pitchFamily="2" charset="-122"/>
                <a:cs typeface="宋体" panose="02010600030101010101" pitchFamily="2" charset="-122"/>
              </a:rPr>
              <a:t>某软件公司计划开发一个“企业进销存管理系统”，项目类型为半独立型。经需求分析，估算该系统的代码规模为</a:t>
            </a:r>
            <a:r>
              <a:rPr lang="en-US" altLang="zh-CN" sz="1600" kern="100" dirty="0">
                <a:latin typeface="Times New Roman" panose="02020603050405020304" pitchFamily="18" charset="0"/>
                <a:ea typeface="宋体" panose="02010600030101010101" pitchFamily="2" charset="-122"/>
                <a:cs typeface="宋体" panose="02010600030101010101" pitchFamily="2" charset="-122"/>
              </a:rPr>
              <a:t>25,000</a:t>
            </a:r>
            <a:r>
              <a:rPr lang="zh-CN" altLang="en-US" sz="1600" kern="100" dirty="0">
                <a:latin typeface="Times New Roman" panose="02020603050405020304" pitchFamily="18" charset="0"/>
                <a:ea typeface="宋体" panose="02010600030101010101" pitchFamily="2" charset="-122"/>
                <a:cs typeface="宋体" panose="02010600030101010101" pitchFamily="2" charset="-122"/>
              </a:rPr>
              <a:t>行（即</a:t>
            </a:r>
            <a:r>
              <a:rPr lang="en-US" altLang="zh-CN" sz="1600" kern="100" dirty="0">
                <a:latin typeface="Times New Roman" panose="02020603050405020304" pitchFamily="18" charset="0"/>
                <a:ea typeface="宋体" panose="02010600030101010101" pitchFamily="2" charset="-122"/>
                <a:cs typeface="宋体" panose="02010600030101010101" pitchFamily="2" charset="-122"/>
              </a:rPr>
              <a:t>25KSLOC</a:t>
            </a:r>
            <a:r>
              <a:rPr lang="zh-CN" altLang="en-US" sz="1600" kern="100" dirty="0">
                <a:latin typeface="Times New Roman" panose="02020603050405020304" pitchFamily="18" charset="0"/>
                <a:ea typeface="宋体" panose="02010600030101010101" pitchFamily="2" charset="-122"/>
                <a:cs typeface="宋体" panose="02010600030101010101" pitchFamily="2" charset="-122"/>
              </a:rPr>
              <a:t>）。采用</a:t>
            </a:r>
            <a:r>
              <a:rPr lang="en-US" altLang="zh-CN" sz="1600" kern="100" dirty="0">
                <a:latin typeface="Times New Roman" panose="02020603050405020304" pitchFamily="18" charset="0"/>
                <a:ea typeface="宋体" panose="02010600030101010101" pitchFamily="2" charset="-122"/>
                <a:cs typeface="宋体" panose="02010600030101010101" pitchFamily="2" charset="-122"/>
              </a:rPr>
              <a:t>COCOMO </a:t>
            </a:r>
            <a:r>
              <a:rPr lang="zh-CN" altLang="en-US" sz="1600" kern="100" dirty="0">
                <a:latin typeface="Times New Roman" panose="02020603050405020304" pitchFamily="18" charset="0"/>
                <a:ea typeface="宋体" panose="02010600030101010101" pitchFamily="2" charset="-122"/>
                <a:cs typeface="宋体" panose="02010600030101010101" pitchFamily="2" charset="-122"/>
              </a:rPr>
              <a:t>基本模型进行工作量估算。</a:t>
            </a:r>
            <a:endParaRPr lang="en-US" altLang="zh-CN" sz="1600" kern="100" dirty="0">
              <a:latin typeface="Times New Roman" panose="02020603050405020304" pitchFamily="18" charset="0"/>
              <a:ea typeface="宋体" panose="02010600030101010101" pitchFamily="2" charset="-122"/>
              <a:cs typeface="宋体" panose="02010600030101010101" pitchFamily="2" charset="-122"/>
            </a:endParaRPr>
          </a:p>
          <a:p>
            <a:pPr indent="255905" algn="just">
              <a:lnSpc>
                <a:spcPct val="200000"/>
              </a:lnSpc>
            </a:pPr>
            <a:r>
              <a:rPr lang="zh-CN" altLang="en-US" sz="1600" kern="100" dirty="0">
                <a:latin typeface="Times New Roman" panose="02020603050405020304" pitchFamily="18" charset="0"/>
                <a:ea typeface="宋体" panose="02010600030101010101" pitchFamily="2" charset="-122"/>
                <a:cs typeface="宋体" panose="02010600030101010101" pitchFamily="2" charset="-122"/>
              </a:rPr>
              <a:t>已知</a:t>
            </a:r>
            <a:r>
              <a:rPr lang="en-US" altLang="zh-CN" sz="1600" kern="100" dirty="0">
                <a:latin typeface="Times New Roman" panose="02020603050405020304" pitchFamily="18" charset="0"/>
                <a:ea typeface="宋体" panose="02010600030101010101" pitchFamily="2" charset="-122"/>
                <a:cs typeface="宋体" panose="02010600030101010101" pitchFamily="2" charset="-122"/>
              </a:rPr>
              <a:t>COCOMO 81</a:t>
            </a:r>
            <a:r>
              <a:rPr lang="zh-CN" altLang="en-US" sz="1600" kern="100" dirty="0">
                <a:latin typeface="Times New Roman" panose="02020603050405020304" pitchFamily="18" charset="0"/>
                <a:ea typeface="宋体" panose="02010600030101010101" pitchFamily="2" charset="-122"/>
                <a:cs typeface="宋体" panose="02010600030101010101" pitchFamily="2" charset="-122"/>
              </a:rPr>
              <a:t>基本模型的工作量计算公式为：工作量 </a:t>
            </a:r>
            <a:r>
              <a:rPr lang="en-US" altLang="zh-CN" sz="1600" kern="100" dirty="0">
                <a:latin typeface="Times New Roman" panose="02020603050405020304" pitchFamily="18" charset="0"/>
                <a:ea typeface="宋体" panose="02010600030101010101" pitchFamily="2" charset="-122"/>
                <a:cs typeface="宋体" panose="02010600030101010101" pitchFamily="2" charset="-122"/>
              </a:rPr>
              <a:t>= a × (</a:t>
            </a:r>
            <a:r>
              <a:rPr lang="zh-CN" altLang="en-US" sz="1600" kern="100" dirty="0">
                <a:latin typeface="Times New Roman" panose="02020603050405020304" pitchFamily="18" charset="0"/>
                <a:ea typeface="宋体" panose="02010600030101010101" pitchFamily="2" charset="-122"/>
                <a:cs typeface="宋体" panose="02010600030101010101" pitchFamily="2" charset="-122"/>
              </a:rPr>
              <a:t>代码行数</a:t>
            </a:r>
            <a:r>
              <a:rPr lang="en-US" altLang="zh-CN" sz="1600" kern="100" dirty="0">
                <a:latin typeface="Times New Roman" panose="02020603050405020304" pitchFamily="18" charset="0"/>
                <a:ea typeface="宋体" panose="02010600030101010101" pitchFamily="2" charset="-122"/>
                <a:cs typeface="宋体" panose="02010600030101010101" pitchFamily="2" charset="-122"/>
              </a:rPr>
              <a:t>)^b</a:t>
            </a:r>
            <a:r>
              <a:rPr lang="zh-CN" altLang="en-US" sz="1600" kern="100" dirty="0">
                <a:latin typeface="Times New Roman" panose="02020603050405020304" pitchFamily="18" charset="0"/>
                <a:ea typeface="宋体" panose="02010600030101010101" pitchFamily="2" charset="-122"/>
                <a:cs typeface="宋体" panose="02010600030101010101" pitchFamily="2" charset="-122"/>
              </a:rPr>
              <a:t>（单位：人月）</a:t>
            </a:r>
            <a:endParaRPr lang="en-US" altLang="zh-CN" sz="1600" kern="100" dirty="0">
              <a:latin typeface="Times New Roman" panose="02020603050405020304" pitchFamily="18" charset="0"/>
              <a:ea typeface="宋体" panose="02010600030101010101" pitchFamily="2" charset="-122"/>
              <a:cs typeface="宋体" panose="02010600030101010101" pitchFamily="2" charset="-122"/>
            </a:endParaRPr>
          </a:p>
          <a:p>
            <a:pPr indent="255905" algn="just">
              <a:lnSpc>
                <a:spcPct val="200000"/>
              </a:lnSpc>
            </a:pPr>
            <a:endParaRPr lang="en-US" altLang="zh-CN" sz="1600" kern="100" dirty="0">
              <a:latin typeface="Times New Roman" panose="02020603050405020304" pitchFamily="18" charset="0"/>
              <a:ea typeface="宋体" panose="02010600030101010101" pitchFamily="2" charset="-122"/>
              <a:cs typeface="宋体" panose="02010600030101010101" pitchFamily="2" charset="-122"/>
            </a:endParaRPr>
          </a:p>
          <a:p>
            <a:pPr indent="255905" algn="just">
              <a:lnSpc>
                <a:spcPct val="200000"/>
              </a:lnSpc>
            </a:pPr>
            <a:endParaRPr lang="en-US" altLang="zh-CN" sz="1600" kern="100" dirty="0">
              <a:latin typeface="Times New Roman" panose="02020603050405020304" pitchFamily="18" charset="0"/>
              <a:ea typeface="宋体" panose="02010600030101010101" pitchFamily="2" charset="-122"/>
              <a:cs typeface="宋体" panose="02010600030101010101" pitchFamily="2" charset="-122"/>
            </a:endParaRPr>
          </a:p>
          <a:p>
            <a:pPr indent="255905" algn="just">
              <a:lnSpc>
                <a:spcPct val="200000"/>
              </a:lnSpc>
            </a:pPr>
            <a:r>
              <a:rPr lang="zh-CN" altLang="en-US" sz="1600" kern="100" dirty="0">
                <a:latin typeface="Times New Roman" panose="02020603050405020304" pitchFamily="18" charset="0"/>
                <a:ea typeface="宋体" panose="02010600030101010101" pitchFamily="2" charset="-122"/>
                <a:cs typeface="宋体" panose="02010600030101010101" pitchFamily="2" charset="-122"/>
              </a:rPr>
              <a:t>（</a:t>
            </a:r>
            <a:r>
              <a:rPr lang="en-US" altLang="zh-CN" sz="1600" kern="100" dirty="0">
                <a:latin typeface="Times New Roman" panose="02020603050405020304" pitchFamily="18" charset="0"/>
                <a:ea typeface="宋体" panose="02010600030101010101" pitchFamily="2" charset="-122"/>
                <a:cs typeface="宋体" panose="02010600030101010101" pitchFamily="2" charset="-122"/>
              </a:rPr>
              <a:t>1</a:t>
            </a:r>
            <a:r>
              <a:rPr lang="zh-CN" altLang="en-US" sz="1600" kern="100" dirty="0">
                <a:latin typeface="Times New Roman" panose="02020603050405020304" pitchFamily="18" charset="0"/>
                <a:ea typeface="宋体" panose="02010600030101010101" pitchFamily="2" charset="-122"/>
                <a:cs typeface="宋体" panose="02010600030101010101" pitchFamily="2" charset="-122"/>
              </a:rPr>
              <a:t>）计算该项目的工作量（单位：人月），结果保留一位小数</a:t>
            </a:r>
            <a:endParaRPr lang="en-US" altLang="zh-CN" sz="1600" kern="100" dirty="0">
              <a:latin typeface="Times New Roman" panose="02020603050405020304" pitchFamily="18" charset="0"/>
              <a:ea typeface="宋体" panose="02010600030101010101" pitchFamily="2" charset="-122"/>
              <a:cs typeface="宋体" panose="02010600030101010101" pitchFamily="2" charset="-122"/>
            </a:endParaRPr>
          </a:p>
          <a:p>
            <a:pPr indent="255905" algn="just">
              <a:lnSpc>
                <a:spcPct val="200000"/>
              </a:lnSpc>
            </a:pPr>
            <a:r>
              <a:rPr lang="zh-CN" altLang="en-US" sz="1600" kern="100" dirty="0">
                <a:latin typeface="Times New Roman" panose="02020603050405020304" pitchFamily="18" charset="0"/>
                <a:ea typeface="宋体" panose="02010600030101010101" pitchFamily="2" charset="-122"/>
                <a:cs typeface="宋体" panose="02010600030101010101" pitchFamily="2" charset="-122"/>
              </a:rPr>
              <a:t>（</a:t>
            </a:r>
            <a:r>
              <a:rPr lang="en-US" altLang="zh-CN" sz="1600" kern="100" dirty="0">
                <a:latin typeface="Times New Roman" panose="02020603050405020304" pitchFamily="18" charset="0"/>
                <a:ea typeface="宋体" panose="02010600030101010101" pitchFamily="2" charset="-122"/>
                <a:cs typeface="宋体" panose="02010600030101010101" pitchFamily="2" charset="-122"/>
              </a:rPr>
              <a:t>2</a:t>
            </a:r>
            <a:r>
              <a:rPr lang="zh-CN" altLang="en-US" sz="1600" kern="100" dirty="0">
                <a:latin typeface="Times New Roman" panose="02020603050405020304" pitchFamily="18" charset="0"/>
                <a:ea typeface="宋体" panose="02010600030101010101" pitchFamily="2" charset="-122"/>
                <a:cs typeface="宋体" panose="02010600030101010101" pitchFamily="2" charset="-122"/>
              </a:rPr>
              <a:t>）如果该项目需要投入</a:t>
            </a:r>
            <a:r>
              <a:rPr lang="en-US" altLang="zh-CN" sz="1600" kern="100" dirty="0">
                <a:latin typeface="Times New Roman" panose="02020603050405020304" pitchFamily="18" charset="0"/>
                <a:ea typeface="宋体" panose="02010600030101010101" pitchFamily="2" charset="-122"/>
                <a:cs typeface="宋体" panose="02010600030101010101" pitchFamily="2" charset="-122"/>
              </a:rPr>
              <a:t>8</a:t>
            </a:r>
            <a:r>
              <a:rPr lang="zh-CN" altLang="en-US" sz="1600" kern="100" dirty="0">
                <a:latin typeface="Times New Roman" panose="02020603050405020304" pitchFamily="18" charset="0"/>
                <a:ea typeface="宋体" panose="02010600030101010101" pitchFamily="2" charset="-122"/>
                <a:cs typeface="宋体" panose="02010600030101010101" pitchFamily="2" charset="-122"/>
              </a:rPr>
              <a:t>名开发人员，估算开发时间（单位：月），结果保留一位小数</a:t>
            </a:r>
            <a:endParaRPr lang="en-US" altLang="zh-CN" sz="1600" kern="100" dirty="0">
              <a:latin typeface="Times New Roman" panose="02020603050405020304" pitchFamily="18" charset="0"/>
              <a:ea typeface="宋体" panose="02010600030101010101" pitchFamily="2" charset="-122"/>
              <a:cs typeface="宋体" panose="02010600030101010101" pitchFamily="2" charset="-122"/>
            </a:endParaRPr>
          </a:p>
          <a:p>
            <a:pPr indent="255905" algn="just">
              <a:lnSpc>
                <a:spcPct val="200000"/>
              </a:lnSpc>
            </a:pPr>
            <a:r>
              <a:rPr lang="zh-CN" altLang="en-US" sz="1600" kern="100" dirty="0">
                <a:latin typeface="Times New Roman" panose="02020603050405020304" pitchFamily="18" charset="0"/>
                <a:ea typeface="宋体" panose="02010600030101010101" pitchFamily="2" charset="-122"/>
                <a:cs typeface="宋体" panose="02010600030101010101" pitchFamily="2" charset="-122"/>
              </a:rPr>
              <a:t>（</a:t>
            </a:r>
            <a:r>
              <a:rPr lang="en-US" altLang="zh-CN" sz="1600" kern="100" dirty="0">
                <a:latin typeface="Times New Roman" panose="02020603050405020304" pitchFamily="18" charset="0"/>
                <a:ea typeface="宋体" panose="02010600030101010101" pitchFamily="2" charset="-122"/>
                <a:cs typeface="宋体" panose="02010600030101010101" pitchFamily="2" charset="-122"/>
              </a:rPr>
              <a:t>3</a:t>
            </a:r>
            <a:r>
              <a:rPr lang="zh-CN" altLang="en-US" sz="1600" kern="100" dirty="0">
                <a:latin typeface="Times New Roman" panose="02020603050405020304" pitchFamily="18" charset="0"/>
                <a:ea typeface="宋体" panose="02010600030101010101" pitchFamily="2" charset="-122"/>
                <a:cs typeface="宋体" panose="02010600030101010101" pitchFamily="2" charset="-122"/>
              </a:rPr>
              <a:t>）假设该公司历史项目的平均生产率为</a:t>
            </a:r>
            <a:r>
              <a:rPr lang="en-US" altLang="zh-CN" sz="1600" kern="100" dirty="0">
                <a:latin typeface="Times New Roman" panose="02020603050405020304" pitchFamily="18" charset="0"/>
                <a:ea typeface="宋体" panose="02010600030101010101" pitchFamily="2" charset="-122"/>
                <a:cs typeface="宋体" panose="02010600030101010101" pitchFamily="2" charset="-122"/>
              </a:rPr>
              <a:t>500</a:t>
            </a:r>
            <a:r>
              <a:rPr lang="zh-CN" altLang="en-US" sz="1600" kern="100" dirty="0">
                <a:latin typeface="Times New Roman" panose="02020603050405020304" pitchFamily="18" charset="0"/>
                <a:ea typeface="宋体" panose="02010600030101010101" pitchFamily="2" charset="-122"/>
                <a:cs typeface="宋体" panose="02010600030101010101" pitchFamily="2" charset="-122"/>
              </a:rPr>
              <a:t>行</a:t>
            </a:r>
            <a:r>
              <a:rPr lang="en-US" altLang="zh-CN" sz="1600" kern="100" dirty="0">
                <a:latin typeface="Times New Roman" panose="02020603050405020304" pitchFamily="18" charset="0"/>
                <a:ea typeface="宋体" panose="02010600030101010101" pitchFamily="2" charset="-122"/>
                <a:cs typeface="宋体" panose="02010600030101010101" pitchFamily="2" charset="-122"/>
              </a:rPr>
              <a:t>/</a:t>
            </a:r>
            <a:r>
              <a:rPr lang="zh-CN" altLang="en-US" sz="1600" kern="100" dirty="0">
                <a:latin typeface="Times New Roman" panose="02020603050405020304" pitchFamily="18" charset="0"/>
                <a:ea typeface="宋体" panose="02010600030101010101" pitchFamily="2" charset="-122"/>
                <a:cs typeface="宋体" panose="02010600030101010101" pitchFamily="2" charset="-122"/>
              </a:rPr>
              <a:t>人月，不考虑其他因素，按此生产率估算工作量应为多少？与</a:t>
            </a:r>
            <a:r>
              <a:rPr lang="en-US" altLang="zh-CN" sz="1600" kern="100" dirty="0">
                <a:latin typeface="Times New Roman" panose="02020603050405020304" pitchFamily="18" charset="0"/>
                <a:ea typeface="宋体" panose="02010600030101010101" pitchFamily="2" charset="-122"/>
                <a:cs typeface="宋体" panose="02010600030101010101" pitchFamily="2" charset="-122"/>
              </a:rPr>
              <a:t>COCOMO</a:t>
            </a:r>
            <a:r>
              <a:rPr lang="zh-CN" altLang="en-US" sz="1600" kern="100" dirty="0">
                <a:latin typeface="Times New Roman" panose="02020603050405020304" pitchFamily="18" charset="0"/>
                <a:ea typeface="宋体" panose="02010600030101010101" pitchFamily="2" charset="-122"/>
                <a:cs typeface="宋体" panose="02010600030101010101" pitchFamily="2" charset="-122"/>
              </a:rPr>
              <a:t>模型估算结果相比有何差异？请分析差异产生的原因。</a:t>
            </a:r>
            <a:endParaRPr lang="en-US" altLang="zh-CN" sz="1600" kern="100" dirty="0">
              <a:latin typeface="Times New Roman" panose="02020603050405020304" pitchFamily="18" charset="0"/>
              <a:ea typeface="宋体" panose="02010600030101010101" pitchFamily="2" charset="-122"/>
              <a:cs typeface="宋体" panose="02010600030101010101" pitchFamily="2" charset="-122"/>
            </a:endParaRPr>
          </a:p>
          <a:p>
            <a:pPr indent="255905" algn="just">
              <a:lnSpc>
                <a:spcPct val="200000"/>
              </a:lnSpc>
            </a:pPr>
            <a:endParaRPr lang="en-US" altLang="zh-CN" sz="1600" kern="100" dirty="0">
              <a:latin typeface="Times New Roman" panose="02020603050405020304" pitchFamily="18" charset="0"/>
              <a:ea typeface="宋体" panose="02010600030101010101" pitchFamily="2" charset="-122"/>
              <a:cs typeface="宋体" panose="02010600030101010101" pitchFamily="2" charset="-122"/>
            </a:endParaRPr>
          </a:p>
          <a:p>
            <a:pPr indent="255905" algn="just">
              <a:lnSpc>
                <a:spcPct val="200000"/>
              </a:lnSpc>
            </a:pPr>
            <a:endParaRPr lang="en-US" altLang="zh-CN" sz="1600" kern="100" dirty="0">
              <a:latin typeface="Times New Roman" panose="02020603050405020304" pitchFamily="18" charset="0"/>
              <a:ea typeface="宋体" panose="02010600030101010101" pitchFamily="2" charset="-122"/>
              <a:cs typeface="宋体" panose="02010600030101010101" pitchFamily="2" charset="-122"/>
            </a:endParaRPr>
          </a:p>
          <a:p>
            <a:pPr indent="255905" algn="just">
              <a:lnSpc>
                <a:spcPct val="200000"/>
              </a:lnSpc>
            </a:pPr>
            <a:endParaRPr lang="zh-CN" altLang="en-US" sz="1600" kern="100" dirty="0">
              <a:latin typeface="Times New Roman" panose="02020603050405020304" pitchFamily="18" charset="0"/>
              <a:ea typeface="宋体" panose="02010600030101010101" pitchFamily="2" charset="-122"/>
              <a:cs typeface="宋体" panose="02010600030101010101" pitchFamily="2" charset="-122"/>
            </a:endParaRPr>
          </a:p>
        </p:txBody>
      </p:sp>
      <p:sp>
        <p:nvSpPr>
          <p:cNvPr id="6" name="标题 1">
            <a:extLst>
              <a:ext uri="{FF2B5EF4-FFF2-40B4-BE49-F238E27FC236}">
                <a16:creationId xmlns:a16="http://schemas.microsoft.com/office/drawing/2014/main" id="{4A8BD595-E53C-45B1-9DC3-D28CDCACB553}"/>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例题</a:t>
            </a:r>
          </a:p>
        </p:txBody>
      </p:sp>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id="{1380A6CF-ECC8-49B4-82F0-6765B033BFEB}"/>
                  </a:ext>
                </a:extLst>
              </p:cNvPr>
              <p:cNvGraphicFramePr>
                <a:graphicFrameLocks noGrp="1"/>
              </p:cNvGraphicFramePr>
              <p:nvPr>
                <p:extLst>
                  <p:ext uri="{D42A27DB-BD31-4B8C-83A1-F6EECF244321}">
                    <p14:modId xmlns:p14="http://schemas.microsoft.com/office/powerpoint/2010/main" val="1194055456"/>
                  </p:ext>
                </p:extLst>
              </p:nvPr>
            </p:nvGraphicFramePr>
            <p:xfrm>
              <a:off x="4433225" y="3531029"/>
              <a:ext cx="2620360" cy="922020"/>
            </p:xfrm>
            <a:graphic>
              <a:graphicData uri="http://schemas.openxmlformats.org/drawingml/2006/table">
                <a:tbl>
                  <a:tblPr>
                    <a:tableStyleId>{5C22544A-7EE6-4342-B048-85BDC9FD1C3A}</a:tableStyleId>
                  </a:tblPr>
                  <a:tblGrid>
                    <a:gridCol w="1149350">
                      <a:extLst>
                        <a:ext uri="{9D8B030D-6E8A-4147-A177-3AD203B41FA5}">
                          <a16:colId xmlns:a16="http://schemas.microsoft.com/office/drawing/2014/main" val="3205175829"/>
                        </a:ext>
                      </a:extLst>
                    </a:gridCol>
                    <a:gridCol w="643107">
                      <a:extLst>
                        <a:ext uri="{9D8B030D-6E8A-4147-A177-3AD203B41FA5}">
                          <a16:colId xmlns:a16="http://schemas.microsoft.com/office/drawing/2014/main" val="3653725285"/>
                        </a:ext>
                      </a:extLst>
                    </a:gridCol>
                    <a:gridCol w="827903">
                      <a:extLst>
                        <a:ext uri="{9D8B030D-6E8A-4147-A177-3AD203B41FA5}">
                          <a16:colId xmlns:a16="http://schemas.microsoft.com/office/drawing/2014/main" val="404982639"/>
                        </a:ext>
                      </a:extLst>
                    </a:gridCol>
                  </a:tblGrid>
                  <a:tr h="215900">
                    <a:tc>
                      <a:txBody>
                        <a:bodyPr/>
                        <a:lstStyle/>
                        <a:p>
                          <a:pPr indent="266700" algn="ctr"/>
                          <a:r>
                            <a:rPr lang="zh-CN" sz="1400" kern="100">
                              <a:effectLst/>
                            </a:rPr>
                            <a:t>方 式</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𝑎</m:t>
                                </m:r>
                              </m:oMath>
                            </m:oMathPara>
                          </a14:m>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𝑏</m:t>
                                </m:r>
                              </m:oMath>
                            </m:oMathPara>
                          </a14:m>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2902748023"/>
                      </a:ext>
                    </a:extLst>
                  </a:tr>
                  <a:tr h="215900">
                    <a:tc>
                      <a:txBody>
                        <a:bodyPr/>
                        <a:lstStyle/>
                        <a:p>
                          <a:pPr indent="266700" algn="ctr"/>
                          <a:r>
                            <a:rPr lang="zh-CN" sz="1400" kern="100" dirty="0">
                              <a:effectLst/>
                            </a:rPr>
                            <a:t>组织型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2.4</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1.05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277262318"/>
                      </a:ext>
                    </a:extLst>
                  </a:tr>
                  <a:tr h="215900">
                    <a:tc>
                      <a:txBody>
                        <a:bodyPr/>
                        <a:lstStyle/>
                        <a:p>
                          <a:pPr indent="266700" algn="ctr"/>
                          <a:r>
                            <a:rPr lang="zh-CN" sz="1400" kern="100" dirty="0">
                              <a:effectLst/>
                            </a:rPr>
                            <a:t>半</a:t>
                          </a:r>
                          <a:r>
                            <a:rPr lang="zh-CN" altLang="en-US" sz="1400" kern="100" dirty="0">
                              <a:effectLst/>
                            </a:rPr>
                            <a:t>独立</a:t>
                          </a:r>
                          <a:r>
                            <a:rPr lang="zh-CN" sz="1400" kern="100" dirty="0">
                              <a:effectLst/>
                            </a:rPr>
                            <a:t>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3.0</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1.12</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1113843982"/>
                      </a:ext>
                    </a:extLst>
                  </a:tr>
                  <a:tr h="215900">
                    <a:tc>
                      <a:txBody>
                        <a:bodyPr/>
                        <a:lstStyle/>
                        <a:p>
                          <a:pPr indent="266700" algn="ctr"/>
                          <a:r>
                            <a:rPr lang="zh-CN" sz="1400" kern="100" dirty="0">
                              <a:effectLst/>
                            </a:rPr>
                            <a:t>嵌入型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3.6</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dirty="0">
                              <a:effectLst/>
                            </a:rPr>
                            <a:t>1.2</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1169828618"/>
                      </a:ext>
                    </a:extLst>
                  </a:tr>
                </a:tbl>
              </a:graphicData>
            </a:graphic>
          </p:graphicFrame>
        </mc:Choice>
        <mc:Fallback xmlns="">
          <p:graphicFrame>
            <p:nvGraphicFramePr>
              <p:cNvPr id="7" name="表格 6">
                <a:extLst>
                  <a:ext uri="{FF2B5EF4-FFF2-40B4-BE49-F238E27FC236}">
                    <a16:creationId xmlns:a16="http://schemas.microsoft.com/office/drawing/2014/main" id="{1380A6CF-ECC8-49B4-82F0-6765B033BFEB}"/>
                  </a:ext>
                </a:extLst>
              </p:cNvPr>
              <p:cNvGraphicFramePr>
                <a:graphicFrameLocks noGrp="1"/>
              </p:cNvGraphicFramePr>
              <p:nvPr>
                <p:extLst>
                  <p:ext uri="{D42A27DB-BD31-4B8C-83A1-F6EECF244321}">
                    <p14:modId xmlns:p14="http://schemas.microsoft.com/office/powerpoint/2010/main" val="1194055456"/>
                  </p:ext>
                </p:extLst>
              </p:nvPr>
            </p:nvGraphicFramePr>
            <p:xfrm>
              <a:off x="4433225" y="3531029"/>
              <a:ext cx="2620360" cy="922020"/>
            </p:xfrm>
            <a:graphic>
              <a:graphicData uri="http://schemas.openxmlformats.org/drawingml/2006/table">
                <a:tbl>
                  <a:tblPr>
                    <a:tableStyleId>{5C22544A-7EE6-4342-B048-85BDC9FD1C3A}</a:tableStyleId>
                  </a:tblPr>
                  <a:tblGrid>
                    <a:gridCol w="1149350">
                      <a:extLst>
                        <a:ext uri="{9D8B030D-6E8A-4147-A177-3AD203B41FA5}">
                          <a16:colId xmlns:a16="http://schemas.microsoft.com/office/drawing/2014/main" val="3205175829"/>
                        </a:ext>
                      </a:extLst>
                    </a:gridCol>
                    <a:gridCol w="643107">
                      <a:extLst>
                        <a:ext uri="{9D8B030D-6E8A-4147-A177-3AD203B41FA5}">
                          <a16:colId xmlns:a16="http://schemas.microsoft.com/office/drawing/2014/main" val="3653725285"/>
                        </a:ext>
                      </a:extLst>
                    </a:gridCol>
                    <a:gridCol w="827903">
                      <a:extLst>
                        <a:ext uri="{9D8B030D-6E8A-4147-A177-3AD203B41FA5}">
                          <a16:colId xmlns:a16="http://schemas.microsoft.com/office/drawing/2014/main" val="404982639"/>
                        </a:ext>
                      </a:extLst>
                    </a:gridCol>
                  </a:tblGrid>
                  <a:tr h="274320">
                    <a:tc>
                      <a:txBody>
                        <a:bodyPr/>
                        <a:lstStyle/>
                        <a:p>
                          <a:pPr indent="266700" algn="ctr"/>
                          <a:r>
                            <a:rPr lang="zh-CN" sz="1400" kern="100">
                              <a:effectLst/>
                            </a:rPr>
                            <a:t>方 式</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endParaRPr lang="zh-CN"/>
                        </a:p>
                      </a:txBody>
                      <a:tcPr marL="68580" marR="68580" marT="0" marB="0" anchor="ctr">
                        <a:blipFill>
                          <a:blip r:embed="rId2"/>
                          <a:stretch>
                            <a:fillRect l="-179245" t="-8889" r="-130189" b="-275556"/>
                          </a:stretch>
                        </a:blipFill>
                      </a:tcPr>
                    </a:tc>
                    <a:tc>
                      <a:txBody>
                        <a:bodyPr/>
                        <a:lstStyle/>
                        <a:p>
                          <a:endParaRPr lang="zh-CN"/>
                        </a:p>
                      </a:txBody>
                      <a:tcPr marL="68580" marR="68580" marT="0" marB="0" anchor="ctr">
                        <a:blipFill>
                          <a:blip r:embed="rId2"/>
                          <a:stretch>
                            <a:fillRect l="-217647" t="-8889" r="-1471" b="-275556"/>
                          </a:stretch>
                        </a:blipFill>
                      </a:tcPr>
                    </a:tc>
                    <a:extLst>
                      <a:ext uri="{0D108BD9-81ED-4DB2-BD59-A6C34878D82A}">
                        <a16:rowId xmlns:a16="http://schemas.microsoft.com/office/drawing/2014/main" val="2902748023"/>
                      </a:ext>
                    </a:extLst>
                  </a:tr>
                  <a:tr h="215900">
                    <a:tc>
                      <a:txBody>
                        <a:bodyPr/>
                        <a:lstStyle/>
                        <a:p>
                          <a:pPr indent="266700" algn="ctr"/>
                          <a:r>
                            <a:rPr lang="zh-CN" sz="1400" kern="100" dirty="0">
                              <a:effectLst/>
                            </a:rPr>
                            <a:t>组织型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2.4</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1.05</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277262318"/>
                      </a:ext>
                    </a:extLst>
                  </a:tr>
                  <a:tr h="215900">
                    <a:tc>
                      <a:txBody>
                        <a:bodyPr/>
                        <a:lstStyle/>
                        <a:p>
                          <a:pPr indent="266700" algn="ctr"/>
                          <a:r>
                            <a:rPr lang="zh-CN" sz="1400" kern="100" dirty="0">
                              <a:effectLst/>
                            </a:rPr>
                            <a:t>半</a:t>
                          </a:r>
                          <a:r>
                            <a:rPr lang="zh-CN" altLang="en-US" sz="1400" kern="100" dirty="0">
                              <a:effectLst/>
                            </a:rPr>
                            <a:t>独立</a:t>
                          </a:r>
                          <a:r>
                            <a:rPr lang="zh-CN" sz="1400" kern="100" dirty="0">
                              <a:effectLst/>
                            </a:rPr>
                            <a:t>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3.0</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1.12</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1113843982"/>
                      </a:ext>
                    </a:extLst>
                  </a:tr>
                  <a:tr h="215900">
                    <a:tc>
                      <a:txBody>
                        <a:bodyPr/>
                        <a:lstStyle/>
                        <a:p>
                          <a:pPr indent="266700" algn="ctr"/>
                          <a:r>
                            <a:rPr lang="zh-CN" sz="1400" kern="100" dirty="0">
                              <a:effectLst/>
                            </a:rPr>
                            <a:t>嵌入型</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a:effectLst/>
                            </a:rPr>
                            <a:t>3.6</a:t>
                          </a:r>
                          <a:endParaRPr lang="zh-CN" sz="18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r>
                            <a:rPr lang="en-US" sz="1400" kern="100" dirty="0">
                              <a:effectLst/>
                            </a:rPr>
                            <a:t>1.2</a:t>
                          </a:r>
                          <a:endParaRPr lang="zh-CN" sz="18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1169828618"/>
                      </a:ext>
                    </a:extLst>
                  </a:tr>
                </a:tbl>
              </a:graphicData>
            </a:graphic>
          </p:graphicFrame>
        </mc:Fallback>
      </mc:AlternateContent>
      <p:sp>
        <p:nvSpPr>
          <p:cNvPr id="8" name="Rectangle 1">
            <a:extLst>
              <a:ext uri="{FF2B5EF4-FFF2-40B4-BE49-F238E27FC236}">
                <a16:creationId xmlns:a16="http://schemas.microsoft.com/office/drawing/2014/main" id="{C87C366E-EDAC-4F20-9AFA-FEBFB513CE56}"/>
              </a:ext>
            </a:extLst>
          </p:cNvPr>
          <p:cNvSpPr>
            <a:spLocks noChangeArrowheads="1"/>
          </p:cNvSpPr>
          <p:nvPr/>
        </p:nvSpPr>
        <p:spPr bwMode="auto">
          <a:xfrm>
            <a:off x="4239994" y="3152001"/>
            <a:ext cx="28135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表</a:t>
            </a:r>
            <a:r>
              <a:rPr kumimoji="0" lang="en-US" altLang="zh-CN" sz="12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2-1 </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基本</a:t>
            </a:r>
            <a:r>
              <a:rPr kumimoji="0" lang="en-US" altLang="zh-CN" sz="1200" b="0" i="0" u="none" strike="noStrike" cap="none" normalizeH="0" baseline="0" dirty="0">
                <a:ln>
                  <a:noFill/>
                </a:ln>
                <a:solidFill>
                  <a:schemeClr val="tx1"/>
                </a:solidFill>
                <a:effectLst/>
                <a:ea typeface="宋体" panose="02010600030101010101" pitchFamily="2" charset="-122"/>
                <a:cs typeface="Times New Roman" panose="02020603050405020304" pitchFamily="18" charset="0"/>
              </a:rPr>
              <a:t>COCOMO</a:t>
            </a:r>
            <a:r>
              <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模型参数举例</a:t>
            </a:r>
            <a:endParaRPr kumimoji="0" lang="zh-CN" altLang="en-US" sz="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0743297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F7B0621-BC1D-467B-A31F-E08F1A99468C}"/>
              </a:ext>
            </a:extLst>
          </p:cNvPr>
          <p:cNvSpPr>
            <a:spLocks noGrp="1"/>
          </p:cNvSpPr>
          <p:nvPr>
            <p:ph idx="1"/>
          </p:nvPr>
        </p:nvSpPr>
        <p:spPr>
          <a:xfrm>
            <a:off x="838200" y="1427592"/>
            <a:ext cx="10515600" cy="4351338"/>
          </a:xfrm>
        </p:spPr>
        <p:txBody>
          <a:bodyPr>
            <a:normAutofit/>
          </a:bodyPr>
          <a:lstStyle/>
          <a:p>
            <a:pPr indent="255905" algn="just">
              <a:lnSpc>
                <a:spcPct val="160000"/>
              </a:lnSpc>
            </a:pPr>
            <a:r>
              <a:rPr lang="zh-CN" altLang="en-US" sz="2000" kern="100" dirty="0">
                <a:latin typeface="Times New Roman" panose="02020603050405020304" pitchFamily="18" charset="0"/>
                <a:ea typeface="宋体" panose="02010600030101010101" pitchFamily="2" charset="-122"/>
                <a:cs typeface="宋体" panose="02010600030101010101" pitchFamily="2" charset="-122"/>
              </a:rPr>
              <a:t>答案</a:t>
            </a:r>
            <a:r>
              <a:rPr lang="zh-CN" altLang="en-US" sz="2000" kern="100" dirty="0">
                <a:latin typeface="Times New Roman" panose="02020603050405020304" pitchFamily="18" charset="0"/>
                <a:ea typeface="宋体" panose="02010600030101010101" pitchFamily="2" charset="-122"/>
                <a:cs typeface="宋体" panose="02010600030101010101" pitchFamily="2" charset="-122"/>
                <a:sym typeface="Wingdings" panose="05000000000000000000" pitchFamily="2" charset="2"/>
              </a:rPr>
              <a:t>：</a:t>
            </a:r>
            <a:r>
              <a:rPr lang="zh-CN" altLang="en-US" sz="2000" kern="100" dirty="0">
                <a:latin typeface="Times New Roman" panose="02020603050405020304" pitchFamily="18" charset="0"/>
                <a:ea typeface="宋体" panose="02010600030101010101" pitchFamily="2" charset="-122"/>
                <a:cs typeface="宋体" panose="02010600030101010101" pitchFamily="2" charset="-122"/>
              </a:rPr>
              <a:t>（</a:t>
            </a:r>
            <a:r>
              <a:rPr lang="en-US" altLang="zh-CN" sz="2000" kern="100" dirty="0">
                <a:latin typeface="Times New Roman" panose="02020603050405020304" pitchFamily="18" charset="0"/>
                <a:ea typeface="宋体" panose="02010600030101010101" pitchFamily="2" charset="-122"/>
                <a:cs typeface="宋体" panose="02010600030101010101" pitchFamily="2" charset="-122"/>
              </a:rPr>
              <a:t>1</a:t>
            </a:r>
            <a:r>
              <a:rPr lang="zh-CN" altLang="en-US" sz="2000" kern="100" dirty="0">
                <a:latin typeface="Times New Roman" panose="02020603050405020304" pitchFamily="18" charset="0"/>
                <a:ea typeface="宋体" panose="02010600030101010101" pitchFamily="2" charset="-122"/>
                <a:cs typeface="宋体" panose="02010600030101010101" pitchFamily="2" charset="-122"/>
              </a:rPr>
              <a:t>）工作量估算</a:t>
            </a:r>
            <a:endParaRPr lang="en-US" altLang="zh-CN" sz="2000" kern="100" dirty="0">
              <a:latin typeface="Times New Roman" panose="02020603050405020304" pitchFamily="18" charset="0"/>
              <a:ea typeface="宋体" panose="02010600030101010101" pitchFamily="2" charset="-122"/>
              <a:cs typeface="宋体" panose="02010600030101010101" pitchFamily="2" charset="-122"/>
            </a:endParaRPr>
          </a:p>
          <a:p>
            <a:pPr indent="255905" algn="just">
              <a:lnSpc>
                <a:spcPct val="160000"/>
              </a:lnSpc>
            </a:pPr>
            <a:r>
              <a:rPr lang="zh-CN" altLang="en-US" sz="2000" kern="100" dirty="0">
                <a:latin typeface="Times New Roman" panose="02020603050405020304" pitchFamily="18" charset="0"/>
                <a:ea typeface="宋体" panose="02010600030101010101" pitchFamily="2" charset="-122"/>
                <a:cs typeface="宋体" panose="02010600030101010101" pitchFamily="2" charset="-122"/>
                <a:sym typeface="Wingdings" panose="05000000000000000000" pitchFamily="2" charset="2"/>
              </a:rPr>
              <a:t>（注意单位换算：</a:t>
            </a:r>
            <a:r>
              <a:rPr lang="en-US" altLang="zh-CN" sz="2000" kern="100" dirty="0">
                <a:latin typeface="Times New Roman" panose="02020603050405020304" pitchFamily="18" charset="0"/>
                <a:ea typeface="宋体" panose="02010600030101010101" pitchFamily="2" charset="-122"/>
                <a:cs typeface="宋体" panose="02010600030101010101" pitchFamily="2" charset="-122"/>
                <a:sym typeface="Wingdings" panose="05000000000000000000" pitchFamily="2" charset="2"/>
              </a:rPr>
              <a:t>25,000</a:t>
            </a:r>
            <a:r>
              <a:rPr lang="zh-CN" altLang="en-US" sz="2000" kern="100" dirty="0">
                <a:latin typeface="Times New Roman" panose="02020603050405020304" pitchFamily="18" charset="0"/>
                <a:ea typeface="宋体" panose="02010600030101010101" pitchFamily="2" charset="-122"/>
                <a:cs typeface="宋体" panose="02010600030101010101" pitchFamily="2" charset="-122"/>
                <a:sym typeface="Wingdings" panose="05000000000000000000" pitchFamily="2" charset="2"/>
              </a:rPr>
              <a:t>行 </a:t>
            </a:r>
            <a:r>
              <a:rPr lang="en-US" altLang="zh-CN" sz="2000" kern="100" dirty="0">
                <a:latin typeface="Times New Roman" panose="02020603050405020304" pitchFamily="18" charset="0"/>
                <a:ea typeface="宋体" panose="02010600030101010101" pitchFamily="2" charset="-122"/>
                <a:cs typeface="宋体" panose="02010600030101010101" pitchFamily="2" charset="-122"/>
                <a:sym typeface="Wingdings" panose="05000000000000000000" pitchFamily="2" charset="2"/>
              </a:rPr>
              <a:t>= 25 KSLOC</a:t>
            </a:r>
            <a:r>
              <a:rPr lang="zh-CN" altLang="en-US" sz="2000" kern="100" dirty="0">
                <a:latin typeface="Times New Roman" panose="02020603050405020304" pitchFamily="18" charset="0"/>
                <a:ea typeface="宋体" panose="02010600030101010101" pitchFamily="2" charset="-122"/>
                <a:cs typeface="宋体" panose="02010600030101010101" pitchFamily="2" charset="-122"/>
                <a:sym typeface="Wingdings" panose="05000000000000000000" pitchFamily="2" charset="2"/>
              </a:rPr>
              <a:t>，使用</a:t>
            </a:r>
            <a:r>
              <a:rPr lang="en-US" altLang="zh-CN" sz="2000" kern="100" dirty="0">
                <a:latin typeface="Times New Roman" panose="02020603050405020304" pitchFamily="18" charset="0"/>
                <a:ea typeface="宋体" panose="02010600030101010101" pitchFamily="2" charset="-122"/>
                <a:cs typeface="宋体" panose="02010600030101010101" pitchFamily="2" charset="-122"/>
                <a:sym typeface="Wingdings" panose="05000000000000000000" pitchFamily="2" charset="2"/>
              </a:rPr>
              <a:t>25</a:t>
            </a:r>
            <a:r>
              <a:rPr lang="zh-CN" altLang="en-US" sz="2000" kern="100" dirty="0">
                <a:latin typeface="Times New Roman" panose="02020603050405020304" pitchFamily="18" charset="0"/>
                <a:ea typeface="宋体" panose="02010600030101010101" pitchFamily="2" charset="-122"/>
                <a:cs typeface="宋体" panose="02010600030101010101" pitchFamily="2" charset="-122"/>
                <a:sym typeface="Wingdings" panose="05000000000000000000" pitchFamily="2" charset="2"/>
              </a:rPr>
              <a:t>代入公式，不要代入</a:t>
            </a:r>
            <a:r>
              <a:rPr lang="en-US" altLang="zh-CN" sz="2000" kern="100" dirty="0">
                <a:latin typeface="Times New Roman" panose="02020603050405020304" pitchFamily="18" charset="0"/>
                <a:ea typeface="宋体" panose="02010600030101010101" pitchFamily="2" charset="-122"/>
                <a:cs typeface="宋体" panose="02010600030101010101" pitchFamily="2" charset="-122"/>
                <a:sym typeface="Wingdings" panose="05000000000000000000" pitchFamily="2" charset="2"/>
              </a:rPr>
              <a:t>25000</a:t>
            </a:r>
            <a:r>
              <a:rPr lang="zh-CN" altLang="en-US" sz="2000" kern="100" dirty="0">
                <a:latin typeface="Times New Roman" panose="02020603050405020304" pitchFamily="18" charset="0"/>
                <a:ea typeface="宋体" panose="02010600030101010101" pitchFamily="2" charset="-122"/>
                <a:cs typeface="宋体" panose="02010600030101010101" pitchFamily="2" charset="-122"/>
              </a:rPr>
              <a:t>）</a:t>
            </a:r>
            <a:endParaRPr lang="en-US" altLang="zh-CN" sz="2000" kern="100" dirty="0">
              <a:latin typeface="Times New Roman" panose="02020603050405020304" pitchFamily="18" charset="0"/>
              <a:ea typeface="宋体" panose="02010600030101010101" pitchFamily="2" charset="-122"/>
              <a:cs typeface="宋体" panose="02010600030101010101" pitchFamily="2" charset="-122"/>
            </a:endParaRPr>
          </a:p>
          <a:p>
            <a:pPr indent="255905" algn="just">
              <a:lnSpc>
                <a:spcPct val="160000"/>
              </a:lnSpc>
            </a:pPr>
            <a:r>
              <a:rPr lang="zh-CN" altLang="en-US" sz="2000" kern="100" dirty="0">
                <a:latin typeface="Times New Roman" panose="02020603050405020304" pitchFamily="18" charset="0"/>
                <a:ea typeface="宋体" panose="02010600030101010101" pitchFamily="2" charset="-122"/>
                <a:cs typeface="宋体" panose="02010600030101010101" pitchFamily="2" charset="-122"/>
              </a:rPr>
              <a:t>代入表格中半独立型公式</a:t>
            </a:r>
            <a:r>
              <a:rPr lang="en-US" altLang="zh-CN" sz="2000" kern="100" dirty="0">
                <a:latin typeface="Times New Roman" panose="02020603050405020304" pitchFamily="18" charset="0"/>
                <a:ea typeface="宋体" panose="02010600030101010101" pitchFamily="2" charset="-122"/>
                <a:cs typeface="宋体" panose="02010600030101010101" pitchFamily="2" charset="-122"/>
              </a:rPr>
              <a:t>a=3.0</a:t>
            </a:r>
            <a:r>
              <a:rPr lang="zh-CN" altLang="en-US" sz="2000" kern="100" dirty="0">
                <a:latin typeface="Times New Roman" panose="02020603050405020304" pitchFamily="18" charset="0"/>
                <a:ea typeface="宋体" panose="02010600030101010101" pitchFamily="2" charset="-122"/>
                <a:cs typeface="宋体" panose="02010600030101010101" pitchFamily="2" charset="-122"/>
              </a:rPr>
              <a:t>，</a:t>
            </a:r>
            <a:r>
              <a:rPr lang="en-US" altLang="zh-CN" sz="2000" kern="100" dirty="0">
                <a:latin typeface="Times New Roman" panose="02020603050405020304" pitchFamily="18" charset="0"/>
                <a:ea typeface="宋体" panose="02010600030101010101" pitchFamily="2" charset="-122"/>
                <a:cs typeface="宋体" panose="02010600030101010101" pitchFamily="2" charset="-122"/>
              </a:rPr>
              <a:t>b=1.12</a:t>
            </a:r>
          </a:p>
          <a:p>
            <a:pPr indent="255905" algn="just">
              <a:lnSpc>
                <a:spcPct val="160000"/>
              </a:lnSpc>
            </a:pPr>
            <a:endParaRPr lang="en-US" altLang="zh-CN" sz="2000" kern="100" dirty="0">
              <a:latin typeface="Times New Roman" panose="02020603050405020304" pitchFamily="18" charset="0"/>
              <a:ea typeface="宋体" panose="02010600030101010101" pitchFamily="2" charset="-122"/>
              <a:cs typeface="宋体" panose="02010600030101010101" pitchFamily="2" charset="-122"/>
            </a:endParaRPr>
          </a:p>
          <a:p>
            <a:pPr indent="255905" algn="just">
              <a:lnSpc>
                <a:spcPct val="160000"/>
              </a:lnSpc>
            </a:pPr>
            <a:r>
              <a:rPr lang="zh-CN" altLang="en-US" sz="2000" kern="100" dirty="0">
                <a:latin typeface="Times New Roman" panose="02020603050405020304" pitchFamily="18" charset="0"/>
                <a:ea typeface="宋体" panose="02010600030101010101" pitchFamily="2" charset="-122"/>
                <a:cs typeface="宋体" panose="02010600030101010101" pitchFamily="2" charset="-122"/>
              </a:rPr>
              <a:t>计算可得</a:t>
            </a:r>
            <a:r>
              <a:rPr lang="en-US" altLang="zh-CN" sz="2000" kern="100" dirty="0">
                <a:latin typeface="Times New Roman" panose="02020603050405020304" pitchFamily="18" charset="0"/>
                <a:ea typeface="宋体" panose="02010600030101010101" pitchFamily="2" charset="-122"/>
                <a:cs typeface="宋体" panose="02010600030101010101" pitchFamily="2" charset="-122"/>
              </a:rPr>
              <a:t>E=110.4</a:t>
            </a:r>
            <a:r>
              <a:rPr lang="zh-CN" altLang="en-US" sz="2000" kern="100" dirty="0">
                <a:latin typeface="Times New Roman" panose="02020603050405020304" pitchFamily="18" charset="0"/>
                <a:ea typeface="宋体" panose="02010600030101010101" pitchFamily="2" charset="-122"/>
                <a:cs typeface="宋体" panose="02010600030101010101" pitchFamily="2" charset="-122"/>
              </a:rPr>
              <a:t>人月</a:t>
            </a:r>
            <a:endParaRPr lang="en-US" altLang="zh-CN" sz="2000" kern="100" dirty="0">
              <a:latin typeface="Times New Roman" panose="02020603050405020304" pitchFamily="18" charset="0"/>
              <a:ea typeface="宋体" panose="02010600030101010101" pitchFamily="2" charset="-122"/>
              <a:cs typeface="宋体" panose="02010600030101010101" pitchFamily="2" charset="-122"/>
            </a:endParaRPr>
          </a:p>
          <a:p>
            <a:pPr indent="255905" algn="just">
              <a:lnSpc>
                <a:spcPct val="160000"/>
              </a:lnSpc>
            </a:pPr>
            <a:r>
              <a:rPr lang="zh-CN" altLang="en-US" sz="2000" kern="100" dirty="0">
                <a:latin typeface="Times New Roman" panose="02020603050405020304" pitchFamily="18" charset="0"/>
                <a:ea typeface="宋体" panose="02010600030101010101" pitchFamily="2" charset="-122"/>
                <a:cs typeface="宋体" panose="02010600030101010101" pitchFamily="2" charset="-122"/>
              </a:rPr>
              <a:t>（</a:t>
            </a:r>
            <a:r>
              <a:rPr lang="en-US" altLang="zh-CN" sz="2000" kern="100" dirty="0">
                <a:latin typeface="Times New Roman" panose="02020603050405020304" pitchFamily="18" charset="0"/>
                <a:ea typeface="宋体" panose="02010600030101010101" pitchFamily="2" charset="-122"/>
                <a:cs typeface="宋体" panose="02010600030101010101" pitchFamily="2" charset="-122"/>
              </a:rPr>
              <a:t>2</a:t>
            </a:r>
            <a:r>
              <a:rPr lang="zh-CN" altLang="en-US" sz="2000" kern="100" dirty="0">
                <a:latin typeface="Times New Roman" panose="02020603050405020304" pitchFamily="18" charset="0"/>
                <a:ea typeface="宋体" panose="02010600030101010101" pitchFamily="2" charset="-122"/>
                <a:cs typeface="宋体" panose="02010600030101010101" pitchFamily="2" charset="-122"/>
              </a:rPr>
              <a:t>）开发时间估算：工作量</a:t>
            </a:r>
            <a:r>
              <a:rPr lang="en-US" altLang="zh-CN" sz="2000" kern="100" dirty="0">
                <a:latin typeface="Times New Roman" panose="02020603050405020304" pitchFamily="18" charset="0"/>
                <a:ea typeface="宋体" panose="02010600030101010101" pitchFamily="2" charset="-122"/>
                <a:cs typeface="宋体" panose="02010600030101010101" pitchFamily="2" charset="-122"/>
              </a:rPr>
              <a:t>=110.4</a:t>
            </a:r>
            <a:r>
              <a:rPr lang="zh-CN" altLang="en-US" sz="2000" kern="100" dirty="0">
                <a:latin typeface="Times New Roman" panose="02020603050405020304" pitchFamily="18" charset="0"/>
                <a:ea typeface="宋体" panose="02010600030101010101" pitchFamily="2" charset="-122"/>
                <a:cs typeface="宋体" panose="02010600030101010101" pitchFamily="2" charset="-122"/>
              </a:rPr>
              <a:t>人月，团队人数</a:t>
            </a:r>
            <a:r>
              <a:rPr lang="en-US" altLang="zh-CN" sz="2000" kern="100" dirty="0">
                <a:latin typeface="Times New Roman" panose="02020603050405020304" pitchFamily="18" charset="0"/>
                <a:ea typeface="宋体" panose="02010600030101010101" pitchFamily="2" charset="-122"/>
                <a:cs typeface="宋体" panose="02010600030101010101" pitchFamily="2" charset="-122"/>
              </a:rPr>
              <a:t>N=8</a:t>
            </a:r>
            <a:r>
              <a:rPr lang="zh-CN" altLang="en-US" sz="2000" kern="100" dirty="0">
                <a:latin typeface="Times New Roman" panose="02020603050405020304" pitchFamily="18" charset="0"/>
                <a:ea typeface="宋体" panose="02010600030101010101" pitchFamily="2" charset="-122"/>
                <a:cs typeface="宋体" panose="02010600030101010101" pitchFamily="2" charset="-122"/>
              </a:rPr>
              <a:t>，因此开发时间</a:t>
            </a:r>
            <a:r>
              <a:rPr lang="en-US" altLang="zh-CN" sz="2000" kern="100" dirty="0">
                <a:latin typeface="Times New Roman" panose="02020603050405020304" pitchFamily="18" charset="0"/>
                <a:ea typeface="宋体" panose="02010600030101010101" pitchFamily="2" charset="-122"/>
                <a:cs typeface="宋体" panose="02010600030101010101" pitchFamily="2" charset="-122"/>
              </a:rPr>
              <a:t>T=110.4/8=13.8</a:t>
            </a:r>
            <a:r>
              <a:rPr lang="zh-CN" altLang="en-US" sz="2000" kern="100" dirty="0">
                <a:latin typeface="Times New Roman" panose="02020603050405020304" pitchFamily="18" charset="0"/>
                <a:ea typeface="宋体" panose="02010600030101010101" pitchFamily="2" charset="-122"/>
                <a:cs typeface="宋体" panose="02010600030101010101" pitchFamily="2" charset="-122"/>
              </a:rPr>
              <a:t>月</a:t>
            </a:r>
            <a:endParaRPr lang="en-US" altLang="zh-CN" sz="2000" kern="100" dirty="0">
              <a:latin typeface="Times New Roman" panose="02020603050405020304" pitchFamily="18" charset="0"/>
              <a:ea typeface="宋体" panose="02010600030101010101" pitchFamily="2" charset="-122"/>
              <a:cs typeface="宋体" panose="02010600030101010101" pitchFamily="2" charset="-122"/>
            </a:endParaRPr>
          </a:p>
          <a:p>
            <a:pPr indent="255905" algn="just">
              <a:lnSpc>
                <a:spcPct val="160000"/>
              </a:lnSpc>
            </a:pPr>
            <a:endParaRPr lang="en-US" altLang="zh-CN" sz="2000" kern="100" dirty="0">
              <a:latin typeface="Times New Roman" panose="02020603050405020304" pitchFamily="18" charset="0"/>
              <a:ea typeface="宋体" panose="02010600030101010101" pitchFamily="2" charset="-122"/>
              <a:cs typeface="宋体" panose="02010600030101010101" pitchFamily="2" charset="-122"/>
            </a:endParaRPr>
          </a:p>
          <a:p>
            <a:pPr indent="255905" algn="just">
              <a:lnSpc>
                <a:spcPct val="160000"/>
              </a:lnSpc>
            </a:pPr>
            <a:endParaRPr lang="zh-CN" altLang="en-US" sz="2000" kern="100" dirty="0">
              <a:latin typeface="Times New Roman" panose="02020603050405020304" pitchFamily="18" charset="0"/>
              <a:ea typeface="宋体" panose="02010600030101010101" pitchFamily="2" charset="-122"/>
              <a:cs typeface="宋体" panose="02010600030101010101" pitchFamily="2" charset="-122"/>
            </a:endParaRPr>
          </a:p>
        </p:txBody>
      </p:sp>
      <p:sp>
        <p:nvSpPr>
          <p:cNvPr id="6" name="标题 1">
            <a:extLst>
              <a:ext uri="{FF2B5EF4-FFF2-40B4-BE49-F238E27FC236}">
                <a16:creationId xmlns:a16="http://schemas.microsoft.com/office/drawing/2014/main" id="{4A8BD595-E53C-45B1-9DC3-D28CDCACB553}"/>
              </a:ext>
            </a:extLst>
          </p:cNvPr>
          <p:cNvSpPr txBox="1">
            <a:spLocks/>
          </p:cNvSpPr>
          <p:nvPr/>
        </p:nvSpPr>
        <p:spPr>
          <a:xfrm>
            <a:off x="838200"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例题</a:t>
            </a:r>
          </a:p>
        </p:txBody>
      </p:sp>
      <p:pic>
        <p:nvPicPr>
          <p:cNvPr id="7" name="图片 6">
            <a:extLst>
              <a:ext uri="{FF2B5EF4-FFF2-40B4-BE49-F238E27FC236}">
                <a16:creationId xmlns:a16="http://schemas.microsoft.com/office/drawing/2014/main" id="{995D6393-848C-4A80-8595-F99A92DD1F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9915" y="3152809"/>
            <a:ext cx="2361905" cy="552381"/>
          </a:xfrm>
          <a:prstGeom prst="rect">
            <a:avLst/>
          </a:prstGeom>
        </p:spPr>
      </p:pic>
    </p:spTree>
    <p:extLst>
      <p:ext uri="{BB962C8B-B14F-4D97-AF65-F5344CB8AC3E}">
        <p14:creationId xmlns:p14="http://schemas.microsoft.com/office/powerpoint/2010/main" val="30714457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3BFD64-7D3F-49E9-9156-16158402505C}"/>
              </a:ext>
            </a:extLst>
          </p:cNvPr>
          <p:cNvSpPr>
            <a:spLocks noGrp="1"/>
          </p:cNvSpPr>
          <p:nvPr>
            <p:ph type="title"/>
          </p:nvPr>
        </p:nvSpPr>
        <p:spPr/>
        <p:txBody>
          <a:bodyPr/>
          <a:lstStyle/>
          <a:p>
            <a:r>
              <a:rPr lang="zh-CN" altLang="en-US" dirty="0"/>
              <a:t>例题</a:t>
            </a:r>
          </a:p>
        </p:txBody>
      </p:sp>
      <p:sp>
        <p:nvSpPr>
          <p:cNvPr id="3" name="内容占位符 2">
            <a:extLst>
              <a:ext uri="{FF2B5EF4-FFF2-40B4-BE49-F238E27FC236}">
                <a16:creationId xmlns:a16="http://schemas.microsoft.com/office/drawing/2014/main" id="{13D6582F-AD72-4D63-B325-B46EEF9FC28D}"/>
              </a:ext>
            </a:extLst>
          </p:cNvPr>
          <p:cNvSpPr>
            <a:spLocks noGrp="1"/>
          </p:cNvSpPr>
          <p:nvPr>
            <p:ph idx="1"/>
          </p:nvPr>
        </p:nvSpPr>
        <p:spPr/>
        <p:txBody>
          <a:bodyPr>
            <a:normAutofit/>
          </a:bodyPr>
          <a:lstStyle/>
          <a:p>
            <a:pPr>
              <a:lnSpc>
                <a:spcPct val="150000"/>
              </a:lnSpc>
            </a:pPr>
            <a:r>
              <a:rPr lang="zh-CN" altLang="en-US" sz="2000" dirty="0"/>
              <a:t>（</a:t>
            </a:r>
            <a:r>
              <a:rPr lang="en-US" altLang="zh-CN" sz="2000" dirty="0"/>
              <a:t>3</a:t>
            </a:r>
            <a:r>
              <a:rPr lang="zh-CN" altLang="en-US" sz="2000" dirty="0"/>
              <a:t>）计算生产率：规模</a:t>
            </a:r>
            <a:r>
              <a:rPr lang="en-US" altLang="zh-CN" sz="2000" dirty="0"/>
              <a:t>=25000</a:t>
            </a:r>
            <a:r>
              <a:rPr lang="zh-CN" altLang="en-US" sz="2000" dirty="0"/>
              <a:t>行，生产率</a:t>
            </a:r>
            <a:r>
              <a:rPr lang="en-US" altLang="zh-CN" sz="2000" dirty="0"/>
              <a:t>=500</a:t>
            </a:r>
            <a:r>
              <a:rPr lang="zh-CN" altLang="en-US" sz="2000" dirty="0"/>
              <a:t>行</a:t>
            </a:r>
            <a:r>
              <a:rPr lang="en-US" altLang="zh-CN" sz="2000" dirty="0"/>
              <a:t>/</a:t>
            </a:r>
            <a:r>
              <a:rPr lang="zh-CN" altLang="en-US" sz="2000" dirty="0"/>
              <a:t>人月，生产率</a:t>
            </a:r>
            <a:r>
              <a:rPr lang="en-US" altLang="zh-CN" sz="2000" dirty="0"/>
              <a:t>=25000/500=50</a:t>
            </a:r>
            <a:r>
              <a:rPr lang="zh-CN" altLang="en-US" sz="2000" dirty="0"/>
              <a:t>人月</a:t>
            </a:r>
          </a:p>
          <a:p>
            <a:pPr>
              <a:lnSpc>
                <a:spcPct val="150000"/>
              </a:lnSpc>
            </a:pPr>
            <a:r>
              <a:rPr lang="en-US" altLang="zh-CN" sz="2000" dirty="0"/>
              <a:t>COCOMO</a:t>
            </a:r>
            <a:r>
              <a:rPr lang="zh-CN" altLang="en-US" sz="2000" dirty="0"/>
              <a:t>模型估算为</a:t>
            </a:r>
            <a:r>
              <a:rPr lang="en-US" altLang="zh-CN" sz="2000" dirty="0"/>
              <a:t>110.4</a:t>
            </a:r>
            <a:r>
              <a:rPr lang="zh-CN" altLang="en-US" sz="2000" dirty="0"/>
              <a:t>人月，生产率估算为</a:t>
            </a:r>
            <a:r>
              <a:rPr lang="en-US" altLang="zh-CN" sz="2000" dirty="0"/>
              <a:t>50</a:t>
            </a:r>
            <a:r>
              <a:rPr lang="zh-CN" altLang="en-US" sz="2000" dirty="0"/>
              <a:t>人月，差距产生的原因可能为：</a:t>
            </a:r>
            <a:endParaRPr lang="en-US" altLang="zh-CN" sz="2000" dirty="0"/>
          </a:p>
          <a:p>
            <a:pPr marL="0" indent="0">
              <a:lnSpc>
                <a:spcPct val="150000"/>
              </a:lnSpc>
              <a:buNone/>
            </a:pPr>
            <a:r>
              <a:rPr lang="en-US" altLang="zh-CN" sz="2000" dirty="0"/>
              <a:t>1</a:t>
            </a:r>
            <a:r>
              <a:rPr lang="zh-CN" altLang="en-US" sz="2000" dirty="0"/>
              <a:t>）项目类型因素：进销存管理系统属于半独立型，系统集成复杂度较高，需要更多沟通和协调成本，而生产率估算忽略了项目类型的影响</a:t>
            </a:r>
            <a:endParaRPr lang="en-US" altLang="zh-CN" sz="2000" dirty="0"/>
          </a:p>
          <a:p>
            <a:pPr marL="0" indent="0">
              <a:lnSpc>
                <a:spcPct val="150000"/>
              </a:lnSpc>
              <a:buNone/>
            </a:pPr>
            <a:r>
              <a:rPr lang="en-US" altLang="zh-CN" sz="2000" dirty="0"/>
              <a:t>2</a:t>
            </a:r>
            <a:r>
              <a:rPr lang="zh-CN" altLang="en-US" sz="2000" dirty="0"/>
              <a:t>）工作量组成部分：</a:t>
            </a:r>
            <a:r>
              <a:rPr lang="en-US" altLang="zh-CN" sz="2000" dirty="0"/>
              <a:t>COCOMO</a:t>
            </a:r>
            <a:r>
              <a:rPr lang="zh-CN" altLang="en-US" sz="2000" dirty="0"/>
              <a:t>模型估算的是项目总工作量，包括需求分析、设计、编码、测试、文档编写等全部活动；生产率估算通常仅考虑编码阶段</a:t>
            </a:r>
          </a:p>
        </p:txBody>
      </p:sp>
    </p:spTree>
    <p:extLst>
      <p:ext uri="{BB962C8B-B14F-4D97-AF65-F5344CB8AC3E}">
        <p14:creationId xmlns:p14="http://schemas.microsoft.com/office/powerpoint/2010/main" val="19682444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大纲</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软件工程概念</a:t>
            </a:r>
            <a:endParaRPr lang="en-US" altLang="zh-CN" dirty="0"/>
          </a:p>
          <a:p>
            <a:r>
              <a:rPr lang="zh-CN" altLang="en-US" dirty="0"/>
              <a:t>项目立项</a:t>
            </a:r>
            <a:endParaRPr lang="en-US" altLang="zh-CN" dirty="0"/>
          </a:p>
          <a:p>
            <a:r>
              <a:rPr lang="zh-CN" altLang="en-US" dirty="0">
                <a:solidFill>
                  <a:srgbClr val="FF0000"/>
                </a:solidFill>
              </a:rPr>
              <a:t>需求分析</a:t>
            </a:r>
            <a:endParaRPr lang="en-US" altLang="zh-CN" dirty="0">
              <a:solidFill>
                <a:srgbClr val="FF0000"/>
              </a:solidFill>
            </a:endParaRPr>
          </a:p>
          <a:p>
            <a:r>
              <a:rPr lang="zh-CN" altLang="en-US" dirty="0"/>
              <a:t>系统设计</a:t>
            </a:r>
            <a:endParaRPr lang="en-US" altLang="zh-CN" dirty="0"/>
          </a:p>
          <a:p>
            <a:r>
              <a:rPr lang="zh-CN" altLang="en-US" dirty="0"/>
              <a:t>系统实现</a:t>
            </a:r>
            <a:endParaRPr lang="en-US" altLang="zh-CN" dirty="0"/>
          </a:p>
          <a:p>
            <a:r>
              <a:rPr lang="zh-CN" altLang="en-US" dirty="0"/>
              <a:t>软件测试</a:t>
            </a:r>
          </a:p>
        </p:txBody>
      </p:sp>
    </p:spTree>
    <p:extLst>
      <p:ext uri="{BB962C8B-B14F-4D97-AF65-F5344CB8AC3E}">
        <p14:creationId xmlns:p14="http://schemas.microsoft.com/office/powerpoint/2010/main" val="9990845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9AECE3-C97A-41B7-AFC9-B64350FD6AA1}"/>
              </a:ext>
            </a:extLst>
          </p:cNvPr>
          <p:cNvSpPr>
            <a:spLocks noGrp="1"/>
          </p:cNvSpPr>
          <p:nvPr>
            <p:ph type="title"/>
          </p:nvPr>
        </p:nvSpPr>
        <p:spPr/>
        <p:txBody>
          <a:bodyPr/>
          <a:lstStyle/>
          <a:p>
            <a:r>
              <a:rPr lang="zh-CN" altLang="en-US" dirty="0"/>
              <a:t>需求分析</a:t>
            </a:r>
          </a:p>
        </p:txBody>
      </p:sp>
      <p:sp>
        <p:nvSpPr>
          <p:cNvPr id="6" name="内容占位符 3">
            <a:extLst>
              <a:ext uri="{FF2B5EF4-FFF2-40B4-BE49-F238E27FC236}">
                <a16:creationId xmlns:a16="http://schemas.microsoft.com/office/drawing/2014/main" id="{8727B96B-5674-4290-A2BB-48057A0F7E3E}"/>
              </a:ext>
            </a:extLst>
          </p:cNvPr>
          <p:cNvSpPr txBox="1">
            <a:spLocks/>
          </p:cNvSpPr>
          <p:nvPr/>
        </p:nvSpPr>
        <p:spPr>
          <a:xfrm>
            <a:off x="990600" y="1463675"/>
            <a:ext cx="1080135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2000" b="1" dirty="0"/>
              <a:t>需求分析概念：</a:t>
            </a:r>
            <a:r>
              <a:rPr lang="zh-CN" altLang="en-US" sz="2000" dirty="0"/>
              <a:t>需求分析是指在软件开发初期，通过调查、沟通、归纳、建模和确认等手段，对用户需求、业务需求和系统需求进行识别、理解、整理、细化与表达的过程。</a:t>
            </a:r>
          </a:p>
          <a:p>
            <a:pPr>
              <a:lnSpc>
                <a:spcPct val="150000"/>
              </a:lnSpc>
            </a:pPr>
            <a:r>
              <a:rPr lang="zh-CN" altLang="en-US" sz="2000" b="1" dirty="0"/>
              <a:t>需求分析分类（两种划分方式）：</a:t>
            </a:r>
            <a:endParaRPr lang="en-US" altLang="zh-CN" sz="2000" b="1" dirty="0"/>
          </a:p>
          <a:p>
            <a:pPr lvl="1">
              <a:lnSpc>
                <a:spcPct val="150000"/>
              </a:lnSpc>
            </a:pPr>
            <a:r>
              <a:rPr lang="zh-CN" altLang="en-US" sz="2000" u="sng" dirty="0"/>
              <a:t>功能性需求和非功能性需求</a:t>
            </a:r>
            <a:r>
              <a:rPr lang="zh-CN" altLang="en-US" sz="2000" dirty="0"/>
              <a:t>：功能性需求是指系统必须提供的功能、服务和行为，非功能性需求是指系统在实现功能的同时必须满足的质量要求和约束条件</a:t>
            </a:r>
            <a:endParaRPr lang="en-US" altLang="zh-CN" sz="2000" dirty="0"/>
          </a:p>
          <a:p>
            <a:pPr lvl="1">
              <a:lnSpc>
                <a:spcPct val="150000"/>
              </a:lnSpc>
            </a:pPr>
            <a:r>
              <a:rPr lang="zh-CN" altLang="en-US" sz="2000" u="sng" dirty="0"/>
              <a:t>用户需求和系统需求</a:t>
            </a:r>
            <a:r>
              <a:rPr lang="zh-CN" altLang="en-US" sz="2000" dirty="0"/>
              <a:t>：用户需求是从用户或业务使用者角度提出的需求，用来说明用户希望系统提供哪些支持、完成哪些任务以及达到什么目标。系统需求是在用户需求基础上进一步细化和规范化形成的需求描述，用来更准确地说明系统应具备的功能、性能、接口和约束条件。</a:t>
            </a:r>
          </a:p>
        </p:txBody>
      </p:sp>
    </p:spTree>
    <p:extLst>
      <p:ext uri="{BB962C8B-B14F-4D97-AF65-F5344CB8AC3E}">
        <p14:creationId xmlns:p14="http://schemas.microsoft.com/office/powerpoint/2010/main" val="9494550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9AECE3-C97A-41B7-AFC9-B64350FD6AA1}"/>
              </a:ext>
            </a:extLst>
          </p:cNvPr>
          <p:cNvSpPr>
            <a:spLocks noGrp="1"/>
          </p:cNvSpPr>
          <p:nvPr>
            <p:ph type="title"/>
          </p:nvPr>
        </p:nvSpPr>
        <p:spPr/>
        <p:txBody>
          <a:bodyPr/>
          <a:lstStyle/>
          <a:p>
            <a:r>
              <a:rPr lang="zh-CN" altLang="en-US" dirty="0"/>
              <a:t>需求分析</a:t>
            </a:r>
          </a:p>
        </p:txBody>
      </p:sp>
      <p:sp>
        <p:nvSpPr>
          <p:cNvPr id="6" name="内容占位符 3">
            <a:extLst>
              <a:ext uri="{FF2B5EF4-FFF2-40B4-BE49-F238E27FC236}">
                <a16:creationId xmlns:a16="http://schemas.microsoft.com/office/drawing/2014/main" id="{8727B96B-5674-4290-A2BB-48057A0F7E3E}"/>
              </a:ext>
            </a:extLst>
          </p:cNvPr>
          <p:cNvSpPr txBox="1">
            <a:spLocks/>
          </p:cNvSpPr>
          <p:nvPr/>
        </p:nvSpPr>
        <p:spPr>
          <a:xfrm>
            <a:off x="990600" y="1463675"/>
            <a:ext cx="1080135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2000" b="1" dirty="0"/>
              <a:t>利益相关者：</a:t>
            </a:r>
            <a:r>
              <a:rPr lang="zh-CN" altLang="en-US" sz="2000" dirty="0"/>
              <a:t>利益相关者是指所有对软件系统有利益诉求、能够影响系统开发过程或受系统运行结果影响的个人、群体或组织。</a:t>
            </a:r>
          </a:p>
          <a:p>
            <a:pPr>
              <a:lnSpc>
                <a:spcPct val="150000"/>
              </a:lnSpc>
            </a:pPr>
            <a:r>
              <a:rPr lang="zh-CN" altLang="en-US" sz="2000" b="1" dirty="0"/>
              <a:t>两种分类（两种划分方式）：</a:t>
            </a:r>
            <a:endParaRPr lang="en-US" altLang="zh-CN" sz="2000" b="1" dirty="0"/>
          </a:p>
          <a:p>
            <a:pPr lvl="1">
              <a:lnSpc>
                <a:spcPct val="150000"/>
              </a:lnSpc>
            </a:pPr>
            <a:r>
              <a:rPr lang="zh-CN" altLang="en-US" sz="2000" u="sng" dirty="0"/>
              <a:t>操作利益相关者与执行利益相关者</a:t>
            </a:r>
            <a:r>
              <a:rPr lang="zh-CN" altLang="en-US" sz="2000" dirty="0"/>
              <a:t>：操作利益相关者是指直接使用软件系统或与系统进行交互的个人或群体。执行利益相关者是指不直接使用系统，但其决策、管理或监督活动对系统有重要影响的个人或群体。</a:t>
            </a:r>
            <a:endParaRPr lang="en-US" altLang="zh-CN" sz="2000" dirty="0"/>
          </a:p>
          <a:p>
            <a:pPr lvl="1">
              <a:lnSpc>
                <a:spcPct val="150000"/>
              </a:lnSpc>
            </a:pPr>
            <a:r>
              <a:rPr lang="zh-CN" altLang="en-US" sz="2000" u="sng" dirty="0"/>
              <a:t>内部利益相关者与外部利益相关者</a:t>
            </a:r>
            <a:r>
              <a:rPr lang="zh-CN" altLang="en-US" sz="2000" dirty="0"/>
              <a:t>：内部利益相关者是指项目组织内部的人员或群体，他们属于开发团队所在的组织，或属于客户组织内部。外部利益相关者是指项目组织外部的个人或群体，他们与项目没有直接的雇佣关系，但其利益可能受到项目的影响，或能够影响项目的实施。</a:t>
            </a:r>
          </a:p>
        </p:txBody>
      </p:sp>
    </p:spTree>
    <p:extLst>
      <p:ext uri="{BB962C8B-B14F-4D97-AF65-F5344CB8AC3E}">
        <p14:creationId xmlns:p14="http://schemas.microsoft.com/office/powerpoint/2010/main" val="32092732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9AECE3-C97A-41B7-AFC9-B64350FD6AA1}"/>
              </a:ext>
            </a:extLst>
          </p:cNvPr>
          <p:cNvSpPr>
            <a:spLocks noGrp="1"/>
          </p:cNvSpPr>
          <p:nvPr>
            <p:ph type="title"/>
          </p:nvPr>
        </p:nvSpPr>
        <p:spPr/>
        <p:txBody>
          <a:bodyPr/>
          <a:lstStyle/>
          <a:p>
            <a:r>
              <a:rPr lang="zh-CN" altLang="en-US" dirty="0"/>
              <a:t>需求分析</a:t>
            </a:r>
          </a:p>
        </p:txBody>
      </p:sp>
      <p:sp>
        <p:nvSpPr>
          <p:cNvPr id="6" name="内容占位符 3">
            <a:extLst>
              <a:ext uri="{FF2B5EF4-FFF2-40B4-BE49-F238E27FC236}">
                <a16:creationId xmlns:a16="http://schemas.microsoft.com/office/drawing/2014/main" id="{8727B96B-5674-4290-A2BB-48057A0F7E3E}"/>
              </a:ext>
            </a:extLst>
          </p:cNvPr>
          <p:cNvSpPr txBox="1">
            <a:spLocks/>
          </p:cNvSpPr>
          <p:nvPr/>
        </p:nvSpPr>
        <p:spPr>
          <a:xfrm>
            <a:off x="990600" y="1463675"/>
            <a:ext cx="1080135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2000" b="1" dirty="0"/>
              <a:t>利益相关者举例：</a:t>
            </a:r>
            <a:endParaRPr lang="en-US" altLang="zh-CN" sz="2000" b="1" dirty="0"/>
          </a:p>
          <a:p>
            <a:pPr>
              <a:lnSpc>
                <a:spcPct val="150000"/>
              </a:lnSpc>
            </a:pPr>
            <a:r>
              <a:rPr lang="zh-CN" altLang="en-US" sz="2000" dirty="0"/>
              <a:t>在一个医院信息管理系统中，护士是典型的操作利益相关者。</a:t>
            </a:r>
            <a:endParaRPr lang="en-US" altLang="zh-CN" sz="2000" dirty="0"/>
          </a:p>
          <a:p>
            <a:pPr>
              <a:lnSpc>
                <a:spcPct val="150000"/>
              </a:lnSpc>
            </a:pPr>
            <a:r>
              <a:rPr lang="zh-CN" altLang="zh-CN" sz="2000" dirty="0"/>
              <a:t>护理部主任是典型的执行利益相关者</a:t>
            </a:r>
            <a:r>
              <a:rPr lang="zh-CN" altLang="en-US" sz="2000" dirty="0"/>
              <a:t>。</a:t>
            </a:r>
            <a:endParaRPr lang="en-US" altLang="zh-CN" sz="2000" dirty="0"/>
          </a:p>
          <a:p>
            <a:pPr>
              <a:lnSpc>
                <a:spcPct val="150000"/>
              </a:lnSpc>
            </a:pPr>
            <a:r>
              <a:rPr lang="zh-CN" altLang="en-US" sz="2000" dirty="0"/>
              <a:t>医院的</a:t>
            </a:r>
            <a:r>
              <a:rPr lang="en-US" altLang="zh-CN" sz="2000" dirty="0"/>
              <a:t>IT</a:t>
            </a:r>
            <a:r>
              <a:rPr lang="zh-CN" altLang="en-US" sz="2000" dirty="0"/>
              <a:t>部门人员是内部利益相关者。</a:t>
            </a:r>
            <a:endParaRPr lang="en-US" altLang="zh-CN" sz="2000" dirty="0"/>
          </a:p>
          <a:p>
            <a:pPr>
              <a:lnSpc>
                <a:spcPct val="150000"/>
              </a:lnSpc>
            </a:pPr>
            <a:r>
              <a:rPr lang="zh-CN" altLang="en-US" sz="2000" dirty="0"/>
              <a:t>卫生健康委员会（卫健委）是重要的外部利益相关者。</a:t>
            </a:r>
            <a:endParaRPr lang="en-US" altLang="zh-CN" sz="2000" dirty="0"/>
          </a:p>
          <a:p>
            <a:pPr>
              <a:lnSpc>
                <a:spcPct val="150000"/>
              </a:lnSpc>
            </a:pPr>
            <a:endParaRPr lang="zh-CN" altLang="en-US" sz="2000" dirty="0"/>
          </a:p>
        </p:txBody>
      </p:sp>
    </p:spTree>
    <p:extLst>
      <p:ext uri="{BB962C8B-B14F-4D97-AF65-F5344CB8AC3E}">
        <p14:creationId xmlns:p14="http://schemas.microsoft.com/office/powerpoint/2010/main" val="38124259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9AECE3-C97A-41B7-AFC9-B64350FD6AA1}"/>
              </a:ext>
            </a:extLst>
          </p:cNvPr>
          <p:cNvSpPr>
            <a:spLocks noGrp="1"/>
          </p:cNvSpPr>
          <p:nvPr>
            <p:ph type="title"/>
          </p:nvPr>
        </p:nvSpPr>
        <p:spPr/>
        <p:txBody>
          <a:bodyPr/>
          <a:lstStyle/>
          <a:p>
            <a:r>
              <a:rPr lang="zh-CN" altLang="en-US" dirty="0"/>
              <a:t>需求分析</a:t>
            </a:r>
          </a:p>
        </p:txBody>
      </p:sp>
      <p:sp>
        <p:nvSpPr>
          <p:cNvPr id="6" name="内容占位符 3">
            <a:extLst>
              <a:ext uri="{FF2B5EF4-FFF2-40B4-BE49-F238E27FC236}">
                <a16:creationId xmlns:a16="http://schemas.microsoft.com/office/drawing/2014/main" id="{8727B96B-5674-4290-A2BB-48057A0F7E3E}"/>
              </a:ext>
            </a:extLst>
          </p:cNvPr>
          <p:cNvSpPr txBox="1">
            <a:spLocks/>
          </p:cNvSpPr>
          <p:nvPr/>
        </p:nvSpPr>
        <p:spPr>
          <a:xfrm>
            <a:off x="990600" y="1463675"/>
            <a:ext cx="1080135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2000" b="1" dirty="0"/>
              <a:t>利益相关者举例：</a:t>
            </a:r>
            <a:endParaRPr lang="en-US" altLang="zh-CN" sz="2000" b="1" dirty="0"/>
          </a:p>
          <a:p>
            <a:pPr>
              <a:lnSpc>
                <a:spcPct val="150000"/>
              </a:lnSpc>
            </a:pPr>
            <a:r>
              <a:rPr lang="zh-CN" altLang="en-US" sz="2000" dirty="0"/>
              <a:t>在医院信息管理系统中，临床护士属于内部操作利益相关者。</a:t>
            </a:r>
            <a:endParaRPr lang="en-US" altLang="zh-CN" sz="2000" dirty="0"/>
          </a:p>
          <a:p>
            <a:pPr>
              <a:lnSpc>
                <a:spcPct val="150000"/>
              </a:lnSpc>
            </a:pPr>
            <a:r>
              <a:rPr lang="zh-CN" altLang="en-US" sz="2000" dirty="0"/>
              <a:t>护理部主任、医院</a:t>
            </a:r>
            <a:r>
              <a:rPr lang="en-US" altLang="zh-CN" sz="2000" dirty="0"/>
              <a:t>IT</a:t>
            </a:r>
            <a:r>
              <a:rPr lang="zh-CN" altLang="en-US" sz="2000" dirty="0"/>
              <a:t>部门主管、院长均属于内部执行利益相关者。</a:t>
            </a:r>
            <a:endParaRPr lang="en-US" altLang="zh-CN" sz="2000" dirty="0"/>
          </a:p>
          <a:p>
            <a:pPr>
              <a:lnSpc>
                <a:spcPct val="150000"/>
              </a:lnSpc>
            </a:pPr>
            <a:r>
              <a:rPr lang="zh-CN" altLang="en-US" sz="2000" dirty="0"/>
              <a:t>患者（或其家属）通过移动端应用查看检验报告、预约挂号、在线咨询，属于外部操作利益相关者。</a:t>
            </a:r>
            <a:endParaRPr lang="en-US" altLang="zh-CN" sz="2000" dirty="0"/>
          </a:p>
          <a:p>
            <a:pPr>
              <a:lnSpc>
                <a:spcPct val="150000"/>
              </a:lnSpc>
            </a:pPr>
            <a:r>
              <a:rPr lang="zh-CN" altLang="en-US" sz="2000" dirty="0"/>
              <a:t>卫生健康委员会是典型的外部执行利益相关者</a:t>
            </a:r>
          </a:p>
        </p:txBody>
      </p:sp>
    </p:spTree>
    <p:extLst>
      <p:ext uri="{BB962C8B-B14F-4D97-AF65-F5344CB8AC3E}">
        <p14:creationId xmlns:p14="http://schemas.microsoft.com/office/powerpoint/2010/main" val="6731293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9AECE3-C97A-41B7-AFC9-B64350FD6AA1}"/>
              </a:ext>
            </a:extLst>
          </p:cNvPr>
          <p:cNvSpPr>
            <a:spLocks noGrp="1"/>
          </p:cNvSpPr>
          <p:nvPr>
            <p:ph type="title"/>
          </p:nvPr>
        </p:nvSpPr>
        <p:spPr/>
        <p:txBody>
          <a:bodyPr/>
          <a:lstStyle/>
          <a:p>
            <a:r>
              <a:rPr lang="zh-CN" altLang="en-US" dirty="0"/>
              <a:t>需求分析</a:t>
            </a:r>
          </a:p>
        </p:txBody>
      </p:sp>
      <p:sp>
        <p:nvSpPr>
          <p:cNvPr id="6" name="内容占位符 3">
            <a:extLst>
              <a:ext uri="{FF2B5EF4-FFF2-40B4-BE49-F238E27FC236}">
                <a16:creationId xmlns:a16="http://schemas.microsoft.com/office/drawing/2014/main" id="{8727B96B-5674-4290-A2BB-48057A0F7E3E}"/>
              </a:ext>
            </a:extLst>
          </p:cNvPr>
          <p:cNvSpPr txBox="1">
            <a:spLocks/>
          </p:cNvSpPr>
          <p:nvPr/>
        </p:nvSpPr>
        <p:spPr>
          <a:xfrm>
            <a:off x="990600" y="1463675"/>
            <a:ext cx="1080135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2000" b="1" dirty="0"/>
              <a:t>利益相关者举例：</a:t>
            </a:r>
            <a:endParaRPr lang="en-US" altLang="zh-CN" sz="2000" b="1" dirty="0"/>
          </a:p>
          <a:p>
            <a:pPr>
              <a:lnSpc>
                <a:spcPct val="150000"/>
              </a:lnSpc>
            </a:pPr>
            <a:r>
              <a:rPr lang="zh-CN" altLang="en-US" sz="2000" dirty="0"/>
              <a:t>在医院信息管理系统中，临床护士属于内部操作利益相关者。</a:t>
            </a:r>
            <a:endParaRPr lang="en-US" altLang="zh-CN" sz="2000" dirty="0"/>
          </a:p>
          <a:p>
            <a:pPr>
              <a:lnSpc>
                <a:spcPct val="150000"/>
              </a:lnSpc>
            </a:pPr>
            <a:r>
              <a:rPr lang="zh-CN" altLang="en-US" sz="2000" dirty="0"/>
              <a:t>护理部主任、医院</a:t>
            </a:r>
            <a:r>
              <a:rPr lang="en-US" altLang="zh-CN" sz="2000" dirty="0"/>
              <a:t>IT</a:t>
            </a:r>
            <a:r>
              <a:rPr lang="zh-CN" altLang="en-US" sz="2000" dirty="0"/>
              <a:t>部门主管、院长均属于内部执行利益相关者。</a:t>
            </a:r>
            <a:endParaRPr lang="en-US" altLang="zh-CN" sz="2000" dirty="0"/>
          </a:p>
          <a:p>
            <a:pPr>
              <a:lnSpc>
                <a:spcPct val="150000"/>
              </a:lnSpc>
            </a:pPr>
            <a:r>
              <a:rPr lang="zh-CN" altLang="en-US" sz="2000" dirty="0"/>
              <a:t>患者（或其家属）通过移动端应用查看检验报告、预约挂号、在线咨询，属于外部操作利益相关者。</a:t>
            </a:r>
            <a:endParaRPr lang="en-US" altLang="zh-CN" sz="2000" dirty="0"/>
          </a:p>
          <a:p>
            <a:pPr>
              <a:lnSpc>
                <a:spcPct val="150000"/>
              </a:lnSpc>
            </a:pPr>
            <a:r>
              <a:rPr lang="zh-CN" altLang="en-US" sz="2000" dirty="0"/>
              <a:t>卫生健康委员会是典型的外部执行利益相关者</a:t>
            </a:r>
          </a:p>
        </p:txBody>
      </p:sp>
    </p:spTree>
    <p:extLst>
      <p:ext uri="{BB962C8B-B14F-4D97-AF65-F5344CB8AC3E}">
        <p14:creationId xmlns:p14="http://schemas.microsoft.com/office/powerpoint/2010/main" val="14976369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B791F8-EFE5-4B03-BF9A-FF55D6040F58}"/>
              </a:ext>
            </a:extLst>
          </p:cNvPr>
          <p:cNvSpPr>
            <a:spLocks noGrp="1"/>
          </p:cNvSpPr>
          <p:nvPr>
            <p:ph type="title"/>
          </p:nvPr>
        </p:nvSpPr>
        <p:spPr/>
        <p:txBody>
          <a:bodyPr/>
          <a:lstStyle/>
          <a:p>
            <a:r>
              <a:rPr lang="zh-CN" altLang="en-US" dirty="0"/>
              <a:t>需求分析</a:t>
            </a:r>
          </a:p>
        </p:txBody>
      </p:sp>
      <p:sp>
        <p:nvSpPr>
          <p:cNvPr id="5" name="内容占位符 2">
            <a:extLst>
              <a:ext uri="{FF2B5EF4-FFF2-40B4-BE49-F238E27FC236}">
                <a16:creationId xmlns:a16="http://schemas.microsoft.com/office/drawing/2014/main" id="{4396239A-0820-4CBF-B9EF-11C5F89D9DCE}"/>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pic>
        <p:nvPicPr>
          <p:cNvPr id="6" name="Picture 7">
            <a:extLst>
              <a:ext uri="{FF2B5EF4-FFF2-40B4-BE49-F238E27FC236}">
                <a16:creationId xmlns:a16="http://schemas.microsoft.com/office/drawing/2014/main" id="{CC3EC14D-9849-4F44-842B-FD240A7581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5604640" y="2308225"/>
            <a:ext cx="6500649" cy="4218945"/>
          </a:xfrm>
          <a:prstGeom prst="rect">
            <a:avLst/>
          </a:prstGeom>
          <a:noFill/>
        </p:spPr>
      </p:pic>
      <p:sp>
        <p:nvSpPr>
          <p:cNvPr id="7" name="文本框 6">
            <a:extLst>
              <a:ext uri="{FF2B5EF4-FFF2-40B4-BE49-F238E27FC236}">
                <a16:creationId xmlns:a16="http://schemas.microsoft.com/office/drawing/2014/main" id="{F20E119A-353B-4B16-872A-B0C5E89FEA41}"/>
              </a:ext>
            </a:extLst>
          </p:cNvPr>
          <p:cNvSpPr txBox="1"/>
          <p:nvPr/>
        </p:nvSpPr>
        <p:spPr>
          <a:xfrm>
            <a:off x="242394" y="2639497"/>
            <a:ext cx="6097314" cy="2862322"/>
          </a:xfrm>
          <a:prstGeom prst="rect">
            <a:avLst/>
          </a:prstGeom>
          <a:noFill/>
        </p:spPr>
        <p:txBody>
          <a:bodyPr wrap="square">
            <a:spAutoFit/>
          </a:bodyPr>
          <a:lstStyle/>
          <a:p>
            <a:r>
              <a:rPr lang="zh-CN" altLang="en-US" sz="2000" b="0" i="0" dirty="0">
                <a:solidFill>
                  <a:srgbClr val="2A2B2E"/>
                </a:solidFill>
                <a:effectLst/>
                <a:latin typeface="PingFang SC"/>
              </a:rPr>
              <a:t>例子：上市公司会计系统的利益相关者</a:t>
            </a:r>
            <a:endParaRPr lang="en-US" altLang="zh-CN" sz="2000" b="0" i="0" dirty="0">
              <a:solidFill>
                <a:srgbClr val="2A2B2E"/>
              </a:solidFill>
              <a:effectLst/>
              <a:latin typeface="PingFang SC"/>
            </a:endParaRPr>
          </a:p>
          <a:p>
            <a:endParaRPr lang="en-US" altLang="zh-CN" sz="2000" b="0" i="0" dirty="0">
              <a:solidFill>
                <a:srgbClr val="2A2B2E"/>
              </a:solidFill>
              <a:effectLst/>
              <a:latin typeface="PingFang SC"/>
            </a:endParaRPr>
          </a:p>
          <a:p>
            <a:r>
              <a:rPr lang="zh-CN" altLang="en-US" sz="2000" b="0" i="0" dirty="0">
                <a:solidFill>
                  <a:srgbClr val="2A2B2E"/>
                </a:solidFill>
                <a:effectLst/>
                <a:latin typeface="PingFang SC"/>
              </a:rPr>
              <a:t>内部</a:t>
            </a:r>
            <a:r>
              <a:rPr lang="en-US" altLang="zh-CN" sz="2000" b="0" i="0" dirty="0">
                <a:solidFill>
                  <a:srgbClr val="2A2B2E"/>
                </a:solidFill>
                <a:effectLst/>
                <a:latin typeface="PingFang SC"/>
              </a:rPr>
              <a:t>-</a:t>
            </a:r>
            <a:r>
              <a:rPr lang="zh-CN" altLang="en-US" sz="2000" b="0" i="0" dirty="0">
                <a:solidFill>
                  <a:srgbClr val="2A2B2E"/>
                </a:solidFill>
                <a:effectLst/>
                <a:latin typeface="PingFang SC"/>
              </a:rPr>
              <a:t>操作相关者：出纳，会计，内部审计师</a:t>
            </a:r>
            <a:endParaRPr lang="en-US" altLang="zh-CN" sz="2000" b="0" i="0" dirty="0">
              <a:solidFill>
                <a:srgbClr val="2A2B2E"/>
              </a:solidFill>
              <a:effectLst/>
              <a:latin typeface="PingFang SC"/>
            </a:endParaRPr>
          </a:p>
          <a:p>
            <a:r>
              <a:rPr lang="zh-CN" altLang="en-US" sz="2000" dirty="0"/>
              <a:t>内部</a:t>
            </a:r>
            <a:r>
              <a:rPr lang="en-US" altLang="zh-CN" sz="2000" dirty="0"/>
              <a:t>-</a:t>
            </a:r>
            <a:r>
              <a:rPr lang="zh-CN" altLang="en-US" sz="2000" dirty="0"/>
              <a:t>执行相关者：高级经理，董事会</a:t>
            </a:r>
            <a:endParaRPr lang="en-US" altLang="zh-CN" sz="2000" dirty="0"/>
          </a:p>
          <a:p>
            <a:r>
              <a:rPr lang="en-US" altLang="zh-CN" sz="2000" dirty="0"/>
              <a:t>Both</a:t>
            </a:r>
            <a:r>
              <a:rPr lang="zh-CN" altLang="en-US" sz="2000" dirty="0"/>
              <a:t>：业务经理</a:t>
            </a:r>
            <a:endParaRPr lang="en-US" altLang="zh-CN" sz="2000" dirty="0"/>
          </a:p>
          <a:p>
            <a:endParaRPr lang="en-US" altLang="zh-CN" sz="2000" dirty="0"/>
          </a:p>
          <a:p>
            <a:r>
              <a:rPr lang="zh-CN" altLang="en-US" sz="2000" dirty="0"/>
              <a:t>外部</a:t>
            </a:r>
            <a:r>
              <a:rPr lang="en-US" altLang="zh-CN" sz="2000" dirty="0"/>
              <a:t>-</a:t>
            </a:r>
            <a:r>
              <a:rPr lang="zh-CN" altLang="en-US" sz="2000" dirty="0"/>
              <a:t>操作相关者：合作伙伴组织；客户</a:t>
            </a:r>
            <a:endParaRPr lang="en-US" altLang="zh-CN" sz="2000" dirty="0"/>
          </a:p>
          <a:p>
            <a:r>
              <a:rPr lang="zh-CN" altLang="en-US" sz="2000" dirty="0"/>
              <a:t>外部</a:t>
            </a:r>
            <a:r>
              <a:rPr lang="en-US" altLang="zh-CN" sz="2000" dirty="0"/>
              <a:t>-</a:t>
            </a:r>
            <a:r>
              <a:rPr lang="zh-CN" altLang="en-US" sz="2000" dirty="0"/>
              <a:t>执行相关者：投资者，监管机构</a:t>
            </a:r>
            <a:endParaRPr lang="en-US" altLang="zh-CN" sz="2000" dirty="0"/>
          </a:p>
          <a:p>
            <a:r>
              <a:rPr lang="en-US" altLang="zh-CN" sz="2000" dirty="0"/>
              <a:t>Both</a:t>
            </a:r>
            <a:r>
              <a:rPr lang="zh-CN" altLang="en-US" sz="2000" dirty="0"/>
              <a:t>：外部审计师</a:t>
            </a:r>
          </a:p>
        </p:txBody>
      </p:sp>
      <p:sp>
        <p:nvSpPr>
          <p:cNvPr id="8" name="文本框 7">
            <a:extLst>
              <a:ext uri="{FF2B5EF4-FFF2-40B4-BE49-F238E27FC236}">
                <a16:creationId xmlns:a16="http://schemas.microsoft.com/office/drawing/2014/main" id="{5038E402-F128-45B1-838E-EB65A3A0F421}"/>
              </a:ext>
            </a:extLst>
          </p:cNvPr>
          <p:cNvSpPr txBox="1"/>
          <p:nvPr/>
        </p:nvSpPr>
        <p:spPr>
          <a:xfrm>
            <a:off x="392327" y="1632972"/>
            <a:ext cx="6098058" cy="465640"/>
          </a:xfrm>
          <a:prstGeom prst="rect">
            <a:avLst/>
          </a:prstGeom>
          <a:noFill/>
        </p:spPr>
        <p:txBody>
          <a:bodyPr wrap="square">
            <a:spAutoFit/>
          </a:bodyPr>
          <a:lstStyle/>
          <a:p>
            <a:pPr>
              <a:lnSpc>
                <a:spcPct val="150000"/>
              </a:lnSpc>
            </a:pPr>
            <a:r>
              <a:rPr lang="zh-CN" altLang="en-US" sz="1800" b="1" dirty="0"/>
              <a:t>利益相关者举例：</a:t>
            </a:r>
            <a:endParaRPr lang="en-US" altLang="zh-CN" sz="1800" b="1" dirty="0"/>
          </a:p>
        </p:txBody>
      </p:sp>
    </p:spTree>
    <p:extLst>
      <p:ext uri="{BB962C8B-B14F-4D97-AF65-F5344CB8AC3E}">
        <p14:creationId xmlns:p14="http://schemas.microsoft.com/office/powerpoint/2010/main" val="33189393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B791F8-EFE5-4B03-BF9A-FF55D6040F58}"/>
              </a:ext>
            </a:extLst>
          </p:cNvPr>
          <p:cNvSpPr>
            <a:spLocks noGrp="1"/>
          </p:cNvSpPr>
          <p:nvPr>
            <p:ph type="title"/>
          </p:nvPr>
        </p:nvSpPr>
        <p:spPr/>
        <p:txBody>
          <a:bodyPr/>
          <a:lstStyle/>
          <a:p>
            <a:r>
              <a:rPr lang="zh-CN" altLang="en-US" dirty="0"/>
              <a:t>需求分析</a:t>
            </a:r>
          </a:p>
        </p:txBody>
      </p:sp>
      <p:sp>
        <p:nvSpPr>
          <p:cNvPr id="5" name="内容占位符 2">
            <a:extLst>
              <a:ext uri="{FF2B5EF4-FFF2-40B4-BE49-F238E27FC236}">
                <a16:creationId xmlns:a16="http://schemas.microsoft.com/office/drawing/2014/main" id="{4396239A-0820-4CBF-B9EF-11C5F89D9DCE}"/>
              </a:ext>
            </a:extLst>
          </p:cNvPr>
          <p:cNvSpPr txBox="1">
            <a:spLocks/>
          </p:cNvSpPr>
          <p:nvPr/>
        </p:nvSpPr>
        <p:spPr>
          <a:xfrm>
            <a:off x="838200" y="1825625"/>
            <a:ext cx="1074157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b="1" dirty="0"/>
              <a:t>需求建模方法：</a:t>
            </a:r>
            <a:endParaRPr lang="en-US" altLang="zh-CN" sz="2000" b="1" dirty="0"/>
          </a:p>
          <a:p>
            <a:pPr lvl="1"/>
            <a:r>
              <a:rPr lang="zh-CN" altLang="en-US" sz="2000" dirty="0"/>
              <a:t>结构化建模方法：</a:t>
            </a:r>
            <a:endParaRPr lang="en-US" altLang="zh-CN" sz="2000" dirty="0"/>
          </a:p>
          <a:p>
            <a:pPr lvl="2"/>
            <a:r>
              <a:rPr lang="zh-CN" altLang="en-US" dirty="0"/>
              <a:t>数据流图、数据字典、结构化语言、判定表、判定树</a:t>
            </a:r>
            <a:endParaRPr lang="en-US" altLang="zh-CN" dirty="0"/>
          </a:p>
          <a:p>
            <a:pPr lvl="1"/>
            <a:r>
              <a:rPr lang="zh-CN" altLang="en-US" sz="2000" dirty="0"/>
              <a:t>面向对象需求建模方法：</a:t>
            </a:r>
            <a:endParaRPr lang="en-US" altLang="zh-CN" sz="2000" dirty="0"/>
          </a:p>
          <a:p>
            <a:pPr lvl="2"/>
            <a:r>
              <a:rPr lang="zh-CN" altLang="en-US" dirty="0"/>
              <a:t>用例图、活动图、系统顺序图、实体</a:t>
            </a:r>
            <a:r>
              <a:rPr lang="en-US" altLang="zh-CN" dirty="0"/>
              <a:t>-</a:t>
            </a:r>
            <a:r>
              <a:rPr lang="zh-CN" altLang="en-US" dirty="0"/>
              <a:t>联系图、域模型类图</a:t>
            </a:r>
            <a:endParaRPr lang="en-US" altLang="zh-CN" dirty="0"/>
          </a:p>
          <a:p>
            <a:endParaRPr lang="zh-CN" altLang="en-US" sz="2000" dirty="0"/>
          </a:p>
          <a:p>
            <a:endParaRPr lang="en-US" altLang="zh-CN" sz="2000" b="1" dirty="0">
              <a:solidFill>
                <a:srgbClr val="C00000"/>
              </a:solidFill>
            </a:endParaRPr>
          </a:p>
          <a:p>
            <a:endParaRPr lang="zh-CN" altLang="en-US" sz="2000" dirty="0"/>
          </a:p>
        </p:txBody>
      </p:sp>
    </p:spTree>
    <p:extLst>
      <p:ext uri="{BB962C8B-B14F-4D97-AF65-F5344CB8AC3E}">
        <p14:creationId xmlns:p14="http://schemas.microsoft.com/office/powerpoint/2010/main" val="34201315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B791F8-EFE5-4B03-BF9A-FF55D6040F58}"/>
              </a:ext>
            </a:extLst>
          </p:cNvPr>
          <p:cNvSpPr>
            <a:spLocks noGrp="1"/>
          </p:cNvSpPr>
          <p:nvPr>
            <p:ph type="title"/>
          </p:nvPr>
        </p:nvSpPr>
        <p:spPr/>
        <p:txBody>
          <a:bodyPr/>
          <a:lstStyle/>
          <a:p>
            <a:r>
              <a:rPr lang="zh-CN" altLang="en-US" dirty="0"/>
              <a:t>需求分析</a:t>
            </a:r>
          </a:p>
        </p:txBody>
      </p:sp>
      <p:sp>
        <p:nvSpPr>
          <p:cNvPr id="5" name="内容占位符 2">
            <a:extLst>
              <a:ext uri="{FF2B5EF4-FFF2-40B4-BE49-F238E27FC236}">
                <a16:creationId xmlns:a16="http://schemas.microsoft.com/office/drawing/2014/main" id="{4396239A-0820-4CBF-B9EF-11C5F89D9DCE}"/>
              </a:ext>
            </a:extLst>
          </p:cNvPr>
          <p:cNvSpPr txBox="1">
            <a:spLocks/>
          </p:cNvSpPr>
          <p:nvPr/>
        </p:nvSpPr>
        <p:spPr>
          <a:xfrm>
            <a:off x="838200" y="1825625"/>
            <a:ext cx="1074157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nSpc>
                <a:spcPct val="150000"/>
              </a:lnSpc>
              <a:buNone/>
            </a:pPr>
            <a:r>
              <a:rPr lang="zh-CN" altLang="en-US" dirty="0"/>
              <a:t>结构化建模方法：</a:t>
            </a:r>
            <a:endParaRPr lang="en-US" altLang="zh-CN" dirty="0"/>
          </a:p>
          <a:p>
            <a:pPr lvl="2">
              <a:lnSpc>
                <a:spcPct val="150000"/>
              </a:lnSpc>
            </a:pPr>
            <a:r>
              <a:rPr lang="zh-CN" altLang="en-US" sz="2400" dirty="0"/>
              <a:t>数据流图</a:t>
            </a:r>
            <a:endParaRPr lang="en-US" altLang="zh-CN" sz="2400" dirty="0"/>
          </a:p>
          <a:p>
            <a:pPr lvl="2">
              <a:lnSpc>
                <a:spcPct val="150000"/>
              </a:lnSpc>
            </a:pPr>
            <a:r>
              <a:rPr lang="zh-CN" altLang="en-US" sz="2400" dirty="0"/>
              <a:t>数据字典</a:t>
            </a:r>
            <a:endParaRPr lang="en-US" altLang="zh-CN" sz="2400" dirty="0"/>
          </a:p>
          <a:p>
            <a:pPr lvl="2">
              <a:lnSpc>
                <a:spcPct val="150000"/>
              </a:lnSpc>
            </a:pPr>
            <a:r>
              <a:rPr lang="zh-CN" altLang="en-US" sz="2400" dirty="0"/>
              <a:t>结构化语言</a:t>
            </a:r>
            <a:endParaRPr lang="en-US" altLang="zh-CN" sz="2400" dirty="0"/>
          </a:p>
          <a:p>
            <a:pPr lvl="2">
              <a:lnSpc>
                <a:spcPct val="150000"/>
              </a:lnSpc>
            </a:pPr>
            <a:r>
              <a:rPr lang="zh-CN" altLang="en-US" sz="2400" dirty="0"/>
              <a:t>判定表</a:t>
            </a:r>
            <a:endParaRPr lang="en-US" altLang="zh-CN" sz="2400" dirty="0"/>
          </a:p>
          <a:p>
            <a:pPr lvl="2">
              <a:lnSpc>
                <a:spcPct val="150000"/>
              </a:lnSpc>
            </a:pPr>
            <a:r>
              <a:rPr lang="zh-CN" altLang="en-US" sz="2400" dirty="0"/>
              <a:t>判定树</a:t>
            </a:r>
            <a:endParaRPr lang="en-US" altLang="zh-CN" sz="2400" dirty="0"/>
          </a:p>
          <a:p>
            <a:pPr>
              <a:lnSpc>
                <a:spcPct val="150000"/>
              </a:lnSpc>
            </a:pPr>
            <a:endParaRPr lang="zh-CN" altLang="en-US" sz="2400" dirty="0"/>
          </a:p>
          <a:p>
            <a:pPr>
              <a:lnSpc>
                <a:spcPct val="150000"/>
              </a:lnSpc>
            </a:pPr>
            <a:endParaRPr lang="en-US" altLang="zh-CN" sz="2400" b="1" dirty="0">
              <a:solidFill>
                <a:srgbClr val="C00000"/>
              </a:solidFill>
            </a:endParaRPr>
          </a:p>
          <a:p>
            <a:pPr>
              <a:lnSpc>
                <a:spcPct val="150000"/>
              </a:lnSpc>
            </a:pPr>
            <a:endParaRPr lang="zh-CN" altLang="en-US" sz="2400" dirty="0"/>
          </a:p>
        </p:txBody>
      </p:sp>
    </p:spTree>
    <p:extLst>
      <p:ext uri="{BB962C8B-B14F-4D97-AF65-F5344CB8AC3E}">
        <p14:creationId xmlns:p14="http://schemas.microsoft.com/office/powerpoint/2010/main" val="1667496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数据流图</a:t>
            </a:r>
            <a:endParaRPr lang="en-US" altLang="zh-CN" dirty="0"/>
          </a:p>
          <a:p>
            <a:pPr lvl="1"/>
            <a:endParaRPr lang="zh-CN" altLang="en-US" dirty="0"/>
          </a:p>
        </p:txBody>
      </p:sp>
      <p:pic>
        <p:nvPicPr>
          <p:cNvPr id="5" name="Picture 2">
            <a:extLst>
              <a:ext uri="{FF2B5EF4-FFF2-40B4-BE49-F238E27FC236}">
                <a16:creationId xmlns:a16="http://schemas.microsoft.com/office/drawing/2014/main" id="{8DAACA06-69D7-417C-AFEB-9717AF3AEF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4879" y="2698149"/>
            <a:ext cx="4977121" cy="3613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a:extLst>
              <a:ext uri="{FF2B5EF4-FFF2-40B4-BE49-F238E27FC236}">
                <a16:creationId xmlns:a16="http://schemas.microsoft.com/office/drawing/2014/main" id="{A42CFDB0-0E28-4EF4-B5B8-C963FCC0CB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300" y="2519363"/>
            <a:ext cx="7016579"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828540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数据流图</a:t>
            </a:r>
            <a:endParaRPr lang="en-US" altLang="zh-CN" dirty="0"/>
          </a:p>
          <a:p>
            <a:r>
              <a:rPr lang="zh-CN" altLang="en-US" sz="2800" b="1" dirty="0"/>
              <a:t>在图书馆负责人和计算机系的技术人员通过了“图书管理系统”</a:t>
            </a:r>
            <a:r>
              <a:rPr lang="en-US" altLang="zh-CN" sz="2800" b="1" dirty="0"/>
              <a:t>《</a:t>
            </a:r>
            <a:r>
              <a:rPr lang="zh-CN" altLang="en-US" sz="2800" b="1" dirty="0"/>
              <a:t>项目开发计划</a:t>
            </a:r>
            <a:r>
              <a:rPr lang="en-US" altLang="zh-CN" sz="2800" b="1" dirty="0"/>
              <a:t>》</a:t>
            </a:r>
            <a:r>
              <a:rPr lang="zh-CN" altLang="en-US" sz="2800" b="1" dirty="0"/>
              <a:t>后，项目组随即进入了项目开发阶段，计算机系教师与图书馆相关业务人员紧密合作，经过</a:t>
            </a:r>
            <a:r>
              <a:rPr lang="en-US" altLang="zh-CN" sz="2800" b="1" dirty="0"/>
              <a:t>15</a:t>
            </a:r>
            <a:r>
              <a:rPr lang="zh-CN" altLang="en-US" sz="2800" b="1" dirty="0"/>
              <a:t>天的工作，形成了“图书管理系统”</a:t>
            </a:r>
            <a:r>
              <a:rPr lang="en-US" altLang="zh-CN" sz="2800" b="1" dirty="0"/>
              <a:t>《</a:t>
            </a:r>
            <a:r>
              <a:rPr lang="zh-CN" altLang="en-US" sz="2800" b="1" dirty="0"/>
              <a:t>软件需求说明书</a:t>
            </a:r>
            <a:r>
              <a:rPr lang="en-US" altLang="zh-CN" sz="2800" b="1" dirty="0"/>
              <a:t>》</a:t>
            </a:r>
            <a:r>
              <a:rPr lang="zh-CN" altLang="en-US" sz="2800" b="1" dirty="0"/>
              <a:t>。主要数据流图如下： </a:t>
            </a:r>
            <a:endParaRPr lang="en-US" altLang="zh-CN" sz="2800" b="1" dirty="0"/>
          </a:p>
          <a:p>
            <a:endParaRPr lang="en-US" altLang="zh-CN" dirty="0"/>
          </a:p>
          <a:p>
            <a:pPr lvl="1"/>
            <a:endParaRPr lang="zh-CN" altLang="en-US" dirty="0"/>
          </a:p>
        </p:txBody>
      </p:sp>
      <p:pic>
        <p:nvPicPr>
          <p:cNvPr id="7" name="图片 37894" descr="x3-9a">
            <a:extLst>
              <a:ext uri="{FF2B5EF4-FFF2-40B4-BE49-F238E27FC236}">
                <a16:creationId xmlns:a16="http://schemas.microsoft.com/office/drawing/2014/main" id="{A0FBCBA0-2A6E-430F-9D2A-D61C7755D5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0908" y="4119563"/>
            <a:ext cx="6584108"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667836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数据流图</a:t>
            </a:r>
            <a:endParaRPr lang="en-US" altLang="zh-CN" dirty="0"/>
          </a:p>
          <a:p>
            <a:pPr lvl="1"/>
            <a:endParaRPr lang="zh-CN" altLang="en-US" dirty="0"/>
          </a:p>
        </p:txBody>
      </p:sp>
      <p:pic>
        <p:nvPicPr>
          <p:cNvPr id="5" name="图片 38917" descr="x3-9b">
            <a:extLst>
              <a:ext uri="{FF2B5EF4-FFF2-40B4-BE49-F238E27FC236}">
                <a16:creationId xmlns:a16="http://schemas.microsoft.com/office/drawing/2014/main" id="{DC2CCEC8-7F74-4DB8-9C6F-445993290A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474" y="2721876"/>
            <a:ext cx="5280250" cy="3531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39941" descr="x3-9c">
            <a:extLst>
              <a:ext uri="{FF2B5EF4-FFF2-40B4-BE49-F238E27FC236}">
                <a16:creationId xmlns:a16="http://schemas.microsoft.com/office/drawing/2014/main" id="{73D190C3-C3E9-41A0-B81B-06C04C86DF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2708" y="2721876"/>
            <a:ext cx="5625840" cy="3770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832419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normAutofit fontScale="92500" lnSpcReduction="10000"/>
          </a:bodyPr>
          <a:lstStyle/>
          <a:p>
            <a:pPr>
              <a:lnSpc>
                <a:spcPct val="150000"/>
              </a:lnSpc>
            </a:pPr>
            <a:r>
              <a:rPr lang="zh-CN" altLang="en-US" dirty="0"/>
              <a:t>数据流图</a:t>
            </a:r>
            <a:endParaRPr lang="en-US" altLang="zh-CN" dirty="0"/>
          </a:p>
          <a:p>
            <a:pPr lvl="1">
              <a:lnSpc>
                <a:spcPct val="150000"/>
              </a:lnSpc>
            </a:pPr>
            <a:r>
              <a:rPr lang="zh-CN" altLang="en-US" dirty="0"/>
              <a:t>注意事项</a:t>
            </a:r>
            <a:endParaRPr lang="en-US" altLang="zh-CN" dirty="0"/>
          </a:p>
          <a:p>
            <a:pPr lvl="1">
              <a:lnSpc>
                <a:spcPct val="150000"/>
              </a:lnSpc>
            </a:pPr>
            <a:r>
              <a:rPr lang="en-US" altLang="zh-CN" dirty="0"/>
              <a:t>1</a:t>
            </a:r>
            <a:r>
              <a:rPr lang="zh-CN" altLang="en-US" dirty="0"/>
              <a:t>）数据流图反映系统“做什么”，不反映“如何做”，因此箭头上的数据流名称只能是名词或名词短语，整个图中不反映加工的执行顺序。</a:t>
            </a:r>
            <a:endParaRPr lang="en-US" altLang="zh-CN" dirty="0"/>
          </a:p>
          <a:p>
            <a:pPr lvl="1">
              <a:lnSpc>
                <a:spcPct val="150000"/>
              </a:lnSpc>
            </a:pPr>
            <a:r>
              <a:rPr lang="en-US" altLang="zh-CN" dirty="0"/>
              <a:t>2</a:t>
            </a:r>
            <a:r>
              <a:rPr lang="zh-CN" altLang="en-US" dirty="0"/>
              <a:t>）如果一张数据流图中的某个加工分解成另一张数据流图时，则上层图为父图，直接下层图为子图。子图应编号，子图上的所有加工也应编号，子图的编号就是父图中相应加工的编号</a:t>
            </a:r>
            <a:endParaRPr lang="en-US" altLang="zh-CN" dirty="0"/>
          </a:p>
          <a:p>
            <a:pPr lvl="1">
              <a:lnSpc>
                <a:spcPct val="150000"/>
              </a:lnSpc>
            </a:pPr>
            <a:r>
              <a:rPr lang="en-US" altLang="zh-CN" dirty="0"/>
              <a:t>3</a:t>
            </a:r>
            <a:r>
              <a:rPr lang="zh-CN" altLang="en-US" dirty="0"/>
              <a:t>）子图的输入、输出数据流和父图相应加工的输入、输出数据流必须一致</a:t>
            </a:r>
          </a:p>
        </p:txBody>
      </p:sp>
    </p:spTree>
    <p:extLst>
      <p:ext uri="{BB962C8B-B14F-4D97-AF65-F5344CB8AC3E}">
        <p14:creationId xmlns:p14="http://schemas.microsoft.com/office/powerpoint/2010/main" val="7932308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数据字典</a:t>
            </a:r>
            <a:endParaRPr lang="en-US" altLang="zh-CN" dirty="0"/>
          </a:p>
          <a:p>
            <a:r>
              <a:rPr lang="zh-CN" altLang="en-US" dirty="0"/>
              <a:t>一般说来，数据词典的每个条目中应包括以下信息。</a:t>
            </a:r>
          </a:p>
          <a:p>
            <a:r>
              <a:rPr lang="zh-CN" altLang="en-US" dirty="0"/>
              <a:t>（</a:t>
            </a:r>
            <a:r>
              <a:rPr lang="en-US" altLang="zh-CN" dirty="0"/>
              <a:t>1</a:t>
            </a:r>
            <a:r>
              <a:rPr lang="zh-CN" altLang="en-US" dirty="0"/>
              <a:t>）名字：数据流、数据项、数据存储或外部实体的名称。</a:t>
            </a:r>
          </a:p>
          <a:p>
            <a:r>
              <a:rPr lang="zh-CN" altLang="en-US" dirty="0"/>
              <a:t>（</a:t>
            </a:r>
            <a:r>
              <a:rPr lang="en-US" altLang="zh-CN" dirty="0"/>
              <a:t>2</a:t>
            </a:r>
            <a:r>
              <a:rPr lang="zh-CN" altLang="en-US" dirty="0"/>
              <a:t>）别名或编号：第（</a:t>
            </a:r>
            <a:r>
              <a:rPr lang="en-US" altLang="zh-CN" dirty="0"/>
              <a:t>1</a:t>
            </a:r>
            <a:r>
              <a:rPr lang="zh-CN" altLang="en-US" dirty="0"/>
              <a:t>）项中对象的其他名字。</a:t>
            </a:r>
          </a:p>
          <a:p>
            <a:r>
              <a:rPr lang="zh-CN" altLang="en-US" dirty="0"/>
              <a:t>（</a:t>
            </a:r>
            <a:r>
              <a:rPr lang="en-US" altLang="zh-CN" dirty="0"/>
              <a:t>3</a:t>
            </a:r>
            <a:r>
              <a:rPr lang="zh-CN" altLang="en-US" dirty="0"/>
              <a:t>）分类：数据流、数据项、加工、数据存储、外部实体等。</a:t>
            </a:r>
          </a:p>
          <a:p>
            <a:r>
              <a:rPr lang="zh-CN" altLang="en-US" dirty="0"/>
              <a:t>（</a:t>
            </a:r>
            <a:r>
              <a:rPr lang="en-US" altLang="zh-CN" dirty="0"/>
              <a:t>4</a:t>
            </a:r>
            <a:r>
              <a:rPr lang="zh-CN" altLang="en-US" dirty="0"/>
              <a:t>）内容描述：描述内容或数据结构等。</a:t>
            </a:r>
          </a:p>
          <a:p>
            <a:r>
              <a:rPr lang="zh-CN" altLang="en-US" dirty="0"/>
              <a:t>（</a:t>
            </a:r>
            <a:r>
              <a:rPr lang="en-US" altLang="zh-CN" dirty="0"/>
              <a:t>5</a:t>
            </a:r>
            <a:r>
              <a:rPr lang="zh-CN" altLang="en-US" dirty="0"/>
              <a:t>）何处使用：哪些加工使用该条目。</a:t>
            </a:r>
          </a:p>
          <a:p>
            <a:endParaRPr lang="en-US" altLang="zh-CN" dirty="0"/>
          </a:p>
          <a:p>
            <a:pPr lvl="1"/>
            <a:endParaRPr lang="zh-CN" altLang="en-US" dirty="0"/>
          </a:p>
        </p:txBody>
      </p:sp>
    </p:spTree>
    <p:extLst>
      <p:ext uri="{BB962C8B-B14F-4D97-AF65-F5344CB8AC3E}">
        <p14:creationId xmlns:p14="http://schemas.microsoft.com/office/powerpoint/2010/main" val="17209690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数据字典</a:t>
            </a:r>
            <a:endParaRPr lang="en-US" altLang="zh-CN" dirty="0"/>
          </a:p>
          <a:p>
            <a:endParaRPr lang="en-US" altLang="zh-CN" dirty="0"/>
          </a:p>
          <a:p>
            <a:pPr lvl="1"/>
            <a:endParaRPr lang="zh-CN" altLang="en-US" dirty="0"/>
          </a:p>
        </p:txBody>
      </p:sp>
      <p:pic>
        <p:nvPicPr>
          <p:cNvPr id="4" name="Picture 2">
            <a:extLst>
              <a:ext uri="{FF2B5EF4-FFF2-40B4-BE49-F238E27FC236}">
                <a16:creationId xmlns:a16="http://schemas.microsoft.com/office/drawing/2014/main" id="{D7CB66EA-FD57-4784-A06E-F606BB1865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5157" y="2553446"/>
            <a:ext cx="9367190" cy="393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5703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数据字典</a:t>
            </a:r>
            <a:endParaRPr lang="en-US" altLang="zh-CN" dirty="0"/>
          </a:p>
          <a:p>
            <a:endParaRPr lang="en-US" altLang="zh-CN" dirty="0"/>
          </a:p>
          <a:p>
            <a:pPr lvl="1"/>
            <a:endParaRPr lang="zh-CN" altLang="en-US" dirty="0"/>
          </a:p>
        </p:txBody>
      </p:sp>
      <p:pic>
        <p:nvPicPr>
          <p:cNvPr id="5" name="Picture 2">
            <a:extLst>
              <a:ext uri="{FF2B5EF4-FFF2-40B4-BE49-F238E27FC236}">
                <a16:creationId xmlns:a16="http://schemas.microsoft.com/office/drawing/2014/main" id="{A87A7901-5560-496F-84FF-18FB8A7AB8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639324"/>
            <a:ext cx="8096508" cy="3672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84698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数据字典</a:t>
            </a:r>
            <a:endParaRPr lang="en-US" altLang="zh-CN" dirty="0"/>
          </a:p>
          <a:p>
            <a:endParaRPr lang="en-US" altLang="zh-CN" dirty="0"/>
          </a:p>
          <a:p>
            <a:pPr lvl="1"/>
            <a:endParaRPr lang="zh-CN" altLang="en-US" dirty="0"/>
          </a:p>
        </p:txBody>
      </p:sp>
      <p:pic>
        <p:nvPicPr>
          <p:cNvPr id="6" name="Picture 2">
            <a:extLst>
              <a:ext uri="{FF2B5EF4-FFF2-40B4-BE49-F238E27FC236}">
                <a16:creationId xmlns:a16="http://schemas.microsoft.com/office/drawing/2014/main" id="{C198EC4A-F873-4F1C-B529-57DD3C435D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6682" y="2347383"/>
            <a:ext cx="8011614" cy="1911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a:extLst>
              <a:ext uri="{FF2B5EF4-FFF2-40B4-BE49-F238E27FC236}">
                <a16:creationId xmlns:a16="http://schemas.microsoft.com/office/drawing/2014/main" id="{8E715B1F-4CEE-4B5D-8555-436DBFF7DF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9996" y="4428443"/>
            <a:ext cx="8231468" cy="1883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43436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数据字典</a:t>
            </a:r>
            <a:endParaRPr lang="en-US" altLang="zh-CN" dirty="0"/>
          </a:p>
          <a:p>
            <a:endParaRPr lang="en-US" altLang="zh-CN" dirty="0"/>
          </a:p>
          <a:p>
            <a:pPr lvl="1"/>
            <a:endParaRPr lang="zh-CN" altLang="en-US" dirty="0"/>
          </a:p>
        </p:txBody>
      </p:sp>
      <p:pic>
        <p:nvPicPr>
          <p:cNvPr id="8" name="Picture 2">
            <a:extLst>
              <a:ext uri="{FF2B5EF4-FFF2-40B4-BE49-F238E27FC236}">
                <a16:creationId xmlns:a16="http://schemas.microsoft.com/office/drawing/2014/main" id="{FF68538E-7204-4762-8028-73E7BF1DBC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6109" y="2333011"/>
            <a:ext cx="6199710" cy="4159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10238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结构化语言</a:t>
            </a:r>
            <a:endParaRPr lang="en-US" altLang="zh-CN" dirty="0"/>
          </a:p>
          <a:p>
            <a:pPr lvl="1"/>
            <a:endParaRPr lang="zh-CN" altLang="en-US" dirty="0"/>
          </a:p>
        </p:txBody>
      </p:sp>
      <p:pic>
        <p:nvPicPr>
          <p:cNvPr id="5" name="Picture 2">
            <a:extLst>
              <a:ext uri="{FF2B5EF4-FFF2-40B4-BE49-F238E27FC236}">
                <a16:creationId xmlns:a16="http://schemas.microsoft.com/office/drawing/2014/main" id="{8A4154DE-A11C-490F-A407-2744C075BD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8387" y="681037"/>
            <a:ext cx="5019445" cy="5929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933666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结构化语言</a:t>
            </a:r>
            <a:endParaRPr lang="en-US" altLang="zh-CN" dirty="0"/>
          </a:p>
          <a:p>
            <a:pPr lvl="1"/>
            <a:endParaRPr lang="zh-CN" altLang="en-US" dirty="0"/>
          </a:p>
        </p:txBody>
      </p:sp>
      <p:sp>
        <p:nvSpPr>
          <p:cNvPr id="6" name="文本框 5">
            <a:extLst>
              <a:ext uri="{FF2B5EF4-FFF2-40B4-BE49-F238E27FC236}">
                <a16:creationId xmlns:a16="http://schemas.microsoft.com/office/drawing/2014/main" id="{EA61F1CE-DA94-4F25-A5F1-6F9B64B42AF3}"/>
              </a:ext>
            </a:extLst>
          </p:cNvPr>
          <p:cNvSpPr txBox="1"/>
          <p:nvPr/>
        </p:nvSpPr>
        <p:spPr>
          <a:xfrm>
            <a:off x="701246" y="2416079"/>
            <a:ext cx="9332440" cy="2862322"/>
          </a:xfrm>
          <a:prstGeom prst="rect">
            <a:avLst/>
          </a:prstGeom>
          <a:noFill/>
        </p:spPr>
        <p:txBody>
          <a:bodyPr wrap="square">
            <a:spAutoFit/>
          </a:bodyPr>
          <a:lstStyle/>
          <a:p>
            <a:pPr indent="304800" algn="just">
              <a:lnSpc>
                <a:spcPct val="200000"/>
              </a:lnSpc>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例如，在图书借阅的例子中，可以用下面的选择结构表示：</a:t>
            </a:r>
            <a:endParaRPr lang="zh-CN" altLang="zh-CN" sz="2000" kern="100" dirty="0">
              <a:effectLst/>
              <a:latin typeface="Calibri" panose="020F0502020204030204" pitchFamily="34" charset="0"/>
              <a:ea typeface="宋体" panose="02010600030101010101" pitchFamily="2" charset="-122"/>
              <a:cs typeface="Courier New" panose="02070309020205020404" pitchFamily="49" charset="0"/>
            </a:endParaRPr>
          </a:p>
          <a:p>
            <a:pPr indent="266700" algn="l"/>
            <a:r>
              <a:rPr lang="en-US" altLang="zh-CN" sz="2000" kern="100" dirty="0">
                <a:effectLst/>
                <a:latin typeface="Times New Roman" panose="02020603050405020304" pitchFamily="18" charset="0"/>
                <a:ea typeface="宋体" panose="02010600030101010101" pitchFamily="2" charset="-122"/>
                <a:cs typeface="Courier New" panose="02070309020205020404" pitchFamily="49" charset="0"/>
              </a:rPr>
              <a:t>IF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读者类型</a:t>
            </a:r>
            <a:r>
              <a:rPr lang="en-US" altLang="zh-CN" sz="2000" kern="100" dirty="0">
                <a:effectLst/>
                <a:latin typeface="Times New Roman" panose="02020603050405020304" pitchFamily="18" charset="0"/>
                <a:ea typeface="宋体" panose="02010600030101010101" pitchFamily="2" charset="-122"/>
                <a:cs typeface="Courier New" panose="02070309020205020404" pitchFamily="49" charset="0"/>
              </a:rPr>
              <a:t> =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“学生”</a:t>
            </a:r>
            <a:r>
              <a:rPr lang="en-US" altLang="zh-CN" sz="2000" kern="100" dirty="0">
                <a:effectLst/>
                <a:latin typeface="Times New Roman" panose="02020603050405020304" pitchFamily="18" charset="0"/>
                <a:ea typeface="宋体" panose="02010600030101010101" pitchFamily="2" charset="-122"/>
                <a:cs typeface="Courier New" panose="02070309020205020404" pitchFamily="49" charset="0"/>
              </a:rPr>
              <a:t> THEN</a:t>
            </a:r>
            <a:endParaRPr lang="zh-CN" altLang="zh-CN" sz="2000" kern="100" dirty="0">
              <a:effectLst/>
              <a:latin typeface="Calibri" panose="020F0502020204030204" pitchFamily="34" charset="0"/>
              <a:ea typeface="宋体" panose="02010600030101010101" pitchFamily="2" charset="-122"/>
              <a:cs typeface="Courier New" panose="02070309020205020404" pitchFamily="49" charset="0"/>
            </a:endParaRPr>
          </a:p>
          <a:p>
            <a:pPr indent="266700" algn="l"/>
            <a:r>
              <a:rPr lang="en-US" altLang="zh-CN" sz="2000" kern="100" dirty="0">
                <a:effectLst/>
                <a:latin typeface="Times New Roman" panose="02020603050405020304" pitchFamily="18" charset="0"/>
                <a:ea typeface="宋体" panose="02010600030101010101" pitchFamily="2" charset="-122"/>
                <a:cs typeface="Courier New" panose="02070309020205020404" pitchFamily="49"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借阅上限</a:t>
            </a:r>
            <a:r>
              <a:rPr lang="en-US" altLang="zh-CN" sz="2000" kern="100" dirty="0">
                <a:effectLst/>
                <a:latin typeface="Times New Roman" panose="02020603050405020304" pitchFamily="18" charset="0"/>
                <a:ea typeface="宋体" panose="02010600030101010101" pitchFamily="2" charset="-122"/>
                <a:cs typeface="Courier New" panose="02070309020205020404" pitchFamily="49" charset="0"/>
              </a:rPr>
              <a:t> = 5</a:t>
            </a:r>
            <a:endParaRPr lang="zh-CN" altLang="zh-CN" sz="2000" kern="100" dirty="0">
              <a:effectLst/>
              <a:latin typeface="Calibri" panose="020F0502020204030204" pitchFamily="34" charset="0"/>
              <a:ea typeface="宋体" panose="02010600030101010101" pitchFamily="2" charset="-122"/>
              <a:cs typeface="Courier New" panose="02070309020205020404" pitchFamily="49" charset="0"/>
            </a:endParaRPr>
          </a:p>
          <a:p>
            <a:pPr indent="266700" algn="l"/>
            <a:r>
              <a:rPr lang="en-US" altLang="zh-CN" sz="2000" kern="100" dirty="0">
                <a:effectLst/>
                <a:latin typeface="Times New Roman" panose="02020603050405020304" pitchFamily="18" charset="0"/>
                <a:ea typeface="宋体" panose="02010600030101010101" pitchFamily="2" charset="-122"/>
                <a:cs typeface="Courier New" panose="02070309020205020404" pitchFamily="49" charset="0"/>
              </a:rPr>
              <a:t>ELSE IF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读者类型</a:t>
            </a:r>
            <a:r>
              <a:rPr lang="en-US" altLang="zh-CN" sz="2000" kern="100" dirty="0">
                <a:effectLst/>
                <a:latin typeface="Times New Roman" panose="02020603050405020304" pitchFamily="18" charset="0"/>
                <a:ea typeface="宋体" panose="02010600030101010101" pitchFamily="2" charset="-122"/>
                <a:cs typeface="Courier New" panose="02070309020205020404" pitchFamily="49" charset="0"/>
              </a:rPr>
              <a:t> =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“教师”</a:t>
            </a:r>
            <a:r>
              <a:rPr lang="en-US" altLang="zh-CN" sz="2000" kern="100" dirty="0">
                <a:effectLst/>
                <a:latin typeface="Times New Roman" panose="02020603050405020304" pitchFamily="18" charset="0"/>
                <a:ea typeface="宋体" panose="02010600030101010101" pitchFamily="2" charset="-122"/>
                <a:cs typeface="Courier New" panose="02070309020205020404" pitchFamily="49" charset="0"/>
              </a:rPr>
              <a:t> THEN</a:t>
            </a:r>
            <a:endParaRPr lang="zh-CN" altLang="zh-CN" sz="2000" kern="100" dirty="0">
              <a:effectLst/>
              <a:latin typeface="Calibri" panose="020F0502020204030204" pitchFamily="34" charset="0"/>
              <a:ea typeface="宋体" panose="02010600030101010101" pitchFamily="2" charset="-122"/>
              <a:cs typeface="Courier New" panose="02070309020205020404" pitchFamily="49" charset="0"/>
            </a:endParaRPr>
          </a:p>
          <a:p>
            <a:pPr indent="266700" algn="l"/>
            <a:r>
              <a:rPr lang="en-US" altLang="zh-CN" sz="2000" kern="100" dirty="0">
                <a:effectLst/>
                <a:latin typeface="Times New Roman" panose="02020603050405020304" pitchFamily="18" charset="0"/>
                <a:ea typeface="宋体" panose="02010600030101010101" pitchFamily="2" charset="-122"/>
                <a:cs typeface="Courier New" panose="02070309020205020404" pitchFamily="49"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借阅上限</a:t>
            </a:r>
            <a:r>
              <a:rPr lang="en-US" altLang="zh-CN" sz="2000" kern="100" dirty="0">
                <a:effectLst/>
                <a:latin typeface="Times New Roman" panose="02020603050405020304" pitchFamily="18" charset="0"/>
                <a:ea typeface="宋体" panose="02010600030101010101" pitchFamily="2" charset="-122"/>
                <a:cs typeface="Courier New" panose="02070309020205020404" pitchFamily="49" charset="0"/>
              </a:rPr>
              <a:t> = 10</a:t>
            </a:r>
            <a:endParaRPr lang="zh-CN" altLang="zh-CN" sz="2000" kern="100" dirty="0">
              <a:effectLst/>
              <a:latin typeface="Calibri" panose="020F0502020204030204" pitchFamily="34" charset="0"/>
              <a:ea typeface="宋体" panose="02010600030101010101" pitchFamily="2" charset="-122"/>
              <a:cs typeface="Courier New" panose="02070309020205020404" pitchFamily="49" charset="0"/>
            </a:endParaRPr>
          </a:p>
          <a:p>
            <a:pPr indent="266700" algn="l"/>
            <a:r>
              <a:rPr lang="en-US" altLang="zh-CN" sz="2000" kern="100" dirty="0">
                <a:effectLst/>
                <a:latin typeface="Times New Roman" panose="02020603050405020304" pitchFamily="18" charset="0"/>
                <a:ea typeface="宋体" panose="02010600030101010101" pitchFamily="2" charset="-122"/>
                <a:cs typeface="Courier New" panose="02070309020205020404" pitchFamily="49" charset="0"/>
              </a:rPr>
              <a:t>ELSE</a:t>
            </a:r>
            <a:endParaRPr lang="zh-CN" altLang="zh-CN" sz="2000" kern="100" dirty="0">
              <a:effectLst/>
              <a:latin typeface="Calibri" panose="020F0502020204030204" pitchFamily="34" charset="0"/>
              <a:ea typeface="宋体" panose="02010600030101010101" pitchFamily="2" charset="-122"/>
              <a:cs typeface="Courier New" panose="02070309020205020404" pitchFamily="49" charset="0"/>
            </a:endParaRPr>
          </a:p>
          <a:p>
            <a:pPr indent="266700" algn="l"/>
            <a:r>
              <a:rPr lang="en-US" altLang="zh-CN" sz="2000" kern="100" dirty="0">
                <a:effectLst/>
                <a:latin typeface="Times New Roman" panose="02020603050405020304" pitchFamily="18" charset="0"/>
                <a:ea typeface="宋体" panose="02010600030101010101" pitchFamily="2" charset="-122"/>
                <a:cs typeface="Courier New" panose="02070309020205020404" pitchFamily="49"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借阅上限</a:t>
            </a:r>
            <a:r>
              <a:rPr lang="en-US" altLang="zh-CN" sz="2000" kern="100" dirty="0">
                <a:effectLst/>
                <a:latin typeface="Times New Roman" panose="02020603050405020304" pitchFamily="18" charset="0"/>
                <a:ea typeface="宋体" panose="02010600030101010101" pitchFamily="2" charset="-122"/>
                <a:cs typeface="Courier New" panose="02070309020205020404" pitchFamily="49" charset="0"/>
              </a:rPr>
              <a:t> = 3</a:t>
            </a:r>
            <a:endParaRPr lang="zh-CN" altLang="zh-CN" sz="2000" kern="100" dirty="0">
              <a:effectLst/>
              <a:latin typeface="Calibri" panose="020F0502020204030204" pitchFamily="34" charset="0"/>
              <a:ea typeface="宋体" panose="02010600030101010101" pitchFamily="2" charset="-122"/>
              <a:cs typeface="Courier New" panose="02070309020205020404" pitchFamily="49" charset="0"/>
            </a:endParaRPr>
          </a:p>
          <a:p>
            <a:pPr indent="266700" algn="l"/>
            <a:r>
              <a:rPr lang="en-US" altLang="zh-CN" sz="2000" kern="100" dirty="0">
                <a:effectLst/>
                <a:latin typeface="Times New Roman" panose="02020603050405020304" pitchFamily="18" charset="0"/>
                <a:ea typeface="宋体" panose="02010600030101010101" pitchFamily="2" charset="-122"/>
                <a:cs typeface="Courier New" panose="02070309020205020404" pitchFamily="49" charset="0"/>
              </a:rPr>
              <a:t>ENDIF</a:t>
            </a:r>
            <a:endParaRPr lang="zh-CN" altLang="zh-CN" sz="2000" kern="100" dirty="0">
              <a:effectLst/>
              <a:latin typeface="Calibri" panose="020F0502020204030204" pitchFamily="34" charset="0"/>
              <a:ea typeface="宋体" panose="02010600030101010101" pitchFamily="2" charset="-122"/>
              <a:cs typeface="Courier New" panose="02070309020205020404" pitchFamily="49" charset="0"/>
            </a:endParaRPr>
          </a:p>
        </p:txBody>
      </p:sp>
    </p:spTree>
    <p:extLst>
      <p:ext uri="{BB962C8B-B14F-4D97-AF65-F5344CB8AC3E}">
        <p14:creationId xmlns:p14="http://schemas.microsoft.com/office/powerpoint/2010/main" val="12959059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结构化语言</a:t>
            </a:r>
            <a:endParaRPr lang="en-US" altLang="zh-CN" dirty="0"/>
          </a:p>
          <a:p>
            <a:pPr lvl="1"/>
            <a:endParaRPr lang="zh-CN" altLang="en-US" dirty="0"/>
          </a:p>
        </p:txBody>
      </p:sp>
      <p:sp>
        <p:nvSpPr>
          <p:cNvPr id="6" name="文本框 5">
            <a:extLst>
              <a:ext uri="{FF2B5EF4-FFF2-40B4-BE49-F238E27FC236}">
                <a16:creationId xmlns:a16="http://schemas.microsoft.com/office/drawing/2014/main" id="{EA61F1CE-DA94-4F25-A5F1-6F9B64B42AF3}"/>
              </a:ext>
            </a:extLst>
          </p:cNvPr>
          <p:cNvSpPr txBox="1"/>
          <p:nvPr/>
        </p:nvSpPr>
        <p:spPr>
          <a:xfrm>
            <a:off x="701246" y="2416079"/>
            <a:ext cx="9332440" cy="2351285"/>
          </a:xfrm>
          <a:prstGeom prst="rect">
            <a:avLst/>
          </a:prstGeom>
          <a:noFill/>
        </p:spPr>
        <p:txBody>
          <a:bodyPr wrap="square">
            <a:spAutoFit/>
          </a:bodyPr>
          <a:lstStyle/>
          <a:p>
            <a:pPr indent="304800" algn="l">
              <a:lnSpc>
                <a:spcPct val="150000"/>
              </a:lnSpc>
            </a:pP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在图书馆预约例子中，可以用下面的重复结构表示：</a:t>
            </a:r>
            <a:endParaRPr lang="zh-CN" altLang="zh-CN" sz="2000" kern="100" dirty="0">
              <a:effectLst/>
              <a:latin typeface="Calibri" panose="020F0502020204030204" pitchFamily="34" charset="0"/>
              <a:ea typeface="宋体" panose="02010600030101010101" pitchFamily="2" charset="-122"/>
              <a:cs typeface="Courier New" panose="02070309020205020404" pitchFamily="49" charset="0"/>
            </a:endParaRPr>
          </a:p>
          <a:p>
            <a:pPr indent="266700" algn="l">
              <a:lnSpc>
                <a:spcPct val="150000"/>
              </a:lnSpc>
            </a:pPr>
            <a:r>
              <a:rPr lang="en-US" altLang="zh-CN" sz="2000" kern="100" dirty="0">
                <a:effectLst/>
                <a:latin typeface="Times New Roman" panose="02020603050405020304" pitchFamily="18" charset="0"/>
                <a:ea typeface="宋体" panose="02010600030101010101" pitchFamily="2" charset="-122"/>
                <a:cs typeface="Courier New" panose="02070309020205020404" pitchFamily="49" charset="0"/>
              </a:rPr>
              <a:t>DO WHILE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还有未处理的预约请求</a:t>
            </a:r>
            <a:endParaRPr lang="zh-CN" altLang="zh-CN" sz="2000" kern="100" dirty="0">
              <a:effectLst/>
              <a:latin typeface="Calibri" panose="020F0502020204030204" pitchFamily="34" charset="0"/>
              <a:ea typeface="宋体" panose="02010600030101010101" pitchFamily="2" charset="-122"/>
              <a:cs typeface="Courier New" panose="02070309020205020404" pitchFamily="49" charset="0"/>
            </a:endParaRPr>
          </a:p>
          <a:p>
            <a:pPr indent="266700" algn="l">
              <a:lnSpc>
                <a:spcPct val="150000"/>
              </a:lnSpc>
            </a:pPr>
            <a:r>
              <a:rPr lang="en-US" altLang="zh-CN" sz="2000" kern="100" dirty="0">
                <a:effectLst/>
                <a:latin typeface="Times New Roman" panose="02020603050405020304" pitchFamily="18" charset="0"/>
                <a:ea typeface="宋体" panose="02010600030101010101" pitchFamily="2" charset="-122"/>
                <a:cs typeface="Courier New" panose="02070309020205020404" pitchFamily="49"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发送预约到馆通知</a:t>
            </a:r>
            <a:endParaRPr lang="zh-CN" altLang="zh-CN" sz="2000" kern="100" dirty="0">
              <a:effectLst/>
              <a:latin typeface="Calibri" panose="020F0502020204030204" pitchFamily="34" charset="0"/>
              <a:ea typeface="宋体" panose="02010600030101010101" pitchFamily="2" charset="-122"/>
              <a:cs typeface="Courier New" panose="02070309020205020404" pitchFamily="49" charset="0"/>
            </a:endParaRPr>
          </a:p>
          <a:p>
            <a:pPr indent="266700" algn="l">
              <a:lnSpc>
                <a:spcPct val="150000"/>
              </a:lnSpc>
            </a:pPr>
            <a:r>
              <a:rPr lang="en-US" altLang="zh-CN" sz="2000" kern="100" dirty="0">
                <a:effectLst/>
                <a:latin typeface="Times New Roman" panose="02020603050405020304" pitchFamily="18" charset="0"/>
                <a:ea typeface="宋体" panose="02010600030101010101" pitchFamily="2" charset="-122"/>
                <a:cs typeface="Courier New" panose="02070309020205020404" pitchFamily="49" charset="0"/>
              </a:rPr>
              <a:t>    </a:t>
            </a:r>
            <a:r>
              <a:rPr lang="zh-CN"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更新预约状态为“已通知”</a:t>
            </a:r>
            <a:endParaRPr lang="zh-CN" altLang="zh-CN" sz="2000" kern="100" dirty="0">
              <a:effectLst/>
              <a:latin typeface="Calibri" panose="020F0502020204030204" pitchFamily="34" charset="0"/>
              <a:ea typeface="宋体" panose="02010600030101010101" pitchFamily="2" charset="-122"/>
              <a:cs typeface="Courier New" panose="02070309020205020404" pitchFamily="49" charset="0"/>
            </a:endParaRPr>
          </a:p>
          <a:p>
            <a:pPr indent="266700" algn="l">
              <a:lnSpc>
                <a:spcPct val="150000"/>
              </a:lnSpc>
            </a:pPr>
            <a:r>
              <a:rPr lang="en-US" altLang="zh-CN" sz="2000" kern="100" dirty="0">
                <a:effectLst/>
                <a:latin typeface="Times New Roman" panose="02020603050405020304" pitchFamily="18" charset="0"/>
                <a:ea typeface="宋体" panose="02010600030101010101" pitchFamily="2" charset="-122"/>
                <a:cs typeface="Courier New" panose="02070309020205020404" pitchFamily="49" charset="0"/>
              </a:rPr>
              <a:t>ENDDO</a:t>
            </a:r>
            <a:endParaRPr lang="zh-CN" altLang="zh-CN" sz="2000" kern="100" dirty="0">
              <a:effectLst/>
              <a:latin typeface="Calibri" panose="020F0502020204030204" pitchFamily="34" charset="0"/>
              <a:ea typeface="宋体" panose="02010600030101010101" pitchFamily="2" charset="-122"/>
              <a:cs typeface="Courier New" panose="02070309020205020404" pitchFamily="49" charset="0"/>
            </a:endParaRPr>
          </a:p>
        </p:txBody>
      </p:sp>
    </p:spTree>
    <p:extLst>
      <p:ext uri="{BB962C8B-B14F-4D97-AF65-F5344CB8AC3E}">
        <p14:creationId xmlns:p14="http://schemas.microsoft.com/office/powerpoint/2010/main" val="37412281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判定表</a:t>
            </a:r>
            <a:endParaRPr lang="en-US" altLang="zh-CN" dirty="0"/>
          </a:p>
          <a:p>
            <a:pPr lvl="1"/>
            <a:endParaRPr lang="zh-CN" altLang="en-US" dirty="0"/>
          </a:p>
        </p:txBody>
      </p:sp>
      <p:pic>
        <p:nvPicPr>
          <p:cNvPr id="6" name="Picture 2">
            <a:extLst>
              <a:ext uri="{FF2B5EF4-FFF2-40B4-BE49-F238E27FC236}">
                <a16:creationId xmlns:a16="http://schemas.microsoft.com/office/drawing/2014/main" id="{B8725F5D-A8B4-4355-84C4-AE61F73448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0664" y="2352401"/>
            <a:ext cx="6890672" cy="2392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38412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判定表</a:t>
            </a:r>
            <a:endParaRPr lang="en-US" altLang="zh-CN" dirty="0"/>
          </a:p>
          <a:p>
            <a:pPr lvl="1"/>
            <a:endParaRPr lang="zh-CN" altLang="en-US" dirty="0"/>
          </a:p>
        </p:txBody>
      </p:sp>
      <p:sp>
        <p:nvSpPr>
          <p:cNvPr id="6" name="文本框 5">
            <a:extLst>
              <a:ext uri="{FF2B5EF4-FFF2-40B4-BE49-F238E27FC236}">
                <a16:creationId xmlns:a16="http://schemas.microsoft.com/office/drawing/2014/main" id="{EA61F1CE-DA94-4F25-A5F1-6F9B64B42AF3}"/>
              </a:ext>
            </a:extLst>
          </p:cNvPr>
          <p:cNvSpPr txBox="1"/>
          <p:nvPr/>
        </p:nvSpPr>
        <p:spPr>
          <a:xfrm>
            <a:off x="701245" y="2416078"/>
            <a:ext cx="10839965" cy="2342244"/>
          </a:xfrm>
          <a:prstGeom prst="rect">
            <a:avLst/>
          </a:prstGeom>
          <a:noFill/>
        </p:spPr>
        <p:txBody>
          <a:bodyPr wrap="square">
            <a:spAutoFit/>
          </a:bodyPr>
          <a:lstStyle/>
          <a:p>
            <a:pPr indent="304800" algn="l">
              <a:lnSpc>
                <a:spcPct val="150000"/>
              </a:lnSpc>
            </a:pP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某数据流图中有一个“确定保险类别”的加工，指的是申请汽车驾驶保险时，要根据申请者的情况确定不同的保险类别。加工逻辑为：如果申请者的年龄在</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21</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岁以下，要额外收费；如果申请者是</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21</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岁以上并是</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26</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岁以下的女性，适用于</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类保险；如果申请者是</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26</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岁以下的已婚男性，或者是</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26</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岁以上的男性，适用于</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类保险；如果申请者是</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21</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岁以下的女性或是</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26</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岁以下的单身男性，适用于</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类保险。除此之外的其他申请者都适用于</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类保险。</a:t>
            </a:r>
          </a:p>
        </p:txBody>
      </p:sp>
    </p:spTree>
    <p:extLst>
      <p:ext uri="{BB962C8B-B14F-4D97-AF65-F5344CB8AC3E}">
        <p14:creationId xmlns:p14="http://schemas.microsoft.com/office/powerpoint/2010/main" val="31983992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判定表</a:t>
            </a:r>
            <a:endParaRPr lang="en-US" altLang="zh-CN" dirty="0"/>
          </a:p>
          <a:p>
            <a:pPr lvl="1"/>
            <a:endParaRPr lang="zh-CN" altLang="en-US" dirty="0"/>
          </a:p>
        </p:txBody>
      </p:sp>
      <p:sp>
        <p:nvSpPr>
          <p:cNvPr id="6" name="文本框 5">
            <a:extLst>
              <a:ext uri="{FF2B5EF4-FFF2-40B4-BE49-F238E27FC236}">
                <a16:creationId xmlns:a16="http://schemas.microsoft.com/office/drawing/2014/main" id="{EA61F1CE-DA94-4F25-A5F1-6F9B64B42AF3}"/>
              </a:ext>
            </a:extLst>
          </p:cNvPr>
          <p:cNvSpPr txBox="1"/>
          <p:nvPr/>
        </p:nvSpPr>
        <p:spPr>
          <a:xfrm>
            <a:off x="701245" y="2416078"/>
            <a:ext cx="10839965" cy="1668214"/>
          </a:xfrm>
          <a:prstGeom prst="rect">
            <a:avLst/>
          </a:prstGeom>
          <a:noFill/>
        </p:spPr>
        <p:txBody>
          <a:bodyPr wrap="square">
            <a:spAutoFit/>
          </a:bodyPr>
          <a:lstStyle/>
          <a:p>
            <a:pPr indent="266700" algn="just">
              <a:lnSpc>
                <a:spcPct val="200000"/>
              </a:lnSpc>
            </a:pP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提取问题中的条件。条件是年龄、性别及婚姻。</a:t>
            </a:r>
            <a:endParaRPr lang="zh-CN" altLang="zh-CN" sz="1800" kern="100" dirty="0">
              <a:effectLst/>
              <a:latin typeface="Calibri" panose="020F0502020204030204" pitchFamily="34" charset="0"/>
              <a:ea typeface="宋体" panose="02010600030101010101" pitchFamily="2" charset="-122"/>
              <a:cs typeface="Courier New" panose="02070309020205020404" pitchFamily="49" charset="0"/>
            </a:endParaRPr>
          </a:p>
          <a:p>
            <a:pPr indent="266700" algn="just">
              <a:lnSpc>
                <a:spcPct val="200000"/>
              </a:lnSpc>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Courier New" panose="02070309020205020404" pitchFamily="49" charset="0"/>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）标出条件的取值。如表</a:t>
            </a:r>
            <a:r>
              <a:rPr lang="en-US" altLang="zh-CN" sz="1800" kern="100" dirty="0">
                <a:effectLst/>
                <a:latin typeface="Times New Roman" panose="02020603050405020304" pitchFamily="18" charset="0"/>
                <a:ea typeface="宋体" panose="02010600030101010101" pitchFamily="2" charset="-122"/>
                <a:cs typeface="Courier New" panose="02070309020205020404" pitchFamily="49" charset="0"/>
              </a:rPr>
              <a:t>3-3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所示，用符号代替条件的取值。</a:t>
            </a:r>
            <a:endParaRPr lang="zh-CN" altLang="zh-CN" sz="1800" kern="100" dirty="0">
              <a:effectLst/>
              <a:latin typeface="Calibri" panose="020F0502020204030204" pitchFamily="34" charset="0"/>
              <a:ea typeface="宋体" panose="02010600030101010101" pitchFamily="2" charset="-122"/>
              <a:cs typeface="Courier New" panose="02070309020205020404" pitchFamily="49" charset="0"/>
            </a:endParaRPr>
          </a:p>
          <a:p>
            <a:pPr indent="304800" algn="l">
              <a:lnSpc>
                <a:spcPct val="150000"/>
              </a:lnSpc>
            </a:pPr>
            <a:endParaRPr lang="zh-CN" altLang="en-US" sz="20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 name="表格 3">
            <a:extLst>
              <a:ext uri="{FF2B5EF4-FFF2-40B4-BE49-F238E27FC236}">
                <a16:creationId xmlns:a16="http://schemas.microsoft.com/office/drawing/2014/main" id="{16B3D219-8C89-4F72-8205-C68475D43B1F}"/>
              </a:ext>
            </a:extLst>
          </p:cNvPr>
          <p:cNvGraphicFramePr>
            <a:graphicFrameLocks noGrp="1"/>
          </p:cNvGraphicFramePr>
          <p:nvPr>
            <p:extLst>
              <p:ext uri="{D42A27DB-BD31-4B8C-83A1-F6EECF244321}">
                <p14:modId xmlns:p14="http://schemas.microsoft.com/office/powerpoint/2010/main" val="1480532171"/>
              </p:ext>
            </p:extLst>
          </p:nvPr>
        </p:nvGraphicFramePr>
        <p:xfrm>
          <a:off x="1729946" y="3718896"/>
          <a:ext cx="7463481" cy="2879611"/>
        </p:xfrm>
        <a:graphic>
          <a:graphicData uri="http://schemas.openxmlformats.org/drawingml/2006/table">
            <a:tbl>
              <a:tblPr>
                <a:tableStyleId>{5C22544A-7EE6-4342-B048-85BDC9FD1C3A}</a:tableStyleId>
              </a:tblPr>
              <a:tblGrid>
                <a:gridCol w="1545145">
                  <a:extLst>
                    <a:ext uri="{9D8B030D-6E8A-4147-A177-3AD203B41FA5}">
                      <a16:colId xmlns:a16="http://schemas.microsoft.com/office/drawing/2014/main" val="2700711764"/>
                    </a:ext>
                  </a:extLst>
                </a:gridCol>
                <a:gridCol w="2369359">
                  <a:extLst>
                    <a:ext uri="{9D8B030D-6E8A-4147-A177-3AD203B41FA5}">
                      <a16:colId xmlns:a16="http://schemas.microsoft.com/office/drawing/2014/main" val="4077728395"/>
                    </a:ext>
                  </a:extLst>
                </a:gridCol>
                <a:gridCol w="1822585">
                  <a:extLst>
                    <a:ext uri="{9D8B030D-6E8A-4147-A177-3AD203B41FA5}">
                      <a16:colId xmlns:a16="http://schemas.microsoft.com/office/drawing/2014/main" val="424670521"/>
                    </a:ext>
                  </a:extLst>
                </a:gridCol>
                <a:gridCol w="1726392">
                  <a:extLst>
                    <a:ext uri="{9D8B030D-6E8A-4147-A177-3AD203B41FA5}">
                      <a16:colId xmlns:a16="http://schemas.microsoft.com/office/drawing/2014/main" val="4050483685"/>
                    </a:ext>
                  </a:extLst>
                </a:gridCol>
              </a:tblGrid>
              <a:tr h="348116">
                <a:tc>
                  <a:txBody>
                    <a:bodyPr/>
                    <a:lstStyle/>
                    <a:p>
                      <a:pPr indent="266700" algn="ctr">
                        <a:lnSpc>
                          <a:spcPct val="100000"/>
                        </a:lnSpc>
                      </a:pPr>
                      <a:r>
                        <a:rPr lang="zh-CN" sz="2000" kern="100" dirty="0">
                          <a:effectLst/>
                        </a:rPr>
                        <a:t>条件名</a:t>
                      </a:r>
                      <a:endParaRPr lang="zh-CN" sz="20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lnSpc>
                          <a:spcPct val="100000"/>
                        </a:lnSpc>
                      </a:pPr>
                      <a:r>
                        <a:rPr lang="zh-CN" sz="2000" kern="100">
                          <a:effectLst/>
                        </a:rPr>
                        <a:t>取</a:t>
                      </a:r>
                      <a:r>
                        <a:rPr lang="en-US" sz="2000" kern="100">
                          <a:effectLst/>
                        </a:rPr>
                        <a:t>  </a:t>
                      </a:r>
                      <a:r>
                        <a:rPr lang="zh-CN" sz="2000" kern="100">
                          <a:effectLst/>
                        </a:rPr>
                        <a:t>值</a:t>
                      </a:r>
                      <a:endParaRPr lang="zh-CN" sz="20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lnSpc>
                          <a:spcPct val="100000"/>
                        </a:lnSpc>
                      </a:pPr>
                      <a:r>
                        <a:rPr lang="zh-CN" sz="2000" kern="100">
                          <a:effectLst/>
                        </a:rPr>
                        <a:t>符</a:t>
                      </a:r>
                      <a:r>
                        <a:rPr lang="en-US" sz="2000" kern="100">
                          <a:effectLst/>
                        </a:rPr>
                        <a:t>  </a:t>
                      </a:r>
                      <a:r>
                        <a:rPr lang="zh-CN" sz="2000" kern="100">
                          <a:effectLst/>
                        </a:rPr>
                        <a:t>号</a:t>
                      </a:r>
                      <a:endParaRPr lang="zh-CN" sz="20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lnSpc>
                          <a:spcPct val="100000"/>
                        </a:lnSpc>
                      </a:pPr>
                      <a:r>
                        <a:rPr lang="zh-CN" sz="2000" kern="100">
                          <a:effectLst/>
                        </a:rPr>
                        <a:t>取值数</a:t>
                      </a:r>
                      <a:r>
                        <a:rPr lang="en-US" sz="2000" kern="100">
                          <a:effectLst/>
                        </a:rPr>
                        <a:t>m</a:t>
                      </a:r>
                      <a:endParaRPr lang="zh-CN" sz="20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1989456461"/>
                  </a:ext>
                </a:extLst>
              </a:tr>
              <a:tr h="1091689">
                <a:tc>
                  <a:txBody>
                    <a:bodyPr/>
                    <a:lstStyle/>
                    <a:p>
                      <a:pPr indent="266700" algn="ctr">
                        <a:lnSpc>
                          <a:spcPct val="100000"/>
                        </a:lnSpc>
                      </a:pPr>
                      <a:r>
                        <a:rPr lang="zh-CN" sz="2000" kern="100">
                          <a:effectLst/>
                        </a:rPr>
                        <a:t>年龄</a:t>
                      </a:r>
                      <a:endParaRPr lang="zh-CN" sz="20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lnSpc>
                          <a:spcPct val="100000"/>
                        </a:lnSpc>
                      </a:pPr>
                      <a:r>
                        <a:rPr lang="zh-CN" sz="2000" kern="100" dirty="0">
                          <a:effectLst/>
                        </a:rPr>
                        <a:t>年龄≤</a:t>
                      </a:r>
                      <a:r>
                        <a:rPr lang="en-US" sz="2000" kern="100" dirty="0">
                          <a:effectLst/>
                        </a:rPr>
                        <a:t>21</a:t>
                      </a:r>
                      <a:endParaRPr lang="zh-CN" sz="2000" kern="100" dirty="0">
                        <a:effectLst/>
                      </a:endParaRPr>
                    </a:p>
                    <a:p>
                      <a:pPr indent="266700" algn="ctr">
                        <a:lnSpc>
                          <a:spcPct val="100000"/>
                        </a:lnSpc>
                      </a:pPr>
                      <a:r>
                        <a:rPr lang="en-US" sz="2000" kern="100" dirty="0">
                          <a:effectLst/>
                        </a:rPr>
                        <a:t>21</a:t>
                      </a:r>
                      <a:r>
                        <a:rPr lang="zh-CN" sz="2000" kern="100" dirty="0">
                          <a:effectLst/>
                        </a:rPr>
                        <a:t>＜年龄≤</a:t>
                      </a:r>
                      <a:r>
                        <a:rPr lang="en-US" sz="2000" kern="100" dirty="0">
                          <a:effectLst/>
                        </a:rPr>
                        <a:t>26</a:t>
                      </a:r>
                      <a:endParaRPr lang="zh-CN" sz="2000" kern="100" dirty="0">
                        <a:effectLst/>
                      </a:endParaRPr>
                    </a:p>
                    <a:p>
                      <a:pPr indent="266700" algn="ctr">
                        <a:lnSpc>
                          <a:spcPct val="100000"/>
                        </a:lnSpc>
                      </a:pPr>
                      <a:r>
                        <a:rPr lang="zh-CN" sz="2000" kern="100" dirty="0">
                          <a:effectLst/>
                        </a:rPr>
                        <a:t>年龄＞</a:t>
                      </a:r>
                      <a:r>
                        <a:rPr lang="en-US" sz="2000" kern="100" dirty="0">
                          <a:effectLst/>
                        </a:rPr>
                        <a:t>26</a:t>
                      </a:r>
                      <a:endParaRPr lang="zh-CN" sz="20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lnSpc>
                          <a:spcPct val="100000"/>
                        </a:lnSpc>
                      </a:pPr>
                      <a:r>
                        <a:rPr lang="en-US" sz="2000" kern="100">
                          <a:effectLst/>
                        </a:rPr>
                        <a:t>C</a:t>
                      </a:r>
                      <a:endParaRPr lang="zh-CN" sz="2000" kern="100">
                        <a:effectLst/>
                      </a:endParaRPr>
                    </a:p>
                    <a:p>
                      <a:pPr indent="266700" algn="ctr">
                        <a:lnSpc>
                          <a:spcPct val="100000"/>
                        </a:lnSpc>
                      </a:pPr>
                      <a:r>
                        <a:rPr lang="en-US" sz="2000" kern="100">
                          <a:effectLst/>
                        </a:rPr>
                        <a:t>Y</a:t>
                      </a:r>
                      <a:endParaRPr lang="zh-CN" sz="2000" kern="100">
                        <a:effectLst/>
                      </a:endParaRPr>
                    </a:p>
                    <a:p>
                      <a:pPr indent="266700" algn="ctr">
                        <a:lnSpc>
                          <a:spcPct val="100000"/>
                        </a:lnSpc>
                      </a:pPr>
                      <a:r>
                        <a:rPr lang="en-US" sz="2000" kern="100">
                          <a:effectLst/>
                        </a:rPr>
                        <a:t>L</a:t>
                      </a:r>
                      <a:endParaRPr lang="zh-CN" sz="20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lnSpc>
                          <a:spcPct val="100000"/>
                        </a:lnSpc>
                      </a:pPr>
                      <a:r>
                        <a:rPr lang="en-US" sz="2000" kern="100">
                          <a:effectLst/>
                        </a:rPr>
                        <a:t>m</a:t>
                      </a:r>
                      <a:r>
                        <a:rPr lang="en-US" sz="2000" kern="100" baseline="-25000">
                          <a:effectLst/>
                        </a:rPr>
                        <a:t>1</a:t>
                      </a:r>
                      <a:r>
                        <a:rPr lang="zh-CN" sz="2000" kern="100" baseline="-25000">
                          <a:effectLst/>
                        </a:rPr>
                        <a:t> </a:t>
                      </a:r>
                      <a:r>
                        <a:rPr lang="en-US" sz="2000" kern="100">
                          <a:effectLst/>
                        </a:rPr>
                        <a:t>=</a:t>
                      </a:r>
                      <a:r>
                        <a:rPr lang="zh-CN" sz="2000" kern="100">
                          <a:effectLst/>
                        </a:rPr>
                        <a:t> </a:t>
                      </a:r>
                      <a:r>
                        <a:rPr lang="en-US" sz="2000" kern="100">
                          <a:effectLst/>
                        </a:rPr>
                        <a:t>3</a:t>
                      </a:r>
                      <a:endParaRPr lang="zh-CN" sz="20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2972444545"/>
                  </a:ext>
                </a:extLst>
              </a:tr>
              <a:tr h="719903">
                <a:tc>
                  <a:txBody>
                    <a:bodyPr/>
                    <a:lstStyle/>
                    <a:p>
                      <a:pPr indent="266700" algn="ctr">
                        <a:lnSpc>
                          <a:spcPct val="100000"/>
                        </a:lnSpc>
                      </a:pPr>
                      <a:r>
                        <a:rPr lang="zh-CN" sz="2000" kern="100">
                          <a:effectLst/>
                        </a:rPr>
                        <a:t>性别</a:t>
                      </a:r>
                      <a:endParaRPr lang="zh-CN" sz="20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lnSpc>
                          <a:spcPct val="100000"/>
                        </a:lnSpc>
                      </a:pPr>
                      <a:r>
                        <a:rPr lang="zh-CN" sz="2000" kern="100">
                          <a:effectLst/>
                        </a:rPr>
                        <a:t>男</a:t>
                      </a:r>
                    </a:p>
                    <a:p>
                      <a:pPr indent="266700" algn="ctr">
                        <a:lnSpc>
                          <a:spcPct val="100000"/>
                        </a:lnSpc>
                      </a:pPr>
                      <a:r>
                        <a:rPr lang="zh-CN" sz="2000" kern="100">
                          <a:effectLst/>
                        </a:rPr>
                        <a:t>女</a:t>
                      </a:r>
                      <a:endParaRPr lang="zh-CN" sz="20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lnSpc>
                          <a:spcPct val="100000"/>
                        </a:lnSpc>
                      </a:pPr>
                      <a:r>
                        <a:rPr lang="en-US" sz="2000" kern="100" dirty="0">
                          <a:effectLst/>
                        </a:rPr>
                        <a:t>M</a:t>
                      </a:r>
                      <a:endParaRPr lang="zh-CN" sz="2000" kern="100" dirty="0">
                        <a:effectLst/>
                      </a:endParaRPr>
                    </a:p>
                    <a:p>
                      <a:pPr indent="266700" algn="ctr">
                        <a:lnSpc>
                          <a:spcPct val="100000"/>
                        </a:lnSpc>
                      </a:pPr>
                      <a:r>
                        <a:rPr lang="en-US" sz="2000" kern="100" dirty="0">
                          <a:effectLst/>
                        </a:rPr>
                        <a:t>F</a:t>
                      </a:r>
                      <a:endParaRPr lang="zh-CN" sz="20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lnSpc>
                          <a:spcPct val="100000"/>
                        </a:lnSpc>
                      </a:pPr>
                      <a:r>
                        <a:rPr lang="en-US" sz="2000" kern="100">
                          <a:effectLst/>
                        </a:rPr>
                        <a:t>m</a:t>
                      </a:r>
                      <a:r>
                        <a:rPr lang="en-US" sz="2000" kern="100" baseline="-25000">
                          <a:effectLst/>
                        </a:rPr>
                        <a:t>2</a:t>
                      </a:r>
                      <a:r>
                        <a:rPr lang="zh-CN" sz="2000" kern="100" baseline="-25000">
                          <a:effectLst/>
                        </a:rPr>
                        <a:t> </a:t>
                      </a:r>
                      <a:r>
                        <a:rPr lang="en-US" sz="2000" kern="100">
                          <a:effectLst/>
                        </a:rPr>
                        <a:t>=</a:t>
                      </a:r>
                      <a:r>
                        <a:rPr lang="zh-CN" sz="2000" kern="100">
                          <a:effectLst/>
                        </a:rPr>
                        <a:t> </a:t>
                      </a:r>
                      <a:r>
                        <a:rPr lang="en-US" sz="2000" kern="100">
                          <a:effectLst/>
                        </a:rPr>
                        <a:t>2</a:t>
                      </a:r>
                      <a:endParaRPr lang="zh-CN" sz="20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3223635275"/>
                  </a:ext>
                </a:extLst>
              </a:tr>
              <a:tr h="719903">
                <a:tc>
                  <a:txBody>
                    <a:bodyPr/>
                    <a:lstStyle/>
                    <a:p>
                      <a:pPr indent="266700" algn="ctr">
                        <a:lnSpc>
                          <a:spcPct val="100000"/>
                        </a:lnSpc>
                      </a:pPr>
                      <a:r>
                        <a:rPr lang="zh-CN" sz="2000" kern="100">
                          <a:effectLst/>
                        </a:rPr>
                        <a:t>婚姻</a:t>
                      </a:r>
                      <a:endParaRPr lang="zh-CN" sz="20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lnSpc>
                          <a:spcPct val="100000"/>
                        </a:lnSpc>
                      </a:pPr>
                      <a:r>
                        <a:rPr lang="zh-CN" sz="2000" kern="100">
                          <a:effectLst/>
                        </a:rPr>
                        <a:t>未婚</a:t>
                      </a:r>
                    </a:p>
                    <a:p>
                      <a:pPr indent="266700" algn="ctr">
                        <a:lnSpc>
                          <a:spcPct val="100000"/>
                        </a:lnSpc>
                      </a:pPr>
                      <a:r>
                        <a:rPr lang="zh-CN" sz="2000" kern="100">
                          <a:effectLst/>
                        </a:rPr>
                        <a:t>已婚</a:t>
                      </a:r>
                      <a:endParaRPr lang="zh-CN" sz="20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lnSpc>
                          <a:spcPct val="100000"/>
                        </a:lnSpc>
                      </a:pPr>
                      <a:r>
                        <a:rPr lang="en-US" sz="2000" kern="100" dirty="0">
                          <a:effectLst/>
                        </a:rPr>
                        <a:t>S</a:t>
                      </a:r>
                      <a:endParaRPr lang="zh-CN" sz="2000" kern="100" dirty="0">
                        <a:effectLst/>
                      </a:endParaRPr>
                    </a:p>
                    <a:p>
                      <a:pPr indent="266700" algn="ctr">
                        <a:lnSpc>
                          <a:spcPct val="100000"/>
                        </a:lnSpc>
                      </a:pPr>
                      <a:r>
                        <a:rPr lang="en-US" sz="2000" kern="100" dirty="0">
                          <a:effectLst/>
                        </a:rPr>
                        <a:t>E</a:t>
                      </a:r>
                      <a:endParaRPr lang="zh-CN" sz="20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ctr">
                        <a:lnSpc>
                          <a:spcPct val="100000"/>
                        </a:lnSpc>
                      </a:pPr>
                      <a:r>
                        <a:rPr lang="en-US" sz="2000" kern="100" dirty="0">
                          <a:effectLst/>
                        </a:rPr>
                        <a:t>m</a:t>
                      </a:r>
                      <a:r>
                        <a:rPr lang="en-US" sz="2000" kern="100" baseline="-25000" dirty="0">
                          <a:effectLst/>
                        </a:rPr>
                        <a:t>3</a:t>
                      </a:r>
                      <a:r>
                        <a:rPr lang="zh-CN" sz="2000" kern="100" baseline="-25000" dirty="0">
                          <a:effectLst/>
                        </a:rPr>
                        <a:t> </a:t>
                      </a:r>
                      <a:r>
                        <a:rPr lang="en-US" sz="2000" kern="100" dirty="0">
                          <a:effectLst/>
                        </a:rPr>
                        <a:t>=</a:t>
                      </a:r>
                      <a:r>
                        <a:rPr lang="zh-CN" sz="2000" kern="100" dirty="0">
                          <a:effectLst/>
                        </a:rPr>
                        <a:t> </a:t>
                      </a:r>
                      <a:r>
                        <a:rPr lang="en-US" sz="2000" kern="100" dirty="0">
                          <a:effectLst/>
                        </a:rPr>
                        <a:t>2</a:t>
                      </a:r>
                      <a:endParaRPr lang="zh-CN" sz="20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1382186962"/>
                  </a:ext>
                </a:extLst>
              </a:tr>
            </a:tbl>
          </a:graphicData>
        </a:graphic>
      </p:graphicFrame>
    </p:spTree>
    <p:extLst>
      <p:ext uri="{BB962C8B-B14F-4D97-AF65-F5344CB8AC3E}">
        <p14:creationId xmlns:p14="http://schemas.microsoft.com/office/powerpoint/2010/main" val="34694872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判定表</a:t>
            </a:r>
            <a:endParaRPr lang="en-US" altLang="zh-CN" dirty="0"/>
          </a:p>
          <a:p>
            <a:pPr lvl="1"/>
            <a:endParaRPr lang="zh-CN" altLang="en-US"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A61F1CE-DA94-4F25-A5F1-6F9B64B42AF3}"/>
                  </a:ext>
                </a:extLst>
              </p:cNvPr>
              <p:cNvSpPr txBox="1"/>
              <p:nvPr/>
            </p:nvSpPr>
            <p:spPr>
              <a:xfrm>
                <a:off x="701245" y="2416078"/>
                <a:ext cx="10839965" cy="2221121"/>
              </a:xfrm>
              <a:prstGeom prst="rect">
                <a:avLst/>
              </a:prstGeom>
              <a:noFill/>
            </p:spPr>
            <p:txBody>
              <a:bodyPr wrap="square">
                <a:spAutoFit/>
              </a:bodyPr>
              <a:lstStyle/>
              <a:p>
                <a:pPr indent="266700" algn="just">
                  <a:lnSpc>
                    <a:spcPct val="200000"/>
                  </a:lnSpc>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Courier New" panose="02070309020205020404" pitchFamily="49" charset="0"/>
                  </a:rPr>
                  <a:t>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）计算所有条件的组合数</a:t>
                </a:r>
                <a14:m>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𝑁</m:t>
                    </m:r>
                  </m:oMath>
                </a14:m>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Calibri" panose="020F0502020204030204" pitchFamily="34" charset="0"/>
                  <a:ea typeface="宋体" panose="02010600030101010101" pitchFamily="2" charset="-122"/>
                  <a:cs typeface="Courier New" panose="02070309020205020404" pitchFamily="49" charset="0"/>
                </a:endParaRPr>
              </a:p>
              <a:p>
                <a:pPr indent="266700" algn="just">
                  <a:lnSpc>
                    <a:spcPct val="200000"/>
                  </a:lnSpc>
                </a:pPr>
                <a:endParaRPr lang="zh-CN" altLang="zh-CN" sz="1800" kern="100" dirty="0">
                  <a:effectLst/>
                  <a:latin typeface="Calibri" panose="020F0502020204030204" pitchFamily="34" charset="0"/>
                  <a:ea typeface="宋体" panose="02010600030101010101" pitchFamily="2" charset="-122"/>
                  <a:cs typeface="Courier New" panose="02070309020205020404" pitchFamily="49" charset="0"/>
                </a:endParaRPr>
              </a:p>
              <a:p>
                <a:pPr indent="266700" algn="just">
                  <a:lnSpc>
                    <a:spcPct val="200000"/>
                  </a:lnSpc>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lnSpc>
                    <a:spcPct val="200000"/>
                  </a:lnSpc>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4</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提取可能采取的动作或措施。这些措施要适用于</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类保险、</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类保险、</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类保险和额外收费。</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EA61F1CE-DA94-4F25-A5F1-6F9B64B42AF3}"/>
                  </a:ext>
                </a:extLst>
              </p:cNvPr>
              <p:cNvSpPr txBox="1">
                <a:spLocks noRot="1" noChangeAspect="1" noMove="1" noResize="1" noEditPoints="1" noAdjustHandles="1" noChangeArrowheads="1" noChangeShapeType="1" noTextEdit="1"/>
              </p:cNvSpPr>
              <p:nvPr/>
            </p:nvSpPr>
            <p:spPr>
              <a:xfrm>
                <a:off x="701245" y="2416078"/>
                <a:ext cx="10839965" cy="2221121"/>
              </a:xfrm>
              <a:prstGeom prst="rect">
                <a:avLst/>
              </a:prstGeom>
              <a:blipFill>
                <a:blip r:embed="rId2"/>
                <a:stretch>
                  <a:fillRect b="-3562"/>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EABD508C-2722-48FD-9D6B-AE7ADAD2F1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4095" y="2952809"/>
            <a:ext cx="3123809" cy="952381"/>
          </a:xfrm>
          <a:prstGeom prst="rect">
            <a:avLst/>
          </a:prstGeom>
        </p:spPr>
      </p:pic>
    </p:spTree>
    <p:extLst>
      <p:ext uri="{BB962C8B-B14F-4D97-AF65-F5344CB8AC3E}">
        <p14:creationId xmlns:p14="http://schemas.microsoft.com/office/powerpoint/2010/main" val="24915585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判定表</a:t>
            </a:r>
            <a:endParaRPr lang="en-US" altLang="zh-CN" dirty="0"/>
          </a:p>
          <a:p>
            <a:pPr lvl="1"/>
            <a:endParaRPr lang="zh-CN" altLang="en-US" dirty="0"/>
          </a:p>
        </p:txBody>
      </p:sp>
      <p:sp>
        <p:nvSpPr>
          <p:cNvPr id="6" name="文本框 5">
            <a:extLst>
              <a:ext uri="{FF2B5EF4-FFF2-40B4-BE49-F238E27FC236}">
                <a16:creationId xmlns:a16="http://schemas.microsoft.com/office/drawing/2014/main" id="{EA61F1CE-DA94-4F25-A5F1-6F9B64B42AF3}"/>
              </a:ext>
            </a:extLst>
          </p:cNvPr>
          <p:cNvSpPr txBox="1"/>
          <p:nvPr/>
        </p:nvSpPr>
        <p:spPr>
          <a:xfrm>
            <a:off x="701245" y="2416078"/>
            <a:ext cx="10839965" cy="1669944"/>
          </a:xfrm>
          <a:prstGeom prst="rect">
            <a:avLst/>
          </a:prstGeom>
          <a:noFill/>
        </p:spPr>
        <p:txBody>
          <a:bodyPr wrap="square">
            <a:spAutoFit/>
          </a:bodyPr>
          <a:lstStyle/>
          <a:p>
            <a:pPr indent="266700" algn="just">
              <a:lnSpc>
                <a:spcPct val="200000"/>
              </a:lnSpc>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cs typeface="Courier New" panose="02070309020205020404" pitchFamily="49" charset="0"/>
              </a:rPr>
              <a:t>5</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制作判定表</a:t>
            </a:r>
            <a:endParaRPr lang="zh-CN" altLang="zh-CN" sz="1800" kern="100" dirty="0">
              <a:effectLst/>
              <a:latin typeface="Calibri" panose="020F0502020204030204" pitchFamily="34" charset="0"/>
              <a:ea typeface="宋体" panose="02010600030101010101" pitchFamily="2" charset="-122"/>
              <a:cs typeface="Courier New" panose="02070309020205020404" pitchFamily="49" charset="0"/>
            </a:endParaRPr>
          </a:p>
          <a:p>
            <a:pPr indent="266700" algn="just">
              <a:lnSpc>
                <a:spcPct val="200000"/>
              </a:lnSpc>
            </a:pPr>
            <a:endParaRPr lang="zh-CN" altLang="zh-CN" sz="1800" kern="100" dirty="0">
              <a:effectLst/>
              <a:latin typeface="Calibri" panose="020F0502020204030204" pitchFamily="34" charset="0"/>
              <a:ea typeface="宋体" panose="02010600030101010101" pitchFamily="2" charset="-122"/>
              <a:cs typeface="Courier New" panose="02070309020205020404" pitchFamily="49" charset="0"/>
            </a:endParaRPr>
          </a:p>
          <a:p>
            <a:pPr indent="266700" algn="just">
              <a:lnSpc>
                <a:spcPct val="200000"/>
              </a:lnSpc>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 name="表格 3">
            <a:extLst>
              <a:ext uri="{FF2B5EF4-FFF2-40B4-BE49-F238E27FC236}">
                <a16:creationId xmlns:a16="http://schemas.microsoft.com/office/drawing/2014/main" id="{2E35E791-4427-49DA-BB89-4BCD7E05DC55}"/>
              </a:ext>
            </a:extLst>
          </p:cNvPr>
          <p:cNvGraphicFramePr>
            <a:graphicFrameLocks noGrp="1"/>
          </p:cNvGraphicFramePr>
          <p:nvPr>
            <p:extLst>
              <p:ext uri="{D42A27DB-BD31-4B8C-83A1-F6EECF244321}">
                <p14:modId xmlns:p14="http://schemas.microsoft.com/office/powerpoint/2010/main" val="529033293"/>
              </p:ext>
            </p:extLst>
          </p:nvPr>
        </p:nvGraphicFramePr>
        <p:xfrm>
          <a:off x="2310713" y="3288001"/>
          <a:ext cx="7315203" cy="3039272"/>
        </p:xfrm>
        <a:graphic>
          <a:graphicData uri="http://schemas.openxmlformats.org/drawingml/2006/table">
            <a:tbl>
              <a:tblPr>
                <a:tableStyleId>{5C22544A-7EE6-4342-B048-85BDC9FD1C3A}</a:tableStyleId>
              </a:tblPr>
              <a:tblGrid>
                <a:gridCol w="1291041">
                  <a:extLst>
                    <a:ext uri="{9D8B030D-6E8A-4147-A177-3AD203B41FA5}">
                      <a16:colId xmlns:a16="http://schemas.microsoft.com/office/drawing/2014/main" val="2318028160"/>
                    </a:ext>
                  </a:extLst>
                </a:gridCol>
                <a:gridCol w="501488">
                  <a:extLst>
                    <a:ext uri="{9D8B030D-6E8A-4147-A177-3AD203B41FA5}">
                      <a16:colId xmlns:a16="http://schemas.microsoft.com/office/drawing/2014/main" val="3597604339"/>
                    </a:ext>
                  </a:extLst>
                </a:gridCol>
                <a:gridCol w="501488">
                  <a:extLst>
                    <a:ext uri="{9D8B030D-6E8A-4147-A177-3AD203B41FA5}">
                      <a16:colId xmlns:a16="http://schemas.microsoft.com/office/drawing/2014/main" val="2291423041"/>
                    </a:ext>
                  </a:extLst>
                </a:gridCol>
                <a:gridCol w="501488">
                  <a:extLst>
                    <a:ext uri="{9D8B030D-6E8A-4147-A177-3AD203B41FA5}">
                      <a16:colId xmlns:a16="http://schemas.microsoft.com/office/drawing/2014/main" val="1173153021"/>
                    </a:ext>
                  </a:extLst>
                </a:gridCol>
                <a:gridCol w="501488">
                  <a:extLst>
                    <a:ext uri="{9D8B030D-6E8A-4147-A177-3AD203B41FA5}">
                      <a16:colId xmlns:a16="http://schemas.microsoft.com/office/drawing/2014/main" val="1802783020"/>
                    </a:ext>
                  </a:extLst>
                </a:gridCol>
                <a:gridCol w="501488">
                  <a:extLst>
                    <a:ext uri="{9D8B030D-6E8A-4147-A177-3AD203B41FA5}">
                      <a16:colId xmlns:a16="http://schemas.microsoft.com/office/drawing/2014/main" val="1114838613"/>
                    </a:ext>
                  </a:extLst>
                </a:gridCol>
                <a:gridCol w="501488">
                  <a:extLst>
                    <a:ext uri="{9D8B030D-6E8A-4147-A177-3AD203B41FA5}">
                      <a16:colId xmlns:a16="http://schemas.microsoft.com/office/drawing/2014/main" val="4081341450"/>
                    </a:ext>
                  </a:extLst>
                </a:gridCol>
                <a:gridCol w="502539">
                  <a:extLst>
                    <a:ext uri="{9D8B030D-6E8A-4147-A177-3AD203B41FA5}">
                      <a16:colId xmlns:a16="http://schemas.microsoft.com/office/drawing/2014/main" val="3699085427"/>
                    </a:ext>
                  </a:extLst>
                </a:gridCol>
                <a:gridCol w="502539">
                  <a:extLst>
                    <a:ext uri="{9D8B030D-6E8A-4147-A177-3AD203B41FA5}">
                      <a16:colId xmlns:a16="http://schemas.microsoft.com/office/drawing/2014/main" val="3263292590"/>
                    </a:ext>
                  </a:extLst>
                </a:gridCol>
                <a:gridCol w="502539">
                  <a:extLst>
                    <a:ext uri="{9D8B030D-6E8A-4147-A177-3AD203B41FA5}">
                      <a16:colId xmlns:a16="http://schemas.microsoft.com/office/drawing/2014/main" val="3297780392"/>
                    </a:ext>
                  </a:extLst>
                </a:gridCol>
                <a:gridCol w="502539">
                  <a:extLst>
                    <a:ext uri="{9D8B030D-6E8A-4147-A177-3AD203B41FA5}">
                      <a16:colId xmlns:a16="http://schemas.microsoft.com/office/drawing/2014/main" val="829517638"/>
                    </a:ext>
                  </a:extLst>
                </a:gridCol>
                <a:gridCol w="502539">
                  <a:extLst>
                    <a:ext uri="{9D8B030D-6E8A-4147-A177-3AD203B41FA5}">
                      <a16:colId xmlns:a16="http://schemas.microsoft.com/office/drawing/2014/main" val="147277252"/>
                    </a:ext>
                  </a:extLst>
                </a:gridCol>
                <a:gridCol w="502539">
                  <a:extLst>
                    <a:ext uri="{9D8B030D-6E8A-4147-A177-3AD203B41FA5}">
                      <a16:colId xmlns:a16="http://schemas.microsoft.com/office/drawing/2014/main" val="2713955020"/>
                    </a:ext>
                  </a:extLst>
                </a:gridCol>
              </a:tblGrid>
              <a:tr h="337697">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1</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2</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3</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4</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5</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6</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7</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8</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9</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10</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11</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12</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extLst>
                  <a:ext uri="{0D108BD9-81ED-4DB2-BD59-A6C34878D82A}">
                    <a16:rowId xmlns:a16="http://schemas.microsoft.com/office/drawing/2014/main" val="837525112"/>
                  </a:ext>
                </a:extLst>
              </a:tr>
              <a:tr h="337697">
                <a:tc>
                  <a:txBody>
                    <a:bodyPr/>
                    <a:lstStyle/>
                    <a:p>
                      <a:pPr algn="ctr">
                        <a:spcBef>
                          <a:spcPts val="200"/>
                        </a:spcBef>
                        <a:spcAft>
                          <a:spcPts val="100"/>
                        </a:spcAft>
                        <a:tabLst>
                          <a:tab pos="4343400" algn="l"/>
                        </a:tabLst>
                      </a:pPr>
                      <a:r>
                        <a:rPr lang="zh-CN" sz="2000" kern="100">
                          <a:effectLst/>
                        </a:rPr>
                        <a:t>年龄</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C</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C</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C</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C</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Y</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Y</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Y</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Y</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L</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L</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L</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L</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extLst>
                  <a:ext uri="{0D108BD9-81ED-4DB2-BD59-A6C34878D82A}">
                    <a16:rowId xmlns:a16="http://schemas.microsoft.com/office/drawing/2014/main" val="2944331336"/>
                  </a:ext>
                </a:extLst>
              </a:tr>
              <a:tr h="337697">
                <a:tc>
                  <a:txBody>
                    <a:bodyPr/>
                    <a:lstStyle/>
                    <a:p>
                      <a:pPr algn="ctr">
                        <a:spcBef>
                          <a:spcPts val="200"/>
                        </a:spcBef>
                        <a:spcAft>
                          <a:spcPts val="100"/>
                        </a:spcAft>
                        <a:tabLst>
                          <a:tab pos="4343400" algn="l"/>
                        </a:tabLst>
                      </a:pPr>
                      <a:r>
                        <a:rPr lang="zh-CN" sz="2000" kern="100">
                          <a:effectLst/>
                        </a:rPr>
                        <a:t>性别</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F</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F</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M</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M</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F</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F</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M</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M</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F</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F</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M</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M</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extLst>
                  <a:ext uri="{0D108BD9-81ED-4DB2-BD59-A6C34878D82A}">
                    <a16:rowId xmlns:a16="http://schemas.microsoft.com/office/drawing/2014/main" val="3135093841"/>
                  </a:ext>
                </a:extLst>
              </a:tr>
              <a:tr h="337697">
                <a:tc>
                  <a:txBody>
                    <a:bodyPr/>
                    <a:lstStyle/>
                    <a:p>
                      <a:pPr algn="ctr">
                        <a:spcBef>
                          <a:spcPts val="200"/>
                        </a:spcBef>
                        <a:spcAft>
                          <a:spcPts val="100"/>
                        </a:spcAft>
                        <a:tabLst>
                          <a:tab pos="4343400" algn="l"/>
                        </a:tabLst>
                      </a:pPr>
                      <a:r>
                        <a:rPr lang="zh-CN" sz="2000" kern="100">
                          <a:effectLst/>
                        </a:rPr>
                        <a:t>婚姻</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S</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E</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S</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E</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S</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E</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S</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E</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S</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E</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S</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E</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extLst>
                  <a:ext uri="{0D108BD9-81ED-4DB2-BD59-A6C34878D82A}">
                    <a16:rowId xmlns:a16="http://schemas.microsoft.com/office/drawing/2014/main" val="608119934"/>
                  </a:ext>
                </a:extLst>
              </a:tr>
              <a:tr h="337697">
                <a:tc>
                  <a:txBody>
                    <a:bodyPr/>
                    <a:lstStyle/>
                    <a:p>
                      <a:pPr algn="ctr">
                        <a:spcBef>
                          <a:spcPts val="200"/>
                        </a:spcBef>
                        <a:spcAft>
                          <a:spcPts val="100"/>
                        </a:spcAft>
                        <a:tabLst>
                          <a:tab pos="4343400" algn="l"/>
                        </a:tabLst>
                      </a:pPr>
                      <a:r>
                        <a:rPr lang="en-US" sz="2000" kern="100">
                          <a:effectLst/>
                        </a:rPr>
                        <a:t>A</a:t>
                      </a:r>
                      <a:r>
                        <a:rPr lang="zh-CN" sz="2000" kern="100">
                          <a:effectLst/>
                        </a:rPr>
                        <a:t>类保险</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zh-CN" sz="2000" kern="100">
                          <a:effectLst/>
                        </a:rPr>
                        <a:t>√</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zh-CN" sz="2000" kern="100">
                          <a:effectLst/>
                        </a:rPr>
                        <a:t>√</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zh-CN" sz="2000" kern="100">
                          <a:effectLst/>
                        </a:rPr>
                        <a:t>√</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zh-CN" sz="2000" kern="100">
                          <a:effectLst/>
                        </a:rPr>
                        <a:t>√</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extLst>
                  <a:ext uri="{0D108BD9-81ED-4DB2-BD59-A6C34878D82A}">
                    <a16:rowId xmlns:a16="http://schemas.microsoft.com/office/drawing/2014/main" val="3688005714"/>
                  </a:ext>
                </a:extLst>
              </a:tr>
              <a:tr h="337697">
                <a:tc>
                  <a:txBody>
                    <a:bodyPr/>
                    <a:lstStyle/>
                    <a:p>
                      <a:pPr algn="ctr">
                        <a:spcBef>
                          <a:spcPts val="200"/>
                        </a:spcBef>
                        <a:spcAft>
                          <a:spcPts val="100"/>
                        </a:spcAft>
                        <a:tabLst>
                          <a:tab pos="4343400" algn="l"/>
                        </a:tabLst>
                      </a:pPr>
                      <a:r>
                        <a:rPr lang="en-US" sz="2000" kern="100">
                          <a:effectLst/>
                        </a:rPr>
                        <a:t>B</a:t>
                      </a:r>
                      <a:r>
                        <a:rPr lang="zh-CN" sz="2000" kern="100">
                          <a:effectLst/>
                        </a:rPr>
                        <a:t>类保险</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zh-CN" sz="2000" kern="100">
                          <a:effectLst/>
                        </a:rPr>
                        <a:t>√</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zh-CN" sz="2000" kern="100">
                          <a:effectLst/>
                        </a:rPr>
                        <a:t>√</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zh-CN" sz="2000" kern="100">
                          <a:effectLst/>
                        </a:rPr>
                        <a:t>√</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zh-CN" sz="2000" kern="100">
                          <a:effectLst/>
                        </a:rPr>
                        <a:t>√</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extLst>
                  <a:ext uri="{0D108BD9-81ED-4DB2-BD59-A6C34878D82A}">
                    <a16:rowId xmlns:a16="http://schemas.microsoft.com/office/drawing/2014/main" val="1651272440"/>
                  </a:ext>
                </a:extLst>
              </a:tr>
              <a:tr h="337697">
                <a:tc>
                  <a:txBody>
                    <a:bodyPr/>
                    <a:lstStyle/>
                    <a:p>
                      <a:pPr algn="ctr">
                        <a:spcBef>
                          <a:spcPts val="200"/>
                        </a:spcBef>
                        <a:spcAft>
                          <a:spcPts val="100"/>
                        </a:spcAft>
                        <a:tabLst>
                          <a:tab pos="4343400" algn="l"/>
                        </a:tabLst>
                      </a:pPr>
                      <a:r>
                        <a:rPr lang="en-US" sz="2000" kern="100">
                          <a:effectLst/>
                        </a:rPr>
                        <a:t>C</a:t>
                      </a:r>
                      <a:r>
                        <a:rPr lang="zh-CN" sz="2000" kern="100">
                          <a:effectLst/>
                        </a:rPr>
                        <a:t>类保险</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zh-CN" sz="2000" kern="100">
                          <a:effectLst/>
                        </a:rPr>
                        <a:t>√</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zh-CN" sz="2000" kern="100">
                          <a:effectLst/>
                        </a:rPr>
                        <a:t>√</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zh-CN" sz="2000" kern="100">
                          <a:effectLst/>
                        </a:rPr>
                        <a:t>√</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zh-CN" sz="2000" kern="100">
                          <a:effectLst/>
                        </a:rPr>
                        <a:t>√</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extLst>
                  <a:ext uri="{0D108BD9-81ED-4DB2-BD59-A6C34878D82A}">
                    <a16:rowId xmlns:a16="http://schemas.microsoft.com/office/drawing/2014/main" val="3383345420"/>
                  </a:ext>
                </a:extLst>
              </a:tr>
              <a:tr h="675393">
                <a:tc>
                  <a:txBody>
                    <a:bodyPr/>
                    <a:lstStyle/>
                    <a:p>
                      <a:pPr algn="ctr">
                        <a:spcBef>
                          <a:spcPts val="200"/>
                        </a:spcBef>
                        <a:spcAft>
                          <a:spcPts val="100"/>
                        </a:spcAft>
                        <a:tabLst>
                          <a:tab pos="4343400" algn="l"/>
                        </a:tabLst>
                      </a:pPr>
                      <a:r>
                        <a:rPr lang="zh-CN" sz="2000" kern="100">
                          <a:effectLst/>
                        </a:rPr>
                        <a:t>额外收费</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zh-CN" sz="2000" kern="100">
                          <a:effectLst/>
                        </a:rPr>
                        <a:t>√</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zh-CN" sz="2000" kern="100">
                          <a:effectLst/>
                        </a:rPr>
                        <a:t>√</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zh-CN" sz="2000" kern="100">
                          <a:effectLst/>
                        </a:rPr>
                        <a:t>√</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zh-CN" sz="2000" kern="100">
                          <a:effectLst/>
                        </a:rPr>
                        <a:t>√</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a:effectLst/>
                        </a:rPr>
                        <a:t> </a:t>
                      </a:r>
                      <a:endParaRPr lang="zh-CN" sz="2000" kern="100">
                        <a:effectLst/>
                        <a:latin typeface="Times New Roman" panose="02020603050405020304" pitchFamily="18" charset="0"/>
                        <a:ea typeface="黑体" panose="02010609060101010101" pitchFamily="49" charset="-122"/>
                      </a:endParaRPr>
                    </a:p>
                  </a:txBody>
                  <a:tcPr marL="68580" marR="68580" marT="0" marB="0" anchor="ctr"/>
                </a:tc>
                <a:tc>
                  <a:txBody>
                    <a:bodyPr/>
                    <a:lstStyle/>
                    <a:p>
                      <a:pPr algn="ctr">
                        <a:spcBef>
                          <a:spcPts val="200"/>
                        </a:spcBef>
                        <a:spcAft>
                          <a:spcPts val="100"/>
                        </a:spcAft>
                        <a:tabLst>
                          <a:tab pos="4343400" algn="l"/>
                        </a:tabLst>
                      </a:pPr>
                      <a:r>
                        <a:rPr lang="en-US" sz="2000" kern="100" dirty="0">
                          <a:effectLst/>
                        </a:rPr>
                        <a:t> </a:t>
                      </a:r>
                      <a:endParaRPr lang="zh-CN" sz="2000" kern="100" dirty="0">
                        <a:effectLst/>
                        <a:latin typeface="Times New Roman" panose="02020603050405020304" pitchFamily="18" charset="0"/>
                        <a:ea typeface="黑体" panose="02010609060101010101" pitchFamily="49" charset="-122"/>
                      </a:endParaRPr>
                    </a:p>
                  </a:txBody>
                  <a:tcPr marL="68580" marR="68580" marT="0" marB="0" anchor="ctr"/>
                </a:tc>
                <a:extLst>
                  <a:ext uri="{0D108BD9-81ED-4DB2-BD59-A6C34878D82A}">
                    <a16:rowId xmlns:a16="http://schemas.microsoft.com/office/drawing/2014/main" val="3647359474"/>
                  </a:ext>
                </a:extLst>
              </a:tr>
            </a:tbl>
          </a:graphicData>
        </a:graphic>
      </p:graphicFrame>
      <p:sp>
        <p:nvSpPr>
          <p:cNvPr id="8" name="文本框 7">
            <a:extLst>
              <a:ext uri="{FF2B5EF4-FFF2-40B4-BE49-F238E27FC236}">
                <a16:creationId xmlns:a16="http://schemas.microsoft.com/office/drawing/2014/main" id="{1D9E1250-7C20-4E2F-88A7-83EEE27A0168}"/>
              </a:ext>
            </a:extLst>
          </p:cNvPr>
          <p:cNvSpPr txBox="1"/>
          <p:nvPr/>
        </p:nvSpPr>
        <p:spPr>
          <a:xfrm>
            <a:off x="5443152" y="2851201"/>
            <a:ext cx="6098058" cy="369332"/>
          </a:xfrm>
          <a:prstGeom prst="rect">
            <a:avLst/>
          </a:prstGeom>
          <a:noFill/>
        </p:spPr>
        <p:txBody>
          <a:bodyPr wrap="square">
            <a:spAutoFit/>
          </a:bodyPr>
          <a:lstStyle/>
          <a:p>
            <a:r>
              <a:rPr lang="zh-CN" altLang="zh-CN" sz="1800" b="1" kern="100" dirty="0">
                <a:effectLst/>
                <a:latin typeface="Times New Roman" panose="02020603050405020304" pitchFamily="18" charset="0"/>
                <a:ea typeface="宋体" panose="02010600030101010101" pitchFamily="2" charset="-122"/>
                <a:cs typeface="宋体" panose="02010600030101010101" pitchFamily="2" charset="-122"/>
              </a:rPr>
              <a:t>判</a:t>
            </a:r>
            <a:r>
              <a:rPr lang="en-US" altLang="zh-CN" sz="1800" b="1" kern="100" dirty="0">
                <a:effectLst/>
                <a:latin typeface="Times New Roman" panose="02020603050405020304" pitchFamily="18" charset="0"/>
                <a:ea typeface="宋体" panose="02010600030101010101" pitchFamily="2" charset="-122"/>
                <a:cs typeface="宋体" panose="02010600030101010101" pitchFamily="2" charset="-122"/>
              </a:rPr>
              <a:t>  </a:t>
            </a:r>
            <a:r>
              <a:rPr lang="zh-CN" altLang="zh-CN" sz="1800" b="1" kern="100" dirty="0">
                <a:effectLst/>
                <a:latin typeface="Times New Roman" panose="02020603050405020304" pitchFamily="18" charset="0"/>
                <a:ea typeface="宋体" panose="02010600030101010101" pitchFamily="2" charset="-122"/>
                <a:cs typeface="宋体" panose="02010600030101010101" pitchFamily="2" charset="-122"/>
              </a:rPr>
              <a:t>定</a:t>
            </a:r>
            <a:r>
              <a:rPr lang="en-US" altLang="zh-CN" sz="1800" b="1" kern="100" dirty="0">
                <a:effectLst/>
                <a:latin typeface="Times New Roman" panose="02020603050405020304" pitchFamily="18" charset="0"/>
                <a:ea typeface="宋体" panose="02010600030101010101" pitchFamily="2" charset="-122"/>
                <a:cs typeface="宋体" panose="02010600030101010101" pitchFamily="2" charset="-122"/>
              </a:rPr>
              <a:t>  </a:t>
            </a:r>
            <a:r>
              <a:rPr lang="zh-CN" altLang="zh-CN" sz="1800" b="1" kern="100" dirty="0">
                <a:effectLst/>
                <a:latin typeface="Times New Roman" panose="02020603050405020304" pitchFamily="18" charset="0"/>
                <a:ea typeface="宋体" panose="02010600030101010101" pitchFamily="2" charset="-122"/>
                <a:cs typeface="宋体" panose="02010600030101010101" pitchFamily="2" charset="-122"/>
              </a:rPr>
              <a:t>表</a:t>
            </a:r>
            <a:endParaRPr lang="zh-CN" altLang="en-US" b="1" dirty="0"/>
          </a:p>
        </p:txBody>
      </p:sp>
    </p:spTree>
    <p:extLst>
      <p:ext uri="{BB962C8B-B14F-4D97-AF65-F5344CB8AC3E}">
        <p14:creationId xmlns:p14="http://schemas.microsoft.com/office/powerpoint/2010/main" val="10402627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判定树</a:t>
            </a:r>
            <a:endParaRPr lang="en-US" altLang="zh-CN" dirty="0"/>
          </a:p>
          <a:p>
            <a:pPr lvl="1"/>
            <a:endParaRPr lang="zh-CN" altLang="en-US" dirty="0"/>
          </a:p>
        </p:txBody>
      </p:sp>
      <p:pic>
        <p:nvPicPr>
          <p:cNvPr id="5" name="Picture 2">
            <a:extLst>
              <a:ext uri="{FF2B5EF4-FFF2-40B4-BE49-F238E27FC236}">
                <a16:creationId xmlns:a16="http://schemas.microsoft.com/office/drawing/2014/main" id="{7002A01E-2943-4F22-84B7-5898D0F27C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6787" y="2943242"/>
            <a:ext cx="6231735" cy="2719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表格 3">
            <a:extLst>
              <a:ext uri="{FF2B5EF4-FFF2-40B4-BE49-F238E27FC236}">
                <a16:creationId xmlns:a16="http://schemas.microsoft.com/office/drawing/2014/main" id="{B5F169B1-F686-4A09-B2D3-2E0AF68343ED}"/>
              </a:ext>
            </a:extLst>
          </p:cNvPr>
          <p:cNvGraphicFramePr>
            <a:graphicFrameLocks noGrp="1"/>
          </p:cNvGraphicFramePr>
          <p:nvPr>
            <p:extLst>
              <p:ext uri="{D42A27DB-BD31-4B8C-83A1-F6EECF244321}">
                <p14:modId xmlns:p14="http://schemas.microsoft.com/office/powerpoint/2010/main" val="1766987395"/>
              </p:ext>
            </p:extLst>
          </p:nvPr>
        </p:nvGraphicFramePr>
        <p:xfrm>
          <a:off x="103478" y="2785729"/>
          <a:ext cx="5506490" cy="3034302"/>
        </p:xfrm>
        <a:graphic>
          <a:graphicData uri="http://schemas.openxmlformats.org/drawingml/2006/table">
            <a:tbl>
              <a:tblPr>
                <a:tableStyleId>{5C22544A-7EE6-4342-B048-85BDC9FD1C3A}</a:tableStyleId>
              </a:tblPr>
              <a:tblGrid>
                <a:gridCol w="1554104">
                  <a:extLst>
                    <a:ext uri="{9D8B030D-6E8A-4147-A177-3AD203B41FA5}">
                      <a16:colId xmlns:a16="http://schemas.microsoft.com/office/drawing/2014/main" val="1927487805"/>
                    </a:ext>
                  </a:extLst>
                </a:gridCol>
                <a:gridCol w="3952386">
                  <a:extLst>
                    <a:ext uri="{9D8B030D-6E8A-4147-A177-3AD203B41FA5}">
                      <a16:colId xmlns:a16="http://schemas.microsoft.com/office/drawing/2014/main" val="1149699423"/>
                    </a:ext>
                  </a:extLst>
                </a:gridCol>
              </a:tblGrid>
              <a:tr h="379761">
                <a:tc>
                  <a:txBody>
                    <a:bodyPr/>
                    <a:lstStyle/>
                    <a:p>
                      <a:pPr indent="266700" algn="l">
                        <a:lnSpc>
                          <a:spcPct val="100000"/>
                        </a:lnSpc>
                      </a:pPr>
                      <a:r>
                        <a:rPr lang="zh-CN" sz="2000" kern="100" dirty="0">
                          <a:effectLst/>
                        </a:rPr>
                        <a:t>要素</a:t>
                      </a:r>
                      <a:endParaRPr lang="zh-CN" sz="20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l">
                        <a:lnSpc>
                          <a:spcPct val="100000"/>
                        </a:lnSpc>
                      </a:pPr>
                      <a:r>
                        <a:rPr lang="zh-CN" sz="2000" kern="100">
                          <a:effectLst/>
                        </a:rPr>
                        <a:t>说明</a:t>
                      </a:r>
                      <a:endParaRPr lang="zh-CN" sz="20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3071600395"/>
                  </a:ext>
                </a:extLst>
              </a:tr>
              <a:tr h="758260">
                <a:tc>
                  <a:txBody>
                    <a:bodyPr/>
                    <a:lstStyle/>
                    <a:p>
                      <a:pPr indent="266700" algn="l">
                        <a:lnSpc>
                          <a:spcPct val="100000"/>
                        </a:lnSpc>
                      </a:pPr>
                      <a:r>
                        <a:rPr lang="zh-CN" sz="2000" kern="100" dirty="0">
                          <a:effectLst/>
                        </a:rPr>
                        <a:t>根节点</a:t>
                      </a:r>
                      <a:endParaRPr lang="zh-CN" sz="20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l">
                        <a:lnSpc>
                          <a:spcPct val="100000"/>
                        </a:lnSpc>
                      </a:pPr>
                      <a:r>
                        <a:rPr lang="zh-CN" sz="2000" kern="100" dirty="0">
                          <a:effectLst/>
                        </a:rPr>
                        <a:t>决策的起点，第一个需要判断的条件</a:t>
                      </a:r>
                      <a:endParaRPr lang="zh-CN" sz="20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2878247303"/>
                  </a:ext>
                </a:extLst>
              </a:tr>
              <a:tr h="379761">
                <a:tc>
                  <a:txBody>
                    <a:bodyPr/>
                    <a:lstStyle/>
                    <a:p>
                      <a:pPr indent="266700" algn="l">
                        <a:lnSpc>
                          <a:spcPct val="100000"/>
                        </a:lnSpc>
                      </a:pPr>
                      <a:r>
                        <a:rPr lang="zh-CN" sz="2000" kern="100" dirty="0">
                          <a:effectLst/>
                        </a:rPr>
                        <a:t>内部节点</a:t>
                      </a:r>
                      <a:endParaRPr lang="zh-CN" sz="20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l">
                        <a:lnSpc>
                          <a:spcPct val="100000"/>
                        </a:lnSpc>
                      </a:pPr>
                      <a:r>
                        <a:rPr lang="zh-CN" sz="2000" kern="100" dirty="0">
                          <a:effectLst/>
                        </a:rPr>
                        <a:t>中间的条件判断点</a:t>
                      </a:r>
                      <a:endParaRPr lang="zh-CN" sz="20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302256061"/>
                  </a:ext>
                </a:extLst>
              </a:tr>
              <a:tr h="758260">
                <a:tc>
                  <a:txBody>
                    <a:bodyPr/>
                    <a:lstStyle/>
                    <a:p>
                      <a:pPr indent="266700" algn="l">
                        <a:lnSpc>
                          <a:spcPct val="100000"/>
                        </a:lnSpc>
                      </a:pPr>
                      <a:r>
                        <a:rPr lang="zh-CN" sz="2000" kern="100">
                          <a:effectLst/>
                        </a:rPr>
                        <a:t>分支</a:t>
                      </a:r>
                      <a:endParaRPr lang="zh-CN" sz="20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l">
                        <a:lnSpc>
                          <a:spcPct val="100000"/>
                        </a:lnSpc>
                      </a:pPr>
                      <a:r>
                        <a:rPr lang="zh-CN" sz="2000" kern="100" dirty="0">
                          <a:effectLst/>
                        </a:rPr>
                        <a:t>从节点出发的边，代表条件的取值</a:t>
                      </a:r>
                      <a:endParaRPr lang="zh-CN" sz="20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2066943914"/>
                  </a:ext>
                </a:extLst>
              </a:tr>
              <a:tr h="758260">
                <a:tc>
                  <a:txBody>
                    <a:bodyPr/>
                    <a:lstStyle/>
                    <a:p>
                      <a:pPr indent="266700" algn="l">
                        <a:lnSpc>
                          <a:spcPct val="100000"/>
                        </a:lnSpc>
                      </a:pPr>
                      <a:r>
                        <a:rPr lang="zh-CN" sz="2000" kern="100">
                          <a:effectLst/>
                        </a:rPr>
                        <a:t>叶子结点</a:t>
                      </a:r>
                      <a:endParaRPr lang="zh-CN" sz="2000" kern="10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tc>
                  <a:txBody>
                    <a:bodyPr/>
                    <a:lstStyle/>
                    <a:p>
                      <a:pPr indent="266700" algn="l">
                        <a:lnSpc>
                          <a:spcPct val="100000"/>
                        </a:lnSpc>
                      </a:pPr>
                      <a:r>
                        <a:rPr lang="zh-CN" sz="2000" kern="100" dirty="0">
                          <a:effectLst/>
                        </a:rPr>
                        <a:t>决策的重点，表示执行的操作或结论</a:t>
                      </a:r>
                      <a:endParaRPr lang="zh-CN" sz="2000" kern="100" dirty="0">
                        <a:effectLst/>
                        <a:latin typeface="Calibri" panose="020F0502020204030204" pitchFamily="34" charset="0"/>
                        <a:ea typeface="宋体" panose="02010600030101010101" pitchFamily="2" charset="-122"/>
                        <a:cs typeface="Courier New" panose="02070309020205020404" pitchFamily="49" charset="0"/>
                      </a:endParaRPr>
                    </a:p>
                  </a:txBody>
                  <a:tcPr marL="68580" marR="68580" marT="0" marB="0" anchor="ctr"/>
                </a:tc>
                <a:extLst>
                  <a:ext uri="{0D108BD9-81ED-4DB2-BD59-A6C34878D82A}">
                    <a16:rowId xmlns:a16="http://schemas.microsoft.com/office/drawing/2014/main" val="1234472857"/>
                  </a:ext>
                </a:extLst>
              </a:tr>
            </a:tbl>
          </a:graphicData>
        </a:graphic>
      </p:graphicFrame>
    </p:spTree>
    <p:extLst>
      <p:ext uri="{BB962C8B-B14F-4D97-AF65-F5344CB8AC3E}">
        <p14:creationId xmlns:p14="http://schemas.microsoft.com/office/powerpoint/2010/main" val="221745956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判定树</a:t>
            </a:r>
            <a:endParaRPr lang="en-US" altLang="zh-CN" dirty="0"/>
          </a:p>
          <a:p>
            <a:r>
              <a:rPr lang="zh-CN" altLang="en-US" dirty="0"/>
              <a:t>可以将判定表转化为对应的判定树</a:t>
            </a:r>
            <a:endParaRPr lang="en-US" altLang="zh-CN" dirty="0"/>
          </a:p>
          <a:p>
            <a:pPr lvl="1"/>
            <a:endParaRPr lang="zh-CN" altLang="en-US" dirty="0"/>
          </a:p>
        </p:txBody>
      </p:sp>
      <p:sp>
        <p:nvSpPr>
          <p:cNvPr id="7" name="Rectangle 2">
            <a:extLst>
              <a:ext uri="{FF2B5EF4-FFF2-40B4-BE49-F238E27FC236}">
                <a16:creationId xmlns:a16="http://schemas.microsoft.com/office/drawing/2014/main" id="{AE413173-4B9A-46DB-9B50-D76414F1B6EC}"/>
              </a:ext>
            </a:extLst>
          </p:cNvPr>
          <p:cNvSpPr>
            <a:spLocks noChangeArrowheads="1"/>
          </p:cNvSpPr>
          <p:nvPr/>
        </p:nvSpPr>
        <p:spPr bwMode="auto">
          <a:xfrm>
            <a:off x="1878783" y="2235156"/>
            <a:ext cx="1785021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8" name="对象 7">
            <a:extLst>
              <a:ext uri="{FF2B5EF4-FFF2-40B4-BE49-F238E27FC236}">
                <a16:creationId xmlns:a16="http://schemas.microsoft.com/office/drawing/2014/main" id="{936CCB5B-9E2F-4953-8CA6-D90DCC2F7FFE}"/>
              </a:ext>
            </a:extLst>
          </p:cNvPr>
          <p:cNvGraphicFramePr>
            <a:graphicFrameLocks noChangeAspect="1"/>
          </p:cNvGraphicFramePr>
          <p:nvPr>
            <p:extLst>
              <p:ext uri="{D42A27DB-BD31-4B8C-83A1-F6EECF244321}">
                <p14:modId xmlns:p14="http://schemas.microsoft.com/office/powerpoint/2010/main" val="4290809280"/>
              </p:ext>
            </p:extLst>
          </p:nvPr>
        </p:nvGraphicFramePr>
        <p:xfrm>
          <a:off x="1878784" y="2551069"/>
          <a:ext cx="8434432" cy="3941806"/>
        </p:xfrm>
        <a:graphic>
          <a:graphicData uri="http://schemas.openxmlformats.org/presentationml/2006/ole">
            <mc:AlternateContent xmlns:mc="http://schemas.openxmlformats.org/markup-compatibility/2006">
              <mc:Choice xmlns:v="urn:schemas-microsoft-com:vml" Requires="v">
                <p:oleObj spid="_x0000_s8221" name="Visio" r:id="rId3" imgW="3994709" imgH="1690726" progId="Visio.Drawing.11">
                  <p:embed/>
                </p:oleObj>
              </mc:Choice>
              <mc:Fallback>
                <p:oleObj name="Visio" r:id="rId3" imgW="3994709" imgH="1690726"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8784" y="2551069"/>
                        <a:ext cx="8434432" cy="3941806"/>
                      </a:xfrm>
                      <a:prstGeom prst="rect">
                        <a:avLst/>
                      </a:prstGeom>
                      <a:noFill/>
                    </p:spPr>
                  </p:pic>
                </p:oleObj>
              </mc:Fallback>
            </mc:AlternateContent>
          </a:graphicData>
        </a:graphic>
      </p:graphicFrame>
    </p:spTree>
    <p:extLst>
      <p:ext uri="{BB962C8B-B14F-4D97-AF65-F5344CB8AC3E}">
        <p14:creationId xmlns:p14="http://schemas.microsoft.com/office/powerpoint/2010/main" val="22918021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B791F8-EFE5-4B03-BF9A-FF55D6040F58}"/>
              </a:ext>
            </a:extLst>
          </p:cNvPr>
          <p:cNvSpPr>
            <a:spLocks noGrp="1"/>
          </p:cNvSpPr>
          <p:nvPr>
            <p:ph type="title"/>
          </p:nvPr>
        </p:nvSpPr>
        <p:spPr/>
        <p:txBody>
          <a:bodyPr/>
          <a:lstStyle/>
          <a:p>
            <a:r>
              <a:rPr lang="zh-CN" altLang="en-US" dirty="0"/>
              <a:t>需求分析</a:t>
            </a:r>
          </a:p>
        </p:txBody>
      </p:sp>
      <p:sp>
        <p:nvSpPr>
          <p:cNvPr id="5" name="内容占位符 2">
            <a:extLst>
              <a:ext uri="{FF2B5EF4-FFF2-40B4-BE49-F238E27FC236}">
                <a16:creationId xmlns:a16="http://schemas.microsoft.com/office/drawing/2014/main" id="{4396239A-0820-4CBF-B9EF-11C5F89D9DCE}"/>
              </a:ext>
            </a:extLst>
          </p:cNvPr>
          <p:cNvSpPr txBox="1">
            <a:spLocks/>
          </p:cNvSpPr>
          <p:nvPr/>
        </p:nvSpPr>
        <p:spPr>
          <a:xfrm>
            <a:off x="838200" y="1825625"/>
            <a:ext cx="1074157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50000"/>
              </a:lnSpc>
            </a:pPr>
            <a:r>
              <a:rPr lang="zh-CN" altLang="en-US" dirty="0"/>
              <a:t>面向对象需求建模方法：</a:t>
            </a:r>
            <a:endParaRPr lang="en-US" altLang="zh-CN" dirty="0"/>
          </a:p>
          <a:p>
            <a:pPr lvl="2">
              <a:lnSpc>
                <a:spcPct val="150000"/>
              </a:lnSpc>
            </a:pPr>
            <a:r>
              <a:rPr lang="zh-CN" altLang="en-US" sz="2400" dirty="0"/>
              <a:t>用例</a:t>
            </a:r>
            <a:endParaRPr lang="en-US" altLang="zh-CN" sz="2400" dirty="0"/>
          </a:p>
          <a:p>
            <a:pPr lvl="2">
              <a:lnSpc>
                <a:spcPct val="150000"/>
              </a:lnSpc>
            </a:pPr>
            <a:r>
              <a:rPr lang="zh-CN" altLang="en-US" sz="2400" dirty="0"/>
              <a:t>用例图、用例描述</a:t>
            </a:r>
            <a:endParaRPr lang="en-US" altLang="zh-CN" sz="2400" dirty="0"/>
          </a:p>
          <a:p>
            <a:pPr lvl="2">
              <a:lnSpc>
                <a:spcPct val="150000"/>
              </a:lnSpc>
            </a:pPr>
            <a:r>
              <a:rPr lang="zh-CN" altLang="en-US" sz="2400" dirty="0"/>
              <a:t>活动图</a:t>
            </a:r>
            <a:endParaRPr lang="en-US" altLang="zh-CN" sz="2400" dirty="0"/>
          </a:p>
          <a:p>
            <a:pPr lvl="2">
              <a:lnSpc>
                <a:spcPct val="150000"/>
              </a:lnSpc>
            </a:pPr>
            <a:r>
              <a:rPr lang="zh-CN" altLang="en-US" sz="2400" dirty="0"/>
              <a:t>系统顺序图</a:t>
            </a:r>
            <a:endParaRPr lang="en-US" altLang="zh-CN" sz="2400" dirty="0"/>
          </a:p>
          <a:p>
            <a:pPr lvl="2">
              <a:lnSpc>
                <a:spcPct val="150000"/>
              </a:lnSpc>
            </a:pPr>
            <a:r>
              <a:rPr lang="zh-CN" altLang="en-US" sz="2400" dirty="0"/>
              <a:t>实体</a:t>
            </a:r>
            <a:r>
              <a:rPr lang="en-US" altLang="zh-CN" sz="2400" dirty="0"/>
              <a:t>-</a:t>
            </a:r>
            <a:r>
              <a:rPr lang="zh-CN" altLang="en-US" sz="2400" dirty="0"/>
              <a:t>联系图</a:t>
            </a:r>
            <a:endParaRPr lang="en-US" altLang="zh-CN" sz="2400" dirty="0"/>
          </a:p>
          <a:p>
            <a:pPr lvl="2">
              <a:lnSpc>
                <a:spcPct val="150000"/>
              </a:lnSpc>
            </a:pPr>
            <a:r>
              <a:rPr lang="zh-CN" altLang="en-US" sz="2400" dirty="0"/>
              <a:t>域模型类图</a:t>
            </a:r>
            <a:endParaRPr lang="en-US" altLang="zh-CN" sz="2400" dirty="0"/>
          </a:p>
          <a:p>
            <a:pPr>
              <a:lnSpc>
                <a:spcPct val="150000"/>
              </a:lnSpc>
            </a:pPr>
            <a:endParaRPr lang="zh-CN" altLang="en-US" sz="2400" dirty="0"/>
          </a:p>
          <a:p>
            <a:pPr>
              <a:lnSpc>
                <a:spcPct val="150000"/>
              </a:lnSpc>
            </a:pPr>
            <a:endParaRPr lang="en-US" altLang="zh-CN" sz="2400" b="1" dirty="0">
              <a:solidFill>
                <a:srgbClr val="C00000"/>
              </a:solidFill>
            </a:endParaRPr>
          </a:p>
          <a:p>
            <a:pPr>
              <a:lnSpc>
                <a:spcPct val="150000"/>
              </a:lnSpc>
            </a:pPr>
            <a:endParaRPr lang="zh-CN" altLang="en-US" sz="2400" dirty="0"/>
          </a:p>
        </p:txBody>
      </p:sp>
    </p:spTree>
    <p:extLst>
      <p:ext uri="{BB962C8B-B14F-4D97-AF65-F5344CB8AC3E}">
        <p14:creationId xmlns:p14="http://schemas.microsoft.com/office/powerpoint/2010/main" val="16388797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9AECE3-C97A-41B7-AFC9-B64350FD6AA1}"/>
              </a:ext>
            </a:extLst>
          </p:cNvPr>
          <p:cNvSpPr>
            <a:spLocks noGrp="1"/>
          </p:cNvSpPr>
          <p:nvPr>
            <p:ph type="title"/>
          </p:nvPr>
        </p:nvSpPr>
        <p:spPr/>
        <p:txBody>
          <a:bodyPr/>
          <a:lstStyle/>
          <a:p>
            <a:r>
              <a:rPr lang="zh-CN" altLang="en-US" dirty="0"/>
              <a:t>需求分析</a:t>
            </a:r>
          </a:p>
        </p:txBody>
      </p:sp>
      <p:sp>
        <p:nvSpPr>
          <p:cNvPr id="6" name="内容占位符 3">
            <a:extLst>
              <a:ext uri="{FF2B5EF4-FFF2-40B4-BE49-F238E27FC236}">
                <a16:creationId xmlns:a16="http://schemas.microsoft.com/office/drawing/2014/main" id="{8727B96B-5674-4290-A2BB-48057A0F7E3E}"/>
              </a:ext>
            </a:extLst>
          </p:cNvPr>
          <p:cNvSpPr txBox="1">
            <a:spLocks/>
          </p:cNvSpPr>
          <p:nvPr/>
        </p:nvSpPr>
        <p:spPr>
          <a:xfrm>
            <a:off x="990600" y="1463675"/>
            <a:ext cx="1080135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2000" b="1" dirty="0"/>
              <a:t>用例：</a:t>
            </a:r>
            <a:endParaRPr lang="en-US" altLang="zh-CN" sz="2000" b="1" dirty="0"/>
          </a:p>
          <a:p>
            <a:pPr>
              <a:lnSpc>
                <a:spcPct val="150000"/>
              </a:lnSpc>
            </a:pPr>
            <a:r>
              <a:rPr lang="zh-CN" altLang="en-US" sz="2000" dirty="0"/>
              <a:t>用例（</a:t>
            </a:r>
            <a:r>
              <a:rPr lang="en-US" altLang="zh-CN" sz="2000" dirty="0"/>
              <a:t>Use Case</a:t>
            </a:r>
            <a:r>
              <a:rPr lang="zh-CN" altLang="en-US" sz="2000" dirty="0"/>
              <a:t>）是面向对象需求分析中的核心概念，用于描述系统在外部参与者（</a:t>
            </a:r>
            <a:r>
              <a:rPr lang="en-US" altLang="zh-CN" sz="2000" dirty="0"/>
              <a:t>Actor</a:t>
            </a:r>
            <a:r>
              <a:rPr lang="zh-CN" altLang="en-US" sz="2000" dirty="0"/>
              <a:t>）的交互下所执行的完整功能单元。</a:t>
            </a:r>
          </a:p>
          <a:p>
            <a:pPr>
              <a:lnSpc>
                <a:spcPct val="150000"/>
              </a:lnSpc>
            </a:pPr>
            <a:r>
              <a:rPr lang="zh-CN" altLang="en-US" sz="2000" dirty="0"/>
              <a:t>确定用例的方式：</a:t>
            </a:r>
            <a:endParaRPr lang="en-US" altLang="zh-CN" sz="2000" dirty="0"/>
          </a:p>
          <a:p>
            <a:pPr>
              <a:lnSpc>
                <a:spcPct val="150000"/>
              </a:lnSpc>
            </a:pPr>
            <a:r>
              <a:rPr lang="en-US" altLang="zh-CN" sz="2000" dirty="0"/>
              <a:t>1</a:t>
            </a:r>
            <a:r>
              <a:rPr lang="zh-CN" altLang="en-US" sz="2000" dirty="0"/>
              <a:t>）</a:t>
            </a:r>
            <a:r>
              <a:rPr lang="en-US" altLang="zh-CN" sz="2000" dirty="0"/>
              <a:t>FURPS+</a:t>
            </a:r>
            <a:r>
              <a:rPr lang="zh-CN" altLang="en-US" sz="2000" dirty="0"/>
              <a:t>：功能性需求</a:t>
            </a:r>
            <a:r>
              <a:rPr lang="en-US" altLang="zh-CN" sz="2000" dirty="0"/>
              <a:t>+</a:t>
            </a:r>
            <a:r>
              <a:rPr lang="zh-CN" altLang="en-US" sz="2000" dirty="0"/>
              <a:t>非功能性需求</a:t>
            </a:r>
            <a:endParaRPr lang="en-US" altLang="zh-CN" sz="2000" dirty="0"/>
          </a:p>
          <a:p>
            <a:pPr>
              <a:lnSpc>
                <a:spcPct val="150000"/>
              </a:lnSpc>
            </a:pPr>
            <a:r>
              <a:rPr lang="en-US" altLang="zh-CN" sz="2000" dirty="0"/>
              <a:t>2</a:t>
            </a:r>
            <a:r>
              <a:rPr lang="zh-CN" altLang="en-US" sz="2000" dirty="0"/>
              <a:t>）事件分解：外部事件、时间事件、状态事件</a:t>
            </a:r>
            <a:endParaRPr lang="en-US" altLang="zh-CN" sz="2000" dirty="0"/>
          </a:p>
          <a:p>
            <a:pPr>
              <a:lnSpc>
                <a:spcPct val="150000"/>
              </a:lnSpc>
            </a:pPr>
            <a:r>
              <a:rPr lang="en-US" altLang="zh-CN" sz="2000" dirty="0"/>
              <a:t>3</a:t>
            </a:r>
            <a:r>
              <a:rPr lang="zh-CN" altLang="en-US" sz="2000" dirty="0"/>
              <a:t>）</a:t>
            </a:r>
            <a:r>
              <a:rPr lang="en-US" altLang="zh-CN" sz="2000" dirty="0"/>
              <a:t>CRUD</a:t>
            </a:r>
            <a:r>
              <a:rPr lang="zh-CN" altLang="en-US" sz="2000" dirty="0"/>
              <a:t>方法：增删改查 </a:t>
            </a:r>
            <a:r>
              <a:rPr lang="en-US" altLang="zh-CN" sz="2000" dirty="0" err="1"/>
              <a:t>Creat</a:t>
            </a:r>
            <a:r>
              <a:rPr lang="en-US" altLang="zh-CN" sz="2000" dirty="0"/>
              <a:t> Report Update Delete</a:t>
            </a:r>
          </a:p>
        </p:txBody>
      </p:sp>
    </p:spTree>
    <p:extLst>
      <p:ext uri="{BB962C8B-B14F-4D97-AF65-F5344CB8AC3E}">
        <p14:creationId xmlns:p14="http://schemas.microsoft.com/office/powerpoint/2010/main" val="89127816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9AECE3-C97A-41B7-AFC9-B64350FD6AA1}"/>
              </a:ext>
            </a:extLst>
          </p:cNvPr>
          <p:cNvSpPr>
            <a:spLocks noGrp="1"/>
          </p:cNvSpPr>
          <p:nvPr>
            <p:ph type="title"/>
          </p:nvPr>
        </p:nvSpPr>
        <p:spPr/>
        <p:txBody>
          <a:bodyPr/>
          <a:lstStyle/>
          <a:p>
            <a:r>
              <a:rPr lang="zh-CN" altLang="en-US" dirty="0"/>
              <a:t>需求分析</a:t>
            </a:r>
          </a:p>
        </p:txBody>
      </p:sp>
      <p:sp>
        <p:nvSpPr>
          <p:cNvPr id="6" name="内容占位符 3">
            <a:extLst>
              <a:ext uri="{FF2B5EF4-FFF2-40B4-BE49-F238E27FC236}">
                <a16:creationId xmlns:a16="http://schemas.microsoft.com/office/drawing/2014/main" id="{8727B96B-5674-4290-A2BB-48057A0F7E3E}"/>
              </a:ext>
            </a:extLst>
          </p:cNvPr>
          <p:cNvSpPr txBox="1">
            <a:spLocks/>
          </p:cNvSpPr>
          <p:nvPr/>
        </p:nvSpPr>
        <p:spPr>
          <a:xfrm>
            <a:off x="990600" y="1463675"/>
            <a:ext cx="1080135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2000" b="1" dirty="0"/>
              <a:t>需求识别的方式：</a:t>
            </a:r>
            <a:endParaRPr lang="en-US" altLang="zh-CN" sz="2000" b="1" dirty="0"/>
          </a:p>
          <a:p>
            <a:pPr>
              <a:lnSpc>
                <a:spcPct val="150000"/>
              </a:lnSpc>
            </a:pPr>
            <a:r>
              <a:rPr lang="en-US" altLang="zh-CN" sz="2000" dirty="0"/>
              <a:t>1</a:t>
            </a:r>
            <a:r>
              <a:rPr lang="zh-CN" altLang="en-US" sz="2000" dirty="0"/>
              <a:t>）</a:t>
            </a:r>
            <a:r>
              <a:rPr lang="en-US" altLang="zh-CN" sz="2000" dirty="0"/>
              <a:t>FURPS+</a:t>
            </a:r>
            <a:r>
              <a:rPr lang="zh-CN" altLang="en-US" sz="2000" dirty="0"/>
              <a:t>：功能性需求</a:t>
            </a:r>
            <a:r>
              <a:rPr lang="en-US" altLang="zh-CN" sz="2000" dirty="0"/>
              <a:t>+</a:t>
            </a:r>
            <a:r>
              <a:rPr lang="zh-CN" altLang="en-US" sz="2000" dirty="0"/>
              <a:t>非功能性需求</a:t>
            </a:r>
            <a:endParaRPr lang="en-US" altLang="zh-CN" sz="2000" dirty="0"/>
          </a:p>
          <a:p>
            <a:pPr>
              <a:lnSpc>
                <a:spcPct val="150000"/>
              </a:lnSpc>
            </a:pPr>
            <a:r>
              <a:rPr lang="en-US" altLang="zh-CN" sz="2000" dirty="0"/>
              <a:t>2</a:t>
            </a:r>
            <a:r>
              <a:rPr lang="zh-CN" altLang="en-US" sz="2000" dirty="0"/>
              <a:t>）事件分解：外部事件、时间事件、状态事件</a:t>
            </a:r>
            <a:endParaRPr lang="en-US" altLang="zh-CN" sz="2000" dirty="0"/>
          </a:p>
          <a:p>
            <a:pPr>
              <a:lnSpc>
                <a:spcPct val="150000"/>
              </a:lnSpc>
            </a:pPr>
            <a:r>
              <a:rPr lang="en-US" altLang="zh-CN" sz="2000" dirty="0"/>
              <a:t>3</a:t>
            </a:r>
            <a:r>
              <a:rPr lang="zh-CN" altLang="en-US" sz="2000" dirty="0"/>
              <a:t>）</a:t>
            </a:r>
            <a:r>
              <a:rPr lang="en-US" altLang="zh-CN" sz="2000" dirty="0"/>
              <a:t>CRUD</a:t>
            </a:r>
            <a:r>
              <a:rPr lang="zh-CN" altLang="en-US" sz="2000" dirty="0"/>
              <a:t>方法：增删改查 </a:t>
            </a:r>
            <a:r>
              <a:rPr lang="en-US" altLang="zh-CN" sz="2000" dirty="0" err="1"/>
              <a:t>Creat</a:t>
            </a:r>
            <a:r>
              <a:rPr lang="en-US" altLang="zh-CN" sz="2000" dirty="0"/>
              <a:t> Report Update Delete</a:t>
            </a:r>
            <a:endParaRPr lang="zh-CN" altLang="en-US" sz="2000" dirty="0"/>
          </a:p>
        </p:txBody>
      </p:sp>
    </p:spTree>
    <p:extLst>
      <p:ext uri="{BB962C8B-B14F-4D97-AF65-F5344CB8AC3E}">
        <p14:creationId xmlns:p14="http://schemas.microsoft.com/office/powerpoint/2010/main" val="31653877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2FBB2878-F88C-4F6F-B010-1407F639DB1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fld id="{5F9B3CB7-8D77-4208-B126-57FC2903EDE0}" type="slidenum">
              <a:rPr lang="en-US" altLang="en-US" sz="1000"/>
              <a:pPr eaLnBrk="1" hangingPunct="1">
                <a:spcBef>
                  <a:spcPct val="0"/>
                </a:spcBef>
                <a:buClrTx/>
                <a:buSzTx/>
                <a:buFontTx/>
                <a:buNone/>
              </a:pPr>
              <a:t>72</a:t>
            </a:fld>
            <a:endParaRPr lang="en-US" altLang="en-US" sz="1000"/>
          </a:p>
        </p:txBody>
      </p:sp>
      <p:sp>
        <p:nvSpPr>
          <p:cNvPr id="20483" name="Rectangle 2">
            <a:extLst>
              <a:ext uri="{FF2B5EF4-FFF2-40B4-BE49-F238E27FC236}">
                <a16:creationId xmlns:a16="http://schemas.microsoft.com/office/drawing/2014/main" id="{C2FBE48D-0996-4B3E-BC88-721FDA4A658B}"/>
              </a:ext>
            </a:extLst>
          </p:cNvPr>
          <p:cNvSpPr>
            <a:spLocks noGrp="1" noChangeArrowheads="1"/>
          </p:cNvSpPr>
          <p:nvPr>
            <p:ph type="title"/>
          </p:nvPr>
        </p:nvSpPr>
        <p:spPr>
          <a:xfrm>
            <a:off x="139262" y="136525"/>
            <a:ext cx="10515600" cy="1325563"/>
          </a:xfrm>
        </p:spPr>
        <p:txBody>
          <a:bodyPr/>
          <a:lstStyle/>
          <a:p>
            <a:pPr eaLnBrk="1" hangingPunct="1"/>
            <a:r>
              <a:rPr lang="zh-CN" altLang="en-US" sz="3600" dirty="0">
                <a:ea typeface="宋体" panose="02010600030101010101" pitchFamily="2" charset="-122"/>
              </a:rPr>
              <a:t>需求识别方法：</a:t>
            </a:r>
            <a:r>
              <a:rPr lang="en-US" altLang="zh-CN" sz="3600" dirty="0">
                <a:ea typeface="宋体" panose="02010600030101010101" pitchFamily="2" charset="-122"/>
              </a:rPr>
              <a:t>FURPS+</a:t>
            </a:r>
          </a:p>
        </p:txBody>
      </p:sp>
      <p:pic>
        <p:nvPicPr>
          <p:cNvPr id="20484" name="Picture 8">
            <a:extLst>
              <a:ext uri="{FF2B5EF4-FFF2-40B4-BE49-F238E27FC236}">
                <a16:creationId xmlns:a16="http://schemas.microsoft.com/office/drawing/2014/main" id="{E8D32FD9-7306-41F8-8ECF-C311833DA16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034969" y="2412123"/>
            <a:ext cx="8017769" cy="3788157"/>
          </a:xfrm>
          <a:noFill/>
        </p:spPr>
      </p:pic>
      <p:sp>
        <p:nvSpPr>
          <p:cNvPr id="2" name="文本框 1">
            <a:extLst>
              <a:ext uri="{FF2B5EF4-FFF2-40B4-BE49-F238E27FC236}">
                <a16:creationId xmlns:a16="http://schemas.microsoft.com/office/drawing/2014/main" id="{F99E220B-DCDC-4275-AC5C-7619B4F56AF0}"/>
              </a:ext>
            </a:extLst>
          </p:cNvPr>
          <p:cNvSpPr txBox="1"/>
          <p:nvPr/>
        </p:nvSpPr>
        <p:spPr>
          <a:xfrm>
            <a:off x="5243658" y="3567660"/>
            <a:ext cx="1107996" cy="2585323"/>
          </a:xfrm>
          <a:prstGeom prst="rect">
            <a:avLst/>
          </a:prstGeom>
          <a:noFill/>
        </p:spPr>
        <p:txBody>
          <a:bodyPr wrap="none" rtlCol="0">
            <a:spAutoFit/>
          </a:bodyPr>
          <a:lstStyle/>
          <a:p>
            <a:r>
              <a:rPr lang="zh-CN" altLang="en-US" dirty="0"/>
              <a:t>可用性</a:t>
            </a:r>
            <a:endParaRPr lang="en-US" altLang="zh-CN" dirty="0"/>
          </a:p>
          <a:p>
            <a:r>
              <a:rPr lang="zh-CN" altLang="en-US" dirty="0"/>
              <a:t>可靠性</a:t>
            </a:r>
            <a:endParaRPr lang="en-US" altLang="zh-CN" dirty="0"/>
          </a:p>
          <a:p>
            <a:r>
              <a:rPr lang="zh-CN" altLang="en-US" dirty="0"/>
              <a:t>性能</a:t>
            </a:r>
            <a:endParaRPr lang="en-US" altLang="zh-CN" dirty="0"/>
          </a:p>
          <a:p>
            <a:r>
              <a:rPr lang="zh-CN" altLang="en-US" dirty="0"/>
              <a:t>安全</a:t>
            </a:r>
            <a:endParaRPr lang="en-US" altLang="zh-CN" dirty="0"/>
          </a:p>
          <a:p>
            <a:r>
              <a:rPr lang="zh-CN" altLang="en-US" dirty="0"/>
              <a:t>设计限制</a:t>
            </a:r>
            <a:endParaRPr lang="en-US" altLang="zh-CN" dirty="0"/>
          </a:p>
          <a:p>
            <a:r>
              <a:rPr lang="en-US" altLang="zh-CN" dirty="0"/>
              <a:t>  </a:t>
            </a:r>
            <a:r>
              <a:rPr lang="zh-CN" altLang="en-US" dirty="0"/>
              <a:t>开发</a:t>
            </a:r>
            <a:endParaRPr lang="en-US" altLang="zh-CN" dirty="0"/>
          </a:p>
          <a:p>
            <a:r>
              <a:rPr lang="en-US" altLang="zh-CN" dirty="0"/>
              <a:t>  </a:t>
            </a:r>
            <a:r>
              <a:rPr lang="zh-CN" altLang="en-US" dirty="0"/>
              <a:t>接口</a:t>
            </a:r>
            <a:endParaRPr lang="en-US" altLang="zh-CN" dirty="0"/>
          </a:p>
          <a:p>
            <a:r>
              <a:rPr lang="en-US" altLang="zh-CN" dirty="0"/>
              <a:t>  </a:t>
            </a:r>
            <a:r>
              <a:rPr lang="zh-CN" altLang="en-US" dirty="0"/>
              <a:t>物理层</a:t>
            </a:r>
            <a:endParaRPr lang="en-US" altLang="zh-CN" dirty="0"/>
          </a:p>
          <a:p>
            <a:r>
              <a:rPr lang="en-US" altLang="zh-CN" dirty="0"/>
              <a:t>  </a:t>
            </a:r>
            <a:r>
              <a:rPr lang="zh-CN" altLang="en-US" dirty="0"/>
              <a:t>支持</a:t>
            </a:r>
            <a:endParaRPr lang="en-US" altLang="zh-CN" dirty="0"/>
          </a:p>
        </p:txBody>
      </p:sp>
      <p:sp>
        <p:nvSpPr>
          <p:cNvPr id="8" name="Rectangle 4">
            <a:extLst>
              <a:ext uri="{FF2B5EF4-FFF2-40B4-BE49-F238E27FC236}">
                <a16:creationId xmlns:a16="http://schemas.microsoft.com/office/drawing/2014/main" id="{95852970-2F41-4B06-A638-65496C9954D5}"/>
              </a:ext>
            </a:extLst>
          </p:cNvPr>
          <p:cNvSpPr txBox="1">
            <a:spLocks noChangeArrowheads="1"/>
          </p:cNvSpPr>
          <p:nvPr/>
        </p:nvSpPr>
        <p:spPr>
          <a:xfrm>
            <a:off x="139262" y="1461373"/>
            <a:ext cx="8229600" cy="4606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a:ea typeface="宋体" panose="02010600030101010101" pitchFamily="2" charset="-122"/>
              </a:rPr>
              <a:t>F</a:t>
            </a:r>
            <a:r>
              <a:rPr lang="en-US" altLang="zh-CN" sz="1600">
                <a:ea typeface="宋体" panose="02010600030101010101" pitchFamily="2" charset="-122"/>
              </a:rPr>
              <a:t>unctional requirements</a:t>
            </a:r>
            <a:r>
              <a:rPr lang="zh-CN" altLang="en-US" sz="1600">
                <a:ea typeface="宋体" panose="02010600030101010101" pitchFamily="2" charset="-122"/>
              </a:rPr>
              <a:t>（功能需求）</a:t>
            </a:r>
            <a:endParaRPr lang="en-US" altLang="zh-CN" sz="1600">
              <a:ea typeface="宋体" panose="02010600030101010101" pitchFamily="2" charset="-122"/>
            </a:endParaRPr>
          </a:p>
          <a:p>
            <a:r>
              <a:rPr lang="en-US" altLang="zh-CN" sz="2400">
                <a:ea typeface="宋体" panose="02010600030101010101" pitchFamily="2" charset="-122"/>
              </a:rPr>
              <a:t>U</a:t>
            </a:r>
            <a:r>
              <a:rPr lang="en-US" altLang="zh-CN" sz="1600">
                <a:ea typeface="宋体" panose="02010600030101010101" pitchFamily="2" charset="-122"/>
              </a:rPr>
              <a:t>sability requirements</a:t>
            </a:r>
            <a:r>
              <a:rPr lang="zh-CN" altLang="en-US" sz="1600">
                <a:ea typeface="宋体" panose="02010600030101010101" pitchFamily="2" charset="-122"/>
              </a:rPr>
              <a:t>（可用性需求）</a:t>
            </a:r>
            <a:endParaRPr lang="en-US" altLang="zh-CN" sz="1600">
              <a:ea typeface="宋体" panose="02010600030101010101" pitchFamily="2" charset="-122"/>
            </a:endParaRPr>
          </a:p>
          <a:p>
            <a:r>
              <a:rPr lang="en-US" altLang="zh-CN" sz="2400">
                <a:ea typeface="宋体" panose="02010600030101010101" pitchFamily="2" charset="-122"/>
              </a:rPr>
              <a:t>R</a:t>
            </a:r>
            <a:r>
              <a:rPr lang="en-US" altLang="zh-CN" sz="1600">
                <a:ea typeface="宋体" panose="02010600030101010101" pitchFamily="2" charset="-122"/>
              </a:rPr>
              <a:t>eliability requirements</a:t>
            </a:r>
            <a:r>
              <a:rPr lang="zh-CN" altLang="en-US" sz="1600">
                <a:ea typeface="宋体" panose="02010600030101010101" pitchFamily="2" charset="-122"/>
              </a:rPr>
              <a:t>（可靠性需求）</a:t>
            </a:r>
            <a:endParaRPr lang="en-US" altLang="zh-CN" sz="1600">
              <a:ea typeface="宋体" panose="02010600030101010101" pitchFamily="2" charset="-122"/>
            </a:endParaRPr>
          </a:p>
          <a:p>
            <a:r>
              <a:rPr lang="en-US" altLang="zh-CN" sz="2400">
                <a:ea typeface="宋体" panose="02010600030101010101" pitchFamily="2" charset="-122"/>
              </a:rPr>
              <a:t>P</a:t>
            </a:r>
            <a:r>
              <a:rPr lang="en-US" altLang="zh-CN" sz="1600">
                <a:ea typeface="宋体" panose="02010600030101010101" pitchFamily="2" charset="-122"/>
              </a:rPr>
              <a:t>erformance requirements</a:t>
            </a:r>
            <a:r>
              <a:rPr lang="zh-CN" altLang="en-US" sz="1600">
                <a:ea typeface="宋体" panose="02010600030101010101" pitchFamily="2" charset="-122"/>
              </a:rPr>
              <a:t>（性能需求）</a:t>
            </a:r>
            <a:endParaRPr lang="en-US" altLang="zh-CN" sz="1600">
              <a:ea typeface="宋体" panose="02010600030101010101" pitchFamily="2" charset="-122"/>
            </a:endParaRPr>
          </a:p>
          <a:p>
            <a:r>
              <a:rPr lang="en-US" altLang="zh-CN" sz="2400">
                <a:ea typeface="宋体" panose="02010600030101010101" pitchFamily="2" charset="-122"/>
              </a:rPr>
              <a:t>S</a:t>
            </a:r>
            <a:r>
              <a:rPr lang="en-US" altLang="zh-CN" sz="1600">
                <a:ea typeface="宋体" panose="02010600030101010101" pitchFamily="2" charset="-122"/>
              </a:rPr>
              <a:t>ecurity requirements</a:t>
            </a:r>
            <a:r>
              <a:rPr lang="zh-CN" altLang="en-US" sz="1600">
                <a:ea typeface="宋体" panose="02010600030101010101" pitchFamily="2" charset="-122"/>
              </a:rPr>
              <a:t>（安全需求）</a:t>
            </a:r>
            <a:endParaRPr lang="en-US" altLang="zh-CN" sz="1600">
              <a:ea typeface="宋体" panose="02010600030101010101" pitchFamily="2" charset="-122"/>
            </a:endParaRPr>
          </a:p>
          <a:p>
            <a:r>
              <a:rPr lang="en-US" altLang="zh-CN" sz="2400">
                <a:ea typeface="宋体" panose="02010600030101010101" pitchFamily="2" charset="-122"/>
              </a:rPr>
              <a:t>+ </a:t>
            </a:r>
            <a:r>
              <a:rPr lang="en-US" altLang="zh-CN" sz="1600">
                <a:ea typeface="宋体" panose="02010600030101010101" pitchFamily="2" charset="-122"/>
              </a:rPr>
              <a:t>even more categories…</a:t>
            </a:r>
            <a:endParaRPr lang="en-US" altLang="zh-CN" sz="1600" dirty="0">
              <a:ea typeface="宋体" panose="02010600030101010101" pitchFamily="2" charset="-122"/>
            </a:endParaRPr>
          </a:p>
        </p:txBody>
      </p:sp>
    </p:spTree>
    <p:extLst>
      <p:ext uri="{BB962C8B-B14F-4D97-AF65-F5344CB8AC3E}">
        <p14:creationId xmlns:p14="http://schemas.microsoft.com/office/powerpoint/2010/main" val="218269957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B791F8-EFE5-4B03-BF9A-FF55D6040F58}"/>
              </a:ext>
            </a:extLst>
          </p:cNvPr>
          <p:cNvSpPr>
            <a:spLocks noGrp="1"/>
          </p:cNvSpPr>
          <p:nvPr>
            <p:ph type="title"/>
          </p:nvPr>
        </p:nvSpPr>
        <p:spPr/>
        <p:txBody>
          <a:bodyPr/>
          <a:lstStyle/>
          <a:p>
            <a:r>
              <a:rPr lang="zh-CN" altLang="en-US" dirty="0"/>
              <a:t>需求分析</a:t>
            </a:r>
          </a:p>
        </p:txBody>
      </p:sp>
      <p:sp>
        <p:nvSpPr>
          <p:cNvPr id="5" name="内容占位符 2">
            <a:extLst>
              <a:ext uri="{FF2B5EF4-FFF2-40B4-BE49-F238E27FC236}">
                <a16:creationId xmlns:a16="http://schemas.microsoft.com/office/drawing/2014/main" id="{4396239A-0820-4CBF-B9EF-11C5F89D9DCE}"/>
              </a:ext>
            </a:extLst>
          </p:cNvPr>
          <p:cNvSpPr txBox="1">
            <a:spLocks/>
          </p:cNvSpPr>
          <p:nvPr/>
        </p:nvSpPr>
        <p:spPr>
          <a:xfrm>
            <a:off x="838200" y="1825625"/>
            <a:ext cx="1074157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2</a:t>
            </a:r>
            <a:r>
              <a:rPr lang="zh-CN" altLang="en-US" dirty="0"/>
              <a:t>）事件分解技术</a:t>
            </a:r>
            <a:endParaRPr lang="en-US" altLang="zh-CN" dirty="0"/>
          </a:p>
          <a:p>
            <a:endParaRPr lang="en-US" altLang="zh-CN" dirty="0"/>
          </a:p>
          <a:p>
            <a:r>
              <a:rPr lang="zh-CN" altLang="en-US" dirty="0"/>
              <a:t>外部事件</a:t>
            </a:r>
            <a:r>
              <a:rPr lang="en-US" altLang="zh-CN" dirty="0"/>
              <a:t>:</a:t>
            </a:r>
            <a:r>
              <a:rPr lang="zh-CN" altLang="en-US" dirty="0"/>
              <a:t>外部事件发生在系统外部的事件，通常由外部代理或参与者发起</a:t>
            </a:r>
            <a:br>
              <a:rPr lang="zh-CN" altLang="en-US" dirty="0"/>
            </a:br>
            <a:endParaRPr lang="zh-CN" altLang="en-US" dirty="0"/>
          </a:p>
          <a:p>
            <a:r>
              <a:rPr lang="zh-CN" altLang="en-US" dirty="0"/>
              <a:t>时间事件</a:t>
            </a:r>
            <a:r>
              <a:rPr lang="en-US" altLang="zh-CN" dirty="0"/>
              <a:t>:</a:t>
            </a:r>
            <a:r>
              <a:rPr lang="zh-CN" altLang="en-US" dirty="0"/>
              <a:t>时间事件由于到达某个时间点而发生的事件</a:t>
            </a:r>
            <a:br>
              <a:rPr lang="zh-CN" altLang="en-US" dirty="0"/>
            </a:br>
            <a:endParaRPr lang="zh-CN" altLang="en-US" dirty="0"/>
          </a:p>
          <a:p>
            <a:r>
              <a:rPr lang="zh-CN" altLang="en-US" dirty="0"/>
              <a:t>状态事件</a:t>
            </a:r>
            <a:r>
              <a:rPr lang="en-US" altLang="zh-CN" dirty="0"/>
              <a:t>:</a:t>
            </a:r>
            <a:r>
              <a:rPr lang="zh-CN" altLang="en-US" dirty="0"/>
              <a:t>状态事件</a:t>
            </a:r>
            <a:r>
              <a:rPr lang="en-US" altLang="zh-CN" dirty="0"/>
              <a:t>(</a:t>
            </a:r>
            <a:r>
              <a:rPr lang="zh-CN" altLang="en-US" dirty="0"/>
              <a:t>内部事件</a:t>
            </a:r>
            <a:r>
              <a:rPr lang="en-US" altLang="zh-CN" dirty="0"/>
              <a:t>):</a:t>
            </a:r>
            <a:r>
              <a:rPr lang="zh-CN" altLang="en-US" dirty="0"/>
              <a:t>当系统内部发生某些事情时发生的事件（库存物品到达重新订购点）</a:t>
            </a:r>
          </a:p>
          <a:p>
            <a:pPr lvl="1"/>
            <a:endParaRPr lang="en-US" altLang="zh-CN" dirty="0"/>
          </a:p>
          <a:p>
            <a:endParaRPr lang="zh-CN" altLang="en-US" dirty="0"/>
          </a:p>
          <a:p>
            <a:endParaRPr lang="en-US" altLang="zh-CN" b="1" dirty="0">
              <a:solidFill>
                <a:srgbClr val="C00000"/>
              </a:solidFill>
            </a:endParaRPr>
          </a:p>
          <a:p>
            <a:endParaRPr lang="zh-CN" altLang="en-US" dirty="0"/>
          </a:p>
        </p:txBody>
      </p:sp>
    </p:spTree>
    <p:extLst>
      <p:ext uri="{BB962C8B-B14F-4D97-AF65-F5344CB8AC3E}">
        <p14:creationId xmlns:p14="http://schemas.microsoft.com/office/powerpoint/2010/main" val="312228334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B791F8-EFE5-4B03-BF9A-FF55D6040F58}"/>
              </a:ext>
            </a:extLst>
          </p:cNvPr>
          <p:cNvSpPr>
            <a:spLocks noGrp="1"/>
          </p:cNvSpPr>
          <p:nvPr>
            <p:ph type="title"/>
          </p:nvPr>
        </p:nvSpPr>
        <p:spPr/>
        <p:txBody>
          <a:bodyPr/>
          <a:lstStyle/>
          <a:p>
            <a:r>
              <a:rPr lang="zh-CN" altLang="en-US" dirty="0"/>
              <a:t>需求分析</a:t>
            </a:r>
          </a:p>
        </p:txBody>
      </p:sp>
      <p:pic>
        <p:nvPicPr>
          <p:cNvPr id="4" name="Picture 7">
            <a:extLst>
              <a:ext uri="{FF2B5EF4-FFF2-40B4-BE49-F238E27FC236}">
                <a16:creationId xmlns:a16="http://schemas.microsoft.com/office/drawing/2014/main" id="{391314CB-8F33-4313-B620-477CD36BD28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688891" y="1690688"/>
            <a:ext cx="6098628" cy="4495253"/>
          </a:xfrm>
          <a:noFill/>
        </p:spPr>
      </p:pic>
      <p:sp>
        <p:nvSpPr>
          <p:cNvPr id="6" name="矩形 5">
            <a:extLst>
              <a:ext uri="{FF2B5EF4-FFF2-40B4-BE49-F238E27FC236}">
                <a16:creationId xmlns:a16="http://schemas.microsoft.com/office/drawing/2014/main" id="{7BF7E64E-E6E2-4E65-9512-E3810EAF786E}"/>
              </a:ext>
            </a:extLst>
          </p:cNvPr>
          <p:cNvSpPr/>
          <p:nvPr/>
        </p:nvSpPr>
        <p:spPr>
          <a:xfrm>
            <a:off x="3618186" y="2646442"/>
            <a:ext cx="950644" cy="56972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FA3B16EE-C1F1-47C1-B10F-ED4699B26EB4}"/>
              </a:ext>
            </a:extLst>
          </p:cNvPr>
          <p:cNvSpPr/>
          <p:nvPr/>
        </p:nvSpPr>
        <p:spPr>
          <a:xfrm>
            <a:off x="4438992" y="3343700"/>
            <a:ext cx="1299213" cy="4531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17054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B791F8-EFE5-4B03-BF9A-FF55D6040F58}"/>
              </a:ext>
            </a:extLst>
          </p:cNvPr>
          <p:cNvSpPr>
            <a:spLocks noGrp="1"/>
          </p:cNvSpPr>
          <p:nvPr>
            <p:ph type="title"/>
          </p:nvPr>
        </p:nvSpPr>
        <p:spPr/>
        <p:txBody>
          <a:bodyPr/>
          <a:lstStyle/>
          <a:p>
            <a:r>
              <a:rPr lang="zh-CN" altLang="en-US" dirty="0"/>
              <a:t>需求分析</a:t>
            </a:r>
          </a:p>
        </p:txBody>
      </p:sp>
      <p:sp>
        <p:nvSpPr>
          <p:cNvPr id="5" name="内容占位符 2">
            <a:extLst>
              <a:ext uri="{FF2B5EF4-FFF2-40B4-BE49-F238E27FC236}">
                <a16:creationId xmlns:a16="http://schemas.microsoft.com/office/drawing/2014/main" id="{4396239A-0820-4CBF-B9EF-11C5F89D9DCE}"/>
              </a:ext>
            </a:extLst>
          </p:cNvPr>
          <p:cNvSpPr txBox="1">
            <a:spLocks/>
          </p:cNvSpPr>
          <p:nvPr/>
        </p:nvSpPr>
        <p:spPr>
          <a:xfrm>
            <a:off x="838200" y="1825625"/>
            <a:ext cx="1074157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3</a:t>
            </a:r>
            <a:r>
              <a:rPr lang="zh-CN" altLang="en-US" dirty="0"/>
              <a:t>）</a:t>
            </a:r>
            <a:r>
              <a:rPr lang="en-US" altLang="zh-CN" dirty="0"/>
              <a:t>CRUD</a:t>
            </a:r>
            <a:r>
              <a:rPr lang="zh-CN" altLang="en-US" dirty="0"/>
              <a:t>：</a:t>
            </a:r>
            <a:r>
              <a:rPr lang="en-US" altLang="zh-CN" dirty="0"/>
              <a:t>  Create</a:t>
            </a:r>
            <a:r>
              <a:rPr lang="zh-CN" altLang="en-US" dirty="0"/>
              <a:t>（增）</a:t>
            </a:r>
            <a:r>
              <a:rPr lang="en-US" altLang="zh-CN" dirty="0"/>
              <a:t>, Read/Report</a:t>
            </a:r>
            <a:r>
              <a:rPr lang="zh-CN" altLang="en-US" dirty="0"/>
              <a:t>（查）</a:t>
            </a:r>
            <a:r>
              <a:rPr lang="en-US" altLang="zh-CN" dirty="0"/>
              <a:t>, Update</a:t>
            </a:r>
            <a:r>
              <a:rPr lang="zh-CN" altLang="en-US" dirty="0"/>
              <a:t>（改）</a:t>
            </a:r>
            <a:r>
              <a:rPr lang="en-US" altLang="zh-CN" dirty="0"/>
              <a:t>, and Delete (</a:t>
            </a:r>
            <a:r>
              <a:rPr lang="zh-CN" altLang="en-US" dirty="0"/>
              <a:t>删</a:t>
            </a:r>
            <a:r>
              <a:rPr lang="en-US" altLang="zh-CN" dirty="0"/>
              <a:t>)</a:t>
            </a:r>
          </a:p>
          <a:p>
            <a:r>
              <a:rPr lang="zh-CN" altLang="en-US" dirty="0"/>
              <a:t>用于验证、改进或交叉检查用例的技术</a:t>
            </a:r>
          </a:p>
          <a:p>
            <a:pPr lvl="1"/>
            <a:endParaRPr lang="en-US" altLang="zh-CN" dirty="0"/>
          </a:p>
          <a:p>
            <a:endParaRPr lang="zh-CN" altLang="en-US" dirty="0"/>
          </a:p>
          <a:p>
            <a:endParaRPr lang="en-US" altLang="zh-CN" b="1" dirty="0">
              <a:solidFill>
                <a:srgbClr val="C00000"/>
              </a:solidFill>
            </a:endParaRPr>
          </a:p>
          <a:p>
            <a:endParaRPr lang="zh-CN" altLang="en-US" dirty="0"/>
          </a:p>
        </p:txBody>
      </p:sp>
      <p:pic>
        <p:nvPicPr>
          <p:cNvPr id="4" name="Picture 7">
            <a:extLst>
              <a:ext uri="{FF2B5EF4-FFF2-40B4-BE49-F238E27FC236}">
                <a16:creationId xmlns:a16="http://schemas.microsoft.com/office/drawing/2014/main" id="{AB5B3A83-03C9-4BFC-AD33-8961848375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057400" y="3563938"/>
            <a:ext cx="8077200" cy="2747962"/>
          </a:xfrm>
          <a:prstGeom prst="rect">
            <a:avLst/>
          </a:prstGeom>
          <a:noFill/>
        </p:spPr>
      </p:pic>
    </p:spTree>
    <p:extLst>
      <p:ext uri="{BB962C8B-B14F-4D97-AF65-F5344CB8AC3E}">
        <p14:creationId xmlns:p14="http://schemas.microsoft.com/office/powerpoint/2010/main" val="10603879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9AECE3-C97A-41B7-AFC9-B64350FD6AA1}"/>
              </a:ext>
            </a:extLst>
          </p:cNvPr>
          <p:cNvSpPr>
            <a:spLocks noGrp="1"/>
          </p:cNvSpPr>
          <p:nvPr>
            <p:ph type="title"/>
          </p:nvPr>
        </p:nvSpPr>
        <p:spPr/>
        <p:txBody>
          <a:bodyPr/>
          <a:lstStyle/>
          <a:p>
            <a:r>
              <a:rPr lang="zh-CN" altLang="en-US" dirty="0"/>
              <a:t>需求分析</a:t>
            </a:r>
          </a:p>
        </p:txBody>
      </p:sp>
      <p:sp>
        <p:nvSpPr>
          <p:cNvPr id="6" name="内容占位符 3">
            <a:extLst>
              <a:ext uri="{FF2B5EF4-FFF2-40B4-BE49-F238E27FC236}">
                <a16:creationId xmlns:a16="http://schemas.microsoft.com/office/drawing/2014/main" id="{8727B96B-5674-4290-A2BB-48057A0F7E3E}"/>
              </a:ext>
            </a:extLst>
          </p:cNvPr>
          <p:cNvSpPr txBox="1">
            <a:spLocks/>
          </p:cNvSpPr>
          <p:nvPr/>
        </p:nvSpPr>
        <p:spPr>
          <a:xfrm>
            <a:off x="990600" y="1463675"/>
            <a:ext cx="1080135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sz="2000" b="1" dirty="0"/>
              <a:t>用例：</a:t>
            </a:r>
            <a:endParaRPr lang="en-US" altLang="zh-CN" sz="2000" b="1" dirty="0"/>
          </a:p>
          <a:p>
            <a:pPr>
              <a:lnSpc>
                <a:spcPct val="150000"/>
              </a:lnSpc>
            </a:pPr>
            <a:r>
              <a:rPr lang="zh-CN" altLang="en-US" sz="2000" dirty="0"/>
              <a:t>确定用例的规范：</a:t>
            </a:r>
            <a:endParaRPr lang="en-US" altLang="zh-CN" sz="2000" dirty="0"/>
          </a:p>
          <a:p>
            <a:pPr>
              <a:lnSpc>
                <a:spcPct val="150000"/>
              </a:lnSpc>
            </a:pPr>
            <a:r>
              <a:rPr lang="en-US" altLang="zh-CN" sz="2000" dirty="0"/>
              <a:t>1</a:t>
            </a:r>
            <a:r>
              <a:rPr lang="zh-CN" altLang="en-US" sz="2000" dirty="0"/>
              <a:t>）命名：用例命名需遵循动宾结构，以 “动词 </a:t>
            </a:r>
            <a:r>
              <a:rPr lang="en-US" altLang="zh-CN" sz="2000" dirty="0"/>
              <a:t>+ </a:t>
            </a:r>
            <a:r>
              <a:rPr lang="zh-CN" altLang="en-US" sz="2000" dirty="0"/>
              <a:t>名词” 形式准确描述功能行为，比如 “提交订单”“查询图书”，避免使用 “登录”“管理” </a:t>
            </a:r>
            <a:endParaRPr lang="en-US" altLang="zh-CN" sz="2000" dirty="0"/>
          </a:p>
          <a:p>
            <a:pPr>
              <a:lnSpc>
                <a:spcPct val="150000"/>
              </a:lnSpc>
            </a:pPr>
            <a:r>
              <a:rPr lang="en-US" altLang="zh-CN" sz="2000" dirty="0"/>
              <a:t>2</a:t>
            </a:r>
            <a:r>
              <a:rPr lang="zh-CN" altLang="en-US" sz="2000" dirty="0"/>
              <a:t>）用例粒度要合适</a:t>
            </a:r>
          </a:p>
        </p:txBody>
      </p:sp>
    </p:spTree>
    <p:extLst>
      <p:ext uri="{BB962C8B-B14F-4D97-AF65-F5344CB8AC3E}">
        <p14:creationId xmlns:p14="http://schemas.microsoft.com/office/powerpoint/2010/main" val="36772102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B791F8-EFE5-4B03-BF9A-FF55D6040F58}"/>
              </a:ext>
            </a:extLst>
          </p:cNvPr>
          <p:cNvSpPr>
            <a:spLocks noGrp="1"/>
          </p:cNvSpPr>
          <p:nvPr>
            <p:ph type="title"/>
          </p:nvPr>
        </p:nvSpPr>
        <p:spPr/>
        <p:txBody>
          <a:bodyPr/>
          <a:lstStyle/>
          <a:p>
            <a:r>
              <a:rPr lang="zh-CN" altLang="en-US" dirty="0"/>
              <a:t>需求分析</a:t>
            </a:r>
            <a:r>
              <a:rPr lang="en-US" altLang="zh-CN" dirty="0"/>
              <a:t>-</a:t>
            </a:r>
            <a:r>
              <a:rPr lang="zh-CN" altLang="en-US" dirty="0"/>
              <a:t>其他知识点</a:t>
            </a:r>
          </a:p>
        </p:txBody>
      </p:sp>
      <p:sp>
        <p:nvSpPr>
          <p:cNvPr id="5" name="内容占位符 2">
            <a:extLst>
              <a:ext uri="{FF2B5EF4-FFF2-40B4-BE49-F238E27FC236}">
                <a16:creationId xmlns:a16="http://schemas.microsoft.com/office/drawing/2014/main" id="{4396239A-0820-4CBF-B9EF-11C5F89D9DCE}"/>
              </a:ext>
            </a:extLst>
          </p:cNvPr>
          <p:cNvSpPr txBox="1">
            <a:spLocks/>
          </p:cNvSpPr>
          <p:nvPr/>
        </p:nvSpPr>
        <p:spPr>
          <a:xfrm>
            <a:off x="838200" y="1825625"/>
            <a:ext cx="1074157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1</a:t>
            </a:r>
            <a:r>
              <a:rPr lang="zh-CN" altLang="en-US" dirty="0"/>
              <a:t>）命名方式：动词</a:t>
            </a:r>
            <a:r>
              <a:rPr lang="en-US" altLang="zh-CN" dirty="0"/>
              <a:t>+</a:t>
            </a:r>
            <a:r>
              <a:rPr lang="zh-CN" altLang="en-US" dirty="0"/>
              <a:t>名词（</a:t>
            </a:r>
            <a:r>
              <a:rPr lang="en-US" altLang="zh-CN" dirty="0"/>
              <a:t>do </a:t>
            </a:r>
            <a:r>
              <a:rPr lang="en-US" altLang="zh-CN" dirty="0" err="1"/>
              <a:t>sth</a:t>
            </a:r>
            <a:r>
              <a:rPr lang="zh-CN" altLang="en-US" dirty="0"/>
              <a:t>）</a:t>
            </a:r>
          </a:p>
          <a:p>
            <a:endParaRPr lang="en-US" altLang="zh-CN" b="1" dirty="0">
              <a:solidFill>
                <a:srgbClr val="C00000"/>
              </a:solidFill>
            </a:endParaRPr>
          </a:p>
          <a:p>
            <a:endParaRPr lang="zh-CN" altLang="en-US" dirty="0"/>
          </a:p>
        </p:txBody>
      </p:sp>
      <p:pic>
        <p:nvPicPr>
          <p:cNvPr id="8" name="Picture 7">
            <a:extLst>
              <a:ext uri="{FF2B5EF4-FFF2-40B4-BE49-F238E27FC236}">
                <a16:creationId xmlns:a16="http://schemas.microsoft.com/office/drawing/2014/main" id="{E61A4C36-2500-4D12-98E0-94E7B0F62B6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375717" y="2569561"/>
            <a:ext cx="9148115" cy="3485249"/>
          </a:xfrm>
          <a:noFill/>
        </p:spPr>
      </p:pic>
    </p:spTree>
    <p:extLst>
      <p:ext uri="{BB962C8B-B14F-4D97-AF65-F5344CB8AC3E}">
        <p14:creationId xmlns:p14="http://schemas.microsoft.com/office/powerpoint/2010/main" val="19015648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B791F8-EFE5-4B03-BF9A-FF55D6040F58}"/>
              </a:ext>
            </a:extLst>
          </p:cNvPr>
          <p:cNvSpPr>
            <a:spLocks noGrp="1"/>
          </p:cNvSpPr>
          <p:nvPr>
            <p:ph type="title"/>
          </p:nvPr>
        </p:nvSpPr>
        <p:spPr/>
        <p:txBody>
          <a:bodyPr/>
          <a:lstStyle/>
          <a:p>
            <a:r>
              <a:rPr lang="zh-CN" altLang="en-US" dirty="0"/>
              <a:t>需求分析</a:t>
            </a:r>
            <a:r>
              <a:rPr lang="en-US" altLang="zh-CN" dirty="0"/>
              <a:t>-</a:t>
            </a:r>
            <a:r>
              <a:rPr lang="zh-CN" altLang="en-US" dirty="0"/>
              <a:t>其他知识点</a:t>
            </a:r>
          </a:p>
        </p:txBody>
      </p:sp>
      <p:sp>
        <p:nvSpPr>
          <p:cNvPr id="5" name="内容占位符 2">
            <a:extLst>
              <a:ext uri="{FF2B5EF4-FFF2-40B4-BE49-F238E27FC236}">
                <a16:creationId xmlns:a16="http://schemas.microsoft.com/office/drawing/2014/main" id="{4396239A-0820-4CBF-B9EF-11C5F89D9DCE}"/>
              </a:ext>
            </a:extLst>
          </p:cNvPr>
          <p:cNvSpPr txBox="1">
            <a:spLocks/>
          </p:cNvSpPr>
          <p:nvPr/>
        </p:nvSpPr>
        <p:spPr>
          <a:xfrm>
            <a:off x="838200" y="1825625"/>
            <a:ext cx="1074157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2</a:t>
            </a:r>
            <a:r>
              <a:rPr lang="zh-CN" altLang="en-US" dirty="0"/>
              <a:t>）用例需要有合适的粒度：</a:t>
            </a:r>
            <a:endParaRPr lang="en-US" altLang="zh-CN" dirty="0"/>
          </a:p>
          <a:p>
            <a:pPr lvl="1"/>
            <a:r>
              <a:rPr lang="en-US" altLang="zh-CN" dirty="0"/>
              <a:t>A:  </a:t>
            </a:r>
            <a:r>
              <a:rPr lang="zh-CN" altLang="en-US" dirty="0"/>
              <a:t>在表格中输入一个顾客姓名</a:t>
            </a:r>
          </a:p>
          <a:p>
            <a:pPr lvl="1"/>
            <a:r>
              <a:rPr lang="en-US" altLang="zh-CN" dirty="0"/>
              <a:t>B</a:t>
            </a:r>
            <a:r>
              <a:rPr lang="zh-CN" altLang="en-US" dirty="0"/>
              <a:t>：增加新顾客信息</a:t>
            </a:r>
          </a:p>
          <a:p>
            <a:pPr lvl="1"/>
            <a:r>
              <a:rPr lang="en-US" altLang="zh-CN" dirty="0"/>
              <a:t>C</a:t>
            </a:r>
            <a:r>
              <a:rPr lang="zh-CN" altLang="en-US" dirty="0"/>
              <a:t>：增加新顾客、删除顾客、跟踪预期付款的顾客、联系以前的顾客</a:t>
            </a:r>
          </a:p>
          <a:p>
            <a:pPr lvl="1"/>
            <a:endParaRPr lang="en-US" altLang="zh-CN" dirty="0"/>
          </a:p>
          <a:p>
            <a:r>
              <a:rPr lang="en-US" altLang="zh-CN" dirty="0"/>
              <a:t>B</a:t>
            </a:r>
            <a:r>
              <a:rPr lang="zh-CN" altLang="en-US" dirty="0"/>
              <a:t>最为合适</a:t>
            </a:r>
          </a:p>
          <a:p>
            <a:endParaRPr lang="en-US" altLang="zh-CN" b="1" dirty="0">
              <a:solidFill>
                <a:srgbClr val="C00000"/>
              </a:solidFill>
            </a:endParaRPr>
          </a:p>
          <a:p>
            <a:endParaRPr lang="zh-CN" altLang="en-US" dirty="0"/>
          </a:p>
        </p:txBody>
      </p:sp>
    </p:spTree>
    <p:extLst>
      <p:ext uri="{BB962C8B-B14F-4D97-AF65-F5344CB8AC3E}">
        <p14:creationId xmlns:p14="http://schemas.microsoft.com/office/powerpoint/2010/main" val="1921210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10" fill="hold"/>
                                        <p:tgtEl>
                                          <p:spTgt spid="5">
                                            <p:txEl>
                                              <p:pRg st="2" end="2"/>
                                            </p:txEl>
                                          </p:spTgt>
                                        </p:tgtEl>
                                        <p:attrNameLst>
                                          <p:attrName>style.color</p:attrName>
                                        </p:attrNameLst>
                                      </p:cBhvr>
                                      <p:to>
                                        <a:srgbClr val="C00000"/>
                                      </p:to>
                                    </p:animClr>
                                    <p:animClr clrSpc="rgb" dir="cw">
                                      <p:cBhvr>
                                        <p:cTn id="7" dur="10" fill="hold"/>
                                        <p:tgtEl>
                                          <p:spTgt spid="5">
                                            <p:txEl>
                                              <p:pRg st="2" end="2"/>
                                            </p:txEl>
                                          </p:spTgt>
                                        </p:tgtEl>
                                        <p:attrNameLst>
                                          <p:attrName>fillcolor</p:attrName>
                                        </p:attrNameLst>
                                      </p:cBhvr>
                                      <p:to>
                                        <a:srgbClr val="C00000"/>
                                      </p:to>
                                    </p:animClr>
                                    <p:set>
                                      <p:cBhvr>
                                        <p:cTn id="8" dur="10" fill="hold"/>
                                        <p:tgtEl>
                                          <p:spTgt spid="5">
                                            <p:txEl>
                                              <p:pRg st="2" end="2"/>
                                            </p:txEl>
                                          </p:spTgt>
                                        </p:tgtEl>
                                        <p:attrNameLst>
                                          <p:attrName>fill.type</p:attrName>
                                        </p:attrNameLst>
                                      </p:cBhvr>
                                      <p:to>
                                        <p:strVal val="solid"/>
                                      </p:to>
                                    </p:set>
                                    <p:set>
                                      <p:cBhvr>
                                        <p:cTn id="9" dur="10" fill="hold"/>
                                        <p:tgtEl>
                                          <p:spTgt spid="5">
                                            <p:txEl>
                                              <p:pRg st="2" end="2"/>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a:xfrm>
            <a:off x="838200" y="1825625"/>
            <a:ext cx="5500816" cy="4351338"/>
          </a:xfrm>
        </p:spPr>
        <p:txBody>
          <a:bodyPr/>
          <a:lstStyle/>
          <a:p>
            <a:r>
              <a:rPr lang="zh-CN" altLang="en-US" dirty="0"/>
              <a:t>用例图（</a:t>
            </a:r>
            <a:r>
              <a:rPr lang="en-US" altLang="zh-CN" dirty="0"/>
              <a:t>Use Case Diagram</a:t>
            </a:r>
            <a:r>
              <a:rPr lang="zh-CN" altLang="en-US" dirty="0"/>
              <a:t>）</a:t>
            </a:r>
            <a:endParaRPr lang="en-US" altLang="zh-CN" dirty="0"/>
          </a:p>
          <a:p>
            <a:pPr lvl="1"/>
            <a:r>
              <a:rPr lang="zh-CN" altLang="en-US" dirty="0"/>
              <a:t>方框：系统边界</a:t>
            </a:r>
            <a:endParaRPr lang="en-US" altLang="zh-CN" dirty="0"/>
          </a:p>
          <a:p>
            <a:pPr lvl="1"/>
            <a:r>
              <a:rPr lang="zh-CN" altLang="en-US" dirty="0"/>
              <a:t>椭圆框：用例</a:t>
            </a:r>
            <a:endParaRPr lang="en-US" altLang="zh-CN" dirty="0"/>
          </a:p>
          <a:p>
            <a:pPr lvl="1"/>
            <a:r>
              <a:rPr lang="zh-CN" altLang="en-US" dirty="0"/>
              <a:t>小人：用户</a:t>
            </a:r>
            <a:endParaRPr lang="en-US" altLang="zh-CN" dirty="0"/>
          </a:p>
        </p:txBody>
      </p:sp>
      <p:pic>
        <p:nvPicPr>
          <p:cNvPr id="4" name="Picture 7">
            <a:extLst>
              <a:ext uri="{FF2B5EF4-FFF2-40B4-BE49-F238E27FC236}">
                <a16:creationId xmlns:a16="http://schemas.microsoft.com/office/drawing/2014/main" id="{396EE14F-CF7E-40A5-8CA3-80B40F1389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3307" y="520871"/>
            <a:ext cx="4864101" cy="5445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44071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9B0D60DA-FAD1-4814-B314-CE700A0A020E}"/>
              </a:ext>
            </a:extLst>
          </p:cNvPr>
          <p:cNvSpPr>
            <a:spLocks noGrp="1"/>
          </p:cNvSpPr>
          <p:nvPr>
            <p:ph type="body" sz="half" idx="1"/>
          </p:nvPr>
        </p:nvSpPr>
        <p:spPr>
          <a:xfrm>
            <a:off x="1828800" y="1295400"/>
            <a:ext cx="4038600" cy="4411662"/>
          </a:xfrm>
        </p:spPr>
        <p:txBody>
          <a:bodyPr/>
          <a:lstStyle/>
          <a:p>
            <a:r>
              <a:rPr lang="zh-CN" altLang="en-US" sz="2400" dirty="0"/>
              <a:t>当执行</a:t>
            </a:r>
            <a:r>
              <a:rPr lang="en-US" altLang="zh-CN" sz="2400" dirty="0"/>
              <a:t>A</a:t>
            </a:r>
            <a:r>
              <a:rPr lang="zh-CN" altLang="en-US" sz="2400" dirty="0"/>
              <a:t>用例时，</a:t>
            </a:r>
            <a:r>
              <a:rPr lang="zh-CN" altLang="en-US" sz="2400" u="sng" dirty="0"/>
              <a:t>必须执行</a:t>
            </a:r>
            <a:r>
              <a:rPr lang="en-US" altLang="zh-CN" sz="2400" u="sng" dirty="0"/>
              <a:t>B</a:t>
            </a:r>
            <a:r>
              <a:rPr lang="zh-CN" altLang="en-US" sz="2400" u="sng" dirty="0"/>
              <a:t>用例</a:t>
            </a:r>
            <a:r>
              <a:rPr lang="zh-CN" altLang="en-US" sz="2400" dirty="0"/>
              <a:t>才完整</a:t>
            </a:r>
            <a:endParaRPr lang="en-US" altLang="zh-CN" sz="2400" dirty="0"/>
          </a:p>
          <a:p>
            <a:r>
              <a:rPr lang="zh-CN" altLang="en-US" sz="2400" dirty="0"/>
              <a:t>这种情况就是</a:t>
            </a:r>
            <a:r>
              <a:rPr lang="en-US" altLang="zh-CN" sz="2400" dirty="0"/>
              <a:t>A</a:t>
            </a:r>
            <a:r>
              <a:rPr lang="zh-CN" altLang="en-US" sz="2400" dirty="0"/>
              <a:t>用例</a:t>
            </a:r>
            <a:r>
              <a:rPr lang="en-US" altLang="zh-CN" sz="2400" dirty="0">
                <a:solidFill>
                  <a:srgbClr val="C00000"/>
                </a:solidFill>
              </a:rPr>
              <a:t>&lt;&lt;</a:t>
            </a:r>
            <a:r>
              <a:rPr lang="zh-CN" altLang="en-US" sz="2400" dirty="0">
                <a:solidFill>
                  <a:srgbClr val="C00000"/>
                </a:solidFill>
              </a:rPr>
              <a:t>包含</a:t>
            </a:r>
            <a:r>
              <a:rPr lang="en-US" altLang="zh-CN" sz="2400" dirty="0">
                <a:solidFill>
                  <a:srgbClr val="C00000"/>
                </a:solidFill>
              </a:rPr>
              <a:t>&gt;&gt;</a:t>
            </a:r>
            <a:r>
              <a:rPr lang="zh-CN" altLang="en-US" sz="2400" dirty="0"/>
              <a:t>了</a:t>
            </a:r>
            <a:r>
              <a:rPr lang="en-US" altLang="zh-CN" sz="2400" dirty="0"/>
              <a:t>A</a:t>
            </a:r>
            <a:r>
              <a:rPr lang="zh-CN" altLang="en-US" sz="2400" dirty="0"/>
              <a:t>用例</a:t>
            </a:r>
          </a:p>
        </p:txBody>
      </p:sp>
      <p:sp>
        <p:nvSpPr>
          <p:cNvPr id="5" name="页脚占位符 4">
            <a:extLst>
              <a:ext uri="{FF2B5EF4-FFF2-40B4-BE49-F238E27FC236}">
                <a16:creationId xmlns:a16="http://schemas.microsoft.com/office/drawing/2014/main" id="{CF434D58-6AD5-4C99-A4A7-B89457844B32}"/>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6" name="灯片编号占位符 5">
            <a:extLst>
              <a:ext uri="{FF2B5EF4-FFF2-40B4-BE49-F238E27FC236}">
                <a16:creationId xmlns:a16="http://schemas.microsoft.com/office/drawing/2014/main" id="{AB909C65-28CE-4462-BDF7-106C52A87115}"/>
              </a:ext>
            </a:extLst>
          </p:cNvPr>
          <p:cNvSpPr>
            <a:spLocks noGrp="1"/>
          </p:cNvSpPr>
          <p:nvPr>
            <p:ph type="sldNum" sz="quarter" idx="12"/>
          </p:nvPr>
        </p:nvSpPr>
        <p:spPr/>
        <p:txBody>
          <a:bodyPr/>
          <a:lstStyle/>
          <a:p>
            <a:fld id="{B753FDD0-7D31-4A1B-A2DD-1773C1FEDA0B}" type="slidenum">
              <a:rPr lang="en-US" altLang="en-US" smtClean="0"/>
              <a:pPr/>
              <a:t>80</a:t>
            </a:fld>
            <a:endParaRPr lang="en-US" altLang="en-US"/>
          </a:p>
        </p:txBody>
      </p:sp>
      <p:sp>
        <p:nvSpPr>
          <p:cNvPr id="7" name="Rectangle 2">
            <a:extLst>
              <a:ext uri="{FF2B5EF4-FFF2-40B4-BE49-F238E27FC236}">
                <a16:creationId xmlns:a16="http://schemas.microsoft.com/office/drawing/2014/main" id="{CB9BDB5F-07F7-4B72-8145-F59CA7FAAD1B}"/>
              </a:ext>
            </a:extLst>
          </p:cNvPr>
          <p:cNvSpPr>
            <a:spLocks noGrp="1" noChangeArrowheads="1"/>
          </p:cNvSpPr>
          <p:nvPr>
            <p:ph type="title"/>
          </p:nvPr>
        </p:nvSpPr>
        <p:spPr>
          <a:xfrm>
            <a:off x="1828800" y="228600"/>
            <a:ext cx="7315200" cy="838200"/>
          </a:xfrm>
        </p:spPr>
        <p:txBody>
          <a:bodyPr>
            <a:normAutofit fontScale="90000"/>
          </a:bodyPr>
          <a:lstStyle/>
          <a:p>
            <a:pPr eaLnBrk="1" hangingPunct="1"/>
            <a:r>
              <a:rPr lang="en-US" altLang="zh-CN" sz="3200" dirty="0">
                <a:ea typeface="宋体" panose="02010600030101010101" pitchFamily="2" charset="-122"/>
              </a:rPr>
              <a:t>Use Case Diagrams</a:t>
            </a:r>
            <a:br>
              <a:rPr lang="en-US" altLang="zh-CN" sz="3200" dirty="0">
                <a:ea typeface="宋体" panose="02010600030101010101" pitchFamily="2" charset="-122"/>
              </a:rPr>
            </a:br>
            <a:r>
              <a:rPr lang="en-US" altLang="zh-CN" sz="2400" dirty="0">
                <a:ea typeface="宋体" panose="02010600030101010101" pitchFamily="2" charset="-122"/>
              </a:rPr>
              <a:t>The &lt;&lt;Extend&gt;&gt; relationship</a:t>
            </a:r>
          </a:p>
        </p:txBody>
      </p:sp>
      <p:grpSp>
        <p:nvGrpSpPr>
          <p:cNvPr id="40" name="组合 39">
            <a:extLst>
              <a:ext uri="{FF2B5EF4-FFF2-40B4-BE49-F238E27FC236}">
                <a16:creationId xmlns:a16="http://schemas.microsoft.com/office/drawing/2014/main" id="{7C0869FB-92B9-4785-A920-05FD00C46308}"/>
              </a:ext>
            </a:extLst>
          </p:cNvPr>
          <p:cNvGrpSpPr/>
          <p:nvPr/>
        </p:nvGrpSpPr>
        <p:grpSpPr>
          <a:xfrm>
            <a:off x="4648200" y="2522538"/>
            <a:ext cx="5715000" cy="3497262"/>
            <a:chOff x="3276600" y="2209800"/>
            <a:chExt cx="5715000" cy="3497262"/>
          </a:xfrm>
        </p:grpSpPr>
        <p:sp>
          <p:nvSpPr>
            <p:cNvPr id="8" name="矩形 7">
              <a:extLst>
                <a:ext uri="{FF2B5EF4-FFF2-40B4-BE49-F238E27FC236}">
                  <a16:creationId xmlns:a16="http://schemas.microsoft.com/office/drawing/2014/main" id="{6DFD6A55-4CC9-47F8-82B8-4112D4AB9D9A}"/>
                </a:ext>
              </a:extLst>
            </p:cNvPr>
            <p:cNvSpPr/>
            <p:nvPr/>
          </p:nvSpPr>
          <p:spPr>
            <a:xfrm>
              <a:off x="4800600" y="2209800"/>
              <a:ext cx="4191000" cy="349726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E197E72A-4351-459D-80DA-080D9C21E52A}"/>
                </a:ext>
              </a:extLst>
            </p:cNvPr>
            <p:cNvSpPr/>
            <p:nvPr/>
          </p:nvSpPr>
          <p:spPr>
            <a:xfrm>
              <a:off x="5029200" y="2705100"/>
              <a:ext cx="1600200" cy="914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预订座位</a:t>
              </a:r>
            </a:p>
          </p:txBody>
        </p:sp>
        <p:sp>
          <p:nvSpPr>
            <p:cNvPr id="10" name="椭圆 9">
              <a:extLst>
                <a:ext uri="{FF2B5EF4-FFF2-40B4-BE49-F238E27FC236}">
                  <a16:creationId xmlns:a16="http://schemas.microsoft.com/office/drawing/2014/main" id="{75814521-0BF0-407D-AAC1-EF6C31857976}"/>
                </a:ext>
              </a:extLst>
            </p:cNvPr>
            <p:cNvSpPr/>
            <p:nvPr/>
          </p:nvSpPr>
          <p:spPr>
            <a:xfrm>
              <a:off x="7315200" y="2362200"/>
              <a:ext cx="1600200" cy="914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排队等候</a:t>
              </a:r>
            </a:p>
          </p:txBody>
        </p:sp>
        <p:sp>
          <p:nvSpPr>
            <p:cNvPr id="11" name="椭圆 10">
              <a:extLst>
                <a:ext uri="{FF2B5EF4-FFF2-40B4-BE49-F238E27FC236}">
                  <a16:creationId xmlns:a16="http://schemas.microsoft.com/office/drawing/2014/main" id="{A6A01178-BF5E-4743-9CB1-E5E5E240D092}"/>
                </a:ext>
              </a:extLst>
            </p:cNvPr>
            <p:cNvSpPr/>
            <p:nvPr/>
          </p:nvSpPr>
          <p:spPr>
            <a:xfrm>
              <a:off x="5334000" y="4419600"/>
              <a:ext cx="1600200" cy="914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查询座位信息</a:t>
              </a:r>
            </a:p>
          </p:txBody>
        </p:sp>
        <p:grpSp>
          <p:nvGrpSpPr>
            <p:cNvPr id="24" name="组合 23">
              <a:extLst>
                <a:ext uri="{FF2B5EF4-FFF2-40B4-BE49-F238E27FC236}">
                  <a16:creationId xmlns:a16="http://schemas.microsoft.com/office/drawing/2014/main" id="{8A03FD07-CA5F-4C3A-AC52-3874352D6AAD}"/>
                </a:ext>
              </a:extLst>
            </p:cNvPr>
            <p:cNvGrpSpPr/>
            <p:nvPr/>
          </p:nvGrpSpPr>
          <p:grpSpPr>
            <a:xfrm>
              <a:off x="3276600" y="3048000"/>
              <a:ext cx="838200" cy="1219200"/>
              <a:chOff x="2961640" y="3733800"/>
              <a:chExt cx="838200" cy="1219200"/>
            </a:xfrm>
          </p:grpSpPr>
          <p:sp>
            <p:nvSpPr>
              <p:cNvPr id="13" name="椭圆 12">
                <a:extLst>
                  <a:ext uri="{FF2B5EF4-FFF2-40B4-BE49-F238E27FC236}">
                    <a16:creationId xmlns:a16="http://schemas.microsoft.com/office/drawing/2014/main" id="{E0E01537-F608-4842-8910-7226F2DE579B}"/>
                  </a:ext>
                </a:extLst>
              </p:cNvPr>
              <p:cNvSpPr/>
              <p:nvPr/>
            </p:nvSpPr>
            <p:spPr>
              <a:xfrm>
                <a:off x="3266440" y="3733800"/>
                <a:ext cx="228600" cy="3048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a:extLst>
                  <a:ext uri="{FF2B5EF4-FFF2-40B4-BE49-F238E27FC236}">
                    <a16:creationId xmlns:a16="http://schemas.microsoft.com/office/drawing/2014/main" id="{682C7C46-60F4-4466-B83A-2F38306C27B5}"/>
                  </a:ext>
                </a:extLst>
              </p:cNvPr>
              <p:cNvCxnSpPr/>
              <p:nvPr/>
            </p:nvCxnSpPr>
            <p:spPr>
              <a:xfrm>
                <a:off x="2961640" y="4271169"/>
                <a:ext cx="838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A75A0875-8D9F-4635-8C47-8A78040DA3D8}"/>
                  </a:ext>
                </a:extLst>
              </p:cNvPr>
              <p:cNvCxnSpPr/>
              <p:nvPr/>
            </p:nvCxnSpPr>
            <p:spPr>
              <a:xfrm>
                <a:off x="3380740" y="4038600"/>
                <a:ext cx="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1A0C159-8430-4EB9-AE45-74033F31F857}"/>
                  </a:ext>
                </a:extLst>
              </p:cNvPr>
              <p:cNvCxnSpPr>
                <a:cxnSpLocks/>
              </p:cNvCxnSpPr>
              <p:nvPr/>
            </p:nvCxnSpPr>
            <p:spPr>
              <a:xfrm flipH="1">
                <a:off x="2961640" y="4495800"/>
                <a:ext cx="4191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B76551DF-535A-4457-B889-7465001586A5}"/>
                  </a:ext>
                </a:extLst>
              </p:cNvPr>
              <p:cNvCxnSpPr>
                <a:cxnSpLocks/>
              </p:cNvCxnSpPr>
              <p:nvPr/>
            </p:nvCxnSpPr>
            <p:spPr>
              <a:xfrm>
                <a:off x="3380740" y="4495800"/>
                <a:ext cx="353059"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6" name="直接连接符 25">
              <a:extLst>
                <a:ext uri="{FF2B5EF4-FFF2-40B4-BE49-F238E27FC236}">
                  <a16:creationId xmlns:a16="http://schemas.microsoft.com/office/drawing/2014/main" id="{76829324-586D-46DE-91A8-B238D0F2E2BD}"/>
                </a:ext>
              </a:extLst>
            </p:cNvPr>
            <p:cNvCxnSpPr>
              <a:endCxn id="9" idx="2"/>
            </p:cNvCxnSpPr>
            <p:nvPr/>
          </p:nvCxnSpPr>
          <p:spPr>
            <a:xfrm flipV="1">
              <a:off x="4185921" y="3162300"/>
              <a:ext cx="843279" cy="33893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690F1DA8-D116-46C8-B260-8938A02448B0}"/>
                </a:ext>
              </a:extLst>
            </p:cNvPr>
            <p:cNvCxnSpPr>
              <a:cxnSpLocks/>
              <a:endCxn id="11" idx="2"/>
            </p:cNvCxnSpPr>
            <p:nvPr/>
          </p:nvCxnSpPr>
          <p:spPr>
            <a:xfrm>
              <a:off x="4185921" y="3501231"/>
              <a:ext cx="1148079" cy="13755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6BE308A7-6194-4B38-8253-7E1879F19AD4}"/>
                </a:ext>
              </a:extLst>
            </p:cNvPr>
            <p:cNvCxnSpPr>
              <a:stCxn id="9" idx="4"/>
              <a:endCxn id="11" idx="0"/>
            </p:cNvCxnSpPr>
            <p:nvPr/>
          </p:nvCxnSpPr>
          <p:spPr>
            <a:xfrm>
              <a:off x="5829300" y="3619500"/>
              <a:ext cx="304800" cy="80010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45CD0986-F344-4AAD-B68E-DBB58BDA4B48}"/>
                </a:ext>
              </a:extLst>
            </p:cNvPr>
            <p:cNvCxnSpPr>
              <a:cxnSpLocks/>
              <a:stCxn id="10" idx="2"/>
              <a:endCxn id="9" idx="6"/>
            </p:cNvCxnSpPr>
            <p:nvPr/>
          </p:nvCxnSpPr>
          <p:spPr>
            <a:xfrm flipH="1">
              <a:off x="6629400" y="2819400"/>
              <a:ext cx="685800" cy="34290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B04DA455-FE96-4E62-83E7-CB34EA2B34A1}"/>
                </a:ext>
              </a:extLst>
            </p:cNvPr>
            <p:cNvSpPr txBox="1"/>
            <p:nvPr/>
          </p:nvSpPr>
          <p:spPr>
            <a:xfrm>
              <a:off x="5937156" y="3962400"/>
              <a:ext cx="1511952" cy="369332"/>
            </a:xfrm>
            <a:prstGeom prst="rect">
              <a:avLst/>
            </a:prstGeom>
            <a:noFill/>
          </p:spPr>
          <p:txBody>
            <a:bodyPr wrap="none" rtlCol="0">
              <a:spAutoFit/>
            </a:bodyPr>
            <a:lstStyle/>
            <a:p>
              <a:r>
                <a:rPr lang="en-US" altLang="zh-CN" dirty="0"/>
                <a:t>&lt;&lt;include&gt;&gt;</a:t>
              </a:r>
              <a:endParaRPr lang="zh-CN" altLang="en-US" dirty="0"/>
            </a:p>
          </p:txBody>
        </p:sp>
        <p:sp>
          <p:nvSpPr>
            <p:cNvPr id="37" name="文本框 36">
              <a:extLst>
                <a:ext uri="{FF2B5EF4-FFF2-40B4-BE49-F238E27FC236}">
                  <a16:creationId xmlns:a16="http://schemas.microsoft.com/office/drawing/2014/main" id="{C606F0FC-07E1-46CD-8643-071FADDE2B7C}"/>
                </a:ext>
              </a:extLst>
            </p:cNvPr>
            <p:cNvSpPr txBox="1"/>
            <p:nvPr/>
          </p:nvSpPr>
          <p:spPr>
            <a:xfrm>
              <a:off x="5975628" y="2488922"/>
              <a:ext cx="1471878" cy="369332"/>
            </a:xfrm>
            <a:prstGeom prst="rect">
              <a:avLst/>
            </a:prstGeom>
            <a:noFill/>
          </p:spPr>
          <p:txBody>
            <a:bodyPr wrap="none" rtlCol="0">
              <a:spAutoFit/>
            </a:bodyPr>
            <a:lstStyle/>
            <a:p>
              <a:r>
                <a:rPr lang="en-US" altLang="zh-CN" dirty="0"/>
                <a:t>&lt;&lt;extend&gt;&gt;</a:t>
              </a:r>
              <a:endParaRPr lang="zh-CN" altLang="en-US" dirty="0"/>
            </a:p>
          </p:txBody>
        </p:sp>
        <p:sp>
          <p:nvSpPr>
            <p:cNvPr id="39" name="文本框 38">
              <a:extLst>
                <a:ext uri="{FF2B5EF4-FFF2-40B4-BE49-F238E27FC236}">
                  <a16:creationId xmlns:a16="http://schemas.microsoft.com/office/drawing/2014/main" id="{92491817-0269-4F43-9FFD-619AC0E40B34}"/>
                </a:ext>
              </a:extLst>
            </p:cNvPr>
            <p:cNvSpPr txBox="1"/>
            <p:nvPr/>
          </p:nvSpPr>
          <p:spPr>
            <a:xfrm>
              <a:off x="3385821" y="4114800"/>
              <a:ext cx="646331" cy="369332"/>
            </a:xfrm>
            <a:prstGeom prst="rect">
              <a:avLst/>
            </a:prstGeom>
            <a:noFill/>
          </p:spPr>
          <p:txBody>
            <a:bodyPr wrap="none" rtlCol="0">
              <a:spAutoFit/>
            </a:bodyPr>
            <a:lstStyle/>
            <a:p>
              <a:r>
                <a:rPr lang="zh-CN" altLang="en-US" dirty="0"/>
                <a:t>客户</a:t>
              </a:r>
            </a:p>
          </p:txBody>
        </p:sp>
      </p:grpSp>
      <p:sp>
        <p:nvSpPr>
          <p:cNvPr id="2" name="矩形 1">
            <a:extLst>
              <a:ext uri="{FF2B5EF4-FFF2-40B4-BE49-F238E27FC236}">
                <a16:creationId xmlns:a16="http://schemas.microsoft.com/office/drawing/2014/main" id="{63941A34-7FFD-4923-8C04-D9E1DD385A96}"/>
              </a:ext>
            </a:extLst>
          </p:cNvPr>
          <p:cNvSpPr/>
          <p:nvPr/>
        </p:nvSpPr>
        <p:spPr>
          <a:xfrm>
            <a:off x="7372629" y="4271169"/>
            <a:ext cx="1415772" cy="36933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1369882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9B0D60DA-FAD1-4814-B314-CE700A0A020E}"/>
              </a:ext>
            </a:extLst>
          </p:cNvPr>
          <p:cNvSpPr>
            <a:spLocks noGrp="1"/>
          </p:cNvSpPr>
          <p:nvPr>
            <p:ph type="body" sz="half" idx="1"/>
          </p:nvPr>
        </p:nvSpPr>
        <p:spPr>
          <a:xfrm>
            <a:off x="1828800" y="1295400"/>
            <a:ext cx="4038600" cy="4411662"/>
          </a:xfrm>
        </p:spPr>
        <p:txBody>
          <a:bodyPr/>
          <a:lstStyle/>
          <a:p>
            <a:r>
              <a:rPr lang="zh-CN" altLang="en-US" sz="2400" dirty="0"/>
              <a:t>当执行</a:t>
            </a:r>
            <a:r>
              <a:rPr lang="en-US" altLang="zh-CN" sz="2400" dirty="0"/>
              <a:t>A</a:t>
            </a:r>
            <a:r>
              <a:rPr lang="zh-CN" altLang="en-US" sz="2400" dirty="0"/>
              <a:t>用例时，有些情况下，会执行</a:t>
            </a:r>
            <a:r>
              <a:rPr lang="en-US" altLang="zh-CN" sz="2400" dirty="0"/>
              <a:t>B</a:t>
            </a:r>
            <a:r>
              <a:rPr lang="zh-CN" altLang="en-US" sz="2400" dirty="0"/>
              <a:t>用例，有些情况下不会执行</a:t>
            </a:r>
            <a:r>
              <a:rPr lang="en-US" altLang="zh-CN" sz="2400" dirty="0"/>
              <a:t>B</a:t>
            </a:r>
            <a:r>
              <a:rPr lang="zh-CN" altLang="en-US" sz="2400" dirty="0"/>
              <a:t>用例</a:t>
            </a:r>
            <a:endParaRPr lang="en-US" altLang="zh-CN" sz="2400" dirty="0"/>
          </a:p>
          <a:p>
            <a:r>
              <a:rPr lang="zh-CN" altLang="en-US" sz="2400" dirty="0"/>
              <a:t>这种情况就是</a:t>
            </a:r>
            <a:r>
              <a:rPr lang="en-US" altLang="zh-CN" sz="2400" dirty="0"/>
              <a:t>B</a:t>
            </a:r>
            <a:r>
              <a:rPr lang="zh-CN" altLang="en-US" sz="2400" dirty="0"/>
              <a:t>用例</a:t>
            </a:r>
            <a:r>
              <a:rPr lang="en-US" altLang="zh-CN" sz="2400" dirty="0">
                <a:solidFill>
                  <a:srgbClr val="C00000"/>
                </a:solidFill>
              </a:rPr>
              <a:t>&lt;&lt;</a:t>
            </a:r>
            <a:r>
              <a:rPr lang="zh-CN" altLang="en-US" sz="2400" dirty="0">
                <a:solidFill>
                  <a:srgbClr val="C00000"/>
                </a:solidFill>
              </a:rPr>
              <a:t>扩展</a:t>
            </a:r>
            <a:r>
              <a:rPr lang="en-US" altLang="zh-CN" sz="2400" dirty="0">
                <a:solidFill>
                  <a:srgbClr val="C00000"/>
                </a:solidFill>
              </a:rPr>
              <a:t>&gt;&gt;</a:t>
            </a:r>
            <a:r>
              <a:rPr lang="zh-CN" altLang="en-US" sz="2400" dirty="0"/>
              <a:t>了</a:t>
            </a:r>
            <a:r>
              <a:rPr lang="en-US" altLang="zh-CN" sz="2400" dirty="0"/>
              <a:t>A</a:t>
            </a:r>
            <a:r>
              <a:rPr lang="zh-CN" altLang="en-US" sz="2400" dirty="0"/>
              <a:t>用例</a:t>
            </a:r>
          </a:p>
        </p:txBody>
      </p:sp>
      <p:sp>
        <p:nvSpPr>
          <p:cNvPr id="5" name="页脚占位符 4">
            <a:extLst>
              <a:ext uri="{FF2B5EF4-FFF2-40B4-BE49-F238E27FC236}">
                <a16:creationId xmlns:a16="http://schemas.microsoft.com/office/drawing/2014/main" id="{CF434D58-6AD5-4C99-A4A7-B89457844B32}"/>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6" name="灯片编号占位符 5">
            <a:extLst>
              <a:ext uri="{FF2B5EF4-FFF2-40B4-BE49-F238E27FC236}">
                <a16:creationId xmlns:a16="http://schemas.microsoft.com/office/drawing/2014/main" id="{AB909C65-28CE-4462-BDF7-106C52A87115}"/>
              </a:ext>
            </a:extLst>
          </p:cNvPr>
          <p:cNvSpPr>
            <a:spLocks noGrp="1"/>
          </p:cNvSpPr>
          <p:nvPr>
            <p:ph type="sldNum" sz="quarter" idx="12"/>
          </p:nvPr>
        </p:nvSpPr>
        <p:spPr/>
        <p:txBody>
          <a:bodyPr/>
          <a:lstStyle/>
          <a:p>
            <a:fld id="{B753FDD0-7D31-4A1B-A2DD-1773C1FEDA0B}" type="slidenum">
              <a:rPr lang="en-US" altLang="en-US" smtClean="0"/>
              <a:pPr/>
              <a:t>81</a:t>
            </a:fld>
            <a:endParaRPr lang="en-US" altLang="en-US"/>
          </a:p>
        </p:txBody>
      </p:sp>
      <p:sp>
        <p:nvSpPr>
          <p:cNvPr id="7" name="Rectangle 2">
            <a:extLst>
              <a:ext uri="{FF2B5EF4-FFF2-40B4-BE49-F238E27FC236}">
                <a16:creationId xmlns:a16="http://schemas.microsoft.com/office/drawing/2014/main" id="{CB9BDB5F-07F7-4B72-8145-F59CA7FAAD1B}"/>
              </a:ext>
            </a:extLst>
          </p:cNvPr>
          <p:cNvSpPr>
            <a:spLocks noGrp="1" noChangeArrowheads="1"/>
          </p:cNvSpPr>
          <p:nvPr>
            <p:ph type="title"/>
          </p:nvPr>
        </p:nvSpPr>
        <p:spPr>
          <a:xfrm>
            <a:off x="1828800" y="228600"/>
            <a:ext cx="7315200" cy="838200"/>
          </a:xfrm>
        </p:spPr>
        <p:txBody>
          <a:bodyPr>
            <a:normAutofit fontScale="90000"/>
          </a:bodyPr>
          <a:lstStyle/>
          <a:p>
            <a:pPr eaLnBrk="1" hangingPunct="1"/>
            <a:r>
              <a:rPr lang="en-US" altLang="zh-CN" sz="3200" dirty="0">
                <a:ea typeface="宋体" panose="02010600030101010101" pitchFamily="2" charset="-122"/>
              </a:rPr>
              <a:t>Use Case Diagrams</a:t>
            </a:r>
            <a:br>
              <a:rPr lang="en-US" altLang="zh-CN" sz="3200" dirty="0">
                <a:ea typeface="宋体" panose="02010600030101010101" pitchFamily="2" charset="-122"/>
              </a:rPr>
            </a:br>
            <a:r>
              <a:rPr lang="en-US" altLang="zh-CN" sz="2400" dirty="0">
                <a:ea typeface="宋体" panose="02010600030101010101" pitchFamily="2" charset="-122"/>
              </a:rPr>
              <a:t>The &lt;&lt;Extend&gt;&gt; relationship</a:t>
            </a:r>
          </a:p>
        </p:txBody>
      </p:sp>
      <p:grpSp>
        <p:nvGrpSpPr>
          <p:cNvPr id="40" name="组合 39">
            <a:extLst>
              <a:ext uri="{FF2B5EF4-FFF2-40B4-BE49-F238E27FC236}">
                <a16:creationId xmlns:a16="http://schemas.microsoft.com/office/drawing/2014/main" id="{7C0869FB-92B9-4785-A920-05FD00C46308}"/>
              </a:ext>
            </a:extLst>
          </p:cNvPr>
          <p:cNvGrpSpPr/>
          <p:nvPr/>
        </p:nvGrpSpPr>
        <p:grpSpPr>
          <a:xfrm>
            <a:off x="4648200" y="2522538"/>
            <a:ext cx="5715000" cy="3497262"/>
            <a:chOff x="3276600" y="2209800"/>
            <a:chExt cx="5715000" cy="3497262"/>
          </a:xfrm>
        </p:grpSpPr>
        <p:sp>
          <p:nvSpPr>
            <p:cNvPr id="8" name="矩形 7">
              <a:extLst>
                <a:ext uri="{FF2B5EF4-FFF2-40B4-BE49-F238E27FC236}">
                  <a16:creationId xmlns:a16="http://schemas.microsoft.com/office/drawing/2014/main" id="{6DFD6A55-4CC9-47F8-82B8-4112D4AB9D9A}"/>
                </a:ext>
              </a:extLst>
            </p:cNvPr>
            <p:cNvSpPr/>
            <p:nvPr/>
          </p:nvSpPr>
          <p:spPr>
            <a:xfrm>
              <a:off x="4800600" y="2209800"/>
              <a:ext cx="4191000" cy="349726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E197E72A-4351-459D-80DA-080D9C21E52A}"/>
                </a:ext>
              </a:extLst>
            </p:cNvPr>
            <p:cNvSpPr/>
            <p:nvPr/>
          </p:nvSpPr>
          <p:spPr>
            <a:xfrm>
              <a:off x="5029200" y="2705100"/>
              <a:ext cx="1600200" cy="914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预订座位</a:t>
              </a:r>
            </a:p>
          </p:txBody>
        </p:sp>
        <p:sp>
          <p:nvSpPr>
            <p:cNvPr id="10" name="椭圆 9">
              <a:extLst>
                <a:ext uri="{FF2B5EF4-FFF2-40B4-BE49-F238E27FC236}">
                  <a16:creationId xmlns:a16="http://schemas.microsoft.com/office/drawing/2014/main" id="{75814521-0BF0-407D-AAC1-EF6C31857976}"/>
                </a:ext>
              </a:extLst>
            </p:cNvPr>
            <p:cNvSpPr/>
            <p:nvPr/>
          </p:nvSpPr>
          <p:spPr>
            <a:xfrm>
              <a:off x="7315200" y="2362200"/>
              <a:ext cx="1600200" cy="914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排队等候</a:t>
              </a:r>
            </a:p>
          </p:txBody>
        </p:sp>
        <p:sp>
          <p:nvSpPr>
            <p:cNvPr id="11" name="椭圆 10">
              <a:extLst>
                <a:ext uri="{FF2B5EF4-FFF2-40B4-BE49-F238E27FC236}">
                  <a16:creationId xmlns:a16="http://schemas.microsoft.com/office/drawing/2014/main" id="{A6A01178-BF5E-4743-9CB1-E5E5E240D092}"/>
                </a:ext>
              </a:extLst>
            </p:cNvPr>
            <p:cNvSpPr/>
            <p:nvPr/>
          </p:nvSpPr>
          <p:spPr>
            <a:xfrm>
              <a:off x="5334000" y="4419600"/>
              <a:ext cx="1600200" cy="914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查询座位信息</a:t>
              </a:r>
            </a:p>
          </p:txBody>
        </p:sp>
        <p:grpSp>
          <p:nvGrpSpPr>
            <p:cNvPr id="24" name="组合 23">
              <a:extLst>
                <a:ext uri="{FF2B5EF4-FFF2-40B4-BE49-F238E27FC236}">
                  <a16:creationId xmlns:a16="http://schemas.microsoft.com/office/drawing/2014/main" id="{8A03FD07-CA5F-4C3A-AC52-3874352D6AAD}"/>
                </a:ext>
              </a:extLst>
            </p:cNvPr>
            <p:cNvGrpSpPr/>
            <p:nvPr/>
          </p:nvGrpSpPr>
          <p:grpSpPr>
            <a:xfrm>
              <a:off x="3276600" y="3048000"/>
              <a:ext cx="838200" cy="1219200"/>
              <a:chOff x="2961640" y="3733800"/>
              <a:chExt cx="838200" cy="1219200"/>
            </a:xfrm>
          </p:grpSpPr>
          <p:sp>
            <p:nvSpPr>
              <p:cNvPr id="13" name="椭圆 12">
                <a:extLst>
                  <a:ext uri="{FF2B5EF4-FFF2-40B4-BE49-F238E27FC236}">
                    <a16:creationId xmlns:a16="http://schemas.microsoft.com/office/drawing/2014/main" id="{E0E01537-F608-4842-8910-7226F2DE579B}"/>
                  </a:ext>
                </a:extLst>
              </p:cNvPr>
              <p:cNvSpPr/>
              <p:nvPr/>
            </p:nvSpPr>
            <p:spPr>
              <a:xfrm>
                <a:off x="3266440" y="3733800"/>
                <a:ext cx="228600" cy="3048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a:extLst>
                  <a:ext uri="{FF2B5EF4-FFF2-40B4-BE49-F238E27FC236}">
                    <a16:creationId xmlns:a16="http://schemas.microsoft.com/office/drawing/2014/main" id="{682C7C46-60F4-4466-B83A-2F38306C27B5}"/>
                  </a:ext>
                </a:extLst>
              </p:cNvPr>
              <p:cNvCxnSpPr/>
              <p:nvPr/>
            </p:nvCxnSpPr>
            <p:spPr>
              <a:xfrm>
                <a:off x="2961640" y="4271169"/>
                <a:ext cx="838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A75A0875-8D9F-4635-8C47-8A78040DA3D8}"/>
                  </a:ext>
                </a:extLst>
              </p:cNvPr>
              <p:cNvCxnSpPr/>
              <p:nvPr/>
            </p:nvCxnSpPr>
            <p:spPr>
              <a:xfrm>
                <a:off x="3380740" y="4038600"/>
                <a:ext cx="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1A0C159-8430-4EB9-AE45-74033F31F857}"/>
                  </a:ext>
                </a:extLst>
              </p:cNvPr>
              <p:cNvCxnSpPr>
                <a:cxnSpLocks/>
              </p:cNvCxnSpPr>
              <p:nvPr/>
            </p:nvCxnSpPr>
            <p:spPr>
              <a:xfrm flipH="1">
                <a:off x="2961640" y="4495800"/>
                <a:ext cx="419100"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B76551DF-535A-4457-B889-7465001586A5}"/>
                  </a:ext>
                </a:extLst>
              </p:cNvPr>
              <p:cNvCxnSpPr>
                <a:cxnSpLocks/>
              </p:cNvCxnSpPr>
              <p:nvPr/>
            </p:nvCxnSpPr>
            <p:spPr>
              <a:xfrm>
                <a:off x="3380740" y="4495800"/>
                <a:ext cx="353059" cy="457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6" name="直接连接符 25">
              <a:extLst>
                <a:ext uri="{FF2B5EF4-FFF2-40B4-BE49-F238E27FC236}">
                  <a16:creationId xmlns:a16="http://schemas.microsoft.com/office/drawing/2014/main" id="{76829324-586D-46DE-91A8-B238D0F2E2BD}"/>
                </a:ext>
              </a:extLst>
            </p:cNvPr>
            <p:cNvCxnSpPr>
              <a:endCxn id="9" idx="2"/>
            </p:cNvCxnSpPr>
            <p:nvPr/>
          </p:nvCxnSpPr>
          <p:spPr>
            <a:xfrm flipV="1">
              <a:off x="4185921" y="3162300"/>
              <a:ext cx="843279" cy="33893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690F1DA8-D116-46C8-B260-8938A02448B0}"/>
                </a:ext>
              </a:extLst>
            </p:cNvPr>
            <p:cNvCxnSpPr>
              <a:cxnSpLocks/>
              <a:endCxn id="11" idx="2"/>
            </p:cNvCxnSpPr>
            <p:nvPr/>
          </p:nvCxnSpPr>
          <p:spPr>
            <a:xfrm>
              <a:off x="4185921" y="3501231"/>
              <a:ext cx="1148079" cy="13755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6BE308A7-6194-4B38-8253-7E1879F19AD4}"/>
                </a:ext>
              </a:extLst>
            </p:cNvPr>
            <p:cNvCxnSpPr>
              <a:stCxn id="9" idx="4"/>
              <a:endCxn id="11" idx="0"/>
            </p:cNvCxnSpPr>
            <p:nvPr/>
          </p:nvCxnSpPr>
          <p:spPr>
            <a:xfrm>
              <a:off x="5829300" y="3619500"/>
              <a:ext cx="304800" cy="80010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45CD0986-F344-4AAD-B68E-DBB58BDA4B48}"/>
                </a:ext>
              </a:extLst>
            </p:cNvPr>
            <p:cNvCxnSpPr>
              <a:cxnSpLocks/>
              <a:stCxn id="10" idx="2"/>
              <a:endCxn id="9" idx="6"/>
            </p:cNvCxnSpPr>
            <p:nvPr/>
          </p:nvCxnSpPr>
          <p:spPr>
            <a:xfrm flipH="1">
              <a:off x="6629400" y="2819400"/>
              <a:ext cx="685800" cy="34290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B04DA455-FE96-4E62-83E7-CB34EA2B34A1}"/>
                </a:ext>
              </a:extLst>
            </p:cNvPr>
            <p:cNvSpPr txBox="1"/>
            <p:nvPr/>
          </p:nvSpPr>
          <p:spPr>
            <a:xfrm>
              <a:off x="5937156" y="3962400"/>
              <a:ext cx="1511952" cy="369332"/>
            </a:xfrm>
            <a:prstGeom prst="rect">
              <a:avLst/>
            </a:prstGeom>
            <a:noFill/>
          </p:spPr>
          <p:txBody>
            <a:bodyPr wrap="none" rtlCol="0">
              <a:spAutoFit/>
            </a:bodyPr>
            <a:lstStyle/>
            <a:p>
              <a:r>
                <a:rPr lang="en-US" altLang="zh-CN" dirty="0"/>
                <a:t>&lt;&lt;include&gt;&gt;</a:t>
              </a:r>
              <a:endParaRPr lang="zh-CN" altLang="en-US" dirty="0"/>
            </a:p>
          </p:txBody>
        </p:sp>
        <p:sp>
          <p:nvSpPr>
            <p:cNvPr id="37" name="文本框 36">
              <a:extLst>
                <a:ext uri="{FF2B5EF4-FFF2-40B4-BE49-F238E27FC236}">
                  <a16:creationId xmlns:a16="http://schemas.microsoft.com/office/drawing/2014/main" id="{C606F0FC-07E1-46CD-8643-071FADDE2B7C}"/>
                </a:ext>
              </a:extLst>
            </p:cNvPr>
            <p:cNvSpPr txBox="1"/>
            <p:nvPr/>
          </p:nvSpPr>
          <p:spPr>
            <a:xfrm>
              <a:off x="5975628" y="2488922"/>
              <a:ext cx="1471878" cy="369332"/>
            </a:xfrm>
            <a:prstGeom prst="rect">
              <a:avLst/>
            </a:prstGeom>
            <a:noFill/>
          </p:spPr>
          <p:txBody>
            <a:bodyPr wrap="none" rtlCol="0">
              <a:spAutoFit/>
            </a:bodyPr>
            <a:lstStyle/>
            <a:p>
              <a:r>
                <a:rPr lang="en-US" altLang="zh-CN" dirty="0"/>
                <a:t>&lt;&lt;extend&gt;&gt;</a:t>
              </a:r>
              <a:endParaRPr lang="zh-CN" altLang="en-US" dirty="0"/>
            </a:p>
          </p:txBody>
        </p:sp>
        <p:sp>
          <p:nvSpPr>
            <p:cNvPr id="39" name="文本框 38">
              <a:extLst>
                <a:ext uri="{FF2B5EF4-FFF2-40B4-BE49-F238E27FC236}">
                  <a16:creationId xmlns:a16="http://schemas.microsoft.com/office/drawing/2014/main" id="{92491817-0269-4F43-9FFD-619AC0E40B34}"/>
                </a:ext>
              </a:extLst>
            </p:cNvPr>
            <p:cNvSpPr txBox="1"/>
            <p:nvPr/>
          </p:nvSpPr>
          <p:spPr>
            <a:xfrm>
              <a:off x="3385821" y="4114800"/>
              <a:ext cx="646331" cy="369332"/>
            </a:xfrm>
            <a:prstGeom prst="rect">
              <a:avLst/>
            </a:prstGeom>
            <a:noFill/>
          </p:spPr>
          <p:txBody>
            <a:bodyPr wrap="none" rtlCol="0">
              <a:spAutoFit/>
            </a:bodyPr>
            <a:lstStyle/>
            <a:p>
              <a:r>
                <a:rPr lang="zh-CN" altLang="en-US" dirty="0"/>
                <a:t>客户</a:t>
              </a:r>
            </a:p>
          </p:txBody>
        </p:sp>
      </p:grpSp>
      <p:sp>
        <p:nvSpPr>
          <p:cNvPr id="2" name="矩形 1">
            <a:extLst>
              <a:ext uri="{FF2B5EF4-FFF2-40B4-BE49-F238E27FC236}">
                <a16:creationId xmlns:a16="http://schemas.microsoft.com/office/drawing/2014/main" id="{63941A34-7FFD-4923-8C04-D9E1DD385A96}"/>
              </a:ext>
            </a:extLst>
          </p:cNvPr>
          <p:cNvSpPr/>
          <p:nvPr/>
        </p:nvSpPr>
        <p:spPr>
          <a:xfrm>
            <a:off x="7347228" y="2801660"/>
            <a:ext cx="1415772" cy="36933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7767820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7ABB40-AF30-495A-807A-ECCFCA0AD013}"/>
              </a:ext>
            </a:extLst>
          </p:cNvPr>
          <p:cNvSpPr>
            <a:spLocks noGrp="1"/>
          </p:cNvSpPr>
          <p:nvPr>
            <p:ph type="title"/>
          </p:nvPr>
        </p:nvSpPr>
        <p:spPr/>
        <p:txBody>
          <a:bodyPr/>
          <a:lstStyle/>
          <a:p>
            <a:r>
              <a:rPr lang="en-US" altLang="zh-CN" dirty="0"/>
              <a:t>An Use Case Diagram Example</a:t>
            </a:r>
            <a:endParaRPr lang="zh-CN" altLang="en-US" dirty="0"/>
          </a:p>
        </p:txBody>
      </p:sp>
      <p:sp>
        <p:nvSpPr>
          <p:cNvPr id="5" name="页脚占位符 4">
            <a:extLst>
              <a:ext uri="{FF2B5EF4-FFF2-40B4-BE49-F238E27FC236}">
                <a16:creationId xmlns:a16="http://schemas.microsoft.com/office/drawing/2014/main" id="{F63CB93B-F076-45D9-B81B-26C197BDEC82}"/>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6" name="灯片编号占位符 5">
            <a:extLst>
              <a:ext uri="{FF2B5EF4-FFF2-40B4-BE49-F238E27FC236}">
                <a16:creationId xmlns:a16="http://schemas.microsoft.com/office/drawing/2014/main" id="{5D352154-E2A6-4284-9CAA-0230234F3562}"/>
              </a:ext>
            </a:extLst>
          </p:cNvPr>
          <p:cNvSpPr>
            <a:spLocks noGrp="1"/>
          </p:cNvSpPr>
          <p:nvPr>
            <p:ph type="sldNum" sz="quarter" idx="12"/>
          </p:nvPr>
        </p:nvSpPr>
        <p:spPr/>
        <p:txBody>
          <a:bodyPr/>
          <a:lstStyle/>
          <a:p>
            <a:fld id="{B753FDD0-7D31-4A1B-A2DD-1773C1FEDA0B}" type="slidenum">
              <a:rPr lang="en-US" altLang="en-US" smtClean="0"/>
              <a:pPr/>
              <a:t>82</a:t>
            </a:fld>
            <a:endParaRPr lang="en-US" altLang="en-US"/>
          </a:p>
        </p:txBody>
      </p:sp>
      <p:grpSp>
        <p:nvGrpSpPr>
          <p:cNvPr id="8" name="组合 7">
            <a:extLst>
              <a:ext uri="{FF2B5EF4-FFF2-40B4-BE49-F238E27FC236}">
                <a16:creationId xmlns:a16="http://schemas.microsoft.com/office/drawing/2014/main" id="{6997C017-1DE2-4B67-8478-527276AE7EA7}"/>
              </a:ext>
            </a:extLst>
          </p:cNvPr>
          <p:cNvGrpSpPr/>
          <p:nvPr/>
        </p:nvGrpSpPr>
        <p:grpSpPr>
          <a:xfrm>
            <a:off x="3505201" y="1505897"/>
            <a:ext cx="6138863" cy="4556767"/>
            <a:chOff x="1981200" y="1505896"/>
            <a:chExt cx="6138863" cy="4556767"/>
          </a:xfrm>
        </p:grpSpPr>
        <p:pic>
          <p:nvPicPr>
            <p:cNvPr id="58370" name="Picture 2" descr="http://dl2.iteye.com/upload/attachment/0045/2510/82b05b64-f306-3a50-9e6e-dcb3c30433de.jpg">
              <a:extLst>
                <a:ext uri="{FF2B5EF4-FFF2-40B4-BE49-F238E27FC236}">
                  <a16:creationId xmlns:a16="http://schemas.microsoft.com/office/drawing/2014/main" id="{72B1E0B0-9AAA-49BB-8624-31C53F059C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505896"/>
              <a:ext cx="6138863" cy="4556767"/>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a:extLst>
                <a:ext uri="{FF2B5EF4-FFF2-40B4-BE49-F238E27FC236}">
                  <a16:creationId xmlns:a16="http://schemas.microsoft.com/office/drawing/2014/main" id="{B0233F70-7D47-4993-947D-D5A6A25BBECD}"/>
                </a:ext>
              </a:extLst>
            </p:cNvPr>
            <p:cNvSpPr/>
            <p:nvPr/>
          </p:nvSpPr>
          <p:spPr>
            <a:xfrm>
              <a:off x="2971800" y="1505896"/>
              <a:ext cx="4572000" cy="45567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矩形 2">
            <a:extLst>
              <a:ext uri="{FF2B5EF4-FFF2-40B4-BE49-F238E27FC236}">
                <a16:creationId xmlns:a16="http://schemas.microsoft.com/office/drawing/2014/main" id="{98022520-F063-476C-97D2-17B3D504B4EB}"/>
              </a:ext>
            </a:extLst>
          </p:cNvPr>
          <p:cNvSpPr/>
          <p:nvPr/>
        </p:nvSpPr>
        <p:spPr>
          <a:xfrm>
            <a:off x="6574632" y="2640403"/>
            <a:ext cx="762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1A1CF3B9-7872-42C1-9A9F-1749CF3EFDE5}"/>
              </a:ext>
            </a:extLst>
          </p:cNvPr>
          <p:cNvSpPr/>
          <p:nvPr/>
        </p:nvSpPr>
        <p:spPr>
          <a:xfrm>
            <a:off x="6781801" y="4351533"/>
            <a:ext cx="762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C33010C-DEEA-4EDE-BE80-3E0E6F181192}"/>
              </a:ext>
            </a:extLst>
          </p:cNvPr>
          <p:cNvSpPr/>
          <p:nvPr/>
        </p:nvSpPr>
        <p:spPr>
          <a:xfrm>
            <a:off x="6812280" y="4918786"/>
            <a:ext cx="762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81683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a:xfrm>
            <a:off x="838200" y="1825625"/>
            <a:ext cx="10896600" cy="4351338"/>
          </a:xfrm>
        </p:spPr>
        <p:txBody>
          <a:bodyPr/>
          <a:lstStyle/>
          <a:p>
            <a:r>
              <a:rPr lang="zh-CN" altLang="en-US" dirty="0"/>
              <a:t>用例描述</a:t>
            </a:r>
            <a:endParaRPr lang="en-US" altLang="zh-CN" dirty="0"/>
          </a:p>
          <a:p>
            <a:r>
              <a:rPr lang="zh-CN" altLang="en-US" dirty="0"/>
              <a:t>用例图提供了系统功能的高层视图，但无法表达功能的详细内容。因此，每个用例需要配以详细的用例描述。用例描述通常采用结构化文本形式</a:t>
            </a:r>
            <a:endParaRPr lang="en-US" altLang="zh-CN" dirty="0"/>
          </a:p>
        </p:txBody>
      </p:sp>
      <p:graphicFrame>
        <p:nvGraphicFramePr>
          <p:cNvPr id="5" name="表格 4">
            <a:extLst>
              <a:ext uri="{FF2B5EF4-FFF2-40B4-BE49-F238E27FC236}">
                <a16:creationId xmlns:a16="http://schemas.microsoft.com/office/drawing/2014/main" id="{46567EFC-609B-488A-9027-E9DD04B2393B}"/>
              </a:ext>
            </a:extLst>
          </p:cNvPr>
          <p:cNvGraphicFramePr>
            <a:graphicFrameLocks noGrp="1"/>
          </p:cNvGraphicFramePr>
          <p:nvPr>
            <p:extLst>
              <p:ext uri="{D42A27DB-BD31-4B8C-83A1-F6EECF244321}">
                <p14:modId xmlns:p14="http://schemas.microsoft.com/office/powerpoint/2010/main" val="1396920791"/>
              </p:ext>
            </p:extLst>
          </p:nvPr>
        </p:nvGraphicFramePr>
        <p:xfrm>
          <a:off x="977900" y="3658394"/>
          <a:ext cx="10617200" cy="3063752"/>
        </p:xfrm>
        <a:graphic>
          <a:graphicData uri="http://schemas.openxmlformats.org/drawingml/2006/table">
            <a:tbl>
              <a:tblPr firstRow="1" firstCol="1" bandRow="1">
                <a:tableStyleId>{5C22544A-7EE6-4342-B048-85BDC9FD1C3A}</a:tableStyleId>
              </a:tblPr>
              <a:tblGrid>
                <a:gridCol w="2057400">
                  <a:extLst>
                    <a:ext uri="{9D8B030D-6E8A-4147-A177-3AD203B41FA5}">
                      <a16:colId xmlns:a16="http://schemas.microsoft.com/office/drawing/2014/main" val="3217712958"/>
                    </a:ext>
                  </a:extLst>
                </a:gridCol>
                <a:gridCol w="8559800">
                  <a:extLst>
                    <a:ext uri="{9D8B030D-6E8A-4147-A177-3AD203B41FA5}">
                      <a16:colId xmlns:a16="http://schemas.microsoft.com/office/drawing/2014/main" val="727014485"/>
                    </a:ext>
                  </a:extLst>
                </a:gridCol>
              </a:tblGrid>
              <a:tr h="288826">
                <a:tc>
                  <a:txBody>
                    <a:bodyPr/>
                    <a:lstStyle/>
                    <a:p>
                      <a:pPr indent="127000" algn="ctr">
                        <a:lnSpc>
                          <a:spcPct val="110000"/>
                        </a:lnSpc>
                      </a:pPr>
                      <a:r>
                        <a:rPr lang="zh-CN" sz="2400" kern="0" dirty="0">
                          <a:effectLst/>
                        </a:rPr>
                        <a:t>要素</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ct val="110000"/>
                        </a:lnSpc>
                      </a:pPr>
                      <a:r>
                        <a:rPr lang="zh-CN" sz="2400" kern="0">
                          <a:effectLst/>
                        </a:rPr>
                        <a:t>说明</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817223251"/>
                  </a:ext>
                </a:extLst>
              </a:tr>
              <a:tr h="288826">
                <a:tc>
                  <a:txBody>
                    <a:bodyPr/>
                    <a:lstStyle/>
                    <a:p>
                      <a:pPr indent="127000" algn="ctr">
                        <a:lnSpc>
                          <a:spcPct val="110000"/>
                        </a:lnSpc>
                      </a:pPr>
                      <a:r>
                        <a:rPr lang="zh-CN" sz="2400" kern="0" dirty="0">
                          <a:effectLst/>
                        </a:rPr>
                        <a:t>用例名称</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10000"/>
                        </a:lnSpc>
                      </a:pPr>
                      <a:r>
                        <a:rPr lang="zh-CN" sz="2400" kern="0">
                          <a:effectLst/>
                        </a:rPr>
                        <a:t>用例的唯一标识，通常采用</a:t>
                      </a:r>
                      <a:r>
                        <a:rPr lang="en-US" sz="2400" kern="0">
                          <a:effectLst/>
                        </a:rPr>
                        <a:t>“</a:t>
                      </a:r>
                      <a:r>
                        <a:rPr lang="zh-CN" sz="2400" kern="0">
                          <a:effectLst/>
                        </a:rPr>
                        <a:t>动词</a:t>
                      </a:r>
                      <a:r>
                        <a:rPr lang="en-US" sz="2400" kern="0">
                          <a:effectLst/>
                        </a:rPr>
                        <a:t>+</a:t>
                      </a:r>
                      <a:r>
                        <a:rPr lang="zh-CN" sz="2400" kern="0">
                          <a:effectLst/>
                        </a:rPr>
                        <a:t>名词</a:t>
                      </a:r>
                      <a:r>
                        <a:rPr lang="en-US" sz="2400" kern="0">
                          <a:effectLst/>
                        </a:rPr>
                        <a:t>”</a:t>
                      </a:r>
                      <a:r>
                        <a:rPr lang="zh-CN" sz="2400" kern="0">
                          <a:effectLst/>
                        </a:rPr>
                        <a:t>的格式</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64497481"/>
                  </a:ext>
                </a:extLst>
              </a:tr>
              <a:tr h="288826">
                <a:tc>
                  <a:txBody>
                    <a:bodyPr/>
                    <a:lstStyle/>
                    <a:p>
                      <a:pPr indent="127000" algn="ctr">
                        <a:lnSpc>
                          <a:spcPct val="110000"/>
                        </a:lnSpc>
                      </a:pPr>
                      <a:r>
                        <a:rPr lang="zh-CN" sz="2400" kern="0">
                          <a:effectLst/>
                        </a:rPr>
                        <a:t>参与者</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10000"/>
                        </a:lnSpc>
                      </a:pPr>
                      <a:r>
                        <a:rPr lang="zh-CN" sz="2400" kern="0">
                          <a:effectLst/>
                        </a:rPr>
                        <a:t>执行该用例的参与者</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8884088"/>
                  </a:ext>
                </a:extLst>
              </a:tr>
              <a:tr h="288826">
                <a:tc>
                  <a:txBody>
                    <a:bodyPr/>
                    <a:lstStyle/>
                    <a:p>
                      <a:pPr indent="127000" algn="ctr">
                        <a:lnSpc>
                          <a:spcPct val="110000"/>
                        </a:lnSpc>
                      </a:pPr>
                      <a:r>
                        <a:rPr lang="zh-CN" sz="2400" kern="0" dirty="0">
                          <a:effectLst/>
                        </a:rPr>
                        <a:t>前置条件</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10000"/>
                        </a:lnSpc>
                      </a:pPr>
                      <a:r>
                        <a:rPr lang="zh-CN" sz="2400" kern="0">
                          <a:effectLst/>
                        </a:rPr>
                        <a:t>用例执行前必须满足的条件</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276358979"/>
                  </a:ext>
                </a:extLst>
              </a:tr>
              <a:tr h="288826">
                <a:tc>
                  <a:txBody>
                    <a:bodyPr/>
                    <a:lstStyle/>
                    <a:p>
                      <a:pPr indent="127000" algn="ctr">
                        <a:lnSpc>
                          <a:spcPct val="110000"/>
                        </a:lnSpc>
                      </a:pPr>
                      <a:r>
                        <a:rPr lang="zh-CN" sz="2400" kern="0">
                          <a:effectLst/>
                        </a:rPr>
                        <a:t>基本流程</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10000"/>
                        </a:lnSpc>
                      </a:pPr>
                      <a:r>
                        <a:rPr lang="zh-CN" sz="2400" kern="0">
                          <a:effectLst/>
                        </a:rPr>
                        <a:t>用例正常执行时的主路径，描述参与者与系统之间的交互步骤</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954186360"/>
                  </a:ext>
                </a:extLst>
              </a:tr>
              <a:tr h="288826">
                <a:tc>
                  <a:txBody>
                    <a:bodyPr/>
                    <a:lstStyle/>
                    <a:p>
                      <a:pPr indent="127000" algn="ctr">
                        <a:lnSpc>
                          <a:spcPct val="110000"/>
                        </a:lnSpc>
                      </a:pPr>
                      <a:r>
                        <a:rPr lang="zh-CN" sz="2400" kern="0">
                          <a:effectLst/>
                        </a:rPr>
                        <a:t>备选流程</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10000"/>
                        </a:lnSpc>
                      </a:pPr>
                      <a:r>
                        <a:rPr lang="zh-CN" sz="2400" kern="0">
                          <a:effectLst/>
                        </a:rPr>
                        <a:t>异常情况或分支路径的处理</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232920691"/>
                  </a:ext>
                </a:extLst>
              </a:tr>
              <a:tr h="288826">
                <a:tc>
                  <a:txBody>
                    <a:bodyPr/>
                    <a:lstStyle/>
                    <a:p>
                      <a:pPr indent="127000" algn="ctr">
                        <a:lnSpc>
                          <a:spcPct val="110000"/>
                        </a:lnSpc>
                      </a:pPr>
                      <a:r>
                        <a:rPr lang="zh-CN" sz="2400" kern="0" dirty="0">
                          <a:effectLst/>
                        </a:rPr>
                        <a:t>后置条件</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10000"/>
                        </a:lnSpc>
                      </a:pPr>
                      <a:r>
                        <a:rPr lang="zh-CN" sz="2400" kern="0">
                          <a:effectLst/>
                        </a:rPr>
                        <a:t>用例执行后系统的状态</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248334023"/>
                  </a:ext>
                </a:extLst>
              </a:tr>
              <a:tr h="288826">
                <a:tc>
                  <a:txBody>
                    <a:bodyPr/>
                    <a:lstStyle/>
                    <a:p>
                      <a:pPr indent="127000" algn="ctr">
                        <a:lnSpc>
                          <a:spcPct val="110000"/>
                        </a:lnSpc>
                      </a:pPr>
                      <a:r>
                        <a:rPr lang="zh-CN" sz="2400" kern="0" dirty="0">
                          <a:effectLst/>
                        </a:rPr>
                        <a:t>业务规则</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127000" algn="l">
                        <a:lnSpc>
                          <a:spcPct val="110000"/>
                        </a:lnSpc>
                      </a:pPr>
                      <a:r>
                        <a:rPr lang="zh-CN" sz="2400" kern="0" dirty="0">
                          <a:effectLst/>
                        </a:rPr>
                        <a:t>用例涉及的业务约束和规则</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526042978"/>
                  </a:ext>
                </a:extLst>
              </a:tr>
            </a:tbl>
          </a:graphicData>
        </a:graphic>
      </p:graphicFrame>
    </p:spTree>
    <p:extLst>
      <p:ext uri="{BB962C8B-B14F-4D97-AF65-F5344CB8AC3E}">
        <p14:creationId xmlns:p14="http://schemas.microsoft.com/office/powerpoint/2010/main" val="293501681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a:xfrm>
            <a:off x="838200" y="1825625"/>
            <a:ext cx="10896600" cy="4351338"/>
          </a:xfrm>
        </p:spPr>
        <p:txBody>
          <a:bodyPr/>
          <a:lstStyle/>
          <a:p>
            <a:r>
              <a:rPr lang="zh-CN" altLang="en-US" dirty="0"/>
              <a:t>用例描述</a:t>
            </a:r>
            <a:endParaRPr lang="en-US" altLang="zh-CN" dirty="0"/>
          </a:p>
        </p:txBody>
      </p:sp>
      <p:pic>
        <p:nvPicPr>
          <p:cNvPr id="6" name="图片 5">
            <a:extLst>
              <a:ext uri="{FF2B5EF4-FFF2-40B4-BE49-F238E27FC236}">
                <a16:creationId xmlns:a16="http://schemas.microsoft.com/office/drawing/2014/main" id="{D83D8F05-063B-4031-A86B-73FFD0B8E0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4205" y="271857"/>
            <a:ext cx="7276190" cy="6314286"/>
          </a:xfrm>
          <a:prstGeom prst="rect">
            <a:avLst/>
          </a:prstGeom>
        </p:spPr>
      </p:pic>
    </p:spTree>
    <p:extLst>
      <p:ext uri="{BB962C8B-B14F-4D97-AF65-F5344CB8AC3E}">
        <p14:creationId xmlns:p14="http://schemas.microsoft.com/office/powerpoint/2010/main" val="98866723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活动图（</a:t>
            </a:r>
            <a:r>
              <a:rPr lang="en-US" altLang="zh-CN" dirty="0"/>
              <a:t>Activity Diagram</a:t>
            </a:r>
            <a:r>
              <a:rPr lang="zh-CN" altLang="en-US" dirty="0"/>
              <a:t>）</a:t>
            </a:r>
            <a:endParaRPr lang="en-US" altLang="zh-CN" dirty="0"/>
          </a:p>
          <a:p>
            <a:pPr lvl="1"/>
            <a:r>
              <a:rPr lang="zh-CN" altLang="en-US" dirty="0"/>
              <a:t>泳道：不同对象</a:t>
            </a:r>
            <a:endParaRPr lang="en-US" altLang="zh-CN" dirty="0"/>
          </a:p>
          <a:p>
            <a:pPr lvl="1"/>
            <a:r>
              <a:rPr lang="zh-CN" altLang="en-US" dirty="0"/>
              <a:t>黑色圆点：开始</a:t>
            </a:r>
            <a:endParaRPr lang="en-US" altLang="zh-CN" dirty="0"/>
          </a:p>
          <a:p>
            <a:pPr lvl="1"/>
            <a:r>
              <a:rPr lang="zh-CN" altLang="en-US" dirty="0"/>
              <a:t>黑色圈</a:t>
            </a:r>
            <a:r>
              <a:rPr lang="en-US" altLang="zh-CN" dirty="0"/>
              <a:t>+</a:t>
            </a:r>
            <a:r>
              <a:rPr lang="zh-CN" altLang="en-US" dirty="0"/>
              <a:t>圆点：结束</a:t>
            </a:r>
            <a:endParaRPr lang="en-US" altLang="zh-CN" dirty="0"/>
          </a:p>
          <a:p>
            <a:pPr lvl="1"/>
            <a:r>
              <a:rPr lang="zh-CN" altLang="en-US" dirty="0"/>
              <a:t>圆角矩形：执行语句</a:t>
            </a:r>
            <a:endParaRPr lang="en-US" altLang="zh-CN" dirty="0"/>
          </a:p>
          <a:p>
            <a:pPr lvl="1"/>
            <a:r>
              <a:rPr lang="zh-CN" altLang="en-US" dirty="0">
                <a:solidFill>
                  <a:srgbClr val="C00000"/>
                </a:solidFill>
              </a:rPr>
              <a:t>黑色加粗横线：并行处理</a:t>
            </a:r>
            <a:endParaRPr lang="en-US" altLang="zh-CN" dirty="0">
              <a:solidFill>
                <a:srgbClr val="C00000"/>
              </a:solidFill>
            </a:endParaRPr>
          </a:p>
          <a:p>
            <a:pPr lvl="1"/>
            <a:endParaRPr lang="zh-CN" altLang="en-US" dirty="0"/>
          </a:p>
        </p:txBody>
      </p:sp>
      <p:pic>
        <p:nvPicPr>
          <p:cNvPr id="5" name="Picture 8">
            <a:extLst>
              <a:ext uri="{FF2B5EF4-FFF2-40B4-BE49-F238E27FC236}">
                <a16:creationId xmlns:a16="http://schemas.microsoft.com/office/drawing/2014/main" id="{75CBD7FD-9CC1-41A0-9183-4F532CA5E1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5369519" y="977972"/>
            <a:ext cx="6200181" cy="4838446"/>
          </a:xfrm>
          <a:prstGeom prst="rect">
            <a:avLst/>
          </a:prstGeom>
          <a:noFill/>
        </p:spPr>
      </p:pic>
    </p:spTree>
    <p:extLst>
      <p:ext uri="{BB962C8B-B14F-4D97-AF65-F5344CB8AC3E}">
        <p14:creationId xmlns:p14="http://schemas.microsoft.com/office/powerpoint/2010/main" val="3614512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5EEBE541-04BF-4939-B125-B1AC0901758A}"/>
              </a:ext>
            </a:extLst>
          </p:cNvPr>
          <p:cNvSpPr>
            <a:spLocks noGrp="1"/>
          </p:cNvSpPr>
          <p:nvPr>
            <p:ph type="sldNum" sz="quarter" idx="12"/>
          </p:nvPr>
        </p:nvSpPr>
        <p:spPr/>
        <p:txBody>
          <a:bodyPr/>
          <a:lstStyle/>
          <a:p>
            <a:fld id="{ABB5F89A-96BF-44DE-9E73-12F67874732E}" type="slidenum">
              <a:rPr lang="en-US" altLang="en-US" smtClean="0"/>
              <a:pPr/>
              <a:t>86</a:t>
            </a:fld>
            <a:endParaRPr lang="en-US" altLang="en-US"/>
          </a:p>
        </p:txBody>
      </p:sp>
      <p:sp>
        <p:nvSpPr>
          <p:cNvPr id="5" name="矩形 4">
            <a:extLst>
              <a:ext uri="{FF2B5EF4-FFF2-40B4-BE49-F238E27FC236}">
                <a16:creationId xmlns:a16="http://schemas.microsoft.com/office/drawing/2014/main" id="{42770F70-9AB9-4DB7-9B03-13FA1E1CD5E7}"/>
              </a:ext>
            </a:extLst>
          </p:cNvPr>
          <p:cNvSpPr/>
          <p:nvPr/>
        </p:nvSpPr>
        <p:spPr>
          <a:xfrm>
            <a:off x="4149857" y="300419"/>
            <a:ext cx="2186358" cy="5334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Order subsystem</a:t>
            </a:r>
            <a:endParaRPr lang="zh-CN" altLang="en-US" dirty="0">
              <a:solidFill>
                <a:schemeClr val="tx1"/>
              </a:solidFill>
            </a:endParaRPr>
          </a:p>
        </p:txBody>
      </p:sp>
      <p:sp>
        <p:nvSpPr>
          <p:cNvPr id="6" name="矩形 5">
            <a:extLst>
              <a:ext uri="{FF2B5EF4-FFF2-40B4-BE49-F238E27FC236}">
                <a16:creationId xmlns:a16="http://schemas.microsoft.com/office/drawing/2014/main" id="{592B898F-C3DF-4C9B-9C2D-EC8E76B44656}"/>
              </a:ext>
            </a:extLst>
          </p:cNvPr>
          <p:cNvSpPr/>
          <p:nvPr/>
        </p:nvSpPr>
        <p:spPr>
          <a:xfrm>
            <a:off x="4149857" y="833819"/>
            <a:ext cx="2190659" cy="588765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9ADC23D1-DEF4-4C17-AAD5-A6AAABB0A056}"/>
              </a:ext>
            </a:extLst>
          </p:cNvPr>
          <p:cNvSpPr/>
          <p:nvPr/>
        </p:nvSpPr>
        <p:spPr>
          <a:xfrm>
            <a:off x="6343906" y="300419"/>
            <a:ext cx="2409276" cy="5334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Restaurant</a:t>
            </a:r>
          </a:p>
          <a:p>
            <a:pPr algn="ctr"/>
            <a:r>
              <a:rPr lang="en-US" altLang="zh-CN" dirty="0">
                <a:solidFill>
                  <a:schemeClr val="tx1"/>
                </a:solidFill>
              </a:rPr>
              <a:t>Subsystem</a:t>
            </a:r>
            <a:endParaRPr lang="zh-CN" altLang="en-US" dirty="0">
              <a:solidFill>
                <a:schemeClr val="tx1"/>
              </a:solidFill>
            </a:endParaRPr>
          </a:p>
        </p:txBody>
      </p:sp>
      <p:sp>
        <p:nvSpPr>
          <p:cNvPr id="8" name="矩形 7">
            <a:extLst>
              <a:ext uri="{FF2B5EF4-FFF2-40B4-BE49-F238E27FC236}">
                <a16:creationId xmlns:a16="http://schemas.microsoft.com/office/drawing/2014/main" id="{69549515-DD39-4DC9-B105-120C3D82C355}"/>
              </a:ext>
            </a:extLst>
          </p:cNvPr>
          <p:cNvSpPr/>
          <p:nvPr/>
        </p:nvSpPr>
        <p:spPr>
          <a:xfrm>
            <a:off x="6343907" y="833819"/>
            <a:ext cx="2390503" cy="588765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9C2EFC50-7632-4270-B20E-56EFBB52A3E5}"/>
              </a:ext>
            </a:extLst>
          </p:cNvPr>
          <p:cNvSpPr/>
          <p:nvPr/>
        </p:nvSpPr>
        <p:spPr>
          <a:xfrm>
            <a:off x="8748882" y="300419"/>
            <a:ext cx="2382812" cy="5334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Shipping</a:t>
            </a:r>
          </a:p>
          <a:p>
            <a:pPr algn="ctr"/>
            <a:r>
              <a:rPr lang="en-US" altLang="zh-CN" dirty="0">
                <a:solidFill>
                  <a:schemeClr val="tx1"/>
                </a:solidFill>
              </a:rPr>
              <a:t>Subsystem</a:t>
            </a:r>
            <a:endParaRPr lang="zh-CN" altLang="en-US" dirty="0">
              <a:solidFill>
                <a:schemeClr val="tx1"/>
              </a:solidFill>
            </a:endParaRPr>
          </a:p>
        </p:txBody>
      </p:sp>
      <p:sp>
        <p:nvSpPr>
          <p:cNvPr id="10" name="矩形 9">
            <a:extLst>
              <a:ext uri="{FF2B5EF4-FFF2-40B4-BE49-F238E27FC236}">
                <a16:creationId xmlns:a16="http://schemas.microsoft.com/office/drawing/2014/main" id="{B4BE3616-7EFC-41B0-93B0-C76666DB2BFF}"/>
              </a:ext>
            </a:extLst>
          </p:cNvPr>
          <p:cNvSpPr/>
          <p:nvPr/>
        </p:nvSpPr>
        <p:spPr>
          <a:xfrm>
            <a:off x="8737801" y="833819"/>
            <a:ext cx="2390503" cy="588765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0F1DECD6-7B10-443C-9B45-4266C82B70B6}"/>
              </a:ext>
            </a:extLst>
          </p:cNvPr>
          <p:cNvSpPr/>
          <p:nvPr/>
        </p:nvSpPr>
        <p:spPr>
          <a:xfrm>
            <a:off x="5217751" y="930125"/>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连接符: 肘形 15">
            <a:extLst>
              <a:ext uri="{FF2B5EF4-FFF2-40B4-BE49-F238E27FC236}">
                <a16:creationId xmlns:a16="http://schemas.microsoft.com/office/drawing/2014/main" id="{7D4F63C5-BEDD-4978-8570-E7F6DD2000E3}"/>
              </a:ext>
            </a:extLst>
          </p:cNvPr>
          <p:cNvCxnSpPr>
            <a:cxnSpLocks/>
            <a:stCxn id="14" idx="6"/>
            <a:endCxn id="24" idx="0"/>
          </p:cNvCxnSpPr>
          <p:nvPr/>
        </p:nvCxnSpPr>
        <p:spPr>
          <a:xfrm>
            <a:off x="5370152" y="1006325"/>
            <a:ext cx="2162527" cy="146732"/>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sp>
        <p:nvSpPr>
          <p:cNvPr id="17" name="矩形: 圆角 16">
            <a:extLst>
              <a:ext uri="{FF2B5EF4-FFF2-40B4-BE49-F238E27FC236}">
                <a16:creationId xmlns:a16="http://schemas.microsoft.com/office/drawing/2014/main" id="{0D8198C6-DED1-4326-85D6-32B3AE7EFDD0}"/>
              </a:ext>
            </a:extLst>
          </p:cNvPr>
          <p:cNvSpPr/>
          <p:nvPr/>
        </p:nvSpPr>
        <p:spPr>
          <a:xfrm>
            <a:off x="7005757" y="1343162"/>
            <a:ext cx="1066800" cy="484805"/>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rPr>
              <a:t>Check the order</a:t>
            </a:r>
            <a:endParaRPr lang="zh-CN" altLang="en-US" sz="1200" b="1" dirty="0">
              <a:solidFill>
                <a:schemeClr val="bg1"/>
              </a:solidFill>
            </a:endParaRPr>
          </a:p>
        </p:txBody>
      </p:sp>
      <p:sp>
        <p:nvSpPr>
          <p:cNvPr id="24" name="矩形 23">
            <a:extLst>
              <a:ext uri="{FF2B5EF4-FFF2-40B4-BE49-F238E27FC236}">
                <a16:creationId xmlns:a16="http://schemas.microsoft.com/office/drawing/2014/main" id="{D273E4FF-6350-4DE6-B0C3-E6F391B9BB98}"/>
              </a:ext>
            </a:extLst>
          </p:cNvPr>
          <p:cNvSpPr/>
          <p:nvPr/>
        </p:nvSpPr>
        <p:spPr>
          <a:xfrm>
            <a:off x="7075478" y="1153058"/>
            <a:ext cx="91440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CCD5ACCE-BD2B-456A-B946-B4B0947E1AF4}"/>
              </a:ext>
            </a:extLst>
          </p:cNvPr>
          <p:cNvSpPr txBox="1"/>
          <p:nvPr/>
        </p:nvSpPr>
        <p:spPr>
          <a:xfrm>
            <a:off x="5351587" y="977073"/>
            <a:ext cx="1516762" cy="523220"/>
          </a:xfrm>
          <a:prstGeom prst="rect">
            <a:avLst/>
          </a:prstGeom>
          <a:noFill/>
        </p:spPr>
        <p:txBody>
          <a:bodyPr wrap="none" rtlCol="0">
            <a:spAutoFit/>
          </a:bodyPr>
          <a:lstStyle/>
          <a:p>
            <a:r>
              <a:rPr lang="en-US" altLang="zh-CN" sz="1400" dirty="0"/>
              <a:t>For each item in</a:t>
            </a:r>
            <a:r>
              <a:rPr lang="zh-CN" altLang="en-US" sz="1400" dirty="0"/>
              <a:t> </a:t>
            </a:r>
            <a:endParaRPr lang="en-US" altLang="zh-CN" sz="1400" dirty="0"/>
          </a:p>
          <a:p>
            <a:r>
              <a:rPr lang="en-US" altLang="zh-CN" sz="1400" dirty="0"/>
              <a:t>Completed order</a:t>
            </a:r>
          </a:p>
        </p:txBody>
      </p:sp>
      <p:cxnSp>
        <p:nvCxnSpPr>
          <p:cNvPr id="41" name="直接箭头连接符 40">
            <a:extLst>
              <a:ext uri="{FF2B5EF4-FFF2-40B4-BE49-F238E27FC236}">
                <a16:creationId xmlns:a16="http://schemas.microsoft.com/office/drawing/2014/main" id="{4D3C2BAF-734D-426E-9742-9DF0D5FC960A}"/>
              </a:ext>
            </a:extLst>
          </p:cNvPr>
          <p:cNvCxnSpPr>
            <a:cxnSpLocks/>
            <a:stCxn id="24" idx="2"/>
            <a:endCxn id="17" idx="0"/>
          </p:cNvCxnSpPr>
          <p:nvPr/>
        </p:nvCxnSpPr>
        <p:spPr>
          <a:xfrm>
            <a:off x="7532679" y="1198777"/>
            <a:ext cx="6479" cy="14438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50" name="菱形 49">
            <a:extLst>
              <a:ext uri="{FF2B5EF4-FFF2-40B4-BE49-F238E27FC236}">
                <a16:creationId xmlns:a16="http://schemas.microsoft.com/office/drawing/2014/main" id="{0D03927B-82E2-4A33-948E-D0D3768EC374}"/>
              </a:ext>
            </a:extLst>
          </p:cNvPr>
          <p:cNvSpPr/>
          <p:nvPr/>
        </p:nvSpPr>
        <p:spPr>
          <a:xfrm>
            <a:off x="6599411" y="1970644"/>
            <a:ext cx="1889201" cy="645527"/>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rPr>
              <a:t>Any problem?</a:t>
            </a:r>
            <a:endParaRPr lang="zh-CN" altLang="en-US" sz="1200" b="1" dirty="0">
              <a:solidFill>
                <a:schemeClr val="bg1"/>
              </a:solidFill>
            </a:endParaRPr>
          </a:p>
        </p:txBody>
      </p:sp>
      <p:cxnSp>
        <p:nvCxnSpPr>
          <p:cNvPr id="52" name="直接箭头连接符 51">
            <a:extLst>
              <a:ext uri="{FF2B5EF4-FFF2-40B4-BE49-F238E27FC236}">
                <a16:creationId xmlns:a16="http://schemas.microsoft.com/office/drawing/2014/main" id="{187D8BDC-B217-4787-BE06-EA2C67D64E8B}"/>
              </a:ext>
            </a:extLst>
          </p:cNvPr>
          <p:cNvCxnSpPr>
            <a:cxnSpLocks/>
            <a:stCxn id="17" idx="2"/>
            <a:endCxn id="50" idx="0"/>
          </p:cNvCxnSpPr>
          <p:nvPr/>
        </p:nvCxnSpPr>
        <p:spPr>
          <a:xfrm>
            <a:off x="7539157" y="1827967"/>
            <a:ext cx="4854" cy="14267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59" name="矩形: 圆角 58">
            <a:extLst>
              <a:ext uri="{FF2B5EF4-FFF2-40B4-BE49-F238E27FC236}">
                <a16:creationId xmlns:a16="http://schemas.microsoft.com/office/drawing/2014/main" id="{52A9082C-7EF9-47A5-BB3F-59606A2A02AA}"/>
              </a:ext>
            </a:extLst>
          </p:cNvPr>
          <p:cNvSpPr/>
          <p:nvPr/>
        </p:nvSpPr>
        <p:spPr>
          <a:xfrm>
            <a:off x="4749633" y="2051004"/>
            <a:ext cx="1066800" cy="484805"/>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rPr>
              <a:t>Show the problem</a:t>
            </a:r>
            <a:endParaRPr lang="zh-CN" altLang="en-US" sz="1200" b="1" dirty="0">
              <a:solidFill>
                <a:schemeClr val="bg1"/>
              </a:solidFill>
            </a:endParaRPr>
          </a:p>
        </p:txBody>
      </p:sp>
      <p:cxnSp>
        <p:nvCxnSpPr>
          <p:cNvPr id="60" name="直接箭头连接符 59">
            <a:extLst>
              <a:ext uri="{FF2B5EF4-FFF2-40B4-BE49-F238E27FC236}">
                <a16:creationId xmlns:a16="http://schemas.microsoft.com/office/drawing/2014/main" id="{18AE79A1-83B2-4793-A809-14F3B9B4A426}"/>
              </a:ext>
            </a:extLst>
          </p:cNvPr>
          <p:cNvCxnSpPr>
            <a:cxnSpLocks/>
            <a:stCxn id="50" idx="1"/>
            <a:endCxn id="59" idx="3"/>
          </p:cNvCxnSpPr>
          <p:nvPr/>
        </p:nvCxnSpPr>
        <p:spPr>
          <a:xfrm flipH="1" flipV="1">
            <a:off x="5816434" y="2293407"/>
            <a:ext cx="782977"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66" name="矩形: 圆角 65">
            <a:extLst>
              <a:ext uri="{FF2B5EF4-FFF2-40B4-BE49-F238E27FC236}">
                <a16:creationId xmlns:a16="http://schemas.microsoft.com/office/drawing/2014/main" id="{AF03A74C-2A5E-40A2-99E9-0F204FB59ED4}"/>
              </a:ext>
            </a:extLst>
          </p:cNvPr>
          <p:cNvSpPr/>
          <p:nvPr/>
        </p:nvSpPr>
        <p:spPr>
          <a:xfrm>
            <a:off x="7013467" y="2811616"/>
            <a:ext cx="1066800" cy="484805"/>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rPr>
              <a:t>Process the order</a:t>
            </a:r>
            <a:endParaRPr lang="zh-CN" altLang="en-US" sz="1200" b="1" dirty="0">
              <a:solidFill>
                <a:schemeClr val="bg1"/>
              </a:solidFill>
            </a:endParaRPr>
          </a:p>
        </p:txBody>
      </p:sp>
      <p:cxnSp>
        <p:nvCxnSpPr>
          <p:cNvPr id="67" name="直接箭头连接符 66">
            <a:extLst>
              <a:ext uri="{FF2B5EF4-FFF2-40B4-BE49-F238E27FC236}">
                <a16:creationId xmlns:a16="http://schemas.microsoft.com/office/drawing/2014/main" id="{54109F23-1109-466C-A1CE-E548C43F6BE7}"/>
              </a:ext>
            </a:extLst>
          </p:cNvPr>
          <p:cNvCxnSpPr>
            <a:cxnSpLocks/>
            <a:stCxn id="50" idx="2"/>
            <a:endCxn id="66" idx="0"/>
          </p:cNvCxnSpPr>
          <p:nvPr/>
        </p:nvCxnSpPr>
        <p:spPr>
          <a:xfrm>
            <a:off x="7544011" y="2616171"/>
            <a:ext cx="2856" cy="19544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70" name="文本框 69">
            <a:extLst>
              <a:ext uri="{FF2B5EF4-FFF2-40B4-BE49-F238E27FC236}">
                <a16:creationId xmlns:a16="http://schemas.microsoft.com/office/drawing/2014/main" id="{744822CD-9556-4124-8E0A-F472B493CF87}"/>
              </a:ext>
            </a:extLst>
          </p:cNvPr>
          <p:cNvSpPr txBox="1"/>
          <p:nvPr/>
        </p:nvSpPr>
        <p:spPr>
          <a:xfrm>
            <a:off x="6299066" y="1994623"/>
            <a:ext cx="282450" cy="307777"/>
          </a:xfrm>
          <a:prstGeom prst="rect">
            <a:avLst/>
          </a:prstGeom>
          <a:noFill/>
        </p:spPr>
        <p:txBody>
          <a:bodyPr wrap="none" rtlCol="0">
            <a:spAutoFit/>
          </a:bodyPr>
          <a:lstStyle/>
          <a:p>
            <a:r>
              <a:rPr lang="en-US" altLang="zh-CN" sz="1400" dirty="0"/>
              <a:t>Y</a:t>
            </a:r>
          </a:p>
        </p:txBody>
      </p:sp>
      <p:sp>
        <p:nvSpPr>
          <p:cNvPr id="71" name="文本框 70">
            <a:extLst>
              <a:ext uri="{FF2B5EF4-FFF2-40B4-BE49-F238E27FC236}">
                <a16:creationId xmlns:a16="http://schemas.microsoft.com/office/drawing/2014/main" id="{145CC464-7E04-444E-8158-B4C98D19F604}"/>
              </a:ext>
            </a:extLst>
          </p:cNvPr>
          <p:cNvSpPr txBox="1"/>
          <p:nvPr/>
        </p:nvSpPr>
        <p:spPr>
          <a:xfrm>
            <a:off x="7598244" y="2530606"/>
            <a:ext cx="315045" cy="307777"/>
          </a:xfrm>
          <a:prstGeom prst="rect">
            <a:avLst/>
          </a:prstGeom>
          <a:noFill/>
        </p:spPr>
        <p:txBody>
          <a:bodyPr wrap="square" rtlCol="0">
            <a:spAutoFit/>
          </a:bodyPr>
          <a:lstStyle/>
          <a:p>
            <a:r>
              <a:rPr lang="en-US" altLang="zh-CN" sz="1400" dirty="0"/>
              <a:t>N</a:t>
            </a:r>
          </a:p>
        </p:txBody>
      </p:sp>
      <p:cxnSp>
        <p:nvCxnSpPr>
          <p:cNvPr id="74" name="直接箭头连接符 73">
            <a:extLst>
              <a:ext uri="{FF2B5EF4-FFF2-40B4-BE49-F238E27FC236}">
                <a16:creationId xmlns:a16="http://schemas.microsoft.com/office/drawing/2014/main" id="{8385637A-411D-43E3-9C0C-338C933CCA28}"/>
              </a:ext>
            </a:extLst>
          </p:cNvPr>
          <p:cNvCxnSpPr>
            <a:cxnSpLocks/>
            <a:stCxn id="66" idx="2"/>
            <a:endCxn id="77" idx="0"/>
          </p:cNvCxnSpPr>
          <p:nvPr/>
        </p:nvCxnSpPr>
        <p:spPr>
          <a:xfrm>
            <a:off x="7546868" y="3296420"/>
            <a:ext cx="6131" cy="188456"/>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77" name="矩形 76">
            <a:extLst>
              <a:ext uri="{FF2B5EF4-FFF2-40B4-BE49-F238E27FC236}">
                <a16:creationId xmlns:a16="http://schemas.microsoft.com/office/drawing/2014/main" id="{2A2CA36A-8C3E-479A-A90D-7C2642DFBFAE}"/>
              </a:ext>
            </a:extLst>
          </p:cNvPr>
          <p:cNvSpPr/>
          <p:nvPr/>
        </p:nvSpPr>
        <p:spPr>
          <a:xfrm>
            <a:off x="7095798" y="3484877"/>
            <a:ext cx="91440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圆角 81">
            <a:extLst>
              <a:ext uri="{FF2B5EF4-FFF2-40B4-BE49-F238E27FC236}">
                <a16:creationId xmlns:a16="http://schemas.microsoft.com/office/drawing/2014/main" id="{8E302BCF-6784-4A05-8B3D-BB2A4C7D1759}"/>
              </a:ext>
            </a:extLst>
          </p:cNvPr>
          <p:cNvSpPr/>
          <p:nvPr/>
        </p:nvSpPr>
        <p:spPr>
          <a:xfrm>
            <a:off x="8915433" y="3576434"/>
            <a:ext cx="1379074" cy="708947"/>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rPr>
              <a:t>Update</a:t>
            </a:r>
          </a:p>
          <a:p>
            <a:pPr algn="ctr"/>
            <a:r>
              <a:rPr lang="en-US" altLang="zh-CN" sz="1200" b="1" dirty="0">
                <a:solidFill>
                  <a:schemeClr val="bg1"/>
                </a:solidFill>
              </a:rPr>
              <a:t>tracking records</a:t>
            </a:r>
            <a:endParaRPr lang="zh-CN" altLang="en-US" sz="1200" b="1" dirty="0">
              <a:solidFill>
                <a:schemeClr val="bg1"/>
              </a:solidFill>
            </a:endParaRPr>
          </a:p>
        </p:txBody>
      </p:sp>
      <p:sp>
        <p:nvSpPr>
          <p:cNvPr id="85" name="矩形: 圆角 84">
            <a:extLst>
              <a:ext uri="{FF2B5EF4-FFF2-40B4-BE49-F238E27FC236}">
                <a16:creationId xmlns:a16="http://schemas.microsoft.com/office/drawing/2014/main" id="{C3E8C167-F947-47E2-9E86-942A1115DCA4}"/>
              </a:ext>
            </a:extLst>
          </p:cNvPr>
          <p:cNvSpPr/>
          <p:nvPr/>
        </p:nvSpPr>
        <p:spPr>
          <a:xfrm>
            <a:off x="7024771" y="3688506"/>
            <a:ext cx="1055496" cy="484805"/>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rPr>
              <a:t>Prepare shipment</a:t>
            </a:r>
            <a:endParaRPr lang="zh-CN" altLang="en-US" sz="1200" b="1" dirty="0">
              <a:solidFill>
                <a:schemeClr val="bg1"/>
              </a:solidFill>
            </a:endParaRPr>
          </a:p>
        </p:txBody>
      </p:sp>
      <p:cxnSp>
        <p:nvCxnSpPr>
          <p:cNvPr id="87" name="连接符: 肘形 86">
            <a:extLst>
              <a:ext uri="{FF2B5EF4-FFF2-40B4-BE49-F238E27FC236}">
                <a16:creationId xmlns:a16="http://schemas.microsoft.com/office/drawing/2014/main" id="{98837554-AA56-446A-9C7A-19BB05BAFDFA}"/>
              </a:ext>
            </a:extLst>
          </p:cNvPr>
          <p:cNvCxnSpPr>
            <a:cxnSpLocks/>
            <a:stCxn id="85" idx="3"/>
            <a:endCxn id="82" idx="1"/>
          </p:cNvCxnSpPr>
          <p:nvPr/>
        </p:nvCxnSpPr>
        <p:spPr>
          <a:xfrm flipV="1">
            <a:off x="8080267" y="3930908"/>
            <a:ext cx="835166" cy="1"/>
          </a:xfrm>
          <a:prstGeom prst="bentConnector3">
            <a:avLst>
              <a:gd name="adj1" fmla="val 50000"/>
            </a:avLst>
          </a:prstGeom>
          <a:ln w="12700">
            <a:tailEnd type="triangle"/>
          </a:ln>
        </p:spPr>
        <p:style>
          <a:lnRef idx="1">
            <a:schemeClr val="dk1"/>
          </a:lnRef>
          <a:fillRef idx="0">
            <a:schemeClr val="dk1"/>
          </a:fillRef>
          <a:effectRef idx="0">
            <a:schemeClr val="dk1"/>
          </a:effectRef>
          <a:fontRef idx="minor">
            <a:schemeClr val="tx1"/>
          </a:fontRef>
        </p:style>
      </p:cxnSp>
      <p:sp>
        <p:nvSpPr>
          <p:cNvPr id="96" name="矩形: 圆角 95">
            <a:extLst>
              <a:ext uri="{FF2B5EF4-FFF2-40B4-BE49-F238E27FC236}">
                <a16:creationId xmlns:a16="http://schemas.microsoft.com/office/drawing/2014/main" id="{A643E716-118F-4AA3-8CBC-272363A347E4}"/>
              </a:ext>
            </a:extLst>
          </p:cNvPr>
          <p:cNvSpPr/>
          <p:nvPr/>
        </p:nvSpPr>
        <p:spPr>
          <a:xfrm>
            <a:off x="4747174" y="2790817"/>
            <a:ext cx="1066800" cy="484805"/>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rPr>
              <a:t>Give feedback</a:t>
            </a:r>
            <a:endParaRPr lang="zh-CN" altLang="en-US" sz="1200" b="1" dirty="0">
              <a:solidFill>
                <a:schemeClr val="bg1"/>
              </a:solidFill>
            </a:endParaRPr>
          </a:p>
        </p:txBody>
      </p:sp>
      <p:cxnSp>
        <p:nvCxnSpPr>
          <p:cNvPr id="97" name="连接符: 肘形 96">
            <a:extLst>
              <a:ext uri="{FF2B5EF4-FFF2-40B4-BE49-F238E27FC236}">
                <a16:creationId xmlns:a16="http://schemas.microsoft.com/office/drawing/2014/main" id="{2AE8EFDC-BC44-4565-B123-05856E8BBC8C}"/>
              </a:ext>
            </a:extLst>
          </p:cNvPr>
          <p:cNvCxnSpPr>
            <a:cxnSpLocks/>
            <a:stCxn id="96" idx="1"/>
            <a:endCxn id="17" idx="1"/>
          </p:cNvCxnSpPr>
          <p:nvPr/>
        </p:nvCxnSpPr>
        <p:spPr>
          <a:xfrm rot="10800000" flipH="1">
            <a:off x="4747174" y="1585566"/>
            <a:ext cx="2258583" cy="1447655"/>
          </a:xfrm>
          <a:prstGeom prst="bentConnector3">
            <a:avLst>
              <a:gd name="adj1" fmla="val -10121"/>
            </a:avLst>
          </a:prstGeom>
          <a:ln w="12700">
            <a:tailEnd type="triangle"/>
          </a:ln>
        </p:spPr>
        <p:style>
          <a:lnRef idx="1">
            <a:schemeClr val="dk1"/>
          </a:lnRef>
          <a:fillRef idx="0">
            <a:schemeClr val="dk1"/>
          </a:fillRef>
          <a:effectRef idx="0">
            <a:schemeClr val="dk1"/>
          </a:effectRef>
          <a:fontRef idx="minor">
            <a:schemeClr val="tx1"/>
          </a:fontRef>
        </p:style>
      </p:cxnSp>
      <p:cxnSp>
        <p:nvCxnSpPr>
          <p:cNvPr id="100" name="直接箭头连接符 99">
            <a:extLst>
              <a:ext uri="{FF2B5EF4-FFF2-40B4-BE49-F238E27FC236}">
                <a16:creationId xmlns:a16="http://schemas.microsoft.com/office/drawing/2014/main" id="{FE403F6A-66A6-4D82-9F57-62034E16C6D0}"/>
              </a:ext>
            </a:extLst>
          </p:cNvPr>
          <p:cNvCxnSpPr>
            <a:cxnSpLocks/>
            <a:stCxn id="59" idx="2"/>
            <a:endCxn id="96" idx="0"/>
          </p:cNvCxnSpPr>
          <p:nvPr/>
        </p:nvCxnSpPr>
        <p:spPr>
          <a:xfrm flipH="1">
            <a:off x="5280575" y="2535808"/>
            <a:ext cx="2459" cy="25500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03" name="矩形: 圆角 102">
            <a:extLst>
              <a:ext uri="{FF2B5EF4-FFF2-40B4-BE49-F238E27FC236}">
                <a16:creationId xmlns:a16="http://schemas.microsoft.com/office/drawing/2014/main" id="{06D05FBA-AC4E-41A0-B4AB-55ED1FBC489E}"/>
              </a:ext>
            </a:extLst>
          </p:cNvPr>
          <p:cNvSpPr/>
          <p:nvPr/>
        </p:nvSpPr>
        <p:spPr>
          <a:xfrm>
            <a:off x="4604414" y="3676437"/>
            <a:ext cx="1379074" cy="484806"/>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rPr>
              <a:t>Update order status</a:t>
            </a:r>
            <a:endParaRPr lang="zh-CN" altLang="en-US" sz="1200" b="1" dirty="0">
              <a:solidFill>
                <a:schemeClr val="bg1"/>
              </a:solidFill>
            </a:endParaRPr>
          </a:p>
        </p:txBody>
      </p:sp>
      <p:cxnSp>
        <p:nvCxnSpPr>
          <p:cNvPr id="104" name="直接箭头连接符 103">
            <a:extLst>
              <a:ext uri="{FF2B5EF4-FFF2-40B4-BE49-F238E27FC236}">
                <a16:creationId xmlns:a16="http://schemas.microsoft.com/office/drawing/2014/main" id="{4E3B6B31-CF2B-44CE-8014-F97E3A5C76A1}"/>
              </a:ext>
            </a:extLst>
          </p:cNvPr>
          <p:cNvCxnSpPr>
            <a:cxnSpLocks/>
            <a:stCxn id="85" idx="1"/>
            <a:endCxn id="103" idx="3"/>
          </p:cNvCxnSpPr>
          <p:nvPr/>
        </p:nvCxnSpPr>
        <p:spPr>
          <a:xfrm flipH="1" flipV="1">
            <a:off x="5983489" y="3918840"/>
            <a:ext cx="1041283" cy="1206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13" name="矩形: 圆角 112">
            <a:extLst>
              <a:ext uri="{FF2B5EF4-FFF2-40B4-BE49-F238E27FC236}">
                <a16:creationId xmlns:a16="http://schemas.microsoft.com/office/drawing/2014/main" id="{3FBDDF52-378C-4E3D-879F-5B5A53D37E5D}"/>
              </a:ext>
            </a:extLst>
          </p:cNvPr>
          <p:cNvSpPr/>
          <p:nvPr/>
        </p:nvSpPr>
        <p:spPr>
          <a:xfrm>
            <a:off x="4616672" y="4310780"/>
            <a:ext cx="1379074" cy="484806"/>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rPr>
              <a:t>Update order status</a:t>
            </a:r>
            <a:endParaRPr lang="zh-CN" altLang="en-US" sz="1200" b="1" dirty="0">
              <a:solidFill>
                <a:schemeClr val="bg1"/>
              </a:solidFill>
            </a:endParaRPr>
          </a:p>
        </p:txBody>
      </p:sp>
      <p:sp>
        <p:nvSpPr>
          <p:cNvPr id="114" name="矩形: 圆角 113">
            <a:extLst>
              <a:ext uri="{FF2B5EF4-FFF2-40B4-BE49-F238E27FC236}">
                <a16:creationId xmlns:a16="http://schemas.microsoft.com/office/drawing/2014/main" id="{3ACDC66C-9EBB-49CB-B6C4-520365E0C103}"/>
              </a:ext>
            </a:extLst>
          </p:cNvPr>
          <p:cNvSpPr/>
          <p:nvPr/>
        </p:nvSpPr>
        <p:spPr>
          <a:xfrm>
            <a:off x="6849620" y="4310780"/>
            <a:ext cx="1379074" cy="484806"/>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rPr>
              <a:t>Update order status</a:t>
            </a:r>
            <a:endParaRPr lang="zh-CN" altLang="en-US" sz="1200" b="1" dirty="0">
              <a:solidFill>
                <a:schemeClr val="bg1"/>
              </a:solidFill>
            </a:endParaRPr>
          </a:p>
        </p:txBody>
      </p:sp>
      <p:cxnSp>
        <p:nvCxnSpPr>
          <p:cNvPr id="115" name="连接符: 肘形 114">
            <a:extLst>
              <a:ext uri="{FF2B5EF4-FFF2-40B4-BE49-F238E27FC236}">
                <a16:creationId xmlns:a16="http://schemas.microsoft.com/office/drawing/2014/main" id="{1E16B010-67C3-438C-95D0-3050FC0CB04B}"/>
              </a:ext>
            </a:extLst>
          </p:cNvPr>
          <p:cNvCxnSpPr>
            <a:cxnSpLocks/>
            <a:stCxn id="82" idx="2"/>
            <a:endCxn id="114" idx="3"/>
          </p:cNvCxnSpPr>
          <p:nvPr/>
        </p:nvCxnSpPr>
        <p:spPr>
          <a:xfrm rot="5400000">
            <a:off x="8782932" y="3731143"/>
            <a:ext cx="267803" cy="1376276"/>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cxnSp>
        <p:nvCxnSpPr>
          <p:cNvPr id="118" name="直接箭头连接符 117">
            <a:extLst>
              <a:ext uri="{FF2B5EF4-FFF2-40B4-BE49-F238E27FC236}">
                <a16:creationId xmlns:a16="http://schemas.microsoft.com/office/drawing/2014/main" id="{C1A2DF32-3C27-4CDE-AB03-F8E9BFD9BA16}"/>
              </a:ext>
            </a:extLst>
          </p:cNvPr>
          <p:cNvCxnSpPr>
            <a:cxnSpLocks/>
            <a:stCxn id="114" idx="1"/>
            <a:endCxn id="113" idx="3"/>
          </p:cNvCxnSpPr>
          <p:nvPr/>
        </p:nvCxnSpPr>
        <p:spPr>
          <a:xfrm flipH="1">
            <a:off x="5995746" y="4553183"/>
            <a:ext cx="853874"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21" name="椭圆 120">
            <a:extLst>
              <a:ext uri="{FF2B5EF4-FFF2-40B4-BE49-F238E27FC236}">
                <a16:creationId xmlns:a16="http://schemas.microsoft.com/office/drawing/2014/main" id="{3DD11D85-3798-4864-8FCB-C969AB78A264}"/>
              </a:ext>
            </a:extLst>
          </p:cNvPr>
          <p:cNvSpPr/>
          <p:nvPr/>
        </p:nvSpPr>
        <p:spPr>
          <a:xfrm>
            <a:off x="5196365" y="6451035"/>
            <a:ext cx="152400" cy="1524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菱形 127">
            <a:extLst>
              <a:ext uri="{FF2B5EF4-FFF2-40B4-BE49-F238E27FC236}">
                <a16:creationId xmlns:a16="http://schemas.microsoft.com/office/drawing/2014/main" id="{F684D7FB-062F-4B92-9EA1-3FE879278F25}"/>
              </a:ext>
            </a:extLst>
          </p:cNvPr>
          <p:cNvSpPr/>
          <p:nvPr/>
        </p:nvSpPr>
        <p:spPr>
          <a:xfrm>
            <a:off x="4374079" y="5063718"/>
            <a:ext cx="1871577" cy="645527"/>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rPr>
              <a:t>Receive the order?</a:t>
            </a:r>
            <a:endParaRPr lang="zh-CN" altLang="en-US" sz="1200" b="1" dirty="0">
              <a:solidFill>
                <a:schemeClr val="bg1"/>
              </a:solidFill>
            </a:endParaRPr>
          </a:p>
        </p:txBody>
      </p:sp>
      <p:cxnSp>
        <p:nvCxnSpPr>
          <p:cNvPr id="147" name="直接箭头连接符 146">
            <a:extLst>
              <a:ext uri="{FF2B5EF4-FFF2-40B4-BE49-F238E27FC236}">
                <a16:creationId xmlns:a16="http://schemas.microsoft.com/office/drawing/2014/main" id="{86240053-077B-47F5-85A4-807F33F97711}"/>
              </a:ext>
            </a:extLst>
          </p:cNvPr>
          <p:cNvCxnSpPr>
            <a:cxnSpLocks/>
            <a:stCxn id="77" idx="2"/>
            <a:endCxn id="85" idx="0"/>
          </p:cNvCxnSpPr>
          <p:nvPr/>
        </p:nvCxnSpPr>
        <p:spPr>
          <a:xfrm flipH="1">
            <a:off x="7552520" y="3530595"/>
            <a:ext cx="479" cy="15791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68" name="文本框 167">
            <a:extLst>
              <a:ext uri="{FF2B5EF4-FFF2-40B4-BE49-F238E27FC236}">
                <a16:creationId xmlns:a16="http://schemas.microsoft.com/office/drawing/2014/main" id="{EB292B8C-2EF7-4989-A9E1-03FD252F86EA}"/>
              </a:ext>
            </a:extLst>
          </p:cNvPr>
          <p:cNvSpPr txBox="1"/>
          <p:nvPr/>
        </p:nvSpPr>
        <p:spPr>
          <a:xfrm>
            <a:off x="6073435" y="5053235"/>
            <a:ext cx="314510" cy="307777"/>
          </a:xfrm>
          <a:prstGeom prst="rect">
            <a:avLst/>
          </a:prstGeom>
          <a:noFill/>
        </p:spPr>
        <p:txBody>
          <a:bodyPr wrap="none" rtlCol="0">
            <a:spAutoFit/>
          </a:bodyPr>
          <a:lstStyle/>
          <a:p>
            <a:r>
              <a:rPr lang="en-US" altLang="zh-CN" sz="1400" dirty="0"/>
              <a:t>N</a:t>
            </a:r>
          </a:p>
        </p:txBody>
      </p:sp>
      <p:sp>
        <p:nvSpPr>
          <p:cNvPr id="172" name="矩形: 圆角 171">
            <a:extLst>
              <a:ext uri="{FF2B5EF4-FFF2-40B4-BE49-F238E27FC236}">
                <a16:creationId xmlns:a16="http://schemas.microsoft.com/office/drawing/2014/main" id="{46B305E9-67B6-498B-8587-9D69DA755C29}"/>
              </a:ext>
            </a:extLst>
          </p:cNvPr>
          <p:cNvSpPr/>
          <p:nvPr/>
        </p:nvSpPr>
        <p:spPr>
          <a:xfrm>
            <a:off x="6908706" y="5784986"/>
            <a:ext cx="1379074" cy="484806"/>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rPr>
              <a:t>Update order status</a:t>
            </a:r>
            <a:endParaRPr lang="zh-CN" altLang="en-US" sz="1200" b="1" dirty="0">
              <a:solidFill>
                <a:schemeClr val="bg1"/>
              </a:solidFill>
            </a:endParaRPr>
          </a:p>
        </p:txBody>
      </p:sp>
      <p:sp>
        <p:nvSpPr>
          <p:cNvPr id="173" name="矩形: 圆角 172">
            <a:extLst>
              <a:ext uri="{FF2B5EF4-FFF2-40B4-BE49-F238E27FC236}">
                <a16:creationId xmlns:a16="http://schemas.microsoft.com/office/drawing/2014/main" id="{3FBDDF52-378C-4E3D-879F-5B5A53D37E5D}"/>
              </a:ext>
            </a:extLst>
          </p:cNvPr>
          <p:cNvSpPr/>
          <p:nvPr/>
        </p:nvSpPr>
        <p:spPr>
          <a:xfrm>
            <a:off x="8915433" y="5784899"/>
            <a:ext cx="1379074" cy="484806"/>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sz="1200" b="1" dirty="0">
                <a:solidFill>
                  <a:schemeClr val="bg1"/>
                </a:solidFill>
              </a:rPr>
              <a:t>Update order status</a:t>
            </a:r>
            <a:endParaRPr lang="zh-CN" altLang="en-US" sz="1200" b="1" dirty="0">
              <a:solidFill>
                <a:schemeClr val="bg1"/>
              </a:solidFill>
            </a:endParaRPr>
          </a:p>
        </p:txBody>
      </p:sp>
      <p:cxnSp>
        <p:nvCxnSpPr>
          <p:cNvPr id="176" name="直接箭头连接符 175">
            <a:extLst>
              <a:ext uri="{FF2B5EF4-FFF2-40B4-BE49-F238E27FC236}">
                <a16:creationId xmlns:a16="http://schemas.microsoft.com/office/drawing/2014/main" id="{0CA39617-1122-4325-BE72-A02336AF192C}"/>
              </a:ext>
            </a:extLst>
          </p:cNvPr>
          <p:cNvCxnSpPr>
            <a:cxnSpLocks/>
            <a:stCxn id="128" idx="3"/>
            <a:endCxn id="201" idx="1"/>
          </p:cNvCxnSpPr>
          <p:nvPr/>
        </p:nvCxnSpPr>
        <p:spPr>
          <a:xfrm>
            <a:off x="6245655" y="5386481"/>
            <a:ext cx="2669778" cy="18546"/>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80" name="直接箭头连接符 179">
            <a:extLst>
              <a:ext uri="{FF2B5EF4-FFF2-40B4-BE49-F238E27FC236}">
                <a16:creationId xmlns:a16="http://schemas.microsoft.com/office/drawing/2014/main" id="{2D8BC7EE-AC2A-48F8-9D4A-89098E02F941}"/>
              </a:ext>
            </a:extLst>
          </p:cNvPr>
          <p:cNvCxnSpPr>
            <a:cxnSpLocks/>
            <a:stCxn id="172" idx="3"/>
            <a:endCxn id="173" idx="1"/>
          </p:cNvCxnSpPr>
          <p:nvPr/>
        </p:nvCxnSpPr>
        <p:spPr>
          <a:xfrm flipV="1">
            <a:off x="8287781" y="6027303"/>
            <a:ext cx="627653" cy="8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92" name="连接符: 肘形 191">
            <a:extLst>
              <a:ext uri="{FF2B5EF4-FFF2-40B4-BE49-F238E27FC236}">
                <a16:creationId xmlns:a16="http://schemas.microsoft.com/office/drawing/2014/main" id="{18D36CBD-C17E-4F4B-811B-CCC8F33DFABE}"/>
              </a:ext>
            </a:extLst>
          </p:cNvPr>
          <p:cNvCxnSpPr>
            <a:cxnSpLocks/>
            <a:stCxn id="173" idx="2"/>
            <a:endCxn id="2" idx="6"/>
          </p:cNvCxnSpPr>
          <p:nvPr/>
        </p:nvCxnSpPr>
        <p:spPr>
          <a:xfrm rot="5400000">
            <a:off x="7384043" y="4310629"/>
            <a:ext cx="261850" cy="4180005"/>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sp>
        <p:nvSpPr>
          <p:cNvPr id="201" name="矩形: 圆角 200">
            <a:extLst>
              <a:ext uri="{FF2B5EF4-FFF2-40B4-BE49-F238E27FC236}">
                <a16:creationId xmlns:a16="http://schemas.microsoft.com/office/drawing/2014/main" id="{70B7D40A-187F-4AA8-AF77-73B4D679B2EE}"/>
              </a:ext>
            </a:extLst>
          </p:cNvPr>
          <p:cNvSpPr/>
          <p:nvPr/>
        </p:nvSpPr>
        <p:spPr>
          <a:xfrm>
            <a:off x="8915433" y="5162624"/>
            <a:ext cx="1379074" cy="484806"/>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altLang="zh-CN" sz="1200" b="1" dirty="0">
                <a:solidFill>
                  <a:schemeClr val="bg1"/>
                </a:solidFill>
              </a:rPr>
              <a:t>Check the feedback</a:t>
            </a:r>
            <a:endParaRPr lang="zh-CN" altLang="en-US" sz="1200" b="1" dirty="0">
              <a:solidFill>
                <a:schemeClr val="bg1"/>
              </a:solidFill>
            </a:endParaRPr>
          </a:p>
        </p:txBody>
      </p:sp>
      <p:cxnSp>
        <p:nvCxnSpPr>
          <p:cNvPr id="209" name="连接符: 肘形 208">
            <a:extLst>
              <a:ext uri="{FF2B5EF4-FFF2-40B4-BE49-F238E27FC236}">
                <a16:creationId xmlns:a16="http://schemas.microsoft.com/office/drawing/2014/main" id="{BBB514DF-A9CD-4C41-9627-EAF7EC399B8D}"/>
              </a:ext>
            </a:extLst>
          </p:cNvPr>
          <p:cNvCxnSpPr>
            <a:cxnSpLocks/>
            <a:stCxn id="128" idx="2"/>
            <a:endCxn id="172" idx="1"/>
          </p:cNvCxnSpPr>
          <p:nvPr/>
        </p:nvCxnSpPr>
        <p:spPr>
          <a:xfrm rot="16200000" flipH="1">
            <a:off x="5950215" y="5068897"/>
            <a:ext cx="318145" cy="1598839"/>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sp>
        <p:nvSpPr>
          <p:cNvPr id="214" name="文本框 213">
            <a:extLst>
              <a:ext uri="{FF2B5EF4-FFF2-40B4-BE49-F238E27FC236}">
                <a16:creationId xmlns:a16="http://schemas.microsoft.com/office/drawing/2014/main" id="{7BEF936F-D0B6-41AA-BE67-91EBB98C7A22}"/>
              </a:ext>
            </a:extLst>
          </p:cNvPr>
          <p:cNvSpPr txBox="1"/>
          <p:nvPr/>
        </p:nvSpPr>
        <p:spPr>
          <a:xfrm>
            <a:off x="4988936" y="5692381"/>
            <a:ext cx="282450" cy="307777"/>
          </a:xfrm>
          <a:prstGeom prst="rect">
            <a:avLst/>
          </a:prstGeom>
          <a:noFill/>
        </p:spPr>
        <p:txBody>
          <a:bodyPr wrap="none" rtlCol="0">
            <a:spAutoFit/>
          </a:bodyPr>
          <a:lstStyle/>
          <a:p>
            <a:r>
              <a:rPr lang="en-US" altLang="zh-CN" sz="1400" dirty="0"/>
              <a:t>Y</a:t>
            </a:r>
          </a:p>
        </p:txBody>
      </p:sp>
      <p:cxnSp>
        <p:nvCxnSpPr>
          <p:cNvPr id="225" name="直接箭头连接符 224">
            <a:extLst>
              <a:ext uri="{FF2B5EF4-FFF2-40B4-BE49-F238E27FC236}">
                <a16:creationId xmlns:a16="http://schemas.microsoft.com/office/drawing/2014/main" id="{FB206ABB-E057-4E08-9777-0157439E0BD8}"/>
              </a:ext>
            </a:extLst>
          </p:cNvPr>
          <p:cNvCxnSpPr>
            <a:cxnSpLocks/>
            <a:stCxn id="113" idx="2"/>
            <a:endCxn id="128" idx="0"/>
          </p:cNvCxnSpPr>
          <p:nvPr/>
        </p:nvCxnSpPr>
        <p:spPr>
          <a:xfrm>
            <a:off x="5306209" y="4795587"/>
            <a:ext cx="3658" cy="26813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32" name="连接符: 肘形 231">
            <a:extLst>
              <a:ext uri="{FF2B5EF4-FFF2-40B4-BE49-F238E27FC236}">
                <a16:creationId xmlns:a16="http://schemas.microsoft.com/office/drawing/2014/main" id="{3A83D79E-891F-4F8E-84CE-30FA0293D7EB}"/>
              </a:ext>
            </a:extLst>
          </p:cNvPr>
          <p:cNvCxnSpPr>
            <a:cxnSpLocks/>
            <a:stCxn id="201" idx="3"/>
            <a:endCxn id="82" idx="0"/>
          </p:cNvCxnSpPr>
          <p:nvPr/>
        </p:nvCxnSpPr>
        <p:spPr>
          <a:xfrm flipH="1" flipV="1">
            <a:off x="9604971" y="3576433"/>
            <a:ext cx="689537" cy="1828594"/>
          </a:xfrm>
          <a:prstGeom prst="bentConnector4">
            <a:avLst>
              <a:gd name="adj1" fmla="val -33153"/>
              <a:gd name="adj2" fmla="val 112501"/>
            </a:avLst>
          </a:prstGeom>
          <a:ln w="12700">
            <a:tailEnd type="triangle"/>
          </a:ln>
        </p:spPr>
        <p:style>
          <a:lnRef idx="1">
            <a:schemeClr val="dk1"/>
          </a:lnRef>
          <a:fillRef idx="0">
            <a:schemeClr val="dk1"/>
          </a:fillRef>
          <a:effectRef idx="0">
            <a:schemeClr val="dk1"/>
          </a:effectRef>
          <a:fontRef idx="minor">
            <a:schemeClr val="tx1"/>
          </a:fontRef>
        </p:style>
      </p:cxnSp>
      <p:sp>
        <p:nvSpPr>
          <p:cNvPr id="2" name="椭圆 1">
            <a:extLst>
              <a:ext uri="{FF2B5EF4-FFF2-40B4-BE49-F238E27FC236}">
                <a16:creationId xmlns:a16="http://schemas.microsoft.com/office/drawing/2014/main" id="{F040B7D6-427B-4F9E-8901-89F70B957020}"/>
              </a:ext>
            </a:extLst>
          </p:cNvPr>
          <p:cNvSpPr/>
          <p:nvPr/>
        </p:nvSpPr>
        <p:spPr>
          <a:xfrm>
            <a:off x="5120165" y="6390197"/>
            <a:ext cx="304800" cy="28271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内容占位符 2">
            <a:extLst>
              <a:ext uri="{FF2B5EF4-FFF2-40B4-BE49-F238E27FC236}">
                <a16:creationId xmlns:a16="http://schemas.microsoft.com/office/drawing/2014/main" id="{0C93140A-BD8A-46D4-9FF2-5003C603549A}"/>
              </a:ext>
            </a:extLst>
          </p:cNvPr>
          <p:cNvSpPr txBox="1">
            <a:spLocks/>
          </p:cNvSpPr>
          <p:nvPr/>
        </p:nvSpPr>
        <p:spPr>
          <a:xfrm>
            <a:off x="838200" y="1825625"/>
            <a:ext cx="3129533"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活动图：</a:t>
            </a:r>
            <a:endParaRPr lang="en-US" altLang="zh-CN" dirty="0"/>
          </a:p>
          <a:p>
            <a:r>
              <a:rPr lang="zh-CN" altLang="en-US" dirty="0"/>
              <a:t>用活动图描述一个外卖配送案例，包括订单子系统、餐厅子系统和配送子系统</a:t>
            </a:r>
          </a:p>
        </p:txBody>
      </p:sp>
    </p:spTree>
    <p:extLst>
      <p:ext uri="{BB962C8B-B14F-4D97-AF65-F5344CB8AC3E}">
        <p14:creationId xmlns:p14="http://schemas.microsoft.com/office/powerpoint/2010/main" val="3831681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4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8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0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1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1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13"/>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1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2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2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68"/>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76"/>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01"/>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232"/>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214"/>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209"/>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72"/>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80"/>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73"/>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192"/>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4" grpId="0" animBg="1"/>
      <p:bldP spid="26" grpId="0"/>
      <p:bldP spid="50" grpId="0" animBg="1"/>
      <p:bldP spid="59" grpId="0" animBg="1"/>
      <p:bldP spid="66" grpId="0" animBg="1"/>
      <p:bldP spid="70" grpId="0"/>
      <p:bldP spid="71" grpId="0"/>
      <p:bldP spid="77" grpId="0" animBg="1"/>
      <p:bldP spid="82" grpId="0" animBg="1"/>
      <p:bldP spid="85" grpId="0" animBg="1"/>
      <p:bldP spid="96" grpId="0" animBg="1"/>
      <p:bldP spid="103" grpId="0" animBg="1"/>
      <p:bldP spid="113" grpId="0" animBg="1"/>
      <p:bldP spid="114" grpId="0" animBg="1"/>
      <p:bldP spid="121" grpId="0" animBg="1"/>
      <p:bldP spid="128" grpId="0" animBg="1"/>
      <p:bldP spid="168" grpId="0"/>
      <p:bldP spid="172" grpId="0" animBg="1"/>
      <p:bldP spid="173" grpId="0" animBg="1"/>
      <p:bldP spid="201" grpId="0" animBg="1"/>
      <p:bldP spid="214"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a:xfrm>
            <a:off x="838200" y="1825625"/>
            <a:ext cx="4483100" cy="4351338"/>
          </a:xfrm>
        </p:spPr>
        <p:txBody>
          <a:bodyPr/>
          <a:lstStyle/>
          <a:p>
            <a:r>
              <a:rPr lang="zh-CN" altLang="en-US" dirty="0">
                <a:solidFill>
                  <a:srgbClr val="C00000"/>
                </a:solidFill>
              </a:rPr>
              <a:t>系统</a:t>
            </a:r>
            <a:r>
              <a:rPr lang="zh-CN" altLang="en-US" dirty="0"/>
              <a:t>顺序图（</a:t>
            </a:r>
            <a:r>
              <a:rPr lang="en-US" altLang="zh-CN" dirty="0"/>
              <a:t>System Sequence Diagram</a:t>
            </a:r>
            <a:r>
              <a:rPr lang="zh-CN" altLang="en-US" dirty="0"/>
              <a:t>）</a:t>
            </a:r>
            <a:endParaRPr lang="en-US" altLang="zh-CN" dirty="0"/>
          </a:p>
          <a:p>
            <a:pPr lvl="1"/>
            <a:r>
              <a:rPr lang="zh-CN" altLang="en-US" dirty="0">
                <a:solidFill>
                  <a:srgbClr val="C00000"/>
                </a:solidFill>
              </a:rPr>
              <a:t>只有用户和</a:t>
            </a:r>
            <a:r>
              <a:rPr lang="en-US" altLang="zh-CN" u="sng" dirty="0">
                <a:solidFill>
                  <a:srgbClr val="C00000"/>
                </a:solidFill>
              </a:rPr>
              <a:t>:System</a:t>
            </a:r>
            <a:r>
              <a:rPr lang="zh-CN" altLang="en-US" dirty="0">
                <a:solidFill>
                  <a:srgbClr val="C00000"/>
                </a:solidFill>
              </a:rPr>
              <a:t>（与设计部分的顺序图区分）</a:t>
            </a:r>
            <a:endParaRPr lang="en-US" altLang="zh-CN" dirty="0">
              <a:solidFill>
                <a:srgbClr val="C00000"/>
              </a:solidFill>
            </a:endParaRPr>
          </a:p>
          <a:p>
            <a:pPr lvl="1"/>
            <a:r>
              <a:rPr lang="zh-CN" altLang="en-US" dirty="0"/>
              <a:t>双向箭头版：</a:t>
            </a:r>
            <a:endParaRPr lang="en-US" altLang="zh-CN" dirty="0"/>
          </a:p>
          <a:p>
            <a:pPr lvl="2"/>
            <a:r>
              <a:rPr lang="zh-CN" altLang="en-US" dirty="0"/>
              <a:t>一个方向为</a:t>
            </a:r>
            <a:r>
              <a:rPr lang="en-US" altLang="zh-CN" dirty="0"/>
              <a:t>Method</a:t>
            </a:r>
            <a:r>
              <a:rPr lang="zh-CN" altLang="en-US" dirty="0"/>
              <a:t>（参数），一个方向为返回值</a:t>
            </a:r>
            <a:endParaRPr lang="en-US" altLang="zh-CN" dirty="0"/>
          </a:p>
          <a:p>
            <a:pPr lvl="1"/>
            <a:r>
              <a:rPr lang="zh-CN" altLang="en-US" dirty="0"/>
              <a:t>单箭头版：</a:t>
            </a:r>
            <a:endParaRPr lang="en-US" altLang="zh-CN" dirty="0"/>
          </a:p>
          <a:p>
            <a:pPr lvl="1"/>
            <a:endParaRPr lang="zh-CN" altLang="en-US" dirty="0"/>
          </a:p>
        </p:txBody>
      </p:sp>
      <p:pic>
        <p:nvPicPr>
          <p:cNvPr id="6" name="Picture 6">
            <a:extLst>
              <a:ext uri="{FF2B5EF4-FFF2-40B4-BE49-F238E27FC236}">
                <a16:creationId xmlns:a16="http://schemas.microsoft.com/office/drawing/2014/main" id="{A6C3562E-5BC6-4FD4-A9B7-AAF6EEC8E3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3949" y="118533"/>
            <a:ext cx="3760787"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8AB8D432-0C4A-485C-8995-FD3A4A7BB5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6199" y="1164167"/>
            <a:ext cx="3080280" cy="323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a:extLst>
              <a:ext uri="{FF2B5EF4-FFF2-40B4-BE49-F238E27FC236}">
                <a16:creationId xmlns:a16="http://schemas.microsoft.com/office/drawing/2014/main" id="{E35A7A66-D9AA-4839-BC89-D33FC3AB5658}"/>
              </a:ext>
            </a:extLst>
          </p:cNvPr>
          <p:cNvSpPr txBox="1"/>
          <p:nvPr/>
        </p:nvSpPr>
        <p:spPr>
          <a:xfrm>
            <a:off x="9575009" y="6268508"/>
            <a:ext cx="1418167" cy="369332"/>
          </a:xfrm>
          <a:prstGeom prst="rect">
            <a:avLst/>
          </a:prstGeom>
          <a:noFill/>
        </p:spPr>
        <p:txBody>
          <a:bodyPr wrap="square">
            <a:spAutoFit/>
          </a:bodyPr>
          <a:lstStyle/>
          <a:p>
            <a:r>
              <a:rPr lang="zh-CN" altLang="en-US" dirty="0"/>
              <a:t>双向箭头版</a:t>
            </a:r>
          </a:p>
        </p:txBody>
      </p:sp>
      <p:sp>
        <p:nvSpPr>
          <p:cNvPr id="10" name="文本框 9">
            <a:extLst>
              <a:ext uri="{FF2B5EF4-FFF2-40B4-BE49-F238E27FC236}">
                <a16:creationId xmlns:a16="http://schemas.microsoft.com/office/drawing/2014/main" id="{5950C6D6-2917-41DF-AC13-B5C901D84BA7}"/>
              </a:ext>
            </a:extLst>
          </p:cNvPr>
          <p:cNvSpPr txBox="1"/>
          <p:nvPr/>
        </p:nvSpPr>
        <p:spPr>
          <a:xfrm>
            <a:off x="6252632" y="4402667"/>
            <a:ext cx="1418167" cy="369332"/>
          </a:xfrm>
          <a:prstGeom prst="rect">
            <a:avLst/>
          </a:prstGeom>
          <a:noFill/>
        </p:spPr>
        <p:txBody>
          <a:bodyPr wrap="square">
            <a:spAutoFit/>
          </a:bodyPr>
          <a:lstStyle/>
          <a:p>
            <a:r>
              <a:rPr lang="zh-CN" altLang="en-US" dirty="0"/>
              <a:t>语句版</a:t>
            </a:r>
          </a:p>
        </p:txBody>
      </p:sp>
      <p:pic>
        <p:nvPicPr>
          <p:cNvPr id="11" name="Picture 7">
            <a:extLst>
              <a:ext uri="{FF2B5EF4-FFF2-40B4-BE49-F238E27FC236}">
                <a16:creationId xmlns:a16="http://schemas.microsoft.com/office/drawing/2014/main" id="{E5B4166E-AEB9-430B-99F3-858982222E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063" y="4934435"/>
            <a:ext cx="7734603" cy="477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a:extLst>
              <a:ext uri="{FF2B5EF4-FFF2-40B4-BE49-F238E27FC236}">
                <a16:creationId xmlns:a16="http://schemas.microsoft.com/office/drawing/2014/main" id="{B047D04F-D701-4EE3-BD42-82A4C74DA06E}"/>
              </a:ext>
            </a:extLst>
          </p:cNvPr>
          <p:cNvSpPr txBox="1"/>
          <p:nvPr/>
        </p:nvSpPr>
        <p:spPr>
          <a:xfrm>
            <a:off x="303358" y="4911737"/>
            <a:ext cx="324128" cy="523220"/>
          </a:xfrm>
          <a:prstGeom prst="rect">
            <a:avLst/>
          </a:prstGeom>
          <a:noFill/>
        </p:spPr>
        <p:txBody>
          <a:bodyPr wrap="none" rtlCol="0">
            <a:spAutoFit/>
          </a:bodyPr>
          <a:lstStyle/>
          <a:p>
            <a:r>
              <a:rPr lang="en-US" altLang="zh-CN" sz="2800" dirty="0"/>
              <a:t>*</a:t>
            </a:r>
            <a:endParaRPr lang="zh-CN" altLang="en-US" sz="2800" dirty="0"/>
          </a:p>
        </p:txBody>
      </p:sp>
    </p:spTree>
    <p:extLst>
      <p:ext uri="{BB962C8B-B14F-4D97-AF65-F5344CB8AC3E}">
        <p14:creationId xmlns:p14="http://schemas.microsoft.com/office/powerpoint/2010/main" val="18375446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6">
            <a:extLst>
              <a:ext uri="{FF2B5EF4-FFF2-40B4-BE49-F238E27FC236}">
                <a16:creationId xmlns:a16="http://schemas.microsoft.com/office/drawing/2014/main" id="{AE00FAD4-998F-45E6-8A0E-F6D9E106EB2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3103FD2-89FD-460E-ACD4-21A3D2178ACA}" type="slidenum">
              <a:rPr lang="en-US" altLang="en-US"/>
              <a:pPr eaLnBrk="1" hangingPunct="1"/>
              <a:t>88</a:t>
            </a:fld>
            <a:endParaRPr lang="en-US" altLang="en-US"/>
          </a:p>
        </p:txBody>
      </p:sp>
      <p:sp>
        <p:nvSpPr>
          <p:cNvPr id="24579" name="Rectangle 2">
            <a:extLst>
              <a:ext uri="{FF2B5EF4-FFF2-40B4-BE49-F238E27FC236}">
                <a16:creationId xmlns:a16="http://schemas.microsoft.com/office/drawing/2014/main" id="{176DB899-A1CF-450B-8CA4-C7E9D82E801E}"/>
              </a:ext>
            </a:extLst>
          </p:cNvPr>
          <p:cNvSpPr>
            <a:spLocks noGrp="1" noChangeArrowheads="1"/>
          </p:cNvSpPr>
          <p:nvPr>
            <p:ph type="title"/>
          </p:nvPr>
        </p:nvSpPr>
        <p:spPr>
          <a:xfrm>
            <a:off x="1752600" y="304800"/>
            <a:ext cx="2819400" cy="3581400"/>
          </a:xfrm>
        </p:spPr>
        <p:txBody>
          <a:bodyPr/>
          <a:lstStyle/>
          <a:p>
            <a:pPr eaLnBrk="1" hangingPunct="1"/>
            <a:r>
              <a:rPr lang="en-US" altLang="zh-CN" sz="3200" dirty="0">
                <a:ea typeface="宋体" panose="02010600030101010101" pitchFamily="2" charset="-122"/>
              </a:rPr>
              <a:t>SSD Message Examples with Loop Frame</a:t>
            </a:r>
            <a:br>
              <a:rPr lang="en-US" altLang="zh-CN" sz="3200" dirty="0">
                <a:ea typeface="宋体" panose="02010600030101010101" pitchFamily="2" charset="-122"/>
              </a:rPr>
            </a:br>
            <a:r>
              <a:rPr lang="zh-CN" altLang="en-US" sz="3200" dirty="0">
                <a:ea typeface="宋体" panose="02010600030101010101" pitchFamily="2" charset="-122"/>
              </a:rPr>
              <a:t>（带环路的系统顺序图）</a:t>
            </a:r>
            <a:br>
              <a:rPr lang="en-US" altLang="zh-CN" sz="3200" dirty="0">
                <a:ea typeface="宋体" panose="02010600030101010101" pitchFamily="2" charset="-122"/>
              </a:rPr>
            </a:br>
            <a:br>
              <a:rPr lang="en-US" altLang="zh-CN" sz="3200" dirty="0">
                <a:ea typeface="宋体" panose="02010600030101010101" pitchFamily="2" charset="-122"/>
              </a:rPr>
            </a:br>
            <a:endParaRPr lang="en-US" altLang="zh-CN" sz="2400" i="1" dirty="0">
              <a:ea typeface="宋体" panose="02010600030101010101" pitchFamily="2" charset="-122"/>
            </a:endParaRPr>
          </a:p>
        </p:txBody>
      </p:sp>
      <p:sp>
        <p:nvSpPr>
          <p:cNvPr id="24580" name="Rectangle 3">
            <a:extLst>
              <a:ext uri="{FF2B5EF4-FFF2-40B4-BE49-F238E27FC236}">
                <a16:creationId xmlns:a16="http://schemas.microsoft.com/office/drawing/2014/main" id="{2387B9DB-678A-413A-A541-BE1E925C30AA}"/>
              </a:ext>
            </a:extLst>
          </p:cNvPr>
          <p:cNvSpPr>
            <a:spLocks noGrp="1" noChangeArrowheads="1"/>
          </p:cNvSpPr>
          <p:nvPr>
            <p:ph type="body" sz="half" idx="1"/>
          </p:nvPr>
        </p:nvSpPr>
        <p:spPr>
          <a:xfrm>
            <a:off x="1981200" y="1447800"/>
            <a:ext cx="8001000" cy="4724400"/>
          </a:xfrm>
          <a:noFill/>
        </p:spPr>
        <p:txBody>
          <a:bodyPr/>
          <a:lstStyle/>
          <a:p>
            <a:pPr eaLnBrk="1" hangingPunct="1"/>
            <a:endParaRPr lang="en-GB" altLang="zh-CN" sz="2600"/>
          </a:p>
          <a:p>
            <a:pPr eaLnBrk="1" hangingPunct="1"/>
            <a:endParaRPr lang="en-GB" altLang="zh-CN"/>
          </a:p>
        </p:txBody>
      </p:sp>
      <p:sp>
        <p:nvSpPr>
          <p:cNvPr id="24581" name="Rectangle 4">
            <a:extLst>
              <a:ext uri="{FF2B5EF4-FFF2-40B4-BE49-F238E27FC236}">
                <a16:creationId xmlns:a16="http://schemas.microsoft.com/office/drawing/2014/main" id="{ACCC7767-96CB-455F-9643-A18CC93887D0}"/>
              </a:ext>
            </a:extLst>
          </p:cNvPr>
          <p:cNvSpPr>
            <a:spLocks noChangeArrowheads="1"/>
          </p:cNvSpPr>
          <p:nvPr/>
        </p:nvSpPr>
        <p:spPr bwMode="auto">
          <a:xfrm>
            <a:off x="2133600" y="1600200"/>
            <a:ext cx="8001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20000"/>
              </a:spcBef>
              <a:buClr>
                <a:schemeClr val="tx2"/>
              </a:buClr>
              <a:buSzPct val="70000"/>
              <a:buFont typeface="Wingdings" panose="05000000000000000000" pitchFamily="2" charset="2"/>
              <a:buChar char="l"/>
            </a:pPr>
            <a:endParaRPr lang="en-GB" altLang="zh-CN" sz="2800"/>
          </a:p>
        </p:txBody>
      </p:sp>
      <p:pic>
        <p:nvPicPr>
          <p:cNvPr id="24582" name="Picture 6">
            <a:extLst>
              <a:ext uri="{FF2B5EF4-FFF2-40B4-BE49-F238E27FC236}">
                <a16:creationId xmlns:a16="http://schemas.microsoft.com/office/drawing/2014/main" id="{ED53FAF4-AB72-43FA-A456-C8B63B8CE4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1" y="152401"/>
            <a:ext cx="5357813" cy="610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3" name="Footer Placeholder 4">
            <a:extLst>
              <a:ext uri="{FF2B5EF4-FFF2-40B4-BE49-F238E27FC236}">
                <a16:creationId xmlns:a16="http://schemas.microsoft.com/office/drawing/2014/main" id="{BF80F513-F687-491F-BE61-ECD85A3B9B2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4584" name="Rectangle 8">
            <a:extLst>
              <a:ext uri="{FF2B5EF4-FFF2-40B4-BE49-F238E27FC236}">
                <a16:creationId xmlns:a16="http://schemas.microsoft.com/office/drawing/2014/main" id="{BCC810C1-F61D-4DE7-9329-CAD667D4AEB0}"/>
              </a:ext>
            </a:extLst>
          </p:cNvPr>
          <p:cNvSpPr>
            <a:spLocks noChangeArrowheads="1"/>
          </p:cNvSpPr>
          <p:nvPr/>
        </p:nvSpPr>
        <p:spPr bwMode="auto">
          <a:xfrm>
            <a:off x="2514601" y="6519864"/>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9" name="矩形 8">
            <a:extLst>
              <a:ext uri="{FF2B5EF4-FFF2-40B4-BE49-F238E27FC236}">
                <a16:creationId xmlns:a16="http://schemas.microsoft.com/office/drawing/2014/main" id="{EFBBD107-38C1-4614-A5CF-906A6E195240}"/>
              </a:ext>
            </a:extLst>
          </p:cNvPr>
          <p:cNvSpPr/>
          <p:nvPr/>
        </p:nvSpPr>
        <p:spPr>
          <a:xfrm>
            <a:off x="4953001" y="4953000"/>
            <a:ext cx="2743200" cy="609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6">
            <a:extLst>
              <a:ext uri="{FF2B5EF4-FFF2-40B4-BE49-F238E27FC236}">
                <a16:creationId xmlns:a16="http://schemas.microsoft.com/office/drawing/2014/main" id="{8E434A21-7DB4-453E-B216-2ADCDA80BEC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F36CAD-5A56-4DB5-AF8A-A7D566A0C9D9}" type="slidenum">
              <a:rPr lang="en-US" altLang="en-US"/>
              <a:pPr eaLnBrk="1" hangingPunct="1"/>
              <a:t>89</a:t>
            </a:fld>
            <a:endParaRPr lang="en-US" altLang="en-US"/>
          </a:p>
        </p:txBody>
      </p:sp>
      <p:sp>
        <p:nvSpPr>
          <p:cNvPr id="25603" name="Rectangle 2">
            <a:extLst>
              <a:ext uri="{FF2B5EF4-FFF2-40B4-BE49-F238E27FC236}">
                <a16:creationId xmlns:a16="http://schemas.microsoft.com/office/drawing/2014/main" id="{62D959B8-60E8-4A70-9741-741791A89542}"/>
              </a:ext>
            </a:extLst>
          </p:cNvPr>
          <p:cNvSpPr>
            <a:spLocks noGrp="1" noChangeArrowheads="1"/>
          </p:cNvSpPr>
          <p:nvPr>
            <p:ph type="title"/>
          </p:nvPr>
        </p:nvSpPr>
        <p:spPr>
          <a:xfrm>
            <a:off x="1752600" y="304800"/>
            <a:ext cx="2819400" cy="5562600"/>
          </a:xfrm>
        </p:spPr>
        <p:txBody>
          <a:bodyPr/>
          <a:lstStyle/>
          <a:p>
            <a:pPr eaLnBrk="1" hangingPunct="1"/>
            <a:r>
              <a:rPr lang="en-US" altLang="zh-CN" sz="3200" dirty="0">
                <a:ea typeface="宋体" panose="02010600030101010101" pitchFamily="2" charset="-122"/>
              </a:rPr>
              <a:t>SSD Message Examples</a:t>
            </a:r>
            <a:br>
              <a:rPr lang="en-US" altLang="zh-CN" sz="3200" dirty="0">
                <a:ea typeface="宋体" panose="02010600030101010101" pitchFamily="2" charset="-122"/>
              </a:rPr>
            </a:br>
            <a:br>
              <a:rPr lang="en-US" altLang="zh-CN" sz="2800" dirty="0">
                <a:ea typeface="宋体" panose="02010600030101010101" pitchFamily="2" charset="-122"/>
              </a:rPr>
            </a:br>
            <a:r>
              <a:rPr lang="en-US" altLang="zh-CN" sz="2800" dirty="0" err="1">
                <a:ea typeface="宋体" panose="02010600030101010101" pitchFamily="2" charset="-122"/>
              </a:rPr>
              <a:t>Opt</a:t>
            </a:r>
            <a:r>
              <a:rPr lang="en-US" altLang="zh-CN" sz="2800" dirty="0">
                <a:ea typeface="宋体" panose="02010600030101010101" pitchFamily="2" charset="-122"/>
              </a:rPr>
              <a:t> Frame (optional)</a:t>
            </a:r>
            <a:br>
              <a:rPr lang="en-US" altLang="zh-CN" sz="2800" dirty="0">
                <a:ea typeface="宋体" panose="02010600030101010101" pitchFamily="2" charset="-122"/>
              </a:rPr>
            </a:br>
            <a:r>
              <a:rPr lang="zh-CN" altLang="en-US" sz="2800" dirty="0">
                <a:ea typeface="宋体" panose="02010600030101010101" pitchFamily="2" charset="-122"/>
              </a:rPr>
              <a:t>可选框架</a:t>
            </a:r>
            <a:br>
              <a:rPr lang="en-US" altLang="zh-CN" sz="2800" dirty="0">
                <a:ea typeface="宋体" panose="02010600030101010101" pitchFamily="2" charset="-122"/>
              </a:rPr>
            </a:br>
            <a:br>
              <a:rPr lang="en-US" altLang="zh-CN" sz="2800" dirty="0">
                <a:ea typeface="宋体" panose="02010600030101010101" pitchFamily="2" charset="-122"/>
              </a:rPr>
            </a:br>
            <a:br>
              <a:rPr lang="en-US" altLang="zh-CN" sz="2800" dirty="0">
                <a:ea typeface="宋体" panose="02010600030101010101" pitchFamily="2" charset="-122"/>
              </a:rPr>
            </a:br>
            <a:r>
              <a:rPr lang="en-US" altLang="zh-CN" sz="2800" dirty="0">
                <a:ea typeface="宋体" panose="02010600030101010101" pitchFamily="2" charset="-122"/>
              </a:rPr>
              <a:t>Alt Frame</a:t>
            </a:r>
            <a:br>
              <a:rPr lang="en-US" altLang="zh-CN" sz="2800" dirty="0">
                <a:ea typeface="宋体" panose="02010600030101010101" pitchFamily="2" charset="-122"/>
              </a:rPr>
            </a:br>
            <a:r>
              <a:rPr lang="en-US" altLang="zh-CN" sz="2800" dirty="0">
                <a:ea typeface="宋体" panose="02010600030101010101" pitchFamily="2" charset="-122"/>
              </a:rPr>
              <a:t>(if-else)</a:t>
            </a:r>
            <a:br>
              <a:rPr lang="en-US" altLang="zh-CN" sz="2800" dirty="0">
                <a:ea typeface="宋体" panose="02010600030101010101" pitchFamily="2" charset="-122"/>
              </a:rPr>
            </a:br>
            <a:r>
              <a:rPr lang="zh-CN" altLang="en-US" sz="2800" dirty="0">
                <a:ea typeface="宋体" panose="02010600030101010101" pitchFamily="2" charset="-122"/>
              </a:rPr>
              <a:t>判断框架</a:t>
            </a:r>
            <a:endParaRPr lang="en-US" altLang="zh-CN" sz="2800" i="1" dirty="0">
              <a:ea typeface="宋体" panose="02010600030101010101" pitchFamily="2" charset="-122"/>
            </a:endParaRPr>
          </a:p>
        </p:txBody>
      </p:sp>
      <p:sp>
        <p:nvSpPr>
          <p:cNvPr id="25604" name="Rectangle 3">
            <a:extLst>
              <a:ext uri="{FF2B5EF4-FFF2-40B4-BE49-F238E27FC236}">
                <a16:creationId xmlns:a16="http://schemas.microsoft.com/office/drawing/2014/main" id="{BEBBC807-BDD6-4AC3-98CB-8F55F44CAA25}"/>
              </a:ext>
            </a:extLst>
          </p:cNvPr>
          <p:cNvSpPr>
            <a:spLocks noGrp="1" noChangeArrowheads="1"/>
          </p:cNvSpPr>
          <p:nvPr>
            <p:ph type="body" sz="half" idx="1"/>
          </p:nvPr>
        </p:nvSpPr>
        <p:spPr>
          <a:xfrm>
            <a:off x="1981200" y="1447800"/>
            <a:ext cx="8001000" cy="4724400"/>
          </a:xfrm>
          <a:noFill/>
        </p:spPr>
        <p:txBody>
          <a:bodyPr/>
          <a:lstStyle/>
          <a:p>
            <a:pPr eaLnBrk="1" hangingPunct="1"/>
            <a:endParaRPr lang="en-GB" altLang="zh-CN" sz="2600" dirty="0"/>
          </a:p>
          <a:p>
            <a:pPr eaLnBrk="1" hangingPunct="1"/>
            <a:endParaRPr lang="en-GB" altLang="zh-CN" dirty="0"/>
          </a:p>
        </p:txBody>
      </p:sp>
      <p:sp>
        <p:nvSpPr>
          <p:cNvPr id="25605" name="Rectangle 4">
            <a:extLst>
              <a:ext uri="{FF2B5EF4-FFF2-40B4-BE49-F238E27FC236}">
                <a16:creationId xmlns:a16="http://schemas.microsoft.com/office/drawing/2014/main" id="{459DB773-2879-4590-8C78-F12082643108}"/>
              </a:ext>
            </a:extLst>
          </p:cNvPr>
          <p:cNvSpPr>
            <a:spLocks noChangeArrowheads="1"/>
          </p:cNvSpPr>
          <p:nvPr/>
        </p:nvSpPr>
        <p:spPr bwMode="auto">
          <a:xfrm>
            <a:off x="2133600" y="1600200"/>
            <a:ext cx="8001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20000"/>
              </a:spcBef>
              <a:buClr>
                <a:schemeClr val="tx2"/>
              </a:buClr>
              <a:buSzPct val="70000"/>
              <a:buFont typeface="Wingdings" panose="05000000000000000000" pitchFamily="2" charset="2"/>
              <a:buChar char="l"/>
            </a:pPr>
            <a:endParaRPr lang="en-GB" altLang="zh-CN" sz="2800"/>
          </a:p>
        </p:txBody>
      </p:sp>
      <p:pic>
        <p:nvPicPr>
          <p:cNvPr id="25606" name="Picture 6">
            <a:extLst>
              <a:ext uri="{FF2B5EF4-FFF2-40B4-BE49-F238E27FC236}">
                <a16:creationId xmlns:a16="http://schemas.microsoft.com/office/drawing/2014/main" id="{652C40B0-6225-495E-B53F-B4C345B326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1" y="152401"/>
            <a:ext cx="3732213" cy="608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7" name="Footer Placeholder 4">
            <a:extLst>
              <a:ext uri="{FF2B5EF4-FFF2-40B4-BE49-F238E27FC236}">
                <a16:creationId xmlns:a16="http://schemas.microsoft.com/office/drawing/2014/main" id="{E4366C63-CC02-4957-AE3A-54FC8DFD4FC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5608" name="Rectangle 8">
            <a:extLst>
              <a:ext uri="{FF2B5EF4-FFF2-40B4-BE49-F238E27FC236}">
                <a16:creationId xmlns:a16="http://schemas.microsoft.com/office/drawing/2014/main" id="{2B7E4B15-4613-4106-9249-60AFA96D3A3C}"/>
              </a:ext>
            </a:extLst>
          </p:cNvPr>
          <p:cNvSpPr>
            <a:spLocks noChangeArrowheads="1"/>
          </p:cNvSpPr>
          <p:nvPr/>
        </p:nvSpPr>
        <p:spPr bwMode="auto">
          <a:xfrm>
            <a:off x="2514601" y="6519864"/>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6">
            <a:extLst>
              <a:ext uri="{FF2B5EF4-FFF2-40B4-BE49-F238E27FC236}">
                <a16:creationId xmlns:a16="http://schemas.microsoft.com/office/drawing/2014/main" id="{A0C124BC-B3A2-40BD-A213-EF63F8CCB83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D3E5B66-780E-4EE3-827F-82A994A5560C}" type="slidenum">
              <a:rPr lang="en-US" altLang="en-US"/>
              <a:pPr eaLnBrk="1" hangingPunct="1"/>
              <a:t>90</a:t>
            </a:fld>
            <a:endParaRPr lang="en-US" altLang="en-US"/>
          </a:p>
        </p:txBody>
      </p:sp>
      <p:sp>
        <p:nvSpPr>
          <p:cNvPr id="27651" name="Rectangle 2">
            <a:extLst>
              <a:ext uri="{FF2B5EF4-FFF2-40B4-BE49-F238E27FC236}">
                <a16:creationId xmlns:a16="http://schemas.microsoft.com/office/drawing/2014/main" id="{6379B01C-15E8-4454-B3AA-49C41A7D13BD}"/>
              </a:ext>
            </a:extLst>
          </p:cNvPr>
          <p:cNvSpPr>
            <a:spLocks noGrp="1" noChangeArrowheads="1"/>
          </p:cNvSpPr>
          <p:nvPr>
            <p:ph type="title"/>
          </p:nvPr>
        </p:nvSpPr>
        <p:spPr>
          <a:xfrm>
            <a:off x="1981200" y="122238"/>
            <a:ext cx="7543800" cy="1096962"/>
          </a:xfrm>
        </p:spPr>
        <p:txBody>
          <a:bodyPr/>
          <a:lstStyle/>
          <a:p>
            <a:pPr eaLnBrk="1" hangingPunct="1"/>
            <a:r>
              <a:rPr lang="en-US" altLang="zh-CN" sz="3600" dirty="0">
                <a:ea typeface="宋体" panose="02010600030101010101" pitchFamily="2" charset="-122"/>
              </a:rPr>
              <a:t>SSD for </a:t>
            </a:r>
            <a:r>
              <a:rPr lang="en-US" altLang="zh-CN" sz="3600" i="1" dirty="0">
                <a:ea typeface="宋体" panose="02010600030101010101" pitchFamily="2" charset="-122"/>
              </a:rPr>
              <a:t>Create customer account</a:t>
            </a:r>
            <a:r>
              <a:rPr lang="en-US" altLang="zh-CN" sz="3600" dirty="0">
                <a:ea typeface="宋体" panose="02010600030101010101" pitchFamily="2" charset="-122"/>
              </a:rPr>
              <a:t> Use case</a:t>
            </a:r>
            <a:r>
              <a:rPr lang="zh-CN" altLang="en-US" sz="3200" dirty="0">
                <a:ea typeface="宋体" panose="02010600030101010101" pitchFamily="2" charset="-122"/>
              </a:rPr>
              <a:t>（创建客户账户用例的顺序图）</a:t>
            </a:r>
            <a:endParaRPr lang="en-US" altLang="zh-CN" sz="2800" dirty="0">
              <a:ea typeface="宋体" panose="02010600030101010101" pitchFamily="2" charset="-122"/>
            </a:endParaRPr>
          </a:p>
        </p:txBody>
      </p:sp>
      <p:pic>
        <p:nvPicPr>
          <p:cNvPr id="27652" name="Picture 5">
            <a:extLst>
              <a:ext uri="{FF2B5EF4-FFF2-40B4-BE49-F238E27FC236}">
                <a16:creationId xmlns:a16="http://schemas.microsoft.com/office/drawing/2014/main" id="{712425C6-1933-4438-9ED5-87D1CE1029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1" y="1371600"/>
            <a:ext cx="5561013" cy="46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Footer Placeholder 4">
            <a:extLst>
              <a:ext uri="{FF2B5EF4-FFF2-40B4-BE49-F238E27FC236}">
                <a16:creationId xmlns:a16="http://schemas.microsoft.com/office/drawing/2014/main" id="{1B33FD0C-AB27-49B7-B2B6-C0B86A3DF58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7654" name="Rectangle 6">
            <a:extLst>
              <a:ext uri="{FF2B5EF4-FFF2-40B4-BE49-F238E27FC236}">
                <a16:creationId xmlns:a16="http://schemas.microsoft.com/office/drawing/2014/main" id="{1992ABC7-F9B0-4210-87E3-94FBD73C1942}"/>
              </a:ext>
            </a:extLst>
          </p:cNvPr>
          <p:cNvSpPr>
            <a:spLocks noChangeArrowheads="1"/>
          </p:cNvSpPr>
          <p:nvPr/>
        </p:nvSpPr>
        <p:spPr bwMode="auto">
          <a:xfrm>
            <a:off x="2514601" y="6519864"/>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6">
            <a:extLst>
              <a:ext uri="{FF2B5EF4-FFF2-40B4-BE49-F238E27FC236}">
                <a16:creationId xmlns:a16="http://schemas.microsoft.com/office/drawing/2014/main" id="{39150EF8-77F0-48EE-83EE-30639D1D3F9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A70B370-713F-4939-B206-3D4B2C0D2670}" type="slidenum">
              <a:rPr lang="en-US" altLang="en-US"/>
              <a:pPr eaLnBrk="1" hangingPunct="1"/>
              <a:t>91</a:t>
            </a:fld>
            <a:endParaRPr lang="en-US" altLang="en-US"/>
          </a:p>
        </p:txBody>
      </p:sp>
      <p:sp>
        <p:nvSpPr>
          <p:cNvPr id="28675" name="Rectangle 2">
            <a:extLst>
              <a:ext uri="{FF2B5EF4-FFF2-40B4-BE49-F238E27FC236}">
                <a16:creationId xmlns:a16="http://schemas.microsoft.com/office/drawing/2014/main" id="{40A4A6E2-1788-4ECD-A407-B303AA7FAC8E}"/>
              </a:ext>
            </a:extLst>
          </p:cNvPr>
          <p:cNvSpPr>
            <a:spLocks noGrp="1" noChangeArrowheads="1"/>
          </p:cNvSpPr>
          <p:nvPr>
            <p:ph type="title"/>
          </p:nvPr>
        </p:nvSpPr>
        <p:spPr>
          <a:xfrm>
            <a:off x="1811079" y="1975884"/>
            <a:ext cx="2362200" cy="3429000"/>
          </a:xfrm>
        </p:spPr>
        <p:txBody>
          <a:bodyPr>
            <a:normAutofit fontScale="90000"/>
          </a:bodyPr>
          <a:lstStyle/>
          <a:p>
            <a:pPr eaLnBrk="1" hangingPunct="1"/>
            <a:r>
              <a:rPr lang="en-US" altLang="zh-CN" sz="3200" dirty="0">
                <a:ea typeface="宋体" panose="02010600030101010101" pitchFamily="2" charset="-122"/>
              </a:rPr>
              <a:t>SSD for </a:t>
            </a:r>
            <a:r>
              <a:rPr lang="en-US" altLang="zh-CN" sz="3200" i="1" dirty="0">
                <a:ea typeface="宋体" panose="02010600030101010101" pitchFamily="2" charset="-122"/>
              </a:rPr>
              <a:t>Ship items</a:t>
            </a:r>
            <a:r>
              <a:rPr lang="en-US" altLang="zh-CN" sz="3200" dirty="0">
                <a:ea typeface="宋体" panose="02010600030101010101" pitchFamily="2" charset="-122"/>
              </a:rPr>
              <a:t> Use Case</a:t>
            </a:r>
            <a:br>
              <a:rPr lang="en-US" altLang="zh-CN" sz="3200" dirty="0">
                <a:ea typeface="宋体" panose="02010600030101010101" pitchFamily="2" charset="-122"/>
              </a:rPr>
            </a:br>
            <a:r>
              <a:rPr lang="zh-CN" altLang="en-US" sz="3200" dirty="0">
                <a:ea typeface="宋体" panose="02010600030101010101" pitchFamily="2" charset="-122"/>
              </a:rPr>
              <a:t>（创建运输商品用例的顺序图）</a:t>
            </a:r>
            <a:br>
              <a:rPr lang="en-US" altLang="zh-CN" sz="3200" dirty="0">
                <a:ea typeface="宋体" panose="02010600030101010101" pitchFamily="2" charset="-122"/>
              </a:rPr>
            </a:br>
            <a:br>
              <a:rPr lang="en-US" altLang="zh-CN" sz="3200" dirty="0">
                <a:ea typeface="宋体" panose="02010600030101010101" pitchFamily="2" charset="-122"/>
              </a:rPr>
            </a:br>
            <a:br>
              <a:rPr lang="en-US" altLang="zh-CN" sz="2800" dirty="0">
                <a:ea typeface="宋体" panose="02010600030101010101" pitchFamily="2" charset="-122"/>
              </a:rPr>
            </a:br>
            <a:br>
              <a:rPr lang="en-US" altLang="zh-CN" sz="2800" dirty="0">
                <a:ea typeface="宋体" panose="02010600030101010101" pitchFamily="2" charset="-122"/>
              </a:rPr>
            </a:br>
            <a:endParaRPr lang="en-US" altLang="zh-CN" sz="2800" i="1" dirty="0">
              <a:ea typeface="宋体" panose="02010600030101010101" pitchFamily="2" charset="-122"/>
            </a:endParaRPr>
          </a:p>
        </p:txBody>
      </p:sp>
      <p:sp>
        <p:nvSpPr>
          <p:cNvPr id="28676" name="Rectangle 3">
            <a:extLst>
              <a:ext uri="{FF2B5EF4-FFF2-40B4-BE49-F238E27FC236}">
                <a16:creationId xmlns:a16="http://schemas.microsoft.com/office/drawing/2014/main" id="{D586A5EE-E197-46CE-8A16-D826273D2F9B}"/>
              </a:ext>
            </a:extLst>
          </p:cNvPr>
          <p:cNvSpPr>
            <a:spLocks noGrp="1" noChangeArrowheads="1"/>
          </p:cNvSpPr>
          <p:nvPr>
            <p:ph type="body" sz="half" idx="1"/>
          </p:nvPr>
        </p:nvSpPr>
        <p:spPr>
          <a:xfrm>
            <a:off x="1981200" y="1447800"/>
            <a:ext cx="8001000" cy="4724400"/>
          </a:xfrm>
          <a:noFill/>
        </p:spPr>
        <p:txBody>
          <a:bodyPr/>
          <a:lstStyle/>
          <a:p>
            <a:pPr eaLnBrk="1" hangingPunct="1"/>
            <a:endParaRPr lang="en-GB" altLang="zh-CN" sz="2600" dirty="0"/>
          </a:p>
          <a:p>
            <a:pPr eaLnBrk="1" hangingPunct="1"/>
            <a:endParaRPr lang="en-GB" altLang="zh-CN" dirty="0"/>
          </a:p>
        </p:txBody>
      </p:sp>
      <p:sp>
        <p:nvSpPr>
          <p:cNvPr id="28677" name="Rectangle 4">
            <a:extLst>
              <a:ext uri="{FF2B5EF4-FFF2-40B4-BE49-F238E27FC236}">
                <a16:creationId xmlns:a16="http://schemas.microsoft.com/office/drawing/2014/main" id="{80A9E3F4-8EDC-4C1C-8C4F-77C55986816F}"/>
              </a:ext>
            </a:extLst>
          </p:cNvPr>
          <p:cNvSpPr>
            <a:spLocks noChangeArrowheads="1"/>
          </p:cNvSpPr>
          <p:nvPr/>
        </p:nvSpPr>
        <p:spPr bwMode="auto">
          <a:xfrm>
            <a:off x="2133600" y="1600200"/>
            <a:ext cx="80010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20000"/>
              </a:spcBef>
              <a:buClr>
                <a:schemeClr val="tx2"/>
              </a:buClr>
              <a:buSzPct val="70000"/>
              <a:buFont typeface="Wingdings" panose="05000000000000000000" pitchFamily="2" charset="2"/>
              <a:buChar char="l"/>
            </a:pPr>
            <a:endParaRPr lang="en-GB" altLang="zh-CN" sz="2800"/>
          </a:p>
        </p:txBody>
      </p:sp>
      <p:pic>
        <p:nvPicPr>
          <p:cNvPr id="28678" name="Picture 6">
            <a:extLst>
              <a:ext uri="{FF2B5EF4-FFF2-40B4-BE49-F238E27FC236}">
                <a16:creationId xmlns:a16="http://schemas.microsoft.com/office/drawing/2014/main" id="{CC6735F2-C1B9-4BA1-8082-116FAD945E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8850" y="152400"/>
            <a:ext cx="4394200"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9" name="Footer Placeholder 4">
            <a:extLst>
              <a:ext uri="{FF2B5EF4-FFF2-40B4-BE49-F238E27FC236}">
                <a16:creationId xmlns:a16="http://schemas.microsoft.com/office/drawing/2014/main" id="{37473F8E-2E26-4B90-877F-F26A47FA766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8680" name="Rectangle 8">
            <a:extLst>
              <a:ext uri="{FF2B5EF4-FFF2-40B4-BE49-F238E27FC236}">
                <a16:creationId xmlns:a16="http://schemas.microsoft.com/office/drawing/2014/main" id="{55417F6B-71F6-424E-ACF2-4528C425542E}"/>
              </a:ext>
            </a:extLst>
          </p:cNvPr>
          <p:cNvSpPr>
            <a:spLocks noChangeArrowheads="1"/>
          </p:cNvSpPr>
          <p:nvPr/>
        </p:nvSpPr>
        <p:spPr bwMode="auto">
          <a:xfrm>
            <a:off x="2514601" y="6519864"/>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实体关系图（</a:t>
            </a:r>
            <a:r>
              <a:rPr lang="en-US" altLang="zh-CN" dirty="0" err="1"/>
              <a:t>Enity</a:t>
            </a:r>
            <a:r>
              <a:rPr lang="en-US" altLang="zh-CN" dirty="0"/>
              <a:t>-Relationship Diagram</a:t>
            </a:r>
            <a:r>
              <a:rPr lang="zh-CN" altLang="en-US" dirty="0"/>
              <a:t>）</a:t>
            </a:r>
            <a:endParaRPr lang="en-US" altLang="zh-CN" dirty="0"/>
          </a:p>
          <a:p>
            <a:pPr lvl="1"/>
            <a:r>
              <a:rPr lang="zh-CN" altLang="en-US" dirty="0"/>
              <a:t>长方形：类</a:t>
            </a:r>
            <a:endParaRPr lang="en-US" altLang="zh-CN" dirty="0"/>
          </a:p>
          <a:p>
            <a:pPr lvl="2"/>
            <a:r>
              <a:rPr lang="zh-CN" altLang="en-US" dirty="0"/>
              <a:t>第一行：类名</a:t>
            </a:r>
            <a:endParaRPr lang="en-US" altLang="zh-CN" dirty="0"/>
          </a:p>
          <a:p>
            <a:pPr lvl="2"/>
            <a:r>
              <a:rPr lang="zh-CN" altLang="en-US" dirty="0"/>
              <a:t>第二行：属性</a:t>
            </a:r>
            <a:endParaRPr lang="en-US" altLang="zh-CN" dirty="0"/>
          </a:p>
          <a:p>
            <a:pPr lvl="1"/>
            <a:r>
              <a:rPr lang="zh-CN" altLang="en-US" dirty="0"/>
              <a:t>类间符号：类之间的数量关系</a:t>
            </a:r>
            <a:endParaRPr lang="en-US" altLang="zh-CN" dirty="0"/>
          </a:p>
          <a:p>
            <a:pPr lvl="2"/>
            <a:r>
              <a:rPr lang="zh-CN" altLang="en-US" dirty="0"/>
              <a:t>鱼尾纹符号，见右图</a:t>
            </a:r>
          </a:p>
        </p:txBody>
      </p:sp>
      <p:pic>
        <p:nvPicPr>
          <p:cNvPr id="8" name="Picture 8">
            <a:extLst>
              <a:ext uri="{FF2B5EF4-FFF2-40B4-BE49-F238E27FC236}">
                <a16:creationId xmlns:a16="http://schemas.microsoft.com/office/drawing/2014/main" id="{054ED0AE-EC44-40BA-B1E5-DBF1B7B7B5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12920" y="4721139"/>
            <a:ext cx="5545180" cy="1455824"/>
          </a:xfrm>
          <a:prstGeom prst="rect">
            <a:avLst/>
          </a:prstGeom>
          <a:noFill/>
        </p:spPr>
      </p:pic>
      <p:pic>
        <p:nvPicPr>
          <p:cNvPr id="9" name="Picture 7">
            <a:extLst>
              <a:ext uri="{FF2B5EF4-FFF2-40B4-BE49-F238E27FC236}">
                <a16:creationId xmlns:a16="http://schemas.microsoft.com/office/drawing/2014/main" id="{AB96769A-9722-4B3F-8A68-64139D87CD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872400" y="2945605"/>
            <a:ext cx="6220980" cy="3231358"/>
          </a:xfrm>
          <a:prstGeom prst="rect">
            <a:avLst/>
          </a:prstGeom>
          <a:noFill/>
        </p:spPr>
      </p:pic>
    </p:spTree>
    <p:extLst>
      <p:ext uri="{BB962C8B-B14F-4D97-AF65-F5344CB8AC3E}">
        <p14:creationId xmlns:p14="http://schemas.microsoft.com/office/powerpoint/2010/main" val="1285309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域模型类图（</a:t>
            </a:r>
            <a:r>
              <a:rPr lang="en-US" altLang="zh-CN" dirty="0"/>
              <a:t>Domain Model Class Diagram</a:t>
            </a:r>
            <a:r>
              <a:rPr lang="zh-CN" altLang="en-US" dirty="0"/>
              <a:t>）</a:t>
            </a:r>
            <a:endParaRPr lang="en-US" altLang="zh-CN" dirty="0"/>
          </a:p>
          <a:p>
            <a:pPr lvl="1"/>
            <a:r>
              <a:rPr lang="zh-CN" altLang="en-US" dirty="0"/>
              <a:t>长方形：类</a:t>
            </a:r>
            <a:endParaRPr lang="en-US" altLang="zh-CN" dirty="0"/>
          </a:p>
          <a:p>
            <a:pPr lvl="2"/>
            <a:r>
              <a:rPr lang="zh-CN" altLang="en-US" dirty="0"/>
              <a:t>第一行：类名</a:t>
            </a:r>
            <a:endParaRPr lang="en-US" altLang="zh-CN" dirty="0"/>
          </a:p>
          <a:p>
            <a:pPr lvl="2"/>
            <a:r>
              <a:rPr lang="zh-CN" altLang="en-US" dirty="0"/>
              <a:t>第二行：属性</a:t>
            </a:r>
            <a:endParaRPr lang="en-US" altLang="zh-CN" dirty="0"/>
          </a:p>
          <a:p>
            <a:pPr lvl="2"/>
            <a:r>
              <a:rPr lang="zh-CN" altLang="en-US" dirty="0">
                <a:solidFill>
                  <a:srgbClr val="FF0000"/>
                </a:solidFill>
              </a:rPr>
              <a:t>没有第三行</a:t>
            </a:r>
            <a:endParaRPr lang="en-US" altLang="zh-CN" dirty="0">
              <a:solidFill>
                <a:srgbClr val="FF0000"/>
              </a:solidFill>
            </a:endParaRPr>
          </a:p>
          <a:p>
            <a:pPr lvl="1"/>
            <a:r>
              <a:rPr lang="zh-CN" altLang="en-US" dirty="0"/>
              <a:t>类间数字：类之间的数量关系</a:t>
            </a:r>
            <a:endParaRPr lang="en-US" altLang="zh-CN" dirty="0"/>
          </a:p>
          <a:p>
            <a:pPr lvl="2"/>
            <a:r>
              <a:rPr lang="zh-CN" altLang="en-US" dirty="0"/>
              <a:t>例子：</a:t>
            </a:r>
            <a:r>
              <a:rPr lang="en-US" altLang="zh-CN" dirty="0"/>
              <a:t>1</a:t>
            </a:r>
            <a:r>
              <a:rPr lang="zh-CN" altLang="en-US" dirty="0"/>
              <a:t>个</a:t>
            </a:r>
            <a:r>
              <a:rPr lang="en-US" altLang="zh-CN" dirty="0"/>
              <a:t>Customer</a:t>
            </a:r>
            <a:r>
              <a:rPr lang="zh-CN" altLang="en-US" dirty="0"/>
              <a:t>有</a:t>
            </a:r>
            <a:r>
              <a:rPr lang="en-US" altLang="zh-CN" dirty="0"/>
              <a:t>1</a:t>
            </a:r>
            <a:r>
              <a:rPr lang="zh-CN" altLang="en-US" dirty="0"/>
              <a:t>个或多个</a:t>
            </a:r>
            <a:r>
              <a:rPr lang="en-US" altLang="zh-CN" dirty="0"/>
              <a:t>Account</a:t>
            </a:r>
            <a:r>
              <a:rPr lang="zh-CN" altLang="en-US" dirty="0"/>
              <a:t>（</a:t>
            </a:r>
            <a:r>
              <a:rPr lang="en-US" altLang="zh-CN" dirty="0"/>
              <a:t>1..*</a:t>
            </a:r>
            <a:r>
              <a:rPr lang="zh-CN" altLang="en-US" dirty="0"/>
              <a:t>）</a:t>
            </a:r>
            <a:endParaRPr lang="en-US" altLang="zh-CN" dirty="0"/>
          </a:p>
          <a:p>
            <a:pPr lvl="1"/>
            <a:endParaRPr lang="zh-CN" altLang="en-US" dirty="0"/>
          </a:p>
        </p:txBody>
      </p:sp>
      <p:pic>
        <p:nvPicPr>
          <p:cNvPr id="6" name="Picture 9">
            <a:extLst>
              <a:ext uri="{FF2B5EF4-FFF2-40B4-BE49-F238E27FC236}">
                <a16:creationId xmlns:a16="http://schemas.microsoft.com/office/drawing/2014/main" id="{6061C4C6-8B0F-409C-9F8D-CB0D9FBC48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7003" y="2477647"/>
            <a:ext cx="3970867" cy="4015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0">
            <a:extLst>
              <a:ext uri="{FF2B5EF4-FFF2-40B4-BE49-F238E27FC236}">
                <a16:creationId xmlns:a16="http://schemas.microsoft.com/office/drawing/2014/main" id="{2D99FE07-6B7A-4499-A78F-6F102CF514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092115" y="4449445"/>
            <a:ext cx="4400973" cy="2043430"/>
          </a:xfrm>
          <a:prstGeom prst="rect">
            <a:avLst/>
          </a:prstGeom>
          <a:noFill/>
        </p:spPr>
      </p:pic>
    </p:spTree>
    <p:extLst>
      <p:ext uri="{BB962C8B-B14F-4D97-AF65-F5344CB8AC3E}">
        <p14:creationId xmlns:p14="http://schemas.microsoft.com/office/powerpoint/2010/main" val="3318557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实体关系图转换成域模型类图</a:t>
            </a:r>
          </a:p>
        </p:txBody>
      </p:sp>
      <p:pic>
        <p:nvPicPr>
          <p:cNvPr id="8" name="Picture 9">
            <a:extLst>
              <a:ext uri="{FF2B5EF4-FFF2-40B4-BE49-F238E27FC236}">
                <a16:creationId xmlns:a16="http://schemas.microsoft.com/office/drawing/2014/main" id="{A38D0D4C-3A5F-4CEB-9437-8FC7CECAB2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098800" y="2450618"/>
            <a:ext cx="7632700" cy="1956764"/>
          </a:xfrm>
          <a:prstGeom prst="rect">
            <a:avLst/>
          </a:prstGeom>
          <a:noFill/>
        </p:spPr>
      </p:pic>
      <p:pic>
        <p:nvPicPr>
          <p:cNvPr id="9" name="Picture 8">
            <a:extLst>
              <a:ext uri="{FF2B5EF4-FFF2-40B4-BE49-F238E27FC236}">
                <a16:creationId xmlns:a16="http://schemas.microsoft.com/office/drawing/2014/main" id="{DB8E67C3-0526-4D3C-B20F-7C3A8BA2A8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8800" y="4603565"/>
            <a:ext cx="7632700" cy="2003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a:extLst>
              <a:ext uri="{FF2B5EF4-FFF2-40B4-BE49-F238E27FC236}">
                <a16:creationId xmlns:a16="http://schemas.microsoft.com/office/drawing/2014/main" id="{0E61BBB0-5BAB-43CE-98F0-D80C0DB51997}"/>
              </a:ext>
            </a:extLst>
          </p:cNvPr>
          <p:cNvSpPr txBox="1"/>
          <p:nvPr/>
        </p:nvSpPr>
        <p:spPr>
          <a:xfrm>
            <a:off x="1105029" y="3297180"/>
            <a:ext cx="2106667" cy="2554545"/>
          </a:xfrm>
          <a:prstGeom prst="rect">
            <a:avLst/>
          </a:prstGeom>
          <a:noFill/>
        </p:spPr>
        <p:txBody>
          <a:bodyPr wrap="none" rtlCol="0">
            <a:spAutoFit/>
          </a:bodyPr>
          <a:lstStyle/>
          <a:p>
            <a:r>
              <a:rPr lang="zh-CN" altLang="en-US" sz="2000" dirty="0"/>
              <a:t>上：域模型类图</a:t>
            </a:r>
            <a:r>
              <a:rPr lang="en-US" altLang="zh-CN" sz="2000" dirty="0"/>
              <a:t>; </a:t>
            </a:r>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r>
              <a:rPr lang="zh-CN" altLang="en-US" sz="2000" dirty="0"/>
              <a:t>下：实体关系图</a:t>
            </a:r>
          </a:p>
        </p:txBody>
      </p:sp>
    </p:spTree>
    <p:extLst>
      <p:ext uri="{BB962C8B-B14F-4D97-AF65-F5344CB8AC3E}">
        <p14:creationId xmlns:p14="http://schemas.microsoft.com/office/powerpoint/2010/main" val="3783373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normAutofit/>
          </a:bodyPr>
          <a:lstStyle/>
          <a:p>
            <a:pPr>
              <a:lnSpc>
                <a:spcPct val="110000"/>
              </a:lnSpc>
            </a:pPr>
            <a:r>
              <a:rPr lang="zh-CN" altLang="en-US" dirty="0"/>
              <a:t>域模型类图</a:t>
            </a:r>
            <a:endParaRPr lang="en-US" altLang="zh-CN" dirty="0"/>
          </a:p>
          <a:p>
            <a:pPr>
              <a:lnSpc>
                <a:spcPct val="110000"/>
              </a:lnSpc>
            </a:pPr>
            <a:r>
              <a:rPr lang="zh-CN" altLang="en-US" sz="2000" dirty="0"/>
              <a:t>关联关系：</a:t>
            </a:r>
            <a:endParaRPr lang="en-US" altLang="zh-CN" sz="2000" dirty="0"/>
          </a:p>
          <a:p>
            <a:pPr>
              <a:lnSpc>
                <a:spcPct val="110000"/>
              </a:lnSpc>
            </a:pPr>
            <a:r>
              <a:rPr lang="en-US" altLang="zh-CN" sz="2000" dirty="0"/>
              <a:t>1</a:t>
            </a:r>
            <a:r>
              <a:rPr lang="zh-CN" altLang="en-US" sz="2000" dirty="0"/>
              <a:t>）数量关系：</a:t>
            </a:r>
            <a:endParaRPr lang="en-US" altLang="zh-CN" sz="2000" dirty="0"/>
          </a:p>
          <a:p>
            <a:pPr>
              <a:lnSpc>
                <a:spcPct val="110000"/>
              </a:lnSpc>
            </a:pPr>
            <a:r>
              <a:rPr lang="zh-CN" altLang="en-US" sz="2000" dirty="0"/>
              <a:t>（</a:t>
            </a:r>
            <a:r>
              <a:rPr lang="en-US" altLang="zh-CN" sz="2000" dirty="0"/>
              <a:t>1</a:t>
            </a:r>
            <a:r>
              <a:rPr lang="zh-CN" altLang="en-US" sz="2000" dirty="0"/>
              <a:t>）一元关系</a:t>
            </a:r>
            <a:r>
              <a:rPr lang="en-US" altLang="zh-CN" sz="2000" dirty="0"/>
              <a:t>/</a:t>
            </a:r>
            <a:r>
              <a:rPr lang="zh-CN" altLang="en-US" sz="2000" dirty="0"/>
              <a:t>回归关系：同一个类实例之间的关系，用于表达层级结构、递归关系，如员工上下级、客户及其关联好友</a:t>
            </a:r>
          </a:p>
          <a:p>
            <a:pPr>
              <a:lnSpc>
                <a:spcPct val="110000"/>
              </a:lnSpc>
            </a:pPr>
            <a:r>
              <a:rPr lang="zh-CN" altLang="en-US" sz="2000" dirty="0"/>
              <a:t>（</a:t>
            </a:r>
            <a:r>
              <a:rPr lang="en-US" altLang="zh-CN" sz="2000" dirty="0"/>
              <a:t>2</a:t>
            </a:r>
            <a:r>
              <a:rPr lang="zh-CN" altLang="en-US" sz="2000" dirty="0"/>
              <a:t>）二元关系：两个不同类之间的关系，是最常见的关系类型，包括一对一、一对多、多对多三种基本形式，例如人员在公司工作</a:t>
            </a:r>
            <a:endParaRPr lang="en-US" altLang="zh-CN" sz="2000" dirty="0"/>
          </a:p>
          <a:p>
            <a:pPr>
              <a:lnSpc>
                <a:spcPct val="110000"/>
              </a:lnSpc>
            </a:pPr>
            <a:r>
              <a:rPr lang="zh-CN" altLang="en-US" sz="2000" dirty="0"/>
              <a:t>（</a:t>
            </a:r>
            <a:r>
              <a:rPr lang="en-US" altLang="zh-CN" sz="2000" dirty="0"/>
              <a:t>3</a:t>
            </a:r>
            <a:r>
              <a:rPr lang="zh-CN" altLang="en-US" sz="2000" dirty="0"/>
              <a:t>）三元关系：三个不同类之间的关系，用于表达三因素共同决定的业务约束，如供应商</a:t>
            </a:r>
            <a:r>
              <a:rPr lang="en-US" altLang="zh-CN" sz="2000" dirty="0"/>
              <a:t>-</a:t>
            </a:r>
            <a:r>
              <a:rPr lang="zh-CN" altLang="en-US" sz="2000" dirty="0"/>
              <a:t>产品</a:t>
            </a:r>
            <a:r>
              <a:rPr lang="en-US" altLang="zh-CN" sz="2000" dirty="0"/>
              <a:t>-</a:t>
            </a:r>
            <a:r>
              <a:rPr lang="zh-CN" altLang="en-US" sz="2000" dirty="0"/>
              <a:t>客户定价</a:t>
            </a:r>
            <a:endParaRPr lang="en-US" altLang="zh-CN" sz="2000" dirty="0"/>
          </a:p>
          <a:p>
            <a:pPr>
              <a:lnSpc>
                <a:spcPct val="110000"/>
              </a:lnSpc>
            </a:pPr>
            <a:endParaRPr lang="zh-CN" altLang="en-US" sz="2000" dirty="0"/>
          </a:p>
        </p:txBody>
      </p:sp>
      <p:sp>
        <p:nvSpPr>
          <p:cNvPr id="4" name="Rectangle 2">
            <a:extLst>
              <a:ext uri="{FF2B5EF4-FFF2-40B4-BE49-F238E27FC236}">
                <a16:creationId xmlns:a16="http://schemas.microsoft.com/office/drawing/2014/main" id="{FE177EF1-6CF1-4C11-85A9-1843E354B3C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31248048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normAutofit/>
          </a:bodyPr>
          <a:lstStyle/>
          <a:p>
            <a:pPr>
              <a:lnSpc>
                <a:spcPct val="110000"/>
              </a:lnSpc>
            </a:pPr>
            <a:r>
              <a:rPr lang="zh-CN" altLang="en-US" dirty="0"/>
              <a:t>域模型类图</a:t>
            </a:r>
            <a:endParaRPr lang="en-US" altLang="zh-CN" dirty="0"/>
          </a:p>
          <a:p>
            <a:pPr>
              <a:lnSpc>
                <a:spcPct val="110000"/>
              </a:lnSpc>
            </a:pPr>
            <a:r>
              <a:rPr lang="zh-CN" altLang="en-US" sz="2000" dirty="0"/>
              <a:t>关联关系：</a:t>
            </a:r>
            <a:endParaRPr lang="en-US" altLang="zh-CN" sz="2000" dirty="0"/>
          </a:p>
          <a:p>
            <a:pPr>
              <a:lnSpc>
                <a:spcPct val="110000"/>
              </a:lnSpc>
            </a:pPr>
            <a:r>
              <a:rPr lang="en-US" altLang="zh-CN" sz="2000" dirty="0"/>
              <a:t>1</a:t>
            </a:r>
            <a:r>
              <a:rPr lang="zh-CN" altLang="en-US" sz="2000" dirty="0"/>
              <a:t>）数量关系：</a:t>
            </a:r>
            <a:endParaRPr lang="en-US" altLang="zh-CN" sz="2000" dirty="0"/>
          </a:p>
          <a:p>
            <a:pPr>
              <a:lnSpc>
                <a:spcPct val="110000"/>
              </a:lnSpc>
            </a:pPr>
            <a:endParaRPr lang="zh-CN" altLang="en-US" sz="2000" dirty="0"/>
          </a:p>
        </p:txBody>
      </p:sp>
      <p:sp>
        <p:nvSpPr>
          <p:cNvPr id="4" name="Rectangle 2">
            <a:extLst>
              <a:ext uri="{FF2B5EF4-FFF2-40B4-BE49-F238E27FC236}">
                <a16:creationId xmlns:a16="http://schemas.microsoft.com/office/drawing/2014/main" id="{FE177EF1-6CF1-4C11-85A9-1843E354B3C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6" name="图片 5">
            <a:extLst>
              <a:ext uri="{FF2B5EF4-FFF2-40B4-BE49-F238E27FC236}">
                <a16:creationId xmlns:a16="http://schemas.microsoft.com/office/drawing/2014/main" id="{5A6EF230-369A-4453-A425-A236D33119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3143" y="365125"/>
            <a:ext cx="5085714" cy="6238095"/>
          </a:xfrm>
          <a:prstGeom prst="rect">
            <a:avLst/>
          </a:prstGeom>
        </p:spPr>
      </p:pic>
    </p:spTree>
    <p:extLst>
      <p:ext uri="{BB962C8B-B14F-4D97-AF65-F5344CB8AC3E}">
        <p14:creationId xmlns:p14="http://schemas.microsoft.com/office/powerpoint/2010/main" val="178767895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a:xfrm>
            <a:off x="838200" y="1825625"/>
            <a:ext cx="3517900" cy="4351338"/>
          </a:xfrm>
        </p:spPr>
        <p:txBody>
          <a:bodyPr>
            <a:normAutofit/>
          </a:bodyPr>
          <a:lstStyle/>
          <a:p>
            <a:pPr>
              <a:lnSpc>
                <a:spcPct val="110000"/>
              </a:lnSpc>
            </a:pPr>
            <a:r>
              <a:rPr lang="zh-CN" altLang="en-US" dirty="0"/>
              <a:t>域模型类图</a:t>
            </a:r>
            <a:endParaRPr lang="en-US" altLang="zh-CN" dirty="0"/>
          </a:p>
          <a:p>
            <a:pPr>
              <a:lnSpc>
                <a:spcPct val="110000"/>
              </a:lnSpc>
            </a:pPr>
            <a:r>
              <a:rPr lang="zh-CN" altLang="en-US" sz="2000" dirty="0"/>
              <a:t>关联关系：</a:t>
            </a:r>
            <a:endParaRPr lang="en-US" altLang="zh-CN" sz="2000" dirty="0"/>
          </a:p>
          <a:p>
            <a:pPr>
              <a:lnSpc>
                <a:spcPct val="110000"/>
              </a:lnSpc>
            </a:pPr>
            <a:r>
              <a:rPr lang="en-US" altLang="zh-CN" sz="2000" dirty="0"/>
              <a:t>2</a:t>
            </a:r>
            <a:r>
              <a:rPr lang="zh-CN" altLang="en-US" sz="2000" dirty="0"/>
              <a:t>）泛化</a:t>
            </a:r>
            <a:r>
              <a:rPr lang="en-US" altLang="zh-CN" sz="2000" dirty="0"/>
              <a:t>-</a:t>
            </a:r>
            <a:r>
              <a:rPr lang="zh-CN" altLang="en-US" sz="2000" dirty="0"/>
              <a:t>特化关系：</a:t>
            </a:r>
            <a:endParaRPr lang="en-US" altLang="zh-CN" sz="2000" dirty="0"/>
          </a:p>
          <a:p>
            <a:pPr>
              <a:lnSpc>
                <a:spcPct val="110000"/>
              </a:lnSpc>
            </a:pPr>
            <a:r>
              <a:rPr lang="zh-CN" altLang="en-US" sz="2000" dirty="0"/>
              <a:t>父类：分为抽象类和具体类，如果是抽象类，应该用斜体写类名，例如</a:t>
            </a:r>
            <a:r>
              <a:rPr lang="en-US" altLang="zh-CN" sz="2000" i="1" dirty="0"/>
              <a:t>Sale</a:t>
            </a:r>
          </a:p>
          <a:p>
            <a:pPr>
              <a:lnSpc>
                <a:spcPct val="110000"/>
              </a:lnSpc>
            </a:pPr>
            <a:r>
              <a:rPr lang="zh-CN" altLang="en-US" sz="2000" dirty="0"/>
              <a:t>子类</a:t>
            </a:r>
            <a:endParaRPr lang="en-US" altLang="zh-CN" sz="2000" dirty="0"/>
          </a:p>
          <a:p>
            <a:pPr>
              <a:lnSpc>
                <a:spcPct val="110000"/>
              </a:lnSpc>
            </a:pPr>
            <a:r>
              <a:rPr lang="zh-CN" altLang="en-US" sz="2000" dirty="0"/>
              <a:t>子类指向父类</a:t>
            </a:r>
            <a:endParaRPr lang="en-US" altLang="zh-CN" sz="2000" dirty="0"/>
          </a:p>
          <a:p>
            <a:pPr marL="0" indent="0">
              <a:lnSpc>
                <a:spcPct val="110000"/>
              </a:lnSpc>
              <a:buNone/>
            </a:pPr>
            <a:r>
              <a:rPr lang="zh-CN" altLang="en-US" sz="2000" dirty="0"/>
              <a:t>用</a:t>
            </a:r>
            <a:r>
              <a:rPr lang="zh-CN" altLang="en-US" sz="2000" u="sng" dirty="0"/>
              <a:t>三角形</a:t>
            </a:r>
            <a:r>
              <a:rPr lang="zh-CN" altLang="en-US" sz="2000" dirty="0"/>
              <a:t>表示继承</a:t>
            </a:r>
            <a:endParaRPr lang="en-US" altLang="zh-CN" sz="2000" dirty="0"/>
          </a:p>
          <a:p>
            <a:pPr>
              <a:lnSpc>
                <a:spcPct val="110000"/>
              </a:lnSpc>
            </a:pPr>
            <a:endParaRPr lang="zh-CN" altLang="en-US" sz="2000" dirty="0"/>
          </a:p>
        </p:txBody>
      </p:sp>
      <p:sp>
        <p:nvSpPr>
          <p:cNvPr id="4" name="Rectangle 2">
            <a:extLst>
              <a:ext uri="{FF2B5EF4-FFF2-40B4-BE49-F238E27FC236}">
                <a16:creationId xmlns:a16="http://schemas.microsoft.com/office/drawing/2014/main" id="{FE177EF1-6CF1-4C11-85A9-1843E354B3C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2">
            <a:extLst>
              <a:ext uri="{FF2B5EF4-FFF2-40B4-BE49-F238E27FC236}">
                <a16:creationId xmlns:a16="http://schemas.microsoft.com/office/drawing/2014/main" id="{5971963D-9164-411C-A560-EFC6232F12E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8" name="Picture 9">
            <a:extLst>
              <a:ext uri="{FF2B5EF4-FFF2-40B4-BE49-F238E27FC236}">
                <a16:creationId xmlns:a16="http://schemas.microsoft.com/office/drawing/2014/main" id="{0EA1A361-9054-4D20-8F57-A7A38044B0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546600" y="1917700"/>
            <a:ext cx="7162800" cy="3744913"/>
          </a:xfrm>
          <a:prstGeom prst="rect">
            <a:avLst/>
          </a:prstGeom>
          <a:noFill/>
        </p:spPr>
      </p:pic>
    </p:spTree>
    <p:extLst>
      <p:ext uri="{BB962C8B-B14F-4D97-AF65-F5344CB8AC3E}">
        <p14:creationId xmlns:p14="http://schemas.microsoft.com/office/powerpoint/2010/main" val="10649397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a:xfrm>
            <a:off x="838200" y="1825625"/>
            <a:ext cx="4343400" cy="4351338"/>
          </a:xfrm>
        </p:spPr>
        <p:txBody>
          <a:bodyPr>
            <a:normAutofit/>
          </a:bodyPr>
          <a:lstStyle/>
          <a:p>
            <a:pPr>
              <a:lnSpc>
                <a:spcPct val="110000"/>
              </a:lnSpc>
            </a:pPr>
            <a:r>
              <a:rPr lang="zh-CN" altLang="en-US" dirty="0"/>
              <a:t>域模型类图</a:t>
            </a:r>
            <a:endParaRPr lang="en-US" altLang="zh-CN" dirty="0"/>
          </a:p>
          <a:p>
            <a:pPr>
              <a:lnSpc>
                <a:spcPct val="110000"/>
              </a:lnSpc>
            </a:pPr>
            <a:r>
              <a:rPr lang="zh-CN" altLang="en-US" sz="2000" dirty="0"/>
              <a:t>关联关系：</a:t>
            </a:r>
            <a:endParaRPr lang="en-US" altLang="zh-CN" sz="2000" dirty="0"/>
          </a:p>
          <a:p>
            <a:pPr>
              <a:lnSpc>
                <a:spcPct val="110000"/>
              </a:lnSpc>
            </a:pPr>
            <a:r>
              <a:rPr lang="en-US" altLang="zh-CN" sz="2000" dirty="0"/>
              <a:t>3</a:t>
            </a:r>
            <a:r>
              <a:rPr lang="zh-CN" altLang="en-US" sz="2000" dirty="0"/>
              <a:t>）整体</a:t>
            </a:r>
            <a:r>
              <a:rPr lang="en-US" altLang="zh-CN" sz="2000" dirty="0"/>
              <a:t>-</a:t>
            </a:r>
            <a:r>
              <a:rPr lang="zh-CN" altLang="en-US" sz="2000" dirty="0"/>
              <a:t>部分关系：其中一个类是另一个类的一部分或组成部分</a:t>
            </a:r>
            <a:endParaRPr lang="en-US" altLang="zh-CN" sz="2000" dirty="0"/>
          </a:p>
          <a:p>
            <a:pPr marL="0" indent="0">
              <a:lnSpc>
                <a:spcPct val="110000"/>
              </a:lnSpc>
              <a:buNone/>
            </a:pPr>
            <a:r>
              <a:rPr lang="zh-CN" altLang="en-US" sz="2000" dirty="0"/>
              <a:t>用</a:t>
            </a:r>
            <a:r>
              <a:rPr lang="zh-CN" altLang="en-US" sz="2000" u="sng" dirty="0"/>
              <a:t>菱形</a:t>
            </a:r>
            <a:r>
              <a:rPr lang="zh-CN" altLang="en-US" sz="2000" dirty="0"/>
              <a:t>表示整体</a:t>
            </a:r>
            <a:r>
              <a:rPr lang="en-US" altLang="zh-CN" sz="2000" dirty="0"/>
              <a:t>-</a:t>
            </a:r>
            <a:r>
              <a:rPr lang="zh-CN" altLang="en-US" sz="2000" dirty="0"/>
              <a:t>部分关系</a:t>
            </a:r>
            <a:endParaRPr lang="en-US" altLang="zh-CN" sz="2000" dirty="0"/>
          </a:p>
          <a:p>
            <a:pPr>
              <a:lnSpc>
                <a:spcPct val="110000"/>
              </a:lnSpc>
            </a:pPr>
            <a:endParaRPr lang="zh-CN" altLang="en-US" sz="2000" dirty="0"/>
          </a:p>
        </p:txBody>
      </p:sp>
      <p:sp>
        <p:nvSpPr>
          <p:cNvPr id="4" name="Rectangle 2">
            <a:extLst>
              <a:ext uri="{FF2B5EF4-FFF2-40B4-BE49-F238E27FC236}">
                <a16:creationId xmlns:a16="http://schemas.microsoft.com/office/drawing/2014/main" id="{FE177EF1-6CF1-4C11-85A9-1843E354B3C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2">
            <a:extLst>
              <a:ext uri="{FF2B5EF4-FFF2-40B4-BE49-F238E27FC236}">
                <a16:creationId xmlns:a16="http://schemas.microsoft.com/office/drawing/2014/main" id="{5971963D-9164-411C-A560-EFC6232F12E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8" name="Picture 9">
            <a:extLst>
              <a:ext uri="{FF2B5EF4-FFF2-40B4-BE49-F238E27FC236}">
                <a16:creationId xmlns:a16="http://schemas.microsoft.com/office/drawing/2014/main" id="{3F29D50B-CD21-44C4-B2C7-1AA1F857F1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5181600" y="812800"/>
            <a:ext cx="6772434" cy="5460999"/>
          </a:xfrm>
          <a:prstGeom prst="rect">
            <a:avLst/>
          </a:prstGeom>
          <a:noFill/>
        </p:spPr>
      </p:pic>
    </p:spTree>
    <p:extLst>
      <p:ext uri="{BB962C8B-B14F-4D97-AF65-F5344CB8AC3E}">
        <p14:creationId xmlns:p14="http://schemas.microsoft.com/office/powerpoint/2010/main" val="70114785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需求分析</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a:xfrm>
            <a:off x="838200" y="1825625"/>
            <a:ext cx="4343400" cy="4351338"/>
          </a:xfrm>
        </p:spPr>
        <p:txBody>
          <a:bodyPr>
            <a:normAutofit/>
          </a:bodyPr>
          <a:lstStyle/>
          <a:p>
            <a:pPr>
              <a:lnSpc>
                <a:spcPct val="110000"/>
              </a:lnSpc>
            </a:pPr>
            <a:r>
              <a:rPr lang="zh-CN" altLang="en-US" dirty="0"/>
              <a:t>域模型类图</a:t>
            </a:r>
            <a:endParaRPr lang="en-US" altLang="zh-CN" dirty="0"/>
          </a:p>
          <a:p>
            <a:pPr>
              <a:lnSpc>
                <a:spcPct val="110000"/>
              </a:lnSpc>
            </a:pPr>
            <a:r>
              <a:rPr lang="zh-CN" altLang="en-US" sz="2000" dirty="0"/>
              <a:t>关联关系：</a:t>
            </a:r>
            <a:endParaRPr lang="en-US" altLang="zh-CN" sz="2000" dirty="0"/>
          </a:p>
          <a:p>
            <a:pPr>
              <a:lnSpc>
                <a:spcPct val="110000"/>
              </a:lnSpc>
            </a:pPr>
            <a:r>
              <a:rPr lang="en-US" altLang="zh-CN" sz="2000" dirty="0"/>
              <a:t>4</a:t>
            </a:r>
            <a:r>
              <a:rPr lang="zh-CN" altLang="en-US" sz="2000" dirty="0"/>
              <a:t>）关联类</a:t>
            </a:r>
            <a:r>
              <a:rPr lang="en-US" altLang="zh-CN" sz="2000" dirty="0"/>
              <a:t>——</a:t>
            </a:r>
            <a:r>
              <a:rPr lang="zh-CN" altLang="en-US" sz="2000" dirty="0"/>
              <a:t>在多对多关联中被视为类的关联，因为它具有需要记住的属性，比如成绩</a:t>
            </a:r>
          </a:p>
          <a:p>
            <a:pPr>
              <a:lnSpc>
                <a:spcPct val="110000"/>
              </a:lnSpc>
            </a:pPr>
            <a:endParaRPr lang="zh-CN" altLang="en-US" sz="2000" dirty="0"/>
          </a:p>
        </p:txBody>
      </p:sp>
      <p:sp>
        <p:nvSpPr>
          <p:cNvPr id="4" name="Rectangle 2">
            <a:extLst>
              <a:ext uri="{FF2B5EF4-FFF2-40B4-BE49-F238E27FC236}">
                <a16:creationId xmlns:a16="http://schemas.microsoft.com/office/drawing/2014/main" id="{FE177EF1-6CF1-4C11-85A9-1843E354B3C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2">
            <a:extLst>
              <a:ext uri="{FF2B5EF4-FFF2-40B4-BE49-F238E27FC236}">
                <a16:creationId xmlns:a16="http://schemas.microsoft.com/office/drawing/2014/main" id="{5971963D-9164-411C-A560-EFC6232F12E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7" name="Picture 6">
            <a:extLst>
              <a:ext uri="{FF2B5EF4-FFF2-40B4-BE49-F238E27FC236}">
                <a16:creationId xmlns:a16="http://schemas.microsoft.com/office/drawing/2014/main" id="{062991D7-8792-499B-A15F-9DA16B8F80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953000" y="1512887"/>
            <a:ext cx="6858000" cy="3832225"/>
          </a:xfrm>
          <a:prstGeom prst="rect">
            <a:avLst/>
          </a:prstGeom>
          <a:noFill/>
        </p:spPr>
      </p:pic>
    </p:spTree>
    <p:extLst>
      <p:ext uri="{BB962C8B-B14F-4D97-AF65-F5344CB8AC3E}">
        <p14:creationId xmlns:p14="http://schemas.microsoft.com/office/powerpoint/2010/main" val="229476450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7A6463-06B6-4F74-9485-A48607490E8B}"/>
              </a:ext>
            </a:extLst>
          </p:cNvPr>
          <p:cNvSpPr>
            <a:spLocks noGrp="1"/>
          </p:cNvSpPr>
          <p:nvPr>
            <p:ph type="title"/>
          </p:nvPr>
        </p:nvSpPr>
        <p:spPr/>
        <p:txBody>
          <a:bodyPr/>
          <a:lstStyle/>
          <a:p>
            <a:r>
              <a:rPr lang="zh-CN" altLang="en-US" dirty="0"/>
              <a:t>例题</a:t>
            </a:r>
          </a:p>
        </p:txBody>
      </p:sp>
      <p:sp>
        <p:nvSpPr>
          <p:cNvPr id="4" name="页脚占位符 3">
            <a:extLst>
              <a:ext uri="{FF2B5EF4-FFF2-40B4-BE49-F238E27FC236}">
                <a16:creationId xmlns:a16="http://schemas.microsoft.com/office/drawing/2014/main" id="{85827FA3-57BA-491A-AA20-C27D20B31E25}"/>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E6883A14-AFDB-474C-8C4E-4C2C0C4F158F}"/>
              </a:ext>
            </a:extLst>
          </p:cNvPr>
          <p:cNvSpPr>
            <a:spLocks noGrp="1"/>
          </p:cNvSpPr>
          <p:nvPr>
            <p:ph type="sldNum" sz="quarter" idx="12"/>
          </p:nvPr>
        </p:nvSpPr>
        <p:spPr/>
        <p:txBody>
          <a:bodyPr/>
          <a:lstStyle/>
          <a:p>
            <a:fld id="{EACF3E79-B689-45D9-BE17-7DEEF85B4B16}" type="slidenum">
              <a:rPr lang="en-US" altLang="en-US" smtClean="0"/>
              <a:pPr/>
              <a:t>100</a:t>
            </a:fld>
            <a:endParaRPr lang="en-US" altLang="en-US"/>
          </a:p>
        </p:txBody>
      </p:sp>
      <p:pic>
        <p:nvPicPr>
          <p:cNvPr id="6" name="Picture 6">
            <a:extLst>
              <a:ext uri="{FF2B5EF4-FFF2-40B4-BE49-F238E27FC236}">
                <a16:creationId xmlns:a16="http://schemas.microsoft.com/office/drawing/2014/main" id="{508E2AF5-097D-4C29-8BD8-D1ACF36F1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1535114"/>
            <a:ext cx="5029200" cy="2810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组合 13">
            <a:extLst>
              <a:ext uri="{FF2B5EF4-FFF2-40B4-BE49-F238E27FC236}">
                <a16:creationId xmlns:a16="http://schemas.microsoft.com/office/drawing/2014/main" id="{D24B11B6-1D69-41F3-B359-16DC5372B020}"/>
              </a:ext>
            </a:extLst>
          </p:cNvPr>
          <p:cNvGrpSpPr/>
          <p:nvPr/>
        </p:nvGrpSpPr>
        <p:grpSpPr>
          <a:xfrm>
            <a:off x="2286000" y="3276600"/>
            <a:ext cx="1371600" cy="990600"/>
            <a:chOff x="762000" y="3276600"/>
            <a:chExt cx="1371600" cy="990600"/>
          </a:xfrm>
        </p:grpSpPr>
        <p:sp>
          <p:nvSpPr>
            <p:cNvPr id="7" name="矩形 6">
              <a:extLst>
                <a:ext uri="{FF2B5EF4-FFF2-40B4-BE49-F238E27FC236}">
                  <a16:creationId xmlns:a16="http://schemas.microsoft.com/office/drawing/2014/main" id="{0CCD68B1-305F-49B8-A00A-5ACED3873AB6}"/>
                </a:ext>
              </a:extLst>
            </p:cNvPr>
            <p:cNvSpPr/>
            <p:nvPr/>
          </p:nvSpPr>
          <p:spPr>
            <a:xfrm>
              <a:off x="762000" y="3276600"/>
              <a:ext cx="1371600" cy="990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err="1">
                  <a:solidFill>
                    <a:schemeClr val="tx1"/>
                  </a:solidFill>
                </a:rPr>
                <a:t>teacherID</a:t>
              </a:r>
              <a:endParaRPr lang="en-US" altLang="zh-CN" sz="1200" dirty="0">
                <a:solidFill>
                  <a:schemeClr val="tx1"/>
                </a:solidFill>
              </a:endParaRPr>
            </a:p>
            <a:p>
              <a:r>
                <a:rPr lang="en-US" altLang="zh-CN" sz="1200" dirty="0">
                  <a:solidFill>
                    <a:schemeClr val="tx1"/>
                  </a:solidFill>
                </a:rPr>
                <a:t>Name</a:t>
              </a:r>
            </a:p>
            <a:p>
              <a:r>
                <a:rPr lang="en-US" altLang="zh-CN" sz="1200" dirty="0">
                  <a:solidFill>
                    <a:schemeClr val="tx1"/>
                  </a:solidFill>
                </a:rPr>
                <a:t>major</a:t>
              </a:r>
              <a:endParaRPr lang="zh-CN" altLang="en-US" sz="1200" dirty="0">
                <a:solidFill>
                  <a:schemeClr val="tx1"/>
                </a:solidFill>
              </a:endParaRPr>
            </a:p>
          </p:txBody>
        </p:sp>
        <p:sp>
          <p:nvSpPr>
            <p:cNvPr id="8" name="矩形 7">
              <a:extLst>
                <a:ext uri="{FF2B5EF4-FFF2-40B4-BE49-F238E27FC236}">
                  <a16:creationId xmlns:a16="http://schemas.microsoft.com/office/drawing/2014/main" id="{DB5F6854-E438-4C6F-9CF8-02B2ECA9FA54}"/>
                </a:ext>
              </a:extLst>
            </p:cNvPr>
            <p:cNvSpPr/>
            <p:nvPr/>
          </p:nvSpPr>
          <p:spPr>
            <a:xfrm>
              <a:off x="762000" y="3276600"/>
              <a:ext cx="1371600" cy="228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solidFill>
                    <a:schemeClr val="tx1"/>
                  </a:solidFill>
                </a:rPr>
                <a:t>Teacher</a:t>
              </a:r>
              <a:endParaRPr lang="zh-CN" altLang="en-US" dirty="0">
                <a:solidFill>
                  <a:schemeClr val="tx1"/>
                </a:solidFill>
              </a:endParaRPr>
            </a:p>
          </p:txBody>
        </p:sp>
      </p:grpSp>
      <p:sp>
        <p:nvSpPr>
          <p:cNvPr id="18" name="内容占位符 2">
            <a:extLst>
              <a:ext uri="{FF2B5EF4-FFF2-40B4-BE49-F238E27FC236}">
                <a16:creationId xmlns:a16="http://schemas.microsoft.com/office/drawing/2014/main" id="{8861F330-C06B-48EB-8BCB-5D46BDD507C6}"/>
              </a:ext>
            </a:extLst>
          </p:cNvPr>
          <p:cNvSpPr txBox="1">
            <a:spLocks/>
          </p:cNvSpPr>
          <p:nvPr/>
        </p:nvSpPr>
        <p:spPr bwMode="auto">
          <a:xfrm>
            <a:off x="1981200" y="4648200"/>
            <a:ext cx="8229600" cy="148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a:lstStyle>
          <a:p>
            <a:r>
              <a:rPr lang="zh-CN" altLang="en-US" sz="1800" kern="0" dirty="0"/>
              <a:t>再次思考上图，添加以下内容：</a:t>
            </a:r>
            <a:endParaRPr lang="en-US" altLang="zh-CN" sz="1800" kern="0" dirty="0"/>
          </a:p>
          <a:p>
            <a:pPr marL="0" indent="0">
              <a:buNone/>
            </a:pPr>
            <a:r>
              <a:rPr lang="en-US" altLang="zh-CN" sz="1800" kern="0" dirty="0"/>
              <a:t>  </a:t>
            </a:r>
            <a:r>
              <a:rPr lang="zh-CN" altLang="en-US" sz="1800" kern="0" dirty="0"/>
              <a:t>一个教师经常教授很多课程部分，但为了保证授课质量，一个教师一学期最多教授</a:t>
            </a:r>
            <a:r>
              <a:rPr lang="en-US" altLang="zh-CN" sz="1800" kern="0" dirty="0"/>
              <a:t>4</a:t>
            </a:r>
            <a:r>
              <a:rPr lang="zh-CN" altLang="en-US" sz="1800" kern="0" dirty="0"/>
              <a:t>门课。每个课程部分必须至少有一个教师来教授。同时，每个课程需要安排一位教师作为课程协调者来监督这个课程。</a:t>
            </a:r>
          </a:p>
        </p:txBody>
      </p:sp>
      <p:cxnSp>
        <p:nvCxnSpPr>
          <p:cNvPr id="15" name="直接连接符 14">
            <a:extLst>
              <a:ext uri="{FF2B5EF4-FFF2-40B4-BE49-F238E27FC236}">
                <a16:creationId xmlns:a16="http://schemas.microsoft.com/office/drawing/2014/main" id="{199C2C8F-8F50-4A57-9FF0-0F4D2F8222C4}"/>
              </a:ext>
            </a:extLst>
          </p:cNvPr>
          <p:cNvCxnSpPr>
            <a:cxnSpLocks/>
          </p:cNvCxnSpPr>
          <p:nvPr/>
        </p:nvCxnSpPr>
        <p:spPr>
          <a:xfrm>
            <a:off x="3657600" y="3887521"/>
            <a:ext cx="1219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FF940EB8-A9D1-4DE4-A105-E0EE8AC2B321}"/>
              </a:ext>
            </a:extLst>
          </p:cNvPr>
          <p:cNvSpPr txBox="1"/>
          <p:nvPr/>
        </p:nvSpPr>
        <p:spPr>
          <a:xfrm>
            <a:off x="4423202" y="3546050"/>
            <a:ext cx="415498" cy="276999"/>
          </a:xfrm>
          <a:prstGeom prst="rect">
            <a:avLst/>
          </a:prstGeom>
          <a:noFill/>
        </p:spPr>
        <p:txBody>
          <a:bodyPr wrap="none" rtlCol="0">
            <a:spAutoFit/>
          </a:bodyPr>
          <a:lstStyle/>
          <a:p>
            <a:r>
              <a:rPr lang="en-US" altLang="zh-CN" sz="1200" dirty="0"/>
              <a:t>0..4</a:t>
            </a:r>
            <a:endParaRPr lang="zh-CN" altLang="en-US" sz="1200" dirty="0"/>
          </a:p>
        </p:txBody>
      </p:sp>
      <p:sp>
        <p:nvSpPr>
          <p:cNvPr id="23" name="文本框 22">
            <a:extLst>
              <a:ext uri="{FF2B5EF4-FFF2-40B4-BE49-F238E27FC236}">
                <a16:creationId xmlns:a16="http://schemas.microsoft.com/office/drawing/2014/main" id="{A8C7FB5E-6D90-4630-BFB0-C6ED9E38857A}"/>
              </a:ext>
            </a:extLst>
          </p:cNvPr>
          <p:cNvSpPr txBox="1"/>
          <p:nvPr/>
        </p:nvSpPr>
        <p:spPr>
          <a:xfrm>
            <a:off x="3611043" y="3554866"/>
            <a:ext cx="396262" cy="276999"/>
          </a:xfrm>
          <a:prstGeom prst="rect">
            <a:avLst/>
          </a:prstGeom>
          <a:noFill/>
        </p:spPr>
        <p:txBody>
          <a:bodyPr wrap="none" rtlCol="0">
            <a:spAutoFit/>
          </a:bodyPr>
          <a:lstStyle/>
          <a:p>
            <a:r>
              <a:rPr lang="en-US" altLang="zh-CN" sz="1200" dirty="0"/>
              <a:t>1..*</a:t>
            </a:r>
            <a:endParaRPr lang="zh-CN" altLang="en-US" sz="1200" dirty="0"/>
          </a:p>
        </p:txBody>
      </p:sp>
      <p:grpSp>
        <p:nvGrpSpPr>
          <p:cNvPr id="13" name="组合 12">
            <a:extLst>
              <a:ext uri="{FF2B5EF4-FFF2-40B4-BE49-F238E27FC236}">
                <a16:creationId xmlns:a16="http://schemas.microsoft.com/office/drawing/2014/main" id="{84B8F270-3C14-4850-81F5-E4F940FCFDFA}"/>
              </a:ext>
            </a:extLst>
          </p:cNvPr>
          <p:cNvGrpSpPr/>
          <p:nvPr/>
        </p:nvGrpSpPr>
        <p:grpSpPr>
          <a:xfrm>
            <a:off x="3240301" y="1905662"/>
            <a:ext cx="1371600" cy="990600"/>
            <a:chOff x="762000" y="3276600"/>
            <a:chExt cx="1371600" cy="990600"/>
          </a:xfrm>
        </p:grpSpPr>
        <p:sp>
          <p:nvSpPr>
            <p:cNvPr id="16" name="矩形 15">
              <a:extLst>
                <a:ext uri="{FF2B5EF4-FFF2-40B4-BE49-F238E27FC236}">
                  <a16:creationId xmlns:a16="http://schemas.microsoft.com/office/drawing/2014/main" id="{BE416D6C-C5B3-462F-930F-2DB76634B5C4}"/>
                </a:ext>
              </a:extLst>
            </p:cNvPr>
            <p:cNvSpPr/>
            <p:nvPr/>
          </p:nvSpPr>
          <p:spPr>
            <a:xfrm>
              <a:off x="762000" y="3276600"/>
              <a:ext cx="1371600" cy="990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200" dirty="0">
                <a:solidFill>
                  <a:schemeClr val="tx1"/>
                </a:solidFill>
              </a:endParaRPr>
            </a:p>
          </p:txBody>
        </p:sp>
        <p:sp>
          <p:nvSpPr>
            <p:cNvPr id="17" name="矩形 16">
              <a:extLst>
                <a:ext uri="{FF2B5EF4-FFF2-40B4-BE49-F238E27FC236}">
                  <a16:creationId xmlns:a16="http://schemas.microsoft.com/office/drawing/2014/main" id="{962D1F3F-CE7F-4D38-AA19-206C16B8B0C9}"/>
                </a:ext>
              </a:extLst>
            </p:cNvPr>
            <p:cNvSpPr/>
            <p:nvPr/>
          </p:nvSpPr>
          <p:spPr>
            <a:xfrm>
              <a:off x="762000" y="3276600"/>
              <a:ext cx="1371600" cy="228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600" dirty="0">
                  <a:solidFill>
                    <a:schemeClr val="tx1"/>
                  </a:solidFill>
                </a:rPr>
                <a:t>Coordinator</a:t>
              </a:r>
              <a:endParaRPr lang="zh-CN" altLang="en-US" sz="1600" dirty="0">
                <a:solidFill>
                  <a:schemeClr val="tx1"/>
                </a:solidFill>
              </a:endParaRPr>
            </a:p>
          </p:txBody>
        </p:sp>
      </p:grpSp>
      <p:cxnSp>
        <p:nvCxnSpPr>
          <p:cNvPr id="19" name="直接连接符 18">
            <a:extLst>
              <a:ext uri="{FF2B5EF4-FFF2-40B4-BE49-F238E27FC236}">
                <a16:creationId xmlns:a16="http://schemas.microsoft.com/office/drawing/2014/main" id="{B6C26FDC-CA57-4158-9A11-30228438129F}"/>
              </a:ext>
            </a:extLst>
          </p:cNvPr>
          <p:cNvCxnSpPr>
            <a:cxnSpLocks/>
            <a:stCxn id="16" idx="2"/>
          </p:cNvCxnSpPr>
          <p:nvPr/>
        </p:nvCxnSpPr>
        <p:spPr>
          <a:xfrm>
            <a:off x="3926102" y="2896263"/>
            <a:ext cx="341099" cy="991259"/>
          </a:xfrm>
          <a:prstGeom prst="line">
            <a:avLst/>
          </a:prstGeom>
          <a:ln w="19050">
            <a:solidFill>
              <a:srgbClr val="C00000"/>
            </a:solidFill>
            <a:prstDash val="sysDot"/>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EDDBACD1-E924-4D94-A3C1-B908AEB2F483}"/>
              </a:ext>
            </a:extLst>
          </p:cNvPr>
          <p:cNvGrpSpPr/>
          <p:nvPr/>
        </p:nvGrpSpPr>
        <p:grpSpPr>
          <a:xfrm rot="2386275">
            <a:off x="3165963" y="2834991"/>
            <a:ext cx="228600" cy="496731"/>
            <a:chOff x="1333500" y="2848790"/>
            <a:chExt cx="228600" cy="408214"/>
          </a:xfrm>
        </p:grpSpPr>
        <p:cxnSp>
          <p:nvCxnSpPr>
            <p:cNvPr id="22" name="直接连接符 21">
              <a:extLst>
                <a:ext uri="{FF2B5EF4-FFF2-40B4-BE49-F238E27FC236}">
                  <a16:creationId xmlns:a16="http://schemas.microsoft.com/office/drawing/2014/main" id="{627CCA1E-E2C4-4523-9DC9-1992BEA6907E}"/>
                </a:ext>
              </a:extLst>
            </p:cNvPr>
            <p:cNvCxnSpPr>
              <a:cxnSpLocks/>
              <a:endCxn id="24" idx="3"/>
            </p:cNvCxnSpPr>
            <p:nvPr/>
          </p:nvCxnSpPr>
          <p:spPr>
            <a:xfrm>
              <a:off x="1447800" y="2848790"/>
              <a:ext cx="0" cy="2566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等腰三角形 23">
              <a:extLst>
                <a:ext uri="{FF2B5EF4-FFF2-40B4-BE49-F238E27FC236}">
                  <a16:creationId xmlns:a16="http://schemas.microsoft.com/office/drawing/2014/main" id="{9D9D82F1-FCF7-4E5E-80DE-0A3818852B92}"/>
                </a:ext>
              </a:extLst>
            </p:cNvPr>
            <p:cNvSpPr/>
            <p:nvPr/>
          </p:nvSpPr>
          <p:spPr>
            <a:xfrm rot="10800000">
              <a:off x="1333500" y="3105444"/>
              <a:ext cx="228600" cy="15156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17612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B791F8-EFE5-4B03-BF9A-FF55D6040F58}"/>
              </a:ext>
            </a:extLst>
          </p:cNvPr>
          <p:cNvSpPr>
            <a:spLocks noGrp="1"/>
          </p:cNvSpPr>
          <p:nvPr>
            <p:ph type="title"/>
          </p:nvPr>
        </p:nvSpPr>
        <p:spPr/>
        <p:txBody>
          <a:bodyPr/>
          <a:lstStyle/>
          <a:p>
            <a:r>
              <a:rPr lang="zh-CN" altLang="en-US" dirty="0"/>
              <a:t>需求分析</a:t>
            </a:r>
          </a:p>
        </p:txBody>
      </p:sp>
      <p:pic>
        <p:nvPicPr>
          <p:cNvPr id="4" name="Picture 5">
            <a:extLst>
              <a:ext uri="{FF2B5EF4-FFF2-40B4-BE49-F238E27FC236}">
                <a16:creationId xmlns:a16="http://schemas.microsoft.com/office/drawing/2014/main" id="{54AABAA8-FEAC-455F-A93D-6DEB128EDED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52896" y="1495425"/>
            <a:ext cx="5301197" cy="321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内容占位符 2">
            <a:extLst>
              <a:ext uri="{FF2B5EF4-FFF2-40B4-BE49-F238E27FC236}">
                <a16:creationId xmlns:a16="http://schemas.microsoft.com/office/drawing/2014/main" id="{4396239A-0820-4CBF-B9EF-11C5F89D9DCE}"/>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状态机图（</a:t>
            </a:r>
            <a:r>
              <a:rPr lang="en-US" altLang="zh-CN" dirty="0"/>
              <a:t>State Machine Diagram</a:t>
            </a:r>
            <a:r>
              <a:rPr lang="zh-CN" altLang="en-US" dirty="0"/>
              <a:t>）</a:t>
            </a:r>
            <a:endParaRPr lang="en-US" altLang="zh-CN" dirty="0"/>
          </a:p>
          <a:p>
            <a:pPr lvl="1"/>
            <a:r>
              <a:rPr lang="zh-CN" altLang="en-US" dirty="0"/>
              <a:t>黑色原点：伪状态</a:t>
            </a:r>
            <a:endParaRPr lang="en-US" altLang="zh-CN" dirty="0"/>
          </a:p>
          <a:p>
            <a:pPr lvl="1"/>
            <a:r>
              <a:rPr lang="zh-CN" altLang="en-US" dirty="0"/>
              <a:t>圆角矩形：状态</a:t>
            </a:r>
            <a:endParaRPr lang="en-US" altLang="zh-CN" dirty="0"/>
          </a:p>
          <a:p>
            <a:pPr lvl="2"/>
            <a:r>
              <a:rPr lang="zh-CN" altLang="en-US" dirty="0"/>
              <a:t>多行：复合状态（打印机同时处于</a:t>
            </a:r>
            <a:r>
              <a:rPr lang="en-US" altLang="zh-CN" dirty="0"/>
              <a:t>on</a:t>
            </a:r>
            <a:r>
              <a:rPr lang="zh-CN" altLang="en-US" dirty="0"/>
              <a:t>和</a:t>
            </a:r>
            <a:r>
              <a:rPr lang="en-US" altLang="zh-CN" dirty="0"/>
              <a:t>print</a:t>
            </a:r>
            <a:r>
              <a:rPr lang="zh-CN" altLang="en-US" dirty="0"/>
              <a:t>）</a:t>
            </a:r>
            <a:endParaRPr lang="en-US" altLang="zh-CN" dirty="0"/>
          </a:p>
          <a:p>
            <a:pPr lvl="1"/>
            <a:r>
              <a:rPr lang="zh-CN" altLang="en-US" dirty="0"/>
              <a:t>箭头：状态转移需要做的操作</a:t>
            </a:r>
            <a:endParaRPr lang="en-US" altLang="zh-CN" dirty="0"/>
          </a:p>
          <a:p>
            <a:pPr lvl="1"/>
            <a:endParaRPr lang="zh-CN" altLang="en-US" dirty="0"/>
          </a:p>
        </p:txBody>
      </p:sp>
    </p:spTree>
    <p:extLst>
      <p:ext uri="{BB962C8B-B14F-4D97-AF65-F5344CB8AC3E}">
        <p14:creationId xmlns:p14="http://schemas.microsoft.com/office/powerpoint/2010/main" val="172241896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软件开发过程中，抽取和整理用户需求并建立问题域精确模型的过程叫</a:t>
            </a:r>
            <a:br>
              <a:rPr lang="zh-CN" altLang="en-US" sz="2800" dirty="0"/>
            </a:br>
            <a:r>
              <a:rPr lang="en-US" altLang="zh-CN" sz="2800" dirty="0"/>
              <a:t>A</a:t>
            </a:r>
            <a:r>
              <a:rPr lang="zh-CN" altLang="en-US" sz="2800" dirty="0"/>
              <a:t>．生存期</a:t>
            </a:r>
            <a:br>
              <a:rPr lang="zh-CN" altLang="en-US" sz="2800" dirty="0"/>
            </a:br>
            <a:r>
              <a:rPr lang="en-US" altLang="zh-CN" sz="2800" dirty="0"/>
              <a:t>B</a:t>
            </a:r>
            <a:r>
              <a:rPr lang="zh-CN" altLang="en-US" sz="2800" dirty="0"/>
              <a:t>．面向对象设计</a:t>
            </a:r>
            <a:br>
              <a:rPr lang="zh-CN" altLang="en-US" sz="2800" dirty="0"/>
            </a:br>
            <a:r>
              <a:rPr lang="en-US" altLang="zh-CN" sz="2800" dirty="0"/>
              <a:t>C</a:t>
            </a:r>
            <a:r>
              <a:rPr lang="zh-CN" altLang="en-US" sz="2800" dirty="0"/>
              <a:t>．面向对象程序设计</a:t>
            </a:r>
            <a:br>
              <a:rPr lang="zh-CN" altLang="en-US" sz="2800" dirty="0"/>
            </a:br>
            <a:r>
              <a:rPr lang="en-US" altLang="zh-CN" sz="2800" dirty="0"/>
              <a:t>D</a:t>
            </a:r>
            <a:r>
              <a:rPr lang="zh-CN" altLang="en-US" sz="2800" dirty="0"/>
              <a:t>．面向对象分析</a:t>
            </a: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D</a:t>
            </a:r>
          </a:p>
        </p:txBody>
      </p:sp>
    </p:spTree>
    <p:extLst>
      <p:ext uri="{BB962C8B-B14F-4D97-AF65-F5344CB8AC3E}">
        <p14:creationId xmlns:p14="http://schemas.microsoft.com/office/powerpoint/2010/main" val="2585364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以下哪项不是软件需求分析阶段的主要任务？</a:t>
            </a:r>
            <a:br>
              <a:rPr lang="zh-CN" altLang="en-US" sz="2800" dirty="0"/>
            </a:br>
            <a:r>
              <a:rPr lang="en-US" altLang="zh-CN" sz="2800" dirty="0"/>
              <a:t>A. </a:t>
            </a:r>
            <a:r>
              <a:rPr lang="zh-CN" altLang="en-US" sz="2800" dirty="0"/>
              <a:t>识别利益相关者</a:t>
            </a:r>
            <a:br>
              <a:rPr lang="zh-CN" altLang="en-US" sz="2800" dirty="0"/>
            </a:br>
            <a:r>
              <a:rPr lang="en-US" altLang="zh-CN" sz="2800" dirty="0"/>
              <a:t>B. </a:t>
            </a:r>
            <a:r>
              <a:rPr lang="zh-CN" altLang="en-US" sz="2800" dirty="0"/>
              <a:t>建立需求模型</a:t>
            </a:r>
            <a:br>
              <a:rPr lang="zh-CN" altLang="en-US" sz="2800" dirty="0"/>
            </a:br>
            <a:r>
              <a:rPr lang="en-US" altLang="zh-CN" sz="2800" dirty="0"/>
              <a:t>C. </a:t>
            </a:r>
            <a:r>
              <a:rPr lang="zh-CN" altLang="en-US" sz="2800" dirty="0"/>
              <a:t>编写代码实现功能</a:t>
            </a:r>
            <a:br>
              <a:rPr lang="zh-CN" altLang="en-US" sz="2800" dirty="0"/>
            </a:br>
            <a:r>
              <a:rPr lang="en-US" altLang="zh-CN" sz="2800" dirty="0"/>
              <a:t>D. </a:t>
            </a:r>
            <a:r>
              <a:rPr lang="zh-CN" altLang="en-US" sz="2800" dirty="0"/>
              <a:t>编写需求规格说明书</a:t>
            </a: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C</a:t>
            </a:r>
          </a:p>
        </p:txBody>
      </p:sp>
    </p:spTree>
    <p:extLst>
      <p:ext uri="{BB962C8B-B14F-4D97-AF65-F5344CB8AC3E}">
        <p14:creationId xmlns:p14="http://schemas.microsoft.com/office/powerpoint/2010/main" val="3899695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以下哪种建模方法属于结构化分析方法的核心工具？</a:t>
            </a:r>
            <a:br>
              <a:rPr lang="zh-CN" altLang="en-US" sz="2800" dirty="0"/>
            </a:br>
            <a:r>
              <a:rPr lang="en-US" altLang="zh-CN" sz="2800" dirty="0"/>
              <a:t>A. </a:t>
            </a:r>
            <a:r>
              <a:rPr lang="zh-CN" altLang="en-US" sz="2800" dirty="0"/>
              <a:t>用例图</a:t>
            </a:r>
            <a:br>
              <a:rPr lang="zh-CN" altLang="en-US" sz="2800" dirty="0"/>
            </a:br>
            <a:r>
              <a:rPr lang="en-US" altLang="zh-CN" sz="2800" dirty="0"/>
              <a:t>B. </a:t>
            </a:r>
            <a:r>
              <a:rPr lang="zh-CN" altLang="en-US" sz="2800" dirty="0"/>
              <a:t>类图</a:t>
            </a:r>
            <a:br>
              <a:rPr lang="zh-CN" altLang="en-US" sz="2800" dirty="0"/>
            </a:br>
            <a:r>
              <a:rPr lang="en-US" altLang="zh-CN" sz="2800" dirty="0"/>
              <a:t>C. </a:t>
            </a:r>
            <a:r>
              <a:rPr lang="zh-CN" altLang="en-US" sz="2800" dirty="0"/>
              <a:t>数据流图</a:t>
            </a:r>
            <a:br>
              <a:rPr lang="zh-CN" altLang="en-US" sz="2800" dirty="0"/>
            </a:br>
            <a:r>
              <a:rPr lang="en-US" altLang="zh-CN" sz="2800" dirty="0"/>
              <a:t>D. </a:t>
            </a:r>
            <a:r>
              <a:rPr lang="zh-CN" altLang="en-US" sz="2800" dirty="0"/>
              <a:t>顺序图</a:t>
            </a: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C</a:t>
            </a:r>
          </a:p>
        </p:txBody>
      </p:sp>
    </p:spTree>
    <p:extLst>
      <p:ext uri="{BB962C8B-B14F-4D97-AF65-F5344CB8AC3E}">
        <p14:creationId xmlns:p14="http://schemas.microsoft.com/office/powerpoint/2010/main" val="1002179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在面向对象需求分析中，用于描述系统功能边界的图是？</a:t>
            </a:r>
            <a:br>
              <a:rPr lang="zh-CN" altLang="en-US" sz="2800" dirty="0"/>
            </a:br>
            <a:r>
              <a:rPr lang="en-US" altLang="zh-CN" sz="2800" dirty="0"/>
              <a:t>A. </a:t>
            </a:r>
            <a:r>
              <a:rPr lang="zh-CN" altLang="en-US" sz="2800" dirty="0"/>
              <a:t>类图</a:t>
            </a:r>
            <a:br>
              <a:rPr lang="zh-CN" altLang="en-US" sz="2800" dirty="0"/>
            </a:br>
            <a:r>
              <a:rPr lang="en-US" altLang="zh-CN" sz="2800" dirty="0"/>
              <a:t>B. </a:t>
            </a:r>
            <a:r>
              <a:rPr lang="zh-CN" altLang="en-US" sz="2800" dirty="0"/>
              <a:t>用例图</a:t>
            </a:r>
            <a:br>
              <a:rPr lang="zh-CN" altLang="en-US" sz="2800" dirty="0"/>
            </a:br>
            <a:r>
              <a:rPr lang="en-US" altLang="zh-CN" sz="2800" dirty="0"/>
              <a:t>C. </a:t>
            </a:r>
            <a:r>
              <a:rPr lang="zh-CN" altLang="en-US" sz="2800" dirty="0"/>
              <a:t>状态图</a:t>
            </a:r>
            <a:br>
              <a:rPr lang="zh-CN" altLang="en-US" sz="2800" dirty="0"/>
            </a:br>
            <a:r>
              <a:rPr lang="en-US" altLang="zh-CN" sz="2800" dirty="0"/>
              <a:t>D. </a:t>
            </a:r>
            <a:r>
              <a:rPr lang="zh-CN" altLang="en-US" sz="2800" dirty="0"/>
              <a:t>部署图</a:t>
            </a: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B</a:t>
            </a:r>
          </a:p>
        </p:txBody>
      </p:sp>
    </p:spTree>
    <p:extLst>
      <p:ext uri="{BB962C8B-B14F-4D97-AF65-F5344CB8AC3E}">
        <p14:creationId xmlns:p14="http://schemas.microsoft.com/office/powerpoint/2010/main" val="3978329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以下关于用例描述的说法，正确的是？</a:t>
            </a:r>
            <a:br>
              <a:rPr lang="zh-CN" altLang="en-US" sz="2800" dirty="0"/>
            </a:br>
            <a:r>
              <a:rPr lang="en-US" altLang="zh-CN" sz="2800" dirty="0"/>
              <a:t>A. </a:t>
            </a:r>
            <a:r>
              <a:rPr lang="zh-CN" altLang="en-US" sz="2800" dirty="0"/>
              <a:t>用例描述只需要写正常流程</a:t>
            </a:r>
            <a:br>
              <a:rPr lang="zh-CN" altLang="en-US" sz="2800" dirty="0"/>
            </a:br>
            <a:r>
              <a:rPr lang="en-US" altLang="zh-CN" sz="2800" dirty="0"/>
              <a:t>B. </a:t>
            </a:r>
            <a:r>
              <a:rPr lang="zh-CN" altLang="en-US" sz="2800" dirty="0"/>
              <a:t>用例描述不应包含异常情况</a:t>
            </a:r>
            <a:br>
              <a:rPr lang="zh-CN" altLang="en-US" sz="2800" dirty="0"/>
            </a:br>
            <a:r>
              <a:rPr lang="en-US" altLang="zh-CN" sz="2800" dirty="0"/>
              <a:t>C. </a:t>
            </a:r>
            <a:r>
              <a:rPr lang="zh-CN" altLang="en-US" sz="2800" dirty="0"/>
              <a:t>用例描述应包含前置条件、基本流程和备选流程</a:t>
            </a:r>
            <a:br>
              <a:rPr lang="zh-CN" altLang="en-US" sz="2800" dirty="0"/>
            </a:br>
            <a:r>
              <a:rPr lang="en-US" altLang="zh-CN" sz="2800" dirty="0"/>
              <a:t>D. </a:t>
            </a:r>
            <a:r>
              <a:rPr lang="zh-CN" altLang="en-US" sz="2800" dirty="0"/>
              <a:t>用例描述不需要后置条件</a:t>
            </a: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C</a:t>
            </a:r>
          </a:p>
        </p:txBody>
      </p:sp>
    </p:spTree>
    <p:extLst>
      <p:ext uri="{BB962C8B-B14F-4D97-AF65-F5344CB8AC3E}">
        <p14:creationId xmlns:p14="http://schemas.microsoft.com/office/powerpoint/2010/main" val="500965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数据字典的主要作用是？</a:t>
            </a:r>
            <a:br>
              <a:rPr lang="zh-CN" altLang="en-US" sz="2800" dirty="0"/>
            </a:br>
            <a:r>
              <a:rPr lang="en-US" altLang="zh-CN" sz="2800" dirty="0"/>
              <a:t>A. </a:t>
            </a:r>
            <a:r>
              <a:rPr lang="zh-CN" altLang="en-US" sz="2800" dirty="0"/>
              <a:t>记录数据库表结构</a:t>
            </a:r>
            <a:br>
              <a:rPr lang="zh-CN" altLang="en-US" sz="2800" dirty="0"/>
            </a:br>
            <a:r>
              <a:rPr lang="en-US" altLang="zh-CN" sz="2800" dirty="0"/>
              <a:t>B. </a:t>
            </a:r>
            <a:r>
              <a:rPr lang="zh-CN" altLang="en-US" sz="2800" dirty="0"/>
              <a:t>对数据流图中的数据元素进行详细定义</a:t>
            </a:r>
            <a:br>
              <a:rPr lang="zh-CN" altLang="en-US" sz="2800" dirty="0"/>
            </a:br>
            <a:r>
              <a:rPr lang="en-US" altLang="zh-CN" sz="2800" dirty="0"/>
              <a:t>C. </a:t>
            </a:r>
            <a:r>
              <a:rPr lang="zh-CN" altLang="en-US" sz="2800" dirty="0"/>
              <a:t>存储用户密码</a:t>
            </a:r>
            <a:br>
              <a:rPr lang="zh-CN" altLang="en-US" sz="2800" dirty="0"/>
            </a:br>
            <a:r>
              <a:rPr lang="en-US" altLang="zh-CN" sz="2800" dirty="0"/>
              <a:t>D. </a:t>
            </a:r>
            <a:r>
              <a:rPr lang="zh-CN" altLang="en-US" sz="2800" dirty="0"/>
              <a:t>记录系统日志</a:t>
            </a: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B</a:t>
            </a:r>
          </a:p>
        </p:txBody>
      </p:sp>
    </p:spTree>
    <p:extLst>
      <p:ext uri="{BB962C8B-B14F-4D97-AF65-F5344CB8AC3E}">
        <p14:creationId xmlns:p14="http://schemas.microsoft.com/office/powerpoint/2010/main" val="1535338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判定表适合描述什么类型的业务规则？</a:t>
            </a:r>
            <a:br>
              <a:rPr lang="zh-CN" altLang="en-US" sz="2800" dirty="0"/>
            </a:br>
            <a:r>
              <a:rPr lang="en-US" altLang="zh-CN" sz="2800" dirty="0"/>
              <a:t>A. </a:t>
            </a:r>
            <a:r>
              <a:rPr lang="zh-CN" altLang="en-US" sz="2800" dirty="0"/>
              <a:t>简单的顺序执行逻辑</a:t>
            </a:r>
            <a:br>
              <a:rPr lang="zh-CN" altLang="en-US" sz="2800" dirty="0"/>
            </a:br>
            <a:r>
              <a:rPr lang="en-US" altLang="zh-CN" sz="2800" dirty="0"/>
              <a:t>B. </a:t>
            </a:r>
            <a:r>
              <a:rPr lang="zh-CN" altLang="en-US" sz="2800" dirty="0"/>
              <a:t>多条件组合的复杂逻辑</a:t>
            </a:r>
            <a:br>
              <a:rPr lang="zh-CN" altLang="en-US" sz="2800" dirty="0"/>
            </a:br>
            <a:r>
              <a:rPr lang="en-US" altLang="zh-CN" sz="2800" dirty="0"/>
              <a:t>C. </a:t>
            </a:r>
            <a:r>
              <a:rPr lang="zh-CN" altLang="en-US" sz="2800" dirty="0"/>
              <a:t>单循环逻辑</a:t>
            </a:r>
            <a:br>
              <a:rPr lang="zh-CN" altLang="en-US" sz="2800" dirty="0"/>
            </a:br>
            <a:r>
              <a:rPr lang="en-US" altLang="zh-CN" sz="2800" dirty="0"/>
              <a:t>D. </a:t>
            </a:r>
            <a:r>
              <a:rPr lang="zh-CN" altLang="en-US" sz="2800" dirty="0"/>
              <a:t>纯算术运算</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B</a:t>
            </a:r>
          </a:p>
        </p:txBody>
      </p:sp>
    </p:spTree>
    <p:extLst>
      <p:ext uri="{BB962C8B-B14F-4D97-AF65-F5344CB8AC3E}">
        <p14:creationId xmlns:p14="http://schemas.microsoft.com/office/powerpoint/2010/main" val="1591924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在实体</a:t>
            </a:r>
            <a:r>
              <a:rPr lang="en-US" altLang="zh-CN" sz="2800" dirty="0"/>
              <a:t>-</a:t>
            </a:r>
            <a:r>
              <a:rPr lang="zh-CN" altLang="en-US" sz="2800" dirty="0"/>
              <a:t>关系图中，连接线表示的是？</a:t>
            </a:r>
            <a:br>
              <a:rPr lang="zh-CN" altLang="en-US" sz="2800" dirty="0"/>
            </a:br>
            <a:r>
              <a:rPr lang="en-US" altLang="zh-CN" sz="2800" dirty="0"/>
              <a:t>A. </a:t>
            </a:r>
            <a:r>
              <a:rPr lang="zh-CN" altLang="en-US" sz="2800" dirty="0"/>
              <a:t>实体</a:t>
            </a:r>
            <a:br>
              <a:rPr lang="zh-CN" altLang="en-US" sz="2800" dirty="0"/>
            </a:br>
            <a:r>
              <a:rPr lang="en-US" altLang="zh-CN" sz="2800" dirty="0"/>
              <a:t>B. </a:t>
            </a:r>
            <a:r>
              <a:rPr lang="zh-CN" altLang="en-US" sz="2800" dirty="0"/>
              <a:t>属性</a:t>
            </a:r>
            <a:br>
              <a:rPr lang="zh-CN" altLang="en-US" sz="2800" dirty="0"/>
            </a:br>
            <a:r>
              <a:rPr lang="en-US" altLang="zh-CN" sz="2800" dirty="0"/>
              <a:t>C. </a:t>
            </a:r>
            <a:r>
              <a:rPr lang="zh-CN" altLang="en-US" sz="2800" dirty="0"/>
              <a:t>关系</a:t>
            </a:r>
            <a:br>
              <a:rPr lang="zh-CN" altLang="en-US" sz="2800" dirty="0"/>
            </a:br>
            <a:r>
              <a:rPr lang="en-US" altLang="zh-CN" sz="2800" dirty="0"/>
              <a:t>D. </a:t>
            </a:r>
            <a:r>
              <a:rPr lang="zh-CN" altLang="en-US" sz="2800" dirty="0"/>
              <a:t>主键</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C</a:t>
            </a:r>
          </a:p>
        </p:txBody>
      </p:sp>
    </p:spTree>
    <p:extLst>
      <p:ext uri="{BB962C8B-B14F-4D97-AF65-F5344CB8AC3E}">
        <p14:creationId xmlns:p14="http://schemas.microsoft.com/office/powerpoint/2010/main" val="3201615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以下哪项属于非功能性需求？</a:t>
            </a:r>
            <a:br>
              <a:rPr lang="zh-CN" altLang="en-US" sz="2800" dirty="0"/>
            </a:br>
            <a:r>
              <a:rPr lang="en-US" altLang="zh-CN" sz="2800" dirty="0"/>
              <a:t>A. </a:t>
            </a:r>
            <a:r>
              <a:rPr lang="zh-CN" altLang="en-US" sz="2800" dirty="0"/>
              <a:t>用户可以登录系统</a:t>
            </a:r>
            <a:br>
              <a:rPr lang="zh-CN" altLang="en-US" sz="2800" dirty="0"/>
            </a:br>
            <a:r>
              <a:rPr lang="en-US" altLang="zh-CN" sz="2800" dirty="0"/>
              <a:t>B. </a:t>
            </a:r>
            <a:r>
              <a:rPr lang="zh-CN" altLang="en-US" sz="2800" dirty="0"/>
              <a:t>系统响应时间不超过</a:t>
            </a:r>
            <a:r>
              <a:rPr lang="en-US" altLang="zh-CN" sz="2800" dirty="0"/>
              <a:t>3</a:t>
            </a:r>
            <a:r>
              <a:rPr lang="zh-CN" altLang="en-US" sz="2800" dirty="0"/>
              <a:t>秒</a:t>
            </a:r>
            <a:br>
              <a:rPr lang="zh-CN" altLang="en-US" sz="2800" dirty="0"/>
            </a:br>
            <a:r>
              <a:rPr lang="en-US" altLang="zh-CN" sz="2800" dirty="0"/>
              <a:t>C. </a:t>
            </a:r>
            <a:r>
              <a:rPr lang="zh-CN" altLang="en-US" sz="2800" dirty="0"/>
              <a:t>用户可以查询订单</a:t>
            </a:r>
            <a:br>
              <a:rPr lang="zh-CN" altLang="en-US" sz="2800" dirty="0"/>
            </a:br>
            <a:r>
              <a:rPr lang="en-US" altLang="zh-CN" sz="2800" dirty="0"/>
              <a:t>D. </a:t>
            </a:r>
            <a:r>
              <a:rPr lang="zh-CN" altLang="en-US" sz="2800" dirty="0"/>
              <a:t>管理员可以添加商品</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B</a:t>
            </a:r>
          </a:p>
        </p:txBody>
      </p:sp>
    </p:spTree>
    <p:extLst>
      <p:ext uri="{BB962C8B-B14F-4D97-AF65-F5344CB8AC3E}">
        <p14:creationId xmlns:p14="http://schemas.microsoft.com/office/powerpoint/2010/main" val="944624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下面具有继承关系的一组是（  </a:t>
            </a:r>
            <a:r>
              <a:rPr lang="en-US" altLang="zh-CN" sz="2800" dirty="0"/>
              <a:t> </a:t>
            </a:r>
            <a:r>
              <a:rPr lang="zh-CN" altLang="en-US" sz="2800" dirty="0"/>
              <a:t>）。</a:t>
            </a:r>
            <a:br>
              <a:rPr lang="zh-CN" altLang="en-US" sz="2800" dirty="0"/>
            </a:br>
            <a:r>
              <a:rPr lang="en-US" altLang="zh-CN" sz="2800" dirty="0"/>
              <a:t>A</a:t>
            </a:r>
            <a:r>
              <a:rPr lang="zh-CN" altLang="en-US" sz="2800" dirty="0"/>
              <a:t>．铅笔</a:t>
            </a:r>
            <a:r>
              <a:rPr lang="en-US" altLang="zh-CN" sz="2800" dirty="0"/>
              <a:t>-</a:t>
            </a:r>
            <a:r>
              <a:rPr lang="zh-CN" altLang="en-US" sz="2800" dirty="0"/>
              <a:t>钢笔	</a:t>
            </a:r>
            <a:r>
              <a:rPr lang="en-US" altLang="zh-CN" sz="2800" dirty="0"/>
              <a:t>B</a:t>
            </a:r>
            <a:r>
              <a:rPr lang="zh-CN" altLang="en-US" sz="2800" dirty="0"/>
              <a:t>．冰箱</a:t>
            </a:r>
            <a:r>
              <a:rPr lang="en-US" altLang="zh-CN" sz="2800" dirty="0"/>
              <a:t>-</a:t>
            </a:r>
            <a:r>
              <a:rPr lang="zh-CN" altLang="en-US" sz="2800" dirty="0"/>
              <a:t>空调   </a:t>
            </a:r>
            <a:r>
              <a:rPr lang="en-US" altLang="zh-CN" sz="2800" dirty="0"/>
              <a:t>C</a:t>
            </a:r>
            <a:r>
              <a:rPr lang="zh-CN" altLang="en-US" sz="2800" dirty="0"/>
              <a:t>．汽车</a:t>
            </a:r>
            <a:r>
              <a:rPr lang="en-US" altLang="zh-CN" sz="2800" dirty="0"/>
              <a:t>-</a:t>
            </a:r>
            <a:r>
              <a:rPr lang="zh-CN" altLang="en-US" sz="2800" dirty="0"/>
              <a:t>客车   </a:t>
            </a:r>
            <a:r>
              <a:rPr lang="en-US" altLang="zh-CN" sz="2800" dirty="0"/>
              <a:t>D</a:t>
            </a:r>
            <a:r>
              <a:rPr lang="zh-CN" altLang="en-US" sz="2800" dirty="0"/>
              <a:t>．教师</a:t>
            </a:r>
            <a:r>
              <a:rPr lang="en-US" altLang="zh-CN" sz="2800" dirty="0"/>
              <a:t>-</a:t>
            </a:r>
            <a:r>
              <a:rPr lang="zh-CN" altLang="en-US" sz="2800" dirty="0"/>
              <a:t>学生</a:t>
            </a: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C</a:t>
            </a:r>
          </a:p>
        </p:txBody>
      </p:sp>
    </p:spTree>
    <p:extLst>
      <p:ext uri="{BB962C8B-B14F-4D97-AF65-F5344CB8AC3E}">
        <p14:creationId xmlns:p14="http://schemas.microsoft.com/office/powerpoint/2010/main" val="3434756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汽车有一个发动机。汽车和发动机之间的关系是</a:t>
            </a:r>
            <a:r>
              <a:rPr lang="en-US" altLang="zh-CN" sz="2800" dirty="0"/>
              <a:t>_____</a:t>
            </a:r>
            <a:r>
              <a:rPr lang="zh-CN" altLang="en-US" sz="2800" dirty="0"/>
              <a:t>关系。</a:t>
            </a:r>
            <a:r>
              <a:rPr lang="en-US" altLang="zh-CN" sz="2800" dirty="0"/>
              <a:t> </a:t>
            </a:r>
            <a:br>
              <a:rPr lang="en-US" altLang="zh-CN" sz="2800" dirty="0"/>
            </a:br>
            <a:r>
              <a:rPr lang="en-US" altLang="zh-CN" sz="2800" dirty="0"/>
              <a:t>A</a:t>
            </a:r>
            <a:r>
              <a:rPr lang="zh-CN" altLang="en-US" sz="2800" dirty="0"/>
              <a:t>．一般与具体</a:t>
            </a:r>
            <a:br>
              <a:rPr lang="zh-CN" altLang="en-US" sz="2800" dirty="0"/>
            </a:br>
            <a:r>
              <a:rPr lang="en-US" altLang="zh-CN" sz="2800" dirty="0"/>
              <a:t>B</a:t>
            </a:r>
            <a:r>
              <a:rPr lang="zh-CN" altLang="en-US" sz="2800" dirty="0"/>
              <a:t>．整体与部分</a:t>
            </a:r>
            <a:br>
              <a:rPr lang="zh-CN" altLang="en-US" sz="2800" dirty="0"/>
            </a:br>
            <a:r>
              <a:rPr lang="en-US" altLang="zh-CN" sz="2800" dirty="0"/>
              <a:t>C</a:t>
            </a:r>
            <a:r>
              <a:rPr lang="zh-CN" altLang="en-US" sz="2800" dirty="0"/>
              <a:t>．分类关系</a:t>
            </a:r>
            <a:br>
              <a:rPr lang="zh-CN" altLang="en-US" sz="2800" dirty="0"/>
            </a:br>
            <a:r>
              <a:rPr lang="en-US" altLang="zh-CN" sz="2800" dirty="0"/>
              <a:t>D</a:t>
            </a:r>
            <a:r>
              <a:rPr lang="zh-CN" altLang="en-US" sz="2800" dirty="0"/>
              <a:t>．主从关系</a:t>
            </a: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B</a:t>
            </a:r>
          </a:p>
        </p:txBody>
      </p:sp>
    </p:spTree>
    <p:extLst>
      <p:ext uri="{BB962C8B-B14F-4D97-AF65-F5344CB8AC3E}">
        <p14:creationId xmlns:p14="http://schemas.microsoft.com/office/powerpoint/2010/main" val="3856034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243114" y="2933368"/>
            <a:ext cx="11948886" cy="3139613"/>
          </a:xfrm>
        </p:spPr>
        <p:txBody>
          <a:bodyPr>
            <a:noAutofit/>
          </a:bodyPr>
          <a:lstStyle/>
          <a:p>
            <a:pPr>
              <a:lnSpc>
                <a:spcPct val="100000"/>
              </a:lnSpc>
            </a:pPr>
            <a:r>
              <a:rPr lang="en-US" altLang="zh-CN" sz="2800" dirty="0"/>
              <a:t>【</a:t>
            </a:r>
            <a:r>
              <a:rPr lang="zh-CN" altLang="en-US" sz="2800" dirty="0"/>
              <a:t>填空</a:t>
            </a:r>
            <a:r>
              <a:rPr lang="en-US" altLang="zh-CN" sz="2800" dirty="0"/>
              <a:t>】</a:t>
            </a:r>
            <a:r>
              <a:rPr lang="zh-CN" altLang="en-US" sz="2800" dirty="0"/>
              <a:t>将下列各事物之间的关系（继承、聚集或一般关联）写在括弧</a:t>
            </a:r>
            <a:br>
              <a:rPr lang="en-US" altLang="zh-CN" sz="2800" dirty="0"/>
            </a:br>
            <a:r>
              <a:rPr lang="zh-CN" altLang="en-US" sz="2800" dirty="0"/>
              <a:t>（</a:t>
            </a:r>
            <a:r>
              <a:rPr lang="en-US" altLang="zh-CN" sz="2800" dirty="0"/>
              <a:t>1</a:t>
            </a:r>
            <a:r>
              <a:rPr lang="zh-CN" altLang="en-US" sz="2800" dirty="0"/>
              <a:t>）小汽车</a:t>
            </a:r>
            <a:r>
              <a:rPr lang="en-US" altLang="zh-CN" sz="2800" dirty="0"/>
              <a:t>——</a:t>
            </a:r>
            <a:r>
              <a:rPr lang="zh-CN" altLang="en-US" sz="2800" dirty="0"/>
              <a:t>富康牌小汽车。      （继承）</a:t>
            </a:r>
            <a:br>
              <a:rPr lang="zh-CN" altLang="en-US" sz="2800" dirty="0"/>
            </a:br>
            <a:r>
              <a:rPr lang="zh-CN" altLang="en-US" sz="2800" dirty="0"/>
              <a:t>（</a:t>
            </a:r>
            <a:r>
              <a:rPr lang="en-US" altLang="zh-CN" sz="2800" dirty="0"/>
              <a:t>2</a:t>
            </a:r>
            <a:r>
              <a:rPr lang="zh-CN" altLang="en-US" sz="2800" dirty="0"/>
              <a:t>）人员</a:t>
            </a:r>
            <a:r>
              <a:rPr lang="en-US" altLang="zh-CN" sz="2800" dirty="0"/>
              <a:t>——</a:t>
            </a:r>
            <a:r>
              <a:rPr lang="zh-CN" altLang="en-US" sz="2800" dirty="0"/>
              <a:t>雇员。                        （继承）</a:t>
            </a:r>
            <a:br>
              <a:rPr lang="zh-CN" altLang="en-US" sz="2800" dirty="0"/>
            </a:br>
            <a:r>
              <a:rPr lang="zh-CN" altLang="en-US" sz="2800" dirty="0"/>
              <a:t>（</a:t>
            </a:r>
            <a:r>
              <a:rPr lang="en-US" altLang="zh-CN" sz="2800" dirty="0"/>
              <a:t>3</a:t>
            </a:r>
            <a:r>
              <a:rPr lang="zh-CN" altLang="en-US" sz="2800" dirty="0"/>
              <a:t>）图书馆</a:t>
            </a:r>
            <a:r>
              <a:rPr lang="en-US" altLang="zh-CN" sz="2800" dirty="0"/>
              <a:t>——</a:t>
            </a:r>
            <a:r>
              <a:rPr lang="zh-CN" altLang="en-US" sz="2800" dirty="0"/>
              <a:t>期刊阅览室。          （聚集）</a:t>
            </a:r>
            <a:br>
              <a:rPr lang="zh-CN" altLang="en-US" sz="2800" dirty="0"/>
            </a:br>
            <a:r>
              <a:rPr lang="zh-CN" altLang="en-US" sz="2800" dirty="0"/>
              <a:t>（</a:t>
            </a:r>
            <a:r>
              <a:rPr lang="en-US" altLang="zh-CN" sz="2800" dirty="0"/>
              <a:t>4</a:t>
            </a:r>
            <a:r>
              <a:rPr lang="zh-CN" altLang="en-US" sz="2800" dirty="0"/>
              <a:t>）书</a:t>
            </a:r>
            <a:r>
              <a:rPr lang="en-US" altLang="zh-CN" sz="2800" dirty="0"/>
              <a:t>——</a:t>
            </a:r>
            <a:r>
              <a:rPr lang="zh-CN" altLang="en-US" sz="2800" dirty="0"/>
              <a:t>图书馆馆员。                 （一般关联）</a:t>
            </a:r>
            <a:br>
              <a:rPr lang="zh-CN" altLang="en-US" sz="2800" dirty="0"/>
            </a:br>
            <a:r>
              <a:rPr lang="zh-CN" altLang="en-US" sz="2800" dirty="0"/>
              <a:t>（</a:t>
            </a:r>
            <a:r>
              <a:rPr lang="en-US" altLang="zh-CN" sz="2800" dirty="0"/>
              <a:t>5</a:t>
            </a:r>
            <a:r>
              <a:rPr lang="zh-CN" altLang="en-US" sz="2800" dirty="0"/>
              <a:t>）小汽车</a:t>
            </a:r>
            <a:r>
              <a:rPr lang="en-US" altLang="zh-CN" sz="2800" dirty="0"/>
              <a:t>——</a:t>
            </a:r>
            <a:r>
              <a:rPr lang="zh-CN" altLang="en-US" sz="2800" dirty="0"/>
              <a:t>司机。                     （一般关联）</a:t>
            </a:r>
            <a:br>
              <a:rPr lang="zh-CN" altLang="en-US" sz="2800" dirty="0"/>
            </a:br>
            <a:r>
              <a:rPr lang="zh-CN" altLang="en-US" sz="2800" dirty="0"/>
              <a:t>（</a:t>
            </a:r>
            <a:r>
              <a:rPr lang="en-US" altLang="zh-CN" sz="2800" dirty="0"/>
              <a:t>6</a:t>
            </a:r>
            <a:r>
              <a:rPr lang="zh-CN" altLang="en-US" sz="2800" dirty="0"/>
              <a:t>）读者</a:t>
            </a:r>
            <a:r>
              <a:rPr lang="en-US" altLang="zh-CN" sz="2800" dirty="0"/>
              <a:t>——</a:t>
            </a:r>
            <a:r>
              <a:rPr lang="zh-CN" altLang="en-US" sz="2800" dirty="0"/>
              <a:t>借出的书。                 （一般关联）</a:t>
            </a:r>
            <a:br>
              <a:rPr lang="zh-CN" altLang="en-US" sz="2800" dirty="0"/>
            </a:br>
            <a:r>
              <a:rPr lang="zh-CN" altLang="en-US" sz="2800" dirty="0"/>
              <a:t>（</a:t>
            </a:r>
            <a:r>
              <a:rPr lang="en-US" altLang="zh-CN" sz="2800" dirty="0"/>
              <a:t>7</a:t>
            </a:r>
            <a:r>
              <a:rPr lang="zh-CN" altLang="en-US" sz="2800" dirty="0"/>
              <a:t>）班级</a:t>
            </a:r>
            <a:r>
              <a:rPr lang="en-US" altLang="zh-CN" sz="2800" dirty="0"/>
              <a:t>——</a:t>
            </a:r>
            <a:r>
              <a:rPr lang="zh-CN" altLang="en-US" sz="2800" dirty="0"/>
              <a:t>学生。                        （聚集）</a:t>
            </a:r>
            <a:br>
              <a:rPr lang="zh-CN" altLang="en-US" sz="2800" dirty="0"/>
            </a:br>
            <a:r>
              <a:rPr lang="zh-CN" altLang="en-US" sz="2800" dirty="0"/>
              <a:t>（</a:t>
            </a:r>
            <a:r>
              <a:rPr lang="en-US" altLang="zh-CN" sz="2800" dirty="0"/>
              <a:t>8</a:t>
            </a:r>
            <a:r>
              <a:rPr lang="zh-CN" altLang="en-US" sz="2800" dirty="0"/>
              <a:t>）教师</a:t>
            </a:r>
            <a:r>
              <a:rPr lang="en-US" altLang="zh-CN" sz="2800" dirty="0"/>
              <a:t>——</a:t>
            </a:r>
            <a:r>
              <a:rPr lang="zh-CN" altLang="en-US" sz="2800" dirty="0"/>
              <a:t>教授。                        （继承）</a:t>
            </a:r>
            <a:br>
              <a:rPr lang="zh-CN" altLang="en-US" sz="2800" dirty="0"/>
            </a:br>
            <a:r>
              <a:rPr lang="zh-CN" altLang="en-US" sz="2800" dirty="0"/>
              <a:t>（</a:t>
            </a:r>
            <a:r>
              <a:rPr lang="en-US" altLang="zh-CN" sz="2800" dirty="0"/>
              <a:t>9</a:t>
            </a:r>
            <a:r>
              <a:rPr lang="zh-CN" altLang="en-US" sz="2800" dirty="0"/>
              <a:t>）丈夫</a:t>
            </a:r>
            <a:r>
              <a:rPr lang="en-US" altLang="zh-CN" sz="2800" dirty="0"/>
              <a:t>——</a:t>
            </a:r>
            <a:r>
              <a:rPr lang="zh-CN" altLang="en-US" sz="2800" dirty="0"/>
              <a:t>妻子。                        （一般关联）</a:t>
            </a:r>
            <a:br>
              <a:rPr lang="zh-CN" altLang="en-US" sz="2800" dirty="0"/>
            </a:br>
            <a:r>
              <a:rPr lang="zh-CN" altLang="en-US" sz="2800" dirty="0"/>
              <a:t>（</a:t>
            </a:r>
            <a:r>
              <a:rPr lang="en-US" altLang="zh-CN" sz="2800" dirty="0"/>
              <a:t>10</a:t>
            </a:r>
            <a:r>
              <a:rPr lang="zh-CN" altLang="en-US" sz="2800" dirty="0"/>
              <a:t>）列车</a:t>
            </a:r>
            <a:r>
              <a:rPr lang="en-US" altLang="zh-CN" sz="2800" dirty="0"/>
              <a:t>——</a:t>
            </a:r>
            <a:r>
              <a:rPr lang="zh-CN" altLang="en-US" sz="2800" dirty="0"/>
              <a:t>餐车。　　　　　　（聚集）　</a:t>
            </a:r>
            <a:br>
              <a:rPr lang="zh-CN" altLang="en-US" sz="2800" dirty="0"/>
            </a:br>
            <a:br>
              <a:rPr lang="en-US" altLang="zh-CN" sz="2800" dirty="0"/>
            </a:br>
            <a:br>
              <a:rPr lang="en-US" altLang="zh-CN" sz="2800" dirty="0"/>
            </a:br>
            <a:br>
              <a:rPr lang="en-US" altLang="zh-CN" sz="2800" dirty="0"/>
            </a:br>
            <a:br>
              <a:rPr lang="en-US" altLang="zh-CN" sz="2800" dirty="0"/>
            </a:br>
            <a:endParaRPr lang="zh-CN" altLang="en-US" sz="2800" dirty="0"/>
          </a:p>
        </p:txBody>
      </p:sp>
    </p:spTree>
    <p:extLst>
      <p:ext uri="{BB962C8B-B14F-4D97-AF65-F5344CB8AC3E}">
        <p14:creationId xmlns:p14="http://schemas.microsoft.com/office/powerpoint/2010/main" val="248437483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289387"/>
            <a:ext cx="10515600" cy="3139613"/>
          </a:xfrm>
        </p:spPr>
        <p:txBody>
          <a:bodyPr>
            <a:noAutofit/>
          </a:bodyPr>
          <a:lstStyle/>
          <a:p>
            <a:pPr>
              <a:lnSpc>
                <a:spcPct val="100000"/>
              </a:lnSpc>
            </a:pPr>
            <a:r>
              <a:rPr lang="en-US" altLang="zh-CN" sz="2800" dirty="0"/>
              <a:t>【</a:t>
            </a:r>
            <a:r>
              <a:rPr lang="zh-CN" altLang="en-US" sz="2800" dirty="0"/>
              <a:t>简答</a:t>
            </a:r>
            <a:r>
              <a:rPr lang="en-US" altLang="zh-CN" sz="2800" dirty="0"/>
              <a:t>】</a:t>
            </a:r>
            <a:r>
              <a:rPr lang="zh-CN" altLang="en-US" sz="2800" dirty="0"/>
              <a:t>开发一个铁路售票系统，请完成图</a:t>
            </a:r>
            <a:r>
              <a:rPr lang="en-US" altLang="zh-CN" sz="2800" dirty="0"/>
              <a:t>1</a:t>
            </a:r>
            <a:r>
              <a:rPr lang="zh-CN" altLang="en-US" sz="2800" dirty="0"/>
              <a:t>所示的数据流图，从供选择的答案中选出</a:t>
            </a:r>
            <a:r>
              <a:rPr lang="en-US" altLang="zh-CN" sz="2800" dirty="0"/>
              <a:t>A</a:t>
            </a:r>
            <a:r>
              <a:rPr lang="zh-CN" altLang="en-US" sz="2800" dirty="0"/>
              <a:t>、</a:t>
            </a:r>
            <a:r>
              <a:rPr lang="en-US" altLang="zh-CN" sz="2800" dirty="0"/>
              <a:t>B</a:t>
            </a:r>
            <a:r>
              <a:rPr lang="zh-CN" altLang="en-US" sz="2800" dirty="0"/>
              <a:t>、</a:t>
            </a:r>
            <a:r>
              <a:rPr lang="en-US" altLang="zh-CN" sz="2800" dirty="0"/>
              <a:t>C</a:t>
            </a:r>
            <a:r>
              <a:rPr lang="zh-CN" altLang="en-US" sz="2800" dirty="0"/>
              <a:t>、</a:t>
            </a:r>
            <a:r>
              <a:rPr lang="en-US" altLang="zh-CN" sz="2800" dirty="0"/>
              <a:t>D</a:t>
            </a:r>
            <a:r>
              <a:rPr lang="zh-CN" altLang="en-US" sz="2800" dirty="0"/>
              <a:t>、</a:t>
            </a:r>
            <a:r>
              <a:rPr lang="en-US" altLang="zh-CN" sz="2800" dirty="0"/>
              <a:t>E</a:t>
            </a:r>
            <a:r>
              <a:rPr lang="zh-CN" altLang="en-US" sz="2800" dirty="0"/>
              <a:t>的内容。供选择的答案：车次表、接受的请求、售票记录、购票请求、拒绝的请求</a:t>
            </a:r>
            <a:br>
              <a:rPr lang="en-US" altLang="zh-CN"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endParaRPr lang="en-US" altLang="zh-CN" dirty="0"/>
          </a:p>
          <a:p>
            <a:endParaRPr lang="en-US" altLang="zh-CN" dirty="0"/>
          </a:p>
          <a:p>
            <a:r>
              <a:rPr lang="zh-CN" altLang="en-US" dirty="0"/>
              <a:t>答案：</a:t>
            </a:r>
            <a:r>
              <a:rPr lang="en-US" altLang="zh-CN" dirty="0"/>
              <a:t>A</a:t>
            </a:r>
            <a:r>
              <a:rPr lang="zh-CN" altLang="zh-CN" dirty="0"/>
              <a:t>购票请求、</a:t>
            </a:r>
            <a:r>
              <a:rPr lang="en-US" altLang="zh-CN" dirty="0"/>
              <a:t>B</a:t>
            </a:r>
            <a:r>
              <a:rPr lang="zh-CN" altLang="zh-CN" dirty="0"/>
              <a:t>接受、</a:t>
            </a:r>
            <a:r>
              <a:rPr lang="en-US" altLang="zh-CN" dirty="0"/>
              <a:t>C</a:t>
            </a:r>
            <a:r>
              <a:rPr lang="zh-CN" altLang="zh-CN" dirty="0"/>
              <a:t>拒绝的请求、</a:t>
            </a:r>
            <a:r>
              <a:rPr lang="en-US" altLang="zh-CN" dirty="0"/>
              <a:t>D</a:t>
            </a:r>
            <a:r>
              <a:rPr lang="zh-CN" altLang="zh-CN" dirty="0"/>
              <a:t>车次表、</a:t>
            </a:r>
            <a:r>
              <a:rPr lang="en-US" altLang="zh-CN" dirty="0"/>
              <a:t>E </a:t>
            </a:r>
            <a:r>
              <a:rPr lang="zh-CN" altLang="zh-CN" dirty="0"/>
              <a:t>售票记录</a:t>
            </a:r>
            <a:r>
              <a:rPr lang="zh-CN" altLang="zh-CN" b="1" dirty="0"/>
              <a:t>。 </a:t>
            </a:r>
            <a:endParaRPr lang="zh-CN" altLang="zh-CN" dirty="0"/>
          </a:p>
          <a:p>
            <a:endParaRPr lang="en-US" altLang="zh-CN" dirty="0"/>
          </a:p>
        </p:txBody>
      </p:sp>
      <p:pic>
        <p:nvPicPr>
          <p:cNvPr id="5" name="图片 4">
            <a:extLst>
              <a:ext uri="{FF2B5EF4-FFF2-40B4-BE49-F238E27FC236}">
                <a16:creationId xmlns:a16="http://schemas.microsoft.com/office/drawing/2014/main" id="{98877943-87B2-499E-8E63-557CA72CCD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2418" y="2424862"/>
            <a:ext cx="3601031" cy="2782137"/>
          </a:xfrm>
          <a:prstGeom prst="rect">
            <a:avLst/>
          </a:prstGeom>
        </p:spPr>
      </p:pic>
    </p:spTree>
    <p:extLst>
      <p:ext uri="{BB962C8B-B14F-4D97-AF65-F5344CB8AC3E}">
        <p14:creationId xmlns:p14="http://schemas.microsoft.com/office/powerpoint/2010/main" val="676951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p:txBody>
          <a:bodyPr>
            <a:normAutofit/>
          </a:bodyPr>
          <a:lstStyle/>
          <a:p>
            <a:r>
              <a:rPr lang="en-US" altLang="zh-CN" sz="2800" dirty="0"/>
              <a:t>【</a:t>
            </a:r>
            <a:r>
              <a:rPr lang="zh-CN" altLang="en-US" sz="2800" dirty="0"/>
              <a:t>简答</a:t>
            </a:r>
            <a:r>
              <a:rPr lang="en-US" altLang="zh-CN" sz="2800" dirty="0"/>
              <a:t>】</a:t>
            </a:r>
            <a:r>
              <a:rPr lang="zh-CN" altLang="en-US" sz="2800" dirty="0"/>
              <a:t>请用</a:t>
            </a:r>
            <a:r>
              <a:rPr lang="en-US" altLang="zh-CN" sz="2800" dirty="0"/>
              <a:t>CRUD</a:t>
            </a:r>
            <a:r>
              <a:rPr lang="zh-CN" altLang="en-US" sz="2800" dirty="0"/>
              <a:t>方法给出购物网站中用户类（</a:t>
            </a:r>
            <a:r>
              <a:rPr lang="en-US" altLang="zh-CN" sz="2800" dirty="0"/>
              <a:t>Customer</a:t>
            </a:r>
            <a:r>
              <a:rPr lang="zh-CN" altLang="en-US" sz="2800" dirty="0"/>
              <a:t>）常见的四个用例</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p:txBody>
          <a:bodyPr/>
          <a:lstStyle/>
          <a:p>
            <a:r>
              <a:rPr lang="zh-CN" altLang="en-US" dirty="0"/>
              <a:t>答案：</a:t>
            </a:r>
            <a:endParaRPr lang="en-US" altLang="zh-CN" dirty="0"/>
          </a:p>
          <a:p>
            <a:r>
              <a:rPr lang="zh-CN" altLang="en-US" dirty="0"/>
              <a:t>添加用户，删除用户，更改用户信息，查询用户信息</a:t>
            </a:r>
            <a:endParaRPr lang="en-US" altLang="zh-CN" dirty="0"/>
          </a:p>
          <a:p>
            <a:r>
              <a:rPr lang="zh-CN" altLang="en-US" dirty="0">
                <a:solidFill>
                  <a:srgbClr val="C00000"/>
                </a:solidFill>
              </a:rPr>
              <a:t>考点：</a:t>
            </a:r>
            <a:r>
              <a:rPr lang="en-US" altLang="zh-CN" dirty="0">
                <a:solidFill>
                  <a:srgbClr val="C00000"/>
                </a:solidFill>
              </a:rPr>
              <a:t>CRUD </a:t>
            </a:r>
            <a:r>
              <a:rPr lang="zh-CN" altLang="en-US" dirty="0">
                <a:solidFill>
                  <a:srgbClr val="C00000"/>
                </a:solidFill>
              </a:rPr>
              <a:t>增删改查</a:t>
            </a:r>
          </a:p>
        </p:txBody>
      </p:sp>
    </p:spTree>
    <p:extLst>
      <p:ext uri="{BB962C8B-B14F-4D97-AF65-F5344CB8AC3E}">
        <p14:creationId xmlns:p14="http://schemas.microsoft.com/office/powerpoint/2010/main" val="185529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457200" y="1980868"/>
            <a:ext cx="10515600" cy="3139613"/>
          </a:xfrm>
        </p:spPr>
        <p:txBody>
          <a:bodyPr>
            <a:noAutofit/>
          </a:bodyPr>
          <a:lstStyle/>
          <a:p>
            <a:pPr>
              <a:lnSpc>
                <a:spcPct val="100000"/>
              </a:lnSpc>
            </a:pPr>
            <a:r>
              <a:rPr lang="en-US" altLang="zh-CN" sz="2400" dirty="0"/>
              <a:t>【</a:t>
            </a:r>
            <a:r>
              <a:rPr lang="zh-CN" altLang="en-US" sz="2400" dirty="0"/>
              <a:t>应用</a:t>
            </a:r>
            <a:r>
              <a:rPr lang="en-US" altLang="zh-CN" sz="2400" dirty="0"/>
              <a:t>】</a:t>
            </a:r>
            <a:r>
              <a:rPr lang="zh-CN" altLang="en-US" sz="2400" dirty="0"/>
              <a:t>某图书馆计划开发一个图书管理系统，需求如下：</a:t>
            </a:r>
            <a:br>
              <a:rPr lang="en-US" altLang="zh-CN" sz="2400" dirty="0"/>
            </a:br>
            <a:r>
              <a:rPr lang="zh-CN" altLang="en-US" sz="2400" dirty="0"/>
              <a:t> 读者可以查询图书、借阅图书、归还图书、续借图书、预约图书    </a:t>
            </a:r>
            <a:br>
              <a:rPr lang="en-US" altLang="zh-CN" sz="2400" dirty="0"/>
            </a:br>
            <a:r>
              <a:rPr lang="zh-CN" altLang="en-US" sz="2400" dirty="0"/>
              <a:t>管理员可以管理读者信息（增删改查）、管理图书信息（增删改查）、处理逾期罚款</a:t>
            </a:r>
            <a:br>
              <a:rPr lang="zh-CN" altLang="en-US" sz="2400" dirty="0"/>
            </a:br>
            <a:r>
              <a:rPr lang="zh-CN" altLang="en-US" sz="2400" dirty="0"/>
              <a:t>读者借书时，系统需验证读者资格（是否逾期、是否达上限）</a:t>
            </a:r>
            <a:br>
              <a:rPr lang="zh-CN" altLang="en-US" sz="2400" dirty="0"/>
            </a:br>
            <a:r>
              <a:rPr lang="zh-CN" altLang="en-US" sz="2400" dirty="0"/>
              <a:t>读者借书时，系统需验证图书状态（是否在库）</a:t>
            </a:r>
            <a:br>
              <a:rPr lang="zh-CN" altLang="en-US" sz="2400" dirty="0"/>
            </a:br>
            <a:r>
              <a:rPr lang="zh-CN" altLang="en-US" sz="2400" dirty="0"/>
              <a:t>教师借阅数量上限为</a:t>
            </a:r>
            <a:r>
              <a:rPr lang="en-US" altLang="zh-CN" sz="2400" dirty="0"/>
              <a:t>10</a:t>
            </a:r>
            <a:r>
              <a:rPr lang="zh-CN" altLang="en-US" sz="2400" dirty="0"/>
              <a:t>本，学生为</a:t>
            </a:r>
            <a:r>
              <a:rPr lang="en-US" altLang="zh-CN" sz="2400" dirty="0"/>
              <a:t>5</a:t>
            </a:r>
            <a:r>
              <a:rPr lang="zh-CN" altLang="en-US" sz="2400" dirty="0"/>
              <a:t>本</a:t>
            </a:r>
            <a:br>
              <a:rPr lang="zh-CN" altLang="en-US" sz="2400" dirty="0"/>
            </a:br>
            <a:r>
              <a:rPr lang="zh-CN" altLang="en-US" sz="2400" dirty="0"/>
              <a:t>逾期罚款规则：每本每天</a:t>
            </a:r>
            <a:r>
              <a:rPr lang="en-US" altLang="zh-CN" sz="2400" dirty="0"/>
              <a:t>0.2</a:t>
            </a:r>
            <a:r>
              <a:rPr lang="zh-CN" altLang="en-US" sz="2400" dirty="0"/>
              <a:t>元，最高罚款</a:t>
            </a:r>
            <a:r>
              <a:rPr lang="en-US" altLang="zh-CN" sz="2400" dirty="0"/>
              <a:t>50</a:t>
            </a:r>
            <a:r>
              <a:rPr lang="zh-CN" altLang="en-US" sz="2400" dirty="0"/>
              <a:t>元</a:t>
            </a:r>
            <a:br>
              <a:rPr lang="zh-CN" altLang="en-US" sz="2400" dirty="0"/>
            </a:br>
            <a:br>
              <a:rPr lang="zh-CN" altLang="en-US" sz="2400" dirty="0"/>
            </a:br>
            <a:r>
              <a:rPr lang="zh-CN" altLang="en-US" sz="2400" dirty="0"/>
              <a:t>请回答：</a:t>
            </a:r>
            <a:br>
              <a:rPr lang="zh-CN" altLang="en-US" sz="2400" dirty="0"/>
            </a:br>
            <a:r>
              <a:rPr lang="zh-CN" altLang="en-US" sz="2400" dirty="0"/>
              <a:t>（</a:t>
            </a:r>
            <a:r>
              <a:rPr lang="en-US" altLang="zh-CN" sz="2400" dirty="0"/>
              <a:t>1</a:t>
            </a:r>
            <a:r>
              <a:rPr lang="zh-CN" altLang="en-US" sz="2400" dirty="0"/>
              <a:t>）识别该系统的利益相关者，并分类说明（操作利益相关者</a:t>
            </a:r>
            <a:r>
              <a:rPr lang="en-US" altLang="zh-CN" sz="2400" dirty="0"/>
              <a:t>/</a:t>
            </a:r>
            <a:r>
              <a:rPr lang="zh-CN" altLang="en-US" sz="2400" dirty="0"/>
              <a:t>执行利益相关者、内部</a:t>
            </a:r>
            <a:r>
              <a:rPr lang="en-US" altLang="zh-CN" sz="2400" dirty="0"/>
              <a:t>/</a:t>
            </a:r>
            <a:r>
              <a:rPr lang="zh-CN" altLang="en-US" sz="2400" dirty="0"/>
              <a:t>外部）。</a:t>
            </a:r>
            <a:br>
              <a:rPr lang="zh-CN" altLang="en-US" sz="2400" dirty="0"/>
            </a:br>
            <a:r>
              <a:rPr lang="zh-CN" altLang="en-US" sz="2400" dirty="0"/>
              <a:t>（</a:t>
            </a:r>
            <a:r>
              <a:rPr lang="en-US" altLang="zh-CN" sz="2400" dirty="0"/>
              <a:t>2</a:t>
            </a:r>
            <a:r>
              <a:rPr lang="zh-CN" altLang="en-US" sz="2400" dirty="0"/>
              <a:t>）绘制该系统的用例图（用文字描述即可）。</a:t>
            </a:r>
            <a:br>
              <a:rPr lang="zh-CN" altLang="en-US" sz="2400" dirty="0"/>
            </a:br>
            <a:r>
              <a:rPr lang="zh-CN" altLang="en-US" sz="2400" dirty="0"/>
              <a:t>（</a:t>
            </a:r>
            <a:r>
              <a:rPr lang="en-US" altLang="zh-CN" sz="2400" dirty="0"/>
              <a:t>3</a:t>
            </a:r>
            <a:r>
              <a:rPr lang="zh-CN" altLang="en-US" sz="2400" dirty="0"/>
              <a:t>）为“借阅图书”用例编写详细的用例描述。</a:t>
            </a:r>
            <a:br>
              <a:rPr lang="zh-CN" altLang="en-US" sz="2400" dirty="0"/>
            </a:br>
            <a:r>
              <a:rPr lang="zh-CN" altLang="en-US" sz="2400" dirty="0"/>
              <a:t>（</a:t>
            </a:r>
            <a:r>
              <a:rPr lang="en-US" altLang="zh-CN" sz="2400" dirty="0"/>
              <a:t>4</a:t>
            </a:r>
            <a:r>
              <a:rPr lang="zh-CN" altLang="en-US" sz="2400" dirty="0"/>
              <a:t>）用判定表描述读者借书资格的验证规则（考虑：是否逾期、是否达上限、读者类型）。</a:t>
            </a:r>
          </a:p>
        </p:txBody>
      </p:sp>
    </p:spTree>
    <p:extLst>
      <p:ext uri="{BB962C8B-B14F-4D97-AF65-F5344CB8AC3E}">
        <p14:creationId xmlns:p14="http://schemas.microsoft.com/office/powerpoint/2010/main" val="305576123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457200" y="1980868"/>
            <a:ext cx="10515600" cy="3139613"/>
          </a:xfrm>
        </p:spPr>
        <p:txBody>
          <a:bodyPr>
            <a:noAutofit/>
          </a:bodyPr>
          <a:lstStyle/>
          <a:p>
            <a:pPr>
              <a:lnSpc>
                <a:spcPct val="100000"/>
              </a:lnSpc>
            </a:pPr>
            <a:r>
              <a:rPr lang="en-US" altLang="zh-CN" sz="2400" dirty="0"/>
              <a:t>【</a:t>
            </a:r>
            <a:r>
              <a:rPr lang="zh-CN" altLang="en-US" sz="2400" dirty="0"/>
              <a:t>应用</a:t>
            </a:r>
            <a:r>
              <a:rPr lang="en-US" altLang="zh-CN" sz="2400" dirty="0"/>
              <a:t>】</a:t>
            </a:r>
            <a:r>
              <a:rPr lang="zh-CN" altLang="en-US" sz="2400" dirty="0"/>
              <a:t>某图书馆计划开发一个图书管理系统，需求如下：</a:t>
            </a:r>
            <a:br>
              <a:rPr lang="en-US" altLang="zh-CN" sz="2400" dirty="0"/>
            </a:br>
            <a:r>
              <a:rPr lang="zh-CN" altLang="en-US" sz="2400" dirty="0"/>
              <a:t> 读者可以查询图书、借阅图书、归还图书、续借图书、预约图书    </a:t>
            </a:r>
            <a:br>
              <a:rPr lang="en-US" altLang="zh-CN" sz="2400" dirty="0"/>
            </a:br>
            <a:r>
              <a:rPr lang="zh-CN" altLang="en-US" sz="2400" dirty="0"/>
              <a:t>管理员可以管理读者信息（增删改查）、管理图书信息（增删改查）、处理逾期罚款</a:t>
            </a:r>
            <a:br>
              <a:rPr lang="zh-CN" altLang="en-US" sz="2400" dirty="0"/>
            </a:br>
            <a:r>
              <a:rPr lang="zh-CN" altLang="en-US" sz="2400" dirty="0"/>
              <a:t>读者借书时，系统需验证读者资格（是否逾期、是否达上限）</a:t>
            </a:r>
            <a:br>
              <a:rPr lang="zh-CN" altLang="en-US" sz="2400" dirty="0"/>
            </a:br>
            <a:r>
              <a:rPr lang="zh-CN" altLang="en-US" sz="2400" dirty="0"/>
              <a:t>读者借书时，系统需验证图书状态（是否在库）</a:t>
            </a:r>
            <a:br>
              <a:rPr lang="zh-CN" altLang="en-US" sz="2400" dirty="0"/>
            </a:br>
            <a:r>
              <a:rPr lang="zh-CN" altLang="en-US" sz="2400" dirty="0"/>
              <a:t>教师借阅数量上限为</a:t>
            </a:r>
            <a:r>
              <a:rPr lang="en-US" altLang="zh-CN" sz="2400" dirty="0"/>
              <a:t>10</a:t>
            </a:r>
            <a:r>
              <a:rPr lang="zh-CN" altLang="en-US" sz="2400" dirty="0"/>
              <a:t>本，学生为</a:t>
            </a:r>
            <a:r>
              <a:rPr lang="en-US" altLang="zh-CN" sz="2400" dirty="0"/>
              <a:t>5</a:t>
            </a:r>
            <a:r>
              <a:rPr lang="zh-CN" altLang="en-US" sz="2400" dirty="0"/>
              <a:t>本</a:t>
            </a:r>
            <a:br>
              <a:rPr lang="zh-CN" altLang="en-US" sz="2400" dirty="0"/>
            </a:br>
            <a:r>
              <a:rPr lang="zh-CN" altLang="en-US" sz="2400" dirty="0"/>
              <a:t>逾期罚款规则：每本每天</a:t>
            </a:r>
            <a:r>
              <a:rPr lang="en-US" altLang="zh-CN" sz="2400" dirty="0"/>
              <a:t>0.2</a:t>
            </a:r>
            <a:r>
              <a:rPr lang="zh-CN" altLang="en-US" sz="2400" dirty="0"/>
              <a:t>元，最高罚款</a:t>
            </a:r>
            <a:r>
              <a:rPr lang="en-US" altLang="zh-CN" sz="2400" dirty="0"/>
              <a:t>50</a:t>
            </a:r>
            <a:r>
              <a:rPr lang="zh-CN" altLang="en-US" sz="2400" dirty="0"/>
              <a:t>元</a:t>
            </a:r>
            <a:br>
              <a:rPr lang="zh-CN" altLang="en-US" sz="2400" dirty="0"/>
            </a:br>
            <a:br>
              <a:rPr lang="zh-CN" altLang="en-US" sz="2400" dirty="0"/>
            </a:br>
            <a:r>
              <a:rPr lang="zh-CN" altLang="en-US" sz="2400" dirty="0"/>
              <a:t>（</a:t>
            </a:r>
            <a:r>
              <a:rPr lang="en-US" altLang="zh-CN" sz="2400" dirty="0"/>
              <a:t>1</a:t>
            </a:r>
            <a:r>
              <a:rPr lang="zh-CN" altLang="en-US" sz="2400" dirty="0"/>
              <a:t>）利益相关者：读者（操作、外部）、管理员（操作、内部）、图书馆管理者（执行、内部）</a:t>
            </a:r>
            <a:br>
              <a:rPr lang="zh-CN" altLang="en-US" sz="2400" dirty="0"/>
            </a:br>
            <a:r>
              <a:rPr lang="zh-CN" altLang="en-US" sz="2400" dirty="0"/>
              <a:t>（</a:t>
            </a:r>
            <a:r>
              <a:rPr lang="en-US" altLang="zh-CN" sz="2400" dirty="0"/>
              <a:t>2</a:t>
            </a:r>
            <a:r>
              <a:rPr lang="zh-CN" altLang="en-US" sz="2400" dirty="0"/>
              <a:t>）用例图包含：读者参与者，用例包括图书查询、借阅图书、归还图书、续借图书、预约图书；管理员参与者，用例包括读者管理、图书管理、罚款处理</a:t>
            </a:r>
            <a:br>
              <a:rPr lang="zh-CN" altLang="en-US" sz="2400" dirty="0"/>
            </a:br>
            <a:r>
              <a:rPr lang="zh-CN" altLang="en-US" sz="2400" dirty="0"/>
              <a:t>（</a:t>
            </a:r>
            <a:r>
              <a:rPr lang="en-US" altLang="zh-CN" sz="2400" dirty="0"/>
              <a:t>3</a:t>
            </a:r>
            <a:r>
              <a:rPr lang="zh-CN" altLang="en-US" sz="2400" dirty="0"/>
              <a:t>）用例描述应包含：用例名称、参与者、前置条件、基本流程、备选流程、后置条件</a:t>
            </a:r>
            <a:br>
              <a:rPr lang="zh-CN" altLang="en-US" sz="2400" dirty="0"/>
            </a:br>
            <a:r>
              <a:rPr lang="zh-CN" altLang="en-US" sz="2400" dirty="0"/>
              <a:t>（</a:t>
            </a:r>
            <a:r>
              <a:rPr lang="en-US" altLang="zh-CN" sz="2400" dirty="0"/>
              <a:t>4</a:t>
            </a:r>
            <a:r>
              <a:rPr lang="zh-CN" altLang="en-US" sz="2400" dirty="0"/>
              <a:t>）判定表：条件包括是否逾期、是否达上限、读者类型，动作包括允许借阅、拒绝借阅</a:t>
            </a:r>
          </a:p>
        </p:txBody>
      </p:sp>
    </p:spTree>
    <p:extLst>
      <p:ext uri="{BB962C8B-B14F-4D97-AF65-F5344CB8AC3E}">
        <p14:creationId xmlns:p14="http://schemas.microsoft.com/office/powerpoint/2010/main" val="118288808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750697" y="396528"/>
            <a:ext cx="10515600" cy="3139613"/>
          </a:xfrm>
        </p:spPr>
        <p:txBody>
          <a:bodyPr>
            <a:noAutofit/>
          </a:bodyPr>
          <a:lstStyle/>
          <a:p>
            <a:pPr>
              <a:lnSpc>
                <a:spcPct val="100000"/>
              </a:lnSpc>
            </a:pPr>
            <a:r>
              <a:rPr lang="en-US" altLang="zh-CN" sz="2800" dirty="0"/>
              <a:t>【</a:t>
            </a:r>
            <a:r>
              <a:rPr lang="zh-CN" altLang="en-US" sz="2800" dirty="0"/>
              <a:t>应用</a:t>
            </a:r>
            <a:r>
              <a:rPr lang="en-US" altLang="zh-CN" sz="2800" dirty="0"/>
              <a:t>】</a:t>
            </a:r>
            <a:r>
              <a:rPr lang="zh-CN" altLang="en-US" sz="2800" dirty="0"/>
              <a:t>办公室复印机的工作过程大致如下：未接到复印命令时处于闲置状态，一旦接到复印命令则进入复印状态，完成一个复印命令规定的工作后又回到闲置状态，等待下一个复印命令；如果执行复印命令时发现缺纸，则进入缺纸状态，发出警告，等待装纸，装满纸后进入闲置状态，准备接受复印命令；如果复印时发生卡纸故障，则进入卡纸状态，发出警告等待维修人员来排队故障，故障排除后回到闲置状态。</a:t>
            </a:r>
            <a:br>
              <a:rPr lang="zh-CN" altLang="en-US" sz="2800" dirty="0"/>
            </a:br>
            <a:r>
              <a:rPr lang="zh-CN" altLang="en-US" sz="2800" dirty="0"/>
              <a:t>   请用状态转换图描绘复印机的行为：</a:t>
            </a:r>
            <a:br>
              <a:rPr lang="en-US" altLang="zh-CN"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584444" y="3793510"/>
            <a:ext cx="10515600" cy="1840937"/>
          </a:xfrm>
        </p:spPr>
        <p:txBody>
          <a:bodyPr>
            <a:normAutofit/>
          </a:bodyPr>
          <a:lstStyle/>
          <a:p>
            <a:r>
              <a:rPr lang="zh-CN" altLang="en-US" dirty="0"/>
              <a:t>答案：</a:t>
            </a:r>
            <a:endParaRPr lang="en-US" altLang="zh-CN" dirty="0"/>
          </a:p>
        </p:txBody>
      </p:sp>
      <p:pic>
        <p:nvPicPr>
          <p:cNvPr id="1026" name="图片 20">
            <a:extLst>
              <a:ext uri="{FF2B5EF4-FFF2-40B4-BE49-F238E27FC236}">
                <a16:creationId xmlns:a16="http://schemas.microsoft.com/office/drawing/2014/main" id="{52BD730A-96A5-40D3-BC3B-BA7FF61B66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2585" y="3547432"/>
            <a:ext cx="5000762" cy="3310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933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556985" y="575364"/>
            <a:ext cx="11025415" cy="3139613"/>
          </a:xfrm>
        </p:spPr>
        <p:txBody>
          <a:bodyPr>
            <a:noAutofit/>
          </a:bodyPr>
          <a:lstStyle/>
          <a:p>
            <a:pPr>
              <a:lnSpc>
                <a:spcPct val="100000"/>
              </a:lnSpc>
            </a:pPr>
            <a:r>
              <a:rPr lang="en-US" altLang="zh-CN" sz="2800" dirty="0"/>
              <a:t>【</a:t>
            </a:r>
            <a:r>
              <a:rPr lang="zh-CN" altLang="en-US" sz="2800" dirty="0"/>
              <a:t>应用</a:t>
            </a:r>
            <a:r>
              <a:rPr lang="en-US" altLang="zh-CN" sz="2800" dirty="0"/>
              <a:t>】</a:t>
            </a:r>
            <a:r>
              <a:rPr lang="zh-CN" altLang="en-US" sz="2800" dirty="0"/>
              <a:t>请根据下面的程序流程图，写出对应的结构化代码</a:t>
            </a:r>
            <a:br>
              <a:rPr lang="zh-CN" altLang="en-US" sz="2800" dirty="0"/>
            </a:br>
            <a:br>
              <a:rPr lang="en-US" altLang="zh-CN" sz="2800" dirty="0"/>
            </a:br>
            <a:br>
              <a:rPr lang="en-US" altLang="zh-CN" sz="2800" dirty="0"/>
            </a:br>
            <a:br>
              <a:rPr lang="en-US" altLang="zh-CN" sz="2800" dirty="0"/>
            </a:br>
            <a:br>
              <a:rPr lang="en-US" altLang="zh-CN" sz="2800" dirty="0"/>
            </a:br>
            <a:endParaRPr lang="zh-CN" altLang="en-US" sz="2800" dirty="0"/>
          </a:p>
        </p:txBody>
      </p:sp>
      <p:pic>
        <p:nvPicPr>
          <p:cNvPr id="12290" name="Picture 2">
            <a:extLst>
              <a:ext uri="{FF2B5EF4-FFF2-40B4-BE49-F238E27FC236}">
                <a16:creationId xmlns:a16="http://schemas.microsoft.com/office/drawing/2014/main" id="{0961B158-69ED-4E93-AA82-DFC3AF2AB6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2350" y="1546224"/>
            <a:ext cx="3575050" cy="5183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D0F70C1E-BD1F-4DE0-B8D3-DDFEAA326EA0}"/>
              </a:ext>
            </a:extLst>
          </p:cNvPr>
          <p:cNvSpPr txBox="1"/>
          <p:nvPr/>
        </p:nvSpPr>
        <p:spPr>
          <a:xfrm>
            <a:off x="6096000" y="2014257"/>
            <a:ext cx="6096000" cy="4247317"/>
          </a:xfrm>
          <a:prstGeom prst="rect">
            <a:avLst/>
          </a:prstGeom>
          <a:noFill/>
        </p:spPr>
        <p:txBody>
          <a:bodyPr wrap="square">
            <a:spAutoFit/>
          </a:bodyPr>
          <a:lstStyle/>
          <a:p>
            <a:pPr algn="just"/>
            <a:r>
              <a:rPr lang="en-US" altLang="zh-CN" sz="1800" kern="100" dirty="0">
                <a:effectLst/>
                <a:latin typeface="Arial" panose="020B0604020202020204" pitchFamily="34" charset="0"/>
                <a:ea typeface="宋体" panose="02010600030101010101" pitchFamily="2" charset="-122"/>
              </a:rPr>
              <a:t>START</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Arial" panose="020B0604020202020204" pitchFamily="34" charset="0"/>
                <a:ea typeface="宋体" panose="02010600030101010101" pitchFamily="2" charset="-122"/>
              </a:rPr>
              <a:t>   IF C1</a:t>
            </a:r>
            <a:endParaRPr lang="zh-CN" altLang="zh-CN" sz="1800" kern="100" dirty="0">
              <a:effectLst/>
              <a:latin typeface="Times New Roman" panose="02020603050405020304" pitchFamily="18" charset="0"/>
              <a:ea typeface="宋体" panose="02010600030101010101" pitchFamily="2" charset="-122"/>
            </a:endParaRPr>
          </a:p>
          <a:p>
            <a:pPr indent="409575" algn="just"/>
            <a:r>
              <a:rPr lang="en-US" altLang="zh-CN" sz="1800" kern="100" dirty="0">
                <a:effectLst/>
                <a:latin typeface="Arial" panose="020B0604020202020204" pitchFamily="34" charset="0"/>
                <a:ea typeface="宋体" panose="02010600030101010101" pitchFamily="2" charset="-122"/>
              </a:rPr>
              <a:t>THEN</a:t>
            </a:r>
            <a:endParaRPr lang="zh-CN" altLang="zh-CN" sz="1800" kern="100" dirty="0">
              <a:effectLst/>
              <a:latin typeface="Times New Roman" panose="02020603050405020304" pitchFamily="18" charset="0"/>
              <a:ea typeface="宋体" panose="02010600030101010101" pitchFamily="2" charset="-122"/>
            </a:endParaRPr>
          </a:p>
          <a:p>
            <a:pPr indent="409575" algn="just"/>
            <a:r>
              <a:rPr lang="en-US" altLang="zh-CN" sz="1800" kern="100" dirty="0">
                <a:effectLst/>
                <a:latin typeface="Arial" panose="020B0604020202020204" pitchFamily="34" charset="0"/>
                <a:ea typeface="宋体" panose="02010600030101010101" pitchFamily="2" charset="-122"/>
              </a:rPr>
              <a:t>  WHILE C2 DO</a:t>
            </a:r>
            <a:endParaRPr lang="zh-CN" altLang="zh-CN" sz="1800" kern="100" dirty="0">
              <a:effectLst/>
              <a:latin typeface="Times New Roman" panose="02020603050405020304" pitchFamily="18" charset="0"/>
              <a:ea typeface="宋体" panose="02010600030101010101" pitchFamily="2" charset="-122"/>
            </a:endParaRPr>
          </a:p>
          <a:p>
            <a:pPr indent="409575" algn="just"/>
            <a:r>
              <a:rPr lang="en-US" altLang="zh-CN" sz="1800" kern="100" dirty="0">
                <a:effectLst/>
                <a:latin typeface="Arial" panose="020B0604020202020204" pitchFamily="34" charset="0"/>
                <a:ea typeface="宋体" panose="02010600030101010101" pitchFamily="2" charset="-122"/>
              </a:rPr>
              <a:t>      f</a:t>
            </a:r>
            <a:endParaRPr lang="zh-CN" altLang="zh-CN" sz="1800" kern="100" dirty="0">
              <a:effectLst/>
              <a:latin typeface="Times New Roman" panose="02020603050405020304" pitchFamily="18" charset="0"/>
              <a:ea typeface="宋体" panose="02010600030101010101" pitchFamily="2" charset="-122"/>
            </a:endParaRPr>
          </a:p>
          <a:p>
            <a:pPr indent="409575" algn="just"/>
            <a:r>
              <a:rPr lang="en-US" altLang="zh-CN" sz="1800" kern="100" dirty="0">
                <a:effectLst/>
                <a:latin typeface="Times New Roman" panose="02020603050405020304" pitchFamily="18" charset="0"/>
                <a:ea typeface="宋体" panose="02010600030101010101" pitchFamily="2" charset="-122"/>
              </a:rPr>
              <a:t>  </a:t>
            </a:r>
            <a:r>
              <a:rPr lang="en-US" altLang="zh-CN" sz="1800" kern="100" dirty="0">
                <a:effectLst/>
                <a:latin typeface="Arial" panose="020B0604020202020204" pitchFamily="34" charset="0"/>
                <a:ea typeface="宋体" panose="02010600030101010101" pitchFamily="2" charset="-122"/>
              </a:rPr>
              <a:t>ENDDO</a:t>
            </a:r>
            <a:endParaRPr lang="zh-CN" altLang="zh-CN" sz="1800" kern="100" dirty="0">
              <a:effectLst/>
              <a:latin typeface="Times New Roman" panose="02020603050405020304" pitchFamily="18" charset="0"/>
              <a:ea typeface="宋体" panose="02010600030101010101" pitchFamily="2" charset="-122"/>
            </a:endParaRPr>
          </a:p>
          <a:p>
            <a:pPr indent="276225" algn="just"/>
            <a:r>
              <a:rPr lang="en-US" altLang="zh-CN" sz="1800" kern="100" dirty="0">
                <a:effectLst/>
                <a:latin typeface="Arial" panose="020B0604020202020204" pitchFamily="34" charset="0"/>
                <a:ea typeface="宋体" panose="02010600030101010101" pitchFamily="2" charset="-122"/>
              </a:rPr>
              <a:t>ELSE</a:t>
            </a:r>
          </a:p>
          <a:p>
            <a:pPr indent="276225" algn="just"/>
            <a:r>
              <a:rPr lang="en-US" altLang="zh-CN" sz="1800" kern="100" dirty="0">
                <a:effectLst/>
                <a:latin typeface="Arial" panose="020B0604020202020204" pitchFamily="34" charset="0"/>
                <a:ea typeface="宋体" panose="02010600030101010101" pitchFamily="2" charset="-122"/>
              </a:rPr>
              <a:t>    g</a:t>
            </a:r>
          </a:p>
          <a:p>
            <a:pPr indent="276225" algn="just"/>
            <a:r>
              <a:rPr lang="en-US" altLang="zh-CN" kern="100" dirty="0">
                <a:latin typeface="Arial" panose="020B0604020202020204" pitchFamily="34" charset="0"/>
                <a:ea typeface="宋体" panose="02010600030101010101" pitchFamily="2" charset="-122"/>
              </a:rPr>
              <a:t>    p</a:t>
            </a:r>
            <a:endParaRPr lang="zh-CN" altLang="zh-CN" sz="1800" kern="100" dirty="0">
              <a:effectLst/>
              <a:latin typeface="Times New Roman" panose="02020603050405020304" pitchFamily="18" charset="0"/>
              <a:ea typeface="宋体" panose="02010600030101010101" pitchFamily="2" charset="-122"/>
            </a:endParaRPr>
          </a:p>
          <a:p>
            <a:pPr indent="276225" algn="just"/>
            <a:r>
              <a:rPr lang="en-US" altLang="zh-CN" sz="1800" kern="100" dirty="0">
                <a:effectLst/>
                <a:latin typeface="Arial" panose="020B0604020202020204" pitchFamily="34" charset="0"/>
                <a:ea typeface="宋体" panose="02010600030101010101" pitchFamily="2" charset="-122"/>
              </a:rPr>
              <a:t>ENDIF</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Arial" panose="020B0604020202020204" pitchFamily="34" charset="0"/>
                <a:ea typeface="宋体" panose="02010600030101010101" pitchFamily="2" charset="-122"/>
              </a:rPr>
              <a:t>  REPEAT UNTIL C3</a:t>
            </a:r>
            <a:endParaRPr lang="zh-CN" altLang="zh-CN" sz="1800" kern="100" dirty="0">
              <a:effectLst/>
              <a:latin typeface="Times New Roman" panose="02020603050405020304" pitchFamily="18" charset="0"/>
              <a:ea typeface="宋体" panose="02010600030101010101" pitchFamily="2" charset="-122"/>
            </a:endParaRPr>
          </a:p>
          <a:p>
            <a:pPr indent="342900" algn="just"/>
            <a:r>
              <a:rPr lang="en-US" altLang="zh-CN" sz="1800" kern="100" dirty="0">
                <a:effectLst/>
                <a:latin typeface="Arial" panose="020B0604020202020204" pitchFamily="34" charset="0"/>
                <a:ea typeface="宋体" panose="02010600030101010101" pitchFamily="2" charset="-122"/>
              </a:rPr>
              <a:t>q</a:t>
            </a:r>
            <a:endParaRPr lang="zh-CN" altLang="zh-CN" sz="1800" kern="100" dirty="0">
              <a:effectLst/>
              <a:latin typeface="Times New Roman" panose="02020603050405020304" pitchFamily="18" charset="0"/>
              <a:ea typeface="宋体" panose="02010600030101010101" pitchFamily="2" charset="-122"/>
            </a:endParaRPr>
          </a:p>
          <a:p>
            <a:pPr indent="342900" algn="just"/>
            <a:r>
              <a:rPr lang="en-US" altLang="zh-CN" sz="1800" kern="100" dirty="0">
                <a:effectLst/>
                <a:latin typeface="Arial" panose="020B0604020202020204" pitchFamily="34" charset="0"/>
                <a:ea typeface="宋体" panose="02010600030101010101" pitchFamily="2" charset="-122"/>
              </a:rPr>
              <a:t>r</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Arial" panose="020B0604020202020204" pitchFamily="34" charset="0"/>
                <a:ea typeface="宋体" panose="02010600030101010101" pitchFamily="2" charset="-122"/>
              </a:rPr>
              <a:t>  ENDREP</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Arial" panose="020B0604020202020204" pitchFamily="34" charset="0"/>
                <a:ea typeface="宋体" panose="02010600030101010101" pitchFamily="2" charset="-122"/>
              </a:rPr>
              <a:t>  STOP</a:t>
            </a:r>
            <a:endParaRPr lang="zh-CN" altLang="zh-CN" sz="18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1441632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556985" y="575364"/>
            <a:ext cx="11025415" cy="3139613"/>
          </a:xfrm>
        </p:spPr>
        <p:txBody>
          <a:bodyPr>
            <a:noAutofit/>
          </a:bodyPr>
          <a:lstStyle/>
          <a:p>
            <a:pPr>
              <a:lnSpc>
                <a:spcPct val="100000"/>
              </a:lnSpc>
            </a:pPr>
            <a:r>
              <a:rPr lang="en-US" altLang="zh-CN" sz="2800" dirty="0"/>
              <a:t>【</a:t>
            </a:r>
            <a:r>
              <a:rPr lang="zh-CN" altLang="en-US" sz="2800" dirty="0"/>
              <a:t>应用</a:t>
            </a:r>
            <a:r>
              <a:rPr lang="en-US" altLang="zh-CN" sz="2800" dirty="0"/>
              <a:t>】</a:t>
            </a:r>
            <a:r>
              <a:rPr lang="zh-CN" altLang="en-US" sz="2800" dirty="0"/>
              <a:t>请根据下面的描述，画出学生选课管理系统的顶层数据流图：学生向系统提交选课申请，系统根据课程信息对选课申请进行处理，形成选课记录，并将选课结果返回给学生；教务员负责课程信息的维护。通过该图可以看出，数据流图能够较清楚地表示系统的数据来源、处理过程、存储位置和输出结果。</a:t>
            </a:r>
            <a:br>
              <a:rPr lang="en-US" altLang="zh-CN" sz="2800" dirty="0"/>
            </a:br>
            <a:br>
              <a:rPr lang="en-US" altLang="zh-CN" sz="2800" dirty="0"/>
            </a:br>
            <a:br>
              <a:rPr lang="en-US" altLang="zh-CN" sz="2800" dirty="0"/>
            </a:br>
            <a:endParaRPr lang="zh-CN" altLang="en-US" sz="2800" dirty="0"/>
          </a:p>
        </p:txBody>
      </p:sp>
      <p:pic>
        <p:nvPicPr>
          <p:cNvPr id="5" name="图片 4">
            <a:extLst>
              <a:ext uri="{FF2B5EF4-FFF2-40B4-BE49-F238E27FC236}">
                <a16:creationId xmlns:a16="http://schemas.microsoft.com/office/drawing/2014/main" id="{84097107-7B6C-4492-83A8-A087DCFD4668}"/>
              </a:ext>
            </a:extLst>
          </p:cNvPr>
          <p:cNvPicPr/>
          <p:nvPr/>
        </p:nvPicPr>
        <p:blipFill>
          <a:blip r:embed="rId2"/>
          <a:stretch>
            <a:fillRect/>
          </a:stretch>
        </p:blipFill>
        <p:spPr>
          <a:xfrm>
            <a:off x="1932622" y="2632619"/>
            <a:ext cx="8113078" cy="4225381"/>
          </a:xfrm>
          <a:prstGeom prst="rect">
            <a:avLst/>
          </a:prstGeom>
          <a:noFill/>
          <a:ln>
            <a:noFill/>
          </a:ln>
        </p:spPr>
      </p:pic>
    </p:spTree>
    <p:extLst>
      <p:ext uri="{BB962C8B-B14F-4D97-AF65-F5344CB8AC3E}">
        <p14:creationId xmlns:p14="http://schemas.microsoft.com/office/powerpoint/2010/main" val="290818218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B791F8-EFE5-4B03-BF9A-FF55D6040F58}"/>
              </a:ext>
            </a:extLst>
          </p:cNvPr>
          <p:cNvSpPr>
            <a:spLocks noGrp="1"/>
          </p:cNvSpPr>
          <p:nvPr>
            <p:ph type="title"/>
          </p:nvPr>
        </p:nvSpPr>
        <p:spPr/>
        <p:txBody>
          <a:bodyPr/>
          <a:lstStyle/>
          <a:p>
            <a:r>
              <a:rPr lang="zh-CN" altLang="en-US" dirty="0"/>
              <a:t>需求分析</a:t>
            </a:r>
          </a:p>
        </p:txBody>
      </p:sp>
      <p:sp>
        <p:nvSpPr>
          <p:cNvPr id="5" name="内容占位符 2">
            <a:extLst>
              <a:ext uri="{FF2B5EF4-FFF2-40B4-BE49-F238E27FC236}">
                <a16:creationId xmlns:a16="http://schemas.microsoft.com/office/drawing/2014/main" id="{4396239A-0820-4CBF-B9EF-11C5F89D9DCE}"/>
              </a:ext>
            </a:extLst>
          </p:cNvPr>
          <p:cNvSpPr txBox="1">
            <a:spLocks/>
          </p:cNvSpPr>
          <p:nvPr/>
        </p:nvSpPr>
        <p:spPr>
          <a:xfrm>
            <a:off x="838200" y="1825625"/>
            <a:ext cx="1074157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2</a:t>
            </a:r>
            <a:r>
              <a:rPr lang="zh-CN" altLang="en-US" dirty="0"/>
              <a:t>）事件分解技术</a:t>
            </a:r>
            <a:endParaRPr lang="en-US" altLang="zh-CN" dirty="0"/>
          </a:p>
          <a:p>
            <a:endParaRPr lang="en-US" altLang="zh-CN" dirty="0"/>
          </a:p>
          <a:p>
            <a:r>
              <a:rPr lang="zh-CN" altLang="en-US" dirty="0"/>
              <a:t>外部事件</a:t>
            </a:r>
            <a:r>
              <a:rPr lang="en-US" altLang="zh-CN" dirty="0"/>
              <a:t>:</a:t>
            </a:r>
            <a:r>
              <a:rPr lang="zh-CN" altLang="en-US" dirty="0"/>
              <a:t>外部事件发生在系统外部的事件，通常由外部代理或参与者发起</a:t>
            </a:r>
            <a:br>
              <a:rPr lang="zh-CN" altLang="en-US" dirty="0"/>
            </a:br>
            <a:endParaRPr lang="zh-CN" altLang="en-US" dirty="0"/>
          </a:p>
          <a:p>
            <a:r>
              <a:rPr lang="zh-CN" altLang="en-US" dirty="0"/>
              <a:t>时间事件</a:t>
            </a:r>
            <a:r>
              <a:rPr lang="en-US" altLang="zh-CN" dirty="0"/>
              <a:t>:</a:t>
            </a:r>
            <a:r>
              <a:rPr lang="zh-CN" altLang="en-US" dirty="0"/>
              <a:t>时间事件由于到达某个时间点而发生的事件</a:t>
            </a:r>
            <a:br>
              <a:rPr lang="zh-CN" altLang="en-US" dirty="0"/>
            </a:br>
            <a:endParaRPr lang="zh-CN" altLang="en-US" dirty="0"/>
          </a:p>
          <a:p>
            <a:r>
              <a:rPr lang="zh-CN" altLang="en-US" dirty="0"/>
              <a:t>状态事件</a:t>
            </a:r>
            <a:r>
              <a:rPr lang="en-US" altLang="zh-CN" dirty="0"/>
              <a:t>:</a:t>
            </a:r>
            <a:r>
              <a:rPr lang="zh-CN" altLang="en-US" dirty="0"/>
              <a:t>状态事件</a:t>
            </a:r>
            <a:r>
              <a:rPr lang="en-US" altLang="zh-CN" dirty="0"/>
              <a:t>(</a:t>
            </a:r>
            <a:r>
              <a:rPr lang="zh-CN" altLang="en-US" dirty="0"/>
              <a:t>内部事件</a:t>
            </a:r>
            <a:r>
              <a:rPr lang="en-US" altLang="zh-CN" dirty="0"/>
              <a:t>):</a:t>
            </a:r>
            <a:r>
              <a:rPr lang="zh-CN" altLang="en-US" dirty="0"/>
              <a:t>当系统内部发生某些事情时发生的事件（库存物品到达重新订购点）</a:t>
            </a:r>
          </a:p>
          <a:p>
            <a:pPr lvl="1"/>
            <a:endParaRPr lang="en-US" altLang="zh-CN" dirty="0"/>
          </a:p>
          <a:p>
            <a:endParaRPr lang="zh-CN" altLang="en-US" dirty="0"/>
          </a:p>
          <a:p>
            <a:endParaRPr lang="en-US" altLang="zh-CN" b="1" dirty="0">
              <a:solidFill>
                <a:srgbClr val="C00000"/>
              </a:solidFill>
            </a:endParaRPr>
          </a:p>
          <a:p>
            <a:endParaRPr lang="zh-CN" altLang="en-US" dirty="0"/>
          </a:p>
        </p:txBody>
      </p:sp>
    </p:spTree>
    <p:extLst>
      <p:ext uri="{BB962C8B-B14F-4D97-AF65-F5344CB8AC3E}">
        <p14:creationId xmlns:p14="http://schemas.microsoft.com/office/powerpoint/2010/main" val="54717761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大纲</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软件工程概念</a:t>
            </a:r>
            <a:endParaRPr lang="en-US" altLang="zh-CN" dirty="0"/>
          </a:p>
          <a:p>
            <a:r>
              <a:rPr lang="zh-CN" altLang="en-US" dirty="0"/>
              <a:t>项目立项</a:t>
            </a:r>
            <a:endParaRPr lang="en-US" altLang="zh-CN" dirty="0"/>
          </a:p>
          <a:p>
            <a:r>
              <a:rPr lang="zh-CN" altLang="en-US" dirty="0"/>
              <a:t>需求分析</a:t>
            </a:r>
            <a:endParaRPr lang="en-US" altLang="zh-CN" dirty="0"/>
          </a:p>
          <a:p>
            <a:r>
              <a:rPr lang="zh-CN" altLang="en-US" dirty="0">
                <a:solidFill>
                  <a:srgbClr val="C00000"/>
                </a:solidFill>
              </a:rPr>
              <a:t>系统设计</a:t>
            </a:r>
            <a:endParaRPr lang="en-US" altLang="zh-CN" dirty="0">
              <a:solidFill>
                <a:srgbClr val="C00000"/>
              </a:solidFill>
            </a:endParaRPr>
          </a:p>
          <a:p>
            <a:r>
              <a:rPr lang="zh-CN" altLang="en-US" dirty="0"/>
              <a:t>系统实现</a:t>
            </a:r>
            <a:endParaRPr lang="en-US" altLang="zh-CN" dirty="0"/>
          </a:p>
          <a:p>
            <a:r>
              <a:rPr lang="zh-CN" altLang="en-US" dirty="0"/>
              <a:t>软件测试</a:t>
            </a:r>
          </a:p>
        </p:txBody>
      </p:sp>
    </p:spTree>
    <p:extLst>
      <p:ext uri="{BB962C8B-B14F-4D97-AF65-F5344CB8AC3E}">
        <p14:creationId xmlns:p14="http://schemas.microsoft.com/office/powerpoint/2010/main" val="410562592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系统设计</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normAutofit/>
          </a:bodyPr>
          <a:lstStyle/>
          <a:p>
            <a:pPr>
              <a:lnSpc>
                <a:spcPct val="110000"/>
              </a:lnSpc>
            </a:pPr>
            <a:r>
              <a:rPr lang="zh-CN" altLang="en-US" b="1" dirty="0"/>
              <a:t>概念：</a:t>
            </a:r>
            <a:r>
              <a:rPr lang="zh-CN" altLang="en-US" dirty="0"/>
              <a:t>软件设计阶段的核心任务，是细化需求分析模型，最终形成设计模型和设计文档。</a:t>
            </a:r>
            <a:endParaRPr lang="en-US" altLang="zh-CN" dirty="0"/>
          </a:p>
          <a:p>
            <a:pPr>
              <a:lnSpc>
                <a:spcPct val="110000"/>
              </a:lnSpc>
            </a:pPr>
            <a:r>
              <a:rPr lang="zh-CN" altLang="en-US" b="1" dirty="0"/>
              <a:t>系统设计的两个阶段：</a:t>
            </a:r>
            <a:endParaRPr lang="en-US" altLang="zh-CN" b="1" dirty="0"/>
          </a:p>
          <a:p>
            <a:pPr>
              <a:lnSpc>
                <a:spcPct val="110000"/>
              </a:lnSpc>
            </a:pPr>
            <a:r>
              <a:rPr lang="zh-CN" altLang="en-US" dirty="0"/>
              <a:t>概要设计：描述软件的总体体系结构，回答软件系统整体由哪些模块组成、模块间的关系如何、数据结构与数据库如何设计等宏观问题</a:t>
            </a:r>
            <a:endParaRPr lang="en-US" altLang="zh-CN" dirty="0"/>
          </a:p>
          <a:p>
            <a:pPr>
              <a:lnSpc>
                <a:spcPct val="110000"/>
              </a:lnSpc>
            </a:pPr>
            <a:r>
              <a:rPr lang="zh-CN" altLang="en-US" dirty="0"/>
              <a:t>详细设计：在确定总体体系结构后，对每个模块的具体执行过程、算法实现、数据定义等细节进行进一步细化设计，</a:t>
            </a:r>
            <a:endParaRPr lang="en-US" altLang="zh-CN" dirty="0"/>
          </a:p>
        </p:txBody>
      </p:sp>
      <p:sp>
        <p:nvSpPr>
          <p:cNvPr id="4" name="Rectangle 2">
            <a:extLst>
              <a:ext uri="{FF2B5EF4-FFF2-40B4-BE49-F238E27FC236}">
                <a16:creationId xmlns:a16="http://schemas.microsoft.com/office/drawing/2014/main" id="{FE177EF1-6CF1-4C11-85A9-1843E354B3C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95121190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系统设计</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normAutofit fontScale="92500" lnSpcReduction="20000"/>
          </a:bodyPr>
          <a:lstStyle/>
          <a:p>
            <a:pPr>
              <a:lnSpc>
                <a:spcPct val="110000"/>
              </a:lnSpc>
            </a:pPr>
            <a:r>
              <a:rPr lang="zh-CN" altLang="en-US" b="1" dirty="0"/>
              <a:t>设计原理：</a:t>
            </a:r>
            <a:endParaRPr lang="en-US" altLang="zh-CN" b="1" dirty="0"/>
          </a:p>
          <a:p>
            <a:pPr>
              <a:lnSpc>
                <a:spcPct val="110000"/>
              </a:lnSpc>
            </a:pPr>
            <a:r>
              <a:rPr lang="en-US" altLang="zh-CN" b="1" dirty="0"/>
              <a:t>1</a:t>
            </a:r>
            <a:r>
              <a:rPr lang="zh-CN" altLang="en-US" b="1" dirty="0"/>
              <a:t>）模块化：</a:t>
            </a:r>
            <a:r>
              <a:rPr lang="zh-CN" altLang="en-US" dirty="0"/>
              <a:t>指将一个复杂的软件系统按照功能分解为若干相对独立、相互协作的模块，每个模块完成特定的子功能，通过模块之间的组合构成完整的系统。</a:t>
            </a:r>
            <a:endParaRPr lang="en-US" altLang="zh-CN" dirty="0"/>
          </a:p>
          <a:p>
            <a:pPr>
              <a:lnSpc>
                <a:spcPct val="110000"/>
              </a:lnSpc>
            </a:pPr>
            <a:r>
              <a:rPr lang="en-US" altLang="zh-CN" dirty="0"/>
              <a:t>2</a:t>
            </a:r>
            <a:r>
              <a:rPr lang="zh-CN" altLang="en-US" dirty="0"/>
              <a:t>）</a:t>
            </a:r>
            <a:r>
              <a:rPr lang="zh-CN" altLang="en-US" b="1" dirty="0"/>
              <a:t>抽象</a:t>
            </a:r>
            <a:r>
              <a:rPr lang="zh-CN" altLang="en-US" dirty="0"/>
              <a:t>是认识复杂现象过程中使用的思维工具，即抽出事物本质的共同特性而暂不考虑它的细节，不考虑其他因素。</a:t>
            </a:r>
            <a:endParaRPr lang="en-US" altLang="zh-CN" dirty="0"/>
          </a:p>
          <a:p>
            <a:pPr>
              <a:lnSpc>
                <a:spcPct val="110000"/>
              </a:lnSpc>
            </a:pPr>
            <a:r>
              <a:rPr lang="en-US" altLang="zh-CN" dirty="0"/>
              <a:t>3</a:t>
            </a:r>
            <a:r>
              <a:rPr lang="zh-CN" altLang="en-US" dirty="0"/>
              <a:t>）</a:t>
            </a:r>
            <a:r>
              <a:rPr lang="zh-CN" altLang="en-US" b="1" dirty="0"/>
              <a:t>信息隐蔽</a:t>
            </a:r>
            <a:r>
              <a:rPr lang="en-US" altLang="zh-CN" dirty="0"/>
              <a:t>(Information Hiding)</a:t>
            </a:r>
            <a:r>
              <a:rPr lang="zh-CN" altLang="en-US" dirty="0"/>
              <a:t>是指将模块内部实现细节隐藏起来，仅通过公开的接口与外部进行交互。</a:t>
            </a:r>
            <a:endParaRPr lang="en-US" altLang="zh-CN" dirty="0"/>
          </a:p>
          <a:p>
            <a:pPr>
              <a:lnSpc>
                <a:spcPct val="110000"/>
              </a:lnSpc>
            </a:pPr>
            <a:r>
              <a:rPr lang="en-US" altLang="zh-CN" dirty="0"/>
              <a:t>4</a:t>
            </a:r>
            <a:r>
              <a:rPr lang="zh-CN" altLang="en-US" dirty="0"/>
              <a:t>）</a:t>
            </a:r>
            <a:r>
              <a:rPr lang="zh-CN" altLang="en-US" b="1" dirty="0"/>
              <a:t>模块独立性</a:t>
            </a:r>
            <a:r>
              <a:rPr lang="zh-CN" altLang="en-US" dirty="0"/>
              <a:t>是指每个模块在功能上具有明确、单一的职责，并且模块之间的依赖关系尽可能弱。</a:t>
            </a:r>
            <a:endParaRPr lang="en-US" altLang="zh-CN" dirty="0"/>
          </a:p>
        </p:txBody>
      </p:sp>
      <p:sp>
        <p:nvSpPr>
          <p:cNvPr id="4" name="Rectangle 2">
            <a:extLst>
              <a:ext uri="{FF2B5EF4-FFF2-40B4-BE49-F238E27FC236}">
                <a16:creationId xmlns:a16="http://schemas.microsoft.com/office/drawing/2014/main" id="{FE177EF1-6CF1-4C11-85A9-1843E354B3C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82012925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系统设计</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normAutofit/>
          </a:bodyPr>
          <a:lstStyle/>
          <a:p>
            <a:pPr>
              <a:lnSpc>
                <a:spcPct val="110000"/>
              </a:lnSpc>
            </a:pPr>
            <a:r>
              <a:rPr lang="zh-CN" altLang="en-US" b="1" dirty="0"/>
              <a:t>设计原理：</a:t>
            </a:r>
            <a:endParaRPr lang="en-US" altLang="zh-CN" b="1" dirty="0"/>
          </a:p>
          <a:p>
            <a:pPr>
              <a:lnSpc>
                <a:spcPct val="110000"/>
              </a:lnSpc>
            </a:pPr>
            <a:r>
              <a:rPr lang="zh-CN" altLang="en-US" b="1" dirty="0"/>
              <a:t>模块独立性：</a:t>
            </a:r>
            <a:r>
              <a:rPr lang="zh-CN" altLang="en-US" dirty="0"/>
              <a:t>通常通过</a:t>
            </a:r>
            <a:r>
              <a:rPr lang="zh-CN" altLang="en-US" u="sng" dirty="0"/>
              <a:t>耦合性</a:t>
            </a:r>
            <a:r>
              <a:rPr lang="zh-CN" altLang="en-US" dirty="0"/>
              <a:t>和</a:t>
            </a:r>
            <a:r>
              <a:rPr lang="zh-CN" altLang="en-US" u="sng" dirty="0"/>
              <a:t>内聚性</a:t>
            </a:r>
            <a:r>
              <a:rPr lang="zh-CN" altLang="en-US" dirty="0"/>
              <a:t>两个维度来度量。</a:t>
            </a:r>
            <a:endParaRPr lang="en-US" altLang="zh-CN" dirty="0"/>
          </a:p>
          <a:p>
            <a:pPr lvl="1">
              <a:lnSpc>
                <a:spcPct val="110000"/>
              </a:lnSpc>
            </a:pPr>
            <a:r>
              <a:rPr lang="zh-CN" altLang="en-US" dirty="0"/>
              <a:t>耦合性</a:t>
            </a:r>
            <a:r>
              <a:rPr lang="en-US" altLang="zh-CN" dirty="0"/>
              <a:t>(Coupling)</a:t>
            </a:r>
            <a:r>
              <a:rPr lang="zh-CN" altLang="en-US" dirty="0"/>
              <a:t>衡量模块之间相互依赖的紧密程度。耦合性越低，模块之间的独立性越强，系统越易于维护和修改。模块之间联系越紧密，其耦合性就越强，模块的独立性则越差。</a:t>
            </a:r>
            <a:endParaRPr lang="en-US" altLang="zh-CN" dirty="0"/>
          </a:p>
        </p:txBody>
      </p:sp>
      <p:sp>
        <p:nvSpPr>
          <p:cNvPr id="4" name="Rectangle 2">
            <a:extLst>
              <a:ext uri="{FF2B5EF4-FFF2-40B4-BE49-F238E27FC236}">
                <a16:creationId xmlns:a16="http://schemas.microsoft.com/office/drawing/2014/main" id="{FE177EF1-6CF1-4C11-85A9-1843E354B3C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6" name="图片 5">
            <a:extLst>
              <a:ext uri="{FF2B5EF4-FFF2-40B4-BE49-F238E27FC236}">
                <a16:creationId xmlns:a16="http://schemas.microsoft.com/office/drawing/2014/main" id="{24C7945D-F3A2-491D-80E2-F94B280D7F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1316" y="4437983"/>
            <a:ext cx="8035859" cy="1362010"/>
          </a:xfrm>
          <a:prstGeom prst="rect">
            <a:avLst/>
          </a:prstGeom>
        </p:spPr>
      </p:pic>
    </p:spTree>
    <p:extLst>
      <p:ext uri="{BB962C8B-B14F-4D97-AF65-F5344CB8AC3E}">
        <p14:creationId xmlns:p14="http://schemas.microsoft.com/office/powerpoint/2010/main" val="357709298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1000368" y="1563341"/>
            <a:ext cx="8382000" cy="4419600"/>
          </a:xfrm>
        </p:spPr>
        <p:txBody>
          <a:bodyPr/>
          <a:lstStyle/>
          <a:p>
            <a:pPr eaLnBrk="1" hangingPunct="1">
              <a:lnSpc>
                <a:spcPct val="125000"/>
              </a:lnSpc>
            </a:pPr>
            <a:r>
              <a:rPr lang="zh-CN" altLang="en-US" b="1" dirty="0">
                <a:ea typeface="宋体" panose="02010600030101010101" pitchFamily="2" charset="-122"/>
              </a:rPr>
              <a:t>耦合</a:t>
            </a:r>
          </a:p>
        </p:txBody>
      </p:sp>
      <p:pic>
        <p:nvPicPr>
          <p:cNvPr id="24" name="图片 23">
            <a:extLst>
              <a:ext uri="{FF2B5EF4-FFF2-40B4-BE49-F238E27FC236}">
                <a16:creationId xmlns:a16="http://schemas.microsoft.com/office/drawing/2014/main" id="{B9DA006C-5CAE-451E-98A5-DB4D69347C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0954" y="875059"/>
            <a:ext cx="7037753" cy="1192839"/>
          </a:xfrm>
          <a:prstGeom prst="rect">
            <a:avLst/>
          </a:prstGeom>
        </p:spPr>
      </p:pic>
      <p:sp>
        <p:nvSpPr>
          <p:cNvPr id="25" name="文本框 24">
            <a:extLst>
              <a:ext uri="{FF2B5EF4-FFF2-40B4-BE49-F238E27FC236}">
                <a16:creationId xmlns:a16="http://schemas.microsoft.com/office/drawing/2014/main" id="{A09621FF-37F9-4599-BC47-29993F8C2673}"/>
              </a:ext>
            </a:extLst>
          </p:cNvPr>
          <p:cNvSpPr txBox="1"/>
          <p:nvPr/>
        </p:nvSpPr>
        <p:spPr>
          <a:xfrm>
            <a:off x="1371598" y="2136669"/>
            <a:ext cx="9097109" cy="3142463"/>
          </a:xfrm>
          <a:prstGeom prst="rect">
            <a:avLst/>
          </a:prstGeom>
          <a:noFill/>
        </p:spPr>
        <p:txBody>
          <a:bodyPr wrap="square">
            <a:spAutoFit/>
          </a:bodyPr>
          <a:lstStyle/>
          <a:p>
            <a:pPr eaLnBrk="1" hangingPunct="1">
              <a:lnSpc>
                <a:spcPct val="125000"/>
              </a:lnSpc>
              <a:spcBef>
                <a:spcPct val="0"/>
              </a:spcBef>
            </a:pPr>
            <a:r>
              <a:rPr lang="zh-CN" altLang="en-US" sz="2000" b="1" dirty="0">
                <a:solidFill>
                  <a:srgbClr val="C00000"/>
                </a:solidFill>
                <a:ea typeface="宋体" panose="02010600030101010101" pitchFamily="2" charset="-122"/>
              </a:rPr>
              <a:t>数据耦合：</a:t>
            </a:r>
            <a:r>
              <a:rPr lang="zh-CN" altLang="en-US" sz="2000" dirty="0">
                <a:latin typeface="Arial" panose="020B0604020202020204" pitchFamily="34" charset="0"/>
                <a:ea typeface="经典宋体简" charset="-122"/>
              </a:rPr>
              <a:t>两个模块彼此间通过参数交换信息，而且交换的信息仅仅是数据，那么这种耦合称为数据耦合。数据耦合是低耦合。系统中至少必须存在这种耦合</a:t>
            </a:r>
            <a:endParaRPr lang="en-US" altLang="zh-CN" sz="2000" dirty="0">
              <a:solidFill>
                <a:srgbClr val="C00000"/>
              </a:solidFill>
              <a:ea typeface="宋体" panose="02010600030101010101" pitchFamily="2" charset="-122"/>
            </a:endParaRPr>
          </a:p>
          <a:p>
            <a:pPr eaLnBrk="1" hangingPunct="1">
              <a:lnSpc>
                <a:spcPct val="125000"/>
              </a:lnSpc>
              <a:spcBef>
                <a:spcPct val="0"/>
              </a:spcBef>
            </a:pPr>
            <a:r>
              <a:rPr lang="zh-CN" altLang="en-US" sz="2000" b="1" dirty="0">
                <a:solidFill>
                  <a:srgbClr val="C00000"/>
                </a:solidFill>
                <a:ea typeface="宋体" panose="02010600030101010101" pitchFamily="2" charset="-122"/>
              </a:rPr>
              <a:t>控制耦合：</a:t>
            </a:r>
            <a:r>
              <a:rPr lang="zh-CN" altLang="en-US" sz="2000" dirty="0">
                <a:latin typeface="Arial" panose="020B0604020202020204" pitchFamily="34" charset="0"/>
                <a:ea typeface="经典宋体简" charset="-122"/>
              </a:rPr>
              <a:t>传递的信息中有控制信息</a:t>
            </a:r>
            <a:r>
              <a:rPr lang="en-US" altLang="zh-CN" sz="2000" dirty="0">
                <a:latin typeface="Arial" panose="020B0604020202020204" pitchFamily="34" charset="0"/>
                <a:ea typeface="经典宋体简" charset="-122"/>
              </a:rPr>
              <a:t>(</a:t>
            </a:r>
            <a:r>
              <a:rPr lang="zh-CN" altLang="en-US" sz="2000" dirty="0">
                <a:latin typeface="Arial" panose="020B0604020202020204" pitchFamily="34" charset="0"/>
                <a:ea typeface="经典宋体简" charset="-122"/>
              </a:rPr>
              <a:t>尽管有时这种控制信息以数据的形式出现</a:t>
            </a:r>
            <a:r>
              <a:rPr lang="en-US" altLang="zh-CN" sz="2000" dirty="0">
                <a:latin typeface="Arial" panose="020B0604020202020204" pitchFamily="34" charset="0"/>
                <a:ea typeface="经典宋体简" charset="-122"/>
              </a:rPr>
              <a:t>)</a:t>
            </a:r>
            <a:r>
              <a:rPr lang="zh-CN" altLang="en-US" sz="2000" dirty="0">
                <a:latin typeface="Arial" panose="020B0604020202020204" pitchFamily="34" charset="0"/>
                <a:ea typeface="经典宋体简" charset="-122"/>
              </a:rPr>
              <a:t>，则这种耦合称为控制耦合。控制耦合是中等程度的耦合。</a:t>
            </a:r>
            <a:endParaRPr lang="en-US" altLang="zh-CN" sz="2000" dirty="0">
              <a:latin typeface="Arial" panose="020B0604020202020204" pitchFamily="34" charset="0"/>
              <a:ea typeface="经典宋体简" charset="-122"/>
            </a:endParaRPr>
          </a:p>
          <a:p>
            <a:pPr eaLnBrk="1" hangingPunct="1">
              <a:lnSpc>
                <a:spcPct val="125000"/>
              </a:lnSpc>
              <a:spcBef>
                <a:spcPct val="0"/>
              </a:spcBef>
            </a:pPr>
            <a:r>
              <a:rPr lang="zh-CN" altLang="en-US" sz="2000" b="1" dirty="0">
                <a:solidFill>
                  <a:srgbClr val="C00000"/>
                </a:solidFill>
                <a:ea typeface="宋体" panose="02010600030101010101" pitchFamily="2" charset="-122"/>
              </a:rPr>
              <a:t>公共耦合：</a:t>
            </a:r>
            <a:r>
              <a:rPr lang="zh-CN" altLang="en-US" sz="2000" dirty="0">
                <a:latin typeface="Arial" panose="020B0604020202020204" pitchFamily="34" charset="0"/>
                <a:ea typeface="经典宋体简" charset="-122"/>
              </a:rPr>
              <a:t>当两个或多个模块通过一个公共数据环境相互作用时，它们之间的耦合称为公共环境耦合。公共环境可以是变量、共享的通信区、内存的公共覆盖区、任何存储介质上的文件、物理设备等。</a:t>
            </a:r>
            <a:endParaRPr lang="en-US" altLang="zh-CN" sz="2000" dirty="0">
              <a:latin typeface="Arial" panose="020B0604020202020204" pitchFamily="34" charset="0"/>
              <a:ea typeface="经典宋体简" charset="-122"/>
            </a:endParaRPr>
          </a:p>
          <a:p>
            <a:pPr eaLnBrk="1" hangingPunct="1">
              <a:lnSpc>
                <a:spcPct val="125000"/>
              </a:lnSpc>
              <a:spcBef>
                <a:spcPct val="0"/>
              </a:spcBef>
            </a:pPr>
            <a:endParaRPr lang="en-US" altLang="zh-CN" sz="2000" dirty="0">
              <a:solidFill>
                <a:srgbClr val="C00000"/>
              </a:solidFill>
              <a:ea typeface="宋体" panose="02010600030101010101" pitchFamily="2" charset="-122"/>
            </a:endParaRPr>
          </a:p>
        </p:txBody>
      </p:sp>
      <p:sp>
        <p:nvSpPr>
          <p:cNvPr id="26" name="标题 1">
            <a:extLst>
              <a:ext uri="{FF2B5EF4-FFF2-40B4-BE49-F238E27FC236}">
                <a16:creationId xmlns:a16="http://schemas.microsoft.com/office/drawing/2014/main" id="{3E22A171-7FF6-4128-9A00-856B353CB4FE}"/>
              </a:ext>
            </a:extLst>
          </p:cNvPr>
          <p:cNvSpPr>
            <a:spLocks noGrp="1"/>
          </p:cNvSpPr>
          <p:nvPr>
            <p:ph type="title"/>
          </p:nvPr>
        </p:nvSpPr>
        <p:spPr>
          <a:xfrm>
            <a:off x="838200" y="365125"/>
            <a:ext cx="10515600" cy="1325563"/>
          </a:xfrm>
        </p:spPr>
        <p:txBody>
          <a:bodyPr/>
          <a:lstStyle/>
          <a:p>
            <a:r>
              <a:rPr lang="zh-CN" altLang="en-US" dirty="0"/>
              <a:t>系统设计</a:t>
            </a:r>
          </a:p>
        </p:txBody>
      </p:sp>
    </p:spTree>
    <p:extLst>
      <p:ext uri="{BB962C8B-B14F-4D97-AF65-F5344CB8AC3E}">
        <p14:creationId xmlns:p14="http://schemas.microsoft.com/office/powerpoint/2010/main" val="113466222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1000368" y="1563341"/>
            <a:ext cx="8382000" cy="4419600"/>
          </a:xfrm>
        </p:spPr>
        <p:txBody>
          <a:bodyPr/>
          <a:lstStyle/>
          <a:p>
            <a:pPr eaLnBrk="1" hangingPunct="1">
              <a:lnSpc>
                <a:spcPct val="125000"/>
              </a:lnSpc>
            </a:pPr>
            <a:r>
              <a:rPr lang="zh-CN" altLang="en-US" b="1" dirty="0">
                <a:ea typeface="宋体" panose="02010600030101010101" pitchFamily="2" charset="-122"/>
              </a:rPr>
              <a:t>耦合</a:t>
            </a:r>
          </a:p>
        </p:txBody>
      </p:sp>
      <p:pic>
        <p:nvPicPr>
          <p:cNvPr id="24" name="图片 23">
            <a:extLst>
              <a:ext uri="{FF2B5EF4-FFF2-40B4-BE49-F238E27FC236}">
                <a16:creationId xmlns:a16="http://schemas.microsoft.com/office/drawing/2014/main" id="{B9DA006C-5CAE-451E-98A5-DB4D69347C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0954" y="875059"/>
            <a:ext cx="7037753" cy="1192839"/>
          </a:xfrm>
          <a:prstGeom prst="rect">
            <a:avLst/>
          </a:prstGeom>
        </p:spPr>
      </p:pic>
      <p:sp>
        <p:nvSpPr>
          <p:cNvPr id="25" name="文本框 24">
            <a:extLst>
              <a:ext uri="{FF2B5EF4-FFF2-40B4-BE49-F238E27FC236}">
                <a16:creationId xmlns:a16="http://schemas.microsoft.com/office/drawing/2014/main" id="{A09621FF-37F9-4599-BC47-29993F8C2673}"/>
              </a:ext>
            </a:extLst>
          </p:cNvPr>
          <p:cNvSpPr txBox="1"/>
          <p:nvPr/>
        </p:nvSpPr>
        <p:spPr>
          <a:xfrm>
            <a:off x="1371598" y="2136669"/>
            <a:ext cx="9097109" cy="4681346"/>
          </a:xfrm>
          <a:prstGeom prst="rect">
            <a:avLst/>
          </a:prstGeom>
          <a:noFill/>
        </p:spPr>
        <p:txBody>
          <a:bodyPr wrap="square">
            <a:spAutoFit/>
          </a:bodyPr>
          <a:lstStyle/>
          <a:p>
            <a:pPr eaLnBrk="1" hangingPunct="1">
              <a:lnSpc>
                <a:spcPct val="125000"/>
              </a:lnSpc>
              <a:spcBef>
                <a:spcPct val="0"/>
              </a:spcBef>
            </a:pPr>
            <a:r>
              <a:rPr lang="zh-CN" altLang="en-US" sz="2000" b="1" dirty="0">
                <a:solidFill>
                  <a:srgbClr val="C00000"/>
                </a:solidFill>
                <a:ea typeface="宋体" panose="02010600030101010101" pitchFamily="2" charset="-122"/>
              </a:rPr>
              <a:t>内容耦合：</a:t>
            </a:r>
            <a:r>
              <a:rPr lang="zh-CN" altLang="en-US" sz="2000" dirty="0">
                <a:latin typeface="Arial" panose="020B0604020202020204" pitchFamily="34" charset="0"/>
                <a:ea typeface="经典宋体简" charset="-122"/>
              </a:rPr>
              <a:t>最高程度的耦合是内容耦合。如果出现下列情况之一，两个模块间就发生了内容耦合。</a:t>
            </a:r>
          </a:p>
          <a:p>
            <a:pPr eaLnBrk="1" hangingPunct="1">
              <a:lnSpc>
                <a:spcPct val="125000"/>
              </a:lnSpc>
              <a:spcBef>
                <a:spcPct val="0"/>
              </a:spcBef>
            </a:pPr>
            <a:r>
              <a:rPr lang="zh-CN" altLang="en-US" sz="2000" dirty="0">
                <a:latin typeface="Arial" panose="020B0604020202020204" pitchFamily="34" charset="0"/>
                <a:ea typeface="经典宋体简" charset="-122"/>
              </a:rPr>
              <a:t>一个模块访问另一个模块的内部数据。</a:t>
            </a:r>
          </a:p>
          <a:p>
            <a:pPr eaLnBrk="1" hangingPunct="1">
              <a:lnSpc>
                <a:spcPct val="125000"/>
              </a:lnSpc>
              <a:spcBef>
                <a:spcPct val="0"/>
              </a:spcBef>
            </a:pPr>
            <a:r>
              <a:rPr lang="zh-CN" altLang="en-US" sz="2000" dirty="0">
                <a:latin typeface="Arial" panose="020B0604020202020204" pitchFamily="34" charset="0"/>
                <a:ea typeface="经典宋体简" charset="-122"/>
              </a:rPr>
              <a:t> 一个模块不通过正常入口而转到另一个模块的内部。</a:t>
            </a:r>
          </a:p>
          <a:p>
            <a:pPr eaLnBrk="1" hangingPunct="1">
              <a:lnSpc>
                <a:spcPct val="125000"/>
              </a:lnSpc>
              <a:spcBef>
                <a:spcPct val="0"/>
              </a:spcBef>
            </a:pPr>
            <a:r>
              <a:rPr lang="zh-CN" altLang="en-US" sz="2000" dirty="0">
                <a:latin typeface="Arial" panose="020B0604020202020204" pitchFamily="34" charset="0"/>
                <a:ea typeface="经典宋体简" charset="-122"/>
              </a:rPr>
              <a:t> 两个模块有一部分程序代码重叠</a:t>
            </a:r>
            <a:r>
              <a:rPr lang="en-US" altLang="zh-CN" sz="2000" dirty="0">
                <a:latin typeface="Arial" panose="020B0604020202020204" pitchFamily="34" charset="0"/>
                <a:ea typeface="经典宋体简" charset="-122"/>
              </a:rPr>
              <a:t>(</a:t>
            </a:r>
            <a:r>
              <a:rPr lang="zh-CN" altLang="en-US" sz="2000" dirty="0">
                <a:latin typeface="Arial" panose="020B0604020202020204" pitchFamily="34" charset="0"/>
                <a:ea typeface="经典宋体简" charset="-122"/>
              </a:rPr>
              <a:t>只可能出现在汇编程序中</a:t>
            </a:r>
            <a:r>
              <a:rPr lang="en-US" altLang="zh-CN" sz="2000" dirty="0">
                <a:latin typeface="Arial" panose="020B0604020202020204" pitchFamily="34" charset="0"/>
                <a:ea typeface="经典宋体简" charset="-122"/>
              </a:rPr>
              <a:t>)</a:t>
            </a:r>
            <a:r>
              <a:rPr lang="zh-CN" altLang="en-US" sz="2000" dirty="0">
                <a:latin typeface="Arial" panose="020B0604020202020204" pitchFamily="34" charset="0"/>
                <a:ea typeface="经典宋体简" charset="-122"/>
              </a:rPr>
              <a:t>。</a:t>
            </a:r>
          </a:p>
          <a:p>
            <a:pPr eaLnBrk="1" hangingPunct="1">
              <a:lnSpc>
                <a:spcPct val="125000"/>
              </a:lnSpc>
              <a:spcBef>
                <a:spcPct val="0"/>
              </a:spcBef>
            </a:pPr>
            <a:r>
              <a:rPr lang="zh-CN" altLang="en-US" sz="2000" dirty="0">
                <a:latin typeface="Arial" panose="020B0604020202020204" pitchFamily="34" charset="0"/>
                <a:ea typeface="经典宋体简" charset="-122"/>
              </a:rPr>
              <a:t> 一个模块有多个入口</a:t>
            </a:r>
            <a:r>
              <a:rPr lang="en-US" altLang="zh-CN" sz="2000" dirty="0">
                <a:latin typeface="Arial" panose="020B0604020202020204" pitchFamily="34" charset="0"/>
                <a:ea typeface="经典宋体简" charset="-122"/>
              </a:rPr>
              <a:t>(</a:t>
            </a:r>
            <a:r>
              <a:rPr lang="zh-CN" altLang="en-US" sz="2000" dirty="0">
                <a:latin typeface="Arial" panose="020B0604020202020204" pitchFamily="34" charset="0"/>
                <a:ea typeface="经典宋体简" charset="-122"/>
              </a:rPr>
              <a:t>这意味着一个模块有几种功能</a:t>
            </a:r>
            <a:r>
              <a:rPr lang="en-US" altLang="zh-CN" sz="2000" dirty="0">
                <a:latin typeface="Arial" panose="020B0604020202020204" pitchFamily="34" charset="0"/>
                <a:ea typeface="经典宋体简" charset="-122"/>
              </a:rPr>
              <a:t>)</a:t>
            </a:r>
            <a:r>
              <a:rPr lang="zh-CN" altLang="en-US" sz="2000" dirty="0">
                <a:latin typeface="Arial" panose="020B0604020202020204" pitchFamily="34" charset="0"/>
                <a:ea typeface="经典宋体简" charset="-122"/>
              </a:rPr>
              <a:t>。</a:t>
            </a:r>
          </a:p>
          <a:p>
            <a:pPr eaLnBrk="1" hangingPunct="1">
              <a:lnSpc>
                <a:spcPct val="125000"/>
              </a:lnSpc>
              <a:spcBef>
                <a:spcPct val="0"/>
              </a:spcBef>
            </a:pPr>
            <a:endParaRPr lang="zh-CN" altLang="en-US" sz="2000" dirty="0">
              <a:latin typeface="Arial" panose="020B0604020202020204" pitchFamily="34" charset="0"/>
              <a:ea typeface="经典宋体简" charset="-122"/>
            </a:endParaRPr>
          </a:p>
          <a:p>
            <a:pPr eaLnBrk="1" hangingPunct="1">
              <a:lnSpc>
                <a:spcPct val="125000"/>
              </a:lnSpc>
              <a:spcBef>
                <a:spcPct val="0"/>
              </a:spcBef>
            </a:pPr>
            <a:r>
              <a:rPr lang="zh-CN" altLang="en-US" sz="2000" dirty="0">
                <a:latin typeface="Arial" panose="020B0604020202020204" pitchFamily="34" charset="0"/>
                <a:ea typeface="经典宋体简" charset="-122"/>
              </a:rPr>
              <a:t>应该采取下述设计原则：</a:t>
            </a:r>
          </a:p>
          <a:p>
            <a:pPr marL="0" indent="0">
              <a:lnSpc>
                <a:spcPct val="125000"/>
              </a:lnSpc>
              <a:spcBef>
                <a:spcPct val="0"/>
              </a:spcBef>
              <a:buNone/>
            </a:pPr>
            <a:r>
              <a:rPr lang="zh-CN" altLang="en-US" sz="2000" dirty="0">
                <a:solidFill>
                  <a:srgbClr val="C00000"/>
                </a:solidFill>
                <a:latin typeface="Arial" panose="020B0604020202020204" pitchFamily="34" charset="0"/>
                <a:ea typeface="经典宋体简" charset="-122"/>
              </a:rPr>
              <a:t>   尽量使用数据耦合，少用控制耦合，限制公共环境耦合的范围，完全不用内容耦合。</a:t>
            </a:r>
          </a:p>
          <a:p>
            <a:pPr eaLnBrk="1" hangingPunct="1">
              <a:lnSpc>
                <a:spcPct val="125000"/>
              </a:lnSpc>
              <a:spcBef>
                <a:spcPct val="0"/>
              </a:spcBef>
            </a:pPr>
            <a:endParaRPr lang="zh-CN" altLang="en-US" sz="2000" dirty="0">
              <a:latin typeface="Arial" panose="020B0604020202020204" pitchFamily="34" charset="0"/>
              <a:ea typeface="经典宋体简" charset="-122"/>
            </a:endParaRPr>
          </a:p>
          <a:p>
            <a:pPr eaLnBrk="1" hangingPunct="1">
              <a:lnSpc>
                <a:spcPct val="125000"/>
              </a:lnSpc>
              <a:spcBef>
                <a:spcPct val="0"/>
              </a:spcBef>
            </a:pPr>
            <a:endParaRPr lang="en-US" altLang="zh-CN" sz="2000" dirty="0">
              <a:solidFill>
                <a:srgbClr val="C00000"/>
              </a:solidFill>
              <a:ea typeface="宋体" panose="02010600030101010101" pitchFamily="2" charset="-122"/>
            </a:endParaRPr>
          </a:p>
        </p:txBody>
      </p:sp>
      <p:sp>
        <p:nvSpPr>
          <p:cNvPr id="26" name="标题 1">
            <a:extLst>
              <a:ext uri="{FF2B5EF4-FFF2-40B4-BE49-F238E27FC236}">
                <a16:creationId xmlns:a16="http://schemas.microsoft.com/office/drawing/2014/main" id="{3E22A171-7FF6-4128-9A00-856B353CB4FE}"/>
              </a:ext>
            </a:extLst>
          </p:cNvPr>
          <p:cNvSpPr>
            <a:spLocks noGrp="1"/>
          </p:cNvSpPr>
          <p:nvPr>
            <p:ph type="title"/>
          </p:nvPr>
        </p:nvSpPr>
        <p:spPr>
          <a:xfrm>
            <a:off x="838200" y="365125"/>
            <a:ext cx="10515600" cy="1325563"/>
          </a:xfrm>
        </p:spPr>
        <p:txBody>
          <a:bodyPr/>
          <a:lstStyle/>
          <a:p>
            <a:r>
              <a:rPr lang="zh-CN" altLang="en-US" dirty="0"/>
              <a:t>系统设计</a:t>
            </a:r>
          </a:p>
        </p:txBody>
      </p:sp>
    </p:spTree>
    <p:extLst>
      <p:ext uri="{BB962C8B-B14F-4D97-AF65-F5344CB8AC3E}">
        <p14:creationId xmlns:p14="http://schemas.microsoft.com/office/powerpoint/2010/main" val="246939224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系统设计</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normAutofit/>
          </a:bodyPr>
          <a:lstStyle/>
          <a:p>
            <a:pPr>
              <a:lnSpc>
                <a:spcPct val="110000"/>
              </a:lnSpc>
            </a:pPr>
            <a:r>
              <a:rPr lang="zh-CN" altLang="en-US" b="1" dirty="0"/>
              <a:t>设计原理：</a:t>
            </a:r>
            <a:endParaRPr lang="en-US" altLang="zh-CN" b="1" dirty="0"/>
          </a:p>
          <a:p>
            <a:pPr>
              <a:lnSpc>
                <a:spcPct val="110000"/>
              </a:lnSpc>
            </a:pPr>
            <a:r>
              <a:rPr lang="zh-CN" altLang="en-US" b="1" dirty="0"/>
              <a:t>模块独立性：</a:t>
            </a:r>
            <a:r>
              <a:rPr lang="zh-CN" altLang="en-US" dirty="0"/>
              <a:t>通常通过</a:t>
            </a:r>
            <a:r>
              <a:rPr lang="zh-CN" altLang="en-US" u="sng" dirty="0"/>
              <a:t>耦合性</a:t>
            </a:r>
            <a:r>
              <a:rPr lang="zh-CN" altLang="en-US" dirty="0"/>
              <a:t>和</a:t>
            </a:r>
            <a:r>
              <a:rPr lang="zh-CN" altLang="en-US" u="sng" dirty="0"/>
              <a:t>内聚性</a:t>
            </a:r>
            <a:r>
              <a:rPr lang="zh-CN" altLang="en-US" dirty="0"/>
              <a:t>两个维度来度量。</a:t>
            </a:r>
            <a:endParaRPr lang="en-US" altLang="zh-CN" dirty="0"/>
          </a:p>
          <a:p>
            <a:pPr lvl="1">
              <a:lnSpc>
                <a:spcPct val="110000"/>
              </a:lnSpc>
            </a:pPr>
            <a:r>
              <a:rPr lang="zh-CN" altLang="en-US" dirty="0"/>
              <a:t>内聚性</a:t>
            </a:r>
            <a:r>
              <a:rPr lang="en-US" altLang="zh-CN" dirty="0"/>
              <a:t>(Cohesion)</a:t>
            </a:r>
            <a:r>
              <a:rPr lang="zh-CN" altLang="en-US" dirty="0"/>
              <a:t>衡量模块内部各元素之间结合的紧密程度。内聚性越高，模块内部元素越相关，模块的职责越单一。</a:t>
            </a:r>
            <a:endParaRPr lang="en-US" altLang="zh-CN" dirty="0"/>
          </a:p>
        </p:txBody>
      </p:sp>
      <p:sp>
        <p:nvSpPr>
          <p:cNvPr id="4" name="Rectangle 2">
            <a:extLst>
              <a:ext uri="{FF2B5EF4-FFF2-40B4-BE49-F238E27FC236}">
                <a16:creationId xmlns:a16="http://schemas.microsoft.com/office/drawing/2014/main" id="{FE177EF1-6CF1-4C11-85A9-1843E354B3C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7" name="图片 6">
            <a:extLst>
              <a:ext uri="{FF2B5EF4-FFF2-40B4-BE49-F238E27FC236}">
                <a16:creationId xmlns:a16="http://schemas.microsoft.com/office/drawing/2014/main" id="{C50DC527-0BE6-43FF-8695-714B6E1E68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2239" y="4173293"/>
            <a:ext cx="8035859" cy="1205645"/>
          </a:xfrm>
          <a:prstGeom prst="rect">
            <a:avLst/>
          </a:prstGeom>
        </p:spPr>
      </p:pic>
    </p:spTree>
    <p:extLst>
      <p:ext uri="{BB962C8B-B14F-4D97-AF65-F5344CB8AC3E}">
        <p14:creationId xmlns:p14="http://schemas.microsoft.com/office/powerpoint/2010/main" val="156081508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3">
            <a:extLst>
              <a:ext uri="{FF2B5EF4-FFF2-40B4-BE49-F238E27FC236}">
                <a16:creationId xmlns:a16="http://schemas.microsoft.com/office/drawing/2014/main" id="{F432533E-F133-439A-AB27-1EF55B029342}"/>
              </a:ext>
            </a:extLst>
          </p:cNvPr>
          <p:cNvSpPr>
            <a:spLocks noGrp="1" noChangeArrowheads="1"/>
          </p:cNvSpPr>
          <p:nvPr>
            <p:ph type="body" idx="1"/>
          </p:nvPr>
        </p:nvSpPr>
        <p:spPr>
          <a:xfrm>
            <a:off x="1000368" y="1563341"/>
            <a:ext cx="8382000" cy="4419600"/>
          </a:xfrm>
        </p:spPr>
        <p:txBody>
          <a:bodyPr/>
          <a:lstStyle/>
          <a:p>
            <a:pPr eaLnBrk="1" hangingPunct="1">
              <a:lnSpc>
                <a:spcPct val="125000"/>
              </a:lnSpc>
            </a:pPr>
            <a:r>
              <a:rPr lang="zh-CN" altLang="en-US" b="1" dirty="0">
                <a:ea typeface="宋体" panose="02010600030101010101" pitchFamily="2" charset="-122"/>
              </a:rPr>
              <a:t>内聚</a:t>
            </a:r>
          </a:p>
        </p:txBody>
      </p:sp>
      <p:sp>
        <p:nvSpPr>
          <p:cNvPr id="25" name="文本框 24">
            <a:extLst>
              <a:ext uri="{FF2B5EF4-FFF2-40B4-BE49-F238E27FC236}">
                <a16:creationId xmlns:a16="http://schemas.microsoft.com/office/drawing/2014/main" id="{A09621FF-37F9-4599-BC47-29993F8C2673}"/>
              </a:ext>
            </a:extLst>
          </p:cNvPr>
          <p:cNvSpPr txBox="1"/>
          <p:nvPr/>
        </p:nvSpPr>
        <p:spPr>
          <a:xfrm>
            <a:off x="1371598" y="2136669"/>
            <a:ext cx="9097109" cy="5450788"/>
          </a:xfrm>
          <a:prstGeom prst="rect">
            <a:avLst/>
          </a:prstGeom>
          <a:noFill/>
        </p:spPr>
        <p:txBody>
          <a:bodyPr wrap="square">
            <a:spAutoFit/>
          </a:bodyPr>
          <a:lstStyle/>
          <a:p>
            <a:pPr eaLnBrk="1" hangingPunct="1">
              <a:lnSpc>
                <a:spcPct val="125000"/>
              </a:lnSpc>
              <a:spcBef>
                <a:spcPct val="0"/>
              </a:spcBef>
            </a:pPr>
            <a:r>
              <a:rPr lang="zh-CN" altLang="en-US" sz="2000" b="1" dirty="0">
                <a:solidFill>
                  <a:srgbClr val="C00000"/>
                </a:solidFill>
                <a:ea typeface="宋体" panose="02010600030101010101" pitchFamily="2" charset="-122"/>
              </a:rPr>
              <a:t>巧合性内聚：</a:t>
            </a:r>
            <a:r>
              <a:rPr lang="zh-CN" altLang="en-US" sz="2000" b="1" dirty="0">
                <a:ea typeface="宋体" panose="02010600030101010101" pitchFamily="2" charset="-122"/>
              </a:rPr>
              <a:t>当模块内各部之间没有联系，或者即使有联系，这种联系也很松散。</a:t>
            </a:r>
            <a:endParaRPr lang="en-US" altLang="zh-CN" sz="2000" b="1" dirty="0">
              <a:ea typeface="宋体" panose="02010600030101010101" pitchFamily="2" charset="-122"/>
            </a:endParaRPr>
          </a:p>
          <a:p>
            <a:pPr eaLnBrk="1" hangingPunct="1">
              <a:lnSpc>
                <a:spcPct val="125000"/>
              </a:lnSpc>
              <a:spcBef>
                <a:spcPct val="0"/>
              </a:spcBef>
            </a:pPr>
            <a:r>
              <a:rPr lang="zh-CN" altLang="en-US" sz="2000" b="1" dirty="0">
                <a:solidFill>
                  <a:srgbClr val="C00000"/>
                </a:solidFill>
                <a:ea typeface="宋体" panose="02010600030101010101" pitchFamily="2" charset="-122"/>
              </a:rPr>
              <a:t>逻辑性内聚：</a:t>
            </a:r>
            <a:r>
              <a:rPr lang="zh-CN" altLang="en-US" sz="2000" b="1" dirty="0">
                <a:ea typeface="宋体" panose="02010600030101010101" pitchFamily="2" charset="-122"/>
              </a:rPr>
              <a:t>这种模块是把几种功能组合在一起，每次调用时，则由传递给模块的判定参数来确定该模块应执行哪一种功能。</a:t>
            </a:r>
            <a:endParaRPr lang="en-US" altLang="zh-CN" sz="2000" b="1" dirty="0">
              <a:ea typeface="宋体" panose="02010600030101010101" pitchFamily="2" charset="-122"/>
            </a:endParaRPr>
          </a:p>
          <a:p>
            <a:pPr eaLnBrk="1" hangingPunct="1">
              <a:lnSpc>
                <a:spcPct val="125000"/>
              </a:lnSpc>
              <a:spcBef>
                <a:spcPct val="0"/>
              </a:spcBef>
            </a:pPr>
            <a:r>
              <a:rPr lang="zh-CN" altLang="en-US" sz="2000" b="1" dirty="0">
                <a:solidFill>
                  <a:srgbClr val="C00000"/>
                </a:solidFill>
                <a:ea typeface="宋体" panose="02010600030101010101" pitchFamily="2" charset="-122"/>
              </a:rPr>
              <a:t>时间内聚：</a:t>
            </a:r>
            <a:r>
              <a:rPr lang="zh-CN" altLang="en-US" sz="2000" b="1" dirty="0">
                <a:ea typeface="宋体" panose="02010600030101010101" pitchFamily="2" charset="-122"/>
              </a:rPr>
              <a:t>一个模块包含的任务必须在同一段时间内执行，就叫时间内聚。</a:t>
            </a:r>
          </a:p>
          <a:p>
            <a:pPr eaLnBrk="1" hangingPunct="1">
              <a:lnSpc>
                <a:spcPct val="125000"/>
              </a:lnSpc>
              <a:spcBef>
                <a:spcPct val="0"/>
              </a:spcBef>
            </a:pPr>
            <a:r>
              <a:rPr lang="zh-CN" altLang="en-US" sz="2000" b="1" dirty="0">
                <a:solidFill>
                  <a:srgbClr val="C00000"/>
                </a:solidFill>
                <a:ea typeface="宋体" panose="02010600030101010101" pitchFamily="2" charset="-122"/>
              </a:rPr>
              <a:t>过程内聚：</a:t>
            </a:r>
            <a:r>
              <a:rPr lang="zh-CN" altLang="en-US" sz="2000" b="1" dirty="0">
                <a:ea typeface="宋体" panose="02010600030101010101" pitchFamily="2" charset="-122"/>
              </a:rPr>
              <a:t>一个模块内的处理元素是相关的，而且必须以特定次序执行，则称为过程内聚。</a:t>
            </a:r>
          </a:p>
          <a:p>
            <a:pPr eaLnBrk="1" hangingPunct="1">
              <a:lnSpc>
                <a:spcPct val="125000"/>
              </a:lnSpc>
              <a:spcBef>
                <a:spcPct val="0"/>
              </a:spcBef>
            </a:pPr>
            <a:r>
              <a:rPr lang="zh-CN" altLang="en-US" sz="2000" b="1" dirty="0">
                <a:solidFill>
                  <a:srgbClr val="C00000"/>
                </a:solidFill>
                <a:ea typeface="宋体" panose="02010600030101010101" pitchFamily="2" charset="-122"/>
              </a:rPr>
              <a:t>通信内聚：</a:t>
            </a:r>
            <a:r>
              <a:rPr lang="zh-CN" altLang="en-US" sz="2000" b="1" dirty="0">
                <a:ea typeface="宋体" panose="02010600030101010101" pitchFamily="2" charset="-122"/>
              </a:rPr>
              <a:t>模块中所有元素都使用同一个输入数据和</a:t>
            </a:r>
            <a:r>
              <a:rPr lang="en-US" altLang="zh-CN" sz="2000" b="1" dirty="0">
                <a:ea typeface="宋体" panose="02010600030101010101" pitchFamily="2" charset="-122"/>
              </a:rPr>
              <a:t>(</a:t>
            </a:r>
            <a:r>
              <a:rPr lang="zh-CN" altLang="en-US" sz="2000" b="1" dirty="0">
                <a:ea typeface="宋体" panose="02010600030101010101" pitchFamily="2" charset="-122"/>
              </a:rPr>
              <a:t>或</a:t>
            </a:r>
            <a:r>
              <a:rPr lang="en-US" altLang="zh-CN" sz="2000" b="1" dirty="0">
                <a:ea typeface="宋体" panose="02010600030101010101" pitchFamily="2" charset="-122"/>
              </a:rPr>
              <a:t>)</a:t>
            </a:r>
            <a:r>
              <a:rPr lang="zh-CN" altLang="en-US" sz="2000" b="1" dirty="0">
                <a:ea typeface="宋体" panose="02010600030101010101" pitchFamily="2" charset="-122"/>
              </a:rPr>
              <a:t>产生同一个输出数据，则称为通信内聚。</a:t>
            </a:r>
            <a:endParaRPr lang="en-US" altLang="zh-CN" sz="2000" b="1" dirty="0">
              <a:ea typeface="宋体" panose="02010600030101010101" pitchFamily="2" charset="-122"/>
            </a:endParaRPr>
          </a:p>
          <a:p>
            <a:pPr eaLnBrk="1" hangingPunct="1">
              <a:lnSpc>
                <a:spcPct val="125000"/>
              </a:lnSpc>
              <a:spcBef>
                <a:spcPct val="0"/>
              </a:spcBef>
            </a:pPr>
            <a:r>
              <a:rPr lang="zh-CN" altLang="en-US" sz="2000" b="1" dirty="0">
                <a:solidFill>
                  <a:srgbClr val="C00000"/>
                </a:solidFill>
                <a:ea typeface="宋体" panose="02010600030101010101" pitchFamily="2" charset="-122"/>
              </a:rPr>
              <a:t>功能性内聚：</a:t>
            </a:r>
            <a:r>
              <a:rPr lang="zh-CN" altLang="en-US" sz="2000" b="1" dirty="0">
                <a:ea typeface="宋体" panose="02010600030101010101" pitchFamily="2" charset="-122"/>
              </a:rPr>
              <a:t>模块内所有处理元素属于一个整体，完成一个单一的功能，则称为功能内聚。功能内聚是最高程度的内聚。</a:t>
            </a:r>
          </a:p>
          <a:p>
            <a:pPr eaLnBrk="1" hangingPunct="1">
              <a:lnSpc>
                <a:spcPct val="125000"/>
              </a:lnSpc>
              <a:spcBef>
                <a:spcPct val="0"/>
              </a:spcBef>
            </a:pPr>
            <a:r>
              <a:rPr lang="zh-CN" altLang="en-US" sz="2000" b="1" dirty="0">
                <a:ea typeface="宋体" panose="02010600030101010101" pitchFamily="2" charset="-122"/>
              </a:rPr>
              <a:t> </a:t>
            </a:r>
          </a:p>
          <a:p>
            <a:pPr eaLnBrk="1" hangingPunct="1">
              <a:lnSpc>
                <a:spcPct val="125000"/>
              </a:lnSpc>
              <a:spcBef>
                <a:spcPct val="0"/>
              </a:spcBef>
            </a:pPr>
            <a:endParaRPr lang="en-US" altLang="zh-CN" sz="2000" b="1" dirty="0">
              <a:ea typeface="宋体" panose="02010600030101010101" pitchFamily="2" charset="-122"/>
            </a:endParaRPr>
          </a:p>
          <a:p>
            <a:pPr eaLnBrk="1" hangingPunct="1">
              <a:lnSpc>
                <a:spcPct val="125000"/>
              </a:lnSpc>
              <a:spcBef>
                <a:spcPct val="0"/>
              </a:spcBef>
            </a:pPr>
            <a:endParaRPr lang="en-US" altLang="zh-CN" sz="2000" dirty="0">
              <a:ea typeface="宋体" panose="02010600030101010101" pitchFamily="2" charset="-122"/>
            </a:endParaRPr>
          </a:p>
        </p:txBody>
      </p:sp>
      <p:sp>
        <p:nvSpPr>
          <p:cNvPr id="26" name="标题 1">
            <a:extLst>
              <a:ext uri="{FF2B5EF4-FFF2-40B4-BE49-F238E27FC236}">
                <a16:creationId xmlns:a16="http://schemas.microsoft.com/office/drawing/2014/main" id="{3E22A171-7FF6-4128-9A00-856B353CB4FE}"/>
              </a:ext>
            </a:extLst>
          </p:cNvPr>
          <p:cNvSpPr>
            <a:spLocks noGrp="1"/>
          </p:cNvSpPr>
          <p:nvPr>
            <p:ph type="title"/>
          </p:nvPr>
        </p:nvSpPr>
        <p:spPr>
          <a:xfrm>
            <a:off x="838200" y="365125"/>
            <a:ext cx="10515600" cy="1325563"/>
          </a:xfrm>
        </p:spPr>
        <p:txBody>
          <a:bodyPr/>
          <a:lstStyle/>
          <a:p>
            <a:r>
              <a:rPr lang="zh-CN" altLang="en-US" dirty="0"/>
              <a:t>系统设计</a:t>
            </a:r>
          </a:p>
        </p:txBody>
      </p:sp>
      <p:pic>
        <p:nvPicPr>
          <p:cNvPr id="6" name="图片 5">
            <a:extLst>
              <a:ext uri="{FF2B5EF4-FFF2-40B4-BE49-F238E27FC236}">
                <a16:creationId xmlns:a16="http://schemas.microsoft.com/office/drawing/2014/main" id="{0F6576AA-1266-451A-8266-18457C8B08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17941" y="761678"/>
            <a:ext cx="7678305" cy="1152000"/>
          </a:xfrm>
          <a:prstGeom prst="rect">
            <a:avLst/>
          </a:prstGeom>
        </p:spPr>
      </p:pic>
    </p:spTree>
    <p:extLst>
      <p:ext uri="{BB962C8B-B14F-4D97-AF65-F5344CB8AC3E}">
        <p14:creationId xmlns:p14="http://schemas.microsoft.com/office/powerpoint/2010/main" val="267960724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系统设计</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normAutofit fontScale="92500" lnSpcReduction="10000"/>
          </a:bodyPr>
          <a:lstStyle/>
          <a:p>
            <a:pPr>
              <a:lnSpc>
                <a:spcPct val="110000"/>
              </a:lnSpc>
            </a:pPr>
            <a:r>
              <a:rPr lang="zh-CN" altLang="en-US" dirty="0"/>
              <a:t>概要设计：</a:t>
            </a:r>
            <a:endParaRPr lang="en-US" altLang="zh-CN" dirty="0"/>
          </a:p>
          <a:p>
            <a:pPr>
              <a:lnSpc>
                <a:spcPct val="110000"/>
              </a:lnSpc>
            </a:pPr>
            <a:r>
              <a:rPr lang="zh-CN" altLang="en-US" dirty="0"/>
              <a:t>系统架构设计是概要设计的核心活动，它定义了软件系统的整体结构和组织方式。</a:t>
            </a:r>
            <a:endParaRPr lang="en-US" altLang="zh-CN" dirty="0"/>
          </a:p>
          <a:p>
            <a:pPr>
              <a:lnSpc>
                <a:spcPct val="110000"/>
              </a:lnSpc>
            </a:pPr>
            <a:r>
              <a:rPr lang="en-US" altLang="zh-CN" dirty="0"/>
              <a:t>1</a:t>
            </a:r>
            <a:r>
              <a:rPr lang="zh-CN" altLang="en-US" dirty="0"/>
              <a:t>）</a:t>
            </a:r>
            <a:r>
              <a:rPr lang="zh-CN" altLang="en-US" b="1" dirty="0"/>
              <a:t>集中式架构</a:t>
            </a:r>
            <a:r>
              <a:rPr lang="zh-CN" altLang="en-US" dirty="0"/>
              <a:t>是指所有计算任务和处理功能都集中在一个中心节点（如大型主机或服务器）上，客户端仅负责输入输出和结果显示。</a:t>
            </a:r>
            <a:endParaRPr lang="en-US" altLang="zh-CN" dirty="0"/>
          </a:p>
          <a:p>
            <a:pPr>
              <a:lnSpc>
                <a:spcPct val="110000"/>
              </a:lnSpc>
            </a:pPr>
            <a:r>
              <a:rPr lang="en-US" altLang="zh-CN" dirty="0"/>
              <a:t>2</a:t>
            </a:r>
            <a:r>
              <a:rPr lang="zh-CN" altLang="en-US" dirty="0"/>
              <a:t>）</a:t>
            </a:r>
            <a:r>
              <a:rPr lang="zh-CN" altLang="en-US" b="1" dirty="0"/>
              <a:t>分布式架构</a:t>
            </a:r>
            <a:r>
              <a:rPr lang="zh-CN" altLang="en-US" dirty="0"/>
              <a:t>是指系统的不同组件分布在多个独立的计算机节点上，节点之间通过网络进行通信和协作，共同完成系统功能。</a:t>
            </a:r>
            <a:endParaRPr lang="en-US" altLang="zh-CN" dirty="0"/>
          </a:p>
          <a:p>
            <a:pPr>
              <a:lnSpc>
                <a:spcPct val="110000"/>
              </a:lnSpc>
            </a:pPr>
            <a:r>
              <a:rPr lang="en-US" altLang="zh-CN" dirty="0"/>
              <a:t>3</a:t>
            </a:r>
            <a:r>
              <a:rPr lang="zh-CN" altLang="en-US" dirty="0"/>
              <a:t>）</a:t>
            </a:r>
            <a:r>
              <a:rPr lang="zh-CN" altLang="en-US" b="1" dirty="0"/>
              <a:t>分层架构</a:t>
            </a:r>
            <a:r>
              <a:rPr lang="zh-CN" altLang="en-US" dirty="0"/>
              <a:t>将系统按照功能层次组织为若干层，每一层提供特定的服务，并为上层提供接口。</a:t>
            </a:r>
            <a:endParaRPr lang="en-US" altLang="zh-CN" dirty="0"/>
          </a:p>
        </p:txBody>
      </p:sp>
      <p:sp>
        <p:nvSpPr>
          <p:cNvPr id="4" name="Rectangle 2">
            <a:extLst>
              <a:ext uri="{FF2B5EF4-FFF2-40B4-BE49-F238E27FC236}">
                <a16:creationId xmlns:a16="http://schemas.microsoft.com/office/drawing/2014/main" id="{FE177EF1-6CF1-4C11-85A9-1843E354B3C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70240599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系统设计</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normAutofit/>
          </a:bodyPr>
          <a:lstStyle/>
          <a:p>
            <a:pPr>
              <a:lnSpc>
                <a:spcPct val="110000"/>
              </a:lnSpc>
            </a:pPr>
            <a:r>
              <a:rPr lang="zh-CN" altLang="en-US" dirty="0"/>
              <a:t>概要设计：</a:t>
            </a:r>
            <a:endParaRPr lang="en-US" altLang="zh-CN" dirty="0"/>
          </a:p>
          <a:p>
            <a:pPr>
              <a:lnSpc>
                <a:spcPct val="110000"/>
              </a:lnSpc>
            </a:pPr>
            <a:r>
              <a:rPr lang="zh-CN" altLang="en-US" dirty="0"/>
              <a:t>经典的</a:t>
            </a:r>
            <a:r>
              <a:rPr lang="zh-CN" altLang="en-US" b="1" dirty="0"/>
              <a:t>三层架构</a:t>
            </a:r>
            <a:r>
              <a:rPr lang="zh-CN" altLang="en-US" dirty="0"/>
              <a:t>包括</a:t>
            </a:r>
            <a:endParaRPr lang="en-US" altLang="zh-CN" dirty="0"/>
          </a:p>
          <a:p>
            <a:pPr>
              <a:lnSpc>
                <a:spcPct val="110000"/>
              </a:lnSpc>
            </a:pPr>
            <a:r>
              <a:rPr lang="zh-CN" altLang="en-US" b="1" dirty="0"/>
              <a:t>表示层</a:t>
            </a:r>
            <a:r>
              <a:rPr lang="zh-CN" altLang="en-US" dirty="0"/>
              <a:t>（负责用户界面和交互逻辑）</a:t>
            </a:r>
            <a:endParaRPr lang="en-US" altLang="zh-CN" dirty="0"/>
          </a:p>
          <a:p>
            <a:pPr>
              <a:lnSpc>
                <a:spcPct val="110000"/>
              </a:lnSpc>
            </a:pPr>
            <a:r>
              <a:rPr lang="zh-CN" altLang="en-US" b="1" dirty="0"/>
              <a:t>业务逻辑层</a:t>
            </a:r>
            <a:r>
              <a:rPr lang="zh-CN" altLang="en-US" dirty="0"/>
              <a:t>（负责业务规则和数据处理）</a:t>
            </a:r>
            <a:endParaRPr lang="en-US" altLang="zh-CN" dirty="0"/>
          </a:p>
          <a:p>
            <a:pPr>
              <a:lnSpc>
                <a:spcPct val="110000"/>
              </a:lnSpc>
            </a:pPr>
            <a:r>
              <a:rPr lang="zh-CN" altLang="en-US" b="1" dirty="0"/>
              <a:t>数据访问层</a:t>
            </a:r>
            <a:r>
              <a:rPr lang="zh-CN" altLang="en-US" dirty="0"/>
              <a:t>（负责数据库操作和数据存取）。</a:t>
            </a:r>
            <a:endParaRPr lang="en-US" altLang="zh-CN" dirty="0"/>
          </a:p>
        </p:txBody>
      </p:sp>
      <p:sp>
        <p:nvSpPr>
          <p:cNvPr id="4" name="Rectangle 2">
            <a:extLst>
              <a:ext uri="{FF2B5EF4-FFF2-40B4-BE49-F238E27FC236}">
                <a16:creationId xmlns:a16="http://schemas.microsoft.com/office/drawing/2014/main" id="{FE177EF1-6CF1-4C11-85A9-1843E354B3C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5" name="Picture 4">
            <a:extLst>
              <a:ext uri="{FF2B5EF4-FFF2-40B4-BE49-F238E27FC236}">
                <a16:creationId xmlns:a16="http://schemas.microsoft.com/office/drawing/2014/main" id="{84540F13-02C5-4B71-BA1F-652537138C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7022" y="5068887"/>
            <a:ext cx="8990012" cy="142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119991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B791F8-EFE5-4B03-BF9A-FF55D6040F58}"/>
              </a:ext>
            </a:extLst>
          </p:cNvPr>
          <p:cNvSpPr>
            <a:spLocks noGrp="1"/>
          </p:cNvSpPr>
          <p:nvPr>
            <p:ph type="title"/>
          </p:nvPr>
        </p:nvSpPr>
        <p:spPr/>
        <p:txBody>
          <a:bodyPr/>
          <a:lstStyle/>
          <a:p>
            <a:r>
              <a:rPr lang="zh-CN" altLang="en-US" dirty="0"/>
              <a:t>设计</a:t>
            </a:r>
            <a:r>
              <a:rPr lang="en-US" altLang="zh-CN" dirty="0"/>
              <a:t>-</a:t>
            </a:r>
            <a:r>
              <a:rPr lang="zh-CN" altLang="en-US" dirty="0"/>
              <a:t>其他知识点</a:t>
            </a:r>
          </a:p>
        </p:txBody>
      </p:sp>
      <p:sp>
        <p:nvSpPr>
          <p:cNvPr id="5" name="内容占位符 2">
            <a:extLst>
              <a:ext uri="{FF2B5EF4-FFF2-40B4-BE49-F238E27FC236}">
                <a16:creationId xmlns:a16="http://schemas.microsoft.com/office/drawing/2014/main" id="{4396239A-0820-4CBF-B9EF-11C5F89D9DCE}"/>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solidFill>
                  <a:srgbClr val="C00000"/>
                </a:solidFill>
              </a:rPr>
              <a:t>有哪些</a:t>
            </a:r>
            <a:r>
              <a:rPr lang="en-US" altLang="zh-CN" b="1" dirty="0">
                <a:solidFill>
                  <a:srgbClr val="C00000"/>
                </a:solidFill>
              </a:rPr>
              <a:t>Internet</a:t>
            </a:r>
            <a:r>
              <a:rPr lang="zh-CN" altLang="en-US" b="1" dirty="0">
                <a:solidFill>
                  <a:srgbClr val="C00000"/>
                </a:solidFill>
              </a:rPr>
              <a:t>部署的托管替代方案？</a:t>
            </a:r>
            <a:endParaRPr lang="en-US" altLang="zh-CN" b="1" dirty="0">
              <a:solidFill>
                <a:srgbClr val="C00000"/>
              </a:solidFill>
            </a:endParaRPr>
          </a:p>
          <a:p>
            <a:endParaRPr lang="zh-CN" altLang="en-US" dirty="0"/>
          </a:p>
        </p:txBody>
      </p:sp>
      <p:sp>
        <p:nvSpPr>
          <p:cNvPr id="4" name="Rectangle 3">
            <a:extLst>
              <a:ext uri="{FF2B5EF4-FFF2-40B4-BE49-F238E27FC236}">
                <a16:creationId xmlns:a16="http://schemas.microsoft.com/office/drawing/2014/main" id="{A3A44CFE-F54B-4312-908E-62377CB974B9}"/>
              </a:ext>
            </a:extLst>
          </p:cNvPr>
          <p:cNvSpPr txBox="1">
            <a:spLocks noChangeArrowheads="1"/>
          </p:cNvSpPr>
          <p:nvPr/>
        </p:nvSpPr>
        <p:spPr>
          <a:xfrm>
            <a:off x="961697" y="2498835"/>
            <a:ext cx="9900744" cy="419100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zh-CN" altLang="en-US" sz="2400" b="1" dirty="0">
                <a:ea typeface="宋体" panose="02010600030101010101" pitchFamily="2" charset="-122"/>
              </a:rPr>
              <a:t>场地出租</a:t>
            </a:r>
            <a:r>
              <a:rPr lang="zh-CN" altLang="en-US" sz="2400" dirty="0">
                <a:ea typeface="宋体" panose="02010600030101010101" pitchFamily="2" charset="-122"/>
              </a:rPr>
              <a:t>：主机托管一种具有安全位置的托管服务，但其中的计算机通常由客户企业拥有</a:t>
            </a:r>
          </a:p>
          <a:p>
            <a:pPr>
              <a:lnSpc>
                <a:spcPct val="110000"/>
              </a:lnSpc>
            </a:pPr>
            <a:r>
              <a:rPr lang="zh-CN" altLang="en-US" sz="2400" b="1" dirty="0">
                <a:ea typeface="宋体" panose="02010600030101010101" pitchFamily="2" charset="-122"/>
              </a:rPr>
              <a:t>管理服务</a:t>
            </a:r>
            <a:r>
              <a:rPr lang="zh-CN" altLang="en-US" sz="2400" dirty="0">
                <a:ea typeface="宋体" panose="02010600030101010101" pitchFamily="2" charset="-122"/>
              </a:rPr>
              <a:t>：客户端拥有软件，但可能需要购买额外的服务，例如安装和管理操作系统、</a:t>
            </a:r>
            <a:r>
              <a:rPr lang="en-US" altLang="zh-CN" sz="2400" dirty="0">
                <a:ea typeface="宋体" panose="02010600030101010101" pitchFamily="2" charset="-122"/>
              </a:rPr>
              <a:t>Internet</a:t>
            </a:r>
            <a:r>
              <a:rPr lang="zh-CN" altLang="en-US" sz="2400" dirty="0">
                <a:ea typeface="宋体" panose="02010600030101010101" pitchFamily="2" charset="-122"/>
              </a:rPr>
              <a:t>服务器、数据库服务器和负载平衡软件</a:t>
            </a:r>
          </a:p>
          <a:p>
            <a:pPr>
              <a:lnSpc>
                <a:spcPct val="110000"/>
              </a:lnSpc>
            </a:pPr>
            <a:r>
              <a:rPr lang="zh-CN" altLang="en-US" sz="2400" b="1" dirty="0">
                <a:ea typeface="宋体" panose="02010600030101010101" pitchFamily="2" charset="-122"/>
              </a:rPr>
              <a:t>虚拟服务器</a:t>
            </a:r>
            <a:r>
              <a:rPr lang="zh-CN" altLang="en-US" sz="2400" dirty="0">
                <a:ea typeface="宋体" panose="02010600030101010101" pitchFamily="2" charset="-122"/>
              </a:rPr>
              <a:t>：客户公司租用一台虚拟服务器，该服务器配置为实服务器，具有一定的</a:t>
            </a:r>
            <a:r>
              <a:rPr lang="en-US" altLang="zh-CN" sz="2400" dirty="0">
                <a:ea typeface="宋体" panose="02010600030101010101" pitchFamily="2" charset="-122"/>
              </a:rPr>
              <a:t>CPU</a:t>
            </a:r>
            <a:r>
              <a:rPr lang="zh-CN" altLang="en-US" sz="2400" dirty="0">
                <a:ea typeface="宋体" panose="02010600030101010101" pitchFamily="2" charset="-122"/>
              </a:rPr>
              <a:t>容量、内部内存、硬盘内存和带宽，供</a:t>
            </a:r>
            <a:r>
              <a:rPr lang="en-US" altLang="zh-CN" sz="2400" dirty="0">
                <a:ea typeface="宋体" panose="02010600030101010101" pitchFamily="2" charset="-122"/>
              </a:rPr>
              <a:t>Internet</a:t>
            </a:r>
            <a:r>
              <a:rPr lang="zh-CN" altLang="en-US" sz="2400" dirty="0">
                <a:ea typeface="宋体" panose="02010600030101010101" pitchFamily="2" charset="-122"/>
              </a:rPr>
              <a:t>使用</a:t>
            </a:r>
            <a:endParaRPr lang="en-US" altLang="zh-CN" sz="2400" dirty="0">
              <a:ea typeface="宋体" panose="02010600030101010101" pitchFamily="2" charset="-122"/>
            </a:endParaRPr>
          </a:p>
          <a:p>
            <a:pPr>
              <a:lnSpc>
                <a:spcPct val="110000"/>
              </a:lnSpc>
            </a:pPr>
            <a:r>
              <a:rPr lang="zh-CN" altLang="en-US" sz="2400" b="1" dirty="0">
                <a:ea typeface="宋体" panose="02010600030101010101" pitchFamily="2" charset="-122"/>
              </a:rPr>
              <a:t>云计算</a:t>
            </a:r>
            <a:r>
              <a:rPr lang="zh-CN" altLang="en-US" sz="2400" dirty="0">
                <a:ea typeface="宋体" panose="02010600030101010101" pitchFamily="2" charset="-122"/>
              </a:rPr>
              <a:t>：</a:t>
            </a:r>
          </a:p>
          <a:p>
            <a:pPr lvl="1">
              <a:lnSpc>
                <a:spcPct val="110000"/>
              </a:lnSpc>
            </a:pPr>
            <a:r>
              <a:rPr lang="zh-CN" altLang="en-US" sz="2000" dirty="0">
                <a:ea typeface="宋体" panose="02010600030101010101" pitchFamily="2" charset="-122"/>
              </a:rPr>
              <a:t>一种虚拟服务器的扩展，其中可用的资源包括计算、存储和</a:t>
            </a:r>
            <a:r>
              <a:rPr lang="en-US" altLang="zh-CN" sz="2000" dirty="0">
                <a:ea typeface="宋体" panose="02010600030101010101" pitchFamily="2" charset="-122"/>
              </a:rPr>
              <a:t>Internet</a:t>
            </a:r>
            <a:r>
              <a:rPr lang="zh-CN" altLang="en-US" sz="2000" dirty="0">
                <a:ea typeface="宋体" panose="02010600030101010101" pitchFamily="2" charset="-122"/>
              </a:rPr>
              <a:t>访问，并且它们似乎具有无限的可用性。</a:t>
            </a:r>
          </a:p>
          <a:p>
            <a:pPr lvl="1">
              <a:lnSpc>
                <a:spcPct val="110000"/>
              </a:lnSpc>
            </a:pPr>
            <a:r>
              <a:rPr lang="zh-CN" altLang="en-US" sz="2000" dirty="0">
                <a:ea typeface="宋体" panose="02010600030101010101" pitchFamily="2" charset="-122"/>
              </a:rPr>
              <a:t>客户机应该能够购买计算能力，就像购买水或电这样的公用事业一样。</a:t>
            </a:r>
          </a:p>
          <a:p>
            <a:pPr lvl="1">
              <a:lnSpc>
                <a:spcPct val="110000"/>
              </a:lnSpc>
            </a:pPr>
            <a:r>
              <a:rPr lang="zh-CN" altLang="en-US" sz="2000" dirty="0">
                <a:ea typeface="宋体" panose="02010600030101010101" pitchFamily="2" charset="-122"/>
              </a:rPr>
              <a:t>客户机不应该关心诸如如何或在何处提供计算能力等环境问题，就像个人不必担心如何产生电力一样</a:t>
            </a:r>
          </a:p>
        </p:txBody>
      </p:sp>
    </p:spTree>
    <p:extLst>
      <p:ext uri="{BB962C8B-B14F-4D97-AF65-F5344CB8AC3E}">
        <p14:creationId xmlns:p14="http://schemas.microsoft.com/office/powerpoint/2010/main" val="422433829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B791F8-EFE5-4B03-BF9A-FF55D6040F58}"/>
              </a:ext>
            </a:extLst>
          </p:cNvPr>
          <p:cNvSpPr>
            <a:spLocks noGrp="1"/>
          </p:cNvSpPr>
          <p:nvPr>
            <p:ph type="title"/>
          </p:nvPr>
        </p:nvSpPr>
        <p:spPr/>
        <p:txBody>
          <a:bodyPr/>
          <a:lstStyle/>
          <a:p>
            <a:r>
              <a:rPr lang="zh-CN" altLang="en-US" dirty="0"/>
              <a:t>设计</a:t>
            </a:r>
            <a:r>
              <a:rPr lang="en-US" altLang="zh-CN" dirty="0"/>
              <a:t>-</a:t>
            </a:r>
            <a:r>
              <a:rPr lang="zh-CN" altLang="en-US" dirty="0"/>
              <a:t>其他知识点</a:t>
            </a:r>
          </a:p>
        </p:txBody>
      </p:sp>
      <p:sp>
        <p:nvSpPr>
          <p:cNvPr id="5" name="内容占位符 2">
            <a:extLst>
              <a:ext uri="{FF2B5EF4-FFF2-40B4-BE49-F238E27FC236}">
                <a16:creationId xmlns:a16="http://schemas.microsoft.com/office/drawing/2014/main" id="{4396239A-0820-4CBF-B9EF-11C5F89D9DCE}"/>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b="1" dirty="0">
                <a:solidFill>
                  <a:srgbClr val="C00000"/>
                </a:solidFill>
              </a:rPr>
              <a:t>3. </a:t>
            </a:r>
            <a:r>
              <a:rPr lang="zh-CN" altLang="en-US" b="1" dirty="0">
                <a:solidFill>
                  <a:srgbClr val="C00000"/>
                </a:solidFill>
              </a:rPr>
              <a:t>有哪些</a:t>
            </a:r>
            <a:r>
              <a:rPr lang="en-US" altLang="zh-CN" b="1" dirty="0">
                <a:solidFill>
                  <a:srgbClr val="C00000"/>
                </a:solidFill>
              </a:rPr>
              <a:t>Internet</a:t>
            </a:r>
            <a:r>
              <a:rPr lang="zh-CN" altLang="en-US" b="1" dirty="0">
                <a:solidFill>
                  <a:srgbClr val="C00000"/>
                </a:solidFill>
              </a:rPr>
              <a:t>部署的托管替代方案？</a:t>
            </a:r>
            <a:endParaRPr lang="en-US" altLang="zh-CN" b="1" dirty="0">
              <a:solidFill>
                <a:srgbClr val="C00000"/>
              </a:solidFill>
            </a:endParaRPr>
          </a:p>
          <a:p>
            <a:endParaRPr lang="zh-CN" altLang="en-US" dirty="0"/>
          </a:p>
        </p:txBody>
      </p:sp>
      <p:sp>
        <p:nvSpPr>
          <p:cNvPr id="4" name="Rectangle 3">
            <a:extLst>
              <a:ext uri="{FF2B5EF4-FFF2-40B4-BE49-F238E27FC236}">
                <a16:creationId xmlns:a16="http://schemas.microsoft.com/office/drawing/2014/main" id="{A3A44CFE-F54B-4312-908E-62377CB974B9}"/>
              </a:ext>
            </a:extLst>
          </p:cNvPr>
          <p:cNvSpPr txBox="1">
            <a:spLocks noChangeArrowheads="1"/>
          </p:cNvSpPr>
          <p:nvPr/>
        </p:nvSpPr>
        <p:spPr>
          <a:xfrm>
            <a:off x="961697" y="2498835"/>
            <a:ext cx="9900744" cy="4191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endParaRPr lang="zh-CN" altLang="en-US" sz="2000" dirty="0">
              <a:ea typeface="宋体" panose="02010600030101010101" pitchFamily="2" charset="-122"/>
            </a:endParaRPr>
          </a:p>
        </p:txBody>
      </p:sp>
      <p:pic>
        <p:nvPicPr>
          <p:cNvPr id="6" name="Picture 4">
            <a:extLst>
              <a:ext uri="{FF2B5EF4-FFF2-40B4-BE49-F238E27FC236}">
                <a16:creationId xmlns:a16="http://schemas.microsoft.com/office/drawing/2014/main" id="{159E990B-A255-48AB-9CD7-928F3430B0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2270" y="2634242"/>
            <a:ext cx="7086600" cy="336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D2CF56B6-5530-443D-A386-E16B3E19B5F2}"/>
              </a:ext>
            </a:extLst>
          </p:cNvPr>
          <p:cNvSpPr/>
          <p:nvPr/>
        </p:nvSpPr>
        <p:spPr>
          <a:xfrm>
            <a:off x="2662270" y="3108904"/>
            <a:ext cx="1597047" cy="288607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35320E04-3C07-42DA-A53F-D18579571572}"/>
              </a:ext>
            </a:extLst>
          </p:cNvPr>
          <p:cNvSpPr txBox="1"/>
          <p:nvPr/>
        </p:nvSpPr>
        <p:spPr>
          <a:xfrm>
            <a:off x="770145" y="3635704"/>
            <a:ext cx="4572000" cy="646331"/>
          </a:xfrm>
          <a:prstGeom prst="rect">
            <a:avLst/>
          </a:prstGeom>
          <a:noFill/>
        </p:spPr>
        <p:txBody>
          <a:bodyPr wrap="square">
            <a:spAutoFit/>
          </a:bodyPr>
          <a:lstStyle/>
          <a:p>
            <a:r>
              <a:rPr lang="zh-CN" altLang="en-US" dirty="0"/>
              <a:t>场地和设施</a:t>
            </a:r>
            <a:endParaRPr lang="en-US" altLang="zh-CN" dirty="0"/>
          </a:p>
          <a:p>
            <a:endParaRPr lang="en-US" altLang="zh-CN" dirty="0"/>
          </a:p>
        </p:txBody>
      </p:sp>
      <p:sp>
        <p:nvSpPr>
          <p:cNvPr id="9" name="文本框 8">
            <a:extLst>
              <a:ext uri="{FF2B5EF4-FFF2-40B4-BE49-F238E27FC236}">
                <a16:creationId xmlns:a16="http://schemas.microsoft.com/office/drawing/2014/main" id="{46447EBB-A9DB-423D-841A-8A8323E9BBBA}"/>
              </a:ext>
            </a:extLst>
          </p:cNvPr>
          <p:cNvSpPr txBox="1"/>
          <p:nvPr/>
        </p:nvSpPr>
        <p:spPr>
          <a:xfrm>
            <a:off x="703667" y="4031122"/>
            <a:ext cx="4597224" cy="646331"/>
          </a:xfrm>
          <a:prstGeom prst="rect">
            <a:avLst/>
          </a:prstGeom>
          <a:noFill/>
        </p:spPr>
        <p:txBody>
          <a:bodyPr wrap="square">
            <a:spAutoFit/>
          </a:bodyPr>
          <a:lstStyle/>
          <a:p>
            <a:r>
              <a:rPr lang="zh-CN" altLang="en-US" dirty="0"/>
              <a:t>客户拥有设备？</a:t>
            </a:r>
            <a:endParaRPr lang="en-US" altLang="zh-CN" dirty="0"/>
          </a:p>
          <a:p>
            <a:endParaRPr lang="zh-CN" altLang="en-US" dirty="0"/>
          </a:p>
        </p:txBody>
      </p:sp>
      <p:sp>
        <p:nvSpPr>
          <p:cNvPr id="10" name="文本框 9">
            <a:extLst>
              <a:ext uri="{FF2B5EF4-FFF2-40B4-BE49-F238E27FC236}">
                <a16:creationId xmlns:a16="http://schemas.microsoft.com/office/drawing/2014/main" id="{2F667405-08FC-44FF-B82C-667E162162E5}"/>
              </a:ext>
            </a:extLst>
          </p:cNvPr>
          <p:cNvSpPr txBox="1"/>
          <p:nvPr/>
        </p:nvSpPr>
        <p:spPr>
          <a:xfrm>
            <a:off x="727053" y="4461883"/>
            <a:ext cx="4597224" cy="369332"/>
          </a:xfrm>
          <a:prstGeom prst="rect">
            <a:avLst/>
          </a:prstGeom>
          <a:noFill/>
        </p:spPr>
        <p:txBody>
          <a:bodyPr wrap="square">
            <a:spAutoFit/>
          </a:bodyPr>
          <a:lstStyle/>
          <a:p>
            <a:r>
              <a:rPr lang="zh-CN" altLang="en-US" dirty="0"/>
              <a:t>客户管理配置？</a:t>
            </a:r>
            <a:endParaRPr lang="en-US" altLang="zh-CN" dirty="0"/>
          </a:p>
        </p:txBody>
      </p:sp>
      <p:sp>
        <p:nvSpPr>
          <p:cNvPr id="11" name="文本框 10">
            <a:extLst>
              <a:ext uri="{FF2B5EF4-FFF2-40B4-BE49-F238E27FC236}">
                <a16:creationId xmlns:a16="http://schemas.microsoft.com/office/drawing/2014/main" id="{8CC60D0E-F05C-4CA5-8A41-A5EE7D3D7C9D}"/>
              </a:ext>
            </a:extLst>
          </p:cNvPr>
          <p:cNvSpPr txBox="1"/>
          <p:nvPr/>
        </p:nvSpPr>
        <p:spPr>
          <a:xfrm>
            <a:off x="746639" y="4851171"/>
            <a:ext cx="4597224" cy="369332"/>
          </a:xfrm>
          <a:prstGeom prst="rect">
            <a:avLst/>
          </a:prstGeom>
          <a:noFill/>
        </p:spPr>
        <p:txBody>
          <a:bodyPr wrap="square">
            <a:spAutoFit/>
          </a:bodyPr>
          <a:lstStyle/>
          <a:p>
            <a:r>
              <a:rPr lang="zh-CN" altLang="en-US" dirty="0"/>
              <a:t>可扩展性</a:t>
            </a:r>
            <a:endParaRPr lang="en-US" altLang="zh-CN" dirty="0"/>
          </a:p>
        </p:txBody>
      </p:sp>
      <p:sp>
        <p:nvSpPr>
          <p:cNvPr id="12" name="文本框 11">
            <a:extLst>
              <a:ext uri="{FF2B5EF4-FFF2-40B4-BE49-F238E27FC236}">
                <a16:creationId xmlns:a16="http://schemas.microsoft.com/office/drawing/2014/main" id="{639AD061-5D31-4225-9B1C-2338E162D50B}"/>
              </a:ext>
            </a:extLst>
          </p:cNvPr>
          <p:cNvSpPr txBox="1"/>
          <p:nvPr/>
        </p:nvSpPr>
        <p:spPr>
          <a:xfrm>
            <a:off x="770145" y="5283274"/>
            <a:ext cx="4597224" cy="369332"/>
          </a:xfrm>
          <a:prstGeom prst="rect">
            <a:avLst/>
          </a:prstGeom>
          <a:noFill/>
        </p:spPr>
        <p:txBody>
          <a:bodyPr wrap="square">
            <a:spAutoFit/>
          </a:bodyPr>
          <a:lstStyle/>
          <a:p>
            <a:r>
              <a:rPr lang="zh-CN" altLang="en-US" dirty="0"/>
              <a:t>维护</a:t>
            </a:r>
            <a:endParaRPr lang="en-US" altLang="zh-CN" dirty="0"/>
          </a:p>
        </p:txBody>
      </p:sp>
      <p:sp>
        <p:nvSpPr>
          <p:cNvPr id="13" name="文本框 12">
            <a:extLst>
              <a:ext uri="{FF2B5EF4-FFF2-40B4-BE49-F238E27FC236}">
                <a16:creationId xmlns:a16="http://schemas.microsoft.com/office/drawing/2014/main" id="{8C436178-90D9-46EF-97AD-09E0CD8D3779}"/>
              </a:ext>
            </a:extLst>
          </p:cNvPr>
          <p:cNvSpPr txBox="1"/>
          <p:nvPr/>
        </p:nvSpPr>
        <p:spPr>
          <a:xfrm>
            <a:off x="757533" y="5656801"/>
            <a:ext cx="4597224" cy="369332"/>
          </a:xfrm>
          <a:prstGeom prst="rect">
            <a:avLst/>
          </a:prstGeom>
          <a:noFill/>
        </p:spPr>
        <p:txBody>
          <a:bodyPr wrap="square">
            <a:spAutoFit/>
          </a:bodyPr>
          <a:lstStyle/>
          <a:p>
            <a:r>
              <a:rPr lang="zh-CN" altLang="en-US" dirty="0"/>
              <a:t>备份与恢复</a:t>
            </a:r>
          </a:p>
        </p:txBody>
      </p:sp>
    </p:spTree>
    <p:extLst>
      <p:ext uri="{BB962C8B-B14F-4D97-AF65-F5344CB8AC3E}">
        <p14:creationId xmlns:p14="http://schemas.microsoft.com/office/powerpoint/2010/main" val="2624051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系统设计</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normAutofit fontScale="92500" lnSpcReduction="10000"/>
          </a:bodyPr>
          <a:lstStyle/>
          <a:p>
            <a:pPr>
              <a:lnSpc>
                <a:spcPct val="110000"/>
              </a:lnSpc>
            </a:pPr>
            <a:r>
              <a:rPr lang="zh-CN" altLang="en-US" dirty="0"/>
              <a:t>概要设计：</a:t>
            </a:r>
            <a:endParaRPr lang="en-US" altLang="zh-CN" dirty="0"/>
          </a:p>
          <a:p>
            <a:pPr>
              <a:lnSpc>
                <a:spcPct val="110000"/>
              </a:lnSpc>
            </a:pPr>
            <a:r>
              <a:rPr lang="zh-CN" altLang="en-US" b="1" dirty="0"/>
              <a:t>设计原则</a:t>
            </a:r>
            <a:r>
              <a:rPr lang="zh-CN" altLang="en-US" dirty="0"/>
              <a:t>：</a:t>
            </a:r>
            <a:endParaRPr lang="en-US" altLang="zh-CN" dirty="0"/>
          </a:p>
          <a:p>
            <a:pPr>
              <a:lnSpc>
                <a:spcPct val="110000"/>
              </a:lnSpc>
            </a:pPr>
            <a:r>
              <a:rPr lang="zh-CN" altLang="en-US" u="sng" dirty="0"/>
              <a:t>关注点分离原则</a:t>
            </a:r>
            <a:r>
              <a:rPr lang="zh-CN" altLang="en-US" dirty="0"/>
              <a:t>：要求将系统划分为职责清晰、相互独立的部分</a:t>
            </a:r>
            <a:endParaRPr lang="en-US" altLang="zh-CN" dirty="0"/>
          </a:p>
          <a:p>
            <a:pPr>
              <a:lnSpc>
                <a:spcPct val="110000"/>
              </a:lnSpc>
            </a:pPr>
            <a:r>
              <a:rPr lang="zh-CN" altLang="en-US" u="sng" dirty="0"/>
              <a:t>高内聚、低耦合原则</a:t>
            </a:r>
            <a:r>
              <a:rPr lang="zh-CN" altLang="en-US" dirty="0"/>
              <a:t>：要求模块内部各元素之间紧密关联，模块之间松散依赖，降低修改一个模块对其他模块的影响。</a:t>
            </a:r>
            <a:endParaRPr lang="en-US" altLang="zh-CN" dirty="0"/>
          </a:p>
          <a:p>
            <a:pPr>
              <a:lnSpc>
                <a:spcPct val="110000"/>
              </a:lnSpc>
            </a:pPr>
            <a:r>
              <a:rPr lang="zh-CN" altLang="en-US" u="sng" dirty="0"/>
              <a:t>可扩展性原则</a:t>
            </a:r>
            <a:r>
              <a:rPr lang="zh-CN" altLang="en-US" dirty="0"/>
              <a:t>：要求架构应支持在不影响现有功能的前提下增加新功能，能够适应业务需求的演化。</a:t>
            </a:r>
            <a:endParaRPr lang="en-US" altLang="zh-CN" dirty="0"/>
          </a:p>
          <a:p>
            <a:pPr>
              <a:lnSpc>
                <a:spcPct val="110000"/>
              </a:lnSpc>
            </a:pPr>
            <a:r>
              <a:rPr lang="zh-CN" altLang="en-US" u="sng" dirty="0"/>
              <a:t>可重用性原则</a:t>
            </a:r>
            <a:r>
              <a:rPr lang="zh-CN" altLang="en-US" dirty="0"/>
              <a:t>要求识别系统中的通用功能，设计为可复用的组件，避免重复开发。</a:t>
            </a:r>
            <a:endParaRPr lang="en-US" altLang="zh-CN" dirty="0"/>
          </a:p>
        </p:txBody>
      </p:sp>
      <p:sp>
        <p:nvSpPr>
          <p:cNvPr id="4" name="Rectangle 2">
            <a:extLst>
              <a:ext uri="{FF2B5EF4-FFF2-40B4-BE49-F238E27FC236}">
                <a16:creationId xmlns:a16="http://schemas.microsoft.com/office/drawing/2014/main" id="{FE177EF1-6CF1-4C11-85A9-1843E354B3C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02880734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系统设计</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normAutofit/>
          </a:bodyPr>
          <a:lstStyle/>
          <a:p>
            <a:pPr>
              <a:lnSpc>
                <a:spcPct val="110000"/>
              </a:lnSpc>
            </a:pPr>
            <a:r>
              <a:rPr lang="zh-CN" altLang="en-US" dirty="0"/>
              <a:t>概要设计：</a:t>
            </a:r>
            <a:endParaRPr lang="en-US" altLang="zh-CN" dirty="0"/>
          </a:p>
          <a:p>
            <a:pPr>
              <a:lnSpc>
                <a:spcPct val="110000"/>
              </a:lnSpc>
            </a:pPr>
            <a:r>
              <a:rPr lang="zh-CN" altLang="en-US" dirty="0"/>
              <a:t>架构设计原则：</a:t>
            </a:r>
            <a:endParaRPr lang="en-US" altLang="zh-CN" dirty="0"/>
          </a:p>
          <a:p>
            <a:pPr>
              <a:lnSpc>
                <a:spcPct val="110000"/>
              </a:lnSpc>
            </a:pPr>
            <a:r>
              <a:rPr lang="zh-CN" altLang="en-US" u="sng" dirty="0"/>
              <a:t>最小知识原则</a:t>
            </a:r>
            <a:r>
              <a:rPr lang="zh-CN" altLang="en-US" dirty="0"/>
              <a:t>要求每个模块应尽可能少地了解其他模块的内部细节，只通过公开接口进行交互。</a:t>
            </a:r>
            <a:endParaRPr lang="en-US" altLang="zh-CN" dirty="0"/>
          </a:p>
          <a:p>
            <a:pPr>
              <a:lnSpc>
                <a:spcPct val="110000"/>
              </a:lnSpc>
            </a:pPr>
            <a:r>
              <a:rPr lang="zh-CN" altLang="en-US" u="sng" dirty="0"/>
              <a:t>渐进式设计原则</a:t>
            </a:r>
            <a:r>
              <a:rPr lang="zh-CN" altLang="en-US" dirty="0"/>
              <a:t>要求架构设计应支持增量开发和迭代交付，能够分阶段实现系统功能。</a:t>
            </a:r>
            <a:endParaRPr lang="en-US" altLang="zh-CN" dirty="0"/>
          </a:p>
        </p:txBody>
      </p:sp>
      <p:sp>
        <p:nvSpPr>
          <p:cNvPr id="4" name="Rectangle 2">
            <a:extLst>
              <a:ext uri="{FF2B5EF4-FFF2-40B4-BE49-F238E27FC236}">
                <a16:creationId xmlns:a16="http://schemas.microsoft.com/office/drawing/2014/main" id="{FE177EF1-6CF1-4C11-85A9-1843E354B3C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41580464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系统设计</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normAutofit/>
          </a:bodyPr>
          <a:lstStyle/>
          <a:p>
            <a:pPr>
              <a:lnSpc>
                <a:spcPct val="110000"/>
              </a:lnSpc>
            </a:pPr>
            <a:r>
              <a:rPr lang="zh-CN" altLang="en-US" dirty="0"/>
              <a:t>详细设计：</a:t>
            </a:r>
            <a:endParaRPr lang="en-US" altLang="zh-CN" dirty="0"/>
          </a:p>
          <a:p>
            <a:pPr>
              <a:lnSpc>
                <a:spcPct val="110000"/>
              </a:lnSpc>
            </a:pPr>
            <a:r>
              <a:rPr lang="zh-CN" altLang="en-US" dirty="0"/>
              <a:t>详细设计的主要内容包括模块内部逻辑设计、数据结构详细设计、算法设计、数据库详细设计、用户界面设计以及安全与性能设计等方面</a:t>
            </a:r>
            <a:endParaRPr lang="en-US" altLang="zh-CN" dirty="0"/>
          </a:p>
        </p:txBody>
      </p:sp>
      <p:sp>
        <p:nvSpPr>
          <p:cNvPr id="4" name="Rectangle 2">
            <a:extLst>
              <a:ext uri="{FF2B5EF4-FFF2-40B4-BE49-F238E27FC236}">
                <a16:creationId xmlns:a16="http://schemas.microsoft.com/office/drawing/2014/main" id="{FE177EF1-6CF1-4C11-85A9-1843E354B3C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71269125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系统设计</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normAutofit/>
          </a:bodyPr>
          <a:lstStyle/>
          <a:p>
            <a:pPr>
              <a:lnSpc>
                <a:spcPct val="110000"/>
              </a:lnSpc>
            </a:pPr>
            <a:r>
              <a:rPr lang="zh-CN" altLang="en-US" dirty="0"/>
              <a:t>详细设计：</a:t>
            </a:r>
            <a:endParaRPr lang="en-US" altLang="zh-CN" dirty="0"/>
          </a:p>
          <a:p>
            <a:pPr>
              <a:lnSpc>
                <a:spcPct val="110000"/>
              </a:lnSpc>
            </a:pPr>
            <a:r>
              <a:rPr lang="zh-CN" altLang="en-US" dirty="0"/>
              <a:t>人机交互设计（</a:t>
            </a:r>
            <a:r>
              <a:rPr lang="en-US" altLang="zh-CN" dirty="0"/>
              <a:t>Human-Computer Interaction Design</a:t>
            </a:r>
            <a:r>
              <a:rPr lang="zh-CN" altLang="en-US" dirty="0"/>
              <a:t>，</a:t>
            </a:r>
            <a:r>
              <a:rPr lang="en-US" altLang="zh-CN" dirty="0"/>
              <a:t>HCI Design</a:t>
            </a:r>
            <a:r>
              <a:rPr lang="zh-CN" altLang="en-US" dirty="0"/>
              <a:t>）是详细设计阶段的重要组成部分，它定义了用户与软件系统之间的交互方式和界面表现形式。</a:t>
            </a:r>
            <a:endParaRPr lang="en-US" altLang="zh-CN" dirty="0"/>
          </a:p>
        </p:txBody>
      </p:sp>
      <p:sp>
        <p:nvSpPr>
          <p:cNvPr id="4" name="Rectangle 2">
            <a:extLst>
              <a:ext uri="{FF2B5EF4-FFF2-40B4-BE49-F238E27FC236}">
                <a16:creationId xmlns:a16="http://schemas.microsoft.com/office/drawing/2014/main" id="{FE177EF1-6CF1-4C11-85A9-1843E354B3C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35169110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系统设计</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normAutofit fontScale="92500"/>
          </a:bodyPr>
          <a:lstStyle/>
          <a:p>
            <a:pPr>
              <a:lnSpc>
                <a:spcPct val="110000"/>
              </a:lnSpc>
            </a:pPr>
            <a:r>
              <a:rPr lang="zh-CN" altLang="en-US" dirty="0"/>
              <a:t>详细设计：</a:t>
            </a:r>
            <a:endParaRPr lang="en-US" altLang="zh-CN" dirty="0"/>
          </a:p>
          <a:p>
            <a:pPr>
              <a:lnSpc>
                <a:spcPct val="110000"/>
              </a:lnSpc>
            </a:pPr>
            <a:r>
              <a:rPr lang="zh-CN" altLang="en-US" dirty="0"/>
              <a:t>人机交互设计原则：</a:t>
            </a:r>
            <a:endParaRPr lang="en-US" altLang="zh-CN" dirty="0"/>
          </a:p>
          <a:p>
            <a:pPr>
              <a:lnSpc>
                <a:spcPct val="110000"/>
              </a:lnSpc>
            </a:pPr>
            <a:r>
              <a:rPr lang="zh-CN" altLang="en-US" u="sng" dirty="0"/>
              <a:t>可用性</a:t>
            </a:r>
            <a:r>
              <a:rPr lang="zh-CN" altLang="en-US" dirty="0"/>
              <a:t>，系统应易于学习、易于使用、易于记忆；</a:t>
            </a:r>
            <a:endParaRPr lang="en-US" altLang="zh-CN" dirty="0"/>
          </a:p>
          <a:p>
            <a:pPr>
              <a:lnSpc>
                <a:spcPct val="110000"/>
              </a:lnSpc>
            </a:pPr>
            <a:r>
              <a:rPr lang="zh-CN" altLang="en-US" u="sng" dirty="0"/>
              <a:t>反馈原则</a:t>
            </a:r>
            <a:r>
              <a:rPr lang="zh-CN" altLang="en-US" dirty="0"/>
              <a:t>：要求系统对用户的每个操作都给出明确的响应，让用户知道操作已被接收、系统正在处理以及处理结果。</a:t>
            </a:r>
            <a:endParaRPr lang="en-US" altLang="zh-CN" dirty="0"/>
          </a:p>
          <a:p>
            <a:pPr>
              <a:lnSpc>
                <a:spcPct val="110000"/>
              </a:lnSpc>
            </a:pPr>
            <a:r>
              <a:rPr lang="zh-CN" altLang="en-US" u="sng" dirty="0"/>
              <a:t>容错性</a:t>
            </a:r>
            <a:r>
              <a:rPr lang="zh-CN" altLang="en-US" dirty="0"/>
              <a:t>，系统应防止用户操作错误，或在错误发生时减少损失；</a:t>
            </a:r>
            <a:endParaRPr lang="en-US" altLang="zh-CN" dirty="0"/>
          </a:p>
          <a:p>
            <a:pPr>
              <a:lnSpc>
                <a:spcPct val="110000"/>
              </a:lnSpc>
            </a:pPr>
            <a:r>
              <a:rPr lang="zh-CN" altLang="en-US" u="sng" dirty="0"/>
              <a:t>效率原则</a:t>
            </a:r>
            <a:r>
              <a:rPr lang="zh-CN" altLang="en-US" dirty="0"/>
              <a:t>：要求系统应支持高效的操作方式，满足不同用户的需求。</a:t>
            </a:r>
            <a:endParaRPr lang="en-US" altLang="zh-CN" dirty="0"/>
          </a:p>
          <a:p>
            <a:pPr>
              <a:lnSpc>
                <a:spcPct val="110000"/>
              </a:lnSpc>
            </a:pPr>
            <a:r>
              <a:rPr lang="zh-CN" altLang="en-US" u="sng" dirty="0"/>
              <a:t>一致性</a:t>
            </a:r>
            <a:r>
              <a:rPr lang="zh-CN" altLang="en-US" dirty="0"/>
              <a:t>，相似的操作应有相似的交互方式，降低用户的学习成本。</a:t>
            </a:r>
            <a:endParaRPr lang="en-US" altLang="zh-CN" dirty="0"/>
          </a:p>
        </p:txBody>
      </p:sp>
      <p:sp>
        <p:nvSpPr>
          <p:cNvPr id="4" name="Rectangle 2">
            <a:extLst>
              <a:ext uri="{FF2B5EF4-FFF2-40B4-BE49-F238E27FC236}">
                <a16:creationId xmlns:a16="http://schemas.microsoft.com/office/drawing/2014/main" id="{FE177EF1-6CF1-4C11-85A9-1843E354B3C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07831360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设计</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normAutofit fontScale="92500" lnSpcReduction="20000"/>
          </a:bodyPr>
          <a:lstStyle/>
          <a:p>
            <a:r>
              <a:rPr lang="zh-CN" altLang="en-US" b="1" dirty="0"/>
              <a:t>结构化方法：</a:t>
            </a:r>
            <a:endParaRPr lang="en-US" altLang="zh-CN" b="1" dirty="0"/>
          </a:p>
          <a:p>
            <a:r>
              <a:rPr lang="zh-CN" altLang="en-US" dirty="0"/>
              <a:t>程序流程图</a:t>
            </a:r>
            <a:endParaRPr lang="en-US" altLang="zh-CN" dirty="0"/>
          </a:p>
          <a:p>
            <a:r>
              <a:rPr lang="en-US" altLang="zh-CN" dirty="0"/>
              <a:t>PAD</a:t>
            </a:r>
            <a:r>
              <a:rPr lang="zh-CN" altLang="en-US" dirty="0"/>
              <a:t>图</a:t>
            </a:r>
            <a:endParaRPr lang="en-US" altLang="zh-CN" dirty="0"/>
          </a:p>
          <a:p>
            <a:r>
              <a:rPr lang="en-US" altLang="zh-CN" dirty="0"/>
              <a:t>NS</a:t>
            </a:r>
            <a:r>
              <a:rPr lang="zh-CN" altLang="en-US" dirty="0"/>
              <a:t>图</a:t>
            </a:r>
            <a:endParaRPr lang="en-US" altLang="zh-CN" dirty="0"/>
          </a:p>
          <a:p>
            <a:endParaRPr lang="en-US" altLang="zh-CN" dirty="0"/>
          </a:p>
          <a:p>
            <a:r>
              <a:rPr lang="zh-CN" altLang="en-US" b="1" dirty="0"/>
              <a:t>面向对象：</a:t>
            </a:r>
            <a:endParaRPr lang="en-US" altLang="zh-CN" b="1" dirty="0"/>
          </a:p>
          <a:p>
            <a:r>
              <a:rPr lang="zh-CN" altLang="en-US" dirty="0"/>
              <a:t>设计类图（</a:t>
            </a:r>
            <a:r>
              <a:rPr lang="en-US" altLang="zh-CN" dirty="0"/>
              <a:t>Design Class Diagram</a:t>
            </a:r>
            <a:r>
              <a:rPr lang="zh-CN" altLang="en-US" dirty="0"/>
              <a:t>）</a:t>
            </a:r>
            <a:endParaRPr lang="en-US" altLang="zh-CN" dirty="0"/>
          </a:p>
          <a:p>
            <a:r>
              <a:rPr lang="zh-CN" altLang="en-US" dirty="0"/>
              <a:t>顺序图（</a:t>
            </a:r>
            <a:r>
              <a:rPr lang="en-US" altLang="zh-CN" dirty="0"/>
              <a:t>Sequence Diagram</a:t>
            </a:r>
            <a:r>
              <a:rPr lang="zh-CN" altLang="en-US" dirty="0"/>
              <a:t>）</a:t>
            </a:r>
            <a:endParaRPr lang="en-US" altLang="zh-CN" dirty="0"/>
          </a:p>
          <a:p>
            <a:r>
              <a:rPr lang="zh-CN" altLang="en-US" dirty="0"/>
              <a:t>协作图（</a:t>
            </a:r>
            <a:r>
              <a:rPr lang="en-US" altLang="zh-CN" dirty="0"/>
              <a:t>Communication Diagram</a:t>
            </a:r>
            <a:r>
              <a:rPr lang="zh-CN" altLang="en-US" dirty="0"/>
              <a:t>）</a:t>
            </a:r>
            <a:endParaRPr lang="en-US" altLang="zh-CN" dirty="0"/>
          </a:p>
          <a:p>
            <a:r>
              <a:rPr lang="zh-CN" altLang="en-US" dirty="0"/>
              <a:t>包图（</a:t>
            </a:r>
            <a:r>
              <a:rPr lang="en-US" altLang="zh-CN" dirty="0"/>
              <a:t>Package Diagram</a:t>
            </a:r>
            <a:r>
              <a:rPr lang="zh-CN" altLang="en-US" dirty="0"/>
              <a:t>）</a:t>
            </a:r>
            <a:endParaRPr lang="en-US" altLang="zh-CN" dirty="0"/>
          </a:p>
          <a:p>
            <a:endParaRPr lang="en-US" altLang="zh-CN" dirty="0"/>
          </a:p>
        </p:txBody>
      </p:sp>
    </p:spTree>
    <p:extLst>
      <p:ext uri="{BB962C8B-B14F-4D97-AF65-F5344CB8AC3E}">
        <p14:creationId xmlns:p14="http://schemas.microsoft.com/office/powerpoint/2010/main" val="345891922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设计</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normAutofit/>
          </a:bodyPr>
          <a:lstStyle/>
          <a:p>
            <a:r>
              <a:rPr lang="zh-CN" altLang="en-US" b="1" dirty="0"/>
              <a:t>结构化方法：</a:t>
            </a:r>
            <a:endParaRPr lang="en-US" altLang="zh-CN" b="1" dirty="0"/>
          </a:p>
          <a:p>
            <a:r>
              <a:rPr lang="zh-CN" altLang="en-US" dirty="0"/>
              <a:t>程序流程图</a:t>
            </a:r>
            <a:endParaRPr lang="en-US" altLang="zh-CN" dirty="0"/>
          </a:p>
          <a:p>
            <a:r>
              <a:rPr lang="en-US" altLang="zh-CN" dirty="0"/>
              <a:t>PAD</a:t>
            </a:r>
            <a:r>
              <a:rPr lang="zh-CN" altLang="en-US" dirty="0"/>
              <a:t>图</a:t>
            </a:r>
            <a:endParaRPr lang="en-US" altLang="zh-CN" dirty="0"/>
          </a:p>
          <a:p>
            <a:r>
              <a:rPr lang="en-US" altLang="zh-CN" dirty="0"/>
              <a:t>NS</a:t>
            </a:r>
            <a:r>
              <a:rPr lang="zh-CN" altLang="en-US" dirty="0"/>
              <a:t>图</a:t>
            </a:r>
            <a:endParaRPr lang="en-US" altLang="zh-CN" dirty="0"/>
          </a:p>
          <a:p>
            <a:endParaRPr lang="en-US" altLang="zh-CN" dirty="0"/>
          </a:p>
          <a:p>
            <a:endParaRPr lang="en-US" altLang="zh-CN" dirty="0"/>
          </a:p>
        </p:txBody>
      </p:sp>
    </p:spTree>
    <p:extLst>
      <p:ext uri="{BB962C8B-B14F-4D97-AF65-F5344CB8AC3E}">
        <p14:creationId xmlns:p14="http://schemas.microsoft.com/office/powerpoint/2010/main" val="4305874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83">
            <a:extLst>
              <a:ext uri="{FF2B5EF4-FFF2-40B4-BE49-F238E27FC236}">
                <a16:creationId xmlns:a16="http://schemas.microsoft.com/office/drawing/2014/main" id="{98D3A9B5-17F7-4DB2-A348-21545191050F}"/>
              </a:ext>
            </a:extLst>
          </p:cNvPr>
          <p:cNvGrpSpPr>
            <a:grpSpLocks/>
          </p:cNvGrpSpPr>
          <p:nvPr/>
        </p:nvGrpSpPr>
        <p:grpSpPr bwMode="auto">
          <a:xfrm>
            <a:off x="2971800" y="304800"/>
            <a:ext cx="7315200" cy="6172200"/>
            <a:chOff x="912" y="192"/>
            <a:chExt cx="4608" cy="3888"/>
          </a:xfrm>
        </p:grpSpPr>
        <p:sp>
          <p:nvSpPr>
            <p:cNvPr id="35" name="Rectangle 32">
              <a:extLst>
                <a:ext uri="{FF2B5EF4-FFF2-40B4-BE49-F238E27FC236}">
                  <a16:creationId xmlns:a16="http://schemas.microsoft.com/office/drawing/2014/main" id="{9AE8F187-ABE1-4BF1-BD6B-C7993321EC78}"/>
                </a:ext>
              </a:extLst>
            </p:cNvPr>
            <p:cNvSpPr>
              <a:spLocks noChangeArrowheads="1"/>
            </p:cNvSpPr>
            <p:nvPr/>
          </p:nvSpPr>
          <p:spPr bwMode="auto">
            <a:xfrm>
              <a:off x="912" y="528"/>
              <a:ext cx="4608" cy="7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a:p>
          </p:txBody>
        </p:sp>
        <p:sp>
          <p:nvSpPr>
            <p:cNvPr id="37" name="AutoShape 5">
              <a:extLst>
                <a:ext uri="{FF2B5EF4-FFF2-40B4-BE49-F238E27FC236}">
                  <a16:creationId xmlns:a16="http://schemas.microsoft.com/office/drawing/2014/main" id="{39620692-EDB7-42AF-A393-680A9FFCEECA}"/>
                </a:ext>
              </a:extLst>
            </p:cNvPr>
            <p:cNvSpPr>
              <a:spLocks noChangeArrowheads="1"/>
            </p:cNvSpPr>
            <p:nvPr/>
          </p:nvSpPr>
          <p:spPr bwMode="auto">
            <a:xfrm>
              <a:off x="2544" y="1296"/>
              <a:ext cx="768" cy="288"/>
            </a:xfrm>
            <a:prstGeom prst="flowChartDecision">
              <a:avLst/>
            </a:prstGeom>
            <a:solidFill>
              <a:schemeClr val="bg1"/>
            </a:solidFill>
            <a:ln w="9525">
              <a:solidFill>
                <a:srgbClr val="F761DA"/>
              </a:solidFill>
              <a:miter lim="800000"/>
              <a:headEnd/>
              <a:tailEnd/>
            </a:ln>
            <a:effectLst/>
          </p:spPr>
          <p:txBody>
            <a:bodyPr wrap="none" anchor="ctr"/>
            <a:lstStyle/>
            <a:p>
              <a:pPr algn="ctr">
                <a:defRPr/>
              </a:pPr>
              <a:r>
                <a:rPr lang="en-US" altLang="zh-CN" sz="1600" b="1">
                  <a:effectLst>
                    <a:outerShdw blurRad="38100" dist="38100" dir="2700000" algn="tl">
                      <a:srgbClr val="000000"/>
                    </a:outerShdw>
                  </a:effectLst>
                  <a:latin typeface="Arial" charset="0"/>
                  <a:ea typeface="文鼎细圆" pitchFamily="49" charset="-122"/>
                </a:rPr>
                <a:t>X1</a:t>
              </a:r>
            </a:p>
          </p:txBody>
        </p:sp>
        <p:sp>
          <p:nvSpPr>
            <p:cNvPr id="38" name="Line 6">
              <a:extLst>
                <a:ext uri="{FF2B5EF4-FFF2-40B4-BE49-F238E27FC236}">
                  <a16:creationId xmlns:a16="http://schemas.microsoft.com/office/drawing/2014/main" id="{021CEA26-9375-4C25-8A39-6B0F39BFB400}"/>
                </a:ext>
              </a:extLst>
            </p:cNvPr>
            <p:cNvSpPr>
              <a:spLocks noChangeShapeType="1"/>
            </p:cNvSpPr>
            <p:nvPr/>
          </p:nvSpPr>
          <p:spPr bwMode="auto">
            <a:xfrm>
              <a:off x="2928" y="480"/>
              <a:ext cx="0" cy="144"/>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 name="Line 7">
              <a:extLst>
                <a:ext uri="{FF2B5EF4-FFF2-40B4-BE49-F238E27FC236}">
                  <a16:creationId xmlns:a16="http://schemas.microsoft.com/office/drawing/2014/main" id="{6CE02405-5E7A-4A40-BBBF-091D51BBB5D0}"/>
                </a:ext>
              </a:extLst>
            </p:cNvPr>
            <p:cNvSpPr>
              <a:spLocks noChangeShapeType="1"/>
            </p:cNvSpPr>
            <p:nvPr/>
          </p:nvSpPr>
          <p:spPr bwMode="auto">
            <a:xfrm>
              <a:off x="1584" y="1440"/>
              <a:ext cx="0" cy="144"/>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Line 8">
              <a:extLst>
                <a:ext uri="{FF2B5EF4-FFF2-40B4-BE49-F238E27FC236}">
                  <a16:creationId xmlns:a16="http://schemas.microsoft.com/office/drawing/2014/main" id="{3E7157AD-218F-43EF-8608-ADC6456C5728}"/>
                </a:ext>
              </a:extLst>
            </p:cNvPr>
            <p:cNvSpPr>
              <a:spLocks noChangeShapeType="1"/>
            </p:cNvSpPr>
            <p:nvPr/>
          </p:nvSpPr>
          <p:spPr bwMode="auto">
            <a:xfrm>
              <a:off x="1584" y="1824"/>
              <a:ext cx="0" cy="1344"/>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 name="Line 9">
              <a:extLst>
                <a:ext uri="{FF2B5EF4-FFF2-40B4-BE49-F238E27FC236}">
                  <a16:creationId xmlns:a16="http://schemas.microsoft.com/office/drawing/2014/main" id="{B4F09840-8665-4929-BB5C-9DA8711EEC31}"/>
                </a:ext>
              </a:extLst>
            </p:cNvPr>
            <p:cNvSpPr>
              <a:spLocks noChangeShapeType="1"/>
            </p:cNvSpPr>
            <p:nvPr/>
          </p:nvSpPr>
          <p:spPr bwMode="auto">
            <a:xfrm>
              <a:off x="1584" y="1440"/>
              <a:ext cx="96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Text Box 10">
              <a:extLst>
                <a:ext uri="{FF2B5EF4-FFF2-40B4-BE49-F238E27FC236}">
                  <a16:creationId xmlns:a16="http://schemas.microsoft.com/office/drawing/2014/main" id="{C08F2D9C-2B36-40A7-9D05-49657DC893A8}"/>
                </a:ext>
              </a:extLst>
            </p:cNvPr>
            <p:cNvSpPr txBox="1">
              <a:spLocks noChangeArrowheads="1"/>
            </p:cNvSpPr>
            <p:nvPr/>
          </p:nvSpPr>
          <p:spPr bwMode="auto">
            <a:xfrm>
              <a:off x="3216" y="1968"/>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F</a:t>
              </a:r>
            </a:p>
          </p:txBody>
        </p:sp>
        <p:sp>
          <p:nvSpPr>
            <p:cNvPr id="43" name="Text Box 11">
              <a:extLst>
                <a:ext uri="{FF2B5EF4-FFF2-40B4-BE49-F238E27FC236}">
                  <a16:creationId xmlns:a16="http://schemas.microsoft.com/office/drawing/2014/main" id="{28848C8E-C3AC-4C12-865C-5CD58E0765AE}"/>
                </a:ext>
              </a:extLst>
            </p:cNvPr>
            <p:cNvSpPr txBox="1">
              <a:spLocks noChangeArrowheads="1"/>
            </p:cNvSpPr>
            <p:nvPr/>
          </p:nvSpPr>
          <p:spPr bwMode="auto">
            <a:xfrm>
              <a:off x="3312" y="1248"/>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T</a:t>
              </a:r>
            </a:p>
          </p:txBody>
        </p:sp>
        <p:sp>
          <p:nvSpPr>
            <p:cNvPr id="44" name="Rectangle 12">
              <a:extLst>
                <a:ext uri="{FF2B5EF4-FFF2-40B4-BE49-F238E27FC236}">
                  <a16:creationId xmlns:a16="http://schemas.microsoft.com/office/drawing/2014/main" id="{6E3A440D-CCD3-4F26-9196-8F5C529CCB9A}"/>
                </a:ext>
              </a:extLst>
            </p:cNvPr>
            <p:cNvSpPr>
              <a:spLocks noChangeArrowheads="1"/>
            </p:cNvSpPr>
            <p:nvPr/>
          </p:nvSpPr>
          <p:spPr bwMode="auto">
            <a:xfrm>
              <a:off x="2688" y="624"/>
              <a:ext cx="480" cy="192"/>
            </a:xfrm>
            <a:prstGeom prst="rect">
              <a:avLst/>
            </a:prstGeom>
            <a:solidFill>
              <a:schemeClr val="bg1"/>
            </a:solidFill>
            <a:ln w="9525">
              <a:solidFill>
                <a:srgbClr val="32B828"/>
              </a:solidFill>
              <a:miter lim="800000"/>
              <a:headEnd/>
              <a:tailEnd/>
            </a:ln>
            <a:effectLst/>
          </p:spPr>
          <p:txBody>
            <a:bodyPr wrap="none" anchor="ctr"/>
            <a:lstStyle/>
            <a:p>
              <a:pPr algn="ctr">
                <a:defRPr/>
              </a:pPr>
              <a:r>
                <a:rPr lang="en-US" altLang="zh-CN" b="1">
                  <a:effectLst>
                    <a:outerShdw blurRad="38100" dist="38100" dir="2700000" algn="tl">
                      <a:srgbClr val="000000"/>
                    </a:outerShdw>
                  </a:effectLst>
                  <a:latin typeface="Arial" charset="0"/>
                  <a:ea typeface="文鼎细圆" pitchFamily="49" charset="-122"/>
                </a:rPr>
                <a:t>a</a:t>
              </a:r>
            </a:p>
          </p:txBody>
        </p:sp>
        <p:sp>
          <p:nvSpPr>
            <p:cNvPr id="45" name="AutoShape 13">
              <a:extLst>
                <a:ext uri="{FF2B5EF4-FFF2-40B4-BE49-F238E27FC236}">
                  <a16:creationId xmlns:a16="http://schemas.microsoft.com/office/drawing/2014/main" id="{FD10643B-5448-4D16-8358-AF05229F705C}"/>
                </a:ext>
              </a:extLst>
            </p:cNvPr>
            <p:cNvSpPr>
              <a:spLocks noChangeArrowheads="1"/>
            </p:cNvSpPr>
            <p:nvPr/>
          </p:nvSpPr>
          <p:spPr bwMode="auto">
            <a:xfrm>
              <a:off x="3360" y="2016"/>
              <a:ext cx="768" cy="288"/>
            </a:xfrm>
            <a:prstGeom prst="flowChartDecision">
              <a:avLst/>
            </a:prstGeom>
            <a:solidFill>
              <a:schemeClr val="bg1"/>
            </a:solidFill>
            <a:ln w="9525">
              <a:solidFill>
                <a:srgbClr val="32B828"/>
              </a:solidFill>
              <a:miter lim="800000"/>
              <a:headEnd/>
              <a:tailEnd/>
            </a:ln>
            <a:effectLst/>
          </p:spPr>
          <p:txBody>
            <a:bodyPr wrap="none" anchor="ctr"/>
            <a:lstStyle/>
            <a:p>
              <a:pPr algn="ctr">
                <a:defRPr/>
              </a:pPr>
              <a:r>
                <a:rPr lang="en-US" altLang="zh-CN" sz="1600" b="1">
                  <a:effectLst>
                    <a:outerShdw blurRad="38100" dist="38100" dir="2700000" algn="tl">
                      <a:srgbClr val="000000"/>
                    </a:outerShdw>
                  </a:effectLst>
                  <a:latin typeface="Arial" charset="0"/>
                  <a:ea typeface="文鼎细圆" pitchFamily="49" charset="-122"/>
                </a:rPr>
                <a:t>X4</a:t>
              </a:r>
            </a:p>
          </p:txBody>
        </p:sp>
        <p:sp>
          <p:nvSpPr>
            <p:cNvPr id="46" name="Line 14">
              <a:extLst>
                <a:ext uri="{FF2B5EF4-FFF2-40B4-BE49-F238E27FC236}">
                  <a16:creationId xmlns:a16="http://schemas.microsoft.com/office/drawing/2014/main" id="{8AE1525C-982B-4141-A754-D00E0CE28681}"/>
                </a:ext>
              </a:extLst>
            </p:cNvPr>
            <p:cNvSpPr>
              <a:spLocks noChangeShapeType="1"/>
            </p:cNvSpPr>
            <p:nvPr/>
          </p:nvSpPr>
          <p:spPr bwMode="auto">
            <a:xfrm>
              <a:off x="2256" y="1920"/>
              <a:ext cx="0" cy="144"/>
            </a:xfrm>
            <a:prstGeom prst="line">
              <a:avLst/>
            </a:prstGeom>
            <a:noFill/>
            <a:ln w="19050">
              <a:solidFill>
                <a:srgbClr val="F761DA"/>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 name="Line 15">
              <a:extLst>
                <a:ext uri="{FF2B5EF4-FFF2-40B4-BE49-F238E27FC236}">
                  <a16:creationId xmlns:a16="http://schemas.microsoft.com/office/drawing/2014/main" id="{8549C239-5D5F-4653-8AB8-16A34DD2BD6A}"/>
                </a:ext>
              </a:extLst>
            </p:cNvPr>
            <p:cNvSpPr>
              <a:spLocks noChangeShapeType="1"/>
            </p:cNvSpPr>
            <p:nvPr/>
          </p:nvSpPr>
          <p:spPr bwMode="auto">
            <a:xfrm>
              <a:off x="2976" y="3888"/>
              <a:ext cx="0" cy="192"/>
            </a:xfrm>
            <a:prstGeom prst="line">
              <a:avLst/>
            </a:prstGeom>
            <a:noFill/>
            <a:ln w="28575">
              <a:solidFill>
                <a:srgbClr val="32B828"/>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 name="Line 16">
              <a:extLst>
                <a:ext uri="{FF2B5EF4-FFF2-40B4-BE49-F238E27FC236}">
                  <a16:creationId xmlns:a16="http://schemas.microsoft.com/office/drawing/2014/main" id="{81B5B2F8-8B6A-4175-83B2-6A09C462947D}"/>
                </a:ext>
              </a:extLst>
            </p:cNvPr>
            <p:cNvSpPr>
              <a:spLocks noChangeShapeType="1"/>
            </p:cNvSpPr>
            <p:nvPr/>
          </p:nvSpPr>
          <p:spPr bwMode="auto">
            <a:xfrm>
              <a:off x="2256" y="2256"/>
              <a:ext cx="0" cy="144"/>
            </a:xfrm>
            <a:prstGeom prst="line">
              <a:avLst/>
            </a:prstGeom>
            <a:noFill/>
            <a:ln w="19050">
              <a:solidFill>
                <a:srgbClr val="F761DA"/>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Line 18">
              <a:extLst>
                <a:ext uri="{FF2B5EF4-FFF2-40B4-BE49-F238E27FC236}">
                  <a16:creationId xmlns:a16="http://schemas.microsoft.com/office/drawing/2014/main" id="{9FA893FD-3B55-44E3-B93F-C02B5A3545EB}"/>
                </a:ext>
              </a:extLst>
            </p:cNvPr>
            <p:cNvSpPr>
              <a:spLocks noChangeShapeType="1"/>
            </p:cNvSpPr>
            <p:nvPr/>
          </p:nvSpPr>
          <p:spPr bwMode="auto">
            <a:xfrm>
              <a:off x="1824" y="1920"/>
              <a:ext cx="0" cy="576"/>
            </a:xfrm>
            <a:prstGeom prst="line">
              <a:avLst/>
            </a:prstGeom>
            <a:noFill/>
            <a:ln w="19050">
              <a:solidFill>
                <a:srgbClr val="F761D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19">
              <a:extLst>
                <a:ext uri="{FF2B5EF4-FFF2-40B4-BE49-F238E27FC236}">
                  <a16:creationId xmlns:a16="http://schemas.microsoft.com/office/drawing/2014/main" id="{32DE0C46-A9E1-4C80-9342-201B33D1B392}"/>
                </a:ext>
              </a:extLst>
            </p:cNvPr>
            <p:cNvSpPr>
              <a:spLocks noChangeShapeType="1"/>
            </p:cNvSpPr>
            <p:nvPr/>
          </p:nvSpPr>
          <p:spPr bwMode="auto">
            <a:xfrm>
              <a:off x="3312" y="1440"/>
              <a:ext cx="432" cy="0"/>
            </a:xfrm>
            <a:prstGeom prst="line">
              <a:avLst/>
            </a:prstGeom>
            <a:noFill/>
            <a:ln w="317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20">
              <a:extLst>
                <a:ext uri="{FF2B5EF4-FFF2-40B4-BE49-F238E27FC236}">
                  <a16:creationId xmlns:a16="http://schemas.microsoft.com/office/drawing/2014/main" id="{5A21FF0F-5F25-43E0-925A-583AB80A3D2B}"/>
                </a:ext>
              </a:extLst>
            </p:cNvPr>
            <p:cNvSpPr>
              <a:spLocks noChangeShapeType="1"/>
            </p:cNvSpPr>
            <p:nvPr/>
          </p:nvSpPr>
          <p:spPr bwMode="auto">
            <a:xfrm>
              <a:off x="1584" y="1920"/>
              <a:ext cx="672"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Rectangle 21">
              <a:extLst>
                <a:ext uri="{FF2B5EF4-FFF2-40B4-BE49-F238E27FC236}">
                  <a16:creationId xmlns:a16="http://schemas.microsoft.com/office/drawing/2014/main" id="{3C43BF75-816E-4ADF-8C57-B7782992E8ED}"/>
                </a:ext>
              </a:extLst>
            </p:cNvPr>
            <p:cNvSpPr>
              <a:spLocks noChangeArrowheads="1"/>
            </p:cNvSpPr>
            <p:nvPr/>
          </p:nvSpPr>
          <p:spPr bwMode="auto">
            <a:xfrm>
              <a:off x="2016" y="2400"/>
              <a:ext cx="480" cy="192"/>
            </a:xfrm>
            <a:prstGeom prst="rect">
              <a:avLst/>
            </a:prstGeom>
            <a:solidFill>
              <a:schemeClr val="bg1"/>
            </a:solidFill>
            <a:ln w="9525">
              <a:solidFill>
                <a:srgbClr val="F761DA"/>
              </a:solidFill>
              <a:miter lim="800000"/>
              <a:headEnd/>
              <a:tailEnd/>
            </a:ln>
            <a:effectLst/>
          </p:spPr>
          <p:txBody>
            <a:bodyPr wrap="none" anchor="ctr"/>
            <a:lstStyle/>
            <a:p>
              <a:pPr algn="ctr">
                <a:defRPr/>
              </a:pPr>
              <a:r>
                <a:rPr lang="en-US" altLang="zh-CN" b="1">
                  <a:effectLst>
                    <a:outerShdw blurRad="38100" dist="38100" dir="2700000" algn="tl">
                      <a:srgbClr val="000000"/>
                    </a:outerShdw>
                  </a:effectLst>
                  <a:latin typeface="Times New Roman" charset="0"/>
                  <a:ea typeface="文鼎细圆" pitchFamily="49" charset="-122"/>
                </a:rPr>
                <a:t>c</a:t>
              </a:r>
            </a:p>
          </p:txBody>
        </p:sp>
        <p:sp>
          <p:nvSpPr>
            <p:cNvPr id="53" name="Line 22">
              <a:extLst>
                <a:ext uri="{FF2B5EF4-FFF2-40B4-BE49-F238E27FC236}">
                  <a16:creationId xmlns:a16="http://schemas.microsoft.com/office/drawing/2014/main" id="{B1B902CC-27BF-49E2-AE12-DC2F9273A69E}"/>
                </a:ext>
              </a:extLst>
            </p:cNvPr>
            <p:cNvSpPr>
              <a:spLocks noChangeShapeType="1"/>
            </p:cNvSpPr>
            <p:nvPr/>
          </p:nvSpPr>
          <p:spPr bwMode="auto">
            <a:xfrm>
              <a:off x="2592" y="2160"/>
              <a:ext cx="144" cy="0"/>
            </a:xfrm>
            <a:prstGeom prst="line">
              <a:avLst/>
            </a:prstGeom>
            <a:noFill/>
            <a:ln w="19050">
              <a:solidFill>
                <a:srgbClr val="F761D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Text Box 23">
              <a:extLst>
                <a:ext uri="{FF2B5EF4-FFF2-40B4-BE49-F238E27FC236}">
                  <a16:creationId xmlns:a16="http://schemas.microsoft.com/office/drawing/2014/main" id="{89AAAE89-9593-423F-BEAD-53551E4FED63}"/>
                </a:ext>
              </a:extLst>
            </p:cNvPr>
            <p:cNvSpPr txBox="1">
              <a:spLocks noChangeArrowheads="1"/>
            </p:cNvSpPr>
            <p:nvPr/>
          </p:nvSpPr>
          <p:spPr bwMode="auto">
            <a:xfrm>
              <a:off x="4128" y="1968"/>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T</a:t>
              </a:r>
            </a:p>
          </p:txBody>
        </p:sp>
        <p:sp>
          <p:nvSpPr>
            <p:cNvPr id="55" name="Line 24">
              <a:extLst>
                <a:ext uri="{FF2B5EF4-FFF2-40B4-BE49-F238E27FC236}">
                  <a16:creationId xmlns:a16="http://schemas.microsoft.com/office/drawing/2014/main" id="{28C59CE7-2BF1-4629-A5CB-94A2BF37153F}"/>
                </a:ext>
              </a:extLst>
            </p:cNvPr>
            <p:cNvSpPr>
              <a:spLocks noChangeShapeType="1"/>
            </p:cNvSpPr>
            <p:nvPr/>
          </p:nvSpPr>
          <p:spPr bwMode="auto">
            <a:xfrm>
              <a:off x="1824" y="2496"/>
              <a:ext cx="192" cy="0"/>
            </a:xfrm>
            <a:prstGeom prst="line">
              <a:avLst/>
            </a:prstGeom>
            <a:noFill/>
            <a:ln w="19050">
              <a:solidFill>
                <a:srgbClr val="F761D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Rectangle 25">
              <a:extLst>
                <a:ext uri="{FF2B5EF4-FFF2-40B4-BE49-F238E27FC236}">
                  <a16:creationId xmlns:a16="http://schemas.microsoft.com/office/drawing/2014/main" id="{934321CF-89C1-48E5-85B1-B657FE962243}"/>
                </a:ext>
              </a:extLst>
            </p:cNvPr>
            <p:cNvSpPr>
              <a:spLocks noChangeArrowheads="1"/>
            </p:cNvSpPr>
            <p:nvPr/>
          </p:nvSpPr>
          <p:spPr bwMode="auto">
            <a:xfrm>
              <a:off x="3504" y="1680"/>
              <a:ext cx="480" cy="192"/>
            </a:xfrm>
            <a:prstGeom prst="rect">
              <a:avLst/>
            </a:prstGeom>
            <a:solidFill>
              <a:schemeClr val="bg1"/>
            </a:solidFill>
            <a:ln w="9525">
              <a:solidFill>
                <a:srgbClr val="32B828"/>
              </a:solidFill>
              <a:miter lim="800000"/>
              <a:headEnd/>
              <a:tailEnd/>
            </a:ln>
            <a:effectLst/>
          </p:spPr>
          <p:txBody>
            <a:bodyPr wrap="none" anchor="ctr"/>
            <a:lstStyle/>
            <a:p>
              <a:pPr algn="ctr">
                <a:defRPr/>
              </a:pPr>
              <a:r>
                <a:rPr lang="en-US" altLang="zh-CN" b="1">
                  <a:effectLst>
                    <a:outerShdw blurRad="38100" dist="38100" dir="2700000" algn="tl">
                      <a:srgbClr val="000000"/>
                    </a:outerShdw>
                  </a:effectLst>
                  <a:latin typeface="Times New Roman" charset="0"/>
                  <a:ea typeface="文鼎细圆" pitchFamily="49" charset="-122"/>
                </a:rPr>
                <a:t>f</a:t>
              </a:r>
            </a:p>
          </p:txBody>
        </p:sp>
        <p:sp>
          <p:nvSpPr>
            <p:cNvPr id="57" name="Line 26">
              <a:extLst>
                <a:ext uri="{FF2B5EF4-FFF2-40B4-BE49-F238E27FC236}">
                  <a16:creationId xmlns:a16="http://schemas.microsoft.com/office/drawing/2014/main" id="{41AC7DB5-E038-4C41-8875-67742EDE5620}"/>
                </a:ext>
              </a:extLst>
            </p:cNvPr>
            <p:cNvSpPr>
              <a:spLocks noChangeShapeType="1"/>
            </p:cNvSpPr>
            <p:nvPr/>
          </p:nvSpPr>
          <p:spPr bwMode="auto">
            <a:xfrm>
              <a:off x="3888" y="2928"/>
              <a:ext cx="144" cy="0"/>
            </a:xfrm>
            <a:prstGeom prst="line">
              <a:avLst/>
            </a:prstGeom>
            <a:noFill/>
            <a:ln w="19050">
              <a:solidFill>
                <a:srgbClr val="F761D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Text Box 27">
              <a:extLst>
                <a:ext uri="{FF2B5EF4-FFF2-40B4-BE49-F238E27FC236}">
                  <a16:creationId xmlns:a16="http://schemas.microsoft.com/office/drawing/2014/main" id="{189BFDD5-17E4-4D4D-8608-F0ACA9BEA844}"/>
                </a:ext>
              </a:extLst>
            </p:cNvPr>
            <p:cNvSpPr txBox="1">
              <a:spLocks noChangeArrowheads="1"/>
            </p:cNvSpPr>
            <p:nvPr/>
          </p:nvSpPr>
          <p:spPr bwMode="auto">
            <a:xfrm>
              <a:off x="2304" y="2208"/>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T</a:t>
              </a:r>
            </a:p>
          </p:txBody>
        </p:sp>
        <p:sp>
          <p:nvSpPr>
            <p:cNvPr id="59" name="Text Box 28">
              <a:extLst>
                <a:ext uri="{FF2B5EF4-FFF2-40B4-BE49-F238E27FC236}">
                  <a16:creationId xmlns:a16="http://schemas.microsoft.com/office/drawing/2014/main" id="{CE06423E-6FAA-480F-ADA0-B0090360CF77}"/>
                </a:ext>
              </a:extLst>
            </p:cNvPr>
            <p:cNvSpPr txBox="1">
              <a:spLocks noChangeArrowheads="1"/>
            </p:cNvSpPr>
            <p:nvPr/>
          </p:nvSpPr>
          <p:spPr bwMode="auto">
            <a:xfrm>
              <a:off x="2400" y="1248"/>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F</a:t>
              </a:r>
            </a:p>
          </p:txBody>
        </p:sp>
        <p:sp>
          <p:nvSpPr>
            <p:cNvPr id="60" name="Text Box 29">
              <a:extLst>
                <a:ext uri="{FF2B5EF4-FFF2-40B4-BE49-F238E27FC236}">
                  <a16:creationId xmlns:a16="http://schemas.microsoft.com/office/drawing/2014/main" id="{81708209-6094-4216-B872-A469690889EB}"/>
                </a:ext>
              </a:extLst>
            </p:cNvPr>
            <p:cNvSpPr txBox="1">
              <a:spLocks noChangeArrowheads="1"/>
            </p:cNvSpPr>
            <p:nvPr/>
          </p:nvSpPr>
          <p:spPr bwMode="auto">
            <a:xfrm>
              <a:off x="2544" y="1968"/>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F</a:t>
              </a:r>
            </a:p>
          </p:txBody>
        </p:sp>
        <p:sp>
          <p:nvSpPr>
            <p:cNvPr id="61" name="Line 30">
              <a:extLst>
                <a:ext uri="{FF2B5EF4-FFF2-40B4-BE49-F238E27FC236}">
                  <a16:creationId xmlns:a16="http://schemas.microsoft.com/office/drawing/2014/main" id="{9DE36EDD-B669-4788-85EA-68BAC1A3D68F}"/>
                </a:ext>
              </a:extLst>
            </p:cNvPr>
            <p:cNvSpPr>
              <a:spLocks noChangeShapeType="1"/>
            </p:cNvSpPr>
            <p:nvPr/>
          </p:nvSpPr>
          <p:spPr bwMode="auto">
            <a:xfrm flipV="1">
              <a:off x="2736" y="2160"/>
              <a:ext cx="0" cy="1008"/>
            </a:xfrm>
            <a:prstGeom prst="line">
              <a:avLst/>
            </a:prstGeom>
            <a:noFill/>
            <a:ln w="19050">
              <a:solidFill>
                <a:srgbClr val="32B828"/>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0" name="Oval 33">
              <a:extLst>
                <a:ext uri="{FF2B5EF4-FFF2-40B4-BE49-F238E27FC236}">
                  <a16:creationId xmlns:a16="http://schemas.microsoft.com/office/drawing/2014/main" id="{4C92553A-C768-42AC-B35B-AC1CFF210D13}"/>
                </a:ext>
              </a:extLst>
            </p:cNvPr>
            <p:cNvSpPr>
              <a:spLocks noChangeArrowheads="1"/>
            </p:cNvSpPr>
            <p:nvPr/>
          </p:nvSpPr>
          <p:spPr bwMode="auto">
            <a:xfrm>
              <a:off x="2784" y="192"/>
              <a:ext cx="288" cy="288"/>
            </a:xfrm>
            <a:prstGeom prst="ellipse">
              <a:avLst/>
            </a:prstGeom>
            <a:noFill/>
            <a:ln w="9525">
              <a:solidFill>
                <a:srgbClr val="F761DA"/>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600">
                  <a:ea typeface="黑体" panose="02010609060101010101" pitchFamily="49" charset="-122"/>
                </a:rPr>
                <a:t>入口</a:t>
              </a:r>
            </a:p>
          </p:txBody>
        </p:sp>
        <p:sp>
          <p:nvSpPr>
            <p:cNvPr id="91" name="Line 34">
              <a:extLst>
                <a:ext uri="{FF2B5EF4-FFF2-40B4-BE49-F238E27FC236}">
                  <a16:creationId xmlns:a16="http://schemas.microsoft.com/office/drawing/2014/main" id="{40FB3389-9A64-430B-894A-089D38B38C43}"/>
                </a:ext>
              </a:extLst>
            </p:cNvPr>
            <p:cNvSpPr>
              <a:spLocks noChangeShapeType="1"/>
            </p:cNvSpPr>
            <p:nvPr/>
          </p:nvSpPr>
          <p:spPr bwMode="auto">
            <a:xfrm>
              <a:off x="2928" y="816"/>
              <a:ext cx="0" cy="144"/>
            </a:xfrm>
            <a:prstGeom prst="line">
              <a:avLst/>
            </a:prstGeom>
            <a:noFill/>
            <a:ln w="19050">
              <a:solidFill>
                <a:srgbClr val="F761DA"/>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 name="Rectangle 35">
              <a:extLst>
                <a:ext uri="{FF2B5EF4-FFF2-40B4-BE49-F238E27FC236}">
                  <a16:creationId xmlns:a16="http://schemas.microsoft.com/office/drawing/2014/main" id="{6917C500-9C0D-434F-B484-F37825EB127F}"/>
                </a:ext>
              </a:extLst>
            </p:cNvPr>
            <p:cNvSpPr>
              <a:spLocks noChangeArrowheads="1"/>
            </p:cNvSpPr>
            <p:nvPr/>
          </p:nvSpPr>
          <p:spPr bwMode="auto">
            <a:xfrm>
              <a:off x="2688" y="960"/>
              <a:ext cx="480" cy="192"/>
            </a:xfrm>
            <a:prstGeom prst="rect">
              <a:avLst/>
            </a:prstGeom>
            <a:solidFill>
              <a:schemeClr val="bg1"/>
            </a:solidFill>
            <a:ln w="9525">
              <a:solidFill>
                <a:srgbClr val="F761DA"/>
              </a:solidFill>
              <a:miter lim="800000"/>
              <a:headEnd/>
              <a:tailEnd/>
            </a:ln>
            <a:effectLst/>
          </p:spPr>
          <p:txBody>
            <a:bodyPr wrap="none" anchor="ctr"/>
            <a:lstStyle/>
            <a:p>
              <a:pPr algn="ctr">
                <a:defRPr/>
              </a:pPr>
              <a:r>
                <a:rPr lang="en-US" altLang="zh-CN" b="1">
                  <a:effectLst>
                    <a:outerShdw blurRad="38100" dist="38100" dir="2700000" algn="tl">
                      <a:srgbClr val="000000"/>
                    </a:outerShdw>
                  </a:effectLst>
                  <a:latin typeface="Arial" charset="0"/>
                  <a:ea typeface="文鼎细圆" pitchFamily="49" charset="-122"/>
                </a:rPr>
                <a:t>b</a:t>
              </a:r>
            </a:p>
          </p:txBody>
        </p:sp>
        <p:sp>
          <p:nvSpPr>
            <p:cNvPr id="93" name="Line 36">
              <a:extLst>
                <a:ext uri="{FF2B5EF4-FFF2-40B4-BE49-F238E27FC236}">
                  <a16:creationId xmlns:a16="http://schemas.microsoft.com/office/drawing/2014/main" id="{0DF8FCD2-173B-4A32-92DF-74AF4F0FE627}"/>
                </a:ext>
              </a:extLst>
            </p:cNvPr>
            <p:cNvSpPr>
              <a:spLocks noChangeShapeType="1"/>
            </p:cNvSpPr>
            <p:nvPr/>
          </p:nvSpPr>
          <p:spPr bwMode="auto">
            <a:xfrm>
              <a:off x="2928" y="1152"/>
              <a:ext cx="0" cy="144"/>
            </a:xfrm>
            <a:prstGeom prst="line">
              <a:avLst/>
            </a:prstGeom>
            <a:noFill/>
            <a:ln w="19050">
              <a:solidFill>
                <a:srgbClr val="F761DA"/>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4" name="AutoShape 37">
              <a:extLst>
                <a:ext uri="{FF2B5EF4-FFF2-40B4-BE49-F238E27FC236}">
                  <a16:creationId xmlns:a16="http://schemas.microsoft.com/office/drawing/2014/main" id="{1D2BAA65-AF5B-4413-9401-A784C93AA63A}"/>
                </a:ext>
              </a:extLst>
            </p:cNvPr>
            <p:cNvSpPr>
              <a:spLocks noChangeArrowheads="1"/>
            </p:cNvSpPr>
            <p:nvPr/>
          </p:nvSpPr>
          <p:spPr bwMode="auto">
            <a:xfrm>
              <a:off x="1248" y="1584"/>
              <a:ext cx="672" cy="240"/>
            </a:xfrm>
            <a:prstGeom prst="flowChartDecision">
              <a:avLst/>
            </a:prstGeom>
            <a:solidFill>
              <a:schemeClr val="bg1"/>
            </a:solidFill>
            <a:ln w="9525">
              <a:solidFill>
                <a:srgbClr val="32B828"/>
              </a:solidFill>
              <a:miter lim="800000"/>
              <a:headEnd/>
              <a:tailEnd/>
            </a:ln>
            <a:effectLst/>
          </p:spPr>
          <p:txBody>
            <a:bodyPr wrap="none" anchor="ctr"/>
            <a:lstStyle/>
            <a:p>
              <a:pPr algn="ctr">
                <a:defRPr/>
              </a:pPr>
              <a:r>
                <a:rPr lang="en-US" altLang="zh-CN" sz="1600" b="1">
                  <a:effectLst>
                    <a:outerShdw blurRad="38100" dist="38100" dir="2700000" algn="tl">
                      <a:srgbClr val="000000"/>
                    </a:outerShdw>
                  </a:effectLst>
                  <a:latin typeface="Arial" charset="0"/>
                  <a:ea typeface="文鼎细圆" pitchFamily="49" charset="-122"/>
                </a:rPr>
                <a:t>X2</a:t>
              </a:r>
            </a:p>
          </p:txBody>
        </p:sp>
        <p:sp>
          <p:nvSpPr>
            <p:cNvPr id="95" name="AutoShape 38">
              <a:extLst>
                <a:ext uri="{FF2B5EF4-FFF2-40B4-BE49-F238E27FC236}">
                  <a16:creationId xmlns:a16="http://schemas.microsoft.com/office/drawing/2014/main" id="{AB87F256-0BFC-4915-8714-32222D2EE80B}"/>
                </a:ext>
              </a:extLst>
            </p:cNvPr>
            <p:cNvSpPr>
              <a:spLocks noChangeArrowheads="1"/>
            </p:cNvSpPr>
            <p:nvPr/>
          </p:nvSpPr>
          <p:spPr bwMode="auto">
            <a:xfrm>
              <a:off x="1920" y="2064"/>
              <a:ext cx="672" cy="192"/>
            </a:xfrm>
            <a:prstGeom prst="flowChartDecision">
              <a:avLst/>
            </a:prstGeom>
            <a:solidFill>
              <a:schemeClr val="bg1"/>
            </a:solidFill>
            <a:ln w="9525">
              <a:solidFill>
                <a:srgbClr val="F761DA"/>
              </a:solidFill>
              <a:miter lim="800000"/>
              <a:headEnd/>
              <a:tailEnd/>
            </a:ln>
            <a:effectLst/>
          </p:spPr>
          <p:txBody>
            <a:bodyPr wrap="none" anchor="ctr"/>
            <a:lstStyle/>
            <a:p>
              <a:pPr algn="ctr">
                <a:defRPr/>
              </a:pPr>
              <a:r>
                <a:rPr lang="en-US" altLang="zh-CN" sz="1600" b="1" dirty="0">
                  <a:effectLst>
                    <a:outerShdw blurRad="38100" dist="38100" dir="2700000" algn="tl">
                      <a:srgbClr val="000000"/>
                    </a:outerShdw>
                  </a:effectLst>
                  <a:latin typeface="Arial" charset="0"/>
                  <a:ea typeface="文鼎细圆" pitchFamily="49" charset="-122"/>
                </a:rPr>
                <a:t>X3</a:t>
              </a:r>
            </a:p>
          </p:txBody>
        </p:sp>
        <p:sp>
          <p:nvSpPr>
            <p:cNvPr id="96" name="Rectangle 39">
              <a:extLst>
                <a:ext uri="{FF2B5EF4-FFF2-40B4-BE49-F238E27FC236}">
                  <a16:creationId xmlns:a16="http://schemas.microsoft.com/office/drawing/2014/main" id="{5F814A36-7170-4885-9ACB-C63E9C83A658}"/>
                </a:ext>
              </a:extLst>
            </p:cNvPr>
            <p:cNvSpPr>
              <a:spLocks noChangeArrowheads="1"/>
            </p:cNvSpPr>
            <p:nvPr/>
          </p:nvSpPr>
          <p:spPr bwMode="auto">
            <a:xfrm>
              <a:off x="2016" y="2640"/>
              <a:ext cx="480" cy="192"/>
            </a:xfrm>
            <a:prstGeom prst="rect">
              <a:avLst/>
            </a:prstGeom>
            <a:solidFill>
              <a:schemeClr val="bg1"/>
            </a:solidFill>
            <a:ln w="9525">
              <a:solidFill>
                <a:srgbClr val="32B828"/>
              </a:solidFill>
              <a:miter lim="800000"/>
              <a:headEnd/>
              <a:tailEnd/>
            </a:ln>
            <a:effectLst/>
          </p:spPr>
          <p:txBody>
            <a:bodyPr wrap="none" anchor="ctr"/>
            <a:lstStyle/>
            <a:p>
              <a:pPr algn="ctr">
                <a:defRPr/>
              </a:pPr>
              <a:r>
                <a:rPr lang="en-US" altLang="zh-CN" b="1">
                  <a:effectLst>
                    <a:outerShdw blurRad="38100" dist="38100" dir="2700000" algn="tl">
                      <a:srgbClr val="000000"/>
                    </a:outerShdw>
                  </a:effectLst>
                  <a:latin typeface="Times New Roman" charset="0"/>
                  <a:ea typeface="文鼎细圆" pitchFamily="49" charset="-122"/>
                </a:rPr>
                <a:t>d</a:t>
              </a:r>
            </a:p>
          </p:txBody>
        </p:sp>
        <p:sp>
          <p:nvSpPr>
            <p:cNvPr id="97" name="Rectangle 40">
              <a:extLst>
                <a:ext uri="{FF2B5EF4-FFF2-40B4-BE49-F238E27FC236}">
                  <a16:creationId xmlns:a16="http://schemas.microsoft.com/office/drawing/2014/main" id="{E04C00D4-D710-4937-9370-6C5F8B5036FA}"/>
                </a:ext>
              </a:extLst>
            </p:cNvPr>
            <p:cNvSpPr>
              <a:spLocks noChangeArrowheads="1"/>
            </p:cNvSpPr>
            <p:nvPr/>
          </p:nvSpPr>
          <p:spPr bwMode="auto">
            <a:xfrm>
              <a:off x="2016" y="2880"/>
              <a:ext cx="480" cy="192"/>
            </a:xfrm>
            <a:prstGeom prst="rect">
              <a:avLst/>
            </a:prstGeom>
            <a:solidFill>
              <a:schemeClr val="bg1"/>
            </a:solidFill>
            <a:ln w="9525">
              <a:solidFill>
                <a:srgbClr val="32B828"/>
              </a:solidFill>
              <a:miter lim="800000"/>
              <a:headEnd/>
              <a:tailEnd/>
            </a:ln>
            <a:effectLst/>
          </p:spPr>
          <p:txBody>
            <a:bodyPr wrap="none" anchor="ctr"/>
            <a:lstStyle/>
            <a:p>
              <a:pPr algn="ctr">
                <a:defRPr/>
              </a:pPr>
              <a:r>
                <a:rPr lang="en-US" altLang="zh-CN" b="1">
                  <a:effectLst>
                    <a:outerShdw blurRad="38100" dist="38100" dir="2700000" algn="tl">
                      <a:srgbClr val="000000"/>
                    </a:outerShdw>
                  </a:effectLst>
                  <a:latin typeface="Times New Roman" charset="0"/>
                  <a:ea typeface="文鼎细圆" pitchFamily="49" charset="-122"/>
                </a:rPr>
                <a:t>e</a:t>
              </a:r>
            </a:p>
          </p:txBody>
        </p:sp>
        <p:sp>
          <p:nvSpPr>
            <p:cNvPr id="98" name="Line 41">
              <a:extLst>
                <a:ext uri="{FF2B5EF4-FFF2-40B4-BE49-F238E27FC236}">
                  <a16:creationId xmlns:a16="http://schemas.microsoft.com/office/drawing/2014/main" id="{4382C916-4ADF-4FD6-BED6-73C31FF76E5F}"/>
                </a:ext>
              </a:extLst>
            </p:cNvPr>
            <p:cNvSpPr>
              <a:spLocks noChangeShapeType="1"/>
            </p:cNvSpPr>
            <p:nvPr/>
          </p:nvSpPr>
          <p:spPr bwMode="auto">
            <a:xfrm>
              <a:off x="1584" y="2736"/>
              <a:ext cx="432"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42">
              <a:extLst>
                <a:ext uri="{FF2B5EF4-FFF2-40B4-BE49-F238E27FC236}">
                  <a16:creationId xmlns:a16="http://schemas.microsoft.com/office/drawing/2014/main" id="{C15A020D-EA54-4613-9CB6-F0CD98FADBAB}"/>
                </a:ext>
              </a:extLst>
            </p:cNvPr>
            <p:cNvSpPr>
              <a:spLocks noChangeShapeType="1"/>
            </p:cNvSpPr>
            <p:nvPr/>
          </p:nvSpPr>
          <p:spPr bwMode="auto">
            <a:xfrm>
              <a:off x="1584" y="2976"/>
              <a:ext cx="432"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 name="Line 43">
              <a:extLst>
                <a:ext uri="{FF2B5EF4-FFF2-40B4-BE49-F238E27FC236}">
                  <a16:creationId xmlns:a16="http://schemas.microsoft.com/office/drawing/2014/main" id="{C7CC4315-3419-40D9-9A82-A80AA99D59B5}"/>
                </a:ext>
              </a:extLst>
            </p:cNvPr>
            <p:cNvSpPr>
              <a:spLocks noChangeShapeType="1"/>
            </p:cNvSpPr>
            <p:nvPr/>
          </p:nvSpPr>
          <p:spPr bwMode="auto">
            <a:xfrm>
              <a:off x="3744" y="1440"/>
              <a:ext cx="0" cy="240"/>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 name="Line 44">
              <a:extLst>
                <a:ext uri="{FF2B5EF4-FFF2-40B4-BE49-F238E27FC236}">
                  <a16:creationId xmlns:a16="http://schemas.microsoft.com/office/drawing/2014/main" id="{E1D03F06-4096-4A1C-BFD7-F4D4E7475AF1}"/>
                </a:ext>
              </a:extLst>
            </p:cNvPr>
            <p:cNvSpPr>
              <a:spLocks noChangeShapeType="1"/>
            </p:cNvSpPr>
            <p:nvPr/>
          </p:nvSpPr>
          <p:spPr bwMode="auto">
            <a:xfrm>
              <a:off x="3744" y="1872"/>
              <a:ext cx="0" cy="144"/>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 name="Line 45">
              <a:extLst>
                <a:ext uri="{FF2B5EF4-FFF2-40B4-BE49-F238E27FC236}">
                  <a16:creationId xmlns:a16="http://schemas.microsoft.com/office/drawing/2014/main" id="{E9D01F29-0B31-477D-B84C-507792182C43}"/>
                </a:ext>
              </a:extLst>
            </p:cNvPr>
            <p:cNvSpPr>
              <a:spLocks noChangeShapeType="1"/>
            </p:cNvSpPr>
            <p:nvPr/>
          </p:nvSpPr>
          <p:spPr bwMode="auto">
            <a:xfrm>
              <a:off x="3168" y="2160"/>
              <a:ext cx="192"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46">
              <a:extLst>
                <a:ext uri="{FF2B5EF4-FFF2-40B4-BE49-F238E27FC236}">
                  <a16:creationId xmlns:a16="http://schemas.microsoft.com/office/drawing/2014/main" id="{7D0C8F04-9A79-4CD7-8C94-E010C9F47264}"/>
                </a:ext>
              </a:extLst>
            </p:cNvPr>
            <p:cNvSpPr>
              <a:spLocks noChangeShapeType="1"/>
            </p:cNvSpPr>
            <p:nvPr/>
          </p:nvSpPr>
          <p:spPr bwMode="auto">
            <a:xfrm>
              <a:off x="3168" y="2160"/>
              <a:ext cx="0" cy="240"/>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 name="Rectangle 47">
              <a:extLst>
                <a:ext uri="{FF2B5EF4-FFF2-40B4-BE49-F238E27FC236}">
                  <a16:creationId xmlns:a16="http://schemas.microsoft.com/office/drawing/2014/main" id="{FD3DC226-FF66-4E8B-B6A9-C50F3FE20582}"/>
                </a:ext>
              </a:extLst>
            </p:cNvPr>
            <p:cNvSpPr>
              <a:spLocks noChangeArrowheads="1"/>
            </p:cNvSpPr>
            <p:nvPr/>
          </p:nvSpPr>
          <p:spPr bwMode="auto">
            <a:xfrm>
              <a:off x="2928" y="2400"/>
              <a:ext cx="480" cy="192"/>
            </a:xfrm>
            <a:prstGeom prst="rect">
              <a:avLst/>
            </a:prstGeom>
            <a:solidFill>
              <a:schemeClr val="bg1"/>
            </a:solidFill>
            <a:ln w="9525">
              <a:solidFill>
                <a:srgbClr val="32B828"/>
              </a:solidFill>
              <a:miter lim="800000"/>
              <a:headEnd/>
              <a:tailEnd/>
            </a:ln>
            <a:effectLst/>
          </p:spPr>
          <p:txBody>
            <a:bodyPr wrap="none" anchor="ctr"/>
            <a:lstStyle/>
            <a:p>
              <a:pPr algn="ctr">
                <a:defRPr/>
              </a:pPr>
              <a:r>
                <a:rPr lang="en-US" altLang="zh-CN" b="1">
                  <a:effectLst>
                    <a:outerShdw blurRad="38100" dist="38100" dir="2700000" algn="tl">
                      <a:srgbClr val="000000"/>
                    </a:outerShdw>
                  </a:effectLst>
                  <a:latin typeface="Times New Roman" charset="0"/>
                  <a:ea typeface="文鼎细圆" pitchFamily="49" charset="-122"/>
                </a:rPr>
                <a:t>g</a:t>
              </a:r>
            </a:p>
          </p:txBody>
        </p:sp>
        <p:sp>
          <p:nvSpPr>
            <p:cNvPr id="105" name="Line 48">
              <a:extLst>
                <a:ext uri="{FF2B5EF4-FFF2-40B4-BE49-F238E27FC236}">
                  <a16:creationId xmlns:a16="http://schemas.microsoft.com/office/drawing/2014/main" id="{D8E1D804-3DEC-419E-991A-DBF96DEAD170}"/>
                </a:ext>
              </a:extLst>
            </p:cNvPr>
            <p:cNvSpPr>
              <a:spLocks noChangeShapeType="1"/>
            </p:cNvSpPr>
            <p:nvPr/>
          </p:nvSpPr>
          <p:spPr bwMode="auto">
            <a:xfrm>
              <a:off x="3168" y="2592"/>
              <a:ext cx="0" cy="144"/>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 name="Rectangle 49">
              <a:extLst>
                <a:ext uri="{FF2B5EF4-FFF2-40B4-BE49-F238E27FC236}">
                  <a16:creationId xmlns:a16="http://schemas.microsoft.com/office/drawing/2014/main" id="{F42CB96D-82CA-461C-93E8-30A384EE92CA}"/>
                </a:ext>
              </a:extLst>
            </p:cNvPr>
            <p:cNvSpPr>
              <a:spLocks noChangeArrowheads="1"/>
            </p:cNvSpPr>
            <p:nvPr/>
          </p:nvSpPr>
          <p:spPr bwMode="auto">
            <a:xfrm>
              <a:off x="2928" y="2736"/>
              <a:ext cx="480" cy="192"/>
            </a:xfrm>
            <a:prstGeom prst="rect">
              <a:avLst/>
            </a:prstGeom>
            <a:solidFill>
              <a:schemeClr val="bg1"/>
            </a:solidFill>
            <a:ln w="9525">
              <a:solidFill>
                <a:srgbClr val="32B828"/>
              </a:solidFill>
              <a:miter lim="800000"/>
              <a:headEnd/>
              <a:tailEnd/>
            </a:ln>
            <a:effectLst/>
          </p:spPr>
          <p:txBody>
            <a:bodyPr wrap="none" anchor="ctr"/>
            <a:lstStyle/>
            <a:p>
              <a:pPr algn="ctr">
                <a:defRPr/>
              </a:pPr>
              <a:r>
                <a:rPr lang="en-US" altLang="zh-CN" b="1">
                  <a:effectLst>
                    <a:outerShdw blurRad="38100" dist="38100" dir="2700000" algn="tl">
                      <a:srgbClr val="000000"/>
                    </a:outerShdw>
                  </a:effectLst>
                  <a:latin typeface="Times New Roman" charset="0"/>
                  <a:ea typeface="文鼎细圆" pitchFamily="49" charset="-122"/>
                </a:rPr>
                <a:t>h</a:t>
              </a:r>
            </a:p>
          </p:txBody>
        </p:sp>
        <p:sp>
          <p:nvSpPr>
            <p:cNvPr id="107" name="Line 50">
              <a:extLst>
                <a:ext uri="{FF2B5EF4-FFF2-40B4-BE49-F238E27FC236}">
                  <a16:creationId xmlns:a16="http://schemas.microsoft.com/office/drawing/2014/main" id="{BA0598A2-C97D-48AF-9370-5DDE9CE31675}"/>
                </a:ext>
              </a:extLst>
            </p:cNvPr>
            <p:cNvSpPr>
              <a:spLocks noChangeShapeType="1"/>
            </p:cNvSpPr>
            <p:nvPr/>
          </p:nvSpPr>
          <p:spPr bwMode="auto">
            <a:xfrm>
              <a:off x="3168" y="2928"/>
              <a:ext cx="0" cy="240"/>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 name="Line 51">
              <a:extLst>
                <a:ext uri="{FF2B5EF4-FFF2-40B4-BE49-F238E27FC236}">
                  <a16:creationId xmlns:a16="http://schemas.microsoft.com/office/drawing/2014/main" id="{6584DD60-E030-4D96-8543-31D0CF5BBB8F}"/>
                </a:ext>
              </a:extLst>
            </p:cNvPr>
            <p:cNvSpPr>
              <a:spLocks noChangeShapeType="1"/>
            </p:cNvSpPr>
            <p:nvPr/>
          </p:nvSpPr>
          <p:spPr bwMode="auto">
            <a:xfrm>
              <a:off x="4128" y="2160"/>
              <a:ext cx="240"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 name="Line 52">
              <a:extLst>
                <a:ext uri="{FF2B5EF4-FFF2-40B4-BE49-F238E27FC236}">
                  <a16:creationId xmlns:a16="http://schemas.microsoft.com/office/drawing/2014/main" id="{177A028C-4F03-4631-AA14-A30667247679}"/>
                </a:ext>
              </a:extLst>
            </p:cNvPr>
            <p:cNvSpPr>
              <a:spLocks noChangeShapeType="1"/>
            </p:cNvSpPr>
            <p:nvPr/>
          </p:nvSpPr>
          <p:spPr bwMode="auto">
            <a:xfrm>
              <a:off x="4368" y="2160"/>
              <a:ext cx="0" cy="336"/>
            </a:xfrm>
            <a:prstGeom prst="line">
              <a:avLst/>
            </a:prstGeom>
            <a:noFill/>
            <a:ln w="19050">
              <a:solidFill>
                <a:srgbClr val="F761DA"/>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0" name="Rectangle 53">
              <a:extLst>
                <a:ext uri="{FF2B5EF4-FFF2-40B4-BE49-F238E27FC236}">
                  <a16:creationId xmlns:a16="http://schemas.microsoft.com/office/drawing/2014/main" id="{5F46C62F-750F-4C5D-A94E-81A01770353C}"/>
                </a:ext>
              </a:extLst>
            </p:cNvPr>
            <p:cNvSpPr>
              <a:spLocks noChangeArrowheads="1"/>
            </p:cNvSpPr>
            <p:nvPr/>
          </p:nvSpPr>
          <p:spPr bwMode="auto">
            <a:xfrm>
              <a:off x="4128" y="2496"/>
              <a:ext cx="480" cy="192"/>
            </a:xfrm>
            <a:prstGeom prst="rect">
              <a:avLst/>
            </a:prstGeom>
            <a:solidFill>
              <a:schemeClr val="bg1"/>
            </a:solidFill>
            <a:ln w="9525">
              <a:solidFill>
                <a:srgbClr val="F761DA"/>
              </a:solidFill>
              <a:miter lim="800000"/>
              <a:headEnd/>
              <a:tailEnd/>
            </a:ln>
            <a:effectLst/>
          </p:spPr>
          <p:txBody>
            <a:bodyPr wrap="none" anchor="ctr"/>
            <a:lstStyle/>
            <a:p>
              <a:pPr algn="ctr">
                <a:defRPr/>
              </a:pPr>
              <a:r>
                <a:rPr lang="en-US" altLang="zh-CN" b="1">
                  <a:effectLst>
                    <a:outerShdw blurRad="38100" dist="38100" dir="2700000" algn="tl">
                      <a:srgbClr val="000000"/>
                    </a:outerShdw>
                  </a:effectLst>
                  <a:latin typeface="Times New Roman" charset="0"/>
                  <a:ea typeface="文鼎细圆" pitchFamily="49" charset="-122"/>
                </a:rPr>
                <a:t>i</a:t>
              </a:r>
            </a:p>
          </p:txBody>
        </p:sp>
        <p:sp>
          <p:nvSpPr>
            <p:cNvPr id="111" name="AutoShape 54">
              <a:extLst>
                <a:ext uri="{FF2B5EF4-FFF2-40B4-BE49-F238E27FC236}">
                  <a16:creationId xmlns:a16="http://schemas.microsoft.com/office/drawing/2014/main" id="{7DBB370F-DAB5-425E-9B22-CD5794F9431F}"/>
                </a:ext>
              </a:extLst>
            </p:cNvPr>
            <p:cNvSpPr>
              <a:spLocks noChangeArrowheads="1"/>
            </p:cNvSpPr>
            <p:nvPr/>
          </p:nvSpPr>
          <p:spPr bwMode="auto">
            <a:xfrm>
              <a:off x="4032" y="2832"/>
              <a:ext cx="672" cy="192"/>
            </a:xfrm>
            <a:prstGeom prst="flowChartDecision">
              <a:avLst/>
            </a:prstGeom>
            <a:solidFill>
              <a:schemeClr val="bg1"/>
            </a:solidFill>
            <a:ln w="9525">
              <a:solidFill>
                <a:srgbClr val="F761DA"/>
              </a:solidFill>
              <a:miter lim="800000"/>
              <a:headEnd/>
              <a:tailEnd/>
            </a:ln>
            <a:effectLst/>
          </p:spPr>
          <p:txBody>
            <a:bodyPr wrap="none" anchor="ctr"/>
            <a:lstStyle/>
            <a:p>
              <a:pPr algn="ctr">
                <a:defRPr/>
              </a:pPr>
              <a:r>
                <a:rPr lang="en-US" altLang="zh-CN" sz="1600" b="1">
                  <a:effectLst>
                    <a:outerShdw blurRad="38100" dist="38100" dir="2700000" algn="tl">
                      <a:srgbClr val="000000"/>
                    </a:outerShdw>
                  </a:effectLst>
                  <a:latin typeface="Arial" charset="0"/>
                  <a:ea typeface="文鼎细圆" pitchFamily="49" charset="-122"/>
                </a:rPr>
                <a:t>X5</a:t>
              </a:r>
            </a:p>
          </p:txBody>
        </p:sp>
        <p:sp>
          <p:nvSpPr>
            <p:cNvPr id="112" name="Line 55">
              <a:extLst>
                <a:ext uri="{FF2B5EF4-FFF2-40B4-BE49-F238E27FC236}">
                  <a16:creationId xmlns:a16="http://schemas.microsoft.com/office/drawing/2014/main" id="{471005DC-9ABF-41FD-BF58-69E30E0873CA}"/>
                </a:ext>
              </a:extLst>
            </p:cNvPr>
            <p:cNvSpPr>
              <a:spLocks noChangeShapeType="1"/>
            </p:cNvSpPr>
            <p:nvPr/>
          </p:nvSpPr>
          <p:spPr bwMode="auto">
            <a:xfrm>
              <a:off x="4368" y="2688"/>
              <a:ext cx="0" cy="144"/>
            </a:xfrm>
            <a:prstGeom prst="line">
              <a:avLst/>
            </a:prstGeom>
            <a:noFill/>
            <a:ln w="19050">
              <a:solidFill>
                <a:srgbClr val="F761DA"/>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 name="Line 56">
              <a:extLst>
                <a:ext uri="{FF2B5EF4-FFF2-40B4-BE49-F238E27FC236}">
                  <a16:creationId xmlns:a16="http://schemas.microsoft.com/office/drawing/2014/main" id="{2BFFA1B9-238F-4F58-AC99-FB1E4E1EE3D3}"/>
                </a:ext>
              </a:extLst>
            </p:cNvPr>
            <p:cNvSpPr>
              <a:spLocks noChangeShapeType="1"/>
            </p:cNvSpPr>
            <p:nvPr/>
          </p:nvSpPr>
          <p:spPr bwMode="auto">
            <a:xfrm>
              <a:off x="3888" y="2352"/>
              <a:ext cx="0" cy="576"/>
            </a:xfrm>
            <a:prstGeom prst="line">
              <a:avLst/>
            </a:prstGeom>
            <a:noFill/>
            <a:ln w="19050">
              <a:solidFill>
                <a:srgbClr val="F761D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 name="Line 57">
              <a:extLst>
                <a:ext uri="{FF2B5EF4-FFF2-40B4-BE49-F238E27FC236}">
                  <a16:creationId xmlns:a16="http://schemas.microsoft.com/office/drawing/2014/main" id="{E9C49D5E-FB11-404E-AEE7-3C85FF9715A1}"/>
                </a:ext>
              </a:extLst>
            </p:cNvPr>
            <p:cNvSpPr>
              <a:spLocks noChangeShapeType="1"/>
            </p:cNvSpPr>
            <p:nvPr/>
          </p:nvSpPr>
          <p:spPr bwMode="auto">
            <a:xfrm>
              <a:off x="3888" y="2352"/>
              <a:ext cx="480" cy="0"/>
            </a:xfrm>
            <a:prstGeom prst="line">
              <a:avLst/>
            </a:prstGeom>
            <a:noFill/>
            <a:ln w="19050">
              <a:solidFill>
                <a:srgbClr val="F761DA"/>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 name="Line 58">
              <a:extLst>
                <a:ext uri="{FF2B5EF4-FFF2-40B4-BE49-F238E27FC236}">
                  <a16:creationId xmlns:a16="http://schemas.microsoft.com/office/drawing/2014/main" id="{40F9F02F-B020-4667-9D35-3A33C8CD4100}"/>
                </a:ext>
              </a:extLst>
            </p:cNvPr>
            <p:cNvSpPr>
              <a:spLocks noChangeShapeType="1"/>
            </p:cNvSpPr>
            <p:nvPr/>
          </p:nvSpPr>
          <p:spPr bwMode="auto">
            <a:xfrm>
              <a:off x="4368" y="3024"/>
              <a:ext cx="0" cy="144"/>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6" name="Line 59">
              <a:extLst>
                <a:ext uri="{FF2B5EF4-FFF2-40B4-BE49-F238E27FC236}">
                  <a16:creationId xmlns:a16="http://schemas.microsoft.com/office/drawing/2014/main" id="{5606C75A-D0AD-4206-A0A3-4F6D39F85E57}"/>
                </a:ext>
              </a:extLst>
            </p:cNvPr>
            <p:cNvSpPr>
              <a:spLocks noChangeShapeType="1"/>
            </p:cNvSpPr>
            <p:nvPr/>
          </p:nvSpPr>
          <p:spPr bwMode="auto">
            <a:xfrm>
              <a:off x="1584" y="3168"/>
              <a:ext cx="1152"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Line 60">
              <a:extLst>
                <a:ext uri="{FF2B5EF4-FFF2-40B4-BE49-F238E27FC236}">
                  <a16:creationId xmlns:a16="http://schemas.microsoft.com/office/drawing/2014/main" id="{DF3EB018-E43A-46BB-9867-FF30B150B227}"/>
                </a:ext>
              </a:extLst>
            </p:cNvPr>
            <p:cNvSpPr>
              <a:spLocks noChangeShapeType="1"/>
            </p:cNvSpPr>
            <p:nvPr/>
          </p:nvSpPr>
          <p:spPr bwMode="auto">
            <a:xfrm>
              <a:off x="3168" y="3168"/>
              <a:ext cx="1200"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 name="Line 61">
              <a:extLst>
                <a:ext uri="{FF2B5EF4-FFF2-40B4-BE49-F238E27FC236}">
                  <a16:creationId xmlns:a16="http://schemas.microsoft.com/office/drawing/2014/main" id="{74342062-0BE3-4D88-9D49-1C677CBD7103}"/>
                </a:ext>
              </a:extLst>
            </p:cNvPr>
            <p:cNvSpPr>
              <a:spLocks noChangeShapeType="1"/>
            </p:cNvSpPr>
            <p:nvPr/>
          </p:nvSpPr>
          <p:spPr bwMode="auto">
            <a:xfrm>
              <a:off x="2160" y="3312"/>
              <a:ext cx="1584"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 name="Line 62">
              <a:extLst>
                <a:ext uri="{FF2B5EF4-FFF2-40B4-BE49-F238E27FC236}">
                  <a16:creationId xmlns:a16="http://schemas.microsoft.com/office/drawing/2014/main" id="{E3D31359-9073-48EF-9109-4AD23FF9FB93}"/>
                </a:ext>
              </a:extLst>
            </p:cNvPr>
            <p:cNvSpPr>
              <a:spLocks noChangeShapeType="1"/>
            </p:cNvSpPr>
            <p:nvPr/>
          </p:nvSpPr>
          <p:spPr bwMode="auto">
            <a:xfrm>
              <a:off x="3744" y="3168"/>
              <a:ext cx="0" cy="144"/>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 name="Line 63">
              <a:extLst>
                <a:ext uri="{FF2B5EF4-FFF2-40B4-BE49-F238E27FC236}">
                  <a16:creationId xmlns:a16="http://schemas.microsoft.com/office/drawing/2014/main" id="{152190F4-38A0-4D18-8740-E2AB6F71D879}"/>
                </a:ext>
              </a:extLst>
            </p:cNvPr>
            <p:cNvSpPr>
              <a:spLocks noChangeShapeType="1"/>
            </p:cNvSpPr>
            <p:nvPr/>
          </p:nvSpPr>
          <p:spPr bwMode="auto">
            <a:xfrm>
              <a:off x="2160" y="3168"/>
              <a:ext cx="0" cy="144"/>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Line 64">
              <a:extLst>
                <a:ext uri="{FF2B5EF4-FFF2-40B4-BE49-F238E27FC236}">
                  <a16:creationId xmlns:a16="http://schemas.microsoft.com/office/drawing/2014/main" id="{A01ADCA5-1BEC-4F14-8C4D-90DA78B80F9C}"/>
                </a:ext>
              </a:extLst>
            </p:cNvPr>
            <p:cNvSpPr>
              <a:spLocks noChangeShapeType="1"/>
            </p:cNvSpPr>
            <p:nvPr/>
          </p:nvSpPr>
          <p:spPr bwMode="auto">
            <a:xfrm>
              <a:off x="2976" y="3312"/>
              <a:ext cx="0" cy="144"/>
            </a:xfrm>
            <a:prstGeom prst="line">
              <a:avLst/>
            </a:prstGeom>
            <a:noFill/>
            <a:ln w="19050">
              <a:solidFill>
                <a:srgbClr val="F761DA"/>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 name="AutoShape 65">
              <a:extLst>
                <a:ext uri="{FF2B5EF4-FFF2-40B4-BE49-F238E27FC236}">
                  <a16:creationId xmlns:a16="http://schemas.microsoft.com/office/drawing/2014/main" id="{3D78E480-1BEC-42AE-9499-828647CD0025}"/>
                </a:ext>
              </a:extLst>
            </p:cNvPr>
            <p:cNvSpPr>
              <a:spLocks noChangeArrowheads="1"/>
            </p:cNvSpPr>
            <p:nvPr/>
          </p:nvSpPr>
          <p:spPr bwMode="auto">
            <a:xfrm>
              <a:off x="2640" y="3456"/>
              <a:ext cx="672" cy="288"/>
            </a:xfrm>
            <a:prstGeom prst="flowChartDecision">
              <a:avLst/>
            </a:prstGeom>
            <a:solidFill>
              <a:schemeClr val="bg1"/>
            </a:solidFill>
            <a:ln w="9525">
              <a:solidFill>
                <a:srgbClr val="F761DA"/>
              </a:solidFill>
              <a:miter lim="800000"/>
              <a:headEnd/>
              <a:tailEnd/>
            </a:ln>
            <a:effectLst/>
          </p:spPr>
          <p:txBody>
            <a:bodyPr wrap="none" anchor="ctr"/>
            <a:lstStyle/>
            <a:p>
              <a:pPr algn="ctr">
                <a:defRPr/>
              </a:pPr>
              <a:r>
                <a:rPr lang="en-US" altLang="zh-CN" sz="1600" b="1">
                  <a:effectLst>
                    <a:outerShdw blurRad="38100" dist="38100" dir="2700000" algn="tl">
                      <a:srgbClr val="000000"/>
                    </a:outerShdw>
                  </a:effectLst>
                  <a:latin typeface="Arial" charset="0"/>
                  <a:ea typeface="文鼎细圆" pitchFamily="49" charset="-122"/>
                </a:rPr>
                <a:t>X6</a:t>
              </a:r>
            </a:p>
          </p:txBody>
        </p:sp>
        <p:sp>
          <p:nvSpPr>
            <p:cNvPr id="123" name="Line 66">
              <a:extLst>
                <a:ext uri="{FF2B5EF4-FFF2-40B4-BE49-F238E27FC236}">
                  <a16:creationId xmlns:a16="http://schemas.microsoft.com/office/drawing/2014/main" id="{19175A9F-CB7A-4022-8B43-0000BDC2102B}"/>
                </a:ext>
              </a:extLst>
            </p:cNvPr>
            <p:cNvSpPr>
              <a:spLocks noChangeShapeType="1"/>
            </p:cNvSpPr>
            <p:nvPr/>
          </p:nvSpPr>
          <p:spPr bwMode="auto">
            <a:xfrm>
              <a:off x="2976" y="3744"/>
              <a:ext cx="0" cy="14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 name="Text Box 68">
              <a:extLst>
                <a:ext uri="{FF2B5EF4-FFF2-40B4-BE49-F238E27FC236}">
                  <a16:creationId xmlns:a16="http://schemas.microsoft.com/office/drawing/2014/main" id="{BE9F0AE6-8E68-4FF7-8582-83445B9E9F1F}"/>
                </a:ext>
              </a:extLst>
            </p:cNvPr>
            <p:cNvSpPr txBox="1">
              <a:spLocks noChangeArrowheads="1"/>
            </p:cNvSpPr>
            <p:nvPr/>
          </p:nvSpPr>
          <p:spPr bwMode="auto">
            <a:xfrm>
              <a:off x="3312" y="3360"/>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F</a:t>
              </a:r>
            </a:p>
          </p:txBody>
        </p:sp>
        <p:sp>
          <p:nvSpPr>
            <p:cNvPr id="125" name="Text Box 69">
              <a:extLst>
                <a:ext uri="{FF2B5EF4-FFF2-40B4-BE49-F238E27FC236}">
                  <a16:creationId xmlns:a16="http://schemas.microsoft.com/office/drawing/2014/main" id="{07440E74-8C71-4F18-9141-1D037EE9AC1C}"/>
                </a:ext>
              </a:extLst>
            </p:cNvPr>
            <p:cNvSpPr txBox="1">
              <a:spLocks noChangeArrowheads="1"/>
            </p:cNvSpPr>
            <p:nvPr/>
          </p:nvSpPr>
          <p:spPr bwMode="auto">
            <a:xfrm>
              <a:off x="3072" y="3696"/>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T</a:t>
              </a:r>
            </a:p>
          </p:txBody>
        </p:sp>
        <p:sp>
          <p:nvSpPr>
            <p:cNvPr id="126" name="Line 70">
              <a:extLst>
                <a:ext uri="{FF2B5EF4-FFF2-40B4-BE49-F238E27FC236}">
                  <a16:creationId xmlns:a16="http://schemas.microsoft.com/office/drawing/2014/main" id="{7D871784-4E72-4112-A568-F782E3D25796}"/>
                </a:ext>
              </a:extLst>
            </p:cNvPr>
            <p:cNvSpPr>
              <a:spLocks noChangeShapeType="1"/>
            </p:cNvSpPr>
            <p:nvPr/>
          </p:nvSpPr>
          <p:spPr bwMode="auto">
            <a:xfrm>
              <a:off x="3312" y="3600"/>
              <a:ext cx="1584" cy="0"/>
            </a:xfrm>
            <a:prstGeom prst="line">
              <a:avLst/>
            </a:prstGeom>
            <a:noFill/>
            <a:ln w="19050">
              <a:solidFill>
                <a:srgbClr val="F761D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71">
              <a:extLst>
                <a:ext uri="{FF2B5EF4-FFF2-40B4-BE49-F238E27FC236}">
                  <a16:creationId xmlns:a16="http://schemas.microsoft.com/office/drawing/2014/main" id="{B3307BC9-33EF-41A3-A10D-9F693271E3DC}"/>
                </a:ext>
              </a:extLst>
            </p:cNvPr>
            <p:cNvSpPr>
              <a:spLocks noChangeShapeType="1"/>
            </p:cNvSpPr>
            <p:nvPr/>
          </p:nvSpPr>
          <p:spPr bwMode="auto">
            <a:xfrm>
              <a:off x="4896" y="864"/>
              <a:ext cx="0" cy="2736"/>
            </a:xfrm>
            <a:prstGeom prst="line">
              <a:avLst/>
            </a:prstGeom>
            <a:noFill/>
            <a:ln w="19050">
              <a:solidFill>
                <a:srgbClr val="F761D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 name="Line 72">
              <a:extLst>
                <a:ext uri="{FF2B5EF4-FFF2-40B4-BE49-F238E27FC236}">
                  <a16:creationId xmlns:a16="http://schemas.microsoft.com/office/drawing/2014/main" id="{670DFEEE-4E71-410F-B274-97AD2D8257FE}"/>
                </a:ext>
              </a:extLst>
            </p:cNvPr>
            <p:cNvSpPr>
              <a:spLocks noChangeShapeType="1"/>
            </p:cNvSpPr>
            <p:nvPr/>
          </p:nvSpPr>
          <p:spPr bwMode="auto">
            <a:xfrm>
              <a:off x="2928" y="864"/>
              <a:ext cx="1968" cy="0"/>
            </a:xfrm>
            <a:prstGeom prst="line">
              <a:avLst/>
            </a:prstGeom>
            <a:noFill/>
            <a:ln w="19050">
              <a:solidFill>
                <a:srgbClr val="F761DA"/>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9" name="Text Box 73">
              <a:extLst>
                <a:ext uri="{FF2B5EF4-FFF2-40B4-BE49-F238E27FC236}">
                  <a16:creationId xmlns:a16="http://schemas.microsoft.com/office/drawing/2014/main" id="{D2FB79B1-BAB1-482A-8F31-4665EA79C0D8}"/>
                </a:ext>
              </a:extLst>
            </p:cNvPr>
            <p:cNvSpPr txBox="1">
              <a:spLocks noChangeArrowheads="1"/>
            </p:cNvSpPr>
            <p:nvPr/>
          </p:nvSpPr>
          <p:spPr bwMode="auto">
            <a:xfrm>
              <a:off x="3936" y="2736"/>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F</a:t>
              </a:r>
            </a:p>
          </p:txBody>
        </p:sp>
        <p:sp>
          <p:nvSpPr>
            <p:cNvPr id="130" name="Text Box 74">
              <a:extLst>
                <a:ext uri="{FF2B5EF4-FFF2-40B4-BE49-F238E27FC236}">
                  <a16:creationId xmlns:a16="http://schemas.microsoft.com/office/drawing/2014/main" id="{956D4F70-571F-4C86-B66E-F0B13BE82F36}"/>
                </a:ext>
              </a:extLst>
            </p:cNvPr>
            <p:cNvSpPr txBox="1">
              <a:spLocks noChangeArrowheads="1"/>
            </p:cNvSpPr>
            <p:nvPr/>
          </p:nvSpPr>
          <p:spPr bwMode="auto">
            <a:xfrm>
              <a:off x="4368" y="2976"/>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T</a:t>
              </a:r>
            </a:p>
          </p:txBody>
        </p:sp>
        <p:sp>
          <p:nvSpPr>
            <p:cNvPr id="131" name="Text Box 75">
              <a:extLst>
                <a:ext uri="{FF2B5EF4-FFF2-40B4-BE49-F238E27FC236}">
                  <a16:creationId xmlns:a16="http://schemas.microsoft.com/office/drawing/2014/main" id="{161A8418-4ABF-4CB5-961C-50930BD6CD68}"/>
                </a:ext>
              </a:extLst>
            </p:cNvPr>
            <p:cNvSpPr txBox="1">
              <a:spLocks noChangeArrowheads="1"/>
            </p:cNvSpPr>
            <p:nvPr/>
          </p:nvSpPr>
          <p:spPr bwMode="auto">
            <a:xfrm>
              <a:off x="1584" y="1920"/>
              <a:ext cx="2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=1</a:t>
              </a:r>
            </a:p>
          </p:txBody>
        </p:sp>
        <p:sp>
          <p:nvSpPr>
            <p:cNvPr id="132" name="Text Box 76">
              <a:extLst>
                <a:ext uri="{FF2B5EF4-FFF2-40B4-BE49-F238E27FC236}">
                  <a16:creationId xmlns:a16="http://schemas.microsoft.com/office/drawing/2014/main" id="{BC13AE5B-11C5-484C-B1FE-13E91CB1DCBB}"/>
                </a:ext>
              </a:extLst>
            </p:cNvPr>
            <p:cNvSpPr txBox="1">
              <a:spLocks noChangeArrowheads="1"/>
            </p:cNvSpPr>
            <p:nvPr/>
          </p:nvSpPr>
          <p:spPr bwMode="auto">
            <a:xfrm>
              <a:off x="1584" y="2496"/>
              <a:ext cx="2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=2</a:t>
              </a:r>
            </a:p>
          </p:txBody>
        </p:sp>
        <p:sp>
          <p:nvSpPr>
            <p:cNvPr id="133" name="Text Box 77">
              <a:extLst>
                <a:ext uri="{FF2B5EF4-FFF2-40B4-BE49-F238E27FC236}">
                  <a16:creationId xmlns:a16="http://schemas.microsoft.com/office/drawing/2014/main" id="{8BC5DA82-53BF-4902-B44B-CF8B254758AE}"/>
                </a:ext>
              </a:extLst>
            </p:cNvPr>
            <p:cNvSpPr txBox="1">
              <a:spLocks noChangeArrowheads="1"/>
            </p:cNvSpPr>
            <p:nvPr/>
          </p:nvSpPr>
          <p:spPr bwMode="auto">
            <a:xfrm>
              <a:off x="1584" y="2736"/>
              <a:ext cx="2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=3</a:t>
              </a:r>
            </a:p>
          </p:txBody>
        </p:sp>
        <p:sp>
          <p:nvSpPr>
            <p:cNvPr id="134" name="Line 80">
              <a:extLst>
                <a:ext uri="{FF2B5EF4-FFF2-40B4-BE49-F238E27FC236}">
                  <a16:creationId xmlns:a16="http://schemas.microsoft.com/office/drawing/2014/main" id="{C5DC4580-EB38-46BF-A687-622FFADDCC8E}"/>
                </a:ext>
              </a:extLst>
            </p:cNvPr>
            <p:cNvSpPr>
              <a:spLocks noChangeShapeType="1"/>
            </p:cNvSpPr>
            <p:nvPr/>
          </p:nvSpPr>
          <p:spPr bwMode="auto">
            <a:xfrm>
              <a:off x="2496" y="2736"/>
              <a:ext cx="240"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 name="Line 81">
              <a:extLst>
                <a:ext uri="{FF2B5EF4-FFF2-40B4-BE49-F238E27FC236}">
                  <a16:creationId xmlns:a16="http://schemas.microsoft.com/office/drawing/2014/main" id="{3351DE27-AAF8-44F6-9DDF-1D29579ECD0C}"/>
                </a:ext>
              </a:extLst>
            </p:cNvPr>
            <p:cNvSpPr>
              <a:spLocks noChangeShapeType="1"/>
            </p:cNvSpPr>
            <p:nvPr/>
          </p:nvSpPr>
          <p:spPr bwMode="auto">
            <a:xfrm>
              <a:off x="2496" y="2976"/>
              <a:ext cx="240"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 name="灯片编号占位符 4">
            <a:extLst>
              <a:ext uri="{FF2B5EF4-FFF2-40B4-BE49-F238E27FC236}">
                <a16:creationId xmlns:a16="http://schemas.microsoft.com/office/drawing/2014/main" id="{60059D98-262F-4D9F-B8A7-6F11A38A823B}"/>
              </a:ext>
            </a:extLst>
          </p:cNvPr>
          <p:cNvSpPr>
            <a:spLocks noGrp="1"/>
          </p:cNvSpPr>
          <p:nvPr>
            <p:ph type="sldNum" sz="quarter" idx="12"/>
          </p:nvPr>
        </p:nvSpPr>
        <p:spPr/>
        <p:txBody>
          <a:bodyPr/>
          <a:lstStyle/>
          <a:p>
            <a:fld id="{BA3BC865-3899-417B-859C-FB705549A12A}" type="slidenum">
              <a:rPr lang="en-US" altLang="en-US" smtClean="0"/>
              <a:pPr/>
              <a:t>141</a:t>
            </a:fld>
            <a:endParaRPr lang="en-US" altLang="en-US"/>
          </a:p>
        </p:txBody>
      </p:sp>
      <p:sp>
        <p:nvSpPr>
          <p:cNvPr id="80" name="标题 1">
            <a:extLst>
              <a:ext uri="{FF2B5EF4-FFF2-40B4-BE49-F238E27FC236}">
                <a16:creationId xmlns:a16="http://schemas.microsoft.com/office/drawing/2014/main" id="{2026C261-A0AB-4E5C-BF1B-6D8866500617}"/>
              </a:ext>
            </a:extLst>
          </p:cNvPr>
          <p:cNvSpPr>
            <a:spLocks noGrp="1"/>
          </p:cNvSpPr>
          <p:nvPr>
            <p:ph type="title"/>
          </p:nvPr>
        </p:nvSpPr>
        <p:spPr>
          <a:xfrm>
            <a:off x="838200" y="365125"/>
            <a:ext cx="10515600" cy="1325563"/>
          </a:xfrm>
        </p:spPr>
        <p:txBody>
          <a:bodyPr/>
          <a:lstStyle/>
          <a:p>
            <a:r>
              <a:rPr lang="zh-CN" altLang="en-US" dirty="0"/>
              <a:t>设计</a:t>
            </a:r>
          </a:p>
        </p:txBody>
      </p:sp>
      <p:sp>
        <p:nvSpPr>
          <p:cNvPr id="81" name="内容占位符 2">
            <a:extLst>
              <a:ext uri="{FF2B5EF4-FFF2-40B4-BE49-F238E27FC236}">
                <a16:creationId xmlns:a16="http://schemas.microsoft.com/office/drawing/2014/main" id="{865EFD45-A40A-4BC1-9E7B-86BB27E426E4}"/>
              </a:ext>
            </a:extLst>
          </p:cNvPr>
          <p:cNvSpPr>
            <a:spLocks noGrp="1"/>
          </p:cNvSpPr>
          <p:nvPr>
            <p:ph idx="1"/>
          </p:nvPr>
        </p:nvSpPr>
        <p:spPr>
          <a:xfrm>
            <a:off x="838200" y="1825625"/>
            <a:ext cx="10515600" cy="4351338"/>
          </a:xfrm>
        </p:spPr>
        <p:txBody>
          <a:bodyPr>
            <a:normAutofit/>
          </a:bodyPr>
          <a:lstStyle/>
          <a:p>
            <a:r>
              <a:rPr lang="zh-CN" altLang="en-US" dirty="0"/>
              <a:t>结构化方法：</a:t>
            </a:r>
            <a:endParaRPr lang="en-US" altLang="zh-CN" dirty="0"/>
          </a:p>
          <a:p>
            <a:r>
              <a:rPr lang="zh-CN" altLang="en-US" dirty="0"/>
              <a:t>程序流程图</a:t>
            </a:r>
            <a:endParaRPr lang="en-US" altLang="zh-CN" dirty="0"/>
          </a:p>
          <a:p>
            <a:endParaRPr lang="en-US" altLang="zh-CN" dirty="0"/>
          </a:p>
        </p:txBody>
      </p:sp>
    </p:spTree>
    <p:extLst>
      <p:ext uri="{BB962C8B-B14F-4D97-AF65-F5344CB8AC3E}">
        <p14:creationId xmlns:p14="http://schemas.microsoft.com/office/powerpoint/2010/main" val="107180713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5412" name="Text Box 4">
            <a:extLst>
              <a:ext uri="{FF2B5EF4-FFF2-40B4-BE49-F238E27FC236}">
                <a16:creationId xmlns:a16="http://schemas.microsoft.com/office/drawing/2014/main" id="{7C8317FF-E704-421C-9430-91623BAECE78}"/>
              </a:ext>
            </a:extLst>
          </p:cNvPr>
          <p:cNvSpPr txBox="1">
            <a:spLocks noChangeArrowheads="1"/>
          </p:cNvSpPr>
          <p:nvPr/>
        </p:nvSpPr>
        <p:spPr bwMode="auto">
          <a:xfrm>
            <a:off x="3200400" y="3962401"/>
            <a:ext cx="1073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2000">
                <a:latin typeface="黑体" panose="02010609060101010101" pitchFamily="49" charset="-122"/>
                <a:ea typeface="黑体" panose="02010609060101010101" pitchFamily="49" charset="-122"/>
              </a:rPr>
              <a:t> 顺序型</a:t>
            </a:r>
          </a:p>
        </p:txBody>
      </p:sp>
      <p:grpSp>
        <p:nvGrpSpPr>
          <p:cNvPr id="2" name="Group 60">
            <a:extLst>
              <a:ext uri="{FF2B5EF4-FFF2-40B4-BE49-F238E27FC236}">
                <a16:creationId xmlns:a16="http://schemas.microsoft.com/office/drawing/2014/main" id="{59C4E7C1-B626-4727-9983-3D8DA0F39D7E}"/>
              </a:ext>
            </a:extLst>
          </p:cNvPr>
          <p:cNvGrpSpPr>
            <a:grpSpLocks/>
          </p:cNvGrpSpPr>
          <p:nvPr/>
        </p:nvGrpSpPr>
        <p:grpSpPr bwMode="auto">
          <a:xfrm>
            <a:off x="3429000" y="2743200"/>
            <a:ext cx="762000" cy="914400"/>
            <a:chOff x="1680" y="1440"/>
            <a:chExt cx="480" cy="576"/>
          </a:xfrm>
        </p:grpSpPr>
        <p:sp>
          <p:nvSpPr>
            <p:cNvPr id="392234" name="Rectangle 2">
              <a:extLst>
                <a:ext uri="{FF2B5EF4-FFF2-40B4-BE49-F238E27FC236}">
                  <a16:creationId xmlns:a16="http://schemas.microsoft.com/office/drawing/2014/main" id="{F10C07D5-468E-4664-A517-55887351B760}"/>
                </a:ext>
              </a:extLst>
            </p:cNvPr>
            <p:cNvSpPr>
              <a:spLocks noChangeArrowheads="1"/>
            </p:cNvSpPr>
            <p:nvPr/>
          </p:nvSpPr>
          <p:spPr bwMode="auto">
            <a:xfrm>
              <a:off x="1680" y="1440"/>
              <a:ext cx="480"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A</a:t>
              </a:r>
            </a:p>
          </p:txBody>
        </p:sp>
        <p:sp>
          <p:nvSpPr>
            <p:cNvPr id="392235" name="Rectangle 6">
              <a:extLst>
                <a:ext uri="{FF2B5EF4-FFF2-40B4-BE49-F238E27FC236}">
                  <a16:creationId xmlns:a16="http://schemas.microsoft.com/office/drawing/2014/main" id="{CCEEBAF9-6B52-4F0F-8B3E-6675DED99467}"/>
                </a:ext>
              </a:extLst>
            </p:cNvPr>
            <p:cNvSpPr>
              <a:spLocks noChangeArrowheads="1"/>
            </p:cNvSpPr>
            <p:nvPr/>
          </p:nvSpPr>
          <p:spPr bwMode="auto">
            <a:xfrm>
              <a:off x="1680" y="1728"/>
              <a:ext cx="480"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B</a:t>
              </a:r>
            </a:p>
          </p:txBody>
        </p:sp>
      </p:grpSp>
      <p:sp>
        <p:nvSpPr>
          <p:cNvPr id="2065432" name="Text Box 24">
            <a:extLst>
              <a:ext uri="{FF2B5EF4-FFF2-40B4-BE49-F238E27FC236}">
                <a16:creationId xmlns:a16="http://schemas.microsoft.com/office/drawing/2014/main" id="{DE6EE175-0A70-4A3B-8898-F5CA68D3CBBD}"/>
              </a:ext>
            </a:extLst>
          </p:cNvPr>
          <p:cNvSpPr txBox="1">
            <a:spLocks noChangeArrowheads="1"/>
          </p:cNvSpPr>
          <p:nvPr/>
        </p:nvSpPr>
        <p:spPr bwMode="auto">
          <a:xfrm>
            <a:off x="5867400" y="3962401"/>
            <a:ext cx="1073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2000">
                <a:latin typeface="黑体" panose="02010609060101010101" pitchFamily="49" charset="-122"/>
                <a:ea typeface="黑体" panose="02010609060101010101" pitchFamily="49" charset="-122"/>
              </a:rPr>
              <a:t> 选择型</a:t>
            </a:r>
          </a:p>
        </p:txBody>
      </p:sp>
      <p:grpSp>
        <p:nvGrpSpPr>
          <p:cNvPr id="3" name="Group 35">
            <a:extLst>
              <a:ext uri="{FF2B5EF4-FFF2-40B4-BE49-F238E27FC236}">
                <a16:creationId xmlns:a16="http://schemas.microsoft.com/office/drawing/2014/main" id="{57020575-1CE1-429D-951F-D2BC2E567F0F}"/>
              </a:ext>
            </a:extLst>
          </p:cNvPr>
          <p:cNvGrpSpPr>
            <a:grpSpLocks/>
          </p:cNvGrpSpPr>
          <p:nvPr/>
        </p:nvGrpSpPr>
        <p:grpSpPr bwMode="auto">
          <a:xfrm>
            <a:off x="4876800" y="2667000"/>
            <a:ext cx="1390650" cy="990600"/>
            <a:chOff x="2640" y="1344"/>
            <a:chExt cx="876" cy="624"/>
          </a:xfrm>
        </p:grpSpPr>
        <p:sp>
          <p:nvSpPr>
            <p:cNvPr id="392228" name="Rectangle 22">
              <a:extLst>
                <a:ext uri="{FF2B5EF4-FFF2-40B4-BE49-F238E27FC236}">
                  <a16:creationId xmlns:a16="http://schemas.microsoft.com/office/drawing/2014/main" id="{DEAA55AF-5C85-4BEB-8873-52331DCA1BEE}"/>
                </a:ext>
              </a:extLst>
            </p:cNvPr>
            <p:cNvSpPr>
              <a:spLocks noChangeArrowheads="1"/>
            </p:cNvSpPr>
            <p:nvPr/>
          </p:nvSpPr>
          <p:spPr bwMode="auto">
            <a:xfrm>
              <a:off x="2640" y="1344"/>
              <a:ext cx="864" cy="336"/>
            </a:xfrm>
            <a:prstGeom prst="rect">
              <a:avLst/>
            </a:prstGeom>
            <a:solidFill>
              <a:schemeClr val="bg1"/>
            </a:solidFill>
            <a:ln w="9525">
              <a:solidFill>
                <a:srgbClr val="F761DA"/>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p>
          </p:txBody>
        </p:sp>
        <p:sp>
          <p:nvSpPr>
            <p:cNvPr id="392229" name="Rectangle 23">
              <a:extLst>
                <a:ext uri="{FF2B5EF4-FFF2-40B4-BE49-F238E27FC236}">
                  <a16:creationId xmlns:a16="http://schemas.microsoft.com/office/drawing/2014/main" id="{FABC7210-CF5D-4D84-B8A7-646AD0DB6230}"/>
                </a:ext>
              </a:extLst>
            </p:cNvPr>
            <p:cNvSpPr>
              <a:spLocks noChangeArrowheads="1"/>
            </p:cNvSpPr>
            <p:nvPr/>
          </p:nvSpPr>
          <p:spPr bwMode="auto">
            <a:xfrm>
              <a:off x="3072" y="1680"/>
              <a:ext cx="432"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B</a:t>
              </a:r>
            </a:p>
          </p:txBody>
        </p:sp>
        <p:sp>
          <p:nvSpPr>
            <p:cNvPr id="392230" name="AutoShape 27">
              <a:extLst>
                <a:ext uri="{FF2B5EF4-FFF2-40B4-BE49-F238E27FC236}">
                  <a16:creationId xmlns:a16="http://schemas.microsoft.com/office/drawing/2014/main" id="{4F857681-DCF4-4CF1-94A0-669C7BA50F3E}"/>
                </a:ext>
              </a:extLst>
            </p:cNvPr>
            <p:cNvSpPr>
              <a:spLocks noChangeArrowheads="1"/>
            </p:cNvSpPr>
            <p:nvPr/>
          </p:nvSpPr>
          <p:spPr bwMode="auto">
            <a:xfrm>
              <a:off x="2640" y="1344"/>
              <a:ext cx="864" cy="336"/>
            </a:xfrm>
            <a:prstGeom prst="flowChartMerge">
              <a:avLst/>
            </a:prstGeom>
            <a:solidFill>
              <a:schemeClr val="bg1"/>
            </a:solidFill>
            <a:ln w="9525">
              <a:solidFill>
                <a:srgbClr val="F761DA"/>
              </a:solidFill>
              <a:miter lim="800000"/>
              <a:headEnd/>
              <a:tailEnd/>
            </a:ln>
          </p:spPr>
          <p:txBody>
            <a:bodyPr wrap="none"/>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latin typeface="Arial" panose="020B0604020202020204" pitchFamily="34" charset="0"/>
                </a:rPr>
                <a:t>p</a:t>
              </a:r>
            </a:p>
          </p:txBody>
        </p:sp>
        <p:sp>
          <p:nvSpPr>
            <p:cNvPr id="392231" name="Text Box 20">
              <a:extLst>
                <a:ext uri="{FF2B5EF4-FFF2-40B4-BE49-F238E27FC236}">
                  <a16:creationId xmlns:a16="http://schemas.microsoft.com/office/drawing/2014/main" id="{3FF63D53-E29F-4427-8310-C167D0D99D10}"/>
                </a:ext>
              </a:extLst>
            </p:cNvPr>
            <p:cNvSpPr txBox="1">
              <a:spLocks noChangeArrowheads="1"/>
            </p:cNvSpPr>
            <p:nvPr/>
          </p:nvSpPr>
          <p:spPr bwMode="auto">
            <a:xfrm>
              <a:off x="3312" y="1488"/>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F</a:t>
              </a:r>
            </a:p>
          </p:txBody>
        </p:sp>
        <p:sp>
          <p:nvSpPr>
            <p:cNvPr id="392232" name="Text Box 21">
              <a:extLst>
                <a:ext uri="{FF2B5EF4-FFF2-40B4-BE49-F238E27FC236}">
                  <a16:creationId xmlns:a16="http://schemas.microsoft.com/office/drawing/2014/main" id="{25961B16-6006-4699-8E3C-4D236121B737}"/>
                </a:ext>
              </a:extLst>
            </p:cNvPr>
            <p:cNvSpPr txBox="1">
              <a:spLocks noChangeArrowheads="1"/>
            </p:cNvSpPr>
            <p:nvPr/>
          </p:nvSpPr>
          <p:spPr bwMode="auto">
            <a:xfrm>
              <a:off x="2640" y="1488"/>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T</a:t>
              </a:r>
            </a:p>
          </p:txBody>
        </p:sp>
        <p:sp>
          <p:nvSpPr>
            <p:cNvPr id="392233" name="Rectangle 28">
              <a:extLst>
                <a:ext uri="{FF2B5EF4-FFF2-40B4-BE49-F238E27FC236}">
                  <a16:creationId xmlns:a16="http://schemas.microsoft.com/office/drawing/2014/main" id="{DE6A5539-A98A-4C20-A3AC-3BEDD6777071}"/>
                </a:ext>
              </a:extLst>
            </p:cNvPr>
            <p:cNvSpPr>
              <a:spLocks noChangeArrowheads="1"/>
            </p:cNvSpPr>
            <p:nvPr/>
          </p:nvSpPr>
          <p:spPr bwMode="auto">
            <a:xfrm>
              <a:off x="2640" y="1680"/>
              <a:ext cx="432"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A</a:t>
              </a:r>
            </a:p>
          </p:txBody>
        </p:sp>
      </p:grpSp>
      <p:grpSp>
        <p:nvGrpSpPr>
          <p:cNvPr id="4" name="Group 36">
            <a:extLst>
              <a:ext uri="{FF2B5EF4-FFF2-40B4-BE49-F238E27FC236}">
                <a16:creationId xmlns:a16="http://schemas.microsoft.com/office/drawing/2014/main" id="{2A6516E3-9F01-42CC-88C0-37EEB0FCF775}"/>
              </a:ext>
            </a:extLst>
          </p:cNvPr>
          <p:cNvGrpSpPr>
            <a:grpSpLocks/>
          </p:cNvGrpSpPr>
          <p:nvPr/>
        </p:nvGrpSpPr>
        <p:grpSpPr bwMode="auto">
          <a:xfrm>
            <a:off x="6705600" y="2667000"/>
            <a:ext cx="1390650" cy="990600"/>
            <a:chOff x="3840" y="1344"/>
            <a:chExt cx="876" cy="624"/>
          </a:xfrm>
        </p:grpSpPr>
        <p:sp>
          <p:nvSpPr>
            <p:cNvPr id="392222" name="Rectangle 29">
              <a:extLst>
                <a:ext uri="{FF2B5EF4-FFF2-40B4-BE49-F238E27FC236}">
                  <a16:creationId xmlns:a16="http://schemas.microsoft.com/office/drawing/2014/main" id="{ED48D4C5-1100-4CD0-9124-2005131ABE5C}"/>
                </a:ext>
              </a:extLst>
            </p:cNvPr>
            <p:cNvSpPr>
              <a:spLocks noChangeArrowheads="1"/>
            </p:cNvSpPr>
            <p:nvPr/>
          </p:nvSpPr>
          <p:spPr bwMode="auto">
            <a:xfrm>
              <a:off x="3840" y="1344"/>
              <a:ext cx="864" cy="336"/>
            </a:xfrm>
            <a:prstGeom prst="rect">
              <a:avLst/>
            </a:prstGeom>
            <a:solidFill>
              <a:schemeClr val="bg1"/>
            </a:solidFill>
            <a:ln w="9525">
              <a:solidFill>
                <a:srgbClr val="F761DA"/>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p>
          </p:txBody>
        </p:sp>
        <p:sp>
          <p:nvSpPr>
            <p:cNvPr id="392223" name="Rectangle 30">
              <a:extLst>
                <a:ext uri="{FF2B5EF4-FFF2-40B4-BE49-F238E27FC236}">
                  <a16:creationId xmlns:a16="http://schemas.microsoft.com/office/drawing/2014/main" id="{8E83AC55-7F58-4C06-A1B6-E5EB9B75BADF}"/>
                </a:ext>
              </a:extLst>
            </p:cNvPr>
            <p:cNvSpPr>
              <a:spLocks noChangeArrowheads="1"/>
            </p:cNvSpPr>
            <p:nvPr/>
          </p:nvSpPr>
          <p:spPr bwMode="auto">
            <a:xfrm>
              <a:off x="4272" y="1680"/>
              <a:ext cx="432"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a:t>
              </a:r>
            </a:p>
          </p:txBody>
        </p:sp>
        <p:sp>
          <p:nvSpPr>
            <p:cNvPr id="392224" name="AutoShape 31">
              <a:extLst>
                <a:ext uri="{FF2B5EF4-FFF2-40B4-BE49-F238E27FC236}">
                  <a16:creationId xmlns:a16="http://schemas.microsoft.com/office/drawing/2014/main" id="{E0D5E25A-7A7C-488C-A67A-162314FD3650}"/>
                </a:ext>
              </a:extLst>
            </p:cNvPr>
            <p:cNvSpPr>
              <a:spLocks noChangeArrowheads="1"/>
            </p:cNvSpPr>
            <p:nvPr/>
          </p:nvSpPr>
          <p:spPr bwMode="auto">
            <a:xfrm>
              <a:off x="3840" y="1344"/>
              <a:ext cx="864" cy="336"/>
            </a:xfrm>
            <a:prstGeom prst="flowChartMerge">
              <a:avLst/>
            </a:prstGeom>
            <a:solidFill>
              <a:schemeClr val="bg1"/>
            </a:solidFill>
            <a:ln w="9525">
              <a:solidFill>
                <a:srgbClr val="F761DA"/>
              </a:solidFill>
              <a:miter lim="800000"/>
              <a:headEnd/>
              <a:tailEnd/>
            </a:ln>
          </p:spPr>
          <p:txBody>
            <a:bodyPr wrap="none"/>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latin typeface="Arial" panose="020B0604020202020204" pitchFamily="34" charset="0"/>
                </a:rPr>
                <a:t>p</a:t>
              </a:r>
            </a:p>
          </p:txBody>
        </p:sp>
        <p:sp>
          <p:nvSpPr>
            <p:cNvPr id="392225" name="Text Box 32">
              <a:extLst>
                <a:ext uri="{FF2B5EF4-FFF2-40B4-BE49-F238E27FC236}">
                  <a16:creationId xmlns:a16="http://schemas.microsoft.com/office/drawing/2014/main" id="{F98464DB-0C55-459D-89AD-AD1CA29F787B}"/>
                </a:ext>
              </a:extLst>
            </p:cNvPr>
            <p:cNvSpPr txBox="1">
              <a:spLocks noChangeArrowheads="1"/>
            </p:cNvSpPr>
            <p:nvPr/>
          </p:nvSpPr>
          <p:spPr bwMode="auto">
            <a:xfrm>
              <a:off x="4512" y="1488"/>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F</a:t>
              </a:r>
            </a:p>
          </p:txBody>
        </p:sp>
        <p:sp>
          <p:nvSpPr>
            <p:cNvPr id="392226" name="Text Box 33">
              <a:extLst>
                <a:ext uri="{FF2B5EF4-FFF2-40B4-BE49-F238E27FC236}">
                  <a16:creationId xmlns:a16="http://schemas.microsoft.com/office/drawing/2014/main" id="{A184C9A1-A12E-41DE-9CC9-D8554D55FFEE}"/>
                </a:ext>
              </a:extLst>
            </p:cNvPr>
            <p:cNvSpPr txBox="1">
              <a:spLocks noChangeArrowheads="1"/>
            </p:cNvSpPr>
            <p:nvPr/>
          </p:nvSpPr>
          <p:spPr bwMode="auto">
            <a:xfrm>
              <a:off x="3840" y="1488"/>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T</a:t>
              </a:r>
            </a:p>
          </p:txBody>
        </p:sp>
        <p:sp>
          <p:nvSpPr>
            <p:cNvPr id="392227" name="Rectangle 34">
              <a:extLst>
                <a:ext uri="{FF2B5EF4-FFF2-40B4-BE49-F238E27FC236}">
                  <a16:creationId xmlns:a16="http://schemas.microsoft.com/office/drawing/2014/main" id="{E2B5E75F-E7BB-423D-82E9-E7DB0EF60DFB}"/>
                </a:ext>
              </a:extLst>
            </p:cNvPr>
            <p:cNvSpPr>
              <a:spLocks noChangeArrowheads="1"/>
            </p:cNvSpPr>
            <p:nvPr/>
          </p:nvSpPr>
          <p:spPr bwMode="auto">
            <a:xfrm>
              <a:off x="3840" y="1680"/>
              <a:ext cx="432"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p>
          </p:txBody>
        </p:sp>
      </p:grpSp>
      <p:grpSp>
        <p:nvGrpSpPr>
          <p:cNvPr id="5" name="Group 51">
            <a:extLst>
              <a:ext uri="{FF2B5EF4-FFF2-40B4-BE49-F238E27FC236}">
                <a16:creationId xmlns:a16="http://schemas.microsoft.com/office/drawing/2014/main" id="{80E18C8B-7C6A-4123-BD96-66F31178065F}"/>
              </a:ext>
            </a:extLst>
          </p:cNvPr>
          <p:cNvGrpSpPr>
            <a:grpSpLocks/>
          </p:cNvGrpSpPr>
          <p:nvPr/>
        </p:nvGrpSpPr>
        <p:grpSpPr bwMode="auto">
          <a:xfrm>
            <a:off x="3048000" y="4724400"/>
            <a:ext cx="1905000" cy="990600"/>
            <a:chOff x="4176" y="1392"/>
            <a:chExt cx="1200" cy="624"/>
          </a:xfrm>
        </p:grpSpPr>
        <p:sp>
          <p:nvSpPr>
            <p:cNvPr id="392212" name="Rectangle 38">
              <a:extLst>
                <a:ext uri="{FF2B5EF4-FFF2-40B4-BE49-F238E27FC236}">
                  <a16:creationId xmlns:a16="http://schemas.microsoft.com/office/drawing/2014/main" id="{1DDEAEEC-45FB-43D6-A31D-84900FE7680B}"/>
                </a:ext>
              </a:extLst>
            </p:cNvPr>
            <p:cNvSpPr>
              <a:spLocks noChangeArrowheads="1"/>
            </p:cNvSpPr>
            <p:nvPr/>
          </p:nvSpPr>
          <p:spPr bwMode="auto">
            <a:xfrm>
              <a:off x="4176" y="1392"/>
              <a:ext cx="1200" cy="240"/>
            </a:xfrm>
            <a:prstGeom prst="rect">
              <a:avLst/>
            </a:prstGeom>
            <a:solidFill>
              <a:schemeClr val="bg1"/>
            </a:solidFill>
            <a:ln w="9525">
              <a:solidFill>
                <a:srgbClr val="F761DA"/>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p>
          </p:txBody>
        </p:sp>
        <p:sp>
          <p:nvSpPr>
            <p:cNvPr id="392213" name="AutoShape 40">
              <a:extLst>
                <a:ext uri="{FF2B5EF4-FFF2-40B4-BE49-F238E27FC236}">
                  <a16:creationId xmlns:a16="http://schemas.microsoft.com/office/drawing/2014/main" id="{385B9A06-1716-49D8-BE74-50E7FBCF7045}"/>
                </a:ext>
              </a:extLst>
            </p:cNvPr>
            <p:cNvSpPr>
              <a:spLocks noChangeArrowheads="1"/>
            </p:cNvSpPr>
            <p:nvPr/>
          </p:nvSpPr>
          <p:spPr bwMode="auto">
            <a:xfrm>
              <a:off x="4176" y="1392"/>
              <a:ext cx="1200" cy="240"/>
            </a:xfrm>
            <a:prstGeom prst="flowChartMerge">
              <a:avLst/>
            </a:prstGeom>
            <a:solidFill>
              <a:schemeClr val="bg1"/>
            </a:solidFill>
            <a:ln w="9525">
              <a:solidFill>
                <a:srgbClr val="F761DA"/>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latin typeface="Arial" panose="020B0604020202020204" pitchFamily="34" charset="0"/>
                </a:rPr>
                <a:t>p</a:t>
              </a:r>
            </a:p>
          </p:txBody>
        </p:sp>
        <p:sp>
          <p:nvSpPr>
            <p:cNvPr id="392214" name="Rectangle 43">
              <a:extLst>
                <a:ext uri="{FF2B5EF4-FFF2-40B4-BE49-F238E27FC236}">
                  <a16:creationId xmlns:a16="http://schemas.microsoft.com/office/drawing/2014/main" id="{F85982A5-97EF-4144-9D5B-5EA7E8D54F55}"/>
                </a:ext>
              </a:extLst>
            </p:cNvPr>
            <p:cNvSpPr>
              <a:spLocks noChangeArrowheads="1"/>
            </p:cNvSpPr>
            <p:nvPr/>
          </p:nvSpPr>
          <p:spPr bwMode="auto">
            <a:xfrm>
              <a:off x="4176" y="1632"/>
              <a:ext cx="288"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ea typeface="文鼎细圆" pitchFamily="49" charset="-122"/>
                </a:rPr>
                <a:t>=1</a:t>
              </a:r>
            </a:p>
          </p:txBody>
        </p:sp>
        <p:sp>
          <p:nvSpPr>
            <p:cNvPr id="392215" name="Rectangle 44">
              <a:extLst>
                <a:ext uri="{FF2B5EF4-FFF2-40B4-BE49-F238E27FC236}">
                  <a16:creationId xmlns:a16="http://schemas.microsoft.com/office/drawing/2014/main" id="{F061AD7D-F961-445A-A249-615C0F2D21FB}"/>
                </a:ext>
              </a:extLst>
            </p:cNvPr>
            <p:cNvSpPr>
              <a:spLocks noChangeArrowheads="1"/>
            </p:cNvSpPr>
            <p:nvPr/>
          </p:nvSpPr>
          <p:spPr bwMode="auto">
            <a:xfrm>
              <a:off x="4464" y="1632"/>
              <a:ext cx="288"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ea typeface="文鼎细圆" pitchFamily="49" charset="-122"/>
                </a:rPr>
                <a:t>=2</a:t>
              </a:r>
            </a:p>
          </p:txBody>
        </p:sp>
        <p:sp>
          <p:nvSpPr>
            <p:cNvPr id="392216" name="Rectangle 45">
              <a:extLst>
                <a:ext uri="{FF2B5EF4-FFF2-40B4-BE49-F238E27FC236}">
                  <a16:creationId xmlns:a16="http://schemas.microsoft.com/office/drawing/2014/main" id="{284531CE-2F4E-4886-98EC-1B9BC8DAB31B}"/>
                </a:ext>
              </a:extLst>
            </p:cNvPr>
            <p:cNvSpPr>
              <a:spLocks noChangeArrowheads="1"/>
            </p:cNvSpPr>
            <p:nvPr/>
          </p:nvSpPr>
          <p:spPr bwMode="auto">
            <a:xfrm>
              <a:off x="4752" y="1632"/>
              <a:ext cx="288"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ea typeface="文鼎细圆" pitchFamily="49" charset="-122"/>
                </a:rPr>
                <a:t>…</a:t>
              </a:r>
            </a:p>
          </p:txBody>
        </p:sp>
        <p:sp>
          <p:nvSpPr>
            <p:cNvPr id="392217" name="Rectangle 46">
              <a:extLst>
                <a:ext uri="{FF2B5EF4-FFF2-40B4-BE49-F238E27FC236}">
                  <a16:creationId xmlns:a16="http://schemas.microsoft.com/office/drawing/2014/main" id="{F2BB6176-2D40-4F71-80A8-05E3667EEEBE}"/>
                </a:ext>
              </a:extLst>
            </p:cNvPr>
            <p:cNvSpPr>
              <a:spLocks noChangeArrowheads="1"/>
            </p:cNvSpPr>
            <p:nvPr/>
          </p:nvSpPr>
          <p:spPr bwMode="auto">
            <a:xfrm>
              <a:off x="5040" y="1632"/>
              <a:ext cx="336"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ea typeface="文鼎细圆" pitchFamily="49" charset="-122"/>
                </a:rPr>
                <a:t>=n</a:t>
              </a:r>
            </a:p>
          </p:txBody>
        </p:sp>
        <p:sp>
          <p:nvSpPr>
            <p:cNvPr id="392218" name="Rectangle 47">
              <a:extLst>
                <a:ext uri="{FF2B5EF4-FFF2-40B4-BE49-F238E27FC236}">
                  <a16:creationId xmlns:a16="http://schemas.microsoft.com/office/drawing/2014/main" id="{693F49C8-C829-4383-B172-8619AF190B12}"/>
                </a:ext>
              </a:extLst>
            </p:cNvPr>
            <p:cNvSpPr>
              <a:spLocks noChangeArrowheads="1"/>
            </p:cNvSpPr>
            <p:nvPr/>
          </p:nvSpPr>
          <p:spPr bwMode="auto">
            <a:xfrm>
              <a:off x="4176" y="1824"/>
              <a:ext cx="288"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r>
                <a:rPr lang="en-US" altLang="zh-CN" sz="1800" b="1">
                  <a:ea typeface="文鼎细圆" pitchFamily="49" charset="-122"/>
                </a:rPr>
                <a:t>A1</a:t>
              </a:r>
            </a:p>
          </p:txBody>
        </p:sp>
        <p:sp>
          <p:nvSpPr>
            <p:cNvPr id="392219" name="Rectangle 48">
              <a:extLst>
                <a:ext uri="{FF2B5EF4-FFF2-40B4-BE49-F238E27FC236}">
                  <a16:creationId xmlns:a16="http://schemas.microsoft.com/office/drawing/2014/main" id="{3A328A7E-4320-458B-810B-D6F9A6804EC5}"/>
                </a:ext>
              </a:extLst>
            </p:cNvPr>
            <p:cNvSpPr>
              <a:spLocks noChangeArrowheads="1"/>
            </p:cNvSpPr>
            <p:nvPr/>
          </p:nvSpPr>
          <p:spPr bwMode="auto">
            <a:xfrm>
              <a:off x="4464" y="1824"/>
              <a:ext cx="288"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r>
                <a:rPr lang="en-US" altLang="zh-CN" sz="1800" b="1">
                  <a:ea typeface="文鼎细圆" pitchFamily="49" charset="-122"/>
                </a:rPr>
                <a:t>A2</a:t>
              </a:r>
            </a:p>
          </p:txBody>
        </p:sp>
        <p:sp>
          <p:nvSpPr>
            <p:cNvPr id="392220" name="Rectangle 49">
              <a:extLst>
                <a:ext uri="{FF2B5EF4-FFF2-40B4-BE49-F238E27FC236}">
                  <a16:creationId xmlns:a16="http://schemas.microsoft.com/office/drawing/2014/main" id="{3076E834-6812-4ED4-8D10-A54E453FB289}"/>
                </a:ext>
              </a:extLst>
            </p:cNvPr>
            <p:cNvSpPr>
              <a:spLocks noChangeArrowheads="1"/>
            </p:cNvSpPr>
            <p:nvPr/>
          </p:nvSpPr>
          <p:spPr bwMode="auto">
            <a:xfrm>
              <a:off x="4752" y="1824"/>
              <a:ext cx="288"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r>
                <a:rPr lang="en-US" altLang="zh-CN" sz="1800" b="1">
                  <a:ea typeface="文鼎细圆" pitchFamily="49" charset="-122"/>
                </a:rPr>
                <a:t>…</a:t>
              </a:r>
            </a:p>
          </p:txBody>
        </p:sp>
        <p:sp>
          <p:nvSpPr>
            <p:cNvPr id="392221" name="Rectangle 50">
              <a:extLst>
                <a:ext uri="{FF2B5EF4-FFF2-40B4-BE49-F238E27FC236}">
                  <a16:creationId xmlns:a16="http://schemas.microsoft.com/office/drawing/2014/main" id="{9FA1C1AD-C1FC-4A91-97D2-7826A219BAAE}"/>
                </a:ext>
              </a:extLst>
            </p:cNvPr>
            <p:cNvSpPr>
              <a:spLocks noChangeArrowheads="1"/>
            </p:cNvSpPr>
            <p:nvPr/>
          </p:nvSpPr>
          <p:spPr bwMode="auto">
            <a:xfrm>
              <a:off x="5040" y="1824"/>
              <a:ext cx="336"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r>
                <a:rPr lang="en-US" altLang="zh-CN" sz="1800" b="1">
                  <a:ea typeface="文鼎细圆" pitchFamily="49" charset="-122"/>
                </a:rPr>
                <a:t>An</a:t>
              </a:r>
            </a:p>
          </p:txBody>
        </p:sp>
      </p:grpSp>
      <p:grpSp>
        <p:nvGrpSpPr>
          <p:cNvPr id="6" name="Group 55">
            <a:extLst>
              <a:ext uri="{FF2B5EF4-FFF2-40B4-BE49-F238E27FC236}">
                <a16:creationId xmlns:a16="http://schemas.microsoft.com/office/drawing/2014/main" id="{76BCF6D1-0DA4-4477-BC8C-D3D6E2E06FC4}"/>
              </a:ext>
            </a:extLst>
          </p:cNvPr>
          <p:cNvGrpSpPr>
            <a:grpSpLocks/>
          </p:cNvGrpSpPr>
          <p:nvPr/>
        </p:nvGrpSpPr>
        <p:grpSpPr bwMode="auto">
          <a:xfrm>
            <a:off x="5334000" y="4800600"/>
            <a:ext cx="1600200" cy="914400"/>
            <a:chOff x="2784" y="2928"/>
            <a:chExt cx="1008" cy="576"/>
          </a:xfrm>
        </p:grpSpPr>
        <p:sp>
          <p:nvSpPr>
            <p:cNvPr id="392210" name="Rectangle 39">
              <a:extLst>
                <a:ext uri="{FF2B5EF4-FFF2-40B4-BE49-F238E27FC236}">
                  <a16:creationId xmlns:a16="http://schemas.microsoft.com/office/drawing/2014/main" id="{8CFD47E4-19A4-4076-A404-A6DC8AA6028B}"/>
                </a:ext>
              </a:extLst>
            </p:cNvPr>
            <p:cNvSpPr>
              <a:spLocks noChangeArrowheads="1"/>
            </p:cNvSpPr>
            <p:nvPr/>
          </p:nvSpPr>
          <p:spPr bwMode="auto">
            <a:xfrm>
              <a:off x="2784" y="2928"/>
              <a:ext cx="1008" cy="576"/>
            </a:xfrm>
            <a:prstGeom prst="rect">
              <a:avLst/>
            </a:prstGeom>
            <a:solidFill>
              <a:schemeClr val="bg1"/>
            </a:solidFill>
            <a:ln w="9525">
              <a:solidFill>
                <a:srgbClr val="32B828"/>
              </a:solidFill>
              <a:miter lim="800000"/>
              <a:headEnd/>
              <a:tailEnd/>
            </a:ln>
          </p:spPr>
          <p:txBody>
            <a:bodyPr wrap="none"/>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en-US" altLang="zh-CN" sz="2000" b="1">
                  <a:ea typeface="文鼎细圆" pitchFamily="49" charset="-122"/>
                </a:rPr>
                <a:t> do while(p)</a:t>
              </a:r>
            </a:p>
          </p:txBody>
        </p:sp>
        <p:sp>
          <p:nvSpPr>
            <p:cNvPr id="392211" name="Rectangle 52">
              <a:extLst>
                <a:ext uri="{FF2B5EF4-FFF2-40B4-BE49-F238E27FC236}">
                  <a16:creationId xmlns:a16="http://schemas.microsoft.com/office/drawing/2014/main" id="{AA7352D8-9797-4970-AED2-CCD3AA77E4C3}"/>
                </a:ext>
              </a:extLst>
            </p:cNvPr>
            <p:cNvSpPr>
              <a:spLocks noChangeArrowheads="1"/>
            </p:cNvSpPr>
            <p:nvPr/>
          </p:nvSpPr>
          <p:spPr bwMode="auto">
            <a:xfrm>
              <a:off x="3120" y="3216"/>
              <a:ext cx="672"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S</a:t>
              </a:r>
            </a:p>
          </p:txBody>
        </p:sp>
      </p:grpSp>
      <p:grpSp>
        <p:nvGrpSpPr>
          <p:cNvPr id="7" name="Group 56">
            <a:extLst>
              <a:ext uri="{FF2B5EF4-FFF2-40B4-BE49-F238E27FC236}">
                <a16:creationId xmlns:a16="http://schemas.microsoft.com/office/drawing/2014/main" id="{AB23EAC7-2399-4DBA-B85D-FE3D22406BA4}"/>
              </a:ext>
            </a:extLst>
          </p:cNvPr>
          <p:cNvGrpSpPr>
            <a:grpSpLocks/>
          </p:cNvGrpSpPr>
          <p:nvPr/>
        </p:nvGrpSpPr>
        <p:grpSpPr bwMode="auto">
          <a:xfrm>
            <a:off x="7239000" y="4800600"/>
            <a:ext cx="1600200" cy="914400"/>
            <a:chOff x="3936" y="2976"/>
            <a:chExt cx="1008" cy="576"/>
          </a:xfrm>
        </p:grpSpPr>
        <p:sp>
          <p:nvSpPr>
            <p:cNvPr id="392208" name="Rectangle 53">
              <a:extLst>
                <a:ext uri="{FF2B5EF4-FFF2-40B4-BE49-F238E27FC236}">
                  <a16:creationId xmlns:a16="http://schemas.microsoft.com/office/drawing/2014/main" id="{E5B9461E-7007-44FA-B4DD-BBB8F8340893}"/>
                </a:ext>
              </a:extLst>
            </p:cNvPr>
            <p:cNvSpPr>
              <a:spLocks noChangeArrowheads="1"/>
            </p:cNvSpPr>
            <p:nvPr/>
          </p:nvSpPr>
          <p:spPr bwMode="auto">
            <a:xfrm>
              <a:off x="3936" y="2976"/>
              <a:ext cx="1008" cy="576"/>
            </a:xfrm>
            <a:prstGeom prst="rect">
              <a:avLst/>
            </a:prstGeom>
            <a:solidFill>
              <a:schemeClr val="bg1"/>
            </a:solidFill>
            <a:ln w="9525">
              <a:solidFill>
                <a:srgbClr val="32B828"/>
              </a:solidFill>
              <a:miter lim="800000"/>
              <a:headEnd/>
              <a:tailEnd/>
            </a:ln>
          </p:spPr>
          <p:txBody>
            <a:bodyPr wrap="none" anchor="b"/>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do until (p)</a:t>
              </a:r>
            </a:p>
          </p:txBody>
        </p:sp>
        <p:sp>
          <p:nvSpPr>
            <p:cNvPr id="392209" name="Rectangle 54">
              <a:extLst>
                <a:ext uri="{FF2B5EF4-FFF2-40B4-BE49-F238E27FC236}">
                  <a16:creationId xmlns:a16="http://schemas.microsoft.com/office/drawing/2014/main" id="{FF634F88-A67E-444A-B263-C55502CCD091}"/>
                </a:ext>
              </a:extLst>
            </p:cNvPr>
            <p:cNvSpPr>
              <a:spLocks noChangeArrowheads="1"/>
            </p:cNvSpPr>
            <p:nvPr/>
          </p:nvSpPr>
          <p:spPr bwMode="auto">
            <a:xfrm>
              <a:off x="4272" y="2976"/>
              <a:ext cx="672"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S</a:t>
              </a:r>
            </a:p>
          </p:txBody>
        </p:sp>
      </p:grpSp>
      <p:sp>
        <p:nvSpPr>
          <p:cNvPr id="2065465" name="Text Box 57">
            <a:extLst>
              <a:ext uri="{FF2B5EF4-FFF2-40B4-BE49-F238E27FC236}">
                <a16:creationId xmlns:a16="http://schemas.microsoft.com/office/drawing/2014/main" id="{7049344B-8E5C-4169-B63E-96C11F7A1593}"/>
              </a:ext>
            </a:extLst>
          </p:cNvPr>
          <p:cNvSpPr txBox="1">
            <a:spLocks noChangeArrowheads="1"/>
          </p:cNvSpPr>
          <p:nvPr/>
        </p:nvSpPr>
        <p:spPr bwMode="auto">
          <a:xfrm>
            <a:off x="5181600" y="6019801"/>
            <a:ext cx="158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2000">
                <a:latin typeface="黑体" panose="02010609060101010101" pitchFamily="49" charset="-122"/>
                <a:ea typeface="黑体" panose="02010609060101010101" pitchFamily="49" charset="-122"/>
              </a:rPr>
              <a:t> 当型循环型</a:t>
            </a:r>
          </a:p>
        </p:txBody>
      </p:sp>
      <p:sp>
        <p:nvSpPr>
          <p:cNvPr id="2065466" name="Text Box 58">
            <a:extLst>
              <a:ext uri="{FF2B5EF4-FFF2-40B4-BE49-F238E27FC236}">
                <a16:creationId xmlns:a16="http://schemas.microsoft.com/office/drawing/2014/main" id="{DA65E5C6-86B6-4F2C-9514-F85F1CC152C5}"/>
              </a:ext>
            </a:extLst>
          </p:cNvPr>
          <p:cNvSpPr txBox="1">
            <a:spLocks noChangeArrowheads="1"/>
          </p:cNvSpPr>
          <p:nvPr/>
        </p:nvSpPr>
        <p:spPr bwMode="auto">
          <a:xfrm>
            <a:off x="7086600" y="6019801"/>
            <a:ext cx="1835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2000">
                <a:latin typeface="黑体" panose="02010609060101010101" pitchFamily="49" charset="-122"/>
                <a:ea typeface="黑体" panose="02010609060101010101" pitchFamily="49" charset="-122"/>
              </a:rPr>
              <a:t> 直到型循环型</a:t>
            </a:r>
          </a:p>
        </p:txBody>
      </p:sp>
      <p:sp>
        <p:nvSpPr>
          <p:cNvPr id="2065467" name="Text Box 59">
            <a:extLst>
              <a:ext uri="{FF2B5EF4-FFF2-40B4-BE49-F238E27FC236}">
                <a16:creationId xmlns:a16="http://schemas.microsoft.com/office/drawing/2014/main" id="{E00C9829-4B6D-42F0-81E5-85722DAB59C0}"/>
              </a:ext>
            </a:extLst>
          </p:cNvPr>
          <p:cNvSpPr txBox="1">
            <a:spLocks noChangeArrowheads="1"/>
          </p:cNvSpPr>
          <p:nvPr/>
        </p:nvSpPr>
        <p:spPr bwMode="auto">
          <a:xfrm>
            <a:off x="2933700" y="6019801"/>
            <a:ext cx="196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2000">
                <a:latin typeface="黑体" panose="02010609060101010101" pitchFamily="49" charset="-122"/>
                <a:ea typeface="黑体" panose="02010609060101010101" pitchFamily="49" charset="-122"/>
              </a:rPr>
              <a:t> 多分支选择型 </a:t>
            </a:r>
          </a:p>
        </p:txBody>
      </p:sp>
      <p:sp>
        <p:nvSpPr>
          <p:cNvPr id="46" name="TextBox 7">
            <a:extLst>
              <a:ext uri="{FF2B5EF4-FFF2-40B4-BE49-F238E27FC236}">
                <a16:creationId xmlns:a16="http://schemas.microsoft.com/office/drawing/2014/main" id="{BDCEA631-D42A-4972-9972-E165F8644A9C}"/>
              </a:ext>
            </a:extLst>
          </p:cNvPr>
          <p:cNvSpPr>
            <a:spLocks noChangeArrowheads="1"/>
          </p:cNvSpPr>
          <p:nvPr/>
        </p:nvSpPr>
        <p:spPr bwMode="auto">
          <a:xfrm>
            <a:off x="803275" y="1558411"/>
            <a:ext cx="10255494" cy="996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228600" indent="-228600">
              <a:lnSpc>
                <a:spcPct val="90000"/>
              </a:lnSpc>
              <a:spcBef>
                <a:spcPts val="1000"/>
              </a:spcBef>
            </a:pPr>
            <a:r>
              <a:rPr lang="en-US" altLang="zh-CN" sz="2800" dirty="0">
                <a:latin typeface="+mn-lt"/>
                <a:cs typeface="+mn-cs"/>
              </a:rPr>
              <a:t>N-S</a:t>
            </a:r>
            <a:r>
              <a:rPr lang="zh-CN" altLang="en-US" sz="2800" dirty="0">
                <a:latin typeface="+mn-lt"/>
                <a:cs typeface="+mn-cs"/>
              </a:rPr>
              <a:t>图</a:t>
            </a:r>
            <a:endParaRPr lang="en-US" altLang="zh-CN" sz="2800" dirty="0">
              <a:latin typeface="+mn-lt"/>
              <a:cs typeface="+mn-cs"/>
            </a:endParaRPr>
          </a:p>
          <a:p>
            <a:pPr marL="228600" indent="-228600">
              <a:lnSpc>
                <a:spcPct val="90000"/>
              </a:lnSpc>
              <a:spcBef>
                <a:spcPts val="1000"/>
              </a:spcBef>
            </a:pPr>
            <a:r>
              <a:rPr lang="zh-CN" altLang="en-US" sz="2800" dirty="0">
                <a:latin typeface="+mn-lt"/>
                <a:cs typeface="+mn-cs"/>
              </a:rPr>
              <a:t>也被称为盒图或</a:t>
            </a:r>
            <a:r>
              <a:rPr lang="en-US" altLang="zh-CN" sz="2800" dirty="0">
                <a:latin typeface="+mn-lt"/>
                <a:cs typeface="+mn-cs"/>
              </a:rPr>
              <a:t>NS</a:t>
            </a:r>
            <a:r>
              <a:rPr lang="zh-CN" altLang="en-US" sz="2800" dirty="0">
                <a:latin typeface="+mn-lt"/>
                <a:cs typeface="+mn-cs"/>
              </a:rPr>
              <a:t>图，是结构化编程中的一种可视化建模</a:t>
            </a:r>
            <a:endParaRPr lang="en-US" altLang="zh-CN" sz="2800" dirty="0">
              <a:latin typeface="+mn-lt"/>
              <a:cs typeface="+mn-cs"/>
            </a:endParaRPr>
          </a:p>
        </p:txBody>
      </p:sp>
      <p:sp>
        <p:nvSpPr>
          <p:cNvPr id="43" name="标题 1">
            <a:extLst>
              <a:ext uri="{FF2B5EF4-FFF2-40B4-BE49-F238E27FC236}">
                <a16:creationId xmlns:a16="http://schemas.microsoft.com/office/drawing/2014/main" id="{4DD0003A-DEB0-42F4-85BC-F314FFBE9CF6}"/>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a:t>设计</a:t>
            </a:r>
            <a:endParaRPr lang="zh-CN" altLang="en-US" dirty="0"/>
          </a:p>
        </p:txBody>
      </p:sp>
    </p:spTree>
    <p:extLst>
      <p:ext uri="{BB962C8B-B14F-4D97-AF65-F5344CB8AC3E}">
        <p14:creationId xmlns:p14="http://schemas.microsoft.com/office/powerpoint/2010/main" val="8491355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vertic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2065412"/>
                                        </p:tgtEl>
                                        <p:attrNameLst>
                                          <p:attrName>style.visibility</p:attrName>
                                        </p:attrNameLst>
                                      </p:cBhvr>
                                      <p:to>
                                        <p:strVal val="visible"/>
                                      </p:to>
                                    </p:set>
                                    <p:animEffect transition="in" filter="blinds(vertical)">
                                      <p:cBhvr>
                                        <p:cTn id="12" dur="500"/>
                                        <p:tgtEl>
                                          <p:spTgt spid="20654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vertical)">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2065432"/>
                                        </p:tgtEl>
                                        <p:attrNameLst>
                                          <p:attrName>style.visibility</p:attrName>
                                        </p:attrNameLst>
                                      </p:cBhvr>
                                      <p:to>
                                        <p:strVal val="visible"/>
                                      </p:to>
                                    </p:set>
                                    <p:animEffect transition="in" filter="blinds(vertical)">
                                      <p:cBhvr>
                                        <p:cTn id="22" dur="500"/>
                                        <p:tgtEl>
                                          <p:spTgt spid="20654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5"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vertical)">
                                      <p:cBhvr>
                                        <p:cTn id="27" dur="5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5"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vertical)">
                                      <p:cBhvr>
                                        <p:cTn id="32" dur="500"/>
                                        <p:tgtEl>
                                          <p:spTgt spid="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5" fill="hold" grpId="0" nodeType="clickEffect">
                                  <p:stCondLst>
                                    <p:cond delay="0"/>
                                  </p:stCondLst>
                                  <p:childTnLst>
                                    <p:set>
                                      <p:cBhvr>
                                        <p:cTn id="36" dur="1" fill="hold">
                                          <p:stCondLst>
                                            <p:cond delay="0"/>
                                          </p:stCondLst>
                                        </p:cTn>
                                        <p:tgtEl>
                                          <p:spTgt spid="2065467"/>
                                        </p:tgtEl>
                                        <p:attrNameLst>
                                          <p:attrName>style.visibility</p:attrName>
                                        </p:attrNameLst>
                                      </p:cBhvr>
                                      <p:to>
                                        <p:strVal val="visible"/>
                                      </p:to>
                                    </p:set>
                                    <p:animEffect transition="in" filter="blinds(vertical)">
                                      <p:cBhvr>
                                        <p:cTn id="37" dur="500"/>
                                        <p:tgtEl>
                                          <p:spTgt spid="206546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5"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linds(vertical)">
                                      <p:cBhvr>
                                        <p:cTn id="42" dur="500"/>
                                        <p:tgtEl>
                                          <p:spTgt spid="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5" fill="hold" grpId="0" nodeType="clickEffect">
                                  <p:stCondLst>
                                    <p:cond delay="0"/>
                                  </p:stCondLst>
                                  <p:childTnLst>
                                    <p:set>
                                      <p:cBhvr>
                                        <p:cTn id="46" dur="1" fill="hold">
                                          <p:stCondLst>
                                            <p:cond delay="0"/>
                                          </p:stCondLst>
                                        </p:cTn>
                                        <p:tgtEl>
                                          <p:spTgt spid="2065465"/>
                                        </p:tgtEl>
                                        <p:attrNameLst>
                                          <p:attrName>style.visibility</p:attrName>
                                        </p:attrNameLst>
                                      </p:cBhvr>
                                      <p:to>
                                        <p:strVal val="visible"/>
                                      </p:to>
                                    </p:set>
                                    <p:animEffect transition="in" filter="blinds(vertical)">
                                      <p:cBhvr>
                                        <p:cTn id="47" dur="500"/>
                                        <p:tgtEl>
                                          <p:spTgt spid="206546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5" fill="hold"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blinds(vertical)">
                                      <p:cBhvr>
                                        <p:cTn id="52" dur="500"/>
                                        <p:tgtEl>
                                          <p:spTgt spid="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5" fill="hold" grpId="0" nodeType="clickEffect">
                                  <p:stCondLst>
                                    <p:cond delay="0"/>
                                  </p:stCondLst>
                                  <p:childTnLst>
                                    <p:set>
                                      <p:cBhvr>
                                        <p:cTn id="56" dur="1" fill="hold">
                                          <p:stCondLst>
                                            <p:cond delay="0"/>
                                          </p:stCondLst>
                                        </p:cTn>
                                        <p:tgtEl>
                                          <p:spTgt spid="2065466"/>
                                        </p:tgtEl>
                                        <p:attrNameLst>
                                          <p:attrName>style.visibility</p:attrName>
                                        </p:attrNameLst>
                                      </p:cBhvr>
                                      <p:to>
                                        <p:strVal val="visible"/>
                                      </p:to>
                                    </p:set>
                                    <p:animEffect transition="in" filter="blinds(vertical)">
                                      <p:cBhvr>
                                        <p:cTn id="57" dur="500"/>
                                        <p:tgtEl>
                                          <p:spTgt spid="20654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5412" grpId="0" autoUpdateAnimBg="0"/>
      <p:bldP spid="2065432" grpId="0" autoUpdateAnimBg="0"/>
      <p:bldP spid="2065465" grpId="0" autoUpdateAnimBg="0"/>
      <p:bldP spid="2065466" grpId="0" autoUpdateAnimBg="0"/>
      <p:bldP spid="2065467" grpId="0" autoUpdateAnimBg="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日期占位符 1">
            <a:extLst>
              <a:ext uri="{FF2B5EF4-FFF2-40B4-BE49-F238E27FC236}">
                <a16:creationId xmlns:a16="http://schemas.microsoft.com/office/drawing/2014/main" id="{539B3322-F5D9-425C-B507-6135C00C1FF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fld id="{1D115B93-095D-463B-BAF9-DBF4AC3BFE0F}" type="datetime1">
              <a:rPr lang="zh-CN" altLang="en-US" sz="1400">
                <a:solidFill>
                  <a:schemeClr val="bg2"/>
                </a:solidFill>
                <a:latin typeface="幼圆" panose="02010509060101010101" pitchFamily="49" charset="-122"/>
                <a:ea typeface="幼圆" panose="02010509060101010101" pitchFamily="49" charset="-122"/>
              </a:rPr>
              <a:pPr algn="l"/>
              <a:t>2026/6/10</a:t>
            </a:fld>
            <a:endParaRPr lang="en-US" altLang="zh-CN" sz="1400">
              <a:solidFill>
                <a:schemeClr val="bg2"/>
              </a:solidFill>
              <a:latin typeface="幼圆" panose="02010509060101010101" pitchFamily="49" charset="-122"/>
              <a:ea typeface="幼圆" panose="02010509060101010101" pitchFamily="49" charset="-122"/>
            </a:endParaRPr>
          </a:p>
        </p:txBody>
      </p:sp>
      <p:grpSp>
        <p:nvGrpSpPr>
          <p:cNvPr id="2" name="Group 134">
            <a:extLst>
              <a:ext uri="{FF2B5EF4-FFF2-40B4-BE49-F238E27FC236}">
                <a16:creationId xmlns:a16="http://schemas.microsoft.com/office/drawing/2014/main" id="{2CE59354-9842-41ED-A7C3-DAC4A837A68E}"/>
              </a:ext>
            </a:extLst>
          </p:cNvPr>
          <p:cNvGrpSpPr>
            <a:grpSpLocks/>
          </p:cNvGrpSpPr>
          <p:nvPr/>
        </p:nvGrpSpPr>
        <p:grpSpPr bwMode="auto">
          <a:xfrm>
            <a:off x="3976077" y="2606675"/>
            <a:ext cx="3276600" cy="4114800"/>
            <a:chOff x="2208" y="1392"/>
            <a:chExt cx="2064" cy="2592"/>
          </a:xfrm>
        </p:grpSpPr>
        <p:sp>
          <p:nvSpPr>
            <p:cNvPr id="394271" name="Rectangle 5">
              <a:extLst>
                <a:ext uri="{FF2B5EF4-FFF2-40B4-BE49-F238E27FC236}">
                  <a16:creationId xmlns:a16="http://schemas.microsoft.com/office/drawing/2014/main" id="{C863FD18-6158-465F-94BC-1202FC1AE868}"/>
                </a:ext>
              </a:extLst>
            </p:cNvPr>
            <p:cNvSpPr>
              <a:spLocks noChangeArrowheads="1"/>
            </p:cNvSpPr>
            <p:nvPr/>
          </p:nvSpPr>
          <p:spPr bwMode="auto">
            <a:xfrm>
              <a:off x="2208" y="1392"/>
              <a:ext cx="2064"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latin typeface="Arial" panose="020B0604020202020204" pitchFamily="34" charset="0"/>
                  <a:ea typeface="黑体" panose="02010609060101010101" pitchFamily="49" charset="-122"/>
                </a:rPr>
                <a:t>建立零件库 (</a:t>
              </a:r>
              <a:r>
                <a:rPr lang="en-US" altLang="zh-CN" sz="1800">
                  <a:latin typeface="Arial" panose="020B0604020202020204" pitchFamily="34" charset="0"/>
                  <a:ea typeface="黑体" panose="02010609060101010101" pitchFamily="49" charset="-122"/>
                </a:rPr>
                <a:t>s</a:t>
              </a:r>
              <a:r>
                <a:rPr lang="zh-CN" altLang="en-US" sz="1800">
                  <a:latin typeface="Arial" panose="020B0604020202020204" pitchFamily="34" charset="0"/>
                  <a:ea typeface="黑体" panose="02010609060101010101" pitchFamily="49" charset="-122"/>
                </a:rPr>
                <a:t>数组)</a:t>
              </a:r>
              <a:r>
                <a:rPr lang="en-US" altLang="zh-CN" sz="2400">
                  <a:latin typeface="Arial" panose="020B0604020202020204" pitchFamily="34" charset="0"/>
                  <a:ea typeface="黑体" panose="02010609060101010101" pitchFamily="49" charset="-122"/>
                </a:rPr>
                <a:t>, </a:t>
              </a:r>
              <a:r>
                <a:rPr lang="en-US" altLang="zh-CN" sz="1800">
                  <a:latin typeface="Arial" panose="020B0604020202020204" pitchFamily="34" charset="0"/>
                  <a:ea typeface="黑体" panose="02010609060101010101" pitchFamily="49" charset="-122"/>
                </a:rPr>
                <a:t>i=0</a:t>
              </a:r>
            </a:p>
          </p:txBody>
        </p:sp>
        <p:sp>
          <p:nvSpPr>
            <p:cNvPr id="394272" name="Rectangle 47">
              <a:extLst>
                <a:ext uri="{FF2B5EF4-FFF2-40B4-BE49-F238E27FC236}">
                  <a16:creationId xmlns:a16="http://schemas.microsoft.com/office/drawing/2014/main" id="{F40FFCBD-03E6-4491-85EF-1A2C7D9C03F7}"/>
                </a:ext>
              </a:extLst>
            </p:cNvPr>
            <p:cNvSpPr>
              <a:spLocks noChangeArrowheads="1"/>
            </p:cNvSpPr>
            <p:nvPr/>
          </p:nvSpPr>
          <p:spPr bwMode="auto">
            <a:xfrm>
              <a:off x="2208" y="1680"/>
              <a:ext cx="2064" cy="2304"/>
            </a:xfrm>
            <a:prstGeom prst="rect">
              <a:avLst/>
            </a:prstGeom>
            <a:solidFill>
              <a:schemeClr val="bg1"/>
            </a:solidFill>
            <a:ln w="9525">
              <a:solidFill>
                <a:srgbClr val="32B828"/>
              </a:solidFill>
              <a:miter lim="800000"/>
              <a:headEnd/>
              <a:tailEnd/>
            </a:ln>
          </p:spPr>
          <p:txBody>
            <a:bodyPr wrap="none"/>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800">
                  <a:latin typeface="黑体" panose="02010609060101010101" pitchFamily="49" charset="-122"/>
                  <a:ea typeface="黑体" panose="02010609060101010101" pitchFamily="49" charset="-122"/>
                </a:rPr>
                <a:t> 输入零件号 </a:t>
              </a:r>
              <a:r>
                <a:rPr lang="en-US" altLang="zh-CN" sz="2000">
                  <a:latin typeface="Arial" panose="020B0604020202020204" pitchFamily="34" charset="0"/>
                  <a:ea typeface="黑体" panose="02010609060101010101" pitchFamily="49" charset="-122"/>
                </a:rPr>
                <a:t>x</a:t>
              </a:r>
              <a:endParaRPr lang="zh-CN" altLang="en-US" sz="2000">
                <a:latin typeface="黑体" panose="02010609060101010101" pitchFamily="49" charset="-122"/>
                <a:ea typeface="黑体" panose="02010609060101010101" pitchFamily="49" charset="-122"/>
              </a:endParaRPr>
            </a:p>
          </p:txBody>
        </p:sp>
        <p:sp>
          <p:nvSpPr>
            <p:cNvPr id="394273" name="Rectangle 6">
              <a:extLst>
                <a:ext uri="{FF2B5EF4-FFF2-40B4-BE49-F238E27FC236}">
                  <a16:creationId xmlns:a16="http://schemas.microsoft.com/office/drawing/2014/main" id="{D3DE0211-C331-4C3A-9205-FFDC967446DF}"/>
                </a:ext>
              </a:extLst>
            </p:cNvPr>
            <p:cNvSpPr>
              <a:spLocks noChangeArrowheads="1"/>
            </p:cNvSpPr>
            <p:nvPr/>
          </p:nvSpPr>
          <p:spPr bwMode="auto">
            <a:xfrm>
              <a:off x="2496" y="1920"/>
              <a:ext cx="1776" cy="576"/>
            </a:xfrm>
            <a:prstGeom prst="rect">
              <a:avLst/>
            </a:prstGeom>
            <a:solidFill>
              <a:schemeClr val="bg1"/>
            </a:solidFill>
            <a:ln w="9525">
              <a:solidFill>
                <a:srgbClr val="32B828"/>
              </a:solidFill>
              <a:miter lim="800000"/>
              <a:headEnd/>
              <a:tailEnd/>
            </a:ln>
          </p:spPr>
          <p:txBody>
            <a:bodyPr wrap="none"/>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en-US" altLang="zh-CN" sz="2000" b="1">
                  <a:ea typeface="文鼎细圆" pitchFamily="49" charset="-122"/>
                </a:rPr>
                <a:t> do while(x!=s[0][i])</a:t>
              </a:r>
            </a:p>
          </p:txBody>
        </p:sp>
        <p:sp>
          <p:nvSpPr>
            <p:cNvPr id="394274" name="Rectangle 48">
              <a:extLst>
                <a:ext uri="{FF2B5EF4-FFF2-40B4-BE49-F238E27FC236}">
                  <a16:creationId xmlns:a16="http://schemas.microsoft.com/office/drawing/2014/main" id="{E7992928-C568-476A-9414-159C1473A163}"/>
                </a:ext>
              </a:extLst>
            </p:cNvPr>
            <p:cNvSpPr>
              <a:spLocks noChangeArrowheads="1"/>
            </p:cNvSpPr>
            <p:nvPr/>
          </p:nvSpPr>
          <p:spPr bwMode="auto">
            <a:xfrm>
              <a:off x="2832" y="2208"/>
              <a:ext cx="1440"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400">
                  <a:latin typeface="Arial" panose="020B0604020202020204" pitchFamily="34" charset="0"/>
                  <a:ea typeface="黑体" panose="02010609060101010101" pitchFamily="49" charset="-122"/>
                </a:rPr>
                <a:t>i++</a:t>
              </a:r>
            </a:p>
          </p:txBody>
        </p:sp>
        <p:sp>
          <p:nvSpPr>
            <p:cNvPr id="394275" name="Rectangle 123">
              <a:extLst>
                <a:ext uri="{FF2B5EF4-FFF2-40B4-BE49-F238E27FC236}">
                  <a16:creationId xmlns:a16="http://schemas.microsoft.com/office/drawing/2014/main" id="{3316FF72-2780-429A-B69C-803A8F7D09E0}"/>
                </a:ext>
              </a:extLst>
            </p:cNvPr>
            <p:cNvSpPr>
              <a:spLocks noChangeArrowheads="1"/>
            </p:cNvSpPr>
            <p:nvPr/>
          </p:nvSpPr>
          <p:spPr bwMode="auto">
            <a:xfrm>
              <a:off x="2496" y="2496"/>
              <a:ext cx="1776" cy="336"/>
            </a:xfrm>
            <a:prstGeom prst="rect">
              <a:avLst/>
            </a:prstGeom>
            <a:solidFill>
              <a:schemeClr val="bg1"/>
            </a:solidFill>
            <a:ln w="9525">
              <a:solidFill>
                <a:srgbClr val="32B828"/>
              </a:solidFill>
              <a:miter lim="800000"/>
              <a:headEnd/>
              <a:tailEnd/>
            </a:ln>
          </p:spPr>
          <p:txBody>
            <a:bodyPr wrap="none"/>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400">
                  <a:latin typeface="Arial" panose="020B0604020202020204" pitchFamily="34" charset="0"/>
                  <a:ea typeface="黑体" panose="02010609060101010101" pitchFamily="49" charset="-122"/>
                </a:rPr>
                <a:t>i++</a:t>
              </a:r>
            </a:p>
          </p:txBody>
        </p:sp>
        <p:sp>
          <p:nvSpPr>
            <p:cNvPr id="394276" name="AutoShape 122">
              <a:extLst>
                <a:ext uri="{FF2B5EF4-FFF2-40B4-BE49-F238E27FC236}">
                  <a16:creationId xmlns:a16="http://schemas.microsoft.com/office/drawing/2014/main" id="{6CA4DAA3-15B9-41AF-9D90-02C978A17E62}"/>
                </a:ext>
              </a:extLst>
            </p:cNvPr>
            <p:cNvSpPr>
              <a:spLocks noChangeArrowheads="1"/>
            </p:cNvSpPr>
            <p:nvPr/>
          </p:nvSpPr>
          <p:spPr bwMode="auto">
            <a:xfrm>
              <a:off x="2496" y="2496"/>
              <a:ext cx="1776" cy="336"/>
            </a:xfrm>
            <a:prstGeom prst="flowChartMerge">
              <a:avLst/>
            </a:prstGeom>
            <a:solidFill>
              <a:schemeClr val="bg1"/>
            </a:solidFill>
            <a:ln w="9525">
              <a:solidFill>
                <a:srgbClr val="F89A60"/>
              </a:solidFill>
              <a:miter lim="800000"/>
              <a:headEnd/>
              <a:tailEnd/>
            </a:ln>
          </p:spPr>
          <p:txBody>
            <a:bodyPr wrap="none"/>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latin typeface="Arial" panose="020B0604020202020204" pitchFamily="34" charset="0"/>
                </a:rPr>
                <a:t>x==</a:t>
              </a:r>
              <a:r>
                <a:rPr lang="en-US" altLang="zh-CN" sz="1800" b="1">
                  <a:ea typeface="文鼎细圆" pitchFamily="49" charset="-122"/>
                </a:rPr>
                <a:t>s[0][i])</a:t>
              </a:r>
            </a:p>
          </p:txBody>
        </p:sp>
        <p:sp>
          <p:nvSpPr>
            <p:cNvPr id="394277" name="Rectangle 36">
              <a:extLst>
                <a:ext uri="{FF2B5EF4-FFF2-40B4-BE49-F238E27FC236}">
                  <a16:creationId xmlns:a16="http://schemas.microsoft.com/office/drawing/2014/main" id="{5FCC5990-C1BE-4473-AAED-ACF2F229E8B5}"/>
                </a:ext>
              </a:extLst>
            </p:cNvPr>
            <p:cNvSpPr>
              <a:spLocks noChangeArrowheads="1"/>
            </p:cNvSpPr>
            <p:nvPr/>
          </p:nvSpPr>
          <p:spPr bwMode="auto">
            <a:xfrm>
              <a:off x="2544" y="2640"/>
              <a:ext cx="240"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r>
                <a:rPr lang="en-US" altLang="zh-CN" sz="1800" b="1">
                  <a:latin typeface="Arial" panose="020B0604020202020204" pitchFamily="34" charset="0"/>
                  <a:ea typeface="文鼎细圆" pitchFamily="49" charset="-122"/>
                </a:rPr>
                <a:t>Y</a:t>
              </a:r>
            </a:p>
          </p:txBody>
        </p:sp>
        <p:sp>
          <p:nvSpPr>
            <p:cNvPr id="394278" name="Rectangle 125">
              <a:extLst>
                <a:ext uri="{FF2B5EF4-FFF2-40B4-BE49-F238E27FC236}">
                  <a16:creationId xmlns:a16="http://schemas.microsoft.com/office/drawing/2014/main" id="{ED4D6913-17A5-4115-B222-A34E9E27B6B4}"/>
                </a:ext>
              </a:extLst>
            </p:cNvPr>
            <p:cNvSpPr>
              <a:spLocks noChangeArrowheads="1"/>
            </p:cNvSpPr>
            <p:nvPr/>
          </p:nvSpPr>
          <p:spPr bwMode="auto">
            <a:xfrm>
              <a:off x="3936" y="2640"/>
              <a:ext cx="240"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r>
                <a:rPr lang="en-US" altLang="zh-CN" sz="1800" b="1">
                  <a:latin typeface="Arial" panose="020B0604020202020204" pitchFamily="34" charset="0"/>
                  <a:ea typeface="文鼎细圆" pitchFamily="49" charset="-122"/>
                </a:rPr>
                <a:t>N</a:t>
              </a:r>
            </a:p>
          </p:txBody>
        </p:sp>
        <p:sp>
          <p:nvSpPr>
            <p:cNvPr id="394279" name="Rectangle 126">
              <a:extLst>
                <a:ext uri="{FF2B5EF4-FFF2-40B4-BE49-F238E27FC236}">
                  <a16:creationId xmlns:a16="http://schemas.microsoft.com/office/drawing/2014/main" id="{EF99ED3C-3515-4768-91D4-467A701EA8CA}"/>
                </a:ext>
              </a:extLst>
            </p:cNvPr>
            <p:cNvSpPr>
              <a:spLocks noChangeArrowheads="1"/>
            </p:cNvSpPr>
            <p:nvPr/>
          </p:nvSpPr>
          <p:spPr bwMode="auto">
            <a:xfrm>
              <a:off x="2496" y="2832"/>
              <a:ext cx="912" cy="432"/>
            </a:xfrm>
            <a:prstGeom prst="rect">
              <a:avLst/>
            </a:prstGeom>
            <a:solidFill>
              <a:schemeClr val="bg1"/>
            </a:solidFill>
            <a:ln w="9525">
              <a:solidFill>
                <a:srgbClr val="32B828"/>
              </a:solidFill>
              <a:miter lim="800000"/>
              <a:headEnd/>
              <a:tailEnd/>
            </a:ln>
          </p:spPr>
          <p:txBody>
            <a:bodyPr wrap="none"/>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en-US" altLang="zh-CN" sz="2000" b="1">
                  <a:ea typeface="文鼎细圆" pitchFamily="49" charset="-122"/>
                </a:rPr>
                <a:t>        s[0][i]</a:t>
              </a:r>
              <a:endParaRPr lang="zh-CN" altLang="en-US" sz="1800">
                <a:latin typeface="Arial" panose="020B0604020202020204" pitchFamily="34" charset="0"/>
                <a:ea typeface="黑体" panose="02010609060101010101" pitchFamily="49" charset="-122"/>
              </a:endParaRPr>
            </a:p>
            <a:p>
              <a:pPr algn="l"/>
              <a:r>
                <a:rPr lang="zh-CN" altLang="en-US" sz="1800">
                  <a:latin typeface="Arial" panose="020B0604020202020204" pitchFamily="34" charset="0"/>
                  <a:ea typeface="黑体" panose="02010609060101010101" pitchFamily="49" charset="-122"/>
                </a:rPr>
                <a:t>输出</a:t>
              </a:r>
              <a:r>
                <a:rPr lang="en-US" altLang="zh-CN" sz="2000" b="1">
                  <a:ea typeface="文鼎细圆" pitchFamily="49" charset="-122"/>
                </a:rPr>
                <a:t> s[1][i]</a:t>
              </a:r>
              <a:r>
                <a:rPr lang="zh-CN" altLang="en-US" sz="1800">
                  <a:latin typeface="Arial" panose="020B0604020202020204" pitchFamily="34" charset="0"/>
                  <a:ea typeface="黑体" panose="02010609060101010101" pitchFamily="49" charset="-122"/>
                </a:rPr>
                <a:t> </a:t>
              </a:r>
            </a:p>
          </p:txBody>
        </p:sp>
        <p:sp>
          <p:nvSpPr>
            <p:cNvPr id="394280" name="Rectangle 128">
              <a:extLst>
                <a:ext uri="{FF2B5EF4-FFF2-40B4-BE49-F238E27FC236}">
                  <a16:creationId xmlns:a16="http://schemas.microsoft.com/office/drawing/2014/main" id="{5979B191-16F3-41C1-8444-3F0A0FD2282A}"/>
                </a:ext>
              </a:extLst>
            </p:cNvPr>
            <p:cNvSpPr>
              <a:spLocks noChangeArrowheads="1"/>
            </p:cNvSpPr>
            <p:nvPr/>
          </p:nvSpPr>
          <p:spPr bwMode="auto">
            <a:xfrm>
              <a:off x="3408" y="2832"/>
              <a:ext cx="864" cy="43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latin typeface="黑体" panose="02010609060101010101" pitchFamily="49" charset="-122"/>
                  <a:ea typeface="黑体" panose="02010609060101010101" pitchFamily="49" charset="-122"/>
                </a:rPr>
                <a:t>输入错误!</a:t>
              </a:r>
              <a:endParaRPr lang="en-US" altLang="zh-CN" sz="1800">
                <a:latin typeface="黑体" panose="02010609060101010101" pitchFamily="49" charset="-122"/>
                <a:ea typeface="黑体" panose="02010609060101010101" pitchFamily="49" charset="-122"/>
              </a:endParaRPr>
            </a:p>
          </p:txBody>
        </p:sp>
        <p:sp>
          <p:nvSpPr>
            <p:cNvPr id="394281" name="Rectangle 129">
              <a:extLst>
                <a:ext uri="{FF2B5EF4-FFF2-40B4-BE49-F238E27FC236}">
                  <a16:creationId xmlns:a16="http://schemas.microsoft.com/office/drawing/2014/main" id="{63D35240-187C-455B-97D9-C6271DC79D0F}"/>
                </a:ext>
              </a:extLst>
            </p:cNvPr>
            <p:cNvSpPr>
              <a:spLocks noChangeArrowheads="1"/>
            </p:cNvSpPr>
            <p:nvPr/>
          </p:nvSpPr>
          <p:spPr bwMode="auto">
            <a:xfrm>
              <a:off x="2496" y="3264"/>
              <a:ext cx="1776" cy="336"/>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latin typeface="黑体" panose="02010609060101010101" pitchFamily="49" charset="-122"/>
                  <a:ea typeface="黑体" panose="02010609060101010101" pitchFamily="49" charset="-122"/>
                </a:rPr>
                <a:t> </a:t>
              </a:r>
              <a:endParaRPr lang="en-US" altLang="zh-CN" sz="1800">
                <a:latin typeface="黑体" panose="02010609060101010101" pitchFamily="49" charset="-122"/>
                <a:ea typeface="黑体" panose="02010609060101010101" pitchFamily="49" charset="-122"/>
              </a:endParaRPr>
            </a:p>
          </p:txBody>
        </p:sp>
        <p:sp>
          <p:nvSpPr>
            <p:cNvPr id="394282" name="AutoShape 127">
              <a:extLst>
                <a:ext uri="{FF2B5EF4-FFF2-40B4-BE49-F238E27FC236}">
                  <a16:creationId xmlns:a16="http://schemas.microsoft.com/office/drawing/2014/main" id="{D5054122-6C6D-4F7C-B03D-FB25FA01D2FF}"/>
                </a:ext>
              </a:extLst>
            </p:cNvPr>
            <p:cNvSpPr>
              <a:spLocks noChangeArrowheads="1"/>
            </p:cNvSpPr>
            <p:nvPr/>
          </p:nvSpPr>
          <p:spPr bwMode="auto">
            <a:xfrm>
              <a:off x="2496" y="3264"/>
              <a:ext cx="1776" cy="336"/>
            </a:xfrm>
            <a:prstGeom prst="flowChartMerge">
              <a:avLst/>
            </a:prstGeom>
            <a:solidFill>
              <a:schemeClr val="bg1"/>
            </a:solidFill>
            <a:ln w="9525">
              <a:solidFill>
                <a:srgbClr val="F89A60"/>
              </a:solidFill>
              <a:miter lim="800000"/>
              <a:headEnd/>
              <a:tailEnd/>
            </a:ln>
          </p:spPr>
          <p:txBody>
            <a:bodyPr wrap="none"/>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latin typeface="黑体" panose="02010609060101010101" pitchFamily="49" charset="-122"/>
                  <a:ea typeface="黑体" panose="02010609060101010101" pitchFamily="49" charset="-122"/>
                </a:rPr>
                <a:t>继续查询</a:t>
              </a:r>
              <a:r>
                <a:rPr lang="zh-CN" altLang="en-US" sz="1800" b="1">
                  <a:latin typeface="Arial" panose="020B0604020202020204" pitchFamily="34" charset="0"/>
                  <a:ea typeface="黑体" panose="02010609060101010101" pitchFamily="49" charset="-122"/>
                </a:rPr>
                <a:t>?</a:t>
              </a:r>
            </a:p>
          </p:txBody>
        </p:sp>
        <p:sp>
          <p:nvSpPr>
            <p:cNvPr id="394283" name="Rectangle 130">
              <a:extLst>
                <a:ext uri="{FF2B5EF4-FFF2-40B4-BE49-F238E27FC236}">
                  <a16:creationId xmlns:a16="http://schemas.microsoft.com/office/drawing/2014/main" id="{8DC0FF27-67F1-465E-9A87-ED0CC5B27C8F}"/>
                </a:ext>
              </a:extLst>
            </p:cNvPr>
            <p:cNvSpPr>
              <a:spLocks noChangeArrowheads="1"/>
            </p:cNvSpPr>
            <p:nvPr/>
          </p:nvSpPr>
          <p:spPr bwMode="auto">
            <a:xfrm>
              <a:off x="2544" y="3408"/>
              <a:ext cx="240"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r>
                <a:rPr lang="en-US" altLang="zh-CN" sz="1800" b="1">
                  <a:latin typeface="Arial" panose="020B0604020202020204" pitchFamily="34" charset="0"/>
                  <a:ea typeface="文鼎细圆" pitchFamily="49" charset="-122"/>
                </a:rPr>
                <a:t>Y</a:t>
              </a:r>
            </a:p>
          </p:txBody>
        </p:sp>
        <p:sp>
          <p:nvSpPr>
            <p:cNvPr id="394284" name="Rectangle 131">
              <a:extLst>
                <a:ext uri="{FF2B5EF4-FFF2-40B4-BE49-F238E27FC236}">
                  <a16:creationId xmlns:a16="http://schemas.microsoft.com/office/drawing/2014/main" id="{818E6A2D-F341-4E21-9D86-8AA6FC353EFB}"/>
                </a:ext>
              </a:extLst>
            </p:cNvPr>
            <p:cNvSpPr>
              <a:spLocks noChangeArrowheads="1"/>
            </p:cNvSpPr>
            <p:nvPr/>
          </p:nvSpPr>
          <p:spPr bwMode="auto">
            <a:xfrm>
              <a:off x="3984" y="3408"/>
              <a:ext cx="240"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r>
                <a:rPr lang="en-US" altLang="zh-CN" sz="1800" b="1">
                  <a:latin typeface="Arial" panose="020B0604020202020204" pitchFamily="34" charset="0"/>
                  <a:ea typeface="文鼎细圆" pitchFamily="49" charset="-122"/>
                </a:rPr>
                <a:t>N</a:t>
              </a:r>
            </a:p>
          </p:txBody>
        </p:sp>
        <p:sp>
          <p:nvSpPr>
            <p:cNvPr id="394285" name="Rectangle 132">
              <a:extLst>
                <a:ext uri="{FF2B5EF4-FFF2-40B4-BE49-F238E27FC236}">
                  <a16:creationId xmlns:a16="http://schemas.microsoft.com/office/drawing/2014/main" id="{6FE9837D-9C8D-4418-9CD3-4A8C4CC72FD7}"/>
                </a:ext>
              </a:extLst>
            </p:cNvPr>
            <p:cNvSpPr>
              <a:spLocks noChangeArrowheads="1"/>
            </p:cNvSpPr>
            <p:nvPr/>
          </p:nvSpPr>
          <p:spPr bwMode="auto">
            <a:xfrm>
              <a:off x="2496" y="3600"/>
              <a:ext cx="912" cy="384"/>
            </a:xfrm>
            <a:prstGeom prst="rect">
              <a:avLst/>
            </a:prstGeom>
            <a:solidFill>
              <a:schemeClr val="bg1"/>
            </a:solidFill>
            <a:ln w="9525">
              <a:solidFill>
                <a:srgbClr val="32B828"/>
              </a:solidFill>
              <a:miter lim="800000"/>
              <a:headEnd/>
              <a:tailEnd/>
            </a:ln>
          </p:spPr>
          <p:txBody>
            <a:bodyPr wrap="none"/>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en-US" altLang="zh-CN" sz="2000" b="1">
                  <a:ea typeface="文鼎细圆" pitchFamily="49" charset="-122"/>
                </a:rPr>
                <a:t>         </a:t>
              </a:r>
              <a:endParaRPr lang="zh-CN" altLang="en-US" sz="1800">
                <a:latin typeface="Arial" panose="020B0604020202020204" pitchFamily="34" charset="0"/>
                <a:ea typeface="黑体" panose="02010609060101010101" pitchFamily="49" charset="-122"/>
              </a:endParaRPr>
            </a:p>
          </p:txBody>
        </p:sp>
        <p:sp>
          <p:nvSpPr>
            <p:cNvPr id="394286" name="Rectangle 133">
              <a:extLst>
                <a:ext uri="{FF2B5EF4-FFF2-40B4-BE49-F238E27FC236}">
                  <a16:creationId xmlns:a16="http://schemas.microsoft.com/office/drawing/2014/main" id="{0EC44A9E-33E5-4AE0-AE4E-FFC34447FA08}"/>
                </a:ext>
              </a:extLst>
            </p:cNvPr>
            <p:cNvSpPr>
              <a:spLocks noChangeArrowheads="1"/>
            </p:cNvSpPr>
            <p:nvPr/>
          </p:nvSpPr>
          <p:spPr bwMode="auto">
            <a:xfrm>
              <a:off x="3408" y="3600"/>
              <a:ext cx="864" cy="384"/>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latin typeface="黑体" panose="02010609060101010101" pitchFamily="49" charset="-122"/>
                  <a:ea typeface="黑体" panose="02010609060101010101" pitchFamily="49" charset="-122"/>
                </a:rPr>
                <a:t>跳出循环</a:t>
              </a:r>
              <a:r>
                <a:rPr lang="en-US" altLang="zh-CN" sz="2000" b="1">
                  <a:ea typeface="文鼎细圆" pitchFamily="49" charset="-122"/>
                </a:rPr>
                <a:t> </a:t>
              </a:r>
              <a:endParaRPr lang="zh-CN" altLang="en-US" sz="2000" b="1">
                <a:ea typeface="文鼎细圆" pitchFamily="49" charset="-122"/>
              </a:endParaRPr>
            </a:p>
          </p:txBody>
        </p:sp>
      </p:grpSp>
      <p:sp>
        <p:nvSpPr>
          <p:cNvPr id="24" name="TextBox 7">
            <a:extLst>
              <a:ext uri="{FF2B5EF4-FFF2-40B4-BE49-F238E27FC236}">
                <a16:creationId xmlns:a16="http://schemas.microsoft.com/office/drawing/2014/main" id="{16D17C02-2B0E-4166-8806-CD03FDE56599}"/>
              </a:ext>
            </a:extLst>
          </p:cNvPr>
          <p:cNvSpPr>
            <a:spLocks noChangeArrowheads="1"/>
          </p:cNvSpPr>
          <p:nvPr/>
        </p:nvSpPr>
        <p:spPr bwMode="auto">
          <a:xfrm>
            <a:off x="803275" y="1558411"/>
            <a:ext cx="10255494" cy="996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228600" indent="-228600">
              <a:lnSpc>
                <a:spcPct val="90000"/>
              </a:lnSpc>
              <a:spcBef>
                <a:spcPts val="1000"/>
              </a:spcBef>
            </a:pPr>
            <a:r>
              <a:rPr lang="en-US" altLang="zh-CN" sz="2800" dirty="0">
                <a:latin typeface="+mn-lt"/>
                <a:cs typeface="+mn-cs"/>
              </a:rPr>
              <a:t>N-S</a:t>
            </a:r>
            <a:r>
              <a:rPr lang="zh-CN" altLang="en-US" sz="2800" dirty="0">
                <a:latin typeface="+mn-lt"/>
                <a:cs typeface="+mn-cs"/>
              </a:rPr>
              <a:t>图</a:t>
            </a:r>
            <a:endParaRPr lang="en-US" altLang="zh-CN" sz="2800" dirty="0">
              <a:latin typeface="+mn-lt"/>
              <a:cs typeface="+mn-cs"/>
            </a:endParaRPr>
          </a:p>
          <a:p>
            <a:pPr marL="228600" indent="-228600">
              <a:lnSpc>
                <a:spcPct val="90000"/>
              </a:lnSpc>
              <a:spcBef>
                <a:spcPts val="1000"/>
              </a:spcBef>
            </a:pPr>
            <a:r>
              <a:rPr lang="zh-CN" altLang="en-US" sz="2800" dirty="0">
                <a:latin typeface="+mn-lt"/>
                <a:cs typeface="+mn-cs"/>
              </a:rPr>
              <a:t>也被称为盒图或</a:t>
            </a:r>
            <a:r>
              <a:rPr lang="en-US" altLang="zh-CN" sz="2800" dirty="0">
                <a:latin typeface="+mn-lt"/>
                <a:cs typeface="+mn-cs"/>
              </a:rPr>
              <a:t>NS</a:t>
            </a:r>
            <a:r>
              <a:rPr lang="zh-CN" altLang="en-US" sz="2800" dirty="0">
                <a:latin typeface="+mn-lt"/>
                <a:cs typeface="+mn-cs"/>
              </a:rPr>
              <a:t>图，是结构化编程中的一种可视化建模</a:t>
            </a:r>
            <a:endParaRPr lang="en-US" altLang="zh-CN" sz="2800" dirty="0">
              <a:latin typeface="+mn-lt"/>
              <a:cs typeface="+mn-cs"/>
            </a:endParaRPr>
          </a:p>
        </p:txBody>
      </p:sp>
      <p:sp>
        <p:nvSpPr>
          <p:cNvPr id="25" name="标题 1">
            <a:extLst>
              <a:ext uri="{FF2B5EF4-FFF2-40B4-BE49-F238E27FC236}">
                <a16:creationId xmlns:a16="http://schemas.microsoft.com/office/drawing/2014/main" id="{477DAF66-C1D5-4304-A101-9633056D08B6}"/>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a:t>设计</a:t>
            </a:r>
            <a:endParaRPr lang="zh-CN" altLang="en-US" dirty="0"/>
          </a:p>
        </p:txBody>
      </p:sp>
    </p:spTree>
    <p:extLst>
      <p:ext uri="{BB962C8B-B14F-4D97-AF65-F5344CB8AC3E}">
        <p14:creationId xmlns:p14="http://schemas.microsoft.com/office/powerpoint/2010/main" val="26670027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日期占位符 1">
            <a:extLst>
              <a:ext uri="{FF2B5EF4-FFF2-40B4-BE49-F238E27FC236}">
                <a16:creationId xmlns:a16="http://schemas.microsoft.com/office/drawing/2014/main" id="{0C7E48CA-4DDD-4DA1-A4DA-E703A5D6D900}"/>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fld id="{47F956EB-EF45-40D4-B4BA-C4DB5C3BD707}" type="datetime1">
              <a:rPr lang="zh-CN" altLang="en-US" sz="1400">
                <a:solidFill>
                  <a:schemeClr val="bg2"/>
                </a:solidFill>
                <a:latin typeface="幼圆" panose="02010509060101010101" pitchFamily="49" charset="-122"/>
                <a:ea typeface="幼圆" panose="02010509060101010101" pitchFamily="49" charset="-122"/>
              </a:rPr>
              <a:pPr algn="l"/>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2069545" name="Text Box 41">
            <a:extLst>
              <a:ext uri="{FF2B5EF4-FFF2-40B4-BE49-F238E27FC236}">
                <a16:creationId xmlns:a16="http://schemas.microsoft.com/office/drawing/2014/main" id="{108CE86F-955A-4027-A8EB-08AA59A00366}"/>
              </a:ext>
            </a:extLst>
          </p:cNvPr>
          <p:cNvSpPr txBox="1">
            <a:spLocks noChangeArrowheads="1"/>
          </p:cNvSpPr>
          <p:nvPr/>
        </p:nvSpPr>
        <p:spPr bwMode="auto">
          <a:xfrm>
            <a:off x="5784850" y="5688013"/>
            <a:ext cx="1670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latin typeface="黑体" panose="02010609060101010101" pitchFamily="49" charset="-122"/>
                <a:ea typeface="黑体" panose="02010609060101010101" pitchFamily="49" charset="-122"/>
              </a:rPr>
              <a:t> 直到型循环型</a:t>
            </a:r>
          </a:p>
        </p:txBody>
      </p:sp>
      <p:grpSp>
        <p:nvGrpSpPr>
          <p:cNvPr id="2" name="Group 95">
            <a:extLst>
              <a:ext uri="{FF2B5EF4-FFF2-40B4-BE49-F238E27FC236}">
                <a16:creationId xmlns:a16="http://schemas.microsoft.com/office/drawing/2014/main" id="{7FEA0738-CBC5-415B-8771-0C6B827885F8}"/>
              </a:ext>
            </a:extLst>
          </p:cNvPr>
          <p:cNvGrpSpPr>
            <a:grpSpLocks/>
          </p:cNvGrpSpPr>
          <p:nvPr/>
        </p:nvGrpSpPr>
        <p:grpSpPr bwMode="auto">
          <a:xfrm>
            <a:off x="3657600" y="2362200"/>
            <a:ext cx="762000" cy="1066800"/>
            <a:chOff x="1680" y="1344"/>
            <a:chExt cx="480" cy="672"/>
          </a:xfrm>
        </p:grpSpPr>
        <p:sp>
          <p:nvSpPr>
            <p:cNvPr id="396347" name="Rectangle 5">
              <a:extLst>
                <a:ext uri="{FF2B5EF4-FFF2-40B4-BE49-F238E27FC236}">
                  <a16:creationId xmlns:a16="http://schemas.microsoft.com/office/drawing/2014/main" id="{812EF7D1-AA93-4D1E-B8FA-E744CEDFDD09}"/>
                </a:ext>
              </a:extLst>
            </p:cNvPr>
            <p:cNvSpPr>
              <a:spLocks noChangeArrowheads="1"/>
            </p:cNvSpPr>
            <p:nvPr/>
          </p:nvSpPr>
          <p:spPr bwMode="auto">
            <a:xfrm>
              <a:off x="1680" y="1440"/>
              <a:ext cx="480"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A</a:t>
              </a:r>
            </a:p>
          </p:txBody>
        </p:sp>
        <p:sp>
          <p:nvSpPr>
            <p:cNvPr id="396348" name="Rectangle 6">
              <a:extLst>
                <a:ext uri="{FF2B5EF4-FFF2-40B4-BE49-F238E27FC236}">
                  <a16:creationId xmlns:a16="http://schemas.microsoft.com/office/drawing/2014/main" id="{421FE7E9-6858-4ED3-B7E8-3B427AA484DB}"/>
                </a:ext>
              </a:extLst>
            </p:cNvPr>
            <p:cNvSpPr>
              <a:spLocks noChangeArrowheads="1"/>
            </p:cNvSpPr>
            <p:nvPr/>
          </p:nvSpPr>
          <p:spPr bwMode="auto">
            <a:xfrm>
              <a:off x="1680" y="1728"/>
              <a:ext cx="480"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B</a:t>
              </a:r>
            </a:p>
          </p:txBody>
        </p:sp>
        <p:sp>
          <p:nvSpPr>
            <p:cNvPr id="396349" name="Line 43">
              <a:extLst>
                <a:ext uri="{FF2B5EF4-FFF2-40B4-BE49-F238E27FC236}">
                  <a16:creationId xmlns:a16="http://schemas.microsoft.com/office/drawing/2014/main" id="{DA18FDE0-F560-4F71-9F37-3EC679A946ED}"/>
                </a:ext>
              </a:extLst>
            </p:cNvPr>
            <p:cNvSpPr>
              <a:spLocks noChangeShapeType="1"/>
            </p:cNvSpPr>
            <p:nvPr/>
          </p:nvSpPr>
          <p:spPr bwMode="auto">
            <a:xfrm>
              <a:off x="1680" y="1344"/>
              <a:ext cx="0" cy="67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60">
            <a:extLst>
              <a:ext uri="{FF2B5EF4-FFF2-40B4-BE49-F238E27FC236}">
                <a16:creationId xmlns:a16="http://schemas.microsoft.com/office/drawing/2014/main" id="{DF344302-58C5-47EE-AB75-92CA0369C63E}"/>
              </a:ext>
            </a:extLst>
          </p:cNvPr>
          <p:cNvGrpSpPr>
            <a:grpSpLocks/>
          </p:cNvGrpSpPr>
          <p:nvPr/>
        </p:nvGrpSpPr>
        <p:grpSpPr bwMode="auto">
          <a:xfrm>
            <a:off x="4876800" y="2362200"/>
            <a:ext cx="1676400" cy="1066800"/>
            <a:chOff x="2352" y="1344"/>
            <a:chExt cx="1056" cy="672"/>
          </a:xfrm>
        </p:grpSpPr>
        <p:sp>
          <p:nvSpPr>
            <p:cNvPr id="396339" name="Line 44">
              <a:extLst>
                <a:ext uri="{FF2B5EF4-FFF2-40B4-BE49-F238E27FC236}">
                  <a16:creationId xmlns:a16="http://schemas.microsoft.com/office/drawing/2014/main" id="{6CDAE3AB-DE9A-4770-A19D-795BEDBB50BD}"/>
                </a:ext>
              </a:extLst>
            </p:cNvPr>
            <p:cNvSpPr>
              <a:spLocks noChangeShapeType="1"/>
            </p:cNvSpPr>
            <p:nvPr/>
          </p:nvSpPr>
          <p:spPr bwMode="auto">
            <a:xfrm>
              <a:off x="2448" y="1344"/>
              <a:ext cx="0" cy="67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40" name="Line 45">
              <a:extLst>
                <a:ext uri="{FF2B5EF4-FFF2-40B4-BE49-F238E27FC236}">
                  <a16:creationId xmlns:a16="http://schemas.microsoft.com/office/drawing/2014/main" id="{4DC840E4-5772-47C5-9BA9-EA2BEB3AD842}"/>
                </a:ext>
              </a:extLst>
            </p:cNvPr>
            <p:cNvSpPr>
              <a:spLocks noChangeShapeType="1"/>
            </p:cNvSpPr>
            <p:nvPr/>
          </p:nvSpPr>
          <p:spPr bwMode="auto">
            <a:xfrm flipH="1">
              <a:off x="2448" y="1440"/>
              <a:ext cx="48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41" name="Rectangle 46">
              <a:extLst>
                <a:ext uri="{FF2B5EF4-FFF2-40B4-BE49-F238E27FC236}">
                  <a16:creationId xmlns:a16="http://schemas.microsoft.com/office/drawing/2014/main" id="{86B4BCF5-8293-45E3-A280-E6DD49A5ABF4}"/>
                </a:ext>
              </a:extLst>
            </p:cNvPr>
            <p:cNvSpPr>
              <a:spLocks noChangeArrowheads="1"/>
            </p:cNvSpPr>
            <p:nvPr/>
          </p:nvSpPr>
          <p:spPr bwMode="auto">
            <a:xfrm>
              <a:off x="2928" y="1344"/>
              <a:ext cx="480"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A</a:t>
              </a:r>
            </a:p>
          </p:txBody>
        </p:sp>
        <p:sp>
          <p:nvSpPr>
            <p:cNvPr id="396342" name="Line 47">
              <a:extLst>
                <a:ext uri="{FF2B5EF4-FFF2-40B4-BE49-F238E27FC236}">
                  <a16:creationId xmlns:a16="http://schemas.microsoft.com/office/drawing/2014/main" id="{3115F039-2AD1-4987-9966-ED135FAD512C}"/>
                </a:ext>
              </a:extLst>
            </p:cNvPr>
            <p:cNvSpPr>
              <a:spLocks noChangeShapeType="1"/>
            </p:cNvSpPr>
            <p:nvPr/>
          </p:nvSpPr>
          <p:spPr bwMode="auto">
            <a:xfrm flipH="1">
              <a:off x="2448" y="1824"/>
              <a:ext cx="48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43" name="Rectangle 48">
              <a:extLst>
                <a:ext uri="{FF2B5EF4-FFF2-40B4-BE49-F238E27FC236}">
                  <a16:creationId xmlns:a16="http://schemas.microsoft.com/office/drawing/2014/main" id="{367EFED3-654E-4692-9CA0-06FAB3468EBA}"/>
                </a:ext>
              </a:extLst>
            </p:cNvPr>
            <p:cNvSpPr>
              <a:spLocks noChangeArrowheads="1"/>
            </p:cNvSpPr>
            <p:nvPr/>
          </p:nvSpPr>
          <p:spPr bwMode="auto">
            <a:xfrm>
              <a:off x="2928" y="1728"/>
              <a:ext cx="480"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B</a:t>
              </a:r>
            </a:p>
          </p:txBody>
        </p:sp>
        <p:sp>
          <p:nvSpPr>
            <p:cNvPr id="396344" name="Line 49">
              <a:extLst>
                <a:ext uri="{FF2B5EF4-FFF2-40B4-BE49-F238E27FC236}">
                  <a16:creationId xmlns:a16="http://schemas.microsoft.com/office/drawing/2014/main" id="{94DA3EA7-BF27-4F7E-88C2-B7D761F83529}"/>
                </a:ext>
              </a:extLst>
            </p:cNvPr>
            <p:cNvSpPr>
              <a:spLocks noChangeShapeType="1"/>
            </p:cNvSpPr>
            <p:nvPr/>
          </p:nvSpPr>
          <p:spPr bwMode="auto">
            <a:xfrm flipH="1">
              <a:off x="2640" y="1440"/>
              <a:ext cx="144" cy="1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45" name="Line 50">
              <a:extLst>
                <a:ext uri="{FF2B5EF4-FFF2-40B4-BE49-F238E27FC236}">
                  <a16:creationId xmlns:a16="http://schemas.microsoft.com/office/drawing/2014/main" id="{D4178D3A-9066-4B9D-8B0B-8693934C20ED}"/>
                </a:ext>
              </a:extLst>
            </p:cNvPr>
            <p:cNvSpPr>
              <a:spLocks noChangeShapeType="1"/>
            </p:cNvSpPr>
            <p:nvPr/>
          </p:nvSpPr>
          <p:spPr bwMode="auto">
            <a:xfrm flipH="1" flipV="1">
              <a:off x="2640" y="1632"/>
              <a:ext cx="144" cy="1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9555" name="Text Box 51">
              <a:extLst>
                <a:ext uri="{FF2B5EF4-FFF2-40B4-BE49-F238E27FC236}">
                  <a16:creationId xmlns:a16="http://schemas.microsoft.com/office/drawing/2014/main" id="{CDBAB091-0599-4FE2-A58A-503B58B152BB}"/>
                </a:ext>
              </a:extLst>
            </p:cNvPr>
            <p:cNvSpPr txBox="1">
              <a:spLocks noChangeArrowheads="1"/>
            </p:cNvSpPr>
            <p:nvPr/>
          </p:nvSpPr>
          <p:spPr bwMode="auto">
            <a:xfrm>
              <a:off x="2352" y="1488"/>
              <a:ext cx="336" cy="250"/>
            </a:xfrm>
            <a:prstGeom prst="rect">
              <a:avLst/>
            </a:prstGeom>
            <a:noFill/>
            <a:ln w="9525">
              <a:noFill/>
              <a:miter lim="800000"/>
              <a:headEnd/>
              <a:tailEnd/>
            </a:ln>
            <a:effectLst/>
          </p:spPr>
          <p:txBody>
            <a:bodyPr>
              <a:spAutoFit/>
            </a:bodyPr>
            <a:lstStyle/>
            <a:p>
              <a:pPr algn="ctr">
                <a:defRPr/>
              </a:pPr>
              <a:r>
                <a:rPr lang="zh-CN" altLang="en-US" sz="2000">
                  <a:latin typeface="黑体" pitchFamily="2" charset="-122"/>
                  <a:ea typeface="黑体" pitchFamily="2" charset="-122"/>
                </a:rPr>
                <a:t> </a:t>
              </a:r>
              <a:r>
                <a:rPr lang="en-US" altLang="zh-CN" b="1">
                  <a:effectLst>
                    <a:outerShdw blurRad="38100" dist="38100" dir="2700000" algn="tl">
                      <a:srgbClr val="000000"/>
                    </a:outerShdw>
                  </a:effectLst>
                  <a:latin typeface="Arial" charset="0"/>
                  <a:ea typeface="黑体" pitchFamily="2" charset="-122"/>
                </a:rPr>
                <a:t>p</a:t>
              </a:r>
            </a:p>
          </p:txBody>
        </p:sp>
      </p:grpSp>
      <p:grpSp>
        <p:nvGrpSpPr>
          <p:cNvPr id="4" name="Group 96">
            <a:extLst>
              <a:ext uri="{FF2B5EF4-FFF2-40B4-BE49-F238E27FC236}">
                <a16:creationId xmlns:a16="http://schemas.microsoft.com/office/drawing/2014/main" id="{5B2900E5-FDD8-4D98-A9E0-4C98801372D2}"/>
              </a:ext>
            </a:extLst>
          </p:cNvPr>
          <p:cNvGrpSpPr>
            <a:grpSpLocks/>
          </p:cNvGrpSpPr>
          <p:nvPr/>
        </p:nvGrpSpPr>
        <p:grpSpPr bwMode="auto">
          <a:xfrm>
            <a:off x="7010400" y="2286000"/>
            <a:ext cx="1676400" cy="1066800"/>
            <a:chOff x="3840" y="1344"/>
            <a:chExt cx="1056" cy="672"/>
          </a:xfrm>
        </p:grpSpPr>
        <p:sp>
          <p:nvSpPr>
            <p:cNvPr id="396332" name="Line 52">
              <a:extLst>
                <a:ext uri="{FF2B5EF4-FFF2-40B4-BE49-F238E27FC236}">
                  <a16:creationId xmlns:a16="http://schemas.microsoft.com/office/drawing/2014/main" id="{DD54C78A-AB23-41FD-A30E-EBE0AF8ECA91}"/>
                </a:ext>
              </a:extLst>
            </p:cNvPr>
            <p:cNvSpPr>
              <a:spLocks noChangeShapeType="1"/>
            </p:cNvSpPr>
            <p:nvPr/>
          </p:nvSpPr>
          <p:spPr bwMode="auto">
            <a:xfrm>
              <a:off x="3936" y="1344"/>
              <a:ext cx="0" cy="67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33" name="Line 53">
              <a:extLst>
                <a:ext uri="{FF2B5EF4-FFF2-40B4-BE49-F238E27FC236}">
                  <a16:creationId xmlns:a16="http://schemas.microsoft.com/office/drawing/2014/main" id="{BACE13D3-5647-48E6-9A99-78DEDE2F040A}"/>
                </a:ext>
              </a:extLst>
            </p:cNvPr>
            <p:cNvSpPr>
              <a:spLocks noChangeShapeType="1"/>
            </p:cNvSpPr>
            <p:nvPr/>
          </p:nvSpPr>
          <p:spPr bwMode="auto">
            <a:xfrm flipH="1">
              <a:off x="3936" y="1488"/>
              <a:ext cx="48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34" name="Rectangle 54">
              <a:extLst>
                <a:ext uri="{FF2B5EF4-FFF2-40B4-BE49-F238E27FC236}">
                  <a16:creationId xmlns:a16="http://schemas.microsoft.com/office/drawing/2014/main" id="{769CB5EA-57A4-4AAB-AAA7-CB5E33A19956}"/>
                </a:ext>
              </a:extLst>
            </p:cNvPr>
            <p:cNvSpPr>
              <a:spLocks noChangeArrowheads="1"/>
            </p:cNvSpPr>
            <p:nvPr/>
          </p:nvSpPr>
          <p:spPr bwMode="auto">
            <a:xfrm>
              <a:off x="4416" y="1392"/>
              <a:ext cx="480"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A</a:t>
              </a:r>
            </a:p>
          </p:txBody>
        </p:sp>
        <p:sp>
          <p:nvSpPr>
            <p:cNvPr id="396335" name="Line 55">
              <a:extLst>
                <a:ext uri="{FF2B5EF4-FFF2-40B4-BE49-F238E27FC236}">
                  <a16:creationId xmlns:a16="http://schemas.microsoft.com/office/drawing/2014/main" id="{C9BD6317-1EA7-44F5-A4BE-998715BD8DA8}"/>
                </a:ext>
              </a:extLst>
            </p:cNvPr>
            <p:cNvSpPr>
              <a:spLocks noChangeShapeType="1"/>
            </p:cNvSpPr>
            <p:nvPr/>
          </p:nvSpPr>
          <p:spPr bwMode="auto">
            <a:xfrm flipH="1">
              <a:off x="3936" y="1872"/>
              <a:ext cx="48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36" name="Line 57">
              <a:extLst>
                <a:ext uri="{FF2B5EF4-FFF2-40B4-BE49-F238E27FC236}">
                  <a16:creationId xmlns:a16="http://schemas.microsoft.com/office/drawing/2014/main" id="{B315672C-00E8-4B5C-87B8-1C117F409035}"/>
                </a:ext>
              </a:extLst>
            </p:cNvPr>
            <p:cNvSpPr>
              <a:spLocks noChangeShapeType="1"/>
            </p:cNvSpPr>
            <p:nvPr/>
          </p:nvSpPr>
          <p:spPr bwMode="auto">
            <a:xfrm flipH="1">
              <a:off x="4128" y="1488"/>
              <a:ext cx="144" cy="1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37" name="Line 58">
              <a:extLst>
                <a:ext uri="{FF2B5EF4-FFF2-40B4-BE49-F238E27FC236}">
                  <a16:creationId xmlns:a16="http://schemas.microsoft.com/office/drawing/2014/main" id="{2B653E63-B82B-46C7-882E-C46CBB512E45}"/>
                </a:ext>
              </a:extLst>
            </p:cNvPr>
            <p:cNvSpPr>
              <a:spLocks noChangeShapeType="1"/>
            </p:cNvSpPr>
            <p:nvPr/>
          </p:nvSpPr>
          <p:spPr bwMode="auto">
            <a:xfrm flipH="1" flipV="1">
              <a:off x="4128" y="1680"/>
              <a:ext cx="144" cy="1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9563" name="Text Box 59">
              <a:extLst>
                <a:ext uri="{FF2B5EF4-FFF2-40B4-BE49-F238E27FC236}">
                  <a16:creationId xmlns:a16="http://schemas.microsoft.com/office/drawing/2014/main" id="{64CF9622-8260-484C-BACD-498B47CEE51F}"/>
                </a:ext>
              </a:extLst>
            </p:cNvPr>
            <p:cNvSpPr txBox="1">
              <a:spLocks noChangeArrowheads="1"/>
            </p:cNvSpPr>
            <p:nvPr/>
          </p:nvSpPr>
          <p:spPr bwMode="auto">
            <a:xfrm>
              <a:off x="3840" y="1536"/>
              <a:ext cx="336" cy="250"/>
            </a:xfrm>
            <a:prstGeom prst="rect">
              <a:avLst/>
            </a:prstGeom>
            <a:noFill/>
            <a:ln w="9525">
              <a:noFill/>
              <a:miter lim="800000"/>
              <a:headEnd/>
              <a:tailEnd/>
            </a:ln>
            <a:effectLst/>
          </p:spPr>
          <p:txBody>
            <a:bodyPr>
              <a:spAutoFit/>
            </a:bodyPr>
            <a:lstStyle/>
            <a:p>
              <a:pPr algn="ctr">
                <a:defRPr/>
              </a:pPr>
              <a:r>
                <a:rPr lang="zh-CN" altLang="en-US" sz="2000">
                  <a:latin typeface="黑体" pitchFamily="2" charset="-122"/>
                  <a:ea typeface="黑体" pitchFamily="2" charset="-122"/>
                </a:rPr>
                <a:t> </a:t>
              </a:r>
              <a:r>
                <a:rPr lang="en-US" altLang="zh-CN" b="1">
                  <a:effectLst>
                    <a:outerShdw blurRad="38100" dist="38100" dir="2700000" algn="tl">
                      <a:srgbClr val="000000"/>
                    </a:outerShdw>
                  </a:effectLst>
                  <a:latin typeface="Arial" charset="0"/>
                  <a:ea typeface="黑体" pitchFamily="2" charset="-122"/>
                </a:rPr>
                <a:t>p</a:t>
              </a:r>
            </a:p>
          </p:txBody>
        </p:sp>
      </p:grpSp>
      <p:grpSp>
        <p:nvGrpSpPr>
          <p:cNvPr id="5" name="Group 66">
            <a:extLst>
              <a:ext uri="{FF2B5EF4-FFF2-40B4-BE49-F238E27FC236}">
                <a16:creationId xmlns:a16="http://schemas.microsoft.com/office/drawing/2014/main" id="{A671AC74-123E-414C-944B-6B68966354D1}"/>
              </a:ext>
            </a:extLst>
          </p:cNvPr>
          <p:cNvGrpSpPr>
            <a:grpSpLocks/>
          </p:cNvGrpSpPr>
          <p:nvPr/>
        </p:nvGrpSpPr>
        <p:grpSpPr bwMode="auto">
          <a:xfrm>
            <a:off x="3657600" y="4572000"/>
            <a:ext cx="2057400" cy="685800"/>
            <a:chOff x="3840" y="2544"/>
            <a:chExt cx="1296" cy="432"/>
          </a:xfrm>
        </p:grpSpPr>
        <p:sp>
          <p:nvSpPr>
            <p:cNvPr id="396327" name="Line 61">
              <a:extLst>
                <a:ext uri="{FF2B5EF4-FFF2-40B4-BE49-F238E27FC236}">
                  <a16:creationId xmlns:a16="http://schemas.microsoft.com/office/drawing/2014/main" id="{A1786ADB-D479-4BE2-B07D-F01FBAB70BCA}"/>
                </a:ext>
              </a:extLst>
            </p:cNvPr>
            <p:cNvSpPr>
              <a:spLocks noChangeShapeType="1"/>
            </p:cNvSpPr>
            <p:nvPr/>
          </p:nvSpPr>
          <p:spPr bwMode="auto">
            <a:xfrm>
              <a:off x="3840" y="2544"/>
              <a:ext cx="0" cy="43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28" name="Rectangle 62">
              <a:extLst>
                <a:ext uri="{FF2B5EF4-FFF2-40B4-BE49-F238E27FC236}">
                  <a16:creationId xmlns:a16="http://schemas.microsoft.com/office/drawing/2014/main" id="{0ECF2B19-DA5E-43AD-A215-701451CF6957}"/>
                </a:ext>
              </a:extLst>
            </p:cNvPr>
            <p:cNvSpPr>
              <a:spLocks noChangeArrowheads="1"/>
            </p:cNvSpPr>
            <p:nvPr/>
          </p:nvSpPr>
          <p:spPr bwMode="auto">
            <a:xfrm>
              <a:off x="3840" y="2640"/>
              <a:ext cx="576" cy="240"/>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b="1">
                  <a:latin typeface="Arial" panose="020B0604020202020204" pitchFamily="34" charset="0"/>
                  <a:ea typeface="文鼎细圆" pitchFamily="49" charset="-122"/>
                </a:rPr>
                <a:t>While P</a:t>
              </a:r>
              <a:r>
                <a:rPr lang="en-US" altLang="zh-CN" sz="1600">
                  <a:latin typeface="Arial" panose="020B0604020202020204" pitchFamily="34" charset="0"/>
                  <a:ea typeface="文鼎细圆" pitchFamily="49" charset="-122"/>
                </a:rPr>
                <a:t> </a:t>
              </a:r>
            </a:p>
          </p:txBody>
        </p:sp>
        <p:sp>
          <p:nvSpPr>
            <p:cNvPr id="396329" name="Line 63">
              <a:extLst>
                <a:ext uri="{FF2B5EF4-FFF2-40B4-BE49-F238E27FC236}">
                  <a16:creationId xmlns:a16="http://schemas.microsoft.com/office/drawing/2014/main" id="{AAD9BCC5-0E05-4249-AA0C-1E76B7C98B43}"/>
                </a:ext>
              </a:extLst>
            </p:cNvPr>
            <p:cNvSpPr>
              <a:spLocks noChangeShapeType="1"/>
            </p:cNvSpPr>
            <p:nvPr/>
          </p:nvSpPr>
          <p:spPr bwMode="auto">
            <a:xfrm>
              <a:off x="4368" y="2640"/>
              <a:ext cx="0" cy="24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30" name="Line 64">
              <a:extLst>
                <a:ext uri="{FF2B5EF4-FFF2-40B4-BE49-F238E27FC236}">
                  <a16:creationId xmlns:a16="http://schemas.microsoft.com/office/drawing/2014/main" id="{A3A5DB16-AF1C-4E8C-B209-B05F7064FD37}"/>
                </a:ext>
              </a:extLst>
            </p:cNvPr>
            <p:cNvSpPr>
              <a:spLocks noChangeShapeType="1"/>
            </p:cNvSpPr>
            <p:nvPr/>
          </p:nvSpPr>
          <p:spPr bwMode="auto">
            <a:xfrm flipH="1">
              <a:off x="4416" y="2736"/>
              <a:ext cx="24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31" name="Rectangle 65">
              <a:extLst>
                <a:ext uri="{FF2B5EF4-FFF2-40B4-BE49-F238E27FC236}">
                  <a16:creationId xmlns:a16="http://schemas.microsoft.com/office/drawing/2014/main" id="{5596A84C-CA50-41D0-B9B5-AC0AC74B6926}"/>
                </a:ext>
              </a:extLst>
            </p:cNvPr>
            <p:cNvSpPr>
              <a:spLocks noChangeArrowheads="1"/>
            </p:cNvSpPr>
            <p:nvPr/>
          </p:nvSpPr>
          <p:spPr bwMode="auto">
            <a:xfrm>
              <a:off x="4656" y="2640"/>
              <a:ext cx="480"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S</a:t>
              </a:r>
            </a:p>
          </p:txBody>
        </p:sp>
      </p:grpSp>
      <p:grpSp>
        <p:nvGrpSpPr>
          <p:cNvPr id="6" name="Group 67">
            <a:extLst>
              <a:ext uri="{FF2B5EF4-FFF2-40B4-BE49-F238E27FC236}">
                <a16:creationId xmlns:a16="http://schemas.microsoft.com/office/drawing/2014/main" id="{059C3DC3-ABFA-4C62-AC64-CE20F1060F2A}"/>
              </a:ext>
            </a:extLst>
          </p:cNvPr>
          <p:cNvGrpSpPr>
            <a:grpSpLocks/>
          </p:cNvGrpSpPr>
          <p:nvPr/>
        </p:nvGrpSpPr>
        <p:grpSpPr bwMode="auto">
          <a:xfrm>
            <a:off x="3657600" y="5562600"/>
            <a:ext cx="2057400" cy="685800"/>
            <a:chOff x="3840" y="2544"/>
            <a:chExt cx="1296" cy="432"/>
          </a:xfrm>
        </p:grpSpPr>
        <p:sp>
          <p:nvSpPr>
            <p:cNvPr id="396322" name="Line 68">
              <a:extLst>
                <a:ext uri="{FF2B5EF4-FFF2-40B4-BE49-F238E27FC236}">
                  <a16:creationId xmlns:a16="http://schemas.microsoft.com/office/drawing/2014/main" id="{81355327-7356-46AE-A354-0E815C976F2E}"/>
                </a:ext>
              </a:extLst>
            </p:cNvPr>
            <p:cNvSpPr>
              <a:spLocks noChangeShapeType="1"/>
            </p:cNvSpPr>
            <p:nvPr/>
          </p:nvSpPr>
          <p:spPr bwMode="auto">
            <a:xfrm>
              <a:off x="3840" y="2544"/>
              <a:ext cx="0" cy="43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23" name="Rectangle 69">
              <a:extLst>
                <a:ext uri="{FF2B5EF4-FFF2-40B4-BE49-F238E27FC236}">
                  <a16:creationId xmlns:a16="http://schemas.microsoft.com/office/drawing/2014/main" id="{5A965D89-3E37-4E6B-818E-6299D73026D2}"/>
                </a:ext>
              </a:extLst>
            </p:cNvPr>
            <p:cNvSpPr>
              <a:spLocks noChangeArrowheads="1"/>
            </p:cNvSpPr>
            <p:nvPr/>
          </p:nvSpPr>
          <p:spPr bwMode="auto">
            <a:xfrm>
              <a:off x="3840" y="2640"/>
              <a:ext cx="576" cy="240"/>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b="1">
                  <a:latin typeface="Arial" panose="020B0604020202020204" pitchFamily="34" charset="0"/>
                  <a:ea typeface="文鼎细圆" pitchFamily="49" charset="-122"/>
                </a:rPr>
                <a:t>Until  P</a:t>
              </a:r>
              <a:r>
                <a:rPr lang="en-US" altLang="zh-CN" sz="1600">
                  <a:latin typeface="Arial" panose="020B0604020202020204" pitchFamily="34" charset="0"/>
                  <a:ea typeface="文鼎细圆" pitchFamily="49" charset="-122"/>
                </a:rPr>
                <a:t> </a:t>
              </a:r>
            </a:p>
          </p:txBody>
        </p:sp>
        <p:sp>
          <p:nvSpPr>
            <p:cNvPr id="396324" name="Line 70">
              <a:extLst>
                <a:ext uri="{FF2B5EF4-FFF2-40B4-BE49-F238E27FC236}">
                  <a16:creationId xmlns:a16="http://schemas.microsoft.com/office/drawing/2014/main" id="{0D2016D7-1B5E-4FE7-8C80-069B9C07B5F1}"/>
                </a:ext>
              </a:extLst>
            </p:cNvPr>
            <p:cNvSpPr>
              <a:spLocks noChangeShapeType="1"/>
            </p:cNvSpPr>
            <p:nvPr/>
          </p:nvSpPr>
          <p:spPr bwMode="auto">
            <a:xfrm>
              <a:off x="4368" y="2640"/>
              <a:ext cx="0" cy="24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25" name="Line 71">
              <a:extLst>
                <a:ext uri="{FF2B5EF4-FFF2-40B4-BE49-F238E27FC236}">
                  <a16:creationId xmlns:a16="http://schemas.microsoft.com/office/drawing/2014/main" id="{F90105BE-F1B0-4668-B092-DDAD0A01D2BE}"/>
                </a:ext>
              </a:extLst>
            </p:cNvPr>
            <p:cNvSpPr>
              <a:spLocks noChangeShapeType="1"/>
            </p:cNvSpPr>
            <p:nvPr/>
          </p:nvSpPr>
          <p:spPr bwMode="auto">
            <a:xfrm flipH="1">
              <a:off x="4416" y="2736"/>
              <a:ext cx="24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26" name="Rectangle 72">
              <a:extLst>
                <a:ext uri="{FF2B5EF4-FFF2-40B4-BE49-F238E27FC236}">
                  <a16:creationId xmlns:a16="http://schemas.microsoft.com/office/drawing/2014/main" id="{E9FC87A5-DFF2-4131-81A3-9472204805EA}"/>
                </a:ext>
              </a:extLst>
            </p:cNvPr>
            <p:cNvSpPr>
              <a:spLocks noChangeArrowheads="1"/>
            </p:cNvSpPr>
            <p:nvPr/>
          </p:nvSpPr>
          <p:spPr bwMode="auto">
            <a:xfrm>
              <a:off x="4656" y="2640"/>
              <a:ext cx="480"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S</a:t>
              </a:r>
            </a:p>
          </p:txBody>
        </p:sp>
      </p:grpSp>
      <p:sp>
        <p:nvSpPr>
          <p:cNvPr id="2069577" name="Text Box 73">
            <a:extLst>
              <a:ext uri="{FF2B5EF4-FFF2-40B4-BE49-F238E27FC236}">
                <a16:creationId xmlns:a16="http://schemas.microsoft.com/office/drawing/2014/main" id="{E14F3DAE-250A-423F-AE0A-632C4647B6A7}"/>
              </a:ext>
            </a:extLst>
          </p:cNvPr>
          <p:cNvSpPr txBox="1">
            <a:spLocks noChangeArrowheads="1"/>
          </p:cNvSpPr>
          <p:nvPr/>
        </p:nvSpPr>
        <p:spPr bwMode="auto">
          <a:xfrm>
            <a:off x="5797550" y="4697413"/>
            <a:ext cx="1441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latin typeface="黑体" panose="02010609060101010101" pitchFamily="49" charset="-122"/>
                <a:ea typeface="黑体" panose="02010609060101010101" pitchFamily="49" charset="-122"/>
              </a:rPr>
              <a:t> 当型循环型</a:t>
            </a:r>
          </a:p>
        </p:txBody>
      </p:sp>
      <p:sp>
        <p:nvSpPr>
          <p:cNvPr id="2069578" name="Text Box 74">
            <a:extLst>
              <a:ext uri="{FF2B5EF4-FFF2-40B4-BE49-F238E27FC236}">
                <a16:creationId xmlns:a16="http://schemas.microsoft.com/office/drawing/2014/main" id="{85A8130A-43D0-4638-8E00-3FC365CDA823}"/>
              </a:ext>
            </a:extLst>
          </p:cNvPr>
          <p:cNvSpPr txBox="1">
            <a:spLocks noChangeArrowheads="1"/>
          </p:cNvSpPr>
          <p:nvPr/>
        </p:nvSpPr>
        <p:spPr bwMode="auto">
          <a:xfrm>
            <a:off x="3536950" y="3478213"/>
            <a:ext cx="984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latin typeface="黑体" panose="02010609060101010101" pitchFamily="49" charset="-122"/>
                <a:ea typeface="黑体" panose="02010609060101010101" pitchFamily="49" charset="-122"/>
              </a:rPr>
              <a:t> 顺序型</a:t>
            </a:r>
          </a:p>
        </p:txBody>
      </p:sp>
      <p:sp>
        <p:nvSpPr>
          <p:cNvPr id="2069579" name="Text Box 75">
            <a:extLst>
              <a:ext uri="{FF2B5EF4-FFF2-40B4-BE49-F238E27FC236}">
                <a16:creationId xmlns:a16="http://schemas.microsoft.com/office/drawing/2014/main" id="{432234F3-1FB4-40D8-97B0-F3114696691C}"/>
              </a:ext>
            </a:extLst>
          </p:cNvPr>
          <p:cNvSpPr txBox="1">
            <a:spLocks noChangeArrowheads="1"/>
          </p:cNvSpPr>
          <p:nvPr/>
        </p:nvSpPr>
        <p:spPr bwMode="auto">
          <a:xfrm>
            <a:off x="6127750" y="3554413"/>
            <a:ext cx="984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latin typeface="黑体" panose="02010609060101010101" pitchFamily="49" charset="-122"/>
                <a:ea typeface="黑体" panose="02010609060101010101" pitchFamily="49" charset="-122"/>
              </a:rPr>
              <a:t> 选择型</a:t>
            </a:r>
          </a:p>
        </p:txBody>
      </p:sp>
      <p:grpSp>
        <p:nvGrpSpPr>
          <p:cNvPr id="7" name="Group 94">
            <a:extLst>
              <a:ext uri="{FF2B5EF4-FFF2-40B4-BE49-F238E27FC236}">
                <a16:creationId xmlns:a16="http://schemas.microsoft.com/office/drawing/2014/main" id="{8A523509-6195-45FF-899A-B82974DCF6D0}"/>
              </a:ext>
            </a:extLst>
          </p:cNvPr>
          <p:cNvGrpSpPr>
            <a:grpSpLocks/>
          </p:cNvGrpSpPr>
          <p:nvPr/>
        </p:nvGrpSpPr>
        <p:grpSpPr bwMode="auto">
          <a:xfrm>
            <a:off x="8229600" y="3505200"/>
            <a:ext cx="1676400" cy="2438400"/>
            <a:chOff x="1056" y="2208"/>
            <a:chExt cx="1056" cy="1536"/>
          </a:xfrm>
        </p:grpSpPr>
        <p:sp>
          <p:nvSpPr>
            <p:cNvPr id="396304" name="Line 76">
              <a:extLst>
                <a:ext uri="{FF2B5EF4-FFF2-40B4-BE49-F238E27FC236}">
                  <a16:creationId xmlns:a16="http://schemas.microsoft.com/office/drawing/2014/main" id="{7A229CD2-3852-450E-9ACE-9154CE98519F}"/>
                </a:ext>
              </a:extLst>
            </p:cNvPr>
            <p:cNvSpPr>
              <a:spLocks noChangeShapeType="1"/>
            </p:cNvSpPr>
            <p:nvPr/>
          </p:nvSpPr>
          <p:spPr bwMode="auto">
            <a:xfrm>
              <a:off x="1152" y="2352"/>
              <a:ext cx="0" cy="13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05" name="Line 77">
              <a:extLst>
                <a:ext uri="{FF2B5EF4-FFF2-40B4-BE49-F238E27FC236}">
                  <a16:creationId xmlns:a16="http://schemas.microsoft.com/office/drawing/2014/main" id="{1C39FA73-4CFC-41ED-833E-91881BA14E94}"/>
                </a:ext>
              </a:extLst>
            </p:cNvPr>
            <p:cNvSpPr>
              <a:spLocks noChangeShapeType="1"/>
            </p:cNvSpPr>
            <p:nvPr/>
          </p:nvSpPr>
          <p:spPr bwMode="auto">
            <a:xfrm flipH="1">
              <a:off x="1152" y="2448"/>
              <a:ext cx="48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06" name="Rectangle 78">
              <a:extLst>
                <a:ext uri="{FF2B5EF4-FFF2-40B4-BE49-F238E27FC236}">
                  <a16:creationId xmlns:a16="http://schemas.microsoft.com/office/drawing/2014/main" id="{3252E4B8-E1C5-472B-BE91-3D1C9179FA7E}"/>
                </a:ext>
              </a:extLst>
            </p:cNvPr>
            <p:cNvSpPr>
              <a:spLocks noChangeArrowheads="1"/>
            </p:cNvSpPr>
            <p:nvPr/>
          </p:nvSpPr>
          <p:spPr bwMode="auto">
            <a:xfrm>
              <a:off x="1632" y="2352"/>
              <a:ext cx="480"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A1</a:t>
              </a:r>
            </a:p>
          </p:txBody>
        </p:sp>
        <p:sp>
          <p:nvSpPr>
            <p:cNvPr id="396307" name="Line 79">
              <a:extLst>
                <a:ext uri="{FF2B5EF4-FFF2-40B4-BE49-F238E27FC236}">
                  <a16:creationId xmlns:a16="http://schemas.microsoft.com/office/drawing/2014/main" id="{6282A07A-B53D-4A2F-889B-6BB6A94CE0F3}"/>
                </a:ext>
              </a:extLst>
            </p:cNvPr>
            <p:cNvSpPr>
              <a:spLocks noChangeShapeType="1"/>
            </p:cNvSpPr>
            <p:nvPr/>
          </p:nvSpPr>
          <p:spPr bwMode="auto">
            <a:xfrm flipH="1">
              <a:off x="1152" y="3600"/>
              <a:ext cx="48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08" name="Line 80">
              <a:extLst>
                <a:ext uri="{FF2B5EF4-FFF2-40B4-BE49-F238E27FC236}">
                  <a16:creationId xmlns:a16="http://schemas.microsoft.com/office/drawing/2014/main" id="{839B2723-D3FA-4B7E-A665-015DDF17022E}"/>
                </a:ext>
              </a:extLst>
            </p:cNvPr>
            <p:cNvSpPr>
              <a:spLocks noChangeShapeType="1"/>
            </p:cNvSpPr>
            <p:nvPr/>
          </p:nvSpPr>
          <p:spPr bwMode="auto">
            <a:xfrm flipH="1">
              <a:off x="1344" y="2448"/>
              <a:ext cx="144" cy="1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09" name="Line 81">
              <a:extLst>
                <a:ext uri="{FF2B5EF4-FFF2-40B4-BE49-F238E27FC236}">
                  <a16:creationId xmlns:a16="http://schemas.microsoft.com/office/drawing/2014/main" id="{8353B7CF-AAFD-4F06-A968-4645CDBC8572}"/>
                </a:ext>
              </a:extLst>
            </p:cNvPr>
            <p:cNvSpPr>
              <a:spLocks noChangeShapeType="1"/>
            </p:cNvSpPr>
            <p:nvPr/>
          </p:nvSpPr>
          <p:spPr bwMode="auto">
            <a:xfrm flipH="1" flipV="1">
              <a:off x="1344" y="2640"/>
              <a:ext cx="144" cy="1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9586" name="Text Box 82">
              <a:extLst>
                <a:ext uri="{FF2B5EF4-FFF2-40B4-BE49-F238E27FC236}">
                  <a16:creationId xmlns:a16="http://schemas.microsoft.com/office/drawing/2014/main" id="{94318F99-943A-49DF-AB0C-962CA8E9B2D7}"/>
                </a:ext>
              </a:extLst>
            </p:cNvPr>
            <p:cNvSpPr txBox="1">
              <a:spLocks noChangeArrowheads="1"/>
            </p:cNvSpPr>
            <p:nvPr/>
          </p:nvSpPr>
          <p:spPr bwMode="auto">
            <a:xfrm>
              <a:off x="1056" y="2880"/>
              <a:ext cx="336" cy="250"/>
            </a:xfrm>
            <a:prstGeom prst="rect">
              <a:avLst/>
            </a:prstGeom>
            <a:noFill/>
            <a:ln w="9525">
              <a:noFill/>
              <a:miter lim="800000"/>
              <a:headEnd/>
              <a:tailEnd/>
            </a:ln>
            <a:effectLst/>
          </p:spPr>
          <p:txBody>
            <a:bodyPr>
              <a:spAutoFit/>
            </a:bodyPr>
            <a:lstStyle/>
            <a:p>
              <a:pPr algn="ctr">
                <a:defRPr/>
              </a:pPr>
              <a:r>
                <a:rPr lang="zh-CN" altLang="en-US" sz="2000">
                  <a:latin typeface="黑体" pitchFamily="2" charset="-122"/>
                  <a:ea typeface="黑体" pitchFamily="2" charset="-122"/>
                </a:rPr>
                <a:t> </a:t>
              </a:r>
              <a:r>
                <a:rPr lang="en-US" altLang="zh-CN" b="1">
                  <a:effectLst>
                    <a:outerShdw blurRad="38100" dist="38100" dir="2700000" algn="tl">
                      <a:srgbClr val="000000"/>
                    </a:outerShdw>
                  </a:effectLst>
                  <a:latin typeface="Arial" charset="0"/>
                  <a:ea typeface="黑体" pitchFamily="2" charset="-122"/>
                </a:rPr>
                <a:t>p</a:t>
              </a:r>
            </a:p>
          </p:txBody>
        </p:sp>
        <p:sp>
          <p:nvSpPr>
            <p:cNvPr id="396311" name="Line 83">
              <a:extLst>
                <a:ext uri="{FF2B5EF4-FFF2-40B4-BE49-F238E27FC236}">
                  <a16:creationId xmlns:a16="http://schemas.microsoft.com/office/drawing/2014/main" id="{942158D8-02D5-42C2-B142-7D81FD370AC5}"/>
                </a:ext>
              </a:extLst>
            </p:cNvPr>
            <p:cNvSpPr>
              <a:spLocks noChangeShapeType="1"/>
            </p:cNvSpPr>
            <p:nvPr/>
          </p:nvSpPr>
          <p:spPr bwMode="auto">
            <a:xfrm flipH="1">
              <a:off x="1344" y="2832"/>
              <a:ext cx="144" cy="1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12" name="Line 84">
              <a:extLst>
                <a:ext uri="{FF2B5EF4-FFF2-40B4-BE49-F238E27FC236}">
                  <a16:creationId xmlns:a16="http://schemas.microsoft.com/office/drawing/2014/main" id="{440C6BE0-BD97-4528-BDC5-10CA5387CCFF}"/>
                </a:ext>
              </a:extLst>
            </p:cNvPr>
            <p:cNvSpPr>
              <a:spLocks noChangeShapeType="1"/>
            </p:cNvSpPr>
            <p:nvPr/>
          </p:nvSpPr>
          <p:spPr bwMode="auto">
            <a:xfrm flipH="1" flipV="1">
              <a:off x="1344" y="3024"/>
              <a:ext cx="144" cy="1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13" name="Line 85">
              <a:extLst>
                <a:ext uri="{FF2B5EF4-FFF2-40B4-BE49-F238E27FC236}">
                  <a16:creationId xmlns:a16="http://schemas.microsoft.com/office/drawing/2014/main" id="{F07FED1F-745F-49C5-A6E1-8C8C86746204}"/>
                </a:ext>
              </a:extLst>
            </p:cNvPr>
            <p:cNvSpPr>
              <a:spLocks noChangeShapeType="1"/>
            </p:cNvSpPr>
            <p:nvPr/>
          </p:nvSpPr>
          <p:spPr bwMode="auto">
            <a:xfrm flipH="1">
              <a:off x="1344" y="3216"/>
              <a:ext cx="144" cy="1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14" name="Line 86">
              <a:extLst>
                <a:ext uri="{FF2B5EF4-FFF2-40B4-BE49-F238E27FC236}">
                  <a16:creationId xmlns:a16="http://schemas.microsoft.com/office/drawing/2014/main" id="{E7753437-3E91-44A1-B157-37E4517D03D7}"/>
                </a:ext>
              </a:extLst>
            </p:cNvPr>
            <p:cNvSpPr>
              <a:spLocks noChangeShapeType="1"/>
            </p:cNvSpPr>
            <p:nvPr/>
          </p:nvSpPr>
          <p:spPr bwMode="auto">
            <a:xfrm flipH="1" flipV="1">
              <a:off x="1344" y="3408"/>
              <a:ext cx="144" cy="1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15" name="Line 87">
              <a:extLst>
                <a:ext uri="{FF2B5EF4-FFF2-40B4-BE49-F238E27FC236}">
                  <a16:creationId xmlns:a16="http://schemas.microsoft.com/office/drawing/2014/main" id="{34B74AFA-C990-4143-A489-48BAE482A7FD}"/>
                </a:ext>
              </a:extLst>
            </p:cNvPr>
            <p:cNvSpPr>
              <a:spLocks noChangeShapeType="1"/>
            </p:cNvSpPr>
            <p:nvPr/>
          </p:nvSpPr>
          <p:spPr bwMode="auto">
            <a:xfrm flipH="1">
              <a:off x="1488" y="2832"/>
              <a:ext cx="144"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16" name="Rectangle 88">
              <a:extLst>
                <a:ext uri="{FF2B5EF4-FFF2-40B4-BE49-F238E27FC236}">
                  <a16:creationId xmlns:a16="http://schemas.microsoft.com/office/drawing/2014/main" id="{7E03A773-3F05-441F-82F8-E4461A674DD5}"/>
                </a:ext>
              </a:extLst>
            </p:cNvPr>
            <p:cNvSpPr>
              <a:spLocks noChangeArrowheads="1"/>
            </p:cNvSpPr>
            <p:nvPr/>
          </p:nvSpPr>
          <p:spPr bwMode="auto">
            <a:xfrm>
              <a:off x="1632" y="2736"/>
              <a:ext cx="480"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A2</a:t>
              </a:r>
            </a:p>
          </p:txBody>
        </p:sp>
        <p:sp>
          <p:nvSpPr>
            <p:cNvPr id="396317" name="Rectangle 89">
              <a:extLst>
                <a:ext uri="{FF2B5EF4-FFF2-40B4-BE49-F238E27FC236}">
                  <a16:creationId xmlns:a16="http://schemas.microsoft.com/office/drawing/2014/main" id="{0CA26D47-204C-4AC3-B369-BB228136177B}"/>
                </a:ext>
              </a:extLst>
            </p:cNvPr>
            <p:cNvSpPr>
              <a:spLocks noChangeArrowheads="1"/>
            </p:cNvSpPr>
            <p:nvPr/>
          </p:nvSpPr>
          <p:spPr bwMode="auto">
            <a:xfrm>
              <a:off x="1632" y="3504"/>
              <a:ext cx="480"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An</a:t>
              </a:r>
            </a:p>
          </p:txBody>
        </p:sp>
        <p:sp>
          <p:nvSpPr>
            <p:cNvPr id="396318" name="Line 90">
              <a:extLst>
                <a:ext uri="{FF2B5EF4-FFF2-40B4-BE49-F238E27FC236}">
                  <a16:creationId xmlns:a16="http://schemas.microsoft.com/office/drawing/2014/main" id="{4000EDDD-5E11-48CA-B6C0-6822401BD9E9}"/>
                </a:ext>
              </a:extLst>
            </p:cNvPr>
            <p:cNvSpPr>
              <a:spLocks noChangeShapeType="1"/>
            </p:cNvSpPr>
            <p:nvPr/>
          </p:nvSpPr>
          <p:spPr bwMode="auto">
            <a:xfrm flipH="1">
              <a:off x="1488" y="3216"/>
              <a:ext cx="144"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9595" name="Text Box 91">
              <a:extLst>
                <a:ext uri="{FF2B5EF4-FFF2-40B4-BE49-F238E27FC236}">
                  <a16:creationId xmlns:a16="http://schemas.microsoft.com/office/drawing/2014/main" id="{535DC4E6-2A35-4AE7-BEDD-2C7966F42C24}"/>
                </a:ext>
              </a:extLst>
            </p:cNvPr>
            <p:cNvSpPr txBox="1">
              <a:spLocks noChangeArrowheads="1"/>
            </p:cNvSpPr>
            <p:nvPr/>
          </p:nvSpPr>
          <p:spPr bwMode="auto">
            <a:xfrm>
              <a:off x="1296" y="2208"/>
              <a:ext cx="384" cy="250"/>
            </a:xfrm>
            <a:prstGeom prst="rect">
              <a:avLst/>
            </a:prstGeom>
            <a:noFill/>
            <a:ln w="9525">
              <a:noFill/>
              <a:miter lim="800000"/>
              <a:headEnd/>
              <a:tailEnd/>
            </a:ln>
            <a:effectLst/>
          </p:spPr>
          <p:txBody>
            <a:bodyPr>
              <a:spAutoFit/>
            </a:bodyPr>
            <a:lstStyle/>
            <a:p>
              <a:pPr>
                <a:defRPr/>
              </a:pPr>
              <a:r>
                <a:rPr lang="zh-CN" altLang="en-US" sz="2000">
                  <a:latin typeface="黑体" pitchFamily="2" charset="-122"/>
                  <a:ea typeface="黑体" pitchFamily="2" charset="-122"/>
                </a:rPr>
                <a:t> </a:t>
              </a:r>
              <a:r>
                <a:rPr lang="en-US" altLang="zh-CN" b="1">
                  <a:effectLst>
                    <a:outerShdw blurRad="38100" dist="38100" dir="2700000" algn="tl">
                      <a:srgbClr val="000000"/>
                    </a:outerShdw>
                  </a:effectLst>
                  <a:latin typeface="Arial" charset="0"/>
                  <a:ea typeface="黑体" pitchFamily="2" charset="-122"/>
                </a:rPr>
                <a:t>=1</a:t>
              </a:r>
            </a:p>
          </p:txBody>
        </p:sp>
        <p:sp>
          <p:nvSpPr>
            <p:cNvPr id="2069596" name="Text Box 92">
              <a:extLst>
                <a:ext uri="{FF2B5EF4-FFF2-40B4-BE49-F238E27FC236}">
                  <a16:creationId xmlns:a16="http://schemas.microsoft.com/office/drawing/2014/main" id="{627E0042-32CA-4FA9-ADA9-44D9DF9D8937}"/>
                </a:ext>
              </a:extLst>
            </p:cNvPr>
            <p:cNvSpPr txBox="1">
              <a:spLocks noChangeArrowheads="1"/>
            </p:cNvSpPr>
            <p:nvPr/>
          </p:nvSpPr>
          <p:spPr bwMode="auto">
            <a:xfrm>
              <a:off x="1296" y="2544"/>
              <a:ext cx="384" cy="250"/>
            </a:xfrm>
            <a:prstGeom prst="rect">
              <a:avLst/>
            </a:prstGeom>
            <a:noFill/>
            <a:ln w="9525">
              <a:noFill/>
              <a:miter lim="800000"/>
              <a:headEnd/>
              <a:tailEnd/>
            </a:ln>
            <a:effectLst/>
          </p:spPr>
          <p:txBody>
            <a:bodyPr>
              <a:spAutoFit/>
            </a:bodyPr>
            <a:lstStyle/>
            <a:p>
              <a:pPr>
                <a:defRPr/>
              </a:pPr>
              <a:r>
                <a:rPr lang="zh-CN" altLang="en-US" sz="2000">
                  <a:latin typeface="黑体" pitchFamily="2" charset="-122"/>
                  <a:ea typeface="黑体" pitchFamily="2" charset="-122"/>
                </a:rPr>
                <a:t> </a:t>
              </a:r>
              <a:r>
                <a:rPr lang="en-US" altLang="zh-CN" b="1">
                  <a:effectLst>
                    <a:outerShdw blurRad="38100" dist="38100" dir="2700000" algn="tl">
                      <a:srgbClr val="000000"/>
                    </a:outerShdw>
                  </a:effectLst>
                  <a:latin typeface="Arial" charset="0"/>
                  <a:ea typeface="黑体" pitchFamily="2" charset="-122"/>
                </a:rPr>
                <a:t>=2</a:t>
              </a:r>
            </a:p>
          </p:txBody>
        </p:sp>
        <p:sp>
          <p:nvSpPr>
            <p:cNvPr id="2069597" name="Text Box 93">
              <a:extLst>
                <a:ext uri="{FF2B5EF4-FFF2-40B4-BE49-F238E27FC236}">
                  <a16:creationId xmlns:a16="http://schemas.microsoft.com/office/drawing/2014/main" id="{6E9C5AE5-704C-4781-9BB0-37AC96BBDF56}"/>
                </a:ext>
              </a:extLst>
            </p:cNvPr>
            <p:cNvSpPr txBox="1">
              <a:spLocks noChangeArrowheads="1"/>
            </p:cNvSpPr>
            <p:nvPr/>
          </p:nvSpPr>
          <p:spPr bwMode="auto">
            <a:xfrm>
              <a:off x="1296" y="3312"/>
              <a:ext cx="384" cy="250"/>
            </a:xfrm>
            <a:prstGeom prst="rect">
              <a:avLst/>
            </a:prstGeom>
            <a:noFill/>
            <a:ln w="9525">
              <a:noFill/>
              <a:miter lim="800000"/>
              <a:headEnd/>
              <a:tailEnd/>
            </a:ln>
            <a:effectLst/>
          </p:spPr>
          <p:txBody>
            <a:bodyPr>
              <a:spAutoFit/>
            </a:bodyPr>
            <a:lstStyle/>
            <a:p>
              <a:pPr>
                <a:defRPr/>
              </a:pPr>
              <a:r>
                <a:rPr lang="zh-CN" altLang="en-US" sz="2000">
                  <a:latin typeface="黑体" pitchFamily="2" charset="-122"/>
                  <a:ea typeface="黑体" pitchFamily="2" charset="-122"/>
                </a:rPr>
                <a:t> </a:t>
              </a:r>
              <a:r>
                <a:rPr lang="en-US" altLang="zh-CN" b="1">
                  <a:effectLst>
                    <a:outerShdw blurRad="38100" dist="38100" dir="2700000" algn="tl">
                      <a:srgbClr val="000000"/>
                    </a:outerShdw>
                  </a:effectLst>
                  <a:latin typeface="Arial" charset="0"/>
                  <a:ea typeface="黑体" pitchFamily="2" charset="-122"/>
                </a:rPr>
                <a:t>=n</a:t>
              </a:r>
            </a:p>
          </p:txBody>
        </p:sp>
      </p:grpSp>
      <p:sp>
        <p:nvSpPr>
          <p:cNvPr id="2069601" name="Text Box 97">
            <a:extLst>
              <a:ext uri="{FF2B5EF4-FFF2-40B4-BE49-F238E27FC236}">
                <a16:creationId xmlns:a16="http://schemas.microsoft.com/office/drawing/2014/main" id="{B0F5203E-7824-4612-8D64-D838D322D73A}"/>
              </a:ext>
            </a:extLst>
          </p:cNvPr>
          <p:cNvSpPr txBox="1">
            <a:spLocks noChangeArrowheads="1"/>
          </p:cNvSpPr>
          <p:nvPr/>
        </p:nvSpPr>
        <p:spPr bwMode="auto">
          <a:xfrm>
            <a:off x="7696200" y="6172201"/>
            <a:ext cx="2419350"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latin typeface="黑体" panose="02010609060101010101" pitchFamily="49" charset="-122"/>
                <a:ea typeface="黑体" panose="02010609060101010101" pitchFamily="49" charset="-122"/>
              </a:rPr>
              <a:t> 多分支选择型循环型</a:t>
            </a:r>
          </a:p>
        </p:txBody>
      </p:sp>
      <p:sp>
        <p:nvSpPr>
          <p:cNvPr id="62" name="TextBox 7">
            <a:extLst>
              <a:ext uri="{FF2B5EF4-FFF2-40B4-BE49-F238E27FC236}">
                <a16:creationId xmlns:a16="http://schemas.microsoft.com/office/drawing/2014/main" id="{FF38600C-29A8-441C-AEEF-6D6DA5D02E5F}"/>
              </a:ext>
            </a:extLst>
          </p:cNvPr>
          <p:cNvSpPr>
            <a:spLocks noChangeArrowheads="1"/>
          </p:cNvSpPr>
          <p:nvPr/>
        </p:nvSpPr>
        <p:spPr bwMode="auto">
          <a:xfrm>
            <a:off x="803275" y="1558411"/>
            <a:ext cx="10255494" cy="4801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228600" indent="-228600">
              <a:lnSpc>
                <a:spcPct val="90000"/>
              </a:lnSpc>
              <a:spcBef>
                <a:spcPts val="1000"/>
              </a:spcBef>
            </a:pPr>
            <a:r>
              <a:rPr lang="en-US" altLang="zh-CN" sz="2800" dirty="0">
                <a:latin typeface="+mn-lt"/>
                <a:cs typeface="+mn-cs"/>
              </a:rPr>
              <a:t>PAD</a:t>
            </a:r>
            <a:r>
              <a:rPr lang="zh-CN" altLang="en-US" sz="2800" dirty="0">
                <a:latin typeface="+mn-lt"/>
                <a:cs typeface="+mn-cs"/>
              </a:rPr>
              <a:t>图</a:t>
            </a:r>
            <a:endParaRPr lang="en-US" altLang="zh-CN" sz="2800" dirty="0">
              <a:latin typeface="+mn-lt"/>
              <a:cs typeface="+mn-cs"/>
            </a:endParaRPr>
          </a:p>
        </p:txBody>
      </p:sp>
      <p:sp>
        <p:nvSpPr>
          <p:cNvPr id="63" name="标题 1">
            <a:extLst>
              <a:ext uri="{FF2B5EF4-FFF2-40B4-BE49-F238E27FC236}">
                <a16:creationId xmlns:a16="http://schemas.microsoft.com/office/drawing/2014/main" id="{B0924663-71D2-4848-A2D4-C1FAA37BDFD7}"/>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a:t>设计</a:t>
            </a:r>
            <a:endParaRPr lang="zh-CN" altLang="en-US" dirty="0"/>
          </a:p>
        </p:txBody>
      </p:sp>
    </p:spTree>
    <p:extLst>
      <p:ext uri="{BB962C8B-B14F-4D97-AF65-F5344CB8AC3E}">
        <p14:creationId xmlns:p14="http://schemas.microsoft.com/office/powerpoint/2010/main" val="10832453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69578"/>
                                        </p:tgtEl>
                                        <p:attrNameLst>
                                          <p:attrName>style.visibility</p:attrName>
                                        </p:attrNameLst>
                                      </p:cBhvr>
                                      <p:to>
                                        <p:strVal val="visible"/>
                                      </p:to>
                                    </p:set>
                                    <p:animEffect transition="in" filter="blinds(horizontal)">
                                      <p:cBhvr>
                                        <p:cTn id="12" dur="500"/>
                                        <p:tgtEl>
                                          <p:spTgt spid="20695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69579"/>
                                        </p:tgtEl>
                                        <p:attrNameLst>
                                          <p:attrName>style.visibility</p:attrName>
                                        </p:attrNameLst>
                                      </p:cBhvr>
                                      <p:to>
                                        <p:strVal val="visible"/>
                                      </p:to>
                                    </p:set>
                                    <p:animEffect transition="in" filter="blinds(horizontal)">
                                      <p:cBhvr>
                                        <p:cTn id="22" dur="500"/>
                                        <p:tgtEl>
                                          <p:spTgt spid="206957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5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069601"/>
                                        </p:tgtEl>
                                        <p:attrNameLst>
                                          <p:attrName>style.visibility</p:attrName>
                                        </p:attrNameLst>
                                      </p:cBhvr>
                                      <p:to>
                                        <p:strVal val="visible"/>
                                      </p:to>
                                    </p:set>
                                    <p:animEffect transition="in" filter="blinds(horizontal)">
                                      <p:cBhvr>
                                        <p:cTn id="37" dur="500"/>
                                        <p:tgtEl>
                                          <p:spTgt spid="206960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linds(horizontal)">
                                      <p:cBhvr>
                                        <p:cTn id="42" dur="500"/>
                                        <p:tgtEl>
                                          <p:spTgt spid="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069577"/>
                                        </p:tgtEl>
                                        <p:attrNameLst>
                                          <p:attrName>style.visibility</p:attrName>
                                        </p:attrNameLst>
                                      </p:cBhvr>
                                      <p:to>
                                        <p:strVal val="visible"/>
                                      </p:to>
                                    </p:set>
                                    <p:animEffect transition="in" filter="blinds(horizontal)">
                                      <p:cBhvr>
                                        <p:cTn id="47" dur="500"/>
                                        <p:tgtEl>
                                          <p:spTgt spid="206957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blinds(horizontal)">
                                      <p:cBhvr>
                                        <p:cTn id="52" dur="500"/>
                                        <p:tgtEl>
                                          <p:spTgt spid="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069545"/>
                                        </p:tgtEl>
                                        <p:attrNameLst>
                                          <p:attrName>style.visibility</p:attrName>
                                        </p:attrNameLst>
                                      </p:cBhvr>
                                      <p:to>
                                        <p:strVal val="visible"/>
                                      </p:to>
                                    </p:set>
                                    <p:animEffect transition="in" filter="blinds(horizontal)">
                                      <p:cBhvr>
                                        <p:cTn id="57" dur="500"/>
                                        <p:tgtEl>
                                          <p:spTgt spid="20695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9545" grpId="0" autoUpdateAnimBg="0"/>
      <p:bldP spid="2069577" grpId="0" autoUpdateAnimBg="0"/>
      <p:bldP spid="2069578" grpId="0" autoUpdateAnimBg="0"/>
      <p:bldP spid="2069579" grpId="0" autoUpdateAnimBg="0"/>
      <p:bldP spid="2069601" grpId="0" animBg="1" autoUpdateAnimBg="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9" name="Rectangle 88">
            <a:extLst>
              <a:ext uri="{FF2B5EF4-FFF2-40B4-BE49-F238E27FC236}">
                <a16:creationId xmlns:a16="http://schemas.microsoft.com/office/drawing/2014/main" id="{DBEA3D78-AB1E-41C4-9D59-DD33DB3B22EE}"/>
              </a:ext>
            </a:extLst>
          </p:cNvPr>
          <p:cNvSpPr>
            <a:spLocks noChangeArrowheads="1"/>
          </p:cNvSpPr>
          <p:nvPr/>
        </p:nvSpPr>
        <p:spPr bwMode="auto">
          <a:xfrm>
            <a:off x="2971800" y="762000"/>
            <a:ext cx="7239000" cy="1219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a:p>
        </p:txBody>
      </p:sp>
      <p:grpSp>
        <p:nvGrpSpPr>
          <p:cNvPr id="398340" name="Group 104">
            <a:extLst>
              <a:ext uri="{FF2B5EF4-FFF2-40B4-BE49-F238E27FC236}">
                <a16:creationId xmlns:a16="http://schemas.microsoft.com/office/drawing/2014/main" id="{CB05FE0F-4DE1-49D8-9C42-252F6BCEB685}"/>
              </a:ext>
            </a:extLst>
          </p:cNvPr>
          <p:cNvGrpSpPr>
            <a:grpSpLocks/>
          </p:cNvGrpSpPr>
          <p:nvPr/>
        </p:nvGrpSpPr>
        <p:grpSpPr bwMode="auto">
          <a:xfrm>
            <a:off x="4895850" y="781050"/>
            <a:ext cx="4343400" cy="5562600"/>
            <a:chOff x="1920" y="672"/>
            <a:chExt cx="2736" cy="3504"/>
          </a:xfrm>
        </p:grpSpPr>
        <p:sp>
          <p:nvSpPr>
            <p:cNvPr id="398342" name="Rectangle 5">
              <a:extLst>
                <a:ext uri="{FF2B5EF4-FFF2-40B4-BE49-F238E27FC236}">
                  <a16:creationId xmlns:a16="http://schemas.microsoft.com/office/drawing/2014/main" id="{D812A72B-4241-487F-99CC-999C41A01196}"/>
                </a:ext>
              </a:extLst>
            </p:cNvPr>
            <p:cNvSpPr>
              <a:spLocks noChangeArrowheads="1"/>
            </p:cNvSpPr>
            <p:nvPr/>
          </p:nvSpPr>
          <p:spPr bwMode="auto">
            <a:xfrm>
              <a:off x="1920" y="1152"/>
              <a:ext cx="1152" cy="240"/>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solidFill>
                    <a:srgbClr val="32B828"/>
                  </a:solidFill>
                  <a:ea typeface="文鼎细圆" pitchFamily="49" charset="-122"/>
                </a:rPr>
                <a:t>s[17]~s[22]=0</a:t>
              </a:r>
            </a:p>
          </p:txBody>
        </p:sp>
        <p:sp>
          <p:nvSpPr>
            <p:cNvPr id="398343" name="Line 7">
              <a:extLst>
                <a:ext uri="{FF2B5EF4-FFF2-40B4-BE49-F238E27FC236}">
                  <a16:creationId xmlns:a16="http://schemas.microsoft.com/office/drawing/2014/main" id="{BEC785DB-AB78-461B-B65D-B11ECCBDC9D7}"/>
                </a:ext>
              </a:extLst>
            </p:cNvPr>
            <p:cNvSpPr>
              <a:spLocks noChangeShapeType="1"/>
            </p:cNvSpPr>
            <p:nvPr/>
          </p:nvSpPr>
          <p:spPr bwMode="auto">
            <a:xfrm>
              <a:off x="1920" y="816"/>
              <a:ext cx="0" cy="3216"/>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44" name="Line 26">
              <a:extLst>
                <a:ext uri="{FF2B5EF4-FFF2-40B4-BE49-F238E27FC236}">
                  <a16:creationId xmlns:a16="http://schemas.microsoft.com/office/drawing/2014/main" id="{5613B301-23D5-4468-BAF3-0153B4F03886}"/>
                </a:ext>
              </a:extLst>
            </p:cNvPr>
            <p:cNvSpPr>
              <a:spLocks noChangeShapeType="1"/>
            </p:cNvSpPr>
            <p:nvPr/>
          </p:nvSpPr>
          <p:spPr bwMode="auto">
            <a:xfrm>
              <a:off x="3312" y="1152"/>
              <a:ext cx="0" cy="182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45" name="Rectangle 27">
              <a:extLst>
                <a:ext uri="{FF2B5EF4-FFF2-40B4-BE49-F238E27FC236}">
                  <a16:creationId xmlns:a16="http://schemas.microsoft.com/office/drawing/2014/main" id="{B65D967E-666B-4803-9B7D-EE83790513B3}"/>
                </a:ext>
              </a:extLst>
            </p:cNvPr>
            <p:cNvSpPr>
              <a:spLocks noChangeArrowheads="1"/>
            </p:cNvSpPr>
            <p:nvPr/>
          </p:nvSpPr>
          <p:spPr bwMode="auto">
            <a:xfrm>
              <a:off x="1920" y="1584"/>
              <a:ext cx="1152" cy="43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b="1">
                  <a:solidFill>
                    <a:srgbClr val="32B828"/>
                  </a:solidFill>
                  <a:latin typeface="Arial" panose="020B0604020202020204" pitchFamily="34" charset="0"/>
                  <a:ea typeface="文鼎细圆" pitchFamily="49" charset="-122"/>
                </a:rPr>
                <a:t>while </a:t>
              </a:r>
            </a:p>
            <a:p>
              <a:r>
                <a:rPr lang="en-US" altLang="zh-CN" sz="1600" b="1">
                  <a:solidFill>
                    <a:srgbClr val="32B828"/>
                  </a:solidFill>
                  <a:latin typeface="Arial" panose="020B0604020202020204" pitchFamily="34" charset="0"/>
                  <a:ea typeface="文鼎细圆" pitchFamily="49" charset="-122"/>
                </a:rPr>
                <a:t>num(1-1000)</a:t>
              </a:r>
              <a:r>
                <a:rPr lang="en-US" altLang="zh-CN" sz="1600" b="1">
                  <a:solidFill>
                    <a:srgbClr val="F89A60"/>
                  </a:solidFill>
                  <a:latin typeface="Arial" panose="020B0604020202020204" pitchFamily="34" charset="0"/>
                  <a:ea typeface="文鼎细圆" pitchFamily="49" charset="-122"/>
                </a:rPr>
                <a:t> </a:t>
              </a:r>
              <a:r>
                <a:rPr lang="en-US" altLang="zh-CN" sz="1600">
                  <a:solidFill>
                    <a:srgbClr val="32B828"/>
                  </a:solidFill>
                  <a:latin typeface="Arial" panose="020B0604020202020204" pitchFamily="34" charset="0"/>
                  <a:ea typeface="文鼎细圆" pitchFamily="49" charset="-122"/>
                </a:rPr>
                <a:t> </a:t>
              </a:r>
            </a:p>
          </p:txBody>
        </p:sp>
        <p:sp>
          <p:nvSpPr>
            <p:cNvPr id="398346" name="Line 28">
              <a:extLst>
                <a:ext uri="{FF2B5EF4-FFF2-40B4-BE49-F238E27FC236}">
                  <a16:creationId xmlns:a16="http://schemas.microsoft.com/office/drawing/2014/main" id="{4F8BC746-B918-4B53-8354-C73760FF41D8}"/>
                </a:ext>
              </a:extLst>
            </p:cNvPr>
            <p:cNvSpPr>
              <a:spLocks noChangeShapeType="1"/>
            </p:cNvSpPr>
            <p:nvPr/>
          </p:nvSpPr>
          <p:spPr bwMode="auto">
            <a:xfrm>
              <a:off x="2976" y="1584"/>
              <a:ext cx="0" cy="43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47" name="Line 29">
              <a:extLst>
                <a:ext uri="{FF2B5EF4-FFF2-40B4-BE49-F238E27FC236}">
                  <a16:creationId xmlns:a16="http://schemas.microsoft.com/office/drawing/2014/main" id="{02F8FD09-D225-4C5B-98E1-E8BD9FFB2502}"/>
                </a:ext>
              </a:extLst>
            </p:cNvPr>
            <p:cNvSpPr>
              <a:spLocks noChangeShapeType="1"/>
            </p:cNvSpPr>
            <p:nvPr/>
          </p:nvSpPr>
          <p:spPr bwMode="auto">
            <a:xfrm flipH="1">
              <a:off x="3072" y="1776"/>
              <a:ext cx="24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48" name="Rectangle 30">
              <a:extLst>
                <a:ext uri="{FF2B5EF4-FFF2-40B4-BE49-F238E27FC236}">
                  <a16:creationId xmlns:a16="http://schemas.microsoft.com/office/drawing/2014/main" id="{D9B5FA94-245B-4AB3-A2B6-E28776B7BE93}"/>
                </a:ext>
              </a:extLst>
            </p:cNvPr>
            <p:cNvSpPr>
              <a:spLocks noChangeArrowheads="1"/>
            </p:cNvSpPr>
            <p:nvPr/>
          </p:nvSpPr>
          <p:spPr bwMode="auto">
            <a:xfrm>
              <a:off x="3648" y="1008"/>
              <a:ext cx="816"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32B828"/>
                  </a:solidFill>
                  <a:ea typeface="黑体" panose="02010609060101010101" pitchFamily="49" charset="-122"/>
                </a:rPr>
                <a:t>输入</a:t>
              </a:r>
              <a:r>
                <a:rPr lang="zh-CN" altLang="en-US" sz="2000" b="1">
                  <a:solidFill>
                    <a:srgbClr val="32B828"/>
                  </a:solidFill>
                  <a:ea typeface="文鼎细圆" pitchFamily="49" charset="-122"/>
                </a:rPr>
                <a:t> </a:t>
              </a:r>
              <a:r>
                <a:rPr lang="en-US" altLang="zh-CN" sz="2000" b="1">
                  <a:solidFill>
                    <a:srgbClr val="32B828"/>
                  </a:solidFill>
                  <a:ea typeface="文鼎细圆" pitchFamily="49" charset="-122"/>
                </a:rPr>
                <a:t>age</a:t>
              </a:r>
            </a:p>
          </p:txBody>
        </p:sp>
        <p:grpSp>
          <p:nvGrpSpPr>
            <p:cNvPr id="398349" name="Group 63">
              <a:extLst>
                <a:ext uri="{FF2B5EF4-FFF2-40B4-BE49-F238E27FC236}">
                  <a16:creationId xmlns:a16="http://schemas.microsoft.com/office/drawing/2014/main" id="{40FE1CB2-1E22-4F38-9329-E117D2823908}"/>
                </a:ext>
              </a:extLst>
            </p:cNvPr>
            <p:cNvGrpSpPr>
              <a:grpSpLocks/>
            </p:cNvGrpSpPr>
            <p:nvPr/>
          </p:nvGrpSpPr>
          <p:grpSpPr bwMode="auto">
            <a:xfrm>
              <a:off x="3552" y="1536"/>
              <a:ext cx="96" cy="288"/>
              <a:chOff x="2976" y="2160"/>
              <a:chExt cx="96" cy="288"/>
            </a:xfrm>
          </p:grpSpPr>
          <p:sp>
            <p:nvSpPr>
              <p:cNvPr id="398390" name="Line 45">
                <a:extLst>
                  <a:ext uri="{FF2B5EF4-FFF2-40B4-BE49-F238E27FC236}">
                    <a16:creationId xmlns:a16="http://schemas.microsoft.com/office/drawing/2014/main" id="{BDDA01FB-DAE4-4BC0-BC22-9971884C4216}"/>
                  </a:ext>
                </a:extLst>
              </p:cNvPr>
              <p:cNvSpPr>
                <a:spLocks noChangeShapeType="1"/>
              </p:cNvSpPr>
              <p:nvPr/>
            </p:nvSpPr>
            <p:spPr bwMode="auto">
              <a:xfrm flipH="1">
                <a:off x="2976" y="2160"/>
                <a:ext cx="96" cy="14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91" name="Line 46">
                <a:extLst>
                  <a:ext uri="{FF2B5EF4-FFF2-40B4-BE49-F238E27FC236}">
                    <a16:creationId xmlns:a16="http://schemas.microsoft.com/office/drawing/2014/main" id="{7D5761FC-B489-4917-880F-0E15966C6DFA}"/>
                  </a:ext>
                </a:extLst>
              </p:cNvPr>
              <p:cNvSpPr>
                <a:spLocks noChangeShapeType="1"/>
              </p:cNvSpPr>
              <p:nvPr/>
            </p:nvSpPr>
            <p:spPr bwMode="auto">
              <a:xfrm flipH="1" flipV="1">
                <a:off x="2976" y="2304"/>
                <a:ext cx="96" cy="14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151471" name="Text Box 47">
              <a:extLst>
                <a:ext uri="{FF2B5EF4-FFF2-40B4-BE49-F238E27FC236}">
                  <a16:creationId xmlns:a16="http://schemas.microsoft.com/office/drawing/2014/main" id="{8401B953-44A4-4EC3-8114-EF9A2308E018}"/>
                </a:ext>
              </a:extLst>
            </p:cNvPr>
            <p:cNvSpPr txBox="1">
              <a:spLocks noChangeArrowheads="1"/>
            </p:cNvSpPr>
            <p:nvPr/>
          </p:nvSpPr>
          <p:spPr bwMode="auto">
            <a:xfrm>
              <a:off x="3216" y="2016"/>
              <a:ext cx="480" cy="212"/>
            </a:xfrm>
            <a:prstGeom prst="rect">
              <a:avLst/>
            </a:prstGeom>
            <a:noFill/>
            <a:ln w="9525">
              <a:noFill/>
              <a:miter lim="800000"/>
              <a:headEnd/>
              <a:tailEnd/>
            </a:ln>
            <a:effectLst/>
          </p:spPr>
          <p:txBody>
            <a:bodyPr>
              <a:spAutoFit/>
            </a:bodyPr>
            <a:lstStyle/>
            <a:p>
              <a:pPr>
                <a:defRPr/>
              </a:pPr>
              <a:r>
                <a:rPr lang="zh-CN" altLang="en-US" sz="1600">
                  <a:solidFill>
                    <a:srgbClr val="F89A60"/>
                  </a:solidFill>
                  <a:latin typeface="黑体" pitchFamily="2" charset="-122"/>
                  <a:ea typeface="黑体" pitchFamily="2" charset="-122"/>
                </a:rPr>
                <a:t> </a:t>
              </a:r>
              <a:r>
                <a:rPr lang="en-US" altLang="zh-CN" sz="1600" b="1">
                  <a:solidFill>
                    <a:srgbClr val="F89A60"/>
                  </a:solidFill>
                  <a:effectLst>
                    <a:outerShdw blurRad="38100" dist="38100" dir="2700000" algn="tl">
                      <a:srgbClr val="000000"/>
                    </a:outerShdw>
                  </a:effectLst>
                  <a:latin typeface="Arial" charset="0"/>
                  <a:ea typeface="黑体" pitchFamily="2" charset="-122"/>
                </a:rPr>
                <a:t>age</a:t>
              </a:r>
            </a:p>
          </p:txBody>
        </p:sp>
        <p:sp>
          <p:nvSpPr>
            <p:cNvPr id="398351" name="Line 52">
              <a:extLst>
                <a:ext uri="{FF2B5EF4-FFF2-40B4-BE49-F238E27FC236}">
                  <a16:creationId xmlns:a16="http://schemas.microsoft.com/office/drawing/2014/main" id="{4A013ADE-1DAC-4F40-9C1B-C5BE71A1612D}"/>
                </a:ext>
              </a:extLst>
            </p:cNvPr>
            <p:cNvSpPr>
              <a:spLocks noChangeShapeType="1"/>
            </p:cNvSpPr>
            <p:nvPr/>
          </p:nvSpPr>
          <p:spPr bwMode="auto">
            <a:xfrm flipH="1">
              <a:off x="3648" y="1824"/>
              <a:ext cx="384"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52" name="Line 55">
              <a:extLst>
                <a:ext uri="{FF2B5EF4-FFF2-40B4-BE49-F238E27FC236}">
                  <a16:creationId xmlns:a16="http://schemas.microsoft.com/office/drawing/2014/main" id="{4D08CB52-A2C4-4676-8093-CF851CFB9A16}"/>
                </a:ext>
              </a:extLst>
            </p:cNvPr>
            <p:cNvSpPr>
              <a:spLocks noChangeShapeType="1"/>
            </p:cNvSpPr>
            <p:nvPr/>
          </p:nvSpPr>
          <p:spPr bwMode="auto">
            <a:xfrm flipH="1">
              <a:off x="3312" y="1536"/>
              <a:ext cx="72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1480" name="Text Box 56">
              <a:extLst>
                <a:ext uri="{FF2B5EF4-FFF2-40B4-BE49-F238E27FC236}">
                  <a16:creationId xmlns:a16="http://schemas.microsoft.com/office/drawing/2014/main" id="{A8577A03-547B-4EE3-A856-700BE2747B3E}"/>
                </a:ext>
              </a:extLst>
            </p:cNvPr>
            <p:cNvSpPr txBox="1">
              <a:spLocks noChangeArrowheads="1"/>
            </p:cNvSpPr>
            <p:nvPr/>
          </p:nvSpPr>
          <p:spPr bwMode="auto">
            <a:xfrm>
              <a:off x="3600" y="1344"/>
              <a:ext cx="480" cy="212"/>
            </a:xfrm>
            <a:prstGeom prst="rect">
              <a:avLst/>
            </a:prstGeom>
            <a:noFill/>
            <a:ln w="9525">
              <a:noFill/>
              <a:miter lim="800000"/>
              <a:headEnd/>
              <a:tailEnd/>
            </a:ln>
            <a:effectLst/>
          </p:spPr>
          <p:txBody>
            <a:bodyPr>
              <a:spAutoFit/>
            </a:bodyPr>
            <a:lstStyle/>
            <a:p>
              <a:pPr>
                <a:defRPr/>
              </a:pPr>
              <a:r>
                <a:rPr lang="zh-CN" altLang="en-US" sz="1600">
                  <a:solidFill>
                    <a:srgbClr val="F89A60"/>
                  </a:solidFill>
                  <a:latin typeface="黑体" pitchFamily="2" charset="-122"/>
                  <a:ea typeface="黑体" pitchFamily="2" charset="-122"/>
                </a:rPr>
                <a:t> </a:t>
              </a:r>
              <a:r>
                <a:rPr lang="en-US" altLang="zh-CN" sz="1600" b="1">
                  <a:solidFill>
                    <a:srgbClr val="F89A60"/>
                  </a:solidFill>
                  <a:effectLst>
                    <a:outerShdw blurRad="38100" dist="38100" dir="2700000" algn="tl">
                      <a:srgbClr val="000000"/>
                    </a:outerShdw>
                  </a:effectLst>
                  <a:latin typeface="Arial" charset="0"/>
                  <a:ea typeface="黑体" pitchFamily="2" charset="-122"/>
                </a:rPr>
                <a:t>=17</a:t>
              </a:r>
            </a:p>
          </p:txBody>
        </p:sp>
        <p:sp>
          <p:nvSpPr>
            <p:cNvPr id="398354" name="Line 61">
              <a:extLst>
                <a:ext uri="{FF2B5EF4-FFF2-40B4-BE49-F238E27FC236}">
                  <a16:creationId xmlns:a16="http://schemas.microsoft.com/office/drawing/2014/main" id="{416CE3CB-A3ED-4F30-BFA9-9E62972DDD47}"/>
                </a:ext>
              </a:extLst>
            </p:cNvPr>
            <p:cNvSpPr>
              <a:spLocks noChangeShapeType="1"/>
            </p:cNvSpPr>
            <p:nvPr/>
          </p:nvSpPr>
          <p:spPr bwMode="auto">
            <a:xfrm flipH="1">
              <a:off x="3312" y="1152"/>
              <a:ext cx="336"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98355" name="Group 64">
              <a:extLst>
                <a:ext uri="{FF2B5EF4-FFF2-40B4-BE49-F238E27FC236}">
                  <a16:creationId xmlns:a16="http://schemas.microsoft.com/office/drawing/2014/main" id="{5A310CFF-87BC-4155-B035-0E9EDEB1DB67}"/>
                </a:ext>
              </a:extLst>
            </p:cNvPr>
            <p:cNvGrpSpPr>
              <a:grpSpLocks/>
            </p:cNvGrpSpPr>
            <p:nvPr/>
          </p:nvGrpSpPr>
          <p:grpSpPr bwMode="auto">
            <a:xfrm>
              <a:off x="3552" y="1824"/>
              <a:ext cx="96" cy="288"/>
              <a:chOff x="2976" y="2160"/>
              <a:chExt cx="96" cy="288"/>
            </a:xfrm>
          </p:grpSpPr>
          <p:sp>
            <p:nvSpPr>
              <p:cNvPr id="398388" name="Line 65">
                <a:extLst>
                  <a:ext uri="{FF2B5EF4-FFF2-40B4-BE49-F238E27FC236}">
                    <a16:creationId xmlns:a16="http://schemas.microsoft.com/office/drawing/2014/main" id="{68EE4E18-6F70-4318-9CDC-4DD7CEAD677A}"/>
                  </a:ext>
                </a:extLst>
              </p:cNvPr>
              <p:cNvSpPr>
                <a:spLocks noChangeShapeType="1"/>
              </p:cNvSpPr>
              <p:nvPr/>
            </p:nvSpPr>
            <p:spPr bwMode="auto">
              <a:xfrm flipH="1">
                <a:off x="2976" y="2160"/>
                <a:ext cx="96" cy="14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89" name="Line 66">
                <a:extLst>
                  <a:ext uri="{FF2B5EF4-FFF2-40B4-BE49-F238E27FC236}">
                    <a16:creationId xmlns:a16="http://schemas.microsoft.com/office/drawing/2014/main" id="{2D1E1B50-506A-4EDA-98E3-C178A60D1AF6}"/>
                  </a:ext>
                </a:extLst>
              </p:cNvPr>
              <p:cNvSpPr>
                <a:spLocks noChangeShapeType="1"/>
              </p:cNvSpPr>
              <p:nvPr/>
            </p:nvSpPr>
            <p:spPr bwMode="auto">
              <a:xfrm flipH="1" flipV="1">
                <a:off x="2976" y="2304"/>
                <a:ext cx="96" cy="14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98356" name="Group 67">
              <a:extLst>
                <a:ext uri="{FF2B5EF4-FFF2-40B4-BE49-F238E27FC236}">
                  <a16:creationId xmlns:a16="http://schemas.microsoft.com/office/drawing/2014/main" id="{A413F1F5-AE17-4D10-9F8B-809243346DCB}"/>
                </a:ext>
              </a:extLst>
            </p:cNvPr>
            <p:cNvGrpSpPr>
              <a:grpSpLocks/>
            </p:cNvGrpSpPr>
            <p:nvPr/>
          </p:nvGrpSpPr>
          <p:grpSpPr bwMode="auto">
            <a:xfrm>
              <a:off x="3552" y="2400"/>
              <a:ext cx="96" cy="288"/>
              <a:chOff x="2976" y="2160"/>
              <a:chExt cx="96" cy="288"/>
            </a:xfrm>
          </p:grpSpPr>
          <p:sp>
            <p:nvSpPr>
              <p:cNvPr id="398386" name="Line 68">
                <a:extLst>
                  <a:ext uri="{FF2B5EF4-FFF2-40B4-BE49-F238E27FC236}">
                    <a16:creationId xmlns:a16="http://schemas.microsoft.com/office/drawing/2014/main" id="{3CC27512-7709-4BB1-8CCE-740C0615F364}"/>
                  </a:ext>
                </a:extLst>
              </p:cNvPr>
              <p:cNvSpPr>
                <a:spLocks noChangeShapeType="1"/>
              </p:cNvSpPr>
              <p:nvPr/>
            </p:nvSpPr>
            <p:spPr bwMode="auto">
              <a:xfrm flipH="1">
                <a:off x="2976" y="2160"/>
                <a:ext cx="96" cy="14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87" name="Line 69">
                <a:extLst>
                  <a:ext uri="{FF2B5EF4-FFF2-40B4-BE49-F238E27FC236}">
                    <a16:creationId xmlns:a16="http://schemas.microsoft.com/office/drawing/2014/main" id="{7EC65BD3-A52D-438D-BD5A-156C37121D72}"/>
                  </a:ext>
                </a:extLst>
              </p:cNvPr>
              <p:cNvSpPr>
                <a:spLocks noChangeShapeType="1"/>
              </p:cNvSpPr>
              <p:nvPr/>
            </p:nvSpPr>
            <p:spPr bwMode="auto">
              <a:xfrm flipH="1" flipV="1">
                <a:off x="2976" y="2304"/>
                <a:ext cx="96" cy="14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98357" name="Rectangle 70">
              <a:extLst>
                <a:ext uri="{FF2B5EF4-FFF2-40B4-BE49-F238E27FC236}">
                  <a16:creationId xmlns:a16="http://schemas.microsoft.com/office/drawing/2014/main" id="{55663CEF-46BF-42FE-94CE-3450FABEE6CF}"/>
                </a:ext>
              </a:extLst>
            </p:cNvPr>
            <p:cNvSpPr>
              <a:spLocks noChangeArrowheads="1"/>
            </p:cNvSpPr>
            <p:nvPr/>
          </p:nvSpPr>
          <p:spPr bwMode="auto">
            <a:xfrm>
              <a:off x="4032" y="1440"/>
              <a:ext cx="624" cy="240"/>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800">
                  <a:solidFill>
                    <a:srgbClr val="32B828"/>
                  </a:solidFill>
                  <a:ea typeface="黑体" panose="02010609060101010101" pitchFamily="49" charset="-122"/>
                </a:rPr>
                <a:t> </a:t>
              </a:r>
              <a:r>
                <a:rPr lang="en-US" altLang="zh-CN" sz="1800" b="1">
                  <a:solidFill>
                    <a:srgbClr val="32B828"/>
                  </a:solidFill>
                  <a:ea typeface="文鼎细圆" pitchFamily="49" charset="-122"/>
                </a:rPr>
                <a:t>s[17]++</a:t>
              </a:r>
            </a:p>
          </p:txBody>
        </p:sp>
        <p:sp>
          <p:nvSpPr>
            <p:cNvPr id="398358" name="Rectangle 71">
              <a:extLst>
                <a:ext uri="{FF2B5EF4-FFF2-40B4-BE49-F238E27FC236}">
                  <a16:creationId xmlns:a16="http://schemas.microsoft.com/office/drawing/2014/main" id="{576B6013-8131-4E42-B7A0-7BD6667DD2EC}"/>
                </a:ext>
              </a:extLst>
            </p:cNvPr>
            <p:cNvSpPr>
              <a:spLocks noChangeArrowheads="1"/>
            </p:cNvSpPr>
            <p:nvPr/>
          </p:nvSpPr>
          <p:spPr bwMode="auto">
            <a:xfrm>
              <a:off x="4032" y="1728"/>
              <a:ext cx="624" cy="240"/>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800">
                  <a:solidFill>
                    <a:srgbClr val="32B828"/>
                  </a:solidFill>
                  <a:ea typeface="黑体" panose="02010609060101010101" pitchFamily="49" charset="-122"/>
                </a:rPr>
                <a:t> </a:t>
              </a:r>
              <a:r>
                <a:rPr lang="en-US" altLang="zh-CN" sz="1800" b="1">
                  <a:solidFill>
                    <a:srgbClr val="32B828"/>
                  </a:solidFill>
                  <a:ea typeface="文鼎细圆" pitchFamily="49" charset="-122"/>
                </a:rPr>
                <a:t>s[18]++</a:t>
              </a:r>
            </a:p>
          </p:txBody>
        </p:sp>
        <p:sp>
          <p:nvSpPr>
            <p:cNvPr id="2151496" name="Text Box 72">
              <a:extLst>
                <a:ext uri="{FF2B5EF4-FFF2-40B4-BE49-F238E27FC236}">
                  <a16:creationId xmlns:a16="http://schemas.microsoft.com/office/drawing/2014/main" id="{9C4F3090-67E5-4FE0-B734-D0C1CC3740ED}"/>
                </a:ext>
              </a:extLst>
            </p:cNvPr>
            <p:cNvSpPr txBox="1">
              <a:spLocks noChangeArrowheads="1"/>
            </p:cNvSpPr>
            <p:nvPr/>
          </p:nvSpPr>
          <p:spPr bwMode="auto">
            <a:xfrm>
              <a:off x="3600" y="1632"/>
              <a:ext cx="480" cy="212"/>
            </a:xfrm>
            <a:prstGeom prst="rect">
              <a:avLst/>
            </a:prstGeom>
            <a:noFill/>
            <a:ln w="9525">
              <a:noFill/>
              <a:miter lim="800000"/>
              <a:headEnd/>
              <a:tailEnd/>
            </a:ln>
            <a:effectLst/>
          </p:spPr>
          <p:txBody>
            <a:bodyPr>
              <a:spAutoFit/>
            </a:bodyPr>
            <a:lstStyle/>
            <a:p>
              <a:pPr>
                <a:defRPr/>
              </a:pPr>
              <a:r>
                <a:rPr lang="zh-CN" altLang="en-US" sz="1600">
                  <a:solidFill>
                    <a:srgbClr val="F89A60"/>
                  </a:solidFill>
                  <a:latin typeface="黑体" pitchFamily="2" charset="-122"/>
                  <a:ea typeface="黑体" pitchFamily="2" charset="-122"/>
                </a:rPr>
                <a:t> </a:t>
              </a:r>
              <a:r>
                <a:rPr lang="en-US" altLang="zh-CN" sz="1600" b="1">
                  <a:solidFill>
                    <a:srgbClr val="F89A60"/>
                  </a:solidFill>
                  <a:effectLst>
                    <a:outerShdw blurRad="38100" dist="38100" dir="2700000" algn="tl">
                      <a:srgbClr val="000000"/>
                    </a:outerShdw>
                  </a:effectLst>
                  <a:latin typeface="Arial" charset="0"/>
                  <a:ea typeface="黑体" pitchFamily="2" charset="-122"/>
                </a:rPr>
                <a:t>=18</a:t>
              </a:r>
            </a:p>
          </p:txBody>
        </p:sp>
        <p:grpSp>
          <p:nvGrpSpPr>
            <p:cNvPr id="398360" name="Group 73">
              <a:extLst>
                <a:ext uri="{FF2B5EF4-FFF2-40B4-BE49-F238E27FC236}">
                  <a16:creationId xmlns:a16="http://schemas.microsoft.com/office/drawing/2014/main" id="{1ECF3A15-172E-4411-8903-3411644AB7AC}"/>
                </a:ext>
              </a:extLst>
            </p:cNvPr>
            <p:cNvGrpSpPr>
              <a:grpSpLocks/>
            </p:cNvGrpSpPr>
            <p:nvPr/>
          </p:nvGrpSpPr>
          <p:grpSpPr bwMode="auto">
            <a:xfrm>
              <a:off x="3552" y="2112"/>
              <a:ext cx="96" cy="288"/>
              <a:chOff x="2976" y="2160"/>
              <a:chExt cx="96" cy="288"/>
            </a:xfrm>
          </p:grpSpPr>
          <p:sp>
            <p:nvSpPr>
              <p:cNvPr id="398384" name="Line 74">
                <a:extLst>
                  <a:ext uri="{FF2B5EF4-FFF2-40B4-BE49-F238E27FC236}">
                    <a16:creationId xmlns:a16="http://schemas.microsoft.com/office/drawing/2014/main" id="{9536CE7E-A75B-4801-A411-A267EE0A6B86}"/>
                  </a:ext>
                </a:extLst>
              </p:cNvPr>
              <p:cNvSpPr>
                <a:spLocks noChangeShapeType="1"/>
              </p:cNvSpPr>
              <p:nvPr/>
            </p:nvSpPr>
            <p:spPr bwMode="auto">
              <a:xfrm flipH="1">
                <a:off x="2976" y="2160"/>
                <a:ext cx="96" cy="14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85" name="Line 75">
                <a:extLst>
                  <a:ext uri="{FF2B5EF4-FFF2-40B4-BE49-F238E27FC236}">
                    <a16:creationId xmlns:a16="http://schemas.microsoft.com/office/drawing/2014/main" id="{E9EA1A73-61BF-4943-B204-7E3B49C2FAA7}"/>
                  </a:ext>
                </a:extLst>
              </p:cNvPr>
              <p:cNvSpPr>
                <a:spLocks noChangeShapeType="1"/>
              </p:cNvSpPr>
              <p:nvPr/>
            </p:nvSpPr>
            <p:spPr bwMode="auto">
              <a:xfrm flipH="1" flipV="1">
                <a:off x="2976" y="2304"/>
                <a:ext cx="96" cy="14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98361" name="Rectangle 76">
              <a:extLst>
                <a:ext uri="{FF2B5EF4-FFF2-40B4-BE49-F238E27FC236}">
                  <a16:creationId xmlns:a16="http://schemas.microsoft.com/office/drawing/2014/main" id="{1DA7B594-9500-4858-8108-3FFF5FEDCBAC}"/>
                </a:ext>
              </a:extLst>
            </p:cNvPr>
            <p:cNvSpPr>
              <a:spLocks noChangeArrowheads="1"/>
            </p:cNvSpPr>
            <p:nvPr/>
          </p:nvSpPr>
          <p:spPr bwMode="auto">
            <a:xfrm>
              <a:off x="4032" y="2016"/>
              <a:ext cx="624" cy="240"/>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800">
                  <a:solidFill>
                    <a:srgbClr val="32B828"/>
                  </a:solidFill>
                  <a:ea typeface="黑体" panose="02010609060101010101" pitchFamily="49" charset="-122"/>
                </a:rPr>
                <a:t> </a:t>
              </a:r>
              <a:r>
                <a:rPr lang="en-US" altLang="zh-CN" sz="1800" b="1">
                  <a:solidFill>
                    <a:srgbClr val="32B828"/>
                  </a:solidFill>
                  <a:ea typeface="文鼎细圆" pitchFamily="49" charset="-122"/>
                </a:rPr>
                <a:t>s[19]++</a:t>
              </a:r>
            </a:p>
          </p:txBody>
        </p:sp>
        <p:sp>
          <p:nvSpPr>
            <p:cNvPr id="2151501" name="Text Box 77">
              <a:extLst>
                <a:ext uri="{FF2B5EF4-FFF2-40B4-BE49-F238E27FC236}">
                  <a16:creationId xmlns:a16="http://schemas.microsoft.com/office/drawing/2014/main" id="{63844A9F-58F3-4807-A372-49C15A08B845}"/>
                </a:ext>
              </a:extLst>
            </p:cNvPr>
            <p:cNvSpPr txBox="1">
              <a:spLocks noChangeArrowheads="1"/>
            </p:cNvSpPr>
            <p:nvPr/>
          </p:nvSpPr>
          <p:spPr bwMode="auto">
            <a:xfrm>
              <a:off x="3600" y="1920"/>
              <a:ext cx="480" cy="212"/>
            </a:xfrm>
            <a:prstGeom prst="rect">
              <a:avLst/>
            </a:prstGeom>
            <a:noFill/>
            <a:ln w="9525">
              <a:noFill/>
              <a:miter lim="800000"/>
              <a:headEnd/>
              <a:tailEnd/>
            </a:ln>
            <a:effectLst/>
          </p:spPr>
          <p:txBody>
            <a:bodyPr>
              <a:spAutoFit/>
            </a:bodyPr>
            <a:lstStyle/>
            <a:p>
              <a:pPr>
                <a:defRPr/>
              </a:pPr>
              <a:r>
                <a:rPr lang="zh-CN" altLang="en-US" sz="1600">
                  <a:solidFill>
                    <a:srgbClr val="F89A60"/>
                  </a:solidFill>
                  <a:latin typeface="黑体" pitchFamily="2" charset="-122"/>
                  <a:ea typeface="黑体" pitchFamily="2" charset="-122"/>
                </a:rPr>
                <a:t> </a:t>
              </a:r>
              <a:r>
                <a:rPr lang="en-US" altLang="zh-CN" sz="1600" b="1">
                  <a:solidFill>
                    <a:srgbClr val="F89A60"/>
                  </a:solidFill>
                  <a:effectLst>
                    <a:outerShdw blurRad="38100" dist="38100" dir="2700000" algn="tl">
                      <a:srgbClr val="000000"/>
                    </a:outerShdw>
                  </a:effectLst>
                  <a:latin typeface="Arial" charset="0"/>
                  <a:ea typeface="黑体" pitchFamily="2" charset="-122"/>
                </a:rPr>
                <a:t>=19</a:t>
              </a:r>
            </a:p>
          </p:txBody>
        </p:sp>
        <p:sp>
          <p:nvSpPr>
            <p:cNvPr id="398363" name="Line 78">
              <a:extLst>
                <a:ext uri="{FF2B5EF4-FFF2-40B4-BE49-F238E27FC236}">
                  <a16:creationId xmlns:a16="http://schemas.microsoft.com/office/drawing/2014/main" id="{6BC89ECE-E100-4833-B671-58426F2F84DA}"/>
                </a:ext>
              </a:extLst>
            </p:cNvPr>
            <p:cNvSpPr>
              <a:spLocks noChangeShapeType="1"/>
            </p:cNvSpPr>
            <p:nvPr/>
          </p:nvSpPr>
          <p:spPr bwMode="auto">
            <a:xfrm flipH="1">
              <a:off x="3648" y="2112"/>
              <a:ext cx="384"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64" name="Rectangle 79">
              <a:extLst>
                <a:ext uri="{FF2B5EF4-FFF2-40B4-BE49-F238E27FC236}">
                  <a16:creationId xmlns:a16="http://schemas.microsoft.com/office/drawing/2014/main" id="{711294C0-C13D-4BB8-80DC-E23717FCDDC8}"/>
                </a:ext>
              </a:extLst>
            </p:cNvPr>
            <p:cNvSpPr>
              <a:spLocks noChangeArrowheads="1"/>
            </p:cNvSpPr>
            <p:nvPr/>
          </p:nvSpPr>
          <p:spPr bwMode="auto">
            <a:xfrm>
              <a:off x="4032" y="2304"/>
              <a:ext cx="624" cy="240"/>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800">
                  <a:solidFill>
                    <a:srgbClr val="32B828"/>
                  </a:solidFill>
                  <a:ea typeface="黑体" panose="02010609060101010101" pitchFamily="49" charset="-122"/>
                </a:rPr>
                <a:t> </a:t>
              </a:r>
              <a:r>
                <a:rPr lang="en-US" altLang="zh-CN" sz="1800" b="1">
                  <a:solidFill>
                    <a:srgbClr val="32B828"/>
                  </a:solidFill>
                  <a:ea typeface="文鼎细圆" pitchFamily="49" charset="-122"/>
                </a:rPr>
                <a:t>s[20]++</a:t>
              </a:r>
            </a:p>
          </p:txBody>
        </p:sp>
        <p:sp>
          <p:nvSpPr>
            <p:cNvPr id="2151504" name="Text Box 80">
              <a:extLst>
                <a:ext uri="{FF2B5EF4-FFF2-40B4-BE49-F238E27FC236}">
                  <a16:creationId xmlns:a16="http://schemas.microsoft.com/office/drawing/2014/main" id="{997C9FAE-1C7E-42F7-9B2A-28BA3F5A5531}"/>
                </a:ext>
              </a:extLst>
            </p:cNvPr>
            <p:cNvSpPr txBox="1">
              <a:spLocks noChangeArrowheads="1"/>
            </p:cNvSpPr>
            <p:nvPr/>
          </p:nvSpPr>
          <p:spPr bwMode="auto">
            <a:xfrm>
              <a:off x="3600" y="2208"/>
              <a:ext cx="480" cy="212"/>
            </a:xfrm>
            <a:prstGeom prst="rect">
              <a:avLst/>
            </a:prstGeom>
            <a:noFill/>
            <a:ln w="9525">
              <a:noFill/>
              <a:miter lim="800000"/>
              <a:headEnd/>
              <a:tailEnd/>
            </a:ln>
            <a:effectLst/>
          </p:spPr>
          <p:txBody>
            <a:bodyPr>
              <a:spAutoFit/>
            </a:bodyPr>
            <a:lstStyle/>
            <a:p>
              <a:pPr>
                <a:defRPr/>
              </a:pPr>
              <a:r>
                <a:rPr lang="zh-CN" altLang="en-US" sz="1600">
                  <a:solidFill>
                    <a:srgbClr val="F89A60"/>
                  </a:solidFill>
                  <a:latin typeface="黑体" pitchFamily="2" charset="-122"/>
                  <a:ea typeface="黑体" pitchFamily="2" charset="-122"/>
                </a:rPr>
                <a:t> </a:t>
              </a:r>
              <a:r>
                <a:rPr lang="en-US" altLang="zh-CN" sz="1600" b="1">
                  <a:solidFill>
                    <a:srgbClr val="F89A60"/>
                  </a:solidFill>
                  <a:effectLst>
                    <a:outerShdw blurRad="38100" dist="38100" dir="2700000" algn="tl">
                      <a:srgbClr val="000000"/>
                    </a:outerShdw>
                  </a:effectLst>
                  <a:latin typeface="Arial" charset="0"/>
                  <a:ea typeface="黑体" pitchFamily="2" charset="-122"/>
                </a:rPr>
                <a:t>=20</a:t>
              </a:r>
            </a:p>
          </p:txBody>
        </p:sp>
        <p:sp>
          <p:nvSpPr>
            <p:cNvPr id="398366" name="Line 81">
              <a:extLst>
                <a:ext uri="{FF2B5EF4-FFF2-40B4-BE49-F238E27FC236}">
                  <a16:creationId xmlns:a16="http://schemas.microsoft.com/office/drawing/2014/main" id="{0460BFAA-435E-46E9-AD36-AD17CA969B30}"/>
                </a:ext>
              </a:extLst>
            </p:cNvPr>
            <p:cNvSpPr>
              <a:spLocks noChangeShapeType="1"/>
            </p:cNvSpPr>
            <p:nvPr/>
          </p:nvSpPr>
          <p:spPr bwMode="auto">
            <a:xfrm flipH="1">
              <a:off x="3648" y="2400"/>
              <a:ext cx="384"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67" name="Rectangle 82">
              <a:extLst>
                <a:ext uri="{FF2B5EF4-FFF2-40B4-BE49-F238E27FC236}">
                  <a16:creationId xmlns:a16="http://schemas.microsoft.com/office/drawing/2014/main" id="{327E7D71-D5DF-4769-9A54-1FD1CC9742FB}"/>
                </a:ext>
              </a:extLst>
            </p:cNvPr>
            <p:cNvSpPr>
              <a:spLocks noChangeArrowheads="1"/>
            </p:cNvSpPr>
            <p:nvPr/>
          </p:nvSpPr>
          <p:spPr bwMode="auto">
            <a:xfrm>
              <a:off x="4032" y="2592"/>
              <a:ext cx="624" cy="240"/>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800">
                  <a:solidFill>
                    <a:srgbClr val="32B828"/>
                  </a:solidFill>
                  <a:ea typeface="黑体" panose="02010609060101010101" pitchFamily="49" charset="-122"/>
                </a:rPr>
                <a:t> </a:t>
              </a:r>
              <a:r>
                <a:rPr lang="en-US" altLang="zh-CN" sz="1800" b="1">
                  <a:solidFill>
                    <a:srgbClr val="32B828"/>
                  </a:solidFill>
                  <a:ea typeface="文鼎细圆" pitchFamily="49" charset="-122"/>
                </a:rPr>
                <a:t>s[21]++</a:t>
              </a:r>
            </a:p>
          </p:txBody>
        </p:sp>
        <p:sp>
          <p:nvSpPr>
            <p:cNvPr id="2151507" name="Text Box 83">
              <a:extLst>
                <a:ext uri="{FF2B5EF4-FFF2-40B4-BE49-F238E27FC236}">
                  <a16:creationId xmlns:a16="http://schemas.microsoft.com/office/drawing/2014/main" id="{CAD6881F-9269-4AB4-B993-89C51BDBBF4A}"/>
                </a:ext>
              </a:extLst>
            </p:cNvPr>
            <p:cNvSpPr txBox="1">
              <a:spLocks noChangeArrowheads="1"/>
            </p:cNvSpPr>
            <p:nvPr/>
          </p:nvSpPr>
          <p:spPr bwMode="auto">
            <a:xfrm>
              <a:off x="3600" y="2496"/>
              <a:ext cx="480" cy="212"/>
            </a:xfrm>
            <a:prstGeom prst="rect">
              <a:avLst/>
            </a:prstGeom>
            <a:noFill/>
            <a:ln w="9525">
              <a:noFill/>
              <a:miter lim="800000"/>
              <a:headEnd/>
              <a:tailEnd/>
            </a:ln>
            <a:effectLst/>
          </p:spPr>
          <p:txBody>
            <a:bodyPr>
              <a:spAutoFit/>
            </a:bodyPr>
            <a:lstStyle/>
            <a:p>
              <a:pPr>
                <a:defRPr/>
              </a:pPr>
              <a:r>
                <a:rPr lang="zh-CN" altLang="en-US" sz="1600">
                  <a:solidFill>
                    <a:srgbClr val="F89A60"/>
                  </a:solidFill>
                  <a:latin typeface="黑体" pitchFamily="2" charset="-122"/>
                  <a:ea typeface="黑体" pitchFamily="2" charset="-122"/>
                </a:rPr>
                <a:t> </a:t>
              </a:r>
              <a:r>
                <a:rPr lang="en-US" altLang="zh-CN" sz="1600" b="1">
                  <a:solidFill>
                    <a:srgbClr val="F89A60"/>
                  </a:solidFill>
                  <a:effectLst>
                    <a:outerShdw blurRad="38100" dist="38100" dir="2700000" algn="tl">
                      <a:srgbClr val="000000"/>
                    </a:outerShdw>
                  </a:effectLst>
                  <a:latin typeface="Arial" charset="0"/>
                  <a:ea typeface="黑体" pitchFamily="2" charset="-122"/>
                </a:rPr>
                <a:t>=21</a:t>
              </a:r>
            </a:p>
          </p:txBody>
        </p:sp>
        <p:sp>
          <p:nvSpPr>
            <p:cNvPr id="398369" name="Line 84">
              <a:extLst>
                <a:ext uri="{FF2B5EF4-FFF2-40B4-BE49-F238E27FC236}">
                  <a16:creationId xmlns:a16="http://schemas.microsoft.com/office/drawing/2014/main" id="{F46C3620-2EFC-4A6E-A54C-B1D1D8CCCC41}"/>
                </a:ext>
              </a:extLst>
            </p:cNvPr>
            <p:cNvSpPr>
              <a:spLocks noChangeShapeType="1"/>
            </p:cNvSpPr>
            <p:nvPr/>
          </p:nvSpPr>
          <p:spPr bwMode="auto">
            <a:xfrm flipH="1">
              <a:off x="3648" y="2688"/>
              <a:ext cx="384"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98370" name="Group 85">
              <a:extLst>
                <a:ext uri="{FF2B5EF4-FFF2-40B4-BE49-F238E27FC236}">
                  <a16:creationId xmlns:a16="http://schemas.microsoft.com/office/drawing/2014/main" id="{268A11AD-952D-418F-89A7-08597A4B5979}"/>
                </a:ext>
              </a:extLst>
            </p:cNvPr>
            <p:cNvGrpSpPr>
              <a:grpSpLocks/>
            </p:cNvGrpSpPr>
            <p:nvPr/>
          </p:nvGrpSpPr>
          <p:grpSpPr bwMode="auto">
            <a:xfrm>
              <a:off x="3552" y="2688"/>
              <a:ext cx="96" cy="288"/>
              <a:chOff x="2976" y="2160"/>
              <a:chExt cx="96" cy="288"/>
            </a:xfrm>
          </p:grpSpPr>
          <p:sp>
            <p:nvSpPr>
              <p:cNvPr id="398382" name="Line 86">
                <a:extLst>
                  <a:ext uri="{FF2B5EF4-FFF2-40B4-BE49-F238E27FC236}">
                    <a16:creationId xmlns:a16="http://schemas.microsoft.com/office/drawing/2014/main" id="{33928084-96C9-4115-8B22-8B697B078B5F}"/>
                  </a:ext>
                </a:extLst>
              </p:cNvPr>
              <p:cNvSpPr>
                <a:spLocks noChangeShapeType="1"/>
              </p:cNvSpPr>
              <p:nvPr/>
            </p:nvSpPr>
            <p:spPr bwMode="auto">
              <a:xfrm flipH="1">
                <a:off x="2976" y="2160"/>
                <a:ext cx="96" cy="14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83" name="Line 87">
                <a:extLst>
                  <a:ext uri="{FF2B5EF4-FFF2-40B4-BE49-F238E27FC236}">
                    <a16:creationId xmlns:a16="http://schemas.microsoft.com/office/drawing/2014/main" id="{3ED46A2B-8250-42F3-B46F-4F7C3FC269F0}"/>
                  </a:ext>
                </a:extLst>
              </p:cNvPr>
              <p:cNvSpPr>
                <a:spLocks noChangeShapeType="1"/>
              </p:cNvSpPr>
              <p:nvPr/>
            </p:nvSpPr>
            <p:spPr bwMode="auto">
              <a:xfrm flipH="1" flipV="1">
                <a:off x="2976" y="2304"/>
                <a:ext cx="96" cy="14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98371" name="Rectangle 89">
              <a:extLst>
                <a:ext uri="{FF2B5EF4-FFF2-40B4-BE49-F238E27FC236}">
                  <a16:creationId xmlns:a16="http://schemas.microsoft.com/office/drawing/2014/main" id="{C4A419FA-3B64-453C-90C0-1D0C2961B9AA}"/>
                </a:ext>
              </a:extLst>
            </p:cNvPr>
            <p:cNvSpPr>
              <a:spLocks noChangeArrowheads="1"/>
            </p:cNvSpPr>
            <p:nvPr/>
          </p:nvSpPr>
          <p:spPr bwMode="auto">
            <a:xfrm>
              <a:off x="4032" y="2880"/>
              <a:ext cx="624" cy="240"/>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800">
                  <a:solidFill>
                    <a:srgbClr val="32B828"/>
                  </a:solidFill>
                  <a:ea typeface="黑体" panose="02010609060101010101" pitchFamily="49" charset="-122"/>
                </a:rPr>
                <a:t> </a:t>
              </a:r>
              <a:r>
                <a:rPr lang="en-US" altLang="zh-CN" sz="1800" b="1">
                  <a:solidFill>
                    <a:srgbClr val="32B828"/>
                  </a:solidFill>
                  <a:ea typeface="文鼎细圆" pitchFamily="49" charset="-122"/>
                </a:rPr>
                <a:t>s[22]++</a:t>
              </a:r>
            </a:p>
          </p:txBody>
        </p:sp>
        <p:sp>
          <p:nvSpPr>
            <p:cNvPr id="2151514" name="Text Box 90">
              <a:extLst>
                <a:ext uri="{FF2B5EF4-FFF2-40B4-BE49-F238E27FC236}">
                  <a16:creationId xmlns:a16="http://schemas.microsoft.com/office/drawing/2014/main" id="{FE31C10A-AE9A-49BC-A9F3-D0035B83316F}"/>
                </a:ext>
              </a:extLst>
            </p:cNvPr>
            <p:cNvSpPr txBox="1">
              <a:spLocks noChangeArrowheads="1"/>
            </p:cNvSpPr>
            <p:nvPr/>
          </p:nvSpPr>
          <p:spPr bwMode="auto">
            <a:xfrm>
              <a:off x="3600" y="2784"/>
              <a:ext cx="480" cy="212"/>
            </a:xfrm>
            <a:prstGeom prst="rect">
              <a:avLst/>
            </a:prstGeom>
            <a:noFill/>
            <a:ln w="9525">
              <a:noFill/>
              <a:miter lim="800000"/>
              <a:headEnd/>
              <a:tailEnd/>
            </a:ln>
            <a:effectLst/>
          </p:spPr>
          <p:txBody>
            <a:bodyPr>
              <a:spAutoFit/>
            </a:bodyPr>
            <a:lstStyle/>
            <a:p>
              <a:pPr>
                <a:defRPr/>
              </a:pPr>
              <a:r>
                <a:rPr lang="zh-CN" altLang="en-US" sz="1600">
                  <a:solidFill>
                    <a:srgbClr val="F89A60"/>
                  </a:solidFill>
                  <a:latin typeface="黑体" pitchFamily="2" charset="-122"/>
                  <a:ea typeface="黑体" pitchFamily="2" charset="-122"/>
                </a:rPr>
                <a:t> </a:t>
              </a:r>
              <a:r>
                <a:rPr lang="en-US" altLang="zh-CN" sz="1600" b="1">
                  <a:solidFill>
                    <a:srgbClr val="F89A60"/>
                  </a:solidFill>
                  <a:effectLst>
                    <a:outerShdw blurRad="38100" dist="38100" dir="2700000" algn="tl">
                      <a:srgbClr val="000000"/>
                    </a:outerShdw>
                  </a:effectLst>
                  <a:latin typeface="Arial" charset="0"/>
                  <a:ea typeface="黑体" pitchFamily="2" charset="-122"/>
                </a:rPr>
                <a:t>=22</a:t>
              </a:r>
            </a:p>
          </p:txBody>
        </p:sp>
        <p:sp>
          <p:nvSpPr>
            <p:cNvPr id="398373" name="Line 91">
              <a:extLst>
                <a:ext uri="{FF2B5EF4-FFF2-40B4-BE49-F238E27FC236}">
                  <a16:creationId xmlns:a16="http://schemas.microsoft.com/office/drawing/2014/main" id="{58FD4BE7-6620-4C14-A8B1-16BD46A7AFD4}"/>
                </a:ext>
              </a:extLst>
            </p:cNvPr>
            <p:cNvSpPr>
              <a:spLocks noChangeShapeType="1"/>
            </p:cNvSpPr>
            <p:nvPr/>
          </p:nvSpPr>
          <p:spPr bwMode="auto">
            <a:xfrm flipH="1">
              <a:off x="3312" y="2976"/>
              <a:ext cx="72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74" name="Rectangle 96">
              <a:extLst>
                <a:ext uri="{FF2B5EF4-FFF2-40B4-BE49-F238E27FC236}">
                  <a16:creationId xmlns:a16="http://schemas.microsoft.com/office/drawing/2014/main" id="{96DE9A33-DB40-434E-9A06-C8DE4EAEEDA9}"/>
                </a:ext>
              </a:extLst>
            </p:cNvPr>
            <p:cNvSpPr>
              <a:spLocks noChangeArrowheads="1"/>
            </p:cNvSpPr>
            <p:nvPr/>
          </p:nvSpPr>
          <p:spPr bwMode="auto">
            <a:xfrm>
              <a:off x="1920" y="3216"/>
              <a:ext cx="1152" cy="43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b="1">
                  <a:solidFill>
                    <a:srgbClr val="32B828"/>
                  </a:solidFill>
                  <a:latin typeface="Arial" panose="020B0604020202020204" pitchFamily="34" charset="0"/>
                  <a:ea typeface="文鼎细圆" pitchFamily="49" charset="-122"/>
                </a:rPr>
                <a:t>while </a:t>
              </a:r>
            </a:p>
            <a:p>
              <a:r>
                <a:rPr lang="en-US" altLang="zh-CN" sz="1600" b="1">
                  <a:solidFill>
                    <a:srgbClr val="32B828"/>
                  </a:solidFill>
                  <a:latin typeface="Arial" panose="020B0604020202020204" pitchFamily="34" charset="0"/>
                  <a:ea typeface="文鼎细圆" pitchFamily="49" charset="-122"/>
                </a:rPr>
                <a:t>i(17-22)</a:t>
              </a:r>
              <a:r>
                <a:rPr lang="en-US" altLang="zh-CN" sz="1600" b="1">
                  <a:solidFill>
                    <a:srgbClr val="F89A60"/>
                  </a:solidFill>
                  <a:latin typeface="Arial" panose="020B0604020202020204" pitchFamily="34" charset="0"/>
                  <a:ea typeface="文鼎细圆" pitchFamily="49" charset="-122"/>
                </a:rPr>
                <a:t> </a:t>
              </a:r>
              <a:r>
                <a:rPr lang="en-US" altLang="zh-CN" sz="1600">
                  <a:solidFill>
                    <a:srgbClr val="32B828"/>
                  </a:solidFill>
                  <a:latin typeface="Arial" panose="020B0604020202020204" pitchFamily="34" charset="0"/>
                  <a:ea typeface="文鼎细圆" pitchFamily="49" charset="-122"/>
                </a:rPr>
                <a:t> </a:t>
              </a:r>
            </a:p>
          </p:txBody>
        </p:sp>
        <p:sp>
          <p:nvSpPr>
            <p:cNvPr id="398375" name="Line 97">
              <a:extLst>
                <a:ext uri="{FF2B5EF4-FFF2-40B4-BE49-F238E27FC236}">
                  <a16:creationId xmlns:a16="http://schemas.microsoft.com/office/drawing/2014/main" id="{EE3A030B-C8BE-4DD6-893D-1A6359EF0E42}"/>
                </a:ext>
              </a:extLst>
            </p:cNvPr>
            <p:cNvSpPr>
              <a:spLocks noChangeShapeType="1"/>
            </p:cNvSpPr>
            <p:nvPr/>
          </p:nvSpPr>
          <p:spPr bwMode="auto">
            <a:xfrm>
              <a:off x="2976" y="3216"/>
              <a:ext cx="0" cy="43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76" name="Line 98">
              <a:extLst>
                <a:ext uri="{FF2B5EF4-FFF2-40B4-BE49-F238E27FC236}">
                  <a16:creationId xmlns:a16="http://schemas.microsoft.com/office/drawing/2014/main" id="{37CC9F14-9F5D-4AC9-BAA2-5031E5B6AA72}"/>
                </a:ext>
              </a:extLst>
            </p:cNvPr>
            <p:cNvSpPr>
              <a:spLocks noChangeShapeType="1"/>
            </p:cNvSpPr>
            <p:nvPr/>
          </p:nvSpPr>
          <p:spPr bwMode="auto">
            <a:xfrm flipH="1">
              <a:off x="3072" y="3408"/>
              <a:ext cx="24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77" name="Rectangle 99">
              <a:extLst>
                <a:ext uri="{FF2B5EF4-FFF2-40B4-BE49-F238E27FC236}">
                  <a16:creationId xmlns:a16="http://schemas.microsoft.com/office/drawing/2014/main" id="{6CED4308-FB11-4F20-983A-985E3C7EC8A5}"/>
                </a:ext>
              </a:extLst>
            </p:cNvPr>
            <p:cNvSpPr>
              <a:spLocks noChangeArrowheads="1"/>
            </p:cNvSpPr>
            <p:nvPr/>
          </p:nvSpPr>
          <p:spPr bwMode="auto">
            <a:xfrm>
              <a:off x="3312" y="3264"/>
              <a:ext cx="720"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32B828"/>
                  </a:solidFill>
                  <a:ea typeface="黑体" panose="02010609060101010101" pitchFamily="49" charset="-122"/>
                </a:rPr>
                <a:t>输出</a:t>
              </a:r>
              <a:r>
                <a:rPr lang="zh-CN" altLang="en-US" sz="2000" b="1">
                  <a:solidFill>
                    <a:srgbClr val="32B828"/>
                  </a:solidFill>
                  <a:ea typeface="文鼎细圆" pitchFamily="49" charset="-122"/>
                </a:rPr>
                <a:t> </a:t>
              </a:r>
              <a:r>
                <a:rPr lang="en-US" altLang="zh-CN" sz="2000" b="1">
                  <a:solidFill>
                    <a:srgbClr val="32B828"/>
                  </a:solidFill>
                  <a:ea typeface="文鼎细圆" pitchFamily="49" charset="-122"/>
                </a:rPr>
                <a:t>s[i]</a:t>
              </a:r>
            </a:p>
          </p:txBody>
        </p:sp>
        <p:sp>
          <p:nvSpPr>
            <p:cNvPr id="398378" name="Rectangle 100">
              <a:extLst>
                <a:ext uri="{FF2B5EF4-FFF2-40B4-BE49-F238E27FC236}">
                  <a16:creationId xmlns:a16="http://schemas.microsoft.com/office/drawing/2014/main" id="{C2230C6D-D357-47C1-B066-3ACF09F53D25}"/>
                </a:ext>
              </a:extLst>
            </p:cNvPr>
            <p:cNvSpPr>
              <a:spLocks noChangeArrowheads="1"/>
            </p:cNvSpPr>
            <p:nvPr/>
          </p:nvSpPr>
          <p:spPr bwMode="auto">
            <a:xfrm>
              <a:off x="2256" y="672"/>
              <a:ext cx="528"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solidFill>
                    <a:srgbClr val="32B828"/>
                  </a:solidFill>
                  <a:ea typeface="黑体" panose="02010609060101010101" pitchFamily="49" charset="-122"/>
                </a:rPr>
                <a:t>begin</a:t>
              </a:r>
              <a:endParaRPr lang="en-US" altLang="zh-CN" sz="2000" b="1">
                <a:solidFill>
                  <a:srgbClr val="32B828"/>
                </a:solidFill>
                <a:ea typeface="文鼎细圆" pitchFamily="49" charset="-122"/>
              </a:endParaRPr>
            </a:p>
          </p:txBody>
        </p:sp>
        <p:sp>
          <p:nvSpPr>
            <p:cNvPr id="398379" name="Line 101">
              <a:extLst>
                <a:ext uri="{FF2B5EF4-FFF2-40B4-BE49-F238E27FC236}">
                  <a16:creationId xmlns:a16="http://schemas.microsoft.com/office/drawing/2014/main" id="{8DE3F4F4-D46E-4211-8492-09A03BBB77A0}"/>
                </a:ext>
              </a:extLst>
            </p:cNvPr>
            <p:cNvSpPr>
              <a:spLocks noChangeShapeType="1"/>
            </p:cNvSpPr>
            <p:nvPr/>
          </p:nvSpPr>
          <p:spPr bwMode="auto">
            <a:xfrm flipH="1">
              <a:off x="1920" y="816"/>
              <a:ext cx="336"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80" name="Rectangle 102">
              <a:extLst>
                <a:ext uri="{FF2B5EF4-FFF2-40B4-BE49-F238E27FC236}">
                  <a16:creationId xmlns:a16="http://schemas.microsoft.com/office/drawing/2014/main" id="{A7F0A664-E10B-4ECE-982B-463895B2E4E1}"/>
                </a:ext>
              </a:extLst>
            </p:cNvPr>
            <p:cNvSpPr>
              <a:spLocks noChangeArrowheads="1"/>
            </p:cNvSpPr>
            <p:nvPr/>
          </p:nvSpPr>
          <p:spPr bwMode="auto">
            <a:xfrm>
              <a:off x="2256" y="3888"/>
              <a:ext cx="528"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solidFill>
                    <a:srgbClr val="32B828"/>
                  </a:solidFill>
                  <a:ea typeface="黑体" panose="02010609060101010101" pitchFamily="49" charset="-122"/>
                </a:rPr>
                <a:t>end</a:t>
              </a:r>
              <a:endParaRPr lang="en-US" altLang="zh-CN" sz="2000" b="1">
                <a:solidFill>
                  <a:srgbClr val="32B828"/>
                </a:solidFill>
                <a:ea typeface="文鼎细圆" pitchFamily="49" charset="-122"/>
              </a:endParaRPr>
            </a:p>
          </p:txBody>
        </p:sp>
        <p:sp>
          <p:nvSpPr>
            <p:cNvPr id="398381" name="Line 103">
              <a:extLst>
                <a:ext uri="{FF2B5EF4-FFF2-40B4-BE49-F238E27FC236}">
                  <a16:creationId xmlns:a16="http://schemas.microsoft.com/office/drawing/2014/main" id="{1D6B25AA-AC23-40B7-8185-484B6AAB3D52}"/>
                </a:ext>
              </a:extLst>
            </p:cNvPr>
            <p:cNvSpPr>
              <a:spLocks noChangeShapeType="1"/>
            </p:cNvSpPr>
            <p:nvPr/>
          </p:nvSpPr>
          <p:spPr bwMode="auto">
            <a:xfrm flipH="1">
              <a:off x="1920" y="4032"/>
              <a:ext cx="336"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6" name="TextBox 7">
            <a:extLst>
              <a:ext uri="{FF2B5EF4-FFF2-40B4-BE49-F238E27FC236}">
                <a16:creationId xmlns:a16="http://schemas.microsoft.com/office/drawing/2014/main" id="{B43DE6B8-693C-4A22-BE91-65AC33194A78}"/>
              </a:ext>
            </a:extLst>
          </p:cNvPr>
          <p:cNvSpPr>
            <a:spLocks noChangeArrowheads="1"/>
          </p:cNvSpPr>
          <p:nvPr/>
        </p:nvSpPr>
        <p:spPr bwMode="auto">
          <a:xfrm>
            <a:off x="803275" y="1558411"/>
            <a:ext cx="10255494" cy="4801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marL="228600" indent="-228600">
              <a:lnSpc>
                <a:spcPct val="90000"/>
              </a:lnSpc>
              <a:spcBef>
                <a:spcPts val="1000"/>
              </a:spcBef>
            </a:pPr>
            <a:r>
              <a:rPr lang="en-US" altLang="zh-CN" sz="2800" dirty="0">
                <a:latin typeface="+mn-lt"/>
                <a:cs typeface="+mn-cs"/>
              </a:rPr>
              <a:t>PAD</a:t>
            </a:r>
            <a:r>
              <a:rPr lang="zh-CN" altLang="en-US" sz="2800" dirty="0">
                <a:latin typeface="+mn-lt"/>
                <a:cs typeface="+mn-cs"/>
              </a:rPr>
              <a:t>图</a:t>
            </a:r>
            <a:endParaRPr lang="en-US" altLang="zh-CN" sz="2800" dirty="0">
              <a:latin typeface="+mn-lt"/>
              <a:cs typeface="+mn-cs"/>
            </a:endParaRPr>
          </a:p>
        </p:txBody>
      </p:sp>
      <p:sp>
        <p:nvSpPr>
          <p:cNvPr id="57" name="标题 1">
            <a:extLst>
              <a:ext uri="{FF2B5EF4-FFF2-40B4-BE49-F238E27FC236}">
                <a16:creationId xmlns:a16="http://schemas.microsoft.com/office/drawing/2014/main" id="{B2D8C10E-1B40-43D1-B970-3685198D6F20}"/>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a:t>设计</a:t>
            </a:r>
            <a:endParaRPr lang="zh-CN" altLang="en-US" dirty="0"/>
          </a:p>
        </p:txBody>
      </p:sp>
    </p:spTree>
    <p:extLst>
      <p:ext uri="{BB962C8B-B14F-4D97-AF65-F5344CB8AC3E}">
        <p14:creationId xmlns:p14="http://schemas.microsoft.com/office/powerpoint/2010/main" val="236443219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设计</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normAutofit/>
          </a:bodyPr>
          <a:lstStyle/>
          <a:p>
            <a:r>
              <a:rPr lang="zh-CN" altLang="en-US" b="1" dirty="0"/>
              <a:t>面向对象：</a:t>
            </a:r>
            <a:endParaRPr lang="en-US" altLang="zh-CN" b="1" dirty="0"/>
          </a:p>
          <a:p>
            <a:r>
              <a:rPr lang="zh-CN" altLang="en-US" dirty="0"/>
              <a:t>设计类图（</a:t>
            </a:r>
            <a:r>
              <a:rPr lang="en-US" altLang="zh-CN" dirty="0"/>
              <a:t>Design Class Diagram</a:t>
            </a:r>
            <a:r>
              <a:rPr lang="zh-CN" altLang="en-US" dirty="0"/>
              <a:t>）</a:t>
            </a:r>
            <a:endParaRPr lang="en-US" altLang="zh-CN" dirty="0"/>
          </a:p>
          <a:p>
            <a:r>
              <a:rPr lang="zh-CN" altLang="en-US" dirty="0"/>
              <a:t>顺序图（</a:t>
            </a:r>
            <a:r>
              <a:rPr lang="en-US" altLang="zh-CN" dirty="0"/>
              <a:t>Sequence Diagram</a:t>
            </a:r>
            <a:r>
              <a:rPr lang="zh-CN" altLang="en-US" dirty="0"/>
              <a:t>）</a:t>
            </a:r>
            <a:endParaRPr lang="en-US" altLang="zh-CN" dirty="0"/>
          </a:p>
          <a:p>
            <a:r>
              <a:rPr lang="zh-CN" altLang="en-US" dirty="0"/>
              <a:t>协作图（</a:t>
            </a:r>
            <a:r>
              <a:rPr lang="en-US" altLang="zh-CN" dirty="0"/>
              <a:t>Communication Diagram</a:t>
            </a:r>
            <a:r>
              <a:rPr lang="zh-CN" altLang="en-US" dirty="0"/>
              <a:t>）</a:t>
            </a:r>
            <a:endParaRPr lang="en-US" altLang="zh-CN" dirty="0"/>
          </a:p>
          <a:p>
            <a:r>
              <a:rPr lang="zh-CN" altLang="en-US" dirty="0"/>
              <a:t>包图（</a:t>
            </a:r>
            <a:r>
              <a:rPr lang="en-US" altLang="zh-CN" dirty="0"/>
              <a:t>Package Diagram</a:t>
            </a:r>
            <a:r>
              <a:rPr lang="zh-CN" altLang="en-US" dirty="0"/>
              <a:t>）</a:t>
            </a:r>
            <a:endParaRPr lang="en-US" altLang="zh-CN" dirty="0"/>
          </a:p>
          <a:p>
            <a:endParaRPr lang="en-US" altLang="zh-CN" dirty="0"/>
          </a:p>
        </p:txBody>
      </p:sp>
    </p:spTree>
    <p:extLst>
      <p:ext uri="{BB962C8B-B14F-4D97-AF65-F5344CB8AC3E}">
        <p14:creationId xmlns:p14="http://schemas.microsoft.com/office/powerpoint/2010/main" val="180796213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设计</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a:xfrm>
            <a:off x="838200" y="1639969"/>
            <a:ext cx="6057900" cy="4351338"/>
          </a:xfrm>
        </p:spPr>
        <p:txBody>
          <a:bodyPr/>
          <a:lstStyle/>
          <a:p>
            <a:r>
              <a:rPr lang="zh-CN" altLang="en-US" dirty="0"/>
              <a:t>设计类图（</a:t>
            </a:r>
            <a:r>
              <a:rPr lang="en-US" altLang="zh-CN" dirty="0"/>
              <a:t>Design Class Diagram</a:t>
            </a:r>
            <a:r>
              <a:rPr lang="zh-CN" altLang="en-US" dirty="0"/>
              <a:t>）</a:t>
            </a:r>
            <a:endParaRPr lang="en-US" altLang="zh-CN" dirty="0"/>
          </a:p>
          <a:p>
            <a:pPr lvl="1"/>
            <a:r>
              <a:rPr lang="zh-CN" altLang="en-US" dirty="0">
                <a:solidFill>
                  <a:srgbClr val="C00000"/>
                </a:solidFill>
              </a:rPr>
              <a:t>箭头：导航可见性</a:t>
            </a:r>
            <a:endParaRPr lang="en-US" altLang="zh-CN" dirty="0">
              <a:solidFill>
                <a:srgbClr val="C00000"/>
              </a:solidFill>
            </a:endParaRPr>
          </a:p>
          <a:p>
            <a:pPr lvl="1"/>
            <a:r>
              <a:rPr lang="zh-CN" altLang="en-US" dirty="0">
                <a:solidFill>
                  <a:srgbClr val="C00000"/>
                </a:solidFill>
              </a:rPr>
              <a:t>属性 </a:t>
            </a:r>
            <a:r>
              <a:rPr lang="en-US" altLang="zh-CN" dirty="0">
                <a:solidFill>
                  <a:srgbClr val="C00000"/>
                </a:solidFill>
              </a:rPr>
              <a:t>+ </a:t>
            </a:r>
            <a:r>
              <a:rPr lang="zh-CN" altLang="en-US" dirty="0">
                <a:solidFill>
                  <a:srgbClr val="C00000"/>
                </a:solidFill>
              </a:rPr>
              <a:t>方法：</a:t>
            </a:r>
            <a:endParaRPr lang="en-US" altLang="zh-CN" dirty="0">
              <a:solidFill>
                <a:srgbClr val="C00000"/>
              </a:solidFill>
            </a:endParaRPr>
          </a:p>
          <a:p>
            <a:pPr lvl="2"/>
            <a:r>
              <a:rPr lang="zh-CN" altLang="en-US" dirty="0">
                <a:solidFill>
                  <a:srgbClr val="C00000"/>
                </a:solidFill>
              </a:rPr>
              <a:t>“</a:t>
            </a:r>
            <a:r>
              <a:rPr lang="en-US" altLang="zh-CN" dirty="0">
                <a:solidFill>
                  <a:srgbClr val="C00000"/>
                </a:solidFill>
              </a:rPr>
              <a:t>+</a:t>
            </a:r>
            <a:r>
              <a:rPr lang="zh-CN" altLang="en-US" dirty="0">
                <a:solidFill>
                  <a:srgbClr val="C00000"/>
                </a:solidFill>
              </a:rPr>
              <a:t>”：</a:t>
            </a:r>
            <a:r>
              <a:rPr lang="en-US" altLang="zh-CN" dirty="0">
                <a:solidFill>
                  <a:srgbClr val="C00000"/>
                </a:solidFill>
              </a:rPr>
              <a:t>public</a:t>
            </a:r>
          </a:p>
          <a:p>
            <a:pPr lvl="2"/>
            <a:r>
              <a:rPr lang="zh-CN" altLang="en-US" dirty="0">
                <a:solidFill>
                  <a:srgbClr val="C00000"/>
                </a:solidFill>
              </a:rPr>
              <a:t>“</a:t>
            </a:r>
            <a:r>
              <a:rPr lang="en-US" altLang="zh-CN" dirty="0">
                <a:solidFill>
                  <a:srgbClr val="C00000"/>
                </a:solidFill>
              </a:rPr>
              <a:t>-</a:t>
            </a:r>
            <a:r>
              <a:rPr lang="zh-CN" altLang="en-US" dirty="0">
                <a:solidFill>
                  <a:srgbClr val="C00000"/>
                </a:solidFill>
              </a:rPr>
              <a:t>”：</a:t>
            </a:r>
            <a:r>
              <a:rPr lang="en-US" altLang="zh-CN" dirty="0">
                <a:solidFill>
                  <a:srgbClr val="C00000"/>
                </a:solidFill>
              </a:rPr>
              <a:t>private</a:t>
            </a:r>
          </a:p>
          <a:p>
            <a:pPr lvl="1"/>
            <a:r>
              <a:rPr lang="zh-CN" altLang="en-US" dirty="0">
                <a:solidFill>
                  <a:srgbClr val="C00000"/>
                </a:solidFill>
              </a:rPr>
              <a:t>类的类型：实体类、视图类、控制器类、数据访问类</a:t>
            </a:r>
            <a:endParaRPr lang="en-US" altLang="zh-CN" dirty="0">
              <a:solidFill>
                <a:srgbClr val="C00000"/>
              </a:solidFill>
            </a:endParaRPr>
          </a:p>
          <a:p>
            <a:pPr lvl="2"/>
            <a:endParaRPr lang="en-US" altLang="zh-CN" dirty="0">
              <a:solidFill>
                <a:srgbClr val="C00000"/>
              </a:solidFill>
            </a:endParaRPr>
          </a:p>
        </p:txBody>
      </p:sp>
      <p:pic>
        <p:nvPicPr>
          <p:cNvPr id="5" name="Picture 10">
            <a:extLst>
              <a:ext uri="{FF2B5EF4-FFF2-40B4-BE49-F238E27FC236}">
                <a16:creationId xmlns:a16="http://schemas.microsoft.com/office/drawing/2014/main" id="{45D6D724-7031-4522-8749-2C2EDD261E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7249" y="589125"/>
            <a:ext cx="4351338"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a:extLst>
              <a:ext uri="{FF2B5EF4-FFF2-40B4-BE49-F238E27FC236}">
                <a16:creationId xmlns:a16="http://schemas.microsoft.com/office/drawing/2014/main" id="{F6F492E6-E2C8-4FF8-8442-33B91E6A06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6390" y="4313526"/>
            <a:ext cx="5453787" cy="2523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0A482071-C893-45D2-891C-611E1D4AFED2}"/>
              </a:ext>
            </a:extLst>
          </p:cNvPr>
          <p:cNvSpPr txBox="1"/>
          <p:nvPr/>
        </p:nvSpPr>
        <p:spPr>
          <a:xfrm>
            <a:off x="4675739" y="4571700"/>
            <a:ext cx="1715376" cy="646331"/>
          </a:xfrm>
          <a:prstGeom prst="rect">
            <a:avLst/>
          </a:prstGeom>
          <a:noFill/>
        </p:spPr>
        <p:txBody>
          <a:bodyPr wrap="square">
            <a:spAutoFit/>
          </a:bodyPr>
          <a:lstStyle/>
          <a:p>
            <a:r>
              <a:rPr lang="zh-CN" altLang="en-US" dirty="0"/>
              <a:t>模型名</a:t>
            </a:r>
            <a:endParaRPr lang="en-US" altLang="zh-CN" dirty="0"/>
          </a:p>
          <a:p>
            <a:r>
              <a:rPr lang="zh-CN" altLang="en-US" dirty="0"/>
              <a:t>类名：父类名</a:t>
            </a:r>
            <a:endParaRPr lang="en-US" altLang="zh-CN" dirty="0"/>
          </a:p>
        </p:txBody>
      </p:sp>
      <p:sp>
        <p:nvSpPr>
          <p:cNvPr id="8" name="文本框 7">
            <a:extLst>
              <a:ext uri="{FF2B5EF4-FFF2-40B4-BE49-F238E27FC236}">
                <a16:creationId xmlns:a16="http://schemas.microsoft.com/office/drawing/2014/main" id="{2B01B3DD-0FC2-4BBC-A4BD-CE0835DBD3CA}"/>
              </a:ext>
            </a:extLst>
          </p:cNvPr>
          <p:cNvSpPr txBox="1"/>
          <p:nvPr/>
        </p:nvSpPr>
        <p:spPr>
          <a:xfrm>
            <a:off x="5399179" y="5300281"/>
            <a:ext cx="1732309" cy="369332"/>
          </a:xfrm>
          <a:prstGeom prst="rect">
            <a:avLst/>
          </a:prstGeom>
          <a:noFill/>
        </p:spPr>
        <p:txBody>
          <a:bodyPr wrap="square">
            <a:spAutoFit/>
          </a:bodyPr>
          <a:lstStyle/>
          <a:p>
            <a:r>
              <a:rPr lang="zh-CN" altLang="en-US" dirty="0"/>
              <a:t>属性列表</a:t>
            </a:r>
            <a:endParaRPr lang="en-US" altLang="zh-CN" dirty="0"/>
          </a:p>
        </p:txBody>
      </p:sp>
      <p:sp>
        <p:nvSpPr>
          <p:cNvPr id="9" name="文本框 8">
            <a:extLst>
              <a:ext uri="{FF2B5EF4-FFF2-40B4-BE49-F238E27FC236}">
                <a16:creationId xmlns:a16="http://schemas.microsoft.com/office/drawing/2014/main" id="{F2F69F3B-1711-4EDC-B6FC-7E4A68ADE23B}"/>
              </a:ext>
            </a:extLst>
          </p:cNvPr>
          <p:cNvSpPr txBox="1"/>
          <p:nvPr/>
        </p:nvSpPr>
        <p:spPr>
          <a:xfrm>
            <a:off x="5314326" y="5991307"/>
            <a:ext cx="1732309" cy="369332"/>
          </a:xfrm>
          <a:prstGeom prst="rect">
            <a:avLst/>
          </a:prstGeom>
          <a:noFill/>
        </p:spPr>
        <p:txBody>
          <a:bodyPr wrap="square">
            <a:spAutoFit/>
          </a:bodyPr>
          <a:lstStyle/>
          <a:p>
            <a:r>
              <a:rPr lang="zh-CN" altLang="en-US" dirty="0"/>
              <a:t>方法列表</a:t>
            </a:r>
            <a:endParaRPr lang="en-US" altLang="zh-CN" dirty="0"/>
          </a:p>
        </p:txBody>
      </p:sp>
    </p:spTree>
    <p:extLst>
      <p:ext uri="{BB962C8B-B14F-4D97-AF65-F5344CB8AC3E}">
        <p14:creationId xmlns:p14="http://schemas.microsoft.com/office/powerpoint/2010/main" val="119713722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B791F8-EFE5-4B03-BF9A-FF55D6040F58}"/>
              </a:ext>
            </a:extLst>
          </p:cNvPr>
          <p:cNvSpPr>
            <a:spLocks noGrp="1"/>
          </p:cNvSpPr>
          <p:nvPr>
            <p:ph type="title"/>
          </p:nvPr>
        </p:nvSpPr>
        <p:spPr/>
        <p:txBody>
          <a:bodyPr/>
          <a:lstStyle/>
          <a:p>
            <a:r>
              <a:rPr lang="zh-CN" altLang="en-US" dirty="0"/>
              <a:t>设计</a:t>
            </a:r>
            <a:r>
              <a:rPr lang="en-US" altLang="zh-CN" dirty="0"/>
              <a:t>-</a:t>
            </a:r>
            <a:r>
              <a:rPr lang="zh-CN" altLang="en-US" dirty="0"/>
              <a:t>其他知识点</a:t>
            </a:r>
          </a:p>
        </p:txBody>
      </p:sp>
      <p:sp>
        <p:nvSpPr>
          <p:cNvPr id="5" name="内容占位符 2">
            <a:extLst>
              <a:ext uri="{FF2B5EF4-FFF2-40B4-BE49-F238E27FC236}">
                <a16:creationId xmlns:a16="http://schemas.microsoft.com/office/drawing/2014/main" id="{4396239A-0820-4CBF-B9EF-11C5F89D9DCE}"/>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设计类图：</a:t>
            </a:r>
            <a:r>
              <a:rPr lang="zh-CN" altLang="en-US" b="1" dirty="0">
                <a:solidFill>
                  <a:srgbClr val="C00000"/>
                </a:solidFill>
              </a:rPr>
              <a:t>请根据图写出对应的类的代码</a:t>
            </a:r>
            <a:endParaRPr lang="en-US" altLang="zh-CN" b="1" dirty="0">
              <a:solidFill>
                <a:srgbClr val="C00000"/>
              </a:solidFill>
            </a:endParaRPr>
          </a:p>
          <a:p>
            <a:endParaRPr lang="zh-CN" altLang="en-US" dirty="0"/>
          </a:p>
        </p:txBody>
      </p:sp>
      <p:sp>
        <p:nvSpPr>
          <p:cNvPr id="14" name="Rectangle 2">
            <a:extLst>
              <a:ext uri="{FF2B5EF4-FFF2-40B4-BE49-F238E27FC236}">
                <a16:creationId xmlns:a16="http://schemas.microsoft.com/office/drawing/2014/main" id="{7C528E3F-4A93-4F2B-8CEE-38F20219B1FC}"/>
              </a:ext>
            </a:extLst>
          </p:cNvPr>
          <p:cNvSpPr txBox="1">
            <a:spLocks noChangeArrowheads="1"/>
          </p:cNvSpPr>
          <p:nvPr/>
        </p:nvSpPr>
        <p:spPr>
          <a:xfrm>
            <a:off x="1045195" y="2530074"/>
            <a:ext cx="2514600" cy="2286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a:ea typeface="宋体" panose="02010600030101010101" pitchFamily="2" charset="-122"/>
              </a:rPr>
              <a:t>Write the Code for the Design Class to Implement</a:t>
            </a:r>
          </a:p>
        </p:txBody>
      </p:sp>
      <p:pic>
        <p:nvPicPr>
          <p:cNvPr id="16" name="Picture 5">
            <a:extLst>
              <a:ext uri="{FF2B5EF4-FFF2-40B4-BE49-F238E27FC236}">
                <a16:creationId xmlns:a16="http://schemas.microsoft.com/office/drawing/2014/main" id="{4F88FC14-11B8-4AA0-99A2-87C091C7346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885" r="25019"/>
          <a:stretch/>
        </p:blipFill>
        <p:spPr bwMode="auto">
          <a:xfrm>
            <a:off x="1136744" y="2256805"/>
            <a:ext cx="3224738" cy="4526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矩形 16">
            <a:extLst>
              <a:ext uri="{FF2B5EF4-FFF2-40B4-BE49-F238E27FC236}">
                <a16:creationId xmlns:a16="http://schemas.microsoft.com/office/drawing/2014/main" id="{16DAEB44-71FE-4C75-96A9-90C9D408D79B}"/>
              </a:ext>
            </a:extLst>
          </p:cNvPr>
          <p:cNvSpPr/>
          <p:nvPr/>
        </p:nvSpPr>
        <p:spPr>
          <a:xfrm>
            <a:off x="1183637" y="3245817"/>
            <a:ext cx="3172411" cy="151937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517C02BA-2537-45D6-855F-F4A50F075259}"/>
              </a:ext>
            </a:extLst>
          </p:cNvPr>
          <p:cNvSpPr/>
          <p:nvPr/>
        </p:nvSpPr>
        <p:spPr>
          <a:xfrm>
            <a:off x="1189071" y="4718442"/>
            <a:ext cx="3172411" cy="23256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1" name="Picture 6">
            <a:extLst>
              <a:ext uri="{FF2B5EF4-FFF2-40B4-BE49-F238E27FC236}">
                <a16:creationId xmlns:a16="http://schemas.microsoft.com/office/drawing/2014/main" id="{F32D3463-B635-41EB-84D8-3C6974323F5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1842"/>
          <a:stretch/>
        </p:blipFill>
        <p:spPr bwMode="auto">
          <a:xfrm>
            <a:off x="4613457" y="2256805"/>
            <a:ext cx="6457740" cy="4526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6391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17"/>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9" grpId="0"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设计</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a:xfrm>
            <a:off x="838200" y="1825625"/>
            <a:ext cx="5206471" cy="4351338"/>
          </a:xfrm>
        </p:spPr>
        <p:txBody>
          <a:bodyPr/>
          <a:lstStyle/>
          <a:p>
            <a:r>
              <a:rPr lang="zh-CN" altLang="en-US" dirty="0"/>
              <a:t>顺序图（</a:t>
            </a:r>
            <a:r>
              <a:rPr lang="en-US" altLang="zh-CN" dirty="0"/>
              <a:t>Sequence Diagram</a:t>
            </a:r>
            <a:r>
              <a:rPr lang="zh-CN" altLang="en-US" dirty="0"/>
              <a:t>）</a:t>
            </a:r>
            <a:endParaRPr lang="en-US" altLang="zh-CN" dirty="0"/>
          </a:p>
          <a:p>
            <a:pPr lvl="1"/>
            <a:r>
              <a:rPr lang="zh-CN" altLang="en-US" dirty="0"/>
              <a:t>将系统顺序图拆分成具体的类</a:t>
            </a:r>
            <a:r>
              <a:rPr lang="en-US" altLang="zh-CN" dirty="0"/>
              <a:t>/</a:t>
            </a:r>
            <a:r>
              <a:rPr lang="zh-CN" altLang="en-US" dirty="0"/>
              <a:t>对象</a:t>
            </a:r>
            <a:endParaRPr lang="en-US" altLang="zh-CN" dirty="0"/>
          </a:p>
          <a:p>
            <a:pPr lvl="1"/>
            <a:r>
              <a:rPr lang="zh-CN" altLang="en-US" dirty="0"/>
              <a:t>命名：</a:t>
            </a:r>
            <a:endParaRPr lang="en-US" altLang="zh-CN" dirty="0"/>
          </a:p>
          <a:p>
            <a:pPr lvl="2"/>
            <a:r>
              <a:rPr lang="zh-CN" altLang="en-US" u="sng" dirty="0"/>
              <a:t>：类名</a:t>
            </a:r>
            <a:endParaRPr lang="en-US" altLang="zh-CN" u="sng" dirty="0"/>
          </a:p>
          <a:p>
            <a:pPr lvl="2"/>
            <a:r>
              <a:rPr lang="zh-CN" altLang="en-US" u="sng" dirty="0"/>
              <a:t>对象名：类名</a:t>
            </a:r>
            <a:endParaRPr lang="en-US" altLang="zh-CN" u="sng" dirty="0"/>
          </a:p>
          <a:p>
            <a:pPr lvl="1"/>
            <a:r>
              <a:rPr lang="zh-CN" altLang="en-US" dirty="0"/>
              <a:t>箭头：</a:t>
            </a:r>
            <a:endParaRPr lang="en-US" altLang="zh-CN" dirty="0"/>
          </a:p>
          <a:p>
            <a:pPr lvl="2"/>
            <a:r>
              <a:rPr lang="zh-CN" altLang="en-US" dirty="0"/>
              <a:t>一个方向为</a:t>
            </a:r>
            <a:r>
              <a:rPr lang="en-US" altLang="zh-CN" dirty="0"/>
              <a:t>Method</a:t>
            </a:r>
            <a:r>
              <a:rPr lang="zh-CN" altLang="en-US" dirty="0"/>
              <a:t>（</a:t>
            </a:r>
            <a:r>
              <a:rPr lang="en-US" altLang="zh-CN" dirty="0"/>
              <a:t>Parameter</a:t>
            </a:r>
            <a:r>
              <a:rPr lang="zh-CN" altLang="en-US" dirty="0"/>
              <a:t>），一个方向为返回值</a:t>
            </a:r>
            <a:endParaRPr lang="en-US" altLang="zh-CN" dirty="0"/>
          </a:p>
          <a:p>
            <a:pPr lvl="1"/>
            <a:r>
              <a:rPr lang="zh-CN" altLang="en-US" dirty="0"/>
              <a:t>垂直虚线：生命线</a:t>
            </a:r>
            <a:endParaRPr lang="en-US" altLang="zh-CN" dirty="0"/>
          </a:p>
          <a:p>
            <a:pPr lvl="1"/>
            <a:r>
              <a:rPr lang="zh-CN" altLang="en-US" dirty="0"/>
              <a:t>白色竖直方框：</a:t>
            </a:r>
            <a:r>
              <a:rPr lang="en-US" altLang="zh-CN" dirty="0"/>
              <a:t>Use Case</a:t>
            </a:r>
            <a:r>
              <a:rPr lang="zh-CN" altLang="en-US" dirty="0"/>
              <a:t>生命线</a:t>
            </a:r>
            <a:endParaRPr lang="en-US" altLang="zh-CN" dirty="0"/>
          </a:p>
          <a:p>
            <a:pPr lvl="1"/>
            <a:endParaRPr lang="en-US" altLang="zh-CN" dirty="0"/>
          </a:p>
        </p:txBody>
      </p:sp>
      <p:pic>
        <p:nvPicPr>
          <p:cNvPr id="4" name="Picture 4">
            <a:extLst>
              <a:ext uri="{FF2B5EF4-FFF2-40B4-BE49-F238E27FC236}">
                <a16:creationId xmlns:a16="http://schemas.microsoft.com/office/drawing/2014/main" id="{232A108B-1F52-4F3C-8302-C2E1E42D34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4671" y="365125"/>
            <a:ext cx="5716587"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8541260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3E6CE7A8-6DD2-4DD4-8F67-364B07B63168}"/>
              </a:ext>
            </a:extLst>
          </p:cNvPr>
          <p:cNvSpPr>
            <a:spLocks noGrp="1"/>
          </p:cNvSpPr>
          <p:nvPr>
            <p:ph type="title"/>
          </p:nvPr>
        </p:nvSpPr>
        <p:spPr/>
        <p:txBody>
          <a:bodyPr/>
          <a:lstStyle/>
          <a:p>
            <a:endParaRPr lang="zh-CN" altLang="en-US"/>
          </a:p>
        </p:txBody>
      </p:sp>
      <p:sp>
        <p:nvSpPr>
          <p:cNvPr id="10" name="文本框 9">
            <a:extLst>
              <a:ext uri="{FF2B5EF4-FFF2-40B4-BE49-F238E27FC236}">
                <a16:creationId xmlns:a16="http://schemas.microsoft.com/office/drawing/2014/main" id="{699FA924-157E-4B0C-9DF9-B1CB06D65607}"/>
              </a:ext>
            </a:extLst>
          </p:cNvPr>
          <p:cNvSpPr txBox="1"/>
          <p:nvPr/>
        </p:nvSpPr>
        <p:spPr>
          <a:xfrm>
            <a:off x="7086600" y="843756"/>
            <a:ext cx="4292600" cy="3785652"/>
          </a:xfrm>
          <a:prstGeom prst="rect">
            <a:avLst/>
          </a:prstGeom>
          <a:noFill/>
        </p:spPr>
        <p:txBody>
          <a:bodyPr wrap="square">
            <a:spAutoFit/>
          </a:bodyPr>
          <a:lstStyle/>
          <a:p>
            <a:r>
              <a:rPr lang="zh-CN" altLang="en-US" sz="2400" b="1" dirty="0">
                <a:solidFill>
                  <a:srgbClr val="2A2B2E"/>
                </a:solidFill>
                <a:latin typeface="PingFang SC"/>
              </a:rPr>
              <a:t>考虑三层架构的顺序图</a:t>
            </a:r>
            <a:r>
              <a:rPr lang="en-US" altLang="zh-CN" sz="2400" b="1" i="0" dirty="0">
                <a:solidFill>
                  <a:srgbClr val="2A2B2E"/>
                </a:solidFill>
                <a:effectLst/>
                <a:latin typeface="PingFang SC"/>
              </a:rPr>
              <a:t>:</a:t>
            </a:r>
          </a:p>
          <a:p>
            <a:endParaRPr lang="en-US" altLang="zh-CN" sz="2400" dirty="0">
              <a:solidFill>
                <a:srgbClr val="2A2B2E"/>
              </a:solidFill>
              <a:latin typeface="PingFang SC"/>
            </a:endParaRPr>
          </a:p>
          <a:p>
            <a:r>
              <a:rPr lang="en-US" altLang="zh-CN" sz="2400" b="0" i="0" dirty="0" err="1">
                <a:solidFill>
                  <a:srgbClr val="2A2B2E"/>
                </a:solidFill>
                <a:effectLst/>
                <a:latin typeface="PingFang SC"/>
              </a:rPr>
              <a:t>CartHandler</a:t>
            </a:r>
            <a:r>
              <a:rPr lang="en-US" altLang="zh-CN" sz="2400" b="0" i="0" dirty="0">
                <a:solidFill>
                  <a:srgbClr val="2A2B2E"/>
                </a:solidFill>
                <a:effectLst/>
                <a:latin typeface="PingFang SC"/>
              </a:rPr>
              <a:t> </a:t>
            </a:r>
            <a:r>
              <a:rPr lang="en-US" altLang="zh-CN" sz="2400" b="0" i="0" dirty="0" err="1">
                <a:solidFill>
                  <a:srgbClr val="2A2B2E"/>
                </a:solidFill>
                <a:effectLst/>
                <a:latin typeface="PingFang SC"/>
              </a:rPr>
              <a:t>findCustomer</a:t>
            </a:r>
            <a:r>
              <a:rPr lang="zh-CN" altLang="en-US" sz="2400" b="0" i="0" dirty="0">
                <a:solidFill>
                  <a:srgbClr val="2A2B2E"/>
                </a:solidFill>
                <a:effectLst/>
                <a:latin typeface="PingFang SC"/>
              </a:rPr>
              <a:t>发消息给</a:t>
            </a:r>
            <a:r>
              <a:rPr lang="en-US" altLang="zh-CN" sz="2400" b="0" i="0" dirty="0">
                <a:solidFill>
                  <a:srgbClr val="2A2B2E"/>
                </a:solidFill>
                <a:effectLst/>
                <a:latin typeface="PingFang SC"/>
              </a:rPr>
              <a:t>Customer</a:t>
            </a:r>
            <a:r>
              <a:rPr lang="zh-CN" altLang="en-US" sz="2400" b="0" i="0" dirty="0">
                <a:solidFill>
                  <a:srgbClr val="2A2B2E"/>
                </a:solidFill>
                <a:effectLst/>
                <a:latin typeface="PingFang SC"/>
              </a:rPr>
              <a:t>类意味着</a:t>
            </a:r>
            <a:r>
              <a:rPr lang="en-US" altLang="zh-CN" sz="2400" b="0" i="0" dirty="0">
                <a:solidFill>
                  <a:srgbClr val="2A2B2E"/>
                </a:solidFill>
                <a:effectLst/>
                <a:latin typeface="PingFang SC"/>
              </a:rPr>
              <a:t>Customer</a:t>
            </a:r>
            <a:r>
              <a:rPr lang="zh-CN" altLang="en-US" sz="2400" b="0" i="0" dirty="0">
                <a:solidFill>
                  <a:srgbClr val="2A2B2E"/>
                </a:solidFill>
                <a:effectLst/>
                <a:latin typeface="PingFang SC"/>
              </a:rPr>
              <a:t>应该创建一个名为</a:t>
            </a:r>
            <a:r>
              <a:rPr lang="en-US" altLang="zh-CN" sz="2400" b="0" i="0" dirty="0" err="1">
                <a:solidFill>
                  <a:srgbClr val="2A2B2E"/>
                </a:solidFill>
                <a:effectLst/>
                <a:latin typeface="PingFang SC"/>
              </a:rPr>
              <a:t>aC</a:t>
            </a:r>
            <a:r>
              <a:rPr lang="zh-CN" altLang="en-US" sz="2400" b="0" i="0" dirty="0">
                <a:solidFill>
                  <a:srgbClr val="2A2B2E"/>
                </a:solidFill>
                <a:effectLst/>
                <a:latin typeface="PingFang SC"/>
              </a:rPr>
              <a:t>的新实例，向</a:t>
            </a:r>
            <a:r>
              <a:rPr lang="en-US" altLang="zh-CN" sz="2400" b="0" i="0" dirty="0">
                <a:solidFill>
                  <a:srgbClr val="2A2B2E"/>
                </a:solidFill>
                <a:effectLst/>
                <a:latin typeface="PingFang SC"/>
              </a:rPr>
              <a:t>:</a:t>
            </a:r>
            <a:r>
              <a:rPr lang="en-US" altLang="zh-CN" sz="2400" b="0" i="0" dirty="0" err="1">
                <a:solidFill>
                  <a:srgbClr val="2A2B2E"/>
                </a:solidFill>
                <a:effectLst/>
                <a:latin typeface="PingFang SC"/>
              </a:rPr>
              <a:t>CustomerDA</a:t>
            </a:r>
            <a:r>
              <a:rPr lang="zh-CN" altLang="en-US" sz="2400" b="0" i="0" dirty="0">
                <a:solidFill>
                  <a:srgbClr val="2A2B2E"/>
                </a:solidFill>
                <a:effectLst/>
                <a:latin typeface="PingFang SC"/>
              </a:rPr>
              <a:t>发送消息，要求它从数据库中读取具有该账号的客户的信息，然后用数据库中的属性值填充新的客户实例。</a:t>
            </a:r>
            <a:endParaRPr lang="en-US" altLang="zh-CN" sz="2400" b="0" i="0" dirty="0">
              <a:solidFill>
                <a:srgbClr val="2A2B2E"/>
              </a:solidFill>
              <a:effectLst/>
              <a:latin typeface="PingFang SC"/>
            </a:endParaRPr>
          </a:p>
        </p:txBody>
      </p:sp>
      <p:pic>
        <p:nvPicPr>
          <p:cNvPr id="11" name="Picture 5">
            <a:extLst>
              <a:ext uri="{FF2B5EF4-FFF2-40B4-BE49-F238E27FC236}">
                <a16:creationId xmlns:a16="http://schemas.microsoft.com/office/drawing/2014/main" id="{8CC22D4E-ADD6-4AC6-8CCD-E95ECA90D0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533" y="344488"/>
            <a:ext cx="6248400" cy="614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a:extLst>
              <a:ext uri="{FF2B5EF4-FFF2-40B4-BE49-F238E27FC236}">
                <a16:creationId xmlns:a16="http://schemas.microsoft.com/office/drawing/2014/main" id="{7F876AA0-36CC-4103-9CD8-A00DED073B0A}"/>
              </a:ext>
            </a:extLst>
          </p:cNvPr>
          <p:cNvSpPr/>
          <p:nvPr/>
        </p:nvSpPr>
        <p:spPr>
          <a:xfrm>
            <a:off x="4207933" y="952500"/>
            <a:ext cx="26670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18207A78-A1F5-43C5-9A52-FF2D28F7E399}"/>
              </a:ext>
            </a:extLst>
          </p:cNvPr>
          <p:cNvSpPr/>
          <p:nvPr/>
        </p:nvSpPr>
        <p:spPr>
          <a:xfrm>
            <a:off x="2226733" y="538956"/>
            <a:ext cx="9144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053EA283-8D82-4F08-AC8A-A2CDAC9FD281}"/>
              </a:ext>
            </a:extLst>
          </p:cNvPr>
          <p:cNvSpPr/>
          <p:nvPr/>
        </p:nvSpPr>
        <p:spPr>
          <a:xfrm>
            <a:off x="3064933" y="2019300"/>
            <a:ext cx="9144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2F23C9FF-DA97-44CE-B08D-5E6E7BE65BBA}"/>
              </a:ext>
            </a:extLst>
          </p:cNvPr>
          <p:cNvSpPr/>
          <p:nvPr/>
        </p:nvSpPr>
        <p:spPr>
          <a:xfrm>
            <a:off x="3903133" y="2641520"/>
            <a:ext cx="914400"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p>
        </p:txBody>
      </p:sp>
    </p:spTree>
    <p:extLst>
      <p:ext uri="{BB962C8B-B14F-4D97-AF65-F5344CB8AC3E}">
        <p14:creationId xmlns:p14="http://schemas.microsoft.com/office/powerpoint/2010/main" val="3272408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设计</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a:xfrm>
            <a:off x="838199" y="1825625"/>
            <a:ext cx="10769601" cy="4351338"/>
          </a:xfrm>
        </p:spPr>
        <p:txBody>
          <a:bodyPr/>
          <a:lstStyle/>
          <a:p>
            <a:r>
              <a:rPr lang="zh-CN" altLang="en-US" dirty="0"/>
              <a:t>协作图（</a:t>
            </a:r>
            <a:r>
              <a:rPr lang="en-US" altLang="zh-CN" dirty="0"/>
              <a:t> Communication Diagram </a:t>
            </a:r>
            <a:r>
              <a:rPr lang="zh-CN" altLang="en-US" dirty="0"/>
              <a:t>）</a:t>
            </a:r>
            <a:endParaRPr lang="en-US" altLang="zh-CN" dirty="0"/>
          </a:p>
          <a:p>
            <a:pPr lvl="1"/>
            <a:r>
              <a:rPr lang="zh-CN" altLang="en-US" dirty="0"/>
              <a:t>与顺序图表示的内容是一致的</a:t>
            </a:r>
            <a:endParaRPr lang="en-US" altLang="zh-CN" dirty="0"/>
          </a:p>
          <a:p>
            <a:pPr lvl="1"/>
            <a:r>
              <a:rPr lang="zh-CN" altLang="en-US" dirty="0"/>
              <a:t>用标号表示顺序</a:t>
            </a:r>
            <a:endParaRPr lang="en-US" altLang="zh-CN" dirty="0"/>
          </a:p>
          <a:p>
            <a:pPr lvl="1"/>
            <a:r>
              <a:rPr lang="zh-CN" altLang="en-US" dirty="0"/>
              <a:t>语法：</a:t>
            </a:r>
            <a:r>
              <a:rPr lang="en-US" altLang="zh-CN" sz="1800" dirty="0">
                <a:solidFill>
                  <a:srgbClr val="C00000"/>
                </a:solidFill>
                <a:ea typeface="宋体" panose="02010600030101010101" pitchFamily="2" charset="-122"/>
              </a:rPr>
              <a:t>[true/false</a:t>
            </a: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condition]sequence-number: return-value :=message-name(parameter-list</a:t>
            </a:r>
            <a:r>
              <a:rPr lang="en-US" altLang="zh-CN" sz="2800" dirty="0">
                <a:solidFill>
                  <a:srgbClr val="C00000"/>
                </a:solidFill>
                <a:ea typeface="宋体" panose="02010600030101010101" pitchFamily="2" charset="-122"/>
              </a:rPr>
              <a:t>)</a:t>
            </a:r>
          </a:p>
          <a:p>
            <a:pPr lvl="1"/>
            <a:endParaRPr lang="en-US" altLang="zh-CN" sz="3200" dirty="0"/>
          </a:p>
          <a:p>
            <a:pPr lvl="1"/>
            <a:endParaRPr lang="en-US" altLang="zh-CN" dirty="0"/>
          </a:p>
        </p:txBody>
      </p:sp>
      <p:pic>
        <p:nvPicPr>
          <p:cNvPr id="6" name="Picture 5">
            <a:extLst>
              <a:ext uri="{FF2B5EF4-FFF2-40B4-BE49-F238E27FC236}">
                <a16:creationId xmlns:a16="http://schemas.microsoft.com/office/drawing/2014/main" id="{F43A8308-56CC-423E-B4B1-12A0701972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4637" y="3624527"/>
            <a:ext cx="8763000" cy="306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452795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设计</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a:xfrm>
            <a:off x="838200" y="1825625"/>
            <a:ext cx="5317067" cy="4351338"/>
          </a:xfrm>
        </p:spPr>
        <p:txBody>
          <a:bodyPr/>
          <a:lstStyle/>
          <a:p>
            <a:r>
              <a:rPr lang="zh-CN" altLang="en-US" dirty="0"/>
              <a:t>包图（</a:t>
            </a:r>
            <a:r>
              <a:rPr lang="en-US" altLang="zh-CN" dirty="0"/>
              <a:t>Package Diagram</a:t>
            </a:r>
            <a:r>
              <a:rPr lang="zh-CN" altLang="en-US" dirty="0"/>
              <a:t>）</a:t>
            </a:r>
            <a:endParaRPr lang="en-US" altLang="zh-CN" dirty="0"/>
          </a:p>
          <a:p>
            <a:pPr lvl="1"/>
            <a:r>
              <a:rPr lang="zh-CN" altLang="en-US" dirty="0"/>
              <a:t>分为</a:t>
            </a:r>
            <a:r>
              <a:rPr lang="en-US" altLang="zh-CN" dirty="0"/>
              <a:t>View Layer, Domain Layer</a:t>
            </a:r>
            <a:r>
              <a:rPr lang="zh-CN" altLang="en-US" dirty="0"/>
              <a:t>和</a:t>
            </a:r>
            <a:r>
              <a:rPr lang="en-US" altLang="zh-CN" dirty="0"/>
              <a:t>Data Access Layer</a:t>
            </a:r>
          </a:p>
          <a:p>
            <a:pPr lvl="1"/>
            <a:r>
              <a:rPr lang="zh-CN" altLang="en-US" dirty="0"/>
              <a:t>箭头：依赖关系</a:t>
            </a:r>
            <a:endParaRPr lang="en-US" altLang="zh-CN" dirty="0"/>
          </a:p>
        </p:txBody>
      </p:sp>
      <p:pic>
        <p:nvPicPr>
          <p:cNvPr id="7" name="Picture 4">
            <a:extLst>
              <a:ext uri="{FF2B5EF4-FFF2-40B4-BE49-F238E27FC236}">
                <a16:creationId xmlns:a16="http://schemas.microsoft.com/office/drawing/2014/main" id="{8AF97C24-3786-4053-AFF4-7010C18FA3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1967" y="249767"/>
            <a:ext cx="5116513"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2246243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】1.	</a:t>
            </a:r>
            <a:r>
              <a:rPr lang="zh-CN" altLang="en-US" sz="2800" dirty="0"/>
              <a:t>软件设计中划分模块的一个准则是（      ）。</a:t>
            </a:r>
            <a:br>
              <a:rPr lang="zh-CN" altLang="en-US" sz="2800" dirty="0"/>
            </a:br>
            <a:r>
              <a:rPr lang="en-US" altLang="zh-CN" sz="2800" dirty="0"/>
              <a:t>A</a:t>
            </a:r>
            <a:r>
              <a:rPr lang="zh-CN" altLang="en-US" sz="2800" dirty="0"/>
              <a:t>、	低内聚低耦合</a:t>
            </a:r>
            <a:br>
              <a:rPr lang="zh-CN" altLang="en-US" sz="2800" dirty="0"/>
            </a:br>
            <a:r>
              <a:rPr lang="en-US" altLang="zh-CN" sz="2800" dirty="0"/>
              <a:t>B</a:t>
            </a:r>
            <a:r>
              <a:rPr lang="zh-CN" altLang="en-US" sz="2800" dirty="0"/>
              <a:t>、	低内聚高耦合</a:t>
            </a:r>
            <a:br>
              <a:rPr lang="zh-CN" altLang="en-US" sz="2800" dirty="0"/>
            </a:br>
            <a:r>
              <a:rPr lang="en-US" altLang="zh-CN" sz="2800" dirty="0"/>
              <a:t>C</a:t>
            </a:r>
            <a:r>
              <a:rPr lang="zh-CN" altLang="en-US" sz="2800" dirty="0"/>
              <a:t>、	高内聚低耦合</a:t>
            </a:r>
            <a:br>
              <a:rPr lang="zh-CN" altLang="en-US" sz="2800" dirty="0"/>
            </a:br>
            <a:r>
              <a:rPr lang="en-US" altLang="zh-CN" sz="2800" dirty="0"/>
              <a:t>D</a:t>
            </a:r>
            <a:r>
              <a:rPr lang="zh-CN" altLang="en-US" sz="2800" dirty="0"/>
              <a:t>、	高内聚高耦合</a:t>
            </a: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 C </a:t>
            </a:r>
          </a:p>
        </p:txBody>
      </p:sp>
    </p:spTree>
    <p:extLst>
      <p:ext uri="{BB962C8B-B14F-4D97-AF65-F5344CB8AC3E}">
        <p14:creationId xmlns:p14="http://schemas.microsoft.com/office/powerpoint/2010/main" val="3550976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以下哪个不是详细设计中常用的图形描述工具          。</a:t>
            </a:r>
            <a:br>
              <a:rPr lang="zh-CN" altLang="en-US" sz="2800" dirty="0"/>
            </a:br>
            <a:r>
              <a:rPr lang="en-US" altLang="zh-CN" sz="2800" dirty="0"/>
              <a:t>A</a:t>
            </a:r>
            <a:r>
              <a:rPr lang="zh-CN" altLang="en-US" sz="2800" dirty="0"/>
              <a:t>、数据流图	    </a:t>
            </a:r>
            <a:br>
              <a:rPr lang="en-US" altLang="zh-CN" sz="2800" dirty="0"/>
            </a:br>
            <a:r>
              <a:rPr lang="en-US" altLang="zh-CN" sz="2800" dirty="0"/>
              <a:t>B</a:t>
            </a:r>
            <a:r>
              <a:rPr lang="zh-CN" altLang="en-US" sz="2800" dirty="0"/>
              <a:t>、程序流图	   </a:t>
            </a:r>
            <a:br>
              <a:rPr lang="en-US" altLang="zh-CN" sz="2800" dirty="0"/>
            </a:br>
            <a:r>
              <a:rPr lang="en-US" altLang="zh-CN" sz="2800" dirty="0"/>
              <a:t>C</a:t>
            </a:r>
            <a:r>
              <a:rPr lang="zh-CN" altLang="en-US" sz="2800" dirty="0"/>
              <a:t>、盒图（</a:t>
            </a:r>
            <a:r>
              <a:rPr lang="en-US" altLang="zh-CN" sz="2800" dirty="0"/>
              <a:t>N-S</a:t>
            </a:r>
            <a:r>
              <a:rPr lang="zh-CN" altLang="en-US" sz="2800" dirty="0"/>
              <a:t>图）   </a:t>
            </a:r>
            <a:br>
              <a:rPr lang="en-US" altLang="zh-CN" sz="2800" dirty="0"/>
            </a:br>
            <a:r>
              <a:rPr lang="en-US" altLang="zh-CN" sz="2800" dirty="0"/>
              <a:t>D</a:t>
            </a:r>
            <a:r>
              <a:rPr lang="zh-CN" altLang="en-US" sz="2800" dirty="0"/>
              <a:t>、问题分析图（</a:t>
            </a:r>
            <a:r>
              <a:rPr lang="en-US" altLang="zh-CN" sz="2800" dirty="0"/>
              <a:t>PAD</a:t>
            </a:r>
            <a:r>
              <a:rPr lang="zh-CN" altLang="en-US" sz="2800" dirty="0"/>
              <a:t>）</a:t>
            </a:r>
            <a:br>
              <a:rPr lang="zh-CN" altLang="en-US" sz="2800" dirty="0"/>
            </a:b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 A</a:t>
            </a:r>
          </a:p>
        </p:txBody>
      </p:sp>
    </p:spTree>
    <p:extLst>
      <p:ext uri="{BB962C8B-B14F-4D97-AF65-F5344CB8AC3E}">
        <p14:creationId xmlns:p14="http://schemas.microsoft.com/office/powerpoint/2010/main" val="2797346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软件设计包括 （   ）两个阶段。 </a:t>
            </a:r>
            <a:br>
              <a:rPr lang="zh-CN" altLang="en-US" sz="2800" dirty="0"/>
            </a:br>
            <a:r>
              <a:rPr lang="zh-CN" altLang="en-US" sz="2800" dirty="0"/>
              <a:t>     </a:t>
            </a:r>
            <a:r>
              <a:rPr lang="en-US" altLang="zh-CN" sz="2800" dirty="0"/>
              <a:t>A</a:t>
            </a:r>
            <a:r>
              <a:rPr lang="zh-CN" altLang="en-US" sz="2800" dirty="0"/>
              <a:t>、接口设计和结构设计       </a:t>
            </a:r>
            <a:r>
              <a:rPr lang="en-US" altLang="zh-CN" sz="2800" dirty="0"/>
              <a:t>B</a:t>
            </a:r>
            <a:r>
              <a:rPr lang="zh-CN" altLang="en-US" sz="2800" dirty="0"/>
              <a:t>、数据设计和概要设计</a:t>
            </a:r>
            <a:br>
              <a:rPr lang="zh-CN" altLang="en-US" sz="2800" dirty="0"/>
            </a:br>
            <a:r>
              <a:rPr lang="zh-CN" altLang="en-US" sz="2800" dirty="0"/>
              <a:t>     </a:t>
            </a:r>
            <a:r>
              <a:rPr lang="en-US" altLang="zh-CN" sz="2800" dirty="0"/>
              <a:t>C</a:t>
            </a:r>
            <a:r>
              <a:rPr lang="zh-CN" altLang="en-US" sz="2800" dirty="0"/>
              <a:t>、结构设计和过程设计       </a:t>
            </a:r>
            <a:r>
              <a:rPr lang="en-US" altLang="zh-CN" sz="2800" dirty="0"/>
              <a:t>D</a:t>
            </a:r>
            <a:r>
              <a:rPr lang="zh-CN" altLang="en-US" sz="2800" dirty="0"/>
              <a:t>、概要设计和详细设计</a:t>
            </a:r>
            <a:br>
              <a:rPr lang="zh-CN" altLang="en-US" sz="2800" dirty="0"/>
            </a:br>
            <a:br>
              <a:rPr lang="zh-CN" altLang="en-US" sz="2800" dirty="0"/>
            </a:b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 D</a:t>
            </a:r>
          </a:p>
        </p:txBody>
      </p:sp>
    </p:spTree>
    <p:extLst>
      <p:ext uri="{BB962C8B-B14F-4D97-AF65-F5344CB8AC3E}">
        <p14:creationId xmlns:p14="http://schemas.microsoft.com/office/powerpoint/2010/main" val="504003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在</a:t>
            </a:r>
            <a:r>
              <a:rPr lang="en-US" altLang="zh-CN" sz="2800" dirty="0"/>
              <a:t>UML</a:t>
            </a:r>
            <a:r>
              <a:rPr lang="zh-CN" altLang="en-US" sz="2800" dirty="0"/>
              <a:t>中，协作图反映收发消息的对象的结构组织，它与（ ）是同构的</a:t>
            </a:r>
            <a:br>
              <a:rPr lang="zh-CN" altLang="en-US" sz="2800" dirty="0"/>
            </a:br>
            <a:r>
              <a:rPr lang="en-US" altLang="zh-CN" sz="2800" dirty="0"/>
              <a:t>A </a:t>
            </a:r>
            <a:r>
              <a:rPr lang="zh-CN" altLang="en-US" sz="2800" dirty="0"/>
              <a:t>用例图			</a:t>
            </a:r>
            <a:br>
              <a:rPr lang="en-US" altLang="zh-CN" sz="2800" dirty="0"/>
            </a:br>
            <a:r>
              <a:rPr lang="en-US" altLang="zh-CN" sz="2800" dirty="0"/>
              <a:t>B </a:t>
            </a:r>
            <a:r>
              <a:rPr lang="zh-CN" altLang="en-US" sz="2800" dirty="0"/>
              <a:t>顺序图				</a:t>
            </a:r>
            <a:br>
              <a:rPr lang="en-US" altLang="zh-CN" sz="2800" dirty="0"/>
            </a:br>
            <a:r>
              <a:rPr lang="en-US" altLang="zh-CN" sz="2800" dirty="0"/>
              <a:t>C </a:t>
            </a:r>
            <a:r>
              <a:rPr lang="zh-CN" altLang="en-US" sz="2800" dirty="0"/>
              <a:t>活动图 			</a:t>
            </a:r>
            <a:br>
              <a:rPr lang="en-US" altLang="zh-CN" sz="2800" dirty="0"/>
            </a:br>
            <a:r>
              <a:rPr lang="en-US" altLang="zh-CN" sz="2800" dirty="0"/>
              <a:t>D </a:t>
            </a:r>
            <a:r>
              <a:rPr lang="zh-CN" altLang="en-US" sz="2800" dirty="0"/>
              <a:t>类图</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 B </a:t>
            </a:r>
          </a:p>
        </p:txBody>
      </p:sp>
    </p:spTree>
    <p:extLst>
      <p:ext uri="{BB962C8B-B14F-4D97-AF65-F5344CB8AC3E}">
        <p14:creationId xmlns:p14="http://schemas.microsoft.com/office/powerpoint/2010/main" val="2557007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内聚是衡量模块内部聚合能力的量度。内聚越高，说明模块内各成分彼此联系的程度</a:t>
            </a:r>
            <a:r>
              <a:rPr lang="en-US" altLang="zh-CN" sz="2800" dirty="0"/>
              <a:t>(   )</a:t>
            </a:r>
            <a:br>
              <a:rPr lang="en-US" altLang="zh-CN" sz="2800" dirty="0"/>
            </a:br>
            <a:r>
              <a:rPr lang="en-US" altLang="zh-CN" sz="2800" dirty="0"/>
              <a:t>A</a:t>
            </a:r>
            <a:r>
              <a:rPr lang="zh-CN" altLang="en-US" sz="2800" dirty="0"/>
              <a:t>．越松散　　	</a:t>
            </a:r>
            <a:br>
              <a:rPr lang="en-US" altLang="zh-CN" sz="2800" dirty="0"/>
            </a:br>
            <a:r>
              <a:rPr lang="en-US" altLang="zh-CN" sz="2800" dirty="0"/>
              <a:t>B</a:t>
            </a:r>
            <a:r>
              <a:rPr lang="zh-CN" altLang="en-US" sz="2800" dirty="0"/>
              <a:t>．彼此相等		</a:t>
            </a:r>
            <a:br>
              <a:rPr lang="en-US" altLang="zh-CN" sz="2800" dirty="0"/>
            </a:br>
            <a:r>
              <a:rPr lang="en-US" altLang="zh-CN" sz="2800" dirty="0"/>
              <a:t>C</a:t>
            </a:r>
            <a:r>
              <a:rPr lang="zh-CN" altLang="en-US" sz="2800" dirty="0"/>
              <a:t>．越紧密　　　	</a:t>
            </a:r>
            <a:br>
              <a:rPr lang="en-US" altLang="zh-CN" sz="2800" dirty="0"/>
            </a:br>
            <a:r>
              <a:rPr lang="en-US" altLang="zh-CN" sz="2800" dirty="0"/>
              <a:t>D</a:t>
            </a:r>
            <a:r>
              <a:rPr lang="zh-CN" altLang="en-US" sz="2800" dirty="0"/>
              <a:t>．没有联系</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C</a:t>
            </a:r>
          </a:p>
        </p:txBody>
      </p:sp>
    </p:spTree>
    <p:extLst>
      <p:ext uri="{BB962C8B-B14F-4D97-AF65-F5344CB8AC3E}">
        <p14:creationId xmlns:p14="http://schemas.microsoft.com/office/powerpoint/2010/main" val="2311514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模块本身的内聚是模块独立性的重要度量因素之一，在七类内聚中，具有最强内聚的一类是</a:t>
            </a:r>
            <a:r>
              <a:rPr lang="en-US" altLang="zh-CN" sz="2800" dirty="0"/>
              <a:t>____</a:t>
            </a:r>
            <a:r>
              <a:rPr lang="zh-CN" altLang="en-US" sz="2800" dirty="0"/>
              <a:t>。</a:t>
            </a:r>
            <a:br>
              <a:rPr lang="zh-CN" altLang="en-US" sz="2800" dirty="0"/>
            </a:br>
            <a:r>
              <a:rPr lang="en-US" altLang="zh-CN" sz="2800" dirty="0"/>
              <a:t>A</a:t>
            </a:r>
            <a:r>
              <a:rPr lang="zh-CN" altLang="en-US" sz="2800" dirty="0"/>
              <a:t>．顺序性内聚		</a:t>
            </a:r>
            <a:br>
              <a:rPr lang="en-US" altLang="zh-CN" sz="2800" dirty="0"/>
            </a:br>
            <a:r>
              <a:rPr lang="en-US" altLang="zh-CN" sz="2800" dirty="0"/>
              <a:t>B</a:t>
            </a:r>
            <a:r>
              <a:rPr lang="zh-CN" altLang="en-US" sz="2800" dirty="0"/>
              <a:t>．过程性内聚	</a:t>
            </a:r>
            <a:br>
              <a:rPr lang="en-US" altLang="zh-CN" sz="2800" dirty="0"/>
            </a:br>
            <a:r>
              <a:rPr lang="en-US" altLang="zh-CN" sz="2800" dirty="0"/>
              <a:t>C</a:t>
            </a:r>
            <a:r>
              <a:rPr lang="zh-CN" altLang="en-US" sz="2800" dirty="0"/>
              <a:t>．逻辑性内聚		</a:t>
            </a:r>
            <a:br>
              <a:rPr lang="en-US" altLang="zh-CN" sz="2800" dirty="0"/>
            </a:br>
            <a:r>
              <a:rPr lang="en-US" altLang="zh-CN" sz="2800" dirty="0"/>
              <a:t>D</a:t>
            </a:r>
            <a:r>
              <a:rPr lang="zh-CN" altLang="en-US" sz="2800" dirty="0"/>
              <a:t>．功能性内聚</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D</a:t>
            </a:r>
          </a:p>
        </p:txBody>
      </p:sp>
    </p:spTree>
    <p:extLst>
      <p:ext uri="{BB962C8B-B14F-4D97-AF65-F5344CB8AC3E}">
        <p14:creationId xmlns:p14="http://schemas.microsoft.com/office/powerpoint/2010/main" val="2463749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如果模块中所有成分引用共同的数据，该模块内的联系类型是</a:t>
            </a:r>
            <a:r>
              <a:rPr lang="en-US" altLang="zh-CN" sz="2800" dirty="0"/>
              <a:t>____</a:t>
            </a:r>
            <a:r>
              <a:rPr lang="zh-CN" altLang="en-US" sz="2800" dirty="0"/>
              <a:t>。</a:t>
            </a:r>
            <a:br>
              <a:rPr lang="zh-CN" altLang="en-US" sz="2800" dirty="0"/>
            </a:br>
            <a:r>
              <a:rPr lang="en-US" altLang="zh-CN" sz="2800" dirty="0"/>
              <a:t>A</a:t>
            </a:r>
            <a:r>
              <a:rPr lang="zh-CN" altLang="en-US" sz="2800" dirty="0"/>
              <a:t>．顺序内聚	</a:t>
            </a:r>
            <a:br>
              <a:rPr lang="en-US" altLang="zh-CN" sz="2800" dirty="0"/>
            </a:br>
            <a:r>
              <a:rPr lang="en-US" altLang="zh-CN" sz="2800" dirty="0"/>
              <a:t>B</a:t>
            </a:r>
            <a:r>
              <a:rPr lang="zh-CN" altLang="en-US" sz="2800" dirty="0"/>
              <a:t>．功能内聚		</a:t>
            </a:r>
            <a:br>
              <a:rPr lang="en-US" altLang="zh-CN" sz="2800" dirty="0"/>
            </a:br>
            <a:r>
              <a:rPr lang="en-US" altLang="zh-CN" sz="2800" dirty="0"/>
              <a:t>C</a:t>
            </a:r>
            <a:r>
              <a:rPr lang="zh-CN" altLang="en-US" sz="2800" dirty="0"/>
              <a:t>．通信内聚		</a:t>
            </a:r>
            <a:br>
              <a:rPr lang="en-US" altLang="zh-CN" sz="2800" dirty="0"/>
            </a:br>
            <a:r>
              <a:rPr lang="en-US" altLang="zh-CN" sz="2800" dirty="0"/>
              <a:t>D</a:t>
            </a:r>
            <a:r>
              <a:rPr lang="zh-CN" altLang="en-US" sz="2800" dirty="0"/>
              <a:t>．过程内聚</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C</a:t>
            </a:r>
          </a:p>
        </p:txBody>
      </p:sp>
    </p:spTree>
    <p:extLst>
      <p:ext uri="{BB962C8B-B14F-4D97-AF65-F5344CB8AC3E}">
        <p14:creationId xmlns:p14="http://schemas.microsoft.com/office/powerpoint/2010/main" val="4000829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某模块的功能是打印录取通知书或不录取通知书，调用模块可通过向此模块传递布尔标志信息决定本次调用哪种通知书的打印，这种模块之间的耦合称为</a:t>
            </a:r>
            <a:r>
              <a:rPr lang="en-US" altLang="zh-CN" sz="2800" dirty="0"/>
              <a:t>____</a:t>
            </a:r>
            <a:r>
              <a:rPr lang="zh-CN" altLang="en-US" sz="2800" dirty="0"/>
              <a:t>。</a:t>
            </a:r>
            <a:br>
              <a:rPr lang="zh-CN" altLang="en-US" sz="2800" dirty="0"/>
            </a:br>
            <a:r>
              <a:rPr lang="en-US" altLang="zh-CN" sz="2800" dirty="0"/>
              <a:t>A</a:t>
            </a:r>
            <a:r>
              <a:rPr lang="zh-CN" altLang="en-US" sz="2800" dirty="0"/>
              <a:t>．数据耦合		</a:t>
            </a:r>
            <a:br>
              <a:rPr lang="en-US" altLang="zh-CN" sz="2800" dirty="0"/>
            </a:br>
            <a:r>
              <a:rPr lang="en-US" altLang="zh-CN" sz="2800" dirty="0"/>
              <a:t>B</a:t>
            </a:r>
            <a:r>
              <a:rPr lang="zh-CN" altLang="en-US" sz="2800" dirty="0"/>
              <a:t>．混合耦合		</a:t>
            </a:r>
            <a:br>
              <a:rPr lang="en-US" altLang="zh-CN" sz="2800" dirty="0"/>
            </a:br>
            <a:r>
              <a:rPr lang="en-US" altLang="zh-CN" sz="2800" dirty="0"/>
              <a:t>C</a:t>
            </a:r>
            <a:r>
              <a:rPr lang="zh-CN" altLang="en-US" sz="2800" dirty="0"/>
              <a:t>．公共耦合		</a:t>
            </a:r>
            <a:br>
              <a:rPr lang="en-US" altLang="zh-CN" sz="2800" dirty="0"/>
            </a:br>
            <a:r>
              <a:rPr lang="en-US" altLang="zh-CN" sz="2800" dirty="0"/>
              <a:t>D</a:t>
            </a:r>
            <a:r>
              <a:rPr lang="zh-CN" altLang="en-US" sz="2800" dirty="0"/>
              <a:t>．控制耦合</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D</a:t>
            </a:r>
          </a:p>
        </p:txBody>
      </p:sp>
    </p:spTree>
    <p:extLst>
      <p:ext uri="{BB962C8B-B14F-4D97-AF65-F5344CB8AC3E}">
        <p14:creationId xmlns:p14="http://schemas.microsoft.com/office/powerpoint/2010/main" val="899264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要减少两个模块之间的耦合，则必须</a:t>
            </a:r>
            <a:r>
              <a:rPr lang="en-US" altLang="zh-CN" sz="2800" dirty="0"/>
              <a:t>____</a:t>
            </a:r>
            <a:r>
              <a:rPr lang="zh-CN" altLang="en-US" sz="2800" dirty="0"/>
              <a:t>。</a:t>
            </a:r>
            <a:br>
              <a:rPr lang="zh-CN" altLang="en-US" sz="2800" dirty="0"/>
            </a:br>
            <a:r>
              <a:rPr lang="en-US" altLang="zh-CN" sz="2800" dirty="0"/>
              <a:t>A</a:t>
            </a:r>
            <a:r>
              <a:rPr lang="zh-CN" altLang="en-US" sz="2800" dirty="0"/>
              <a:t>．两个模块间的调用次数要少		</a:t>
            </a:r>
            <a:br>
              <a:rPr lang="zh-CN" altLang="en-US" sz="2800" dirty="0"/>
            </a:br>
            <a:r>
              <a:rPr lang="en-US" altLang="zh-CN" sz="2800" dirty="0"/>
              <a:t>B</a:t>
            </a:r>
            <a:r>
              <a:rPr lang="zh-CN" altLang="en-US" sz="2800" dirty="0"/>
              <a:t>．模块间传递的参数要少</a:t>
            </a:r>
            <a:br>
              <a:rPr lang="zh-CN" altLang="en-US" sz="2800" dirty="0"/>
            </a:br>
            <a:r>
              <a:rPr lang="en-US" altLang="zh-CN" sz="2800" dirty="0"/>
              <a:t>C</a:t>
            </a:r>
            <a:r>
              <a:rPr lang="zh-CN" altLang="en-US" sz="2800" dirty="0"/>
              <a:t>．模块间传递的参数要少且布传递开关型参数</a:t>
            </a:r>
            <a:br>
              <a:rPr lang="zh-CN" altLang="en-US" sz="2800" dirty="0"/>
            </a:br>
            <a:r>
              <a:rPr lang="en-US" altLang="zh-CN" sz="2800" dirty="0"/>
              <a:t>D</a:t>
            </a:r>
            <a:r>
              <a:rPr lang="zh-CN" altLang="en-US" sz="2800" dirty="0"/>
              <a:t>．模块间传递的参数要少且不传递开关型参数以及两模块不引用同样的全局变量</a:t>
            </a: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D</a:t>
            </a:r>
          </a:p>
        </p:txBody>
      </p:sp>
    </p:spTree>
    <p:extLst>
      <p:ext uri="{BB962C8B-B14F-4D97-AF65-F5344CB8AC3E}">
        <p14:creationId xmlns:p14="http://schemas.microsoft.com/office/powerpoint/2010/main" val="2032032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内聚是衡量模块内部聚合能力的量度。内聚越高，说明模块内各成分彼此联系的程度</a:t>
            </a:r>
            <a:r>
              <a:rPr lang="en-US" altLang="zh-CN" sz="2800" dirty="0"/>
              <a:t>(   )</a:t>
            </a:r>
            <a:br>
              <a:rPr lang="en-US" altLang="zh-CN" sz="2800" dirty="0"/>
            </a:br>
            <a:r>
              <a:rPr lang="en-US" altLang="zh-CN" sz="2800" dirty="0"/>
              <a:t>A</a:t>
            </a:r>
            <a:r>
              <a:rPr lang="zh-CN" altLang="en-US" sz="2800" dirty="0"/>
              <a:t>．越松散　　	</a:t>
            </a:r>
            <a:br>
              <a:rPr lang="en-US" altLang="zh-CN" sz="2800" dirty="0"/>
            </a:br>
            <a:r>
              <a:rPr lang="en-US" altLang="zh-CN" sz="2800" dirty="0"/>
              <a:t>B</a:t>
            </a:r>
            <a:r>
              <a:rPr lang="zh-CN" altLang="en-US" sz="2800" dirty="0"/>
              <a:t>．彼此相等		</a:t>
            </a:r>
            <a:br>
              <a:rPr lang="en-US" altLang="zh-CN" sz="2800" dirty="0"/>
            </a:br>
            <a:r>
              <a:rPr lang="en-US" altLang="zh-CN" sz="2800" dirty="0"/>
              <a:t>C</a:t>
            </a:r>
            <a:r>
              <a:rPr lang="zh-CN" altLang="en-US" sz="2800" dirty="0"/>
              <a:t>．越紧密　　　	</a:t>
            </a:r>
            <a:br>
              <a:rPr lang="en-US" altLang="zh-CN" sz="2800" dirty="0"/>
            </a:br>
            <a:r>
              <a:rPr lang="en-US" altLang="zh-CN" sz="2800" dirty="0"/>
              <a:t>D</a:t>
            </a:r>
            <a:r>
              <a:rPr lang="zh-CN" altLang="en-US" sz="2800" dirty="0"/>
              <a:t>．没有联系</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C</a:t>
            </a:r>
          </a:p>
        </p:txBody>
      </p:sp>
    </p:spTree>
    <p:extLst>
      <p:ext uri="{BB962C8B-B14F-4D97-AF65-F5344CB8AC3E}">
        <p14:creationId xmlns:p14="http://schemas.microsoft.com/office/powerpoint/2010/main" val="235970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软件设计中划分模块的一个准则是（      ）。</a:t>
            </a:r>
            <a:br>
              <a:rPr lang="zh-CN" altLang="en-US" sz="2800" dirty="0"/>
            </a:br>
            <a:r>
              <a:rPr lang="en-US" altLang="zh-CN" sz="2800" dirty="0"/>
              <a:t>A</a:t>
            </a:r>
            <a:r>
              <a:rPr lang="zh-CN" altLang="en-US" sz="2800" dirty="0"/>
              <a:t>、	低内聚低耦合</a:t>
            </a:r>
            <a:br>
              <a:rPr lang="zh-CN" altLang="en-US" sz="2800" dirty="0"/>
            </a:br>
            <a:r>
              <a:rPr lang="en-US" altLang="zh-CN" sz="2800" dirty="0"/>
              <a:t>B</a:t>
            </a:r>
            <a:r>
              <a:rPr lang="zh-CN" altLang="en-US" sz="2800" dirty="0"/>
              <a:t>、	低内聚高耦合</a:t>
            </a:r>
            <a:br>
              <a:rPr lang="zh-CN" altLang="en-US" sz="2800" dirty="0"/>
            </a:br>
            <a:r>
              <a:rPr lang="en-US" altLang="zh-CN" sz="2800" dirty="0"/>
              <a:t>C</a:t>
            </a:r>
            <a:r>
              <a:rPr lang="zh-CN" altLang="en-US" sz="2800" dirty="0"/>
              <a:t>、	高内聚低耦合</a:t>
            </a:r>
            <a:br>
              <a:rPr lang="zh-CN" altLang="en-US" sz="2800" dirty="0"/>
            </a:br>
            <a:r>
              <a:rPr lang="en-US" altLang="zh-CN" sz="2800" dirty="0"/>
              <a:t>D</a:t>
            </a:r>
            <a:r>
              <a:rPr lang="zh-CN" altLang="en-US" sz="2800" dirty="0"/>
              <a:t>、	高内聚高耦合</a:t>
            </a: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C</a:t>
            </a:r>
          </a:p>
        </p:txBody>
      </p:sp>
    </p:spTree>
    <p:extLst>
      <p:ext uri="{BB962C8B-B14F-4D97-AF65-F5344CB8AC3E}">
        <p14:creationId xmlns:p14="http://schemas.microsoft.com/office/powerpoint/2010/main" val="300912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应用</a:t>
            </a:r>
            <a:r>
              <a:rPr lang="en-US" altLang="zh-CN" sz="2800" dirty="0"/>
              <a:t>】</a:t>
            </a:r>
            <a:r>
              <a:rPr lang="zh-CN" altLang="en-US" sz="2800" dirty="0"/>
              <a:t>根据下面的程序流程图，画出</a:t>
            </a:r>
            <a:r>
              <a:rPr lang="en-US" altLang="zh-CN" sz="2800" dirty="0"/>
              <a:t>NS</a:t>
            </a:r>
            <a:r>
              <a:rPr lang="zh-CN" altLang="en-US" sz="2800" dirty="0"/>
              <a:t>图</a:t>
            </a:r>
            <a:br>
              <a:rPr lang="en-US" altLang="zh-CN" sz="2800" dirty="0"/>
            </a:br>
            <a:br>
              <a:rPr lang="en-US" altLang="zh-CN" sz="2800" dirty="0"/>
            </a:br>
            <a:br>
              <a:rPr lang="en-US" altLang="zh-CN" sz="2800" dirty="0"/>
            </a:br>
            <a:br>
              <a:rPr lang="en-US" altLang="zh-CN" sz="2800" dirty="0"/>
            </a:br>
            <a:br>
              <a:rPr lang="en-US" altLang="zh-CN" sz="2800" dirty="0"/>
            </a:br>
            <a:endParaRPr lang="zh-CN" altLang="en-US" sz="2800" dirty="0"/>
          </a:p>
        </p:txBody>
      </p:sp>
      <p:pic>
        <p:nvPicPr>
          <p:cNvPr id="9218" name="Picture 2">
            <a:extLst>
              <a:ext uri="{FF2B5EF4-FFF2-40B4-BE49-F238E27FC236}">
                <a16:creationId xmlns:a16="http://schemas.microsoft.com/office/drawing/2014/main" id="{B2DD9A2D-132F-4C91-98E3-832B0CDC87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3963" y="1757363"/>
            <a:ext cx="3449637" cy="4991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a:extLst>
              <a:ext uri="{FF2B5EF4-FFF2-40B4-BE49-F238E27FC236}">
                <a16:creationId xmlns:a16="http://schemas.microsoft.com/office/drawing/2014/main" id="{77238A1D-7E10-4D0B-B327-C879BC6233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2271" y="2001070"/>
            <a:ext cx="4342857" cy="3904762"/>
          </a:xfrm>
          <a:prstGeom prst="rect">
            <a:avLst/>
          </a:prstGeom>
        </p:spPr>
      </p:pic>
    </p:spTree>
    <p:extLst>
      <p:ext uri="{BB962C8B-B14F-4D97-AF65-F5344CB8AC3E}">
        <p14:creationId xmlns:p14="http://schemas.microsoft.com/office/powerpoint/2010/main" val="3234650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556260" y="1759888"/>
            <a:ext cx="10515600" cy="3139613"/>
          </a:xfrm>
        </p:spPr>
        <p:txBody>
          <a:bodyPr>
            <a:noAutofit/>
          </a:bodyPr>
          <a:lstStyle/>
          <a:p>
            <a:pPr>
              <a:lnSpc>
                <a:spcPct val="100000"/>
              </a:lnSpc>
            </a:pPr>
            <a:r>
              <a:rPr lang="en-US" altLang="zh-CN" sz="2000" dirty="0"/>
              <a:t>【</a:t>
            </a:r>
            <a:r>
              <a:rPr lang="zh-CN" altLang="en-US" sz="2000" dirty="0"/>
              <a:t>应用</a:t>
            </a:r>
            <a:r>
              <a:rPr lang="en-US" altLang="zh-CN" sz="2000" dirty="0"/>
              <a:t>】</a:t>
            </a:r>
            <a:r>
              <a:rPr lang="zh-CN" altLang="zh-CN" sz="1800" kern="100" dirty="0">
                <a:effectLst/>
                <a:latin typeface="Times New Roman" panose="02020603050405020304" pitchFamily="18" charset="0"/>
                <a:ea typeface="宋体" panose="02010600030101010101" pitchFamily="2" charset="-122"/>
              </a:rPr>
              <a:t>将下面给出的伪码转换为</a:t>
            </a:r>
            <a:r>
              <a:rPr lang="en-US" altLang="zh-CN" sz="1800" kern="100" dirty="0">
                <a:effectLst/>
                <a:latin typeface="Times New Roman" panose="02020603050405020304" pitchFamily="18" charset="0"/>
                <a:ea typeface="宋体" panose="02010600030101010101" pitchFamily="2" charset="-122"/>
              </a:rPr>
              <a:t>N-S</a:t>
            </a:r>
            <a:r>
              <a:rPr lang="zh-CN" altLang="zh-CN" sz="1800" kern="100" dirty="0">
                <a:effectLst/>
                <a:latin typeface="Times New Roman" panose="02020603050405020304" pitchFamily="18" charset="0"/>
                <a:ea typeface="宋体" panose="02010600030101010101" pitchFamily="2" charset="-122"/>
              </a:rPr>
              <a:t>图和</a:t>
            </a:r>
            <a:r>
              <a:rPr lang="en-US" altLang="zh-CN" sz="1800" kern="100" dirty="0">
                <a:effectLst/>
                <a:latin typeface="Times New Roman" panose="02020603050405020304" pitchFamily="18" charset="0"/>
                <a:ea typeface="宋体" panose="02010600030101010101" pitchFamily="2" charset="-122"/>
              </a:rPr>
              <a:t>PAD</a:t>
            </a:r>
            <a:r>
              <a:rPr lang="zh-CN" altLang="zh-CN" sz="1800" kern="100" dirty="0">
                <a:effectLst/>
                <a:latin typeface="Times New Roman" panose="02020603050405020304" pitchFamily="18" charset="0"/>
                <a:ea typeface="宋体" panose="02010600030101010101" pitchFamily="2" charset="-122"/>
              </a:rPr>
              <a:t>图。</a:t>
            </a:r>
            <a:br>
              <a:rPr lang="zh-CN" altLang="zh-CN" sz="1800" kern="100" dirty="0">
                <a:effectLst/>
                <a:latin typeface="Times New Roman" panose="02020603050405020304" pitchFamily="18" charset="0"/>
                <a:ea typeface="宋体" panose="02010600030101010101" pitchFamily="2" charset="-122"/>
              </a:rPr>
            </a:br>
            <a:r>
              <a:rPr lang="en-US" altLang="zh-CN" sz="2000" dirty="0"/>
              <a:t>void root ( float root1, float root2 ) {</a:t>
            </a:r>
            <a:br>
              <a:rPr lang="en-US" altLang="zh-CN" sz="2000" dirty="0"/>
            </a:br>
            <a:r>
              <a:rPr lang="en-US" altLang="zh-CN" sz="2000" dirty="0"/>
              <a:t>   </a:t>
            </a:r>
            <a:r>
              <a:rPr lang="en-US" altLang="zh-CN" sz="2000" dirty="0" err="1"/>
              <a:t>i</a:t>
            </a:r>
            <a:r>
              <a:rPr lang="en-US" altLang="zh-CN" sz="2000" dirty="0"/>
              <a:t> = 1;  j = 0;</a:t>
            </a:r>
            <a:br>
              <a:rPr lang="en-US" altLang="zh-CN" sz="2000" dirty="0"/>
            </a:br>
            <a:r>
              <a:rPr lang="en-US" altLang="zh-CN" sz="2000" dirty="0"/>
              <a:t>   while ( </a:t>
            </a:r>
            <a:r>
              <a:rPr lang="en-US" altLang="zh-CN" sz="2000" dirty="0" err="1"/>
              <a:t>i</a:t>
            </a:r>
            <a:r>
              <a:rPr lang="en-US" altLang="zh-CN" sz="2000" dirty="0"/>
              <a:t> &lt;= 10 ) {</a:t>
            </a:r>
            <a:br>
              <a:rPr lang="en-US" altLang="zh-CN" sz="2000" dirty="0"/>
            </a:br>
            <a:r>
              <a:rPr lang="zh-CN" altLang="en-US" sz="2000" dirty="0"/>
              <a:t>输入一元二次方程的系数</a:t>
            </a:r>
            <a:r>
              <a:rPr lang="en-US" altLang="zh-CN" sz="2000" dirty="0"/>
              <a:t>a, b, c;</a:t>
            </a:r>
            <a:br>
              <a:rPr lang="en-US" altLang="zh-CN" sz="2000" dirty="0"/>
            </a:br>
            <a:r>
              <a:rPr lang="en-US" altLang="zh-CN" sz="2000" dirty="0"/>
              <a:t>p = b*b – 4*a*c;</a:t>
            </a:r>
            <a:br>
              <a:rPr lang="en-US" altLang="zh-CN" sz="2000" dirty="0"/>
            </a:br>
            <a:r>
              <a:rPr lang="en-US" altLang="zh-CN" sz="2000" dirty="0"/>
              <a:t>if ( p &lt; 0 ) </a:t>
            </a:r>
            <a:r>
              <a:rPr lang="zh-CN" altLang="en-US" sz="2000" dirty="0"/>
              <a:t>输出“方程</a:t>
            </a:r>
            <a:r>
              <a:rPr lang="en-US" altLang="zh-CN" sz="2000" dirty="0" err="1"/>
              <a:t>i</a:t>
            </a:r>
            <a:r>
              <a:rPr lang="zh-CN" altLang="en-US" sz="2000" dirty="0"/>
              <a:t>无实数根”</a:t>
            </a:r>
            <a:r>
              <a:rPr lang="en-US" altLang="zh-CN" sz="2000" dirty="0"/>
              <a:t>;</a:t>
            </a:r>
            <a:br>
              <a:rPr lang="en-US" altLang="zh-CN" sz="2000" dirty="0"/>
            </a:br>
            <a:r>
              <a:rPr lang="en-US" altLang="zh-CN" sz="2000" dirty="0"/>
              <a:t>else if ( p &gt; 0 ) </a:t>
            </a:r>
            <a:r>
              <a:rPr lang="zh-CN" altLang="en-US" sz="2000" dirty="0"/>
              <a:t>求出根并输出</a:t>
            </a:r>
            <a:r>
              <a:rPr lang="en-US" altLang="zh-CN" sz="2000" dirty="0"/>
              <a:t>;</a:t>
            </a:r>
            <a:br>
              <a:rPr lang="en-US" altLang="zh-CN" sz="2000" dirty="0"/>
            </a:br>
            <a:r>
              <a:rPr lang="en-US" altLang="zh-CN" sz="2000" dirty="0"/>
              <a:t>if ( p == 0 ) {</a:t>
            </a:r>
            <a:br>
              <a:rPr lang="en-US" altLang="zh-CN" sz="2000" dirty="0"/>
            </a:br>
            <a:r>
              <a:rPr lang="en-US" altLang="zh-CN" sz="2000" dirty="0"/>
              <a:t>   </a:t>
            </a:r>
            <a:r>
              <a:rPr lang="zh-CN" altLang="en-US" sz="2000" dirty="0"/>
              <a:t>求出重根并输出</a:t>
            </a:r>
            <a:r>
              <a:rPr lang="en-US" altLang="zh-CN" sz="2000" dirty="0"/>
              <a:t>;</a:t>
            </a:r>
            <a:br>
              <a:rPr lang="en-US" altLang="zh-CN" sz="2000" dirty="0"/>
            </a:br>
            <a:r>
              <a:rPr lang="en-US" altLang="zh-CN" sz="2000" dirty="0"/>
              <a:t>   j = j + 1;</a:t>
            </a:r>
            <a:br>
              <a:rPr lang="en-US" altLang="zh-CN" sz="2000" dirty="0"/>
            </a:br>
            <a:r>
              <a:rPr lang="en-US" altLang="zh-CN" sz="2000" dirty="0"/>
              <a:t>}</a:t>
            </a:r>
            <a:br>
              <a:rPr lang="en-US" altLang="zh-CN" sz="2000" dirty="0"/>
            </a:br>
            <a:r>
              <a:rPr lang="en-US" altLang="zh-CN" sz="2000" dirty="0" err="1"/>
              <a:t>i</a:t>
            </a:r>
            <a:r>
              <a:rPr lang="en-US" altLang="zh-CN" sz="2000" dirty="0"/>
              <a:t> = </a:t>
            </a:r>
            <a:r>
              <a:rPr lang="en-US" altLang="zh-CN" sz="2000" dirty="0" err="1"/>
              <a:t>i</a:t>
            </a:r>
            <a:r>
              <a:rPr lang="en-US" altLang="zh-CN" sz="2000" dirty="0"/>
              <a:t> +1;</a:t>
            </a:r>
            <a:br>
              <a:rPr lang="en-US" altLang="zh-CN" sz="2000" dirty="0"/>
            </a:br>
            <a:r>
              <a:rPr lang="en-US" altLang="zh-CN" sz="2000" dirty="0"/>
              <a:t>   }</a:t>
            </a:r>
            <a:br>
              <a:rPr lang="en-US" altLang="zh-CN" sz="2000" dirty="0"/>
            </a:br>
            <a:r>
              <a:rPr lang="en-US" altLang="zh-CN" sz="2000" dirty="0"/>
              <a:t>   </a:t>
            </a:r>
            <a:r>
              <a:rPr lang="zh-CN" altLang="en-US" sz="2000" dirty="0"/>
              <a:t>输出重根的方程的个数</a:t>
            </a:r>
            <a:r>
              <a:rPr lang="en-US" altLang="zh-CN" sz="2000" dirty="0"/>
              <a:t>j;</a:t>
            </a:r>
            <a:br>
              <a:rPr lang="en-US" altLang="zh-CN" sz="2000" dirty="0"/>
            </a:br>
            <a:r>
              <a:rPr lang="en-US" altLang="zh-CN" sz="2000" dirty="0"/>
              <a:t>}</a:t>
            </a:r>
            <a:br>
              <a:rPr lang="en-US" altLang="zh-CN" sz="2000" dirty="0"/>
            </a:br>
            <a:endParaRPr lang="zh-CN" altLang="en-US" sz="2000" dirty="0"/>
          </a:p>
        </p:txBody>
      </p:sp>
      <p:pic>
        <p:nvPicPr>
          <p:cNvPr id="4" name="图片 3">
            <a:extLst>
              <a:ext uri="{FF2B5EF4-FFF2-40B4-BE49-F238E27FC236}">
                <a16:creationId xmlns:a16="http://schemas.microsoft.com/office/drawing/2014/main" id="{26410CEF-69E5-4703-9DC4-CA7DDDF601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1072" y="2252654"/>
            <a:ext cx="3237227" cy="2372686"/>
          </a:xfrm>
          <a:prstGeom prst="rect">
            <a:avLst/>
          </a:prstGeom>
        </p:spPr>
      </p:pic>
      <p:pic>
        <p:nvPicPr>
          <p:cNvPr id="6" name="图片 5">
            <a:extLst>
              <a:ext uri="{FF2B5EF4-FFF2-40B4-BE49-F238E27FC236}">
                <a16:creationId xmlns:a16="http://schemas.microsoft.com/office/drawing/2014/main" id="{C734701D-BE49-4A35-A402-782F1AB570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5312" y="2310044"/>
            <a:ext cx="3753915" cy="2237912"/>
          </a:xfrm>
          <a:prstGeom prst="rect">
            <a:avLst/>
          </a:prstGeom>
        </p:spPr>
      </p:pic>
    </p:spTree>
    <p:extLst>
      <p:ext uri="{BB962C8B-B14F-4D97-AF65-F5344CB8AC3E}">
        <p14:creationId xmlns:p14="http://schemas.microsoft.com/office/powerpoint/2010/main" val="891989290"/>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大纲</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软件工程概念</a:t>
            </a:r>
            <a:endParaRPr lang="en-US" altLang="zh-CN" dirty="0"/>
          </a:p>
          <a:p>
            <a:r>
              <a:rPr lang="zh-CN" altLang="en-US" dirty="0"/>
              <a:t>项目立项</a:t>
            </a:r>
            <a:endParaRPr lang="en-US" altLang="zh-CN" dirty="0"/>
          </a:p>
          <a:p>
            <a:r>
              <a:rPr lang="zh-CN" altLang="en-US" dirty="0"/>
              <a:t>需求分析</a:t>
            </a:r>
            <a:endParaRPr lang="en-US" altLang="zh-CN" dirty="0"/>
          </a:p>
          <a:p>
            <a:r>
              <a:rPr lang="zh-CN" altLang="en-US" dirty="0"/>
              <a:t>系统设计</a:t>
            </a:r>
            <a:endParaRPr lang="en-US" altLang="zh-CN" dirty="0"/>
          </a:p>
          <a:p>
            <a:r>
              <a:rPr lang="zh-CN" altLang="en-US" dirty="0">
                <a:solidFill>
                  <a:srgbClr val="FF0000"/>
                </a:solidFill>
              </a:rPr>
              <a:t>系统实现</a:t>
            </a:r>
            <a:endParaRPr lang="en-US" altLang="zh-CN" dirty="0">
              <a:solidFill>
                <a:srgbClr val="FF0000"/>
              </a:solidFill>
            </a:endParaRPr>
          </a:p>
          <a:p>
            <a:r>
              <a:rPr lang="zh-CN" altLang="en-US" dirty="0"/>
              <a:t>软件测试</a:t>
            </a:r>
          </a:p>
        </p:txBody>
      </p:sp>
    </p:spTree>
    <p:extLst>
      <p:ext uri="{BB962C8B-B14F-4D97-AF65-F5344CB8AC3E}">
        <p14:creationId xmlns:p14="http://schemas.microsoft.com/office/powerpoint/2010/main" val="1339695335"/>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5453BE-B6B7-4A81-813E-D75C37459013}"/>
              </a:ext>
            </a:extLst>
          </p:cNvPr>
          <p:cNvSpPr>
            <a:spLocks noGrp="1"/>
          </p:cNvSpPr>
          <p:nvPr>
            <p:ph type="title"/>
          </p:nvPr>
        </p:nvSpPr>
        <p:spPr/>
        <p:txBody>
          <a:bodyPr/>
          <a:lstStyle/>
          <a:p>
            <a:r>
              <a:rPr lang="zh-CN" altLang="en-US" dirty="0"/>
              <a:t>实现</a:t>
            </a:r>
          </a:p>
        </p:txBody>
      </p:sp>
      <p:sp>
        <p:nvSpPr>
          <p:cNvPr id="3" name="内容占位符 2">
            <a:extLst>
              <a:ext uri="{FF2B5EF4-FFF2-40B4-BE49-F238E27FC236}">
                <a16:creationId xmlns:a16="http://schemas.microsoft.com/office/drawing/2014/main" id="{834E9880-2293-4896-8DA0-74A85841F329}"/>
              </a:ext>
            </a:extLst>
          </p:cNvPr>
          <p:cNvSpPr>
            <a:spLocks noGrp="1"/>
          </p:cNvSpPr>
          <p:nvPr>
            <p:ph idx="1"/>
          </p:nvPr>
        </p:nvSpPr>
        <p:spPr/>
        <p:txBody>
          <a:bodyPr>
            <a:normAutofit/>
          </a:bodyPr>
          <a:lstStyle/>
          <a:p>
            <a:r>
              <a:rPr lang="zh-CN" altLang="en-US" dirty="0"/>
              <a:t>设计模式</a:t>
            </a:r>
            <a:endParaRPr lang="en-US" altLang="zh-CN" dirty="0"/>
          </a:p>
          <a:p>
            <a:pPr lvl="1"/>
            <a:r>
              <a:rPr lang="en-US" altLang="zh-CN" dirty="0"/>
              <a:t>Controller</a:t>
            </a:r>
            <a:r>
              <a:rPr lang="zh-CN" altLang="en-US" dirty="0"/>
              <a:t>（控制器）</a:t>
            </a:r>
            <a:endParaRPr lang="en-US" altLang="zh-CN" dirty="0"/>
          </a:p>
          <a:p>
            <a:pPr lvl="1"/>
            <a:r>
              <a:rPr lang="en-US" altLang="zh-CN" dirty="0"/>
              <a:t>Adapter</a:t>
            </a:r>
            <a:r>
              <a:rPr lang="zh-CN" altLang="en-US" dirty="0"/>
              <a:t>（适配器）</a:t>
            </a:r>
            <a:endParaRPr lang="en-US" altLang="zh-CN" dirty="0"/>
          </a:p>
          <a:p>
            <a:pPr lvl="1"/>
            <a:r>
              <a:rPr lang="en-US" altLang="zh-CN" dirty="0"/>
              <a:t>Singleton</a:t>
            </a:r>
            <a:r>
              <a:rPr lang="zh-CN" altLang="en-US" dirty="0"/>
              <a:t>（单例）</a:t>
            </a:r>
            <a:endParaRPr lang="en-US" altLang="zh-CN" dirty="0"/>
          </a:p>
          <a:p>
            <a:pPr lvl="1"/>
            <a:r>
              <a:rPr lang="en-US" altLang="zh-CN" dirty="0"/>
              <a:t>Factory</a:t>
            </a:r>
            <a:r>
              <a:rPr lang="zh-CN" altLang="en-US" dirty="0"/>
              <a:t>（工厂）</a:t>
            </a:r>
            <a:endParaRPr lang="en-US" altLang="zh-CN" dirty="0"/>
          </a:p>
          <a:p>
            <a:pPr lvl="1"/>
            <a:endParaRPr lang="en-US" altLang="zh-CN" dirty="0"/>
          </a:p>
          <a:p>
            <a:pPr lvl="1"/>
            <a:endParaRPr lang="en-US" altLang="zh-CN" dirty="0"/>
          </a:p>
          <a:p>
            <a:pPr lvl="1"/>
            <a:endParaRPr lang="en-US" altLang="zh-CN" dirty="0"/>
          </a:p>
          <a:p>
            <a:endParaRPr lang="zh-CN" altLang="en-US" dirty="0"/>
          </a:p>
        </p:txBody>
      </p:sp>
    </p:spTree>
    <p:extLst>
      <p:ext uri="{BB962C8B-B14F-4D97-AF65-F5344CB8AC3E}">
        <p14:creationId xmlns:p14="http://schemas.microsoft.com/office/powerpoint/2010/main" val="14970624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57E7338F-6B95-4EC5-95BC-DB35969D28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3F82FF-805D-40AA-BCDF-DE2CE7BE9277}" type="slidenum">
              <a:rPr lang="en-US" altLang="en-US"/>
              <a:pPr eaLnBrk="1" hangingPunct="1"/>
              <a:t>168</a:t>
            </a:fld>
            <a:endParaRPr lang="en-US" altLang="en-US"/>
          </a:p>
        </p:txBody>
      </p:sp>
      <p:pic>
        <p:nvPicPr>
          <p:cNvPr id="11268" name="Picture 6">
            <a:extLst>
              <a:ext uri="{FF2B5EF4-FFF2-40B4-BE49-F238E27FC236}">
                <a16:creationId xmlns:a16="http://schemas.microsoft.com/office/drawing/2014/main" id="{A74E1BA9-8900-4C35-96E2-F9C115CE58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4973" b="18141"/>
          <a:stretch/>
        </p:blipFill>
        <p:spPr bwMode="auto">
          <a:xfrm>
            <a:off x="2865864" y="2775955"/>
            <a:ext cx="6578496" cy="349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Rectangle 4">
            <a:extLst>
              <a:ext uri="{FF2B5EF4-FFF2-40B4-BE49-F238E27FC236}">
                <a16:creationId xmlns:a16="http://schemas.microsoft.com/office/drawing/2014/main" id="{7020A91D-58F6-4025-87E0-332FDBB320F5}"/>
              </a:ext>
            </a:extLst>
          </p:cNvPr>
          <p:cNvSpPr>
            <a:spLocks noChangeArrowheads="1"/>
          </p:cNvSpPr>
          <p:nvPr/>
        </p:nvSpPr>
        <p:spPr bwMode="auto">
          <a:xfrm>
            <a:off x="2286001" y="6519864"/>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1270" name="Footer Placeholder 4">
            <a:extLst>
              <a:ext uri="{FF2B5EF4-FFF2-40B4-BE49-F238E27FC236}">
                <a16:creationId xmlns:a16="http://schemas.microsoft.com/office/drawing/2014/main" id="{6A8A99B9-9B26-443D-90D4-723F0908B3C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0" name="标题 1">
            <a:extLst>
              <a:ext uri="{FF2B5EF4-FFF2-40B4-BE49-F238E27FC236}">
                <a16:creationId xmlns:a16="http://schemas.microsoft.com/office/drawing/2014/main" id="{AF8BB17A-B771-42DE-B503-236278478A1D}"/>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实现</a:t>
            </a:r>
          </a:p>
        </p:txBody>
      </p:sp>
      <p:sp>
        <p:nvSpPr>
          <p:cNvPr id="11" name="内容占位符 2">
            <a:extLst>
              <a:ext uri="{FF2B5EF4-FFF2-40B4-BE49-F238E27FC236}">
                <a16:creationId xmlns:a16="http://schemas.microsoft.com/office/drawing/2014/main" id="{CE8AB546-698C-486A-B571-FED011E49962}"/>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设计模式：</a:t>
            </a:r>
            <a:endParaRPr lang="en-US" altLang="zh-CN" dirty="0"/>
          </a:p>
          <a:p>
            <a:pPr lvl="1"/>
            <a:r>
              <a:rPr lang="en-US" altLang="zh-CN" dirty="0"/>
              <a:t>Controller</a:t>
            </a:r>
            <a:r>
              <a:rPr lang="zh-CN" altLang="en-US" dirty="0"/>
              <a:t>（控制器）：为了使</a:t>
            </a:r>
            <a:r>
              <a:rPr lang="en-US" altLang="zh-CN" dirty="0"/>
              <a:t>View Layer</a:t>
            </a:r>
            <a:r>
              <a:rPr lang="zh-CN" altLang="en-US" dirty="0"/>
              <a:t>和</a:t>
            </a:r>
            <a:r>
              <a:rPr lang="en-US" altLang="zh-CN" dirty="0"/>
              <a:t>Domain Layer</a:t>
            </a:r>
            <a:r>
              <a:rPr lang="zh-CN" altLang="en-US" dirty="0"/>
              <a:t>的类更松耦合</a:t>
            </a:r>
            <a:endParaRPr lang="en-US" altLang="zh-CN" dirty="0"/>
          </a:p>
        </p:txBody>
      </p:sp>
    </p:spTree>
    <p:extLst>
      <p:ext uri="{BB962C8B-B14F-4D97-AF65-F5344CB8AC3E}">
        <p14:creationId xmlns:p14="http://schemas.microsoft.com/office/powerpoint/2010/main" val="2346824913"/>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1CEDF91A-41E4-40AF-BBEB-7CD3630E2F0E}"/>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3" name="灯片编号占位符 2">
            <a:extLst>
              <a:ext uri="{FF2B5EF4-FFF2-40B4-BE49-F238E27FC236}">
                <a16:creationId xmlns:a16="http://schemas.microsoft.com/office/drawing/2014/main" id="{61A68416-B7DF-4831-8F27-10ED10E30B40}"/>
              </a:ext>
            </a:extLst>
          </p:cNvPr>
          <p:cNvSpPr>
            <a:spLocks noGrp="1"/>
          </p:cNvSpPr>
          <p:nvPr>
            <p:ph type="sldNum" sz="quarter" idx="12"/>
          </p:nvPr>
        </p:nvSpPr>
        <p:spPr/>
        <p:txBody>
          <a:bodyPr/>
          <a:lstStyle/>
          <a:p>
            <a:fld id="{0D5996A9-5AD3-4DEF-82DB-77A88BF5FB5A}" type="slidenum">
              <a:rPr lang="en-US" altLang="en-US" smtClean="0"/>
              <a:pPr/>
              <a:t>169</a:t>
            </a:fld>
            <a:endParaRPr lang="en-US" altLang="en-US"/>
          </a:p>
        </p:txBody>
      </p:sp>
      <p:sp>
        <p:nvSpPr>
          <p:cNvPr id="4" name="矩形 3">
            <a:extLst>
              <a:ext uri="{FF2B5EF4-FFF2-40B4-BE49-F238E27FC236}">
                <a16:creationId xmlns:a16="http://schemas.microsoft.com/office/drawing/2014/main" id="{D4122A05-EC8E-4A15-BDCD-FDE61B9AC6AC}"/>
              </a:ext>
            </a:extLst>
          </p:cNvPr>
          <p:cNvSpPr/>
          <p:nvPr/>
        </p:nvSpPr>
        <p:spPr>
          <a:xfrm>
            <a:off x="3784600" y="2445484"/>
            <a:ext cx="8186854" cy="3416320"/>
          </a:xfrm>
          <a:prstGeom prst="rect">
            <a:avLst/>
          </a:prstGeom>
        </p:spPr>
        <p:txBody>
          <a:bodyPr wrap="square">
            <a:spAutoFit/>
          </a:bodyPr>
          <a:lstStyle/>
          <a:p>
            <a:pPr algn="just"/>
            <a:r>
              <a:rPr lang="en-US" altLang="zh-CN" kern="100" dirty="0">
                <a:latin typeface="等线" panose="02010600030101010101" pitchFamily="2" charset="-122"/>
                <a:ea typeface="等线" panose="02010600030101010101" pitchFamily="2" charset="-122"/>
                <a:cs typeface="Times New Roman" panose="02020603050405020304" pitchFamily="18" charset="0"/>
              </a:rPr>
              <a:t>Public Class </a:t>
            </a:r>
            <a:r>
              <a:rPr lang="en-US" altLang="zh-CN" kern="100" dirty="0" err="1">
                <a:latin typeface="等线" panose="02010600030101010101" pitchFamily="2" charset="-122"/>
                <a:ea typeface="等线" panose="02010600030101010101" pitchFamily="2" charset="-122"/>
                <a:cs typeface="Times New Roman" panose="02020603050405020304" pitchFamily="18" charset="0"/>
              </a:rPr>
              <a:t>CustomerHandler</a:t>
            </a:r>
            <a:r>
              <a:rPr lang="en-US" altLang="zh-CN"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marL="133350" algn="just"/>
            <a:r>
              <a:rPr lang="en-US" altLang="zh-CN" kern="100" dirty="0">
                <a:latin typeface="等线" panose="02010600030101010101" pitchFamily="2" charset="-122"/>
                <a:ea typeface="等线" panose="02010600030101010101" pitchFamily="2" charset="-122"/>
                <a:cs typeface="Times New Roman" panose="02020603050405020304" pitchFamily="18" charset="0"/>
              </a:rPr>
              <a:t>Private </a:t>
            </a:r>
            <a:r>
              <a:rPr lang="en-US" altLang="zh-CN" kern="100" dirty="0" err="1">
                <a:latin typeface="等线" panose="02010600030101010101" pitchFamily="2" charset="-122"/>
                <a:ea typeface="等线" panose="02010600030101010101" pitchFamily="2" charset="-122"/>
                <a:cs typeface="Times New Roman" panose="02020603050405020304" pitchFamily="18" charset="0"/>
              </a:rPr>
              <a:t>Custormer</a:t>
            </a:r>
            <a:r>
              <a:rPr lang="en-US" altLang="zh-CN"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kern="100" dirty="0" err="1">
                <a:latin typeface="等线" panose="02010600030101010101" pitchFamily="2" charset="-122"/>
                <a:ea typeface="等线" panose="02010600030101010101" pitchFamily="2" charset="-122"/>
                <a:cs typeface="Times New Roman" panose="02020603050405020304" pitchFamily="18" charset="0"/>
              </a:rPr>
              <a:t>aC</a:t>
            </a:r>
            <a:r>
              <a:rPr lang="en-US" altLang="zh-CN" kern="100" dirty="0">
                <a:latin typeface="等线" panose="02010600030101010101" pitchFamily="2" charset="-122"/>
                <a:ea typeface="等线" panose="02010600030101010101" pitchFamily="2" charset="-122"/>
                <a:cs typeface="Times New Roman" panose="02020603050405020304" pitchFamily="18" charset="0"/>
              </a:rPr>
              <a:t>;</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marL="133350" algn="just"/>
            <a:r>
              <a:rPr lang="en-US" altLang="zh-CN" kern="100" dirty="0">
                <a:latin typeface="等线" panose="02010600030101010101" pitchFamily="2" charset="-122"/>
                <a:ea typeface="等线" panose="02010600030101010101" pitchFamily="2" charset="-122"/>
                <a:cs typeface="Times New Roman" panose="02020603050405020304" pitchFamily="18" charset="0"/>
              </a:rPr>
              <a:t>Public </a:t>
            </a:r>
            <a:r>
              <a:rPr lang="en-US" altLang="zh-CN" kern="100" dirty="0" err="1">
                <a:latin typeface="等线" panose="02010600030101010101" pitchFamily="2" charset="-122"/>
                <a:ea typeface="等线" panose="02010600030101010101" pitchFamily="2" charset="-122"/>
                <a:cs typeface="Times New Roman" panose="02020603050405020304" pitchFamily="18" charset="0"/>
              </a:rPr>
              <a:t>cusInfo</a:t>
            </a:r>
            <a:r>
              <a:rPr lang="en-US" altLang="zh-CN"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kern="100" dirty="0" err="1">
                <a:latin typeface="等线" panose="02010600030101010101" pitchFamily="2" charset="-122"/>
                <a:ea typeface="等线" panose="02010600030101010101" pitchFamily="2" charset="-122"/>
                <a:cs typeface="Times New Roman" panose="02020603050405020304" pitchFamily="18" charset="0"/>
              </a:rPr>
              <a:t>createNewCustomer</a:t>
            </a:r>
            <a:r>
              <a:rPr lang="en-US" altLang="zh-CN" kern="100" dirty="0">
                <a:latin typeface="等线" panose="02010600030101010101" pitchFamily="2" charset="-122"/>
                <a:ea typeface="等线" panose="02010600030101010101" pitchFamily="2" charset="-122"/>
                <a:cs typeface="Times New Roman" panose="02020603050405020304" pitchFamily="18" charset="0"/>
              </a:rPr>
              <a:t>(string name, string phone, string email) {</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marL="133350" algn="just"/>
            <a:r>
              <a:rPr lang="en-US" altLang="zh-CN"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kern="100" dirty="0" err="1">
                <a:latin typeface="等线" panose="02010600030101010101" pitchFamily="2" charset="-122"/>
                <a:ea typeface="等线" panose="02010600030101010101" pitchFamily="2" charset="-122"/>
                <a:cs typeface="Times New Roman" panose="02020603050405020304" pitchFamily="18" charset="0"/>
              </a:rPr>
              <a:t>aC</a:t>
            </a:r>
            <a:r>
              <a:rPr lang="en-US" altLang="zh-CN" kern="100" dirty="0">
                <a:latin typeface="等线" panose="02010600030101010101" pitchFamily="2" charset="-122"/>
                <a:ea typeface="等线" panose="02010600030101010101" pitchFamily="2" charset="-122"/>
                <a:cs typeface="Times New Roman" panose="02020603050405020304" pitchFamily="18" charset="0"/>
              </a:rPr>
              <a:t> = </a:t>
            </a:r>
            <a:r>
              <a:rPr lang="en-US" altLang="zh-CN" kern="100" dirty="0" err="1">
                <a:latin typeface="等线" panose="02010600030101010101" pitchFamily="2" charset="-122"/>
                <a:ea typeface="等线" panose="02010600030101010101" pitchFamily="2" charset="-122"/>
                <a:cs typeface="Times New Roman" panose="02020603050405020304" pitchFamily="18" charset="0"/>
              </a:rPr>
              <a:t>Customer.createNewCustomer</a:t>
            </a:r>
            <a:r>
              <a:rPr lang="en-US" altLang="zh-CN" kern="100" dirty="0">
                <a:latin typeface="等线" panose="02010600030101010101" pitchFamily="2" charset="-122"/>
                <a:ea typeface="等线" panose="02010600030101010101" pitchFamily="2" charset="-122"/>
                <a:cs typeface="Times New Roman" panose="02020603050405020304" pitchFamily="18" charset="0"/>
              </a:rPr>
              <a:t>(</a:t>
            </a:r>
            <a:r>
              <a:rPr lang="en-US" altLang="zh-CN" kern="100" dirty="0" err="1">
                <a:latin typeface="等线" panose="02010600030101010101" pitchFamily="2" charset="-122"/>
                <a:ea typeface="等线" panose="02010600030101010101" pitchFamily="2" charset="-122"/>
                <a:cs typeface="Times New Roman" panose="02020603050405020304" pitchFamily="18" charset="0"/>
              </a:rPr>
              <a:t>name,phone,email</a:t>
            </a:r>
            <a:r>
              <a:rPr lang="en-US" altLang="zh-CN" kern="100" dirty="0">
                <a:latin typeface="等线" panose="02010600030101010101" pitchFamily="2" charset="-122"/>
                <a:ea typeface="等线" panose="02010600030101010101" pitchFamily="2" charset="-122"/>
                <a:cs typeface="Times New Roman" panose="02020603050405020304" pitchFamily="18" charset="0"/>
              </a:rPr>
              <a:t>);</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marL="133350" algn="just"/>
            <a:r>
              <a:rPr lang="en-US" altLang="zh-CN" kern="100" dirty="0">
                <a:latin typeface="等线" panose="02010600030101010101" pitchFamily="2" charset="-122"/>
                <a:ea typeface="等线" panose="02010600030101010101" pitchFamily="2" charset="-122"/>
                <a:cs typeface="Times New Roman" panose="02020603050405020304" pitchFamily="18" charset="0"/>
              </a:rPr>
              <a:t>   return </a:t>
            </a:r>
            <a:r>
              <a:rPr lang="en-US" altLang="zh-CN" kern="100" dirty="0" err="1">
                <a:latin typeface="等线" panose="02010600030101010101" pitchFamily="2" charset="-122"/>
                <a:ea typeface="等线" panose="02010600030101010101" pitchFamily="2" charset="-122"/>
                <a:cs typeface="Times New Roman" panose="02020603050405020304" pitchFamily="18" charset="0"/>
              </a:rPr>
              <a:t>aC.getInfo</a:t>
            </a:r>
            <a:r>
              <a:rPr lang="en-US" altLang="zh-CN" kern="100" dirty="0">
                <a:latin typeface="等线" panose="02010600030101010101" pitchFamily="2" charset="-122"/>
                <a:ea typeface="等线" panose="02010600030101010101" pitchFamily="2" charset="-122"/>
                <a:cs typeface="Times New Roman" panose="02020603050405020304" pitchFamily="18" charset="0"/>
              </a:rPr>
              <a:t>();</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marL="133350" algn="just"/>
            <a:r>
              <a:rPr lang="en-US" altLang="zh-CN"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marL="133350" algn="just"/>
            <a:r>
              <a:rPr lang="en-US" altLang="zh-CN" kern="100" dirty="0">
                <a:latin typeface="等线" panose="02010600030101010101" pitchFamily="2" charset="-122"/>
                <a:ea typeface="等线" panose="02010600030101010101" pitchFamily="2" charset="-122"/>
                <a:cs typeface="Times New Roman" panose="02020603050405020304" pitchFamily="18" charset="0"/>
              </a:rPr>
              <a:t>Public String </a:t>
            </a:r>
            <a:r>
              <a:rPr lang="en-US" altLang="zh-CN" kern="100" dirty="0" err="1">
                <a:latin typeface="等线" panose="02010600030101010101" pitchFamily="2" charset="-122"/>
                <a:ea typeface="等线" panose="02010600030101010101" pitchFamily="2" charset="-122"/>
                <a:cs typeface="Times New Roman" panose="02020603050405020304" pitchFamily="18" charset="0"/>
              </a:rPr>
              <a:t>enterAddress</a:t>
            </a:r>
            <a:r>
              <a:rPr lang="en-US" altLang="zh-CN" kern="100" dirty="0">
                <a:latin typeface="等线" panose="02010600030101010101" pitchFamily="2" charset="-122"/>
                <a:ea typeface="等线" panose="02010600030101010101" pitchFamily="2" charset="-122"/>
                <a:cs typeface="Times New Roman" panose="02020603050405020304" pitchFamily="18" charset="0"/>
              </a:rPr>
              <a:t>(string address) {</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marL="133350" algn="just"/>
            <a:r>
              <a:rPr lang="en-US" altLang="zh-CN" kern="100" dirty="0">
                <a:latin typeface="等线" panose="02010600030101010101" pitchFamily="2" charset="-122"/>
                <a:ea typeface="等线" panose="02010600030101010101" pitchFamily="2" charset="-122"/>
                <a:cs typeface="Times New Roman" panose="02020603050405020304" pitchFamily="18" charset="0"/>
              </a:rPr>
              <a:t>String s = </a:t>
            </a:r>
            <a:r>
              <a:rPr lang="en-US" altLang="zh-CN" kern="100" dirty="0" err="1">
                <a:latin typeface="等线" panose="02010600030101010101" pitchFamily="2" charset="-122"/>
                <a:ea typeface="等线" panose="02010600030101010101" pitchFamily="2" charset="-122"/>
                <a:cs typeface="Times New Roman" panose="02020603050405020304" pitchFamily="18" charset="0"/>
              </a:rPr>
              <a:t>aC.enterAddress</a:t>
            </a:r>
            <a:r>
              <a:rPr lang="en-US" altLang="zh-CN" kern="100" dirty="0">
                <a:latin typeface="等线" panose="02010600030101010101" pitchFamily="2" charset="-122"/>
                <a:ea typeface="等线" panose="02010600030101010101" pitchFamily="2" charset="-122"/>
                <a:cs typeface="Times New Roman" panose="02020603050405020304" pitchFamily="18" charset="0"/>
              </a:rPr>
              <a:t>(address);</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marL="133350" algn="just"/>
            <a:r>
              <a:rPr lang="en-US" altLang="zh-CN" kern="100" dirty="0">
                <a:latin typeface="等线" panose="02010600030101010101" pitchFamily="2" charset="-122"/>
                <a:ea typeface="等线" panose="02010600030101010101" pitchFamily="2" charset="-122"/>
                <a:cs typeface="Times New Roman" panose="02020603050405020304" pitchFamily="18" charset="0"/>
              </a:rPr>
              <a:t>Return s;</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marL="133350" algn="just"/>
            <a:r>
              <a:rPr lang="en-US" altLang="zh-CN" kern="100" dirty="0">
                <a:latin typeface="等线" panose="02010600030101010101" pitchFamily="2" charset="-122"/>
                <a:ea typeface="等线" panose="02010600030101010101" pitchFamily="2" charset="-122"/>
                <a:cs typeface="Times New Roman" panose="02020603050405020304" pitchFamily="18" charset="0"/>
              </a:rPr>
              <a:t>}</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marL="133350" algn="just"/>
            <a:r>
              <a:rPr lang="en-US" altLang="zh-CN" kern="100" dirty="0">
                <a:latin typeface="等线" panose="02010600030101010101" pitchFamily="2" charset="-122"/>
                <a:ea typeface="等线" panose="02010600030101010101" pitchFamily="2" charset="-122"/>
                <a:cs typeface="Times New Roman" panose="02020603050405020304" pitchFamily="18" charset="0"/>
              </a:rPr>
              <a:t>…</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kern="100" dirty="0">
                <a:latin typeface="等线" panose="02010600030101010101" pitchFamily="2" charset="-122"/>
                <a:ea typeface="等线" panose="02010600030101010101" pitchFamily="2" charset="-122"/>
                <a:cs typeface="Times New Roman" panose="02020603050405020304" pitchFamily="18" charset="0"/>
              </a:rPr>
              <a:t>}</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p:pic>
        <p:nvPicPr>
          <p:cNvPr id="5" name="Picture 4">
            <a:extLst>
              <a:ext uri="{FF2B5EF4-FFF2-40B4-BE49-F238E27FC236}">
                <a16:creationId xmlns:a16="http://schemas.microsoft.com/office/drawing/2014/main" id="{8EDED6B4-7AEB-4074-9E5E-B1964AF13BD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8585" b="52809"/>
          <a:stretch/>
        </p:blipFill>
        <p:spPr bwMode="auto">
          <a:xfrm>
            <a:off x="4802665" y="136525"/>
            <a:ext cx="4506948" cy="2253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0721B055-60D4-4932-A5E3-70049EFFF29C}"/>
              </a:ext>
            </a:extLst>
          </p:cNvPr>
          <p:cNvSpPr/>
          <p:nvPr/>
        </p:nvSpPr>
        <p:spPr>
          <a:xfrm>
            <a:off x="3860800" y="2540000"/>
            <a:ext cx="8034454" cy="161713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609AAAA3-5C74-4504-A883-C082ADEA33FD}"/>
              </a:ext>
            </a:extLst>
          </p:cNvPr>
          <p:cNvSpPr txBox="1"/>
          <p:nvPr/>
        </p:nvSpPr>
        <p:spPr>
          <a:xfrm>
            <a:off x="97367" y="740813"/>
            <a:ext cx="6096000" cy="461665"/>
          </a:xfrm>
          <a:prstGeom prst="rect">
            <a:avLst/>
          </a:prstGeom>
          <a:noFill/>
        </p:spPr>
        <p:txBody>
          <a:bodyPr wrap="square">
            <a:spAutoFit/>
          </a:bodyPr>
          <a:lstStyle/>
          <a:p>
            <a:pPr lvl="1"/>
            <a:r>
              <a:rPr lang="zh-CN" altLang="en-US" sz="2400" dirty="0"/>
              <a:t>实现控制器代码：</a:t>
            </a:r>
          </a:p>
        </p:txBody>
      </p:sp>
    </p:spTree>
    <p:extLst>
      <p:ext uri="{BB962C8B-B14F-4D97-AF65-F5344CB8AC3E}">
        <p14:creationId xmlns:p14="http://schemas.microsoft.com/office/powerpoint/2010/main" val="3064776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52EAD0FC-5483-41D3-8607-ABF091FC00FD}"/>
              </a:ext>
            </a:extLst>
          </p:cNvPr>
          <p:cNvSpPr>
            <a:spLocks noGrp="1"/>
          </p:cNvSpPr>
          <p:nvPr>
            <p:ph type="sldNum" sz="quarter" idx="12"/>
          </p:nvPr>
        </p:nvSpPr>
        <p:spPr/>
        <p:txBody>
          <a:bodyPr/>
          <a:lstStyle/>
          <a:p>
            <a:fld id="{0D5996A9-5AD3-4DEF-82DB-77A88BF5FB5A}" type="slidenum">
              <a:rPr lang="en-US" altLang="en-US" smtClean="0"/>
              <a:pPr/>
              <a:t>170</a:t>
            </a:fld>
            <a:endParaRPr lang="en-US" altLang="en-US"/>
          </a:p>
        </p:txBody>
      </p:sp>
      <p:pic>
        <p:nvPicPr>
          <p:cNvPr id="6" name="图片 5">
            <a:extLst>
              <a:ext uri="{FF2B5EF4-FFF2-40B4-BE49-F238E27FC236}">
                <a16:creationId xmlns:a16="http://schemas.microsoft.com/office/drawing/2014/main" id="{C27B0C6B-A045-4FC1-BDF8-BBCFD0A690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1600" y="0"/>
            <a:ext cx="5486400" cy="6553200"/>
          </a:xfrm>
          <a:prstGeom prst="rect">
            <a:avLst/>
          </a:prstGeom>
        </p:spPr>
      </p:pic>
      <p:pic>
        <p:nvPicPr>
          <p:cNvPr id="7" name="Picture 4">
            <a:extLst>
              <a:ext uri="{FF2B5EF4-FFF2-40B4-BE49-F238E27FC236}">
                <a16:creationId xmlns:a16="http://schemas.microsoft.com/office/drawing/2014/main" id="{09DD5C3B-F189-41E2-A9AD-A762CF95E0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7" t="925" r="1205" b="1388"/>
          <a:stretch/>
        </p:blipFill>
        <p:spPr bwMode="auto">
          <a:xfrm>
            <a:off x="419099" y="2087033"/>
            <a:ext cx="352884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6349F857-7661-4B68-B997-DBB1C2C5DEE1}"/>
              </a:ext>
            </a:extLst>
          </p:cNvPr>
          <p:cNvSpPr/>
          <p:nvPr/>
        </p:nvSpPr>
        <p:spPr>
          <a:xfrm>
            <a:off x="5334000" y="1905000"/>
            <a:ext cx="5257800" cy="12192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1FA0E277-9C3F-407A-AFDE-74F254A939E2}"/>
              </a:ext>
            </a:extLst>
          </p:cNvPr>
          <p:cNvSpPr/>
          <p:nvPr/>
        </p:nvSpPr>
        <p:spPr>
          <a:xfrm>
            <a:off x="5334001" y="3124201"/>
            <a:ext cx="5257800" cy="1219200"/>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a:extLst>
              <a:ext uri="{FF2B5EF4-FFF2-40B4-BE49-F238E27FC236}">
                <a16:creationId xmlns:a16="http://schemas.microsoft.com/office/drawing/2014/main" id="{8E3D2349-975D-44FD-8341-4BDF9D259535}"/>
              </a:ext>
            </a:extLst>
          </p:cNvPr>
          <p:cNvCxnSpPr/>
          <p:nvPr/>
        </p:nvCxnSpPr>
        <p:spPr>
          <a:xfrm flipH="1">
            <a:off x="6400800" y="2743200"/>
            <a:ext cx="76200" cy="38100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2BD2B97F-379F-4AB7-A928-AB56FCC9B89A}"/>
              </a:ext>
            </a:extLst>
          </p:cNvPr>
          <p:cNvSpPr txBox="1"/>
          <p:nvPr/>
        </p:nvSpPr>
        <p:spPr>
          <a:xfrm>
            <a:off x="97367" y="740813"/>
            <a:ext cx="6096000" cy="461665"/>
          </a:xfrm>
          <a:prstGeom prst="rect">
            <a:avLst/>
          </a:prstGeom>
          <a:noFill/>
        </p:spPr>
        <p:txBody>
          <a:bodyPr wrap="square">
            <a:spAutoFit/>
          </a:bodyPr>
          <a:lstStyle/>
          <a:p>
            <a:pPr lvl="1"/>
            <a:r>
              <a:rPr lang="zh-CN" altLang="en-US" sz="2400" dirty="0"/>
              <a:t>实现对应类：</a:t>
            </a:r>
          </a:p>
        </p:txBody>
      </p:sp>
    </p:spTree>
    <p:extLst>
      <p:ext uri="{BB962C8B-B14F-4D97-AF65-F5344CB8AC3E}">
        <p14:creationId xmlns:p14="http://schemas.microsoft.com/office/powerpoint/2010/main" val="2833752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9398B413-7342-4CC8-931A-933A7C29FE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2F268A-9642-47D3-B315-8FAC8654C71C}" type="slidenum">
              <a:rPr lang="en-US" altLang="en-US"/>
              <a:pPr eaLnBrk="1" hangingPunct="1"/>
              <a:t>171</a:t>
            </a:fld>
            <a:endParaRPr lang="en-US" altLang="en-US"/>
          </a:p>
        </p:txBody>
      </p:sp>
      <p:pic>
        <p:nvPicPr>
          <p:cNvPr id="39940" name="Picture 4">
            <a:extLst>
              <a:ext uri="{FF2B5EF4-FFF2-40B4-BE49-F238E27FC236}">
                <a16:creationId xmlns:a16="http://schemas.microsoft.com/office/drawing/2014/main" id="{87BA9B5B-76A8-4423-88B3-C110CEEA744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778" r="878" b="16945"/>
          <a:stretch/>
        </p:blipFill>
        <p:spPr bwMode="auto">
          <a:xfrm>
            <a:off x="2836334" y="2922229"/>
            <a:ext cx="5317066" cy="3064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Rectangle 4">
            <a:extLst>
              <a:ext uri="{FF2B5EF4-FFF2-40B4-BE49-F238E27FC236}">
                <a16:creationId xmlns:a16="http://schemas.microsoft.com/office/drawing/2014/main" id="{B0B18CCB-C1A2-492E-8D91-A04095E2A67D}"/>
              </a:ext>
            </a:extLst>
          </p:cNvPr>
          <p:cNvSpPr>
            <a:spLocks noChangeArrowheads="1"/>
          </p:cNvSpPr>
          <p:nvPr/>
        </p:nvSpPr>
        <p:spPr bwMode="auto">
          <a:xfrm>
            <a:off x="2286001" y="6519864"/>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39942" name="Footer Placeholder 4">
            <a:extLst>
              <a:ext uri="{FF2B5EF4-FFF2-40B4-BE49-F238E27FC236}">
                <a16:creationId xmlns:a16="http://schemas.microsoft.com/office/drawing/2014/main" id="{D31D0FB3-1B32-41B4-9434-159E6888A1A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 name="矩形 1">
            <a:extLst>
              <a:ext uri="{FF2B5EF4-FFF2-40B4-BE49-F238E27FC236}">
                <a16:creationId xmlns:a16="http://schemas.microsoft.com/office/drawing/2014/main" id="{E56E79A9-2DB5-43EA-9984-DC1EE26526FA}"/>
              </a:ext>
            </a:extLst>
          </p:cNvPr>
          <p:cNvSpPr/>
          <p:nvPr/>
        </p:nvSpPr>
        <p:spPr>
          <a:xfrm>
            <a:off x="5260524" y="4920364"/>
            <a:ext cx="990600" cy="1066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标题 1">
            <a:extLst>
              <a:ext uri="{FF2B5EF4-FFF2-40B4-BE49-F238E27FC236}">
                <a16:creationId xmlns:a16="http://schemas.microsoft.com/office/drawing/2014/main" id="{D3450300-CA84-49AE-A16C-735BD33035B1}"/>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t>实现</a:t>
            </a:r>
          </a:p>
        </p:txBody>
      </p:sp>
      <p:sp>
        <p:nvSpPr>
          <p:cNvPr id="11" name="内容占位符 2">
            <a:extLst>
              <a:ext uri="{FF2B5EF4-FFF2-40B4-BE49-F238E27FC236}">
                <a16:creationId xmlns:a16="http://schemas.microsoft.com/office/drawing/2014/main" id="{3584F21D-4658-4A85-914B-9718D83C6D2D}"/>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设计模式：</a:t>
            </a:r>
            <a:endParaRPr lang="en-US" altLang="zh-CN" dirty="0"/>
          </a:p>
          <a:p>
            <a:pPr lvl="1"/>
            <a:r>
              <a:rPr lang="en-US" altLang="zh-CN" dirty="0"/>
              <a:t>Adapter</a:t>
            </a:r>
            <a:r>
              <a:rPr lang="zh-CN" altLang="en-US" dirty="0"/>
              <a:t>（适配器）：为了应对类的修改</a:t>
            </a:r>
            <a:endParaRPr lang="en-US" altLang="zh-CN"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EEFB4BFB-5A2B-4C31-AD18-BD28996B1ED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253E030-3DD2-42CD-857E-619A79F321F0}" type="slidenum">
              <a:rPr lang="en-US" altLang="en-US"/>
              <a:pPr eaLnBrk="1" hangingPunct="1"/>
              <a:t>172</a:t>
            </a:fld>
            <a:endParaRPr lang="en-US" altLang="en-US"/>
          </a:p>
        </p:txBody>
      </p:sp>
      <p:pic>
        <p:nvPicPr>
          <p:cNvPr id="41988" name="Picture 4">
            <a:extLst>
              <a:ext uri="{FF2B5EF4-FFF2-40B4-BE49-F238E27FC236}">
                <a16:creationId xmlns:a16="http://schemas.microsoft.com/office/drawing/2014/main" id="{780811E0-9BD3-43AE-B179-18389566CE8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3238" r="5582" b="18636"/>
          <a:stretch/>
        </p:blipFill>
        <p:spPr bwMode="auto">
          <a:xfrm>
            <a:off x="3596986" y="2820856"/>
            <a:ext cx="6452656" cy="3356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Rectangle 4">
            <a:extLst>
              <a:ext uri="{FF2B5EF4-FFF2-40B4-BE49-F238E27FC236}">
                <a16:creationId xmlns:a16="http://schemas.microsoft.com/office/drawing/2014/main" id="{5BE478FA-227F-422E-BC4A-D43A7AAB9EA3}"/>
              </a:ext>
            </a:extLst>
          </p:cNvPr>
          <p:cNvSpPr>
            <a:spLocks noChangeArrowheads="1"/>
          </p:cNvSpPr>
          <p:nvPr/>
        </p:nvSpPr>
        <p:spPr bwMode="auto">
          <a:xfrm>
            <a:off x="2286001" y="6519864"/>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41990" name="Footer Placeholder 4">
            <a:extLst>
              <a:ext uri="{FF2B5EF4-FFF2-40B4-BE49-F238E27FC236}">
                <a16:creationId xmlns:a16="http://schemas.microsoft.com/office/drawing/2014/main" id="{C791F680-91B8-4871-8D1C-8EE9A7622A5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9" name="标题 1">
            <a:extLst>
              <a:ext uri="{FF2B5EF4-FFF2-40B4-BE49-F238E27FC236}">
                <a16:creationId xmlns:a16="http://schemas.microsoft.com/office/drawing/2014/main" id="{457DAD25-AAFA-4C84-A6CE-06486B0A3493}"/>
              </a:ext>
            </a:extLst>
          </p:cNvPr>
          <p:cNvSpPr>
            <a:spLocks noGrp="1"/>
          </p:cNvSpPr>
          <p:nvPr>
            <p:ph type="title"/>
          </p:nvPr>
        </p:nvSpPr>
        <p:spPr>
          <a:xfrm>
            <a:off x="838200" y="365125"/>
            <a:ext cx="10515600" cy="1325563"/>
          </a:xfrm>
        </p:spPr>
        <p:txBody>
          <a:bodyPr/>
          <a:lstStyle/>
          <a:p>
            <a:r>
              <a:rPr lang="zh-CN" altLang="en-US" dirty="0"/>
              <a:t>实现</a:t>
            </a:r>
          </a:p>
        </p:txBody>
      </p:sp>
      <p:sp>
        <p:nvSpPr>
          <p:cNvPr id="10" name="内容占位符 2">
            <a:extLst>
              <a:ext uri="{FF2B5EF4-FFF2-40B4-BE49-F238E27FC236}">
                <a16:creationId xmlns:a16="http://schemas.microsoft.com/office/drawing/2014/main" id="{AA30F2C7-95DE-4CDE-87DC-F8D4A3D995EE}"/>
              </a:ext>
            </a:extLst>
          </p:cNvPr>
          <p:cNvSpPr>
            <a:spLocks noGrp="1"/>
          </p:cNvSpPr>
          <p:nvPr>
            <p:ph idx="1"/>
          </p:nvPr>
        </p:nvSpPr>
        <p:spPr>
          <a:xfrm>
            <a:off x="838200" y="1825625"/>
            <a:ext cx="10515600" cy="4351338"/>
          </a:xfrm>
        </p:spPr>
        <p:txBody>
          <a:bodyPr/>
          <a:lstStyle/>
          <a:p>
            <a:r>
              <a:rPr lang="zh-CN" altLang="en-US" dirty="0"/>
              <a:t>设计模式</a:t>
            </a:r>
            <a:endParaRPr lang="en-US" altLang="zh-CN" dirty="0"/>
          </a:p>
          <a:p>
            <a:pPr lvl="1"/>
            <a:r>
              <a:rPr lang="en-US" altLang="zh-CN" dirty="0"/>
              <a:t>Singleton</a:t>
            </a:r>
            <a:r>
              <a:rPr lang="zh-CN" altLang="en-US" dirty="0"/>
              <a:t>（单例）：系统中有且只有一个单例对象</a:t>
            </a:r>
            <a:endParaRPr lang="en-US" altLang="zh-CN" dirty="0"/>
          </a:p>
          <a:p>
            <a:pPr lvl="1"/>
            <a:endParaRPr lang="en-US" altLang="zh-CN" dirty="0"/>
          </a:p>
          <a:p>
            <a:pPr lvl="1"/>
            <a:endParaRPr lang="en-US" altLang="zh-CN" dirty="0"/>
          </a:p>
          <a:p>
            <a:endParaRPr lang="zh-CN" altLang="en-US" dirty="0"/>
          </a:p>
        </p:txBody>
      </p:sp>
      <p:pic>
        <p:nvPicPr>
          <p:cNvPr id="8" name="图片 7">
            <a:extLst>
              <a:ext uri="{FF2B5EF4-FFF2-40B4-BE49-F238E27FC236}">
                <a16:creationId xmlns:a16="http://schemas.microsoft.com/office/drawing/2014/main" id="{B8915FF2-E65C-4E15-8923-B7B421A2D97B}"/>
              </a:ext>
            </a:extLst>
          </p:cNvPr>
          <p:cNvPicPr/>
          <p:nvPr/>
        </p:nvPicPr>
        <p:blipFill>
          <a:blip r:embed="rId4">
            <a:extLst>
              <a:ext uri="{28A0092B-C50C-407E-A947-70E740481C1C}">
                <a14:useLocalDpi xmlns:a14="http://schemas.microsoft.com/office/drawing/2010/main" val="0"/>
              </a:ext>
            </a:extLst>
          </a:blip>
          <a:stretch>
            <a:fillRect/>
          </a:stretch>
        </p:blipFill>
        <p:spPr>
          <a:xfrm>
            <a:off x="915975" y="2959099"/>
            <a:ext cx="2543810" cy="3225800"/>
          </a:xfrm>
          <a:prstGeom prst="rect">
            <a:avLst/>
          </a:prstGeom>
        </p:spPr>
      </p:pic>
      <p:sp>
        <p:nvSpPr>
          <p:cNvPr id="11" name="矩形 10">
            <a:extLst>
              <a:ext uri="{FF2B5EF4-FFF2-40B4-BE49-F238E27FC236}">
                <a16:creationId xmlns:a16="http://schemas.microsoft.com/office/drawing/2014/main" id="{394E9ABB-9B7D-45AA-9FDE-99ACADB7153A}"/>
              </a:ext>
            </a:extLst>
          </p:cNvPr>
          <p:cNvSpPr/>
          <p:nvPr/>
        </p:nvSpPr>
        <p:spPr>
          <a:xfrm>
            <a:off x="5024438" y="4055268"/>
            <a:ext cx="624539" cy="16388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B4A5EF04-D849-4DF0-ACCA-6855BCF71D00}"/>
              </a:ext>
            </a:extLst>
          </p:cNvPr>
          <p:cNvSpPr/>
          <p:nvPr/>
        </p:nvSpPr>
        <p:spPr>
          <a:xfrm>
            <a:off x="5648977" y="4055268"/>
            <a:ext cx="447023" cy="16388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4A7C3FF8-5CD4-4DFF-BB3C-37072BACCEF3}"/>
              </a:ext>
            </a:extLst>
          </p:cNvPr>
          <p:cNvSpPr/>
          <p:nvPr/>
        </p:nvSpPr>
        <p:spPr>
          <a:xfrm>
            <a:off x="5024439" y="4223120"/>
            <a:ext cx="514350" cy="16388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087E6868-BF92-424E-B59C-86A57EBE91EB}"/>
              </a:ext>
            </a:extLst>
          </p:cNvPr>
          <p:cNvSpPr/>
          <p:nvPr/>
        </p:nvSpPr>
        <p:spPr>
          <a:xfrm>
            <a:off x="5538789" y="4218782"/>
            <a:ext cx="923924" cy="16388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6AA00ACB-52BB-4069-AB60-C4A5AB2A36C1}"/>
              </a:ext>
            </a:extLst>
          </p:cNvPr>
          <p:cNvSpPr/>
          <p:nvPr/>
        </p:nvSpPr>
        <p:spPr>
          <a:xfrm>
            <a:off x="6462714" y="4218782"/>
            <a:ext cx="481012" cy="16388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D72ACE36-0004-4848-BE91-8A1894B9B4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A42126C-63CE-4E51-BCC6-5FFD9DE3ACD1}" type="slidenum">
              <a:rPr lang="en-US" altLang="en-US"/>
              <a:pPr eaLnBrk="1" hangingPunct="1"/>
              <a:t>173</a:t>
            </a:fld>
            <a:endParaRPr lang="en-US" altLang="en-US"/>
          </a:p>
        </p:txBody>
      </p:sp>
      <p:pic>
        <p:nvPicPr>
          <p:cNvPr id="40964" name="Picture 5">
            <a:extLst>
              <a:ext uri="{FF2B5EF4-FFF2-40B4-BE49-F238E27FC236}">
                <a16:creationId xmlns:a16="http://schemas.microsoft.com/office/drawing/2014/main" id="{D0456538-84E1-4BC2-9A7D-C3A0523F5AD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6530" r="784" b="8861"/>
          <a:stretch/>
        </p:blipFill>
        <p:spPr bwMode="auto">
          <a:xfrm>
            <a:off x="2930524" y="2630488"/>
            <a:ext cx="5222876" cy="388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Rectangle 4">
            <a:extLst>
              <a:ext uri="{FF2B5EF4-FFF2-40B4-BE49-F238E27FC236}">
                <a16:creationId xmlns:a16="http://schemas.microsoft.com/office/drawing/2014/main" id="{79E69BB2-C5F9-4F70-84F3-30DBB302BA47}"/>
              </a:ext>
            </a:extLst>
          </p:cNvPr>
          <p:cNvSpPr>
            <a:spLocks noChangeArrowheads="1"/>
          </p:cNvSpPr>
          <p:nvPr/>
        </p:nvSpPr>
        <p:spPr bwMode="auto">
          <a:xfrm>
            <a:off x="2286001" y="6519864"/>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7" name="矩形 6">
            <a:extLst>
              <a:ext uri="{FF2B5EF4-FFF2-40B4-BE49-F238E27FC236}">
                <a16:creationId xmlns:a16="http://schemas.microsoft.com/office/drawing/2014/main" id="{F2F3F588-7505-4732-B2A9-8C3AF7D27C2B}"/>
              </a:ext>
            </a:extLst>
          </p:cNvPr>
          <p:cNvSpPr/>
          <p:nvPr/>
        </p:nvSpPr>
        <p:spPr>
          <a:xfrm>
            <a:off x="6588124" y="5224463"/>
            <a:ext cx="1143000" cy="1295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E53B337D-5E6B-43DC-8B31-CD18C5BCDE51}"/>
              </a:ext>
            </a:extLst>
          </p:cNvPr>
          <p:cNvSpPr/>
          <p:nvPr/>
        </p:nvSpPr>
        <p:spPr>
          <a:xfrm>
            <a:off x="6359524" y="4081463"/>
            <a:ext cx="1066800" cy="1143000"/>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标题 1">
            <a:extLst>
              <a:ext uri="{FF2B5EF4-FFF2-40B4-BE49-F238E27FC236}">
                <a16:creationId xmlns:a16="http://schemas.microsoft.com/office/drawing/2014/main" id="{53881F80-8553-494E-BA80-D43AADC9B791}"/>
              </a:ext>
            </a:extLst>
          </p:cNvPr>
          <p:cNvSpPr>
            <a:spLocks noGrp="1"/>
          </p:cNvSpPr>
          <p:nvPr>
            <p:ph type="title"/>
          </p:nvPr>
        </p:nvSpPr>
        <p:spPr>
          <a:xfrm>
            <a:off x="838200" y="365125"/>
            <a:ext cx="10515600" cy="1325563"/>
          </a:xfrm>
        </p:spPr>
        <p:txBody>
          <a:bodyPr/>
          <a:lstStyle/>
          <a:p>
            <a:r>
              <a:rPr lang="zh-CN" altLang="en-US" dirty="0"/>
              <a:t>实现</a:t>
            </a:r>
          </a:p>
        </p:txBody>
      </p:sp>
      <p:sp>
        <p:nvSpPr>
          <p:cNvPr id="12" name="内容占位符 2">
            <a:extLst>
              <a:ext uri="{FF2B5EF4-FFF2-40B4-BE49-F238E27FC236}">
                <a16:creationId xmlns:a16="http://schemas.microsoft.com/office/drawing/2014/main" id="{05826407-5BDB-4BCB-9524-AB614F54877F}"/>
              </a:ext>
            </a:extLst>
          </p:cNvPr>
          <p:cNvSpPr>
            <a:spLocks noGrp="1"/>
          </p:cNvSpPr>
          <p:nvPr>
            <p:ph idx="1"/>
          </p:nvPr>
        </p:nvSpPr>
        <p:spPr>
          <a:xfrm>
            <a:off x="838200" y="1825625"/>
            <a:ext cx="10515600" cy="4351338"/>
          </a:xfrm>
        </p:spPr>
        <p:txBody>
          <a:bodyPr/>
          <a:lstStyle/>
          <a:p>
            <a:r>
              <a:rPr lang="zh-CN" altLang="en-US" dirty="0"/>
              <a:t>设计模式</a:t>
            </a:r>
            <a:endParaRPr lang="en-US" altLang="zh-CN" dirty="0"/>
          </a:p>
          <a:p>
            <a:pPr lvl="1"/>
            <a:r>
              <a:rPr lang="en-US" altLang="zh-CN" dirty="0"/>
              <a:t>Factory</a:t>
            </a:r>
            <a:r>
              <a:rPr lang="zh-CN" altLang="en-US" dirty="0"/>
              <a:t>（工厂）：批量化地生产工具类</a:t>
            </a:r>
            <a:endParaRPr lang="en-US" altLang="zh-CN" dirty="0"/>
          </a:p>
          <a:p>
            <a:pPr lvl="1"/>
            <a:endParaRPr lang="en-US" altLang="zh-CN" dirty="0"/>
          </a:p>
          <a:p>
            <a:pPr lvl="1"/>
            <a:endParaRPr lang="en-US" altLang="zh-CN" dirty="0"/>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0F0F5AC-DCBA-4F5A-BE73-D538A27CC1FA}"/>
              </a:ext>
            </a:extLst>
          </p:cNvPr>
          <p:cNvSpPr>
            <a:spLocks noGrp="1"/>
          </p:cNvSpPr>
          <p:nvPr>
            <p:ph idx="1"/>
          </p:nvPr>
        </p:nvSpPr>
        <p:spPr>
          <a:xfrm>
            <a:off x="343421" y="128348"/>
            <a:ext cx="10515600" cy="4351338"/>
          </a:xfrm>
        </p:spPr>
        <p:txBody>
          <a:bodyPr>
            <a:noAutofit/>
          </a:bodyPr>
          <a:lstStyle/>
          <a:p>
            <a:pPr indent="304800" algn="just">
              <a:lnSpc>
                <a:spcPct val="200000"/>
              </a:lnSpc>
            </a:pPr>
            <a:r>
              <a:rPr lang="en-US" altLang="zh-CN" sz="1800" dirty="0"/>
              <a:t>【</a:t>
            </a:r>
            <a:r>
              <a:rPr lang="zh-CN" altLang="en-US" sz="1800" dirty="0"/>
              <a:t>应用</a:t>
            </a:r>
            <a:r>
              <a:rPr lang="en-US" altLang="zh-CN" sz="1800" dirty="0"/>
              <a:t>】</a:t>
            </a:r>
            <a:r>
              <a:rPr lang="zh-CN" altLang="en-US" sz="1800" dirty="0"/>
              <a:t>现有支付宝支付类</a:t>
            </a:r>
            <a:r>
              <a:rPr lang="en-US" altLang="zh-CN" sz="1800" dirty="0"/>
              <a:t>Alipay</a:t>
            </a:r>
            <a:r>
              <a:rPr lang="zh-CN" altLang="en-US" sz="1800" dirty="0"/>
              <a:t>和微信支付类</a:t>
            </a:r>
            <a:r>
              <a:rPr lang="en-US" altLang="zh-CN" sz="1800" dirty="0" err="1"/>
              <a:t>Wechatpay</a:t>
            </a:r>
            <a:r>
              <a:rPr lang="zh-CN" altLang="en-US" sz="1800" dirty="0"/>
              <a:t>，请撰写一个适配器，让客户能够通过第三方接口</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Payment</a:t>
            </a:r>
            <a:r>
              <a:rPr lang="zh-CN" altLang="en-US" sz="1800" dirty="0"/>
              <a:t>实现支付宝支付和微信支付。</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indent="304800" algn="just">
              <a:lnSpc>
                <a:spcPct val="200000"/>
              </a:lnSpc>
            </a:pPr>
            <a:r>
              <a:rPr lang="zh-CN" altLang="en-US" sz="1400" kern="100" dirty="0">
                <a:effectLst/>
                <a:latin typeface="Times New Roman" panose="02020603050405020304" pitchFamily="18" charset="0"/>
                <a:ea typeface="宋体" panose="02010600030101010101" pitchFamily="2" charset="-122"/>
                <a:cs typeface="Times New Roman" panose="02020603050405020304" pitchFamily="18" charset="0"/>
              </a:rPr>
              <a:t>答案：</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为了解决该问题，首先定义系统标准支付接口：</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系统标准支付接口</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interface Payment {</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void pay(double amount);</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endParaRPr lang="zh-CN" altLang="en-US" sz="1800" dirty="0"/>
          </a:p>
        </p:txBody>
      </p:sp>
      <p:sp>
        <p:nvSpPr>
          <p:cNvPr id="5" name="文本框 4">
            <a:extLst>
              <a:ext uri="{FF2B5EF4-FFF2-40B4-BE49-F238E27FC236}">
                <a16:creationId xmlns:a16="http://schemas.microsoft.com/office/drawing/2014/main" id="{B6787443-055F-4E66-BE8E-DF11E6C9F44E}"/>
              </a:ext>
            </a:extLst>
          </p:cNvPr>
          <p:cNvSpPr txBox="1"/>
          <p:nvPr/>
        </p:nvSpPr>
        <p:spPr>
          <a:xfrm>
            <a:off x="5601221" y="1352039"/>
            <a:ext cx="6097044" cy="3754874"/>
          </a:xfrm>
          <a:prstGeom prst="rect">
            <a:avLst/>
          </a:prstGeom>
          <a:noFill/>
        </p:spPr>
        <p:txBody>
          <a:bodyPr wrap="square">
            <a:spAutoFit/>
          </a:bodyPr>
          <a:lstStyle/>
          <a:p>
            <a:pPr indent="304800" algn="just">
              <a:lnSpc>
                <a:spcPct val="200000"/>
              </a:lnSpc>
            </a:pP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其次，定义第三方支付类：</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支付宝支付类，方法名和参数与标准接口不同</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class Alipay {</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public void </a:t>
            </a:r>
            <a:r>
              <a:rPr lang="en-US" altLang="zh-CN" sz="1400" kern="100" dirty="0" err="1">
                <a:effectLst/>
                <a:latin typeface="Times New Roman" panose="02020603050405020304" pitchFamily="18" charset="0"/>
                <a:ea typeface="宋体" panose="02010600030101010101" pitchFamily="2" charset="-122"/>
                <a:cs typeface="Times New Roman" panose="02020603050405020304" pitchFamily="18" charset="0"/>
              </a:rPr>
              <a:t>doPay</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(String </a:t>
            </a:r>
            <a:r>
              <a:rPr lang="en-US" altLang="zh-CN" sz="1400" kern="100" dirty="0" err="1">
                <a:effectLst/>
                <a:latin typeface="Times New Roman" panose="02020603050405020304" pitchFamily="18" charset="0"/>
                <a:ea typeface="宋体" panose="02010600030101010101" pitchFamily="2" charset="-122"/>
                <a:cs typeface="Times New Roman" panose="02020603050405020304" pitchFamily="18" charset="0"/>
              </a:rPr>
              <a:t>orderId</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double money) {</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kern="100" dirty="0" err="1">
                <a:effectLst/>
                <a:latin typeface="Times New Roman" panose="02020603050405020304" pitchFamily="18" charset="0"/>
                <a:ea typeface="宋体" panose="02010600030101010101" pitchFamily="2" charset="-122"/>
                <a:cs typeface="Times New Roman" panose="02020603050405020304" pitchFamily="18" charset="0"/>
              </a:rPr>
              <a:t>System.out.println</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使用支付宝支付</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 + money + " </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元，订单号：</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400" kern="100" dirty="0" err="1">
                <a:effectLst/>
                <a:latin typeface="Times New Roman" panose="02020603050405020304" pitchFamily="18" charset="0"/>
                <a:ea typeface="宋体" panose="02010600030101010101" pitchFamily="2" charset="-122"/>
                <a:cs typeface="Times New Roman" panose="02020603050405020304" pitchFamily="18" charset="0"/>
              </a:rPr>
              <a:t>orderId</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微信支付类，方法名和参数与标准接口不同</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class </a:t>
            </a:r>
            <a:r>
              <a:rPr lang="en-US" altLang="zh-CN" sz="1400" kern="100" dirty="0" err="1">
                <a:effectLst/>
                <a:latin typeface="Times New Roman" panose="02020603050405020304" pitchFamily="18" charset="0"/>
                <a:ea typeface="宋体" panose="02010600030101010101" pitchFamily="2" charset="-122"/>
                <a:cs typeface="Times New Roman" panose="02020603050405020304" pitchFamily="18" charset="0"/>
              </a:rPr>
              <a:t>WechatPay</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public void </a:t>
            </a:r>
            <a:r>
              <a:rPr lang="en-US" altLang="zh-CN" sz="1400" kern="100" dirty="0" err="1">
                <a:effectLst/>
                <a:latin typeface="Times New Roman" panose="02020603050405020304" pitchFamily="18" charset="0"/>
                <a:ea typeface="宋体" panose="02010600030101010101" pitchFamily="2" charset="-122"/>
                <a:cs typeface="Times New Roman" panose="02020603050405020304" pitchFamily="18" charset="0"/>
              </a:rPr>
              <a:t>executePayment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(double amount, String </a:t>
            </a:r>
            <a:r>
              <a:rPr lang="en-US" altLang="zh-CN" sz="1400" kern="100" dirty="0" err="1">
                <a:effectLst/>
                <a:latin typeface="Times New Roman" panose="02020603050405020304" pitchFamily="18" charset="0"/>
                <a:ea typeface="宋体" panose="02010600030101010101" pitchFamily="2" charset="-122"/>
                <a:cs typeface="Times New Roman" panose="02020603050405020304" pitchFamily="18" charset="0"/>
              </a:rPr>
              <a:t>transactionId</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kern="100" dirty="0" err="1">
                <a:effectLst/>
                <a:latin typeface="Times New Roman" panose="02020603050405020304" pitchFamily="18" charset="0"/>
                <a:ea typeface="宋体" panose="02010600030101010101" pitchFamily="2" charset="-122"/>
                <a:cs typeface="Times New Roman" panose="02020603050405020304" pitchFamily="18" charset="0"/>
              </a:rPr>
              <a:t>System.out.println</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使用微信支付</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 + amount + " </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元，交易号：</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400" kern="100" dirty="0" err="1">
                <a:effectLst/>
                <a:latin typeface="Times New Roman" panose="02020603050405020304" pitchFamily="18" charset="0"/>
                <a:ea typeface="宋体" panose="02010600030101010101" pitchFamily="2" charset="-122"/>
                <a:cs typeface="Times New Roman" panose="02020603050405020304" pitchFamily="18" charset="0"/>
              </a:rPr>
              <a:t>transactionId</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70166482"/>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0B0419BC-CFD5-44B1-BFB0-4AD2A577A91C}"/>
              </a:ext>
            </a:extLst>
          </p:cNvPr>
          <p:cNvSpPr>
            <a:spLocks noGrp="1"/>
          </p:cNvSpPr>
          <p:nvPr>
            <p:ph idx="1"/>
          </p:nvPr>
        </p:nvSpPr>
        <p:spPr>
          <a:xfrm>
            <a:off x="236950" y="172189"/>
            <a:ext cx="5859050" cy="6759799"/>
          </a:xfrm>
          <a:noFill/>
        </p:spPr>
        <p:txBody>
          <a:bodyPr wrap="square">
            <a:spAutoFit/>
          </a:bodyPr>
          <a:lstStyle/>
          <a:p>
            <a:pPr marL="0" indent="266700" algn="just"/>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第三，创建适配器类：</a:t>
            </a:r>
          </a:p>
          <a:p>
            <a:pPr marL="0" indent="266700" algn="just"/>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支付宝适配器</a:t>
            </a:r>
          </a:p>
          <a:p>
            <a:pPr marL="0" indent="266700" algn="just"/>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class </a:t>
            </a:r>
            <a:r>
              <a:rPr lang="en-US" altLang="zh-CN" sz="1800" kern="100" dirty="0" err="1">
                <a:latin typeface="Times New Roman" panose="02020603050405020304" pitchFamily="18" charset="0"/>
                <a:ea typeface="宋体" panose="02010600030101010101" pitchFamily="2" charset="-122"/>
                <a:cs typeface="Times New Roman" panose="02020603050405020304" pitchFamily="18" charset="0"/>
              </a:rPr>
              <a:t>AlipayAdapter</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implements Payment {</a:t>
            </a:r>
            <a:endParaRPr lang="zh-CN" altLang="zh-CN" sz="1800"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266700" algn="just"/>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private Alipay </a:t>
            </a:r>
            <a:r>
              <a:rPr lang="en-US" altLang="zh-CN" sz="1800" kern="100" dirty="0" err="1">
                <a:latin typeface="Times New Roman" panose="02020603050405020304" pitchFamily="18" charset="0"/>
                <a:ea typeface="宋体" panose="02010600030101010101" pitchFamily="2" charset="-122"/>
                <a:cs typeface="Times New Roman" panose="02020603050405020304" pitchFamily="18" charset="0"/>
              </a:rPr>
              <a:t>alipay</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266700" algn="just"/>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266700" algn="just"/>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public </a:t>
            </a:r>
            <a:r>
              <a:rPr lang="en-US" altLang="zh-CN" sz="1800" kern="100" dirty="0" err="1">
                <a:latin typeface="Times New Roman" panose="02020603050405020304" pitchFamily="18" charset="0"/>
                <a:ea typeface="宋体" panose="02010600030101010101" pitchFamily="2" charset="-122"/>
                <a:cs typeface="Times New Roman" panose="02020603050405020304" pitchFamily="18" charset="0"/>
              </a:rPr>
              <a:t>AlipayAdapter</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(Alipay </a:t>
            </a:r>
            <a:r>
              <a:rPr lang="en-US" altLang="zh-CN" sz="1800" kern="100" dirty="0" err="1">
                <a:latin typeface="Times New Roman" panose="02020603050405020304" pitchFamily="18" charset="0"/>
                <a:ea typeface="宋体" panose="02010600030101010101" pitchFamily="2" charset="-122"/>
                <a:cs typeface="Times New Roman" panose="02020603050405020304" pitchFamily="18" charset="0"/>
              </a:rPr>
              <a:t>alipay</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266700" algn="just"/>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err="1">
                <a:latin typeface="Times New Roman" panose="02020603050405020304" pitchFamily="18" charset="0"/>
                <a:ea typeface="宋体" panose="02010600030101010101" pitchFamily="2" charset="-122"/>
                <a:cs typeface="Times New Roman" panose="02020603050405020304" pitchFamily="18" charset="0"/>
              </a:rPr>
              <a:t>this.alipay</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kern="100" dirty="0" err="1">
                <a:latin typeface="Times New Roman" panose="02020603050405020304" pitchFamily="18" charset="0"/>
                <a:ea typeface="宋体" panose="02010600030101010101" pitchFamily="2" charset="-122"/>
                <a:cs typeface="Times New Roman" panose="02020603050405020304" pitchFamily="18" charset="0"/>
              </a:rPr>
              <a:t>alipay</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266700" algn="just"/>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266700" algn="just"/>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266700" algn="just"/>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@Override</a:t>
            </a:r>
            <a:endParaRPr lang="zh-CN" altLang="zh-CN" sz="1800"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266700" algn="just"/>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public void pay(double amount) {</a:t>
            </a:r>
            <a:endParaRPr lang="zh-CN" altLang="zh-CN" sz="1800"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266700" algn="just"/>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 </a:t>
            </a:r>
            <a:r>
              <a:rPr lang="zh-CN" altLang="zh-CN" sz="1800" kern="100" dirty="0">
                <a:latin typeface="Times New Roman" panose="02020603050405020304" pitchFamily="18" charset="0"/>
                <a:ea typeface="宋体" panose="02010600030101010101" pitchFamily="2" charset="-122"/>
                <a:cs typeface="Times New Roman" panose="02020603050405020304" pitchFamily="18" charset="0"/>
              </a:rPr>
              <a:t>生成订单号并调用支付宝的支付方法</a:t>
            </a:r>
          </a:p>
          <a:p>
            <a:pPr marL="0" indent="266700" algn="just"/>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String </a:t>
            </a:r>
            <a:r>
              <a:rPr lang="en-US" altLang="zh-CN" sz="1800" kern="100" dirty="0" err="1">
                <a:latin typeface="Times New Roman" panose="02020603050405020304" pitchFamily="18" charset="0"/>
                <a:ea typeface="宋体" panose="02010600030101010101" pitchFamily="2" charset="-122"/>
                <a:cs typeface="Times New Roman" panose="02020603050405020304" pitchFamily="18" charset="0"/>
              </a:rPr>
              <a:t>orderId</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kern="100" dirty="0" err="1">
                <a:latin typeface="Times New Roman" panose="02020603050405020304" pitchFamily="18" charset="0"/>
                <a:ea typeface="宋体" panose="02010600030101010101" pitchFamily="2" charset="-122"/>
                <a:cs typeface="Times New Roman" panose="02020603050405020304" pitchFamily="18" charset="0"/>
              </a:rPr>
              <a:t>System.currentTimeMillis</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 "";</a:t>
            </a:r>
            <a:endParaRPr lang="zh-CN" altLang="zh-CN" sz="1800"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266700" algn="just"/>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err="1">
                <a:latin typeface="Times New Roman" panose="02020603050405020304" pitchFamily="18" charset="0"/>
                <a:ea typeface="宋体" panose="02010600030101010101" pitchFamily="2" charset="-122"/>
                <a:cs typeface="Times New Roman" panose="02020603050405020304" pitchFamily="18" charset="0"/>
              </a:rPr>
              <a:t>alipay.doPay</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err="1">
                <a:latin typeface="Times New Roman" panose="02020603050405020304" pitchFamily="18" charset="0"/>
                <a:ea typeface="宋体" panose="02010600030101010101" pitchFamily="2" charset="-122"/>
                <a:cs typeface="Times New Roman" panose="02020603050405020304" pitchFamily="18" charset="0"/>
              </a:rPr>
              <a:t>orderId</a:t>
            </a:r>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amount);</a:t>
            </a:r>
            <a:endParaRPr lang="zh-CN" altLang="zh-CN" sz="1800"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266700" algn="just"/>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266700" algn="just"/>
            <a:r>
              <a:rPr lang="en-US" altLang="zh-CN" sz="1800"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0" algn="just">
              <a:buNone/>
            </a:pPr>
            <a:endParaRPr lang="zh-CN" altLang="zh-CN" sz="1800" kern="100" dirty="0">
              <a:latin typeface="Times New Roman" panose="02020603050405020304" pitchFamily="18" charset="0"/>
              <a:ea typeface="宋体" panose="02010600030101010101" pitchFamily="2" charset="-122"/>
              <a:cs typeface="Times New Roman" panose="02020603050405020304" pitchFamily="18" charset="0"/>
            </a:endParaRPr>
          </a:p>
          <a:p>
            <a:pPr marL="0" indent="266700" algn="just"/>
            <a:endParaRPr lang="zh-CN" altLang="en-US" sz="1800" kern="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21632039-64AD-48ED-94D3-3C526E138AAF}"/>
              </a:ext>
            </a:extLst>
          </p:cNvPr>
          <p:cNvSpPr txBox="1"/>
          <p:nvPr/>
        </p:nvSpPr>
        <p:spPr>
          <a:xfrm>
            <a:off x="5948297" y="635199"/>
            <a:ext cx="6097044" cy="4524315"/>
          </a:xfrm>
          <a:prstGeom prst="rect">
            <a:avLst/>
          </a:prstGeom>
          <a:noFill/>
        </p:spPr>
        <p:txBody>
          <a:bodyPr wrap="square">
            <a:spAutoFit/>
          </a:bodyPr>
          <a:lstStyle/>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微信支付适配器</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class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WechatPayAdapter</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implements Payment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private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WechatPay</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wechatPay</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p>
          <a:p>
            <a:pPr indent="266700" algn="just"/>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public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WechatPayAdapter</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WechatPay</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wechatPay</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this.wechatPay</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wechatPay</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@Override</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public void pay(double amount)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生成交易号并调用微信的支付方法</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String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transactionId</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System.currentTimeMillis</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wechatPay.executePayment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(amount,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transactionId</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3853992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0F0F5AC-DCBA-4F5A-BE73-D538A27CC1FA}"/>
              </a:ext>
            </a:extLst>
          </p:cNvPr>
          <p:cNvSpPr>
            <a:spLocks noGrp="1"/>
          </p:cNvSpPr>
          <p:nvPr>
            <p:ph idx="1"/>
          </p:nvPr>
        </p:nvSpPr>
        <p:spPr>
          <a:xfrm>
            <a:off x="305845" y="335028"/>
            <a:ext cx="10515600" cy="4351338"/>
          </a:xfrm>
        </p:spPr>
        <p:txBody>
          <a:bodyPr>
            <a:noAutofit/>
          </a:bodyPr>
          <a:lstStyle/>
          <a:p>
            <a:pPr indent="304800" algn="just">
              <a:lnSpc>
                <a:spcPct val="200000"/>
              </a:lnSpc>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客户端可以用下面的代码使用该适配器：</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public class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OrderService</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public static void main(String[]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args</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使用支付宝支付</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Alipay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alipay</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new Alipay();</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Payment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alipayAdapter</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new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AlipayAdapter</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alipay</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alipayAdapter.pay</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(100.0);</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使用微信支付</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WechatPay</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wechatPay</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new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WechatPay</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Payment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wechatAdapter</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new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WechatPayAdapter</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wechatPay</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wechatAdapter.pay</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(200.0);</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系统可以统一调用标准支付接口，无需关心底层使用的是哪种支付方式</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endParaRPr lang="zh-CN" altLang="en-US" sz="1800" dirty="0"/>
          </a:p>
        </p:txBody>
      </p:sp>
      <p:sp>
        <p:nvSpPr>
          <p:cNvPr id="4" name="文本框 3">
            <a:extLst>
              <a:ext uri="{FF2B5EF4-FFF2-40B4-BE49-F238E27FC236}">
                <a16:creationId xmlns:a16="http://schemas.microsoft.com/office/drawing/2014/main" id="{8EE362E0-B179-49C5-B14D-8263D0E8AF47}"/>
              </a:ext>
            </a:extLst>
          </p:cNvPr>
          <p:cNvSpPr txBox="1"/>
          <p:nvPr/>
        </p:nvSpPr>
        <p:spPr>
          <a:xfrm>
            <a:off x="6468127" y="335028"/>
            <a:ext cx="6097044" cy="1200329"/>
          </a:xfrm>
          <a:prstGeom prst="rect">
            <a:avLst/>
          </a:prstGeom>
          <a:noFill/>
        </p:spPr>
        <p:txBody>
          <a:bodyPr wrap="square">
            <a:spAutoFit/>
          </a:bodyPr>
          <a:lstStyle/>
          <a:p>
            <a:pPr indent="304800" algn="just">
              <a:lnSpc>
                <a:spcPct val="200000"/>
              </a:lnSpc>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输出结果为：</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使用支付宝支付</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100.0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元，订单号：</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1712345678901</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indent="266700"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使用微信支付</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200.0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元，交易号：</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1712345678902</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064661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1226CC-613D-4291-B0F8-BE4061058CE7}"/>
              </a:ext>
            </a:extLst>
          </p:cNvPr>
          <p:cNvSpPr>
            <a:spLocks noGrp="1"/>
          </p:cNvSpPr>
          <p:nvPr>
            <p:ph type="title"/>
          </p:nvPr>
        </p:nvSpPr>
        <p:spPr/>
        <p:txBody>
          <a:bodyPr/>
          <a:lstStyle/>
          <a:p>
            <a:r>
              <a:rPr lang="zh-CN" altLang="en-US" dirty="0"/>
              <a:t>大纲</a:t>
            </a:r>
          </a:p>
        </p:txBody>
      </p:sp>
      <p:sp>
        <p:nvSpPr>
          <p:cNvPr id="3" name="内容占位符 2">
            <a:extLst>
              <a:ext uri="{FF2B5EF4-FFF2-40B4-BE49-F238E27FC236}">
                <a16:creationId xmlns:a16="http://schemas.microsoft.com/office/drawing/2014/main" id="{D0778124-A9AB-4A59-AD1B-0DF9C8B47F63}"/>
              </a:ext>
            </a:extLst>
          </p:cNvPr>
          <p:cNvSpPr>
            <a:spLocks noGrp="1"/>
          </p:cNvSpPr>
          <p:nvPr>
            <p:ph idx="1"/>
          </p:nvPr>
        </p:nvSpPr>
        <p:spPr/>
        <p:txBody>
          <a:bodyPr/>
          <a:lstStyle/>
          <a:p>
            <a:r>
              <a:rPr lang="zh-CN" altLang="en-US" dirty="0"/>
              <a:t>设计模式</a:t>
            </a:r>
            <a:endParaRPr lang="en-US" altLang="zh-CN" dirty="0"/>
          </a:p>
          <a:p>
            <a:r>
              <a:rPr lang="zh-CN" altLang="en-US" dirty="0"/>
              <a:t>需求分析</a:t>
            </a:r>
            <a:endParaRPr lang="en-US" altLang="zh-CN" dirty="0"/>
          </a:p>
          <a:p>
            <a:r>
              <a:rPr lang="zh-CN" altLang="en-US" dirty="0"/>
              <a:t>设计</a:t>
            </a:r>
            <a:endParaRPr lang="en-US" altLang="zh-CN" dirty="0"/>
          </a:p>
          <a:p>
            <a:r>
              <a:rPr lang="zh-CN" altLang="en-US" dirty="0"/>
              <a:t>实现</a:t>
            </a:r>
            <a:endParaRPr lang="en-US" altLang="zh-CN" dirty="0"/>
          </a:p>
          <a:p>
            <a:r>
              <a:rPr lang="zh-CN" altLang="en-US" b="1" dirty="0">
                <a:solidFill>
                  <a:srgbClr val="C00000"/>
                </a:solidFill>
              </a:rPr>
              <a:t>测试</a:t>
            </a:r>
          </a:p>
        </p:txBody>
      </p:sp>
    </p:spTree>
    <p:extLst>
      <p:ext uri="{BB962C8B-B14F-4D97-AF65-F5344CB8AC3E}">
        <p14:creationId xmlns:p14="http://schemas.microsoft.com/office/powerpoint/2010/main" val="1883650579"/>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D72ACE36-0004-4848-BE91-8A1894B9B4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A42126C-63CE-4E51-BCC6-5FFD9DE3ACD1}" type="slidenum">
              <a:rPr lang="en-US" altLang="en-US"/>
              <a:pPr eaLnBrk="1" hangingPunct="1"/>
              <a:t>178</a:t>
            </a:fld>
            <a:endParaRPr lang="en-US" altLang="en-US"/>
          </a:p>
        </p:txBody>
      </p:sp>
      <p:sp>
        <p:nvSpPr>
          <p:cNvPr id="40965" name="Rectangle 4">
            <a:extLst>
              <a:ext uri="{FF2B5EF4-FFF2-40B4-BE49-F238E27FC236}">
                <a16:creationId xmlns:a16="http://schemas.microsoft.com/office/drawing/2014/main" id="{79E69BB2-C5F9-4F70-84F3-30DBB302BA47}"/>
              </a:ext>
            </a:extLst>
          </p:cNvPr>
          <p:cNvSpPr>
            <a:spLocks noChangeArrowheads="1"/>
          </p:cNvSpPr>
          <p:nvPr/>
        </p:nvSpPr>
        <p:spPr bwMode="auto">
          <a:xfrm>
            <a:off x="2286001" y="6519864"/>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1" name="标题 1">
            <a:extLst>
              <a:ext uri="{FF2B5EF4-FFF2-40B4-BE49-F238E27FC236}">
                <a16:creationId xmlns:a16="http://schemas.microsoft.com/office/drawing/2014/main" id="{53881F80-8553-494E-BA80-D43AADC9B791}"/>
              </a:ext>
            </a:extLst>
          </p:cNvPr>
          <p:cNvSpPr>
            <a:spLocks noGrp="1"/>
          </p:cNvSpPr>
          <p:nvPr>
            <p:ph type="title"/>
          </p:nvPr>
        </p:nvSpPr>
        <p:spPr>
          <a:xfrm>
            <a:off x="838200" y="365125"/>
            <a:ext cx="10515600" cy="1325563"/>
          </a:xfrm>
        </p:spPr>
        <p:txBody>
          <a:bodyPr/>
          <a:lstStyle/>
          <a:p>
            <a:r>
              <a:rPr lang="zh-CN" altLang="en-US" dirty="0"/>
              <a:t>测试</a:t>
            </a:r>
          </a:p>
        </p:txBody>
      </p:sp>
      <p:sp>
        <p:nvSpPr>
          <p:cNvPr id="12" name="内容占位符 2">
            <a:extLst>
              <a:ext uri="{FF2B5EF4-FFF2-40B4-BE49-F238E27FC236}">
                <a16:creationId xmlns:a16="http://schemas.microsoft.com/office/drawing/2014/main" id="{05826407-5BDB-4BCB-9524-AB614F54877F}"/>
              </a:ext>
            </a:extLst>
          </p:cNvPr>
          <p:cNvSpPr>
            <a:spLocks noGrp="1"/>
          </p:cNvSpPr>
          <p:nvPr>
            <p:ph idx="1"/>
          </p:nvPr>
        </p:nvSpPr>
        <p:spPr>
          <a:xfrm>
            <a:off x="838200" y="1825625"/>
            <a:ext cx="10515600" cy="4351338"/>
          </a:xfrm>
        </p:spPr>
        <p:txBody>
          <a:bodyPr/>
          <a:lstStyle/>
          <a:p>
            <a:r>
              <a:rPr lang="zh-CN" altLang="en-US" dirty="0"/>
              <a:t>白盒测试</a:t>
            </a:r>
            <a:endParaRPr lang="en-US" altLang="zh-CN" dirty="0"/>
          </a:p>
          <a:p>
            <a:pPr lvl="1"/>
            <a:r>
              <a:rPr lang="zh-CN" altLang="en-US" dirty="0"/>
              <a:t>基本路径覆盖</a:t>
            </a:r>
            <a:endParaRPr lang="en-US" altLang="zh-CN" dirty="0"/>
          </a:p>
          <a:p>
            <a:pPr lvl="1"/>
            <a:endParaRPr lang="en-US" altLang="zh-CN" dirty="0"/>
          </a:p>
          <a:p>
            <a:r>
              <a:rPr lang="zh-CN" altLang="en-US" dirty="0"/>
              <a:t>黑盒测试</a:t>
            </a:r>
            <a:endParaRPr lang="en-US" altLang="zh-CN" dirty="0"/>
          </a:p>
          <a:p>
            <a:pPr lvl="1"/>
            <a:r>
              <a:rPr lang="zh-CN" altLang="en-US" dirty="0"/>
              <a:t>设计测试用例</a:t>
            </a:r>
            <a:endParaRPr lang="en-US" altLang="zh-CN" dirty="0"/>
          </a:p>
          <a:p>
            <a:pPr lvl="1"/>
            <a:endParaRPr lang="en-US" altLang="zh-CN" dirty="0"/>
          </a:p>
          <a:p>
            <a:endParaRPr lang="zh-CN" altLang="en-US" dirty="0"/>
          </a:p>
        </p:txBody>
      </p:sp>
    </p:spTree>
    <p:extLst>
      <p:ext uri="{BB962C8B-B14F-4D97-AF65-F5344CB8AC3E}">
        <p14:creationId xmlns:p14="http://schemas.microsoft.com/office/powerpoint/2010/main" val="2492502206"/>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日期占位符 1">
            <a:extLst>
              <a:ext uri="{FF2B5EF4-FFF2-40B4-BE49-F238E27FC236}">
                <a16:creationId xmlns:a16="http://schemas.microsoft.com/office/drawing/2014/main" id="{09C626B9-CDCA-48DE-9647-E746ABE4E083}"/>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D69E0323-89C4-4F6D-B509-F5E8770FB165}"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19459" name="Rectangle 1034">
            <a:extLst>
              <a:ext uri="{FF2B5EF4-FFF2-40B4-BE49-F238E27FC236}">
                <a16:creationId xmlns:a16="http://schemas.microsoft.com/office/drawing/2014/main" id="{EA7D7E07-153E-4383-BC52-53290C4B2369}"/>
              </a:ext>
            </a:extLst>
          </p:cNvPr>
          <p:cNvSpPr>
            <a:spLocks noChangeArrowheads="1"/>
          </p:cNvSpPr>
          <p:nvPr/>
        </p:nvSpPr>
        <p:spPr bwMode="auto">
          <a:xfrm>
            <a:off x="2870200" y="947738"/>
            <a:ext cx="304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r>
              <a:rPr lang="zh-CN" altLang="en-US" sz="2000">
                <a:solidFill>
                  <a:srgbClr val="32B828"/>
                </a:solidFill>
                <a:latin typeface="黑体" panose="02010609060101010101" pitchFamily="49" charset="-122"/>
                <a:ea typeface="黑体" panose="02010609060101010101" pitchFamily="49" charset="-122"/>
              </a:rPr>
              <a:t>白盒测试用例的设计 </a:t>
            </a:r>
            <a:r>
              <a:rPr lang="zh-CN" altLang="en-US" sz="1800">
                <a:solidFill>
                  <a:srgbClr val="F89A60"/>
                </a:solidFill>
              </a:rPr>
              <a:t> </a:t>
            </a:r>
            <a:endParaRPr lang="en-US" altLang="zh-CN" sz="2000">
              <a:solidFill>
                <a:srgbClr val="F89A60"/>
              </a:solidFill>
              <a:ea typeface="黑体" panose="02010609060101010101" pitchFamily="49" charset="-122"/>
            </a:endParaRPr>
          </a:p>
        </p:txBody>
      </p:sp>
      <p:sp>
        <p:nvSpPr>
          <p:cNvPr id="1260556" name="Rectangle 1036">
            <a:hlinkClick r:id="rId3" action="ppaction://hlinksldjump"/>
            <a:extLst>
              <a:ext uri="{FF2B5EF4-FFF2-40B4-BE49-F238E27FC236}">
                <a16:creationId xmlns:a16="http://schemas.microsoft.com/office/drawing/2014/main" id="{CE7A2F18-4103-400B-AE3C-0D451A1E6625}"/>
              </a:ext>
            </a:extLst>
          </p:cNvPr>
          <p:cNvSpPr>
            <a:spLocks noChangeArrowheads="1"/>
          </p:cNvSpPr>
          <p:nvPr/>
        </p:nvSpPr>
        <p:spPr bwMode="auto">
          <a:xfrm>
            <a:off x="3098800" y="2852738"/>
            <a:ext cx="6248400" cy="1524000"/>
          </a:xfrm>
          <a:prstGeom prst="rect">
            <a:avLst/>
          </a:prstGeom>
          <a:noFill/>
          <a:ln w="38100" cmpd="dbl">
            <a:solidFill>
              <a:srgbClr val="70E5E8"/>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nSpc>
                <a:spcPct val="110000"/>
              </a:lnSpc>
              <a:spcBef>
                <a:spcPct val="0"/>
              </a:spcBef>
              <a:buFontTx/>
              <a:buNone/>
            </a:pPr>
            <a:r>
              <a:rPr lang="zh-CN" altLang="en-US" sz="1800">
                <a:solidFill>
                  <a:srgbClr val="1AA1A4"/>
                </a:solidFill>
                <a:latin typeface="黑体" panose="02010609060101010101" pitchFamily="49" charset="-122"/>
                <a:ea typeface="黑体" panose="02010609060101010101" pitchFamily="49" charset="-122"/>
              </a:rPr>
              <a:t>    逻辑覆盖测试方法通常采用</a:t>
            </a:r>
            <a:r>
              <a:rPr lang="zh-CN" altLang="en-US" sz="1800">
                <a:solidFill>
                  <a:srgbClr val="EF8D2B"/>
                </a:solidFill>
                <a:latin typeface="黑体" panose="02010609060101010101" pitchFamily="49" charset="-122"/>
                <a:ea typeface="黑体" panose="02010609060101010101" pitchFamily="49" charset="-122"/>
              </a:rPr>
              <a:t>流程图</a:t>
            </a:r>
            <a:r>
              <a:rPr lang="zh-CN" altLang="en-US" sz="1800">
                <a:solidFill>
                  <a:srgbClr val="1AA1A4"/>
                </a:solidFill>
                <a:latin typeface="黑体" panose="02010609060101010101" pitchFamily="49" charset="-122"/>
                <a:ea typeface="黑体" panose="02010609060101010101" pitchFamily="49" charset="-122"/>
              </a:rPr>
              <a:t>来设计测试用例，它</a:t>
            </a:r>
          </a:p>
          <a:p>
            <a:pPr>
              <a:lnSpc>
                <a:spcPct val="110000"/>
              </a:lnSpc>
              <a:spcBef>
                <a:spcPct val="0"/>
              </a:spcBef>
              <a:buFontTx/>
              <a:buNone/>
            </a:pPr>
            <a:r>
              <a:rPr lang="zh-CN" altLang="en-US" sz="1800">
                <a:solidFill>
                  <a:srgbClr val="1AA1A4"/>
                </a:solidFill>
                <a:latin typeface="黑体" panose="02010609060101010101" pitchFamily="49" charset="-122"/>
                <a:ea typeface="黑体" panose="02010609060101010101" pitchFamily="49" charset="-122"/>
              </a:rPr>
              <a:t>考察的重点是图中的</a:t>
            </a:r>
            <a:r>
              <a:rPr lang="zh-CN" altLang="en-US" sz="1800">
                <a:solidFill>
                  <a:srgbClr val="EF8D2B"/>
                </a:solidFill>
                <a:latin typeface="黑体" panose="02010609060101010101" pitchFamily="49" charset="-122"/>
                <a:ea typeface="黑体" panose="02010609060101010101" pitchFamily="49" charset="-122"/>
              </a:rPr>
              <a:t>判定框</a:t>
            </a:r>
            <a:r>
              <a:rPr lang="zh-CN" altLang="en-US" sz="1800">
                <a:solidFill>
                  <a:srgbClr val="1AA1A4"/>
                </a:solidFill>
                <a:latin typeface="黑体" panose="02010609060101010101" pitchFamily="49" charset="-122"/>
                <a:ea typeface="黑体" panose="02010609060101010101" pitchFamily="49" charset="-122"/>
              </a:rPr>
              <a:t>，因为这些判定通常是与选择结</a:t>
            </a:r>
          </a:p>
          <a:p>
            <a:pPr>
              <a:lnSpc>
                <a:spcPct val="110000"/>
              </a:lnSpc>
              <a:spcBef>
                <a:spcPct val="0"/>
              </a:spcBef>
              <a:buFontTx/>
              <a:buNone/>
            </a:pPr>
            <a:r>
              <a:rPr lang="zh-CN" altLang="en-US" sz="1800">
                <a:solidFill>
                  <a:srgbClr val="1AA1A4"/>
                </a:solidFill>
                <a:latin typeface="黑体" panose="02010609060101010101" pitchFamily="49" charset="-122"/>
                <a:ea typeface="黑体" panose="02010609060101010101" pitchFamily="49" charset="-122"/>
              </a:rPr>
              <a:t>构有关或是与循环结构有关，是决定程序结构的关键成分。 </a:t>
            </a:r>
          </a:p>
        </p:txBody>
      </p:sp>
      <p:sp>
        <p:nvSpPr>
          <p:cNvPr id="19461" name="Rectangle 1035">
            <a:extLst>
              <a:ext uri="{FF2B5EF4-FFF2-40B4-BE49-F238E27FC236}">
                <a16:creationId xmlns:a16="http://schemas.microsoft.com/office/drawing/2014/main" id="{31F42F57-3056-4886-8BF2-2AF3DACE8EE8}"/>
              </a:ext>
            </a:extLst>
          </p:cNvPr>
          <p:cNvSpPr>
            <a:spLocks noChangeArrowheads="1"/>
          </p:cNvSpPr>
          <p:nvPr/>
        </p:nvSpPr>
        <p:spPr bwMode="auto">
          <a:xfrm>
            <a:off x="5080000" y="2319338"/>
            <a:ext cx="2362200" cy="609600"/>
          </a:xfrm>
          <a:prstGeom prst="rect">
            <a:avLst/>
          </a:prstGeom>
          <a:solidFill>
            <a:schemeClr val="bg1"/>
          </a:solidFill>
          <a:ln w="9525">
            <a:solidFill>
              <a:srgbClr val="70E5E8"/>
            </a:solidFill>
            <a:miter lim="800000"/>
            <a:headEnd/>
            <a:tailEnd/>
          </a:ln>
          <a:effectLst>
            <a:outerShdw dist="107763" dir="2700000" algn="ctr" rotWithShape="0">
              <a:schemeClr val="bg2"/>
            </a:outerShdw>
          </a:effec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r>
              <a:rPr lang="zh-CN" altLang="en-US" sz="2000">
                <a:solidFill>
                  <a:srgbClr val="F68562"/>
                </a:solidFill>
                <a:latin typeface="Times New Roman" panose="02020603050405020304" pitchFamily="18" charset="0"/>
                <a:ea typeface="黑体" panose="02010609060101010101" pitchFamily="49" charset="-122"/>
              </a:rPr>
              <a:t>  一、逻辑覆盖法</a:t>
            </a:r>
            <a:endParaRPr lang="en-US" altLang="zh-CN" sz="2000">
              <a:solidFill>
                <a:srgbClr val="F68562"/>
              </a:solidFill>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60556"/>
                                        </p:tgtEl>
                                        <p:attrNameLst>
                                          <p:attrName>style.visibility</p:attrName>
                                        </p:attrNameLst>
                                      </p:cBhvr>
                                      <p:to>
                                        <p:strVal val="visible"/>
                                      </p:to>
                                    </p:set>
                                    <p:animEffect transition="in" filter="blinds(horizontal)">
                                      <p:cBhvr>
                                        <p:cTn id="7" dur="500"/>
                                        <p:tgtEl>
                                          <p:spTgt spid="1260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0556" grpId="0" animBg="1" autoUpdateAnimBg="0"/>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日期占位符 1">
            <a:extLst>
              <a:ext uri="{FF2B5EF4-FFF2-40B4-BE49-F238E27FC236}">
                <a16:creationId xmlns:a16="http://schemas.microsoft.com/office/drawing/2014/main" id="{E9F2B52E-2741-45AF-8FB0-5CB52C784AD5}"/>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05C9CDF8-4054-41CE-A359-62F28DB81DD5}"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graphicFrame>
        <p:nvGraphicFramePr>
          <p:cNvPr id="1262794" name="Group 1226">
            <a:extLst>
              <a:ext uri="{FF2B5EF4-FFF2-40B4-BE49-F238E27FC236}">
                <a16:creationId xmlns:a16="http://schemas.microsoft.com/office/drawing/2014/main" id="{345B72CF-16C7-48C9-8092-D03C1BE9F204}"/>
              </a:ext>
            </a:extLst>
          </p:cNvPr>
          <p:cNvGraphicFramePr>
            <a:graphicFrameLocks noGrp="1"/>
          </p:cNvGraphicFramePr>
          <p:nvPr/>
        </p:nvGraphicFramePr>
        <p:xfrm>
          <a:off x="2971800" y="1916113"/>
          <a:ext cx="6248400" cy="3581400"/>
        </p:xfrm>
        <a:graphic>
          <a:graphicData uri="http://schemas.openxmlformats.org/drawingml/2006/table">
            <a:tbl>
              <a:tblPr/>
              <a:tblGrid>
                <a:gridCol w="10668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628021">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49AB39"/>
                          </a:solidFill>
                          <a:effectLst/>
                          <a:latin typeface="黑体" pitchFamily="2" charset="-122"/>
                          <a:ea typeface="黑体" pitchFamily="2" charset="-122"/>
                        </a:rPr>
                        <a:t>发现错误</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49AB39"/>
                          </a:solidFill>
                          <a:effectLst/>
                          <a:latin typeface="黑体" pitchFamily="2" charset="-122"/>
                          <a:ea typeface="黑体" pitchFamily="2" charset="-122"/>
                        </a:rPr>
                        <a:t>的能力</a:t>
                      </a:r>
                    </a:p>
                  </a:txBody>
                  <a:tcPr marT="45730" marB="45730"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0" lang="zh-CN" altLang="en-US" sz="1600" b="0" i="0" u="none" strike="noStrike" cap="none" normalizeH="0" baseline="0">
                          <a:ln>
                            <a:noFill/>
                          </a:ln>
                          <a:solidFill>
                            <a:srgbClr val="49AB39"/>
                          </a:solidFill>
                          <a:effectLst/>
                          <a:latin typeface="黑体" pitchFamily="2" charset="-122"/>
                          <a:ea typeface="黑体" pitchFamily="2" charset="-122"/>
                        </a:rPr>
                        <a:t>标  准</a:t>
                      </a:r>
                    </a:p>
                  </a:txBody>
                  <a:tcPr marT="45730" marB="45730"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49AB39"/>
                          </a:solidFill>
                          <a:effectLst/>
                          <a:latin typeface="黑体" pitchFamily="2" charset="-122"/>
                          <a:ea typeface="黑体" pitchFamily="2" charset="-122"/>
                        </a:rPr>
                        <a:t>含      义</a:t>
                      </a:r>
                    </a:p>
                  </a:txBody>
                  <a:tcPr marT="45730" marB="45730"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824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1" i="0" u="none" strike="noStrike" cap="none" normalizeH="0" baseline="0">
                          <a:ln>
                            <a:noFill/>
                          </a:ln>
                          <a:solidFill>
                            <a:srgbClr val="49AB39"/>
                          </a:solidFill>
                          <a:effectLst>
                            <a:outerShdw blurRad="38100" dist="38100" dir="2700000" algn="tl">
                              <a:srgbClr val="000000"/>
                            </a:outerShdw>
                          </a:effectLst>
                          <a:latin typeface="Times New Roman" charset="0"/>
                          <a:ea typeface="黑体" pitchFamily="2" charset="-122"/>
                        </a:rPr>
                        <a:t> 1</a:t>
                      </a:r>
                      <a:r>
                        <a:rPr kumimoji="1" lang="zh-CN" altLang="en-US" sz="1800" b="0" i="0" u="none" strike="noStrike" cap="none" normalizeH="0" baseline="0">
                          <a:ln>
                            <a:noFill/>
                          </a:ln>
                          <a:solidFill>
                            <a:srgbClr val="49AB39"/>
                          </a:solidFill>
                          <a:effectLst/>
                          <a:latin typeface="Times New Roman" charset="0"/>
                          <a:ea typeface="黑体" pitchFamily="2" charset="-122"/>
                        </a:rPr>
                        <a:t>(弱)</a:t>
                      </a:r>
                      <a:endParaRPr kumimoji="1" lang="zh-CN" altLang="en-US" sz="1800" b="1" i="0" u="none" strike="noStrike" cap="none" normalizeH="0" baseline="0">
                        <a:ln>
                          <a:noFill/>
                        </a:ln>
                        <a:solidFill>
                          <a:srgbClr val="49AB39"/>
                        </a:solidFill>
                        <a:effectLst>
                          <a:outerShdw blurRad="38100" dist="38100" dir="2700000" algn="tl">
                            <a:srgbClr val="000000"/>
                          </a:outerShdw>
                        </a:effectLst>
                        <a:latin typeface="Times New Roman" charset="0"/>
                        <a:ea typeface="黑体" pitchFamily="2" charset="-122"/>
                      </a:endParaRPr>
                    </a:p>
                  </a:txBody>
                  <a:tcPr marT="45730" marB="45730"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49AB39"/>
                          </a:solidFill>
                          <a:effectLst/>
                          <a:latin typeface="黑体" pitchFamily="2" charset="-122"/>
                          <a:ea typeface="黑体" pitchFamily="2" charset="-122"/>
                        </a:rPr>
                        <a:t>语句覆盖</a:t>
                      </a:r>
                    </a:p>
                  </a:txBody>
                  <a:tcPr marT="45730" marB="45730"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49AB39"/>
                          </a:solidFill>
                          <a:effectLst/>
                          <a:latin typeface="黑体" pitchFamily="2" charset="-122"/>
                          <a:ea typeface="黑体" pitchFamily="2" charset="-122"/>
                        </a:rPr>
                        <a:t>每条</a:t>
                      </a:r>
                      <a:r>
                        <a:rPr kumimoji="1" lang="zh-CN" altLang="en-US" sz="1600" b="0" i="0" u="none" strike="noStrike" cap="none" normalizeH="0" baseline="0">
                          <a:ln>
                            <a:noFill/>
                          </a:ln>
                          <a:solidFill>
                            <a:srgbClr val="EF8D2B"/>
                          </a:solidFill>
                          <a:effectLst/>
                          <a:latin typeface="黑体" pitchFamily="2" charset="-122"/>
                          <a:ea typeface="黑体" pitchFamily="2" charset="-122"/>
                        </a:rPr>
                        <a:t>语</a:t>
                      </a:r>
                      <a:r>
                        <a:rPr kumimoji="1" lang="zh-CN" altLang="en-US" sz="1600" b="0" i="0" u="none" strike="noStrike" cap="none" normalizeH="0" baseline="0">
                          <a:ln>
                            <a:noFill/>
                          </a:ln>
                          <a:solidFill>
                            <a:srgbClr val="49AB39"/>
                          </a:solidFill>
                          <a:effectLst/>
                          <a:latin typeface="黑体" pitchFamily="2" charset="-122"/>
                          <a:ea typeface="黑体" pitchFamily="2" charset="-122"/>
                        </a:rPr>
                        <a:t>句至少执行一次</a:t>
                      </a:r>
                    </a:p>
                  </a:txBody>
                  <a:tcPr marT="45730" marB="45730"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0169">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1" i="0" u="none" strike="noStrike" cap="none" normalizeH="0" baseline="0">
                          <a:ln>
                            <a:noFill/>
                          </a:ln>
                          <a:solidFill>
                            <a:srgbClr val="49AB39"/>
                          </a:solidFill>
                          <a:effectLst>
                            <a:outerShdw blurRad="38100" dist="38100" dir="2700000" algn="tl">
                              <a:srgbClr val="000000"/>
                            </a:outerShdw>
                          </a:effectLst>
                          <a:latin typeface="Times New Roman" charset="0"/>
                          <a:ea typeface="黑体" pitchFamily="2" charset="-122"/>
                        </a:rPr>
                        <a:t> 2</a:t>
                      </a:r>
                    </a:p>
                  </a:txBody>
                  <a:tcPr marT="45730" marB="45730"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49AB39"/>
                          </a:solidFill>
                          <a:effectLst/>
                          <a:latin typeface="黑体" pitchFamily="2" charset="-122"/>
                          <a:ea typeface="黑体" pitchFamily="2" charset="-122"/>
                        </a:rPr>
                        <a:t>判定覆盖</a:t>
                      </a:r>
                    </a:p>
                  </a:txBody>
                  <a:tcPr marT="45730" marB="45730"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49AB39"/>
                          </a:solidFill>
                          <a:effectLst/>
                          <a:latin typeface="黑体" pitchFamily="2" charset="-122"/>
                          <a:ea typeface="黑体" pitchFamily="2" charset="-122"/>
                        </a:rPr>
                        <a:t>每一判定的每个</a:t>
                      </a:r>
                      <a:r>
                        <a:rPr kumimoji="1" lang="zh-CN" altLang="en-US" sz="1600" b="0" i="0" u="none" strike="noStrike" cap="none" normalizeH="0" baseline="0">
                          <a:ln>
                            <a:noFill/>
                          </a:ln>
                          <a:solidFill>
                            <a:srgbClr val="EF8D2B"/>
                          </a:solidFill>
                          <a:effectLst/>
                          <a:latin typeface="黑体" pitchFamily="2" charset="-122"/>
                          <a:ea typeface="黑体" pitchFamily="2" charset="-122"/>
                        </a:rPr>
                        <a:t>分支</a:t>
                      </a:r>
                      <a:r>
                        <a:rPr kumimoji="1" lang="zh-CN" altLang="en-US" sz="1600" b="0" i="0" u="none" strike="noStrike" cap="none" normalizeH="0" baseline="0">
                          <a:ln>
                            <a:noFill/>
                          </a:ln>
                          <a:solidFill>
                            <a:srgbClr val="49AB39"/>
                          </a:solidFill>
                          <a:effectLst/>
                          <a:latin typeface="黑体" pitchFamily="2" charset="-122"/>
                          <a:ea typeface="黑体" pitchFamily="2" charset="-122"/>
                        </a:rPr>
                        <a:t>至少执行一次</a:t>
                      </a:r>
                    </a:p>
                  </a:txBody>
                  <a:tcPr marT="45730" marB="45730"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89121">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1" i="0" u="none" strike="noStrike" cap="none" normalizeH="0" baseline="0">
                          <a:ln>
                            <a:noFill/>
                          </a:ln>
                          <a:solidFill>
                            <a:srgbClr val="49AB39"/>
                          </a:solidFill>
                          <a:effectLst>
                            <a:outerShdw blurRad="38100" dist="38100" dir="2700000" algn="tl">
                              <a:srgbClr val="000000"/>
                            </a:outerShdw>
                          </a:effectLst>
                          <a:latin typeface="Times New Roman" charset="0"/>
                          <a:ea typeface="黑体" pitchFamily="2" charset="-122"/>
                        </a:rPr>
                        <a:t> 3</a:t>
                      </a:r>
                    </a:p>
                  </a:txBody>
                  <a:tcPr marT="45730" marB="45730"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49AB39"/>
                          </a:solidFill>
                          <a:effectLst/>
                          <a:latin typeface="黑体" pitchFamily="2" charset="-122"/>
                          <a:ea typeface="黑体" pitchFamily="2" charset="-122"/>
                        </a:rPr>
                        <a:t>条件覆盖</a:t>
                      </a:r>
                    </a:p>
                  </a:txBody>
                  <a:tcPr marT="45730" marB="45730"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49AB39"/>
                          </a:solidFill>
                          <a:effectLst/>
                          <a:latin typeface="黑体" pitchFamily="2" charset="-122"/>
                          <a:ea typeface="黑体" pitchFamily="2" charset="-122"/>
                        </a:rPr>
                        <a:t>每一判定中的每个</a:t>
                      </a:r>
                      <a:r>
                        <a:rPr kumimoji="1" lang="zh-CN" altLang="en-US" sz="1600" b="0" i="0" u="none" strike="noStrike" cap="none" normalizeH="0" baseline="0">
                          <a:ln>
                            <a:noFill/>
                          </a:ln>
                          <a:solidFill>
                            <a:srgbClr val="EF8D2B"/>
                          </a:solidFill>
                          <a:effectLst/>
                          <a:latin typeface="黑体" pitchFamily="2" charset="-122"/>
                          <a:ea typeface="黑体" pitchFamily="2" charset="-122"/>
                        </a:rPr>
                        <a:t>条件</a:t>
                      </a:r>
                      <a:r>
                        <a:rPr kumimoji="1" lang="zh-CN" altLang="en-US" sz="1600" b="0" i="0" u="none" strike="noStrike" cap="none" normalizeH="0" baseline="0">
                          <a:ln>
                            <a:noFill/>
                          </a:ln>
                          <a:solidFill>
                            <a:srgbClr val="49AB39"/>
                          </a:solidFill>
                          <a:effectLst/>
                          <a:latin typeface="黑体" pitchFamily="2" charset="-122"/>
                          <a:ea typeface="黑体" pitchFamily="2" charset="-122"/>
                        </a:rPr>
                        <a:t>，分别按</a:t>
                      </a:r>
                      <a:r>
                        <a:rPr kumimoji="1" lang="zh-CN" altLang="en-US" sz="1600" b="0" i="0" u="none" strike="noStrike" cap="none" normalizeH="0" baseline="0">
                          <a:ln>
                            <a:noFill/>
                          </a:ln>
                          <a:solidFill>
                            <a:srgbClr val="49AB39"/>
                          </a:solidFill>
                          <a:effectLst/>
                          <a:latin typeface="Times New Roman"/>
                          <a:ea typeface="黑体" pitchFamily="2" charset="-122"/>
                        </a:rPr>
                        <a:t>“</a:t>
                      </a:r>
                      <a:r>
                        <a:rPr kumimoji="1" lang="zh-CN" altLang="en-US" sz="1600" b="0" i="0" u="none" strike="noStrike" cap="none" normalizeH="0" baseline="0">
                          <a:ln>
                            <a:noFill/>
                          </a:ln>
                          <a:solidFill>
                            <a:srgbClr val="EF8D2B"/>
                          </a:solidFill>
                          <a:effectLst/>
                          <a:latin typeface="黑体" pitchFamily="2" charset="-122"/>
                          <a:ea typeface="黑体" pitchFamily="2" charset="-122"/>
                        </a:rPr>
                        <a:t>真</a:t>
                      </a:r>
                      <a:r>
                        <a:rPr kumimoji="1" lang="zh-CN" altLang="en-US" sz="1600" b="0" i="0" u="none" strike="noStrike" cap="none" normalizeH="0" baseline="0">
                          <a:ln>
                            <a:noFill/>
                          </a:ln>
                          <a:solidFill>
                            <a:srgbClr val="49AB39"/>
                          </a:solidFill>
                          <a:effectLst/>
                          <a:latin typeface="Times New Roman"/>
                          <a:ea typeface="黑体" pitchFamily="2" charset="-122"/>
                        </a:rPr>
                        <a:t>”</a:t>
                      </a:r>
                      <a:r>
                        <a:rPr kumimoji="1" lang="zh-CN" altLang="en-US" sz="1600" b="0" i="0" u="none" strike="noStrike" cap="none" normalizeH="0" baseline="0">
                          <a:ln>
                            <a:noFill/>
                          </a:ln>
                          <a:solidFill>
                            <a:srgbClr val="49AB39"/>
                          </a:solidFill>
                          <a:effectLst/>
                          <a:latin typeface="黑体" pitchFamily="2" charset="-122"/>
                          <a:ea typeface="黑体" pitchFamily="2" charset="-122"/>
                        </a:rPr>
                        <a:t>、</a:t>
                      </a:r>
                    </a:p>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49AB39"/>
                          </a:solidFill>
                          <a:effectLst/>
                          <a:latin typeface="Times New Roman"/>
                          <a:ea typeface="黑体" pitchFamily="2" charset="-122"/>
                        </a:rPr>
                        <a:t>“</a:t>
                      </a:r>
                      <a:r>
                        <a:rPr kumimoji="1" lang="zh-CN" altLang="en-US" sz="1600" b="0" i="0" u="none" strike="noStrike" cap="none" normalizeH="0" baseline="0">
                          <a:ln>
                            <a:noFill/>
                          </a:ln>
                          <a:solidFill>
                            <a:srgbClr val="EF8D2B"/>
                          </a:solidFill>
                          <a:effectLst/>
                          <a:latin typeface="黑体" pitchFamily="2" charset="-122"/>
                          <a:ea typeface="黑体" pitchFamily="2" charset="-122"/>
                        </a:rPr>
                        <a:t>假</a:t>
                      </a:r>
                      <a:r>
                        <a:rPr kumimoji="1" lang="zh-CN" altLang="en-US" sz="1600" b="0" i="0" u="none" strike="noStrike" cap="none" normalizeH="0" baseline="0">
                          <a:ln>
                            <a:noFill/>
                          </a:ln>
                          <a:solidFill>
                            <a:srgbClr val="49AB39"/>
                          </a:solidFill>
                          <a:effectLst/>
                          <a:latin typeface="Times New Roman"/>
                          <a:ea typeface="黑体" pitchFamily="2" charset="-122"/>
                        </a:rPr>
                        <a:t>”</a:t>
                      </a:r>
                      <a:r>
                        <a:rPr kumimoji="1" lang="zh-CN" altLang="en-US" sz="1600" b="0" i="0" u="none" strike="noStrike" cap="none" normalizeH="0" baseline="0">
                          <a:ln>
                            <a:noFill/>
                          </a:ln>
                          <a:solidFill>
                            <a:srgbClr val="49AB39"/>
                          </a:solidFill>
                          <a:effectLst/>
                          <a:latin typeface="黑体" pitchFamily="2" charset="-122"/>
                          <a:ea typeface="黑体" pitchFamily="2" charset="-122"/>
                        </a:rPr>
                        <a:t>至少各执行一次</a:t>
                      </a:r>
                    </a:p>
                  </a:txBody>
                  <a:tcPr marT="45730" marB="45730"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6368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1" i="0" u="none" strike="noStrike" cap="none" normalizeH="0" baseline="0">
                          <a:ln>
                            <a:noFill/>
                          </a:ln>
                          <a:solidFill>
                            <a:srgbClr val="49AB39"/>
                          </a:solidFill>
                          <a:effectLst>
                            <a:outerShdw blurRad="38100" dist="38100" dir="2700000" algn="tl">
                              <a:srgbClr val="000000"/>
                            </a:outerShdw>
                          </a:effectLst>
                          <a:latin typeface="Times New Roman" charset="0"/>
                          <a:ea typeface="黑体" pitchFamily="2" charset="-122"/>
                        </a:rPr>
                        <a:t>4 </a:t>
                      </a:r>
                    </a:p>
                  </a:txBody>
                  <a:tcPr marT="45730" marB="45730"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49AB39"/>
                          </a:solidFill>
                          <a:effectLst/>
                          <a:latin typeface="黑体" pitchFamily="2" charset="-122"/>
                          <a:ea typeface="黑体" pitchFamily="2" charset="-122"/>
                        </a:rPr>
                        <a:t>判定/条件覆盖</a:t>
                      </a:r>
                    </a:p>
                  </a:txBody>
                  <a:tcPr marT="45730" marB="45730"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49AB39"/>
                          </a:solidFill>
                          <a:effectLst/>
                          <a:latin typeface="黑体" pitchFamily="2" charset="-122"/>
                          <a:ea typeface="黑体" pitchFamily="2" charset="-122"/>
                        </a:rPr>
                        <a:t>同时满足</a:t>
                      </a:r>
                      <a:r>
                        <a:rPr kumimoji="1" lang="zh-CN" altLang="en-US" sz="1600" b="0" i="0" u="none" strike="noStrike" cap="none" normalizeH="0" baseline="0">
                          <a:ln>
                            <a:noFill/>
                          </a:ln>
                          <a:solidFill>
                            <a:srgbClr val="EF8D2B"/>
                          </a:solidFill>
                          <a:effectLst/>
                          <a:latin typeface="黑体" pitchFamily="2" charset="-122"/>
                          <a:ea typeface="黑体" pitchFamily="2" charset="-122"/>
                        </a:rPr>
                        <a:t>判定覆盖</a:t>
                      </a:r>
                      <a:r>
                        <a:rPr kumimoji="1" lang="zh-CN" altLang="en-US" sz="1600" b="0" i="0" u="none" strike="noStrike" cap="none" normalizeH="0" baseline="0">
                          <a:ln>
                            <a:noFill/>
                          </a:ln>
                          <a:solidFill>
                            <a:srgbClr val="49AB39"/>
                          </a:solidFill>
                          <a:effectLst/>
                          <a:latin typeface="黑体" pitchFamily="2" charset="-122"/>
                          <a:ea typeface="黑体" pitchFamily="2" charset="-122"/>
                        </a:rPr>
                        <a:t>和</a:t>
                      </a:r>
                      <a:r>
                        <a:rPr kumimoji="1" lang="zh-CN" altLang="en-US" sz="1600" b="0" i="0" u="none" strike="noStrike" cap="none" normalizeH="0" baseline="0">
                          <a:ln>
                            <a:noFill/>
                          </a:ln>
                          <a:solidFill>
                            <a:srgbClr val="EF8D2B"/>
                          </a:solidFill>
                          <a:effectLst/>
                          <a:latin typeface="黑体" pitchFamily="2" charset="-122"/>
                          <a:ea typeface="黑体" pitchFamily="2" charset="-122"/>
                        </a:rPr>
                        <a:t>条件覆盖</a:t>
                      </a:r>
                      <a:r>
                        <a:rPr kumimoji="1" lang="zh-CN" altLang="en-US" sz="1600" b="0" i="0" u="none" strike="noStrike" cap="none" normalizeH="0" baseline="0">
                          <a:ln>
                            <a:noFill/>
                          </a:ln>
                          <a:solidFill>
                            <a:srgbClr val="49AB39"/>
                          </a:solidFill>
                          <a:effectLst/>
                          <a:latin typeface="黑体" pitchFamily="2" charset="-122"/>
                          <a:ea typeface="黑体" pitchFamily="2" charset="-122"/>
                        </a:rPr>
                        <a:t>的要求</a:t>
                      </a:r>
                    </a:p>
                  </a:txBody>
                  <a:tcPr marT="45730" marB="45730"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62162">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1" i="0" u="none" strike="noStrike" cap="none" normalizeH="0" baseline="0">
                          <a:ln>
                            <a:noFill/>
                          </a:ln>
                          <a:solidFill>
                            <a:srgbClr val="49AB39"/>
                          </a:solidFill>
                          <a:effectLst>
                            <a:outerShdw blurRad="38100" dist="38100" dir="2700000" algn="tl">
                              <a:srgbClr val="000000"/>
                            </a:outerShdw>
                          </a:effectLst>
                          <a:latin typeface="Times New Roman" charset="0"/>
                          <a:ea typeface="黑体" pitchFamily="2" charset="-122"/>
                        </a:rPr>
                        <a:t>5 </a:t>
                      </a:r>
                      <a:r>
                        <a:rPr kumimoji="1" lang="zh-CN" altLang="en-US" sz="1800" b="0" i="0" u="none" strike="noStrike" cap="none" normalizeH="0" baseline="0">
                          <a:ln>
                            <a:noFill/>
                          </a:ln>
                          <a:solidFill>
                            <a:srgbClr val="49AB39"/>
                          </a:solidFill>
                          <a:effectLst/>
                          <a:latin typeface="Times New Roman" charset="0"/>
                          <a:ea typeface="黑体" pitchFamily="2" charset="-122"/>
                        </a:rPr>
                        <a:t>(强) </a:t>
                      </a:r>
                    </a:p>
                  </a:txBody>
                  <a:tcPr marT="45730" marB="45730"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49AB39"/>
                          </a:solidFill>
                          <a:effectLst/>
                          <a:latin typeface="黑体" pitchFamily="2" charset="-122"/>
                          <a:ea typeface="黑体" pitchFamily="2" charset="-122"/>
                        </a:rPr>
                        <a:t>条件组合覆盖</a:t>
                      </a:r>
                    </a:p>
                  </a:txBody>
                  <a:tcPr marT="45730" marB="45730"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49AB39"/>
                          </a:solidFill>
                          <a:effectLst/>
                          <a:latin typeface="黑体" pitchFamily="2" charset="-122"/>
                          <a:ea typeface="黑体" pitchFamily="2" charset="-122"/>
                        </a:rPr>
                        <a:t>求出判定中</a:t>
                      </a:r>
                      <a:r>
                        <a:rPr kumimoji="1" lang="zh-CN" altLang="en-US" sz="1600" b="0" i="0" u="none" strike="noStrike" cap="none" normalizeH="0" baseline="0">
                          <a:ln>
                            <a:noFill/>
                          </a:ln>
                          <a:solidFill>
                            <a:srgbClr val="EF8D2B"/>
                          </a:solidFill>
                          <a:effectLst/>
                          <a:latin typeface="黑体" pitchFamily="2" charset="-122"/>
                          <a:ea typeface="黑体" pitchFamily="2" charset="-122"/>
                        </a:rPr>
                        <a:t>所有条件的各种可能组合</a:t>
                      </a:r>
                    </a:p>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49AB39"/>
                          </a:solidFill>
                          <a:effectLst/>
                          <a:latin typeface="黑体" pitchFamily="2" charset="-122"/>
                          <a:ea typeface="黑体" pitchFamily="2" charset="-122"/>
                        </a:rPr>
                        <a:t>值，每一可能的条件组合至少执行一次</a:t>
                      </a:r>
                    </a:p>
                  </a:txBody>
                  <a:tcPr marT="45730" marB="45730"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1537" name="Rectangle 1056">
            <a:extLst>
              <a:ext uri="{FF2B5EF4-FFF2-40B4-BE49-F238E27FC236}">
                <a16:creationId xmlns:a16="http://schemas.microsoft.com/office/drawing/2014/main" id="{8C52BC38-7FB6-43F5-B25A-C21F2DFBFFE5}"/>
              </a:ext>
            </a:extLst>
          </p:cNvPr>
          <p:cNvSpPr>
            <a:spLocks noChangeArrowheads="1"/>
          </p:cNvSpPr>
          <p:nvPr/>
        </p:nvSpPr>
        <p:spPr bwMode="auto">
          <a:xfrm>
            <a:off x="4367213" y="1125538"/>
            <a:ext cx="3352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r>
              <a:rPr lang="zh-CN" altLang="en-US" sz="2000">
                <a:solidFill>
                  <a:srgbClr val="32B828"/>
                </a:solidFill>
                <a:latin typeface="黑体" panose="02010609060101010101" pitchFamily="49" charset="-122"/>
                <a:ea typeface="黑体" panose="02010609060101010101" pitchFamily="49" charset="-122"/>
              </a:rPr>
              <a:t>  逻辑覆盖测试的5种标准 </a:t>
            </a:r>
            <a:r>
              <a:rPr lang="zh-CN" altLang="en-US" sz="1800">
                <a:solidFill>
                  <a:srgbClr val="F89A60"/>
                </a:solidFill>
              </a:rPr>
              <a:t> </a:t>
            </a:r>
            <a:endParaRPr lang="en-US" altLang="zh-CN" sz="2000">
              <a:solidFill>
                <a:srgbClr val="F89A60"/>
              </a:solidFill>
              <a:ea typeface="黑体" panose="02010609060101010101" pitchFamily="49" charset="-122"/>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日期占位符 1">
            <a:extLst>
              <a:ext uri="{FF2B5EF4-FFF2-40B4-BE49-F238E27FC236}">
                <a16:creationId xmlns:a16="http://schemas.microsoft.com/office/drawing/2014/main" id="{B58D79B0-2433-4249-807B-44E508A52B03}"/>
              </a:ext>
            </a:extLst>
          </p:cNvPr>
          <p:cNvSpPr>
            <a:spLocks noGrp="1"/>
          </p:cNvSpPr>
          <p:nvPr>
            <p:ph type="dt" sz="quarter" idx="10"/>
          </p:nvPr>
        </p:nvSpPr>
        <p:spPr>
          <a:xfrm>
            <a:off x="2527300" y="5410200"/>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8B8482F9-6876-4256-8088-06F32B8FEC55}"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graphicFrame>
        <p:nvGraphicFramePr>
          <p:cNvPr id="1264716" name="Group 76">
            <a:extLst>
              <a:ext uri="{FF2B5EF4-FFF2-40B4-BE49-F238E27FC236}">
                <a16:creationId xmlns:a16="http://schemas.microsoft.com/office/drawing/2014/main" id="{F4AC9046-754C-4E50-8B4C-AB702608B6C0}"/>
              </a:ext>
            </a:extLst>
          </p:cNvPr>
          <p:cNvGraphicFramePr>
            <a:graphicFrameLocks noGrp="1"/>
          </p:cNvGraphicFramePr>
          <p:nvPr/>
        </p:nvGraphicFramePr>
        <p:xfrm>
          <a:off x="2552700" y="765175"/>
          <a:ext cx="7086600" cy="4953000"/>
        </p:xfrm>
        <a:graphic>
          <a:graphicData uri="http://schemas.openxmlformats.org/drawingml/2006/table">
            <a:tbl>
              <a:tblPr/>
              <a:tblGrid>
                <a:gridCol w="1600200">
                  <a:extLst>
                    <a:ext uri="{9D8B030D-6E8A-4147-A177-3AD203B41FA5}">
                      <a16:colId xmlns:a16="http://schemas.microsoft.com/office/drawing/2014/main" val="20000"/>
                    </a:ext>
                  </a:extLst>
                </a:gridCol>
                <a:gridCol w="31242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tblGrid>
              <a:tr h="9144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49AB39"/>
                          </a:solidFill>
                          <a:effectLst/>
                          <a:latin typeface="Times New Roman" charset="0"/>
                          <a:ea typeface="黑体" pitchFamily="2" charset="-122"/>
                        </a:rPr>
                        <a:t>覆盖标准</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49AB39"/>
                          </a:solidFill>
                          <a:effectLst/>
                          <a:latin typeface="Times New Roman" charset="0"/>
                          <a:ea typeface="黑体" pitchFamily="2" charset="-122"/>
                        </a:rPr>
                        <a:t>程序结构举例</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49AB39"/>
                          </a:solidFill>
                          <a:effectLst/>
                          <a:latin typeface="Times New Roman" charset="0"/>
                          <a:ea typeface="黑体" pitchFamily="2" charset="-122"/>
                        </a:rPr>
                        <a:t>测试用例</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49AB39"/>
                          </a:solidFill>
                          <a:effectLst/>
                          <a:latin typeface="Times New Roman" charset="0"/>
                          <a:ea typeface="黑体" pitchFamily="2" charset="-122"/>
                        </a:rPr>
                        <a:t>应满足的条件</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19812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2000" b="0" i="0" u="none" strike="noStrike" cap="none" normalizeH="0" baseline="0">
                          <a:ln>
                            <a:noFill/>
                          </a:ln>
                          <a:solidFill>
                            <a:schemeClr val="accent2"/>
                          </a:solidFill>
                          <a:effectLst/>
                          <a:latin typeface="Times New Roman" charset="0"/>
                          <a:ea typeface="黑体" pitchFamily="2" charset="-122"/>
                        </a:rPr>
                        <a:t>语句覆盖</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endParaRPr kumimoji="1" lang="zh-CN" altLang="en-US" sz="2000" b="0" i="0" u="none" strike="noStrike" cap="none" normalizeH="0" baseline="0">
                        <a:ln>
                          <a:noFill/>
                        </a:ln>
                        <a:solidFill>
                          <a:srgbClr val="145839"/>
                        </a:solidFill>
                        <a:effectLst/>
                        <a:latin typeface="Times New Roman" charset="0"/>
                        <a:ea typeface="楷体_GB2312" pitchFamily="49" charset="-122"/>
                      </a:endParaRP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1" i="0" u="none" strike="noStrike" cap="none" normalizeH="0" baseline="0">
                          <a:ln>
                            <a:noFill/>
                          </a:ln>
                          <a:solidFill>
                            <a:schemeClr val="accent2"/>
                          </a:solidFill>
                          <a:effectLst/>
                          <a:latin typeface="Times New Roman" charset="0"/>
                          <a:ea typeface="楷体_GB2312" pitchFamily="49" charset="-122"/>
                        </a:rPr>
                        <a:t>A^B=.T.</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0574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2000" b="0" i="0" u="none" strike="noStrike" cap="none" normalizeH="0" baseline="0">
                          <a:ln>
                            <a:noFill/>
                          </a:ln>
                          <a:solidFill>
                            <a:schemeClr val="accent2"/>
                          </a:solidFill>
                          <a:effectLst/>
                          <a:latin typeface="Times New Roman" charset="0"/>
                          <a:ea typeface="黑体" pitchFamily="2" charset="-122"/>
                        </a:rPr>
                        <a:t>判定覆盖</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endParaRPr kumimoji="1" lang="zh-CN" altLang="en-US" sz="2000" b="0" i="0" u="none" strike="noStrike" cap="none" normalizeH="0" baseline="0">
                        <a:ln>
                          <a:noFill/>
                        </a:ln>
                        <a:solidFill>
                          <a:srgbClr val="145839"/>
                        </a:solidFill>
                        <a:effectLst/>
                        <a:latin typeface="Times New Roman" charset="0"/>
                        <a:ea typeface="楷体_GB2312" pitchFamily="49" charset="-122"/>
                      </a:endParaRP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1" i="0" u="none" strike="noStrike" cap="none" normalizeH="0" baseline="0">
                          <a:ln>
                            <a:noFill/>
                          </a:ln>
                          <a:solidFill>
                            <a:schemeClr val="accent2"/>
                          </a:solidFill>
                          <a:effectLst/>
                          <a:latin typeface="Times New Roman" charset="0"/>
                          <a:ea typeface="楷体_GB2312" pitchFamily="49" charset="-122"/>
                        </a:rPr>
                        <a:t>A^B=.T.</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1" i="0" u="none" strike="noStrike" cap="none" normalizeH="0" baseline="0">
                          <a:ln>
                            <a:noFill/>
                          </a:ln>
                          <a:solidFill>
                            <a:schemeClr val="accent2"/>
                          </a:solidFill>
                          <a:effectLst/>
                          <a:latin typeface="Times New Roman" charset="0"/>
                          <a:ea typeface="楷体_GB2312" pitchFamily="49" charset="-122"/>
                        </a:rPr>
                        <a:t>A^B=.F.</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grpSp>
        <p:nvGrpSpPr>
          <p:cNvPr id="23573" name="Group 78">
            <a:extLst>
              <a:ext uri="{FF2B5EF4-FFF2-40B4-BE49-F238E27FC236}">
                <a16:creationId xmlns:a16="http://schemas.microsoft.com/office/drawing/2014/main" id="{BE36A938-6B33-4CC7-BACD-A6E3EDB870CA}"/>
              </a:ext>
            </a:extLst>
          </p:cNvPr>
          <p:cNvGrpSpPr>
            <a:grpSpLocks/>
          </p:cNvGrpSpPr>
          <p:nvPr/>
        </p:nvGrpSpPr>
        <p:grpSpPr bwMode="auto">
          <a:xfrm>
            <a:off x="4305301" y="1755775"/>
            <a:ext cx="2593975" cy="1828800"/>
            <a:chOff x="2112" y="1632"/>
            <a:chExt cx="1634" cy="1152"/>
          </a:xfrm>
        </p:grpSpPr>
        <p:sp>
          <p:nvSpPr>
            <p:cNvPr id="1264663" name="AutoShape 23">
              <a:extLst>
                <a:ext uri="{FF2B5EF4-FFF2-40B4-BE49-F238E27FC236}">
                  <a16:creationId xmlns:a16="http://schemas.microsoft.com/office/drawing/2014/main" id="{F830A3FD-7169-412A-AC54-FD9B5829A32D}"/>
                </a:ext>
              </a:extLst>
            </p:cNvPr>
            <p:cNvSpPr>
              <a:spLocks noChangeArrowheads="1"/>
            </p:cNvSpPr>
            <p:nvPr/>
          </p:nvSpPr>
          <p:spPr bwMode="auto">
            <a:xfrm>
              <a:off x="2544" y="1824"/>
              <a:ext cx="1056" cy="288"/>
            </a:xfrm>
            <a:prstGeom prst="flowChartDecision">
              <a:avLst/>
            </a:prstGeom>
            <a:solidFill>
              <a:schemeClr val="bg1"/>
            </a:solidFill>
            <a:ln w="9525">
              <a:solidFill>
                <a:srgbClr val="EF8D2B"/>
              </a:solidFill>
              <a:miter lim="800000"/>
              <a:headEnd/>
              <a:tailEnd/>
            </a:ln>
            <a:effectLst/>
          </p:spPr>
          <p:txBody>
            <a:bodyPr wrap="none" anchor="ctr"/>
            <a:lstStyle/>
            <a:p>
              <a:pPr algn="ctr">
                <a:defRPr/>
              </a:pPr>
              <a:r>
                <a:rPr lang="en-US" altLang="zh-CN" sz="1600" b="1">
                  <a:solidFill>
                    <a:srgbClr val="49AB39"/>
                  </a:solidFill>
                  <a:effectLst>
                    <a:outerShdw blurRad="38100" dist="38100" dir="2700000" algn="tl">
                      <a:srgbClr val="000000"/>
                    </a:outerShdw>
                  </a:effectLst>
                  <a:latin typeface="Times New Roman" charset="0"/>
                  <a:ea typeface="文鼎细圆" pitchFamily="49" charset="-122"/>
                </a:rPr>
                <a:t>A^B</a:t>
              </a:r>
            </a:p>
          </p:txBody>
        </p:sp>
        <p:sp>
          <p:nvSpPr>
            <p:cNvPr id="23590" name="Line 24">
              <a:extLst>
                <a:ext uri="{FF2B5EF4-FFF2-40B4-BE49-F238E27FC236}">
                  <a16:creationId xmlns:a16="http://schemas.microsoft.com/office/drawing/2014/main" id="{CA02202C-5A13-492E-A689-F5C4E7F5FBDA}"/>
                </a:ext>
              </a:extLst>
            </p:cNvPr>
            <p:cNvSpPr>
              <a:spLocks noChangeShapeType="1"/>
            </p:cNvSpPr>
            <p:nvPr/>
          </p:nvSpPr>
          <p:spPr bwMode="auto">
            <a:xfrm>
              <a:off x="2400" y="1968"/>
              <a:ext cx="144" cy="0"/>
            </a:xfrm>
            <a:prstGeom prst="line">
              <a:avLst/>
            </a:prstGeom>
            <a:noFill/>
            <a:ln w="952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1" name="Line 25">
              <a:extLst>
                <a:ext uri="{FF2B5EF4-FFF2-40B4-BE49-F238E27FC236}">
                  <a16:creationId xmlns:a16="http://schemas.microsoft.com/office/drawing/2014/main" id="{61F559C6-4330-49FA-8F95-8B517BAFDAD0}"/>
                </a:ext>
              </a:extLst>
            </p:cNvPr>
            <p:cNvSpPr>
              <a:spLocks noChangeShapeType="1"/>
            </p:cNvSpPr>
            <p:nvPr/>
          </p:nvSpPr>
          <p:spPr bwMode="auto">
            <a:xfrm>
              <a:off x="2400" y="1968"/>
              <a:ext cx="0" cy="192"/>
            </a:xfrm>
            <a:prstGeom prst="line">
              <a:avLst/>
            </a:prstGeom>
            <a:noFill/>
            <a:ln w="952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92" name="Rectangle 26">
              <a:extLst>
                <a:ext uri="{FF2B5EF4-FFF2-40B4-BE49-F238E27FC236}">
                  <a16:creationId xmlns:a16="http://schemas.microsoft.com/office/drawing/2014/main" id="{E5DE8CED-1BF9-46E3-B5C7-65988118E73F}"/>
                </a:ext>
              </a:extLst>
            </p:cNvPr>
            <p:cNvSpPr>
              <a:spLocks noChangeArrowheads="1"/>
            </p:cNvSpPr>
            <p:nvPr/>
          </p:nvSpPr>
          <p:spPr bwMode="auto">
            <a:xfrm>
              <a:off x="2112" y="2160"/>
              <a:ext cx="576" cy="240"/>
            </a:xfrm>
            <a:prstGeom prst="rect">
              <a:avLst/>
            </a:prstGeom>
            <a:solidFill>
              <a:schemeClr val="bg1"/>
            </a:solidFill>
            <a:ln w="9525">
              <a:solidFill>
                <a:srgbClr val="EF8D2B"/>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endParaRPr lang="zh-CN" altLang="en-US" sz="2800">
                <a:solidFill>
                  <a:srgbClr val="49AB39"/>
                </a:solidFill>
                <a:latin typeface="Times New Roman" panose="02020603050405020304" pitchFamily="18" charset="0"/>
                <a:ea typeface="楷体_GB2312" pitchFamily="49" charset="-122"/>
              </a:endParaRPr>
            </a:p>
          </p:txBody>
        </p:sp>
        <p:sp>
          <p:nvSpPr>
            <p:cNvPr id="23593" name="Line 27">
              <a:extLst>
                <a:ext uri="{FF2B5EF4-FFF2-40B4-BE49-F238E27FC236}">
                  <a16:creationId xmlns:a16="http://schemas.microsoft.com/office/drawing/2014/main" id="{E190CFEB-AF4D-4E99-B5D2-E996250990B0}"/>
                </a:ext>
              </a:extLst>
            </p:cNvPr>
            <p:cNvSpPr>
              <a:spLocks noChangeShapeType="1"/>
            </p:cNvSpPr>
            <p:nvPr/>
          </p:nvSpPr>
          <p:spPr bwMode="auto">
            <a:xfrm>
              <a:off x="2400" y="2400"/>
              <a:ext cx="0" cy="144"/>
            </a:xfrm>
            <a:prstGeom prst="line">
              <a:avLst/>
            </a:prstGeom>
            <a:noFill/>
            <a:ln w="952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4" name="Line 28">
              <a:extLst>
                <a:ext uri="{FF2B5EF4-FFF2-40B4-BE49-F238E27FC236}">
                  <a16:creationId xmlns:a16="http://schemas.microsoft.com/office/drawing/2014/main" id="{9CB47CBB-AD84-4B31-A210-24E613F54A58}"/>
                </a:ext>
              </a:extLst>
            </p:cNvPr>
            <p:cNvSpPr>
              <a:spLocks noChangeShapeType="1"/>
            </p:cNvSpPr>
            <p:nvPr/>
          </p:nvSpPr>
          <p:spPr bwMode="auto">
            <a:xfrm>
              <a:off x="3600" y="1968"/>
              <a:ext cx="96" cy="0"/>
            </a:xfrm>
            <a:prstGeom prst="line">
              <a:avLst/>
            </a:prstGeom>
            <a:noFill/>
            <a:ln w="952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5" name="Line 29">
              <a:extLst>
                <a:ext uri="{FF2B5EF4-FFF2-40B4-BE49-F238E27FC236}">
                  <a16:creationId xmlns:a16="http://schemas.microsoft.com/office/drawing/2014/main" id="{A774219E-9480-4B24-8B17-4C21EFB9DD2B}"/>
                </a:ext>
              </a:extLst>
            </p:cNvPr>
            <p:cNvSpPr>
              <a:spLocks noChangeShapeType="1"/>
            </p:cNvSpPr>
            <p:nvPr/>
          </p:nvSpPr>
          <p:spPr bwMode="auto">
            <a:xfrm>
              <a:off x="3696" y="1968"/>
              <a:ext cx="0" cy="576"/>
            </a:xfrm>
            <a:prstGeom prst="line">
              <a:avLst/>
            </a:prstGeom>
            <a:noFill/>
            <a:ln w="952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6" name="Line 30">
              <a:extLst>
                <a:ext uri="{FF2B5EF4-FFF2-40B4-BE49-F238E27FC236}">
                  <a16:creationId xmlns:a16="http://schemas.microsoft.com/office/drawing/2014/main" id="{A309D1CB-79E2-4717-A0D8-3FC02C0BCADC}"/>
                </a:ext>
              </a:extLst>
            </p:cNvPr>
            <p:cNvSpPr>
              <a:spLocks noChangeShapeType="1"/>
            </p:cNvSpPr>
            <p:nvPr/>
          </p:nvSpPr>
          <p:spPr bwMode="auto">
            <a:xfrm>
              <a:off x="2400" y="2544"/>
              <a:ext cx="624" cy="0"/>
            </a:xfrm>
            <a:prstGeom prst="line">
              <a:avLst/>
            </a:prstGeom>
            <a:noFill/>
            <a:ln w="952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97" name="Line 31">
              <a:extLst>
                <a:ext uri="{FF2B5EF4-FFF2-40B4-BE49-F238E27FC236}">
                  <a16:creationId xmlns:a16="http://schemas.microsoft.com/office/drawing/2014/main" id="{0817D154-6A57-4874-A727-AB08D6AAF526}"/>
                </a:ext>
              </a:extLst>
            </p:cNvPr>
            <p:cNvSpPr>
              <a:spLocks noChangeShapeType="1"/>
            </p:cNvSpPr>
            <p:nvPr/>
          </p:nvSpPr>
          <p:spPr bwMode="auto">
            <a:xfrm>
              <a:off x="3024" y="2544"/>
              <a:ext cx="672" cy="0"/>
            </a:xfrm>
            <a:prstGeom prst="line">
              <a:avLst/>
            </a:prstGeom>
            <a:noFill/>
            <a:ln w="9525">
              <a:solidFill>
                <a:srgbClr val="EF8D2B"/>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3598" name="Line 32">
              <a:extLst>
                <a:ext uri="{FF2B5EF4-FFF2-40B4-BE49-F238E27FC236}">
                  <a16:creationId xmlns:a16="http://schemas.microsoft.com/office/drawing/2014/main" id="{39180103-D90C-4385-B8C4-8D8EAD58F627}"/>
                </a:ext>
              </a:extLst>
            </p:cNvPr>
            <p:cNvSpPr>
              <a:spLocks noChangeShapeType="1"/>
            </p:cNvSpPr>
            <p:nvPr/>
          </p:nvSpPr>
          <p:spPr bwMode="auto">
            <a:xfrm>
              <a:off x="3024" y="2544"/>
              <a:ext cx="0" cy="240"/>
            </a:xfrm>
            <a:prstGeom prst="line">
              <a:avLst/>
            </a:prstGeom>
            <a:noFill/>
            <a:ln w="952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99" name="Line 33">
              <a:extLst>
                <a:ext uri="{FF2B5EF4-FFF2-40B4-BE49-F238E27FC236}">
                  <a16:creationId xmlns:a16="http://schemas.microsoft.com/office/drawing/2014/main" id="{3F73AADC-9F98-4F76-A9F8-35A0F64DCD3D}"/>
                </a:ext>
              </a:extLst>
            </p:cNvPr>
            <p:cNvSpPr>
              <a:spLocks noChangeShapeType="1"/>
            </p:cNvSpPr>
            <p:nvPr/>
          </p:nvSpPr>
          <p:spPr bwMode="auto">
            <a:xfrm>
              <a:off x="3072" y="1632"/>
              <a:ext cx="0" cy="192"/>
            </a:xfrm>
            <a:prstGeom prst="line">
              <a:avLst/>
            </a:prstGeom>
            <a:noFill/>
            <a:ln w="952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600" name="Text Box 34">
              <a:extLst>
                <a:ext uri="{FF2B5EF4-FFF2-40B4-BE49-F238E27FC236}">
                  <a16:creationId xmlns:a16="http://schemas.microsoft.com/office/drawing/2014/main" id="{DFE5A43C-2DAA-4A8F-9677-2F461E8F8463}"/>
                </a:ext>
              </a:extLst>
            </p:cNvPr>
            <p:cNvSpPr txBox="1">
              <a:spLocks noChangeArrowheads="1"/>
            </p:cNvSpPr>
            <p:nvPr/>
          </p:nvSpPr>
          <p:spPr bwMode="auto">
            <a:xfrm>
              <a:off x="2348" y="1767"/>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T</a:t>
              </a:r>
            </a:p>
          </p:txBody>
        </p:sp>
        <p:sp>
          <p:nvSpPr>
            <p:cNvPr id="23601" name="Text Box 35">
              <a:extLst>
                <a:ext uri="{FF2B5EF4-FFF2-40B4-BE49-F238E27FC236}">
                  <a16:creationId xmlns:a16="http://schemas.microsoft.com/office/drawing/2014/main" id="{55073D7C-82DD-41B0-AF61-89DD656C0253}"/>
                </a:ext>
              </a:extLst>
            </p:cNvPr>
            <p:cNvSpPr txBox="1">
              <a:spLocks noChangeArrowheads="1"/>
            </p:cNvSpPr>
            <p:nvPr/>
          </p:nvSpPr>
          <p:spPr bwMode="auto">
            <a:xfrm>
              <a:off x="3552" y="1776"/>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F</a:t>
              </a:r>
            </a:p>
          </p:txBody>
        </p:sp>
      </p:grpSp>
      <p:grpSp>
        <p:nvGrpSpPr>
          <p:cNvPr id="23574" name="Group 94">
            <a:extLst>
              <a:ext uri="{FF2B5EF4-FFF2-40B4-BE49-F238E27FC236}">
                <a16:creationId xmlns:a16="http://schemas.microsoft.com/office/drawing/2014/main" id="{7894AF1E-AA41-4204-9112-304017A874E3}"/>
              </a:ext>
            </a:extLst>
          </p:cNvPr>
          <p:cNvGrpSpPr>
            <a:grpSpLocks/>
          </p:cNvGrpSpPr>
          <p:nvPr/>
        </p:nvGrpSpPr>
        <p:grpSpPr bwMode="auto">
          <a:xfrm>
            <a:off x="4305300" y="3736975"/>
            <a:ext cx="2895600" cy="1828800"/>
            <a:chOff x="2112" y="2880"/>
            <a:chExt cx="1824" cy="1152"/>
          </a:xfrm>
        </p:grpSpPr>
        <p:sp>
          <p:nvSpPr>
            <p:cNvPr id="1264720" name="AutoShape 80">
              <a:extLst>
                <a:ext uri="{FF2B5EF4-FFF2-40B4-BE49-F238E27FC236}">
                  <a16:creationId xmlns:a16="http://schemas.microsoft.com/office/drawing/2014/main" id="{6C10057C-23FD-4A27-B218-F7058B92108C}"/>
                </a:ext>
              </a:extLst>
            </p:cNvPr>
            <p:cNvSpPr>
              <a:spLocks noChangeArrowheads="1"/>
            </p:cNvSpPr>
            <p:nvPr/>
          </p:nvSpPr>
          <p:spPr bwMode="auto">
            <a:xfrm>
              <a:off x="2544" y="3072"/>
              <a:ext cx="1056" cy="288"/>
            </a:xfrm>
            <a:prstGeom prst="flowChartDecision">
              <a:avLst/>
            </a:prstGeom>
            <a:solidFill>
              <a:schemeClr val="bg1"/>
            </a:solidFill>
            <a:ln w="9525">
              <a:solidFill>
                <a:srgbClr val="EF8D2B"/>
              </a:solidFill>
              <a:miter lim="800000"/>
              <a:headEnd/>
              <a:tailEnd/>
            </a:ln>
            <a:effectLst/>
          </p:spPr>
          <p:txBody>
            <a:bodyPr wrap="none" anchor="ctr"/>
            <a:lstStyle/>
            <a:p>
              <a:pPr algn="ctr">
                <a:defRPr/>
              </a:pPr>
              <a:r>
                <a:rPr lang="en-US" altLang="zh-CN" sz="1600" b="1">
                  <a:solidFill>
                    <a:srgbClr val="49AB39"/>
                  </a:solidFill>
                  <a:effectLst>
                    <a:outerShdw blurRad="38100" dist="38100" dir="2700000" algn="tl">
                      <a:srgbClr val="000000"/>
                    </a:outerShdw>
                  </a:effectLst>
                  <a:latin typeface="Times New Roman" charset="0"/>
                  <a:ea typeface="文鼎细圆" pitchFamily="49" charset="-122"/>
                </a:rPr>
                <a:t>A^B</a:t>
              </a:r>
            </a:p>
          </p:txBody>
        </p:sp>
        <p:sp>
          <p:nvSpPr>
            <p:cNvPr id="23576" name="Line 81">
              <a:extLst>
                <a:ext uri="{FF2B5EF4-FFF2-40B4-BE49-F238E27FC236}">
                  <a16:creationId xmlns:a16="http://schemas.microsoft.com/office/drawing/2014/main" id="{5B4C1904-2899-425E-833B-E347896732FD}"/>
                </a:ext>
              </a:extLst>
            </p:cNvPr>
            <p:cNvSpPr>
              <a:spLocks noChangeShapeType="1"/>
            </p:cNvSpPr>
            <p:nvPr/>
          </p:nvSpPr>
          <p:spPr bwMode="auto">
            <a:xfrm>
              <a:off x="2400" y="3216"/>
              <a:ext cx="144" cy="0"/>
            </a:xfrm>
            <a:prstGeom prst="line">
              <a:avLst/>
            </a:prstGeom>
            <a:noFill/>
            <a:ln w="952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7" name="Line 82">
              <a:extLst>
                <a:ext uri="{FF2B5EF4-FFF2-40B4-BE49-F238E27FC236}">
                  <a16:creationId xmlns:a16="http://schemas.microsoft.com/office/drawing/2014/main" id="{F994B5E5-9522-4F94-BBDE-7DA3282E232D}"/>
                </a:ext>
              </a:extLst>
            </p:cNvPr>
            <p:cNvSpPr>
              <a:spLocks noChangeShapeType="1"/>
            </p:cNvSpPr>
            <p:nvPr/>
          </p:nvSpPr>
          <p:spPr bwMode="auto">
            <a:xfrm>
              <a:off x="2400" y="3216"/>
              <a:ext cx="0" cy="192"/>
            </a:xfrm>
            <a:prstGeom prst="line">
              <a:avLst/>
            </a:prstGeom>
            <a:noFill/>
            <a:ln w="952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78" name="Rectangle 83">
              <a:extLst>
                <a:ext uri="{FF2B5EF4-FFF2-40B4-BE49-F238E27FC236}">
                  <a16:creationId xmlns:a16="http://schemas.microsoft.com/office/drawing/2014/main" id="{31AB0B67-6276-45EE-BCC5-DCF95EEFD70F}"/>
                </a:ext>
              </a:extLst>
            </p:cNvPr>
            <p:cNvSpPr>
              <a:spLocks noChangeArrowheads="1"/>
            </p:cNvSpPr>
            <p:nvPr/>
          </p:nvSpPr>
          <p:spPr bwMode="auto">
            <a:xfrm>
              <a:off x="2112" y="3408"/>
              <a:ext cx="576" cy="240"/>
            </a:xfrm>
            <a:prstGeom prst="rect">
              <a:avLst/>
            </a:prstGeom>
            <a:solidFill>
              <a:schemeClr val="bg1"/>
            </a:solidFill>
            <a:ln w="9525">
              <a:solidFill>
                <a:srgbClr val="EF8D2B"/>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endParaRPr lang="zh-CN" altLang="en-US" sz="2800">
                <a:solidFill>
                  <a:srgbClr val="49AB39"/>
                </a:solidFill>
                <a:latin typeface="Times New Roman" panose="02020603050405020304" pitchFamily="18" charset="0"/>
                <a:ea typeface="楷体_GB2312" pitchFamily="49" charset="-122"/>
              </a:endParaRPr>
            </a:p>
          </p:txBody>
        </p:sp>
        <p:sp>
          <p:nvSpPr>
            <p:cNvPr id="23579" name="Line 84">
              <a:extLst>
                <a:ext uri="{FF2B5EF4-FFF2-40B4-BE49-F238E27FC236}">
                  <a16:creationId xmlns:a16="http://schemas.microsoft.com/office/drawing/2014/main" id="{C7E820F2-9896-4FEB-A4F1-5233A8F4C476}"/>
                </a:ext>
              </a:extLst>
            </p:cNvPr>
            <p:cNvSpPr>
              <a:spLocks noChangeShapeType="1"/>
            </p:cNvSpPr>
            <p:nvPr/>
          </p:nvSpPr>
          <p:spPr bwMode="auto">
            <a:xfrm>
              <a:off x="2400" y="3648"/>
              <a:ext cx="0" cy="144"/>
            </a:xfrm>
            <a:prstGeom prst="line">
              <a:avLst/>
            </a:prstGeom>
            <a:noFill/>
            <a:ln w="952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0" name="Line 85">
              <a:extLst>
                <a:ext uri="{FF2B5EF4-FFF2-40B4-BE49-F238E27FC236}">
                  <a16:creationId xmlns:a16="http://schemas.microsoft.com/office/drawing/2014/main" id="{0166385C-0093-42EC-B557-222E1AA69AE9}"/>
                </a:ext>
              </a:extLst>
            </p:cNvPr>
            <p:cNvSpPr>
              <a:spLocks noChangeShapeType="1"/>
            </p:cNvSpPr>
            <p:nvPr/>
          </p:nvSpPr>
          <p:spPr bwMode="auto">
            <a:xfrm>
              <a:off x="3600" y="3216"/>
              <a:ext cx="96" cy="0"/>
            </a:xfrm>
            <a:prstGeom prst="line">
              <a:avLst/>
            </a:prstGeom>
            <a:noFill/>
            <a:ln w="952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1" name="Line 86">
              <a:extLst>
                <a:ext uri="{FF2B5EF4-FFF2-40B4-BE49-F238E27FC236}">
                  <a16:creationId xmlns:a16="http://schemas.microsoft.com/office/drawing/2014/main" id="{C984833F-BFD7-4603-972C-C5F288C9BB6C}"/>
                </a:ext>
              </a:extLst>
            </p:cNvPr>
            <p:cNvSpPr>
              <a:spLocks noChangeShapeType="1"/>
            </p:cNvSpPr>
            <p:nvPr/>
          </p:nvSpPr>
          <p:spPr bwMode="auto">
            <a:xfrm>
              <a:off x="3696" y="3216"/>
              <a:ext cx="0" cy="576"/>
            </a:xfrm>
            <a:prstGeom prst="line">
              <a:avLst/>
            </a:prstGeom>
            <a:noFill/>
            <a:ln w="952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2" name="Line 87">
              <a:extLst>
                <a:ext uri="{FF2B5EF4-FFF2-40B4-BE49-F238E27FC236}">
                  <a16:creationId xmlns:a16="http://schemas.microsoft.com/office/drawing/2014/main" id="{9300FC77-CBF8-4FF0-8A9A-720854E115F5}"/>
                </a:ext>
              </a:extLst>
            </p:cNvPr>
            <p:cNvSpPr>
              <a:spLocks noChangeShapeType="1"/>
            </p:cNvSpPr>
            <p:nvPr/>
          </p:nvSpPr>
          <p:spPr bwMode="auto">
            <a:xfrm>
              <a:off x="2400" y="3792"/>
              <a:ext cx="624" cy="0"/>
            </a:xfrm>
            <a:prstGeom prst="line">
              <a:avLst/>
            </a:prstGeom>
            <a:noFill/>
            <a:ln w="952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83" name="Line 88">
              <a:extLst>
                <a:ext uri="{FF2B5EF4-FFF2-40B4-BE49-F238E27FC236}">
                  <a16:creationId xmlns:a16="http://schemas.microsoft.com/office/drawing/2014/main" id="{16578D02-5ECF-41E2-9002-57C2CBF41C1C}"/>
                </a:ext>
              </a:extLst>
            </p:cNvPr>
            <p:cNvSpPr>
              <a:spLocks noChangeShapeType="1"/>
            </p:cNvSpPr>
            <p:nvPr/>
          </p:nvSpPr>
          <p:spPr bwMode="auto">
            <a:xfrm>
              <a:off x="3024" y="3792"/>
              <a:ext cx="672" cy="0"/>
            </a:xfrm>
            <a:prstGeom prst="line">
              <a:avLst/>
            </a:prstGeom>
            <a:noFill/>
            <a:ln w="9525">
              <a:solidFill>
                <a:srgbClr val="EF8D2B"/>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3584" name="Line 89">
              <a:extLst>
                <a:ext uri="{FF2B5EF4-FFF2-40B4-BE49-F238E27FC236}">
                  <a16:creationId xmlns:a16="http://schemas.microsoft.com/office/drawing/2014/main" id="{CA174C48-3DE6-4857-8C11-D5C2BDDC0861}"/>
                </a:ext>
              </a:extLst>
            </p:cNvPr>
            <p:cNvSpPr>
              <a:spLocks noChangeShapeType="1"/>
            </p:cNvSpPr>
            <p:nvPr/>
          </p:nvSpPr>
          <p:spPr bwMode="auto">
            <a:xfrm>
              <a:off x="3024" y="3792"/>
              <a:ext cx="0" cy="240"/>
            </a:xfrm>
            <a:prstGeom prst="line">
              <a:avLst/>
            </a:prstGeom>
            <a:noFill/>
            <a:ln w="952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85" name="Line 90">
              <a:extLst>
                <a:ext uri="{FF2B5EF4-FFF2-40B4-BE49-F238E27FC236}">
                  <a16:creationId xmlns:a16="http://schemas.microsoft.com/office/drawing/2014/main" id="{46C895FD-10DF-4CA6-B40D-2129116E63C2}"/>
                </a:ext>
              </a:extLst>
            </p:cNvPr>
            <p:cNvSpPr>
              <a:spLocks noChangeShapeType="1"/>
            </p:cNvSpPr>
            <p:nvPr/>
          </p:nvSpPr>
          <p:spPr bwMode="auto">
            <a:xfrm>
              <a:off x="3072" y="2880"/>
              <a:ext cx="0" cy="192"/>
            </a:xfrm>
            <a:prstGeom prst="line">
              <a:avLst/>
            </a:prstGeom>
            <a:noFill/>
            <a:ln w="952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86" name="Text Box 91">
              <a:extLst>
                <a:ext uri="{FF2B5EF4-FFF2-40B4-BE49-F238E27FC236}">
                  <a16:creationId xmlns:a16="http://schemas.microsoft.com/office/drawing/2014/main" id="{C03165CE-006F-41AD-8CFD-59F9C3CBF65B}"/>
                </a:ext>
              </a:extLst>
            </p:cNvPr>
            <p:cNvSpPr txBox="1">
              <a:spLocks noChangeArrowheads="1"/>
            </p:cNvSpPr>
            <p:nvPr/>
          </p:nvSpPr>
          <p:spPr bwMode="auto">
            <a:xfrm>
              <a:off x="2348" y="3015"/>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T</a:t>
              </a:r>
            </a:p>
          </p:txBody>
        </p:sp>
        <p:sp>
          <p:nvSpPr>
            <p:cNvPr id="23587" name="Text Box 92">
              <a:extLst>
                <a:ext uri="{FF2B5EF4-FFF2-40B4-BE49-F238E27FC236}">
                  <a16:creationId xmlns:a16="http://schemas.microsoft.com/office/drawing/2014/main" id="{54207241-0757-4A62-BFEC-5F8E4935CEA8}"/>
                </a:ext>
              </a:extLst>
            </p:cNvPr>
            <p:cNvSpPr txBox="1">
              <a:spLocks noChangeArrowheads="1"/>
            </p:cNvSpPr>
            <p:nvPr/>
          </p:nvSpPr>
          <p:spPr bwMode="auto">
            <a:xfrm>
              <a:off x="3552" y="3024"/>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F</a:t>
              </a:r>
            </a:p>
          </p:txBody>
        </p:sp>
        <p:sp>
          <p:nvSpPr>
            <p:cNvPr id="23588" name="Rectangle 93">
              <a:extLst>
                <a:ext uri="{FF2B5EF4-FFF2-40B4-BE49-F238E27FC236}">
                  <a16:creationId xmlns:a16="http://schemas.microsoft.com/office/drawing/2014/main" id="{D3552E6F-232A-48E2-A9E4-1EFB090A6975}"/>
                </a:ext>
              </a:extLst>
            </p:cNvPr>
            <p:cNvSpPr>
              <a:spLocks noChangeArrowheads="1"/>
            </p:cNvSpPr>
            <p:nvPr/>
          </p:nvSpPr>
          <p:spPr bwMode="auto">
            <a:xfrm>
              <a:off x="3360" y="3408"/>
              <a:ext cx="576" cy="240"/>
            </a:xfrm>
            <a:prstGeom prst="rect">
              <a:avLst/>
            </a:prstGeom>
            <a:solidFill>
              <a:schemeClr val="bg1"/>
            </a:solidFill>
            <a:ln w="9525">
              <a:solidFill>
                <a:srgbClr val="EF8D2B"/>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endParaRPr lang="zh-CN" altLang="en-US" sz="2800">
                <a:solidFill>
                  <a:srgbClr val="49AB39"/>
                </a:solidFill>
                <a:latin typeface="Times New Roman" panose="02020603050405020304" pitchFamily="18" charset="0"/>
                <a:ea typeface="楷体_GB2312" pitchFamily="49" charset="-122"/>
              </a:endParaRPr>
            </a:p>
          </p:txBody>
        </p:sp>
      </p:gr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日期占位符 1">
            <a:extLst>
              <a:ext uri="{FF2B5EF4-FFF2-40B4-BE49-F238E27FC236}">
                <a16:creationId xmlns:a16="http://schemas.microsoft.com/office/drawing/2014/main" id="{F5321B39-6D3A-449F-AB60-8F3AF99C5327}"/>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F9FFB070-B177-406F-97BD-081C76D1816A}"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graphicFrame>
        <p:nvGraphicFramePr>
          <p:cNvPr id="1266802" name="Group 114">
            <a:extLst>
              <a:ext uri="{FF2B5EF4-FFF2-40B4-BE49-F238E27FC236}">
                <a16:creationId xmlns:a16="http://schemas.microsoft.com/office/drawing/2014/main" id="{6459BBAF-EB4B-4B83-A8A4-426078650C74}"/>
              </a:ext>
            </a:extLst>
          </p:cNvPr>
          <p:cNvGraphicFramePr>
            <a:graphicFrameLocks noGrp="1"/>
          </p:cNvGraphicFramePr>
          <p:nvPr/>
        </p:nvGraphicFramePr>
        <p:xfrm>
          <a:off x="2566988" y="952500"/>
          <a:ext cx="7391400" cy="4953000"/>
        </p:xfrm>
        <a:graphic>
          <a:graphicData uri="http://schemas.openxmlformats.org/drawingml/2006/table">
            <a:tbl>
              <a:tblPr/>
              <a:tblGrid>
                <a:gridCol w="1447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9906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49AB39"/>
                          </a:solidFill>
                          <a:effectLst/>
                          <a:latin typeface="Times New Roman" charset="0"/>
                          <a:ea typeface="黑体" pitchFamily="2" charset="-122"/>
                        </a:rPr>
                        <a:t>覆盖标准</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49AB39"/>
                          </a:solidFill>
                          <a:effectLst/>
                          <a:latin typeface="Times New Roman" charset="0"/>
                          <a:ea typeface="黑体" pitchFamily="2" charset="-122"/>
                        </a:rPr>
                        <a:t>程序结构举例</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49AB39"/>
                          </a:solidFill>
                          <a:effectLst/>
                          <a:latin typeface="Times New Roman" charset="0"/>
                          <a:ea typeface="黑体" pitchFamily="2" charset="-122"/>
                        </a:rPr>
                        <a:t>测试用例应</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49AB39"/>
                          </a:solidFill>
                          <a:effectLst/>
                          <a:latin typeface="Times New Roman" charset="0"/>
                          <a:ea typeface="黑体" pitchFamily="2" charset="-122"/>
                        </a:rPr>
                        <a:t>满足的条件</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10668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EF8D2B"/>
                          </a:solidFill>
                          <a:effectLst/>
                          <a:latin typeface="黑体" pitchFamily="2" charset="-122"/>
                          <a:ea typeface="黑体" pitchFamily="2" charset="-122"/>
                        </a:rPr>
                        <a:t>条件覆盖</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endParaRPr kumimoji="1" lang="zh-CN" altLang="en-US" sz="2000" b="0" i="0" u="none" strike="noStrike" cap="none" normalizeH="0" baseline="0">
                        <a:ln>
                          <a:noFill/>
                        </a:ln>
                        <a:solidFill>
                          <a:srgbClr val="49AB39"/>
                        </a:solidFill>
                        <a:effectLst/>
                        <a:latin typeface="Times New Roman" charset="0"/>
                        <a:ea typeface="楷体_GB2312" pitchFamily="49" charset="-122"/>
                      </a:endParaRP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1" i="0" u="none" strike="noStrike" cap="none" normalizeH="0" baseline="0">
                          <a:ln>
                            <a:noFill/>
                          </a:ln>
                          <a:solidFill>
                            <a:srgbClr val="EF8D2B"/>
                          </a:solidFill>
                          <a:effectLst/>
                          <a:latin typeface="Times New Roman" charset="0"/>
                          <a:ea typeface="楷体_GB2312" pitchFamily="49" charset="-122"/>
                        </a:rPr>
                        <a:t>A=.T.   A=.F.</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1" i="0" u="none" strike="noStrike" cap="none" normalizeH="0" baseline="0">
                          <a:ln>
                            <a:noFill/>
                          </a:ln>
                          <a:solidFill>
                            <a:srgbClr val="EF8D2B"/>
                          </a:solidFill>
                          <a:effectLst/>
                          <a:latin typeface="Times New Roman" charset="0"/>
                          <a:ea typeface="楷体_GB2312" pitchFamily="49" charset="-122"/>
                        </a:rPr>
                        <a:t>B=.T.   B=.F.</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0668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EF8D2B"/>
                          </a:solidFill>
                          <a:effectLst/>
                          <a:latin typeface="黑体" pitchFamily="2" charset="-122"/>
                          <a:ea typeface="黑体" pitchFamily="2" charset="-122"/>
                        </a:rPr>
                        <a:t>判定/条件</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EF8D2B"/>
                          </a:solidFill>
                          <a:effectLst/>
                          <a:latin typeface="黑体" pitchFamily="2" charset="-122"/>
                          <a:ea typeface="黑体" pitchFamily="2" charset="-122"/>
                        </a:rPr>
                        <a:t>覆盖</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endParaRPr kumimoji="1" lang="zh-CN" altLang="en-US" sz="2000" b="0" i="0" u="none" strike="noStrike" cap="none" normalizeH="0" baseline="0">
                        <a:ln>
                          <a:noFill/>
                        </a:ln>
                        <a:solidFill>
                          <a:srgbClr val="49AB39"/>
                        </a:solidFill>
                        <a:effectLst/>
                        <a:latin typeface="Times New Roman" charset="0"/>
                        <a:ea typeface="楷体_GB2312" pitchFamily="49" charset="-122"/>
                      </a:endParaRP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1" i="0" u="none" strike="noStrike" cap="none" normalizeH="0" baseline="0">
                          <a:ln>
                            <a:noFill/>
                          </a:ln>
                          <a:solidFill>
                            <a:srgbClr val="EF8D2B"/>
                          </a:solidFill>
                          <a:effectLst/>
                          <a:latin typeface="Times New Roman" charset="0"/>
                          <a:ea typeface="楷体_GB2312" pitchFamily="49" charset="-122"/>
                        </a:rPr>
                        <a:t>A^B=.T.  ,  A^B=.F.</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1" i="0" u="none" strike="noStrike" cap="none" normalizeH="0" baseline="0">
                          <a:ln>
                            <a:noFill/>
                          </a:ln>
                          <a:solidFill>
                            <a:srgbClr val="EF8D2B"/>
                          </a:solidFill>
                          <a:effectLst/>
                          <a:latin typeface="Times New Roman" charset="0"/>
                          <a:ea typeface="楷体_GB2312" pitchFamily="49" charset="-122"/>
                        </a:rPr>
                        <a:t>A=.T.    A=.F.  B=.T.  B=.F.</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18288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EF8D2B"/>
                          </a:solidFill>
                          <a:effectLst/>
                          <a:latin typeface="黑体" pitchFamily="2" charset="-122"/>
                          <a:ea typeface="黑体" pitchFamily="2" charset="-122"/>
                        </a:rPr>
                        <a:t>条件组合</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EF8D2B"/>
                          </a:solidFill>
                          <a:effectLst/>
                          <a:latin typeface="黑体" pitchFamily="2" charset="-122"/>
                          <a:ea typeface="黑体" pitchFamily="2" charset="-122"/>
                        </a:rPr>
                        <a:t>覆盖</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endParaRPr kumimoji="1" lang="zh-CN" altLang="en-US" sz="1800" b="0" i="0" u="none" strike="noStrike" cap="none" normalizeH="0" baseline="0">
                        <a:ln>
                          <a:noFill/>
                        </a:ln>
                        <a:solidFill>
                          <a:srgbClr val="EF8D2B"/>
                        </a:solidFill>
                        <a:effectLst/>
                        <a:latin typeface="黑体" pitchFamily="2" charset="-122"/>
                        <a:ea typeface="黑体" pitchFamily="2" charset="-122"/>
                      </a:endParaRP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endParaRPr kumimoji="1" lang="zh-CN" altLang="en-US" sz="2000" b="0" i="0" u="none" strike="noStrike" cap="none" normalizeH="0" baseline="0">
                        <a:ln>
                          <a:noFill/>
                        </a:ln>
                        <a:solidFill>
                          <a:srgbClr val="49AB39"/>
                        </a:solidFill>
                        <a:effectLst/>
                        <a:latin typeface="Times New Roman" charset="0"/>
                        <a:ea typeface="楷体_GB2312" pitchFamily="49" charset="-122"/>
                      </a:endParaRP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1" i="0" u="none" strike="noStrike" cap="none" normalizeH="0" baseline="0">
                          <a:ln>
                            <a:noFill/>
                          </a:ln>
                          <a:solidFill>
                            <a:srgbClr val="EF8D2B"/>
                          </a:solidFill>
                          <a:effectLst/>
                          <a:latin typeface="Times New Roman" charset="0"/>
                          <a:ea typeface="楷体_GB2312" pitchFamily="49" charset="-122"/>
                        </a:rPr>
                        <a:t> A=.T.  ^   B=.T.</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1" i="0" u="none" strike="noStrike" cap="none" normalizeH="0" baseline="0">
                          <a:ln>
                            <a:noFill/>
                          </a:ln>
                          <a:solidFill>
                            <a:srgbClr val="EF8D2B"/>
                          </a:solidFill>
                          <a:effectLst/>
                          <a:latin typeface="Times New Roman" charset="0"/>
                          <a:ea typeface="楷体_GB2312" pitchFamily="49" charset="-122"/>
                        </a:rPr>
                        <a:t> A=.T.  ^   B=.F.</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1" i="0" u="none" strike="noStrike" cap="none" normalizeH="0" baseline="0">
                          <a:ln>
                            <a:noFill/>
                          </a:ln>
                          <a:solidFill>
                            <a:srgbClr val="EF8D2B"/>
                          </a:solidFill>
                          <a:effectLst/>
                          <a:latin typeface="Times New Roman" charset="0"/>
                          <a:ea typeface="楷体_GB2312" pitchFamily="49" charset="-122"/>
                        </a:rPr>
                        <a:t>A=.F.  ^   B=.T</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1" i="0" u="none" strike="noStrike" cap="none" normalizeH="0" baseline="0">
                          <a:ln>
                            <a:noFill/>
                          </a:ln>
                          <a:solidFill>
                            <a:srgbClr val="EF8D2B"/>
                          </a:solidFill>
                          <a:effectLst/>
                          <a:latin typeface="Times New Roman" charset="0"/>
                          <a:ea typeface="楷体_GB2312" pitchFamily="49" charset="-122"/>
                        </a:rPr>
                        <a:t>A=.F.  ^   B=.F.</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pSp>
        <p:nvGrpSpPr>
          <p:cNvPr id="25625" name="Group 95">
            <a:extLst>
              <a:ext uri="{FF2B5EF4-FFF2-40B4-BE49-F238E27FC236}">
                <a16:creationId xmlns:a16="http://schemas.microsoft.com/office/drawing/2014/main" id="{971D2534-23C8-4DAB-96C7-D04242D8A211}"/>
              </a:ext>
            </a:extLst>
          </p:cNvPr>
          <p:cNvGrpSpPr>
            <a:grpSpLocks/>
          </p:cNvGrpSpPr>
          <p:nvPr/>
        </p:nvGrpSpPr>
        <p:grpSpPr bwMode="auto">
          <a:xfrm>
            <a:off x="4319589" y="2019300"/>
            <a:ext cx="2219325" cy="838200"/>
            <a:chOff x="2540" y="144"/>
            <a:chExt cx="1398" cy="528"/>
          </a:xfrm>
        </p:grpSpPr>
        <p:sp>
          <p:nvSpPr>
            <p:cNvPr id="1266768" name="AutoShape 80">
              <a:extLst>
                <a:ext uri="{FF2B5EF4-FFF2-40B4-BE49-F238E27FC236}">
                  <a16:creationId xmlns:a16="http://schemas.microsoft.com/office/drawing/2014/main" id="{F7CF679F-D0E2-4871-BE17-21D16766CA2E}"/>
                </a:ext>
              </a:extLst>
            </p:cNvPr>
            <p:cNvSpPr>
              <a:spLocks noChangeArrowheads="1"/>
            </p:cNvSpPr>
            <p:nvPr/>
          </p:nvSpPr>
          <p:spPr bwMode="auto">
            <a:xfrm>
              <a:off x="2736" y="336"/>
              <a:ext cx="1056" cy="288"/>
            </a:xfrm>
            <a:prstGeom prst="flowChartDecision">
              <a:avLst/>
            </a:prstGeom>
            <a:solidFill>
              <a:schemeClr val="bg1"/>
            </a:solidFill>
            <a:ln w="9525">
              <a:solidFill>
                <a:srgbClr val="EF8D2B"/>
              </a:solidFill>
              <a:miter lim="800000"/>
              <a:headEnd/>
              <a:tailEnd/>
            </a:ln>
            <a:effectLst/>
          </p:spPr>
          <p:txBody>
            <a:bodyPr wrap="none" anchor="ctr"/>
            <a:lstStyle/>
            <a:p>
              <a:pPr algn="ctr">
                <a:defRPr/>
              </a:pPr>
              <a:r>
                <a:rPr lang="en-US" altLang="zh-CN" sz="1600" b="1">
                  <a:solidFill>
                    <a:srgbClr val="49AB39"/>
                  </a:solidFill>
                  <a:effectLst>
                    <a:outerShdw blurRad="38100" dist="38100" dir="2700000" algn="tl">
                      <a:srgbClr val="000000"/>
                    </a:outerShdw>
                  </a:effectLst>
                  <a:latin typeface="Times New Roman" charset="0"/>
                  <a:ea typeface="文鼎细圆" pitchFamily="49" charset="-122"/>
                </a:rPr>
                <a:t>A^B</a:t>
              </a:r>
            </a:p>
          </p:txBody>
        </p:sp>
        <p:sp>
          <p:nvSpPr>
            <p:cNvPr id="25645" name="Line 81">
              <a:extLst>
                <a:ext uri="{FF2B5EF4-FFF2-40B4-BE49-F238E27FC236}">
                  <a16:creationId xmlns:a16="http://schemas.microsoft.com/office/drawing/2014/main" id="{18B1B381-9C47-4776-AF64-BCAE620304AD}"/>
                </a:ext>
              </a:extLst>
            </p:cNvPr>
            <p:cNvSpPr>
              <a:spLocks noChangeShapeType="1"/>
            </p:cNvSpPr>
            <p:nvPr/>
          </p:nvSpPr>
          <p:spPr bwMode="auto">
            <a:xfrm>
              <a:off x="2592" y="480"/>
              <a:ext cx="144" cy="0"/>
            </a:xfrm>
            <a:prstGeom prst="line">
              <a:avLst/>
            </a:prstGeom>
            <a:noFill/>
            <a:ln w="952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46" name="Line 82">
              <a:extLst>
                <a:ext uri="{FF2B5EF4-FFF2-40B4-BE49-F238E27FC236}">
                  <a16:creationId xmlns:a16="http://schemas.microsoft.com/office/drawing/2014/main" id="{AB5DCA35-5B2A-4B31-A3BF-45C46737ABA1}"/>
                </a:ext>
              </a:extLst>
            </p:cNvPr>
            <p:cNvSpPr>
              <a:spLocks noChangeShapeType="1"/>
            </p:cNvSpPr>
            <p:nvPr/>
          </p:nvSpPr>
          <p:spPr bwMode="auto">
            <a:xfrm>
              <a:off x="2592" y="480"/>
              <a:ext cx="0" cy="192"/>
            </a:xfrm>
            <a:prstGeom prst="line">
              <a:avLst/>
            </a:prstGeom>
            <a:noFill/>
            <a:ln w="952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47" name="Line 85">
              <a:extLst>
                <a:ext uri="{FF2B5EF4-FFF2-40B4-BE49-F238E27FC236}">
                  <a16:creationId xmlns:a16="http://schemas.microsoft.com/office/drawing/2014/main" id="{D1168BC0-8605-4AA0-9602-C33A5A001FA2}"/>
                </a:ext>
              </a:extLst>
            </p:cNvPr>
            <p:cNvSpPr>
              <a:spLocks noChangeShapeType="1"/>
            </p:cNvSpPr>
            <p:nvPr/>
          </p:nvSpPr>
          <p:spPr bwMode="auto">
            <a:xfrm>
              <a:off x="3792" y="480"/>
              <a:ext cx="96" cy="0"/>
            </a:xfrm>
            <a:prstGeom prst="line">
              <a:avLst/>
            </a:prstGeom>
            <a:noFill/>
            <a:ln w="952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48" name="Line 90">
              <a:extLst>
                <a:ext uri="{FF2B5EF4-FFF2-40B4-BE49-F238E27FC236}">
                  <a16:creationId xmlns:a16="http://schemas.microsoft.com/office/drawing/2014/main" id="{4A09C51E-A829-4C36-A31F-B8F6E2037C4E}"/>
                </a:ext>
              </a:extLst>
            </p:cNvPr>
            <p:cNvSpPr>
              <a:spLocks noChangeShapeType="1"/>
            </p:cNvSpPr>
            <p:nvPr/>
          </p:nvSpPr>
          <p:spPr bwMode="auto">
            <a:xfrm>
              <a:off x="3264" y="144"/>
              <a:ext cx="0" cy="192"/>
            </a:xfrm>
            <a:prstGeom prst="line">
              <a:avLst/>
            </a:prstGeom>
            <a:noFill/>
            <a:ln w="952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49" name="Text Box 91">
              <a:extLst>
                <a:ext uri="{FF2B5EF4-FFF2-40B4-BE49-F238E27FC236}">
                  <a16:creationId xmlns:a16="http://schemas.microsoft.com/office/drawing/2014/main" id="{9FA0071B-E427-4AB6-B337-0B533D8AD128}"/>
                </a:ext>
              </a:extLst>
            </p:cNvPr>
            <p:cNvSpPr txBox="1">
              <a:spLocks noChangeArrowheads="1"/>
            </p:cNvSpPr>
            <p:nvPr/>
          </p:nvSpPr>
          <p:spPr bwMode="auto">
            <a:xfrm>
              <a:off x="2540" y="279"/>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T</a:t>
              </a:r>
            </a:p>
          </p:txBody>
        </p:sp>
        <p:sp>
          <p:nvSpPr>
            <p:cNvPr id="25650" name="Text Box 92">
              <a:extLst>
                <a:ext uri="{FF2B5EF4-FFF2-40B4-BE49-F238E27FC236}">
                  <a16:creationId xmlns:a16="http://schemas.microsoft.com/office/drawing/2014/main" id="{5F05DFF6-DFB0-465A-B277-AF9C830DAD05}"/>
                </a:ext>
              </a:extLst>
            </p:cNvPr>
            <p:cNvSpPr txBox="1">
              <a:spLocks noChangeArrowheads="1"/>
            </p:cNvSpPr>
            <p:nvPr/>
          </p:nvSpPr>
          <p:spPr bwMode="auto">
            <a:xfrm>
              <a:off x="3744" y="288"/>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F</a:t>
              </a:r>
            </a:p>
          </p:txBody>
        </p:sp>
        <p:sp>
          <p:nvSpPr>
            <p:cNvPr id="25651" name="Line 94">
              <a:extLst>
                <a:ext uri="{FF2B5EF4-FFF2-40B4-BE49-F238E27FC236}">
                  <a16:creationId xmlns:a16="http://schemas.microsoft.com/office/drawing/2014/main" id="{5F2D8E1E-8A93-4787-A4E4-5D6A97BFD642}"/>
                </a:ext>
              </a:extLst>
            </p:cNvPr>
            <p:cNvSpPr>
              <a:spLocks noChangeShapeType="1"/>
            </p:cNvSpPr>
            <p:nvPr/>
          </p:nvSpPr>
          <p:spPr bwMode="auto">
            <a:xfrm>
              <a:off x="3888" y="480"/>
              <a:ext cx="0" cy="192"/>
            </a:xfrm>
            <a:prstGeom prst="line">
              <a:avLst/>
            </a:prstGeom>
            <a:noFill/>
            <a:ln w="952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5626" name="Group 96">
            <a:extLst>
              <a:ext uri="{FF2B5EF4-FFF2-40B4-BE49-F238E27FC236}">
                <a16:creationId xmlns:a16="http://schemas.microsoft.com/office/drawing/2014/main" id="{A22F0070-F0B7-4F77-8FBF-BBE71BDB5047}"/>
              </a:ext>
            </a:extLst>
          </p:cNvPr>
          <p:cNvGrpSpPr>
            <a:grpSpLocks/>
          </p:cNvGrpSpPr>
          <p:nvPr/>
        </p:nvGrpSpPr>
        <p:grpSpPr bwMode="auto">
          <a:xfrm>
            <a:off x="4319589" y="3086100"/>
            <a:ext cx="2219325" cy="838200"/>
            <a:chOff x="2540" y="144"/>
            <a:chExt cx="1398" cy="528"/>
          </a:xfrm>
        </p:grpSpPr>
        <p:sp>
          <p:nvSpPr>
            <p:cNvPr id="1266785" name="AutoShape 97">
              <a:extLst>
                <a:ext uri="{FF2B5EF4-FFF2-40B4-BE49-F238E27FC236}">
                  <a16:creationId xmlns:a16="http://schemas.microsoft.com/office/drawing/2014/main" id="{C6544208-9860-4C7A-9CAA-667C23B03419}"/>
                </a:ext>
              </a:extLst>
            </p:cNvPr>
            <p:cNvSpPr>
              <a:spLocks noChangeArrowheads="1"/>
            </p:cNvSpPr>
            <p:nvPr/>
          </p:nvSpPr>
          <p:spPr bwMode="auto">
            <a:xfrm>
              <a:off x="2736" y="336"/>
              <a:ext cx="1056" cy="288"/>
            </a:xfrm>
            <a:prstGeom prst="flowChartDecision">
              <a:avLst/>
            </a:prstGeom>
            <a:solidFill>
              <a:schemeClr val="bg1"/>
            </a:solidFill>
            <a:ln w="9525">
              <a:solidFill>
                <a:srgbClr val="EF8D2B"/>
              </a:solidFill>
              <a:miter lim="800000"/>
              <a:headEnd/>
              <a:tailEnd/>
            </a:ln>
            <a:effectLst/>
          </p:spPr>
          <p:txBody>
            <a:bodyPr wrap="none" anchor="ctr"/>
            <a:lstStyle/>
            <a:p>
              <a:pPr algn="ctr">
                <a:defRPr/>
              </a:pPr>
              <a:r>
                <a:rPr lang="en-US" altLang="zh-CN" sz="1600" b="1">
                  <a:solidFill>
                    <a:srgbClr val="49AB39"/>
                  </a:solidFill>
                  <a:effectLst>
                    <a:outerShdw blurRad="38100" dist="38100" dir="2700000" algn="tl">
                      <a:srgbClr val="000000"/>
                    </a:outerShdw>
                  </a:effectLst>
                  <a:latin typeface="Times New Roman" charset="0"/>
                  <a:ea typeface="文鼎细圆" pitchFamily="49" charset="-122"/>
                </a:rPr>
                <a:t>A^B</a:t>
              </a:r>
            </a:p>
          </p:txBody>
        </p:sp>
        <p:sp>
          <p:nvSpPr>
            <p:cNvPr id="25637" name="Line 98">
              <a:extLst>
                <a:ext uri="{FF2B5EF4-FFF2-40B4-BE49-F238E27FC236}">
                  <a16:creationId xmlns:a16="http://schemas.microsoft.com/office/drawing/2014/main" id="{741AD61F-35AC-4A26-837F-8855A4928618}"/>
                </a:ext>
              </a:extLst>
            </p:cNvPr>
            <p:cNvSpPr>
              <a:spLocks noChangeShapeType="1"/>
            </p:cNvSpPr>
            <p:nvPr/>
          </p:nvSpPr>
          <p:spPr bwMode="auto">
            <a:xfrm>
              <a:off x="2592" y="480"/>
              <a:ext cx="144" cy="0"/>
            </a:xfrm>
            <a:prstGeom prst="line">
              <a:avLst/>
            </a:prstGeom>
            <a:noFill/>
            <a:ln w="952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8" name="Line 99">
              <a:extLst>
                <a:ext uri="{FF2B5EF4-FFF2-40B4-BE49-F238E27FC236}">
                  <a16:creationId xmlns:a16="http://schemas.microsoft.com/office/drawing/2014/main" id="{A8227302-A5FA-42C7-9615-21A27FF17F7C}"/>
                </a:ext>
              </a:extLst>
            </p:cNvPr>
            <p:cNvSpPr>
              <a:spLocks noChangeShapeType="1"/>
            </p:cNvSpPr>
            <p:nvPr/>
          </p:nvSpPr>
          <p:spPr bwMode="auto">
            <a:xfrm>
              <a:off x="2592" y="480"/>
              <a:ext cx="0" cy="192"/>
            </a:xfrm>
            <a:prstGeom prst="line">
              <a:avLst/>
            </a:prstGeom>
            <a:noFill/>
            <a:ln w="952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39" name="Line 100">
              <a:extLst>
                <a:ext uri="{FF2B5EF4-FFF2-40B4-BE49-F238E27FC236}">
                  <a16:creationId xmlns:a16="http://schemas.microsoft.com/office/drawing/2014/main" id="{7123A466-1B75-4DA0-B403-95CFAC08E8E7}"/>
                </a:ext>
              </a:extLst>
            </p:cNvPr>
            <p:cNvSpPr>
              <a:spLocks noChangeShapeType="1"/>
            </p:cNvSpPr>
            <p:nvPr/>
          </p:nvSpPr>
          <p:spPr bwMode="auto">
            <a:xfrm>
              <a:off x="3792" y="480"/>
              <a:ext cx="96" cy="0"/>
            </a:xfrm>
            <a:prstGeom prst="line">
              <a:avLst/>
            </a:prstGeom>
            <a:noFill/>
            <a:ln w="952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40" name="Line 101">
              <a:extLst>
                <a:ext uri="{FF2B5EF4-FFF2-40B4-BE49-F238E27FC236}">
                  <a16:creationId xmlns:a16="http://schemas.microsoft.com/office/drawing/2014/main" id="{3AF08D59-0367-40C8-BDA3-F2F056CEE761}"/>
                </a:ext>
              </a:extLst>
            </p:cNvPr>
            <p:cNvSpPr>
              <a:spLocks noChangeShapeType="1"/>
            </p:cNvSpPr>
            <p:nvPr/>
          </p:nvSpPr>
          <p:spPr bwMode="auto">
            <a:xfrm>
              <a:off x="3264" y="144"/>
              <a:ext cx="0" cy="192"/>
            </a:xfrm>
            <a:prstGeom prst="line">
              <a:avLst/>
            </a:prstGeom>
            <a:noFill/>
            <a:ln w="952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41" name="Text Box 102">
              <a:extLst>
                <a:ext uri="{FF2B5EF4-FFF2-40B4-BE49-F238E27FC236}">
                  <a16:creationId xmlns:a16="http://schemas.microsoft.com/office/drawing/2014/main" id="{BF050B2E-1F0B-45EB-BE82-2B0B2D412911}"/>
                </a:ext>
              </a:extLst>
            </p:cNvPr>
            <p:cNvSpPr txBox="1">
              <a:spLocks noChangeArrowheads="1"/>
            </p:cNvSpPr>
            <p:nvPr/>
          </p:nvSpPr>
          <p:spPr bwMode="auto">
            <a:xfrm>
              <a:off x="2540" y="279"/>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T</a:t>
              </a:r>
            </a:p>
          </p:txBody>
        </p:sp>
        <p:sp>
          <p:nvSpPr>
            <p:cNvPr id="25642" name="Text Box 103">
              <a:extLst>
                <a:ext uri="{FF2B5EF4-FFF2-40B4-BE49-F238E27FC236}">
                  <a16:creationId xmlns:a16="http://schemas.microsoft.com/office/drawing/2014/main" id="{1FD43300-0786-4FE6-9372-E1DC4C94F507}"/>
                </a:ext>
              </a:extLst>
            </p:cNvPr>
            <p:cNvSpPr txBox="1">
              <a:spLocks noChangeArrowheads="1"/>
            </p:cNvSpPr>
            <p:nvPr/>
          </p:nvSpPr>
          <p:spPr bwMode="auto">
            <a:xfrm>
              <a:off x="3744" y="288"/>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F</a:t>
              </a:r>
            </a:p>
          </p:txBody>
        </p:sp>
        <p:sp>
          <p:nvSpPr>
            <p:cNvPr id="25643" name="Line 104">
              <a:extLst>
                <a:ext uri="{FF2B5EF4-FFF2-40B4-BE49-F238E27FC236}">
                  <a16:creationId xmlns:a16="http://schemas.microsoft.com/office/drawing/2014/main" id="{DAFC213A-C6FD-4DB6-940B-4BB05F710BCB}"/>
                </a:ext>
              </a:extLst>
            </p:cNvPr>
            <p:cNvSpPr>
              <a:spLocks noChangeShapeType="1"/>
            </p:cNvSpPr>
            <p:nvPr/>
          </p:nvSpPr>
          <p:spPr bwMode="auto">
            <a:xfrm>
              <a:off x="3888" y="480"/>
              <a:ext cx="0" cy="192"/>
            </a:xfrm>
            <a:prstGeom prst="line">
              <a:avLst/>
            </a:prstGeom>
            <a:noFill/>
            <a:ln w="952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5627" name="Group 105">
            <a:extLst>
              <a:ext uri="{FF2B5EF4-FFF2-40B4-BE49-F238E27FC236}">
                <a16:creationId xmlns:a16="http://schemas.microsoft.com/office/drawing/2014/main" id="{F69CE58D-70DF-48A6-BEFC-EBE320A2B1B6}"/>
              </a:ext>
            </a:extLst>
          </p:cNvPr>
          <p:cNvGrpSpPr>
            <a:grpSpLocks/>
          </p:cNvGrpSpPr>
          <p:nvPr/>
        </p:nvGrpSpPr>
        <p:grpSpPr bwMode="auto">
          <a:xfrm>
            <a:off x="4395789" y="4457700"/>
            <a:ext cx="2219325" cy="838200"/>
            <a:chOff x="2540" y="144"/>
            <a:chExt cx="1398" cy="528"/>
          </a:xfrm>
        </p:grpSpPr>
        <p:sp>
          <p:nvSpPr>
            <p:cNvPr id="1266794" name="AutoShape 106">
              <a:extLst>
                <a:ext uri="{FF2B5EF4-FFF2-40B4-BE49-F238E27FC236}">
                  <a16:creationId xmlns:a16="http://schemas.microsoft.com/office/drawing/2014/main" id="{E13C3288-0680-4D15-9BF1-A8AA9C51A0D0}"/>
                </a:ext>
              </a:extLst>
            </p:cNvPr>
            <p:cNvSpPr>
              <a:spLocks noChangeArrowheads="1"/>
            </p:cNvSpPr>
            <p:nvPr/>
          </p:nvSpPr>
          <p:spPr bwMode="auto">
            <a:xfrm>
              <a:off x="2736" y="336"/>
              <a:ext cx="1056" cy="288"/>
            </a:xfrm>
            <a:prstGeom prst="flowChartDecision">
              <a:avLst/>
            </a:prstGeom>
            <a:solidFill>
              <a:schemeClr val="bg1"/>
            </a:solidFill>
            <a:ln w="9525">
              <a:solidFill>
                <a:srgbClr val="EF8D2B"/>
              </a:solidFill>
              <a:miter lim="800000"/>
              <a:headEnd/>
              <a:tailEnd/>
            </a:ln>
            <a:effectLst/>
          </p:spPr>
          <p:txBody>
            <a:bodyPr wrap="none" anchor="ctr"/>
            <a:lstStyle/>
            <a:p>
              <a:pPr algn="ctr">
                <a:defRPr/>
              </a:pPr>
              <a:r>
                <a:rPr lang="en-US" altLang="zh-CN" sz="1600" b="1">
                  <a:solidFill>
                    <a:srgbClr val="49AB39"/>
                  </a:solidFill>
                  <a:effectLst>
                    <a:outerShdw blurRad="38100" dist="38100" dir="2700000" algn="tl">
                      <a:srgbClr val="000000"/>
                    </a:outerShdw>
                  </a:effectLst>
                  <a:latin typeface="Times New Roman" charset="0"/>
                  <a:ea typeface="文鼎细圆" pitchFamily="49" charset="-122"/>
                </a:rPr>
                <a:t>A^B</a:t>
              </a:r>
            </a:p>
          </p:txBody>
        </p:sp>
        <p:sp>
          <p:nvSpPr>
            <p:cNvPr id="25629" name="Line 107">
              <a:extLst>
                <a:ext uri="{FF2B5EF4-FFF2-40B4-BE49-F238E27FC236}">
                  <a16:creationId xmlns:a16="http://schemas.microsoft.com/office/drawing/2014/main" id="{002F5AA0-5308-4C7A-9C19-B23C14A59945}"/>
                </a:ext>
              </a:extLst>
            </p:cNvPr>
            <p:cNvSpPr>
              <a:spLocks noChangeShapeType="1"/>
            </p:cNvSpPr>
            <p:nvPr/>
          </p:nvSpPr>
          <p:spPr bwMode="auto">
            <a:xfrm>
              <a:off x="2592" y="480"/>
              <a:ext cx="144" cy="0"/>
            </a:xfrm>
            <a:prstGeom prst="line">
              <a:avLst/>
            </a:prstGeom>
            <a:noFill/>
            <a:ln w="952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0" name="Line 108">
              <a:extLst>
                <a:ext uri="{FF2B5EF4-FFF2-40B4-BE49-F238E27FC236}">
                  <a16:creationId xmlns:a16="http://schemas.microsoft.com/office/drawing/2014/main" id="{7C6D5B14-1FA9-4EF9-983F-08BDC3D78C1C}"/>
                </a:ext>
              </a:extLst>
            </p:cNvPr>
            <p:cNvSpPr>
              <a:spLocks noChangeShapeType="1"/>
            </p:cNvSpPr>
            <p:nvPr/>
          </p:nvSpPr>
          <p:spPr bwMode="auto">
            <a:xfrm>
              <a:off x="2592" y="480"/>
              <a:ext cx="0" cy="192"/>
            </a:xfrm>
            <a:prstGeom prst="line">
              <a:avLst/>
            </a:prstGeom>
            <a:noFill/>
            <a:ln w="952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31" name="Line 109">
              <a:extLst>
                <a:ext uri="{FF2B5EF4-FFF2-40B4-BE49-F238E27FC236}">
                  <a16:creationId xmlns:a16="http://schemas.microsoft.com/office/drawing/2014/main" id="{DAD4B704-BFBD-42E1-BF1D-DEAFBFD23021}"/>
                </a:ext>
              </a:extLst>
            </p:cNvPr>
            <p:cNvSpPr>
              <a:spLocks noChangeShapeType="1"/>
            </p:cNvSpPr>
            <p:nvPr/>
          </p:nvSpPr>
          <p:spPr bwMode="auto">
            <a:xfrm>
              <a:off x="3792" y="480"/>
              <a:ext cx="96" cy="0"/>
            </a:xfrm>
            <a:prstGeom prst="line">
              <a:avLst/>
            </a:prstGeom>
            <a:noFill/>
            <a:ln w="952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32" name="Line 110">
              <a:extLst>
                <a:ext uri="{FF2B5EF4-FFF2-40B4-BE49-F238E27FC236}">
                  <a16:creationId xmlns:a16="http://schemas.microsoft.com/office/drawing/2014/main" id="{0067F9E0-A4E2-40C0-9842-234709FC9B7F}"/>
                </a:ext>
              </a:extLst>
            </p:cNvPr>
            <p:cNvSpPr>
              <a:spLocks noChangeShapeType="1"/>
            </p:cNvSpPr>
            <p:nvPr/>
          </p:nvSpPr>
          <p:spPr bwMode="auto">
            <a:xfrm>
              <a:off x="3264" y="144"/>
              <a:ext cx="0" cy="192"/>
            </a:xfrm>
            <a:prstGeom prst="line">
              <a:avLst/>
            </a:prstGeom>
            <a:noFill/>
            <a:ln w="952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33" name="Text Box 111">
              <a:extLst>
                <a:ext uri="{FF2B5EF4-FFF2-40B4-BE49-F238E27FC236}">
                  <a16:creationId xmlns:a16="http://schemas.microsoft.com/office/drawing/2014/main" id="{F616F4D2-1720-4A68-BEAC-B1131EF031D8}"/>
                </a:ext>
              </a:extLst>
            </p:cNvPr>
            <p:cNvSpPr txBox="1">
              <a:spLocks noChangeArrowheads="1"/>
            </p:cNvSpPr>
            <p:nvPr/>
          </p:nvSpPr>
          <p:spPr bwMode="auto">
            <a:xfrm>
              <a:off x="2540" y="279"/>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T</a:t>
              </a:r>
            </a:p>
          </p:txBody>
        </p:sp>
        <p:sp>
          <p:nvSpPr>
            <p:cNvPr id="25634" name="Text Box 112">
              <a:extLst>
                <a:ext uri="{FF2B5EF4-FFF2-40B4-BE49-F238E27FC236}">
                  <a16:creationId xmlns:a16="http://schemas.microsoft.com/office/drawing/2014/main" id="{A9505391-4502-49FB-A8B9-0E6B08DC8BE9}"/>
                </a:ext>
              </a:extLst>
            </p:cNvPr>
            <p:cNvSpPr txBox="1">
              <a:spLocks noChangeArrowheads="1"/>
            </p:cNvSpPr>
            <p:nvPr/>
          </p:nvSpPr>
          <p:spPr bwMode="auto">
            <a:xfrm>
              <a:off x="3744" y="288"/>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F</a:t>
              </a:r>
            </a:p>
          </p:txBody>
        </p:sp>
        <p:sp>
          <p:nvSpPr>
            <p:cNvPr id="25635" name="Line 113">
              <a:extLst>
                <a:ext uri="{FF2B5EF4-FFF2-40B4-BE49-F238E27FC236}">
                  <a16:creationId xmlns:a16="http://schemas.microsoft.com/office/drawing/2014/main" id="{90242305-168E-4418-A42A-431BBBFDC768}"/>
                </a:ext>
              </a:extLst>
            </p:cNvPr>
            <p:cNvSpPr>
              <a:spLocks noChangeShapeType="1"/>
            </p:cNvSpPr>
            <p:nvPr/>
          </p:nvSpPr>
          <p:spPr bwMode="auto">
            <a:xfrm>
              <a:off x="3888" y="480"/>
              <a:ext cx="0" cy="192"/>
            </a:xfrm>
            <a:prstGeom prst="line">
              <a:avLst/>
            </a:prstGeom>
            <a:noFill/>
            <a:ln w="952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8755" name="Text Box 19">
            <a:extLst>
              <a:ext uri="{FF2B5EF4-FFF2-40B4-BE49-F238E27FC236}">
                <a16:creationId xmlns:a16="http://schemas.microsoft.com/office/drawing/2014/main" id="{11A98257-65BD-4737-82AD-BE65FED135C6}"/>
              </a:ext>
            </a:extLst>
          </p:cNvPr>
          <p:cNvSpPr txBox="1">
            <a:spLocks noChangeArrowheads="1"/>
          </p:cNvSpPr>
          <p:nvPr/>
        </p:nvSpPr>
        <p:spPr bwMode="auto">
          <a:xfrm>
            <a:off x="2895601" y="2695575"/>
            <a:ext cx="354013" cy="457200"/>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b</a:t>
            </a:r>
          </a:p>
        </p:txBody>
      </p:sp>
      <p:sp>
        <p:nvSpPr>
          <p:cNvPr id="1268767" name="Text Box 31">
            <a:extLst>
              <a:ext uri="{FF2B5EF4-FFF2-40B4-BE49-F238E27FC236}">
                <a16:creationId xmlns:a16="http://schemas.microsoft.com/office/drawing/2014/main" id="{783880DB-C441-466F-B8BE-E64F8B3F9A6E}"/>
              </a:ext>
            </a:extLst>
          </p:cNvPr>
          <p:cNvSpPr txBox="1">
            <a:spLocks noChangeArrowheads="1"/>
          </p:cNvSpPr>
          <p:nvPr/>
        </p:nvSpPr>
        <p:spPr bwMode="auto">
          <a:xfrm>
            <a:off x="2895601" y="4219575"/>
            <a:ext cx="354013" cy="457200"/>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d</a:t>
            </a:r>
          </a:p>
        </p:txBody>
      </p:sp>
      <p:sp>
        <p:nvSpPr>
          <p:cNvPr id="1268768" name="Text Box 32">
            <a:extLst>
              <a:ext uri="{FF2B5EF4-FFF2-40B4-BE49-F238E27FC236}">
                <a16:creationId xmlns:a16="http://schemas.microsoft.com/office/drawing/2014/main" id="{1885D92F-C820-4B54-8807-5121541D7654}"/>
              </a:ext>
            </a:extLst>
          </p:cNvPr>
          <p:cNvSpPr txBox="1">
            <a:spLocks noChangeArrowheads="1"/>
          </p:cNvSpPr>
          <p:nvPr/>
        </p:nvSpPr>
        <p:spPr bwMode="auto">
          <a:xfrm>
            <a:off x="4343400" y="1857375"/>
            <a:ext cx="457200" cy="457200"/>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a</a:t>
            </a:r>
          </a:p>
        </p:txBody>
      </p:sp>
      <p:sp>
        <p:nvSpPr>
          <p:cNvPr id="1268772" name="Rectangle 36">
            <a:extLst>
              <a:ext uri="{FF2B5EF4-FFF2-40B4-BE49-F238E27FC236}">
                <a16:creationId xmlns:a16="http://schemas.microsoft.com/office/drawing/2014/main" id="{83BA048E-FAD2-4CCB-A479-4DF2ED7D9017}"/>
              </a:ext>
            </a:extLst>
          </p:cNvPr>
          <p:cNvSpPr>
            <a:spLocks noChangeArrowheads="1"/>
          </p:cNvSpPr>
          <p:nvPr/>
        </p:nvSpPr>
        <p:spPr bwMode="auto">
          <a:xfrm>
            <a:off x="3657600" y="5743575"/>
            <a:ext cx="20574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800">
                <a:solidFill>
                  <a:srgbClr val="2E41CE"/>
                </a:solidFill>
                <a:latin typeface="黑体" panose="02010609060101010101" pitchFamily="49" charset="-122"/>
                <a:ea typeface="黑体" panose="02010609060101010101" pitchFamily="49" charset="-122"/>
              </a:rPr>
              <a:t>输出的</a:t>
            </a:r>
            <a:r>
              <a:rPr lang="zh-CN" altLang="en-US" sz="1800">
                <a:solidFill>
                  <a:srgbClr val="EF8D2B"/>
                </a:solidFill>
                <a:ea typeface="黑体" panose="02010609060101010101" pitchFamily="49" charset="-122"/>
              </a:rPr>
              <a:t>: </a:t>
            </a:r>
            <a:r>
              <a:rPr lang="en-US" altLang="zh-CN" sz="1800">
                <a:solidFill>
                  <a:srgbClr val="EF8D2B"/>
                </a:solidFill>
                <a:ea typeface="黑体" panose="02010609060101010101" pitchFamily="49" charset="-122"/>
              </a:rPr>
              <a:t>A,B,X</a:t>
            </a:r>
            <a:endParaRPr lang="en-US" altLang="zh-CN">
              <a:solidFill>
                <a:srgbClr val="16369C"/>
              </a:solidFill>
              <a:latin typeface="黑体" panose="02010609060101010101" pitchFamily="49" charset="-122"/>
              <a:ea typeface="黑体" panose="02010609060101010101" pitchFamily="49" charset="-122"/>
            </a:endParaRPr>
          </a:p>
        </p:txBody>
      </p:sp>
      <p:sp>
        <p:nvSpPr>
          <p:cNvPr id="27654" name="Rectangle 39">
            <a:extLst>
              <a:ext uri="{FF2B5EF4-FFF2-40B4-BE49-F238E27FC236}">
                <a16:creationId xmlns:a16="http://schemas.microsoft.com/office/drawing/2014/main" id="{6708F0E6-9F22-405A-8BA9-6DA23030B1D7}"/>
              </a:ext>
            </a:extLst>
          </p:cNvPr>
          <p:cNvSpPr>
            <a:spLocks noChangeArrowheads="1"/>
          </p:cNvSpPr>
          <p:nvPr/>
        </p:nvSpPr>
        <p:spPr bwMode="auto">
          <a:xfrm>
            <a:off x="2819400" y="638175"/>
            <a:ext cx="1524000" cy="609600"/>
          </a:xfrm>
          <a:prstGeom prst="rect">
            <a:avLst/>
          </a:prstGeom>
          <a:solidFill>
            <a:schemeClr val="bg1"/>
          </a:solidFill>
          <a:ln w="9525">
            <a:solidFill>
              <a:srgbClr val="70E5E8"/>
            </a:solidFill>
            <a:miter lim="800000"/>
            <a:headEnd/>
            <a:tailEnd/>
          </a:ln>
          <a:effectLst>
            <a:outerShdw dist="107763" dir="2700000" algn="ctr" rotWithShape="0">
              <a:schemeClr val="bg2"/>
            </a:outerShdw>
          </a:effec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000">
                <a:solidFill>
                  <a:srgbClr val="1AA1A4"/>
                </a:solidFill>
                <a:latin typeface="Times New Roman" panose="02020603050405020304" pitchFamily="18" charset="0"/>
                <a:ea typeface="黑体" panose="02010609060101010101" pitchFamily="49" charset="-122"/>
              </a:rPr>
              <a:t>语句覆盖</a:t>
            </a:r>
            <a:endParaRPr lang="en-US" altLang="zh-CN" sz="2000">
              <a:solidFill>
                <a:srgbClr val="1AA1A4"/>
              </a:solidFill>
              <a:latin typeface="Times New Roman" panose="02020603050405020304" pitchFamily="18" charset="0"/>
              <a:ea typeface="黑体" panose="02010609060101010101" pitchFamily="49" charset="-122"/>
            </a:endParaRPr>
          </a:p>
        </p:txBody>
      </p:sp>
      <p:sp>
        <p:nvSpPr>
          <p:cNvPr id="1268769" name="Text Box 33">
            <a:extLst>
              <a:ext uri="{FF2B5EF4-FFF2-40B4-BE49-F238E27FC236}">
                <a16:creationId xmlns:a16="http://schemas.microsoft.com/office/drawing/2014/main" id="{2D789E5F-1EC5-4500-9E79-736BBC3CFE33}"/>
              </a:ext>
            </a:extLst>
          </p:cNvPr>
          <p:cNvSpPr txBox="1">
            <a:spLocks noChangeArrowheads="1"/>
          </p:cNvSpPr>
          <p:nvPr/>
        </p:nvSpPr>
        <p:spPr bwMode="auto">
          <a:xfrm>
            <a:off x="5943601" y="2695575"/>
            <a:ext cx="354013" cy="457200"/>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c</a:t>
            </a:r>
          </a:p>
        </p:txBody>
      </p:sp>
      <p:sp>
        <p:nvSpPr>
          <p:cNvPr id="1268770" name="Text Box 34">
            <a:extLst>
              <a:ext uri="{FF2B5EF4-FFF2-40B4-BE49-F238E27FC236}">
                <a16:creationId xmlns:a16="http://schemas.microsoft.com/office/drawing/2014/main" id="{D05D822E-7C34-40CC-AE04-164457C4367F}"/>
              </a:ext>
            </a:extLst>
          </p:cNvPr>
          <p:cNvSpPr txBox="1">
            <a:spLocks noChangeArrowheads="1"/>
          </p:cNvSpPr>
          <p:nvPr/>
        </p:nvSpPr>
        <p:spPr bwMode="auto">
          <a:xfrm>
            <a:off x="6019800" y="4219575"/>
            <a:ext cx="319088" cy="457200"/>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e</a:t>
            </a:r>
          </a:p>
        </p:txBody>
      </p:sp>
      <p:grpSp>
        <p:nvGrpSpPr>
          <p:cNvPr id="2" name="Group 59">
            <a:extLst>
              <a:ext uri="{FF2B5EF4-FFF2-40B4-BE49-F238E27FC236}">
                <a16:creationId xmlns:a16="http://schemas.microsoft.com/office/drawing/2014/main" id="{8C9EA2B9-4628-465F-B082-9A588F458488}"/>
              </a:ext>
            </a:extLst>
          </p:cNvPr>
          <p:cNvGrpSpPr>
            <a:grpSpLocks/>
          </p:cNvGrpSpPr>
          <p:nvPr/>
        </p:nvGrpSpPr>
        <p:grpSpPr bwMode="auto">
          <a:xfrm>
            <a:off x="3276600" y="2314575"/>
            <a:ext cx="3352800" cy="3352800"/>
            <a:chOff x="1200" y="1488"/>
            <a:chExt cx="2112" cy="2112"/>
          </a:xfrm>
        </p:grpSpPr>
        <p:sp>
          <p:nvSpPr>
            <p:cNvPr id="27674" name="AutoShape 7">
              <a:extLst>
                <a:ext uri="{FF2B5EF4-FFF2-40B4-BE49-F238E27FC236}">
                  <a16:creationId xmlns:a16="http://schemas.microsoft.com/office/drawing/2014/main" id="{5A3D1357-F7CC-4435-8BA8-A23965B4FD94}"/>
                </a:ext>
              </a:extLst>
            </p:cNvPr>
            <p:cNvSpPr>
              <a:spLocks noChangeArrowheads="1"/>
            </p:cNvSpPr>
            <p:nvPr/>
          </p:nvSpPr>
          <p:spPr bwMode="auto">
            <a:xfrm>
              <a:off x="1296" y="1680"/>
              <a:ext cx="1440" cy="288"/>
            </a:xfrm>
            <a:prstGeom prst="flowChartDecision">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(A&gt;1) ^ (B=0)</a:t>
              </a:r>
            </a:p>
          </p:txBody>
        </p:sp>
        <p:sp>
          <p:nvSpPr>
            <p:cNvPr id="27675" name="Line 8">
              <a:extLst>
                <a:ext uri="{FF2B5EF4-FFF2-40B4-BE49-F238E27FC236}">
                  <a16:creationId xmlns:a16="http://schemas.microsoft.com/office/drawing/2014/main" id="{3FD957C5-45E6-46E7-959F-C54F5CF78CE7}"/>
                </a:ext>
              </a:extLst>
            </p:cNvPr>
            <p:cNvSpPr>
              <a:spLocks noChangeShapeType="1"/>
            </p:cNvSpPr>
            <p:nvPr/>
          </p:nvSpPr>
          <p:spPr bwMode="auto">
            <a:xfrm>
              <a:off x="1200" y="1824"/>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6" name="Line 9">
              <a:extLst>
                <a:ext uri="{FF2B5EF4-FFF2-40B4-BE49-F238E27FC236}">
                  <a16:creationId xmlns:a16="http://schemas.microsoft.com/office/drawing/2014/main" id="{472A8234-A725-45F2-8286-A9CCC79B1AAE}"/>
                </a:ext>
              </a:extLst>
            </p:cNvPr>
            <p:cNvSpPr>
              <a:spLocks noChangeShapeType="1"/>
            </p:cNvSpPr>
            <p:nvPr/>
          </p:nvSpPr>
          <p:spPr bwMode="auto">
            <a:xfrm>
              <a:off x="2880" y="182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77" name="Rectangle 10">
              <a:extLst>
                <a:ext uri="{FF2B5EF4-FFF2-40B4-BE49-F238E27FC236}">
                  <a16:creationId xmlns:a16="http://schemas.microsoft.com/office/drawing/2014/main" id="{1B61D9B4-2060-41FC-9A1B-38533F6EBE4B}"/>
                </a:ext>
              </a:extLst>
            </p:cNvPr>
            <p:cNvSpPr>
              <a:spLocks noChangeArrowheads="1"/>
            </p:cNvSpPr>
            <p:nvPr/>
          </p:nvSpPr>
          <p:spPr bwMode="auto">
            <a:xfrm>
              <a:off x="2496" y="2016"/>
              <a:ext cx="768" cy="288"/>
            </a:xfrm>
            <a:prstGeom prst="rect">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X=X/A</a:t>
              </a:r>
            </a:p>
          </p:txBody>
        </p:sp>
        <p:sp>
          <p:nvSpPr>
            <p:cNvPr id="27678" name="Line 11">
              <a:extLst>
                <a:ext uri="{FF2B5EF4-FFF2-40B4-BE49-F238E27FC236}">
                  <a16:creationId xmlns:a16="http://schemas.microsoft.com/office/drawing/2014/main" id="{C3BF8BC0-3EB2-4715-B096-5B9F5965F8A0}"/>
                </a:ext>
              </a:extLst>
            </p:cNvPr>
            <p:cNvSpPr>
              <a:spLocks noChangeShapeType="1"/>
            </p:cNvSpPr>
            <p:nvPr/>
          </p:nvSpPr>
          <p:spPr bwMode="auto">
            <a:xfrm>
              <a:off x="1200" y="1824"/>
              <a:ext cx="0" cy="672"/>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79" name="Line 12">
              <a:extLst>
                <a:ext uri="{FF2B5EF4-FFF2-40B4-BE49-F238E27FC236}">
                  <a16:creationId xmlns:a16="http://schemas.microsoft.com/office/drawing/2014/main" id="{37C3AA5B-3426-4E45-9213-8DBE307E6B19}"/>
                </a:ext>
              </a:extLst>
            </p:cNvPr>
            <p:cNvSpPr>
              <a:spLocks noChangeShapeType="1"/>
            </p:cNvSpPr>
            <p:nvPr/>
          </p:nvSpPr>
          <p:spPr bwMode="auto">
            <a:xfrm>
              <a:off x="1200" y="2496"/>
              <a:ext cx="1680"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0" name="Line 13">
              <a:extLst>
                <a:ext uri="{FF2B5EF4-FFF2-40B4-BE49-F238E27FC236}">
                  <a16:creationId xmlns:a16="http://schemas.microsoft.com/office/drawing/2014/main" id="{D1B75ECD-8C5D-48C7-8474-FE7944911FD5}"/>
                </a:ext>
              </a:extLst>
            </p:cNvPr>
            <p:cNvSpPr>
              <a:spLocks noChangeShapeType="1"/>
            </p:cNvSpPr>
            <p:nvPr/>
          </p:nvSpPr>
          <p:spPr bwMode="auto">
            <a:xfrm>
              <a:off x="2016" y="2496"/>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81" name="Line 14">
              <a:extLst>
                <a:ext uri="{FF2B5EF4-FFF2-40B4-BE49-F238E27FC236}">
                  <a16:creationId xmlns:a16="http://schemas.microsoft.com/office/drawing/2014/main" id="{81A9A005-3FF5-4DBA-B058-B975FC87E23E}"/>
                </a:ext>
              </a:extLst>
            </p:cNvPr>
            <p:cNvSpPr>
              <a:spLocks noChangeShapeType="1"/>
            </p:cNvSpPr>
            <p:nvPr/>
          </p:nvSpPr>
          <p:spPr bwMode="auto">
            <a:xfrm>
              <a:off x="2016" y="1488"/>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82" name="Text Box 15">
              <a:extLst>
                <a:ext uri="{FF2B5EF4-FFF2-40B4-BE49-F238E27FC236}">
                  <a16:creationId xmlns:a16="http://schemas.microsoft.com/office/drawing/2014/main" id="{DFECD4E1-F0B0-4C60-AA63-8D7955180F8A}"/>
                </a:ext>
              </a:extLst>
            </p:cNvPr>
            <p:cNvSpPr txBox="1">
              <a:spLocks noChangeArrowheads="1"/>
            </p:cNvSpPr>
            <p:nvPr/>
          </p:nvSpPr>
          <p:spPr bwMode="auto">
            <a:xfrm>
              <a:off x="2736" y="1632"/>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T</a:t>
              </a:r>
            </a:p>
          </p:txBody>
        </p:sp>
        <p:sp>
          <p:nvSpPr>
            <p:cNvPr id="27683" name="Text Box 16">
              <a:extLst>
                <a:ext uri="{FF2B5EF4-FFF2-40B4-BE49-F238E27FC236}">
                  <a16:creationId xmlns:a16="http://schemas.microsoft.com/office/drawing/2014/main" id="{389B862C-4C3E-44B8-940B-F8161F786922}"/>
                </a:ext>
              </a:extLst>
            </p:cNvPr>
            <p:cNvSpPr txBox="1">
              <a:spLocks noChangeArrowheads="1"/>
            </p:cNvSpPr>
            <p:nvPr/>
          </p:nvSpPr>
          <p:spPr bwMode="auto">
            <a:xfrm>
              <a:off x="1200" y="1632"/>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F</a:t>
              </a:r>
            </a:p>
          </p:txBody>
        </p:sp>
        <p:sp>
          <p:nvSpPr>
            <p:cNvPr id="27684" name="Line 17">
              <a:extLst>
                <a:ext uri="{FF2B5EF4-FFF2-40B4-BE49-F238E27FC236}">
                  <a16:creationId xmlns:a16="http://schemas.microsoft.com/office/drawing/2014/main" id="{39EFEA68-E016-496A-8BA8-62C2C1DA42D7}"/>
                </a:ext>
              </a:extLst>
            </p:cNvPr>
            <p:cNvSpPr>
              <a:spLocks noChangeShapeType="1"/>
            </p:cNvSpPr>
            <p:nvPr/>
          </p:nvSpPr>
          <p:spPr bwMode="auto">
            <a:xfrm>
              <a:off x="2736" y="1824"/>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5" name="Line 18">
              <a:extLst>
                <a:ext uri="{FF2B5EF4-FFF2-40B4-BE49-F238E27FC236}">
                  <a16:creationId xmlns:a16="http://schemas.microsoft.com/office/drawing/2014/main" id="{D0F894CF-5133-44C2-87BE-E376B0952797}"/>
                </a:ext>
              </a:extLst>
            </p:cNvPr>
            <p:cNvSpPr>
              <a:spLocks noChangeShapeType="1"/>
            </p:cNvSpPr>
            <p:nvPr/>
          </p:nvSpPr>
          <p:spPr bwMode="auto">
            <a:xfrm>
              <a:off x="2880" y="230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86" name="AutoShape 20">
              <a:extLst>
                <a:ext uri="{FF2B5EF4-FFF2-40B4-BE49-F238E27FC236}">
                  <a16:creationId xmlns:a16="http://schemas.microsoft.com/office/drawing/2014/main" id="{58212CA8-5983-428D-88C1-389C12D11156}"/>
                </a:ext>
              </a:extLst>
            </p:cNvPr>
            <p:cNvSpPr>
              <a:spLocks noChangeArrowheads="1"/>
            </p:cNvSpPr>
            <p:nvPr/>
          </p:nvSpPr>
          <p:spPr bwMode="auto">
            <a:xfrm>
              <a:off x="1344" y="2640"/>
              <a:ext cx="1344" cy="288"/>
            </a:xfrm>
            <a:prstGeom prst="flowChartDecision">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(A=2) V (X&gt;1)</a:t>
              </a:r>
            </a:p>
          </p:txBody>
        </p:sp>
        <p:sp>
          <p:nvSpPr>
            <p:cNvPr id="27687" name="Rectangle 23">
              <a:extLst>
                <a:ext uri="{FF2B5EF4-FFF2-40B4-BE49-F238E27FC236}">
                  <a16:creationId xmlns:a16="http://schemas.microsoft.com/office/drawing/2014/main" id="{DC6B4ABF-02F3-44F1-B0F7-4E562957080C}"/>
                </a:ext>
              </a:extLst>
            </p:cNvPr>
            <p:cNvSpPr>
              <a:spLocks noChangeArrowheads="1"/>
            </p:cNvSpPr>
            <p:nvPr/>
          </p:nvSpPr>
          <p:spPr bwMode="auto">
            <a:xfrm>
              <a:off x="2544" y="2976"/>
              <a:ext cx="768" cy="288"/>
            </a:xfrm>
            <a:prstGeom prst="rect">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X=X+1</a:t>
              </a:r>
            </a:p>
          </p:txBody>
        </p:sp>
        <p:sp>
          <p:nvSpPr>
            <p:cNvPr id="27688" name="Text Box 27">
              <a:extLst>
                <a:ext uri="{FF2B5EF4-FFF2-40B4-BE49-F238E27FC236}">
                  <a16:creationId xmlns:a16="http://schemas.microsoft.com/office/drawing/2014/main" id="{ABEF503E-58BA-4CBB-A640-3BA00FD6F76D}"/>
                </a:ext>
              </a:extLst>
            </p:cNvPr>
            <p:cNvSpPr txBox="1">
              <a:spLocks noChangeArrowheads="1"/>
            </p:cNvSpPr>
            <p:nvPr/>
          </p:nvSpPr>
          <p:spPr bwMode="auto">
            <a:xfrm>
              <a:off x="2640" y="2592"/>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T</a:t>
              </a:r>
            </a:p>
          </p:txBody>
        </p:sp>
        <p:sp>
          <p:nvSpPr>
            <p:cNvPr id="27689" name="Line 40">
              <a:extLst>
                <a:ext uri="{FF2B5EF4-FFF2-40B4-BE49-F238E27FC236}">
                  <a16:creationId xmlns:a16="http://schemas.microsoft.com/office/drawing/2014/main" id="{2CC6EC29-1A5E-45AC-87B7-5A32EF31BA15}"/>
                </a:ext>
              </a:extLst>
            </p:cNvPr>
            <p:cNvSpPr>
              <a:spLocks noChangeShapeType="1"/>
            </p:cNvSpPr>
            <p:nvPr/>
          </p:nvSpPr>
          <p:spPr bwMode="auto">
            <a:xfrm>
              <a:off x="1200" y="2784"/>
              <a:ext cx="0" cy="624"/>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0" name="Line 41">
              <a:extLst>
                <a:ext uri="{FF2B5EF4-FFF2-40B4-BE49-F238E27FC236}">
                  <a16:creationId xmlns:a16="http://schemas.microsoft.com/office/drawing/2014/main" id="{7637C4F0-9D57-4D14-9860-FC967222973B}"/>
                </a:ext>
              </a:extLst>
            </p:cNvPr>
            <p:cNvSpPr>
              <a:spLocks noChangeShapeType="1"/>
            </p:cNvSpPr>
            <p:nvPr/>
          </p:nvSpPr>
          <p:spPr bwMode="auto">
            <a:xfrm>
              <a:off x="1200" y="3408"/>
              <a:ext cx="1680"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1" name="Text Box 42">
              <a:extLst>
                <a:ext uri="{FF2B5EF4-FFF2-40B4-BE49-F238E27FC236}">
                  <a16:creationId xmlns:a16="http://schemas.microsoft.com/office/drawing/2014/main" id="{00D6D121-21C1-41C4-BBF0-CA7AD581C893}"/>
                </a:ext>
              </a:extLst>
            </p:cNvPr>
            <p:cNvSpPr txBox="1">
              <a:spLocks noChangeArrowheads="1"/>
            </p:cNvSpPr>
            <p:nvPr/>
          </p:nvSpPr>
          <p:spPr bwMode="auto">
            <a:xfrm>
              <a:off x="1200" y="2544"/>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F</a:t>
              </a:r>
            </a:p>
          </p:txBody>
        </p:sp>
        <p:sp>
          <p:nvSpPr>
            <p:cNvPr id="27692" name="Line 43">
              <a:extLst>
                <a:ext uri="{FF2B5EF4-FFF2-40B4-BE49-F238E27FC236}">
                  <a16:creationId xmlns:a16="http://schemas.microsoft.com/office/drawing/2014/main" id="{668B0596-5F63-4E21-9123-D11F67A48FFD}"/>
                </a:ext>
              </a:extLst>
            </p:cNvPr>
            <p:cNvSpPr>
              <a:spLocks noChangeShapeType="1"/>
            </p:cNvSpPr>
            <p:nvPr/>
          </p:nvSpPr>
          <p:spPr bwMode="auto">
            <a:xfrm>
              <a:off x="2688" y="2784"/>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3" name="Line 44">
              <a:extLst>
                <a:ext uri="{FF2B5EF4-FFF2-40B4-BE49-F238E27FC236}">
                  <a16:creationId xmlns:a16="http://schemas.microsoft.com/office/drawing/2014/main" id="{5A03218F-712A-4F49-8449-FDF9EC88E293}"/>
                </a:ext>
              </a:extLst>
            </p:cNvPr>
            <p:cNvSpPr>
              <a:spLocks noChangeShapeType="1"/>
            </p:cNvSpPr>
            <p:nvPr/>
          </p:nvSpPr>
          <p:spPr bwMode="auto">
            <a:xfrm>
              <a:off x="2880" y="278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94" name="Line 45">
              <a:extLst>
                <a:ext uri="{FF2B5EF4-FFF2-40B4-BE49-F238E27FC236}">
                  <a16:creationId xmlns:a16="http://schemas.microsoft.com/office/drawing/2014/main" id="{BA9FFDC4-7A7D-4EE8-B65A-B838C5943E05}"/>
                </a:ext>
              </a:extLst>
            </p:cNvPr>
            <p:cNvSpPr>
              <a:spLocks noChangeShapeType="1"/>
            </p:cNvSpPr>
            <p:nvPr/>
          </p:nvSpPr>
          <p:spPr bwMode="auto">
            <a:xfrm>
              <a:off x="2880" y="3264"/>
              <a:ext cx="0" cy="144"/>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5" name="Line 46">
              <a:extLst>
                <a:ext uri="{FF2B5EF4-FFF2-40B4-BE49-F238E27FC236}">
                  <a16:creationId xmlns:a16="http://schemas.microsoft.com/office/drawing/2014/main" id="{5E586965-AB55-4058-882D-FDD46DCB1622}"/>
                </a:ext>
              </a:extLst>
            </p:cNvPr>
            <p:cNvSpPr>
              <a:spLocks noChangeShapeType="1"/>
            </p:cNvSpPr>
            <p:nvPr/>
          </p:nvSpPr>
          <p:spPr bwMode="auto">
            <a:xfrm>
              <a:off x="2064" y="3408"/>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96" name="Line 47">
              <a:extLst>
                <a:ext uri="{FF2B5EF4-FFF2-40B4-BE49-F238E27FC236}">
                  <a16:creationId xmlns:a16="http://schemas.microsoft.com/office/drawing/2014/main" id="{486A4903-5548-4C71-BEF6-BEC6ED8B1159}"/>
                </a:ext>
              </a:extLst>
            </p:cNvPr>
            <p:cNvSpPr>
              <a:spLocks noChangeShapeType="1"/>
            </p:cNvSpPr>
            <p:nvPr/>
          </p:nvSpPr>
          <p:spPr bwMode="auto">
            <a:xfrm>
              <a:off x="1200" y="2784"/>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68785" name="Rectangle 49">
            <a:extLst>
              <a:ext uri="{FF2B5EF4-FFF2-40B4-BE49-F238E27FC236}">
                <a16:creationId xmlns:a16="http://schemas.microsoft.com/office/drawing/2014/main" id="{C99FA9AD-341D-4CA6-9FCC-771A37B0C87C}"/>
              </a:ext>
            </a:extLst>
          </p:cNvPr>
          <p:cNvSpPr>
            <a:spLocks noChangeArrowheads="1"/>
          </p:cNvSpPr>
          <p:nvPr/>
        </p:nvSpPr>
        <p:spPr bwMode="auto">
          <a:xfrm>
            <a:off x="4800600" y="2009775"/>
            <a:ext cx="20574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800">
                <a:solidFill>
                  <a:srgbClr val="2E41CE"/>
                </a:solidFill>
                <a:latin typeface="黑体" panose="02010609060101010101" pitchFamily="49" charset="-122"/>
                <a:ea typeface="黑体" panose="02010609060101010101" pitchFamily="49" charset="-122"/>
              </a:rPr>
              <a:t>输入的</a:t>
            </a:r>
            <a:r>
              <a:rPr lang="zh-CN" altLang="en-US" sz="1800">
                <a:solidFill>
                  <a:srgbClr val="EF8D2B"/>
                </a:solidFill>
                <a:ea typeface="黑体" panose="02010609060101010101" pitchFamily="49" charset="-122"/>
              </a:rPr>
              <a:t>: </a:t>
            </a:r>
            <a:r>
              <a:rPr lang="en-US" altLang="zh-CN" sz="1800">
                <a:solidFill>
                  <a:srgbClr val="EF8D2B"/>
                </a:solidFill>
                <a:ea typeface="黑体" panose="02010609060101010101" pitchFamily="49" charset="-122"/>
              </a:rPr>
              <a:t>A,B,X</a:t>
            </a:r>
            <a:endParaRPr lang="en-US" altLang="zh-CN">
              <a:solidFill>
                <a:srgbClr val="16369C"/>
              </a:solidFill>
              <a:latin typeface="黑体" panose="02010609060101010101" pitchFamily="49" charset="-122"/>
              <a:ea typeface="黑体" panose="02010609060101010101" pitchFamily="49" charset="-122"/>
            </a:endParaRPr>
          </a:p>
        </p:txBody>
      </p:sp>
      <p:sp>
        <p:nvSpPr>
          <p:cNvPr id="1268787" name="Rectangle 51">
            <a:extLst>
              <a:ext uri="{FF2B5EF4-FFF2-40B4-BE49-F238E27FC236}">
                <a16:creationId xmlns:a16="http://schemas.microsoft.com/office/drawing/2014/main" id="{4A30A06E-959D-4634-A182-B4B70491B75C}"/>
              </a:ext>
            </a:extLst>
          </p:cNvPr>
          <p:cNvSpPr>
            <a:spLocks noChangeArrowheads="1"/>
          </p:cNvSpPr>
          <p:nvPr/>
        </p:nvSpPr>
        <p:spPr bwMode="auto">
          <a:xfrm>
            <a:off x="7391400" y="3686175"/>
            <a:ext cx="1524000" cy="457200"/>
          </a:xfrm>
          <a:prstGeom prst="rect">
            <a:avLst/>
          </a:prstGeom>
          <a:solidFill>
            <a:schemeClr val="bg1"/>
          </a:solidFill>
          <a:ln w="9525">
            <a:solidFill>
              <a:srgbClr val="70E5E8"/>
            </a:solidFill>
            <a:miter lim="800000"/>
            <a:headEnd/>
            <a:tailEnd/>
          </a:ln>
          <a:effectLst>
            <a:outerShdw dist="107763" dir="2700000" algn="ctr" rotWithShape="0">
              <a:schemeClr val="bg2"/>
            </a:outerShdw>
          </a:effec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000">
                <a:solidFill>
                  <a:srgbClr val="1AA1A4"/>
                </a:solidFill>
                <a:latin typeface="Times New Roman" panose="02020603050405020304" pitchFamily="18" charset="0"/>
                <a:ea typeface="黑体" panose="02010609060101010101" pitchFamily="49" charset="-122"/>
              </a:rPr>
              <a:t>2，0，4</a:t>
            </a:r>
            <a:endParaRPr lang="en-US" altLang="zh-CN" sz="2000">
              <a:solidFill>
                <a:srgbClr val="1AA1A4"/>
              </a:solidFill>
              <a:latin typeface="Times New Roman" panose="02020603050405020304" pitchFamily="18" charset="0"/>
              <a:ea typeface="黑体" panose="02010609060101010101" pitchFamily="49" charset="-122"/>
            </a:endParaRPr>
          </a:p>
        </p:txBody>
      </p:sp>
      <p:sp>
        <p:nvSpPr>
          <p:cNvPr id="1268788" name="Rectangle 52">
            <a:extLst>
              <a:ext uri="{FF2B5EF4-FFF2-40B4-BE49-F238E27FC236}">
                <a16:creationId xmlns:a16="http://schemas.microsoft.com/office/drawing/2014/main" id="{0FD7FF52-93CE-4973-AF27-18FE37E15FA7}"/>
              </a:ext>
            </a:extLst>
          </p:cNvPr>
          <p:cNvSpPr>
            <a:spLocks noChangeArrowheads="1"/>
          </p:cNvSpPr>
          <p:nvPr/>
        </p:nvSpPr>
        <p:spPr bwMode="auto">
          <a:xfrm>
            <a:off x="7391400" y="4219575"/>
            <a:ext cx="1524000" cy="457200"/>
          </a:xfrm>
          <a:prstGeom prst="rect">
            <a:avLst/>
          </a:prstGeom>
          <a:solidFill>
            <a:schemeClr val="bg1"/>
          </a:solidFill>
          <a:ln w="9525">
            <a:solidFill>
              <a:srgbClr val="70E5E8"/>
            </a:solidFill>
            <a:miter lim="800000"/>
            <a:headEnd/>
            <a:tailEnd/>
          </a:ln>
          <a:effectLst>
            <a:outerShdw dist="107763" dir="2700000" algn="ctr" rotWithShape="0">
              <a:schemeClr val="bg2"/>
            </a:outerShdw>
          </a:effec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000">
                <a:solidFill>
                  <a:srgbClr val="1AA1A4"/>
                </a:solidFill>
                <a:latin typeface="Times New Roman" panose="02020603050405020304" pitchFamily="18" charset="0"/>
                <a:ea typeface="黑体" panose="02010609060101010101" pitchFamily="49" charset="-122"/>
              </a:rPr>
              <a:t>2，0，3</a:t>
            </a:r>
            <a:endParaRPr lang="en-US" altLang="zh-CN" sz="2000">
              <a:solidFill>
                <a:srgbClr val="1AA1A4"/>
              </a:solidFill>
              <a:latin typeface="Times New Roman" panose="02020603050405020304" pitchFamily="18" charset="0"/>
              <a:ea typeface="黑体" panose="02010609060101010101" pitchFamily="49" charset="-122"/>
            </a:endParaRPr>
          </a:p>
        </p:txBody>
      </p:sp>
      <p:sp>
        <p:nvSpPr>
          <p:cNvPr id="1268786" name="AutoShape 50">
            <a:extLst>
              <a:ext uri="{FF2B5EF4-FFF2-40B4-BE49-F238E27FC236}">
                <a16:creationId xmlns:a16="http://schemas.microsoft.com/office/drawing/2014/main" id="{CE4F5BC7-C71B-4768-9481-CCC7CE595BFF}"/>
              </a:ext>
            </a:extLst>
          </p:cNvPr>
          <p:cNvSpPr>
            <a:spLocks noChangeArrowheads="1"/>
          </p:cNvSpPr>
          <p:nvPr/>
        </p:nvSpPr>
        <p:spPr bwMode="auto">
          <a:xfrm>
            <a:off x="7391400" y="2924175"/>
            <a:ext cx="1905000" cy="685800"/>
          </a:xfrm>
          <a:prstGeom prst="wedgeRectCallout">
            <a:avLst>
              <a:gd name="adj1" fmla="val -22333"/>
              <a:gd name="adj2" fmla="val 70833"/>
            </a:avLst>
          </a:prstGeom>
          <a:solidFill>
            <a:schemeClr val="bg1"/>
          </a:solidFill>
          <a:ln w="9525">
            <a:solidFill>
              <a:srgbClr val="1AA1A4"/>
            </a:solidFill>
            <a:miter lim="800000"/>
            <a:headEnd/>
            <a:tailEnd/>
          </a:ln>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800">
                <a:solidFill>
                  <a:srgbClr val="1AA1A4"/>
                </a:solidFill>
                <a:latin typeface="Times New Roman" panose="02020603050405020304" pitchFamily="18" charset="0"/>
                <a:ea typeface="黑体" panose="02010609060101010101" pitchFamily="49" charset="-122"/>
              </a:rPr>
              <a:t>满足语句覆盖的</a:t>
            </a:r>
          </a:p>
          <a:p>
            <a:pPr algn="ctr">
              <a:spcBef>
                <a:spcPct val="0"/>
              </a:spcBef>
              <a:buFontTx/>
              <a:buNone/>
            </a:pPr>
            <a:r>
              <a:rPr lang="zh-CN" altLang="en-US" sz="1800">
                <a:solidFill>
                  <a:srgbClr val="1AA1A4"/>
                </a:solidFill>
                <a:latin typeface="Times New Roman" panose="02020603050405020304" pitchFamily="18" charset="0"/>
                <a:ea typeface="黑体" panose="02010609060101010101" pitchFamily="49" charset="-122"/>
              </a:rPr>
              <a:t>测试用例如下</a:t>
            </a:r>
          </a:p>
        </p:txBody>
      </p:sp>
      <p:sp>
        <p:nvSpPr>
          <p:cNvPr id="1268789" name="Rectangle 53">
            <a:extLst>
              <a:ext uri="{FF2B5EF4-FFF2-40B4-BE49-F238E27FC236}">
                <a16:creationId xmlns:a16="http://schemas.microsoft.com/office/drawing/2014/main" id="{506D15B1-18C1-4E56-BF13-AD20159DF5EC}"/>
              </a:ext>
            </a:extLst>
          </p:cNvPr>
          <p:cNvSpPr>
            <a:spLocks noChangeArrowheads="1"/>
          </p:cNvSpPr>
          <p:nvPr/>
        </p:nvSpPr>
        <p:spPr bwMode="auto">
          <a:xfrm>
            <a:off x="7467600" y="5286375"/>
            <a:ext cx="457200" cy="457200"/>
          </a:xfrm>
          <a:prstGeom prst="rect">
            <a:avLst/>
          </a:prstGeom>
          <a:solidFill>
            <a:schemeClr val="bg1"/>
          </a:solidFill>
          <a:ln w="9525">
            <a:noFill/>
            <a:miter lim="800000"/>
            <a:headEnd/>
            <a:tailEnd/>
          </a:ln>
          <a:effectLst/>
        </p:spPr>
        <p:txBody>
          <a:bodyPr wrap="none" anchor="ctr"/>
          <a:lstStyle/>
          <a:p>
            <a:pPr algn="ctr">
              <a:defRPr/>
            </a:pPr>
            <a:r>
              <a:rPr lang="en-US" altLang="zh-CN" sz="2400">
                <a:solidFill>
                  <a:srgbClr val="F535F0"/>
                </a:solidFill>
                <a:effectLst>
                  <a:outerShdw blurRad="38100" dist="38100" dir="2700000" algn="tl">
                    <a:srgbClr val="000000"/>
                  </a:outerShdw>
                </a:effectLst>
                <a:latin typeface="Arial" charset="0"/>
                <a:ea typeface="黑体" pitchFamily="2" charset="-122"/>
              </a:rPr>
              <a:t>a</a:t>
            </a:r>
          </a:p>
        </p:txBody>
      </p:sp>
      <p:sp>
        <p:nvSpPr>
          <p:cNvPr id="1268790" name="Rectangle 54">
            <a:extLst>
              <a:ext uri="{FF2B5EF4-FFF2-40B4-BE49-F238E27FC236}">
                <a16:creationId xmlns:a16="http://schemas.microsoft.com/office/drawing/2014/main" id="{B1C328A5-E2FE-4136-8115-D3CDE61DD4FA}"/>
              </a:ext>
            </a:extLst>
          </p:cNvPr>
          <p:cNvSpPr>
            <a:spLocks noChangeArrowheads="1"/>
          </p:cNvSpPr>
          <p:nvPr/>
        </p:nvSpPr>
        <p:spPr bwMode="auto">
          <a:xfrm>
            <a:off x="8077200" y="5286375"/>
            <a:ext cx="457200" cy="457200"/>
          </a:xfrm>
          <a:prstGeom prst="rect">
            <a:avLst/>
          </a:prstGeom>
          <a:solidFill>
            <a:schemeClr val="bg1"/>
          </a:solidFill>
          <a:ln w="9525">
            <a:noFill/>
            <a:miter lim="800000"/>
            <a:headEnd/>
            <a:tailEnd/>
          </a:ln>
          <a:effectLst/>
        </p:spPr>
        <p:txBody>
          <a:bodyPr wrap="none" anchor="ctr"/>
          <a:lstStyle/>
          <a:p>
            <a:pPr algn="ctr">
              <a:defRPr/>
            </a:pPr>
            <a:r>
              <a:rPr lang="en-US" altLang="zh-CN" sz="2400">
                <a:solidFill>
                  <a:srgbClr val="F535F0"/>
                </a:solidFill>
                <a:effectLst>
                  <a:outerShdw blurRad="38100" dist="38100" dir="2700000" algn="tl">
                    <a:srgbClr val="000000"/>
                  </a:outerShdw>
                </a:effectLst>
                <a:latin typeface="Arial" charset="0"/>
                <a:ea typeface="黑体" pitchFamily="2" charset="-122"/>
              </a:rPr>
              <a:t>c</a:t>
            </a:r>
          </a:p>
        </p:txBody>
      </p:sp>
      <p:sp>
        <p:nvSpPr>
          <p:cNvPr id="1268791" name="Rectangle 55">
            <a:extLst>
              <a:ext uri="{FF2B5EF4-FFF2-40B4-BE49-F238E27FC236}">
                <a16:creationId xmlns:a16="http://schemas.microsoft.com/office/drawing/2014/main" id="{A0700554-9544-4D8D-A004-B558C60F0B1D}"/>
              </a:ext>
            </a:extLst>
          </p:cNvPr>
          <p:cNvSpPr>
            <a:spLocks noChangeArrowheads="1"/>
          </p:cNvSpPr>
          <p:nvPr/>
        </p:nvSpPr>
        <p:spPr bwMode="auto">
          <a:xfrm>
            <a:off x="8763000" y="5286375"/>
            <a:ext cx="457200" cy="457200"/>
          </a:xfrm>
          <a:prstGeom prst="rect">
            <a:avLst/>
          </a:prstGeom>
          <a:solidFill>
            <a:schemeClr val="bg1"/>
          </a:solidFill>
          <a:ln w="9525">
            <a:noFill/>
            <a:miter lim="800000"/>
            <a:headEnd/>
            <a:tailEnd/>
          </a:ln>
          <a:effectLst/>
        </p:spPr>
        <p:txBody>
          <a:bodyPr wrap="none" anchor="ctr"/>
          <a:lstStyle/>
          <a:p>
            <a:pPr algn="ctr">
              <a:defRPr/>
            </a:pPr>
            <a:r>
              <a:rPr lang="en-US" altLang="zh-CN" sz="2400">
                <a:solidFill>
                  <a:srgbClr val="F535F0"/>
                </a:solidFill>
                <a:effectLst>
                  <a:outerShdw blurRad="38100" dist="38100" dir="2700000" algn="tl">
                    <a:srgbClr val="000000"/>
                  </a:outerShdw>
                </a:effectLst>
                <a:latin typeface="Arial" charset="0"/>
                <a:ea typeface="黑体" pitchFamily="2" charset="-122"/>
              </a:rPr>
              <a:t>e</a:t>
            </a:r>
          </a:p>
        </p:txBody>
      </p:sp>
      <p:sp>
        <p:nvSpPr>
          <p:cNvPr id="1268793" name="Rectangle 57">
            <a:extLst>
              <a:ext uri="{FF2B5EF4-FFF2-40B4-BE49-F238E27FC236}">
                <a16:creationId xmlns:a16="http://schemas.microsoft.com/office/drawing/2014/main" id="{F47FD5ED-AEC9-4C39-9E31-A2967B2DDC87}"/>
              </a:ext>
            </a:extLst>
          </p:cNvPr>
          <p:cNvSpPr>
            <a:spLocks noChangeArrowheads="1"/>
          </p:cNvSpPr>
          <p:nvPr/>
        </p:nvSpPr>
        <p:spPr bwMode="auto">
          <a:xfrm>
            <a:off x="7772400" y="5362575"/>
            <a:ext cx="457200"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a:solidFill>
                  <a:srgbClr val="F535F0"/>
                </a:solidFill>
                <a:ea typeface="黑体" panose="02010609060101010101" pitchFamily="49" charset="-122"/>
              </a:rPr>
              <a:t>--</a:t>
            </a:r>
          </a:p>
        </p:txBody>
      </p:sp>
      <p:sp>
        <p:nvSpPr>
          <p:cNvPr id="1268794" name="Rectangle 58">
            <a:extLst>
              <a:ext uri="{FF2B5EF4-FFF2-40B4-BE49-F238E27FC236}">
                <a16:creationId xmlns:a16="http://schemas.microsoft.com/office/drawing/2014/main" id="{DF25CDE2-F5E4-4EA0-AF4D-EBA9D07B5993}"/>
              </a:ext>
            </a:extLst>
          </p:cNvPr>
          <p:cNvSpPr>
            <a:spLocks noChangeArrowheads="1"/>
          </p:cNvSpPr>
          <p:nvPr/>
        </p:nvSpPr>
        <p:spPr bwMode="auto">
          <a:xfrm>
            <a:off x="8382000" y="5362575"/>
            <a:ext cx="457200"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a:solidFill>
                  <a:srgbClr val="F535F0"/>
                </a:solidFill>
                <a:ea typeface="黑体" panose="02010609060101010101" pitchFamily="49" charset="-122"/>
              </a:rPr>
              <a:t>--</a:t>
            </a:r>
          </a:p>
        </p:txBody>
      </p:sp>
      <p:sp>
        <p:nvSpPr>
          <p:cNvPr id="1268796" name="Rectangle 60">
            <a:extLst>
              <a:ext uri="{FF2B5EF4-FFF2-40B4-BE49-F238E27FC236}">
                <a16:creationId xmlns:a16="http://schemas.microsoft.com/office/drawing/2014/main" id="{2DAFE4C0-AF46-483B-A893-3DF9DCF893CF}"/>
              </a:ext>
            </a:extLst>
          </p:cNvPr>
          <p:cNvSpPr>
            <a:spLocks noChangeArrowheads="1"/>
          </p:cNvSpPr>
          <p:nvPr/>
        </p:nvSpPr>
        <p:spPr bwMode="auto">
          <a:xfrm>
            <a:off x="4572000" y="790575"/>
            <a:ext cx="1295400" cy="533400"/>
          </a:xfrm>
          <a:prstGeom prst="rect">
            <a:avLst/>
          </a:prstGeom>
          <a:solidFill>
            <a:schemeClr val="bg1"/>
          </a:solidFill>
          <a:ln w="9525">
            <a:solidFill>
              <a:srgbClr val="E5DD41"/>
            </a:solidFill>
            <a:miter lim="800000"/>
            <a:headEnd/>
            <a:tailEnd/>
          </a:ln>
          <a:effectLst/>
        </p:spPr>
        <p:txBody>
          <a:bodyPr wrap="none" anchor="ctr"/>
          <a:lstStyle/>
          <a:p>
            <a:pPr algn="ctr">
              <a:defRPr/>
            </a:pPr>
            <a:r>
              <a:rPr lang="en-US" altLang="zh-CN" sz="2000" b="1">
                <a:solidFill>
                  <a:srgbClr val="EF8D2B"/>
                </a:solidFill>
                <a:effectLst>
                  <a:outerShdw blurRad="38100" dist="38100" dir="2700000" algn="tl">
                    <a:srgbClr val="000000"/>
                  </a:outerShdw>
                </a:effectLst>
                <a:latin typeface="Times New Roman" charset="0"/>
                <a:ea typeface="黑体" pitchFamily="2" charset="-122"/>
              </a:rPr>
              <a:t>ace (L1)</a:t>
            </a:r>
          </a:p>
        </p:txBody>
      </p:sp>
      <p:sp>
        <p:nvSpPr>
          <p:cNvPr id="1268797" name="Rectangle 61">
            <a:extLst>
              <a:ext uri="{FF2B5EF4-FFF2-40B4-BE49-F238E27FC236}">
                <a16:creationId xmlns:a16="http://schemas.microsoft.com/office/drawing/2014/main" id="{9087391D-4E4F-4C1A-A501-348A50DBCF3A}"/>
              </a:ext>
            </a:extLst>
          </p:cNvPr>
          <p:cNvSpPr>
            <a:spLocks noChangeArrowheads="1"/>
          </p:cNvSpPr>
          <p:nvPr/>
        </p:nvSpPr>
        <p:spPr bwMode="auto">
          <a:xfrm>
            <a:off x="5867400" y="790575"/>
            <a:ext cx="1295400" cy="533400"/>
          </a:xfrm>
          <a:prstGeom prst="rect">
            <a:avLst/>
          </a:prstGeom>
          <a:solidFill>
            <a:schemeClr val="bg1"/>
          </a:solidFill>
          <a:ln w="9525">
            <a:solidFill>
              <a:srgbClr val="E5DD41"/>
            </a:solidFill>
            <a:miter lim="800000"/>
            <a:headEnd/>
            <a:tailEnd/>
          </a:ln>
          <a:effectLst/>
        </p:spPr>
        <p:txBody>
          <a:bodyPr wrap="none" anchor="ctr"/>
          <a:lstStyle/>
          <a:p>
            <a:pPr algn="ctr">
              <a:defRPr/>
            </a:pPr>
            <a:r>
              <a:rPr lang="en-US" altLang="zh-CN" sz="2000" b="1">
                <a:solidFill>
                  <a:srgbClr val="EF8D2B"/>
                </a:solidFill>
                <a:effectLst>
                  <a:outerShdw blurRad="38100" dist="38100" dir="2700000" algn="tl">
                    <a:srgbClr val="000000"/>
                  </a:outerShdw>
                </a:effectLst>
                <a:latin typeface="Times New Roman" charset="0"/>
                <a:ea typeface="黑体" pitchFamily="2" charset="-122"/>
              </a:rPr>
              <a:t>abd (L2)</a:t>
            </a:r>
          </a:p>
        </p:txBody>
      </p:sp>
      <p:sp>
        <p:nvSpPr>
          <p:cNvPr id="1268798" name="Rectangle 62">
            <a:extLst>
              <a:ext uri="{FF2B5EF4-FFF2-40B4-BE49-F238E27FC236}">
                <a16:creationId xmlns:a16="http://schemas.microsoft.com/office/drawing/2014/main" id="{694C8A31-BE26-41EB-9142-9E652F152414}"/>
              </a:ext>
            </a:extLst>
          </p:cNvPr>
          <p:cNvSpPr>
            <a:spLocks noChangeArrowheads="1"/>
          </p:cNvSpPr>
          <p:nvPr/>
        </p:nvSpPr>
        <p:spPr bwMode="auto">
          <a:xfrm>
            <a:off x="7162800" y="790575"/>
            <a:ext cx="1295400" cy="533400"/>
          </a:xfrm>
          <a:prstGeom prst="rect">
            <a:avLst/>
          </a:prstGeom>
          <a:solidFill>
            <a:schemeClr val="bg1"/>
          </a:solidFill>
          <a:ln w="9525">
            <a:solidFill>
              <a:srgbClr val="E5DD41"/>
            </a:solidFill>
            <a:miter lim="800000"/>
            <a:headEnd/>
            <a:tailEnd/>
          </a:ln>
          <a:effectLst/>
        </p:spPr>
        <p:txBody>
          <a:bodyPr wrap="none" anchor="ctr"/>
          <a:lstStyle/>
          <a:p>
            <a:pPr algn="ctr">
              <a:defRPr/>
            </a:pPr>
            <a:r>
              <a:rPr lang="en-US" altLang="zh-CN" sz="2000" b="1">
                <a:solidFill>
                  <a:srgbClr val="EF8D2B"/>
                </a:solidFill>
                <a:effectLst>
                  <a:outerShdw blurRad="38100" dist="38100" dir="2700000" algn="tl">
                    <a:srgbClr val="000000"/>
                  </a:outerShdw>
                </a:effectLst>
                <a:latin typeface="Times New Roman" charset="0"/>
                <a:ea typeface="黑体" pitchFamily="2" charset="-122"/>
              </a:rPr>
              <a:t>abe (L3)</a:t>
            </a:r>
          </a:p>
        </p:txBody>
      </p:sp>
      <p:sp>
        <p:nvSpPr>
          <p:cNvPr id="1268799" name="Rectangle 63">
            <a:extLst>
              <a:ext uri="{FF2B5EF4-FFF2-40B4-BE49-F238E27FC236}">
                <a16:creationId xmlns:a16="http://schemas.microsoft.com/office/drawing/2014/main" id="{BFA2A399-43F2-47D2-9ACC-0EBD3F64729E}"/>
              </a:ext>
            </a:extLst>
          </p:cNvPr>
          <p:cNvSpPr>
            <a:spLocks noChangeArrowheads="1"/>
          </p:cNvSpPr>
          <p:nvPr/>
        </p:nvSpPr>
        <p:spPr bwMode="auto">
          <a:xfrm>
            <a:off x="8458200" y="790575"/>
            <a:ext cx="1295400" cy="533400"/>
          </a:xfrm>
          <a:prstGeom prst="rect">
            <a:avLst/>
          </a:prstGeom>
          <a:solidFill>
            <a:schemeClr val="bg1"/>
          </a:solidFill>
          <a:ln w="9525">
            <a:solidFill>
              <a:srgbClr val="E5DD41"/>
            </a:solidFill>
            <a:miter lim="800000"/>
            <a:headEnd/>
            <a:tailEnd/>
          </a:ln>
          <a:effectLst/>
        </p:spPr>
        <p:txBody>
          <a:bodyPr wrap="none" anchor="ctr"/>
          <a:lstStyle/>
          <a:p>
            <a:pPr algn="ctr">
              <a:defRPr/>
            </a:pPr>
            <a:r>
              <a:rPr lang="en-US" altLang="zh-CN" sz="2000" b="1">
                <a:solidFill>
                  <a:srgbClr val="EF8D2B"/>
                </a:solidFill>
                <a:effectLst>
                  <a:outerShdw blurRad="38100" dist="38100" dir="2700000" algn="tl">
                    <a:srgbClr val="000000"/>
                  </a:outerShdw>
                </a:effectLst>
                <a:latin typeface="Times New Roman" charset="0"/>
                <a:ea typeface="黑体" pitchFamily="2" charset="-122"/>
              </a:rPr>
              <a:t>acd (L4)</a:t>
            </a:r>
          </a:p>
        </p:txBody>
      </p:sp>
      <p:sp>
        <p:nvSpPr>
          <p:cNvPr id="1268800" name="Rectangle 64">
            <a:extLst>
              <a:ext uri="{FF2B5EF4-FFF2-40B4-BE49-F238E27FC236}">
                <a16:creationId xmlns:a16="http://schemas.microsoft.com/office/drawing/2014/main" id="{6DDB010C-89CB-4C63-918D-679457B4B42A}"/>
              </a:ext>
            </a:extLst>
          </p:cNvPr>
          <p:cNvSpPr>
            <a:spLocks noChangeArrowheads="1"/>
          </p:cNvSpPr>
          <p:nvPr/>
        </p:nvSpPr>
        <p:spPr bwMode="auto">
          <a:xfrm>
            <a:off x="8077200" y="5819775"/>
            <a:ext cx="457200" cy="457200"/>
          </a:xfrm>
          <a:prstGeom prst="rect">
            <a:avLst/>
          </a:prstGeom>
          <a:solidFill>
            <a:schemeClr val="bg1"/>
          </a:solidFill>
          <a:ln w="9525">
            <a:noFill/>
            <a:miter lim="800000"/>
            <a:headEnd/>
            <a:tailEnd/>
          </a:ln>
          <a:effectLst/>
        </p:spPr>
        <p:txBody>
          <a:bodyPr wrap="none" anchor="ctr"/>
          <a:lstStyle/>
          <a:p>
            <a:pPr algn="ctr">
              <a:defRPr/>
            </a:pPr>
            <a:r>
              <a:rPr lang="en-US" altLang="zh-CN" sz="2400">
                <a:solidFill>
                  <a:srgbClr val="F535F0"/>
                </a:solidFill>
                <a:effectLst>
                  <a:outerShdw blurRad="38100" dist="38100" dir="2700000" algn="tl">
                    <a:srgbClr val="000000"/>
                  </a:outerShdw>
                </a:effectLst>
                <a:latin typeface="Arial" charset="0"/>
                <a:ea typeface="黑体" pitchFamily="2" charset="-122"/>
              </a:rPr>
              <a:t>L1</a:t>
            </a:r>
          </a:p>
        </p:txBody>
      </p:sp>
      <p:sp>
        <p:nvSpPr>
          <p:cNvPr id="27672" name="文本框 47">
            <a:extLst>
              <a:ext uri="{FF2B5EF4-FFF2-40B4-BE49-F238E27FC236}">
                <a16:creationId xmlns:a16="http://schemas.microsoft.com/office/drawing/2014/main" id="{3986D08D-DA8B-474E-882E-288F8DA3EED2}"/>
              </a:ext>
            </a:extLst>
          </p:cNvPr>
          <p:cNvSpPr txBox="1">
            <a:spLocks noChangeArrowheads="1"/>
          </p:cNvSpPr>
          <p:nvPr/>
        </p:nvSpPr>
        <p:spPr bwMode="auto">
          <a:xfrm>
            <a:off x="3071813" y="1439864"/>
            <a:ext cx="457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r>
              <a:rPr lang="zh-CN" altLang="en-US" sz="1800">
                <a:solidFill>
                  <a:schemeClr val="tx1"/>
                </a:solidFill>
              </a:rPr>
              <a:t>“∧”是且的意思</a:t>
            </a:r>
            <a:r>
              <a:rPr lang="en-US" altLang="zh-CN" sz="1800">
                <a:solidFill>
                  <a:schemeClr val="tx1"/>
                </a:solidFill>
              </a:rPr>
              <a:t>,“∨”</a:t>
            </a:r>
            <a:r>
              <a:rPr lang="zh-CN" altLang="en-US" sz="1800">
                <a:solidFill>
                  <a:schemeClr val="tx1"/>
                </a:solidFill>
              </a:rPr>
              <a:t>是或的意思</a:t>
            </a:r>
          </a:p>
        </p:txBody>
      </p:sp>
      <p:sp>
        <p:nvSpPr>
          <p:cNvPr id="49" name="文本框 48">
            <a:extLst>
              <a:ext uri="{FF2B5EF4-FFF2-40B4-BE49-F238E27FC236}">
                <a16:creationId xmlns:a16="http://schemas.microsoft.com/office/drawing/2014/main" id="{9148FF54-92D0-48F8-82DF-58EEDC573742}"/>
              </a:ext>
            </a:extLst>
          </p:cNvPr>
          <p:cNvSpPr txBox="1">
            <a:spLocks noChangeArrowheads="1"/>
          </p:cNvSpPr>
          <p:nvPr/>
        </p:nvSpPr>
        <p:spPr bwMode="auto">
          <a:xfrm>
            <a:off x="3124200" y="6169025"/>
            <a:ext cx="4953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r>
              <a:rPr lang="zh-CN" altLang="en-US" sz="1800">
                <a:solidFill>
                  <a:schemeClr val="tx1"/>
                </a:solidFill>
              </a:rPr>
              <a:t>问题：上下的“∧”</a:t>
            </a:r>
            <a:r>
              <a:rPr lang="en-US" altLang="zh-CN" sz="1800">
                <a:solidFill>
                  <a:schemeClr val="tx1"/>
                </a:solidFill>
              </a:rPr>
              <a:t>“∨”</a:t>
            </a:r>
            <a:r>
              <a:rPr lang="zh-CN" altLang="en-US" sz="1800">
                <a:solidFill>
                  <a:schemeClr val="tx1"/>
                </a:solidFill>
              </a:rPr>
              <a:t>调换顺序无法检测出来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vertic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268768"/>
                                        </p:tgtEl>
                                        <p:attrNameLst>
                                          <p:attrName>style.visibility</p:attrName>
                                        </p:attrNameLst>
                                      </p:cBhvr>
                                      <p:to>
                                        <p:strVal val="visible"/>
                                      </p:to>
                                    </p:set>
                                    <p:animEffect transition="in" filter="blinds(vertical)">
                                      <p:cBhvr>
                                        <p:cTn id="12" dur="500"/>
                                        <p:tgtEl>
                                          <p:spTgt spid="126876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1268755"/>
                                        </p:tgtEl>
                                        <p:attrNameLst>
                                          <p:attrName>style.visibility</p:attrName>
                                        </p:attrNameLst>
                                      </p:cBhvr>
                                      <p:to>
                                        <p:strVal val="visible"/>
                                      </p:to>
                                    </p:set>
                                    <p:animEffect transition="in" filter="blinds(vertical)">
                                      <p:cBhvr>
                                        <p:cTn id="17" dur="500"/>
                                        <p:tgtEl>
                                          <p:spTgt spid="126875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1268769"/>
                                        </p:tgtEl>
                                        <p:attrNameLst>
                                          <p:attrName>style.visibility</p:attrName>
                                        </p:attrNameLst>
                                      </p:cBhvr>
                                      <p:to>
                                        <p:strVal val="visible"/>
                                      </p:to>
                                    </p:set>
                                    <p:animEffect transition="in" filter="blinds(vertical)">
                                      <p:cBhvr>
                                        <p:cTn id="22" dur="500"/>
                                        <p:tgtEl>
                                          <p:spTgt spid="126876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1268767"/>
                                        </p:tgtEl>
                                        <p:attrNameLst>
                                          <p:attrName>style.visibility</p:attrName>
                                        </p:attrNameLst>
                                      </p:cBhvr>
                                      <p:to>
                                        <p:strVal val="visible"/>
                                      </p:to>
                                    </p:set>
                                    <p:animEffect transition="in" filter="blinds(vertical)">
                                      <p:cBhvr>
                                        <p:cTn id="27" dur="500"/>
                                        <p:tgtEl>
                                          <p:spTgt spid="126876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5" fill="hold" grpId="0" nodeType="clickEffect">
                                  <p:stCondLst>
                                    <p:cond delay="0"/>
                                  </p:stCondLst>
                                  <p:childTnLst>
                                    <p:set>
                                      <p:cBhvr>
                                        <p:cTn id="31" dur="1" fill="hold">
                                          <p:stCondLst>
                                            <p:cond delay="0"/>
                                          </p:stCondLst>
                                        </p:cTn>
                                        <p:tgtEl>
                                          <p:spTgt spid="1268770"/>
                                        </p:tgtEl>
                                        <p:attrNameLst>
                                          <p:attrName>style.visibility</p:attrName>
                                        </p:attrNameLst>
                                      </p:cBhvr>
                                      <p:to>
                                        <p:strVal val="visible"/>
                                      </p:to>
                                    </p:set>
                                    <p:animEffect transition="in" filter="blinds(vertical)">
                                      <p:cBhvr>
                                        <p:cTn id="32" dur="500"/>
                                        <p:tgtEl>
                                          <p:spTgt spid="126877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5" fill="hold" grpId="0" nodeType="clickEffect">
                                  <p:stCondLst>
                                    <p:cond delay="0"/>
                                  </p:stCondLst>
                                  <p:childTnLst>
                                    <p:set>
                                      <p:cBhvr>
                                        <p:cTn id="36" dur="1" fill="hold">
                                          <p:stCondLst>
                                            <p:cond delay="0"/>
                                          </p:stCondLst>
                                        </p:cTn>
                                        <p:tgtEl>
                                          <p:spTgt spid="1268796"/>
                                        </p:tgtEl>
                                        <p:attrNameLst>
                                          <p:attrName>style.visibility</p:attrName>
                                        </p:attrNameLst>
                                      </p:cBhvr>
                                      <p:to>
                                        <p:strVal val="visible"/>
                                      </p:to>
                                    </p:set>
                                    <p:animEffect transition="in" filter="blinds(vertical)">
                                      <p:cBhvr>
                                        <p:cTn id="37" dur="500"/>
                                        <p:tgtEl>
                                          <p:spTgt spid="126879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5" fill="hold" grpId="0" nodeType="clickEffect">
                                  <p:stCondLst>
                                    <p:cond delay="0"/>
                                  </p:stCondLst>
                                  <p:childTnLst>
                                    <p:set>
                                      <p:cBhvr>
                                        <p:cTn id="41" dur="1" fill="hold">
                                          <p:stCondLst>
                                            <p:cond delay="0"/>
                                          </p:stCondLst>
                                        </p:cTn>
                                        <p:tgtEl>
                                          <p:spTgt spid="1268797"/>
                                        </p:tgtEl>
                                        <p:attrNameLst>
                                          <p:attrName>style.visibility</p:attrName>
                                        </p:attrNameLst>
                                      </p:cBhvr>
                                      <p:to>
                                        <p:strVal val="visible"/>
                                      </p:to>
                                    </p:set>
                                    <p:animEffect transition="in" filter="blinds(vertical)">
                                      <p:cBhvr>
                                        <p:cTn id="42" dur="500"/>
                                        <p:tgtEl>
                                          <p:spTgt spid="126879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5" fill="hold" grpId="0" nodeType="clickEffect">
                                  <p:stCondLst>
                                    <p:cond delay="0"/>
                                  </p:stCondLst>
                                  <p:childTnLst>
                                    <p:set>
                                      <p:cBhvr>
                                        <p:cTn id="46" dur="1" fill="hold">
                                          <p:stCondLst>
                                            <p:cond delay="0"/>
                                          </p:stCondLst>
                                        </p:cTn>
                                        <p:tgtEl>
                                          <p:spTgt spid="1268798"/>
                                        </p:tgtEl>
                                        <p:attrNameLst>
                                          <p:attrName>style.visibility</p:attrName>
                                        </p:attrNameLst>
                                      </p:cBhvr>
                                      <p:to>
                                        <p:strVal val="visible"/>
                                      </p:to>
                                    </p:set>
                                    <p:animEffect transition="in" filter="blinds(vertical)">
                                      <p:cBhvr>
                                        <p:cTn id="47" dur="500"/>
                                        <p:tgtEl>
                                          <p:spTgt spid="126879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5" fill="hold" grpId="0" nodeType="clickEffect">
                                  <p:stCondLst>
                                    <p:cond delay="0"/>
                                  </p:stCondLst>
                                  <p:childTnLst>
                                    <p:set>
                                      <p:cBhvr>
                                        <p:cTn id="51" dur="1" fill="hold">
                                          <p:stCondLst>
                                            <p:cond delay="0"/>
                                          </p:stCondLst>
                                        </p:cTn>
                                        <p:tgtEl>
                                          <p:spTgt spid="1268799"/>
                                        </p:tgtEl>
                                        <p:attrNameLst>
                                          <p:attrName>style.visibility</p:attrName>
                                        </p:attrNameLst>
                                      </p:cBhvr>
                                      <p:to>
                                        <p:strVal val="visible"/>
                                      </p:to>
                                    </p:set>
                                    <p:animEffect transition="in" filter="blinds(vertical)">
                                      <p:cBhvr>
                                        <p:cTn id="52" dur="500"/>
                                        <p:tgtEl>
                                          <p:spTgt spid="126879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5" fill="hold" grpId="0" nodeType="clickEffect">
                                  <p:stCondLst>
                                    <p:cond delay="0"/>
                                  </p:stCondLst>
                                  <p:childTnLst>
                                    <p:set>
                                      <p:cBhvr>
                                        <p:cTn id="56" dur="1" fill="hold">
                                          <p:stCondLst>
                                            <p:cond delay="0"/>
                                          </p:stCondLst>
                                        </p:cTn>
                                        <p:tgtEl>
                                          <p:spTgt spid="1268785"/>
                                        </p:tgtEl>
                                        <p:attrNameLst>
                                          <p:attrName>style.visibility</p:attrName>
                                        </p:attrNameLst>
                                      </p:cBhvr>
                                      <p:to>
                                        <p:strVal val="visible"/>
                                      </p:to>
                                    </p:set>
                                    <p:animEffect transition="in" filter="blinds(vertical)">
                                      <p:cBhvr>
                                        <p:cTn id="57" dur="500"/>
                                        <p:tgtEl>
                                          <p:spTgt spid="126878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5" fill="hold" grpId="0" nodeType="clickEffect">
                                  <p:stCondLst>
                                    <p:cond delay="0"/>
                                  </p:stCondLst>
                                  <p:childTnLst>
                                    <p:set>
                                      <p:cBhvr>
                                        <p:cTn id="61" dur="1" fill="hold">
                                          <p:stCondLst>
                                            <p:cond delay="0"/>
                                          </p:stCondLst>
                                        </p:cTn>
                                        <p:tgtEl>
                                          <p:spTgt spid="1268772"/>
                                        </p:tgtEl>
                                        <p:attrNameLst>
                                          <p:attrName>style.visibility</p:attrName>
                                        </p:attrNameLst>
                                      </p:cBhvr>
                                      <p:to>
                                        <p:strVal val="visible"/>
                                      </p:to>
                                    </p:set>
                                    <p:animEffect transition="in" filter="blinds(vertical)">
                                      <p:cBhvr>
                                        <p:cTn id="62" dur="500"/>
                                        <p:tgtEl>
                                          <p:spTgt spid="126877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5" fill="hold" grpId="0" nodeType="clickEffect">
                                  <p:stCondLst>
                                    <p:cond delay="0"/>
                                  </p:stCondLst>
                                  <p:childTnLst>
                                    <p:set>
                                      <p:cBhvr>
                                        <p:cTn id="66" dur="1" fill="hold">
                                          <p:stCondLst>
                                            <p:cond delay="0"/>
                                          </p:stCondLst>
                                        </p:cTn>
                                        <p:tgtEl>
                                          <p:spTgt spid="1268786"/>
                                        </p:tgtEl>
                                        <p:attrNameLst>
                                          <p:attrName>style.visibility</p:attrName>
                                        </p:attrNameLst>
                                      </p:cBhvr>
                                      <p:to>
                                        <p:strVal val="visible"/>
                                      </p:to>
                                    </p:set>
                                    <p:animEffect transition="in" filter="blinds(vertical)">
                                      <p:cBhvr>
                                        <p:cTn id="67" dur="500"/>
                                        <p:tgtEl>
                                          <p:spTgt spid="126878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5" fill="hold" grpId="0" nodeType="clickEffect">
                                  <p:stCondLst>
                                    <p:cond delay="0"/>
                                  </p:stCondLst>
                                  <p:childTnLst>
                                    <p:set>
                                      <p:cBhvr>
                                        <p:cTn id="71" dur="1" fill="hold">
                                          <p:stCondLst>
                                            <p:cond delay="0"/>
                                          </p:stCondLst>
                                        </p:cTn>
                                        <p:tgtEl>
                                          <p:spTgt spid="1268787"/>
                                        </p:tgtEl>
                                        <p:attrNameLst>
                                          <p:attrName>style.visibility</p:attrName>
                                        </p:attrNameLst>
                                      </p:cBhvr>
                                      <p:to>
                                        <p:strVal val="visible"/>
                                      </p:to>
                                    </p:set>
                                    <p:animEffect transition="in" filter="blinds(vertical)">
                                      <p:cBhvr>
                                        <p:cTn id="72" dur="500"/>
                                        <p:tgtEl>
                                          <p:spTgt spid="126878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5" fill="hold" grpId="0" nodeType="clickEffect">
                                  <p:stCondLst>
                                    <p:cond delay="0"/>
                                  </p:stCondLst>
                                  <p:childTnLst>
                                    <p:set>
                                      <p:cBhvr>
                                        <p:cTn id="76" dur="1" fill="hold">
                                          <p:stCondLst>
                                            <p:cond delay="0"/>
                                          </p:stCondLst>
                                        </p:cTn>
                                        <p:tgtEl>
                                          <p:spTgt spid="1268788"/>
                                        </p:tgtEl>
                                        <p:attrNameLst>
                                          <p:attrName>style.visibility</p:attrName>
                                        </p:attrNameLst>
                                      </p:cBhvr>
                                      <p:to>
                                        <p:strVal val="visible"/>
                                      </p:to>
                                    </p:set>
                                    <p:animEffect transition="in" filter="blinds(vertical)">
                                      <p:cBhvr>
                                        <p:cTn id="77" dur="500"/>
                                        <p:tgtEl>
                                          <p:spTgt spid="1268788"/>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5" fill="hold" grpId="0" nodeType="clickEffect">
                                  <p:stCondLst>
                                    <p:cond delay="0"/>
                                  </p:stCondLst>
                                  <p:childTnLst>
                                    <p:set>
                                      <p:cBhvr>
                                        <p:cTn id="81" dur="1" fill="hold">
                                          <p:stCondLst>
                                            <p:cond delay="0"/>
                                          </p:stCondLst>
                                        </p:cTn>
                                        <p:tgtEl>
                                          <p:spTgt spid="1268789"/>
                                        </p:tgtEl>
                                        <p:attrNameLst>
                                          <p:attrName>style.visibility</p:attrName>
                                        </p:attrNameLst>
                                      </p:cBhvr>
                                      <p:to>
                                        <p:strVal val="visible"/>
                                      </p:to>
                                    </p:set>
                                    <p:animEffect transition="in" filter="blinds(vertical)">
                                      <p:cBhvr>
                                        <p:cTn id="82" dur="500"/>
                                        <p:tgtEl>
                                          <p:spTgt spid="1268789"/>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5" fill="hold" grpId="0" nodeType="clickEffect">
                                  <p:stCondLst>
                                    <p:cond delay="0"/>
                                  </p:stCondLst>
                                  <p:childTnLst>
                                    <p:set>
                                      <p:cBhvr>
                                        <p:cTn id="86" dur="1" fill="hold">
                                          <p:stCondLst>
                                            <p:cond delay="0"/>
                                          </p:stCondLst>
                                        </p:cTn>
                                        <p:tgtEl>
                                          <p:spTgt spid="1268793"/>
                                        </p:tgtEl>
                                        <p:attrNameLst>
                                          <p:attrName>style.visibility</p:attrName>
                                        </p:attrNameLst>
                                      </p:cBhvr>
                                      <p:to>
                                        <p:strVal val="visible"/>
                                      </p:to>
                                    </p:set>
                                    <p:animEffect transition="in" filter="blinds(vertical)">
                                      <p:cBhvr>
                                        <p:cTn id="87" dur="500"/>
                                        <p:tgtEl>
                                          <p:spTgt spid="1268793"/>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3" presetClass="entr" presetSubtype="5" fill="hold" grpId="0" nodeType="clickEffect">
                                  <p:stCondLst>
                                    <p:cond delay="0"/>
                                  </p:stCondLst>
                                  <p:childTnLst>
                                    <p:set>
                                      <p:cBhvr>
                                        <p:cTn id="91" dur="1" fill="hold">
                                          <p:stCondLst>
                                            <p:cond delay="0"/>
                                          </p:stCondLst>
                                        </p:cTn>
                                        <p:tgtEl>
                                          <p:spTgt spid="1268790"/>
                                        </p:tgtEl>
                                        <p:attrNameLst>
                                          <p:attrName>style.visibility</p:attrName>
                                        </p:attrNameLst>
                                      </p:cBhvr>
                                      <p:to>
                                        <p:strVal val="visible"/>
                                      </p:to>
                                    </p:set>
                                    <p:animEffect transition="in" filter="blinds(vertical)">
                                      <p:cBhvr>
                                        <p:cTn id="92" dur="500"/>
                                        <p:tgtEl>
                                          <p:spTgt spid="1268790"/>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3" presetClass="entr" presetSubtype="5" fill="hold" grpId="0" nodeType="clickEffect">
                                  <p:stCondLst>
                                    <p:cond delay="0"/>
                                  </p:stCondLst>
                                  <p:childTnLst>
                                    <p:set>
                                      <p:cBhvr>
                                        <p:cTn id="96" dur="1" fill="hold">
                                          <p:stCondLst>
                                            <p:cond delay="0"/>
                                          </p:stCondLst>
                                        </p:cTn>
                                        <p:tgtEl>
                                          <p:spTgt spid="1268794"/>
                                        </p:tgtEl>
                                        <p:attrNameLst>
                                          <p:attrName>style.visibility</p:attrName>
                                        </p:attrNameLst>
                                      </p:cBhvr>
                                      <p:to>
                                        <p:strVal val="visible"/>
                                      </p:to>
                                    </p:set>
                                    <p:animEffect transition="in" filter="blinds(vertical)">
                                      <p:cBhvr>
                                        <p:cTn id="97" dur="500"/>
                                        <p:tgtEl>
                                          <p:spTgt spid="1268794"/>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3" presetClass="entr" presetSubtype="5" fill="hold" grpId="0" nodeType="clickEffect">
                                  <p:stCondLst>
                                    <p:cond delay="0"/>
                                  </p:stCondLst>
                                  <p:childTnLst>
                                    <p:set>
                                      <p:cBhvr>
                                        <p:cTn id="101" dur="1" fill="hold">
                                          <p:stCondLst>
                                            <p:cond delay="0"/>
                                          </p:stCondLst>
                                        </p:cTn>
                                        <p:tgtEl>
                                          <p:spTgt spid="1268791"/>
                                        </p:tgtEl>
                                        <p:attrNameLst>
                                          <p:attrName>style.visibility</p:attrName>
                                        </p:attrNameLst>
                                      </p:cBhvr>
                                      <p:to>
                                        <p:strVal val="visible"/>
                                      </p:to>
                                    </p:set>
                                    <p:animEffect transition="in" filter="blinds(vertical)">
                                      <p:cBhvr>
                                        <p:cTn id="102" dur="500"/>
                                        <p:tgtEl>
                                          <p:spTgt spid="1268791"/>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3" presetClass="entr" presetSubtype="5" fill="hold" grpId="0" nodeType="clickEffect">
                                  <p:stCondLst>
                                    <p:cond delay="0"/>
                                  </p:stCondLst>
                                  <p:childTnLst>
                                    <p:set>
                                      <p:cBhvr>
                                        <p:cTn id="106" dur="1" fill="hold">
                                          <p:stCondLst>
                                            <p:cond delay="0"/>
                                          </p:stCondLst>
                                        </p:cTn>
                                        <p:tgtEl>
                                          <p:spTgt spid="1268800"/>
                                        </p:tgtEl>
                                        <p:attrNameLst>
                                          <p:attrName>style.visibility</p:attrName>
                                        </p:attrNameLst>
                                      </p:cBhvr>
                                      <p:to>
                                        <p:strVal val="visible"/>
                                      </p:to>
                                    </p:set>
                                    <p:animEffect transition="in" filter="blinds(vertical)">
                                      <p:cBhvr>
                                        <p:cTn id="107" dur="500"/>
                                        <p:tgtEl>
                                          <p:spTgt spid="1268800"/>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8755" grpId="0" autoUpdateAnimBg="0"/>
      <p:bldP spid="1268767" grpId="0" autoUpdateAnimBg="0"/>
      <p:bldP spid="1268768" grpId="0" autoUpdateAnimBg="0"/>
      <p:bldP spid="1268772" grpId="0" animBg="1" autoUpdateAnimBg="0"/>
      <p:bldP spid="1268769" grpId="0" autoUpdateAnimBg="0"/>
      <p:bldP spid="1268770" grpId="0" autoUpdateAnimBg="0"/>
      <p:bldP spid="1268785" grpId="0" animBg="1" autoUpdateAnimBg="0"/>
      <p:bldP spid="1268787" grpId="0" animBg="1" autoUpdateAnimBg="0"/>
      <p:bldP spid="1268788" grpId="0" animBg="1" autoUpdateAnimBg="0"/>
      <p:bldP spid="1268786" grpId="0" animBg="1" autoUpdateAnimBg="0"/>
      <p:bldP spid="1268789" grpId="0" animBg="1" autoUpdateAnimBg="0"/>
      <p:bldP spid="1268790" grpId="0" animBg="1" autoUpdateAnimBg="0"/>
      <p:bldP spid="1268791" grpId="0" animBg="1" autoUpdateAnimBg="0"/>
      <p:bldP spid="1268793" grpId="0" animBg="1" autoUpdateAnimBg="0"/>
      <p:bldP spid="1268794" grpId="0" animBg="1" autoUpdateAnimBg="0"/>
      <p:bldP spid="1268796" grpId="0" animBg="1" autoUpdateAnimBg="0"/>
      <p:bldP spid="1268797" grpId="0" animBg="1" autoUpdateAnimBg="0"/>
      <p:bldP spid="1268798" grpId="0" animBg="1" autoUpdateAnimBg="0"/>
      <p:bldP spid="1268799" grpId="0" animBg="1" autoUpdateAnimBg="0"/>
      <p:bldP spid="1268800" grpId="0" animBg="1" autoUpdateAnimBg="0"/>
      <p:bldP spid="49" grpId="0"/>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日期占位符 1">
            <a:extLst>
              <a:ext uri="{FF2B5EF4-FFF2-40B4-BE49-F238E27FC236}">
                <a16:creationId xmlns:a16="http://schemas.microsoft.com/office/drawing/2014/main" id="{41871B94-44F0-4CFF-8287-FE03CDD86D50}"/>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8E0252DC-C00E-4E11-AB51-342A5D8B13D6}"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29699" name="Rectangle 6">
            <a:extLst>
              <a:ext uri="{FF2B5EF4-FFF2-40B4-BE49-F238E27FC236}">
                <a16:creationId xmlns:a16="http://schemas.microsoft.com/office/drawing/2014/main" id="{D52B3358-1EC1-44B7-977F-243D3711D44D}"/>
              </a:ext>
            </a:extLst>
          </p:cNvPr>
          <p:cNvSpPr>
            <a:spLocks noChangeArrowheads="1"/>
          </p:cNvSpPr>
          <p:nvPr/>
        </p:nvSpPr>
        <p:spPr bwMode="auto">
          <a:xfrm>
            <a:off x="3276600" y="762000"/>
            <a:ext cx="2667000" cy="609600"/>
          </a:xfrm>
          <a:prstGeom prst="rect">
            <a:avLst/>
          </a:prstGeom>
          <a:solidFill>
            <a:schemeClr val="bg1"/>
          </a:solidFill>
          <a:ln w="9525">
            <a:solidFill>
              <a:srgbClr val="70E5E8"/>
            </a:solidFill>
            <a:miter lim="800000"/>
            <a:headEnd/>
            <a:tailEnd/>
          </a:ln>
          <a:effectLst>
            <a:outerShdw dist="107763" dir="2700000" algn="ctr" rotWithShape="0">
              <a:schemeClr val="bg2"/>
            </a:outerShdw>
          </a:effec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000">
                <a:solidFill>
                  <a:srgbClr val="1AA1A4"/>
                </a:solidFill>
                <a:latin typeface="Times New Roman" panose="02020603050405020304" pitchFamily="18" charset="0"/>
                <a:ea typeface="黑体" panose="02010609060101010101" pitchFamily="49" charset="-122"/>
              </a:rPr>
              <a:t>判定覆盖(分支覆盖)</a:t>
            </a:r>
            <a:endParaRPr lang="en-US" altLang="zh-CN" sz="2000">
              <a:solidFill>
                <a:srgbClr val="1AA1A4"/>
              </a:solidFill>
              <a:latin typeface="Times New Roman" panose="02020603050405020304" pitchFamily="18" charset="0"/>
              <a:ea typeface="黑体" panose="02010609060101010101" pitchFamily="49" charset="-122"/>
            </a:endParaRPr>
          </a:p>
        </p:txBody>
      </p:sp>
      <p:sp>
        <p:nvSpPr>
          <p:cNvPr id="2390059" name="Rectangle 43">
            <a:hlinkClick r:id="rId3" action="ppaction://hlinksldjump"/>
            <a:extLst>
              <a:ext uri="{FF2B5EF4-FFF2-40B4-BE49-F238E27FC236}">
                <a16:creationId xmlns:a16="http://schemas.microsoft.com/office/drawing/2014/main" id="{086EABB5-7B55-46E6-B51B-419135CD0825}"/>
              </a:ext>
            </a:extLst>
          </p:cNvPr>
          <p:cNvSpPr>
            <a:spLocks noChangeArrowheads="1"/>
          </p:cNvSpPr>
          <p:nvPr/>
        </p:nvSpPr>
        <p:spPr bwMode="auto">
          <a:xfrm>
            <a:off x="3733800" y="3276600"/>
            <a:ext cx="5486400" cy="1752600"/>
          </a:xfrm>
          <a:prstGeom prst="rect">
            <a:avLst/>
          </a:prstGeom>
          <a:noFill/>
          <a:ln w="38100" cmpd="dbl">
            <a:solidFill>
              <a:srgbClr val="70E5E8"/>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r>
              <a:rPr lang="zh-CN" altLang="en-US" sz="2000">
                <a:solidFill>
                  <a:srgbClr val="1AA1A4"/>
                </a:solidFill>
                <a:latin typeface="黑体" panose="02010609060101010101" pitchFamily="49" charset="-122"/>
                <a:ea typeface="黑体" panose="02010609060101010101" pitchFamily="49" charset="-122"/>
              </a:rPr>
              <a:t>      所谓的判定覆盖就是设计若干个测试用</a:t>
            </a:r>
          </a:p>
          <a:p>
            <a:pPr>
              <a:spcBef>
                <a:spcPct val="0"/>
              </a:spcBef>
              <a:buFontTx/>
              <a:buNone/>
            </a:pPr>
            <a:r>
              <a:rPr lang="zh-CN" altLang="en-US" sz="2000">
                <a:solidFill>
                  <a:srgbClr val="1AA1A4"/>
                </a:solidFill>
                <a:latin typeface="黑体" panose="02010609060101010101" pitchFamily="49" charset="-122"/>
                <a:ea typeface="黑体" panose="02010609060101010101" pitchFamily="49" charset="-122"/>
              </a:rPr>
              <a:t>  例，运行被测程序，使得程序中每个判断的</a:t>
            </a:r>
          </a:p>
          <a:p>
            <a:pPr>
              <a:spcBef>
                <a:spcPct val="0"/>
              </a:spcBef>
              <a:buFontTx/>
              <a:buNone/>
            </a:pPr>
            <a:r>
              <a:rPr lang="zh-CN" altLang="en-US" sz="2000">
                <a:solidFill>
                  <a:srgbClr val="1AA1A4"/>
                </a:solidFill>
                <a:latin typeface="黑体" panose="02010609060101010101" pitchFamily="49" charset="-122"/>
                <a:ea typeface="黑体" panose="02010609060101010101" pitchFamily="49" charset="-122"/>
              </a:rPr>
              <a:t>  取</a:t>
            </a:r>
            <a:r>
              <a:rPr lang="zh-CN" altLang="en-US" sz="2000" b="1">
                <a:solidFill>
                  <a:srgbClr val="EF8D2B"/>
                </a:solidFill>
                <a:latin typeface="黑体" panose="02010609060101010101" pitchFamily="49" charset="-122"/>
                <a:ea typeface="黑体" panose="02010609060101010101" pitchFamily="49" charset="-122"/>
              </a:rPr>
              <a:t>真</a:t>
            </a:r>
            <a:r>
              <a:rPr lang="zh-CN" altLang="en-US" sz="2000">
                <a:solidFill>
                  <a:srgbClr val="1AA1A4"/>
                </a:solidFill>
                <a:latin typeface="黑体" panose="02010609060101010101" pitchFamily="49" charset="-122"/>
                <a:ea typeface="黑体" panose="02010609060101010101" pitchFamily="49" charset="-122"/>
              </a:rPr>
              <a:t>分支和取</a:t>
            </a:r>
            <a:r>
              <a:rPr lang="zh-CN" altLang="en-US" sz="2000" b="1">
                <a:solidFill>
                  <a:srgbClr val="EF8D2B"/>
                </a:solidFill>
                <a:latin typeface="黑体" panose="02010609060101010101" pitchFamily="49" charset="-122"/>
                <a:ea typeface="黑体" panose="02010609060101010101" pitchFamily="49" charset="-122"/>
              </a:rPr>
              <a:t>假</a:t>
            </a:r>
            <a:r>
              <a:rPr lang="zh-CN" altLang="en-US" sz="2000">
                <a:solidFill>
                  <a:srgbClr val="1AA1A4"/>
                </a:solidFill>
                <a:latin typeface="黑体" panose="02010609060101010101" pitchFamily="49" charset="-122"/>
                <a:ea typeface="黑体" panose="02010609060101010101" pitchFamily="49" charset="-122"/>
              </a:rPr>
              <a:t>分支至少经历一次。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90059"/>
                                        </p:tgtEl>
                                        <p:attrNameLst>
                                          <p:attrName>style.visibility</p:attrName>
                                        </p:attrNameLst>
                                      </p:cBhvr>
                                      <p:to>
                                        <p:strVal val="visible"/>
                                      </p:to>
                                    </p:set>
                                    <p:animEffect transition="in" filter="blinds(horizontal)">
                                      <p:cBhvr>
                                        <p:cTn id="7" dur="500"/>
                                        <p:tgtEl>
                                          <p:spTgt spid="23900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0059" grpId="0" animBg="1" autoUpdateAnimBg="0"/>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占位符 1">
            <a:extLst>
              <a:ext uri="{FF2B5EF4-FFF2-40B4-BE49-F238E27FC236}">
                <a16:creationId xmlns:a16="http://schemas.microsoft.com/office/drawing/2014/main" id="{992D172C-CD58-4690-923A-C2C1ABD67253}"/>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4FF2B515-0696-4419-8A70-02E0AC0A059A}"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31747" name="Rectangle 51">
            <a:extLst>
              <a:ext uri="{FF2B5EF4-FFF2-40B4-BE49-F238E27FC236}">
                <a16:creationId xmlns:a16="http://schemas.microsoft.com/office/drawing/2014/main" id="{2112706D-07D3-43A9-9574-1C509EE3514C}"/>
              </a:ext>
            </a:extLst>
          </p:cNvPr>
          <p:cNvSpPr>
            <a:spLocks noChangeArrowheads="1"/>
          </p:cNvSpPr>
          <p:nvPr/>
        </p:nvSpPr>
        <p:spPr bwMode="auto">
          <a:xfrm>
            <a:off x="3048000" y="838200"/>
            <a:ext cx="7239000" cy="1066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endParaRPr lang="zh-CN" altLang="en-US" sz="2800">
              <a:solidFill>
                <a:schemeClr val="tx1"/>
              </a:solidFill>
              <a:latin typeface="Times New Roman" panose="02020603050405020304" pitchFamily="18" charset="0"/>
              <a:ea typeface="楷体_GB2312" pitchFamily="49" charset="-122"/>
            </a:endParaRPr>
          </a:p>
        </p:txBody>
      </p:sp>
      <p:grpSp>
        <p:nvGrpSpPr>
          <p:cNvPr id="31748" name="Group 52">
            <a:extLst>
              <a:ext uri="{FF2B5EF4-FFF2-40B4-BE49-F238E27FC236}">
                <a16:creationId xmlns:a16="http://schemas.microsoft.com/office/drawing/2014/main" id="{43BE3E80-538F-4F51-A807-FFA50F93CCC0}"/>
              </a:ext>
            </a:extLst>
          </p:cNvPr>
          <p:cNvGrpSpPr>
            <a:grpSpLocks/>
          </p:cNvGrpSpPr>
          <p:nvPr/>
        </p:nvGrpSpPr>
        <p:grpSpPr bwMode="auto">
          <a:xfrm>
            <a:off x="3657600" y="1066800"/>
            <a:ext cx="3733800" cy="3810000"/>
            <a:chOff x="1344" y="672"/>
            <a:chExt cx="2352" cy="2400"/>
          </a:xfrm>
        </p:grpSpPr>
        <p:sp>
          <p:nvSpPr>
            <p:cNvPr id="2392066" name="Text Box 2">
              <a:extLst>
                <a:ext uri="{FF2B5EF4-FFF2-40B4-BE49-F238E27FC236}">
                  <a16:creationId xmlns:a16="http://schemas.microsoft.com/office/drawing/2014/main" id="{D7730D85-0D26-4303-8595-A571E56AA1EF}"/>
                </a:ext>
              </a:extLst>
            </p:cNvPr>
            <p:cNvSpPr txBox="1">
              <a:spLocks noChangeArrowheads="1"/>
            </p:cNvSpPr>
            <p:nvPr/>
          </p:nvSpPr>
          <p:spPr bwMode="auto">
            <a:xfrm>
              <a:off x="1344" y="1200"/>
              <a:ext cx="223"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b</a:t>
              </a:r>
            </a:p>
          </p:txBody>
        </p:sp>
        <p:sp>
          <p:nvSpPr>
            <p:cNvPr id="2392067" name="Text Box 3">
              <a:extLst>
                <a:ext uri="{FF2B5EF4-FFF2-40B4-BE49-F238E27FC236}">
                  <a16:creationId xmlns:a16="http://schemas.microsoft.com/office/drawing/2014/main" id="{DBCB5005-7E1E-42CC-ADE4-38F100460E3A}"/>
                </a:ext>
              </a:extLst>
            </p:cNvPr>
            <p:cNvSpPr txBox="1">
              <a:spLocks noChangeArrowheads="1"/>
            </p:cNvSpPr>
            <p:nvPr/>
          </p:nvSpPr>
          <p:spPr bwMode="auto">
            <a:xfrm>
              <a:off x="1344" y="2160"/>
              <a:ext cx="223"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d</a:t>
              </a:r>
            </a:p>
          </p:txBody>
        </p:sp>
        <p:sp>
          <p:nvSpPr>
            <p:cNvPr id="2392068" name="Text Box 4">
              <a:extLst>
                <a:ext uri="{FF2B5EF4-FFF2-40B4-BE49-F238E27FC236}">
                  <a16:creationId xmlns:a16="http://schemas.microsoft.com/office/drawing/2014/main" id="{1486F852-3951-45D7-91FB-C1FBEBC5D52E}"/>
                </a:ext>
              </a:extLst>
            </p:cNvPr>
            <p:cNvSpPr txBox="1">
              <a:spLocks noChangeArrowheads="1"/>
            </p:cNvSpPr>
            <p:nvPr/>
          </p:nvSpPr>
          <p:spPr bwMode="auto">
            <a:xfrm>
              <a:off x="2256" y="672"/>
              <a:ext cx="288" cy="288"/>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a</a:t>
              </a:r>
            </a:p>
          </p:txBody>
        </p:sp>
        <p:sp>
          <p:nvSpPr>
            <p:cNvPr id="2392071" name="Text Box 7">
              <a:extLst>
                <a:ext uri="{FF2B5EF4-FFF2-40B4-BE49-F238E27FC236}">
                  <a16:creationId xmlns:a16="http://schemas.microsoft.com/office/drawing/2014/main" id="{DB3CB05F-1BBC-48CC-99EC-414D6A6988E0}"/>
                </a:ext>
              </a:extLst>
            </p:cNvPr>
            <p:cNvSpPr txBox="1">
              <a:spLocks noChangeArrowheads="1"/>
            </p:cNvSpPr>
            <p:nvPr/>
          </p:nvSpPr>
          <p:spPr bwMode="auto">
            <a:xfrm>
              <a:off x="3264" y="1200"/>
              <a:ext cx="223" cy="288"/>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c</a:t>
              </a:r>
            </a:p>
          </p:txBody>
        </p:sp>
        <p:sp>
          <p:nvSpPr>
            <p:cNvPr id="2392072" name="Text Box 8">
              <a:extLst>
                <a:ext uri="{FF2B5EF4-FFF2-40B4-BE49-F238E27FC236}">
                  <a16:creationId xmlns:a16="http://schemas.microsoft.com/office/drawing/2014/main" id="{044CF11A-1BE5-4A9E-96DE-47E9DC71C0B7}"/>
                </a:ext>
              </a:extLst>
            </p:cNvPr>
            <p:cNvSpPr txBox="1">
              <a:spLocks noChangeArrowheads="1"/>
            </p:cNvSpPr>
            <p:nvPr/>
          </p:nvSpPr>
          <p:spPr bwMode="auto">
            <a:xfrm>
              <a:off x="3312" y="2160"/>
              <a:ext cx="201"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e</a:t>
              </a:r>
            </a:p>
          </p:txBody>
        </p:sp>
        <p:grpSp>
          <p:nvGrpSpPr>
            <p:cNvPr id="31770" name="Group 9">
              <a:extLst>
                <a:ext uri="{FF2B5EF4-FFF2-40B4-BE49-F238E27FC236}">
                  <a16:creationId xmlns:a16="http://schemas.microsoft.com/office/drawing/2014/main" id="{01838A08-0B6D-4676-A35D-C52F0D51B596}"/>
                </a:ext>
              </a:extLst>
            </p:cNvPr>
            <p:cNvGrpSpPr>
              <a:grpSpLocks/>
            </p:cNvGrpSpPr>
            <p:nvPr/>
          </p:nvGrpSpPr>
          <p:grpSpPr bwMode="auto">
            <a:xfrm>
              <a:off x="1584" y="960"/>
              <a:ext cx="2112" cy="2112"/>
              <a:chOff x="1200" y="1488"/>
              <a:chExt cx="2112" cy="2112"/>
            </a:xfrm>
          </p:grpSpPr>
          <p:sp>
            <p:nvSpPr>
              <p:cNvPr id="31771" name="AutoShape 10">
                <a:extLst>
                  <a:ext uri="{FF2B5EF4-FFF2-40B4-BE49-F238E27FC236}">
                    <a16:creationId xmlns:a16="http://schemas.microsoft.com/office/drawing/2014/main" id="{8482B818-0C7F-47F7-B526-3391443ECD98}"/>
                  </a:ext>
                </a:extLst>
              </p:cNvPr>
              <p:cNvSpPr>
                <a:spLocks noChangeArrowheads="1"/>
              </p:cNvSpPr>
              <p:nvPr/>
            </p:nvSpPr>
            <p:spPr bwMode="auto">
              <a:xfrm>
                <a:off x="1296" y="1680"/>
                <a:ext cx="1440" cy="288"/>
              </a:xfrm>
              <a:prstGeom prst="flowChartDecision">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(A&gt;1) ^ (B=0)</a:t>
                </a:r>
              </a:p>
            </p:txBody>
          </p:sp>
          <p:sp>
            <p:nvSpPr>
              <p:cNvPr id="31772" name="Line 11">
                <a:extLst>
                  <a:ext uri="{FF2B5EF4-FFF2-40B4-BE49-F238E27FC236}">
                    <a16:creationId xmlns:a16="http://schemas.microsoft.com/office/drawing/2014/main" id="{EBCC53D6-C73A-45BF-BEA3-557AFB082612}"/>
                  </a:ext>
                </a:extLst>
              </p:cNvPr>
              <p:cNvSpPr>
                <a:spLocks noChangeShapeType="1"/>
              </p:cNvSpPr>
              <p:nvPr/>
            </p:nvSpPr>
            <p:spPr bwMode="auto">
              <a:xfrm>
                <a:off x="1200" y="1824"/>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73" name="Line 12">
                <a:extLst>
                  <a:ext uri="{FF2B5EF4-FFF2-40B4-BE49-F238E27FC236}">
                    <a16:creationId xmlns:a16="http://schemas.microsoft.com/office/drawing/2014/main" id="{C00B87C4-7BEF-4B14-BD7F-B8CF6D7A51A2}"/>
                  </a:ext>
                </a:extLst>
              </p:cNvPr>
              <p:cNvSpPr>
                <a:spLocks noChangeShapeType="1"/>
              </p:cNvSpPr>
              <p:nvPr/>
            </p:nvSpPr>
            <p:spPr bwMode="auto">
              <a:xfrm>
                <a:off x="2880" y="182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4" name="Rectangle 13">
                <a:extLst>
                  <a:ext uri="{FF2B5EF4-FFF2-40B4-BE49-F238E27FC236}">
                    <a16:creationId xmlns:a16="http://schemas.microsoft.com/office/drawing/2014/main" id="{CB0EFE8D-8CD0-4DE0-8BEF-7E1EC8D2706F}"/>
                  </a:ext>
                </a:extLst>
              </p:cNvPr>
              <p:cNvSpPr>
                <a:spLocks noChangeArrowheads="1"/>
              </p:cNvSpPr>
              <p:nvPr/>
            </p:nvSpPr>
            <p:spPr bwMode="auto">
              <a:xfrm>
                <a:off x="2496" y="2016"/>
                <a:ext cx="768" cy="288"/>
              </a:xfrm>
              <a:prstGeom prst="rect">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X=X/A</a:t>
                </a:r>
              </a:p>
            </p:txBody>
          </p:sp>
          <p:sp>
            <p:nvSpPr>
              <p:cNvPr id="31775" name="Line 14">
                <a:extLst>
                  <a:ext uri="{FF2B5EF4-FFF2-40B4-BE49-F238E27FC236}">
                    <a16:creationId xmlns:a16="http://schemas.microsoft.com/office/drawing/2014/main" id="{58734D7C-FB67-4275-B24D-9FEE0C8E8BC1}"/>
                  </a:ext>
                </a:extLst>
              </p:cNvPr>
              <p:cNvSpPr>
                <a:spLocks noChangeShapeType="1"/>
              </p:cNvSpPr>
              <p:nvPr/>
            </p:nvSpPr>
            <p:spPr bwMode="auto">
              <a:xfrm>
                <a:off x="1200" y="1824"/>
                <a:ext cx="0" cy="672"/>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76" name="Line 15">
                <a:extLst>
                  <a:ext uri="{FF2B5EF4-FFF2-40B4-BE49-F238E27FC236}">
                    <a16:creationId xmlns:a16="http://schemas.microsoft.com/office/drawing/2014/main" id="{D13ED1E4-9694-4648-B273-5B962841F86E}"/>
                  </a:ext>
                </a:extLst>
              </p:cNvPr>
              <p:cNvSpPr>
                <a:spLocks noChangeShapeType="1"/>
              </p:cNvSpPr>
              <p:nvPr/>
            </p:nvSpPr>
            <p:spPr bwMode="auto">
              <a:xfrm>
                <a:off x="1200" y="2496"/>
                <a:ext cx="1680"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77" name="Line 16">
                <a:extLst>
                  <a:ext uri="{FF2B5EF4-FFF2-40B4-BE49-F238E27FC236}">
                    <a16:creationId xmlns:a16="http://schemas.microsoft.com/office/drawing/2014/main" id="{1D1179F8-C00D-42B4-AE04-EFC050D0DF61}"/>
                  </a:ext>
                </a:extLst>
              </p:cNvPr>
              <p:cNvSpPr>
                <a:spLocks noChangeShapeType="1"/>
              </p:cNvSpPr>
              <p:nvPr/>
            </p:nvSpPr>
            <p:spPr bwMode="auto">
              <a:xfrm>
                <a:off x="2016" y="2496"/>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8" name="Line 17">
                <a:extLst>
                  <a:ext uri="{FF2B5EF4-FFF2-40B4-BE49-F238E27FC236}">
                    <a16:creationId xmlns:a16="http://schemas.microsoft.com/office/drawing/2014/main" id="{7A184B12-45E1-4F12-967A-8B6D3824917A}"/>
                  </a:ext>
                </a:extLst>
              </p:cNvPr>
              <p:cNvSpPr>
                <a:spLocks noChangeShapeType="1"/>
              </p:cNvSpPr>
              <p:nvPr/>
            </p:nvSpPr>
            <p:spPr bwMode="auto">
              <a:xfrm>
                <a:off x="2016" y="1488"/>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9" name="Text Box 18">
                <a:extLst>
                  <a:ext uri="{FF2B5EF4-FFF2-40B4-BE49-F238E27FC236}">
                    <a16:creationId xmlns:a16="http://schemas.microsoft.com/office/drawing/2014/main" id="{8E060C98-45DA-4DEA-B649-568B775C2AB5}"/>
                  </a:ext>
                </a:extLst>
              </p:cNvPr>
              <p:cNvSpPr txBox="1">
                <a:spLocks noChangeArrowheads="1"/>
              </p:cNvSpPr>
              <p:nvPr/>
            </p:nvSpPr>
            <p:spPr bwMode="auto">
              <a:xfrm>
                <a:off x="2739" y="1631"/>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ea typeface="文鼎细圆" pitchFamily="49" charset="-122"/>
                  </a:rPr>
                  <a:t>T</a:t>
                </a:r>
              </a:p>
            </p:txBody>
          </p:sp>
          <p:sp>
            <p:nvSpPr>
              <p:cNvPr id="31780" name="Text Box 19">
                <a:extLst>
                  <a:ext uri="{FF2B5EF4-FFF2-40B4-BE49-F238E27FC236}">
                    <a16:creationId xmlns:a16="http://schemas.microsoft.com/office/drawing/2014/main" id="{373A97A1-324F-43DD-A2DC-A62FC7CC672A}"/>
                  </a:ext>
                </a:extLst>
              </p:cNvPr>
              <p:cNvSpPr txBox="1">
                <a:spLocks noChangeArrowheads="1"/>
              </p:cNvSpPr>
              <p:nvPr/>
            </p:nvSpPr>
            <p:spPr bwMode="auto">
              <a:xfrm>
                <a:off x="1200" y="1632"/>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ea typeface="文鼎细圆" pitchFamily="49" charset="-122"/>
                  </a:rPr>
                  <a:t>F</a:t>
                </a:r>
              </a:p>
            </p:txBody>
          </p:sp>
          <p:sp>
            <p:nvSpPr>
              <p:cNvPr id="31781" name="Line 20">
                <a:extLst>
                  <a:ext uri="{FF2B5EF4-FFF2-40B4-BE49-F238E27FC236}">
                    <a16:creationId xmlns:a16="http://schemas.microsoft.com/office/drawing/2014/main" id="{688D765C-AC8A-4B23-AD2F-D7EC5D0E5FB8}"/>
                  </a:ext>
                </a:extLst>
              </p:cNvPr>
              <p:cNvSpPr>
                <a:spLocks noChangeShapeType="1"/>
              </p:cNvSpPr>
              <p:nvPr/>
            </p:nvSpPr>
            <p:spPr bwMode="auto">
              <a:xfrm>
                <a:off x="2736" y="1824"/>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82" name="Line 21">
                <a:extLst>
                  <a:ext uri="{FF2B5EF4-FFF2-40B4-BE49-F238E27FC236}">
                    <a16:creationId xmlns:a16="http://schemas.microsoft.com/office/drawing/2014/main" id="{D7889AC1-F040-431A-B13F-34EBED61BA53}"/>
                  </a:ext>
                </a:extLst>
              </p:cNvPr>
              <p:cNvSpPr>
                <a:spLocks noChangeShapeType="1"/>
              </p:cNvSpPr>
              <p:nvPr/>
            </p:nvSpPr>
            <p:spPr bwMode="auto">
              <a:xfrm>
                <a:off x="2880" y="230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83" name="AutoShape 22">
                <a:extLst>
                  <a:ext uri="{FF2B5EF4-FFF2-40B4-BE49-F238E27FC236}">
                    <a16:creationId xmlns:a16="http://schemas.microsoft.com/office/drawing/2014/main" id="{E4026790-C7BA-4476-9F38-53CC87483A47}"/>
                  </a:ext>
                </a:extLst>
              </p:cNvPr>
              <p:cNvSpPr>
                <a:spLocks noChangeArrowheads="1"/>
              </p:cNvSpPr>
              <p:nvPr/>
            </p:nvSpPr>
            <p:spPr bwMode="auto">
              <a:xfrm>
                <a:off x="1344" y="2640"/>
                <a:ext cx="1344" cy="288"/>
              </a:xfrm>
              <a:prstGeom prst="flowChartDecision">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(A=2) V (X&gt;1)</a:t>
                </a:r>
              </a:p>
            </p:txBody>
          </p:sp>
          <p:sp>
            <p:nvSpPr>
              <p:cNvPr id="31784" name="Rectangle 23">
                <a:extLst>
                  <a:ext uri="{FF2B5EF4-FFF2-40B4-BE49-F238E27FC236}">
                    <a16:creationId xmlns:a16="http://schemas.microsoft.com/office/drawing/2014/main" id="{D1AA8CA8-2A34-4189-A49C-F81638EE4CE2}"/>
                  </a:ext>
                </a:extLst>
              </p:cNvPr>
              <p:cNvSpPr>
                <a:spLocks noChangeArrowheads="1"/>
              </p:cNvSpPr>
              <p:nvPr/>
            </p:nvSpPr>
            <p:spPr bwMode="auto">
              <a:xfrm>
                <a:off x="2544" y="2976"/>
                <a:ext cx="768" cy="288"/>
              </a:xfrm>
              <a:prstGeom prst="rect">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X=X+1</a:t>
                </a:r>
              </a:p>
            </p:txBody>
          </p:sp>
          <p:sp>
            <p:nvSpPr>
              <p:cNvPr id="31785" name="Text Box 24">
                <a:extLst>
                  <a:ext uri="{FF2B5EF4-FFF2-40B4-BE49-F238E27FC236}">
                    <a16:creationId xmlns:a16="http://schemas.microsoft.com/office/drawing/2014/main" id="{CC1126E3-7BD6-447E-ADD9-D7BADC3D639F}"/>
                  </a:ext>
                </a:extLst>
              </p:cNvPr>
              <p:cNvSpPr txBox="1">
                <a:spLocks noChangeArrowheads="1"/>
              </p:cNvSpPr>
              <p:nvPr/>
            </p:nvSpPr>
            <p:spPr bwMode="auto">
              <a:xfrm>
                <a:off x="2643" y="2591"/>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ea typeface="文鼎细圆" pitchFamily="49" charset="-122"/>
                  </a:rPr>
                  <a:t>T</a:t>
                </a:r>
              </a:p>
            </p:txBody>
          </p:sp>
          <p:sp>
            <p:nvSpPr>
              <p:cNvPr id="31786" name="Line 25">
                <a:extLst>
                  <a:ext uri="{FF2B5EF4-FFF2-40B4-BE49-F238E27FC236}">
                    <a16:creationId xmlns:a16="http://schemas.microsoft.com/office/drawing/2014/main" id="{A460FD6B-7A02-4510-9621-020CFCDE5C4A}"/>
                  </a:ext>
                </a:extLst>
              </p:cNvPr>
              <p:cNvSpPr>
                <a:spLocks noChangeShapeType="1"/>
              </p:cNvSpPr>
              <p:nvPr/>
            </p:nvSpPr>
            <p:spPr bwMode="auto">
              <a:xfrm>
                <a:off x="1200" y="2784"/>
                <a:ext cx="0" cy="624"/>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87" name="Line 26">
                <a:extLst>
                  <a:ext uri="{FF2B5EF4-FFF2-40B4-BE49-F238E27FC236}">
                    <a16:creationId xmlns:a16="http://schemas.microsoft.com/office/drawing/2014/main" id="{E402E574-70CE-443E-BF7B-C663D6D01CBB}"/>
                  </a:ext>
                </a:extLst>
              </p:cNvPr>
              <p:cNvSpPr>
                <a:spLocks noChangeShapeType="1"/>
              </p:cNvSpPr>
              <p:nvPr/>
            </p:nvSpPr>
            <p:spPr bwMode="auto">
              <a:xfrm>
                <a:off x="1200" y="3408"/>
                <a:ext cx="1680"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88" name="Text Box 27">
                <a:extLst>
                  <a:ext uri="{FF2B5EF4-FFF2-40B4-BE49-F238E27FC236}">
                    <a16:creationId xmlns:a16="http://schemas.microsoft.com/office/drawing/2014/main" id="{84F95110-1A0E-4BC0-A3C4-DAAC035B4314}"/>
                  </a:ext>
                </a:extLst>
              </p:cNvPr>
              <p:cNvSpPr txBox="1">
                <a:spLocks noChangeArrowheads="1"/>
              </p:cNvSpPr>
              <p:nvPr/>
            </p:nvSpPr>
            <p:spPr bwMode="auto">
              <a:xfrm>
                <a:off x="1200" y="2544"/>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ea typeface="文鼎细圆" pitchFamily="49" charset="-122"/>
                  </a:rPr>
                  <a:t>F</a:t>
                </a:r>
              </a:p>
            </p:txBody>
          </p:sp>
          <p:sp>
            <p:nvSpPr>
              <p:cNvPr id="31789" name="Line 28">
                <a:extLst>
                  <a:ext uri="{FF2B5EF4-FFF2-40B4-BE49-F238E27FC236}">
                    <a16:creationId xmlns:a16="http://schemas.microsoft.com/office/drawing/2014/main" id="{C3E80067-FE88-424C-8129-183712AC29A5}"/>
                  </a:ext>
                </a:extLst>
              </p:cNvPr>
              <p:cNvSpPr>
                <a:spLocks noChangeShapeType="1"/>
              </p:cNvSpPr>
              <p:nvPr/>
            </p:nvSpPr>
            <p:spPr bwMode="auto">
              <a:xfrm>
                <a:off x="2688" y="2784"/>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90" name="Line 29">
                <a:extLst>
                  <a:ext uri="{FF2B5EF4-FFF2-40B4-BE49-F238E27FC236}">
                    <a16:creationId xmlns:a16="http://schemas.microsoft.com/office/drawing/2014/main" id="{DFCC921D-2262-4AAA-B9D0-39802DD6555E}"/>
                  </a:ext>
                </a:extLst>
              </p:cNvPr>
              <p:cNvSpPr>
                <a:spLocks noChangeShapeType="1"/>
              </p:cNvSpPr>
              <p:nvPr/>
            </p:nvSpPr>
            <p:spPr bwMode="auto">
              <a:xfrm>
                <a:off x="2880" y="278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91" name="Line 30">
                <a:extLst>
                  <a:ext uri="{FF2B5EF4-FFF2-40B4-BE49-F238E27FC236}">
                    <a16:creationId xmlns:a16="http://schemas.microsoft.com/office/drawing/2014/main" id="{234DEDAD-F08A-4E73-9DF8-66D44AA406EC}"/>
                  </a:ext>
                </a:extLst>
              </p:cNvPr>
              <p:cNvSpPr>
                <a:spLocks noChangeShapeType="1"/>
              </p:cNvSpPr>
              <p:nvPr/>
            </p:nvSpPr>
            <p:spPr bwMode="auto">
              <a:xfrm>
                <a:off x="2880" y="3264"/>
                <a:ext cx="0" cy="144"/>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92" name="Line 31">
                <a:extLst>
                  <a:ext uri="{FF2B5EF4-FFF2-40B4-BE49-F238E27FC236}">
                    <a16:creationId xmlns:a16="http://schemas.microsoft.com/office/drawing/2014/main" id="{E945EA86-3CBA-4BCC-94EA-00799D57F514}"/>
                  </a:ext>
                </a:extLst>
              </p:cNvPr>
              <p:cNvSpPr>
                <a:spLocks noChangeShapeType="1"/>
              </p:cNvSpPr>
              <p:nvPr/>
            </p:nvSpPr>
            <p:spPr bwMode="auto">
              <a:xfrm>
                <a:off x="2064" y="3408"/>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93" name="Line 32">
                <a:extLst>
                  <a:ext uri="{FF2B5EF4-FFF2-40B4-BE49-F238E27FC236}">
                    <a16:creationId xmlns:a16="http://schemas.microsoft.com/office/drawing/2014/main" id="{C9E2882B-F585-4A2C-B081-6266CADFD40A}"/>
                  </a:ext>
                </a:extLst>
              </p:cNvPr>
              <p:cNvSpPr>
                <a:spLocks noChangeShapeType="1"/>
              </p:cNvSpPr>
              <p:nvPr/>
            </p:nvSpPr>
            <p:spPr bwMode="auto">
              <a:xfrm>
                <a:off x="1200" y="2784"/>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2392098" name="Rectangle 34">
            <a:extLst>
              <a:ext uri="{FF2B5EF4-FFF2-40B4-BE49-F238E27FC236}">
                <a16:creationId xmlns:a16="http://schemas.microsoft.com/office/drawing/2014/main" id="{7FEFD6F5-E5CC-4322-8811-A251019CD020}"/>
              </a:ext>
            </a:extLst>
          </p:cNvPr>
          <p:cNvSpPr>
            <a:spLocks noChangeArrowheads="1"/>
          </p:cNvSpPr>
          <p:nvPr/>
        </p:nvSpPr>
        <p:spPr bwMode="auto">
          <a:xfrm>
            <a:off x="8001000" y="2133600"/>
            <a:ext cx="1524000" cy="685800"/>
          </a:xfrm>
          <a:prstGeom prst="rect">
            <a:avLst/>
          </a:prstGeom>
          <a:solidFill>
            <a:schemeClr val="bg1"/>
          </a:solidFill>
          <a:ln w="9525">
            <a:solidFill>
              <a:srgbClr val="70E5E8"/>
            </a:solidFill>
            <a:miter lim="800000"/>
            <a:headEnd/>
            <a:tailEnd/>
          </a:ln>
          <a:effectLst>
            <a:outerShdw dist="107763" dir="2700000" algn="ctr" rotWithShape="0">
              <a:schemeClr val="bg2"/>
            </a:outerShdw>
          </a:effec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000">
                <a:solidFill>
                  <a:srgbClr val="1AA1A4"/>
                </a:solidFill>
                <a:latin typeface="Times New Roman" panose="02020603050405020304" pitchFamily="18" charset="0"/>
                <a:ea typeface="黑体" panose="02010609060101010101" pitchFamily="49" charset="-122"/>
              </a:rPr>
              <a:t>2，0，4</a:t>
            </a:r>
          </a:p>
          <a:p>
            <a:pPr algn="ctr">
              <a:spcBef>
                <a:spcPct val="0"/>
              </a:spcBef>
              <a:buFontTx/>
              <a:buNone/>
            </a:pPr>
            <a:r>
              <a:rPr lang="zh-CN" altLang="en-US" sz="2000">
                <a:solidFill>
                  <a:srgbClr val="1AA1A4"/>
                </a:solidFill>
                <a:latin typeface="Times New Roman" panose="02020603050405020304" pitchFamily="18" charset="0"/>
                <a:ea typeface="黑体" panose="02010609060101010101" pitchFamily="49" charset="-122"/>
              </a:rPr>
              <a:t>2，0，3</a:t>
            </a:r>
            <a:endParaRPr lang="en-US" altLang="zh-CN" sz="2000">
              <a:solidFill>
                <a:srgbClr val="1AA1A4"/>
              </a:solidFill>
              <a:latin typeface="Times New Roman" panose="02020603050405020304" pitchFamily="18" charset="0"/>
              <a:ea typeface="黑体" panose="02010609060101010101" pitchFamily="49" charset="-122"/>
            </a:endParaRPr>
          </a:p>
        </p:txBody>
      </p:sp>
      <p:sp>
        <p:nvSpPr>
          <p:cNvPr id="2392100" name="AutoShape 36">
            <a:extLst>
              <a:ext uri="{FF2B5EF4-FFF2-40B4-BE49-F238E27FC236}">
                <a16:creationId xmlns:a16="http://schemas.microsoft.com/office/drawing/2014/main" id="{BA3814F7-CE12-4086-A160-487307678E26}"/>
              </a:ext>
            </a:extLst>
          </p:cNvPr>
          <p:cNvSpPr>
            <a:spLocks noChangeArrowheads="1"/>
          </p:cNvSpPr>
          <p:nvPr/>
        </p:nvSpPr>
        <p:spPr bwMode="auto">
          <a:xfrm>
            <a:off x="7924800" y="1295400"/>
            <a:ext cx="1905000" cy="685800"/>
          </a:xfrm>
          <a:prstGeom prst="wedgeRectCallout">
            <a:avLst>
              <a:gd name="adj1" fmla="val -21000"/>
              <a:gd name="adj2" fmla="val 91204"/>
            </a:avLst>
          </a:prstGeom>
          <a:solidFill>
            <a:schemeClr val="bg1"/>
          </a:solidFill>
          <a:ln w="9525">
            <a:solidFill>
              <a:srgbClr val="1AA1A4"/>
            </a:solidFill>
            <a:miter lim="800000"/>
            <a:headEnd/>
            <a:tailEnd/>
          </a:ln>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800">
                <a:solidFill>
                  <a:srgbClr val="1AA1A4"/>
                </a:solidFill>
                <a:latin typeface="Times New Roman" panose="02020603050405020304" pitchFamily="18" charset="0"/>
                <a:ea typeface="黑体" panose="02010609060101010101" pitchFamily="49" charset="-122"/>
              </a:rPr>
              <a:t>取“</a:t>
            </a:r>
            <a:r>
              <a:rPr lang="zh-CN" altLang="en-US" sz="1800">
                <a:solidFill>
                  <a:srgbClr val="EF8D2B"/>
                </a:solidFill>
                <a:latin typeface="Times New Roman" panose="02020603050405020304" pitchFamily="18" charset="0"/>
                <a:ea typeface="黑体" panose="02010609060101010101" pitchFamily="49" charset="-122"/>
              </a:rPr>
              <a:t>真</a:t>
            </a:r>
            <a:r>
              <a:rPr lang="zh-CN" altLang="en-US" sz="1800">
                <a:solidFill>
                  <a:srgbClr val="1AA1A4"/>
                </a:solidFill>
                <a:latin typeface="Times New Roman" panose="02020603050405020304" pitchFamily="18" charset="0"/>
                <a:ea typeface="黑体" panose="02010609060101010101" pitchFamily="49" charset="-122"/>
              </a:rPr>
              <a:t>”分支</a:t>
            </a:r>
          </a:p>
          <a:p>
            <a:pPr algn="ctr">
              <a:spcBef>
                <a:spcPct val="0"/>
              </a:spcBef>
              <a:buFontTx/>
              <a:buNone/>
            </a:pPr>
            <a:r>
              <a:rPr lang="zh-CN" altLang="en-US" sz="1800">
                <a:solidFill>
                  <a:srgbClr val="1AA1A4"/>
                </a:solidFill>
                <a:latin typeface="Times New Roman" panose="02020603050405020304" pitchFamily="18" charset="0"/>
                <a:ea typeface="黑体" panose="02010609060101010101" pitchFamily="49" charset="-122"/>
              </a:rPr>
              <a:t>测试用例如下</a:t>
            </a:r>
          </a:p>
        </p:txBody>
      </p:sp>
      <p:sp>
        <p:nvSpPr>
          <p:cNvPr id="2392101" name="Rectangle 37">
            <a:extLst>
              <a:ext uri="{FF2B5EF4-FFF2-40B4-BE49-F238E27FC236}">
                <a16:creationId xmlns:a16="http://schemas.microsoft.com/office/drawing/2014/main" id="{57B6714D-924F-44F8-9372-4524C3A35FBE}"/>
              </a:ext>
            </a:extLst>
          </p:cNvPr>
          <p:cNvSpPr>
            <a:spLocks noChangeArrowheads="1"/>
          </p:cNvSpPr>
          <p:nvPr/>
        </p:nvSpPr>
        <p:spPr bwMode="auto">
          <a:xfrm>
            <a:off x="4495800" y="5105400"/>
            <a:ext cx="457200" cy="457200"/>
          </a:xfrm>
          <a:prstGeom prst="rect">
            <a:avLst/>
          </a:prstGeom>
          <a:solidFill>
            <a:schemeClr val="bg1"/>
          </a:solidFill>
          <a:ln w="9525">
            <a:noFill/>
            <a:miter lim="800000"/>
            <a:headEnd/>
            <a:tailEnd/>
          </a:ln>
          <a:effectLst/>
        </p:spPr>
        <p:txBody>
          <a:bodyPr wrap="none" anchor="ctr"/>
          <a:lstStyle/>
          <a:p>
            <a:pPr algn="ctr">
              <a:defRPr/>
            </a:pPr>
            <a:r>
              <a:rPr lang="en-US" altLang="zh-CN" sz="2400">
                <a:solidFill>
                  <a:srgbClr val="F535F0"/>
                </a:solidFill>
                <a:effectLst>
                  <a:outerShdw blurRad="38100" dist="38100" dir="2700000" algn="tl">
                    <a:srgbClr val="000000"/>
                  </a:outerShdw>
                </a:effectLst>
                <a:latin typeface="Arial" charset="0"/>
                <a:ea typeface="黑体" pitchFamily="2" charset="-122"/>
              </a:rPr>
              <a:t>a</a:t>
            </a:r>
          </a:p>
        </p:txBody>
      </p:sp>
      <p:sp>
        <p:nvSpPr>
          <p:cNvPr id="2392102" name="Rectangle 38">
            <a:extLst>
              <a:ext uri="{FF2B5EF4-FFF2-40B4-BE49-F238E27FC236}">
                <a16:creationId xmlns:a16="http://schemas.microsoft.com/office/drawing/2014/main" id="{2F043B9C-CD49-4B84-B835-F5DEF1CDCA33}"/>
              </a:ext>
            </a:extLst>
          </p:cNvPr>
          <p:cNvSpPr>
            <a:spLocks noChangeArrowheads="1"/>
          </p:cNvSpPr>
          <p:nvPr/>
        </p:nvSpPr>
        <p:spPr bwMode="auto">
          <a:xfrm>
            <a:off x="5105400" y="5105400"/>
            <a:ext cx="457200" cy="457200"/>
          </a:xfrm>
          <a:prstGeom prst="rect">
            <a:avLst/>
          </a:prstGeom>
          <a:solidFill>
            <a:schemeClr val="bg1"/>
          </a:solidFill>
          <a:ln w="9525">
            <a:noFill/>
            <a:miter lim="800000"/>
            <a:headEnd/>
            <a:tailEnd/>
          </a:ln>
          <a:effectLst/>
        </p:spPr>
        <p:txBody>
          <a:bodyPr wrap="none" anchor="ctr"/>
          <a:lstStyle/>
          <a:p>
            <a:pPr algn="ctr">
              <a:defRPr/>
            </a:pPr>
            <a:r>
              <a:rPr lang="en-US" altLang="zh-CN" sz="2400">
                <a:solidFill>
                  <a:srgbClr val="F535F0"/>
                </a:solidFill>
                <a:effectLst>
                  <a:outerShdw blurRad="38100" dist="38100" dir="2700000" algn="tl">
                    <a:srgbClr val="000000"/>
                  </a:outerShdw>
                </a:effectLst>
                <a:latin typeface="Arial" charset="0"/>
                <a:ea typeface="黑体" pitchFamily="2" charset="-122"/>
              </a:rPr>
              <a:t>c</a:t>
            </a:r>
          </a:p>
        </p:txBody>
      </p:sp>
      <p:sp>
        <p:nvSpPr>
          <p:cNvPr id="2392103" name="Rectangle 39">
            <a:extLst>
              <a:ext uri="{FF2B5EF4-FFF2-40B4-BE49-F238E27FC236}">
                <a16:creationId xmlns:a16="http://schemas.microsoft.com/office/drawing/2014/main" id="{6C48D3E0-4E91-4F7B-A3A5-315CB78FF260}"/>
              </a:ext>
            </a:extLst>
          </p:cNvPr>
          <p:cNvSpPr>
            <a:spLocks noChangeArrowheads="1"/>
          </p:cNvSpPr>
          <p:nvPr/>
        </p:nvSpPr>
        <p:spPr bwMode="auto">
          <a:xfrm>
            <a:off x="5791200" y="5105400"/>
            <a:ext cx="457200" cy="457200"/>
          </a:xfrm>
          <a:prstGeom prst="rect">
            <a:avLst/>
          </a:prstGeom>
          <a:solidFill>
            <a:schemeClr val="bg1"/>
          </a:solidFill>
          <a:ln w="9525">
            <a:noFill/>
            <a:miter lim="800000"/>
            <a:headEnd/>
            <a:tailEnd/>
          </a:ln>
          <a:effectLst/>
        </p:spPr>
        <p:txBody>
          <a:bodyPr wrap="none" anchor="ctr"/>
          <a:lstStyle/>
          <a:p>
            <a:pPr algn="ctr">
              <a:defRPr/>
            </a:pPr>
            <a:r>
              <a:rPr lang="en-US" altLang="zh-CN" sz="2400">
                <a:solidFill>
                  <a:srgbClr val="F535F0"/>
                </a:solidFill>
                <a:effectLst>
                  <a:outerShdw blurRad="38100" dist="38100" dir="2700000" algn="tl">
                    <a:srgbClr val="000000"/>
                  </a:outerShdw>
                </a:effectLst>
                <a:latin typeface="Arial" charset="0"/>
                <a:ea typeface="黑体" pitchFamily="2" charset="-122"/>
              </a:rPr>
              <a:t>e</a:t>
            </a:r>
          </a:p>
        </p:txBody>
      </p:sp>
      <p:sp>
        <p:nvSpPr>
          <p:cNvPr id="2392104" name="Rectangle 40">
            <a:extLst>
              <a:ext uri="{FF2B5EF4-FFF2-40B4-BE49-F238E27FC236}">
                <a16:creationId xmlns:a16="http://schemas.microsoft.com/office/drawing/2014/main" id="{638821FF-5B54-41B5-9F1D-820EB18F842A}"/>
              </a:ext>
            </a:extLst>
          </p:cNvPr>
          <p:cNvSpPr>
            <a:spLocks noChangeArrowheads="1"/>
          </p:cNvSpPr>
          <p:nvPr/>
        </p:nvSpPr>
        <p:spPr bwMode="auto">
          <a:xfrm>
            <a:off x="4800600" y="5181600"/>
            <a:ext cx="457200"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a:solidFill>
                  <a:srgbClr val="F535F0"/>
                </a:solidFill>
                <a:ea typeface="黑体" panose="02010609060101010101" pitchFamily="49" charset="-122"/>
              </a:rPr>
              <a:t>--</a:t>
            </a:r>
          </a:p>
        </p:txBody>
      </p:sp>
      <p:sp>
        <p:nvSpPr>
          <p:cNvPr id="2392105" name="Rectangle 41">
            <a:extLst>
              <a:ext uri="{FF2B5EF4-FFF2-40B4-BE49-F238E27FC236}">
                <a16:creationId xmlns:a16="http://schemas.microsoft.com/office/drawing/2014/main" id="{CFAF5D8E-C1C4-4D6C-8032-D38D3E3DA523}"/>
              </a:ext>
            </a:extLst>
          </p:cNvPr>
          <p:cNvSpPr>
            <a:spLocks noChangeArrowheads="1"/>
          </p:cNvSpPr>
          <p:nvPr/>
        </p:nvSpPr>
        <p:spPr bwMode="auto">
          <a:xfrm>
            <a:off x="5410200" y="5181600"/>
            <a:ext cx="457200"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a:solidFill>
                  <a:srgbClr val="F535F0"/>
                </a:solidFill>
                <a:ea typeface="黑体" panose="02010609060101010101" pitchFamily="49" charset="-122"/>
              </a:rPr>
              <a:t>--</a:t>
            </a:r>
          </a:p>
        </p:txBody>
      </p:sp>
      <p:sp>
        <p:nvSpPr>
          <p:cNvPr id="2392108" name="Rectangle 44">
            <a:extLst>
              <a:ext uri="{FF2B5EF4-FFF2-40B4-BE49-F238E27FC236}">
                <a16:creationId xmlns:a16="http://schemas.microsoft.com/office/drawing/2014/main" id="{46946C14-058C-42A5-8E87-B3A319F19A5C}"/>
              </a:ext>
            </a:extLst>
          </p:cNvPr>
          <p:cNvSpPr>
            <a:spLocks noChangeArrowheads="1"/>
          </p:cNvSpPr>
          <p:nvPr/>
        </p:nvSpPr>
        <p:spPr bwMode="auto">
          <a:xfrm>
            <a:off x="4495800" y="5638800"/>
            <a:ext cx="457200" cy="457200"/>
          </a:xfrm>
          <a:prstGeom prst="rect">
            <a:avLst/>
          </a:prstGeom>
          <a:solidFill>
            <a:schemeClr val="bg1"/>
          </a:solidFill>
          <a:ln w="9525">
            <a:noFill/>
            <a:miter lim="800000"/>
            <a:headEnd/>
            <a:tailEnd/>
          </a:ln>
          <a:effectLst/>
        </p:spPr>
        <p:txBody>
          <a:bodyPr wrap="none" anchor="ctr"/>
          <a:lstStyle/>
          <a:p>
            <a:pPr algn="ctr">
              <a:defRPr/>
            </a:pPr>
            <a:r>
              <a:rPr lang="en-US" altLang="zh-CN" sz="2400">
                <a:solidFill>
                  <a:srgbClr val="1AA1A4"/>
                </a:solidFill>
                <a:effectLst>
                  <a:outerShdw blurRad="38100" dist="38100" dir="2700000" algn="tl">
                    <a:srgbClr val="000000"/>
                  </a:outerShdw>
                </a:effectLst>
                <a:latin typeface="Arial" charset="0"/>
                <a:ea typeface="黑体" pitchFamily="2" charset="-122"/>
              </a:rPr>
              <a:t>a</a:t>
            </a:r>
          </a:p>
        </p:txBody>
      </p:sp>
      <p:sp>
        <p:nvSpPr>
          <p:cNvPr id="2392109" name="Rectangle 45">
            <a:extLst>
              <a:ext uri="{FF2B5EF4-FFF2-40B4-BE49-F238E27FC236}">
                <a16:creationId xmlns:a16="http://schemas.microsoft.com/office/drawing/2014/main" id="{91F7B9A0-5A31-48D9-BEB1-277D6AACC522}"/>
              </a:ext>
            </a:extLst>
          </p:cNvPr>
          <p:cNvSpPr>
            <a:spLocks noChangeArrowheads="1"/>
          </p:cNvSpPr>
          <p:nvPr/>
        </p:nvSpPr>
        <p:spPr bwMode="auto">
          <a:xfrm>
            <a:off x="5105400" y="5638800"/>
            <a:ext cx="457200" cy="457200"/>
          </a:xfrm>
          <a:prstGeom prst="rect">
            <a:avLst/>
          </a:prstGeom>
          <a:solidFill>
            <a:schemeClr val="bg1"/>
          </a:solidFill>
          <a:ln w="9525">
            <a:noFill/>
            <a:miter lim="800000"/>
            <a:headEnd/>
            <a:tailEnd/>
          </a:ln>
          <a:effectLst/>
        </p:spPr>
        <p:txBody>
          <a:bodyPr wrap="none" anchor="ctr"/>
          <a:lstStyle/>
          <a:p>
            <a:pPr algn="ctr">
              <a:defRPr/>
            </a:pPr>
            <a:r>
              <a:rPr lang="en-US" altLang="zh-CN" sz="2400">
                <a:solidFill>
                  <a:srgbClr val="1AA1A4"/>
                </a:solidFill>
                <a:effectLst>
                  <a:outerShdw blurRad="38100" dist="38100" dir="2700000" algn="tl">
                    <a:srgbClr val="000000"/>
                  </a:outerShdw>
                </a:effectLst>
                <a:latin typeface="Arial" charset="0"/>
                <a:ea typeface="黑体" pitchFamily="2" charset="-122"/>
              </a:rPr>
              <a:t>b</a:t>
            </a:r>
          </a:p>
        </p:txBody>
      </p:sp>
      <p:sp>
        <p:nvSpPr>
          <p:cNvPr id="2392110" name="Rectangle 46">
            <a:extLst>
              <a:ext uri="{FF2B5EF4-FFF2-40B4-BE49-F238E27FC236}">
                <a16:creationId xmlns:a16="http://schemas.microsoft.com/office/drawing/2014/main" id="{A53B24F6-F4BD-4715-96AF-F5FD3DC92AAE}"/>
              </a:ext>
            </a:extLst>
          </p:cNvPr>
          <p:cNvSpPr>
            <a:spLocks noChangeArrowheads="1"/>
          </p:cNvSpPr>
          <p:nvPr/>
        </p:nvSpPr>
        <p:spPr bwMode="auto">
          <a:xfrm>
            <a:off x="5791200" y="5638800"/>
            <a:ext cx="457200" cy="457200"/>
          </a:xfrm>
          <a:prstGeom prst="rect">
            <a:avLst/>
          </a:prstGeom>
          <a:solidFill>
            <a:schemeClr val="bg1"/>
          </a:solidFill>
          <a:ln w="9525">
            <a:noFill/>
            <a:miter lim="800000"/>
            <a:headEnd/>
            <a:tailEnd/>
          </a:ln>
          <a:effectLst/>
        </p:spPr>
        <p:txBody>
          <a:bodyPr wrap="none" anchor="ctr"/>
          <a:lstStyle/>
          <a:p>
            <a:pPr algn="ctr">
              <a:defRPr/>
            </a:pPr>
            <a:r>
              <a:rPr lang="en-US" altLang="zh-CN" sz="2400">
                <a:solidFill>
                  <a:srgbClr val="1AA1A4"/>
                </a:solidFill>
                <a:effectLst>
                  <a:outerShdw blurRad="38100" dist="38100" dir="2700000" algn="tl">
                    <a:srgbClr val="000000"/>
                  </a:outerShdw>
                </a:effectLst>
                <a:latin typeface="Arial" charset="0"/>
                <a:ea typeface="黑体" pitchFamily="2" charset="-122"/>
              </a:rPr>
              <a:t>d</a:t>
            </a:r>
          </a:p>
        </p:txBody>
      </p:sp>
      <p:sp>
        <p:nvSpPr>
          <p:cNvPr id="2392111" name="Rectangle 47">
            <a:extLst>
              <a:ext uri="{FF2B5EF4-FFF2-40B4-BE49-F238E27FC236}">
                <a16:creationId xmlns:a16="http://schemas.microsoft.com/office/drawing/2014/main" id="{20463617-8D93-49A5-80A0-241535E042DC}"/>
              </a:ext>
            </a:extLst>
          </p:cNvPr>
          <p:cNvSpPr>
            <a:spLocks noChangeArrowheads="1"/>
          </p:cNvSpPr>
          <p:nvPr/>
        </p:nvSpPr>
        <p:spPr bwMode="auto">
          <a:xfrm>
            <a:off x="4800600" y="5715000"/>
            <a:ext cx="457200"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a:solidFill>
                  <a:srgbClr val="1AA1A4"/>
                </a:solidFill>
                <a:ea typeface="黑体" panose="02010609060101010101" pitchFamily="49" charset="-122"/>
              </a:rPr>
              <a:t>--</a:t>
            </a:r>
          </a:p>
        </p:txBody>
      </p:sp>
      <p:sp>
        <p:nvSpPr>
          <p:cNvPr id="2392112" name="Rectangle 48">
            <a:extLst>
              <a:ext uri="{FF2B5EF4-FFF2-40B4-BE49-F238E27FC236}">
                <a16:creationId xmlns:a16="http://schemas.microsoft.com/office/drawing/2014/main" id="{6A7BFECA-58E5-42EB-BF6F-9EA2F4ACB426}"/>
              </a:ext>
            </a:extLst>
          </p:cNvPr>
          <p:cNvSpPr>
            <a:spLocks noChangeArrowheads="1"/>
          </p:cNvSpPr>
          <p:nvPr/>
        </p:nvSpPr>
        <p:spPr bwMode="auto">
          <a:xfrm>
            <a:off x="5410200" y="5715000"/>
            <a:ext cx="457200"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a:solidFill>
                  <a:srgbClr val="1AA1A4"/>
                </a:solidFill>
                <a:ea typeface="黑体" panose="02010609060101010101" pitchFamily="49" charset="-122"/>
              </a:rPr>
              <a:t>--</a:t>
            </a:r>
          </a:p>
        </p:txBody>
      </p:sp>
      <p:sp>
        <p:nvSpPr>
          <p:cNvPr id="2392113" name="Rectangle 49">
            <a:extLst>
              <a:ext uri="{FF2B5EF4-FFF2-40B4-BE49-F238E27FC236}">
                <a16:creationId xmlns:a16="http://schemas.microsoft.com/office/drawing/2014/main" id="{7CA267CA-FFFB-4CFB-BF18-06B9C5B743DB}"/>
              </a:ext>
            </a:extLst>
          </p:cNvPr>
          <p:cNvSpPr>
            <a:spLocks noChangeArrowheads="1"/>
          </p:cNvSpPr>
          <p:nvPr/>
        </p:nvSpPr>
        <p:spPr bwMode="auto">
          <a:xfrm>
            <a:off x="8001000" y="3048000"/>
            <a:ext cx="1524000" cy="685800"/>
          </a:xfrm>
          <a:prstGeom prst="rect">
            <a:avLst/>
          </a:prstGeom>
          <a:solidFill>
            <a:schemeClr val="bg1"/>
          </a:solidFill>
          <a:ln w="9525">
            <a:solidFill>
              <a:srgbClr val="70E5E8"/>
            </a:solidFill>
            <a:miter lim="800000"/>
            <a:headEnd/>
            <a:tailEnd/>
          </a:ln>
          <a:effectLst>
            <a:outerShdw dist="107763" dir="2700000" algn="ctr" rotWithShape="0">
              <a:schemeClr val="bg2"/>
            </a:outerShdw>
          </a:effec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000">
                <a:solidFill>
                  <a:srgbClr val="EF8D2B"/>
                </a:solidFill>
                <a:latin typeface="Times New Roman" panose="02020603050405020304" pitchFamily="18" charset="0"/>
                <a:ea typeface="黑体" panose="02010609060101010101" pitchFamily="49" charset="-122"/>
              </a:rPr>
              <a:t>1，1，1</a:t>
            </a:r>
          </a:p>
          <a:p>
            <a:pPr algn="ctr">
              <a:spcBef>
                <a:spcPct val="0"/>
              </a:spcBef>
              <a:buFontTx/>
              <a:buNone/>
            </a:pPr>
            <a:r>
              <a:rPr lang="zh-CN" altLang="en-US" sz="2000">
                <a:solidFill>
                  <a:srgbClr val="EF8D2B"/>
                </a:solidFill>
                <a:latin typeface="Times New Roman" panose="02020603050405020304" pitchFamily="18" charset="0"/>
                <a:ea typeface="黑体" panose="02010609060101010101" pitchFamily="49" charset="-122"/>
              </a:rPr>
              <a:t>1，1，1</a:t>
            </a:r>
            <a:endParaRPr lang="en-US" altLang="zh-CN" sz="2000">
              <a:solidFill>
                <a:srgbClr val="EF8D2B"/>
              </a:solidFill>
              <a:latin typeface="Times New Roman" panose="02020603050405020304" pitchFamily="18" charset="0"/>
              <a:ea typeface="黑体" panose="02010609060101010101" pitchFamily="49" charset="-122"/>
            </a:endParaRPr>
          </a:p>
        </p:txBody>
      </p:sp>
      <p:sp>
        <p:nvSpPr>
          <p:cNvPr id="2392114" name="AutoShape 50">
            <a:extLst>
              <a:ext uri="{FF2B5EF4-FFF2-40B4-BE49-F238E27FC236}">
                <a16:creationId xmlns:a16="http://schemas.microsoft.com/office/drawing/2014/main" id="{566194B6-03A1-4B6A-B18D-996FC57882B7}"/>
              </a:ext>
            </a:extLst>
          </p:cNvPr>
          <p:cNvSpPr>
            <a:spLocks noChangeArrowheads="1"/>
          </p:cNvSpPr>
          <p:nvPr/>
        </p:nvSpPr>
        <p:spPr bwMode="auto">
          <a:xfrm>
            <a:off x="7924800" y="4038600"/>
            <a:ext cx="1905000" cy="685800"/>
          </a:xfrm>
          <a:prstGeom prst="wedgeRectCallout">
            <a:avLst>
              <a:gd name="adj1" fmla="val -24333"/>
              <a:gd name="adj2" fmla="val -105093"/>
            </a:avLst>
          </a:prstGeom>
          <a:solidFill>
            <a:schemeClr val="bg1"/>
          </a:solidFill>
          <a:ln w="9525">
            <a:solidFill>
              <a:srgbClr val="1AA1A4"/>
            </a:solidFill>
            <a:miter lim="800000"/>
            <a:headEnd/>
            <a:tailEnd/>
          </a:ln>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800">
                <a:solidFill>
                  <a:srgbClr val="1AA1A4"/>
                </a:solidFill>
                <a:latin typeface="Times New Roman" panose="02020603050405020304" pitchFamily="18" charset="0"/>
                <a:ea typeface="黑体" panose="02010609060101010101" pitchFamily="49" charset="-122"/>
              </a:rPr>
              <a:t>取“</a:t>
            </a:r>
            <a:r>
              <a:rPr lang="zh-CN" altLang="en-US" sz="1800">
                <a:solidFill>
                  <a:srgbClr val="EF8D2B"/>
                </a:solidFill>
                <a:latin typeface="Times New Roman" panose="02020603050405020304" pitchFamily="18" charset="0"/>
                <a:ea typeface="黑体" panose="02010609060101010101" pitchFamily="49" charset="-122"/>
              </a:rPr>
              <a:t>假</a:t>
            </a:r>
            <a:r>
              <a:rPr lang="zh-CN" altLang="en-US" sz="1800">
                <a:solidFill>
                  <a:srgbClr val="1AA1A4"/>
                </a:solidFill>
                <a:latin typeface="Times New Roman" panose="02020603050405020304" pitchFamily="18" charset="0"/>
                <a:ea typeface="黑体" panose="02010609060101010101" pitchFamily="49" charset="-122"/>
              </a:rPr>
              <a:t>”分支</a:t>
            </a:r>
          </a:p>
          <a:p>
            <a:pPr algn="ctr">
              <a:spcBef>
                <a:spcPct val="0"/>
              </a:spcBef>
              <a:buFontTx/>
              <a:buNone/>
            </a:pPr>
            <a:r>
              <a:rPr lang="zh-CN" altLang="en-US" sz="1800">
                <a:solidFill>
                  <a:srgbClr val="1AA1A4"/>
                </a:solidFill>
                <a:latin typeface="Times New Roman" panose="02020603050405020304" pitchFamily="18" charset="0"/>
                <a:ea typeface="黑体" panose="02010609060101010101" pitchFamily="49" charset="-122"/>
              </a:rPr>
              <a:t>测试用例如下</a:t>
            </a:r>
          </a:p>
        </p:txBody>
      </p:sp>
      <p:sp>
        <p:nvSpPr>
          <p:cNvPr id="2392117" name="Rectangle 53">
            <a:extLst>
              <a:ext uri="{FF2B5EF4-FFF2-40B4-BE49-F238E27FC236}">
                <a16:creationId xmlns:a16="http://schemas.microsoft.com/office/drawing/2014/main" id="{0C1AB552-07ED-41F9-B924-3CC9686725C9}"/>
              </a:ext>
            </a:extLst>
          </p:cNvPr>
          <p:cNvSpPr>
            <a:spLocks noChangeArrowheads="1"/>
          </p:cNvSpPr>
          <p:nvPr/>
        </p:nvSpPr>
        <p:spPr bwMode="auto">
          <a:xfrm>
            <a:off x="6400800" y="5105400"/>
            <a:ext cx="457200" cy="457200"/>
          </a:xfrm>
          <a:prstGeom prst="rect">
            <a:avLst/>
          </a:prstGeom>
          <a:solidFill>
            <a:schemeClr val="bg1"/>
          </a:solidFill>
          <a:ln w="9525">
            <a:noFill/>
            <a:miter lim="800000"/>
            <a:headEnd/>
            <a:tailEnd/>
          </a:ln>
          <a:effectLst/>
        </p:spPr>
        <p:txBody>
          <a:bodyPr wrap="none" anchor="ctr"/>
          <a:lstStyle/>
          <a:p>
            <a:pPr algn="ctr">
              <a:defRPr/>
            </a:pPr>
            <a:r>
              <a:rPr lang="en-US" altLang="zh-CN" sz="2000">
                <a:solidFill>
                  <a:srgbClr val="49AB39"/>
                </a:solidFill>
                <a:effectLst>
                  <a:outerShdw blurRad="38100" dist="38100" dir="2700000" algn="tl">
                    <a:srgbClr val="000000"/>
                  </a:outerShdw>
                </a:effectLst>
                <a:latin typeface="Arial" charset="0"/>
                <a:ea typeface="黑体" pitchFamily="2" charset="-122"/>
              </a:rPr>
              <a:t>L1</a:t>
            </a:r>
          </a:p>
        </p:txBody>
      </p:sp>
      <p:sp>
        <p:nvSpPr>
          <p:cNvPr id="2392118" name="Rectangle 54">
            <a:extLst>
              <a:ext uri="{FF2B5EF4-FFF2-40B4-BE49-F238E27FC236}">
                <a16:creationId xmlns:a16="http://schemas.microsoft.com/office/drawing/2014/main" id="{0BA81DB2-6D15-4E26-B770-29947DD2A3B8}"/>
              </a:ext>
            </a:extLst>
          </p:cNvPr>
          <p:cNvSpPr>
            <a:spLocks noChangeArrowheads="1"/>
          </p:cNvSpPr>
          <p:nvPr/>
        </p:nvSpPr>
        <p:spPr bwMode="auto">
          <a:xfrm>
            <a:off x="6400800" y="5638800"/>
            <a:ext cx="457200" cy="457200"/>
          </a:xfrm>
          <a:prstGeom prst="rect">
            <a:avLst/>
          </a:prstGeom>
          <a:solidFill>
            <a:schemeClr val="bg1"/>
          </a:solidFill>
          <a:ln w="9525">
            <a:noFill/>
            <a:miter lim="800000"/>
            <a:headEnd/>
            <a:tailEnd/>
          </a:ln>
          <a:effectLst/>
        </p:spPr>
        <p:txBody>
          <a:bodyPr wrap="none" anchor="ctr"/>
          <a:lstStyle/>
          <a:p>
            <a:pPr algn="ctr">
              <a:defRPr/>
            </a:pPr>
            <a:r>
              <a:rPr lang="en-US" altLang="zh-CN" sz="2000">
                <a:solidFill>
                  <a:srgbClr val="49AB39"/>
                </a:solidFill>
                <a:effectLst>
                  <a:outerShdw blurRad="38100" dist="38100" dir="2700000" algn="tl">
                    <a:srgbClr val="000000"/>
                  </a:outerShdw>
                </a:effectLst>
                <a:latin typeface="Arial" charset="0"/>
                <a:ea typeface="黑体" pitchFamily="2" charset="-122"/>
              </a:rPr>
              <a:t>L2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392100"/>
                                        </p:tgtEl>
                                        <p:attrNameLst>
                                          <p:attrName>style.visibility</p:attrName>
                                        </p:attrNameLst>
                                      </p:cBhvr>
                                      <p:to>
                                        <p:strVal val="visible"/>
                                      </p:to>
                                    </p:set>
                                    <p:animEffect transition="in" filter="blinds(vertical)">
                                      <p:cBhvr>
                                        <p:cTn id="7" dur="500"/>
                                        <p:tgtEl>
                                          <p:spTgt spid="23921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2392098"/>
                                        </p:tgtEl>
                                        <p:attrNameLst>
                                          <p:attrName>style.visibility</p:attrName>
                                        </p:attrNameLst>
                                      </p:cBhvr>
                                      <p:to>
                                        <p:strVal val="visible"/>
                                      </p:to>
                                    </p:set>
                                    <p:animEffect transition="in" filter="blinds(vertical)">
                                      <p:cBhvr>
                                        <p:cTn id="12" dur="500"/>
                                        <p:tgtEl>
                                          <p:spTgt spid="23920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2392101"/>
                                        </p:tgtEl>
                                        <p:attrNameLst>
                                          <p:attrName>style.visibility</p:attrName>
                                        </p:attrNameLst>
                                      </p:cBhvr>
                                      <p:to>
                                        <p:strVal val="visible"/>
                                      </p:to>
                                    </p:set>
                                    <p:animEffect transition="in" filter="blinds(vertical)">
                                      <p:cBhvr>
                                        <p:cTn id="17" dur="500"/>
                                        <p:tgtEl>
                                          <p:spTgt spid="239210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2392104"/>
                                        </p:tgtEl>
                                        <p:attrNameLst>
                                          <p:attrName>style.visibility</p:attrName>
                                        </p:attrNameLst>
                                      </p:cBhvr>
                                      <p:to>
                                        <p:strVal val="visible"/>
                                      </p:to>
                                    </p:set>
                                    <p:animEffect transition="in" filter="blinds(vertical)">
                                      <p:cBhvr>
                                        <p:cTn id="22" dur="500"/>
                                        <p:tgtEl>
                                          <p:spTgt spid="239210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2392102"/>
                                        </p:tgtEl>
                                        <p:attrNameLst>
                                          <p:attrName>style.visibility</p:attrName>
                                        </p:attrNameLst>
                                      </p:cBhvr>
                                      <p:to>
                                        <p:strVal val="visible"/>
                                      </p:to>
                                    </p:set>
                                    <p:animEffect transition="in" filter="blinds(vertical)">
                                      <p:cBhvr>
                                        <p:cTn id="27" dur="500"/>
                                        <p:tgtEl>
                                          <p:spTgt spid="239210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5" fill="hold" grpId="0" nodeType="clickEffect">
                                  <p:stCondLst>
                                    <p:cond delay="0"/>
                                  </p:stCondLst>
                                  <p:childTnLst>
                                    <p:set>
                                      <p:cBhvr>
                                        <p:cTn id="31" dur="1" fill="hold">
                                          <p:stCondLst>
                                            <p:cond delay="0"/>
                                          </p:stCondLst>
                                        </p:cTn>
                                        <p:tgtEl>
                                          <p:spTgt spid="2392105"/>
                                        </p:tgtEl>
                                        <p:attrNameLst>
                                          <p:attrName>style.visibility</p:attrName>
                                        </p:attrNameLst>
                                      </p:cBhvr>
                                      <p:to>
                                        <p:strVal val="visible"/>
                                      </p:to>
                                    </p:set>
                                    <p:animEffect transition="in" filter="blinds(vertical)">
                                      <p:cBhvr>
                                        <p:cTn id="32" dur="500"/>
                                        <p:tgtEl>
                                          <p:spTgt spid="239210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5" fill="hold" grpId="0" nodeType="clickEffect">
                                  <p:stCondLst>
                                    <p:cond delay="0"/>
                                  </p:stCondLst>
                                  <p:childTnLst>
                                    <p:set>
                                      <p:cBhvr>
                                        <p:cTn id="36" dur="1" fill="hold">
                                          <p:stCondLst>
                                            <p:cond delay="0"/>
                                          </p:stCondLst>
                                        </p:cTn>
                                        <p:tgtEl>
                                          <p:spTgt spid="2392103"/>
                                        </p:tgtEl>
                                        <p:attrNameLst>
                                          <p:attrName>style.visibility</p:attrName>
                                        </p:attrNameLst>
                                      </p:cBhvr>
                                      <p:to>
                                        <p:strVal val="visible"/>
                                      </p:to>
                                    </p:set>
                                    <p:animEffect transition="in" filter="blinds(vertical)">
                                      <p:cBhvr>
                                        <p:cTn id="37" dur="500"/>
                                        <p:tgtEl>
                                          <p:spTgt spid="239210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5" fill="hold" grpId="0" nodeType="clickEffect">
                                  <p:stCondLst>
                                    <p:cond delay="0"/>
                                  </p:stCondLst>
                                  <p:childTnLst>
                                    <p:set>
                                      <p:cBhvr>
                                        <p:cTn id="41" dur="1" fill="hold">
                                          <p:stCondLst>
                                            <p:cond delay="0"/>
                                          </p:stCondLst>
                                        </p:cTn>
                                        <p:tgtEl>
                                          <p:spTgt spid="2392117"/>
                                        </p:tgtEl>
                                        <p:attrNameLst>
                                          <p:attrName>style.visibility</p:attrName>
                                        </p:attrNameLst>
                                      </p:cBhvr>
                                      <p:to>
                                        <p:strVal val="visible"/>
                                      </p:to>
                                    </p:set>
                                    <p:animEffect transition="in" filter="blinds(vertical)">
                                      <p:cBhvr>
                                        <p:cTn id="42" dur="500"/>
                                        <p:tgtEl>
                                          <p:spTgt spid="239211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5" fill="hold" grpId="0" nodeType="clickEffect">
                                  <p:stCondLst>
                                    <p:cond delay="0"/>
                                  </p:stCondLst>
                                  <p:childTnLst>
                                    <p:set>
                                      <p:cBhvr>
                                        <p:cTn id="46" dur="1" fill="hold">
                                          <p:stCondLst>
                                            <p:cond delay="0"/>
                                          </p:stCondLst>
                                        </p:cTn>
                                        <p:tgtEl>
                                          <p:spTgt spid="2392114"/>
                                        </p:tgtEl>
                                        <p:attrNameLst>
                                          <p:attrName>style.visibility</p:attrName>
                                        </p:attrNameLst>
                                      </p:cBhvr>
                                      <p:to>
                                        <p:strVal val="visible"/>
                                      </p:to>
                                    </p:set>
                                    <p:animEffect transition="in" filter="blinds(vertical)">
                                      <p:cBhvr>
                                        <p:cTn id="47" dur="500"/>
                                        <p:tgtEl>
                                          <p:spTgt spid="239211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5" fill="hold" grpId="0" nodeType="clickEffect">
                                  <p:stCondLst>
                                    <p:cond delay="0"/>
                                  </p:stCondLst>
                                  <p:childTnLst>
                                    <p:set>
                                      <p:cBhvr>
                                        <p:cTn id="51" dur="1" fill="hold">
                                          <p:stCondLst>
                                            <p:cond delay="0"/>
                                          </p:stCondLst>
                                        </p:cTn>
                                        <p:tgtEl>
                                          <p:spTgt spid="2392113"/>
                                        </p:tgtEl>
                                        <p:attrNameLst>
                                          <p:attrName>style.visibility</p:attrName>
                                        </p:attrNameLst>
                                      </p:cBhvr>
                                      <p:to>
                                        <p:strVal val="visible"/>
                                      </p:to>
                                    </p:set>
                                    <p:animEffect transition="in" filter="blinds(vertical)">
                                      <p:cBhvr>
                                        <p:cTn id="52" dur="500"/>
                                        <p:tgtEl>
                                          <p:spTgt spid="239211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5" fill="hold" grpId="0" nodeType="clickEffect">
                                  <p:stCondLst>
                                    <p:cond delay="0"/>
                                  </p:stCondLst>
                                  <p:childTnLst>
                                    <p:set>
                                      <p:cBhvr>
                                        <p:cTn id="56" dur="1" fill="hold">
                                          <p:stCondLst>
                                            <p:cond delay="0"/>
                                          </p:stCondLst>
                                        </p:cTn>
                                        <p:tgtEl>
                                          <p:spTgt spid="2392108"/>
                                        </p:tgtEl>
                                        <p:attrNameLst>
                                          <p:attrName>style.visibility</p:attrName>
                                        </p:attrNameLst>
                                      </p:cBhvr>
                                      <p:to>
                                        <p:strVal val="visible"/>
                                      </p:to>
                                    </p:set>
                                    <p:animEffect transition="in" filter="blinds(vertical)">
                                      <p:cBhvr>
                                        <p:cTn id="57" dur="500"/>
                                        <p:tgtEl>
                                          <p:spTgt spid="239210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5" fill="hold" grpId="0" nodeType="clickEffect">
                                  <p:stCondLst>
                                    <p:cond delay="0"/>
                                  </p:stCondLst>
                                  <p:childTnLst>
                                    <p:set>
                                      <p:cBhvr>
                                        <p:cTn id="61" dur="1" fill="hold">
                                          <p:stCondLst>
                                            <p:cond delay="0"/>
                                          </p:stCondLst>
                                        </p:cTn>
                                        <p:tgtEl>
                                          <p:spTgt spid="2392111"/>
                                        </p:tgtEl>
                                        <p:attrNameLst>
                                          <p:attrName>style.visibility</p:attrName>
                                        </p:attrNameLst>
                                      </p:cBhvr>
                                      <p:to>
                                        <p:strVal val="visible"/>
                                      </p:to>
                                    </p:set>
                                    <p:animEffect transition="in" filter="blinds(vertical)">
                                      <p:cBhvr>
                                        <p:cTn id="62" dur="500"/>
                                        <p:tgtEl>
                                          <p:spTgt spid="239211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5" fill="hold" grpId="0" nodeType="clickEffect">
                                  <p:stCondLst>
                                    <p:cond delay="0"/>
                                  </p:stCondLst>
                                  <p:childTnLst>
                                    <p:set>
                                      <p:cBhvr>
                                        <p:cTn id="66" dur="1" fill="hold">
                                          <p:stCondLst>
                                            <p:cond delay="0"/>
                                          </p:stCondLst>
                                        </p:cTn>
                                        <p:tgtEl>
                                          <p:spTgt spid="2392109"/>
                                        </p:tgtEl>
                                        <p:attrNameLst>
                                          <p:attrName>style.visibility</p:attrName>
                                        </p:attrNameLst>
                                      </p:cBhvr>
                                      <p:to>
                                        <p:strVal val="visible"/>
                                      </p:to>
                                    </p:set>
                                    <p:animEffect transition="in" filter="blinds(vertical)">
                                      <p:cBhvr>
                                        <p:cTn id="67" dur="500"/>
                                        <p:tgtEl>
                                          <p:spTgt spid="239210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5" fill="hold" grpId="0" nodeType="clickEffect">
                                  <p:stCondLst>
                                    <p:cond delay="0"/>
                                  </p:stCondLst>
                                  <p:childTnLst>
                                    <p:set>
                                      <p:cBhvr>
                                        <p:cTn id="71" dur="1" fill="hold">
                                          <p:stCondLst>
                                            <p:cond delay="0"/>
                                          </p:stCondLst>
                                        </p:cTn>
                                        <p:tgtEl>
                                          <p:spTgt spid="2392112"/>
                                        </p:tgtEl>
                                        <p:attrNameLst>
                                          <p:attrName>style.visibility</p:attrName>
                                        </p:attrNameLst>
                                      </p:cBhvr>
                                      <p:to>
                                        <p:strVal val="visible"/>
                                      </p:to>
                                    </p:set>
                                    <p:animEffect transition="in" filter="blinds(vertical)">
                                      <p:cBhvr>
                                        <p:cTn id="72" dur="500"/>
                                        <p:tgtEl>
                                          <p:spTgt spid="239211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5" fill="hold" grpId="0" nodeType="clickEffect">
                                  <p:stCondLst>
                                    <p:cond delay="0"/>
                                  </p:stCondLst>
                                  <p:childTnLst>
                                    <p:set>
                                      <p:cBhvr>
                                        <p:cTn id="76" dur="1" fill="hold">
                                          <p:stCondLst>
                                            <p:cond delay="0"/>
                                          </p:stCondLst>
                                        </p:cTn>
                                        <p:tgtEl>
                                          <p:spTgt spid="2392110"/>
                                        </p:tgtEl>
                                        <p:attrNameLst>
                                          <p:attrName>style.visibility</p:attrName>
                                        </p:attrNameLst>
                                      </p:cBhvr>
                                      <p:to>
                                        <p:strVal val="visible"/>
                                      </p:to>
                                    </p:set>
                                    <p:animEffect transition="in" filter="blinds(vertical)">
                                      <p:cBhvr>
                                        <p:cTn id="77" dur="500"/>
                                        <p:tgtEl>
                                          <p:spTgt spid="2392110"/>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5" fill="hold" grpId="0" nodeType="clickEffect">
                                  <p:stCondLst>
                                    <p:cond delay="0"/>
                                  </p:stCondLst>
                                  <p:childTnLst>
                                    <p:set>
                                      <p:cBhvr>
                                        <p:cTn id="81" dur="1" fill="hold">
                                          <p:stCondLst>
                                            <p:cond delay="0"/>
                                          </p:stCondLst>
                                        </p:cTn>
                                        <p:tgtEl>
                                          <p:spTgt spid="2392118"/>
                                        </p:tgtEl>
                                        <p:attrNameLst>
                                          <p:attrName>style.visibility</p:attrName>
                                        </p:attrNameLst>
                                      </p:cBhvr>
                                      <p:to>
                                        <p:strVal val="visible"/>
                                      </p:to>
                                    </p:set>
                                    <p:animEffect transition="in" filter="blinds(vertical)">
                                      <p:cBhvr>
                                        <p:cTn id="82" dur="500"/>
                                        <p:tgtEl>
                                          <p:spTgt spid="2392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2098" grpId="0" animBg="1" autoUpdateAnimBg="0"/>
      <p:bldP spid="2392100" grpId="0" animBg="1" autoUpdateAnimBg="0"/>
      <p:bldP spid="2392101" grpId="0" animBg="1" autoUpdateAnimBg="0"/>
      <p:bldP spid="2392102" grpId="0" animBg="1" autoUpdateAnimBg="0"/>
      <p:bldP spid="2392103" grpId="0" animBg="1" autoUpdateAnimBg="0"/>
      <p:bldP spid="2392104" grpId="0" animBg="1" autoUpdateAnimBg="0"/>
      <p:bldP spid="2392105" grpId="0" animBg="1" autoUpdateAnimBg="0"/>
      <p:bldP spid="2392108" grpId="0" animBg="1" autoUpdateAnimBg="0"/>
      <p:bldP spid="2392109" grpId="0" animBg="1" autoUpdateAnimBg="0"/>
      <p:bldP spid="2392110" grpId="0" animBg="1" autoUpdateAnimBg="0"/>
      <p:bldP spid="2392111" grpId="0" animBg="1" autoUpdateAnimBg="0"/>
      <p:bldP spid="2392112" grpId="0" animBg="1" autoUpdateAnimBg="0"/>
      <p:bldP spid="2392113" grpId="0" animBg="1" autoUpdateAnimBg="0"/>
      <p:bldP spid="2392114" grpId="0" animBg="1" autoUpdateAnimBg="0"/>
      <p:bldP spid="2392117" grpId="0" animBg="1" autoUpdateAnimBg="0"/>
      <p:bldP spid="2392118" grpId="0" animBg="1" autoUpdateAnimBg="0"/>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日期占位符 1">
            <a:extLst>
              <a:ext uri="{FF2B5EF4-FFF2-40B4-BE49-F238E27FC236}">
                <a16:creationId xmlns:a16="http://schemas.microsoft.com/office/drawing/2014/main" id="{985D2C3D-2B23-41FA-AEC9-524C34DD02A3}"/>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521570BD-3E69-4CDF-9FA7-1E3C4703A176}"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33795" name="Rectangle 2">
            <a:extLst>
              <a:ext uri="{FF2B5EF4-FFF2-40B4-BE49-F238E27FC236}">
                <a16:creationId xmlns:a16="http://schemas.microsoft.com/office/drawing/2014/main" id="{82354852-005C-492D-A78F-D4B55E07BE47}"/>
              </a:ext>
            </a:extLst>
          </p:cNvPr>
          <p:cNvSpPr>
            <a:spLocks noChangeArrowheads="1"/>
          </p:cNvSpPr>
          <p:nvPr/>
        </p:nvSpPr>
        <p:spPr bwMode="auto">
          <a:xfrm>
            <a:off x="3048000" y="838200"/>
            <a:ext cx="7239000" cy="1066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endParaRPr lang="zh-CN" altLang="en-US" sz="2800">
              <a:solidFill>
                <a:schemeClr val="tx1"/>
              </a:solidFill>
              <a:latin typeface="Times New Roman" panose="02020603050405020304" pitchFamily="18" charset="0"/>
              <a:ea typeface="楷体_GB2312" pitchFamily="49" charset="-122"/>
            </a:endParaRPr>
          </a:p>
        </p:txBody>
      </p:sp>
      <p:sp>
        <p:nvSpPr>
          <p:cNvPr id="2396193" name="Rectangle 33">
            <a:extLst>
              <a:ext uri="{FF2B5EF4-FFF2-40B4-BE49-F238E27FC236}">
                <a16:creationId xmlns:a16="http://schemas.microsoft.com/office/drawing/2014/main" id="{5928E1DA-3115-4E13-AC5F-9E7B607278B2}"/>
              </a:ext>
            </a:extLst>
          </p:cNvPr>
          <p:cNvSpPr>
            <a:spLocks noChangeArrowheads="1"/>
          </p:cNvSpPr>
          <p:nvPr/>
        </p:nvSpPr>
        <p:spPr bwMode="auto">
          <a:xfrm>
            <a:off x="8077200" y="3657600"/>
            <a:ext cx="1524000" cy="685800"/>
          </a:xfrm>
          <a:prstGeom prst="rect">
            <a:avLst/>
          </a:prstGeom>
          <a:solidFill>
            <a:schemeClr val="bg1"/>
          </a:solidFill>
          <a:ln w="9525">
            <a:solidFill>
              <a:srgbClr val="70E5E8"/>
            </a:solidFill>
            <a:miter lim="800000"/>
            <a:headEnd/>
            <a:tailEnd/>
          </a:ln>
          <a:effectLst>
            <a:outerShdw dist="107763" dir="2700000" algn="ctr" rotWithShape="0">
              <a:schemeClr val="bg2"/>
            </a:outerShdw>
          </a:effec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000">
                <a:solidFill>
                  <a:srgbClr val="1AA1A4"/>
                </a:solidFill>
                <a:latin typeface="Times New Roman" panose="02020603050405020304" pitchFamily="18" charset="0"/>
                <a:ea typeface="黑体" panose="02010609060101010101" pitchFamily="49" charset="-122"/>
              </a:rPr>
              <a:t>2，1，1</a:t>
            </a:r>
          </a:p>
          <a:p>
            <a:pPr algn="ctr">
              <a:spcBef>
                <a:spcPct val="0"/>
              </a:spcBef>
              <a:buFontTx/>
              <a:buNone/>
            </a:pPr>
            <a:r>
              <a:rPr lang="zh-CN" altLang="en-US" sz="2000">
                <a:solidFill>
                  <a:srgbClr val="1AA1A4"/>
                </a:solidFill>
                <a:latin typeface="Times New Roman" panose="02020603050405020304" pitchFamily="18" charset="0"/>
                <a:ea typeface="黑体" panose="02010609060101010101" pitchFamily="49" charset="-122"/>
              </a:rPr>
              <a:t>2，1，2</a:t>
            </a:r>
            <a:endParaRPr lang="en-US" altLang="zh-CN" sz="2000">
              <a:solidFill>
                <a:srgbClr val="1AA1A4"/>
              </a:solidFill>
              <a:latin typeface="Times New Roman" panose="02020603050405020304" pitchFamily="18" charset="0"/>
              <a:ea typeface="黑体" panose="02010609060101010101" pitchFamily="49" charset="-122"/>
            </a:endParaRPr>
          </a:p>
        </p:txBody>
      </p:sp>
      <p:sp>
        <p:nvSpPr>
          <p:cNvPr id="2396194" name="AutoShape 34">
            <a:extLst>
              <a:ext uri="{FF2B5EF4-FFF2-40B4-BE49-F238E27FC236}">
                <a16:creationId xmlns:a16="http://schemas.microsoft.com/office/drawing/2014/main" id="{69602128-F3F4-427F-B5F5-88FB04F3955D}"/>
              </a:ext>
            </a:extLst>
          </p:cNvPr>
          <p:cNvSpPr>
            <a:spLocks noChangeArrowheads="1"/>
          </p:cNvSpPr>
          <p:nvPr/>
        </p:nvSpPr>
        <p:spPr bwMode="auto">
          <a:xfrm>
            <a:off x="8001000" y="2819400"/>
            <a:ext cx="1905000" cy="685800"/>
          </a:xfrm>
          <a:prstGeom prst="wedgeRectCallout">
            <a:avLst>
              <a:gd name="adj1" fmla="val -18333"/>
              <a:gd name="adj2" fmla="val 85648"/>
            </a:avLst>
          </a:prstGeom>
          <a:solidFill>
            <a:schemeClr val="bg1"/>
          </a:solidFill>
          <a:ln w="9525">
            <a:solidFill>
              <a:srgbClr val="1AA1A4"/>
            </a:solidFill>
            <a:miter lim="800000"/>
            <a:headEnd/>
            <a:tailEnd/>
          </a:ln>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800">
                <a:solidFill>
                  <a:srgbClr val="1AA1A4"/>
                </a:solidFill>
                <a:latin typeface="Times New Roman" panose="02020603050405020304" pitchFamily="18" charset="0"/>
                <a:ea typeface="黑体" panose="02010609060101010101" pitchFamily="49" charset="-122"/>
              </a:rPr>
              <a:t>取“</a:t>
            </a:r>
            <a:r>
              <a:rPr lang="zh-CN" altLang="en-US" sz="1800">
                <a:solidFill>
                  <a:srgbClr val="EF8D2B"/>
                </a:solidFill>
                <a:latin typeface="Times New Roman" panose="02020603050405020304" pitchFamily="18" charset="0"/>
                <a:ea typeface="黑体" panose="02010609060101010101" pitchFamily="49" charset="-122"/>
              </a:rPr>
              <a:t>真假</a:t>
            </a:r>
            <a:r>
              <a:rPr lang="zh-CN" altLang="en-US" sz="1800">
                <a:solidFill>
                  <a:srgbClr val="1AA1A4"/>
                </a:solidFill>
                <a:latin typeface="Times New Roman" panose="02020603050405020304" pitchFamily="18" charset="0"/>
                <a:ea typeface="黑体" panose="02010609060101010101" pitchFamily="49" charset="-122"/>
              </a:rPr>
              <a:t>”分支</a:t>
            </a:r>
          </a:p>
          <a:p>
            <a:pPr algn="ctr">
              <a:spcBef>
                <a:spcPct val="0"/>
              </a:spcBef>
              <a:buFontTx/>
              <a:buNone/>
            </a:pPr>
            <a:r>
              <a:rPr lang="zh-CN" altLang="en-US" sz="1800">
                <a:solidFill>
                  <a:srgbClr val="1AA1A4"/>
                </a:solidFill>
                <a:latin typeface="Times New Roman" panose="02020603050405020304" pitchFamily="18" charset="0"/>
                <a:ea typeface="黑体" panose="02010609060101010101" pitchFamily="49" charset="-122"/>
              </a:rPr>
              <a:t>测试用例如下</a:t>
            </a:r>
          </a:p>
        </p:txBody>
      </p:sp>
      <p:sp>
        <p:nvSpPr>
          <p:cNvPr id="2396195" name="Rectangle 35">
            <a:extLst>
              <a:ext uri="{FF2B5EF4-FFF2-40B4-BE49-F238E27FC236}">
                <a16:creationId xmlns:a16="http://schemas.microsoft.com/office/drawing/2014/main" id="{5E9791C1-2A88-4D15-AEE5-2B63E59CA2B0}"/>
              </a:ext>
            </a:extLst>
          </p:cNvPr>
          <p:cNvSpPr>
            <a:spLocks noChangeArrowheads="1"/>
          </p:cNvSpPr>
          <p:nvPr/>
        </p:nvSpPr>
        <p:spPr bwMode="auto">
          <a:xfrm>
            <a:off x="4495800" y="5105400"/>
            <a:ext cx="457200" cy="457200"/>
          </a:xfrm>
          <a:prstGeom prst="rect">
            <a:avLst/>
          </a:prstGeom>
          <a:solidFill>
            <a:schemeClr val="bg1"/>
          </a:solidFill>
          <a:ln w="9525">
            <a:noFill/>
            <a:miter lim="800000"/>
            <a:headEnd/>
            <a:tailEnd/>
          </a:ln>
          <a:effectLst/>
        </p:spPr>
        <p:txBody>
          <a:bodyPr wrap="none" anchor="ctr"/>
          <a:lstStyle/>
          <a:p>
            <a:pPr algn="ctr">
              <a:defRPr/>
            </a:pPr>
            <a:r>
              <a:rPr lang="en-US" altLang="zh-CN" sz="2400">
                <a:solidFill>
                  <a:srgbClr val="F535F0"/>
                </a:solidFill>
                <a:effectLst>
                  <a:outerShdw blurRad="38100" dist="38100" dir="2700000" algn="tl">
                    <a:srgbClr val="000000"/>
                  </a:outerShdw>
                </a:effectLst>
                <a:latin typeface="Arial" charset="0"/>
                <a:ea typeface="黑体" pitchFamily="2" charset="-122"/>
              </a:rPr>
              <a:t>a</a:t>
            </a:r>
          </a:p>
        </p:txBody>
      </p:sp>
      <p:sp>
        <p:nvSpPr>
          <p:cNvPr id="2396196" name="Rectangle 36">
            <a:extLst>
              <a:ext uri="{FF2B5EF4-FFF2-40B4-BE49-F238E27FC236}">
                <a16:creationId xmlns:a16="http://schemas.microsoft.com/office/drawing/2014/main" id="{3AD4FAD7-F931-48D1-A4EA-3B63366043BB}"/>
              </a:ext>
            </a:extLst>
          </p:cNvPr>
          <p:cNvSpPr>
            <a:spLocks noChangeArrowheads="1"/>
          </p:cNvSpPr>
          <p:nvPr/>
        </p:nvSpPr>
        <p:spPr bwMode="auto">
          <a:xfrm>
            <a:off x="5105400" y="5105400"/>
            <a:ext cx="457200" cy="457200"/>
          </a:xfrm>
          <a:prstGeom prst="rect">
            <a:avLst/>
          </a:prstGeom>
          <a:solidFill>
            <a:schemeClr val="bg1"/>
          </a:solidFill>
          <a:ln w="9525">
            <a:noFill/>
            <a:miter lim="800000"/>
            <a:headEnd/>
            <a:tailEnd/>
          </a:ln>
          <a:effectLst/>
        </p:spPr>
        <p:txBody>
          <a:bodyPr wrap="none" anchor="ctr"/>
          <a:lstStyle/>
          <a:p>
            <a:pPr algn="ctr">
              <a:defRPr/>
            </a:pPr>
            <a:r>
              <a:rPr lang="en-US" altLang="zh-CN" sz="2400">
                <a:solidFill>
                  <a:srgbClr val="F535F0"/>
                </a:solidFill>
                <a:effectLst>
                  <a:outerShdw blurRad="38100" dist="38100" dir="2700000" algn="tl">
                    <a:srgbClr val="000000"/>
                  </a:outerShdw>
                </a:effectLst>
                <a:latin typeface="Arial" charset="0"/>
                <a:ea typeface="黑体" pitchFamily="2" charset="-122"/>
              </a:rPr>
              <a:t>b</a:t>
            </a:r>
          </a:p>
        </p:txBody>
      </p:sp>
      <p:sp>
        <p:nvSpPr>
          <p:cNvPr id="2396197" name="Rectangle 37">
            <a:extLst>
              <a:ext uri="{FF2B5EF4-FFF2-40B4-BE49-F238E27FC236}">
                <a16:creationId xmlns:a16="http://schemas.microsoft.com/office/drawing/2014/main" id="{03D47C2A-01F0-4719-888B-0216FE81F743}"/>
              </a:ext>
            </a:extLst>
          </p:cNvPr>
          <p:cNvSpPr>
            <a:spLocks noChangeArrowheads="1"/>
          </p:cNvSpPr>
          <p:nvPr/>
        </p:nvSpPr>
        <p:spPr bwMode="auto">
          <a:xfrm>
            <a:off x="5791200" y="5105400"/>
            <a:ext cx="457200" cy="457200"/>
          </a:xfrm>
          <a:prstGeom prst="rect">
            <a:avLst/>
          </a:prstGeom>
          <a:solidFill>
            <a:schemeClr val="bg1"/>
          </a:solidFill>
          <a:ln w="9525">
            <a:noFill/>
            <a:miter lim="800000"/>
            <a:headEnd/>
            <a:tailEnd/>
          </a:ln>
          <a:effectLst/>
        </p:spPr>
        <p:txBody>
          <a:bodyPr wrap="none" anchor="ctr"/>
          <a:lstStyle/>
          <a:p>
            <a:pPr algn="ctr">
              <a:defRPr/>
            </a:pPr>
            <a:r>
              <a:rPr lang="en-US" altLang="zh-CN" sz="2400">
                <a:solidFill>
                  <a:srgbClr val="F535F0"/>
                </a:solidFill>
                <a:effectLst>
                  <a:outerShdw blurRad="38100" dist="38100" dir="2700000" algn="tl">
                    <a:srgbClr val="000000"/>
                  </a:outerShdw>
                </a:effectLst>
                <a:latin typeface="Arial" charset="0"/>
                <a:ea typeface="黑体" pitchFamily="2" charset="-122"/>
              </a:rPr>
              <a:t>e</a:t>
            </a:r>
          </a:p>
        </p:txBody>
      </p:sp>
      <p:sp>
        <p:nvSpPr>
          <p:cNvPr id="2396198" name="Rectangle 38">
            <a:extLst>
              <a:ext uri="{FF2B5EF4-FFF2-40B4-BE49-F238E27FC236}">
                <a16:creationId xmlns:a16="http://schemas.microsoft.com/office/drawing/2014/main" id="{3518F11C-1418-40A4-9CF1-97C3782862BC}"/>
              </a:ext>
            </a:extLst>
          </p:cNvPr>
          <p:cNvSpPr>
            <a:spLocks noChangeArrowheads="1"/>
          </p:cNvSpPr>
          <p:nvPr/>
        </p:nvSpPr>
        <p:spPr bwMode="auto">
          <a:xfrm>
            <a:off x="4800600" y="5181600"/>
            <a:ext cx="457200"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a:solidFill>
                  <a:srgbClr val="F535F0"/>
                </a:solidFill>
                <a:ea typeface="黑体" panose="02010609060101010101" pitchFamily="49" charset="-122"/>
              </a:rPr>
              <a:t>--</a:t>
            </a:r>
          </a:p>
        </p:txBody>
      </p:sp>
      <p:sp>
        <p:nvSpPr>
          <p:cNvPr id="2396199" name="Rectangle 39">
            <a:extLst>
              <a:ext uri="{FF2B5EF4-FFF2-40B4-BE49-F238E27FC236}">
                <a16:creationId xmlns:a16="http://schemas.microsoft.com/office/drawing/2014/main" id="{B914CEF7-744E-48C2-BBB3-D8951AFB1998}"/>
              </a:ext>
            </a:extLst>
          </p:cNvPr>
          <p:cNvSpPr>
            <a:spLocks noChangeArrowheads="1"/>
          </p:cNvSpPr>
          <p:nvPr/>
        </p:nvSpPr>
        <p:spPr bwMode="auto">
          <a:xfrm>
            <a:off x="5410200" y="5181600"/>
            <a:ext cx="457200"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a:solidFill>
                  <a:srgbClr val="F535F0"/>
                </a:solidFill>
                <a:ea typeface="黑体" panose="02010609060101010101" pitchFamily="49" charset="-122"/>
              </a:rPr>
              <a:t>--</a:t>
            </a:r>
          </a:p>
        </p:txBody>
      </p:sp>
      <p:grpSp>
        <p:nvGrpSpPr>
          <p:cNvPr id="33803" name="Group 65">
            <a:extLst>
              <a:ext uri="{FF2B5EF4-FFF2-40B4-BE49-F238E27FC236}">
                <a16:creationId xmlns:a16="http://schemas.microsoft.com/office/drawing/2014/main" id="{E1612940-727C-4169-A4EF-B952C4B8BECE}"/>
              </a:ext>
            </a:extLst>
          </p:cNvPr>
          <p:cNvGrpSpPr>
            <a:grpSpLocks/>
          </p:cNvGrpSpPr>
          <p:nvPr/>
        </p:nvGrpSpPr>
        <p:grpSpPr bwMode="auto">
          <a:xfrm>
            <a:off x="3657600" y="1066800"/>
            <a:ext cx="3657600" cy="3733800"/>
            <a:chOff x="1344" y="672"/>
            <a:chExt cx="2304" cy="2352"/>
          </a:xfrm>
        </p:grpSpPr>
        <p:sp>
          <p:nvSpPr>
            <p:cNvPr id="2396164" name="Text Box 4">
              <a:extLst>
                <a:ext uri="{FF2B5EF4-FFF2-40B4-BE49-F238E27FC236}">
                  <a16:creationId xmlns:a16="http://schemas.microsoft.com/office/drawing/2014/main" id="{CBCCA09C-A955-453C-897D-58A8E56E5444}"/>
                </a:ext>
              </a:extLst>
            </p:cNvPr>
            <p:cNvSpPr txBox="1">
              <a:spLocks noChangeArrowheads="1"/>
            </p:cNvSpPr>
            <p:nvPr/>
          </p:nvSpPr>
          <p:spPr bwMode="auto">
            <a:xfrm>
              <a:off x="1344" y="1200"/>
              <a:ext cx="223"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b</a:t>
              </a:r>
            </a:p>
          </p:txBody>
        </p:sp>
        <p:sp>
          <p:nvSpPr>
            <p:cNvPr id="2396165" name="Text Box 5">
              <a:extLst>
                <a:ext uri="{FF2B5EF4-FFF2-40B4-BE49-F238E27FC236}">
                  <a16:creationId xmlns:a16="http://schemas.microsoft.com/office/drawing/2014/main" id="{A79C36E3-0381-45A4-AF72-18725862C816}"/>
                </a:ext>
              </a:extLst>
            </p:cNvPr>
            <p:cNvSpPr txBox="1">
              <a:spLocks noChangeArrowheads="1"/>
            </p:cNvSpPr>
            <p:nvPr/>
          </p:nvSpPr>
          <p:spPr bwMode="auto">
            <a:xfrm>
              <a:off x="1344" y="2160"/>
              <a:ext cx="223"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d</a:t>
              </a:r>
            </a:p>
          </p:txBody>
        </p:sp>
        <p:sp>
          <p:nvSpPr>
            <p:cNvPr id="2396166" name="Text Box 6">
              <a:extLst>
                <a:ext uri="{FF2B5EF4-FFF2-40B4-BE49-F238E27FC236}">
                  <a16:creationId xmlns:a16="http://schemas.microsoft.com/office/drawing/2014/main" id="{9239E43B-B85C-4F83-BE69-050DF39B5F10}"/>
                </a:ext>
              </a:extLst>
            </p:cNvPr>
            <p:cNvSpPr txBox="1">
              <a:spLocks noChangeArrowheads="1"/>
            </p:cNvSpPr>
            <p:nvPr/>
          </p:nvSpPr>
          <p:spPr bwMode="auto">
            <a:xfrm>
              <a:off x="2256" y="672"/>
              <a:ext cx="288" cy="288"/>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a</a:t>
              </a:r>
            </a:p>
          </p:txBody>
        </p:sp>
        <p:sp>
          <p:nvSpPr>
            <p:cNvPr id="2396167" name="Text Box 7">
              <a:extLst>
                <a:ext uri="{FF2B5EF4-FFF2-40B4-BE49-F238E27FC236}">
                  <a16:creationId xmlns:a16="http://schemas.microsoft.com/office/drawing/2014/main" id="{F5295DE3-8D5B-463C-8820-F621CFB2650B}"/>
                </a:ext>
              </a:extLst>
            </p:cNvPr>
            <p:cNvSpPr txBox="1">
              <a:spLocks noChangeArrowheads="1"/>
            </p:cNvSpPr>
            <p:nvPr/>
          </p:nvSpPr>
          <p:spPr bwMode="auto">
            <a:xfrm>
              <a:off x="3264" y="1200"/>
              <a:ext cx="223" cy="288"/>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c</a:t>
              </a:r>
            </a:p>
          </p:txBody>
        </p:sp>
        <p:sp>
          <p:nvSpPr>
            <p:cNvPr id="2396168" name="Text Box 8">
              <a:extLst>
                <a:ext uri="{FF2B5EF4-FFF2-40B4-BE49-F238E27FC236}">
                  <a16:creationId xmlns:a16="http://schemas.microsoft.com/office/drawing/2014/main" id="{F7800CAA-7BE8-4BEB-89EC-20EF2E2BE1B0}"/>
                </a:ext>
              </a:extLst>
            </p:cNvPr>
            <p:cNvSpPr txBox="1">
              <a:spLocks noChangeArrowheads="1"/>
            </p:cNvSpPr>
            <p:nvPr/>
          </p:nvSpPr>
          <p:spPr bwMode="auto">
            <a:xfrm>
              <a:off x="3312" y="2160"/>
              <a:ext cx="201"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e</a:t>
              </a:r>
            </a:p>
          </p:txBody>
        </p:sp>
        <p:sp>
          <p:nvSpPr>
            <p:cNvPr id="33822" name="AutoShape 10">
              <a:extLst>
                <a:ext uri="{FF2B5EF4-FFF2-40B4-BE49-F238E27FC236}">
                  <a16:creationId xmlns:a16="http://schemas.microsoft.com/office/drawing/2014/main" id="{64BE8244-BF74-47DE-A426-4DF3F7F6F8E6}"/>
                </a:ext>
              </a:extLst>
            </p:cNvPr>
            <p:cNvSpPr>
              <a:spLocks noChangeArrowheads="1"/>
            </p:cNvSpPr>
            <p:nvPr/>
          </p:nvSpPr>
          <p:spPr bwMode="auto">
            <a:xfrm>
              <a:off x="1680" y="1152"/>
              <a:ext cx="1440" cy="288"/>
            </a:xfrm>
            <a:prstGeom prst="flowChartDecision">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(A&gt;1) ^ (B=0)</a:t>
              </a:r>
            </a:p>
          </p:txBody>
        </p:sp>
        <p:sp>
          <p:nvSpPr>
            <p:cNvPr id="33823" name="Line 12">
              <a:extLst>
                <a:ext uri="{FF2B5EF4-FFF2-40B4-BE49-F238E27FC236}">
                  <a16:creationId xmlns:a16="http://schemas.microsoft.com/office/drawing/2014/main" id="{EF65FF96-2612-4E60-B39D-E93FC6DAC018}"/>
                </a:ext>
              </a:extLst>
            </p:cNvPr>
            <p:cNvSpPr>
              <a:spLocks noChangeShapeType="1"/>
            </p:cNvSpPr>
            <p:nvPr/>
          </p:nvSpPr>
          <p:spPr bwMode="auto">
            <a:xfrm>
              <a:off x="3264" y="1296"/>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24" name="Rectangle 13">
              <a:extLst>
                <a:ext uri="{FF2B5EF4-FFF2-40B4-BE49-F238E27FC236}">
                  <a16:creationId xmlns:a16="http://schemas.microsoft.com/office/drawing/2014/main" id="{64CF5723-4A02-4457-9B34-968FCBCFBE05}"/>
                </a:ext>
              </a:extLst>
            </p:cNvPr>
            <p:cNvSpPr>
              <a:spLocks noChangeArrowheads="1"/>
            </p:cNvSpPr>
            <p:nvPr/>
          </p:nvSpPr>
          <p:spPr bwMode="auto">
            <a:xfrm>
              <a:off x="2880" y="1488"/>
              <a:ext cx="768" cy="288"/>
            </a:xfrm>
            <a:prstGeom prst="rect">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X=X/A</a:t>
              </a:r>
            </a:p>
          </p:txBody>
        </p:sp>
        <p:sp>
          <p:nvSpPr>
            <p:cNvPr id="33825" name="Line 17">
              <a:extLst>
                <a:ext uri="{FF2B5EF4-FFF2-40B4-BE49-F238E27FC236}">
                  <a16:creationId xmlns:a16="http://schemas.microsoft.com/office/drawing/2014/main" id="{0B436093-114B-404C-A331-AFDE23CFF5E5}"/>
                </a:ext>
              </a:extLst>
            </p:cNvPr>
            <p:cNvSpPr>
              <a:spLocks noChangeShapeType="1"/>
            </p:cNvSpPr>
            <p:nvPr/>
          </p:nvSpPr>
          <p:spPr bwMode="auto">
            <a:xfrm>
              <a:off x="2400" y="960"/>
              <a:ext cx="0" cy="192"/>
            </a:xfrm>
            <a:prstGeom prst="line">
              <a:avLst/>
            </a:prstGeom>
            <a:noFill/>
            <a:ln w="2857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26" name="Text Box 18">
              <a:extLst>
                <a:ext uri="{FF2B5EF4-FFF2-40B4-BE49-F238E27FC236}">
                  <a16:creationId xmlns:a16="http://schemas.microsoft.com/office/drawing/2014/main" id="{6CBBCE35-A2F5-478A-AAAE-BBCFECCCA3C8}"/>
                </a:ext>
              </a:extLst>
            </p:cNvPr>
            <p:cNvSpPr txBox="1">
              <a:spLocks noChangeArrowheads="1"/>
            </p:cNvSpPr>
            <p:nvPr/>
          </p:nvSpPr>
          <p:spPr bwMode="auto">
            <a:xfrm>
              <a:off x="3123" y="1103"/>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ea typeface="文鼎细圆" pitchFamily="49" charset="-122"/>
                </a:rPr>
                <a:t>T</a:t>
              </a:r>
            </a:p>
          </p:txBody>
        </p:sp>
        <p:sp>
          <p:nvSpPr>
            <p:cNvPr id="33827" name="Text Box 19">
              <a:extLst>
                <a:ext uri="{FF2B5EF4-FFF2-40B4-BE49-F238E27FC236}">
                  <a16:creationId xmlns:a16="http://schemas.microsoft.com/office/drawing/2014/main" id="{D466ECCD-F0ED-453D-B8BF-0615CC8661F7}"/>
                </a:ext>
              </a:extLst>
            </p:cNvPr>
            <p:cNvSpPr txBox="1">
              <a:spLocks noChangeArrowheads="1"/>
            </p:cNvSpPr>
            <p:nvPr/>
          </p:nvSpPr>
          <p:spPr bwMode="auto">
            <a:xfrm>
              <a:off x="1488" y="1056"/>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ea typeface="文鼎细圆" pitchFamily="49" charset="-122"/>
                </a:rPr>
                <a:t>F</a:t>
              </a:r>
            </a:p>
          </p:txBody>
        </p:sp>
        <p:sp>
          <p:nvSpPr>
            <p:cNvPr id="33828" name="Line 20">
              <a:extLst>
                <a:ext uri="{FF2B5EF4-FFF2-40B4-BE49-F238E27FC236}">
                  <a16:creationId xmlns:a16="http://schemas.microsoft.com/office/drawing/2014/main" id="{9D7BC522-94A6-452C-AA86-2425323F03E5}"/>
                </a:ext>
              </a:extLst>
            </p:cNvPr>
            <p:cNvSpPr>
              <a:spLocks noChangeShapeType="1"/>
            </p:cNvSpPr>
            <p:nvPr/>
          </p:nvSpPr>
          <p:spPr bwMode="auto">
            <a:xfrm>
              <a:off x="3120" y="1296"/>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29" name="Line 21">
              <a:extLst>
                <a:ext uri="{FF2B5EF4-FFF2-40B4-BE49-F238E27FC236}">
                  <a16:creationId xmlns:a16="http://schemas.microsoft.com/office/drawing/2014/main" id="{DB7E0F30-3A05-4A4B-92A8-87CED619E4C4}"/>
                </a:ext>
              </a:extLst>
            </p:cNvPr>
            <p:cNvSpPr>
              <a:spLocks noChangeShapeType="1"/>
            </p:cNvSpPr>
            <p:nvPr/>
          </p:nvSpPr>
          <p:spPr bwMode="auto">
            <a:xfrm>
              <a:off x="3264" y="1776"/>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30" name="AutoShape 22">
              <a:extLst>
                <a:ext uri="{FF2B5EF4-FFF2-40B4-BE49-F238E27FC236}">
                  <a16:creationId xmlns:a16="http://schemas.microsoft.com/office/drawing/2014/main" id="{0447175A-342B-4F95-9181-B1B2EC0BD33E}"/>
                </a:ext>
              </a:extLst>
            </p:cNvPr>
            <p:cNvSpPr>
              <a:spLocks noChangeArrowheads="1"/>
            </p:cNvSpPr>
            <p:nvPr/>
          </p:nvSpPr>
          <p:spPr bwMode="auto">
            <a:xfrm>
              <a:off x="1728" y="2112"/>
              <a:ext cx="1344" cy="288"/>
            </a:xfrm>
            <a:prstGeom prst="flowChartDecision">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(A=2) V (X&gt;1)</a:t>
              </a:r>
            </a:p>
          </p:txBody>
        </p:sp>
        <p:sp>
          <p:nvSpPr>
            <p:cNvPr id="33831" name="Rectangle 23">
              <a:extLst>
                <a:ext uri="{FF2B5EF4-FFF2-40B4-BE49-F238E27FC236}">
                  <a16:creationId xmlns:a16="http://schemas.microsoft.com/office/drawing/2014/main" id="{4B0DE80A-986D-4035-90B8-95A154F43DCD}"/>
                </a:ext>
              </a:extLst>
            </p:cNvPr>
            <p:cNvSpPr>
              <a:spLocks noChangeArrowheads="1"/>
            </p:cNvSpPr>
            <p:nvPr/>
          </p:nvSpPr>
          <p:spPr bwMode="auto">
            <a:xfrm>
              <a:off x="2880" y="2448"/>
              <a:ext cx="768" cy="288"/>
            </a:xfrm>
            <a:prstGeom prst="rect">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X=X+1</a:t>
              </a:r>
            </a:p>
          </p:txBody>
        </p:sp>
        <p:sp>
          <p:nvSpPr>
            <p:cNvPr id="33832" name="Text Box 24">
              <a:extLst>
                <a:ext uri="{FF2B5EF4-FFF2-40B4-BE49-F238E27FC236}">
                  <a16:creationId xmlns:a16="http://schemas.microsoft.com/office/drawing/2014/main" id="{2679DBEF-D78F-4209-9B08-E3885291775B}"/>
                </a:ext>
              </a:extLst>
            </p:cNvPr>
            <p:cNvSpPr txBox="1">
              <a:spLocks noChangeArrowheads="1"/>
            </p:cNvSpPr>
            <p:nvPr/>
          </p:nvSpPr>
          <p:spPr bwMode="auto">
            <a:xfrm>
              <a:off x="3027" y="2063"/>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ea typeface="文鼎细圆" pitchFamily="49" charset="-122"/>
                </a:rPr>
                <a:t>T</a:t>
              </a:r>
            </a:p>
          </p:txBody>
        </p:sp>
        <p:sp>
          <p:nvSpPr>
            <p:cNvPr id="33833" name="Line 25">
              <a:extLst>
                <a:ext uri="{FF2B5EF4-FFF2-40B4-BE49-F238E27FC236}">
                  <a16:creationId xmlns:a16="http://schemas.microsoft.com/office/drawing/2014/main" id="{5F70E34E-FCDD-4487-A09C-96EEF6E87C53}"/>
                </a:ext>
              </a:extLst>
            </p:cNvPr>
            <p:cNvSpPr>
              <a:spLocks noChangeShapeType="1"/>
            </p:cNvSpPr>
            <p:nvPr/>
          </p:nvSpPr>
          <p:spPr bwMode="auto">
            <a:xfrm>
              <a:off x="1584" y="2256"/>
              <a:ext cx="0" cy="624"/>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34" name="Text Box 27">
              <a:extLst>
                <a:ext uri="{FF2B5EF4-FFF2-40B4-BE49-F238E27FC236}">
                  <a16:creationId xmlns:a16="http://schemas.microsoft.com/office/drawing/2014/main" id="{3B754E3A-9AAE-47E6-82D4-DF55C87C11E2}"/>
                </a:ext>
              </a:extLst>
            </p:cNvPr>
            <p:cNvSpPr txBox="1">
              <a:spLocks noChangeArrowheads="1"/>
            </p:cNvSpPr>
            <p:nvPr/>
          </p:nvSpPr>
          <p:spPr bwMode="auto">
            <a:xfrm>
              <a:off x="1584" y="2016"/>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ea typeface="文鼎细圆" pitchFamily="49" charset="-122"/>
                </a:rPr>
                <a:t>F</a:t>
              </a:r>
            </a:p>
          </p:txBody>
        </p:sp>
        <p:sp>
          <p:nvSpPr>
            <p:cNvPr id="33835" name="Line 32">
              <a:extLst>
                <a:ext uri="{FF2B5EF4-FFF2-40B4-BE49-F238E27FC236}">
                  <a16:creationId xmlns:a16="http://schemas.microsoft.com/office/drawing/2014/main" id="{2A91D4DC-BC15-47CB-A92D-CFC48B690317}"/>
                </a:ext>
              </a:extLst>
            </p:cNvPr>
            <p:cNvSpPr>
              <a:spLocks noChangeShapeType="1"/>
            </p:cNvSpPr>
            <p:nvPr/>
          </p:nvSpPr>
          <p:spPr bwMode="auto">
            <a:xfrm>
              <a:off x="1584" y="2256"/>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36" name="Line 50">
              <a:extLst>
                <a:ext uri="{FF2B5EF4-FFF2-40B4-BE49-F238E27FC236}">
                  <a16:creationId xmlns:a16="http://schemas.microsoft.com/office/drawing/2014/main" id="{130B512B-9730-4233-A82B-F7D4FE057EDA}"/>
                </a:ext>
              </a:extLst>
            </p:cNvPr>
            <p:cNvSpPr>
              <a:spLocks noChangeShapeType="1"/>
            </p:cNvSpPr>
            <p:nvPr/>
          </p:nvSpPr>
          <p:spPr bwMode="auto">
            <a:xfrm>
              <a:off x="2400" y="1968"/>
              <a:ext cx="86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37" name="Line 52">
              <a:extLst>
                <a:ext uri="{FF2B5EF4-FFF2-40B4-BE49-F238E27FC236}">
                  <a16:creationId xmlns:a16="http://schemas.microsoft.com/office/drawing/2014/main" id="{7C49EBB8-05CD-489A-8AA2-88B9B24B163E}"/>
                </a:ext>
              </a:extLst>
            </p:cNvPr>
            <p:cNvSpPr>
              <a:spLocks noChangeShapeType="1"/>
            </p:cNvSpPr>
            <p:nvPr/>
          </p:nvSpPr>
          <p:spPr bwMode="auto">
            <a:xfrm>
              <a:off x="1584" y="2880"/>
              <a:ext cx="86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38" name="Line 54">
              <a:extLst>
                <a:ext uri="{FF2B5EF4-FFF2-40B4-BE49-F238E27FC236}">
                  <a16:creationId xmlns:a16="http://schemas.microsoft.com/office/drawing/2014/main" id="{943019A2-9871-4620-8A9C-4A0564A25079}"/>
                </a:ext>
              </a:extLst>
            </p:cNvPr>
            <p:cNvSpPr>
              <a:spLocks noChangeShapeType="1"/>
            </p:cNvSpPr>
            <p:nvPr/>
          </p:nvSpPr>
          <p:spPr bwMode="auto">
            <a:xfrm>
              <a:off x="1536" y="1296"/>
              <a:ext cx="0" cy="672"/>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39" name="Line 55">
              <a:extLst>
                <a:ext uri="{FF2B5EF4-FFF2-40B4-BE49-F238E27FC236}">
                  <a16:creationId xmlns:a16="http://schemas.microsoft.com/office/drawing/2014/main" id="{31F1BBF1-A0DA-478C-9F7F-77002F498F28}"/>
                </a:ext>
              </a:extLst>
            </p:cNvPr>
            <p:cNvSpPr>
              <a:spLocks noChangeShapeType="1"/>
            </p:cNvSpPr>
            <p:nvPr/>
          </p:nvSpPr>
          <p:spPr bwMode="auto">
            <a:xfrm>
              <a:off x="1536" y="1296"/>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40" name="Line 56">
              <a:extLst>
                <a:ext uri="{FF2B5EF4-FFF2-40B4-BE49-F238E27FC236}">
                  <a16:creationId xmlns:a16="http://schemas.microsoft.com/office/drawing/2014/main" id="{24C0740C-8D94-477F-A91B-87C377425E69}"/>
                </a:ext>
              </a:extLst>
            </p:cNvPr>
            <p:cNvSpPr>
              <a:spLocks noChangeShapeType="1"/>
            </p:cNvSpPr>
            <p:nvPr/>
          </p:nvSpPr>
          <p:spPr bwMode="auto">
            <a:xfrm>
              <a:off x="1536" y="1968"/>
              <a:ext cx="86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41" name="Line 59">
              <a:extLst>
                <a:ext uri="{FF2B5EF4-FFF2-40B4-BE49-F238E27FC236}">
                  <a16:creationId xmlns:a16="http://schemas.microsoft.com/office/drawing/2014/main" id="{90E7B79E-BC8E-4CE5-9E9F-931610B1A833}"/>
                </a:ext>
              </a:extLst>
            </p:cNvPr>
            <p:cNvSpPr>
              <a:spLocks noChangeShapeType="1"/>
            </p:cNvSpPr>
            <p:nvPr/>
          </p:nvSpPr>
          <p:spPr bwMode="auto">
            <a:xfrm>
              <a:off x="3216" y="2256"/>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42" name="Line 60">
              <a:extLst>
                <a:ext uri="{FF2B5EF4-FFF2-40B4-BE49-F238E27FC236}">
                  <a16:creationId xmlns:a16="http://schemas.microsoft.com/office/drawing/2014/main" id="{8C384715-A081-4838-B91C-5210543E3836}"/>
                </a:ext>
              </a:extLst>
            </p:cNvPr>
            <p:cNvSpPr>
              <a:spLocks noChangeShapeType="1"/>
            </p:cNvSpPr>
            <p:nvPr/>
          </p:nvSpPr>
          <p:spPr bwMode="auto">
            <a:xfrm>
              <a:off x="3072" y="2256"/>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43" name="Line 61">
              <a:extLst>
                <a:ext uri="{FF2B5EF4-FFF2-40B4-BE49-F238E27FC236}">
                  <a16:creationId xmlns:a16="http://schemas.microsoft.com/office/drawing/2014/main" id="{30197143-062D-45D0-A04E-9D2D7D8E3D87}"/>
                </a:ext>
              </a:extLst>
            </p:cNvPr>
            <p:cNvSpPr>
              <a:spLocks noChangeShapeType="1"/>
            </p:cNvSpPr>
            <p:nvPr/>
          </p:nvSpPr>
          <p:spPr bwMode="auto">
            <a:xfrm>
              <a:off x="3216" y="2736"/>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44" name="Line 62">
              <a:extLst>
                <a:ext uri="{FF2B5EF4-FFF2-40B4-BE49-F238E27FC236}">
                  <a16:creationId xmlns:a16="http://schemas.microsoft.com/office/drawing/2014/main" id="{0ED9362D-4952-4DCD-B902-D08233AB5320}"/>
                </a:ext>
              </a:extLst>
            </p:cNvPr>
            <p:cNvSpPr>
              <a:spLocks noChangeShapeType="1"/>
            </p:cNvSpPr>
            <p:nvPr/>
          </p:nvSpPr>
          <p:spPr bwMode="auto">
            <a:xfrm>
              <a:off x="2400" y="2880"/>
              <a:ext cx="816"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45" name="Line 63">
              <a:extLst>
                <a:ext uri="{FF2B5EF4-FFF2-40B4-BE49-F238E27FC236}">
                  <a16:creationId xmlns:a16="http://schemas.microsoft.com/office/drawing/2014/main" id="{37E3B0B4-5B9A-4255-8E68-2D6695821C7E}"/>
                </a:ext>
              </a:extLst>
            </p:cNvPr>
            <p:cNvSpPr>
              <a:spLocks noChangeShapeType="1"/>
            </p:cNvSpPr>
            <p:nvPr/>
          </p:nvSpPr>
          <p:spPr bwMode="auto">
            <a:xfrm>
              <a:off x="2448" y="2880"/>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46" name="Line 64">
              <a:extLst>
                <a:ext uri="{FF2B5EF4-FFF2-40B4-BE49-F238E27FC236}">
                  <a16:creationId xmlns:a16="http://schemas.microsoft.com/office/drawing/2014/main" id="{C7779B26-3771-4671-BAD6-2B278E0F577C}"/>
                </a:ext>
              </a:extLst>
            </p:cNvPr>
            <p:cNvSpPr>
              <a:spLocks noChangeShapeType="1"/>
            </p:cNvSpPr>
            <p:nvPr/>
          </p:nvSpPr>
          <p:spPr bwMode="auto">
            <a:xfrm>
              <a:off x="2400" y="1968"/>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66">
            <a:extLst>
              <a:ext uri="{FF2B5EF4-FFF2-40B4-BE49-F238E27FC236}">
                <a16:creationId xmlns:a16="http://schemas.microsoft.com/office/drawing/2014/main" id="{7F97DF35-253C-41D5-9F4C-C4F792B2C5A2}"/>
              </a:ext>
            </a:extLst>
          </p:cNvPr>
          <p:cNvGrpSpPr>
            <a:grpSpLocks/>
          </p:cNvGrpSpPr>
          <p:nvPr/>
        </p:nvGrpSpPr>
        <p:grpSpPr bwMode="auto">
          <a:xfrm>
            <a:off x="3962400" y="2057400"/>
            <a:ext cx="1371600" cy="1295400"/>
            <a:chOff x="1536" y="1296"/>
            <a:chExt cx="864" cy="816"/>
          </a:xfrm>
        </p:grpSpPr>
        <p:sp>
          <p:nvSpPr>
            <p:cNvPr id="33813" name="Line 11">
              <a:extLst>
                <a:ext uri="{FF2B5EF4-FFF2-40B4-BE49-F238E27FC236}">
                  <a16:creationId xmlns:a16="http://schemas.microsoft.com/office/drawing/2014/main" id="{A0340796-5AAF-4502-870F-B482BDB7745B}"/>
                </a:ext>
              </a:extLst>
            </p:cNvPr>
            <p:cNvSpPr>
              <a:spLocks noChangeShapeType="1"/>
            </p:cNvSpPr>
            <p:nvPr/>
          </p:nvSpPr>
          <p:spPr bwMode="auto">
            <a:xfrm>
              <a:off x="1536" y="1296"/>
              <a:ext cx="192" cy="0"/>
            </a:xfrm>
            <a:prstGeom prst="line">
              <a:avLst/>
            </a:prstGeom>
            <a:noFill/>
            <a:ln w="2857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4" name="Line 14">
              <a:extLst>
                <a:ext uri="{FF2B5EF4-FFF2-40B4-BE49-F238E27FC236}">
                  <a16:creationId xmlns:a16="http://schemas.microsoft.com/office/drawing/2014/main" id="{0AED70BC-BBF2-4630-B4C0-D800AE37C5D0}"/>
                </a:ext>
              </a:extLst>
            </p:cNvPr>
            <p:cNvSpPr>
              <a:spLocks noChangeShapeType="1"/>
            </p:cNvSpPr>
            <p:nvPr/>
          </p:nvSpPr>
          <p:spPr bwMode="auto">
            <a:xfrm>
              <a:off x="1536" y="1296"/>
              <a:ext cx="0" cy="672"/>
            </a:xfrm>
            <a:prstGeom prst="line">
              <a:avLst/>
            </a:prstGeom>
            <a:noFill/>
            <a:ln w="2857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5" name="Line 15">
              <a:extLst>
                <a:ext uri="{FF2B5EF4-FFF2-40B4-BE49-F238E27FC236}">
                  <a16:creationId xmlns:a16="http://schemas.microsoft.com/office/drawing/2014/main" id="{A10DC02D-DCFE-458A-81C7-ADFCF7482B30}"/>
                </a:ext>
              </a:extLst>
            </p:cNvPr>
            <p:cNvSpPr>
              <a:spLocks noChangeShapeType="1"/>
            </p:cNvSpPr>
            <p:nvPr/>
          </p:nvSpPr>
          <p:spPr bwMode="auto">
            <a:xfrm>
              <a:off x="1536" y="1968"/>
              <a:ext cx="864" cy="0"/>
            </a:xfrm>
            <a:prstGeom prst="line">
              <a:avLst/>
            </a:prstGeom>
            <a:noFill/>
            <a:ln w="2857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6" name="Line 16">
              <a:extLst>
                <a:ext uri="{FF2B5EF4-FFF2-40B4-BE49-F238E27FC236}">
                  <a16:creationId xmlns:a16="http://schemas.microsoft.com/office/drawing/2014/main" id="{8CBC1774-8DC6-4D1D-B624-B46382581E0B}"/>
                </a:ext>
              </a:extLst>
            </p:cNvPr>
            <p:cNvSpPr>
              <a:spLocks noChangeShapeType="1"/>
            </p:cNvSpPr>
            <p:nvPr/>
          </p:nvSpPr>
          <p:spPr bwMode="auto">
            <a:xfrm>
              <a:off x="2400" y="1968"/>
              <a:ext cx="0" cy="144"/>
            </a:xfrm>
            <a:prstGeom prst="line">
              <a:avLst/>
            </a:prstGeom>
            <a:noFill/>
            <a:ln w="2857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67">
            <a:extLst>
              <a:ext uri="{FF2B5EF4-FFF2-40B4-BE49-F238E27FC236}">
                <a16:creationId xmlns:a16="http://schemas.microsoft.com/office/drawing/2014/main" id="{318BC3B2-88AF-4D4B-9817-03F9DB4C3FF9}"/>
              </a:ext>
            </a:extLst>
          </p:cNvPr>
          <p:cNvGrpSpPr>
            <a:grpSpLocks/>
          </p:cNvGrpSpPr>
          <p:nvPr/>
        </p:nvGrpSpPr>
        <p:grpSpPr bwMode="auto">
          <a:xfrm>
            <a:off x="6400800" y="3581400"/>
            <a:ext cx="228600" cy="304800"/>
            <a:chOff x="3072" y="2256"/>
            <a:chExt cx="144" cy="192"/>
          </a:xfrm>
        </p:grpSpPr>
        <p:sp>
          <p:nvSpPr>
            <p:cNvPr id="33811" name="Line 28">
              <a:extLst>
                <a:ext uri="{FF2B5EF4-FFF2-40B4-BE49-F238E27FC236}">
                  <a16:creationId xmlns:a16="http://schemas.microsoft.com/office/drawing/2014/main" id="{A3945446-A52A-40A6-8991-FBBF7EF02621}"/>
                </a:ext>
              </a:extLst>
            </p:cNvPr>
            <p:cNvSpPr>
              <a:spLocks noChangeShapeType="1"/>
            </p:cNvSpPr>
            <p:nvPr/>
          </p:nvSpPr>
          <p:spPr bwMode="auto">
            <a:xfrm>
              <a:off x="3072" y="2256"/>
              <a:ext cx="144" cy="0"/>
            </a:xfrm>
            <a:prstGeom prst="line">
              <a:avLst/>
            </a:prstGeom>
            <a:noFill/>
            <a:ln w="2857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12" name="Line 29">
              <a:extLst>
                <a:ext uri="{FF2B5EF4-FFF2-40B4-BE49-F238E27FC236}">
                  <a16:creationId xmlns:a16="http://schemas.microsoft.com/office/drawing/2014/main" id="{8331C9BB-7BFE-4143-94B3-6CF8CD3DDE71}"/>
                </a:ext>
              </a:extLst>
            </p:cNvPr>
            <p:cNvSpPr>
              <a:spLocks noChangeShapeType="1"/>
            </p:cNvSpPr>
            <p:nvPr/>
          </p:nvSpPr>
          <p:spPr bwMode="auto">
            <a:xfrm>
              <a:off x="3216" y="2256"/>
              <a:ext cx="0" cy="192"/>
            </a:xfrm>
            <a:prstGeom prst="line">
              <a:avLst/>
            </a:prstGeom>
            <a:noFill/>
            <a:ln w="2857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68">
            <a:extLst>
              <a:ext uri="{FF2B5EF4-FFF2-40B4-BE49-F238E27FC236}">
                <a16:creationId xmlns:a16="http://schemas.microsoft.com/office/drawing/2014/main" id="{FE05D9DF-1E45-4895-BA96-DF3E9A5248F0}"/>
              </a:ext>
            </a:extLst>
          </p:cNvPr>
          <p:cNvGrpSpPr>
            <a:grpSpLocks/>
          </p:cNvGrpSpPr>
          <p:nvPr/>
        </p:nvGrpSpPr>
        <p:grpSpPr bwMode="auto">
          <a:xfrm>
            <a:off x="5410200" y="4343400"/>
            <a:ext cx="1219200" cy="457200"/>
            <a:chOff x="2448" y="2736"/>
            <a:chExt cx="768" cy="288"/>
          </a:xfrm>
        </p:grpSpPr>
        <p:sp>
          <p:nvSpPr>
            <p:cNvPr id="33808" name="Line 26">
              <a:extLst>
                <a:ext uri="{FF2B5EF4-FFF2-40B4-BE49-F238E27FC236}">
                  <a16:creationId xmlns:a16="http://schemas.microsoft.com/office/drawing/2014/main" id="{476DB246-4BF5-4DA8-90FC-631AA922D73B}"/>
                </a:ext>
              </a:extLst>
            </p:cNvPr>
            <p:cNvSpPr>
              <a:spLocks noChangeShapeType="1"/>
            </p:cNvSpPr>
            <p:nvPr/>
          </p:nvSpPr>
          <p:spPr bwMode="auto">
            <a:xfrm>
              <a:off x="2448" y="2880"/>
              <a:ext cx="768" cy="0"/>
            </a:xfrm>
            <a:prstGeom prst="line">
              <a:avLst/>
            </a:prstGeom>
            <a:noFill/>
            <a:ln w="2857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9" name="Line 30">
              <a:extLst>
                <a:ext uri="{FF2B5EF4-FFF2-40B4-BE49-F238E27FC236}">
                  <a16:creationId xmlns:a16="http://schemas.microsoft.com/office/drawing/2014/main" id="{612DC114-2187-48A2-B5A4-D69DF4C127EE}"/>
                </a:ext>
              </a:extLst>
            </p:cNvPr>
            <p:cNvSpPr>
              <a:spLocks noChangeShapeType="1"/>
            </p:cNvSpPr>
            <p:nvPr/>
          </p:nvSpPr>
          <p:spPr bwMode="auto">
            <a:xfrm>
              <a:off x="3216" y="2736"/>
              <a:ext cx="0" cy="144"/>
            </a:xfrm>
            <a:prstGeom prst="line">
              <a:avLst/>
            </a:prstGeom>
            <a:noFill/>
            <a:ln w="2857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810" name="Line 31">
              <a:extLst>
                <a:ext uri="{FF2B5EF4-FFF2-40B4-BE49-F238E27FC236}">
                  <a16:creationId xmlns:a16="http://schemas.microsoft.com/office/drawing/2014/main" id="{BE1FEE00-6D99-4E92-AE22-FE33B590B8D4}"/>
                </a:ext>
              </a:extLst>
            </p:cNvPr>
            <p:cNvSpPr>
              <a:spLocks noChangeShapeType="1"/>
            </p:cNvSpPr>
            <p:nvPr/>
          </p:nvSpPr>
          <p:spPr bwMode="auto">
            <a:xfrm>
              <a:off x="2448" y="2880"/>
              <a:ext cx="0" cy="144"/>
            </a:xfrm>
            <a:prstGeom prst="line">
              <a:avLst/>
            </a:prstGeom>
            <a:noFill/>
            <a:ln w="2857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396229" name="Rectangle 69">
            <a:extLst>
              <a:ext uri="{FF2B5EF4-FFF2-40B4-BE49-F238E27FC236}">
                <a16:creationId xmlns:a16="http://schemas.microsoft.com/office/drawing/2014/main" id="{4AB47600-6160-4545-B89D-A5D3D8DF3EAC}"/>
              </a:ext>
            </a:extLst>
          </p:cNvPr>
          <p:cNvSpPr>
            <a:spLocks noChangeArrowheads="1"/>
          </p:cNvSpPr>
          <p:nvPr/>
        </p:nvSpPr>
        <p:spPr bwMode="auto">
          <a:xfrm>
            <a:off x="6324600" y="5105400"/>
            <a:ext cx="457200" cy="457200"/>
          </a:xfrm>
          <a:prstGeom prst="rect">
            <a:avLst/>
          </a:prstGeom>
          <a:solidFill>
            <a:schemeClr val="bg1"/>
          </a:solidFill>
          <a:ln w="9525">
            <a:noFill/>
            <a:miter lim="800000"/>
            <a:headEnd/>
            <a:tailEnd/>
          </a:ln>
          <a:effectLst/>
        </p:spPr>
        <p:txBody>
          <a:bodyPr wrap="none" anchor="ctr"/>
          <a:lstStyle/>
          <a:p>
            <a:pPr algn="ctr">
              <a:defRPr/>
            </a:pPr>
            <a:r>
              <a:rPr lang="en-US" altLang="zh-CN" sz="2000">
                <a:solidFill>
                  <a:srgbClr val="49AB39"/>
                </a:solidFill>
                <a:effectLst>
                  <a:outerShdw blurRad="38100" dist="38100" dir="2700000" algn="tl">
                    <a:srgbClr val="000000"/>
                  </a:outerShdw>
                </a:effectLst>
                <a:latin typeface="Arial" charset="0"/>
                <a:ea typeface="黑体" pitchFamily="2" charset="-122"/>
              </a:rPr>
              <a:t>L3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396194"/>
                                        </p:tgtEl>
                                        <p:attrNameLst>
                                          <p:attrName>style.visibility</p:attrName>
                                        </p:attrNameLst>
                                      </p:cBhvr>
                                      <p:to>
                                        <p:strVal val="visible"/>
                                      </p:to>
                                    </p:set>
                                    <p:animEffect transition="in" filter="blinds(vertical)">
                                      <p:cBhvr>
                                        <p:cTn id="7" dur="500"/>
                                        <p:tgtEl>
                                          <p:spTgt spid="23961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2396193"/>
                                        </p:tgtEl>
                                        <p:attrNameLst>
                                          <p:attrName>style.visibility</p:attrName>
                                        </p:attrNameLst>
                                      </p:cBhvr>
                                      <p:to>
                                        <p:strVal val="visible"/>
                                      </p:to>
                                    </p:set>
                                    <p:animEffect transition="in" filter="blinds(vertical)">
                                      <p:cBhvr>
                                        <p:cTn id="12" dur="500"/>
                                        <p:tgtEl>
                                          <p:spTgt spid="239619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5" fill="hold" grpId="0" nodeType="clickEffect">
                                  <p:stCondLst>
                                    <p:cond delay="0"/>
                                  </p:stCondLst>
                                  <p:childTnLst>
                                    <p:set>
                                      <p:cBhvr>
                                        <p:cTn id="31" dur="1" fill="hold">
                                          <p:stCondLst>
                                            <p:cond delay="0"/>
                                          </p:stCondLst>
                                        </p:cTn>
                                        <p:tgtEl>
                                          <p:spTgt spid="2396195"/>
                                        </p:tgtEl>
                                        <p:attrNameLst>
                                          <p:attrName>style.visibility</p:attrName>
                                        </p:attrNameLst>
                                      </p:cBhvr>
                                      <p:to>
                                        <p:strVal val="visible"/>
                                      </p:to>
                                    </p:set>
                                    <p:animEffect transition="in" filter="blinds(vertical)">
                                      <p:cBhvr>
                                        <p:cTn id="32" dur="500"/>
                                        <p:tgtEl>
                                          <p:spTgt spid="239619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5" fill="hold" grpId="0" nodeType="clickEffect">
                                  <p:stCondLst>
                                    <p:cond delay="0"/>
                                  </p:stCondLst>
                                  <p:childTnLst>
                                    <p:set>
                                      <p:cBhvr>
                                        <p:cTn id="36" dur="1" fill="hold">
                                          <p:stCondLst>
                                            <p:cond delay="0"/>
                                          </p:stCondLst>
                                        </p:cTn>
                                        <p:tgtEl>
                                          <p:spTgt spid="2396198"/>
                                        </p:tgtEl>
                                        <p:attrNameLst>
                                          <p:attrName>style.visibility</p:attrName>
                                        </p:attrNameLst>
                                      </p:cBhvr>
                                      <p:to>
                                        <p:strVal val="visible"/>
                                      </p:to>
                                    </p:set>
                                    <p:animEffect transition="in" filter="blinds(vertical)">
                                      <p:cBhvr>
                                        <p:cTn id="37" dur="500"/>
                                        <p:tgtEl>
                                          <p:spTgt spid="239619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5" fill="hold" grpId="0" nodeType="clickEffect">
                                  <p:stCondLst>
                                    <p:cond delay="0"/>
                                  </p:stCondLst>
                                  <p:childTnLst>
                                    <p:set>
                                      <p:cBhvr>
                                        <p:cTn id="41" dur="1" fill="hold">
                                          <p:stCondLst>
                                            <p:cond delay="0"/>
                                          </p:stCondLst>
                                        </p:cTn>
                                        <p:tgtEl>
                                          <p:spTgt spid="2396196"/>
                                        </p:tgtEl>
                                        <p:attrNameLst>
                                          <p:attrName>style.visibility</p:attrName>
                                        </p:attrNameLst>
                                      </p:cBhvr>
                                      <p:to>
                                        <p:strVal val="visible"/>
                                      </p:to>
                                    </p:set>
                                    <p:animEffect transition="in" filter="blinds(vertical)">
                                      <p:cBhvr>
                                        <p:cTn id="42" dur="500"/>
                                        <p:tgtEl>
                                          <p:spTgt spid="239619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5" fill="hold" grpId="0" nodeType="clickEffect">
                                  <p:stCondLst>
                                    <p:cond delay="0"/>
                                  </p:stCondLst>
                                  <p:childTnLst>
                                    <p:set>
                                      <p:cBhvr>
                                        <p:cTn id="46" dur="1" fill="hold">
                                          <p:stCondLst>
                                            <p:cond delay="0"/>
                                          </p:stCondLst>
                                        </p:cTn>
                                        <p:tgtEl>
                                          <p:spTgt spid="2396199"/>
                                        </p:tgtEl>
                                        <p:attrNameLst>
                                          <p:attrName>style.visibility</p:attrName>
                                        </p:attrNameLst>
                                      </p:cBhvr>
                                      <p:to>
                                        <p:strVal val="visible"/>
                                      </p:to>
                                    </p:set>
                                    <p:animEffect transition="in" filter="blinds(vertical)">
                                      <p:cBhvr>
                                        <p:cTn id="47" dur="500"/>
                                        <p:tgtEl>
                                          <p:spTgt spid="239619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5" fill="hold" grpId="0" nodeType="clickEffect">
                                  <p:stCondLst>
                                    <p:cond delay="0"/>
                                  </p:stCondLst>
                                  <p:childTnLst>
                                    <p:set>
                                      <p:cBhvr>
                                        <p:cTn id="51" dur="1" fill="hold">
                                          <p:stCondLst>
                                            <p:cond delay="0"/>
                                          </p:stCondLst>
                                        </p:cTn>
                                        <p:tgtEl>
                                          <p:spTgt spid="2396197"/>
                                        </p:tgtEl>
                                        <p:attrNameLst>
                                          <p:attrName>style.visibility</p:attrName>
                                        </p:attrNameLst>
                                      </p:cBhvr>
                                      <p:to>
                                        <p:strVal val="visible"/>
                                      </p:to>
                                    </p:set>
                                    <p:animEffect transition="in" filter="blinds(vertical)">
                                      <p:cBhvr>
                                        <p:cTn id="52" dur="500"/>
                                        <p:tgtEl>
                                          <p:spTgt spid="239619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5" fill="hold" grpId="0" nodeType="clickEffect">
                                  <p:stCondLst>
                                    <p:cond delay="0"/>
                                  </p:stCondLst>
                                  <p:childTnLst>
                                    <p:set>
                                      <p:cBhvr>
                                        <p:cTn id="56" dur="1" fill="hold">
                                          <p:stCondLst>
                                            <p:cond delay="0"/>
                                          </p:stCondLst>
                                        </p:cTn>
                                        <p:tgtEl>
                                          <p:spTgt spid="2396229"/>
                                        </p:tgtEl>
                                        <p:attrNameLst>
                                          <p:attrName>style.visibility</p:attrName>
                                        </p:attrNameLst>
                                      </p:cBhvr>
                                      <p:to>
                                        <p:strVal val="visible"/>
                                      </p:to>
                                    </p:set>
                                    <p:animEffect transition="in" filter="blinds(vertical)">
                                      <p:cBhvr>
                                        <p:cTn id="57" dur="500"/>
                                        <p:tgtEl>
                                          <p:spTgt spid="2396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93" grpId="0" animBg="1" autoUpdateAnimBg="0"/>
      <p:bldP spid="2396194" grpId="0" animBg="1" autoUpdateAnimBg="0"/>
      <p:bldP spid="2396195" grpId="0" animBg="1" autoUpdateAnimBg="0"/>
      <p:bldP spid="2396196" grpId="0" animBg="1" autoUpdateAnimBg="0"/>
      <p:bldP spid="2396197" grpId="0" animBg="1" autoUpdateAnimBg="0"/>
      <p:bldP spid="2396198" grpId="0" animBg="1" autoUpdateAnimBg="0"/>
      <p:bldP spid="2396199" grpId="0" animBg="1" autoUpdateAnimBg="0"/>
      <p:bldP spid="2396229" grpId="0" animBg="1" autoUpdateAnimBg="0"/>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日期占位符 1">
            <a:extLst>
              <a:ext uri="{FF2B5EF4-FFF2-40B4-BE49-F238E27FC236}">
                <a16:creationId xmlns:a16="http://schemas.microsoft.com/office/drawing/2014/main" id="{28F1A506-6565-4B83-8440-E642E1ABBC1D}"/>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42FA3FBB-4AA6-492B-B8D2-03C1C9525E93}"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35843" name="Rectangle 2">
            <a:extLst>
              <a:ext uri="{FF2B5EF4-FFF2-40B4-BE49-F238E27FC236}">
                <a16:creationId xmlns:a16="http://schemas.microsoft.com/office/drawing/2014/main" id="{9E4CCA7A-46DE-4A85-9365-3DE396D2E10A}"/>
              </a:ext>
            </a:extLst>
          </p:cNvPr>
          <p:cNvSpPr>
            <a:spLocks noChangeArrowheads="1"/>
          </p:cNvSpPr>
          <p:nvPr/>
        </p:nvSpPr>
        <p:spPr bwMode="auto">
          <a:xfrm>
            <a:off x="3048000" y="838200"/>
            <a:ext cx="7239000" cy="1066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endParaRPr lang="zh-CN" altLang="en-US" sz="2800">
              <a:solidFill>
                <a:schemeClr val="tx1"/>
              </a:solidFill>
              <a:latin typeface="Times New Roman" panose="02020603050405020304" pitchFamily="18" charset="0"/>
              <a:ea typeface="楷体_GB2312" pitchFamily="49" charset="-122"/>
            </a:endParaRPr>
          </a:p>
        </p:txBody>
      </p:sp>
      <p:sp>
        <p:nvSpPr>
          <p:cNvPr id="2398211" name="Rectangle 3">
            <a:extLst>
              <a:ext uri="{FF2B5EF4-FFF2-40B4-BE49-F238E27FC236}">
                <a16:creationId xmlns:a16="http://schemas.microsoft.com/office/drawing/2014/main" id="{97E6689F-4A1F-481A-A27D-31F816D97E0C}"/>
              </a:ext>
            </a:extLst>
          </p:cNvPr>
          <p:cNvSpPr>
            <a:spLocks noChangeArrowheads="1"/>
          </p:cNvSpPr>
          <p:nvPr/>
        </p:nvSpPr>
        <p:spPr bwMode="auto">
          <a:xfrm>
            <a:off x="8077200" y="3657600"/>
            <a:ext cx="1524000" cy="685800"/>
          </a:xfrm>
          <a:prstGeom prst="rect">
            <a:avLst/>
          </a:prstGeom>
          <a:solidFill>
            <a:schemeClr val="bg1"/>
          </a:solidFill>
          <a:ln w="9525">
            <a:solidFill>
              <a:srgbClr val="70E5E8"/>
            </a:solidFill>
            <a:miter lim="800000"/>
            <a:headEnd/>
            <a:tailEnd/>
          </a:ln>
          <a:effectLst>
            <a:outerShdw dist="107763" dir="2700000" algn="ctr" rotWithShape="0">
              <a:schemeClr val="bg2"/>
            </a:outerShdw>
          </a:effec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000">
                <a:solidFill>
                  <a:srgbClr val="1AA1A4"/>
                </a:solidFill>
                <a:latin typeface="Times New Roman" panose="02020603050405020304" pitchFamily="18" charset="0"/>
                <a:ea typeface="黑体" panose="02010609060101010101" pitchFamily="49" charset="-122"/>
              </a:rPr>
              <a:t>3，0，3</a:t>
            </a:r>
          </a:p>
          <a:p>
            <a:pPr algn="ctr">
              <a:spcBef>
                <a:spcPct val="0"/>
              </a:spcBef>
              <a:buFontTx/>
              <a:buNone/>
            </a:pPr>
            <a:r>
              <a:rPr lang="zh-CN" altLang="en-US" sz="2000">
                <a:solidFill>
                  <a:srgbClr val="1AA1A4"/>
                </a:solidFill>
                <a:latin typeface="Times New Roman" panose="02020603050405020304" pitchFamily="18" charset="0"/>
                <a:ea typeface="黑体" panose="02010609060101010101" pitchFamily="49" charset="-122"/>
              </a:rPr>
              <a:t>3，0，1</a:t>
            </a:r>
            <a:endParaRPr lang="en-US" altLang="zh-CN" sz="2000">
              <a:solidFill>
                <a:srgbClr val="1AA1A4"/>
              </a:solidFill>
              <a:latin typeface="Times New Roman" panose="02020603050405020304" pitchFamily="18" charset="0"/>
              <a:ea typeface="黑体" panose="02010609060101010101" pitchFamily="49" charset="-122"/>
            </a:endParaRPr>
          </a:p>
        </p:txBody>
      </p:sp>
      <p:sp>
        <p:nvSpPr>
          <p:cNvPr id="2398212" name="AutoShape 4">
            <a:extLst>
              <a:ext uri="{FF2B5EF4-FFF2-40B4-BE49-F238E27FC236}">
                <a16:creationId xmlns:a16="http://schemas.microsoft.com/office/drawing/2014/main" id="{DD91B442-39CA-47B6-98FE-E4FEE9456A63}"/>
              </a:ext>
            </a:extLst>
          </p:cNvPr>
          <p:cNvSpPr>
            <a:spLocks noChangeArrowheads="1"/>
          </p:cNvSpPr>
          <p:nvPr/>
        </p:nvSpPr>
        <p:spPr bwMode="auto">
          <a:xfrm>
            <a:off x="8001000" y="2819400"/>
            <a:ext cx="1905000" cy="685800"/>
          </a:xfrm>
          <a:prstGeom prst="wedgeRectCallout">
            <a:avLst>
              <a:gd name="adj1" fmla="val -18333"/>
              <a:gd name="adj2" fmla="val 85648"/>
            </a:avLst>
          </a:prstGeom>
          <a:solidFill>
            <a:schemeClr val="bg1"/>
          </a:solidFill>
          <a:ln w="9525">
            <a:solidFill>
              <a:srgbClr val="1AA1A4"/>
            </a:solidFill>
            <a:miter lim="800000"/>
            <a:headEnd/>
            <a:tailEnd/>
          </a:ln>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800">
                <a:solidFill>
                  <a:srgbClr val="1AA1A4"/>
                </a:solidFill>
                <a:latin typeface="Times New Roman" panose="02020603050405020304" pitchFamily="18" charset="0"/>
                <a:ea typeface="黑体" panose="02010609060101010101" pitchFamily="49" charset="-122"/>
              </a:rPr>
              <a:t>取“</a:t>
            </a:r>
            <a:r>
              <a:rPr lang="zh-CN" altLang="en-US" sz="1800">
                <a:solidFill>
                  <a:srgbClr val="EF8D2B"/>
                </a:solidFill>
                <a:latin typeface="Times New Roman" panose="02020603050405020304" pitchFamily="18" charset="0"/>
                <a:ea typeface="黑体" panose="02010609060101010101" pitchFamily="49" charset="-122"/>
              </a:rPr>
              <a:t>真假</a:t>
            </a:r>
            <a:r>
              <a:rPr lang="zh-CN" altLang="en-US" sz="1800">
                <a:solidFill>
                  <a:srgbClr val="1AA1A4"/>
                </a:solidFill>
                <a:latin typeface="Times New Roman" panose="02020603050405020304" pitchFamily="18" charset="0"/>
                <a:ea typeface="黑体" panose="02010609060101010101" pitchFamily="49" charset="-122"/>
              </a:rPr>
              <a:t>”分支</a:t>
            </a:r>
          </a:p>
          <a:p>
            <a:pPr algn="ctr">
              <a:spcBef>
                <a:spcPct val="0"/>
              </a:spcBef>
              <a:buFontTx/>
              <a:buNone/>
            </a:pPr>
            <a:r>
              <a:rPr lang="zh-CN" altLang="en-US" sz="1800">
                <a:solidFill>
                  <a:srgbClr val="1AA1A4"/>
                </a:solidFill>
                <a:latin typeface="Times New Roman" panose="02020603050405020304" pitchFamily="18" charset="0"/>
                <a:ea typeface="黑体" panose="02010609060101010101" pitchFamily="49" charset="-122"/>
              </a:rPr>
              <a:t>测试用例如下</a:t>
            </a:r>
          </a:p>
        </p:txBody>
      </p:sp>
      <p:grpSp>
        <p:nvGrpSpPr>
          <p:cNvPr id="2" name="Group 10">
            <a:extLst>
              <a:ext uri="{FF2B5EF4-FFF2-40B4-BE49-F238E27FC236}">
                <a16:creationId xmlns:a16="http://schemas.microsoft.com/office/drawing/2014/main" id="{4C5B807F-E2DC-4891-A55B-562513ADA641}"/>
              </a:ext>
            </a:extLst>
          </p:cNvPr>
          <p:cNvGrpSpPr>
            <a:grpSpLocks/>
          </p:cNvGrpSpPr>
          <p:nvPr/>
        </p:nvGrpSpPr>
        <p:grpSpPr bwMode="auto">
          <a:xfrm>
            <a:off x="3657600" y="1066800"/>
            <a:ext cx="3657600" cy="3733800"/>
            <a:chOff x="1344" y="672"/>
            <a:chExt cx="2304" cy="2352"/>
          </a:xfrm>
        </p:grpSpPr>
        <p:sp>
          <p:nvSpPr>
            <p:cNvPr id="2398219" name="Text Box 11">
              <a:extLst>
                <a:ext uri="{FF2B5EF4-FFF2-40B4-BE49-F238E27FC236}">
                  <a16:creationId xmlns:a16="http://schemas.microsoft.com/office/drawing/2014/main" id="{9558B8B8-1ED8-437C-AF6F-FA16A5B701E8}"/>
                </a:ext>
              </a:extLst>
            </p:cNvPr>
            <p:cNvSpPr txBox="1">
              <a:spLocks noChangeArrowheads="1"/>
            </p:cNvSpPr>
            <p:nvPr/>
          </p:nvSpPr>
          <p:spPr bwMode="auto">
            <a:xfrm>
              <a:off x="1344" y="1200"/>
              <a:ext cx="223"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b</a:t>
              </a:r>
            </a:p>
          </p:txBody>
        </p:sp>
        <p:sp>
          <p:nvSpPr>
            <p:cNvPr id="2398220" name="Text Box 12">
              <a:extLst>
                <a:ext uri="{FF2B5EF4-FFF2-40B4-BE49-F238E27FC236}">
                  <a16:creationId xmlns:a16="http://schemas.microsoft.com/office/drawing/2014/main" id="{7A219269-20CB-4DBB-A852-510C5C636A74}"/>
                </a:ext>
              </a:extLst>
            </p:cNvPr>
            <p:cNvSpPr txBox="1">
              <a:spLocks noChangeArrowheads="1"/>
            </p:cNvSpPr>
            <p:nvPr/>
          </p:nvSpPr>
          <p:spPr bwMode="auto">
            <a:xfrm>
              <a:off x="1344" y="2160"/>
              <a:ext cx="223"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d</a:t>
              </a:r>
            </a:p>
          </p:txBody>
        </p:sp>
        <p:sp>
          <p:nvSpPr>
            <p:cNvPr id="2398221" name="Text Box 13">
              <a:extLst>
                <a:ext uri="{FF2B5EF4-FFF2-40B4-BE49-F238E27FC236}">
                  <a16:creationId xmlns:a16="http://schemas.microsoft.com/office/drawing/2014/main" id="{F3DF7393-BFF3-43EF-AFB0-75F5CDEE1B73}"/>
                </a:ext>
              </a:extLst>
            </p:cNvPr>
            <p:cNvSpPr txBox="1">
              <a:spLocks noChangeArrowheads="1"/>
            </p:cNvSpPr>
            <p:nvPr/>
          </p:nvSpPr>
          <p:spPr bwMode="auto">
            <a:xfrm>
              <a:off x="2256" y="672"/>
              <a:ext cx="288" cy="288"/>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a</a:t>
              </a:r>
            </a:p>
          </p:txBody>
        </p:sp>
        <p:sp>
          <p:nvSpPr>
            <p:cNvPr id="2398222" name="Text Box 14">
              <a:extLst>
                <a:ext uri="{FF2B5EF4-FFF2-40B4-BE49-F238E27FC236}">
                  <a16:creationId xmlns:a16="http://schemas.microsoft.com/office/drawing/2014/main" id="{219597D8-E8AF-4E3C-A9D9-F2AE7F68E7AA}"/>
                </a:ext>
              </a:extLst>
            </p:cNvPr>
            <p:cNvSpPr txBox="1">
              <a:spLocks noChangeArrowheads="1"/>
            </p:cNvSpPr>
            <p:nvPr/>
          </p:nvSpPr>
          <p:spPr bwMode="auto">
            <a:xfrm>
              <a:off x="3264" y="1200"/>
              <a:ext cx="223" cy="288"/>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c</a:t>
              </a:r>
            </a:p>
          </p:txBody>
        </p:sp>
        <p:sp>
          <p:nvSpPr>
            <p:cNvPr id="2398223" name="Text Box 15">
              <a:extLst>
                <a:ext uri="{FF2B5EF4-FFF2-40B4-BE49-F238E27FC236}">
                  <a16:creationId xmlns:a16="http://schemas.microsoft.com/office/drawing/2014/main" id="{0B942B69-1550-4EA0-890D-A3B5C089B90C}"/>
                </a:ext>
              </a:extLst>
            </p:cNvPr>
            <p:cNvSpPr txBox="1">
              <a:spLocks noChangeArrowheads="1"/>
            </p:cNvSpPr>
            <p:nvPr/>
          </p:nvSpPr>
          <p:spPr bwMode="auto">
            <a:xfrm>
              <a:off x="3312" y="2160"/>
              <a:ext cx="201"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e</a:t>
              </a:r>
            </a:p>
          </p:txBody>
        </p:sp>
        <p:sp>
          <p:nvSpPr>
            <p:cNvPr id="35871" name="AutoShape 16">
              <a:extLst>
                <a:ext uri="{FF2B5EF4-FFF2-40B4-BE49-F238E27FC236}">
                  <a16:creationId xmlns:a16="http://schemas.microsoft.com/office/drawing/2014/main" id="{42E4A5F2-1762-4033-A751-E1E31FD0CDF9}"/>
                </a:ext>
              </a:extLst>
            </p:cNvPr>
            <p:cNvSpPr>
              <a:spLocks noChangeArrowheads="1"/>
            </p:cNvSpPr>
            <p:nvPr/>
          </p:nvSpPr>
          <p:spPr bwMode="auto">
            <a:xfrm>
              <a:off x="1680" y="1152"/>
              <a:ext cx="1440" cy="288"/>
            </a:xfrm>
            <a:prstGeom prst="flowChartDecision">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(A&gt;1) ^ (B=0)</a:t>
              </a:r>
            </a:p>
          </p:txBody>
        </p:sp>
        <p:sp>
          <p:nvSpPr>
            <p:cNvPr id="35872" name="Line 17">
              <a:extLst>
                <a:ext uri="{FF2B5EF4-FFF2-40B4-BE49-F238E27FC236}">
                  <a16:creationId xmlns:a16="http://schemas.microsoft.com/office/drawing/2014/main" id="{18E88210-E5E5-4E4F-BE3F-C66EEC1C2CEA}"/>
                </a:ext>
              </a:extLst>
            </p:cNvPr>
            <p:cNvSpPr>
              <a:spLocks noChangeShapeType="1"/>
            </p:cNvSpPr>
            <p:nvPr/>
          </p:nvSpPr>
          <p:spPr bwMode="auto">
            <a:xfrm>
              <a:off x="3264" y="1296"/>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73" name="Rectangle 18">
              <a:extLst>
                <a:ext uri="{FF2B5EF4-FFF2-40B4-BE49-F238E27FC236}">
                  <a16:creationId xmlns:a16="http://schemas.microsoft.com/office/drawing/2014/main" id="{A07CE81A-8148-40D6-B6A8-966EE5AF91C2}"/>
                </a:ext>
              </a:extLst>
            </p:cNvPr>
            <p:cNvSpPr>
              <a:spLocks noChangeArrowheads="1"/>
            </p:cNvSpPr>
            <p:nvPr/>
          </p:nvSpPr>
          <p:spPr bwMode="auto">
            <a:xfrm>
              <a:off x="2880" y="1488"/>
              <a:ext cx="768" cy="288"/>
            </a:xfrm>
            <a:prstGeom prst="rect">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X=X/A</a:t>
              </a:r>
            </a:p>
          </p:txBody>
        </p:sp>
        <p:sp>
          <p:nvSpPr>
            <p:cNvPr id="35874" name="Line 19">
              <a:extLst>
                <a:ext uri="{FF2B5EF4-FFF2-40B4-BE49-F238E27FC236}">
                  <a16:creationId xmlns:a16="http://schemas.microsoft.com/office/drawing/2014/main" id="{944B9C55-0552-4FCD-A6AB-27FBA7C8E7AA}"/>
                </a:ext>
              </a:extLst>
            </p:cNvPr>
            <p:cNvSpPr>
              <a:spLocks noChangeShapeType="1"/>
            </p:cNvSpPr>
            <p:nvPr/>
          </p:nvSpPr>
          <p:spPr bwMode="auto">
            <a:xfrm>
              <a:off x="2400" y="960"/>
              <a:ext cx="0" cy="192"/>
            </a:xfrm>
            <a:prstGeom prst="line">
              <a:avLst/>
            </a:prstGeom>
            <a:noFill/>
            <a:ln w="2857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75" name="Text Box 20">
              <a:extLst>
                <a:ext uri="{FF2B5EF4-FFF2-40B4-BE49-F238E27FC236}">
                  <a16:creationId xmlns:a16="http://schemas.microsoft.com/office/drawing/2014/main" id="{DA5908DC-9DBC-4E88-8939-6D42D36B3709}"/>
                </a:ext>
              </a:extLst>
            </p:cNvPr>
            <p:cNvSpPr txBox="1">
              <a:spLocks noChangeArrowheads="1"/>
            </p:cNvSpPr>
            <p:nvPr/>
          </p:nvSpPr>
          <p:spPr bwMode="auto">
            <a:xfrm>
              <a:off x="3123" y="1103"/>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ea typeface="文鼎细圆" pitchFamily="49" charset="-122"/>
                </a:rPr>
                <a:t>T</a:t>
              </a:r>
            </a:p>
          </p:txBody>
        </p:sp>
        <p:sp>
          <p:nvSpPr>
            <p:cNvPr id="35876" name="Text Box 21">
              <a:extLst>
                <a:ext uri="{FF2B5EF4-FFF2-40B4-BE49-F238E27FC236}">
                  <a16:creationId xmlns:a16="http://schemas.microsoft.com/office/drawing/2014/main" id="{314C7685-0715-4304-B758-BDC6C28766AD}"/>
                </a:ext>
              </a:extLst>
            </p:cNvPr>
            <p:cNvSpPr txBox="1">
              <a:spLocks noChangeArrowheads="1"/>
            </p:cNvSpPr>
            <p:nvPr/>
          </p:nvSpPr>
          <p:spPr bwMode="auto">
            <a:xfrm>
              <a:off x="1488" y="1056"/>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ea typeface="文鼎细圆" pitchFamily="49" charset="-122"/>
                </a:rPr>
                <a:t>F</a:t>
              </a:r>
            </a:p>
          </p:txBody>
        </p:sp>
        <p:sp>
          <p:nvSpPr>
            <p:cNvPr id="35877" name="Line 22">
              <a:extLst>
                <a:ext uri="{FF2B5EF4-FFF2-40B4-BE49-F238E27FC236}">
                  <a16:creationId xmlns:a16="http://schemas.microsoft.com/office/drawing/2014/main" id="{F4E2B6E6-BBF0-48A5-B933-EAE6F4C7EC85}"/>
                </a:ext>
              </a:extLst>
            </p:cNvPr>
            <p:cNvSpPr>
              <a:spLocks noChangeShapeType="1"/>
            </p:cNvSpPr>
            <p:nvPr/>
          </p:nvSpPr>
          <p:spPr bwMode="auto">
            <a:xfrm>
              <a:off x="3120" y="1296"/>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78" name="Line 23">
              <a:extLst>
                <a:ext uri="{FF2B5EF4-FFF2-40B4-BE49-F238E27FC236}">
                  <a16:creationId xmlns:a16="http://schemas.microsoft.com/office/drawing/2014/main" id="{CE3FF2E2-6725-4884-B87A-5AEA8C78CF83}"/>
                </a:ext>
              </a:extLst>
            </p:cNvPr>
            <p:cNvSpPr>
              <a:spLocks noChangeShapeType="1"/>
            </p:cNvSpPr>
            <p:nvPr/>
          </p:nvSpPr>
          <p:spPr bwMode="auto">
            <a:xfrm>
              <a:off x="3264" y="1776"/>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79" name="AutoShape 24">
              <a:extLst>
                <a:ext uri="{FF2B5EF4-FFF2-40B4-BE49-F238E27FC236}">
                  <a16:creationId xmlns:a16="http://schemas.microsoft.com/office/drawing/2014/main" id="{2A190210-E688-47BB-BD14-1298745E094F}"/>
                </a:ext>
              </a:extLst>
            </p:cNvPr>
            <p:cNvSpPr>
              <a:spLocks noChangeArrowheads="1"/>
            </p:cNvSpPr>
            <p:nvPr/>
          </p:nvSpPr>
          <p:spPr bwMode="auto">
            <a:xfrm>
              <a:off x="1728" y="2112"/>
              <a:ext cx="1344" cy="288"/>
            </a:xfrm>
            <a:prstGeom prst="flowChartDecision">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(A=2) V (X&gt;1)</a:t>
              </a:r>
            </a:p>
          </p:txBody>
        </p:sp>
        <p:sp>
          <p:nvSpPr>
            <p:cNvPr id="35880" name="Rectangle 25">
              <a:extLst>
                <a:ext uri="{FF2B5EF4-FFF2-40B4-BE49-F238E27FC236}">
                  <a16:creationId xmlns:a16="http://schemas.microsoft.com/office/drawing/2014/main" id="{46643A07-95D6-41F7-AE35-6D0E27D5D11B}"/>
                </a:ext>
              </a:extLst>
            </p:cNvPr>
            <p:cNvSpPr>
              <a:spLocks noChangeArrowheads="1"/>
            </p:cNvSpPr>
            <p:nvPr/>
          </p:nvSpPr>
          <p:spPr bwMode="auto">
            <a:xfrm>
              <a:off x="2880" y="2448"/>
              <a:ext cx="768" cy="288"/>
            </a:xfrm>
            <a:prstGeom prst="rect">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X=X+1</a:t>
              </a:r>
            </a:p>
          </p:txBody>
        </p:sp>
        <p:sp>
          <p:nvSpPr>
            <p:cNvPr id="35881" name="Text Box 26">
              <a:extLst>
                <a:ext uri="{FF2B5EF4-FFF2-40B4-BE49-F238E27FC236}">
                  <a16:creationId xmlns:a16="http://schemas.microsoft.com/office/drawing/2014/main" id="{457CD1A0-DE74-4945-9C2F-558AF41052AC}"/>
                </a:ext>
              </a:extLst>
            </p:cNvPr>
            <p:cNvSpPr txBox="1">
              <a:spLocks noChangeArrowheads="1"/>
            </p:cNvSpPr>
            <p:nvPr/>
          </p:nvSpPr>
          <p:spPr bwMode="auto">
            <a:xfrm>
              <a:off x="3027" y="2063"/>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ea typeface="文鼎细圆" pitchFamily="49" charset="-122"/>
                </a:rPr>
                <a:t>T</a:t>
              </a:r>
            </a:p>
          </p:txBody>
        </p:sp>
        <p:sp>
          <p:nvSpPr>
            <p:cNvPr id="35882" name="Line 27">
              <a:extLst>
                <a:ext uri="{FF2B5EF4-FFF2-40B4-BE49-F238E27FC236}">
                  <a16:creationId xmlns:a16="http://schemas.microsoft.com/office/drawing/2014/main" id="{FB3DD6F2-489C-4891-A645-24BB94AB9EF5}"/>
                </a:ext>
              </a:extLst>
            </p:cNvPr>
            <p:cNvSpPr>
              <a:spLocks noChangeShapeType="1"/>
            </p:cNvSpPr>
            <p:nvPr/>
          </p:nvSpPr>
          <p:spPr bwMode="auto">
            <a:xfrm>
              <a:off x="1584" y="2256"/>
              <a:ext cx="0" cy="624"/>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83" name="Text Box 28">
              <a:extLst>
                <a:ext uri="{FF2B5EF4-FFF2-40B4-BE49-F238E27FC236}">
                  <a16:creationId xmlns:a16="http://schemas.microsoft.com/office/drawing/2014/main" id="{92A0F345-FC23-430D-AF15-1BA81A505C34}"/>
                </a:ext>
              </a:extLst>
            </p:cNvPr>
            <p:cNvSpPr txBox="1">
              <a:spLocks noChangeArrowheads="1"/>
            </p:cNvSpPr>
            <p:nvPr/>
          </p:nvSpPr>
          <p:spPr bwMode="auto">
            <a:xfrm>
              <a:off x="1584" y="2016"/>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ea typeface="文鼎细圆" pitchFamily="49" charset="-122"/>
                </a:rPr>
                <a:t>F</a:t>
              </a:r>
            </a:p>
          </p:txBody>
        </p:sp>
        <p:sp>
          <p:nvSpPr>
            <p:cNvPr id="35884" name="Line 29">
              <a:extLst>
                <a:ext uri="{FF2B5EF4-FFF2-40B4-BE49-F238E27FC236}">
                  <a16:creationId xmlns:a16="http://schemas.microsoft.com/office/drawing/2014/main" id="{F41CF88B-2F40-4683-98C5-782A7B804C81}"/>
                </a:ext>
              </a:extLst>
            </p:cNvPr>
            <p:cNvSpPr>
              <a:spLocks noChangeShapeType="1"/>
            </p:cNvSpPr>
            <p:nvPr/>
          </p:nvSpPr>
          <p:spPr bwMode="auto">
            <a:xfrm>
              <a:off x="1584" y="2256"/>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85" name="Line 30">
              <a:extLst>
                <a:ext uri="{FF2B5EF4-FFF2-40B4-BE49-F238E27FC236}">
                  <a16:creationId xmlns:a16="http://schemas.microsoft.com/office/drawing/2014/main" id="{EB08622A-BF7D-4E8E-8AB3-1CECDD37BB67}"/>
                </a:ext>
              </a:extLst>
            </p:cNvPr>
            <p:cNvSpPr>
              <a:spLocks noChangeShapeType="1"/>
            </p:cNvSpPr>
            <p:nvPr/>
          </p:nvSpPr>
          <p:spPr bwMode="auto">
            <a:xfrm>
              <a:off x="2400" y="1968"/>
              <a:ext cx="86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86" name="Line 31">
              <a:extLst>
                <a:ext uri="{FF2B5EF4-FFF2-40B4-BE49-F238E27FC236}">
                  <a16:creationId xmlns:a16="http://schemas.microsoft.com/office/drawing/2014/main" id="{0759C8FB-8D01-4610-8478-451D9D161060}"/>
                </a:ext>
              </a:extLst>
            </p:cNvPr>
            <p:cNvSpPr>
              <a:spLocks noChangeShapeType="1"/>
            </p:cNvSpPr>
            <p:nvPr/>
          </p:nvSpPr>
          <p:spPr bwMode="auto">
            <a:xfrm>
              <a:off x="1584" y="2880"/>
              <a:ext cx="86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87" name="Line 32">
              <a:extLst>
                <a:ext uri="{FF2B5EF4-FFF2-40B4-BE49-F238E27FC236}">
                  <a16:creationId xmlns:a16="http://schemas.microsoft.com/office/drawing/2014/main" id="{D70755E4-ACE8-412D-A780-1159C2544C3A}"/>
                </a:ext>
              </a:extLst>
            </p:cNvPr>
            <p:cNvSpPr>
              <a:spLocks noChangeShapeType="1"/>
            </p:cNvSpPr>
            <p:nvPr/>
          </p:nvSpPr>
          <p:spPr bwMode="auto">
            <a:xfrm>
              <a:off x="1536" y="1296"/>
              <a:ext cx="0" cy="672"/>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88" name="Line 33">
              <a:extLst>
                <a:ext uri="{FF2B5EF4-FFF2-40B4-BE49-F238E27FC236}">
                  <a16:creationId xmlns:a16="http://schemas.microsoft.com/office/drawing/2014/main" id="{33B0F527-D17F-431F-BF26-AE96E48FDA68}"/>
                </a:ext>
              </a:extLst>
            </p:cNvPr>
            <p:cNvSpPr>
              <a:spLocks noChangeShapeType="1"/>
            </p:cNvSpPr>
            <p:nvPr/>
          </p:nvSpPr>
          <p:spPr bwMode="auto">
            <a:xfrm>
              <a:off x="1536" y="1296"/>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89" name="Line 34">
              <a:extLst>
                <a:ext uri="{FF2B5EF4-FFF2-40B4-BE49-F238E27FC236}">
                  <a16:creationId xmlns:a16="http://schemas.microsoft.com/office/drawing/2014/main" id="{5F7D8843-7AE6-490D-98F1-2F6A25325BE0}"/>
                </a:ext>
              </a:extLst>
            </p:cNvPr>
            <p:cNvSpPr>
              <a:spLocks noChangeShapeType="1"/>
            </p:cNvSpPr>
            <p:nvPr/>
          </p:nvSpPr>
          <p:spPr bwMode="auto">
            <a:xfrm>
              <a:off x="1536" y="1968"/>
              <a:ext cx="86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90" name="Line 35">
              <a:extLst>
                <a:ext uri="{FF2B5EF4-FFF2-40B4-BE49-F238E27FC236}">
                  <a16:creationId xmlns:a16="http://schemas.microsoft.com/office/drawing/2014/main" id="{563FB337-D76E-4A0A-AE1E-73A67AB37E11}"/>
                </a:ext>
              </a:extLst>
            </p:cNvPr>
            <p:cNvSpPr>
              <a:spLocks noChangeShapeType="1"/>
            </p:cNvSpPr>
            <p:nvPr/>
          </p:nvSpPr>
          <p:spPr bwMode="auto">
            <a:xfrm>
              <a:off x="3216" y="2256"/>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91" name="Line 36">
              <a:extLst>
                <a:ext uri="{FF2B5EF4-FFF2-40B4-BE49-F238E27FC236}">
                  <a16:creationId xmlns:a16="http://schemas.microsoft.com/office/drawing/2014/main" id="{1E1F29D0-7423-4D2F-8393-09AAA1B5B2BB}"/>
                </a:ext>
              </a:extLst>
            </p:cNvPr>
            <p:cNvSpPr>
              <a:spLocks noChangeShapeType="1"/>
            </p:cNvSpPr>
            <p:nvPr/>
          </p:nvSpPr>
          <p:spPr bwMode="auto">
            <a:xfrm>
              <a:off x="3072" y="2256"/>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92" name="Line 37">
              <a:extLst>
                <a:ext uri="{FF2B5EF4-FFF2-40B4-BE49-F238E27FC236}">
                  <a16:creationId xmlns:a16="http://schemas.microsoft.com/office/drawing/2014/main" id="{15DB118B-FA43-4EE1-BB62-BC70065CDBB8}"/>
                </a:ext>
              </a:extLst>
            </p:cNvPr>
            <p:cNvSpPr>
              <a:spLocks noChangeShapeType="1"/>
            </p:cNvSpPr>
            <p:nvPr/>
          </p:nvSpPr>
          <p:spPr bwMode="auto">
            <a:xfrm>
              <a:off x="3216" y="2736"/>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93" name="Line 38">
              <a:extLst>
                <a:ext uri="{FF2B5EF4-FFF2-40B4-BE49-F238E27FC236}">
                  <a16:creationId xmlns:a16="http://schemas.microsoft.com/office/drawing/2014/main" id="{A12ECC8C-7F7C-4217-9D06-EC157925CE88}"/>
                </a:ext>
              </a:extLst>
            </p:cNvPr>
            <p:cNvSpPr>
              <a:spLocks noChangeShapeType="1"/>
            </p:cNvSpPr>
            <p:nvPr/>
          </p:nvSpPr>
          <p:spPr bwMode="auto">
            <a:xfrm>
              <a:off x="2400" y="2880"/>
              <a:ext cx="816"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94" name="Line 39">
              <a:extLst>
                <a:ext uri="{FF2B5EF4-FFF2-40B4-BE49-F238E27FC236}">
                  <a16:creationId xmlns:a16="http://schemas.microsoft.com/office/drawing/2014/main" id="{7FF649FC-D820-4258-AEA2-6F3996589DC2}"/>
                </a:ext>
              </a:extLst>
            </p:cNvPr>
            <p:cNvSpPr>
              <a:spLocks noChangeShapeType="1"/>
            </p:cNvSpPr>
            <p:nvPr/>
          </p:nvSpPr>
          <p:spPr bwMode="auto">
            <a:xfrm>
              <a:off x="2448" y="2880"/>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95" name="Line 40">
              <a:extLst>
                <a:ext uri="{FF2B5EF4-FFF2-40B4-BE49-F238E27FC236}">
                  <a16:creationId xmlns:a16="http://schemas.microsoft.com/office/drawing/2014/main" id="{3E36EEF6-E085-4709-AF9D-9E624D6D653E}"/>
                </a:ext>
              </a:extLst>
            </p:cNvPr>
            <p:cNvSpPr>
              <a:spLocks noChangeShapeType="1"/>
            </p:cNvSpPr>
            <p:nvPr/>
          </p:nvSpPr>
          <p:spPr bwMode="auto">
            <a:xfrm>
              <a:off x="2400" y="1968"/>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64">
            <a:extLst>
              <a:ext uri="{FF2B5EF4-FFF2-40B4-BE49-F238E27FC236}">
                <a16:creationId xmlns:a16="http://schemas.microsoft.com/office/drawing/2014/main" id="{4B9AC1DE-CA8A-4420-91AB-459BCDD3AB7A}"/>
              </a:ext>
            </a:extLst>
          </p:cNvPr>
          <p:cNvGrpSpPr>
            <a:grpSpLocks/>
          </p:cNvGrpSpPr>
          <p:nvPr/>
        </p:nvGrpSpPr>
        <p:grpSpPr bwMode="auto">
          <a:xfrm>
            <a:off x="4038600" y="3581400"/>
            <a:ext cx="1371600" cy="1219200"/>
            <a:chOff x="1584" y="2256"/>
            <a:chExt cx="864" cy="768"/>
          </a:xfrm>
        </p:grpSpPr>
        <p:sp>
          <p:nvSpPr>
            <p:cNvPr id="35862" name="Line 43">
              <a:extLst>
                <a:ext uri="{FF2B5EF4-FFF2-40B4-BE49-F238E27FC236}">
                  <a16:creationId xmlns:a16="http://schemas.microsoft.com/office/drawing/2014/main" id="{CE1849B8-FB26-4C5D-9991-792C1FB4A858}"/>
                </a:ext>
              </a:extLst>
            </p:cNvPr>
            <p:cNvSpPr>
              <a:spLocks noChangeShapeType="1"/>
            </p:cNvSpPr>
            <p:nvPr/>
          </p:nvSpPr>
          <p:spPr bwMode="auto">
            <a:xfrm>
              <a:off x="1584" y="2256"/>
              <a:ext cx="0" cy="624"/>
            </a:xfrm>
            <a:prstGeom prst="line">
              <a:avLst/>
            </a:prstGeom>
            <a:noFill/>
            <a:ln w="2857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63" name="Line 47">
              <a:extLst>
                <a:ext uri="{FF2B5EF4-FFF2-40B4-BE49-F238E27FC236}">
                  <a16:creationId xmlns:a16="http://schemas.microsoft.com/office/drawing/2014/main" id="{750C6ABF-930C-450B-B032-ED71E287E652}"/>
                </a:ext>
              </a:extLst>
            </p:cNvPr>
            <p:cNvSpPr>
              <a:spLocks noChangeShapeType="1"/>
            </p:cNvSpPr>
            <p:nvPr/>
          </p:nvSpPr>
          <p:spPr bwMode="auto">
            <a:xfrm>
              <a:off x="1584" y="2256"/>
              <a:ext cx="144" cy="0"/>
            </a:xfrm>
            <a:prstGeom prst="line">
              <a:avLst/>
            </a:prstGeom>
            <a:noFill/>
            <a:ln w="2857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64" name="Line 50">
              <a:extLst>
                <a:ext uri="{FF2B5EF4-FFF2-40B4-BE49-F238E27FC236}">
                  <a16:creationId xmlns:a16="http://schemas.microsoft.com/office/drawing/2014/main" id="{6CFB742B-5860-43A4-87CE-AB573C1E7B0F}"/>
                </a:ext>
              </a:extLst>
            </p:cNvPr>
            <p:cNvSpPr>
              <a:spLocks noChangeShapeType="1"/>
            </p:cNvSpPr>
            <p:nvPr/>
          </p:nvSpPr>
          <p:spPr bwMode="auto">
            <a:xfrm>
              <a:off x="1584" y="2880"/>
              <a:ext cx="864" cy="0"/>
            </a:xfrm>
            <a:prstGeom prst="line">
              <a:avLst/>
            </a:prstGeom>
            <a:noFill/>
            <a:ln w="2857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65" name="Line 51">
              <a:extLst>
                <a:ext uri="{FF2B5EF4-FFF2-40B4-BE49-F238E27FC236}">
                  <a16:creationId xmlns:a16="http://schemas.microsoft.com/office/drawing/2014/main" id="{62320B4C-5B12-4105-AFDD-464F93E5CD87}"/>
                </a:ext>
              </a:extLst>
            </p:cNvPr>
            <p:cNvSpPr>
              <a:spLocks noChangeShapeType="1"/>
            </p:cNvSpPr>
            <p:nvPr/>
          </p:nvSpPr>
          <p:spPr bwMode="auto">
            <a:xfrm>
              <a:off x="2448" y="2880"/>
              <a:ext cx="0" cy="144"/>
            </a:xfrm>
            <a:prstGeom prst="line">
              <a:avLst/>
            </a:prstGeom>
            <a:noFill/>
            <a:ln w="2857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398262" name="Rectangle 54">
            <a:extLst>
              <a:ext uri="{FF2B5EF4-FFF2-40B4-BE49-F238E27FC236}">
                <a16:creationId xmlns:a16="http://schemas.microsoft.com/office/drawing/2014/main" id="{22C0BC8E-3B7E-4180-A69E-A8D8B26AA8D8}"/>
              </a:ext>
            </a:extLst>
          </p:cNvPr>
          <p:cNvSpPr>
            <a:spLocks noChangeArrowheads="1"/>
          </p:cNvSpPr>
          <p:nvPr/>
        </p:nvSpPr>
        <p:spPr bwMode="auto">
          <a:xfrm>
            <a:off x="4419600" y="5334000"/>
            <a:ext cx="457200" cy="457200"/>
          </a:xfrm>
          <a:prstGeom prst="rect">
            <a:avLst/>
          </a:prstGeom>
          <a:solidFill>
            <a:schemeClr val="bg1"/>
          </a:solidFill>
          <a:ln w="9525">
            <a:noFill/>
            <a:miter lim="800000"/>
            <a:headEnd/>
            <a:tailEnd/>
          </a:ln>
          <a:effectLst/>
        </p:spPr>
        <p:txBody>
          <a:bodyPr wrap="none" anchor="ctr"/>
          <a:lstStyle/>
          <a:p>
            <a:pPr algn="ctr">
              <a:defRPr/>
            </a:pPr>
            <a:r>
              <a:rPr lang="en-US" altLang="zh-CN" sz="2400">
                <a:solidFill>
                  <a:srgbClr val="F535F0"/>
                </a:solidFill>
                <a:effectLst>
                  <a:outerShdw blurRad="38100" dist="38100" dir="2700000" algn="tl">
                    <a:srgbClr val="000000"/>
                  </a:outerShdw>
                </a:effectLst>
                <a:latin typeface="Arial" charset="0"/>
                <a:ea typeface="黑体" pitchFamily="2" charset="-122"/>
              </a:rPr>
              <a:t>a</a:t>
            </a:r>
          </a:p>
        </p:txBody>
      </p:sp>
      <p:sp>
        <p:nvSpPr>
          <p:cNvPr id="2398263" name="Rectangle 55">
            <a:extLst>
              <a:ext uri="{FF2B5EF4-FFF2-40B4-BE49-F238E27FC236}">
                <a16:creationId xmlns:a16="http://schemas.microsoft.com/office/drawing/2014/main" id="{389A6B84-115F-4BC2-A680-F4319463DAB8}"/>
              </a:ext>
            </a:extLst>
          </p:cNvPr>
          <p:cNvSpPr>
            <a:spLocks noChangeArrowheads="1"/>
          </p:cNvSpPr>
          <p:nvPr/>
        </p:nvSpPr>
        <p:spPr bwMode="auto">
          <a:xfrm>
            <a:off x="5029200" y="5334000"/>
            <a:ext cx="457200" cy="457200"/>
          </a:xfrm>
          <a:prstGeom prst="rect">
            <a:avLst/>
          </a:prstGeom>
          <a:solidFill>
            <a:schemeClr val="bg1"/>
          </a:solidFill>
          <a:ln w="9525">
            <a:noFill/>
            <a:miter lim="800000"/>
            <a:headEnd/>
            <a:tailEnd/>
          </a:ln>
          <a:effectLst/>
        </p:spPr>
        <p:txBody>
          <a:bodyPr wrap="none" anchor="ctr"/>
          <a:lstStyle/>
          <a:p>
            <a:pPr algn="ctr">
              <a:defRPr/>
            </a:pPr>
            <a:r>
              <a:rPr lang="en-US" altLang="zh-CN" sz="2400">
                <a:solidFill>
                  <a:srgbClr val="F535F0"/>
                </a:solidFill>
                <a:effectLst>
                  <a:outerShdw blurRad="38100" dist="38100" dir="2700000" algn="tl">
                    <a:srgbClr val="000000"/>
                  </a:outerShdw>
                </a:effectLst>
                <a:latin typeface="Arial" charset="0"/>
                <a:ea typeface="黑体" pitchFamily="2" charset="-122"/>
              </a:rPr>
              <a:t>c</a:t>
            </a:r>
          </a:p>
        </p:txBody>
      </p:sp>
      <p:sp>
        <p:nvSpPr>
          <p:cNvPr id="2398264" name="Rectangle 56">
            <a:extLst>
              <a:ext uri="{FF2B5EF4-FFF2-40B4-BE49-F238E27FC236}">
                <a16:creationId xmlns:a16="http://schemas.microsoft.com/office/drawing/2014/main" id="{053B93B6-6C4F-4264-B1A1-A349FA76A917}"/>
              </a:ext>
            </a:extLst>
          </p:cNvPr>
          <p:cNvSpPr>
            <a:spLocks noChangeArrowheads="1"/>
          </p:cNvSpPr>
          <p:nvPr/>
        </p:nvSpPr>
        <p:spPr bwMode="auto">
          <a:xfrm>
            <a:off x="5715000" y="5334000"/>
            <a:ext cx="457200" cy="457200"/>
          </a:xfrm>
          <a:prstGeom prst="rect">
            <a:avLst/>
          </a:prstGeom>
          <a:solidFill>
            <a:schemeClr val="bg1"/>
          </a:solidFill>
          <a:ln w="9525">
            <a:noFill/>
            <a:miter lim="800000"/>
            <a:headEnd/>
            <a:tailEnd/>
          </a:ln>
          <a:effectLst/>
        </p:spPr>
        <p:txBody>
          <a:bodyPr wrap="none" anchor="ctr"/>
          <a:lstStyle/>
          <a:p>
            <a:pPr algn="ctr">
              <a:defRPr/>
            </a:pPr>
            <a:r>
              <a:rPr lang="en-US" altLang="zh-CN" sz="2400">
                <a:solidFill>
                  <a:srgbClr val="F535F0"/>
                </a:solidFill>
                <a:effectLst>
                  <a:outerShdw blurRad="38100" dist="38100" dir="2700000" algn="tl">
                    <a:srgbClr val="000000"/>
                  </a:outerShdw>
                </a:effectLst>
                <a:latin typeface="Arial" charset="0"/>
                <a:ea typeface="黑体" pitchFamily="2" charset="-122"/>
              </a:rPr>
              <a:t>d</a:t>
            </a:r>
          </a:p>
        </p:txBody>
      </p:sp>
      <p:sp>
        <p:nvSpPr>
          <p:cNvPr id="2398265" name="Rectangle 57">
            <a:extLst>
              <a:ext uri="{FF2B5EF4-FFF2-40B4-BE49-F238E27FC236}">
                <a16:creationId xmlns:a16="http://schemas.microsoft.com/office/drawing/2014/main" id="{20E18CEF-E8C2-4790-A77B-103F45ABA77D}"/>
              </a:ext>
            </a:extLst>
          </p:cNvPr>
          <p:cNvSpPr>
            <a:spLocks noChangeArrowheads="1"/>
          </p:cNvSpPr>
          <p:nvPr/>
        </p:nvSpPr>
        <p:spPr bwMode="auto">
          <a:xfrm>
            <a:off x="4724400" y="5410200"/>
            <a:ext cx="457200"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a:solidFill>
                  <a:srgbClr val="F535F0"/>
                </a:solidFill>
                <a:ea typeface="黑体" panose="02010609060101010101" pitchFamily="49" charset="-122"/>
              </a:rPr>
              <a:t>--</a:t>
            </a:r>
          </a:p>
        </p:txBody>
      </p:sp>
      <p:sp>
        <p:nvSpPr>
          <p:cNvPr id="2398266" name="Rectangle 58">
            <a:extLst>
              <a:ext uri="{FF2B5EF4-FFF2-40B4-BE49-F238E27FC236}">
                <a16:creationId xmlns:a16="http://schemas.microsoft.com/office/drawing/2014/main" id="{EA86BD28-8A8C-4DB5-80DC-FC63DA0F1A10}"/>
              </a:ext>
            </a:extLst>
          </p:cNvPr>
          <p:cNvSpPr>
            <a:spLocks noChangeArrowheads="1"/>
          </p:cNvSpPr>
          <p:nvPr/>
        </p:nvSpPr>
        <p:spPr bwMode="auto">
          <a:xfrm>
            <a:off x="5334000" y="5410200"/>
            <a:ext cx="457200"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a:solidFill>
                  <a:srgbClr val="F535F0"/>
                </a:solidFill>
                <a:ea typeface="黑体" panose="02010609060101010101" pitchFamily="49" charset="-122"/>
              </a:rPr>
              <a:t>--</a:t>
            </a:r>
          </a:p>
        </p:txBody>
      </p:sp>
      <p:sp>
        <p:nvSpPr>
          <p:cNvPr id="2398267" name="Rectangle 59">
            <a:extLst>
              <a:ext uri="{FF2B5EF4-FFF2-40B4-BE49-F238E27FC236}">
                <a16:creationId xmlns:a16="http://schemas.microsoft.com/office/drawing/2014/main" id="{F58DF981-CB9B-4E57-9C80-1EF0CDEE16E8}"/>
              </a:ext>
            </a:extLst>
          </p:cNvPr>
          <p:cNvSpPr>
            <a:spLocks noChangeArrowheads="1"/>
          </p:cNvSpPr>
          <p:nvPr/>
        </p:nvSpPr>
        <p:spPr bwMode="auto">
          <a:xfrm>
            <a:off x="6248400" y="5334000"/>
            <a:ext cx="457200" cy="457200"/>
          </a:xfrm>
          <a:prstGeom prst="rect">
            <a:avLst/>
          </a:prstGeom>
          <a:solidFill>
            <a:schemeClr val="bg1"/>
          </a:solidFill>
          <a:ln w="9525">
            <a:noFill/>
            <a:miter lim="800000"/>
            <a:headEnd/>
            <a:tailEnd/>
          </a:ln>
          <a:effectLst/>
        </p:spPr>
        <p:txBody>
          <a:bodyPr wrap="none" anchor="ctr"/>
          <a:lstStyle/>
          <a:p>
            <a:pPr algn="ctr">
              <a:defRPr/>
            </a:pPr>
            <a:r>
              <a:rPr lang="en-US" altLang="zh-CN" sz="2000">
                <a:solidFill>
                  <a:srgbClr val="49AB39"/>
                </a:solidFill>
                <a:effectLst>
                  <a:outerShdw blurRad="38100" dist="38100" dir="2700000" algn="tl">
                    <a:srgbClr val="000000"/>
                  </a:outerShdw>
                </a:effectLst>
                <a:latin typeface="Arial" charset="0"/>
                <a:ea typeface="黑体" pitchFamily="2" charset="-122"/>
              </a:rPr>
              <a:t>L4</a:t>
            </a:r>
          </a:p>
        </p:txBody>
      </p:sp>
      <p:grpSp>
        <p:nvGrpSpPr>
          <p:cNvPr id="4" name="Group 62">
            <a:extLst>
              <a:ext uri="{FF2B5EF4-FFF2-40B4-BE49-F238E27FC236}">
                <a16:creationId xmlns:a16="http://schemas.microsoft.com/office/drawing/2014/main" id="{922DAE88-EC4C-4EFF-BAE3-005072568898}"/>
              </a:ext>
            </a:extLst>
          </p:cNvPr>
          <p:cNvGrpSpPr>
            <a:grpSpLocks/>
          </p:cNvGrpSpPr>
          <p:nvPr/>
        </p:nvGrpSpPr>
        <p:grpSpPr bwMode="auto">
          <a:xfrm>
            <a:off x="6400800" y="2057400"/>
            <a:ext cx="304800" cy="304800"/>
            <a:chOff x="3072" y="1296"/>
            <a:chExt cx="192" cy="192"/>
          </a:xfrm>
        </p:grpSpPr>
        <p:sp>
          <p:nvSpPr>
            <p:cNvPr id="35860" name="Line 42">
              <a:extLst>
                <a:ext uri="{FF2B5EF4-FFF2-40B4-BE49-F238E27FC236}">
                  <a16:creationId xmlns:a16="http://schemas.microsoft.com/office/drawing/2014/main" id="{3FB990A6-566F-4AFC-8005-A27D7015DFC3}"/>
                </a:ext>
              </a:extLst>
            </p:cNvPr>
            <p:cNvSpPr>
              <a:spLocks noChangeShapeType="1"/>
            </p:cNvSpPr>
            <p:nvPr/>
          </p:nvSpPr>
          <p:spPr bwMode="auto">
            <a:xfrm>
              <a:off x="3072" y="1296"/>
              <a:ext cx="192" cy="0"/>
            </a:xfrm>
            <a:prstGeom prst="line">
              <a:avLst/>
            </a:prstGeom>
            <a:noFill/>
            <a:ln w="2857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61" name="Line 60">
              <a:extLst>
                <a:ext uri="{FF2B5EF4-FFF2-40B4-BE49-F238E27FC236}">
                  <a16:creationId xmlns:a16="http://schemas.microsoft.com/office/drawing/2014/main" id="{56DED00E-8B21-4B29-86DF-6745FA677B24}"/>
                </a:ext>
              </a:extLst>
            </p:cNvPr>
            <p:cNvSpPr>
              <a:spLocks noChangeShapeType="1"/>
            </p:cNvSpPr>
            <p:nvPr/>
          </p:nvSpPr>
          <p:spPr bwMode="auto">
            <a:xfrm>
              <a:off x="3264" y="1296"/>
              <a:ext cx="0" cy="192"/>
            </a:xfrm>
            <a:prstGeom prst="line">
              <a:avLst/>
            </a:prstGeom>
            <a:noFill/>
            <a:ln w="2857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63">
            <a:extLst>
              <a:ext uri="{FF2B5EF4-FFF2-40B4-BE49-F238E27FC236}">
                <a16:creationId xmlns:a16="http://schemas.microsoft.com/office/drawing/2014/main" id="{098C237C-FB85-4911-8290-F7F7C85D9E74}"/>
              </a:ext>
            </a:extLst>
          </p:cNvPr>
          <p:cNvGrpSpPr>
            <a:grpSpLocks/>
          </p:cNvGrpSpPr>
          <p:nvPr/>
        </p:nvGrpSpPr>
        <p:grpSpPr bwMode="auto">
          <a:xfrm>
            <a:off x="5334000" y="2819400"/>
            <a:ext cx="1371600" cy="533400"/>
            <a:chOff x="2400" y="1776"/>
            <a:chExt cx="864" cy="336"/>
          </a:xfrm>
        </p:grpSpPr>
        <p:sp>
          <p:nvSpPr>
            <p:cNvPr id="35857" name="Line 44">
              <a:extLst>
                <a:ext uri="{FF2B5EF4-FFF2-40B4-BE49-F238E27FC236}">
                  <a16:creationId xmlns:a16="http://schemas.microsoft.com/office/drawing/2014/main" id="{65DFA91A-09FA-405B-86FF-34C519BC944A}"/>
                </a:ext>
              </a:extLst>
            </p:cNvPr>
            <p:cNvSpPr>
              <a:spLocks noChangeShapeType="1"/>
            </p:cNvSpPr>
            <p:nvPr/>
          </p:nvSpPr>
          <p:spPr bwMode="auto">
            <a:xfrm>
              <a:off x="2400" y="1968"/>
              <a:ext cx="864" cy="0"/>
            </a:xfrm>
            <a:prstGeom prst="line">
              <a:avLst/>
            </a:prstGeom>
            <a:noFill/>
            <a:ln w="28575">
              <a:solidFill>
                <a:srgbClr val="EF8D2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8" name="Line 45">
              <a:extLst>
                <a:ext uri="{FF2B5EF4-FFF2-40B4-BE49-F238E27FC236}">
                  <a16:creationId xmlns:a16="http://schemas.microsoft.com/office/drawing/2014/main" id="{7DBB1989-71C3-45A0-8BB6-167CE1A82023}"/>
                </a:ext>
              </a:extLst>
            </p:cNvPr>
            <p:cNvSpPr>
              <a:spLocks noChangeShapeType="1"/>
            </p:cNvSpPr>
            <p:nvPr/>
          </p:nvSpPr>
          <p:spPr bwMode="auto">
            <a:xfrm>
              <a:off x="2400" y="1968"/>
              <a:ext cx="0" cy="144"/>
            </a:xfrm>
            <a:prstGeom prst="line">
              <a:avLst/>
            </a:prstGeom>
            <a:noFill/>
            <a:ln w="2857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59" name="Line 61">
              <a:extLst>
                <a:ext uri="{FF2B5EF4-FFF2-40B4-BE49-F238E27FC236}">
                  <a16:creationId xmlns:a16="http://schemas.microsoft.com/office/drawing/2014/main" id="{8F3FBD6B-8F2C-4A32-9CFD-BCFBFC488DCB}"/>
                </a:ext>
              </a:extLst>
            </p:cNvPr>
            <p:cNvSpPr>
              <a:spLocks noChangeShapeType="1"/>
            </p:cNvSpPr>
            <p:nvPr/>
          </p:nvSpPr>
          <p:spPr bwMode="auto">
            <a:xfrm>
              <a:off x="3264" y="1776"/>
              <a:ext cx="0" cy="192"/>
            </a:xfrm>
            <a:prstGeom prst="line">
              <a:avLst/>
            </a:prstGeom>
            <a:noFill/>
            <a:ln w="28575">
              <a:solidFill>
                <a:srgbClr val="EF8D2B"/>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6" name="文本框 55">
            <a:extLst>
              <a:ext uri="{FF2B5EF4-FFF2-40B4-BE49-F238E27FC236}">
                <a16:creationId xmlns:a16="http://schemas.microsoft.com/office/drawing/2014/main" id="{341D2931-2BF7-45B4-AD34-E05CDD62BD67}"/>
              </a:ext>
            </a:extLst>
          </p:cNvPr>
          <p:cNvSpPr txBox="1">
            <a:spLocks noChangeArrowheads="1"/>
          </p:cNvSpPr>
          <p:nvPr/>
        </p:nvSpPr>
        <p:spPr bwMode="auto">
          <a:xfrm>
            <a:off x="3048000" y="5768975"/>
            <a:ext cx="73929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a:solidFill>
                  <a:schemeClr val="tx1"/>
                </a:solidFill>
                <a:latin typeface="Times New Roman" panose="02020603050405020304" pitchFamily="18" charset="0"/>
              </a:rPr>
              <a:t>问题：若把图中第二个判断中的条件</a:t>
            </a:r>
            <a:r>
              <a:rPr lang="en-US" altLang="zh-CN" sz="1800">
                <a:solidFill>
                  <a:schemeClr val="tx1"/>
                </a:solidFill>
                <a:latin typeface="Times New Roman" panose="02020603050405020304" pitchFamily="18" charset="0"/>
              </a:rPr>
              <a:t>    </a:t>
            </a:r>
            <a:r>
              <a:rPr lang="en-US" altLang="zh-CN" sz="1800" b="1" u="sng">
                <a:solidFill>
                  <a:schemeClr val="tx1"/>
                </a:solidFill>
                <a:latin typeface="Times New Roman" panose="02020603050405020304" pitchFamily="18" charset="0"/>
              </a:rPr>
              <a:t>X&gt;1   </a:t>
            </a:r>
            <a:r>
              <a:rPr lang="zh-CN" altLang="en-US" sz="1800" b="1" u="sng">
                <a:solidFill>
                  <a:schemeClr val="tx1"/>
                </a:solidFill>
                <a:latin typeface="Times New Roman" panose="02020603050405020304" pitchFamily="18" charset="0"/>
              </a:rPr>
              <a:t>错写成 </a:t>
            </a:r>
            <a:r>
              <a:rPr lang="en-US" altLang="zh-CN" sz="1800" b="1" u="sng">
                <a:solidFill>
                  <a:schemeClr val="tx1"/>
                </a:solidFill>
                <a:latin typeface="Times New Roman" panose="02020603050405020304" pitchFamily="18" charset="0"/>
              </a:rPr>
              <a:t>X&lt;1 </a:t>
            </a:r>
            <a:r>
              <a:rPr lang="en-US" altLang="zh-CN" sz="1800">
                <a:solidFill>
                  <a:schemeClr val="tx1"/>
                </a:solidFill>
                <a:latin typeface="Times New Roman" panose="02020603050405020304" pitchFamily="18" charset="0"/>
              </a:rPr>
              <a:t>    </a:t>
            </a:r>
            <a:r>
              <a:rPr lang="zh-CN" altLang="en-US" sz="1800">
                <a:solidFill>
                  <a:schemeClr val="tx1"/>
                </a:solidFill>
                <a:latin typeface="Times New Roman" panose="02020603050405020304" pitchFamily="18" charset="0"/>
              </a:rPr>
              <a:t>那么再利用上面的两组测试用例，仍能得到同样的结果</a:t>
            </a:r>
            <a:endParaRPr lang="zh-CN" altLang="en-US" sz="18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2398212"/>
                                        </p:tgtEl>
                                        <p:attrNameLst>
                                          <p:attrName>style.visibility</p:attrName>
                                        </p:attrNameLst>
                                      </p:cBhvr>
                                      <p:to>
                                        <p:strVal val="visible"/>
                                      </p:to>
                                    </p:set>
                                    <p:animEffect transition="in" filter="blinds(vertical)">
                                      <p:cBhvr>
                                        <p:cTn id="12" dur="500"/>
                                        <p:tgtEl>
                                          <p:spTgt spid="23982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2398211"/>
                                        </p:tgtEl>
                                        <p:attrNameLst>
                                          <p:attrName>style.visibility</p:attrName>
                                        </p:attrNameLst>
                                      </p:cBhvr>
                                      <p:to>
                                        <p:strVal val="visible"/>
                                      </p:to>
                                    </p:set>
                                    <p:animEffect transition="in" filter="blinds(vertical)">
                                      <p:cBhvr>
                                        <p:cTn id="17" dur="500"/>
                                        <p:tgtEl>
                                          <p:spTgt spid="23982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linds(horizontal)">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linds(horizontal)">
                                      <p:cBhvr>
                                        <p:cTn id="32" dur="5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5" fill="hold" grpId="0" nodeType="clickEffect">
                                  <p:stCondLst>
                                    <p:cond delay="0"/>
                                  </p:stCondLst>
                                  <p:childTnLst>
                                    <p:set>
                                      <p:cBhvr>
                                        <p:cTn id="36" dur="1" fill="hold">
                                          <p:stCondLst>
                                            <p:cond delay="0"/>
                                          </p:stCondLst>
                                        </p:cTn>
                                        <p:tgtEl>
                                          <p:spTgt spid="2398262"/>
                                        </p:tgtEl>
                                        <p:attrNameLst>
                                          <p:attrName>style.visibility</p:attrName>
                                        </p:attrNameLst>
                                      </p:cBhvr>
                                      <p:to>
                                        <p:strVal val="visible"/>
                                      </p:to>
                                    </p:set>
                                    <p:animEffect transition="in" filter="blinds(vertical)">
                                      <p:cBhvr>
                                        <p:cTn id="37" dur="500"/>
                                        <p:tgtEl>
                                          <p:spTgt spid="239826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5" fill="hold" grpId="0" nodeType="clickEffect">
                                  <p:stCondLst>
                                    <p:cond delay="0"/>
                                  </p:stCondLst>
                                  <p:childTnLst>
                                    <p:set>
                                      <p:cBhvr>
                                        <p:cTn id="41" dur="1" fill="hold">
                                          <p:stCondLst>
                                            <p:cond delay="0"/>
                                          </p:stCondLst>
                                        </p:cTn>
                                        <p:tgtEl>
                                          <p:spTgt spid="2398265"/>
                                        </p:tgtEl>
                                        <p:attrNameLst>
                                          <p:attrName>style.visibility</p:attrName>
                                        </p:attrNameLst>
                                      </p:cBhvr>
                                      <p:to>
                                        <p:strVal val="visible"/>
                                      </p:to>
                                    </p:set>
                                    <p:animEffect transition="in" filter="blinds(vertical)">
                                      <p:cBhvr>
                                        <p:cTn id="42" dur="500"/>
                                        <p:tgtEl>
                                          <p:spTgt spid="239826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5" fill="hold" grpId="0" nodeType="clickEffect">
                                  <p:stCondLst>
                                    <p:cond delay="0"/>
                                  </p:stCondLst>
                                  <p:childTnLst>
                                    <p:set>
                                      <p:cBhvr>
                                        <p:cTn id="46" dur="1" fill="hold">
                                          <p:stCondLst>
                                            <p:cond delay="0"/>
                                          </p:stCondLst>
                                        </p:cTn>
                                        <p:tgtEl>
                                          <p:spTgt spid="2398263"/>
                                        </p:tgtEl>
                                        <p:attrNameLst>
                                          <p:attrName>style.visibility</p:attrName>
                                        </p:attrNameLst>
                                      </p:cBhvr>
                                      <p:to>
                                        <p:strVal val="visible"/>
                                      </p:to>
                                    </p:set>
                                    <p:animEffect transition="in" filter="blinds(vertical)">
                                      <p:cBhvr>
                                        <p:cTn id="47" dur="500"/>
                                        <p:tgtEl>
                                          <p:spTgt spid="239826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5" fill="hold" grpId="0" nodeType="clickEffect">
                                  <p:stCondLst>
                                    <p:cond delay="0"/>
                                  </p:stCondLst>
                                  <p:childTnLst>
                                    <p:set>
                                      <p:cBhvr>
                                        <p:cTn id="51" dur="1" fill="hold">
                                          <p:stCondLst>
                                            <p:cond delay="0"/>
                                          </p:stCondLst>
                                        </p:cTn>
                                        <p:tgtEl>
                                          <p:spTgt spid="2398266"/>
                                        </p:tgtEl>
                                        <p:attrNameLst>
                                          <p:attrName>style.visibility</p:attrName>
                                        </p:attrNameLst>
                                      </p:cBhvr>
                                      <p:to>
                                        <p:strVal val="visible"/>
                                      </p:to>
                                    </p:set>
                                    <p:animEffect transition="in" filter="blinds(vertical)">
                                      <p:cBhvr>
                                        <p:cTn id="52" dur="500"/>
                                        <p:tgtEl>
                                          <p:spTgt spid="239826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5" fill="hold" grpId="0" nodeType="clickEffect">
                                  <p:stCondLst>
                                    <p:cond delay="0"/>
                                  </p:stCondLst>
                                  <p:childTnLst>
                                    <p:set>
                                      <p:cBhvr>
                                        <p:cTn id="56" dur="1" fill="hold">
                                          <p:stCondLst>
                                            <p:cond delay="0"/>
                                          </p:stCondLst>
                                        </p:cTn>
                                        <p:tgtEl>
                                          <p:spTgt spid="2398264"/>
                                        </p:tgtEl>
                                        <p:attrNameLst>
                                          <p:attrName>style.visibility</p:attrName>
                                        </p:attrNameLst>
                                      </p:cBhvr>
                                      <p:to>
                                        <p:strVal val="visible"/>
                                      </p:to>
                                    </p:set>
                                    <p:animEffect transition="in" filter="blinds(vertical)">
                                      <p:cBhvr>
                                        <p:cTn id="57" dur="500"/>
                                        <p:tgtEl>
                                          <p:spTgt spid="239826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5" fill="hold" grpId="0" nodeType="clickEffect">
                                  <p:stCondLst>
                                    <p:cond delay="0"/>
                                  </p:stCondLst>
                                  <p:childTnLst>
                                    <p:set>
                                      <p:cBhvr>
                                        <p:cTn id="61" dur="1" fill="hold">
                                          <p:stCondLst>
                                            <p:cond delay="0"/>
                                          </p:stCondLst>
                                        </p:cTn>
                                        <p:tgtEl>
                                          <p:spTgt spid="2398267"/>
                                        </p:tgtEl>
                                        <p:attrNameLst>
                                          <p:attrName>style.visibility</p:attrName>
                                        </p:attrNameLst>
                                      </p:cBhvr>
                                      <p:to>
                                        <p:strVal val="visible"/>
                                      </p:to>
                                    </p:set>
                                    <p:animEffect transition="in" filter="blinds(vertical)">
                                      <p:cBhvr>
                                        <p:cTn id="62" dur="500"/>
                                        <p:tgtEl>
                                          <p:spTgt spid="239826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8211" grpId="0" animBg="1" autoUpdateAnimBg="0"/>
      <p:bldP spid="2398212" grpId="0" animBg="1" autoUpdateAnimBg="0"/>
      <p:bldP spid="2398262" grpId="0" animBg="1" autoUpdateAnimBg="0"/>
      <p:bldP spid="2398263" grpId="0" animBg="1" autoUpdateAnimBg="0"/>
      <p:bldP spid="2398264" grpId="0" animBg="1" autoUpdateAnimBg="0"/>
      <p:bldP spid="2398265" grpId="0" animBg="1" autoUpdateAnimBg="0"/>
      <p:bldP spid="2398266" grpId="0" animBg="1" autoUpdateAnimBg="0"/>
      <p:bldP spid="2398267" grpId="0" animBg="1" autoUpdateAnimBg="0"/>
      <p:bldP spid="56" grpId="0"/>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日期占位符 1">
            <a:extLst>
              <a:ext uri="{FF2B5EF4-FFF2-40B4-BE49-F238E27FC236}">
                <a16:creationId xmlns:a16="http://schemas.microsoft.com/office/drawing/2014/main" id="{74D90EF3-0653-435B-8429-3DDE0EB9126A}"/>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D8A6BFFF-C0C7-48E7-B283-0B66D73ADD39}"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37891" name="Rectangle 2">
            <a:extLst>
              <a:ext uri="{FF2B5EF4-FFF2-40B4-BE49-F238E27FC236}">
                <a16:creationId xmlns:a16="http://schemas.microsoft.com/office/drawing/2014/main" id="{28145E08-4BCD-4A2C-AF0E-831EE2851475}"/>
              </a:ext>
            </a:extLst>
          </p:cNvPr>
          <p:cNvSpPr>
            <a:spLocks noChangeArrowheads="1"/>
          </p:cNvSpPr>
          <p:nvPr/>
        </p:nvSpPr>
        <p:spPr bwMode="auto">
          <a:xfrm>
            <a:off x="3276600" y="762000"/>
            <a:ext cx="1524000" cy="609600"/>
          </a:xfrm>
          <a:prstGeom prst="rect">
            <a:avLst/>
          </a:prstGeom>
          <a:solidFill>
            <a:schemeClr val="bg1"/>
          </a:solidFill>
          <a:ln w="9525">
            <a:solidFill>
              <a:srgbClr val="70E5E8"/>
            </a:solidFill>
            <a:miter lim="800000"/>
            <a:headEnd/>
            <a:tailEnd/>
          </a:ln>
          <a:effectLst>
            <a:outerShdw dist="107763" dir="2700000" algn="ctr" rotWithShape="0">
              <a:schemeClr val="bg2"/>
            </a:outerShdw>
          </a:effec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000">
                <a:solidFill>
                  <a:srgbClr val="1AA1A4"/>
                </a:solidFill>
                <a:latin typeface="Times New Roman" panose="02020603050405020304" pitchFamily="18" charset="0"/>
                <a:ea typeface="黑体" panose="02010609060101010101" pitchFamily="49" charset="-122"/>
              </a:rPr>
              <a:t>　条件覆盖　</a:t>
            </a:r>
            <a:endParaRPr lang="en-US" altLang="zh-CN" sz="2000">
              <a:solidFill>
                <a:srgbClr val="1AA1A4"/>
              </a:solidFill>
              <a:latin typeface="Times New Roman" panose="02020603050405020304" pitchFamily="18" charset="0"/>
              <a:ea typeface="黑体" panose="02010609060101010101" pitchFamily="49" charset="-122"/>
            </a:endParaRPr>
          </a:p>
        </p:txBody>
      </p:sp>
      <p:sp>
        <p:nvSpPr>
          <p:cNvPr id="2400259" name="Rectangle 3">
            <a:hlinkClick r:id="rId3" action="ppaction://hlinksldjump"/>
            <a:extLst>
              <a:ext uri="{FF2B5EF4-FFF2-40B4-BE49-F238E27FC236}">
                <a16:creationId xmlns:a16="http://schemas.microsoft.com/office/drawing/2014/main" id="{1D3C14BB-3177-49BC-A8C0-0278F025DCA0}"/>
              </a:ext>
            </a:extLst>
          </p:cNvPr>
          <p:cNvSpPr>
            <a:spLocks noChangeArrowheads="1"/>
          </p:cNvSpPr>
          <p:nvPr/>
        </p:nvSpPr>
        <p:spPr bwMode="auto">
          <a:xfrm>
            <a:off x="3733800" y="3276600"/>
            <a:ext cx="5486400" cy="1752600"/>
          </a:xfrm>
          <a:prstGeom prst="rect">
            <a:avLst/>
          </a:prstGeom>
          <a:noFill/>
          <a:ln w="38100" cmpd="dbl">
            <a:solidFill>
              <a:srgbClr val="70E5E8"/>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r>
              <a:rPr lang="zh-CN" altLang="en-US" sz="2000">
                <a:solidFill>
                  <a:srgbClr val="1AA1A4"/>
                </a:solidFill>
                <a:latin typeface="黑体" panose="02010609060101010101" pitchFamily="49" charset="-122"/>
                <a:ea typeface="黑体" panose="02010609060101010101" pitchFamily="49" charset="-122"/>
              </a:rPr>
              <a:t>　　所谓的条件覆盖就是设计若干个测试用例</a:t>
            </a:r>
          </a:p>
          <a:p>
            <a:pPr>
              <a:spcBef>
                <a:spcPct val="0"/>
              </a:spcBef>
              <a:buFontTx/>
              <a:buNone/>
            </a:pPr>
            <a:r>
              <a:rPr lang="zh-CN" altLang="en-US" sz="2000">
                <a:solidFill>
                  <a:srgbClr val="1AA1A4"/>
                </a:solidFill>
                <a:latin typeface="黑体" panose="02010609060101010101" pitchFamily="49" charset="-122"/>
                <a:ea typeface="黑体" panose="02010609060101010101" pitchFamily="49" charset="-122"/>
              </a:rPr>
              <a:t>，运行被测程序，使得程序中</a:t>
            </a:r>
            <a:r>
              <a:rPr lang="zh-CN" altLang="en-US" sz="2000">
                <a:solidFill>
                  <a:srgbClr val="EF8D2B"/>
                </a:solidFill>
                <a:latin typeface="黑体" panose="02010609060101010101" pitchFamily="49" charset="-122"/>
                <a:ea typeface="黑体" panose="02010609060101010101" pitchFamily="49" charset="-122"/>
              </a:rPr>
              <a:t>每个判断</a:t>
            </a:r>
            <a:r>
              <a:rPr lang="zh-CN" altLang="en-US" sz="2000">
                <a:solidFill>
                  <a:srgbClr val="1AA1A4"/>
                </a:solidFill>
                <a:latin typeface="黑体" panose="02010609060101010101" pitchFamily="49" charset="-122"/>
                <a:ea typeface="黑体" panose="02010609060101010101" pitchFamily="49" charset="-122"/>
              </a:rPr>
              <a:t>的</a:t>
            </a:r>
            <a:r>
              <a:rPr lang="zh-CN" altLang="en-US" sz="2000">
                <a:solidFill>
                  <a:srgbClr val="EF8D2B"/>
                </a:solidFill>
                <a:latin typeface="黑体" panose="02010609060101010101" pitchFamily="49" charset="-122"/>
                <a:ea typeface="黑体" panose="02010609060101010101" pitchFamily="49" charset="-122"/>
              </a:rPr>
              <a:t>每个</a:t>
            </a:r>
          </a:p>
          <a:p>
            <a:pPr>
              <a:spcBef>
                <a:spcPct val="0"/>
              </a:spcBef>
              <a:buFontTx/>
              <a:buNone/>
            </a:pPr>
            <a:r>
              <a:rPr lang="zh-CN" altLang="en-US" sz="2000">
                <a:solidFill>
                  <a:srgbClr val="EF8D2B"/>
                </a:solidFill>
                <a:latin typeface="黑体" panose="02010609060101010101" pitchFamily="49" charset="-122"/>
                <a:ea typeface="黑体" panose="02010609060101010101" pitchFamily="49" charset="-122"/>
              </a:rPr>
              <a:t>条件</a:t>
            </a:r>
            <a:r>
              <a:rPr lang="zh-CN" altLang="en-US" sz="2000">
                <a:solidFill>
                  <a:srgbClr val="1AA1A4"/>
                </a:solidFill>
                <a:latin typeface="黑体" panose="02010609060101010101" pitchFamily="49" charset="-122"/>
                <a:ea typeface="黑体" panose="02010609060101010101" pitchFamily="49" charset="-122"/>
              </a:rPr>
              <a:t>的可能取值至少执行一次。</a:t>
            </a:r>
            <a:r>
              <a:rPr lang="zh-CN" altLang="en-US" sz="2000" b="1">
                <a:solidFill>
                  <a:srgbClr val="1AA1A4"/>
                </a:solidFill>
                <a:latin typeface="黑体" panose="02010609060101010101" pitchFamily="49" charset="-122"/>
                <a:ea typeface="黑体" panose="02010609060101010101"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00259"/>
                                        </p:tgtEl>
                                        <p:attrNameLst>
                                          <p:attrName>style.visibility</p:attrName>
                                        </p:attrNameLst>
                                      </p:cBhvr>
                                      <p:to>
                                        <p:strVal val="visible"/>
                                      </p:to>
                                    </p:set>
                                    <p:animEffect transition="in" filter="blinds(horizontal)">
                                      <p:cBhvr>
                                        <p:cTn id="7" dur="500"/>
                                        <p:tgtEl>
                                          <p:spTgt spid="2400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0259" grpId="0" animBg="1" autoUpdateAnimBg="0"/>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日期占位符 1">
            <a:extLst>
              <a:ext uri="{FF2B5EF4-FFF2-40B4-BE49-F238E27FC236}">
                <a16:creationId xmlns:a16="http://schemas.microsoft.com/office/drawing/2014/main" id="{447A2073-AB6A-4A1B-B337-FF0A596660E2}"/>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C45077BE-E477-4A3C-AA2B-121943F57026}"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39939" name="Rectangle 72">
            <a:extLst>
              <a:ext uri="{FF2B5EF4-FFF2-40B4-BE49-F238E27FC236}">
                <a16:creationId xmlns:a16="http://schemas.microsoft.com/office/drawing/2014/main" id="{6821D219-7C97-4C17-B8F2-BD720DF80181}"/>
              </a:ext>
            </a:extLst>
          </p:cNvPr>
          <p:cNvSpPr>
            <a:spLocks noChangeArrowheads="1"/>
          </p:cNvSpPr>
          <p:nvPr/>
        </p:nvSpPr>
        <p:spPr bwMode="auto">
          <a:xfrm>
            <a:off x="2971800" y="990600"/>
            <a:ext cx="7315200" cy="990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endParaRPr lang="zh-CN" altLang="en-US" sz="2800">
              <a:solidFill>
                <a:schemeClr val="tx1"/>
              </a:solidFill>
              <a:latin typeface="Times New Roman" panose="02020603050405020304" pitchFamily="18" charset="0"/>
              <a:ea typeface="楷体_GB2312" pitchFamily="49" charset="-122"/>
            </a:endParaRPr>
          </a:p>
        </p:txBody>
      </p:sp>
      <p:grpSp>
        <p:nvGrpSpPr>
          <p:cNvPr id="39940" name="Group 73">
            <a:extLst>
              <a:ext uri="{FF2B5EF4-FFF2-40B4-BE49-F238E27FC236}">
                <a16:creationId xmlns:a16="http://schemas.microsoft.com/office/drawing/2014/main" id="{D691DCAC-0065-43DE-B9F9-304CF47B18CB}"/>
              </a:ext>
            </a:extLst>
          </p:cNvPr>
          <p:cNvGrpSpPr>
            <a:grpSpLocks/>
          </p:cNvGrpSpPr>
          <p:nvPr/>
        </p:nvGrpSpPr>
        <p:grpSpPr bwMode="auto">
          <a:xfrm>
            <a:off x="3200400" y="457200"/>
            <a:ext cx="3733800" cy="3810000"/>
            <a:chOff x="1152" y="1248"/>
            <a:chExt cx="2352" cy="2400"/>
          </a:xfrm>
        </p:grpSpPr>
        <p:sp>
          <p:nvSpPr>
            <p:cNvPr id="2404354" name="Text Box 2">
              <a:extLst>
                <a:ext uri="{FF2B5EF4-FFF2-40B4-BE49-F238E27FC236}">
                  <a16:creationId xmlns:a16="http://schemas.microsoft.com/office/drawing/2014/main" id="{E4E64C4F-4A8E-4995-B6F5-C26B40267A00}"/>
                </a:ext>
              </a:extLst>
            </p:cNvPr>
            <p:cNvSpPr txBox="1">
              <a:spLocks noChangeArrowheads="1"/>
            </p:cNvSpPr>
            <p:nvPr/>
          </p:nvSpPr>
          <p:spPr bwMode="auto">
            <a:xfrm>
              <a:off x="1152" y="1776"/>
              <a:ext cx="223"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b</a:t>
              </a:r>
            </a:p>
          </p:txBody>
        </p:sp>
        <p:sp>
          <p:nvSpPr>
            <p:cNvPr id="2404355" name="Text Box 3">
              <a:extLst>
                <a:ext uri="{FF2B5EF4-FFF2-40B4-BE49-F238E27FC236}">
                  <a16:creationId xmlns:a16="http://schemas.microsoft.com/office/drawing/2014/main" id="{4B5434C4-DA7F-49AF-AAE9-29462971CAD5}"/>
                </a:ext>
              </a:extLst>
            </p:cNvPr>
            <p:cNvSpPr txBox="1">
              <a:spLocks noChangeArrowheads="1"/>
            </p:cNvSpPr>
            <p:nvPr/>
          </p:nvSpPr>
          <p:spPr bwMode="auto">
            <a:xfrm>
              <a:off x="1152" y="2736"/>
              <a:ext cx="223"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d</a:t>
              </a:r>
            </a:p>
          </p:txBody>
        </p:sp>
        <p:sp>
          <p:nvSpPr>
            <p:cNvPr id="2404356" name="Text Box 4">
              <a:extLst>
                <a:ext uri="{FF2B5EF4-FFF2-40B4-BE49-F238E27FC236}">
                  <a16:creationId xmlns:a16="http://schemas.microsoft.com/office/drawing/2014/main" id="{99E0712C-4A13-4B1F-9114-7FED37CCFAD4}"/>
                </a:ext>
              </a:extLst>
            </p:cNvPr>
            <p:cNvSpPr txBox="1">
              <a:spLocks noChangeArrowheads="1"/>
            </p:cNvSpPr>
            <p:nvPr/>
          </p:nvSpPr>
          <p:spPr bwMode="auto">
            <a:xfrm>
              <a:off x="2064" y="1248"/>
              <a:ext cx="288" cy="288"/>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a</a:t>
              </a:r>
            </a:p>
          </p:txBody>
        </p:sp>
        <p:sp>
          <p:nvSpPr>
            <p:cNvPr id="2404359" name="Text Box 7">
              <a:extLst>
                <a:ext uri="{FF2B5EF4-FFF2-40B4-BE49-F238E27FC236}">
                  <a16:creationId xmlns:a16="http://schemas.microsoft.com/office/drawing/2014/main" id="{B1A82BD0-E1D0-4C80-B0C5-52341DAEF2C1}"/>
                </a:ext>
              </a:extLst>
            </p:cNvPr>
            <p:cNvSpPr txBox="1">
              <a:spLocks noChangeArrowheads="1"/>
            </p:cNvSpPr>
            <p:nvPr/>
          </p:nvSpPr>
          <p:spPr bwMode="auto">
            <a:xfrm>
              <a:off x="3072" y="1776"/>
              <a:ext cx="223" cy="288"/>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c</a:t>
              </a:r>
            </a:p>
          </p:txBody>
        </p:sp>
        <p:sp>
          <p:nvSpPr>
            <p:cNvPr id="2404360" name="Text Box 8">
              <a:extLst>
                <a:ext uri="{FF2B5EF4-FFF2-40B4-BE49-F238E27FC236}">
                  <a16:creationId xmlns:a16="http://schemas.microsoft.com/office/drawing/2014/main" id="{78B78C1D-BF39-483D-96D8-C4153BBA26D1}"/>
                </a:ext>
              </a:extLst>
            </p:cNvPr>
            <p:cNvSpPr txBox="1">
              <a:spLocks noChangeArrowheads="1"/>
            </p:cNvSpPr>
            <p:nvPr/>
          </p:nvSpPr>
          <p:spPr bwMode="auto">
            <a:xfrm>
              <a:off x="3120" y="2736"/>
              <a:ext cx="201"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e</a:t>
              </a:r>
            </a:p>
          </p:txBody>
        </p:sp>
        <p:grpSp>
          <p:nvGrpSpPr>
            <p:cNvPr id="39981" name="Group 9">
              <a:extLst>
                <a:ext uri="{FF2B5EF4-FFF2-40B4-BE49-F238E27FC236}">
                  <a16:creationId xmlns:a16="http://schemas.microsoft.com/office/drawing/2014/main" id="{E0F22F55-0169-4A88-AE2F-A9330C5566BD}"/>
                </a:ext>
              </a:extLst>
            </p:cNvPr>
            <p:cNvGrpSpPr>
              <a:grpSpLocks/>
            </p:cNvGrpSpPr>
            <p:nvPr/>
          </p:nvGrpSpPr>
          <p:grpSpPr bwMode="auto">
            <a:xfrm>
              <a:off x="1392" y="1536"/>
              <a:ext cx="2112" cy="2112"/>
              <a:chOff x="1200" y="1488"/>
              <a:chExt cx="2112" cy="2112"/>
            </a:xfrm>
          </p:grpSpPr>
          <p:sp>
            <p:nvSpPr>
              <p:cNvPr id="39982" name="AutoShape 10">
                <a:extLst>
                  <a:ext uri="{FF2B5EF4-FFF2-40B4-BE49-F238E27FC236}">
                    <a16:creationId xmlns:a16="http://schemas.microsoft.com/office/drawing/2014/main" id="{99A537A9-BF41-4503-B25E-EE60E96F1E24}"/>
                  </a:ext>
                </a:extLst>
              </p:cNvPr>
              <p:cNvSpPr>
                <a:spLocks noChangeArrowheads="1"/>
              </p:cNvSpPr>
              <p:nvPr/>
            </p:nvSpPr>
            <p:spPr bwMode="auto">
              <a:xfrm>
                <a:off x="1296" y="1680"/>
                <a:ext cx="1440" cy="288"/>
              </a:xfrm>
              <a:prstGeom prst="flowChartDecision">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(A&gt;1) ^ (B=0)</a:t>
                </a:r>
              </a:p>
            </p:txBody>
          </p:sp>
          <p:sp>
            <p:nvSpPr>
              <p:cNvPr id="39983" name="Line 11">
                <a:extLst>
                  <a:ext uri="{FF2B5EF4-FFF2-40B4-BE49-F238E27FC236}">
                    <a16:creationId xmlns:a16="http://schemas.microsoft.com/office/drawing/2014/main" id="{54B15F97-D662-4461-ABD1-40611295A456}"/>
                  </a:ext>
                </a:extLst>
              </p:cNvPr>
              <p:cNvSpPr>
                <a:spLocks noChangeShapeType="1"/>
              </p:cNvSpPr>
              <p:nvPr/>
            </p:nvSpPr>
            <p:spPr bwMode="auto">
              <a:xfrm>
                <a:off x="1200" y="1824"/>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84" name="Line 12">
                <a:extLst>
                  <a:ext uri="{FF2B5EF4-FFF2-40B4-BE49-F238E27FC236}">
                    <a16:creationId xmlns:a16="http://schemas.microsoft.com/office/drawing/2014/main" id="{E11C34DE-984E-4439-9777-C7A47B620285}"/>
                  </a:ext>
                </a:extLst>
              </p:cNvPr>
              <p:cNvSpPr>
                <a:spLocks noChangeShapeType="1"/>
              </p:cNvSpPr>
              <p:nvPr/>
            </p:nvSpPr>
            <p:spPr bwMode="auto">
              <a:xfrm>
                <a:off x="2880" y="182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85" name="Rectangle 13">
                <a:extLst>
                  <a:ext uri="{FF2B5EF4-FFF2-40B4-BE49-F238E27FC236}">
                    <a16:creationId xmlns:a16="http://schemas.microsoft.com/office/drawing/2014/main" id="{4EFBD9FD-5811-4F68-9FF7-1055FFFFB6C3}"/>
                  </a:ext>
                </a:extLst>
              </p:cNvPr>
              <p:cNvSpPr>
                <a:spLocks noChangeArrowheads="1"/>
              </p:cNvSpPr>
              <p:nvPr/>
            </p:nvSpPr>
            <p:spPr bwMode="auto">
              <a:xfrm>
                <a:off x="2496" y="2016"/>
                <a:ext cx="768" cy="288"/>
              </a:xfrm>
              <a:prstGeom prst="rect">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X=X/A</a:t>
                </a:r>
              </a:p>
            </p:txBody>
          </p:sp>
          <p:sp>
            <p:nvSpPr>
              <p:cNvPr id="39986" name="Line 14">
                <a:extLst>
                  <a:ext uri="{FF2B5EF4-FFF2-40B4-BE49-F238E27FC236}">
                    <a16:creationId xmlns:a16="http://schemas.microsoft.com/office/drawing/2014/main" id="{74DB794F-C6CF-4B1F-9CBD-98DFD02B4070}"/>
                  </a:ext>
                </a:extLst>
              </p:cNvPr>
              <p:cNvSpPr>
                <a:spLocks noChangeShapeType="1"/>
              </p:cNvSpPr>
              <p:nvPr/>
            </p:nvSpPr>
            <p:spPr bwMode="auto">
              <a:xfrm>
                <a:off x="1200" y="1824"/>
                <a:ext cx="0" cy="672"/>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87" name="Line 15">
                <a:extLst>
                  <a:ext uri="{FF2B5EF4-FFF2-40B4-BE49-F238E27FC236}">
                    <a16:creationId xmlns:a16="http://schemas.microsoft.com/office/drawing/2014/main" id="{048D1F67-811E-470A-B0FA-6021DB778E0B}"/>
                  </a:ext>
                </a:extLst>
              </p:cNvPr>
              <p:cNvSpPr>
                <a:spLocks noChangeShapeType="1"/>
              </p:cNvSpPr>
              <p:nvPr/>
            </p:nvSpPr>
            <p:spPr bwMode="auto">
              <a:xfrm>
                <a:off x="1200" y="2496"/>
                <a:ext cx="1680"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88" name="Line 16">
                <a:extLst>
                  <a:ext uri="{FF2B5EF4-FFF2-40B4-BE49-F238E27FC236}">
                    <a16:creationId xmlns:a16="http://schemas.microsoft.com/office/drawing/2014/main" id="{C93E9AE7-DB21-47F7-84E6-F9C99BF30FCF}"/>
                  </a:ext>
                </a:extLst>
              </p:cNvPr>
              <p:cNvSpPr>
                <a:spLocks noChangeShapeType="1"/>
              </p:cNvSpPr>
              <p:nvPr/>
            </p:nvSpPr>
            <p:spPr bwMode="auto">
              <a:xfrm>
                <a:off x="2016" y="2496"/>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89" name="Line 17">
                <a:extLst>
                  <a:ext uri="{FF2B5EF4-FFF2-40B4-BE49-F238E27FC236}">
                    <a16:creationId xmlns:a16="http://schemas.microsoft.com/office/drawing/2014/main" id="{C3EB0799-3D28-4E81-AA0E-41765C4BE4E9}"/>
                  </a:ext>
                </a:extLst>
              </p:cNvPr>
              <p:cNvSpPr>
                <a:spLocks noChangeShapeType="1"/>
              </p:cNvSpPr>
              <p:nvPr/>
            </p:nvSpPr>
            <p:spPr bwMode="auto">
              <a:xfrm>
                <a:off x="2016" y="1488"/>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90" name="Text Box 18">
                <a:extLst>
                  <a:ext uri="{FF2B5EF4-FFF2-40B4-BE49-F238E27FC236}">
                    <a16:creationId xmlns:a16="http://schemas.microsoft.com/office/drawing/2014/main" id="{BBA3041A-8E01-478C-A4CC-465BA96CA545}"/>
                  </a:ext>
                </a:extLst>
              </p:cNvPr>
              <p:cNvSpPr txBox="1">
                <a:spLocks noChangeArrowheads="1"/>
              </p:cNvSpPr>
              <p:nvPr/>
            </p:nvSpPr>
            <p:spPr bwMode="auto">
              <a:xfrm>
                <a:off x="2736" y="1632"/>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T</a:t>
                </a:r>
              </a:p>
            </p:txBody>
          </p:sp>
          <p:sp>
            <p:nvSpPr>
              <p:cNvPr id="39991" name="Text Box 19">
                <a:extLst>
                  <a:ext uri="{FF2B5EF4-FFF2-40B4-BE49-F238E27FC236}">
                    <a16:creationId xmlns:a16="http://schemas.microsoft.com/office/drawing/2014/main" id="{1E394E5E-4334-4887-906B-7549DB5B2A81}"/>
                  </a:ext>
                </a:extLst>
              </p:cNvPr>
              <p:cNvSpPr txBox="1">
                <a:spLocks noChangeArrowheads="1"/>
              </p:cNvSpPr>
              <p:nvPr/>
            </p:nvSpPr>
            <p:spPr bwMode="auto">
              <a:xfrm>
                <a:off x="1200" y="1632"/>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F</a:t>
                </a:r>
              </a:p>
            </p:txBody>
          </p:sp>
          <p:sp>
            <p:nvSpPr>
              <p:cNvPr id="39992" name="Line 20">
                <a:extLst>
                  <a:ext uri="{FF2B5EF4-FFF2-40B4-BE49-F238E27FC236}">
                    <a16:creationId xmlns:a16="http://schemas.microsoft.com/office/drawing/2014/main" id="{A22ED43A-EAC2-4769-B20C-69CF0B30914D}"/>
                  </a:ext>
                </a:extLst>
              </p:cNvPr>
              <p:cNvSpPr>
                <a:spLocks noChangeShapeType="1"/>
              </p:cNvSpPr>
              <p:nvPr/>
            </p:nvSpPr>
            <p:spPr bwMode="auto">
              <a:xfrm>
                <a:off x="2736" y="1824"/>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93" name="Line 21">
                <a:extLst>
                  <a:ext uri="{FF2B5EF4-FFF2-40B4-BE49-F238E27FC236}">
                    <a16:creationId xmlns:a16="http://schemas.microsoft.com/office/drawing/2014/main" id="{12A591CE-E138-4422-9986-BF39D1306ADF}"/>
                  </a:ext>
                </a:extLst>
              </p:cNvPr>
              <p:cNvSpPr>
                <a:spLocks noChangeShapeType="1"/>
              </p:cNvSpPr>
              <p:nvPr/>
            </p:nvSpPr>
            <p:spPr bwMode="auto">
              <a:xfrm>
                <a:off x="2880" y="230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94" name="AutoShape 22">
                <a:extLst>
                  <a:ext uri="{FF2B5EF4-FFF2-40B4-BE49-F238E27FC236}">
                    <a16:creationId xmlns:a16="http://schemas.microsoft.com/office/drawing/2014/main" id="{CCC09F11-7234-4291-B247-088626A32E7F}"/>
                  </a:ext>
                </a:extLst>
              </p:cNvPr>
              <p:cNvSpPr>
                <a:spLocks noChangeArrowheads="1"/>
              </p:cNvSpPr>
              <p:nvPr/>
            </p:nvSpPr>
            <p:spPr bwMode="auto">
              <a:xfrm>
                <a:off x="1344" y="2640"/>
                <a:ext cx="1344" cy="288"/>
              </a:xfrm>
              <a:prstGeom prst="flowChartDecision">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(A=2) V (X&gt;1)</a:t>
                </a:r>
              </a:p>
            </p:txBody>
          </p:sp>
          <p:sp>
            <p:nvSpPr>
              <p:cNvPr id="39995" name="Rectangle 23">
                <a:extLst>
                  <a:ext uri="{FF2B5EF4-FFF2-40B4-BE49-F238E27FC236}">
                    <a16:creationId xmlns:a16="http://schemas.microsoft.com/office/drawing/2014/main" id="{CB0DB1A6-BFB1-4718-A070-9504F61269FC}"/>
                  </a:ext>
                </a:extLst>
              </p:cNvPr>
              <p:cNvSpPr>
                <a:spLocks noChangeArrowheads="1"/>
              </p:cNvSpPr>
              <p:nvPr/>
            </p:nvSpPr>
            <p:spPr bwMode="auto">
              <a:xfrm>
                <a:off x="2544" y="2976"/>
                <a:ext cx="768" cy="288"/>
              </a:xfrm>
              <a:prstGeom prst="rect">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X=X+1</a:t>
                </a:r>
              </a:p>
            </p:txBody>
          </p:sp>
          <p:sp>
            <p:nvSpPr>
              <p:cNvPr id="39996" name="Text Box 24">
                <a:extLst>
                  <a:ext uri="{FF2B5EF4-FFF2-40B4-BE49-F238E27FC236}">
                    <a16:creationId xmlns:a16="http://schemas.microsoft.com/office/drawing/2014/main" id="{77637212-AE1F-409A-9A5D-688A75CF7184}"/>
                  </a:ext>
                </a:extLst>
              </p:cNvPr>
              <p:cNvSpPr txBox="1">
                <a:spLocks noChangeArrowheads="1"/>
              </p:cNvSpPr>
              <p:nvPr/>
            </p:nvSpPr>
            <p:spPr bwMode="auto">
              <a:xfrm>
                <a:off x="2640" y="2592"/>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T</a:t>
                </a:r>
              </a:p>
            </p:txBody>
          </p:sp>
          <p:sp>
            <p:nvSpPr>
              <p:cNvPr id="39997" name="Line 25">
                <a:extLst>
                  <a:ext uri="{FF2B5EF4-FFF2-40B4-BE49-F238E27FC236}">
                    <a16:creationId xmlns:a16="http://schemas.microsoft.com/office/drawing/2014/main" id="{B9A13857-B54B-4B2E-B76C-831D7B3BDA37}"/>
                  </a:ext>
                </a:extLst>
              </p:cNvPr>
              <p:cNvSpPr>
                <a:spLocks noChangeShapeType="1"/>
              </p:cNvSpPr>
              <p:nvPr/>
            </p:nvSpPr>
            <p:spPr bwMode="auto">
              <a:xfrm>
                <a:off x="1200" y="2784"/>
                <a:ext cx="0" cy="624"/>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98" name="Line 26">
                <a:extLst>
                  <a:ext uri="{FF2B5EF4-FFF2-40B4-BE49-F238E27FC236}">
                    <a16:creationId xmlns:a16="http://schemas.microsoft.com/office/drawing/2014/main" id="{D4ED3CEF-A49C-44F3-8CA1-8C72CCED74A7}"/>
                  </a:ext>
                </a:extLst>
              </p:cNvPr>
              <p:cNvSpPr>
                <a:spLocks noChangeShapeType="1"/>
              </p:cNvSpPr>
              <p:nvPr/>
            </p:nvSpPr>
            <p:spPr bwMode="auto">
              <a:xfrm>
                <a:off x="1200" y="3408"/>
                <a:ext cx="1680"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99" name="Text Box 27">
                <a:extLst>
                  <a:ext uri="{FF2B5EF4-FFF2-40B4-BE49-F238E27FC236}">
                    <a16:creationId xmlns:a16="http://schemas.microsoft.com/office/drawing/2014/main" id="{4B25E2A0-AB46-4AE0-9B97-0AA4BE02A17B}"/>
                  </a:ext>
                </a:extLst>
              </p:cNvPr>
              <p:cNvSpPr txBox="1">
                <a:spLocks noChangeArrowheads="1"/>
              </p:cNvSpPr>
              <p:nvPr/>
            </p:nvSpPr>
            <p:spPr bwMode="auto">
              <a:xfrm>
                <a:off x="1200" y="2544"/>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F</a:t>
                </a:r>
              </a:p>
            </p:txBody>
          </p:sp>
          <p:sp>
            <p:nvSpPr>
              <p:cNvPr id="40000" name="Line 28">
                <a:extLst>
                  <a:ext uri="{FF2B5EF4-FFF2-40B4-BE49-F238E27FC236}">
                    <a16:creationId xmlns:a16="http://schemas.microsoft.com/office/drawing/2014/main" id="{D0902D8C-73F1-4094-AFD5-C86E90B04759}"/>
                  </a:ext>
                </a:extLst>
              </p:cNvPr>
              <p:cNvSpPr>
                <a:spLocks noChangeShapeType="1"/>
              </p:cNvSpPr>
              <p:nvPr/>
            </p:nvSpPr>
            <p:spPr bwMode="auto">
              <a:xfrm>
                <a:off x="2688" y="2784"/>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001" name="Line 29">
                <a:extLst>
                  <a:ext uri="{FF2B5EF4-FFF2-40B4-BE49-F238E27FC236}">
                    <a16:creationId xmlns:a16="http://schemas.microsoft.com/office/drawing/2014/main" id="{7D985961-3799-4ED6-B48D-F95679B1A2B1}"/>
                  </a:ext>
                </a:extLst>
              </p:cNvPr>
              <p:cNvSpPr>
                <a:spLocks noChangeShapeType="1"/>
              </p:cNvSpPr>
              <p:nvPr/>
            </p:nvSpPr>
            <p:spPr bwMode="auto">
              <a:xfrm>
                <a:off x="2880" y="278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002" name="Line 30">
                <a:extLst>
                  <a:ext uri="{FF2B5EF4-FFF2-40B4-BE49-F238E27FC236}">
                    <a16:creationId xmlns:a16="http://schemas.microsoft.com/office/drawing/2014/main" id="{80B82381-7D38-4E84-941E-BD109E9B94DB}"/>
                  </a:ext>
                </a:extLst>
              </p:cNvPr>
              <p:cNvSpPr>
                <a:spLocks noChangeShapeType="1"/>
              </p:cNvSpPr>
              <p:nvPr/>
            </p:nvSpPr>
            <p:spPr bwMode="auto">
              <a:xfrm>
                <a:off x="2880" y="3264"/>
                <a:ext cx="0" cy="144"/>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003" name="Line 31">
                <a:extLst>
                  <a:ext uri="{FF2B5EF4-FFF2-40B4-BE49-F238E27FC236}">
                    <a16:creationId xmlns:a16="http://schemas.microsoft.com/office/drawing/2014/main" id="{5A57DD79-5904-4DB1-98AC-B72891B2487B}"/>
                  </a:ext>
                </a:extLst>
              </p:cNvPr>
              <p:cNvSpPr>
                <a:spLocks noChangeShapeType="1"/>
              </p:cNvSpPr>
              <p:nvPr/>
            </p:nvSpPr>
            <p:spPr bwMode="auto">
              <a:xfrm>
                <a:off x="2064" y="3408"/>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004" name="Line 32">
                <a:extLst>
                  <a:ext uri="{FF2B5EF4-FFF2-40B4-BE49-F238E27FC236}">
                    <a16:creationId xmlns:a16="http://schemas.microsoft.com/office/drawing/2014/main" id="{9571BADC-5088-4434-889F-BE418E23959D}"/>
                  </a:ext>
                </a:extLst>
              </p:cNvPr>
              <p:cNvSpPr>
                <a:spLocks noChangeShapeType="1"/>
              </p:cNvSpPr>
              <p:nvPr/>
            </p:nvSpPr>
            <p:spPr bwMode="auto">
              <a:xfrm>
                <a:off x="1200" y="2784"/>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aphicFrame>
        <p:nvGraphicFramePr>
          <p:cNvPr id="2404465" name="Group 113">
            <a:extLst>
              <a:ext uri="{FF2B5EF4-FFF2-40B4-BE49-F238E27FC236}">
                <a16:creationId xmlns:a16="http://schemas.microsoft.com/office/drawing/2014/main" id="{6CF847B2-F24B-4661-A3E6-14BFD16B1F1D}"/>
              </a:ext>
            </a:extLst>
          </p:cNvPr>
          <p:cNvGraphicFramePr>
            <a:graphicFrameLocks noGrp="1"/>
          </p:cNvGraphicFramePr>
          <p:nvPr/>
        </p:nvGraphicFramePr>
        <p:xfrm>
          <a:off x="6172200" y="4191000"/>
          <a:ext cx="4038600" cy="2286000"/>
        </p:xfrm>
        <a:graphic>
          <a:graphicData uri="http://schemas.openxmlformats.org/drawingml/2006/table">
            <a:tbl>
              <a:tblPr/>
              <a:tblGrid>
                <a:gridCol w="8763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tblGrid>
              <a:tr h="3810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chemeClr val="accent2"/>
                          </a:solidFill>
                          <a:effectLst/>
                          <a:latin typeface="黑体" pitchFamily="2" charset="-122"/>
                          <a:ea typeface="黑体" pitchFamily="2" charset="-122"/>
                        </a:rPr>
                        <a:t>判断</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chemeClr val="accent2"/>
                          </a:solidFill>
                          <a:effectLst/>
                          <a:latin typeface="黑体" pitchFamily="2" charset="-122"/>
                          <a:ea typeface="黑体" pitchFamily="2" charset="-122"/>
                        </a:rPr>
                        <a:t>条件</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chemeClr val="accent2"/>
                          </a:solidFill>
                          <a:effectLst/>
                          <a:latin typeface="黑体" pitchFamily="2" charset="-122"/>
                          <a:ea typeface="黑体" pitchFamily="2" charset="-122"/>
                        </a:rPr>
                        <a:t>取真值</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chemeClr val="accent2"/>
                          </a:solidFill>
                          <a:effectLst/>
                          <a:latin typeface="黑体" pitchFamily="2" charset="-122"/>
                          <a:ea typeface="黑体" pitchFamily="2" charset="-122"/>
                        </a:rPr>
                        <a:t>取假值</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57200">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16369C"/>
                          </a:solidFill>
                          <a:effectLst/>
                          <a:latin typeface="黑体" pitchFamily="2" charset="-122"/>
                          <a:ea typeface="黑体" pitchFamily="2" charset="-122"/>
                        </a:rPr>
                        <a:t>判断</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16369C"/>
                          </a:solidFill>
                          <a:effectLst/>
                          <a:latin typeface="黑体" pitchFamily="2" charset="-122"/>
                          <a:ea typeface="黑体" pitchFamily="2" charset="-122"/>
                        </a:rPr>
                        <a:t>(一)</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0" i="0" u="none" strike="noStrike" cap="none" normalizeH="0" baseline="0">
                          <a:ln>
                            <a:noFill/>
                          </a:ln>
                          <a:solidFill>
                            <a:srgbClr val="16369C"/>
                          </a:solidFill>
                          <a:effectLst/>
                          <a:latin typeface="Arial" charset="0"/>
                          <a:ea typeface="黑体" pitchFamily="2" charset="-122"/>
                        </a:rPr>
                        <a:t>A&gt;1</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0" i="0" u="none" strike="noStrike" cap="none" normalizeH="0" baseline="0">
                          <a:ln>
                            <a:noFill/>
                          </a:ln>
                          <a:solidFill>
                            <a:srgbClr val="16369C"/>
                          </a:solidFill>
                          <a:effectLst/>
                          <a:latin typeface="Arial" charset="0"/>
                          <a:ea typeface="黑体" pitchFamily="2" charset="-122"/>
                        </a:rPr>
                        <a:t>T1</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0" i="0" u="none" strike="noStrike" cap="none" normalizeH="0" baseline="0">
                          <a:ln>
                            <a:noFill/>
                          </a:ln>
                          <a:solidFill>
                            <a:srgbClr val="16369C"/>
                          </a:solidFill>
                          <a:effectLst/>
                          <a:latin typeface="Arial" charset="0"/>
                          <a:ea typeface="黑体" pitchFamily="2" charset="-122"/>
                        </a:rPr>
                        <a:t>T1</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572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0" i="0" u="none" strike="noStrike" cap="none" normalizeH="0" baseline="0">
                          <a:ln>
                            <a:noFill/>
                          </a:ln>
                          <a:solidFill>
                            <a:srgbClr val="16369C"/>
                          </a:solidFill>
                          <a:effectLst/>
                          <a:latin typeface="Arial" charset="0"/>
                          <a:ea typeface="黑体" pitchFamily="2" charset="-122"/>
                        </a:rPr>
                        <a:t>B=0</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0" i="0" u="none" strike="noStrike" cap="none" normalizeH="0" baseline="0">
                          <a:ln>
                            <a:noFill/>
                          </a:ln>
                          <a:solidFill>
                            <a:srgbClr val="16369C"/>
                          </a:solidFill>
                          <a:effectLst/>
                          <a:latin typeface="Arial" charset="0"/>
                          <a:ea typeface="黑体" pitchFamily="2" charset="-122"/>
                        </a:rPr>
                        <a:t>T2</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0" i="0" u="none" strike="noStrike" cap="none" normalizeH="0" baseline="0">
                          <a:ln>
                            <a:noFill/>
                          </a:ln>
                          <a:solidFill>
                            <a:srgbClr val="16369C"/>
                          </a:solidFill>
                          <a:effectLst/>
                          <a:latin typeface="Arial" charset="0"/>
                          <a:ea typeface="黑体" pitchFamily="2" charset="-122"/>
                        </a:rPr>
                        <a:t>T2</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57200">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16369C"/>
                          </a:solidFill>
                          <a:effectLst/>
                          <a:latin typeface="黑体" pitchFamily="2" charset="-122"/>
                          <a:ea typeface="黑体" pitchFamily="2" charset="-122"/>
                        </a:rPr>
                        <a:t>判断</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16369C"/>
                          </a:solidFill>
                          <a:effectLst/>
                          <a:latin typeface="黑体" pitchFamily="2" charset="-122"/>
                          <a:ea typeface="黑体" pitchFamily="2" charset="-122"/>
                        </a:rPr>
                        <a:t>(二)</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0" i="0" u="none" strike="noStrike" cap="none" normalizeH="0" baseline="0">
                          <a:ln>
                            <a:noFill/>
                          </a:ln>
                          <a:solidFill>
                            <a:srgbClr val="16369C"/>
                          </a:solidFill>
                          <a:effectLst/>
                          <a:latin typeface="Arial" charset="0"/>
                          <a:ea typeface="黑体" pitchFamily="2" charset="-122"/>
                        </a:rPr>
                        <a:t>A=2</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0" i="0" u="none" strike="noStrike" cap="none" normalizeH="0" baseline="0">
                          <a:ln>
                            <a:noFill/>
                          </a:ln>
                          <a:solidFill>
                            <a:srgbClr val="16369C"/>
                          </a:solidFill>
                          <a:effectLst/>
                          <a:latin typeface="Arial" charset="0"/>
                          <a:ea typeface="黑体" pitchFamily="2" charset="-122"/>
                        </a:rPr>
                        <a:t>T3</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0" i="0" u="none" strike="noStrike" cap="none" normalizeH="0" baseline="0">
                          <a:ln>
                            <a:noFill/>
                          </a:ln>
                          <a:solidFill>
                            <a:srgbClr val="16369C"/>
                          </a:solidFill>
                          <a:effectLst/>
                          <a:latin typeface="Arial" charset="0"/>
                          <a:ea typeface="黑体" pitchFamily="2" charset="-122"/>
                        </a:rPr>
                        <a:t>T3</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5334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0" i="0" u="none" strike="noStrike" cap="none" normalizeH="0" baseline="0">
                          <a:ln>
                            <a:noFill/>
                          </a:ln>
                          <a:solidFill>
                            <a:srgbClr val="16369C"/>
                          </a:solidFill>
                          <a:effectLst/>
                          <a:latin typeface="Arial" charset="0"/>
                          <a:ea typeface="黑体" pitchFamily="2" charset="-122"/>
                        </a:rPr>
                        <a:t>X&gt;1</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0" i="0" u="none" strike="noStrike" cap="none" normalizeH="0" baseline="0">
                          <a:ln>
                            <a:noFill/>
                          </a:ln>
                          <a:solidFill>
                            <a:srgbClr val="16369C"/>
                          </a:solidFill>
                          <a:effectLst/>
                          <a:latin typeface="Arial" charset="0"/>
                          <a:ea typeface="黑体" pitchFamily="2" charset="-122"/>
                        </a:rPr>
                        <a:t>T4</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0" i="0" u="none" strike="noStrike" cap="none" normalizeH="0" baseline="0">
                          <a:ln>
                            <a:noFill/>
                          </a:ln>
                          <a:solidFill>
                            <a:srgbClr val="16369C"/>
                          </a:solidFill>
                          <a:effectLst/>
                          <a:latin typeface="Arial" charset="0"/>
                          <a:ea typeface="黑体" pitchFamily="2" charset="-122"/>
                        </a:rPr>
                        <a:t>T4</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39971" name="Rectangle 115">
            <a:extLst>
              <a:ext uri="{FF2B5EF4-FFF2-40B4-BE49-F238E27FC236}">
                <a16:creationId xmlns:a16="http://schemas.microsoft.com/office/drawing/2014/main" id="{083E5056-9A85-4FAA-9304-6486E5BFE7F0}"/>
              </a:ext>
            </a:extLst>
          </p:cNvPr>
          <p:cNvSpPr>
            <a:spLocks noChangeArrowheads="1"/>
          </p:cNvSpPr>
          <p:nvPr/>
        </p:nvSpPr>
        <p:spPr bwMode="auto">
          <a:xfrm>
            <a:off x="6934200" y="3733800"/>
            <a:ext cx="28194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000">
                <a:solidFill>
                  <a:srgbClr val="1AA1A4"/>
                </a:solidFill>
                <a:latin typeface="Times New Roman" panose="02020603050405020304" pitchFamily="18" charset="0"/>
                <a:ea typeface="黑体" panose="02010609060101010101" pitchFamily="49" charset="-122"/>
              </a:rPr>
              <a:t>设条件的取值标记</a:t>
            </a:r>
            <a:endParaRPr lang="en-US" altLang="zh-CN" sz="2000">
              <a:solidFill>
                <a:srgbClr val="1AA1A4"/>
              </a:solidFill>
              <a:latin typeface="Times New Roman" panose="02020603050405020304" pitchFamily="18" charset="0"/>
              <a:ea typeface="黑体" panose="02010609060101010101" pitchFamily="49" charset="-122"/>
            </a:endParaRPr>
          </a:p>
        </p:txBody>
      </p:sp>
      <p:sp>
        <p:nvSpPr>
          <p:cNvPr id="39972" name="Line 116">
            <a:extLst>
              <a:ext uri="{FF2B5EF4-FFF2-40B4-BE49-F238E27FC236}">
                <a16:creationId xmlns:a16="http://schemas.microsoft.com/office/drawing/2014/main" id="{9ED3AC33-B684-4622-BE21-9013ADCBCAFE}"/>
              </a:ext>
            </a:extLst>
          </p:cNvPr>
          <p:cNvSpPr>
            <a:spLocks noChangeShapeType="1"/>
          </p:cNvSpPr>
          <p:nvPr/>
        </p:nvSpPr>
        <p:spPr bwMode="auto">
          <a:xfrm>
            <a:off x="9601200" y="46482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73" name="Line 117">
            <a:extLst>
              <a:ext uri="{FF2B5EF4-FFF2-40B4-BE49-F238E27FC236}">
                <a16:creationId xmlns:a16="http://schemas.microsoft.com/office/drawing/2014/main" id="{BC91F936-4B8D-4615-AC51-60E97F82B099}"/>
              </a:ext>
            </a:extLst>
          </p:cNvPr>
          <p:cNvSpPr>
            <a:spLocks noChangeShapeType="1"/>
          </p:cNvSpPr>
          <p:nvPr/>
        </p:nvSpPr>
        <p:spPr bwMode="auto">
          <a:xfrm>
            <a:off x="9601200" y="51054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74" name="Line 118">
            <a:extLst>
              <a:ext uri="{FF2B5EF4-FFF2-40B4-BE49-F238E27FC236}">
                <a16:creationId xmlns:a16="http://schemas.microsoft.com/office/drawing/2014/main" id="{8513FFD3-0E7D-40C3-BFBC-AD803FE67346}"/>
              </a:ext>
            </a:extLst>
          </p:cNvPr>
          <p:cNvSpPr>
            <a:spLocks noChangeShapeType="1"/>
          </p:cNvSpPr>
          <p:nvPr/>
        </p:nvSpPr>
        <p:spPr bwMode="auto">
          <a:xfrm>
            <a:off x="9601200" y="55626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75" name="Line 119">
            <a:extLst>
              <a:ext uri="{FF2B5EF4-FFF2-40B4-BE49-F238E27FC236}">
                <a16:creationId xmlns:a16="http://schemas.microsoft.com/office/drawing/2014/main" id="{BB09344C-90AE-4B51-8765-A3A954B1EEE2}"/>
              </a:ext>
            </a:extLst>
          </p:cNvPr>
          <p:cNvSpPr>
            <a:spLocks noChangeShapeType="1"/>
          </p:cNvSpPr>
          <p:nvPr/>
        </p:nvSpPr>
        <p:spPr bwMode="auto">
          <a:xfrm>
            <a:off x="9601200" y="60960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日期占位符 1">
            <a:extLst>
              <a:ext uri="{FF2B5EF4-FFF2-40B4-BE49-F238E27FC236}">
                <a16:creationId xmlns:a16="http://schemas.microsoft.com/office/drawing/2014/main" id="{06683DAE-740D-4941-9978-590F2235C8BF}"/>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FB5F9F61-CC01-4A19-A068-749B654CADF3}"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41987" name="Rectangle 2">
            <a:extLst>
              <a:ext uri="{FF2B5EF4-FFF2-40B4-BE49-F238E27FC236}">
                <a16:creationId xmlns:a16="http://schemas.microsoft.com/office/drawing/2014/main" id="{95C29F7D-4EB5-4E19-94D3-1C05EFA58020}"/>
              </a:ext>
            </a:extLst>
          </p:cNvPr>
          <p:cNvSpPr>
            <a:spLocks noChangeArrowheads="1"/>
          </p:cNvSpPr>
          <p:nvPr/>
        </p:nvSpPr>
        <p:spPr bwMode="auto">
          <a:xfrm>
            <a:off x="2971800" y="990600"/>
            <a:ext cx="7315200" cy="990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endParaRPr lang="zh-CN" altLang="en-US" sz="2800">
              <a:solidFill>
                <a:schemeClr val="tx1"/>
              </a:solidFill>
              <a:latin typeface="Times New Roman" panose="02020603050405020304" pitchFamily="18" charset="0"/>
              <a:ea typeface="楷体_GB2312" pitchFamily="49" charset="-122"/>
            </a:endParaRPr>
          </a:p>
        </p:txBody>
      </p:sp>
      <p:grpSp>
        <p:nvGrpSpPr>
          <p:cNvPr id="41988" name="Group 3">
            <a:extLst>
              <a:ext uri="{FF2B5EF4-FFF2-40B4-BE49-F238E27FC236}">
                <a16:creationId xmlns:a16="http://schemas.microsoft.com/office/drawing/2014/main" id="{EF473B46-1379-42F8-8B8B-D3CD06E5C7BC}"/>
              </a:ext>
            </a:extLst>
          </p:cNvPr>
          <p:cNvGrpSpPr>
            <a:grpSpLocks/>
          </p:cNvGrpSpPr>
          <p:nvPr/>
        </p:nvGrpSpPr>
        <p:grpSpPr bwMode="auto">
          <a:xfrm>
            <a:off x="3200400" y="457200"/>
            <a:ext cx="3733800" cy="3810000"/>
            <a:chOff x="1152" y="1248"/>
            <a:chExt cx="2352" cy="2400"/>
          </a:xfrm>
        </p:grpSpPr>
        <p:sp>
          <p:nvSpPr>
            <p:cNvPr id="2424836" name="Text Box 4">
              <a:extLst>
                <a:ext uri="{FF2B5EF4-FFF2-40B4-BE49-F238E27FC236}">
                  <a16:creationId xmlns:a16="http://schemas.microsoft.com/office/drawing/2014/main" id="{007FF192-8C5E-4585-8C58-A2BB1AAEE905}"/>
                </a:ext>
              </a:extLst>
            </p:cNvPr>
            <p:cNvSpPr txBox="1">
              <a:spLocks noChangeArrowheads="1"/>
            </p:cNvSpPr>
            <p:nvPr/>
          </p:nvSpPr>
          <p:spPr bwMode="auto">
            <a:xfrm>
              <a:off x="1152" y="1776"/>
              <a:ext cx="223"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b</a:t>
              </a:r>
            </a:p>
          </p:txBody>
        </p:sp>
        <p:sp>
          <p:nvSpPr>
            <p:cNvPr id="2424837" name="Text Box 5">
              <a:extLst>
                <a:ext uri="{FF2B5EF4-FFF2-40B4-BE49-F238E27FC236}">
                  <a16:creationId xmlns:a16="http://schemas.microsoft.com/office/drawing/2014/main" id="{23E67373-6A9C-4306-B64C-8AC3641E520F}"/>
                </a:ext>
              </a:extLst>
            </p:cNvPr>
            <p:cNvSpPr txBox="1">
              <a:spLocks noChangeArrowheads="1"/>
            </p:cNvSpPr>
            <p:nvPr/>
          </p:nvSpPr>
          <p:spPr bwMode="auto">
            <a:xfrm>
              <a:off x="1152" y="2736"/>
              <a:ext cx="223"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d</a:t>
              </a:r>
            </a:p>
          </p:txBody>
        </p:sp>
        <p:sp>
          <p:nvSpPr>
            <p:cNvPr id="2424838" name="Text Box 6">
              <a:extLst>
                <a:ext uri="{FF2B5EF4-FFF2-40B4-BE49-F238E27FC236}">
                  <a16:creationId xmlns:a16="http://schemas.microsoft.com/office/drawing/2014/main" id="{2CBEE70C-D389-4E06-AD1A-BD74CF70F32A}"/>
                </a:ext>
              </a:extLst>
            </p:cNvPr>
            <p:cNvSpPr txBox="1">
              <a:spLocks noChangeArrowheads="1"/>
            </p:cNvSpPr>
            <p:nvPr/>
          </p:nvSpPr>
          <p:spPr bwMode="auto">
            <a:xfrm>
              <a:off x="2064" y="1248"/>
              <a:ext cx="288" cy="288"/>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a</a:t>
              </a:r>
            </a:p>
          </p:txBody>
        </p:sp>
        <p:sp>
          <p:nvSpPr>
            <p:cNvPr id="2424839" name="Text Box 7">
              <a:extLst>
                <a:ext uri="{FF2B5EF4-FFF2-40B4-BE49-F238E27FC236}">
                  <a16:creationId xmlns:a16="http://schemas.microsoft.com/office/drawing/2014/main" id="{3B91A445-A2DD-4F6A-BF13-244F136BDCC5}"/>
                </a:ext>
              </a:extLst>
            </p:cNvPr>
            <p:cNvSpPr txBox="1">
              <a:spLocks noChangeArrowheads="1"/>
            </p:cNvSpPr>
            <p:nvPr/>
          </p:nvSpPr>
          <p:spPr bwMode="auto">
            <a:xfrm>
              <a:off x="3072" y="1776"/>
              <a:ext cx="223" cy="288"/>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c</a:t>
              </a:r>
            </a:p>
          </p:txBody>
        </p:sp>
        <p:sp>
          <p:nvSpPr>
            <p:cNvPr id="2424840" name="Text Box 8">
              <a:extLst>
                <a:ext uri="{FF2B5EF4-FFF2-40B4-BE49-F238E27FC236}">
                  <a16:creationId xmlns:a16="http://schemas.microsoft.com/office/drawing/2014/main" id="{BEAD1F50-D790-4810-8E14-27733064F2A8}"/>
                </a:ext>
              </a:extLst>
            </p:cNvPr>
            <p:cNvSpPr txBox="1">
              <a:spLocks noChangeArrowheads="1"/>
            </p:cNvSpPr>
            <p:nvPr/>
          </p:nvSpPr>
          <p:spPr bwMode="auto">
            <a:xfrm>
              <a:off x="3120" y="2736"/>
              <a:ext cx="201"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e</a:t>
              </a:r>
            </a:p>
          </p:txBody>
        </p:sp>
        <p:grpSp>
          <p:nvGrpSpPr>
            <p:cNvPr id="42072" name="Group 9">
              <a:extLst>
                <a:ext uri="{FF2B5EF4-FFF2-40B4-BE49-F238E27FC236}">
                  <a16:creationId xmlns:a16="http://schemas.microsoft.com/office/drawing/2014/main" id="{38BCA153-DC09-48F5-8651-B0C8053AB359}"/>
                </a:ext>
              </a:extLst>
            </p:cNvPr>
            <p:cNvGrpSpPr>
              <a:grpSpLocks/>
            </p:cNvGrpSpPr>
            <p:nvPr/>
          </p:nvGrpSpPr>
          <p:grpSpPr bwMode="auto">
            <a:xfrm>
              <a:off x="1392" y="1536"/>
              <a:ext cx="2112" cy="2112"/>
              <a:chOff x="1200" y="1488"/>
              <a:chExt cx="2112" cy="2112"/>
            </a:xfrm>
          </p:grpSpPr>
          <p:sp>
            <p:nvSpPr>
              <p:cNvPr id="42073" name="AutoShape 10">
                <a:extLst>
                  <a:ext uri="{FF2B5EF4-FFF2-40B4-BE49-F238E27FC236}">
                    <a16:creationId xmlns:a16="http://schemas.microsoft.com/office/drawing/2014/main" id="{23DC3CA1-B56E-4DC4-A9AD-8C1724A18185}"/>
                  </a:ext>
                </a:extLst>
              </p:cNvPr>
              <p:cNvSpPr>
                <a:spLocks noChangeArrowheads="1"/>
              </p:cNvSpPr>
              <p:nvPr/>
            </p:nvSpPr>
            <p:spPr bwMode="auto">
              <a:xfrm>
                <a:off x="1296" y="1680"/>
                <a:ext cx="1440" cy="288"/>
              </a:xfrm>
              <a:prstGeom prst="flowChartDecision">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(A&gt;1) ^ (B=0)</a:t>
                </a:r>
              </a:p>
            </p:txBody>
          </p:sp>
          <p:sp>
            <p:nvSpPr>
              <p:cNvPr id="42074" name="Line 11">
                <a:extLst>
                  <a:ext uri="{FF2B5EF4-FFF2-40B4-BE49-F238E27FC236}">
                    <a16:creationId xmlns:a16="http://schemas.microsoft.com/office/drawing/2014/main" id="{EB185C85-FC03-42F6-9A92-E9C9610ED32B}"/>
                  </a:ext>
                </a:extLst>
              </p:cNvPr>
              <p:cNvSpPr>
                <a:spLocks noChangeShapeType="1"/>
              </p:cNvSpPr>
              <p:nvPr/>
            </p:nvSpPr>
            <p:spPr bwMode="auto">
              <a:xfrm>
                <a:off x="1200" y="1824"/>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75" name="Line 12">
                <a:extLst>
                  <a:ext uri="{FF2B5EF4-FFF2-40B4-BE49-F238E27FC236}">
                    <a16:creationId xmlns:a16="http://schemas.microsoft.com/office/drawing/2014/main" id="{2D0BE5C6-DF65-4E41-868D-510D919618E4}"/>
                  </a:ext>
                </a:extLst>
              </p:cNvPr>
              <p:cNvSpPr>
                <a:spLocks noChangeShapeType="1"/>
              </p:cNvSpPr>
              <p:nvPr/>
            </p:nvSpPr>
            <p:spPr bwMode="auto">
              <a:xfrm>
                <a:off x="2880" y="182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76" name="Rectangle 13">
                <a:extLst>
                  <a:ext uri="{FF2B5EF4-FFF2-40B4-BE49-F238E27FC236}">
                    <a16:creationId xmlns:a16="http://schemas.microsoft.com/office/drawing/2014/main" id="{AA31F189-3A72-42D4-9C7C-F9F591DA1C04}"/>
                  </a:ext>
                </a:extLst>
              </p:cNvPr>
              <p:cNvSpPr>
                <a:spLocks noChangeArrowheads="1"/>
              </p:cNvSpPr>
              <p:nvPr/>
            </p:nvSpPr>
            <p:spPr bwMode="auto">
              <a:xfrm>
                <a:off x="2496" y="2016"/>
                <a:ext cx="768" cy="288"/>
              </a:xfrm>
              <a:prstGeom prst="rect">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X=X/A</a:t>
                </a:r>
              </a:p>
            </p:txBody>
          </p:sp>
          <p:sp>
            <p:nvSpPr>
              <p:cNvPr id="42077" name="Line 14">
                <a:extLst>
                  <a:ext uri="{FF2B5EF4-FFF2-40B4-BE49-F238E27FC236}">
                    <a16:creationId xmlns:a16="http://schemas.microsoft.com/office/drawing/2014/main" id="{5DA16B49-321D-42D7-96FA-6B454BB87FAC}"/>
                  </a:ext>
                </a:extLst>
              </p:cNvPr>
              <p:cNvSpPr>
                <a:spLocks noChangeShapeType="1"/>
              </p:cNvSpPr>
              <p:nvPr/>
            </p:nvSpPr>
            <p:spPr bwMode="auto">
              <a:xfrm>
                <a:off x="1200" y="1824"/>
                <a:ext cx="0" cy="672"/>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78" name="Line 15">
                <a:extLst>
                  <a:ext uri="{FF2B5EF4-FFF2-40B4-BE49-F238E27FC236}">
                    <a16:creationId xmlns:a16="http://schemas.microsoft.com/office/drawing/2014/main" id="{EEF680E9-6858-40F8-A6AB-C19F1B928A9C}"/>
                  </a:ext>
                </a:extLst>
              </p:cNvPr>
              <p:cNvSpPr>
                <a:spLocks noChangeShapeType="1"/>
              </p:cNvSpPr>
              <p:nvPr/>
            </p:nvSpPr>
            <p:spPr bwMode="auto">
              <a:xfrm>
                <a:off x="1200" y="2496"/>
                <a:ext cx="1680"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79" name="Line 16">
                <a:extLst>
                  <a:ext uri="{FF2B5EF4-FFF2-40B4-BE49-F238E27FC236}">
                    <a16:creationId xmlns:a16="http://schemas.microsoft.com/office/drawing/2014/main" id="{50BE74F2-D465-4826-B35C-449F04BA7008}"/>
                  </a:ext>
                </a:extLst>
              </p:cNvPr>
              <p:cNvSpPr>
                <a:spLocks noChangeShapeType="1"/>
              </p:cNvSpPr>
              <p:nvPr/>
            </p:nvSpPr>
            <p:spPr bwMode="auto">
              <a:xfrm>
                <a:off x="2016" y="2496"/>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80" name="Line 17">
                <a:extLst>
                  <a:ext uri="{FF2B5EF4-FFF2-40B4-BE49-F238E27FC236}">
                    <a16:creationId xmlns:a16="http://schemas.microsoft.com/office/drawing/2014/main" id="{17AA85CF-AF92-4F1C-BBB5-AD38AC2F23A8}"/>
                  </a:ext>
                </a:extLst>
              </p:cNvPr>
              <p:cNvSpPr>
                <a:spLocks noChangeShapeType="1"/>
              </p:cNvSpPr>
              <p:nvPr/>
            </p:nvSpPr>
            <p:spPr bwMode="auto">
              <a:xfrm>
                <a:off x="2016" y="1488"/>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81" name="Text Box 18">
                <a:extLst>
                  <a:ext uri="{FF2B5EF4-FFF2-40B4-BE49-F238E27FC236}">
                    <a16:creationId xmlns:a16="http://schemas.microsoft.com/office/drawing/2014/main" id="{2E883519-6425-4C5D-BC1C-9F4CC13C9513}"/>
                  </a:ext>
                </a:extLst>
              </p:cNvPr>
              <p:cNvSpPr txBox="1">
                <a:spLocks noChangeArrowheads="1"/>
              </p:cNvSpPr>
              <p:nvPr/>
            </p:nvSpPr>
            <p:spPr bwMode="auto">
              <a:xfrm>
                <a:off x="2736" y="1632"/>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T</a:t>
                </a:r>
              </a:p>
            </p:txBody>
          </p:sp>
          <p:sp>
            <p:nvSpPr>
              <p:cNvPr id="42082" name="Text Box 19">
                <a:extLst>
                  <a:ext uri="{FF2B5EF4-FFF2-40B4-BE49-F238E27FC236}">
                    <a16:creationId xmlns:a16="http://schemas.microsoft.com/office/drawing/2014/main" id="{AD104BD3-49B4-4E64-93A5-B5A1D7300FB2}"/>
                  </a:ext>
                </a:extLst>
              </p:cNvPr>
              <p:cNvSpPr txBox="1">
                <a:spLocks noChangeArrowheads="1"/>
              </p:cNvSpPr>
              <p:nvPr/>
            </p:nvSpPr>
            <p:spPr bwMode="auto">
              <a:xfrm>
                <a:off x="1200" y="1632"/>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F</a:t>
                </a:r>
              </a:p>
            </p:txBody>
          </p:sp>
          <p:sp>
            <p:nvSpPr>
              <p:cNvPr id="42083" name="Line 20">
                <a:extLst>
                  <a:ext uri="{FF2B5EF4-FFF2-40B4-BE49-F238E27FC236}">
                    <a16:creationId xmlns:a16="http://schemas.microsoft.com/office/drawing/2014/main" id="{1CBA2E01-A837-482D-9EB2-559D7AA3B76A}"/>
                  </a:ext>
                </a:extLst>
              </p:cNvPr>
              <p:cNvSpPr>
                <a:spLocks noChangeShapeType="1"/>
              </p:cNvSpPr>
              <p:nvPr/>
            </p:nvSpPr>
            <p:spPr bwMode="auto">
              <a:xfrm>
                <a:off x="2736" y="1824"/>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84" name="Line 21">
                <a:extLst>
                  <a:ext uri="{FF2B5EF4-FFF2-40B4-BE49-F238E27FC236}">
                    <a16:creationId xmlns:a16="http://schemas.microsoft.com/office/drawing/2014/main" id="{6796E3BE-89E9-4841-A78F-684766ED37D5}"/>
                  </a:ext>
                </a:extLst>
              </p:cNvPr>
              <p:cNvSpPr>
                <a:spLocks noChangeShapeType="1"/>
              </p:cNvSpPr>
              <p:nvPr/>
            </p:nvSpPr>
            <p:spPr bwMode="auto">
              <a:xfrm>
                <a:off x="2880" y="230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85" name="AutoShape 22">
                <a:extLst>
                  <a:ext uri="{FF2B5EF4-FFF2-40B4-BE49-F238E27FC236}">
                    <a16:creationId xmlns:a16="http://schemas.microsoft.com/office/drawing/2014/main" id="{D52C08AE-332A-4F33-94F3-2638192BD3BD}"/>
                  </a:ext>
                </a:extLst>
              </p:cNvPr>
              <p:cNvSpPr>
                <a:spLocks noChangeArrowheads="1"/>
              </p:cNvSpPr>
              <p:nvPr/>
            </p:nvSpPr>
            <p:spPr bwMode="auto">
              <a:xfrm>
                <a:off x="1344" y="2640"/>
                <a:ext cx="1344" cy="288"/>
              </a:xfrm>
              <a:prstGeom prst="flowChartDecision">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(A=2) V (X&gt;1)</a:t>
                </a:r>
              </a:p>
            </p:txBody>
          </p:sp>
          <p:sp>
            <p:nvSpPr>
              <p:cNvPr id="42086" name="Rectangle 23">
                <a:extLst>
                  <a:ext uri="{FF2B5EF4-FFF2-40B4-BE49-F238E27FC236}">
                    <a16:creationId xmlns:a16="http://schemas.microsoft.com/office/drawing/2014/main" id="{50796670-5894-4C6D-8492-83E7286910DD}"/>
                  </a:ext>
                </a:extLst>
              </p:cNvPr>
              <p:cNvSpPr>
                <a:spLocks noChangeArrowheads="1"/>
              </p:cNvSpPr>
              <p:nvPr/>
            </p:nvSpPr>
            <p:spPr bwMode="auto">
              <a:xfrm>
                <a:off x="2544" y="2976"/>
                <a:ext cx="768" cy="288"/>
              </a:xfrm>
              <a:prstGeom prst="rect">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X=X+1</a:t>
                </a:r>
              </a:p>
            </p:txBody>
          </p:sp>
          <p:sp>
            <p:nvSpPr>
              <p:cNvPr id="42087" name="Text Box 24">
                <a:extLst>
                  <a:ext uri="{FF2B5EF4-FFF2-40B4-BE49-F238E27FC236}">
                    <a16:creationId xmlns:a16="http://schemas.microsoft.com/office/drawing/2014/main" id="{FD8DF126-A835-4A51-BCA7-59CB13E38DDA}"/>
                  </a:ext>
                </a:extLst>
              </p:cNvPr>
              <p:cNvSpPr txBox="1">
                <a:spLocks noChangeArrowheads="1"/>
              </p:cNvSpPr>
              <p:nvPr/>
            </p:nvSpPr>
            <p:spPr bwMode="auto">
              <a:xfrm>
                <a:off x="2640" y="2592"/>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T</a:t>
                </a:r>
              </a:p>
            </p:txBody>
          </p:sp>
          <p:sp>
            <p:nvSpPr>
              <p:cNvPr id="42088" name="Line 25">
                <a:extLst>
                  <a:ext uri="{FF2B5EF4-FFF2-40B4-BE49-F238E27FC236}">
                    <a16:creationId xmlns:a16="http://schemas.microsoft.com/office/drawing/2014/main" id="{D89D9881-DD43-4CEA-BF33-9A99390BEC3D}"/>
                  </a:ext>
                </a:extLst>
              </p:cNvPr>
              <p:cNvSpPr>
                <a:spLocks noChangeShapeType="1"/>
              </p:cNvSpPr>
              <p:nvPr/>
            </p:nvSpPr>
            <p:spPr bwMode="auto">
              <a:xfrm>
                <a:off x="1200" y="2784"/>
                <a:ext cx="0" cy="624"/>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89" name="Line 26">
                <a:extLst>
                  <a:ext uri="{FF2B5EF4-FFF2-40B4-BE49-F238E27FC236}">
                    <a16:creationId xmlns:a16="http://schemas.microsoft.com/office/drawing/2014/main" id="{33696591-95B0-4185-B6B6-4AFF4C194E9F}"/>
                  </a:ext>
                </a:extLst>
              </p:cNvPr>
              <p:cNvSpPr>
                <a:spLocks noChangeShapeType="1"/>
              </p:cNvSpPr>
              <p:nvPr/>
            </p:nvSpPr>
            <p:spPr bwMode="auto">
              <a:xfrm>
                <a:off x="1200" y="3408"/>
                <a:ext cx="1680"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90" name="Text Box 27">
                <a:extLst>
                  <a:ext uri="{FF2B5EF4-FFF2-40B4-BE49-F238E27FC236}">
                    <a16:creationId xmlns:a16="http://schemas.microsoft.com/office/drawing/2014/main" id="{242DD8C8-5379-4040-A2E3-31BE8000F31F}"/>
                  </a:ext>
                </a:extLst>
              </p:cNvPr>
              <p:cNvSpPr txBox="1">
                <a:spLocks noChangeArrowheads="1"/>
              </p:cNvSpPr>
              <p:nvPr/>
            </p:nvSpPr>
            <p:spPr bwMode="auto">
              <a:xfrm>
                <a:off x="1200" y="2544"/>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F</a:t>
                </a:r>
              </a:p>
            </p:txBody>
          </p:sp>
          <p:sp>
            <p:nvSpPr>
              <p:cNvPr id="42091" name="Line 28">
                <a:extLst>
                  <a:ext uri="{FF2B5EF4-FFF2-40B4-BE49-F238E27FC236}">
                    <a16:creationId xmlns:a16="http://schemas.microsoft.com/office/drawing/2014/main" id="{A64D3612-F6C8-4BD8-B321-A2ABD93F482D}"/>
                  </a:ext>
                </a:extLst>
              </p:cNvPr>
              <p:cNvSpPr>
                <a:spLocks noChangeShapeType="1"/>
              </p:cNvSpPr>
              <p:nvPr/>
            </p:nvSpPr>
            <p:spPr bwMode="auto">
              <a:xfrm>
                <a:off x="2688" y="2784"/>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92" name="Line 29">
                <a:extLst>
                  <a:ext uri="{FF2B5EF4-FFF2-40B4-BE49-F238E27FC236}">
                    <a16:creationId xmlns:a16="http://schemas.microsoft.com/office/drawing/2014/main" id="{1EBA8A21-8AE8-403F-91B4-FEC069BCF8D3}"/>
                  </a:ext>
                </a:extLst>
              </p:cNvPr>
              <p:cNvSpPr>
                <a:spLocks noChangeShapeType="1"/>
              </p:cNvSpPr>
              <p:nvPr/>
            </p:nvSpPr>
            <p:spPr bwMode="auto">
              <a:xfrm>
                <a:off x="2880" y="278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93" name="Line 30">
                <a:extLst>
                  <a:ext uri="{FF2B5EF4-FFF2-40B4-BE49-F238E27FC236}">
                    <a16:creationId xmlns:a16="http://schemas.microsoft.com/office/drawing/2014/main" id="{0DA0FEB5-094C-48B3-92F5-10D666B3E0F8}"/>
                  </a:ext>
                </a:extLst>
              </p:cNvPr>
              <p:cNvSpPr>
                <a:spLocks noChangeShapeType="1"/>
              </p:cNvSpPr>
              <p:nvPr/>
            </p:nvSpPr>
            <p:spPr bwMode="auto">
              <a:xfrm>
                <a:off x="2880" y="3264"/>
                <a:ext cx="0" cy="144"/>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94" name="Line 31">
                <a:extLst>
                  <a:ext uri="{FF2B5EF4-FFF2-40B4-BE49-F238E27FC236}">
                    <a16:creationId xmlns:a16="http://schemas.microsoft.com/office/drawing/2014/main" id="{0BE11C12-ADDE-4F9F-9AA6-C4B5D1082E94}"/>
                  </a:ext>
                </a:extLst>
              </p:cNvPr>
              <p:cNvSpPr>
                <a:spLocks noChangeShapeType="1"/>
              </p:cNvSpPr>
              <p:nvPr/>
            </p:nvSpPr>
            <p:spPr bwMode="auto">
              <a:xfrm>
                <a:off x="2064" y="3408"/>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95" name="Line 32">
                <a:extLst>
                  <a:ext uri="{FF2B5EF4-FFF2-40B4-BE49-F238E27FC236}">
                    <a16:creationId xmlns:a16="http://schemas.microsoft.com/office/drawing/2014/main" id="{D7E00104-3729-4FA0-A095-00F75BA0CA45}"/>
                  </a:ext>
                </a:extLst>
              </p:cNvPr>
              <p:cNvSpPr>
                <a:spLocks noChangeShapeType="1"/>
              </p:cNvSpPr>
              <p:nvPr/>
            </p:nvSpPr>
            <p:spPr bwMode="auto">
              <a:xfrm>
                <a:off x="1200" y="2784"/>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aphicFrame>
        <p:nvGraphicFramePr>
          <p:cNvPr id="2424903" name="Group 71">
            <a:extLst>
              <a:ext uri="{FF2B5EF4-FFF2-40B4-BE49-F238E27FC236}">
                <a16:creationId xmlns:a16="http://schemas.microsoft.com/office/drawing/2014/main" id="{7B2CCCDE-A043-4F6C-BCD3-45BCDB6738D2}"/>
              </a:ext>
            </a:extLst>
          </p:cNvPr>
          <p:cNvGraphicFramePr>
            <a:graphicFrameLocks noGrp="1"/>
          </p:cNvGraphicFramePr>
          <p:nvPr/>
        </p:nvGraphicFramePr>
        <p:xfrm>
          <a:off x="6934200" y="990600"/>
          <a:ext cx="3276600" cy="1752600"/>
        </p:xfrm>
        <a:graphic>
          <a:graphicData uri="http://schemas.openxmlformats.org/drawingml/2006/table">
            <a:tbl>
              <a:tblPr/>
              <a:tblGrid>
                <a:gridCol w="711200">
                  <a:extLst>
                    <a:ext uri="{9D8B030D-6E8A-4147-A177-3AD203B41FA5}">
                      <a16:colId xmlns:a16="http://schemas.microsoft.com/office/drawing/2014/main" val="20000"/>
                    </a:ext>
                  </a:extLst>
                </a:gridCol>
                <a:gridCol w="896938">
                  <a:extLst>
                    <a:ext uri="{9D8B030D-6E8A-4147-A177-3AD203B41FA5}">
                      <a16:colId xmlns:a16="http://schemas.microsoft.com/office/drawing/2014/main" val="20001"/>
                    </a:ext>
                  </a:extLst>
                </a:gridCol>
                <a:gridCol w="865187">
                  <a:extLst>
                    <a:ext uri="{9D8B030D-6E8A-4147-A177-3AD203B41FA5}">
                      <a16:colId xmlns:a16="http://schemas.microsoft.com/office/drawing/2014/main" val="20002"/>
                    </a:ext>
                  </a:extLst>
                </a:gridCol>
                <a:gridCol w="803275">
                  <a:extLst>
                    <a:ext uri="{9D8B030D-6E8A-4147-A177-3AD203B41FA5}">
                      <a16:colId xmlns:a16="http://schemas.microsoft.com/office/drawing/2014/main" val="20003"/>
                    </a:ext>
                  </a:extLst>
                </a:gridCol>
              </a:tblGrid>
              <a:tr h="3397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判断</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条件</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取真值</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取假值</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38138">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判断</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(一)</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A&gt;1</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T1</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T1</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972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B=0</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T2</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T2</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39725">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判断</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(二)</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A=2</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T3</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T3</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95288">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X&gt;1</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T4</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T4</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42019" name="Rectangle 63">
            <a:extLst>
              <a:ext uri="{FF2B5EF4-FFF2-40B4-BE49-F238E27FC236}">
                <a16:creationId xmlns:a16="http://schemas.microsoft.com/office/drawing/2014/main" id="{E1247A89-1AFB-44F6-9747-7EABC7F8FBFA}"/>
              </a:ext>
            </a:extLst>
          </p:cNvPr>
          <p:cNvSpPr>
            <a:spLocks noChangeArrowheads="1"/>
          </p:cNvSpPr>
          <p:nvPr/>
        </p:nvSpPr>
        <p:spPr bwMode="auto">
          <a:xfrm>
            <a:off x="7162800" y="533400"/>
            <a:ext cx="28194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600">
                <a:solidFill>
                  <a:srgbClr val="1AA1A4"/>
                </a:solidFill>
                <a:latin typeface="Times New Roman" panose="02020603050405020304" pitchFamily="18" charset="0"/>
                <a:ea typeface="黑体" panose="02010609060101010101" pitchFamily="49" charset="-122"/>
              </a:rPr>
              <a:t>设条件的取值标记</a:t>
            </a:r>
            <a:endParaRPr lang="en-US" altLang="zh-CN" sz="1600">
              <a:solidFill>
                <a:srgbClr val="1AA1A4"/>
              </a:solidFill>
              <a:latin typeface="Times New Roman" panose="02020603050405020304" pitchFamily="18" charset="0"/>
              <a:ea typeface="黑体" panose="02010609060101010101" pitchFamily="49" charset="-122"/>
            </a:endParaRPr>
          </a:p>
        </p:txBody>
      </p:sp>
      <p:sp>
        <p:nvSpPr>
          <p:cNvPr id="42020" name="Line 64">
            <a:extLst>
              <a:ext uri="{FF2B5EF4-FFF2-40B4-BE49-F238E27FC236}">
                <a16:creationId xmlns:a16="http://schemas.microsoft.com/office/drawing/2014/main" id="{50A2B81F-F551-4EDF-9EA8-FBFB8D605CAC}"/>
              </a:ext>
            </a:extLst>
          </p:cNvPr>
          <p:cNvSpPr>
            <a:spLocks noChangeShapeType="1"/>
          </p:cNvSpPr>
          <p:nvPr/>
        </p:nvSpPr>
        <p:spPr bwMode="auto">
          <a:xfrm>
            <a:off x="9677400" y="13716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1" name="Line 65">
            <a:extLst>
              <a:ext uri="{FF2B5EF4-FFF2-40B4-BE49-F238E27FC236}">
                <a16:creationId xmlns:a16="http://schemas.microsoft.com/office/drawing/2014/main" id="{0E2CEE68-975D-4296-AC67-5A5995DE1A64}"/>
              </a:ext>
            </a:extLst>
          </p:cNvPr>
          <p:cNvSpPr>
            <a:spLocks noChangeShapeType="1"/>
          </p:cNvSpPr>
          <p:nvPr/>
        </p:nvSpPr>
        <p:spPr bwMode="auto">
          <a:xfrm>
            <a:off x="9677400" y="17526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2" name="Line 66">
            <a:extLst>
              <a:ext uri="{FF2B5EF4-FFF2-40B4-BE49-F238E27FC236}">
                <a16:creationId xmlns:a16="http://schemas.microsoft.com/office/drawing/2014/main" id="{36FF4B16-0B36-469F-92BF-F18F7B604AA1}"/>
              </a:ext>
            </a:extLst>
          </p:cNvPr>
          <p:cNvSpPr>
            <a:spLocks noChangeShapeType="1"/>
          </p:cNvSpPr>
          <p:nvPr/>
        </p:nvSpPr>
        <p:spPr bwMode="auto">
          <a:xfrm>
            <a:off x="9677400" y="20574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23" name="Line 67">
            <a:extLst>
              <a:ext uri="{FF2B5EF4-FFF2-40B4-BE49-F238E27FC236}">
                <a16:creationId xmlns:a16="http://schemas.microsoft.com/office/drawing/2014/main" id="{C270E333-804D-4E22-BC7E-D52E9E66BBA4}"/>
              </a:ext>
            </a:extLst>
          </p:cNvPr>
          <p:cNvSpPr>
            <a:spLocks noChangeShapeType="1"/>
          </p:cNvSpPr>
          <p:nvPr/>
        </p:nvSpPr>
        <p:spPr bwMode="auto">
          <a:xfrm>
            <a:off x="9677400" y="24384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24900" name="Rectangle 68">
            <a:extLst>
              <a:ext uri="{FF2B5EF4-FFF2-40B4-BE49-F238E27FC236}">
                <a16:creationId xmlns:a16="http://schemas.microsoft.com/office/drawing/2014/main" id="{63EC6343-602B-4173-9C9A-1C90F54BFA7F}"/>
              </a:ext>
            </a:extLst>
          </p:cNvPr>
          <p:cNvSpPr>
            <a:spLocks noChangeArrowheads="1"/>
          </p:cNvSpPr>
          <p:nvPr/>
        </p:nvSpPr>
        <p:spPr bwMode="auto">
          <a:xfrm>
            <a:off x="6629400" y="3886200"/>
            <a:ext cx="2971800" cy="990600"/>
          </a:xfrm>
          <a:prstGeom prst="rect">
            <a:avLst/>
          </a:prstGeom>
          <a:noFill/>
          <a:ln w="38100" cmpd="dbl">
            <a:solidFill>
              <a:srgbClr val="669CC4"/>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solidFill>
                  <a:srgbClr val="16369C"/>
                </a:solidFill>
                <a:latin typeface="黑体" panose="02010609060101010101" pitchFamily="49" charset="-122"/>
                <a:ea typeface="黑体" panose="02010609060101010101" pitchFamily="49" charset="-122"/>
              </a:rPr>
              <a:t>   </a:t>
            </a:r>
            <a:r>
              <a:rPr lang="zh-CN" altLang="en-US" sz="1800">
                <a:solidFill>
                  <a:srgbClr val="16369C"/>
                </a:solidFill>
                <a:latin typeface="黑体" panose="02010609060101010101" pitchFamily="49" charset="-122"/>
                <a:ea typeface="黑体" panose="02010609060101010101" pitchFamily="49" charset="-122"/>
              </a:rPr>
              <a:t>条件覆盖可选取的 </a:t>
            </a:r>
          </a:p>
          <a:p>
            <a:pPr>
              <a:spcBef>
                <a:spcPct val="0"/>
              </a:spcBef>
              <a:buFontTx/>
              <a:buNone/>
            </a:pPr>
            <a:r>
              <a:rPr lang="zh-CN" altLang="en-US" sz="1800">
                <a:solidFill>
                  <a:srgbClr val="16369C"/>
                </a:solidFill>
                <a:latin typeface="黑体" panose="02010609060101010101" pitchFamily="49" charset="-122"/>
                <a:ea typeface="黑体" panose="02010609060101010101" pitchFamily="49" charset="-122"/>
              </a:rPr>
              <a:t> (</a:t>
            </a:r>
            <a:r>
              <a:rPr lang="zh-CN" altLang="en-US" sz="1800">
                <a:solidFill>
                  <a:schemeClr val="accent2"/>
                </a:solidFill>
                <a:latin typeface="黑体" panose="02010609060101010101" pitchFamily="49" charset="-122"/>
                <a:ea typeface="黑体" panose="02010609060101010101" pitchFamily="49" charset="-122"/>
              </a:rPr>
              <a:t>第一组测试用例</a:t>
            </a:r>
            <a:r>
              <a:rPr lang="zh-CN" altLang="en-US" sz="1800">
                <a:solidFill>
                  <a:srgbClr val="345BC8"/>
                </a:solidFill>
                <a:latin typeface="黑体" panose="02010609060101010101" pitchFamily="49" charset="-122"/>
                <a:ea typeface="黑体" panose="02010609060101010101" pitchFamily="49" charset="-122"/>
              </a:rPr>
              <a:t>)</a:t>
            </a:r>
            <a:r>
              <a:rPr lang="zh-CN" altLang="en-US" sz="1800">
                <a:solidFill>
                  <a:srgbClr val="16369C"/>
                </a:solidFill>
                <a:latin typeface="黑体" panose="02010609060101010101" pitchFamily="49" charset="-122"/>
                <a:ea typeface="黑体" panose="02010609060101010101" pitchFamily="49" charset="-122"/>
              </a:rPr>
              <a:t>如下表 </a:t>
            </a:r>
          </a:p>
        </p:txBody>
      </p:sp>
      <p:graphicFrame>
        <p:nvGraphicFramePr>
          <p:cNvPr id="2424997" name="Group 165">
            <a:extLst>
              <a:ext uri="{FF2B5EF4-FFF2-40B4-BE49-F238E27FC236}">
                <a16:creationId xmlns:a16="http://schemas.microsoft.com/office/drawing/2014/main" id="{DEC8BF41-A4FA-4517-98ED-E94BEDD71060}"/>
              </a:ext>
            </a:extLst>
          </p:cNvPr>
          <p:cNvGraphicFramePr>
            <a:graphicFrameLocks noGrp="1"/>
          </p:cNvGraphicFramePr>
          <p:nvPr/>
        </p:nvGraphicFramePr>
        <p:xfrm>
          <a:off x="3733800" y="4953000"/>
          <a:ext cx="5867400" cy="1417638"/>
        </p:xfrm>
        <a:graphic>
          <a:graphicData uri="http://schemas.openxmlformats.org/drawingml/2006/table">
            <a:tbl>
              <a:tblPr/>
              <a:tblGrid>
                <a:gridCol w="1651000">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tblGrid>
              <a:tr h="52387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16369C"/>
                          </a:solidFill>
                          <a:effectLst/>
                          <a:latin typeface="Times New Roman" charset="0"/>
                          <a:ea typeface="黑体" pitchFamily="2" charset="-122"/>
                        </a:rPr>
                        <a:t>测试用例</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16369C"/>
                          </a:solidFill>
                          <a:effectLst/>
                          <a:latin typeface="Times New Roman" charset="0"/>
                          <a:ea typeface="黑体" pitchFamily="2" charset="-122"/>
                        </a:rPr>
                        <a:t>通过路径</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16369C"/>
                          </a:solidFill>
                          <a:effectLst/>
                          <a:latin typeface="Times New Roman" charset="0"/>
                          <a:ea typeface="黑体" pitchFamily="2" charset="-122"/>
                        </a:rPr>
                        <a:t>条件取值</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16369C"/>
                          </a:solidFill>
                          <a:effectLst/>
                          <a:latin typeface="Times New Roman" charset="0"/>
                          <a:ea typeface="黑体" pitchFamily="2" charset="-122"/>
                        </a:rPr>
                        <a:t>覆盖分支</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4767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2000" b="1" i="0" u="none" strike="noStrike" cap="none" normalizeH="0" baseline="0">
                          <a:ln>
                            <a:noFill/>
                          </a:ln>
                          <a:solidFill>
                            <a:schemeClr val="accent2"/>
                          </a:solidFill>
                          <a:effectLst>
                            <a:outerShdw blurRad="38100" dist="38100" dir="2700000" algn="tl">
                              <a:srgbClr val="000000"/>
                            </a:outerShdw>
                          </a:effectLst>
                          <a:latin typeface="Times New Roman"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0" i="0" u="none" strike="noStrike" cap="none" normalizeH="0" baseline="0">
                          <a:ln>
                            <a:noFill/>
                          </a:ln>
                          <a:solidFill>
                            <a:srgbClr val="124905"/>
                          </a:solidFill>
                          <a:effectLst/>
                          <a:latin typeface="Times New Roman"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0" i="0" u="none" strike="noStrike" cap="none" normalizeH="0" baseline="0">
                          <a:ln>
                            <a:noFill/>
                          </a:ln>
                          <a:solidFill>
                            <a:srgbClr val="124905"/>
                          </a:solidFill>
                          <a:effectLst/>
                          <a:latin typeface="Times New Roman"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0" i="0" u="none" strike="noStrike" cap="none" normalizeH="0" baseline="0">
                          <a:ln>
                            <a:noFill/>
                          </a:ln>
                          <a:solidFill>
                            <a:srgbClr val="D35FC2"/>
                          </a:solidFill>
                          <a:effectLst>
                            <a:outerShdw blurRad="38100" dist="38100" dir="2700000" algn="tl">
                              <a:srgbClr val="000000"/>
                            </a:outerShdw>
                          </a:effectLst>
                          <a:latin typeface="Arial"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4608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2000" b="1" i="0" u="none" strike="noStrike" cap="none" normalizeH="0" baseline="0">
                          <a:ln>
                            <a:noFill/>
                          </a:ln>
                          <a:solidFill>
                            <a:schemeClr val="accent2"/>
                          </a:solidFill>
                          <a:effectLst>
                            <a:outerShdw blurRad="38100" dist="38100" dir="2700000" algn="tl">
                              <a:srgbClr val="000000"/>
                            </a:outerShdw>
                          </a:effectLst>
                          <a:latin typeface="Times New Roman"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0" i="0" u="none" strike="noStrike" cap="none" normalizeH="0" baseline="0">
                          <a:ln>
                            <a:noFill/>
                          </a:ln>
                          <a:solidFill>
                            <a:srgbClr val="124905"/>
                          </a:solidFill>
                          <a:effectLst/>
                          <a:latin typeface="Times New Roman"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0" i="0" u="none" strike="noStrike" cap="none" normalizeH="0" baseline="0">
                          <a:ln>
                            <a:noFill/>
                          </a:ln>
                          <a:solidFill>
                            <a:srgbClr val="124905"/>
                          </a:solidFill>
                          <a:effectLst/>
                          <a:latin typeface="Times New Roman"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0" i="0" u="none" strike="noStrike" cap="none" normalizeH="0" baseline="0">
                          <a:ln>
                            <a:noFill/>
                          </a:ln>
                          <a:solidFill>
                            <a:srgbClr val="D35FC2"/>
                          </a:solidFill>
                          <a:effectLst>
                            <a:outerShdw blurRad="38100" dist="38100" dir="2700000" algn="tl">
                              <a:srgbClr val="000000"/>
                            </a:outerShdw>
                          </a:effectLst>
                          <a:latin typeface="Arial"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2424967" name="Rectangle 135">
            <a:extLst>
              <a:ext uri="{FF2B5EF4-FFF2-40B4-BE49-F238E27FC236}">
                <a16:creationId xmlns:a16="http://schemas.microsoft.com/office/drawing/2014/main" id="{629BE01C-7452-422E-9F78-FCF80A69328E}"/>
              </a:ext>
            </a:extLst>
          </p:cNvPr>
          <p:cNvSpPr>
            <a:spLocks noChangeArrowheads="1"/>
          </p:cNvSpPr>
          <p:nvPr/>
        </p:nvSpPr>
        <p:spPr bwMode="auto">
          <a:xfrm>
            <a:off x="3733800" y="5486400"/>
            <a:ext cx="1676400" cy="457200"/>
          </a:xfrm>
          <a:prstGeom prst="rect">
            <a:avLst/>
          </a:prstGeom>
          <a:noFill/>
          <a:ln w="38100" cmpd="dbl">
            <a:noFill/>
            <a:miter lim="800000"/>
            <a:headEnd/>
            <a:tailEnd/>
          </a:ln>
          <a:effectLst/>
        </p:spPr>
        <p:txBody>
          <a:bodyPr wrap="none" anchor="ctr"/>
          <a:lstStyle/>
          <a:p>
            <a:pPr>
              <a:defRPr/>
            </a:pPr>
            <a:r>
              <a:rPr kumimoji="1" lang="zh-CN" altLang="en-US" sz="2000" b="1">
                <a:solidFill>
                  <a:schemeClr val="accent2"/>
                </a:solidFill>
                <a:effectLst>
                  <a:outerShdw blurRad="38100" dist="38100" dir="2700000" algn="tl">
                    <a:srgbClr val="000000"/>
                  </a:outerShdw>
                </a:effectLst>
                <a:latin typeface="Times New Roman" charset="0"/>
                <a:ea typeface="文鼎细圆" pitchFamily="49" charset="-122"/>
              </a:rPr>
              <a:t>(2,0,4),(2,0,3)</a:t>
            </a:r>
          </a:p>
        </p:txBody>
      </p:sp>
      <p:sp>
        <p:nvSpPr>
          <p:cNvPr id="2424968" name="Rectangle 136">
            <a:extLst>
              <a:ext uri="{FF2B5EF4-FFF2-40B4-BE49-F238E27FC236}">
                <a16:creationId xmlns:a16="http://schemas.microsoft.com/office/drawing/2014/main" id="{39746490-D8B8-460C-9FA5-BE1DBB9E826E}"/>
              </a:ext>
            </a:extLst>
          </p:cNvPr>
          <p:cNvSpPr>
            <a:spLocks noChangeArrowheads="1"/>
          </p:cNvSpPr>
          <p:nvPr/>
        </p:nvSpPr>
        <p:spPr bwMode="auto">
          <a:xfrm>
            <a:off x="5410200" y="5486400"/>
            <a:ext cx="1295400" cy="4572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sz="2000" b="1">
                <a:solidFill>
                  <a:srgbClr val="D35FC2"/>
                </a:solidFill>
                <a:effectLst>
                  <a:outerShdw blurRad="38100" dist="38100" dir="2700000" algn="tl">
                    <a:srgbClr val="000000"/>
                  </a:outerShdw>
                </a:effectLst>
                <a:latin typeface="Arial" charset="0"/>
                <a:ea typeface="文鼎细圆" pitchFamily="49" charset="-122"/>
              </a:rPr>
              <a:t>ace(L1)</a:t>
            </a:r>
          </a:p>
        </p:txBody>
      </p:sp>
      <p:sp>
        <p:nvSpPr>
          <p:cNvPr id="2424971" name="Rectangle 139">
            <a:extLst>
              <a:ext uri="{FF2B5EF4-FFF2-40B4-BE49-F238E27FC236}">
                <a16:creationId xmlns:a16="http://schemas.microsoft.com/office/drawing/2014/main" id="{2FD54906-F21F-4810-A5AA-5BA2FCB6299F}"/>
              </a:ext>
            </a:extLst>
          </p:cNvPr>
          <p:cNvSpPr>
            <a:spLocks noChangeArrowheads="1"/>
          </p:cNvSpPr>
          <p:nvPr/>
        </p:nvSpPr>
        <p:spPr bwMode="auto">
          <a:xfrm>
            <a:off x="7162800" y="5486400"/>
            <a:ext cx="381000" cy="4572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b="1">
                <a:solidFill>
                  <a:srgbClr val="EF8D2B"/>
                </a:solidFill>
                <a:effectLst>
                  <a:outerShdw blurRad="38100" dist="38100" dir="2700000" algn="tl">
                    <a:srgbClr val="000000"/>
                  </a:outerShdw>
                </a:effectLst>
                <a:latin typeface="Arial" charset="0"/>
                <a:ea typeface="文鼎细圆" pitchFamily="49" charset="-122"/>
              </a:rPr>
              <a:t>T2</a:t>
            </a:r>
          </a:p>
        </p:txBody>
      </p:sp>
      <p:sp>
        <p:nvSpPr>
          <p:cNvPr id="2424972" name="Rectangle 140">
            <a:extLst>
              <a:ext uri="{FF2B5EF4-FFF2-40B4-BE49-F238E27FC236}">
                <a16:creationId xmlns:a16="http://schemas.microsoft.com/office/drawing/2014/main" id="{3A9E2C48-A833-43CE-8CB3-D9C7C575BDBF}"/>
              </a:ext>
            </a:extLst>
          </p:cNvPr>
          <p:cNvSpPr>
            <a:spLocks noChangeArrowheads="1"/>
          </p:cNvSpPr>
          <p:nvPr/>
        </p:nvSpPr>
        <p:spPr bwMode="auto">
          <a:xfrm>
            <a:off x="7543800" y="5486400"/>
            <a:ext cx="381000" cy="4572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b="1">
                <a:solidFill>
                  <a:srgbClr val="EF8D2B"/>
                </a:solidFill>
                <a:effectLst>
                  <a:outerShdw blurRad="38100" dist="38100" dir="2700000" algn="tl">
                    <a:srgbClr val="000000"/>
                  </a:outerShdw>
                </a:effectLst>
                <a:latin typeface="Arial" charset="0"/>
                <a:ea typeface="文鼎细圆" pitchFamily="49" charset="-122"/>
              </a:rPr>
              <a:t>T3</a:t>
            </a:r>
          </a:p>
        </p:txBody>
      </p:sp>
      <p:sp>
        <p:nvSpPr>
          <p:cNvPr id="2424973" name="Rectangle 141">
            <a:extLst>
              <a:ext uri="{FF2B5EF4-FFF2-40B4-BE49-F238E27FC236}">
                <a16:creationId xmlns:a16="http://schemas.microsoft.com/office/drawing/2014/main" id="{C2770312-084E-4B30-AC49-4205D6EFFDD0}"/>
              </a:ext>
            </a:extLst>
          </p:cNvPr>
          <p:cNvSpPr>
            <a:spLocks noChangeArrowheads="1"/>
          </p:cNvSpPr>
          <p:nvPr/>
        </p:nvSpPr>
        <p:spPr bwMode="auto">
          <a:xfrm>
            <a:off x="7924800" y="5486400"/>
            <a:ext cx="304800" cy="4572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b="1">
                <a:solidFill>
                  <a:srgbClr val="EF8D2B"/>
                </a:solidFill>
                <a:effectLst>
                  <a:outerShdw blurRad="38100" dist="38100" dir="2700000" algn="tl">
                    <a:srgbClr val="000000"/>
                  </a:outerShdw>
                </a:effectLst>
                <a:latin typeface="Arial" charset="0"/>
                <a:ea typeface="文鼎细圆" pitchFamily="49" charset="-122"/>
              </a:rPr>
              <a:t>T4</a:t>
            </a:r>
          </a:p>
        </p:txBody>
      </p:sp>
      <p:sp>
        <p:nvSpPr>
          <p:cNvPr id="2424974" name="Rectangle 142">
            <a:extLst>
              <a:ext uri="{FF2B5EF4-FFF2-40B4-BE49-F238E27FC236}">
                <a16:creationId xmlns:a16="http://schemas.microsoft.com/office/drawing/2014/main" id="{A5D1265C-D7F9-4A95-962A-3E0C17405E9A}"/>
              </a:ext>
            </a:extLst>
          </p:cNvPr>
          <p:cNvSpPr>
            <a:spLocks noChangeArrowheads="1"/>
          </p:cNvSpPr>
          <p:nvPr/>
        </p:nvSpPr>
        <p:spPr bwMode="auto">
          <a:xfrm>
            <a:off x="8763000" y="5486400"/>
            <a:ext cx="457200" cy="4572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sz="2000">
                <a:solidFill>
                  <a:srgbClr val="D35FC2"/>
                </a:solidFill>
                <a:effectLst>
                  <a:outerShdw blurRad="38100" dist="38100" dir="2700000" algn="tl">
                    <a:srgbClr val="000000"/>
                  </a:outerShdw>
                </a:effectLst>
                <a:latin typeface="Arial" charset="0"/>
                <a:ea typeface="文鼎细圆" pitchFamily="49" charset="-122"/>
              </a:rPr>
              <a:t>c,e</a:t>
            </a:r>
            <a:endParaRPr kumimoji="1" lang="en-US" altLang="zh-CN" b="1">
              <a:solidFill>
                <a:srgbClr val="EF8D2B"/>
              </a:solidFill>
              <a:effectLst>
                <a:outerShdw blurRad="38100" dist="38100" dir="2700000" algn="tl">
                  <a:srgbClr val="000000"/>
                </a:outerShdw>
              </a:effectLst>
              <a:latin typeface="Arial" charset="0"/>
              <a:ea typeface="文鼎细圆" pitchFamily="49" charset="-122"/>
            </a:endParaRPr>
          </a:p>
        </p:txBody>
      </p:sp>
      <p:sp>
        <p:nvSpPr>
          <p:cNvPr id="2424975" name="Rectangle 143">
            <a:extLst>
              <a:ext uri="{FF2B5EF4-FFF2-40B4-BE49-F238E27FC236}">
                <a16:creationId xmlns:a16="http://schemas.microsoft.com/office/drawing/2014/main" id="{2584FCC0-6824-42D4-84D3-232080AEF74E}"/>
              </a:ext>
            </a:extLst>
          </p:cNvPr>
          <p:cNvSpPr>
            <a:spLocks noChangeArrowheads="1"/>
          </p:cNvSpPr>
          <p:nvPr/>
        </p:nvSpPr>
        <p:spPr bwMode="auto">
          <a:xfrm>
            <a:off x="3733800" y="5943600"/>
            <a:ext cx="1676400" cy="457200"/>
          </a:xfrm>
          <a:prstGeom prst="rect">
            <a:avLst/>
          </a:prstGeom>
          <a:noFill/>
          <a:ln w="38100" cmpd="dbl">
            <a:noFill/>
            <a:miter lim="800000"/>
            <a:headEnd/>
            <a:tailEnd/>
          </a:ln>
          <a:effectLst/>
        </p:spPr>
        <p:txBody>
          <a:bodyPr wrap="none" anchor="ctr"/>
          <a:lstStyle/>
          <a:p>
            <a:pPr>
              <a:defRPr/>
            </a:pPr>
            <a:r>
              <a:rPr kumimoji="1" lang="zh-CN" altLang="en-US" sz="2000" b="1">
                <a:solidFill>
                  <a:schemeClr val="accent2"/>
                </a:solidFill>
                <a:effectLst>
                  <a:outerShdw blurRad="38100" dist="38100" dir="2700000" algn="tl">
                    <a:srgbClr val="000000"/>
                  </a:outerShdw>
                </a:effectLst>
                <a:latin typeface="Times New Roman" charset="0"/>
                <a:ea typeface="文鼎细圆" pitchFamily="49" charset="-122"/>
              </a:rPr>
              <a:t>(1,0,1),(1,0,1)</a:t>
            </a:r>
          </a:p>
        </p:txBody>
      </p:sp>
      <p:sp>
        <p:nvSpPr>
          <p:cNvPr id="2424976" name="Rectangle 144">
            <a:extLst>
              <a:ext uri="{FF2B5EF4-FFF2-40B4-BE49-F238E27FC236}">
                <a16:creationId xmlns:a16="http://schemas.microsoft.com/office/drawing/2014/main" id="{A6501B59-15A9-441B-A5F6-E5C803365A56}"/>
              </a:ext>
            </a:extLst>
          </p:cNvPr>
          <p:cNvSpPr>
            <a:spLocks noChangeArrowheads="1"/>
          </p:cNvSpPr>
          <p:nvPr/>
        </p:nvSpPr>
        <p:spPr bwMode="auto">
          <a:xfrm>
            <a:off x="5410200" y="5943600"/>
            <a:ext cx="1295400" cy="4572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sz="2000" b="1">
                <a:solidFill>
                  <a:srgbClr val="D35FC2"/>
                </a:solidFill>
                <a:effectLst>
                  <a:outerShdw blurRad="38100" dist="38100" dir="2700000" algn="tl">
                    <a:srgbClr val="000000"/>
                  </a:outerShdw>
                </a:effectLst>
                <a:latin typeface="Arial" charset="0"/>
                <a:ea typeface="文鼎细圆" pitchFamily="49" charset="-122"/>
              </a:rPr>
              <a:t>abd(L2)</a:t>
            </a:r>
          </a:p>
        </p:txBody>
      </p:sp>
      <p:sp>
        <p:nvSpPr>
          <p:cNvPr id="2424977" name="Rectangle 145">
            <a:extLst>
              <a:ext uri="{FF2B5EF4-FFF2-40B4-BE49-F238E27FC236}">
                <a16:creationId xmlns:a16="http://schemas.microsoft.com/office/drawing/2014/main" id="{B8DE14C4-D892-4F6B-8475-868CD3EE4D65}"/>
              </a:ext>
            </a:extLst>
          </p:cNvPr>
          <p:cNvSpPr>
            <a:spLocks noChangeArrowheads="1"/>
          </p:cNvSpPr>
          <p:nvPr/>
        </p:nvSpPr>
        <p:spPr bwMode="auto">
          <a:xfrm>
            <a:off x="6781800" y="5486400"/>
            <a:ext cx="381000" cy="4572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b="1">
                <a:solidFill>
                  <a:srgbClr val="EF8D2B"/>
                </a:solidFill>
                <a:effectLst>
                  <a:outerShdw blurRad="38100" dist="38100" dir="2700000" algn="tl">
                    <a:srgbClr val="000000"/>
                  </a:outerShdw>
                </a:effectLst>
                <a:latin typeface="Arial" charset="0"/>
                <a:ea typeface="文鼎细圆" pitchFamily="49" charset="-122"/>
              </a:rPr>
              <a:t>T1</a:t>
            </a:r>
          </a:p>
        </p:txBody>
      </p:sp>
      <p:sp>
        <p:nvSpPr>
          <p:cNvPr id="2424978" name="Rectangle 146">
            <a:extLst>
              <a:ext uri="{FF2B5EF4-FFF2-40B4-BE49-F238E27FC236}">
                <a16:creationId xmlns:a16="http://schemas.microsoft.com/office/drawing/2014/main" id="{23A66785-3928-4C89-B106-617FD2D9A17F}"/>
              </a:ext>
            </a:extLst>
          </p:cNvPr>
          <p:cNvSpPr>
            <a:spLocks noChangeArrowheads="1"/>
          </p:cNvSpPr>
          <p:nvPr/>
        </p:nvSpPr>
        <p:spPr bwMode="auto">
          <a:xfrm>
            <a:off x="8763000" y="5943600"/>
            <a:ext cx="457200" cy="4572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sz="2000">
                <a:solidFill>
                  <a:srgbClr val="D35FC2"/>
                </a:solidFill>
                <a:effectLst>
                  <a:outerShdw blurRad="38100" dist="38100" dir="2700000" algn="tl">
                    <a:srgbClr val="000000"/>
                  </a:outerShdw>
                </a:effectLst>
                <a:latin typeface="Arial" charset="0"/>
                <a:ea typeface="文鼎细圆" pitchFamily="49" charset="-122"/>
              </a:rPr>
              <a:t>b,d</a:t>
            </a:r>
            <a:endParaRPr kumimoji="1" lang="en-US" altLang="zh-CN" b="1">
              <a:solidFill>
                <a:srgbClr val="EF8D2B"/>
              </a:solidFill>
              <a:effectLst>
                <a:outerShdw blurRad="38100" dist="38100" dir="2700000" algn="tl">
                  <a:srgbClr val="000000"/>
                </a:outerShdw>
              </a:effectLst>
              <a:latin typeface="Arial" charset="0"/>
              <a:ea typeface="文鼎细圆" pitchFamily="49" charset="-122"/>
            </a:endParaRPr>
          </a:p>
        </p:txBody>
      </p:sp>
      <p:grpSp>
        <p:nvGrpSpPr>
          <p:cNvPr id="4" name="Group 152">
            <a:extLst>
              <a:ext uri="{FF2B5EF4-FFF2-40B4-BE49-F238E27FC236}">
                <a16:creationId xmlns:a16="http://schemas.microsoft.com/office/drawing/2014/main" id="{79142F40-5779-44DC-BA2A-DF6F7678AC2A}"/>
              </a:ext>
            </a:extLst>
          </p:cNvPr>
          <p:cNvGrpSpPr>
            <a:grpSpLocks/>
          </p:cNvGrpSpPr>
          <p:nvPr/>
        </p:nvGrpSpPr>
        <p:grpSpPr bwMode="auto">
          <a:xfrm>
            <a:off x="6781800" y="5943600"/>
            <a:ext cx="381000" cy="457200"/>
            <a:chOff x="3360" y="3360"/>
            <a:chExt cx="240" cy="288"/>
          </a:xfrm>
        </p:grpSpPr>
        <p:sp>
          <p:nvSpPr>
            <p:cNvPr id="42065" name="Line 130">
              <a:extLst>
                <a:ext uri="{FF2B5EF4-FFF2-40B4-BE49-F238E27FC236}">
                  <a16:creationId xmlns:a16="http://schemas.microsoft.com/office/drawing/2014/main" id="{77B0A05C-72FA-43BA-8D1A-85EBC87CAD7D}"/>
                </a:ext>
              </a:extLst>
            </p:cNvPr>
            <p:cNvSpPr>
              <a:spLocks noChangeShapeType="1"/>
            </p:cNvSpPr>
            <p:nvPr/>
          </p:nvSpPr>
          <p:spPr bwMode="auto">
            <a:xfrm>
              <a:off x="3408" y="3408"/>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24983" name="Rectangle 151">
              <a:extLst>
                <a:ext uri="{FF2B5EF4-FFF2-40B4-BE49-F238E27FC236}">
                  <a16:creationId xmlns:a16="http://schemas.microsoft.com/office/drawing/2014/main" id="{C863F7A7-6A92-46CE-8467-F7DA9EEE27BE}"/>
                </a:ext>
              </a:extLst>
            </p:cNvPr>
            <p:cNvSpPr>
              <a:spLocks noChangeArrowheads="1"/>
            </p:cNvSpPr>
            <p:nvPr/>
          </p:nvSpPr>
          <p:spPr bwMode="auto">
            <a:xfrm>
              <a:off x="3360" y="3360"/>
              <a:ext cx="240" cy="288"/>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b="1">
                  <a:solidFill>
                    <a:srgbClr val="EF8D2B"/>
                  </a:solidFill>
                  <a:effectLst>
                    <a:outerShdw blurRad="38100" dist="38100" dir="2700000" algn="tl">
                      <a:srgbClr val="000000"/>
                    </a:outerShdw>
                  </a:effectLst>
                  <a:latin typeface="Arial" charset="0"/>
                  <a:ea typeface="文鼎细圆" pitchFamily="49" charset="-122"/>
                </a:rPr>
                <a:t>T1</a:t>
              </a:r>
            </a:p>
          </p:txBody>
        </p:sp>
      </p:grpSp>
      <p:sp>
        <p:nvSpPr>
          <p:cNvPr id="2424985" name="Rectangle 153">
            <a:extLst>
              <a:ext uri="{FF2B5EF4-FFF2-40B4-BE49-F238E27FC236}">
                <a16:creationId xmlns:a16="http://schemas.microsoft.com/office/drawing/2014/main" id="{19496236-DD56-41BE-AA3D-E44C7AEB8031}"/>
              </a:ext>
            </a:extLst>
          </p:cNvPr>
          <p:cNvSpPr>
            <a:spLocks noChangeArrowheads="1"/>
          </p:cNvSpPr>
          <p:nvPr/>
        </p:nvSpPr>
        <p:spPr bwMode="auto">
          <a:xfrm>
            <a:off x="7162800" y="5943600"/>
            <a:ext cx="381000" cy="4572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b="1">
                <a:solidFill>
                  <a:srgbClr val="EF8D2B"/>
                </a:solidFill>
                <a:effectLst>
                  <a:outerShdw blurRad="38100" dist="38100" dir="2700000" algn="tl">
                    <a:srgbClr val="000000"/>
                  </a:outerShdw>
                </a:effectLst>
                <a:latin typeface="Arial" charset="0"/>
                <a:ea typeface="文鼎细圆" pitchFamily="49" charset="-122"/>
              </a:rPr>
              <a:t>T2</a:t>
            </a:r>
          </a:p>
        </p:txBody>
      </p:sp>
      <p:grpSp>
        <p:nvGrpSpPr>
          <p:cNvPr id="5" name="Group 155">
            <a:extLst>
              <a:ext uri="{FF2B5EF4-FFF2-40B4-BE49-F238E27FC236}">
                <a16:creationId xmlns:a16="http://schemas.microsoft.com/office/drawing/2014/main" id="{3155AE69-9360-4203-869A-DCC3FC613494}"/>
              </a:ext>
            </a:extLst>
          </p:cNvPr>
          <p:cNvGrpSpPr>
            <a:grpSpLocks/>
          </p:cNvGrpSpPr>
          <p:nvPr/>
        </p:nvGrpSpPr>
        <p:grpSpPr bwMode="auto">
          <a:xfrm>
            <a:off x="7543800" y="5943600"/>
            <a:ext cx="381000" cy="457200"/>
            <a:chOff x="3792" y="3360"/>
            <a:chExt cx="240" cy="288"/>
          </a:xfrm>
        </p:grpSpPr>
        <p:sp>
          <p:nvSpPr>
            <p:cNvPr id="42063" name="Line 132">
              <a:extLst>
                <a:ext uri="{FF2B5EF4-FFF2-40B4-BE49-F238E27FC236}">
                  <a16:creationId xmlns:a16="http://schemas.microsoft.com/office/drawing/2014/main" id="{0445DD5A-333F-4701-A82A-0C787F79A12F}"/>
                </a:ext>
              </a:extLst>
            </p:cNvPr>
            <p:cNvSpPr>
              <a:spLocks noChangeShapeType="1"/>
            </p:cNvSpPr>
            <p:nvPr/>
          </p:nvSpPr>
          <p:spPr bwMode="auto">
            <a:xfrm>
              <a:off x="3840" y="3408"/>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24986" name="Rectangle 154">
              <a:extLst>
                <a:ext uri="{FF2B5EF4-FFF2-40B4-BE49-F238E27FC236}">
                  <a16:creationId xmlns:a16="http://schemas.microsoft.com/office/drawing/2014/main" id="{103697C2-1284-4B12-A6BB-63FD555BB7E3}"/>
                </a:ext>
              </a:extLst>
            </p:cNvPr>
            <p:cNvSpPr>
              <a:spLocks noChangeArrowheads="1"/>
            </p:cNvSpPr>
            <p:nvPr/>
          </p:nvSpPr>
          <p:spPr bwMode="auto">
            <a:xfrm>
              <a:off x="3792" y="3360"/>
              <a:ext cx="240" cy="288"/>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b="1">
                  <a:solidFill>
                    <a:srgbClr val="EF8D2B"/>
                  </a:solidFill>
                  <a:effectLst>
                    <a:outerShdw blurRad="38100" dist="38100" dir="2700000" algn="tl">
                      <a:srgbClr val="000000"/>
                    </a:outerShdw>
                  </a:effectLst>
                  <a:latin typeface="Arial" charset="0"/>
                  <a:ea typeface="文鼎细圆" pitchFamily="49" charset="-122"/>
                </a:rPr>
                <a:t>T3</a:t>
              </a:r>
            </a:p>
          </p:txBody>
        </p:sp>
      </p:grpSp>
      <p:grpSp>
        <p:nvGrpSpPr>
          <p:cNvPr id="6" name="Group 157">
            <a:extLst>
              <a:ext uri="{FF2B5EF4-FFF2-40B4-BE49-F238E27FC236}">
                <a16:creationId xmlns:a16="http://schemas.microsoft.com/office/drawing/2014/main" id="{EA459864-FEA4-460F-A69B-B452219EEC7F}"/>
              </a:ext>
            </a:extLst>
          </p:cNvPr>
          <p:cNvGrpSpPr>
            <a:grpSpLocks/>
          </p:cNvGrpSpPr>
          <p:nvPr/>
        </p:nvGrpSpPr>
        <p:grpSpPr bwMode="auto">
          <a:xfrm>
            <a:off x="7848600" y="5943600"/>
            <a:ext cx="304800" cy="457200"/>
            <a:chOff x="3984" y="3360"/>
            <a:chExt cx="192" cy="288"/>
          </a:xfrm>
        </p:grpSpPr>
        <p:sp>
          <p:nvSpPr>
            <p:cNvPr id="42061" name="Line 131">
              <a:extLst>
                <a:ext uri="{FF2B5EF4-FFF2-40B4-BE49-F238E27FC236}">
                  <a16:creationId xmlns:a16="http://schemas.microsoft.com/office/drawing/2014/main" id="{4F2AEFC2-F4CB-4F30-99D0-34B2888B1B2B}"/>
                </a:ext>
              </a:extLst>
            </p:cNvPr>
            <p:cNvSpPr>
              <a:spLocks noChangeShapeType="1"/>
            </p:cNvSpPr>
            <p:nvPr/>
          </p:nvSpPr>
          <p:spPr bwMode="auto">
            <a:xfrm>
              <a:off x="4032" y="3408"/>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24988" name="Rectangle 156">
              <a:extLst>
                <a:ext uri="{FF2B5EF4-FFF2-40B4-BE49-F238E27FC236}">
                  <a16:creationId xmlns:a16="http://schemas.microsoft.com/office/drawing/2014/main" id="{88F4BBF0-1E3B-49E6-9957-88D257FD54BD}"/>
                </a:ext>
              </a:extLst>
            </p:cNvPr>
            <p:cNvSpPr>
              <a:spLocks noChangeArrowheads="1"/>
            </p:cNvSpPr>
            <p:nvPr/>
          </p:nvSpPr>
          <p:spPr bwMode="auto">
            <a:xfrm>
              <a:off x="3984" y="3360"/>
              <a:ext cx="192" cy="288"/>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b="1">
                  <a:solidFill>
                    <a:srgbClr val="EF8D2B"/>
                  </a:solidFill>
                  <a:effectLst>
                    <a:outerShdw blurRad="38100" dist="38100" dir="2700000" algn="tl">
                      <a:srgbClr val="000000"/>
                    </a:outerShdw>
                  </a:effectLst>
                  <a:latin typeface="Arial" charset="0"/>
                  <a:ea typeface="文鼎细圆" pitchFamily="49" charset="-122"/>
                </a:rPr>
                <a:t>T4</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24900"/>
                                        </p:tgtEl>
                                        <p:attrNameLst>
                                          <p:attrName>style.visibility</p:attrName>
                                        </p:attrNameLst>
                                      </p:cBhvr>
                                      <p:to>
                                        <p:strVal val="visible"/>
                                      </p:to>
                                    </p:set>
                                    <p:anim calcmode="lin" valueType="num">
                                      <p:cBhvr additive="base">
                                        <p:cTn id="7" dur="500" fill="hold"/>
                                        <p:tgtEl>
                                          <p:spTgt spid="2424900"/>
                                        </p:tgtEl>
                                        <p:attrNameLst>
                                          <p:attrName>ppt_x</p:attrName>
                                        </p:attrNameLst>
                                      </p:cBhvr>
                                      <p:tavLst>
                                        <p:tav tm="0">
                                          <p:val>
                                            <p:strVal val="0-#ppt_w/2"/>
                                          </p:val>
                                        </p:tav>
                                        <p:tav tm="100000">
                                          <p:val>
                                            <p:strVal val="#ppt_x"/>
                                          </p:val>
                                        </p:tav>
                                      </p:tavLst>
                                    </p:anim>
                                    <p:anim calcmode="lin" valueType="num">
                                      <p:cBhvr additive="base">
                                        <p:cTn id="8" dur="500" fill="hold"/>
                                        <p:tgtEl>
                                          <p:spTgt spid="242490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5" fill="hold" nodeType="clickEffect">
                                  <p:stCondLst>
                                    <p:cond delay="0"/>
                                  </p:stCondLst>
                                  <p:childTnLst>
                                    <p:set>
                                      <p:cBhvr>
                                        <p:cTn id="12" dur="1" fill="hold">
                                          <p:stCondLst>
                                            <p:cond delay="0"/>
                                          </p:stCondLst>
                                        </p:cTn>
                                        <p:tgtEl>
                                          <p:spTgt spid="2424997"/>
                                        </p:tgtEl>
                                        <p:attrNameLst>
                                          <p:attrName>style.visibility</p:attrName>
                                        </p:attrNameLst>
                                      </p:cBhvr>
                                      <p:to>
                                        <p:strVal val="visible"/>
                                      </p:to>
                                    </p:set>
                                    <p:animEffect transition="in" filter="blinds(vertical)">
                                      <p:cBhvr>
                                        <p:cTn id="13" dur="500"/>
                                        <p:tgtEl>
                                          <p:spTgt spid="242499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5" fill="hold" grpId="0" nodeType="clickEffect">
                                  <p:stCondLst>
                                    <p:cond delay="0"/>
                                  </p:stCondLst>
                                  <p:childTnLst>
                                    <p:set>
                                      <p:cBhvr>
                                        <p:cTn id="17" dur="1" fill="hold">
                                          <p:stCondLst>
                                            <p:cond delay="0"/>
                                          </p:stCondLst>
                                        </p:cTn>
                                        <p:tgtEl>
                                          <p:spTgt spid="2424967"/>
                                        </p:tgtEl>
                                        <p:attrNameLst>
                                          <p:attrName>style.visibility</p:attrName>
                                        </p:attrNameLst>
                                      </p:cBhvr>
                                      <p:to>
                                        <p:strVal val="visible"/>
                                      </p:to>
                                    </p:set>
                                    <p:animEffect transition="in" filter="blinds(vertical)">
                                      <p:cBhvr>
                                        <p:cTn id="18" dur="500"/>
                                        <p:tgtEl>
                                          <p:spTgt spid="242496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5" fill="hold" grpId="0" nodeType="clickEffect">
                                  <p:stCondLst>
                                    <p:cond delay="0"/>
                                  </p:stCondLst>
                                  <p:childTnLst>
                                    <p:set>
                                      <p:cBhvr>
                                        <p:cTn id="22" dur="1" fill="hold">
                                          <p:stCondLst>
                                            <p:cond delay="0"/>
                                          </p:stCondLst>
                                        </p:cTn>
                                        <p:tgtEl>
                                          <p:spTgt spid="2424968"/>
                                        </p:tgtEl>
                                        <p:attrNameLst>
                                          <p:attrName>style.visibility</p:attrName>
                                        </p:attrNameLst>
                                      </p:cBhvr>
                                      <p:to>
                                        <p:strVal val="visible"/>
                                      </p:to>
                                    </p:set>
                                    <p:animEffect transition="in" filter="blinds(vertical)">
                                      <p:cBhvr>
                                        <p:cTn id="23" dur="500"/>
                                        <p:tgtEl>
                                          <p:spTgt spid="242496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5" fill="hold" grpId="0" nodeType="clickEffect">
                                  <p:stCondLst>
                                    <p:cond delay="0"/>
                                  </p:stCondLst>
                                  <p:childTnLst>
                                    <p:set>
                                      <p:cBhvr>
                                        <p:cTn id="27" dur="1" fill="hold">
                                          <p:stCondLst>
                                            <p:cond delay="0"/>
                                          </p:stCondLst>
                                        </p:cTn>
                                        <p:tgtEl>
                                          <p:spTgt spid="2424977"/>
                                        </p:tgtEl>
                                        <p:attrNameLst>
                                          <p:attrName>style.visibility</p:attrName>
                                        </p:attrNameLst>
                                      </p:cBhvr>
                                      <p:to>
                                        <p:strVal val="visible"/>
                                      </p:to>
                                    </p:set>
                                    <p:animEffect transition="in" filter="blinds(vertical)">
                                      <p:cBhvr>
                                        <p:cTn id="28" dur="500"/>
                                        <p:tgtEl>
                                          <p:spTgt spid="242497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5" fill="hold" grpId="0" nodeType="clickEffect">
                                  <p:stCondLst>
                                    <p:cond delay="0"/>
                                  </p:stCondLst>
                                  <p:childTnLst>
                                    <p:set>
                                      <p:cBhvr>
                                        <p:cTn id="32" dur="1" fill="hold">
                                          <p:stCondLst>
                                            <p:cond delay="0"/>
                                          </p:stCondLst>
                                        </p:cTn>
                                        <p:tgtEl>
                                          <p:spTgt spid="2424971"/>
                                        </p:tgtEl>
                                        <p:attrNameLst>
                                          <p:attrName>style.visibility</p:attrName>
                                        </p:attrNameLst>
                                      </p:cBhvr>
                                      <p:to>
                                        <p:strVal val="visible"/>
                                      </p:to>
                                    </p:set>
                                    <p:animEffect transition="in" filter="blinds(vertical)">
                                      <p:cBhvr>
                                        <p:cTn id="33" dur="500"/>
                                        <p:tgtEl>
                                          <p:spTgt spid="242497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5" fill="hold" grpId="0" nodeType="clickEffect">
                                  <p:stCondLst>
                                    <p:cond delay="0"/>
                                  </p:stCondLst>
                                  <p:childTnLst>
                                    <p:set>
                                      <p:cBhvr>
                                        <p:cTn id="37" dur="1" fill="hold">
                                          <p:stCondLst>
                                            <p:cond delay="0"/>
                                          </p:stCondLst>
                                        </p:cTn>
                                        <p:tgtEl>
                                          <p:spTgt spid="2424972"/>
                                        </p:tgtEl>
                                        <p:attrNameLst>
                                          <p:attrName>style.visibility</p:attrName>
                                        </p:attrNameLst>
                                      </p:cBhvr>
                                      <p:to>
                                        <p:strVal val="visible"/>
                                      </p:to>
                                    </p:set>
                                    <p:animEffect transition="in" filter="blinds(vertical)">
                                      <p:cBhvr>
                                        <p:cTn id="38" dur="500"/>
                                        <p:tgtEl>
                                          <p:spTgt spid="242497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5" fill="hold" grpId="0" nodeType="clickEffect">
                                  <p:stCondLst>
                                    <p:cond delay="0"/>
                                  </p:stCondLst>
                                  <p:childTnLst>
                                    <p:set>
                                      <p:cBhvr>
                                        <p:cTn id="42" dur="1" fill="hold">
                                          <p:stCondLst>
                                            <p:cond delay="0"/>
                                          </p:stCondLst>
                                        </p:cTn>
                                        <p:tgtEl>
                                          <p:spTgt spid="2424973"/>
                                        </p:tgtEl>
                                        <p:attrNameLst>
                                          <p:attrName>style.visibility</p:attrName>
                                        </p:attrNameLst>
                                      </p:cBhvr>
                                      <p:to>
                                        <p:strVal val="visible"/>
                                      </p:to>
                                    </p:set>
                                    <p:animEffect transition="in" filter="blinds(vertical)">
                                      <p:cBhvr>
                                        <p:cTn id="43" dur="500"/>
                                        <p:tgtEl>
                                          <p:spTgt spid="242497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5" fill="hold" grpId="0" nodeType="clickEffect">
                                  <p:stCondLst>
                                    <p:cond delay="0"/>
                                  </p:stCondLst>
                                  <p:childTnLst>
                                    <p:set>
                                      <p:cBhvr>
                                        <p:cTn id="47" dur="1" fill="hold">
                                          <p:stCondLst>
                                            <p:cond delay="0"/>
                                          </p:stCondLst>
                                        </p:cTn>
                                        <p:tgtEl>
                                          <p:spTgt spid="2424974"/>
                                        </p:tgtEl>
                                        <p:attrNameLst>
                                          <p:attrName>style.visibility</p:attrName>
                                        </p:attrNameLst>
                                      </p:cBhvr>
                                      <p:to>
                                        <p:strVal val="visible"/>
                                      </p:to>
                                    </p:set>
                                    <p:animEffect transition="in" filter="blinds(vertical)">
                                      <p:cBhvr>
                                        <p:cTn id="48" dur="500"/>
                                        <p:tgtEl>
                                          <p:spTgt spid="2424974"/>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5" fill="hold" grpId="0" nodeType="clickEffect">
                                  <p:stCondLst>
                                    <p:cond delay="0"/>
                                  </p:stCondLst>
                                  <p:childTnLst>
                                    <p:set>
                                      <p:cBhvr>
                                        <p:cTn id="52" dur="1" fill="hold">
                                          <p:stCondLst>
                                            <p:cond delay="0"/>
                                          </p:stCondLst>
                                        </p:cTn>
                                        <p:tgtEl>
                                          <p:spTgt spid="2424975"/>
                                        </p:tgtEl>
                                        <p:attrNameLst>
                                          <p:attrName>style.visibility</p:attrName>
                                        </p:attrNameLst>
                                      </p:cBhvr>
                                      <p:to>
                                        <p:strVal val="visible"/>
                                      </p:to>
                                    </p:set>
                                    <p:animEffect transition="in" filter="blinds(vertical)">
                                      <p:cBhvr>
                                        <p:cTn id="53" dur="500"/>
                                        <p:tgtEl>
                                          <p:spTgt spid="2424975"/>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5" fill="hold" grpId="0" nodeType="clickEffect">
                                  <p:stCondLst>
                                    <p:cond delay="0"/>
                                  </p:stCondLst>
                                  <p:childTnLst>
                                    <p:set>
                                      <p:cBhvr>
                                        <p:cTn id="57" dur="1" fill="hold">
                                          <p:stCondLst>
                                            <p:cond delay="0"/>
                                          </p:stCondLst>
                                        </p:cTn>
                                        <p:tgtEl>
                                          <p:spTgt spid="2424976"/>
                                        </p:tgtEl>
                                        <p:attrNameLst>
                                          <p:attrName>style.visibility</p:attrName>
                                        </p:attrNameLst>
                                      </p:cBhvr>
                                      <p:to>
                                        <p:strVal val="visible"/>
                                      </p:to>
                                    </p:set>
                                    <p:animEffect transition="in" filter="blinds(vertical)">
                                      <p:cBhvr>
                                        <p:cTn id="58" dur="500"/>
                                        <p:tgtEl>
                                          <p:spTgt spid="2424976"/>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nodeType="clickEffect">
                                  <p:stCondLst>
                                    <p:cond delay="0"/>
                                  </p:stCondLst>
                                  <p:childTnLst>
                                    <p:set>
                                      <p:cBhvr>
                                        <p:cTn id="62" dur="1" fill="hold">
                                          <p:stCondLst>
                                            <p:cond delay="0"/>
                                          </p:stCondLst>
                                        </p:cTn>
                                        <p:tgtEl>
                                          <p:spTgt spid="4"/>
                                        </p:tgtEl>
                                        <p:attrNameLst>
                                          <p:attrName>style.visibility</p:attrName>
                                        </p:attrNameLst>
                                      </p:cBhvr>
                                      <p:to>
                                        <p:strVal val="visible"/>
                                      </p:to>
                                    </p:set>
                                    <p:animEffect transition="in" filter="blinds(horizontal)">
                                      <p:cBhvr>
                                        <p:cTn id="63" dur="500"/>
                                        <p:tgtEl>
                                          <p:spTgt spid="4"/>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3" presetClass="entr" presetSubtype="5" fill="hold" grpId="0" nodeType="clickEffect">
                                  <p:stCondLst>
                                    <p:cond delay="0"/>
                                  </p:stCondLst>
                                  <p:childTnLst>
                                    <p:set>
                                      <p:cBhvr>
                                        <p:cTn id="67" dur="1" fill="hold">
                                          <p:stCondLst>
                                            <p:cond delay="0"/>
                                          </p:stCondLst>
                                        </p:cTn>
                                        <p:tgtEl>
                                          <p:spTgt spid="2424985"/>
                                        </p:tgtEl>
                                        <p:attrNameLst>
                                          <p:attrName>style.visibility</p:attrName>
                                        </p:attrNameLst>
                                      </p:cBhvr>
                                      <p:to>
                                        <p:strVal val="visible"/>
                                      </p:to>
                                    </p:set>
                                    <p:animEffect transition="in" filter="blinds(vertical)">
                                      <p:cBhvr>
                                        <p:cTn id="68" dur="500"/>
                                        <p:tgtEl>
                                          <p:spTgt spid="2424985"/>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3" presetClass="entr" presetSubtype="10" fill="hold" nodeType="clickEffect">
                                  <p:stCondLst>
                                    <p:cond delay="0"/>
                                  </p:stCondLst>
                                  <p:childTnLst>
                                    <p:set>
                                      <p:cBhvr>
                                        <p:cTn id="72" dur="1" fill="hold">
                                          <p:stCondLst>
                                            <p:cond delay="0"/>
                                          </p:stCondLst>
                                        </p:cTn>
                                        <p:tgtEl>
                                          <p:spTgt spid="5"/>
                                        </p:tgtEl>
                                        <p:attrNameLst>
                                          <p:attrName>style.visibility</p:attrName>
                                        </p:attrNameLst>
                                      </p:cBhvr>
                                      <p:to>
                                        <p:strVal val="visible"/>
                                      </p:to>
                                    </p:set>
                                    <p:animEffect transition="in" filter="blinds(horizontal)">
                                      <p:cBhvr>
                                        <p:cTn id="73" dur="500"/>
                                        <p:tgtEl>
                                          <p:spTgt spid="5"/>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3" presetClass="entr" presetSubtype="10" fill="hold" nodeType="clickEffect">
                                  <p:stCondLst>
                                    <p:cond delay="0"/>
                                  </p:stCondLst>
                                  <p:childTnLst>
                                    <p:set>
                                      <p:cBhvr>
                                        <p:cTn id="77" dur="1" fill="hold">
                                          <p:stCondLst>
                                            <p:cond delay="0"/>
                                          </p:stCondLst>
                                        </p:cTn>
                                        <p:tgtEl>
                                          <p:spTgt spid="6"/>
                                        </p:tgtEl>
                                        <p:attrNameLst>
                                          <p:attrName>style.visibility</p:attrName>
                                        </p:attrNameLst>
                                      </p:cBhvr>
                                      <p:to>
                                        <p:strVal val="visible"/>
                                      </p:to>
                                    </p:set>
                                    <p:animEffect transition="in" filter="blinds(horizontal)">
                                      <p:cBhvr>
                                        <p:cTn id="78" dur="500"/>
                                        <p:tgtEl>
                                          <p:spTgt spid="6"/>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3" presetClass="entr" presetSubtype="5" fill="hold" grpId="0" nodeType="clickEffect">
                                  <p:stCondLst>
                                    <p:cond delay="0"/>
                                  </p:stCondLst>
                                  <p:childTnLst>
                                    <p:set>
                                      <p:cBhvr>
                                        <p:cTn id="82" dur="1" fill="hold">
                                          <p:stCondLst>
                                            <p:cond delay="0"/>
                                          </p:stCondLst>
                                        </p:cTn>
                                        <p:tgtEl>
                                          <p:spTgt spid="2424978"/>
                                        </p:tgtEl>
                                        <p:attrNameLst>
                                          <p:attrName>style.visibility</p:attrName>
                                        </p:attrNameLst>
                                      </p:cBhvr>
                                      <p:to>
                                        <p:strVal val="visible"/>
                                      </p:to>
                                    </p:set>
                                    <p:animEffect transition="in" filter="blinds(vertical)">
                                      <p:cBhvr>
                                        <p:cTn id="83" dur="500"/>
                                        <p:tgtEl>
                                          <p:spTgt spid="24249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4900" grpId="0" animBg="1" autoUpdateAnimBg="0"/>
      <p:bldP spid="2424967" grpId="0" autoUpdateAnimBg="0"/>
      <p:bldP spid="2424968" grpId="0" autoUpdateAnimBg="0"/>
      <p:bldP spid="2424971" grpId="0" autoUpdateAnimBg="0"/>
      <p:bldP spid="2424972" grpId="0" autoUpdateAnimBg="0"/>
      <p:bldP spid="2424973" grpId="0" autoUpdateAnimBg="0"/>
      <p:bldP spid="2424974" grpId="0" autoUpdateAnimBg="0"/>
      <p:bldP spid="2424975" grpId="0" autoUpdateAnimBg="0"/>
      <p:bldP spid="2424976" grpId="0" autoUpdateAnimBg="0"/>
      <p:bldP spid="2424977" grpId="0" autoUpdateAnimBg="0"/>
      <p:bldP spid="2424978" grpId="0" autoUpdateAnimBg="0"/>
      <p:bldP spid="2424985" grpId="0" autoUpdateAnimBg="0"/>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日期占位符 1">
            <a:extLst>
              <a:ext uri="{FF2B5EF4-FFF2-40B4-BE49-F238E27FC236}">
                <a16:creationId xmlns:a16="http://schemas.microsoft.com/office/drawing/2014/main" id="{0748F221-0CFC-4518-AD20-D13303AF275A}"/>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364A8438-0072-4319-82CD-21690E465313}"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44035" name="Rectangle 2">
            <a:extLst>
              <a:ext uri="{FF2B5EF4-FFF2-40B4-BE49-F238E27FC236}">
                <a16:creationId xmlns:a16="http://schemas.microsoft.com/office/drawing/2014/main" id="{ADD801D5-3434-4FB9-8CBC-751A0DDD9254}"/>
              </a:ext>
            </a:extLst>
          </p:cNvPr>
          <p:cNvSpPr>
            <a:spLocks noChangeArrowheads="1"/>
          </p:cNvSpPr>
          <p:nvPr/>
        </p:nvSpPr>
        <p:spPr bwMode="auto">
          <a:xfrm>
            <a:off x="2971800" y="990600"/>
            <a:ext cx="7315200" cy="990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endParaRPr lang="zh-CN" altLang="en-US" sz="2800">
              <a:solidFill>
                <a:schemeClr val="tx1"/>
              </a:solidFill>
              <a:latin typeface="Times New Roman" panose="02020603050405020304" pitchFamily="18" charset="0"/>
              <a:ea typeface="楷体_GB2312" pitchFamily="49" charset="-122"/>
            </a:endParaRPr>
          </a:p>
        </p:txBody>
      </p:sp>
      <p:grpSp>
        <p:nvGrpSpPr>
          <p:cNvPr id="44036" name="Group 3">
            <a:extLst>
              <a:ext uri="{FF2B5EF4-FFF2-40B4-BE49-F238E27FC236}">
                <a16:creationId xmlns:a16="http://schemas.microsoft.com/office/drawing/2014/main" id="{999DFFDC-A978-4FE2-B266-F532F86BE11F}"/>
              </a:ext>
            </a:extLst>
          </p:cNvPr>
          <p:cNvGrpSpPr>
            <a:grpSpLocks/>
          </p:cNvGrpSpPr>
          <p:nvPr/>
        </p:nvGrpSpPr>
        <p:grpSpPr bwMode="auto">
          <a:xfrm>
            <a:off x="3200400" y="457200"/>
            <a:ext cx="3733800" cy="3810000"/>
            <a:chOff x="1152" y="1248"/>
            <a:chExt cx="2352" cy="2400"/>
          </a:xfrm>
        </p:grpSpPr>
        <p:sp>
          <p:nvSpPr>
            <p:cNvPr id="2426884" name="Text Box 4">
              <a:extLst>
                <a:ext uri="{FF2B5EF4-FFF2-40B4-BE49-F238E27FC236}">
                  <a16:creationId xmlns:a16="http://schemas.microsoft.com/office/drawing/2014/main" id="{820B7E5B-DC5C-4E9E-98ED-184CD061E23E}"/>
                </a:ext>
              </a:extLst>
            </p:cNvPr>
            <p:cNvSpPr txBox="1">
              <a:spLocks noChangeArrowheads="1"/>
            </p:cNvSpPr>
            <p:nvPr/>
          </p:nvSpPr>
          <p:spPr bwMode="auto">
            <a:xfrm>
              <a:off x="1152" y="1776"/>
              <a:ext cx="223"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b</a:t>
              </a:r>
            </a:p>
          </p:txBody>
        </p:sp>
        <p:sp>
          <p:nvSpPr>
            <p:cNvPr id="2426885" name="Text Box 5">
              <a:extLst>
                <a:ext uri="{FF2B5EF4-FFF2-40B4-BE49-F238E27FC236}">
                  <a16:creationId xmlns:a16="http://schemas.microsoft.com/office/drawing/2014/main" id="{A377D54A-E4EA-4A65-B5A7-4E2AD3B5DA45}"/>
                </a:ext>
              </a:extLst>
            </p:cNvPr>
            <p:cNvSpPr txBox="1">
              <a:spLocks noChangeArrowheads="1"/>
            </p:cNvSpPr>
            <p:nvPr/>
          </p:nvSpPr>
          <p:spPr bwMode="auto">
            <a:xfrm>
              <a:off x="1152" y="2736"/>
              <a:ext cx="223"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d</a:t>
              </a:r>
            </a:p>
          </p:txBody>
        </p:sp>
        <p:sp>
          <p:nvSpPr>
            <p:cNvPr id="2426886" name="Text Box 6">
              <a:extLst>
                <a:ext uri="{FF2B5EF4-FFF2-40B4-BE49-F238E27FC236}">
                  <a16:creationId xmlns:a16="http://schemas.microsoft.com/office/drawing/2014/main" id="{8BBC03E2-F9F0-4ADC-8BB1-DFF2A8E7F93A}"/>
                </a:ext>
              </a:extLst>
            </p:cNvPr>
            <p:cNvSpPr txBox="1">
              <a:spLocks noChangeArrowheads="1"/>
            </p:cNvSpPr>
            <p:nvPr/>
          </p:nvSpPr>
          <p:spPr bwMode="auto">
            <a:xfrm>
              <a:off x="2064" y="1248"/>
              <a:ext cx="288" cy="288"/>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a</a:t>
              </a:r>
            </a:p>
          </p:txBody>
        </p:sp>
        <p:sp>
          <p:nvSpPr>
            <p:cNvPr id="2426887" name="Text Box 7">
              <a:extLst>
                <a:ext uri="{FF2B5EF4-FFF2-40B4-BE49-F238E27FC236}">
                  <a16:creationId xmlns:a16="http://schemas.microsoft.com/office/drawing/2014/main" id="{A17FF186-4DD8-413F-8FBA-B69F5C1CF819}"/>
                </a:ext>
              </a:extLst>
            </p:cNvPr>
            <p:cNvSpPr txBox="1">
              <a:spLocks noChangeArrowheads="1"/>
            </p:cNvSpPr>
            <p:nvPr/>
          </p:nvSpPr>
          <p:spPr bwMode="auto">
            <a:xfrm>
              <a:off x="3072" y="1776"/>
              <a:ext cx="223" cy="288"/>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c</a:t>
              </a:r>
            </a:p>
          </p:txBody>
        </p:sp>
        <p:sp>
          <p:nvSpPr>
            <p:cNvPr id="2426888" name="Text Box 8">
              <a:extLst>
                <a:ext uri="{FF2B5EF4-FFF2-40B4-BE49-F238E27FC236}">
                  <a16:creationId xmlns:a16="http://schemas.microsoft.com/office/drawing/2014/main" id="{AED0AB3F-0EA0-44AD-BCB0-853C9930A476}"/>
                </a:ext>
              </a:extLst>
            </p:cNvPr>
            <p:cNvSpPr txBox="1">
              <a:spLocks noChangeArrowheads="1"/>
            </p:cNvSpPr>
            <p:nvPr/>
          </p:nvSpPr>
          <p:spPr bwMode="auto">
            <a:xfrm>
              <a:off x="3120" y="2736"/>
              <a:ext cx="201"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e</a:t>
              </a:r>
            </a:p>
          </p:txBody>
        </p:sp>
        <p:grpSp>
          <p:nvGrpSpPr>
            <p:cNvPr id="44112" name="Group 9">
              <a:extLst>
                <a:ext uri="{FF2B5EF4-FFF2-40B4-BE49-F238E27FC236}">
                  <a16:creationId xmlns:a16="http://schemas.microsoft.com/office/drawing/2014/main" id="{1B206E9E-8FF0-4DD6-81AB-B78078B3D0DA}"/>
                </a:ext>
              </a:extLst>
            </p:cNvPr>
            <p:cNvGrpSpPr>
              <a:grpSpLocks/>
            </p:cNvGrpSpPr>
            <p:nvPr/>
          </p:nvGrpSpPr>
          <p:grpSpPr bwMode="auto">
            <a:xfrm>
              <a:off x="1392" y="1536"/>
              <a:ext cx="2112" cy="2112"/>
              <a:chOff x="1200" y="1488"/>
              <a:chExt cx="2112" cy="2112"/>
            </a:xfrm>
          </p:grpSpPr>
          <p:sp>
            <p:nvSpPr>
              <p:cNvPr id="44113" name="AutoShape 10">
                <a:extLst>
                  <a:ext uri="{FF2B5EF4-FFF2-40B4-BE49-F238E27FC236}">
                    <a16:creationId xmlns:a16="http://schemas.microsoft.com/office/drawing/2014/main" id="{C1DB3F2B-2564-42B3-B450-678A271D41B6}"/>
                  </a:ext>
                </a:extLst>
              </p:cNvPr>
              <p:cNvSpPr>
                <a:spLocks noChangeArrowheads="1"/>
              </p:cNvSpPr>
              <p:nvPr/>
            </p:nvSpPr>
            <p:spPr bwMode="auto">
              <a:xfrm>
                <a:off x="1296" y="1680"/>
                <a:ext cx="1440" cy="288"/>
              </a:xfrm>
              <a:prstGeom prst="flowChartDecision">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(A&gt;1) ^ (B=0)</a:t>
                </a:r>
              </a:p>
            </p:txBody>
          </p:sp>
          <p:sp>
            <p:nvSpPr>
              <p:cNvPr id="44114" name="Line 11">
                <a:extLst>
                  <a:ext uri="{FF2B5EF4-FFF2-40B4-BE49-F238E27FC236}">
                    <a16:creationId xmlns:a16="http://schemas.microsoft.com/office/drawing/2014/main" id="{9B7BD257-C7B2-4FC7-A3E4-F2F4E4F0C389}"/>
                  </a:ext>
                </a:extLst>
              </p:cNvPr>
              <p:cNvSpPr>
                <a:spLocks noChangeShapeType="1"/>
              </p:cNvSpPr>
              <p:nvPr/>
            </p:nvSpPr>
            <p:spPr bwMode="auto">
              <a:xfrm>
                <a:off x="1200" y="1824"/>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15" name="Line 12">
                <a:extLst>
                  <a:ext uri="{FF2B5EF4-FFF2-40B4-BE49-F238E27FC236}">
                    <a16:creationId xmlns:a16="http://schemas.microsoft.com/office/drawing/2014/main" id="{2091D83A-0F3A-43F0-A9CF-0A0CDDB306AE}"/>
                  </a:ext>
                </a:extLst>
              </p:cNvPr>
              <p:cNvSpPr>
                <a:spLocks noChangeShapeType="1"/>
              </p:cNvSpPr>
              <p:nvPr/>
            </p:nvSpPr>
            <p:spPr bwMode="auto">
              <a:xfrm>
                <a:off x="2880" y="182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116" name="Rectangle 13">
                <a:extLst>
                  <a:ext uri="{FF2B5EF4-FFF2-40B4-BE49-F238E27FC236}">
                    <a16:creationId xmlns:a16="http://schemas.microsoft.com/office/drawing/2014/main" id="{89A22318-E13C-4BBB-A914-6F5A52EB45A4}"/>
                  </a:ext>
                </a:extLst>
              </p:cNvPr>
              <p:cNvSpPr>
                <a:spLocks noChangeArrowheads="1"/>
              </p:cNvSpPr>
              <p:nvPr/>
            </p:nvSpPr>
            <p:spPr bwMode="auto">
              <a:xfrm>
                <a:off x="2496" y="2016"/>
                <a:ext cx="768" cy="288"/>
              </a:xfrm>
              <a:prstGeom prst="rect">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X=X/A</a:t>
                </a:r>
              </a:p>
            </p:txBody>
          </p:sp>
          <p:sp>
            <p:nvSpPr>
              <p:cNvPr id="44117" name="Line 14">
                <a:extLst>
                  <a:ext uri="{FF2B5EF4-FFF2-40B4-BE49-F238E27FC236}">
                    <a16:creationId xmlns:a16="http://schemas.microsoft.com/office/drawing/2014/main" id="{CFD9A3BC-E17B-4AB6-9520-4367442DF79E}"/>
                  </a:ext>
                </a:extLst>
              </p:cNvPr>
              <p:cNvSpPr>
                <a:spLocks noChangeShapeType="1"/>
              </p:cNvSpPr>
              <p:nvPr/>
            </p:nvSpPr>
            <p:spPr bwMode="auto">
              <a:xfrm>
                <a:off x="1200" y="1824"/>
                <a:ext cx="0" cy="672"/>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18" name="Line 15">
                <a:extLst>
                  <a:ext uri="{FF2B5EF4-FFF2-40B4-BE49-F238E27FC236}">
                    <a16:creationId xmlns:a16="http://schemas.microsoft.com/office/drawing/2014/main" id="{8E1FFDD9-5C76-4157-B0AA-803B7496F808}"/>
                  </a:ext>
                </a:extLst>
              </p:cNvPr>
              <p:cNvSpPr>
                <a:spLocks noChangeShapeType="1"/>
              </p:cNvSpPr>
              <p:nvPr/>
            </p:nvSpPr>
            <p:spPr bwMode="auto">
              <a:xfrm>
                <a:off x="1200" y="2496"/>
                <a:ext cx="1680"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19" name="Line 16">
                <a:extLst>
                  <a:ext uri="{FF2B5EF4-FFF2-40B4-BE49-F238E27FC236}">
                    <a16:creationId xmlns:a16="http://schemas.microsoft.com/office/drawing/2014/main" id="{53C04B1F-794B-439E-89EE-3B80FE70759D}"/>
                  </a:ext>
                </a:extLst>
              </p:cNvPr>
              <p:cNvSpPr>
                <a:spLocks noChangeShapeType="1"/>
              </p:cNvSpPr>
              <p:nvPr/>
            </p:nvSpPr>
            <p:spPr bwMode="auto">
              <a:xfrm>
                <a:off x="2016" y="2496"/>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120" name="Line 17">
                <a:extLst>
                  <a:ext uri="{FF2B5EF4-FFF2-40B4-BE49-F238E27FC236}">
                    <a16:creationId xmlns:a16="http://schemas.microsoft.com/office/drawing/2014/main" id="{BB68786F-F187-4C11-AE7C-A7E46EFEE793}"/>
                  </a:ext>
                </a:extLst>
              </p:cNvPr>
              <p:cNvSpPr>
                <a:spLocks noChangeShapeType="1"/>
              </p:cNvSpPr>
              <p:nvPr/>
            </p:nvSpPr>
            <p:spPr bwMode="auto">
              <a:xfrm>
                <a:off x="2016" y="1488"/>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121" name="Text Box 18">
                <a:extLst>
                  <a:ext uri="{FF2B5EF4-FFF2-40B4-BE49-F238E27FC236}">
                    <a16:creationId xmlns:a16="http://schemas.microsoft.com/office/drawing/2014/main" id="{51BEAA90-B283-4D5C-AF26-7985B58E1954}"/>
                  </a:ext>
                </a:extLst>
              </p:cNvPr>
              <p:cNvSpPr txBox="1">
                <a:spLocks noChangeArrowheads="1"/>
              </p:cNvSpPr>
              <p:nvPr/>
            </p:nvSpPr>
            <p:spPr bwMode="auto">
              <a:xfrm>
                <a:off x="2736" y="1632"/>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T</a:t>
                </a:r>
              </a:p>
            </p:txBody>
          </p:sp>
          <p:sp>
            <p:nvSpPr>
              <p:cNvPr id="44122" name="Text Box 19">
                <a:extLst>
                  <a:ext uri="{FF2B5EF4-FFF2-40B4-BE49-F238E27FC236}">
                    <a16:creationId xmlns:a16="http://schemas.microsoft.com/office/drawing/2014/main" id="{4FBCA40B-8A1C-43AB-ACA6-1327E5EA01AA}"/>
                  </a:ext>
                </a:extLst>
              </p:cNvPr>
              <p:cNvSpPr txBox="1">
                <a:spLocks noChangeArrowheads="1"/>
              </p:cNvSpPr>
              <p:nvPr/>
            </p:nvSpPr>
            <p:spPr bwMode="auto">
              <a:xfrm>
                <a:off x="1200" y="1632"/>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F</a:t>
                </a:r>
              </a:p>
            </p:txBody>
          </p:sp>
          <p:sp>
            <p:nvSpPr>
              <p:cNvPr id="44123" name="Line 20">
                <a:extLst>
                  <a:ext uri="{FF2B5EF4-FFF2-40B4-BE49-F238E27FC236}">
                    <a16:creationId xmlns:a16="http://schemas.microsoft.com/office/drawing/2014/main" id="{4418AFCF-5F94-4AEB-B5BB-215156ABBDF3}"/>
                  </a:ext>
                </a:extLst>
              </p:cNvPr>
              <p:cNvSpPr>
                <a:spLocks noChangeShapeType="1"/>
              </p:cNvSpPr>
              <p:nvPr/>
            </p:nvSpPr>
            <p:spPr bwMode="auto">
              <a:xfrm>
                <a:off x="2736" y="1824"/>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24" name="Line 21">
                <a:extLst>
                  <a:ext uri="{FF2B5EF4-FFF2-40B4-BE49-F238E27FC236}">
                    <a16:creationId xmlns:a16="http://schemas.microsoft.com/office/drawing/2014/main" id="{37001BC5-4CE5-4DDC-A640-7A6B0C04D4C1}"/>
                  </a:ext>
                </a:extLst>
              </p:cNvPr>
              <p:cNvSpPr>
                <a:spLocks noChangeShapeType="1"/>
              </p:cNvSpPr>
              <p:nvPr/>
            </p:nvSpPr>
            <p:spPr bwMode="auto">
              <a:xfrm>
                <a:off x="2880" y="230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125" name="AutoShape 22">
                <a:extLst>
                  <a:ext uri="{FF2B5EF4-FFF2-40B4-BE49-F238E27FC236}">
                    <a16:creationId xmlns:a16="http://schemas.microsoft.com/office/drawing/2014/main" id="{79CA1441-5821-4C87-BDE3-87A2B0423C0B}"/>
                  </a:ext>
                </a:extLst>
              </p:cNvPr>
              <p:cNvSpPr>
                <a:spLocks noChangeArrowheads="1"/>
              </p:cNvSpPr>
              <p:nvPr/>
            </p:nvSpPr>
            <p:spPr bwMode="auto">
              <a:xfrm>
                <a:off x="1344" y="2640"/>
                <a:ext cx="1344" cy="288"/>
              </a:xfrm>
              <a:prstGeom prst="flowChartDecision">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(A=2) V (X&gt;1)</a:t>
                </a:r>
              </a:p>
            </p:txBody>
          </p:sp>
          <p:sp>
            <p:nvSpPr>
              <p:cNvPr id="44126" name="Rectangle 23">
                <a:extLst>
                  <a:ext uri="{FF2B5EF4-FFF2-40B4-BE49-F238E27FC236}">
                    <a16:creationId xmlns:a16="http://schemas.microsoft.com/office/drawing/2014/main" id="{AF80F930-1863-4C3E-96BD-C02C9CA96351}"/>
                  </a:ext>
                </a:extLst>
              </p:cNvPr>
              <p:cNvSpPr>
                <a:spLocks noChangeArrowheads="1"/>
              </p:cNvSpPr>
              <p:nvPr/>
            </p:nvSpPr>
            <p:spPr bwMode="auto">
              <a:xfrm>
                <a:off x="2544" y="2976"/>
                <a:ext cx="768" cy="288"/>
              </a:xfrm>
              <a:prstGeom prst="rect">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X=X+1</a:t>
                </a:r>
              </a:p>
            </p:txBody>
          </p:sp>
          <p:sp>
            <p:nvSpPr>
              <p:cNvPr id="44127" name="Text Box 24">
                <a:extLst>
                  <a:ext uri="{FF2B5EF4-FFF2-40B4-BE49-F238E27FC236}">
                    <a16:creationId xmlns:a16="http://schemas.microsoft.com/office/drawing/2014/main" id="{E6BB0CC4-FDDF-419A-8173-D44317812C63}"/>
                  </a:ext>
                </a:extLst>
              </p:cNvPr>
              <p:cNvSpPr txBox="1">
                <a:spLocks noChangeArrowheads="1"/>
              </p:cNvSpPr>
              <p:nvPr/>
            </p:nvSpPr>
            <p:spPr bwMode="auto">
              <a:xfrm>
                <a:off x="2640" y="2592"/>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T</a:t>
                </a:r>
              </a:p>
            </p:txBody>
          </p:sp>
          <p:sp>
            <p:nvSpPr>
              <p:cNvPr id="44128" name="Line 25">
                <a:extLst>
                  <a:ext uri="{FF2B5EF4-FFF2-40B4-BE49-F238E27FC236}">
                    <a16:creationId xmlns:a16="http://schemas.microsoft.com/office/drawing/2014/main" id="{3105CC7B-58A7-4835-9294-8EBB5491CF31}"/>
                  </a:ext>
                </a:extLst>
              </p:cNvPr>
              <p:cNvSpPr>
                <a:spLocks noChangeShapeType="1"/>
              </p:cNvSpPr>
              <p:nvPr/>
            </p:nvSpPr>
            <p:spPr bwMode="auto">
              <a:xfrm>
                <a:off x="1200" y="2784"/>
                <a:ext cx="0" cy="624"/>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29" name="Line 26">
                <a:extLst>
                  <a:ext uri="{FF2B5EF4-FFF2-40B4-BE49-F238E27FC236}">
                    <a16:creationId xmlns:a16="http://schemas.microsoft.com/office/drawing/2014/main" id="{E1BA123C-0F89-4B7B-8ECD-68C2D530D40B}"/>
                  </a:ext>
                </a:extLst>
              </p:cNvPr>
              <p:cNvSpPr>
                <a:spLocks noChangeShapeType="1"/>
              </p:cNvSpPr>
              <p:nvPr/>
            </p:nvSpPr>
            <p:spPr bwMode="auto">
              <a:xfrm>
                <a:off x="1200" y="3408"/>
                <a:ext cx="1680"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30" name="Text Box 27">
                <a:extLst>
                  <a:ext uri="{FF2B5EF4-FFF2-40B4-BE49-F238E27FC236}">
                    <a16:creationId xmlns:a16="http://schemas.microsoft.com/office/drawing/2014/main" id="{48AE6508-D787-433A-B5A7-981EBFA0B16F}"/>
                  </a:ext>
                </a:extLst>
              </p:cNvPr>
              <p:cNvSpPr txBox="1">
                <a:spLocks noChangeArrowheads="1"/>
              </p:cNvSpPr>
              <p:nvPr/>
            </p:nvSpPr>
            <p:spPr bwMode="auto">
              <a:xfrm>
                <a:off x="1200" y="2544"/>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F</a:t>
                </a:r>
              </a:p>
            </p:txBody>
          </p:sp>
          <p:sp>
            <p:nvSpPr>
              <p:cNvPr id="44131" name="Line 28">
                <a:extLst>
                  <a:ext uri="{FF2B5EF4-FFF2-40B4-BE49-F238E27FC236}">
                    <a16:creationId xmlns:a16="http://schemas.microsoft.com/office/drawing/2014/main" id="{F07B0FF3-26B8-48D8-A18A-AC63342F2424}"/>
                  </a:ext>
                </a:extLst>
              </p:cNvPr>
              <p:cNvSpPr>
                <a:spLocks noChangeShapeType="1"/>
              </p:cNvSpPr>
              <p:nvPr/>
            </p:nvSpPr>
            <p:spPr bwMode="auto">
              <a:xfrm>
                <a:off x="2688" y="2784"/>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32" name="Line 29">
                <a:extLst>
                  <a:ext uri="{FF2B5EF4-FFF2-40B4-BE49-F238E27FC236}">
                    <a16:creationId xmlns:a16="http://schemas.microsoft.com/office/drawing/2014/main" id="{1CE70846-B790-4642-87EE-D3D3EBA0B819}"/>
                  </a:ext>
                </a:extLst>
              </p:cNvPr>
              <p:cNvSpPr>
                <a:spLocks noChangeShapeType="1"/>
              </p:cNvSpPr>
              <p:nvPr/>
            </p:nvSpPr>
            <p:spPr bwMode="auto">
              <a:xfrm>
                <a:off x="2880" y="278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133" name="Line 30">
                <a:extLst>
                  <a:ext uri="{FF2B5EF4-FFF2-40B4-BE49-F238E27FC236}">
                    <a16:creationId xmlns:a16="http://schemas.microsoft.com/office/drawing/2014/main" id="{D72B7208-8964-4784-ADAA-A6EE89B516D1}"/>
                  </a:ext>
                </a:extLst>
              </p:cNvPr>
              <p:cNvSpPr>
                <a:spLocks noChangeShapeType="1"/>
              </p:cNvSpPr>
              <p:nvPr/>
            </p:nvSpPr>
            <p:spPr bwMode="auto">
              <a:xfrm>
                <a:off x="2880" y="3264"/>
                <a:ext cx="0" cy="144"/>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134" name="Line 31">
                <a:extLst>
                  <a:ext uri="{FF2B5EF4-FFF2-40B4-BE49-F238E27FC236}">
                    <a16:creationId xmlns:a16="http://schemas.microsoft.com/office/drawing/2014/main" id="{7FC31976-30EA-45DE-B834-FE827F254B9A}"/>
                  </a:ext>
                </a:extLst>
              </p:cNvPr>
              <p:cNvSpPr>
                <a:spLocks noChangeShapeType="1"/>
              </p:cNvSpPr>
              <p:nvPr/>
            </p:nvSpPr>
            <p:spPr bwMode="auto">
              <a:xfrm>
                <a:off x="2064" y="3408"/>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135" name="Line 32">
                <a:extLst>
                  <a:ext uri="{FF2B5EF4-FFF2-40B4-BE49-F238E27FC236}">
                    <a16:creationId xmlns:a16="http://schemas.microsoft.com/office/drawing/2014/main" id="{E8E2CC7B-C733-4E90-9695-9A409AAFADA3}"/>
                  </a:ext>
                </a:extLst>
              </p:cNvPr>
              <p:cNvSpPr>
                <a:spLocks noChangeShapeType="1"/>
              </p:cNvSpPr>
              <p:nvPr/>
            </p:nvSpPr>
            <p:spPr bwMode="auto">
              <a:xfrm>
                <a:off x="1200" y="2784"/>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aphicFrame>
        <p:nvGraphicFramePr>
          <p:cNvPr id="2426913" name="Group 33">
            <a:extLst>
              <a:ext uri="{FF2B5EF4-FFF2-40B4-BE49-F238E27FC236}">
                <a16:creationId xmlns:a16="http://schemas.microsoft.com/office/drawing/2014/main" id="{E6995C5E-5CD3-4469-89FB-E000C57129EC}"/>
              </a:ext>
            </a:extLst>
          </p:cNvPr>
          <p:cNvGraphicFramePr>
            <a:graphicFrameLocks noGrp="1"/>
          </p:cNvGraphicFramePr>
          <p:nvPr/>
        </p:nvGraphicFramePr>
        <p:xfrm>
          <a:off x="6934200" y="990600"/>
          <a:ext cx="3276600" cy="1752600"/>
        </p:xfrm>
        <a:graphic>
          <a:graphicData uri="http://schemas.openxmlformats.org/drawingml/2006/table">
            <a:tbl>
              <a:tblPr/>
              <a:tblGrid>
                <a:gridCol w="711200">
                  <a:extLst>
                    <a:ext uri="{9D8B030D-6E8A-4147-A177-3AD203B41FA5}">
                      <a16:colId xmlns:a16="http://schemas.microsoft.com/office/drawing/2014/main" val="20000"/>
                    </a:ext>
                  </a:extLst>
                </a:gridCol>
                <a:gridCol w="896938">
                  <a:extLst>
                    <a:ext uri="{9D8B030D-6E8A-4147-A177-3AD203B41FA5}">
                      <a16:colId xmlns:a16="http://schemas.microsoft.com/office/drawing/2014/main" val="20001"/>
                    </a:ext>
                  </a:extLst>
                </a:gridCol>
                <a:gridCol w="865187">
                  <a:extLst>
                    <a:ext uri="{9D8B030D-6E8A-4147-A177-3AD203B41FA5}">
                      <a16:colId xmlns:a16="http://schemas.microsoft.com/office/drawing/2014/main" val="20002"/>
                    </a:ext>
                  </a:extLst>
                </a:gridCol>
                <a:gridCol w="803275">
                  <a:extLst>
                    <a:ext uri="{9D8B030D-6E8A-4147-A177-3AD203B41FA5}">
                      <a16:colId xmlns:a16="http://schemas.microsoft.com/office/drawing/2014/main" val="20003"/>
                    </a:ext>
                  </a:extLst>
                </a:gridCol>
              </a:tblGrid>
              <a:tr h="3397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判断</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条件</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取真值</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取假值</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38138">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判断</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(一)</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A&gt;1</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T1</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T1</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972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B=0</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T2</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T2</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39725">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判断</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(二)</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A=2</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T3</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T3</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95288">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X&gt;1</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T4</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T4</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44067" name="Rectangle 63">
            <a:extLst>
              <a:ext uri="{FF2B5EF4-FFF2-40B4-BE49-F238E27FC236}">
                <a16:creationId xmlns:a16="http://schemas.microsoft.com/office/drawing/2014/main" id="{73C575D4-CF2A-46D5-8283-9A47F5262C39}"/>
              </a:ext>
            </a:extLst>
          </p:cNvPr>
          <p:cNvSpPr>
            <a:spLocks noChangeArrowheads="1"/>
          </p:cNvSpPr>
          <p:nvPr/>
        </p:nvSpPr>
        <p:spPr bwMode="auto">
          <a:xfrm>
            <a:off x="7162800" y="533400"/>
            <a:ext cx="28194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600">
                <a:solidFill>
                  <a:srgbClr val="1AA1A4"/>
                </a:solidFill>
                <a:latin typeface="Times New Roman" panose="02020603050405020304" pitchFamily="18" charset="0"/>
                <a:ea typeface="黑体" panose="02010609060101010101" pitchFamily="49" charset="-122"/>
              </a:rPr>
              <a:t>设条件的取值标记</a:t>
            </a:r>
            <a:endParaRPr lang="en-US" altLang="zh-CN" sz="1600">
              <a:solidFill>
                <a:srgbClr val="1AA1A4"/>
              </a:solidFill>
              <a:latin typeface="Times New Roman" panose="02020603050405020304" pitchFamily="18" charset="0"/>
              <a:ea typeface="黑体" panose="02010609060101010101" pitchFamily="49" charset="-122"/>
            </a:endParaRPr>
          </a:p>
        </p:txBody>
      </p:sp>
      <p:sp>
        <p:nvSpPr>
          <p:cNvPr id="44068" name="Line 64">
            <a:extLst>
              <a:ext uri="{FF2B5EF4-FFF2-40B4-BE49-F238E27FC236}">
                <a16:creationId xmlns:a16="http://schemas.microsoft.com/office/drawing/2014/main" id="{B5CB612C-F874-426C-8077-38A65A4533B6}"/>
              </a:ext>
            </a:extLst>
          </p:cNvPr>
          <p:cNvSpPr>
            <a:spLocks noChangeShapeType="1"/>
          </p:cNvSpPr>
          <p:nvPr/>
        </p:nvSpPr>
        <p:spPr bwMode="auto">
          <a:xfrm>
            <a:off x="9677400" y="13716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69" name="Line 65">
            <a:extLst>
              <a:ext uri="{FF2B5EF4-FFF2-40B4-BE49-F238E27FC236}">
                <a16:creationId xmlns:a16="http://schemas.microsoft.com/office/drawing/2014/main" id="{312CD192-02AD-4B7A-83DB-ABA14D9DB32D}"/>
              </a:ext>
            </a:extLst>
          </p:cNvPr>
          <p:cNvSpPr>
            <a:spLocks noChangeShapeType="1"/>
          </p:cNvSpPr>
          <p:nvPr/>
        </p:nvSpPr>
        <p:spPr bwMode="auto">
          <a:xfrm>
            <a:off x="9677400" y="17526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0" name="Line 66">
            <a:extLst>
              <a:ext uri="{FF2B5EF4-FFF2-40B4-BE49-F238E27FC236}">
                <a16:creationId xmlns:a16="http://schemas.microsoft.com/office/drawing/2014/main" id="{8818B0C5-CA41-406C-B960-A753FA5FA126}"/>
              </a:ext>
            </a:extLst>
          </p:cNvPr>
          <p:cNvSpPr>
            <a:spLocks noChangeShapeType="1"/>
          </p:cNvSpPr>
          <p:nvPr/>
        </p:nvSpPr>
        <p:spPr bwMode="auto">
          <a:xfrm>
            <a:off x="9677400" y="20574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71" name="Line 67">
            <a:extLst>
              <a:ext uri="{FF2B5EF4-FFF2-40B4-BE49-F238E27FC236}">
                <a16:creationId xmlns:a16="http://schemas.microsoft.com/office/drawing/2014/main" id="{4166BCF0-CAE0-4BFB-A81D-ED91A877ED1F}"/>
              </a:ext>
            </a:extLst>
          </p:cNvPr>
          <p:cNvSpPr>
            <a:spLocks noChangeShapeType="1"/>
          </p:cNvSpPr>
          <p:nvPr/>
        </p:nvSpPr>
        <p:spPr bwMode="auto">
          <a:xfrm>
            <a:off x="9677400" y="24384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26948" name="Rectangle 68">
            <a:extLst>
              <a:ext uri="{FF2B5EF4-FFF2-40B4-BE49-F238E27FC236}">
                <a16:creationId xmlns:a16="http://schemas.microsoft.com/office/drawing/2014/main" id="{BD6D6EA2-EEB7-4045-93AF-3CFEB95A2174}"/>
              </a:ext>
            </a:extLst>
          </p:cNvPr>
          <p:cNvSpPr>
            <a:spLocks noChangeArrowheads="1"/>
          </p:cNvSpPr>
          <p:nvPr/>
        </p:nvSpPr>
        <p:spPr bwMode="auto">
          <a:xfrm>
            <a:off x="4114800" y="4267200"/>
            <a:ext cx="533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solidFill>
                  <a:srgbClr val="16369C"/>
                </a:solidFill>
                <a:latin typeface="黑体" panose="02010609060101010101" pitchFamily="49" charset="-122"/>
                <a:ea typeface="黑体" panose="02010609060101010101" pitchFamily="49" charset="-122"/>
              </a:rPr>
              <a:t>   </a:t>
            </a:r>
            <a:r>
              <a:rPr lang="zh-CN" altLang="en-US" sz="1800">
                <a:solidFill>
                  <a:srgbClr val="16369C"/>
                </a:solidFill>
                <a:latin typeface="黑体" panose="02010609060101010101" pitchFamily="49" charset="-122"/>
                <a:ea typeface="黑体" panose="02010609060101010101" pitchFamily="49" charset="-122"/>
              </a:rPr>
              <a:t>条件覆盖可选取的 (</a:t>
            </a:r>
            <a:r>
              <a:rPr lang="zh-CN" altLang="en-US" sz="1800">
                <a:solidFill>
                  <a:schemeClr val="accent2"/>
                </a:solidFill>
                <a:latin typeface="黑体" panose="02010609060101010101" pitchFamily="49" charset="-122"/>
                <a:ea typeface="黑体" panose="02010609060101010101" pitchFamily="49" charset="-122"/>
              </a:rPr>
              <a:t>第二组测试用例</a:t>
            </a:r>
            <a:r>
              <a:rPr lang="zh-CN" altLang="en-US" sz="1800">
                <a:solidFill>
                  <a:srgbClr val="345BC8"/>
                </a:solidFill>
                <a:latin typeface="黑体" panose="02010609060101010101" pitchFamily="49" charset="-122"/>
                <a:ea typeface="黑体" panose="02010609060101010101" pitchFamily="49" charset="-122"/>
              </a:rPr>
              <a:t>)</a:t>
            </a:r>
            <a:r>
              <a:rPr lang="zh-CN" altLang="en-US" sz="1800">
                <a:solidFill>
                  <a:srgbClr val="16369C"/>
                </a:solidFill>
                <a:latin typeface="黑体" panose="02010609060101010101" pitchFamily="49" charset="-122"/>
                <a:ea typeface="黑体" panose="02010609060101010101" pitchFamily="49" charset="-122"/>
              </a:rPr>
              <a:t>如下表 </a:t>
            </a:r>
          </a:p>
        </p:txBody>
      </p:sp>
      <p:graphicFrame>
        <p:nvGraphicFramePr>
          <p:cNvPr id="2427019" name="Group 139">
            <a:extLst>
              <a:ext uri="{FF2B5EF4-FFF2-40B4-BE49-F238E27FC236}">
                <a16:creationId xmlns:a16="http://schemas.microsoft.com/office/drawing/2014/main" id="{F7C5B2E5-CA22-4263-AA08-DE84169FA9DD}"/>
              </a:ext>
            </a:extLst>
          </p:cNvPr>
          <p:cNvGraphicFramePr>
            <a:graphicFrameLocks noGrp="1"/>
          </p:cNvGraphicFramePr>
          <p:nvPr/>
        </p:nvGraphicFramePr>
        <p:xfrm>
          <a:off x="3733800" y="4724400"/>
          <a:ext cx="5867400" cy="1417638"/>
        </p:xfrm>
        <a:graphic>
          <a:graphicData uri="http://schemas.openxmlformats.org/drawingml/2006/table">
            <a:tbl>
              <a:tblPr/>
              <a:tblGrid>
                <a:gridCol w="1651000">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tblGrid>
              <a:tr h="52387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16369C"/>
                          </a:solidFill>
                          <a:effectLst/>
                          <a:latin typeface="Times New Roman" charset="0"/>
                          <a:ea typeface="黑体" pitchFamily="2" charset="-122"/>
                        </a:rPr>
                        <a:t>测试用例</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16369C"/>
                          </a:solidFill>
                          <a:effectLst/>
                          <a:latin typeface="Times New Roman" charset="0"/>
                          <a:ea typeface="黑体" pitchFamily="2" charset="-122"/>
                        </a:rPr>
                        <a:t>通过路径</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16369C"/>
                          </a:solidFill>
                          <a:effectLst/>
                          <a:latin typeface="Times New Roman" charset="0"/>
                          <a:ea typeface="黑体" pitchFamily="2" charset="-122"/>
                        </a:rPr>
                        <a:t>条件取值</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16369C"/>
                          </a:solidFill>
                          <a:effectLst/>
                          <a:latin typeface="Times New Roman" charset="0"/>
                          <a:ea typeface="黑体" pitchFamily="2" charset="-122"/>
                        </a:rPr>
                        <a:t>覆盖分支</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767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2000" b="1" i="0" u="none" strike="noStrike" cap="none" normalizeH="0" baseline="0">
                          <a:ln>
                            <a:noFill/>
                          </a:ln>
                          <a:solidFill>
                            <a:schemeClr val="accent2"/>
                          </a:solidFill>
                          <a:effectLst>
                            <a:outerShdw blurRad="38100" dist="38100" dir="2700000" algn="tl">
                              <a:srgbClr val="000000"/>
                            </a:outerShdw>
                          </a:effectLst>
                          <a:latin typeface="Times New Roman"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0" i="0" u="none" strike="noStrike" cap="none" normalizeH="0" baseline="0">
                          <a:ln>
                            <a:noFill/>
                          </a:ln>
                          <a:solidFill>
                            <a:srgbClr val="124905"/>
                          </a:solidFill>
                          <a:effectLst/>
                          <a:latin typeface="Times New Roman"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0" i="0" u="none" strike="noStrike" cap="none" normalizeH="0" baseline="0">
                          <a:ln>
                            <a:noFill/>
                          </a:ln>
                          <a:solidFill>
                            <a:srgbClr val="124905"/>
                          </a:solidFill>
                          <a:effectLst/>
                          <a:latin typeface="Times New Roman"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0" i="0" u="none" strike="noStrike" cap="none" normalizeH="0" baseline="0">
                          <a:ln>
                            <a:noFill/>
                          </a:ln>
                          <a:solidFill>
                            <a:srgbClr val="D35FC2"/>
                          </a:solidFill>
                          <a:effectLst>
                            <a:outerShdw blurRad="38100" dist="38100" dir="2700000" algn="tl">
                              <a:srgbClr val="000000"/>
                            </a:outerShdw>
                          </a:effectLst>
                          <a:latin typeface="Arial"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608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2000" b="1" i="0" u="none" strike="noStrike" cap="none" normalizeH="0" baseline="0">
                          <a:ln>
                            <a:noFill/>
                          </a:ln>
                          <a:solidFill>
                            <a:schemeClr val="accent2"/>
                          </a:solidFill>
                          <a:effectLst>
                            <a:outerShdw blurRad="38100" dist="38100" dir="2700000" algn="tl">
                              <a:srgbClr val="000000"/>
                            </a:outerShdw>
                          </a:effectLst>
                          <a:latin typeface="Times New Roman"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0" i="0" u="none" strike="noStrike" cap="none" normalizeH="0" baseline="0">
                          <a:ln>
                            <a:noFill/>
                          </a:ln>
                          <a:solidFill>
                            <a:srgbClr val="124905"/>
                          </a:solidFill>
                          <a:effectLst/>
                          <a:latin typeface="Times New Roman"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0" i="0" u="none" strike="noStrike" cap="none" normalizeH="0" baseline="0">
                          <a:ln>
                            <a:noFill/>
                          </a:ln>
                          <a:solidFill>
                            <a:srgbClr val="124905"/>
                          </a:solidFill>
                          <a:effectLst/>
                          <a:latin typeface="Times New Roman"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0" i="0" u="none" strike="noStrike" cap="none" normalizeH="0" baseline="0">
                          <a:ln>
                            <a:noFill/>
                          </a:ln>
                          <a:solidFill>
                            <a:srgbClr val="D35FC2"/>
                          </a:solidFill>
                          <a:effectLst>
                            <a:outerShdw blurRad="38100" dist="38100" dir="2700000" algn="tl">
                              <a:srgbClr val="000000"/>
                            </a:outerShdw>
                          </a:effectLst>
                          <a:latin typeface="Arial"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426981" name="Rectangle 101">
            <a:extLst>
              <a:ext uri="{FF2B5EF4-FFF2-40B4-BE49-F238E27FC236}">
                <a16:creationId xmlns:a16="http://schemas.microsoft.com/office/drawing/2014/main" id="{5658D5C4-014E-4EBB-81EA-7A8011F84500}"/>
              </a:ext>
            </a:extLst>
          </p:cNvPr>
          <p:cNvSpPr>
            <a:spLocks noChangeArrowheads="1"/>
          </p:cNvSpPr>
          <p:nvPr/>
        </p:nvSpPr>
        <p:spPr bwMode="auto">
          <a:xfrm>
            <a:off x="3733800" y="5257800"/>
            <a:ext cx="1676400" cy="457200"/>
          </a:xfrm>
          <a:prstGeom prst="rect">
            <a:avLst/>
          </a:prstGeom>
          <a:noFill/>
          <a:ln w="38100" cmpd="dbl">
            <a:noFill/>
            <a:miter lim="800000"/>
            <a:headEnd/>
            <a:tailEnd/>
          </a:ln>
          <a:effectLst/>
        </p:spPr>
        <p:txBody>
          <a:bodyPr wrap="none" anchor="ctr"/>
          <a:lstStyle/>
          <a:p>
            <a:pPr>
              <a:defRPr/>
            </a:pPr>
            <a:r>
              <a:rPr kumimoji="1" lang="zh-CN" altLang="en-US" sz="2000" b="1">
                <a:solidFill>
                  <a:schemeClr val="accent2"/>
                </a:solidFill>
                <a:effectLst>
                  <a:outerShdw blurRad="38100" dist="38100" dir="2700000" algn="tl">
                    <a:srgbClr val="000000"/>
                  </a:outerShdw>
                </a:effectLst>
                <a:latin typeface="Times New Roman" charset="0"/>
                <a:ea typeface="文鼎细圆" pitchFamily="49" charset="-122"/>
              </a:rPr>
              <a:t>(1,0,3),(1,0,4)</a:t>
            </a:r>
          </a:p>
        </p:txBody>
      </p:sp>
      <p:sp>
        <p:nvSpPr>
          <p:cNvPr id="2426982" name="Rectangle 102">
            <a:extLst>
              <a:ext uri="{FF2B5EF4-FFF2-40B4-BE49-F238E27FC236}">
                <a16:creationId xmlns:a16="http://schemas.microsoft.com/office/drawing/2014/main" id="{B18717E9-9CD7-4DB5-9939-C29F25A6DF62}"/>
              </a:ext>
            </a:extLst>
          </p:cNvPr>
          <p:cNvSpPr>
            <a:spLocks noChangeArrowheads="1"/>
          </p:cNvSpPr>
          <p:nvPr/>
        </p:nvSpPr>
        <p:spPr bwMode="auto">
          <a:xfrm>
            <a:off x="5410200" y="5257800"/>
            <a:ext cx="1295400" cy="4572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sz="2000" b="1">
                <a:solidFill>
                  <a:srgbClr val="D35FC2"/>
                </a:solidFill>
                <a:effectLst>
                  <a:outerShdw blurRad="38100" dist="38100" dir="2700000" algn="tl">
                    <a:srgbClr val="000000"/>
                  </a:outerShdw>
                </a:effectLst>
                <a:latin typeface="Arial" charset="0"/>
                <a:ea typeface="文鼎细圆" pitchFamily="49" charset="-122"/>
              </a:rPr>
              <a:t>abe(L3)</a:t>
            </a:r>
          </a:p>
        </p:txBody>
      </p:sp>
      <p:sp>
        <p:nvSpPr>
          <p:cNvPr id="2426983" name="Rectangle 103">
            <a:extLst>
              <a:ext uri="{FF2B5EF4-FFF2-40B4-BE49-F238E27FC236}">
                <a16:creationId xmlns:a16="http://schemas.microsoft.com/office/drawing/2014/main" id="{BF21C853-00CE-44FD-8E9B-C92FD8B5798F}"/>
              </a:ext>
            </a:extLst>
          </p:cNvPr>
          <p:cNvSpPr>
            <a:spLocks noChangeArrowheads="1"/>
          </p:cNvSpPr>
          <p:nvPr/>
        </p:nvSpPr>
        <p:spPr bwMode="auto">
          <a:xfrm>
            <a:off x="6858000" y="5791200"/>
            <a:ext cx="1447800" cy="3048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b="1">
                <a:solidFill>
                  <a:srgbClr val="EF8D2B"/>
                </a:solidFill>
                <a:effectLst>
                  <a:outerShdw blurRad="38100" dist="38100" dir="2700000" algn="tl">
                    <a:srgbClr val="000000"/>
                  </a:outerShdw>
                </a:effectLst>
                <a:latin typeface="Arial" charset="0"/>
                <a:ea typeface="文鼎细圆" pitchFamily="49" charset="-122"/>
              </a:rPr>
              <a:t>T1 T2 T3 T4</a:t>
            </a:r>
          </a:p>
        </p:txBody>
      </p:sp>
      <p:sp>
        <p:nvSpPr>
          <p:cNvPr id="2426987" name="Rectangle 107">
            <a:extLst>
              <a:ext uri="{FF2B5EF4-FFF2-40B4-BE49-F238E27FC236}">
                <a16:creationId xmlns:a16="http://schemas.microsoft.com/office/drawing/2014/main" id="{A8C2F25D-B99E-4540-9B80-EAF8E9C1D205}"/>
              </a:ext>
            </a:extLst>
          </p:cNvPr>
          <p:cNvSpPr>
            <a:spLocks noChangeArrowheads="1"/>
          </p:cNvSpPr>
          <p:nvPr/>
        </p:nvSpPr>
        <p:spPr bwMode="auto">
          <a:xfrm>
            <a:off x="8763000" y="5257800"/>
            <a:ext cx="457200" cy="4572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sz="2000">
                <a:solidFill>
                  <a:srgbClr val="D35FC2"/>
                </a:solidFill>
                <a:effectLst>
                  <a:outerShdw blurRad="38100" dist="38100" dir="2700000" algn="tl">
                    <a:srgbClr val="000000"/>
                  </a:outerShdw>
                </a:effectLst>
                <a:latin typeface="Arial" charset="0"/>
                <a:ea typeface="文鼎细圆" pitchFamily="49" charset="-122"/>
              </a:rPr>
              <a:t>b,e</a:t>
            </a:r>
            <a:endParaRPr kumimoji="1" lang="en-US" altLang="zh-CN" b="1">
              <a:solidFill>
                <a:srgbClr val="EF8D2B"/>
              </a:solidFill>
              <a:effectLst>
                <a:outerShdw blurRad="38100" dist="38100" dir="2700000" algn="tl">
                  <a:srgbClr val="000000"/>
                </a:outerShdw>
              </a:effectLst>
              <a:latin typeface="Arial" charset="0"/>
              <a:ea typeface="文鼎细圆" pitchFamily="49" charset="-122"/>
            </a:endParaRPr>
          </a:p>
        </p:txBody>
      </p:sp>
      <p:sp>
        <p:nvSpPr>
          <p:cNvPr id="2426988" name="Rectangle 108">
            <a:extLst>
              <a:ext uri="{FF2B5EF4-FFF2-40B4-BE49-F238E27FC236}">
                <a16:creationId xmlns:a16="http://schemas.microsoft.com/office/drawing/2014/main" id="{12F6935A-B7A7-45F9-87FC-F82C96CD1CD7}"/>
              </a:ext>
            </a:extLst>
          </p:cNvPr>
          <p:cNvSpPr>
            <a:spLocks noChangeArrowheads="1"/>
          </p:cNvSpPr>
          <p:nvPr/>
        </p:nvSpPr>
        <p:spPr bwMode="auto">
          <a:xfrm>
            <a:off x="3733800" y="5715000"/>
            <a:ext cx="1676400" cy="457200"/>
          </a:xfrm>
          <a:prstGeom prst="rect">
            <a:avLst/>
          </a:prstGeom>
          <a:noFill/>
          <a:ln w="38100" cmpd="dbl">
            <a:noFill/>
            <a:miter lim="800000"/>
            <a:headEnd/>
            <a:tailEnd/>
          </a:ln>
          <a:effectLst/>
        </p:spPr>
        <p:txBody>
          <a:bodyPr wrap="none" anchor="ctr"/>
          <a:lstStyle/>
          <a:p>
            <a:pPr>
              <a:defRPr/>
            </a:pPr>
            <a:r>
              <a:rPr kumimoji="1" lang="zh-CN" altLang="en-US" sz="2000" b="1">
                <a:solidFill>
                  <a:schemeClr val="accent2"/>
                </a:solidFill>
                <a:effectLst>
                  <a:outerShdw blurRad="38100" dist="38100" dir="2700000" algn="tl">
                    <a:srgbClr val="000000"/>
                  </a:outerShdw>
                </a:effectLst>
                <a:latin typeface="Times New Roman" charset="0"/>
                <a:ea typeface="文鼎细圆" pitchFamily="49" charset="-122"/>
              </a:rPr>
              <a:t>(2,1,1),(2,1,2)</a:t>
            </a:r>
          </a:p>
        </p:txBody>
      </p:sp>
      <p:sp>
        <p:nvSpPr>
          <p:cNvPr id="2426989" name="Rectangle 109">
            <a:extLst>
              <a:ext uri="{FF2B5EF4-FFF2-40B4-BE49-F238E27FC236}">
                <a16:creationId xmlns:a16="http://schemas.microsoft.com/office/drawing/2014/main" id="{9F0F74F9-C77D-4C15-A02C-C07D86A9A67D}"/>
              </a:ext>
            </a:extLst>
          </p:cNvPr>
          <p:cNvSpPr>
            <a:spLocks noChangeArrowheads="1"/>
          </p:cNvSpPr>
          <p:nvPr/>
        </p:nvSpPr>
        <p:spPr bwMode="auto">
          <a:xfrm>
            <a:off x="5410200" y="5715000"/>
            <a:ext cx="1295400" cy="4572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sz="2000" b="1">
                <a:solidFill>
                  <a:srgbClr val="D35FC2"/>
                </a:solidFill>
                <a:effectLst>
                  <a:outerShdw blurRad="38100" dist="38100" dir="2700000" algn="tl">
                    <a:srgbClr val="000000"/>
                  </a:outerShdw>
                </a:effectLst>
                <a:latin typeface="Arial" charset="0"/>
                <a:ea typeface="文鼎细圆" pitchFamily="49" charset="-122"/>
              </a:rPr>
              <a:t>abe(L3)</a:t>
            </a:r>
          </a:p>
        </p:txBody>
      </p:sp>
      <p:sp>
        <p:nvSpPr>
          <p:cNvPr id="2426991" name="Rectangle 111">
            <a:extLst>
              <a:ext uri="{FF2B5EF4-FFF2-40B4-BE49-F238E27FC236}">
                <a16:creationId xmlns:a16="http://schemas.microsoft.com/office/drawing/2014/main" id="{CFA8EC30-49E8-4C36-9D7C-4CF1251F68AA}"/>
              </a:ext>
            </a:extLst>
          </p:cNvPr>
          <p:cNvSpPr>
            <a:spLocks noChangeArrowheads="1"/>
          </p:cNvSpPr>
          <p:nvPr/>
        </p:nvSpPr>
        <p:spPr bwMode="auto">
          <a:xfrm>
            <a:off x="8763000" y="5715000"/>
            <a:ext cx="457200" cy="4572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sz="2000">
                <a:solidFill>
                  <a:srgbClr val="D35FC2"/>
                </a:solidFill>
                <a:effectLst>
                  <a:outerShdw blurRad="38100" dist="38100" dir="2700000" algn="tl">
                    <a:srgbClr val="000000"/>
                  </a:outerShdw>
                </a:effectLst>
                <a:latin typeface="Arial" charset="0"/>
                <a:ea typeface="文鼎细圆" pitchFamily="49" charset="-122"/>
              </a:rPr>
              <a:t>b,e</a:t>
            </a:r>
            <a:endParaRPr kumimoji="1" lang="en-US" altLang="zh-CN" b="1">
              <a:solidFill>
                <a:srgbClr val="EF8D2B"/>
              </a:solidFill>
              <a:effectLst>
                <a:outerShdw blurRad="38100" dist="38100" dir="2700000" algn="tl">
                  <a:srgbClr val="000000"/>
                </a:outerShdw>
              </a:effectLst>
              <a:latin typeface="Arial" charset="0"/>
              <a:ea typeface="文鼎细圆" pitchFamily="49" charset="-122"/>
            </a:endParaRPr>
          </a:p>
        </p:txBody>
      </p:sp>
      <p:sp>
        <p:nvSpPr>
          <p:cNvPr id="2427018" name="Rectangle 138">
            <a:extLst>
              <a:ext uri="{FF2B5EF4-FFF2-40B4-BE49-F238E27FC236}">
                <a16:creationId xmlns:a16="http://schemas.microsoft.com/office/drawing/2014/main" id="{CD5E3649-D8CE-487C-B68E-744F59BCF044}"/>
              </a:ext>
            </a:extLst>
          </p:cNvPr>
          <p:cNvSpPr>
            <a:spLocks noChangeArrowheads="1"/>
          </p:cNvSpPr>
          <p:nvPr/>
        </p:nvSpPr>
        <p:spPr bwMode="auto">
          <a:xfrm>
            <a:off x="6858000" y="5334000"/>
            <a:ext cx="1447800" cy="3048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b="1">
                <a:solidFill>
                  <a:srgbClr val="EF8D2B"/>
                </a:solidFill>
                <a:effectLst>
                  <a:outerShdw blurRad="38100" dist="38100" dir="2700000" algn="tl">
                    <a:srgbClr val="000000"/>
                  </a:outerShdw>
                </a:effectLst>
                <a:latin typeface="Arial" charset="0"/>
                <a:ea typeface="文鼎细圆" pitchFamily="49" charset="-122"/>
              </a:rPr>
              <a:t>T1 T2 T3 T4</a:t>
            </a:r>
          </a:p>
        </p:txBody>
      </p:sp>
      <p:sp>
        <p:nvSpPr>
          <p:cNvPr id="2427020" name="Line 140">
            <a:extLst>
              <a:ext uri="{FF2B5EF4-FFF2-40B4-BE49-F238E27FC236}">
                <a16:creationId xmlns:a16="http://schemas.microsoft.com/office/drawing/2014/main" id="{1E202C82-23E5-4593-A028-20B5432226BE}"/>
              </a:ext>
            </a:extLst>
          </p:cNvPr>
          <p:cNvSpPr>
            <a:spLocks noChangeShapeType="1"/>
          </p:cNvSpPr>
          <p:nvPr/>
        </p:nvSpPr>
        <p:spPr bwMode="auto">
          <a:xfrm>
            <a:off x="6934200" y="53340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27021" name="Line 141">
            <a:extLst>
              <a:ext uri="{FF2B5EF4-FFF2-40B4-BE49-F238E27FC236}">
                <a16:creationId xmlns:a16="http://schemas.microsoft.com/office/drawing/2014/main" id="{11F2AFC2-E530-4D06-9ABB-6A466784E53E}"/>
              </a:ext>
            </a:extLst>
          </p:cNvPr>
          <p:cNvSpPr>
            <a:spLocks noChangeShapeType="1"/>
          </p:cNvSpPr>
          <p:nvPr/>
        </p:nvSpPr>
        <p:spPr bwMode="auto">
          <a:xfrm>
            <a:off x="7239000" y="57912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27022" name="Line 142">
            <a:extLst>
              <a:ext uri="{FF2B5EF4-FFF2-40B4-BE49-F238E27FC236}">
                <a16:creationId xmlns:a16="http://schemas.microsoft.com/office/drawing/2014/main" id="{124EC71A-E2E5-4C0B-A94E-46042FD072E7}"/>
              </a:ext>
            </a:extLst>
          </p:cNvPr>
          <p:cNvSpPr>
            <a:spLocks noChangeShapeType="1"/>
          </p:cNvSpPr>
          <p:nvPr/>
        </p:nvSpPr>
        <p:spPr bwMode="auto">
          <a:xfrm>
            <a:off x="7924800" y="57912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27023" name="Line 143">
            <a:extLst>
              <a:ext uri="{FF2B5EF4-FFF2-40B4-BE49-F238E27FC236}">
                <a16:creationId xmlns:a16="http://schemas.microsoft.com/office/drawing/2014/main" id="{BE18A4E9-5BE3-4FFE-A2C7-D347F9B3476C}"/>
              </a:ext>
            </a:extLst>
          </p:cNvPr>
          <p:cNvSpPr>
            <a:spLocks noChangeShapeType="1"/>
          </p:cNvSpPr>
          <p:nvPr/>
        </p:nvSpPr>
        <p:spPr bwMode="auto">
          <a:xfrm>
            <a:off x="7620000" y="53340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26948"/>
                                        </p:tgtEl>
                                        <p:attrNameLst>
                                          <p:attrName>style.visibility</p:attrName>
                                        </p:attrNameLst>
                                      </p:cBhvr>
                                      <p:to>
                                        <p:strVal val="visible"/>
                                      </p:to>
                                    </p:set>
                                    <p:anim calcmode="lin" valueType="num">
                                      <p:cBhvr additive="base">
                                        <p:cTn id="7" dur="500" fill="hold"/>
                                        <p:tgtEl>
                                          <p:spTgt spid="2426948"/>
                                        </p:tgtEl>
                                        <p:attrNameLst>
                                          <p:attrName>ppt_x</p:attrName>
                                        </p:attrNameLst>
                                      </p:cBhvr>
                                      <p:tavLst>
                                        <p:tav tm="0">
                                          <p:val>
                                            <p:strVal val="0-#ppt_w/2"/>
                                          </p:val>
                                        </p:tav>
                                        <p:tav tm="100000">
                                          <p:val>
                                            <p:strVal val="#ppt_x"/>
                                          </p:val>
                                        </p:tav>
                                      </p:tavLst>
                                    </p:anim>
                                    <p:anim calcmode="lin" valueType="num">
                                      <p:cBhvr additive="base">
                                        <p:cTn id="8" dur="500" fill="hold"/>
                                        <p:tgtEl>
                                          <p:spTgt spid="242694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5" fill="hold" nodeType="clickEffect">
                                  <p:stCondLst>
                                    <p:cond delay="0"/>
                                  </p:stCondLst>
                                  <p:childTnLst>
                                    <p:set>
                                      <p:cBhvr>
                                        <p:cTn id="12" dur="1" fill="hold">
                                          <p:stCondLst>
                                            <p:cond delay="0"/>
                                          </p:stCondLst>
                                        </p:cTn>
                                        <p:tgtEl>
                                          <p:spTgt spid="2427019"/>
                                        </p:tgtEl>
                                        <p:attrNameLst>
                                          <p:attrName>style.visibility</p:attrName>
                                        </p:attrNameLst>
                                      </p:cBhvr>
                                      <p:to>
                                        <p:strVal val="visible"/>
                                      </p:to>
                                    </p:set>
                                    <p:animEffect transition="in" filter="blinds(vertical)">
                                      <p:cBhvr>
                                        <p:cTn id="13" dur="500"/>
                                        <p:tgtEl>
                                          <p:spTgt spid="242701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5" fill="hold" grpId="0" nodeType="clickEffect">
                                  <p:stCondLst>
                                    <p:cond delay="0"/>
                                  </p:stCondLst>
                                  <p:childTnLst>
                                    <p:set>
                                      <p:cBhvr>
                                        <p:cTn id="17" dur="1" fill="hold">
                                          <p:stCondLst>
                                            <p:cond delay="0"/>
                                          </p:stCondLst>
                                        </p:cTn>
                                        <p:tgtEl>
                                          <p:spTgt spid="2426981"/>
                                        </p:tgtEl>
                                        <p:attrNameLst>
                                          <p:attrName>style.visibility</p:attrName>
                                        </p:attrNameLst>
                                      </p:cBhvr>
                                      <p:to>
                                        <p:strVal val="visible"/>
                                      </p:to>
                                    </p:set>
                                    <p:animEffect transition="in" filter="blinds(vertical)">
                                      <p:cBhvr>
                                        <p:cTn id="18" dur="500"/>
                                        <p:tgtEl>
                                          <p:spTgt spid="242698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5" fill="hold" grpId="0" nodeType="clickEffect">
                                  <p:stCondLst>
                                    <p:cond delay="0"/>
                                  </p:stCondLst>
                                  <p:childTnLst>
                                    <p:set>
                                      <p:cBhvr>
                                        <p:cTn id="22" dur="1" fill="hold">
                                          <p:stCondLst>
                                            <p:cond delay="0"/>
                                          </p:stCondLst>
                                        </p:cTn>
                                        <p:tgtEl>
                                          <p:spTgt spid="2426982"/>
                                        </p:tgtEl>
                                        <p:attrNameLst>
                                          <p:attrName>style.visibility</p:attrName>
                                        </p:attrNameLst>
                                      </p:cBhvr>
                                      <p:to>
                                        <p:strVal val="visible"/>
                                      </p:to>
                                    </p:set>
                                    <p:animEffect transition="in" filter="blinds(vertical)">
                                      <p:cBhvr>
                                        <p:cTn id="23" dur="500"/>
                                        <p:tgtEl>
                                          <p:spTgt spid="242698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5" fill="hold" grpId="0" nodeType="clickEffect">
                                  <p:stCondLst>
                                    <p:cond delay="0"/>
                                  </p:stCondLst>
                                  <p:childTnLst>
                                    <p:set>
                                      <p:cBhvr>
                                        <p:cTn id="27" dur="1" fill="hold">
                                          <p:stCondLst>
                                            <p:cond delay="0"/>
                                          </p:stCondLst>
                                        </p:cTn>
                                        <p:tgtEl>
                                          <p:spTgt spid="2427018"/>
                                        </p:tgtEl>
                                        <p:attrNameLst>
                                          <p:attrName>style.visibility</p:attrName>
                                        </p:attrNameLst>
                                      </p:cBhvr>
                                      <p:to>
                                        <p:strVal val="visible"/>
                                      </p:to>
                                    </p:set>
                                    <p:animEffect transition="in" filter="blinds(vertical)">
                                      <p:cBhvr>
                                        <p:cTn id="28" dur="500"/>
                                        <p:tgtEl>
                                          <p:spTgt spid="242701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5" fill="hold" nodeType="clickEffect">
                                  <p:stCondLst>
                                    <p:cond delay="0"/>
                                  </p:stCondLst>
                                  <p:childTnLst>
                                    <p:set>
                                      <p:cBhvr>
                                        <p:cTn id="32" dur="1" fill="hold">
                                          <p:stCondLst>
                                            <p:cond delay="0"/>
                                          </p:stCondLst>
                                        </p:cTn>
                                        <p:tgtEl>
                                          <p:spTgt spid="2427020"/>
                                        </p:tgtEl>
                                        <p:attrNameLst>
                                          <p:attrName>style.visibility</p:attrName>
                                        </p:attrNameLst>
                                      </p:cBhvr>
                                      <p:to>
                                        <p:strVal val="visible"/>
                                      </p:to>
                                    </p:set>
                                    <p:animEffect transition="in" filter="blinds(vertical)">
                                      <p:cBhvr>
                                        <p:cTn id="33" dur="500"/>
                                        <p:tgtEl>
                                          <p:spTgt spid="242702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5" fill="hold" nodeType="clickEffect">
                                  <p:stCondLst>
                                    <p:cond delay="0"/>
                                  </p:stCondLst>
                                  <p:childTnLst>
                                    <p:set>
                                      <p:cBhvr>
                                        <p:cTn id="37" dur="1" fill="hold">
                                          <p:stCondLst>
                                            <p:cond delay="0"/>
                                          </p:stCondLst>
                                        </p:cTn>
                                        <p:tgtEl>
                                          <p:spTgt spid="2427023"/>
                                        </p:tgtEl>
                                        <p:attrNameLst>
                                          <p:attrName>style.visibility</p:attrName>
                                        </p:attrNameLst>
                                      </p:cBhvr>
                                      <p:to>
                                        <p:strVal val="visible"/>
                                      </p:to>
                                    </p:set>
                                    <p:animEffect transition="in" filter="blinds(vertical)">
                                      <p:cBhvr>
                                        <p:cTn id="38" dur="500"/>
                                        <p:tgtEl>
                                          <p:spTgt spid="242702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5" fill="hold" grpId="0" nodeType="clickEffect">
                                  <p:stCondLst>
                                    <p:cond delay="0"/>
                                  </p:stCondLst>
                                  <p:childTnLst>
                                    <p:set>
                                      <p:cBhvr>
                                        <p:cTn id="42" dur="1" fill="hold">
                                          <p:stCondLst>
                                            <p:cond delay="0"/>
                                          </p:stCondLst>
                                        </p:cTn>
                                        <p:tgtEl>
                                          <p:spTgt spid="2426987"/>
                                        </p:tgtEl>
                                        <p:attrNameLst>
                                          <p:attrName>style.visibility</p:attrName>
                                        </p:attrNameLst>
                                      </p:cBhvr>
                                      <p:to>
                                        <p:strVal val="visible"/>
                                      </p:to>
                                    </p:set>
                                    <p:animEffect transition="in" filter="blinds(vertical)">
                                      <p:cBhvr>
                                        <p:cTn id="43" dur="500"/>
                                        <p:tgtEl>
                                          <p:spTgt spid="242698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5" fill="hold" grpId="0" nodeType="clickEffect">
                                  <p:stCondLst>
                                    <p:cond delay="0"/>
                                  </p:stCondLst>
                                  <p:childTnLst>
                                    <p:set>
                                      <p:cBhvr>
                                        <p:cTn id="47" dur="1" fill="hold">
                                          <p:stCondLst>
                                            <p:cond delay="0"/>
                                          </p:stCondLst>
                                        </p:cTn>
                                        <p:tgtEl>
                                          <p:spTgt spid="2426988"/>
                                        </p:tgtEl>
                                        <p:attrNameLst>
                                          <p:attrName>style.visibility</p:attrName>
                                        </p:attrNameLst>
                                      </p:cBhvr>
                                      <p:to>
                                        <p:strVal val="visible"/>
                                      </p:to>
                                    </p:set>
                                    <p:animEffect transition="in" filter="blinds(vertical)">
                                      <p:cBhvr>
                                        <p:cTn id="48" dur="500"/>
                                        <p:tgtEl>
                                          <p:spTgt spid="242698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5" fill="hold" grpId="0" nodeType="clickEffect">
                                  <p:stCondLst>
                                    <p:cond delay="0"/>
                                  </p:stCondLst>
                                  <p:childTnLst>
                                    <p:set>
                                      <p:cBhvr>
                                        <p:cTn id="52" dur="1" fill="hold">
                                          <p:stCondLst>
                                            <p:cond delay="0"/>
                                          </p:stCondLst>
                                        </p:cTn>
                                        <p:tgtEl>
                                          <p:spTgt spid="2426989"/>
                                        </p:tgtEl>
                                        <p:attrNameLst>
                                          <p:attrName>style.visibility</p:attrName>
                                        </p:attrNameLst>
                                      </p:cBhvr>
                                      <p:to>
                                        <p:strVal val="visible"/>
                                      </p:to>
                                    </p:set>
                                    <p:animEffect transition="in" filter="blinds(vertical)">
                                      <p:cBhvr>
                                        <p:cTn id="53" dur="500"/>
                                        <p:tgtEl>
                                          <p:spTgt spid="2426989"/>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5" fill="hold" grpId="0" nodeType="clickEffect">
                                  <p:stCondLst>
                                    <p:cond delay="0"/>
                                  </p:stCondLst>
                                  <p:childTnLst>
                                    <p:set>
                                      <p:cBhvr>
                                        <p:cTn id="57" dur="1" fill="hold">
                                          <p:stCondLst>
                                            <p:cond delay="0"/>
                                          </p:stCondLst>
                                        </p:cTn>
                                        <p:tgtEl>
                                          <p:spTgt spid="2426983"/>
                                        </p:tgtEl>
                                        <p:attrNameLst>
                                          <p:attrName>style.visibility</p:attrName>
                                        </p:attrNameLst>
                                      </p:cBhvr>
                                      <p:to>
                                        <p:strVal val="visible"/>
                                      </p:to>
                                    </p:set>
                                    <p:animEffect transition="in" filter="blinds(vertical)">
                                      <p:cBhvr>
                                        <p:cTn id="58" dur="500"/>
                                        <p:tgtEl>
                                          <p:spTgt spid="2426983"/>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5" fill="hold" nodeType="clickEffect">
                                  <p:stCondLst>
                                    <p:cond delay="0"/>
                                  </p:stCondLst>
                                  <p:childTnLst>
                                    <p:set>
                                      <p:cBhvr>
                                        <p:cTn id="62" dur="1" fill="hold">
                                          <p:stCondLst>
                                            <p:cond delay="0"/>
                                          </p:stCondLst>
                                        </p:cTn>
                                        <p:tgtEl>
                                          <p:spTgt spid="2427021"/>
                                        </p:tgtEl>
                                        <p:attrNameLst>
                                          <p:attrName>style.visibility</p:attrName>
                                        </p:attrNameLst>
                                      </p:cBhvr>
                                      <p:to>
                                        <p:strVal val="visible"/>
                                      </p:to>
                                    </p:set>
                                    <p:animEffect transition="in" filter="blinds(vertical)">
                                      <p:cBhvr>
                                        <p:cTn id="63" dur="500"/>
                                        <p:tgtEl>
                                          <p:spTgt spid="2427021"/>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3" presetClass="entr" presetSubtype="5" fill="hold" nodeType="clickEffect">
                                  <p:stCondLst>
                                    <p:cond delay="0"/>
                                  </p:stCondLst>
                                  <p:childTnLst>
                                    <p:set>
                                      <p:cBhvr>
                                        <p:cTn id="67" dur="1" fill="hold">
                                          <p:stCondLst>
                                            <p:cond delay="0"/>
                                          </p:stCondLst>
                                        </p:cTn>
                                        <p:tgtEl>
                                          <p:spTgt spid="2427022"/>
                                        </p:tgtEl>
                                        <p:attrNameLst>
                                          <p:attrName>style.visibility</p:attrName>
                                        </p:attrNameLst>
                                      </p:cBhvr>
                                      <p:to>
                                        <p:strVal val="visible"/>
                                      </p:to>
                                    </p:set>
                                    <p:animEffect transition="in" filter="blinds(vertical)">
                                      <p:cBhvr>
                                        <p:cTn id="68" dur="500"/>
                                        <p:tgtEl>
                                          <p:spTgt spid="2427022"/>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3" presetClass="entr" presetSubtype="5" fill="hold" grpId="0" nodeType="clickEffect">
                                  <p:stCondLst>
                                    <p:cond delay="0"/>
                                  </p:stCondLst>
                                  <p:childTnLst>
                                    <p:set>
                                      <p:cBhvr>
                                        <p:cTn id="72" dur="1" fill="hold">
                                          <p:stCondLst>
                                            <p:cond delay="0"/>
                                          </p:stCondLst>
                                        </p:cTn>
                                        <p:tgtEl>
                                          <p:spTgt spid="2426991"/>
                                        </p:tgtEl>
                                        <p:attrNameLst>
                                          <p:attrName>style.visibility</p:attrName>
                                        </p:attrNameLst>
                                      </p:cBhvr>
                                      <p:to>
                                        <p:strVal val="visible"/>
                                      </p:to>
                                    </p:set>
                                    <p:animEffect transition="in" filter="blinds(vertical)">
                                      <p:cBhvr>
                                        <p:cTn id="73" dur="500"/>
                                        <p:tgtEl>
                                          <p:spTgt spid="24269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48" grpId="0" autoUpdateAnimBg="0"/>
      <p:bldP spid="2426981" grpId="0" autoUpdateAnimBg="0"/>
      <p:bldP spid="2426982" grpId="0" autoUpdateAnimBg="0"/>
      <p:bldP spid="2426983" grpId="0" autoUpdateAnimBg="0"/>
      <p:bldP spid="2426987" grpId="0" autoUpdateAnimBg="0"/>
      <p:bldP spid="2426988" grpId="0" autoUpdateAnimBg="0"/>
      <p:bldP spid="2426989" grpId="0" autoUpdateAnimBg="0"/>
      <p:bldP spid="2426991" grpId="0" autoUpdateAnimBg="0"/>
      <p:bldP spid="2427018" grpId="0" autoUpdateAnimBg="0"/>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日期占位符 1">
            <a:extLst>
              <a:ext uri="{FF2B5EF4-FFF2-40B4-BE49-F238E27FC236}">
                <a16:creationId xmlns:a16="http://schemas.microsoft.com/office/drawing/2014/main" id="{8DF07BA6-98D6-427B-AC21-AD0C2C31E306}"/>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71BE0B08-A557-4825-B05D-BB77D82E149F}"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46083" name="Rectangle 2">
            <a:extLst>
              <a:ext uri="{FF2B5EF4-FFF2-40B4-BE49-F238E27FC236}">
                <a16:creationId xmlns:a16="http://schemas.microsoft.com/office/drawing/2014/main" id="{CE934517-6C7A-4FCA-BFDB-DADAE59FFADA}"/>
              </a:ext>
            </a:extLst>
          </p:cNvPr>
          <p:cNvSpPr>
            <a:spLocks noChangeArrowheads="1"/>
          </p:cNvSpPr>
          <p:nvPr/>
        </p:nvSpPr>
        <p:spPr bwMode="auto">
          <a:xfrm>
            <a:off x="3276600" y="762000"/>
            <a:ext cx="2057400" cy="609600"/>
          </a:xfrm>
          <a:prstGeom prst="rect">
            <a:avLst/>
          </a:prstGeom>
          <a:solidFill>
            <a:schemeClr val="bg1"/>
          </a:solidFill>
          <a:ln w="9525">
            <a:solidFill>
              <a:srgbClr val="70E5E8"/>
            </a:solidFill>
            <a:miter lim="800000"/>
            <a:headEnd/>
            <a:tailEnd/>
          </a:ln>
          <a:effectLst>
            <a:outerShdw dist="107763" dir="2700000" algn="ctr" rotWithShape="0">
              <a:schemeClr val="bg2"/>
            </a:outerShdw>
          </a:effec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000">
                <a:solidFill>
                  <a:srgbClr val="1AA1A4"/>
                </a:solidFill>
                <a:latin typeface="Times New Roman" panose="02020603050405020304" pitchFamily="18" charset="0"/>
                <a:ea typeface="黑体" panose="02010609060101010101" pitchFamily="49" charset="-122"/>
              </a:rPr>
              <a:t>　判定/条件覆盖　</a:t>
            </a:r>
            <a:endParaRPr lang="en-US" altLang="zh-CN" sz="2000">
              <a:solidFill>
                <a:srgbClr val="1AA1A4"/>
              </a:solidFill>
              <a:latin typeface="Times New Roman" panose="02020603050405020304" pitchFamily="18" charset="0"/>
              <a:ea typeface="黑体" panose="02010609060101010101" pitchFamily="49" charset="-122"/>
            </a:endParaRPr>
          </a:p>
        </p:txBody>
      </p:sp>
      <p:sp>
        <p:nvSpPr>
          <p:cNvPr id="2428931" name="Rectangle 3">
            <a:hlinkClick r:id="rId3" action="ppaction://hlinksldjump"/>
            <a:extLst>
              <a:ext uri="{FF2B5EF4-FFF2-40B4-BE49-F238E27FC236}">
                <a16:creationId xmlns:a16="http://schemas.microsoft.com/office/drawing/2014/main" id="{E79B286E-FC49-44CF-8B81-FF59E307BDD0}"/>
              </a:ext>
            </a:extLst>
          </p:cNvPr>
          <p:cNvSpPr>
            <a:spLocks noChangeArrowheads="1"/>
          </p:cNvSpPr>
          <p:nvPr/>
        </p:nvSpPr>
        <p:spPr bwMode="auto">
          <a:xfrm>
            <a:off x="3733800" y="3276600"/>
            <a:ext cx="5486400" cy="1752600"/>
          </a:xfrm>
          <a:prstGeom prst="rect">
            <a:avLst/>
          </a:prstGeom>
          <a:noFill/>
          <a:ln w="38100" cmpd="dbl">
            <a:solidFill>
              <a:srgbClr val="70E5E8"/>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r>
              <a:rPr lang="zh-CN" altLang="en-US" sz="1800">
                <a:solidFill>
                  <a:srgbClr val="1AA1A4"/>
                </a:solidFill>
                <a:latin typeface="黑体" panose="02010609060101010101" pitchFamily="49" charset="-122"/>
                <a:ea typeface="黑体" panose="02010609060101010101" pitchFamily="49" charset="-122"/>
              </a:rPr>
              <a:t>　　 </a:t>
            </a:r>
            <a:r>
              <a:rPr lang="zh-CN" altLang="en-US" sz="1800">
                <a:solidFill>
                  <a:srgbClr val="16369C"/>
                </a:solidFill>
                <a:latin typeface="黑体" panose="02010609060101010101" pitchFamily="49" charset="-122"/>
                <a:ea typeface="黑体" panose="02010609060101010101" pitchFamily="49" charset="-122"/>
              </a:rPr>
              <a:t>所谓的判定/条件覆盖就是设计足够的测试用</a:t>
            </a:r>
          </a:p>
          <a:p>
            <a:pPr>
              <a:spcBef>
                <a:spcPct val="0"/>
              </a:spcBef>
              <a:buFontTx/>
              <a:buNone/>
            </a:pPr>
            <a:r>
              <a:rPr lang="zh-CN" altLang="en-US" sz="1800">
                <a:solidFill>
                  <a:srgbClr val="16369C"/>
                </a:solidFill>
                <a:latin typeface="黑体" panose="02010609060101010101" pitchFamily="49" charset="-122"/>
                <a:ea typeface="黑体" panose="02010609060101010101" pitchFamily="49" charset="-122"/>
              </a:rPr>
              <a:t> 例，使得 </a:t>
            </a:r>
            <a:r>
              <a:rPr lang="zh-CN" altLang="en-US" sz="1800">
                <a:solidFill>
                  <a:schemeClr val="accent2"/>
                </a:solidFill>
                <a:latin typeface="黑体" panose="02010609060101010101" pitchFamily="49" charset="-122"/>
                <a:ea typeface="黑体" panose="02010609060101010101" pitchFamily="49" charset="-122"/>
              </a:rPr>
              <a:t>判断中每个条件的所有可能取值至少执</a:t>
            </a:r>
          </a:p>
          <a:p>
            <a:pPr>
              <a:spcBef>
                <a:spcPct val="0"/>
              </a:spcBef>
              <a:buFontTx/>
              <a:buNone/>
            </a:pPr>
            <a:r>
              <a:rPr lang="zh-CN" altLang="en-US" sz="1800">
                <a:solidFill>
                  <a:schemeClr val="accent2"/>
                </a:solidFill>
                <a:latin typeface="黑体" panose="02010609060101010101" pitchFamily="49" charset="-122"/>
                <a:ea typeface="黑体" panose="02010609060101010101" pitchFamily="49" charset="-122"/>
              </a:rPr>
              <a:t> 行一次， 同时每个判断本身的所有可能判断结果</a:t>
            </a:r>
          </a:p>
          <a:p>
            <a:pPr>
              <a:spcBef>
                <a:spcPct val="0"/>
              </a:spcBef>
              <a:buFontTx/>
              <a:buNone/>
            </a:pPr>
            <a:r>
              <a:rPr lang="zh-CN" altLang="en-US" sz="1800">
                <a:solidFill>
                  <a:schemeClr val="accent2"/>
                </a:solidFill>
                <a:latin typeface="黑体" panose="02010609060101010101" pitchFamily="49" charset="-122"/>
                <a:ea typeface="黑体" panose="02010609060101010101" pitchFamily="49" charset="-122"/>
              </a:rPr>
              <a:t> 至少执行一次。</a:t>
            </a:r>
            <a:r>
              <a:rPr lang="zh-CN" altLang="en-US" sz="1800" b="1">
                <a:solidFill>
                  <a:schemeClr val="accent2"/>
                </a:solidFill>
                <a:latin typeface="黑体" panose="02010609060101010101" pitchFamily="49" charset="-122"/>
                <a:ea typeface="黑体" panose="02010609060101010101"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28931"/>
                                        </p:tgtEl>
                                        <p:attrNameLst>
                                          <p:attrName>style.visibility</p:attrName>
                                        </p:attrNameLst>
                                      </p:cBhvr>
                                      <p:to>
                                        <p:strVal val="visible"/>
                                      </p:to>
                                    </p:set>
                                    <p:animEffect transition="in" filter="blinds(horizontal)">
                                      <p:cBhvr>
                                        <p:cTn id="7" dur="500"/>
                                        <p:tgtEl>
                                          <p:spTgt spid="24289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8931" grpId="0" animBg="1" autoUpdateAnimBg="0"/>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日期占位符 1">
            <a:extLst>
              <a:ext uri="{FF2B5EF4-FFF2-40B4-BE49-F238E27FC236}">
                <a16:creationId xmlns:a16="http://schemas.microsoft.com/office/drawing/2014/main" id="{27DE2C0D-B6EE-4034-86B7-690E48CCFE1E}"/>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9D372787-FAE2-4CE1-AD5C-C01A2E27CC3C}"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48131" name="Rectangle 2">
            <a:extLst>
              <a:ext uri="{FF2B5EF4-FFF2-40B4-BE49-F238E27FC236}">
                <a16:creationId xmlns:a16="http://schemas.microsoft.com/office/drawing/2014/main" id="{932BCD42-0745-4BA5-ABE4-1644C1610CC7}"/>
              </a:ext>
            </a:extLst>
          </p:cNvPr>
          <p:cNvSpPr>
            <a:spLocks noChangeArrowheads="1"/>
          </p:cNvSpPr>
          <p:nvPr/>
        </p:nvSpPr>
        <p:spPr bwMode="auto">
          <a:xfrm>
            <a:off x="2971800" y="990600"/>
            <a:ext cx="7315200" cy="990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endParaRPr lang="zh-CN" altLang="en-US" sz="2800">
              <a:solidFill>
                <a:schemeClr val="tx1"/>
              </a:solidFill>
              <a:latin typeface="Times New Roman" panose="02020603050405020304" pitchFamily="18" charset="0"/>
              <a:ea typeface="楷体_GB2312" pitchFamily="49" charset="-122"/>
            </a:endParaRPr>
          </a:p>
        </p:txBody>
      </p:sp>
      <p:grpSp>
        <p:nvGrpSpPr>
          <p:cNvPr id="48132" name="Group 3">
            <a:extLst>
              <a:ext uri="{FF2B5EF4-FFF2-40B4-BE49-F238E27FC236}">
                <a16:creationId xmlns:a16="http://schemas.microsoft.com/office/drawing/2014/main" id="{E6DE4571-6F7B-4E44-84E5-922553720A35}"/>
              </a:ext>
            </a:extLst>
          </p:cNvPr>
          <p:cNvGrpSpPr>
            <a:grpSpLocks/>
          </p:cNvGrpSpPr>
          <p:nvPr/>
        </p:nvGrpSpPr>
        <p:grpSpPr bwMode="auto">
          <a:xfrm>
            <a:off x="3200400" y="457200"/>
            <a:ext cx="3733800" cy="3810000"/>
            <a:chOff x="1152" y="1248"/>
            <a:chExt cx="2352" cy="2400"/>
          </a:xfrm>
        </p:grpSpPr>
        <p:sp>
          <p:nvSpPr>
            <p:cNvPr id="2430980" name="Text Box 4">
              <a:extLst>
                <a:ext uri="{FF2B5EF4-FFF2-40B4-BE49-F238E27FC236}">
                  <a16:creationId xmlns:a16="http://schemas.microsoft.com/office/drawing/2014/main" id="{EE183301-159D-47DA-9C9E-5671F7740445}"/>
                </a:ext>
              </a:extLst>
            </p:cNvPr>
            <p:cNvSpPr txBox="1">
              <a:spLocks noChangeArrowheads="1"/>
            </p:cNvSpPr>
            <p:nvPr/>
          </p:nvSpPr>
          <p:spPr bwMode="auto">
            <a:xfrm>
              <a:off x="1152" y="1776"/>
              <a:ext cx="223"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b</a:t>
              </a:r>
            </a:p>
          </p:txBody>
        </p:sp>
        <p:sp>
          <p:nvSpPr>
            <p:cNvPr id="2430981" name="Text Box 5">
              <a:extLst>
                <a:ext uri="{FF2B5EF4-FFF2-40B4-BE49-F238E27FC236}">
                  <a16:creationId xmlns:a16="http://schemas.microsoft.com/office/drawing/2014/main" id="{250F6916-1939-4058-A10E-DE7B6A5C7A0C}"/>
                </a:ext>
              </a:extLst>
            </p:cNvPr>
            <p:cNvSpPr txBox="1">
              <a:spLocks noChangeArrowheads="1"/>
            </p:cNvSpPr>
            <p:nvPr/>
          </p:nvSpPr>
          <p:spPr bwMode="auto">
            <a:xfrm>
              <a:off x="1152" y="2736"/>
              <a:ext cx="223"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d</a:t>
              </a:r>
            </a:p>
          </p:txBody>
        </p:sp>
        <p:sp>
          <p:nvSpPr>
            <p:cNvPr id="2430982" name="Text Box 6">
              <a:extLst>
                <a:ext uri="{FF2B5EF4-FFF2-40B4-BE49-F238E27FC236}">
                  <a16:creationId xmlns:a16="http://schemas.microsoft.com/office/drawing/2014/main" id="{275F90B1-CA66-4633-9257-0F10D934C77F}"/>
                </a:ext>
              </a:extLst>
            </p:cNvPr>
            <p:cNvSpPr txBox="1">
              <a:spLocks noChangeArrowheads="1"/>
            </p:cNvSpPr>
            <p:nvPr/>
          </p:nvSpPr>
          <p:spPr bwMode="auto">
            <a:xfrm>
              <a:off x="2064" y="1248"/>
              <a:ext cx="288" cy="288"/>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a</a:t>
              </a:r>
            </a:p>
          </p:txBody>
        </p:sp>
        <p:sp>
          <p:nvSpPr>
            <p:cNvPr id="2430983" name="Text Box 7">
              <a:extLst>
                <a:ext uri="{FF2B5EF4-FFF2-40B4-BE49-F238E27FC236}">
                  <a16:creationId xmlns:a16="http://schemas.microsoft.com/office/drawing/2014/main" id="{F8B23932-54C7-40C5-841E-FC0E4EC07960}"/>
                </a:ext>
              </a:extLst>
            </p:cNvPr>
            <p:cNvSpPr txBox="1">
              <a:spLocks noChangeArrowheads="1"/>
            </p:cNvSpPr>
            <p:nvPr/>
          </p:nvSpPr>
          <p:spPr bwMode="auto">
            <a:xfrm>
              <a:off x="3072" y="1776"/>
              <a:ext cx="223" cy="288"/>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c</a:t>
              </a:r>
            </a:p>
          </p:txBody>
        </p:sp>
        <p:sp>
          <p:nvSpPr>
            <p:cNvPr id="2430984" name="Text Box 8">
              <a:extLst>
                <a:ext uri="{FF2B5EF4-FFF2-40B4-BE49-F238E27FC236}">
                  <a16:creationId xmlns:a16="http://schemas.microsoft.com/office/drawing/2014/main" id="{C009211B-7C00-49F1-8C15-E0BB91AA00E0}"/>
                </a:ext>
              </a:extLst>
            </p:cNvPr>
            <p:cNvSpPr txBox="1">
              <a:spLocks noChangeArrowheads="1"/>
            </p:cNvSpPr>
            <p:nvPr/>
          </p:nvSpPr>
          <p:spPr bwMode="auto">
            <a:xfrm>
              <a:off x="3120" y="2736"/>
              <a:ext cx="201"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e</a:t>
              </a:r>
            </a:p>
          </p:txBody>
        </p:sp>
        <p:grpSp>
          <p:nvGrpSpPr>
            <p:cNvPr id="48208" name="Group 9">
              <a:extLst>
                <a:ext uri="{FF2B5EF4-FFF2-40B4-BE49-F238E27FC236}">
                  <a16:creationId xmlns:a16="http://schemas.microsoft.com/office/drawing/2014/main" id="{E0CB0CAD-2E10-4D69-A175-71CF44E9E693}"/>
                </a:ext>
              </a:extLst>
            </p:cNvPr>
            <p:cNvGrpSpPr>
              <a:grpSpLocks/>
            </p:cNvGrpSpPr>
            <p:nvPr/>
          </p:nvGrpSpPr>
          <p:grpSpPr bwMode="auto">
            <a:xfrm>
              <a:off x="1392" y="1536"/>
              <a:ext cx="2112" cy="2112"/>
              <a:chOff x="1200" y="1488"/>
              <a:chExt cx="2112" cy="2112"/>
            </a:xfrm>
          </p:grpSpPr>
          <p:sp>
            <p:nvSpPr>
              <p:cNvPr id="48209" name="AutoShape 10">
                <a:extLst>
                  <a:ext uri="{FF2B5EF4-FFF2-40B4-BE49-F238E27FC236}">
                    <a16:creationId xmlns:a16="http://schemas.microsoft.com/office/drawing/2014/main" id="{D731AF94-88DE-4AC4-B6E4-2E6910CFE9D2}"/>
                  </a:ext>
                </a:extLst>
              </p:cNvPr>
              <p:cNvSpPr>
                <a:spLocks noChangeArrowheads="1"/>
              </p:cNvSpPr>
              <p:nvPr/>
            </p:nvSpPr>
            <p:spPr bwMode="auto">
              <a:xfrm>
                <a:off x="1296" y="1680"/>
                <a:ext cx="1440" cy="288"/>
              </a:xfrm>
              <a:prstGeom prst="flowChartDecision">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(A&gt;1) ^ (B=0)</a:t>
                </a:r>
              </a:p>
            </p:txBody>
          </p:sp>
          <p:sp>
            <p:nvSpPr>
              <p:cNvPr id="48210" name="Line 11">
                <a:extLst>
                  <a:ext uri="{FF2B5EF4-FFF2-40B4-BE49-F238E27FC236}">
                    <a16:creationId xmlns:a16="http://schemas.microsoft.com/office/drawing/2014/main" id="{6F36B611-D36C-44D1-8707-094AB89A81AD}"/>
                  </a:ext>
                </a:extLst>
              </p:cNvPr>
              <p:cNvSpPr>
                <a:spLocks noChangeShapeType="1"/>
              </p:cNvSpPr>
              <p:nvPr/>
            </p:nvSpPr>
            <p:spPr bwMode="auto">
              <a:xfrm>
                <a:off x="1200" y="1824"/>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11" name="Line 12">
                <a:extLst>
                  <a:ext uri="{FF2B5EF4-FFF2-40B4-BE49-F238E27FC236}">
                    <a16:creationId xmlns:a16="http://schemas.microsoft.com/office/drawing/2014/main" id="{B30DA03C-63EF-41FA-990E-D0C13DD15FE7}"/>
                  </a:ext>
                </a:extLst>
              </p:cNvPr>
              <p:cNvSpPr>
                <a:spLocks noChangeShapeType="1"/>
              </p:cNvSpPr>
              <p:nvPr/>
            </p:nvSpPr>
            <p:spPr bwMode="auto">
              <a:xfrm>
                <a:off x="2880" y="182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212" name="Rectangle 13">
                <a:extLst>
                  <a:ext uri="{FF2B5EF4-FFF2-40B4-BE49-F238E27FC236}">
                    <a16:creationId xmlns:a16="http://schemas.microsoft.com/office/drawing/2014/main" id="{CB7E7B57-B2CE-45C7-8FE7-3082462A8E0C}"/>
                  </a:ext>
                </a:extLst>
              </p:cNvPr>
              <p:cNvSpPr>
                <a:spLocks noChangeArrowheads="1"/>
              </p:cNvSpPr>
              <p:nvPr/>
            </p:nvSpPr>
            <p:spPr bwMode="auto">
              <a:xfrm>
                <a:off x="2496" y="2016"/>
                <a:ext cx="768" cy="288"/>
              </a:xfrm>
              <a:prstGeom prst="rect">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X=X/A</a:t>
                </a:r>
              </a:p>
            </p:txBody>
          </p:sp>
          <p:sp>
            <p:nvSpPr>
              <p:cNvPr id="48213" name="Line 14">
                <a:extLst>
                  <a:ext uri="{FF2B5EF4-FFF2-40B4-BE49-F238E27FC236}">
                    <a16:creationId xmlns:a16="http://schemas.microsoft.com/office/drawing/2014/main" id="{8AC3C9DB-1C2B-403D-9426-EC9E4C4DF9CB}"/>
                  </a:ext>
                </a:extLst>
              </p:cNvPr>
              <p:cNvSpPr>
                <a:spLocks noChangeShapeType="1"/>
              </p:cNvSpPr>
              <p:nvPr/>
            </p:nvSpPr>
            <p:spPr bwMode="auto">
              <a:xfrm>
                <a:off x="1200" y="1824"/>
                <a:ext cx="0" cy="672"/>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14" name="Line 15">
                <a:extLst>
                  <a:ext uri="{FF2B5EF4-FFF2-40B4-BE49-F238E27FC236}">
                    <a16:creationId xmlns:a16="http://schemas.microsoft.com/office/drawing/2014/main" id="{75DE1CFC-B5B2-438D-8DB3-0A9DAB83D2AF}"/>
                  </a:ext>
                </a:extLst>
              </p:cNvPr>
              <p:cNvSpPr>
                <a:spLocks noChangeShapeType="1"/>
              </p:cNvSpPr>
              <p:nvPr/>
            </p:nvSpPr>
            <p:spPr bwMode="auto">
              <a:xfrm>
                <a:off x="1200" y="2496"/>
                <a:ext cx="1680"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15" name="Line 16">
                <a:extLst>
                  <a:ext uri="{FF2B5EF4-FFF2-40B4-BE49-F238E27FC236}">
                    <a16:creationId xmlns:a16="http://schemas.microsoft.com/office/drawing/2014/main" id="{9F44A11C-385E-4C84-BAB7-CC5E827C2576}"/>
                  </a:ext>
                </a:extLst>
              </p:cNvPr>
              <p:cNvSpPr>
                <a:spLocks noChangeShapeType="1"/>
              </p:cNvSpPr>
              <p:nvPr/>
            </p:nvSpPr>
            <p:spPr bwMode="auto">
              <a:xfrm>
                <a:off x="2016" y="2496"/>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216" name="Line 17">
                <a:extLst>
                  <a:ext uri="{FF2B5EF4-FFF2-40B4-BE49-F238E27FC236}">
                    <a16:creationId xmlns:a16="http://schemas.microsoft.com/office/drawing/2014/main" id="{09A4BF35-49EF-4262-B1F3-8FC6977654E4}"/>
                  </a:ext>
                </a:extLst>
              </p:cNvPr>
              <p:cNvSpPr>
                <a:spLocks noChangeShapeType="1"/>
              </p:cNvSpPr>
              <p:nvPr/>
            </p:nvSpPr>
            <p:spPr bwMode="auto">
              <a:xfrm>
                <a:off x="2016" y="1488"/>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217" name="Text Box 18">
                <a:extLst>
                  <a:ext uri="{FF2B5EF4-FFF2-40B4-BE49-F238E27FC236}">
                    <a16:creationId xmlns:a16="http://schemas.microsoft.com/office/drawing/2014/main" id="{CCE95035-B6B2-4C5B-96EE-56E99D95A98E}"/>
                  </a:ext>
                </a:extLst>
              </p:cNvPr>
              <p:cNvSpPr txBox="1">
                <a:spLocks noChangeArrowheads="1"/>
              </p:cNvSpPr>
              <p:nvPr/>
            </p:nvSpPr>
            <p:spPr bwMode="auto">
              <a:xfrm>
                <a:off x="2736" y="1632"/>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T</a:t>
                </a:r>
              </a:p>
            </p:txBody>
          </p:sp>
          <p:sp>
            <p:nvSpPr>
              <p:cNvPr id="48218" name="Text Box 19">
                <a:extLst>
                  <a:ext uri="{FF2B5EF4-FFF2-40B4-BE49-F238E27FC236}">
                    <a16:creationId xmlns:a16="http://schemas.microsoft.com/office/drawing/2014/main" id="{F827894D-2EAF-4C4D-8ED9-FF1BF5A20FF7}"/>
                  </a:ext>
                </a:extLst>
              </p:cNvPr>
              <p:cNvSpPr txBox="1">
                <a:spLocks noChangeArrowheads="1"/>
              </p:cNvSpPr>
              <p:nvPr/>
            </p:nvSpPr>
            <p:spPr bwMode="auto">
              <a:xfrm>
                <a:off x="1200" y="1632"/>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F</a:t>
                </a:r>
              </a:p>
            </p:txBody>
          </p:sp>
          <p:sp>
            <p:nvSpPr>
              <p:cNvPr id="48219" name="Line 20">
                <a:extLst>
                  <a:ext uri="{FF2B5EF4-FFF2-40B4-BE49-F238E27FC236}">
                    <a16:creationId xmlns:a16="http://schemas.microsoft.com/office/drawing/2014/main" id="{1EC9FE98-E86B-4104-A90B-6905880AE839}"/>
                  </a:ext>
                </a:extLst>
              </p:cNvPr>
              <p:cNvSpPr>
                <a:spLocks noChangeShapeType="1"/>
              </p:cNvSpPr>
              <p:nvPr/>
            </p:nvSpPr>
            <p:spPr bwMode="auto">
              <a:xfrm>
                <a:off x="2736" y="1824"/>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20" name="Line 21">
                <a:extLst>
                  <a:ext uri="{FF2B5EF4-FFF2-40B4-BE49-F238E27FC236}">
                    <a16:creationId xmlns:a16="http://schemas.microsoft.com/office/drawing/2014/main" id="{64320FB0-291F-4554-9EB8-0C8A35A8DB2D}"/>
                  </a:ext>
                </a:extLst>
              </p:cNvPr>
              <p:cNvSpPr>
                <a:spLocks noChangeShapeType="1"/>
              </p:cNvSpPr>
              <p:nvPr/>
            </p:nvSpPr>
            <p:spPr bwMode="auto">
              <a:xfrm>
                <a:off x="2880" y="230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221" name="AutoShape 22">
                <a:extLst>
                  <a:ext uri="{FF2B5EF4-FFF2-40B4-BE49-F238E27FC236}">
                    <a16:creationId xmlns:a16="http://schemas.microsoft.com/office/drawing/2014/main" id="{45B66D92-8F83-4EBC-BF78-5EB3DFCB08E1}"/>
                  </a:ext>
                </a:extLst>
              </p:cNvPr>
              <p:cNvSpPr>
                <a:spLocks noChangeArrowheads="1"/>
              </p:cNvSpPr>
              <p:nvPr/>
            </p:nvSpPr>
            <p:spPr bwMode="auto">
              <a:xfrm>
                <a:off x="1344" y="2640"/>
                <a:ext cx="1344" cy="288"/>
              </a:xfrm>
              <a:prstGeom prst="flowChartDecision">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(A=2) V (X&gt;1)</a:t>
                </a:r>
              </a:p>
            </p:txBody>
          </p:sp>
          <p:sp>
            <p:nvSpPr>
              <p:cNvPr id="48222" name="Rectangle 23">
                <a:extLst>
                  <a:ext uri="{FF2B5EF4-FFF2-40B4-BE49-F238E27FC236}">
                    <a16:creationId xmlns:a16="http://schemas.microsoft.com/office/drawing/2014/main" id="{DC48C71C-C8AF-4A27-8890-AE4D9058ADDB}"/>
                  </a:ext>
                </a:extLst>
              </p:cNvPr>
              <p:cNvSpPr>
                <a:spLocks noChangeArrowheads="1"/>
              </p:cNvSpPr>
              <p:nvPr/>
            </p:nvSpPr>
            <p:spPr bwMode="auto">
              <a:xfrm>
                <a:off x="2544" y="2976"/>
                <a:ext cx="768" cy="288"/>
              </a:xfrm>
              <a:prstGeom prst="rect">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X=X+1</a:t>
                </a:r>
              </a:p>
            </p:txBody>
          </p:sp>
          <p:sp>
            <p:nvSpPr>
              <p:cNvPr id="48223" name="Text Box 24">
                <a:extLst>
                  <a:ext uri="{FF2B5EF4-FFF2-40B4-BE49-F238E27FC236}">
                    <a16:creationId xmlns:a16="http://schemas.microsoft.com/office/drawing/2014/main" id="{AA093104-7AD4-4B98-BB24-51EE1A22DD86}"/>
                  </a:ext>
                </a:extLst>
              </p:cNvPr>
              <p:cNvSpPr txBox="1">
                <a:spLocks noChangeArrowheads="1"/>
              </p:cNvSpPr>
              <p:nvPr/>
            </p:nvSpPr>
            <p:spPr bwMode="auto">
              <a:xfrm>
                <a:off x="2640" y="2592"/>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T</a:t>
                </a:r>
              </a:p>
            </p:txBody>
          </p:sp>
          <p:sp>
            <p:nvSpPr>
              <p:cNvPr id="48224" name="Line 25">
                <a:extLst>
                  <a:ext uri="{FF2B5EF4-FFF2-40B4-BE49-F238E27FC236}">
                    <a16:creationId xmlns:a16="http://schemas.microsoft.com/office/drawing/2014/main" id="{82A02AD8-4DF8-4448-A3E8-2507D40099AB}"/>
                  </a:ext>
                </a:extLst>
              </p:cNvPr>
              <p:cNvSpPr>
                <a:spLocks noChangeShapeType="1"/>
              </p:cNvSpPr>
              <p:nvPr/>
            </p:nvSpPr>
            <p:spPr bwMode="auto">
              <a:xfrm>
                <a:off x="1200" y="2784"/>
                <a:ext cx="0" cy="624"/>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25" name="Line 26">
                <a:extLst>
                  <a:ext uri="{FF2B5EF4-FFF2-40B4-BE49-F238E27FC236}">
                    <a16:creationId xmlns:a16="http://schemas.microsoft.com/office/drawing/2014/main" id="{CF85D5F9-38DB-4111-AC78-A2AB6B736CA3}"/>
                  </a:ext>
                </a:extLst>
              </p:cNvPr>
              <p:cNvSpPr>
                <a:spLocks noChangeShapeType="1"/>
              </p:cNvSpPr>
              <p:nvPr/>
            </p:nvSpPr>
            <p:spPr bwMode="auto">
              <a:xfrm>
                <a:off x="1200" y="3408"/>
                <a:ext cx="1680"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26" name="Text Box 27">
                <a:extLst>
                  <a:ext uri="{FF2B5EF4-FFF2-40B4-BE49-F238E27FC236}">
                    <a16:creationId xmlns:a16="http://schemas.microsoft.com/office/drawing/2014/main" id="{FDDDAC8D-A45A-42E0-A683-DAA799321EBE}"/>
                  </a:ext>
                </a:extLst>
              </p:cNvPr>
              <p:cNvSpPr txBox="1">
                <a:spLocks noChangeArrowheads="1"/>
              </p:cNvSpPr>
              <p:nvPr/>
            </p:nvSpPr>
            <p:spPr bwMode="auto">
              <a:xfrm>
                <a:off x="1200" y="2544"/>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F</a:t>
                </a:r>
              </a:p>
            </p:txBody>
          </p:sp>
          <p:sp>
            <p:nvSpPr>
              <p:cNvPr id="48227" name="Line 28">
                <a:extLst>
                  <a:ext uri="{FF2B5EF4-FFF2-40B4-BE49-F238E27FC236}">
                    <a16:creationId xmlns:a16="http://schemas.microsoft.com/office/drawing/2014/main" id="{1FA0E430-B5FD-46E0-A26A-9827B074EB6B}"/>
                  </a:ext>
                </a:extLst>
              </p:cNvPr>
              <p:cNvSpPr>
                <a:spLocks noChangeShapeType="1"/>
              </p:cNvSpPr>
              <p:nvPr/>
            </p:nvSpPr>
            <p:spPr bwMode="auto">
              <a:xfrm>
                <a:off x="2688" y="2784"/>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28" name="Line 29">
                <a:extLst>
                  <a:ext uri="{FF2B5EF4-FFF2-40B4-BE49-F238E27FC236}">
                    <a16:creationId xmlns:a16="http://schemas.microsoft.com/office/drawing/2014/main" id="{7B07BD01-40AA-4A60-BB66-E4DCE98510BC}"/>
                  </a:ext>
                </a:extLst>
              </p:cNvPr>
              <p:cNvSpPr>
                <a:spLocks noChangeShapeType="1"/>
              </p:cNvSpPr>
              <p:nvPr/>
            </p:nvSpPr>
            <p:spPr bwMode="auto">
              <a:xfrm>
                <a:off x="2880" y="278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229" name="Line 30">
                <a:extLst>
                  <a:ext uri="{FF2B5EF4-FFF2-40B4-BE49-F238E27FC236}">
                    <a16:creationId xmlns:a16="http://schemas.microsoft.com/office/drawing/2014/main" id="{FBACE7E8-89F3-4DA0-8AA5-6860BE69118F}"/>
                  </a:ext>
                </a:extLst>
              </p:cNvPr>
              <p:cNvSpPr>
                <a:spLocks noChangeShapeType="1"/>
              </p:cNvSpPr>
              <p:nvPr/>
            </p:nvSpPr>
            <p:spPr bwMode="auto">
              <a:xfrm>
                <a:off x="2880" y="3264"/>
                <a:ext cx="0" cy="144"/>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30" name="Line 31">
                <a:extLst>
                  <a:ext uri="{FF2B5EF4-FFF2-40B4-BE49-F238E27FC236}">
                    <a16:creationId xmlns:a16="http://schemas.microsoft.com/office/drawing/2014/main" id="{45F826F8-0FA5-42DC-B34F-B4ED36836388}"/>
                  </a:ext>
                </a:extLst>
              </p:cNvPr>
              <p:cNvSpPr>
                <a:spLocks noChangeShapeType="1"/>
              </p:cNvSpPr>
              <p:nvPr/>
            </p:nvSpPr>
            <p:spPr bwMode="auto">
              <a:xfrm>
                <a:off x="2064" y="3408"/>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231" name="Line 32">
                <a:extLst>
                  <a:ext uri="{FF2B5EF4-FFF2-40B4-BE49-F238E27FC236}">
                    <a16:creationId xmlns:a16="http://schemas.microsoft.com/office/drawing/2014/main" id="{14E60E5D-4A1E-4458-8935-3D1420FC8028}"/>
                  </a:ext>
                </a:extLst>
              </p:cNvPr>
              <p:cNvSpPr>
                <a:spLocks noChangeShapeType="1"/>
              </p:cNvSpPr>
              <p:nvPr/>
            </p:nvSpPr>
            <p:spPr bwMode="auto">
              <a:xfrm>
                <a:off x="1200" y="2784"/>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aphicFrame>
        <p:nvGraphicFramePr>
          <p:cNvPr id="2431009" name="Group 33">
            <a:extLst>
              <a:ext uri="{FF2B5EF4-FFF2-40B4-BE49-F238E27FC236}">
                <a16:creationId xmlns:a16="http://schemas.microsoft.com/office/drawing/2014/main" id="{5C0312AB-A18A-4C94-834C-805A975F7943}"/>
              </a:ext>
            </a:extLst>
          </p:cNvPr>
          <p:cNvGraphicFramePr>
            <a:graphicFrameLocks noGrp="1"/>
          </p:cNvGraphicFramePr>
          <p:nvPr/>
        </p:nvGraphicFramePr>
        <p:xfrm>
          <a:off x="6934200" y="990600"/>
          <a:ext cx="3276600" cy="1752600"/>
        </p:xfrm>
        <a:graphic>
          <a:graphicData uri="http://schemas.openxmlformats.org/drawingml/2006/table">
            <a:tbl>
              <a:tblPr/>
              <a:tblGrid>
                <a:gridCol w="711200">
                  <a:extLst>
                    <a:ext uri="{9D8B030D-6E8A-4147-A177-3AD203B41FA5}">
                      <a16:colId xmlns:a16="http://schemas.microsoft.com/office/drawing/2014/main" val="20000"/>
                    </a:ext>
                  </a:extLst>
                </a:gridCol>
                <a:gridCol w="896938">
                  <a:extLst>
                    <a:ext uri="{9D8B030D-6E8A-4147-A177-3AD203B41FA5}">
                      <a16:colId xmlns:a16="http://schemas.microsoft.com/office/drawing/2014/main" val="20001"/>
                    </a:ext>
                  </a:extLst>
                </a:gridCol>
                <a:gridCol w="865187">
                  <a:extLst>
                    <a:ext uri="{9D8B030D-6E8A-4147-A177-3AD203B41FA5}">
                      <a16:colId xmlns:a16="http://schemas.microsoft.com/office/drawing/2014/main" val="20002"/>
                    </a:ext>
                  </a:extLst>
                </a:gridCol>
                <a:gridCol w="803275">
                  <a:extLst>
                    <a:ext uri="{9D8B030D-6E8A-4147-A177-3AD203B41FA5}">
                      <a16:colId xmlns:a16="http://schemas.microsoft.com/office/drawing/2014/main" val="20003"/>
                    </a:ext>
                  </a:extLst>
                </a:gridCol>
              </a:tblGrid>
              <a:tr h="3397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判断</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条件</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取真值</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取假值</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38138">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判断</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(一)</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A&gt;1</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T1</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T1</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972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B=0</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T2</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T2</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39725">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判断</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(二)</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A=2</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T3</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T3</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95288">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X&gt;1</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T4</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T4</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48163" name="Rectangle 63">
            <a:extLst>
              <a:ext uri="{FF2B5EF4-FFF2-40B4-BE49-F238E27FC236}">
                <a16:creationId xmlns:a16="http://schemas.microsoft.com/office/drawing/2014/main" id="{53DF6CA7-72FF-46C8-A1D9-3518BE2385C3}"/>
              </a:ext>
            </a:extLst>
          </p:cNvPr>
          <p:cNvSpPr>
            <a:spLocks noChangeArrowheads="1"/>
          </p:cNvSpPr>
          <p:nvPr/>
        </p:nvSpPr>
        <p:spPr bwMode="auto">
          <a:xfrm>
            <a:off x="7162800" y="533400"/>
            <a:ext cx="28194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600">
                <a:solidFill>
                  <a:srgbClr val="1AA1A4"/>
                </a:solidFill>
                <a:latin typeface="Times New Roman" panose="02020603050405020304" pitchFamily="18" charset="0"/>
                <a:ea typeface="黑体" panose="02010609060101010101" pitchFamily="49" charset="-122"/>
              </a:rPr>
              <a:t>设条件的取值标记</a:t>
            </a:r>
            <a:endParaRPr lang="en-US" altLang="zh-CN" sz="1600">
              <a:solidFill>
                <a:srgbClr val="1AA1A4"/>
              </a:solidFill>
              <a:latin typeface="Times New Roman" panose="02020603050405020304" pitchFamily="18" charset="0"/>
              <a:ea typeface="黑体" panose="02010609060101010101" pitchFamily="49" charset="-122"/>
            </a:endParaRPr>
          </a:p>
        </p:txBody>
      </p:sp>
      <p:sp>
        <p:nvSpPr>
          <p:cNvPr id="48164" name="Line 64">
            <a:extLst>
              <a:ext uri="{FF2B5EF4-FFF2-40B4-BE49-F238E27FC236}">
                <a16:creationId xmlns:a16="http://schemas.microsoft.com/office/drawing/2014/main" id="{7A2210D7-F906-461E-9DC3-ED5B0B094EF4}"/>
              </a:ext>
            </a:extLst>
          </p:cNvPr>
          <p:cNvSpPr>
            <a:spLocks noChangeShapeType="1"/>
          </p:cNvSpPr>
          <p:nvPr/>
        </p:nvSpPr>
        <p:spPr bwMode="auto">
          <a:xfrm>
            <a:off x="9677400" y="13716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5" name="Line 65">
            <a:extLst>
              <a:ext uri="{FF2B5EF4-FFF2-40B4-BE49-F238E27FC236}">
                <a16:creationId xmlns:a16="http://schemas.microsoft.com/office/drawing/2014/main" id="{02DE988D-C59C-4D2C-B618-6722FFA1E2B8}"/>
              </a:ext>
            </a:extLst>
          </p:cNvPr>
          <p:cNvSpPr>
            <a:spLocks noChangeShapeType="1"/>
          </p:cNvSpPr>
          <p:nvPr/>
        </p:nvSpPr>
        <p:spPr bwMode="auto">
          <a:xfrm>
            <a:off x="9677400" y="17526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6" name="Line 66">
            <a:extLst>
              <a:ext uri="{FF2B5EF4-FFF2-40B4-BE49-F238E27FC236}">
                <a16:creationId xmlns:a16="http://schemas.microsoft.com/office/drawing/2014/main" id="{02923E73-C1C5-48E1-B52F-07EC9CE925A0}"/>
              </a:ext>
            </a:extLst>
          </p:cNvPr>
          <p:cNvSpPr>
            <a:spLocks noChangeShapeType="1"/>
          </p:cNvSpPr>
          <p:nvPr/>
        </p:nvSpPr>
        <p:spPr bwMode="auto">
          <a:xfrm>
            <a:off x="9677400" y="20574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67" name="Line 67">
            <a:extLst>
              <a:ext uri="{FF2B5EF4-FFF2-40B4-BE49-F238E27FC236}">
                <a16:creationId xmlns:a16="http://schemas.microsoft.com/office/drawing/2014/main" id="{72327B5F-E5A4-4654-9771-4E9465201359}"/>
              </a:ext>
            </a:extLst>
          </p:cNvPr>
          <p:cNvSpPr>
            <a:spLocks noChangeShapeType="1"/>
          </p:cNvSpPr>
          <p:nvPr/>
        </p:nvSpPr>
        <p:spPr bwMode="auto">
          <a:xfrm>
            <a:off x="9677400" y="24384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31044" name="Rectangle 68">
            <a:extLst>
              <a:ext uri="{FF2B5EF4-FFF2-40B4-BE49-F238E27FC236}">
                <a16:creationId xmlns:a16="http://schemas.microsoft.com/office/drawing/2014/main" id="{26EEB20E-4104-4DC2-8151-6ECF063DF8CA}"/>
              </a:ext>
            </a:extLst>
          </p:cNvPr>
          <p:cNvSpPr>
            <a:spLocks noChangeArrowheads="1"/>
          </p:cNvSpPr>
          <p:nvPr/>
        </p:nvSpPr>
        <p:spPr bwMode="auto">
          <a:xfrm>
            <a:off x="4114800" y="4267200"/>
            <a:ext cx="487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solidFill>
                  <a:srgbClr val="16369C"/>
                </a:solidFill>
                <a:latin typeface="黑体" panose="02010609060101010101" pitchFamily="49" charset="-122"/>
                <a:ea typeface="黑体" panose="02010609060101010101" pitchFamily="49" charset="-122"/>
              </a:rPr>
              <a:t>   </a:t>
            </a:r>
            <a:r>
              <a:rPr lang="zh-CN" altLang="en-US" sz="1800">
                <a:solidFill>
                  <a:srgbClr val="16369C"/>
                </a:solidFill>
                <a:latin typeface="黑体" panose="02010609060101010101" pitchFamily="49" charset="-122"/>
                <a:ea typeface="黑体" panose="02010609060101010101" pitchFamily="49" charset="-122"/>
              </a:rPr>
              <a:t>判定</a:t>
            </a:r>
            <a:r>
              <a:rPr lang="zh-CN" altLang="en-US" sz="1800" b="1">
                <a:solidFill>
                  <a:srgbClr val="16369C"/>
                </a:solidFill>
                <a:latin typeface="黑体" panose="02010609060101010101" pitchFamily="49" charset="-122"/>
                <a:ea typeface="黑体" panose="02010609060101010101" pitchFamily="49" charset="-122"/>
              </a:rPr>
              <a:t>/</a:t>
            </a:r>
            <a:r>
              <a:rPr lang="zh-CN" altLang="en-US" sz="1800">
                <a:solidFill>
                  <a:srgbClr val="16369C"/>
                </a:solidFill>
                <a:latin typeface="黑体" panose="02010609060101010101" pitchFamily="49" charset="-122"/>
                <a:ea typeface="黑体" panose="02010609060101010101" pitchFamily="49" charset="-122"/>
              </a:rPr>
              <a:t>条件覆盖可选取的 </a:t>
            </a:r>
            <a:r>
              <a:rPr lang="zh-CN" altLang="en-US" sz="1800">
                <a:solidFill>
                  <a:schemeClr val="accent2"/>
                </a:solidFill>
                <a:latin typeface="黑体" panose="02010609060101010101" pitchFamily="49" charset="-122"/>
                <a:ea typeface="黑体" panose="02010609060101010101" pitchFamily="49" charset="-122"/>
              </a:rPr>
              <a:t>测试用例</a:t>
            </a:r>
            <a:r>
              <a:rPr lang="zh-CN" altLang="en-US" sz="1800">
                <a:solidFill>
                  <a:srgbClr val="345BC8"/>
                </a:solidFill>
                <a:latin typeface="黑体" panose="02010609060101010101" pitchFamily="49" charset="-122"/>
                <a:ea typeface="黑体" panose="02010609060101010101" pitchFamily="49" charset="-122"/>
              </a:rPr>
              <a:t> </a:t>
            </a:r>
            <a:r>
              <a:rPr lang="zh-CN" altLang="en-US" sz="1800">
                <a:solidFill>
                  <a:srgbClr val="16369C"/>
                </a:solidFill>
                <a:latin typeface="黑体" panose="02010609060101010101" pitchFamily="49" charset="-122"/>
                <a:ea typeface="黑体" panose="02010609060101010101" pitchFamily="49" charset="-122"/>
              </a:rPr>
              <a:t>如下表 </a:t>
            </a:r>
          </a:p>
        </p:txBody>
      </p:sp>
      <p:graphicFrame>
        <p:nvGraphicFramePr>
          <p:cNvPr id="2431045" name="Group 69">
            <a:extLst>
              <a:ext uri="{FF2B5EF4-FFF2-40B4-BE49-F238E27FC236}">
                <a16:creationId xmlns:a16="http://schemas.microsoft.com/office/drawing/2014/main" id="{29D9FF54-C5C1-4740-BCAA-94CD8C4B5414}"/>
              </a:ext>
            </a:extLst>
          </p:cNvPr>
          <p:cNvGraphicFramePr>
            <a:graphicFrameLocks noGrp="1"/>
          </p:cNvGraphicFramePr>
          <p:nvPr/>
        </p:nvGraphicFramePr>
        <p:xfrm>
          <a:off x="3733800" y="4724400"/>
          <a:ext cx="5867400" cy="1417638"/>
        </p:xfrm>
        <a:graphic>
          <a:graphicData uri="http://schemas.openxmlformats.org/drawingml/2006/table">
            <a:tbl>
              <a:tblPr/>
              <a:tblGrid>
                <a:gridCol w="1651000">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tblGrid>
              <a:tr h="52387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16369C"/>
                          </a:solidFill>
                          <a:effectLst/>
                          <a:latin typeface="Times New Roman" charset="0"/>
                          <a:ea typeface="黑体" pitchFamily="2" charset="-122"/>
                        </a:rPr>
                        <a:t>测试用例</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16369C"/>
                          </a:solidFill>
                          <a:effectLst/>
                          <a:latin typeface="Times New Roman" charset="0"/>
                          <a:ea typeface="黑体" pitchFamily="2" charset="-122"/>
                        </a:rPr>
                        <a:t>通过路径</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16369C"/>
                          </a:solidFill>
                          <a:effectLst/>
                          <a:latin typeface="Times New Roman" charset="0"/>
                          <a:ea typeface="黑体" pitchFamily="2" charset="-122"/>
                        </a:rPr>
                        <a:t>条件取值</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16369C"/>
                          </a:solidFill>
                          <a:effectLst/>
                          <a:latin typeface="Times New Roman" charset="0"/>
                          <a:ea typeface="黑体" pitchFamily="2" charset="-122"/>
                        </a:rPr>
                        <a:t>覆盖分支</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767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2000" b="1" i="0" u="none" strike="noStrike" cap="none" normalizeH="0" baseline="0">
                          <a:ln>
                            <a:noFill/>
                          </a:ln>
                          <a:solidFill>
                            <a:schemeClr val="accent2"/>
                          </a:solidFill>
                          <a:effectLst>
                            <a:outerShdw blurRad="38100" dist="38100" dir="2700000" algn="tl">
                              <a:srgbClr val="000000"/>
                            </a:outerShdw>
                          </a:effectLst>
                          <a:latin typeface="Times New Roman"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0" i="0" u="none" strike="noStrike" cap="none" normalizeH="0" baseline="0">
                          <a:ln>
                            <a:noFill/>
                          </a:ln>
                          <a:solidFill>
                            <a:srgbClr val="124905"/>
                          </a:solidFill>
                          <a:effectLst/>
                          <a:latin typeface="Times New Roman"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0" i="0" u="none" strike="noStrike" cap="none" normalizeH="0" baseline="0">
                          <a:ln>
                            <a:noFill/>
                          </a:ln>
                          <a:solidFill>
                            <a:srgbClr val="124905"/>
                          </a:solidFill>
                          <a:effectLst/>
                          <a:latin typeface="Times New Roman"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0" i="0" u="none" strike="noStrike" cap="none" normalizeH="0" baseline="0">
                          <a:ln>
                            <a:noFill/>
                          </a:ln>
                          <a:solidFill>
                            <a:srgbClr val="D35FC2"/>
                          </a:solidFill>
                          <a:effectLst>
                            <a:outerShdw blurRad="38100" dist="38100" dir="2700000" algn="tl">
                              <a:srgbClr val="000000"/>
                            </a:outerShdw>
                          </a:effectLst>
                          <a:latin typeface="Arial"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608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2000" b="1" i="0" u="none" strike="noStrike" cap="none" normalizeH="0" baseline="0">
                          <a:ln>
                            <a:noFill/>
                          </a:ln>
                          <a:solidFill>
                            <a:schemeClr val="accent2"/>
                          </a:solidFill>
                          <a:effectLst>
                            <a:outerShdw blurRad="38100" dist="38100" dir="2700000" algn="tl">
                              <a:srgbClr val="000000"/>
                            </a:outerShdw>
                          </a:effectLst>
                          <a:latin typeface="Times New Roman"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0" i="0" u="none" strike="noStrike" cap="none" normalizeH="0" baseline="0">
                          <a:ln>
                            <a:noFill/>
                          </a:ln>
                          <a:solidFill>
                            <a:srgbClr val="124905"/>
                          </a:solidFill>
                          <a:effectLst/>
                          <a:latin typeface="Times New Roman"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0" i="0" u="none" strike="noStrike" cap="none" normalizeH="0" baseline="0">
                          <a:ln>
                            <a:noFill/>
                          </a:ln>
                          <a:solidFill>
                            <a:srgbClr val="124905"/>
                          </a:solidFill>
                          <a:effectLst/>
                          <a:latin typeface="Times New Roman"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0" i="0" u="none" strike="noStrike" cap="none" normalizeH="0" baseline="0">
                          <a:ln>
                            <a:noFill/>
                          </a:ln>
                          <a:solidFill>
                            <a:srgbClr val="D35FC2"/>
                          </a:solidFill>
                          <a:effectLst>
                            <a:outerShdw blurRad="38100" dist="38100" dir="2700000" algn="tl">
                              <a:srgbClr val="000000"/>
                            </a:outerShdw>
                          </a:effectLst>
                          <a:latin typeface="Arial" charset="0"/>
                          <a:ea typeface="文鼎细圆" pitchFamily="49" charset="-122"/>
                        </a:rPr>
                        <a:t> </a:t>
                      </a:r>
                    </a:p>
                  </a:txBody>
                  <a:tcPr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431067" name="Rectangle 91">
            <a:extLst>
              <a:ext uri="{FF2B5EF4-FFF2-40B4-BE49-F238E27FC236}">
                <a16:creationId xmlns:a16="http://schemas.microsoft.com/office/drawing/2014/main" id="{8139CF4B-7258-4C27-8AE0-C8CA2953E07A}"/>
              </a:ext>
            </a:extLst>
          </p:cNvPr>
          <p:cNvSpPr>
            <a:spLocks noChangeArrowheads="1"/>
          </p:cNvSpPr>
          <p:nvPr/>
        </p:nvSpPr>
        <p:spPr bwMode="auto">
          <a:xfrm>
            <a:off x="3733800" y="5257800"/>
            <a:ext cx="1676400" cy="457200"/>
          </a:xfrm>
          <a:prstGeom prst="rect">
            <a:avLst/>
          </a:prstGeom>
          <a:noFill/>
          <a:ln w="38100" cmpd="dbl">
            <a:noFill/>
            <a:miter lim="800000"/>
            <a:headEnd/>
            <a:tailEnd/>
          </a:ln>
          <a:effectLst/>
        </p:spPr>
        <p:txBody>
          <a:bodyPr wrap="none" anchor="ctr"/>
          <a:lstStyle/>
          <a:p>
            <a:pPr>
              <a:defRPr/>
            </a:pPr>
            <a:r>
              <a:rPr kumimoji="1" lang="zh-CN" altLang="en-US" sz="2000" b="1">
                <a:solidFill>
                  <a:schemeClr val="accent2"/>
                </a:solidFill>
                <a:effectLst>
                  <a:outerShdw blurRad="38100" dist="38100" dir="2700000" algn="tl">
                    <a:srgbClr val="000000"/>
                  </a:outerShdw>
                </a:effectLst>
                <a:latin typeface="Times New Roman" charset="0"/>
                <a:ea typeface="文鼎细圆" pitchFamily="49" charset="-122"/>
              </a:rPr>
              <a:t>(2,0,4),(2,0,3)</a:t>
            </a:r>
          </a:p>
        </p:txBody>
      </p:sp>
      <p:sp>
        <p:nvSpPr>
          <p:cNvPr id="2431068" name="Rectangle 92">
            <a:extLst>
              <a:ext uri="{FF2B5EF4-FFF2-40B4-BE49-F238E27FC236}">
                <a16:creationId xmlns:a16="http://schemas.microsoft.com/office/drawing/2014/main" id="{23E3E47F-FCC9-4C38-A8BC-786888342E48}"/>
              </a:ext>
            </a:extLst>
          </p:cNvPr>
          <p:cNvSpPr>
            <a:spLocks noChangeArrowheads="1"/>
          </p:cNvSpPr>
          <p:nvPr/>
        </p:nvSpPr>
        <p:spPr bwMode="auto">
          <a:xfrm>
            <a:off x="5410200" y="5257800"/>
            <a:ext cx="1295400" cy="4572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sz="2000" b="1">
                <a:solidFill>
                  <a:srgbClr val="D35FC2"/>
                </a:solidFill>
                <a:effectLst>
                  <a:outerShdw blurRad="38100" dist="38100" dir="2700000" algn="tl">
                    <a:srgbClr val="000000"/>
                  </a:outerShdw>
                </a:effectLst>
                <a:latin typeface="Arial" charset="0"/>
                <a:ea typeface="文鼎细圆" pitchFamily="49" charset="-122"/>
              </a:rPr>
              <a:t>ace(L1)</a:t>
            </a:r>
          </a:p>
        </p:txBody>
      </p:sp>
      <p:sp>
        <p:nvSpPr>
          <p:cNvPr id="2431069" name="Rectangle 93">
            <a:extLst>
              <a:ext uri="{FF2B5EF4-FFF2-40B4-BE49-F238E27FC236}">
                <a16:creationId xmlns:a16="http://schemas.microsoft.com/office/drawing/2014/main" id="{ECFBB035-C286-4563-B171-E07D3785F4BA}"/>
              </a:ext>
            </a:extLst>
          </p:cNvPr>
          <p:cNvSpPr>
            <a:spLocks noChangeArrowheads="1"/>
          </p:cNvSpPr>
          <p:nvPr/>
        </p:nvSpPr>
        <p:spPr bwMode="auto">
          <a:xfrm>
            <a:off x="6858000" y="5791200"/>
            <a:ext cx="1447800" cy="3048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b="1">
                <a:solidFill>
                  <a:srgbClr val="EF8D2B"/>
                </a:solidFill>
                <a:effectLst>
                  <a:outerShdw blurRad="38100" dist="38100" dir="2700000" algn="tl">
                    <a:srgbClr val="000000"/>
                  </a:outerShdw>
                </a:effectLst>
                <a:latin typeface="Arial" charset="0"/>
                <a:ea typeface="文鼎细圆" pitchFamily="49" charset="-122"/>
              </a:rPr>
              <a:t>T1 T2 T3 T4</a:t>
            </a:r>
          </a:p>
        </p:txBody>
      </p:sp>
      <p:sp>
        <p:nvSpPr>
          <p:cNvPr id="2431070" name="Rectangle 94">
            <a:extLst>
              <a:ext uri="{FF2B5EF4-FFF2-40B4-BE49-F238E27FC236}">
                <a16:creationId xmlns:a16="http://schemas.microsoft.com/office/drawing/2014/main" id="{E801BC4B-71E1-4046-9B00-C8EA6314E2CF}"/>
              </a:ext>
            </a:extLst>
          </p:cNvPr>
          <p:cNvSpPr>
            <a:spLocks noChangeArrowheads="1"/>
          </p:cNvSpPr>
          <p:nvPr/>
        </p:nvSpPr>
        <p:spPr bwMode="auto">
          <a:xfrm>
            <a:off x="8763000" y="5257800"/>
            <a:ext cx="457200" cy="4572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sz="2000">
                <a:solidFill>
                  <a:srgbClr val="D35FC2"/>
                </a:solidFill>
                <a:effectLst>
                  <a:outerShdw blurRad="38100" dist="38100" dir="2700000" algn="tl">
                    <a:srgbClr val="000000"/>
                  </a:outerShdw>
                </a:effectLst>
                <a:latin typeface="Arial" charset="0"/>
                <a:ea typeface="文鼎细圆" pitchFamily="49" charset="-122"/>
              </a:rPr>
              <a:t>c,e</a:t>
            </a:r>
            <a:endParaRPr kumimoji="1" lang="en-US" altLang="zh-CN" b="1">
              <a:solidFill>
                <a:srgbClr val="EF8D2B"/>
              </a:solidFill>
              <a:effectLst>
                <a:outerShdw blurRad="38100" dist="38100" dir="2700000" algn="tl">
                  <a:srgbClr val="000000"/>
                </a:outerShdw>
              </a:effectLst>
              <a:latin typeface="Arial" charset="0"/>
              <a:ea typeface="文鼎细圆" pitchFamily="49" charset="-122"/>
            </a:endParaRPr>
          </a:p>
        </p:txBody>
      </p:sp>
      <p:sp>
        <p:nvSpPr>
          <p:cNvPr id="2431071" name="Rectangle 95">
            <a:extLst>
              <a:ext uri="{FF2B5EF4-FFF2-40B4-BE49-F238E27FC236}">
                <a16:creationId xmlns:a16="http://schemas.microsoft.com/office/drawing/2014/main" id="{3EC3BF21-A078-4972-B241-47D02647C9DB}"/>
              </a:ext>
            </a:extLst>
          </p:cNvPr>
          <p:cNvSpPr>
            <a:spLocks noChangeArrowheads="1"/>
          </p:cNvSpPr>
          <p:nvPr/>
        </p:nvSpPr>
        <p:spPr bwMode="auto">
          <a:xfrm>
            <a:off x="3733800" y="5715000"/>
            <a:ext cx="1676400" cy="457200"/>
          </a:xfrm>
          <a:prstGeom prst="rect">
            <a:avLst/>
          </a:prstGeom>
          <a:noFill/>
          <a:ln w="38100" cmpd="dbl">
            <a:noFill/>
            <a:miter lim="800000"/>
            <a:headEnd/>
            <a:tailEnd/>
          </a:ln>
          <a:effectLst/>
        </p:spPr>
        <p:txBody>
          <a:bodyPr wrap="none" anchor="ctr"/>
          <a:lstStyle/>
          <a:p>
            <a:pPr>
              <a:defRPr/>
            </a:pPr>
            <a:r>
              <a:rPr kumimoji="1" lang="zh-CN" altLang="en-US" sz="2000" b="1">
                <a:solidFill>
                  <a:schemeClr val="accent2"/>
                </a:solidFill>
                <a:effectLst>
                  <a:outerShdw blurRad="38100" dist="38100" dir="2700000" algn="tl">
                    <a:srgbClr val="000000"/>
                  </a:outerShdw>
                </a:effectLst>
                <a:latin typeface="Times New Roman" charset="0"/>
                <a:ea typeface="文鼎细圆" pitchFamily="49" charset="-122"/>
              </a:rPr>
              <a:t>(1,1,1),(1,1,1)</a:t>
            </a:r>
          </a:p>
        </p:txBody>
      </p:sp>
      <p:sp>
        <p:nvSpPr>
          <p:cNvPr id="2431072" name="Rectangle 96">
            <a:extLst>
              <a:ext uri="{FF2B5EF4-FFF2-40B4-BE49-F238E27FC236}">
                <a16:creationId xmlns:a16="http://schemas.microsoft.com/office/drawing/2014/main" id="{DC8572FE-71C6-48E6-BDBD-DCA8B3041CF2}"/>
              </a:ext>
            </a:extLst>
          </p:cNvPr>
          <p:cNvSpPr>
            <a:spLocks noChangeArrowheads="1"/>
          </p:cNvSpPr>
          <p:nvPr/>
        </p:nvSpPr>
        <p:spPr bwMode="auto">
          <a:xfrm>
            <a:off x="5410200" y="5715000"/>
            <a:ext cx="1295400" cy="4572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sz="2000" b="1">
                <a:solidFill>
                  <a:srgbClr val="D35FC2"/>
                </a:solidFill>
                <a:effectLst>
                  <a:outerShdw blurRad="38100" dist="38100" dir="2700000" algn="tl">
                    <a:srgbClr val="000000"/>
                  </a:outerShdw>
                </a:effectLst>
                <a:latin typeface="Arial" charset="0"/>
                <a:ea typeface="文鼎细圆" pitchFamily="49" charset="-122"/>
              </a:rPr>
              <a:t>abd(L2)</a:t>
            </a:r>
          </a:p>
        </p:txBody>
      </p:sp>
      <p:sp>
        <p:nvSpPr>
          <p:cNvPr id="2431073" name="Rectangle 97">
            <a:extLst>
              <a:ext uri="{FF2B5EF4-FFF2-40B4-BE49-F238E27FC236}">
                <a16:creationId xmlns:a16="http://schemas.microsoft.com/office/drawing/2014/main" id="{178C0891-91D9-4D77-8906-6CFE74E82DF2}"/>
              </a:ext>
            </a:extLst>
          </p:cNvPr>
          <p:cNvSpPr>
            <a:spLocks noChangeArrowheads="1"/>
          </p:cNvSpPr>
          <p:nvPr/>
        </p:nvSpPr>
        <p:spPr bwMode="auto">
          <a:xfrm>
            <a:off x="8763000" y="5715000"/>
            <a:ext cx="457200" cy="4572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sz="2000">
                <a:solidFill>
                  <a:srgbClr val="D35FC2"/>
                </a:solidFill>
                <a:effectLst>
                  <a:outerShdw blurRad="38100" dist="38100" dir="2700000" algn="tl">
                    <a:srgbClr val="000000"/>
                  </a:outerShdw>
                </a:effectLst>
                <a:latin typeface="Arial" charset="0"/>
                <a:ea typeface="文鼎细圆" pitchFamily="49" charset="-122"/>
              </a:rPr>
              <a:t>b,d</a:t>
            </a:r>
            <a:endParaRPr kumimoji="1" lang="en-US" altLang="zh-CN" b="1">
              <a:solidFill>
                <a:srgbClr val="EF8D2B"/>
              </a:solidFill>
              <a:effectLst>
                <a:outerShdw blurRad="38100" dist="38100" dir="2700000" algn="tl">
                  <a:srgbClr val="000000"/>
                </a:outerShdw>
              </a:effectLst>
              <a:latin typeface="Arial" charset="0"/>
              <a:ea typeface="文鼎细圆" pitchFamily="49" charset="-122"/>
            </a:endParaRPr>
          </a:p>
        </p:txBody>
      </p:sp>
      <p:sp>
        <p:nvSpPr>
          <p:cNvPr id="2431074" name="Rectangle 98">
            <a:extLst>
              <a:ext uri="{FF2B5EF4-FFF2-40B4-BE49-F238E27FC236}">
                <a16:creationId xmlns:a16="http://schemas.microsoft.com/office/drawing/2014/main" id="{B3AE0B20-4129-4E65-8AE7-14AB65CA619B}"/>
              </a:ext>
            </a:extLst>
          </p:cNvPr>
          <p:cNvSpPr>
            <a:spLocks noChangeArrowheads="1"/>
          </p:cNvSpPr>
          <p:nvPr/>
        </p:nvSpPr>
        <p:spPr bwMode="auto">
          <a:xfrm>
            <a:off x="6858000" y="5334000"/>
            <a:ext cx="1447800" cy="3048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b="1">
                <a:solidFill>
                  <a:srgbClr val="EF8D2B"/>
                </a:solidFill>
                <a:effectLst>
                  <a:outerShdw blurRad="38100" dist="38100" dir="2700000" algn="tl">
                    <a:srgbClr val="000000"/>
                  </a:outerShdw>
                </a:effectLst>
                <a:latin typeface="Arial" charset="0"/>
                <a:ea typeface="文鼎细圆" pitchFamily="49" charset="-122"/>
              </a:rPr>
              <a:t>T1 T2 T3 T4</a:t>
            </a:r>
          </a:p>
        </p:txBody>
      </p:sp>
      <p:sp>
        <p:nvSpPr>
          <p:cNvPr id="2431075" name="Line 99">
            <a:extLst>
              <a:ext uri="{FF2B5EF4-FFF2-40B4-BE49-F238E27FC236}">
                <a16:creationId xmlns:a16="http://schemas.microsoft.com/office/drawing/2014/main" id="{9A38D7E5-E3FC-425B-BB6C-5DD9803CCAD3}"/>
              </a:ext>
            </a:extLst>
          </p:cNvPr>
          <p:cNvSpPr>
            <a:spLocks noChangeShapeType="1"/>
          </p:cNvSpPr>
          <p:nvPr/>
        </p:nvSpPr>
        <p:spPr bwMode="auto">
          <a:xfrm>
            <a:off x="6934200" y="57912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31076" name="Line 100">
            <a:extLst>
              <a:ext uri="{FF2B5EF4-FFF2-40B4-BE49-F238E27FC236}">
                <a16:creationId xmlns:a16="http://schemas.microsoft.com/office/drawing/2014/main" id="{C601C86E-2A6E-475C-8F15-28CE87EE36F6}"/>
              </a:ext>
            </a:extLst>
          </p:cNvPr>
          <p:cNvSpPr>
            <a:spLocks noChangeShapeType="1"/>
          </p:cNvSpPr>
          <p:nvPr/>
        </p:nvSpPr>
        <p:spPr bwMode="auto">
          <a:xfrm>
            <a:off x="7239000" y="57912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31077" name="Line 101">
            <a:extLst>
              <a:ext uri="{FF2B5EF4-FFF2-40B4-BE49-F238E27FC236}">
                <a16:creationId xmlns:a16="http://schemas.microsoft.com/office/drawing/2014/main" id="{54C512C6-4370-49A7-8D95-48603414EEA5}"/>
              </a:ext>
            </a:extLst>
          </p:cNvPr>
          <p:cNvSpPr>
            <a:spLocks noChangeShapeType="1"/>
          </p:cNvSpPr>
          <p:nvPr/>
        </p:nvSpPr>
        <p:spPr bwMode="auto">
          <a:xfrm>
            <a:off x="7924800" y="57912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31078" name="Line 102">
            <a:extLst>
              <a:ext uri="{FF2B5EF4-FFF2-40B4-BE49-F238E27FC236}">
                <a16:creationId xmlns:a16="http://schemas.microsoft.com/office/drawing/2014/main" id="{6A1238DD-B094-4BB1-8B4F-11FE227083D7}"/>
              </a:ext>
            </a:extLst>
          </p:cNvPr>
          <p:cNvSpPr>
            <a:spLocks noChangeShapeType="1"/>
          </p:cNvSpPr>
          <p:nvPr/>
        </p:nvSpPr>
        <p:spPr bwMode="auto">
          <a:xfrm>
            <a:off x="7620000" y="57912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31044"/>
                                        </p:tgtEl>
                                        <p:attrNameLst>
                                          <p:attrName>style.visibility</p:attrName>
                                        </p:attrNameLst>
                                      </p:cBhvr>
                                      <p:to>
                                        <p:strVal val="visible"/>
                                      </p:to>
                                    </p:set>
                                    <p:anim calcmode="lin" valueType="num">
                                      <p:cBhvr additive="base">
                                        <p:cTn id="7" dur="500" fill="hold"/>
                                        <p:tgtEl>
                                          <p:spTgt spid="2431044"/>
                                        </p:tgtEl>
                                        <p:attrNameLst>
                                          <p:attrName>ppt_x</p:attrName>
                                        </p:attrNameLst>
                                      </p:cBhvr>
                                      <p:tavLst>
                                        <p:tav tm="0">
                                          <p:val>
                                            <p:strVal val="0-#ppt_w/2"/>
                                          </p:val>
                                        </p:tav>
                                        <p:tav tm="100000">
                                          <p:val>
                                            <p:strVal val="#ppt_x"/>
                                          </p:val>
                                        </p:tav>
                                      </p:tavLst>
                                    </p:anim>
                                    <p:anim calcmode="lin" valueType="num">
                                      <p:cBhvr additive="base">
                                        <p:cTn id="8" dur="500" fill="hold"/>
                                        <p:tgtEl>
                                          <p:spTgt spid="243104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5" fill="hold" nodeType="clickEffect">
                                  <p:stCondLst>
                                    <p:cond delay="0"/>
                                  </p:stCondLst>
                                  <p:childTnLst>
                                    <p:set>
                                      <p:cBhvr>
                                        <p:cTn id="12" dur="1" fill="hold">
                                          <p:stCondLst>
                                            <p:cond delay="0"/>
                                          </p:stCondLst>
                                        </p:cTn>
                                        <p:tgtEl>
                                          <p:spTgt spid="2431045"/>
                                        </p:tgtEl>
                                        <p:attrNameLst>
                                          <p:attrName>style.visibility</p:attrName>
                                        </p:attrNameLst>
                                      </p:cBhvr>
                                      <p:to>
                                        <p:strVal val="visible"/>
                                      </p:to>
                                    </p:set>
                                    <p:animEffect transition="in" filter="blinds(vertical)">
                                      <p:cBhvr>
                                        <p:cTn id="13" dur="500"/>
                                        <p:tgtEl>
                                          <p:spTgt spid="243104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5" fill="hold" grpId="0" nodeType="clickEffect">
                                  <p:stCondLst>
                                    <p:cond delay="0"/>
                                  </p:stCondLst>
                                  <p:childTnLst>
                                    <p:set>
                                      <p:cBhvr>
                                        <p:cTn id="17" dur="1" fill="hold">
                                          <p:stCondLst>
                                            <p:cond delay="0"/>
                                          </p:stCondLst>
                                        </p:cTn>
                                        <p:tgtEl>
                                          <p:spTgt spid="2431067"/>
                                        </p:tgtEl>
                                        <p:attrNameLst>
                                          <p:attrName>style.visibility</p:attrName>
                                        </p:attrNameLst>
                                      </p:cBhvr>
                                      <p:to>
                                        <p:strVal val="visible"/>
                                      </p:to>
                                    </p:set>
                                    <p:animEffect transition="in" filter="blinds(vertical)">
                                      <p:cBhvr>
                                        <p:cTn id="18" dur="500"/>
                                        <p:tgtEl>
                                          <p:spTgt spid="243106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5" fill="hold" grpId="0" nodeType="clickEffect">
                                  <p:stCondLst>
                                    <p:cond delay="0"/>
                                  </p:stCondLst>
                                  <p:childTnLst>
                                    <p:set>
                                      <p:cBhvr>
                                        <p:cTn id="22" dur="1" fill="hold">
                                          <p:stCondLst>
                                            <p:cond delay="0"/>
                                          </p:stCondLst>
                                        </p:cTn>
                                        <p:tgtEl>
                                          <p:spTgt spid="2431068"/>
                                        </p:tgtEl>
                                        <p:attrNameLst>
                                          <p:attrName>style.visibility</p:attrName>
                                        </p:attrNameLst>
                                      </p:cBhvr>
                                      <p:to>
                                        <p:strVal val="visible"/>
                                      </p:to>
                                    </p:set>
                                    <p:animEffect transition="in" filter="blinds(vertical)">
                                      <p:cBhvr>
                                        <p:cTn id="23" dur="500"/>
                                        <p:tgtEl>
                                          <p:spTgt spid="243106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5" fill="hold" grpId="0" nodeType="clickEffect">
                                  <p:stCondLst>
                                    <p:cond delay="0"/>
                                  </p:stCondLst>
                                  <p:childTnLst>
                                    <p:set>
                                      <p:cBhvr>
                                        <p:cTn id="27" dur="1" fill="hold">
                                          <p:stCondLst>
                                            <p:cond delay="0"/>
                                          </p:stCondLst>
                                        </p:cTn>
                                        <p:tgtEl>
                                          <p:spTgt spid="2431074"/>
                                        </p:tgtEl>
                                        <p:attrNameLst>
                                          <p:attrName>style.visibility</p:attrName>
                                        </p:attrNameLst>
                                      </p:cBhvr>
                                      <p:to>
                                        <p:strVal val="visible"/>
                                      </p:to>
                                    </p:set>
                                    <p:animEffect transition="in" filter="blinds(vertical)">
                                      <p:cBhvr>
                                        <p:cTn id="28" dur="500"/>
                                        <p:tgtEl>
                                          <p:spTgt spid="243107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5" fill="hold" nodeType="clickEffect">
                                  <p:stCondLst>
                                    <p:cond delay="0"/>
                                  </p:stCondLst>
                                  <p:childTnLst>
                                    <p:set>
                                      <p:cBhvr>
                                        <p:cTn id="32" dur="1" fill="hold">
                                          <p:stCondLst>
                                            <p:cond delay="0"/>
                                          </p:stCondLst>
                                        </p:cTn>
                                        <p:tgtEl>
                                          <p:spTgt spid="2431075"/>
                                        </p:tgtEl>
                                        <p:attrNameLst>
                                          <p:attrName>style.visibility</p:attrName>
                                        </p:attrNameLst>
                                      </p:cBhvr>
                                      <p:to>
                                        <p:strVal val="visible"/>
                                      </p:to>
                                    </p:set>
                                    <p:animEffect transition="in" filter="blinds(vertical)">
                                      <p:cBhvr>
                                        <p:cTn id="33" dur="500"/>
                                        <p:tgtEl>
                                          <p:spTgt spid="243107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5" fill="hold" nodeType="clickEffect">
                                  <p:stCondLst>
                                    <p:cond delay="0"/>
                                  </p:stCondLst>
                                  <p:childTnLst>
                                    <p:set>
                                      <p:cBhvr>
                                        <p:cTn id="37" dur="1" fill="hold">
                                          <p:stCondLst>
                                            <p:cond delay="0"/>
                                          </p:stCondLst>
                                        </p:cTn>
                                        <p:tgtEl>
                                          <p:spTgt spid="2431078"/>
                                        </p:tgtEl>
                                        <p:attrNameLst>
                                          <p:attrName>style.visibility</p:attrName>
                                        </p:attrNameLst>
                                      </p:cBhvr>
                                      <p:to>
                                        <p:strVal val="visible"/>
                                      </p:to>
                                    </p:set>
                                    <p:animEffect transition="in" filter="blinds(vertical)">
                                      <p:cBhvr>
                                        <p:cTn id="38" dur="500"/>
                                        <p:tgtEl>
                                          <p:spTgt spid="243107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5" fill="hold" grpId="0" nodeType="clickEffect">
                                  <p:stCondLst>
                                    <p:cond delay="0"/>
                                  </p:stCondLst>
                                  <p:childTnLst>
                                    <p:set>
                                      <p:cBhvr>
                                        <p:cTn id="42" dur="1" fill="hold">
                                          <p:stCondLst>
                                            <p:cond delay="0"/>
                                          </p:stCondLst>
                                        </p:cTn>
                                        <p:tgtEl>
                                          <p:spTgt spid="2431070"/>
                                        </p:tgtEl>
                                        <p:attrNameLst>
                                          <p:attrName>style.visibility</p:attrName>
                                        </p:attrNameLst>
                                      </p:cBhvr>
                                      <p:to>
                                        <p:strVal val="visible"/>
                                      </p:to>
                                    </p:set>
                                    <p:animEffect transition="in" filter="blinds(vertical)">
                                      <p:cBhvr>
                                        <p:cTn id="43" dur="500"/>
                                        <p:tgtEl>
                                          <p:spTgt spid="2431070"/>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5" fill="hold" grpId="0" nodeType="clickEffect">
                                  <p:stCondLst>
                                    <p:cond delay="0"/>
                                  </p:stCondLst>
                                  <p:childTnLst>
                                    <p:set>
                                      <p:cBhvr>
                                        <p:cTn id="47" dur="1" fill="hold">
                                          <p:stCondLst>
                                            <p:cond delay="0"/>
                                          </p:stCondLst>
                                        </p:cTn>
                                        <p:tgtEl>
                                          <p:spTgt spid="2431071"/>
                                        </p:tgtEl>
                                        <p:attrNameLst>
                                          <p:attrName>style.visibility</p:attrName>
                                        </p:attrNameLst>
                                      </p:cBhvr>
                                      <p:to>
                                        <p:strVal val="visible"/>
                                      </p:to>
                                    </p:set>
                                    <p:animEffect transition="in" filter="blinds(vertical)">
                                      <p:cBhvr>
                                        <p:cTn id="48" dur="500"/>
                                        <p:tgtEl>
                                          <p:spTgt spid="2431071"/>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5" fill="hold" grpId="0" nodeType="clickEffect">
                                  <p:stCondLst>
                                    <p:cond delay="0"/>
                                  </p:stCondLst>
                                  <p:childTnLst>
                                    <p:set>
                                      <p:cBhvr>
                                        <p:cTn id="52" dur="1" fill="hold">
                                          <p:stCondLst>
                                            <p:cond delay="0"/>
                                          </p:stCondLst>
                                        </p:cTn>
                                        <p:tgtEl>
                                          <p:spTgt spid="2431072"/>
                                        </p:tgtEl>
                                        <p:attrNameLst>
                                          <p:attrName>style.visibility</p:attrName>
                                        </p:attrNameLst>
                                      </p:cBhvr>
                                      <p:to>
                                        <p:strVal val="visible"/>
                                      </p:to>
                                    </p:set>
                                    <p:animEffect transition="in" filter="blinds(vertical)">
                                      <p:cBhvr>
                                        <p:cTn id="53" dur="500"/>
                                        <p:tgtEl>
                                          <p:spTgt spid="243107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5" fill="hold" grpId="0" nodeType="clickEffect">
                                  <p:stCondLst>
                                    <p:cond delay="0"/>
                                  </p:stCondLst>
                                  <p:childTnLst>
                                    <p:set>
                                      <p:cBhvr>
                                        <p:cTn id="57" dur="1" fill="hold">
                                          <p:stCondLst>
                                            <p:cond delay="0"/>
                                          </p:stCondLst>
                                        </p:cTn>
                                        <p:tgtEl>
                                          <p:spTgt spid="2431069"/>
                                        </p:tgtEl>
                                        <p:attrNameLst>
                                          <p:attrName>style.visibility</p:attrName>
                                        </p:attrNameLst>
                                      </p:cBhvr>
                                      <p:to>
                                        <p:strVal val="visible"/>
                                      </p:to>
                                    </p:set>
                                    <p:animEffect transition="in" filter="blinds(vertical)">
                                      <p:cBhvr>
                                        <p:cTn id="58" dur="500"/>
                                        <p:tgtEl>
                                          <p:spTgt spid="2431069"/>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5" fill="hold" nodeType="clickEffect">
                                  <p:stCondLst>
                                    <p:cond delay="0"/>
                                  </p:stCondLst>
                                  <p:childTnLst>
                                    <p:set>
                                      <p:cBhvr>
                                        <p:cTn id="62" dur="1" fill="hold">
                                          <p:stCondLst>
                                            <p:cond delay="0"/>
                                          </p:stCondLst>
                                        </p:cTn>
                                        <p:tgtEl>
                                          <p:spTgt spid="2431076"/>
                                        </p:tgtEl>
                                        <p:attrNameLst>
                                          <p:attrName>style.visibility</p:attrName>
                                        </p:attrNameLst>
                                      </p:cBhvr>
                                      <p:to>
                                        <p:strVal val="visible"/>
                                      </p:to>
                                    </p:set>
                                    <p:animEffect transition="in" filter="blinds(vertical)">
                                      <p:cBhvr>
                                        <p:cTn id="63" dur="500"/>
                                        <p:tgtEl>
                                          <p:spTgt spid="2431076"/>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3" presetClass="entr" presetSubtype="5" fill="hold" nodeType="clickEffect">
                                  <p:stCondLst>
                                    <p:cond delay="0"/>
                                  </p:stCondLst>
                                  <p:childTnLst>
                                    <p:set>
                                      <p:cBhvr>
                                        <p:cTn id="67" dur="1" fill="hold">
                                          <p:stCondLst>
                                            <p:cond delay="0"/>
                                          </p:stCondLst>
                                        </p:cTn>
                                        <p:tgtEl>
                                          <p:spTgt spid="2431077"/>
                                        </p:tgtEl>
                                        <p:attrNameLst>
                                          <p:attrName>style.visibility</p:attrName>
                                        </p:attrNameLst>
                                      </p:cBhvr>
                                      <p:to>
                                        <p:strVal val="visible"/>
                                      </p:to>
                                    </p:set>
                                    <p:animEffect transition="in" filter="blinds(vertical)">
                                      <p:cBhvr>
                                        <p:cTn id="68" dur="500"/>
                                        <p:tgtEl>
                                          <p:spTgt spid="2431077"/>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3" presetClass="entr" presetSubtype="5" fill="hold" grpId="0" nodeType="clickEffect">
                                  <p:stCondLst>
                                    <p:cond delay="0"/>
                                  </p:stCondLst>
                                  <p:childTnLst>
                                    <p:set>
                                      <p:cBhvr>
                                        <p:cTn id="72" dur="1" fill="hold">
                                          <p:stCondLst>
                                            <p:cond delay="0"/>
                                          </p:stCondLst>
                                        </p:cTn>
                                        <p:tgtEl>
                                          <p:spTgt spid="2431073"/>
                                        </p:tgtEl>
                                        <p:attrNameLst>
                                          <p:attrName>style.visibility</p:attrName>
                                        </p:attrNameLst>
                                      </p:cBhvr>
                                      <p:to>
                                        <p:strVal val="visible"/>
                                      </p:to>
                                    </p:set>
                                    <p:animEffect transition="in" filter="blinds(vertical)">
                                      <p:cBhvr>
                                        <p:cTn id="73" dur="500"/>
                                        <p:tgtEl>
                                          <p:spTgt spid="24310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1044" grpId="0" autoUpdateAnimBg="0"/>
      <p:bldP spid="2431067" grpId="0" autoUpdateAnimBg="0"/>
      <p:bldP spid="2431068" grpId="0" autoUpdateAnimBg="0"/>
      <p:bldP spid="2431069" grpId="0" autoUpdateAnimBg="0"/>
      <p:bldP spid="2431070" grpId="0" autoUpdateAnimBg="0"/>
      <p:bldP spid="2431071" grpId="0" autoUpdateAnimBg="0"/>
      <p:bldP spid="2431072" grpId="0" autoUpdateAnimBg="0"/>
      <p:bldP spid="2431073" grpId="0" autoUpdateAnimBg="0"/>
      <p:bldP spid="2431074" grpId="0" autoUpdateAnimBg="0"/>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日期占位符 1">
            <a:extLst>
              <a:ext uri="{FF2B5EF4-FFF2-40B4-BE49-F238E27FC236}">
                <a16:creationId xmlns:a16="http://schemas.microsoft.com/office/drawing/2014/main" id="{3FD6F853-C758-483A-AEBA-C68DA35DC515}"/>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C7CC3A55-13E1-4088-ABF6-99425557C52A}"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50179" name="Rectangle 1026">
            <a:extLst>
              <a:ext uri="{FF2B5EF4-FFF2-40B4-BE49-F238E27FC236}">
                <a16:creationId xmlns:a16="http://schemas.microsoft.com/office/drawing/2014/main" id="{0D91F60F-A901-4469-A2CF-3D5FE8548041}"/>
              </a:ext>
            </a:extLst>
          </p:cNvPr>
          <p:cNvSpPr>
            <a:spLocks noChangeArrowheads="1"/>
          </p:cNvSpPr>
          <p:nvPr/>
        </p:nvSpPr>
        <p:spPr bwMode="auto">
          <a:xfrm>
            <a:off x="3276600" y="762000"/>
            <a:ext cx="2057400" cy="609600"/>
          </a:xfrm>
          <a:prstGeom prst="rect">
            <a:avLst/>
          </a:prstGeom>
          <a:solidFill>
            <a:schemeClr val="bg1"/>
          </a:solidFill>
          <a:ln w="9525">
            <a:solidFill>
              <a:srgbClr val="70E5E8"/>
            </a:solidFill>
            <a:miter lim="800000"/>
            <a:headEnd/>
            <a:tailEnd/>
          </a:ln>
          <a:effectLst>
            <a:outerShdw dist="107763" dir="2700000" algn="ctr" rotWithShape="0">
              <a:schemeClr val="bg2"/>
            </a:outerShdw>
          </a:effec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000">
                <a:solidFill>
                  <a:srgbClr val="1AA1A4"/>
                </a:solidFill>
                <a:latin typeface="Times New Roman" panose="02020603050405020304" pitchFamily="18" charset="0"/>
                <a:ea typeface="黑体" panose="02010609060101010101" pitchFamily="49" charset="-122"/>
              </a:rPr>
              <a:t>　条件组合覆盖　</a:t>
            </a:r>
            <a:endParaRPr lang="en-US" altLang="zh-CN" sz="2000">
              <a:solidFill>
                <a:srgbClr val="1AA1A4"/>
              </a:solidFill>
              <a:latin typeface="Times New Roman" panose="02020603050405020304" pitchFamily="18" charset="0"/>
              <a:ea typeface="黑体" panose="02010609060101010101" pitchFamily="49" charset="-122"/>
            </a:endParaRPr>
          </a:p>
        </p:txBody>
      </p:sp>
      <p:sp>
        <p:nvSpPr>
          <p:cNvPr id="2433027" name="Rectangle 1027">
            <a:hlinkClick r:id="rId3" action="ppaction://hlinksldjump"/>
            <a:extLst>
              <a:ext uri="{FF2B5EF4-FFF2-40B4-BE49-F238E27FC236}">
                <a16:creationId xmlns:a16="http://schemas.microsoft.com/office/drawing/2014/main" id="{8902BB8B-07DF-42C0-AEE2-7392CCD1E4E3}"/>
              </a:ext>
            </a:extLst>
          </p:cNvPr>
          <p:cNvSpPr>
            <a:spLocks noChangeArrowheads="1"/>
          </p:cNvSpPr>
          <p:nvPr/>
        </p:nvSpPr>
        <p:spPr bwMode="auto">
          <a:xfrm>
            <a:off x="3733800" y="3276600"/>
            <a:ext cx="5486400" cy="1752600"/>
          </a:xfrm>
          <a:prstGeom prst="rect">
            <a:avLst/>
          </a:prstGeom>
          <a:noFill/>
          <a:ln w="38100" cmpd="dbl">
            <a:solidFill>
              <a:srgbClr val="70E5E8"/>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r>
              <a:rPr lang="zh-CN" altLang="en-US" sz="1800">
                <a:solidFill>
                  <a:srgbClr val="1AA1A4"/>
                </a:solidFill>
                <a:latin typeface="黑体" panose="02010609060101010101" pitchFamily="49" charset="-122"/>
                <a:ea typeface="黑体" panose="02010609060101010101" pitchFamily="49" charset="-122"/>
              </a:rPr>
              <a:t> 　　</a:t>
            </a:r>
            <a:r>
              <a:rPr lang="zh-CN" altLang="en-US" sz="1800">
                <a:solidFill>
                  <a:srgbClr val="16369C"/>
                </a:solidFill>
                <a:latin typeface="黑体" panose="02010609060101010101" pitchFamily="49" charset="-122"/>
                <a:ea typeface="黑体" panose="02010609060101010101" pitchFamily="49" charset="-122"/>
              </a:rPr>
              <a:t>所谓的 条件组合覆盖就是设计足够的测试用</a:t>
            </a:r>
          </a:p>
          <a:p>
            <a:pPr>
              <a:spcBef>
                <a:spcPct val="0"/>
              </a:spcBef>
              <a:buFontTx/>
              <a:buNone/>
            </a:pPr>
            <a:r>
              <a:rPr lang="zh-CN" altLang="en-US" sz="1800">
                <a:solidFill>
                  <a:srgbClr val="16369C"/>
                </a:solidFill>
                <a:latin typeface="黑体" panose="02010609060101010101" pitchFamily="49" charset="-122"/>
                <a:ea typeface="黑体" panose="02010609060101010101" pitchFamily="49" charset="-122"/>
              </a:rPr>
              <a:t> 例，运行被测程序，使得 </a:t>
            </a:r>
            <a:r>
              <a:rPr lang="zh-CN" altLang="en-US" sz="1800">
                <a:solidFill>
                  <a:srgbClr val="135CED"/>
                </a:solidFill>
                <a:latin typeface="黑体" panose="02010609060101010101" pitchFamily="49" charset="-122"/>
                <a:ea typeface="黑体" panose="02010609060101010101" pitchFamily="49" charset="-122"/>
              </a:rPr>
              <a:t>每个判断的所有可能的</a:t>
            </a:r>
          </a:p>
          <a:p>
            <a:pPr>
              <a:spcBef>
                <a:spcPct val="0"/>
              </a:spcBef>
              <a:buFontTx/>
              <a:buNone/>
            </a:pPr>
            <a:r>
              <a:rPr lang="zh-CN" altLang="en-US" sz="1800">
                <a:solidFill>
                  <a:srgbClr val="135CED"/>
                </a:solidFill>
                <a:latin typeface="黑体" panose="02010609060101010101" pitchFamily="49" charset="-122"/>
                <a:ea typeface="黑体" panose="02010609060101010101" pitchFamily="49" charset="-122"/>
              </a:rPr>
              <a:t> </a:t>
            </a:r>
            <a:r>
              <a:rPr lang="zh-CN" altLang="en-US" sz="1800">
                <a:solidFill>
                  <a:srgbClr val="EF8D2B"/>
                </a:solidFill>
                <a:latin typeface="黑体" panose="02010609060101010101" pitchFamily="49" charset="-122"/>
                <a:ea typeface="黑体" panose="02010609060101010101" pitchFamily="49" charset="-122"/>
              </a:rPr>
              <a:t>条件取值组合</a:t>
            </a:r>
            <a:r>
              <a:rPr lang="zh-CN" altLang="en-US" sz="1800">
                <a:solidFill>
                  <a:srgbClr val="135CED"/>
                </a:solidFill>
                <a:latin typeface="黑体" panose="02010609060101010101" pitchFamily="49" charset="-122"/>
                <a:ea typeface="黑体" panose="02010609060101010101" pitchFamily="49" charset="-122"/>
              </a:rPr>
              <a:t>至少执行一次。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33027"/>
                                        </p:tgtEl>
                                        <p:attrNameLst>
                                          <p:attrName>style.visibility</p:attrName>
                                        </p:attrNameLst>
                                      </p:cBhvr>
                                      <p:to>
                                        <p:strVal val="visible"/>
                                      </p:to>
                                    </p:set>
                                    <p:animEffect transition="in" filter="blinds(horizontal)">
                                      <p:cBhvr>
                                        <p:cTn id="7" dur="500"/>
                                        <p:tgtEl>
                                          <p:spTgt spid="2433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3027" grpId="0" animBg="1" autoUpdateAnimBg="0"/>
    </p:bld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日期占位符 1">
            <a:extLst>
              <a:ext uri="{FF2B5EF4-FFF2-40B4-BE49-F238E27FC236}">
                <a16:creationId xmlns:a16="http://schemas.microsoft.com/office/drawing/2014/main" id="{662AEE26-9A89-48F2-817D-D441D9A8A75A}"/>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FB110C2E-11F6-4BBA-9802-0BC409A4E452}"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52227" name="Rectangle 3">
            <a:extLst>
              <a:ext uri="{FF2B5EF4-FFF2-40B4-BE49-F238E27FC236}">
                <a16:creationId xmlns:a16="http://schemas.microsoft.com/office/drawing/2014/main" id="{6FD6ED71-FFF5-48D3-93D7-1AF9FF53573D}"/>
              </a:ext>
            </a:extLst>
          </p:cNvPr>
          <p:cNvSpPr>
            <a:spLocks noChangeArrowheads="1"/>
          </p:cNvSpPr>
          <p:nvPr/>
        </p:nvSpPr>
        <p:spPr bwMode="auto">
          <a:xfrm>
            <a:off x="3124200" y="762000"/>
            <a:ext cx="7162800" cy="12192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endParaRPr lang="zh-CN" altLang="en-US" sz="2800">
              <a:solidFill>
                <a:schemeClr val="tx1"/>
              </a:solidFill>
              <a:latin typeface="Times New Roman" panose="02020603050405020304" pitchFamily="18" charset="0"/>
              <a:ea typeface="楷体_GB2312" pitchFamily="49" charset="-122"/>
            </a:endParaRPr>
          </a:p>
        </p:txBody>
      </p:sp>
      <p:graphicFrame>
        <p:nvGraphicFramePr>
          <p:cNvPr id="1291504" name="Group 240">
            <a:extLst>
              <a:ext uri="{FF2B5EF4-FFF2-40B4-BE49-F238E27FC236}">
                <a16:creationId xmlns:a16="http://schemas.microsoft.com/office/drawing/2014/main" id="{4DD8A815-275D-4F05-A419-8C26FE0E3C50}"/>
              </a:ext>
            </a:extLst>
          </p:cNvPr>
          <p:cNvGraphicFramePr>
            <a:graphicFrameLocks noGrp="1"/>
          </p:cNvGraphicFramePr>
          <p:nvPr/>
        </p:nvGraphicFramePr>
        <p:xfrm>
          <a:off x="7162800" y="3352801"/>
          <a:ext cx="3200400" cy="3178175"/>
        </p:xfrm>
        <a:graphic>
          <a:graphicData uri="http://schemas.openxmlformats.org/drawingml/2006/table">
            <a:tbl>
              <a:tblPr/>
              <a:tblGrid>
                <a:gridCol w="7620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62787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EF8D2B"/>
                          </a:solidFill>
                          <a:effectLst/>
                          <a:latin typeface="黑体" pitchFamily="2" charset="-122"/>
                          <a:ea typeface="黑体" pitchFamily="2" charset="-122"/>
                        </a:rPr>
                        <a:t>条件</a:t>
                      </a:r>
                    </a:p>
                  </a:txBody>
                  <a:tcPr marT="45715" marB="45715"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EF8D2B"/>
                          </a:solidFill>
                          <a:effectLst/>
                          <a:latin typeface="黑体" pitchFamily="2" charset="-122"/>
                          <a:ea typeface="黑体" pitchFamily="2" charset="-122"/>
                        </a:rPr>
                        <a:t>标记</a:t>
                      </a:r>
                    </a:p>
                  </a:txBody>
                  <a:tcPr marT="45715" marB="45715"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EF8D2B"/>
                          </a:solidFill>
                          <a:effectLst/>
                          <a:latin typeface="黑体" pitchFamily="2" charset="-122"/>
                          <a:ea typeface="黑体" pitchFamily="2" charset="-122"/>
                        </a:rPr>
                        <a:t>第一个判断取</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66C80C"/>
                          </a:solidFill>
                          <a:effectLst/>
                          <a:latin typeface="黑体" pitchFamily="2" charset="-122"/>
                          <a:ea typeface="黑体" pitchFamily="2" charset="-122"/>
                        </a:rPr>
                        <a:t>真假</a:t>
                      </a:r>
                      <a:r>
                        <a:rPr kumimoji="1" lang="zh-CN" altLang="en-US" sz="1600" b="0" i="0" u="none" strike="noStrike" cap="none" normalizeH="0" baseline="0">
                          <a:ln>
                            <a:noFill/>
                          </a:ln>
                          <a:solidFill>
                            <a:srgbClr val="EF8D2B"/>
                          </a:solidFill>
                          <a:effectLst/>
                          <a:latin typeface="黑体" pitchFamily="2" charset="-122"/>
                          <a:ea typeface="黑体" pitchFamily="2" charset="-122"/>
                        </a:rPr>
                        <a:t>分支</a:t>
                      </a:r>
                    </a:p>
                  </a:txBody>
                  <a:tcPr marT="45715" marB="45715"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666676">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1" i="0" u="none" strike="noStrike" cap="none" normalizeH="0" baseline="0">
                          <a:ln>
                            <a:noFill/>
                          </a:ln>
                          <a:solidFill>
                            <a:schemeClr val="accent2"/>
                          </a:solidFill>
                          <a:effectLst/>
                          <a:latin typeface="Arial" charset="0"/>
                          <a:ea typeface="宋体" pitchFamily="2" charset="-122"/>
                        </a:rPr>
                        <a:t>  </a:t>
                      </a:r>
                    </a:p>
                  </a:txBody>
                  <a:tcPr marT="45715" marB="45715"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1" i="0" u="none" strike="noStrike" cap="none" normalizeH="0" baseline="0">
                          <a:ln>
                            <a:noFill/>
                          </a:ln>
                          <a:solidFill>
                            <a:srgbClr val="345BC8"/>
                          </a:solidFill>
                          <a:effectLst>
                            <a:outerShdw blurRad="38100" dist="38100" dir="2700000" algn="tl">
                              <a:srgbClr val="000000"/>
                            </a:outerShdw>
                          </a:effectLst>
                          <a:latin typeface="Times New Roman" charset="0"/>
                          <a:ea typeface="宋体" pitchFamily="2" charset="-122"/>
                        </a:rPr>
                        <a:t> </a:t>
                      </a:r>
                    </a:p>
                  </a:txBody>
                  <a:tcPr marT="45715" marB="45715"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1" i="0" u="none" strike="noStrike" cap="none" normalizeH="0" baseline="0">
                          <a:ln>
                            <a:noFill/>
                          </a:ln>
                          <a:solidFill>
                            <a:schemeClr val="accent2"/>
                          </a:solidFill>
                          <a:effectLst/>
                          <a:latin typeface="Times New Roman" charset="0"/>
                          <a:ea typeface="文鼎细圆" pitchFamily="49" charset="-122"/>
                        </a:rPr>
                        <a:t> </a:t>
                      </a:r>
                      <a:endParaRPr kumimoji="1" lang="zh-CN" altLang="en-US" sz="1600" b="1" i="0" u="none" strike="noStrike" cap="none" normalizeH="0" baseline="0">
                        <a:ln>
                          <a:noFill/>
                        </a:ln>
                        <a:solidFill>
                          <a:srgbClr val="345BC8"/>
                        </a:solidFill>
                        <a:effectLst/>
                        <a:latin typeface="Times New Roman" charset="0"/>
                        <a:ea typeface="文鼎细圆" pitchFamily="49" charset="-122"/>
                      </a:endParaRPr>
                    </a:p>
                  </a:txBody>
                  <a:tcPr marT="45715" marB="45715"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62787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1" i="0" u="none" strike="noStrike" cap="none" normalizeH="0" baseline="0">
                          <a:ln>
                            <a:noFill/>
                          </a:ln>
                          <a:solidFill>
                            <a:schemeClr val="accent2"/>
                          </a:solidFill>
                          <a:effectLst/>
                          <a:latin typeface="Arial" charset="0"/>
                          <a:ea typeface="宋体" pitchFamily="2" charset="-122"/>
                        </a:rPr>
                        <a:t> </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1" i="0" u="none" strike="noStrike" cap="none" normalizeH="0" baseline="0">
                          <a:ln>
                            <a:noFill/>
                          </a:ln>
                          <a:solidFill>
                            <a:schemeClr val="accent2"/>
                          </a:solidFill>
                          <a:effectLst/>
                          <a:latin typeface="Arial" charset="0"/>
                          <a:ea typeface="宋体" pitchFamily="2" charset="-122"/>
                        </a:rPr>
                        <a:t>     </a:t>
                      </a:r>
                      <a:endParaRPr kumimoji="1" lang="zh-CN" altLang="en-US" sz="1600" b="1" i="0" u="none" strike="noStrike" cap="none" normalizeH="0" baseline="0">
                        <a:ln>
                          <a:noFill/>
                        </a:ln>
                        <a:solidFill>
                          <a:schemeClr val="accent2"/>
                        </a:solidFill>
                        <a:effectLst/>
                        <a:latin typeface="Arial" charset="0"/>
                        <a:ea typeface="宋体" pitchFamily="2" charset="-122"/>
                      </a:endParaRPr>
                    </a:p>
                  </a:txBody>
                  <a:tcPr marT="45715" marB="45715"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1" i="0" u="none" strike="noStrike" cap="none" normalizeH="0" baseline="0">
                          <a:ln>
                            <a:noFill/>
                          </a:ln>
                          <a:solidFill>
                            <a:srgbClr val="345BC8"/>
                          </a:solidFill>
                          <a:effectLst>
                            <a:outerShdw blurRad="38100" dist="38100" dir="2700000" algn="tl">
                              <a:srgbClr val="000000"/>
                            </a:outerShdw>
                          </a:effectLst>
                          <a:latin typeface="Times New Roman" charset="0"/>
                          <a:ea typeface="宋体" pitchFamily="2" charset="-122"/>
                        </a:rPr>
                        <a:t> </a:t>
                      </a:r>
                      <a:endParaRPr kumimoji="1" lang="zh-CN" altLang="en-US" sz="1800" b="1" i="0" u="none" strike="noStrike" cap="none" normalizeH="0" baseline="0">
                        <a:ln>
                          <a:noFill/>
                        </a:ln>
                        <a:solidFill>
                          <a:srgbClr val="345BC8"/>
                        </a:solidFill>
                        <a:effectLst>
                          <a:outerShdw blurRad="38100" dist="38100" dir="2700000" algn="tl">
                            <a:srgbClr val="000000"/>
                          </a:outerShdw>
                        </a:effectLst>
                        <a:latin typeface="Times New Roman" charset="0"/>
                        <a:ea typeface="宋体" pitchFamily="2" charset="-122"/>
                      </a:endParaRPr>
                    </a:p>
                  </a:txBody>
                  <a:tcPr marT="45715" marB="45715"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1" i="0" u="none" strike="noStrike" cap="none" normalizeH="0" baseline="0">
                          <a:ln>
                            <a:noFill/>
                          </a:ln>
                          <a:solidFill>
                            <a:schemeClr val="accent2"/>
                          </a:solidFill>
                          <a:effectLst/>
                          <a:latin typeface="Times New Roman" charset="0"/>
                          <a:ea typeface="文鼎细圆" pitchFamily="49" charset="-122"/>
                        </a:rPr>
                        <a:t> </a:t>
                      </a:r>
                      <a:endParaRPr kumimoji="1" lang="zh-CN" altLang="en-US" sz="1600" b="1" i="0" u="none" strike="noStrike" cap="none" normalizeH="0" baseline="0">
                        <a:ln>
                          <a:noFill/>
                        </a:ln>
                        <a:solidFill>
                          <a:srgbClr val="345BC8"/>
                        </a:solidFill>
                        <a:effectLst/>
                        <a:latin typeface="Times New Roman" charset="0"/>
                        <a:ea typeface="文鼎细圆" pitchFamily="49" charset="-122"/>
                      </a:endParaRPr>
                    </a:p>
                  </a:txBody>
                  <a:tcPr marT="45715" marB="45715"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62787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1" i="0" u="none" strike="noStrike" cap="none" normalizeH="0" baseline="0">
                          <a:ln>
                            <a:noFill/>
                          </a:ln>
                          <a:solidFill>
                            <a:schemeClr val="accent2"/>
                          </a:solidFill>
                          <a:effectLst/>
                          <a:latin typeface="Arial" charset="0"/>
                          <a:ea typeface="宋体" pitchFamily="2" charset="-122"/>
                        </a:rPr>
                        <a:t> </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endParaRPr kumimoji="1" lang="zh-CN" altLang="en-US" sz="1600" b="1" i="0" u="none" strike="noStrike" cap="none" normalizeH="0" baseline="0">
                        <a:ln>
                          <a:noFill/>
                        </a:ln>
                        <a:solidFill>
                          <a:schemeClr val="accent2"/>
                        </a:solidFill>
                        <a:effectLst/>
                        <a:latin typeface="Arial" charset="0"/>
                        <a:ea typeface="宋体" pitchFamily="2" charset="-122"/>
                      </a:endParaRPr>
                    </a:p>
                  </a:txBody>
                  <a:tcPr marT="45715" marB="45715"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1" i="0" u="none" strike="noStrike" cap="none" normalizeH="0" baseline="0">
                          <a:ln>
                            <a:noFill/>
                          </a:ln>
                          <a:solidFill>
                            <a:srgbClr val="345BC8"/>
                          </a:solidFill>
                          <a:effectLst>
                            <a:outerShdw blurRad="38100" dist="38100" dir="2700000" algn="tl">
                              <a:srgbClr val="000000"/>
                            </a:outerShdw>
                          </a:effectLst>
                          <a:latin typeface="Times New Roman" charset="0"/>
                          <a:ea typeface="宋体" pitchFamily="2" charset="-122"/>
                        </a:rPr>
                        <a:t> </a:t>
                      </a:r>
                      <a:endParaRPr kumimoji="1" lang="zh-CN" altLang="en-US" sz="1800" b="1" i="0" u="none" strike="noStrike" cap="none" normalizeH="0" baseline="0">
                        <a:ln>
                          <a:noFill/>
                        </a:ln>
                        <a:solidFill>
                          <a:srgbClr val="345BC8"/>
                        </a:solidFill>
                        <a:effectLst>
                          <a:outerShdw blurRad="38100" dist="38100" dir="2700000" algn="tl">
                            <a:srgbClr val="000000"/>
                          </a:outerShdw>
                        </a:effectLst>
                        <a:latin typeface="Times New Roman" charset="0"/>
                        <a:ea typeface="宋体" pitchFamily="2" charset="-122"/>
                      </a:endParaRPr>
                    </a:p>
                  </a:txBody>
                  <a:tcPr marT="45715" marB="45715"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1" i="0" u="none" strike="noStrike" cap="none" normalizeH="0" baseline="0">
                          <a:ln>
                            <a:noFill/>
                          </a:ln>
                          <a:solidFill>
                            <a:schemeClr val="accent2"/>
                          </a:solidFill>
                          <a:effectLst/>
                          <a:latin typeface="Times New Roman" charset="0"/>
                          <a:ea typeface="文鼎细圆" pitchFamily="49" charset="-122"/>
                        </a:rPr>
                        <a:t> </a:t>
                      </a:r>
                      <a:endParaRPr kumimoji="1" lang="zh-CN" altLang="en-US" sz="1600" b="1" i="0" u="none" strike="noStrike" cap="none" normalizeH="0" baseline="0">
                        <a:ln>
                          <a:noFill/>
                        </a:ln>
                        <a:solidFill>
                          <a:srgbClr val="345BC8"/>
                        </a:solidFill>
                        <a:effectLst/>
                        <a:latin typeface="Times New Roman" charset="0"/>
                        <a:ea typeface="文鼎细圆" pitchFamily="49" charset="-122"/>
                      </a:endParaRPr>
                    </a:p>
                  </a:txBody>
                  <a:tcPr marT="45715" marB="45715"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62787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1" i="0" u="none" strike="noStrike" cap="none" normalizeH="0" baseline="0">
                          <a:ln>
                            <a:noFill/>
                          </a:ln>
                          <a:solidFill>
                            <a:schemeClr val="accent2"/>
                          </a:solidFill>
                          <a:effectLst/>
                          <a:latin typeface="Arial" charset="0"/>
                          <a:ea typeface="宋体" pitchFamily="2" charset="-122"/>
                        </a:rPr>
                        <a:t> </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endParaRPr kumimoji="1" lang="zh-CN" altLang="en-US" sz="1600" b="1" i="0" u="none" strike="noStrike" cap="none" normalizeH="0" baseline="0">
                        <a:ln>
                          <a:noFill/>
                        </a:ln>
                        <a:solidFill>
                          <a:schemeClr val="accent2"/>
                        </a:solidFill>
                        <a:effectLst/>
                        <a:latin typeface="Arial" charset="0"/>
                        <a:ea typeface="宋体" pitchFamily="2" charset="-122"/>
                      </a:endParaRPr>
                    </a:p>
                  </a:txBody>
                  <a:tcPr marT="45715" marB="45715"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1" i="0" u="none" strike="noStrike" cap="none" normalizeH="0" baseline="0">
                          <a:ln>
                            <a:noFill/>
                          </a:ln>
                          <a:solidFill>
                            <a:srgbClr val="345BC8"/>
                          </a:solidFill>
                          <a:effectLst>
                            <a:outerShdw blurRad="38100" dist="38100" dir="2700000" algn="tl">
                              <a:srgbClr val="000000"/>
                            </a:outerShdw>
                          </a:effectLst>
                          <a:latin typeface="Times New Roman" charset="0"/>
                          <a:ea typeface="宋体" pitchFamily="2" charset="-122"/>
                        </a:rPr>
                        <a:t> </a:t>
                      </a:r>
                      <a:endParaRPr kumimoji="1" lang="zh-CN" altLang="en-US" sz="1800" b="1" i="0" u="none" strike="noStrike" cap="none" normalizeH="0" baseline="0">
                        <a:ln>
                          <a:noFill/>
                        </a:ln>
                        <a:solidFill>
                          <a:srgbClr val="345BC8"/>
                        </a:solidFill>
                        <a:effectLst>
                          <a:outerShdw blurRad="38100" dist="38100" dir="2700000" algn="tl">
                            <a:srgbClr val="000000"/>
                          </a:outerShdw>
                        </a:effectLst>
                        <a:latin typeface="Times New Roman" charset="0"/>
                        <a:ea typeface="宋体" pitchFamily="2" charset="-122"/>
                      </a:endParaRPr>
                    </a:p>
                  </a:txBody>
                  <a:tcPr marT="45715" marB="45715"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1" i="0" u="none" strike="noStrike" cap="none" normalizeH="0" baseline="0">
                          <a:ln>
                            <a:noFill/>
                          </a:ln>
                          <a:solidFill>
                            <a:schemeClr val="accent2"/>
                          </a:solidFill>
                          <a:effectLst/>
                          <a:latin typeface="Times New Roman" charset="0"/>
                          <a:ea typeface="文鼎细圆" pitchFamily="49" charset="-122"/>
                        </a:rPr>
                        <a:t> </a:t>
                      </a:r>
                      <a:endParaRPr kumimoji="1" lang="zh-CN" altLang="en-US" sz="1600" b="1" i="0" u="none" strike="noStrike" cap="none" normalizeH="0" baseline="0">
                        <a:ln>
                          <a:noFill/>
                        </a:ln>
                        <a:solidFill>
                          <a:srgbClr val="345BC8"/>
                        </a:solidFill>
                        <a:effectLst/>
                        <a:latin typeface="Times New Roman" charset="0"/>
                        <a:ea typeface="文鼎细圆" pitchFamily="49" charset="-122"/>
                      </a:endParaRPr>
                    </a:p>
                  </a:txBody>
                  <a:tcPr marT="45715" marB="45715"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grpSp>
        <p:nvGrpSpPr>
          <p:cNvPr id="52254" name="Group 143">
            <a:extLst>
              <a:ext uri="{FF2B5EF4-FFF2-40B4-BE49-F238E27FC236}">
                <a16:creationId xmlns:a16="http://schemas.microsoft.com/office/drawing/2014/main" id="{59C30397-5AB4-4870-BBE7-269465A90347}"/>
              </a:ext>
            </a:extLst>
          </p:cNvPr>
          <p:cNvGrpSpPr>
            <a:grpSpLocks/>
          </p:cNvGrpSpPr>
          <p:nvPr/>
        </p:nvGrpSpPr>
        <p:grpSpPr bwMode="auto">
          <a:xfrm>
            <a:off x="3124200" y="533400"/>
            <a:ext cx="3733800" cy="3810000"/>
            <a:chOff x="1152" y="1248"/>
            <a:chExt cx="2352" cy="2400"/>
          </a:xfrm>
        </p:grpSpPr>
        <p:sp>
          <p:nvSpPr>
            <p:cNvPr id="1291408" name="Text Box 144">
              <a:extLst>
                <a:ext uri="{FF2B5EF4-FFF2-40B4-BE49-F238E27FC236}">
                  <a16:creationId xmlns:a16="http://schemas.microsoft.com/office/drawing/2014/main" id="{3B98531E-65E6-4529-BAA2-D2589A04FAD7}"/>
                </a:ext>
              </a:extLst>
            </p:cNvPr>
            <p:cNvSpPr txBox="1">
              <a:spLocks noChangeArrowheads="1"/>
            </p:cNvSpPr>
            <p:nvPr/>
          </p:nvSpPr>
          <p:spPr bwMode="auto">
            <a:xfrm>
              <a:off x="1152" y="1776"/>
              <a:ext cx="223"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b</a:t>
              </a:r>
            </a:p>
          </p:txBody>
        </p:sp>
        <p:sp>
          <p:nvSpPr>
            <p:cNvPr id="1291409" name="Text Box 145">
              <a:extLst>
                <a:ext uri="{FF2B5EF4-FFF2-40B4-BE49-F238E27FC236}">
                  <a16:creationId xmlns:a16="http://schemas.microsoft.com/office/drawing/2014/main" id="{39F4396A-1BFC-4CA9-A08F-031B9FFA6C13}"/>
                </a:ext>
              </a:extLst>
            </p:cNvPr>
            <p:cNvSpPr txBox="1">
              <a:spLocks noChangeArrowheads="1"/>
            </p:cNvSpPr>
            <p:nvPr/>
          </p:nvSpPr>
          <p:spPr bwMode="auto">
            <a:xfrm>
              <a:off x="1152" y="2736"/>
              <a:ext cx="223"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d</a:t>
              </a:r>
            </a:p>
          </p:txBody>
        </p:sp>
        <p:sp>
          <p:nvSpPr>
            <p:cNvPr id="1291410" name="Text Box 146">
              <a:extLst>
                <a:ext uri="{FF2B5EF4-FFF2-40B4-BE49-F238E27FC236}">
                  <a16:creationId xmlns:a16="http://schemas.microsoft.com/office/drawing/2014/main" id="{73795A04-24F7-44E3-9B72-35E5FF5FCD5F}"/>
                </a:ext>
              </a:extLst>
            </p:cNvPr>
            <p:cNvSpPr txBox="1">
              <a:spLocks noChangeArrowheads="1"/>
            </p:cNvSpPr>
            <p:nvPr/>
          </p:nvSpPr>
          <p:spPr bwMode="auto">
            <a:xfrm>
              <a:off x="2064" y="1248"/>
              <a:ext cx="288" cy="288"/>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a</a:t>
              </a:r>
            </a:p>
          </p:txBody>
        </p:sp>
        <p:sp>
          <p:nvSpPr>
            <p:cNvPr id="1291411" name="Text Box 147">
              <a:extLst>
                <a:ext uri="{FF2B5EF4-FFF2-40B4-BE49-F238E27FC236}">
                  <a16:creationId xmlns:a16="http://schemas.microsoft.com/office/drawing/2014/main" id="{569AAD2D-EE8F-4B95-BD09-F538A1007221}"/>
                </a:ext>
              </a:extLst>
            </p:cNvPr>
            <p:cNvSpPr txBox="1">
              <a:spLocks noChangeArrowheads="1"/>
            </p:cNvSpPr>
            <p:nvPr/>
          </p:nvSpPr>
          <p:spPr bwMode="auto">
            <a:xfrm>
              <a:off x="3072" y="1776"/>
              <a:ext cx="223" cy="288"/>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c</a:t>
              </a:r>
            </a:p>
          </p:txBody>
        </p:sp>
        <p:sp>
          <p:nvSpPr>
            <p:cNvPr id="1291412" name="Text Box 148">
              <a:extLst>
                <a:ext uri="{FF2B5EF4-FFF2-40B4-BE49-F238E27FC236}">
                  <a16:creationId xmlns:a16="http://schemas.microsoft.com/office/drawing/2014/main" id="{3270D9DB-F5E2-44FA-8003-33C73637BE73}"/>
                </a:ext>
              </a:extLst>
            </p:cNvPr>
            <p:cNvSpPr txBox="1">
              <a:spLocks noChangeArrowheads="1"/>
            </p:cNvSpPr>
            <p:nvPr/>
          </p:nvSpPr>
          <p:spPr bwMode="auto">
            <a:xfrm>
              <a:off x="3120" y="2736"/>
              <a:ext cx="201"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e</a:t>
              </a:r>
            </a:p>
          </p:txBody>
        </p:sp>
        <p:grpSp>
          <p:nvGrpSpPr>
            <p:cNvPr id="52314" name="Group 149">
              <a:extLst>
                <a:ext uri="{FF2B5EF4-FFF2-40B4-BE49-F238E27FC236}">
                  <a16:creationId xmlns:a16="http://schemas.microsoft.com/office/drawing/2014/main" id="{40648309-6FE7-43D3-97BB-2DCE021F1026}"/>
                </a:ext>
              </a:extLst>
            </p:cNvPr>
            <p:cNvGrpSpPr>
              <a:grpSpLocks/>
            </p:cNvGrpSpPr>
            <p:nvPr/>
          </p:nvGrpSpPr>
          <p:grpSpPr bwMode="auto">
            <a:xfrm>
              <a:off x="1392" y="1536"/>
              <a:ext cx="2112" cy="2112"/>
              <a:chOff x="1200" y="1488"/>
              <a:chExt cx="2112" cy="2112"/>
            </a:xfrm>
          </p:grpSpPr>
          <p:sp>
            <p:nvSpPr>
              <p:cNvPr id="52315" name="AutoShape 150">
                <a:extLst>
                  <a:ext uri="{FF2B5EF4-FFF2-40B4-BE49-F238E27FC236}">
                    <a16:creationId xmlns:a16="http://schemas.microsoft.com/office/drawing/2014/main" id="{DA1F4890-73FC-4B1D-8853-E9DD8B6B0E46}"/>
                  </a:ext>
                </a:extLst>
              </p:cNvPr>
              <p:cNvSpPr>
                <a:spLocks noChangeArrowheads="1"/>
              </p:cNvSpPr>
              <p:nvPr/>
            </p:nvSpPr>
            <p:spPr bwMode="auto">
              <a:xfrm>
                <a:off x="1296" y="1680"/>
                <a:ext cx="1440" cy="288"/>
              </a:xfrm>
              <a:prstGeom prst="flowChartDecision">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(A&gt;1) ^ (B=0)</a:t>
                </a:r>
              </a:p>
            </p:txBody>
          </p:sp>
          <p:sp>
            <p:nvSpPr>
              <p:cNvPr id="52316" name="Line 151">
                <a:extLst>
                  <a:ext uri="{FF2B5EF4-FFF2-40B4-BE49-F238E27FC236}">
                    <a16:creationId xmlns:a16="http://schemas.microsoft.com/office/drawing/2014/main" id="{429AD140-F4D3-450C-9DBD-F96C982EAEA6}"/>
                  </a:ext>
                </a:extLst>
              </p:cNvPr>
              <p:cNvSpPr>
                <a:spLocks noChangeShapeType="1"/>
              </p:cNvSpPr>
              <p:nvPr/>
            </p:nvSpPr>
            <p:spPr bwMode="auto">
              <a:xfrm>
                <a:off x="1200" y="1824"/>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17" name="Line 152">
                <a:extLst>
                  <a:ext uri="{FF2B5EF4-FFF2-40B4-BE49-F238E27FC236}">
                    <a16:creationId xmlns:a16="http://schemas.microsoft.com/office/drawing/2014/main" id="{BF6D8B89-E45C-4C0A-826A-48CA8F6C23D9}"/>
                  </a:ext>
                </a:extLst>
              </p:cNvPr>
              <p:cNvSpPr>
                <a:spLocks noChangeShapeType="1"/>
              </p:cNvSpPr>
              <p:nvPr/>
            </p:nvSpPr>
            <p:spPr bwMode="auto">
              <a:xfrm>
                <a:off x="2880" y="182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318" name="Rectangle 153">
                <a:extLst>
                  <a:ext uri="{FF2B5EF4-FFF2-40B4-BE49-F238E27FC236}">
                    <a16:creationId xmlns:a16="http://schemas.microsoft.com/office/drawing/2014/main" id="{5A2CE2D9-0AB9-4CA4-939C-36425BEF93CA}"/>
                  </a:ext>
                </a:extLst>
              </p:cNvPr>
              <p:cNvSpPr>
                <a:spLocks noChangeArrowheads="1"/>
              </p:cNvSpPr>
              <p:nvPr/>
            </p:nvSpPr>
            <p:spPr bwMode="auto">
              <a:xfrm>
                <a:off x="2496" y="2016"/>
                <a:ext cx="768" cy="288"/>
              </a:xfrm>
              <a:prstGeom prst="rect">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X=X/A</a:t>
                </a:r>
              </a:p>
            </p:txBody>
          </p:sp>
          <p:sp>
            <p:nvSpPr>
              <p:cNvPr id="52319" name="Line 154">
                <a:extLst>
                  <a:ext uri="{FF2B5EF4-FFF2-40B4-BE49-F238E27FC236}">
                    <a16:creationId xmlns:a16="http://schemas.microsoft.com/office/drawing/2014/main" id="{9F84CF46-2F77-4C43-A41C-3EBED0DDBFD3}"/>
                  </a:ext>
                </a:extLst>
              </p:cNvPr>
              <p:cNvSpPr>
                <a:spLocks noChangeShapeType="1"/>
              </p:cNvSpPr>
              <p:nvPr/>
            </p:nvSpPr>
            <p:spPr bwMode="auto">
              <a:xfrm>
                <a:off x="1200" y="1824"/>
                <a:ext cx="0" cy="672"/>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20" name="Line 155">
                <a:extLst>
                  <a:ext uri="{FF2B5EF4-FFF2-40B4-BE49-F238E27FC236}">
                    <a16:creationId xmlns:a16="http://schemas.microsoft.com/office/drawing/2014/main" id="{EB445DD7-BC81-42D6-9C6D-93C04FD22A7B}"/>
                  </a:ext>
                </a:extLst>
              </p:cNvPr>
              <p:cNvSpPr>
                <a:spLocks noChangeShapeType="1"/>
              </p:cNvSpPr>
              <p:nvPr/>
            </p:nvSpPr>
            <p:spPr bwMode="auto">
              <a:xfrm>
                <a:off x="1200" y="2496"/>
                <a:ext cx="1680"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21" name="Line 156">
                <a:extLst>
                  <a:ext uri="{FF2B5EF4-FFF2-40B4-BE49-F238E27FC236}">
                    <a16:creationId xmlns:a16="http://schemas.microsoft.com/office/drawing/2014/main" id="{59729F2B-007B-45A3-8E23-766D734DCA7E}"/>
                  </a:ext>
                </a:extLst>
              </p:cNvPr>
              <p:cNvSpPr>
                <a:spLocks noChangeShapeType="1"/>
              </p:cNvSpPr>
              <p:nvPr/>
            </p:nvSpPr>
            <p:spPr bwMode="auto">
              <a:xfrm>
                <a:off x="2016" y="2496"/>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322" name="Line 157">
                <a:extLst>
                  <a:ext uri="{FF2B5EF4-FFF2-40B4-BE49-F238E27FC236}">
                    <a16:creationId xmlns:a16="http://schemas.microsoft.com/office/drawing/2014/main" id="{44879644-1485-4C15-A1CA-F2493049FC66}"/>
                  </a:ext>
                </a:extLst>
              </p:cNvPr>
              <p:cNvSpPr>
                <a:spLocks noChangeShapeType="1"/>
              </p:cNvSpPr>
              <p:nvPr/>
            </p:nvSpPr>
            <p:spPr bwMode="auto">
              <a:xfrm>
                <a:off x="2016" y="1488"/>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323" name="Text Box 158">
                <a:extLst>
                  <a:ext uri="{FF2B5EF4-FFF2-40B4-BE49-F238E27FC236}">
                    <a16:creationId xmlns:a16="http://schemas.microsoft.com/office/drawing/2014/main" id="{B86AF3BD-1667-4694-B55C-B0B6D931F9B2}"/>
                  </a:ext>
                </a:extLst>
              </p:cNvPr>
              <p:cNvSpPr txBox="1">
                <a:spLocks noChangeArrowheads="1"/>
              </p:cNvSpPr>
              <p:nvPr/>
            </p:nvSpPr>
            <p:spPr bwMode="auto">
              <a:xfrm>
                <a:off x="2736" y="1632"/>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T</a:t>
                </a:r>
              </a:p>
            </p:txBody>
          </p:sp>
          <p:sp>
            <p:nvSpPr>
              <p:cNvPr id="52324" name="Text Box 159">
                <a:extLst>
                  <a:ext uri="{FF2B5EF4-FFF2-40B4-BE49-F238E27FC236}">
                    <a16:creationId xmlns:a16="http://schemas.microsoft.com/office/drawing/2014/main" id="{8C5E30D9-A372-4105-BC55-DF0FDD219976}"/>
                  </a:ext>
                </a:extLst>
              </p:cNvPr>
              <p:cNvSpPr txBox="1">
                <a:spLocks noChangeArrowheads="1"/>
              </p:cNvSpPr>
              <p:nvPr/>
            </p:nvSpPr>
            <p:spPr bwMode="auto">
              <a:xfrm>
                <a:off x="1200" y="1632"/>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F</a:t>
                </a:r>
              </a:p>
            </p:txBody>
          </p:sp>
          <p:sp>
            <p:nvSpPr>
              <p:cNvPr id="52325" name="Line 160">
                <a:extLst>
                  <a:ext uri="{FF2B5EF4-FFF2-40B4-BE49-F238E27FC236}">
                    <a16:creationId xmlns:a16="http://schemas.microsoft.com/office/drawing/2014/main" id="{816E4F3C-100C-4566-A28D-4D52E396B7A7}"/>
                  </a:ext>
                </a:extLst>
              </p:cNvPr>
              <p:cNvSpPr>
                <a:spLocks noChangeShapeType="1"/>
              </p:cNvSpPr>
              <p:nvPr/>
            </p:nvSpPr>
            <p:spPr bwMode="auto">
              <a:xfrm>
                <a:off x="2736" y="1824"/>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26" name="Line 161">
                <a:extLst>
                  <a:ext uri="{FF2B5EF4-FFF2-40B4-BE49-F238E27FC236}">
                    <a16:creationId xmlns:a16="http://schemas.microsoft.com/office/drawing/2014/main" id="{561164BA-30DC-4D06-AE64-6DB58E3A02DF}"/>
                  </a:ext>
                </a:extLst>
              </p:cNvPr>
              <p:cNvSpPr>
                <a:spLocks noChangeShapeType="1"/>
              </p:cNvSpPr>
              <p:nvPr/>
            </p:nvSpPr>
            <p:spPr bwMode="auto">
              <a:xfrm>
                <a:off x="2880" y="230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327" name="AutoShape 162">
                <a:extLst>
                  <a:ext uri="{FF2B5EF4-FFF2-40B4-BE49-F238E27FC236}">
                    <a16:creationId xmlns:a16="http://schemas.microsoft.com/office/drawing/2014/main" id="{81409B8D-BDF0-428E-8144-C2B5EB78C4A9}"/>
                  </a:ext>
                </a:extLst>
              </p:cNvPr>
              <p:cNvSpPr>
                <a:spLocks noChangeArrowheads="1"/>
              </p:cNvSpPr>
              <p:nvPr/>
            </p:nvSpPr>
            <p:spPr bwMode="auto">
              <a:xfrm>
                <a:off x="1344" y="2640"/>
                <a:ext cx="1344" cy="288"/>
              </a:xfrm>
              <a:prstGeom prst="flowChartDecision">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(A=2) V (X&gt;1)</a:t>
                </a:r>
              </a:p>
            </p:txBody>
          </p:sp>
          <p:sp>
            <p:nvSpPr>
              <p:cNvPr id="52328" name="Rectangle 163">
                <a:extLst>
                  <a:ext uri="{FF2B5EF4-FFF2-40B4-BE49-F238E27FC236}">
                    <a16:creationId xmlns:a16="http://schemas.microsoft.com/office/drawing/2014/main" id="{D2DF166A-A496-4C92-BE67-7406176E3C5E}"/>
                  </a:ext>
                </a:extLst>
              </p:cNvPr>
              <p:cNvSpPr>
                <a:spLocks noChangeArrowheads="1"/>
              </p:cNvSpPr>
              <p:nvPr/>
            </p:nvSpPr>
            <p:spPr bwMode="auto">
              <a:xfrm>
                <a:off x="2544" y="2976"/>
                <a:ext cx="768" cy="288"/>
              </a:xfrm>
              <a:prstGeom prst="rect">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X=X+1</a:t>
                </a:r>
              </a:p>
            </p:txBody>
          </p:sp>
          <p:sp>
            <p:nvSpPr>
              <p:cNvPr id="52329" name="Text Box 164">
                <a:extLst>
                  <a:ext uri="{FF2B5EF4-FFF2-40B4-BE49-F238E27FC236}">
                    <a16:creationId xmlns:a16="http://schemas.microsoft.com/office/drawing/2014/main" id="{C13F4182-9B0A-43FD-A5A9-F2A271C7D5CF}"/>
                  </a:ext>
                </a:extLst>
              </p:cNvPr>
              <p:cNvSpPr txBox="1">
                <a:spLocks noChangeArrowheads="1"/>
              </p:cNvSpPr>
              <p:nvPr/>
            </p:nvSpPr>
            <p:spPr bwMode="auto">
              <a:xfrm>
                <a:off x="2640" y="2592"/>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T</a:t>
                </a:r>
              </a:p>
            </p:txBody>
          </p:sp>
          <p:sp>
            <p:nvSpPr>
              <p:cNvPr id="52330" name="Line 165">
                <a:extLst>
                  <a:ext uri="{FF2B5EF4-FFF2-40B4-BE49-F238E27FC236}">
                    <a16:creationId xmlns:a16="http://schemas.microsoft.com/office/drawing/2014/main" id="{A18FA980-60E0-4815-AE05-70E42EE4DB36}"/>
                  </a:ext>
                </a:extLst>
              </p:cNvPr>
              <p:cNvSpPr>
                <a:spLocks noChangeShapeType="1"/>
              </p:cNvSpPr>
              <p:nvPr/>
            </p:nvSpPr>
            <p:spPr bwMode="auto">
              <a:xfrm>
                <a:off x="1200" y="2784"/>
                <a:ext cx="0" cy="624"/>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31" name="Line 166">
                <a:extLst>
                  <a:ext uri="{FF2B5EF4-FFF2-40B4-BE49-F238E27FC236}">
                    <a16:creationId xmlns:a16="http://schemas.microsoft.com/office/drawing/2014/main" id="{5C937643-48C0-4FF5-8248-D45F1D625643}"/>
                  </a:ext>
                </a:extLst>
              </p:cNvPr>
              <p:cNvSpPr>
                <a:spLocks noChangeShapeType="1"/>
              </p:cNvSpPr>
              <p:nvPr/>
            </p:nvSpPr>
            <p:spPr bwMode="auto">
              <a:xfrm>
                <a:off x="1200" y="3408"/>
                <a:ext cx="1680"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32" name="Text Box 167">
                <a:extLst>
                  <a:ext uri="{FF2B5EF4-FFF2-40B4-BE49-F238E27FC236}">
                    <a16:creationId xmlns:a16="http://schemas.microsoft.com/office/drawing/2014/main" id="{C549C9BA-C63D-4B57-8D69-9FA49CE5D42C}"/>
                  </a:ext>
                </a:extLst>
              </p:cNvPr>
              <p:cNvSpPr txBox="1">
                <a:spLocks noChangeArrowheads="1"/>
              </p:cNvSpPr>
              <p:nvPr/>
            </p:nvSpPr>
            <p:spPr bwMode="auto">
              <a:xfrm>
                <a:off x="1200" y="2544"/>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F</a:t>
                </a:r>
              </a:p>
            </p:txBody>
          </p:sp>
          <p:sp>
            <p:nvSpPr>
              <p:cNvPr id="52333" name="Line 168">
                <a:extLst>
                  <a:ext uri="{FF2B5EF4-FFF2-40B4-BE49-F238E27FC236}">
                    <a16:creationId xmlns:a16="http://schemas.microsoft.com/office/drawing/2014/main" id="{FCE880B9-989E-4ADC-8A5F-D0E58062DDA4}"/>
                  </a:ext>
                </a:extLst>
              </p:cNvPr>
              <p:cNvSpPr>
                <a:spLocks noChangeShapeType="1"/>
              </p:cNvSpPr>
              <p:nvPr/>
            </p:nvSpPr>
            <p:spPr bwMode="auto">
              <a:xfrm>
                <a:off x="2688" y="2784"/>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34" name="Line 169">
                <a:extLst>
                  <a:ext uri="{FF2B5EF4-FFF2-40B4-BE49-F238E27FC236}">
                    <a16:creationId xmlns:a16="http://schemas.microsoft.com/office/drawing/2014/main" id="{863B9568-3951-4905-A14A-1463EACE3E65}"/>
                  </a:ext>
                </a:extLst>
              </p:cNvPr>
              <p:cNvSpPr>
                <a:spLocks noChangeShapeType="1"/>
              </p:cNvSpPr>
              <p:nvPr/>
            </p:nvSpPr>
            <p:spPr bwMode="auto">
              <a:xfrm>
                <a:off x="2880" y="278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335" name="Line 170">
                <a:extLst>
                  <a:ext uri="{FF2B5EF4-FFF2-40B4-BE49-F238E27FC236}">
                    <a16:creationId xmlns:a16="http://schemas.microsoft.com/office/drawing/2014/main" id="{2CAEA213-32FE-476A-AB46-03FE9F187918}"/>
                  </a:ext>
                </a:extLst>
              </p:cNvPr>
              <p:cNvSpPr>
                <a:spLocks noChangeShapeType="1"/>
              </p:cNvSpPr>
              <p:nvPr/>
            </p:nvSpPr>
            <p:spPr bwMode="auto">
              <a:xfrm>
                <a:off x="2880" y="3264"/>
                <a:ext cx="0" cy="144"/>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36" name="Line 171">
                <a:extLst>
                  <a:ext uri="{FF2B5EF4-FFF2-40B4-BE49-F238E27FC236}">
                    <a16:creationId xmlns:a16="http://schemas.microsoft.com/office/drawing/2014/main" id="{F0F83A3E-45FF-485C-B86C-4F9EBCD5B9F2}"/>
                  </a:ext>
                </a:extLst>
              </p:cNvPr>
              <p:cNvSpPr>
                <a:spLocks noChangeShapeType="1"/>
              </p:cNvSpPr>
              <p:nvPr/>
            </p:nvSpPr>
            <p:spPr bwMode="auto">
              <a:xfrm>
                <a:off x="2064" y="3408"/>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337" name="Line 172">
                <a:extLst>
                  <a:ext uri="{FF2B5EF4-FFF2-40B4-BE49-F238E27FC236}">
                    <a16:creationId xmlns:a16="http://schemas.microsoft.com/office/drawing/2014/main" id="{22BB27D0-BB3E-4933-95C0-73329088A523}"/>
                  </a:ext>
                </a:extLst>
              </p:cNvPr>
              <p:cNvSpPr>
                <a:spLocks noChangeShapeType="1"/>
              </p:cNvSpPr>
              <p:nvPr/>
            </p:nvSpPr>
            <p:spPr bwMode="auto">
              <a:xfrm>
                <a:off x="1200" y="2784"/>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291437" name="Rectangle 173">
            <a:extLst>
              <a:ext uri="{FF2B5EF4-FFF2-40B4-BE49-F238E27FC236}">
                <a16:creationId xmlns:a16="http://schemas.microsoft.com/office/drawing/2014/main" id="{DD40234F-0B5F-4E9E-BA86-AEA451D09288}"/>
              </a:ext>
            </a:extLst>
          </p:cNvPr>
          <p:cNvSpPr>
            <a:spLocks noChangeArrowheads="1"/>
          </p:cNvSpPr>
          <p:nvPr/>
        </p:nvSpPr>
        <p:spPr bwMode="auto">
          <a:xfrm>
            <a:off x="7162800" y="4038600"/>
            <a:ext cx="685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buClr>
                <a:schemeClr val="accent1"/>
              </a:buClr>
              <a:buSzPct val="90000"/>
              <a:buFont typeface="Monotype Sorts" pitchFamily="2" charset="2"/>
              <a:buNone/>
            </a:pPr>
            <a:r>
              <a:rPr kumimoji="1" lang="en-US" altLang="zh-CN" sz="1800" b="1">
                <a:solidFill>
                  <a:srgbClr val="D35FC2"/>
                </a:solidFill>
                <a:ea typeface="文鼎细圆" pitchFamily="49" charset="-122"/>
              </a:rPr>
              <a:t>A&gt;1</a:t>
            </a:r>
          </a:p>
          <a:p>
            <a:pPr eaLnBrk="1" hangingPunct="1">
              <a:buClr>
                <a:schemeClr val="accent1"/>
              </a:buClr>
              <a:buSzPct val="90000"/>
              <a:buFont typeface="Monotype Sorts" pitchFamily="2" charset="2"/>
              <a:buNone/>
            </a:pPr>
            <a:r>
              <a:rPr kumimoji="1" lang="en-US" altLang="zh-CN" sz="1800" b="1">
                <a:solidFill>
                  <a:srgbClr val="D35FC2"/>
                </a:solidFill>
                <a:ea typeface="文鼎细圆" pitchFamily="49" charset="-122"/>
              </a:rPr>
              <a:t>B=0</a:t>
            </a:r>
          </a:p>
        </p:txBody>
      </p:sp>
      <p:sp>
        <p:nvSpPr>
          <p:cNvPr id="1291439" name="Rectangle 175">
            <a:extLst>
              <a:ext uri="{FF2B5EF4-FFF2-40B4-BE49-F238E27FC236}">
                <a16:creationId xmlns:a16="http://schemas.microsoft.com/office/drawing/2014/main" id="{CC3C6EA6-49EE-4892-BD81-239E3965711D}"/>
              </a:ext>
            </a:extLst>
          </p:cNvPr>
          <p:cNvSpPr>
            <a:spLocks noChangeArrowheads="1"/>
          </p:cNvSpPr>
          <p:nvPr/>
        </p:nvSpPr>
        <p:spPr bwMode="auto">
          <a:xfrm>
            <a:off x="7162800" y="4648200"/>
            <a:ext cx="685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lnSpc>
                <a:spcPct val="75000"/>
              </a:lnSpc>
              <a:buClr>
                <a:schemeClr val="accent1"/>
              </a:buClr>
              <a:buSzPct val="90000"/>
              <a:buFont typeface="Monotype Sorts" pitchFamily="2" charset="2"/>
              <a:buNone/>
            </a:pPr>
            <a:r>
              <a:rPr kumimoji="1" lang="en-US" altLang="zh-CN" sz="1800" b="1">
                <a:solidFill>
                  <a:srgbClr val="D35FC2"/>
                </a:solidFill>
                <a:ea typeface="文鼎细圆" pitchFamily="49" charset="-122"/>
              </a:rPr>
              <a:t>A&gt;1</a:t>
            </a:r>
          </a:p>
          <a:p>
            <a:pPr eaLnBrk="1" hangingPunct="1">
              <a:lnSpc>
                <a:spcPct val="75000"/>
              </a:lnSpc>
              <a:buClr>
                <a:schemeClr val="accent1"/>
              </a:buClr>
              <a:buSzPct val="90000"/>
              <a:buFont typeface="Monotype Sorts" pitchFamily="2" charset="2"/>
              <a:buNone/>
            </a:pPr>
            <a:r>
              <a:rPr kumimoji="1" lang="en-US" altLang="zh-CN" sz="1800" b="1">
                <a:solidFill>
                  <a:srgbClr val="D35FC2"/>
                </a:solidFill>
                <a:ea typeface="文鼎细圆" pitchFamily="49" charset="-122"/>
              </a:rPr>
              <a:t>B </a:t>
            </a:r>
            <a:r>
              <a:rPr kumimoji="1" lang="zh-CN" altLang="en-US" sz="1400" b="1">
                <a:solidFill>
                  <a:srgbClr val="D35FC2"/>
                </a:solidFill>
              </a:rPr>
              <a:t>≠</a:t>
            </a:r>
            <a:r>
              <a:rPr kumimoji="1" lang="en-US" altLang="zh-CN" sz="1800" b="1">
                <a:solidFill>
                  <a:srgbClr val="D35FC2"/>
                </a:solidFill>
                <a:ea typeface="文鼎细圆" pitchFamily="49" charset="-122"/>
              </a:rPr>
              <a:t> 0</a:t>
            </a:r>
          </a:p>
        </p:txBody>
      </p:sp>
      <p:sp>
        <p:nvSpPr>
          <p:cNvPr id="1291443" name="Rectangle 179">
            <a:extLst>
              <a:ext uri="{FF2B5EF4-FFF2-40B4-BE49-F238E27FC236}">
                <a16:creationId xmlns:a16="http://schemas.microsoft.com/office/drawing/2014/main" id="{BDBAC9BB-3D08-428A-802A-E737D4CB9C8D}"/>
              </a:ext>
            </a:extLst>
          </p:cNvPr>
          <p:cNvSpPr>
            <a:spLocks noChangeArrowheads="1"/>
          </p:cNvSpPr>
          <p:nvPr/>
        </p:nvSpPr>
        <p:spPr bwMode="auto">
          <a:xfrm>
            <a:off x="7162800" y="5334000"/>
            <a:ext cx="685800" cy="533400"/>
          </a:xfrm>
          <a:prstGeom prst="rect">
            <a:avLst/>
          </a:prstGeom>
          <a:noFill/>
          <a:ln w="38100" cmpd="dbl">
            <a:noFill/>
            <a:miter lim="800000"/>
            <a:headEnd/>
            <a:tailEnd/>
          </a:ln>
          <a:effectLst/>
        </p:spPr>
        <p:txBody>
          <a:bodyPr wrap="none" anchor="ctr"/>
          <a:lstStyle/>
          <a:p>
            <a:pPr eaLnBrk="1" hangingPunct="1">
              <a:lnSpc>
                <a:spcPct val="75000"/>
              </a:lnSpc>
              <a:spcBef>
                <a:spcPct val="20000"/>
              </a:spcBef>
              <a:buClr>
                <a:schemeClr val="accent1"/>
              </a:buClr>
              <a:buSzPct val="90000"/>
              <a:buFont typeface="Monotype Sorts" pitchFamily="2" charset="2"/>
              <a:buNone/>
              <a:defRPr/>
            </a:pPr>
            <a:r>
              <a:rPr kumimoji="1" lang="en-US" altLang="zh-CN" b="1">
                <a:solidFill>
                  <a:srgbClr val="D35FC2"/>
                </a:solidFill>
                <a:latin typeface="Arial" charset="0"/>
                <a:ea typeface="文鼎细圆" pitchFamily="49" charset="-122"/>
              </a:rPr>
              <a:t>A </a:t>
            </a:r>
            <a:r>
              <a:rPr kumimoji="1" lang="en-US" altLang="zh-CN" sz="1600" b="1">
                <a:solidFill>
                  <a:srgbClr val="D35FC2"/>
                </a:solidFill>
                <a:effectLst>
                  <a:outerShdw blurRad="38100" dist="38100" dir="2700000" algn="tl">
                    <a:srgbClr val="000000"/>
                  </a:outerShdw>
                </a:effectLst>
                <a:latin typeface="Arial" charset="0"/>
              </a:rPr>
              <a:t>≯</a:t>
            </a:r>
            <a:r>
              <a:rPr kumimoji="1" lang="en-US" altLang="zh-CN" b="1">
                <a:solidFill>
                  <a:srgbClr val="D35FC2"/>
                </a:solidFill>
                <a:latin typeface="Arial" charset="0"/>
                <a:ea typeface="文鼎细圆" pitchFamily="49" charset="-122"/>
              </a:rPr>
              <a:t> 1</a:t>
            </a:r>
          </a:p>
          <a:p>
            <a:pPr eaLnBrk="1" hangingPunct="1">
              <a:lnSpc>
                <a:spcPct val="75000"/>
              </a:lnSpc>
              <a:spcBef>
                <a:spcPct val="20000"/>
              </a:spcBef>
              <a:buClr>
                <a:schemeClr val="accent1"/>
              </a:buClr>
              <a:buSzPct val="90000"/>
              <a:buFont typeface="Monotype Sorts" pitchFamily="2" charset="2"/>
              <a:buNone/>
              <a:defRPr/>
            </a:pPr>
            <a:r>
              <a:rPr kumimoji="1" lang="en-US" altLang="zh-CN" b="1">
                <a:solidFill>
                  <a:srgbClr val="D35FC2"/>
                </a:solidFill>
                <a:latin typeface="Arial" charset="0"/>
                <a:ea typeface="文鼎细圆" pitchFamily="49" charset="-122"/>
              </a:rPr>
              <a:t>B </a:t>
            </a:r>
            <a:r>
              <a:rPr kumimoji="1" lang="zh-CN" altLang="en-US" b="1">
                <a:solidFill>
                  <a:srgbClr val="D35FC2"/>
                </a:solidFill>
                <a:latin typeface="Arial" charset="0"/>
              </a:rPr>
              <a:t>=</a:t>
            </a:r>
            <a:r>
              <a:rPr kumimoji="1" lang="zh-CN" altLang="en-US" sz="1400" b="1">
                <a:solidFill>
                  <a:srgbClr val="D35FC2"/>
                </a:solidFill>
                <a:latin typeface="Arial" charset="0"/>
              </a:rPr>
              <a:t> </a:t>
            </a:r>
            <a:r>
              <a:rPr kumimoji="1" lang="en-US" altLang="zh-CN" b="1">
                <a:solidFill>
                  <a:srgbClr val="D35FC2"/>
                </a:solidFill>
                <a:latin typeface="Arial" charset="0"/>
                <a:ea typeface="文鼎细圆" pitchFamily="49" charset="-122"/>
              </a:rPr>
              <a:t>0</a:t>
            </a:r>
          </a:p>
        </p:txBody>
      </p:sp>
      <p:sp>
        <p:nvSpPr>
          <p:cNvPr id="1291446" name="Rectangle 182">
            <a:extLst>
              <a:ext uri="{FF2B5EF4-FFF2-40B4-BE49-F238E27FC236}">
                <a16:creationId xmlns:a16="http://schemas.microsoft.com/office/drawing/2014/main" id="{A327F807-9D47-4761-90D3-43F4A1F985C3}"/>
              </a:ext>
            </a:extLst>
          </p:cNvPr>
          <p:cNvSpPr>
            <a:spLocks noChangeArrowheads="1"/>
          </p:cNvSpPr>
          <p:nvPr/>
        </p:nvSpPr>
        <p:spPr bwMode="auto">
          <a:xfrm>
            <a:off x="7162800" y="5943600"/>
            <a:ext cx="685800" cy="533400"/>
          </a:xfrm>
          <a:prstGeom prst="rect">
            <a:avLst/>
          </a:prstGeom>
          <a:noFill/>
          <a:ln w="38100" cmpd="dbl">
            <a:noFill/>
            <a:miter lim="800000"/>
            <a:headEnd/>
            <a:tailEnd/>
          </a:ln>
          <a:effectLst/>
        </p:spPr>
        <p:txBody>
          <a:bodyPr wrap="none" anchor="ctr"/>
          <a:lstStyle/>
          <a:p>
            <a:pPr eaLnBrk="1" hangingPunct="1">
              <a:lnSpc>
                <a:spcPct val="75000"/>
              </a:lnSpc>
              <a:spcBef>
                <a:spcPct val="20000"/>
              </a:spcBef>
              <a:buClr>
                <a:schemeClr val="accent1"/>
              </a:buClr>
              <a:buSzPct val="90000"/>
              <a:buFont typeface="Monotype Sorts" pitchFamily="2" charset="2"/>
              <a:buNone/>
              <a:defRPr/>
            </a:pPr>
            <a:r>
              <a:rPr kumimoji="1" lang="en-US" altLang="zh-CN" b="1">
                <a:solidFill>
                  <a:srgbClr val="D35FC2"/>
                </a:solidFill>
                <a:latin typeface="Arial" charset="0"/>
                <a:ea typeface="文鼎细圆" pitchFamily="49" charset="-122"/>
              </a:rPr>
              <a:t>A </a:t>
            </a:r>
            <a:r>
              <a:rPr kumimoji="1" lang="en-US" altLang="zh-CN" sz="1600" b="1">
                <a:solidFill>
                  <a:srgbClr val="D35FC2"/>
                </a:solidFill>
                <a:effectLst>
                  <a:outerShdw blurRad="38100" dist="38100" dir="2700000" algn="tl">
                    <a:srgbClr val="000000"/>
                  </a:outerShdw>
                </a:effectLst>
                <a:latin typeface="Arial" charset="0"/>
              </a:rPr>
              <a:t>≯</a:t>
            </a:r>
            <a:r>
              <a:rPr kumimoji="1" lang="en-US" altLang="zh-CN" b="1">
                <a:solidFill>
                  <a:srgbClr val="D35FC2"/>
                </a:solidFill>
                <a:latin typeface="Arial" charset="0"/>
                <a:ea typeface="文鼎细圆" pitchFamily="49" charset="-122"/>
              </a:rPr>
              <a:t> 1</a:t>
            </a:r>
          </a:p>
          <a:p>
            <a:pPr eaLnBrk="1" hangingPunct="1">
              <a:lnSpc>
                <a:spcPct val="75000"/>
              </a:lnSpc>
              <a:spcBef>
                <a:spcPct val="20000"/>
              </a:spcBef>
              <a:buClr>
                <a:schemeClr val="accent1"/>
              </a:buClr>
              <a:buSzPct val="90000"/>
              <a:buFont typeface="Monotype Sorts" pitchFamily="2" charset="2"/>
              <a:buNone/>
              <a:defRPr/>
            </a:pPr>
            <a:r>
              <a:rPr kumimoji="1" lang="en-US" altLang="zh-CN" b="1">
                <a:solidFill>
                  <a:srgbClr val="D35FC2"/>
                </a:solidFill>
                <a:latin typeface="Arial" charset="0"/>
                <a:ea typeface="文鼎细圆" pitchFamily="49" charset="-122"/>
              </a:rPr>
              <a:t>B </a:t>
            </a:r>
            <a:r>
              <a:rPr kumimoji="1" lang="zh-CN" altLang="en-US" sz="1400" b="1">
                <a:solidFill>
                  <a:srgbClr val="D35FC2"/>
                </a:solidFill>
                <a:effectLst>
                  <a:outerShdw blurRad="38100" dist="38100" dir="2700000" algn="tl">
                    <a:srgbClr val="000000"/>
                  </a:outerShdw>
                </a:effectLst>
                <a:latin typeface="Arial" charset="0"/>
              </a:rPr>
              <a:t>≠</a:t>
            </a:r>
            <a:r>
              <a:rPr kumimoji="1" lang="zh-CN" altLang="en-US" sz="1400" b="1">
                <a:solidFill>
                  <a:srgbClr val="D35FC2"/>
                </a:solidFill>
                <a:latin typeface="Arial" charset="0"/>
              </a:rPr>
              <a:t> </a:t>
            </a:r>
            <a:r>
              <a:rPr kumimoji="1" lang="en-US" altLang="zh-CN" b="1">
                <a:solidFill>
                  <a:srgbClr val="D35FC2"/>
                </a:solidFill>
                <a:latin typeface="Arial" charset="0"/>
                <a:ea typeface="文鼎细圆" pitchFamily="49" charset="-122"/>
              </a:rPr>
              <a:t>0</a:t>
            </a:r>
          </a:p>
        </p:txBody>
      </p:sp>
      <p:graphicFrame>
        <p:nvGraphicFramePr>
          <p:cNvPr id="1291449" name="Group 185">
            <a:extLst>
              <a:ext uri="{FF2B5EF4-FFF2-40B4-BE49-F238E27FC236}">
                <a16:creationId xmlns:a16="http://schemas.microsoft.com/office/drawing/2014/main" id="{70189806-0D44-41BE-BD1A-53C0BE936B23}"/>
              </a:ext>
            </a:extLst>
          </p:cNvPr>
          <p:cNvGraphicFramePr>
            <a:graphicFrameLocks noGrp="1"/>
          </p:cNvGraphicFramePr>
          <p:nvPr/>
        </p:nvGraphicFramePr>
        <p:xfrm>
          <a:off x="6934200" y="990600"/>
          <a:ext cx="3276600" cy="1752600"/>
        </p:xfrm>
        <a:graphic>
          <a:graphicData uri="http://schemas.openxmlformats.org/drawingml/2006/table">
            <a:tbl>
              <a:tblPr/>
              <a:tblGrid>
                <a:gridCol w="711200">
                  <a:extLst>
                    <a:ext uri="{9D8B030D-6E8A-4147-A177-3AD203B41FA5}">
                      <a16:colId xmlns:a16="http://schemas.microsoft.com/office/drawing/2014/main" val="20000"/>
                    </a:ext>
                  </a:extLst>
                </a:gridCol>
                <a:gridCol w="896938">
                  <a:extLst>
                    <a:ext uri="{9D8B030D-6E8A-4147-A177-3AD203B41FA5}">
                      <a16:colId xmlns:a16="http://schemas.microsoft.com/office/drawing/2014/main" val="20001"/>
                    </a:ext>
                  </a:extLst>
                </a:gridCol>
                <a:gridCol w="865187">
                  <a:extLst>
                    <a:ext uri="{9D8B030D-6E8A-4147-A177-3AD203B41FA5}">
                      <a16:colId xmlns:a16="http://schemas.microsoft.com/office/drawing/2014/main" val="20002"/>
                    </a:ext>
                  </a:extLst>
                </a:gridCol>
                <a:gridCol w="803275">
                  <a:extLst>
                    <a:ext uri="{9D8B030D-6E8A-4147-A177-3AD203B41FA5}">
                      <a16:colId xmlns:a16="http://schemas.microsoft.com/office/drawing/2014/main" val="20003"/>
                    </a:ext>
                  </a:extLst>
                </a:gridCol>
              </a:tblGrid>
              <a:tr h="3397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判断</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条件</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取真值</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取假值</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38138">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判断</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(一)</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A&gt;1</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T1</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T1</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972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B=0</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T2</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T2</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39725">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判断</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(二)</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A=2</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T3</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T3</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95288">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X&gt;1</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T4</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T4</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52289" name="Rectangle 215">
            <a:extLst>
              <a:ext uri="{FF2B5EF4-FFF2-40B4-BE49-F238E27FC236}">
                <a16:creationId xmlns:a16="http://schemas.microsoft.com/office/drawing/2014/main" id="{3BED20BB-59AA-497F-A8FE-EBA18B051EA7}"/>
              </a:ext>
            </a:extLst>
          </p:cNvPr>
          <p:cNvSpPr>
            <a:spLocks noChangeArrowheads="1"/>
          </p:cNvSpPr>
          <p:nvPr/>
        </p:nvSpPr>
        <p:spPr bwMode="auto">
          <a:xfrm>
            <a:off x="7162800" y="533400"/>
            <a:ext cx="28194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600">
                <a:solidFill>
                  <a:srgbClr val="1AA1A4"/>
                </a:solidFill>
                <a:latin typeface="Times New Roman" panose="02020603050405020304" pitchFamily="18" charset="0"/>
                <a:ea typeface="黑体" panose="02010609060101010101" pitchFamily="49" charset="-122"/>
              </a:rPr>
              <a:t>设条件的取值标记</a:t>
            </a:r>
            <a:endParaRPr lang="en-US" altLang="zh-CN" sz="1600">
              <a:solidFill>
                <a:srgbClr val="1AA1A4"/>
              </a:solidFill>
              <a:latin typeface="Times New Roman" panose="02020603050405020304" pitchFamily="18" charset="0"/>
              <a:ea typeface="黑体" panose="02010609060101010101" pitchFamily="49" charset="-122"/>
            </a:endParaRPr>
          </a:p>
        </p:txBody>
      </p:sp>
      <p:sp>
        <p:nvSpPr>
          <p:cNvPr id="1291480" name="Rectangle 216">
            <a:extLst>
              <a:ext uri="{FF2B5EF4-FFF2-40B4-BE49-F238E27FC236}">
                <a16:creationId xmlns:a16="http://schemas.microsoft.com/office/drawing/2014/main" id="{4369F96F-D765-4CCF-BE3C-30F40539F397}"/>
              </a:ext>
            </a:extLst>
          </p:cNvPr>
          <p:cNvSpPr>
            <a:spLocks noChangeArrowheads="1"/>
          </p:cNvSpPr>
          <p:nvPr/>
        </p:nvSpPr>
        <p:spPr bwMode="auto">
          <a:xfrm>
            <a:off x="7924800" y="4191000"/>
            <a:ext cx="609600" cy="3048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b="1">
                <a:solidFill>
                  <a:srgbClr val="EF8D2B"/>
                </a:solidFill>
                <a:effectLst>
                  <a:outerShdw blurRad="38100" dist="38100" dir="2700000" algn="tl">
                    <a:srgbClr val="000000"/>
                  </a:outerShdw>
                </a:effectLst>
                <a:latin typeface="Arial" charset="0"/>
                <a:ea typeface="文鼎细圆" pitchFamily="49" charset="-122"/>
              </a:rPr>
              <a:t>T1 T2</a:t>
            </a:r>
          </a:p>
        </p:txBody>
      </p:sp>
      <p:sp>
        <p:nvSpPr>
          <p:cNvPr id="1291481" name="Rectangle 217">
            <a:extLst>
              <a:ext uri="{FF2B5EF4-FFF2-40B4-BE49-F238E27FC236}">
                <a16:creationId xmlns:a16="http://schemas.microsoft.com/office/drawing/2014/main" id="{B76FC633-E991-4EDD-A4D3-215863114D80}"/>
              </a:ext>
            </a:extLst>
          </p:cNvPr>
          <p:cNvSpPr>
            <a:spLocks noChangeArrowheads="1"/>
          </p:cNvSpPr>
          <p:nvPr/>
        </p:nvSpPr>
        <p:spPr bwMode="auto">
          <a:xfrm>
            <a:off x="8839200" y="4191000"/>
            <a:ext cx="1447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buClr>
                <a:schemeClr val="accent1"/>
              </a:buClr>
              <a:buSzPct val="90000"/>
              <a:buFont typeface="Monotype Sorts" pitchFamily="2" charset="2"/>
              <a:buNone/>
            </a:pPr>
            <a:r>
              <a:rPr kumimoji="1" lang="zh-CN" altLang="en-US" sz="1600" b="1">
                <a:solidFill>
                  <a:schemeClr val="accent2"/>
                </a:solidFill>
                <a:latin typeface="Times New Roman" panose="02020603050405020304" pitchFamily="18" charset="0"/>
                <a:ea typeface="文鼎细圆" pitchFamily="49" charset="-122"/>
              </a:rPr>
              <a:t>① </a:t>
            </a:r>
            <a:r>
              <a:rPr kumimoji="1" lang="zh-CN" altLang="en-US" sz="1600" b="1">
                <a:solidFill>
                  <a:srgbClr val="345BC8"/>
                </a:solidFill>
                <a:latin typeface="Times New Roman" panose="02020603050405020304" pitchFamily="18" charset="0"/>
                <a:ea typeface="文鼎细圆" pitchFamily="49" charset="-122"/>
              </a:rPr>
              <a:t> </a:t>
            </a:r>
            <a:r>
              <a:rPr kumimoji="1" lang="zh-CN" altLang="en-US" sz="1800">
                <a:solidFill>
                  <a:srgbClr val="345BC8"/>
                </a:solidFill>
                <a:latin typeface="黑体" panose="02010609060101010101" pitchFamily="49" charset="-122"/>
                <a:ea typeface="黑体" panose="02010609060101010101" pitchFamily="49" charset="-122"/>
              </a:rPr>
              <a:t>取</a:t>
            </a:r>
            <a:r>
              <a:rPr kumimoji="1" lang="zh-CN" altLang="en-US" sz="1800">
                <a:solidFill>
                  <a:schemeClr val="accent2"/>
                </a:solidFill>
                <a:latin typeface="黑体" panose="02010609060101010101" pitchFamily="49" charset="-122"/>
                <a:ea typeface="黑体" panose="02010609060101010101" pitchFamily="49" charset="-122"/>
              </a:rPr>
              <a:t>真</a:t>
            </a:r>
            <a:r>
              <a:rPr kumimoji="1" lang="zh-CN" altLang="en-US" sz="1800">
                <a:solidFill>
                  <a:srgbClr val="345BC8"/>
                </a:solidFill>
                <a:latin typeface="黑体" panose="02010609060101010101" pitchFamily="49" charset="-122"/>
                <a:ea typeface="黑体" panose="02010609060101010101" pitchFamily="49" charset="-122"/>
              </a:rPr>
              <a:t>分支</a:t>
            </a:r>
            <a:endParaRPr kumimoji="1" lang="en-US" altLang="zh-CN" sz="1800">
              <a:solidFill>
                <a:srgbClr val="345BC8"/>
              </a:solidFill>
              <a:latin typeface="黑体" panose="02010609060101010101" pitchFamily="49" charset="-122"/>
              <a:ea typeface="黑体" panose="02010609060101010101" pitchFamily="49" charset="-122"/>
            </a:endParaRPr>
          </a:p>
        </p:txBody>
      </p:sp>
      <p:grpSp>
        <p:nvGrpSpPr>
          <p:cNvPr id="4" name="Group 220">
            <a:extLst>
              <a:ext uri="{FF2B5EF4-FFF2-40B4-BE49-F238E27FC236}">
                <a16:creationId xmlns:a16="http://schemas.microsoft.com/office/drawing/2014/main" id="{46CBC74D-87FF-4EF5-9EF5-90E436D3BFAC}"/>
              </a:ext>
            </a:extLst>
          </p:cNvPr>
          <p:cNvGrpSpPr>
            <a:grpSpLocks/>
          </p:cNvGrpSpPr>
          <p:nvPr/>
        </p:nvGrpSpPr>
        <p:grpSpPr bwMode="auto">
          <a:xfrm>
            <a:off x="7924800" y="4800600"/>
            <a:ext cx="838200" cy="304800"/>
            <a:chOff x="2736" y="3264"/>
            <a:chExt cx="528" cy="192"/>
          </a:xfrm>
        </p:grpSpPr>
        <p:sp>
          <p:nvSpPr>
            <p:cNvPr id="52307" name="Line 141">
              <a:extLst>
                <a:ext uri="{FF2B5EF4-FFF2-40B4-BE49-F238E27FC236}">
                  <a16:creationId xmlns:a16="http://schemas.microsoft.com/office/drawing/2014/main" id="{2E062B14-82B5-4EDD-878B-710D797AB809}"/>
                </a:ext>
              </a:extLst>
            </p:cNvPr>
            <p:cNvSpPr>
              <a:spLocks noChangeShapeType="1"/>
            </p:cNvSpPr>
            <p:nvPr/>
          </p:nvSpPr>
          <p:spPr bwMode="auto">
            <a:xfrm>
              <a:off x="3024" y="3264"/>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1483" name="Rectangle 219">
              <a:extLst>
                <a:ext uri="{FF2B5EF4-FFF2-40B4-BE49-F238E27FC236}">
                  <a16:creationId xmlns:a16="http://schemas.microsoft.com/office/drawing/2014/main" id="{62F52CE3-B377-45E2-8E40-CD563B18769D}"/>
                </a:ext>
              </a:extLst>
            </p:cNvPr>
            <p:cNvSpPr>
              <a:spLocks noChangeArrowheads="1"/>
            </p:cNvSpPr>
            <p:nvPr/>
          </p:nvSpPr>
          <p:spPr bwMode="auto">
            <a:xfrm>
              <a:off x="2736" y="3264"/>
              <a:ext cx="528" cy="192"/>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b="1">
                  <a:solidFill>
                    <a:srgbClr val="EF8D2B"/>
                  </a:solidFill>
                  <a:effectLst>
                    <a:outerShdw blurRad="38100" dist="38100" dir="2700000" algn="tl">
                      <a:srgbClr val="000000"/>
                    </a:outerShdw>
                  </a:effectLst>
                  <a:latin typeface="Arial" charset="0"/>
                  <a:ea typeface="文鼎细圆" pitchFamily="49" charset="-122"/>
                </a:rPr>
                <a:t>T1 T2</a:t>
              </a:r>
            </a:p>
          </p:txBody>
        </p:sp>
      </p:grpSp>
      <p:grpSp>
        <p:nvGrpSpPr>
          <p:cNvPr id="5" name="Group 231">
            <a:extLst>
              <a:ext uri="{FF2B5EF4-FFF2-40B4-BE49-F238E27FC236}">
                <a16:creationId xmlns:a16="http://schemas.microsoft.com/office/drawing/2014/main" id="{C29CB849-518A-4765-A9F5-02CF03A223A9}"/>
              </a:ext>
            </a:extLst>
          </p:cNvPr>
          <p:cNvGrpSpPr>
            <a:grpSpLocks/>
          </p:cNvGrpSpPr>
          <p:nvPr/>
        </p:nvGrpSpPr>
        <p:grpSpPr bwMode="auto">
          <a:xfrm>
            <a:off x="8001000" y="5410200"/>
            <a:ext cx="838200" cy="304800"/>
            <a:chOff x="2544" y="3648"/>
            <a:chExt cx="528" cy="192"/>
          </a:xfrm>
        </p:grpSpPr>
        <p:sp>
          <p:nvSpPr>
            <p:cNvPr id="52305" name="Line 228">
              <a:extLst>
                <a:ext uri="{FF2B5EF4-FFF2-40B4-BE49-F238E27FC236}">
                  <a16:creationId xmlns:a16="http://schemas.microsoft.com/office/drawing/2014/main" id="{2E1C9228-672D-43B5-B514-4C69362713B5}"/>
                </a:ext>
              </a:extLst>
            </p:cNvPr>
            <p:cNvSpPr>
              <a:spLocks noChangeShapeType="1"/>
            </p:cNvSpPr>
            <p:nvPr/>
          </p:nvSpPr>
          <p:spPr bwMode="auto">
            <a:xfrm>
              <a:off x="2592" y="3648"/>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1493" name="Rectangle 229">
              <a:extLst>
                <a:ext uri="{FF2B5EF4-FFF2-40B4-BE49-F238E27FC236}">
                  <a16:creationId xmlns:a16="http://schemas.microsoft.com/office/drawing/2014/main" id="{4C80A1AE-FD5F-4435-8DB7-E083BE3B7D59}"/>
                </a:ext>
              </a:extLst>
            </p:cNvPr>
            <p:cNvSpPr>
              <a:spLocks noChangeArrowheads="1"/>
            </p:cNvSpPr>
            <p:nvPr/>
          </p:nvSpPr>
          <p:spPr bwMode="auto">
            <a:xfrm>
              <a:off x="2544" y="3648"/>
              <a:ext cx="528" cy="192"/>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b="1">
                  <a:solidFill>
                    <a:srgbClr val="EF8D2B"/>
                  </a:solidFill>
                  <a:effectLst>
                    <a:outerShdw blurRad="38100" dist="38100" dir="2700000" algn="tl">
                      <a:srgbClr val="000000"/>
                    </a:outerShdw>
                  </a:effectLst>
                  <a:latin typeface="Arial" charset="0"/>
                  <a:ea typeface="文鼎细圆" pitchFamily="49" charset="-122"/>
                </a:rPr>
                <a:t>T1 T2</a:t>
              </a:r>
            </a:p>
          </p:txBody>
        </p:sp>
      </p:grpSp>
      <p:sp>
        <p:nvSpPr>
          <p:cNvPr id="1291494" name="Rectangle 230">
            <a:extLst>
              <a:ext uri="{FF2B5EF4-FFF2-40B4-BE49-F238E27FC236}">
                <a16:creationId xmlns:a16="http://schemas.microsoft.com/office/drawing/2014/main" id="{7EB7B11C-EAA6-4416-89B6-7AE26C04EED0}"/>
              </a:ext>
            </a:extLst>
          </p:cNvPr>
          <p:cNvSpPr>
            <a:spLocks noChangeArrowheads="1"/>
          </p:cNvSpPr>
          <p:nvPr/>
        </p:nvSpPr>
        <p:spPr bwMode="auto">
          <a:xfrm>
            <a:off x="8839200" y="4800600"/>
            <a:ext cx="1447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buClr>
                <a:schemeClr val="accent1"/>
              </a:buClr>
              <a:buSzPct val="90000"/>
              <a:buFont typeface="Monotype Sorts" pitchFamily="2" charset="2"/>
              <a:buNone/>
            </a:pPr>
            <a:r>
              <a:rPr kumimoji="1" lang="zh-CN" altLang="en-US" sz="1600" b="1">
                <a:solidFill>
                  <a:schemeClr val="accent2"/>
                </a:solidFill>
                <a:latin typeface="Times New Roman" panose="02020603050405020304" pitchFamily="18" charset="0"/>
                <a:ea typeface="文鼎细圆" pitchFamily="49" charset="-122"/>
              </a:rPr>
              <a:t>② </a:t>
            </a:r>
            <a:r>
              <a:rPr kumimoji="1" lang="zh-CN" altLang="en-US" sz="1600" b="1">
                <a:solidFill>
                  <a:srgbClr val="345BC8"/>
                </a:solidFill>
                <a:latin typeface="Times New Roman" panose="02020603050405020304" pitchFamily="18" charset="0"/>
                <a:ea typeface="文鼎细圆" pitchFamily="49" charset="-122"/>
              </a:rPr>
              <a:t> </a:t>
            </a:r>
            <a:r>
              <a:rPr kumimoji="1" lang="zh-CN" altLang="en-US" sz="1800">
                <a:solidFill>
                  <a:srgbClr val="345BC8"/>
                </a:solidFill>
                <a:latin typeface="黑体" panose="02010609060101010101" pitchFamily="49" charset="-122"/>
                <a:ea typeface="黑体" panose="02010609060101010101" pitchFamily="49" charset="-122"/>
              </a:rPr>
              <a:t>取</a:t>
            </a:r>
            <a:r>
              <a:rPr kumimoji="1" lang="zh-CN" altLang="en-US" sz="1800">
                <a:solidFill>
                  <a:schemeClr val="accent2"/>
                </a:solidFill>
                <a:latin typeface="黑体" panose="02010609060101010101" pitchFamily="49" charset="-122"/>
                <a:ea typeface="黑体" panose="02010609060101010101" pitchFamily="49" charset="-122"/>
              </a:rPr>
              <a:t>假</a:t>
            </a:r>
            <a:r>
              <a:rPr kumimoji="1" lang="zh-CN" altLang="en-US" sz="1800">
                <a:solidFill>
                  <a:srgbClr val="345BC8"/>
                </a:solidFill>
                <a:latin typeface="黑体" panose="02010609060101010101" pitchFamily="49" charset="-122"/>
                <a:ea typeface="黑体" panose="02010609060101010101" pitchFamily="49" charset="-122"/>
              </a:rPr>
              <a:t>分支</a:t>
            </a:r>
            <a:endParaRPr kumimoji="1" lang="en-US" altLang="zh-CN" sz="1800">
              <a:solidFill>
                <a:srgbClr val="345BC8"/>
              </a:solidFill>
              <a:latin typeface="黑体" panose="02010609060101010101" pitchFamily="49" charset="-122"/>
              <a:ea typeface="黑体" panose="02010609060101010101" pitchFamily="49" charset="-122"/>
            </a:endParaRPr>
          </a:p>
        </p:txBody>
      </p:sp>
      <p:sp>
        <p:nvSpPr>
          <p:cNvPr id="1291496" name="Rectangle 232">
            <a:extLst>
              <a:ext uri="{FF2B5EF4-FFF2-40B4-BE49-F238E27FC236}">
                <a16:creationId xmlns:a16="http://schemas.microsoft.com/office/drawing/2014/main" id="{FDF60FB3-4554-409D-9016-ED918E945759}"/>
              </a:ext>
            </a:extLst>
          </p:cNvPr>
          <p:cNvSpPr>
            <a:spLocks noChangeArrowheads="1"/>
          </p:cNvSpPr>
          <p:nvPr/>
        </p:nvSpPr>
        <p:spPr bwMode="auto">
          <a:xfrm>
            <a:off x="8839200" y="5410200"/>
            <a:ext cx="1447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buClr>
                <a:schemeClr val="accent1"/>
              </a:buClr>
              <a:buSzPct val="90000"/>
              <a:buFont typeface="Monotype Sorts" pitchFamily="2" charset="2"/>
              <a:buNone/>
            </a:pPr>
            <a:r>
              <a:rPr kumimoji="1" lang="zh-CN" altLang="en-US" sz="1600" b="1">
                <a:solidFill>
                  <a:schemeClr val="accent2"/>
                </a:solidFill>
                <a:latin typeface="Times New Roman" panose="02020603050405020304" pitchFamily="18" charset="0"/>
                <a:ea typeface="文鼎细圆" pitchFamily="49" charset="-122"/>
              </a:rPr>
              <a:t>③ </a:t>
            </a:r>
            <a:r>
              <a:rPr kumimoji="1" lang="zh-CN" altLang="en-US" sz="1600" b="1">
                <a:solidFill>
                  <a:srgbClr val="345BC8"/>
                </a:solidFill>
                <a:latin typeface="Times New Roman" panose="02020603050405020304" pitchFamily="18" charset="0"/>
                <a:ea typeface="文鼎细圆" pitchFamily="49" charset="-122"/>
              </a:rPr>
              <a:t> </a:t>
            </a:r>
            <a:r>
              <a:rPr kumimoji="1" lang="zh-CN" altLang="en-US" sz="1800">
                <a:solidFill>
                  <a:srgbClr val="345BC8"/>
                </a:solidFill>
                <a:latin typeface="黑体" panose="02010609060101010101" pitchFamily="49" charset="-122"/>
                <a:ea typeface="黑体" panose="02010609060101010101" pitchFamily="49" charset="-122"/>
              </a:rPr>
              <a:t>取</a:t>
            </a:r>
            <a:r>
              <a:rPr kumimoji="1" lang="zh-CN" altLang="en-US" sz="1800">
                <a:solidFill>
                  <a:schemeClr val="accent2"/>
                </a:solidFill>
                <a:latin typeface="黑体" panose="02010609060101010101" pitchFamily="49" charset="-122"/>
                <a:ea typeface="黑体" panose="02010609060101010101" pitchFamily="49" charset="-122"/>
              </a:rPr>
              <a:t>假</a:t>
            </a:r>
            <a:r>
              <a:rPr kumimoji="1" lang="zh-CN" altLang="en-US" sz="1800">
                <a:solidFill>
                  <a:srgbClr val="345BC8"/>
                </a:solidFill>
                <a:latin typeface="黑体" panose="02010609060101010101" pitchFamily="49" charset="-122"/>
                <a:ea typeface="黑体" panose="02010609060101010101" pitchFamily="49" charset="-122"/>
              </a:rPr>
              <a:t>分支</a:t>
            </a:r>
            <a:endParaRPr kumimoji="1" lang="en-US" altLang="zh-CN" sz="1800">
              <a:solidFill>
                <a:srgbClr val="345BC8"/>
              </a:solidFill>
              <a:latin typeface="黑体" panose="02010609060101010101" pitchFamily="49" charset="-122"/>
              <a:ea typeface="黑体" panose="02010609060101010101" pitchFamily="49" charset="-122"/>
            </a:endParaRPr>
          </a:p>
        </p:txBody>
      </p:sp>
      <p:sp>
        <p:nvSpPr>
          <p:cNvPr id="1291497" name="Rectangle 233">
            <a:extLst>
              <a:ext uri="{FF2B5EF4-FFF2-40B4-BE49-F238E27FC236}">
                <a16:creationId xmlns:a16="http://schemas.microsoft.com/office/drawing/2014/main" id="{F0EFCF5B-AB33-4285-9B2A-7CA3E707F9F8}"/>
              </a:ext>
            </a:extLst>
          </p:cNvPr>
          <p:cNvSpPr>
            <a:spLocks noChangeArrowheads="1"/>
          </p:cNvSpPr>
          <p:nvPr/>
        </p:nvSpPr>
        <p:spPr bwMode="auto">
          <a:xfrm>
            <a:off x="8839200" y="6019800"/>
            <a:ext cx="1447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buClr>
                <a:schemeClr val="accent1"/>
              </a:buClr>
              <a:buSzPct val="90000"/>
              <a:buFont typeface="Monotype Sorts" pitchFamily="2" charset="2"/>
              <a:buNone/>
            </a:pPr>
            <a:r>
              <a:rPr kumimoji="1" lang="zh-CN" altLang="en-US" sz="1600" b="1">
                <a:solidFill>
                  <a:schemeClr val="accent2"/>
                </a:solidFill>
                <a:latin typeface="Times New Roman" panose="02020603050405020304" pitchFamily="18" charset="0"/>
                <a:ea typeface="文鼎细圆" pitchFamily="49" charset="-122"/>
              </a:rPr>
              <a:t>④ </a:t>
            </a:r>
            <a:r>
              <a:rPr kumimoji="1" lang="zh-CN" altLang="en-US" sz="1600" b="1">
                <a:solidFill>
                  <a:srgbClr val="345BC8"/>
                </a:solidFill>
                <a:latin typeface="Times New Roman" panose="02020603050405020304" pitchFamily="18" charset="0"/>
                <a:ea typeface="文鼎细圆" pitchFamily="49" charset="-122"/>
              </a:rPr>
              <a:t> </a:t>
            </a:r>
            <a:r>
              <a:rPr kumimoji="1" lang="zh-CN" altLang="en-US" sz="1800">
                <a:solidFill>
                  <a:srgbClr val="345BC8"/>
                </a:solidFill>
                <a:latin typeface="黑体" panose="02010609060101010101" pitchFamily="49" charset="-122"/>
                <a:ea typeface="黑体" panose="02010609060101010101" pitchFamily="49" charset="-122"/>
              </a:rPr>
              <a:t>取</a:t>
            </a:r>
            <a:r>
              <a:rPr kumimoji="1" lang="zh-CN" altLang="en-US" sz="1800">
                <a:solidFill>
                  <a:schemeClr val="accent2"/>
                </a:solidFill>
                <a:latin typeface="黑体" panose="02010609060101010101" pitchFamily="49" charset="-122"/>
                <a:ea typeface="黑体" panose="02010609060101010101" pitchFamily="49" charset="-122"/>
              </a:rPr>
              <a:t>假</a:t>
            </a:r>
            <a:r>
              <a:rPr kumimoji="1" lang="zh-CN" altLang="en-US" sz="1800">
                <a:solidFill>
                  <a:srgbClr val="345BC8"/>
                </a:solidFill>
                <a:latin typeface="黑体" panose="02010609060101010101" pitchFamily="49" charset="-122"/>
                <a:ea typeface="黑体" panose="02010609060101010101" pitchFamily="49" charset="-122"/>
              </a:rPr>
              <a:t>分支</a:t>
            </a:r>
            <a:endParaRPr kumimoji="1" lang="en-US" altLang="zh-CN" sz="1800">
              <a:solidFill>
                <a:srgbClr val="345BC8"/>
              </a:solidFill>
              <a:latin typeface="黑体" panose="02010609060101010101" pitchFamily="49" charset="-122"/>
              <a:ea typeface="黑体" panose="02010609060101010101" pitchFamily="49" charset="-122"/>
            </a:endParaRPr>
          </a:p>
        </p:txBody>
      </p:sp>
      <p:grpSp>
        <p:nvGrpSpPr>
          <p:cNvPr id="6" name="Group 235">
            <a:extLst>
              <a:ext uri="{FF2B5EF4-FFF2-40B4-BE49-F238E27FC236}">
                <a16:creationId xmlns:a16="http://schemas.microsoft.com/office/drawing/2014/main" id="{45D6A368-8514-4C80-9A00-9380FDD1327F}"/>
              </a:ext>
            </a:extLst>
          </p:cNvPr>
          <p:cNvGrpSpPr>
            <a:grpSpLocks/>
          </p:cNvGrpSpPr>
          <p:nvPr/>
        </p:nvGrpSpPr>
        <p:grpSpPr bwMode="auto">
          <a:xfrm>
            <a:off x="7924800" y="6096000"/>
            <a:ext cx="838200" cy="304800"/>
            <a:chOff x="2112" y="3312"/>
            <a:chExt cx="528" cy="192"/>
          </a:xfrm>
        </p:grpSpPr>
        <p:sp>
          <p:nvSpPr>
            <p:cNvPr id="52302" name="Line 225">
              <a:extLst>
                <a:ext uri="{FF2B5EF4-FFF2-40B4-BE49-F238E27FC236}">
                  <a16:creationId xmlns:a16="http://schemas.microsoft.com/office/drawing/2014/main" id="{924AAB94-4F86-405F-A0B7-5057AF1D8CE0}"/>
                </a:ext>
              </a:extLst>
            </p:cNvPr>
            <p:cNvSpPr>
              <a:spLocks noChangeShapeType="1"/>
            </p:cNvSpPr>
            <p:nvPr/>
          </p:nvSpPr>
          <p:spPr bwMode="auto">
            <a:xfrm>
              <a:off x="2400" y="3312"/>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1490" name="Rectangle 226">
              <a:extLst>
                <a:ext uri="{FF2B5EF4-FFF2-40B4-BE49-F238E27FC236}">
                  <a16:creationId xmlns:a16="http://schemas.microsoft.com/office/drawing/2014/main" id="{CBD669CB-A774-4B22-A1D2-AEA07A4F7527}"/>
                </a:ext>
              </a:extLst>
            </p:cNvPr>
            <p:cNvSpPr>
              <a:spLocks noChangeArrowheads="1"/>
            </p:cNvSpPr>
            <p:nvPr/>
          </p:nvSpPr>
          <p:spPr bwMode="auto">
            <a:xfrm>
              <a:off x="2112" y="3312"/>
              <a:ext cx="528" cy="192"/>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b="1">
                  <a:solidFill>
                    <a:srgbClr val="EF8D2B"/>
                  </a:solidFill>
                  <a:effectLst>
                    <a:outerShdw blurRad="38100" dist="38100" dir="2700000" algn="tl">
                      <a:srgbClr val="000000"/>
                    </a:outerShdw>
                  </a:effectLst>
                  <a:latin typeface="Arial" charset="0"/>
                  <a:ea typeface="文鼎细圆" pitchFamily="49" charset="-122"/>
                </a:rPr>
                <a:t>T1 T2</a:t>
              </a:r>
            </a:p>
          </p:txBody>
        </p:sp>
        <p:sp>
          <p:nvSpPr>
            <p:cNvPr id="52304" name="Line 234">
              <a:extLst>
                <a:ext uri="{FF2B5EF4-FFF2-40B4-BE49-F238E27FC236}">
                  <a16:creationId xmlns:a16="http://schemas.microsoft.com/office/drawing/2014/main" id="{70F17919-0702-49A3-964D-0BF4162F2E4A}"/>
                </a:ext>
              </a:extLst>
            </p:cNvPr>
            <p:cNvSpPr>
              <a:spLocks noChangeShapeType="1"/>
            </p:cNvSpPr>
            <p:nvPr/>
          </p:nvSpPr>
          <p:spPr bwMode="auto">
            <a:xfrm>
              <a:off x="2160" y="3312"/>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2298" name="Line 236">
            <a:extLst>
              <a:ext uri="{FF2B5EF4-FFF2-40B4-BE49-F238E27FC236}">
                <a16:creationId xmlns:a16="http://schemas.microsoft.com/office/drawing/2014/main" id="{BE8859A7-C1E6-4B15-93A2-8287F6DDFC7C}"/>
              </a:ext>
            </a:extLst>
          </p:cNvPr>
          <p:cNvSpPr>
            <a:spLocks noChangeShapeType="1"/>
          </p:cNvSpPr>
          <p:nvPr/>
        </p:nvSpPr>
        <p:spPr bwMode="auto">
          <a:xfrm>
            <a:off x="9677400" y="24384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99" name="Line 237">
            <a:extLst>
              <a:ext uri="{FF2B5EF4-FFF2-40B4-BE49-F238E27FC236}">
                <a16:creationId xmlns:a16="http://schemas.microsoft.com/office/drawing/2014/main" id="{4B077114-983D-49A3-B494-F1802BCE9AFE}"/>
              </a:ext>
            </a:extLst>
          </p:cNvPr>
          <p:cNvSpPr>
            <a:spLocks noChangeShapeType="1"/>
          </p:cNvSpPr>
          <p:nvPr/>
        </p:nvSpPr>
        <p:spPr bwMode="auto">
          <a:xfrm>
            <a:off x="9677400" y="20574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00" name="Line 238">
            <a:extLst>
              <a:ext uri="{FF2B5EF4-FFF2-40B4-BE49-F238E27FC236}">
                <a16:creationId xmlns:a16="http://schemas.microsoft.com/office/drawing/2014/main" id="{1D7FB71B-8AF9-48C9-BCCE-F3C55D05BDFF}"/>
              </a:ext>
            </a:extLst>
          </p:cNvPr>
          <p:cNvSpPr>
            <a:spLocks noChangeShapeType="1"/>
          </p:cNvSpPr>
          <p:nvPr/>
        </p:nvSpPr>
        <p:spPr bwMode="auto">
          <a:xfrm>
            <a:off x="9677400" y="17526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301" name="Line 239">
            <a:extLst>
              <a:ext uri="{FF2B5EF4-FFF2-40B4-BE49-F238E27FC236}">
                <a16:creationId xmlns:a16="http://schemas.microsoft.com/office/drawing/2014/main" id="{C50922D5-96DC-4CCA-B6EF-DE14ED9A18F0}"/>
              </a:ext>
            </a:extLst>
          </p:cNvPr>
          <p:cNvSpPr>
            <a:spLocks noChangeShapeType="1"/>
          </p:cNvSpPr>
          <p:nvPr/>
        </p:nvSpPr>
        <p:spPr bwMode="auto">
          <a:xfrm>
            <a:off x="9677400" y="13716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291437"/>
                                        </p:tgtEl>
                                        <p:attrNameLst>
                                          <p:attrName>style.visibility</p:attrName>
                                        </p:attrNameLst>
                                      </p:cBhvr>
                                      <p:to>
                                        <p:strVal val="visible"/>
                                      </p:to>
                                    </p:set>
                                    <p:animEffect transition="in" filter="blinds(vertical)">
                                      <p:cBhvr>
                                        <p:cTn id="7" dur="500"/>
                                        <p:tgtEl>
                                          <p:spTgt spid="12914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291480"/>
                                        </p:tgtEl>
                                        <p:attrNameLst>
                                          <p:attrName>style.visibility</p:attrName>
                                        </p:attrNameLst>
                                      </p:cBhvr>
                                      <p:to>
                                        <p:strVal val="visible"/>
                                      </p:to>
                                    </p:set>
                                    <p:animEffect transition="in" filter="blinds(vertical)">
                                      <p:cBhvr>
                                        <p:cTn id="12" dur="500"/>
                                        <p:tgtEl>
                                          <p:spTgt spid="12914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1291481"/>
                                        </p:tgtEl>
                                        <p:attrNameLst>
                                          <p:attrName>style.visibility</p:attrName>
                                        </p:attrNameLst>
                                      </p:cBhvr>
                                      <p:to>
                                        <p:strVal val="visible"/>
                                      </p:to>
                                    </p:set>
                                    <p:animEffect transition="in" filter="blinds(vertical)">
                                      <p:cBhvr>
                                        <p:cTn id="17" dur="500"/>
                                        <p:tgtEl>
                                          <p:spTgt spid="129148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1291439"/>
                                        </p:tgtEl>
                                        <p:attrNameLst>
                                          <p:attrName>style.visibility</p:attrName>
                                        </p:attrNameLst>
                                      </p:cBhvr>
                                      <p:to>
                                        <p:strVal val="visible"/>
                                      </p:to>
                                    </p:set>
                                    <p:animEffect transition="in" filter="blinds(vertical)">
                                      <p:cBhvr>
                                        <p:cTn id="22" dur="500"/>
                                        <p:tgtEl>
                                          <p:spTgt spid="12914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5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5" fill="hold" grpId="0" nodeType="clickEffect">
                                  <p:stCondLst>
                                    <p:cond delay="0"/>
                                  </p:stCondLst>
                                  <p:childTnLst>
                                    <p:set>
                                      <p:cBhvr>
                                        <p:cTn id="31" dur="1" fill="hold">
                                          <p:stCondLst>
                                            <p:cond delay="0"/>
                                          </p:stCondLst>
                                        </p:cTn>
                                        <p:tgtEl>
                                          <p:spTgt spid="1291494"/>
                                        </p:tgtEl>
                                        <p:attrNameLst>
                                          <p:attrName>style.visibility</p:attrName>
                                        </p:attrNameLst>
                                      </p:cBhvr>
                                      <p:to>
                                        <p:strVal val="visible"/>
                                      </p:to>
                                    </p:set>
                                    <p:animEffect transition="in" filter="blinds(vertical)">
                                      <p:cBhvr>
                                        <p:cTn id="32" dur="500"/>
                                        <p:tgtEl>
                                          <p:spTgt spid="129149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5" fill="hold" grpId="0" nodeType="clickEffect">
                                  <p:stCondLst>
                                    <p:cond delay="0"/>
                                  </p:stCondLst>
                                  <p:childTnLst>
                                    <p:set>
                                      <p:cBhvr>
                                        <p:cTn id="36" dur="1" fill="hold">
                                          <p:stCondLst>
                                            <p:cond delay="0"/>
                                          </p:stCondLst>
                                        </p:cTn>
                                        <p:tgtEl>
                                          <p:spTgt spid="1291443"/>
                                        </p:tgtEl>
                                        <p:attrNameLst>
                                          <p:attrName>style.visibility</p:attrName>
                                        </p:attrNameLst>
                                      </p:cBhvr>
                                      <p:to>
                                        <p:strVal val="visible"/>
                                      </p:to>
                                    </p:set>
                                    <p:animEffect transition="in" filter="blinds(vertical)">
                                      <p:cBhvr>
                                        <p:cTn id="37" dur="500"/>
                                        <p:tgtEl>
                                          <p:spTgt spid="129144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linds(horizontal)">
                                      <p:cBhvr>
                                        <p:cTn id="42" dur="500"/>
                                        <p:tgtEl>
                                          <p:spTgt spid="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5" fill="hold" grpId="0" nodeType="clickEffect">
                                  <p:stCondLst>
                                    <p:cond delay="0"/>
                                  </p:stCondLst>
                                  <p:childTnLst>
                                    <p:set>
                                      <p:cBhvr>
                                        <p:cTn id="46" dur="1" fill="hold">
                                          <p:stCondLst>
                                            <p:cond delay="0"/>
                                          </p:stCondLst>
                                        </p:cTn>
                                        <p:tgtEl>
                                          <p:spTgt spid="1291496"/>
                                        </p:tgtEl>
                                        <p:attrNameLst>
                                          <p:attrName>style.visibility</p:attrName>
                                        </p:attrNameLst>
                                      </p:cBhvr>
                                      <p:to>
                                        <p:strVal val="visible"/>
                                      </p:to>
                                    </p:set>
                                    <p:animEffect transition="in" filter="blinds(vertical)">
                                      <p:cBhvr>
                                        <p:cTn id="47" dur="500"/>
                                        <p:tgtEl>
                                          <p:spTgt spid="129149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5" fill="hold" grpId="0" nodeType="clickEffect">
                                  <p:stCondLst>
                                    <p:cond delay="0"/>
                                  </p:stCondLst>
                                  <p:childTnLst>
                                    <p:set>
                                      <p:cBhvr>
                                        <p:cTn id="51" dur="1" fill="hold">
                                          <p:stCondLst>
                                            <p:cond delay="0"/>
                                          </p:stCondLst>
                                        </p:cTn>
                                        <p:tgtEl>
                                          <p:spTgt spid="1291446"/>
                                        </p:tgtEl>
                                        <p:attrNameLst>
                                          <p:attrName>style.visibility</p:attrName>
                                        </p:attrNameLst>
                                      </p:cBhvr>
                                      <p:to>
                                        <p:strVal val="visible"/>
                                      </p:to>
                                    </p:set>
                                    <p:animEffect transition="in" filter="blinds(vertical)">
                                      <p:cBhvr>
                                        <p:cTn id="52" dur="500"/>
                                        <p:tgtEl>
                                          <p:spTgt spid="129144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blinds(horizontal)">
                                      <p:cBhvr>
                                        <p:cTn id="57" dur="500"/>
                                        <p:tgtEl>
                                          <p:spTgt spid="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5" fill="hold" grpId="0" nodeType="clickEffect">
                                  <p:stCondLst>
                                    <p:cond delay="0"/>
                                  </p:stCondLst>
                                  <p:childTnLst>
                                    <p:set>
                                      <p:cBhvr>
                                        <p:cTn id="61" dur="1" fill="hold">
                                          <p:stCondLst>
                                            <p:cond delay="0"/>
                                          </p:stCondLst>
                                        </p:cTn>
                                        <p:tgtEl>
                                          <p:spTgt spid="1291497"/>
                                        </p:tgtEl>
                                        <p:attrNameLst>
                                          <p:attrName>style.visibility</p:attrName>
                                        </p:attrNameLst>
                                      </p:cBhvr>
                                      <p:to>
                                        <p:strVal val="visible"/>
                                      </p:to>
                                    </p:set>
                                    <p:animEffect transition="in" filter="blinds(vertical)">
                                      <p:cBhvr>
                                        <p:cTn id="62" dur="500"/>
                                        <p:tgtEl>
                                          <p:spTgt spid="12914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1437" grpId="0" autoUpdateAnimBg="0"/>
      <p:bldP spid="1291439" grpId="0" autoUpdateAnimBg="0"/>
      <p:bldP spid="1291443" grpId="0" autoUpdateAnimBg="0"/>
      <p:bldP spid="1291446" grpId="0" autoUpdateAnimBg="0"/>
      <p:bldP spid="1291480" grpId="0" autoUpdateAnimBg="0"/>
      <p:bldP spid="1291481" grpId="0" autoUpdateAnimBg="0"/>
      <p:bldP spid="1291494" grpId="0" autoUpdateAnimBg="0"/>
      <p:bldP spid="1291496" grpId="0" autoUpdateAnimBg="0"/>
      <p:bldP spid="1291497" grpId="0" autoUpdateAnimBg="0"/>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日期占位符 1">
            <a:extLst>
              <a:ext uri="{FF2B5EF4-FFF2-40B4-BE49-F238E27FC236}">
                <a16:creationId xmlns:a16="http://schemas.microsoft.com/office/drawing/2014/main" id="{A723D896-B1E1-4ECC-BB66-22E4CDD6070B}"/>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2239FD2F-A58E-410F-8A7A-1B37285DC5DF}"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54275" name="Rectangle 2">
            <a:extLst>
              <a:ext uri="{FF2B5EF4-FFF2-40B4-BE49-F238E27FC236}">
                <a16:creationId xmlns:a16="http://schemas.microsoft.com/office/drawing/2014/main" id="{194522EA-FCF7-4BA7-9B23-54E805B90689}"/>
              </a:ext>
            </a:extLst>
          </p:cNvPr>
          <p:cNvSpPr>
            <a:spLocks noChangeArrowheads="1"/>
          </p:cNvSpPr>
          <p:nvPr/>
        </p:nvSpPr>
        <p:spPr bwMode="auto">
          <a:xfrm>
            <a:off x="3124200" y="762000"/>
            <a:ext cx="7162800" cy="12192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endParaRPr lang="zh-CN" altLang="en-US" sz="2800">
              <a:solidFill>
                <a:schemeClr val="tx1"/>
              </a:solidFill>
              <a:latin typeface="Times New Roman" panose="02020603050405020304" pitchFamily="18" charset="0"/>
              <a:ea typeface="楷体_GB2312" pitchFamily="49" charset="-122"/>
            </a:endParaRPr>
          </a:p>
        </p:txBody>
      </p:sp>
      <p:graphicFrame>
        <p:nvGraphicFramePr>
          <p:cNvPr id="2437272" name="Group 152">
            <a:extLst>
              <a:ext uri="{FF2B5EF4-FFF2-40B4-BE49-F238E27FC236}">
                <a16:creationId xmlns:a16="http://schemas.microsoft.com/office/drawing/2014/main" id="{A0DA0B2B-7585-4055-89F6-FB9AC3B01A55}"/>
              </a:ext>
            </a:extLst>
          </p:cNvPr>
          <p:cNvGraphicFramePr>
            <a:graphicFrameLocks noGrp="1"/>
          </p:cNvGraphicFramePr>
          <p:nvPr/>
        </p:nvGraphicFramePr>
        <p:xfrm>
          <a:off x="7086600" y="3352801"/>
          <a:ext cx="3276600" cy="3217863"/>
        </p:xfrm>
        <a:graphic>
          <a:graphicData uri="http://schemas.openxmlformats.org/drawingml/2006/table">
            <a:tbl>
              <a:tblPr/>
              <a:tblGrid>
                <a:gridCol w="8382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628024">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EF8D2B"/>
                          </a:solidFill>
                          <a:effectLst/>
                          <a:latin typeface="黑体" pitchFamily="2" charset="-122"/>
                          <a:ea typeface="黑体" pitchFamily="2" charset="-122"/>
                        </a:rPr>
                        <a:t>条件</a:t>
                      </a:r>
                    </a:p>
                  </a:txBody>
                  <a:tcPr marT="45730" marB="45730"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EF8D2B"/>
                          </a:solidFill>
                          <a:effectLst/>
                          <a:latin typeface="黑体" pitchFamily="2" charset="-122"/>
                          <a:ea typeface="黑体" pitchFamily="2" charset="-122"/>
                        </a:rPr>
                        <a:t>标记</a:t>
                      </a:r>
                    </a:p>
                  </a:txBody>
                  <a:tcPr marT="45730" marB="45730"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EF8D2B"/>
                          </a:solidFill>
                          <a:effectLst/>
                          <a:latin typeface="黑体" pitchFamily="2" charset="-122"/>
                          <a:ea typeface="黑体" pitchFamily="2" charset="-122"/>
                        </a:rPr>
                        <a:t>第二个判断取</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66C80C"/>
                          </a:solidFill>
                          <a:effectLst/>
                          <a:latin typeface="黑体" pitchFamily="2" charset="-122"/>
                          <a:ea typeface="黑体" pitchFamily="2" charset="-122"/>
                        </a:rPr>
                        <a:t>真假</a:t>
                      </a:r>
                      <a:r>
                        <a:rPr kumimoji="1" lang="zh-CN" altLang="en-US" sz="1600" b="0" i="0" u="none" strike="noStrike" cap="none" normalizeH="0" baseline="0">
                          <a:ln>
                            <a:noFill/>
                          </a:ln>
                          <a:solidFill>
                            <a:srgbClr val="EF8D2B"/>
                          </a:solidFill>
                          <a:effectLst/>
                          <a:latin typeface="黑体" pitchFamily="2" charset="-122"/>
                          <a:ea typeface="黑体" pitchFamily="2" charset="-122"/>
                        </a:rPr>
                        <a:t>分支</a:t>
                      </a:r>
                    </a:p>
                  </a:txBody>
                  <a:tcPr marT="45730" marB="45730"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66689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1" i="0" u="none" strike="noStrike" cap="none" normalizeH="0" baseline="0">
                          <a:ln>
                            <a:noFill/>
                          </a:ln>
                          <a:solidFill>
                            <a:schemeClr val="accent2"/>
                          </a:solidFill>
                          <a:effectLst/>
                          <a:latin typeface="Arial" charset="0"/>
                          <a:ea typeface="宋体" pitchFamily="2" charset="-122"/>
                        </a:rPr>
                        <a:t>  </a:t>
                      </a:r>
                    </a:p>
                  </a:txBody>
                  <a:tcPr marT="45730" marB="45730"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1" i="0" u="none" strike="noStrike" cap="none" normalizeH="0" baseline="0">
                          <a:ln>
                            <a:noFill/>
                          </a:ln>
                          <a:solidFill>
                            <a:srgbClr val="345BC8"/>
                          </a:solidFill>
                          <a:effectLst>
                            <a:outerShdw blurRad="38100" dist="38100" dir="2700000" algn="tl">
                              <a:srgbClr val="000000"/>
                            </a:outerShdw>
                          </a:effectLst>
                          <a:latin typeface="Times New Roman" charset="0"/>
                          <a:ea typeface="宋体" pitchFamily="2" charset="-122"/>
                        </a:rPr>
                        <a:t> </a:t>
                      </a:r>
                    </a:p>
                  </a:txBody>
                  <a:tcPr marT="45730" marB="45730"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1" i="0" u="none" strike="noStrike" cap="none" normalizeH="0" baseline="0">
                          <a:ln>
                            <a:noFill/>
                          </a:ln>
                          <a:solidFill>
                            <a:schemeClr val="accent2"/>
                          </a:solidFill>
                          <a:effectLst/>
                          <a:latin typeface="Times New Roman" charset="0"/>
                          <a:ea typeface="文鼎细圆" pitchFamily="49" charset="-122"/>
                        </a:rPr>
                        <a:t> </a:t>
                      </a:r>
                      <a:endParaRPr kumimoji="1" lang="zh-CN" altLang="en-US" sz="1600" b="1" i="0" u="none" strike="noStrike" cap="none" normalizeH="0" baseline="0">
                        <a:ln>
                          <a:noFill/>
                        </a:ln>
                        <a:solidFill>
                          <a:srgbClr val="345BC8"/>
                        </a:solidFill>
                        <a:effectLst/>
                        <a:latin typeface="Times New Roman" charset="0"/>
                        <a:ea typeface="文鼎细圆" pitchFamily="49" charset="-122"/>
                      </a:endParaRPr>
                    </a:p>
                  </a:txBody>
                  <a:tcPr marT="45730" marB="45730"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628024">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1" i="0" u="none" strike="noStrike" cap="none" normalizeH="0" baseline="0">
                          <a:ln>
                            <a:noFill/>
                          </a:ln>
                          <a:solidFill>
                            <a:schemeClr val="accent2"/>
                          </a:solidFill>
                          <a:effectLst/>
                          <a:latin typeface="Arial" charset="0"/>
                          <a:ea typeface="宋体" pitchFamily="2" charset="-122"/>
                        </a:rPr>
                        <a:t> </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1" i="0" u="none" strike="noStrike" cap="none" normalizeH="0" baseline="0">
                          <a:ln>
                            <a:noFill/>
                          </a:ln>
                          <a:solidFill>
                            <a:schemeClr val="accent2"/>
                          </a:solidFill>
                          <a:effectLst/>
                          <a:latin typeface="Arial" charset="0"/>
                          <a:ea typeface="宋体" pitchFamily="2" charset="-122"/>
                        </a:rPr>
                        <a:t>     </a:t>
                      </a:r>
                      <a:endParaRPr kumimoji="1" lang="zh-CN" altLang="en-US" sz="1600" b="1" i="0" u="none" strike="noStrike" cap="none" normalizeH="0" baseline="0">
                        <a:ln>
                          <a:noFill/>
                        </a:ln>
                        <a:solidFill>
                          <a:schemeClr val="accent2"/>
                        </a:solidFill>
                        <a:effectLst/>
                        <a:latin typeface="Arial" charset="0"/>
                        <a:ea typeface="宋体" pitchFamily="2" charset="-122"/>
                      </a:endParaRPr>
                    </a:p>
                  </a:txBody>
                  <a:tcPr marT="45730" marB="45730"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1" i="0" u="none" strike="noStrike" cap="none" normalizeH="0" baseline="0">
                          <a:ln>
                            <a:noFill/>
                          </a:ln>
                          <a:solidFill>
                            <a:srgbClr val="345BC8"/>
                          </a:solidFill>
                          <a:effectLst>
                            <a:outerShdw blurRad="38100" dist="38100" dir="2700000" algn="tl">
                              <a:srgbClr val="000000"/>
                            </a:outerShdw>
                          </a:effectLst>
                          <a:latin typeface="Times New Roman" charset="0"/>
                          <a:ea typeface="宋体" pitchFamily="2" charset="-122"/>
                        </a:rPr>
                        <a:t> </a:t>
                      </a:r>
                      <a:endParaRPr kumimoji="1" lang="zh-CN" altLang="en-US" sz="1800" b="1" i="0" u="none" strike="noStrike" cap="none" normalizeH="0" baseline="0">
                        <a:ln>
                          <a:noFill/>
                        </a:ln>
                        <a:solidFill>
                          <a:srgbClr val="345BC8"/>
                        </a:solidFill>
                        <a:effectLst>
                          <a:outerShdw blurRad="38100" dist="38100" dir="2700000" algn="tl">
                            <a:srgbClr val="000000"/>
                          </a:outerShdw>
                        </a:effectLst>
                        <a:latin typeface="Times New Roman" charset="0"/>
                        <a:ea typeface="宋体" pitchFamily="2" charset="-122"/>
                      </a:endParaRPr>
                    </a:p>
                  </a:txBody>
                  <a:tcPr marT="45730" marB="45730"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1" i="0" u="none" strike="noStrike" cap="none" normalizeH="0" baseline="0">
                          <a:ln>
                            <a:noFill/>
                          </a:ln>
                          <a:solidFill>
                            <a:schemeClr val="accent2"/>
                          </a:solidFill>
                          <a:effectLst/>
                          <a:latin typeface="Times New Roman" charset="0"/>
                          <a:ea typeface="文鼎细圆" pitchFamily="49" charset="-122"/>
                        </a:rPr>
                        <a:t> </a:t>
                      </a:r>
                      <a:endParaRPr kumimoji="1" lang="zh-CN" altLang="en-US" sz="1600" b="1" i="0" u="none" strike="noStrike" cap="none" normalizeH="0" baseline="0">
                        <a:ln>
                          <a:noFill/>
                        </a:ln>
                        <a:solidFill>
                          <a:srgbClr val="345BC8"/>
                        </a:solidFill>
                        <a:effectLst/>
                        <a:latin typeface="Times New Roman" charset="0"/>
                        <a:ea typeface="文鼎细圆" pitchFamily="49" charset="-122"/>
                      </a:endParaRPr>
                    </a:p>
                  </a:txBody>
                  <a:tcPr marT="45730" marB="45730"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66689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1" i="0" u="none" strike="noStrike" cap="none" normalizeH="0" baseline="0">
                          <a:ln>
                            <a:noFill/>
                          </a:ln>
                          <a:solidFill>
                            <a:schemeClr val="accent2"/>
                          </a:solidFill>
                          <a:effectLst/>
                          <a:latin typeface="Arial" charset="0"/>
                          <a:ea typeface="宋体" pitchFamily="2" charset="-122"/>
                        </a:rPr>
                        <a:t> </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endParaRPr kumimoji="1" lang="zh-CN" altLang="en-US" sz="1600" b="1" i="0" u="none" strike="noStrike" cap="none" normalizeH="0" baseline="0">
                        <a:ln>
                          <a:noFill/>
                        </a:ln>
                        <a:solidFill>
                          <a:schemeClr val="accent2"/>
                        </a:solidFill>
                        <a:effectLst/>
                        <a:latin typeface="Arial" charset="0"/>
                        <a:ea typeface="宋体" pitchFamily="2" charset="-122"/>
                      </a:endParaRPr>
                    </a:p>
                  </a:txBody>
                  <a:tcPr marT="45730" marB="45730"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1" i="0" u="none" strike="noStrike" cap="none" normalizeH="0" baseline="0">
                          <a:ln>
                            <a:noFill/>
                          </a:ln>
                          <a:solidFill>
                            <a:srgbClr val="345BC8"/>
                          </a:solidFill>
                          <a:effectLst>
                            <a:outerShdw blurRad="38100" dist="38100" dir="2700000" algn="tl">
                              <a:srgbClr val="000000"/>
                            </a:outerShdw>
                          </a:effectLst>
                          <a:latin typeface="Times New Roman" charset="0"/>
                          <a:ea typeface="宋体" pitchFamily="2" charset="-122"/>
                        </a:rPr>
                        <a:t> </a:t>
                      </a:r>
                      <a:endParaRPr kumimoji="1" lang="zh-CN" altLang="en-US" sz="1800" b="1" i="0" u="none" strike="noStrike" cap="none" normalizeH="0" baseline="0">
                        <a:ln>
                          <a:noFill/>
                        </a:ln>
                        <a:solidFill>
                          <a:srgbClr val="345BC8"/>
                        </a:solidFill>
                        <a:effectLst>
                          <a:outerShdw blurRad="38100" dist="38100" dir="2700000" algn="tl">
                            <a:srgbClr val="000000"/>
                          </a:outerShdw>
                        </a:effectLst>
                        <a:latin typeface="Times New Roman" charset="0"/>
                        <a:ea typeface="宋体" pitchFamily="2" charset="-122"/>
                      </a:endParaRPr>
                    </a:p>
                  </a:txBody>
                  <a:tcPr marT="45730" marB="45730"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1" i="0" u="none" strike="noStrike" cap="none" normalizeH="0" baseline="0">
                          <a:ln>
                            <a:noFill/>
                          </a:ln>
                          <a:solidFill>
                            <a:schemeClr val="accent2"/>
                          </a:solidFill>
                          <a:effectLst/>
                          <a:latin typeface="Times New Roman" charset="0"/>
                          <a:ea typeface="文鼎细圆" pitchFamily="49" charset="-122"/>
                        </a:rPr>
                        <a:t> </a:t>
                      </a:r>
                      <a:endParaRPr kumimoji="1" lang="zh-CN" altLang="en-US" sz="1600" b="1" i="0" u="none" strike="noStrike" cap="none" normalizeH="0" baseline="0">
                        <a:ln>
                          <a:noFill/>
                        </a:ln>
                        <a:solidFill>
                          <a:srgbClr val="345BC8"/>
                        </a:solidFill>
                        <a:effectLst/>
                        <a:latin typeface="Times New Roman" charset="0"/>
                        <a:ea typeface="文鼎细圆" pitchFamily="49" charset="-122"/>
                      </a:endParaRPr>
                    </a:p>
                  </a:txBody>
                  <a:tcPr marT="45730" marB="45730"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628024">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1" i="0" u="none" strike="noStrike" cap="none" normalizeH="0" baseline="0">
                          <a:ln>
                            <a:noFill/>
                          </a:ln>
                          <a:solidFill>
                            <a:schemeClr val="accent2"/>
                          </a:solidFill>
                          <a:effectLst/>
                          <a:latin typeface="Arial" charset="0"/>
                          <a:ea typeface="宋体" pitchFamily="2" charset="-122"/>
                        </a:rPr>
                        <a:t> </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endParaRPr kumimoji="1" lang="zh-CN" altLang="en-US" sz="1600" b="1" i="0" u="none" strike="noStrike" cap="none" normalizeH="0" baseline="0">
                        <a:ln>
                          <a:noFill/>
                        </a:ln>
                        <a:solidFill>
                          <a:schemeClr val="accent2"/>
                        </a:solidFill>
                        <a:effectLst/>
                        <a:latin typeface="Arial" charset="0"/>
                        <a:ea typeface="宋体" pitchFamily="2" charset="-122"/>
                      </a:endParaRPr>
                    </a:p>
                  </a:txBody>
                  <a:tcPr marT="45730" marB="45730"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1" i="0" u="none" strike="noStrike" cap="none" normalizeH="0" baseline="0">
                          <a:ln>
                            <a:noFill/>
                          </a:ln>
                          <a:solidFill>
                            <a:srgbClr val="345BC8"/>
                          </a:solidFill>
                          <a:effectLst>
                            <a:outerShdw blurRad="38100" dist="38100" dir="2700000" algn="tl">
                              <a:srgbClr val="000000"/>
                            </a:outerShdw>
                          </a:effectLst>
                          <a:latin typeface="Times New Roman" charset="0"/>
                          <a:ea typeface="宋体" pitchFamily="2" charset="-122"/>
                        </a:rPr>
                        <a:t> </a:t>
                      </a:r>
                      <a:endParaRPr kumimoji="1" lang="zh-CN" altLang="en-US" sz="1800" b="1" i="0" u="none" strike="noStrike" cap="none" normalizeH="0" baseline="0">
                        <a:ln>
                          <a:noFill/>
                        </a:ln>
                        <a:solidFill>
                          <a:srgbClr val="345BC8"/>
                        </a:solidFill>
                        <a:effectLst>
                          <a:outerShdw blurRad="38100" dist="38100" dir="2700000" algn="tl">
                            <a:srgbClr val="000000"/>
                          </a:outerShdw>
                        </a:effectLst>
                        <a:latin typeface="Times New Roman" charset="0"/>
                        <a:ea typeface="宋体" pitchFamily="2" charset="-122"/>
                      </a:endParaRPr>
                    </a:p>
                  </a:txBody>
                  <a:tcPr marT="45730" marB="45730"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1" i="0" u="none" strike="noStrike" cap="none" normalizeH="0" baseline="0">
                          <a:ln>
                            <a:noFill/>
                          </a:ln>
                          <a:solidFill>
                            <a:schemeClr val="accent2"/>
                          </a:solidFill>
                          <a:effectLst/>
                          <a:latin typeface="Times New Roman" charset="0"/>
                          <a:ea typeface="文鼎细圆" pitchFamily="49" charset="-122"/>
                        </a:rPr>
                        <a:t> </a:t>
                      </a:r>
                      <a:endParaRPr kumimoji="1" lang="zh-CN" altLang="en-US" sz="1600" b="1" i="0" u="none" strike="noStrike" cap="none" normalizeH="0" baseline="0">
                        <a:ln>
                          <a:noFill/>
                        </a:ln>
                        <a:solidFill>
                          <a:srgbClr val="345BC8"/>
                        </a:solidFill>
                        <a:effectLst/>
                        <a:latin typeface="Times New Roman" charset="0"/>
                        <a:ea typeface="文鼎细圆" pitchFamily="49" charset="-122"/>
                      </a:endParaRPr>
                    </a:p>
                  </a:txBody>
                  <a:tcPr marT="45730" marB="45730"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grpSp>
        <p:nvGrpSpPr>
          <p:cNvPr id="54302" name="Group 29">
            <a:extLst>
              <a:ext uri="{FF2B5EF4-FFF2-40B4-BE49-F238E27FC236}">
                <a16:creationId xmlns:a16="http://schemas.microsoft.com/office/drawing/2014/main" id="{1D304C84-5B72-4882-B527-3DC7A32AE8EB}"/>
              </a:ext>
            </a:extLst>
          </p:cNvPr>
          <p:cNvGrpSpPr>
            <a:grpSpLocks/>
          </p:cNvGrpSpPr>
          <p:nvPr/>
        </p:nvGrpSpPr>
        <p:grpSpPr bwMode="auto">
          <a:xfrm>
            <a:off x="3124200" y="533400"/>
            <a:ext cx="3733800" cy="3810000"/>
            <a:chOff x="1152" y="1248"/>
            <a:chExt cx="2352" cy="2400"/>
          </a:xfrm>
        </p:grpSpPr>
        <p:sp>
          <p:nvSpPr>
            <p:cNvPr id="2437150" name="Text Box 30">
              <a:extLst>
                <a:ext uri="{FF2B5EF4-FFF2-40B4-BE49-F238E27FC236}">
                  <a16:creationId xmlns:a16="http://schemas.microsoft.com/office/drawing/2014/main" id="{76A5FD90-A04E-4303-AEF9-01F149777701}"/>
                </a:ext>
              </a:extLst>
            </p:cNvPr>
            <p:cNvSpPr txBox="1">
              <a:spLocks noChangeArrowheads="1"/>
            </p:cNvSpPr>
            <p:nvPr/>
          </p:nvSpPr>
          <p:spPr bwMode="auto">
            <a:xfrm>
              <a:off x="1152" y="1776"/>
              <a:ext cx="223"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b</a:t>
              </a:r>
            </a:p>
          </p:txBody>
        </p:sp>
        <p:sp>
          <p:nvSpPr>
            <p:cNvPr id="2437151" name="Text Box 31">
              <a:extLst>
                <a:ext uri="{FF2B5EF4-FFF2-40B4-BE49-F238E27FC236}">
                  <a16:creationId xmlns:a16="http://schemas.microsoft.com/office/drawing/2014/main" id="{7DCD1273-4C9D-430A-9027-E41976E3D5C9}"/>
                </a:ext>
              </a:extLst>
            </p:cNvPr>
            <p:cNvSpPr txBox="1">
              <a:spLocks noChangeArrowheads="1"/>
            </p:cNvSpPr>
            <p:nvPr/>
          </p:nvSpPr>
          <p:spPr bwMode="auto">
            <a:xfrm>
              <a:off x="1152" y="2736"/>
              <a:ext cx="223"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d</a:t>
              </a:r>
            </a:p>
          </p:txBody>
        </p:sp>
        <p:sp>
          <p:nvSpPr>
            <p:cNvPr id="2437152" name="Text Box 32">
              <a:extLst>
                <a:ext uri="{FF2B5EF4-FFF2-40B4-BE49-F238E27FC236}">
                  <a16:creationId xmlns:a16="http://schemas.microsoft.com/office/drawing/2014/main" id="{0133C9C4-EAFB-4FAB-9F3C-CD9F851663B3}"/>
                </a:ext>
              </a:extLst>
            </p:cNvPr>
            <p:cNvSpPr txBox="1">
              <a:spLocks noChangeArrowheads="1"/>
            </p:cNvSpPr>
            <p:nvPr/>
          </p:nvSpPr>
          <p:spPr bwMode="auto">
            <a:xfrm>
              <a:off x="2064" y="1248"/>
              <a:ext cx="288" cy="288"/>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a</a:t>
              </a:r>
            </a:p>
          </p:txBody>
        </p:sp>
        <p:sp>
          <p:nvSpPr>
            <p:cNvPr id="2437153" name="Text Box 33">
              <a:extLst>
                <a:ext uri="{FF2B5EF4-FFF2-40B4-BE49-F238E27FC236}">
                  <a16:creationId xmlns:a16="http://schemas.microsoft.com/office/drawing/2014/main" id="{7736CB9B-EEA0-45D3-B420-B46E665942C6}"/>
                </a:ext>
              </a:extLst>
            </p:cNvPr>
            <p:cNvSpPr txBox="1">
              <a:spLocks noChangeArrowheads="1"/>
            </p:cNvSpPr>
            <p:nvPr/>
          </p:nvSpPr>
          <p:spPr bwMode="auto">
            <a:xfrm>
              <a:off x="3072" y="1776"/>
              <a:ext cx="223" cy="288"/>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c</a:t>
              </a:r>
            </a:p>
          </p:txBody>
        </p:sp>
        <p:sp>
          <p:nvSpPr>
            <p:cNvPr id="2437154" name="Text Box 34">
              <a:extLst>
                <a:ext uri="{FF2B5EF4-FFF2-40B4-BE49-F238E27FC236}">
                  <a16:creationId xmlns:a16="http://schemas.microsoft.com/office/drawing/2014/main" id="{EBA4A4AA-5138-4192-B0A0-B25C293A1A84}"/>
                </a:ext>
              </a:extLst>
            </p:cNvPr>
            <p:cNvSpPr txBox="1">
              <a:spLocks noChangeArrowheads="1"/>
            </p:cNvSpPr>
            <p:nvPr/>
          </p:nvSpPr>
          <p:spPr bwMode="auto">
            <a:xfrm>
              <a:off x="3120" y="2736"/>
              <a:ext cx="201"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e</a:t>
              </a:r>
            </a:p>
          </p:txBody>
        </p:sp>
        <p:grpSp>
          <p:nvGrpSpPr>
            <p:cNvPr id="54362" name="Group 35">
              <a:extLst>
                <a:ext uri="{FF2B5EF4-FFF2-40B4-BE49-F238E27FC236}">
                  <a16:creationId xmlns:a16="http://schemas.microsoft.com/office/drawing/2014/main" id="{B4DF57D8-C3D9-421E-8309-83463467F295}"/>
                </a:ext>
              </a:extLst>
            </p:cNvPr>
            <p:cNvGrpSpPr>
              <a:grpSpLocks/>
            </p:cNvGrpSpPr>
            <p:nvPr/>
          </p:nvGrpSpPr>
          <p:grpSpPr bwMode="auto">
            <a:xfrm>
              <a:off x="1392" y="1536"/>
              <a:ext cx="2112" cy="2112"/>
              <a:chOff x="1200" y="1488"/>
              <a:chExt cx="2112" cy="2112"/>
            </a:xfrm>
          </p:grpSpPr>
          <p:sp>
            <p:nvSpPr>
              <p:cNvPr id="54363" name="AutoShape 36">
                <a:extLst>
                  <a:ext uri="{FF2B5EF4-FFF2-40B4-BE49-F238E27FC236}">
                    <a16:creationId xmlns:a16="http://schemas.microsoft.com/office/drawing/2014/main" id="{557EE6BF-703A-4CFC-A520-913B6F903827}"/>
                  </a:ext>
                </a:extLst>
              </p:cNvPr>
              <p:cNvSpPr>
                <a:spLocks noChangeArrowheads="1"/>
              </p:cNvSpPr>
              <p:nvPr/>
            </p:nvSpPr>
            <p:spPr bwMode="auto">
              <a:xfrm>
                <a:off x="1296" y="1680"/>
                <a:ext cx="1440" cy="288"/>
              </a:xfrm>
              <a:prstGeom prst="flowChartDecision">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(A&gt;1) ^ (B=0)</a:t>
                </a:r>
              </a:p>
            </p:txBody>
          </p:sp>
          <p:sp>
            <p:nvSpPr>
              <p:cNvPr id="54364" name="Line 37">
                <a:extLst>
                  <a:ext uri="{FF2B5EF4-FFF2-40B4-BE49-F238E27FC236}">
                    <a16:creationId xmlns:a16="http://schemas.microsoft.com/office/drawing/2014/main" id="{4A754E6E-177D-41D6-89A7-B1124A98147C}"/>
                  </a:ext>
                </a:extLst>
              </p:cNvPr>
              <p:cNvSpPr>
                <a:spLocks noChangeShapeType="1"/>
              </p:cNvSpPr>
              <p:nvPr/>
            </p:nvSpPr>
            <p:spPr bwMode="auto">
              <a:xfrm>
                <a:off x="1200" y="1824"/>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65" name="Line 38">
                <a:extLst>
                  <a:ext uri="{FF2B5EF4-FFF2-40B4-BE49-F238E27FC236}">
                    <a16:creationId xmlns:a16="http://schemas.microsoft.com/office/drawing/2014/main" id="{AB7A705D-C0D4-4585-A1F6-F204F66375DA}"/>
                  </a:ext>
                </a:extLst>
              </p:cNvPr>
              <p:cNvSpPr>
                <a:spLocks noChangeShapeType="1"/>
              </p:cNvSpPr>
              <p:nvPr/>
            </p:nvSpPr>
            <p:spPr bwMode="auto">
              <a:xfrm>
                <a:off x="2880" y="182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366" name="Rectangle 39">
                <a:extLst>
                  <a:ext uri="{FF2B5EF4-FFF2-40B4-BE49-F238E27FC236}">
                    <a16:creationId xmlns:a16="http://schemas.microsoft.com/office/drawing/2014/main" id="{7881A97F-FBE3-423E-87B0-81F7A770C817}"/>
                  </a:ext>
                </a:extLst>
              </p:cNvPr>
              <p:cNvSpPr>
                <a:spLocks noChangeArrowheads="1"/>
              </p:cNvSpPr>
              <p:nvPr/>
            </p:nvSpPr>
            <p:spPr bwMode="auto">
              <a:xfrm>
                <a:off x="2496" y="2016"/>
                <a:ext cx="768" cy="288"/>
              </a:xfrm>
              <a:prstGeom prst="rect">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X=X/A</a:t>
                </a:r>
              </a:p>
            </p:txBody>
          </p:sp>
          <p:sp>
            <p:nvSpPr>
              <p:cNvPr id="54367" name="Line 40">
                <a:extLst>
                  <a:ext uri="{FF2B5EF4-FFF2-40B4-BE49-F238E27FC236}">
                    <a16:creationId xmlns:a16="http://schemas.microsoft.com/office/drawing/2014/main" id="{11CEFCC2-9EF9-4790-9E23-C32A6CADEF54}"/>
                  </a:ext>
                </a:extLst>
              </p:cNvPr>
              <p:cNvSpPr>
                <a:spLocks noChangeShapeType="1"/>
              </p:cNvSpPr>
              <p:nvPr/>
            </p:nvSpPr>
            <p:spPr bwMode="auto">
              <a:xfrm>
                <a:off x="1200" y="1824"/>
                <a:ext cx="0" cy="672"/>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68" name="Line 41">
                <a:extLst>
                  <a:ext uri="{FF2B5EF4-FFF2-40B4-BE49-F238E27FC236}">
                    <a16:creationId xmlns:a16="http://schemas.microsoft.com/office/drawing/2014/main" id="{0B8CB112-F00C-4825-81E8-5EC85E995A0A}"/>
                  </a:ext>
                </a:extLst>
              </p:cNvPr>
              <p:cNvSpPr>
                <a:spLocks noChangeShapeType="1"/>
              </p:cNvSpPr>
              <p:nvPr/>
            </p:nvSpPr>
            <p:spPr bwMode="auto">
              <a:xfrm>
                <a:off x="1200" y="2496"/>
                <a:ext cx="1680"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69" name="Line 42">
                <a:extLst>
                  <a:ext uri="{FF2B5EF4-FFF2-40B4-BE49-F238E27FC236}">
                    <a16:creationId xmlns:a16="http://schemas.microsoft.com/office/drawing/2014/main" id="{CC1B9C8B-3B16-468F-87E6-DF955313911E}"/>
                  </a:ext>
                </a:extLst>
              </p:cNvPr>
              <p:cNvSpPr>
                <a:spLocks noChangeShapeType="1"/>
              </p:cNvSpPr>
              <p:nvPr/>
            </p:nvSpPr>
            <p:spPr bwMode="auto">
              <a:xfrm>
                <a:off x="2016" y="2496"/>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370" name="Line 43">
                <a:extLst>
                  <a:ext uri="{FF2B5EF4-FFF2-40B4-BE49-F238E27FC236}">
                    <a16:creationId xmlns:a16="http://schemas.microsoft.com/office/drawing/2014/main" id="{C26EA369-8813-4D48-9059-85C3F034A52D}"/>
                  </a:ext>
                </a:extLst>
              </p:cNvPr>
              <p:cNvSpPr>
                <a:spLocks noChangeShapeType="1"/>
              </p:cNvSpPr>
              <p:nvPr/>
            </p:nvSpPr>
            <p:spPr bwMode="auto">
              <a:xfrm>
                <a:off x="2016" y="1488"/>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371" name="Text Box 44">
                <a:extLst>
                  <a:ext uri="{FF2B5EF4-FFF2-40B4-BE49-F238E27FC236}">
                    <a16:creationId xmlns:a16="http://schemas.microsoft.com/office/drawing/2014/main" id="{D5680725-889B-495C-A193-8D2D0E609B47}"/>
                  </a:ext>
                </a:extLst>
              </p:cNvPr>
              <p:cNvSpPr txBox="1">
                <a:spLocks noChangeArrowheads="1"/>
              </p:cNvSpPr>
              <p:nvPr/>
            </p:nvSpPr>
            <p:spPr bwMode="auto">
              <a:xfrm>
                <a:off x="2736" y="1632"/>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T</a:t>
                </a:r>
              </a:p>
            </p:txBody>
          </p:sp>
          <p:sp>
            <p:nvSpPr>
              <p:cNvPr id="54372" name="Text Box 45">
                <a:extLst>
                  <a:ext uri="{FF2B5EF4-FFF2-40B4-BE49-F238E27FC236}">
                    <a16:creationId xmlns:a16="http://schemas.microsoft.com/office/drawing/2014/main" id="{C82D2197-DC51-46B8-966D-5BA87162C0FC}"/>
                  </a:ext>
                </a:extLst>
              </p:cNvPr>
              <p:cNvSpPr txBox="1">
                <a:spLocks noChangeArrowheads="1"/>
              </p:cNvSpPr>
              <p:nvPr/>
            </p:nvSpPr>
            <p:spPr bwMode="auto">
              <a:xfrm>
                <a:off x="1200" y="1632"/>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F</a:t>
                </a:r>
              </a:p>
            </p:txBody>
          </p:sp>
          <p:sp>
            <p:nvSpPr>
              <p:cNvPr id="54373" name="Line 46">
                <a:extLst>
                  <a:ext uri="{FF2B5EF4-FFF2-40B4-BE49-F238E27FC236}">
                    <a16:creationId xmlns:a16="http://schemas.microsoft.com/office/drawing/2014/main" id="{771DAC9F-C572-4BC9-9163-31BAD2E5D60C}"/>
                  </a:ext>
                </a:extLst>
              </p:cNvPr>
              <p:cNvSpPr>
                <a:spLocks noChangeShapeType="1"/>
              </p:cNvSpPr>
              <p:nvPr/>
            </p:nvSpPr>
            <p:spPr bwMode="auto">
              <a:xfrm>
                <a:off x="2736" y="1824"/>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74" name="Line 47">
                <a:extLst>
                  <a:ext uri="{FF2B5EF4-FFF2-40B4-BE49-F238E27FC236}">
                    <a16:creationId xmlns:a16="http://schemas.microsoft.com/office/drawing/2014/main" id="{B15FCA95-A019-4770-B023-4D81433CEBF1}"/>
                  </a:ext>
                </a:extLst>
              </p:cNvPr>
              <p:cNvSpPr>
                <a:spLocks noChangeShapeType="1"/>
              </p:cNvSpPr>
              <p:nvPr/>
            </p:nvSpPr>
            <p:spPr bwMode="auto">
              <a:xfrm>
                <a:off x="2880" y="230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375" name="AutoShape 48">
                <a:extLst>
                  <a:ext uri="{FF2B5EF4-FFF2-40B4-BE49-F238E27FC236}">
                    <a16:creationId xmlns:a16="http://schemas.microsoft.com/office/drawing/2014/main" id="{CA00B48B-0EDC-4E01-B402-9EBA39E8BA1A}"/>
                  </a:ext>
                </a:extLst>
              </p:cNvPr>
              <p:cNvSpPr>
                <a:spLocks noChangeArrowheads="1"/>
              </p:cNvSpPr>
              <p:nvPr/>
            </p:nvSpPr>
            <p:spPr bwMode="auto">
              <a:xfrm>
                <a:off x="1344" y="2640"/>
                <a:ext cx="1344" cy="288"/>
              </a:xfrm>
              <a:prstGeom prst="flowChartDecision">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(A=2) V (X&gt;1)</a:t>
                </a:r>
              </a:p>
            </p:txBody>
          </p:sp>
          <p:sp>
            <p:nvSpPr>
              <p:cNvPr id="54376" name="Rectangle 49">
                <a:extLst>
                  <a:ext uri="{FF2B5EF4-FFF2-40B4-BE49-F238E27FC236}">
                    <a16:creationId xmlns:a16="http://schemas.microsoft.com/office/drawing/2014/main" id="{06758C4A-C160-4145-ACF7-0604BD08C083}"/>
                  </a:ext>
                </a:extLst>
              </p:cNvPr>
              <p:cNvSpPr>
                <a:spLocks noChangeArrowheads="1"/>
              </p:cNvSpPr>
              <p:nvPr/>
            </p:nvSpPr>
            <p:spPr bwMode="auto">
              <a:xfrm>
                <a:off x="2544" y="2976"/>
                <a:ext cx="768" cy="288"/>
              </a:xfrm>
              <a:prstGeom prst="rect">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X=X+1</a:t>
                </a:r>
              </a:p>
            </p:txBody>
          </p:sp>
          <p:sp>
            <p:nvSpPr>
              <p:cNvPr id="54377" name="Text Box 50">
                <a:extLst>
                  <a:ext uri="{FF2B5EF4-FFF2-40B4-BE49-F238E27FC236}">
                    <a16:creationId xmlns:a16="http://schemas.microsoft.com/office/drawing/2014/main" id="{223D41E8-7C6A-4C6A-85E2-74AD201982CA}"/>
                  </a:ext>
                </a:extLst>
              </p:cNvPr>
              <p:cNvSpPr txBox="1">
                <a:spLocks noChangeArrowheads="1"/>
              </p:cNvSpPr>
              <p:nvPr/>
            </p:nvSpPr>
            <p:spPr bwMode="auto">
              <a:xfrm>
                <a:off x="2640" y="2592"/>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T</a:t>
                </a:r>
              </a:p>
            </p:txBody>
          </p:sp>
          <p:sp>
            <p:nvSpPr>
              <p:cNvPr id="54378" name="Line 51">
                <a:extLst>
                  <a:ext uri="{FF2B5EF4-FFF2-40B4-BE49-F238E27FC236}">
                    <a16:creationId xmlns:a16="http://schemas.microsoft.com/office/drawing/2014/main" id="{7C53F88D-43FF-44FC-8CF6-79B1FE142BD5}"/>
                  </a:ext>
                </a:extLst>
              </p:cNvPr>
              <p:cNvSpPr>
                <a:spLocks noChangeShapeType="1"/>
              </p:cNvSpPr>
              <p:nvPr/>
            </p:nvSpPr>
            <p:spPr bwMode="auto">
              <a:xfrm>
                <a:off x="1200" y="2784"/>
                <a:ext cx="0" cy="624"/>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79" name="Line 52">
                <a:extLst>
                  <a:ext uri="{FF2B5EF4-FFF2-40B4-BE49-F238E27FC236}">
                    <a16:creationId xmlns:a16="http://schemas.microsoft.com/office/drawing/2014/main" id="{86AD5019-A257-4005-98AB-D406E3E02209}"/>
                  </a:ext>
                </a:extLst>
              </p:cNvPr>
              <p:cNvSpPr>
                <a:spLocks noChangeShapeType="1"/>
              </p:cNvSpPr>
              <p:nvPr/>
            </p:nvSpPr>
            <p:spPr bwMode="auto">
              <a:xfrm>
                <a:off x="1200" y="3408"/>
                <a:ext cx="1680"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80" name="Text Box 53">
                <a:extLst>
                  <a:ext uri="{FF2B5EF4-FFF2-40B4-BE49-F238E27FC236}">
                    <a16:creationId xmlns:a16="http://schemas.microsoft.com/office/drawing/2014/main" id="{5C4C0281-0BDA-4A3C-8A7E-D4C5B8A1219A}"/>
                  </a:ext>
                </a:extLst>
              </p:cNvPr>
              <p:cNvSpPr txBox="1">
                <a:spLocks noChangeArrowheads="1"/>
              </p:cNvSpPr>
              <p:nvPr/>
            </p:nvSpPr>
            <p:spPr bwMode="auto">
              <a:xfrm>
                <a:off x="1200" y="2544"/>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F</a:t>
                </a:r>
              </a:p>
            </p:txBody>
          </p:sp>
          <p:sp>
            <p:nvSpPr>
              <p:cNvPr id="54381" name="Line 54">
                <a:extLst>
                  <a:ext uri="{FF2B5EF4-FFF2-40B4-BE49-F238E27FC236}">
                    <a16:creationId xmlns:a16="http://schemas.microsoft.com/office/drawing/2014/main" id="{053EA8E4-13BA-4141-9E70-72779DD60121}"/>
                  </a:ext>
                </a:extLst>
              </p:cNvPr>
              <p:cNvSpPr>
                <a:spLocks noChangeShapeType="1"/>
              </p:cNvSpPr>
              <p:nvPr/>
            </p:nvSpPr>
            <p:spPr bwMode="auto">
              <a:xfrm>
                <a:off x="2688" y="2784"/>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82" name="Line 55">
                <a:extLst>
                  <a:ext uri="{FF2B5EF4-FFF2-40B4-BE49-F238E27FC236}">
                    <a16:creationId xmlns:a16="http://schemas.microsoft.com/office/drawing/2014/main" id="{BA103CBD-00FA-4D47-8F2D-54C4986E1872}"/>
                  </a:ext>
                </a:extLst>
              </p:cNvPr>
              <p:cNvSpPr>
                <a:spLocks noChangeShapeType="1"/>
              </p:cNvSpPr>
              <p:nvPr/>
            </p:nvSpPr>
            <p:spPr bwMode="auto">
              <a:xfrm>
                <a:off x="2880" y="278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383" name="Line 56">
                <a:extLst>
                  <a:ext uri="{FF2B5EF4-FFF2-40B4-BE49-F238E27FC236}">
                    <a16:creationId xmlns:a16="http://schemas.microsoft.com/office/drawing/2014/main" id="{3CDA53A3-108D-4207-8F2F-5B8764C9A185}"/>
                  </a:ext>
                </a:extLst>
              </p:cNvPr>
              <p:cNvSpPr>
                <a:spLocks noChangeShapeType="1"/>
              </p:cNvSpPr>
              <p:nvPr/>
            </p:nvSpPr>
            <p:spPr bwMode="auto">
              <a:xfrm>
                <a:off x="2880" y="3264"/>
                <a:ext cx="0" cy="144"/>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84" name="Line 57">
                <a:extLst>
                  <a:ext uri="{FF2B5EF4-FFF2-40B4-BE49-F238E27FC236}">
                    <a16:creationId xmlns:a16="http://schemas.microsoft.com/office/drawing/2014/main" id="{6AC93034-804B-4716-9F9A-0E67D213BC08}"/>
                  </a:ext>
                </a:extLst>
              </p:cNvPr>
              <p:cNvSpPr>
                <a:spLocks noChangeShapeType="1"/>
              </p:cNvSpPr>
              <p:nvPr/>
            </p:nvSpPr>
            <p:spPr bwMode="auto">
              <a:xfrm>
                <a:off x="2064" y="3408"/>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385" name="Line 58">
                <a:extLst>
                  <a:ext uri="{FF2B5EF4-FFF2-40B4-BE49-F238E27FC236}">
                    <a16:creationId xmlns:a16="http://schemas.microsoft.com/office/drawing/2014/main" id="{560633BF-4A18-4814-B128-627E5958FFE1}"/>
                  </a:ext>
                </a:extLst>
              </p:cNvPr>
              <p:cNvSpPr>
                <a:spLocks noChangeShapeType="1"/>
              </p:cNvSpPr>
              <p:nvPr/>
            </p:nvSpPr>
            <p:spPr bwMode="auto">
              <a:xfrm>
                <a:off x="1200" y="2784"/>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2437179" name="Rectangle 59">
            <a:extLst>
              <a:ext uri="{FF2B5EF4-FFF2-40B4-BE49-F238E27FC236}">
                <a16:creationId xmlns:a16="http://schemas.microsoft.com/office/drawing/2014/main" id="{247CAC49-1691-4039-BA46-F32939D71779}"/>
              </a:ext>
            </a:extLst>
          </p:cNvPr>
          <p:cNvSpPr>
            <a:spLocks noChangeArrowheads="1"/>
          </p:cNvSpPr>
          <p:nvPr/>
        </p:nvSpPr>
        <p:spPr bwMode="auto">
          <a:xfrm>
            <a:off x="7162800" y="4038600"/>
            <a:ext cx="685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buClr>
                <a:schemeClr val="accent1"/>
              </a:buClr>
              <a:buSzPct val="90000"/>
              <a:buFont typeface="Monotype Sorts" pitchFamily="2" charset="2"/>
              <a:buNone/>
            </a:pPr>
            <a:r>
              <a:rPr kumimoji="1" lang="en-US" altLang="zh-CN" sz="1800" b="1">
                <a:solidFill>
                  <a:srgbClr val="D35FC2"/>
                </a:solidFill>
                <a:ea typeface="文鼎细圆" pitchFamily="49" charset="-122"/>
              </a:rPr>
              <a:t>A=2</a:t>
            </a:r>
          </a:p>
          <a:p>
            <a:pPr eaLnBrk="1" hangingPunct="1">
              <a:buClr>
                <a:schemeClr val="accent1"/>
              </a:buClr>
              <a:buSzPct val="90000"/>
              <a:buFont typeface="Monotype Sorts" pitchFamily="2" charset="2"/>
              <a:buNone/>
            </a:pPr>
            <a:r>
              <a:rPr kumimoji="1" lang="en-US" altLang="zh-CN" sz="1800" b="1">
                <a:solidFill>
                  <a:srgbClr val="D35FC2"/>
                </a:solidFill>
                <a:ea typeface="文鼎细圆" pitchFamily="49" charset="-122"/>
              </a:rPr>
              <a:t>X&gt;1</a:t>
            </a:r>
          </a:p>
        </p:txBody>
      </p:sp>
      <p:sp>
        <p:nvSpPr>
          <p:cNvPr id="2437180" name="Rectangle 60">
            <a:extLst>
              <a:ext uri="{FF2B5EF4-FFF2-40B4-BE49-F238E27FC236}">
                <a16:creationId xmlns:a16="http://schemas.microsoft.com/office/drawing/2014/main" id="{1F608C44-804C-4F46-83DC-BD1A17D30E13}"/>
              </a:ext>
            </a:extLst>
          </p:cNvPr>
          <p:cNvSpPr>
            <a:spLocks noChangeArrowheads="1"/>
          </p:cNvSpPr>
          <p:nvPr/>
        </p:nvSpPr>
        <p:spPr bwMode="auto">
          <a:xfrm>
            <a:off x="7162800" y="4648200"/>
            <a:ext cx="685800" cy="609600"/>
          </a:xfrm>
          <a:prstGeom prst="rect">
            <a:avLst/>
          </a:prstGeom>
          <a:noFill/>
          <a:ln w="38100" cmpd="dbl">
            <a:noFill/>
            <a:miter lim="800000"/>
            <a:headEnd/>
            <a:tailEnd/>
          </a:ln>
          <a:effectLst/>
        </p:spPr>
        <p:txBody>
          <a:bodyPr wrap="none" anchor="ctr"/>
          <a:lstStyle/>
          <a:p>
            <a:pPr eaLnBrk="1" hangingPunct="1">
              <a:lnSpc>
                <a:spcPct val="75000"/>
              </a:lnSpc>
              <a:spcBef>
                <a:spcPct val="20000"/>
              </a:spcBef>
              <a:buClr>
                <a:schemeClr val="accent1"/>
              </a:buClr>
              <a:buSzPct val="90000"/>
              <a:buFont typeface="Monotype Sorts" pitchFamily="2" charset="2"/>
              <a:buNone/>
              <a:defRPr/>
            </a:pPr>
            <a:r>
              <a:rPr kumimoji="1" lang="en-US" altLang="zh-CN" b="1">
                <a:solidFill>
                  <a:srgbClr val="D35FC2"/>
                </a:solidFill>
                <a:latin typeface="Arial" charset="0"/>
                <a:ea typeface="文鼎细圆" pitchFamily="49" charset="-122"/>
              </a:rPr>
              <a:t>A=2</a:t>
            </a:r>
          </a:p>
          <a:p>
            <a:pPr eaLnBrk="1" hangingPunct="1">
              <a:lnSpc>
                <a:spcPct val="75000"/>
              </a:lnSpc>
              <a:spcBef>
                <a:spcPct val="20000"/>
              </a:spcBef>
              <a:buClr>
                <a:schemeClr val="accent1"/>
              </a:buClr>
              <a:buSzPct val="90000"/>
              <a:buFont typeface="Monotype Sorts" pitchFamily="2" charset="2"/>
              <a:buNone/>
              <a:defRPr/>
            </a:pPr>
            <a:r>
              <a:rPr kumimoji="1" lang="en-US" altLang="zh-CN" b="1">
                <a:solidFill>
                  <a:srgbClr val="D35FC2"/>
                </a:solidFill>
                <a:latin typeface="Arial" charset="0"/>
                <a:ea typeface="文鼎细圆" pitchFamily="49" charset="-122"/>
              </a:rPr>
              <a:t>X</a:t>
            </a:r>
            <a:r>
              <a:rPr kumimoji="1" lang="en-US" altLang="zh-CN" sz="1600" b="1">
                <a:solidFill>
                  <a:srgbClr val="D35FC2"/>
                </a:solidFill>
                <a:effectLst>
                  <a:outerShdw blurRad="38100" dist="38100" dir="2700000" algn="tl">
                    <a:srgbClr val="000000"/>
                  </a:outerShdw>
                </a:effectLst>
                <a:latin typeface="Arial" charset="0"/>
              </a:rPr>
              <a:t>≯</a:t>
            </a:r>
            <a:r>
              <a:rPr kumimoji="1" lang="en-US" altLang="zh-CN" b="1">
                <a:solidFill>
                  <a:srgbClr val="D35FC2"/>
                </a:solidFill>
                <a:latin typeface="Arial" charset="0"/>
                <a:ea typeface="文鼎细圆" pitchFamily="49" charset="-122"/>
              </a:rPr>
              <a:t>1</a:t>
            </a:r>
          </a:p>
        </p:txBody>
      </p:sp>
      <p:sp>
        <p:nvSpPr>
          <p:cNvPr id="2437181" name="Rectangle 61">
            <a:extLst>
              <a:ext uri="{FF2B5EF4-FFF2-40B4-BE49-F238E27FC236}">
                <a16:creationId xmlns:a16="http://schemas.microsoft.com/office/drawing/2014/main" id="{2F0A8B7B-ED99-4534-9CDE-AB5FD4815175}"/>
              </a:ext>
            </a:extLst>
          </p:cNvPr>
          <p:cNvSpPr>
            <a:spLocks noChangeArrowheads="1"/>
          </p:cNvSpPr>
          <p:nvPr/>
        </p:nvSpPr>
        <p:spPr bwMode="auto">
          <a:xfrm>
            <a:off x="7162800" y="5334000"/>
            <a:ext cx="685800" cy="533400"/>
          </a:xfrm>
          <a:prstGeom prst="rect">
            <a:avLst/>
          </a:prstGeom>
          <a:noFill/>
          <a:ln w="38100" cmpd="dbl">
            <a:noFill/>
            <a:miter lim="800000"/>
            <a:headEnd/>
            <a:tailEnd/>
          </a:ln>
          <a:effectLst/>
        </p:spPr>
        <p:txBody>
          <a:bodyPr wrap="none" anchor="ctr"/>
          <a:lstStyle/>
          <a:p>
            <a:pPr eaLnBrk="1" hangingPunct="1">
              <a:lnSpc>
                <a:spcPct val="75000"/>
              </a:lnSpc>
              <a:spcBef>
                <a:spcPct val="20000"/>
              </a:spcBef>
              <a:buClr>
                <a:schemeClr val="accent1"/>
              </a:buClr>
              <a:buSzPct val="90000"/>
              <a:buFont typeface="Monotype Sorts" pitchFamily="2" charset="2"/>
              <a:buNone/>
              <a:defRPr/>
            </a:pPr>
            <a:r>
              <a:rPr kumimoji="1" lang="en-US" altLang="zh-CN" b="1">
                <a:solidFill>
                  <a:srgbClr val="D35FC2"/>
                </a:solidFill>
                <a:latin typeface="Arial" charset="0"/>
                <a:ea typeface="文鼎细圆" pitchFamily="49" charset="-122"/>
              </a:rPr>
              <a:t>A</a:t>
            </a:r>
            <a:r>
              <a:rPr kumimoji="1" lang="zh-CN" altLang="en-US" sz="1400" b="1">
                <a:solidFill>
                  <a:srgbClr val="D35FC2"/>
                </a:solidFill>
                <a:effectLst>
                  <a:outerShdw blurRad="38100" dist="38100" dir="2700000" algn="tl">
                    <a:srgbClr val="000000"/>
                  </a:outerShdw>
                </a:effectLst>
                <a:latin typeface="Arial" charset="0"/>
              </a:rPr>
              <a:t>≠</a:t>
            </a:r>
            <a:r>
              <a:rPr kumimoji="1" lang="en-US" altLang="zh-CN" b="1">
                <a:solidFill>
                  <a:srgbClr val="D35FC2"/>
                </a:solidFill>
                <a:latin typeface="Arial" charset="0"/>
                <a:ea typeface="文鼎细圆" pitchFamily="49" charset="-122"/>
              </a:rPr>
              <a:t>2</a:t>
            </a:r>
          </a:p>
          <a:p>
            <a:pPr eaLnBrk="1" hangingPunct="1">
              <a:spcBef>
                <a:spcPct val="20000"/>
              </a:spcBef>
              <a:buClr>
                <a:schemeClr val="accent1"/>
              </a:buClr>
              <a:buSzPct val="90000"/>
              <a:buFont typeface="Monotype Sorts" pitchFamily="2" charset="2"/>
              <a:buNone/>
              <a:defRPr/>
            </a:pPr>
            <a:r>
              <a:rPr kumimoji="1" lang="en-US" altLang="zh-CN" b="1">
                <a:solidFill>
                  <a:srgbClr val="D35FC2"/>
                </a:solidFill>
                <a:latin typeface="Arial" charset="0"/>
                <a:ea typeface="文鼎细圆" pitchFamily="49" charset="-122"/>
              </a:rPr>
              <a:t>X</a:t>
            </a:r>
            <a:r>
              <a:rPr kumimoji="1" lang="en-US" altLang="zh-CN" b="1">
                <a:solidFill>
                  <a:srgbClr val="D35FC2"/>
                </a:solidFill>
                <a:effectLst>
                  <a:outerShdw blurRad="38100" dist="38100" dir="2700000" algn="tl">
                    <a:srgbClr val="000000"/>
                  </a:outerShdw>
                </a:effectLst>
                <a:latin typeface="Arial" charset="0"/>
                <a:ea typeface="文鼎细圆" pitchFamily="49" charset="-122"/>
              </a:rPr>
              <a:t>&gt;</a:t>
            </a:r>
            <a:r>
              <a:rPr kumimoji="1" lang="en-US" altLang="zh-CN" b="1">
                <a:solidFill>
                  <a:srgbClr val="D35FC2"/>
                </a:solidFill>
                <a:latin typeface="Arial" charset="0"/>
                <a:ea typeface="文鼎细圆" pitchFamily="49" charset="-122"/>
              </a:rPr>
              <a:t>1</a:t>
            </a:r>
          </a:p>
        </p:txBody>
      </p:sp>
      <p:sp>
        <p:nvSpPr>
          <p:cNvPr id="2437182" name="Rectangle 62">
            <a:extLst>
              <a:ext uri="{FF2B5EF4-FFF2-40B4-BE49-F238E27FC236}">
                <a16:creationId xmlns:a16="http://schemas.microsoft.com/office/drawing/2014/main" id="{EB503234-9D05-4D55-9973-C4C2A8879ABE}"/>
              </a:ext>
            </a:extLst>
          </p:cNvPr>
          <p:cNvSpPr>
            <a:spLocks noChangeArrowheads="1"/>
          </p:cNvSpPr>
          <p:nvPr/>
        </p:nvSpPr>
        <p:spPr bwMode="auto">
          <a:xfrm>
            <a:off x="7162800" y="5943600"/>
            <a:ext cx="685800" cy="533400"/>
          </a:xfrm>
          <a:prstGeom prst="rect">
            <a:avLst/>
          </a:prstGeom>
          <a:noFill/>
          <a:ln w="38100" cmpd="dbl">
            <a:noFill/>
            <a:miter lim="800000"/>
            <a:headEnd/>
            <a:tailEnd/>
          </a:ln>
          <a:effectLst/>
        </p:spPr>
        <p:txBody>
          <a:bodyPr wrap="none" anchor="ctr"/>
          <a:lstStyle/>
          <a:p>
            <a:pPr eaLnBrk="1" hangingPunct="1">
              <a:lnSpc>
                <a:spcPct val="75000"/>
              </a:lnSpc>
              <a:spcBef>
                <a:spcPct val="20000"/>
              </a:spcBef>
              <a:buClr>
                <a:schemeClr val="accent1"/>
              </a:buClr>
              <a:buSzPct val="90000"/>
              <a:buFont typeface="Monotype Sorts" pitchFamily="2" charset="2"/>
              <a:buNone/>
              <a:defRPr/>
            </a:pPr>
            <a:r>
              <a:rPr kumimoji="1" lang="en-US" altLang="zh-CN" b="1">
                <a:solidFill>
                  <a:srgbClr val="D35FC2"/>
                </a:solidFill>
                <a:latin typeface="Arial" charset="0"/>
                <a:ea typeface="文鼎细圆" pitchFamily="49" charset="-122"/>
              </a:rPr>
              <a:t>A</a:t>
            </a:r>
            <a:r>
              <a:rPr kumimoji="1" lang="zh-CN" altLang="en-US" sz="1400" b="1">
                <a:solidFill>
                  <a:srgbClr val="D35FC2"/>
                </a:solidFill>
                <a:effectLst>
                  <a:outerShdw blurRad="38100" dist="38100" dir="2700000" algn="tl">
                    <a:srgbClr val="000000"/>
                  </a:outerShdw>
                </a:effectLst>
                <a:latin typeface="Arial" charset="0"/>
              </a:rPr>
              <a:t>≠</a:t>
            </a:r>
            <a:r>
              <a:rPr kumimoji="1" lang="en-US" altLang="zh-CN" b="1">
                <a:solidFill>
                  <a:srgbClr val="D35FC2"/>
                </a:solidFill>
                <a:latin typeface="Arial" charset="0"/>
                <a:ea typeface="文鼎细圆" pitchFamily="49" charset="-122"/>
              </a:rPr>
              <a:t>2</a:t>
            </a:r>
          </a:p>
          <a:p>
            <a:pPr eaLnBrk="1" hangingPunct="1">
              <a:spcBef>
                <a:spcPct val="20000"/>
              </a:spcBef>
              <a:buClr>
                <a:schemeClr val="accent1"/>
              </a:buClr>
              <a:buSzPct val="90000"/>
              <a:buFont typeface="Monotype Sorts" pitchFamily="2" charset="2"/>
              <a:buNone/>
              <a:defRPr/>
            </a:pPr>
            <a:r>
              <a:rPr kumimoji="1" lang="en-US" altLang="zh-CN" b="1">
                <a:solidFill>
                  <a:srgbClr val="D35FC2"/>
                </a:solidFill>
                <a:latin typeface="Arial" charset="0"/>
                <a:ea typeface="文鼎细圆" pitchFamily="49" charset="-122"/>
              </a:rPr>
              <a:t>X</a:t>
            </a:r>
            <a:r>
              <a:rPr kumimoji="1" lang="en-US" altLang="zh-CN" sz="1600" b="1">
                <a:solidFill>
                  <a:srgbClr val="D35FC2"/>
                </a:solidFill>
                <a:effectLst>
                  <a:outerShdw blurRad="38100" dist="38100" dir="2700000" algn="tl">
                    <a:srgbClr val="000000"/>
                  </a:outerShdw>
                </a:effectLst>
                <a:latin typeface="Arial" charset="0"/>
              </a:rPr>
              <a:t>≯</a:t>
            </a:r>
            <a:r>
              <a:rPr kumimoji="1" lang="en-US" altLang="zh-CN" b="1">
                <a:solidFill>
                  <a:srgbClr val="D35FC2"/>
                </a:solidFill>
                <a:latin typeface="Arial" charset="0"/>
                <a:ea typeface="文鼎细圆" pitchFamily="49" charset="-122"/>
              </a:rPr>
              <a:t>1</a:t>
            </a:r>
          </a:p>
        </p:txBody>
      </p:sp>
      <p:graphicFrame>
        <p:nvGraphicFramePr>
          <p:cNvPr id="2437183" name="Group 63">
            <a:extLst>
              <a:ext uri="{FF2B5EF4-FFF2-40B4-BE49-F238E27FC236}">
                <a16:creationId xmlns:a16="http://schemas.microsoft.com/office/drawing/2014/main" id="{2D6637E5-1F28-4AE6-98DD-AF4893B51A4B}"/>
              </a:ext>
            </a:extLst>
          </p:cNvPr>
          <p:cNvGraphicFramePr>
            <a:graphicFrameLocks noGrp="1"/>
          </p:cNvGraphicFramePr>
          <p:nvPr/>
        </p:nvGraphicFramePr>
        <p:xfrm>
          <a:off x="6934200" y="990600"/>
          <a:ext cx="3276600" cy="1752600"/>
        </p:xfrm>
        <a:graphic>
          <a:graphicData uri="http://schemas.openxmlformats.org/drawingml/2006/table">
            <a:tbl>
              <a:tblPr/>
              <a:tblGrid>
                <a:gridCol w="711200">
                  <a:extLst>
                    <a:ext uri="{9D8B030D-6E8A-4147-A177-3AD203B41FA5}">
                      <a16:colId xmlns:a16="http://schemas.microsoft.com/office/drawing/2014/main" val="20000"/>
                    </a:ext>
                  </a:extLst>
                </a:gridCol>
                <a:gridCol w="896938">
                  <a:extLst>
                    <a:ext uri="{9D8B030D-6E8A-4147-A177-3AD203B41FA5}">
                      <a16:colId xmlns:a16="http://schemas.microsoft.com/office/drawing/2014/main" val="20001"/>
                    </a:ext>
                  </a:extLst>
                </a:gridCol>
                <a:gridCol w="865187">
                  <a:extLst>
                    <a:ext uri="{9D8B030D-6E8A-4147-A177-3AD203B41FA5}">
                      <a16:colId xmlns:a16="http://schemas.microsoft.com/office/drawing/2014/main" val="20002"/>
                    </a:ext>
                  </a:extLst>
                </a:gridCol>
                <a:gridCol w="803275">
                  <a:extLst>
                    <a:ext uri="{9D8B030D-6E8A-4147-A177-3AD203B41FA5}">
                      <a16:colId xmlns:a16="http://schemas.microsoft.com/office/drawing/2014/main" val="20003"/>
                    </a:ext>
                  </a:extLst>
                </a:gridCol>
              </a:tblGrid>
              <a:tr h="3397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判断</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条件</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取真值</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取假值</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38138">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判断</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(一)</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A&gt;1</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T1</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T1</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972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B=0</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T2</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T2</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39725">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判断</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(二)</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A=2</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T3</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T3</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95288">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X&gt;1</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T4</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T4</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54337" name="Rectangle 93">
            <a:extLst>
              <a:ext uri="{FF2B5EF4-FFF2-40B4-BE49-F238E27FC236}">
                <a16:creationId xmlns:a16="http://schemas.microsoft.com/office/drawing/2014/main" id="{5FD593AC-B5BF-4BE5-BDBF-872E5AB2E071}"/>
              </a:ext>
            </a:extLst>
          </p:cNvPr>
          <p:cNvSpPr>
            <a:spLocks noChangeArrowheads="1"/>
          </p:cNvSpPr>
          <p:nvPr/>
        </p:nvSpPr>
        <p:spPr bwMode="auto">
          <a:xfrm>
            <a:off x="7162800" y="533400"/>
            <a:ext cx="28194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600">
                <a:solidFill>
                  <a:srgbClr val="1AA1A4"/>
                </a:solidFill>
                <a:latin typeface="Times New Roman" panose="02020603050405020304" pitchFamily="18" charset="0"/>
                <a:ea typeface="黑体" panose="02010609060101010101" pitchFamily="49" charset="-122"/>
              </a:rPr>
              <a:t>设条件的取值标记</a:t>
            </a:r>
            <a:endParaRPr lang="en-US" altLang="zh-CN" sz="1600">
              <a:solidFill>
                <a:srgbClr val="1AA1A4"/>
              </a:solidFill>
              <a:latin typeface="Times New Roman" panose="02020603050405020304" pitchFamily="18" charset="0"/>
              <a:ea typeface="黑体" panose="02010609060101010101" pitchFamily="49" charset="-122"/>
            </a:endParaRPr>
          </a:p>
        </p:txBody>
      </p:sp>
      <p:sp>
        <p:nvSpPr>
          <p:cNvPr id="2437214" name="Rectangle 94">
            <a:extLst>
              <a:ext uri="{FF2B5EF4-FFF2-40B4-BE49-F238E27FC236}">
                <a16:creationId xmlns:a16="http://schemas.microsoft.com/office/drawing/2014/main" id="{C72BE925-4AB1-4F41-B7E4-E5E0A1C72A63}"/>
              </a:ext>
            </a:extLst>
          </p:cNvPr>
          <p:cNvSpPr>
            <a:spLocks noChangeArrowheads="1"/>
          </p:cNvSpPr>
          <p:nvPr/>
        </p:nvSpPr>
        <p:spPr bwMode="auto">
          <a:xfrm>
            <a:off x="7924800" y="4191000"/>
            <a:ext cx="609600" cy="3048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b="1">
                <a:solidFill>
                  <a:srgbClr val="EF8D2B"/>
                </a:solidFill>
                <a:effectLst>
                  <a:outerShdw blurRad="38100" dist="38100" dir="2700000" algn="tl">
                    <a:srgbClr val="000000"/>
                  </a:outerShdw>
                </a:effectLst>
                <a:latin typeface="Arial" charset="0"/>
                <a:ea typeface="文鼎细圆" pitchFamily="49" charset="-122"/>
              </a:rPr>
              <a:t>T3 T4</a:t>
            </a:r>
          </a:p>
        </p:txBody>
      </p:sp>
      <p:sp>
        <p:nvSpPr>
          <p:cNvPr id="2437215" name="Rectangle 95">
            <a:extLst>
              <a:ext uri="{FF2B5EF4-FFF2-40B4-BE49-F238E27FC236}">
                <a16:creationId xmlns:a16="http://schemas.microsoft.com/office/drawing/2014/main" id="{586E4A96-CA92-4597-8357-56C36FF54E6E}"/>
              </a:ext>
            </a:extLst>
          </p:cNvPr>
          <p:cNvSpPr>
            <a:spLocks noChangeArrowheads="1"/>
          </p:cNvSpPr>
          <p:nvPr/>
        </p:nvSpPr>
        <p:spPr bwMode="auto">
          <a:xfrm>
            <a:off x="8839200" y="4191000"/>
            <a:ext cx="1447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buClr>
                <a:schemeClr val="accent1"/>
              </a:buClr>
              <a:buSzPct val="90000"/>
              <a:buFont typeface="Monotype Sorts" pitchFamily="2" charset="2"/>
              <a:buNone/>
            </a:pPr>
            <a:r>
              <a:rPr kumimoji="1" lang="zh-CN" altLang="en-US" sz="1600" b="1">
                <a:solidFill>
                  <a:schemeClr val="accent2"/>
                </a:solidFill>
                <a:latin typeface="Times New Roman" panose="02020603050405020304" pitchFamily="18" charset="0"/>
                <a:ea typeface="文鼎细圆" pitchFamily="49" charset="-122"/>
              </a:rPr>
              <a:t>⑤ </a:t>
            </a:r>
            <a:r>
              <a:rPr kumimoji="1" lang="zh-CN" altLang="en-US" sz="1600" b="1">
                <a:solidFill>
                  <a:srgbClr val="345BC8"/>
                </a:solidFill>
                <a:latin typeface="Times New Roman" panose="02020603050405020304" pitchFamily="18" charset="0"/>
                <a:ea typeface="文鼎细圆" pitchFamily="49" charset="-122"/>
              </a:rPr>
              <a:t> </a:t>
            </a:r>
            <a:r>
              <a:rPr kumimoji="1" lang="zh-CN" altLang="en-US" sz="1800">
                <a:solidFill>
                  <a:srgbClr val="345BC8"/>
                </a:solidFill>
                <a:latin typeface="黑体" panose="02010609060101010101" pitchFamily="49" charset="-122"/>
                <a:ea typeface="黑体" panose="02010609060101010101" pitchFamily="49" charset="-122"/>
              </a:rPr>
              <a:t>取</a:t>
            </a:r>
            <a:r>
              <a:rPr kumimoji="1" lang="zh-CN" altLang="en-US" sz="1800">
                <a:solidFill>
                  <a:schemeClr val="accent2"/>
                </a:solidFill>
                <a:latin typeface="黑体" panose="02010609060101010101" pitchFamily="49" charset="-122"/>
                <a:ea typeface="黑体" panose="02010609060101010101" pitchFamily="49" charset="-122"/>
              </a:rPr>
              <a:t>真</a:t>
            </a:r>
            <a:r>
              <a:rPr kumimoji="1" lang="zh-CN" altLang="en-US" sz="1800">
                <a:solidFill>
                  <a:srgbClr val="345BC8"/>
                </a:solidFill>
                <a:latin typeface="黑体" panose="02010609060101010101" pitchFamily="49" charset="-122"/>
                <a:ea typeface="黑体" panose="02010609060101010101" pitchFamily="49" charset="-122"/>
              </a:rPr>
              <a:t>分支</a:t>
            </a:r>
            <a:endParaRPr kumimoji="1" lang="en-US" altLang="zh-CN" sz="1800">
              <a:solidFill>
                <a:srgbClr val="345BC8"/>
              </a:solidFill>
              <a:latin typeface="黑体" panose="02010609060101010101" pitchFamily="49" charset="-122"/>
              <a:ea typeface="黑体" panose="02010609060101010101" pitchFamily="49" charset="-122"/>
            </a:endParaRPr>
          </a:p>
        </p:txBody>
      </p:sp>
      <p:grpSp>
        <p:nvGrpSpPr>
          <p:cNvPr id="4" name="Group 96">
            <a:extLst>
              <a:ext uri="{FF2B5EF4-FFF2-40B4-BE49-F238E27FC236}">
                <a16:creationId xmlns:a16="http://schemas.microsoft.com/office/drawing/2014/main" id="{0E31ECB4-784B-4EF0-BA25-BA1D362B62DF}"/>
              </a:ext>
            </a:extLst>
          </p:cNvPr>
          <p:cNvGrpSpPr>
            <a:grpSpLocks/>
          </p:cNvGrpSpPr>
          <p:nvPr/>
        </p:nvGrpSpPr>
        <p:grpSpPr bwMode="auto">
          <a:xfrm>
            <a:off x="7924800" y="4800600"/>
            <a:ext cx="838200" cy="304800"/>
            <a:chOff x="2736" y="3264"/>
            <a:chExt cx="528" cy="192"/>
          </a:xfrm>
        </p:grpSpPr>
        <p:sp>
          <p:nvSpPr>
            <p:cNvPr id="54355" name="Line 97">
              <a:extLst>
                <a:ext uri="{FF2B5EF4-FFF2-40B4-BE49-F238E27FC236}">
                  <a16:creationId xmlns:a16="http://schemas.microsoft.com/office/drawing/2014/main" id="{87C9723F-7DD5-41EF-9DCE-7419EC364E31}"/>
                </a:ext>
              </a:extLst>
            </p:cNvPr>
            <p:cNvSpPr>
              <a:spLocks noChangeShapeType="1"/>
            </p:cNvSpPr>
            <p:nvPr/>
          </p:nvSpPr>
          <p:spPr bwMode="auto">
            <a:xfrm>
              <a:off x="3024" y="3264"/>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37218" name="Rectangle 98">
              <a:extLst>
                <a:ext uri="{FF2B5EF4-FFF2-40B4-BE49-F238E27FC236}">
                  <a16:creationId xmlns:a16="http://schemas.microsoft.com/office/drawing/2014/main" id="{308DF015-B5FF-4003-ADE9-C319AD502A0A}"/>
                </a:ext>
              </a:extLst>
            </p:cNvPr>
            <p:cNvSpPr>
              <a:spLocks noChangeArrowheads="1"/>
            </p:cNvSpPr>
            <p:nvPr/>
          </p:nvSpPr>
          <p:spPr bwMode="auto">
            <a:xfrm>
              <a:off x="2736" y="3264"/>
              <a:ext cx="528" cy="192"/>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b="1">
                  <a:solidFill>
                    <a:srgbClr val="EF8D2B"/>
                  </a:solidFill>
                  <a:effectLst>
                    <a:outerShdw blurRad="38100" dist="38100" dir="2700000" algn="tl">
                      <a:srgbClr val="000000"/>
                    </a:outerShdw>
                  </a:effectLst>
                  <a:latin typeface="Arial" charset="0"/>
                  <a:ea typeface="文鼎细圆" pitchFamily="49" charset="-122"/>
                </a:rPr>
                <a:t>T3 T4</a:t>
              </a:r>
            </a:p>
          </p:txBody>
        </p:sp>
      </p:grpSp>
      <p:grpSp>
        <p:nvGrpSpPr>
          <p:cNvPr id="5" name="Group 99">
            <a:extLst>
              <a:ext uri="{FF2B5EF4-FFF2-40B4-BE49-F238E27FC236}">
                <a16:creationId xmlns:a16="http://schemas.microsoft.com/office/drawing/2014/main" id="{AC4F499A-5456-42E6-A096-4C0CEC9A1AEB}"/>
              </a:ext>
            </a:extLst>
          </p:cNvPr>
          <p:cNvGrpSpPr>
            <a:grpSpLocks/>
          </p:cNvGrpSpPr>
          <p:nvPr/>
        </p:nvGrpSpPr>
        <p:grpSpPr bwMode="auto">
          <a:xfrm>
            <a:off x="8001000" y="5410200"/>
            <a:ext cx="838200" cy="304800"/>
            <a:chOff x="2544" y="3648"/>
            <a:chExt cx="528" cy="192"/>
          </a:xfrm>
        </p:grpSpPr>
        <p:sp>
          <p:nvSpPr>
            <p:cNvPr id="54353" name="Line 100">
              <a:extLst>
                <a:ext uri="{FF2B5EF4-FFF2-40B4-BE49-F238E27FC236}">
                  <a16:creationId xmlns:a16="http://schemas.microsoft.com/office/drawing/2014/main" id="{2BCE2397-6985-4181-BCF1-F4884569BF46}"/>
                </a:ext>
              </a:extLst>
            </p:cNvPr>
            <p:cNvSpPr>
              <a:spLocks noChangeShapeType="1"/>
            </p:cNvSpPr>
            <p:nvPr/>
          </p:nvSpPr>
          <p:spPr bwMode="auto">
            <a:xfrm>
              <a:off x="2592" y="3648"/>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37221" name="Rectangle 101">
              <a:extLst>
                <a:ext uri="{FF2B5EF4-FFF2-40B4-BE49-F238E27FC236}">
                  <a16:creationId xmlns:a16="http://schemas.microsoft.com/office/drawing/2014/main" id="{EF05A92D-1868-4217-B21D-0B7051149664}"/>
                </a:ext>
              </a:extLst>
            </p:cNvPr>
            <p:cNvSpPr>
              <a:spLocks noChangeArrowheads="1"/>
            </p:cNvSpPr>
            <p:nvPr/>
          </p:nvSpPr>
          <p:spPr bwMode="auto">
            <a:xfrm>
              <a:off x="2544" y="3648"/>
              <a:ext cx="528" cy="192"/>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b="1">
                  <a:solidFill>
                    <a:srgbClr val="EF8D2B"/>
                  </a:solidFill>
                  <a:effectLst>
                    <a:outerShdw blurRad="38100" dist="38100" dir="2700000" algn="tl">
                      <a:srgbClr val="000000"/>
                    </a:outerShdw>
                  </a:effectLst>
                  <a:latin typeface="Arial" charset="0"/>
                  <a:ea typeface="文鼎细圆" pitchFamily="49" charset="-122"/>
                </a:rPr>
                <a:t>T3 T4</a:t>
              </a:r>
            </a:p>
          </p:txBody>
        </p:sp>
      </p:grpSp>
      <p:sp>
        <p:nvSpPr>
          <p:cNvPr id="2437222" name="Rectangle 102">
            <a:extLst>
              <a:ext uri="{FF2B5EF4-FFF2-40B4-BE49-F238E27FC236}">
                <a16:creationId xmlns:a16="http://schemas.microsoft.com/office/drawing/2014/main" id="{B01746AA-B48E-4A6D-9B6D-8D96A7FA769F}"/>
              </a:ext>
            </a:extLst>
          </p:cNvPr>
          <p:cNvSpPr>
            <a:spLocks noChangeArrowheads="1"/>
          </p:cNvSpPr>
          <p:nvPr/>
        </p:nvSpPr>
        <p:spPr bwMode="auto">
          <a:xfrm>
            <a:off x="8839200" y="4800600"/>
            <a:ext cx="1447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buClr>
                <a:schemeClr val="accent1"/>
              </a:buClr>
              <a:buSzPct val="90000"/>
              <a:buFont typeface="Monotype Sorts" pitchFamily="2" charset="2"/>
              <a:buNone/>
            </a:pPr>
            <a:r>
              <a:rPr kumimoji="1" lang="zh-CN" altLang="en-US" sz="1600" b="1">
                <a:solidFill>
                  <a:schemeClr val="accent2"/>
                </a:solidFill>
                <a:latin typeface="Times New Roman" panose="02020603050405020304" pitchFamily="18" charset="0"/>
                <a:ea typeface="文鼎细圆" pitchFamily="49" charset="-122"/>
              </a:rPr>
              <a:t>⑥ </a:t>
            </a:r>
            <a:r>
              <a:rPr kumimoji="1" lang="zh-CN" altLang="en-US" sz="1600" b="1">
                <a:solidFill>
                  <a:srgbClr val="345BC8"/>
                </a:solidFill>
                <a:latin typeface="Times New Roman" panose="02020603050405020304" pitchFamily="18" charset="0"/>
                <a:ea typeface="文鼎细圆" pitchFamily="49" charset="-122"/>
              </a:rPr>
              <a:t> </a:t>
            </a:r>
            <a:r>
              <a:rPr kumimoji="1" lang="zh-CN" altLang="en-US" sz="1800">
                <a:solidFill>
                  <a:srgbClr val="345BC8"/>
                </a:solidFill>
                <a:latin typeface="黑体" panose="02010609060101010101" pitchFamily="49" charset="-122"/>
                <a:ea typeface="黑体" panose="02010609060101010101" pitchFamily="49" charset="-122"/>
              </a:rPr>
              <a:t>取</a:t>
            </a:r>
            <a:r>
              <a:rPr kumimoji="1" lang="zh-CN" altLang="en-US" sz="1800">
                <a:solidFill>
                  <a:schemeClr val="accent2"/>
                </a:solidFill>
                <a:latin typeface="黑体" panose="02010609060101010101" pitchFamily="49" charset="-122"/>
                <a:ea typeface="黑体" panose="02010609060101010101" pitchFamily="49" charset="-122"/>
              </a:rPr>
              <a:t>真</a:t>
            </a:r>
            <a:r>
              <a:rPr kumimoji="1" lang="zh-CN" altLang="en-US" sz="1800">
                <a:solidFill>
                  <a:srgbClr val="345BC8"/>
                </a:solidFill>
                <a:latin typeface="黑体" panose="02010609060101010101" pitchFamily="49" charset="-122"/>
                <a:ea typeface="黑体" panose="02010609060101010101" pitchFamily="49" charset="-122"/>
              </a:rPr>
              <a:t>分支</a:t>
            </a:r>
            <a:endParaRPr kumimoji="1" lang="en-US" altLang="zh-CN" sz="1800">
              <a:solidFill>
                <a:srgbClr val="345BC8"/>
              </a:solidFill>
              <a:latin typeface="黑体" panose="02010609060101010101" pitchFamily="49" charset="-122"/>
              <a:ea typeface="黑体" panose="02010609060101010101" pitchFamily="49" charset="-122"/>
            </a:endParaRPr>
          </a:p>
        </p:txBody>
      </p:sp>
      <p:sp>
        <p:nvSpPr>
          <p:cNvPr id="2437223" name="Rectangle 103">
            <a:extLst>
              <a:ext uri="{FF2B5EF4-FFF2-40B4-BE49-F238E27FC236}">
                <a16:creationId xmlns:a16="http://schemas.microsoft.com/office/drawing/2014/main" id="{4AB0AF0B-8BFA-43B9-82C0-26DE2EB9058C}"/>
              </a:ext>
            </a:extLst>
          </p:cNvPr>
          <p:cNvSpPr>
            <a:spLocks noChangeArrowheads="1"/>
          </p:cNvSpPr>
          <p:nvPr/>
        </p:nvSpPr>
        <p:spPr bwMode="auto">
          <a:xfrm>
            <a:off x="8839200" y="5410200"/>
            <a:ext cx="1447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buClr>
                <a:schemeClr val="accent1"/>
              </a:buClr>
              <a:buSzPct val="90000"/>
              <a:buFont typeface="Monotype Sorts" pitchFamily="2" charset="2"/>
              <a:buNone/>
            </a:pPr>
            <a:r>
              <a:rPr kumimoji="1" lang="zh-CN" altLang="en-US" sz="1600" b="1">
                <a:solidFill>
                  <a:schemeClr val="accent2"/>
                </a:solidFill>
                <a:latin typeface="Times New Roman" panose="02020603050405020304" pitchFamily="18" charset="0"/>
                <a:ea typeface="文鼎细圆" pitchFamily="49" charset="-122"/>
              </a:rPr>
              <a:t>⑦ </a:t>
            </a:r>
            <a:r>
              <a:rPr kumimoji="1" lang="zh-CN" altLang="en-US" sz="1600" b="1">
                <a:solidFill>
                  <a:srgbClr val="345BC8"/>
                </a:solidFill>
                <a:latin typeface="Times New Roman" panose="02020603050405020304" pitchFamily="18" charset="0"/>
                <a:ea typeface="文鼎细圆" pitchFamily="49" charset="-122"/>
              </a:rPr>
              <a:t> </a:t>
            </a:r>
            <a:r>
              <a:rPr kumimoji="1" lang="zh-CN" altLang="en-US" sz="1800">
                <a:solidFill>
                  <a:srgbClr val="345BC8"/>
                </a:solidFill>
                <a:latin typeface="黑体" panose="02010609060101010101" pitchFamily="49" charset="-122"/>
                <a:ea typeface="黑体" panose="02010609060101010101" pitchFamily="49" charset="-122"/>
              </a:rPr>
              <a:t>取</a:t>
            </a:r>
            <a:r>
              <a:rPr kumimoji="1" lang="zh-CN" altLang="en-US" sz="1800">
                <a:solidFill>
                  <a:schemeClr val="accent2"/>
                </a:solidFill>
                <a:latin typeface="黑体" panose="02010609060101010101" pitchFamily="49" charset="-122"/>
                <a:ea typeface="黑体" panose="02010609060101010101" pitchFamily="49" charset="-122"/>
              </a:rPr>
              <a:t>真</a:t>
            </a:r>
            <a:r>
              <a:rPr kumimoji="1" lang="zh-CN" altLang="en-US" sz="1800">
                <a:solidFill>
                  <a:srgbClr val="345BC8"/>
                </a:solidFill>
                <a:latin typeface="黑体" panose="02010609060101010101" pitchFamily="49" charset="-122"/>
                <a:ea typeface="黑体" panose="02010609060101010101" pitchFamily="49" charset="-122"/>
              </a:rPr>
              <a:t>分支</a:t>
            </a:r>
            <a:endParaRPr kumimoji="1" lang="en-US" altLang="zh-CN" sz="1800">
              <a:solidFill>
                <a:srgbClr val="345BC8"/>
              </a:solidFill>
              <a:latin typeface="黑体" panose="02010609060101010101" pitchFamily="49" charset="-122"/>
              <a:ea typeface="黑体" panose="02010609060101010101" pitchFamily="49" charset="-122"/>
            </a:endParaRPr>
          </a:p>
        </p:txBody>
      </p:sp>
      <p:sp>
        <p:nvSpPr>
          <p:cNvPr id="2437224" name="Rectangle 104">
            <a:extLst>
              <a:ext uri="{FF2B5EF4-FFF2-40B4-BE49-F238E27FC236}">
                <a16:creationId xmlns:a16="http://schemas.microsoft.com/office/drawing/2014/main" id="{B73AC3E4-BAB2-4CBA-B943-59260E369ED3}"/>
              </a:ext>
            </a:extLst>
          </p:cNvPr>
          <p:cNvSpPr>
            <a:spLocks noChangeArrowheads="1"/>
          </p:cNvSpPr>
          <p:nvPr/>
        </p:nvSpPr>
        <p:spPr bwMode="auto">
          <a:xfrm>
            <a:off x="8839200" y="6019800"/>
            <a:ext cx="1447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buClr>
                <a:schemeClr val="accent1"/>
              </a:buClr>
              <a:buSzPct val="90000"/>
              <a:buFont typeface="Monotype Sorts" pitchFamily="2" charset="2"/>
              <a:buNone/>
            </a:pPr>
            <a:r>
              <a:rPr kumimoji="1" lang="zh-CN" altLang="en-US" sz="1600" b="1">
                <a:solidFill>
                  <a:schemeClr val="accent2"/>
                </a:solidFill>
                <a:latin typeface="Times New Roman" panose="02020603050405020304" pitchFamily="18" charset="0"/>
                <a:ea typeface="文鼎细圆" pitchFamily="49" charset="-122"/>
              </a:rPr>
              <a:t>⑧ </a:t>
            </a:r>
            <a:r>
              <a:rPr kumimoji="1" lang="zh-CN" altLang="en-US" sz="1600" b="1">
                <a:solidFill>
                  <a:srgbClr val="345BC8"/>
                </a:solidFill>
                <a:latin typeface="Times New Roman" panose="02020603050405020304" pitchFamily="18" charset="0"/>
                <a:ea typeface="文鼎细圆" pitchFamily="49" charset="-122"/>
              </a:rPr>
              <a:t> </a:t>
            </a:r>
            <a:r>
              <a:rPr kumimoji="1" lang="zh-CN" altLang="en-US" sz="1800">
                <a:solidFill>
                  <a:srgbClr val="345BC8"/>
                </a:solidFill>
                <a:latin typeface="黑体" panose="02010609060101010101" pitchFamily="49" charset="-122"/>
                <a:ea typeface="黑体" panose="02010609060101010101" pitchFamily="49" charset="-122"/>
              </a:rPr>
              <a:t>取</a:t>
            </a:r>
            <a:r>
              <a:rPr kumimoji="1" lang="zh-CN" altLang="en-US" sz="1800">
                <a:solidFill>
                  <a:schemeClr val="accent2"/>
                </a:solidFill>
                <a:latin typeface="黑体" panose="02010609060101010101" pitchFamily="49" charset="-122"/>
                <a:ea typeface="黑体" panose="02010609060101010101" pitchFamily="49" charset="-122"/>
              </a:rPr>
              <a:t>假</a:t>
            </a:r>
            <a:r>
              <a:rPr kumimoji="1" lang="zh-CN" altLang="en-US" sz="1800">
                <a:solidFill>
                  <a:srgbClr val="345BC8"/>
                </a:solidFill>
                <a:latin typeface="黑体" panose="02010609060101010101" pitchFamily="49" charset="-122"/>
                <a:ea typeface="黑体" panose="02010609060101010101" pitchFamily="49" charset="-122"/>
              </a:rPr>
              <a:t>分支</a:t>
            </a:r>
            <a:endParaRPr kumimoji="1" lang="en-US" altLang="zh-CN" sz="1800">
              <a:solidFill>
                <a:srgbClr val="345BC8"/>
              </a:solidFill>
              <a:latin typeface="黑体" panose="02010609060101010101" pitchFamily="49" charset="-122"/>
              <a:ea typeface="黑体" panose="02010609060101010101" pitchFamily="49" charset="-122"/>
            </a:endParaRPr>
          </a:p>
        </p:txBody>
      </p:sp>
      <p:grpSp>
        <p:nvGrpSpPr>
          <p:cNvPr id="6" name="Group 105">
            <a:extLst>
              <a:ext uri="{FF2B5EF4-FFF2-40B4-BE49-F238E27FC236}">
                <a16:creationId xmlns:a16="http://schemas.microsoft.com/office/drawing/2014/main" id="{207CF117-5976-4919-A882-827E6E7FA8ED}"/>
              </a:ext>
            </a:extLst>
          </p:cNvPr>
          <p:cNvGrpSpPr>
            <a:grpSpLocks/>
          </p:cNvGrpSpPr>
          <p:nvPr/>
        </p:nvGrpSpPr>
        <p:grpSpPr bwMode="auto">
          <a:xfrm>
            <a:off x="7924800" y="6096000"/>
            <a:ext cx="838200" cy="304800"/>
            <a:chOff x="2112" y="3312"/>
            <a:chExt cx="528" cy="192"/>
          </a:xfrm>
        </p:grpSpPr>
        <p:sp>
          <p:nvSpPr>
            <p:cNvPr id="54350" name="Line 106">
              <a:extLst>
                <a:ext uri="{FF2B5EF4-FFF2-40B4-BE49-F238E27FC236}">
                  <a16:creationId xmlns:a16="http://schemas.microsoft.com/office/drawing/2014/main" id="{A456FDA6-17A1-4FCD-A3E5-1228ADAEEC0C}"/>
                </a:ext>
              </a:extLst>
            </p:cNvPr>
            <p:cNvSpPr>
              <a:spLocks noChangeShapeType="1"/>
            </p:cNvSpPr>
            <p:nvPr/>
          </p:nvSpPr>
          <p:spPr bwMode="auto">
            <a:xfrm>
              <a:off x="2400" y="3312"/>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37227" name="Rectangle 107">
              <a:extLst>
                <a:ext uri="{FF2B5EF4-FFF2-40B4-BE49-F238E27FC236}">
                  <a16:creationId xmlns:a16="http://schemas.microsoft.com/office/drawing/2014/main" id="{02BA4152-42D0-4515-97C3-01F5101526F7}"/>
                </a:ext>
              </a:extLst>
            </p:cNvPr>
            <p:cNvSpPr>
              <a:spLocks noChangeArrowheads="1"/>
            </p:cNvSpPr>
            <p:nvPr/>
          </p:nvSpPr>
          <p:spPr bwMode="auto">
            <a:xfrm>
              <a:off x="2112" y="3312"/>
              <a:ext cx="528" cy="192"/>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b="1">
                  <a:solidFill>
                    <a:srgbClr val="EF8D2B"/>
                  </a:solidFill>
                  <a:effectLst>
                    <a:outerShdw blurRad="38100" dist="38100" dir="2700000" algn="tl">
                      <a:srgbClr val="000000"/>
                    </a:outerShdw>
                  </a:effectLst>
                  <a:latin typeface="Arial" charset="0"/>
                  <a:ea typeface="文鼎细圆" pitchFamily="49" charset="-122"/>
                </a:rPr>
                <a:t>T3 T4</a:t>
              </a:r>
            </a:p>
          </p:txBody>
        </p:sp>
        <p:sp>
          <p:nvSpPr>
            <p:cNvPr id="54352" name="Line 108">
              <a:extLst>
                <a:ext uri="{FF2B5EF4-FFF2-40B4-BE49-F238E27FC236}">
                  <a16:creationId xmlns:a16="http://schemas.microsoft.com/office/drawing/2014/main" id="{48BEFBB9-5C4C-4F56-9DF6-7B0583770E70}"/>
                </a:ext>
              </a:extLst>
            </p:cNvPr>
            <p:cNvSpPr>
              <a:spLocks noChangeShapeType="1"/>
            </p:cNvSpPr>
            <p:nvPr/>
          </p:nvSpPr>
          <p:spPr bwMode="auto">
            <a:xfrm>
              <a:off x="2160" y="3312"/>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346" name="Line 153">
            <a:extLst>
              <a:ext uri="{FF2B5EF4-FFF2-40B4-BE49-F238E27FC236}">
                <a16:creationId xmlns:a16="http://schemas.microsoft.com/office/drawing/2014/main" id="{B6E83E45-E7CF-4B8B-A7FB-1882393C4149}"/>
              </a:ext>
            </a:extLst>
          </p:cNvPr>
          <p:cNvSpPr>
            <a:spLocks noChangeShapeType="1"/>
          </p:cNvSpPr>
          <p:nvPr/>
        </p:nvSpPr>
        <p:spPr bwMode="auto">
          <a:xfrm>
            <a:off x="9677400" y="24384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47" name="Line 154">
            <a:extLst>
              <a:ext uri="{FF2B5EF4-FFF2-40B4-BE49-F238E27FC236}">
                <a16:creationId xmlns:a16="http://schemas.microsoft.com/office/drawing/2014/main" id="{22C92E6C-3812-4FFA-BEA0-7768C85EF39E}"/>
              </a:ext>
            </a:extLst>
          </p:cNvPr>
          <p:cNvSpPr>
            <a:spLocks noChangeShapeType="1"/>
          </p:cNvSpPr>
          <p:nvPr/>
        </p:nvSpPr>
        <p:spPr bwMode="auto">
          <a:xfrm>
            <a:off x="9677400" y="20574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48" name="Line 155">
            <a:extLst>
              <a:ext uri="{FF2B5EF4-FFF2-40B4-BE49-F238E27FC236}">
                <a16:creationId xmlns:a16="http://schemas.microsoft.com/office/drawing/2014/main" id="{C2DBFE1F-DA3B-4E91-B955-E627EDA0B053}"/>
              </a:ext>
            </a:extLst>
          </p:cNvPr>
          <p:cNvSpPr>
            <a:spLocks noChangeShapeType="1"/>
          </p:cNvSpPr>
          <p:nvPr/>
        </p:nvSpPr>
        <p:spPr bwMode="auto">
          <a:xfrm>
            <a:off x="9677400" y="17526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49" name="Line 156">
            <a:extLst>
              <a:ext uri="{FF2B5EF4-FFF2-40B4-BE49-F238E27FC236}">
                <a16:creationId xmlns:a16="http://schemas.microsoft.com/office/drawing/2014/main" id="{2761B914-68C3-4A56-8ADF-ADABA120D1C3}"/>
              </a:ext>
            </a:extLst>
          </p:cNvPr>
          <p:cNvSpPr>
            <a:spLocks noChangeShapeType="1"/>
          </p:cNvSpPr>
          <p:nvPr/>
        </p:nvSpPr>
        <p:spPr bwMode="auto">
          <a:xfrm>
            <a:off x="9677400" y="13716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437179"/>
                                        </p:tgtEl>
                                        <p:attrNameLst>
                                          <p:attrName>style.visibility</p:attrName>
                                        </p:attrNameLst>
                                      </p:cBhvr>
                                      <p:to>
                                        <p:strVal val="visible"/>
                                      </p:to>
                                    </p:set>
                                    <p:animEffect transition="in" filter="blinds(vertical)">
                                      <p:cBhvr>
                                        <p:cTn id="7" dur="500"/>
                                        <p:tgtEl>
                                          <p:spTgt spid="24371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2437214"/>
                                        </p:tgtEl>
                                        <p:attrNameLst>
                                          <p:attrName>style.visibility</p:attrName>
                                        </p:attrNameLst>
                                      </p:cBhvr>
                                      <p:to>
                                        <p:strVal val="visible"/>
                                      </p:to>
                                    </p:set>
                                    <p:animEffect transition="in" filter="blinds(vertical)">
                                      <p:cBhvr>
                                        <p:cTn id="12" dur="500"/>
                                        <p:tgtEl>
                                          <p:spTgt spid="24372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2437215"/>
                                        </p:tgtEl>
                                        <p:attrNameLst>
                                          <p:attrName>style.visibility</p:attrName>
                                        </p:attrNameLst>
                                      </p:cBhvr>
                                      <p:to>
                                        <p:strVal val="visible"/>
                                      </p:to>
                                    </p:set>
                                    <p:animEffect transition="in" filter="blinds(vertical)">
                                      <p:cBhvr>
                                        <p:cTn id="17" dur="500"/>
                                        <p:tgtEl>
                                          <p:spTgt spid="24372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2437180"/>
                                        </p:tgtEl>
                                        <p:attrNameLst>
                                          <p:attrName>style.visibility</p:attrName>
                                        </p:attrNameLst>
                                      </p:cBhvr>
                                      <p:to>
                                        <p:strVal val="visible"/>
                                      </p:to>
                                    </p:set>
                                    <p:animEffect transition="in" filter="blinds(vertical)">
                                      <p:cBhvr>
                                        <p:cTn id="22" dur="500"/>
                                        <p:tgtEl>
                                          <p:spTgt spid="243718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5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5" fill="hold" grpId="0" nodeType="clickEffect">
                                  <p:stCondLst>
                                    <p:cond delay="0"/>
                                  </p:stCondLst>
                                  <p:childTnLst>
                                    <p:set>
                                      <p:cBhvr>
                                        <p:cTn id="31" dur="1" fill="hold">
                                          <p:stCondLst>
                                            <p:cond delay="0"/>
                                          </p:stCondLst>
                                        </p:cTn>
                                        <p:tgtEl>
                                          <p:spTgt spid="2437222"/>
                                        </p:tgtEl>
                                        <p:attrNameLst>
                                          <p:attrName>style.visibility</p:attrName>
                                        </p:attrNameLst>
                                      </p:cBhvr>
                                      <p:to>
                                        <p:strVal val="visible"/>
                                      </p:to>
                                    </p:set>
                                    <p:animEffect transition="in" filter="blinds(vertical)">
                                      <p:cBhvr>
                                        <p:cTn id="32" dur="500"/>
                                        <p:tgtEl>
                                          <p:spTgt spid="243722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5" fill="hold" grpId="0" nodeType="clickEffect">
                                  <p:stCondLst>
                                    <p:cond delay="0"/>
                                  </p:stCondLst>
                                  <p:childTnLst>
                                    <p:set>
                                      <p:cBhvr>
                                        <p:cTn id="36" dur="1" fill="hold">
                                          <p:stCondLst>
                                            <p:cond delay="0"/>
                                          </p:stCondLst>
                                        </p:cTn>
                                        <p:tgtEl>
                                          <p:spTgt spid="2437181"/>
                                        </p:tgtEl>
                                        <p:attrNameLst>
                                          <p:attrName>style.visibility</p:attrName>
                                        </p:attrNameLst>
                                      </p:cBhvr>
                                      <p:to>
                                        <p:strVal val="visible"/>
                                      </p:to>
                                    </p:set>
                                    <p:animEffect transition="in" filter="blinds(vertical)">
                                      <p:cBhvr>
                                        <p:cTn id="37" dur="500"/>
                                        <p:tgtEl>
                                          <p:spTgt spid="243718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linds(horizontal)">
                                      <p:cBhvr>
                                        <p:cTn id="42" dur="500"/>
                                        <p:tgtEl>
                                          <p:spTgt spid="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5" fill="hold" grpId="0" nodeType="clickEffect">
                                  <p:stCondLst>
                                    <p:cond delay="0"/>
                                  </p:stCondLst>
                                  <p:childTnLst>
                                    <p:set>
                                      <p:cBhvr>
                                        <p:cTn id="46" dur="1" fill="hold">
                                          <p:stCondLst>
                                            <p:cond delay="0"/>
                                          </p:stCondLst>
                                        </p:cTn>
                                        <p:tgtEl>
                                          <p:spTgt spid="2437223"/>
                                        </p:tgtEl>
                                        <p:attrNameLst>
                                          <p:attrName>style.visibility</p:attrName>
                                        </p:attrNameLst>
                                      </p:cBhvr>
                                      <p:to>
                                        <p:strVal val="visible"/>
                                      </p:to>
                                    </p:set>
                                    <p:animEffect transition="in" filter="blinds(vertical)">
                                      <p:cBhvr>
                                        <p:cTn id="47" dur="500"/>
                                        <p:tgtEl>
                                          <p:spTgt spid="243722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5" fill="hold" grpId="0" nodeType="clickEffect">
                                  <p:stCondLst>
                                    <p:cond delay="0"/>
                                  </p:stCondLst>
                                  <p:childTnLst>
                                    <p:set>
                                      <p:cBhvr>
                                        <p:cTn id="51" dur="1" fill="hold">
                                          <p:stCondLst>
                                            <p:cond delay="0"/>
                                          </p:stCondLst>
                                        </p:cTn>
                                        <p:tgtEl>
                                          <p:spTgt spid="2437182"/>
                                        </p:tgtEl>
                                        <p:attrNameLst>
                                          <p:attrName>style.visibility</p:attrName>
                                        </p:attrNameLst>
                                      </p:cBhvr>
                                      <p:to>
                                        <p:strVal val="visible"/>
                                      </p:to>
                                    </p:set>
                                    <p:animEffect transition="in" filter="blinds(vertical)">
                                      <p:cBhvr>
                                        <p:cTn id="52" dur="500"/>
                                        <p:tgtEl>
                                          <p:spTgt spid="243718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blinds(horizontal)">
                                      <p:cBhvr>
                                        <p:cTn id="57" dur="500"/>
                                        <p:tgtEl>
                                          <p:spTgt spid="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5" fill="hold" grpId="0" nodeType="clickEffect">
                                  <p:stCondLst>
                                    <p:cond delay="0"/>
                                  </p:stCondLst>
                                  <p:childTnLst>
                                    <p:set>
                                      <p:cBhvr>
                                        <p:cTn id="61" dur="1" fill="hold">
                                          <p:stCondLst>
                                            <p:cond delay="0"/>
                                          </p:stCondLst>
                                        </p:cTn>
                                        <p:tgtEl>
                                          <p:spTgt spid="2437224"/>
                                        </p:tgtEl>
                                        <p:attrNameLst>
                                          <p:attrName>style.visibility</p:attrName>
                                        </p:attrNameLst>
                                      </p:cBhvr>
                                      <p:to>
                                        <p:strVal val="visible"/>
                                      </p:to>
                                    </p:set>
                                    <p:animEffect transition="in" filter="blinds(vertical)">
                                      <p:cBhvr>
                                        <p:cTn id="62" dur="500"/>
                                        <p:tgtEl>
                                          <p:spTgt spid="2437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79" grpId="0" autoUpdateAnimBg="0"/>
      <p:bldP spid="2437180" grpId="0" autoUpdateAnimBg="0"/>
      <p:bldP spid="2437181" grpId="0" autoUpdateAnimBg="0"/>
      <p:bldP spid="2437182" grpId="0" autoUpdateAnimBg="0"/>
      <p:bldP spid="2437214" grpId="0" autoUpdateAnimBg="0"/>
      <p:bldP spid="2437215" grpId="0" autoUpdateAnimBg="0"/>
      <p:bldP spid="2437222" grpId="0" autoUpdateAnimBg="0"/>
      <p:bldP spid="2437223" grpId="0" autoUpdateAnimBg="0"/>
      <p:bldP spid="2437224" grpId="0" autoUpdateAnimBg="0"/>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日期占位符 1">
            <a:extLst>
              <a:ext uri="{FF2B5EF4-FFF2-40B4-BE49-F238E27FC236}">
                <a16:creationId xmlns:a16="http://schemas.microsoft.com/office/drawing/2014/main" id="{D21479D7-6992-4DB4-96D1-3ADD2E249E1D}"/>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849CF4D2-CB67-4E1E-8BBE-3A1582F491C8}"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56323" name="Rectangle 2">
            <a:extLst>
              <a:ext uri="{FF2B5EF4-FFF2-40B4-BE49-F238E27FC236}">
                <a16:creationId xmlns:a16="http://schemas.microsoft.com/office/drawing/2014/main" id="{F115F0B0-49BE-4355-8219-AA8FC61DD2AC}"/>
              </a:ext>
            </a:extLst>
          </p:cNvPr>
          <p:cNvSpPr>
            <a:spLocks noChangeArrowheads="1"/>
          </p:cNvSpPr>
          <p:nvPr/>
        </p:nvSpPr>
        <p:spPr bwMode="auto">
          <a:xfrm>
            <a:off x="3048000" y="838200"/>
            <a:ext cx="7162800" cy="12192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endParaRPr lang="zh-CN" altLang="en-US" sz="2800">
              <a:solidFill>
                <a:schemeClr val="tx1"/>
              </a:solidFill>
              <a:latin typeface="Times New Roman" panose="02020603050405020304" pitchFamily="18" charset="0"/>
              <a:ea typeface="楷体_GB2312" pitchFamily="49" charset="-122"/>
            </a:endParaRPr>
          </a:p>
        </p:txBody>
      </p:sp>
      <p:grpSp>
        <p:nvGrpSpPr>
          <p:cNvPr id="56324" name="Group 285">
            <a:extLst>
              <a:ext uri="{FF2B5EF4-FFF2-40B4-BE49-F238E27FC236}">
                <a16:creationId xmlns:a16="http://schemas.microsoft.com/office/drawing/2014/main" id="{7A042A03-48D1-4474-BE80-D139AFC8FD61}"/>
              </a:ext>
            </a:extLst>
          </p:cNvPr>
          <p:cNvGrpSpPr>
            <a:grpSpLocks/>
          </p:cNvGrpSpPr>
          <p:nvPr/>
        </p:nvGrpSpPr>
        <p:grpSpPr bwMode="auto">
          <a:xfrm>
            <a:off x="3505200" y="381000"/>
            <a:ext cx="2819400" cy="2971800"/>
            <a:chOff x="1248" y="240"/>
            <a:chExt cx="1776" cy="1872"/>
          </a:xfrm>
        </p:grpSpPr>
        <p:sp>
          <p:nvSpPr>
            <p:cNvPr id="2439198" name="Text Box 30">
              <a:extLst>
                <a:ext uri="{FF2B5EF4-FFF2-40B4-BE49-F238E27FC236}">
                  <a16:creationId xmlns:a16="http://schemas.microsoft.com/office/drawing/2014/main" id="{01FE8451-AD21-4B0E-87DD-0D5A05B5D532}"/>
                </a:ext>
              </a:extLst>
            </p:cNvPr>
            <p:cNvSpPr txBox="1">
              <a:spLocks noChangeArrowheads="1"/>
            </p:cNvSpPr>
            <p:nvPr/>
          </p:nvSpPr>
          <p:spPr bwMode="auto">
            <a:xfrm>
              <a:off x="1248" y="816"/>
              <a:ext cx="187" cy="212"/>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1600" b="1">
                  <a:solidFill>
                    <a:srgbClr val="EF8D2B"/>
                  </a:solidFill>
                  <a:effectLst>
                    <a:outerShdw blurRad="38100" dist="38100" dir="2700000" algn="tl">
                      <a:srgbClr val="000000"/>
                    </a:outerShdw>
                  </a:effectLst>
                  <a:ea typeface="文鼎细圆" pitchFamily="49" charset="-122"/>
                </a:rPr>
                <a:t>b</a:t>
              </a:r>
            </a:p>
          </p:txBody>
        </p:sp>
        <p:sp>
          <p:nvSpPr>
            <p:cNvPr id="2439199" name="Text Box 31">
              <a:extLst>
                <a:ext uri="{FF2B5EF4-FFF2-40B4-BE49-F238E27FC236}">
                  <a16:creationId xmlns:a16="http://schemas.microsoft.com/office/drawing/2014/main" id="{2B551238-D87C-4CA5-85E1-B57C416C36F8}"/>
                </a:ext>
              </a:extLst>
            </p:cNvPr>
            <p:cNvSpPr txBox="1">
              <a:spLocks noChangeArrowheads="1"/>
            </p:cNvSpPr>
            <p:nvPr/>
          </p:nvSpPr>
          <p:spPr bwMode="auto">
            <a:xfrm>
              <a:off x="1248" y="1680"/>
              <a:ext cx="187" cy="212"/>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1600" b="1">
                  <a:solidFill>
                    <a:srgbClr val="EF8D2B"/>
                  </a:solidFill>
                  <a:effectLst>
                    <a:outerShdw blurRad="38100" dist="38100" dir="2700000" algn="tl">
                      <a:srgbClr val="000000"/>
                    </a:outerShdw>
                  </a:effectLst>
                  <a:ea typeface="文鼎细圆" pitchFamily="49" charset="-122"/>
                </a:rPr>
                <a:t>d</a:t>
              </a:r>
            </a:p>
          </p:txBody>
        </p:sp>
        <p:sp>
          <p:nvSpPr>
            <p:cNvPr id="2439200" name="Text Box 32">
              <a:extLst>
                <a:ext uri="{FF2B5EF4-FFF2-40B4-BE49-F238E27FC236}">
                  <a16:creationId xmlns:a16="http://schemas.microsoft.com/office/drawing/2014/main" id="{F6BBFBF3-2D1C-4929-BD76-466F936209EC}"/>
                </a:ext>
              </a:extLst>
            </p:cNvPr>
            <p:cNvSpPr txBox="1">
              <a:spLocks noChangeArrowheads="1"/>
            </p:cNvSpPr>
            <p:nvPr/>
          </p:nvSpPr>
          <p:spPr bwMode="auto">
            <a:xfrm>
              <a:off x="1920" y="240"/>
              <a:ext cx="288" cy="212"/>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1600" b="1">
                  <a:solidFill>
                    <a:srgbClr val="EF8D2B"/>
                  </a:solidFill>
                  <a:effectLst>
                    <a:outerShdw blurRad="38100" dist="38100" dir="2700000" algn="tl">
                      <a:srgbClr val="000000"/>
                    </a:outerShdw>
                  </a:effectLst>
                  <a:ea typeface="文鼎细圆" pitchFamily="49" charset="-122"/>
                </a:rPr>
                <a:t>a</a:t>
              </a:r>
            </a:p>
          </p:txBody>
        </p:sp>
        <p:sp>
          <p:nvSpPr>
            <p:cNvPr id="2439201" name="Text Box 33">
              <a:extLst>
                <a:ext uri="{FF2B5EF4-FFF2-40B4-BE49-F238E27FC236}">
                  <a16:creationId xmlns:a16="http://schemas.microsoft.com/office/drawing/2014/main" id="{31D9E670-B089-46C4-BFF5-619AFE49E4CB}"/>
                </a:ext>
              </a:extLst>
            </p:cNvPr>
            <p:cNvSpPr txBox="1">
              <a:spLocks noChangeArrowheads="1"/>
            </p:cNvSpPr>
            <p:nvPr/>
          </p:nvSpPr>
          <p:spPr bwMode="auto">
            <a:xfrm>
              <a:off x="2736" y="672"/>
              <a:ext cx="223" cy="212"/>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1600" b="1">
                  <a:solidFill>
                    <a:srgbClr val="EF8D2B"/>
                  </a:solidFill>
                  <a:effectLst>
                    <a:outerShdw blurRad="38100" dist="38100" dir="2700000" algn="tl">
                      <a:srgbClr val="000000"/>
                    </a:outerShdw>
                  </a:effectLst>
                  <a:ea typeface="文鼎细圆" pitchFamily="49" charset="-122"/>
                </a:rPr>
                <a:t>c</a:t>
              </a:r>
            </a:p>
          </p:txBody>
        </p:sp>
        <p:sp>
          <p:nvSpPr>
            <p:cNvPr id="2439202" name="Text Box 34">
              <a:extLst>
                <a:ext uri="{FF2B5EF4-FFF2-40B4-BE49-F238E27FC236}">
                  <a16:creationId xmlns:a16="http://schemas.microsoft.com/office/drawing/2014/main" id="{4BB62520-2267-46DA-A699-4B3E479B801D}"/>
                </a:ext>
              </a:extLst>
            </p:cNvPr>
            <p:cNvSpPr txBox="1">
              <a:spLocks noChangeArrowheads="1"/>
            </p:cNvSpPr>
            <p:nvPr/>
          </p:nvSpPr>
          <p:spPr bwMode="auto">
            <a:xfrm>
              <a:off x="2784" y="1440"/>
              <a:ext cx="173" cy="212"/>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1600" b="1">
                  <a:solidFill>
                    <a:srgbClr val="EF8D2B"/>
                  </a:solidFill>
                  <a:effectLst>
                    <a:outerShdw blurRad="38100" dist="38100" dir="2700000" algn="tl">
                      <a:srgbClr val="000000"/>
                    </a:outerShdw>
                  </a:effectLst>
                  <a:ea typeface="文鼎细圆" pitchFamily="49" charset="-122"/>
                </a:rPr>
                <a:t>e</a:t>
              </a:r>
            </a:p>
          </p:txBody>
        </p:sp>
        <p:sp>
          <p:nvSpPr>
            <p:cNvPr id="2439204" name="AutoShape 36">
              <a:extLst>
                <a:ext uri="{FF2B5EF4-FFF2-40B4-BE49-F238E27FC236}">
                  <a16:creationId xmlns:a16="http://schemas.microsoft.com/office/drawing/2014/main" id="{F5F4A2C0-96F5-4E71-AE78-C8883CA83E7B}"/>
                </a:ext>
              </a:extLst>
            </p:cNvPr>
            <p:cNvSpPr>
              <a:spLocks noChangeArrowheads="1"/>
            </p:cNvSpPr>
            <p:nvPr/>
          </p:nvSpPr>
          <p:spPr bwMode="auto">
            <a:xfrm>
              <a:off x="1536" y="576"/>
              <a:ext cx="1056" cy="288"/>
            </a:xfrm>
            <a:prstGeom prst="flowChartDecision">
              <a:avLst/>
            </a:prstGeom>
            <a:solidFill>
              <a:schemeClr val="bg1"/>
            </a:solidFill>
            <a:ln w="9525">
              <a:solidFill>
                <a:srgbClr val="1AA1A4"/>
              </a:solidFill>
              <a:miter lim="800000"/>
              <a:headEnd/>
              <a:tailEnd/>
            </a:ln>
            <a:effectLst/>
          </p:spPr>
          <p:txBody>
            <a:bodyPr wrap="none" anchor="ctr"/>
            <a:lstStyle/>
            <a:p>
              <a:pPr algn="ctr">
                <a:defRPr/>
              </a:pPr>
              <a:r>
                <a:rPr lang="en-US" altLang="zh-CN" sz="1200" b="1">
                  <a:solidFill>
                    <a:srgbClr val="F535F0"/>
                  </a:solidFill>
                  <a:effectLst>
                    <a:outerShdw blurRad="38100" dist="38100" dir="2700000" algn="tl">
                      <a:srgbClr val="000000"/>
                    </a:outerShdw>
                  </a:effectLst>
                  <a:latin typeface="Arial" charset="0"/>
                  <a:ea typeface="文鼎细圆" pitchFamily="49" charset="-122"/>
                </a:rPr>
                <a:t>(A&gt;1) ^ (B=0)</a:t>
              </a:r>
            </a:p>
          </p:txBody>
        </p:sp>
        <p:sp>
          <p:nvSpPr>
            <p:cNvPr id="56421" name="Line 37">
              <a:extLst>
                <a:ext uri="{FF2B5EF4-FFF2-40B4-BE49-F238E27FC236}">
                  <a16:creationId xmlns:a16="http://schemas.microsoft.com/office/drawing/2014/main" id="{6A914009-4EB8-47D6-9C5C-ECD5ECFB747A}"/>
                </a:ext>
              </a:extLst>
            </p:cNvPr>
            <p:cNvSpPr>
              <a:spLocks noChangeShapeType="1"/>
            </p:cNvSpPr>
            <p:nvPr/>
          </p:nvSpPr>
          <p:spPr bwMode="auto">
            <a:xfrm>
              <a:off x="1440" y="720"/>
              <a:ext cx="96"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22" name="Line 38">
              <a:extLst>
                <a:ext uri="{FF2B5EF4-FFF2-40B4-BE49-F238E27FC236}">
                  <a16:creationId xmlns:a16="http://schemas.microsoft.com/office/drawing/2014/main" id="{DBED8F6C-E95E-4F35-A47F-5ED387018596}"/>
                </a:ext>
              </a:extLst>
            </p:cNvPr>
            <p:cNvSpPr>
              <a:spLocks noChangeShapeType="1"/>
            </p:cNvSpPr>
            <p:nvPr/>
          </p:nvSpPr>
          <p:spPr bwMode="auto">
            <a:xfrm>
              <a:off x="2736" y="720"/>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39207" name="Rectangle 39">
              <a:extLst>
                <a:ext uri="{FF2B5EF4-FFF2-40B4-BE49-F238E27FC236}">
                  <a16:creationId xmlns:a16="http://schemas.microsoft.com/office/drawing/2014/main" id="{707D54CF-D95E-4F50-B8C9-C477729106C1}"/>
                </a:ext>
              </a:extLst>
            </p:cNvPr>
            <p:cNvSpPr>
              <a:spLocks noChangeArrowheads="1"/>
            </p:cNvSpPr>
            <p:nvPr/>
          </p:nvSpPr>
          <p:spPr bwMode="auto">
            <a:xfrm>
              <a:off x="2448" y="864"/>
              <a:ext cx="480" cy="240"/>
            </a:xfrm>
            <a:prstGeom prst="rect">
              <a:avLst/>
            </a:prstGeom>
            <a:solidFill>
              <a:schemeClr val="bg1"/>
            </a:solidFill>
            <a:ln w="9525">
              <a:solidFill>
                <a:srgbClr val="1AA1A4"/>
              </a:solidFill>
              <a:miter lim="800000"/>
              <a:headEnd/>
              <a:tailEnd/>
            </a:ln>
            <a:effectLst/>
          </p:spPr>
          <p:txBody>
            <a:bodyPr wrap="none" anchor="ctr"/>
            <a:lstStyle/>
            <a:p>
              <a:pPr algn="ctr">
                <a:defRPr/>
              </a:pPr>
              <a:r>
                <a:rPr lang="en-US" altLang="zh-CN" sz="1200" b="1">
                  <a:solidFill>
                    <a:srgbClr val="F535F0"/>
                  </a:solidFill>
                  <a:effectLst>
                    <a:outerShdw blurRad="38100" dist="38100" dir="2700000" algn="tl">
                      <a:srgbClr val="000000"/>
                    </a:outerShdw>
                  </a:effectLst>
                  <a:latin typeface="Arial" charset="0"/>
                  <a:ea typeface="文鼎细圆" pitchFamily="49" charset="-122"/>
                </a:rPr>
                <a:t>X=X/A</a:t>
              </a:r>
            </a:p>
          </p:txBody>
        </p:sp>
        <p:sp>
          <p:nvSpPr>
            <p:cNvPr id="56424" name="Line 40">
              <a:extLst>
                <a:ext uri="{FF2B5EF4-FFF2-40B4-BE49-F238E27FC236}">
                  <a16:creationId xmlns:a16="http://schemas.microsoft.com/office/drawing/2014/main" id="{C0AED117-7089-4D8E-8DC9-D59D868754C4}"/>
                </a:ext>
              </a:extLst>
            </p:cNvPr>
            <p:cNvSpPr>
              <a:spLocks noChangeShapeType="1"/>
            </p:cNvSpPr>
            <p:nvPr/>
          </p:nvSpPr>
          <p:spPr bwMode="auto">
            <a:xfrm>
              <a:off x="1440" y="720"/>
              <a:ext cx="0" cy="528"/>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25" name="Line 41">
              <a:extLst>
                <a:ext uri="{FF2B5EF4-FFF2-40B4-BE49-F238E27FC236}">
                  <a16:creationId xmlns:a16="http://schemas.microsoft.com/office/drawing/2014/main" id="{B76C7B68-5969-46E9-A497-9C0DC4E0DF45}"/>
                </a:ext>
              </a:extLst>
            </p:cNvPr>
            <p:cNvSpPr>
              <a:spLocks noChangeShapeType="1"/>
            </p:cNvSpPr>
            <p:nvPr/>
          </p:nvSpPr>
          <p:spPr bwMode="auto">
            <a:xfrm>
              <a:off x="1440" y="1248"/>
              <a:ext cx="1296"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26" name="Line 42">
              <a:extLst>
                <a:ext uri="{FF2B5EF4-FFF2-40B4-BE49-F238E27FC236}">
                  <a16:creationId xmlns:a16="http://schemas.microsoft.com/office/drawing/2014/main" id="{45463A57-0E5B-4A8F-9DE8-6519FD1F436F}"/>
                </a:ext>
              </a:extLst>
            </p:cNvPr>
            <p:cNvSpPr>
              <a:spLocks noChangeShapeType="1"/>
            </p:cNvSpPr>
            <p:nvPr/>
          </p:nvSpPr>
          <p:spPr bwMode="auto">
            <a:xfrm>
              <a:off x="2064" y="1248"/>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427" name="Line 43">
              <a:extLst>
                <a:ext uri="{FF2B5EF4-FFF2-40B4-BE49-F238E27FC236}">
                  <a16:creationId xmlns:a16="http://schemas.microsoft.com/office/drawing/2014/main" id="{C11AC7DE-9EC2-450C-8A38-C48F3EE1ABDD}"/>
                </a:ext>
              </a:extLst>
            </p:cNvPr>
            <p:cNvSpPr>
              <a:spLocks noChangeShapeType="1"/>
            </p:cNvSpPr>
            <p:nvPr/>
          </p:nvSpPr>
          <p:spPr bwMode="auto">
            <a:xfrm>
              <a:off x="2064" y="432"/>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39212" name="Text Box 44">
              <a:extLst>
                <a:ext uri="{FF2B5EF4-FFF2-40B4-BE49-F238E27FC236}">
                  <a16:creationId xmlns:a16="http://schemas.microsoft.com/office/drawing/2014/main" id="{72C8CCE4-30F5-459D-8E30-BF03CF36C5C6}"/>
                </a:ext>
              </a:extLst>
            </p:cNvPr>
            <p:cNvSpPr txBox="1">
              <a:spLocks noChangeArrowheads="1"/>
            </p:cNvSpPr>
            <p:nvPr/>
          </p:nvSpPr>
          <p:spPr bwMode="auto">
            <a:xfrm>
              <a:off x="2640" y="528"/>
              <a:ext cx="180" cy="173"/>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1200" b="1">
                  <a:solidFill>
                    <a:schemeClr val="accent2"/>
                  </a:solidFill>
                  <a:effectLst>
                    <a:outerShdw blurRad="38100" dist="38100" dir="2700000" algn="tl">
                      <a:srgbClr val="000000"/>
                    </a:outerShdw>
                  </a:effectLst>
                  <a:ea typeface="文鼎细圆" pitchFamily="49" charset="-122"/>
                </a:rPr>
                <a:t>T</a:t>
              </a:r>
            </a:p>
          </p:txBody>
        </p:sp>
        <p:sp>
          <p:nvSpPr>
            <p:cNvPr id="2439213" name="Text Box 45">
              <a:extLst>
                <a:ext uri="{FF2B5EF4-FFF2-40B4-BE49-F238E27FC236}">
                  <a16:creationId xmlns:a16="http://schemas.microsoft.com/office/drawing/2014/main" id="{E290D8FE-297B-4C3C-B6C0-131BCA917E7E}"/>
                </a:ext>
              </a:extLst>
            </p:cNvPr>
            <p:cNvSpPr txBox="1">
              <a:spLocks noChangeArrowheads="1"/>
            </p:cNvSpPr>
            <p:nvPr/>
          </p:nvSpPr>
          <p:spPr bwMode="auto">
            <a:xfrm>
              <a:off x="1392" y="528"/>
              <a:ext cx="175" cy="173"/>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1200" b="1">
                  <a:solidFill>
                    <a:schemeClr val="accent2"/>
                  </a:solidFill>
                  <a:effectLst>
                    <a:outerShdw blurRad="38100" dist="38100" dir="2700000" algn="tl">
                      <a:srgbClr val="000000"/>
                    </a:outerShdw>
                  </a:effectLst>
                  <a:ea typeface="文鼎细圆" pitchFamily="49" charset="-122"/>
                </a:rPr>
                <a:t>F</a:t>
              </a:r>
            </a:p>
          </p:txBody>
        </p:sp>
        <p:sp>
          <p:nvSpPr>
            <p:cNvPr id="56430" name="Line 46">
              <a:extLst>
                <a:ext uri="{FF2B5EF4-FFF2-40B4-BE49-F238E27FC236}">
                  <a16:creationId xmlns:a16="http://schemas.microsoft.com/office/drawing/2014/main" id="{474FBB3E-127C-4A44-B34B-186273747C13}"/>
                </a:ext>
              </a:extLst>
            </p:cNvPr>
            <p:cNvSpPr>
              <a:spLocks noChangeShapeType="1"/>
            </p:cNvSpPr>
            <p:nvPr/>
          </p:nvSpPr>
          <p:spPr bwMode="auto">
            <a:xfrm>
              <a:off x="2592" y="720"/>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31" name="Line 47">
              <a:extLst>
                <a:ext uri="{FF2B5EF4-FFF2-40B4-BE49-F238E27FC236}">
                  <a16:creationId xmlns:a16="http://schemas.microsoft.com/office/drawing/2014/main" id="{A946F880-6818-4257-A81C-ED6FD3209D58}"/>
                </a:ext>
              </a:extLst>
            </p:cNvPr>
            <p:cNvSpPr>
              <a:spLocks noChangeShapeType="1"/>
            </p:cNvSpPr>
            <p:nvPr/>
          </p:nvSpPr>
          <p:spPr bwMode="auto">
            <a:xfrm>
              <a:off x="2736" y="1104"/>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39216" name="AutoShape 48">
              <a:extLst>
                <a:ext uri="{FF2B5EF4-FFF2-40B4-BE49-F238E27FC236}">
                  <a16:creationId xmlns:a16="http://schemas.microsoft.com/office/drawing/2014/main" id="{2A3FE98D-F223-47CB-A324-4B3DAE7DBFEB}"/>
                </a:ext>
              </a:extLst>
            </p:cNvPr>
            <p:cNvSpPr>
              <a:spLocks noChangeArrowheads="1"/>
            </p:cNvSpPr>
            <p:nvPr/>
          </p:nvSpPr>
          <p:spPr bwMode="auto">
            <a:xfrm>
              <a:off x="1536" y="1392"/>
              <a:ext cx="1056" cy="288"/>
            </a:xfrm>
            <a:prstGeom prst="flowChartDecision">
              <a:avLst/>
            </a:prstGeom>
            <a:solidFill>
              <a:schemeClr val="bg1"/>
            </a:solidFill>
            <a:ln w="9525">
              <a:solidFill>
                <a:srgbClr val="1AA1A4"/>
              </a:solidFill>
              <a:miter lim="800000"/>
              <a:headEnd/>
              <a:tailEnd/>
            </a:ln>
            <a:effectLst/>
          </p:spPr>
          <p:txBody>
            <a:bodyPr wrap="none" anchor="ctr"/>
            <a:lstStyle/>
            <a:p>
              <a:pPr algn="ctr">
                <a:defRPr/>
              </a:pPr>
              <a:r>
                <a:rPr lang="en-US" altLang="zh-CN" sz="1200" b="1">
                  <a:solidFill>
                    <a:srgbClr val="F535F0"/>
                  </a:solidFill>
                  <a:effectLst>
                    <a:outerShdw blurRad="38100" dist="38100" dir="2700000" algn="tl">
                      <a:srgbClr val="000000"/>
                    </a:outerShdw>
                  </a:effectLst>
                  <a:latin typeface="Arial" charset="0"/>
                  <a:ea typeface="文鼎细圆" pitchFamily="49" charset="-122"/>
                </a:rPr>
                <a:t>(A=2) V (X&gt;1)</a:t>
              </a:r>
            </a:p>
          </p:txBody>
        </p:sp>
        <p:sp>
          <p:nvSpPr>
            <p:cNvPr id="2439217" name="Rectangle 49">
              <a:extLst>
                <a:ext uri="{FF2B5EF4-FFF2-40B4-BE49-F238E27FC236}">
                  <a16:creationId xmlns:a16="http://schemas.microsoft.com/office/drawing/2014/main" id="{49F7398E-1091-4C7D-BEA4-1C728C85BF9B}"/>
                </a:ext>
              </a:extLst>
            </p:cNvPr>
            <p:cNvSpPr>
              <a:spLocks noChangeArrowheads="1"/>
            </p:cNvSpPr>
            <p:nvPr/>
          </p:nvSpPr>
          <p:spPr bwMode="auto">
            <a:xfrm>
              <a:off x="2544" y="1680"/>
              <a:ext cx="480" cy="240"/>
            </a:xfrm>
            <a:prstGeom prst="rect">
              <a:avLst/>
            </a:prstGeom>
            <a:solidFill>
              <a:schemeClr val="bg1"/>
            </a:solidFill>
            <a:ln w="9525">
              <a:solidFill>
                <a:srgbClr val="1AA1A4"/>
              </a:solidFill>
              <a:miter lim="800000"/>
              <a:headEnd/>
              <a:tailEnd/>
            </a:ln>
            <a:effectLst/>
          </p:spPr>
          <p:txBody>
            <a:bodyPr wrap="none" anchor="ctr"/>
            <a:lstStyle/>
            <a:p>
              <a:pPr algn="ctr">
                <a:defRPr/>
              </a:pPr>
              <a:r>
                <a:rPr lang="en-US" altLang="zh-CN" sz="1200" b="1">
                  <a:solidFill>
                    <a:srgbClr val="F535F0"/>
                  </a:solidFill>
                  <a:effectLst>
                    <a:outerShdw blurRad="38100" dist="38100" dir="2700000" algn="tl">
                      <a:srgbClr val="000000"/>
                    </a:outerShdw>
                  </a:effectLst>
                  <a:latin typeface="Arial" charset="0"/>
                  <a:ea typeface="文鼎细圆" pitchFamily="49" charset="-122"/>
                </a:rPr>
                <a:t>X=X+1</a:t>
              </a:r>
            </a:p>
          </p:txBody>
        </p:sp>
        <p:sp>
          <p:nvSpPr>
            <p:cNvPr id="2439218" name="Text Box 50">
              <a:extLst>
                <a:ext uri="{FF2B5EF4-FFF2-40B4-BE49-F238E27FC236}">
                  <a16:creationId xmlns:a16="http://schemas.microsoft.com/office/drawing/2014/main" id="{6B32B8FE-0665-41B9-91D6-0AEB98119F18}"/>
                </a:ext>
              </a:extLst>
            </p:cNvPr>
            <p:cNvSpPr txBox="1">
              <a:spLocks noChangeArrowheads="1"/>
            </p:cNvSpPr>
            <p:nvPr/>
          </p:nvSpPr>
          <p:spPr bwMode="auto">
            <a:xfrm>
              <a:off x="2592" y="1344"/>
              <a:ext cx="180" cy="173"/>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1200" b="1">
                  <a:solidFill>
                    <a:schemeClr val="accent2"/>
                  </a:solidFill>
                  <a:effectLst>
                    <a:outerShdw blurRad="38100" dist="38100" dir="2700000" algn="tl">
                      <a:srgbClr val="000000"/>
                    </a:outerShdw>
                  </a:effectLst>
                  <a:ea typeface="文鼎细圆" pitchFamily="49" charset="-122"/>
                </a:rPr>
                <a:t>T</a:t>
              </a:r>
            </a:p>
          </p:txBody>
        </p:sp>
        <p:sp>
          <p:nvSpPr>
            <p:cNvPr id="56435" name="Line 51">
              <a:extLst>
                <a:ext uri="{FF2B5EF4-FFF2-40B4-BE49-F238E27FC236}">
                  <a16:creationId xmlns:a16="http://schemas.microsoft.com/office/drawing/2014/main" id="{8D00F758-CF60-4259-8BBF-F12542F0D6C7}"/>
                </a:ext>
              </a:extLst>
            </p:cNvPr>
            <p:cNvSpPr>
              <a:spLocks noChangeShapeType="1"/>
            </p:cNvSpPr>
            <p:nvPr/>
          </p:nvSpPr>
          <p:spPr bwMode="auto">
            <a:xfrm>
              <a:off x="1440" y="1536"/>
              <a:ext cx="0" cy="48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36" name="Line 52">
              <a:extLst>
                <a:ext uri="{FF2B5EF4-FFF2-40B4-BE49-F238E27FC236}">
                  <a16:creationId xmlns:a16="http://schemas.microsoft.com/office/drawing/2014/main" id="{26DCCE16-1426-461B-BC5C-BDD03C272F14}"/>
                </a:ext>
              </a:extLst>
            </p:cNvPr>
            <p:cNvSpPr>
              <a:spLocks noChangeShapeType="1"/>
            </p:cNvSpPr>
            <p:nvPr/>
          </p:nvSpPr>
          <p:spPr bwMode="auto">
            <a:xfrm>
              <a:off x="1440" y="2016"/>
              <a:ext cx="13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39221" name="Text Box 53">
              <a:extLst>
                <a:ext uri="{FF2B5EF4-FFF2-40B4-BE49-F238E27FC236}">
                  <a16:creationId xmlns:a16="http://schemas.microsoft.com/office/drawing/2014/main" id="{5AEB2F79-B1B7-4D78-B79F-5541A487A1EB}"/>
                </a:ext>
              </a:extLst>
            </p:cNvPr>
            <p:cNvSpPr txBox="1">
              <a:spLocks noChangeArrowheads="1"/>
            </p:cNvSpPr>
            <p:nvPr/>
          </p:nvSpPr>
          <p:spPr bwMode="auto">
            <a:xfrm>
              <a:off x="1392" y="1344"/>
              <a:ext cx="175" cy="173"/>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1200" b="1">
                  <a:solidFill>
                    <a:schemeClr val="accent2"/>
                  </a:solidFill>
                  <a:effectLst>
                    <a:outerShdw blurRad="38100" dist="38100" dir="2700000" algn="tl">
                      <a:srgbClr val="000000"/>
                    </a:outerShdw>
                  </a:effectLst>
                  <a:ea typeface="文鼎细圆" pitchFamily="49" charset="-122"/>
                </a:rPr>
                <a:t>F</a:t>
              </a:r>
            </a:p>
          </p:txBody>
        </p:sp>
        <p:sp>
          <p:nvSpPr>
            <p:cNvPr id="56438" name="Line 54">
              <a:extLst>
                <a:ext uri="{FF2B5EF4-FFF2-40B4-BE49-F238E27FC236}">
                  <a16:creationId xmlns:a16="http://schemas.microsoft.com/office/drawing/2014/main" id="{69A4970C-EC4F-4F5B-BEF4-5BF59BFD883B}"/>
                </a:ext>
              </a:extLst>
            </p:cNvPr>
            <p:cNvSpPr>
              <a:spLocks noChangeShapeType="1"/>
            </p:cNvSpPr>
            <p:nvPr/>
          </p:nvSpPr>
          <p:spPr bwMode="auto">
            <a:xfrm>
              <a:off x="2592" y="1536"/>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39" name="Line 55">
              <a:extLst>
                <a:ext uri="{FF2B5EF4-FFF2-40B4-BE49-F238E27FC236}">
                  <a16:creationId xmlns:a16="http://schemas.microsoft.com/office/drawing/2014/main" id="{7BA6F29C-73CB-4209-92F4-587029772E43}"/>
                </a:ext>
              </a:extLst>
            </p:cNvPr>
            <p:cNvSpPr>
              <a:spLocks noChangeShapeType="1"/>
            </p:cNvSpPr>
            <p:nvPr/>
          </p:nvSpPr>
          <p:spPr bwMode="auto">
            <a:xfrm>
              <a:off x="2784" y="1536"/>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440" name="Line 56">
              <a:extLst>
                <a:ext uri="{FF2B5EF4-FFF2-40B4-BE49-F238E27FC236}">
                  <a16:creationId xmlns:a16="http://schemas.microsoft.com/office/drawing/2014/main" id="{6D7736B3-A219-46D7-833B-D010684D1A62}"/>
                </a:ext>
              </a:extLst>
            </p:cNvPr>
            <p:cNvSpPr>
              <a:spLocks noChangeShapeType="1"/>
            </p:cNvSpPr>
            <p:nvPr/>
          </p:nvSpPr>
          <p:spPr bwMode="auto">
            <a:xfrm>
              <a:off x="2784" y="1920"/>
              <a:ext cx="0" cy="96"/>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41" name="Line 57">
              <a:extLst>
                <a:ext uri="{FF2B5EF4-FFF2-40B4-BE49-F238E27FC236}">
                  <a16:creationId xmlns:a16="http://schemas.microsoft.com/office/drawing/2014/main" id="{4E087857-9123-4AA8-BCAB-C0041509C55D}"/>
                </a:ext>
              </a:extLst>
            </p:cNvPr>
            <p:cNvSpPr>
              <a:spLocks noChangeShapeType="1"/>
            </p:cNvSpPr>
            <p:nvPr/>
          </p:nvSpPr>
          <p:spPr bwMode="auto">
            <a:xfrm>
              <a:off x="2064" y="2016"/>
              <a:ext cx="0" cy="96"/>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442" name="Line 58">
              <a:extLst>
                <a:ext uri="{FF2B5EF4-FFF2-40B4-BE49-F238E27FC236}">
                  <a16:creationId xmlns:a16="http://schemas.microsoft.com/office/drawing/2014/main" id="{31998788-5869-4AEE-B761-C50ED02AB4D9}"/>
                </a:ext>
              </a:extLst>
            </p:cNvPr>
            <p:cNvSpPr>
              <a:spLocks noChangeShapeType="1"/>
            </p:cNvSpPr>
            <p:nvPr/>
          </p:nvSpPr>
          <p:spPr bwMode="auto">
            <a:xfrm>
              <a:off x="1440" y="1536"/>
              <a:ext cx="96"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6325" name="Rectangle 93">
            <a:extLst>
              <a:ext uri="{FF2B5EF4-FFF2-40B4-BE49-F238E27FC236}">
                <a16:creationId xmlns:a16="http://schemas.microsoft.com/office/drawing/2014/main" id="{5473DB5D-61CF-44F1-8548-4591E48F62C4}"/>
              </a:ext>
            </a:extLst>
          </p:cNvPr>
          <p:cNvSpPr>
            <a:spLocks noChangeArrowheads="1"/>
          </p:cNvSpPr>
          <p:nvPr/>
        </p:nvSpPr>
        <p:spPr bwMode="auto">
          <a:xfrm>
            <a:off x="6934200" y="1066800"/>
            <a:ext cx="28194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600">
                <a:solidFill>
                  <a:srgbClr val="1AA1A4"/>
                </a:solidFill>
                <a:latin typeface="Times New Roman" panose="02020603050405020304" pitchFamily="18" charset="0"/>
                <a:ea typeface="黑体" panose="02010609060101010101" pitchFamily="49" charset="-122"/>
              </a:rPr>
              <a:t>设条件的取值标记</a:t>
            </a:r>
            <a:endParaRPr lang="en-US" altLang="zh-CN" sz="1600">
              <a:solidFill>
                <a:srgbClr val="1AA1A4"/>
              </a:solidFill>
              <a:latin typeface="Times New Roman" panose="02020603050405020304" pitchFamily="18" charset="0"/>
              <a:ea typeface="黑体" panose="02010609060101010101" pitchFamily="49" charset="-122"/>
            </a:endParaRPr>
          </a:p>
        </p:txBody>
      </p:sp>
      <p:graphicFrame>
        <p:nvGraphicFramePr>
          <p:cNvPr id="2439349" name="Group 181">
            <a:extLst>
              <a:ext uri="{FF2B5EF4-FFF2-40B4-BE49-F238E27FC236}">
                <a16:creationId xmlns:a16="http://schemas.microsoft.com/office/drawing/2014/main" id="{5E8666E0-A945-4BFB-8C10-B1957614E208}"/>
              </a:ext>
            </a:extLst>
          </p:cNvPr>
          <p:cNvGraphicFramePr>
            <a:graphicFrameLocks noGrp="1"/>
          </p:cNvGraphicFramePr>
          <p:nvPr/>
        </p:nvGraphicFramePr>
        <p:xfrm>
          <a:off x="3886200" y="3810000"/>
          <a:ext cx="5791200" cy="2286000"/>
        </p:xfrm>
        <a:graphic>
          <a:graphicData uri="http://schemas.openxmlformats.org/drawingml/2006/table">
            <a:tbl>
              <a:tblPr/>
              <a:tblGrid>
                <a:gridCol w="1628775">
                  <a:extLst>
                    <a:ext uri="{9D8B030D-6E8A-4147-A177-3AD203B41FA5}">
                      <a16:colId xmlns:a16="http://schemas.microsoft.com/office/drawing/2014/main" val="20000"/>
                    </a:ext>
                  </a:extLst>
                </a:gridCol>
                <a:gridCol w="1304925">
                  <a:extLst>
                    <a:ext uri="{9D8B030D-6E8A-4147-A177-3AD203B41FA5}">
                      <a16:colId xmlns:a16="http://schemas.microsoft.com/office/drawing/2014/main" val="20001"/>
                    </a:ext>
                  </a:extLst>
                </a:gridCol>
                <a:gridCol w="1654175">
                  <a:extLst>
                    <a:ext uri="{9D8B030D-6E8A-4147-A177-3AD203B41FA5}">
                      <a16:colId xmlns:a16="http://schemas.microsoft.com/office/drawing/2014/main" val="20002"/>
                    </a:ext>
                  </a:extLst>
                </a:gridCol>
                <a:gridCol w="1203325">
                  <a:extLst>
                    <a:ext uri="{9D8B030D-6E8A-4147-A177-3AD203B41FA5}">
                      <a16:colId xmlns:a16="http://schemas.microsoft.com/office/drawing/2014/main" val="20003"/>
                    </a:ext>
                  </a:extLst>
                </a:gridCol>
              </a:tblGrid>
              <a:tr h="5064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49AB39"/>
                          </a:solidFill>
                          <a:effectLst/>
                          <a:latin typeface="黑体" pitchFamily="2" charset="-122"/>
                          <a:ea typeface="黑体" pitchFamily="2" charset="-122"/>
                        </a:rPr>
                        <a:t>测试用例</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49AB39"/>
                          </a:solidFill>
                          <a:effectLst/>
                          <a:latin typeface="黑体" pitchFamily="2" charset="-122"/>
                          <a:ea typeface="黑体" pitchFamily="2" charset="-122"/>
                        </a:rPr>
                        <a:t>通过路径</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49AB39"/>
                          </a:solidFill>
                          <a:effectLst/>
                          <a:latin typeface="黑体" pitchFamily="2" charset="-122"/>
                          <a:ea typeface="黑体" pitchFamily="2" charset="-122"/>
                        </a:rPr>
                        <a:t>条件取值</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49AB39"/>
                          </a:solidFill>
                          <a:effectLst/>
                          <a:latin typeface="黑体" pitchFamily="2" charset="-122"/>
                          <a:ea typeface="黑体" pitchFamily="2" charset="-122"/>
                        </a:rPr>
                        <a:t>覆盖组合号</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3338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chemeClr val="accent2"/>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0" i="0" u="none" strike="noStrike" cap="none" normalizeH="0" baseline="0">
                          <a:ln>
                            <a:noFill/>
                          </a:ln>
                          <a:solidFill>
                            <a:srgbClr val="124905"/>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0" i="0" u="none" strike="noStrike" cap="none" normalizeH="0" baseline="0">
                          <a:ln>
                            <a:noFill/>
                          </a:ln>
                          <a:solidFill>
                            <a:srgbClr val="124905"/>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0" i="0" u="none" strike="noStrike" cap="none" normalizeH="0" baseline="0">
                          <a:ln>
                            <a:noFill/>
                          </a:ln>
                          <a:solidFill>
                            <a:schemeClr val="accent2"/>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318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chemeClr val="accent2"/>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0" i="0" u="none" strike="noStrike" cap="none" normalizeH="0" baseline="0">
                          <a:ln>
                            <a:noFill/>
                          </a:ln>
                          <a:solidFill>
                            <a:srgbClr val="124905"/>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0" i="0" u="none" strike="noStrike" cap="none" normalizeH="0" baseline="0">
                          <a:ln>
                            <a:noFill/>
                          </a:ln>
                          <a:solidFill>
                            <a:srgbClr val="124905"/>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0" i="0" u="none" strike="noStrike" cap="none" normalizeH="0" baseline="0">
                          <a:ln>
                            <a:noFill/>
                          </a:ln>
                          <a:solidFill>
                            <a:schemeClr val="accent2"/>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7148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chemeClr val="accent2"/>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0" i="0" u="none" strike="noStrike" cap="none" normalizeH="0" baseline="0">
                          <a:ln>
                            <a:noFill/>
                          </a:ln>
                          <a:solidFill>
                            <a:srgbClr val="124905"/>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0" i="0" u="none" strike="noStrike" cap="none" normalizeH="0" baseline="0">
                          <a:ln>
                            <a:noFill/>
                          </a:ln>
                          <a:solidFill>
                            <a:srgbClr val="124905"/>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0" i="0" u="none" strike="noStrike" cap="none" normalizeH="0" baseline="0">
                          <a:ln>
                            <a:noFill/>
                          </a:ln>
                          <a:solidFill>
                            <a:schemeClr val="accent2"/>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429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chemeClr val="accent2"/>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0" i="0" u="none" strike="noStrike" cap="none" normalizeH="0" baseline="0">
                          <a:ln>
                            <a:noFill/>
                          </a:ln>
                          <a:solidFill>
                            <a:srgbClr val="124905"/>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0" i="0" u="none" strike="noStrike" cap="none" normalizeH="0" baseline="0">
                          <a:ln>
                            <a:noFill/>
                          </a:ln>
                          <a:solidFill>
                            <a:srgbClr val="124905"/>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0" i="0" u="none" strike="noStrike" cap="none" normalizeH="0" baseline="0">
                          <a:ln>
                            <a:noFill/>
                          </a:ln>
                          <a:solidFill>
                            <a:schemeClr val="accent2"/>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graphicFrame>
        <p:nvGraphicFramePr>
          <p:cNvPr id="2439454" name="Group 286">
            <a:extLst>
              <a:ext uri="{FF2B5EF4-FFF2-40B4-BE49-F238E27FC236}">
                <a16:creationId xmlns:a16="http://schemas.microsoft.com/office/drawing/2014/main" id="{6A7D67A2-38A1-4B00-99D3-98D3C4F93113}"/>
              </a:ext>
            </a:extLst>
          </p:cNvPr>
          <p:cNvGraphicFramePr>
            <a:graphicFrameLocks noGrp="1"/>
          </p:cNvGraphicFramePr>
          <p:nvPr/>
        </p:nvGraphicFramePr>
        <p:xfrm>
          <a:off x="6629400" y="914401"/>
          <a:ext cx="3505200" cy="2219325"/>
        </p:xfrm>
        <a:graphic>
          <a:graphicData uri="http://schemas.openxmlformats.org/drawingml/2006/table">
            <a:tbl>
              <a:tblPr/>
              <a:tblGrid>
                <a:gridCol w="10668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49377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EF8D2B"/>
                          </a:solidFill>
                          <a:effectLst/>
                          <a:latin typeface="黑体" pitchFamily="2" charset="-122"/>
                          <a:ea typeface="黑体" pitchFamily="2" charset="-122"/>
                        </a:rPr>
                        <a:t>条件</a:t>
                      </a:r>
                    </a:p>
                  </a:txBody>
                  <a:tcPr marT="45719" marB="45719"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EF8D2B"/>
                          </a:solidFill>
                          <a:effectLst/>
                          <a:latin typeface="黑体" pitchFamily="2" charset="-122"/>
                          <a:ea typeface="黑体" pitchFamily="2" charset="-122"/>
                        </a:rPr>
                        <a:t>标记</a:t>
                      </a:r>
                    </a:p>
                  </a:txBody>
                  <a:tcPr marT="45719" marB="45719"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200" b="1" i="0" u="none" strike="noStrike" cap="none" normalizeH="0" baseline="0">
                          <a:ln>
                            <a:noFill/>
                          </a:ln>
                          <a:solidFill>
                            <a:srgbClr val="EF8D2B"/>
                          </a:solidFill>
                          <a:effectLst/>
                          <a:latin typeface="黑体" pitchFamily="2" charset="-122"/>
                          <a:ea typeface="黑体" pitchFamily="2" charset="-122"/>
                        </a:rPr>
                        <a:t>第一个判断取</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200" b="1" i="0" u="none" strike="noStrike" cap="none" normalizeH="0" baseline="0">
                          <a:ln>
                            <a:noFill/>
                          </a:ln>
                          <a:solidFill>
                            <a:srgbClr val="66C80C"/>
                          </a:solidFill>
                          <a:effectLst/>
                          <a:latin typeface="黑体" pitchFamily="2" charset="-122"/>
                          <a:ea typeface="黑体" pitchFamily="2" charset="-122"/>
                        </a:rPr>
                        <a:t>真假</a:t>
                      </a:r>
                      <a:r>
                        <a:rPr kumimoji="1" lang="zh-CN" altLang="en-US" sz="1200" b="1" i="0" u="none" strike="noStrike" cap="none" normalizeH="0" baseline="0">
                          <a:ln>
                            <a:noFill/>
                          </a:ln>
                          <a:solidFill>
                            <a:srgbClr val="EF8D2B"/>
                          </a:solidFill>
                          <a:effectLst/>
                          <a:latin typeface="黑体" pitchFamily="2" charset="-122"/>
                          <a:ea typeface="黑体" pitchFamily="2" charset="-122"/>
                        </a:rPr>
                        <a:t>分支</a:t>
                      </a:r>
                    </a:p>
                  </a:txBody>
                  <a:tcPr marT="45719" marB="45719"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2226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chemeClr val="accent2"/>
                          </a:solidFill>
                          <a:effectLst>
                            <a:outerShdw blurRad="38100" dist="38100" dir="2700000" algn="tl">
                              <a:srgbClr val="000000"/>
                            </a:outerShdw>
                          </a:effectLst>
                          <a:latin typeface="Arial" charset="0"/>
                          <a:ea typeface="宋体" pitchFamily="2" charset="-122"/>
                        </a:rPr>
                        <a:t>A&gt;1 B=0  </a:t>
                      </a:r>
                    </a:p>
                  </a:txBody>
                  <a:tcPr marT="45719" marB="45719"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EF8D2B"/>
                          </a:solidFill>
                          <a:effectLst>
                            <a:outerShdw blurRad="38100" dist="38100" dir="2700000" algn="tl">
                              <a:srgbClr val="000000"/>
                            </a:outerShdw>
                          </a:effectLst>
                          <a:latin typeface="Times New Roman" charset="0"/>
                          <a:ea typeface="宋体" pitchFamily="2" charset="-122"/>
                        </a:rPr>
                        <a:t>T1 T2 </a:t>
                      </a:r>
                    </a:p>
                  </a:txBody>
                  <a:tcPr marT="45719" marB="45719"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1" i="0" u="none" strike="noStrike" cap="none" normalizeH="0" baseline="0">
                          <a:ln>
                            <a:noFill/>
                          </a:ln>
                          <a:solidFill>
                            <a:schemeClr val="accent2"/>
                          </a:solidFill>
                          <a:effectLst/>
                          <a:latin typeface="Times New Roman" charset="0"/>
                          <a:ea typeface="文鼎细圆" pitchFamily="49" charset="-122"/>
                        </a:rPr>
                        <a:t>① </a:t>
                      </a:r>
                      <a:r>
                        <a:rPr kumimoji="1" lang="zh-CN" altLang="en-US" sz="1600" b="0" i="0" u="none" strike="noStrike" cap="none" normalizeH="0" baseline="0">
                          <a:ln>
                            <a:noFill/>
                          </a:ln>
                          <a:solidFill>
                            <a:srgbClr val="345BC8"/>
                          </a:solidFill>
                          <a:effectLst/>
                          <a:latin typeface="黑体" pitchFamily="2" charset="-122"/>
                          <a:ea typeface="黑体" pitchFamily="2" charset="-122"/>
                        </a:rPr>
                        <a:t>取</a:t>
                      </a:r>
                      <a:r>
                        <a:rPr kumimoji="1" lang="zh-CN" altLang="en-US" sz="1600" b="0" i="0" u="none" strike="noStrike" cap="none" normalizeH="0" baseline="0">
                          <a:ln>
                            <a:noFill/>
                          </a:ln>
                          <a:solidFill>
                            <a:schemeClr val="accent2"/>
                          </a:solidFill>
                          <a:effectLst/>
                          <a:latin typeface="黑体" pitchFamily="2" charset="-122"/>
                          <a:ea typeface="黑体" pitchFamily="2" charset="-122"/>
                        </a:rPr>
                        <a:t>真</a:t>
                      </a:r>
                      <a:r>
                        <a:rPr kumimoji="1" lang="zh-CN" altLang="en-US" sz="1600" b="0" i="0" u="none" strike="noStrike" cap="none" normalizeH="0" baseline="0">
                          <a:ln>
                            <a:noFill/>
                          </a:ln>
                          <a:solidFill>
                            <a:srgbClr val="345BC8"/>
                          </a:solidFill>
                          <a:effectLst/>
                          <a:latin typeface="黑体" pitchFamily="2" charset="-122"/>
                          <a:ea typeface="黑体" pitchFamily="2" charset="-122"/>
                        </a:rPr>
                        <a:t>分支</a:t>
                      </a:r>
                    </a:p>
                  </a:txBody>
                  <a:tcPr marT="45719" marB="45719"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38134">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chemeClr val="accent2"/>
                          </a:solidFill>
                          <a:effectLst>
                            <a:outerShdw blurRad="38100" dist="38100" dir="2700000" algn="tl">
                              <a:srgbClr val="000000"/>
                            </a:outerShdw>
                          </a:effectLst>
                          <a:latin typeface="Arial" charset="0"/>
                          <a:ea typeface="宋体" pitchFamily="2" charset="-122"/>
                        </a:rPr>
                        <a:t>A&gt;1 B</a:t>
                      </a:r>
                      <a:r>
                        <a:rPr kumimoji="1" lang="zh-CN" altLang="en-US" sz="1400" b="1" i="0" u="none" strike="noStrike" cap="none" normalizeH="0" baseline="0">
                          <a:ln>
                            <a:noFill/>
                          </a:ln>
                          <a:solidFill>
                            <a:srgbClr val="D35FC2"/>
                          </a:solidFill>
                          <a:effectLst>
                            <a:outerShdw blurRad="38100" dist="38100" dir="2700000" algn="tl">
                              <a:srgbClr val="000000"/>
                            </a:outerShdw>
                          </a:effectLst>
                          <a:latin typeface="Arial" charset="0"/>
                          <a:ea typeface="宋体" pitchFamily="2" charset="-122"/>
                        </a:rPr>
                        <a:t>≠0</a:t>
                      </a:r>
                      <a:r>
                        <a:rPr kumimoji="1" lang="en-US" altLang="zh-CN" sz="1400" b="1" i="0" u="none" strike="noStrike" cap="none" normalizeH="0" baseline="0">
                          <a:ln>
                            <a:noFill/>
                          </a:ln>
                          <a:solidFill>
                            <a:schemeClr val="accent2"/>
                          </a:solidFill>
                          <a:effectLst>
                            <a:outerShdw blurRad="38100" dist="38100" dir="2700000" algn="tl">
                              <a:srgbClr val="000000"/>
                            </a:outerShdw>
                          </a:effectLst>
                          <a:latin typeface="Arial" charset="0"/>
                          <a:ea typeface="宋体" pitchFamily="2" charset="-122"/>
                        </a:rPr>
                        <a:t> </a:t>
                      </a:r>
                      <a:endParaRPr kumimoji="1" lang="zh-CN" altLang="en-US" sz="1400" b="1" i="0" u="none" strike="noStrike" cap="none" normalizeH="0" baseline="0">
                        <a:ln>
                          <a:noFill/>
                        </a:ln>
                        <a:solidFill>
                          <a:schemeClr val="accent2"/>
                        </a:solidFill>
                        <a:effectLst>
                          <a:outerShdw blurRad="38100" dist="38100" dir="2700000" algn="tl">
                            <a:srgbClr val="000000"/>
                          </a:outerShdw>
                        </a:effectLst>
                        <a:latin typeface="Arial" charset="0"/>
                        <a:ea typeface="宋体" pitchFamily="2" charset="-122"/>
                      </a:endParaRPr>
                    </a:p>
                  </a:txBody>
                  <a:tcPr marT="45719" marB="45719"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EF8D2B"/>
                          </a:solidFill>
                          <a:effectLst>
                            <a:outerShdw blurRad="38100" dist="38100" dir="2700000" algn="tl">
                              <a:srgbClr val="000000"/>
                            </a:outerShdw>
                          </a:effectLst>
                          <a:latin typeface="Times New Roman" charset="0"/>
                          <a:ea typeface="宋体" pitchFamily="2" charset="-122"/>
                        </a:rPr>
                        <a:t>T1 T2</a:t>
                      </a:r>
                    </a:p>
                  </a:txBody>
                  <a:tcPr marT="45719" marB="45719" anchor="b"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1" i="0" u="none" strike="noStrike" cap="none" normalizeH="0" baseline="0">
                          <a:ln>
                            <a:noFill/>
                          </a:ln>
                          <a:solidFill>
                            <a:schemeClr val="accent2"/>
                          </a:solidFill>
                          <a:effectLst/>
                          <a:latin typeface="Times New Roman" charset="0"/>
                          <a:ea typeface="文鼎细圆" pitchFamily="49" charset="-122"/>
                        </a:rPr>
                        <a:t>② </a:t>
                      </a:r>
                      <a:r>
                        <a:rPr kumimoji="1" lang="zh-CN" altLang="en-US" sz="1600" b="0" i="0" u="none" strike="noStrike" cap="none" normalizeH="0" baseline="0">
                          <a:ln>
                            <a:noFill/>
                          </a:ln>
                          <a:solidFill>
                            <a:srgbClr val="345BC8"/>
                          </a:solidFill>
                          <a:effectLst/>
                          <a:latin typeface="黑体" pitchFamily="2" charset="-122"/>
                          <a:ea typeface="黑体" pitchFamily="2" charset="-122"/>
                        </a:rPr>
                        <a:t>取</a:t>
                      </a:r>
                      <a:r>
                        <a:rPr kumimoji="1" lang="zh-CN" altLang="en-US" sz="1600" b="0" i="0" u="none" strike="noStrike" cap="none" normalizeH="0" baseline="0">
                          <a:ln>
                            <a:noFill/>
                          </a:ln>
                          <a:solidFill>
                            <a:schemeClr val="accent2"/>
                          </a:solidFill>
                          <a:effectLst/>
                          <a:latin typeface="黑体" pitchFamily="2" charset="-122"/>
                          <a:ea typeface="黑体" pitchFamily="2" charset="-122"/>
                        </a:rPr>
                        <a:t>假</a:t>
                      </a:r>
                      <a:r>
                        <a:rPr kumimoji="1" lang="zh-CN" altLang="en-US" sz="1600" b="0" i="0" u="none" strike="noStrike" cap="none" normalizeH="0" baseline="0">
                          <a:ln>
                            <a:noFill/>
                          </a:ln>
                          <a:solidFill>
                            <a:srgbClr val="345BC8"/>
                          </a:solidFill>
                          <a:effectLst/>
                          <a:latin typeface="黑体" pitchFamily="2" charset="-122"/>
                          <a:ea typeface="黑体" pitchFamily="2" charset="-122"/>
                        </a:rPr>
                        <a:t>分支</a:t>
                      </a:r>
                    </a:p>
                  </a:txBody>
                  <a:tcPr marT="45719" marB="45719"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1749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chemeClr val="accent2"/>
                          </a:solidFill>
                          <a:effectLst>
                            <a:outerShdw blurRad="38100" dist="38100" dir="2700000" algn="tl">
                              <a:srgbClr val="000000"/>
                            </a:outerShdw>
                          </a:effectLst>
                          <a:latin typeface="Arial" charset="0"/>
                          <a:ea typeface="宋体" pitchFamily="2" charset="-122"/>
                        </a:rPr>
                        <a:t>A</a:t>
                      </a:r>
                      <a:r>
                        <a:rPr kumimoji="1" lang="en-US" altLang="zh-CN" sz="1400" b="1" i="0" u="none" strike="noStrike" cap="none" normalizeH="0" baseline="0">
                          <a:ln>
                            <a:noFill/>
                          </a:ln>
                          <a:solidFill>
                            <a:srgbClr val="D35FC2"/>
                          </a:solidFill>
                          <a:effectLst>
                            <a:outerShdw blurRad="38100" dist="38100" dir="2700000" algn="tl">
                              <a:srgbClr val="000000"/>
                            </a:outerShdw>
                          </a:effectLst>
                          <a:latin typeface="Arial" charset="0"/>
                          <a:ea typeface="宋体" pitchFamily="2" charset="-122"/>
                        </a:rPr>
                        <a:t>≯1 B=0</a:t>
                      </a:r>
                      <a:r>
                        <a:rPr kumimoji="1" lang="en-US" altLang="zh-CN" sz="1400" b="1" i="0" u="none" strike="noStrike" cap="none" normalizeH="0" baseline="0">
                          <a:ln>
                            <a:noFill/>
                          </a:ln>
                          <a:solidFill>
                            <a:srgbClr val="D35FC2"/>
                          </a:solidFill>
                          <a:effectLst/>
                          <a:latin typeface="Arial" charset="0"/>
                          <a:ea typeface="文鼎细圆" pitchFamily="49" charset="-122"/>
                        </a:rPr>
                        <a:t> </a:t>
                      </a:r>
                    </a:p>
                  </a:txBody>
                  <a:tcPr marT="45719" marB="45719"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EF8D2B"/>
                          </a:solidFill>
                          <a:effectLst>
                            <a:outerShdw blurRad="38100" dist="38100" dir="2700000" algn="tl">
                              <a:srgbClr val="000000"/>
                            </a:outerShdw>
                          </a:effectLst>
                          <a:latin typeface="Times New Roman" charset="0"/>
                          <a:ea typeface="宋体" pitchFamily="2" charset="-122"/>
                        </a:rPr>
                        <a:t>T1 T2 </a:t>
                      </a:r>
                      <a:endParaRPr kumimoji="1" lang="zh-CN" altLang="en-US" sz="1400" b="1" i="0" u="none" strike="noStrike" cap="none" normalizeH="0" baseline="0">
                        <a:ln>
                          <a:noFill/>
                        </a:ln>
                        <a:solidFill>
                          <a:srgbClr val="EF8D2B"/>
                        </a:solidFill>
                        <a:effectLst>
                          <a:outerShdw blurRad="38100" dist="38100" dir="2700000" algn="tl">
                            <a:srgbClr val="000000"/>
                          </a:outerShdw>
                        </a:effectLst>
                        <a:latin typeface="Times New Roman" charset="0"/>
                        <a:ea typeface="宋体" pitchFamily="2" charset="-122"/>
                      </a:endParaRPr>
                    </a:p>
                  </a:txBody>
                  <a:tcPr marT="45719" marB="45719" anchor="b"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1" i="0" u="none" strike="noStrike" cap="none" normalizeH="0" baseline="0">
                          <a:ln>
                            <a:noFill/>
                          </a:ln>
                          <a:solidFill>
                            <a:schemeClr val="accent2"/>
                          </a:solidFill>
                          <a:effectLst/>
                          <a:latin typeface="Times New Roman" charset="0"/>
                          <a:ea typeface="文鼎细圆" pitchFamily="49" charset="-122"/>
                        </a:rPr>
                        <a:t>③ </a:t>
                      </a:r>
                      <a:r>
                        <a:rPr kumimoji="1" lang="zh-CN" altLang="en-US" sz="1600" b="0" i="0" u="none" strike="noStrike" cap="none" normalizeH="0" baseline="0">
                          <a:ln>
                            <a:noFill/>
                          </a:ln>
                          <a:solidFill>
                            <a:srgbClr val="345BC8"/>
                          </a:solidFill>
                          <a:effectLst/>
                          <a:latin typeface="黑体" pitchFamily="2" charset="-122"/>
                          <a:ea typeface="黑体" pitchFamily="2" charset="-122"/>
                        </a:rPr>
                        <a:t>取</a:t>
                      </a:r>
                      <a:r>
                        <a:rPr kumimoji="1" lang="zh-CN" altLang="en-US" sz="1600" b="0" i="0" u="none" strike="noStrike" cap="none" normalizeH="0" baseline="0">
                          <a:ln>
                            <a:noFill/>
                          </a:ln>
                          <a:solidFill>
                            <a:schemeClr val="accent2"/>
                          </a:solidFill>
                          <a:effectLst/>
                          <a:latin typeface="黑体" pitchFamily="2" charset="-122"/>
                          <a:ea typeface="黑体" pitchFamily="2" charset="-122"/>
                        </a:rPr>
                        <a:t>假</a:t>
                      </a:r>
                      <a:r>
                        <a:rPr kumimoji="1" lang="zh-CN" altLang="en-US" sz="1600" b="0" i="0" u="none" strike="noStrike" cap="none" normalizeH="0" baseline="0">
                          <a:ln>
                            <a:noFill/>
                          </a:ln>
                          <a:solidFill>
                            <a:srgbClr val="345BC8"/>
                          </a:solidFill>
                          <a:effectLst/>
                          <a:latin typeface="黑体" pitchFamily="2" charset="-122"/>
                          <a:ea typeface="黑体" pitchFamily="2" charset="-122"/>
                        </a:rPr>
                        <a:t>分支</a:t>
                      </a:r>
                    </a:p>
                  </a:txBody>
                  <a:tcPr marT="45719" marB="45719"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47659">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chemeClr val="accent2"/>
                          </a:solidFill>
                          <a:effectLst>
                            <a:outerShdw blurRad="38100" dist="38100" dir="2700000" algn="tl">
                              <a:srgbClr val="000000"/>
                            </a:outerShdw>
                          </a:effectLst>
                          <a:latin typeface="Arial" charset="0"/>
                          <a:ea typeface="宋体" pitchFamily="2" charset="-122"/>
                        </a:rPr>
                        <a:t>A</a:t>
                      </a:r>
                      <a:r>
                        <a:rPr kumimoji="1" lang="en-US" altLang="zh-CN" sz="1400" b="1" i="0" u="none" strike="noStrike" cap="none" normalizeH="0" baseline="0">
                          <a:ln>
                            <a:noFill/>
                          </a:ln>
                          <a:solidFill>
                            <a:srgbClr val="D35FC2"/>
                          </a:solidFill>
                          <a:effectLst>
                            <a:outerShdw blurRad="38100" dist="38100" dir="2700000" algn="tl">
                              <a:srgbClr val="000000"/>
                            </a:outerShdw>
                          </a:effectLst>
                          <a:latin typeface="Arial" charset="0"/>
                          <a:ea typeface="宋体" pitchFamily="2" charset="-122"/>
                        </a:rPr>
                        <a:t>≯1 </a:t>
                      </a:r>
                      <a:r>
                        <a:rPr kumimoji="1" lang="en-US" altLang="zh-CN" sz="1400" b="1" i="0" u="none" strike="noStrike" cap="none" normalizeH="0" baseline="0">
                          <a:ln>
                            <a:noFill/>
                          </a:ln>
                          <a:solidFill>
                            <a:schemeClr val="accent2"/>
                          </a:solidFill>
                          <a:effectLst>
                            <a:outerShdw blurRad="38100" dist="38100" dir="2700000" algn="tl">
                              <a:srgbClr val="000000"/>
                            </a:outerShdw>
                          </a:effectLst>
                          <a:latin typeface="Arial" charset="0"/>
                          <a:ea typeface="宋体" pitchFamily="2" charset="-122"/>
                        </a:rPr>
                        <a:t>B</a:t>
                      </a:r>
                      <a:r>
                        <a:rPr kumimoji="1" lang="zh-CN" altLang="en-US" sz="1400" b="1" i="0" u="none" strike="noStrike" cap="none" normalizeH="0" baseline="0">
                          <a:ln>
                            <a:noFill/>
                          </a:ln>
                          <a:solidFill>
                            <a:srgbClr val="D35FC2"/>
                          </a:solidFill>
                          <a:effectLst>
                            <a:outerShdw blurRad="38100" dist="38100" dir="2700000" algn="tl">
                              <a:srgbClr val="000000"/>
                            </a:outerShdw>
                          </a:effectLst>
                          <a:latin typeface="Arial" charset="0"/>
                          <a:ea typeface="宋体" pitchFamily="2" charset="-122"/>
                        </a:rPr>
                        <a:t>≠0</a:t>
                      </a:r>
                      <a:r>
                        <a:rPr kumimoji="1" lang="en-US" altLang="zh-CN" sz="1400" b="1" i="0" u="none" strike="noStrike" cap="none" normalizeH="0" baseline="0">
                          <a:ln>
                            <a:noFill/>
                          </a:ln>
                          <a:solidFill>
                            <a:schemeClr val="accent2"/>
                          </a:solidFill>
                          <a:effectLst>
                            <a:outerShdw blurRad="38100" dist="38100" dir="2700000" algn="tl">
                              <a:srgbClr val="000000"/>
                            </a:outerShdw>
                          </a:effectLst>
                          <a:latin typeface="Arial" charset="0"/>
                          <a:ea typeface="宋体" pitchFamily="2" charset="-122"/>
                        </a:rPr>
                        <a:t> </a:t>
                      </a:r>
                      <a:endParaRPr kumimoji="1" lang="zh-CN" altLang="en-US" sz="1400" b="1" i="0" u="none" strike="noStrike" cap="none" normalizeH="0" baseline="0">
                        <a:ln>
                          <a:noFill/>
                        </a:ln>
                        <a:solidFill>
                          <a:schemeClr val="accent2"/>
                        </a:solidFill>
                        <a:effectLst>
                          <a:outerShdw blurRad="38100" dist="38100" dir="2700000" algn="tl">
                            <a:srgbClr val="000000"/>
                          </a:outerShdw>
                        </a:effectLst>
                        <a:latin typeface="Arial" charset="0"/>
                        <a:ea typeface="宋体" pitchFamily="2" charset="-122"/>
                      </a:endParaRPr>
                    </a:p>
                  </a:txBody>
                  <a:tcPr marT="45719" marB="45719"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EF8D2B"/>
                          </a:solidFill>
                          <a:effectLst>
                            <a:outerShdw blurRad="38100" dist="38100" dir="2700000" algn="tl">
                              <a:srgbClr val="000000"/>
                            </a:outerShdw>
                          </a:effectLst>
                          <a:latin typeface="Times New Roman" charset="0"/>
                          <a:ea typeface="宋体" pitchFamily="2" charset="-122"/>
                        </a:rPr>
                        <a:t> T1 T2</a:t>
                      </a:r>
                      <a:endParaRPr kumimoji="1" lang="zh-CN" altLang="en-US" sz="1400" b="1" i="0" u="none" strike="noStrike" cap="none" normalizeH="0" baseline="0">
                        <a:ln>
                          <a:noFill/>
                        </a:ln>
                        <a:solidFill>
                          <a:srgbClr val="EF8D2B"/>
                        </a:solidFill>
                        <a:effectLst>
                          <a:outerShdw blurRad="38100" dist="38100" dir="2700000" algn="tl">
                            <a:srgbClr val="000000"/>
                          </a:outerShdw>
                        </a:effectLst>
                        <a:latin typeface="Times New Roman" charset="0"/>
                        <a:ea typeface="宋体" pitchFamily="2" charset="-122"/>
                      </a:endParaRPr>
                    </a:p>
                  </a:txBody>
                  <a:tcPr marT="45719" marB="45719" anchor="b"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1" i="0" u="none" strike="noStrike" cap="none" normalizeH="0" baseline="0">
                          <a:ln>
                            <a:noFill/>
                          </a:ln>
                          <a:solidFill>
                            <a:schemeClr val="accent2"/>
                          </a:solidFill>
                          <a:effectLst/>
                          <a:latin typeface="Times New Roman" charset="0"/>
                          <a:ea typeface="文鼎细圆" pitchFamily="49" charset="-122"/>
                        </a:rPr>
                        <a:t>④ </a:t>
                      </a:r>
                      <a:r>
                        <a:rPr kumimoji="1" lang="zh-CN" altLang="en-US" sz="1600" b="0" i="0" u="none" strike="noStrike" cap="none" normalizeH="0" baseline="0">
                          <a:ln>
                            <a:noFill/>
                          </a:ln>
                          <a:solidFill>
                            <a:srgbClr val="345BC8"/>
                          </a:solidFill>
                          <a:effectLst/>
                          <a:latin typeface="黑体" pitchFamily="2" charset="-122"/>
                          <a:ea typeface="黑体" pitchFamily="2" charset="-122"/>
                        </a:rPr>
                        <a:t>取</a:t>
                      </a:r>
                      <a:r>
                        <a:rPr kumimoji="1" lang="zh-CN" altLang="en-US" sz="1600" b="0" i="0" u="none" strike="noStrike" cap="none" normalizeH="0" baseline="0">
                          <a:ln>
                            <a:noFill/>
                          </a:ln>
                          <a:solidFill>
                            <a:schemeClr val="accent2"/>
                          </a:solidFill>
                          <a:effectLst/>
                          <a:latin typeface="黑体" pitchFamily="2" charset="-122"/>
                          <a:ea typeface="黑体" pitchFamily="2" charset="-122"/>
                        </a:rPr>
                        <a:t>假</a:t>
                      </a:r>
                      <a:r>
                        <a:rPr kumimoji="1" lang="zh-CN" altLang="en-US" sz="1600" b="0" i="0" u="none" strike="noStrike" cap="none" normalizeH="0" baseline="0">
                          <a:ln>
                            <a:noFill/>
                          </a:ln>
                          <a:solidFill>
                            <a:srgbClr val="345BC8"/>
                          </a:solidFill>
                          <a:effectLst/>
                          <a:latin typeface="黑体" pitchFamily="2" charset="-122"/>
                          <a:ea typeface="黑体" pitchFamily="2" charset="-122"/>
                        </a:rPr>
                        <a:t>分支</a:t>
                      </a:r>
                    </a:p>
                  </a:txBody>
                  <a:tcPr marT="45719" marB="45719" anchor="ctr" horzOverflow="overflow">
                    <a:lnL w="12700" cap="flat" cmpd="sng" algn="ctr">
                      <a:solidFill>
                        <a:srgbClr val="66C80C"/>
                      </a:solidFill>
                      <a:prstDash val="solid"/>
                      <a:round/>
                      <a:headEnd type="none" w="med" len="med"/>
                      <a:tailEnd type="none" w="med" len="med"/>
                    </a:lnL>
                    <a:lnR w="12700" cap="flat" cmpd="sng" algn="ctr">
                      <a:solidFill>
                        <a:srgbClr val="66C80C"/>
                      </a:solidFill>
                      <a:prstDash val="solid"/>
                      <a:round/>
                      <a:headEnd type="none" w="med" len="med"/>
                      <a:tailEnd type="none" w="med" len="med"/>
                    </a:lnR>
                    <a:lnT w="12700" cap="flat" cmpd="sng" algn="ctr">
                      <a:solidFill>
                        <a:srgbClr val="66C80C"/>
                      </a:solidFill>
                      <a:prstDash val="solid"/>
                      <a:round/>
                      <a:headEnd type="none" w="med" len="med"/>
                      <a:tailEnd type="none" w="med" len="med"/>
                    </a:lnT>
                    <a:lnB w="12700" cap="flat" cmpd="sng" algn="ctr">
                      <a:solidFill>
                        <a:srgbClr val="66C80C"/>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56384" name="Line 215">
            <a:extLst>
              <a:ext uri="{FF2B5EF4-FFF2-40B4-BE49-F238E27FC236}">
                <a16:creationId xmlns:a16="http://schemas.microsoft.com/office/drawing/2014/main" id="{AD431BBD-B5F5-4548-9DC7-159E21C47A9B}"/>
              </a:ext>
            </a:extLst>
          </p:cNvPr>
          <p:cNvSpPr>
            <a:spLocks noChangeShapeType="1"/>
          </p:cNvSpPr>
          <p:nvPr/>
        </p:nvSpPr>
        <p:spPr bwMode="auto">
          <a:xfrm>
            <a:off x="8077200" y="19812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39395" name="Rectangle 227">
            <a:extLst>
              <a:ext uri="{FF2B5EF4-FFF2-40B4-BE49-F238E27FC236}">
                <a16:creationId xmlns:a16="http://schemas.microsoft.com/office/drawing/2014/main" id="{513B9D3F-0AAB-414A-BA85-91C3E63F23B3}"/>
              </a:ext>
            </a:extLst>
          </p:cNvPr>
          <p:cNvSpPr>
            <a:spLocks noChangeArrowheads="1"/>
          </p:cNvSpPr>
          <p:nvPr/>
        </p:nvSpPr>
        <p:spPr bwMode="auto">
          <a:xfrm>
            <a:off x="3962400" y="4419600"/>
            <a:ext cx="1524000" cy="304800"/>
          </a:xfrm>
          <a:prstGeom prst="rect">
            <a:avLst/>
          </a:prstGeom>
          <a:solidFill>
            <a:schemeClr val="bg1"/>
          </a:solidFill>
          <a:ln>
            <a:noFill/>
          </a:ln>
          <a:extLs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lnSpc>
                <a:spcPct val="75000"/>
              </a:lnSpc>
              <a:buClr>
                <a:schemeClr val="accent1"/>
              </a:buClr>
              <a:buSzPct val="90000"/>
              <a:buFont typeface="Monotype Sorts" pitchFamily="2" charset="2"/>
              <a:buNone/>
            </a:pPr>
            <a:r>
              <a:rPr kumimoji="1" lang="en-US" altLang="zh-CN" sz="1800" b="1">
                <a:solidFill>
                  <a:srgbClr val="D35FC2"/>
                </a:solidFill>
                <a:ea typeface="文鼎细圆" pitchFamily="49" charset="-122"/>
              </a:rPr>
              <a:t>(2,0,4),(2,0,3)</a:t>
            </a:r>
          </a:p>
        </p:txBody>
      </p:sp>
      <p:sp>
        <p:nvSpPr>
          <p:cNvPr id="2439396" name="Rectangle 228">
            <a:extLst>
              <a:ext uri="{FF2B5EF4-FFF2-40B4-BE49-F238E27FC236}">
                <a16:creationId xmlns:a16="http://schemas.microsoft.com/office/drawing/2014/main" id="{57CAEE0B-B6C4-4999-9ACB-91373A6FE3C2}"/>
              </a:ext>
            </a:extLst>
          </p:cNvPr>
          <p:cNvSpPr>
            <a:spLocks noChangeArrowheads="1"/>
          </p:cNvSpPr>
          <p:nvPr/>
        </p:nvSpPr>
        <p:spPr bwMode="auto">
          <a:xfrm>
            <a:off x="5715000" y="4419600"/>
            <a:ext cx="838200" cy="304800"/>
          </a:xfrm>
          <a:prstGeom prst="rect">
            <a:avLst/>
          </a:prstGeom>
          <a:solidFill>
            <a:schemeClr val="bg1"/>
          </a:solidFill>
          <a:ln w="38100" cmpd="dbl">
            <a:noFill/>
            <a:miter lim="800000"/>
            <a:headEnd/>
            <a:tailEnd/>
          </a:ln>
          <a:effectLst/>
        </p:spPr>
        <p:txBody>
          <a:bodyPr wrap="none" anchor="ctr"/>
          <a:lstStyle/>
          <a:p>
            <a:pPr eaLnBrk="1" hangingPunct="1">
              <a:lnSpc>
                <a:spcPct val="75000"/>
              </a:lnSpc>
              <a:spcBef>
                <a:spcPct val="20000"/>
              </a:spcBef>
              <a:buClr>
                <a:schemeClr val="accent1"/>
              </a:buClr>
              <a:buSzPct val="90000"/>
              <a:buFont typeface="Monotype Sorts" pitchFamily="2" charset="2"/>
              <a:buNone/>
              <a:defRPr/>
            </a:pPr>
            <a:r>
              <a:rPr kumimoji="1" lang="en-US" altLang="zh-CN" b="1">
                <a:solidFill>
                  <a:srgbClr val="D35FC2"/>
                </a:solidFill>
                <a:latin typeface="Arial" charset="0"/>
                <a:ea typeface="文鼎细圆" pitchFamily="49" charset="-122"/>
              </a:rPr>
              <a:t>ace </a:t>
            </a:r>
            <a:r>
              <a:rPr kumimoji="1" lang="en-US" altLang="zh-CN" b="1">
                <a:solidFill>
                  <a:srgbClr val="66C80C"/>
                </a:solidFill>
                <a:effectLst>
                  <a:outerShdw blurRad="38100" dist="38100" dir="2700000" algn="tl">
                    <a:srgbClr val="000000"/>
                  </a:outerShdw>
                </a:effectLst>
                <a:latin typeface="Arial" charset="0"/>
                <a:ea typeface="文鼎细圆" pitchFamily="49" charset="-122"/>
              </a:rPr>
              <a:t>L1</a:t>
            </a:r>
          </a:p>
        </p:txBody>
      </p:sp>
      <p:sp>
        <p:nvSpPr>
          <p:cNvPr id="2439397" name="Rectangle 229">
            <a:extLst>
              <a:ext uri="{FF2B5EF4-FFF2-40B4-BE49-F238E27FC236}">
                <a16:creationId xmlns:a16="http://schemas.microsoft.com/office/drawing/2014/main" id="{DBFC4E91-FA53-429A-9197-F0DF9B2CCBA8}"/>
              </a:ext>
            </a:extLst>
          </p:cNvPr>
          <p:cNvSpPr>
            <a:spLocks noChangeArrowheads="1"/>
          </p:cNvSpPr>
          <p:nvPr/>
        </p:nvSpPr>
        <p:spPr bwMode="auto">
          <a:xfrm>
            <a:off x="6934200" y="4419600"/>
            <a:ext cx="1524000" cy="228600"/>
          </a:xfrm>
          <a:prstGeom prst="rect">
            <a:avLst/>
          </a:prstGeom>
          <a:solidFill>
            <a:schemeClr val="bg1"/>
          </a:solidFill>
          <a:ln>
            <a:noFill/>
          </a:ln>
          <a:extLs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lnSpc>
                <a:spcPct val="75000"/>
              </a:lnSpc>
              <a:buClr>
                <a:schemeClr val="accent1"/>
              </a:buClr>
              <a:buSzPct val="90000"/>
              <a:buFont typeface="Monotype Sorts" pitchFamily="2" charset="2"/>
              <a:buNone/>
            </a:pPr>
            <a:r>
              <a:rPr kumimoji="1" lang="en-US" altLang="zh-CN" sz="1800" b="1">
                <a:solidFill>
                  <a:srgbClr val="D35FC2"/>
                </a:solidFill>
                <a:ea typeface="文鼎细圆" pitchFamily="49" charset="-122"/>
              </a:rPr>
              <a:t>T1 T2 T3 T4</a:t>
            </a:r>
          </a:p>
        </p:txBody>
      </p:sp>
      <p:sp>
        <p:nvSpPr>
          <p:cNvPr id="2439398" name="Rectangle 230">
            <a:extLst>
              <a:ext uri="{FF2B5EF4-FFF2-40B4-BE49-F238E27FC236}">
                <a16:creationId xmlns:a16="http://schemas.microsoft.com/office/drawing/2014/main" id="{61C26FBF-3C11-4B0F-BC8B-D902DED3028D}"/>
              </a:ext>
            </a:extLst>
          </p:cNvPr>
          <p:cNvSpPr>
            <a:spLocks noChangeArrowheads="1"/>
          </p:cNvSpPr>
          <p:nvPr/>
        </p:nvSpPr>
        <p:spPr bwMode="auto">
          <a:xfrm>
            <a:off x="8610600" y="4343400"/>
            <a:ext cx="914400" cy="304800"/>
          </a:xfrm>
          <a:prstGeom prst="rect">
            <a:avLst/>
          </a:prstGeom>
          <a:solidFill>
            <a:schemeClr val="bg1"/>
          </a:solidFill>
          <a:ln w="38100" cmpd="dbl">
            <a:noFill/>
            <a:miter lim="800000"/>
            <a:headEnd/>
            <a:tailEnd/>
          </a:ln>
          <a:effectLst/>
        </p:spPr>
        <p:txBody>
          <a:bodyPr wrap="none" anchor="ctr"/>
          <a:lstStyle/>
          <a:p>
            <a:pPr algn="ctr" eaLnBrk="1" hangingPunct="1">
              <a:spcBef>
                <a:spcPct val="20000"/>
              </a:spcBef>
              <a:buClr>
                <a:schemeClr val="accent1"/>
              </a:buClr>
              <a:buSzPct val="90000"/>
              <a:buFont typeface="Monotype Sorts" pitchFamily="2" charset="2"/>
              <a:buNone/>
              <a:defRPr/>
            </a:pPr>
            <a:r>
              <a:rPr kumimoji="1" lang="en-US" altLang="zh-CN" b="1">
                <a:solidFill>
                  <a:srgbClr val="66C80C"/>
                </a:solidFill>
                <a:effectLst>
                  <a:outerShdw blurRad="38100" dist="38100" dir="2700000" algn="tl">
                    <a:srgbClr val="000000"/>
                  </a:outerShdw>
                </a:effectLst>
                <a:latin typeface="黑体" pitchFamily="2" charset="-122"/>
                <a:ea typeface="黑体" pitchFamily="2" charset="-122"/>
              </a:rPr>
              <a:t>①,⑤</a:t>
            </a:r>
            <a:endParaRPr kumimoji="1" lang="en-US" altLang="zh-CN" b="1">
              <a:solidFill>
                <a:srgbClr val="66C80C"/>
              </a:solidFill>
              <a:effectLst>
                <a:outerShdw blurRad="38100" dist="38100" dir="2700000" algn="tl">
                  <a:srgbClr val="000000"/>
                </a:outerShdw>
              </a:effectLst>
              <a:latin typeface="Arial" charset="0"/>
              <a:ea typeface="文鼎细圆" pitchFamily="49" charset="-122"/>
            </a:endParaRPr>
          </a:p>
        </p:txBody>
      </p:sp>
      <p:sp>
        <p:nvSpPr>
          <p:cNvPr id="2439399" name="Rectangle 231">
            <a:extLst>
              <a:ext uri="{FF2B5EF4-FFF2-40B4-BE49-F238E27FC236}">
                <a16:creationId xmlns:a16="http://schemas.microsoft.com/office/drawing/2014/main" id="{BC22DD69-13F9-4241-AC42-3B88269F4788}"/>
              </a:ext>
            </a:extLst>
          </p:cNvPr>
          <p:cNvSpPr>
            <a:spLocks noChangeArrowheads="1"/>
          </p:cNvSpPr>
          <p:nvPr/>
        </p:nvSpPr>
        <p:spPr bwMode="auto">
          <a:xfrm>
            <a:off x="3962400" y="4876800"/>
            <a:ext cx="1524000" cy="304800"/>
          </a:xfrm>
          <a:prstGeom prst="rect">
            <a:avLst/>
          </a:prstGeom>
          <a:solidFill>
            <a:schemeClr val="bg1"/>
          </a:solidFill>
          <a:ln>
            <a:noFill/>
          </a:ln>
          <a:extLs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lnSpc>
                <a:spcPct val="75000"/>
              </a:lnSpc>
              <a:buClr>
                <a:schemeClr val="accent1"/>
              </a:buClr>
              <a:buSzPct val="90000"/>
              <a:buFont typeface="Monotype Sorts" pitchFamily="2" charset="2"/>
              <a:buNone/>
            </a:pPr>
            <a:r>
              <a:rPr kumimoji="1" lang="en-US" altLang="zh-CN" sz="1800" b="1">
                <a:solidFill>
                  <a:srgbClr val="D35FC2"/>
                </a:solidFill>
                <a:ea typeface="文鼎细圆" pitchFamily="49" charset="-122"/>
              </a:rPr>
              <a:t>(2,1,1),(2,1,2)</a:t>
            </a:r>
          </a:p>
        </p:txBody>
      </p:sp>
      <p:sp>
        <p:nvSpPr>
          <p:cNvPr id="2439400" name="Rectangle 232">
            <a:extLst>
              <a:ext uri="{FF2B5EF4-FFF2-40B4-BE49-F238E27FC236}">
                <a16:creationId xmlns:a16="http://schemas.microsoft.com/office/drawing/2014/main" id="{BCB71D8D-E9BC-431B-AC48-3E08E5F8EA2D}"/>
              </a:ext>
            </a:extLst>
          </p:cNvPr>
          <p:cNvSpPr>
            <a:spLocks noChangeArrowheads="1"/>
          </p:cNvSpPr>
          <p:nvPr/>
        </p:nvSpPr>
        <p:spPr bwMode="auto">
          <a:xfrm>
            <a:off x="5715000" y="4876800"/>
            <a:ext cx="838200" cy="304800"/>
          </a:xfrm>
          <a:prstGeom prst="rect">
            <a:avLst/>
          </a:prstGeom>
          <a:solidFill>
            <a:schemeClr val="bg1"/>
          </a:solidFill>
          <a:ln w="38100" cmpd="dbl">
            <a:noFill/>
            <a:miter lim="800000"/>
            <a:headEnd/>
            <a:tailEnd/>
          </a:ln>
          <a:effectLst/>
        </p:spPr>
        <p:txBody>
          <a:bodyPr wrap="none" anchor="ctr"/>
          <a:lstStyle/>
          <a:p>
            <a:pPr eaLnBrk="1" hangingPunct="1">
              <a:lnSpc>
                <a:spcPct val="75000"/>
              </a:lnSpc>
              <a:spcBef>
                <a:spcPct val="20000"/>
              </a:spcBef>
              <a:buClr>
                <a:schemeClr val="accent1"/>
              </a:buClr>
              <a:buSzPct val="90000"/>
              <a:buFont typeface="Monotype Sorts" pitchFamily="2" charset="2"/>
              <a:buNone/>
              <a:defRPr/>
            </a:pPr>
            <a:r>
              <a:rPr kumimoji="1" lang="en-US" altLang="zh-CN" b="1">
                <a:solidFill>
                  <a:srgbClr val="D35FC2"/>
                </a:solidFill>
                <a:latin typeface="Arial" charset="0"/>
                <a:ea typeface="文鼎细圆" pitchFamily="49" charset="-122"/>
              </a:rPr>
              <a:t>abe </a:t>
            </a:r>
            <a:r>
              <a:rPr kumimoji="1" lang="en-US" altLang="zh-CN" b="1">
                <a:solidFill>
                  <a:srgbClr val="66C80C"/>
                </a:solidFill>
                <a:effectLst>
                  <a:outerShdw blurRad="38100" dist="38100" dir="2700000" algn="tl">
                    <a:srgbClr val="000000"/>
                  </a:outerShdw>
                </a:effectLst>
                <a:latin typeface="Arial" charset="0"/>
                <a:ea typeface="文鼎细圆" pitchFamily="49" charset="-122"/>
              </a:rPr>
              <a:t>L3</a:t>
            </a:r>
          </a:p>
        </p:txBody>
      </p:sp>
      <p:grpSp>
        <p:nvGrpSpPr>
          <p:cNvPr id="3" name="Group 236">
            <a:extLst>
              <a:ext uri="{FF2B5EF4-FFF2-40B4-BE49-F238E27FC236}">
                <a16:creationId xmlns:a16="http://schemas.microsoft.com/office/drawing/2014/main" id="{BB16CEAF-A0A3-4291-A8FD-368D32B60100}"/>
              </a:ext>
            </a:extLst>
          </p:cNvPr>
          <p:cNvGrpSpPr>
            <a:grpSpLocks/>
          </p:cNvGrpSpPr>
          <p:nvPr/>
        </p:nvGrpSpPr>
        <p:grpSpPr bwMode="auto">
          <a:xfrm>
            <a:off x="6934200" y="4800600"/>
            <a:ext cx="1524000" cy="381000"/>
            <a:chOff x="4224" y="2496"/>
            <a:chExt cx="960" cy="240"/>
          </a:xfrm>
        </p:grpSpPr>
        <p:sp>
          <p:nvSpPr>
            <p:cNvPr id="56412" name="Rectangle 233">
              <a:extLst>
                <a:ext uri="{FF2B5EF4-FFF2-40B4-BE49-F238E27FC236}">
                  <a16:creationId xmlns:a16="http://schemas.microsoft.com/office/drawing/2014/main" id="{49D85579-35D7-4415-BB49-BD9179B86CCC}"/>
                </a:ext>
              </a:extLst>
            </p:cNvPr>
            <p:cNvSpPr>
              <a:spLocks noChangeArrowheads="1"/>
            </p:cNvSpPr>
            <p:nvPr/>
          </p:nvSpPr>
          <p:spPr bwMode="auto">
            <a:xfrm>
              <a:off x="4224" y="2496"/>
              <a:ext cx="960" cy="240"/>
            </a:xfrm>
            <a:prstGeom prst="rect">
              <a:avLst/>
            </a:prstGeom>
            <a:solidFill>
              <a:schemeClr val="bg1"/>
            </a:solidFill>
            <a:ln>
              <a:noFill/>
            </a:ln>
            <a:extLst>
              <a:ext uri="{91240B29-F687-4F45-9708-019B960494DF}">
                <a14:hiddenLine xmlns:a14="http://schemas.microsoft.com/office/drawing/2010/main" w="38100" cmpd="dbl">
                  <a:solidFill>
                    <a:srgbClr val="000000"/>
                  </a:solidFill>
                  <a:miter lim="800000"/>
                  <a:headEnd/>
                  <a:tailEnd/>
                </a14:hiddenLine>
              </a:ext>
            </a:extLst>
          </p:spPr>
          <p:txBody>
            <a:bodyPr wrap="none" anchor="b"/>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lnSpc>
                  <a:spcPct val="75000"/>
                </a:lnSpc>
                <a:buClr>
                  <a:schemeClr val="accent1"/>
                </a:buClr>
                <a:buSzPct val="90000"/>
                <a:buFont typeface="Monotype Sorts" pitchFamily="2" charset="2"/>
                <a:buNone/>
              </a:pPr>
              <a:r>
                <a:rPr kumimoji="1" lang="en-US" altLang="zh-CN" sz="1800" b="1">
                  <a:solidFill>
                    <a:srgbClr val="D35FC2"/>
                  </a:solidFill>
                  <a:ea typeface="文鼎细圆" pitchFamily="49" charset="-122"/>
                </a:rPr>
                <a:t>T1 T2 T3 T4</a:t>
              </a:r>
            </a:p>
          </p:txBody>
        </p:sp>
        <p:sp>
          <p:nvSpPr>
            <p:cNvPr id="56413" name="Line 234">
              <a:extLst>
                <a:ext uri="{FF2B5EF4-FFF2-40B4-BE49-F238E27FC236}">
                  <a16:creationId xmlns:a16="http://schemas.microsoft.com/office/drawing/2014/main" id="{8F3F8FF3-0913-44F5-9308-75EC2E9FE9AC}"/>
                </a:ext>
              </a:extLst>
            </p:cNvPr>
            <p:cNvSpPr>
              <a:spLocks noChangeShapeType="1"/>
            </p:cNvSpPr>
            <p:nvPr/>
          </p:nvSpPr>
          <p:spPr bwMode="auto">
            <a:xfrm>
              <a:off x="4464" y="2544"/>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14" name="Line 235">
              <a:extLst>
                <a:ext uri="{FF2B5EF4-FFF2-40B4-BE49-F238E27FC236}">
                  <a16:creationId xmlns:a16="http://schemas.microsoft.com/office/drawing/2014/main" id="{37C52983-200D-4CF9-AD44-76439A984447}"/>
                </a:ext>
              </a:extLst>
            </p:cNvPr>
            <p:cNvSpPr>
              <a:spLocks noChangeShapeType="1"/>
            </p:cNvSpPr>
            <p:nvPr/>
          </p:nvSpPr>
          <p:spPr bwMode="auto">
            <a:xfrm>
              <a:off x="4896" y="2544"/>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439405" name="Rectangle 237">
            <a:extLst>
              <a:ext uri="{FF2B5EF4-FFF2-40B4-BE49-F238E27FC236}">
                <a16:creationId xmlns:a16="http://schemas.microsoft.com/office/drawing/2014/main" id="{80345536-D4A9-48F2-B5D1-B22323114248}"/>
              </a:ext>
            </a:extLst>
          </p:cNvPr>
          <p:cNvSpPr>
            <a:spLocks noChangeArrowheads="1"/>
          </p:cNvSpPr>
          <p:nvPr/>
        </p:nvSpPr>
        <p:spPr bwMode="auto">
          <a:xfrm>
            <a:off x="8610600" y="4800600"/>
            <a:ext cx="914400" cy="304800"/>
          </a:xfrm>
          <a:prstGeom prst="rect">
            <a:avLst/>
          </a:prstGeom>
          <a:solidFill>
            <a:schemeClr val="bg1"/>
          </a:solidFill>
          <a:ln w="38100" cmpd="dbl">
            <a:noFill/>
            <a:miter lim="800000"/>
            <a:headEnd/>
            <a:tailEnd/>
          </a:ln>
          <a:effectLst/>
        </p:spPr>
        <p:txBody>
          <a:bodyPr wrap="none" anchor="ctr"/>
          <a:lstStyle/>
          <a:p>
            <a:pPr algn="ctr" eaLnBrk="1" hangingPunct="1">
              <a:spcBef>
                <a:spcPct val="20000"/>
              </a:spcBef>
              <a:buClr>
                <a:schemeClr val="accent1"/>
              </a:buClr>
              <a:buSzPct val="90000"/>
              <a:buFont typeface="Monotype Sorts" pitchFamily="2" charset="2"/>
              <a:buNone/>
              <a:defRPr/>
            </a:pPr>
            <a:r>
              <a:rPr kumimoji="1" lang="zh-CN" altLang="en-US" b="1">
                <a:solidFill>
                  <a:srgbClr val="66C80C"/>
                </a:solidFill>
                <a:effectLst>
                  <a:outerShdw blurRad="38100" dist="38100" dir="2700000" algn="tl">
                    <a:srgbClr val="000000"/>
                  </a:outerShdw>
                </a:effectLst>
                <a:latin typeface="Times New Roman" charset="0"/>
                <a:ea typeface="文鼎细圆" pitchFamily="49" charset="-122"/>
              </a:rPr>
              <a:t>②</a:t>
            </a:r>
            <a:r>
              <a:rPr kumimoji="1" lang="en-US" altLang="zh-CN" b="1">
                <a:solidFill>
                  <a:srgbClr val="66C80C"/>
                </a:solidFill>
                <a:effectLst>
                  <a:outerShdw blurRad="38100" dist="38100" dir="2700000" algn="tl">
                    <a:srgbClr val="000000"/>
                  </a:outerShdw>
                </a:effectLst>
                <a:latin typeface="黑体" pitchFamily="2" charset="-122"/>
                <a:ea typeface="黑体" pitchFamily="2" charset="-122"/>
              </a:rPr>
              <a:t>,</a:t>
            </a:r>
            <a:r>
              <a:rPr kumimoji="1" lang="zh-CN" altLang="en-US" b="1">
                <a:solidFill>
                  <a:srgbClr val="66C80C"/>
                </a:solidFill>
                <a:effectLst>
                  <a:outerShdw blurRad="38100" dist="38100" dir="2700000" algn="tl">
                    <a:srgbClr val="000000"/>
                  </a:outerShdw>
                </a:effectLst>
                <a:latin typeface="Times New Roman" charset="0"/>
                <a:ea typeface="文鼎细圆" pitchFamily="49" charset="-122"/>
              </a:rPr>
              <a:t>⑥</a:t>
            </a:r>
            <a:endParaRPr kumimoji="1" lang="en-US" altLang="zh-CN" b="1">
              <a:solidFill>
                <a:srgbClr val="66C80C"/>
              </a:solidFill>
              <a:effectLst>
                <a:outerShdw blurRad="38100" dist="38100" dir="2700000" algn="tl">
                  <a:srgbClr val="000000"/>
                </a:outerShdw>
              </a:effectLst>
              <a:latin typeface="Times New Roman" charset="0"/>
              <a:ea typeface="文鼎细圆" pitchFamily="49" charset="-122"/>
            </a:endParaRPr>
          </a:p>
        </p:txBody>
      </p:sp>
      <p:sp>
        <p:nvSpPr>
          <p:cNvPr id="2439406" name="Rectangle 238">
            <a:extLst>
              <a:ext uri="{FF2B5EF4-FFF2-40B4-BE49-F238E27FC236}">
                <a16:creationId xmlns:a16="http://schemas.microsoft.com/office/drawing/2014/main" id="{3D166B58-361E-49AF-899D-E316E2D22247}"/>
              </a:ext>
            </a:extLst>
          </p:cNvPr>
          <p:cNvSpPr>
            <a:spLocks noChangeArrowheads="1"/>
          </p:cNvSpPr>
          <p:nvPr/>
        </p:nvSpPr>
        <p:spPr bwMode="auto">
          <a:xfrm>
            <a:off x="3962400" y="5334000"/>
            <a:ext cx="1524000" cy="304800"/>
          </a:xfrm>
          <a:prstGeom prst="rect">
            <a:avLst/>
          </a:prstGeom>
          <a:solidFill>
            <a:schemeClr val="bg1"/>
          </a:solidFill>
          <a:ln>
            <a:noFill/>
          </a:ln>
          <a:extLs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lnSpc>
                <a:spcPct val="75000"/>
              </a:lnSpc>
              <a:buClr>
                <a:schemeClr val="accent1"/>
              </a:buClr>
              <a:buSzPct val="90000"/>
              <a:buFont typeface="Monotype Sorts" pitchFamily="2" charset="2"/>
              <a:buNone/>
            </a:pPr>
            <a:r>
              <a:rPr kumimoji="1" lang="en-US" altLang="zh-CN" sz="1800" b="1">
                <a:solidFill>
                  <a:srgbClr val="D35FC2"/>
                </a:solidFill>
                <a:ea typeface="文鼎细圆" pitchFamily="49" charset="-122"/>
              </a:rPr>
              <a:t>(1,0,3),(1,0,4)</a:t>
            </a:r>
          </a:p>
        </p:txBody>
      </p:sp>
      <p:sp>
        <p:nvSpPr>
          <p:cNvPr id="2439407" name="Rectangle 239">
            <a:extLst>
              <a:ext uri="{FF2B5EF4-FFF2-40B4-BE49-F238E27FC236}">
                <a16:creationId xmlns:a16="http://schemas.microsoft.com/office/drawing/2014/main" id="{D194AD89-70BD-4B81-A0EC-33339D0139E5}"/>
              </a:ext>
            </a:extLst>
          </p:cNvPr>
          <p:cNvSpPr>
            <a:spLocks noChangeArrowheads="1"/>
          </p:cNvSpPr>
          <p:nvPr/>
        </p:nvSpPr>
        <p:spPr bwMode="auto">
          <a:xfrm>
            <a:off x="5715000" y="5334000"/>
            <a:ext cx="838200" cy="304800"/>
          </a:xfrm>
          <a:prstGeom prst="rect">
            <a:avLst/>
          </a:prstGeom>
          <a:solidFill>
            <a:schemeClr val="bg1"/>
          </a:solidFill>
          <a:ln w="38100" cmpd="dbl">
            <a:noFill/>
            <a:miter lim="800000"/>
            <a:headEnd/>
            <a:tailEnd/>
          </a:ln>
          <a:effectLst/>
        </p:spPr>
        <p:txBody>
          <a:bodyPr wrap="none" anchor="ctr"/>
          <a:lstStyle/>
          <a:p>
            <a:pPr eaLnBrk="1" hangingPunct="1">
              <a:lnSpc>
                <a:spcPct val="75000"/>
              </a:lnSpc>
              <a:spcBef>
                <a:spcPct val="20000"/>
              </a:spcBef>
              <a:buClr>
                <a:schemeClr val="accent1"/>
              </a:buClr>
              <a:buSzPct val="90000"/>
              <a:buFont typeface="Monotype Sorts" pitchFamily="2" charset="2"/>
              <a:buNone/>
              <a:defRPr/>
            </a:pPr>
            <a:r>
              <a:rPr kumimoji="1" lang="en-US" altLang="zh-CN" b="1">
                <a:solidFill>
                  <a:srgbClr val="D35FC2"/>
                </a:solidFill>
                <a:latin typeface="Arial" charset="0"/>
                <a:ea typeface="文鼎细圆" pitchFamily="49" charset="-122"/>
              </a:rPr>
              <a:t>abe </a:t>
            </a:r>
            <a:r>
              <a:rPr kumimoji="1" lang="en-US" altLang="zh-CN" b="1">
                <a:solidFill>
                  <a:srgbClr val="66C80C"/>
                </a:solidFill>
                <a:effectLst>
                  <a:outerShdw blurRad="38100" dist="38100" dir="2700000" algn="tl">
                    <a:srgbClr val="000000"/>
                  </a:outerShdw>
                </a:effectLst>
                <a:latin typeface="Arial" charset="0"/>
                <a:ea typeface="文鼎细圆" pitchFamily="49" charset="-122"/>
              </a:rPr>
              <a:t>L3</a:t>
            </a:r>
          </a:p>
        </p:txBody>
      </p:sp>
      <p:grpSp>
        <p:nvGrpSpPr>
          <p:cNvPr id="4" name="Group 244">
            <a:extLst>
              <a:ext uri="{FF2B5EF4-FFF2-40B4-BE49-F238E27FC236}">
                <a16:creationId xmlns:a16="http://schemas.microsoft.com/office/drawing/2014/main" id="{2429D64A-53AB-4B06-B828-098DE1691B1D}"/>
              </a:ext>
            </a:extLst>
          </p:cNvPr>
          <p:cNvGrpSpPr>
            <a:grpSpLocks/>
          </p:cNvGrpSpPr>
          <p:nvPr/>
        </p:nvGrpSpPr>
        <p:grpSpPr bwMode="auto">
          <a:xfrm>
            <a:off x="6934200" y="5257800"/>
            <a:ext cx="1524000" cy="381000"/>
            <a:chOff x="4800" y="2928"/>
            <a:chExt cx="960" cy="240"/>
          </a:xfrm>
        </p:grpSpPr>
        <p:sp>
          <p:nvSpPr>
            <p:cNvPr id="56409" name="Rectangle 241">
              <a:extLst>
                <a:ext uri="{FF2B5EF4-FFF2-40B4-BE49-F238E27FC236}">
                  <a16:creationId xmlns:a16="http://schemas.microsoft.com/office/drawing/2014/main" id="{FC70245B-D91A-4C79-A50A-BCB8D3A2BDF4}"/>
                </a:ext>
              </a:extLst>
            </p:cNvPr>
            <p:cNvSpPr>
              <a:spLocks noChangeArrowheads="1"/>
            </p:cNvSpPr>
            <p:nvPr/>
          </p:nvSpPr>
          <p:spPr bwMode="auto">
            <a:xfrm>
              <a:off x="4800" y="2928"/>
              <a:ext cx="960" cy="240"/>
            </a:xfrm>
            <a:prstGeom prst="rect">
              <a:avLst/>
            </a:prstGeom>
            <a:solidFill>
              <a:schemeClr val="bg1"/>
            </a:solidFill>
            <a:ln>
              <a:noFill/>
            </a:ln>
            <a:extLst>
              <a:ext uri="{91240B29-F687-4F45-9708-019B960494DF}">
                <a14:hiddenLine xmlns:a14="http://schemas.microsoft.com/office/drawing/2010/main" w="38100" cmpd="dbl">
                  <a:solidFill>
                    <a:srgbClr val="000000"/>
                  </a:solidFill>
                  <a:miter lim="800000"/>
                  <a:headEnd/>
                  <a:tailEnd/>
                </a14:hiddenLine>
              </a:ext>
            </a:extLst>
          </p:spPr>
          <p:txBody>
            <a:bodyPr wrap="none" anchor="b"/>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lnSpc>
                  <a:spcPct val="75000"/>
                </a:lnSpc>
                <a:buClr>
                  <a:schemeClr val="accent1"/>
                </a:buClr>
                <a:buSzPct val="90000"/>
                <a:buFont typeface="Monotype Sorts" pitchFamily="2" charset="2"/>
                <a:buNone/>
              </a:pPr>
              <a:r>
                <a:rPr kumimoji="1" lang="en-US" altLang="zh-CN" sz="1800" b="1">
                  <a:solidFill>
                    <a:srgbClr val="D35FC2"/>
                  </a:solidFill>
                  <a:ea typeface="文鼎细圆" pitchFamily="49" charset="-122"/>
                </a:rPr>
                <a:t>T1 T2 T3 T4</a:t>
              </a:r>
            </a:p>
          </p:txBody>
        </p:sp>
        <p:sp>
          <p:nvSpPr>
            <p:cNvPr id="56410" name="Line 242">
              <a:extLst>
                <a:ext uri="{FF2B5EF4-FFF2-40B4-BE49-F238E27FC236}">
                  <a16:creationId xmlns:a16="http://schemas.microsoft.com/office/drawing/2014/main" id="{0F98CF61-BBD5-4124-BEF2-241099F78799}"/>
                </a:ext>
              </a:extLst>
            </p:cNvPr>
            <p:cNvSpPr>
              <a:spLocks noChangeShapeType="1"/>
            </p:cNvSpPr>
            <p:nvPr/>
          </p:nvSpPr>
          <p:spPr bwMode="auto">
            <a:xfrm>
              <a:off x="4848" y="2976"/>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11" name="Line 243">
              <a:extLst>
                <a:ext uri="{FF2B5EF4-FFF2-40B4-BE49-F238E27FC236}">
                  <a16:creationId xmlns:a16="http://schemas.microsoft.com/office/drawing/2014/main" id="{2436C279-7A0C-4BD6-B2E4-E3CE612D1564}"/>
                </a:ext>
              </a:extLst>
            </p:cNvPr>
            <p:cNvSpPr>
              <a:spLocks noChangeShapeType="1"/>
            </p:cNvSpPr>
            <p:nvPr/>
          </p:nvSpPr>
          <p:spPr bwMode="auto">
            <a:xfrm>
              <a:off x="5280" y="2976"/>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439413" name="Rectangle 245">
            <a:extLst>
              <a:ext uri="{FF2B5EF4-FFF2-40B4-BE49-F238E27FC236}">
                <a16:creationId xmlns:a16="http://schemas.microsoft.com/office/drawing/2014/main" id="{B2E6A651-AF70-403F-9E0A-6F90DD772908}"/>
              </a:ext>
            </a:extLst>
          </p:cNvPr>
          <p:cNvSpPr>
            <a:spLocks noChangeArrowheads="1"/>
          </p:cNvSpPr>
          <p:nvPr/>
        </p:nvSpPr>
        <p:spPr bwMode="auto">
          <a:xfrm>
            <a:off x="8610600" y="5257800"/>
            <a:ext cx="914400" cy="304800"/>
          </a:xfrm>
          <a:prstGeom prst="rect">
            <a:avLst/>
          </a:prstGeom>
          <a:solidFill>
            <a:schemeClr val="bg1"/>
          </a:solidFill>
          <a:ln w="38100" cmpd="dbl">
            <a:noFill/>
            <a:miter lim="800000"/>
            <a:headEnd/>
            <a:tailEnd/>
          </a:ln>
          <a:effectLst/>
        </p:spPr>
        <p:txBody>
          <a:bodyPr wrap="none" anchor="ctr"/>
          <a:lstStyle/>
          <a:p>
            <a:pPr algn="ctr" eaLnBrk="1" hangingPunct="1">
              <a:spcBef>
                <a:spcPct val="20000"/>
              </a:spcBef>
              <a:buClr>
                <a:schemeClr val="accent1"/>
              </a:buClr>
              <a:buSzPct val="90000"/>
              <a:buFont typeface="Monotype Sorts" pitchFamily="2" charset="2"/>
              <a:buNone/>
              <a:defRPr/>
            </a:pPr>
            <a:r>
              <a:rPr kumimoji="1" lang="zh-CN" altLang="en-US" b="1">
                <a:solidFill>
                  <a:srgbClr val="66C80C"/>
                </a:solidFill>
                <a:effectLst>
                  <a:outerShdw blurRad="38100" dist="38100" dir="2700000" algn="tl">
                    <a:srgbClr val="000000"/>
                  </a:outerShdw>
                </a:effectLst>
                <a:latin typeface="Times New Roman" charset="0"/>
                <a:ea typeface="文鼎细圆" pitchFamily="49" charset="-122"/>
              </a:rPr>
              <a:t>③</a:t>
            </a:r>
            <a:r>
              <a:rPr kumimoji="1" lang="en-US" altLang="zh-CN" b="1">
                <a:solidFill>
                  <a:srgbClr val="66C80C"/>
                </a:solidFill>
                <a:effectLst>
                  <a:outerShdw blurRad="38100" dist="38100" dir="2700000" algn="tl">
                    <a:srgbClr val="000000"/>
                  </a:outerShdw>
                </a:effectLst>
                <a:latin typeface="黑体" pitchFamily="2" charset="-122"/>
                <a:ea typeface="黑体" pitchFamily="2" charset="-122"/>
              </a:rPr>
              <a:t>,</a:t>
            </a:r>
            <a:r>
              <a:rPr kumimoji="1" lang="en-US" altLang="zh-CN" b="1">
                <a:solidFill>
                  <a:srgbClr val="66C80C"/>
                </a:solidFill>
                <a:effectLst>
                  <a:outerShdw blurRad="38100" dist="38100" dir="2700000" algn="tl">
                    <a:srgbClr val="000000"/>
                  </a:outerShdw>
                </a:effectLst>
                <a:latin typeface="Times New Roman" charset="0"/>
                <a:ea typeface="文鼎细圆" pitchFamily="49" charset="-122"/>
              </a:rPr>
              <a:t>⑦</a:t>
            </a:r>
          </a:p>
        </p:txBody>
      </p:sp>
      <p:sp>
        <p:nvSpPr>
          <p:cNvPr id="2439414" name="Rectangle 246">
            <a:extLst>
              <a:ext uri="{FF2B5EF4-FFF2-40B4-BE49-F238E27FC236}">
                <a16:creationId xmlns:a16="http://schemas.microsoft.com/office/drawing/2014/main" id="{3C7349B3-C212-4B65-BDC5-AD0BF989208B}"/>
              </a:ext>
            </a:extLst>
          </p:cNvPr>
          <p:cNvSpPr>
            <a:spLocks noChangeArrowheads="1"/>
          </p:cNvSpPr>
          <p:nvPr/>
        </p:nvSpPr>
        <p:spPr bwMode="auto">
          <a:xfrm>
            <a:off x="3962400" y="5791200"/>
            <a:ext cx="1524000" cy="304800"/>
          </a:xfrm>
          <a:prstGeom prst="rect">
            <a:avLst/>
          </a:prstGeom>
          <a:solidFill>
            <a:schemeClr val="bg1"/>
          </a:solidFill>
          <a:ln>
            <a:noFill/>
          </a:ln>
          <a:extLs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lnSpc>
                <a:spcPct val="75000"/>
              </a:lnSpc>
              <a:buClr>
                <a:schemeClr val="accent1"/>
              </a:buClr>
              <a:buSzPct val="90000"/>
              <a:buFont typeface="Monotype Sorts" pitchFamily="2" charset="2"/>
              <a:buNone/>
            </a:pPr>
            <a:r>
              <a:rPr kumimoji="1" lang="en-US" altLang="zh-CN" sz="1800" b="1">
                <a:solidFill>
                  <a:srgbClr val="D35FC2"/>
                </a:solidFill>
                <a:ea typeface="文鼎细圆" pitchFamily="49" charset="-122"/>
              </a:rPr>
              <a:t>(1,1,1),(1,1,1)</a:t>
            </a:r>
          </a:p>
        </p:txBody>
      </p:sp>
      <p:sp>
        <p:nvSpPr>
          <p:cNvPr id="2439415" name="Rectangle 247">
            <a:extLst>
              <a:ext uri="{FF2B5EF4-FFF2-40B4-BE49-F238E27FC236}">
                <a16:creationId xmlns:a16="http://schemas.microsoft.com/office/drawing/2014/main" id="{284CE9A7-8B93-4904-80CD-A4CE176C8B2A}"/>
              </a:ext>
            </a:extLst>
          </p:cNvPr>
          <p:cNvSpPr>
            <a:spLocks noChangeArrowheads="1"/>
          </p:cNvSpPr>
          <p:nvPr/>
        </p:nvSpPr>
        <p:spPr bwMode="auto">
          <a:xfrm>
            <a:off x="5715000" y="5791200"/>
            <a:ext cx="838200" cy="304800"/>
          </a:xfrm>
          <a:prstGeom prst="rect">
            <a:avLst/>
          </a:prstGeom>
          <a:solidFill>
            <a:schemeClr val="bg1"/>
          </a:solidFill>
          <a:ln w="38100" cmpd="dbl">
            <a:noFill/>
            <a:miter lim="800000"/>
            <a:headEnd/>
            <a:tailEnd/>
          </a:ln>
          <a:effectLst/>
        </p:spPr>
        <p:txBody>
          <a:bodyPr wrap="none" anchor="ctr"/>
          <a:lstStyle/>
          <a:p>
            <a:pPr eaLnBrk="1" hangingPunct="1">
              <a:lnSpc>
                <a:spcPct val="75000"/>
              </a:lnSpc>
              <a:spcBef>
                <a:spcPct val="20000"/>
              </a:spcBef>
              <a:buClr>
                <a:schemeClr val="accent1"/>
              </a:buClr>
              <a:buSzPct val="90000"/>
              <a:buFont typeface="Monotype Sorts" pitchFamily="2" charset="2"/>
              <a:buNone/>
              <a:defRPr/>
            </a:pPr>
            <a:r>
              <a:rPr kumimoji="1" lang="en-US" altLang="zh-CN" b="1">
                <a:solidFill>
                  <a:srgbClr val="D35FC2"/>
                </a:solidFill>
                <a:latin typeface="Arial" charset="0"/>
                <a:ea typeface="文鼎细圆" pitchFamily="49" charset="-122"/>
              </a:rPr>
              <a:t>abd </a:t>
            </a:r>
            <a:r>
              <a:rPr kumimoji="1" lang="en-US" altLang="zh-CN" b="1">
                <a:solidFill>
                  <a:srgbClr val="66C80C"/>
                </a:solidFill>
                <a:effectLst>
                  <a:outerShdw blurRad="38100" dist="38100" dir="2700000" algn="tl">
                    <a:srgbClr val="000000"/>
                  </a:outerShdw>
                </a:effectLst>
                <a:latin typeface="Arial" charset="0"/>
                <a:ea typeface="文鼎细圆" pitchFamily="49" charset="-122"/>
              </a:rPr>
              <a:t>L2</a:t>
            </a:r>
          </a:p>
        </p:txBody>
      </p:sp>
      <p:grpSp>
        <p:nvGrpSpPr>
          <p:cNvPr id="5" name="Group 254">
            <a:extLst>
              <a:ext uri="{FF2B5EF4-FFF2-40B4-BE49-F238E27FC236}">
                <a16:creationId xmlns:a16="http://schemas.microsoft.com/office/drawing/2014/main" id="{BC67AD9E-A7BC-4044-ACE8-49F41A309047}"/>
              </a:ext>
            </a:extLst>
          </p:cNvPr>
          <p:cNvGrpSpPr>
            <a:grpSpLocks/>
          </p:cNvGrpSpPr>
          <p:nvPr/>
        </p:nvGrpSpPr>
        <p:grpSpPr bwMode="auto">
          <a:xfrm>
            <a:off x="6934200" y="5715000"/>
            <a:ext cx="1524000" cy="381000"/>
            <a:chOff x="4800" y="3168"/>
            <a:chExt cx="960" cy="240"/>
          </a:xfrm>
        </p:grpSpPr>
        <p:sp>
          <p:nvSpPr>
            <p:cNvPr id="56404" name="Rectangle 249">
              <a:extLst>
                <a:ext uri="{FF2B5EF4-FFF2-40B4-BE49-F238E27FC236}">
                  <a16:creationId xmlns:a16="http://schemas.microsoft.com/office/drawing/2014/main" id="{102FD051-6D74-4F78-B5B4-465DC8BA9CA3}"/>
                </a:ext>
              </a:extLst>
            </p:cNvPr>
            <p:cNvSpPr>
              <a:spLocks noChangeArrowheads="1"/>
            </p:cNvSpPr>
            <p:nvPr/>
          </p:nvSpPr>
          <p:spPr bwMode="auto">
            <a:xfrm>
              <a:off x="4800" y="3168"/>
              <a:ext cx="960" cy="240"/>
            </a:xfrm>
            <a:prstGeom prst="rect">
              <a:avLst/>
            </a:prstGeom>
            <a:solidFill>
              <a:schemeClr val="bg1"/>
            </a:solidFill>
            <a:ln>
              <a:noFill/>
            </a:ln>
            <a:extLst>
              <a:ext uri="{91240B29-F687-4F45-9708-019B960494DF}">
                <a14:hiddenLine xmlns:a14="http://schemas.microsoft.com/office/drawing/2010/main" w="38100" cmpd="dbl">
                  <a:solidFill>
                    <a:srgbClr val="000000"/>
                  </a:solidFill>
                  <a:miter lim="800000"/>
                  <a:headEnd/>
                  <a:tailEnd/>
                </a14:hiddenLine>
              </a:ext>
            </a:extLst>
          </p:spPr>
          <p:txBody>
            <a:bodyPr wrap="none" anchor="b"/>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lnSpc>
                  <a:spcPct val="75000"/>
                </a:lnSpc>
                <a:buClr>
                  <a:schemeClr val="accent1"/>
                </a:buClr>
                <a:buSzPct val="90000"/>
                <a:buFont typeface="Monotype Sorts" pitchFamily="2" charset="2"/>
                <a:buNone/>
              </a:pPr>
              <a:r>
                <a:rPr kumimoji="1" lang="en-US" altLang="zh-CN" sz="1800" b="1">
                  <a:solidFill>
                    <a:srgbClr val="D35FC2"/>
                  </a:solidFill>
                  <a:ea typeface="文鼎细圆" pitchFamily="49" charset="-122"/>
                </a:rPr>
                <a:t>T1 T2 T3 T4</a:t>
              </a:r>
            </a:p>
          </p:txBody>
        </p:sp>
        <p:sp>
          <p:nvSpPr>
            <p:cNvPr id="56405" name="Line 250">
              <a:extLst>
                <a:ext uri="{FF2B5EF4-FFF2-40B4-BE49-F238E27FC236}">
                  <a16:creationId xmlns:a16="http://schemas.microsoft.com/office/drawing/2014/main" id="{56F7D93F-B5F7-41F2-96BC-D32A452D76ED}"/>
                </a:ext>
              </a:extLst>
            </p:cNvPr>
            <p:cNvSpPr>
              <a:spLocks noChangeShapeType="1"/>
            </p:cNvSpPr>
            <p:nvPr/>
          </p:nvSpPr>
          <p:spPr bwMode="auto">
            <a:xfrm>
              <a:off x="4848" y="3216"/>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06" name="Line 251">
              <a:extLst>
                <a:ext uri="{FF2B5EF4-FFF2-40B4-BE49-F238E27FC236}">
                  <a16:creationId xmlns:a16="http://schemas.microsoft.com/office/drawing/2014/main" id="{BF47F441-AFE8-4AE6-B282-5FC1B692B673}"/>
                </a:ext>
              </a:extLst>
            </p:cNvPr>
            <p:cNvSpPr>
              <a:spLocks noChangeShapeType="1"/>
            </p:cNvSpPr>
            <p:nvPr/>
          </p:nvSpPr>
          <p:spPr bwMode="auto">
            <a:xfrm>
              <a:off x="5280" y="3216"/>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07" name="Line 252">
              <a:extLst>
                <a:ext uri="{FF2B5EF4-FFF2-40B4-BE49-F238E27FC236}">
                  <a16:creationId xmlns:a16="http://schemas.microsoft.com/office/drawing/2014/main" id="{E79132FA-DCA6-497C-BD6A-5D8157FD6C94}"/>
                </a:ext>
              </a:extLst>
            </p:cNvPr>
            <p:cNvSpPr>
              <a:spLocks noChangeShapeType="1"/>
            </p:cNvSpPr>
            <p:nvPr/>
          </p:nvSpPr>
          <p:spPr bwMode="auto">
            <a:xfrm>
              <a:off x="5040" y="3216"/>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08" name="Line 253">
              <a:extLst>
                <a:ext uri="{FF2B5EF4-FFF2-40B4-BE49-F238E27FC236}">
                  <a16:creationId xmlns:a16="http://schemas.microsoft.com/office/drawing/2014/main" id="{4B7D525E-2D14-4F40-AF5F-28F10349929B}"/>
                </a:ext>
              </a:extLst>
            </p:cNvPr>
            <p:cNvSpPr>
              <a:spLocks noChangeShapeType="1"/>
            </p:cNvSpPr>
            <p:nvPr/>
          </p:nvSpPr>
          <p:spPr bwMode="auto">
            <a:xfrm>
              <a:off x="5472" y="3216"/>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439423" name="Rectangle 255">
            <a:extLst>
              <a:ext uri="{FF2B5EF4-FFF2-40B4-BE49-F238E27FC236}">
                <a16:creationId xmlns:a16="http://schemas.microsoft.com/office/drawing/2014/main" id="{6EBF33EE-B4BD-4E46-A880-B2F0004E8881}"/>
              </a:ext>
            </a:extLst>
          </p:cNvPr>
          <p:cNvSpPr>
            <a:spLocks noChangeArrowheads="1"/>
          </p:cNvSpPr>
          <p:nvPr/>
        </p:nvSpPr>
        <p:spPr bwMode="auto">
          <a:xfrm>
            <a:off x="8610600" y="5715000"/>
            <a:ext cx="914400" cy="304800"/>
          </a:xfrm>
          <a:prstGeom prst="rect">
            <a:avLst/>
          </a:prstGeom>
          <a:solidFill>
            <a:schemeClr val="bg1"/>
          </a:solidFill>
          <a:ln w="38100" cmpd="dbl">
            <a:noFill/>
            <a:miter lim="800000"/>
            <a:headEnd/>
            <a:tailEnd/>
          </a:ln>
          <a:effectLst/>
        </p:spPr>
        <p:txBody>
          <a:bodyPr wrap="none" anchor="ctr"/>
          <a:lstStyle/>
          <a:p>
            <a:pPr algn="ctr" eaLnBrk="1" hangingPunct="1">
              <a:spcBef>
                <a:spcPct val="20000"/>
              </a:spcBef>
              <a:buClr>
                <a:schemeClr val="accent1"/>
              </a:buClr>
              <a:buSzPct val="90000"/>
              <a:buFont typeface="Monotype Sorts" pitchFamily="2" charset="2"/>
              <a:buNone/>
              <a:defRPr/>
            </a:pPr>
            <a:r>
              <a:rPr kumimoji="1" lang="zh-CN" altLang="en-US" b="1">
                <a:solidFill>
                  <a:srgbClr val="66C80C"/>
                </a:solidFill>
                <a:effectLst>
                  <a:outerShdw blurRad="38100" dist="38100" dir="2700000" algn="tl">
                    <a:srgbClr val="000000"/>
                  </a:outerShdw>
                </a:effectLst>
                <a:latin typeface="Times New Roman" charset="0"/>
                <a:ea typeface="文鼎细圆" pitchFamily="49" charset="-122"/>
              </a:rPr>
              <a:t>④</a:t>
            </a:r>
            <a:r>
              <a:rPr kumimoji="1" lang="en-US" altLang="zh-CN" b="1">
                <a:solidFill>
                  <a:srgbClr val="66C80C"/>
                </a:solidFill>
                <a:effectLst>
                  <a:outerShdw blurRad="38100" dist="38100" dir="2700000" algn="tl">
                    <a:srgbClr val="000000"/>
                  </a:outerShdw>
                </a:effectLst>
                <a:latin typeface="黑体" pitchFamily="2" charset="-122"/>
                <a:ea typeface="黑体" pitchFamily="2" charset="-122"/>
              </a:rPr>
              <a:t>,</a:t>
            </a:r>
            <a:r>
              <a:rPr kumimoji="1" lang="en-US" altLang="zh-CN" b="1">
                <a:solidFill>
                  <a:srgbClr val="66C80C"/>
                </a:solidFill>
                <a:effectLst>
                  <a:outerShdw blurRad="38100" dist="38100" dir="2700000" algn="tl">
                    <a:srgbClr val="000000"/>
                  </a:outerShdw>
                </a:effectLst>
                <a:latin typeface="Times New Roman" charset="0"/>
                <a:ea typeface="文鼎细圆" pitchFamily="49" charset="-122"/>
              </a:rPr>
              <a:t>⑧</a:t>
            </a:r>
          </a:p>
        </p:txBody>
      </p:sp>
      <p:sp>
        <p:nvSpPr>
          <p:cNvPr id="56401" name="Line 280">
            <a:extLst>
              <a:ext uri="{FF2B5EF4-FFF2-40B4-BE49-F238E27FC236}">
                <a16:creationId xmlns:a16="http://schemas.microsoft.com/office/drawing/2014/main" id="{55BF51F6-C514-4E73-8B0E-A3D4C9C38C8D}"/>
              </a:ext>
            </a:extLst>
          </p:cNvPr>
          <p:cNvSpPr>
            <a:spLocks noChangeShapeType="1"/>
          </p:cNvSpPr>
          <p:nvPr/>
        </p:nvSpPr>
        <p:spPr bwMode="auto">
          <a:xfrm>
            <a:off x="7848600" y="23622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02" name="Line 281">
            <a:extLst>
              <a:ext uri="{FF2B5EF4-FFF2-40B4-BE49-F238E27FC236}">
                <a16:creationId xmlns:a16="http://schemas.microsoft.com/office/drawing/2014/main" id="{1AD9183A-AD18-409B-A34B-A7E81AA3AE7D}"/>
              </a:ext>
            </a:extLst>
          </p:cNvPr>
          <p:cNvSpPr>
            <a:spLocks noChangeShapeType="1"/>
          </p:cNvSpPr>
          <p:nvPr/>
        </p:nvSpPr>
        <p:spPr bwMode="auto">
          <a:xfrm>
            <a:off x="8153400" y="28194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403" name="Line 282">
            <a:extLst>
              <a:ext uri="{FF2B5EF4-FFF2-40B4-BE49-F238E27FC236}">
                <a16:creationId xmlns:a16="http://schemas.microsoft.com/office/drawing/2014/main" id="{41FF016F-472B-4956-A10B-03BB572F553C}"/>
              </a:ext>
            </a:extLst>
          </p:cNvPr>
          <p:cNvSpPr>
            <a:spLocks noChangeShapeType="1"/>
          </p:cNvSpPr>
          <p:nvPr/>
        </p:nvSpPr>
        <p:spPr bwMode="auto">
          <a:xfrm>
            <a:off x="7848600" y="28194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439395"/>
                                        </p:tgtEl>
                                        <p:attrNameLst>
                                          <p:attrName>style.visibility</p:attrName>
                                        </p:attrNameLst>
                                      </p:cBhvr>
                                      <p:to>
                                        <p:strVal val="visible"/>
                                      </p:to>
                                    </p:set>
                                    <p:animEffect transition="in" filter="blinds(vertical)">
                                      <p:cBhvr>
                                        <p:cTn id="7" dur="500"/>
                                        <p:tgtEl>
                                          <p:spTgt spid="24393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2439396"/>
                                        </p:tgtEl>
                                        <p:attrNameLst>
                                          <p:attrName>style.visibility</p:attrName>
                                        </p:attrNameLst>
                                      </p:cBhvr>
                                      <p:to>
                                        <p:strVal val="visible"/>
                                      </p:to>
                                    </p:set>
                                    <p:animEffect transition="in" filter="blinds(vertical)">
                                      <p:cBhvr>
                                        <p:cTn id="12" dur="500"/>
                                        <p:tgtEl>
                                          <p:spTgt spid="24393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2439397"/>
                                        </p:tgtEl>
                                        <p:attrNameLst>
                                          <p:attrName>style.visibility</p:attrName>
                                        </p:attrNameLst>
                                      </p:cBhvr>
                                      <p:to>
                                        <p:strVal val="visible"/>
                                      </p:to>
                                    </p:set>
                                    <p:animEffect transition="in" filter="blinds(vertical)">
                                      <p:cBhvr>
                                        <p:cTn id="17" dur="500"/>
                                        <p:tgtEl>
                                          <p:spTgt spid="24393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2439398"/>
                                        </p:tgtEl>
                                        <p:attrNameLst>
                                          <p:attrName>style.visibility</p:attrName>
                                        </p:attrNameLst>
                                      </p:cBhvr>
                                      <p:to>
                                        <p:strVal val="visible"/>
                                      </p:to>
                                    </p:set>
                                    <p:animEffect transition="in" filter="blinds(vertical)">
                                      <p:cBhvr>
                                        <p:cTn id="22" dur="500"/>
                                        <p:tgtEl>
                                          <p:spTgt spid="243939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2439399"/>
                                        </p:tgtEl>
                                        <p:attrNameLst>
                                          <p:attrName>style.visibility</p:attrName>
                                        </p:attrNameLst>
                                      </p:cBhvr>
                                      <p:to>
                                        <p:strVal val="visible"/>
                                      </p:to>
                                    </p:set>
                                    <p:animEffect transition="in" filter="blinds(vertical)">
                                      <p:cBhvr>
                                        <p:cTn id="27" dur="500"/>
                                        <p:tgtEl>
                                          <p:spTgt spid="243939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439400"/>
                                        </p:tgtEl>
                                        <p:attrNameLst>
                                          <p:attrName>style.visibility</p:attrName>
                                        </p:attrNameLst>
                                      </p:cBhvr>
                                      <p:to>
                                        <p:strVal val="visible"/>
                                      </p:to>
                                    </p:set>
                                    <p:animEffect transition="in" filter="blinds(horizontal)">
                                      <p:cBhvr>
                                        <p:cTn id="32" dur="500"/>
                                        <p:tgtEl>
                                          <p:spTgt spid="243940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blinds(horizontal)">
                                      <p:cBhvr>
                                        <p:cTn id="37" dur="500"/>
                                        <p:tgtEl>
                                          <p:spTgt spid="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5" fill="hold" grpId="0" nodeType="clickEffect">
                                  <p:stCondLst>
                                    <p:cond delay="0"/>
                                  </p:stCondLst>
                                  <p:childTnLst>
                                    <p:set>
                                      <p:cBhvr>
                                        <p:cTn id="41" dur="1" fill="hold">
                                          <p:stCondLst>
                                            <p:cond delay="0"/>
                                          </p:stCondLst>
                                        </p:cTn>
                                        <p:tgtEl>
                                          <p:spTgt spid="2439405"/>
                                        </p:tgtEl>
                                        <p:attrNameLst>
                                          <p:attrName>style.visibility</p:attrName>
                                        </p:attrNameLst>
                                      </p:cBhvr>
                                      <p:to>
                                        <p:strVal val="visible"/>
                                      </p:to>
                                    </p:set>
                                    <p:animEffect transition="in" filter="blinds(vertical)">
                                      <p:cBhvr>
                                        <p:cTn id="42" dur="500"/>
                                        <p:tgtEl>
                                          <p:spTgt spid="243940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5" fill="hold" grpId="0" nodeType="clickEffect">
                                  <p:stCondLst>
                                    <p:cond delay="0"/>
                                  </p:stCondLst>
                                  <p:childTnLst>
                                    <p:set>
                                      <p:cBhvr>
                                        <p:cTn id="46" dur="1" fill="hold">
                                          <p:stCondLst>
                                            <p:cond delay="0"/>
                                          </p:stCondLst>
                                        </p:cTn>
                                        <p:tgtEl>
                                          <p:spTgt spid="2439406"/>
                                        </p:tgtEl>
                                        <p:attrNameLst>
                                          <p:attrName>style.visibility</p:attrName>
                                        </p:attrNameLst>
                                      </p:cBhvr>
                                      <p:to>
                                        <p:strVal val="visible"/>
                                      </p:to>
                                    </p:set>
                                    <p:animEffect transition="in" filter="blinds(vertical)">
                                      <p:cBhvr>
                                        <p:cTn id="47" dur="500"/>
                                        <p:tgtEl>
                                          <p:spTgt spid="243940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439407"/>
                                        </p:tgtEl>
                                        <p:attrNameLst>
                                          <p:attrName>style.visibility</p:attrName>
                                        </p:attrNameLst>
                                      </p:cBhvr>
                                      <p:to>
                                        <p:strVal val="visible"/>
                                      </p:to>
                                    </p:set>
                                    <p:animEffect transition="in" filter="blinds(horizontal)">
                                      <p:cBhvr>
                                        <p:cTn id="52" dur="500"/>
                                        <p:tgtEl>
                                          <p:spTgt spid="243940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blinds(horizontal)">
                                      <p:cBhvr>
                                        <p:cTn id="57" dur="500"/>
                                        <p:tgtEl>
                                          <p:spTgt spid="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5" fill="hold" grpId="0" nodeType="clickEffect">
                                  <p:stCondLst>
                                    <p:cond delay="0"/>
                                  </p:stCondLst>
                                  <p:childTnLst>
                                    <p:set>
                                      <p:cBhvr>
                                        <p:cTn id="61" dur="1" fill="hold">
                                          <p:stCondLst>
                                            <p:cond delay="0"/>
                                          </p:stCondLst>
                                        </p:cTn>
                                        <p:tgtEl>
                                          <p:spTgt spid="2439413"/>
                                        </p:tgtEl>
                                        <p:attrNameLst>
                                          <p:attrName>style.visibility</p:attrName>
                                        </p:attrNameLst>
                                      </p:cBhvr>
                                      <p:to>
                                        <p:strVal val="visible"/>
                                      </p:to>
                                    </p:set>
                                    <p:animEffect transition="in" filter="blinds(vertical)">
                                      <p:cBhvr>
                                        <p:cTn id="62" dur="500"/>
                                        <p:tgtEl>
                                          <p:spTgt spid="243941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5" fill="hold" grpId="0" nodeType="clickEffect">
                                  <p:stCondLst>
                                    <p:cond delay="0"/>
                                  </p:stCondLst>
                                  <p:childTnLst>
                                    <p:set>
                                      <p:cBhvr>
                                        <p:cTn id="66" dur="1" fill="hold">
                                          <p:stCondLst>
                                            <p:cond delay="0"/>
                                          </p:stCondLst>
                                        </p:cTn>
                                        <p:tgtEl>
                                          <p:spTgt spid="2439414"/>
                                        </p:tgtEl>
                                        <p:attrNameLst>
                                          <p:attrName>style.visibility</p:attrName>
                                        </p:attrNameLst>
                                      </p:cBhvr>
                                      <p:to>
                                        <p:strVal val="visible"/>
                                      </p:to>
                                    </p:set>
                                    <p:animEffect transition="in" filter="blinds(vertical)">
                                      <p:cBhvr>
                                        <p:cTn id="67" dur="500"/>
                                        <p:tgtEl>
                                          <p:spTgt spid="243941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439415"/>
                                        </p:tgtEl>
                                        <p:attrNameLst>
                                          <p:attrName>style.visibility</p:attrName>
                                        </p:attrNameLst>
                                      </p:cBhvr>
                                      <p:to>
                                        <p:strVal val="visible"/>
                                      </p:to>
                                    </p:set>
                                    <p:animEffect transition="in" filter="blinds(horizontal)">
                                      <p:cBhvr>
                                        <p:cTn id="72" dur="500"/>
                                        <p:tgtEl>
                                          <p:spTgt spid="2439415"/>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nodeType="clickEffect">
                                  <p:stCondLst>
                                    <p:cond delay="0"/>
                                  </p:stCondLst>
                                  <p:childTnLst>
                                    <p:set>
                                      <p:cBhvr>
                                        <p:cTn id="76" dur="1" fill="hold">
                                          <p:stCondLst>
                                            <p:cond delay="0"/>
                                          </p:stCondLst>
                                        </p:cTn>
                                        <p:tgtEl>
                                          <p:spTgt spid="5"/>
                                        </p:tgtEl>
                                        <p:attrNameLst>
                                          <p:attrName>style.visibility</p:attrName>
                                        </p:attrNameLst>
                                      </p:cBhvr>
                                      <p:to>
                                        <p:strVal val="visible"/>
                                      </p:to>
                                    </p:set>
                                    <p:animEffect transition="in" filter="blinds(horizontal)">
                                      <p:cBhvr>
                                        <p:cTn id="77" dur="500"/>
                                        <p:tgtEl>
                                          <p:spTgt spid="5"/>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5" fill="hold" grpId="0" nodeType="clickEffect">
                                  <p:stCondLst>
                                    <p:cond delay="0"/>
                                  </p:stCondLst>
                                  <p:childTnLst>
                                    <p:set>
                                      <p:cBhvr>
                                        <p:cTn id="81" dur="1" fill="hold">
                                          <p:stCondLst>
                                            <p:cond delay="0"/>
                                          </p:stCondLst>
                                        </p:cTn>
                                        <p:tgtEl>
                                          <p:spTgt spid="2439423"/>
                                        </p:tgtEl>
                                        <p:attrNameLst>
                                          <p:attrName>style.visibility</p:attrName>
                                        </p:attrNameLst>
                                      </p:cBhvr>
                                      <p:to>
                                        <p:strVal val="visible"/>
                                      </p:to>
                                    </p:set>
                                    <p:animEffect transition="in" filter="blinds(vertical)">
                                      <p:cBhvr>
                                        <p:cTn id="82" dur="500"/>
                                        <p:tgtEl>
                                          <p:spTgt spid="24394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9395" grpId="0" animBg="1" autoUpdateAnimBg="0"/>
      <p:bldP spid="2439396" grpId="0" animBg="1" autoUpdateAnimBg="0"/>
      <p:bldP spid="2439397" grpId="0" animBg="1" autoUpdateAnimBg="0"/>
      <p:bldP spid="2439398" grpId="0" animBg="1" autoUpdateAnimBg="0"/>
      <p:bldP spid="2439399" grpId="0" animBg="1" autoUpdateAnimBg="0"/>
      <p:bldP spid="2439400" grpId="0" animBg="1" autoUpdateAnimBg="0"/>
      <p:bldP spid="2439405" grpId="0" animBg="1" autoUpdateAnimBg="0"/>
      <p:bldP spid="2439406" grpId="0" animBg="1" autoUpdateAnimBg="0"/>
      <p:bldP spid="2439407" grpId="0" animBg="1" autoUpdateAnimBg="0"/>
      <p:bldP spid="2439413" grpId="0" animBg="1" autoUpdateAnimBg="0"/>
      <p:bldP spid="2439414" grpId="0" animBg="1" autoUpdateAnimBg="0"/>
      <p:bldP spid="2439415" grpId="0" animBg="1" autoUpdateAnimBg="0"/>
      <p:bldP spid="2439423" grpId="0" animBg="1" autoUpdateAnimBg="0"/>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日期占位符 1">
            <a:extLst>
              <a:ext uri="{FF2B5EF4-FFF2-40B4-BE49-F238E27FC236}">
                <a16:creationId xmlns:a16="http://schemas.microsoft.com/office/drawing/2014/main" id="{3BE87DEF-BBBB-4E20-8D64-83576444B763}"/>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3FCC5D27-53C4-4E6E-97A9-A739262E0375}"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2443267" name="Rectangle 3075">
            <a:hlinkClick r:id="rId3" action="ppaction://hlinksldjump"/>
            <a:extLst>
              <a:ext uri="{FF2B5EF4-FFF2-40B4-BE49-F238E27FC236}">
                <a16:creationId xmlns:a16="http://schemas.microsoft.com/office/drawing/2014/main" id="{7AFD0FE9-AFEC-4FAA-BE8F-67840E3CDFC9}"/>
              </a:ext>
            </a:extLst>
          </p:cNvPr>
          <p:cNvSpPr>
            <a:spLocks noChangeArrowheads="1"/>
          </p:cNvSpPr>
          <p:nvPr/>
        </p:nvSpPr>
        <p:spPr bwMode="auto">
          <a:xfrm>
            <a:off x="3581400" y="2895600"/>
            <a:ext cx="6248400" cy="2133600"/>
          </a:xfrm>
          <a:prstGeom prst="rect">
            <a:avLst/>
          </a:prstGeom>
          <a:noFill/>
          <a:ln w="38100" cmpd="dbl">
            <a:solidFill>
              <a:srgbClr val="70E5E8"/>
            </a:solidFill>
            <a:miter lim="800000"/>
            <a:headEnd/>
            <a:tailEnd/>
          </a:ln>
          <a:extLst>
            <a:ext uri="{909E8E84-426E-40DD-AFC4-6F175D3DCCD1}">
              <a14:hiddenFill xmlns:a14="http://schemas.microsoft.com/office/drawing/2010/main">
                <a:solidFill>
                  <a:srgbClr val="FFFFFF"/>
                </a:solidFill>
              </a14:hiddenFill>
            </a:ext>
          </a:extLst>
        </p:spPr>
        <p:txBody>
          <a:bodyPr wrap="none" anchor="b"/>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nSpc>
                <a:spcPct val="110000"/>
              </a:lnSpc>
              <a:spcBef>
                <a:spcPct val="0"/>
              </a:spcBef>
              <a:buFontTx/>
              <a:buNone/>
            </a:pPr>
            <a:r>
              <a:rPr lang="zh-CN" altLang="en-US" sz="2000">
                <a:solidFill>
                  <a:srgbClr val="669CC4"/>
                </a:solidFill>
                <a:latin typeface="黑体" panose="02010609060101010101" pitchFamily="49" charset="-122"/>
                <a:ea typeface="黑体" panose="02010609060101010101" pitchFamily="49" charset="-122"/>
              </a:rPr>
              <a:t>    路径测试就是设计足够的测试用例，覆盖程序中</a:t>
            </a:r>
          </a:p>
          <a:p>
            <a:pPr>
              <a:lnSpc>
                <a:spcPct val="110000"/>
              </a:lnSpc>
              <a:spcBef>
                <a:spcPct val="0"/>
              </a:spcBef>
              <a:buFontTx/>
              <a:buNone/>
            </a:pPr>
            <a:r>
              <a:rPr lang="zh-CN" altLang="en-US" sz="2000">
                <a:solidFill>
                  <a:srgbClr val="669CC4"/>
                </a:solidFill>
                <a:latin typeface="黑体" panose="02010609060101010101" pitchFamily="49" charset="-122"/>
                <a:ea typeface="黑体" panose="02010609060101010101" pitchFamily="49" charset="-122"/>
              </a:rPr>
              <a:t>每一条可能的程序</a:t>
            </a:r>
            <a:r>
              <a:rPr lang="zh-CN" altLang="en-US" sz="2000">
                <a:solidFill>
                  <a:srgbClr val="EF8D2B"/>
                </a:solidFill>
                <a:latin typeface="黑体" panose="02010609060101010101" pitchFamily="49" charset="-122"/>
                <a:ea typeface="黑体" panose="02010609060101010101" pitchFamily="49" charset="-122"/>
              </a:rPr>
              <a:t>执行路径</a:t>
            </a:r>
            <a:r>
              <a:rPr lang="zh-CN" altLang="en-US" sz="2000">
                <a:solidFill>
                  <a:srgbClr val="669CC4"/>
                </a:solidFill>
                <a:latin typeface="黑体" panose="02010609060101010101" pitchFamily="49" charset="-122"/>
                <a:ea typeface="黑体" panose="02010609060101010101" pitchFamily="49" charset="-122"/>
              </a:rPr>
              <a:t>至少测试一次，如果程序</a:t>
            </a:r>
          </a:p>
          <a:p>
            <a:pPr>
              <a:lnSpc>
                <a:spcPct val="110000"/>
              </a:lnSpc>
              <a:spcBef>
                <a:spcPct val="0"/>
              </a:spcBef>
              <a:buFontTx/>
              <a:buNone/>
            </a:pPr>
            <a:r>
              <a:rPr lang="zh-CN" altLang="en-US" sz="2000">
                <a:solidFill>
                  <a:srgbClr val="669CC4"/>
                </a:solidFill>
                <a:latin typeface="黑体" panose="02010609060101010101" pitchFamily="49" charset="-122"/>
                <a:ea typeface="黑体" panose="02010609060101010101" pitchFamily="49" charset="-122"/>
              </a:rPr>
              <a:t>中含有循环(在程序图中表现为</a:t>
            </a:r>
            <a:r>
              <a:rPr lang="zh-CN" altLang="en-US" sz="2000">
                <a:solidFill>
                  <a:srgbClr val="EF8D2B"/>
                </a:solidFill>
                <a:latin typeface="黑体" panose="02010609060101010101" pitchFamily="49" charset="-122"/>
                <a:ea typeface="黑体" panose="02010609060101010101" pitchFamily="49" charset="-122"/>
              </a:rPr>
              <a:t>环</a:t>
            </a:r>
            <a:r>
              <a:rPr lang="zh-CN" altLang="en-US" sz="2000">
                <a:solidFill>
                  <a:srgbClr val="669CC4"/>
                </a:solidFill>
                <a:latin typeface="黑体" panose="02010609060101010101" pitchFamily="49" charset="-122"/>
                <a:ea typeface="黑体" panose="02010609060101010101" pitchFamily="49" charset="-122"/>
              </a:rPr>
              <a:t>)则每个循环至少执</a:t>
            </a:r>
          </a:p>
          <a:p>
            <a:pPr>
              <a:lnSpc>
                <a:spcPct val="110000"/>
              </a:lnSpc>
              <a:spcBef>
                <a:spcPct val="0"/>
              </a:spcBef>
              <a:buFontTx/>
              <a:buNone/>
            </a:pPr>
            <a:r>
              <a:rPr lang="zh-CN" altLang="en-US" sz="2000">
                <a:solidFill>
                  <a:srgbClr val="669CC4"/>
                </a:solidFill>
                <a:latin typeface="黑体" panose="02010609060101010101" pitchFamily="49" charset="-122"/>
                <a:ea typeface="黑体" panose="02010609060101010101" pitchFamily="49" charset="-122"/>
              </a:rPr>
              <a:t>行一次。</a:t>
            </a:r>
          </a:p>
          <a:p>
            <a:pPr>
              <a:lnSpc>
                <a:spcPct val="110000"/>
              </a:lnSpc>
              <a:spcBef>
                <a:spcPct val="0"/>
              </a:spcBef>
              <a:buFontTx/>
              <a:buNone/>
            </a:pPr>
            <a:endParaRPr lang="zh-CN" altLang="en-US" sz="2000">
              <a:solidFill>
                <a:srgbClr val="669CC4"/>
              </a:solidFill>
              <a:latin typeface="黑体" panose="02010609060101010101" pitchFamily="49" charset="-122"/>
              <a:ea typeface="黑体" panose="02010609060101010101" pitchFamily="49" charset="-122"/>
            </a:endParaRPr>
          </a:p>
        </p:txBody>
      </p:sp>
      <p:sp>
        <p:nvSpPr>
          <p:cNvPr id="58372" name="Rectangle 3076">
            <a:extLst>
              <a:ext uri="{FF2B5EF4-FFF2-40B4-BE49-F238E27FC236}">
                <a16:creationId xmlns:a16="http://schemas.microsoft.com/office/drawing/2014/main" id="{9B5112B8-01CA-4CE2-9D42-2F58F98953E1}"/>
              </a:ext>
            </a:extLst>
          </p:cNvPr>
          <p:cNvSpPr>
            <a:spLocks noChangeArrowheads="1"/>
          </p:cNvSpPr>
          <p:nvPr/>
        </p:nvSpPr>
        <p:spPr bwMode="auto">
          <a:xfrm>
            <a:off x="5257800" y="2514600"/>
            <a:ext cx="2362200" cy="609600"/>
          </a:xfrm>
          <a:prstGeom prst="rect">
            <a:avLst/>
          </a:prstGeom>
          <a:solidFill>
            <a:schemeClr val="bg1"/>
          </a:solidFill>
          <a:ln w="9525">
            <a:solidFill>
              <a:srgbClr val="70E5E8"/>
            </a:solidFill>
            <a:miter lim="800000"/>
            <a:headEnd/>
            <a:tailEnd/>
          </a:ln>
          <a:effectLst>
            <a:outerShdw dist="107763" dir="2700000" algn="ctr" rotWithShape="0">
              <a:schemeClr val="bg2"/>
            </a:outerShdw>
          </a:effec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r>
              <a:rPr lang="zh-CN" altLang="en-US" sz="2000">
                <a:solidFill>
                  <a:srgbClr val="F68562"/>
                </a:solidFill>
                <a:latin typeface="Times New Roman" panose="02020603050405020304" pitchFamily="18" charset="0"/>
                <a:ea typeface="黑体" panose="02010609060101010101" pitchFamily="49" charset="-122"/>
              </a:rPr>
              <a:t>  二、路径测试法</a:t>
            </a:r>
            <a:endParaRPr lang="en-US" altLang="zh-CN" sz="2000">
              <a:solidFill>
                <a:srgbClr val="F68562"/>
              </a:solidFill>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43267"/>
                                        </p:tgtEl>
                                        <p:attrNameLst>
                                          <p:attrName>style.visibility</p:attrName>
                                        </p:attrNameLst>
                                      </p:cBhvr>
                                      <p:to>
                                        <p:strVal val="visible"/>
                                      </p:to>
                                    </p:set>
                                    <p:animEffect transition="in" filter="blinds(horizontal)">
                                      <p:cBhvr>
                                        <p:cTn id="7" dur="500"/>
                                        <p:tgtEl>
                                          <p:spTgt spid="2443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3267" grpId="0" animBg="1" autoUpdateAnimBg="0"/>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日期占位符 1">
            <a:extLst>
              <a:ext uri="{FF2B5EF4-FFF2-40B4-BE49-F238E27FC236}">
                <a16:creationId xmlns:a16="http://schemas.microsoft.com/office/drawing/2014/main" id="{B34795D0-EEB5-4246-BFAE-8180B52B543B}"/>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BA34C654-377F-493B-8823-244CE6435590}"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60419" name="Rectangle 1108">
            <a:extLst>
              <a:ext uri="{FF2B5EF4-FFF2-40B4-BE49-F238E27FC236}">
                <a16:creationId xmlns:a16="http://schemas.microsoft.com/office/drawing/2014/main" id="{0C164BCE-C42A-4C24-A08E-5DDB7E6CC187}"/>
              </a:ext>
            </a:extLst>
          </p:cNvPr>
          <p:cNvSpPr>
            <a:spLocks noChangeArrowheads="1"/>
          </p:cNvSpPr>
          <p:nvPr/>
        </p:nvSpPr>
        <p:spPr bwMode="auto">
          <a:xfrm>
            <a:off x="2971800" y="838200"/>
            <a:ext cx="7315200" cy="1066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endParaRPr lang="zh-CN" altLang="en-US" sz="2800">
              <a:solidFill>
                <a:schemeClr val="tx1"/>
              </a:solidFill>
              <a:latin typeface="Times New Roman" panose="02020603050405020304" pitchFamily="18" charset="0"/>
              <a:ea typeface="楷体_GB2312" pitchFamily="49" charset="-122"/>
            </a:endParaRPr>
          </a:p>
        </p:txBody>
      </p:sp>
      <p:grpSp>
        <p:nvGrpSpPr>
          <p:cNvPr id="2" name="Group 1107">
            <a:extLst>
              <a:ext uri="{FF2B5EF4-FFF2-40B4-BE49-F238E27FC236}">
                <a16:creationId xmlns:a16="http://schemas.microsoft.com/office/drawing/2014/main" id="{7F4819CF-0BD3-4908-9E31-1F3379513285}"/>
              </a:ext>
            </a:extLst>
          </p:cNvPr>
          <p:cNvGrpSpPr>
            <a:grpSpLocks/>
          </p:cNvGrpSpPr>
          <p:nvPr/>
        </p:nvGrpSpPr>
        <p:grpSpPr bwMode="auto">
          <a:xfrm>
            <a:off x="7391401" y="2209800"/>
            <a:ext cx="2411413" cy="3352800"/>
            <a:chOff x="3696" y="1392"/>
            <a:chExt cx="1519" cy="2112"/>
          </a:xfrm>
        </p:grpSpPr>
        <p:sp>
          <p:nvSpPr>
            <p:cNvPr id="60454" name="Oval 1057">
              <a:extLst>
                <a:ext uri="{FF2B5EF4-FFF2-40B4-BE49-F238E27FC236}">
                  <a16:creationId xmlns:a16="http://schemas.microsoft.com/office/drawing/2014/main" id="{42B6A847-4CA0-463A-82F1-0E963733D47B}"/>
                </a:ext>
              </a:extLst>
            </p:cNvPr>
            <p:cNvSpPr>
              <a:spLocks noChangeArrowheads="1"/>
            </p:cNvSpPr>
            <p:nvPr/>
          </p:nvSpPr>
          <p:spPr bwMode="auto">
            <a:xfrm>
              <a:off x="4320" y="1584"/>
              <a:ext cx="288" cy="288"/>
            </a:xfrm>
            <a:prstGeom prst="ellipse">
              <a:avLst/>
            </a:prstGeom>
            <a:solidFill>
              <a:schemeClr val="bg1"/>
            </a:solidFill>
            <a:ln w="9525">
              <a:solidFill>
                <a:srgbClr val="669CC4"/>
              </a:solidFill>
              <a:round/>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endParaRPr lang="zh-CN" altLang="en-US" sz="2800">
                <a:solidFill>
                  <a:schemeClr val="tx1"/>
                </a:solidFill>
                <a:latin typeface="Times New Roman" panose="02020603050405020304" pitchFamily="18" charset="0"/>
                <a:ea typeface="楷体_GB2312" pitchFamily="49" charset="-122"/>
              </a:endParaRPr>
            </a:p>
          </p:txBody>
        </p:sp>
        <p:sp>
          <p:nvSpPr>
            <p:cNvPr id="60455" name="Oval 1058">
              <a:extLst>
                <a:ext uri="{FF2B5EF4-FFF2-40B4-BE49-F238E27FC236}">
                  <a16:creationId xmlns:a16="http://schemas.microsoft.com/office/drawing/2014/main" id="{14B88098-21AD-4F98-B7E8-13C2221344DD}"/>
                </a:ext>
              </a:extLst>
            </p:cNvPr>
            <p:cNvSpPr>
              <a:spLocks noChangeArrowheads="1"/>
            </p:cNvSpPr>
            <p:nvPr/>
          </p:nvSpPr>
          <p:spPr bwMode="auto">
            <a:xfrm>
              <a:off x="4704" y="1920"/>
              <a:ext cx="288" cy="288"/>
            </a:xfrm>
            <a:prstGeom prst="ellipse">
              <a:avLst/>
            </a:prstGeom>
            <a:solidFill>
              <a:schemeClr val="bg1"/>
            </a:solidFill>
            <a:ln w="9525">
              <a:solidFill>
                <a:srgbClr val="669CC4"/>
              </a:solidFill>
              <a:round/>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endParaRPr lang="zh-CN" altLang="en-US" sz="2800">
                <a:solidFill>
                  <a:schemeClr val="tx1"/>
                </a:solidFill>
                <a:latin typeface="Times New Roman" panose="02020603050405020304" pitchFamily="18" charset="0"/>
                <a:ea typeface="楷体_GB2312" pitchFamily="49" charset="-122"/>
              </a:endParaRPr>
            </a:p>
          </p:txBody>
        </p:sp>
        <p:sp>
          <p:nvSpPr>
            <p:cNvPr id="60456" name="Arc 1059">
              <a:extLst>
                <a:ext uri="{FF2B5EF4-FFF2-40B4-BE49-F238E27FC236}">
                  <a16:creationId xmlns:a16="http://schemas.microsoft.com/office/drawing/2014/main" id="{38B66179-3826-427B-BE66-7624849F14E2}"/>
                </a:ext>
              </a:extLst>
            </p:cNvPr>
            <p:cNvSpPr>
              <a:spLocks/>
            </p:cNvSpPr>
            <p:nvPr/>
          </p:nvSpPr>
          <p:spPr bwMode="auto">
            <a:xfrm>
              <a:off x="4608" y="1728"/>
              <a:ext cx="192"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669CC4"/>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457" name="Arc 1060">
              <a:extLst>
                <a:ext uri="{FF2B5EF4-FFF2-40B4-BE49-F238E27FC236}">
                  <a16:creationId xmlns:a16="http://schemas.microsoft.com/office/drawing/2014/main" id="{0D5EE7E4-0587-4B46-8CC8-8C313E63F48B}"/>
                </a:ext>
              </a:extLst>
            </p:cNvPr>
            <p:cNvSpPr>
              <a:spLocks/>
            </p:cNvSpPr>
            <p:nvPr/>
          </p:nvSpPr>
          <p:spPr bwMode="auto">
            <a:xfrm flipV="1">
              <a:off x="4608" y="2208"/>
              <a:ext cx="240"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669CC4"/>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458" name="Arc 1061">
              <a:extLst>
                <a:ext uri="{FF2B5EF4-FFF2-40B4-BE49-F238E27FC236}">
                  <a16:creationId xmlns:a16="http://schemas.microsoft.com/office/drawing/2014/main" id="{B31B6D3D-4704-47A6-B583-699B7C8D0262}"/>
                </a:ext>
              </a:extLst>
            </p:cNvPr>
            <p:cNvSpPr>
              <a:spLocks/>
            </p:cNvSpPr>
            <p:nvPr/>
          </p:nvSpPr>
          <p:spPr bwMode="auto">
            <a:xfrm flipH="1">
              <a:off x="4032" y="1728"/>
              <a:ext cx="288" cy="3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669CC4"/>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459" name="Arc 1062">
              <a:extLst>
                <a:ext uri="{FF2B5EF4-FFF2-40B4-BE49-F238E27FC236}">
                  <a16:creationId xmlns:a16="http://schemas.microsoft.com/office/drawing/2014/main" id="{47EC469F-26B7-4B07-BABB-2569FC1932A9}"/>
                </a:ext>
              </a:extLst>
            </p:cNvPr>
            <p:cNvSpPr>
              <a:spLocks/>
            </p:cNvSpPr>
            <p:nvPr/>
          </p:nvSpPr>
          <p:spPr bwMode="auto">
            <a:xfrm flipH="1" flipV="1">
              <a:off x="4032" y="2064"/>
              <a:ext cx="288" cy="3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669CC4"/>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460" name="Oval 1063">
              <a:extLst>
                <a:ext uri="{FF2B5EF4-FFF2-40B4-BE49-F238E27FC236}">
                  <a16:creationId xmlns:a16="http://schemas.microsoft.com/office/drawing/2014/main" id="{8D48D1D7-B7B5-44B7-A9D2-A444E55B3EEE}"/>
                </a:ext>
              </a:extLst>
            </p:cNvPr>
            <p:cNvSpPr>
              <a:spLocks noChangeArrowheads="1"/>
            </p:cNvSpPr>
            <p:nvPr/>
          </p:nvSpPr>
          <p:spPr bwMode="auto">
            <a:xfrm>
              <a:off x="4320" y="2352"/>
              <a:ext cx="288" cy="288"/>
            </a:xfrm>
            <a:prstGeom prst="ellipse">
              <a:avLst/>
            </a:prstGeom>
            <a:solidFill>
              <a:schemeClr val="bg1"/>
            </a:solidFill>
            <a:ln w="9525">
              <a:solidFill>
                <a:srgbClr val="669CC4"/>
              </a:solidFill>
              <a:round/>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endParaRPr lang="zh-CN" altLang="en-US" sz="2800">
                <a:solidFill>
                  <a:schemeClr val="tx1"/>
                </a:solidFill>
                <a:latin typeface="Times New Roman" panose="02020603050405020304" pitchFamily="18" charset="0"/>
                <a:ea typeface="楷体_GB2312" pitchFamily="49" charset="-122"/>
              </a:endParaRPr>
            </a:p>
          </p:txBody>
        </p:sp>
        <p:sp>
          <p:nvSpPr>
            <p:cNvPr id="60461" name="Oval 1064">
              <a:extLst>
                <a:ext uri="{FF2B5EF4-FFF2-40B4-BE49-F238E27FC236}">
                  <a16:creationId xmlns:a16="http://schemas.microsoft.com/office/drawing/2014/main" id="{7281ED16-CF60-48E6-ADE3-719DB5B9DCC3}"/>
                </a:ext>
              </a:extLst>
            </p:cNvPr>
            <p:cNvSpPr>
              <a:spLocks noChangeArrowheads="1"/>
            </p:cNvSpPr>
            <p:nvPr/>
          </p:nvSpPr>
          <p:spPr bwMode="auto">
            <a:xfrm>
              <a:off x="4656" y="2736"/>
              <a:ext cx="288" cy="288"/>
            </a:xfrm>
            <a:prstGeom prst="ellipse">
              <a:avLst/>
            </a:prstGeom>
            <a:solidFill>
              <a:schemeClr val="bg1"/>
            </a:solidFill>
            <a:ln w="9525">
              <a:solidFill>
                <a:srgbClr val="669CC4"/>
              </a:solidFill>
              <a:round/>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endParaRPr lang="zh-CN" altLang="en-US" sz="2800">
                <a:solidFill>
                  <a:schemeClr val="tx1"/>
                </a:solidFill>
                <a:latin typeface="Times New Roman" panose="02020603050405020304" pitchFamily="18" charset="0"/>
                <a:ea typeface="楷体_GB2312" pitchFamily="49" charset="-122"/>
              </a:endParaRPr>
            </a:p>
          </p:txBody>
        </p:sp>
        <p:sp>
          <p:nvSpPr>
            <p:cNvPr id="60462" name="Arc 1065">
              <a:extLst>
                <a:ext uri="{FF2B5EF4-FFF2-40B4-BE49-F238E27FC236}">
                  <a16:creationId xmlns:a16="http://schemas.microsoft.com/office/drawing/2014/main" id="{A3F77C8F-E537-4C6B-AA6C-7E2FD6B7114C}"/>
                </a:ext>
              </a:extLst>
            </p:cNvPr>
            <p:cNvSpPr>
              <a:spLocks/>
            </p:cNvSpPr>
            <p:nvPr/>
          </p:nvSpPr>
          <p:spPr bwMode="auto">
            <a:xfrm>
              <a:off x="4608" y="2496"/>
              <a:ext cx="192"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669CC4"/>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463" name="Arc 1066">
              <a:extLst>
                <a:ext uri="{FF2B5EF4-FFF2-40B4-BE49-F238E27FC236}">
                  <a16:creationId xmlns:a16="http://schemas.microsoft.com/office/drawing/2014/main" id="{14BBCAC1-F3CC-4EFD-A572-2490BADB19AC}"/>
                </a:ext>
              </a:extLst>
            </p:cNvPr>
            <p:cNvSpPr>
              <a:spLocks/>
            </p:cNvSpPr>
            <p:nvPr/>
          </p:nvSpPr>
          <p:spPr bwMode="auto">
            <a:xfrm flipV="1">
              <a:off x="4464" y="3024"/>
              <a:ext cx="336"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669CC4"/>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464" name="Arc 1067">
              <a:extLst>
                <a:ext uri="{FF2B5EF4-FFF2-40B4-BE49-F238E27FC236}">
                  <a16:creationId xmlns:a16="http://schemas.microsoft.com/office/drawing/2014/main" id="{1C15955C-295D-44F8-A460-21FA6B3E1DE2}"/>
                </a:ext>
              </a:extLst>
            </p:cNvPr>
            <p:cNvSpPr>
              <a:spLocks/>
            </p:cNvSpPr>
            <p:nvPr/>
          </p:nvSpPr>
          <p:spPr bwMode="auto">
            <a:xfrm flipH="1">
              <a:off x="4032" y="2496"/>
              <a:ext cx="288" cy="3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669CC4"/>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465" name="Arc 1068">
              <a:extLst>
                <a:ext uri="{FF2B5EF4-FFF2-40B4-BE49-F238E27FC236}">
                  <a16:creationId xmlns:a16="http://schemas.microsoft.com/office/drawing/2014/main" id="{7B0D0E65-B78D-4388-930E-4080C3AB4AB3}"/>
                </a:ext>
              </a:extLst>
            </p:cNvPr>
            <p:cNvSpPr>
              <a:spLocks/>
            </p:cNvSpPr>
            <p:nvPr/>
          </p:nvSpPr>
          <p:spPr bwMode="auto">
            <a:xfrm flipH="1" flipV="1">
              <a:off x="4032" y="2832"/>
              <a:ext cx="432" cy="3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669CC4"/>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0466" name="Line 1069">
              <a:extLst>
                <a:ext uri="{FF2B5EF4-FFF2-40B4-BE49-F238E27FC236}">
                  <a16:creationId xmlns:a16="http://schemas.microsoft.com/office/drawing/2014/main" id="{B969E564-C9F0-4A6F-8BF1-C7B5A7A1E371}"/>
                </a:ext>
              </a:extLst>
            </p:cNvPr>
            <p:cNvSpPr>
              <a:spLocks noChangeShapeType="1"/>
            </p:cNvSpPr>
            <p:nvPr/>
          </p:nvSpPr>
          <p:spPr bwMode="auto">
            <a:xfrm>
              <a:off x="4464" y="3216"/>
              <a:ext cx="0" cy="288"/>
            </a:xfrm>
            <a:prstGeom prst="line">
              <a:avLst/>
            </a:prstGeom>
            <a:noFill/>
            <a:ln w="19050">
              <a:solidFill>
                <a:srgbClr val="669CC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67" name="Line 1070">
              <a:extLst>
                <a:ext uri="{FF2B5EF4-FFF2-40B4-BE49-F238E27FC236}">
                  <a16:creationId xmlns:a16="http://schemas.microsoft.com/office/drawing/2014/main" id="{49ACAF59-6657-4BB0-8146-ED7A5574B8DA}"/>
                </a:ext>
              </a:extLst>
            </p:cNvPr>
            <p:cNvSpPr>
              <a:spLocks noChangeShapeType="1"/>
            </p:cNvSpPr>
            <p:nvPr/>
          </p:nvSpPr>
          <p:spPr bwMode="auto">
            <a:xfrm>
              <a:off x="4464" y="1392"/>
              <a:ext cx="0" cy="192"/>
            </a:xfrm>
            <a:prstGeom prst="line">
              <a:avLst/>
            </a:prstGeom>
            <a:noFill/>
            <a:ln w="19050">
              <a:solidFill>
                <a:srgbClr val="669CC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68" name="Text Box 1071">
              <a:extLst>
                <a:ext uri="{FF2B5EF4-FFF2-40B4-BE49-F238E27FC236}">
                  <a16:creationId xmlns:a16="http://schemas.microsoft.com/office/drawing/2014/main" id="{6D294D0D-F267-456B-A98C-B6BCF16D1E5C}"/>
                </a:ext>
              </a:extLst>
            </p:cNvPr>
            <p:cNvSpPr txBox="1">
              <a:spLocks noChangeArrowheads="1"/>
            </p:cNvSpPr>
            <p:nvPr/>
          </p:nvSpPr>
          <p:spPr bwMode="auto">
            <a:xfrm>
              <a:off x="4560" y="1392"/>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b="1">
                  <a:solidFill>
                    <a:schemeClr val="accent2"/>
                  </a:solidFill>
                  <a:latin typeface="Times New Roman" panose="02020603050405020304" pitchFamily="18" charset="0"/>
                  <a:ea typeface="文鼎细圆" pitchFamily="49" charset="-122"/>
                </a:rPr>
                <a:t>a</a:t>
              </a:r>
            </a:p>
          </p:txBody>
        </p:sp>
        <p:sp>
          <p:nvSpPr>
            <p:cNvPr id="60469" name="Text Box 1072">
              <a:extLst>
                <a:ext uri="{FF2B5EF4-FFF2-40B4-BE49-F238E27FC236}">
                  <a16:creationId xmlns:a16="http://schemas.microsoft.com/office/drawing/2014/main" id="{352446D2-CC50-4517-AE0F-5EB395DF6BCC}"/>
                </a:ext>
              </a:extLst>
            </p:cNvPr>
            <p:cNvSpPr txBox="1">
              <a:spLocks noChangeArrowheads="1"/>
            </p:cNvSpPr>
            <p:nvPr/>
          </p:nvSpPr>
          <p:spPr bwMode="auto">
            <a:xfrm>
              <a:off x="3744" y="1920"/>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a:solidFill>
                    <a:schemeClr val="accent2"/>
                  </a:solidFill>
                  <a:latin typeface="Times New Roman" panose="02020603050405020304" pitchFamily="18" charset="0"/>
                  <a:ea typeface="文鼎细圆" pitchFamily="49" charset="-122"/>
                </a:rPr>
                <a:t>b</a:t>
              </a:r>
            </a:p>
          </p:txBody>
        </p:sp>
        <p:sp>
          <p:nvSpPr>
            <p:cNvPr id="60470" name="Text Box 1073">
              <a:extLst>
                <a:ext uri="{FF2B5EF4-FFF2-40B4-BE49-F238E27FC236}">
                  <a16:creationId xmlns:a16="http://schemas.microsoft.com/office/drawing/2014/main" id="{DC41055D-9F09-4890-89B6-A2AD70662E36}"/>
                </a:ext>
              </a:extLst>
            </p:cNvPr>
            <p:cNvSpPr txBox="1">
              <a:spLocks noChangeArrowheads="1"/>
            </p:cNvSpPr>
            <p:nvPr/>
          </p:nvSpPr>
          <p:spPr bwMode="auto">
            <a:xfrm>
              <a:off x="4992" y="1920"/>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b="1">
                  <a:solidFill>
                    <a:schemeClr val="accent2"/>
                  </a:solidFill>
                  <a:latin typeface="Times New Roman" panose="02020603050405020304" pitchFamily="18" charset="0"/>
                  <a:ea typeface="文鼎细圆" pitchFamily="49" charset="-122"/>
                </a:rPr>
                <a:t>c</a:t>
              </a:r>
            </a:p>
          </p:txBody>
        </p:sp>
        <p:sp>
          <p:nvSpPr>
            <p:cNvPr id="60471" name="Text Box 1074">
              <a:extLst>
                <a:ext uri="{FF2B5EF4-FFF2-40B4-BE49-F238E27FC236}">
                  <a16:creationId xmlns:a16="http://schemas.microsoft.com/office/drawing/2014/main" id="{451BC18B-8060-453B-9C5C-09E63E400D20}"/>
                </a:ext>
              </a:extLst>
            </p:cNvPr>
            <p:cNvSpPr txBox="1">
              <a:spLocks noChangeArrowheads="1"/>
            </p:cNvSpPr>
            <p:nvPr/>
          </p:nvSpPr>
          <p:spPr bwMode="auto">
            <a:xfrm>
              <a:off x="3696" y="2688"/>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b="1">
                  <a:solidFill>
                    <a:schemeClr val="accent2"/>
                  </a:solidFill>
                  <a:latin typeface="Times New Roman" panose="02020603050405020304" pitchFamily="18" charset="0"/>
                  <a:ea typeface="文鼎细圆" pitchFamily="49" charset="-122"/>
                </a:rPr>
                <a:t>d</a:t>
              </a:r>
            </a:p>
          </p:txBody>
        </p:sp>
        <p:sp>
          <p:nvSpPr>
            <p:cNvPr id="60472" name="Text Box 1075">
              <a:extLst>
                <a:ext uri="{FF2B5EF4-FFF2-40B4-BE49-F238E27FC236}">
                  <a16:creationId xmlns:a16="http://schemas.microsoft.com/office/drawing/2014/main" id="{0F52AA01-D2CA-41EC-B54D-ABD40912F12B}"/>
                </a:ext>
              </a:extLst>
            </p:cNvPr>
            <p:cNvSpPr txBox="1">
              <a:spLocks noChangeArrowheads="1"/>
            </p:cNvSpPr>
            <p:nvPr/>
          </p:nvSpPr>
          <p:spPr bwMode="auto">
            <a:xfrm>
              <a:off x="4944" y="2640"/>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b="1">
                  <a:solidFill>
                    <a:schemeClr val="accent2"/>
                  </a:solidFill>
                  <a:latin typeface="Times New Roman" panose="02020603050405020304" pitchFamily="18" charset="0"/>
                  <a:ea typeface="文鼎细圆" pitchFamily="49" charset="-122"/>
                </a:rPr>
                <a:t>e</a:t>
              </a:r>
            </a:p>
          </p:txBody>
        </p:sp>
      </p:grpSp>
      <p:sp>
        <p:nvSpPr>
          <p:cNvPr id="1297460" name="Rectangle 1076">
            <a:extLst>
              <a:ext uri="{FF2B5EF4-FFF2-40B4-BE49-F238E27FC236}">
                <a16:creationId xmlns:a16="http://schemas.microsoft.com/office/drawing/2014/main" id="{155143AB-C75A-4512-8F3B-23C2EEF76D13}"/>
              </a:ext>
            </a:extLst>
          </p:cNvPr>
          <p:cNvSpPr>
            <a:spLocks noChangeArrowheads="1"/>
          </p:cNvSpPr>
          <p:nvPr/>
        </p:nvSpPr>
        <p:spPr bwMode="auto">
          <a:xfrm>
            <a:off x="8915400" y="457200"/>
            <a:ext cx="1295400" cy="1524000"/>
          </a:xfrm>
          <a:prstGeom prst="rect">
            <a:avLst/>
          </a:prstGeom>
          <a:solidFill>
            <a:schemeClr val="bg1"/>
          </a:solidFill>
          <a:ln w="38100" cmpd="dbl">
            <a:solidFill>
              <a:srgbClr val="D35FC2"/>
            </a:solidFill>
            <a:miter lim="800000"/>
            <a:headEnd/>
            <a:tailEnd/>
          </a:ln>
          <a:effectLst/>
        </p:spPr>
        <p:txBody>
          <a:bodyPr wrap="none" anchor="ctr"/>
          <a:lstStyle/>
          <a:p>
            <a:pPr algn="ctr">
              <a:defRPr/>
            </a:pPr>
            <a:r>
              <a:rPr lang="en-US" altLang="zh-CN" sz="2000" b="1">
                <a:solidFill>
                  <a:srgbClr val="49AB39"/>
                </a:solidFill>
                <a:effectLst>
                  <a:outerShdw blurRad="38100" dist="38100" dir="2700000" algn="tl">
                    <a:srgbClr val="000000"/>
                  </a:outerShdw>
                </a:effectLst>
                <a:latin typeface="Times New Roman" charset="0"/>
                <a:ea typeface="文鼎细圆" pitchFamily="49" charset="-122"/>
              </a:rPr>
              <a:t>a-c-e  L1</a:t>
            </a:r>
          </a:p>
          <a:p>
            <a:pPr algn="ctr">
              <a:defRPr/>
            </a:pPr>
            <a:r>
              <a:rPr lang="en-US" altLang="zh-CN" sz="2000" b="1">
                <a:solidFill>
                  <a:srgbClr val="49AB39"/>
                </a:solidFill>
                <a:effectLst>
                  <a:outerShdw blurRad="38100" dist="38100" dir="2700000" algn="tl">
                    <a:srgbClr val="000000"/>
                  </a:outerShdw>
                </a:effectLst>
                <a:latin typeface="Times New Roman" charset="0"/>
                <a:ea typeface="文鼎细圆" pitchFamily="49" charset="-122"/>
              </a:rPr>
              <a:t>a-b-d L2</a:t>
            </a:r>
          </a:p>
          <a:p>
            <a:pPr algn="ctr">
              <a:defRPr/>
            </a:pPr>
            <a:r>
              <a:rPr lang="en-US" altLang="zh-CN" sz="2000" b="1">
                <a:solidFill>
                  <a:srgbClr val="49AB39"/>
                </a:solidFill>
                <a:effectLst>
                  <a:outerShdw blurRad="38100" dist="38100" dir="2700000" algn="tl">
                    <a:srgbClr val="000000"/>
                  </a:outerShdw>
                </a:effectLst>
                <a:latin typeface="Times New Roman" charset="0"/>
                <a:ea typeface="文鼎细圆" pitchFamily="49" charset="-122"/>
              </a:rPr>
              <a:t>a-b-e L3</a:t>
            </a:r>
          </a:p>
          <a:p>
            <a:pPr algn="ctr">
              <a:defRPr/>
            </a:pPr>
            <a:r>
              <a:rPr lang="en-US" altLang="zh-CN" sz="2000" b="1">
                <a:solidFill>
                  <a:srgbClr val="49AB39"/>
                </a:solidFill>
                <a:effectLst>
                  <a:outerShdw blurRad="38100" dist="38100" dir="2700000" algn="tl">
                    <a:srgbClr val="000000"/>
                  </a:outerShdw>
                </a:effectLst>
                <a:latin typeface="Times New Roman" charset="0"/>
                <a:ea typeface="文鼎细圆" pitchFamily="49" charset="-122"/>
              </a:rPr>
              <a:t>a-c-d L4</a:t>
            </a:r>
            <a:endParaRPr lang="en-US" altLang="zh-CN" sz="1600" b="1">
              <a:solidFill>
                <a:srgbClr val="49AB39"/>
              </a:solidFill>
              <a:effectLst>
                <a:outerShdw blurRad="38100" dist="38100" dir="2700000" algn="tl">
                  <a:srgbClr val="000000"/>
                </a:outerShdw>
              </a:effectLst>
              <a:latin typeface="Times New Roman" charset="0"/>
              <a:ea typeface="文鼎细圆" pitchFamily="49" charset="-122"/>
            </a:endParaRPr>
          </a:p>
        </p:txBody>
      </p:sp>
      <p:grpSp>
        <p:nvGrpSpPr>
          <p:cNvPr id="60422" name="Group 1077">
            <a:extLst>
              <a:ext uri="{FF2B5EF4-FFF2-40B4-BE49-F238E27FC236}">
                <a16:creationId xmlns:a16="http://schemas.microsoft.com/office/drawing/2014/main" id="{71E90387-0A35-447E-9C26-E24187DA6D08}"/>
              </a:ext>
            </a:extLst>
          </p:cNvPr>
          <p:cNvGrpSpPr>
            <a:grpSpLocks/>
          </p:cNvGrpSpPr>
          <p:nvPr/>
        </p:nvGrpSpPr>
        <p:grpSpPr bwMode="auto">
          <a:xfrm>
            <a:off x="3276600" y="1752600"/>
            <a:ext cx="3733800" cy="3810000"/>
            <a:chOff x="1152" y="1248"/>
            <a:chExt cx="2352" cy="2400"/>
          </a:xfrm>
        </p:grpSpPr>
        <p:sp>
          <p:nvSpPr>
            <p:cNvPr id="1297462" name="Text Box 1078">
              <a:extLst>
                <a:ext uri="{FF2B5EF4-FFF2-40B4-BE49-F238E27FC236}">
                  <a16:creationId xmlns:a16="http://schemas.microsoft.com/office/drawing/2014/main" id="{119AE791-02CE-4F8A-AC75-F7FC348296B0}"/>
                </a:ext>
              </a:extLst>
            </p:cNvPr>
            <p:cNvSpPr txBox="1">
              <a:spLocks noChangeArrowheads="1"/>
            </p:cNvSpPr>
            <p:nvPr/>
          </p:nvSpPr>
          <p:spPr bwMode="auto">
            <a:xfrm>
              <a:off x="1152" y="1776"/>
              <a:ext cx="223"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b</a:t>
              </a:r>
            </a:p>
          </p:txBody>
        </p:sp>
        <p:sp>
          <p:nvSpPr>
            <p:cNvPr id="1297463" name="Text Box 1079">
              <a:extLst>
                <a:ext uri="{FF2B5EF4-FFF2-40B4-BE49-F238E27FC236}">
                  <a16:creationId xmlns:a16="http://schemas.microsoft.com/office/drawing/2014/main" id="{01AB6696-873B-4009-A1A2-6E825C92C963}"/>
                </a:ext>
              </a:extLst>
            </p:cNvPr>
            <p:cNvSpPr txBox="1">
              <a:spLocks noChangeArrowheads="1"/>
            </p:cNvSpPr>
            <p:nvPr/>
          </p:nvSpPr>
          <p:spPr bwMode="auto">
            <a:xfrm>
              <a:off x="1152" y="2736"/>
              <a:ext cx="223"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d</a:t>
              </a:r>
            </a:p>
          </p:txBody>
        </p:sp>
        <p:sp>
          <p:nvSpPr>
            <p:cNvPr id="1297464" name="Text Box 1080">
              <a:extLst>
                <a:ext uri="{FF2B5EF4-FFF2-40B4-BE49-F238E27FC236}">
                  <a16:creationId xmlns:a16="http://schemas.microsoft.com/office/drawing/2014/main" id="{1C0ED51D-8EB5-4593-9BC1-5EBAF015FD4F}"/>
                </a:ext>
              </a:extLst>
            </p:cNvPr>
            <p:cNvSpPr txBox="1">
              <a:spLocks noChangeArrowheads="1"/>
            </p:cNvSpPr>
            <p:nvPr/>
          </p:nvSpPr>
          <p:spPr bwMode="auto">
            <a:xfrm>
              <a:off x="2064" y="1248"/>
              <a:ext cx="288" cy="288"/>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a</a:t>
              </a:r>
            </a:p>
          </p:txBody>
        </p:sp>
        <p:sp>
          <p:nvSpPr>
            <p:cNvPr id="1297465" name="Text Box 1081">
              <a:extLst>
                <a:ext uri="{FF2B5EF4-FFF2-40B4-BE49-F238E27FC236}">
                  <a16:creationId xmlns:a16="http://schemas.microsoft.com/office/drawing/2014/main" id="{5E54AF84-0C00-4F1B-8E3A-7F3B4AEBDC5D}"/>
                </a:ext>
              </a:extLst>
            </p:cNvPr>
            <p:cNvSpPr txBox="1">
              <a:spLocks noChangeArrowheads="1"/>
            </p:cNvSpPr>
            <p:nvPr/>
          </p:nvSpPr>
          <p:spPr bwMode="auto">
            <a:xfrm>
              <a:off x="3072" y="1776"/>
              <a:ext cx="223" cy="288"/>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c</a:t>
              </a:r>
            </a:p>
          </p:txBody>
        </p:sp>
        <p:sp>
          <p:nvSpPr>
            <p:cNvPr id="1297466" name="Text Box 1082">
              <a:extLst>
                <a:ext uri="{FF2B5EF4-FFF2-40B4-BE49-F238E27FC236}">
                  <a16:creationId xmlns:a16="http://schemas.microsoft.com/office/drawing/2014/main" id="{D5DC59CB-C9B6-4CD0-9258-5D7ABB23352D}"/>
                </a:ext>
              </a:extLst>
            </p:cNvPr>
            <p:cNvSpPr txBox="1">
              <a:spLocks noChangeArrowheads="1"/>
            </p:cNvSpPr>
            <p:nvPr/>
          </p:nvSpPr>
          <p:spPr bwMode="auto">
            <a:xfrm>
              <a:off x="3120" y="2736"/>
              <a:ext cx="201" cy="288"/>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400" b="1">
                  <a:solidFill>
                    <a:srgbClr val="EF8D2B"/>
                  </a:solidFill>
                  <a:effectLst>
                    <a:outerShdw blurRad="38100" dist="38100" dir="2700000" algn="tl">
                      <a:srgbClr val="000000"/>
                    </a:outerShdw>
                  </a:effectLst>
                  <a:ea typeface="文鼎细圆" pitchFamily="49" charset="-122"/>
                </a:rPr>
                <a:t>e</a:t>
              </a:r>
            </a:p>
          </p:txBody>
        </p:sp>
        <p:grpSp>
          <p:nvGrpSpPr>
            <p:cNvPr id="60430" name="Group 1083">
              <a:extLst>
                <a:ext uri="{FF2B5EF4-FFF2-40B4-BE49-F238E27FC236}">
                  <a16:creationId xmlns:a16="http://schemas.microsoft.com/office/drawing/2014/main" id="{13EADB96-8A5F-4B19-A396-DA3AC7CDD3A9}"/>
                </a:ext>
              </a:extLst>
            </p:cNvPr>
            <p:cNvGrpSpPr>
              <a:grpSpLocks/>
            </p:cNvGrpSpPr>
            <p:nvPr/>
          </p:nvGrpSpPr>
          <p:grpSpPr bwMode="auto">
            <a:xfrm>
              <a:off x="1392" y="1536"/>
              <a:ext cx="2112" cy="2112"/>
              <a:chOff x="1200" y="1488"/>
              <a:chExt cx="2112" cy="2112"/>
            </a:xfrm>
          </p:grpSpPr>
          <p:sp>
            <p:nvSpPr>
              <p:cNvPr id="60431" name="AutoShape 1084">
                <a:extLst>
                  <a:ext uri="{FF2B5EF4-FFF2-40B4-BE49-F238E27FC236}">
                    <a16:creationId xmlns:a16="http://schemas.microsoft.com/office/drawing/2014/main" id="{1B6CDBC5-13A0-4702-B592-0414F8C55810}"/>
                  </a:ext>
                </a:extLst>
              </p:cNvPr>
              <p:cNvSpPr>
                <a:spLocks noChangeArrowheads="1"/>
              </p:cNvSpPr>
              <p:nvPr/>
            </p:nvSpPr>
            <p:spPr bwMode="auto">
              <a:xfrm>
                <a:off x="1296" y="1680"/>
                <a:ext cx="1440" cy="288"/>
              </a:xfrm>
              <a:prstGeom prst="flowChartDecision">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(A&gt;1) ^ (B=0)</a:t>
                </a:r>
              </a:p>
            </p:txBody>
          </p:sp>
          <p:sp>
            <p:nvSpPr>
              <p:cNvPr id="60432" name="Line 1085">
                <a:extLst>
                  <a:ext uri="{FF2B5EF4-FFF2-40B4-BE49-F238E27FC236}">
                    <a16:creationId xmlns:a16="http://schemas.microsoft.com/office/drawing/2014/main" id="{15B7D073-4FF7-43ED-B8FD-6CA384E9DA3D}"/>
                  </a:ext>
                </a:extLst>
              </p:cNvPr>
              <p:cNvSpPr>
                <a:spLocks noChangeShapeType="1"/>
              </p:cNvSpPr>
              <p:nvPr/>
            </p:nvSpPr>
            <p:spPr bwMode="auto">
              <a:xfrm>
                <a:off x="1200" y="1824"/>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33" name="Line 1086">
                <a:extLst>
                  <a:ext uri="{FF2B5EF4-FFF2-40B4-BE49-F238E27FC236}">
                    <a16:creationId xmlns:a16="http://schemas.microsoft.com/office/drawing/2014/main" id="{3A01D39D-E7DB-4C6E-85D3-C340EF611A7A}"/>
                  </a:ext>
                </a:extLst>
              </p:cNvPr>
              <p:cNvSpPr>
                <a:spLocks noChangeShapeType="1"/>
              </p:cNvSpPr>
              <p:nvPr/>
            </p:nvSpPr>
            <p:spPr bwMode="auto">
              <a:xfrm>
                <a:off x="2880" y="182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34" name="Rectangle 1087">
                <a:extLst>
                  <a:ext uri="{FF2B5EF4-FFF2-40B4-BE49-F238E27FC236}">
                    <a16:creationId xmlns:a16="http://schemas.microsoft.com/office/drawing/2014/main" id="{8A978673-1AA6-405A-B3C8-29A83DBFCA41}"/>
                  </a:ext>
                </a:extLst>
              </p:cNvPr>
              <p:cNvSpPr>
                <a:spLocks noChangeArrowheads="1"/>
              </p:cNvSpPr>
              <p:nvPr/>
            </p:nvSpPr>
            <p:spPr bwMode="auto">
              <a:xfrm>
                <a:off x="2496" y="2016"/>
                <a:ext cx="768" cy="288"/>
              </a:xfrm>
              <a:prstGeom prst="rect">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X=X/A</a:t>
                </a:r>
              </a:p>
            </p:txBody>
          </p:sp>
          <p:sp>
            <p:nvSpPr>
              <p:cNvPr id="60435" name="Line 1088">
                <a:extLst>
                  <a:ext uri="{FF2B5EF4-FFF2-40B4-BE49-F238E27FC236}">
                    <a16:creationId xmlns:a16="http://schemas.microsoft.com/office/drawing/2014/main" id="{17D0EEC1-E3E0-4E14-90E6-E665FFC6FBF1}"/>
                  </a:ext>
                </a:extLst>
              </p:cNvPr>
              <p:cNvSpPr>
                <a:spLocks noChangeShapeType="1"/>
              </p:cNvSpPr>
              <p:nvPr/>
            </p:nvSpPr>
            <p:spPr bwMode="auto">
              <a:xfrm>
                <a:off x="1200" y="1824"/>
                <a:ext cx="0" cy="672"/>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36" name="Line 1089">
                <a:extLst>
                  <a:ext uri="{FF2B5EF4-FFF2-40B4-BE49-F238E27FC236}">
                    <a16:creationId xmlns:a16="http://schemas.microsoft.com/office/drawing/2014/main" id="{DDCF9FC5-6DBA-4118-B15C-0FDF7C0897C0}"/>
                  </a:ext>
                </a:extLst>
              </p:cNvPr>
              <p:cNvSpPr>
                <a:spLocks noChangeShapeType="1"/>
              </p:cNvSpPr>
              <p:nvPr/>
            </p:nvSpPr>
            <p:spPr bwMode="auto">
              <a:xfrm>
                <a:off x="1200" y="2496"/>
                <a:ext cx="1680"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37" name="Line 1090">
                <a:extLst>
                  <a:ext uri="{FF2B5EF4-FFF2-40B4-BE49-F238E27FC236}">
                    <a16:creationId xmlns:a16="http://schemas.microsoft.com/office/drawing/2014/main" id="{BE8EF4FD-D648-437F-945D-A62D452C84FB}"/>
                  </a:ext>
                </a:extLst>
              </p:cNvPr>
              <p:cNvSpPr>
                <a:spLocks noChangeShapeType="1"/>
              </p:cNvSpPr>
              <p:nvPr/>
            </p:nvSpPr>
            <p:spPr bwMode="auto">
              <a:xfrm>
                <a:off x="2016" y="2496"/>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38" name="Line 1091">
                <a:extLst>
                  <a:ext uri="{FF2B5EF4-FFF2-40B4-BE49-F238E27FC236}">
                    <a16:creationId xmlns:a16="http://schemas.microsoft.com/office/drawing/2014/main" id="{6BB7C431-781A-4F70-A575-EEAFA0A7B141}"/>
                  </a:ext>
                </a:extLst>
              </p:cNvPr>
              <p:cNvSpPr>
                <a:spLocks noChangeShapeType="1"/>
              </p:cNvSpPr>
              <p:nvPr/>
            </p:nvSpPr>
            <p:spPr bwMode="auto">
              <a:xfrm>
                <a:off x="2016" y="1488"/>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39" name="Text Box 1092">
                <a:extLst>
                  <a:ext uri="{FF2B5EF4-FFF2-40B4-BE49-F238E27FC236}">
                    <a16:creationId xmlns:a16="http://schemas.microsoft.com/office/drawing/2014/main" id="{CAD41460-7F2D-4E25-98F5-15206EBEAE1F}"/>
                  </a:ext>
                </a:extLst>
              </p:cNvPr>
              <p:cNvSpPr txBox="1">
                <a:spLocks noChangeArrowheads="1"/>
              </p:cNvSpPr>
              <p:nvPr/>
            </p:nvSpPr>
            <p:spPr bwMode="auto">
              <a:xfrm>
                <a:off x="2736" y="1632"/>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T</a:t>
                </a:r>
              </a:p>
            </p:txBody>
          </p:sp>
          <p:sp>
            <p:nvSpPr>
              <p:cNvPr id="60440" name="Text Box 1093">
                <a:extLst>
                  <a:ext uri="{FF2B5EF4-FFF2-40B4-BE49-F238E27FC236}">
                    <a16:creationId xmlns:a16="http://schemas.microsoft.com/office/drawing/2014/main" id="{3EAF72C4-5898-46E7-855A-A24983C4F8E8}"/>
                  </a:ext>
                </a:extLst>
              </p:cNvPr>
              <p:cNvSpPr txBox="1">
                <a:spLocks noChangeArrowheads="1"/>
              </p:cNvSpPr>
              <p:nvPr/>
            </p:nvSpPr>
            <p:spPr bwMode="auto">
              <a:xfrm>
                <a:off x="1200" y="1632"/>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F</a:t>
                </a:r>
              </a:p>
            </p:txBody>
          </p:sp>
          <p:sp>
            <p:nvSpPr>
              <p:cNvPr id="60441" name="Line 1094">
                <a:extLst>
                  <a:ext uri="{FF2B5EF4-FFF2-40B4-BE49-F238E27FC236}">
                    <a16:creationId xmlns:a16="http://schemas.microsoft.com/office/drawing/2014/main" id="{B1D43AE6-26BF-4D49-8884-1F12AA6D2FCF}"/>
                  </a:ext>
                </a:extLst>
              </p:cNvPr>
              <p:cNvSpPr>
                <a:spLocks noChangeShapeType="1"/>
              </p:cNvSpPr>
              <p:nvPr/>
            </p:nvSpPr>
            <p:spPr bwMode="auto">
              <a:xfrm>
                <a:off x="2736" y="1824"/>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2" name="Line 1095">
                <a:extLst>
                  <a:ext uri="{FF2B5EF4-FFF2-40B4-BE49-F238E27FC236}">
                    <a16:creationId xmlns:a16="http://schemas.microsoft.com/office/drawing/2014/main" id="{CF1D9293-8EAA-4813-9699-6B33172E6FBE}"/>
                  </a:ext>
                </a:extLst>
              </p:cNvPr>
              <p:cNvSpPr>
                <a:spLocks noChangeShapeType="1"/>
              </p:cNvSpPr>
              <p:nvPr/>
            </p:nvSpPr>
            <p:spPr bwMode="auto">
              <a:xfrm>
                <a:off x="2880" y="230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43" name="AutoShape 1096">
                <a:extLst>
                  <a:ext uri="{FF2B5EF4-FFF2-40B4-BE49-F238E27FC236}">
                    <a16:creationId xmlns:a16="http://schemas.microsoft.com/office/drawing/2014/main" id="{093E9FAA-B717-4DD5-9629-E65F4D437763}"/>
                  </a:ext>
                </a:extLst>
              </p:cNvPr>
              <p:cNvSpPr>
                <a:spLocks noChangeArrowheads="1"/>
              </p:cNvSpPr>
              <p:nvPr/>
            </p:nvSpPr>
            <p:spPr bwMode="auto">
              <a:xfrm>
                <a:off x="1344" y="2640"/>
                <a:ext cx="1344" cy="288"/>
              </a:xfrm>
              <a:prstGeom prst="flowChartDecision">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(A=2) V (X&gt;1)</a:t>
                </a:r>
              </a:p>
            </p:txBody>
          </p:sp>
          <p:sp>
            <p:nvSpPr>
              <p:cNvPr id="60444" name="Rectangle 1097">
                <a:extLst>
                  <a:ext uri="{FF2B5EF4-FFF2-40B4-BE49-F238E27FC236}">
                    <a16:creationId xmlns:a16="http://schemas.microsoft.com/office/drawing/2014/main" id="{4319B695-88C0-4A01-8E25-4540C7E1A059}"/>
                  </a:ext>
                </a:extLst>
              </p:cNvPr>
              <p:cNvSpPr>
                <a:spLocks noChangeArrowheads="1"/>
              </p:cNvSpPr>
              <p:nvPr/>
            </p:nvSpPr>
            <p:spPr bwMode="auto">
              <a:xfrm>
                <a:off x="2544" y="2976"/>
                <a:ext cx="768" cy="288"/>
              </a:xfrm>
              <a:prstGeom prst="rect">
                <a:avLst/>
              </a:prstGeom>
              <a:solidFill>
                <a:schemeClr val="bg1"/>
              </a:solidFill>
              <a:ln w="9525">
                <a:solidFill>
                  <a:srgbClr val="1AA1A4"/>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rgbClr val="F535F0"/>
                    </a:solidFill>
                    <a:ea typeface="文鼎细圆" pitchFamily="49" charset="-122"/>
                  </a:rPr>
                  <a:t>X=X+1</a:t>
                </a:r>
              </a:p>
            </p:txBody>
          </p:sp>
          <p:sp>
            <p:nvSpPr>
              <p:cNvPr id="60445" name="Text Box 1098">
                <a:extLst>
                  <a:ext uri="{FF2B5EF4-FFF2-40B4-BE49-F238E27FC236}">
                    <a16:creationId xmlns:a16="http://schemas.microsoft.com/office/drawing/2014/main" id="{4A90B028-06AC-4A09-A607-9B1867E2FE13}"/>
                  </a:ext>
                </a:extLst>
              </p:cNvPr>
              <p:cNvSpPr txBox="1">
                <a:spLocks noChangeArrowheads="1"/>
              </p:cNvSpPr>
              <p:nvPr/>
            </p:nvSpPr>
            <p:spPr bwMode="auto">
              <a:xfrm>
                <a:off x="2640" y="2592"/>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T</a:t>
                </a:r>
              </a:p>
            </p:txBody>
          </p:sp>
          <p:sp>
            <p:nvSpPr>
              <p:cNvPr id="60446" name="Line 1099">
                <a:extLst>
                  <a:ext uri="{FF2B5EF4-FFF2-40B4-BE49-F238E27FC236}">
                    <a16:creationId xmlns:a16="http://schemas.microsoft.com/office/drawing/2014/main" id="{EEC32020-7464-43CB-8107-CAC937B24976}"/>
                  </a:ext>
                </a:extLst>
              </p:cNvPr>
              <p:cNvSpPr>
                <a:spLocks noChangeShapeType="1"/>
              </p:cNvSpPr>
              <p:nvPr/>
            </p:nvSpPr>
            <p:spPr bwMode="auto">
              <a:xfrm>
                <a:off x="1200" y="2784"/>
                <a:ext cx="0" cy="624"/>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7" name="Line 1100">
                <a:extLst>
                  <a:ext uri="{FF2B5EF4-FFF2-40B4-BE49-F238E27FC236}">
                    <a16:creationId xmlns:a16="http://schemas.microsoft.com/office/drawing/2014/main" id="{BE65996D-A963-4182-8C56-84C996555279}"/>
                  </a:ext>
                </a:extLst>
              </p:cNvPr>
              <p:cNvSpPr>
                <a:spLocks noChangeShapeType="1"/>
              </p:cNvSpPr>
              <p:nvPr/>
            </p:nvSpPr>
            <p:spPr bwMode="auto">
              <a:xfrm>
                <a:off x="1200" y="3408"/>
                <a:ext cx="1680"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8" name="Text Box 1101">
                <a:extLst>
                  <a:ext uri="{FF2B5EF4-FFF2-40B4-BE49-F238E27FC236}">
                    <a16:creationId xmlns:a16="http://schemas.microsoft.com/office/drawing/2014/main" id="{E5A12F07-E1BC-4D11-AD36-EE6D8C4DD904}"/>
                  </a:ext>
                </a:extLst>
              </p:cNvPr>
              <p:cNvSpPr txBox="1">
                <a:spLocks noChangeArrowheads="1"/>
              </p:cNvSpPr>
              <p:nvPr/>
            </p:nvSpPr>
            <p:spPr bwMode="auto">
              <a:xfrm>
                <a:off x="1200" y="2544"/>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600" b="1">
                    <a:solidFill>
                      <a:schemeClr val="accent2"/>
                    </a:solidFill>
                    <a:latin typeface="Times New Roman" panose="02020603050405020304" pitchFamily="18" charset="0"/>
                    <a:ea typeface="文鼎细圆" pitchFamily="49" charset="-122"/>
                  </a:rPr>
                  <a:t>F</a:t>
                </a:r>
              </a:p>
            </p:txBody>
          </p:sp>
          <p:sp>
            <p:nvSpPr>
              <p:cNvPr id="60449" name="Line 1102">
                <a:extLst>
                  <a:ext uri="{FF2B5EF4-FFF2-40B4-BE49-F238E27FC236}">
                    <a16:creationId xmlns:a16="http://schemas.microsoft.com/office/drawing/2014/main" id="{37F85A11-3935-459E-9447-0D1970FF5FDC}"/>
                  </a:ext>
                </a:extLst>
              </p:cNvPr>
              <p:cNvSpPr>
                <a:spLocks noChangeShapeType="1"/>
              </p:cNvSpPr>
              <p:nvPr/>
            </p:nvSpPr>
            <p:spPr bwMode="auto">
              <a:xfrm>
                <a:off x="2688" y="2784"/>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50" name="Line 1103">
                <a:extLst>
                  <a:ext uri="{FF2B5EF4-FFF2-40B4-BE49-F238E27FC236}">
                    <a16:creationId xmlns:a16="http://schemas.microsoft.com/office/drawing/2014/main" id="{2DE86264-24B5-4587-9405-3345B8C85EEC}"/>
                  </a:ext>
                </a:extLst>
              </p:cNvPr>
              <p:cNvSpPr>
                <a:spLocks noChangeShapeType="1"/>
              </p:cNvSpPr>
              <p:nvPr/>
            </p:nvSpPr>
            <p:spPr bwMode="auto">
              <a:xfrm>
                <a:off x="2880" y="2784"/>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51" name="Line 1104">
                <a:extLst>
                  <a:ext uri="{FF2B5EF4-FFF2-40B4-BE49-F238E27FC236}">
                    <a16:creationId xmlns:a16="http://schemas.microsoft.com/office/drawing/2014/main" id="{68E0D5F4-2ECE-4F37-9100-118DBFB45234}"/>
                  </a:ext>
                </a:extLst>
              </p:cNvPr>
              <p:cNvSpPr>
                <a:spLocks noChangeShapeType="1"/>
              </p:cNvSpPr>
              <p:nvPr/>
            </p:nvSpPr>
            <p:spPr bwMode="auto">
              <a:xfrm>
                <a:off x="2880" y="3264"/>
                <a:ext cx="0" cy="144"/>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52" name="Line 1105">
                <a:extLst>
                  <a:ext uri="{FF2B5EF4-FFF2-40B4-BE49-F238E27FC236}">
                    <a16:creationId xmlns:a16="http://schemas.microsoft.com/office/drawing/2014/main" id="{E3E5A65E-9A82-4638-BC66-45B7CF842AF2}"/>
                  </a:ext>
                </a:extLst>
              </p:cNvPr>
              <p:cNvSpPr>
                <a:spLocks noChangeShapeType="1"/>
              </p:cNvSpPr>
              <p:nvPr/>
            </p:nvSpPr>
            <p:spPr bwMode="auto">
              <a:xfrm>
                <a:off x="2064" y="3408"/>
                <a:ext cx="0" cy="192"/>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53" name="Line 1106">
                <a:extLst>
                  <a:ext uri="{FF2B5EF4-FFF2-40B4-BE49-F238E27FC236}">
                    <a16:creationId xmlns:a16="http://schemas.microsoft.com/office/drawing/2014/main" id="{C57675B7-C081-4A05-BB11-D27EC6F7042A}"/>
                  </a:ext>
                </a:extLst>
              </p:cNvPr>
              <p:cNvSpPr>
                <a:spLocks noChangeShapeType="1"/>
              </p:cNvSpPr>
              <p:nvPr/>
            </p:nvSpPr>
            <p:spPr bwMode="auto">
              <a:xfrm>
                <a:off x="1200" y="2784"/>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297493" name="AutoShape 1109">
            <a:extLst>
              <a:ext uri="{FF2B5EF4-FFF2-40B4-BE49-F238E27FC236}">
                <a16:creationId xmlns:a16="http://schemas.microsoft.com/office/drawing/2014/main" id="{54107E88-AC7A-42E6-81FA-AB6D5E3AD350}"/>
              </a:ext>
            </a:extLst>
          </p:cNvPr>
          <p:cNvSpPr>
            <a:spLocks noChangeArrowheads="1"/>
          </p:cNvSpPr>
          <p:nvPr/>
        </p:nvSpPr>
        <p:spPr bwMode="auto">
          <a:xfrm>
            <a:off x="7315200" y="1981200"/>
            <a:ext cx="990600" cy="457200"/>
          </a:xfrm>
          <a:prstGeom prst="wedgeRectCallout">
            <a:avLst>
              <a:gd name="adj1" fmla="val 62181"/>
              <a:gd name="adj2" fmla="val 95139"/>
            </a:avLst>
          </a:prstGeom>
          <a:solidFill>
            <a:schemeClr val="bg1"/>
          </a:solidFill>
          <a:ln w="9525">
            <a:solidFill>
              <a:srgbClr val="1AA1A4"/>
            </a:solidFill>
            <a:miter lim="800000"/>
            <a:headEnd/>
            <a:tailEnd/>
          </a:ln>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800">
                <a:solidFill>
                  <a:srgbClr val="1AA1A4"/>
                </a:solidFill>
                <a:latin typeface="Times New Roman" panose="02020603050405020304" pitchFamily="18" charset="0"/>
                <a:ea typeface="黑体" panose="02010609060101010101" pitchFamily="49" charset="-122"/>
              </a:rPr>
              <a:t>点覆盖</a:t>
            </a:r>
          </a:p>
        </p:txBody>
      </p:sp>
      <p:sp>
        <p:nvSpPr>
          <p:cNvPr id="1297494" name="AutoShape 1110">
            <a:extLst>
              <a:ext uri="{FF2B5EF4-FFF2-40B4-BE49-F238E27FC236}">
                <a16:creationId xmlns:a16="http://schemas.microsoft.com/office/drawing/2014/main" id="{82B11D75-4CEA-4D5E-9BA4-702C95DE4567}"/>
              </a:ext>
            </a:extLst>
          </p:cNvPr>
          <p:cNvSpPr>
            <a:spLocks noChangeArrowheads="1"/>
          </p:cNvSpPr>
          <p:nvPr/>
        </p:nvSpPr>
        <p:spPr bwMode="auto">
          <a:xfrm>
            <a:off x="7239000" y="5562600"/>
            <a:ext cx="990600" cy="457200"/>
          </a:xfrm>
          <a:prstGeom prst="wedgeRectCallout">
            <a:avLst>
              <a:gd name="adj1" fmla="val 36537"/>
              <a:gd name="adj2" fmla="val -193750"/>
            </a:avLst>
          </a:prstGeom>
          <a:solidFill>
            <a:schemeClr val="bg1"/>
          </a:solidFill>
          <a:ln w="9525">
            <a:solidFill>
              <a:srgbClr val="1AA1A4"/>
            </a:solidFill>
            <a:miter lim="800000"/>
            <a:headEnd/>
            <a:tailEnd/>
          </a:ln>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800">
                <a:solidFill>
                  <a:srgbClr val="1AA1A4"/>
                </a:solidFill>
                <a:latin typeface="Times New Roman" panose="02020603050405020304" pitchFamily="18" charset="0"/>
                <a:ea typeface="黑体" panose="02010609060101010101" pitchFamily="49" charset="-122"/>
              </a:rPr>
              <a:t>边覆盖</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297460"/>
                                        </p:tgtEl>
                                        <p:attrNameLst>
                                          <p:attrName>style.visibility</p:attrName>
                                        </p:attrNameLst>
                                      </p:cBhvr>
                                      <p:to>
                                        <p:strVal val="visible"/>
                                      </p:to>
                                    </p:set>
                                    <p:animEffect transition="in" filter="blinds(vertical)">
                                      <p:cBhvr>
                                        <p:cTn id="7" dur="500"/>
                                        <p:tgtEl>
                                          <p:spTgt spid="12974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1297493"/>
                                        </p:tgtEl>
                                        <p:attrNameLst>
                                          <p:attrName>style.visibility</p:attrName>
                                        </p:attrNameLst>
                                      </p:cBhvr>
                                      <p:to>
                                        <p:strVal val="visible"/>
                                      </p:to>
                                    </p:set>
                                    <p:animEffect transition="in" filter="blinds(vertical)">
                                      <p:cBhvr>
                                        <p:cTn id="17" dur="500"/>
                                        <p:tgtEl>
                                          <p:spTgt spid="12974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1297494"/>
                                        </p:tgtEl>
                                        <p:attrNameLst>
                                          <p:attrName>style.visibility</p:attrName>
                                        </p:attrNameLst>
                                      </p:cBhvr>
                                      <p:to>
                                        <p:strVal val="visible"/>
                                      </p:to>
                                    </p:set>
                                    <p:animEffect transition="in" filter="blinds(vertical)">
                                      <p:cBhvr>
                                        <p:cTn id="22" dur="500"/>
                                        <p:tgtEl>
                                          <p:spTgt spid="12974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7460" grpId="0" animBg="1" autoUpdateAnimBg="0"/>
      <p:bldP spid="1297493" grpId="0" animBg="1" autoUpdateAnimBg="0"/>
      <p:bldP spid="1297494" grpId="0" animBg="1" autoUpdateAnimBg="0"/>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日期占位符 1">
            <a:extLst>
              <a:ext uri="{FF2B5EF4-FFF2-40B4-BE49-F238E27FC236}">
                <a16:creationId xmlns:a16="http://schemas.microsoft.com/office/drawing/2014/main" id="{359293D6-14A1-4510-846F-363C74398272}"/>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04DDBD79-F924-48F4-9AEE-28AA7B9C2344}"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62467" name="Rectangle 1029">
            <a:extLst>
              <a:ext uri="{FF2B5EF4-FFF2-40B4-BE49-F238E27FC236}">
                <a16:creationId xmlns:a16="http://schemas.microsoft.com/office/drawing/2014/main" id="{079B4939-D1A3-4B01-973D-45C3B2EB70A3}"/>
              </a:ext>
            </a:extLst>
          </p:cNvPr>
          <p:cNvSpPr>
            <a:spLocks noChangeArrowheads="1"/>
          </p:cNvSpPr>
          <p:nvPr/>
        </p:nvSpPr>
        <p:spPr bwMode="auto">
          <a:xfrm>
            <a:off x="2971800" y="990600"/>
            <a:ext cx="7315200" cy="914400"/>
          </a:xfrm>
          <a:prstGeom prst="rect">
            <a:avLst/>
          </a:prstGeom>
          <a:solidFill>
            <a:schemeClr val="bg1"/>
          </a:solidFill>
          <a:ln w="9525">
            <a:solidFill>
              <a:schemeClr val="bg1"/>
            </a:solidFill>
            <a:miter lim="800000"/>
            <a:headEnd/>
            <a:tailEnd/>
          </a:ln>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endParaRPr lang="zh-CN" altLang="en-US" sz="2800">
              <a:solidFill>
                <a:schemeClr val="tx1"/>
              </a:solidFill>
              <a:latin typeface="Times New Roman" panose="02020603050405020304" pitchFamily="18" charset="0"/>
              <a:ea typeface="楷体_GB2312" pitchFamily="49" charset="-122"/>
            </a:endParaRPr>
          </a:p>
        </p:txBody>
      </p:sp>
      <p:sp>
        <p:nvSpPr>
          <p:cNvPr id="62468" name="Line 1088">
            <a:extLst>
              <a:ext uri="{FF2B5EF4-FFF2-40B4-BE49-F238E27FC236}">
                <a16:creationId xmlns:a16="http://schemas.microsoft.com/office/drawing/2014/main" id="{19FE4E35-2697-4E67-8DF9-4F0E4737C05B}"/>
              </a:ext>
            </a:extLst>
          </p:cNvPr>
          <p:cNvSpPr>
            <a:spLocks noChangeShapeType="1"/>
          </p:cNvSpPr>
          <p:nvPr/>
        </p:nvSpPr>
        <p:spPr bwMode="auto">
          <a:xfrm>
            <a:off x="9220200" y="27432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2469" name="Group 1129">
            <a:extLst>
              <a:ext uri="{FF2B5EF4-FFF2-40B4-BE49-F238E27FC236}">
                <a16:creationId xmlns:a16="http://schemas.microsoft.com/office/drawing/2014/main" id="{A45A21AE-3451-4E9C-8DD8-D659DD25BCCF}"/>
              </a:ext>
            </a:extLst>
          </p:cNvPr>
          <p:cNvGrpSpPr>
            <a:grpSpLocks/>
          </p:cNvGrpSpPr>
          <p:nvPr/>
        </p:nvGrpSpPr>
        <p:grpSpPr bwMode="auto">
          <a:xfrm>
            <a:off x="3505200" y="381000"/>
            <a:ext cx="2819400" cy="2971800"/>
            <a:chOff x="1248" y="240"/>
            <a:chExt cx="1776" cy="1872"/>
          </a:xfrm>
        </p:grpSpPr>
        <p:sp>
          <p:nvSpPr>
            <p:cNvPr id="1299562" name="Text Box 1130">
              <a:extLst>
                <a:ext uri="{FF2B5EF4-FFF2-40B4-BE49-F238E27FC236}">
                  <a16:creationId xmlns:a16="http://schemas.microsoft.com/office/drawing/2014/main" id="{76D0D74A-51EC-45F2-97CB-A1F24B7F344F}"/>
                </a:ext>
              </a:extLst>
            </p:cNvPr>
            <p:cNvSpPr txBox="1">
              <a:spLocks noChangeArrowheads="1"/>
            </p:cNvSpPr>
            <p:nvPr/>
          </p:nvSpPr>
          <p:spPr bwMode="auto">
            <a:xfrm>
              <a:off x="1248" y="816"/>
              <a:ext cx="187" cy="212"/>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1600" b="1">
                  <a:solidFill>
                    <a:srgbClr val="EF8D2B"/>
                  </a:solidFill>
                  <a:effectLst>
                    <a:outerShdw blurRad="38100" dist="38100" dir="2700000" algn="tl">
                      <a:srgbClr val="000000"/>
                    </a:outerShdw>
                  </a:effectLst>
                  <a:ea typeface="文鼎细圆" pitchFamily="49" charset="-122"/>
                </a:rPr>
                <a:t>b</a:t>
              </a:r>
            </a:p>
          </p:txBody>
        </p:sp>
        <p:sp>
          <p:nvSpPr>
            <p:cNvPr id="1299563" name="Text Box 1131">
              <a:extLst>
                <a:ext uri="{FF2B5EF4-FFF2-40B4-BE49-F238E27FC236}">
                  <a16:creationId xmlns:a16="http://schemas.microsoft.com/office/drawing/2014/main" id="{54C84838-7C33-49CA-98E8-EAE4E0740AA3}"/>
                </a:ext>
              </a:extLst>
            </p:cNvPr>
            <p:cNvSpPr txBox="1">
              <a:spLocks noChangeArrowheads="1"/>
            </p:cNvSpPr>
            <p:nvPr/>
          </p:nvSpPr>
          <p:spPr bwMode="auto">
            <a:xfrm>
              <a:off x="1248" y="1680"/>
              <a:ext cx="187" cy="212"/>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1600" b="1">
                  <a:solidFill>
                    <a:srgbClr val="EF8D2B"/>
                  </a:solidFill>
                  <a:effectLst>
                    <a:outerShdw blurRad="38100" dist="38100" dir="2700000" algn="tl">
                      <a:srgbClr val="000000"/>
                    </a:outerShdw>
                  </a:effectLst>
                  <a:ea typeface="文鼎细圆" pitchFamily="49" charset="-122"/>
                </a:rPr>
                <a:t>d</a:t>
              </a:r>
            </a:p>
          </p:txBody>
        </p:sp>
        <p:sp>
          <p:nvSpPr>
            <p:cNvPr id="1299564" name="Text Box 1132">
              <a:extLst>
                <a:ext uri="{FF2B5EF4-FFF2-40B4-BE49-F238E27FC236}">
                  <a16:creationId xmlns:a16="http://schemas.microsoft.com/office/drawing/2014/main" id="{16ABF5B0-96A2-4414-AC10-1C40CD14BA1B}"/>
                </a:ext>
              </a:extLst>
            </p:cNvPr>
            <p:cNvSpPr txBox="1">
              <a:spLocks noChangeArrowheads="1"/>
            </p:cNvSpPr>
            <p:nvPr/>
          </p:nvSpPr>
          <p:spPr bwMode="auto">
            <a:xfrm>
              <a:off x="1920" y="240"/>
              <a:ext cx="288" cy="212"/>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1600" b="1">
                  <a:solidFill>
                    <a:srgbClr val="EF8D2B"/>
                  </a:solidFill>
                  <a:effectLst>
                    <a:outerShdw blurRad="38100" dist="38100" dir="2700000" algn="tl">
                      <a:srgbClr val="000000"/>
                    </a:outerShdw>
                  </a:effectLst>
                  <a:ea typeface="文鼎细圆" pitchFamily="49" charset="-122"/>
                </a:rPr>
                <a:t>a</a:t>
              </a:r>
            </a:p>
          </p:txBody>
        </p:sp>
        <p:sp>
          <p:nvSpPr>
            <p:cNvPr id="1299565" name="Text Box 1133">
              <a:extLst>
                <a:ext uri="{FF2B5EF4-FFF2-40B4-BE49-F238E27FC236}">
                  <a16:creationId xmlns:a16="http://schemas.microsoft.com/office/drawing/2014/main" id="{B7332644-8F79-4D3A-AE45-E24A35151AC7}"/>
                </a:ext>
              </a:extLst>
            </p:cNvPr>
            <p:cNvSpPr txBox="1">
              <a:spLocks noChangeArrowheads="1"/>
            </p:cNvSpPr>
            <p:nvPr/>
          </p:nvSpPr>
          <p:spPr bwMode="auto">
            <a:xfrm>
              <a:off x="2736" y="672"/>
              <a:ext cx="223" cy="212"/>
            </a:xfrm>
            <a:prstGeom prst="rect">
              <a:avLst/>
            </a:prstGeom>
            <a:noFill/>
            <a:ln w="9525">
              <a:noFill/>
              <a:miter lim="800000"/>
              <a:headEnd/>
              <a:tailEnd/>
            </a:ln>
            <a:effectLst/>
          </p:spPr>
          <p:txBody>
            <a:bodyPr>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1600" b="1">
                  <a:solidFill>
                    <a:srgbClr val="EF8D2B"/>
                  </a:solidFill>
                  <a:effectLst>
                    <a:outerShdw blurRad="38100" dist="38100" dir="2700000" algn="tl">
                      <a:srgbClr val="000000"/>
                    </a:outerShdw>
                  </a:effectLst>
                  <a:ea typeface="文鼎细圆" pitchFamily="49" charset="-122"/>
                </a:rPr>
                <a:t>c</a:t>
              </a:r>
            </a:p>
          </p:txBody>
        </p:sp>
        <p:sp>
          <p:nvSpPr>
            <p:cNvPr id="1299566" name="Text Box 1134">
              <a:extLst>
                <a:ext uri="{FF2B5EF4-FFF2-40B4-BE49-F238E27FC236}">
                  <a16:creationId xmlns:a16="http://schemas.microsoft.com/office/drawing/2014/main" id="{BB763DA1-467F-4306-A8BD-DACFDA621A37}"/>
                </a:ext>
              </a:extLst>
            </p:cNvPr>
            <p:cNvSpPr txBox="1">
              <a:spLocks noChangeArrowheads="1"/>
            </p:cNvSpPr>
            <p:nvPr/>
          </p:nvSpPr>
          <p:spPr bwMode="auto">
            <a:xfrm>
              <a:off x="2784" y="1440"/>
              <a:ext cx="173" cy="212"/>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1600" b="1">
                  <a:solidFill>
                    <a:srgbClr val="EF8D2B"/>
                  </a:solidFill>
                  <a:effectLst>
                    <a:outerShdw blurRad="38100" dist="38100" dir="2700000" algn="tl">
                      <a:srgbClr val="000000"/>
                    </a:outerShdw>
                  </a:effectLst>
                  <a:ea typeface="文鼎细圆" pitchFamily="49" charset="-122"/>
                </a:rPr>
                <a:t>e</a:t>
              </a:r>
            </a:p>
          </p:txBody>
        </p:sp>
        <p:sp>
          <p:nvSpPr>
            <p:cNvPr id="1299567" name="AutoShape 1135">
              <a:extLst>
                <a:ext uri="{FF2B5EF4-FFF2-40B4-BE49-F238E27FC236}">
                  <a16:creationId xmlns:a16="http://schemas.microsoft.com/office/drawing/2014/main" id="{A72C9291-FDDB-454B-9043-3AAF1EA95379}"/>
                </a:ext>
              </a:extLst>
            </p:cNvPr>
            <p:cNvSpPr>
              <a:spLocks noChangeArrowheads="1"/>
            </p:cNvSpPr>
            <p:nvPr/>
          </p:nvSpPr>
          <p:spPr bwMode="auto">
            <a:xfrm>
              <a:off x="1536" y="576"/>
              <a:ext cx="1056" cy="288"/>
            </a:xfrm>
            <a:prstGeom prst="flowChartDecision">
              <a:avLst/>
            </a:prstGeom>
            <a:solidFill>
              <a:schemeClr val="bg1"/>
            </a:solidFill>
            <a:ln w="9525">
              <a:solidFill>
                <a:srgbClr val="1AA1A4"/>
              </a:solidFill>
              <a:miter lim="800000"/>
              <a:headEnd/>
              <a:tailEnd/>
            </a:ln>
            <a:effectLst/>
          </p:spPr>
          <p:txBody>
            <a:bodyPr wrap="none" anchor="ctr"/>
            <a:lstStyle/>
            <a:p>
              <a:pPr algn="ctr">
                <a:defRPr/>
              </a:pPr>
              <a:r>
                <a:rPr lang="en-US" altLang="zh-CN" sz="1200" b="1">
                  <a:solidFill>
                    <a:srgbClr val="F535F0"/>
                  </a:solidFill>
                  <a:effectLst>
                    <a:outerShdw blurRad="38100" dist="38100" dir="2700000" algn="tl">
                      <a:srgbClr val="000000"/>
                    </a:outerShdw>
                  </a:effectLst>
                  <a:latin typeface="Arial" charset="0"/>
                  <a:ea typeface="文鼎细圆" pitchFamily="49" charset="-122"/>
                </a:rPr>
                <a:t>(A&gt;1) ^ (B=0)</a:t>
              </a:r>
            </a:p>
          </p:txBody>
        </p:sp>
        <p:sp>
          <p:nvSpPr>
            <p:cNvPr id="62558" name="Line 1136">
              <a:extLst>
                <a:ext uri="{FF2B5EF4-FFF2-40B4-BE49-F238E27FC236}">
                  <a16:creationId xmlns:a16="http://schemas.microsoft.com/office/drawing/2014/main" id="{7974A32E-0D71-432F-919D-362E48895194}"/>
                </a:ext>
              </a:extLst>
            </p:cNvPr>
            <p:cNvSpPr>
              <a:spLocks noChangeShapeType="1"/>
            </p:cNvSpPr>
            <p:nvPr/>
          </p:nvSpPr>
          <p:spPr bwMode="auto">
            <a:xfrm>
              <a:off x="1440" y="720"/>
              <a:ext cx="96"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59" name="Line 1137">
              <a:extLst>
                <a:ext uri="{FF2B5EF4-FFF2-40B4-BE49-F238E27FC236}">
                  <a16:creationId xmlns:a16="http://schemas.microsoft.com/office/drawing/2014/main" id="{BBCA7E8E-E797-4146-9987-B80DD7490BE3}"/>
                </a:ext>
              </a:extLst>
            </p:cNvPr>
            <p:cNvSpPr>
              <a:spLocks noChangeShapeType="1"/>
            </p:cNvSpPr>
            <p:nvPr/>
          </p:nvSpPr>
          <p:spPr bwMode="auto">
            <a:xfrm>
              <a:off x="2736" y="720"/>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9570" name="Rectangle 1138">
              <a:extLst>
                <a:ext uri="{FF2B5EF4-FFF2-40B4-BE49-F238E27FC236}">
                  <a16:creationId xmlns:a16="http://schemas.microsoft.com/office/drawing/2014/main" id="{A9E4DC51-128B-43E1-9E6E-20F2AD0353BB}"/>
                </a:ext>
              </a:extLst>
            </p:cNvPr>
            <p:cNvSpPr>
              <a:spLocks noChangeArrowheads="1"/>
            </p:cNvSpPr>
            <p:nvPr/>
          </p:nvSpPr>
          <p:spPr bwMode="auto">
            <a:xfrm>
              <a:off x="2448" y="864"/>
              <a:ext cx="480" cy="240"/>
            </a:xfrm>
            <a:prstGeom prst="rect">
              <a:avLst/>
            </a:prstGeom>
            <a:solidFill>
              <a:schemeClr val="bg1"/>
            </a:solidFill>
            <a:ln w="9525">
              <a:solidFill>
                <a:srgbClr val="1AA1A4"/>
              </a:solidFill>
              <a:miter lim="800000"/>
              <a:headEnd/>
              <a:tailEnd/>
            </a:ln>
            <a:effectLst/>
          </p:spPr>
          <p:txBody>
            <a:bodyPr wrap="none" anchor="ctr"/>
            <a:lstStyle/>
            <a:p>
              <a:pPr algn="ctr">
                <a:defRPr/>
              </a:pPr>
              <a:r>
                <a:rPr lang="en-US" altLang="zh-CN" sz="1200" b="1">
                  <a:solidFill>
                    <a:srgbClr val="F535F0"/>
                  </a:solidFill>
                  <a:effectLst>
                    <a:outerShdw blurRad="38100" dist="38100" dir="2700000" algn="tl">
                      <a:srgbClr val="000000"/>
                    </a:outerShdw>
                  </a:effectLst>
                  <a:latin typeface="Arial" charset="0"/>
                  <a:ea typeface="文鼎细圆" pitchFamily="49" charset="-122"/>
                </a:rPr>
                <a:t>X=X/A</a:t>
              </a:r>
            </a:p>
          </p:txBody>
        </p:sp>
        <p:sp>
          <p:nvSpPr>
            <p:cNvPr id="62561" name="Line 1139">
              <a:extLst>
                <a:ext uri="{FF2B5EF4-FFF2-40B4-BE49-F238E27FC236}">
                  <a16:creationId xmlns:a16="http://schemas.microsoft.com/office/drawing/2014/main" id="{F9AD301F-0AA3-45C5-BF78-F760AB0600CA}"/>
                </a:ext>
              </a:extLst>
            </p:cNvPr>
            <p:cNvSpPr>
              <a:spLocks noChangeShapeType="1"/>
            </p:cNvSpPr>
            <p:nvPr/>
          </p:nvSpPr>
          <p:spPr bwMode="auto">
            <a:xfrm>
              <a:off x="1440" y="720"/>
              <a:ext cx="0" cy="528"/>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62" name="Line 1140">
              <a:extLst>
                <a:ext uri="{FF2B5EF4-FFF2-40B4-BE49-F238E27FC236}">
                  <a16:creationId xmlns:a16="http://schemas.microsoft.com/office/drawing/2014/main" id="{B770069F-EDFD-4178-9BE1-7743AD03499F}"/>
                </a:ext>
              </a:extLst>
            </p:cNvPr>
            <p:cNvSpPr>
              <a:spLocks noChangeShapeType="1"/>
            </p:cNvSpPr>
            <p:nvPr/>
          </p:nvSpPr>
          <p:spPr bwMode="auto">
            <a:xfrm>
              <a:off x="1440" y="1248"/>
              <a:ext cx="1296"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63" name="Line 1141">
              <a:extLst>
                <a:ext uri="{FF2B5EF4-FFF2-40B4-BE49-F238E27FC236}">
                  <a16:creationId xmlns:a16="http://schemas.microsoft.com/office/drawing/2014/main" id="{9497D3B7-D790-4D60-9103-2D9088A1E674}"/>
                </a:ext>
              </a:extLst>
            </p:cNvPr>
            <p:cNvSpPr>
              <a:spLocks noChangeShapeType="1"/>
            </p:cNvSpPr>
            <p:nvPr/>
          </p:nvSpPr>
          <p:spPr bwMode="auto">
            <a:xfrm>
              <a:off x="2064" y="1248"/>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564" name="Line 1142">
              <a:extLst>
                <a:ext uri="{FF2B5EF4-FFF2-40B4-BE49-F238E27FC236}">
                  <a16:creationId xmlns:a16="http://schemas.microsoft.com/office/drawing/2014/main" id="{D47A8BD4-FF9E-4DE7-BF72-AA0E8C72AF69}"/>
                </a:ext>
              </a:extLst>
            </p:cNvPr>
            <p:cNvSpPr>
              <a:spLocks noChangeShapeType="1"/>
            </p:cNvSpPr>
            <p:nvPr/>
          </p:nvSpPr>
          <p:spPr bwMode="auto">
            <a:xfrm>
              <a:off x="2064" y="432"/>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9575" name="Text Box 1143">
              <a:extLst>
                <a:ext uri="{FF2B5EF4-FFF2-40B4-BE49-F238E27FC236}">
                  <a16:creationId xmlns:a16="http://schemas.microsoft.com/office/drawing/2014/main" id="{8CCF8BA3-E92C-48F4-A069-C0B15C0C37CA}"/>
                </a:ext>
              </a:extLst>
            </p:cNvPr>
            <p:cNvSpPr txBox="1">
              <a:spLocks noChangeArrowheads="1"/>
            </p:cNvSpPr>
            <p:nvPr/>
          </p:nvSpPr>
          <p:spPr bwMode="auto">
            <a:xfrm>
              <a:off x="2640" y="528"/>
              <a:ext cx="180" cy="173"/>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1200" b="1">
                  <a:solidFill>
                    <a:schemeClr val="accent2"/>
                  </a:solidFill>
                  <a:effectLst>
                    <a:outerShdw blurRad="38100" dist="38100" dir="2700000" algn="tl">
                      <a:srgbClr val="000000"/>
                    </a:outerShdw>
                  </a:effectLst>
                  <a:ea typeface="文鼎细圆" pitchFamily="49" charset="-122"/>
                </a:rPr>
                <a:t>T</a:t>
              </a:r>
            </a:p>
          </p:txBody>
        </p:sp>
        <p:sp>
          <p:nvSpPr>
            <p:cNvPr id="1299576" name="Text Box 1144">
              <a:extLst>
                <a:ext uri="{FF2B5EF4-FFF2-40B4-BE49-F238E27FC236}">
                  <a16:creationId xmlns:a16="http://schemas.microsoft.com/office/drawing/2014/main" id="{7C31EFCA-71D4-4F09-A0B8-76B9F80DF07D}"/>
                </a:ext>
              </a:extLst>
            </p:cNvPr>
            <p:cNvSpPr txBox="1">
              <a:spLocks noChangeArrowheads="1"/>
            </p:cNvSpPr>
            <p:nvPr/>
          </p:nvSpPr>
          <p:spPr bwMode="auto">
            <a:xfrm>
              <a:off x="1392" y="528"/>
              <a:ext cx="175" cy="173"/>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1200" b="1">
                  <a:solidFill>
                    <a:schemeClr val="accent2"/>
                  </a:solidFill>
                  <a:effectLst>
                    <a:outerShdw blurRad="38100" dist="38100" dir="2700000" algn="tl">
                      <a:srgbClr val="000000"/>
                    </a:outerShdw>
                  </a:effectLst>
                  <a:ea typeface="文鼎细圆" pitchFamily="49" charset="-122"/>
                </a:rPr>
                <a:t>F</a:t>
              </a:r>
            </a:p>
          </p:txBody>
        </p:sp>
        <p:sp>
          <p:nvSpPr>
            <p:cNvPr id="62567" name="Line 1145">
              <a:extLst>
                <a:ext uri="{FF2B5EF4-FFF2-40B4-BE49-F238E27FC236}">
                  <a16:creationId xmlns:a16="http://schemas.microsoft.com/office/drawing/2014/main" id="{C7277F9E-73C2-4FF2-9242-A0F39AAE85EF}"/>
                </a:ext>
              </a:extLst>
            </p:cNvPr>
            <p:cNvSpPr>
              <a:spLocks noChangeShapeType="1"/>
            </p:cNvSpPr>
            <p:nvPr/>
          </p:nvSpPr>
          <p:spPr bwMode="auto">
            <a:xfrm>
              <a:off x="2592" y="720"/>
              <a:ext cx="1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68" name="Line 1146">
              <a:extLst>
                <a:ext uri="{FF2B5EF4-FFF2-40B4-BE49-F238E27FC236}">
                  <a16:creationId xmlns:a16="http://schemas.microsoft.com/office/drawing/2014/main" id="{F1ADDC0C-C7D6-47E7-B78D-6A2E33CE39CE}"/>
                </a:ext>
              </a:extLst>
            </p:cNvPr>
            <p:cNvSpPr>
              <a:spLocks noChangeShapeType="1"/>
            </p:cNvSpPr>
            <p:nvPr/>
          </p:nvSpPr>
          <p:spPr bwMode="auto">
            <a:xfrm>
              <a:off x="2736" y="1104"/>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9579" name="AutoShape 1147">
              <a:extLst>
                <a:ext uri="{FF2B5EF4-FFF2-40B4-BE49-F238E27FC236}">
                  <a16:creationId xmlns:a16="http://schemas.microsoft.com/office/drawing/2014/main" id="{0C84246F-4A27-4C0C-8D03-111035667875}"/>
                </a:ext>
              </a:extLst>
            </p:cNvPr>
            <p:cNvSpPr>
              <a:spLocks noChangeArrowheads="1"/>
            </p:cNvSpPr>
            <p:nvPr/>
          </p:nvSpPr>
          <p:spPr bwMode="auto">
            <a:xfrm>
              <a:off x="1536" y="1392"/>
              <a:ext cx="1056" cy="288"/>
            </a:xfrm>
            <a:prstGeom prst="flowChartDecision">
              <a:avLst/>
            </a:prstGeom>
            <a:solidFill>
              <a:schemeClr val="bg1"/>
            </a:solidFill>
            <a:ln w="9525">
              <a:solidFill>
                <a:srgbClr val="1AA1A4"/>
              </a:solidFill>
              <a:miter lim="800000"/>
              <a:headEnd/>
              <a:tailEnd/>
            </a:ln>
            <a:effectLst/>
          </p:spPr>
          <p:txBody>
            <a:bodyPr wrap="none" anchor="ctr"/>
            <a:lstStyle/>
            <a:p>
              <a:pPr algn="ctr">
                <a:defRPr/>
              </a:pPr>
              <a:r>
                <a:rPr lang="en-US" altLang="zh-CN" sz="1200" b="1">
                  <a:solidFill>
                    <a:srgbClr val="F535F0"/>
                  </a:solidFill>
                  <a:effectLst>
                    <a:outerShdw blurRad="38100" dist="38100" dir="2700000" algn="tl">
                      <a:srgbClr val="000000"/>
                    </a:outerShdw>
                  </a:effectLst>
                  <a:latin typeface="Arial" charset="0"/>
                  <a:ea typeface="文鼎细圆" pitchFamily="49" charset="-122"/>
                </a:rPr>
                <a:t>(A=2) V (X&gt;1)</a:t>
              </a:r>
            </a:p>
          </p:txBody>
        </p:sp>
        <p:sp>
          <p:nvSpPr>
            <p:cNvPr id="1299580" name="Rectangle 1148">
              <a:extLst>
                <a:ext uri="{FF2B5EF4-FFF2-40B4-BE49-F238E27FC236}">
                  <a16:creationId xmlns:a16="http://schemas.microsoft.com/office/drawing/2014/main" id="{24031215-5100-453A-80DF-24A88AB9E315}"/>
                </a:ext>
              </a:extLst>
            </p:cNvPr>
            <p:cNvSpPr>
              <a:spLocks noChangeArrowheads="1"/>
            </p:cNvSpPr>
            <p:nvPr/>
          </p:nvSpPr>
          <p:spPr bwMode="auto">
            <a:xfrm>
              <a:off x="2544" y="1680"/>
              <a:ext cx="480" cy="240"/>
            </a:xfrm>
            <a:prstGeom prst="rect">
              <a:avLst/>
            </a:prstGeom>
            <a:solidFill>
              <a:schemeClr val="bg1"/>
            </a:solidFill>
            <a:ln w="9525">
              <a:solidFill>
                <a:srgbClr val="1AA1A4"/>
              </a:solidFill>
              <a:miter lim="800000"/>
              <a:headEnd/>
              <a:tailEnd/>
            </a:ln>
            <a:effectLst/>
          </p:spPr>
          <p:txBody>
            <a:bodyPr wrap="none" anchor="ctr"/>
            <a:lstStyle/>
            <a:p>
              <a:pPr algn="ctr">
                <a:defRPr/>
              </a:pPr>
              <a:r>
                <a:rPr lang="en-US" altLang="zh-CN" sz="1200" b="1">
                  <a:solidFill>
                    <a:srgbClr val="F535F0"/>
                  </a:solidFill>
                  <a:effectLst>
                    <a:outerShdw blurRad="38100" dist="38100" dir="2700000" algn="tl">
                      <a:srgbClr val="000000"/>
                    </a:outerShdw>
                  </a:effectLst>
                  <a:latin typeface="Arial" charset="0"/>
                  <a:ea typeface="文鼎细圆" pitchFamily="49" charset="-122"/>
                </a:rPr>
                <a:t>X=X+1</a:t>
              </a:r>
            </a:p>
          </p:txBody>
        </p:sp>
        <p:sp>
          <p:nvSpPr>
            <p:cNvPr id="1299581" name="Text Box 1149">
              <a:extLst>
                <a:ext uri="{FF2B5EF4-FFF2-40B4-BE49-F238E27FC236}">
                  <a16:creationId xmlns:a16="http://schemas.microsoft.com/office/drawing/2014/main" id="{79D2DB1A-CF3B-4DF9-87C8-71B0CCBAAADD}"/>
                </a:ext>
              </a:extLst>
            </p:cNvPr>
            <p:cNvSpPr txBox="1">
              <a:spLocks noChangeArrowheads="1"/>
            </p:cNvSpPr>
            <p:nvPr/>
          </p:nvSpPr>
          <p:spPr bwMode="auto">
            <a:xfrm>
              <a:off x="2592" y="1344"/>
              <a:ext cx="180" cy="173"/>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1200" b="1">
                  <a:solidFill>
                    <a:schemeClr val="accent2"/>
                  </a:solidFill>
                  <a:effectLst>
                    <a:outerShdw blurRad="38100" dist="38100" dir="2700000" algn="tl">
                      <a:srgbClr val="000000"/>
                    </a:outerShdw>
                  </a:effectLst>
                  <a:ea typeface="文鼎细圆" pitchFamily="49" charset="-122"/>
                </a:rPr>
                <a:t>T</a:t>
              </a:r>
            </a:p>
          </p:txBody>
        </p:sp>
        <p:sp>
          <p:nvSpPr>
            <p:cNvPr id="62572" name="Line 1150">
              <a:extLst>
                <a:ext uri="{FF2B5EF4-FFF2-40B4-BE49-F238E27FC236}">
                  <a16:creationId xmlns:a16="http://schemas.microsoft.com/office/drawing/2014/main" id="{61A5523F-0F31-4572-8BEE-7AE48F5C9555}"/>
                </a:ext>
              </a:extLst>
            </p:cNvPr>
            <p:cNvSpPr>
              <a:spLocks noChangeShapeType="1"/>
            </p:cNvSpPr>
            <p:nvPr/>
          </p:nvSpPr>
          <p:spPr bwMode="auto">
            <a:xfrm>
              <a:off x="1440" y="1536"/>
              <a:ext cx="0" cy="48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73" name="Line 1151">
              <a:extLst>
                <a:ext uri="{FF2B5EF4-FFF2-40B4-BE49-F238E27FC236}">
                  <a16:creationId xmlns:a16="http://schemas.microsoft.com/office/drawing/2014/main" id="{F9FDC45E-68E7-4834-94FD-8CE6F20C05DD}"/>
                </a:ext>
              </a:extLst>
            </p:cNvPr>
            <p:cNvSpPr>
              <a:spLocks noChangeShapeType="1"/>
            </p:cNvSpPr>
            <p:nvPr/>
          </p:nvSpPr>
          <p:spPr bwMode="auto">
            <a:xfrm>
              <a:off x="1440" y="2016"/>
              <a:ext cx="1344"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9584" name="Text Box 1152">
              <a:extLst>
                <a:ext uri="{FF2B5EF4-FFF2-40B4-BE49-F238E27FC236}">
                  <a16:creationId xmlns:a16="http://schemas.microsoft.com/office/drawing/2014/main" id="{5EA69415-2A88-4D9C-964C-14B8B94D3159}"/>
                </a:ext>
              </a:extLst>
            </p:cNvPr>
            <p:cNvSpPr txBox="1">
              <a:spLocks noChangeArrowheads="1"/>
            </p:cNvSpPr>
            <p:nvPr/>
          </p:nvSpPr>
          <p:spPr bwMode="auto">
            <a:xfrm>
              <a:off x="1392" y="1344"/>
              <a:ext cx="175" cy="173"/>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1200" b="1">
                  <a:solidFill>
                    <a:schemeClr val="accent2"/>
                  </a:solidFill>
                  <a:effectLst>
                    <a:outerShdw blurRad="38100" dist="38100" dir="2700000" algn="tl">
                      <a:srgbClr val="000000"/>
                    </a:outerShdw>
                  </a:effectLst>
                  <a:ea typeface="文鼎细圆" pitchFamily="49" charset="-122"/>
                </a:rPr>
                <a:t>F</a:t>
              </a:r>
            </a:p>
          </p:txBody>
        </p:sp>
        <p:sp>
          <p:nvSpPr>
            <p:cNvPr id="62575" name="Line 1153">
              <a:extLst>
                <a:ext uri="{FF2B5EF4-FFF2-40B4-BE49-F238E27FC236}">
                  <a16:creationId xmlns:a16="http://schemas.microsoft.com/office/drawing/2014/main" id="{56661DD0-49D1-4B16-87F3-484CAD313445}"/>
                </a:ext>
              </a:extLst>
            </p:cNvPr>
            <p:cNvSpPr>
              <a:spLocks noChangeShapeType="1"/>
            </p:cNvSpPr>
            <p:nvPr/>
          </p:nvSpPr>
          <p:spPr bwMode="auto">
            <a:xfrm>
              <a:off x="2592" y="1536"/>
              <a:ext cx="192"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76" name="Line 1154">
              <a:extLst>
                <a:ext uri="{FF2B5EF4-FFF2-40B4-BE49-F238E27FC236}">
                  <a16:creationId xmlns:a16="http://schemas.microsoft.com/office/drawing/2014/main" id="{D7E28977-8761-4F88-9D4E-48E03096E120}"/>
                </a:ext>
              </a:extLst>
            </p:cNvPr>
            <p:cNvSpPr>
              <a:spLocks noChangeShapeType="1"/>
            </p:cNvSpPr>
            <p:nvPr/>
          </p:nvSpPr>
          <p:spPr bwMode="auto">
            <a:xfrm>
              <a:off x="2784" y="1536"/>
              <a:ext cx="0" cy="144"/>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577" name="Line 1155">
              <a:extLst>
                <a:ext uri="{FF2B5EF4-FFF2-40B4-BE49-F238E27FC236}">
                  <a16:creationId xmlns:a16="http://schemas.microsoft.com/office/drawing/2014/main" id="{36E6E461-05BA-45BF-A8B2-3BE52BF008AF}"/>
                </a:ext>
              </a:extLst>
            </p:cNvPr>
            <p:cNvSpPr>
              <a:spLocks noChangeShapeType="1"/>
            </p:cNvSpPr>
            <p:nvPr/>
          </p:nvSpPr>
          <p:spPr bwMode="auto">
            <a:xfrm>
              <a:off x="2784" y="1920"/>
              <a:ext cx="0" cy="96"/>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78" name="Line 1156">
              <a:extLst>
                <a:ext uri="{FF2B5EF4-FFF2-40B4-BE49-F238E27FC236}">
                  <a16:creationId xmlns:a16="http://schemas.microsoft.com/office/drawing/2014/main" id="{2AC053C7-7CAD-4C27-9EEE-E97CD64BA34F}"/>
                </a:ext>
              </a:extLst>
            </p:cNvPr>
            <p:cNvSpPr>
              <a:spLocks noChangeShapeType="1"/>
            </p:cNvSpPr>
            <p:nvPr/>
          </p:nvSpPr>
          <p:spPr bwMode="auto">
            <a:xfrm>
              <a:off x="2064" y="2016"/>
              <a:ext cx="0" cy="96"/>
            </a:xfrm>
            <a:prstGeom prst="line">
              <a:avLst/>
            </a:prstGeom>
            <a:noFill/>
            <a:ln w="12700">
              <a:solidFill>
                <a:srgbClr val="1AA1A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579" name="Line 1157">
              <a:extLst>
                <a:ext uri="{FF2B5EF4-FFF2-40B4-BE49-F238E27FC236}">
                  <a16:creationId xmlns:a16="http://schemas.microsoft.com/office/drawing/2014/main" id="{C455B2CF-D680-4C4C-B99E-8123C8C30370}"/>
                </a:ext>
              </a:extLst>
            </p:cNvPr>
            <p:cNvSpPr>
              <a:spLocks noChangeShapeType="1"/>
            </p:cNvSpPr>
            <p:nvPr/>
          </p:nvSpPr>
          <p:spPr bwMode="auto">
            <a:xfrm>
              <a:off x="1440" y="1536"/>
              <a:ext cx="96" cy="0"/>
            </a:xfrm>
            <a:prstGeom prst="line">
              <a:avLst/>
            </a:prstGeom>
            <a:noFill/>
            <a:ln w="12700">
              <a:solidFill>
                <a:srgbClr val="1AA1A4"/>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1299694" name="Group 1262">
            <a:extLst>
              <a:ext uri="{FF2B5EF4-FFF2-40B4-BE49-F238E27FC236}">
                <a16:creationId xmlns:a16="http://schemas.microsoft.com/office/drawing/2014/main" id="{088B30FA-B066-4094-9197-B06F814DEEA7}"/>
              </a:ext>
            </a:extLst>
          </p:cNvPr>
          <p:cNvGraphicFramePr>
            <a:graphicFrameLocks noGrp="1"/>
          </p:cNvGraphicFramePr>
          <p:nvPr/>
        </p:nvGraphicFramePr>
        <p:xfrm>
          <a:off x="6553200" y="1143000"/>
          <a:ext cx="3276600" cy="1752600"/>
        </p:xfrm>
        <a:graphic>
          <a:graphicData uri="http://schemas.openxmlformats.org/drawingml/2006/table">
            <a:tbl>
              <a:tblPr/>
              <a:tblGrid>
                <a:gridCol w="711200">
                  <a:extLst>
                    <a:ext uri="{9D8B030D-6E8A-4147-A177-3AD203B41FA5}">
                      <a16:colId xmlns:a16="http://schemas.microsoft.com/office/drawing/2014/main" val="20000"/>
                    </a:ext>
                  </a:extLst>
                </a:gridCol>
                <a:gridCol w="896938">
                  <a:extLst>
                    <a:ext uri="{9D8B030D-6E8A-4147-A177-3AD203B41FA5}">
                      <a16:colId xmlns:a16="http://schemas.microsoft.com/office/drawing/2014/main" val="20001"/>
                    </a:ext>
                  </a:extLst>
                </a:gridCol>
                <a:gridCol w="865187">
                  <a:extLst>
                    <a:ext uri="{9D8B030D-6E8A-4147-A177-3AD203B41FA5}">
                      <a16:colId xmlns:a16="http://schemas.microsoft.com/office/drawing/2014/main" val="20002"/>
                    </a:ext>
                  </a:extLst>
                </a:gridCol>
                <a:gridCol w="803275">
                  <a:extLst>
                    <a:ext uri="{9D8B030D-6E8A-4147-A177-3AD203B41FA5}">
                      <a16:colId xmlns:a16="http://schemas.microsoft.com/office/drawing/2014/main" val="20003"/>
                    </a:ext>
                  </a:extLst>
                </a:gridCol>
              </a:tblGrid>
              <a:tr h="3397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判断</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条件</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取真值</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chemeClr val="accent2"/>
                          </a:solidFill>
                          <a:effectLst/>
                          <a:latin typeface="黑体" pitchFamily="2" charset="-122"/>
                          <a:ea typeface="黑体" pitchFamily="2" charset="-122"/>
                        </a:rPr>
                        <a:t>取假值</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38138">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判断</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(一)</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A&gt;1</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T1</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T1</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972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B=0</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T2</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T2</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39725">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判断</a:t>
                      </a:r>
                    </a:p>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1" i="0" u="none" strike="noStrike" cap="none" normalizeH="0" baseline="0">
                          <a:ln>
                            <a:noFill/>
                          </a:ln>
                          <a:solidFill>
                            <a:srgbClr val="16369C"/>
                          </a:solidFill>
                          <a:effectLst/>
                          <a:latin typeface="黑体" pitchFamily="2" charset="-122"/>
                          <a:ea typeface="黑体" pitchFamily="2" charset="-122"/>
                        </a:rPr>
                        <a:t>(二)</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A=2</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T3</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T3</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95288">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X&gt;1</a:t>
                      </a:r>
                    </a:p>
                  </a:txBody>
                  <a:tcPr anchor="ctr"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T4</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1" i="0" u="none" strike="noStrike" cap="none" normalizeH="0" baseline="0">
                          <a:ln>
                            <a:noFill/>
                          </a:ln>
                          <a:solidFill>
                            <a:srgbClr val="16369C"/>
                          </a:solidFill>
                          <a:effectLst/>
                          <a:latin typeface="Arial" charset="0"/>
                          <a:ea typeface="黑体" pitchFamily="2" charset="-122"/>
                        </a:rPr>
                        <a:t>T4</a:t>
                      </a:r>
                    </a:p>
                  </a:txBody>
                  <a:tcPr anchor="b" horzOverflow="overflow">
                    <a:lnL w="12700" cap="flat" cmpd="sng" algn="ctr">
                      <a:solidFill>
                        <a:srgbClr val="49AB39"/>
                      </a:solidFill>
                      <a:prstDash val="solid"/>
                      <a:round/>
                      <a:headEnd type="none" w="med" len="med"/>
                      <a:tailEnd type="none" w="med" len="med"/>
                    </a:lnL>
                    <a:lnR w="12700" cap="flat" cmpd="sng" algn="ctr">
                      <a:solidFill>
                        <a:srgbClr val="49AB39"/>
                      </a:solidFill>
                      <a:prstDash val="solid"/>
                      <a:round/>
                      <a:headEnd type="none" w="med" len="med"/>
                      <a:tailEnd type="none" w="med" len="med"/>
                    </a:lnR>
                    <a:lnT w="12700" cap="flat" cmpd="sng" algn="ctr">
                      <a:solidFill>
                        <a:srgbClr val="49AB39"/>
                      </a:solidFill>
                      <a:prstDash val="solid"/>
                      <a:round/>
                      <a:headEnd type="none" w="med" len="med"/>
                      <a:tailEnd type="none" w="med" len="med"/>
                    </a:lnT>
                    <a:lnB w="12700" cap="flat" cmpd="sng" algn="ctr">
                      <a:solidFill>
                        <a:srgbClr val="49AB39"/>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62500" name="Line 1191">
            <a:extLst>
              <a:ext uri="{FF2B5EF4-FFF2-40B4-BE49-F238E27FC236}">
                <a16:creationId xmlns:a16="http://schemas.microsoft.com/office/drawing/2014/main" id="{6A895161-4C67-4900-BAC7-CC2C5C615774}"/>
              </a:ext>
            </a:extLst>
          </p:cNvPr>
          <p:cNvSpPr>
            <a:spLocks noChangeShapeType="1"/>
          </p:cNvSpPr>
          <p:nvPr/>
        </p:nvSpPr>
        <p:spPr bwMode="auto">
          <a:xfrm>
            <a:off x="9296400" y="25908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9625" name="Rectangle 1193">
            <a:extLst>
              <a:ext uri="{FF2B5EF4-FFF2-40B4-BE49-F238E27FC236}">
                <a16:creationId xmlns:a16="http://schemas.microsoft.com/office/drawing/2014/main" id="{6DEAA8F2-E0E5-4112-9CEB-40078BBC22D7}"/>
              </a:ext>
            </a:extLst>
          </p:cNvPr>
          <p:cNvSpPr>
            <a:spLocks noChangeArrowheads="1"/>
          </p:cNvSpPr>
          <p:nvPr/>
        </p:nvSpPr>
        <p:spPr bwMode="auto">
          <a:xfrm>
            <a:off x="4191000" y="3505200"/>
            <a:ext cx="487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r>
              <a:rPr lang="zh-CN" altLang="en-US" sz="1800" b="1">
                <a:solidFill>
                  <a:srgbClr val="16369C"/>
                </a:solidFill>
                <a:latin typeface="黑体" panose="02010609060101010101" pitchFamily="49" charset="-122"/>
                <a:ea typeface="黑体" panose="02010609060101010101" pitchFamily="49" charset="-122"/>
              </a:rPr>
              <a:t>   </a:t>
            </a:r>
            <a:r>
              <a:rPr lang="zh-CN" altLang="en-US" sz="1800">
                <a:solidFill>
                  <a:srgbClr val="16369C"/>
                </a:solidFill>
                <a:latin typeface="黑体" panose="02010609060101010101" pitchFamily="49" charset="-122"/>
                <a:ea typeface="黑体" panose="02010609060101010101" pitchFamily="49" charset="-122"/>
              </a:rPr>
              <a:t>路径测试可选取的 </a:t>
            </a:r>
            <a:r>
              <a:rPr lang="zh-CN" altLang="en-US" sz="1800">
                <a:solidFill>
                  <a:schemeClr val="accent2"/>
                </a:solidFill>
                <a:latin typeface="黑体" panose="02010609060101010101" pitchFamily="49" charset="-122"/>
                <a:ea typeface="黑体" panose="02010609060101010101" pitchFamily="49" charset="-122"/>
              </a:rPr>
              <a:t>测试用例</a:t>
            </a:r>
            <a:r>
              <a:rPr lang="zh-CN" altLang="en-US" sz="1800">
                <a:solidFill>
                  <a:srgbClr val="345BC8"/>
                </a:solidFill>
                <a:latin typeface="黑体" panose="02010609060101010101" pitchFamily="49" charset="-122"/>
                <a:ea typeface="黑体" panose="02010609060101010101" pitchFamily="49" charset="-122"/>
              </a:rPr>
              <a:t> </a:t>
            </a:r>
            <a:r>
              <a:rPr lang="zh-CN" altLang="en-US" sz="1800">
                <a:solidFill>
                  <a:srgbClr val="16369C"/>
                </a:solidFill>
                <a:latin typeface="黑体" panose="02010609060101010101" pitchFamily="49" charset="-122"/>
                <a:ea typeface="黑体" panose="02010609060101010101" pitchFamily="49" charset="-122"/>
              </a:rPr>
              <a:t>如下表 </a:t>
            </a:r>
          </a:p>
        </p:txBody>
      </p:sp>
      <p:graphicFrame>
        <p:nvGraphicFramePr>
          <p:cNvPr id="1299685" name="Group 1253">
            <a:extLst>
              <a:ext uri="{FF2B5EF4-FFF2-40B4-BE49-F238E27FC236}">
                <a16:creationId xmlns:a16="http://schemas.microsoft.com/office/drawing/2014/main" id="{F7148E5D-D25C-45F8-AD4E-6DBA750CB1B6}"/>
              </a:ext>
            </a:extLst>
          </p:cNvPr>
          <p:cNvGraphicFramePr>
            <a:graphicFrameLocks noGrp="1"/>
          </p:cNvGraphicFramePr>
          <p:nvPr/>
        </p:nvGraphicFramePr>
        <p:xfrm>
          <a:off x="4267201" y="4038600"/>
          <a:ext cx="4587875" cy="2286000"/>
        </p:xfrm>
        <a:graphic>
          <a:graphicData uri="http://schemas.openxmlformats.org/drawingml/2006/table">
            <a:tbl>
              <a:tblPr/>
              <a:tblGrid>
                <a:gridCol w="1628775">
                  <a:extLst>
                    <a:ext uri="{9D8B030D-6E8A-4147-A177-3AD203B41FA5}">
                      <a16:colId xmlns:a16="http://schemas.microsoft.com/office/drawing/2014/main" val="20000"/>
                    </a:ext>
                  </a:extLst>
                </a:gridCol>
                <a:gridCol w="1304925">
                  <a:extLst>
                    <a:ext uri="{9D8B030D-6E8A-4147-A177-3AD203B41FA5}">
                      <a16:colId xmlns:a16="http://schemas.microsoft.com/office/drawing/2014/main" val="20001"/>
                    </a:ext>
                  </a:extLst>
                </a:gridCol>
                <a:gridCol w="1654175">
                  <a:extLst>
                    <a:ext uri="{9D8B030D-6E8A-4147-A177-3AD203B41FA5}">
                      <a16:colId xmlns:a16="http://schemas.microsoft.com/office/drawing/2014/main" val="20002"/>
                    </a:ext>
                  </a:extLst>
                </a:gridCol>
              </a:tblGrid>
              <a:tr h="5064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49AB39"/>
                          </a:solidFill>
                          <a:effectLst/>
                          <a:latin typeface="黑体" pitchFamily="2" charset="-122"/>
                          <a:ea typeface="黑体" pitchFamily="2" charset="-122"/>
                        </a:rPr>
                        <a:t>测试用例</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49AB39"/>
                          </a:solidFill>
                          <a:effectLst/>
                          <a:latin typeface="黑体" pitchFamily="2" charset="-122"/>
                          <a:ea typeface="黑体" pitchFamily="2" charset="-122"/>
                        </a:rPr>
                        <a:t>通过路径</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rgbClr val="49AB39"/>
                          </a:solidFill>
                          <a:effectLst/>
                          <a:latin typeface="黑体" pitchFamily="2" charset="-122"/>
                          <a:ea typeface="黑体" pitchFamily="2" charset="-122"/>
                        </a:rPr>
                        <a:t>条件取值</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3338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chemeClr val="accent2"/>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1" i="0" u="none" strike="noStrike" cap="none" normalizeH="0" baseline="0">
                          <a:ln>
                            <a:noFill/>
                          </a:ln>
                          <a:solidFill>
                            <a:srgbClr val="D35FC2"/>
                          </a:solidFill>
                          <a:effectLst/>
                          <a:latin typeface="Arial" charset="0"/>
                          <a:ea typeface="文鼎细圆" pitchFamily="49" charset="-122"/>
                        </a:rPr>
                        <a:t>ace </a:t>
                      </a:r>
                      <a:r>
                        <a:rPr kumimoji="1" lang="en-US" altLang="zh-CN" sz="1800" b="1" i="0" u="none" strike="noStrike" cap="none" normalizeH="0" baseline="0">
                          <a:ln>
                            <a:noFill/>
                          </a:ln>
                          <a:solidFill>
                            <a:srgbClr val="66C80C"/>
                          </a:solidFill>
                          <a:effectLst>
                            <a:outerShdw blurRad="38100" dist="38100" dir="2700000" algn="tl">
                              <a:srgbClr val="000000"/>
                            </a:outerShdw>
                          </a:effectLst>
                          <a:latin typeface="Arial" charset="0"/>
                          <a:ea typeface="文鼎细圆" pitchFamily="49" charset="-122"/>
                        </a:rPr>
                        <a:t>L1</a:t>
                      </a:r>
                      <a:r>
                        <a:rPr kumimoji="1" lang="en-US" altLang="zh-CN" sz="1600" b="0" i="0" u="none" strike="noStrike" cap="none" normalizeH="0" baseline="0">
                          <a:ln>
                            <a:noFill/>
                          </a:ln>
                          <a:solidFill>
                            <a:srgbClr val="124905"/>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0" i="0" u="none" strike="noStrike" cap="none" normalizeH="0" baseline="0">
                          <a:ln>
                            <a:noFill/>
                          </a:ln>
                          <a:solidFill>
                            <a:srgbClr val="124905"/>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318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chemeClr val="accent2"/>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1" i="0" u="none" strike="noStrike" cap="none" normalizeH="0" baseline="0">
                          <a:ln>
                            <a:noFill/>
                          </a:ln>
                          <a:solidFill>
                            <a:srgbClr val="D35FC2"/>
                          </a:solidFill>
                          <a:effectLst/>
                          <a:latin typeface="Arial" charset="0"/>
                          <a:ea typeface="文鼎细圆" pitchFamily="49" charset="-122"/>
                        </a:rPr>
                        <a:t>abd </a:t>
                      </a:r>
                      <a:r>
                        <a:rPr kumimoji="1" lang="en-US" altLang="zh-CN" sz="1800" b="1" i="0" u="none" strike="noStrike" cap="none" normalizeH="0" baseline="0">
                          <a:ln>
                            <a:noFill/>
                          </a:ln>
                          <a:solidFill>
                            <a:srgbClr val="66C80C"/>
                          </a:solidFill>
                          <a:effectLst>
                            <a:outerShdw blurRad="38100" dist="38100" dir="2700000" algn="tl">
                              <a:srgbClr val="000000"/>
                            </a:outerShdw>
                          </a:effectLst>
                          <a:latin typeface="Arial" charset="0"/>
                          <a:ea typeface="文鼎细圆" pitchFamily="49" charset="-122"/>
                        </a:rPr>
                        <a:t>L2</a:t>
                      </a:r>
                      <a:r>
                        <a:rPr kumimoji="1" lang="en-US" altLang="zh-CN" sz="1600" b="0" i="0" u="none" strike="noStrike" cap="none" normalizeH="0" baseline="0">
                          <a:ln>
                            <a:noFill/>
                          </a:ln>
                          <a:solidFill>
                            <a:srgbClr val="124905"/>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0" i="0" u="none" strike="noStrike" cap="none" normalizeH="0" baseline="0">
                          <a:ln>
                            <a:noFill/>
                          </a:ln>
                          <a:solidFill>
                            <a:srgbClr val="124905"/>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7148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chemeClr val="accent2"/>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1" i="0" u="none" strike="noStrike" cap="none" normalizeH="0" baseline="0">
                          <a:ln>
                            <a:noFill/>
                          </a:ln>
                          <a:solidFill>
                            <a:srgbClr val="D35FC2"/>
                          </a:solidFill>
                          <a:effectLst/>
                          <a:latin typeface="Arial" charset="0"/>
                          <a:ea typeface="文鼎细圆" pitchFamily="49" charset="-122"/>
                        </a:rPr>
                        <a:t>abe </a:t>
                      </a:r>
                      <a:r>
                        <a:rPr kumimoji="1" lang="en-US" altLang="zh-CN" sz="1800" b="1" i="0" u="none" strike="noStrike" cap="none" normalizeH="0" baseline="0">
                          <a:ln>
                            <a:noFill/>
                          </a:ln>
                          <a:solidFill>
                            <a:srgbClr val="66C80C"/>
                          </a:solidFill>
                          <a:effectLst>
                            <a:outerShdw blurRad="38100" dist="38100" dir="2700000" algn="tl">
                              <a:srgbClr val="000000"/>
                            </a:outerShdw>
                          </a:effectLst>
                          <a:latin typeface="Arial" charset="0"/>
                          <a:ea typeface="文鼎细圆" pitchFamily="49" charset="-122"/>
                        </a:rPr>
                        <a:t>L3</a:t>
                      </a:r>
                      <a:r>
                        <a:rPr kumimoji="1" lang="en-US" altLang="zh-CN" sz="1600" b="0" i="0" u="none" strike="noStrike" cap="none" normalizeH="0" baseline="0">
                          <a:ln>
                            <a:noFill/>
                          </a:ln>
                          <a:solidFill>
                            <a:srgbClr val="124905"/>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0" i="0" u="none" strike="noStrike" cap="none" normalizeH="0" baseline="0">
                          <a:ln>
                            <a:noFill/>
                          </a:ln>
                          <a:solidFill>
                            <a:srgbClr val="124905"/>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429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600" b="0" i="0" u="none" strike="noStrike" cap="none" normalizeH="0" baseline="0">
                          <a:ln>
                            <a:noFill/>
                          </a:ln>
                          <a:solidFill>
                            <a:schemeClr val="accent2"/>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1" i="0" u="none" strike="noStrike" cap="none" normalizeH="0" baseline="0">
                          <a:ln>
                            <a:noFill/>
                          </a:ln>
                          <a:solidFill>
                            <a:srgbClr val="D35FC2"/>
                          </a:solidFill>
                          <a:effectLst/>
                          <a:latin typeface="Arial" charset="0"/>
                          <a:ea typeface="文鼎细圆" pitchFamily="49" charset="-122"/>
                        </a:rPr>
                        <a:t>acd </a:t>
                      </a:r>
                      <a:r>
                        <a:rPr kumimoji="1" lang="en-US" altLang="zh-CN" sz="1800" b="1" i="0" u="none" strike="noStrike" cap="none" normalizeH="0" baseline="0">
                          <a:ln>
                            <a:noFill/>
                          </a:ln>
                          <a:solidFill>
                            <a:srgbClr val="66C80C"/>
                          </a:solidFill>
                          <a:effectLst>
                            <a:outerShdw blurRad="38100" dist="38100" dir="2700000" algn="tl">
                              <a:srgbClr val="000000"/>
                            </a:outerShdw>
                          </a:effectLst>
                          <a:latin typeface="Arial" charset="0"/>
                          <a:ea typeface="文鼎细圆" pitchFamily="49" charset="-122"/>
                        </a:rPr>
                        <a:t>L4</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0" i="0" u="none" strike="noStrike" cap="none" normalizeH="0" baseline="0">
                          <a:ln>
                            <a:noFill/>
                          </a:ln>
                          <a:solidFill>
                            <a:srgbClr val="124905"/>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299658" name="Rectangle 1226">
            <a:extLst>
              <a:ext uri="{FF2B5EF4-FFF2-40B4-BE49-F238E27FC236}">
                <a16:creationId xmlns:a16="http://schemas.microsoft.com/office/drawing/2014/main" id="{7A790ECE-AC5D-478E-BA5F-F5F14F51FBD9}"/>
              </a:ext>
            </a:extLst>
          </p:cNvPr>
          <p:cNvSpPr>
            <a:spLocks noChangeArrowheads="1"/>
          </p:cNvSpPr>
          <p:nvPr/>
        </p:nvSpPr>
        <p:spPr bwMode="auto">
          <a:xfrm>
            <a:off x="4343400" y="4648200"/>
            <a:ext cx="1524000" cy="304800"/>
          </a:xfrm>
          <a:prstGeom prst="rect">
            <a:avLst/>
          </a:prstGeom>
          <a:solidFill>
            <a:schemeClr val="bg1"/>
          </a:solidFill>
          <a:ln>
            <a:noFill/>
          </a:ln>
          <a:extLs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lnSpc>
                <a:spcPct val="75000"/>
              </a:lnSpc>
              <a:buClr>
                <a:schemeClr val="accent1"/>
              </a:buClr>
              <a:buSzPct val="90000"/>
              <a:buFont typeface="Monotype Sorts" pitchFamily="2" charset="2"/>
              <a:buNone/>
            </a:pPr>
            <a:r>
              <a:rPr kumimoji="1" lang="en-US" altLang="zh-CN" sz="1800" b="1">
                <a:solidFill>
                  <a:srgbClr val="D35FC2"/>
                </a:solidFill>
                <a:ea typeface="文鼎细圆" pitchFamily="49" charset="-122"/>
              </a:rPr>
              <a:t>(2,0,4),(2,0,3)</a:t>
            </a:r>
          </a:p>
        </p:txBody>
      </p:sp>
      <p:sp>
        <p:nvSpPr>
          <p:cNvPr id="1299660" name="Rectangle 1228">
            <a:extLst>
              <a:ext uri="{FF2B5EF4-FFF2-40B4-BE49-F238E27FC236}">
                <a16:creationId xmlns:a16="http://schemas.microsoft.com/office/drawing/2014/main" id="{2C58ABBE-5289-4686-A34F-985D4EDD617B}"/>
              </a:ext>
            </a:extLst>
          </p:cNvPr>
          <p:cNvSpPr>
            <a:spLocks noChangeArrowheads="1"/>
          </p:cNvSpPr>
          <p:nvPr/>
        </p:nvSpPr>
        <p:spPr bwMode="auto">
          <a:xfrm>
            <a:off x="7315200" y="4724400"/>
            <a:ext cx="1524000" cy="152400"/>
          </a:xfrm>
          <a:prstGeom prst="rect">
            <a:avLst/>
          </a:prstGeom>
          <a:solidFill>
            <a:schemeClr val="bg1"/>
          </a:solidFill>
          <a:ln>
            <a:noFill/>
          </a:ln>
          <a:extLs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lnSpc>
                <a:spcPct val="75000"/>
              </a:lnSpc>
              <a:buClr>
                <a:schemeClr val="accent1"/>
              </a:buClr>
              <a:buSzPct val="90000"/>
              <a:buFont typeface="Monotype Sorts" pitchFamily="2" charset="2"/>
              <a:buNone/>
            </a:pPr>
            <a:r>
              <a:rPr kumimoji="1" lang="en-US" altLang="zh-CN" sz="1800" b="1">
                <a:solidFill>
                  <a:srgbClr val="D35FC2"/>
                </a:solidFill>
                <a:ea typeface="文鼎细圆" pitchFamily="49" charset="-122"/>
              </a:rPr>
              <a:t>T1 T2 T3 T4</a:t>
            </a:r>
          </a:p>
        </p:txBody>
      </p:sp>
      <p:sp>
        <p:nvSpPr>
          <p:cNvPr id="1299662" name="Rectangle 1230">
            <a:extLst>
              <a:ext uri="{FF2B5EF4-FFF2-40B4-BE49-F238E27FC236}">
                <a16:creationId xmlns:a16="http://schemas.microsoft.com/office/drawing/2014/main" id="{755C8799-4212-4763-B283-5DF2836683B2}"/>
              </a:ext>
            </a:extLst>
          </p:cNvPr>
          <p:cNvSpPr>
            <a:spLocks noChangeArrowheads="1"/>
          </p:cNvSpPr>
          <p:nvPr/>
        </p:nvSpPr>
        <p:spPr bwMode="auto">
          <a:xfrm>
            <a:off x="4343400" y="5105400"/>
            <a:ext cx="1524000" cy="304800"/>
          </a:xfrm>
          <a:prstGeom prst="rect">
            <a:avLst/>
          </a:prstGeom>
          <a:solidFill>
            <a:schemeClr val="bg1"/>
          </a:solidFill>
          <a:ln>
            <a:noFill/>
          </a:ln>
          <a:extLs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lnSpc>
                <a:spcPct val="75000"/>
              </a:lnSpc>
              <a:buClr>
                <a:schemeClr val="accent1"/>
              </a:buClr>
              <a:buSzPct val="90000"/>
              <a:buFont typeface="Monotype Sorts" pitchFamily="2" charset="2"/>
              <a:buNone/>
            </a:pPr>
            <a:r>
              <a:rPr kumimoji="1" lang="en-US" altLang="zh-CN" sz="1800" b="1">
                <a:solidFill>
                  <a:srgbClr val="D35FC2"/>
                </a:solidFill>
                <a:ea typeface="文鼎细圆" pitchFamily="49" charset="-122"/>
              </a:rPr>
              <a:t>(1,1,1),(1,1,1)</a:t>
            </a:r>
          </a:p>
        </p:txBody>
      </p:sp>
      <p:sp>
        <p:nvSpPr>
          <p:cNvPr id="1299669" name="Rectangle 1237">
            <a:extLst>
              <a:ext uri="{FF2B5EF4-FFF2-40B4-BE49-F238E27FC236}">
                <a16:creationId xmlns:a16="http://schemas.microsoft.com/office/drawing/2014/main" id="{3FB8A720-48F8-486B-9FE5-8E8433D94142}"/>
              </a:ext>
            </a:extLst>
          </p:cNvPr>
          <p:cNvSpPr>
            <a:spLocks noChangeArrowheads="1"/>
          </p:cNvSpPr>
          <p:nvPr/>
        </p:nvSpPr>
        <p:spPr bwMode="auto">
          <a:xfrm>
            <a:off x="4343400" y="5562600"/>
            <a:ext cx="1524000" cy="304800"/>
          </a:xfrm>
          <a:prstGeom prst="rect">
            <a:avLst/>
          </a:prstGeom>
          <a:solidFill>
            <a:schemeClr val="bg1"/>
          </a:solidFill>
          <a:ln>
            <a:noFill/>
          </a:ln>
          <a:extLs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lnSpc>
                <a:spcPct val="75000"/>
              </a:lnSpc>
              <a:buClr>
                <a:schemeClr val="accent1"/>
              </a:buClr>
              <a:buSzPct val="90000"/>
              <a:buFont typeface="Monotype Sorts" pitchFamily="2" charset="2"/>
              <a:buNone/>
            </a:pPr>
            <a:r>
              <a:rPr kumimoji="1" lang="en-US" altLang="zh-CN" sz="1800" b="1">
                <a:solidFill>
                  <a:srgbClr val="D35FC2"/>
                </a:solidFill>
                <a:ea typeface="文鼎细圆" pitchFamily="49" charset="-122"/>
              </a:rPr>
              <a:t>(1,1,2),(1,1,3)</a:t>
            </a:r>
          </a:p>
        </p:txBody>
      </p:sp>
      <p:sp>
        <p:nvSpPr>
          <p:cNvPr id="1299676" name="Rectangle 1244">
            <a:extLst>
              <a:ext uri="{FF2B5EF4-FFF2-40B4-BE49-F238E27FC236}">
                <a16:creationId xmlns:a16="http://schemas.microsoft.com/office/drawing/2014/main" id="{A2A849C3-1AAD-43A0-B570-00DA45E13853}"/>
              </a:ext>
            </a:extLst>
          </p:cNvPr>
          <p:cNvSpPr>
            <a:spLocks noChangeArrowheads="1"/>
          </p:cNvSpPr>
          <p:nvPr/>
        </p:nvSpPr>
        <p:spPr bwMode="auto">
          <a:xfrm>
            <a:off x="4343400" y="6019800"/>
            <a:ext cx="1524000" cy="304800"/>
          </a:xfrm>
          <a:prstGeom prst="rect">
            <a:avLst/>
          </a:prstGeom>
          <a:solidFill>
            <a:schemeClr val="bg1"/>
          </a:solidFill>
          <a:ln>
            <a:noFill/>
          </a:ln>
          <a:extLs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lnSpc>
                <a:spcPct val="75000"/>
              </a:lnSpc>
              <a:buClr>
                <a:schemeClr val="accent1"/>
              </a:buClr>
              <a:buSzPct val="90000"/>
              <a:buFont typeface="Monotype Sorts" pitchFamily="2" charset="2"/>
              <a:buNone/>
            </a:pPr>
            <a:r>
              <a:rPr kumimoji="1" lang="en-US" altLang="zh-CN" sz="1800" b="1">
                <a:solidFill>
                  <a:srgbClr val="D35FC2"/>
                </a:solidFill>
                <a:ea typeface="文鼎细圆" pitchFamily="49" charset="-122"/>
              </a:rPr>
              <a:t>(3,0,3),(3,0,1)</a:t>
            </a:r>
          </a:p>
        </p:txBody>
      </p:sp>
      <p:grpSp>
        <p:nvGrpSpPr>
          <p:cNvPr id="3" name="Group 1246">
            <a:extLst>
              <a:ext uri="{FF2B5EF4-FFF2-40B4-BE49-F238E27FC236}">
                <a16:creationId xmlns:a16="http://schemas.microsoft.com/office/drawing/2014/main" id="{E25DA9E9-35DA-44AF-ACF4-08629CCAF73E}"/>
              </a:ext>
            </a:extLst>
          </p:cNvPr>
          <p:cNvGrpSpPr>
            <a:grpSpLocks/>
          </p:cNvGrpSpPr>
          <p:nvPr/>
        </p:nvGrpSpPr>
        <p:grpSpPr bwMode="auto">
          <a:xfrm>
            <a:off x="7315200" y="5029200"/>
            <a:ext cx="1524000" cy="381000"/>
            <a:chOff x="4800" y="3168"/>
            <a:chExt cx="960" cy="240"/>
          </a:xfrm>
        </p:grpSpPr>
        <p:sp>
          <p:nvSpPr>
            <p:cNvPr id="62547" name="Rectangle 1247">
              <a:extLst>
                <a:ext uri="{FF2B5EF4-FFF2-40B4-BE49-F238E27FC236}">
                  <a16:creationId xmlns:a16="http://schemas.microsoft.com/office/drawing/2014/main" id="{173BEB82-E9A0-4B4D-A63D-0F4A643370C6}"/>
                </a:ext>
              </a:extLst>
            </p:cNvPr>
            <p:cNvSpPr>
              <a:spLocks noChangeArrowheads="1"/>
            </p:cNvSpPr>
            <p:nvPr/>
          </p:nvSpPr>
          <p:spPr bwMode="auto">
            <a:xfrm>
              <a:off x="4800" y="3168"/>
              <a:ext cx="960" cy="240"/>
            </a:xfrm>
            <a:prstGeom prst="rect">
              <a:avLst/>
            </a:prstGeom>
            <a:solidFill>
              <a:schemeClr val="bg1"/>
            </a:solidFill>
            <a:ln>
              <a:noFill/>
            </a:ln>
            <a:extLst>
              <a:ext uri="{91240B29-F687-4F45-9708-019B960494DF}">
                <a14:hiddenLine xmlns:a14="http://schemas.microsoft.com/office/drawing/2010/main" w="38100" cmpd="dbl">
                  <a:solidFill>
                    <a:srgbClr val="000000"/>
                  </a:solidFill>
                  <a:miter lim="800000"/>
                  <a:headEnd/>
                  <a:tailEnd/>
                </a14:hiddenLine>
              </a:ext>
            </a:extLst>
          </p:spPr>
          <p:txBody>
            <a:bodyPr wrap="none" anchor="b"/>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lnSpc>
                  <a:spcPct val="75000"/>
                </a:lnSpc>
                <a:buClr>
                  <a:schemeClr val="accent1"/>
                </a:buClr>
                <a:buSzPct val="90000"/>
                <a:buFont typeface="Monotype Sorts" pitchFamily="2" charset="2"/>
                <a:buNone/>
              </a:pPr>
              <a:r>
                <a:rPr kumimoji="1" lang="en-US" altLang="zh-CN" sz="1800" b="1">
                  <a:solidFill>
                    <a:srgbClr val="D35FC2"/>
                  </a:solidFill>
                  <a:ea typeface="文鼎细圆" pitchFamily="49" charset="-122"/>
                </a:rPr>
                <a:t>T1 T2 T3 T4</a:t>
              </a:r>
            </a:p>
          </p:txBody>
        </p:sp>
        <p:sp>
          <p:nvSpPr>
            <p:cNvPr id="62548" name="Line 1248">
              <a:extLst>
                <a:ext uri="{FF2B5EF4-FFF2-40B4-BE49-F238E27FC236}">
                  <a16:creationId xmlns:a16="http://schemas.microsoft.com/office/drawing/2014/main" id="{19CF8132-8C28-464D-B661-DE2279B2BFE3}"/>
                </a:ext>
              </a:extLst>
            </p:cNvPr>
            <p:cNvSpPr>
              <a:spLocks noChangeShapeType="1"/>
            </p:cNvSpPr>
            <p:nvPr/>
          </p:nvSpPr>
          <p:spPr bwMode="auto">
            <a:xfrm>
              <a:off x="4848" y="3216"/>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49" name="Line 1249">
              <a:extLst>
                <a:ext uri="{FF2B5EF4-FFF2-40B4-BE49-F238E27FC236}">
                  <a16:creationId xmlns:a16="http://schemas.microsoft.com/office/drawing/2014/main" id="{46870B11-7552-4443-8D97-78575C2F95AC}"/>
                </a:ext>
              </a:extLst>
            </p:cNvPr>
            <p:cNvSpPr>
              <a:spLocks noChangeShapeType="1"/>
            </p:cNvSpPr>
            <p:nvPr/>
          </p:nvSpPr>
          <p:spPr bwMode="auto">
            <a:xfrm>
              <a:off x="5280" y="3216"/>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50" name="Line 1250">
              <a:extLst>
                <a:ext uri="{FF2B5EF4-FFF2-40B4-BE49-F238E27FC236}">
                  <a16:creationId xmlns:a16="http://schemas.microsoft.com/office/drawing/2014/main" id="{DA006AE9-0E86-4029-94E6-C269D01C00D7}"/>
                </a:ext>
              </a:extLst>
            </p:cNvPr>
            <p:cNvSpPr>
              <a:spLocks noChangeShapeType="1"/>
            </p:cNvSpPr>
            <p:nvPr/>
          </p:nvSpPr>
          <p:spPr bwMode="auto">
            <a:xfrm>
              <a:off x="5040" y="3216"/>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51" name="Line 1251">
              <a:extLst>
                <a:ext uri="{FF2B5EF4-FFF2-40B4-BE49-F238E27FC236}">
                  <a16:creationId xmlns:a16="http://schemas.microsoft.com/office/drawing/2014/main" id="{31A082D1-2A5C-4E79-BE95-DF74B2596AEE}"/>
                </a:ext>
              </a:extLst>
            </p:cNvPr>
            <p:cNvSpPr>
              <a:spLocks noChangeShapeType="1"/>
            </p:cNvSpPr>
            <p:nvPr/>
          </p:nvSpPr>
          <p:spPr bwMode="auto">
            <a:xfrm>
              <a:off x="5472" y="3216"/>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1257">
            <a:extLst>
              <a:ext uri="{FF2B5EF4-FFF2-40B4-BE49-F238E27FC236}">
                <a16:creationId xmlns:a16="http://schemas.microsoft.com/office/drawing/2014/main" id="{4736CAFA-056F-489F-A5F8-EFDFDF6E91E2}"/>
              </a:ext>
            </a:extLst>
          </p:cNvPr>
          <p:cNvGrpSpPr>
            <a:grpSpLocks/>
          </p:cNvGrpSpPr>
          <p:nvPr/>
        </p:nvGrpSpPr>
        <p:grpSpPr bwMode="auto">
          <a:xfrm>
            <a:off x="7315200" y="5486400"/>
            <a:ext cx="1524000" cy="381000"/>
            <a:chOff x="5280" y="1056"/>
            <a:chExt cx="960" cy="240"/>
          </a:xfrm>
        </p:grpSpPr>
        <p:grpSp>
          <p:nvGrpSpPr>
            <p:cNvPr id="62542" name="Group 1239">
              <a:extLst>
                <a:ext uri="{FF2B5EF4-FFF2-40B4-BE49-F238E27FC236}">
                  <a16:creationId xmlns:a16="http://schemas.microsoft.com/office/drawing/2014/main" id="{13A15430-FEE2-45F3-BA93-CFD46295F1C3}"/>
                </a:ext>
              </a:extLst>
            </p:cNvPr>
            <p:cNvGrpSpPr>
              <a:grpSpLocks/>
            </p:cNvGrpSpPr>
            <p:nvPr/>
          </p:nvGrpSpPr>
          <p:grpSpPr bwMode="auto">
            <a:xfrm>
              <a:off x="5280" y="1056"/>
              <a:ext cx="960" cy="240"/>
              <a:chOff x="4800" y="2928"/>
              <a:chExt cx="960" cy="240"/>
            </a:xfrm>
          </p:grpSpPr>
          <p:sp>
            <p:nvSpPr>
              <p:cNvPr id="62544" name="Rectangle 1240">
                <a:extLst>
                  <a:ext uri="{FF2B5EF4-FFF2-40B4-BE49-F238E27FC236}">
                    <a16:creationId xmlns:a16="http://schemas.microsoft.com/office/drawing/2014/main" id="{28D1FA68-1AC6-4C9C-9364-5923F95C5E4F}"/>
                  </a:ext>
                </a:extLst>
              </p:cNvPr>
              <p:cNvSpPr>
                <a:spLocks noChangeArrowheads="1"/>
              </p:cNvSpPr>
              <p:nvPr/>
            </p:nvSpPr>
            <p:spPr bwMode="auto">
              <a:xfrm>
                <a:off x="4800" y="2928"/>
                <a:ext cx="960" cy="240"/>
              </a:xfrm>
              <a:prstGeom prst="rect">
                <a:avLst/>
              </a:prstGeom>
              <a:solidFill>
                <a:schemeClr val="bg1"/>
              </a:solidFill>
              <a:ln>
                <a:noFill/>
              </a:ln>
              <a:extLst>
                <a:ext uri="{91240B29-F687-4F45-9708-019B960494DF}">
                  <a14:hiddenLine xmlns:a14="http://schemas.microsoft.com/office/drawing/2010/main" w="38100" cmpd="dbl">
                    <a:solidFill>
                      <a:srgbClr val="000000"/>
                    </a:solidFill>
                    <a:miter lim="800000"/>
                    <a:headEnd/>
                    <a:tailEnd/>
                  </a14:hiddenLine>
                </a:ext>
              </a:extLst>
            </p:spPr>
            <p:txBody>
              <a:bodyPr wrap="none" anchor="b"/>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lnSpc>
                    <a:spcPct val="75000"/>
                  </a:lnSpc>
                  <a:buClr>
                    <a:schemeClr val="accent1"/>
                  </a:buClr>
                  <a:buSzPct val="90000"/>
                  <a:buFont typeface="Monotype Sorts" pitchFamily="2" charset="2"/>
                  <a:buNone/>
                </a:pPr>
                <a:r>
                  <a:rPr kumimoji="1" lang="en-US" altLang="zh-CN" sz="1800" b="1">
                    <a:solidFill>
                      <a:srgbClr val="D35FC2"/>
                    </a:solidFill>
                    <a:ea typeface="文鼎细圆" pitchFamily="49" charset="-122"/>
                  </a:rPr>
                  <a:t>T1 T2 T3 T4</a:t>
                </a:r>
              </a:p>
            </p:txBody>
          </p:sp>
          <p:sp>
            <p:nvSpPr>
              <p:cNvPr id="62545" name="Line 1241">
                <a:extLst>
                  <a:ext uri="{FF2B5EF4-FFF2-40B4-BE49-F238E27FC236}">
                    <a16:creationId xmlns:a16="http://schemas.microsoft.com/office/drawing/2014/main" id="{408AD1B5-01B7-4391-8766-47DDE816CDC6}"/>
                  </a:ext>
                </a:extLst>
              </p:cNvPr>
              <p:cNvSpPr>
                <a:spLocks noChangeShapeType="1"/>
              </p:cNvSpPr>
              <p:nvPr/>
            </p:nvSpPr>
            <p:spPr bwMode="auto">
              <a:xfrm>
                <a:off x="4848" y="2976"/>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46" name="Line 1242">
                <a:extLst>
                  <a:ext uri="{FF2B5EF4-FFF2-40B4-BE49-F238E27FC236}">
                    <a16:creationId xmlns:a16="http://schemas.microsoft.com/office/drawing/2014/main" id="{38ACAEB7-8EE8-4670-8DB3-24024E1271A5}"/>
                  </a:ext>
                </a:extLst>
              </p:cNvPr>
              <p:cNvSpPr>
                <a:spLocks noChangeShapeType="1"/>
              </p:cNvSpPr>
              <p:nvPr/>
            </p:nvSpPr>
            <p:spPr bwMode="auto">
              <a:xfrm>
                <a:off x="5280" y="2976"/>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2543" name="Line 1254">
              <a:extLst>
                <a:ext uri="{FF2B5EF4-FFF2-40B4-BE49-F238E27FC236}">
                  <a16:creationId xmlns:a16="http://schemas.microsoft.com/office/drawing/2014/main" id="{6FF435AD-38AE-49CE-B04E-FF405384C108}"/>
                </a:ext>
              </a:extLst>
            </p:cNvPr>
            <p:cNvSpPr>
              <a:spLocks noChangeShapeType="1"/>
            </p:cNvSpPr>
            <p:nvPr/>
          </p:nvSpPr>
          <p:spPr bwMode="auto">
            <a:xfrm>
              <a:off x="5520" y="1104"/>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1256">
            <a:extLst>
              <a:ext uri="{FF2B5EF4-FFF2-40B4-BE49-F238E27FC236}">
                <a16:creationId xmlns:a16="http://schemas.microsoft.com/office/drawing/2014/main" id="{09751CB5-E33C-4C9B-AC17-B09B1B5E1F11}"/>
              </a:ext>
            </a:extLst>
          </p:cNvPr>
          <p:cNvGrpSpPr>
            <a:grpSpLocks/>
          </p:cNvGrpSpPr>
          <p:nvPr/>
        </p:nvGrpSpPr>
        <p:grpSpPr bwMode="auto">
          <a:xfrm>
            <a:off x="7315200" y="5943600"/>
            <a:ext cx="1524000" cy="381000"/>
            <a:chOff x="5280" y="1296"/>
            <a:chExt cx="960" cy="240"/>
          </a:xfrm>
        </p:grpSpPr>
        <p:sp>
          <p:nvSpPr>
            <p:cNvPr id="62539" name="Rectangle 1233">
              <a:extLst>
                <a:ext uri="{FF2B5EF4-FFF2-40B4-BE49-F238E27FC236}">
                  <a16:creationId xmlns:a16="http://schemas.microsoft.com/office/drawing/2014/main" id="{E20A6B16-D111-4EC7-B8BD-C63AE9D36AB6}"/>
                </a:ext>
              </a:extLst>
            </p:cNvPr>
            <p:cNvSpPr>
              <a:spLocks noChangeArrowheads="1"/>
            </p:cNvSpPr>
            <p:nvPr/>
          </p:nvSpPr>
          <p:spPr bwMode="auto">
            <a:xfrm>
              <a:off x="5280" y="1296"/>
              <a:ext cx="960" cy="240"/>
            </a:xfrm>
            <a:prstGeom prst="rect">
              <a:avLst/>
            </a:prstGeom>
            <a:solidFill>
              <a:schemeClr val="bg1"/>
            </a:solidFill>
            <a:ln>
              <a:noFill/>
            </a:ln>
            <a:extLst>
              <a:ext uri="{91240B29-F687-4F45-9708-019B960494DF}">
                <a14:hiddenLine xmlns:a14="http://schemas.microsoft.com/office/drawing/2010/main" w="38100" cmpd="dbl">
                  <a:solidFill>
                    <a:srgbClr val="000000"/>
                  </a:solidFill>
                  <a:miter lim="800000"/>
                  <a:headEnd/>
                  <a:tailEnd/>
                </a14:hiddenLine>
              </a:ext>
            </a:extLst>
          </p:spPr>
          <p:txBody>
            <a:bodyPr wrap="none" anchor="b"/>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lnSpc>
                  <a:spcPct val="75000"/>
                </a:lnSpc>
                <a:buClr>
                  <a:schemeClr val="accent1"/>
                </a:buClr>
                <a:buSzPct val="90000"/>
                <a:buFont typeface="Monotype Sorts" pitchFamily="2" charset="2"/>
                <a:buNone/>
              </a:pPr>
              <a:r>
                <a:rPr kumimoji="1" lang="en-US" altLang="zh-CN" sz="1800" b="1">
                  <a:solidFill>
                    <a:srgbClr val="D35FC2"/>
                  </a:solidFill>
                  <a:ea typeface="文鼎细圆" pitchFamily="49" charset="-122"/>
                </a:rPr>
                <a:t>T1 T2 T3 T4</a:t>
              </a:r>
            </a:p>
          </p:txBody>
        </p:sp>
        <p:sp>
          <p:nvSpPr>
            <p:cNvPr id="62540" name="Line 1235">
              <a:extLst>
                <a:ext uri="{FF2B5EF4-FFF2-40B4-BE49-F238E27FC236}">
                  <a16:creationId xmlns:a16="http://schemas.microsoft.com/office/drawing/2014/main" id="{4994D2A5-CADF-41F2-A807-5CFDF9713640}"/>
                </a:ext>
              </a:extLst>
            </p:cNvPr>
            <p:cNvSpPr>
              <a:spLocks noChangeShapeType="1"/>
            </p:cNvSpPr>
            <p:nvPr/>
          </p:nvSpPr>
          <p:spPr bwMode="auto">
            <a:xfrm>
              <a:off x="5952" y="1344"/>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41" name="Line 1255">
              <a:extLst>
                <a:ext uri="{FF2B5EF4-FFF2-40B4-BE49-F238E27FC236}">
                  <a16:creationId xmlns:a16="http://schemas.microsoft.com/office/drawing/2014/main" id="{B8D4B9B4-2AF9-4C5F-9224-C51C368C02B8}"/>
                </a:ext>
              </a:extLst>
            </p:cNvPr>
            <p:cNvSpPr>
              <a:spLocks noChangeShapeType="1"/>
            </p:cNvSpPr>
            <p:nvPr/>
          </p:nvSpPr>
          <p:spPr bwMode="auto">
            <a:xfrm>
              <a:off x="5760" y="1344"/>
              <a:ext cx="144"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2536" name="Line 1259">
            <a:extLst>
              <a:ext uri="{FF2B5EF4-FFF2-40B4-BE49-F238E27FC236}">
                <a16:creationId xmlns:a16="http://schemas.microsoft.com/office/drawing/2014/main" id="{1645F1BA-1860-4788-9F7C-E2ADC7AE80D7}"/>
              </a:ext>
            </a:extLst>
          </p:cNvPr>
          <p:cNvSpPr>
            <a:spLocks noChangeShapeType="1"/>
          </p:cNvSpPr>
          <p:nvPr/>
        </p:nvSpPr>
        <p:spPr bwMode="auto">
          <a:xfrm>
            <a:off x="9296400" y="22098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37" name="Line 1260">
            <a:extLst>
              <a:ext uri="{FF2B5EF4-FFF2-40B4-BE49-F238E27FC236}">
                <a16:creationId xmlns:a16="http://schemas.microsoft.com/office/drawing/2014/main" id="{55BCBD4B-0F9E-41A1-B896-DBE1079DA8E3}"/>
              </a:ext>
            </a:extLst>
          </p:cNvPr>
          <p:cNvSpPr>
            <a:spLocks noChangeShapeType="1"/>
          </p:cNvSpPr>
          <p:nvPr/>
        </p:nvSpPr>
        <p:spPr bwMode="auto">
          <a:xfrm>
            <a:off x="9296400" y="19050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38" name="Line 1261">
            <a:extLst>
              <a:ext uri="{FF2B5EF4-FFF2-40B4-BE49-F238E27FC236}">
                <a16:creationId xmlns:a16="http://schemas.microsoft.com/office/drawing/2014/main" id="{55DF4807-9844-4873-A277-CBD82853B7BF}"/>
              </a:ext>
            </a:extLst>
          </p:cNvPr>
          <p:cNvSpPr>
            <a:spLocks noChangeShapeType="1"/>
          </p:cNvSpPr>
          <p:nvPr/>
        </p:nvSpPr>
        <p:spPr bwMode="auto">
          <a:xfrm>
            <a:off x="9296400" y="1524000"/>
            <a:ext cx="2286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99625"/>
                                        </p:tgtEl>
                                        <p:attrNameLst>
                                          <p:attrName>style.visibility</p:attrName>
                                        </p:attrNameLst>
                                      </p:cBhvr>
                                      <p:to>
                                        <p:strVal val="visible"/>
                                      </p:to>
                                    </p:set>
                                    <p:anim calcmode="lin" valueType="num">
                                      <p:cBhvr additive="base">
                                        <p:cTn id="7" dur="500" fill="hold"/>
                                        <p:tgtEl>
                                          <p:spTgt spid="1299625"/>
                                        </p:tgtEl>
                                        <p:attrNameLst>
                                          <p:attrName>ppt_x</p:attrName>
                                        </p:attrNameLst>
                                      </p:cBhvr>
                                      <p:tavLst>
                                        <p:tav tm="0">
                                          <p:val>
                                            <p:strVal val="0-#ppt_w/2"/>
                                          </p:val>
                                        </p:tav>
                                        <p:tav tm="100000">
                                          <p:val>
                                            <p:strVal val="#ppt_x"/>
                                          </p:val>
                                        </p:tav>
                                      </p:tavLst>
                                    </p:anim>
                                    <p:anim calcmode="lin" valueType="num">
                                      <p:cBhvr additive="base">
                                        <p:cTn id="8" dur="500" fill="hold"/>
                                        <p:tgtEl>
                                          <p:spTgt spid="129962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1299685"/>
                                        </p:tgtEl>
                                        <p:attrNameLst>
                                          <p:attrName>style.visibility</p:attrName>
                                        </p:attrNameLst>
                                      </p:cBhvr>
                                      <p:to>
                                        <p:strVal val="visible"/>
                                      </p:to>
                                    </p:set>
                                    <p:animEffect transition="in" filter="blinds(horizontal)">
                                      <p:cBhvr>
                                        <p:cTn id="13" dur="500"/>
                                        <p:tgtEl>
                                          <p:spTgt spid="129968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5" fill="hold" grpId="0" nodeType="clickEffect">
                                  <p:stCondLst>
                                    <p:cond delay="0"/>
                                  </p:stCondLst>
                                  <p:childTnLst>
                                    <p:set>
                                      <p:cBhvr>
                                        <p:cTn id="17" dur="1" fill="hold">
                                          <p:stCondLst>
                                            <p:cond delay="0"/>
                                          </p:stCondLst>
                                        </p:cTn>
                                        <p:tgtEl>
                                          <p:spTgt spid="1299658"/>
                                        </p:tgtEl>
                                        <p:attrNameLst>
                                          <p:attrName>style.visibility</p:attrName>
                                        </p:attrNameLst>
                                      </p:cBhvr>
                                      <p:to>
                                        <p:strVal val="visible"/>
                                      </p:to>
                                    </p:set>
                                    <p:animEffect transition="in" filter="blinds(vertical)">
                                      <p:cBhvr>
                                        <p:cTn id="18" dur="500"/>
                                        <p:tgtEl>
                                          <p:spTgt spid="129965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5" fill="hold" grpId="0" nodeType="clickEffect">
                                  <p:stCondLst>
                                    <p:cond delay="0"/>
                                  </p:stCondLst>
                                  <p:childTnLst>
                                    <p:set>
                                      <p:cBhvr>
                                        <p:cTn id="22" dur="1" fill="hold">
                                          <p:stCondLst>
                                            <p:cond delay="0"/>
                                          </p:stCondLst>
                                        </p:cTn>
                                        <p:tgtEl>
                                          <p:spTgt spid="1299660"/>
                                        </p:tgtEl>
                                        <p:attrNameLst>
                                          <p:attrName>style.visibility</p:attrName>
                                        </p:attrNameLst>
                                      </p:cBhvr>
                                      <p:to>
                                        <p:strVal val="visible"/>
                                      </p:to>
                                    </p:set>
                                    <p:animEffect transition="in" filter="blinds(vertical)">
                                      <p:cBhvr>
                                        <p:cTn id="23" dur="500"/>
                                        <p:tgtEl>
                                          <p:spTgt spid="129966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5" fill="hold" grpId="0" nodeType="clickEffect">
                                  <p:stCondLst>
                                    <p:cond delay="0"/>
                                  </p:stCondLst>
                                  <p:childTnLst>
                                    <p:set>
                                      <p:cBhvr>
                                        <p:cTn id="27" dur="1" fill="hold">
                                          <p:stCondLst>
                                            <p:cond delay="0"/>
                                          </p:stCondLst>
                                        </p:cTn>
                                        <p:tgtEl>
                                          <p:spTgt spid="1299662"/>
                                        </p:tgtEl>
                                        <p:attrNameLst>
                                          <p:attrName>style.visibility</p:attrName>
                                        </p:attrNameLst>
                                      </p:cBhvr>
                                      <p:to>
                                        <p:strVal val="visible"/>
                                      </p:to>
                                    </p:set>
                                    <p:animEffect transition="in" filter="blinds(vertical)">
                                      <p:cBhvr>
                                        <p:cTn id="28" dur="500"/>
                                        <p:tgtEl>
                                          <p:spTgt spid="129966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blinds(horizontal)">
                                      <p:cBhvr>
                                        <p:cTn id="33" dur="500"/>
                                        <p:tgtEl>
                                          <p:spTgt spid="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5" fill="hold" grpId="0" nodeType="clickEffect">
                                  <p:stCondLst>
                                    <p:cond delay="0"/>
                                  </p:stCondLst>
                                  <p:childTnLst>
                                    <p:set>
                                      <p:cBhvr>
                                        <p:cTn id="37" dur="1" fill="hold">
                                          <p:stCondLst>
                                            <p:cond delay="0"/>
                                          </p:stCondLst>
                                        </p:cTn>
                                        <p:tgtEl>
                                          <p:spTgt spid="1299669"/>
                                        </p:tgtEl>
                                        <p:attrNameLst>
                                          <p:attrName>style.visibility</p:attrName>
                                        </p:attrNameLst>
                                      </p:cBhvr>
                                      <p:to>
                                        <p:strVal val="visible"/>
                                      </p:to>
                                    </p:set>
                                    <p:animEffect transition="in" filter="blinds(vertical)">
                                      <p:cBhvr>
                                        <p:cTn id="38" dur="500"/>
                                        <p:tgtEl>
                                          <p:spTgt spid="129966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blinds(horizontal)">
                                      <p:cBhvr>
                                        <p:cTn id="43" dur="500"/>
                                        <p:tgtEl>
                                          <p:spTgt spid="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5" fill="hold" grpId="0" nodeType="clickEffect">
                                  <p:stCondLst>
                                    <p:cond delay="0"/>
                                  </p:stCondLst>
                                  <p:childTnLst>
                                    <p:set>
                                      <p:cBhvr>
                                        <p:cTn id="47" dur="1" fill="hold">
                                          <p:stCondLst>
                                            <p:cond delay="0"/>
                                          </p:stCondLst>
                                        </p:cTn>
                                        <p:tgtEl>
                                          <p:spTgt spid="1299676"/>
                                        </p:tgtEl>
                                        <p:attrNameLst>
                                          <p:attrName>style.visibility</p:attrName>
                                        </p:attrNameLst>
                                      </p:cBhvr>
                                      <p:to>
                                        <p:strVal val="visible"/>
                                      </p:to>
                                    </p:set>
                                    <p:animEffect transition="in" filter="blinds(vertical)">
                                      <p:cBhvr>
                                        <p:cTn id="48" dur="500"/>
                                        <p:tgtEl>
                                          <p:spTgt spid="129967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nodeType="click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blinds(horizontal)">
                                      <p:cBhvr>
                                        <p:cTn id="5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9625" grpId="0" autoUpdateAnimBg="0"/>
      <p:bldP spid="1299658" grpId="0" animBg="1" autoUpdateAnimBg="0"/>
      <p:bldP spid="1299660" grpId="0" animBg="1" autoUpdateAnimBg="0"/>
      <p:bldP spid="1299662" grpId="0" animBg="1" autoUpdateAnimBg="0"/>
      <p:bldP spid="1299669" grpId="0" animBg="1" autoUpdateAnimBg="0"/>
      <p:bldP spid="1299676" grpId="0" animBg="1" autoUpdateAnimBg="0"/>
    </p:bld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日期占位符 1">
            <a:extLst>
              <a:ext uri="{FF2B5EF4-FFF2-40B4-BE49-F238E27FC236}">
                <a16:creationId xmlns:a16="http://schemas.microsoft.com/office/drawing/2014/main" id="{072003E9-7225-4B01-A220-38D4CE6AA075}"/>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F179329B-A6BA-4904-BEE8-BBDEF61FEEFE}"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graphicFrame>
        <p:nvGraphicFramePr>
          <p:cNvPr id="1301653" name="Group 149">
            <a:extLst>
              <a:ext uri="{FF2B5EF4-FFF2-40B4-BE49-F238E27FC236}">
                <a16:creationId xmlns:a16="http://schemas.microsoft.com/office/drawing/2014/main" id="{F4CA951D-17C0-4B7D-9319-4264E4042C45}"/>
              </a:ext>
            </a:extLst>
          </p:cNvPr>
          <p:cNvGraphicFramePr>
            <a:graphicFrameLocks noGrp="1"/>
          </p:cNvGraphicFramePr>
          <p:nvPr/>
        </p:nvGraphicFramePr>
        <p:xfrm>
          <a:off x="5562600" y="2819400"/>
          <a:ext cx="4648200" cy="2209801"/>
        </p:xfrm>
        <a:graphic>
          <a:graphicData uri="http://schemas.openxmlformats.org/drawingml/2006/table">
            <a:tbl>
              <a:tblPr/>
              <a:tblGrid>
                <a:gridCol w="1295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tblGrid>
              <a:tr h="5191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16369C"/>
                          </a:solidFill>
                          <a:effectLst/>
                          <a:latin typeface="黑体" pitchFamily="2" charset="-122"/>
                          <a:ea typeface="黑体" pitchFamily="2" charset="-122"/>
                        </a:rPr>
                        <a:t>测试路径</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rgbClr val="DEE5FA"/>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16369C"/>
                          </a:solidFill>
                          <a:effectLst/>
                          <a:latin typeface="黑体" pitchFamily="2" charset="-122"/>
                          <a:ea typeface="黑体" pitchFamily="2" charset="-122"/>
                        </a:rPr>
                        <a:t>覆盖结点/边</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rgbClr val="DEE5FA"/>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16369C"/>
                          </a:solidFill>
                          <a:effectLst/>
                          <a:latin typeface="黑体" pitchFamily="2" charset="-122"/>
                          <a:ea typeface="黑体" pitchFamily="2" charset="-122"/>
                        </a:rPr>
                        <a:t>覆盖标准</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rgbClr val="DEE5FA"/>
                    </a:solidFill>
                  </a:tcPr>
                </a:tc>
                <a:extLst>
                  <a:ext uri="{0D108BD9-81ED-4DB2-BD59-A6C34878D82A}">
                    <a16:rowId xmlns:a16="http://schemas.microsoft.com/office/drawing/2014/main" val="10000"/>
                  </a:ext>
                </a:extLst>
              </a:tr>
              <a:tr h="44926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2000" b="0" i="0" u="none" strike="noStrike" cap="none" normalizeH="0" baseline="0">
                          <a:ln>
                            <a:noFill/>
                          </a:ln>
                          <a:solidFill>
                            <a:schemeClr val="accent2"/>
                          </a:solidFill>
                          <a:effectLst/>
                          <a:latin typeface="Times New Roman" charset="0"/>
                          <a:ea typeface="文鼎细圆" pitchFamily="49" charset="-122"/>
                        </a:rPr>
                        <a:t> </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rgbClr val="DEE5FA"/>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0" i="0" u="none" strike="noStrike" cap="none" normalizeH="0" baseline="0">
                          <a:ln>
                            <a:noFill/>
                          </a:ln>
                          <a:solidFill>
                            <a:srgbClr val="124905"/>
                          </a:solidFill>
                          <a:effectLst/>
                          <a:latin typeface="Times New Roman" charset="0"/>
                          <a:ea typeface="文鼎细圆" pitchFamily="49" charset="-122"/>
                        </a:rPr>
                        <a:t> </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rgbClr val="DEE5FA"/>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345BC8"/>
                          </a:solidFill>
                          <a:effectLst/>
                          <a:latin typeface="黑体" pitchFamily="2" charset="-122"/>
                          <a:ea typeface="黑体" pitchFamily="2" charset="-122"/>
                        </a:rPr>
                        <a:t>点覆盖</a:t>
                      </a:r>
                      <a:r>
                        <a:rPr kumimoji="1" lang="en-US" altLang="zh-CN" sz="2000" b="0" i="0" u="none" strike="noStrike" cap="none" normalizeH="0" baseline="0">
                          <a:ln>
                            <a:noFill/>
                          </a:ln>
                          <a:solidFill>
                            <a:srgbClr val="124905"/>
                          </a:solidFill>
                          <a:effectLst/>
                          <a:latin typeface="Times New Roman" charset="0"/>
                          <a:ea typeface="文鼎细圆" pitchFamily="49" charset="-122"/>
                        </a:rPr>
                        <a:t> </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rgbClr val="DEE5FA"/>
                    </a:solidFill>
                  </a:tcPr>
                </a:tc>
                <a:extLst>
                  <a:ext uri="{0D108BD9-81ED-4DB2-BD59-A6C34878D82A}">
                    <a16:rowId xmlns:a16="http://schemas.microsoft.com/office/drawing/2014/main" val="10001"/>
                  </a:ext>
                </a:extLst>
              </a:tr>
              <a:tr h="50165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2000" b="0" i="0" u="none" strike="noStrike" cap="none" normalizeH="0" baseline="0">
                          <a:ln>
                            <a:noFill/>
                          </a:ln>
                          <a:solidFill>
                            <a:schemeClr val="accent2"/>
                          </a:solidFill>
                          <a:effectLst/>
                          <a:latin typeface="Times New Roman" charset="0"/>
                          <a:ea typeface="文鼎细圆" pitchFamily="49" charset="-122"/>
                        </a:rPr>
                        <a:t> </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rgbClr val="DEE5FA"/>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0" i="0" u="none" strike="noStrike" cap="none" normalizeH="0" baseline="0">
                          <a:ln>
                            <a:noFill/>
                          </a:ln>
                          <a:solidFill>
                            <a:srgbClr val="124905"/>
                          </a:solidFill>
                          <a:effectLst/>
                          <a:latin typeface="Times New Roman" charset="0"/>
                          <a:ea typeface="文鼎细圆" pitchFamily="49" charset="-122"/>
                        </a:rPr>
                        <a:t> </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rgbClr val="DEE5FA"/>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345BC8"/>
                          </a:solidFill>
                          <a:effectLst/>
                          <a:latin typeface="黑体" pitchFamily="2" charset="-122"/>
                          <a:ea typeface="黑体" pitchFamily="2" charset="-122"/>
                        </a:rPr>
                        <a:t>边覆盖</a:t>
                      </a:r>
                      <a:r>
                        <a:rPr kumimoji="1" lang="en-US" altLang="zh-CN" sz="2000" b="0" i="0" u="none" strike="noStrike" cap="none" normalizeH="0" baseline="0">
                          <a:ln>
                            <a:noFill/>
                          </a:ln>
                          <a:solidFill>
                            <a:srgbClr val="124905"/>
                          </a:solidFill>
                          <a:effectLst/>
                          <a:latin typeface="Times New Roman" charset="0"/>
                          <a:ea typeface="文鼎细圆" pitchFamily="49" charset="-122"/>
                        </a:rPr>
                        <a:t> </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rgbClr val="DEE5FA"/>
                    </a:solidFill>
                  </a:tcPr>
                </a:tc>
                <a:extLst>
                  <a:ext uri="{0D108BD9-81ED-4DB2-BD59-A6C34878D82A}">
                    <a16:rowId xmlns:a16="http://schemas.microsoft.com/office/drawing/2014/main" val="10002"/>
                  </a:ext>
                </a:extLst>
              </a:tr>
              <a:tr h="73977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2000" b="0" i="0" u="none" strike="noStrike" cap="none" normalizeH="0" baseline="0">
                          <a:ln>
                            <a:noFill/>
                          </a:ln>
                          <a:solidFill>
                            <a:schemeClr val="accent2"/>
                          </a:solidFill>
                          <a:effectLst/>
                          <a:latin typeface="Times New Roman" charset="0"/>
                          <a:ea typeface="文鼎细圆" pitchFamily="49" charset="-122"/>
                        </a:rPr>
                        <a:t> </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rgbClr val="DEE5FA"/>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2000" b="0" i="0" u="none" strike="noStrike" cap="none" normalizeH="0" baseline="0">
                          <a:ln>
                            <a:noFill/>
                          </a:ln>
                          <a:solidFill>
                            <a:srgbClr val="124905"/>
                          </a:solidFill>
                          <a:effectLst/>
                          <a:latin typeface="Times New Roman" charset="0"/>
                          <a:ea typeface="文鼎细圆" pitchFamily="49" charset="-122"/>
                        </a:rPr>
                        <a:t> </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rgbClr val="DEE5FA"/>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345BC8"/>
                          </a:solidFill>
                          <a:effectLst/>
                          <a:latin typeface="黑体" pitchFamily="2" charset="-122"/>
                          <a:ea typeface="黑体" pitchFamily="2" charset="-122"/>
                        </a:rPr>
                        <a:t>路径覆盖</a:t>
                      </a:r>
                      <a:r>
                        <a:rPr kumimoji="1" lang="en-US" altLang="zh-CN" sz="2000" b="0" i="0" u="none" strike="noStrike" cap="none" normalizeH="0" baseline="0">
                          <a:ln>
                            <a:noFill/>
                          </a:ln>
                          <a:solidFill>
                            <a:srgbClr val="124905"/>
                          </a:solidFill>
                          <a:effectLst/>
                          <a:latin typeface="Times New Roman" charset="0"/>
                          <a:ea typeface="文鼎细圆" pitchFamily="49" charset="-122"/>
                        </a:rPr>
                        <a:t> </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rgbClr val="DEE5FA"/>
                    </a:solidFill>
                  </a:tcPr>
                </a:tc>
                <a:extLst>
                  <a:ext uri="{0D108BD9-81ED-4DB2-BD59-A6C34878D82A}">
                    <a16:rowId xmlns:a16="http://schemas.microsoft.com/office/drawing/2014/main" val="10003"/>
                  </a:ext>
                </a:extLst>
              </a:tr>
            </a:tbl>
          </a:graphicData>
        </a:graphic>
      </p:graphicFrame>
      <p:sp>
        <p:nvSpPr>
          <p:cNvPr id="64537" name="Oval 52">
            <a:extLst>
              <a:ext uri="{FF2B5EF4-FFF2-40B4-BE49-F238E27FC236}">
                <a16:creationId xmlns:a16="http://schemas.microsoft.com/office/drawing/2014/main" id="{1727963C-B417-416E-8B8C-AFA38AAC71ED}"/>
              </a:ext>
            </a:extLst>
          </p:cNvPr>
          <p:cNvSpPr>
            <a:spLocks noChangeArrowheads="1"/>
          </p:cNvSpPr>
          <p:nvPr/>
        </p:nvSpPr>
        <p:spPr bwMode="auto">
          <a:xfrm>
            <a:off x="3810000" y="990600"/>
            <a:ext cx="4953000" cy="381000"/>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800">
                <a:solidFill>
                  <a:srgbClr val="49AB39"/>
                </a:solidFill>
                <a:latin typeface="Times New Roman" panose="02020603050405020304" pitchFamily="18" charset="0"/>
                <a:ea typeface="黑体" panose="02010609060101010101" pitchFamily="49" charset="-122"/>
              </a:rPr>
              <a:t>根据左侧给出的程序图，请填写下列表</a:t>
            </a:r>
          </a:p>
        </p:txBody>
      </p:sp>
      <p:sp>
        <p:nvSpPr>
          <p:cNvPr id="64538" name="WordArt 76">
            <a:extLst>
              <a:ext uri="{FF2B5EF4-FFF2-40B4-BE49-F238E27FC236}">
                <a16:creationId xmlns:a16="http://schemas.microsoft.com/office/drawing/2014/main" id="{22389470-760D-4871-802B-FA6C7EE79248}"/>
              </a:ext>
            </a:extLst>
          </p:cNvPr>
          <p:cNvSpPr>
            <a:spLocks noChangeArrowheads="1" noChangeShapeType="1" noTextEdit="1"/>
          </p:cNvSpPr>
          <p:nvPr/>
        </p:nvSpPr>
        <p:spPr bwMode="auto">
          <a:xfrm rot="5400000">
            <a:off x="3238500" y="647700"/>
            <a:ext cx="838200" cy="609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vert="eaVert" wrap="none" fromWordArt="1">
            <a:prstTxWarp prst="textWave4">
              <a:avLst>
                <a:gd name="adj1" fmla="val 13005"/>
                <a:gd name="adj2" fmla="val 0"/>
              </a:avLst>
            </a:prstTxWarp>
          </a:bodyPr>
          <a:lstStyle/>
          <a:p>
            <a:pPr algn="ctr" fontAlgn="auto"/>
            <a:r>
              <a:rPr lang="zh-CN" altLang="en-US" sz="3600" kern="10">
                <a:gradFill rotWithShape="1">
                  <a:gsLst>
                    <a:gs pos="0">
                      <a:srgbClr val="00FF00"/>
                    </a:gs>
                    <a:gs pos="100000">
                      <a:srgbClr val="00CCFF"/>
                    </a:gs>
                  </a:gsLst>
                  <a:lin ang="0" scaled="1"/>
                </a:gradFill>
                <a:effectLst>
                  <a:outerShdw dist="99190" dir="7788334" algn="ctr" rotWithShape="0">
                    <a:srgbClr val="000080"/>
                  </a:outerShdw>
                </a:effectLst>
                <a:latin typeface="宋体" panose="02010600030101010101" pitchFamily="2" charset="-122"/>
              </a:rPr>
              <a:t>练习</a:t>
            </a:r>
          </a:p>
        </p:txBody>
      </p:sp>
      <p:grpSp>
        <p:nvGrpSpPr>
          <p:cNvPr id="64539" name="Group 82">
            <a:extLst>
              <a:ext uri="{FF2B5EF4-FFF2-40B4-BE49-F238E27FC236}">
                <a16:creationId xmlns:a16="http://schemas.microsoft.com/office/drawing/2014/main" id="{552AE8FA-D5C4-4361-8F33-64E9277392DC}"/>
              </a:ext>
            </a:extLst>
          </p:cNvPr>
          <p:cNvGrpSpPr>
            <a:grpSpLocks/>
          </p:cNvGrpSpPr>
          <p:nvPr/>
        </p:nvGrpSpPr>
        <p:grpSpPr bwMode="auto">
          <a:xfrm>
            <a:off x="3276600" y="2209800"/>
            <a:ext cx="2001838" cy="3581400"/>
            <a:chOff x="960" y="1200"/>
            <a:chExt cx="1261" cy="2256"/>
          </a:xfrm>
        </p:grpSpPr>
        <p:sp>
          <p:nvSpPr>
            <p:cNvPr id="1301538" name="Oval 34">
              <a:extLst>
                <a:ext uri="{FF2B5EF4-FFF2-40B4-BE49-F238E27FC236}">
                  <a16:creationId xmlns:a16="http://schemas.microsoft.com/office/drawing/2014/main" id="{B09ED27A-449A-4786-9881-24419711576A}"/>
                </a:ext>
              </a:extLst>
            </p:cNvPr>
            <p:cNvSpPr>
              <a:spLocks noChangeArrowheads="1"/>
            </p:cNvSpPr>
            <p:nvPr/>
          </p:nvSpPr>
          <p:spPr bwMode="auto">
            <a:xfrm>
              <a:off x="1435" y="1392"/>
              <a:ext cx="293" cy="288"/>
            </a:xfrm>
            <a:prstGeom prst="ellipse">
              <a:avLst/>
            </a:prstGeom>
            <a:solidFill>
              <a:schemeClr val="bg1"/>
            </a:solidFill>
            <a:ln w="9525">
              <a:solidFill>
                <a:srgbClr val="669CC4"/>
              </a:solidFill>
              <a:round/>
              <a:headEnd/>
              <a:tailEnd/>
            </a:ln>
            <a:effectLst/>
          </p:spPr>
          <p:txBody>
            <a:bodyPr wrap="none" anchor="ctr"/>
            <a:lstStyle/>
            <a:p>
              <a:pPr algn="ctr">
                <a:defRPr/>
              </a:pPr>
              <a:r>
                <a:rPr lang="zh-CN" altLang="en-US" sz="2000" b="1">
                  <a:solidFill>
                    <a:schemeClr val="accent2"/>
                  </a:solidFill>
                  <a:effectLst>
                    <a:outerShdw blurRad="38100" dist="38100" dir="2700000" algn="tl">
                      <a:srgbClr val="000000"/>
                    </a:outerShdw>
                  </a:effectLst>
                  <a:latin typeface="Times New Roman" charset="0"/>
                  <a:ea typeface="文鼎细圆" pitchFamily="49" charset="-122"/>
                </a:rPr>
                <a:t>1</a:t>
              </a:r>
            </a:p>
          </p:txBody>
        </p:sp>
        <p:sp>
          <p:nvSpPr>
            <p:cNvPr id="64547" name="Arc 37">
              <a:extLst>
                <a:ext uri="{FF2B5EF4-FFF2-40B4-BE49-F238E27FC236}">
                  <a16:creationId xmlns:a16="http://schemas.microsoft.com/office/drawing/2014/main" id="{3A46FD4D-42BB-4ADF-AB62-361715B1BCD2}"/>
                </a:ext>
              </a:extLst>
            </p:cNvPr>
            <p:cNvSpPr>
              <a:spLocks/>
            </p:cNvSpPr>
            <p:nvPr/>
          </p:nvSpPr>
          <p:spPr bwMode="auto">
            <a:xfrm flipH="1">
              <a:off x="1200" y="1536"/>
              <a:ext cx="235" cy="3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chemeClr val="bg1"/>
            </a:solidFill>
            <a:ln w="9525">
              <a:solidFill>
                <a:srgbClr val="669CC4"/>
              </a:solidFill>
              <a:round/>
              <a:headEnd/>
              <a:tailEnd/>
            </a:ln>
          </p:spPr>
          <p:txBody>
            <a:bodyPr wrap="none" anchor="ctr"/>
            <a:lstStyle/>
            <a:p>
              <a:endParaRPr lang="zh-CN" altLang="en-US"/>
            </a:p>
          </p:txBody>
        </p:sp>
        <p:sp>
          <p:nvSpPr>
            <p:cNvPr id="64548" name="Arc 38">
              <a:extLst>
                <a:ext uri="{FF2B5EF4-FFF2-40B4-BE49-F238E27FC236}">
                  <a16:creationId xmlns:a16="http://schemas.microsoft.com/office/drawing/2014/main" id="{E7E5659D-3BF2-4A23-BF2D-4AC1737FCD27}"/>
                </a:ext>
              </a:extLst>
            </p:cNvPr>
            <p:cNvSpPr>
              <a:spLocks/>
            </p:cNvSpPr>
            <p:nvPr/>
          </p:nvSpPr>
          <p:spPr bwMode="auto">
            <a:xfrm flipH="1" flipV="1">
              <a:off x="1200" y="1872"/>
              <a:ext cx="235" cy="3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chemeClr val="bg1"/>
            </a:solidFill>
            <a:ln w="12700">
              <a:solidFill>
                <a:srgbClr val="669CC4"/>
              </a:solidFill>
              <a:round/>
              <a:headEnd type="triangle" w="med" len="med"/>
              <a:tailEnd/>
            </a:ln>
          </p:spPr>
          <p:txBody>
            <a:bodyPr wrap="none" anchor="ctr"/>
            <a:lstStyle/>
            <a:p>
              <a:endParaRPr lang="zh-CN" altLang="en-US"/>
            </a:p>
          </p:txBody>
        </p:sp>
        <p:sp>
          <p:nvSpPr>
            <p:cNvPr id="64549" name="Arc 39">
              <a:extLst>
                <a:ext uri="{FF2B5EF4-FFF2-40B4-BE49-F238E27FC236}">
                  <a16:creationId xmlns:a16="http://schemas.microsoft.com/office/drawing/2014/main" id="{859C2B63-0A72-42DB-A213-13707D6E7014}"/>
                </a:ext>
              </a:extLst>
            </p:cNvPr>
            <p:cNvSpPr>
              <a:spLocks/>
            </p:cNvSpPr>
            <p:nvPr/>
          </p:nvSpPr>
          <p:spPr bwMode="auto">
            <a:xfrm>
              <a:off x="1728" y="1536"/>
              <a:ext cx="240"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chemeClr val="bg1"/>
            </a:solidFill>
            <a:ln w="9525">
              <a:solidFill>
                <a:srgbClr val="669CC4"/>
              </a:solidFill>
              <a:round/>
              <a:headEnd/>
              <a:tailEnd/>
            </a:ln>
          </p:spPr>
          <p:txBody>
            <a:bodyPr wrap="none" anchor="ctr"/>
            <a:lstStyle/>
            <a:p>
              <a:endParaRPr lang="zh-CN" altLang="en-US"/>
            </a:p>
          </p:txBody>
        </p:sp>
        <p:sp>
          <p:nvSpPr>
            <p:cNvPr id="64550" name="Arc 40">
              <a:extLst>
                <a:ext uri="{FF2B5EF4-FFF2-40B4-BE49-F238E27FC236}">
                  <a16:creationId xmlns:a16="http://schemas.microsoft.com/office/drawing/2014/main" id="{18C8CF64-A9FC-485D-AC69-1F609CD8332C}"/>
                </a:ext>
              </a:extLst>
            </p:cNvPr>
            <p:cNvSpPr>
              <a:spLocks/>
            </p:cNvSpPr>
            <p:nvPr/>
          </p:nvSpPr>
          <p:spPr bwMode="auto">
            <a:xfrm flipV="1">
              <a:off x="1728" y="1872"/>
              <a:ext cx="240" cy="3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chemeClr val="bg1"/>
            </a:solidFill>
            <a:ln w="12700">
              <a:solidFill>
                <a:srgbClr val="669CC4"/>
              </a:solidFill>
              <a:round/>
              <a:headEnd type="triangle" w="med" len="med"/>
              <a:tailEnd/>
            </a:ln>
          </p:spPr>
          <p:txBody>
            <a:bodyPr wrap="none" anchor="ctr"/>
            <a:lstStyle/>
            <a:p>
              <a:endParaRPr lang="zh-CN" altLang="en-US"/>
            </a:p>
          </p:txBody>
        </p:sp>
        <p:sp>
          <p:nvSpPr>
            <p:cNvPr id="64551" name="Arc 43">
              <a:extLst>
                <a:ext uri="{FF2B5EF4-FFF2-40B4-BE49-F238E27FC236}">
                  <a16:creationId xmlns:a16="http://schemas.microsoft.com/office/drawing/2014/main" id="{841E1EC5-50C8-4826-830E-25E8A9B4E1FD}"/>
                </a:ext>
              </a:extLst>
            </p:cNvPr>
            <p:cNvSpPr>
              <a:spLocks/>
            </p:cNvSpPr>
            <p:nvPr/>
          </p:nvSpPr>
          <p:spPr bwMode="auto">
            <a:xfrm flipH="1">
              <a:off x="1296" y="2352"/>
              <a:ext cx="139"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chemeClr val="bg1"/>
            </a:solidFill>
            <a:ln w="12700">
              <a:solidFill>
                <a:srgbClr val="669CC4"/>
              </a:solidFill>
              <a:round/>
              <a:headEnd/>
              <a:tailEnd type="triangle" w="med" len="med"/>
            </a:ln>
          </p:spPr>
          <p:txBody>
            <a:bodyPr wrap="none" anchor="ctr"/>
            <a:lstStyle/>
            <a:p>
              <a:endParaRPr lang="zh-CN" altLang="en-US"/>
            </a:p>
          </p:txBody>
        </p:sp>
        <p:sp>
          <p:nvSpPr>
            <p:cNvPr id="64552" name="Arc 44">
              <a:extLst>
                <a:ext uri="{FF2B5EF4-FFF2-40B4-BE49-F238E27FC236}">
                  <a16:creationId xmlns:a16="http://schemas.microsoft.com/office/drawing/2014/main" id="{AEA6ABDD-DC7B-4957-869C-78585131129C}"/>
                </a:ext>
              </a:extLst>
            </p:cNvPr>
            <p:cNvSpPr>
              <a:spLocks/>
            </p:cNvSpPr>
            <p:nvPr/>
          </p:nvSpPr>
          <p:spPr bwMode="auto">
            <a:xfrm flipH="1" flipV="1">
              <a:off x="1291" y="2880"/>
              <a:ext cx="192"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chemeClr val="bg1"/>
            </a:solidFill>
            <a:ln w="12700">
              <a:solidFill>
                <a:srgbClr val="669CC4"/>
              </a:solidFill>
              <a:round/>
              <a:headEnd type="triangle" w="med" len="med"/>
              <a:tailEnd/>
            </a:ln>
          </p:spPr>
          <p:txBody>
            <a:bodyPr wrap="none" anchor="ctr"/>
            <a:lstStyle/>
            <a:p>
              <a:endParaRPr lang="zh-CN" altLang="en-US"/>
            </a:p>
          </p:txBody>
        </p:sp>
        <p:sp>
          <p:nvSpPr>
            <p:cNvPr id="64553" name="Arc 45">
              <a:extLst>
                <a:ext uri="{FF2B5EF4-FFF2-40B4-BE49-F238E27FC236}">
                  <a16:creationId xmlns:a16="http://schemas.microsoft.com/office/drawing/2014/main" id="{0048C946-59A5-4EDF-829C-D6B882AE5EFE}"/>
                </a:ext>
              </a:extLst>
            </p:cNvPr>
            <p:cNvSpPr>
              <a:spLocks/>
            </p:cNvSpPr>
            <p:nvPr/>
          </p:nvSpPr>
          <p:spPr bwMode="auto">
            <a:xfrm>
              <a:off x="1728" y="2352"/>
              <a:ext cx="240"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chemeClr val="bg1"/>
            </a:solidFill>
            <a:ln w="9525">
              <a:solidFill>
                <a:srgbClr val="669CC4"/>
              </a:solidFill>
              <a:round/>
              <a:headEnd/>
              <a:tailEnd/>
            </a:ln>
          </p:spPr>
          <p:txBody>
            <a:bodyPr wrap="none" anchor="ctr"/>
            <a:lstStyle/>
            <a:p>
              <a:endParaRPr lang="zh-CN" altLang="en-US"/>
            </a:p>
          </p:txBody>
        </p:sp>
        <p:sp>
          <p:nvSpPr>
            <p:cNvPr id="64554" name="Arc 46">
              <a:extLst>
                <a:ext uri="{FF2B5EF4-FFF2-40B4-BE49-F238E27FC236}">
                  <a16:creationId xmlns:a16="http://schemas.microsoft.com/office/drawing/2014/main" id="{124D57A3-2A54-4B9E-AF56-BA18998A0662}"/>
                </a:ext>
              </a:extLst>
            </p:cNvPr>
            <p:cNvSpPr>
              <a:spLocks/>
            </p:cNvSpPr>
            <p:nvPr/>
          </p:nvSpPr>
          <p:spPr bwMode="auto">
            <a:xfrm flipV="1">
              <a:off x="1771" y="2784"/>
              <a:ext cx="197" cy="3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chemeClr val="bg1"/>
            </a:solidFill>
            <a:ln w="12700">
              <a:solidFill>
                <a:srgbClr val="669CC4"/>
              </a:solidFill>
              <a:round/>
              <a:headEnd type="triangle" w="med" len="med"/>
              <a:tailEnd/>
            </a:ln>
          </p:spPr>
          <p:txBody>
            <a:bodyPr wrap="none" anchor="ctr"/>
            <a:lstStyle/>
            <a:p>
              <a:endParaRPr lang="zh-CN" altLang="en-US"/>
            </a:p>
          </p:txBody>
        </p:sp>
        <p:sp>
          <p:nvSpPr>
            <p:cNvPr id="1301551" name="Text Box 47">
              <a:extLst>
                <a:ext uri="{FF2B5EF4-FFF2-40B4-BE49-F238E27FC236}">
                  <a16:creationId xmlns:a16="http://schemas.microsoft.com/office/drawing/2014/main" id="{5659CA4B-5890-4E1B-8331-86E7693B933F}"/>
                </a:ext>
              </a:extLst>
            </p:cNvPr>
            <p:cNvSpPr txBox="1">
              <a:spLocks noChangeArrowheads="1"/>
            </p:cNvSpPr>
            <p:nvPr/>
          </p:nvSpPr>
          <p:spPr bwMode="auto">
            <a:xfrm>
              <a:off x="960" y="1728"/>
              <a:ext cx="196" cy="250"/>
            </a:xfrm>
            <a:prstGeom prst="rect">
              <a:avLst/>
            </a:prstGeom>
            <a:solidFill>
              <a:schemeClr val="bg1"/>
            </a:solid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000" b="1">
                  <a:solidFill>
                    <a:srgbClr val="49AB39"/>
                  </a:solidFill>
                  <a:effectLst>
                    <a:outerShdw blurRad="38100" dist="38100" dir="2700000" algn="tl">
                      <a:srgbClr val="000000"/>
                    </a:outerShdw>
                  </a:effectLst>
                  <a:ea typeface="文鼎细圆" pitchFamily="49" charset="-122"/>
                </a:rPr>
                <a:t>a</a:t>
              </a:r>
            </a:p>
          </p:txBody>
        </p:sp>
        <p:sp>
          <p:nvSpPr>
            <p:cNvPr id="1301552" name="Text Box 48">
              <a:extLst>
                <a:ext uri="{FF2B5EF4-FFF2-40B4-BE49-F238E27FC236}">
                  <a16:creationId xmlns:a16="http://schemas.microsoft.com/office/drawing/2014/main" id="{EC53EA4F-073C-4D80-920C-8A930D9C83F1}"/>
                </a:ext>
              </a:extLst>
            </p:cNvPr>
            <p:cNvSpPr txBox="1">
              <a:spLocks noChangeArrowheads="1"/>
            </p:cNvSpPr>
            <p:nvPr/>
          </p:nvSpPr>
          <p:spPr bwMode="auto">
            <a:xfrm>
              <a:off x="2016" y="1728"/>
              <a:ext cx="205" cy="250"/>
            </a:xfrm>
            <a:prstGeom prst="rect">
              <a:avLst/>
            </a:prstGeom>
            <a:solidFill>
              <a:schemeClr val="bg1"/>
            </a:solid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000" b="1">
                  <a:solidFill>
                    <a:srgbClr val="49AB39"/>
                  </a:solidFill>
                  <a:effectLst>
                    <a:outerShdw blurRad="38100" dist="38100" dir="2700000" algn="tl">
                      <a:srgbClr val="000000"/>
                    </a:outerShdw>
                  </a:effectLst>
                  <a:ea typeface="文鼎细圆" pitchFamily="49" charset="-122"/>
                </a:rPr>
                <a:t>b</a:t>
              </a:r>
            </a:p>
          </p:txBody>
        </p:sp>
        <p:sp>
          <p:nvSpPr>
            <p:cNvPr id="1301553" name="Text Box 49">
              <a:extLst>
                <a:ext uri="{FF2B5EF4-FFF2-40B4-BE49-F238E27FC236}">
                  <a16:creationId xmlns:a16="http://schemas.microsoft.com/office/drawing/2014/main" id="{DC5FF33B-9037-4EB3-BF0E-A66B4B0793AF}"/>
                </a:ext>
              </a:extLst>
            </p:cNvPr>
            <p:cNvSpPr txBox="1">
              <a:spLocks noChangeArrowheads="1"/>
            </p:cNvSpPr>
            <p:nvPr/>
          </p:nvSpPr>
          <p:spPr bwMode="auto">
            <a:xfrm>
              <a:off x="1056" y="2304"/>
              <a:ext cx="187" cy="250"/>
            </a:xfrm>
            <a:prstGeom prst="rect">
              <a:avLst/>
            </a:prstGeom>
            <a:solidFill>
              <a:schemeClr val="bg1"/>
            </a:solid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000" b="1">
                  <a:solidFill>
                    <a:srgbClr val="49AB39"/>
                  </a:solidFill>
                  <a:effectLst>
                    <a:outerShdw blurRad="38100" dist="38100" dir="2700000" algn="tl">
                      <a:srgbClr val="000000"/>
                    </a:outerShdw>
                  </a:effectLst>
                  <a:ea typeface="文鼎细圆" pitchFamily="49" charset="-122"/>
                </a:rPr>
                <a:t>c</a:t>
              </a:r>
            </a:p>
          </p:txBody>
        </p:sp>
        <p:sp>
          <p:nvSpPr>
            <p:cNvPr id="1301554" name="Text Box 50">
              <a:extLst>
                <a:ext uri="{FF2B5EF4-FFF2-40B4-BE49-F238E27FC236}">
                  <a16:creationId xmlns:a16="http://schemas.microsoft.com/office/drawing/2014/main" id="{2A7950FC-36DA-4E2C-9D5F-56654D20C30B}"/>
                </a:ext>
              </a:extLst>
            </p:cNvPr>
            <p:cNvSpPr txBox="1">
              <a:spLocks noChangeArrowheads="1"/>
            </p:cNvSpPr>
            <p:nvPr/>
          </p:nvSpPr>
          <p:spPr bwMode="auto">
            <a:xfrm>
              <a:off x="1104" y="2928"/>
              <a:ext cx="196" cy="231"/>
            </a:xfrm>
            <a:prstGeom prst="rect">
              <a:avLst/>
            </a:prstGeom>
            <a:solidFill>
              <a:schemeClr val="bg1"/>
            </a:solid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1800" b="1">
                  <a:solidFill>
                    <a:srgbClr val="49AB39"/>
                  </a:solidFill>
                  <a:effectLst>
                    <a:outerShdw blurRad="38100" dist="38100" dir="2700000" algn="tl">
                      <a:srgbClr val="000000"/>
                    </a:outerShdw>
                  </a:effectLst>
                  <a:ea typeface="文鼎细圆" pitchFamily="49" charset="-122"/>
                </a:rPr>
                <a:t>d</a:t>
              </a:r>
            </a:p>
          </p:txBody>
        </p:sp>
        <p:sp>
          <p:nvSpPr>
            <p:cNvPr id="1301555" name="Text Box 51">
              <a:extLst>
                <a:ext uri="{FF2B5EF4-FFF2-40B4-BE49-F238E27FC236}">
                  <a16:creationId xmlns:a16="http://schemas.microsoft.com/office/drawing/2014/main" id="{0DB35D16-5658-4FDA-8A40-23AF1F1AAD9A}"/>
                </a:ext>
              </a:extLst>
            </p:cNvPr>
            <p:cNvSpPr txBox="1">
              <a:spLocks noChangeArrowheads="1"/>
            </p:cNvSpPr>
            <p:nvPr/>
          </p:nvSpPr>
          <p:spPr bwMode="auto">
            <a:xfrm>
              <a:off x="1968" y="2448"/>
              <a:ext cx="187" cy="250"/>
            </a:xfrm>
            <a:prstGeom prst="rect">
              <a:avLst/>
            </a:prstGeom>
            <a:solidFill>
              <a:schemeClr val="bg1"/>
            </a:solid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000" b="1">
                  <a:solidFill>
                    <a:srgbClr val="49AB39"/>
                  </a:solidFill>
                  <a:effectLst>
                    <a:outerShdw blurRad="38100" dist="38100" dir="2700000" algn="tl">
                      <a:srgbClr val="000000"/>
                    </a:outerShdw>
                  </a:effectLst>
                  <a:ea typeface="文鼎细圆" pitchFamily="49" charset="-122"/>
                </a:rPr>
                <a:t>e</a:t>
              </a:r>
            </a:p>
          </p:txBody>
        </p:sp>
        <p:sp>
          <p:nvSpPr>
            <p:cNvPr id="64560" name="Line 75">
              <a:extLst>
                <a:ext uri="{FF2B5EF4-FFF2-40B4-BE49-F238E27FC236}">
                  <a16:creationId xmlns:a16="http://schemas.microsoft.com/office/drawing/2014/main" id="{98BD5010-9BFD-4461-A941-418EFC59FF5B}"/>
                </a:ext>
              </a:extLst>
            </p:cNvPr>
            <p:cNvSpPr>
              <a:spLocks noChangeShapeType="1"/>
            </p:cNvSpPr>
            <p:nvPr/>
          </p:nvSpPr>
          <p:spPr bwMode="auto">
            <a:xfrm>
              <a:off x="1632" y="3264"/>
              <a:ext cx="0" cy="192"/>
            </a:xfrm>
            <a:prstGeom prst="line">
              <a:avLst/>
            </a:prstGeom>
            <a:noFill/>
            <a:ln w="19050">
              <a:solidFill>
                <a:srgbClr val="669CC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61" name="Line 77">
              <a:extLst>
                <a:ext uri="{FF2B5EF4-FFF2-40B4-BE49-F238E27FC236}">
                  <a16:creationId xmlns:a16="http://schemas.microsoft.com/office/drawing/2014/main" id="{99586393-41FB-4390-BA5C-3E22B68A0DE5}"/>
                </a:ext>
              </a:extLst>
            </p:cNvPr>
            <p:cNvSpPr>
              <a:spLocks noChangeShapeType="1"/>
            </p:cNvSpPr>
            <p:nvPr/>
          </p:nvSpPr>
          <p:spPr bwMode="auto">
            <a:xfrm>
              <a:off x="1584" y="1200"/>
              <a:ext cx="0" cy="192"/>
            </a:xfrm>
            <a:prstGeom prst="line">
              <a:avLst/>
            </a:prstGeom>
            <a:noFill/>
            <a:ln w="19050">
              <a:solidFill>
                <a:srgbClr val="669CC4"/>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01582" name="Oval 78">
              <a:extLst>
                <a:ext uri="{FF2B5EF4-FFF2-40B4-BE49-F238E27FC236}">
                  <a16:creationId xmlns:a16="http://schemas.microsoft.com/office/drawing/2014/main" id="{D01BC574-BB67-4FBF-8F7E-54BD19F5185B}"/>
                </a:ext>
              </a:extLst>
            </p:cNvPr>
            <p:cNvSpPr>
              <a:spLocks noChangeArrowheads="1"/>
            </p:cNvSpPr>
            <p:nvPr/>
          </p:nvSpPr>
          <p:spPr bwMode="auto">
            <a:xfrm>
              <a:off x="1440" y="2160"/>
              <a:ext cx="293" cy="288"/>
            </a:xfrm>
            <a:prstGeom prst="ellipse">
              <a:avLst/>
            </a:prstGeom>
            <a:solidFill>
              <a:schemeClr val="bg1"/>
            </a:solidFill>
            <a:ln w="9525">
              <a:solidFill>
                <a:srgbClr val="669CC4"/>
              </a:solidFill>
              <a:round/>
              <a:headEnd/>
              <a:tailEnd/>
            </a:ln>
            <a:effectLst/>
          </p:spPr>
          <p:txBody>
            <a:bodyPr wrap="none" anchor="ctr"/>
            <a:lstStyle/>
            <a:p>
              <a:pPr algn="ctr">
                <a:defRPr/>
              </a:pPr>
              <a:r>
                <a:rPr lang="zh-CN" altLang="en-US" sz="2000" b="1">
                  <a:solidFill>
                    <a:schemeClr val="accent2"/>
                  </a:solidFill>
                  <a:effectLst>
                    <a:outerShdw blurRad="38100" dist="38100" dir="2700000" algn="tl">
                      <a:srgbClr val="000000"/>
                    </a:outerShdw>
                  </a:effectLst>
                  <a:latin typeface="Times New Roman" charset="0"/>
                  <a:ea typeface="文鼎细圆" pitchFamily="49" charset="-122"/>
                </a:rPr>
                <a:t>2</a:t>
              </a:r>
            </a:p>
          </p:txBody>
        </p:sp>
        <p:sp>
          <p:nvSpPr>
            <p:cNvPr id="1301583" name="Oval 79">
              <a:extLst>
                <a:ext uri="{FF2B5EF4-FFF2-40B4-BE49-F238E27FC236}">
                  <a16:creationId xmlns:a16="http://schemas.microsoft.com/office/drawing/2014/main" id="{CEEF58DB-F4FE-4248-9552-B44348A6401C}"/>
                </a:ext>
              </a:extLst>
            </p:cNvPr>
            <p:cNvSpPr>
              <a:spLocks noChangeArrowheads="1"/>
            </p:cNvSpPr>
            <p:nvPr/>
          </p:nvSpPr>
          <p:spPr bwMode="auto">
            <a:xfrm>
              <a:off x="1152" y="2592"/>
              <a:ext cx="293" cy="288"/>
            </a:xfrm>
            <a:prstGeom prst="ellipse">
              <a:avLst/>
            </a:prstGeom>
            <a:solidFill>
              <a:schemeClr val="bg1"/>
            </a:solidFill>
            <a:ln w="9525">
              <a:solidFill>
                <a:srgbClr val="669CC4"/>
              </a:solidFill>
              <a:round/>
              <a:headEnd/>
              <a:tailEnd/>
            </a:ln>
            <a:effectLst/>
          </p:spPr>
          <p:txBody>
            <a:bodyPr wrap="none" anchor="ctr"/>
            <a:lstStyle/>
            <a:p>
              <a:pPr algn="ctr">
                <a:defRPr/>
              </a:pPr>
              <a:r>
                <a:rPr lang="zh-CN" altLang="en-US" sz="2000" b="1">
                  <a:solidFill>
                    <a:schemeClr val="accent2"/>
                  </a:solidFill>
                  <a:effectLst>
                    <a:outerShdw blurRad="38100" dist="38100" dir="2700000" algn="tl">
                      <a:srgbClr val="000000"/>
                    </a:outerShdw>
                  </a:effectLst>
                  <a:latin typeface="Times New Roman" charset="0"/>
                  <a:ea typeface="文鼎细圆" pitchFamily="49" charset="-122"/>
                </a:rPr>
                <a:t>3</a:t>
              </a:r>
            </a:p>
          </p:txBody>
        </p:sp>
        <p:sp>
          <p:nvSpPr>
            <p:cNvPr id="1301585" name="Oval 81">
              <a:extLst>
                <a:ext uri="{FF2B5EF4-FFF2-40B4-BE49-F238E27FC236}">
                  <a16:creationId xmlns:a16="http://schemas.microsoft.com/office/drawing/2014/main" id="{1BD04ADA-0303-44A1-9B27-B50ADDA3AFF3}"/>
                </a:ext>
              </a:extLst>
            </p:cNvPr>
            <p:cNvSpPr>
              <a:spLocks noChangeArrowheads="1"/>
            </p:cNvSpPr>
            <p:nvPr/>
          </p:nvSpPr>
          <p:spPr bwMode="auto">
            <a:xfrm>
              <a:off x="1488" y="2976"/>
              <a:ext cx="293" cy="288"/>
            </a:xfrm>
            <a:prstGeom prst="ellipse">
              <a:avLst/>
            </a:prstGeom>
            <a:solidFill>
              <a:schemeClr val="bg1"/>
            </a:solidFill>
            <a:ln w="9525">
              <a:solidFill>
                <a:srgbClr val="669CC4"/>
              </a:solidFill>
              <a:round/>
              <a:headEnd/>
              <a:tailEnd/>
            </a:ln>
            <a:effectLst/>
          </p:spPr>
          <p:txBody>
            <a:bodyPr wrap="none" anchor="ctr"/>
            <a:lstStyle/>
            <a:p>
              <a:pPr algn="ctr">
                <a:defRPr/>
              </a:pPr>
              <a:r>
                <a:rPr lang="zh-CN" altLang="en-US" sz="2000" b="1">
                  <a:solidFill>
                    <a:schemeClr val="accent2"/>
                  </a:solidFill>
                  <a:effectLst>
                    <a:outerShdw blurRad="38100" dist="38100" dir="2700000" algn="tl">
                      <a:srgbClr val="000000"/>
                    </a:outerShdw>
                  </a:effectLst>
                  <a:latin typeface="Times New Roman" charset="0"/>
                  <a:ea typeface="文鼎细圆" pitchFamily="49" charset="-122"/>
                </a:rPr>
                <a:t>4</a:t>
              </a:r>
            </a:p>
          </p:txBody>
        </p:sp>
      </p:grpSp>
      <p:sp>
        <p:nvSpPr>
          <p:cNvPr id="1301647" name="Rectangle 143">
            <a:extLst>
              <a:ext uri="{FF2B5EF4-FFF2-40B4-BE49-F238E27FC236}">
                <a16:creationId xmlns:a16="http://schemas.microsoft.com/office/drawing/2014/main" id="{4209ED85-76C5-4BD2-924D-1D61E1CFA8B2}"/>
              </a:ext>
            </a:extLst>
          </p:cNvPr>
          <p:cNvSpPr>
            <a:spLocks noChangeArrowheads="1"/>
          </p:cNvSpPr>
          <p:nvPr/>
        </p:nvSpPr>
        <p:spPr bwMode="auto">
          <a:xfrm>
            <a:off x="5791200" y="3429000"/>
            <a:ext cx="838200" cy="3048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sz="2000" b="1">
                <a:solidFill>
                  <a:srgbClr val="D35FC2"/>
                </a:solidFill>
                <a:effectLst>
                  <a:outerShdw blurRad="38100" dist="38100" dir="2700000" algn="tl">
                    <a:srgbClr val="000000"/>
                  </a:outerShdw>
                </a:effectLst>
                <a:latin typeface="Arial" charset="0"/>
                <a:ea typeface="文鼎细圆" pitchFamily="49" charset="-122"/>
              </a:rPr>
              <a:t>a-c-d</a:t>
            </a:r>
          </a:p>
        </p:txBody>
      </p:sp>
      <p:sp>
        <p:nvSpPr>
          <p:cNvPr id="1301648" name="Rectangle 144">
            <a:extLst>
              <a:ext uri="{FF2B5EF4-FFF2-40B4-BE49-F238E27FC236}">
                <a16:creationId xmlns:a16="http://schemas.microsoft.com/office/drawing/2014/main" id="{0E169EF2-7098-4C81-8691-229A759CAFD4}"/>
              </a:ext>
            </a:extLst>
          </p:cNvPr>
          <p:cNvSpPr>
            <a:spLocks noChangeArrowheads="1"/>
          </p:cNvSpPr>
          <p:nvPr/>
        </p:nvSpPr>
        <p:spPr bwMode="auto">
          <a:xfrm>
            <a:off x="7086600" y="3429000"/>
            <a:ext cx="1295400" cy="2286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sz="2000" b="1">
                <a:solidFill>
                  <a:srgbClr val="D35FC2"/>
                </a:solidFill>
                <a:effectLst>
                  <a:outerShdw blurRad="38100" dist="38100" dir="2700000" algn="tl">
                    <a:srgbClr val="000000"/>
                  </a:outerShdw>
                </a:effectLst>
                <a:latin typeface="Times New Roman" charset="0"/>
                <a:ea typeface="文鼎细圆" pitchFamily="49" charset="-122"/>
              </a:rPr>
              <a:t>①②③④</a:t>
            </a:r>
          </a:p>
        </p:txBody>
      </p:sp>
      <p:sp>
        <p:nvSpPr>
          <p:cNvPr id="1301650" name="Rectangle 146">
            <a:extLst>
              <a:ext uri="{FF2B5EF4-FFF2-40B4-BE49-F238E27FC236}">
                <a16:creationId xmlns:a16="http://schemas.microsoft.com/office/drawing/2014/main" id="{07BD44CB-D797-4C91-8903-5B27D9589C0D}"/>
              </a:ext>
            </a:extLst>
          </p:cNvPr>
          <p:cNvSpPr>
            <a:spLocks noChangeArrowheads="1"/>
          </p:cNvSpPr>
          <p:nvPr/>
        </p:nvSpPr>
        <p:spPr bwMode="auto">
          <a:xfrm>
            <a:off x="5562600" y="3886200"/>
            <a:ext cx="1295400" cy="3048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sz="2000" b="1">
                <a:solidFill>
                  <a:srgbClr val="D35FC2"/>
                </a:solidFill>
                <a:effectLst>
                  <a:outerShdw blurRad="38100" dist="38100" dir="2700000" algn="tl">
                    <a:srgbClr val="000000"/>
                  </a:outerShdw>
                </a:effectLst>
                <a:latin typeface="Arial" charset="0"/>
                <a:ea typeface="文鼎细圆" pitchFamily="49" charset="-122"/>
              </a:rPr>
              <a:t>a-c-d, b-e</a:t>
            </a:r>
          </a:p>
        </p:txBody>
      </p:sp>
      <p:sp>
        <p:nvSpPr>
          <p:cNvPr id="1301651" name="Rectangle 147">
            <a:extLst>
              <a:ext uri="{FF2B5EF4-FFF2-40B4-BE49-F238E27FC236}">
                <a16:creationId xmlns:a16="http://schemas.microsoft.com/office/drawing/2014/main" id="{AB87040D-9074-47B6-8B9D-775DDD29EB18}"/>
              </a:ext>
            </a:extLst>
          </p:cNvPr>
          <p:cNvSpPr>
            <a:spLocks noChangeArrowheads="1"/>
          </p:cNvSpPr>
          <p:nvPr/>
        </p:nvSpPr>
        <p:spPr bwMode="auto">
          <a:xfrm>
            <a:off x="7010400" y="3962400"/>
            <a:ext cx="1295400" cy="1524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sz="2000" b="1">
                <a:solidFill>
                  <a:srgbClr val="D35FC2"/>
                </a:solidFill>
                <a:effectLst>
                  <a:outerShdw blurRad="38100" dist="38100" dir="2700000" algn="tl">
                    <a:srgbClr val="000000"/>
                  </a:outerShdw>
                </a:effectLst>
                <a:latin typeface="Arial" charset="0"/>
                <a:ea typeface="文鼎细圆" pitchFamily="49" charset="-122"/>
              </a:rPr>
              <a:t>a,b,c,d,e</a:t>
            </a:r>
          </a:p>
        </p:txBody>
      </p:sp>
      <p:sp>
        <p:nvSpPr>
          <p:cNvPr id="1301652" name="Rectangle 148">
            <a:extLst>
              <a:ext uri="{FF2B5EF4-FFF2-40B4-BE49-F238E27FC236}">
                <a16:creationId xmlns:a16="http://schemas.microsoft.com/office/drawing/2014/main" id="{84DD9363-4DE6-4A10-A6BB-94D96D3409B4}"/>
              </a:ext>
            </a:extLst>
          </p:cNvPr>
          <p:cNvSpPr>
            <a:spLocks noChangeArrowheads="1"/>
          </p:cNvSpPr>
          <p:nvPr/>
        </p:nvSpPr>
        <p:spPr bwMode="auto">
          <a:xfrm>
            <a:off x="5562600" y="4343400"/>
            <a:ext cx="1371600" cy="685800"/>
          </a:xfrm>
          <a:prstGeom prst="rect">
            <a:avLst/>
          </a:prstGeom>
          <a:noFill/>
          <a:ln w="38100" cmpd="dbl">
            <a:noFill/>
            <a:miter lim="800000"/>
            <a:headEnd/>
            <a:tailEnd/>
          </a:ln>
          <a:effectLst/>
        </p:spPr>
        <p:txBody>
          <a:bodyPr wrap="none" anchor="ctr"/>
          <a:lstStyle/>
          <a:p>
            <a:pPr eaLnBrk="1" hangingPunct="1">
              <a:lnSpc>
                <a:spcPct val="70000"/>
              </a:lnSpc>
              <a:spcBef>
                <a:spcPct val="20000"/>
              </a:spcBef>
              <a:buClr>
                <a:schemeClr val="accent1"/>
              </a:buClr>
              <a:buSzPct val="90000"/>
              <a:buFont typeface="Monotype Sorts" pitchFamily="2" charset="2"/>
              <a:buNone/>
              <a:defRPr/>
            </a:pPr>
            <a:r>
              <a:rPr kumimoji="1" lang="en-US" altLang="zh-CN" sz="2000" b="1" dirty="0">
                <a:solidFill>
                  <a:srgbClr val="D35FC2"/>
                </a:solidFill>
                <a:effectLst>
                  <a:outerShdw blurRad="38100" dist="38100" dir="2700000" algn="tl">
                    <a:srgbClr val="000000"/>
                  </a:outerShdw>
                </a:effectLst>
                <a:latin typeface="Arial" charset="0"/>
                <a:ea typeface="文鼎细圆" pitchFamily="49" charset="-122"/>
              </a:rPr>
              <a:t>a-c-</a:t>
            </a:r>
            <a:r>
              <a:rPr kumimoji="1" lang="en-US" altLang="zh-CN" sz="2000" b="1" dirty="0" err="1">
                <a:solidFill>
                  <a:srgbClr val="D35FC2"/>
                </a:solidFill>
                <a:effectLst>
                  <a:outerShdw blurRad="38100" dist="38100" dir="2700000" algn="tl">
                    <a:srgbClr val="000000"/>
                  </a:outerShdw>
                </a:effectLst>
                <a:latin typeface="Arial" charset="0"/>
                <a:ea typeface="文鼎细圆" pitchFamily="49" charset="-122"/>
              </a:rPr>
              <a:t>d,b</a:t>
            </a:r>
            <a:r>
              <a:rPr kumimoji="1" lang="en-US" altLang="zh-CN" sz="2000" b="1" dirty="0">
                <a:solidFill>
                  <a:srgbClr val="D35FC2"/>
                </a:solidFill>
                <a:effectLst>
                  <a:outerShdw blurRad="38100" dist="38100" dir="2700000" algn="tl">
                    <a:srgbClr val="000000"/>
                  </a:outerShdw>
                </a:effectLst>
                <a:latin typeface="Arial" charset="0"/>
                <a:ea typeface="文鼎细圆" pitchFamily="49" charset="-122"/>
              </a:rPr>
              <a:t>-e </a:t>
            </a:r>
          </a:p>
          <a:p>
            <a:pPr eaLnBrk="1" hangingPunct="1">
              <a:lnSpc>
                <a:spcPct val="70000"/>
              </a:lnSpc>
              <a:spcBef>
                <a:spcPct val="20000"/>
              </a:spcBef>
              <a:buClr>
                <a:schemeClr val="accent1"/>
              </a:buClr>
              <a:buSzPct val="90000"/>
              <a:buFont typeface="Monotype Sorts" pitchFamily="2" charset="2"/>
              <a:buNone/>
              <a:defRPr/>
            </a:pPr>
            <a:r>
              <a:rPr kumimoji="1" lang="en-US" altLang="zh-CN" sz="2000" b="1" dirty="0">
                <a:solidFill>
                  <a:srgbClr val="D35FC2"/>
                </a:solidFill>
                <a:effectLst>
                  <a:outerShdw blurRad="38100" dist="38100" dir="2700000" algn="tl">
                    <a:srgbClr val="000000"/>
                  </a:outerShdw>
                </a:effectLst>
                <a:latin typeface="Arial" charset="0"/>
                <a:ea typeface="文鼎细圆" pitchFamily="49" charset="-122"/>
              </a:rPr>
              <a:t>a-</a:t>
            </a:r>
            <a:r>
              <a:rPr kumimoji="1" lang="en-US" altLang="zh-CN" sz="2000" b="1" dirty="0" err="1">
                <a:solidFill>
                  <a:srgbClr val="D35FC2"/>
                </a:solidFill>
                <a:effectLst>
                  <a:outerShdw blurRad="38100" dist="38100" dir="2700000" algn="tl">
                    <a:srgbClr val="000000"/>
                  </a:outerShdw>
                </a:effectLst>
                <a:latin typeface="Arial" charset="0"/>
                <a:ea typeface="文鼎细圆" pitchFamily="49" charset="-122"/>
              </a:rPr>
              <a:t>e,b</a:t>
            </a:r>
            <a:r>
              <a:rPr kumimoji="1" lang="en-US" altLang="zh-CN" sz="2000" b="1" dirty="0">
                <a:solidFill>
                  <a:srgbClr val="D35FC2"/>
                </a:solidFill>
                <a:effectLst>
                  <a:outerShdw blurRad="38100" dist="38100" dir="2700000" algn="tl">
                    <a:srgbClr val="000000"/>
                  </a:outerShdw>
                </a:effectLst>
                <a:latin typeface="Arial" charset="0"/>
                <a:ea typeface="文鼎细圆" pitchFamily="49" charset="-122"/>
              </a:rPr>
              <a:t>-c-d</a:t>
            </a:r>
          </a:p>
        </p:txBody>
      </p:sp>
      <p:sp>
        <p:nvSpPr>
          <p:cNvPr id="1301654" name="Rectangle 150">
            <a:extLst>
              <a:ext uri="{FF2B5EF4-FFF2-40B4-BE49-F238E27FC236}">
                <a16:creationId xmlns:a16="http://schemas.microsoft.com/office/drawing/2014/main" id="{5E1DE3E8-66E4-426E-86AE-8E9EA610C3AD}"/>
              </a:ext>
            </a:extLst>
          </p:cNvPr>
          <p:cNvSpPr>
            <a:spLocks noChangeArrowheads="1"/>
          </p:cNvSpPr>
          <p:nvPr/>
        </p:nvSpPr>
        <p:spPr bwMode="auto">
          <a:xfrm>
            <a:off x="7010400" y="4343400"/>
            <a:ext cx="1371600" cy="609600"/>
          </a:xfrm>
          <a:prstGeom prst="rect">
            <a:avLst/>
          </a:prstGeom>
          <a:noFill/>
          <a:ln w="38100" cmpd="dbl">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en-US" altLang="zh-CN" sz="2000" b="1">
                <a:solidFill>
                  <a:srgbClr val="D35FC2"/>
                </a:solidFill>
                <a:effectLst>
                  <a:outerShdw blurRad="38100" dist="38100" dir="2700000" algn="tl">
                    <a:srgbClr val="000000"/>
                  </a:outerShdw>
                </a:effectLst>
                <a:latin typeface="Times New Roman" charset="0"/>
                <a:ea typeface="文鼎细圆" pitchFamily="49" charset="-122"/>
              </a:rPr>
              <a:t>①②③④</a:t>
            </a:r>
            <a:endParaRPr kumimoji="1" lang="en-US" altLang="zh-CN" sz="2000" b="1">
              <a:solidFill>
                <a:srgbClr val="D35FC2"/>
              </a:solidFill>
              <a:effectLst>
                <a:outerShdw blurRad="38100" dist="38100" dir="2700000" algn="tl">
                  <a:srgbClr val="000000"/>
                </a:outerShdw>
              </a:effectLst>
              <a:latin typeface="Arial" charset="0"/>
              <a:ea typeface="文鼎细圆" pitchFamily="49" charset="-122"/>
            </a:endParaRPr>
          </a:p>
          <a:p>
            <a:pPr eaLnBrk="1" hangingPunct="1">
              <a:lnSpc>
                <a:spcPct val="70000"/>
              </a:lnSpc>
              <a:spcBef>
                <a:spcPct val="20000"/>
              </a:spcBef>
              <a:buClr>
                <a:schemeClr val="accent1"/>
              </a:buClr>
              <a:buSzPct val="90000"/>
              <a:buFont typeface="Monotype Sorts" pitchFamily="2" charset="2"/>
              <a:buNone/>
              <a:defRPr/>
            </a:pPr>
            <a:r>
              <a:rPr kumimoji="1" lang="en-US" altLang="zh-CN" sz="2000" b="1">
                <a:solidFill>
                  <a:srgbClr val="D35FC2"/>
                </a:solidFill>
                <a:effectLst>
                  <a:outerShdw blurRad="38100" dist="38100" dir="2700000" algn="tl">
                    <a:srgbClr val="000000"/>
                  </a:outerShdw>
                </a:effectLst>
                <a:latin typeface="Arial" charset="0"/>
                <a:ea typeface="文鼎细圆" pitchFamily="49" charset="-122"/>
              </a:rPr>
              <a:t>a,b,c,d,e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301647"/>
                                        </p:tgtEl>
                                        <p:attrNameLst>
                                          <p:attrName>style.visibility</p:attrName>
                                        </p:attrNameLst>
                                      </p:cBhvr>
                                      <p:to>
                                        <p:strVal val="visible"/>
                                      </p:to>
                                    </p:set>
                                    <p:animEffect transition="in" filter="blinds(vertical)">
                                      <p:cBhvr>
                                        <p:cTn id="7" dur="500"/>
                                        <p:tgtEl>
                                          <p:spTgt spid="13016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301648"/>
                                        </p:tgtEl>
                                        <p:attrNameLst>
                                          <p:attrName>style.visibility</p:attrName>
                                        </p:attrNameLst>
                                      </p:cBhvr>
                                      <p:to>
                                        <p:strVal val="visible"/>
                                      </p:to>
                                    </p:set>
                                    <p:animEffect transition="in" filter="blinds(vertical)">
                                      <p:cBhvr>
                                        <p:cTn id="12" dur="500"/>
                                        <p:tgtEl>
                                          <p:spTgt spid="13016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1301650"/>
                                        </p:tgtEl>
                                        <p:attrNameLst>
                                          <p:attrName>style.visibility</p:attrName>
                                        </p:attrNameLst>
                                      </p:cBhvr>
                                      <p:to>
                                        <p:strVal val="visible"/>
                                      </p:to>
                                    </p:set>
                                    <p:animEffect transition="in" filter="blinds(vertical)">
                                      <p:cBhvr>
                                        <p:cTn id="17" dur="500"/>
                                        <p:tgtEl>
                                          <p:spTgt spid="13016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1301651"/>
                                        </p:tgtEl>
                                        <p:attrNameLst>
                                          <p:attrName>style.visibility</p:attrName>
                                        </p:attrNameLst>
                                      </p:cBhvr>
                                      <p:to>
                                        <p:strVal val="visible"/>
                                      </p:to>
                                    </p:set>
                                    <p:animEffect transition="in" filter="blinds(vertical)">
                                      <p:cBhvr>
                                        <p:cTn id="22" dur="500"/>
                                        <p:tgtEl>
                                          <p:spTgt spid="130165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1301652"/>
                                        </p:tgtEl>
                                        <p:attrNameLst>
                                          <p:attrName>style.visibility</p:attrName>
                                        </p:attrNameLst>
                                      </p:cBhvr>
                                      <p:to>
                                        <p:strVal val="visible"/>
                                      </p:to>
                                    </p:set>
                                    <p:animEffect transition="in" filter="blinds(vertical)">
                                      <p:cBhvr>
                                        <p:cTn id="27" dur="500"/>
                                        <p:tgtEl>
                                          <p:spTgt spid="130165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5" fill="hold" grpId="0" nodeType="clickEffect">
                                  <p:stCondLst>
                                    <p:cond delay="0"/>
                                  </p:stCondLst>
                                  <p:childTnLst>
                                    <p:set>
                                      <p:cBhvr>
                                        <p:cTn id="31" dur="1" fill="hold">
                                          <p:stCondLst>
                                            <p:cond delay="0"/>
                                          </p:stCondLst>
                                        </p:cTn>
                                        <p:tgtEl>
                                          <p:spTgt spid="1301654"/>
                                        </p:tgtEl>
                                        <p:attrNameLst>
                                          <p:attrName>style.visibility</p:attrName>
                                        </p:attrNameLst>
                                      </p:cBhvr>
                                      <p:to>
                                        <p:strVal val="visible"/>
                                      </p:to>
                                    </p:set>
                                    <p:animEffect transition="in" filter="blinds(vertical)">
                                      <p:cBhvr>
                                        <p:cTn id="32" dur="500"/>
                                        <p:tgtEl>
                                          <p:spTgt spid="13016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1647" grpId="0" autoUpdateAnimBg="0"/>
      <p:bldP spid="1301648" grpId="0" autoUpdateAnimBg="0"/>
      <p:bldP spid="1301650" grpId="0" autoUpdateAnimBg="0"/>
      <p:bldP spid="1301651" grpId="0" autoUpdateAnimBg="0"/>
      <p:bldP spid="1301652" grpId="0" autoUpdateAnimBg="0"/>
      <p:bldP spid="1301654" grpId="0" autoUpdateAnimBg="0"/>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D72ACE36-0004-4848-BE91-8A1894B9B4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A42126C-63CE-4E51-BCC6-5FFD9DE3ACD1}" type="slidenum">
              <a:rPr lang="en-US" altLang="en-US"/>
              <a:pPr eaLnBrk="1" hangingPunct="1"/>
              <a:t>202</a:t>
            </a:fld>
            <a:endParaRPr lang="en-US" altLang="en-US"/>
          </a:p>
        </p:txBody>
      </p:sp>
      <p:sp>
        <p:nvSpPr>
          <p:cNvPr id="11" name="标题 1">
            <a:extLst>
              <a:ext uri="{FF2B5EF4-FFF2-40B4-BE49-F238E27FC236}">
                <a16:creationId xmlns:a16="http://schemas.microsoft.com/office/drawing/2014/main" id="{53881F80-8553-494E-BA80-D43AADC9B791}"/>
              </a:ext>
            </a:extLst>
          </p:cNvPr>
          <p:cNvSpPr>
            <a:spLocks noGrp="1"/>
          </p:cNvSpPr>
          <p:nvPr>
            <p:ph type="title"/>
          </p:nvPr>
        </p:nvSpPr>
        <p:spPr>
          <a:xfrm>
            <a:off x="838200" y="365125"/>
            <a:ext cx="10515600" cy="1325563"/>
          </a:xfrm>
        </p:spPr>
        <p:txBody>
          <a:bodyPr/>
          <a:lstStyle/>
          <a:p>
            <a:r>
              <a:rPr lang="zh-CN" altLang="en-US" dirty="0"/>
              <a:t>测试</a:t>
            </a:r>
          </a:p>
        </p:txBody>
      </p:sp>
      <p:sp>
        <p:nvSpPr>
          <p:cNvPr id="12" name="内容占位符 2">
            <a:extLst>
              <a:ext uri="{FF2B5EF4-FFF2-40B4-BE49-F238E27FC236}">
                <a16:creationId xmlns:a16="http://schemas.microsoft.com/office/drawing/2014/main" id="{05826407-5BDB-4BCB-9524-AB614F54877F}"/>
              </a:ext>
            </a:extLst>
          </p:cNvPr>
          <p:cNvSpPr>
            <a:spLocks noGrp="1"/>
          </p:cNvSpPr>
          <p:nvPr>
            <p:ph idx="1"/>
          </p:nvPr>
        </p:nvSpPr>
        <p:spPr>
          <a:xfrm>
            <a:off x="838200" y="1825625"/>
            <a:ext cx="10515600" cy="4351338"/>
          </a:xfrm>
        </p:spPr>
        <p:txBody>
          <a:bodyPr/>
          <a:lstStyle/>
          <a:p>
            <a:r>
              <a:rPr lang="zh-CN" altLang="en-US" dirty="0"/>
              <a:t>白盒测试</a:t>
            </a:r>
            <a:endParaRPr lang="en-US" altLang="zh-CN" dirty="0"/>
          </a:p>
          <a:p>
            <a:pPr lvl="1"/>
            <a:r>
              <a:rPr lang="zh-CN" altLang="en-US" dirty="0"/>
              <a:t>画出有向图，计算测试用例上限（环形复杂度）</a:t>
            </a:r>
            <a:endParaRPr lang="en-US" altLang="zh-CN" dirty="0"/>
          </a:p>
          <a:p>
            <a:pPr lvl="2"/>
            <a:r>
              <a:rPr lang="zh-CN" altLang="en-US" dirty="0"/>
              <a:t>注意</a:t>
            </a:r>
            <a:r>
              <a:rPr lang="en-US" altLang="zh-CN" dirty="0"/>
              <a:t>: </a:t>
            </a:r>
            <a:r>
              <a:rPr lang="zh-CN" altLang="en-US" dirty="0"/>
              <a:t>判断中的</a:t>
            </a:r>
            <a:r>
              <a:rPr lang="en-US" altLang="zh-CN" dirty="0"/>
              <a:t>or</a:t>
            </a:r>
            <a:r>
              <a:rPr lang="zh-CN" altLang="en-US" dirty="0"/>
              <a:t>和</a:t>
            </a:r>
            <a:r>
              <a:rPr lang="en-US" altLang="zh-CN" dirty="0"/>
              <a:t>and</a:t>
            </a:r>
            <a:r>
              <a:rPr lang="zh-CN" altLang="en-US" dirty="0"/>
              <a:t>都要拆开，如左图的</a:t>
            </a:r>
            <a:r>
              <a:rPr lang="en-US" altLang="zh-CN" dirty="0"/>
              <a:t>d</a:t>
            </a:r>
            <a:r>
              <a:rPr lang="zh-CN" altLang="en-US" dirty="0"/>
              <a:t>拆为</a:t>
            </a:r>
            <a:r>
              <a:rPr lang="en-US" altLang="zh-CN" dirty="0"/>
              <a:t>d</a:t>
            </a:r>
            <a:r>
              <a:rPr lang="zh-CN" altLang="en-US" dirty="0"/>
              <a:t>和</a:t>
            </a:r>
            <a:r>
              <a:rPr lang="en-US" altLang="zh-CN" dirty="0"/>
              <a:t>d’</a:t>
            </a:r>
          </a:p>
          <a:p>
            <a:pPr lvl="1"/>
            <a:endParaRPr lang="en-US" altLang="zh-CN" dirty="0"/>
          </a:p>
          <a:p>
            <a:endParaRPr lang="zh-CN" altLang="en-US" dirty="0"/>
          </a:p>
        </p:txBody>
      </p:sp>
      <p:grpSp>
        <p:nvGrpSpPr>
          <p:cNvPr id="6" name="Group 6">
            <a:extLst>
              <a:ext uri="{FF2B5EF4-FFF2-40B4-BE49-F238E27FC236}">
                <a16:creationId xmlns:a16="http://schemas.microsoft.com/office/drawing/2014/main" id="{DE228BCF-3A97-46AE-BC2A-157471ADB2ED}"/>
              </a:ext>
            </a:extLst>
          </p:cNvPr>
          <p:cNvGrpSpPr>
            <a:grpSpLocks/>
          </p:cNvGrpSpPr>
          <p:nvPr/>
        </p:nvGrpSpPr>
        <p:grpSpPr bwMode="auto">
          <a:xfrm>
            <a:off x="1502967" y="3166366"/>
            <a:ext cx="2649331" cy="3613367"/>
            <a:chOff x="672" y="192"/>
            <a:chExt cx="2020" cy="3936"/>
          </a:xfrm>
        </p:grpSpPr>
        <p:sp>
          <p:nvSpPr>
            <p:cNvPr id="7" name="Line 7">
              <a:extLst>
                <a:ext uri="{FF2B5EF4-FFF2-40B4-BE49-F238E27FC236}">
                  <a16:creationId xmlns:a16="http://schemas.microsoft.com/office/drawing/2014/main" id="{83AEF223-DD36-42CB-A05A-0FFEEDB115A8}"/>
                </a:ext>
              </a:extLst>
            </p:cNvPr>
            <p:cNvSpPr>
              <a:spLocks noChangeShapeType="1"/>
            </p:cNvSpPr>
            <p:nvPr/>
          </p:nvSpPr>
          <p:spPr bwMode="auto">
            <a:xfrm>
              <a:off x="672" y="1355"/>
              <a:ext cx="0" cy="2040"/>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8">
              <a:extLst>
                <a:ext uri="{FF2B5EF4-FFF2-40B4-BE49-F238E27FC236}">
                  <a16:creationId xmlns:a16="http://schemas.microsoft.com/office/drawing/2014/main" id="{AC90515E-FA48-48C6-AD46-67DCF776F9DB}"/>
                </a:ext>
              </a:extLst>
            </p:cNvPr>
            <p:cNvSpPr>
              <a:spLocks noChangeShapeType="1"/>
            </p:cNvSpPr>
            <p:nvPr/>
          </p:nvSpPr>
          <p:spPr bwMode="auto">
            <a:xfrm>
              <a:off x="2692" y="1722"/>
              <a:ext cx="0" cy="1795"/>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Text Box 9">
              <a:extLst>
                <a:ext uri="{FF2B5EF4-FFF2-40B4-BE49-F238E27FC236}">
                  <a16:creationId xmlns:a16="http://schemas.microsoft.com/office/drawing/2014/main" id="{798754DC-1C04-4794-8825-EED28B607483}"/>
                </a:ext>
              </a:extLst>
            </p:cNvPr>
            <p:cNvSpPr txBox="1">
              <a:spLocks noChangeArrowheads="1"/>
            </p:cNvSpPr>
            <p:nvPr/>
          </p:nvSpPr>
          <p:spPr bwMode="auto">
            <a:xfrm>
              <a:off x="875" y="2517"/>
              <a:ext cx="1225" cy="163"/>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buFontTx/>
                <a:buNone/>
              </a:pPr>
              <a:r>
                <a:rPr kumimoji="1" lang="en-US" altLang="zh-CN" sz="1200" b="1">
                  <a:solidFill>
                    <a:schemeClr val="tx1"/>
                  </a:solidFill>
                  <a:latin typeface="Times New Roman" panose="02020603050405020304" pitchFamily="18" charset="0"/>
                </a:rPr>
                <a:t>TOTAL=TOTAL+A</a:t>
              </a:r>
            </a:p>
          </p:txBody>
        </p:sp>
        <p:sp>
          <p:nvSpPr>
            <p:cNvPr id="10" name="Line 10">
              <a:extLst>
                <a:ext uri="{FF2B5EF4-FFF2-40B4-BE49-F238E27FC236}">
                  <a16:creationId xmlns:a16="http://schemas.microsoft.com/office/drawing/2014/main" id="{C5D67765-43A7-4298-BFB1-35F25AD729C4}"/>
                </a:ext>
              </a:extLst>
            </p:cNvPr>
            <p:cNvSpPr>
              <a:spLocks noChangeShapeType="1"/>
            </p:cNvSpPr>
            <p:nvPr/>
          </p:nvSpPr>
          <p:spPr bwMode="auto">
            <a:xfrm>
              <a:off x="1488" y="2680"/>
              <a:ext cx="0" cy="163"/>
            </a:xfrm>
            <a:prstGeom prst="line">
              <a:avLst/>
            </a:prstGeom>
            <a:noFill/>
            <a:ln w="1905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Text Box 11">
              <a:extLst>
                <a:ext uri="{FF2B5EF4-FFF2-40B4-BE49-F238E27FC236}">
                  <a16:creationId xmlns:a16="http://schemas.microsoft.com/office/drawing/2014/main" id="{AC668D9A-B108-4C56-8323-C4230BB5A7E4}"/>
                </a:ext>
              </a:extLst>
            </p:cNvPr>
            <p:cNvSpPr txBox="1">
              <a:spLocks noChangeArrowheads="1"/>
            </p:cNvSpPr>
            <p:nvPr/>
          </p:nvSpPr>
          <p:spPr bwMode="auto">
            <a:xfrm>
              <a:off x="1182" y="2843"/>
              <a:ext cx="612" cy="163"/>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0800"/>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1200" b="1">
                  <a:solidFill>
                    <a:schemeClr val="tx1"/>
                  </a:solidFill>
                  <a:latin typeface="Times New Roman" panose="02020603050405020304" pitchFamily="18" charset="0"/>
                </a:rPr>
                <a:t>K++</a:t>
              </a:r>
              <a:endParaRPr kumimoji="1" lang="en-US" altLang="zh-CN" sz="1400" b="1">
                <a:solidFill>
                  <a:schemeClr val="tx1"/>
                </a:solidFill>
                <a:latin typeface="Times New Roman" panose="02020603050405020304" pitchFamily="18" charset="0"/>
              </a:endParaRPr>
            </a:p>
          </p:txBody>
        </p:sp>
        <p:sp>
          <p:nvSpPr>
            <p:cNvPr id="14" name="Line 12">
              <a:extLst>
                <a:ext uri="{FF2B5EF4-FFF2-40B4-BE49-F238E27FC236}">
                  <a16:creationId xmlns:a16="http://schemas.microsoft.com/office/drawing/2014/main" id="{30455FB2-3AE6-4F1A-923B-EEBC6D340300}"/>
                </a:ext>
              </a:extLst>
            </p:cNvPr>
            <p:cNvSpPr>
              <a:spLocks noChangeShapeType="1"/>
            </p:cNvSpPr>
            <p:nvPr/>
          </p:nvSpPr>
          <p:spPr bwMode="auto">
            <a:xfrm>
              <a:off x="1488" y="3007"/>
              <a:ext cx="0" cy="163"/>
            </a:xfrm>
            <a:prstGeom prst="line">
              <a:avLst/>
            </a:prstGeom>
            <a:noFill/>
            <a:ln w="1905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AutoShape 13">
              <a:extLst>
                <a:ext uri="{FF2B5EF4-FFF2-40B4-BE49-F238E27FC236}">
                  <a16:creationId xmlns:a16="http://schemas.microsoft.com/office/drawing/2014/main" id="{9FF18C1F-0D81-4B11-9222-74160B171593}"/>
                </a:ext>
              </a:extLst>
            </p:cNvPr>
            <p:cNvSpPr>
              <a:spLocks noChangeArrowheads="1"/>
            </p:cNvSpPr>
            <p:nvPr/>
          </p:nvSpPr>
          <p:spPr bwMode="auto">
            <a:xfrm>
              <a:off x="1120" y="3170"/>
              <a:ext cx="605" cy="163"/>
            </a:xfrm>
            <a:prstGeom prst="flowChartInputOutpu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200" b="1">
                  <a:solidFill>
                    <a:schemeClr val="tx1"/>
                  </a:solidFill>
                  <a:latin typeface="Times New Roman" panose="02020603050405020304" pitchFamily="18" charset="0"/>
                </a:rPr>
                <a:t>Input A</a:t>
              </a:r>
              <a:endParaRPr kumimoji="1" lang="en-US" altLang="zh-CN" b="1">
                <a:solidFill>
                  <a:schemeClr val="tx1"/>
                </a:solidFill>
                <a:latin typeface="Times New Roman" panose="02020603050405020304" pitchFamily="18" charset="0"/>
              </a:endParaRPr>
            </a:p>
          </p:txBody>
        </p:sp>
        <p:sp>
          <p:nvSpPr>
            <p:cNvPr id="16" name="Line 14">
              <a:extLst>
                <a:ext uri="{FF2B5EF4-FFF2-40B4-BE49-F238E27FC236}">
                  <a16:creationId xmlns:a16="http://schemas.microsoft.com/office/drawing/2014/main" id="{CB0937BC-DD13-4146-8058-AE8CBFDB84A4}"/>
                </a:ext>
              </a:extLst>
            </p:cNvPr>
            <p:cNvSpPr>
              <a:spLocks noChangeShapeType="1"/>
            </p:cNvSpPr>
            <p:nvPr/>
          </p:nvSpPr>
          <p:spPr bwMode="auto">
            <a:xfrm>
              <a:off x="1488" y="3333"/>
              <a:ext cx="0" cy="61"/>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15">
              <a:extLst>
                <a:ext uri="{FF2B5EF4-FFF2-40B4-BE49-F238E27FC236}">
                  <a16:creationId xmlns:a16="http://schemas.microsoft.com/office/drawing/2014/main" id="{F3E92DC3-BD47-4D00-9A16-D4341044B970}"/>
                </a:ext>
              </a:extLst>
            </p:cNvPr>
            <p:cNvSpPr>
              <a:spLocks noChangeShapeType="1"/>
            </p:cNvSpPr>
            <p:nvPr/>
          </p:nvSpPr>
          <p:spPr bwMode="auto">
            <a:xfrm>
              <a:off x="672" y="3394"/>
              <a:ext cx="816" cy="0"/>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AutoShape 16">
              <a:extLst>
                <a:ext uri="{FF2B5EF4-FFF2-40B4-BE49-F238E27FC236}">
                  <a16:creationId xmlns:a16="http://schemas.microsoft.com/office/drawing/2014/main" id="{F9B2600D-3274-43B9-BA15-F4115970B9D8}"/>
                </a:ext>
              </a:extLst>
            </p:cNvPr>
            <p:cNvSpPr>
              <a:spLocks noChangeArrowheads="1"/>
            </p:cNvSpPr>
            <p:nvPr/>
          </p:nvSpPr>
          <p:spPr bwMode="auto">
            <a:xfrm>
              <a:off x="794" y="3638"/>
              <a:ext cx="1408" cy="163"/>
            </a:xfrm>
            <a:prstGeom prst="flowChartInputOutpu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200" b="1">
                  <a:solidFill>
                    <a:schemeClr val="tx1"/>
                  </a:solidFill>
                  <a:latin typeface="Times New Roman" panose="02020603050405020304" pitchFamily="18" charset="0"/>
                </a:rPr>
                <a:t>Output K, L, TOTAL</a:t>
              </a:r>
              <a:endParaRPr kumimoji="1" lang="en-US" altLang="zh-CN" b="1">
                <a:solidFill>
                  <a:schemeClr val="tx1"/>
                </a:solidFill>
                <a:latin typeface="Times New Roman" panose="02020603050405020304" pitchFamily="18" charset="0"/>
              </a:endParaRPr>
            </a:p>
          </p:txBody>
        </p:sp>
        <p:sp>
          <p:nvSpPr>
            <p:cNvPr id="19" name="Line 17">
              <a:extLst>
                <a:ext uri="{FF2B5EF4-FFF2-40B4-BE49-F238E27FC236}">
                  <a16:creationId xmlns:a16="http://schemas.microsoft.com/office/drawing/2014/main" id="{25EA3C67-3E44-41A0-B4F2-E681CF1DC02A}"/>
                </a:ext>
              </a:extLst>
            </p:cNvPr>
            <p:cNvSpPr>
              <a:spLocks noChangeShapeType="1"/>
            </p:cNvSpPr>
            <p:nvPr/>
          </p:nvSpPr>
          <p:spPr bwMode="auto">
            <a:xfrm>
              <a:off x="1488" y="3516"/>
              <a:ext cx="0" cy="122"/>
            </a:xfrm>
            <a:prstGeom prst="line">
              <a:avLst/>
            </a:prstGeom>
            <a:noFill/>
            <a:ln w="1905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8">
              <a:extLst>
                <a:ext uri="{FF2B5EF4-FFF2-40B4-BE49-F238E27FC236}">
                  <a16:creationId xmlns:a16="http://schemas.microsoft.com/office/drawing/2014/main" id="{573EDDF7-4ED1-4B8D-91CF-CEA1AD1F66BF}"/>
                </a:ext>
              </a:extLst>
            </p:cNvPr>
            <p:cNvSpPr>
              <a:spLocks noChangeShapeType="1"/>
            </p:cNvSpPr>
            <p:nvPr/>
          </p:nvSpPr>
          <p:spPr bwMode="auto">
            <a:xfrm>
              <a:off x="1488" y="3516"/>
              <a:ext cx="1204" cy="0"/>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9">
              <a:extLst>
                <a:ext uri="{FF2B5EF4-FFF2-40B4-BE49-F238E27FC236}">
                  <a16:creationId xmlns:a16="http://schemas.microsoft.com/office/drawing/2014/main" id="{2EA70E31-A9CC-4410-B72A-443B15171851}"/>
                </a:ext>
              </a:extLst>
            </p:cNvPr>
            <p:cNvSpPr>
              <a:spLocks noChangeShapeType="1"/>
            </p:cNvSpPr>
            <p:nvPr/>
          </p:nvSpPr>
          <p:spPr bwMode="auto">
            <a:xfrm>
              <a:off x="1488" y="3802"/>
              <a:ext cx="0" cy="163"/>
            </a:xfrm>
            <a:prstGeom prst="line">
              <a:avLst/>
            </a:prstGeom>
            <a:noFill/>
            <a:ln w="1905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AutoShape 20">
              <a:extLst>
                <a:ext uri="{FF2B5EF4-FFF2-40B4-BE49-F238E27FC236}">
                  <a16:creationId xmlns:a16="http://schemas.microsoft.com/office/drawing/2014/main" id="{D7C3B372-A172-435B-B176-4670CD5CEEAB}"/>
                </a:ext>
              </a:extLst>
            </p:cNvPr>
            <p:cNvSpPr>
              <a:spLocks noChangeArrowheads="1"/>
            </p:cNvSpPr>
            <p:nvPr/>
          </p:nvSpPr>
          <p:spPr bwMode="auto">
            <a:xfrm>
              <a:off x="1284" y="3965"/>
              <a:ext cx="408" cy="163"/>
            </a:xfrm>
            <a:prstGeom prst="flowChartAlternateProcess">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200" b="1">
                  <a:solidFill>
                    <a:schemeClr val="tx1"/>
                  </a:solidFill>
                  <a:latin typeface="Times New Roman" panose="02020603050405020304" pitchFamily="18" charset="0"/>
                </a:rPr>
                <a:t>Stop </a:t>
              </a:r>
              <a:endParaRPr kumimoji="1" lang="en-US" altLang="zh-CN" sz="1400" b="1">
                <a:solidFill>
                  <a:schemeClr val="tx1"/>
                </a:solidFill>
                <a:latin typeface="Times New Roman" panose="02020603050405020304" pitchFamily="18" charset="0"/>
              </a:endParaRPr>
            </a:p>
          </p:txBody>
        </p:sp>
        <p:grpSp>
          <p:nvGrpSpPr>
            <p:cNvPr id="23" name="Group 21">
              <a:extLst>
                <a:ext uri="{FF2B5EF4-FFF2-40B4-BE49-F238E27FC236}">
                  <a16:creationId xmlns:a16="http://schemas.microsoft.com/office/drawing/2014/main" id="{AB815CEA-32E5-4469-8A16-5D457A99105C}"/>
                </a:ext>
              </a:extLst>
            </p:cNvPr>
            <p:cNvGrpSpPr>
              <a:grpSpLocks/>
            </p:cNvGrpSpPr>
            <p:nvPr/>
          </p:nvGrpSpPr>
          <p:grpSpPr bwMode="auto">
            <a:xfrm>
              <a:off x="1488" y="2342"/>
              <a:ext cx="300" cy="246"/>
              <a:chOff x="1586" y="2389"/>
              <a:chExt cx="334" cy="274"/>
            </a:xfrm>
          </p:grpSpPr>
          <p:sp>
            <p:nvSpPr>
              <p:cNvPr id="44" name="Line 22">
                <a:extLst>
                  <a:ext uri="{FF2B5EF4-FFF2-40B4-BE49-F238E27FC236}">
                    <a16:creationId xmlns:a16="http://schemas.microsoft.com/office/drawing/2014/main" id="{12126350-33E2-4C29-A5A2-26A287839895}"/>
                  </a:ext>
                </a:extLst>
              </p:cNvPr>
              <p:cNvSpPr>
                <a:spLocks noChangeShapeType="1"/>
              </p:cNvSpPr>
              <p:nvPr/>
            </p:nvSpPr>
            <p:spPr bwMode="auto">
              <a:xfrm>
                <a:off x="1586" y="2402"/>
                <a:ext cx="0" cy="181"/>
              </a:xfrm>
              <a:prstGeom prst="line">
                <a:avLst/>
              </a:prstGeom>
              <a:noFill/>
              <a:ln w="1905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Text Box 23">
                <a:extLst>
                  <a:ext uri="{FF2B5EF4-FFF2-40B4-BE49-F238E27FC236}">
                    <a16:creationId xmlns:a16="http://schemas.microsoft.com/office/drawing/2014/main" id="{5CDD7ED9-5BFE-47DD-B987-BEE9DDDC56B9}"/>
                  </a:ext>
                </a:extLst>
              </p:cNvPr>
              <p:cNvSpPr txBox="1">
                <a:spLocks noChangeArrowheads="1"/>
              </p:cNvSpPr>
              <p:nvPr/>
            </p:nvSpPr>
            <p:spPr bwMode="auto">
              <a:xfrm>
                <a:off x="1634" y="2389"/>
                <a:ext cx="286"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200" b="1">
                    <a:solidFill>
                      <a:schemeClr val="tx1"/>
                    </a:solidFill>
                    <a:latin typeface="Times New Roman" panose="02020603050405020304" pitchFamily="18" charset="0"/>
                  </a:rPr>
                  <a:t>T</a:t>
                </a:r>
                <a:endParaRPr kumimoji="1" lang="en-US" altLang="zh-CN" sz="1400" b="1">
                  <a:solidFill>
                    <a:schemeClr val="tx1"/>
                  </a:solidFill>
                  <a:latin typeface="Times New Roman" panose="02020603050405020304" pitchFamily="18" charset="0"/>
                </a:endParaRPr>
              </a:p>
            </p:txBody>
          </p:sp>
        </p:grpSp>
        <p:sp>
          <p:nvSpPr>
            <p:cNvPr id="24" name="AutoShape 24">
              <a:extLst>
                <a:ext uri="{FF2B5EF4-FFF2-40B4-BE49-F238E27FC236}">
                  <a16:creationId xmlns:a16="http://schemas.microsoft.com/office/drawing/2014/main" id="{4557AFC7-D54D-4B0C-9162-F4FC7F78F8D8}"/>
                </a:ext>
              </a:extLst>
            </p:cNvPr>
            <p:cNvSpPr>
              <a:spLocks noChangeArrowheads="1"/>
            </p:cNvSpPr>
            <p:nvPr/>
          </p:nvSpPr>
          <p:spPr bwMode="auto">
            <a:xfrm>
              <a:off x="1284" y="192"/>
              <a:ext cx="408" cy="163"/>
            </a:xfrm>
            <a:prstGeom prst="flowChartAlternateProcess">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10800" rIns="18000" bIns="10800"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200" b="1">
                  <a:solidFill>
                    <a:schemeClr val="tx1"/>
                  </a:solidFill>
                  <a:latin typeface="Times New Roman" panose="02020603050405020304" pitchFamily="18" charset="0"/>
                </a:rPr>
                <a:t>Begin</a:t>
              </a:r>
              <a:endParaRPr kumimoji="1" lang="en-US" altLang="zh-CN" b="1">
                <a:solidFill>
                  <a:schemeClr val="tx1"/>
                </a:solidFill>
                <a:latin typeface="Times New Roman" panose="02020603050405020304" pitchFamily="18" charset="0"/>
              </a:endParaRPr>
            </a:p>
          </p:txBody>
        </p:sp>
        <p:sp>
          <p:nvSpPr>
            <p:cNvPr id="25" name="Line 25">
              <a:extLst>
                <a:ext uri="{FF2B5EF4-FFF2-40B4-BE49-F238E27FC236}">
                  <a16:creationId xmlns:a16="http://schemas.microsoft.com/office/drawing/2014/main" id="{14BD57B6-A5B6-492D-A8AD-614C15BC36D1}"/>
                </a:ext>
              </a:extLst>
            </p:cNvPr>
            <p:cNvSpPr>
              <a:spLocks noChangeShapeType="1"/>
            </p:cNvSpPr>
            <p:nvPr/>
          </p:nvSpPr>
          <p:spPr bwMode="auto">
            <a:xfrm>
              <a:off x="1488" y="356"/>
              <a:ext cx="0" cy="163"/>
            </a:xfrm>
            <a:prstGeom prst="line">
              <a:avLst/>
            </a:prstGeom>
            <a:noFill/>
            <a:ln w="1905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Text Box 26">
              <a:extLst>
                <a:ext uri="{FF2B5EF4-FFF2-40B4-BE49-F238E27FC236}">
                  <a16:creationId xmlns:a16="http://schemas.microsoft.com/office/drawing/2014/main" id="{F35DF66D-13E7-4907-A2A6-95A363FC7E28}"/>
                </a:ext>
              </a:extLst>
            </p:cNvPr>
            <p:cNvSpPr txBox="1">
              <a:spLocks noChangeArrowheads="1"/>
            </p:cNvSpPr>
            <p:nvPr/>
          </p:nvSpPr>
          <p:spPr bwMode="auto">
            <a:xfrm>
              <a:off x="1080" y="519"/>
              <a:ext cx="816" cy="449"/>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lnSpc>
                  <a:spcPct val="70000"/>
                </a:lnSpc>
                <a:spcBef>
                  <a:spcPct val="50000"/>
                </a:spcBef>
                <a:buFontTx/>
                <a:buNone/>
              </a:pPr>
              <a:r>
                <a:rPr kumimoji="1" lang="en-US" altLang="zh-CN" sz="1200" b="1">
                  <a:solidFill>
                    <a:schemeClr val="tx1"/>
                  </a:solidFill>
                  <a:latin typeface="Times New Roman" panose="02020603050405020304" pitchFamily="18" charset="0"/>
                </a:rPr>
                <a:t>K=0</a:t>
              </a:r>
            </a:p>
            <a:p>
              <a:pPr algn="ctr" eaLnBrk="1" hangingPunct="1">
                <a:lnSpc>
                  <a:spcPct val="70000"/>
                </a:lnSpc>
                <a:spcBef>
                  <a:spcPct val="0"/>
                </a:spcBef>
                <a:buFontTx/>
                <a:buNone/>
              </a:pPr>
              <a:r>
                <a:rPr kumimoji="1" lang="en-US" altLang="zh-CN" sz="1200" b="1">
                  <a:solidFill>
                    <a:schemeClr val="tx1"/>
                  </a:solidFill>
                  <a:latin typeface="Times New Roman" panose="02020603050405020304" pitchFamily="18" charset="0"/>
                </a:rPr>
                <a:t>L=0</a:t>
              </a:r>
            </a:p>
            <a:p>
              <a:pPr algn="ctr" eaLnBrk="1" hangingPunct="1">
                <a:lnSpc>
                  <a:spcPct val="70000"/>
                </a:lnSpc>
                <a:spcBef>
                  <a:spcPct val="0"/>
                </a:spcBef>
                <a:buFontTx/>
                <a:buNone/>
              </a:pPr>
              <a:r>
                <a:rPr kumimoji="1" lang="en-US" altLang="zh-CN" sz="1200" b="1">
                  <a:solidFill>
                    <a:schemeClr val="tx1"/>
                  </a:solidFill>
                  <a:latin typeface="Times New Roman" panose="02020603050405020304" pitchFamily="18" charset="0"/>
                </a:rPr>
                <a:t>TOTAL=0</a:t>
              </a:r>
              <a:endParaRPr kumimoji="1" lang="en-US" altLang="zh-CN" sz="1600" b="1">
                <a:solidFill>
                  <a:schemeClr val="tx1"/>
                </a:solidFill>
                <a:latin typeface="Times New Roman" panose="02020603050405020304" pitchFamily="18" charset="0"/>
              </a:endParaRPr>
            </a:p>
          </p:txBody>
        </p:sp>
        <p:sp>
          <p:nvSpPr>
            <p:cNvPr id="27" name="Line 27">
              <a:extLst>
                <a:ext uri="{FF2B5EF4-FFF2-40B4-BE49-F238E27FC236}">
                  <a16:creationId xmlns:a16="http://schemas.microsoft.com/office/drawing/2014/main" id="{26558DB2-B152-4CBA-910B-FBE77F94DBDB}"/>
                </a:ext>
              </a:extLst>
            </p:cNvPr>
            <p:cNvSpPr>
              <a:spLocks noChangeShapeType="1"/>
            </p:cNvSpPr>
            <p:nvPr/>
          </p:nvSpPr>
          <p:spPr bwMode="auto">
            <a:xfrm>
              <a:off x="1488" y="968"/>
              <a:ext cx="0" cy="163"/>
            </a:xfrm>
            <a:prstGeom prst="line">
              <a:avLst/>
            </a:prstGeom>
            <a:noFill/>
            <a:ln w="1905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AutoShape 28">
              <a:extLst>
                <a:ext uri="{FF2B5EF4-FFF2-40B4-BE49-F238E27FC236}">
                  <a16:creationId xmlns:a16="http://schemas.microsoft.com/office/drawing/2014/main" id="{7EB9F4C9-B88C-42C3-B5B5-979C4CCC1424}"/>
                </a:ext>
              </a:extLst>
            </p:cNvPr>
            <p:cNvSpPr>
              <a:spLocks noChangeArrowheads="1"/>
            </p:cNvSpPr>
            <p:nvPr/>
          </p:nvSpPr>
          <p:spPr bwMode="auto">
            <a:xfrm>
              <a:off x="1120" y="1131"/>
              <a:ext cx="605" cy="162"/>
            </a:xfrm>
            <a:prstGeom prst="flowChartInputOutpu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200" b="1">
                  <a:solidFill>
                    <a:schemeClr val="tx1"/>
                  </a:solidFill>
                  <a:latin typeface="Times New Roman" panose="02020603050405020304" pitchFamily="18" charset="0"/>
                </a:rPr>
                <a:t>Input A</a:t>
              </a:r>
              <a:endParaRPr kumimoji="1" lang="en-US" altLang="zh-CN" b="1">
                <a:solidFill>
                  <a:schemeClr val="tx1"/>
                </a:solidFill>
                <a:latin typeface="Times New Roman" panose="02020603050405020304" pitchFamily="18" charset="0"/>
              </a:endParaRPr>
            </a:p>
          </p:txBody>
        </p:sp>
        <p:sp>
          <p:nvSpPr>
            <p:cNvPr id="29" name="Line 29">
              <a:extLst>
                <a:ext uri="{FF2B5EF4-FFF2-40B4-BE49-F238E27FC236}">
                  <a16:creationId xmlns:a16="http://schemas.microsoft.com/office/drawing/2014/main" id="{75325F7D-878D-4BCD-BFB3-4EE4C766D5FD}"/>
                </a:ext>
              </a:extLst>
            </p:cNvPr>
            <p:cNvSpPr>
              <a:spLocks noChangeShapeType="1"/>
            </p:cNvSpPr>
            <p:nvPr/>
          </p:nvSpPr>
          <p:spPr bwMode="auto">
            <a:xfrm>
              <a:off x="1488" y="1293"/>
              <a:ext cx="0" cy="163"/>
            </a:xfrm>
            <a:prstGeom prst="line">
              <a:avLst/>
            </a:prstGeom>
            <a:noFill/>
            <a:ln w="1905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AutoShape 30">
              <a:extLst>
                <a:ext uri="{FF2B5EF4-FFF2-40B4-BE49-F238E27FC236}">
                  <a16:creationId xmlns:a16="http://schemas.microsoft.com/office/drawing/2014/main" id="{BF471118-920B-4791-A03A-F27EBF569503}"/>
                </a:ext>
              </a:extLst>
            </p:cNvPr>
            <p:cNvSpPr>
              <a:spLocks noChangeArrowheads="1"/>
            </p:cNvSpPr>
            <p:nvPr/>
          </p:nvSpPr>
          <p:spPr bwMode="auto">
            <a:xfrm>
              <a:off x="774" y="1457"/>
              <a:ext cx="1428" cy="530"/>
            </a:xfrm>
            <a:prstGeom prst="flowChartDecision">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118800" rIns="54000"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lnSpc>
                  <a:spcPct val="70000"/>
                </a:lnSpc>
                <a:spcBef>
                  <a:spcPct val="0"/>
                </a:spcBef>
                <a:buFontTx/>
                <a:buNone/>
              </a:pPr>
              <a:r>
                <a:rPr kumimoji="1" lang="en-US" altLang="zh-CN" sz="1200" b="1">
                  <a:solidFill>
                    <a:schemeClr val="tx1"/>
                  </a:solidFill>
                  <a:latin typeface="Times New Roman" panose="02020603050405020304" pitchFamily="18" charset="0"/>
                </a:rPr>
                <a:t>Do While </a:t>
              </a:r>
            </a:p>
            <a:p>
              <a:pPr algn="ctr" eaLnBrk="1" hangingPunct="1">
                <a:lnSpc>
                  <a:spcPct val="70000"/>
                </a:lnSpc>
                <a:spcBef>
                  <a:spcPct val="0"/>
                </a:spcBef>
                <a:buFontTx/>
                <a:buNone/>
              </a:pPr>
              <a:r>
                <a:rPr kumimoji="1" lang="en-US" altLang="zh-CN" sz="1200" b="1">
                  <a:solidFill>
                    <a:schemeClr val="tx1"/>
                  </a:solidFill>
                  <a:latin typeface="Times New Roman" panose="02020603050405020304" pitchFamily="18" charset="0"/>
                </a:rPr>
                <a:t>TOTAL&lt;1000 and</a:t>
              </a:r>
            </a:p>
            <a:p>
              <a:pPr algn="ctr" eaLnBrk="1" hangingPunct="1">
                <a:lnSpc>
                  <a:spcPct val="70000"/>
                </a:lnSpc>
                <a:spcBef>
                  <a:spcPct val="0"/>
                </a:spcBef>
                <a:buFontTx/>
                <a:buNone/>
              </a:pPr>
              <a:r>
                <a:rPr kumimoji="1" lang="en-US" altLang="zh-CN" sz="1200" b="1">
                  <a:solidFill>
                    <a:schemeClr val="tx1"/>
                  </a:solidFill>
                  <a:latin typeface="Times New Roman" panose="02020603050405020304" pitchFamily="18" charset="0"/>
                </a:rPr>
                <a:t>A</a:t>
              </a:r>
              <a:r>
                <a:rPr kumimoji="1" lang="en-US" altLang="zh-CN" sz="1200" b="1">
                  <a:solidFill>
                    <a:schemeClr val="tx1"/>
                  </a:solidFill>
                  <a:latin typeface="Times New Roman" panose="02020603050405020304" pitchFamily="18" charset="0"/>
                  <a:sym typeface="Symbol" panose="05050102010706020507" pitchFamily="18" charset="2"/>
                </a:rPr>
                <a:t>0</a:t>
              </a:r>
              <a:endParaRPr kumimoji="1" lang="en-US" altLang="zh-CN" sz="1200" b="1">
                <a:solidFill>
                  <a:schemeClr val="tx1"/>
                </a:solidFill>
                <a:latin typeface="Times New Roman" panose="02020603050405020304" pitchFamily="18" charset="0"/>
              </a:endParaRPr>
            </a:p>
          </p:txBody>
        </p:sp>
        <p:sp>
          <p:nvSpPr>
            <p:cNvPr id="31" name="Line 31">
              <a:extLst>
                <a:ext uri="{FF2B5EF4-FFF2-40B4-BE49-F238E27FC236}">
                  <a16:creationId xmlns:a16="http://schemas.microsoft.com/office/drawing/2014/main" id="{516B39C1-22CC-4069-8D6F-D363E624C218}"/>
                </a:ext>
              </a:extLst>
            </p:cNvPr>
            <p:cNvSpPr>
              <a:spLocks noChangeShapeType="1"/>
            </p:cNvSpPr>
            <p:nvPr/>
          </p:nvSpPr>
          <p:spPr bwMode="auto">
            <a:xfrm>
              <a:off x="672" y="1355"/>
              <a:ext cx="816" cy="0"/>
            </a:xfrm>
            <a:prstGeom prst="line">
              <a:avLst/>
            </a:prstGeom>
            <a:noFill/>
            <a:ln w="1905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32">
              <a:extLst>
                <a:ext uri="{FF2B5EF4-FFF2-40B4-BE49-F238E27FC236}">
                  <a16:creationId xmlns:a16="http://schemas.microsoft.com/office/drawing/2014/main" id="{0FE35FE2-465A-4EC4-9978-4510303E038B}"/>
                </a:ext>
              </a:extLst>
            </p:cNvPr>
            <p:cNvSpPr>
              <a:spLocks noChangeShapeType="1"/>
            </p:cNvSpPr>
            <p:nvPr/>
          </p:nvSpPr>
          <p:spPr bwMode="auto">
            <a:xfrm>
              <a:off x="2182" y="1722"/>
              <a:ext cx="510" cy="0"/>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Text Box 33">
              <a:extLst>
                <a:ext uri="{FF2B5EF4-FFF2-40B4-BE49-F238E27FC236}">
                  <a16:creationId xmlns:a16="http://schemas.microsoft.com/office/drawing/2014/main" id="{F63510E0-58B1-4AAA-8762-16F892963B5B}"/>
                </a:ext>
              </a:extLst>
            </p:cNvPr>
            <p:cNvSpPr txBox="1">
              <a:spLocks noChangeArrowheads="1"/>
            </p:cNvSpPr>
            <p:nvPr/>
          </p:nvSpPr>
          <p:spPr bwMode="auto">
            <a:xfrm>
              <a:off x="2177" y="1543"/>
              <a:ext cx="259"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200" b="1">
                  <a:solidFill>
                    <a:schemeClr val="tx1"/>
                  </a:solidFill>
                  <a:latin typeface="Times New Roman" panose="02020603050405020304" pitchFamily="18" charset="0"/>
                </a:rPr>
                <a:t>F</a:t>
              </a:r>
              <a:endParaRPr kumimoji="1" lang="en-US" altLang="zh-CN" sz="1400" b="1">
                <a:solidFill>
                  <a:schemeClr val="tx1"/>
                </a:solidFill>
                <a:latin typeface="Times New Roman" panose="02020603050405020304" pitchFamily="18" charset="0"/>
              </a:endParaRPr>
            </a:p>
          </p:txBody>
        </p:sp>
        <p:sp>
          <p:nvSpPr>
            <p:cNvPr id="34" name="AutoShape 34">
              <a:extLst>
                <a:ext uri="{FF2B5EF4-FFF2-40B4-BE49-F238E27FC236}">
                  <a16:creationId xmlns:a16="http://schemas.microsoft.com/office/drawing/2014/main" id="{ACF0F946-E23F-46B2-B8CB-0DBA68CABF51}"/>
                </a:ext>
              </a:extLst>
            </p:cNvPr>
            <p:cNvSpPr>
              <a:spLocks noChangeArrowheads="1"/>
            </p:cNvSpPr>
            <p:nvPr/>
          </p:nvSpPr>
          <p:spPr bwMode="auto">
            <a:xfrm>
              <a:off x="1233" y="2150"/>
              <a:ext cx="510" cy="204"/>
            </a:xfrm>
            <a:prstGeom prst="flowChartDecision">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200" b="1">
                  <a:solidFill>
                    <a:schemeClr val="tx1"/>
                  </a:solidFill>
                  <a:latin typeface="Times New Roman" panose="02020603050405020304" pitchFamily="18" charset="0"/>
                </a:rPr>
                <a:t>A&gt;0</a:t>
              </a:r>
              <a:endParaRPr kumimoji="1" lang="en-US" altLang="zh-CN" b="1">
                <a:solidFill>
                  <a:schemeClr val="tx1"/>
                </a:solidFill>
                <a:latin typeface="Times New Roman" panose="02020603050405020304" pitchFamily="18" charset="0"/>
              </a:endParaRPr>
            </a:p>
          </p:txBody>
        </p:sp>
        <p:grpSp>
          <p:nvGrpSpPr>
            <p:cNvPr id="35" name="Group 35">
              <a:extLst>
                <a:ext uri="{FF2B5EF4-FFF2-40B4-BE49-F238E27FC236}">
                  <a16:creationId xmlns:a16="http://schemas.microsoft.com/office/drawing/2014/main" id="{084483CB-7796-417B-B26A-217F7F771F7A}"/>
                </a:ext>
              </a:extLst>
            </p:cNvPr>
            <p:cNvGrpSpPr>
              <a:grpSpLocks/>
            </p:cNvGrpSpPr>
            <p:nvPr/>
          </p:nvGrpSpPr>
          <p:grpSpPr bwMode="auto">
            <a:xfrm>
              <a:off x="1488" y="1987"/>
              <a:ext cx="300" cy="245"/>
              <a:chOff x="1586" y="2390"/>
              <a:chExt cx="334" cy="271"/>
            </a:xfrm>
          </p:grpSpPr>
          <p:sp>
            <p:nvSpPr>
              <p:cNvPr id="42" name="Line 36">
                <a:extLst>
                  <a:ext uri="{FF2B5EF4-FFF2-40B4-BE49-F238E27FC236}">
                    <a16:creationId xmlns:a16="http://schemas.microsoft.com/office/drawing/2014/main" id="{B8FBC9B5-154D-4FCE-AB91-7B08849BFF87}"/>
                  </a:ext>
                </a:extLst>
              </p:cNvPr>
              <p:cNvSpPr>
                <a:spLocks noChangeShapeType="1"/>
              </p:cNvSpPr>
              <p:nvPr/>
            </p:nvSpPr>
            <p:spPr bwMode="auto">
              <a:xfrm>
                <a:off x="1586" y="2402"/>
                <a:ext cx="0" cy="181"/>
              </a:xfrm>
              <a:prstGeom prst="line">
                <a:avLst/>
              </a:prstGeom>
              <a:noFill/>
              <a:ln w="1905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Text Box 37">
                <a:extLst>
                  <a:ext uri="{FF2B5EF4-FFF2-40B4-BE49-F238E27FC236}">
                    <a16:creationId xmlns:a16="http://schemas.microsoft.com/office/drawing/2014/main" id="{05A0E55E-94ED-4181-8AE7-CF8FFEC5D12B}"/>
                  </a:ext>
                </a:extLst>
              </p:cNvPr>
              <p:cNvSpPr txBox="1">
                <a:spLocks noChangeArrowheads="1"/>
              </p:cNvSpPr>
              <p:nvPr/>
            </p:nvSpPr>
            <p:spPr bwMode="auto">
              <a:xfrm>
                <a:off x="1634" y="2390"/>
                <a:ext cx="286" cy="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200" b="1">
                    <a:solidFill>
                      <a:schemeClr val="tx1"/>
                    </a:solidFill>
                    <a:latin typeface="Times New Roman" panose="02020603050405020304" pitchFamily="18" charset="0"/>
                  </a:rPr>
                  <a:t>T</a:t>
                </a:r>
                <a:endParaRPr kumimoji="1" lang="en-US" altLang="zh-CN" sz="1400" b="1">
                  <a:solidFill>
                    <a:schemeClr val="tx1"/>
                  </a:solidFill>
                  <a:latin typeface="Times New Roman" panose="02020603050405020304" pitchFamily="18" charset="0"/>
                </a:endParaRPr>
              </a:p>
            </p:txBody>
          </p:sp>
        </p:grpSp>
        <p:sp>
          <p:nvSpPr>
            <p:cNvPr id="36" name="Text Box 38">
              <a:extLst>
                <a:ext uri="{FF2B5EF4-FFF2-40B4-BE49-F238E27FC236}">
                  <a16:creationId xmlns:a16="http://schemas.microsoft.com/office/drawing/2014/main" id="{C3DF92F9-3609-414A-AB8C-2240F1DA7A4E}"/>
                </a:ext>
              </a:extLst>
            </p:cNvPr>
            <p:cNvSpPr txBox="1">
              <a:spLocks noChangeArrowheads="1"/>
            </p:cNvSpPr>
            <p:nvPr/>
          </p:nvSpPr>
          <p:spPr bwMode="auto">
            <a:xfrm>
              <a:off x="2223" y="2741"/>
              <a:ext cx="408" cy="163"/>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0800"/>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1200" b="1">
                  <a:solidFill>
                    <a:schemeClr val="tx1"/>
                  </a:solidFill>
                  <a:latin typeface="Times New Roman" panose="02020603050405020304" pitchFamily="18" charset="0"/>
                </a:rPr>
                <a:t>L++</a:t>
              </a:r>
              <a:endParaRPr kumimoji="1" lang="en-US" altLang="zh-CN" sz="1600" b="1">
                <a:solidFill>
                  <a:schemeClr val="tx1"/>
                </a:solidFill>
                <a:latin typeface="Times New Roman" panose="02020603050405020304" pitchFamily="18" charset="0"/>
              </a:endParaRPr>
            </a:p>
          </p:txBody>
        </p:sp>
        <p:sp>
          <p:nvSpPr>
            <p:cNvPr id="37" name="Line 39">
              <a:extLst>
                <a:ext uri="{FF2B5EF4-FFF2-40B4-BE49-F238E27FC236}">
                  <a16:creationId xmlns:a16="http://schemas.microsoft.com/office/drawing/2014/main" id="{779DE65C-CDE3-4983-8B04-3B5137A59E90}"/>
                </a:ext>
              </a:extLst>
            </p:cNvPr>
            <p:cNvSpPr>
              <a:spLocks noChangeShapeType="1"/>
            </p:cNvSpPr>
            <p:nvPr/>
          </p:nvSpPr>
          <p:spPr bwMode="auto">
            <a:xfrm>
              <a:off x="2426" y="2252"/>
              <a:ext cx="0" cy="489"/>
            </a:xfrm>
            <a:prstGeom prst="line">
              <a:avLst/>
            </a:prstGeom>
            <a:noFill/>
            <a:ln w="19050">
              <a:solidFill>
                <a:schemeClr val="tx1"/>
              </a:solidFill>
              <a:round/>
              <a:headEnd/>
              <a:tailEnd type="arrow"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40">
              <a:extLst>
                <a:ext uri="{FF2B5EF4-FFF2-40B4-BE49-F238E27FC236}">
                  <a16:creationId xmlns:a16="http://schemas.microsoft.com/office/drawing/2014/main" id="{FFB6598C-FC37-4F9B-9E66-549903DBF4C0}"/>
                </a:ext>
              </a:extLst>
            </p:cNvPr>
            <p:cNvSpPr>
              <a:spLocks noChangeShapeType="1"/>
            </p:cNvSpPr>
            <p:nvPr/>
          </p:nvSpPr>
          <p:spPr bwMode="auto">
            <a:xfrm>
              <a:off x="1743" y="2252"/>
              <a:ext cx="683" cy="0"/>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Text Box 41">
              <a:extLst>
                <a:ext uri="{FF2B5EF4-FFF2-40B4-BE49-F238E27FC236}">
                  <a16:creationId xmlns:a16="http://schemas.microsoft.com/office/drawing/2014/main" id="{3D656236-A30A-43E3-944A-1C5ED655C2DB}"/>
                </a:ext>
              </a:extLst>
            </p:cNvPr>
            <p:cNvSpPr txBox="1">
              <a:spLocks noChangeArrowheads="1"/>
            </p:cNvSpPr>
            <p:nvPr/>
          </p:nvSpPr>
          <p:spPr bwMode="auto">
            <a:xfrm>
              <a:off x="1788" y="2095"/>
              <a:ext cx="259"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lnSpc>
                  <a:spcPct val="70000"/>
                </a:lnSpc>
                <a:spcBef>
                  <a:spcPct val="0"/>
                </a:spcBef>
                <a:buFontTx/>
                <a:buNone/>
              </a:pPr>
              <a:r>
                <a:rPr kumimoji="1" lang="en-US" altLang="zh-CN" sz="1200" b="1">
                  <a:solidFill>
                    <a:schemeClr val="tx1"/>
                  </a:solidFill>
                  <a:latin typeface="Times New Roman" panose="02020603050405020304" pitchFamily="18" charset="0"/>
                </a:rPr>
                <a:t>F</a:t>
              </a:r>
              <a:endParaRPr kumimoji="1" lang="en-US" altLang="zh-CN" sz="1400" b="1">
                <a:solidFill>
                  <a:schemeClr val="tx1"/>
                </a:solidFill>
                <a:latin typeface="Times New Roman" panose="02020603050405020304" pitchFamily="18" charset="0"/>
              </a:endParaRPr>
            </a:p>
          </p:txBody>
        </p:sp>
        <p:sp>
          <p:nvSpPr>
            <p:cNvPr id="40" name="Line 42">
              <a:extLst>
                <a:ext uri="{FF2B5EF4-FFF2-40B4-BE49-F238E27FC236}">
                  <a16:creationId xmlns:a16="http://schemas.microsoft.com/office/drawing/2014/main" id="{D130B04F-E746-4DA6-BD24-9672395812FF}"/>
                </a:ext>
              </a:extLst>
            </p:cNvPr>
            <p:cNvSpPr>
              <a:spLocks noChangeShapeType="1"/>
            </p:cNvSpPr>
            <p:nvPr/>
          </p:nvSpPr>
          <p:spPr bwMode="auto">
            <a:xfrm>
              <a:off x="2426" y="2905"/>
              <a:ext cx="0" cy="163"/>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43">
              <a:extLst>
                <a:ext uri="{FF2B5EF4-FFF2-40B4-BE49-F238E27FC236}">
                  <a16:creationId xmlns:a16="http://schemas.microsoft.com/office/drawing/2014/main" id="{3EBCC163-4AB0-4A5F-813B-4697083A9F16}"/>
                </a:ext>
              </a:extLst>
            </p:cNvPr>
            <p:cNvSpPr>
              <a:spLocks noChangeShapeType="1"/>
            </p:cNvSpPr>
            <p:nvPr/>
          </p:nvSpPr>
          <p:spPr bwMode="auto">
            <a:xfrm>
              <a:off x="1488" y="3068"/>
              <a:ext cx="950" cy="0"/>
            </a:xfrm>
            <a:prstGeom prst="line">
              <a:avLst/>
            </a:prstGeom>
            <a:noFill/>
            <a:ln w="19050">
              <a:solidFill>
                <a:schemeClr val="tx1"/>
              </a:solidFill>
              <a:round/>
              <a:headEnd type="arrow" w="sm" len="lg"/>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6" name="Group 44">
            <a:extLst>
              <a:ext uri="{FF2B5EF4-FFF2-40B4-BE49-F238E27FC236}">
                <a16:creationId xmlns:a16="http://schemas.microsoft.com/office/drawing/2014/main" id="{37974277-8208-489E-BB7F-A4D702CA3D69}"/>
              </a:ext>
            </a:extLst>
          </p:cNvPr>
          <p:cNvGrpSpPr>
            <a:grpSpLocks/>
          </p:cNvGrpSpPr>
          <p:nvPr/>
        </p:nvGrpSpPr>
        <p:grpSpPr bwMode="auto">
          <a:xfrm>
            <a:off x="5172015" y="3098533"/>
            <a:ext cx="2014596" cy="3519445"/>
            <a:chOff x="3505" y="242"/>
            <a:chExt cx="1824" cy="3596"/>
          </a:xfrm>
        </p:grpSpPr>
        <p:grpSp>
          <p:nvGrpSpPr>
            <p:cNvPr id="47" name="Group 45">
              <a:extLst>
                <a:ext uri="{FF2B5EF4-FFF2-40B4-BE49-F238E27FC236}">
                  <a16:creationId xmlns:a16="http://schemas.microsoft.com/office/drawing/2014/main" id="{42773037-B0C7-433C-8286-3853AD6C6696}"/>
                </a:ext>
              </a:extLst>
            </p:cNvPr>
            <p:cNvGrpSpPr>
              <a:grpSpLocks/>
            </p:cNvGrpSpPr>
            <p:nvPr/>
          </p:nvGrpSpPr>
          <p:grpSpPr bwMode="auto">
            <a:xfrm>
              <a:off x="4237" y="336"/>
              <a:ext cx="82" cy="1415"/>
              <a:chOff x="3853" y="226"/>
              <a:chExt cx="82" cy="1415"/>
            </a:xfrm>
          </p:grpSpPr>
          <p:grpSp>
            <p:nvGrpSpPr>
              <p:cNvPr id="80" name="Group 46">
                <a:extLst>
                  <a:ext uri="{FF2B5EF4-FFF2-40B4-BE49-F238E27FC236}">
                    <a16:creationId xmlns:a16="http://schemas.microsoft.com/office/drawing/2014/main" id="{3FC60D52-19DF-4DD7-8CB7-5D3E56DEB4EE}"/>
                  </a:ext>
                </a:extLst>
              </p:cNvPr>
              <p:cNvGrpSpPr>
                <a:grpSpLocks/>
              </p:cNvGrpSpPr>
              <p:nvPr/>
            </p:nvGrpSpPr>
            <p:grpSpPr bwMode="auto">
              <a:xfrm>
                <a:off x="3853" y="226"/>
                <a:ext cx="82" cy="707"/>
                <a:chOff x="3853" y="226"/>
                <a:chExt cx="82" cy="707"/>
              </a:xfrm>
            </p:grpSpPr>
            <p:grpSp>
              <p:nvGrpSpPr>
                <p:cNvPr id="87" name="Group 47">
                  <a:extLst>
                    <a:ext uri="{FF2B5EF4-FFF2-40B4-BE49-F238E27FC236}">
                      <a16:creationId xmlns:a16="http://schemas.microsoft.com/office/drawing/2014/main" id="{49F44F5F-C923-4930-A51C-5FCE0EFD54DB}"/>
                    </a:ext>
                  </a:extLst>
                </p:cNvPr>
                <p:cNvGrpSpPr>
                  <a:grpSpLocks/>
                </p:cNvGrpSpPr>
                <p:nvPr/>
              </p:nvGrpSpPr>
              <p:grpSpPr bwMode="auto">
                <a:xfrm>
                  <a:off x="3853" y="226"/>
                  <a:ext cx="82" cy="354"/>
                  <a:chOff x="3853" y="340"/>
                  <a:chExt cx="68" cy="295"/>
                </a:xfrm>
              </p:grpSpPr>
              <p:sp>
                <p:nvSpPr>
                  <p:cNvPr id="90" name="Oval 48">
                    <a:extLst>
                      <a:ext uri="{FF2B5EF4-FFF2-40B4-BE49-F238E27FC236}">
                        <a16:creationId xmlns:a16="http://schemas.microsoft.com/office/drawing/2014/main" id="{D881BF64-AF66-496C-A78A-9AE5B02D2BBA}"/>
                      </a:ext>
                    </a:extLst>
                  </p:cNvPr>
                  <p:cNvSpPr>
                    <a:spLocks noChangeArrowheads="1"/>
                  </p:cNvSpPr>
                  <p:nvPr/>
                </p:nvSpPr>
                <p:spPr bwMode="auto">
                  <a:xfrm>
                    <a:off x="3853" y="340"/>
                    <a:ext cx="68" cy="68"/>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1"/>
                      </a:solidFill>
                    </a:endParaRPr>
                  </a:p>
                </p:txBody>
              </p:sp>
              <p:sp>
                <p:nvSpPr>
                  <p:cNvPr id="91" name="Line 49">
                    <a:extLst>
                      <a:ext uri="{FF2B5EF4-FFF2-40B4-BE49-F238E27FC236}">
                        <a16:creationId xmlns:a16="http://schemas.microsoft.com/office/drawing/2014/main" id="{172A7EE2-DBAD-4411-868C-252B19894F0F}"/>
                      </a:ext>
                    </a:extLst>
                  </p:cNvPr>
                  <p:cNvSpPr>
                    <a:spLocks noChangeShapeType="1"/>
                  </p:cNvSpPr>
                  <p:nvPr/>
                </p:nvSpPr>
                <p:spPr bwMode="auto">
                  <a:xfrm>
                    <a:off x="3888" y="408"/>
                    <a:ext cx="0" cy="227"/>
                  </a:xfrm>
                  <a:prstGeom prst="line">
                    <a:avLst/>
                  </a:prstGeom>
                  <a:noFill/>
                  <a:ln w="254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8" name="Oval 50">
                  <a:extLst>
                    <a:ext uri="{FF2B5EF4-FFF2-40B4-BE49-F238E27FC236}">
                      <a16:creationId xmlns:a16="http://schemas.microsoft.com/office/drawing/2014/main" id="{1E552652-D2C5-4307-A83C-91F16F9F23BE}"/>
                    </a:ext>
                  </a:extLst>
                </p:cNvPr>
                <p:cNvSpPr>
                  <a:spLocks noChangeArrowheads="1"/>
                </p:cNvSpPr>
                <p:nvPr/>
              </p:nvSpPr>
              <p:spPr bwMode="auto">
                <a:xfrm>
                  <a:off x="3853" y="580"/>
                  <a:ext cx="82" cy="81"/>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1"/>
                    </a:solidFill>
                  </a:endParaRPr>
                </a:p>
              </p:txBody>
            </p:sp>
            <p:sp>
              <p:nvSpPr>
                <p:cNvPr id="89" name="Line 51">
                  <a:extLst>
                    <a:ext uri="{FF2B5EF4-FFF2-40B4-BE49-F238E27FC236}">
                      <a16:creationId xmlns:a16="http://schemas.microsoft.com/office/drawing/2014/main" id="{5890151B-F4A1-46B1-A832-C56BB29F7AFD}"/>
                    </a:ext>
                  </a:extLst>
                </p:cNvPr>
                <p:cNvSpPr>
                  <a:spLocks noChangeShapeType="1"/>
                </p:cNvSpPr>
                <p:nvPr/>
              </p:nvSpPr>
              <p:spPr bwMode="auto">
                <a:xfrm>
                  <a:off x="3895" y="661"/>
                  <a:ext cx="0" cy="272"/>
                </a:xfrm>
                <a:prstGeom prst="line">
                  <a:avLst/>
                </a:prstGeom>
                <a:noFill/>
                <a:ln w="254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1" name="Group 52">
                <a:extLst>
                  <a:ext uri="{FF2B5EF4-FFF2-40B4-BE49-F238E27FC236}">
                    <a16:creationId xmlns:a16="http://schemas.microsoft.com/office/drawing/2014/main" id="{64BCA0F2-8E8F-463F-899F-214BBD9B7D1A}"/>
                  </a:ext>
                </a:extLst>
              </p:cNvPr>
              <p:cNvGrpSpPr>
                <a:grpSpLocks/>
              </p:cNvGrpSpPr>
              <p:nvPr/>
            </p:nvGrpSpPr>
            <p:grpSpPr bwMode="auto">
              <a:xfrm>
                <a:off x="3853" y="934"/>
                <a:ext cx="82" cy="707"/>
                <a:chOff x="3853" y="226"/>
                <a:chExt cx="82" cy="707"/>
              </a:xfrm>
            </p:grpSpPr>
            <p:grpSp>
              <p:nvGrpSpPr>
                <p:cNvPr id="82" name="Group 53">
                  <a:extLst>
                    <a:ext uri="{FF2B5EF4-FFF2-40B4-BE49-F238E27FC236}">
                      <a16:creationId xmlns:a16="http://schemas.microsoft.com/office/drawing/2014/main" id="{1194F938-1CAC-447D-B353-661B6CEFCC7E}"/>
                    </a:ext>
                  </a:extLst>
                </p:cNvPr>
                <p:cNvGrpSpPr>
                  <a:grpSpLocks/>
                </p:cNvGrpSpPr>
                <p:nvPr/>
              </p:nvGrpSpPr>
              <p:grpSpPr bwMode="auto">
                <a:xfrm>
                  <a:off x="3853" y="226"/>
                  <a:ext cx="82" cy="354"/>
                  <a:chOff x="3853" y="340"/>
                  <a:chExt cx="68" cy="295"/>
                </a:xfrm>
              </p:grpSpPr>
              <p:sp>
                <p:nvSpPr>
                  <p:cNvPr id="85" name="Oval 54">
                    <a:extLst>
                      <a:ext uri="{FF2B5EF4-FFF2-40B4-BE49-F238E27FC236}">
                        <a16:creationId xmlns:a16="http://schemas.microsoft.com/office/drawing/2014/main" id="{DFFE19AE-7741-4D87-9CF9-929B64C31FAE}"/>
                      </a:ext>
                    </a:extLst>
                  </p:cNvPr>
                  <p:cNvSpPr>
                    <a:spLocks noChangeArrowheads="1"/>
                  </p:cNvSpPr>
                  <p:nvPr/>
                </p:nvSpPr>
                <p:spPr bwMode="auto">
                  <a:xfrm>
                    <a:off x="3853" y="340"/>
                    <a:ext cx="68" cy="68"/>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1"/>
                      </a:solidFill>
                    </a:endParaRPr>
                  </a:p>
                </p:txBody>
              </p:sp>
              <p:sp>
                <p:nvSpPr>
                  <p:cNvPr id="86" name="Line 55">
                    <a:extLst>
                      <a:ext uri="{FF2B5EF4-FFF2-40B4-BE49-F238E27FC236}">
                        <a16:creationId xmlns:a16="http://schemas.microsoft.com/office/drawing/2014/main" id="{99023738-2E44-4003-9953-5E984D3C0F03}"/>
                      </a:ext>
                    </a:extLst>
                  </p:cNvPr>
                  <p:cNvSpPr>
                    <a:spLocks noChangeShapeType="1"/>
                  </p:cNvSpPr>
                  <p:nvPr/>
                </p:nvSpPr>
                <p:spPr bwMode="auto">
                  <a:xfrm>
                    <a:off x="3888" y="408"/>
                    <a:ext cx="0" cy="227"/>
                  </a:xfrm>
                  <a:prstGeom prst="line">
                    <a:avLst/>
                  </a:prstGeom>
                  <a:noFill/>
                  <a:ln w="254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83" name="Oval 56">
                  <a:extLst>
                    <a:ext uri="{FF2B5EF4-FFF2-40B4-BE49-F238E27FC236}">
                      <a16:creationId xmlns:a16="http://schemas.microsoft.com/office/drawing/2014/main" id="{FB0EECDC-6FE0-4D40-8B64-D992552D1219}"/>
                    </a:ext>
                  </a:extLst>
                </p:cNvPr>
                <p:cNvSpPr>
                  <a:spLocks noChangeArrowheads="1"/>
                </p:cNvSpPr>
                <p:nvPr/>
              </p:nvSpPr>
              <p:spPr bwMode="auto">
                <a:xfrm>
                  <a:off x="3853" y="580"/>
                  <a:ext cx="82" cy="81"/>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1"/>
                    </a:solidFill>
                  </a:endParaRPr>
                </a:p>
              </p:txBody>
            </p:sp>
            <p:sp>
              <p:nvSpPr>
                <p:cNvPr id="84" name="Line 57">
                  <a:extLst>
                    <a:ext uri="{FF2B5EF4-FFF2-40B4-BE49-F238E27FC236}">
                      <a16:creationId xmlns:a16="http://schemas.microsoft.com/office/drawing/2014/main" id="{6B324FFE-3288-496A-AE86-F83B0C67FCD6}"/>
                    </a:ext>
                  </a:extLst>
                </p:cNvPr>
                <p:cNvSpPr>
                  <a:spLocks noChangeShapeType="1"/>
                </p:cNvSpPr>
                <p:nvPr/>
              </p:nvSpPr>
              <p:spPr bwMode="auto">
                <a:xfrm>
                  <a:off x="3895" y="661"/>
                  <a:ext cx="0" cy="272"/>
                </a:xfrm>
                <a:prstGeom prst="line">
                  <a:avLst/>
                </a:prstGeom>
                <a:noFill/>
                <a:ln w="254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48" name="Group 58">
              <a:extLst>
                <a:ext uri="{FF2B5EF4-FFF2-40B4-BE49-F238E27FC236}">
                  <a16:creationId xmlns:a16="http://schemas.microsoft.com/office/drawing/2014/main" id="{606CB656-D448-43C9-A729-40ECBC7236D6}"/>
                </a:ext>
              </a:extLst>
            </p:cNvPr>
            <p:cNvGrpSpPr>
              <a:grpSpLocks/>
            </p:cNvGrpSpPr>
            <p:nvPr/>
          </p:nvGrpSpPr>
          <p:grpSpPr bwMode="auto">
            <a:xfrm>
              <a:off x="4237" y="1755"/>
              <a:ext cx="82" cy="707"/>
              <a:chOff x="3853" y="226"/>
              <a:chExt cx="82" cy="707"/>
            </a:xfrm>
          </p:grpSpPr>
          <p:grpSp>
            <p:nvGrpSpPr>
              <p:cNvPr id="75" name="Group 59">
                <a:extLst>
                  <a:ext uri="{FF2B5EF4-FFF2-40B4-BE49-F238E27FC236}">
                    <a16:creationId xmlns:a16="http://schemas.microsoft.com/office/drawing/2014/main" id="{92D8220C-E894-4F67-83F3-4DE9A45374BD}"/>
                  </a:ext>
                </a:extLst>
              </p:cNvPr>
              <p:cNvGrpSpPr>
                <a:grpSpLocks/>
              </p:cNvGrpSpPr>
              <p:nvPr/>
            </p:nvGrpSpPr>
            <p:grpSpPr bwMode="auto">
              <a:xfrm>
                <a:off x="3853" y="226"/>
                <a:ext cx="82" cy="354"/>
                <a:chOff x="3853" y="340"/>
                <a:chExt cx="68" cy="295"/>
              </a:xfrm>
            </p:grpSpPr>
            <p:sp>
              <p:nvSpPr>
                <p:cNvPr id="78" name="Oval 60">
                  <a:extLst>
                    <a:ext uri="{FF2B5EF4-FFF2-40B4-BE49-F238E27FC236}">
                      <a16:creationId xmlns:a16="http://schemas.microsoft.com/office/drawing/2014/main" id="{B4B59FEF-1076-4FE6-89B4-EDBCA4F8C208}"/>
                    </a:ext>
                  </a:extLst>
                </p:cNvPr>
                <p:cNvSpPr>
                  <a:spLocks noChangeArrowheads="1"/>
                </p:cNvSpPr>
                <p:nvPr/>
              </p:nvSpPr>
              <p:spPr bwMode="auto">
                <a:xfrm>
                  <a:off x="3853" y="340"/>
                  <a:ext cx="68" cy="68"/>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1"/>
                    </a:solidFill>
                  </a:endParaRPr>
                </a:p>
              </p:txBody>
            </p:sp>
            <p:sp>
              <p:nvSpPr>
                <p:cNvPr id="79" name="Line 61">
                  <a:extLst>
                    <a:ext uri="{FF2B5EF4-FFF2-40B4-BE49-F238E27FC236}">
                      <a16:creationId xmlns:a16="http://schemas.microsoft.com/office/drawing/2014/main" id="{E42A83EB-6831-40F2-83A8-DCCD521C19DB}"/>
                    </a:ext>
                  </a:extLst>
                </p:cNvPr>
                <p:cNvSpPr>
                  <a:spLocks noChangeShapeType="1"/>
                </p:cNvSpPr>
                <p:nvPr/>
              </p:nvSpPr>
              <p:spPr bwMode="auto">
                <a:xfrm>
                  <a:off x="3888" y="408"/>
                  <a:ext cx="0" cy="227"/>
                </a:xfrm>
                <a:prstGeom prst="line">
                  <a:avLst/>
                </a:prstGeom>
                <a:noFill/>
                <a:ln w="254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6" name="Oval 62">
                <a:extLst>
                  <a:ext uri="{FF2B5EF4-FFF2-40B4-BE49-F238E27FC236}">
                    <a16:creationId xmlns:a16="http://schemas.microsoft.com/office/drawing/2014/main" id="{2C639864-0C05-4997-B967-8078CDE5A3FE}"/>
                  </a:ext>
                </a:extLst>
              </p:cNvPr>
              <p:cNvSpPr>
                <a:spLocks noChangeArrowheads="1"/>
              </p:cNvSpPr>
              <p:nvPr/>
            </p:nvSpPr>
            <p:spPr bwMode="auto">
              <a:xfrm>
                <a:off x="3853" y="580"/>
                <a:ext cx="82" cy="81"/>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1"/>
                  </a:solidFill>
                </a:endParaRPr>
              </a:p>
            </p:txBody>
          </p:sp>
          <p:sp>
            <p:nvSpPr>
              <p:cNvPr id="77" name="Line 63">
                <a:extLst>
                  <a:ext uri="{FF2B5EF4-FFF2-40B4-BE49-F238E27FC236}">
                    <a16:creationId xmlns:a16="http://schemas.microsoft.com/office/drawing/2014/main" id="{F6457C8A-A6CA-409C-91BD-CE729FEA279B}"/>
                  </a:ext>
                </a:extLst>
              </p:cNvPr>
              <p:cNvSpPr>
                <a:spLocks noChangeShapeType="1"/>
              </p:cNvSpPr>
              <p:nvPr/>
            </p:nvSpPr>
            <p:spPr bwMode="auto">
              <a:xfrm>
                <a:off x="3895" y="661"/>
                <a:ext cx="0" cy="272"/>
              </a:xfrm>
              <a:prstGeom prst="line">
                <a:avLst/>
              </a:prstGeom>
              <a:noFill/>
              <a:ln w="254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9" name="Group 64">
              <a:extLst>
                <a:ext uri="{FF2B5EF4-FFF2-40B4-BE49-F238E27FC236}">
                  <a16:creationId xmlns:a16="http://schemas.microsoft.com/office/drawing/2014/main" id="{603B7607-82FA-472C-AFEC-AB02D364477D}"/>
                </a:ext>
              </a:extLst>
            </p:cNvPr>
            <p:cNvGrpSpPr>
              <a:grpSpLocks/>
            </p:cNvGrpSpPr>
            <p:nvPr/>
          </p:nvGrpSpPr>
          <p:grpSpPr bwMode="auto">
            <a:xfrm>
              <a:off x="4237" y="2463"/>
              <a:ext cx="82" cy="435"/>
              <a:chOff x="3853" y="2353"/>
              <a:chExt cx="82" cy="435"/>
            </a:xfrm>
          </p:grpSpPr>
          <p:grpSp>
            <p:nvGrpSpPr>
              <p:cNvPr id="71" name="Group 65">
                <a:extLst>
                  <a:ext uri="{FF2B5EF4-FFF2-40B4-BE49-F238E27FC236}">
                    <a16:creationId xmlns:a16="http://schemas.microsoft.com/office/drawing/2014/main" id="{6F9C00D5-3D04-4AEE-A84D-8FB38A580628}"/>
                  </a:ext>
                </a:extLst>
              </p:cNvPr>
              <p:cNvGrpSpPr>
                <a:grpSpLocks/>
              </p:cNvGrpSpPr>
              <p:nvPr/>
            </p:nvGrpSpPr>
            <p:grpSpPr bwMode="auto">
              <a:xfrm>
                <a:off x="3853" y="2353"/>
                <a:ext cx="82" cy="354"/>
                <a:chOff x="3853" y="340"/>
                <a:chExt cx="68" cy="295"/>
              </a:xfrm>
            </p:grpSpPr>
            <p:sp>
              <p:nvSpPr>
                <p:cNvPr id="73" name="Oval 66">
                  <a:extLst>
                    <a:ext uri="{FF2B5EF4-FFF2-40B4-BE49-F238E27FC236}">
                      <a16:creationId xmlns:a16="http://schemas.microsoft.com/office/drawing/2014/main" id="{7A34E375-3C6F-4EC1-B227-2383B0D42BCA}"/>
                    </a:ext>
                  </a:extLst>
                </p:cNvPr>
                <p:cNvSpPr>
                  <a:spLocks noChangeArrowheads="1"/>
                </p:cNvSpPr>
                <p:nvPr/>
              </p:nvSpPr>
              <p:spPr bwMode="auto">
                <a:xfrm>
                  <a:off x="3853" y="340"/>
                  <a:ext cx="68" cy="68"/>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1"/>
                    </a:solidFill>
                  </a:endParaRPr>
                </a:p>
              </p:txBody>
            </p:sp>
            <p:sp>
              <p:nvSpPr>
                <p:cNvPr id="74" name="Line 67">
                  <a:extLst>
                    <a:ext uri="{FF2B5EF4-FFF2-40B4-BE49-F238E27FC236}">
                      <a16:creationId xmlns:a16="http://schemas.microsoft.com/office/drawing/2014/main" id="{DF5BFC9D-24B0-4AED-A683-447FAA07F22F}"/>
                    </a:ext>
                  </a:extLst>
                </p:cNvPr>
                <p:cNvSpPr>
                  <a:spLocks noChangeShapeType="1"/>
                </p:cNvSpPr>
                <p:nvPr/>
              </p:nvSpPr>
              <p:spPr bwMode="auto">
                <a:xfrm>
                  <a:off x="3888" y="408"/>
                  <a:ext cx="0" cy="227"/>
                </a:xfrm>
                <a:prstGeom prst="line">
                  <a:avLst/>
                </a:prstGeom>
                <a:noFill/>
                <a:ln w="254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 name="Oval 68">
                <a:extLst>
                  <a:ext uri="{FF2B5EF4-FFF2-40B4-BE49-F238E27FC236}">
                    <a16:creationId xmlns:a16="http://schemas.microsoft.com/office/drawing/2014/main" id="{B44DD3E1-50C4-428E-AF03-4ECB921D4AE0}"/>
                  </a:ext>
                </a:extLst>
              </p:cNvPr>
              <p:cNvSpPr>
                <a:spLocks noChangeArrowheads="1"/>
              </p:cNvSpPr>
              <p:nvPr/>
            </p:nvSpPr>
            <p:spPr bwMode="auto">
              <a:xfrm>
                <a:off x="3853" y="2707"/>
                <a:ext cx="82" cy="81"/>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1"/>
                  </a:solidFill>
                </a:endParaRPr>
              </a:p>
            </p:txBody>
          </p:sp>
        </p:grpSp>
        <p:grpSp>
          <p:nvGrpSpPr>
            <p:cNvPr id="50" name="Group 69">
              <a:extLst>
                <a:ext uri="{FF2B5EF4-FFF2-40B4-BE49-F238E27FC236}">
                  <a16:creationId xmlns:a16="http://schemas.microsoft.com/office/drawing/2014/main" id="{CA51FCE8-D1B2-44DB-9A57-047BF868BA76}"/>
                </a:ext>
              </a:extLst>
            </p:cNvPr>
            <p:cNvGrpSpPr>
              <a:grpSpLocks/>
            </p:cNvGrpSpPr>
            <p:nvPr/>
          </p:nvGrpSpPr>
          <p:grpSpPr bwMode="auto">
            <a:xfrm>
              <a:off x="4237" y="3147"/>
              <a:ext cx="82" cy="435"/>
              <a:chOff x="3853" y="2353"/>
              <a:chExt cx="82" cy="435"/>
            </a:xfrm>
          </p:grpSpPr>
          <p:grpSp>
            <p:nvGrpSpPr>
              <p:cNvPr id="67" name="Group 70">
                <a:extLst>
                  <a:ext uri="{FF2B5EF4-FFF2-40B4-BE49-F238E27FC236}">
                    <a16:creationId xmlns:a16="http://schemas.microsoft.com/office/drawing/2014/main" id="{769BF2F2-590F-45C4-9668-0727BCA2F7F3}"/>
                  </a:ext>
                </a:extLst>
              </p:cNvPr>
              <p:cNvGrpSpPr>
                <a:grpSpLocks/>
              </p:cNvGrpSpPr>
              <p:nvPr/>
            </p:nvGrpSpPr>
            <p:grpSpPr bwMode="auto">
              <a:xfrm>
                <a:off x="3853" y="2353"/>
                <a:ext cx="82" cy="354"/>
                <a:chOff x="3853" y="340"/>
                <a:chExt cx="68" cy="295"/>
              </a:xfrm>
            </p:grpSpPr>
            <p:sp>
              <p:nvSpPr>
                <p:cNvPr id="69" name="Oval 71">
                  <a:extLst>
                    <a:ext uri="{FF2B5EF4-FFF2-40B4-BE49-F238E27FC236}">
                      <a16:creationId xmlns:a16="http://schemas.microsoft.com/office/drawing/2014/main" id="{75F4D0AC-6908-4FDA-B6FD-FD743CCE9C4E}"/>
                    </a:ext>
                  </a:extLst>
                </p:cNvPr>
                <p:cNvSpPr>
                  <a:spLocks noChangeArrowheads="1"/>
                </p:cNvSpPr>
                <p:nvPr/>
              </p:nvSpPr>
              <p:spPr bwMode="auto">
                <a:xfrm>
                  <a:off x="3853" y="340"/>
                  <a:ext cx="68" cy="68"/>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1"/>
                    </a:solidFill>
                  </a:endParaRPr>
                </a:p>
              </p:txBody>
            </p:sp>
            <p:sp>
              <p:nvSpPr>
                <p:cNvPr id="70" name="Line 72">
                  <a:extLst>
                    <a:ext uri="{FF2B5EF4-FFF2-40B4-BE49-F238E27FC236}">
                      <a16:creationId xmlns:a16="http://schemas.microsoft.com/office/drawing/2014/main" id="{A08A2B84-D114-4CFF-A75F-7F7C9AD638D2}"/>
                    </a:ext>
                  </a:extLst>
                </p:cNvPr>
                <p:cNvSpPr>
                  <a:spLocks noChangeShapeType="1"/>
                </p:cNvSpPr>
                <p:nvPr/>
              </p:nvSpPr>
              <p:spPr bwMode="auto">
                <a:xfrm>
                  <a:off x="3888" y="408"/>
                  <a:ext cx="0" cy="227"/>
                </a:xfrm>
                <a:prstGeom prst="line">
                  <a:avLst/>
                </a:prstGeom>
                <a:noFill/>
                <a:ln w="25400">
                  <a:solidFill>
                    <a:schemeClr val="tx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8" name="Oval 73">
                <a:extLst>
                  <a:ext uri="{FF2B5EF4-FFF2-40B4-BE49-F238E27FC236}">
                    <a16:creationId xmlns:a16="http://schemas.microsoft.com/office/drawing/2014/main" id="{2F91A1A0-C986-4DC8-AC36-B0D662B2FDF8}"/>
                  </a:ext>
                </a:extLst>
              </p:cNvPr>
              <p:cNvSpPr>
                <a:spLocks noChangeArrowheads="1"/>
              </p:cNvSpPr>
              <p:nvPr/>
            </p:nvSpPr>
            <p:spPr bwMode="auto">
              <a:xfrm>
                <a:off x="3853" y="2707"/>
                <a:ext cx="82" cy="81"/>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1"/>
                  </a:solidFill>
                </a:endParaRPr>
              </a:p>
            </p:txBody>
          </p:sp>
        </p:grpSp>
        <p:sp>
          <p:nvSpPr>
            <p:cNvPr id="51" name="Oval 74">
              <a:extLst>
                <a:ext uri="{FF2B5EF4-FFF2-40B4-BE49-F238E27FC236}">
                  <a16:creationId xmlns:a16="http://schemas.microsoft.com/office/drawing/2014/main" id="{92DFED90-568D-497B-8AD0-25F5CBBDB4D9}"/>
                </a:ext>
              </a:extLst>
            </p:cNvPr>
            <p:cNvSpPr>
              <a:spLocks noChangeArrowheads="1"/>
            </p:cNvSpPr>
            <p:nvPr/>
          </p:nvSpPr>
          <p:spPr bwMode="auto">
            <a:xfrm>
              <a:off x="4848" y="2270"/>
              <a:ext cx="82" cy="82"/>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1"/>
                </a:solidFill>
              </a:endParaRPr>
            </a:p>
          </p:txBody>
        </p:sp>
        <p:sp>
          <p:nvSpPr>
            <p:cNvPr id="52" name="Arc 75">
              <a:extLst>
                <a:ext uri="{FF2B5EF4-FFF2-40B4-BE49-F238E27FC236}">
                  <a16:creationId xmlns:a16="http://schemas.microsoft.com/office/drawing/2014/main" id="{C117F9BE-0D59-4D4F-A07C-786453DED9CF}"/>
                </a:ext>
              </a:extLst>
            </p:cNvPr>
            <p:cNvSpPr>
              <a:spLocks/>
            </p:cNvSpPr>
            <p:nvPr/>
          </p:nvSpPr>
          <p:spPr bwMode="auto">
            <a:xfrm>
              <a:off x="4320" y="1790"/>
              <a:ext cx="576" cy="4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25400">
              <a:solidFill>
                <a:schemeClr val="tx1"/>
              </a:solidFill>
              <a:round/>
              <a:headEnd/>
              <a:tailEnd type="arrow"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Arc 76">
              <a:extLst>
                <a:ext uri="{FF2B5EF4-FFF2-40B4-BE49-F238E27FC236}">
                  <a16:creationId xmlns:a16="http://schemas.microsoft.com/office/drawing/2014/main" id="{659ADB71-7FD5-4063-A1B0-E0A2BFBFA2DE}"/>
                </a:ext>
              </a:extLst>
            </p:cNvPr>
            <p:cNvSpPr>
              <a:spLocks/>
            </p:cNvSpPr>
            <p:nvPr/>
          </p:nvSpPr>
          <p:spPr bwMode="auto">
            <a:xfrm flipV="1">
              <a:off x="4320" y="2340"/>
              <a:ext cx="576" cy="50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25400">
              <a:solidFill>
                <a:schemeClr val="tx1"/>
              </a:solidFill>
              <a:round/>
              <a:headEnd type="arrow"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Arc 77">
              <a:extLst>
                <a:ext uri="{FF2B5EF4-FFF2-40B4-BE49-F238E27FC236}">
                  <a16:creationId xmlns:a16="http://schemas.microsoft.com/office/drawing/2014/main" id="{5866ED6B-000F-473C-B81B-789A2FD0C23A}"/>
                </a:ext>
              </a:extLst>
            </p:cNvPr>
            <p:cNvSpPr>
              <a:spLocks/>
            </p:cNvSpPr>
            <p:nvPr/>
          </p:nvSpPr>
          <p:spPr bwMode="auto">
            <a:xfrm flipH="1">
              <a:off x="3505" y="1440"/>
              <a:ext cx="754" cy="1406"/>
            </a:xfrm>
            <a:custGeom>
              <a:avLst/>
              <a:gdLst>
                <a:gd name="T0" fmla="*/ 0 w 23141"/>
                <a:gd name="T1" fmla="*/ 0 h 43200"/>
                <a:gd name="T2" fmla="*/ 0 w 23141"/>
                <a:gd name="T3" fmla="*/ 0 h 43200"/>
                <a:gd name="T4" fmla="*/ 0 w 23141"/>
                <a:gd name="T5" fmla="*/ 0 h 43200"/>
                <a:gd name="T6" fmla="*/ 0 60000 65536"/>
                <a:gd name="T7" fmla="*/ 0 60000 65536"/>
                <a:gd name="T8" fmla="*/ 0 60000 65536"/>
              </a:gdLst>
              <a:ahLst/>
              <a:cxnLst>
                <a:cxn ang="T6">
                  <a:pos x="T0" y="T1"/>
                </a:cxn>
                <a:cxn ang="T7">
                  <a:pos x="T2" y="T3"/>
                </a:cxn>
                <a:cxn ang="T8">
                  <a:pos x="T4" y="T5"/>
                </a:cxn>
              </a:cxnLst>
              <a:rect l="0" t="0" r="r" b="b"/>
              <a:pathLst>
                <a:path w="23141" h="43200" fill="none" extrusionOk="0">
                  <a:moveTo>
                    <a:pt x="1541" y="0"/>
                  </a:moveTo>
                  <a:cubicBezTo>
                    <a:pt x="13470" y="0"/>
                    <a:pt x="23141" y="9670"/>
                    <a:pt x="23141" y="21600"/>
                  </a:cubicBezTo>
                  <a:cubicBezTo>
                    <a:pt x="23141" y="33529"/>
                    <a:pt x="13470" y="43200"/>
                    <a:pt x="1541" y="43200"/>
                  </a:cubicBezTo>
                  <a:cubicBezTo>
                    <a:pt x="1026" y="43199"/>
                    <a:pt x="512" y="43181"/>
                    <a:pt x="0" y="43144"/>
                  </a:cubicBezTo>
                </a:path>
                <a:path w="23141" h="43200" stroke="0" extrusionOk="0">
                  <a:moveTo>
                    <a:pt x="1541" y="0"/>
                  </a:moveTo>
                  <a:cubicBezTo>
                    <a:pt x="13470" y="0"/>
                    <a:pt x="23141" y="9670"/>
                    <a:pt x="23141" y="21600"/>
                  </a:cubicBezTo>
                  <a:cubicBezTo>
                    <a:pt x="23141" y="33529"/>
                    <a:pt x="13470" y="43200"/>
                    <a:pt x="1541" y="43200"/>
                  </a:cubicBezTo>
                  <a:cubicBezTo>
                    <a:pt x="1026" y="43199"/>
                    <a:pt x="512" y="43181"/>
                    <a:pt x="0" y="43144"/>
                  </a:cubicBezTo>
                  <a:lnTo>
                    <a:pt x="1541" y="21600"/>
                  </a:lnTo>
                  <a:lnTo>
                    <a:pt x="1541" y="0"/>
                  </a:lnTo>
                  <a:close/>
                </a:path>
              </a:pathLst>
            </a:custGeom>
            <a:noFill/>
            <a:ln w="25400">
              <a:solidFill>
                <a:schemeClr val="tx1"/>
              </a:solidFill>
              <a:round/>
              <a:headEnd type="arrow" w="sm" len="lg"/>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Arc 78">
              <a:extLst>
                <a:ext uri="{FF2B5EF4-FFF2-40B4-BE49-F238E27FC236}">
                  <a16:creationId xmlns:a16="http://schemas.microsoft.com/office/drawing/2014/main" id="{1D070A89-49D4-4ED0-B99C-8CFEBDB5340E}"/>
                </a:ext>
              </a:extLst>
            </p:cNvPr>
            <p:cNvSpPr>
              <a:spLocks/>
            </p:cNvSpPr>
            <p:nvPr/>
          </p:nvSpPr>
          <p:spPr bwMode="auto">
            <a:xfrm>
              <a:off x="4321" y="1441"/>
              <a:ext cx="1008" cy="1727"/>
            </a:xfrm>
            <a:custGeom>
              <a:avLst/>
              <a:gdLst>
                <a:gd name="T0" fmla="*/ 0 w 21600"/>
                <a:gd name="T1" fmla="*/ 0 h 43194"/>
                <a:gd name="T2" fmla="*/ 0 w 21600"/>
                <a:gd name="T3" fmla="*/ 0 h 43194"/>
                <a:gd name="T4" fmla="*/ 0 w 21600"/>
                <a:gd name="T5" fmla="*/ 0 h 43194"/>
                <a:gd name="T6" fmla="*/ 0 60000 65536"/>
                <a:gd name="T7" fmla="*/ 0 60000 65536"/>
                <a:gd name="T8" fmla="*/ 0 60000 65536"/>
              </a:gdLst>
              <a:ahLst/>
              <a:cxnLst>
                <a:cxn ang="T6">
                  <a:pos x="T0" y="T1"/>
                </a:cxn>
                <a:cxn ang="T7">
                  <a:pos x="T2" y="T3"/>
                </a:cxn>
                <a:cxn ang="T8">
                  <a:pos x="T4" y="T5"/>
                </a:cxn>
              </a:cxnLst>
              <a:rect l="0" t="0" r="r" b="b"/>
              <a:pathLst>
                <a:path w="21600" h="43194" fill="none" extrusionOk="0">
                  <a:moveTo>
                    <a:pt x="0" y="0"/>
                  </a:moveTo>
                  <a:cubicBezTo>
                    <a:pt x="11929" y="0"/>
                    <a:pt x="21600" y="9670"/>
                    <a:pt x="21600" y="21600"/>
                  </a:cubicBezTo>
                  <a:cubicBezTo>
                    <a:pt x="21600" y="33326"/>
                    <a:pt x="12243" y="42910"/>
                    <a:pt x="520" y="43193"/>
                  </a:cubicBezTo>
                </a:path>
                <a:path w="21600" h="43194" stroke="0" extrusionOk="0">
                  <a:moveTo>
                    <a:pt x="0" y="0"/>
                  </a:moveTo>
                  <a:cubicBezTo>
                    <a:pt x="11929" y="0"/>
                    <a:pt x="21600" y="9670"/>
                    <a:pt x="21600" y="21600"/>
                  </a:cubicBezTo>
                  <a:cubicBezTo>
                    <a:pt x="21600" y="33326"/>
                    <a:pt x="12243" y="42910"/>
                    <a:pt x="520" y="43193"/>
                  </a:cubicBezTo>
                  <a:lnTo>
                    <a:pt x="0" y="21600"/>
                  </a:lnTo>
                  <a:lnTo>
                    <a:pt x="0" y="0"/>
                  </a:lnTo>
                  <a:close/>
                </a:path>
              </a:pathLst>
            </a:custGeom>
            <a:noFill/>
            <a:ln w="25400">
              <a:solidFill>
                <a:schemeClr val="tx1"/>
              </a:solidFill>
              <a:round/>
              <a:headEnd/>
              <a:tailEnd type="arrow"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Text Box 79">
              <a:extLst>
                <a:ext uri="{FF2B5EF4-FFF2-40B4-BE49-F238E27FC236}">
                  <a16:creationId xmlns:a16="http://schemas.microsoft.com/office/drawing/2014/main" id="{B8C7863E-1BC6-401F-AEE5-8A7FF0308BA9}"/>
                </a:ext>
              </a:extLst>
            </p:cNvPr>
            <p:cNvSpPr txBox="1">
              <a:spLocks noChangeArrowheads="1"/>
            </p:cNvSpPr>
            <p:nvPr/>
          </p:nvSpPr>
          <p:spPr bwMode="auto">
            <a:xfrm>
              <a:off x="4323" y="242"/>
              <a:ext cx="672" cy="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400" b="1">
                  <a:solidFill>
                    <a:srgbClr val="0033CC"/>
                  </a:solidFill>
                  <a:latin typeface="Times New Roman" panose="02020603050405020304" pitchFamily="18" charset="0"/>
                </a:rPr>
                <a:t>a</a:t>
              </a:r>
              <a:r>
                <a:rPr kumimoji="1" lang="zh-CN" altLang="en-US" sz="1200" b="1">
                  <a:solidFill>
                    <a:srgbClr val="0033CC"/>
                  </a:solidFill>
                  <a:latin typeface="Times New Roman" panose="02020603050405020304" pitchFamily="18" charset="0"/>
                </a:rPr>
                <a:t>（</a:t>
              </a:r>
              <a:r>
                <a:rPr kumimoji="1" lang="en-US" altLang="zh-CN" sz="1200" b="1">
                  <a:solidFill>
                    <a:srgbClr val="0033CC"/>
                  </a:solidFill>
                  <a:latin typeface="Times New Roman" panose="02020603050405020304" pitchFamily="18" charset="0"/>
                </a:rPr>
                <a:t>begin</a:t>
              </a:r>
              <a:r>
                <a:rPr kumimoji="1" lang="zh-CN" altLang="en-US" sz="1200" b="1">
                  <a:solidFill>
                    <a:srgbClr val="0033CC"/>
                  </a:solidFill>
                  <a:latin typeface="Times New Roman" panose="02020603050405020304" pitchFamily="18" charset="0"/>
                </a:rPr>
                <a:t>）</a:t>
              </a:r>
              <a:endParaRPr kumimoji="1" lang="zh-CN" altLang="en-US" sz="1600" b="1">
                <a:solidFill>
                  <a:srgbClr val="0033CC"/>
                </a:solidFill>
                <a:latin typeface="Times New Roman" panose="02020603050405020304" pitchFamily="18" charset="0"/>
              </a:endParaRPr>
            </a:p>
          </p:txBody>
        </p:sp>
        <p:sp>
          <p:nvSpPr>
            <p:cNvPr id="57" name="Text Box 80">
              <a:extLst>
                <a:ext uri="{FF2B5EF4-FFF2-40B4-BE49-F238E27FC236}">
                  <a16:creationId xmlns:a16="http://schemas.microsoft.com/office/drawing/2014/main" id="{880BA364-3E55-448E-8756-267FAEDAC4C4}"/>
                </a:ext>
              </a:extLst>
            </p:cNvPr>
            <p:cNvSpPr txBox="1">
              <a:spLocks noChangeArrowheads="1"/>
            </p:cNvSpPr>
            <p:nvPr/>
          </p:nvSpPr>
          <p:spPr bwMode="auto">
            <a:xfrm>
              <a:off x="4323" y="621"/>
              <a:ext cx="672"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400" b="1">
                  <a:solidFill>
                    <a:srgbClr val="0033CC"/>
                  </a:solidFill>
                  <a:latin typeface="Times New Roman" panose="02020603050405020304" pitchFamily="18" charset="0"/>
                </a:rPr>
                <a:t>b</a:t>
              </a:r>
              <a:r>
                <a:rPr kumimoji="1" lang="zh-CN" altLang="en-US" sz="1200" b="1">
                  <a:solidFill>
                    <a:srgbClr val="0033CC"/>
                  </a:solidFill>
                  <a:latin typeface="Times New Roman" panose="02020603050405020304" pitchFamily="18" charset="0"/>
                </a:rPr>
                <a:t>（</a:t>
              </a:r>
              <a:r>
                <a:rPr kumimoji="1" lang="en-US" altLang="zh-CN" sz="1200" b="1">
                  <a:solidFill>
                    <a:srgbClr val="0033CC"/>
                  </a:solidFill>
                  <a:latin typeface="Times New Roman" panose="02020603050405020304" pitchFamily="18" charset="0"/>
                </a:rPr>
                <a:t>in</a:t>
              </a:r>
              <a:r>
                <a:rPr kumimoji="1" lang="zh-CN" altLang="en-US" sz="1200" b="1">
                  <a:solidFill>
                    <a:srgbClr val="0033CC"/>
                  </a:solidFill>
                  <a:latin typeface="Times New Roman" panose="02020603050405020304" pitchFamily="18" charset="0"/>
                </a:rPr>
                <a:t>）</a:t>
              </a:r>
              <a:endParaRPr kumimoji="1" lang="zh-CN" altLang="en-US" sz="1600" b="1">
                <a:solidFill>
                  <a:srgbClr val="0033CC"/>
                </a:solidFill>
                <a:latin typeface="Times New Roman" panose="02020603050405020304" pitchFamily="18" charset="0"/>
              </a:endParaRPr>
            </a:p>
          </p:txBody>
        </p:sp>
        <p:sp>
          <p:nvSpPr>
            <p:cNvPr id="58" name="Text Box 81">
              <a:extLst>
                <a:ext uri="{FF2B5EF4-FFF2-40B4-BE49-F238E27FC236}">
                  <a16:creationId xmlns:a16="http://schemas.microsoft.com/office/drawing/2014/main" id="{B2FB1764-D4F0-431E-ACF4-621DD657DD74}"/>
                </a:ext>
              </a:extLst>
            </p:cNvPr>
            <p:cNvSpPr txBox="1">
              <a:spLocks noChangeArrowheads="1"/>
            </p:cNvSpPr>
            <p:nvPr/>
          </p:nvSpPr>
          <p:spPr bwMode="auto">
            <a:xfrm>
              <a:off x="4323" y="956"/>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400" b="1">
                  <a:solidFill>
                    <a:srgbClr val="0033CC"/>
                  </a:solidFill>
                  <a:latin typeface="Times New Roman" panose="02020603050405020304" pitchFamily="18" charset="0"/>
                </a:rPr>
                <a:t>c</a:t>
              </a:r>
              <a:endParaRPr kumimoji="1" lang="en-US" altLang="zh-CN" sz="1600" b="1">
                <a:solidFill>
                  <a:srgbClr val="0033CC"/>
                </a:solidFill>
                <a:latin typeface="Times New Roman" panose="02020603050405020304" pitchFamily="18" charset="0"/>
              </a:endParaRPr>
            </a:p>
          </p:txBody>
        </p:sp>
        <p:sp>
          <p:nvSpPr>
            <p:cNvPr id="59" name="Text Box 82">
              <a:extLst>
                <a:ext uri="{FF2B5EF4-FFF2-40B4-BE49-F238E27FC236}">
                  <a16:creationId xmlns:a16="http://schemas.microsoft.com/office/drawing/2014/main" id="{C8DA76AC-4F34-4472-8D19-1C961DD6CEBC}"/>
                </a:ext>
              </a:extLst>
            </p:cNvPr>
            <p:cNvSpPr txBox="1">
              <a:spLocks noChangeArrowheads="1"/>
            </p:cNvSpPr>
            <p:nvPr/>
          </p:nvSpPr>
          <p:spPr bwMode="auto">
            <a:xfrm>
              <a:off x="4323" y="1267"/>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400" b="1">
                  <a:solidFill>
                    <a:srgbClr val="0033CC"/>
                  </a:solidFill>
                  <a:latin typeface="Times New Roman" panose="02020603050405020304" pitchFamily="18" charset="0"/>
                </a:rPr>
                <a:t>d</a:t>
              </a:r>
              <a:endParaRPr kumimoji="1" lang="en-US" altLang="zh-CN" sz="1600" b="1">
                <a:solidFill>
                  <a:srgbClr val="0033CC"/>
                </a:solidFill>
                <a:latin typeface="Times New Roman" panose="02020603050405020304" pitchFamily="18" charset="0"/>
              </a:endParaRPr>
            </a:p>
          </p:txBody>
        </p:sp>
        <p:sp>
          <p:nvSpPr>
            <p:cNvPr id="60" name="Text Box 83">
              <a:extLst>
                <a:ext uri="{FF2B5EF4-FFF2-40B4-BE49-F238E27FC236}">
                  <a16:creationId xmlns:a16="http://schemas.microsoft.com/office/drawing/2014/main" id="{5486FC2D-CE7E-4D7E-9C5B-6D277367B291}"/>
                </a:ext>
              </a:extLst>
            </p:cNvPr>
            <p:cNvSpPr txBox="1">
              <a:spLocks noChangeArrowheads="1"/>
            </p:cNvSpPr>
            <p:nvPr/>
          </p:nvSpPr>
          <p:spPr bwMode="auto">
            <a:xfrm>
              <a:off x="4323" y="1629"/>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400" b="1">
                  <a:solidFill>
                    <a:srgbClr val="0033CC"/>
                  </a:solidFill>
                  <a:latin typeface="Times New Roman" panose="02020603050405020304" pitchFamily="18" charset="0"/>
                </a:rPr>
                <a:t>e</a:t>
              </a:r>
              <a:endParaRPr kumimoji="1" lang="en-US" altLang="zh-CN" sz="1600" b="1">
                <a:solidFill>
                  <a:srgbClr val="0033CC"/>
                </a:solidFill>
                <a:latin typeface="Times New Roman" panose="02020603050405020304" pitchFamily="18" charset="0"/>
              </a:endParaRPr>
            </a:p>
          </p:txBody>
        </p:sp>
        <p:sp>
          <p:nvSpPr>
            <p:cNvPr id="61" name="Text Box 84">
              <a:extLst>
                <a:ext uri="{FF2B5EF4-FFF2-40B4-BE49-F238E27FC236}">
                  <a16:creationId xmlns:a16="http://schemas.microsoft.com/office/drawing/2014/main" id="{38843C3D-A217-4BE8-BE93-7C87BA14967D}"/>
                </a:ext>
              </a:extLst>
            </p:cNvPr>
            <p:cNvSpPr txBox="1">
              <a:spLocks noChangeArrowheads="1"/>
            </p:cNvSpPr>
            <p:nvPr/>
          </p:nvSpPr>
          <p:spPr bwMode="auto">
            <a:xfrm>
              <a:off x="4323" y="2016"/>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400" b="1">
                  <a:solidFill>
                    <a:srgbClr val="0033CC"/>
                  </a:solidFill>
                  <a:latin typeface="Times New Roman" panose="02020603050405020304" pitchFamily="18" charset="0"/>
                </a:rPr>
                <a:t>f</a:t>
              </a:r>
              <a:endParaRPr kumimoji="1" lang="en-US" altLang="zh-CN" sz="1600" b="1">
                <a:solidFill>
                  <a:srgbClr val="0033CC"/>
                </a:solidFill>
                <a:latin typeface="Times New Roman" panose="02020603050405020304" pitchFamily="18" charset="0"/>
              </a:endParaRPr>
            </a:p>
          </p:txBody>
        </p:sp>
        <p:sp>
          <p:nvSpPr>
            <p:cNvPr id="62" name="Text Box 85">
              <a:extLst>
                <a:ext uri="{FF2B5EF4-FFF2-40B4-BE49-F238E27FC236}">
                  <a16:creationId xmlns:a16="http://schemas.microsoft.com/office/drawing/2014/main" id="{8B0213A0-65AB-41F2-B169-F60C422AF660}"/>
                </a:ext>
              </a:extLst>
            </p:cNvPr>
            <p:cNvSpPr txBox="1">
              <a:spLocks noChangeArrowheads="1"/>
            </p:cNvSpPr>
            <p:nvPr/>
          </p:nvSpPr>
          <p:spPr bwMode="auto">
            <a:xfrm>
              <a:off x="4323" y="2400"/>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0800"/>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400" b="1">
                  <a:solidFill>
                    <a:srgbClr val="0033CC"/>
                  </a:solidFill>
                  <a:latin typeface="Times New Roman" panose="02020603050405020304" pitchFamily="18" charset="0"/>
                </a:rPr>
                <a:t>g</a:t>
              </a:r>
              <a:endParaRPr kumimoji="1" lang="en-US" altLang="zh-CN" sz="1600" b="1">
                <a:solidFill>
                  <a:srgbClr val="0033CC"/>
                </a:solidFill>
                <a:latin typeface="Times New Roman" panose="02020603050405020304" pitchFamily="18" charset="0"/>
              </a:endParaRPr>
            </a:p>
          </p:txBody>
        </p:sp>
        <p:sp>
          <p:nvSpPr>
            <p:cNvPr id="63" name="Text Box 86">
              <a:extLst>
                <a:ext uri="{FF2B5EF4-FFF2-40B4-BE49-F238E27FC236}">
                  <a16:creationId xmlns:a16="http://schemas.microsoft.com/office/drawing/2014/main" id="{31D02983-98DA-4402-A990-FB8CD7FEA58C}"/>
                </a:ext>
              </a:extLst>
            </p:cNvPr>
            <p:cNvSpPr txBox="1">
              <a:spLocks noChangeArrowheads="1"/>
            </p:cNvSpPr>
            <p:nvPr/>
          </p:nvSpPr>
          <p:spPr bwMode="auto">
            <a:xfrm>
              <a:off x="4323" y="2829"/>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400" b="1">
                  <a:solidFill>
                    <a:srgbClr val="0033CC"/>
                  </a:solidFill>
                  <a:latin typeface="Times New Roman" panose="02020603050405020304" pitchFamily="18" charset="0"/>
                </a:rPr>
                <a:t>h</a:t>
              </a:r>
              <a:endParaRPr kumimoji="1" lang="en-US" altLang="zh-CN" sz="1600" b="1">
                <a:solidFill>
                  <a:srgbClr val="0033CC"/>
                </a:solidFill>
                <a:latin typeface="Times New Roman" panose="02020603050405020304" pitchFamily="18" charset="0"/>
              </a:endParaRPr>
            </a:p>
          </p:txBody>
        </p:sp>
        <p:sp>
          <p:nvSpPr>
            <p:cNvPr id="64" name="Text Box 87">
              <a:extLst>
                <a:ext uri="{FF2B5EF4-FFF2-40B4-BE49-F238E27FC236}">
                  <a16:creationId xmlns:a16="http://schemas.microsoft.com/office/drawing/2014/main" id="{8B1BBFD1-EF4E-4E04-8E5C-B4F560B1289B}"/>
                </a:ext>
              </a:extLst>
            </p:cNvPr>
            <p:cNvSpPr txBox="1">
              <a:spLocks noChangeArrowheads="1"/>
            </p:cNvSpPr>
            <p:nvPr/>
          </p:nvSpPr>
          <p:spPr bwMode="auto">
            <a:xfrm>
              <a:off x="4942" y="2185"/>
              <a:ext cx="22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400" b="1">
                  <a:solidFill>
                    <a:srgbClr val="0033CC"/>
                  </a:solidFill>
                  <a:latin typeface="Times New Roman" panose="02020603050405020304" pitchFamily="18" charset="0"/>
                </a:rPr>
                <a:t>i</a:t>
              </a:r>
              <a:endParaRPr kumimoji="1" lang="en-US" altLang="zh-CN" sz="1600" b="1">
                <a:solidFill>
                  <a:srgbClr val="0033CC"/>
                </a:solidFill>
                <a:latin typeface="Times New Roman" panose="02020603050405020304" pitchFamily="18" charset="0"/>
              </a:endParaRPr>
            </a:p>
          </p:txBody>
        </p:sp>
        <p:sp>
          <p:nvSpPr>
            <p:cNvPr id="65" name="Text Box 88">
              <a:extLst>
                <a:ext uri="{FF2B5EF4-FFF2-40B4-BE49-F238E27FC236}">
                  <a16:creationId xmlns:a16="http://schemas.microsoft.com/office/drawing/2014/main" id="{81A52D97-27D0-4428-B14F-570BC7330006}"/>
                </a:ext>
              </a:extLst>
            </p:cNvPr>
            <p:cNvSpPr txBox="1">
              <a:spLocks noChangeArrowheads="1"/>
            </p:cNvSpPr>
            <p:nvPr/>
          </p:nvSpPr>
          <p:spPr bwMode="auto">
            <a:xfrm>
              <a:off x="4323" y="3141"/>
              <a:ext cx="672"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400" b="1">
                  <a:solidFill>
                    <a:srgbClr val="0033CC"/>
                  </a:solidFill>
                  <a:latin typeface="Times New Roman" panose="02020603050405020304" pitchFamily="18" charset="0"/>
                </a:rPr>
                <a:t>j</a:t>
              </a:r>
              <a:r>
                <a:rPr kumimoji="1" lang="zh-CN" altLang="en-US" sz="1200" b="1">
                  <a:solidFill>
                    <a:srgbClr val="0033CC"/>
                  </a:solidFill>
                  <a:latin typeface="Times New Roman" panose="02020603050405020304" pitchFamily="18" charset="0"/>
                </a:rPr>
                <a:t>（</a:t>
              </a:r>
              <a:r>
                <a:rPr kumimoji="1" lang="en-US" altLang="zh-CN" sz="1200" b="1">
                  <a:solidFill>
                    <a:srgbClr val="0033CC"/>
                  </a:solidFill>
                  <a:latin typeface="Times New Roman" panose="02020603050405020304" pitchFamily="18" charset="0"/>
                </a:rPr>
                <a:t>out</a:t>
              </a:r>
              <a:r>
                <a:rPr kumimoji="1" lang="zh-CN" altLang="en-US" sz="1200" b="1">
                  <a:solidFill>
                    <a:srgbClr val="0033CC"/>
                  </a:solidFill>
                  <a:latin typeface="Times New Roman" panose="02020603050405020304" pitchFamily="18" charset="0"/>
                </a:rPr>
                <a:t>）</a:t>
              </a:r>
              <a:endParaRPr kumimoji="1" lang="zh-CN" altLang="en-US" sz="1600" b="1">
                <a:solidFill>
                  <a:srgbClr val="0033CC"/>
                </a:solidFill>
                <a:latin typeface="Times New Roman" panose="02020603050405020304" pitchFamily="18" charset="0"/>
              </a:endParaRPr>
            </a:p>
          </p:txBody>
        </p:sp>
        <p:sp>
          <p:nvSpPr>
            <p:cNvPr id="66" name="Text Box 89">
              <a:extLst>
                <a:ext uri="{FF2B5EF4-FFF2-40B4-BE49-F238E27FC236}">
                  <a16:creationId xmlns:a16="http://schemas.microsoft.com/office/drawing/2014/main" id="{403ADA85-A985-4A17-8DE9-41EC51BEB758}"/>
                </a:ext>
              </a:extLst>
            </p:cNvPr>
            <p:cNvSpPr txBox="1">
              <a:spLocks noChangeArrowheads="1"/>
            </p:cNvSpPr>
            <p:nvPr/>
          </p:nvSpPr>
          <p:spPr bwMode="auto">
            <a:xfrm>
              <a:off x="4323" y="3429"/>
              <a:ext cx="672" cy="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400" b="1">
                  <a:solidFill>
                    <a:srgbClr val="0033CC"/>
                  </a:solidFill>
                  <a:latin typeface="Times New Roman" panose="02020603050405020304" pitchFamily="18" charset="0"/>
                </a:rPr>
                <a:t>k</a:t>
              </a:r>
              <a:r>
                <a:rPr kumimoji="1" lang="zh-CN" altLang="en-US" sz="1200" b="1">
                  <a:solidFill>
                    <a:srgbClr val="0033CC"/>
                  </a:solidFill>
                  <a:latin typeface="Times New Roman" panose="02020603050405020304" pitchFamily="18" charset="0"/>
                </a:rPr>
                <a:t>（</a:t>
              </a:r>
              <a:r>
                <a:rPr kumimoji="1" lang="en-US" altLang="zh-CN" sz="1200" b="1">
                  <a:solidFill>
                    <a:srgbClr val="0033CC"/>
                  </a:solidFill>
                  <a:latin typeface="Times New Roman" panose="02020603050405020304" pitchFamily="18" charset="0"/>
                </a:rPr>
                <a:t>stop</a:t>
              </a:r>
              <a:r>
                <a:rPr kumimoji="1" lang="zh-CN" altLang="en-US" sz="1200" b="1">
                  <a:solidFill>
                    <a:srgbClr val="0033CC"/>
                  </a:solidFill>
                  <a:latin typeface="Times New Roman" panose="02020603050405020304" pitchFamily="18" charset="0"/>
                </a:rPr>
                <a:t>）</a:t>
              </a:r>
              <a:endParaRPr kumimoji="1" lang="zh-CN" altLang="en-US" sz="1600" b="1">
                <a:solidFill>
                  <a:srgbClr val="0033CC"/>
                </a:solidFill>
                <a:latin typeface="Times New Roman" panose="02020603050405020304" pitchFamily="18" charset="0"/>
              </a:endParaRPr>
            </a:p>
          </p:txBody>
        </p:sp>
      </p:grpSp>
      <p:grpSp>
        <p:nvGrpSpPr>
          <p:cNvPr id="92" name="Group 90">
            <a:extLst>
              <a:ext uri="{FF2B5EF4-FFF2-40B4-BE49-F238E27FC236}">
                <a16:creationId xmlns:a16="http://schemas.microsoft.com/office/drawing/2014/main" id="{AE9C5ED1-1C29-49B1-94F3-90F590FC3E8C}"/>
              </a:ext>
            </a:extLst>
          </p:cNvPr>
          <p:cNvGrpSpPr>
            <a:grpSpLocks/>
          </p:cNvGrpSpPr>
          <p:nvPr/>
        </p:nvGrpSpPr>
        <p:grpSpPr bwMode="auto">
          <a:xfrm>
            <a:off x="1502967" y="3038528"/>
            <a:ext cx="2053232" cy="3819472"/>
            <a:chOff x="816" y="672"/>
            <a:chExt cx="1488" cy="2928"/>
          </a:xfrm>
        </p:grpSpPr>
        <p:sp>
          <p:nvSpPr>
            <p:cNvPr id="93" name="Text Box 91">
              <a:extLst>
                <a:ext uri="{FF2B5EF4-FFF2-40B4-BE49-F238E27FC236}">
                  <a16:creationId xmlns:a16="http://schemas.microsoft.com/office/drawing/2014/main" id="{D41B55D4-C681-49F1-9BE3-F8953D223B73}"/>
                </a:ext>
              </a:extLst>
            </p:cNvPr>
            <p:cNvSpPr txBox="1">
              <a:spLocks noChangeAspect="1" noChangeArrowheads="1"/>
            </p:cNvSpPr>
            <p:nvPr/>
          </p:nvSpPr>
          <p:spPr bwMode="auto">
            <a:xfrm>
              <a:off x="1116" y="672"/>
              <a:ext cx="2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1800" b="1">
                  <a:solidFill>
                    <a:srgbClr val="0033CC"/>
                  </a:solidFill>
                  <a:latin typeface="Times New Roman" panose="02020603050405020304" pitchFamily="18" charset="0"/>
                </a:rPr>
                <a:t>a</a:t>
              </a:r>
              <a:endParaRPr kumimoji="1" lang="en-US" altLang="zh-CN" sz="1600" b="1">
                <a:solidFill>
                  <a:srgbClr val="0033CC"/>
                </a:solidFill>
                <a:latin typeface="Times New Roman" panose="02020603050405020304" pitchFamily="18" charset="0"/>
              </a:endParaRPr>
            </a:p>
          </p:txBody>
        </p:sp>
        <p:sp>
          <p:nvSpPr>
            <p:cNvPr id="94" name="Text Box 92">
              <a:extLst>
                <a:ext uri="{FF2B5EF4-FFF2-40B4-BE49-F238E27FC236}">
                  <a16:creationId xmlns:a16="http://schemas.microsoft.com/office/drawing/2014/main" id="{C4861465-DEB4-40F2-B877-A96955DF5355}"/>
                </a:ext>
              </a:extLst>
            </p:cNvPr>
            <p:cNvSpPr txBox="1">
              <a:spLocks noChangeAspect="1" noChangeArrowheads="1"/>
            </p:cNvSpPr>
            <p:nvPr/>
          </p:nvSpPr>
          <p:spPr bwMode="auto">
            <a:xfrm>
              <a:off x="981" y="972"/>
              <a:ext cx="20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1800" b="1">
                  <a:solidFill>
                    <a:srgbClr val="0033CC"/>
                  </a:solidFill>
                  <a:latin typeface="Times New Roman" panose="02020603050405020304" pitchFamily="18" charset="0"/>
                </a:rPr>
                <a:t>b</a:t>
              </a:r>
              <a:endParaRPr kumimoji="1" lang="en-US" altLang="zh-CN" sz="1600" b="1">
                <a:solidFill>
                  <a:srgbClr val="0033CC"/>
                </a:solidFill>
                <a:latin typeface="Times New Roman" panose="02020603050405020304" pitchFamily="18" charset="0"/>
              </a:endParaRPr>
            </a:p>
          </p:txBody>
        </p:sp>
        <p:sp>
          <p:nvSpPr>
            <p:cNvPr id="95" name="Text Box 93">
              <a:extLst>
                <a:ext uri="{FF2B5EF4-FFF2-40B4-BE49-F238E27FC236}">
                  <a16:creationId xmlns:a16="http://schemas.microsoft.com/office/drawing/2014/main" id="{BACADC58-9D96-49EE-978F-DD1FD4BD8678}"/>
                </a:ext>
              </a:extLst>
            </p:cNvPr>
            <p:cNvSpPr txBox="1">
              <a:spLocks noChangeAspect="1" noChangeArrowheads="1"/>
            </p:cNvSpPr>
            <p:nvPr/>
          </p:nvSpPr>
          <p:spPr bwMode="auto">
            <a:xfrm>
              <a:off x="1048" y="1342"/>
              <a:ext cx="20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1800" b="1">
                  <a:solidFill>
                    <a:srgbClr val="0033CC"/>
                  </a:solidFill>
                  <a:latin typeface="Times New Roman" panose="02020603050405020304" pitchFamily="18" charset="0"/>
                </a:rPr>
                <a:t>c</a:t>
              </a:r>
              <a:endParaRPr kumimoji="1" lang="en-US" altLang="zh-CN" sz="1600" b="1">
                <a:solidFill>
                  <a:srgbClr val="0033CC"/>
                </a:solidFill>
                <a:latin typeface="Times New Roman" panose="02020603050405020304" pitchFamily="18" charset="0"/>
              </a:endParaRPr>
            </a:p>
          </p:txBody>
        </p:sp>
        <p:sp>
          <p:nvSpPr>
            <p:cNvPr id="96" name="Text Box 94">
              <a:extLst>
                <a:ext uri="{FF2B5EF4-FFF2-40B4-BE49-F238E27FC236}">
                  <a16:creationId xmlns:a16="http://schemas.microsoft.com/office/drawing/2014/main" id="{C509C9E2-5163-4DBE-AE06-680767D34FE1}"/>
                </a:ext>
              </a:extLst>
            </p:cNvPr>
            <p:cNvSpPr txBox="1">
              <a:spLocks noChangeAspect="1" noChangeArrowheads="1"/>
            </p:cNvSpPr>
            <p:nvPr/>
          </p:nvSpPr>
          <p:spPr bwMode="auto">
            <a:xfrm>
              <a:off x="914" y="1610"/>
              <a:ext cx="20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1800" b="1">
                  <a:solidFill>
                    <a:srgbClr val="0033CC"/>
                  </a:solidFill>
                  <a:latin typeface="Times New Roman" panose="02020603050405020304" pitchFamily="18" charset="0"/>
                </a:rPr>
                <a:t>d</a:t>
              </a:r>
              <a:endParaRPr kumimoji="1" lang="en-US" altLang="zh-CN" sz="1600" b="1">
                <a:solidFill>
                  <a:srgbClr val="0033CC"/>
                </a:solidFill>
                <a:latin typeface="Times New Roman" panose="02020603050405020304" pitchFamily="18" charset="0"/>
              </a:endParaRPr>
            </a:p>
          </p:txBody>
        </p:sp>
        <p:sp>
          <p:nvSpPr>
            <p:cNvPr id="97" name="Text Box 95">
              <a:extLst>
                <a:ext uri="{FF2B5EF4-FFF2-40B4-BE49-F238E27FC236}">
                  <a16:creationId xmlns:a16="http://schemas.microsoft.com/office/drawing/2014/main" id="{860B379F-C114-40E0-B1DA-4D15C4ED2363}"/>
                </a:ext>
              </a:extLst>
            </p:cNvPr>
            <p:cNvSpPr txBox="1">
              <a:spLocks noChangeAspect="1" noChangeArrowheads="1"/>
            </p:cNvSpPr>
            <p:nvPr/>
          </p:nvSpPr>
          <p:spPr bwMode="auto">
            <a:xfrm>
              <a:off x="1143" y="2073"/>
              <a:ext cx="2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1800" b="1">
                  <a:solidFill>
                    <a:srgbClr val="0033CC"/>
                  </a:solidFill>
                  <a:latin typeface="Times New Roman" panose="02020603050405020304" pitchFamily="18" charset="0"/>
                </a:rPr>
                <a:t>e</a:t>
              </a:r>
              <a:endParaRPr kumimoji="1" lang="en-US" altLang="zh-CN" sz="1600" b="1">
                <a:solidFill>
                  <a:srgbClr val="0033CC"/>
                </a:solidFill>
                <a:latin typeface="Times New Roman" panose="02020603050405020304" pitchFamily="18" charset="0"/>
              </a:endParaRPr>
            </a:p>
          </p:txBody>
        </p:sp>
        <p:sp>
          <p:nvSpPr>
            <p:cNvPr id="98" name="Text Box 96">
              <a:extLst>
                <a:ext uri="{FF2B5EF4-FFF2-40B4-BE49-F238E27FC236}">
                  <a16:creationId xmlns:a16="http://schemas.microsoft.com/office/drawing/2014/main" id="{A5219965-89A3-456B-BD90-FD22BC56E6B3}"/>
                </a:ext>
              </a:extLst>
            </p:cNvPr>
            <p:cNvSpPr txBox="1">
              <a:spLocks noChangeAspect="1" noChangeArrowheads="1"/>
            </p:cNvSpPr>
            <p:nvPr/>
          </p:nvSpPr>
          <p:spPr bwMode="auto">
            <a:xfrm>
              <a:off x="847" y="2314"/>
              <a:ext cx="2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1800" b="1">
                  <a:solidFill>
                    <a:srgbClr val="0033CC"/>
                  </a:solidFill>
                  <a:latin typeface="Times New Roman" panose="02020603050405020304" pitchFamily="18" charset="0"/>
                </a:rPr>
                <a:t>f</a:t>
              </a:r>
              <a:endParaRPr kumimoji="1" lang="en-US" altLang="zh-CN" sz="1600" b="1">
                <a:solidFill>
                  <a:srgbClr val="0033CC"/>
                </a:solidFill>
                <a:latin typeface="Times New Roman" panose="02020603050405020304" pitchFamily="18" charset="0"/>
              </a:endParaRPr>
            </a:p>
          </p:txBody>
        </p:sp>
        <p:sp>
          <p:nvSpPr>
            <p:cNvPr id="99" name="Text Box 97">
              <a:extLst>
                <a:ext uri="{FF2B5EF4-FFF2-40B4-BE49-F238E27FC236}">
                  <a16:creationId xmlns:a16="http://schemas.microsoft.com/office/drawing/2014/main" id="{E6E9A4F1-F7FF-454B-81D8-57BEBA1719C0}"/>
                </a:ext>
              </a:extLst>
            </p:cNvPr>
            <p:cNvSpPr txBox="1">
              <a:spLocks noChangeAspect="1" noChangeArrowheads="1"/>
            </p:cNvSpPr>
            <p:nvPr/>
          </p:nvSpPr>
          <p:spPr bwMode="auto">
            <a:xfrm>
              <a:off x="1082" y="2519"/>
              <a:ext cx="20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1800" b="1">
                  <a:solidFill>
                    <a:srgbClr val="0033CC"/>
                  </a:solidFill>
                  <a:latin typeface="Times New Roman" panose="02020603050405020304" pitchFamily="18" charset="0"/>
                </a:rPr>
                <a:t>g</a:t>
              </a:r>
              <a:endParaRPr kumimoji="1" lang="en-US" altLang="zh-CN" sz="1600" b="1">
                <a:solidFill>
                  <a:srgbClr val="0033CC"/>
                </a:solidFill>
                <a:latin typeface="Times New Roman" panose="02020603050405020304" pitchFamily="18" charset="0"/>
              </a:endParaRPr>
            </a:p>
          </p:txBody>
        </p:sp>
        <p:sp>
          <p:nvSpPr>
            <p:cNvPr id="100" name="Text Box 98">
              <a:extLst>
                <a:ext uri="{FF2B5EF4-FFF2-40B4-BE49-F238E27FC236}">
                  <a16:creationId xmlns:a16="http://schemas.microsoft.com/office/drawing/2014/main" id="{643DEAE7-B47C-4688-A6DA-16EDE6206AEB}"/>
                </a:ext>
              </a:extLst>
            </p:cNvPr>
            <p:cNvSpPr txBox="1">
              <a:spLocks noChangeAspect="1" noChangeArrowheads="1"/>
            </p:cNvSpPr>
            <p:nvPr/>
          </p:nvSpPr>
          <p:spPr bwMode="auto">
            <a:xfrm>
              <a:off x="1032" y="2783"/>
              <a:ext cx="2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1800" b="1">
                  <a:solidFill>
                    <a:srgbClr val="0033CC"/>
                  </a:solidFill>
                  <a:latin typeface="Times New Roman" panose="02020603050405020304" pitchFamily="18" charset="0"/>
                </a:rPr>
                <a:t>h</a:t>
              </a:r>
              <a:endParaRPr kumimoji="1" lang="en-US" altLang="zh-CN" sz="1600" b="1">
                <a:solidFill>
                  <a:srgbClr val="0033CC"/>
                </a:solidFill>
                <a:latin typeface="Times New Roman" panose="02020603050405020304" pitchFamily="18" charset="0"/>
              </a:endParaRPr>
            </a:p>
          </p:txBody>
        </p:sp>
        <p:sp>
          <p:nvSpPr>
            <p:cNvPr id="101" name="Text Box 99">
              <a:extLst>
                <a:ext uri="{FF2B5EF4-FFF2-40B4-BE49-F238E27FC236}">
                  <a16:creationId xmlns:a16="http://schemas.microsoft.com/office/drawing/2014/main" id="{FFBECFD0-870B-436C-9111-FA4076334645}"/>
                </a:ext>
              </a:extLst>
            </p:cNvPr>
            <p:cNvSpPr txBox="1">
              <a:spLocks noChangeAspect="1" noChangeArrowheads="1"/>
            </p:cNvSpPr>
            <p:nvPr/>
          </p:nvSpPr>
          <p:spPr bwMode="auto">
            <a:xfrm>
              <a:off x="2102" y="2505"/>
              <a:ext cx="20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r" eaLnBrk="1" hangingPunct="1">
                <a:spcBef>
                  <a:spcPct val="50000"/>
                </a:spcBef>
                <a:buFontTx/>
                <a:buNone/>
              </a:pPr>
              <a:r>
                <a:rPr kumimoji="1" lang="en-US" altLang="zh-CN" sz="1800" b="1">
                  <a:solidFill>
                    <a:srgbClr val="0033CC"/>
                  </a:solidFill>
                  <a:latin typeface="Times New Roman" panose="02020603050405020304" pitchFamily="18" charset="0"/>
                </a:rPr>
                <a:t>i</a:t>
              </a:r>
              <a:endParaRPr kumimoji="1" lang="en-US" altLang="zh-CN" sz="1600" b="1">
                <a:solidFill>
                  <a:srgbClr val="0033CC"/>
                </a:solidFill>
                <a:latin typeface="Times New Roman" panose="02020603050405020304" pitchFamily="18" charset="0"/>
              </a:endParaRPr>
            </a:p>
          </p:txBody>
        </p:sp>
        <p:sp>
          <p:nvSpPr>
            <p:cNvPr id="102" name="Text Box 100">
              <a:extLst>
                <a:ext uri="{FF2B5EF4-FFF2-40B4-BE49-F238E27FC236}">
                  <a16:creationId xmlns:a16="http://schemas.microsoft.com/office/drawing/2014/main" id="{7D418B72-A09C-410A-A1DF-69E8DB73684A}"/>
                </a:ext>
              </a:extLst>
            </p:cNvPr>
            <p:cNvSpPr txBox="1">
              <a:spLocks noChangeAspect="1" noChangeArrowheads="1"/>
            </p:cNvSpPr>
            <p:nvPr/>
          </p:nvSpPr>
          <p:spPr bwMode="auto">
            <a:xfrm>
              <a:off x="816" y="3088"/>
              <a:ext cx="20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1800" b="1">
                  <a:solidFill>
                    <a:srgbClr val="0033CC"/>
                  </a:solidFill>
                  <a:latin typeface="Times New Roman" panose="02020603050405020304" pitchFamily="18" charset="0"/>
                </a:rPr>
                <a:t>j</a:t>
              </a:r>
              <a:endParaRPr kumimoji="1" lang="en-US" altLang="zh-CN" sz="1600" b="1">
                <a:solidFill>
                  <a:srgbClr val="0033CC"/>
                </a:solidFill>
                <a:latin typeface="Times New Roman" panose="02020603050405020304" pitchFamily="18" charset="0"/>
              </a:endParaRPr>
            </a:p>
          </p:txBody>
        </p:sp>
        <p:sp>
          <p:nvSpPr>
            <p:cNvPr id="103" name="Text Box 101">
              <a:extLst>
                <a:ext uri="{FF2B5EF4-FFF2-40B4-BE49-F238E27FC236}">
                  <a16:creationId xmlns:a16="http://schemas.microsoft.com/office/drawing/2014/main" id="{318C32D3-A403-400E-AF1D-34143D4DEEF3}"/>
                </a:ext>
              </a:extLst>
            </p:cNvPr>
            <p:cNvSpPr txBox="1">
              <a:spLocks noChangeAspect="1" noChangeArrowheads="1"/>
            </p:cNvSpPr>
            <p:nvPr/>
          </p:nvSpPr>
          <p:spPr bwMode="auto">
            <a:xfrm>
              <a:off x="1143" y="3368"/>
              <a:ext cx="201"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1800" b="1">
                  <a:solidFill>
                    <a:srgbClr val="0033CC"/>
                  </a:solidFill>
                  <a:latin typeface="Times New Roman" panose="02020603050405020304" pitchFamily="18" charset="0"/>
                </a:rPr>
                <a:t>k</a:t>
              </a:r>
              <a:endParaRPr kumimoji="1" lang="en-US" altLang="zh-CN" sz="1600" b="1">
                <a:solidFill>
                  <a:srgbClr val="0033CC"/>
                </a:solidFill>
                <a:latin typeface="Times New Roman" panose="02020603050405020304" pitchFamily="18" charset="0"/>
              </a:endParaRPr>
            </a:p>
          </p:txBody>
        </p:sp>
      </p:grpSp>
      <p:grpSp>
        <p:nvGrpSpPr>
          <p:cNvPr id="104" name="Group 102">
            <a:extLst>
              <a:ext uri="{FF2B5EF4-FFF2-40B4-BE49-F238E27FC236}">
                <a16:creationId xmlns:a16="http://schemas.microsoft.com/office/drawing/2014/main" id="{5B436F25-03B9-4DA5-82C3-59C730D21C50}"/>
              </a:ext>
            </a:extLst>
          </p:cNvPr>
          <p:cNvGrpSpPr>
            <a:grpSpLocks/>
          </p:cNvGrpSpPr>
          <p:nvPr/>
        </p:nvGrpSpPr>
        <p:grpSpPr bwMode="auto">
          <a:xfrm>
            <a:off x="3953598" y="3308552"/>
            <a:ext cx="1589599" cy="513959"/>
            <a:chOff x="2304" y="902"/>
            <a:chExt cx="1152" cy="394"/>
          </a:xfrm>
        </p:grpSpPr>
        <p:sp>
          <p:nvSpPr>
            <p:cNvPr id="105" name="AutoShape 103">
              <a:extLst>
                <a:ext uri="{FF2B5EF4-FFF2-40B4-BE49-F238E27FC236}">
                  <a16:creationId xmlns:a16="http://schemas.microsoft.com/office/drawing/2014/main" id="{2B5F1634-3431-4E90-BF0B-8DA3176779A4}"/>
                </a:ext>
              </a:extLst>
            </p:cNvPr>
            <p:cNvSpPr>
              <a:spLocks noChangeArrowheads="1"/>
            </p:cNvSpPr>
            <p:nvPr/>
          </p:nvSpPr>
          <p:spPr bwMode="auto">
            <a:xfrm>
              <a:off x="2304" y="1152"/>
              <a:ext cx="1152" cy="144"/>
            </a:xfrm>
            <a:prstGeom prst="rightArrow">
              <a:avLst>
                <a:gd name="adj1" fmla="val 50000"/>
                <a:gd name="adj2" fmla="val 200000"/>
              </a:avLst>
            </a:prstGeom>
            <a:solidFill>
              <a:srgbClr val="00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1"/>
                </a:solidFill>
              </a:endParaRPr>
            </a:p>
          </p:txBody>
        </p:sp>
        <p:sp>
          <p:nvSpPr>
            <p:cNvPr id="106" name="Text Box 104">
              <a:extLst>
                <a:ext uri="{FF2B5EF4-FFF2-40B4-BE49-F238E27FC236}">
                  <a16:creationId xmlns:a16="http://schemas.microsoft.com/office/drawing/2014/main" id="{C7DE4AF8-D33E-4D33-AE52-D05D955CA855}"/>
                </a:ext>
              </a:extLst>
            </p:cNvPr>
            <p:cNvSpPr txBox="1">
              <a:spLocks noChangeArrowheads="1"/>
            </p:cNvSpPr>
            <p:nvPr/>
          </p:nvSpPr>
          <p:spPr bwMode="auto">
            <a:xfrm>
              <a:off x="2352" y="902"/>
              <a:ext cx="960" cy="308"/>
            </a:xfrm>
            <a:prstGeom prst="rect">
              <a:avLst/>
            </a:prstGeom>
            <a:noFill/>
            <a:ln>
              <a:noFill/>
            </a:ln>
            <a:effectLst/>
            <a:extLst>
              <a:ext uri="{909E8E84-426E-40DD-AFC4-6F175D3DCCD1}">
                <a14:hiddenFill xmlns:a14="http://schemas.microsoft.com/office/drawing/2010/main">
                  <a:gradFill rotWithShape="0">
                    <a:gsLst>
                      <a:gs pos="0">
                        <a:srgbClr val="C0C0C0"/>
                      </a:gs>
                      <a:gs pos="100000">
                        <a:srgbClr val="FFFFFF"/>
                      </a:gs>
                    </a:gsLst>
                    <a:lin ang="27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zh-CN" altLang="en-US" sz="2000" b="1" dirty="0">
                  <a:solidFill>
                    <a:schemeClr val="tx1"/>
                  </a:solidFill>
                </a:rPr>
                <a:t>有向图</a:t>
              </a:r>
              <a:endParaRPr kumimoji="1" lang="en-US" altLang="zh-CN" sz="2000" b="1" dirty="0">
                <a:solidFill>
                  <a:schemeClr val="tx1"/>
                </a:solidFill>
              </a:endParaRPr>
            </a:p>
          </p:txBody>
        </p:sp>
      </p:grpSp>
      <p:grpSp>
        <p:nvGrpSpPr>
          <p:cNvPr id="110" name="Group 115">
            <a:extLst>
              <a:ext uri="{FF2B5EF4-FFF2-40B4-BE49-F238E27FC236}">
                <a16:creationId xmlns:a16="http://schemas.microsoft.com/office/drawing/2014/main" id="{7CD6A5DB-B3A1-4EC7-8116-CD9D588E0A1C}"/>
              </a:ext>
            </a:extLst>
          </p:cNvPr>
          <p:cNvGrpSpPr>
            <a:grpSpLocks/>
          </p:cNvGrpSpPr>
          <p:nvPr/>
        </p:nvGrpSpPr>
        <p:grpSpPr bwMode="auto">
          <a:xfrm>
            <a:off x="6027528" y="4285596"/>
            <a:ext cx="1026616" cy="1690586"/>
            <a:chOff x="4200" y="1680"/>
            <a:chExt cx="744" cy="1296"/>
          </a:xfrm>
        </p:grpSpPr>
        <p:sp>
          <p:nvSpPr>
            <p:cNvPr id="111" name="Line 116">
              <a:extLst>
                <a:ext uri="{FF2B5EF4-FFF2-40B4-BE49-F238E27FC236}">
                  <a16:creationId xmlns:a16="http://schemas.microsoft.com/office/drawing/2014/main" id="{9C07F86E-D13B-4410-9B8A-586163C08577}"/>
                </a:ext>
              </a:extLst>
            </p:cNvPr>
            <p:cNvSpPr>
              <a:spLocks noChangeShapeType="1"/>
            </p:cNvSpPr>
            <p:nvPr/>
          </p:nvSpPr>
          <p:spPr bwMode="auto">
            <a:xfrm>
              <a:off x="4200" y="1698"/>
              <a:ext cx="120" cy="78"/>
            </a:xfrm>
            <a:prstGeom prst="line">
              <a:avLst/>
            </a:prstGeom>
            <a:noFill/>
            <a:ln w="25400">
              <a:solidFill>
                <a:schemeClr val="tx1"/>
              </a:solidFill>
              <a:round/>
              <a:headEnd/>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 name="Oval 117">
              <a:extLst>
                <a:ext uri="{FF2B5EF4-FFF2-40B4-BE49-F238E27FC236}">
                  <a16:creationId xmlns:a16="http://schemas.microsoft.com/office/drawing/2014/main" id="{FD03A917-55A8-4DCE-8305-E17471148CE0}"/>
                </a:ext>
              </a:extLst>
            </p:cNvPr>
            <p:cNvSpPr>
              <a:spLocks noChangeArrowheads="1"/>
            </p:cNvSpPr>
            <p:nvPr/>
          </p:nvSpPr>
          <p:spPr bwMode="auto">
            <a:xfrm>
              <a:off x="4320" y="1776"/>
              <a:ext cx="66" cy="61"/>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1"/>
                </a:solidFill>
              </a:endParaRPr>
            </a:p>
          </p:txBody>
        </p:sp>
        <p:sp>
          <p:nvSpPr>
            <p:cNvPr id="113" name="Line 118">
              <a:extLst>
                <a:ext uri="{FF2B5EF4-FFF2-40B4-BE49-F238E27FC236}">
                  <a16:creationId xmlns:a16="http://schemas.microsoft.com/office/drawing/2014/main" id="{F807B980-C24A-433E-9B6A-D4BA37A9E217}"/>
                </a:ext>
              </a:extLst>
            </p:cNvPr>
            <p:cNvSpPr>
              <a:spLocks noChangeShapeType="1"/>
            </p:cNvSpPr>
            <p:nvPr/>
          </p:nvSpPr>
          <p:spPr bwMode="auto">
            <a:xfrm flipH="1">
              <a:off x="4224" y="1824"/>
              <a:ext cx="96" cy="96"/>
            </a:xfrm>
            <a:prstGeom prst="line">
              <a:avLst/>
            </a:prstGeom>
            <a:noFill/>
            <a:ln w="25400">
              <a:solidFill>
                <a:schemeClr val="tx1"/>
              </a:solidFill>
              <a:round/>
              <a:headEnd/>
              <a:tailEnd type="arrow"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4" name="Arc 119">
              <a:extLst>
                <a:ext uri="{FF2B5EF4-FFF2-40B4-BE49-F238E27FC236}">
                  <a16:creationId xmlns:a16="http://schemas.microsoft.com/office/drawing/2014/main" id="{95616EF2-4A19-4A03-895F-90AEA7A43F4F}"/>
                </a:ext>
              </a:extLst>
            </p:cNvPr>
            <p:cNvSpPr>
              <a:spLocks/>
            </p:cNvSpPr>
            <p:nvPr/>
          </p:nvSpPr>
          <p:spPr bwMode="auto">
            <a:xfrm>
              <a:off x="4224" y="1824"/>
              <a:ext cx="720" cy="1152"/>
            </a:xfrm>
            <a:custGeom>
              <a:avLst/>
              <a:gdLst>
                <a:gd name="T0" fmla="*/ 0 w 21600"/>
                <a:gd name="T1" fmla="*/ 0 h 42688"/>
                <a:gd name="T2" fmla="*/ 0 w 21600"/>
                <a:gd name="T3" fmla="*/ 0 h 42688"/>
                <a:gd name="T4" fmla="*/ 0 w 21600"/>
                <a:gd name="T5" fmla="*/ 0 h 42688"/>
                <a:gd name="T6" fmla="*/ 0 60000 65536"/>
                <a:gd name="T7" fmla="*/ 0 60000 65536"/>
                <a:gd name="T8" fmla="*/ 0 60000 65536"/>
              </a:gdLst>
              <a:ahLst/>
              <a:cxnLst>
                <a:cxn ang="T6">
                  <a:pos x="T0" y="T1"/>
                </a:cxn>
                <a:cxn ang="T7">
                  <a:pos x="T2" y="T3"/>
                </a:cxn>
                <a:cxn ang="T8">
                  <a:pos x="T4" y="T5"/>
                </a:cxn>
              </a:cxnLst>
              <a:rect l="0" t="0" r="r" b="b"/>
              <a:pathLst>
                <a:path w="21600" h="42688" fill="none" extrusionOk="0">
                  <a:moveTo>
                    <a:pt x="4649" y="0"/>
                  </a:moveTo>
                  <a:cubicBezTo>
                    <a:pt x="14549" y="2182"/>
                    <a:pt x="21600" y="10956"/>
                    <a:pt x="21600" y="21094"/>
                  </a:cubicBezTo>
                  <a:cubicBezTo>
                    <a:pt x="21600" y="32820"/>
                    <a:pt x="12243" y="42404"/>
                    <a:pt x="520" y="42687"/>
                  </a:cubicBezTo>
                </a:path>
                <a:path w="21600" h="42688" stroke="0" extrusionOk="0">
                  <a:moveTo>
                    <a:pt x="4649" y="0"/>
                  </a:moveTo>
                  <a:cubicBezTo>
                    <a:pt x="14549" y="2182"/>
                    <a:pt x="21600" y="10956"/>
                    <a:pt x="21600" y="21094"/>
                  </a:cubicBezTo>
                  <a:cubicBezTo>
                    <a:pt x="21600" y="32820"/>
                    <a:pt x="12243" y="42404"/>
                    <a:pt x="520" y="42687"/>
                  </a:cubicBezTo>
                  <a:lnTo>
                    <a:pt x="0" y="21094"/>
                  </a:lnTo>
                  <a:lnTo>
                    <a:pt x="4649" y="0"/>
                  </a:lnTo>
                  <a:close/>
                </a:path>
              </a:pathLst>
            </a:custGeom>
            <a:noFill/>
            <a:ln w="25400">
              <a:solidFill>
                <a:schemeClr val="tx1"/>
              </a:solidFill>
              <a:round/>
              <a:headEnd/>
              <a:tailEnd type="arrow"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5" name="Text Box 120">
              <a:extLst>
                <a:ext uri="{FF2B5EF4-FFF2-40B4-BE49-F238E27FC236}">
                  <a16:creationId xmlns:a16="http://schemas.microsoft.com/office/drawing/2014/main" id="{E437F50E-BC7F-4785-845B-CA4729CF71CA}"/>
                </a:ext>
              </a:extLst>
            </p:cNvPr>
            <p:cNvSpPr txBox="1">
              <a:spLocks noChangeArrowheads="1"/>
            </p:cNvSpPr>
            <p:nvPr/>
          </p:nvSpPr>
          <p:spPr bwMode="auto">
            <a:xfrm>
              <a:off x="4320" y="1680"/>
              <a:ext cx="181"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900" b="1">
                  <a:solidFill>
                    <a:srgbClr val="0033CC"/>
                  </a:solidFill>
                  <a:latin typeface="Times New Roman" panose="02020603050405020304" pitchFamily="18" charset="0"/>
                </a:rPr>
                <a:t>d’</a:t>
              </a:r>
            </a:p>
          </p:txBody>
        </p:sp>
      </p:grpSp>
      <p:sp>
        <p:nvSpPr>
          <p:cNvPr id="116" name="Line 121">
            <a:extLst>
              <a:ext uri="{FF2B5EF4-FFF2-40B4-BE49-F238E27FC236}">
                <a16:creationId xmlns:a16="http://schemas.microsoft.com/office/drawing/2014/main" id="{7AF7FBBD-5E76-4AD7-8D98-309B57153CF9}"/>
              </a:ext>
            </a:extLst>
          </p:cNvPr>
          <p:cNvSpPr>
            <a:spLocks noChangeShapeType="1"/>
          </p:cNvSpPr>
          <p:nvPr/>
        </p:nvSpPr>
        <p:spPr bwMode="auto">
          <a:xfrm>
            <a:off x="6027528" y="4309076"/>
            <a:ext cx="0" cy="266111"/>
          </a:xfrm>
          <a:prstGeom prst="line">
            <a:avLst/>
          </a:prstGeom>
          <a:noFill/>
          <a:ln w="28575">
            <a:solidFill>
              <a:schemeClr val="bg1"/>
            </a:solidFill>
            <a:round/>
            <a:headEnd/>
            <a:tailEnd type="arrow"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17" name="Group 122">
            <a:extLst>
              <a:ext uri="{FF2B5EF4-FFF2-40B4-BE49-F238E27FC236}">
                <a16:creationId xmlns:a16="http://schemas.microsoft.com/office/drawing/2014/main" id="{F34CC5EB-0A84-42C0-ACC2-5DB05E225424}"/>
              </a:ext>
            </a:extLst>
          </p:cNvPr>
          <p:cNvGrpSpPr>
            <a:grpSpLocks/>
          </p:cNvGrpSpPr>
          <p:nvPr/>
        </p:nvGrpSpPr>
        <p:grpSpPr bwMode="auto">
          <a:xfrm>
            <a:off x="5087845" y="4384736"/>
            <a:ext cx="1808997" cy="1618841"/>
            <a:chOff x="3519" y="1756"/>
            <a:chExt cx="1311" cy="1241"/>
          </a:xfrm>
        </p:grpSpPr>
        <p:grpSp>
          <p:nvGrpSpPr>
            <p:cNvPr id="118" name="Group 123">
              <a:extLst>
                <a:ext uri="{FF2B5EF4-FFF2-40B4-BE49-F238E27FC236}">
                  <a16:creationId xmlns:a16="http://schemas.microsoft.com/office/drawing/2014/main" id="{88CB4FDE-8245-465F-B5C8-2064954E2971}"/>
                </a:ext>
              </a:extLst>
            </p:cNvPr>
            <p:cNvGrpSpPr>
              <a:grpSpLocks/>
            </p:cNvGrpSpPr>
            <p:nvPr/>
          </p:nvGrpSpPr>
          <p:grpSpPr bwMode="auto">
            <a:xfrm>
              <a:off x="3519" y="2160"/>
              <a:ext cx="1198" cy="837"/>
              <a:chOff x="3251" y="2160"/>
              <a:chExt cx="1198" cy="837"/>
            </a:xfrm>
          </p:grpSpPr>
          <p:sp>
            <p:nvSpPr>
              <p:cNvPr id="120" name="Text Box 124">
                <a:extLst>
                  <a:ext uri="{FF2B5EF4-FFF2-40B4-BE49-F238E27FC236}">
                    <a16:creationId xmlns:a16="http://schemas.microsoft.com/office/drawing/2014/main" id="{140CF0D2-DF42-4902-A579-E28A17F6BDB7}"/>
                  </a:ext>
                </a:extLst>
              </p:cNvPr>
              <p:cNvSpPr txBox="1">
                <a:spLocks noChangeArrowheads="1"/>
              </p:cNvSpPr>
              <p:nvPr/>
            </p:nvSpPr>
            <p:spPr bwMode="auto">
              <a:xfrm>
                <a:off x="4080" y="2208"/>
                <a:ext cx="369" cy="261"/>
              </a:xfrm>
              <a:prstGeom prst="rect">
                <a:avLst/>
              </a:prstGeom>
              <a:noFill/>
              <a:ln>
                <a:noFill/>
              </a:ln>
              <a:effectLst/>
              <a:extLst>
                <a:ext uri="{909E8E84-426E-40DD-AFC4-6F175D3DCCD1}">
                  <a14:hiddenFill xmlns:a14="http://schemas.microsoft.com/office/drawing/2010/main">
                    <a:gradFill rotWithShape="0">
                      <a:gsLst>
                        <a:gs pos="0">
                          <a:srgbClr val="C0C0C0"/>
                        </a:gs>
                        <a:gs pos="100000">
                          <a:srgbClr val="FFFFFF"/>
                        </a:gs>
                      </a:gsLst>
                      <a:lin ang="27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600" b="1" dirty="0">
                    <a:solidFill>
                      <a:srgbClr val="FF0000"/>
                    </a:solidFill>
                    <a:latin typeface="Times New Roman" panose="02020603050405020304" pitchFamily="18" charset="0"/>
                  </a:rPr>
                  <a:t>R1</a:t>
                </a:r>
              </a:p>
            </p:txBody>
          </p:sp>
          <p:sp>
            <p:nvSpPr>
              <p:cNvPr id="121" name="Text Box 125">
                <a:extLst>
                  <a:ext uri="{FF2B5EF4-FFF2-40B4-BE49-F238E27FC236}">
                    <a16:creationId xmlns:a16="http://schemas.microsoft.com/office/drawing/2014/main" id="{83A17A08-9931-4109-8740-55818BF84827}"/>
                  </a:ext>
                </a:extLst>
              </p:cNvPr>
              <p:cNvSpPr txBox="1">
                <a:spLocks noChangeArrowheads="1"/>
              </p:cNvSpPr>
              <p:nvPr/>
            </p:nvSpPr>
            <p:spPr bwMode="auto">
              <a:xfrm>
                <a:off x="3456" y="2160"/>
                <a:ext cx="336" cy="260"/>
              </a:xfrm>
              <a:prstGeom prst="rect">
                <a:avLst/>
              </a:prstGeom>
              <a:noFill/>
              <a:ln>
                <a:noFill/>
              </a:ln>
              <a:effectLst/>
              <a:extLst>
                <a:ext uri="{909E8E84-426E-40DD-AFC4-6F175D3DCCD1}">
                  <a14:hiddenFill xmlns:a14="http://schemas.microsoft.com/office/drawing/2010/main">
                    <a:gradFill rotWithShape="0">
                      <a:gsLst>
                        <a:gs pos="0">
                          <a:srgbClr val="C0C0C0"/>
                        </a:gs>
                        <a:gs pos="100000">
                          <a:srgbClr val="FFFFFF"/>
                        </a:gs>
                      </a:gsLst>
                      <a:lin ang="27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600" b="1" dirty="0">
                    <a:solidFill>
                      <a:srgbClr val="FF0000"/>
                    </a:solidFill>
                    <a:latin typeface="Times New Roman" panose="02020603050405020304" pitchFamily="18" charset="0"/>
                  </a:rPr>
                  <a:t>R2</a:t>
                </a:r>
              </a:p>
            </p:txBody>
          </p:sp>
          <p:sp>
            <p:nvSpPr>
              <p:cNvPr id="122" name="Text Box 126">
                <a:extLst>
                  <a:ext uri="{FF2B5EF4-FFF2-40B4-BE49-F238E27FC236}">
                    <a16:creationId xmlns:a16="http://schemas.microsoft.com/office/drawing/2014/main" id="{DC6A0C71-F5C8-4B1D-9810-DBC9A3A5FAB5}"/>
                  </a:ext>
                </a:extLst>
              </p:cNvPr>
              <p:cNvSpPr txBox="1">
                <a:spLocks noChangeArrowheads="1"/>
              </p:cNvSpPr>
              <p:nvPr/>
            </p:nvSpPr>
            <p:spPr bwMode="auto">
              <a:xfrm>
                <a:off x="3251" y="2736"/>
                <a:ext cx="493" cy="261"/>
              </a:xfrm>
              <a:prstGeom prst="rect">
                <a:avLst/>
              </a:prstGeom>
              <a:noFill/>
              <a:ln>
                <a:noFill/>
              </a:ln>
              <a:effectLst/>
              <a:extLst>
                <a:ext uri="{909E8E84-426E-40DD-AFC4-6F175D3DCCD1}">
                  <a14:hiddenFill xmlns:a14="http://schemas.microsoft.com/office/drawing/2010/main">
                    <a:gradFill rotWithShape="0">
                      <a:gsLst>
                        <a:gs pos="0">
                          <a:srgbClr val="C0C0C0"/>
                        </a:gs>
                        <a:gs pos="100000">
                          <a:srgbClr val="FFFFFF"/>
                        </a:gs>
                      </a:gsLst>
                      <a:lin ang="27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600" b="1" dirty="0">
                    <a:solidFill>
                      <a:srgbClr val="FF0000"/>
                    </a:solidFill>
                    <a:latin typeface="Times New Roman" panose="02020603050405020304" pitchFamily="18" charset="0"/>
                  </a:rPr>
                  <a:t>R3</a:t>
                </a:r>
              </a:p>
            </p:txBody>
          </p:sp>
        </p:grpSp>
        <p:sp>
          <p:nvSpPr>
            <p:cNvPr id="119" name="Rectangle 127">
              <a:extLst>
                <a:ext uri="{FF2B5EF4-FFF2-40B4-BE49-F238E27FC236}">
                  <a16:creationId xmlns:a16="http://schemas.microsoft.com/office/drawing/2014/main" id="{1658F0C7-8BFC-4D9F-86E6-52605AD9C828}"/>
                </a:ext>
              </a:extLst>
            </p:cNvPr>
            <p:cNvSpPr>
              <a:spLocks noChangeArrowheads="1"/>
            </p:cNvSpPr>
            <p:nvPr/>
          </p:nvSpPr>
          <p:spPr bwMode="auto">
            <a:xfrm>
              <a:off x="4560" y="1756"/>
              <a:ext cx="270" cy="212"/>
            </a:xfrm>
            <a:prstGeom prst="rect">
              <a:avLst/>
            </a:prstGeom>
            <a:noFill/>
            <a:ln>
              <a:noFill/>
            </a:ln>
            <a:effectLst/>
            <a:extLst>
              <a:ext uri="{909E8E84-426E-40DD-AFC4-6F175D3DCCD1}">
                <a14:hiddenFill xmlns:a14="http://schemas.microsoft.com/office/drawing/2010/main">
                  <a:gradFill rotWithShape="0">
                    <a:gsLst>
                      <a:gs pos="0">
                        <a:srgbClr val="C0C0C0"/>
                      </a:gs>
                      <a:gs pos="100000">
                        <a:srgbClr val="FFFFFF"/>
                      </a:gs>
                    </a:gsLst>
                    <a:lin ang="27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600" b="1">
                  <a:solidFill>
                    <a:srgbClr val="FF0000"/>
                  </a:solidFill>
                  <a:latin typeface="Times New Roman" panose="02020603050405020304" pitchFamily="18" charset="0"/>
                </a:rPr>
                <a:t>R4</a:t>
              </a:r>
            </a:p>
          </p:txBody>
        </p:sp>
      </p:grpSp>
      <p:grpSp>
        <p:nvGrpSpPr>
          <p:cNvPr id="124" name="Group 134">
            <a:extLst>
              <a:ext uri="{FF2B5EF4-FFF2-40B4-BE49-F238E27FC236}">
                <a16:creationId xmlns:a16="http://schemas.microsoft.com/office/drawing/2014/main" id="{60223E4E-30B2-48CD-AD39-420A3D1CED0E}"/>
              </a:ext>
            </a:extLst>
          </p:cNvPr>
          <p:cNvGrpSpPr>
            <a:grpSpLocks/>
          </p:cNvGrpSpPr>
          <p:nvPr/>
        </p:nvGrpSpPr>
        <p:grpSpPr bwMode="auto">
          <a:xfrm>
            <a:off x="7054144" y="3212891"/>
            <a:ext cx="5689774" cy="1116622"/>
            <a:chOff x="5557" y="-718"/>
            <a:chExt cx="3527" cy="856"/>
          </a:xfrm>
        </p:grpSpPr>
        <p:sp>
          <p:nvSpPr>
            <p:cNvPr id="125" name="Text Box 135">
              <a:extLst>
                <a:ext uri="{FF2B5EF4-FFF2-40B4-BE49-F238E27FC236}">
                  <a16:creationId xmlns:a16="http://schemas.microsoft.com/office/drawing/2014/main" id="{059A5C59-85EB-4501-B747-8C98AFF3ADAD}"/>
                </a:ext>
              </a:extLst>
            </p:cNvPr>
            <p:cNvSpPr txBox="1">
              <a:spLocks noChangeArrowheads="1"/>
            </p:cNvSpPr>
            <p:nvPr/>
          </p:nvSpPr>
          <p:spPr bwMode="auto">
            <a:xfrm>
              <a:off x="5557" y="-556"/>
              <a:ext cx="1270" cy="285"/>
            </a:xfrm>
            <a:prstGeom prst="rect">
              <a:avLst/>
            </a:prstGeom>
            <a:noFill/>
            <a:ln>
              <a:noFill/>
            </a:ln>
            <a:effectLst/>
            <a:extLst>
              <a:ext uri="{909E8E84-426E-40DD-AFC4-6F175D3DCCD1}">
                <a14:hiddenFill xmlns:a14="http://schemas.microsoft.com/office/drawing/2010/main">
                  <a:gradFill rotWithShape="0">
                    <a:gsLst>
                      <a:gs pos="0">
                        <a:srgbClr val="C0C0C0"/>
                      </a:gs>
                      <a:gs pos="100000">
                        <a:srgbClr val="FFFFFF"/>
                      </a:gs>
                    </a:gsLst>
                    <a:lin ang="27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zh-CN" altLang="en-US" sz="1800" b="1" dirty="0">
                  <a:solidFill>
                    <a:srgbClr val="0033CC"/>
                  </a:solidFill>
                </a:rPr>
                <a:t>环形复杂度</a:t>
              </a:r>
              <a:r>
                <a:rPr kumimoji="1" lang="en-US" altLang="zh-CN" sz="1800" b="1" dirty="0">
                  <a:solidFill>
                    <a:srgbClr val="0033CC"/>
                  </a:solidFill>
                </a:rPr>
                <a:t>= </a:t>
              </a:r>
            </a:p>
          </p:txBody>
        </p:sp>
        <p:sp>
          <p:nvSpPr>
            <p:cNvPr id="126" name="Text Box 136">
              <a:extLst>
                <a:ext uri="{FF2B5EF4-FFF2-40B4-BE49-F238E27FC236}">
                  <a16:creationId xmlns:a16="http://schemas.microsoft.com/office/drawing/2014/main" id="{0451D871-208A-45A7-92DA-312277F8CE5E}"/>
                </a:ext>
              </a:extLst>
            </p:cNvPr>
            <p:cNvSpPr txBox="1">
              <a:spLocks noChangeArrowheads="1"/>
            </p:cNvSpPr>
            <p:nvPr/>
          </p:nvSpPr>
          <p:spPr bwMode="auto">
            <a:xfrm>
              <a:off x="6945" y="-718"/>
              <a:ext cx="2139" cy="285"/>
            </a:xfrm>
            <a:prstGeom prst="rect">
              <a:avLst/>
            </a:prstGeom>
            <a:noFill/>
            <a:ln>
              <a:noFill/>
            </a:ln>
            <a:effectLst/>
            <a:extLst>
              <a:ext uri="{909E8E84-426E-40DD-AFC4-6F175D3DCCD1}">
                <a14:hiddenFill xmlns:a14="http://schemas.microsoft.com/office/drawing/2010/main">
                  <a:gradFill rotWithShape="0">
                    <a:gsLst>
                      <a:gs pos="0">
                        <a:srgbClr val="C0C0C0"/>
                      </a:gs>
                      <a:gs pos="100000">
                        <a:srgbClr val="FFFFFF"/>
                      </a:gs>
                    </a:gsLst>
                    <a:lin ang="27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800" b="1" dirty="0">
                  <a:solidFill>
                    <a:schemeClr val="tx1"/>
                  </a:solidFill>
                  <a:latin typeface="Times New Roman" panose="02020603050405020304" pitchFamily="18" charset="0"/>
                </a:rPr>
                <a:t># of regions </a:t>
              </a:r>
              <a:r>
                <a:rPr kumimoji="1" lang="zh-CN" altLang="en-US" sz="1800" b="1" dirty="0">
                  <a:solidFill>
                    <a:schemeClr val="tx1"/>
                  </a:solidFill>
                  <a:latin typeface="Times New Roman" panose="02020603050405020304" pitchFamily="18" charset="0"/>
                </a:rPr>
                <a:t>（连通域个数）</a:t>
              </a:r>
              <a:endParaRPr kumimoji="1" lang="en-US" altLang="zh-CN" sz="1800" b="1" dirty="0">
                <a:solidFill>
                  <a:schemeClr val="tx1"/>
                </a:solidFill>
                <a:latin typeface="Times New Roman" panose="02020603050405020304" pitchFamily="18" charset="0"/>
              </a:endParaRPr>
            </a:p>
          </p:txBody>
        </p:sp>
        <p:sp>
          <p:nvSpPr>
            <p:cNvPr id="127" name="Text Box 137">
              <a:extLst>
                <a:ext uri="{FF2B5EF4-FFF2-40B4-BE49-F238E27FC236}">
                  <a16:creationId xmlns:a16="http://schemas.microsoft.com/office/drawing/2014/main" id="{7D5B7365-1841-4EFF-A3FA-BBD4A4D513EE}"/>
                </a:ext>
              </a:extLst>
            </p:cNvPr>
            <p:cNvSpPr txBox="1">
              <a:spLocks noChangeArrowheads="1"/>
            </p:cNvSpPr>
            <p:nvPr/>
          </p:nvSpPr>
          <p:spPr bwMode="auto">
            <a:xfrm>
              <a:off x="6945" y="-540"/>
              <a:ext cx="1760" cy="285"/>
            </a:xfrm>
            <a:prstGeom prst="rect">
              <a:avLst/>
            </a:prstGeom>
            <a:noFill/>
            <a:ln>
              <a:noFill/>
            </a:ln>
            <a:effectLst/>
            <a:extLst>
              <a:ext uri="{909E8E84-426E-40DD-AFC4-6F175D3DCCD1}">
                <a14:hiddenFill xmlns:a14="http://schemas.microsoft.com/office/drawing/2010/main">
                  <a:gradFill rotWithShape="0">
                    <a:gsLst>
                      <a:gs pos="0">
                        <a:srgbClr val="C0C0C0"/>
                      </a:gs>
                      <a:gs pos="100000">
                        <a:srgbClr val="FFFFFF"/>
                      </a:gs>
                    </a:gsLst>
                    <a:lin ang="27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800" b="1" i="1" dirty="0">
                  <a:solidFill>
                    <a:schemeClr val="tx1"/>
                  </a:solidFill>
                  <a:latin typeface="Times New Roman" panose="02020603050405020304" pitchFamily="18" charset="0"/>
                </a:rPr>
                <a:t>E</a:t>
              </a:r>
              <a:r>
                <a:rPr kumimoji="1" lang="en-US" altLang="zh-CN" sz="1800" b="1" dirty="0">
                  <a:solidFill>
                    <a:schemeClr val="tx1"/>
                  </a:solidFill>
                  <a:latin typeface="Times New Roman" panose="02020603050405020304" pitchFamily="18" charset="0"/>
                </a:rPr>
                <a:t> </a:t>
              </a:r>
              <a:r>
                <a:rPr kumimoji="1" lang="zh-CN" altLang="en-US" sz="1800" b="1" dirty="0">
                  <a:solidFill>
                    <a:schemeClr val="tx1"/>
                  </a:solidFill>
                  <a:latin typeface="Times New Roman" panose="02020603050405020304" pitchFamily="18" charset="0"/>
                </a:rPr>
                <a:t>（边）</a:t>
              </a:r>
              <a:r>
                <a:rPr kumimoji="1" lang="en-US" altLang="zh-CN" sz="1800" b="1" dirty="0">
                  <a:solidFill>
                    <a:schemeClr val="tx1"/>
                  </a:solidFill>
                  <a:latin typeface="Times New Roman" panose="02020603050405020304" pitchFamily="18" charset="0"/>
                  <a:sym typeface="Symbol" panose="05050102010706020507" pitchFamily="18" charset="2"/>
                </a:rPr>
                <a:t> </a:t>
              </a:r>
              <a:r>
                <a:rPr kumimoji="1" lang="en-US" altLang="zh-CN" sz="1800" b="1" i="1" dirty="0">
                  <a:solidFill>
                    <a:schemeClr val="tx1"/>
                  </a:solidFill>
                  <a:latin typeface="Times New Roman" panose="02020603050405020304" pitchFamily="18" charset="0"/>
                </a:rPr>
                <a:t>N</a:t>
              </a:r>
              <a:r>
                <a:rPr kumimoji="1" lang="en-US" altLang="zh-CN" sz="1800" b="1" dirty="0">
                  <a:solidFill>
                    <a:schemeClr val="tx1"/>
                  </a:solidFill>
                  <a:latin typeface="Times New Roman" panose="02020603050405020304" pitchFamily="18" charset="0"/>
                </a:rPr>
                <a:t> </a:t>
              </a:r>
              <a:r>
                <a:rPr kumimoji="1" lang="zh-CN" altLang="en-US" sz="1800" b="1" dirty="0">
                  <a:solidFill>
                    <a:schemeClr val="tx1"/>
                  </a:solidFill>
                  <a:latin typeface="Times New Roman" panose="02020603050405020304" pitchFamily="18" charset="0"/>
                </a:rPr>
                <a:t>（点）</a:t>
              </a:r>
              <a:r>
                <a:rPr kumimoji="1" lang="en-US" altLang="zh-CN" sz="1800" b="1" dirty="0">
                  <a:solidFill>
                    <a:schemeClr val="tx1"/>
                  </a:solidFill>
                  <a:latin typeface="Times New Roman" panose="02020603050405020304" pitchFamily="18" charset="0"/>
                </a:rPr>
                <a:t>+ 2</a:t>
              </a:r>
            </a:p>
          </p:txBody>
        </p:sp>
        <p:sp>
          <p:nvSpPr>
            <p:cNvPr id="128" name="Text Box 138">
              <a:extLst>
                <a:ext uri="{FF2B5EF4-FFF2-40B4-BE49-F238E27FC236}">
                  <a16:creationId xmlns:a16="http://schemas.microsoft.com/office/drawing/2014/main" id="{EAA1D316-8A03-4BA7-B1D1-CC202F0E09A9}"/>
                </a:ext>
              </a:extLst>
            </p:cNvPr>
            <p:cNvSpPr txBox="1">
              <a:spLocks noChangeArrowheads="1"/>
            </p:cNvSpPr>
            <p:nvPr/>
          </p:nvSpPr>
          <p:spPr bwMode="auto">
            <a:xfrm>
              <a:off x="6945" y="-359"/>
              <a:ext cx="1651" cy="497"/>
            </a:xfrm>
            <a:prstGeom prst="rect">
              <a:avLst/>
            </a:prstGeom>
            <a:noFill/>
            <a:ln>
              <a:noFill/>
            </a:ln>
            <a:effectLst/>
            <a:extLst>
              <a:ext uri="{909E8E84-426E-40DD-AFC4-6F175D3DCCD1}">
                <a14:hiddenFill xmlns:a14="http://schemas.microsoft.com/office/drawing/2010/main">
                  <a:gradFill rotWithShape="0">
                    <a:gsLst>
                      <a:gs pos="0">
                        <a:srgbClr val="C0C0C0"/>
                      </a:gs>
                      <a:gs pos="100000">
                        <a:srgbClr val="FFFFFF"/>
                      </a:gs>
                    </a:gsLst>
                    <a:lin ang="27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1800" b="1" i="1" dirty="0">
                  <a:solidFill>
                    <a:schemeClr val="tx1"/>
                  </a:solidFill>
                  <a:latin typeface="Times New Roman" panose="02020603050405020304" pitchFamily="18" charset="0"/>
                </a:rPr>
                <a:t>P</a:t>
              </a:r>
              <a:r>
                <a:rPr kumimoji="1" lang="en-US" altLang="zh-CN" sz="1800" b="1" dirty="0">
                  <a:solidFill>
                    <a:schemeClr val="tx1"/>
                  </a:solidFill>
                  <a:latin typeface="Times New Roman" panose="02020603050405020304" pitchFamily="18" charset="0"/>
                </a:rPr>
                <a:t> + 1</a:t>
              </a:r>
              <a:r>
                <a:rPr kumimoji="1" lang="zh-CN" altLang="en-US" sz="1800" b="1" dirty="0">
                  <a:solidFill>
                    <a:schemeClr val="tx1"/>
                  </a:solidFill>
                  <a:latin typeface="Times New Roman" panose="02020603050405020304" pitchFamily="18" charset="0"/>
                </a:rPr>
                <a:t>（判断节点个数</a:t>
              </a:r>
              <a:r>
                <a:rPr kumimoji="1" lang="en-US" altLang="zh-CN" sz="1800" b="1" dirty="0">
                  <a:solidFill>
                    <a:schemeClr val="tx1"/>
                  </a:solidFill>
                  <a:latin typeface="Times New Roman" panose="02020603050405020304" pitchFamily="18" charset="0"/>
                </a:rPr>
                <a:t>+1</a:t>
              </a:r>
              <a:r>
                <a:rPr kumimoji="1" lang="zh-CN" altLang="en-US" sz="1800" b="1" dirty="0">
                  <a:solidFill>
                    <a:schemeClr val="tx1"/>
                  </a:solidFill>
                  <a:latin typeface="Times New Roman" panose="02020603050405020304" pitchFamily="18" charset="0"/>
                </a:rPr>
                <a:t>）</a:t>
              </a:r>
              <a:endParaRPr kumimoji="1" lang="en-US" altLang="zh-CN" sz="1800" b="1" dirty="0">
                <a:solidFill>
                  <a:schemeClr val="tx1"/>
                </a:solidFill>
                <a:latin typeface="Times New Roman" panose="02020603050405020304" pitchFamily="18" charset="0"/>
              </a:endParaRPr>
            </a:p>
          </p:txBody>
        </p:sp>
        <p:sp>
          <p:nvSpPr>
            <p:cNvPr id="129" name="AutoShape 139">
              <a:extLst>
                <a:ext uri="{FF2B5EF4-FFF2-40B4-BE49-F238E27FC236}">
                  <a16:creationId xmlns:a16="http://schemas.microsoft.com/office/drawing/2014/main" id="{17FE667B-0882-4B2F-8DB3-FA1796FFAB11}"/>
                </a:ext>
              </a:extLst>
            </p:cNvPr>
            <p:cNvSpPr>
              <a:spLocks/>
            </p:cNvSpPr>
            <p:nvPr/>
          </p:nvSpPr>
          <p:spPr bwMode="auto">
            <a:xfrm>
              <a:off x="6781" y="-582"/>
              <a:ext cx="91" cy="363"/>
            </a:xfrm>
            <a:prstGeom prst="leftBrace">
              <a:avLst>
                <a:gd name="adj1" fmla="val 33242"/>
                <a:gd name="adj2" fmla="val 50000"/>
              </a:avLst>
            </a:prstGeom>
            <a:noFill/>
            <a:ln w="19050">
              <a:solidFill>
                <a:schemeClr val="tx1"/>
              </a:solidFill>
              <a:round/>
              <a:headEnd/>
              <a:tailEnd/>
            </a:ln>
            <a:effectLst/>
            <a:extLst>
              <a:ext uri="{909E8E84-426E-40DD-AFC4-6F175D3DCCD1}">
                <a14:hiddenFill xmlns:a14="http://schemas.microsoft.com/office/drawing/2010/main">
                  <a:gradFill rotWithShape="0">
                    <a:gsLst>
                      <a:gs pos="0">
                        <a:srgbClr val="C0C0C0"/>
                      </a:gs>
                      <a:gs pos="100000">
                        <a:srgbClr val="FFFFFF"/>
                      </a:gs>
                    </a:gsLst>
                    <a:lin ang="27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1"/>
                </a:solidFill>
              </a:endParaRPr>
            </a:p>
          </p:txBody>
        </p:sp>
      </p:grpSp>
    </p:spTree>
    <p:extLst>
      <p:ext uri="{BB962C8B-B14F-4D97-AF65-F5344CB8AC3E}">
        <p14:creationId xmlns:p14="http://schemas.microsoft.com/office/powerpoint/2010/main" val="1542528873"/>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D72ACE36-0004-4848-BE91-8A1894B9B4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A42126C-63CE-4E51-BCC6-5FFD9DE3ACD1}" type="slidenum">
              <a:rPr lang="en-US" altLang="en-US"/>
              <a:pPr eaLnBrk="1" hangingPunct="1"/>
              <a:t>203</a:t>
            </a:fld>
            <a:endParaRPr lang="en-US" altLang="en-US"/>
          </a:p>
        </p:txBody>
      </p:sp>
      <p:sp>
        <p:nvSpPr>
          <p:cNvPr id="40965" name="Rectangle 4">
            <a:extLst>
              <a:ext uri="{FF2B5EF4-FFF2-40B4-BE49-F238E27FC236}">
                <a16:creationId xmlns:a16="http://schemas.microsoft.com/office/drawing/2014/main" id="{79E69BB2-C5F9-4F70-84F3-30DBB302BA47}"/>
              </a:ext>
            </a:extLst>
          </p:cNvPr>
          <p:cNvSpPr>
            <a:spLocks noChangeArrowheads="1"/>
          </p:cNvSpPr>
          <p:nvPr/>
        </p:nvSpPr>
        <p:spPr bwMode="auto">
          <a:xfrm>
            <a:off x="2286001" y="6519864"/>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1" name="标题 1">
            <a:extLst>
              <a:ext uri="{FF2B5EF4-FFF2-40B4-BE49-F238E27FC236}">
                <a16:creationId xmlns:a16="http://schemas.microsoft.com/office/drawing/2014/main" id="{53881F80-8553-494E-BA80-D43AADC9B791}"/>
              </a:ext>
            </a:extLst>
          </p:cNvPr>
          <p:cNvSpPr>
            <a:spLocks noGrp="1"/>
          </p:cNvSpPr>
          <p:nvPr>
            <p:ph type="title"/>
          </p:nvPr>
        </p:nvSpPr>
        <p:spPr>
          <a:xfrm>
            <a:off x="838200" y="365125"/>
            <a:ext cx="10515600" cy="1325563"/>
          </a:xfrm>
        </p:spPr>
        <p:txBody>
          <a:bodyPr/>
          <a:lstStyle/>
          <a:p>
            <a:r>
              <a:rPr lang="zh-CN" altLang="en-US" dirty="0"/>
              <a:t>测试</a:t>
            </a:r>
          </a:p>
        </p:txBody>
      </p:sp>
      <p:sp>
        <p:nvSpPr>
          <p:cNvPr id="12" name="内容占位符 2">
            <a:extLst>
              <a:ext uri="{FF2B5EF4-FFF2-40B4-BE49-F238E27FC236}">
                <a16:creationId xmlns:a16="http://schemas.microsoft.com/office/drawing/2014/main" id="{05826407-5BDB-4BCB-9524-AB614F54877F}"/>
              </a:ext>
            </a:extLst>
          </p:cNvPr>
          <p:cNvSpPr>
            <a:spLocks noGrp="1"/>
          </p:cNvSpPr>
          <p:nvPr>
            <p:ph idx="1"/>
          </p:nvPr>
        </p:nvSpPr>
        <p:spPr>
          <a:xfrm>
            <a:off x="838200" y="1825625"/>
            <a:ext cx="10515600" cy="4351338"/>
          </a:xfrm>
        </p:spPr>
        <p:txBody>
          <a:bodyPr/>
          <a:lstStyle/>
          <a:p>
            <a:r>
              <a:rPr lang="zh-CN" altLang="en-US" dirty="0"/>
              <a:t>黑盒测试方法</a:t>
            </a:r>
            <a:endParaRPr lang="en-US" altLang="zh-CN" dirty="0"/>
          </a:p>
          <a:p>
            <a:pPr lvl="1"/>
            <a:r>
              <a:rPr lang="zh-CN" altLang="en-US" dirty="0"/>
              <a:t>等价类划分</a:t>
            </a:r>
            <a:endParaRPr lang="en-US" altLang="zh-CN" dirty="0"/>
          </a:p>
          <a:p>
            <a:pPr lvl="1"/>
            <a:r>
              <a:rPr lang="zh-CN" altLang="en-US" dirty="0"/>
              <a:t>边界值分析</a:t>
            </a:r>
            <a:endParaRPr lang="en-US" altLang="zh-CN" dirty="0"/>
          </a:p>
          <a:p>
            <a:pPr lvl="1"/>
            <a:endParaRPr lang="en-US" altLang="zh-CN" dirty="0"/>
          </a:p>
          <a:p>
            <a:pPr lvl="1"/>
            <a:endParaRPr lang="en-US" altLang="zh-CN" dirty="0"/>
          </a:p>
          <a:p>
            <a:endParaRPr lang="zh-CN" altLang="en-US" dirty="0"/>
          </a:p>
        </p:txBody>
      </p:sp>
    </p:spTree>
    <p:extLst>
      <p:ext uri="{BB962C8B-B14F-4D97-AF65-F5344CB8AC3E}">
        <p14:creationId xmlns:p14="http://schemas.microsoft.com/office/powerpoint/2010/main" val="306216224"/>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D72ACE36-0004-4848-BE91-8A1894B9B4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A42126C-63CE-4E51-BCC6-5FFD9DE3ACD1}" type="slidenum">
              <a:rPr lang="en-US" altLang="en-US"/>
              <a:pPr eaLnBrk="1" hangingPunct="1"/>
              <a:t>204</a:t>
            </a:fld>
            <a:endParaRPr lang="en-US" altLang="en-US"/>
          </a:p>
        </p:txBody>
      </p:sp>
      <p:sp>
        <p:nvSpPr>
          <p:cNvPr id="40965" name="Rectangle 4">
            <a:extLst>
              <a:ext uri="{FF2B5EF4-FFF2-40B4-BE49-F238E27FC236}">
                <a16:creationId xmlns:a16="http://schemas.microsoft.com/office/drawing/2014/main" id="{79E69BB2-C5F9-4F70-84F3-30DBB302BA47}"/>
              </a:ext>
            </a:extLst>
          </p:cNvPr>
          <p:cNvSpPr>
            <a:spLocks noChangeArrowheads="1"/>
          </p:cNvSpPr>
          <p:nvPr/>
        </p:nvSpPr>
        <p:spPr bwMode="auto">
          <a:xfrm>
            <a:off x="2286001" y="6519864"/>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1" name="标题 1">
            <a:extLst>
              <a:ext uri="{FF2B5EF4-FFF2-40B4-BE49-F238E27FC236}">
                <a16:creationId xmlns:a16="http://schemas.microsoft.com/office/drawing/2014/main" id="{53881F80-8553-494E-BA80-D43AADC9B791}"/>
              </a:ext>
            </a:extLst>
          </p:cNvPr>
          <p:cNvSpPr>
            <a:spLocks noGrp="1"/>
          </p:cNvSpPr>
          <p:nvPr>
            <p:ph type="title"/>
          </p:nvPr>
        </p:nvSpPr>
        <p:spPr>
          <a:xfrm>
            <a:off x="838200" y="365125"/>
            <a:ext cx="10515600" cy="1325563"/>
          </a:xfrm>
        </p:spPr>
        <p:txBody>
          <a:bodyPr/>
          <a:lstStyle/>
          <a:p>
            <a:r>
              <a:rPr lang="zh-CN" altLang="en-US" dirty="0"/>
              <a:t>测试</a:t>
            </a:r>
          </a:p>
        </p:txBody>
      </p:sp>
      <p:sp>
        <p:nvSpPr>
          <p:cNvPr id="12" name="内容占位符 2">
            <a:extLst>
              <a:ext uri="{FF2B5EF4-FFF2-40B4-BE49-F238E27FC236}">
                <a16:creationId xmlns:a16="http://schemas.microsoft.com/office/drawing/2014/main" id="{05826407-5BDB-4BCB-9524-AB614F54877F}"/>
              </a:ext>
            </a:extLst>
          </p:cNvPr>
          <p:cNvSpPr>
            <a:spLocks noGrp="1"/>
          </p:cNvSpPr>
          <p:nvPr>
            <p:ph idx="1"/>
          </p:nvPr>
        </p:nvSpPr>
        <p:spPr>
          <a:xfrm>
            <a:off x="838200" y="1825625"/>
            <a:ext cx="10515600" cy="4351338"/>
          </a:xfrm>
        </p:spPr>
        <p:txBody>
          <a:bodyPr>
            <a:normAutofit/>
          </a:bodyPr>
          <a:lstStyle/>
          <a:p>
            <a:r>
              <a:rPr lang="zh-CN" altLang="en-US" dirty="0"/>
              <a:t>黑盒测试方法</a:t>
            </a:r>
            <a:endParaRPr lang="en-US" altLang="zh-CN" dirty="0"/>
          </a:p>
          <a:p>
            <a:pPr lvl="1"/>
            <a:r>
              <a:rPr lang="zh-CN" altLang="en-US" b="1" dirty="0"/>
              <a:t>等价类划分</a:t>
            </a:r>
            <a:endParaRPr lang="en-US" altLang="zh-CN" b="1" dirty="0"/>
          </a:p>
          <a:p>
            <a:pPr marL="457200" lvl="1" indent="0">
              <a:buNone/>
            </a:pPr>
            <a:r>
              <a:rPr lang="zh-CN" altLang="en-US" sz="1800" dirty="0">
                <a:solidFill>
                  <a:srgbClr val="2A2B2E"/>
                </a:solidFill>
                <a:latin typeface="PingFang SC"/>
              </a:rPr>
              <a:t>    等价类表示输入条件的一组有效或无效状态，因此没有特别的理由选择一个元素而不是另一个元素作为类代表。</a:t>
            </a:r>
            <a:endParaRPr lang="en-US" altLang="zh-CN" sz="1800" dirty="0">
              <a:solidFill>
                <a:srgbClr val="2A2B2E"/>
              </a:solidFill>
              <a:latin typeface="PingFang SC"/>
            </a:endParaRPr>
          </a:p>
          <a:p>
            <a:pPr lvl="1"/>
            <a:endParaRPr lang="en-US" altLang="zh-CN" sz="1800" dirty="0">
              <a:solidFill>
                <a:srgbClr val="2A2B2E"/>
              </a:solidFill>
              <a:latin typeface="PingFang SC"/>
            </a:endParaRPr>
          </a:p>
          <a:p>
            <a:pPr lvl="1"/>
            <a:r>
              <a:rPr lang="zh-CN" altLang="en-US" sz="2000" dirty="0"/>
              <a:t>等价类划分的</a:t>
            </a:r>
            <a:r>
              <a:rPr lang="en-US" altLang="zh-CN" sz="2000" dirty="0"/>
              <a:t>Guidelines</a:t>
            </a:r>
          </a:p>
          <a:p>
            <a:pPr lvl="1"/>
            <a:r>
              <a:rPr lang="zh-CN" altLang="en-US" sz="2000" dirty="0">
                <a:solidFill>
                  <a:srgbClr val="2A2B2E"/>
                </a:solidFill>
                <a:latin typeface="PingFang SC"/>
              </a:rPr>
              <a:t>如果输入条件指定了一个范围，则定义一个有效的和两个无效的等价类。</a:t>
            </a:r>
            <a:endParaRPr lang="en-US" altLang="zh-CN" sz="2000" dirty="0">
              <a:solidFill>
                <a:srgbClr val="2A2B2E"/>
              </a:solidFill>
              <a:latin typeface="PingFang SC"/>
            </a:endParaRPr>
          </a:p>
          <a:p>
            <a:pPr lvl="1"/>
            <a:r>
              <a:rPr lang="zh-CN" altLang="en-US" sz="2000" dirty="0">
                <a:solidFill>
                  <a:srgbClr val="2A2B2E"/>
                </a:solidFill>
                <a:latin typeface="PingFang SC"/>
              </a:rPr>
              <a:t>如果输入条件需要特定的值，则定义一个有效和两个无效的等价类。</a:t>
            </a:r>
            <a:endParaRPr lang="en-US" altLang="zh-CN" sz="2000" dirty="0">
              <a:solidFill>
                <a:srgbClr val="2A2B2E"/>
              </a:solidFill>
              <a:latin typeface="PingFang SC"/>
            </a:endParaRPr>
          </a:p>
          <a:p>
            <a:pPr lvl="1"/>
            <a:r>
              <a:rPr lang="zh-CN" altLang="en-US" sz="2000" dirty="0">
                <a:solidFill>
                  <a:srgbClr val="2A2B2E"/>
                </a:solidFill>
                <a:latin typeface="PingFang SC"/>
              </a:rPr>
              <a:t>如果输入条件指定了集合的成员，则定义一个有效等价类和一个无效等价类。</a:t>
            </a:r>
            <a:endParaRPr lang="en-US" altLang="zh-CN" sz="2000" dirty="0">
              <a:solidFill>
                <a:srgbClr val="2A2B2E"/>
              </a:solidFill>
              <a:latin typeface="PingFang SC"/>
            </a:endParaRPr>
          </a:p>
          <a:p>
            <a:pPr lvl="1"/>
            <a:r>
              <a:rPr lang="zh-CN" altLang="en-US" sz="2000" dirty="0">
                <a:solidFill>
                  <a:srgbClr val="2A2B2E"/>
                </a:solidFill>
                <a:latin typeface="PingFang SC"/>
              </a:rPr>
              <a:t>如果输入条件是布尔值，则定义一个有效等价类和一个无效等价类。</a:t>
            </a:r>
            <a:endParaRPr lang="zh-CN" altLang="en-US" sz="2000" dirty="0"/>
          </a:p>
          <a:p>
            <a:pPr lvl="1"/>
            <a:endParaRPr lang="en-US" altLang="zh-CN" dirty="0"/>
          </a:p>
          <a:p>
            <a:pPr lvl="1"/>
            <a:endParaRPr lang="en-US" altLang="zh-CN" dirty="0"/>
          </a:p>
          <a:p>
            <a:endParaRPr lang="zh-CN" altLang="en-US" dirty="0"/>
          </a:p>
        </p:txBody>
      </p:sp>
    </p:spTree>
    <p:extLst>
      <p:ext uri="{BB962C8B-B14F-4D97-AF65-F5344CB8AC3E}">
        <p14:creationId xmlns:p14="http://schemas.microsoft.com/office/powerpoint/2010/main" val="1671949543"/>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日期占位符 1">
            <a:extLst>
              <a:ext uri="{FF2B5EF4-FFF2-40B4-BE49-F238E27FC236}">
                <a16:creationId xmlns:a16="http://schemas.microsoft.com/office/drawing/2014/main" id="{2F88F1EF-078B-4342-9A1E-D20CAD46F958}"/>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EC41AEF9-53E6-477E-9A92-436C9F4E1432}"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130051" name="WordArt 2">
            <a:extLst>
              <a:ext uri="{FF2B5EF4-FFF2-40B4-BE49-F238E27FC236}">
                <a16:creationId xmlns:a16="http://schemas.microsoft.com/office/drawing/2014/main" id="{0D8D7700-3DA2-4A5D-909C-6CC4F1F68509}"/>
              </a:ext>
            </a:extLst>
          </p:cNvPr>
          <p:cNvSpPr>
            <a:spLocks noChangeArrowheads="1" noChangeShapeType="1" noTextEdit="1"/>
          </p:cNvSpPr>
          <p:nvPr/>
        </p:nvSpPr>
        <p:spPr bwMode="auto">
          <a:xfrm rot="5400000">
            <a:off x="3314700" y="723900"/>
            <a:ext cx="838200" cy="609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vert="eaVert" wrap="none" fromWordArt="1">
            <a:prstTxWarp prst="textWave4">
              <a:avLst>
                <a:gd name="adj1" fmla="val 13005"/>
                <a:gd name="adj2" fmla="val 0"/>
              </a:avLst>
            </a:prstTxWarp>
          </a:bodyPr>
          <a:lstStyle/>
          <a:p>
            <a:pPr algn="ctr" fontAlgn="auto"/>
            <a:r>
              <a:rPr lang="zh-CN" altLang="en-US" sz="3600" kern="10">
                <a:gradFill rotWithShape="1">
                  <a:gsLst>
                    <a:gs pos="0">
                      <a:srgbClr val="00FF00"/>
                    </a:gs>
                    <a:gs pos="100000">
                      <a:srgbClr val="00CCFF"/>
                    </a:gs>
                  </a:gsLst>
                  <a:lin ang="0" scaled="1"/>
                </a:gradFill>
                <a:effectLst>
                  <a:outerShdw dist="99190" dir="7788334" algn="ctr" rotWithShape="0">
                    <a:srgbClr val="000080"/>
                  </a:outerShdw>
                </a:effectLst>
                <a:latin typeface="宋体" panose="02010600030101010101" pitchFamily="2" charset="-122"/>
              </a:rPr>
              <a:t>练习</a:t>
            </a:r>
          </a:p>
        </p:txBody>
      </p:sp>
      <p:sp>
        <p:nvSpPr>
          <p:cNvPr id="2498563" name="Rectangle 3">
            <a:extLst>
              <a:ext uri="{FF2B5EF4-FFF2-40B4-BE49-F238E27FC236}">
                <a16:creationId xmlns:a16="http://schemas.microsoft.com/office/drawing/2014/main" id="{F51F2853-CC0D-4764-AA81-8A79FBEF63DD}"/>
              </a:ext>
            </a:extLst>
          </p:cNvPr>
          <p:cNvSpPr>
            <a:spLocks noChangeArrowheads="1"/>
          </p:cNvSpPr>
          <p:nvPr/>
        </p:nvSpPr>
        <p:spPr bwMode="auto">
          <a:xfrm>
            <a:off x="3810000" y="3200400"/>
            <a:ext cx="5867400" cy="2514600"/>
          </a:xfrm>
          <a:prstGeom prst="rect">
            <a:avLst/>
          </a:prstGeom>
          <a:solidFill>
            <a:schemeClr val="bg1"/>
          </a:solidFill>
          <a:ln w="9525">
            <a:solidFill>
              <a:srgbClr val="70E5E8"/>
            </a:solidFill>
            <a:miter lim="800000"/>
            <a:headEnd/>
            <a:tailEnd/>
          </a:ln>
          <a:effectLst>
            <a:outerShdw dist="107763" dir="2700000" algn="ctr" rotWithShape="0">
              <a:schemeClr val="bg2"/>
            </a:outerShdw>
          </a:effectLst>
        </p:spPr>
        <p:txBody>
          <a:bodyPr wrap="none" anchor="ctr"/>
          <a:lstStyle/>
          <a:p>
            <a:pPr>
              <a:defRPr/>
            </a:pPr>
            <a:r>
              <a:rPr lang="zh-CN" altLang="en-US">
                <a:solidFill>
                  <a:srgbClr val="49AB39"/>
                </a:solidFill>
                <a:latin typeface="黑体" pitchFamily="2" charset="-122"/>
                <a:ea typeface="黑体" pitchFamily="2" charset="-122"/>
              </a:rPr>
              <a:t>    某工厂公开招工，规定报名者年龄应在</a:t>
            </a:r>
            <a:r>
              <a:rPr lang="zh-CN" altLang="en-US" sz="2000" b="1">
                <a:solidFill>
                  <a:srgbClr val="EF8D2B"/>
                </a:solidFill>
                <a:effectLst>
                  <a:outerShdw blurRad="38100" dist="38100" dir="2700000" algn="tl">
                    <a:srgbClr val="000000"/>
                  </a:outerShdw>
                </a:effectLst>
                <a:latin typeface="Times New Roman" charset="0"/>
                <a:ea typeface="黑体" pitchFamily="2" charset="-122"/>
              </a:rPr>
              <a:t>16～35 </a:t>
            </a:r>
            <a:r>
              <a:rPr lang="zh-CN" altLang="en-US">
                <a:solidFill>
                  <a:srgbClr val="49AB39"/>
                </a:solidFill>
                <a:latin typeface="黑体" pitchFamily="2" charset="-122"/>
                <a:ea typeface="黑体" pitchFamily="2" charset="-122"/>
              </a:rPr>
              <a:t>周</a:t>
            </a:r>
          </a:p>
          <a:p>
            <a:pPr>
              <a:defRPr/>
            </a:pPr>
            <a:r>
              <a:rPr lang="zh-CN" altLang="en-US">
                <a:solidFill>
                  <a:srgbClr val="49AB39"/>
                </a:solidFill>
                <a:latin typeface="黑体" pitchFamily="2" charset="-122"/>
                <a:ea typeface="黑体" pitchFamily="2" charset="-122"/>
              </a:rPr>
              <a:t>岁之间（到1995年6月30日为止），即出生年月不早于</a:t>
            </a:r>
          </a:p>
          <a:p>
            <a:pPr>
              <a:defRPr/>
            </a:pPr>
            <a:r>
              <a:rPr lang="zh-CN" altLang="en-US">
                <a:solidFill>
                  <a:srgbClr val="49AB39"/>
                </a:solidFill>
                <a:latin typeface="黑体" pitchFamily="2" charset="-122"/>
                <a:ea typeface="黑体" pitchFamily="2" charset="-122"/>
              </a:rPr>
              <a:t>1960年7月，不晚于1979年6月。 报名程序具有自动检</a:t>
            </a:r>
          </a:p>
          <a:p>
            <a:pPr>
              <a:defRPr/>
            </a:pPr>
            <a:r>
              <a:rPr lang="zh-CN" altLang="en-US">
                <a:solidFill>
                  <a:srgbClr val="49AB39"/>
                </a:solidFill>
                <a:latin typeface="黑体" pitchFamily="2" charset="-122"/>
                <a:ea typeface="黑体" pitchFamily="2" charset="-122"/>
              </a:rPr>
              <a:t>验输入数据的功能。如出生年月不在上述范围内， 将</a:t>
            </a:r>
          </a:p>
          <a:p>
            <a:pPr>
              <a:defRPr/>
            </a:pPr>
            <a:r>
              <a:rPr lang="zh-CN" altLang="en-US">
                <a:solidFill>
                  <a:srgbClr val="49AB39"/>
                </a:solidFill>
                <a:latin typeface="黑体" pitchFamily="2" charset="-122"/>
                <a:ea typeface="黑体" pitchFamily="2" charset="-122"/>
              </a:rPr>
              <a:t>拒绝接受，并显示</a:t>
            </a:r>
            <a:r>
              <a:rPr lang="zh-CN" altLang="en-US">
                <a:solidFill>
                  <a:srgbClr val="49AB39"/>
                </a:solidFill>
                <a:latin typeface="Times New Roman"/>
                <a:ea typeface="黑体" pitchFamily="2" charset="-122"/>
              </a:rPr>
              <a:t>“</a:t>
            </a:r>
            <a:r>
              <a:rPr lang="zh-CN" altLang="en-US">
                <a:solidFill>
                  <a:srgbClr val="49AB39"/>
                </a:solidFill>
                <a:latin typeface="黑体" pitchFamily="2" charset="-122"/>
                <a:ea typeface="黑体" pitchFamily="2" charset="-122"/>
              </a:rPr>
              <a:t>年龄不合格</a:t>
            </a:r>
            <a:r>
              <a:rPr lang="zh-CN" altLang="en-US">
                <a:solidFill>
                  <a:srgbClr val="49AB39"/>
                </a:solidFill>
                <a:latin typeface="Times New Roman"/>
                <a:ea typeface="黑体" pitchFamily="2" charset="-122"/>
              </a:rPr>
              <a:t>”</a:t>
            </a:r>
            <a:r>
              <a:rPr lang="zh-CN" altLang="en-US">
                <a:solidFill>
                  <a:srgbClr val="49AB39"/>
                </a:solidFill>
                <a:latin typeface="黑体" pitchFamily="2" charset="-122"/>
                <a:ea typeface="黑体" pitchFamily="2" charset="-122"/>
              </a:rPr>
              <a:t>等出错信息。</a:t>
            </a:r>
          </a:p>
          <a:p>
            <a:pPr>
              <a:defRPr/>
            </a:pPr>
            <a:r>
              <a:rPr lang="zh-CN" altLang="en-US">
                <a:solidFill>
                  <a:srgbClr val="49AB39"/>
                </a:solidFill>
                <a:latin typeface="黑体" pitchFamily="2" charset="-122"/>
                <a:ea typeface="黑体" pitchFamily="2" charset="-122"/>
              </a:rPr>
              <a:t>    请试用等价分类法， 设计出生年月的等价分类表 。</a:t>
            </a:r>
          </a:p>
        </p:txBody>
      </p:sp>
      <p:sp>
        <p:nvSpPr>
          <p:cNvPr id="2498564" name="Rectangle 4">
            <a:extLst>
              <a:ext uri="{FF2B5EF4-FFF2-40B4-BE49-F238E27FC236}">
                <a16:creationId xmlns:a16="http://schemas.microsoft.com/office/drawing/2014/main" id="{3B0C8D0C-AB33-4668-BD87-419F2D8FB6A8}"/>
              </a:ext>
            </a:extLst>
          </p:cNvPr>
          <p:cNvSpPr>
            <a:spLocks noChangeArrowheads="1"/>
          </p:cNvSpPr>
          <p:nvPr/>
        </p:nvSpPr>
        <p:spPr bwMode="auto">
          <a:xfrm>
            <a:off x="3733800" y="2133600"/>
            <a:ext cx="5867400" cy="609600"/>
          </a:xfrm>
          <a:prstGeom prst="rect">
            <a:avLst/>
          </a:prstGeom>
          <a:solidFill>
            <a:schemeClr val="bg1"/>
          </a:solidFill>
          <a:ln w="9525">
            <a:solidFill>
              <a:srgbClr val="70E5E8"/>
            </a:solidFill>
            <a:miter lim="800000"/>
            <a:headEnd/>
            <a:tailEnd/>
          </a:ln>
          <a:effectLst>
            <a:outerShdw dist="107763" dir="2700000" algn="ctr" rotWithShape="0">
              <a:schemeClr val="bg2"/>
            </a:outerShdw>
          </a:effec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800" dirty="0">
                <a:solidFill>
                  <a:srgbClr val="49AB39"/>
                </a:solidFill>
                <a:latin typeface="黑体" panose="02010609060101010101" pitchFamily="49" charset="-122"/>
                <a:ea typeface="黑体" panose="02010609060101010101" pitchFamily="49" charset="-122"/>
              </a:rPr>
              <a:t>请利用等价分类法为以下提供的内容设计测试用例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98563"/>
                                        </p:tgtEl>
                                        <p:attrNameLst>
                                          <p:attrName>style.visibility</p:attrName>
                                        </p:attrNameLst>
                                      </p:cBhvr>
                                      <p:to>
                                        <p:strVal val="visible"/>
                                      </p:to>
                                    </p:set>
                                    <p:anim calcmode="lin" valueType="num">
                                      <p:cBhvr additive="base">
                                        <p:cTn id="7" dur="500" fill="hold"/>
                                        <p:tgtEl>
                                          <p:spTgt spid="2498563"/>
                                        </p:tgtEl>
                                        <p:attrNameLst>
                                          <p:attrName>ppt_x</p:attrName>
                                        </p:attrNameLst>
                                      </p:cBhvr>
                                      <p:tavLst>
                                        <p:tav tm="0">
                                          <p:val>
                                            <p:strVal val="0-#ppt_w/2"/>
                                          </p:val>
                                        </p:tav>
                                        <p:tav tm="100000">
                                          <p:val>
                                            <p:strVal val="#ppt_x"/>
                                          </p:val>
                                        </p:tav>
                                      </p:tavLst>
                                    </p:anim>
                                    <p:anim calcmode="lin" valueType="num">
                                      <p:cBhvr additive="base">
                                        <p:cTn id="8" dur="500" fill="hold"/>
                                        <p:tgtEl>
                                          <p:spTgt spid="249856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98564"/>
                                        </p:tgtEl>
                                        <p:attrNameLst>
                                          <p:attrName>style.visibility</p:attrName>
                                        </p:attrNameLst>
                                      </p:cBhvr>
                                      <p:to>
                                        <p:strVal val="visible"/>
                                      </p:to>
                                    </p:set>
                                    <p:anim calcmode="lin" valueType="num">
                                      <p:cBhvr additive="base">
                                        <p:cTn id="13" dur="500" fill="hold"/>
                                        <p:tgtEl>
                                          <p:spTgt spid="2498564"/>
                                        </p:tgtEl>
                                        <p:attrNameLst>
                                          <p:attrName>ppt_x</p:attrName>
                                        </p:attrNameLst>
                                      </p:cBhvr>
                                      <p:tavLst>
                                        <p:tav tm="0">
                                          <p:val>
                                            <p:strVal val="0-#ppt_w/2"/>
                                          </p:val>
                                        </p:tav>
                                        <p:tav tm="100000">
                                          <p:val>
                                            <p:strVal val="#ppt_x"/>
                                          </p:val>
                                        </p:tav>
                                      </p:tavLst>
                                    </p:anim>
                                    <p:anim calcmode="lin" valueType="num">
                                      <p:cBhvr additive="base">
                                        <p:cTn id="14" dur="500" fill="hold"/>
                                        <p:tgtEl>
                                          <p:spTgt spid="24985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63" grpId="0" animBg="1" autoUpdateAnimBg="0"/>
      <p:bldP spid="2498564" grpId="0" animBg="1" autoUpdateAnimBg="0"/>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日期占位符 1">
            <a:extLst>
              <a:ext uri="{FF2B5EF4-FFF2-40B4-BE49-F238E27FC236}">
                <a16:creationId xmlns:a16="http://schemas.microsoft.com/office/drawing/2014/main" id="{84DB41EB-5AF8-4D47-BCE0-7067EA17CC20}"/>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F854D1EB-652B-4055-84E4-3489DBC527BF}"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2500611" name="Rectangle 3">
            <a:extLst>
              <a:ext uri="{FF2B5EF4-FFF2-40B4-BE49-F238E27FC236}">
                <a16:creationId xmlns:a16="http://schemas.microsoft.com/office/drawing/2014/main" id="{1988658D-03E7-4369-B12C-B472EC8D71B5}"/>
              </a:ext>
            </a:extLst>
          </p:cNvPr>
          <p:cNvSpPr>
            <a:spLocks noChangeArrowheads="1"/>
          </p:cNvSpPr>
          <p:nvPr/>
        </p:nvSpPr>
        <p:spPr bwMode="auto">
          <a:xfrm>
            <a:off x="3733800" y="2133600"/>
            <a:ext cx="5867400" cy="914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r>
              <a:rPr lang="zh-CN" altLang="en-US" sz="1800">
                <a:solidFill>
                  <a:srgbClr val="49AB39"/>
                </a:solidFill>
                <a:latin typeface="黑体" panose="02010609060101010101" pitchFamily="49" charset="-122"/>
                <a:ea typeface="黑体" panose="02010609060101010101" pitchFamily="49" charset="-122"/>
              </a:rPr>
              <a:t>    假定已知出生年月是由 6 位数字字符表示，前4 位</a:t>
            </a:r>
          </a:p>
          <a:p>
            <a:pPr>
              <a:spcBef>
                <a:spcPct val="0"/>
              </a:spcBef>
              <a:buFontTx/>
              <a:buNone/>
            </a:pPr>
            <a:r>
              <a:rPr lang="zh-CN" altLang="en-US" sz="1800">
                <a:solidFill>
                  <a:srgbClr val="49AB39"/>
                </a:solidFill>
                <a:latin typeface="黑体" panose="02010609060101010101" pitchFamily="49" charset="-122"/>
                <a:ea typeface="黑体" panose="02010609060101010101" pitchFamily="49" charset="-122"/>
              </a:rPr>
              <a:t>代表年，后2 位代表月，则可以划分为 3 个有效等价类</a:t>
            </a:r>
          </a:p>
          <a:p>
            <a:pPr>
              <a:spcBef>
                <a:spcPct val="0"/>
              </a:spcBef>
              <a:buFontTx/>
              <a:buNone/>
            </a:pPr>
            <a:r>
              <a:rPr lang="zh-CN" altLang="en-US" sz="1800">
                <a:solidFill>
                  <a:srgbClr val="49AB39"/>
                </a:solidFill>
                <a:latin typeface="黑体" panose="02010609060101010101" pitchFamily="49" charset="-122"/>
                <a:ea typeface="黑体" panose="02010609060101010101" pitchFamily="49" charset="-122"/>
              </a:rPr>
              <a:t>和 7 个无效等价类。</a:t>
            </a:r>
          </a:p>
        </p:txBody>
      </p:sp>
      <p:sp>
        <p:nvSpPr>
          <p:cNvPr id="132100" name="Rectangle 4">
            <a:extLst>
              <a:ext uri="{FF2B5EF4-FFF2-40B4-BE49-F238E27FC236}">
                <a16:creationId xmlns:a16="http://schemas.microsoft.com/office/drawing/2014/main" id="{BF7B003F-40A5-4498-A0FC-82F7F9066180}"/>
              </a:ext>
            </a:extLst>
          </p:cNvPr>
          <p:cNvSpPr>
            <a:spLocks noChangeArrowheads="1"/>
          </p:cNvSpPr>
          <p:nvPr/>
        </p:nvSpPr>
        <p:spPr bwMode="auto">
          <a:xfrm>
            <a:off x="3200400" y="1143000"/>
            <a:ext cx="31242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800">
                <a:solidFill>
                  <a:srgbClr val="49AB39"/>
                </a:solidFill>
                <a:latin typeface="黑体" panose="02010609060101010101" pitchFamily="49" charset="-122"/>
                <a:ea typeface="黑体" panose="02010609060101010101" pitchFamily="49" charset="-122"/>
              </a:rPr>
              <a:t>1、划分出生年月等价分类表</a:t>
            </a:r>
          </a:p>
        </p:txBody>
      </p:sp>
      <p:graphicFrame>
        <p:nvGraphicFramePr>
          <p:cNvPr id="2500693" name="Group 85">
            <a:extLst>
              <a:ext uri="{FF2B5EF4-FFF2-40B4-BE49-F238E27FC236}">
                <a16:creationId xmlns:a16="http://schemas.microsoft.com/office/drawing/2014/main" id="{697EE3DA-7A6B-458A-A55E-44E9CCE18CB4}"/>
              </a:ext>
            </a:extLst>
          </p:cNvPr>
          <p:cNvGraphicFramePr>
            <a:graphicFrameLocks noGrp="1"/>
          </p:cNvGraphicFramePr>
          <p:nvPr/>
        </p:nvGraphicFramePr>
        <p:xfrm>
          <a:off x="3429000" y="3276601"/>
          <a:ext cx="6705600" cy="3254375"/>
        </p:xfrm>
        <a:graphic>
          <a:graphicData uri="http://schemas.openxmlformats.org/drawingml/2006/table">
            <a:tbl>
              <a:tblPr/>
              <a:tblGrid>
                <a:gridCol w="1870075">
                  <a:extLst>
                    <a:ext uri="{9D8B030D-6E8A-4147-A177-3AD203B41FA5}">
                      <a16:colId xmlns:a16="http://schemas.microsoft.com/office/drawing/2014/main" val="20000"/>
                    </a:ext>
                  </a:extLst>
                </a:gridCol>
                <a:gridCol w="2416175">
                  <a:extLst>
                    <a:ext uri="{9D8B030D-6E8A-4147-A177-3AD203B41FA5}">
                      <a16:colId xmlns:a16="http://schemas.microsoft.com/office/drawing/2014/main" val="20001"/>
                    </a:ext>
                  </a:extLst>
                </a:gridCol>
                <a:gridCol w="2419350">
                  <a:extLst>
                    <a:ext uri="{9D8B030D-6E8A-4147-A177-3AD203B41FA5}">
                      <a16:colId xmlns:a16="http://schemas.microsoft.com/office/drawing/2014/main" val="20002"/>
                    </a:ext>
                  </a:extLst>
                </a:gridCol>
              </a:tblGrid>
              <a:tr h="4572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669CC4"/>
                          </a:solidFill>
                          <a:effectLst/>
                          <a:latin typeface="黑体" pitchFamily="2" charset="-122"/>
                          <a:ea typeface="黑体" pitchFamily="2" charset="-122"/>
                        </a:rPr>
                        <a:t>输入数据</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669CC4"/>
                          </a:solidFill>
                          <a:effectLst/>
                          <a:latin typeface="黑体" pitchFamily="2" charset="-122"/>
                          <a:ea typeface="黑体" pitchFamily="2" charset="-122"/>
                        </a:rPr>
                        <a:t>有效等价类</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669CC4"/>
                          </a:solidFill>
                          <a:effectLst/>
                          <a:latin typeface="黑体" pitchFamily="2" charset="-122"/>
                          <a:ea typeface="黑体" pitchFamily="2" charset="-122"/>
                        </a:rPr>
                        <a:t>无效等价类</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99060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669CC4"/>
                          </a:solidFill>
                          <a:effectLst/>
                          <a:latin typeface="黑体" pitchFamily="2" charset="-122"/>
                          <a:ea typeface="黑体" pitchFamily="2" charset="-122"/>
                        </a:rPr>
                        <a:t>出生年月</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0" i="0" u="none" strike="noStrike" cap="none" normalizeH="0" baseline="0">
                          <a:ln>
                            <a:noFill/>
                          </a:ln>
                          <a:solidFill>
                            <a:srgbClr val="669CC4"/>
                          </a:solidFill>
                          <a:effectLst/>
                          <a:latin typeface="黑体" pitchFamily="2" charset="-122"/>
                          <a:ea typeface="黑体" pitchFamily="2" charset="-122"/>
                        </a:rPr>
                        <a:t>① 6</a:t>
                      </a:r>
                      <a:r>
                        <a:rPr kumimoji="1" lang="zh-CN" altLang="en-US" sz="1800" b="0" i="0" u="none" strike="noStrike" cap="none" normalizeH="0" baseline="0">
                          <a:ln>
                            <a:noFill/>
                          </a:ln>
                          <a:solidFill>
                            <a:srgbClr val="669CC4"/>
                          </a:solidFill>
                          <a:effectLst/>
                          <a:latin typeface="黑体" pitchFamily="2" charset="-122"/>
                          <a:ea typeface="黑体" pitchFamily="2" charset="-122"/>
                        </a:rPr>
                        <a:t>位有效数字字符</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0" i="0" u="none" strike="noStrike" cap="none" normalizeH="0" baseline="0">
                          <a:ln>
                            <a:noFill/>
                          </a:ln>
                          <a:solidFill>
                            <a:srgbClr val="669CC4"/>
                          </a:solidFill>
                          <a:effectLst/>
                          <a:latin typeface="黑体" pitchFamily="2" charset="-122"/>
                          <a:ea typeface="黑体" pitchFamily="2" charset="-122"/>
                        </a:rPr>
                        <a:t>②</a:t>
                      </a:r>
                      <a:r>
                        <a:rPr kumimoji="1" lang="zh-CN" altLang="en-US" sz="1800" b="0" i="0" u="none" strike="noStrike" cap="none" normalizeH="0" baseline="0">
                          <a:ln>
                            <a:noFill/>
                          </a:ln>
                          <a:solidFill>
                            <a:srgbClr val="669CC4"/>
                          </a:solidFill>
                          <a:effectLst/>
                          <a:latin typeface="黑体" pitchFamily="2" charset="-122"/>
                          <a:ea typeface="黑体" pitchFamily="2" charset="-122"/>
                        </a:rPr>
                        <a:t> 有非数字字符   </a:t>
                      </a:r>
                      <a:r>
                        <a:rPr kumimoji="1" lang="en-US" altLang="zh-CN" sz="1800" b="0" i="0" u="none" strike="noStrike" cap="none" normalizeH="0" baseline="0">
                          <a:ln>
                            <a:noFill/>
                          </a:ln>
                          <a:solidFill>
                            <a:srgbClr val="669CC4"/>
                          </a:solidFill>
                          <a:effectLst/>
                          <a:latin typeface="黑体" pitchFamily="2" charset="-122"/>
                          <a:ea typeface="黑体" pitchFamily="2" charset="-122"/>
                        </a:rPr>
                        <a:t>③ </a:t>
                      </a:r>
                      <a:r>
                        <a:rPr kumimoji="1" lang="zh-CN" altLang="en-US" sz="1800" b="0" i="0" u="none" strike="noStrike" cap="none" normalizeH="0" baseline="0">
                          <a:ln>
                            <a:noFill/>
                          </a:ln>
                          <a:solidFill>
                            <a:srgbClr val="669CC4"/>
                          </a:solidFill>
                          <a:effectLst/>
                          <a:latin typeface="黑体" pitchFamily="2" charset="-122"/>
                          <a:ea typeface="黑体" pitchFamily="2" charset="-122"/>
                        </a:rPr>
                        <a:t>少于6个数字字符</a:t>
                      </a:r>
                      <a:r>
                        <a:rPr kumimoji="1" lang="en-US" altLang="zh-CN" sz="1800" b="0" i="0" u="none" strike="noStrike" cap="none" normalizeH="0" baseline="0">
                          <a:ln>
                            <a:noFill/>
                          </a:ln>
                          <a:solidFill>
                            <a:srgbClr val="669CC4"/>
                          </a:solidFill>
                          <a:effectLst/>
                          <a:latin typeface="黑体" pitchFamily="2" charset="-122"/>
                          <a:ea typeface="黑体" pitchFamily="2" charset="-122"/>
                        </a:rPr>
                        <a:t>④ </a:t>
                      </a:r>
                      <a:r>
                        <a:rPr kumimoji="1" lang="zh-CN" altLang="en-US" sz="1800" b="0" i="0" u="none" strike="noStrike" cap="none" normalizeH="0" baseline="0">
                          <a:ln>
                            <a:noFill/>
                          </a:ln>
                          <a:solidFill>
                            <a:srgbClr val="669CC4"/>
                          </a:solidFill>
                          <a:effectLst/>
                          <a:latin typeface="黑体" pitchFamily="2" charset="-122"/>
                          <a:ea typeface="黑体" pitchFamily="2" charset="-122"/>
                        </a:rPr>
                        <a:t>多于6个数字字符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83820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669CC4"/>
                          </a:solidFill>
                          <a:effectLst/>
                          <a:latin typeface="黑体" pitchFamily="2" charset="-122"/>
                          <a:ea typeface="黑体" pitchFamily="2" charset="-122"/>
                        </a:rPr>
                        <a:t>对应数值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669CC4"/>
                          </a:solidFill>
                          <a:effectLst/>
                          <a:latin typeface="黑体" pitchFamily="2" charset="-122"/>
                          <a:ea typeface="黑体" pitchFamily="2" charset="-122"/>
                        </a:rPr>
                        <a:t>⑤ </a:t>
                      </a:r>
                      <a:r>
                        <a:rPr kumimoji="1" lang="zh-CN" altLang="en-US" sz="1800" b="1" i="0" u="none" strike="noStrike" cap="none" normalizeH="0" baseline="0">
                          <a:ln>
                            <a:noFill/>
                          </a:ln>
                          <a:solidFill>
                            <a:srgbClr val="EF8D2B"/>
                          </a:solidFill>
                          <a:effectLst>
                            <a:outerShdw blurRad="38100" dist="38100" dir="2700000" algn="tl">
                              <a:srgbClr val="000000"/>
                            </a:outerShdw>
                          </a:effectLst>
                          <a:latin typeface="Times New Roman" charset="0"/>
                          <a:ea typeface="黑体" pitchFamily="2" charset="-122"/>
                        </a:rPr>
                        <a:t>196007-197906</a:t>
                      </a:r>
                      <a:r>
                        <a:rPr kumimoji="1" lang="zh-CN" altLang="en-US" sz="1800" b="0" i="0" u="none" strike="noStrike" cap="none" normalizeH="0" baseline="0">
                          <a:ln>
                            <a:noFill/>
                          </a:ln>
                          <a:solidFill>
                            <a:srgbClr val="EF8D2B"/>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669CC4"/>
                          </a:solidFill>
                          <a:effectLst/>
                          <a:latin typeface="黑体" pitchFamily="2" charset="-122"/>
                          <a:ea typeface="黑体" pitchFamily="2" charset="-122"/>
                        </a:rPr>
                        <a:t>⑥ </a:t>
                      </a:r>
                      <a:r>
                        <a:rPr kumimoji="1" lang="zh-CN" altLang="en-US" sz="1800" b="1" i="0" u="none" strike="noStrike" cap="none" normalizeH="0" baseline="0">
                          <a:ln>
                            <a:noFill/>
                          </a:ln>
                          <a:solidFill>
                            <a:srgbClr val="EF8D2B"/>
                          </a:solidFill>
                          <a:effectLst>
                            <a:outerShdw blurRad="38100" dist="38100" dir="2700000" algn="tl">
                              <a:srgbClr val="000000"/>
                            </a:outerShdw>
                          </a:effectLst>
                          <a:latin typeface="Times New Roman" charset="0"/>
                          <a:ea typeface="黑体" pitchFamily="2" charset="-122"/>
                        </a:rPr>
                        <a:t>&lt; 196007</a:t>
                      </a:r>
                    </a:p>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669CC4"/>
                          </a:solidFill>
                          <a:effectLst/>
                          <a:latin typeface="黑体" pitchFamily="2" charset="-122"/>
                          <a:ea typeface="黑体" pitchFamily="2" charset="-122"/>
                        </a:rPr>
                        <a:t>⑦ </a:t>
                      </a:r>
                      <a:r>
                        <a:rPr kumimoji="1" lang="zh-CN" altLang="en-US" sz="1800" b="1" i="0" u="none" strike="noStrike" cap="none" normalizeH="0" baseline="0">
                          <a:ln>
                            <a:noFill/>
                          </a:ln>
                          <a:solidFill>
                            <a:srgbClr val="EF8D2B"/>
                          </a:solidFill>
                          <a:effectLst>
                            <a:outerShdw blurRad="38100" dist="38100" dir="2700000" algn="tl">
                              <a:srgbClr val="000000"/>
                            </a:outerShdw>
                          </a:effectLst>
                          <a:latin typeface="Times New Roman" charset="0"/>
                          <a:ea typeface="黑体" pitchFamily="2" charset="-122"/>
                        </a:rPr>
                        <a:t>&gt; 197906</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96837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669CC4"/>
                          </a:solidFill>
                          <a:effectLst/>
                          <a:latin typeface="黑体" pitchFamily="2" charset="-122"/>
                          <a:ea typeface="黑体" pitchFamily="2" charset="-122"/>
                        </a:rPr>
                        <a:t>月份对应数值</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669CC4"/>
                          </a:solidFill>
                          <a:effectLst/>
                          <a:latin typeface="黑体" pitchFamily="2" charset="-122"/>
                          <a:ea typeface="黑体" pitchFamily="2" charset="-122"/>
                        </a:rPr>
                        <a:t>⑧ 在1-12之间</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669CC4"/>
                          </a:solidFill>
                          <a:effectLst/>
                          <a:latin typeface="黑体" pitchFamily="2" charset="-122"/>
                          <a:ea typeface="黑体" pitchFamily="2" charset="-122"/>
                        </a:rPr>
                        <a:t>⑨ 等于 </a:t>
                      </a:r>
                      <a:r>
                        <a:rPr kumimoji="1" lang="zh-CN" altLang="en-US" sz="1800" b="0" i="0" u="none" strike="noStrike" cap="none" normalizeH="0" baseline="0">
                          <a:ln>
                            <a:noFill/>
                          </a:ln>
                          <a:solidFill>
                            <a:srgbClr val="669CC4"/>
                          </a:solidFill>
                          <a:effectLst/>
                          <a:latin typeface="Times New Roman"/>
                          <a:ea typeface="黑体" pitchFamily="2" charset="-122"/>
                        </a:rPr>
                        <a:t>“</a:t>
                      </a:r>
                      <a:r>
                        <a:rPr kumimoji="1" lang="zh-CN" altLang="en-US" sz="1800" b="0" i="0" u="none" strike="noStrike" cap="none" normalizeH="0" baseline="0">
                          <a:ln>
                            <a:noFill/>
                          </a:ln>
                          <a:solidFill>
                            <a:srgbClr val="669CC4"/>
                          </a:solidFill>
                          <a:effectLst/>
                          <a:latin typeface="黑体" pitchFamily="2" charset="-122"/>
                          <a:ea typeface="黑体" pitchFamily="2" charset="-122"/>
                        </a:rPr>
                        <a:t>0</a:t>
                      </a:r>
                      <a:r>
                        <a:rPr kumimoji="1" lang="zh-CN" altLang="en-US" sz="1800" b="0" i="0" u="none" strike="noStrike" cap="none" normalizeH="0" baseline="0">
                          <a:ln>
                            <a:noFill/>
                          </a:ln>
                          <a:solidFill>
                            <a:srgbClr val="669CC4"/>
                          </a:solidFill>
                          <a:effectLst/>
                          <a:latin typeface="Times New Roman"/>
                          <a:ea typeface="黑体" pitchFamily="2" charset="-122"/>
                        </a:rPr>
                        <a:t>”</a:t>
                      </a:r>
                      <a:endParaRPr kumimoji="1" lang="zh-CN" altLang="en-US" sz="1800" b="0" i="0" u="none" strike="noStrike" cap="none" normalizeH="0" baseline="0">
                        <a:ln>
                          <a:noFill/>
                        </a:ln>
                        <a:solidFill>
                          <a:srgbClr val="669CC4"/>
                        </a:solidFill>
                        <a:effectLst/>
                        <a:latin typeface="黑体" pitchFamily="2" charset="-122"/>
                        <a:ea typeface="黑体" pitchFamily="2" charset="-122"/>
                      </a:endParaRPr>
                    </a:p>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0" i="0" u="none" strike="noStrike" cap="none" normalizeH="0" baseline="0">
                          <a:ln>
                            <a:noFill/>
                          </a:ln>
                          <a:solidFill>
                            <a:srgbClr val="669CC4"/>
                          </a:solidFill>
                          <a:effectLst/>
                          <a:latin typeface="黑体" pitchFamily="2" charset="-122"/>
                          <a:ea typeface="黑体" pitchFamily="2" charset="-122"/>
                        </a:rPr>
                        <a:t>⑩ &gt;12</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00611"/>
                                        </p:tgtEl>
                                        <p:attrNameLst>
                                          <p:attrName>style.visibility</p:attrName>
                                        </p:attrNameLst>
                                      </p:cBhvr>
                                      <p:to>
                                        <p:strVal val="visible"/>
                                      </p:to>
                                    </p:set>
                                    <p:anim calcmode="lin" valueType="num">
                                      <p:cBhvr additive="base">
                                        <p:cTn id="7" dur="500" fill="hold"/>
                                        <p:tgtEl>
                                          <p:spTgt spid="2500611"/>
                                        </p:tgtEl>
                                        <p:attrNameLst>
                                          <p:attrName>ppt_x</p:attrName>
                                        </p:attrNameLst>
                                      </p:cBhvr>
                                      <p:tavLst>
                                        <p:tav tm="0">
                                          <p:val>
                                            <p:strVal val="0-#ppt_w/2"/>
                                          </p:val>
                                        </p:tav>
                                        <p:tav tm="100000">
                                          <p:val>
                                            <p:strVal val="#ppt_x"/>
                                          </p:val>
                                        </p:tav>
                                      </p:tavLst>
                                    </p:anim>
                                    <p:anim calcmode="lin" valueType="num">
                                      <p:cBhvr additive="base">
                                        <p:cTn id="8" dur="500" fill="hold"/>
                                        <p:tgtEl>
                                          <p:spTgt spid="250061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4" presetClass="entr" presetSubtype="10" fill="hold" nodeType="clickEffect">
                                  <p:stCondLst>
                                    <p:cond delay="0"/>
                                  </p:stCondLst>
                                  <p:childTnLst>
                                    <p:set>
                                      <p:cBhvr>
                                        <p:cTn id="12" dur="1" fill="hold">
                                          <p:stCondLst>
                                            <p:cond delay="0"/>
                                          </p:stCondLst>
                                        </p:cTn>
                                        <p:tgtEl>
                                          <p:spTgt spid="2500693"/>
                                        </p:tgtEl>
                                        <p:attrNameLst>
                                          <p:attrName>style.visibility</p:attrName>
                                        </p:attrNameLst>
                                      </p:cBhvr>
                                      <p:to>
                                        <p:strVal val="visible"/>
                                      </p:to>
                                    </p:set>
                                    <p:animEffect transition="in" filter="randombar(horizontal)">
                                      <p:cBhvr>
                                        <p:cTn id="13" dur="500"/>
                                        <p:tgtEl>
                                          <p:spTgt spid="25006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0611" grpId="0" animBg="1" autoUpdateAnimBg="0"/>
    </p:bld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日期占位符 1">
            <a:extLst>
              <a:ext uri="{FF2B5EF4-FFF2-40B4-BE49-F238E27FC236}">
                <a16:creationId xmlns:a16="http://schemas.microsoft.com/office/drawing/2014/main" id="{D36F1604-5311-4E2E-B2EE-785C2948905D}"/>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6865670B-25D4-453F-9469-098D4F6C31F8}"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134147" name="Rectangle 3">
            <a:extLst>
              <a:ext uri="{FF2B5EF4-FFF2-40B4-BE49-F238E27FC236}">
                <a16:creationId xmlns:a16="http://schemas.microsoft.com/office/drawing/2014/main" id="{8EB5D0F2-AD46-400D-B167-CF910A771E94}"/>
              </a:ext>
            </a:extLst>
          </p:cNvPr>
          <p:cNvSpPr>
            <a:spLocks noChangeArrowheads="1"/>
          </p:cNvSpPr>
          <p:nvPr/>
        </p:nvSpPr>
        <p:spPr bwMode="auto">
          <a:xfrm>
            <a:off x="3124200" y="1066800"/>
            <a:ext cx="39624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800">
                <a:solidFill>
                  <a:srgbClr val="49AB39"/>
                </a:solidFill>
                <a:latin typeface="黑体" panose="02010609060101010101" pitchFamily="49" charset="-122"/>
                <a:ea typeface="黑体" panose="02010609060101010101" pitchFamily="49" charset="-122"/>
              </a:rPr>
              <a:t>2、设计有效等价类需要的测试用例</a:t>
            </a:r>
          </a:p>
        </p:txBody>
      </p:sp>
      <p:graphicFrame>
        <p:nvGraphicFramePr>
          <p:cNvPr id="2502691" name="Group 35">
            <a:extLst>
              <a:ext uri="{FF2B5EF4-FFF2-40B4-BE49-F238E27FC236}">
                <a16:creationId xmlns:a16="http://schemas.microsoft.com/office/drawing/2014/main" id="{8ECD77FE-2488-45F6-AE86-EA772462117C}"/>
              </a:ext>
            </a:extLst>
          </p:cNvPr>
          <p:cNvGraphicFramePr>
            <a:graphicFrameLocks noGrp="1"/>
          </p:cNvGraphicFramePr>
          <p:nvPr/>
        </p:nvGraphicFramePr>
        <p:xfrm>
          <a:off x="3276600" y="1981200"/>
          <a:ext cx="6705600" cy="3124200"/>
        </p:xfrm>
        <a:graphic>
          <a:graphicData uri="http://schemas.openxmlformats.org/drawingml/2006/table">
            <a:tbl>
              <a:tblPr/>
              <a:tblGrid>
                <a:gridCol w="1870075">
                  <a:extLst>
                    <a:ext uri="{9D8B030D-6E8A-4147-A177-3AD203B41FA5}">
                      <a16:colId xmlns:a16="http://schemas.microsoft.com/office/drawing/2014/main" val="20000"/>
                    </a:ext>
                  </a:extLst>
                </a:gridCol>
                <a:gridCol w="2416175">
                  <a:extLst>
                    <a:ext uri="{9D8B030D-6E8A-4147-A177-3AD203B41FA5}">
                      <a16:colId xmlns:a16="http://schemas.microsoft.com/office/drawing/2014/main" val="20001"/>
                    </a:ext>
                  </a:extLst>
                </a:gridCol>
                <a:gridCol w="2419350">
                  <a:extLst>
                    <a:ext uri="{9D8B030D-6E8A-4147-A177-3AD203B41FA5}">
                      <a16:colId xmlns:a16="http://schemas.microsoft.com/office/drawing/2014/main" val="20002"/>
                    </a:ext>
                  </a:extLst>
                </a:gridCol>
              </a:tblGrid>
              <a:tr h="4572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669CC4"/>
                          </a:solidFill>
                          <a:effectLst/>
                          <a:latin typeface="黑体" pitchFamily="2" charset="-122"/>
                          <a:ea typeface="黑体" pitchFamily="2" charset="-122"/>
                        </a:rPr>
                        <a:t>输入数据</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669CC4"/>
                          </a:solidFill>
                          <a:effectLst/>
                          <a:latin typeface="黑体" pitchFamily="2" charset="-122"/>
                          <a:ea typeface="黑体" pitchFamily="2" charset="-122"/>
                        </a:rPr>
                        <a:t>有效等价类</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669CC4"/>
                          </a:solidFill>
                          <a:effectLst/>
                          <a:latin typeface="黑体" pitchFamily="2" charset="-122"/>
                          <a:ea typeface="黑体" pitchFamily="2" charset="-122"/>
                        </a:rPr>
                        <a:t>无效等价类</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99060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669CC4"/>
                          </a:solidFill>
                          <a:effectLst/>
                          <a:latin typeface="黑体" pitchFamily="2" charset="-122"/>
                          <a:ea typeface="黑体" pitchFamily="2" charset="-122"/>
                        </a:rPr>
                        <a:t>出生年月</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0" i="0" u="none" strike="noStrike" cap="none" normalizeH="0" baseline="0">
                          <a:ln>
                            <a:noFill/>
                          </a:ln>
                          <a:solidFill>
                            <a:srgbClr val="669CC4"/>
                          </a:solidFill>
                          <a:effectLst/>
                          <a:latin typeface="黑体" pitchFamily="2" charset="-122"/>
                          <a:ea typeface="黑体" pitchFamily="2" charset="-122"/>
                        </a:rPr>
                        <a:t>① 6</a:t>
                      </a:r>
                      <a:r>
                        <a:rPr kumimoji="1" lang="zh-CN" altLang="en-US" sz="1800" b="0" i="0" u="none" strike="noStrike" cap="none" normalizeH="0" baseline="0">
                          <a:ln>
                            <a:noFill/>
                          </a:ln>
                          <a:solidFill>
                            <a:srgbClr val="669CC4"/>
                          </a:solidFill>
                          <a:effectLst/>
                          <a:latin typeface="黑体" pitchFamily="2" charset="-122"/>
                          <a:ea typeface="黑体" pitchFamily="2" charset="-122"/>
                        </a:rPr>
                        <a:t>位有效数字字符</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0" i="0" u="none" strike="noStrike" cap="none" normalizeH="0" baseline="0">
                          <a:ln>
                            <a:noFill/>
                          </a:ln>
                          <a:solidFill>
                            <a:srgbClr val="669CC4"/>
                          </a:solidFill>
                          <a:effectLst/>
                          <a:latin typeface="黑体" pitchFamily="2" charset="-122"/>
                          <a:ea typeface="黑体" pitchFamily="2" charset="-122"/>
                        </a:rPr>
                        <a:t>②</a:t>
                      </a:r>
                      <a:r>
                        <a:rPr kumimoji="1" lang="zh-CN" altLang="en-US" sz="1800" b="0" i="0" u="none" strike="noStrike" cap="none" normalizeH="0" baseline="0">
                          <a:ln>
                            <a:noFill/>
                          </a:ln>
                          <a:solidFill>
                            <a:srgbClr val="669CC4"/>
                          </a:solidFill>
                          <a:effectLst/>
                          <a:latin typeface="黑体" pitchFamily="2" charset="-122"/>
                          <a:ea typeface="黑体" pitchFamily="2" charset="-122"/>
                        </a:rPr>
                        <a:t> 有非数字字符   </a:t>
                      </a:r>
                      <a:r>
                        <a:rPr kumimoji="1" lang="en-US" altLang="zh-CN" sz="1800" b="0" i="0" u="none" strike="noStrike" cap="none" normalizeH="0" baseline="0">
                          <a:ln>
                            <a:noFill/>
                          </a:ln>
                          <a:solidFill>
                            <a:srgbClr val="669CC4"/>
                          </a:solidFill>
                          <a:effectLst/>
                          <a:latin typeface="黑体" pitchFamily="2" charset="-122"/>
                          <a:ea typeface="黑体" pitchFamily="2" charset="-122"/>
                        </a:rPr>
                        <a:t>③ </a:t>
                      </a:r>
                      <a:r>
                        <a:rPr kumimoji="1" lang="zh-CN" altLang="en-US" sz="1800" b="0" i="0" u="none" strike="noStrike" cap="none" normalizeH="0" baseline="0">
                          <a:ln>
                            <a:noFill/>
                          </a:ln>
                          <a:solidFill>
                            <a:srgbClr val="669CC4"/>
                          </a:solidFill>
                          <a:effectLst/>
                          <a:latin typeface="黑体" pitchFamily="2" charset="-122"/>
                          <a:ea typeface="黑体" pitchFamily="2" charset="-122"/>
                        </a:rPr>
                        <a:t>少于6个数字字符</a:t>
                      </a:r>
                      <a:r>
                        <a:rPr kumimoji="1" lang="en-US" altLang="zh-CN" sz="1800" b="0" i="0" u="none" strike="noStrike" cap="none" normalizeH="0" baseline="0">
                          <a:ln>
                            <a:noFill/>
                          </a:ln>
                          <a:solidFill>
                            <a:srgbClr val="669CC4"/>
                          </a:solidFill>
                          <a:effectLst/>
                          <a:latin typeface="黑体" pitchFamily="2" charset="-122"/>
                          <a:ea typeface="黑体" pitchFamily="2" charset="-122"/>
                        </a:rPr>
                        <a:t>④ </a:t>
                      </a:r>
                      <a:r>
                        <a:rPr kumimoji="1" lang="zh-CN" altLang="en-US" sz="1800" b="0" i="0" u="none" strike="noStrike" cap="none" normalizeH="0" baseline="0">
                          <a:ln>
                            <a:noFill/>
                          </a:ln>
                          <a:solidFill>
                            <a:srgbClr val="669CC4"/>
                          </a:solidFill>
                          <a:effectLst/>
                          <a:latin typeface="黑体" pitchFamily="2" charset="-122"/>
                          <a:ea typeface="黑体" pitchFamily="2" charset="-122"/>
                        </a:rPr>
                        <a:t>多于6个数字字符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83820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669CC4"/>
                          </a:solidFill>
                          <a:effectLst/>
                          <a:latin typeface="黑体" pitchFamily="2" charset="-122"/>
                          <a:ea typeface="黑体" pitchFamily="2" charset="-122"/>
                        </a:rPr>
                        <a:t>对应数值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669CC4"/>
                          </a:solidFill>
                          <a:effectLst/>
                          <a:latin typeface="黑体" pitchFamily="2" charset="-122"/>
                          <a:ea typeface="黑体" pitchFamily="2" charset="-122"/>
                        </a:rPr>
                        <a:t>⑤ </a:t>
                      </a:r>
                      <a:r>
                        <a:rPr kumimoji="1" lang="zh-CN" altLang="en-US" sz="1800" b="1" i="0" u="none" strike="noStrike" cap="none" normalizeH="0" baseline="0">
                          <a:ln>
                            <a:noFill/>
                          </a:ln>
                          <a:solidFill>
                            <a:srgbClr val="EF8D2B"/>
                          </a:solidFill>
                          <a:effectLst>
                            <a:outerShdw blurRad="38100" dist="38100" dir="2700000" algn="tl">
                              <a:srgbClr val="000000"/>
                            </a:outerShdw>
                          </a:effectLst>
                          <a:latin typeface="Times New Roman" charset="0"/>
                          <a:ea typeface="黑体" pitchFamily="2" charset="-122"/>
                        </a:rPr>
                        <a:t>196007-197906</a:t>
                      </a:r>
                      <a:r>
                        <a:rPr kumimoji="1" lang="zh-CN" altLang="en-US" sz="1800" b="0" i="0" u="none" strike="noStrike" cap="none" normalizeH="0" baseline="0">
                          <a:ln>
                            <a:noFill/>
                          </a:ln>
                          <a:solidFill>
                            <a:srgbClr val="EF8D2B"/>
                          </a:solidFill>
                          <a:effectLst/>
                          <a:latin typeface="黑体" pitchFamily="2" charset="-122"/>
                          <a:ea typeface="黑体" pitchFamily="2"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669CC4"/>
                          </a:solidFill>
                          <a:effectLst/>
                          <a:latin typeface="黑体" pitchFamily="2" charset="-122"/>
                          <a:ea typeface="黑体" pitchFamily="2" charset="-122"/>
                        </a:rPr>
                        <a:t>⑥ </a:t>
                      </a:r>
                      <a:r>
                        <a:rPr kumimoji="1" lang="zh-CN" altLang="en-US" sz="1800" b="1" i="0" u="none" strike="noStrike" cap="none" normalizeH="0" baseline="0">
                          <a:ln>
                            <a:noFill/>
                          </a:ln>
                          <a:solidFill>
                            <a:srgbClr val="EF8D2B"/>
                          </a:solidFill>
                          <a:effectLst>
                            <a:outerShdw blurRad="38100" dist="38100" dir="2700000" algn="tl">
                              <a:srgbClr val="000000"/>
                            </a:outerShdw>
                          </a:effectLst>
                          <a:latin typeface="Times New Roman" charset="0"/>
                          <a:ea typeface="黑体" pitchFamily="2" charset="-122"/>
                        </a:rPr>
                        <a:t>&lt; 196007</a:t>
                      </a:r>
                    </a:p>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669CC4"/>
                          </a:solidFill>
                          <a:effectLst/>
                          <a:latin typeface="黑体" pitchFamily="2" charset="-122"/>
                          <a:ea typeface="黑体" pitchFamily="2" charset="-122"/>
                        </a:rPr>
                        <a:t>⑦ </a:t>
                      </a:r>
                      <a:r>
                        <a:rPr kumimoji="1" lang="zh-CN" altLang="en-US" sz="1800" b="1" i="0" u="none" strike="noStrike" cap="none" normalizeH="0" baseline="0">
                          <a:ln>
                            <a:noFill/>
                          </a:ln>
                          <a:solidFill>
                            <a:srgbClr val="EF8D2B"/>
                          </a:solidFill>
                          <a:effectLst>
                            <a:outerShdw blurRad="38100" dist="38100" dir="2700000" algn="tl">
                              <a:srgbClr val="000000"/>
                            </a:outerShdw>
                          </a:effectLst>
                          <a:latin typeface="Times New Roman" charset="0"/>
                          <a:ea typeface="黑体" pitchFamily="2" charset="-122"/>
                        </a:rPr>
                        <a:t>&gt; 197906</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83820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669CC4"/>
                          </a:solidFill>
                          <a:effectLst/>
                          <a:latin typeface="黑体" pitchFamily="2" charset="-122"/>
                          <a:ea typeface="黑体" pitchFamily="2" charset="-122"/>
                        </a:rPr>
                        <a:t>月份对应数值</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669CC4"/>
                          </a:solidFill>
                          <a:effectLst/>
                          <a:latin typeface="黑体" pitchFamily="2" charset="-122"/>
                          <a:ea typeface="黑体" pitchFamily="2" charset="-122"/>
                        </a:rPr>
                        <a:t>⑧ 在1-12之间</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669CC4"/>
                          </a:solidFill>
                          <a:effectLst/>
                          <a:latin typeface="黑体" pitchFamily="2" charset="-122"/>
                          <a:ea typeface="黑体" pitchFamily="2" charset="-122"/>
                        </a:rPr>
                        <a:t>⑨ 等于 </a:t>
                      </a:r>
                      <a:r>
                        <a:rPr kumimoji="1" lang="zh-CN" altLang="en-US" sz="1800" b="0" i="0" u="none" strike="noStrike" cap="none" normalizeH="0" baseline="0">
                          <a:ln>
                            <a:noFill/>
                          </a:ln>
                          <a:solidFill>
                            <a:srgbClr val="669CC4"/>
                          </a:solidFill>
                          <a:effectLst/>
                          <a:latin typeface="Times New Roman"/>
                          <a:ea typeface="黑体" pitchFamily="2" charset="-122"/>
                        </a:rPr>
                        <a:t>“</a:t>
                      </a:r>
                      <a:r>
                        <a:rPr kumimoji="1" lang="zh-CN" altLang="en-US" sz="1800" b="0" i="0" u="none" strike="noStrike" cap="none" normalizeH="0" baseline="0">
                          <a:ln>
                            <a:noFill/>
                          </a:ln>
                          <a:solidFill>
                            <a:srgbClr val="669CC4"/>
                          </a:solidFill>
                          <a:effectLst/>
                          <a:latin typeface="黑体" pitchFamily="2" charset="-122"/>
                          <a:ea typeface="黑体" pitchFamily="2" charset="-122"/>
                        </a:rPr>
                        <a:t>0</a:t>
                      </a:r>
                      <a:r>
                        <a:rPr kumimoji="1" lang="zh-CN" altLang="en-US" sz="1800" b="0" i="0" u="none" strike="noStrike" cap="none" normalizeH="0" baseline="0">
                          <a:ln>
                            <a:noFill/>
                          </a:ln>
                          <a:solidFill>
                            <a:srgbClr val="669CC4"/>
                          </a:solidFill>
                          <a:effectLst/>
                          <a:latin typeface="Times New Roman"/>
                          <a:ea typeface="黑体" pitchFamily="2" charset="-122"/>
                        </a:rPr>
                        <a:t>”</a:t>
                      </a:r>
                      <a:endParaRPr kumimoji="1" lang="zh-CN" altLang="en-US" sz="1800" b="0" i="0" u="none" strike="noStrike" cap="none" normalizeH="0" baseline="0">
                        <a:ln>
                          <a:noFill/>
                        </a:ln>
                        <a:solidFill>
                          <a:srgbClr val="669CC4"/>
                        </a:solidFill>
                        <a:effectLst/>
                        <a:latin typeface="黑体" pitchFamily="2" charset="-122"/>
                        <a:ea typeface="黑体" pitchFamily="2" charset="-122"/>
                      </a:endParaRPr>
                    </a:p>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0" i="0" u="none" strike="noStrike" cap="none" normalizeH="0" baseline="0">
                          <a:ln>
                            <a:noFill/>
                          </a:ln>
                          <a:solidFill>
                            <a:srgbClr val="669CC4"/>
                          </a:solidFill>
                          <a:effectLst/>
                          <a:latin typeface="黑体" pitchFamily="2" charset="-122"/>
                          <a:ea typeface="黑体" pitchFamily="2" charset="-122"/>
                        </a:rPr>
                        <a:t>⑩ &gt;12</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2502744" name="Group 88">
            <a:extLst>
              <a:ext uri="{FF2B5EF4-FFF2-40B4-BE49-F238E27FC236}">
                <a16:creationId xmlns:a16="http://schemas.microsoft.com/office/drawing/2014/main" id="{535A9262-6088-478D-A0BC-8D25C9BD5E7C}"/>
              </a:ext>
            </a:extLst>
          </p:cNvPr>
          <p:cNvGraphicFramePr>
            <a:graphicFrameLocks noGrp="1"/>
          </p:cNvGraphicFramePr>
          <p:nvPr/>
        </p:nvGraphicFramePr>
        <p:xfrm>
          <a:off x="4495800" y="5334000"/>
          <a:ext cx="4343400" cy="1066800"/>
        </p:xfrm>
        <a:graphic>
          <a:graphicData uri="http://schemas.openxmlformats.org/drawingml/2006/table">
            <a:tbl>
              <a:tblPr/>
              <a:tblGrid>
                <a:gridCol w="1257300">
                  <a:extLst>
                    <a:ext uri="{9D8B030D-6E8A-4147-A177-3AD203B41FA5}">
                      <a16:colId xmlns:a16="http://schemas.microsoft.com/office/drawing/2014/main" val="20000"/>
                    </a:ext>
                  </a:extLst>
                </a:gridCol>
                <a:gridCol w="1427163">
                  <a:extLst>
                    <a:ext uri="{9D8B030D-6E8A-4147-A177-3AD203B41FA5}">
                      <a16:colId xmlns:a16="http://schemas.microsoft.com/office/drawing/2014/main" val="20001"/>
                    </a:ext>
                  </a:extLst>
                </a:gridCol>
                <a:gridCol w="1658937">
                  <a:extLst>
                    <a:ext uri="{9D8B030D-6E8A-4147-A177-3AD203B41FA5}">
                      <a16:colId xmlns:a16="http://schemas.microsoft.com/office/drawing/2014/main" val="20002"/>
                    </a:ext>
                  </a:extLst>
                </a:gridCol>
              </a:tblGrid>
              <a:tr h="4572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EF8D2B"/>
                          </a:solidFill>
                          <a:effectLst/>
                          <a:latin typeface="黑体" pitchFamily="2" charset="-122"/>
                          <a:ea typeface="黑体" pitchFamily="2" charset="-122"/>
                        </a:rPr>
                        <a:t>测试数据</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EF8D2B"/>
                          </a:solidFill>
                          <a:effectLst/>
                          <a:latin typeface="黑体" pitchFamily="2" charset="-122"/>
                          <a:ea typeface="黑体" pitchFamily="2" charset="-122"/>
                        </a:rPr>
                        <a:t>期望结果</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EF8D2B"/>
                          </a:solidFill>
                          <a:effectLst/>
                          <a:latin typeface="黑体" pitchFamily="2" charset="-122"/>
                          <a:ea typeface="黑体" pitchFamily="2" charset="-122"/>
                        </a:rPr>
                        <a:t>测试范围</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60960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669CC4"/>
                          </a:solidFill>
                          <a:effectLst/>
                          <a:latin typeface="黑体" pitchFamily="2" charset="-122"/>
                          <a:ea typeface="黑体" pitchFamily="2" charset="-122"/>
                        </a:rPr>
                        <a:t> </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0" i="0" u="none" strike="noStrike" cap="none" normalizeH="0" baseline="0">
                          <a:ln>
                            <a:noFill/>
                          </a:ln>
                          <a:solidFill>
                            <a:srgbClr val="669CC4"/>
                          </a:solidFill>
                          <a:effectLst/>
                          <a:latin typeface="黑体" pitchFamily="2" charset="-122"/>
                          <a:ea typeface="黑体" pitchFamily="2" charset="-122"/>
                        </a:rPr>
                        <a:t> </a:t>
                      </a:r>
                      <a:endParaRPr kumimoji="1" lang="zh-CN" altLang="en-US" sz="1800" b="0" i="0" u="none" strike="noStrike" cap="none" normalizeH="0" baseline="0">
                        <a:ln>
                          <a:noFill/>
                        </a:ln>
                        <a:solidFill>
                          <a:srgbClr val="669CC4"/>
                        </a:solidFill>
                        <a:effectLst/>
                        <a:latin typeface="黑体" pitchFamily="2" charset="-122"/>
                        <a:ea typeface="黑体" pitchFamily="2" charset="-122"/>
                      </a:endParaRP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800" b="0" i="0" u="none" strike="noStrike" cap="none" normalizeH="0" baseline="0">
                          <a:ln>
                            <a:noFill/>
                          </a:ln>
                          <a:solidFill>
                            <a:srgbClr val="669CC4"/>
                          </a:solidFill>
                          <a:effectLst/>
                          <a:latin typeface="黑体" pitchFamily="2" charset="-122"/>
                          <a:ea typeface="黑体" pitchFamily="2" charset="-122"/>
                        </a:rPr>
                        <a:t> </a:t>
                      </a:r>
                      <a:r>
                        <a:rPr kumimoji="1" lang="zh-CN" altLang="en-US" sz="1800" b="0" i="0" u="none" strike="noStrike" cap="none" normalizeH="0" baseline="0">
                          <a:ln>
                            <a:noFill/>
                          </a:ln>
                          <a:solidFill>
                            <a:srgbClr val="669CC4"/>
                          </a:solidFill>
                          <a:effectLst/>
                          <a:latin typeface="黑体" pitchFamily="2" charset="-122"/>
                          <a:ea typeface="黑体" pitchFamily="2" charset="-122"/>
                        </a:rPr>
                        <a:t> </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2502688" name="Rectangle 32">
            <a:extLst>
              <a:ext uri="{FF2B5EF4-FFF2-40B4-BE49-F238E27FC236}">
                <a16:creationId xmlns:a16="http://schemas.microsoft.com/office/drawing/2014/main" id="{19DC0C01-5EF1-4BE5-A7B8-542F0A5F7DE7}"/>
              </a:ext>
            </a:extLst>
          </p:cNvPr>
          <p:cNvSpPr>
            <a:spLocks noChangeArrowheads="1"/>
          </p:cNvSpPr>
          <p:nvPr/>
        </p:nvSpPr>
        <p:spPr bwMode="auto">
          <a:xfrm>
            <a:off x="4648200" y="5943600"/>
            <a:ext cx="10668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000" b="1">
                <a:solidFill>
                  <a:srgbClr val="135CED"/>
                </a:solidFill>
                <a:latin typeface="Times New Roman" panose="02020603050405020304" pitchFamily="18" charset="0"/>
                <a:ea typeface="文鼎细圆" pitchFamily="49" charset="-122"/>
              </a:rPr>
              <a:t>197011</a:t>
            </a:r>
          </a:p>
        </p:txBody>
      </p:sp>
      <p:sp>
        <p:nvSpPr>
          <p:cNvPr id="2502737" name="Rectangle 81">
            <a:extLst>
              <a:ext uri="{FF2B5EF4-FFF2-40B4-BE49-F238E27FC236}">
                <a16:creationId xmlns:a16="http://schemas.microsoft.com/office/drawing/2014/main" id="{AE1FE16F-5191-444D-9DA7-21E50E4A5664}"/>
              </a:ext>
            </a:extLst>
          </p:cNvPr>
          <p:cNvSpPr>
            <a:spLocks noChangeArrowheads="1"/>
          </p:cNvSpPr>
          <p:nvPr/>
        </p:nvSpPr>
        <p:spPr bwMode="auto">
          <a:xfrm>
            <a:off x="5943600" y="5943600"/>
            <a:ext cx="10668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2000">
                <a:solidFill>
                  <a:srgbClr val="135CED"/>
                </a:solidFill>
                <a:latin typeface="Times New Roman" panose="02020603050405020304" pitchFamily="18" charset="0"/>
                <a:ea typeface="黑体" panose="02010609060101010101" pitchFamily="49" charset="-122"/>
              </a:rPr>
              <a:t>输入有效</a:t>
            </a:r>
          </a:p>
        </p:txBody>
      </p:sp>
      <p:sp>
        <p:nvSpPr>
          <p:cNvPr id="2502738" name="Rectangle 82">
            <a:extLst>
              <a:ext uri="{FF2B5EF4-FFF2-40B4-BE49-F238E27FC236}">
                <a16:creationId xmlns:a16="http://schemas.microsoft.com/office/drawing/2014/main" id="{075350EA-6409-41E2-A474-B8A222D20189}"/>
              </a:ext>
            </a:extLst>
          </p:cNvPr>
          <p:cNvSpPr>
            <a:spLocks noChangeArrowheads="1"/>
          </p:cNvSpPr>
          <p:nvPr/>
        </p:nvSpPr>
        <p:spPr bwMode="auto">
          <a:xfrm>
            <a:off x="7391400" y="5943600"/>
            <a:ext cx="1295400" cy="381000"/>
          </a:xfrm>
          <a:prstGeom prst="rect">
            <a:avLst/>
          </a:prstGeom>
          <a:solidFill>
            <a:schemeClr val="bg1"/>
          </a:solidFill>
          <a:ln w="9525">
            <a:noFill/>
            <a:miter lim="800000"/>
            <a:headEnd/>
            <a:tailEnd/>
          </a:ln>
          <a:effectLst/>
        </p:spPr>
        <p:txBody>
          <a:bodyPr wrap="none" anchor="ctr"/>
          <a:lstStyle/>
          <a:p>
            <a:pPr algn="ctr">
              <a:defRPr/>
            </a:pPr>
            <a:r>
              <a:rPr kumimoji="1" lang="en-US" altLang="zh-CN" sz="2000" b="1">
                <a:solidFill>
                  <a:srgbClr val="EF8D2B"/>
                </a:solidFill>
                <a:effectLst>
                  <a:outerShdw blurRad="38100" dist="38100" dir="2700000" algn="tl">
                    <a:srgbClr val="000000"/>
                  </a:outerShdw>
                </a:effectLst>
                <a:latin typeface="黑体" pitchFamily="2" charset="-122"/>
                <a:ea typeface="黑体" pitchFamily="2" charset="-122"/>
              </a:rPr>
              <a:t>①、</a:t>
            </a:r>
            <a:r>
              <a:rPr kumimoji="1" lang="zh-CN" altLang="en-US" sz="2000" b="1">
                <a:solidFill>
                  <a:srgbClr val="EF8D2B"/>
                </a:solidFill>
                <a:effectLst>
                  <a:outerShdw blurRad="38100" dist="38100" dir="2700000" algn="tl">
                    <a:srgbClr val="000000"/>
                  </a:outerShdw>
                </a:effectLst>
                <a:latin typeface="黑体" pitchFamily="2" charset="-122"/>
                <a:ea typeface="黑体" pitchFamily="2" charset="-122"/>
              </a:rPr>
              <a:t>⑤、⑧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2502744"/>
                                        </p:tgtEl>
                                        <p:attrNameLst>
                                          <p:attrName>style.visibility</p:attrName>
                                        </p:attrNameLst>
                                      </p:cBhvr>
                                      <p:to>
                                        <p:strVal val="visible"/>
                                      </p:to>
                                    </p:set>
                                    <p:animEffect transition="in" filter="randombar(horizontal)">
                                      <p:cBhvr>
                                        <p:cTn id="7" dur="500"/>
                                        <p:tgtEl>
                                          <p:spTgt spid="25027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502688"/>
                                        </p:tgtEl>
                                        <p:attrNameLst>
                                          <p:attrName>style.visibility</p:attrName>
                                        </p:attrNameLst>
                                      </p:cBhvr>
                                      <p:to>
                                        <p:strVal val="visible"/>
                                      </p:to>
                                    </p:set>
                                    <p:animEffect transition="in" filter="dissolve">
                                      <p:cBhvr>
                                        <p:cTn id="12" dur="500"/>
                                        <p:tgtEl>
                                          <p:spTgt spid="25026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502737"/>
                                        </p:tgtEl>
                                        <p:attrNameLst>
                                          <p:attrName>style.visibility</p:attrName>
                                        </p:attrNameLst>
                                      </p:cBhvr>
                                      <p:to>
                                        <p:strVal val="visible"/>
                                      </p:to>
                                    </p:set>
                                    <p:animEffect transition="in" filter="dissolve">
                                      <p:cBhvr>
                                        <p:cTn id="17" dur="500"/>
                                        <p:tgtEl>
                                          <p:spTgt spid="250273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502738"/>
                                        </p:tgtEl>
                                        <p:attrNameLst>
                                          <p:attrName>style.visibility</p:attrName>
                                        </p:attrNameLst>
                                      </p:cBhvr>
                                      <p:to>
                                        <p:strVal val="visible"/>
                                      </p:to>
                                    </p:set>
                                    <p:animEffect transition="in" filter="dissolve">
                                      <p:cBhvr>
                                        <p:cTn id="22" dur="500"/>
                                        <p:tgtEl>
                                          <p:spTgt spid="2502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2688" grpId="0" animBg="1" autoUpdateAnimBg="0"/>
      <p:bldP spid="2502737" grpId="0" animBg="1" autoUpdateAnimBg="0"/>
      <p:bldP spid="2502738" grpId="0" animBg="1" autoUpdateAnimBg="0"/>
    </p:bld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日期占位符 1">
            <a:extLst>
              <a:ext uri="{FF2B5EF4-FFF2-40B4-BE49-F238E27FC236}">
                <a16:creationId xmlns:a16="http://schemas.microsoft.com/office/drawing/2014/main" id="{CA1D7D26-2311-4B5A-9975-882C8775FFFA}"/>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F7A500B2-5BBF-4FFA-8086-619A805E1F65}"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136195" name="Rectangle 42">
            <a:extLst>
              <a:ext uri="{FF2B5EF4-FFF2-40B4-BE49-F238E27FC236}">
                <a16:creationId xmlns:a16="http://schemas.microsoft.com/office/drawing/2014/main" id="{ACEE2DE4-CCA1-4A11-BD68-29CD40F62887}"/>
              </a:ext>
            </a:extLst>
          </p:cNvPr>
          <p:cNvSpPr>
            <a:spLocks noChangeArrowheads="1"/>
          </p:cNvSpPr>
          <p:nvPr/>
        </p:nvSpPr>
        <p:spPr bwMode="auto">
          <a:xfrm>
            <a:off x="3048000" y="838200"/>
            <a:ext cx="7315200" cy="1143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endParaRPr lang="zh-CN" altLang="en-US" sz="2800">
              <a:solidFill>
                <a:schemeClr val="tx1"/>
              </a:solidFill>
              <a:latin typeface="Times New Roman" panose="02020603050405020304" pitchFamily="18" charset="0"/>
              <a:ea typeface="楷体_GB2312" pitchFamily="49" charset="-122"/>
            </a:endParaRPr>
          </a:p>
        </p:txBody>
      </p:sp>
      <p:graphicFrame>
        <p:nvGraphicFramePr>
          <p:cNvPr id="2506803" name="Group 51">
            <a:extLst>
              <a:ext uri="{FF2B5EF4-FFF2-40B4-BE49-F238E27FC236}">
                <a16:creationId xmlns:a16="http://schemas.microsoft.com/office/drawing/2014/main" id="{BF743DCA-6C82-44E4-8679-6D508AD56B45}"/>
              </a:ext>
            </a:extLst>
          </p:cNvPr>
          <p:cNvGraphicFramePr>
            <a:graphicFrameLocks noGrp="1"/>
          </p:cNvGraphicFramePr>
          <p:nvPr/>
        </p:nvGraphicFramePr>
        <p:xfrm>
          <a:off x="3352800" y="457200"/>
          <a:ext cx="6705600" cy="1600200"/>
        </p:xfrm>
        <a:graphic>
          <a:graphicData uri="http://schemas.openxmlformats.org/drawingml/2006/table">
            <a:tbl>
              <a:tblPr/>
              <a:tblGrid>
                <a:gridCol w="12954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gridCol w="3276600">
                  <a:extLst>
                    <a:ext uri="{9D8B030D-6E8A-4147-A177-3AD203B41FA5}">
                      <a16:colId xmlns:a16="http://schemas.microsoft.com/office/drawing/2014/main" val="20002"/>
                    </a:ext>
                  </a:extLst>
                </a:gridCol>
              </a:tblGrid>
              <a:tr h="3556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669CC4"/>
                          </a:solidFill>
                          <a:effectLst/>
                          <a:latin typeface="幼圆" pitchFamily="49" charset="-122"/>
                          <a:ea typeface="幼圆" pitchFamily="49" charset="-122"/>
                        </a:rPr>
                        <a:t>输入数据</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669CC4"/>
                          </a:solidFill>
                          <a:effectLst/>
                          <a:latin typeface="幼圆" pitchFamily="49" charset="-122"/>
                          <a:ea typeface="幼圆" pitchFamily="49" charset="-122"/>
                        </a:rPr>
                        <a:t>有效等价类</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669CC4"/>
                          </a:solidFill>
                          <a:effectLst/>
                          <a:latin typeface="幼圆" pitchFamily="49" charset="-122"/>
                          <a:ea typeface="幼圆" pitchFamily="49" charset="-122"/>
                        </a:rPr>
                        <a:t>无效等价类</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3340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669CC4"/>
                          </a:solidFill>
                          <a:effectLst/>
                          <a:latin typeface="幼圆" pitchFamily="49" charset="-122"/>
                          <a:ea typeface="幼圆" pitchFamily="49" charset="-122"/>
                        </a:rPr>
                        <a:t>出生年月</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0" i="0" u="none" strike="noStrike" cap="none" normalizeH="0" baseline="0">
                          <a:ln>
                            <a:noFill/>
                          </a:ln>
                          <a:solidFill>
                            <a:srgbClr val="669CC4"/>
                          </a:solidFill>
                          <a:effectLst/>
                          <a:latin typeface="幼圆" pitchFamily="49" charset="-122"/>
                          <a:ea typeface="幼圆" pitchFamily="49" charset="-122"/>
                        </a:rPr>
                        <a:t>① 6</a:t>
                      </a:r>
                      <a:r>
                        <a:rPr kumimoji="1" lang="zh-CN" altLang="en-US" sz="1400" b="0" i="0" u="none" strike="noStrike" cap="none" normalizeH="0" baseline="0">
                          <a:ln>
                            <a:noFill/>
                          </a:ln>
                          <a:solidFill>
                            <a:srgbClr val="669CC4"/>
                          </a:solidFill>
                          <a:effectLst/>
                          <a:latin typeface="幼圆" pitchFamily="49" charset="-122"/>
                          <a:ea typeface="幼圆" pitchFamily="49" charset="-122"/>
                        </a:rPr>
                        <a:t>位有效数字字符</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400" b="0" i="0" u="none" strike="noStrike" cap="none" normalizeH="0" baseline="0">
                          <a:ln>
                            <a:noFill/>
                          </a:ln>
                          <a:solidFill>
                            <a:srgbClr val="669CC4"/>
                          </a:solidFill>
                          <a:effectLst/>
                          <a:latin typeface="幼圆" pitchFamily="49" charset="-122"/>
                          <a:ea typeface="幼圆" pitchFamily="49" charset="-122"/>
                        </a:rPr>
                        <a:t>②</a:t>
                      </a:r>
                      <a:r>
                        <a:rPr kumimoji="1" lang="zh-CN" altLang="en-US" sz="1400" b="0" i="0" u="none" strike="noStrike" cap="none" normalizeH="0" baseline="0">
                          <a:ln>
                            <a:noFill/>
                          </a:ln>
                          <a:solidFill>
                            <a:srgbClr val="669CC4"/>
                          </a:solidFill>
                          <a:effectLst/>
                          <a:latin typeface="幼圆" pitchFamily="49" charset="-122"/>
                          <a:ea typeface="幼圆" pitchFamily="49" charset="-122"/>
                        </a:rPr>
                        <a:t> 有非数字字符 </a:t>
                      </a:r>
                      <a:r>
                        <a:rPr kumimoji="1" lang="en-US" altLang="zh-CN" sz="1400" b="0" i="0" u="none" strike="noStrike" cap="none" normalizeH="0" baseline="0">
                          <a:ln>
                            <a:noFill/>
                          </a:ln>
                          <a:solidFill>
                            <a:srgbClr val="669CC4"/>
                          </a:solidFill>
                          <a:effectLst/>
                          <a:latin typeface="幼圆" pitchFamily="49" charset="-122"/>
                          <a:ea typeface="幼圆" pitchFamily="49" charset="-122"/>
                        </a:rPr>
                        <a:t>③ </a:t>
                      </a:r>
                      <a:r>
                        <a:rPr kumimoji="1" lang="zh-CN" altLang="en-US" sz="1400" b="0" i="0" u="none" strike="noStrike" cap="none" normalizeH="0" baseline="0">
                          <a:ln>
                            <a:noFill/>
                          </a:ln>
                          <a:solidFill>
                            <a:srgbClr val="669CC4"/>
                          </a:solidFill>
                          <a:effectLst/>
                          <a:latin typeface="幼圆" pitchFamily="49" charset="-122"/>
                          <a:ea typeface="幼圆" pitchFamily="49" charset="-122"/>
                        </a:rPr>
                        <a:t>少于6个数字字符</a:t>
                      </a:r>
                      <a:r>
                        <a:rPr kumimoji="1" lang="en-US" altLang="zh-CN" sz="1400" b="0" i="0" u="none" strike="noStrike" cap="none" normalizeH="0" baseline="0">
                          <a:ln>
                            <a:noFill/>
                          </a:ln>
                          <a:solidFill>
                            <a:srgbClr val="669CC4"/>
                          </a:solidFill>
                          <a:effectLst/>
                          <a:latin typeface="幼圆" pitchFamily="49" charset="-122"/>
                          <a:ea typeface="幼圆" pitchFamily="49" charset="-122"/>
                        </a:rPr>
                        <a:t>④</a:t>
                      </a:r>
                      <a:r>
                        <a:rPr kumimoji="1" lang="zh-CN" altLang="en-US" sz="1400" b="0" i="0" u="none" strike="noStrike" cap="none" normalizeH="0" baseline="0">
                          <a:ln>
                            <a:noFill/>
                          </a:ln>
                          <a:solidFill>
                            <a:srgbClr val="669CC4"/>
                          </a:solidFill>
                          <a:effectLst/>
                          <a:latin typeface="幼圆" pitchFamily="49" charset="-122"/>
                          <a:ea typeface="幼圆" pitchFamily="49" charset="-122"/>
                        </a:rPr>
                        <a:t>多于6个数字字符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5560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669CC4"/>
                          </a:solidFill>
                          <a:effectLst/>
                          <a:latin typeface="幼圆" pitchFamily="49" charset="-122"/>
                          <a:ea typeface="幼圆" pitchFamily="49" charset="-122"/>
                        </a:rPr>
                        <a:t>对应数值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669CC4"/>
                          </a:solidFill>
                          <a:effectLst/>
                          <a:latin typeface="幼圆" pitchFamily="49" charset="-122"/>
                          <a:ea typeface="幼圆" pitchFamily="49" charset="-122"/>
                        </a:rPr>
                        <a:t>⑤ </a:t>
                      </a:r>
                      <a:r>
                        <a:rPr kumimoji="1" lang="zh-CN" altLang="en-US" sz="1400" b="1" i="0" u="none" strike="noStrike" cap="none" normalizeH="0" baseline="0">
                          <a:ln>
                            <a:noFill/>
                          </a:ln>
                          <a:solidFill>
                            <a:srgbClr val="EF8D2B"/>
                          </a:solidFill>
                          <a:effectLst>
                            <a:outerShdw blurRad="38100" dist="38100" dir="2700000" algn="tl">
                              <a:srgbClr val="000000"/>
                            </a:outerShdw>
                          </a:effectLst>
                          <a:latin typeface="幼圆" pitchFamily="49" charset="-122"/>
                          <a:ea typeface="幼圆" pitchFamily="49" charset="-122"/>
                        </a:rPr>
                        <a:t>196007-197906</a:t>
                      </a:r>
                      <a:r>
                        <a:rPr kumimoji="1" lang="zh-CN" altLang="en-US" sz="1400" b="0" i="0" u="none" strike="noStrike" cap="none" normalizeH="0" baseline="0">
                          <a:ln>
                            <a:noFill/>
                          </a:ln>
                          <a:solidFill>
                            <a:srgbClr val="EF8D2B"/>
                          </a:solidFill>
                          <a:effectLst/>
                          <a:latin typeface="幼圆" pitchFamily="49" charset="-122"/>
                          <a:ea typeface="幼圆" pitchFamily="49" charset="-122"/>
                        </a:rPr>
                        <a:t> </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669CC4"/>
                          </a:solidFill>
                          <a:effectLst/>
                          <a:latin typeface="幼圆" pitchFamily="49" charset="-122"/>
                          <a:ea typeface="幼圆" pitchFamily="49" charset="-122"/>
                        </a:rPr>
                        <a:t>⑥ </a:t>
                      </a:r>
                      <a:r>
                        <a:rPr kumimoji="1" lang="zh-CN" altLang="en-US" sz="1400" b="1" i="0" u="none" strike="noStrike" cap="none" normalizeH="0" baseline="0">
                          <a:ln>
                            <a:noFill/>
                          </a:ln>
                          <a:solidFill>
                            <a:srgbClr val="EF8D2B"/>
                          </a:solidFill>
                          <a:effectLst>
                            <a:outerShdw blurRad="38100" dist="38100" dir="2700000" algn="tl">
                              <a:srgbClr val="000000"/>
                            </a:outerShdw>
                          </a:effectLst>
                          <a:latin typeface="幼圆" pitchFamily="49" charset="-122"/>
                          <a:ea typeface="幼圆" pitchFamily="49" charset="-122"/>
                        </a:rPr>
                        <a:t>&lt; 196007   </a:t>
                      </a:r>
                      <a:r>
                        <a:rPr kumimoji="1" lang="zh-CN" altLang="en-US" sz="1400" b="0" i="0" u="none" strike="noStrike" cap="none" normalizeH="0" baseline="0">
                          <a:ln>
                            <a:noFill/>
                          </a:ln>
                          <a:solidFill>
                            <a:srgbClr val="669CC4"/>
                          </a:solidFill>
                          <a:effectLst/>
                          <a:latin typeface="幼圆" pitchFamily="49" charset="-122"/>
                          <a:ea typeface="幼圆" pitchFamily="49" charset="-122"/>
                        </a:rPr>
                        <a:t>⑦ </a:t>
                      </a:r>
                      <a:r>
                        <a:rPr kumimoji="1" lang="zh-CN" altLang="en-US" sz="1400" b="1" i="0" u="none" strike="noStrike" cap="none" normalizeH="0" baseline="0">
                          <a:ln>
                            <a:noFill/>
                          </a:ln>
                          <a:solidFill>
                            <a:srgbClr val="EF8D2B"/>
                          </a:solidFill>
                          <a:effectLst>
                            <a:outerShdw blurRad="38100" dist="38100" dir="2700000" algn="tl">
                              <a:srgbClr val="000000"/>
                            </a:outerShdw>
                          </a:effectLst>
                          <a:latin typeface="幼圆" pitchFamily="49" charset="-122"/>
                          <a:ea typeface="幼圆" pitchFamily="49" charset="-122"/>
                        </a:rPr>
                        <a:t>&gt; 197906</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5560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669CC4"/>
                          </a:solidFill>
                          <a:effectLst/>
                          <a:latin typeface="幼圆" pitchFamily="49" charset="-122"/>
                          <a:ea typeface="幼圆" pitchFamily="49" charset="-122"/>
                        </a:rPr>
                        <a:t>月份对应数值</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669CC4"/>
                          </a:solidFill>
                          <a:effectLst/>
                          <a:latin typeface="幼圆" pitchFamily="49" charset="-122"/>
                          <a:ea typeface="幼圆" pitchFamily="49" charset="-122"/>
                        </a:rPr>
                        <a:t>⑧ 在1-12之间</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400" b="0" i="0" u="none" strike="noStrike" cap="none" normalizeH="0" baseline="0">
                          <a:ln>
                            <a:noFill/>
                          </a:ln>
                          <a:solidFill>
                            <a:srgbClr val="669CC4"/>
                          </a:solidFill>
                          <a:effectLst/>
                          <a:latin typeface="幼圆" pitchFamily="49" charset="-122"/>
                          <a:ea typeface="幼圆" pitchFamily="49" charset="-122"/>
                        </a:rPr>
                        <a:t>⑨ 等于 </a:t>
                      </a:r>
                      <a:r>
                        <a:rPr kumimoji="1" lang="zh-CN" altLang="en-US" sz="1400" b="0" i="0" u="none" strike="noStrike" cap="none" normalizeH="0" baseline="0">
                          <a:ln>
                            <a:noFill/>
                          </a:ln>
                          <a:solidFill>
                            <a:srgbClr val="669CC4"/>
                          </a:solidFill>
                          <a:effectLst/>
                          <a:latin typeface="Times New Roman"/>
                          <a:ea typeface="幼圆" pitchFamily="49" charset="-122"/>
                        </a:rPr>
                        <a:t>“</a:t>
                      </a:r>
                      <a:r>
                        <a:rPr kumimoji="1" lang="zh-CN" altLang="en-US" sz="1400" b="0" i="0" u="none" strike="noStrike" cap="none" normalizeH="0" baseline="0">
                          <a:ln>
                            <a:noFill/>
                          </a:ln>
                          <a:solidFill>
                            <a:srgbClr val="669CC4"/>
                          </a:solidFill>
                          <a:effectLst/>
                          <a:latin typeface="幼圆" pitchFamily="49" charset="-122"/>
                          <a:ea typeface="幼圆" pitchFamily="49" charset="-122"/>
                        </a:rPr>
                        <a:t>0</a:t>
                      </a:r>
                      <a:r>
                        <a:rPr kumimoji="1" lang="zh-CN" altLang="en-US" sz="1400" b="0" i="0" u="none" strike="noStrike" cap="none" normalizeH="0" baseline="0">
                          <a:ln>
                            <a:noFill/>
                          </a:ln>
                          <a:solidFill>
                            <a:srgbClr val="669CC4"/>
                          </a:solidFill>
                          <a:effectLst/>
                          <a:latin typeface="Times New Roman"/>
                          <a:ea typeface="幼圆" pitchFamily="49" charset="-122"/>
                        </a:rPr>
                        <a:t>”</a:t>
                      </a:r>
                      <a:r>
                        <a:rPr kumimoji="1" lang="zh-CN" altLang="en-US" sz="1400" b="0" i="0" u="none" strike="noStrike" cap="none" normalizeH="0" baseline="0">
                          <a:ln>
                            <a:noFill/>
                          </a:ln>
                          <a:solidFill>
                            <a:srgbClr val="669CC4"/>
                          </a:solidFill>
                          <a:effectLst/>
                          <a:latin typeface="幼圆" pitchFamily="49" charset="-122"/>
                          <a:ea typeface="幼圆" pitchFamily="49" charset="-122"/>
                        </a:rPr>
                        <a:t>   </a:t>
                      </a:r>
                      <a:r>
                        <a:rPr kumimoji="1" lang="en-US" altLang="zh-CN" sz="1400" b="0" i="0" u="none" strike="noStrike" cap="none" normalizeH="0" baseline="0">
                          <a:ln>
                            <a:noFill/>
                          </a:ln>
                          <a:solidFill>
                            <a:srgbClr val="669CC4"/>
                          </a:solidFill>
                          <a:effectLst/>
                          <a:latin typeface="幼圆" pitchFamily="49" charset="-122"/>
                          <a:ea typeface="幼圆" pitchFamily="49" charset="-122"/>
                        </a:rPr>
                        <a:t>⑩ &gt;12</a:t>
                      </a:r>
                    </a:p>
                  </a:txBody>
                  <a:tcPr anchor="ctr" horzOverflow="overflow">
                    <a:lnL w="12700" cap="flat" cmpd="sng" algn="ctr">
                      <a:solidFill>
                        <a:srgbClr val="669CC4"/>
                      </a:solidFill>
                      <a:prstDash val="solid"/>
                      <a:round/>
                      <a:headEnd type="none" w="med" len="med"/>
                      <a:tailEnd type="none" w="med" len="med"/>
                    </a:lnL>
                    <a:lnR w="12700" cap="flat" cmpd="sng" algn="ctr">
                      <a:solidFill>
                        <a:srgbClr val="669CC4"/>
                      </a:solidFill>
                      <a:prstDash val="solid"/>
                      <a:round/>
                      <a:headEnd type="none" w="med" len="med"/>
                      <a:tailEnd type="none" w="med" len="med"/>
                    </a:lnR>
                    <a:lnT w="12700" cap="flat" cmpd="sng" algn="ctr">
                      <a:solidFill>
                        <a:srgbClr val="669CC4"/>
                      </a:solidFill>
                      <a:prstDash val="solid"/>
                      <a:round/>
                      <a:headEnd type="none" w="med" len="med"/>
                      <a:tailEnd type="none" w="med" len="med"/>
                    </a:lnT>
                    <a:lnB w="12700" cap="flat" cmpd="sng" algn="ctr">
                      <a:solidFill>
                        <a:srgbClr val="669CC4"/>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2506850" name="Group 98">
            <a:extLst>
              <a:ext uri="{FF2B5EF4-FFF2-40B4-BE49-F238E27FC236}">
                <a16:creationId xmlns:a16="http://schemas.microsoft.com/office/drawing/2014/main" id="{2053D099-ADDE-42E2-A8FD-EC607D8E3D3E}"/>
              </a:ext>
            </a:extLst>
          </p:cNvPr>
          <p:cNvGraphicFramePr>
            <a:graphicFrameLocks noGrp="1"/>
          </p:cNvGraphicFramePr>
          <p:nvPr/>
        </p:nvGraphicFramePr>
        <p:xfrm>
          <a:off x="3733800" y="2743201"/>
          <a:ext cx="5791200" cy="3733803"/>
        </p:xfrm>
        <a:graphic>
          <a:graphicData uri="http://schemas.openxmlformats.org/drawingml/2006/table">
            <a:tbl>
              <a:tblPr/>
              <a:tblGrid>
                <a:gridCol w="1538288">
                  <a:extLst>
                    <a:ext uri="{9D8B030D-6E8A-4147-A177-3AD203B41FA5}">
                      <a16:colId xmlns:a16="http://schemas.microsoft.com/office/drawing/2014/main" val="20000"/>
                    </a:ext>
                  </a:extLst>
                </a:gridCol>
                <a:gridCol w="1814512">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tblGrid>
              <a:tr h="43656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EF8D2B"/>
                          </a:solidFill>
                          <a:effectLst/>
                          <a:latin typeface="黑体" pitchFamily="2" charset="-122"/>
                          <a:ea typeface="黑体" pitchFamily="2" charset="-122"/>
                        </a:rPr>
                        <a:t>测试数据</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EF8D2B"/>
                          </a:solidFill>
                          <a:effectLst/>
                          <a:latin typeface="黑体" pitchFamily="2" charset="-122"/>
                          <a:ea typeface="黑体" pitchFamily="2" charset="-122"/>
                        </a:rPr>
                        <a:t>期望结果</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EF8D2B"/>
                          </a:solidFill>
                          <a:effectLst/>
                          <a:latin typeface="黑体" pitchFamily="2" charset="-122"/>
                          <a:ea typeface="黑体" pitchFamily="2" charset="-122"/>
                        </a:rPr>
                        <a:t>测试范围</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6990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endParaRPr kumimoji="1" lang="en-US" altLang="zh-CN" sz="1800" b="0" i="0" u="none" strike="noStrike" cap="none" normalizeH="0" baseline="0">
                        <a:ln>
                          <a:noFill/>
                        </a:ln>
                        <a:solidFill>
                          <a:srgbClr val="49AB39"/>
                        </a:solidFill>
                        <a:effectLst/>
                        <a:latin typeface="Times New Roman" charset="0"/>
                        <a:ea typeface="文鼎细圆" pitchFamily="49" charset="-122"/>
                      </a:endParaRP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49AB39"/>
                          </a:solidFill>
                          <a:effectLst/>
                          <a:latin typeface="Times New Roman" charset="0"/>
                          <a:ea typeface="黑体" pitchFamily="2" charset="-122"/>
                        </a:rPr>
                        <a:t> </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en-US" altLang="zh-CN" sz="1600" b="0" i="0" u="none" strike="noStrike" cap="none" normalizeH="0" baseline="0">
                          <a:ln>
                            <a:noFill/>
                          </a:ln>
                          <a:solidFill>
                            <a:srgbClr val="49AB39"/>
                          </a:solidFill>
                          <a:effectLst/>
                          <a:latin typeface="黑体" pitchFamily="2" charset="-122"/>
                          <a:ea typeface="黑体" pitchFamily="2" charset="-122"/>
                        </a:rPr>
                        <a:t>  </a:t>
                      </a:r>
                      <a:endParaRPr kumimoji="1" lang="zh-CN" altLang="en-US" sz="1600" b="0" i="0" u="none" strike="noStrike" cap="none" normalizeH="0" baseline="0">
                        <a:ln>
                          <a:noFill/>
                        </a:ln>
                        <a:solidFill>
                          <a:srgbClr val="49AB39"/>
                        </a:solidFill>
                        <a:effectLst/>
                        <a:latin typeface="黑体" pitchFamily="2" charset="-122"/>
                        <a:ea typeface="黑体" pitchFamily="2" charset="-122"/>
                      </a:endParaRP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68313">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endParaRPr kumimoji="1" lang="zh-CN" altLang="en-US" sz="1800" b="0" i="0" u="none" strike="noStrike" cap="none" normalizeH="0" baseline="0">
                        <a:ln>
                          <a:noFill/>
                        </a:ln>
                        <a:solidFill>
                          <a:srgbClr val="49AB39"/>
                        </a:solidFill>
                        <a:effectLst/>
                        <a:latin typeface="Times New Roman" charset="0"/>
                        <a:ea typeface="文鼎细圆" pitchFamily="49" charset="-122"/>
                      </a:endParaRP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49AB39"/>
                          </a:solidFill>
                          <a:effectLst/>
                          <a:latin typeface="Times New Roman" charset="0"/>
                          <a:ea typeface="黑体" pitchFamily="2" charset="-122"/>
                        </a:rPr>
                        <a:t> </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49AB39"/>
                          </a:solidFill>
                          <a:effectLst/>
                          <a:latin typeface="黑体" pitchFamily="2" charset="-122"/>
                          <a:ea typeface="黑体" pitchFamily="2" charset="-122"/>
                        </a:rPr>
                        <a:t>  </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71488">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endParaRPr kumimoji="1" lang="zh-CN" altLang="en-US" sz="1800" b="0" i="0" u="none" strike="noStrike" cap="none" normalizeH="0" baseline="0">
                        <a:ln>
                          <a:noFill/>
                        </a:ln>
                        <a:solidFill>
                          <a:srgbClr val="49AB39"/>
                        </a:solidFill>
                        <a:effectLst/>
                        <a:latin typeface="Times New Roman" charset="0"/>
                        <a:ea typeface="文鼎细圆" pitchFamily="49" charset="-122"/>
                      </a:endParaRP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49AB39"/>
                          </a:solidFill>
                          <a:effectLst/>
                          <a:latin typeface="Times New Roman" charset="0"/>
                          <a:ea typeface="黑体" pitchFamily="2" charset="-122"/>
                        </a:rPr>
                        <a:t> </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50000"/>
                        </a:spcBef>
                        <a:spcAft>
                          <a:spcPct val="0"/>
                        </a:spcAft>
                        <a:buClr>
                          <a:schemeClr val="accent1"/>
                        </a:buClr>
                        <a:buSzPct val="90000"/>
                        <a:buFont typeface="Monotype Sorts" pitchFamily="2" charset="2"/>
                        <a:buNone/>
                        <a:tabLst/>
                      </a:pPr>
                      <a:r>
                        <a:rPr kumimoji="1" lang="en-US" altLang="zh-CN" sz="1600" b="0" i="0" u="none" strike="noStrike" cap="none" normalizeH="0" baseline="0">
                          <a:ln>
                            <a:noFill/>
                          </a:ln>
                          <a:solidFill>
                            <a:srgbClr val="49AB39"/>
                          </a:solidFill>
                          <a:effectLst/>
                          <a:latin typeface="黑体" pitchFamily="2" charset="-122"/>
                          <a:ea typeface="黑体" pitchFamily="2" charset="-122"/>
                        </a:rPr>
                        <a:t> </a:t>
                      </a:r>
                      <a:r>
                        <a:rPr kumimoji="1" lang="en-US" altLang="zh-CN" sz="1800" b="0" i="0" u="none" strike="noStrike" cap="none" normalizeH="0" baseline="0">
                          <a:ln>
                            <a:noFill/>
                          </a:ln>
                          <a:solidFill>
                            <a:srgbClr val="49AB39"/>
                          </a:solidFill>
                          <a:effectLst/>
                          <a:latin typeface="黑体" pitchFamily="2" charset="-122"/>
                          <a:ea typeface="黑体" pitchFamily="2" charset="-122"/>
                        </a:rPr>
                        <a:t> </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6990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endParaRPr kumimoji="1" lang="zh-CN" altLang="en-US" sz="1800" b="0" i="0" u="none" strike="noStrike" cap="none" normalizeH="0" baseline="0">
                        <a:ln>
                          <a:noFill/>
                        </a:ln>
                        <a:solidFill>
                          <a:srgbClr val="49AB39"/>
                        </a:solidFill>
                        <a:effectLst/>
                        <a:latin typeface="Times New Roman" charset="0"/>
                        <a:ea typeface="文鼎细圆" pitchFamily="49" charset="-122"/>
                      </a:endParaRP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49AB39"/>
                          </a:solidFill>
                          <a:effectLst/>
                          <a:latin typeface="Times New Roman" charset="0"/>
                          <a:ea typeface="黑体" pitchFamily="2" charset="-122"/>
                        </a:rPr>
                        <a:t> </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5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49AB39"/>
                          </a:solidFill>
                          <a:effectLst/>
                          <a:latin typeface="黑体" pitchFamily="2" charset="-122"/>
                          <a:ea typeface="黑体" pitchFamily="2" charset="-122"/>
                        </a:rPr>
                        <a:t>  </a:t>
                      </a:r>
                      <a:endParaRPr kumimoji="1" lang="en-US" altLang="zh-CN" sz="1800" b="0" i="0" u="none" strike="noStrike" cap="none" normalizeH="0" baseline="0">
                        <a:ln>
                          <a:noFill/>
                        </a:ln>
                        <a:solidFill>
                          <a:srgbClr val="49AB39"/>
                        </a:solidFill>
                        <a:effectLst/>
                        <a:latin typeface="黑体" pitchFamily="2" charset="-122"/>
                        <a:ea typeface="黑体" pitchFamily="2" charset="-122"/>
                      </a:endParaRP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471488">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endParaRPr kumimoji="1" lang="zh-CN" altLang="en-US" sz="1800" b="0" i="0" u="none" strike="noStrike" cap="none" normalizeH="0" baseline="0">
                        <a:ln>
                          <a:noFill/>
                        </a:ln>
                        <a:solidFill>
                          <a:srgbClr val="49AB39"/>
                        </a:solidFill>
                        <a:effectLst/>
                        <a:latin typeface="Times New Roman" charset="0"/>
                        <a:ea typeface="文鼎细圆" pitchFamily="49" charset="-122"/>
                      </a:endParaRP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49AB39"/>
                          </a:solidFill>
                          <a:effectLst/>
                          <a:latin typeface="Times New Roman" charset="0"/>
                          <a:ea typeface="黑体" pitchFamily="2" charset="-122"/>
                        </a:rPr>
                        <a:t> </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5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49AB39"/>
                          </a:solidFill>
                          <a:effectLst/>
                          <a:latin typeface="黑体" pitchFamily="2" charset="-122"/>
                          <a:ea typeface="黑体" pitchFamily="2" charset="-122"/>
                        </a:rPr>
                        <a:t>  </a:t>
                      </a:r>
                      <a:endParaRPr kumimoji="1" lang="en-US" altLang="zh-CN" sz="1800" b="0" i="0" u="none" strike="noStrike" cap="none" normalizeH="0" baseline="0">
                        <a:ln>
                          <a:noFill/>
                        </a:ln>
                        <a:solidFill>
                          <a:srgbClr val="49AB39"/>
                        </a:solidFill>
                        <a:effectLst/>
                        <a:latin typeface="黑体" pitchFamily="2" charset="-122"/>
                        <a:ea typeface="黑体" pitchFamily="2" charset="-122"/>
                      </a:endParaRP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468313">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endParaRPr kumimoji="1" lang="zh-CN" altLang="en-US" sz="1800" b="0" i="0" u="none" strike="noStrike" cap="none" normalizeH="0" baseline="0">
                        <a:ln>
                          <a:noFill/>
                        </a:ln>
                        <a:solidFill>
                          <a:srgbClr val="49AB39"/>
                        </a:solidFill>
                        <a:effectLst/>
                        <a:latin typeface="Times New Roman" charset="0"/>
                        <a:ea typeface="文鼎细圆" pitchFamily="49" charset="-122"/>
                      </a:endParaRP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endParaRPr kumimoji="1" lang="zh-CN" altLang="en-US" sz="1800" b="0" i="0" u="none" strike="noStrike" cap="none" normalizeH="0" baseline="0">
                        <a:ln>
                          <a:noFill/>
                        </a:ln>
                        <a:solidFill>
                          <a:srgbClr val="49AB39"/>
                        </a:solidFill>
                        <a:effectLst/>
                        <a:latin typeface="Times New Roman" charset="0"/>
                        <a:ea typeface="黑体" pitchFamily="2" charset="-122"/>
                      </a:endParaRP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49AB39"/>
                          </a:solidFill>
                          <a:effectLst/>
                          <a:latin typeface="黑体" pitchFamily="2" charset="-122"/>
                          <a:ea typeface="黑体" pitchFamily="2" charset="-122"/>
                        </a:rPr>
                        <a:t>  </a:t>
                      </a:r>
                      <a:endParaRPr kumimoji="1" lang="en-US" altLang="zh-CN" sz="1800" b="0" i="0" u="none" strike="noStrike" cap="none" normalizeH="0" baseline="0">
                        <a:ln>
                          <a:noFill/>
                        </a:ln>
                        <a:solidFill>
                          <a:srgbClr val="49AB39"/>
                        </a:solidFill>
                        <a:effectLst/>
                        <a:latin typeface="黑体" pitchFamily="2" charset="-122"/>
                        <a:ea typeface="黑体" pitchFamily="2" charset="-122"/>
                      </a:endParaRP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477838">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endParaRPr kumimoji="1" lang="zh-CN" altLang="en-US" sz="1800" b="0" i="0" u="none" strike="noStrike" cap="none" normalizeH="0" baseline="0">
                        <a:ln>
                          <a:noFill/>
                        </a:ln>
                        <a:solidFill>
                          <a:srgbClr val="49AB39"/>
                        </a:solidFill>
                        <a:effectLst/>
                        <a:latin typeface="Times New Roman" charset="0"/>
                        <a:ea typeface="文鼎细圆" pitchFamily="49" charset="-122"/>
                      </a:endParaRP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endParaRPr kumimoji="1" lang="zh-CN" altLang="en-US" sz="1800" b="0" i="0" u="none" strike="noStrike" cap="none" normalizeH="0" baseline="0">
                        <a:ln>
                          <a:noFill/>
                        </a:ln>
                        <a:solidFill>
                          <a:srgbClr val="49AB39"/>
                        </a:solidFill>
                        <a:effectLst/>
                        <a:latin typeface="Times New Roman" charset="0"/>
                        <a:ea typeface="黑体" pitchFamily="2" charset="-122"/>
                      </a:endParaRP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49AB39"/>
                          </a:solidFill>
                          <a:effectLst/>
                          <a:latin typeface="黑体" pitchFamily="2" charset="-122"/>
                          <a:ea typeface="黑体" pitchFamily="2" charset="-122"/>
                        </a:rPr>
                        <a:t> </a:t>
                      </a:r>
                      <a:r>
                        <a:rPr kumimoji="1" lang="en-US" altLang="zh-CN" sz="1800" b="0" i="0" u="none" strike="noStrike" cap="none" normalizeH="0" baseline="0">
                          <a:ln>
                            <a:noFill/>
                          </a:ln>
                          <a:solidFill>
                            <a:srgbClr val="49AB39"/>
                          </a:solidFill>
                          <a:effectLst/>
                          <a:latin typeface="黑体" pitchFamily="2" charset="-122"/>
                          <a:ea typeface="黑体" pitchFamily="2" charset="-122"/>
                        </a:rPr>
                        <a:t> </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grpSp>
        <p:nvGrpSpPr>
          <p:cNvPr id="136256" name="Group 128">
            <a:extLst>
              <a:ext uri="{FF2B5EF4-FFF2-40B4-BE49-F238E27FC236}">
                <a16:creationId xmlns:a16="http://schemas.microsoft.com/office/drawing/2014/main" id="{726897B0-0887-4553-94B0-05F19784D474}"/>
              </a:ext>
            </a:extLst>
          </p:cNvPr>
          <p:cNvGrpSpPr>
            <a:grpSpLocks/>
          </p:cNvGrpSpPr>
          <p:nvPr/>
        </p:nvGrpSpPr>
        <p:grpSpPr bwMode="auto">
          <a:xfrm>
            <a:off x="3810000" y="3200400"/>
            <a:ext cx="5410200" cy="3200400"/>
            <a:chOff x="1440" y="2016"/>
            <a:chExt cx="3408" cy="2016"/>
          </a:xfrm>
        </p:grpSpPr>
        <p:sp>
          <p:nvSpPr>
            <p:cNvPr id="2506851" name="Rectangle 99">
              <a:extLst>
                <a:ext uri="{FF2B5EF4-FFF2-40B4-BE49-F238E27FC236}">
                  <a16:creationId xmlns:a16="http://schemas.microsoft.com/office/drawing/2014/main" id="{5E4E3AF0-6082-46D8-8958-5323BBDF6D6D}"/>
                </a:ext>
              </a:extLst>
            </p:cNvPr>
            <p:cNvSpPr>
              <a:spLocks noChangeArrowheads="1"/>
            </p:cNvSpPr>
            <p:nvPr/>
          </p:nvSpPr>
          <p:spPr bwMode="auto">
            <a:xfrm>
              <a:off x="1440" y="2016"/>
              <a:ext cx="672" cy="240"/>
            </a:xfrm>
            <a:prstGeom prst="rect">
              <a:avLst/>
            </a:prstGeom>
            <a:solidFill>
              <a:schemeClr val="bg1"/>
            </a:solidFill>
            <a:ln w="9525">
              <a:noFill/>
              <a:miter lim="800000"/>
              <a:headEnd/>
              <a:tailEnd/>
            </a:ln>
            <a:effectLst/>
          </p:spPr>
          <p:txBody>
            <a:bodyPr wrap="none" anchor="ctr"/>
            <a:lstStyle/>
            <a:p>
              <a:pPr algn="ctr" eaLnBrk="1" hangingPunct="1">
                <a:spcBef>
                  <a:spcPct val="20000"/>
                </a:spcBef>
                <a:buClr>
                  <a:schemeClr val="accent1"/>
                </a:buClr>
                <a:buSzPct val="90000"/>
                <a:buFont typeface="Monotype Sorts" pitchFamily="2" charset="2"/>
                <a:buNone/>
                <a:defRPr/>
              </a:pPr>
              <a:r>
                <a:rPr kumimoji="1" lang="en-US" altLang="zh-CN" b="1">
                  <a:solidFill>
                    <a:srgbClr val="49AB39"/>
                  </a:solidFill>
                  <a:effectLst>
                    <a:outerShdw blurRad="38100" dist="38100" dir="2700000" algn="tl">
                      <a:srgbClr val="000000"/>
                    </a:outerShdw>
                  </a:effectLst>
                  <a:latin typeface="Times New Roman" charset="0"/>
                  <a:ea typeface="文鼎细圆" pitchFamily="49" charset="-122"/>
                </a:rPr>
                <a:t>MAY,70</a:t>
              </a:r>
            </a:p>
          </p:txBody>
        </p:sp>
        <p:sp>
          <p:nvSpPr>
            <p:cNvPr id="136259" name="Rectangle 100">
              <a:extLst>
                <a:ext uri="{FF2B5EF4-FFF2-40B4-BE49-F238E27FC236}">
                  <a16:creationId xmlns:a16="http://schemas.microsoft.com/office/drawing/2014/main" id="{62DC6EF2-CB1E-4391-B405-F3CB41FEB826}"/>
                </a:ext>
              </a:extLst>
            </p:cNvPr>
            <p:cNvSpPr>
              <a:spLocks noChangeArrowheads="1"/>
            </p:cNvSpPr>
            <p:nvPr/>
          </p:nvSpPr>
          <p:spPr bwMode="auto">
            <a:xfrm>
              <a:off x="2400" y="2016"/>
              <a:ext cx="672"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buClr>
                  <a:schemeClr val="accent1"/>
                </a:buClr>
                <a:buSzPct val="90000"/>
                <a:buFont typeface="Monotype Sorts" pitchFamily="2" charset="2"/>
                <a:buNone/>
              </a:pPr>
              <a:r>
                <a:rPr kumimoji="1" lang="zh-CN" altLang="en-US" sz="1800">
                  <a:solidFill>
                    <a:srgbClr val="49AB39"/>
                  </a:solidFill>
                  <a:latin typeface="Times New Roman" panose="02020603050405020304" pitchFamily="18" charset="0"/>
                  <a:ea typeface="黑体" panose="02010609060101010101" pitchFamily="49" charset="-122"/>
                </a:rPr>
                <a:t>输入无效</a:t>
              </a:r>
              <a:endParaRPr kumimoji="1" lang="en-US" altLang="zh-CN" sz="1800">
                <a:solidFill>
                  <a:srgbClr val="49AB39"/>
                </a:solidFill>
                <a:latin typeface="Times New Roman" panose="02020603050405020304" pitchFamily="18" charset="0"/>
                <a:ea typeface="黑体" panose="02010609060101010101" pitchFamily="49" charset="-122"/>
              </a:endParaRPr>
            </a:p>
          </p:txBody>
        </p:sp>
        <p:sp>
          <p:nvSpPr>
            <p:cNvPr id="136260" name="Rectangle 103">
              <a:extLst>
                <a:ext uri="{FF2B5EF4-FFF2-40B4-BE49-F238E27FC236}">
                  <a16:creationId xmlns:a16="http://schemas.microsoft.com/office/drawing/2014/main" id="{482C3D58-D8A8-4645-894A-D3BC989053F3}"/>
                </a:ext>
              </a:extLst>
            </p:cNvPr>
            <p:cNvSpPr>
              <a:spLocks noChangeArrowheads="1"/>
            </p:cNvSpPr>
            <p:nvPr/>
          </p:nvSpPr>
          <p:spPr bwMode="auto">
            <a:xfrm>
              <a:off x="3552" y="2016"/>
              <a:ext cx="1296"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r>
                <a:rPr kumimoji="1" lang="en-US" altLang="zh-CN" sz="1800">
                  <a:solidFill>
                    <a:srgbClr val="49AB39"/>
                  </a:solidFill>
                  <a:latin typeface="黑体" panose="02010609060101010101" pitchFamily="49" charset="-122"/>
                  <a:ea typeface="黑体" panose="02010609060101010101" pitchFamily="49" charset="-122"/>
                </a:rPr>
                <a:t>②</a:t>
              </a:r>
              <a:r>
                <a:rPr kumimoji="1" lang="zh-CN" altLang="en-US" sz="1800">
                  <a:solidFill>
                    <a:srgbClr val="49AB39"/>
                  </a:solidFill>
                  <a:latin typeface="黑体" panose="02010609060101010101" pitchFamily="49" charset="-122"/>
                  <a:ea typeface="黑体" panose="02010609060101010101" pitchFamily="49" charset="-122"/>
                </a:rPr>
                <a:t> 有非数字字符</a:t>
              </a:r>
            </a:p>
          </p:txBody>
        </p:sp>
        <p:sp>
          <p:nvSpPr>
            <p:cNvPr id="2506857" name="Rectangle 105">
              <a:extLst>
                <a:ext uri="{FF2B5EF4-FFF2-40B4-BE49-F238E27FC236}">
                  <a16:creationId xmlns:a16="http://schemas.microsoft.com/office/drawing/2014/main" id="{6CEE2134-4DD0-47D2-855D-CD13E2DDAF9F}"/>
                </a:ext>
              </a:extLst>
            </p:cNvPr>
            <p:cNvSpPr>
              <a:spLocks noChangeArrowheads="1"/>
            </p:cNvSpPr>
            <p:nvPr/>
          </p:nvSpPr>
          <p:spPr bwMode="auto">
            <a:xfrm>
              <a:off x="1440" y="2304"/>
              <a:ext cx="816" cy="240"/>
            </a:xfrm>
            <a:prstGeom prst="rect">
              <a:avLst/>
            </a:prstGeom>
            <a:solidFill>
              <a:schemeClr val="bg1"/>
            </a:solidFill>
            <a:ln w="9525">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zh-CN" altLang="en-US" b="1">
                  <a:solidFill>
                    <a:srgbClr val="49AB39"/>
                  </a:solidFill>
                  <a:effectLst>
                    <a:outerShdw blurRad="38100" dist="38100" dir="2700000" algn="tl">
                      <a:srgbClr val="000000"/>
                    </a:outerShdw>
                  </a:effectLst>
                  <a:latin typeface="Times New Roman" charset="0"/>
                  <a:ea typeface="文鼎细圆" pitchFamily="49" charset="-122"/>
                </a:rPr>
                <a:t>19705</a:t>
              </a:r>
            </a:p>
          </p:txBody>
        </p:sp>
        <p:sp>
          <p:nvSpPr>
            <p:cNvPr id="136262" name="Rectangle 107">
              <a:extLst>
                <a:ext uri="{FF2B5EF4-FFF2-40B4-BE49-F238E27FC236}">
                  <a16:creationId xmlns:a16="http://schemas.microsoft.com/office/drawing/2014/main" id="{003EA8FC-35E8-46B0-A52E-39BE24112E5D}"/>
                </a:ext>
              </a:extLst>
            </p:cNvPr>
            <p:cNvSpPr>
              <a:spLocks noChangeArrowheads="1"/>
            </p:cNvSpPr>
            <p:nvPr/>
          </p:nvSpPr>
          <p:spPr bwMode="auto">
            <a:xfrm>
              <a:off x="2400" y="2352"/>
              <a:ext cx="672"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buClr>
                  <a:schemeClr val="accent1"/>
                </a:buClr>
                <a:buSzPct val="90000"/>
                <a:buFont typeface="Monotype Sorts" pitchFamily="2" charset="2"/>
                <a:buNone/>
              </a:pPr>
              <a:r>
                <a:rPr kumimoji="1" lang="zh-CN" altLang="en-US" sz="1800">
                  <a:solidFill>
                    <a:srgbClr val="49AB39"/>
                  </a:solidFill>
                  <a:latin typeface="Times New Roman" panose="02020603050405020304" pitchFamily="18" charset="0"/>
                  <a:ea typeface="黑体" panose="02010609060101010101" pitchFamily="49" charset="-122"/>
                </a:rPr>
                <a:t>输入无效</a:t>
              </a:r>
              <a:endParaRPr kumimoji="1" lang="en-US" altLang="zh-CN" sz="1800">
                <a:solidFill>
                  <a:srgbClr val="49AB39"/>
                </a:solidFill>
                <a:latin typeface="Times New Roman" panose="02020603050405020304" pitchFamily="18" charset="0"/>
                <a:ea typeface="黑体" panose="02010609060101010101" pitchFamily="49" charset="-122"/>
              </a:endParaRPr>
            </a:p>
          </p:txBody>
        </p:sp>
        <p:sp>
          <p:nvSpPr>
            <p:cNvPr id="136263" name="Rectangle 108">
              <a:extLst>
                <a:ext uri="{FF2B5EF4-FFF2-40B4-BE49-F238E27FC236}">
                  <a16:creationId xmlns:a16="http://schemas.microsoft.com/office/drawing/2014/main" id="{E2D33924-12DB-4DEA-9AD1-48101DDD9837}"/>
                </a:ext>
              </a:extLst>
            </p:cNvPr>
            <p:cNvSpPr>
              <a:spLocks noChangeArrowheads="1"/>
            </p:cNvSpPr>
            <p:nvPr/>
          </p:nvSpPr>
          <p:spPr bwMode="auto">
            <a:xfrm>
              <a:off x="2400" y="2640"/>
              <a:ext cx="672"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buClr>
                  <a:schemeClr val="accent1"/>
                </a:buClr>
                <a:buSzPct val="90000"/>
                <a:buFont typeface="Monotype Sorts" pitchFamily="2" charset="2"/>
                <a:buNone/>
              </a:pPr>
              <a:r>
                <a:rPr kumimoji="1" lang="zh-CN" altLang="en-US" sz="1800">
                  <a:solidFill>
                    <a:srgbClr val="49AB39"/>
                  </a:solidFill>
                  <a:latin typeface="Times New Roman" panose="02020603050405020304" pitchFamily="18" charset="0"/>
                  <a:ea typeface="黑体" panose="02010609060101010101" pitchFamily="49" charset="-122"/>
                </a:rPr>
                <a:t>输入无效</a:t>
              </a:r>
              <a:endParaRPr kumimoji="1" lang="en-US" altLang="zh-CN" sz="1800">
                <a:solidFill>
                  <a:srgbClr val="49AB39"/>
                </a:solidFill>
                <a:latin typeface="Times New Roman" panose="02020603050405020304" pitchFamily="18" charset="0"/>
                <a:ea typeface="黑体" panose="02010609060101010101" pitchFamily="49" charset="-122"/>
              </a:endParaRPr>
            </a:p>
          </p:txBody>
        </p:sp>
        <p:sp>
          <p:nvSpPr>
            <p:cNvPr id="136264" name="Rectangle 109">
              <a:extLst>
                <a:ext uri="{FF2B5EF4-FFF2-40B4-BE49-F238E27FC236}">
                  <a16:creationId xmlns:a16="http://schemas.microsoft.com/office/drawing/2014/main" id="{D15B279D-F291-4E07-8A48-123338B4AE16}"/>
                </a:ext>
              </a:extLst>
            </p:cNvPr>
            <p:cNvSpPr>
              <a:spLocks noChangeArrowheads="1"/>
            </p:cNvSpPr>
            <p:nvPr/>
          </p:nvSpPr>
          <p:spPr bwMode="auto">
            <a:xfrm>
              <a:off x="3552" y="2352"/>
              <a:ext cx="1296"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buClr>
                  <a:schemeClr val="accent1"/>
                </a:buClr>
                <a:buSzPct val="90000"/>
                <a:buFont typeface="Monotype Sorts" pitchFamily="2" charset="2"/>
                <a:buNone/>
              </a:pPr>
              <a:r>
                <a:rPr kumimoji="1" lang="en-US" altLang="zh-CN" sz="1800">
                  <a:solidFill>
                    <a:srgbClr val="49AB39"/>
                  </a:solidFill>
                  <a:latin typeface="黑体" panose="02010609060101010101" pitchFamily="49" charset="-122"/>
                  <a:ea typeface="黑体" panose="02010609060101010101" pitchFamily="49" charset="-122"/>
                </a:rPr>
                <a:t>③</a:t>
              </a:r>
              <a:r>
                <a:rPr kumimoji="1" lang="en-US" altLang="zh-CN" sz="1600">
                  <a:solidFill>
                    <a:srgbClr val="49AB39"/>
                  </a:solidFill>
                  <a:latin typeface="黑体" panose="02010609060101010101" pitchFamily="49" charset="-122"/>
                  <a:ea typeface="黑体" panose="02010609060101010101" pitchFamily="49" charset="-122"/>
                </a:rPr>
                <a:t> </a:t>
              </a:r>
              <a:r>
                <a:rPr kumimoji="1" lang="zh-CN" altLang="en-US" sz="1600">
                  <a:solidFill>
                    <a:srgbClr val="49AB39"/>
                  </a:solidFill>
                  <a:latin typeface="黑体" panose="02010609060101010101" pitchFamily="49" charset="-122"/>
                  <a:ea typeface="黑体" panose="02010609060101010101" pitchFamily="49" charset="-122"/>
                </a:rPr>
                <a:t>少于6个数字字符</a:t>
              </a:r>
            </a:p>
          </p:txBody>
        </p:sp>
        <p:sp>
          <p:nvSpPr>
            <p:cNvPr id="2506863" name="Rectangle 111">
              <a:extLst>
                <a:ext uri="{FF2B5EF4-FFF2-40B4-BE49-F238E27FC236}">
                  <a16:creationId xmlns:a16="http://schemas.microsoft.com/office/drawing/2014/main" id="{DCA46A6D-E988-4FA6-A89D-0E981D48C689}"/>
                </a:ext>
              </a:extLst>
            </p:cNvPr>
            <p:cNvSpPr>
              <a:spLocks noChangeArrowheads="1"/>
            </p:cNvSpPr>
            <p:nvPr/>
          </p:nvSpPr>
          <p:spPr bwMode="auto">
            <a:xfrm>
              <a:off x="1440" y="2640"/>
              <a:ext cx="816" cy="240"/>
            </a:xfrm>
            <a:prstGeom prst="rect">
              <a:avLst/>
            </a:prstGeom>
            <a:solidFill>
              <a:schemeClr val="bg1"/>
            </a:solidFill>
            <a:ln w="9525">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zh-CN" altLang="en-US" b="1">
                  <a:solidFill>
                    <a:srgbClr val="49AB39"/>
                  </a:solidFill>
                  <a:effectLst>
                    <a:outerShdw blurRad="38100" dist="38100" dir="2700000" algn="tl">
                      <a:srgbClr val="000000"/>
                    </a:outerShdw>
                  </a:effectLst>
                  <a:latin typeface="Times New Roman" charset="0"/>
                  <a:ea typeface="文鼎细圆" pitchFamily="49" charset="-122"/>
                </a:rPr>
                <a:t>1968011</a:t>
              </a:r>
            </a:p>
          </p:txBody>
        </p:sp>
        <p:sp>
          <p:nvSpPr>
            <p:cNvPr id="2506865" name="Rectangle 113">
              <a:extLst>
                <a:ext uri="{FF2B5EF4-FFF2-40B4-BE49-F238E27FC236}">
                  <a16:creationId xmlns:a16="http://schemas.microsoft.com/office/drawing/2014/main" id="{7E86CAEA-E2E9-4F5F-B95A-BDD4D78E2F67}"/>
                </a:ext>
              </a:extLst>
            </p:cNvPr>
            <p:cNvSpPr>
              <a:spLocks noChangeArrowheads="1"/>
            </p:cNvSpPr>
            <p:nvPr/>
          </p:nvSpPr>
          <p:spPr bwMode="auto">
            <a:xfrm>
              <a:off x="1440" y="2928"/>
              <a:ext cx="816" cy="240"/>
            </a:xfrm>
            <a:prstGeom prst="rect">
              <a:avLst/>
            </a:prstGeom>
            <a:solidFill>
              <a:schemeClr val="bg1"/>
            </a:solidFill>
            <a:ln w="9525">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zh-CN" altLang="en-US" b="1">
                  <a:solidFill>
                    <a:srgbClr val="49AB39"/>
                  </a:solidFill>
                  <a:effectLst>
                    <a:outerShdw blurRad="38100" dist="38100" dir="2700000" algn="tl">
                      <a:srgbClr val="000000"/>
                    </a:outerShdw>
                  </a:effectLst>
                  <a:latin typeface="Times New Roman" charset="0"/>
                  <a:ea typeface="文鼎细圆" pitchFamily="49" charset="-122"/>
                </a:rPr>
                <a:t>196008</a:t>
              </a:r>
            </a:p>
          </p:txBody>
        </p:sp>
        <p:sp>
          <p:nvSpPr>
            <p:cNvPr id="2506866" name="Rectangle 114">
              <a:extLst>
                <a:ext uri="{FF2B5EF4-FFF2-40B4-BE49-F238E27FC236}">
                  <a16:creationId xmlns:a16="http://schemas.microsoft.com/office/drawing/2014/main" id="{3DFE5C2C-DB70-4C4A-8E0C-3FDB21042E2B}"/>
                </a:ext>
              </a:extLst>
            </p:cNvPr>
            <p:cNvSpPr>
              <a:spLocks noChangeArrowheads="1"/>
            </p:cNvSpPr>
            <p:nvPr/>
          </p:nvSpPr>
          <p:spPr bwMode="auto">
            <a:xfrm>
              <a:off x="1440" y="3216"/>
              <a:ext cx="816" cy="240"/>
            </a:xfrm>
            <a:prstGeom prst="rect">
              <a:avLst/>
            </a:prstGeom>
            <a:solidFill>
              <a:schemeClr val="bg1"/>
            </a:solidFill>
            <a:ln w="9525">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zh-CN" altLang="en-US" b="1">
                  <a:solidFill>
                    <a:srgbClr val="49AB39"/>
                  </a:solidFill>
                  <a:effectLst>
                    <a:outerShdw blurRad="38100" dist="38100" dir="2700000" algn="tl">
                      <a:srgbClr val="000000"/>
                    </a:outerShdw>
                  </a:effectLst>
                  <a:latin typeface="Times New Roman" charset="0"/>
                  <a:ea typeface="文鼎细圆" pitchFamily="49" charset="-122"/>
                </a:rPr>
                <a:t>195512</a:t>
              </a:r>
            </a:p>
          </p:txBody>
        </p:sp>
        <p:sp>
          <p:nvSpPr>
            <p:cNvPr id="2506867" name="Rectangle 115">
              <a:extLst>
                <a:ext uri="{FF2B5EF4-FFF2-40B4-BE49-F238E27FC236}">
                  <a16:creationId xmlns:a16="http://schemas.microsoft.com/office/drawing/2014/main" id="{343E1607-374B-4AEB-BEDE-64B7A70CFDEB}"/>
                </a:ext>
              </a:extLst>
            </p:cNvPr>
            <p:cNvSpPr>
              <a:spLocks noChangeArrowheads="1"/>
            </p:cNvSpPr>
            <p:nvPr/>
          </p:nvSpPr>
          <p:spPr bwMode="auto">
            <a:xfrm>
              <a:off x="1440" y="3504"/>
              <a:ext cx="816" cy="240"/>
            </a:xfrm>
            <a:prstGeom prst="rect">
              <a:avLst/>
            </a:prstGeom>
            <a:solidFill>
              <a:schemeClr val="bg1"/>
            </a:solidFill>
            <a:ln w="9525">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zh-CN" altLang="en-US" b="1">
                  <a:solidFill>
                    <a:srgbClr val="49AB39"/>
                  </a:solidFill>
                  <a:effectLst>
                    <a:outerShdw blurRad="38100" dist="38100" dir="2700000" algn="tl">
                      <a:srgbClr val="000000"/>
                    </a:outerShdw>
                  </a:effectLst>
                  <a:latin typeface="Times New Roman" charset="0"/>
                  <a:ea typeface="文鼎细圆" pitchFamily="49" charset="-122"/>
                </a:rPr>
                <a:t>196200</a:t>
              </a:r>
            </a:p>
          </p:txBody>
        </p:sp>
        <p:sp>
          <p:nvSpPr>
            <p:cNvPr id="2506868" name="Rectangle 116">
              <a:extLst>
                <a:ext uri="{FF2B5EF4-FFF2-40B4-BE49-F238E27FC236}">
                  <a16:creationId xmlns:a16="http://schemas.microsoft.com/office/drawing/2014/main" id="{7A520D06-3045-495B-A64C-0B00E7AE42A5}"/>
                </a:ext>
              </a:extLst>
            </p:cNvPr>
            <p:cNvSpPr>
              <a:spLocks noChangeArrowheads="1"/>
            </p:cNvSpPr>
            <p:nvPr/>
          </p:nvSpPr>
          <p:spPr bwMode="auto">
            <a:xfrm>
              <a:off x="1440" y="3840"/>
              <a:ext cx="816" cy="192"/>
            </a:xfrm>
            <a:prstGeom prst="rect">
              <a:avLst/>
            </a:prstGeom>
            <a:solidFill>
              <a:schemeClr val="bg1"/>
            </a:solidFill>
            <a:ln w="9525">
              <a:noFill/>
              <a:miter lim="800000"/>
              <a:headEnd/>
              <a:tailEnd/>
            </a:ln>
            <a:effectLst/>
          </p:spPr>
          <p:txBody>
            <a:bodyPr wrap="none" anchor="ctr"/>
            <a:lstStyle/>
            <a:p>
              <a:pPr eaLnBrk="1" hangingPunct="1">
                <a:spcBef>
                  <a:spcPct val="20000"/>
                </a:spcBef>
                <a:buClr>
                  <a:schemeClr val="accent1"/>
                </a:buClr>
                <a:buSzPct val="90000"/>
                <a:buFont typeface="Monotype Sorts" pitchFamily="2" charset="2"/>
                <a:buNone/>
                <a:defRPr/>
              </a:pPr>
              <a:r>
                <a:rPr kumimoji="1" lang="zh-CN" altLang="en-US" b="1">
                  <a:solidFill>
                    <a:srgbClr val="49AB39"/>
                  </a:solidFill>
                  <a:effectLst>
                    <a:outerShdw blurRad="38100" dist="38100" dir="2700000" algn="tl">
                      <a:srgbClr val="000000"/>
                    </a:outerShdw>
                  </a:effectLst>
                  <a:latin typeface="Times New Roman" charset="0"/>
                  <a:ea typeface="文鼎细圆" pitchFamily="49" charset="-122"/>
                </a:rPr>
                <a:t>197222</a:t>
              </a:r>
            </a:p>
          </p:txBody>
        </p:sp>
        <p:sp>
          <p:nvSpPr>
            <p:cNvPr id="136270" name="Rectangle 117">
              <a:extLst>
                <a:ext uri="{FF2B5EF4-FFF2-40B4-BE49-F238E27FC236}">
                  <a16:creationId xmlns:a16="http://schemas.microsoft.com/office/drawing/2014/main" id="{0A185248-428F-4F61-8209-503DAA54481D}"/>
                </a:ext>
              </a:extLst>
            </p:cNvPr>
            <p:cNvSpPr>
              <a:spLocks noChangeArrowheads="1"/>
            </p:cNvSpPr>
            <p:nvPr/>
          </p:nvSpPr>
          <p:spPr bwMode="auto">
            <a:xfrm>
              <a:off x="2400" y="2928"/>
              <a:ext cx="1008"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buClr>
                  <a:schemeClr val="accent1"/>
                </a:buClr>
                <a:buSzPct val="90000"/>
                <a:buFont typeface="Monotype Sorts" pitchFamily="2" charset="2"/>
                <a:buNone/>
              </a:pPr>
              <a:r>
                <a:rPr kumimoji="1" lang="zh-CN" altLang="en-US" sz="1800">
                  <a:solidFill>
                    <a:srgbClr val="49AB39"/>
                  </a:solidFill>
                  <a:latin typeface="Times New Roman" panose="02020603050405020304" pitchFamily="18" charset="0"/>
                  <a:ea typeface="黑体" panose="02010609060101010101" pitchFamily="49" charset="-122"/>
                </a:rPr>
                <a:t>年龄不合格</a:t>
              </a:r>
              <a:endParaRPr kumimoji="1" lang="en-US" altLang="zh-CN" sz="1800">
                <a:solidFill>
                  <a:srgbClr val="49AB39"/>
                </a:solidFill>
                <a:latin typeface="Times New Roman" panose="02020603050405020304" pitchFamily="18" charset="0"/>
                <a:ea typeface="黑体" panose="02010609060101010101" pitchFamily="49" charset="-122"/>
              </a:endParaRPr>
            </a:p>
          </p:txBody>
        </p:sp>
        <p:sp>
          <p:nvSpPr>
            <p:cNvPr id="136271" name="Rectangle 118">
              <a:extLst>
                <a:ext uri="{FF2B5EF4-FFF2-40B4-BE49-F238E27FC236}">
                  <a16:creationId xmlns:a16="http://schemas.microsoft.com/office/drawing/2014/main" id="{C54980F6-3F13-4865-A328-8AC8CD81A0F0}"/>
                </a:ext>
              </a:extLst>
            </p:cNvPr>
            <p:cNvSpPr>
              <a:spLocks noChangeArrowheads="1"/>
            </p:cNvSpPr>
            <p:nvPr/>
          </p:nvSpPr>
          <p:spPr bwMode="auto">
            <a:xfrm>
              <a:off x="2400" y="3216"/>
              <a:ext cx="1008"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buClr>
                  <a:schemeClr val="accent1"/>
                </a:buClr>
                <a:buSzPct val="90000"/>
                <a:buFont typeface="Monotype Sorts" pitchFamily="2" charset="2"/>
                <a:buNone/>
              </a:pPr>
              <a:r>
                <a:rPr kumimoji="1" lang="zh-CN" altLang="en-US" sz="1800">
                  <a:solidFill>
                    <a:srgbClr val="49AB39"/>
                  </a:solidFill>
                  <a:latin typeface="Times New Roman" panose="02020603050405020304" pitchFamily="18" charset="0"/>
                  <a:ea typeface="黑体" panose="02010609060101010101" pitchFamily="49" charset="-122"/>
                </a:rPr>
                <a:t>年龄不合格</a:t>
              </a:r>
              <a:endParaRPr kumimoji="1" lang="en-US" altLang="zh-CN" sz="1800">
                <a:solidFill>
                  <a:srgbClr val="49AB39"/>
                </a:solidFill>
                <a:latin typeface="Times New Roman" panose="02020603050405020304" pitchFamily="18" charset="0"/>
                <a:ea typeface="黑体" panose="02010609060101010101" pitchFamily="49" charset="-122"/>
              </a:endParaRPr>
            </a:p>
          </p:txBody>
        </p:sp>
        <p:sp>
          <p:nvSpPr>
            <p:cNvPr id="136272" name="Rectangle 119">
              <a:extLst>
                <a:ext uri="{FF2B5EF4-FFF2-40B4-BE49-F238E27FC236}">
                  <a16:creationId xmlns:a16="http://schemas.microsoft.com/office/drawing/2014/main" id="{6FF1DCE4-9EEC-4E71-BAC5-6FD65E55E283}"/>
                </a:ext>
              </a:extLst>
            </p:cNvPr>
            <p:cNvSpPr>
              <a:spLocks noChangeArrowheads="1"/>
            </p:cNvSpPr>
            <p:nvPr/>
          </p:nvSpPr>
          <p:spPr bwMode="auto">
            <a:xfrm>
              <a:off x="2400" y="3552"/>
              <a:ext cx="672"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buClr>
                  <a:schemeClr val="accent1"/>
                </a:buClr>
                <a:buSzPct val="90000"/>
                <a:buFont typeface="Monotype Sorts" pitchFamily="2" charset="2"/>
                <a:buNone/>
              </a:pPr>
              <a:r>
                <a:rPr kumimoji="1" lang="zh-CN" altLang="en-US" sz="1800">
                  <a:solidFill>
                    <a:srgbClr val="49AB39"/>
                  </a:solidFill>
                  <a:latin typeface="Times New Roman" panose="02020603050405020304" pitchFamily="18" charset="0"/>
                  <a:ea typeface="黑体" panose="02010609060101010101" pitchFamily="49" charset="-122"/>
                </a:rPr>
                <a:t>输入无效</a:t>
              </a:r>
              <a:endParaRPr kumimoji="1" lang="en-US" altLang="zh-CN" sz="1800">
                <a:solidFill>
                  <a:srgbClr val="49AB39"/>
                </a:solidFill>
                <a:latin typeface="Times New Roman" panose="02020603050405020304" pitchFamily="18" charset="0"/>
                <a:ea typeface="黑体" panose="02010609060101010101" pitchFamily="49" charset="-122"/>
              </a:endParaRPr>
            </a:p>
          </p:txBody>
        </p:sp>
        <p:sp>
          <p:nvSpPr>
            <p:cNvPr id="136273" name="Rectangle 120">
              <a:extLst>
                <a:ext uri="{FF2B5EF4-FFF2-40B4-BE49-F238E27FC236}">
                  <a16:creationId xmlns:a16="http://schemas.microsoft.com/office/drawing/2014/main" id="{C2BE7BD5-2652-4F23-8804-F7A880ABE530}"/>
                </a:ext>
              </a:extLst>
            </p:cNvPr>
            <p:cNvSpPr>
              <a:spLocks noChangeArrowheads="1"/>
            </p:cNvSpPr>
            <p:nvPr/>
          </p:nvSpPr>
          <p:spPr bwMode="auto">
            <a:xfrm>
              <a:off x="2400" y="3840"/>
              <a:ext cx="672"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buClr>
                  <a:schemeClr val="accent1"/>
                </a:buClr>
                <a:buSzPct val="90000"/>
                <a:buFont typeface="Monotype Sorts" pitchFamily="2" charset="2"/>
                <a:buNone/>
              </a:pPr>
              <a:r>
                <a:rPr kumimoji="1" lang="zh-CN" altLang="en-US" sz="1800">
                  <a:solidFill>
                    <a:srgbClr val="49AB39"/>
                  </a:solidFill>
                  <a:latin typeface="Times New Roman" panose="02020603050405020304" pitchFamily="18" charset="0"/>
                  <a:ea typeface="黑体" panose="02010609060101010101" pitchFamily="49" charset="-122"/>
                </a:rPr>
                <a:t>输入无效</a:t>
              </a:r>
              <a:endParaRPr kumimoji="1" lang="en-US" altLang="zh-CN" sz="1800">
                <a:solidFill>
                  <a:srgbClr val="49AB39"/>
                </a:solidFill>
                <a:latin typeface="Times New Roman" panose="02020603050405020304" pitchFamily="18" charset="0"/>
                <a:ea typeface="黑体" panose="02010609060101010101" pitchFamily="49" charset="-122"/>
              </a:endParaRPr>
            </a:p>
          </p:txBody>
        </p:sp>
        <p:sp>
          <p:nvSpPr>
            <p:cNvPr id="136274" name="Rectangle 121">
              <a:extLst>
                <a:ext uri="{FF2B5EF4-FFF2-40B4-BE49-F238E27FC236}">
                  <a16:creationId xmlns:a16="http://schemas.microsoft.com/office/drawing/2014/main" id="{286F7DD5-91E0-48BC-8DD5-48578F37725F}"/>
                </a:ext>
              </a:extLst>
            </p:cNvPr>
            <p:cNvSpPr>
              <a:spLocks noChangeArrowheads="1"/>
            </p:cNvSpPr>
            <p:nvPr/>
          </p:nvSpPr>
          <p:spPr bwMode="auto">
            <a:xfrm>
              <a:off x="3552" y="2640"/>
              <a:ext cx="1296"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eaLnBrk="1" hangingPunct="1">
                <a:buClr>
                  <a:schemeClr val="accent1"/>
                </a:buClr>
                <a:buSzPct val="90000"/>
                <a:buFont typeface="Monotype Sorts" pitchFamily="2" charset="2"/>
                <a:buNone/>
              </a:pPr>
              <a:r>
                <a:rPr kumimoji="1" lang="en-US" altLang="zh-CN" sz="1800">
                  <a:solidFill>
                    <a:srgbClr val="49AB39"/>
                  </a:solidFill>
                  <a:latin typeface="黑体" panose="02010609060101010101" pitchFamily="49" charset="-122"/>
                  <a:ea typeface="黑体" panose="02010609060101010101" pitchFamily="49" charset="-122"/>
                </a:rPr>
                <a:t>④</a:t>
              </a:r>
              <a:r>
                <a:rPr kumimoji="1" lang="en-US" altLang="zh-CN" sz="1600">
                  <a:solidFill>
                    <a:srgbClr val="49AB39"/>
                  </a:solidFill>
                  <a:latin typeface="黑体" panose="02010609060101010101" pitchFamily="49" charset="-122"/>
                  <a:ea typeface="黑体" panose="02010609060101010101" pitchFamily="49" charset="-122"/>
                </a:rPr>
                <a:t> </a:t>
              </a:r>
              <a:r>
                <a:rPr kumimoji="1" lang="zh-CN" altLang="en-US" sz="1600">
                  <a:solidFill>
                    <a:srgbClr val="49AB39"/>
                  </a:solidFill>
                  <a:latin typeface="黑体" panose="02010609060101010101" pitchFamily="49" charset="-122"/>
                  <a:ea typeface="黑体" panose="02010609060101010101" pitchFamily="49" charset="-122"/>
                </a:rPr>
                <a:t>多于6个数字字符</a:t>
              </a:r>
            </a:p>
          </p:txBody>
        </p:sp>
        <p:sp>
          <p:nvSpPr>
            <p:cNvPr id="136275" name="Rectangle 122">
              <a:extLst>
                <a:ext uri="{FF2B5EF4-FFF2-40B4-BE49-F238E27FC236}">
                  <a16:creationId xmlns:a16="http://schemas.microsoft.com/office/drawing/2014/main" id="{9AA160F1-34EE-4047-8642-0123BFB6CBD0}"/>
                </a:ext>
              </a:extLst>
            </p:cNvPr>
            <p:cNvSpPr>
              <a:spLocks noChangeArrowheads="1"/>
            </p:cNvSpPr>
            <p:nvPr/>
          </p:nvSpPr>
          <p:spPr bwMode="auto">
            <a:xfrm>
              <a:off x="3552" y="2928"/>
              <a:ext cx="1296"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50000"/>
                </a:spcBef>
                <a:buClr>
                  <a:schemeClr val="accent1"/>
                </a:buClr>
                <a:buSzPct val="90000"/>
                <a:buFont typeface="Monotype Sorts" pitchFamily="2" charset="2"/>
                <a:buNone/>
              </a:pPr>
              <a:r>
                <a:rPr kumimoji="1" lang="zh-CN" altLang="en-US" sz="1800">
                  <a:solidFill>
                    <a:srgbClr val="49AB39"/>
                  </a:solidFill>
                  <a:latin typeface="黑体" panose="02010609060101010101" pitchFamily="49" charset="-122"/>
                  <a:ea typeface="黑体" panose="02010609060101010101" pitchFamily="49" charset="-122"/>
                </a:rPr>
                <a:t>⑥ &lt;196007</a:t>
              </a:r>
              <a:endParaRPr kumimoji="1" lang="zh-CN" altLang="en-US" sz="1600">
                <a:solidFill>
                  <a:srgbClr val="49AB39"/>
                </a:solidFill>
                <a:latin typeface="黑体" panose="02010609060101010101" pitchFamily="49" charset="-122"/>
                <a:ea typeface="黑体" panose="02010609060101010101" pitchFamily="49" charset="-122"/>
              </a:endParaRPr>
            </a:p>
          </p:txBody>
        </p:sp>
        <p:sp>
          <p:nvSpPr>
            <p:cNvPr id="136276" name="Rectangle 123">
              <a:extLst>
                <a:ext uri="{FF2B5EF4-FFF2-40B4-BE49-F238E27FC236}">
                  <a16:creationId xmlns:a16="http://schemas.microsoft.com/office/drawing/2014/main" id="{3DE2622D-9B43-4B5E-978A-DCF7BD4F7323}"/>
                </a:ext>
              </a:extLst>
            </p:cNvPr>
            <p:cNvSpPr>
              <a:spLocks noChangeArrowheads="1"/>
            </p:cNvSpPr>
            <p:nvPr/>
          </p:nvSpPr>
          <p:spPr bwMode="auto">
            <a:xfrm>
              <a:off x="3552" y="3216"/>
              <a:ext cx="1296"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50000"/>
                </a:spcBef>
                <a:buClr>
                  <a:schemeClr val="accent1"/>
                </a:buClr>
                <a:buSzPct val="90000"/>
                <a:buFont typeface="Monotype Sorts" pitchFamily="2" charset="2"/>
                <a:buNone/>
              </a:pPr>
              <a:r>
                <a:rPr kumimoji="1" lang="zh-CN" altLang="en-US" sz="1800">
                  <a:solidFill>
                    <a:srgbClr val="49AB39"/>
                  </a:solidFill>
                  <a:latin typeface="黑体" panose="02010609060101010101" pitchFamily="49" charset="-122"/>
                  <a:ea typeface="黑体" panose="02010609060101010101" pitchFamily="49" charset="-122"/>
                </a:rPr>
                <a:t>⑦ &gt;197906</a:t>
              </a:r>
              <a:endParaRPr kumimoji="1" lang="en-US" altLang="zh-CN" sz="1800">
                <a:solidFill>
                  <a:srgbClr val="49AB39"/>
                </a:solidFill>
                <a:latin typeface="黑体" panose="02010609060101010101" pitchFamily="49" charset="-122"/>
                <a:ea typeface="黑体" panose="02010609060101010101" pitchFamily="49" charset="-122"/>
              </a:endParaRPr>
            </a:p>
          </p:txBody>
        </p:sp>
        <p:sp>
          <p:nvSpPr>
            <p:cNvPr id="136277" name="Rectangle 124">
              <a:extLst>
                <a:ext uri="{FF2B5EF4-FFF2-40B4-BE49-F238E27FC236}">
                  <a16:creationId xmlns:a16="http://schemas.microsoft.com/office/drawing/2014/main" id="{5ADBB2F5-F707-4898-8B26-DE957D07E449}"/>
                </a:ext>
              </a:extLst>
            </p:cNvPr>
            <p:cNvSpPr>
              <a:spLocks noChangeArrowheads="1"/>
            </p:cNvSpPr>
            <p:nvPr/>
          </p:nvSpPr>
          <p:spPr bwMode="auto">
            <a:xfrm>
              <a:off x="3552" y="3504"/>
              <a:ext cx="1296"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buClr>
                  <a:schemeClr val="accent1"/>
                </a:buClr>
                <a:buSzPct val="90000"/>
                <a:buFont typeface="Monotype Sorts" pitchFamily="2" charset="2"/>
                <a:buNone/>
              </a:pPr>
              <a:r>
                <a:rPr kumimoji="1" lang="zh-CN" altLang="en-US" sz="1800">
                  <a:solidFill>
                    <a:srgbClr val="49AB39"/>
                  </a:solidFill>
                  <a:latin typeface="黑体" panose="02010609060101010101" pitchFamily="49" charset="-122"/>
                  <a:ea typeface="黑体" panose="02010609060101010101" pitchFamily="49" charset="-122"/>
                </a:rPr>
                <a:t>⑨ 等于 </a:t>
              </a:r>
              <a:r>
                <a:rPr kumimoji="1" lang="zh-CN" altLang="en-US" sz="1800">
                  <a:solidFill>
                    <a:srgbClr val="49AB39"/>
                  </a:solidFill>
                  <a:latin typeface="Times New Roman" panose="02020603050405020304" pitchFamily="18" charset="0"/>
                  <a:ea typeface="黑体" panose="02010609060101010101" pitchFamily="49" charset="-122"/>
                </a:rPr>
                <a:t>“</a:t>
              </a:r>
              <a:r>
                <a:rPr kumimoji="1" lang="zh-CN" altLang="en-US" sz="1800">
                  <a:solidFill>
                    <a:srgbClr val="49AB39"/>
                  </a:solidFill>
                  <a:latin typeface="黑体" panose="02010609060101010101" pitchFamily="49" charset="-122"/>
                  <a:ea typeface="黑体" panose="02010609060101010101" pitchFamily="49" charset="-122"/>
                </a:rPr>
                <a:t>0</a:t>
              </a:r>
              <a:r>
                <a:rPr kumimoji="1" lang="zh-CN" altLang="en-US" sz="1800">
                  <a:solidFill>
                    <a:srgbClr val="49AB39"/>
                  </a:solidFill>
                  <a:latin typeface="Times New Roman" panose="02020603050405020304" pitchFamily="18" charset="0"/>
                  <a:ea typeface="黑体" panose="02010609060101010101" pitchFamily="49" charset="-122"/>
                </a:rPr>
                <a:t>”</a:t>
              </a:r>
              <a:endParaRPr kumimoji="1" lang="en-US" altLang="zh-CN" sz="1800">
                <a:solidFill>
                  <a:srgbClr val="49AB39"/>
                </a:solidFill>
                <a:latin typeface="黑体" panose="02010609060101010101" pitchFamily="49" charset="-122"/>
                <a:ea typeface="黑体" panose="02010609060101010101" pitchFamily="49" charset="-122"/>
              </a:endParaRPr>
            </a:p>
          </p:txBody>
        </p:sp>
        <p:sp>
          <p:nvSpPr>
            <p:cNvPr id="136278" name="Rectangle 126">
              <a:extLst>
                <a:ext uri="{FF2B5EF4-FFF2-40B4-BE49-F238E27FC236}">
                  <a16:creationId xmlns:a16="http://schemas.microsoft.com/office/drawing/2014/main" id="{BF99A735-12D4-407C-9E68-EE00CA66648E}"/>
                </a:ext>
              </a:extLst>
            </p:cNvPr>
            <p:cNvSpPr>
              <a:spLocks noChangeArrowheads="1"/>
            </p:cNvSpPr>
            <p:nvPr/>
          </p:nvSpPr>
          <p:spPr bwMode="auto">
            <a:xfrm>
              <a:off x="3552" y="3792"/>
              <a:ext cx="1296" cy="2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buClr>
                  <a:schemeClr val="accent1"/>
                </a:buClr>
                <a:buSzPct val="90000"/>
                <a:buFont typeface="Monotype Sorts" pitchFamily="2" charset="2"/>
                <a:buNone/>
              </a:pPr>
              <a:r>
                <a:rPr kumimoji="1" lang="en-US" altLang="zh-CN" sz="1800">
                  <a:solidFill>
                    <a:srgbClr val="49AB39"/>
                  </a:solidFill>
                  <a:latin typeface="黑体" panose="02010609060101010101" pitchFamily="49" charset="-122"/>
                  <a:ea typeface="黑体" panose="02010609060101010101" pitchFamily="49" charset="-122"/>
                </a:rPr>
                <a:t>⑩ &gt;12</a:t>
              </a:r>
            </a:p>
          </p:txBody>
        </p:sp>
      </p:grpSp>
      <p:sp>
        <p:nvSpPr>
          <p:cNvPr id="136257" name="Rectangle 127">
            <a:extLst>
              <a:ext uri="{FF2B5EF4-FFF2-40B4-BE49-F238E27FC236}">
                <a16:creationId xmlns:a16="http://schemas.microsoft.com/office/drawing/2014/main" id="{794F68EF-870D-40C7-852F-C3B70BCEC167}"/>
              </a:ext>
            </a:extLst>
          </p:cNvPr>
          <p:cNvSpPr>
            <a:spLocks noChangeArrowheads="1"/>
          </p:cNvSpPr>
          <p:nvPr/>
        </p:nvSpPr>
        <p:spPr bwMode="auto">
          <a:xfrm>
            <a:off x="3886200" y="2209800"/>
            <a:ext cx="5410200" cy="381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800">
                <a:solidFill>
                  <a:srgbClr val="49AB39"/>
                </a:solidFill>
                <a:latin typeface="黑体" panose="02010609060101010101" pitchFamily="49" charset="-122"/>
                <a:ea typeface="黑体" panose="02010609060101010101" pitchFamily="49" charset="-122"/>
              </a:rPr>
              <a:t>3、为每一个无效等价类至少设计一个测试用例</a:t>
            </a: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D72ACE36-0004-4848-BE91-8A1894B9B4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A42126C-63CE-4E51-BCC6-5FFD9DE3ACD1}" type="slidenum">
              <a:rPr lang="en-US" altLang="en-US"/>
              <a:pPr eaLnBrk="1" hangingPunct="1"/>
              <a:t>209</a:t>
            </a:fld>
            <a:endParaRPr lang="en-US" altLang="en-US"/>
          </a:p>
        </p:txBody>
      </p:sp>
      <p:sp>
        <p:nvSpPr>
          <p:cNvPr id="40965" name="Rectangle 4">
            <a:extLst>
              <a:ext uri="{FF2B5EF4-FFF2-40B4-BE49-F238E27FC236}">
                <a16:creationId xmlns:a16="http://schemas.microsoft.com/office/drawing/2014/main" id="{79E69BB2-C5F9-4F70-84F3-30DBB302BA47}"/>
              </a:ext>
            </a:extLst>
          </p:cNvPr>
          <p:cNvSpPr>
            <a:spLocks noChangeArrowheads="1"/>
          </p:cNvSpPr>
          <p:nvPr/>
        </p:nvSpPr>
        <p:spPr bwMode="auto">
          <a:xfrm>
            <a:off x="2286001" y="6519864"/>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1" name="标题 1">
            <a:extLst>
              <a:ext uri="{FF2B5EF4-FFF2-40B4-BE49-F238E27FC236}">
                <a16:creationId xmlns:a16="http://schemas.microsoft.com/office/drawing/2014/main" id="{53881F80-8553-494E-BA80-D43AADC9B791}"/>
              </a:ext>
            </a:extLst>
          </p:cNvPr>
          <p:cNvSpPr>
            <a:spLocks noGrp="1"/>
          </p:cNvSpPr>
          <p:nvPr>
            <p:ph type="title"/>
          </p:nvPr>
        </p:nvSpPr>
        <p:spPr>
          <a:xfrm>
            <a:off x="838200" y="365125"/>
            <a:ext cx="10515600" cy="1325563"/>
          </a:xfrm>
        </p:spPr>
        <p:txBody>
          <a:bodyPr/>
          <a:lstStyle/>
          <a:p>
            <a:r>
              <a:rPr lang="zh-CN" altLang="en-US" dirty="0"/>
              <a:t>测试</a:t>
            </a:r>
          </a:p>
        </p:txBody>
      </p:sp>
      <p:sp>
        <p:nvSpPr>
          <p:cNvPr id="12" name="内容占位符 2">
            <a:extLst>
              <a:ext uri="{FF2B5EF4-FFF2-40B4-BE49-F238E27FC236}">
                <a16:creationId xmlns:a16="http://schemas.microsoft.com/office/drawing/2014/main" id="{05826407-5BDB-4BCB-9524-AB614F54877F}"/>
              </a:ext>
            </a:extLst>
          </p:cNvPr>
          <p:cNvSpPr>
            <a:spLocks noGrp="1"/>
          </p:cNvSpPr>
          <p:nvPr>
            <p:ph idx="1"/>
          </p:nvPr>
        </p:nvSpPr>
        <p:spPr>
          <a:xfrm>
            <a:off x="838200" y="1825625"/>
            <a:ext cx="10515600" cy="4351338"/>
          </a:xfrm>
        </p:spPr>
        <p:txBody>
          <a:bodyPr>
            <a:normAutofit/>
          </a:bodyPr>
          <a:lstStyle/>
          <a:p>
            <a:r>
              <a:rPr lang="zh-CN" altLang="en-US" dirty="0"/>
              <a:t>黑盒测试方法</a:t>
            </a:r>
            <a:endParaRPr lang="en-US" altLang="zh-CN" dirty="0"/>
          </a:p>
          <a:p>
            <a:pPr lvl="1"/>
            <a:r>
              <a:rPr lang="zh-CN" altLang="en-US" b="1" dirty="0"/>
              <a:t>边界值分析</a:t>
            </a:r>
            <a:endParaRPr lang="en-US" altLang="zh-CN" b="1" dirty="0"/>
          </a:p>
          <a:p>
            <a:pPr lvl="2"/>
            <a:r>
              <a:rPr lang="zh-CN" altLang="en-US" dirty="0">
                <a:solidFill>
                  <a:srgbClr val="2A2B2E"/>
                </a:solidFill>
                <a:latin typeface="PingFang SC"/>
              </a:rPr>
              <a:t>如果输入条件指定了一个由值</a:t>
            </a:r>
            <a:r>
              <a:rPr lang="en-US" altLang="zh-CN" dirty="0">
                <a:solidFill>
                  <a:srgbClr val="2A2B2E"/>
                </a:solidFill>
                <a:latin typeface="PingFang SC"/>
              </a:rPr>
              <a:t>a</a:t>
            </a:r>
            <a:r>
              <a:rPr lang="zh-CN" altLang="en-US" dirty="0">
                <a:solidFill>
                  <a:srgbClr val="2A2B2E"/>
                </a:solidFill>
                <a:latin typeface="PingFang SC"/>
              </a:rPr>
              <a:t>和</a:t>
            </a:r>
            <a:r>
              <a:rPr lang="en-US" altLang="zh-CN" dirty="0">
                <a:solidFill>
                  <a:srgbClr val="2A2B2E"/>
                </a:solidFill>
                <a:latin typeface="PingFang SC"/>
              </a:rPr>
              <a:t>b</a:t>
            </a:r>
            <a:r>
              <a:rPr lang="zh-CN" altLang="en-US" dirty="0">
                <a:solidFill>
                  <a:srgbClr val="2A2B2E"/>
                </a:solidFill>
                <a:latin typeface="PingFang SC"/>
              </a:rPr>
              <a:t>限定的范围，那么测试用例应该包括</a:t>
            </a:r>
            <a:r>
              <a:rPr lang="en-US" altLang="zh-CN" dirty="0">
                <a:solidFill>
                  <a:srgbClr val="2A2B2E"/>
                </a:solidFill>
                <a:latin typeface="PingFang SC"/>
              </a:rPr>
              <a:t>a</a:t>
            </a:r>
            <a:r>
              <a:rPr lang="zh-CN" altLang="en-US" dirty="0">
                <a:solidFill>
                  <a:srgbClr val="2A2B2E"/>
                </a:solidFill>
                <a:latin typeface="PingFang SC"/>
              </a:rPr>
              <a:t>和</a:t>
            </a:r>
            <a:r>
              <a:rPr lang="en-US" altLang="zh-CN" dirty="0">
                <a:solidFill>
                  <a:srgbClr val="2A2B2E"/>
                </a:solidFill>
                <a:latin typeface="PingFang SC"/>
              </a:rPr>
              <a:t>b</a:t>
            </a:r>
            <a:r>
              <a:rPr lang="zh-CN" altLang="en-US" dirty="0">
                <a:solidFill>
                  <a:srgbClr val="2A2B2E"/>
                </a:solidFill>
                <a:latin typeface="PingFang SC"/>
              </a:rPr>
              <a:t>，刚好高于和低于</a:t>
            </a:r>
            <a:r>
              <a:rPr lang="en-US" altLang="zh-CN" dirty="0">
                <a:solidFill>
                  <a:srgbClr val="2A2B2E"/>
                </a:solidFill>
                <a:latin typeface="PingFang SC"/>
              </a:rPr>
              <a:t>a</a:t>
            </a:r>
            <a:r>
              <a:rPr lang="zh-CN" altLang="en-US" dirty="0">
                <a:solidFill>
                  <a:srgbClr val="2A2B2E"/>
                </a:solidFill>
                <a:latin typeface="PingFang SC"/>
              </a:rPr>
              <a:t>和</a:t>
            </a:r>
            <a:r>
              <a:rPr lang="en-US" altLang="zh-CN" dirty="0">
                <a:solidFill>
                  <a:srgbClr val="2A2B2E"/>
                </a:solidFill>
                <a:latin typeface="PingFang SC"/>
              </a:rPr>
              <a:t>b</a:t>
            </a:r>
            <a:r>
              <a:rPr lang="zh-CN" altLang="en-US" dirty="0">
                <a:solidFill>
                  <a:srgbClr val="2A2B2E"/>
                </a:solidFill>
                <a:latin typeface="PingFang SC"/>
              </a:rPr>
              <a:t>的值。</a:t>
            </a:r>
            <a:br>
              <a:rPr lang="zh-CN" altLang="en-US" dirty="0"/>
            </a:br>
            <a:endParaRPr lang="zh-CN" altLang="en-US" dirty="0">
              <a:solidFill>
                <a:srgbClr val="2A2B2E"/>
              </a:solidFill>
              <a:latin typeface="PingFang SC"/>
            </a:endParaRPr>
          </a:p>
          <a:p>
            <a:pPr lvl="2"/>
            <a:r>
              <a:rPr lang="zh-CN" altLang="en-US" dirty="0">
                <a:solidFill>
                  <a:srgbClr val="2A2B2E"/>
                </a:solidFill>
                <a:latin typeface="PingFang SC"/>
              </a:rPr>
              <a:t>如果输入条件指定了值的数量，那么测试用例应该执行最小值和最大值，以及刚好高于和低于最小值和最大值的值。</a:t>
            </a:r>
            <a:br>
              <a:rPr lang="zh-CN" altLang="en-US" dirty="0"/>
            </a:br>
            <a:endParaRPr lang="zh-CN" altLang="en-US" dirty="0">
              <a:solidFill>
                <a:srgbClr val="2A2B2E"/>
              </a:solidFill>
              <a:latin typeface="PingFang SC"/>
            </a:endParaRPr>
          </a:p>
          <a:p>
            <a:pPr lvl="2"/>
            <a:r>
              <a:rPr lang="zh-CN" altLang="en-US" dirty="0">
                <a:solidFill>
                  <a:srgbClr val="2A2B2E"/>
                </a:solidFill>
                <a:latin typeface="PingFang SC"/>
              </a:rPr>
              <a:t>将指导方针</a:t>
            </a:r>
            <a:r>
              <a:rPr lang="en-US" altLang="zh-CN" dirty="0">
                <a:solidFill>
                  <a:srgbClr val="2A2B2E"/>
                </a:solidFill>
                <a:latin typeface="PingFang SC"/>
              </a:rPr>
              <a:t>1</a:t>
            </a:r>
            <a:r>
              <a:rPr lang="zh-CN" altLang="en-US" dirty="0">
                <a:solidFill>
                  <a:srgbClr val="2A2B2E"/>
                </a:solidFill>
                <a:latin typeface="PingFang SC"/>
              </a:rPr>
              <a:t>和</a:t>
            </a:r>
            <a:r>
              <a:rPr lang="en-US" altLang="zh-CN" dirty="0">
                <a:solidFill>
                  <a:srgbClr val="2A2B2E"/>
                </a:solidFill>
                <a:latin typeface="PingFang SC"/>
              </a:rPr>
              <a:t>2</a:t>
            </a:r>
            <a:r>
              <a:rPr lang="zh-CN" altLang="en-US" dirty="0">
                <a:solidFill>
                  <a:srgbClr val="2A2B2E"/>
                </a:solidFill>
                <a:latin typeface="PingFang SC"/>
              </a:rPr>
              <a:t>应用于输出条件，测试用例应该被设计成产生最小和最大的输出报告。</a:t>
            </a:r>
            <a:br>
              <a:rPr lang="zh-CN" altLang="en-US" dirty="0"/>
            </a:br>
            <a:endParaRPr lang="zh-CN" altLang="en-US" dirty="0">
              <a:solidFill>
                <a:srgbClr val="2A2B2E"/>
              </a:solidFill>
              <a:latin typeface="PingFang SC"/>
            </a:endParaRPr>
          </a:p>
          <a:p>
            <a:pPr lvl="2"/>
            <a:r>
              <a:rPr lang="zh-CN" altLang="en-US" dirty="0">
                <a:solidFill>
                  <a:srgbClr val="2A2B2E"/>
                </a:solidFill>
                <a:latin typeface="PingFang SC"/>
              </a:rPr>
              <a:t>如果内部程序数据结构有边界</a:t>
            </a:r>
            <a:r>
              <a:rPr lang="en-US" altLang="zh-CN" dirty="0">
                <a:solidFill>
                  <a:srgbClr val="2A2B2E"/>
                </a:solidFill>
                <a:latin typeface="PingFang SC"/>
              </a:rPr>
              <a:t>(</a:t>
            </a:r>
            <a:r>
              <a:rPr lang="zh-CN" altLang="en-US" dirty="0">
                <a:solidFill>
                  <a:srgbClr val="2A2B2E"/>
                </a:solidFill>
                <a:latin typeface="PingFang SC"/>
              </a:rPr>
              <a:t>例如，大小限制</a:t>
            </a:r>
            <a:r>
              <a:rPr lang="en-US" altLang="zh-CN" dirty="0">
                <a:solidFill>
                  <a:srgbClr val="2A2B2E"/>
                </a:solidFill>
                <a:latin typeface="PingFang SC"/>
              </a:rPr>
              <a:t>)</a:t>
            </a:r>
            <a:r>
              <a:rPr lang="zh-CN" altLang="en-US" dirty="0">
                <a:solidFill>
                  <a:srgbClr val="2A2B2E"/>
                </a:solidFill>
                <a:latin typeface="PingFang SC"/>
              </a:rPr>
              <a:t>，一定要测试边界。</a:t>
            </a:r>
            <a:endParaRPr lang="en-US" altLang="zh-CN" dirty="0"/>
          </a:p>
          <a:p>
            <a:endParaRPr lang="en-US" altLang="zh-CN" dirty="0"/>
          </a:p>
          <a:p>
            <a:pPr lvl="1"/>
            <a:endParaRPr lang="en-US" altLang="zh-CN" dirty="0"/>
          </a:p>
          <a:p>
            <a:pPr lvl="1"/>
            <a:endParaRPr lang="en-US" altLang="zh-CN" dirty="0"/>
          </a:p>
          <a:p>
            <a:endParaRPr lang="zh-CN" altLang="en-US" dirty="0"/>
          </a:p>
        </p:txBody>
      </p:sp>
    </p:spTree>
    <p:extLst>
      <p:ext uri="{BB962C8B-B14F-4D97-AF65-F5344CB8AC3E}">
        <p14:creationId xmlns:p14="http://schemas.microsoft.com/office/powerpoint/2010/main" val="2202841186"/>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日期占位符 1">
            <a:extLst>
              <a:ext uri="{FF2B5EF4-FFF2-40B4-BE49-F238E27FC236}">
                <a16:creationId xmlns:a16="http://schemas.microsoft.com/office/drawing/2014/main" id="{48578D90-4A78-4465-A5A0-72748FC0F648}"/>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490E1B6B-A63B-4CE4-A585-1FED213E0DEA}"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2510850" name="Rectangle 2">
            <a:extLst>
              <a:ext uri="{FF2B5EF4-FFF2-40B4-BE49-F238E27FC236}">
                <a16:creationId xmlns:a16="http://schemas.microsoft.com/office/drawing/2014/main" id="{26A079F1-EA1B-4277-83E3-5AEF443FFE3E}"/>
              </a:ext>
            </a:extLst>
          </p:cNvPr>
          <p:cNvSpPr>
            <a:spLocks noChangeArrowheads="1"/>
          </p:cNvSpPr>
          <p:nvPr/>
        </p:nvSpPr>
        <p:spPr bwMode="auto">
          <a:xfrm>
            <a:off x="3352800" y="838200"/>
            <a:ext cx="2514600" cy="533400"/>
          </a:xfrm>
          <a:prstGeom prst="rect">
            <a:avLst/>
          </a:prstGeom>
          <a:solidFill>
            <a:schemeClr val="bg1"/>
          </a:solidFill>
          <a:ln w="9525">
            <a:solidFill>
              <a:srgbClr val="70E5E8"/>
            </a:solidFill>
            <a:miter lim="800000"/>
            <a:headEnd/>
            <a:tailEnd/>
          </a:ln>
          <a:effectLst>
            <a:outerShdw dist="107763" dir="2700000" algn="ctr" rotWithShape="0">
              <a:schemeClr val="bg2"/>
            </a:outerShdw>
          </a:effec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800">
                <a:solidFill>
                  <a:srgbClr val="F68562"/>
                </a:solidFill>
                <a:latin typeface="Times New Roman" panose="02020603050405020304" pitchFamily="18" charset="0"/>
                <a:ea typeface="黑体" panose="02010609060101010101" pitchFamily="49" charset="-122"/>
              </a:rPr>
              <a:t>二、边界值分析法</a:t>
            </a:r>
            <a:endParaRPr lang="en-US" altLang="zh-CN" sz="1800">
              <a:solidFill>
                <a:srgbClr val="F68562"/>
              </a:solidFill>
              <a:latin typeface="Times New Roman" panose="02020603050405020304" pitchFamily="18" charset="0"/>
              <a:ea typeface="黑体" panose="02010609060101010101" pitchFamily="49" charset="-122"/>
            </a:endParaRPr>
          </a:p>
        </p:txBody>
      </p:sp>
      <p:sp>
        <p:nvSpPr>
          <p:cNvPr id="2510851" name="Rectangle 3">
            <a:hlinkClick r:id="rId3" action="ppaction://hlinksldjump"/>
            <a:extLst>
              <a:ext uri="{FF2B5EF4-FFF2-40B4-BE49-F238E27FC236}">
                <a16:creationId xmlns:a16="http://schemas.microsoft.com/office/drawing/2014/main" id="{D23E909D-0E8E-49B2-BEB7-DCF39FC16A3A}"/>
              </a:ext>
            </a:extLst>
          </p:cNvPr>
          <p:cNvSpPr>
            <a:spLocks noChangeArrowheads="1"/>
          </p:cNvSpPr>
          <p:nvPr/>
        </p:nvSpPr>
        <p:spPr bwMode="auto">
          <a:xfrm>
            <a:off x="3886200" y="2971800"/>
            <a:ext cx="5562600" cy="1752600"/>
          </a:xfrm>
          <a:prstGeom prst="rect">
            <a:avLst/>
          </a:prstGeom>
          <a:noFill/>
          <a:ln w="38100" cmpd="dbl">
            <a:solidFill>
              <a:srgbClr val="70E5E8"/>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r>
              <a:rPr lang="zh-CN" altLang="en-US" sz="1800">
                <a:solidFill>
                  <a:srgbClr val="49AB39"/>
                </a:solidFill>
                <a:latin typeface="黑体" panose="02010609060101010101" pitchFamily="49" charset="-122"/>
                <a:ea typeface="黑体" panose="02010609060101010101" pitchFamily="49" charset="-122"/>
              </a:rPr>
              <a:t> 　　 </a:t>
            </a:r>
            <a:r>
              <a:rPr lang="zh-CN" altLang="en-US" sz="2000">
                <a:solidFill>
                  <a:srgbClr val="345BC8"/>
                </a:solidFill>
                <a:latin typeface="黑体" panose="02010609060101010101" pitchFamily="49" charset="-122"/>
                <a:ea typeface="黑体" panose="02010609060101010101" pitchFamily="49" charset="-122"/>
              </a:rPr>
              <a:t>采用边界值分析法来选择测试用例，可使</a:t>
            </a:r>
          </a:p>
          <a:p>
            <a:pPr>
              <a:spcBef>
                <a:spcPct val="0"/>
              </a:spcBef>
              <a:buFontTx/>
              <a:buNone/>
            </a:pPr>
            <a:r>
              <a:rPr lang="zh-CN" altLang="en-US" sz="2000">
                <a:solidFill>
                  <a:srgbClr val="345BC8"/>
                </a:solidFill>
                <a:latin typeface="黑体" panose="02010609060101010101" pitchFamily="49" charset="-122"/>
                <a:ea typeface="黑体" panose="02010609060101010101" pitchFamily="49" charset="-122"/>
              </a:rPr>
              <a:t> 得被测程序能在</a:t>
            </a:r>
            <a:r>
              <a:rPr lang="zh-CN" altLang="en-US" sz="2000">
                <a:solidFill>
                  <a:schemeClr val="accent2"/>
                </a:solidFill>
                <a:latin typeface="黑体" panose="02010609060101010101" pitchFamily="49" charset="-122"/>
                <a:ea typeface="黑体" panose="02010609060101010101" pitchFamily="49" charset="-122"/>
              </a:rPr>
              <a:t>边界值及其附近运行</a:t>
            </a:r>
            <a:r>
              <a:rPr lang="zh-CN" altLang="en-US" sz="2000">
                <a:solidFill>
                  <a:srgbClr val="345BC8"/>
                </a:solidFill>
                <a:latin typeface="黑体" panose="02010609060101010101" pitchFamily="49" charset="-122"/>
                <a:ea typeface="黑体" panose="02010609060101010101" pitchFamily="49" charset="-122"/>
              </a:rPr>
              <a:t>，从而更</a:t>
            </a:r>
          </a:p>
          <a:p>
            <a:pPr>
              <a:spcBef>
                <a:spcPct val="0"/>
              </a:spcBef>
              <a:buFontTx/>
              <a:buNone/>
            </a:pPr>
            <a:r>
              <a:rPr lang="zh-CN" altLang="en-US" sz="2000">
                <a:solidFill>
                  <a:srgbClr val="345BC8"/>
                </a:solidFill>
                <a:latin typeface="黑体" panose="02010609060101010101" pitchFamily="49" charset="-122"/>
                <a:ea typeface="黑体" panose="02010609060101010101" pitchFamily="49" charset="-122"/>
              </a:rPr>
              <a:t> 有效地暴露程序中潜藏的错误。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10851"/>
                                        </p:tgtEl>
                                        <p:attrNameLst>
                                          <p:attrName>style.visibility</p:attrName>
                                        </p:attrNameLst>
                                      </p:cBhvr>
                                      <p:to>
                                        <p:strVal val="visible"/>
                                      </p:to>
                                    </p:set>
                                    <p:animEffect transition="in" filter="blinds(horizontal)">
                                      <p:cBhvr>
                                        <p:cTn id="7" dur="500"/>
                                        <p:tgtEl>
                                          <p:spTgt spid="25108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510850"/>
                                        </p:tgtEl>
                                        <p:attrNameLst>
                                          <p:attrName>style.visibility</p:attrName>
                                        </p:attrNameLst>
                                      </p:cBhvr>
                                      <p:to>
                                        <p:strVal val="visible"/>
                                      </p:to>
                                    </p:set>
                                    <p:anim calcmode="lin" valueType="num">
                                      <p:cBhvr additive="base">
                                        <p:cTn id="12" dur="500" fill="hold"/>
                                        <p:tgtEl>
                                          <p:spTgt spid="2510850"/>
                                        </p:tgtEl>
                                        <p:attrNameLst>
                                          <p:attrName>ppt_x</p:attrName>
                                        </p:attrNameLst>
                                      </p:cBhvr>
                                      <p:tavLst>
                                        <p:tav tm="0">
                                          <p:val>
                                            <p:strVal val="0-#ppt_w/2"/>
                                          </p:val>
                                        </p:tav>
                                        <p:tav tm="100000">
                                          <p:val>
                                            <p:strVal val="#ppt_x"/>
                                          </p:val>
                                        </p:tav>
                                      </p:tavLst>
                                    </p:anim>
                                    <p:anim calcmode="lin" valueType="num">
                                      <p:cBhvr additive="base">
                                        <p:cTn id="13" dur="500" fill="hold"/>
                                        <p:tgtEl>
                                          <p:spTgt spid="25108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0850" grpId="0" animBg="1" autoUpdateAnimBg="0"/>
      <p:bldP spid="2510851" grpId="0" animBg="1" autoUpdateAnimBg="0"/>
    </p:bld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日期占位符 1">
            <a:extLst>
              <a:ext uri="{FF2B5EF4-FFF2-40B4-BE49-F238E27FC236}">
                <a16:creationId xmlns:a16="http://schemas.microsoft.com/office/drawing/2014/main" id="{9C642D24-7F1A-43E2-8C1D-7F1FBE6C3661}"/>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2BAD05F6-7AB0-4760-9D36-96A42D1DB12F}"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2512899" name="Rectangle 3">
            <a:hlinkClick r:id="rId3" action="ppaction://hlinksldjump"/>
            <a:extLst>
              <a:ext uri="{FF2B5EF4-FFF2-40B4-BE49-F238E27FC236}">
                <a16:creationId xmlns:a16="http://schemas.microsoft.com/office/drawing/2014/main" id="{323FB298-0A05-44A7-82A1-3A73D410714A}"/>
              </a:ext>
            </a:extLst>
          </p:cNvPr>
          <p:cNvSpPr>
            <a:spLocks noChangeArrowheads="1"/>
          </p:cNvSpPr>
          <p:nvPr/>
        </p:nvSpPr>
        <p:spPr bwMode="auto">
          <a:xfrm>
            <a:off x="3810000" y="3048000"/>
            <a:ext cx="5562600" cy="1752600"/>
          </a:xfrm>
          <a:prstGeom prst="rect">
            <a:avLst/>
          </a:prstGeom>
          <a:noFill/>
          <a:ln w="38100" cmpd="dbl">
            <a:solidFill>
              <a:srgbClr val="70E5E8"/>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r>
              <a:rPr lang="zh-CN" altLang="en-US" sz="1800">
                <a:solidFill>
                  <a:srgbClr val="49AB39"/>
                </a:solidFill>
                <a:latin typeface="黑体" panose="02010609060101010101" pitchFamily="49" charset="-122"/>
                <a:ea typeface="黑体" panose="02010609060101010101" pitchFamily="49" charset="-122"/>
              </a:rPr>
              <a:t> 　　 </a:t>
            </a:r>
            <a:r>
              <a:rPr lang="en-US" altLang="zh-CN" sz="1800" b="1">
                <a:solidFill>
                  <a:schemeClr val="accent2"/>
                </a:solidFill>
                <a:latin typeface="Times New Roman" panose="02020603050405020304" pitchFamily="18" charset="0"/>
                <a:ea typeface="文鼎细圆" pitchFamily="49" charset="-122"/>
              </a:rPr>
              <a:t>If </a:t>
            </a:r>
            <a:r>
              <a:rPr lang="en-US" altLang="zh-CN" sz="2000" b="1">
                <a:solidFill>
                  <a:srgbClr val="345BC8"/>
                </a:solidFill>
                <a:latin typeface="Times New Roman" panose="02020603050405020304" pitchFamily="18" charset="0"/>
                <a:ea typeface="文鼎细圆" pitchFamily="49" charset="-122"/>
              </a:rPr>
              <a:t>(196007 &lt;=  value(birthdate) &lt;= 197906)</a:t>
            </a:r>
          </a:p>
          <a:p>
            <a:pPr>
              <a:spcBef>
                <a:spcPct val="0"/>
              </a:spcBef>
              <a:buFontTx/>
              <a:buNone/>
            </a:pPr>
            <a:r>
              <a:rPr lang="en-US" altLang="zh-CN" sz="2000" b="1">
                <a:solidFill>
                  <a:schemeClr val="accent2"/>
                </a:solidFill>
                <a:latin typeface="Times New Roman" panose="02020603050405020304" pitchFamily="18" charset="0"/>
                <a:ea typeface="文鼎细圆" pitchFamily="49" charset="-122"/>
              </a:rPr>
              <a:t>               Then read</a:t>
            </a:r>
            <a:r>
              <a:rPr lang="en-US" altLang="zh-CN" sz="2000" b="1">
                <a:solidFill>
                  <a:srgbClr val="345BC8"/>
                </a:solidFill>
                <a:latin typeface="Times New Roman" panose="02020603050405020304" pitchFamily="18" charset="0"/>
                <a:ea typeface="文鼎细圆" pitchFamily="49" charset="-122"/>
              </a:rPr>
              <a:t>(birthday)</a:t>
            </a:r>
          </a:p>
          <a:p>
            <a:pPr>
              <a:spcBef>
                <a:spcPct val="0"/>
              </a:spcBef>
              <a:buFontTx/>
              <a:buNone/>
            </a:pPr>
            <a:r>
              <a:rPr lang="en-US" altLang="zh-CN" sz="2000" b="1">
                <a:solidFill>
                  <a:schemeClr val="accent2"/>
                </a:solidFill>
                <a:latin typeface="Times New Roman" panose="02020603050405020304" pitchFamily="18" charset="0"/>
                <a:ea typeface="文鼎细圆" pitchFamily="49" charset="-122"/>
              </a:rPr>
              <a:t>           Else write </a:t>
            </a:r>
            <a:r>
              <a:rPr lang="en-US" altLang="zh-CN" sz="2000" b="1">
                <a:solidFill>
                  <a:srgbClr val="345BC8"/>
                </a:solidFill>
                <a:latin typeface="Times New Roman" panose="02020603050405020304" pitchFamily="18" charset="0"/>
                <a:ea typeface="文鼎细圆" pitchFamily="49" charset="-122"/>
              </a:rPr>
              <a:t>“invalid age！”</a:t>
            </a:r>
          </a:p>
        </p:txBody>
      </p:sp>
      <p:sp>
        <p:nvSpPr>
          <p:cNvPr id="2512902" name="Rectangle 6">
            <a:extLst>
              <a:ext uri="{FF2B5EF4-FFF2-40B4-BE49-F238E27FC236}">
                <a16:creationId xmlns:a16="http://schemas.microsoft.com/office/drawing/2014/main" id="{0DD4C4A5-ACDB-4D90-B5DA-9D6B17F8A293}"/>
              </a:ext>
            </a:extLst>
          </p:cNvPr>
          <p:cNvSpPr>
            <a:spLocks noChangeArrowheads="1"/>
          </p:cNvSpPr>
          <p:nvPr/>
        </p:nvSpPr>
        <p:spPr bwMode="auto">
          <a:xfrm>
            <a:off x="5715000" y="3505200"/>
            <a:ext cx="381000" cy="228600"/>
          </a:xfrm>
          <a:prstGeom prst="rect">
            <a:avLst/>
          </a:prstGeom>
          <a:solidFill>
            <a:schemeClr val="bg1"/>
          </a:solidFill>
          <a:ln w="9525">
            <a:noFill/>
            <a:miter lim="800000"/>
            <a:headEnd/>
            <a:tailEnd/>
          </a:ln>
          <a:effectLst/>
        </p:spPr>
        <p:txBody>
          <a:bodyPr wrap="none" anchor="ctr"/>
          <a:lstStyle/>
          <a:p>
            <a:pPr algn="ctr">
              <a:defRPr/>
            </a:pPr>
            <a:r>
              <a:rPr lang="zh-CN" altLang="en-US" sz="2400" b="1">
                <a:solidFill>
                  <a:schemeClr val="accent2"/>
                </a:solidFill>
                <a:effectLst>
                  <a:outerShdw blurRad="38100" dist="38100" dir="2700000" algn="tl">
                    <a:srgbClr val="000000"/>
                  </a:outerShdw>
                </a:effectLst>
                <a:latin typeface="Times New Roman" charset="0"/>
                <a:ea typeface="文鼎细圆" pitchFamily="49" charset="-122"/>
              </a:rPr>
              <a:t>&lt;</a:t>
            </a:r>
          </a:p>
        </p:txBody>
      </p:sp>
      <p:sp>
        <p:nvSpPr>
          <p:cNvPr id="2512903" name="Rectangle 7">
            <a:hlinkClick r:id="rId3" action="ppaction://hlinksldjump"/>
            <a:extLst>
              <a:ext uri="{FF2B5EF4-FFF2-40B4-BE49-F238E27FC236}">
                <a16:creationId xmlns:a16="http://schemas.microsoft.com/office/drawing/2014/main" id="{0CDA0B1D-CBB9-4A4E-B2F7-13B4A9DE2C5D}"/>
              </a:ext>
            </a:extLst>
          </p:cNvPr>
          <p:cNvSpPr>
            <a:spLocks noChangeArrowheads="1"/>
          </p:cNvSpPr>
          <p:nvPr/>
        </p:nvSpPr>
        <p:spPr bwMode="auto">
          <a:xfrm>
            <a:off x="4343400" y="2133600"/>
            <a:ext cx="4648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eaLnBrk="1" hangingPunct="1">
              <a:spcBef>
                <a:spcPct val="30000"/>
              </a:spcBef>
              <a:buFontTx/>
              <a:buNone/>
            </a:pPr>
            <a:r>
              <a:rPr lang="zh-CN" altLang="en-US" sz="1800">
                <a:solidFill>
                  <a:srgbClr val="49AB39"/>
                </a:solidFill>
                <a:latin typeface="黑体" panose="02010609060101010101" pitchFamily="49" charset="-122"/>
                <a:ea typeface="黑体" panose="02010609060101010101" pitchFamily="49" charset="-122"/>
              </a:rPr>
              <a:t>    为了接受年龄合格的报名者则程序中</a:t>
            </a:r>
          </a:p>
          <a:p>
            <a:pPr eaLnBrk="1" hangingPunct="1">
              <a:spcBef>
                <a:spcPct val="30000"/>
              </a:spcBef>
              <a:buFontTx/>
              <a:buNone/>
            </a:pPr>
            <a:r>
              <a:rPr lang="zh-CN" altLang="en-US" sz="1800">
                <a:solidFill>
                  <a:srgbClr val="49AB39"/>
                </a:solidFill>
                <a:latin typeface="黑体" panose="02010609060101010101" pitchFamily="49" charset="-122"/>
                <a:ea typeface="黑体" panose="02010609060101010101" pitchFamily="49" charset="-122"/>
              </a:rPr>
              <a:t>可能设有语句为：</a:t>
            </a:r>
            <a:r>
              <a:rPr lang="en-US" altLang="zh-CN" sz="1800" b="1">
                <a:solidFill>
                  <a:srgbClr val="49AB39"/>
                </a:solidFill>
                <a:latin typeface="黑体" panose="02010609060101010101" pitchFamily="49" charset="-122"/>
                <a:ea typeface="黑体" panose="02010609060101010101"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12903"/>
                                        </p:tgtEl>
                                        <p:attrNameLst>
                                          <p:attrName>style.visibility</p:attrName>
                                        </p:attrNameLst>
                                      </p:cBhvr>
                                      <p:to>
                                        <p:strVal val="visible"/>
                                      </p:to>
                                    </p:set>
                                    <p:animEffect transition="in" filter="blinds(horizontal)">
                                      <p:cBhvr>
                                        <p:cTn id="7" dur="500"/>
                                        <p:tgtEl>
                                          <p:spTgt spid="25129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12899"/>
                                        </p:tgtEl>
                                        <p:attrNameLst>
                                          <p:attrName>style.visibility</p:attrName>
                                        </p:attrNameLst>
                                      </p:cBhvr>
                                      <p:to>
                                        <p:strVal val="visible"/>
                                      </p:to>
                                    </p:set>
                                    <p:animEffect transition="in" filter="blinds(horizontal)">
                                      <p:cBhvr>
                                        <p:cTn id="12" dur="500"/>
                                        <p:tgtEl>
                                          <p:spTgt spid="25128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512902"/>
                                        </p:tgtEl>
                                        <p:attrNameLst>
                                          <p:attrName>style.visibility</p:attrName>
                                        </p:attrNameLst>
                                      </p:cBhvr>
                                      <p:to>
                                        <p:strVal val="visible"/>
                                      </p:to>
                                    </p:set>
                                    <p:animEffect transition="in" filter="dissolve">
                                      <p:cBhvr>
                                        <p:cTn id="17" dur="500"/>
                                        <p:tgtEl>
                                          <p:spTgt spid="25129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2899" grpId="0" animBg="1" autoUpdateAnimBg="0"/>
      <p:bldP spid="2512902" grpId="0" animBg="1" autoUpdateAnimBg="0"/>
      <p:bldP spid="2512903" grpId="0" autoUpdateAnimBg="0"/>
    </p:bld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日期占位符 1">
            <a:extLst>
              <a:ext uri="{FF2B5EF4-FFF2-40B4-BE49-F238E27FC236}">
                <a16:creationId xmlns:a16="http://schemas.microsoft.com/office/drawing/2014/main" id="{D169420C-D2B7-49CA-ACE3-00CFE84AE1A2}"/>
              </a:ext>
            </a:extLst>
          </p:cNvPr>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spcBef>
                <a:spcPct val="0"/>
              </a:spcBef>
              <a:buFontTx/>
              <a:buNone/>
            </a:pPr>
            <a:fld id="{E9EB2953-FADB-4B59-9D8A-22CDCCC8B78F}" type="datetime1">
              <a:rPr lang="zh-CN" altLang="en-US" sz="1400">
                <a:solidFill>
                  <a:schemeClr val="bg2"/>
                </a:solidFill>
                <a:latin typeface="幼圆" panose="02010509060101010101" pitchFamily="49" charset="-122"/>
                <a:ea typeface="幼圆" panose="02010509060101010101" pitchFamily="49" charset="-122"/>
              </a:rPr>
              <a:pPr>
                <a:spcBef>
                  <a:spcPct val="0"/>
                </a:spcBef>
                <a:buFontTx/>
                <a:buNone/>
              </a:pPr>
              <a:t>2026/6/10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142339" name="Rectangle 2">
            <a:extLst>
              <a:ext uri="{FF2B5EF4-FFF2-40B4-BE49-F238E27FC236}">
                <a16:creationId xmlns:a16="http://schemas.microsoft.com/office/drawing/2014/main" id="{83E0D46C-E9F9-40EA-BF99-2F43DB4E2024}"/>
              </a:ext>
            </a:extLst>
          </p:cNvPr>
          <p:cNvSpPr>
            <a:spLocks noChangeArrowheads="1"/>
          </p:cNvSpPr>
          <p:nvPr/>
        </p:nvSpPr>
        <p:spPr bwMode="auto">
          <a:xfrm>
            <a:off x="3048000" y="838200"/>
            <a:ext cx="7315200" cy="1143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a:solidFill>
                  <a:srgbClr val="000066"/>
                </a:solidFill>
                <a:latin typeface="Arial" panose="020B0604020202020204" pitchFamily="34" charset="0"/>
                <a:ea typeface="宋体" panose="02010600030101010101" pitchFamily="2" charset="-122"/>
              </a:defRPr>
            </a:lvl1pPr>
            <a:lvl2pPr marL="742950" indent="-285750">
              <a:spcBef>
                <a:spcPct val="20000"/>
              </a:spcBef>
              <a:buChar char="–"/>
              <a:defRPr sz="2400">
                <a:solidFill>
                  <a:srgbClr val="000066"/>
                </a:solidFill>
                <a:latin typeface="Arial" panose="020B0604020202020204" pitchFamily="34" charset="0"/>
                <a:ea typeface="宋体" panose="02010600030101010101" pitchFamily="2" charset="-122"/>
              </a:defRPr>
            </a:lvl2pPr>
            <a:lvl3pPr marL="1143000" indent="-228600">
              <a:spcBef>
                <a:spcPct val="20000"/>
              </a:spcBef>
              <a:buChar char="•"/>
              <a:defRPr sz="2000">
                <a:solidFill>
                  <a:srgbClr val="000066"/>
                </a:solidFill>
                <a:latin typeface="Arial" panose="020B0604020202020204" pitchFamily="34" charset="0"/>
                <a:ea typeface="宋体" panose="02010600030101010101" pitchFamily="2" charset="-122"/>
              </a:defRPr>
            </a:lvl3pPr>
            <a:lvl4pPr marL="1600200" indent="-228600">
              <a:spcBef>
                <a:spcPct val="20000"/>
              </a:spcBef>
              <a:buChar char="–"/>
              <a:defRPr sz="2000">
                <a:solidFill>
                  <a:srgbClr val="000066"/>
                </a:solidFill>
                <a:latin typeface="Arial" panose="020B0604020202020204" pitchFamily="34" charset="0"/>
                <a:ea typeface="宋体" panose="02010600030101010101" pitchFamily="2" charset="-122"/>
              </a:defRPr>
            </a:lvl4pPr>
            <a:lvl5pPr marL="2057400" indent="-228600">
              <a:spcBef>
                <a:spcPct val="20000"/>
              </a:spcBef>
              <a:buChar char="»"/>
              <a:defRPr sz="2000">
                <a:solidFill>
                  <a:srgbClr val="000066"/>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rgbClr val="000066"/>
                </a:solidFill>
                <a:latin typeface="Arial" panose="020B0604020202020204" pitchFamily="34" charset="0"/>
                <a:ea typeface="宋体" panose="02010600030101010101" pitchFamily="2" charset="-122"/>
              </a:defRPr>
            </a:lvl9pPr>
          </a:lstStyle>
          <a:p>
            <a:pPr algn="ctr">
              <a:spcBef>
                <a:spcPct val="0"/>
              </a:spcBef>
              <a:buFontTx/>
              <a:buNone/>
            </a:pPr>
            <a:endParaRPr lang="zh-CN" altLang="en-US" sz="2800">
              <a:solidFill>
                <a:schemeClr val="tx1"/>
              </a:solidFill>
              <a:latin typeface="Times New Roman" panose="02020603050405020304" pitchFamily="18" charset="0"/>
              <a:ea typeface="楷体_GB2312" pitchFamily="49" charset="-122"/>
            </a:endParaRPr>
          </a:p>
        </p:txBody>
      </p:sp>
      <p:graphicFrame>
        <p:nvGraphicFramePr>
          <p:cNvPr id="2593007" name="Group 239">
            <a:extLst>
              <a:ext uri="{FF2B5EF4-FFF2-40B4-BE49-F238E27FC236}">
                <a16:creationId xmlns:a16="http://schemas.microsoft.com/office/drawing/2014/main" id="{B861C1A3-B851-463B-BA4B-8A49B30ABC78}"/>
              </a:ext>
            </a:extLst>
          </p:cNvPr>
          <p:cNvGraphicFramePr>
            <a:graphicFrameLocks noGrp="1"/>
          </p:cNvGraphicFramePr>
          <p:nvPr/>
        </p:nvGraphicFramePr>
        <p:xfrm>
          <a:off x="3733800" y="1143001"/>
          <a:ext cx="5791200" cy="4937125"/>
        </p:xfrm>
        <a:graphic>
          <a:graphicData uri="http://schemas.openxmlformats.org/drawingml/2006/table">
            <a:tbl>
              <a:tblPr/>
              <a:tblGrid>
                <a:gridCol w="1219200">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tblGrid>
              <a:tr h="56991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49AB39"/>
                          </a:solidFill>
                          <a:effectLst/>
                          <a:latin typeface="Times New Roman" charset="0"/>
                          <a:ea typeface="黑体" pitchFamily="2" charset="-122"/>
                        </a:rPr>
                        <a:t>输入</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49AB39"/>
                          </a:solidFill>
                          <a:effectLst/>
                          <a:latin typeface="Times New Roman" charset="0"/>
                          <a:ea typeface="黑体" pitchFamily="2" charset="-122"/>
                        </a:rPr>
                        <a:t>等价类</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49AB39"/>
                          </a:solidFill>
                          <a:effectLst/>
                          <a:latin typeface="Times New Roman" charset="0"/>
                          <a:ea typeface="黑体" pitchFamily="2" charset="-122"/>
                        </a:rPr>
                        <a:t>测试用例说明</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49AB39"/>
                          </a:solidFill>
                          <a:effectLst/>
                          <a:latin typeface="Times New Roman" charset="0"/>
                          <a:ea typeface="黑体" pitchFamily="2" charset="-122"/>
                        </a:rPr>
                        <a:t>测试数据</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49AB39"/>
                          </a:solidFill>
                          <a:effectLst/>
                          <a:latin typeface="Times New Roman" charset="0"/>
                          <a:ea typeface="黑体" pitchFamily="2" charset="-122"/>
                        </a:rPr>
                        <a:t>期望结果</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7334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49AB39"/>
                          </a:solidFill>
                          <a:effectLst/>
                          <a:latin typeface="Times New Roman" charset="0"/>
                          <a:ea typeface="黑体" pitchFamily="2" charset="-122"/>
                        </a:rPr>
                        <a:t>出</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49AB39"/>
                          </a:solidFill>
                          <a:effectLst/>
                          <a:latin typeface="Times New Roman" charset="0"/>
                          <a:ea typeface="黑体" pitchFamily="2" charset="-122"/>
                        </a:rPr>
                        <a:t>生</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49AB39"/>
                          </a:solidFill>
                          <a:effectLst/>
                          <a:latin typeface="Times New Roman" charset="0"/>
                          <a:ea typeface="黑体" pitchFamily="2" charset="-122"/>
                        </a:rPr>
                        <a:t>年</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49AB39"/>
                          </a:solidFill>
                          <a:effectLst/>
                          <a:latin typeface="Times New Roman" charset="0"/>
                          <a:ea typeface="黑体" pitchFamily="2" charset="-122"/>
                        </a:rPr>
                        <a:t>月</a:t>
                      </a:r>
                      <a:endParaRPr kumimoji="1" lang="en-US" altLang="zh-CN" sz="1800" b="0" i="0" u="none" strike="noStrike" cap="none" normalizeH="0" baseline="0">
                        <a:ln>
                          <a:noFill/>
                        </a:ln>
                        <a:solidFill>
                          <a:srgbClr val="49AB39"/>
                        </a:solidFill>
                        <a:effectLst/>
                        <a:latin typeface="Times New Roman" charset="0"/>
                        <a:ea typeface="黑体" pitchFamily="2" charset="-122"/>
                      </a:endParaRP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49AB39"/>
                          </a:solidFill>
                          <a:effectLst/>
                          <a:latin typeface="黑体" pitchFamily="2" charset="-122"/>
                          <a:ea typeface="黑体" pitchFamily="2" charset="-122"/>
                        </a:rPr>
                        <a:t>1 个数字字符</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49AB39"/>
                          </a:solidFill>
                          <a:effectLst/>
                          <a:latin typeface="黑体" pitchFamily="2" charset="-122"/>
                          <a:ea typeface="黑体" pitchFamily="2" charset="-122"/>
                        </a:rPr>
                        <a:t>5 个数字字符</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49AB39"/>
                          </a:solidFill>
                          <a:effectLst/>
                          <a:latin typeface="黑体" pitchFamily="2" charset="-122"/>
                          <a:ea typeface="黑体" pitchFamily="2" charset="-122"/>
                        </a:rPr>
                        <a:t>7 个数字字符</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49AB39"/>
                          </a:solidFill>
                          <a:effectLst/>
                          <a:latin typeface="黑体" pitchFamily="2" charset="-122"/>
                          <a:ea typeface="黑体" pitchFamily="2" charset="-122"/>
                        </a:rPr>
                        <a:t>有1个非数字字符</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49AB39"/>
                          </a:solidFill>
                          <a:effectLst/>
                          <a:latin typeface="黑体" pitchFamily="2" charset="-122"/>
                          <a:ea typeface="黑体" pitchFamily="2" charset="-122"/>
                        </a:rPr>
                        <a:t>全是非数字字符</a:t>
                      </a:r>
                      <a:endParaRPr kumimoji="1" lang="zh-CN" altLang="en-US" sz="1800" b="0" i="0" u="none" strike="noStrike" cap="none" normalizeH="0" baseline="0">
                        <a:ln>
                          <a:noFill/>
                        </a:ln>
                        <a:solidFill>
                          <a:srgbClr val="49AB39"/>
                        </a:solidFill>
                        <a:effectLst/>
                        <a:latin typeface="黑体" pitchFamily="2" charset="-122"/>
                        <a:ea typeface="黑体" pitchFamily="2" charset="-122"/>
                      </a:endParaRP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345BC8"/>
                          </a:solidFill>
                          <a:effectLst/>
                          <a:latin typeface="Times New Roman" charset="0"/>
                          <a:ea typeface="文鼎细圆" pitchFamily="49" charset="-122"/>
                        </a:rPr>
                        <a:t>5</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345BC8"/>
                          </a:solidFill>
                          <a:effectLst/>
                          <a:latin typeface="Times New Roman" charset="0"/>
                          <a:ea typeface="文鼎细圆" pitchFamily="49" charset="-122"/>
                        </a:rPr>
                        <a:t>19705</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345BC8"/>
                          </a:solidFill>
                          <a:effectLst/>
                          <a:latin typeface="Times New Roman" charset="0"/>
                          <a:ea typeface="文鼎细圆" pitchFamily="49" charset="-122"/>
                        </a:rPr>
                        <a:t>1968011</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345BC8"/>
                          </a:solidFill>
                          <a:effectLst/>
                          <a:latin typeface="Times New Roman" charset="0"/>
                          <a:ea typeface="文鼎细圆" pitchFamily="49" charset="-122"/>
                        </a:rPr>
                        <a:t>19705</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rgbClr val="345BC8"/>
                          </a:solidFill>
                          <a:effectLst/>
                          <a:latin typeface="Times New Roman" charset="0"/>
                          <a:ea typeface="文鼎细圆" pitchFamily="49" charset="-122"/>
                        </a:rPr>
                        <a:t>AUGUST</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600" b="0" i="0" u="none" strike="noStrike" cap="none" normalizeH="0" baseline="0">
                          <a:ln>
                            <a:noFill/>
                          </a:ln>
                          <a:solidFill>
                            <a:srgbClr val="49AB39"/>
                          </a:solidFill>
                          <a:effectLst/>
                          <a:latin typeface="黑体" pitchFamily="2" charset="-122"/>
                          <a:ea typeface="黑体" pitchFamily="2" charset="-122"/>
                        </a:rPr>
                        <a:t> </a:t>
                      </a:r>
                      <a:endParaRPr kumimoji="1" lang="zh-CN" altLang="en-US" sz="1600" b="0" i="0" u="none" strike="noStrike" cap="none" normalizeH="0" baseline="0">
                        <a:ln>
                          <a:noFill/>
                        </a:ln>
                        <a:solidFill>
                          <a:srgbClr val="49AB39"/>
                        </a:solidFill>
                        <a:effectLst/>
                        <a:latin typeface="黑体" pitchFamily="2" charset="-122"/>
                        <a:ea typeface="黑体" pitchFamily="2" charset="-122"/>
                      </a:endParaRP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0" lang="zh-CN" altLang="en-US" sz="1800" b="0" i="0" u="none" strike="noStrike" cap="none" normalizeH="0" baseline="0">
                          <a:ln>
                            <a:noFill/>
                          </a:ln>
                          <a:solidFill>
                            <a:srgbClr val="49AB39"/>
                          </a:solidFill>
                          <a:effectLst/>
                          <a:latin typeface="Times New Roman" charset="0"/>
                          <a:ea typeface="黑体" pitchFamily="2" charset="-122"/>
                        </a:rPr>
                        <a:t>输入无效</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669925">
                <a:tc row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49AB39"/>
                          </a:solidFill>
                          <a:effectLst/>
                          <a:latin typeface="Times New Roman" charset="0"/>
                          <a:ea typeface="黑体" pitchFamily="2" charset="-122"/>
                        </a:rPr>
                        <a:t>对应数值</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1" lang="zh-CN" altLang="en-US" sz="1800" b="0" i="0" u="none" strike="noStrike" cap="none" normalizeH="0" baseline="0">
                          <a:ln>
                            <a:noFill/>
                          </a:ln>
                          <a:solidFill>
                            <a:srgbClr val="49AB39"/>
                          </a:solidFill>
                          <a:effectLst/>
                          <a:latin typeface="Times New Roman" charset="0"/>
                          <a:ea typeface="黑体" pitchFamily="2" charset="-122"/>
                        </a:rPr>
                        <a:t> </a:t>
                      </a:r>
                      <a:r>
                        <a:rPr kumimoji="0" lang="zh-CN" altLang="en-US" sz="1800" b="1" i="0" u="none" strike="noStrike" cap="none" normalizeH="0" baseline="0">
                          <a:ln>
                            <a:noFill/>
                          </a:ln>
                          <a:solidFill>
                            <a:srgbClr val="49AB39"/>
                          </a:solidFill>
                          <a:effectLst/>
                          <a:latin typeface="Times New Roman" charset="0"/>
                          <a:ea typeface="文鼎细圆" pitchFamily="49" charset="-122"/>
                        </a:rPr>
                        <a:t>35 周岁</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49AB39"/>
                          </a:solidFill>
                          <a:effectLst/>
                          <a:latin typeface="Times New Roman" charset="0"/>
                          <a:ea typeface="文鼎细圆" pitchFamily="49" charset="-122"/>
                        </a:rPr>
                        <a:t> 16 周岁</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345BC8"/>
                          </a:solidFill>
                          <a:effectLst/>
                          <a:latin typeface="Times New Roman" charset="0"/>
                          <a:ea typeface="文鼎细圆" pitchFamily="49" charset="-122"/>
                        </a:rPr>
                        <a:t>196007</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345BC8"/>
                          </a:solidFill>
                          <a:effectLst/>
                          <a:latin typeface="Times New Roman" charset="0"/>
                          <a:ea typeface="文鼎细圆" pitchFamily="49" charset="-122"/>
                        </a:rPr>
                        <a:t>197906</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0" lang="zh-CN" altLang="en-US" sz="1800" b="0" i="0" u="none" strike="noStrike" cap="none" normalizeH="0" baseline="0">
                          <a:ln>
                            <a:noFill/>
                          </a:ln>
                          <a:solidFill>
                            <a:srgbClr val="49AB39"/>
                          </a:solidFill>
                          <a:effectLst/>
                          <a:latin typeface="Times New Roman" charset="0"/>
                          <a:ea typeface="黑体" pitchFamily="2" charset="-122"/>
                        </a:rPr>
                        <a:t>合格年龄</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0">
                <a:tc vMerge="1">
                  <a:txBody>
                    <a:bodyPr/>
                    <a:lstStyle/>
                    <a:p>
                      <a:endParaRPr lang="zh-CN" altLang="en-US"/>
                    </a:p>
                  </a:txBody>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49AB39"/>
                          </a:solidFill>
                          <a:effectLst/>
                          <a:latin typeface="Times New Roman" charset="0"/>
                          <a:ea typeface="文鼎细圆" pitchFamily="49" charset="-122"/>
                        </a:rPr>
                        <a:t> &gt;35 周岁</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49AB39"/>
                          </a:solidFill>
                          <a:effectLst/>
                          <a:latin typeface="Times New Roman" charset="0"/>
                          <a:ea typeface="文鼎细圆" pitchFamily="49" charset="-122"/>
                        </a:rPr>
                        <a:t> &lt;16周岁</a:t>
                      </a:r>
                      <a:endParaRPr kumimoji="1" lang="zh-CN" altLang="en-US" sz="1800" b="0" i="0" u="none" strike="noStrike" cap="none" normalizeH="0" baseline="0">
                        <a:ln>
                          <a:noFill/>
                        </a:ln>
                        <a:solidFill>
                          <a:srgbClr val="49AB39"/>
                        </a:solidFill>
                        <a:effectLst/>
                        <a:latin typeface="Times New Roman" charset="0"/>
                        <a:ea typeface="黑体" pitchFamily="2" charset="-122"/>
                      </a:endParaRP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345BC8"/>
                          </a:solidFill>
                          <a:effectLst/>
                          <a:latin typeface="Times New Roman" charset="0"/>
                          <a:ea typeface="文鼎细圆" pitchFamily="49" charset="-122"/>
                        </a:rPr>
                        <a:t>196006</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345BC8"/>
                          </a:solidFill>
                          <a:effectLst/>
                          <a:latin typeface="Times New Roman" charset="0"/>
                          <a:ea typeface="文鼎细圆" pitchFamily="49" charset="-122"/>
                        </a:rPr>
                        <a:t>197907</a:t>
                      </a:r>
                      <a:endParaRPr kumimoji="0" lang="zh-CN" altLang="en-US" sz="1800" b="0" i="0" u="none" strike="noStrike" cap="none" normalizeH="0" baseline="0">
                        <a:ln>
                          <a:noFill/>
                        </a:ln>
                        <a:solidFill>
                          <a:srgbClr val="345BC8"/>
                        </a:solidFill>
                        <a:effectLst/>
                        <a:latin typeface="Times New Roman" charset="0"/>
                        <a:ea typeface="黑体" pitchFamily="2" charset="-122"/>
                      </a:endParaRP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90000"/>
                        <a:buFont typeface="Monotype Sorts" pitchFamily="2" charset="2"/>
                        <a:buNone/>
                        <a:tabLst/>
                      </a:pPr>
                      <a:r>
                        <a:rPr kumimoji="0" lang="zh-CN" altLang="en-US" sz="1800" b="0" i="0" u="none" strike="noStrike" cap="none" normalizeH="0" baseline="0">
                          <a:ln>
                            <a:noFill/>
                          </a:ln>
                          <a:solidFill>
                            <a:srgbClr val="49AB39"/>
                          </a:solidFill>
                          <a:effectLst/>
                          <a:latin typeface="Times New Roman" charset="0"/>
                          <a:ea typeface="黑体" pitchFamily="2" charset="-122"/>
                        </a:rPr>
                        <a:t>不合格年龄</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609600">
                <a:tc row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49AB39"/>
                          </a:solidFill>
                          <a:effectLst/>
                          <a:latin typeface="Times New Roman" charset="0"/>
                          <a:ea typeface="黑体" pitchFamily="2" charset="-122"/>
                        </a:rPr>
                        <a:t>月份</a:t>
                      </a:r>
                    </a:p>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49AB39"/>
                          </a:solidFill>
                          <a:effectLst/>
                          <a:latin typeface="Times New Roman" charset="0"/>
                          <a:ea typeface="黑体" pitchFamily="2" charset="-122"/>
                        </a:rPr>
                        <a:t>对应数值</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49AB39"/>
                          </a:solidFill>
                          <a:effectLst/>
                          <a:latin typeface="黑体" pitchFamily="2" charset="-122"/>
                          <a:ea typeface="黑体" pitchFamily="2" charset="-122"/>
                        </a:rPr>
                        <a:t>月份</a:t>
                      </a:r>
                      <a:r>
                        <a:rPr kumimoji="0" lang="zh-CN" altLang="en-US" sz="1800" b="0" i="0" u="none" strike="noStrike" cap="none" normalizeH="0" baseline="0">
                          <a:ln>
                            <a:noFill/>
                          </a:ln>
                          <a:solidFill>
                            <a:srgbClr val="49AB39"/>
                          </a:solidFill>
                          <a:effectLst/>
                          <a:latin typeface="Times New Roman" charset="0"/>
                          <a:ea typeface="黑体" pitchFamily="2" charset="-122"/>
                        </a:rPr>
                        <a:t>值</a:t>
                      </a:r>
                      <a:r>
                        <a:rPr kumimoji="0" lang="zh-CN" altLang="en-US" sz="1800" b="0" i="0" u="none" strike="noStrike" cap="none" normalizeH="0" baseline="0">
                          <a:ln>
                            <a:noFill/>
                          </a:ln>
                          <a:solidFill>
                            <a:srgbClr val="49AB39"/>
                          </a:solidFill>
                          <a:effectLst/>
                          <a:latin typeface="黑体" pitchFamily="2" charset="-122"/>
                          <a:ea typeface="黑体" pitchFamily="2" charset="-122"/>
                        </a:rPr>
                        <a:t>为 1 月</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49AB39"/>
                          </a:solidFill>
                          <a:effectLst/>
                          <a:latin typeface="黑体" pitchFamily="2" charset="-122"/>
                          <a:ea typeface="黑体" pitchFamily="2" charset="-122"/>
                        </a:rPr>
                        <a:t>月份</a:t>
                      </a:r>
                      <a:r>
                        <a:rPr kumimoji="0" lang="zh-CN" altLang="en-US" sz="1800" b="0" i="0" u="none" strike="noStrike" cap="none" normalizeH="0" baseline="0">
                          <a:ln>
                            <a:noFill/>
                          </a:ln>
                          <a:solidFill>
                            <a:srgbClr val="49AB39"/>
                          </a:solidFill>
                          <a:effectLst/>
                          <a:latin typeface="Times New Roman" charset="0"/>
                          <a:ea typeface="黑体" pitchFamily="2" charset="-122"/>
                        </a:rPr>
                        <a:t>值</a:t>
                      </a:r>
                      <a:r>
                        <a:rPr kumimoji="0" lang="zh-CN" altLang="en-US" sz="1800" b="0" i="0" u="none" strike="noStrike" cap="none" normalizeH="0" baseline="0">
                          <a:ln>
                            <a:noFill/>
                          </a:ln>
                          <a:solidFill>
                            <a:srgbClr val="49AB39"/>
                          </a:solidFill>
                          <a:effectLst/>
                          <a:latin typeface="黑体" pitchFamily="2" charset="-122"/>
                          <a:ea typeface="黑体" pitchFamily="2" charset="-122"/>
                        </a:rPr>
                        <a:t>为 12 月</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0066FF"/>
                          </a:solidFill>
                          <a:effectLst/>
                          <a:latin typeface="Times New Roman" charset="0"/>
                          <a:ea typeface="文鼎细圆" pitchFamily="49" charset="-122"/>
                        </a:rPr>
                        <a:t> 196701</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0066FF"/>
                          </a:solidFill>
                          <a:effectLst/>
                          <a:latin typeface="Times New Roman" charset="0"/>
                          <a:ea typeface="文鼎细圆" pitchFamily="49" charset="-122"/>
                        </a:rPr>
                        <a:t> 197412</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50000"/>
                        </a:spcBef>
                        <a:spcAft>
                          <a:spcPct val="0"/>
                        </a:spcAft>
                        <a:buClr>
                          <a:schemeClr val="accent1"/>
                        </a:buClr>
                        <a:buSzPct val="90000"/>
                        <a:buFont typeface="Monotype Sorts" pitchFamily="2" charset="2"/>
                        <a:buNone/>
                        <a:tabLst/>
                      </a:pPr>
                      <a:r>
                        <a:rPr kumimoji="0" lang="zh-CN" altLang="en-US" sz="1800" b="0" i="0" u="none" strike="noStrike" cap="none" normalizeH="0" baseline="0">
                          <a:ln>
                            <a:noFill/>
                          </a:ln>
                          <a:solidFill>
                            <a:srgbClr val="49AB39"/>
                          </a:solidFill>
                          <a:effectLst/>
                          <a:latin typeface="Times New Roman" charset="0"/>
                          <a:ea typeface="黑体" pitchFamily="2" charset="-122"/>
                        </a:rPr>
                        <a:t>输入有效</a:t>
                      </a:r>
                      <a:endParaRPr kumimoji="0" lang="en-US" altLang="zh-CN" sz="1800" b="0" i="0" u="none" strike="noStrike" cap="none" normalizeH="0" baseline="0">
                        <a:ln>
                          <a:noFill/>
                        </a:ln>
                        <a:solidFill>
                          <a:srgbClr val="49AB39"/>
                        </a:solidFill>
                        <a:effectLst/>
                        <a:latin typeface="Times New Roman" charset="0"/>
                        <a:ea typeface="黑体" pitchFamily="2" charset="-122"/>
                      </a:endParaRP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127000">
                <a:tc vMerge="1">
                  <a:txBody>
                    <a:bodyPr/>
                    <a:lstStyle/>
                    <a:p>
                      <a:endParaRPr lang="zh-CN" altLang="en-US"/>
                    </a:p>
                  </a:txBody>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49AB39"/>
                          </a:solidFill>
                          <a:effectLst/>
                          <a:latin typeface="黑体" pitchFamily="2" charset="-122"/>
                          <a:ea typeface="黑体" pitchFamily="2" charset="-122"/>
                        </a:rPr>
                        <a:t>月份</a:t>
                      </a:r>
                      <a:r>
                        <a:rPr kumimoji="0" lang="zh-CN" altLang="en-US" sz="1800" b="0" i="0" u="none" strike="noStrike" cap="none" normalizeH="0" baseline="0">
                          <a:ln>
                            <a:noFill/>
                          </a:ln>
                          <a:solidFill>
                            <a:srgbClr val="49AB39"/>
                          </a:solidFill>
                          <a:effectLst/>
                          <a:latin typeface="Times New Roman" charset="0"/>
                          <a:ea typeface="黑体" pitchFamily="2" charset="-122"/>
                        </a:rPr>
                        <a:t>值 </a:t>
                      </a:r>
                      <a:r>
                        <a:rPr kumimoji="0" lang="zh-CN" altLang="en-US" sz="1800" b="0" i="0" u="none" strike="noStrike" cap="none" normalizeH="0" baseline="0">
                          <a:ln>
                            <a:noFill/>
                          </a:ln>
                          <a:solidFill>
                            <a:srgbClr val="49AB39"/>
                          </a:solidFill>
                          <a:effectLst/>
                          <a:latin typeface="黑体" pitchFamily="2" charset="-122"/>
                          <a:ea typeface="黑体" pitchFamily="2" charset="-122"/>
                        </a:rPr>
                        <a:t>&lt; 1</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49AB39"/>
                          </a:solidFill>
                          <a:effectLst/>
                          <a:latin typeface="黑体" pitchFamily="2" charset="-122"/>
                          <a:ea typeface="黑体" pitchFamily="2" charset="-122"/>
                        </a:rPr>
                        <a:t>月份</a:t>
                      </a:r>
                      <a:r>
                        <a:rPr kumimoji="0" lang="zh-CN" altLang="en-US" sz="1800" b="0" i="0" u="none" strike="noStrike" cap="none" normalizeH="0" baseline="0">
                          <a:ln>
                            <a:noFill/>
                          </a:ln>
                          <a:solidFill>
                            <a:srgbClr val="49AB39"/>
                          </a:solidFill>
                          <a:effectLst/>
                          <a:latin typeface="Times New Roman" charset="0"/>
                          <a:ea typeface="黑体" pitchFamily="2" charset="-122"/>
                        </a:rPr>
                        <a:t>值 </a:t>
                      </a:r>
                      <a:r>
                        <a:rPr kumimoji="0" lang="zh-CN" altLang="en-US" sz="1800" b="0" i="0" u="none" strike="noStrike" cap="none" normalizeH="0" baseline="0">
                          <a:ln>
                            <a:noFill/>
                          </a:ln>
                          <a:solidFill>
                            <a:srgbClr val="49AB39"/>
                          </a:solidFill>
                          <a:effectLst/>
                          <a:latin typeface="黑体" pitchFamily="2" charset="-122"/>
                          <a:ea typeface="黑体" pitchFamily="2" charset="-122"/>
                        </a:rPr>
                        <a:t>&gt;12</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0066FF"/>
                          </a:solidFill>
                          <a:effectLst/>
                          <a:latin typeface="Times New Roman" charset="0"/>
                          <a:ea typeface="文鼎细圆" pitchFamily="49" charset="-122"/>
                        </a:rPr>
                        <a:t> 196700</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0066FF"/>
                          </a:solidFill>
                          <a:effectLst/>
                          <a:latin typeface="Times New Roman" charset="0"/>
                          <a:ea typeface="文鼎细圆" pitchFamily="49" charset="-122"/>
                        </a:rPr>
                        <a:t> </a:t>
                      </a:r>
                      <a:r>
                        <a:rPr kumimoji="0" lang="en-US" altLang="zh-CN" sz="1800" b="1" i="0" u="none" strike="noStrike" cap="none" normalizeH="0" baseline="0">
                          <a:ln>
                            <a:noFill/>
                          </a:ln>
                          <a:solidFill>
                            <a:srgbClr val="0066FF"/>
                          </a:solidFill>
                          <a:effectLst/>
                          <a:latin typeface="Times New Roman" charset="0"/>
                          <a:ea typeface="文鼎细圆" pitchFamily="49" charset="-122"/>
                        </a:rPr>
                        <a:t>197413</a:t>
                      </a:r>
                      <a:r>
                        <a:rPr kumimoji="1" lang="en-US" altLang="zh-CN" sz="1600" b="0" i="0" u="none" strike="noStrike" cap="none" normalizeH="0" baseline="0">
                          <a:ln>
                            <a:noFill/>
                          </a:ln>
                          <a:solidFill>
                            <a:srgbClr val="0066FF"/>
                          </a:solidFill>
                          <a:effectLst/>
                          <a:latin typeface="黑体" pitchFamily="2" charset="-122"/>
                          <a:ea typeface="黑体" pitchFamily="2" charset="-122"/>
                        </a:rPr>
                        <a:t> </a:t>
                      </a:r>
                      <a:r>
                        <a:rPr kumimoji="1" lang="en-US" altLang="zh-CN" sz="1800" b="0" i="0" u="none" strike="noStrike" cap="none" normalizeH="0" baseline="0">
                          <a:ln>
                            <a:noFill/>
                          </a:ln>
                          <a:solidFill>
                            <a:srgbClr val="0066FF"/>
                          </a:solidFill>
                          <a:effectLst/>
                          <a:latin typeface="黑体" pitchFamily="2" charset="-122"/>
                          <a:ea typeface="黑体" pitchFamily="2" charset="-122"/>
                        </a:rPr>
                        <a:t> </a:t>
                      </a: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50000"/>
                        </a:spcBef>
                        <a:spcAft>
                          <a:spcPct val="0"/>
                        </a:spcAft>
                        <a:buClr>
                          <a:schemeClr val="accent1"/>
                        </a:buClr>
                        <a:buSzPct val="90000"/>
                        <a:buFont typeface="Monotype Sorts" pitchFamily="2" charset="2"/>
                        <a:buNone/>
                        <a:tabLst/>
                      </a:pPr>
                      <a:r>
                        <a:rPr kumimoji="0" lang="zh-CN" altLang="en-US" sz="1800" b="0" i="0" u="none" strike="noStrike" cap="none" normalizeH="0" baseline="0">
                          <a:ln>
                            <a:noFill/>
                          </a:ln>
                          <a:solidFill>
                            <a:srgbClr val="49AB39"/>
                          </a:solidFill>
                          <a:effectLst/>
                          <a:latin typeface="Times New Roman" charset="0"/>
                          <a:ea typeface="黑体" pitchFamily="2" charset="-122"/>
                        </a:rPr>
                        <a:t>输入无效</a:t>
                      </a:r>
                      <a:endParaRPr kumimoji="0" lang="en-US" altLang="zh-CN" sz="1800" b="0" i="0" u="none" strike="noStrike" cap="none" normalizeH="0" baseline="0">
                        <a:ln>
                          <a:noFill/>
                        </a:ln>
                        <a:solidFill>
                          <a:srgbClr val="49AB39"/>
                        </a:solidFill>
                        <a:effectLst/>
                        <a:latin typeface="Times New Roman" charset="0"/>
                        <a:ea typeface="黑体" pitchFamily="2" charset="-122"/>
                      </a:endParaRPr>
                    </a:p>
                  </a:txBody>
                  <a:tcPr anchor="ctr" horzOverflow="overflow">
                    <a:lnL w="12700" cap="flat" cmpd="sng" algn="ctr">
                      <a:solidFill>
                        <a:srgbClr val="EF8D2B"/>
                      </a:solidFill>
                      <a:prstDash val="solid"/>
                      <a:round/>
                      <a:headEnd type="none" w="med" len="med"/>
                      <a:tailEnd type="none" w="med" len="med"/>
                    </a:lnL>
                    <a:lnR w="12700" cap="flat" cmpd="sng" algn="ctr">
                      <a:solidFill>
                        <a:srgbClr val="EF8D2B"/>
                      </a:solidFill>
                      <a:prstDash val="solid"/>
                      <a:round/>
                      <a:headEnd type="none" w="med" len="med"/>
                      <a:tailEnd type="none" w="med" len="med"/>
                    </a:lnR>
                    <a:lnT w="12700" cap="flat" cmpd="sng" algn="ctr">
                      <a:solidFill>
                        <a:srgbClr val="EF8D2B"/>
                      </a:solidFill>
                      <a:prstDash val="solid"/>
                      <a:round/>
                      <a:headEnd type="none" w="med" len="med"/>
                      <a:tailEnd type="none" w="med" len="med"/>
                    </a:lnT>
                    <a:lnB w="12700" cap="flat" cmpd="sng" algn="ctr">
                      <a:solidFill>
                        <a:srgbClr val="EF8D2B"/>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2593007"/>
                                        </p:tgtEl>
                                        <p:attrNameLst>
                                          <p:attrName>style.visibility</p:attrName>
                                        </p:attrNameLst>
                                      </p:cBhvr>
                                      <p:to>
                                        <p:strVal val="visible"/>
                                      </p:to>
                                    </p:set>
                                    <p:animEffect transition="in" filter="randombar(horizontal)">
                                      <p:cBhvr>
                                        <p:cTn id="7" dur="500"/>
                                        <p:tgtEl>
                                          <p:spTgt spid="25930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内聚是衡量模块内部聚合能力的量度。内聚越高，说明模块内各成分彼此联系的程度</a:t>
            </a:r>
            <a:r>
              <a:rPr lang="en-US" altLang="zh-CN" sz="2800" dirty="0"/>
              <a:t>(   )</a:t>
            </a:r>
            <a:br>
              <a:rPr lang="en-US" altLang="zh-CN" sz="2800" dirty="0"/>
            </a:br>
            <a:r>
              <a:rPr lang="en-US" altLang="zh-CN" sz="2800" dirty="0"/>
              <a:t>A</a:t>
            </a:r>
            <a:r>
              <a:rPr lang="zh-CN" altLang="en-US" sz="2800" dirty="0"/>
              <a:t>．越松散　　	</a:t>
            </a:r>
            <a:br>
              <a:rPr lang="en-US" altLang="zh-CN" sz="2800" dirty="0"/>
            </a:br>
            <a:r>
              <a:rPr lang="en-US" altLang="zh-CN" sz="2800" dirty="0"/>
              <a:t>B</a:t>
            </a:r>
            <a:r>
              <a:rPr lang="zh-CN" altLang="en-US" sz="2800" dirty="0"/>
              <a:t>．彼此相等		</a:t>
            </a:r>
            <a:br>
              <a:rPr lang="en-US" altLang="zh-CN" sz="2800" dirty="0"/>
            </a:br>
            <a:r>
              <a:rPr lang="en-US" altLang="zh-CN" sz="2800" dirty="0"/>
              <a:t>C</a:t>
            </a:r>
            <a:r>
              <a:rPr lang="zh-CN" altLang="en-US" sz="2800" dirty="0"/>
              <a:t>．越紧密　　　	</a:t>
            </a:r>
            <a:br>
              <a:rPr lang="en-US" altLang="zh-CN" sz="2800" dirty="0"/>
            </a:br>
            <a:r>
              <a:rPr lang="en-US" altLang="zh-CN" sz="2800" dirty="0"/>
              <a:t>D</a:t>
            </a:r>
            <a:r>
              <a:rPr lang="zh-CN" altLang="en-US" sz="2800" dirty="0"/>
              <a:t>．没有联系</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C</a:t>
            </a:r>
          </a:p>
        </p:txBody>
      </p:sp>
    </p:spTree>
    <p:extLst>
      <p:ext uri="{BB962C8B-B14F-4D97-AF65-F5344CB8AC3E}">
        <p14:creationId xmlns:p14="http://schemas.microsoft.com/office/powerpoint/2010/main" val="1014794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为了提高测试的效率，应该（ ）</a:t>
            </a:r>
            <a:br>
              <a:rPr lang="en-US" altLang="zh-CN" sz="2800" dirty="0"/>
            </a:br>
            <a:r>
              <a:rPr lang="en-US" altLang="zh-CN" sz="2800" dirty="0"/>
              <a:t>A</a:t>
            </a:r>
            <a:r>
              <a:rPr lang="zh-CN" altLang="en-US" sz="2800" dirty="0"/>
              <a:t>．随机地选取测试数据</a:t>
            </a:r>
            <a:br>
              <a:rPr lang="zh-CN" altLang="en-US" sz="2800" dirty="0"/>
            </a:br>
            <a:r>
              <a:rPr lang="en-US" altLang="zh-CN" sz="2800" dirty="0"/>
              <a:t>B</a:t>
            </a:r>
            <a:r>
              <a:rPr lang="zh-CN" altLang="en-US" sz="2800" dirty="0"/>
              <a:t>．取一切可能的输入数据作为测试数据</a:t>
            </a:r>
            <a:br>
              <a:rPr lang="zh-CN" altLang="en-US" sz="2800" dirty="0"/>
            </a:br>
            <a:r>
              <a:rPr lang="en-US" altLang="zh-CN" sz="2800" dirty="0"/>
              <a:t>C</a:t>
            </a:r>
            <a:r>
              <a:rPr lang="zh-CN" altLang="en-US" sz="2800" dirty="0"/>
              <a:t>．在完成编码以后制定软件的测试计划</a:t>
            </a:r>
            <a:br>
              <a:rPr lang="zh-CN" altLang="en-US" sz="2800" dirty="0"/>
            </a:br>
            <a:r>
              <a:rPr lang="en-US" altLang="zh-CN" sz="2800" dirty="0"/>
              <a:t>D</a:t>
            </a:r>
            <a:r>
              <a:rPr lang="zh-CN" altLang="en-US" sz="2800" dirty="0"/>
              <a:t>．选择发现错误可能性大的数据作为测试数据</a:t>
            </a: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D</a:t>
            </a:r>
          </a:p>
        </p:txBody>
      </p:sp>
    </p:spTree>
    <p:extLst>
      <p:ext uri="{BB962C8B-B14F-4D97-AF65-F5344CB8AC3E}">
        <p14:creationId xmlns:p14="http://schemas.microsoft.com/office/powerpoint/2010/main" val="304980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单元测试的测试对象是（）。</a:t>
            </a:r>
            <a:br>
              <a:rPr lang="zh-CN" altLang="en-US" sz="2800" dirty="0"/>
            </a:br>
            <a:r>
              <a:rPr lang="en-US" altLang="zh-CN" sz="2800" dirty="0"/>
              <a:t>A.	</a:t>
            </a:r>
            <a:r>
              <a:rPr lang="zh-CN" altLang="en-US" sz="2800" dirty="0"/>
              <a:t>系统</a:t>
            </a:r>
            <a:br>
              <a:rPr lang="zh-CN" altLang="en-US" sz="2800" dirty="0"/>
            </a:br>
            <a:r>
              <a:rPr lang="en-US" altLang="zh-CN" sz="2800" dirty="0"/>
              <a:t>B.	</a:t>
            </a:r>
            <a:r>
              <a:rPr lang="zh-CN" altLang="en-US" sz="2800" dirty="0"/>
              <a:t>程序模块。</a:t>
            </a:r>
            <a:br>
              <a:rPr lang="zh-CN" altLang="en-US" sz="2800" dirty="0"/>
            </a:br>
            <a:r>
              <a:rPr lang="en-US" altLang="zh-CN" sz="2800" dirty="0"/>
              <a:t>C.	</a:t>
            </a:r>
            <a:r>
              <a:rPr lang="zh-CN" altLang="en-US" sz="2800" dirty="0"/>
              <a:t>模块接口</a:t>
            </a:r>
            <a:br>
              <a:rPr lang="zh-CN" altLang="en-US" sz="2800" dirty="0"/>
            </a:br>
            <a:r>
              <a:rPr lang="en-US" altLang="zh-CN" sz="2800" dirty="0"/>
              <a:t>D.	</a:t>
            </a:r>
            <a:r>
              <a:rPr lang="zh-CN" altLang="en-US" sz="2800" dirty="0"/>
              <a:t>系统功能</a:t>
            </a:r>
            <a:br>
              <a:rPr lang="zh-CN" altLang="en-US" sz="2800" dirty="0"/>
            </a:b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 B</a:t>
            </a:r>
          </a:p>
        </p:txBody>
      </p:sp>
    </p:spTree>
    <p:extLst>
      <p:ext uri="{BB962C8B-B14F-4D97-AF65-F5344CB8AC3E}">
        <p14:creationId xmlns:p14="http://schemas.microsoft.com/office/powerpoint/2010/main" val="3155755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软件生命周期中所花费用最多的阶段是（ ）</a:t>
            </a:r>
            <a:br>
              <a:rPr lang="zh-CN" altLang="en-US" sz="2800" dirty="0"/>
            </a:br>
            <a:r>
              <a:rPr lang="zh-CN" altLang="en-US" sz="2800" dirty="0"/>
              <a:t>   </a:t>
            </a:r>
            <a:r>
              <a:rPr lang="en-US" altLang="zh-CN" sz="2800" dirty="0"/>
              <a:t>A</a:t>
            </a:r>
            <a:r>
              <a:rPr lang="zh-CN" altLang="en-US" sz="2800" dirty="0"/>
              <a:t>．详细设计   </a:t>
            </a:r>
            <a:r>
              <a:rPr lang="en-US" altLang="zh-CN" sz="2800" dirty="0"/>
              <a:t>B</a:t>
            </a:r>
            <a:r>
              <a:rPr lang="zh-CN" altLang="en-US" sz="2800" dirty="0"/>
              <a:t>．软件编码   </a:t>
            </a:r>
            <a:r>
              <a:rPr lang="en-US" altLang="zh-CN" sz="2800" dirty="0"/>
              <a:t>C</a:t>
            </a:r>
            <a:r>
              <a:rPr lang="zh-CN" altLang="en-US" sz="2800" dirty="0"/>
              <a:t>．软件测试      </a:t>
            </a:r>
            <a:r>
              <a:rPr lang="en-US" altLang="zh-CN" sz="2800" dirty="0"/>
              <a:t>D</a:t>
            </a:r>
            <a:r>
              <a:rPr lang="zh-CN" altLang="en-US" sz="2800" dirty="0"/>
              <a:t>．软件维护</a:t>
            </a: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 D</a:t>
            </a:r>
          </a:p>
        </p:txBody>
      </p:sp>
    </p:spTree>
    <p:extLst>
      <p:ext uri="{BB962C8B-B14F-4D97-AF65-F5344CB8AC3E}">
        <p14:creationId xmlns:p14="http://schemas.microsoft.com/office/powerpoint/2010/main" val="1032014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使用白盒测试方法时，确定测试数据应根据</a:t>
            </a:r>
            <a:r>
              <a:rPr lang="en-US" altLang="zh-CN" sz="2800" dirty="0"/>
              <a:t>_______</a:t>
            </a:r>
            <a:r>
              <a:rPr lang="zh-CN" altLang="en-US" sz="2800" dirty="0"/>
              <a:t>和指定的覆盖标准。</a:t>
            </a:r>
            <a:br>
              <a:rPr lang="en-US" altLang="zh-CN" sz="2800" dirty="0"/>
            </a:br>
            <a:r>
              <a:rPr lang="en-US" altLang="zh-CN" sz="2800" dirty="0" err="1"/>
              <a:t>A</a:t>
            </a:r>
            <a:r>
              <a:rPr lang="zh-CN" altLang="en-US" sz="2800" dirty="0"/>
              <a:t>．程序的内部逻辑</a:t>
            </a:r>
            <a:br>
              <a:rPr lang="zh-CN" altLang="en-US" sz="2800" dirty="0"/>
            </a:br>
            <a:r>
              <a:rPr lang="en-US" altLang="zh-CN" sz="2800" dirty="0"/>
              <a:t>B</a:t>
            </a:r>
            <a:r>
              <a:rPr lang="zh-CN" altLang="en-US" sz="2800" dirty="0"/>
              <a:t>．程序的复杂结构</a:t>
            </a:r>
            <a:br>
              <a:rPr lang="zh-CN" altLang="en-US" sz="2800" dirty="0"/>
            </a:br>
            <a:r>
              <a:rPr lang="en-US" altLang="zh-CN" sz="2800" dirty="0"/>
              <a:t>C</a:t>
            </a:r>
            <a:r>
              <a:rPr lang="zh-CN" altLang="en-US" sz="2800" dirty="0"/>
              <a:t>．使用说明书</a:t>
            </a:r>
            <a:br>
              <a:rPr lang="zh-CN" altLang="en-US" sz="2800" dirty="0"/>
            </a:br>
            <a:r>
              <a:rPr lang="en-US" altLang="zh-CN" sz="2800" dirty="0"/>
              <a:t>D</a:t>
            </a:r>
            <a:r>
              <a:rPr lang="zh-CN" altLang="en-US" sz="2800" dirty="0"/>
              <a:t>．程序的功能</a:t>
            </a:r>
            <a:br>
              <a:rPr lang="zh-CN" altLang="en-US" sz="2800" dirty="0"/>
            </a:b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A</a:t>
            </a:r>
          </a:p>
        </p:txBody>
      </p:sp>
    </p:spTree>
    <p:extLst>
      <p:ext uri="{BB962C8B-B14F-4D97-AF65-F5344CB8AC3E}">
        <p14:creationId xmlns:p14="http://schemas.microsoft.com/office/powerpoint/2010/main" val="1676281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通过对软件的测试，可以证明的是（</a:t>
            </a:r>
            <a:r>
              <a:rPr lang="en-US" altLang="zh-CN" sz="2800" dirty="0"/>
              <a:t> </a:t>
            </a:r>
            <a:r>
              <a:rPr lang="zh-CN" altLang="en-US" sz="2800" dirty="0"/>
              <a:t>）。</a:t>
            </a:r>
            <a:br>
              <a:rPr lang="zh-CN" altLang="en-US" sz="2800" dirty="0"/>
            </a:br>
            <a:r>
              <a:rPr lang="en-US" altLang="zh-CN" sz="2800" dirty="0"/>
              <a:t>A</a:t>
            </a:r>
            <a:r>
              <a:rPr lang="zh-CN" altLang="en-US" sz="2800" dirty="0"/>
              <a:t>．软件的正确性</a:t>
            </a:r>
            <a:br>
              <a:rPr lang="en-US" altLang="zh-CN" sz="2800" dirty="0"/>
            </a:br>
            <a:r>
              <a:rPr lang="en-US" altLang="zh-CN" sz="2800" dirty="0"/>
              <a:t>B</a:t>
            </a:r>
            <a:r>
              <a:rPr lang="zh-CN" altLang="en-US" sz="2800" dirty="0"/>
              <a:t>．错误不存在</a:t>
            </a:r>
            <a:br>
              <a:rPr lang="en-US" altLang="zh-CN" sz="2800" dirty="0"/>
            </a:br>
            <a:r>
              <a:rPr lang="en-US" altLang="zh-CN" sz="2800" dirty="0"/>
              <a:t>C</a:t>
            </a:r>
            <a:r>
              <a:rPr lang="zh-CN" altLang="en-US" sz="2800" dirty="0"/>
              <a:t>．错误存在</a:t>
            </a:r>
            <a:br>
              <a:rPr lang="en-US" altLang="zh-CN" sz="2800" dirty="0"/>
            </a:br>
            <a:r>
              <a:rPr lang="en-US" altLang="zh-CN" sz="2800" dirty="0"/>
              <a:t>D</a:t>
            </a:r>
            <a:r>
              <a:rPr lang="zh-CN" altLang="en-US" sz="2800" dirty="0"/>
              <a:t>．软件不含有隐患</a:t>
            </a:r>
            <a:br>
              <a:rPr lang="zh-CN" altLang="en-US" sz="2800" dirty="0"/>
            </a:b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C</a:t>
            </a:r>
          </a:p>
        </p:txBody>
      </p:sp>
    </p:spTree>
    <p:extLst>
      <p:ext uri="{BB962C8B-B14F-4D97-AF65-F5344CB8AC3E}">
        <p14:creationId xmlns:p14="http://schemas.microsoft.com/office/powerpoint/2010/main" val="318807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软件测试方法中，黑盒、白盒测试法是常用的方法，其中白盒测试主要用于测试（　　）</a:t>
            </a:r>
            <a:br>
              <a:rPr lang="zh-CN" altLang="en-US" sz="2800" dirty="0"/>
            </a:br>
            <a:r>
              <a:rPr lang="en-US" altLang="zh-CN" sz="2800" dirty="0"/>
              <a:t>A</a:t>
            </a:r>
            <a:r>
              <a:rPr lang="zh-CN" altLang="en-US" sz="2800" dirty="0"/>
              <a:t>、结构合理性		</a:t>
            </a:r>
            <a:br>
              <a:rPr lang="en-US" altLang="zh-CN" sz="2800" dirty="0"/>
            </a:br>
            <a:r>
              <a:rPr lang="en-US" altLang="zh-CN" sz="2800" dirty="0"/>
              <a:t>B</a:t>
            </a:r>
            <a:r>
              <a:rPr lang="zh-CN" altLang="en-US" sz="2800" dirty="0"/>
              <a:t>、软件外部功能	</a:t>
            </a:r>
            <a:br>
              <a:rPr lang="en-US" altLang="zh-CN" sz="2800" dirty="0"/>
            </a:br>
            <a:r>
              <a:rPr lang="en-US" altLang="zh-CN" sz="2800" dirty="0"/>
              <a:t>C</a:t>
            </a:r>
            <a:r>
              <a:rPr lang="zh-CN" altLang="en-US" sz="2800" dirty="0"/>
              <a:t>、程序正确性		</a:t>
            </a:r>
            <a:br>
              <a:rPr lang="en-US" altLang="zh-CN" sz="2800" dirty="0"/>
            </a:br>
            <a:r>
              <a:rPr lang="en-US" altLang="zh-CN" sz="2800" dirty="0"/>
              <a:t>D</a:t>
            </a:r>
            <a:r>
              <a:rPr lang="zh-CN" altLang="en-US" sz="2800" dirty="0"/>
              <a:t>、程序内部逻辑</a:t>
            </a: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 D</a:t>
            </a:r>
          </a:p>
        </p:txBody>
      </p:sp>
    </p:spTree>
    <p:extLst>
      <p:ext uri="{BB962C8B-B14F-4D97-AF65-F5344CB8AC3E}">
        <p14:creationId xmlns:p14="http://schemas.microsoft.com/office/powerpoint/2010/main" val="1734429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以下不属于白盒测试技术的是（ ）</a:t>
            </a:r>
            <a:br>
              <a:rPr lang="zh-CN" altLang="en-US" sz="2800" dirty="0"/>
            </a:br>
            <a:r>
              <a:rPr lang="en-US" altLang="zh-CN" sz="2800" dirty="0"/>
              <a:t>A. </a:t>
            </a:r>
            <a:r>
              <a:rPr lang="zh-CN" altLang="en-US" sz="2800" dirty="0"/>
              <a:t>逻辑覆盖</a:t>
            </a:r>
            <a:br>
              <a:rPr lang="zh-CN" altLang="en-US" sz="2800" dirty="0"/>
            </a:br>
            <a:r>
              <a:rPr lang="en-US" altLang="zh-CN" sz="2800" dirty="0"/>
              <a:t>B. </a:t>
            </a:r>
            <a:r>
              <a:rPr lang="zh-CN" altLang="en-US" sz="2800" dirty="0"/>
              <a:t>基本路径测试</a:t>
            </a:r>
            <a:br>
              <a:rPr lang="zh-CN" altLang="en-US" sz="2800" dirty="0"/>
            </a:br>
            <a:r>
              <a:rPr lang="en-US" altLang="zh-CN" sz="2800" dirty="0"/>
              <a:t>C. </a:t>
            </a:r>
            <a:r>
              <a:rPr lang="zh-CN" altLang="en-US" sz="2800" dirty="0"/>
              <a:t>循环覆盖测试</a:t>
            </a:r>
            <a:br>
              <a:rPr lang="zh-CN" altLang="en-US" sz="2800" dirty="0"/>
            </a:br>
            <a:r>
              <a:rPr lang="en-US" altLang="zh-CN" sz="2800" dirty="0"/>
              <a:t>D. </a:t>
            </a:r>
            <a:r>
              <a:rPr lang="zh-CN" altLang="en-US" sz="2800" dirty="0"/>
              <a:t>等价类划分</a:t>
            </a:r>
            <a:br>
              <a:rPr lang="zh-CN" altLang="en-US" sz="2800" dirty="0"/>
            </a:b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 D</a:t>
            </a:r>
          </a:p>
        </p:txBody>
      </p:sp>
    </p:spTree>
    <p:extLst>
      <p:ext uri="{BB962C8B-B14F-4D97-AF65-F5344CB8AC3E}">
        <p14:creationId xmlns:p14="http://schemas.microsoft.com/office/powerpoint/2010/main" val="3612342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为了提高测试的效率，应该</a:t>
            </a:r>
            <a:r>
              <a:rPr lang="en-US" altLang="zh-CN" sz="2800" dirty="0"/>
              <a:t>____</a:t>
            </a:r>
            <a:r>
              <a:rPr lang="zh-CN" altLang="en-US" sz="2800" dirty="0"/>
              <a:t>。</a:t>
            </a:r>
            <a:br>
              <a:rPr lang="zh-CN" altLang="en-US" sz="2800" dirty="0"/>
            </a:br>
            <a:r>
              <a:rPr lang="en-US" altLang="zh-CN" sz="2800" dirty="0"/>
              <a:t>A</a:t>
            </a:r>
            <a:r>
              <a:rPr lang="zh-CN" altLang="en-US" sz="2800" dirty="0"/>
              <a:t>．随机地选取测试数据      </a:t>
            </a:r>
            <a:br>
              <a:rPr lang="zh-CN" altLang="en-US" sz="2800" dirty="0"/>
            </a:br>
            <a:r>
              <a:rPr lang="en-US" altLang="zh-CN" sz="2800" dirty="0"/>
              <a:t>B</a:t>
            </a:r>
            <a:r>
              <a:rPr lang="zh-CN" altLang="en-US" sz="2800" dirty="0"/>
              <a:t>．取一切可能的输入数据作为测试数据库</a:t>
            </a:r>
            <a:br>
              <a:rPr lang="zh-CN" altLang="en-US" sz="2800" dirty="0"/>
            </a:br>
            <a:r>
              <a:rPr lang="en-US" altLang="zh-CN" sz="2800" dirty="0"/>
              <a:t>C</a:t>
            </a:r>
            <a:r>
              <a:rPr lang="zh-CN" altLang="en-US" sz="2800" dirty="0"/>
              <a:t>．在完成编码后制定软件的测试计划</a:t>
            </a:r>
            <a:br>
              <a:rPr lang="zh-CN" altLang="en-US" sz="2800" dirty="0"/>
            </a:br>
            <a:r>
              <a:rPr lang="en-US" altLang="zh-CN" sz="2800" dirty="0"/>
              <a:t>D</a:t>
            </a:r>
            <a:r>
              <a:rPr lang="zh-CN" altLang="en-US" sz="2800" dirty="0"/>
              <a:t>．选择发现错误可能性大的数据作为测试数据</a:t>
            </a: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 D</a:t>
            </a:r>
          </a:p>
        </p:txBody>
      </p:sp>
    </p:spTree>
    <p:extLst>
      <p:ext uri="{BB962C8B-B14F-4D97-AF65-F5344CB8AC3E}">
        <p14:creationId xmlns:p14="http://schemas.microsoft.com/office/powerpoint/2010/main" val="4177619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软件测试中设计测试实例（</a:t>
            </a:r>
            <a:r>
              <a:rPr lang="en-US" altLang="zh-CN" sz="2800" dirty="0"/>
              <a:t>test case</a:t>
            </a:r>
            <a:r>
              <a:rPr lang="zh-CN" altLang="en-US" sz="2800" dirty="0"/>
              <a:t>）主要由输入数据和</a:t>
            </a:r>
            <a:r>
              <a:rPr lang="en-US" altLang="zh-CN" sz="2800" dirty="0"/>
              <a:t>____</a:t>
            </a:r>
            <a:r>
              <a:rPr lang="zh-CN" altLang="en-US" sz="2800" dirty="0"/>
              <a:t>两部分组成。</a:t>
            </a:r>
            <a:br>
              <a:rPr lang="zh-CN" altLang="en-US" sz="2800" dirty="0"/>
            </a:br>
            <a:r>
              <a:rPr lang="en-US" altLang="zh-CN" sz="2800" dirty="0"/>
              <a:t>A</a:t>
            </a:r>
            <a:r>
              <a:rPr lang="zh-CN" altLang="en-US" sz="2800" dirty="0"/>
              <a:t>．测试规则				</a:t>
            </a:r>
            <a:r>
              <a:rPr lang="en-US" altLang="zh-CN" sz="2800" dirty="0"/>
              <a:t>B</a:t>
            </a:r>
            <a:r>
              <a:rPr lang="zh-CN" altLang="en-US" sz="2800" dirty="0"/>
              <a:t>．测试计划</a:t>
            </a:r>
            <a:br>
              <a:rPr lang="zh-CN" altLang="en-US" sz="2800" dirty="0"/>
            </a:br>
            <a:r>
              <a:rPr lang="en-US" altLang="zh-CN" sz="2800" dirty="0"/>
              <a:t>C</a:t>
            </a:r>
            <a:r>
              <a:rPr lang="zh-CN" altLang="en-US" sz="2800" dirty="0"/>
              <a:t>．预期输出结果				</a:t>
            </a:r>
            <a:r>
              <a:rPr lang="en-US" altLang="zh-CN" sz="2800" dirty="0"/>
              <a:t>D</a:t>
            </a:r>
            <a:r>
              <a:rPr lang="zh-CN" altLang="en-US" sz="2800" dirty="0"/>
              <a:t>．以往测试记录分析</a:t>
            </a:r>
            <a:br>
              <a:rPr lang="zh-CN" altLang="en-US" sz="2800" dirty="0"/>
            </a:b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 C</a:t>
            </a:r>
          </a:p>
        </p:txBody>
      </p:sp>
    </p:spTree>
    <p:extLst>
      <p:ext uri="{BB962C8B-B14F-4D97-AF65-F5344CB8AC3E}">
        <p14:creationId xmlns:p14="http://schemas.microsoft.com/office/powerpoint/2010/main" val="3054972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成功的测试是指</a:t>
            </a:r>
            <a:r>
              <a:rPr lang="en-US" altLang="zh-CN" sz="2800" dirty="0"/>
              <a:t>______</a:t>
            </a:r>
            <a:r>
              <a:rPr lang="zh-CN" altLang="en-US" sz="2800" dirty="0"/>
              <a:t>。</a:t>
            </a:r>
            <a:br>
              <a:rPr lang="zh-CN" altLang="en-US" sz="2800" dirty="0"/>
            </a:br>
            <a:r>
              <a:rPr lang="en-US" altLang="zh-CN" sz="2800" dirty="0"/>
              <a:t>A</a:t>
            </a:r>
            <a:r>
              <a:rPr lang="zh-CN" altLang="en-US" sz="2800" dirty="0"/>
              <a:t>．运行测试实例后未发现错误项	</a:t>
            </a:r>
            <a:r>
              <a:rPr lang="en-US" altLang="zh-CN" sz="2800" dirty="0"/>
              <a:t>B</a:t>
            </a:r>
            <a:r>
              <a:rPr lang="zh-CN" altLang="en-US" sz="2800" dirty="0"/>
              <a:t>．发现程序的错误</a:t>
            </a:r>
            <a:br>
              <a:rPr lang="zh-CN" altLang="en-US" sz="2800" dirty="0"/>
            </a:br>
            <a:r>
              <a:rPr lang="en-US" altLang="zh-CN" sz="2800" dirty="0"/>
              <a:t>C</a:t>
            </a:r>
            <a:r>
              <a:rPr lang="zh-CN" altLang="en-US" sz="2800" dirty="0"/>
              <a:t>．证明程序正确				</a:t>
            </a:r>
            <a:r>
              <a:rPr lang="en-US" altLang="zh-CN" sz="2800" dirty="0"/>
              <a:t>D</a:t>
            </a:r>
            <a:r>
              <a:rPr lang="zh-CN" altLang="en-US" sz="2800" dirty="0"/>
              <a:t>．改正程序的错误</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 B</a:t>
            </a:r>
          </a:p>
        </p:txBody>
      </p:sp>
    </p:spTree>
    <p:extLst>
      <p:ext uri="{BB962C8B-B14F-4D97-AF65-F5344CB8AC3E}">
        <p14:creationId xmlns:p14="http://schemas.microsoft.com/office/powerpoint/2010/main" val="1056016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p:txBody>
          <a:bodyPr>
            <a:normAutofit/>
          </a:bodyPr>
          <a:lstStyle/>
          <a:p>
            <a:r>
              <a:rPr lang="en-US" altLang="zh-CN" sz="2800" dirty="0"/>
              <a:t>【</a:t>
            </a:r>
            <a:r>
              <a:rPr lang="zh-CN" altLang="en-US" sz="2800" dirty="0"/>
              <a:t>简答</a:t>
            </a:r>
            <a:r>
              <a:rPr lang="en-US" altLang="zh-CN" sz="2800" dirty="0"/>
              <a:t>】</a:t>
            </a:r>
            <a:r>
              <a:rPr lang="zh-CN" altLang="en-US" sz="2800" dirty="0"/>
              <a:t>请阐述单元测试、集成测试和系统测试常使用的测试类型（黑盒</a:t>
            </a:r>
            <a:r>
              <a:rPr lang="en-US" altLang="zh-CN" sz="2800" dirty="0"/>
              <a:t>/</a:t>
            </a:r>
            <a:r>
              <a:rPr lang="zh-CN" altLang="en-US" sz="2800" dirty="0"/>
              <a:t>白盒）</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p:txBody>
          <a:bodyPr/>
          <a:lstStyle/>
          <a:p>
            <a:r>
              <a:rPr lang="zh-CN" altLang="en-US" dirty="0"/>
              <a:t>答案：</a:t>
            </a:r>
            <a:endParaRPr lang="en-US" altLang="zh-CN" dirty="0"/>
          </a:p>
          <a:p>
            <a:r>
              <a:rPr lang="zh-CN" altLang="en-US" dirty="0"/>
              <a:t>单元测试：白盒</a:t>
            </a:r>
            <a:endParaRPr lang="en-US" altLang="zh-CN" dirty="0"/>
          </a:p>
          <a:p>
            <a:r>
              <a:rPr lang="zh-CN" altLang="en-US" dirty="0"/>
              <a:t>集成测试：白盒或黑盒</a:t>
            </a:r>
            <a:endParaRPr lang="en-US" altLang="zh-CN" dirty="0"/>
          </a:p>
          <a:p>
            <a:r>
              <a:rPr lang="zh-CN" altLang="en-US" dirty="0"/>
              <a:t>系统测试：黑盒</a:t>
            </a:r>
          </a:p>
        </p:txBody>
      </p:sp>
    </p:spTree>
    <p:extLst>
      <p:ext uri="{BB962C8B-B14F-4D97-AF65-F5344CB8AC3E}">
        <p14:creationId xmlns:p14="http://schemas.microsoft.com/office/powerpoint/2010/main" val="2010300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p:txBody>
          <a:bodyPr>
            <a:normAutofit/>
          </a:bodyPr>
          <a:lstStyle/>
          <a:p>
            <a:r>
              <a:rPr lang="en-US" altLang="zh-CN" sz="2800" dirty="0"/>
              <a:t>【</a:t>
            </a:r>
            <a:r>
              <a:rPr lang="zh-CN" altLang="en-US" sz="2800" dirty="0"/>
              <a:t>简答</a:t>
            </a:r>
            <a:r>
              <a:rPr lang="en-US" altLang="zh-CN" sz="2800" dirty="0"/>
              <a:t>】</a:t>
            </a:r>
            <a:r>
              <a:rPr lang="zh-CN" altLang="en-US" sz="2800" dirty="0"/>
              <a:t>什么是存根模块？什么是驱动模块？</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p:txBody>
          <a:bodyPr/>
          <a:lstStyle/>
          <a:p>
            <a:r>
              <a:rPr lang="zh-CN" altLang="en-US" dirty="0"/>
              <a:t>答案：</a:t>
            </a:r>
            <a:endParaRPr lang="en-US" altLang="zh-CN" dirty="0"/>
          </a:p>
          <a:p>
            <a:r>
              <a:rPr lang="zh-CN" altLang="en-US" dirty="0"/>
              <a:t>存根模块：用以模拟被测模块运行过程中所调用模块或是被测模块下层模块的替代程序</a:t>
            </a:r>
            <a:endParaRPr lang="en-US" altLang="zh-CN" dirty="0"/>
          </a:p>
          <a:p>
            <a:r>
              <a:rPr lang="zh-CN" altLang="zh-CN" dirty="0"/>
              <a:t>驱动模块：用以模拟被测模块的上级调用模埠，或向被测模块输以数据输出一些必要信息，调用被测模块</a:t>
            </a:r>
            <a:endParaRPr lang="zh-CN" altLang="en-US" dirty="0">
              <a:solidFill>
                <a:srgbClr val="C00000"/>
              </a:solidFill>
            </a:endParaRPr>
          </a:p>
          <a:p>
            <a:endParaRPr lang="zh-CN" altLang="en-US" dirty="0">
              <a:solidFill>
                <a:srgbClr val="C00000"/>
              </a:solidFill>
            </a:endParaRPr>
          </a:p>
        </p:txBody>
      </p:sp>
    </p:spTree>
    <p:extLst>
      <p:ext uri="{BB962C8B-B14F-4D97-AF65-F5344CB8AC3E}">
        <p14:creationId xmlns:p14="http://schemas.microsoft.com/office/powerpoint/2010/main" val="3248441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月收入</a:t>
            </a:r>
            <a:r>
              <a:rPr lang="en-US" altLang="zh-CN" sz="2800" dirty="0"/>
              <a:t>&lt;=800</a:t>
            </a:r>
            <a:r>
              <a:rPr lang="zh-CN" altLang="en-US" sz="2800" dirty="0"/>
              <a:t>元者免税，现用输入数</a:t>
            </a:r>
            <a:r>
              <a:rPr lang="en-US" altLang="zh-CN" sz="2800" dirty="0"/>
              <a:t>800</a:t>
            </a:r>
            <a:r>
              <a:rPr lang="zh-CN" altLang="en-US" sz="2800" dirty="0"/>
              <a:t>元和</a:t>
            </a:r>
            <a:r>
              <a:rPr lang="en-US" altLang="zh-CN" sz="2800" dirty="0"/>
              <a:t>801</a:t>
            </a:r>
            <a:r>
              <a:rPr lang="zh-CN" altLang="en-US" sz="2800" dirty="0"/>
              <a:t>元测试程序，则采用的是</a:t>
            </a:r>
            <a:r>
              <a:rPr lang="en-US" altLang="zh-CN" sz="2800" dirty="0"/>
              <a:t>____</a:t>
            </a:r>
            <a:r>
              <a:rPr lang="zh-CN" altLang="en-US" sz="2800" dirty="0"/>
              <a:t>方法。</a:t>
            </a:r>
            <a:br>
              <a:rPr lang="zh-CN" altLang="en-US" sz="2800" dirty="0"/>
            </a:br>
            <a:r>
              <a:rPr lang="en-US" altLang="zh-CN" sz="2800" dirty="0"/>
              <a:t>A</a:t>
            </a:r>
            <a:r>
              <a:rPr lang="zh-CN" altLang="en-US" sz="2800" dirty="0"/>
              <a:t>．边界值分析	</a:t>
            </a:r>
            <a:br>
              <a:rPr lang="en-US" altLang="zh-CN" sz="2800" dirty="0"/>
            </a:br>
            <a:r>
              <a:rPr lang="en-US" altLang="zh-CN" sz="2800" dirty="0"/>
              <a:t>B</a:t>
            </a:r>
            <a:r>
              <a:rPr lang="zh-CN" altLang="en-US" sz="2800" dirty="0"/>
              <a:t>．条件覆盖		</a:t>
            </a:r>
            <a:br>
              <a:rPr lang="en-US" altLang="zh-CN" sz="2800" dirty="0"/>
            </a:br>
            <a:r>
              <a:rPr lang="en-US" altLang="zh-CN" sz="2800" dirty="0"/>
              <a:t>C</a:t>
            </a:r>
            <a:r>
              <a:rPr lang="zh-CN" altLang="en-US" sz="2800" dirty="0"/>
              <a:t>．错误推测		</a:t>
            </a:r>
            <a:br>
              <a:rPr lang="en-US" altLang="zh-CN" sz="2800" dirty="0"/>
            </a:br>
            <a:r>
              <a:rPr lang="en-US" altLang="zh-CN" sz="2800" dirty="0"/>
              <a:t>D</a:t>
            </a:r>
            <a:r>
              <a:rPr lang="zh-CN" altLang="en-US" sz="2800" dirty="0"/>
              <a:t>．等价类</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 A</a:t>
            </a:r>
          </a:p>
        </p:txBody>
      </p:sp>
    </p:spTree>
    <p:extLst>
      <p:ext uri="{BB962C8B-B14F-4D97-AF65-F5344CB8AC3E}">
        <p14:creationId xmlns:p14="http://schemas.microsoft.com/office/powerpoint/2010/main" val="55663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采用白盒法测试模块（程序），应根据</a:t>
            </a:r>
            <a:r>
              <a:rPr lang="en-US" altLang="zh-CN" sz="2800" dirty="0"/>
              <a:t>____</a:t>
            </a:r>
            <a:r>
              <a:rPr lang="zh-CN" altLang="en-US" sz="2800" dirty="0"/>
              <a:t>。</a:t>
            </a:r>
            <a:br>
              <a:rPr lang="zh-CN" altLang="en-US" sz="2800" dirty="0"/>
            </a:br>
            <a:r>
              <a:rPr lang="en-US" altLang="zh-CN" sz="2800" dirty="0"/>
              <a:t>A</a:t>
            </a:r>
            <a:r>
              <a:rPr lang="zh-CN" altLang="en-US" sz="2800" dirty="0"/>
              <a:t>．内部逻辑结构		</a:t>
            </a:r>
            <a:br>
              <a:rPr lang="en-US" altLang="zh-CN" sz="2800" dirty="0"/>
            </a:br>
            <a:r>
              <a:rPr lang="en-US" altLang="zh-CN" sz="2800" dirty="0"/>
              <a:t>B</a:t>
            </a:r>
            <a:r>
              <a:rPr lang="zh-CN" altLang="en-US" sz="2800" dirty="0"/>
              <a:t>．算法复杂度		</a:t>
            </a:r>
            <a:br>
              <a:rPr lang="en-US" altLang="zh-CN" sz="2800" dirty="0"/>
            </a:br>
            <a:r>
              <a:rPr lang="en-US" altLang="zh-CN" sz="2800" dirty="0"/>
              <a:t>C</a:t>
            </a:r>
            <a:r>
              <a:rPr lang="zh-CN" altLang="en-US" sz="2800" dirty="0"/>
              <a:t>．外部功能特性		</a:t>
            </a:r>
            <a:br>
              <a:rPr lang="en-US" altLang="zh-CN" sz="2800" dirty="0"/>
            </a:br>
            <a:r>
              <a:rPr lang="en-US" altLang="zh-CN" sz="2800" dirty="0"/>
              <a:t>D</a:t>
            </a:r>
            <a:r>
              <a:rPr lang="zh-CN" altLang="en-US" sz="2800" dirty="0"/>
              <a:t>．支撑环境</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 A</a:t>
            </a:r>
          </a:p>
        </p:txBody>
      </p:sp>
    </p:spTree>
    <p:extLst>
      <p:ext uri="{BB962C8B-B14F-4D97-AF65-F5344CB8AC3E}">
        <p14:creationId xmlns:p14="http://schemas.microsoft.com/office/powerpoint/2010/main" val="3473433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采用黑盒法测试程序是根据</a:t>
            </a:r>
            <a:r>
              <a:rPr lang="en-US" altLang="zh-CN" sz="2800" dirty="0"/>
              <a:t>____</a:t>
            </a:r>
            <a:r>
              <a:rPr lang="zh-CN" altLang="en-US" sz="2800" dirty="0"/>
              <a:t>。</a:t>
            </a:r>
            <a:br>
              <a:rPr lang="zh-CN" altLang="en-US" sz="2800" dirty="0"/>
            </a:br>
            <a:r>
              <a:rPr lang="en-US" altLang="zh-CN" sz="2800" dirty="0"/>
              <a:t>A</a:t>
            </a:r>
            <a:r>
              <a:rPr lang="zh-CN" altLang="en-US" sz="2800" dirty="0"/>
              <a:t>．程序的逻辑	</a:t>
            </a:r>
            <a:br>
              <a:rPr lang="en-US" altLang="zh-CN" sz="2800" dirty="0"/>
            </a:br>
            <a:r>
              <a:rPr lang="en-US" altLang="zh-CN" sz="2800" dirty="0"/>
              <a:t>B</a:t>
            </a:r>
            <a:r>
              <a:rPr lang="zh-CN" altLang="en-US" sz="2800" dirty="0"/>
              <a:t>．程序的功能说明	</a:t>
            </a:r>
            <a:br>
              <a:rPr lang="en-US" altLang="zh-CN" sz="2800" dirty="0"/>
            </a:br>
            <a:r>
              <a:rPr lang="en-US" altLang="zh-CN" sz="2800" dirty="0"/>
              <a:t>C</a:t>
            </a:r>
            <a:r>
              <a:rPr lang="zh-CN" altLang="en-US" sz="2800" dirty="0"/>
              <a:t>．程序中的语句		</a:t>
            </a:r>
            <a:br>
              <a:rPr lang="en-US" altLang="zh-CN" sz="2800" dirty="0"/>
            </a:br>
            <a:r>
              <a:rPr lang="en-US" altLang="zh-CN" sz="2800" dirty="0"/>
              <a:t>D</a:t>
            </a:r>
            <a:r>
              <a:rPr lang="zh-CN" altLang="en-US" sz="2800" dirty="0"/>
              <a:t>．程序中的数据</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 B</a:t>
            </a:r>
          </a:p>
        </p:txBody>
      </p:sp>
    </p:spTree>
    <p:extLst>
      <p:ext uri="{BB962C8B-B14F-4D97-AF65-F5344CB8AC3E}">
        <p14:creationId xmlns:p14="http://schemas.microsoft.com/office/powerpoint/2010/main" val="2101795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在软件测试中，确认（验收）测试主要用于发现</a:t>
            </a:r>
            <a:r>
              <a:rPr lang="en-US" altLang="zh-CN" sz="2800" dirty="0"/>
              <a:t>____</a:t>
            </a:r>
            <a:r>
              <a:rPr lang="zh-CN" altLang="en-US" sz="2800" dirty="0"/>
              <a:t>阶段的错误。</a:t>
            </a:r>
            <a:br>
              <a:rPr lang="zh-CN" altLang="en-US" sz="2800" dirty="0"/>
            </a:br>
            <a:r>
              <a:rPr lang="en-US" altLang="zh-CN" sz="2800" dirty="0"/>
              <a:t>A</a:t>
            </a:r>
            <a:r>
              <a:rPr lang="zh-CN" altLang="en-US" sz="2800" dirty="0"/>
              <a:t>．软件计划		</a:t>
            </a:r>
            <a:br>
              <a:rPr lang="en-US" altLang="zh-CN" sz="2800" dirty="0"/>
            </a:br>
            <a:r>
              <a:rPr lang="en-US" altLang="zh-CN" sz="2800" dirty="0"/>
              <a:t>B</a:t>
            </a:r>
            <a:r>
              <a:rPr lang="zh-CN" altLang="en-US" sz="2800" dirty="0"/>
              <a:t>．需求分析		</a:t>
            </a:r>
            <a:br>
              <a:rPr lang="en-US" altLang="zh-CN" sz="2800" dirty="0"/>
            </a:br>
            <a:r>
              <a:rPr lang="en-US" altLang="zh-CN" sz="2800" dirty="0"/>
              <a:t>C</a:t>
            </a:r>
            <a:r>
              <a:rPr lang="zh-CN" altLang="en-US" sz="2800" dirty="0"/>
              <a:t>．软件设计		</a:t>
            </a:r>
            <a:br>
              <a:rPr lang="en-US" altLang="zh-CN" sz="2800" dirty="0"/>
            </a:br>
            <a:r>
              <a:rPr lang="en-US" altLang="zh-CN" sz="2800" dirty="0"/>
              <a:t>D</a:t>
            </a:r>
            <a:r>
              <a:rPr lang="zh-CN" altLang="en-US" sz="2800" dirty="0"/>
              <a:t>．编码</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dirty="0"/>
              <a:t> B</a:t>
            </a:r>
          </a:p>
        </p:txBody>
      </p:sp>
    </p:spTree>
    <p:extLst>
      <p:ext uri="{BB962C8B-B14F-4D97-AF65-F5344CB8AC3E}">
        <p14:creationId xmlns:p14="http://schemas.microsoft.com/office/powerpoint/2010/main" val="3026288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选择</a:t>
            </a:r>
            <a:r>
              <a:rPr lang="en-US" altLang="zh-CN" sz="2800" dirty="0"/>
              <a:t>】</a:t>
            </a:r>
            <a:r>
              <a:rPr lang="zh-CN" altLang="en-US" sz="2800" dirty="0"/>
              <a:t>用黑盒法设计测试用例时采用的方法包括</a:t>
            </a:r>
            <a:r>
              <a:rPr lang="en-US" altLang="zh-CN" sz="2800" dirty="0"/>
              <a:t>______</a:t>
            </a:r>
            <a:r>
              <a:rPr lang="zh-CN" altLang="en-US" sz="2800" dirty="0"/>
              <a:t>。</a:t>
            </a:r>
            <a:br>
              <a:rPr lang="zh-CN" altLang="en-US" sz="2800" dirty="0"/>
            </a:br>
            <a:r>
              <a:rPr lang="en-US" altLang="zh-CN" sz="2800" dirty="0"/>
              <a:t>A</a:t>
            </a:r>
            <a:r>
              <a:rPr lang="zh-CN" altLang="en-US" sz="2800" dirty="0"/>
              <a:t>、判定覆盖法  	</a:t>
            </a:r>
            <a:br>
              <a:rPr lang="en-US" altLang="zh-CN" sz="2800" dirty="0"/>
            </a:br>
            <a:r>
              <a:rPr lang="en-US" altLang="zh-CN" sz="2800" dirty="0"/>
              <a:t>B</a:t>
            </a:r>
            <a:r>
              <a:rPr lang="zh-CN" altLang="en-US" sz="2800" dirty="0"/>
              <a:t>、条件覆盖法       </a:t>
            </a:r>
            <a:br>
              <a:rPr lang="en-US" altLang="zh-CN" sz="2800" dirty="0"/>
            </a:br>
            <a:r>
              <a:rPr lang="en-US" altLang="zh-CN" sz="2800" dirty="0"/>
              <a:t>C </a:t>
            </a:r>
            <a:r>
              <a:rPr lang="zh-CN" altLang="en-US" sz="2800" dirty="0"/>
              <a:t>、等价类划分法       </a:t>
            </a:r>
            <a:br>
              <a:rPr lang="en-US" altLang="zh-CN" sz="2800" dirty="0"/>
            </a:br>
            <a:r>
              <a:rPr lang="en-US" altLang="zh-CN" sz="2800" dirty="0"/>
              <a:t>D</a:t>
            </a:r>
            <a:r>
              <a:rPr lang="zh-CN" altLang="en-US" sz="2800" dirty="0"/>
              <a:t>、路径分析法</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4336025"/>
            <a:ext cx="10515600" cy="1840937"/>
          </a:xfrm>
        </p:spPr>
        <p:txBody>
          <a:bodyPr>
            <a:normAutofit/>
          </a:bodyPr>
          <a:lstStyle/>
          <a:p>
            <a:r>
              <a:rPr lang="zh-CN" altLang="en-US" dirty="0"/>
              <a:t>答案：</a:t>
            </a:r>
            <a:r>
              <a:rPr lang="en-US" altLang="zh-CN"/>
              <a:t> C</a:t>
            </a:r>
            <a:endParaRPr lang="en-US" altLang="zh-CN" dirty="0"/>
          </a:p>
        </p:txBody>
      </p:sp>
    </p:spTree>
    <p:extLst>
      <p:ext uri="{BB962C8B-B14F-4D97-AF65-F5344CB8AC3E}">
        <p14:creationId xmlns:p14="http://schemas.microsoft.com/office/powerpoint/2010/main" val="1900748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B89AA8C9-C5F0-4BEB-9716-39876627E65A}"/>
              </a:ext>
            </a:extLst>
          </p:cNvPr>
          <p:cNvSpPr txBox="1"/>
          <p:nvPr/>
        </p:nvSpPr>
        <p:spPr>
          <a:xfrm>
            <a:off x="822960" y="740956"/>
            <a:ext cx="10195560" cy="1569660"/>
          </a:xfrm>
          <a:prstGeom prst="rect">
            <a:avLst/>
          </a:prstGeom>
          <a:noFill/>
        </p:spPr>
        <p:txBody>
          <a:bodyPr wrap="square">
            <a:spAutoFit/>
          </a:bodyPr>
          <a:lstStyle/>
          <a:p>
            <a:pPr marL="0" marR="0" lvl="0" indent="200025"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应用</a:t>
            </a:r>
            <a:r>
              <a:rPr kumimoji="0"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kumimoji="0" lang="zh-CN"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某</a:t>
            </a:r>
            <a:r>
              <a:rPr kumimoji="0" lang="zh-CN" altLang="en-US" sz="2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调整工资</a:t>
            </a:r>
            <a:r>
              <a:rPr kumimoji="0" lang="zh-CN" altLang="en-US" sz="2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处理模块接受一个</a:t>
            </a:r>
            <a:r>
              <a:rPr kumimoji="0" lang="zh-CN" altLang="en-US" sz="2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职称</a:t>
            </a:r>
            <a:r>
              <a:rPr kumimoji="0" lang="zh-CN" altLang="en-US" sz="24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的变量，根据职称的不同（助教，讲师，副教授，教授）作不同的处理，其中若是助教还必须输入工龄，只有工龄超过两年才能调整工资。请用等价类划分法设计测试用例。</a:t>
            </a:r>
            <a:endParaRPr kumimoji="0" lang="zh-CN" altLang="en-US" sz="4800" b="0" i="0" u="none" strike="noStrike" cap="none" normalizeH="0" baseline="0" dirty="0">
              <a:ln>
                <a:noFill/>
              </a:ln>
              <a:solidFill>
                <a:schemeClr val="tx1"/>
              </a:solidFill>
              <a:effectLst/>
              <a:latin typeface="Arial" panose="020B0604020202020204" pitchFamily="34" charset="0"/>
            </a:endParaRPr>
          </a:p>
        </p:txBody>
      </p:sp>
      <p:pic>
        <p:nvPicPr>
          <p:cNvPr id="11" name="图片 10">
            <a:extLst>
              <a:ext uri="{FF2B5EF4-FFF2-40B4-BE49-F238E27FC236}">
                <a16:creationId xmlns:a16="http://schemas.microsoft.com/office/drawing/2014/main" id="{38427595-0140-4823-86F6-5BF11C9CE78C}"/>
              </a:ext>
            </a:extLst>
          </p:cNvPr>
          <p:cNvPicPr>
            <a:picLocks noChangeAspect="1"/>
          </p:cNvPicPr>
          <p:nvPr/>
        </p:nvPicPr>
        <p:blipFill rotWithShape="1">
          <a:blip r:embed="rId2">
            <a:extLst>
              <a:ext uri="{28A0092B-C50C-407E-A947-70E740481C1C}">
                <a14:useLocalDpi xmlns:a14="http://schemas.microsoft.com/office/drawing/2010/main" val="0"/>
              </a:ext>
            </a:extLst>
          </a:blip>
          <a:srcRect t="2967"/>
          <a:stretch/>
        </p:blipFill>
        <p:spPr>
          <a:xfrm>
            <a:off x="3476952" y="2766060"/>
            <a:ext cx="5238095" cy="1367702"/>
          </a:xfrm>
          <a:prstGeom prst="rect">
            <a:avLst/>
          </a:prstGeom>
        </p:spPr>
      </p:pic>
    </p:spTree>
    <p:extLst>
      <p:ext uri="{BB962C8B-B14F-4D97-AF65-F5344CB8AC3E}">
        <p14:creationId xmlns:p14="http://schemas.microsoft.com/office/powerpoint/2010/main" val="2371506461"/>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p:txBody>
          <a:bodyPr>
            <a:normAutofit/>
          </a:bodyPr>
          <a:lstStyle/>
          <a:p>
            <a:r>
              <a:rPr lang="en-US" altLang="zh-CN" sz="2800" dirty="0"/>
              <a:t>【</a:t>
            </a:r>
            <a:r>
              <a:rPr lang="zh-CN" altLang="en-US" sz="2800" dirty="0"/>
              <a:t>应用</a:t>
            </a:r>
            <a:r>
              <a:rPr lang="en-US" altLang="zh-CN" sz="2800" dirty="0"/>
              <a:t>】</a:t>
            </a:r>
            <a:r>
              <a:rPr lang="zh-CN" altLang="en-US" sz="2800" dirty="0"/>
              <a:t>考虑以下程序设计：输入</a:t>
            </a:r>
            <a:r>
              <a:rPr lang="en-US" altLang="zh-CN" sz="2800" dirty="0"/>
              <a:t>a</a:t>
            </a:r>
            <a:r>
              <a:rPr lang="zh-CN" altLang="en-US" sz="2800" dirty="0"/>
              <a:t>，</a:t>
            </a:r>
            <a:r>
              <a:rPr lang="en-US" altLang="zh-CN" sz="2800" dirty="0"/>
              <a:t>b</a:t>
            </a:r>
            <a:r>
              <a:rPr lang="zh-CN" altLang="en-US" sz="2800" dirty="0"/>
              <a:t>两个数，</a:t>
            </a:r>
            <a:r>
              <a:rPr lang="en-US" altLang="zh-CN" sz="2800" dirty="0"/>
              <a:t>a</a:t>
            </a:r>
            <a:r>
              <a:rPr lang="zh-CN" altLang="en-US" sz="2800" dirty="0"/>
              <a:t>的取值范围在（</a:t>
            </a:r>
            <a:r>
              <a:rPr lang="en-US" altLang="zh-CN" sz="2800" dirty="0"/>
              <a:t>-100,0</a:t>
            </a:r>
            <a:r>
              <a:rPr lang="zh-CN" altLang="en-US" sz="2800" dirty="0"/>
              <a:t>），</a:t>
            </a:r>
            <a:r>
              <a:rPr lang="en-US" altLang="zh-CN" sz="2800" dirty="0"/>
              <a:t>b</a:t>
            </a:r>
            <a:r>
              <a:rPr lang="zh-CN" altLang="en-US" sz="2800" dirty="0"/>
              <a:t>的取值范围在（</a:t>
            </a:r>
            <a:r>
              <a:rPr lang="en-US" altLang="zh-CN" sz="2800" dirty="0"/>
              <a:t>0</a:t>
            </a:r>
            <a:r>
              <a:rPr lang="zh-CN" altLang="en-US" sz="2800" dirty="0"/>
              <a:t>，</a:t>
            </a:r>
            <a:r>
              <a:rPr lang="en-US" altLang="zh-CN" sz="2800" dirty="0"/>
              <a:t>100</a:t>
            </a:r>
            <a:r>
              <a:rPr lang="zh-CN" altLang="en-US" sz="2800" dirty="0"/>
              <a:t>）之间，输出的结果应为</a:t>
            </a:r>
            <a:r>
              <a:rPr lang="en-US" altLang="zh-CN" sz="2800" dirty="0"/>
              <a:t>a/b</a:t>
            </a:r>
            <a:r>
              <a:rPr lang="zh-CN" altLang="en-US" sz="2800" dirty="0"/>
              <a:t>，请用等价类划分和边界值分析两类方法设计测试用例</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1825625"/>
            <a:ext cx="4968240" cy="4351338"/>
          </a:xfrm>
        </p:spPr>
        <p:txBody>
          <a:bodyPr>
            <a:normAutofit/>
          </a:bodyPr>
          <a:lstStyle/>
          <a:p>
            <a:pPr marL="0" indent="0">
              <a:buNone/>
            </a:pPr>
            <a:r>
              <a:rPr lang="zh-CN" altLang="en-US" dirty="0"/>
              <a:t>答案：</a:t>
            </a:r>
            <a:endParaRPr lang="en-US" altLang="zh-CN" dirty="0"/>
          </a:p>
          <a:p>
            <a:pPr marL="0" indent="0" algn="just">
              <a:spcBef>
                <a:spcPts val="600"/>
              </a:spcBef>
              <a:spcAft>
                <a:spcPts val="600"/>
              </a:spcAft>
              <a:buNone/>
            </a:pPr>
            <a:r>
              <a:rPr lang="en-US" altLang="zh-CN" sz="2400" kern="100" dirty="0">
                <a:effectLst/>
                <a:latin typeface="Times New Roman" panose="02020603050405020304" pitchFamily="18" charset="0"/>
                <a:ea typeface="宋体" panose="02010600030101010101" pitchFamily="2" charset="-122"/>
              </a:rPr>
              <a:t>1</a:t>
            </a:r>
            <a:r>
              <a:rPr lang="zh-CN" altLang="zh-CN" sz="2400" kern="100" dirty="0">
                <a:effectLst/>
                <a:latin typeface="Times New Roman" panose="02020603050405020304" pitchFamily="18" charset="0"/>
                <a:ea typeface="宋体" panose="02010600030101010101" pitchFamily="2" charset="-122"/>
              </a:rPr>
              <a:t>）根据等价类划分：</a:t>
            </a:r>
            <a:endParaRPr lang="en-US" altLang="zh-CN" sz="2400" kern="100" dirty="0">
              <a:effectLst/>
              <a:latin typeface="Times New Roman" panose="02020603050405020304" pitchFamily="18" charset="0"/>
              <a:ea typeface="宋体" panose="02010600030101010101" pitchFamily="2" charset="-122"/>
            </a:endParaRPr>
          </a:p>
          <a:p>
            <a:pPr marL="0" indent="0" algn="just">
              <a:spcBef>
                <a:spcPts val="600"/>
              </a:spcBef>
              <a:spcAft>
                <a:spcPts val="600"/>
              </a:spcAft>
              <a:buNone/>
            </a:pPr>
            <a:r>
              <a:rPr lang="zh-CN" altLang="en-US" sz="2400" kern="100" dirty="0">
                <a:latin typeface="Times New Roman" panose="02020603050405020304" pitchFamily="18" charset="0"/>
                <a:ea typeface="宋体" panose="02010600030101010101" pitchFamily="2" charset="-122"/>
              </a:rPr>
              <a:t>根据</a:t>
            </a:r>
            <a:r>
              <a:rPr lang="en-US" altLang="zh-CN" sz="2400" kern="100" dirty="0">
                <a:latin typeface="Times New Roman" panose="02020603050405020304" pitchFamily="18" charset="0"/>
                <a:ea typeface="宋体" panose="02010600030101010101" pitchFamily="2" charset="-122"/>
              </a:rPr>
              <a:t>a</a:t>
            </a:r>
            <a:r>
              <a:rPr lang="zh-CN" altLang="en-US" sz="2400" kern="100" dirty="0">
                <a:latin typeface="Times New Roman" panose="02020603050405020304" pitchFamily="18" charset="0"/>
                <a:ea typeface="宋体" panose="02010600030101010101" pitchFamily="2" charset="-122"/>
              </a:rPr>
              <a:t>的范围，可以划分成三个等价类：一个有效等价类（例如</a:t>
            </a:r>
            <a:r>
              <a:rPr lang="en-US" altLang="zh-CN" sz="2400" kern="100" dirty="0">
                <a:latin typeface="Times New Roman" panose="02020603050405020304" pitchFamily="18" charset="0"/>
                <a:ea typeface="宋体" panose="02010600030101010101" pitchFamily="2" charset="-122"/>
              </a:rPr>
              <a:t>-50</a:t>
            </a:r>
            <a:r>
              <a:rPr lang="zh-CN" altLang="en-US" sz="2400" kern="100" dirty="0">
                <a:latin typeface="Times New Roman" panose="02020603050405020304" pitchFamily="18" charset="0"/>
                <a:ea typeface="宋体" panose="02010600030101010101" pitchFamily="2" charset="-122"/>
              </a:rPr>
              <a:t>），两个无效等价类（</a:t>
            </a:r>
            <a:r>
              <a:rPr lang="en-US" altLang="zh-CN" sz="2400" kern="100" dirty="0">
                <a:latin typeface="Times New Roman" panose="02020603050405020304" pitchFamily="18" charset="0"/>
                <a:ea typeface="宋体" panose="02010600030101010101" pitchFamily="2" charset="-122"/>
              </a:rPr>
              <a:t>50</a:t>
            </a:r>
            <a:r>
              <a:rPr lang="zh-CN" altLang="en-US" sz="2400" kern="100" dirty="0">
                <a:latin typeface="Times New Roman" panose="02020603050405020304" pitchFamily="18" charset="0"/>
                <a:ea typeface="宋体" panose="02010600030101010101" pitchFamily="2" charset="-122"/>
              </a:rPr>
              <a:t>或者</a:t>
            </a:r>
            <a:r>
              <a:rPr lang="en-US" altLang="zh-CN" sz="2400" kern="100" dirty="0">
                <a:latin typeface="Times New Roman" panose="02020603050405020304" pitchFamily="18" charset="0"/>
                <a:ea typeface="宋体" panose="02010600030101010101" pitchFamily="2" charset="-122"/>
              </a:rPr>
              <a:t>-150</a:t>
            </a:r>
            <a:r>
              <a:rPr lang="zh-CN" altLang="en-US" sz="2400" kern="100" dirty="0">
                <a:latin typeface="Times New Roman" panose="02020603050405020304" pitchFamily="18" charset="0"/>
                <a:ea typeface="宋体" panose="02010600030101010101" pitchFamily="2" charset="-122"/>
              </a:rPr>
              <a:t>）</a:t>
            </a:r>
            <a:endParaRPr lang="en-US" altLang="zh-CN" sz="2400" kern="100" dirty="0">
              <a:latin typeface="Times New Roman" panose="02020603050405020304" pitchFamily="18" charset="0"/>
              <a:ea typeface="宋体" panose="02010600030101010101" pitchFamily="2" charset="-122"/>
            </a:endParaRPr>
          </a:p>
          <a:p>
            <a:pPr marL="0" indent="0" algn="just">
              <a:spcBef>
                <a:spcPts val="600"/>
              </a:spcBef>
              <a:spcAft>
                <a:spcPts val="600"/>
              </a:spcAft>
              <a:buNone/>
            </a:pPr>
            <a:r>
              <a:rPr lang="zh-CN" altLang="en-US" sz="2400" kern="100" dirty="0">
                <a:latin typeface="Times New Roman" panose="02020603050405020304" pitchFamily="18" charset="0"/>
                <a:ea typeface="宋体" panose="02010600030101010101" pitchFamily="2" charset="-122"/>
              </a:rPr>
              <a:t>根据</a:t>
            </a:r>
            <a:r>
              <a:rPr lang="en-US" altLang="zh-CN" sz="2400" kern="100" dirty="0">
                <a:latin typeface="Times New Roman" panose="02020603050405020304" pitchFamily="18" charset="0"/>
                <a:ea typeface="宋体" panose="02010600030101010101" pitchFamily="2" charset="-122"/>
              </a:rPr>
              <a:t>b</a:t>
            </a:r>
            <a:r>
              <a:rPr lang="zh-CN" altLang="en-US" sz="2400" kern="100" dirty="0">
                <a:latin typeface="Times New Roman" panose="02020603050405020304" pitchFamily="18" charset="0"/>
                <a:ea typeface="宋体" panose="02010600030101010101" pitchFamily="2" charset="-122"/>
              </a:rPr>
              <a:t>的范围，可以划分成三个等价类：一个有效等价类（例如</a:t>
            </a:r>
            <a:r>
              <a:rPr lang="en-US" altLang="zh-CN" sz="2400" kern="100" dirty="0">
                <a:latin typeface="Times New Roman" panose="02020603050405020304" pitchFamily="18" charset="0"/>
                <a:ea typeface="宋体" panose="02010600030101010101" pitchFamily="2" charset="-122"/>
              </a:rPr>
              <a:t>50</a:t>
            </a:r>
            <a:r>
              <a:rPr lang="zh-CN" altLang="en-US" sz="2400" kern="100" dirty="0">
                <a:latin typeface="Times New Roman" panose="02020603050405020304" pitchFamily="18" charset="0"/>
                <a:ea typeface="宋体" panose="02010600030101010101" pitchFamily="2" charset="-122"/>
              </a:rPr>
              <a:t>），两个无效等价类（</a:t>
            </a:r>
            <a:r>
              <a:rPr lang="en-US" altLang="zh-CN" sz="2400" kern="100" dirty="0">
                <a:latin typeface="Times New Roman" panose="02020603050405020304" pitchFamily="18" charset="0"/>
                <a:ea typeface="宋体" panose="02010600030101010101" pitchFamily="2" charset="-122"/>
              </a:rPr>
              <a:t>-50</a:t>
            </a:r>
            <a:r>
              <a:rPr lang="zh-CN" altLang="en-US" sz="2400" kern="100" dirty="0">
                <a:latin typeface="Times New Roman" panose="02020603050405020304" pitchFamily="18" charset="0"/>
                <a:ea typeface="宋体" panose="02010600030101010101" pitchFamily="2" charset="-122"/>
              </a:rPr>
              <a:t>或者</a:t>
            </a:r>
            <a:r>
              <a:rPr lang="en-US" altLang="zh-CN" sz="2400" kern="100" dirty="0">
                <a:latin typeface="Times New Roman" panose="02020603050405020304" pitchFamily="18" charset="0"/>
                <a:ea typeface="宋体" panose="02010600030101010101" pitchFamily="2" charset="-122"/>
              </a:rPr>
              <a:t>150</a:t>
            </a:r>
            <a:r>
              <a:rPr lang="zh-CN" altLang="en-US" sz="2400" kern="100" dirty="0">
                <a:latin typeface="Times New Roman" panose="02020603050405020304" pitchFamily="18" charset="0"/>
                <a:ea typeface="宋体" panose="02010600030101010101" pitchFamily="2" charset="-122"/>
              </a:rPr>
              <a:t>）</a:t>
            </a:r>
            <a:endParaRPr lang="en-US" altLang="zh-CN" sz="2400" kern="100" dirty="0">
              <a:latin typeface="Times New Roman" panose="02020603050405020304" pitchFamily="18" charset="0"/>
              <a:ea typeface="宋体" panose="02010600030101010101" pitchFamily="2" charset="-122"/>
            </a:endParaRPr>
          </a:p>
          <a:p>
            <a:pPr marL="0" indent="0" algn="just">
              <a:spcBef>
                <a:spcPts val="600"/>
              </a:spcBef>
              <a:spcAft>
                <a:spcPts val="600"/>
              </a:spcAft>
              <a:buNone/>
            </a:pPr>
            <a:r>
              <a:rPr lang="zh-CN" altLang="en-US" sz="2400" kern="100" dirty="0">
                <a:effectLst/>
                <a:latin typeface="Times New Roman" panose="02020603050405020304" pitchFamily="18" charset="0"/>
                <a:ea typeface="宋体" panose="02010600030101010101" pitchFamily="2" charset="-122"/>
              </a:rPr>
              <a:t>因此可以设计下面几个测试用例</a:t>
            </a:r>
            <a:endParaRPr lang="en-US" altLang="zh-CN" sz="2400" kern="100" dirty="0">
              <a:effectLst/>
              <a:latin typeface="Times New Roman" panose="02020603050405020304" pitchFamily="18" charset="0"/>
              <a:ea typeface="宋体" panose="02010600030101010101" pitchFamily="2" charset="-122"/>
            </a:endParaRPr>
          </a:p>
          <a:p>
            <a:pPr marL="0" indent="0" algn="just">
              <a:spcBef>
                <a:spcPts val="600"/>
              </a:spcBef>
              <a:spcAft>
                <a:spcPts val="600"/>
              </a:spcAft>
              <a:buNone/>
            </a:pPr>
            <a:endParaRPr lang="en-US" altLang="zh-CN" sz="2400" kern="100" dirty="0">
              <a:effectLst/>
              <a:latin typeface="Times New Roman" panose="02020603050405020304" pitchFamily="18" charset="0"/>
              <a:ea typeface="宋体" panose="02010600030101010101" pitchFamily="2" charset="-122"/>
            </a:endParaRPr>
          </a:p>
          <a:p>
            <a:pPr marL="0" indent="0">
              <a:buNone/>
            </a:pPr>
            <a:endParaRPr lang="zh-CN" altLang="en-US" dirty="0"/>
          </a:p>
        </p:txBody>
      </p:sp>
      <p:graphicFrame>
        <p:nvGraphicFramePr>
          <p:cNvPr id="4" name="表格 4">
            <a:extLst>
              <a:ext uri="{FF2B5EF4-FFF2-40B4-BE49-F238E27FC236}">
                <a16:creationId xmlns:a16="http://schemas.microsoft.com/office/drawing/2014/main" id="{FBE0EBD6-6B63-46A1-948D-BBC7D0FF970A}"/>
              </a:ext>
            </a:extLst>
          </p:cNvPr>
          <p:cNvGraphicFramePr>
            <a:graphicFrameLocks noGrp="1"/>
          </p:cNvGraphicFramePr>
          <p:nvPr>
            <p:extLst>
              <p:ext uri="{D42A27DB-BD31-4B8C-83A1-F6EECF244321}">
                <p14:modId xmlns:p14="http://schemas.microsoft.com/office/powerpoint/2010/main" val="2107184933"/>
              </p:ext>
            </p:extLst>
          </p:nvPr>
        </p:nvGraphicFramePr>
        <p:xfrm>
          <a:off x="5925820" y="2822786"/>
          <a:ext cx="6096000" cy="25958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63276590"/>
                    </a:ext>
                  </a:extLst>
                </a:gridCol>
                <a:gridCol w="1681480">
                  <a:extLst>
                    <a:ext uri="{9D8B030D-6E8A-4147-A177-3AD203B41FA5}">
                      <a16:colId xmlns:a16="http://schemas.microsoft.com/office/drawing/2014/main" val="473736657"/>
                    </a:ext>
                  </a:extLst>
                </a:gridCol>
                <a:gridCol w="2382520">
                  <a:extLst>
                    <a:ext uri="{9D8B030D-6E8A-4147-A177-3AD203B41FA5}">
                      <a16:colId xmlns:a16="http://schemas.microsoft.com/office/drawing/2014/main" val="3034058271"/>
                    </a:ext>
                  </a:extLst>
                </a:gridCol>
              </a:tblGrid>
              <a:tr h="370840">
                <a:tc>
                  <a:txBody>
                    <a:bodyPr/>
                    <a:lstStyle/>
                    <a:p>
                      <a:r>
                        <a:rPr lang="zh-CN" altLang="en-US" dirty="0"/>
                        <a:t>测试用例</a:t>
                      </a:r>
                    </a:p>
                  </a:txBody>
                  <a:tcPr/>
                </a:tc>
                <a:tc>
                  <a:txBody>
                    <a:bodyPr/>
                    <a:lstStyle/>
                    <a:p>
                      <a:r>
                        <a:rPr lang="zh-CN" altLang="en-US" dirty="0"/>
                        <a:t>预期结果</a:t>
                      </a:r>
                    </a:p>
                  </a:txBody>
                  <a:tcPr/>
                </a:tc>
                <a:tc>
                  <a:txBody>
                    <a:bodyPr/>
                    <a:lstStyle/>
                    <a:p>
                      <a:r>
                        <a:rPr lang="zh-CN" altLang="en-US" dirty="0"/>
                        <a:t>说明</a:t>
                      </a:r>
                    </a:p>
                  </a:txBody>
                  <a:tcPr/>
                </a:tc>
                <a:extLst>
                  <a:ext uri="{0D108BD9-81ED-4DB2-BD59-A6C34878D82A}">
                    <a16:rowId xmlns:a16="http://schemas.microsoft.com/office/drawing/2014/main" val="1284146995"/>
                  </a:ext>
                </a:extLst>
              </a:tr>
              <a:tr h="370840">
                <a:tc>
                  <a:txBody>
                    <a:bodyPr/>
                    <a:lstStyle/>
                    <a:p>
                      <a:r>
                        <a:rPr lang="en-US" altLang="zh-CN" dirty="0"/>
                        <a:t>a=-50,b=50</a:t>
                      </a:r>
                      <a:endParaRPr lang="zh-CN" altLang="en-US" dirty="0"/>
                    </a:p>
                  </a:txBody>
                  <a:tcPr/>
                </a:tc>
                <a:tc>
                  <a:txBody>
                    <a:bodyPr/>
                    <a:lstStyle/>
                    <a:p>
                      <a:r>
                        <a:rPr lang="zh-CN" altLang="en-US" dirty="0"/>
                        <a:t>有效输入</a:t>
                      </a:r>
                    </a:p>
                  </a:txBody>
                  <a:tcPr/>
                </a:tc>
                <a:tc>
                  <a:txBody>
                    <a:bodyPr/>
                    <a:lstStyle/>
                    <a:p>
                      <a:r>
                        <a:rPr lang="en-US" altLang="zh-CN" dirty="0"/>
                        <a:t>a</a:t>
                      </a:r>
                      <a:r>
                        <a:rPr lang="zh-CN" altLang="en-US" dirty="0"/>
                        <a:t>和</a:t>
                      </a:r>
                      <a:r>
                        <a:rPr lang="en-US" altLang="zh-CN" dirty="0"/>
                        <a:t>b</a:t>
                      </a:r>
                      <a:r>
                        <a:rPr lang="zh-CN" altLang="en-US" dirty="0"/>
                        <a:t>均为有效等价类</a:t>
                      </a:r>
                    </a:p>
                  </a:txBody>
                  <a:tcPr/>
                </a:tc>
                <a:extLst>
                  <a:ext uri="{0D108BD9-81ED-4DB2-BD59-A6C34878D82A}">
                    <a16:rowId xmlns:a16="http://schemas.microsoft.com/office/drawing/2014/main" val="3813554245"/>
                  </a:ext>
                </a:extLst>
              </a:tr>
              <a:tr h="370840">
                <a:tc>
                  <a:txBody>
                    <a:bodyPr/>
                    <a:lstStyle/>
                    <a:p>
                      <a:r>
                        <a:rPr lang="en-US" altLang="zh-CN" dirty="0"/>
                        <a:t>a=50</a:t>
                      </a:r>
                      <a:r>
                        <a:rPr lang="zh-CN" altLang="en-US" dirty="0"/>
                        <a:t>，</a:t>
                      </a:r>
                      <a:r>
                        <a:rPr lang="en-US" altLang="zh-CN" dirty="0"/>
                        <a:t>b=50</a:t>
                      </a:r>
                      <a:endParaRPr lang="zh-CN" altLang="en-US" dirty="0"/>
                    </a:p>
                  </a:txBody>
                  <a:tcPr/>
                </a:tc>
                <a:tc>
                  <a:txBody>
                    <a:bodyPr/>
                    <a:lstStyle/>
                    <a:p>
                      <a:r>
                        <a:rPr lang="zh-CN" altLang="en-US" dirty="0"/>
                        <a:t>报错</a:t>
                      </a:r>
                      <a:endParaRPr lang="en-US" altLang="zh-CN" dirty="0"/>
                    </a:p>
                  </a:txBody>
                  <a:tcPr/>
                </a:tc>
                <a:tc>
                  <a:txBody>
                    <a:bodyPr/>
                    <a:lstStyle/>
                    <a:p>
                      <a:r>
                        <a:rPr lang="en-US" altLang="zh-CN" dirty="0"/>
                        <a:t>a</a:t>
                      </a:r>
                      <a:r>
                        <a:rPr lang="zh-CN" altLang="en-US" dirty="0"/>
                        <a:t>为无效，</a:t>
                      </a:r>
                      <a:r>
                        <a:rPr lang="en-US" altLang="zh-CN" dirty="0"/>
                        <a:t>b</a:t>
                      </a:r>
                      <a:r>
                        <a:rPr lang="zh-CN" altLang="en-US" dirty="0"/>
                        <a:t>为有效</a:t>
                      </a:r>
                    </a:p>
                  </a:txBody>
                  <a:tcPr/>
                </a:tc>
                <a:extLst>
                  <a:ext uri="{0D108BD9-81ED-4DB2-BD59-A6C34878D82A}">
                    <a16:rowId xmlns:a16="http://schemas.microsoft.com/office/drawing/2014/main" val="3558339703"/>
                  </a:ext>
                </a:extLst>
              </a:tr>
              <a:tr h="370840">
                <a:tc>
                  <a:txBody>
                    <a:bodyPr/>
                    <a:lstStyle/>
                    <a:p>
                      <a:r>
                        <a:rPr lang="en-US" altLang="zh-CN" dirty="0"/>
                        <a:t>a=-150,b=50</a:t>
                      </a:r>
                      <a:endParaRPr lang="zh-CN" altLang="en-US" dirty="0"/>
                    </a:p>
                  </a:txBody>
                  <a:tcPr/>
                </a:tc>
                <a:tc>
                  <a:txBody>
                    <a:bodyPr/>
                    <a:lstStyle/>
                    <a:p>
                      <a:r>
                        <a:rPr lang="zh-CN" altLang="en-US" dirty="0"/>
                        <a:t>报错</a:t>
                      </a:r>
                      <a:endParaRPr lang="en-US" altLang="zh-CN" dirty="0"/>
                    </a:p>
                  </a:txBody>
                  <a:tcPr/>
                </a:tc>
                <a:tc>
                  <a:txBody>
                    <a:bodyPr/>
                    <a:lstStyle/>
                    <a:p>
                      <a:r>
                        <a:rPr lang="en-US" altLang="zh-CN" dirty="0"/>
                        <a:t>a</a:t>
                      </a:r>
                      <a:r>
                        <a:rPr lang="zh-CN" altLang="en-US" dirty="0"/>
                        <a:t>为无效，</a:t>
                      </a:r>
                      <a:r>
                        <a:rPr lang="en-US" altLang="zh-CN" dirty="0"/>
                        <a:t>b</a:t>
                      </a:r>
                      <a:r>
                        <a:rPr lang="zh-CN" altLang="en-US" dirty="0"/>
                        <a:t>为有效</a:t>
                      </a:r>
                    </a:p>
                  </a:txBody>
                  <a:tcPr/>
                </a:tc>
                <a:extLst>
                  <a:ext uri="{0D108BD9-81ED-4DB2-BD59-A6C34878D82A}">
                    <a16:rowId xmlns:a16="http://schemas.microsoft.com/office/drawing/2014/main" val="1730710255"/>
                  </a:ext>
                </a:extLst>
              </a:tr>
              <a:tr h="370840">
                <a:tc>
                  <a:txBody>
                    <a:bodyPr/>
                    <a:lstStyle/>
                    <a:p>
                      <a:r>
                        <a:rPr lang="en-US" altLang="zh-CN" dirty="0"/>
                        <a:t>a=-50</a:t>
                      </a:r>
                      <a:r>
                        <a:rPr lang="zh-CN" altLang="en-US" dirty="0"/>
                        <a:t>，</a:t>
                      </a:r>
                      <a:r>
                        <a:rPr lang="en-US" altLang="zh-CN" dirty="0"/>
                        <a:t>b=-50</a:t>
                      </a:r>
                      <a:endParaRPr lang="zh-CN" altLang="en-US" dirty="0"/>
                    </a:p>
                  </a:txBody>
                  <a:tcPr/>
                </a:tc>
                <a:tc>
                  <a:txBody>
                    <a:bodyPr/>
                    <a:lstStyle/>
                    <a:p>
                      <a:r>
                        <a:rPr lang="zh-CN" altLang="en-US" dirty="0"/>
                        <a:t>报错</a:t>
                      </a:r>
                      <a:endParaRPr lang="en-US" altLang="zh-CN" dirty="0"/>
                    </a:p>
                  </a:txBody>
                  <a:tcPr/>
                </a:tc>
                <a:tc>
                  <a:txBody>
                    <a:bodyPr/>
                    <a:lstStyle/>
                    <a:p>
                      <a:r>
                        <a:rPr lang="en-US" altLang="zh-CN" dirty="0"/>
                        <a:t>a</a:t>
                      </a:r>
                      <a:r>
                        <a:rPr lang="zh-CN" altLang="en-US" dirty="0"/>
                        <a:t>为有效，</a:t>
                      </a:r>
                      <a:r>
                        <a:rPr lang="en-US" altLang="zh-CN" dirty="0"/>
                        <a:t>b</a:t>
                      </a:r>
                      <a:r>
                        <a:rPr lang="zh-CN" altLang="en-US" dirty="0"/>
                        <a:t>为无效</a:t>
                      </a:r>
                    </a:p>
                  </a:txBody>
                  <a:tcPr/>
                </a:tc>
                <a:extLst>
                  <a:ext uri="{0D108BD9-81ED-4DB2-BD59-A6C34878D82A}">
                    <a16:rowId xmlns:a16="http://schemas.microsoft.com/office/drawing/2014/main" val="2252102799"/>
                  </a:ext>
                </a:extLst>
              </a:tr>
              <a:tr h="370840">
                <a:tc>
                  <a:txBody>
                    <a:bodyPr/>
                    <a:lstStyle/>
                    <a:p>
                      <a:r>
                        <a:rPr lang="en-US" altLang="zh-CN" dirty="0"/>
                        <a:t>a=-50</a:t>
                      </a:r>
                      <a:r>
                        <a:rPr lang="zh-CN" altLang="en-US" dirty="0"/>
                        <a:t>，</a:t>
                      </a:r>
                      <a:r>
                        <a:rPr lang="en-US" altLang="zh-CN" dirty="0"/>
                        <a:t>b=150</a:t>
                      </a:r>
                      <a:endParaRPr lang="zh-CN" altLang="en-US" dirty="0"/>
                    </a:p>
                  </a:txBody>
                  <a:tcPr/>
                </a:tc>
                <a:tc>
                  <a:txBody>
                    <a:bodyPr/>
                    <a:lstStyle/>
                    <a:p>
                      <a:r>
                        <a:rPr lang="zh-CN" altLang="en-US" dirty="0"/>
                        <a:t>报错</a:t>
                      </a:r>
                      <a:endParaRPr lang="en-US" altLang="zh-CN" dirty="0"/>
                    </a:p>
                  </a:txBody>
                  <a:tcPr/>
                </a:tc>
                <a:tc>
                  <a:txBody>
                    <a:bodyPr/>
                    <a:lstStyle/>
                    <a:p>
                      <a:r>
                        <a:rPr lang="en-US" altLang="zh-CN" dirty="0"/>
                        <a:t>a</a:t>
                      </a:r>
                      <a:r>
                        <a:rPr lang="zh-CN" altLang="en-US" dirty="0"/>
                        <a:t>为有效，</a:t>
                      </a:r>
                      <a:r>
                        <a:rPr lang="en-US" altLang="zh-CN" dirty="0"/>
                        <a:t>b</a:t>
                      </a:r>
                      <a:r>
                        <a:rPr lang="zh-CN" altLang="en-US" dirty="0"/>
                        <a:t>为无效</a:t>
                      </a:r>
                    </a:p>
                  </a:txBody>
                  <a:tcPr/>
                </a:tc>
                <a:extLst>
                  <a:ext uri="{0D108BD9-81ED-4DB2-BD59-A6C34878D82A}">
                    <a16:rowId xmlns:a16="http://schemas.microsoft.com/office/drawing/2014/main" val="2526243470"/>
                  </a:ext>
                </a:extLst>
              </a:tr>
              <a:tr h="370840">
                <a:tc>
                  <a:txBody>
                    <a:bodyPr/>
                    <a:lstStyle/>
                    <a:p>
                      <a:r>
                        <a:rPr lang="en-US" altLang="zh-CN" dirty="0"/>
                        <a:t>a=50</a:t>
                      </a:r>
                      <a:r>
                        <a:rPr lang="zh-CN" altLang="en-US" dirty="0"/>
                        <a:t>，</a:t>
                      </a:r>
                      <a:r>
                        <a:rPr lang="en-US" altLang="zh-CN" dirty="0"/>
                        <a:t>b=150</a:t>
                      </a:r>
                      <a:endParaRPr lang="zh-CN" altLang="en-US" dirty="0"/>
                    </a:p>
                  </a:txBody>
                  <a:tcPr/>
                </a:tc>
                <a:tc>
                  <a:txBody>
                    <a:bodyPr/>
                    <a:lstStyle/>
                    <a:p>
                      <a:r>
                        <a:rPr lang="zh-CN" altLang="en-US" dirty="0"/>
                        <a:t>报错</a:t>
                      </a:r>
                      <a:endParaRPr lang="en-US" altLang="zh-CN" dirty="0"/>
                    </a:p>
                  </a:txBody>
                  <a:tcPr/>
                </a:tc>
                <a:tc>
                  <a:txBody>
                    <a:bodyPr/>
                    <a:lstStyle/>
                    <a:p>
                      <a:r>
                        <a:rPr lang="en-US" altLang="zh-CN" dirty="0"/>
                        <a:t>a</a:t>
                      </a:r>
                      <a:r>
                        <a:rPr lang="zh-CN" altLang="en-US" dirty="0"/>
                        <a:t>，</a:t>
                      </a:r>
                      <a:r>
                        <a:rPr lang="en-US" altLang="zh-CN" dirty="0"/>
                        <a:t>b</a:t>
                      </a:r>
                      <a:r>
                        <a:rPr lang="zh-CN" altLang="en-US" dirty="0"/>
                        <a:t>均为无效</a:t>
                      </a:r>
                    </a:p>
                  </a:txBody>
                  <a:tcPr/>
                </a:tc>
                <a:extLst>
                  <a:ext uri="{0D108BD9-81ED-4DB2-BD59-A6C34878D82A}">
                    <a16:rowId xmlns:a16="http://schemas.microsoft.com/office/drawing/2014/main" val="193767182"/>
                  </a:ext>
                </a:extLst>
              </a:tr>
            </a:tbl>
          </a:graphicData>
        </a:graphic>
      </p:graphicFrame>
    </p:spTree>
    <p:extLst>
      <p:ext uri="{BB962C8B-B14F-4D97-AF65-F5344CB8AC3E}">
        <p14:creationId xmlns:p14="http://schemas.microsoft.com/office/powerpoint/2010/main" val="1810467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p:txBody>
          <a:bodyPr>
            <a:normAutofit/>
          </a:bodyPr>
          <a:lstStyle/>
          <a:p>
            <a:r>
              <a:rPr lang="en-US" altLang="zh-CN" sz="2800" dirty="0"/>
              <a:t>【</a:t>
            </a:r>
            <a:r>
              <a:rPr lang="zh-CN" altLang="en-US" sz="2800" dirty="0"/>
              <a:t>应用</a:t>
            </a:r>
            <a:r>
              <a:rPr lang="en-US" altLang="zh-CN" sz="2800" dirty="0"/>
              <a:t>】</a:t>
            </a:r>
            <a:r>
              <a:rPr lang="zh-CN" altLang="en-US" sz="2800" dirty="0"/>
              <a:t>考虑以下程序设计：输入</a:t>
            </a:r>
            <a:r>
              <a:rPr lang="en-US" altLang="zh-CN" sz="2800" dirty="0"/>
              <a:t>a</a:t>
            </a:r>
            <a:r>
              <a:rPr lang="zh-CN" altLang="en-US" sz="2800" dirty="0"/>
              <a:t>，</a:t>
            </a:r>
            <a:r>
              <a:rPr lang="en-US" altLang="zh-CN" sz="2800" dirty="0"/>
              <a:t>b</a:t>
            </a:r>
            <a:r>
              <a:rPr lang="zh-CN" altLang="en-US" sz="2800" dirty="0"/>
              <a:t>两个数，</a:t>
            </a:r>
            <a:r>
              <a:rPr lang="en-US" altLang="zh-CN" sz="2800" dirty="0"/>
              <a:t>a</a:t>
            </a:r>
            <a:r>
              <a:rPr lang="zh-CN" altLang="en-US" sz="2800" dirty="0"/>
              <a:t>的取值范围在（</a:t>
            </a:r>
            <a:r>
              <a:rPr lang="en-US" altLang="zh-CN" sz="2800" dirty="0"/>
              <a:t>-100,0</a:t>
            </a:r>
            <a:r>
              <a:rPr lang="zh-CN" altLang="en-US" sz="2800" dirty="0"/>
              <a:t>），</a:t>
            </a:r>
            <a:r>
              <a:rPr lang="en-US" altLang="zh-CN" sz="2800" dirty="0"/>
              <a:t>b</a:t>
            </a:r>
            <a:r>
              <a:rPr lang="zh-CN" altLang="en-US" sz="2800" dirty="0"/>
              <a:t>的取值范围在（</a:t>
            </a:r>
            <a:r>
              <a:rPr lang="en-US" altLang="zh-CN" sz="2800" dirty="0"/>
              <a:t>0</a:t>
            </a:r>
            <a:r>
              <a:rPr lang="zh-CN" altLang="en-US" sz="2800" dirty="0"/>
              <a:t>，</a:t>
            </a:r>
            <a:r>
              <a:rPr lang="en-US" altLang="zh-CN" sz="2800" dirty="0"/>
              <a:t>100</a:t>
            </a:r>
            <a:r>
              <a:rPr lang="zh-CN" altLang="en-US" sz="2800" dirty="0"/>
              <a:t>）之间，输出的结果应为</a:t>
            </a:r>
            <a:r>
              <a:rPr lang="en-US" altLang="zh-CN" sz="2800" dirty="0"/>
              <a:t>a/b</a:t>
            </a:r>
            <a:r>
              <a:rPr lang="zh-CN" altLang="en-US" sz="2800" dirty="0"/>
              <a:t>，请用等价类划分和边界值分析两类方法设计测试用例</a:t>
            </a:r>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1825625"/>
            <a:ext cx="4084320" cy="4351338"/>
          </a:xfrm>
        </p:spPr>
        <p:txBody>
          <a:bodyPr>
            <a:normAutofit/>
          </a:bodyPr>
          <a:lstStyle/>
          <a:p>
            <a:pPr marL="0" indent="0">
              <a:buNone/>
            </a:pPr>
            <a:r>
              <a:rPr lang="zh-CN" altLang="en-US" dirty="0"/>
              <a:t>答案：</a:t>
            </a:r>
            <a:endParaRPr lang="zh-CN" altLang="zh-CN" sz="2400" kern="100" dirty="0">
              <a:effectLst/>
              <a:latin typeface="Times New Roman" panose="02020603050405020304" pitchFamily="18" charset="0"/>
              <a:ea typeface="宋体" panose="02010600030101010101" pitchFamily="2" charset="-122"/>
            </a:endParaRPr>
          </a:p>
          <a:p>
            <a:pPr marL="0" indent="0" algn="just">
              <a:spcBef>
                <a:spcPts val="600"/>
              </a:spcBef>
              <a:spcAft>
                <a:spcPts val="600"/>
              </a:spcAft>
              <a:buNone/>
            </a:pPr>
            <a:r>
              <a:rPr lang="en-US" altLang="zh-CN" sz="2400" kern="100" dirty="0">
                <a:effectLst/>
                <a:latin typeface="Times New Roman" panose="02020603050405020304" pitchFamily="18" charset="0"/>
                <a:ea typeface="宋体" panose="02010600030101010101" pitchFamily="2" charset="-122"/>
              </a:rPr>
              <a:t>2</a:t>
            </a:r>
            <a:r>
              <a:rPr lang="zh-CN" altLang="zh-CN" sz="2400" kern="100" dirty="0">
                <a:effectLst/>
                <a:latin typeface="Times New Roman" panose="02020603050405020304" pitchFamily="18" charset="0"/>
                <a:ea typeface="宋体" panose="02010600030101010101" pitchFamily="2" charset="-122"/>
              </a:rPr>
              <a:t>）根据边界值分析：</a:t>
            </a:r>
            <a:endParaRPr lang="en-US" altLang="zh-CN" sz="2400" kern="100" dirty="0">
              <a:effectLst/>
              <a:latin typeface="Times New Roman" panose="02020603050405020304" pitchFamily="18" charset="0"/>
              <a:ea typeface="宋体" panose="02010600030101010101" pitchFamily="2" charset="-122"/>
            </a:endParaRPr>
          </a:p>
          <a:p>
            <a:pPr marL="0" indent="0" algn="just">
              <a:spcBef>
                <a:spcPts val="600"/>
              </a:spcBef>
              <a:spcAft>
                <a:spcPts val="600"/>
              </a:spcAft>
              <a:buNone/>
            </a:pPr>
            <a:r>
              <a:rPr lang="en-US" altLang="zh-CN" sz="2400" kern="100" dirty="0">
                <a:latin typeface="Times New Roman" panose="02020603050405020304" pitchFamily="18" charset="0"/>
                <a:ea typeface="宋体" panose="02010600030101010101" pitchFamily="2" charset="-122"/>
              </a:rPr>
              <a:t>a</a:t>
            </a:r>
            <a:r>
              <a:rPr lang="zh-CN" altLang="en-US" sz="2400" kern="100" dirty="0">
                <a:latin typeface="Times New Roman" panose="02020603050405020304" pitchFamily="18" charset="0"/>
                <a:ea typeface="宋体" panose="02010600030101010101" pitchFamily="2" charset="-122"/>
              </a:rPr>
              <a:t>的边界值为</a:t>
            </a:r>
            <a:r>
              <a:rPr lang="en-US" altLang="zh-CN" sz="2400" kern="100" dirty="0">
                <a:latin typeface="Times New Roman" panose="02020603050405020304" pitchFamily="18" charset="0"/>
                <a:ea typeface="宋体" panose="02010600030101010101" pitchFamily="2" charset="-122"/>
              </a:rPr>
              <a:t>-101</a:t>
            </a:r>
            <a:r>
              <a:rPr lang="zh-CN" altLang="en-US" sz="2400" kern="100" dirty="0">
                <a:latin typeface="Times New Roman" panose="02020603050405020304" pitchFamily="18" charset="0"/>
                <a:ea typeface="宋体" panose="02010600030101010101" pitchFamily="2" charset="-122"/>
              </a:rPr>
              <a:t>，</a:t>
            </a:r>
            <a:r>
              <a:rPr lang="en-US" altLang="zh-CN" sz="2400" kern="100" dirty="0">
                <a:latin typeface="Times New Roman" panose="02020603050405020304" pitchFamily="18" charset="0"/>
                <a:ea typeface="宋体" panose="02010600030101010101" pitchFamily="2" charset="-122"/>
              </a:rPr>
              <a:t>-100</a:t>
            </a:r>
            <a:r>
              <a:rPr lang="zh-CN" altLang="en-US" sz="2400" kern="100" dirty="0">
                <a:latin typeface="Times New Roman" panose="02020603050405020304" pitchFamily="18" charset="0"/>
                <a:ea typeface="宋体" panose="02010600030101010101" pitchFamily="2" charset="-122"/>
              </a:rPr>
              <a:t>，</a:t>
            </a:r>
            <a:r>
              <a:rPr lang="en-US" altLang="zh-CN" sz="2400" kern="100" dirty="0">
                <a:latin typeface="Times New Roman" panose="02020603050405020304" pitchFamily="18" charset="0"/>
                <a:ea typeface="宋体" panose="02010600030101010101" pitchFamily="2" charset="-122"/>
              </a:rPr>
              <a:t>-99</a:t>
            </a:r>
            <a:r>
              <a:rPr lang="zh-CN" altLang="en-US" sz="2400" kern="100" dirty="0">
                <a:latin typeface="Times New Roman" panose="02020603050405020304" pitchFamily="18" charset="0"/>
                <a:ea typeface="宋体" panose="02010600030101010101" pitchFamily="2" charset="-122"/>
              </a:rPr>
              <a:t>，</a:t>
            </a:r>
            <a:r>
              <a:rPr lang="en-US" altLang="zh-CN" sz="2400" kern="100" dirty="0">
                <a:latin typeface="Times New Roman" panose="02020603050405020304" pitchFamily="18" charset="0"/>
                <a:ea typeface="宋体" panose="02010600030101010101" pitchFamily="2" charset="-122"/>
              </a:rPr>
              <a:t>-1,0,1</a:t>
            </a:r>
          </a:p>
          <a:p>
            <a:pPr marL="0" indent="0" algn="just">
              <a:spcBef>
                <a:spcPts val="600"/>
              </a:spcBef>
              <a:spcAft>
                <a:spcPts val="600"/>
              </a:spcAft>
              <a:buNone/>
            </a:pPr>
            <a:r>
              <a:rPr lang="en-US" altLang="zh-CN" sz="2400" kern="100" dirty="0">
                <a:latin typeface="Times New Roman" panose="02020603050405020304" pitchFamily="18" charset="0"/>
                <a:ea typeface="宋体" panose="02010600030101010101" pitchFamily="2" charset="-122"/>
              </a:rPr>
              <a:t>b</a:t>
            </a:r>
            <a:r>
              <a:rPr lang="zh-CN" altLang="en-US" sz="2400" kern="100" dirty="0">
                <a:latin typeface="Times New Roman" panose="02020603050405020304" pitchFamily="18" charset="0"/>
                <a:ea typeface="宋体" panose="02010600030101010101" pitchFamily="2" charset="-122"/>
              </a:rPr>
              <a:t>的边界值为</a:t>
            </a:r>
            <a:r>
              <a:rPr lang="en-US" altLang="zh-CN" sz="2400" kern="100" dirty="0">
                <a:latin typeface="Times New Roman" panose="02020603050405020304" pitchFamily="18" charset="0"/>
                <a:ea typeface="宋体" panose="02010600030101010101" pitchFamily="2" charset="-122"/>
              </a:rPr>
              <a:t>-1,0,1,99,100</a:t>
            </a:r>
            <a:r>
              <a:rPr lang="zh-CN" altLang="en-US" sz="2400" kern="100" dirty="0">
                <a:latin typeface="Times New Roman" panose="02020603050405020304" pitchFamily="18" charset="0"/>
                <a:ea typeface="宋体" panose="02010600030101010101" pitchFamily="2" charset="-122"/>
              </a:rPr>
              <a:t>，</a:t>
            </a:r>
            <a:r>
              <a:rPr lang="en-US" altLang="zh-CN" sz="2400" kern="100" dirty="0">
                <a:latin typeface="Times New Roman" panose="02020603050405020304" pitchFamily="18" charset="0"/>
                <a:ea typeface="宋体" panose="02010600030101010101" pitchFamily="2" charset="-122"/>
              </a:rPr>
              <a:t>101</a:t>
            </a:r>
          </a:p>
          <a:p>
            <a:pPr marL="0" indent="0" algn="just">
              <a:spcBef>
                <a:spcPts val="600"/>
              </a:spcBef>
              <a:spcAft>
                <a:spcPts val="600"/>
              </a:spcAft>
              <a:buNone/>
            </a:pPr>
            <a:r>
              <a:rPr lang="zh-CN" altLang="en-US" sz="2400" kern="100" dirty="0">
                <a:latin typeface="Times New Roman" panose="02020603050405020304" pitchFamily="18" charset="0"/>
                <a:ea typeface="宋体" panose="02010600030101010101" pitchFamily="2" charset="-122"/>
              </a:rPr>
              <a:t>因此可以设计下面几个测试用例</a:t>
            </a:r>
            <a:endParaRPr lang="en-US" altLang="zh-CN" sz="2400" kern="100" dirty="0">
              <a:latin typeface="Times New Roman" panose="02020603050405020304" pitchFamily="18" charset="0"/>
              <a:ea typeface="宋体" panose="02010600030101010101" pitchFamily="2" charset="-122"/>
            </a:endParaRPr>
          </a:p>
          <a:p>
            <a:pPr marL="0" indent="0">
              <a:buNone/>
            </a:pPr>
            <a:endParaRPr lang="zh-CN" altLang="en-US" dirty="0"/>
          </a:p>
        </p:txBody>
      </p:sp>
      <p:graphicFrame>
        <p:nvGraphicFramePr>
          <p:cNvPr id="4" name="表格 4">
            <a:extLst>
              <a:ext uri="{FF2B5EF4-FFF2-40B4-BE49-F238E27FC236}">
                <a16:creationId xmlns:a16="http://schemas.microsoft.com/office/drawing/2014/main" id="{6F4EA790-B314-4596-BD37-7B56C6725776}"/>
              </a:ext>
            </a:extLst>
          </p:cNvPr>
          <p:cNvGraphicFramePr>
            <a:graphicFrameLocks noGrp="1"/>
          </p:cNvGraphicFramePr>
          <p:nvPr>
            <p:extLst>
              <p:ext uri="{D42A27DB-BD31-4B8C-83A1-F6EECF244321}">
                <p14:modId xmlns:p14="http://schemas.microsoft.com/office/powerpoint/2010/main" val="2048955391"/>
              </p:ext>
            </p:extLst>
          </p:nvPr>
        </p:nvGraphicFramePr>
        <p:xfrm>
          <a:off x="5273040" y="1690688"/>
          <a:ext cx="6080760" cy="4820920"/>
        </p:xfrm>
        <a:graphic>
          <a:graphicData uri="http://schemas.openxmlformats.org/drawingml/2006/table">
            <a:tbl>
              <a:tblPr firstRow="1" bandRow="1">
                <a:tableStyleId>{5C22544A-7EE6-4342-B048-85BDC9FD1C3A}</a:tableStyleId>
              </a:tblPr>
              <a:tblGrid>
                <a:gridCol w="2016760">
                  <a:extLst>
                    <a:ext uri="{9D8B030D-6E8A-4147-A177-3AD203B41FA5}">
                      <a16:colId xmlns:a16="http://schemas.microsoft.com/office/drawing/2014/main" val="363276590"/>
                    </a:ext>
                  </a:extLst>
                </a:gridCol>
                <a:gridCol w="1681480">
                  <a:extLst>
                    <a:ext uri="{9D8B030D-6E8A-4147-A177-3AD203B41FA5}">
                      <a16:colId xmlns:a16="http://schemas.microsoft.com/office/drawing/2014/main" val="473736657"/>
                    </a:ext>
                  </a:extLst>
                </a:gridCol>
                <a:gridCol w="2382520">
                  <a:extLst>
                    <a:ext uri="{9D8B030D-6E8A-4147-A177-3AD203B41FA5}">
                      <a16:colId xmlns:a16="http://schemas.microsoft.com/office/drawing/2014/main" val="3034058271"/>
                    </a:ext>
                  </a:extLst>
                </a:gridCol>
              </a:tblGrid>
              <a:tr h="370840">
                <a:tc>
                  <a:txBody>
                    <a:bodyPr/>
                    <a:lstStyle/>
                    <a:p>
                      <a:r>
                        <a:rPr lang="zh-CN" altLang="en-US" dirty="0"/>
                        <a:t>测试用例</a:t>
                      </a:r>
                    </a:p>
                  </a:txBody>
                  <a:tcPr/>
                </a:tc>
                <a:tc>
                  <a:txBody>
                    <a:bodyPr/>
                    <a:lstStyle/>
                    <a:p>
                      <a:r>
                        <a:rPr lang="zh-CN" altLang="en-US" dirty="0"/>
                        <a:t>预期结果</a:t>
                      </a:r>
                    </a:p>
                  </a:txBody>
                  <a:tcPr/>
                </a:tc>
                <a:tc>
                  <a:txBody>
                    <a:bodyPr/>
                    <a:lstStyle/>
                    <a:p>
                      <a:r>
                        <a:rPr lang="zh-CN" altLang="en-US" dirty="0"/>
                        <a:t>说明</a:t>
                      </a:r>
                    </a:p>
                  </a:txBody>
                  <a:tcPr/>
                </a:tc>
                <a:extLst>
                  <a:ext uri="{0D108BD9-81ED-4DB2-BD59-A6C34878D82A}">
                    <a16:rowId xmlns:a16="http://schemas.microsoft.com/office/drawing/2014/main" val="1284146995"/>
                  </a:ext>
                </a:extLst>
              </a:tr>
              <a:tr h="370840">
                <a:tc>
                  <a:txBody>
                    <a:bodyPr/>
                    <a:lstStyle/>
                    <a:p>
                      <a:r>
                        <a:rPr lang="en-US" altLang="zh-CN" dirty="0"/>
                        <a:t>a=-99,b=1</a:t>
                      </a:r>
                      <a:endParaRPr lang="zh-CN" altLang="en-US" dirty="0"/>
                    </a:p>
                  </a:txBody>
                  <a:tcPr/>
                </a:tc>
                <a:tc>
                  <a:txBody>
                    <a:bodyPr/>
                    <a:lstStyle/>
                    <a:p>
                      <a:r>
                        <a:rPr lang="zh-CN" altLang="en-US" dirty="0"/>
                        <a:t>有效输入</a:t>
                      </a:r>
                    </a:p>
                  </a:txBody>
                  <a:tcPr/>
                </a:tc>
                <a:tc>
                  <a:txBody>
                    <a:bodyPr/>
                    <a:lstStyle/>
                    <a:p>
                      <a:r>
                        <a:rPr lang="en-US" altLang="zh-CN" dirty="0"/>
                        <a:t>a</a:t>
                      </a:r>
                      <a:r>
                        <a:rPr lang="zh-CN" altLang="en-US" dirty="0"/>
                        <a:t>，</a:t>
                      </a:r>
                      <a:r>
                        <a:rPr lang="en-US" altLang="zh-CN" dirty="0"/>
                        <a:t>b</a:t>
                      </a:r>
                      <a:r>
                        <a:rPr lang="zh-CN" altLang="en-US" dirty="0"/>
                        <a:t>均不越界</a:t>
                      </a:r>
                    </a:p>
                  </a:txBody>
                  <a:tcPr/>
                </a:tc>
                <a:extLst>
                  <a:ext uri="{0D108BD9-81ED-4DB2-BD59-A6C34878D82A}">
                    <a16:rowId xmlns:a16="http://schemas.microsoft.com/office/drawing/2014/main" val="3813554245"/>
                  </a:ext>
                </a:extLst>
              </a:tr>
              <a:tr h="370840">
                <a:tc>
                  <a:txBody>
                    <a:bodyPr/>
                    <a:lstStyle/>
                    <a:p>
                      <a:r>
                        <a:rPr lang="en-US" altLang="zh-CN" dirty="0"/>
                        <a:t>a=-1</a:t>
                      </a:r>
                      <a:r>
                        <a:rPr lang="zh-CN" altLang="en-US" dirty="0"/>
                        <a:t>，</a:t>
                      </a:r>
                      <a:r>
                        <a:rPr lang="en-US" altLang="zh-CN" dirty="0"/>
                        <a:t>b=1</a:t>
                      </a:r>
                      <a:endParaRPr lang="zh-CN" altLang="en-US" dirty="0"/>
                    </a:p>
                  </a:txBody>
                  <a:tcPr/>
                </a:tc>
                <a:tc>
                  <a:txBody>
                    <a:bodyPr/>
                    <a:lstStyle/>
                    <a:p>
                      <a:r>
                        <a:rPr lang="zh-CN" altLang="en-US" dirty="0"/>
                        <a:t>有效输入</a:t>
                      </a:r>
                    </a:p>
                  </a:txBody>
                  <a:tcPr/>
                </a:tc>
                <a:tc>
                  <a:txBody>
                    <a:bodyPr/>
                    <a:lstStyle/>
                    <a:p>
                      <a:r>
                        <a:rPr lang="en-US" altLang="zh-CN" dirty="0"/>
                        <a:t>a</a:t>
                      </a:r>
                      <a:r>
                        <a:rPr lang="zh-CN" altLang="en-US" dirty="0"/>
                        <a:t>，</a:t>
                      </a:r>
                      <a:r>
                        <a:rPr lang="en-US" altLang="zh-CN" dirty="0"/>
                        <a:t>b</a:t>
                      </a:r>
                      <a:r>
                        <a:rPr lang="zh-CN" altLang="en-US" dirty="0"/>
                        <a:t>均不越界</a:t>
                      </a:r>
                    </a:p>
                  </a:txBody>
                  <a:tcPr/>
                </a:tc>
                <a:extLst>
                  <a:ext uri="{0D108BD9-81ED-4DB2-BD59-A6C34878D82A}">
                    <a16:rowId xmlns:a16="http://schemas.microsoft.com/office/drawing/2014/main" val="1183843317"/>
                  </a:ext>
                </a:extLst>
              </a:tr>
              <a:tr h="370840">
                <a:tc>
                  <a:txBody>
                    <a:bodyPr/>
                    <a:lstStyle/>
                    <a:p>
                      <a:r>
                        <a:rPr lang="en-US" altLang="zh-CN" dirty="0"/>
                        <a:t>a=-101,b=1</a:t>
                      </a:r>
                      <a:endParaRPr lang="zh-CN" altLang="en-US" dirty="0"/>
                    </a:p>
                  </a:txBody>
                  <a:tcPr/>
                </a:tc>
                <a:tc>
                  <a:txBody>
                    <a:bodyPr/>
                    <a:lstStyle/>
                    <a:p>
                      <a:r>
                        <a:rPr lang="zh-CN" altLang="en-US" dirty="0"/>
                        <a:t>报错</a:t>
                      </a:r>
                      <a:endParaRPr lang="en-US" altLang="zh-CN" dirty="0"/>
                    </a:p>
                  </a:txBody>
                  <a:tcPr/>
                </a:tc>
                <a:tc>
                  <a:txBody>
                    <a:bodyPr/>
                    <a:lstStyle/>
                    <a:p>
                      <a:r>
                        <a:rPr lang="en-US" altLang="zh-CN" dirty="0"/>
                        <a:t>a</a:t>
                      </a:r>
                      <a:r>
                        <a:rPr lang="zh-CN" altLang="en-US" dirty="0"/>
                        <a:t>越界</a:t>
                      </a:r>
                    </a:p>
                  </a:txBody>
                  <a:tcPr/>
                </a:tc>
                <a:extLst>
                  <a:ext uri="{0D108BD9-81ED-4DB2-BD59-A6C34878D82A}">
                    <a16:rowId xmlns:a16="http://schemas.microsoft.com/office/drawing/2014/main" val="3558339703"/>
                  </a:ext>
                </a:extLst>
              </a:tr>
              <a:tr h="370840">
                <a:tc>
                  <a:txBody>
                    <a:bodyPr/>
                    <a:lstStyle/>
                    <a:p>
                      <a:r>
                        <a:rPr lang="en-US" altLang="zh-CN" dirty="0"/>
                        <a:t>a=-100,b=1</a:t>
                      </a:r>
                      <a:endParaRPr lang="zh-CN" altLang="en-US" dirty="0"/>
                    </a:p>
                  </a:txBody>
                  <a:tcPr/>
                </a:tc>
                <a:tc>
                  <a:txBody>
                    <a:bodyPr/>
                    <a:lstStyle/>
                    <a:p>
                      <a:r>
                        <a:rPr lang="zh-CN" altLang="en-US" dirty="0"/>
                        <a:t>报错</a:t>
                      </a:r>
                      <a:endParaRPr lang="en-US" altLang="zh-CN" dirty="0"/>
                    </a:p>
                  </a:txBody>
                  <a:tcPr/>
                </a:tc>
                <a:tc>
                  <a:txBody>
                    <a:bodyPr/>
                    <a:lstStyle/>
                    <a:p>
                      <a:r>
                        <a:rPr lang="en-US" altLang="zh-CN" dirty="0"/>
                        <a:t>a</a:t>
                      </a:r>
                      <a:r>
                        <a:rPr lang="zh-CN" altLang="en-US" dirty="0"/>
                        <a:t>越界</a:t>
                      </a:r>
                    </a:p>
                  </a:txBody>
                  <a:tcPr/>
                </a:tc>
                <a:extLst>
                  <a:ext uri="{0D108BD9-81ED-4DB2-BD59-A6C34878D82A}">
                    <a16:rowId xmlns:a16="http://schemas.microsoft.com/office/drawing/2014/main" val="1730710255"/>
                  </a:ext>
                </a:extLst>
              </a:tr>
              <a:tr h="370840">
                <a:tc>
                  <a:txBody>
                    <a:bodyPr/>
                    <a:lstStyle/>
                    <a:p>
                      <a:r>
                        <a:rPr lang="en-US" altLang="zh-CN" dirty="0"/>
                        <a:t>a=0,b=1</a:t>
                      </a:r>
                      <a:endParaRPr lang="zh-CN" altLang="en-US" dirty="0"/>
                    </a:p>
                  </a:txBody>
                  <a:tcPr/>
                </a:tc>
                <a:tc>
                  <a:txBody>
                    <a:bodyPr/>
                    <a:lstStyle/>
                    <a:p>
                      <a:r>
                        <a:rPr lang="zh-CN" altLang="en-US" dirty="0"/>
                        <a:t>报错</a:t>
                      </a:r>
                      <a:endParaRPr lang="en-US" altLang="zh-CN" dirty="0"/>
                    </a:p>
                  </a:txBody>
                  <a:tcPr/>
                </a:tc>
                <a:tc>
                  <a:txBody>
                    <a:bodyPr/>
                    <a:lstStyle/>
                    <a:p>
                      <a:r>
                        <a:rPr lang="en-US" altLang="zh-CN" dirty="0"/>
                        <a:t>a</a:t>
                      </a:r>
                      <a:r>
                        <a:rPr lang="zh-CN" altLang="en-US" dirty="0"/>
                        <a:t>越界</a:t>
                      </a:r>
                    </a:p>
                  </a:txBody>
                  <a:tcPr/>
                </a:tc>
                <a:extLst>
                  <a:ext uri="{0D108BD9-81ED-4DB2-BD59-A6C34878D82A}">
                    <a16:rowId xmlns:a16="http://schemas.microsoft.com/office/drawing/2014/main" val="2252102799"/>
                  </a:ext>
                </a:extLst>
              </a:tr>
              <a:tr h="370840">
                <a:tc>
                  <a:txBody>
                    <a:bodyPr/>
                    <a:lstStyle/>
                    <a:p>
                      <a:r>
                        <a:rPr lang="en-US" altLang="zh-CN" dirty="0"/>
                        <a:t>a=1,b=1</a:t>
                      </a:r>
                      <a:endParaRPr lang="zh-CN" altLang="en-US" dirty="0"/>
                    </a:p>
                  </a:txBody>
                  <a:tcPr/>
                </a:tc>
                <a:tc>
                  <a:txBody>
                    <a:bodyPr/>
                    <a:lstStyle/>
                    <a:p>
                      <a:r>
                        <a:rPr lang="zh-CN" altLang="en-US" dirty="0"/>
                        <a:t>报错</a:t>
                      </a:r>
                      <a:endParaRPr lang="en-US" altLang="zh-CN" dirty="0"/>
                    </a:p>
                  </a:txBody>
                  <a:tcPr/>
                </a:tc>
                <a:tc>
                  <a:txBody>
                    <a:bodyPr/>
                    <a:lstStyle/>
                    <a:p>
                      <a:r>
                        <a:rPr lang="en-US" altLang="zh-CN" dirty="0"/>
                        <a:t>a</a:t>
                      </a:r>
                      <a:r>
                        <a:rPr lang="zh-CN" altLang="en-US" dirty="0"/>
                        <a:t>越界</a:t>
                      </a:r>
                    </a:p>
                  </a:txBody>
                  <a:tcPr/>
                </a:tc>
                <a:extLst>
                  <a:ext uri="{0D108BD9-81ED-4DB2-BD59-A6C34878D82A}">
                    <a16:rowId xmlns:a16="http://schemas.microsoft.com/office/drawing/2014/main" val="2526243470"/>
                  </a:ext>
                </a:extLst>
              </a:tr>
              <a:tr h="370840">
                <a:tc>
                  <a:txBody>
                    <a:bodyPr/>
                    <a:lstStyle/>
                    <a:p>
                      <a:r>
                        <a:rPr lang="en-US" altLang="zh-CN" dirty="0"/>
                        <a:t>a=-99,b=-1</a:t>
                      </a:r>
                      <a:endParaRPr lang="zh-CN" altLang="en-US" dirty="0"/>
                    </a:p>
                  </a:txBody>
                  <a:tcPr/>
                </a:tc>
                <a:tc>
                  <a:txBody>
                    <a:bodyPr/>
                    <a:lstStyle/>
                    <a:p>
                      <a:r>
                        <a:rPr lang="zh-CN" altLang="en-US" dirty="0"/>
                        <a:t>报错</a:t>
                      </a:r>
                      <a:endParaRPr lang="en-US" altLang="zh-CN" dirty="0"/>
                    </a:p>
                  </a:txBody>
                  <a:tcPr/>
                </a:tc>
                <a:tc>
                  <a:txBody>
                    <a:bodyPr/>
                    <a:lstStyle/>
                    <a:p>
                      <a:r>
                        <a:rPr lang="en-US" altLang="zh-CN" dirty="0"/>
                        <a:t>b</a:t>
                      </a:r>
                      <a:r>
                        <a:rPr lang="zh-CN" altLang="en-US" dirty="0"/>
                        <a:t>越界</a:t>
                      </a:r>
                    </a:p>
                  </a:txBody>
                  <a:tcPr/>
                </a:tc>
                <a:extLst>
                  <a:ext uri="{0D108BD9-81ED-4DB2-BD59-A6C34878D82A}">
                    <a16:rowId xmlns:a16="http://schemas.microsoft.com/office/drawing/2014/main" val="193767182"/>
                  </a:ext>
                </a:extLst>
              </a:tr>
              <a:tr h="370840">
                <a:tc>
                  <a:txBody>
                    <a:bodyPr/>
                    <a:lstStyle/>
                    <a:p>
                      <a:r>
                        <a:rPr lang="en-US" altLang="zh-CN" dirty="0"/>
                        <a:t>a=-99,b=0</a:t>
                      </a:r>
                      <a:endParaRPr lang="zh-CN" altLang="en-US" dirty="0"/>
                    </a:p>
                  </a:txBody>
                  <a:tcPr/>
                </a:tc>
                <a:tc>
                  <a:txBody>
                    <a:bodyPr/>
                    <a:lstStyle/>
                    <a:p>
                      <a:r>
                        <a:rPr lang="zh-CN" altLang="en-US" dirty="0"/>
                        <a:t>报错</a:t>
                      </a:r>
                      <a:endParaRPr lang="en-US" altLang="zh-CN" dirty="0"/>
                    </a:p>
                  </a:txBody>
                  <a:tcPr/>
                </a:tc>
                <a:tc>
                  <a:txBody>
                    <a:bodyPr/>
                    <a:lstStyle/>
                    <a:p>
                      <a:r>
                        <a:rPr lang="en-US" altLang="zh-CN" dirty="0"/>
                        <a:t>b</a:t>
                      </a:r>
                      <a:r>
                        <a:rPr lang="zh-CN" altLang="en-US" dirty="0"/>
                        <a:t>越界</a:t>
                      </a:r>
                    </a:p>
                  </a:txBody>
                  <a:tcPr/>
                </a:tc>
                <a:extLst>
                  <a:ext uri="{0D108BD9-81ED-4DB2-BD59-A6C34878D82A}">
                    <a16:rowId xmlns:a16="http://schemas.microsoft.com/office/drawing/2014/main" val="3323710800"/>
                  </a:ext>
                </a:extLst>
              </a:tr>
              <a:tr h="370840">
                <a:tc>
                  <a:txBody>
                    <a:bodyPr/>
                    <a:lstStyle/>
                    <a:p>
                      <a:r>
                        <a:rPr lang="en-US" altLang="zh-CN" dirty="0"/>
                        <a:t>a=-99,b=99</a:t>
                      </a:r>
                      <a:endParaRPr lang="zh-CN" altLang="en-US" dirty="0"/>
                    </a:p>
                  </a:txBody>
                  <a:tcPr/>
                </a:tc>
                <a:tc>
                  <a:txBody>
                    <a:bodyPr/>
                    <a:lstStyle/>
                    <a:p>
                      <a:r>
                        <a:rPr lang="zh-CN" altLang="en-US" dirty="0"/>
                        <a:t>报错</a:t>
                      </a:r>
                      <a:endParaRPr lang="en-US" altLang="zh-CN" dirty="0"/>
                    </a:p>
                  </a:txBody>
                  <a:tcPr/>
                </a:tc>
                <a:tc>
                  <a:txBody>
                    <a:bodyPr/>
                    <a:lstStyle/>
                    <a:p>
                      <a:r>
                        <a:rPr lang="en-US" altLang="zh-CN" dirty="0"/>
                        <a:t>b</a:t>
                      </a:r>
                      <a:r>
                        <a:rPr lang="zh-CN" altLang="en-US" dirty="0"/>
                        <a:t>越界</a:t>
                      </a:r>
                    </a:p>
                  </a:txBody>
                  <a:tcPr/>
                </a:tc>
                <a:extLst>
                  <a:ext uri="{0D108BD9-81ED-4DB2-BD59-A6C34878D82A}">
                    <a16:rowId xmlns:a16="http://schemas.microsoft.com/office/drawing/2014/main" val="3666289417"/>
                  </a:ext>
                </a:extLst>
              </a:tr>
              <a:tr h="370840">
                <a:tc>
                  <a:txBody>
                    <a:bodyPr/>
                    <a:lstStyle/>
                    <a:p>
                      <a:r>
                        <a:rPr lang="en-US" altLang="zh-CN" dirty="0"/>
                        <a:t>a=-99,b=100</a:t>
                      </a:r>
                      <a:endParaRPr lang="zh-CN" altLang="en-US" dirty="0"/>
                    </a:p>
                  </a:txBody>
                  <a:tcPr/>
                </a:tc>
                <a:tc>
                  <a:txBody>
                    <a:bodyPr/>
                    <a:lstStyle/>
                    <a:p>
                      <a:r>
                        <a:rPr lang="zh-CN" altLang="en-US" dirty="0"/>
                        <a:t>报错</a:t>
                      </a:r>
                      <a:endParaRPr lang="en-US" altLang="zh-CN" dirty="0"/>
                    </a:p>
                  </a:txBody>
                  <a:tcPr/>
                </a:tc>
                <a:tc>
                  <a:txBody>
                    <a:bodyPr/>
                    <a:lstStyle/>
                    <a:p>
                      <a:r>
                        <a:rPr lang="en-US" altLang="zh-CN" dirty="0"/>
                        <a:t>b</a:t>
                      </a:r>
                      <a:r>
                        <a:rPr lang="zh-CN" altLang="en-US" dirty="0"/>
                        <a:t>越界</a:t>
                      </a:r>
                    </a:p>
                  </a:txBody>
                  <a:tcPr/>
                </a:tc>
                <a:extLst>
                  <a:ext uri="{0D108BD9-81ED-4DB2-BD59-A6C34878D82A}">
                    <a16:rowId xmlns:a16="http://schemas.microsoft.com/office/drawing/2014/main" val="4248317073"/>
                  </a:ext>
                </a:extLst>
              </a:tr>
              <a:tr h="370840">
                <a:tc>
                  <a:txBody>
                    <a:bodyPr/>
                    <a:lstStyle/>
                    <a:p>
                      <a:r>
                        <a:rPr lang="en-US" altLang="zh-CN" dirty="0"/>
                        <a:t>a=-99,b=101</a:t>
                      </a:r>
                      <a:endParaRPr lang="zh-CN" altLang="en-US" dirty="0"/>
                    </a:p>
                  </a:txBody>
                  <a:tcPr/>
                </a:tc>
                <a:tc>
                  <a:txBody>
                    <a:bodyPr/>
                    <a:lstStyle/>
                    <a:p>
                      <a:r>
                        <a:rPr lang="zh-CN" altLang="en-US" dirty="0"/>
                        <a:t>报错</a:t>
                      </a:r>
                      <a:endParaRPr lang="en-US" altLang="zh-CN" dirty="0"/>
                    </a:p>
                  </a:txBody>
                  <a:tcPr/>
                </a:tc>
                <a:tc>
                  <a:txBody>
                    <a:bodyPr/>
                    <a:lstStyle/>
                    <a:p>
                      <a:r>
                        <a:rPr lang="en-US" altLang="zh-CN" dirty="0"/>
                        <a:t>b</a:t>
                      </a:r>
                      <a:r>
                        <a:rPr lang="zh-CN" altLang="en-US" dirty="0"/>
                        <a:t>越界</a:t>
                      </a:r>
                    </a:p>
                  </a:txBody>
                  <a:tcPr/>
                </a:tc>
                <a:extLst>
                  <a:ext uri="{0D108BD9-81ED-4DB2-BD59-A6C34878D82A}">
                    <a16:rowId xmlns:a16="http://schemas.microsoft.com/office/drawing/2014/main" val="923975543"/>
                  </a:ext>
                </a:extLst>
              </a:tr>
              <a:tr h="370840">
                <a:tc>
                  <a:txBody>
                    <a:bodyPr/>
                    <a:lstStyle/>
                    <a:p>
                      <a:r>
                        <a:rPr lang="en-US" altLang="zh-CN" dirty="0"/>
                        <a:t>a=-101,b=101</a:t>
                      </a:r>
                      <a:endParaRPr lang="zh-CN" altLang="en-US" dirty="0"/>
                    </a:p>
                  </a:txBody>
                  <a:tcPr/>
                </a:tc>
                <a:tc>
                  <a:txBody>
                    <a:bodyPr/>
                    <a:lstStyle/>
                    <a:p>
                      <a:r>
                        <a:rPr lang="zh-CN" altLang="en-US" dirty="0"/>
                        <a:t>有效输入</a:t>
                      </a:r>
                    </a:p>
                  </a:txBody>
                  <a:tcPr/>
                </a:tc>
                <a:tc>
                  <a:txBody>
                    <a:bodyPr/>
                    <a:lstStyle/>
                    <a:p>
                      <a:r>
                        <a:rPr lang="en-US" altLang="zh-CN" dirty="0"/>
                        <a:t>a</a:t>
                      </a:r>
                      <a:r>
                        <a:rPr lang="zh-CN" altLang="en-US" dirty="0"/>
                        <a:t>，</a:t>
                      </a:r>
                      <a:r>
                        <a:rPr lang="en-US" altLang="zh-CN" dirty="0"/>
                        <a:t>b</a:t>
                      </a:r>
                      <a:r>
                        <a:rPr lang="zh-CN" altLang="en-US" dirty="0"/>
                        <a:t>均越界</a:t>
                      </a:r>
                    </a:p>
                  </a:txBody>
                  <a:tcPr/>
                </a:tc>
                <a:extLst>
                  <a:ext uri="{0D108BD9-81ED-4DB2-BD59-A6C34878D82A}">
                    <a16:rowId xmlns:a16="http://schemas.microsoft.com/office/drawing/2014/main" val="2665729040"/>
                  </a:ext>
                </a:extLst>
              </a:tr>
            </a:tbl>
          </a:graphicData>
        </a:graphic>
      </p:graphicFrame>
    </p:spTree>
    <p:extLst>
      <p:ext uri="{BB962C8B-B14F-4D97-AF65-F5344CB8AC3E}">
        <p14:creationId xmlns:p14="http://schemas.microsoft.com/office/powerpoint/2010/main" val="924818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952168"/>
            <a:ext cx="10515600" cy="3139613"/>
          </a:xfrm>
        </p:spPr>
        <p:txBody>
          <a:bodyPr>
            <a:noAutofit/>
          </a:bodyPr>
          <a:lstStyle/>
          <a:p>
            <a:pPr>
              <a:lnSpc>
                <a:spcPct val="100000"/>
              </a:lnSpc>
            </a:pPr>
            <a:r>
              <a:rPr lang="en-US" altLang="zh-CN" sz="2800" dirty="0"/>
              <a:t>【</a:t>
            </a:r>
            <a:r>
              <a:rPr lang="zh-CN" altLang="en-US" sz="2800" dirty="0"/>
              <a:t>应用</a:t>
            </a:r>
            <a:r>
              <a:rPr lang="en-US" altLang="zh-CN" sz="2800" dirty="0"/>
              <a:t>】</a:t>
            </a:r>
            <a:r>
              <a:rPr lang="zh-CN" altLang="en-US" sz="2800" dirty="0"/>
              <a:t>画出与图</a:t>
            </a:r>
            <a:r>
              <a:rPr lang="en-US" altLang="zh-CN" sz="2800" dirty="0"/>
              <a:t>1</a:t>
            </a:r>
            <a:r>
              <a:rPr lang="zh-CN" altLang="en-US" sz="2800" dirty="0"/>
              <a:t>所示的程序流程图对应的程序图，并试计算其循环复杂度（ ）</a:t>
            </a:r>
            <a:br>
              <a:rPr lang="zh-CN" altLang="en-US" sz="2800" dirty="0"/>
            </a:br>
            <a:br>
              <a:rPr lang="zh-CN" altLang="en-US" sz="2800" dirty="0"/>
            </a:br>
            <a:br>
              <a:rPr lang="zh-CN" altLang="en-US" sz="2800" dirty="0"/>
            </a:br>
            <a:endParaRPr lang="zh-CN" altLang="en-US" sz="2800" dirty="0"/>
          </a:p>
        </p:txBody>
      </p:sp>
      <p:sp>
        <p:nvSpPr>
          <p:cNvPr id="3" name="内容占位符 2">
            <a:extLst>
              <a:ext uri="{FF2B5EF4-FFF2-40B4-BE49-F238E27FC236}">
                <a16:creationId xmlns:a16="http://schemas.microsoft.com/office/drawing/2014/main" id="{D54C0793-9169-4E87-B362-402F72EAB6E4}"/>
              </a:ext>
            </a:extLst>
          </p:cNvPr>
          <p:cNvSpPr>
            <a:spLocks noGrp="1"/>
          </p:cNvSpPr>
          <p:nvPr>
            <p:ph idx="1"/>
          </p:nvPr>
        </p:nvSpPr>
        <p:spPr>
          <a:xfrm>
            <a:off x="838200" y="5800683"/>
            <a:ext cx="10515600" cy="1057317"/>
          </a:xfrm>
        </p:spPr>
        <p:txBody>
          <a:bodyPr>
            <a:normAutofit/>
          </a:bodyPr>
          <a:lstStyle/>
          <a:p>
            <a:r>
              <a:rPr lang="zh-CN" altLang="en-US" dirty="0"/>
              <a:t>答案：循环复杂度</a:t>
            </a:r>
            <a:r>
              <a:rPr lang="zh-CN" altLang="zh-CN" dirty="0"/>
              <a:t>：</a:t>
            </a:r>
            <a:r>
              <a:rPr lang="en-US" altLang="zh-CN" dirty="0"/>
              <a:t>V</a:t>
            </a:r>
            <a:r>
              <a:rPr lang="zh-CN" altLang="zh-CN" dirty="0"/>
              <a:t>（</a:t>
            </a:r>
            <a:r>
              <a:rPr lang="en-US" altLang="zh-CN" dirty="0"/>
              <a:t>G</a:t>
            </a:r>
            <a:r>
              <a:rPr lang="zh-CN" altLang="zh-CN" dirty="0"/>
              <a:t>）</a:t>
            </a:r>
            <a:r>
              <a:rPr lang="en-US" altLang="zh-CN" dirty="0"/>
              <a:t>=E –N +2=13 –10 +2=5</a:t>
            </a:r>
          </a:p>
        </p:txBody>
      </p:sp>
      <p:pic>
        <p:nvPicPr>
          <p:cNvPr id="6" name="图片 5">
            <a:extLst>
              <a:ext uri="{FF2B5EF4-FFF2-40B4-BE49-F238E27FC236}">
                <a16:creationId xmlns:a16="http://schemas.microsoft.com/office/drawing/2014/main" id="{D41C1554-6440-479F-AEE9-750484CC31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9986" y="2521974"/>
            <a:ext cx="3954814" cy="3103007"/>
          </a:xfrm>
          <a:prstGeom prst="rect">
            <a:avLst/>
          </a:prstGeom>
        </p:spPr>
      </p:pic>
      <p:pic>
        <p:nvPicPr>
          <p:cNvPr id="11" name="图片 10">
            <a:extLst>
              <a:ext uri="{FF2B5EF4-FFF2-40B4-BE49-F238E27FC236}">
                <a16:creationId xmlns:a16="http://schemas.microsoft.com/office/drawing/2014/main" id="{DA54BF53-8F54-47B0-8D40-2683909423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3401" y="2329874"/>
            <a:ext cx="3016370" cy="3256083"/>
          </a:xfrm>
          <a:prstGeom prst="rect">
            <a:avLst/>
          </a:prstGeom>
        </p:spPr>
      </p:pic>
    </p:spTree>
    <p:extLst>
      <p:ext uri="{BB962C8B-B14F-4D97-AF65-F5344CB8AC3E}">
        <p14:creationId xmlns:p14="http://schemas.microsoft.com/office/powerpoint/2010/main" val="2103926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434340" y="182548"/>
            <a:ext cx="10515600" cy="3139613"/>
          </a:xfrm>
        </p:spPr>
        <p:txBody>
          <a:bodyPr>
            <a:noAutofit/>
          </a:bodyPr>
          <a:lstStyle/>
          <a:p>
            <a:pPr>
              <a:lnSpc>
                <a:spcPct val="100000"/>
              </a:lnSpc>
            </a:pPr>
            <a:r>
              <a:rPr lang="en-US" altLang="zh-CN" sz="2800" dirty="0"/>
              <a:t>【</a:t>
            </a:r>
            <a:r>
              <a:rPr lang="zh-CN" altLang="en-US" sz="2800" dirty="0"/>
              <a:t>应用</a:t>
            </a:r>
            <a:r>
              <a:rPr lang="en-US" altLang="zh-CN" sz="2800" dirty="0"/>
              <a:t>】</a:t>
            </a:r>
            <a:r>
              <a:rPr lang="zh-CN" altLang="en-US" sz="2800" dirty="0"/>
              <a:t>输入三整数</a:t>
            </a:r>
            <a:r>
              <a:rPr lang="en-US" altLang="zh-CN" sz="2800" dirty="0"/>
              <a:t>,</a:t>
            </a:r>
            <a:r>
              <a:rPr lang="zh-CN" altLang="en-US" sz="2800" dirty="0"/>
              <a:t>判断是否构成三角形</a:t>
            </a:r>
            <a:r>
              <a:rPr lang="en-US" altLang="zh-CN" sz="2800" dirty="0"/>
              <a:t>,</a:t>
            </a:r>
            <a:r>
              <a:rPr lang="zh-CN" altLang="en-US" sz="2800" dirty="0"/>
              <a:t>如构成三角形</a:t>
            </a:r>
            <a:r>
              <a:rPr lang="en-US" altLang="zh-CN" sz="2800" dirty="0"/>
              <a:t>,</a:t>
            </a:r>
            <a:r>
              <a:rPr lang="zh-CN" altLang="en-US" sz="2800" dirty="0"/>
              <a:t>则输出三条边的值</a:t>
            </a:r>
            <a:r>
              <a:rPr lang="en-US" altLang="zh-CN" sz="2800" dirty="0"/>
              <a:t>,</a:t>
            </a:r>
            <a:r>
              <a:rPr lang="zh-CN" altLang="en-US" sz="2800" dirty="0"/>
              <a:t>否则输出”不能构成三角形”</a:t>
            </a:r>
            <a:r>
              <a:rPr lang="en-US" altLang="zh-CN" sz="2800" dirty="0"/>
              <a:t>.  </a:t>
            </a:r>
            <a:r>
              <a:rPr lang="zh-CN" altLang="en-US" sz="2800" dirty="0"/>
              <a:t>要求</a:t>
            </a:r>
            <a:r>
              <a:rPr lang="en-US" altLang="zh-CN" sz="2800" dirty="0"/>
              <a:t>:1.</a:t>
            </a:r>
            <a:r>
              <a:rPr lang="zh-CN" altLang="en-US" sz="2800" dirty="0"/>
              <a:t>用程序流程图表示该问题的算法；</a:t>
            </a:r>
            <a:r>
              <a:rPr lang="en-US" altLang="zh-CN" sz="2800" dirty="0"/>
              <a:t>2.</a:t>
            </a:r>
            <a:r>
              <a:rPr lang="zh-CN" altLang="en-US" sz="2800" dirty="0"/>
              <a:t>计算程序复杂度； </a:t>
            </a:r>
            <a:r>
              <a:rPr lang="en-US" altLang="zh-CN" sz="2800" dirty="0"/>
              <a:t>3.</a:t>
            </a:r>
            <a:r>
              <a:rPr lang="zh-CN" altLang="en-US" sz="2800" dirty="0"/>
              <a:t>设计路径覆盖的测试用例。</a:t>
            </a:r>
            <a:br>
              <a:rPr lang="zh-CN" altLang="en-US" sz="2800" dirty="0"/>
            </a:br>
            <a:br>
              <a:rPr lang="zh-CN" altLang="en-US" sz="2800" dirty="0"/>
            </a:br>
            <a:endParaRPr lang="zh-CN" altLang="en-US" sz="2800" dirty="0"/>
          </a:p>
        </p:txBody>
      </p:sp>
      <p:pic>
        <p:nvPicPr>
          <p:cNvPr id="8" name="图片 7">
            <a:extLst>
              <a:ext uri="{FF2B5EF4-FFF2-40B4-BE49-F238E27FC236}">
                <a16:creationId xmlns:a16="http://schemas.microsoft.com/office/drawing/2014/main" id="{1E56C563-2F9D-4A64-B046-A4CCEC0E33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1538" y="2457443"/>
            <a:ext cx="3078962" cy="3962826"/>
          </a:xfrm>
          <a:prstGeom prst="rect">
            <a:avLst/>
          </a:prstGeom>
        </p:spPr>
      </p:pic>
      <p:pic>
        <p:nvPicPr>
          <p:cNvPr id="10" name="图片 9">
            <a:extLst>
              <a:ext uri="{FF2B5EF4-FFF2-40B4-BE49-F238E27FC236}">
                <a16:creationId xmlns:a16="http://schemas.microsoft.com/office/drawing/2014/main" id="{27E3F765-6CD3-4026-B459-DE59245A68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1092" y="2416644"/>
            <a:ext cx="1253968" cy="3466858"/>
          </a:xfrm>
          <a:prstGeom prst="rect">
            <a:avLst/>
          </a:prstGeom>
        </p:spPr>
      </p:pic>
      <p:pic>
        <p:nvPicPr>
          <p:cNvPr id="13" name="图片 12">
            <a:extLst>
              <a:ext uri="{FF2B5EF4-FFF2-40B4-BE49-F238E27FC236}">
                <a16:creationId xmlns:a16="http://schemas.microsoft.com/office/drawing/2014/main" id="{661164E2-AEDA-4E0A-AE76-C3A9315FA8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89596" y="2487923"/>
            <a:ext cx="2419048" cy="1371429"/>
          </a:xfrm>
          <a:prstGeom prst="rect">
            <a:avLst/>
          </a:prstGeom>
        </p:spPr>
      </p:pic>
      <p:sp>
        <p:nvSpPr>
          <p:cNvPr id="15" name="文本框 14">
            <a:extLst>
              <a:ext uri="{FF2B5EF4-FFF2-40B4-BE49-F238E27FC236}">
                <a16:creationId xmlns:a16="http://schemas.microsoft.com/office/drawing/2014/main" id="{8DCC902B-3642-4A2A-838B-080B4BE84F79}"/>
              </a:ext>
            </a:extLst>
          </p:cNvPr>
          <p:cNvSpPr txBox="1"/>
          <p:nvPr/>
        </p:nvSpPr>
        <p:spPr>
          <a:xfrm>
            <a:off x="4671060" y="6050937"/>
            <a:ext cx="1737360" cy="369332"/>
          </a:xfrm>
          <a:prstGeom prst="rect">
            <a:avLst/>
          </a:prstGeom>
          <a:noFill/>
        </p:spPr>
        <p:txBody>
          <a:bodyPr wrap="square">
            <a:spAutoFit/>
          </a:bodyPr>
          <a:lstStyle/>
          <a:p>
            <a:r>
              <a:rPr lang="zh-CN" altLang="en-US" sz="1800" dirty="0"/>
              <a:t>程序复杂度为</a:t>
            </a:r>
            <a:r>
              <a:rPr lang="en-US" altLang="zh-CN" sz="1800" dirty="0"/>
              <a:t>4</a:t>
            </a:r>
            <a:endParaRPr lang="zh-CN" altLang="en-US" dirty="0"/>
          </a:p>
        </p:txBody>
      </p:sp>
      <p:sp>
        <p:nvSpPr>
          <p:cNvPr id="16" name="文本框 15">
            <a:extLst>
              <a:ext uri="{FF2B5EF4-FFF2-40B4-BE49-F238E27FC236}">
                <a16:creationId xmlns:a16="http://schemas.microsoft.com/office/drawing/2014/main" id="{14B8A88A-6029-4345-84D1-D8BB42CDDE46}"/>
              </a:ext>
            </a:extLst>
          </p:cNvPr>
          <p:cNvSpPr txBox="1"/>
          <p:nvPr/>
        </p:nvSpPr>
        <p:spPr>
          <a:xfrm>
            <a:off x="6989596" y="2122820"/>
            <a:ext cx="1737360" cy="369332"/>
          </a:xfrm>
          <a:prstGeom prst="rect">
            <a:avLst/>
          </a:prstGeom>
          <a:noFill/>
        </p:spPr>
        <p:txBody>
          <a:bodyPr wrap="square">
            <a:spAutoFit/>
          </a:bodyPr>
          <a:lstStyle/>
          <a:p>
            <a:r>
              <a:rPr lang="en-US" altLang="zh-CN" sz="1800" dirty="0"/>
              <a:t>4</a:t>
            </a:r>
            <a:r>
              <a:rPr lang="zh-CN" altLang="en-US" sz="1800" dirty="0"/>
              <a:t>条独立路径为：</a:t>
            </a:r>
            <a:endParaRPr lang="zh-CN" altLang="en-US" dirty="0"/>
          </a:p>
        </p:txBody>
      </p:sp>
      <p:pic>
        <p:nvPicPr>
          <p:cNvPr id="18" name="图片 17">
            <a:extLst>
              <a:ext uri="{FF2B5EF4-FFF2-40B4-BE49-F238E27FC236}">
                <a16:creationId xmlns:a16="http://schemas.microsoft.com/office/drawing/2014/main" id="{EC212995-82D3-4BB2-A73F-7C35DECBB20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80072" y="4262825"/>
            <a:ext cx="4857143" cy="1771429"/>
          </a:xfrm>
          <a:prstGeom prst="rect">
            <a:avLst/>
          </a:prstGeom>
        </p:spPr>
      </p:pic>
    </p:spTree>
    <p:extLst>
      <p:ext uri="{BB962C8B-B14F-4D97-AF65-F5344CB8AC3E}">
        <p14:creationId xmlns:p14="http://schemas.microsoft.com/office/powerpoint/2010/main" val="724469628"/>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3D077-9789-4529-8416-27B6507ECCDA}"/>
              </a:ext>
            </a:extLst>
          </p:cNvPr>
          <p:cNvSpPr>
            <a:spLocks noGrp="1"/>
          </p:cNvSpPr>
          <p:nvPr>
            <p:ph type="title"/>
          </p:nvPr>
        </p:nvSpPr>
        <p:spPr>
          <a:xfrm>
            <a:off x="838200" y="1547254"/>
            <a:ext cx="10515600" cy="3139613"/>
          </a:xfrm>
        </p:spPr>
        <p:txBody>
          <a:bodyPr>
            <a:noAutofit/>
          </a:bodyPr>
          <a:lstStyle/>
          <a:p>
            <a:pPr>
              <a:lnSpc>
                <a:spcPct val="100000"/>
              </a:lnSpc>
            </a:pPr>
            <a:r>
              <a:rPr lang="en-US" altLang="zh-CN" sz="2800" dirty="0"/>
              <a:t>【</a:t>
            </a:r>
            <a:r>
              <a:rPr lang="zh-CN" altLang="en-US" sz="2800" dirty="0"/>
              <a:t>应用</a:t>
            </a:r>
            <a:r>
              <a:rPr lang="en-US" altLang="zh-CN" sz="2800" dirty="0"/>
              <a:t>】</a:t>
            </a:r>
            <a:r>
              <a:rPr lang="zh-CN" altLang="en-US" sz="2800" dirty="0"/>
              <a:t>某学籍管理系统需要输入学生代码。合法的代码符合以下</a:t>
            </a:r>
            <a:r>
              <a:rPr lang="en-US" altLang="zh-CN" sz="2800" dirty="0"/>
              <a:t>3</a:t>
            </a:r>
            <a:r>
              <a:rPr lang="zh-CN" altLang="en-US" sz="2800" dirty="0"/>
              <a:t>条规则：</a:t>
            </a:r>
            <a:br>
              <a:rPr lang="zh-CN" altLang="en-US" sz="2800" dirty="0"/>
            </a:br>
            <a:r>
              <a:rPr lang="zh-CN" altLang="en-US" sz="2800" dirty="0"/>
              <a:t>（</a:t>
            </a:r>
            <a:r>
              <a:rPr lang="en-US" altLang="zh-CN" sz="2800" dirty="0"/>
              <a:t>1</a:t>
            </a:r>
            <a:r>
              <a:rPr lang="zh-CN" altLang="en-US" sz="2800" dirty="0"/>
              <a:t>）由</a:t>
            </a:r>
            <a:r>
              <a:rPr lang="en-US" altLang="zh-CN" sz="2800" dirty="0"/>
              <a:t>6</a:t>
            </a:r>
            <a:r>
              <a:rPr lang="zh-CN" altLang="en-US" sz="2800" dirty="0"/>
              <a:t>位数字构成；</a:t>
            </a:r>
            <a:br>
              <a:rPr lang="zh-CN" altLang="en-US" sz="2800" dirty="0"/>
            </a:br>
            <a:r>
              <a:rPr lang="zh-CN" altLang="en-US" sz="2800" dirty="0"/>
              <a:t>（</a:t>
            </a:r>
            <a:r>
              <a:rPr lang="en-US" altLang="zh-CN" sz="2800" dirty="0"/>
              <a:t>2</a:t>
            </a:r>
            <a:r>
              <a:rPr lang="zh-CN" altLang="en-US" sz="2800" dirty="0"/>
              <a:t>）前四位是入学年份</a:t>
            </a:r>
            <a:r>
              <a:rPr lang="en-US" altLang="zh-CN" sz="2800" dirty="0"/>
              <a:t>(2010—2014)</a:t>
            </a:r>
            <a:r>
              <a:rPr lang="zh-CN" altLang="en-US" sz="2800" dirty="0"/>
              <a:t>；</a:t>
            </a:r>
            <a:br>
              <a:rPr lang="zh-CN" altLang="en-US" sz="2800" dirty="0"/>
            </a:br>
            <a:r>
              <a:rPr lang="zh-CN" altLang="en-US" sz="2800" dirty="0"/>
              <a:t>（</a:t>
            </a:r>
            <a:r>
              <a:rPr lang="en-US" altLang="zh-CN" sz="2800" dirty="0"/>
              <a:t>3</a:t>
            </a:r>
            <a:r>
              <a:rPr lang="zh-CN" altLang="en-US" sz="2800" dirty="0"/>
              <a:t>）后</a:t>
            </a:r>
            <a:r>
              <a:rPr lang="en-US" altLang="zh-CN" sz="2800" dirty="0"/>
              <a:t>2</a:t>
            </a:r>
            <a:r>
              <a:rPr lang="zh-CN" altLang="en-US" sz="2800" dirty="0"/>
              <a:t>位是专业类别</a:t>
            </a:r>
            <a:r>
              <a:rPr lang="en-US" altLang="zh-CN" sz="2800" dirty="0"/>
              <a:t>(01-12)</a:t>
            </a:r>
            <a:r>
              <a:rPr lang="zh-CN" altLang="en-US" sz="2800" dirty="0"/>
              <a:t>。</a:t>
            </a:r>
            <a:br>
              <a:rPr lang="zh-CN" altLang="en-US" sz="2800" dirty="0"/>
            </a:br>
            <a:r>
              <a:rPr lang="zh-CN" altLang="en-US" sz="2800" dirty="0"/>
              <a:t>   采用等价类划分法进行测试，请列出测试等价类表、设计测试用例。</a:t>
            </a:r>
            <a:br>
              <a:rPr lang="zh-CN" altLang="en-US" sz="2800" dirty="0"/>
            </a:br>
            <a:br>
              <a:rPr lang="en-US" altLang="zh-CN" sz="2800" dirty="0"/>
            </a:br>
            <a:br>
              <a:rPr lang="en-US" altLang="zh-CN" sz="2800" dirty="0"/>
            </a:br>
            <a:br>
              <a:rPr lang="en-US" altLang="zh-CN" sz="2800" dirty="0"/>
            </a:br>
            <a:br>
              <a:rPr lang="en-US" altLang="zh-CN" sz="2800" dirty="0"/>
            </a:br>
            <a:endParaRPr lang="zh-CN" altLang="en-US" sz="2800" dirty="0"/>
          </a:p>
        </p:txBody>
      </p:sp>
      <p:pic>
        <p:nvPicPr>
          <p:cNvPr id="4" name="图片 3">
            <a:extLst>
              <a:ext uri="{FF2B5EF4-FFF2-40B4-BE49-F238E27FC236}">
                <a16:creationId xmlns:a16="http://schemas.microsoft.com/office/drawing/2014/main" id="{663C9B38-3F74-4AEF-9E02-0A5407C9E4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0182" y="3346665"/>
            <a:ext cx="7012204" cy="3431505"/>
          </a:xfrm>
          <a:prstGeom prst="rect">
            <a:avLst/>
          </a:prstGeom>
        </p:spPr>
      </p:pic>
    </p:spTree>
    <p:extLst>
      <p:ext uri="{BB962C8B-B14F-4D97-AF65-F5344CB8AC3E}">
        <p14:creationId xmlns:p14="http://schemas.microsoft.com/office/powerpoint/2010/main" val="361053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1585</TotalTime>
  <Words>19930</Words>
  <Application>Microsoft Office PowerPoint</Application>
  <PresentationFormat>宽屏</PresentationFormat>
  <Paragraphs>2634</Paragraphs>
  <Slides>236</Slides>
  <Notes>54</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236</vt:i4>
      </vt:variant>
    </vt:vector>
  </HeadingPairs>
  <TitlesOfParts>
    <vt:vector size="250" baseType="lpstr">
      <vt:lpstr>等线</vt:lpstr>
      <vt:lpstr>等线 Light</vt:lpstr>
      <vt:lpstr>黑体</vt:lpstr>
      <vt:lpstr>宋体</vt:lpstr>
      <vt:lpstr>幼圆</vt:lpstr>
      <vt:lpstr>Arial</vt:lpstr>
      <vt:lpstr>Calibri</vt:lpstr>
      <vt:lpstr>Cambria Math</vt:lpstr>
      <vt:lpstr>Monotype Sorts</vt:lpstr>
      <vt:lpstr>PingFang SC</vt:lpstr>
      <vt:lpstr>Times New Roman</vt:lpstr>
      <vt:lpstr>Wingdings</vt:lpstr>
      <vt:lpstr>Office 主题​​</vt:lpstr>
      <vt:lpstr>Visio</vt:lpstr>
      <vt:lpstr>软件工程课程</vt:lpstr>
      <vt:lpstr>大纲</vt:lpstr>
      <vt:lpstr>大纲</vt:lpstr>
      <vt:lpstr>PowerPoint 演示文稿</vt:lpstr>
      <vt:lpstr>软件工程概念</vt:lpstr>
      <vt:lpstr>软件开发生命周期模型</vt:lpstr>
      <vt:lpstr>PowerPoint 演示文稿</vt:lpstr>
      <vt:lpstr>PowerPoint 演示文稿</vt:lpstr>
      <vt:lpstr>软件开发生命周期模型</vt:lpstr>
      <vt:lpstr>软件开发生命周期模型</vt:lpstr>
      <vt:lpstr>软件开发方法</vt:lpstr>
      <vt:lpstr>软件开发方法</vt:lpstr>
      <vt:lpstr>软件开发方法</vt:lpstr>
      <vt:lpstr>PowerPoint 演示文稿</vt:lpstr>
      <vt:lpstr>【选择】 一个软件项目是否进行开发的结论是在（    ）文档中作出的。 A．软件计划  B．可行性报告  C．测试报告  D．需求分析说明书 </vt:lpstr>
      <vt:lpstr>【选择】编码阶段是位于哪个阶段之后(  ) A. 详细设计   B. 可行性研究   C. 总体设计   D. 需求分析</vt:lpstr>
      <vt:lpstr>【选择】模块内部的算法设计在结构化方法的（    ）阶段进行。 A．系统分析   B．概要设计 C．详细设计  D．可行性分析</vt:lpstr>
      <vt:lpstr>【选择】需求分析阶段的任务是确定（ ） A．软件开发方法 B．软件开发工具 C．软件开发费    D．软件系统的功能</vt:lpstr>
      <vt:lpstr>PowerPoint 演示文稿</vt:lpstr>
      <vt:lpstr>PowerPoint 演示文稿</vt:lpstr>
      <vt:lpstr>PowerPoint 演示文稿</vt:lpstr>
      <vt:lpstr>【选择】（  ）是把对象的属性和操作结合在一起，构成一个独立的对象，其内部信息对外界是隐蔽的，外界只能通过有限的接口与对象发生联系。  A 封装     B 继承      C 多态性    D 消息 </vt:lpstr>
      <vt:lpstr>【选择】程序的三种基本控制结构是： A．过程、子程序和分程序 B．顺序、选择和重复 C．递归、堆栈和队列 D．调用、返回和转移 </vt:lpstr>
      <vt:lpstr>【选择】程序的三种基本控制结构的共同特点是： A．不能嵌套使用 B．只能用来写简单程序 C．已经用硬件实现 D．只有一个入口和一个出口 </vt:lpstr>
      <vt:lpstr>【简答】请阐述结构化方法（Structured architectural）和面向对象方法（Object-oriented architectural）的不同点</vt:lpstr>
      <vt:lpstr>【简答】请阐述瀑布模型、螺旋模型和敏捷开发的特点和适用的系统</vt:lpstr>
      <vt:lpstr>大纲</vt:lpstr>
      <vt:lpstr>可行性分析</vt:lpstr>
      <vt:lpstr>项目计划</vt:lpstr>
      <vt:lpstr>项目计划</vt:lpstr>
      <vt:lpstr>项目计划</vt:lpstr>
      <vt:lpstr>PowerPoint 演示文稿</vt:lpstr>
      <vt:lpstr>项目计划</vt:lpstr>
      <vt:lpstr>PowerPoint 演示文稿</vt:lpstr>
      <vt:lpstr>PowerPoint 演示文稿</vt:lpstr>
      <vt:lpstr>PowerPoint 演示文稿</vt:lpstr>
      <vt:lpstr>PowerPoint 演示文稿</vt:lpstr>
      <vt:lpstr>PowerPoint 演示文稿</vt:lpstr>
      <vt:lpstr>PowerPoint 演示文稿</vt:lpstr>
      <vt:lpstr>例题</vt:lpstr>
      <vt:lpstr>大纲</vt:lpstr>
      <vt:lpstr>需求分析</vt:lpstr>
      <vt:lpstr>需求分析</vt:lpstr>
      <vt:lpstr>需求分析</vt:lpstr>
      <vt:lpstr>需求分析</vt:lpstr>
      <vt:lpstr>需求分析</vt:lpstr>
      <vt:lpstr>需求分析</vt:lpstr>
      <vt:lpstr>需求分析</vt:lpstr>
      <vt:lpstr>需求分析</vt:lpstr>
      <vt:lpstr>需求分析</vt:lpstr>
      <vt:lpstr>需求分析</vt:lpstr>
      <vt:lpstr>需求分析</vt:lpstr>
      <vt:lpstr>需求分析</vt:lpstr>
      <vt:lpstr>需求分析</vt:lpstr>
      <vt:lpstr>需求分析</vt:lpstr>
      <vt:lpstr>需求分析</vt:lpstr>
      <vt:lpstr>需求分析</vt:lpstr>
      <vt:lpstr>需求分析</vt:lpstr>
      <vt:lpstr>需求分析</vt:lpstr>
      <vt:lpstr>需求分析</vt:lpstr>
      <vt:lpstr>需求分析</vt:lpstr>
      <vt:lpstr>需求分析</vt:lpstr>
      <vt:lpstr>需求分析</vt:lpstr>
      <vt:lpstr>需求分析</vt:lpstr>
      <vt:lpstr>需求分析</vt:lpstr>
      <vt:lpstr>需求分析</vt:lpstr>
      <vt:lpstr>需求分析</vt:lpstr>
      <vt:lpstr>需求分析</vt:lpstr>
      <vt:lpstr>需求分析</vt:lpstr>
      <vt:lpstr>需求分析</vt:lpstr>
      <vt:lpstr>需求分析</vt:lpstr>
      <vt:lpstr>需求识别方法：FURPS+</vt:lpstr>
      <vt:lpstr>需求分析</vt:lpstr>
      <vt:lpstr>需求分析</vt:lpstr>
      <vt:lpstr>需求分析</vt:lpstr>
      <vt:lpstr>需求分析</vt:lpstr>
      <vt:lpstr>需求分析-其他知识点</vt:lpstr>
      <vt:lpstr>需求分析-其他知识点</vt:lpstr>
      <vt:lpstr>需求分析</vt:lpstr>
      <vt:lpstr>Use Case Diagrams The &lt;&lt;Extend&gt;&gt; relationship</vt:lpstr>
      <vt:lpstr>Use Case Diagrams The &lt;&lt;Extend&gt;&gt; relationship</vt:lpstr>
      <vt:lpstr>An Use Case Diagram Example</vt:lpstr>
      <vt:lpstr>需求分析</vt:lpstr>
      <vt:lpstr>需求分析</vt:lpstr>
      <vt:lpstr>需求分析</vt:lpstr>
      <vt:lpstr>PowerPoint 演示文稿</vt:lpstr>
      <vt:lpstr>需求分析</vt:lpstr>
      <vt:lpstr>SSD Message Examples with Loop Frame （带环路的系统顺序图）  </vt:lpstr>
      <vt:lpstr>SSD Message Examples  Opt Frame (optional) 可选框架   Alt Frame (if-else) 判断框架</vt:lpstr>
      <vt:lpstr>SSD for Create customer account Use case（创建客户账户用例的顺序图）</vt:lpstr>
      <vt:lpstr>SSD for Ship items Use Case （创建运输商品用例的顺序图）    </vt:lpstr>
      <vt:lpstr>需求分析</vt:lpstr>
      <vt:lpstr>需求分析</vt:lpstr>
      <vt:lpstr>需求分析</vt:lpstr>
      <vt:lpstr>需求分析</vt:lpstr>
      <vt:lpstr>需求分析</vt:lpstr>
      <vt:lpstr>需求分析</vt:lpstr>
      <vt:lpstr>需求分析</vt:lpstr>
      <vt:lpstr>需求分析</vt:lpstr>
      <vt:lpstr>例题</vt:lpstr>
      <vt:lpstr>需求分析</vt:lpstr>
      <vt:lpstr>【选择】软件开发过程中，抽取和整理用户需求并建立问题域精确模型的过程叫 A．生存期 B．面向对象设计 C．面向对象程序设计 D．面向对象分析 </vt:lpstr>
      <vt:lpstr>【选择】以下哪项不是软件需求分析阶段的主要任务？ A. 识别利益相关者 B. 建立需求模型 C. 编写代码实现功能 D. 编写需求规格说明书 </vt:lpstr>
      <vt:lpstr>【选择】以下哪种建模方法属于结构化分析方法的核心工具？ A. 用例图 B. 类图 C. 数据流图 D. 顺序图 </vt:lpstr>
      <vt:lpstr>【选择】在面向对象需求分析中，用于描述系统功能边界的图是？ A. 类图 B. 用例图 C. 状态图 D. 部署图 </vt:lpstr>
      <vt:lpstr>【选择】以下关于用例描述的说法，正确的是？ A. 用例描述只需要写正常流程 B. 用例描述不应包含异常情况 C. 用例描述应包含前置条件、基本流程和备选流程 D. 用例描述不需要后置条件 </vt:lpstr>
      <vt:lpstr>【选择】数据字典的主要作用是？ A. 记录数据库表结构 B. 对数据流图中的数据元素进行详细定义 C. 存储用户密码 D. 记录系统日志 </vt:lpstr>
      <vt:lpstr>【选择】判定表适合描述什么类型的业务规则？ A. 简单的顺序执行逻辑 B. 多条件组合的复杂逻辑 C. 单循环逻辑 D. 纯算术运算</vt:lpstr>
      <vt:lpstr>【选择】在实体-关系图中，连接线表示的是？ A. 实体 B. 属性 C. 关系 D. 主键</vt:lpstr>
      <vt:lpstr>【选择】以下哪项属于非功能性需求？ A. 用户可以登录系统 B. 系统响应时间不超过3秒 C. 用户可以查询订单 D. 管理员可以添加商品</vt:lpstr>
      <vt:lpstr>【选择】下面具有继承关系的一组是（   ）。 A．铅笔-钢笔 B．冰箱-空调   C．汽车-客车   D．教师-学生 </vt:lpstr>
      <vt:lpstr>【选择】汽车有一个发动机。汽车和发动机之间的关系是_____关系。  A．一般与具体 B．整体与部分 C．分类关系 D．主从关系 </vt:lpstr>
      <vt:lpstr>【填空】将下列各事物之间的关系（继承、聚集或一般关联）写在括弧 （1）小汽车——富康牌小汽车。      （继承） （2）人员——雇员。                        （继承） （3）图书馆——期刊阅览室。          （聚集） （4）书——图书馆馆员。                 （一般关联） （5）小汽车——司机。                     （一般关联） （6）读者——借出的书。                 （一般关联） （7）班级——学生。                        （聚集） （8）教师——教授。                        （继承） （9）丈夫——妻子。                        （一般关联） （10）列车——餐车。　　　　　　（聚集）　     </vt:lpstr>
      <vt:lpstr>【简答】开发一个铁路售票系统，请完成图1所示的数据流图，从供选择的答案中选出A、B、C、D、E的内容。供选择的答案：车次表、接受的请求、售票记录、购票请求、拒绝的请求 </vt:lpstr>
      <vt:lpstr>【简答】请用CRUD方法给出购物网站中用户类（Customer）常见的四个用例</vt:lpstr>
      <vt:lpstr>【应用】某图书馆计划开发一个图书管理系统，需求如下：  读者可以查询图书、借阅图书、归还图书、续借图书、预约图书     管理员可以管理读者信息（增删改查）、管理图书信息（增删改查）、处理逾期罚款 读者借书时，系统需验证读者资格（是否逾期、是否达上限） 读者借书时，系统需验证图书状态（是否在库） 教师借阅数量上限为10本，学生为5本 逾期罚款规则：每本每天0.2元，最高罚款50元  请回答： （1）识别该系统的利益相关者，并分类说明（操作利益相关者/执行利益相关者、内部/外部）。 （2）绘制该系统的用例图（用文字描述即可）。 （3）为“借阅图书”用例编写详细的用例描述。 （4）用判定表描述读者借书资格的验证规则（考虑：是否逾期、是否达上限、读者类型）。</vt:lpstr>
      <vt:lpstr>【应用】某图书馆计划开发一个图书管理系统，需求如下：  读者可以查询图书、借阅图书、归还图书、续借图书、预约图书     管理员可以管理读者信息（增删改查）、管理图书信息（增删改查）、处理逾期罚款 读者借书时，系统需验证读者资格（是否逾期、是否达上限） 读者借书时，系统需验证图书状态（是否在库） 教师借阅数量上限为10本，学生为5本 逾期罚款规则：每本每天0.2元，最高罚款50元  （1）利益相关者：读者（操作、外部）、管理员（操作、内部）、图书馆管理者（执行、内部） （2）用例图包含：读者参与者，用例包括图书查询、借阅图书、归还图书、续借图书、预约图书；管理员参与者，用例包括读者管理、图书管理、罚款处理 （3）用例描述应包含：用例名称、参与者、前置条件、基本流程、备选流程、后置条件 （4）判定表：条件包括是否逾期、是否达上限、读者类型，动作包括允许借阅、拒绝借阅</vt:lpstr>
      <vt:lpstr>【应用】办公室复印机的工作过程大致如下：未接到复印命令时处于闲置状态，一旦接到复印命令则进入复印状态，完成一个复印命令规定的工作后又回到闲置状态，等待下一个复印命令；如果执行复印命令时发现缺纸，则进入缺纸状态，发出警告，等待装纸，装满纸后进入闲置状态，准备接受复印命令；如果复印时发生卡纸故障，则进入卡纸状态，发出警告等待维修人员来排队故障，故障排除后回到闲置状态。    请用状态转换图描绘复印机的行为： </vt:lpstr>
      <vt:lpstr>【应用】请根据下面的程序流程图，写出对应的结构化代码     </vt:lpstr>
      <vt:lpstr>【应用】请根据下面的描述，画出学生选课管理系统的顶层数据流图：学生向系统提交选课申请，系统根据课程信息对选课申请进行处理，形成选课记录，并将选课结果返回给学生；教务员负责课程信息的维护。通过该图可以看出，数据流图能够较清楚地表示系统的数据来源、处理过程、存储位置和输出结果。   </vt:lpstr>
      <vt:lpstr>需求分析</vt:lpstr>
      <vt:lpstr>大纲</vt:lpstr>
      <vt:lpstr>系统设计</vt:lpstr>
      <vt:lpstr>系统设计</vt:lpstr>
      <vt:lpstr>系统设计</vt:lpstr>
      <vt:lpstr>系统设计</vt:lpstr>
      <vt:lpstr>系统设计</vt:lpstr>
      <vt:lpstr>系统设计</vt:lpstr>
      <vt:lpstr>系统设计</vt:lpstr>
      <vt:lpstr>系统设计</vt:lpstr>
      <vt:lpstr>系统设计</vt:lpstr>
      <vt:lpstr>设计-其他知识点</vt:lpstr>
      <vt:lpstr>设计-其他知识点</vt:lpstr>
      <vt:lpstr>系统设计</vt:lpstr>
      <vt:lpstr>系统设计</vt:lpstr>
      <vt:lpstr>系统设计</vt:lpstr>
      <vt:lpstr>系统设计</vt:lpstr>
      <vt:lpstr>系统设计</vt:lpstr>
      <vt:lpstr>设计</vt:lpstr>
      <vt:lpstr>设计</vt:lpstr>
      <vt:lpstr>设计</vt:lpstr>
      <vt:lpstr>PowerPoint 演示文稿</vt:lpstr>
      <vt:lpstr>PowerPoint 演示文稿</vt:lpstr>
      <vt:lpstr>PowerPoint 演示文稿</vt:lpstr>
      <vt:lpstr>PowerPoint 演示文稿</vt:lpstr>
      <vt:lpstr>设计</vt:lpstr>
      <vt:lpstr>设计</vt:lpstr>
      <vt:lpstr>设计-其他知识点</vt:lpstr>
      <vt:lpstr>设计</vt:lpstr>
      <vt:lpstr>PowerPoint 演示文稿</vt:lpstr>
      <vt:lpstr>设计</vt:lpstr>
      <vt:lpstr>设计</vt:lpstr>
      <vt:lpstr>【选择】1. 软件设计中划分模块的一个准则是（      ）。 A、 低内聚低耦合 B、 低内聚高耦合 C、 高内聚低耦合 D、 高内聚高耦合 </vt:lpstr>
      <vt:lpstr>【选择】以下哪个不是详细设计中常用的图形描述工具          。 A、数据流图      B、程序流图     C、盒图（N-S图）    D、问题分析图（PAD）  </vt:lpstr>
      <vt:lpstr>【选择】软件设计包括 （   ）两个阶段。       A、接口设计和结构设计       B、数据设计和概要设计      C、结构设计和过程设计       D、概要设计和详细设计   </vt:lpstr>
      <vt:lpstr>【选择】在UML中，协作图反映收发消息的对象的结构组织，它与（ ）是同构的 A 用例图    B 顺序图     C 活动图     D 类图</vt:lpstr>
      <vt:lpstr>【选择】内聚是衡量模块内部聚合能力的量度。内聚越高，说明模块内各成分彼此联系的程度(   ) A．越松散　　  B．彼此相等   C．越紧密　　　  D．没有联系</vt:lpstr>
      <vt:lpstr>【选择】模块本身的内聚是模块独立性的重要度量因素之一，在七类内聚中，具有最强内聚的一类是____。 A．顺序性内聚   B．过程性内聚  C．逻辑性内聚   D．功能性内聚</vt:lpstr>
      <vt:lpstr>【选择】如果模块中所有成分引用共同的数据，该模块内的联系类型是____。 A．顺序内聚  B．功能内聚   C．通信内聚   D．过程内聚</vt:lpstr>
      <vt:lpstr>【选择】某模块的功能是打印录取通知书或不录取通知书，调用模块可通过向此模块传递布尔标志信息决定本次调用哪种通知书的打印，这种模块之间的耦合称为____。 A．数据耦合   B．混合耦合   C．公共耦合   D．控制耦合</vt:lpstr>
      <vt:lpstr>【选择】要减少两个模块之间的耦合，则必须____。 A．两个模块间的调用次数要少   B．模块间传递的参数要少 C．模块间传递的参数要少且布传递开关型参数 D．模块间传递的参数要少且不传递开关型参数以及两模块不引用同样的全局变量 </vt:lpstr>
      <vt:lpstr>【选择】内聚是衡量模块内部聚合能力的量度。内聚越高，说明模块内各成分彼此联系的程度(   ) A．越松散　　  B．彼此相等   C．越紧密　　　  D．没有联系</vt:lpstr>
      <vt:lpstr>【选择】软件设计中划分模块的一个准则是（      ）。 A、 低内聚低耦合 B、 低内聚高耦合 C、 高内聚低耦合 D、 高内聚高耦合 </vt:lpstr>
      <vt:lpstr>【应用】根据下面的程序流程图，画出NS图     </vt:lpstr>
      <vt:lpstr>【应用】将下面给出的伪码转换为N-S图和PAD图。 void root ( float root1, float root2 ) {    i = 1;  j = 0;    while ( i &lt;= 10 ) { 输入一元二次方程的系数a, b, c; p = b*b – 4*a*c; if ( p &lt; 0 ) 输出“方程i无实数根”; else if ( p &gt; 0 ) 求出根并输出; if ( p == 0 ) {    求出重根并输出;    j = j + 1; } i = i +1;    }    输出重根的方程的个数j; } </vt:lpstr>
      <vt:lpstr>大纲</vt:lpstr>
      <vt:lpstr>实现</vt:lpstr>
      <vt:lpstr>PowerPoint 演示文稿</vt:lpstr>
      <vt:lpstr>PowerPoint 演示文稿</vt:lpstr>
      <vt:lpstr>PowerPoint 演示文稿</vt:lpstr>
      <vt:lpstr>PowerPoint 演示文稿</vt:lpstr>
      <vt:lpstr>实现</vt:lpstr>
      <vt:lpstr>实现</vt:lpstr>
      <vt:lpstr>PowerPoint 演示文稿</vt:lpstr>
      <vt:lpstr>PowerPoint 演示文稿</vt:lpstr>
      <vt:lpstr>PowerPoint 演示文稿</vt:lpstr>
      <vt:lpstr>大纲</vt:lpstr>
      <vt:lpstr>测试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测试</vt:lpstr>
      <vt:lpstr>测试</vt:lpstr>
      <vt:lpstr>测试</vt:lpstr>
      <vt:lpstr>PowerPoint 演示文稿</vt:lpstr>
      <vt:lpstr>PowerPoint 演示文稿</vt:lpstr>
      <vt:lpstr>PowerPoint 演示文稿</vt:lpstr>
      <vt:lpstr>PowerPoint 演示文稿</vt:lpstr>
      <vt:lpstr>测试</vt:lpstr>
      <vt:lpstr>PowerPoint 演示文稿</vt:lpstr>
      <vt:lpstr>PowerPoint 演示文稿</vt:lpstr>
      <vt:lpstr>PowerPoint 演示文稿</vt:lpstr>
      <vt:lpstr>【选择】内聚是衡量模块内部聚合能力的量度。内聚越高，说明模块内各成分彼此联系的程度(   ) A．越松散　　  B．彼此相等   C．越紧密　　　  D．没有联系</vt:lpstr>
      <vt:lpstr>【选择】为了提高测试的效率，应该（ ） A．随机地选取测试数据 B．取一切可能的输入数据作为测试数据 C．在完成编码以后制定软件的测试计划 D．选择发现错误可能性大的数据作为测试数据 </vt:lpstr>
      <vt:lpstr>【选择】单元测试的测试对象是（）。 A. 系统 B. 程序模块。 C. 模块接口 D. 系统功能  </vt:lpstr>
      <vt:lpstr>【选择】软件生命周期中所花费用最多的阶段是（ ）    A．详细设计   B．软件编码   C．软件测试      D．软件维护 </vt:lpstr>
      <vt:lpstr>【选择】使用白盒测试方法时，确定测试数据应根据_______和指定的覆盖标准。 A．程序的内部逻辑 B．程序的复杂结构 C．使用说明书 D．程序的功能  </vt:lpstr>
      <vt:lpstr>【选择】通过对软件的测试，可以证明的是（ ）。 A．软件的正确性 B．错误不存在 C．错误存在 D．软件不含有隐患  </vt:lpstr>
      <vt:lpstr>【选择】软件测试方法中，黑盒、白盒测试法是常用的方法，其中白盒测试主要用于测试（　　） A、结构合理性   B、软件外部功能  C、程序正确性   D、程序内部逻辑 </vt:lpstr>
      <vt:lpstr>【选择】以下不属于白盒测试技术的是（ ） A. 逻辑覆盖 B. 基本路径测试 C. 循环覆盖测试 D. 等价类划分  </vt:lpstr>
      <vt:lpstr>【选择】为了提高测试的效率，应该____。 A．随机地选取测试数据       B．取一切可能的输入数据作为测试数据库 C．在完成编码后制定软件的测试计划 D．选择发现错误可能性大的数据作为测试数据 </vt:lpstr>
      <vt:lpstr>【选择】软件测试中设计测试实例（test case）主要由输入数据和____两部分组成。 A．测试规则    B．测试计划 C．预期输出结果    D．以往测试记录分析  </vt:lpstr>
      <vt:lpstr>【选择】成功的测试是指______。 A．运行测试实例后未发现错误项 B．发现程序的错误 C．证明程序正确    D．改正程序的错误</vt:lpstr>
      <vt:lpstr>【简答】请阐述单元测试、集成测试和系统测试常使用的测试类型（黑盒/白盒）</vt:lpstr>
      <vt:lpstr>【简答】什么是存根模块？什么是驱动模块？</vt:lpstr>
      <vt:lpstr>【选择】月收入&lt;=800元者免税，现用输入数800元和801元测试程序，则采用的是____方法。 A．边界值分析  B．条件覆盖   C．错误推测   D．等价类</vt:lpstr>
      <vt:lpstr>【选择】采用白盒法测试模块（程序），应根据____。 A．内部逻辑结构   B．算法复杂度   C．外部功能特性   D．支撑环境</vt:lpstr>
      <vt:lpstr>【选择】采用黑盒法测试程序是根据____。 A．程序的逻辑  B．程序的功能说明  C．程序中的语句   D．程序中的数据</vt:lpstr>
      <vt:lpstr>【选择】在软件测试中，确认（验收）测试主要用于发现____阶段的错误。 A．软件计划   B．需求分析   C．软件设计   D．编码</vt:lpstr>
      <vt:lpstr>【选择】用黑盒法设计测试用例时采用的方法包括______。 A、判定覆盖法    B、条件覆盖法        C 、等价类划分法        D、路径分析法</vt:lpstr>
      <vt:lpstr>PowerPoint 演示文稿</vt:lpstr>
      <vt:lpstr>【应用】考虑以下程序设计：输入a，b两个数，a的取值范围在（-100,0），b的取值范围在（0，100）之间，输出的结果应为a/b，请用等价类划分和边界值分析两类方法设计测试用例</vt:lpstr>
      <vt:lpstr>【应用】考虑以下程序设计：输入a，b两个数，a的取值范围在（-100,0），b的取值范围在（0，100）之间，输出的结果应为a/b，请用等价类划分和边界值分析两类方法设计测试用例</vt:lpstr>
      <vt:lpstr>【应用】画出与图1所示的程序流程图对应的程序图，并试计算其循环复杂度（ ）   </vt:lpstr>
      <vt:lpstr>【应用】输入三整数,判断是否构成三角形,如构成三角形,则输出三条边的值,否则输出”不能构成三角形”.  要求:1.用程序流程图表示该问题的算法；2.计算程序复杂度； 3.设计路径覆盖的测试用例。  </vt:lpstr>
      <vt:lpstr>【应用】某学籍管理系统需要输入学生代码。合法的代码符合以下3条规则： （1）由6位数字构成； （2）前四位是入学年份(2010—2014)； （3）后2位是专业类别(01-12)。    采用等价类划分法进行测试，请列出测试等价类表、设计测试用例。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软件工程课程</dc:title>
  <dc:creator>鸽 王</dc:creator>
  <cp:lastModifiedBy>鸽 王</cp:lastModifiedBy>
  <cp:revision>128</cp:revision>
  <dcterms:created xsi:type="dcterms:W3CDTF">2024-04-02T09:37:43Z</dcterms:created>
  <dcterms:modified xsi:type="dcterms:W3CDTF">2026-06-10T02:39:30Z</dcterms:modified>
</cp:coreProperties>
</file>