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9.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Lst>
  <p:notesMasterIdLst>
    <p:notesMasterId r:id="rId62"/>
  </p:notesMasterIdLst>
  <p:sldIdLst>
    <p:sldId id="349" r:id="rId2"/>
    <p:sldId id="256" r:id="rId3"/>
    <p:sldId id="257" r:id="rId4"/>
    <p:sldId id="314" r:id="rId5"/>
    <p:sldId id="374" r:id="rId6"/>
    <p:sldId id="360" r:id="rId7"/>
    <p:sldId id="361" r:id="rId8"/>
    <p:sldId id="263" r:id="rId9"/>
    <p:sldId id="375" r:id="rId10"/>
    <p:sldId id="369" r:id="rId11"/>
    <p:sldId id="315" r:id="rId12"/>
    <p:sldId id="376" r:id="rId13"/>
    <p:sldId id="316" r:id="rId14"/>
    <p:sldId id="318" r:id="rId15"/>
    <p:sldId id="319" r:id="rId16"/>
    <p:sldId id="377" r:id="rId17"/>
    <p:sldId id="317" r:id="rId18"/>
    <p:sldId id="370" r:id="rId19"/>
    <p:sldId id="320" r:id="rId20"/>
    <p:sldId id="362" r:id="rId21"/>
    <p:sldId id="322" r:id="rId22"/>
    <p:sldId id="323" r:id="rId23"/>
    <p:sldId id="324" r:id="rId24"/>
    <p:sldId id="325" r:id="rId25"/>
    <p:sldId id="321" r:id="rId26"/>
    <p:sldId id="350" r:id="rId27"/>
    <p:sldId id="327" r:id="rId28"/>
    <p:sldId id="328" r:id="rId29"/>
    <p:sldId id="329" r:id="rId30"/>
    <p:sldId id="330" r:id="rId31"/>
    <p:sldId id="356" r:id="rId32"/>
    <p:sldId id="363" r:id="rId33"/>
    <p:sldId id="371" r:id="rId34"/>
    <p:sldId id="331" r:id="rId35"/>
    <p:sldId id="332" r:id="rId36"/>
    <p:sldId id="333" r:id="rId37"/>
    <p:sldId id="378" r:id="rId38"/>
    <p:sldId id="334" r:id="rId39"/>
    <p:sldId id="336" r:id="rId40"/>
    <p:sldId id="372" r:id="rId41"/>
    <p:sldId id="335" r:id="rId42"/>
    <p:sldId id="337" r:id="rId43"/>
    <p:sldId id="338" r:id="rId44"/>
    <p:sldId id="339" r:id="rId45"/>
    <p:sldId id="373" r:id="rId46"/>
    <p:sldId id="340" r:id="rId47"/>
    <p:sldId id="341" r:id="rId48"/>
    <p:sldId id="354" r:id="rId49"/>
    <p:sldId id="342" r:id="rId50"/>
    <p:sldId id="344" r:id="rId51"/>
    <p:sldId id="345" r:id="rId52"/>
    <p:sldId id="357" r:id="rId53"/>
    <p:sldId id="368" r:id="rId54"/>
    <p:sldId id="358" r:id="rId55"/>
    <p:sldId id="359" r:id="rId56"/>
    <p:sldId id="346" r:id="rId57"/>
    <p:sldId id="347" r:id="rId58"/>
    <p:sldId id="379" r:id="rId59"/>
    <p:sldId id="348" r:id="rId60"/>
    <p:sldId id="380" r:id="rId6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3" autoAdjust="0"/>
    <p:restoredTop sz="78506" autoAdjust="0"/>
  </p:normalViewPr>
  <p:slideViewPr>
    <p:cSldViewPr>
      <p:cViewPr varScale="1">
        <p:scale>
          <a:sx n="127" d="100"/>
          <a:sy n="127" d="100"/>
        </p:scale>
        <p:origin x="278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70A942C9-2742-4EFE-81EE-A33D9BF1E01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endParaRPr lang="en-US"/>
          </a:p>
        </p:txBody>
      </p:sp>
      <p:sp>
        <p:nvSpPr>
          <p:cNvPr id="75779" name="Rectangle 3">
            <a:extLst>
              <a:ext uri="{FF2B5EF4-FFF2-40B4-BE49-F238E27FC236}">
                <a16:creationId xmlns:a16="http://schemas.microsoft.com/office/drawing/2014/main" id="{A6A9247F-4DBA-466D-BCDE-9376BFE8AA9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endParaRPr lang="en-US"/>
          </a:p>
        </p:txBody>
      </p:sp>
      <p:sp>
        <p:nvSpPr>
          <p:cNvPr id="43012" name="Rectangle 4">
            <a:extLst>
              <a:ext uri="{FF2B5EF4-FFF2-40B4-BE49-F238E27FC236}">
                <a16:creationId xmlns:a16="http://schemas.microsoft.com/office/drawing/2014/main" id="{403D3794-1F93-4AD1-BD6A-9040E6ED0E32}"/>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a:extLst>
              <a:ext uri="{FF2B5EF4-FFF2-40B4-BE49-F238E27FC236}">
                <a16:creationId xmlns:a16="http://schemas.microsoft.com/office/drawing/2014/main" id="{1DB091D0-8CD6-40E6-A4AE-CA3C8C754650}"/>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a:extLst>
              <a:ext uri="{FF2B5EF4-FFF2-40B4-BE49-F238E27FC236}">
                <a16:creationId xmlns:a16="http://schemas.microsoft.com/office/drawing/2014/main" id="{B1A605D1-10B3-430F-9F7D-D214C80AC30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US"/>
          </a:p>
        </p:txBody>
      </p:sp>
      <p:sp>
        <p:nvSpPr>
          <p:cNvPr id="75783" name="Rectangle 7">
            <a:extLst>
              <a:ext uri="{FF2B5EF4-FFF2-40B4-BE49-F238E27FC236}">
                <a16:creationId xmlns:a16="http://schemas.microsoft.com/office/drawing/2014/main" id="{9CB4385F-4C13-4ECF-A183-EFB9C686274C}"/>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80A0B00-FA49-4E50-81BC-0193F6FCA898}"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用例</a:t>
            </a:r>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2</a:t>
            </a:fld>
            <a:endParaRPr lang="en-US" altLang="zh-CN"/>
          </a:p>
        </p:txBody>
      </p:sp>
    </p:spTree>
    <p:extLst>
      <p:ext uri="{BB962C8B-B14F-4D97-AF65-F5344CB8AC3E}">
        <p14:creationId xmlns:p14="http://schemas.microsoft.com/office/powerpoint/2010/main" val="1246738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4411A0A9-E7B1-417D-8C6D-E93E4AD5D3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F2DDEF9-DDF6-45C2-980B-53DADE0D255C}" type="slidenum">
              <a:rPr lang="en-US" altLang="zh-CN"/>
              <a:pPr eaLnBrk="1" hangingPunct="1"/>
              <a:t>3</a:t>
            </a:fld>
            <a:endParaRPr lang="en-US" altLang="zh-CN"/>
          </a:p>
        </p:txBody>
      </p:sp>
      <p:sp>
        <p:nvSpPr>
          <p:cNvPr id="44035" name="Rectangle 2">
            <a:extLst>
              <a:ext uri="{FF2B5EF4-FFF2-40B4-BE49-F238E27FC236}">
                <a16:creationId xmlns:a16="http://schemas.microsoft.com/office/drawing/2014/main" id="{4DBEDBFB-FE96-45EA-971C-A95DFAF66F6C}"/>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B195A880-8BED-4410-8108-AEC2DA7A87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用例和用户目标</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用例和事件分解</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用例和</a:t>
            </a:r>
            <a:r>
              <a:rPr lang="en-US" altLang="zh-CN" dirty="0">
                <a:latin typeface="Arial" panose="020B0604020202020204" pitchFamily="34" charset="0"/>
                <a:cs typeface="Arial" panose="020B0604020202020204" pitchFamily="34" charset="0"/>
              </a:rPr>
              <a:t>CRUD</a:t>
            </a:r>
          </a:p>
          <a:p>
            <a:pPr eaLnBrk="1" hangingPunct="1"/>
            <a:r>
              <a:rPr lang="en-US" altLang="zh-CN" dirty="0">
                <a:latin typeface="Arial" panose="020B0604020202020204" pitchFamily="34" charset="0"/>
                <a:cs typeface="Arial" panose="020B0604020202020204" pitchFamily="34" charset="0"/>
              </a:rPr>
              <a:t>RMO</a:t>
            </a:r>
            <a:r>
              <a:rPr lang="zh-CN" altLang="en-US" dirty="0">
                <a:latin typeface="Arial" panose="020B0604020202020204" pitchFamily="34" charset="0"/>
                <a:cs typeface="Arial" panose="020B0604020202020204" pitchFamily="34" charset="0"/>
              </a:rPr>
              <a:t>案例中的用例</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用例图</a:t>
            </a:r>
            <a:endParaRPr lang="zh-CN" altLang="zh-CN" dirty="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学习目标：</a:t>
            </a:r>
            <a:endParaRPr lang="en-US" altLang="zh-CN" dirty="0"/>
          </a:p>
          <a:p>
            <a:r>
              <a:rPr lang="zh-CN" altLang="en-US" dirty="0"/>
              <a:t>阐述为什么确定用例是定义功能需求的关键</a:t>
            </a:r>
            <a:endParaRPr lang="en-US" altLang="zh-CN" dirty="0"/>
          </a:p>
          <a:p>
            <a:r>
              <a:rPr lang="zh-CN" altLang="en-US" dirty="0"/>
              <a:t>描述确定用例的两种技术</a:t>
            </a:r>
            <a:endParaRPr lang="en-US" altLang="zh-CN" dirty="0"/>
          </a:p>
          <a:p>
            <a:endParaRPr lang="en-US" altLang="zh-CN" dirty="0"/>
          </a:p>
          <a:p>
            <a:r>
              <a:rPr lang="zh-CN" altLang="en-US" dirty="0"/>
              <a:t>将用户目标技术运用于确定用例</a:t>
            </a:r>
            <a:endParaRPr lang="en-US" altLang="zh-CN" dirty="0"/>
          </a:p>
          <a:p>
            <a:r>
              <a:rPr lang="zh-CN" altLang="en-US" dirty="0"/>
              <a:t>将事件分解技术运用于确定用例</a:t>
            </a:r>
            <a:endParaRPr lang="en-US" altLang="zh-CN" dirty="0"/>
          </a:p>
          <a:p>
            <a:endParaRPr lang="en-US" altLang="zh-CN" dirty="0"/>
          </a:p>
          <a:p>
            <a:r>
              <a:rPr lang="zh-CN" altLang="en-US" dirty="0"/>
              <a:t>将</a:t>
            </a:r>
            <a:r>
              <a:rPr lang="en-US" altLang="zh-CN" dirty="0"/>
              <a:t>CRUD</a:t>
            </a:r>
            <a:r>
              <a:rPr lang="zh-CN" altLang="en-US" dirty="0"/>
              <a:t>技术运用于确认和细化用例列表</a:t>
            </a:r>
            <a:endParaRPr lang="en-US" altLang="zh-CN" dirty="0"/>
          </a:p>
          <a:p>
            <a:endParaRPr lang="en-US" altLang="zh-CN" dirty="0"/>
          </a:p>
          <a:p>
            <a:r>
              <a:rPr lang="zh-CN" altLang="en-US" dirty="0"/>
              <a:t>描述用例图的符号和作用</a:t>
            </a:r>
            <a:endParaRPr lang="en-US" altLang="zh-CN" dirty="0"/>
          </a:p>
          <a:p>
            <a:endParaRPr lang="en-US" altLang="zh-CN" dirty="0"/>
          </a:p>
          <a:p>
            <a:r>
              <a:rPr lang="zh-CN" altLang="en-US" dirty="0"/>
              <a:t>通过参与者和子系统画用例图</a:t>
            </a:r>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4</a:t>
            </a:fld>
            <a:endParaRPr lang="en-US" altLang="zh-CN"/>
          </a:p>
        </p:txBody>
      </p:sp>
    </p:spTree>
    <p:extLst>
      <p:ext uri="{BB962C8B-B14F-4D97-AF65-F5344CB8AC3E}">
        <p14:creationId xmlns:p14="http://schemas.microsoft.com/office/powerpoint/2010/main" val="1543379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学习目标：</a:t>
            </a:r>
            <a:endParaRPr lang="en-US" altLang="zh-CN" dirty="0"/>
          </a:p>
          <a:p>
            <a:r>
              <a:rPr lang="zh-CN" altLang="en-US" dirty="0"/>
              <a:t>阐述为什么确定用例是定义功能需求的关键</a:t>
            </a:r>
            <a:endParaRPr lang="en-US" altLang="zh-CN" dirty="0"/>
          </a:p>
          <a:p>
            <a:r>
              <a:rPr lang="zh-CN" altLang="en-US" dirty="0"/>
              <a:t>描述确定用例的两种技术</a:t>
            </a:r>
            <a:endParaRPr lang="en-US" altLang="zh-CN" dirty="0"/>
          </a:p>
          <a:p>
            <a:endParaRPr lang="en-US" altLang="zh-CN" dirty="0"/>
          </a:p>
          <a:p>
            <a:r>
              <a:rPr lang="zh-CN" altLang="en-US" dirty="0"/>
              <a:t>将用户目标技术运用于确定用例</a:t>
            </a:r>
            <a:endParaRPr lang="en-US" altLang="zh-CN" dirty="0"/>
          </a:p>
          <a:p>
            <a:r>
              <a:rPr lang="zh-CN" altLang="en-US" dirty="0"/>
              <a:t>将事件分解技术运用于确定用例</a:t>
            </a:r>
            <a:endParaRPr lang="en-US" altLang="zh-CN" dirty="0"/>
          </a:p>
          <a:p>
            <a:endParaRPr lang="en-US" altLang="zh-CN" dirty="0"/>
          </a:p>
          <a:p>
            <a:r>
              <a:rPr lang="zh-CN" altLang="en-US" dirty="0"/>
              <a:t>将</a:t>
            </a:r>
            <a:r>
              <a:rPr lang="en-US" altLang="zh-CN" dirty="0"/>
              <a:t>CRUD</a:t>
            </a:r>
            <a:r>
              <a:rPr lang="zh-CN" altLang="en-US" dirty="0"/>
              <a:t>技术运用于确认和细化用例列表</a:t>
            </a:r>
            <a:endParaRPr lang="en-US" altLang="zh-CN" dirty="0"/>
          </a:p>
          <a:p>
            <a:endParaRPr lang="en-US" altLang="zh-CN" dirty="0"/>
          </a:p>
          <a:p>
            <a:r>
              <a:rPr lang="zh-CN" altLang="en-US" dirty="0"/>
              <a:t>描述用例图的符号和作用</a:t>
            </a:r>
            <a:endParaRPr lang="en-US" altLang="zh-CN" dirty="0"/>
          </a:p>
          <a:p>
            <a:endParaRPr lang="en-US" altLang="zh-CN" dirty="0"/>
          </a:p>
          <a:p>
            <a:r>
              <a:rPr lang="zh-CN" altLang="en-US" dirty="0"/>
              <a:t>通过参与者和子系统画用例图</a:t>
            </a:r>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5</a:t>
            </a:fld>
            <a:endParaRPr lang="en-US" altLang="zh-CN"/>
          </a:p>
        </p:txBody>
      </p:sp>
    </p:spTree>
    <p:extLst>
      <p:ext uri="{BB962C8B-B14F-4D97-AF65-F5344CB8AC3E}">
        <p14:creationId xmlns:p14="http://schemas.microsoft.com/office/powerpoint/2010/main" val="2359860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6</a:t>
            </a:fld>
            <a:endParaRPr lang="en-US" altLang="zh-CN"/>
          </a:p>
        </p:txBody>
      </p:sp>
    </p:spTree>
    <p:extLst>
      <p:ext uri="{BB962C8B-B14F-4D97-AF65-F5344CB8AC3E}">
        <p14:creationId xmlns:p14="http://schemas.microsoft.com/office/powerpoint/2010/main" val="2174175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7</a:t>
            </a:fld>
            <a:endParaRPr lang="en-US" altLang="zh-CN"/>
          </a:p>
        </p:txBody>
      </p:sp>
    </p:spTree>
    <p:extLst>
      <p:ext uri="{BB962C8B-B14F-4D97-AF65-F5344CB8AC3E}">
        <p14:creationId xmlns:p14="http://schemas.microsoft.com/office/powerpoint/2010/main" val="9929288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本章概述：</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2</a:t>
            </a:r>
            <a:r>
              <a:rPr lang="zh-CN" altLang="en-US" b="0" i="0" dirty="0">
                <a:solidFill>
                  <a:srgbClr val="2A2B2E"/>
                </a:solidFill>
                <a:effectLst/>
                <a:latin typeface="PingFang SC"/>
              </a:rPr>
              <a:t>章概述了系统分析活动、功能和非功能需求、建模和信息收集技术</a:t>
            </a:r>
            <a:br>
              <a:rPr lang="zh-CN" altLang="en-US" b="0" i="0" dirty="0">
                <a:solidFill>
                  <a:srgbClr val="2A2B2E"/>
                </a:solidFill>
                <a:effectLst/>
                <a:latin typeface="PingFang SC"/>
              </a:rPr>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本章着重于识别和建模功能需求的关键方面</a:t>
            </a:r>
            <a:r>
              <a:rPr lang="en-US" altLang="zh-CN" b="0" i="0" dirty="0">
                <a:solidFill>
                  <a:srgbClr val="2A2B2E"/>
                </a:solidFill>
                <a:effectLst/>
                <a:latin typeface="PingFang SC"/>
              </a:rPr>
              <a:t>——</a:t>
            </a:r>
            <a:r>
              <a:rPr lang="zh-CN" altLang="en-US" b="0" i="0" dirty="0">
                <a:solidFill>
                  <a:srgbClr val="2A2B2E"/>
                </a:solidFill>
                <a:effectLst/>
                <a:latin typeface="PingFang SC"/>
              </a:rPr>
              <a:t>用例</a:t>
            </a:r>
            <a:br>
              <a:rPr lang="zh-CN" altLang="en-US" b="0" i="0" dirty="0">
                <a:solidFill>
                  <a:srgbClr val="2A2B2E"/>
                </a:solidFill>
                <a:effectLst/>
                <a:latin typeface="PingFang SC"/>
              </a:rPr>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在第一章的</a:t>
            </a:r>
            <a:r>
              <a:rPr lang="en-US" altLang="zh-CN" b="0" i="0" dirty="0">
                <a:solidFill>
                  <a:srgbClr val="2A2B2E"/>
                </a:solidFill>
                <a:effectLst/>
                <a:latin typeface="PingFang SC"/>
              </a:rPr>
              <a:t>RMO</a:t>
            </a:r>
            <a:r>
              <a:rPr lang="zh-CN" altLang="en-US" b="0" i="0" dirty="0">
                <a:solidFill>
                  <a:srgbClr val="2A2B2E"/>
                </a:solidFill>
                <a:effectLst/>
                <a:latin typeface="PingFang SC"/>
              </a:rPr>
              <a:t>展销系统中，一些用例是查找供应商、输入</a:t>
            </a:r>
            <a:r>
              <a:rPr lang="en-US" altLang="zh-CN" b="0" i="0" dirty="0">
                <a:solidFill>
                  <a:srgbClr val="2A2B2E"/>
                </a:solidFill>
                <a:effectLst/>
                <a:latin typeface="PingFang SC"/>
              </a:rPr>
              <a:t>/</a:t>
            </a:r>
            <a:r>
              <a:rPr lang="zh-CN" altLang="en-US" b="0" i="0" dirty="0">
                <a:solidFill>
                  <a:srgbClr val="2A2B2E"/>
                </a:solidFill>
                <a:effectLst/>
                <a:latin typeface="PingFang SC"/>
              </a:rPr>
              <a:t>更新产品信息、输入</a:t>
            </a:r>
            <a:r>
              <a:rPr lang="en-US" altLang="zh-CN" b="0" i="0" dirty="0">
                <a:solidFill>
                  <a:srgbClr val="2A2B2E"/>
                </a:solidFill>
                <a:effectLst/>
                <a:latin typeface="PingFang SC"/>
              </a:rPr>
              <a:t>/</a:t>
            </a:r>
            <a:r>
              <a:rPr lang="zh-CN" altLang="en-US" b="0" i="0" dirty="0">
                <a:solidFill>
                  <a:srgbClr val="2A2B2E"/>
                </a:solidFill>
                <a:effectLst/>
                <a:latin typeface="PingFang SC"/>
              </a:rPr>
              <a:t>更新联系信息</a:t>
            </a:r>
            <a:br>
              <a:rPr lang="zh-CN" altLang="en-US" b="0" i="0" dirty="0">
                <a:solidFill>
                  <a:srgbClr val="2A2B2E"/>
                </a:solidFill>
                <a:effectLst/>
                <a:latin typeface="PingFang SC"/>
              </a:rPr>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在本章的开头案例“随叫随到的服务员”中，用例的示例有</a:t>
            </a:r>
            <a:r>
              <a:rPr lang="en-US" altLang="zh-CN" b="0" i="0" dirty="0">
                <a:solidFill>
                  <a:srgbClr val="2A2B2E"/>
                </a:solidFill>
                <a:effectLst/>
                <a:latin typeface="PingFang SC"/>
              </a:rPr>
              <a:t>:</a:t>
            </a:r>
            <a:r>
              <a:rPr lang="zh-CN" altLang="en-US" b="0" i="0" dirty="0">
                <a:solidFill>
                  <a:srgbClr val="2A2B2E"/>
                </a:solidFill>
                <a:effectLst/>
                <a:latin typeface="PingFang SC"/>
              </a:rPr>
              <a:t>记录订单、记录交货、更新订单、签到司机、核对司机收据、产生当天的存款</a:t>
            </a:r>
          </a:p>
          <a:p>
            <a:br>
              <a:rPr lang="zh-CN" altLang="en-US" b="0" i="0" dirty="0">
                <a:solidFill>
                  <a:srgbClr val="939599"/>
                </a:solidFill>
                <a:effectLst/>
                <a:latin typeface="PingFang SC"/>
              </a:rPr>
            </a:b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8</a:t>
            </a:fld>
            <a:endParaRPr lang="en-US" altLang="zh-CN"/>
          </a:p>
        </p:txBody>
      </p:sp>
    </p:spTree>
    <p:extLst>
      <p:ext uri="{BB962C8B-B14F-4D97-AF65-F5344CB8AC3E}">
        <p14:creationId xmlns:p14="http://schemas.microsoft.com/office/powerpoint/2010/main" val="2418677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本章概述：</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2</a:t>
            </a:r>
            <a:r>
              <a:rPr lang="zh-CN" altLang="en-US" b="0" i="0" dirty="0">
                <a:solidFill>
                  <a:srgbClr val="2A2B2E"/>
                </a:solidFill>
                <a:effectLst/>
                <a:latin typeface="PingFang SC"/>
              </a:rPr>
              <a:t>章概述了系统分析活动、功能和非功能需求、建模和信息收集技术</a:t>
            </a:r>
            <a:br>
              <a:rPr lang="zh-CN" altLang="en-US" b="0" i="0" dirty="0">
                <a:solidFill>
                  <a:srgbClr val="2A2B2E"/>
                </a:solidFill>
                <a:effectLst/>
                <a:latin typeface="PingFang SC"/>
              </a:rPr>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本章着重于识别和建模功能需求的关键方面</a:t>
            </a:r>
            <a:r>
              <a:rPr lang="en-US" altLang="zh-CN" b="0" i="0" dirty="0">
                <a:solidFill>
                  <a:srgbClr val="2A2B2E"/>
                </a:solidFill>
                <a:effectLst/>
                <a:latin typeface="PingFang SC"/>
              </a:rPr>
              <a:t>——</a:t>
            </a:r>
            <a:r>
              <a:rPr lang="zh-CN" altLang="en-US" b="0" i="0" dirty="0">
                <a:solidFill>
                  <a:srgbClr val="2A2B2E"/>
                </a:solidFill>
                <a:effectLst/>
                <a:latin typeface="PingFang SC"/>
              </a:rPr>
              <a:t>用例</a:t>
            </a:r>
            <a:br>
              <a:rPr lang="zh-CN" altLang="en-US" b="0" i="0" dirty="0">
                <a:solidFill>
                  <a:srgbClr val="2A2B2E"/>
                </a:solidFill>
                <a:effectLst/>
                <a:latin typeface="PingFang SC"/>
              </a:rPr>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在第一章的</a:t>
            </a:r>
            <a:r>
              <a:rPr lang="en-US" altLang="zh-CN" b="0" i="0" dirty="0">
                <a:solidFill>
                  <a:srgbClr val="2A2B2E"/>
                </a:solidFill>
                <a:effectLst/>
                <a:latin typeface="PingFang SC"/>
              </a:rPr>
              <a:t>RMO</a:t>
            </a:r>
            <a:r>
              <a:rPr lang="zh-CN" altLang="en-US" b="0" i="0" dirty="0">
                <a:solidFill>
                  <a:srgbClr val="2A2B2E"/>
                </a:solidFill>
                <a:effectLst/>
                <a:latin typeface="PingFang SC"/>
              </a:rPr>
              <a:t>展销系统中，一些用例是查找供应商、输入</a:t>
            </a:r>
            <a:r>
              <a:rPr lang="en-US" altLang="zh-CN" b="0" i="0" dirty="0">
                <a:solidFill>
                  <a:srgbClr val="2A2B2E"/>
                </a:solidFill>
                <a:effectLst/>
                <a:latin typeface="PingFang SC"/>
              </a:rPr>
              <a:t>/</a:t>
            </a:r>
            <a:r>
              <a:rPr lang="zh-CN" altLang="en-US" b="0" i="0" dirty="0">
                <a:solidFill>
                  <a:srgbClr val="2A2B2E"/>
                </a:solidFill>
                <a:effectLst/>
                <a:latin typeface="PingFang SC"/>
              </a:rPr>
              <a:t>更新产品信息、输入</a:t>
            </a:r>
            <a:r>
              <a:rPr lang="en-US" altLang="zh-CN" b="0" i="0" dirty="0">
                <a:solidFill>
                  <a:srgbClr val="2A2B2E"/>
                </a:solidFill>
                <a:effectLst/>
                <a:latin typeface="PingFang SC"/>
              </a:rPr>
              <a:t>/</a:t>
            </a:r>
            <a:r>
              <a:rPr lang="zh-CN" altLang="en-US" b="0" i="0" dirty="0">
                <a:solidFill>
                  <a:srgbClr val="2A2B2E"/>
                </a:solidFill>
                <a:effectLst/>
                <a:latin typeface="PingFang SC"/>
              </a:rPr>
              <a:t>更新联系信息</a:t>
            </a:r>
            <a:br>
              <a:rPr lang="zh-CN" altLang="en-US" b="0" i="0" dirty="0">
                <a:solidFill>
                  <a:srgbClr val="2A2B2E"/>
                </a:solidFill>
                <a:effectLst/>
                <a:latin typeface="PingFang SC"/>
              </a:rPr>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在本章的开头案例“随叫随到的服务员”中，用例的示例有</a:t>
            </a:r>
            <a:r>
              <a:rPr lang="en-US" altLang="zh-CN" b="0" i="0" dirty="0">
                <a:solidFill>
                  <a:srgbClr val="2A2B2E"/>
                </a:solidFill>
                <a:effectLst/>
                <a:latin typeface="PingFang SC"/>
              </a:rPr>
              <a:t>:</a:t>
            </a:r>
            <a:r>
              <a:rPr lang="zh-CN" altLang="en-US" b="0" i="0" dirty="0">
                <a:solidFill>
                  <a:srgbClr val="2A2B2E"/>
                </a:solidFill>
                <a:effectLst/>
                <a:latin typeface="PingFang SC"/>
              </a:rPr>
              <a:t>记录订单、记录交货、更新订单、签到司机、核对司机收据、产生当天的存款</a:t>
            </a:r>
          </a:p>
          <a:p>
            <a:br>
              <a:rPr lang="zh-CN" altLang="en-US" b="0" i="0" dirty="0">
                <a:solidFill>
                  <a:srgbClr val="939599"/>
                </a:solidFill>
                <a:effectLst/>
                <a:latin typeface="PingFang SC"/>
              </a:rPr>
            </a:b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9</a:t>
            </a:fld>
            <a:endParaRPr lang="en-US" altLang="zh-CN"/>
          </a:p>
        </p:txBody>
      </p:sp>
    </p:spTree>
    <p:extLst>
      <p:ext uri="{BB962C8B-B14F-4D97-AF65-F5344CB8AC3E}">
        <p14:creationId xmlns:p14="http://schemas.microsoft.com/office/powerpoint/2010/main" val="536928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4411A0A9-E7B1-417D-8C6D-E93E4AD5D3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F2DDEF9-DDF6-45C2-980B-53DADE0D255C}" type="slidenum">
              <a:rPr lang="en-US" altLang="zh-CN"/>
              <a:pPr eaLnBrk="1" hangingPunct="1"/>
              <a:t>10</a:t>
            </a:fld>
            <a:endParaRPr lang="en-US" altLang="zh-CN"/>
          </a:p>
        </p:txBody>
      </p:sp>
      <p:sp>
        <p:nvSpPr>
          <p:cNvPr id="44035" name="Rectangle 2">
            <a:extLst>
              <a:ext uri="{FF2B5EF4-FFF2-40B4-BE49-F238E27FC236}">
                <a16:creationId xmlns:a16="http://schemas.microsoft.com/office/drawing/2014/main" id="{4DBEDBFB-FE96-45EA-971C-A95DFAF66F6C}"/>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B195A880-8BED-4410-8108-AEC2DA7A87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用例和用户目标</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91677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用例</a:t>
            </a:r>
            <a:r>
              <a:rPr lang="en-US" altLang="zh-CN" b="0" i="0" dirty="0">
                <a:solidFill>
                  <a:srgbClr val="2A2B2E"/>
                </a:solidFill>
                <a:effectLst/>
                <a:latin typeface="PingFang SC"/>
              </a:rPr>
              <a:t>——</a:t>
            </a:r>
            <a:r>
              <a:rPr lang="zh-CN" altLang="en-US" b="0" i="0" dirty="0">
                <a:solidFill>
                  <a:srgbClr val="2A2B2E"/>
                </a:solidFill>
                <a:effectLst/>
                <a:latin typeface="PingFang SC"/>
              </a:rPr>
              <a:t>系统执行的活动，通常是对用户请求的响应</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用例定义功能需求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分析人员将系统分解为一组用例</a:t>
            </a:r>
            <a:r>
              <a:rPr lang="en-US" altLang="zh-CN" b="0" i="0" dirty="0">
                <a:solidFill>
                  <a:srgbClr val="2A2B2E"/>
                </a:solidFill>
                <a:effectLst/>
                <a:latin typeface="PingFang SC"/>
              </a:rPr>
              <a:t>(</a:t>
            </a:r>
            <a:r>
              <a:rPr lang="zh-CN" altLang="en-US" b="0" i="0" dirty="0">
                <a:solidFill>
                  <a:srgbClr val="2A2B2E"/>
                </a:solidFill>
                <a:effectLst/>
                <a:latin typeface="PingFang SC"/>
              </a:rPr>
              <a:t>功能分解</a:t>
            </a:r>
            <a:r>
              <a:rPr lang="en-US" altLang="zh-CN"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识别用例的两种技术</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1)</a:t>
            </a:r>
            <a:r>
              <a:rPr lang="zh-CN" altLang="en-US" b="0" i="0" dirty="0">
                <a:solidFill>
                  <a:srgbClr val="2A2B2E"/>
                </a:solidFill>
                <a:effectLst/>
                <a:latin typeface="PingFang SC"/>
              </a:rPr>
              <a:t>用户目标技术</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2)</a:t>
            </a:r>
            <a:r>
              <a:rPr lang="zh-CN" altLang="en-US" b="0" i="0" dirty="0">
                <a:solidFill>
                  <a:srgbClr val="2A2B2E"/>
                </a:solidFill>
                <a:effectLst/>
                <a:latin typeface="PingFang SC"/>
              </a:rPr>
              <a:t>事件分解技术</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用动词名词命名每个用例</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用例</a:t>
            </a:r>
            <a:r>
              <a:rPr lang="en-US" altLang="zh-CN" b="0" i="0" dirty="0">
                <a:solidFill>
                  <a:srgbClr val="2A2B2E"/>
                </a:solidFill>
                <a:effectLst/>
                <a:latin typeface="PingFang SC"/>
              </a:rPr>
              <a:t>:</a:t>
            </a:r>
            <a:r>
              <a:rPr lang="zh-CN" altLang="en-US" b="0" i="0" dirty="0">
                <a:solidFill>
                  <a:srgbClr val="2A2B2E"/>
                </a:solidFill>
                <a:effectLst/>
                <a:latin typeface="PingFang SC"/>
              </a:rPr>
              <a:t> 什么人</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11</a:t>
            </a:fld>
            <a:endParaRPr lang="en-US" altLang="zh-CN"/>
          </a:p>
        </p:txBody>
      </p:sp>
    </p:spTree>
    <p:extLst>
      <p:ext uri="{BB962C8B-B14F-4D97-AF65-F5344CB8AC3E}">
        <p14:creationId xmlns:p14="http://schemas.microsoft.com/office/powerpoint/2010/main" val="1773613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用例</a:t>
            </a:r>
            <a:r>
              <a:rPr lang="en-US" altLang="zh-CN" b="0" i="0" dirty="0">
                <a:solidFill>
                  <a:srgbClr val="2A2B2E"/>
                </a:solidFill>
                <a:effectLst/>
                <a:latin typeface="PingFang SC"/>
              </a:rPr>
              <a:t>——</a:t>
            </a:r>
            <a:r>
              <a:rPr lang="zh-CN" altLang="en-US" b="0" i="0" dirty="0">
                <a:solidFill>
                  <a:srgbClr val="2A2B2E"/>
                </a:solidFill>
                <a:effectLst/>
                <a:latin typeface="PingFang SC"/>
              </a:rPr>
              <a:t>系统执行的活动，通常是对用户请求的响应</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用例定义功能需求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分析人员将系统分解为一组用例</a:t>
            </a:r>
            <a:r>
              <a:rPr lang="en-US" altLang="zh-CN" b="0" i="0" dirty="0">
                <a:solidFill>
                  <a:srgbClr val="2A2B2E"/>
                </a:solidFill>
                <a:effectLst/>
                <a:latin typeface="PingFang SC"/>
              </a:rPr>
              <a:t>(</a:t>
            </a:r>
            <a:r>
              <a:rPr lang="zh-CN" altLang="en-US" b="0" i="0" dirty="0">
                <a:solidFill>
                  <a:srgbClr val="2A2B2E"/>
                </a:solidFill>
                <a:effectLst/>
                <a:latin typeface="PingFang SC"/>
              </a:rPr>
              <a:t>功能分解</a:t>
            </a:r>
            <a:r>
              <a:rPr lang="en-US" altLang="zh-CN"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识别用例的两种技术</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1)</a:t>
            </a:r>
            <a:r>
              <a:rPr lang="zh-CN" altLang="en-US" b="0" i="0" dirty="0">
                <a:solidFill>
                  <a:srgbClr val="2A2B2E"/>
                </a:solidFill>
                <a:effectLst/>
                <a:latin typeface="PingFang SC"/>
              </a:rPr>
              <a:t>用户目标技术</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2)</a:t>
            </a:r>
            <a:r>
              <a:rPr lang="zh-CN" altLang="en-US" b="0" i="0" dirty="0">
                <a:solidFill>
                  <a:srgbClr val="2A2B2E"/>
                </a:solidFill>
                <a:effectLst/>
                <a:latin typeface="PingFang SC"/>
              </a:rPr>
              <a:t>事件分解技术</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用动词名词命名每个用例</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用例</a:t>
            </a:r>
            <a:r>
              <a:rPr lang="en-US" altLang="zh-CN" b="0" i="0" dirty="0">
                <a:solidFill>
                  <a:srgbClr val="2A2B2E"/>
                </a:solidFill>
                <a:effectLst/>
                <a:latin typeface="PingFang SC"/>
              </a:rPr>
              <a:t>:</a:t>
            </a:r>
            <a:r>
              <a:rPr lang="zh-CN" altLang="en-US" b="0" i="0" dirty="0">
                <a:solidFill>
                  <a:srgbClr val="2A2B2E"/>
                </a:solidFill>
                <a:effectLst/>
                <a:latin typeface="PingFang SC"/>
              </a:rPr>
              <a:t> 什么人</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12</a:t>
            </a:fld>
            <a:endParaRPr lang="en-US" altLang="zh-CN"/>
          </a:p>
        </p:txBody>
      </p:sp>
    </p:spTree>
    <p:extLst>
      <p:ext uri="{BB962C8B-B14F-4D97-AF65-F5344CB8AC3E}">
        <p14:creationId xmlns:p14="http://schemas.microsoft.com/office/powerpoint/2010/main" val="4257740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2A2B2E"/>
                </a:solidFill>
                <a:effectLst/>
                <a:latin typeface="PingFang SC"/>
              </a:rPr>
              <a:t>1)</a:t>
            </a:r>
            <a:r>
              <a:rPr lang="zh-CN" altLang="en-US" b="0" i="0" dirty="0">
                <a:solidFill>
                  <a:srgbClr val="2A2B2E"/>
                </a:solidFill>
                <a:effectLst/>
                <a:latin typeface="PingFang SC"/>
              </a:rPr>
              <a:t>用户目标技术</a:t>
            </a:r>
            <a:r>
              <a:rPr lang="en-US" altLang="zh-CN" b="0" i="0" dirty="0">
                <a:solidFill>
                  <a:srgbClr val="2A2B2E"/>
                </a:solidFill>
                <a:effectLst/>
                <a:latin typeface="PingFang SC"/>
              </a:rPr>
              <a:t>:</a:t>
            </a: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识别系统的所有潜在用户类别</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请他们描述计算机可以帮助他们完成的任务</a:t>
            </a:r>
            <a:endParaRPr lang="en-US" altLang="zh-CN" b="0" i="0" dirty="0">
              <a:solidFill>
                <a:srgbClr val="2A2B2E"/>
              </a:solidFill>
              <a:effectLst/>
              <a:latin typeface="PingFang SC"/>
            </a:endParaRPr>
          </a:p>
          <a:p>
            <a:pPr algn="l"/>
            <a:br>
              <a:rPr lang="zh-CN" altLang="en-US" dirty="0"/>
            </a:br>
            <a:r>
              <a:rPr lang="zh-CN" altLang="en-US" b="0" i="0" dirty="0">
                <a:solidFill>
                  <a:srgbClr val="2A2B2E"/>
                </a:solidFill>
                <a:effectLst/>
                <a:latin typeface="PingFang SC"/>
              </a:rPr>
              <a:t>进一步将任务细化为特定的用户目标，“我需要发送物品、跟踪发货、创建退货”。</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这种技术在工业中最为常见</a:t>
            </a:r>
            <a:br>
              <a:rPr lang="zh-CN" altLang="en-US" dirty="0"/>
            </a:br>
            <a:r>
              <a:rPr lang="zh-CN" altLang="en-US" b="0" i="0" dirty="0">
                <a:solidFill>
                  <a:srgbClr val="2A2B2E"/>
                </a:solidFill>
                <a:effectLst/>
                <a:latin typeface="PingFang SC"/>
              </a:rPr>
              <a:t>简单有效</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13</a:t>
            </a:fld>
            <a:endParaRPr lang="en-US" altLang="zh-CN"/>
          </a:p>
        </p:txBody>
      </p:sp>
    </p:spTree>
    <p:extLst>
      <p:ext uri="{BB962C8B-B14F-4D97-AF65-F5344CB8AC3E}">
        <p14:creationId xmlns:p14="http://schemas.microsoft.com/office/powerpoint/2010/main" val="1975817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定义新系统所有的潜在用户</a:t>
            </a:r>
            <a:endParaRPr lang="en-US" altLang="zh-CN" dirty="0"/>
          </a:p>
          <a:p>
            <a:pPr marL="228600" indent="-228600">
              <a:buAutoNum type="arabicPeriod"/>
            </a:pPr>
            <a:r>
              <a:rPr lang="zh-CN" altLang="en-US" dirty="0"/>
              <a:t>根据潜在用户的功能角色进行分类（</a:t>
            </a:r>
            <a:r>
              <a:rPr lang="zh-CN" altLang="en-US" b="0" i="0" dirty="0">
                <a:solidFill>
                  <a:srgbClr val="2A2B2E"/>
                </a:solidFill>
                <a:effectLst/>
                <a:latin typeface="PingFang SC"/>
              </a:rPr>
              <a:t>运输，营销，销售</a:t>
            </a:r>
            <a:r>
              <a:rPr lang="zh-CN" altLang="en-US" dirty="0"/>
              <a:t>）</a:t>
            </a:r>
            <a:endParaRPr lang="en-US" altLang="zh-CN" dirty="0"/>
          </a:p>
          <a:p>
            <a:pPr marL="228600" indent="-228600">
              <a:buAutoNum type="arabicPeriod"/>
            </a:pPr>
            <a:r>
              <a:rPr lang="zh-CN" altLang="en-US" dirty="0"/>
              <a:t>通过组织的层次进一步将潜在用户分类（</a:t>
            </a:r>
            <a:r>
              <a:rPr lang="zh-CN" altLang="en-US" b="0" i="0" dirty="0">
                <a:solidFill>
                  <a:srgbClr val="2A2B2E"/>
                </a:solidFill>
                <a:effectLst/>
                <a:latin typeface="PingFang SC"/>
              </a:rPr>
              <a:t>运营、管理、执行</a:t>
            </a:r>
            <a:r>
              <a:rPr lang="zh-CN" altLang="en-US" dirty="0"/>
              <a:t>）</a:t>
            </a:r>
            <a:endParaRPr lang="en-US" altLang="zh-CN" dirty="0"/>
          </a:p>
          <a:p>
            <a:pPr marL="0" indent="0">
              <a:buNone/>
            </a:pP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14</a:t>
            </a:fld>
            <a:endParaRPr lang="en-US" altLang="zh-CN"/>
          </a:p>
        </p:txBody>
      </p:sp>
    </p:spTree>
    <p:extLst>
      <p:ext uri="{BB962C8B-B14F-4D97-AF65-F5344CB8AC3E}">
        <p14:creationId xmlns:p14="http://schemas.microsoft.com/office/powerpoint/2010/main" val="41845243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4. </a:t>
            </a:r>
            <a:r>
              <a:rPr lang="zh-CN" altLang="en-US" dirty="0"/>
              <a:t>针对每种用户进行采访，并发现他们使用这个新系统时的一系列特定目标。</a:t>
            </a:r>
            <a:endParaRPr lang="en-US" altLang="zh-CN" dirty="0"/>
          </a:p>
          <a:p>
            <a:r>
              <a:rPr lang="en-US" altLang="zh-CN" dirty="0"/>
              <a:t>5. </a:t>
            </a:r>
            <a:r>
              <a:rPr lang="zh-CN" altLang="en-US" dirty="0"/>
              <a:t>创建按用户类型组织的主要用例列表</a:t>
            </a:r>
            <a:endParaRPr lang="en-US" altLang="zh-CN" dirty="0"/>
          </a:p>
          <a:p>
            <a:r>
              <a:rPr lang="en-US" altLang="zh-CN" dirty="0"/>
              <a:t>6. </a:t>
            </a:r>
            <a:r>
              <a:rPr lang="zh-CN" altLang="en-US" dirty="0"/>
              <a:t>寻找相似用例名字的重复之处并解决矛盾</a:t>
            </a:r>
            <a:endParaRPr lang="en-US" altLang="zh-CN"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15</a:t>
            </a:fld>
            <a:endParaRPr lang="en-US" altLang="zh-CN"/>
          </a:p>
        </p:txBody>
      </p:sp>
    </p:spTree>
    <p:extLst>
      <p:ext uri="{BB962C8B-B14F-4D97-AF65-F5344CB8AC3E}">
        <p14:creationId xmlns:p14="http://schemas.microsoft.com/office/powerpoint/2010/main" val="37254806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7.</a:t>
            </a:r>
            <a:r>
              <a:rPr lang="zh-CN" altLang="en-US" b="0" i="0" dirty="0">
                <a:solidFill>
                  <a:srgbClr val="2A2B2E"/>
                </a:solidFill>
                <a:effectLst/>
                <a:latin typeface="PingFang SC"/>
              </a:rPr>
              <a:t>确定不同类型的用户在哪里需要相同的用例</a:t>
            </a:r>
            <a:endParaRPr lang="en-US" altLang="zh-CN" b="0" i="0" dirty="0">
              <a:solidFill>
                <a:srgbClr val="2A2B2E"/>
              </a:solidFill>
              <a:effectLst/>
              <a:latin typeface="PingFang SC"/>
            </a:endParaRPr>
          </a:p>
          <a:p>
            <a:r>
              <a:rPr lang="en-US" altLang="zh-CN" dirty="0"/>
              <a:t>8.</a:t>
            </a:r>
            <a:r>
              <a:rPr lang="zh-CN" altLang="en-US" b="0" i="0" dirty="0">
                <a:solidFill>
                  <a:srgbClr val="2A2B2E"/>
                </a:solidFill>
                <a:effectLst/>
                <a:latin typeface="PingFang SC"/>
              </a:rPr>
              <a:t>与每种类型的用户一起检查完整的列表，然后与感兴趣的利益相关者一起检查</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16</a:t>
            </a:fld>
            <a:endParaRPr lang="en-US" altLang="zh-CN"/>
          </a:p>
        </p:txBody>
      </p:sp>
    </p:spTree>
    <p:extLst>
      <p:ext uri="{BB962C8B-B14F-4D97-AF65-F5344CB8AC3E}">
        <p14:creationId xmlns:p14="http://schemas.microsoft.com/office/powerpoint/2010/main" val="14272577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潜在用户 </a:t>
            </a:r>
            <a:r>
              <a:rPr lang="en-US" altLang="zh-CN" dirty="0"/>
              <a:t>-&gt; </a:t>
            </a:r>
            <a:r>
              <a:rPr lang="zh-CN" altLang="en-US" dirty="0"/>
              <a:t>查询产品，加载购物车，查看产品评价</a:t>
            </a:r>
            <a:endParaRPr lang="en-US" altLang="zh-CN" dirty="0"/>
          </a:p>
          <a:p>
            <a:r>
              <a:rPr lang="zh-CN" altLang="en-US" dirty="0"/>
              <a:t>市场部经理 </a:t>
            </a:r>
            <a:r>
              <a:rPr lang="en-US" altLang="zh-CN" dirty="0"/>
              <a:t>-&gt; </a:t>
            </a:r>
            <a:r>
              <a:rPr lang="zh-CN" altLang="en-US" dirty="0"/>
              <a:t>添加</a:t>
            </a:r>
            <a:r>
              <a:rPr lang="en-US" altLang="zh-CN" dirty="0"/>
              <a:t>/</a:t>
            </a:r>
            <a:r>
              <a:rPr lang="zh-CN" altLang="en-US" dirty="0"/>
              <a:t>更新产品信息，添加</a:t>
            </a:r>
            <a:r>
              <a:rPr lang="en-US" altLang="zh-CN" dirty="0"/>
              <a:t>/</a:t>
            </a:r>
            <a:r>
              <a:rPr lang="zh-CN" altLang="en-US" dirty="0"/>
              <a:t>更新促销，销售历史记录</a:t>
            </a:r>
            <a:endParaRPr lang="en-US" altLang="zh-CN" dirty="0"/>
          </a:p>
          <a:p>
            <a:r>
              <a:rPr lang="zh-CN" altLang="en-US" dirty="0"/>
              <a:t>运输人员 </a:t>
            </a:r>
            <a:r>
              <a:rPr lang="en-US" altLang="zh-CN" dirty="0"/>
              <a:t>-&gt;  </a:t>
            </a:r>
            <a:r>
              <a:rPr lang="zh-CN" altLang="en-US" dirty="0"/>
              <a:t>运输产品，跟踪运输，处理产品退货</a:t>
            </a:r>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17</a:t>
            </a:fld>
            <a:endParaRPr lang="en-US" altLang="zh-CN"/>
          </a:p>
        </p:txBody>
      </p:sp>
    </p:spTree>
    <p:extLst>
      <p:ext uri="{BB962C8B-B14F-4D97-AF65-F5344CB8AC3E}">
        <p14:creationId xmlns:p14="http://schemas.microsoft.com/office/powerpoint/2010/main" val="40379009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4411A0A9-E7B1-417D-8C6D-E93E4AD5D3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F2DDEF9-DDF6-45C2-980B-53DADE0D255C}" type="slidenum">
              <a:rPr lang="en-US" altLang="zh-CN"/>
              <a:pPr eaLnBrk="1" hangingPunct="1"/>
              <a:t>18</a:t>
            </a:fld>
            <a:endParaRPr lang="en-US" altLang="zh-CN"/>
          </a:p>
        </p:txBody>
      </p:sp>
      <p:sp>
        <p:nvSpPr>
          <p:cNvPr id="44035" name="Rectangle 2">
            <a:extLst>
              <a:ext uri="{FF2B5EF4-FFF2-40B4-BE49-F238E27FC236}">
                <a16:creationId xmlns:a16="http://schemas.microsoft.com/office/drawing/2014/main" id="{4DBEDBFB-FE96-45EA-971C-A95DFAF66F6C}"/>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B195A880-8BED-4410-8108-AEC2DA7A87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用例和事件分解</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14465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2A2B2E"/>
                </a:solidFill>
                <a:effectLst/>
                <a:latin typeface="PingFang SC"/>
              </a:rPr>
              <a:t>2)</a:t>
            </a:r>
            <a:r>
              <a:rPr lang="zh-CN" altLang="en-US" b="0" i="0" dirty="0">
                <a:solidFill>
                  <a:srgbClr val="2A2B2E"/>
                </a:solidFill>
                <a:effectLst/>
                <a:latin typeface="PingFang SC"/>
              </a:rPr>
              <a:t>事件分解技术</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更全面和完整的技术：</a:t>
            </a:r>
            <a:br>
              <a:rPr lang="zh-CN" altLang="en-US" dirty="0"/>
            </a:br>
            <a:r>
              <a:rPr lang="zh-CN" altLang="en-US" dirty="0"/>
              <a:t>  </a:t>
            </a:r>
            <a:r>
              <a:rPr lang="zh-CN" altLang="en-US" b="0" i="0" dirty="0">
                <a:solidFill>
                  <a:srgbClr val="2A2B2E"/>
                </a:solidFill>
                <a:effectLst/>
                <a:latin typeface="PingFang SC"/>
              </a:rPr>
              <a:t>确定系统必须响应的事件。</a:t>
            </a:r>
            <a:br>
              <a:rPr lang="zh-CN" altLang="en-US" dirty="0"/>
            </a:br>
            <a:r>
              <a:rPr lang="zh-CN" altLang="en-US" dirty="0"/>
              <a:t>  </a:t>
            </a:r>
            <a:r>
              <a:rPr lang="zh-CN" altLang="en-US" b="0" i="0" dirty="0">
                <a:solidFill>
                  <a:srgbClr val="2A2B2E"/>
                </a:solidFill>
                <a:effectLst/>
                <a:latin typeface="PingFang SC"/>
              </a:rPr>
              <a:t>对于每个事件，命名一个用例</a:t>
            </a:r>
            <a:r>
              <a:rPr lang="en-US" altLang="zh-CN" b="0" i="0" dirty="0">
                <a:solidFill>
                  <a:srgbClr val="2A2B2E"/>
                </a:solidFill>
                <a:effectLst/>
                <a:latin typeface="PingFang SC"/>
              </a:rPr>
              <a:t>(</a:t>
            </a:r>
            <a:r>
              <a:rPr lang="zh-CN" altLang="en-US" b="0" i="0" dirty="0">
                <a:solidFill>
                  <a:srgbClr val="2A2B2E"/>
                </a:solidFill>
                <a:effectLst/>
                <a:latin typeface="PingFang SC"/>
              </a:rPr>
              <a:t>动词</a:t>
            </a:r>
            <a:r>
              <a:rPr lang="en-US" altLang="zh-CN" b="0" i="0" dirty="0">
                <a:solidFill>
                  <a:srgbClr val="2A2B2E"/>
                </a:solidFill>
                <a:effectLst/>
                <a:latin typeface="PingFang SC"/>
              </a:rPr>
              <a:t>-</a:t>
            </a:r>
            <a:r>
              <a:rPr lang="zh-CN" altLang="en-US" b="0" i="0" dirty="0">
                <a:solidFill>
                  <a:srgbClr val="2A2B2E"/>
                </a:solidFill>
                <a:effectLst/>
                <a:latin typeface="PingFang SC"/>
              </a:rPr>
              <a:t>名词</a:t>
            </a:r>
            <a:r>
              <a:rPr lang="en-US" altLang="zh-CN" b="0" i="0" dirty="0">
                <a:solidFill>
                  <a:srgbClr val="2A2B2E"/>
                </a:solidFill>
                <a:effectLst/>
                <a:latin typeface="PingFang SC"/>
              </a:rPr>
              <a:t>)</a:t>
            </a:r>
            <a:r>
              <a:rPr lang="zh-CN" altLang="en-US" b="0" i="0" dirty="0">
                <a:solidFill>
                  <a:srgbClr val="2A2B2E"/>
                </a:solidFill>
                <a:effectLst/>
                <a:latin typeface="PingFang SC"/>
              </a:rPr>
              <a:t>，描述当事件发生时系统所做的事情</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事件</a:t>
            </a:r>
            <a:r>
              <a:rPr lang="en-US" altLang="zh-CN" b="0" i="0" dirty="0">
                <a:solidFill>
                  <a:srgbClr val="2A2B2E"/>
                </a:solidFill>
                <a:effectLst/>
                <a:latin typeface="PingFang SC"/>
              </a:rPr>
              <a:t>-</a:t>
            </a:r>
            <a:r>
              <a:rPr lang="zh-CN" altLang="en-US" b="0" i="0" dirty="0">
                <a:solidFill>
                  <a:srgbClr val="2A2B2E"/>
                </a:solidFill>
                <a:effectLst/>
                <a:latin typeface="PingFang SC"/>
              </a:rPr>
              <a:t>在特定时间和地点发生的事情，可以被描述，并且应该被系统记住</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19</a:t>
            </a:fld>
            <a:endParaRPr lang="en-US" altLang="zh-CN"/>
          </a:p>
        </p:txBody>
      </p:sp>
    </p:spTree>
    <p:extLst>
      <p:ext uri="{BB962C8B-B14F-4D97-AF65-F5344CB8AC3E}">
        <p14:creationId xmlns:p14="http://schemas.microsoft.com/office/powerpoint/2010/main" val="4308980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外部事件</a:t>
            </a:r>
            <a:r>
              <a:rPr lang="en-US" altLang="zh-CN" b="0" i="0" dirty="0">
                <a:solidFill>
                  <a:srgbClr val="2A2B2E"/>
                </a:solidFill>
                <a:effectLst/>
                <a:latin typeface="PingFang SC"/>
              </a:rPr>
              <a:t>:</a:t>
            </a:r>
            <a:r>
              <a:rPr lang="zh-CN" altLang="en-US" b="0" i="0" dirty="0">
                <a:solidFill>
                  <a:srgbClr val="2A2B2E"/>
                </a:solidFill>
                <a:effectLst/>
                <a:latin typeface="PingFang SC"/>
              </a:rPr>
              <a:t>外部事件发生在系统外部的事件，通常由外部代理或参与者发起</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时间事件</a:t>
            </a:r>
            <a:r>
              <a:rPr lang="en-US" altLang="zh-CN" b="0" i="0" dirty="0">
                <a:solidFill>
                  <a:srgbClr val="2A2B2E"/>
                </a:solidFill>
                <a:effectLst/>
                <a:latin typeface="PingFang SC"/>
              </a:rPr>
              <a:t>:</a:t>
            </a:r>
            <a:r>
              <a:rPr lang="zh-CN" altLang="en-US" b="0" i="0" dirty="0">
                <a:solidFill>
                  <a:srgbClr val="2A2B2E"/>
                </a:solidFill>
                <a:effectLst/>
                <a:latin typeface="PingFang SC"/>
              </a:rPr>
              <a:t>时间事件由于到达某个时间点而发生的事件</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状态事件</a:t>
            </a:r>
            <a:r>
              <a:rPr lang="en-US" altLang="zh-CN" b="0" i="0" dirty="0">
                <a:solidFill>
                  <a:srgbClr val="2A2B2E"/>
                </a:solidFill>
                <a:effectLst/>
                <a:latin typeface="PingFang SC"/>
              </a:rPr>
              <a:t>:</a:t>
            </a:r>
            <a:r>
              <a:rPr lang="zh-CN" altLang="en-US" b="0" i="0" dirty="0">
                <a:solidFill>
                  <a:srgbClr val="2A2B2E"/>
                </a:solidFill>
                <a:effectLst/>
                <a:latin typeface="PingFang SC"/>
              </a:rPr>
              <a:t>状态事件</a:t>
            </a:r>
            <a:r>
              <a:rPr lang="en-US" altLang="zh-CN" b="0" i="0" dirty="0">
                <a:solidFill>
                  <a:srgbClr val="2A2B2E"/>
                </a:solidFill>
                <a:effectLst/>
                <a:latin typeface="PingFang SC"/>
              </a:rPr>
              <a:t>(</a:t>
            </a:r>
            <a:r>
              <a:rPr lang="zh-CN" altLang="en-US" b="0" i="0" dirty="0">
                <a:solidFill>
                  <a:srgbClr val="2A2B2E"/>
                </a:solidFill>
                <a:effectLst/>
                <a:latin typeface="PingFang SC"/>
              </a:rPr>
              <a:t>内部事件</a:t>
            </a:r>
            <a:r>
              <a:rPr lang="en-US" altLang="zh-CN" b="0" i="0" dirty="0">
                <a:solidFill>
                  <a:srgbClr val="2A2B2E"/>
                </a:solidFill>
                <a:effectLst/>
                <a:latin typeface="PingFang SC"/>
              </a:rPr>
              <a:t>):</a:t>
            </a:r>
            <a:r>
              <a:rPr lang="zh-CN" altLang="en-US" b="0" i="0" dirty="0">
                <a:solidFill>
                  <a:srgbClr val="2A2B2E"/>
                </a:solidFill>
                <a:effectLst/>
                <a:latin typeface="PingFang SC"/>
              </a:rPr>
              <a:t>当系统内部发生某些事情时发生的事件（库存物品到达重新订购点）</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21</a:t>
            </a:fld>
            <a:endParaRPr lang="en-US" altLang="zh-CN"/>
          </a:p>
        </p:txBody>
      </p:sp>
    </p:spTree>
    <p:extLst>
      <p:ext uri="{BB962C8B-B14F-4D97-AF65-F5344CB8AC3E}">
        <p14:creationId xmlns:p14="http://schemas.microsoft.com/office/powerpoint/2010/main" val="31988699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环境中发生的外部事件（用户付款）</a:t>
            </a:r>
            <a:endParaRPr lang="en-US" altLang="zh-CN" dirty="0"/>
          </a:p>
          <a:p>
            <a:pPr marL="228600" indent="-228600">
              <a:buAutoNum type="arabicPeriod"/>
            </a:pPr>
            <a:r>
              <a:rPr lang="zh-CN" altLang="en-US" dirty="0"/>
              <a:t>发生在系统内部的时间事件（发出月度账单，延迟通知，周总结报告）</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22</a:t>
            </a:fld>
            <a:endParaRPr lang="en-US" altLang="zh-CN"/>
          </a:p>
        </p:txBody>
      </p:sp>
    </p:spTree>
    <p:extLst>
      <p:ext uri="{BB962C8B-B14F-4D97-AF65-F5344CB8AC3E}">
        <p14:creationId xmlns:p14="http://schemas.microsoft.com/office/powerpoint/2010/main" val="836285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外部事件清单：</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外部代理或参与者想要交易的结果</a:t>
            </a:r>
            <a:br>
              <a:rPr lang="zh-CN" altLang="en-US" dirty="0"/>
            </a:br>
            <a:r>
              <a:rPr lang="zh-CN" altLang="en-US" dirty="0"/>
              <a:t>   </a:t>
            </a:r>
            <a:r>
              <a:rPr lang="zh-CN" altLang="en-US" b="0" i="0" dirty="0">
                <a:solidFill>
                  <a:srgbClr val="2A2B2E"/>
                </a:solidFill>
                <a:effectLst/>
                <a:latin typeface="PingFang SC"/>
              </a:rPr>
              <a:t>顾客购买产品</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外部代理或参与者需要一些信息</a:t>
            </a:r>
            <a:br>
              <a:rPr lang="zh-CN" altLang="en-US" dirty="0"/>
            </a:br>
            <a:r>
              <a:rPr lang="zh-CN" altLang="en-US" dirty="0"/>
              <a:t>   </a:t>
            </a:r>
            <a:r>
              <a:rPr lang="zh-CN" altLang="en-US" b="0" i="0" dirty="0">
                <a:solidFill>
                  <a:srgbClr val="2A2B2E"/>
                </a:solidFill>
                <a:effectLst/>
                <a:latin typeface="PingFang SC"/>
              </a:rPr>
              <a:t>客户想知道产品细节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外部数据发生变化，需要更新</a:t>
            </a:r>
            <a:br>
              <a:rPr lang="zh-CN" altLang="en-US" dirty="0"/>
            </a:br>
            <a:r>
              <a:rPr lang="zh-CN" altLang="en-US" dirty="0"/>
              <a:t>   </a:t>
            </a:r>
            <a:r>
              <a:rPr lang="zh-CN" altLang="en-US" b="0" i="0" dirty="0">
                <a:solidFill>
                  <a:srgbClr val="2A2B2E"/>
                </a:solidFill>
                <a:effectLst/>
                <a:latin typeface="PingFang SC"/>
              </a:rPr>
              <a:t>客户有新的地址和电话</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管理层想要一些信息</a:t>
            </a:r>
            <a:br>
              <a:rPr lang="zh-CN" altLang="en-US" dirty="0"/>
            </a:br>
            <a:r>
              <a:rPr lang="zh-CN" altLang="en-US" dirty="0"/>
              <a:t>  </a:t>
            </a:r>
            <a:r>
              <a:rPr lang="zh-CN" altLang="en-US" b="0" i="0" dirty="0">
                <a:solidFill>
                  <a:srgbClr val="2A2B2E"/>
                </a:solidFill>
                <a:effectLst/>
                <a:latin typeface="PingFang SC"/>
              </a:rPr>
              <a:t>销售经理想要最新的生产计划</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23</a:t>
            </a:fld>
            <a:endParaRPr lang="en-US" altLang="zh-CN"/>
          </a:p>
        </p:txBody>
      </p:sp>
    </p:spTree>
    <p:extLst>
      <p:ext uri="{BB962C8B-B14F-4D97-AF65-F5344CB8AC3E}">
        <p14:creationId xmlns:p14="http://schemas.microsoft.com/office/powerpoint/2010/main" val="24765606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时间事件清单：</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在时间点需要的内部输出</a:t>
            </a:r>
            <a:br>
              <a:rPr lang="zh-CN" altLang="en-US" dirty="0"/>
            </a:br>
            <a:r>
              <a:rPr lang="zh-CN" altLang="en-US" dirty="0"/>
              <a:t>  </a:t>
            </a:r>
            <a:r>
              <a:rPr lang="zh-CN" altLang="en-US" b="0" i="0" dirty="0">
                <a:solidFill>
                  <a:srgbClr val="2A2B2E"/>
                </a:solidFill>
                <a:effectLst/>
                <a:latin typeface="PingFang SC"/>
              </a:rPr>
              <a:t>管理报告</a:t>
            </a:r>
            <a:br>
              <a:rPr lang="zh-CN" altLang="en-US" dirty="0"/>
            </a:br>
            <a:r>
              <a:rPr lang="zh-CN" altLang="en-US" dirty="0"/>
              <a:t>  </a:t>
            </a:r>
            <a:r>
              <a:rPr lang="zh-CN" altLang="en-US" b="0" i="0" dirty="0">
                <a:solidFill>
                  <a:srgbClr val="2A2B2E"/>
                </a:solidFill>
                <a:effectLst/>
                <a:latin typeface="PingFang SC"/>
              </a:rPr>
              <a:t>运营报告</a:t>
            </a:r>
            <a:r>
              <a:rPr lang="en-US" altLang="zh-CN" b="0" i="0" dirty="0">
                <a:solidFill>
                  <a:srgbClr val="2A2B2E"/>
                </a:solidFill>
                <a:effectLst/>
                <a:latin typeface="PingFang SC"/>
              </a:rPr>
              <a:t>(</a:t>
            </a:r>
            <a:r>
              <a:rPr lang="zh-CN" altLang="en-US" b="0" i="0" dirty="0">
                <a:solidFill>
                  <a:srgbClr val="2A2B2E"/>
                </a:solidFill>
                <a:effectLst/>
                <a:latin typeface="PingFang SC"/>
              </a:rPr>
              <a:t>详细交易</a:t>
            </a:r>
            <a:r>
              <a:rPr lang="en-US" altLang="zh-CN" b="0" i="0" dirty="0">
                <a:solidFill>
                  <a:srgbClr val="2A2B2E"/>
                </a:solidFill>
                <a:effectLst/>
                <a:latin typeface="PingFang SC"/>
              </a:rPr>
              <a:t>)</a:t>
            </a:r>
          </a:p>
          <a:p>
            <a:pPr algn="l"/>
            <a:r>
              <a:rPr lang="zh-CN" altLang="en-US" b="0" i="0" dirty="0">
                <a:solidFill>
                  <a:srgbClr val="2A2B2E"/>
                </a:solidFill>
                <a:effectLst/>
                <a:latin typeface="PingFang SC"/>
              </a:rPr>
              <a:t>  内部报表及文件</a:t>
            </a:r>
            <a:r>
              <a:rPr lang="en-US" altLang="zh-CN" b="0" i="0" dirty="0">
                <a:solidFill>
                  <a:srgbClr val="2A2B2E"/>
                </a:solidFill>
                <a:effectLst/>
                <a:latin typeface="PingFang SC"/>
              </a:rPr>
              <a:t>(</a:t>
            </a:r>
            <a:r>
              <a:rPr lang="zh-CN" altLang="en-US" b="0" i="0" dirty="0">
                <a:solidFill>
                  <a:srgbClr val="2A2B2E"/>
                </a:solidFill>
                <a:effectLst/>
                <a:latin typeface="PingFang SC"/>
              </a:rPr>
              <a:t>包括工资单</a:t>
            </a:r>
            <a:r>
              <a:rPr lang="en-US" altLang="zh-CN"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在特定时间点需要外部输出</a:t>
            </a:r>
            <a:br>
              <a:rPr lang="zh-CN" altLang="en-US" dirty="0"/>
            </a:br>
            <a:r>
              <a:rPr lang="zh-CN" altLang="en-US" dirty="0"/>
              <a:t>  </a:t>
            </a:r>
            <a:r>
              <a:rPr lang="zh-CN" altLang="en-US" b="0" i="0" dirty="0">
                <a:solidFill>
                  <a:srgbClr val="2A2B2E"/>
                </a:solidFill>
                <a:effectLst/>
                <a:latin typeface="PingFang SC"/>
              </a:rPr>
              <a:t>报表，状态报告，账单，提醒</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24</a:t>
            </a:fld>
            <a:endParaRPr lang="en-US" altLang="zh-CN"/>
          </a:p>
        </p:txBody>
      </p:sp>
    </p:spTree>
    <p:extLst>
      <p:ext uri="{BB962C8B-B14F-4D97-AF65-F5344CB8AC3E}">
        <p14:creationId xmlns:p14="http://schemas.microsoft.com/office/powerpoint/2010/main" val="33444833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查找影响系统的实际事件</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客户想要一件新的</a:t>
            </a:r>
            <a:r>
              <a:rPr lang="en-US" altLang="zh-CN" b="0" i="0" dirty="0">
                <a:solidFill>
                  <a:srgbClr val="2A2B2E"/>
                </a:solidFill>
                <a:effectLst/>
                <a:latin typeface="PingFang SC"/>
              </a:rPr>
              <a:t>T</a:t>
            </a:r>
            <a:r>
              <a:rPr lang="zh-CN" altLang="en-US" b="0" i="0" dirty="0">
                <a:solidFill>
                  <a:srgbClr val="2A2B2E"/>
                </a:solidFill>
                <a:effectLst/>
                <a:latin typeface="PingFang SC"/>
              </a:rPr>
              <a:t>恤</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客户开车去商场</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客户试了一件</a:t>
            </a:r>
            <a:r>
              <a:rPr lang="en-US" altLang="zh-CN" b="0" i="0" dirty="0">
                <a:solidFill>
                  <a:srgbClr val="2A2B2E"/>
                </a:solidFill>
                <a:effectLst/>
                <a:latin typeface="PingFang SC"/>
              </a:rPr>
              <a:t>T</a:t>
            </a:r>
            <a:r>
              <a:rPr lang="zh-CN" altLang="en-US" b="0" i="0" dirty="0">
                <a:solidFill>
                  <a:srgbClr val="2A2B2E"/>
                </a:solidFill>
                <a:effectLst/>
                <a:latin typeface="PingFang SC"/>
              </a:rPr>
              <a:t>恤</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客户又去了沃尔玛</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客户在沃尔玛又试了一件</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客户买了一件（实际影响系统的事件）</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25</a:t>
            </a:fld>
            <a:endParaRPr lang="en-US" altLang="zh-CN"/>
          </a:p>
        </p:txBody>
      </p:sp>
    </p:spTree>
    <p:extLst>
      <p:ext uri="{BB962C8B-B14F-4D97-AF65-F5344CB8AC3E}">
        <p14:creationId xmlns:p14="http://schemas.microsoft.com/office/powerpoint/2010/main" val="24566371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跟踪导致许多事件的交易序列</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客户想要一本产品目录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客户想要查看有那些产品</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客户下了一个订单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客户改变或者取消了订单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客户想要查看订单状态</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客户更新账户信息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客户进行退货</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26</a:t>
            </a:fld>
            <a:endParaRPr lang="en-US" altLang="zh-CN"/>
          </a:p>
        </p:txBody>
      </p:sp>
    </p:spTree>
    <p:extLst>
      <p:ext uri="{BB962C8B-B14F-4D97-AF65-F5344CB8AC3E}">
        <p14:creationId xmlns:p14="http://schemas.microsoft.com/office/powerpoint/2010/main" val="30723401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理想技术假设：</a:t>
            </a:r>
            <a:endParaRPr lang="en-US" altLang="zh-CN" dirty="0"/>
          </a:p>
          <a:p>
            <a:endParaRPr lang="en-US" altLang="zh-CN" dirty="0"/>
          </a:p>
          <a:p>
            <a:r>
              <a:rPr lang="zh-CN" altLang="en-US" dirty="0"/>
              <a:t>设备不会损坏、处理和存储能力没有限制、用户操作完全遵照系统要求且没有误操作</a:t>
            </a:r>
            <a:endParaRPr lang="en-US" altLang="zh-CN" dirty="0"/>
          </a:p>
          <a:p>
            <a:endParaRPr lang="en-US" altLang="zh-CN" dirty="0"/>
          </a:p>
          <a:p>
            <a:r>
              <a:rPr lang="zh-CN" altLang="en-US" dirty="0"/>
              <a:t>在考虑设计问题之前，不要太担心一下这些问题：</a:t>
            </a:r>
            <a:endParaRPr lang="en-US" altLang="zh-CN" dirty="0"/>
          </a:p>
          <a:p>
            <a:r>
              <a:rPr lang="zh-CN" altLang="en-US" dirty="0"/>
              <a:t>用户想登录系统</a:t>
            </a:r>
            <a:endParaRPr lang="en-US" altLang="zh-CN" dirty="0"/>
          </a:p>
          <a:p>
            <a:r>
              <a:rPr lang="zh-CN" altLang="en-US" dirty="0"/>
              <a:t>用户想要修改密码</a:t>
            </a:r>
            <a:endParaRPr lang="en-US" altLang="zh-CN" dirty="0"/>
          </a:p>
          <a:p>
            <a:r>
              <a:rPr lang="zh-CN" altLang="en-US" dirty="0"/>
              <a:t>用户想要改变偏好设置</a:t>
            </a:r>
            <a:endParaRPr lang="en-US" altLang="zh-CN" dirty="0"/>
          </a:p>
          <a:p>
            <a:r>
              <a:rPr lang="zh-CN" altLang="en-US" dirty="0"/>
              <a:t>系统崩了，需要数据库恢复</a:t>
            </a:r>
            <a:endParaRPr lang="en-US" altLang="zh-CN" dirty="0"/>
          </a:p>
          <a:p>
            <a:r>
              <a:rPr lang="zh-CN" altLang="en-US" dirty="0"/>
              <a:t>备份数据库</a:t>
            </a:r>
            <a:endParaRPr lang="en-US" altLang="zh-CN" dirty="0"/>
          </a:p>
          <a:p>
            <a:r>
              <a:rPr lang="zh-CN" altLang="en-US" dirty="0"/>
              <a:t>需要用户来更改密码</a:t>
            </a:r>
            <a:endParaRPr lang="en-US" altLang="zh-CN"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27</a:t>
            </a:fld>
            <a:endParaRPr lang="en-US" altLang="zh-CN"/>
          </a:p>
        </p:txBody>
      </p:sp>
    </p:spTree>
    <p:extLst>
      <p:ext uri="{BB962C8B-B14F-4D97-AF65-F5344CB8AC3E}">
        <p14:creationId xmlns:p14="http://schemas.microsoft.com/office/powerpoint/2010/main" val="29826042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事件分解技术</a:t>
            </a:r>
            <a:r>
              <a:rPr lang="en-US" altLang="zh-CN" b="0" i="0" dirty="0">
                <a:solidFill>
                  <a:srgbClr val="2A2B2E"/>
                </a:solidFill>
                <a:effectLst/>
                <a:latin typeface="PingFang SC"/>
              </a:rPr>
              <a:t>:</a:t>
            </a:r>
            <a:r>
              <a:rPr lang="zh-CN" altLang="en-US" b="0" i="0" dirty="0">
                <a:solidFill>
                  <a:srgbClr val="2A2B2E"/>
                </a:solidFill>
                <a:effectLst/>
                <a:latin typeface="PingFang SC"/>
              </a:rPr>
              <a:t>具体步骤</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1. </a:t>
            </a:r>
            <a:r>
              <a:rPr lang="zh-CN" altLang="en-US" b="0" i="0" dirty="0">
                <a:solidFill>
                  <a:srgbClr val="2A2B2E"/>
                </a:solidFill>
                <a:effectLst/>
                <a:latin typeface="PingFang SC"/>
              </a:rPr>
              <a:t>考虑系统环境中的外部事件，这些事件需要从系统获得响应</a:t>
            </a:r>
          </a:p>
          <a:p>
            <a:pPr algn="l"/>
            <a:r>
              <a:rPr lang="en-US" altLang="zh-CN" b="0" i="0" dirty="0">
                <a:solidFill>
                  <a:srgbClr val="2A2B2E"/>
                </a:solidFill>
                <a:effectLst/>
                <a:latin typeface="PingFang SC"/>
              </a:rPr>
              <a:t>2. </a:t>
            </a:r>
            <a:r>
              <a:rPr lang="zh-CN" altLang="en-US" b="0" i="0" dirty="0">
                <a:solidFill>
                  <a:srgbClr val="2A2B2E"/>
                </a:solidFill>
                <a:effectLst/>
                <a:latin typeface="PingFang SC"/>
              </a:rPr>
              <a:t>对于每个外部事件，识别并命名系统需要的用例</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3. </a:t>
            </a:r>
            <a:r>
              <a:rPr lang="zh-CN" altLang="en-US" b="0" i="0" dirty="0">
                <a:solidFill>
                  <a:srgbClr val="2A2B2E"/>
                </a:solidFill>
                <a:effectLst/>
                <a:latin typeface="PingFang SC"/>
              </a:rPr>
              <a:t>考虑需要系统响应的时间事件</a:t>
            </a:r>
          </a:p>
          <a:p>
            <a:r>
              <a:rPr lang="en-US" altLang="zh-CN" b="0" i="0" dirty="0">
                <a:solidFill>
                  <a:srgbClr val="2A2B2E"/>
                </a:solidFill>
                <a:effectLst/>
                <a:latin typeface="PingFang SC"/>
              </a:rPr>
              <a:t>4. </a:t>
            </a:r>
            <a:r>
              <a:rPr lang="zh-CN" altLang="en-US" b="0" i="0" dirty="0">
                <a:solidFill>
                  <a:srgbClr val="2A2B2E"/>
                </a:solidFill>
                <a:effectLst/>
                <a:latin typeface="PingFang SC"/>
              </a:rPr>
              <a:t>对于每个时间事件，识别并命名系统需要的用例，然后建立将触发用例的时间点</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28</a:t>
            </a:fld>
            <a:endParaRPr lang="en-US" altLang="zh-CN"/>
          </a:p>
        </p:txBody>
      </p:sp>
    </p:spTree>
    <p:extLst>
      <p:ext uri="{BB962C8B-B14F-4D97-AF65-F5344CB8AC3E}">
        <p14:creationId xmlns:p14="http://schemas.microsoft.com/office/powerpoint/2010/main" val="2416967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2A2B2E"/>
                </a:solidFill>
                <a:effectLst/>
                <a:latin typeface="PingFang SC"/>
              </a:rPr>
              <a:t>5. </a:t>
            </a:r>
            <a:r>
              <a:rPr lang="zh-CN" altLang="en-US" b="0" i="0" dirty="0">
                <a:solidFill>
                  <a:srgbClr val="2A2B2E"/>
                </a:solidFill>
                <a:effectLst/>
                <a:latin typeface="PingFang SC"/>
              </a:rPr>
              <a:t>考虑系统可能响应的状态事件，特别是如果它是一个实时系统，其中设备或内部状态更改触发用例。</a:t>
            </a:r>
          </a:p>
          <a:p>
            <a:pPr algn="l"/>
            <a:r>
              <a:rPr lang="en-US" altLang="zh-CN" b="0" i="0" dirty="0">
                <a:solidFill>
                  <a:srgbClr val="2A2B2E"/>
                </a:solidFill>
                <a:effectLst/>
                <a:latin typeface="PingFang SC"/>
              </a:rPr>
              <a:t>6. </a:t>
            </a:r>
            <a:r>
              <a:rPr lang="zh-CN" altLang="en-US" b="0" i="0" dirty="0">
                <a:solidFill>
                  <a:srgbClr val="2A2B2E"/>
                </a:solidFill>
                <a:effectLst/>
                <a:latin typeface="PingFang SC"/>
              </a:rPr>
              <a:t>对于每个状态事件，识别并命名系统需要的用例，然后定义状态更改。</a:t>
            </a:r>
            <a:br>
              <a:rPr lang="zh-CN" altLang="en-US" dirty="0"/>
            </a:br>
            <a:endParaRPr lang="zh-CN" altLang="en-US" b="0" i="0" dirty="0">
              <a:solidFill>
                <a:srgbClr val="2A2B2E"/>
              </a:solidFill>
              <a:effectLst/>
              <a:latin typeface="PingFang SC"/>
            </a:endParaRPr>
          </a:p>
          <a:p>
            <a:r>
              <a:rPr lang="en-US" altLang="zh-CN" b="0" i="0" dirty="0">
                <a:solidFill>
                  <a:srgbClr val="2A2B2E"/>
                </a:solidFill>
                <a:effectLst/>
                <a:latin typeface="PingFang SC"/>
              </a:rPr>
              <a:t>7. </a:t>
            </a:r>
            <a:r>
              <a:rPr lang="zh-CN" altLang="en-US" b="0" i="0" dirty="0">
                <a:solidFill>
                  <a:srgbClr val="2A2B2E"/>
                </a:solidFill>
                <a:effectLst/>
                <a:latin typeface="PingFang SC"/>
              </a:rPr>
              <a:t>定义事件和用例后，检查是否需要使用完美的技术假设。不要包含涉及诸如登录、注销、更改密码以及备份或恢复数据库等系统控制的事件，因为这些事件将在稍后添加。</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29</a:t>
            </a:fld>
            <a:endParaRPr lang="en-US" altLang="zh-CN"/>
          </a:p>
        </p:txBody>
      </p:sp>
    </p:spTree>
    <p:extLst>
      <p:ext uri="{BB962C8B-B14F-4D97-AF65-F5344CB8AC3E}">
        <p14:creationId xmlns:p14="http://schemas.microsoft.com/office/powerpoint/2010/main" val="40412620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事件分解技术的好处：</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事件比用户目标更广泛</a:t>
            </a:r>
            <a:r>
              <a:rPr lang="en-US" altLang="zh-CN" b="0" i="0" dirty="0">
                <a:solidFill>
                  <a:srgbClr val="2A2B2E"/>
                </a:solidFill>
                <a:effectLst/>
                <a:latin typeface="PingFang SC"/>
              </a:rPr>
              <a:t>:</a:t>
            </a:r>
            <a:r>
              <a:rPr lang="zh-CN" altLang="en-US" b="0" i="0" dirty="0">
                <a:solidFill>
                  <a:srgbClr val="2A2B2E"/>
                </a:solidFill>
                <a:effectLst/>
                <a:latin typeface="PingFang SC"/>
              </a:rPr>
              <a:t>捕获时间和状态事件</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帮助在正确的分析级别进行分解</a:t>
            </a:r>
            <a:r>
              <a:rPr lang="en-US" altLang="zh-CN" b="0" i="0" dirty="0">
                <a:solidFill>
                  <a:srgbClr val="2A2B2E"/>
                </a:solidFill>
                <a:effectLst/>
                <a:latin typeface="PingFang SC"/>
              </a:rPr>
              <a:t>:</a:t>
            </a:r>
            <a:r>
              <a:rPr lang="zh-CN" altLang="en-US" b="0" i="0" dirty="0">
                <a:solidFill>
                  <a:srgbClr val="2A2B2E"/>
                </a:solidFill>
                <a:effectLst/>
                <a:latin typeface="PingFang SC"/>
              </a:rPr>
              <a:t>基本业务流程</a:t>
            </a:r>
            <a:r>
              <a:rPr lang="en-US" altLang="zh-CN" b="0" i="0" dirty="0">
                <a:solidFill>
                  <a:srgbClr val="2A2B2E"/>
                </a:solidFill>
                <a:effectLst/>
                <a:latin typeface="PingFang SC"/>
              </a:rPr>
              <a:t>(EBP)</a:t>
            </a: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EBP</a:t>
            </a:r>
            <a:r>
              <a:rPr lang="zh-CN" altLang="en-US" b="0" i="0" dirty="0">
                <a:solidFill>
                  <a:srgbClr val="2A2B2E"/>
                </a:solidFill>
                <a:effectLst/>
                <a:latin typeface="PingFang SC"/>
              </a:rPr>
              <a:t>是一个基本的业务流程，由一个人在一个地方执行，以响应业务事件</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使用完美的技术假设来确保识别支持用户工作的功能，而不是用于安全和系统控制的附加功能</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30</a:t>
            </a:fld>
            <a:endParaRPr lang="en-US" altLang="zh-CN"/>
          </a:p>
        </p:txBody>
      </p:sp>
    </p:spTree>
    <p:extLst>
      <p:ext uri="{BB962C8B-B14F-4D97-AF65-F5344CB8AC3E}">
        <p14:creationId xmlns:p14="http://schemas.microsoft.com/office/powerpoint/2010/main" val="16356568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列出你在大学注册第一天发生的事件。</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31</a:t>
            </a:fld>
            <a:endParaRPr lang="en-US" altLang="zh-CN"/>
          </a:p>
        </p:txBody>
      </p:sp>
    </p:spTree>
    <p:extLst>
      <p:ext uri="{BB962C8B-B14F-4D97-AF65-F5344CB8AC3E}">
        <p14:creationId xmlns:p14="http://schemas.microsoft.com/office/powerpoint/2010/main" val="304072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32</a:t>
            </a:fld>
            <a:endParaRPr lang="en-US" altLang="zh-CN"/>
          </a:p>
        </p:txBody>
      </p:sp>
    </p:spTree>
    <p:extLst>
      <p:ext uri="{BB962C8B-B14F-4D97-AF65-F5344CB8AC3E}">
        <p14:creationId xmlns:p14="http://schemas.microsoft.com/office/powerpoint/2010/main" val="30460117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4411A0A9-E7B1-417D-8C6D-E93E4AD5D3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F2DDEF9-DDF6-45C2-980B-53DADE0D255C}" type="slidenum">
              <a:rPr lang="en-US" altLang="zh-CN"/>
              <a:pPr eaLnBrk="1" hangingPunct="1"/>
              <a:t>33</a:t>
            </a:fld>
            <a:endParaRPr lang="en-US" altLang="zh-CN"/>
          </a:p>
        </p:txBody>
      </p:sp>
      <p:sp>
        <p:nvSpPr>
          <p:cNvPr id="44035" name="Rectangle 2">
            <a:extLst>
              <a:ext uri="{FF2B5EF4-FFF2-40B4-BE49-F238E27FC236}">
                <a16:creationId xmlns:a16="http://schemas.microsoft.com/office/drawing/2014/main" id="{4DBEDBFB-FE96-45EA-971C-A95DFAF66F6C}"/>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B195A880-8BED-4410-8108-AEC2DA7A87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用例和</a:t>
            </a:r>
            <a:r>
              <a:rPr lang="en-US" altLang="zh-CN" dirty="0">
                <a:latin typeface="Arial" panose="020B0604020202020204" pitchFamily="34" charset="0"/>
                <a:cs typeface="Arial" panose="020B0604020202020204" pitchFamily="34" charset="0"/>
              </a:rPr>
              <a:t>CRUD</a:t>
            </a:r>
          </a:p>
        </p:txBody>
      </p:sp>
    </p:spTree>
    <p:extLst>
      <p:ext uri="{BB962C8B-B14F-4D97-AF65-F5344CB8AC3E}">
        <p14:creationId xmlns:p14="http://schemas.microsoft.com/office/powerpoint/2010/main" val="14480519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2A2B2E"/>
                </a:solidFill>
                <a:effectLst/>
                <a:latin typeface="PingFang SC"/>
              </a:rPr>
              <a:t>CRUD</a:t>
            </a:r>
            <a:r>
              <a:rPr lang="zh-CN" altLang="en-US" b="0" i="0" dirty="0">
                <a:solidFill>
                  <a:srgbClr val="2A2B2E"/>
                </a:solidFill>
                <a:effectLst/>
                <a:latin typeface="PingFang SC"/>
              </a:rPr>
              <a:t>是创建、读取</a:t>
            </a:r>
            <a:r>
              <a:rPr lang="en-US" altLang="zh-CN" b="0" i="0" dirty="0">
                <a:solidFill>
                  <a:srgbClr val="2A2B2E"/>
                </a:solidFill>
                <a:effectLst/>
                <a:latin typeface="PingFang SC"/>
              </a:rPr>
              <a:t>/</a:t>
            </a:r>
            <a:r>
              <a:rPr lang="zh-CN" altLang="en-US" b="0" i="0" dirty="0">
                <a:solidFill>
                  <a:srgbClr val="2A2B2E"/>
                </a:solidFill>
                <a:effectLst/>
                <a:latin typeface="PingFang SC"/>
              </a:rPr>
              <a:t>报告、更新和删除</a:t>
            </a:r>
            <a:r>
              <a:rPr lang="en-US" altLang="zh-CN" b="0" i="0" dirty="0">
                <a:solidFill>
                  <a:srgbClr val="2A2B2E"/>
                </a:solidFill>
                <a:effectLst/>
                <a:latin typeface="PingFang SC"/>
              </a:rPr>
              <a:t>(</a:t>
            </a:r>
            <a:r>
              <a:rPr lang="zh-CN" altLang="en-US" b="0" i="0" dirty="0">
                <a:solidFill>
                  <a:srgbClr val="2A2B2E"/>
                </a:solidFill>
                <a:effectLst/>
                <a:latin typeface="PingFang SC"/>
              </a:rPr>
              <a:t>存档</a:t>
            </a:r>
            <a:r>
              <a:rPr lang="en-US" altLang="zh-CN"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通常在数据库中引入</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验证、改进或交叉检查用例的技术</a:t>
            </a:r>
            <a:br>
              <a:rPr lang="zh-CN" altLang="en-US" dirty="0"/>
            </a:br>
            <a:endParaRPr lang="zh-CN" altLang="en-US"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34</a:t>
            </a:fld>
            <a:endParaRPr lang="en-US" altLang="zh-CN"/>
          </a:p>
        </p:txBody>
      </p:sp>
    </p:spTree>
    <p:extLst>
      <p:ext uri="{BB962C8B-B14F-4D97-AF65-F5344CB8AC3E}">
        <p14:creationId xmlns:p14="http://schemas.microsoft.com/office/powerpoint/2010/main" val="9673627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例子：对于</a:t>
            </a:r>
            <a:r>
              <a:rPr lang="en-US" altLang="zh-CN" b="0" i="0" dirty="0">
                <a:solidFill>
                  <a:srgbClr val="2A2B2E"/>
                </a:solidFill>
                <a:effectLst/>
                <a:latin typeface="PingFang SC"/>
              </a:rPr>
              <a:t>Customer</a:t>
            </a:r>
            <a:r>
              <a:rPr lang="zh-CN" altLang="en-US" b="0" i="0" dirty="0">
                <a:solidFill>
                  <a:srgbClr val="2A2B2E"/>
                </a:solidFill>
                <a:effectLst/>
                <a:latin typeface="PingFang SC"/>
              </a:rPr>
              <a:t>域类，验证是否存在创建、读取</a:t>
            </a:r>
            <a:r>
              <a:rPr lang="en-US" altLang="zh-CN" b="0" i="0" dirty="0">
                <a:solidFill>
                  <a:srgbClr val="2A2B2E"/>
                </a:solidFill>
                <a:effectLst/>
                <a:latin typeface="PingFang SC"/>
              </a:rPr>
              <a:t>/</a:t>
            </a:r>
            <a:r>
              <a:rPr lang="zh-CN" altLang="en-US" b="0" i="0" dirty="0">
                <a:solidFill>
                  <a:srgbClr val="2A2B2E"/>
                </a:solidFill>
                <a:effectLst/>
                <a:latin typeface="PingFang SC"/>
              </a:rPr>
              <a:t>报告、更新和删除</a:t>
            </a:r>
            <a:r>
              <a:rPr lang="en-US" altLang="zh-CN" b="0" i="0" dirty="0">
                <a:solidFill>
                  <a:srgbClr val="2A2B2E"/>
                </a:solidFill>
                <a:effectLst/>
                <a:latin typeface="PingFang SC"/>
              </a:rPr>
              <a:t>(</a:t>
            </a:r>
            <a:r>
              <a:rPr lang="zh-CN" altLang="en-US" b="0" i="0" dirty="0">
                <a:solidFill>
                  <a:srgbClr val="2A2B2E"/>
                </a:solidFill>
                <a:effectLst/>
                <a:latin typeface="PingFang SC"/>
              </a:rPr>
              <a:t>存档</a:t>
            </a:r>
            <a:r>
              <a:rPr lang="en-US" altLang="zh-CN" b="0" i="0" dirty="0">
                <a:solidFill>
                  <a:srgbClr val="2A2B2E"/>
                </a:solidFill>
                <a:effectLst/>
                <a:latin typeface="PingFang SC"/>
              </a:rPr>
              <a:t>)</a:t>
            </a:r>
            <a:r>
              <a:rPr lang="zh-CN" altLang="en-US" b="0" i="0" dirty="0">
                <a:solidFill>
                  <a:srgbClr val="2A2B2E"/>
                </a:solidFill>
                <a:effectLst/>
                <a:latin typeface="PingFang SC"/>
              </a:rPr>
              <a:t>域类的用例</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35</a:t>
            </a:fld>
            <a:endParaRPr lang="en-US" altLang="zh-CN"/>
          </a:p>
        </p:txBody>
      </p:sp>
    </p:spTree>
    <p:extLst>
      <p:ext uri="{BB962C8B-B14F-4D97-AF65-F5344CB8AC3E}">
        <p14:creationId xmlns:p14="http://schemas.microsoft.com/office/powerpoint/2010/main" val="6412064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b="0" i="0" dirty="0">
                <a:solidFill>
                  <a:srgbClr val="2A2B2E"/>
                </a:solidFill>
                <a:effectLst/>
                <a:latin typeface="PingFang SC"/>
              </a:rPr>
              <a:t>CRUD</a:t>
            </a:r>
            <a:r>
              <a:rPr lang="zh-CN" altLang="en-US" b="0" i="0" dirty="0">
                <a:solidFill>
                  <a:srgbClr val="2A2B2E"/>
                </a:solidFill>
                <a:effectLst/>
                <a:latin typeface="PingFang SC"/>
              </a:rPr>
              <a:t>技术步骤：</a:t>
            </a:r>
            <a:endParaRPr lang="en-US" altLang="zh-CN" dirty="0"/>
          </a:p>
          <a:p>
            <a:pPr marL="228600" indent="-228600">
              <a:buAutoNum type="arabicPeriod"/>
            </a:pPr>
            <a:r>
              <a:rPr lang="zh-CN" altLang="en-US" dirty="0"/>
              <a:t>确定所有包含在新系统中的数据实体或域类</a:t>
            </a:r>
            <a:endParaRPr lang="en-US" altLang="zh-CN" dirty="0"/>
          </a:p>
          <a:p>
            <a:pPr marL="228600" indent="-228600">
              <a:buAutoNum type="arabicPeriod"/>
            </a:pPr>
            <a:r>
              <a:rPr lang="zh-CN" altLang="en-US" dirty="0"/>
              <a:t>对于每种数据来说（数据实体或域类），要核实已确定的用例，包括创建一个新实例、更新现有的实例、读取或报告实例的价值以及删除（存储）实例</a:t>
            </a:r>
            <a:endParaRPr lang="en-US" altLang="zh-CN"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36</a:t>
            </a:fld>
            <a:endParaRPr lang="en-US" altLang="zh-CN"/>
          </a:p>
        </p:txBody>
      </p:sp>
    </p:spTree>
    <p:extLst>
      <p:ext uri="{BB962C8B-B14F-4D97-AF65-F5344CB8AC3E}">
        <p14:creationId xmlns:p14="http://schemas.microsoft.com/office/powerpoint/2010/main" val="25817457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b="0" i="0" dirty="0">
                <a:solidFill>
                  <a:srgbClr val="2A2B2E"/>
                </a:solidFill>
                <a:effectLst/>
                <a:latin typeface="PingFang SC"/>
              </a:rPr>
              <a:t>CRUD</a:t>
            </a:r>
            <a:r>
              <a:rPr lang="zh-CN" altLang="en-US" b="0" i="0" dirty="0">
                <a:solidFill>
                  <a:srgbClr val="2A2B2E"/>
                </a:solidFill>
                <a:effectLst/>
                <a:latin typeface="PingFang SC"/>
              </a:rPr>
              <a:t>技术步骤：</a:t>
            </a:r>
            <a:endParaRPr lang="en-US" altLang="zh-CN" dirty="0"/>
          </a:p>
          <a:p>
            <a:pPr marL="0" indent="0">
              <a:buNone/>
            </a:pPr>
            <a:r>
              <a:rPr lang="en-US" altLang="zh-CN" dirty="0"/>
              <a:t>3. </a:t>
            </a:r>
            <a:r>
              <a:rPr lang="zh-CN" altLang="en-US" dirty="0"/>
              <a:t>如果一个必须的用例被忽视了，那么需要添加一个新用例然后确定利益相关者</a:t>
            </a:r>
            <a:endParaRPr lang="en-US" altLang="zh-CN" dirty="0"/>
          </a:p>
          <a:p>
            <a:pPr marL="0" indent="0">
              <a:buNone/>
            </a:pPr>
            <a:r>
              <a:rPr lang="en-US" altLang="zh-CN" dirty="0"/>
              <a:t>4. </a:t>
            </a:r>
            <a:r>
              <a:rPr lang="zh-CN" altLang="en-US" dirty="0"/>
              <a:t>通过已整合的应用来保证能清晰地指出哪个应用是负责添加和维护数据的，而哪个系统仅仅是使用数据的</a:t>
            </a:r>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37</a:t>
            </a:fld>
            <a:endParaRPr lang="en-US" altLang="zh-CN"/>
          </a:p>
        </p:txBody>
      </p:sp>
    </p:spTree>
    <p:extLst>
      <p:ext uri="{BB962C8B-B14F-4D97-AF65-F5344CB8AC3E}">
        <p14:creationId xmlns:p14="http://schemas.microsoft.com/office/powerpoint/2010/main" val="7570273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为了总结</a:t>
            </a:r>
            <a:r>
              <a:rPr lang="en-US" altLang="zh-CN" b="0" i="0" dirty="0">
                <a:solidFill>
                  <a:srgbClr val="2A2B2E"/>
                </a:solidFill>
                <a:effectLst/>
                <a:latin typeface="PingFang SC"/>
              </a:rPr>
              <a:t>CRUD</a:t>
            </a:r>
            <a:r>
              <a:rPr lang="zh-CN" altLang="en-US" b="0" i="0" dirty="0">
                <a:solidFill>
                  <a:srgbClr val="2A2B2E"/>
                </a:solidFill>
                <a:effectLst/>
                <a:latin typeface="PingFang SC"/>
              </a:rPr>
              <a:t>分析结果，创建一个用例和领域类的矩阵，表明哪个用例</a:t>
            </a:r>
            <a:r>
              <a:rPr lang="en-US" altLang="zh-CN" b="0" i="0" dirty="0">
                <a:solidFill>
                  <a:srgbClr val="2A2B2E"/>
                </a:solidFill>
                <a:effectLst/>
                <a:latin typeface="PingFang SC"/>
              </a:rPr>
              <a:t>C</a:t>
            </a:r>
            <a:r>
              <a:rPr lang="zh-CN" altLang="en-US" b="0" i="0" dirty="0">
                <a:solidFill>
                  <a:srgbClr val="2A2B2E"/>
                </a:solidFill>
                <a:effectLst/>
                <a:latin typeface="PingFang SC"/>
              </a:rPr>
              <a:t>、</a:t>
            </a:r>
            <a:r>
              <a:rPr lang="en-US" altLang="zh-CN" b="0" i="0" dirty="0">
                <a:solidFill>
                  <a:srgbClr val="2A2B2E"/>
                </a:solidFill>
                <a:effectLst/>
                <a:latin typeface="PingFang SC"/>
              </a:rPr>
              <a:t>R</a:t>
            </a:r>
            <a:r>
              <a:rPr lang="zh-CN" altLang="en-US" b="0" i="0" dirty="0">
                <a:solidFill>
                  <a:srgbClr val="2A2B2E"/>
                </a:solidFill>
                <a:effectLst/>
                <a:latin typeface="PingFang SC"/>
              </a:rPr>
              <a:t>、</a:t>
            </a:r>
            <a:r>
              <a:rPr lang="en-US" altLang="zh-CN" b="0" i="0" dirty="0">
                <a:solidFill>
                  <a:srgbClr val="2A2B2E"/>
                </a:solidFill>
                <a:effectLst/>
                <a:latin typeface="PingFang SC"/>
              </a:rPr>
              <a:t>U</a:t>
            </a:r>
            <a:r>
              <a:rPr lang="zh-CN" altLang="en-US" b="0" i="0" dirty="0">
                <a:solidFill>
                  <a:srgbClr val="2A2B2E"/>
                </a:solidFill>
                <a:effectLst/>
                <a:latin typeface="PingFang SC"/>
              </a:rPr>
              <a:t>或</a:t>
            </a:r>
            <a:r>
              <a:rPr lang="en-US" altLang="zh-CN" b="0" i="0" dirty="0">
                <a:solidFill>
                  <a:srgbClr val="2A2B2E"/>
                </a:solidFill>
                <a:effectLst/>
                <a:latin typeface="PingFang SC"/>
              </a:rPr>
              <a:t>D</a:t>
            </a:r>
            <a:r>
              <a:rPr lang="zh-CN" altLang="en-US" b="0" i="0" dirty="0">
                <a:solidFill>
                  <a:srgbClr val="2A2B2E"/>
                </a:solidFill>
                <a:effectLst/>
                <a:latin typeface="PingFang SC"/>
              </a:rPr>
              <a:t>是领域类</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en-US" altLang="zh-CN" b="0" i="0" dirty="0">
                <a:solidFill>
                  <a:srgbClr val="2A2B2E"/>
                </a:solidFill>
                <a:effectLst/>
                <a:latin typeface="PingFang SC"/>
              </a:rPr>
              <a:t>C</a:t>
            </a:r>
            <a:r>
              <a:rPr lang="zh-CN" altLang="en-US" b="0" i="0" dirty="0">
                <a:solidFill>
                  <a:srgbClr val="2A2B2E"/>
                </a:solidFill>
                <a:effectLst/>
                <a:latin typeface="PingFang SC"/>
              </a:rPr>
              <a:t>：创建</a:t>
            </a:r>
            <a:endParaRPr lang="en-US" altLang="zh-CN" b="0" i="0" dirty="0">
              <a:solidFill>
                <a:srgbClr val="2A2B2E"/>
              </a:solidFill>
              <a:effectLst/>
              <a:latin typeface="PingFang SC"/>
            </a:endParaRPr>
          </a:p>
          <a:p>
            <a:r>
              <a:rPr lang="en-US" altLang="zh-CN" b="0" i="0" dirty="0">
                <a:solidFill>
                  <a:srgbClr val="2A2B2E"/>
                </a:solidFill>
                <a:effectLst/>
                <a:latin typeface="PingFang SC"/>
              </a:rPr>
              <a:t>R</a:t>
            </a:r>
            <a:r>
              <a:rPr lang="zh-CN" altLang="en-US" b="0" i="0" dirty="0">
                <a:solidFill>
                  <a:srgbClr val="2A2B2E"/>
                </a:solidFill>
                <a:effectLst/>
                <a:latin typeface="PingFang SC"/>
              </a:rPr>
              <a:t>：读取</a:t>
            </a:r>
            <a:r>
              <a:rPr lang="en-US" altLang="zh-CN" b="0" i="0" dirty="0">
                <a:solidFill>
                  <a:srgbClr val="2A2B2E"/>
                </a:solidFill>
                <a:effectLst/>
                <a:latin typeface="PingFang SC"/>
              </a:rPr>
              <a:t>/</a:t>
            </a:r>
            <a:r>
              <a:rPr lang="zh-CN" altLang="en-US" b="0" i="0" dirty="0">
                <a:solidFill>
                  <a:srgbClr val="2A2B2E"/>
                </a:solidFill>
                <a:effectLst/>
                <a:latin typeface="PingFang SC"/>
              </a:rPr>
              <a:t>报告</a:t>
            </a:r>
            <a:endParaRPr lang="en-US" altLang="zh-CN" b="0" i="0" dirty="0">
              <a:solidFill>
                <a:srgbClr val="2A2B2E"/>
              </a:solidFill>
              <a:effectLst/>
              <a:latin typeface="PingFang SC"/>
            </a:endParaRPr>
          </a:p>
          <a:p>
            <a:r>
              <a:rPr lang="en-US" altLang="zh-CN" b="0" i="0" dirty="0">
                <a:solidFill>
                  <a:srgbClr val="2A2B2E"/>
                </a:solidFill>
                <a:effectLst/>
                <a:latin typeface="PingFang SC"/>
              </a:rPr>
              <a:t>U</a:t>
            </a:r>
            <a:r>
              <a:rPr lang="zh-CN" altLang="en-US" b="0" i="0" dirty="0">
                <a:solidFill>
                  <a:srgbClr val="2A2B2E"/>
                </a:solidFill>
                <a:effectLst/>
                <a:latin typeface="PingFang SC"/>
              </a:rPr>
              <a:t>：更新</a:t>
            </a:r>
            <a:endParaRPr lang="en-US" altLang="zh-CN" b="0" i="0" dirty="0">
              <a:solidFill>
                <a:srgbClr val="2A2B2E"/>
              </a:solidFill>
              <a:effectLst/>
              <a:latin typeface="PingFang SC"/>
            </a:endParaRPr>
          </a:p>
          <a:p>
            <a:r>
              <a:rPr lang="en-US" altLang="zh-CN" b="0" i="0" dirty="0">
                <a:solidFill>
                  <a:srgbClr val="2A2B2E"/>
                </a:solidFill>
                <a:effectLst/>
                <a:latin typeface="PingFang SC"/>
              </a:rPr>
              <a:t>D</a:t>
            </a:r>
            <a:r>
              <a:rPr lang="zh-CN" altLang="en-US" b="0" i="0" dirty="0">
                <a:solidFill>
                  <a:srgbClr val="2A2B2E"/>
                </a:solidFill>
                <a:effectLst/>
                <a:latin typeface="PingFang SC"/>
              </a:rPr>
              <a:t>：删除</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38</a:t>
            </a:fld>
            <a:endParaRPr lang="en-US" altLang="zh-CN"/>
          </a:p>
        </p:txBody>
      </p:sp>
    </p:spTree>
    <p:extLst>
      <p:ext uri="{BB962C8B-B14F-4D97-AF65-F5344CB8AC3E}">
        <p14:creationId xmlns:p14="http://schemas.microsoft.com/office/powerpoint/2010/main" val="2183105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简短的用例描述通常是一个句子描述，显示用例中的主要步骤</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创建消费者账户：用户输入新的客户帐号数据，系统分配帐号、创建客户记录、创建帐号记录</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39</a:t>
            </a:fld>
            <a:endParaRPr lang="en-US" altLang="zh-CN"/>
          </a:p>
        </p:txBody>
      </p:sp>
    </p:spTree>
    <p:extLst>
      <p:ext uri="{BB962C8B-B14F-4D97-AF65-F5344CB8AC3E}">
        <p14:creationId xmlns:p14="http://schemas.microsoft.com/office/powerpoint/2010/main" val="21154221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4411A0A9-E7B1-417D-8C6D-E93E4AD5D3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F2DDEF9-DDF6-45C2-980B-53DADE0D255C}" type="slidenum">
              <a:rPr lang="en-US" altLang="zh-CN"/>
              <a:pPr eaLnBrk="1" hangingPunct="1"/>
              <a:t>40</a:t>
            </a:fld>
            <a:endParaRPr lang="en-US" altLang="zh-CN"/>
          </a:p>
        </p:txBody>
      </p:sp>
      <p:sp>
        <p:nvSpPr>
          <p:cNvPr id="44035" name="Rectangle 2">
            <a:extLst>
              <a:ext uri="{FF2B5EF4-FFF2-40B4-BE49-F238E27FC236}">
                <a16:creationId xmlns:a16="http://schemas.microsoft.com/office/drawing/2014/main" id="{4DBEDBFB-FE96-45EA-971C-A95DFAF66F6C}"/>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B195A880-8BED-4410-8108-AEC2DA7A87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latin typeface="Arial" panose="020B0604020202020204" pitchFamily="34" charset="0"/>
                <a:cs typeface="Arial" panose="020B0604020202020204" pitchFamily="34" charset="0"/>
              </a:rPr>
              <a:t>RMO</a:t>
            </a:r>
            <a:r>
              <a:rPr lang="zh-CN" altLang="en-US" dirty="0">
                <a:latin typeface="Arial" panose="020B0604020202020204" pitchFamily="34" charset="0"/>
                <a:cs typeface="Arial" panose="020B0604020202020204" pitchFamily="34" charset="0"/>
              </a:rPr>
              <a:t>案例中的用例</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50522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CSMS</a:t>
            </a:r>
            <a:r>
              <a:rPr lang="zh-CN" altLang="en-US" dirty="0"/>
              <a:t>销售子系统用例</a:t>
            </a:r>
            <a:endParaRPr lang="en-US" altLang="zh-CN" dirty="0"/>
          </a:p>
          <a:p>
            <a:endParaRPr lang="en-US" altLang="zh-CN" dirty="0"/>
          </a:p>
          <a:p>
            <a:r>
              <a:rPr lang="zh-CN" altLang="en-US" dirty="0"/>
              <a:t>查询商品（客户，顾客服务代表，店铺销售代表）</a:t>
            </a:r>
            <a:endParaRPr lang="en-US" altLang="zh-CN" dirty="0"/>
          </a:p>
          <a:p>
            <a:r>
              <a:rPr lang="zh-CN" altLang="en-US" dirty="0"/>
              <a:t>查看产品评价和评分</a:t>
            </a:r>
            <a:endParaRPr lang="en-US" altLang="zh-CN" dirty="0"/>
          </a:p>
          <a:p>
            <a:r>
              <a:rPr lang="zh-CN" altLang="en-US" dirty="0"/>
              <a:t>查看配件组合</a:t>
            </a:r>
            <a:endParaRPr lang="en-US" altLang="zh-CN" dirty="0"/>
          </a:p>
          <a:p>
            <a:r>
              <a:rPr lang="zh-CN" altLang="en-US" dirty="0"/>
              <a:t>添加购物车</a:t>
            </a:r>
            <a:endParaRPr lang="en-US" altLang="zh-CN" dirty="0"/>
          </a:p>
          <a:p>
            <a:r>
              <a:rPr lang="zh-CN" altLang="en-US" dirty="0"/>
              <a:t>清空购物车</a:t>
            </a:r>
            <a:endParaRPr lang="en-US" altLang="zh-CN" dirty="0"/>
          </a:p>
          <a:p>
            <a:r>
              <a:rPr lang="zh-CN" altLang="en-US" dirty="0"/>
              <a:t>付款</a:t>
            </a:r>
            <a:r>
              <a:rPr lang="en-US" altLang="zh-CN" dirty="0"/>
              <a:t>…</a:t>
            </a:r>
          </a:p>
          <a:p>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41</a:t>
            </a:fld>
            <a:endParaRPr lang="en-US" altLang="zh-CN"/>
          </a:p>
        </p:txBody>
      </p:sp>
    </p:spTree>
    <p:extLst>
      <p:ext uri="{BB962C8B-B14F-4D97-AF65-F5344CB8AC3E}">
        <p14:creationId xmlns:p14="http://schemas.microsoft.com/office/powerpoint/2010/main" val="1828805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CSMS</a:t>
            </a:r>
            <a:r>
              <a:rPr lang="zh-CN" altLang="en-US" dirty="0"/>
              <a:t>订单执行子系统</a:t>
            </a:r>
            <a:endParaRPr lang="en-US" altLang="zh-CN" dirty="0"/>
          </a:p>
          <a:p>
            <a:endParaRPr lang="en-US" altLang="zh-CN" dirty="0"/>
          </a:p>
          <a:p>
            <a:r>
              <a:rPr lang="zh-CN" altLang="en-US" dirty="0"/>
              <a:t>运输商品（运输）</a:t>
            </a:r>
            <a:endParaRPr lang="en-US" altLang="zh-CN" dirty="0"/>
          </a:p>
          <a:p>
            <a:r>
              <a:rPr lang="zh-CN" altLang="en-US" dirty="0"/>
              <a:t>管理运输者</a:t>
            </a:r>
            <a:endParaRPr lang="en-US" altLang="zh-CN" dirty="0"/>
          </a:p>
          <a:p>
            <a:r>
              <a:rPr lang="zh-CN" altLang="en-US" dirty="0"/>
              <a:t>处理延期交货订单</a:t>
            </a:r>
            <a:endParaRPr lang="en-US" altLang="zh-CN" dirty="0"/>
          </a:p>
          <a:p>
            <a:r>
              <a:rPr lang="zh-CN" altLang="en-US" dirty="0"/>
              <a:t>创建产品退货</a:t>
            </a:r>
            <a:endParaRPr lang="en-US" altLang="zh-CN" dirty="0"/>
          </a:p>
          <a:p>
            <a:r>
              <a:rPr lang="zh-CN" altLang="en-US" dirty="0"/>
              <a:t>查看订单状态</a:t>
            </a:r>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42</a:t>
            </a:fld>
            <a:endParaRPr lang="en-US" altLang="zh-CN"/>
          </a:p>
        </p:txBody>
      </p:sp>
    </p:spTree>
    <p:extLst>
      <p:ext uri="{BB962C8B-B14F-4D97-AF65-F5344CB8AC3E}">
        <p14:creationId xmlns:p14="http://schemas.microsoft.com/office/powerpoint/2010/main" val="32326133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CSMS</a:t>
            </a:r>
            <a:r>
              <a:rPr lang="zh-CN" altLang="en-US" dirty="0"/>
              <a:t>顾客账户子系统</a:t>
            </a:r>
            <a:endParaRPr lang="en-US" altLang="zh-CN" dirty="0"/>
          </a:p>
          <a:p>
            <a:endParaRPr lang="en-US" altLang="zh-CN" dirty="0"/>
          </a:p>
          <a:p>
            <a:r>
              <a:rPr lang="zh-CN" altLang="en-US" dirty="0"/>
              <a:t>创建顾客账户</a:t>
            </a:r>
            <a:endParaRPr lang="en-US" altLang="zh-CN" dirty="0"/>
          </a:p>
          <a:p>
            <a:r>
              <a:rPr lang="zh-CN" altLang="en-US" dirty="0"/>
              <a:t>处理账户更改</a:t>
            </a:r>
            <a:endParaRPr lang="en-US" altLang="zh-CN" dirty="0"/>
          </a:p>
          <a:p>
            <a:r>
              <a:rPr lang="zh-CN" altLang="en-US" dirty="0"/>
              <a:t>发送消息</a:t>
            </a:r>
            <a:endParaRPr lang="en-US" altLang="zh-CN" dirty="0"/>
          </a:p>
          <a:p>
            <a:r>
              <a:rPr lang="zh-CN" altLang="en-US" dirty="0"/>
              <a:t>查询消息</a:t>
            </a:r>
            <a:endParaRPr lang="en-US" altLang="zh-CN" dirty="0"/>
          </a:p>
          <a:p>
            <a:r>
              <a:rPr lang="zh-CN" altLang="en-US" dirty="0"/>
              <a:t>请求好友链接</a:t>
            </a:r>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43</a:t>
            </a:fld>
            <a:endParaRPr lang="en-US" altLang="zh-CN"/>
          </a:p>
        </p:txBody>
      </p:sp>
    </p:spTree>
    <p:extLst>
      <p:ext uri="{BB962C8B-B14F-4D97-AF65-F5344CB8AC3E}">
        <p14:creationId xmlns:p14="http://schemas.microsoft.com/office/powerpoint/2010/main" val="36100278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市场营销子系统</a:t>
            </a:r>
            <a:endParaRPr lang="en-US" altLang="zh-CN" dirty="0"/>
          </a:p>
          <a:p>
            <a:endParaRPr lang="en-US" altLang="zh-CN" dirty="0"/>
          </a:p>
          <a:p>
            <a:r>
              <a:rPr lang="en-US" altLang="zh-CN" dirty="0"/>
              <a:t>  </a:t>
            </a:r>
            <a:r>
              <a:rPr lang="zh-CN" altLang="en-US" dirty="0"/>
              <a:t>添加</a:t>
            </a:r>
            <a:r>
              <a:rPr lang="en-US" altLang="zh-CN" dirty="0"/>
              <a:t>/</a:t>
            </a:r>
            <a:r>
              <a:rPr lang="zh-CN" altLang="en-US" dirty="0"/>
              <a:t>更新产品信息（推销）</a:t>
            </a:r>
            <a:endParaRPr lang="en-US" altLang="zh-CN" dirty="0"/>
          </a:p>
          <a:p>
            <a:r>
              <a:rPr lang="en-US" altLang="zh-CN" dirty="0"/>
              <a:t>  </a:t>
            </a:r>
            <a:r>
              <a:rPr lang="zh-CN" altLang="en-US" dirty="0"/>
              <a:t>添加</a:t>
            </a:r>
            <a:r>
              <a:rPr lang="en-US" altLang="zh-CN" dirty="0"/>
              <a:t>/</a:t>
            </a:r>
            <a:r>
              <a:rPr lang="zh-CN" altLang="en-US" dirty="0"/>
              <a:t>更新促销</a:t>
            </a:r>
            <a:endParaRPr lang="en-US" altLang="zh-CN" dirty="0"/>
          </a:p>
          <a:p>
            <a:r>
              <a:rPr lang="en-US" altLang="zh-CN" dirty="0"/>
              <a:t>  </a:t>
            </a:r>
            <a:r>
              <a:rPr lang="zh-CN" altLang="en-US" dirty="0"/>
              <a:t>添加</a:t>
            </a:r>
            <a:r>
              <a:rPr lang="en-US" altLang="zh-CN" dirty="0"/>
              <a:t>/</a:t>
            </a:r>
            <a:r>
              <a:rPr lang="zh-CN" altLang="en-US" dirty="0"/>
              <a:t>更新配饰组合</a:t>
            </a:r>
            <a:endParaRPr lang="en-US" altLang="zh-CN" dirty="0"/>
          </a:p>
          <a:p>
            <a:r>
              <a:rPr lang="en-US" altLang="zh-CN" dirty="0"/>
              <a:t>  </a:t>
            </a:r>
            <a:r>
              <a:rPr lang="zh-CN" altLang="en-US" dirty="0"/>
              <a:t>添加</a:t>
            </a:r>
            <a:r>
              <a:rPr lang="en-US" altLang="zh-CN" dirty="0"/>
              <a:t>/</a:t>
            </a:r>
            <a:r>
              <a:rPr lang="zh-CN" altLang="en-US" dirty="0"/>
              <a:t>更新业务伙伴链接</a:t>
            </a:r>
            <a:endParaRPr lang="en-US" altLang="zh-CN" dirty="0"/>
          </a:p>
          <a:p>
            <a:endParaRPr lang="en-US" altLang="zh-CN" dirty="0"/>
          </a:p>
          <a:p>
            <a:endParaRPr lang="en-US" altLang="zh-CN" dirty="0"/>
          </a:p>
          <a:p>
            <a:endParaRPr lang="en-US" altLang="zh-CN" dirty="0"/>
          </a:p>
          <a:p>
            <a:endParaRPr lang="en-US" altLang="zh-CN" dirty="0"/>
          </a:p>
          <a:p>
            <a:r>
              <a:rPr lang="zh-CN" altLang="en-US" dirty="0"/>
              <a:t>报告子系统</a:t>
            </a:r>
            <a:endParaRPr lang="en-US" altLang="zh-CN" dirty="0"/>
          </a:p>
          <a:p>
            <a:endParaRPr lang="en-US" altLang="zh-CN" dirty="0"/>
          </a:p>
          <a:p>
            <a:r>
              <a:rPr lang="en-US" altLang="zh-CN" dirty="0"/>
              <a:t>  </a:t>
            </a:r>
            <a:r>
              <a:rPr lang="zh-CN" altLang="en-US" dirty="0"/>
              <a:t>产生每日交易总结报告</a:t>
            </a:r>
            <a:endParaRPr lang="en-US" altLang="zh-CN" dirty="0"/>
          </a:p>
          <a:p>
            <a:r>
              <a:rPr lang="en-US" altLang="zh-CN" dirty="0"/>
              <a:t>  </a:t>
            </a:r>
            <a:r>
              <a:rPr lang="zh-CN" altLang="en-US" dirty="0"/>
              <a:t>产生销售历史报告</a:t>
            </a:r>
            <a:endParaRPr lang="en-US" altLang="zh-CN" dirty="0"/>
          </a:p>
          <a:p>
            <a:r>
              <a:rPr lang="en-US" altLang="zh-CN" dirty="0"/>
              <a:t>  </a:t>
            </a:r>
            <a:r>
              <a:rPr lang="zh-CN" altLang="en-US" dirty="0"/>
              <a:t>产生销售趋势报告</a:t>
            </a:r>
            <a:endParaRPr lang="en-US" altLang="zh-CN" dirty="0"/>
          </a:p>
          <a:p>
            <a:r>
              <a:rPr lang="en-US" altLang="zh-CN" dirty="0"/>
              <a:t>  </a:t>
            </a:r>
            <a:r>
              <a:rPr lang="zh-CN" altLang="en-US" dirty="0"/>
              <a:t>产生客户使用报告</a:t>
            </a:r>
            <a:endParaRPr lang="en-US" altLang="zh-CN" dirty="0"/>
          </a:p>
          <a:p>
            <a:r>
              <a:rPr lang="en-US" altLang="zh-CN" dirty="0"/>
              <a:t>  </a:t>
            </a:r>
            <a:r>
              <a:rPr lang="zh-CN" altLang="en-US" dirty="0"/>
              <a:t>产生运输历史报告</a:t>
            </a:r>
            <a:endParaRPr lang="en-US" altLang="zh-CN" dirty="0"/>
          </a:p>
          <a:p>
            <a:r>
              <a:rPr lang="en-US" altLang="zh-CN" dirty="0"/>
              <a:t>  </a:t>
            </a:r>
            <a:r>
              <a:rPr lang="zh-CN" altLang="en-US" dirty="0"/>
              <a:t>产生促销效果报告</a:t>
            </a:r>
            <a:endParaRPr lang="en-US" altLang="zh-CN" dirty="0"/>
          </a:p>
          <a:p>
            <a:r>
              <a:rPr lang="en-US" altLang="zh-CN" dirty="0"/>
              <a:t>  </a:t>
            </a:r>
            <a:r>
              <a:rPr lang="zh-CN" altLang="en-US" dirty="0"/>
              <a:t>产生业务合作伙伴活动报告</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44</a:t>
            </a:fld>
            <a:endParaRPr lang="en-US" altLang="zh-CN"/>
          </a:p>
        </p:txBody>
      </p:sp>
    </p:spTree>
    <p:extLst>
      <p:ext uri="{BB962C8B-B14F-4D97-AF65-F5344CB8AC3E}">
        <p14:creationId xmlns:p14="http://schemas.microsoft.com/office/powerpoint/2010/main" val="6161535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4411A0A9-E7B1-417D-8C6D-E93E4AD5D3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F2DDEF9-DDF6-45C2-980B-53DADE0D255C}" type="slidenum">
              <a:rPr lang="en-US" altLang="zh-CN"/>
              <a:pPr eaLnBrk="1" hangingPunct="1"/>
              <a:t>45</a:t>
            </a:fld>
            <a:endParaRPr lang="en-US" altLang="zh-CN"/>
          </a:p>
        </p:txBody>
      </p:sp>
      <p:sp>
        <p:nvSpPr>
          <p:cNvPr id="44035" name="Rectangle 2">
            <a:extLst>
              <a:ext uri="{FF2B5EF4-FFF2-40B4-BE49-F238E27FC236}">
                <a16:creationId xmlns:a16="http://schemas.microsoft.com/office/drawing/2014/main" id="{4DBEDBFB-FE96-45EA-971C-A95DFAF66F6C}"/>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B195A880-8BED-4410-8108-AEC2DA7A87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用例图</a:t>
            </a:r>
            <a:endParaRPr lang="zh-CN"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90411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用例图</a:t>
            </a:r>
            <a:r>
              <a:rPr lang="en-US" altLang="zh-CN" b="0" i="0" dirty="0">
                <a:solidFill>
                  <a:srgbClr val="2A2B2E"/>
                </a:solidFill>
                <a:effectLst/>
                <a:latin typeface="PingFang SC"/>
              </a:rPr>
              <a:t>——</a:t>
            </a:r>
            <a:r>
              <a:rPr lang="zh-CN" altLang="en-US" b="0" i="0" dirty="0">
                <a:solidFill>
                  <a:srgbClr val="2A2B2E"/>
                </a:solidFill>
                <a:effectLst/>
                <a:latin typeface="PingFang SC"/>
              </a:rPr>
              <a:t>一种</a:t>
            </a:r>
            <a:r>
              <a:rPr lang="en-US" altLang="zh-CN" b="0" i="0" dirty="0">
                <a:solidFill>
                  <a:srgbClr val="2A2B2E"/>
                </a:solidFill>
                <a:effectLst/>
                <a:latin typeface="PingFang SC"/>
              </a:rPr>
              <a:t>UML</a:t>
            </a:r>
            <a:r>
              <a:rPr lang="zh-CN" altLang="en-US" b="0" i="0" dirty="0">
                <a:solidFill>
                  <a:srgbClr val="2A2B2E"/>
                </a:solidFill>
                <a:effectLst/>
                <a:latin typeface="PingFang SC"/>
              </a:rPr>
              <a:t>模型，用于图形化地显示用例及其与参与者的关系</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UML</a:t>
            </a:r>
            <a:r>
              <a:rPr lang="zh-CN" altLang="en-US" b="0" i="0" dirty="0">
                <a:solidFill>
                  <a:srgbClr val="2A2B2E"/>
                </a:solidFill>
                <a:effectLst/>
                <a:latin typeface="PingFang SC"/>
              </a:rPr>
              <a:t>是统一建模语言，是用于开发信息系统的图和术语的标准</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自动化边界</a:t>
            </a:r>
            <a:r>
              <a:rPr lang="en-US" altLang="zh-CN" b="0" i="0" dirty="0">
                <a:solidFill>
                  <a:srgbClr val="2A2B2E"/>
                </a:solidFill>
                <a:effectLst/>
                <a:latin typeface="PingFang SC"/>
              </a:rPr>
              <a:t>——</a:t>
            </a:r>
            <a:r>
              <a:rPr lang="zh-CN" altLang="en-US" b="0" i="0" dirty="0">
                <a:solidFill>
                  <a:srgbClr val="2A2B2E"/>
                </a:solidFill>
                <a:effectLst/>
                <a:latin typeface="PingFang SC"/>
              </a:rPr>
              <a:t>应用程序的计算机化部分和操作应用程序的用户之间的边界</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46</a:t>
            </a:fld>
            <a:endParaRPr lang="en-US" altLang="zh-CN"/>
          </a:p>
        </p:txBody>
      </p:sp>
    </p:spTree>
    <p:extLst>
      <p:ext uri="{BB962C8B-B14F-4D97-AF65-F5344CB8AC3E}">
        <p14:creationId xmlns:p14="http://schemas.microsoft.com/office/powerpoint/2010/main" val="40601745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演员是一个简笔画，通常是指使用系统的真人</a:t>
            </a:r>
            <a:endParaRPr lang="en-US" altLang="zh-CN" dirty="0"/>
          </a:p>
          <a:p>
            <a:endParaRPr lang="en-US" altLang="zh-CN" dirty="0"/>
          </a:p>
          <a:p>
            <a:r>
              <a:rPr lang="zh-CN" altLang="en-US" dirty="0"/>
              <a:t>连接线显示哪些参与者参与用例</a:t>
            </a:r>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47</a:t>
            </a:fld>
            <a:endParaRPr lang="en-US" altLang="zh-CN"/>
          </a:p>
        </p:txBody>
      </p:sp>
    </p:spTree>
    <p:extLst>
      <p:ext uri="{BB962C8B-B14F-4D97-AF65-F5344CB8AC3E}">
        <p14:creationId xmlns:p14="http://schemas.microsoft.com/office/powerpoint/2010/main" val="12985253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给每一个子系统单独画</a:t>
            </a:r>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48</a:t>
            </a:fld>
            <a:endParaRPr lang="en-US" altLang="zh-CN"/>
          </a:p>
        </p:txBody>
      </p:sp>
    </p:spTree>
    <p:extLst>
      <p:ext uri="{BB962C8B-B14F-4D97-AF65-F5344CB8AC3E}">
        <p14:creationId xmlns:p14="http://schemas.microsoft.com/office/powerpoint/2010/main" val="27230884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为每个角色绘制，如客户</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49</a:t>
            </a:fld>
            <a:endParaRPr lang="en-US" altLang="zh-CN"/>
          </a:p>
        </p:txBody>
      </p:sp>
    </p:spTree>
    <p:extLst>
      <p:ext uri="{BB962C8B-B14F-4D97-AF65-F5344CB8AC3E}">
        <p14:creationId xmlns:p14="http://schemas.microsoft.com/office/powerpoint/2010/main" val="14192763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绘制内部</a:t>
            </a:r>
            <a:r>
              <a:rPr lang="en-US" altLang="zh-CN" b="0" i="0" dirty="0">
                <a:solidFill>
                  <a:srgbClr val="2A2B2E"/>
                </a:solidFill>
                <a:effectLst/>
                <a:latin typeface="PingFang SC"/>
              </a:rPr>
              <a:t>RMO</a:t>
            </a:r>
            <a:r>
              <a:rPr lang="zh-CN" altLang="en-US" b="0" i="0" dirty="0">
                <a:solidFill>
                  <a:srgbClr val="2A2B2E"/>
                </a:solidFill>
                <a:effectLst/>
                <a:latin typeface="PingFang SC"/>
              </a:rPr>
              <a:t>参与者</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50</a:t>
            </a:fld>
            <a:endParaRPr lang="en-US" altLang="zh-CN"/>
          </a:p>
        </p:txBody>
      </p:sp>
    </p:spTree>
    <p:extLst>
      <p:ext uri="{BB962C8B-B14F-4D97-AF65-F5344CB8AC3E}">
        <p14:creationId xmlns:p14="http://schemas.microsoft.com/office/powerpoint/2010/main" val="27427256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用例之间的关系，其中一个用例通常包含在另一个用例中</a:t>
            </a:r>
            <a:r>
              <a:rPr lang="en-US" altLang="zh-CN" b="0" i="0" dirty="0">
                <a:solidFill>
                  <a:srgbClr val="2A2B2E"/>
                </a:solidFill>
                <a:effectLst/>
                <a:latin typeface="PingFang SC"/>
              </a:rPr>
              <a:t>——</a:t>
            </a:r>
            <a:r>
              <a:rPr lang="zh-CN" altLang="en-US" b="0" i="0" dirty="0">
                <a:solidFill>
                  <a:srgbClr val="2A2B2E"/>
                </a:solidFill>
                <a:effectLst/>
                <a:latin typeface="PingFang SC"/>
              </a:rPr>
              <a:t>就像一个被称为子例程的用例。箭头指向子程序</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51</a:t>
            </a:fld>
            <a:endParaRPr lang="en-US" altLang="zh-CN"/>
          </a:p>
        </p:txBody>
      </p:sp>
    </p:spTree>
    <p:extLst>
      <p:ext uri="{BB962C8B-B14F-4D97-AF65-F5344CB8AC3E}">
        <p14:creationId xmlns:p14="http://schemas.microsoft.com/office/powerpoint/2010/main" val="22222297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销户 </a:t>
            </a:r>
            <a:r>
              <a:rPr lang="en-US" altLang="zh-CN" dirty="0"/>
              <a:t>-&gt; </a:t>
            </a:r>
            <a:r>
              <a:rPr lang="zh-CN" altLang="en-US" dirty="0"/>
              <a:t>结算 （</a:t>
            </a:r>
            <a:r>
              <a:rPr lang="en-US" altLang="zh-CN" dirty="0"/>
              <a:t>include</a:t>
            </a:r>
            <a:r>
              <a:rPr lang="zh-CN" altLang="en-US" dirty="0"/>
              <a:t>包含关系）</a:t>
            </a:r>
            <a:endParaRPr lang="en-US" altLang="zh-CN" dirty="0"/>
          </a:p>
          <a:p>
            <a:endParaRPr lang="en-US" altLang="zh-CN" dirty="0"/>
          </a:p>
          <a:p>
            <a:r>
              <a:rPr lang="zh-CN" altLang="en-US" dirty="0"/>
              <a:t>停机提醒 </a:t>
            </a:r>
            <a:r>
              <a:rPr lang="en-US" altLang="zh-CN" dirty="0"/>
              <a:t>—&gt;</a:t>
            </a:r>
            <a:r>
              <a:rPr lang="zh-CN" altLang="en-US" dirty="0"/>
              <a:t>短信</a:t>
            </a:r>
            <a:r>
              <a:rPr lang="en-US" altLang="zh-CN" dirty="0"/>
              <a:t>/</a:t>
            </a:r>
            <a:r>
              <a:rPr lang="zh-CN" altLang="en-US" dirty="0"/>
              <a:t>邮件提醒 （</a:t>
            </a:r>
            <a:r>
              <a:rPr lang="en-US" altLang="zh-CN" dirty="0"/>
              <a:t>extend</a:t>
            </a:r>
            <a:r>
              <a:rPr lang="zh-CN" altLang="en-US" dirty="0"/>
              <a:t>扩展关系）</a:t>
            </a:r>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54</a:t>
            </a:fld>
            <a:endParaRPr lang="en-US" altLang="zh-CN"/>
          </a:p>
        </p:txBody>
      </p:sp>
    </p:spTree>
    <p:extLst>
      <p:ext uri="{BB962C8B-B14F-4D97-AF65-F5344CB8AC3E}">
        <p14:creationId xmlns:p14="http://schemas.microsoft.com/office/powerpoint/2010/main" val="3196178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确定所有将通过查看用例图而受益的相关人员和用户</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确定每个相关人员或用户需要在用例图中检查什么</a:t>
            </a:r>
            <a:r>
              <a:rPr lang="en-US" altLang="zh-CN" b="0" i="0" dirty="0">
                <a:solidFill>
                  <a:srgbClr val="2A2B2E"/>
                </a:solidFill>
                <a:effectLst/>
                <a:latin typeface="PingFang SC"/>
              </a:rPr>
              <a:t>: </a:t>
            </a:r>
            <a:r>
              <a:rPr lang="zh-CN" altLang="en-US" b="0" i="0" dirty="0">
                <a:solidFill>
                  <a:srgbClr val="2A2B2E"/>
                </a:solidFill>
                <a:effectLst/>
                <a:latin typeface="PingFang SC"/>
              </a:rPr>
              <a:t>每个子系统，针对每种类型的用户，针对感兴趣的用例</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对于每个潜在的通信需求，选择要显示的用例和参与者，并绘制用例图。有许多软件包可用于绘制用例图</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仔细地命名每个用例图，然后注意如何以及何时应该使用图来与相关人员和用户一起检查用例</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56</a:t>
            </a:fld>
            <a:endParaRPr lang="en-US" altLang="zh-CN"/>
          </a:p>
        </p:txBody>
      </p:sp>
    </p:spTree>
    <p:extLst>
      <p:ext uri="{BB962C8B-B14F-4D97-AF65-F5344CB8AC3E}">
        <p14:creationId xmlns:p14="http://schemas.microsoft.com/office/powerpoint/2010/main" val="30013713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本章是将功能需求建模作为系统分析一部分的三章中的第一章</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用例是识别的功能，系统通常为响应用户请求而执行的活动</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识别用例的两种技术是用户目标技术和事件分解技术</a:t>
            </a:r>
            <a:br>
              <a:rPr lang="zh-CN" altLang="en-US" dirty="0"/>
            </a:br>
            <a:endParaRPr lang="zh-CN" altLang="en-US"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57</a:t>
            </a:fld>
            <a:endParaRPr lang="en-US" altLang="zh-CN"/>
          </a:p>
        </p:txBody>
      </p:sp>
    </p:spTree>
    <p:extLst>
      <p:ext uri="{BB962C8B-B14F-4D97-AF65-F5344CB8AC3E}">
        <p14:creationId xmlns:p14="http://schemas.microsoft.com/office/powerpoint/2010/main" val="22976466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用户目标技术首先确定被称为参与者的最终用户，并询问他们在与系统交互时具有哪些特定的目标</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事件分解技术首先识别需要系统响应的事件</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58</a:t>
            </a:fld>
            <a:endParaRPr lang="en-US" altLang="zh-CN"/>
          </a:p>
        </p:txBody>
      </p:sp>
    </p:spTree>
    <p:extLst>
      <p:ext uri="{BB962C8B-B14F-4D97-AF65-F5344CB8AC3E}">
        <p14:creationId xmlns:p14="http://schemas.microsoft.com/office/powerpoint/2010/main" val="38235080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三种类型的事件包括外部事件、时间事件和状态事件</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简短的用例描述是为用例编写的</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CRUD</a:t>
            </a:r>
            <a:r>
              <a:rPr lang="zh-CN" altLang="en-US" b="0" i="0" dirty="0">
                <a:solidFill>
                  <a:srgbClr val="2A2B2E"/>
                </a:solidFill>
                <a:effectLst/>
                <a:latin typeface="PingFang SC"/>
              </a:rPr>
              <a:t>技术用于验证和细化已识别的用例</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用例图是用来显示用例和参与者的</a:t>
            </a:r>
            <a:r>
              <a:rPr lang="en-US" altLang="zh-CN" b="0" i="0" dirty="0">
                <a:solidFill>
                  <a:srgbClr val="2A2B2E"/>
                </a:solidFill>
                <a:effectLst/>
                <a:latin typeface="PingFang SC"/>
              </a:rPr>
              <a:t>UML</a:t>
            </a:r>
            <a:r>
              <a:rPr lang="zh-CN" altLang="en-US" b="0" i="0" dirty="0">
                <a:solidFill>
                  <a:srgbClr val="2A2B2E"/>
                </a:solidFill>
                <a:effectLst/>
                <a:latin typeface="PingFang SC"/>
              </a:rPr>
              <a:t>图</a:t>
            </a:r>
            <a:br>
              <a:rPr lang="zh-CN" altLang="en-US" dirty="0"/>
            </a:b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59</a:t>
            </a:fld>
            <a:endParaRPr lang="en-US" altLang="zh-CN"/>
          </a:p>
        </p:txBody>
      </p:sp>
    </p:spTree>
    <p:extLst>
      <p:ext uri="{BB962C8B-B14F-4D97-AF65-F5344CB8AC3E}">
        <p14:creationId xmlns:p14="http://schemas.microsoft.com/office/powerpoint/2010/main" val="27176580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用例图显示了参与者、自动化边界、涉及每个参与者的用例，以及</a:t>
            </a:r>
            <a:r>
              <a:rPr lang="en-US" altLang="zh-CN" b="0" i="0" dirty="0">
                <a:solidFill>
                  <a:srgbClr val="2A2B2E"/>
                </a:solidFill>
                <a:effectLst/>
                <a:latin typeface="PingFang SC"/>
              </a:rPr>
              <a:t>&lt;&lt;</a:t>
            </a:r>
            <a:r>
              <a:rPr lang="zh-CN" altLang="en-US" b="0" i="0" dirty="0">
                <a:solidFill>
                  <a:srgbClr val="2A2B2E"/>
                </a:solidFill>
                <a:effectLst/>
                <a:latin typeface="PingFang SC"/>
              </a:rPr>
              <a:t>包括</a:t>
            </a:r>
            <a:r>
              <a:rPr lang="en-US" altLang="zh-CN" b="0" i="0" dirty="0">
                <a:solidFill>
                  <a:srgbClr val="2A2B2E"/>
                </a:solidFill>
                <a:effectLst/>
                <a:latin typeface="PingFang SC"/>
              </a:rPr>
              <a:t>&gt;&gt; &lt;&lt;</a:t>
            </a:r>
            <a:r>
              <a:rPr lang="zh-CN" altLang="en-US" b="0" i="0" dirty="0">
                <a:solidFill>
                  <a:srgbClr val="2A2B2E"/>
                </a:solidFill>
                <a:effectLst/>
                <a:latin typeface="PingFang SC"/>
              </a:rPr>
              <a:t>扩展</a:t>
            </a:r>
            <a:r>
              <a:rPr lang="en-US" altLang="zh-CN" b="0" i="0" dirty="0">
                <a:solidFill>
                  <a:srgbClr val="2A2B2E"/>
                </a:solidFill>
                <a:effectLst/>
                <a:latin typeface="PingFang SC"/>
              </a:rPr>
              <a:t>&gt;&gt;</a:t>
            </a:r>
            <a:r>
              <a:rPr lang="zh-CN" altLang="en-US" b="0" i="0" dirty="0">
                <a:solidFill>
                  <a:srgbClr val="2A2B2E"/>
                </a:solidFill>
                <a:effectLst/>
                <a:latin typeface="PingFang SC"/>
              </a:rPr>
              <a:t>关系。</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根据分析的表示需要绘制各种用例图</a:t>
            </a:r>
            <a:endParaRPr lang="zh-CN" altLang="en-US" dirty="0"/>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60</a:t>
            </a:fld>
            <a:endParaRPr lang="en-US" altLang="zh-CN"/>
          </a:p>
        </p:txBody>
      </p:sp>
    </p:spTree>
    <p:extLst>
      <p:ext uri="{BB962C8B-B14F-4D97-AF65-F5344CB8AC3E}">
        <p14:creationId xmlns:p14="http://schemas.microsoft.com/office/powerpoint/2010/main" val="14686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a:extLst>
              <a:ext uri="{FF2B5EF4-FFF2-40B4-BE49-F238E27FC236}">
                <a16:creationId xmlns:a16="http://schemas.microsoft.com/office/drawing/2014/main" id="{CF9CB91D-145B-4C91-8537-F8D0CDE223D1}"/>
              </a:ext>
            </a:extLst>
          </p:cNvPr>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 name="Group 8">
            <a:extLst>
              <a:ext uri="{FF2B5EF4-FFF2-40B4-BE49-F238E27FC236}">
                <a16:creationId xmlns:a16="http://schemas.microsoft.com/office/drawing/2014/main" id="{2FBCA600-8592-4605-8DE3-CAF332FD222C}"/>
              </a:ext>
            </a:extLst>
          </p:cNvPr>
          <p:cNvGrpSpPr>
            <a:grpSpLocks/>
          </p:cNvGrpSpPr>
          <p:nvPr/>
        </p:nvGrpSpPr>
        <p:grpSpPr bwMode="auto">
          <a:xfrm>
            <a:off x="7493000" y="2992438"/>
            <a:ext cx="1338263" cy="2189162"/>
            <a:chOff x="4704" y="1885"/>
            <a:chExt cx="843" cy="1379"/>
          </a:xfrm>
        </p:grpSpPr>
        <p:sp>
          <p:nvSpPr>
            <p:cNvPr id="6" name="Oval 9">
              <a:extLst>
                <a:ext uri="{FF2B5EF4-FFF2-40B4-BE49-F238E27FC236}">
                  <a16:creationId xmlns:a16="http://schemas.microsoft.com/office/drawing/2014/main" id="{9F6C46CD-38AC-43BB-B7CA-FE6E4DE3260D}"/>
                </a:ext>
              </a:extLst>
            </p:cNvPr>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7" name="Oval 10">
              <a:extLst>
                <a:ext uri="{FF2B5EF4-FFF2-40B4-BE49-F238E27FC236}">
                  <a16:creationId xmlns:a16="http://schemas.microsoft.com/office/drawing/2014/main" id="{B5D14466-6322-4182-B9DB-EBC30A318B6E}"/>
                </a:ext>
              </a:extLst>
            </p:cNvPr>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8" name="Oval 11">
              <a:extLst>
                <a:ext uri="{FF2B5EF4-FFF2-40B4-BE49-F238E27FC236}">
                  <a16:creationId xmlns:a16="http://schemas.microsoft.com/office/drawing/2014/main" id="{6D296D8B-FBD1-460E-B64C-6BA6828BF5F8}"/>
                </a:ext>
              </a:extLst>
            </p:cNvPr>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9" name="Oval 12">
              <a:extLst>
                <a:ext uri="{FF2B5EF4-FFF2-40B4-BE49-F238E27FC236}">
                  <a16:creationId xmlns:a16="http://schemas.microsoft.com/office/drawing/2014/main" id="{84230272-CD1E-4CEF-8EB5-B9ABC8B806AD}"/>
                </a:ext>
              </a:extLst>
            </p:cNvPr>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 name="Oval 13">
              <a:extLst>
                <a:ext uri="{FF2B5EF4-FFF2-40B4-BE49-F238E27FC236}">
                  <a16:creationId xmlns:a16="http://schemas.microsoft.com/office/drawing/2014/main" id="{3DF10CEE-206D-42EA-9674-36EBE4B2A42B}"/>
                </a:ext>
              </a:extLst>
            </p:cNvPr>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1" name="Oval 14">
              <a:extLst>
                <a:ext uri="{FF2B5EF4-FFF2-40B4-BE49-F238E27FC236}">
                  <a16:creationId xmlns:a16="http://schemas.microsoft.com/office/drawing/2014/main" id="{4761D0DE-9F66-45BD-8D0C-4A84F5A78BA8}"/>
                </a:ext>
              </a:extLst>
            </p:cNvPr>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2" name="Oval 15">
              <a:extLst>
                <a:ext uri="{FF2B5EF4-FFF2-40B4-BE49-F238E27FC236}">
                  <a16:creationId xmlns:a16="http://schemas.microsoft.com/office/drawing/2014/main" id="{89B4AAF4-2788-4FE0-9784-1479FB3D2E7B}"/>
                </a:ext>
              </a:extLst>
            </p:cNvPr>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3" name="Oval 16">
              <a:extLst>
                <a:ext uri="{FF2B5EF4-FFF2-40B4-BE49-F238E27FC236}">
                  <a16:creationId xmlns:a16="http://schemas.microsoft.com/office/drawing/2014/main" id="{EFB24C03-B531-45AB-89CE-DE49351E4D5A}"/>
                </a:ext>
              </a:extLst>
            </p:cNvPr>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4" name="Oval 17">
              <a:extLst>
                <a:ext uri="{FF2B5EF4-FFF2-40B4-BE49-F238E27FC236}">
                  <a16:creationId xmlns:a16="http://schemas.microsoft.com/office/drawing/2014/main" id="{D43596BC-AF1C-4C71-9E9A-DC2E06280B39}"/>
                </a:ext>
              </a:extLst>
            </p:cNvPr>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5" name="Oval 18">
              <a:extLst>
                <a:ext uri="{FF2B5EF4-FFF2-40B4-BE49-F238E27FC236}">
                  <a16:creationId xmlns:a16="http://schemas.microsoft.com/office/drawing/2014/main" id="{9DE65414-EB68-4F9E-9014-1574B9E8377B}"/>
                </a:ext>
              </a:extLst>
            </p:cNvPr>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6" name="Oval 19">
              <a:extLst>
                <a:ext uri="{FF2B5EF4-FFF2-40B4-BE49-F238E27FC236}">
                  <a16:creationId xmlns:a16="http://schemas.microsoft.com/office/drawing/2014/main" id="{7040EB05-F833-46EC-A7A3-3C30BC335922}"/>
                </a:ext>
              </a:extLst>
            </p:cNvPr>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7" name="Oval 20">
              <a:extLst>
                <a:ext uri="{FF2B5EF4-FFF2-40B4-BE49-F238E27FC236}">
                  <a16:creationId xmlns:a16="http://schemas.microsoft.com/office/drawing/2014/main" id="{DEA8E5CB-37DF-4FDF-95AC-3125EC9319D1}"/>
                </a:ext>
              </a:extLst>
            </p:cNvPr>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8" name="Oval 21">
              <a:extLst>
                <a:ext uri="{FF2B5EF4-FFF2-40B4-BE49-F238E27FC236}">
                  <a16:creationId xmlns:a16="http://schemas.microsoft.com/office/drawing/2014/main" id="{1A6B5EE6-853D-4EEB-9B5E-43A01B4E7921}"/>
                </a:ext>
              </a:extLst>
            </p:cNvPr>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9" name="Oval 22">
              <a:extLst>
                <a:ext uri="{FF2B5EF4-FFF2-40B4-BE49-F238E27FC236}">
                  <a16:creationId xmlns:a16="http://schemas.microsoft.com/office/drawing/2014/main" id="{DD1D930E-18FA-495C-BE33-D891C7025D6A}"/>
                </a:ext>
              </a:extLst>
            </p:cNvPr>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20" name="Oval 23">
              <a:extLst>
                <a:ext uri="{FF2B5EF4-FFF2-40B4-BE49-F238E27FC236}">
                  <a16:creationId xmlns:a16="http://schemas.microsoft.com/office/drawing/2014/main" id="{4FA744FD-7929-4954-B7F1-395200B43DE1}"/>
                </a:ext>
              </a:extLst>
            </p:cNvPr>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21" name="Oval 24">
              <a:extLst>
                <a:ext uri="{FF2B5EF4-FFF2-40B4-BE49-F238E27FC236}">
                  <a16:creationId xmlns:a16="http://schemas.microsoft.com/office/drawing/2014/main" id="{476B5D4D-FAD0-4614-AED9-61609565B9E9}"/>
                </a:ext>
              </a:extLst>
            </p:cNvPr>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22" name="Oval 25">
              <a:extLst>
                <a:ext uri="{FF2B5EF4-FFF2-40B4-BE49-F238E27FC236}">
                  <a16:creationId xmlns:a16="http://schemas.microsoft.com/office/drawing/2014/main" id="{D070470A-5A72-4C57-A5C1-1F97372B24C4}"/>
                </a:ext>
              </a:extLst>
            </p:cNvPr>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23" name="Oval 26">
              <a:extLst>
                <a:ext uri="{FF2B5EF4-FFF2-40B4-BE49-F238E27FC236}">
                  <a16:creationId xmlns:a16="http://schemas.microsoft.com/office/drawing/2014/main" id="{C46E6834-520E-424D-B2AE-DC0D6F360824}"/>
                </a:ext>
              </a:extLst>
            </p:cNvPr>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24" name="Oval 27">
              <a:extLst>
                <a:ext uri="{FF2B5EF4-FFF2-40B4-BE49-F238E27FC236}">
                  <a16:creationId xmlns:a16="http://schemas.microsoft.com/office/drawing/2014/main" id="{98D949B1-1A97-4F69-B95B-03EA4499DE76}"/>
                </a:ext>
              </a:extLst>
            </p:cNvPr>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25" name="Oval 28">
              <a:extLst>
                <a:ext uri="{FF2B5EF4-FFF2-40B4-BE49-F238E27FC236}">
                  <a16:creationId xmlns:a16="http://schemas.microsoft.com/office/drawing/2014/main" id="{B90CBCEF-BA7C-4933-977E-3E50DF606E5A}"/>
                </a:ext>
              </a:extLst>
            </p:cNvPr>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26" name="Oval 29">
              <a:extLst>
                <a:ext uri="{FF2B5EF4-FFF2-40B4-BE49-F238E27FC236}">
                  <a16:creationId xmlns:a16="http://schemas.microsoft.com/office/drawing/2014/main" id="{B8B41B3E-0F28-4355-A31C-A6B4B8967CDE}"/>
                </a:ext>
              </a:extLst>
            </p:cNvPr>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27" name="Oval 30">
              <a:extLst>
                <a:ext uri="{FF2B5EF4-FFF2-40B4-BE49-F238E27FC236}">
                  <a16:creationId xmlns:a16="http://schemas.microsoft.com/office/drawing/2014/main" id="{07883413-27FD-410D-9D62-E7A58268F263}"/>
                </a:ext>
              </a:extLst>
            </p:cNvPr>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28" name="Oval 31">
              <a:extLst>
                <a:ext uri="{FF2B5EF4-FFF2-40B4-BE49-F238E27FC236}">
                  <a16:creationId xmlns:a16="http://schemas.microsoft.com/office/drawing/2014/main" id="{A9A33443-D3C0-452F-AE01-0DCD42928742}"/>
                </a:ext>
              </a:extLst>
            </p:cNvPr>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29" name="Oval 32">
              <a:extLst>
                <a:ext uri="{FF2B5EF4-FFF2-40B4-BE49-F238E27FC236}">
                  <a16:creationId xmlns:a16="http://schemas.microsoft.com/office/drawing/2014/main" id="{9E1A54C4-F934-4315-A3CA-689C107FA0E9}"/>
                </a:ext>
              </a:extLst>
            </p:cNvPr>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30" name="Oval 33">
              <a:extLst>
                <a:ext uri="{FF2B5EF4-FFF2-40B4-BE49-F238E27FC236}">
                  <a16:creationId xmlns:a16="http://schemas.microsoft.com/office/drawing/2014/main" id="{06767B81-6922-4092-831F-932F39698807}"/>
                </a:ext>
              </a:extLst>
            </p:cNvPr>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31" name="Oval 34">
              <a:extLst>
                <a:ext uri="{FF2B5EF4-FFF2-40B4-BE49-F238E27FC236}">
                  <a16:creationId xmlns:a16="http://schemas.microsoft.com/office/drawing/2014/main" id="{9694C5B6-1664-4A6D-BF48-A58CA8C791DD}"/>
                </a:ext>
              </a:extLst>
            </p:cNvPr>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32" name="Oval 35">
              <a:extLst>
                <a:ext uri="{FF2B5EF4-FFF2-40B4-BE49-F238E27FC236}">
                  <a16:creationId xmlns:a16="http://schemas.microsoft.com/office/drawing/2014/main" id="{C29FE596-9678-4BF7-9186-123D9EFEA1A5}"/>
                </a:ext>
              </a:extLst>
            </p:cNvPr>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33" name="Oval 36">
              <a:extLst>
                <a:ext uri="{FF2B5EF4-FFF2-40B4-BE49-F238E27FC236}">
                  <a16:creationId xmlns:a16="http://schemas.microsoft.com/office/drawing/2014/main" id="{9F10A89D-A70B-40F5-A49A-903DE0C53CAE}"/>
                </a:ext>
              </a:extLst>
            </p:cNvPr>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34" name="Oval 37">
              <a:extLst>
                <a:ext uri="{FF2B5EF4-FFF2-40B4-BE49-F238E27FC236}">
                  <a16:creationId xmlns:a16="http://schemas.microsoft.com/office/drawing/2014/main" id="{FF1F8EDF-285C-4857-8764-9565268F193F}"/>
                </a:ext>
              </a:extLst>
            </p:cNvPr>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35" name="Oval 38">
              <a:extLst>
                <a:ext uri="{FF2B5EF4-FFF2-40B4-BE49-F238E27FC236}">
                  <a16:creationId xmlns:a16="http://schemas.microsoft.com/office/drawing/2014/main" id="{FF12F1E2-FF38-47E1-9C37-37AE3EB0F27E}"/>
                </a:ext>
              </a:extLst>
            </p:cNvPr>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36" name="Oval 39">
              <a:extLst>
                <a:ext uri="{FF2B5EF4-FFF2-40B4-BE49-F238E27FC236}">
                  <a16:creationId xmlns:a16="http://schemas.microsoft.com/office/drawing/2014/main" id="{894D0101-701F-434C-AF1C-C1E2A3A3EB29}"/>
                </a:ext>
              </a:extLst>
            </p:cNvPr>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grpSp>
      <p:sp>
        <p:nvSpPr>
          <p:cNvPr id="37" name="Line 40">
            <a:extLst>
              <a:ext uri="{FF2B5EF4-FFF2-40B4-BE49-F238E27FC236}">
                <a16:creationId xmlns:a16="http://schemas.microsoft.com/office/drawing/2014/main" id="{C847D8E9-9E64-4160-98DE-E4B988CDFB76}"/>
              </a:ext>
            </a:extLst>
          </p:cNvPr>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Rectangle 41">
            <a:extLst>
              <a:ext uri="{FF2B5EF4-FFF2-40B4-BE49-F238E27FC236}">
                <a16:creationId xmlns:a16="http://schemas.microsoft.com/office/drawing/2014/main" id="{AF4A9D57-2E95-4C22-8B9A-D6EB04587A35}"/>
              </a:ext>
            </a:extLst>
          </p:cNvPr>
          <p:cNvSpPr>
            <a:spLocks noChangeArrowheads="1"/>
          </p:cNvSpPr>
          <p:nvPr/>
        </p:nvSpPr>
        <p:spPr bwMode="auto">
          <a:xfrm>
            <a:off x="457200" y="1676400"/>
            <a:ext cx="67818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endParaRPr lang="en-US" altLang="en-US" sz="3200" b="1">
              <a:solidFill>
                <a:schemeClr val="tx2"/>
              </a:solidFill>
            </a:endParaRPr>
          </a:p>
        </p:txBody>
      </p:sp>
      <p:sp>
        <p:nvSpPr>
          <p:cNvPr id="120835" name="Rectangle 3"/>
          <p:cNvSpPr>
            <a:spLocks noGrp="1" noChangeArrowheads="1"/>
          </p:cNvSpPr>
          <p:nvPr>
            <p:ph type="ctrTitle"/>
          </p:nvPr>
        </p:nvSpPr>
        <p:spPr>
          <a:xfrm>
            <a:off x="304800" y="304800"/>
            <a:ext cx="6781800" cy="1076325"/>
          </a:xfrm>
        </p:spPr>
        <p:txBody>
          <a:bodyPr/>
          <a:lstStyle>
            <a:lvl1pPr algn="r">
              <a:defRPr sz="3200"/>
            </a:lvl1pPr>
          </a:lstStyle>
          <a:p>
            <a:r>
              <a:rPr lang="en-US" altLang="en-US"/>
              <a:t>Click to edit Master title style</a:t>
            </a:r>
          </a:p>
        </p:txBody>
      </p:sp>
      <p:sp>
        <p:nvSpPr>
          <p:cNvPr id="120836" name="Rectangle 4"/>
          <p:cNvSpPr>
            <a:spLocks noGrp="1" noChangeArrowheads="1"/>
          </p:cNvSpPr>
          <p:nvPr>
            <p:ph type="subTitle" idx="1"/>
          </p:nvPr>
        </p:nvSpPr>
        <p:spPr>
          <a:xfrm>
            <a:off x="914400" y="3048000"/>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9" name="Rectangle 5">
            <a:extLst>
              <a:ext uri="{FF2B5EF4-FFF2-40B4-BE49-F238E27FC236}">
                <a16:creationId xmlns:a16="http://schemas.microsoft.com/office/drawing/2014/main" id="{F29580E2-56D9-46F7-93D4-E2A1F3930F31}"/>
              </a:ext>
            </a:extLst>
          </p:cNvPr>
          <p:cNvSpPr>
            <a:spLocks noGrp="1" noChangeArrowheads="1"/>
          </p:cNvSpPr>
          <p:nvPr>
            <p:ph type="dt" sz="half" idx="10"/>
          </p:nvPr>
        </p:nvSpPr>
        <p:spPr>
          <a:xfrm>
            <a:off x="457200" y="6248400"/>
            <a:ext cx="1371600" cy="457200"/>
          </a:xfrm>
        </p:spPr>
        <p:txBody>
          <a:bodyPr/>
          <a:lstStyle>
            <a:lvl1pPr>
              <a:defRPr/>
            </a:lvl1pPr>
          </a:lstStyle>
          <a:p>
            <a:pPr>
              <a:defRPr/>
            </a:pPr>
            <a:endParaRPr lang="en-US" altLang="en-US"/>
          </a:p>
        </p:txBody>
      </p:sp>
      <p:sp>
        <p:nvSpPr>
          <p:cNvPr id="40" name="Rectangle 6">
            <a:extLst>
              <a:ext uri="{FF2B5EF4-FFF2-40B4-BE49-F238E27FC236}">
                <a16:creationId xmlns:a16="http://schemas.microsoft.com/office/drawing/2014/main" id="{379EA9B5-78DB-44E9-9164-68374B56CE06}"/>
              </a:ext>
            </a:extLst>
          </p:cNvPr>
          <p:cNvSpPr>
            <a:spLocks noGrp="1" noChangeArrowheads="1"/>
          </p:cNvSpPr>
          <p:nvPr>
            <p:ph type="ftr" sz="quarter" idx="11"/>
          </p:nvPr>
        </p:nvSpPr>
        <p:spPr>
          <a:xfrm>
            <a:off x="1981200" y="6248400"/>
            <a:ext cx="5105400" cy="457200"/>
          </a:xfrm>
        </p:spPr>
        <p:txBody>
          <a:bodyPr/>
          <a:lstStyle>
            <a:lvl1pPr>
              <a:defRPr/>
            </a:lvl1pPr>
          </a:lstStyle>
          <a:p>
            <a:pPr>
              <a:defRPr/>
            </a:pPr>
            <a:r>
              <a:rPr lang="en-US" altLang="en-US"/>
              <a:t>Systems Analysis and Design in a Changing World, 6th Edition</a:t>
            </a:r>
          </a:p>
        </p:txBody>
      </p:sp>
      <p:sp>
        <p:nvSpPr>
          <p:cNvPr id="41" name="Rectangle 7">
            <a:extLst>
              <a:ext uri="{FF2B5EF4-FFF2-40B4-BE49-F238E27FC236}">
                <a16:creationId xmlns:a16="http://schemas.microsoft.com/office/drawing/2014/main" id="{D9FFC6EC-E7CB-474B-B575-BCC97A0154DD}"/>
              </a:ext>
            </a:extLst>
          </p:cNvPr>
          <p:cNvSpPr>
            <a:spLocks noGrp="1" noChangeArrowheads="1"/>
          </p:cNvSpPr>
          <p:nvPr>
            <p:ph type="sldNum" sz="quarter" idx="12"/>
          </p:nvPr>
        </p:nvSpPr>
        <p:spPr>
          <a:xfrm>
            <a:off x="7315200" y="6248400"/>
            <a:ext cx="1371600" cy="457200"/>
          </a:xfrm>
        </p:spPr>
        <p:txBody>
          <a:bodyPr/>
          <a:lstStyle>
            <a:lvl1pPr>
              <a:defRPr/>
            </a:lvl1pPr>
          </a:lstStyle>
          <a:p>
            <a:fld id="{41EFD049-2ADF-49F8-8009-ACA82736016F}" type="slidenum">
              <a:rPr lang="en-US" altLang="en-US"/>
              <a:pPr/>
              <a:t>‹#›</a:t>
            </a:fld>
            <a:endParaRPr lang="en-US" altLang="en-US"/>
          </a:p>
        </p:txBody>
      </p:sp>
    </p:spTree>
    <p:extLst>
      <p:ext uri="{BB962C8B-B14F-4D97-AF65-F5344CB8AC3E}">
        <p14:creationId xmlns:p14="http://schemas.microsoft.com/office/powerpoint/2010/main" val="1791678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8D94863E-EB74-4E8F-BA77-43BF58A2DBE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1FDD0560-35FF-4CF8-A56C-5208ED373A61}"/>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FCAFB399-D8AF-465E-A75E-06DEBEF78B41}"/>
              </a:ext>
            </a:extLst>
          </p:cNvPr>
          <p:cNvSpPr>
            <a:spLocks noGrp="1" noChangeArrowheads="1"/>
          </p:cNvSpPr>
          <p:nvPr>
            <p:ph type="sldNum" sz="quarter" idx="12"/>
          </p:nvPr>
        </p:nvSpPr>
        <p:spPr>
          <a:ln/>
        </p:spPr>
        <p:txBody>
          <a:bodyPr/>
          <a:lstStyle>
            <a:lvl1pPr>
              <a:defRPr/>
            </a:lvl1pPr>
          </a:lstStyle>
          <a:p>
            <a:fld id="{78D5303B-8D19-47AB-A097-F6A1F5D56D03}" type="slidenum">
              <a:rPr lang="en-US" altLang="en-US"/>
              <a:pPr/>
              <a:t>‹#›</a:t>
            </a:fld>
            <a:endParaRPr lang="en-US" altLang="en-US"/>
          </a:p>
        </p:txBody>
      </p:sp>
    </p:spTree>
    <p:extLst>
      <p:ext uri="{BB962C8B-B14F-4D97-AF65-F5344CB8AC3E}">
        <p14:creationId xmlns:p14="http://schemas.microsoft.com/office/powerpoint/2010/main" val="3651389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0AA1DF1C-B3DC-4F41-B0BF-511B2B6DE61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7264B6B5-2F59-4850-ACE0-3D346C5274C2}"/>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9531B107-21F6-4F09-8168-94F307BFB020}"/>
              </a:ext>
            </a:extLst>
          </p:cNvPr>
          <p:cNvSpPr>
            <a:spLocks noGrp="1" noChangeArrowheads="1"/>
          </p:cNvSpPr>
          <p:nvPr>
            <p:ph type="sldNum" sz="quarter" idx="12"/>
          </p:nvPr>
        </p:nvSpPr>
        <p:spPr>
          <a:ln/>
        </p:spPr>
        <p:txBody>
          <a:bodyPr/>
          <a:lstStyle>
            <a:lvl1pPr>
              <a:defRPr/>
            </a:lvl1pPr>
          </a:lstStyle>
          <a:p>
            <a:fld id="{23CFE410-3DEE-4A8A-8D11-1204D43941D9}" type="slidenum">
              <a:rPr lang="en-US" altLang="en-US"/>
              <a:pPr/>
              <a:t>‹#›</a:t>
            </a:fld>
            <a:endParaRPr lang="en-US" altLang="en-US"/>
          </a:p>
        </p:txBody>
      </p:sp>
    </p:spTree>
    <p:extLst>
      <p:ext uri="{BB962C8B-B14F-4D97-AF65-F5344CB8AC3E}">
        <p14:creationId xmlns:p14="http://schemas.microsoft.com/office/powerpoint/2010/main" val="3734929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7B511AC8-FB62-4392-89C1-F425E23BCC5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3AF7BC62-83E2-4661-B2B9-2CEF79B664DF}"/>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D6E33A06-6455-4AFD-B006-0617BFB7F242}"/>
              </a:ext>
            </a:extLst>
          </p:cNvPr>
          <p:cNvSpPr>
            <a:spLocks noGrp="1" noChangeArrowheads="1"/>
          </p:cNvSpPr>
          <p:nvPr>
            <p:ph type="sldNum" sz="quarter" idx="12"/>
          </p:nvPr>
        </p:nvSpPr>
        <p:spPr>
          <a:ln/>
        </p:spPr>
        <p:txBody>
          <a:bodyPr/>
          <a:lstStyle>
            <a:lvl1pPr>
              <a:defRPr/>
            </a:lvl1pPr>
          </a:lstStyle>
          <a:p>
            <a:fld id="{40A1E550-8D83-432A-84B8-3197A7E8A82D}" type="slidenum">
              <a:rPr lang="en-US" altLang="en-US"/>
              <a:pPr/>
              <a:t>‹#›</a:t>
            </a:fld>
            <a:endParaRPr lang="en-US" altLang="en-US"/>
          </a:p>
        </p:txBody>
      </p:sp>
    </p:spTree>
    <p:extLst>
      <p:ext uri="{BB962C8B-B14F-4D97-AF65-F5344CB8AC3E}">
        <p14:creationId xmlns:p14="http://schemas.microsoft.com/office/powerpoint/2010/main" val="3607330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E7ABA5FB-82E0-46F2-8662-C6E231744FB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65CB3004-89FA-4C38-B877-C0C09463C978}"/>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9" name="Rectangle 7">
            <a:extLst>
              <a:ext uri="{FF2B5EF4-FFF2-40B4-BE49-F238E27FC236}">
                <a16:creationId xmlns:a16="http://schemas.microsoft.com/office/drawing/2014/main" id="{6E0AFA85-5C7A-4008-92E7-3525D61B2285}"/>
              </a:ext>
            </a:extLst>
          </p:cNvPr>
          <p:cNvSpPr>
            <a:spLocks noGrp="1" noChangeArrowheads="1"/>
          </p:cNvSpPr>
          <p:nvPr>
            <p:ph type="sldNum" sz="quarter" idx="12"/>
          </p:nvPr>
        </p:nvSpPr>
        <p:spPr>
          <a:ln/>
        </p:spPr>
        <p:txBody>
          <a:bodyPr/>
          <a:lstStyle>
            <a:lvl1pPr>
              <a:defRPr/>
            </a:lvl1pPr>
          </a:lstStyle>
          <a:p>
            <a:fld id="{1C0D66F8-A132-4426-8DB7-49058DAF873C}" type="slidenum">
              <a:rPr lang="en-US" altLang="en-US"/>
              <a:pPr/>
              <a:t>‹#›</a:t>
            </a:fld>
            <a:endParaRPr lang="en-US" altLang="en-US"/>
          </a:p>
        </p:txBody>
      </p:sp>
    </p:spTree>
    <p:extLst>
      <p:ext uri="{BB962C8B-B14F-4D97-AF65-F5344CB8AC3E}">
        <p14:creationId xmlns:p14="http://schemas.microsoft.com/office/powerpoint/2010/main" val="4065781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B516E2C0-6E09-4E72-BFF4-9BFEA360468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A2B11BD7-8060-4F3B-8D0D-92FC747C8FDB}"/>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63F4D9FA-1395-43C4-A12F-3ECDE248B705}"/>
              </a:ext>
            </a:extLst>
          </p:cNvPr>
          <p:cNvSpPr>
            <a:spLocks noGrp="1" noChangeArrowheads="1"/>
          </p:cNvSpPr>
          <p:nvPr>
            <p:ph type="sldNum" sz="quarter" idx="12"/>
          </p:nvPr>
        </p:nvSpPr>
        <p:spPr>
          <a:ln/>
        </p:spPr>
        <p:txBody>
          <a:bodyPr/>
          <a:lstStyle>
            <a:lvl1pPr>
              <a:defRPr/>
            </a:lvl1pPr>
          </a:lstStyle>
          <a:p>
            <a:fld id="{0E5C0665-2FD9-499F-8A26-A1BB834C25A4}" type="slidenum">
              <a:rPr lang="en-US" altLang="en-US"/>
              <a:pPr/>
              <a:t>‹#›</a:t>
            </a:fld>
            <a:endParaRPr lang="en-US" altLang="en-US"/>
          </a:p>
        </p:txBody>
      </p:sp>
    </p:spTree>
    <p:extLst>
      <p:ext uri="{BB962C8B-B14F-4D97-AF65-F5344CB8AC3E}">
        <p14:creationId xmlns:p14="http://schemas.microsoft.com/office/powerpoint/2010/main" val="1465271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181A4B96-F071-4929-8FFF-B58CB6C8BFC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F2CF841D-07A0-40BB-8103-90037847858D}"/>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4" name="Rectangle 7">
            <a:extLst>
              <a:ext uri="{FF2B5EF4-FFF2-40B4-BE49-F238E27FC236}">
                <a16:creationId xmlns:a16="http://schemas.microsoft.com/office/drawing/2014/main" id="{E5863FAA-AE37-482D-916E-A94A1D43EB5C}"/>
              </a:ext>
            </a:extLst>
          </p:cNvPr>
          <p:cNvSpPr>
            <a:spLocks noGrp="1" noChangeArrowheads="1"/>
          </p:cNvSpPr>
          <p:nvPr>
            <p:ph type="sldNum" sz="quarter" idx="12"/>
          </p:nvPr>
        </p:nvSpPr>
        <p:spPr>
          <a:ln/>
        </p:spPr>
        <p:txBody>
          <a:bodyPr/>
          <a:lstStyle>
            <a:lvl1pPr>
              <a:defRPr/>
            </a:lvl1pPr>
          </a:lstStyle>
          <a:p>
            <a:fld id="{620A4EF3-B9CE-4614-84E5-620675F365A3}" type="slidenum">
              <a:rPr lang="en-US" altLang="en-US"/>
              <a:pPr/>
              <a:t>‹#›</a:t>
            </a:fld>
            <a:endParaRPr lang="en-US" altLang="en-US"/>
          </a:p>
        </p:txBody>
      </p:sp>
    </p:spTree>
    <p:extLst>
      <p:ext uri="{BB962C8B-B14F-4D97-AF65-F5344CB8AC3E}">
        <p14:creationId xmlns:p14="http://schemas.microsoft.com/office/powerpoint/2010/main" val="150061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00E7BF17-6282-4BE1-B621-6B280704945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84D2CC2D-3F6C-43CB-9D52-E3EDD9851780}"/>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4B7E86C7-B374-4030-B121-CE08FA26425B}"/>
              </a:ext>
            </a:extLst>
          </p:cNvPr>
          <p:cNvSpPr>
            <a:spLocks noGrp="1" noChangeArrowheads="1"/>
          </p:cNvSpPr>
          <p:nvPr>
            <p:ph type="sldNum" sz="quarter" idx="12"/>
          </p:nvPr>
        </p:nvSpPr>
        <p:spPr>
          <a:ln/>
        </p:spPr>
        <p:txBody>
          <a:bodyPr/>
          <a:lstStyle>
            <a:lvl1pPr>
              <a:defRPr/>
            </a:lvl1pPr>
          </a:lstStyle>
          <a:p>
            <a:fld id="{12A35882-C781-4F72-A05E-ED06C8E30B79}" type="slidenum">
              <a:rPr lang="en-US" altLang="en-US"/>
              <a:pPr/>
              <a:t>‹#›</a:t>
            </a:fld>
            <a:endParaRPr lang="en-US" altLang="en-US"/>
          </a:p>
        </p:txBody>
      </p:sp>
    </p:spTree>
    <p:extLst>
      <p:ext uri="{BB962C8B-B14F-4D97-AF65-F5344CB8AC3E}">
        <p14:creationId xmlns:p14="http://schemas.microsoft.com/office/powerpoint/2010/main" val="3864429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C1DC7C17-0A8E-43A8-905D-D14CEE49B87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346166E8-6603-4207-924A-00864589983A}"/>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E5B177EC-B4DD-48C7-AB8A-CC36D2614726}"/>
              </a:ext>
            </a:extLst>
          </p:cNvPr>
          <p:cNvSpPr>
            <a:spLocks noGrp="1" noChangeArrowheads="1"/>
          </p:cNvSpPr>
          <p:nvPr>
            <p:ph type="sldNum" sz="quarter" idx="12"/>
          </p:nvPr>
        </p:nvSpPr>
        <p:spPr>
          <a:ln/>
        </p:spPr>
        <p:txBody>
          <a:bodyPr/>
          <a:lstStyle>
            <a:lvl1pPr>
              <a:defRPr/>
            </a:lvl1pPr>
          </a:lstStyle>
          <a:p>
            <a:fld id="{6CBD2CE0-3F85-42F2-8654-F9BAFFEF9E1F}" type="slidenum">
              <a:rPr lang="en-US" altLang="en-US"/>
              <a:pPr/>
              <a:t>‹#›</a:t>
            </a:fld>
            <a:endParaRPr lang="en-US" altLang="en-US"/>
          </a:p>
        </p:txBody>
      </p:sp>
    </p:spTree>
    <p:extLst>
      <p:ext uri="{BB962C8B-B14F-4D97-AF65-F5344CB8AC3E}">
        <p14:creationId xmlns:p14="http://schemas.microsoft.com/office/powerpoint/2010/main" val="4116911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0B51500-1271-4DAE-93E4-34961CA0CF0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DA252ECC-6A31-424D-AEB4-E3CA55EAF650}"/>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7DCDEE63-FA6D-494A-A65C-18910E4608A2}"/>
              </a:ext>
            </a:extLst>
          </p:cNvPr>
          <p:cNvSpPr>
            <a:spLocks noGrp="1" noChangeArrowheads="1"/>
          </p:cNvSpPr>
          <p:nvPr>
            <p:ph type="sldNum" sz="quarter" idx="12"/>
          </p:nvPr>
        </p:nvSpPr>
        <p:spPr>
          <a:ln/>
        </p:spPr>
        <p:txBody>
          <a:bodyPr/>
          <a:lstStyle>
            <a:lvl1pPr>
              <a:defRPr/>
            </a:lvl1pPr>
          </a:lstStyle>
          <a:p>
            <a:fld id="{8C8814E8-5D86-42F9-ACEB-E5FB5DD77E94}" type="slidenum">
              <a:rPr lang="en-US" altLang="en-US"/>
              <a:pPr/>
              <a:t>‹#›</a:t>
            </a:fld>
            <a:endParaRPr lang="en-US" altLang="en-US"/>
          </a:p>
        </p:txBody>
      </p:sp>
    </p:spTree>
    <p:extLst>
      <p:ext uri="{BB962C8B-B14F-4D97-AF65-F5344CB8AC3E}">
        <p14:creationId xmlns:p14="http://schemas.microsoft.com/office/powerpoint/2010/main" val="324977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254EE1F7-AC5B-4F25-9D04-936F29ADF10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789000C3-3FAB-4AAF-A425-70DA223980A0}"/>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A24B57F6-B764-4193-8A98-329B73035C76}"/>
              </a:ext>
            </a:extLst>
          </p:cNvPr>
          <p:cNvSpPr>
            <a:spLocks noGrp="1" noChangeArrowheads="1"/>
          </p:cNvSpPr>
          <p:nvPr>
            <p:ph type="sldNum" sz="quarter" idx="12"/>
          </p:nvPr>
        </p:nvSpPr>
        <p:spPr>
          <a:ln/>
        </p:spPr>
        <p:txBody>
          <a:bodyPr/>
          <a:lstStyle>
            <a:lvl1pPr>
              <a:defRPr/>
            </a:lvl1pPr>
          </a:lstStyle>
          <a:p>
            <a:fld id="{3F0278E0-7D01-44DD-8498-E884D8907E23}" type="slidenum">
              <a:rPr lang="en-US" altLang="en-US"/>
              <a:pPr/>
              <a:t>‹#›</a:t>
            </a:fld>
            <a:endParaRPr lang="en-US" altLang="en-US"/>
          </a:p>
        </p:txBody>
      </p:sp>
    </p:spTree>
    <p:extLst>
      <p:ext uri="{BB962C8B-B14F-4D97-AF65-F5344CB8AC3E}">
        <p14:creationId xmlns:p14="http://schemas.microsoft.com/office/powerpoint/2010/main" val="930487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a:extLst>
              <a:ext uri="{FF2B5EF4-FFF2-40B4-BE49-F238E27FC236}">
                <a16:creationId xmlns:a16="http://schemas.microsoft.com/office/drawing/2014/main" id="{98B477B3-7DF9-46AF-9777-2DBA3AEBCEA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81EEBC7D-2FC2-47ED-8B64-FFDD67AC672A}"/>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D13DD4E5-D607-44EE-BE40-78C5D8A1BD59}"/>
              </a:ext>
            </a:extLst>
          </p:cNvPr>
          <p:cNvSpPr>
            <a:spLocks noGrp="1" noChangeArrowheads="1"/>
          </p:cNvSpPr>
          <p:nvPr>
            <p:ph type="sldNum" sz="quarter" idx="12"/>
          </p:nvPr>
        </p:nvSpPr>
        <p:spPr>
          <a:ln/>
        </p:spPr>
        <p:txBody>
          <a:bodyPr/>
          <a:lstStyle>
            <a:lvl1pPr>
              <a:defRPr/>
            </a:lvl1pPr>
          </a:lstStyle>
          <a:p>
            <a:fld id="{5A5A9903-3A8B-4CCA-A813-511D7A7AEEE6}" type="slidenum">
              <a:rPr lang="en-US" altLang="en-US"/>
              <a:pPr/>
              <a:t>‹#›</a:t>
            </a:fld>
            <a:endParaRPr lang="en-US" altLang="en-US"/>
          </a:p>
        </p:txBody>
      </p:sp>
    </p:spTree>
    <p:extLst>
      <p:ext uri="{BB962C8B-B14F-4D97-AF65-F5344CB8AC3E}">
        <p14:creationId xmlns:p14="http://schemas.microsoft.com/office/powerpoint/2010/main" val="485568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66F0ECB7-2709-47FF-B696-6097B136041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0FD48A2-81BE-4E2B-96A5-9889249F5BD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E592F5A9-5CE3-476E-90B0-9227A58E9BDD}"/>
              </a:ext>
            </a:extLst>
          </p:cNvPr>
          <p:cNvSpPr>
            <a:spLocks noGrp="1" noChangeArrowheads="1"/>
          </p:cNvSpPr>
          <p:nvPr>
            <p:ph type="sldNum" sz="quarter" idx="12"/>
          </p:nvPr>
        </p:nvSpPr>
        <p:spPr>
          <a:ln/>
        </p:spPr>
        <p:txBody>
          <a:bodyPr/>
          <a:lstStyle>
            <a:lvl1pPr>
              <a:defRPr/>
            </a:lvl1pPr>
          </a:lstStyle>
          <a:p>
            <a:fld id="{B753FDD0-7D31-4A1B-A2DD-1773C1FEDA0B}" type="slidenum">
              <a:rPr lang="en-US" altLang="en-US"/>
              <a:pPr/>
              <a:t>‹#›</a:t>
            </a:fld>
            <a:endParaRPr lang="en-US" altLang="en-US"/>
          </a:p>
        </p:txBody>
      </p:sp>
    </p:spTree>
    <p:extLst>
      <p:ext uri="{BB962C8B-B14F-4D97-AF65-F5344CB8AC3E}">
        <p14:creationId xmlns:p14="http://schemas.microsoft.com/office/powerpoint/2010/main" val="3157363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a:extLst>
              <a:ext uri="{FF2B5EF4-FFF2-40B4-BE49-F238E27FC236}">
                <a16:creationId xmlns:a16="http://schemas.microsoft.com/office/drawing/2014/main" id="{7E8E78B5-8773-4925-AA69-EB09D319286D}"/>
              </a:ext>
            </a:extLst>
          </p:cNvPr>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 name="Rectangle 3">
            <a:extLst>
              <a:ext uri="{FF2B5EF4-FFF2-40B4-BE49-F238E27FC236}">
                <a16:creationId xmlns:a16="http://schemas.microsoft.com/office/drawing/2014/main" id="{C98CD729-1503-4CA6-BDDD-B5B9833B6406}"/>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FA535A91-3C56-46B7-8A00-E2FB18D14C5F}"/>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9813" name="Rectangle 5">
            <a:extLst>
              <a:ext uri="{FF2B5EF4-FFF2-40B4-BE49-F238E27FC236}">
                <a16:creationId xmlns:a16="http://schemas.microsoft.com/office/drawing/2014/main" id="{DBA455AE-C124-49ED-80CC-DF6067B933DA}"/>
              </a:ext>
            </a:extLst>
          </p:cNvPr>
          <p:cNvSpPr>
            <a:spLocks noGrp="1" noChangeArrowheads="1"/>
          </p:cNvSpPr>
          <p:nvPr>
            <p:ph type="dt" sz="half" idx="2"/>
          </p:nvPr>
        </p:nvSpPr>
        <p:spPr bwMode="auto">
          <a:xfrm>
            <a:off x="457200" y="6248400"/>
            <a:ext cx="1219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cs typeface="Arial" charset="0"/>
              </a:defRPr>
            </a:lvl1pPr>
          </a:lstStyle>
          <a:p>
            <a:pPr>
              <a:defRPr/>
            </a:pPr>
            <a:endParaRPr lang="en-US" altLang="en-US"/>
          </a:p>
        </p:txBody>
      </p:sp>
      <p:sp>
        <p:nvSpPr>
          <p:cNvPr id="119814" name="Rectangle 6">
            <a:extLst>
              <a:ext uri="{FF2B5EF4-FFF2-40B4-BE49-F238E27FC236}">
                <a16:creationId xmlns:a16="http://schemas.microsoft.com/office/drawing/2014/main" id="{4C3442E3-0291-40B9-A4F6-E015720019EF}"/>
              </a:ext>
            </a:extLst>
          </p:cNvPr>
          <p:cNvSpPr>
            <a:spLocks noGrp="1" noChangeArrowheads="1"/>
          </p:cNvSpPr>
          <p:nvPr>
            <p:ph type="ftr" sz="quarter" idx="3"/>
          </p:nvPr>
        </p:nvSpPr>
        <p:spPr bwMode="auto">
          <a:xfrm>
            <a:off x="1828800" y="62484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cs typeface="Arial" charset="0"/>
              </a:defRPr>
            </a:lvl1pPr>
          </a:lstStyle>
          <a:p>
            <a:pPr>
              <a:defRPr/>
            </a:pPr>
            <a:r>
              <a:rPr lang="en-US" altLang="en-US"/>
              <a:t>Systems Analysis and Design in a Changing World, 6th Edition</a:t>
            </a:r>
          </a:p>
        </p:txBody>
      </p:sp>
      <p:sp>
        <p:nvSpPr>
          <p:cNvPr id="119815" name="Rectangle 7">
            <a:extLst>
              <a:ext uri="{FF2B5EF4-FFF2-40B4-BE49-F238E27FC236}">
                <a16:creationId xmlns:a16="http://schemas.microsoft.com/office/drawing/2014/main" id="{83AF6D1C-62A4-42CA-BC77-B6D4B3A0BE93}"/>
              </a:ext>
            </a:extLst>
          </p:cNvPr>
          <p:cNvSpPr>
            <a:spLocks noGrp="1" noChangeArrowheads="1"/>
          </p:cNvSpPr>
          <p:nvPr>
            <p:ph type="sldNum" sz="quarter" idx="4"/>
          </p:nvPr>
        </p:nvSpPr>
        <p:spPr bwMode="auto">
          <a:xfrm>
            <a:off x="7543800" y="6248400"/>
            <a:ext cx="1143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51AC1862-4DF1-4F70-BD89-A84AA9D4AE57}" type="slidenum">
              <a:rPr lang="en-US" altLang="en-US"/>
              <a:pPr/>
              <a:t>‹#›</a:t>
            </a:fld>
            <a:endParaRPr lang="en-US" altLang="en-US"/>
          </a:p>
        </p:txBody>
      </p:sp>
      <p:grpSp>
        <p:nvGrpSpPr>
          <p:cNvPr id="1032" name="Group 8">
            <a:extLst>
              <a:ext uri="{FF2B5EF4-FFF2-40B4-BE49-F238E27FC236}">
                <a16:creationId xmlns:a16="http://schemas.microsoft.com/office/drawing/2014/main" id="{76FA3B9F-644B-45D1-95EF-D92593305C83}"/>
              </a:ext>
            </a:extLst>
          </p:cNvPr>
          <p:cNvGrpSpPr>
            <a:grpSpLocks/>
          </p:cNvGrpSpPr>
          <p:nvPr/>
        </p:nvGrpSpPr>
        <p:grpSpPr bwMode="auto">
          <a:xfrm>
            <a:off x="8153400" y="152400"/>
            <a:ext cx="792163" cy="1295400"/>
            <a:chOff x="5136" y="960"/>
            <a:chExt cx="528" cy="864"/>
          </a:xfrm>
        </p:grpSpPr>
        <p:sp>
          <p:nvSpPr>
            <p:cNvPr id="1033" name="Oval 9">
              <a:extLst>
                <a:ext uri="{FF2B5EF4-FFF2-40B4-BE49-F238E27FC236}">
                  <a16:creationId xmlns:a16="http://schemas.microsoft.com/office/drawing/2014/main" id="{174A2D2B-5668-4C97-9623-21C71CF36E11}"/>
                </a:ext>
              </a:extLst>
            </p:cNvPr>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34" name="Oval 10">
              <a:extLst>
                <a:ext uri="{FF2B5EF4-FFF2-40B4-BE49-F238E27FC236}">
                  <a16:creationId xmlns:a16="http://schemas.microsoft.com/office/drawing/2014/main" id="{D7200730-EB83-4DFC-8296-DA7A0884C025}"/>
                </a:ext>
              </a:extLst>
            </p:cNvPr>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35" name="Oval 11">
              <a:extLst>
                <a:ext uri="{FF2B5EF4-FFF2-40B4-BE49-F238E27FC236}">
                  <a16:creationId xmlns:a16="http://schemas.microsoft.com/office/drawing/2014/main" id="{FF75EE8A-A8B0-43B4-A1C7-877D4B903D85}"/>
                </a:ext>
              </a:extLst>
            </p:cNvPr>
            <p:cNvSpPr>
              <a:spLocks noChangeArrowheads="1"/>
            </p:cNvSpPr>
            <p:nvPr/>
          </p:nvSpPr>
          <p:spPr bwMode="auto">
            <a:xfrm>
              <a:off x="5360" y="960"/>
              <a:ext cx="78"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36" name="Oval 12">
              <a:extLst>
                <a:ext uri="{FF2B5EF4-FFF2-40B4-BE49-F238E27FC236}">
                  <a16:creationId xmlns:a16="http://schemas.microsoft.com/office/drawing/2014/main" id="{567B9465-FC94-4EB2-86D3-EE9008A28317}"/>
                </a:ext>
              </a:extLst>
            </p:cNvPr>
            <p:cNvSpPr>
              <a:spLocks noChangeArrowheads="1"/>
            </p:cNvSpPr>
            <p:nvPr/>
          </p:nvSpPr>
          <p:spPr bwMode="auto">
            <a:xfrm>
              <a:off x="5136" y="1072"/>
              <a:ext cx="80"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37" name="Oval 13">
              <a:extLst>
                <a:ext uri="{FF2B5EF4-FFF2-40B4-BE49-F238E27FC236}">
                  <a16:creationId xmlns:a16="http://schemas.microsoft.com/office/drawing/2014/main" id="{98F12A2A-E7EB-4D2C-A9DC-AAF398213C55}"/>
                </a:ext>
              </a:extLst>
            </p:cNvPr>
            <p:cNvSpPr>
              <a:spLocks noChangeArrowheads="1"/>
            </p:cNvSpPr>
            <p:nvPr/>
          </p:nvSpPr>
          <p:spPr bwMode="auto">
            <a:xfrm>
              <a:off x="5248" y="1072"/>
              <a:ext cx="79"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38" name="Oval 14">
              <a:extLst>
                <a:ext uri="{FF2B5EF4-FFF2-40B4-BE49-F238E27FC236}">
                  <a16:creationId xmlns:a16="http://schemas.microsoft.com/office/drawing/2014/main" id="{4A5F5161-3624-42E1-A4EB-AEA35F6CFCFA}"/>
                </a:ext>
              </a:extLst>
            </p:cNvPr>
            <p:cNvSpPr>
              <a:spLocks noChangeArrowheads="1"/>
            </p:cNvSpPr>
            <p:nvPr/>
          </p:nvSpPr>
          <p:spPr bwMode="auto">
            <a:xfrm>
              <a:off x="5360" y="1072"/>
              <a:ext cx="78"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39" name="Oval 15">
              <a:extLst>
                <a:ext uri="{FF2B5EF4-FFF2-40B4-BE49-F238E27FC236}">
                  <a16:creationId xmlns:a16="http://schemas.microsoft.com/office/drawing/2014/main" id="{1BDB6EBE-19AC-411F-AAE1-1FC8BAEB39C3}"/>
                </a:ext>
              </a:extLst>
            </p:cNvPr>
            <p:cNvSpPr>
              <a:spLocks noChangeArrowheads="1"/>
            </p:cNvSpPr>
            <p:nvPr/>
          </p:nvSpPr>
          <p:spPr bwMode="auto">
            <a:xfrm>
              <a:off x="5472" y="1072"/>
              <a:ext cx="78" cy="7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40" name="Oval 16">
              <a:extLst>
                <a:ext uri="{FF2B5EF4-FFF2-40B4-BE49-F238E27FC236}">
                  <a16:creationId xmlns:a16="http://schemas.microsoft.com/office/drawing/2014/main" id="{02A11B5C-7888-4BEA-B590-550B692B7AE7}"/>
                </a:ext>
              </a:extLst>
            </p:cNvPr>
            <p:cNvSpPr>
              <a:spLocks noChangeArrowheads="1"/>
            </p:cNvSpPr>
            <p:nvPr/>
          </p:nvSpPr>
          <p:spPr bwMode="auto">
            <a:xfrm>
              <a:off x="5136" y="1184"/>
              <a:ext cx="80"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41" name="Oval 17">
              <a:extLst>
                <a:ext uri="{FF2B5EF4-FFF2-40B4-BE49-F238E27FC236}">
                  <a16:creationId xmlns:a16="http://schemas.microsoft.com/office/drawing/2014/main" id="{DB10C3CF-B8E0-4C3F-A3AA-34E4A239D947}"/>
                </a:ext>
              </a:extLst>
            </p:cNvPr>
            <p:cNvSpPr>
              <a:spLocks noChangeArrowheads="1"/>
            </p:cNvSpPr>
            <p:nvPr/>
          </p:nvSpPr>
          <p:spPr bwMode="auto">
            <a:xfrm>
              <a:off x="5248" y="1184"/>
              <a:ext cx="79" cy="7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42" name="Oval 18">
              <a:extLst>
                <a:ext uri="{FF2B5EF4-FFF2-40B4-BE49-F238E27FC236}">
                  <a16:creationId xmlns:a16="http://schemas.microsoft.com/office/drawing/2014/main" id="{B9AFE2CE-72F4-4020-A586-2DE21375CD06}"/>
                </a:ext>
              </a:extLst>
            </p:cNvPr>
            <p:cNvSpPr>
              <a:spLocks noChangeArrowheads="1"/>
            </p:cNvSpPr>
            <p:nvPr/>
          </p:nvSpPr>
          <p:spPr bwMode="auto">
            <a:xfrm>
              <a:off x="5360" y="1184"/>
              <a:ext cx="78" cy="7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43" name="Oval 19">
              <a:extLst>
                <a:ext uri="{FF2B5EF4-FFF2-40B4-BE49-F238E27FC236}">
                  <a16:creationId xmlns:a16="http://schemas.microsoft.com/office/drawing/2014/main" id="{4EB905EA-4F03-4A22-9196-ECC5AEE69937}"/>
                </a:ext>
              </a:extLst>
            </p:cNvPr>
            <p:cNvSpPr>
              <a:spLocks noChangeArrowheads="1"/>
            </p:cNvSpPr>
            <p:nvPr/>
          </p:nvSpPr>
          <p:spPr bwMode="auto">
            <a:xfrm>
              <a:off x="5472" y="1184"/>
              <a:ext cx="78" cy="7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44" name="Oval 20">
              <a:extLst>
                <a:ext uri="{FF2B5EF4-FFF2-40B4-BE49-F238E27FC236}">
                  <a16:creationId xmlns:a16="http://schemas.microsoft.com/office/drawing/2014/main" id="{EEE4C7CA-6A3E-41B5-9BA7-A7BA38F33D12}"/>
                </a:ext>
              </a:extLst>
            </p:cNvPr>
            <p:cNvSpPr>
              <a:spLocks noChangeArrowheads="1"/>
            </p:cNvSpPr>
            <p:nvPr/>
          </p:nvSpPr>
          <p:spPr bwMode="auto">
            <a:xfrm>
              <a:off x="5584" y="1184"/>
              <a:ext cx="80" cy="7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45" name="Oval 21">
              <a:extLst>
                <a:ext uri="{FF2B5EF4-FFF2-40B4-BE49-F238E27FC236}">
                  <a16:creationId xmlns:a16="http://schemas.microsoft.com/office/drawing/2014/main" id="{CC12E068-5866-4279-9A11-FE4110042A9E}"/>
                </a:ext>
              </a:extLst>
            </p:cNvPr>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46" name="Oval 22">
              <a:extLst>
                <a:ext uri="{FF2B5EF4-FFF2-40B4-BE49-F238E27FC236}">
                  <a16:creationId xmlns:a16="http://schemas.microsoft.com/office/drawing/2014/main" id="{0D108CEC-C06D-49CA-BF05-A786FA8B13F3}"/>
                </a:ext>
              </a:extLst>
            </p:cNvPr>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47" name="Oval 23">
              <a:extLst>
                <a:ext uri="{FF2B5EF4-FFF2-40B4-BE49-F238E27FC236}">
                  <a16:creationId xmlns:a16="http://schemas.microsoft.com/office/drawing/2014/main" id="{DD312969-11AA-4755-B7D4-9CE3F72312A7}"/>
                </a:ext>
              </a:extLst>
            </p:cNvPr>
            <p:cNvSpPr>
              <a:spLocks noChangeArrowheads="1"/>
            </p:cNvSpPr>
            <p:nvPr/>
          </p:nvSpPr>
          <p:spPr bwMode="auto">
            <a:xfrm>
              <a:off x="5360" y="1296"/>
              <a:ext cx="78"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48" name="Oval 24">
              <a:extLst>
                <a:ext uri="{FF2B5EF4-FFF2-40B4-BE49-F238E27FC236}">
                  <a16:creationId xmlns:a16="http://schemas.microsoft.com/office/drawing/2014/main" id="{01C00F3D-F576-40EA-9036-E07AD6E1CE87}"/>
                </a:ext>
              </a:extLst>
            </p:cNvPr>
            <p:cNvSpPr>
              <a:spLocks noChangeArrowheads="1"/>
            </p:cNvSpPr>
            <p:nvPr/>
          </p:nvSpPr>
          <p:spPr bwMode="auto">
            <a:xfrm>
              <a:off x="5472" y="1296"/>
              <a:ext cx="78"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49" name="Oval 25">
              <a:extLst>
                <a:ext uri="{FF2B5EF4-FFF2-40B4-BE49-F238E27FC236}">
                  <a16:creationId xmlns:a16="http://schemas.microsoft.com/office/drawing/2014/main" id="{96716549-8351-4DAF-B0D5-46493516D2B8}"/>
                </a:ext>
              </a:extLst>
            </p:cNvPr>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50" name="Oval 26">
              <a:extLst>
                <a:ext uri="{FF2B5EF4-FFF2-40B4-BE49-F238E27FC236}">
                  <a16:creationId xmlns:a16="http://schemas.microsoft.com/office/drawing/2014/main" id="{028F7289-9575-4691-9FEA-40EFC869BDA6}"/>
                </a:ext>
              </a:extLst>
            </p:cNvPr>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51" name="Oval 27">
              <a:extLst>
                <a:ext uri="{FF2B5EF4-FFF2-40B4-BE49-F238E27FC236}">
                  <a16:creationId xmlns:a16="http://schemas.microsoft.com/office/drawing/2014/main" id="{D88F96F0-E0EB-40C1-AA01-717BA239F58B}"/>
                </a:ext>
              </a:extLst>
            </p:cNvPr>
            <p:cNvSpPr>
              <a:spLocks noChangeArrowheads="1"/>
            </p:cNvSpPr>
            <p:nvPr/>
          </p:nvSpPr>
          <p:spPr bwMode="auto">
            <a:xfrm>
              <a:off x="5360" y="1408"/>
              <a:ext cx="78"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52" name="Oval 28">
              <a:extLst>
                <a:ext uri="{FF2B5EF4-FFF2-40B4-BE49-F238E27FC236}">
                  <a16:creationId xmlns:a16="http://schemas.microsoft.com/office/drawing/2014/main" id="{18B25EF5-065F-4D44-A642-F97CF090EE8C}"/>
                </a:ext>
              </a:extLst>
            </p:cNvPr>
            <p:cNvSpPr>
              <a:spLocks noChangeArrowheads="1"/>
            </p:cNvSpPr>
            <p:nvPr/>
          </p:nvSpPr>
          <p:spPr bwMode="auto">
            <a:xfrm>
              <a:off x="5472" y="1408"/>
              <a:ext cx="78"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53" name="Oval 29">
              <a:extLst>
                <a:ext uri="{FF2B5EF4-FFF2-40B4-BE49-F238E27FC236}">
                  <a16:creationId xmlns:a16="http://schemas.microsoft.com/office/drawing/2014/main" id="{5618F3D8-0A73-4FA7-9C72-A2F0C8F8576D}"/>
                </a:ext>
              </a:extLst>
            </p:cNvPr>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54" name="Oval 30">
              <a:extLst>
                <a:ext uri="{FF2B5EF4-FFF2-40B4-BE49-F238E27FC236}">
                  <a16:creationId xmlns:a16="http://schemas.microsoft.com/office/drawing/2014/main" id="{2B4ACD32-C60A-4065-AB5D-64EC45DDA91A}"/>
                </a:ext>
              </a:extLst>
            </p:cNvPr>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55" name="Oval 31">
              <a:extLst>
                <a:ext uri="{FF2B5EF4-FFF2-40B4-BE49-F238E27FC236}">
                  <a16:creationId xmlns:a16="http://schemas.microsoft.com/office/drawing/2014/main" id="{D4947CDB-D135-4F0B-AC2B-012A94CC0F8F}"/>
                </a:ext>
              </a:extLst>
            </p:cNvPr>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56" name="Oval 32">
              <a:extLst>
                <a:ext uri="{FF2B5EF4-FFF2-40B4-BE49-F238E27FC236}">
                  <a16:creationId xmlns:a16="http://schemas.microsoft.com/office/drawing/2014/main" id="{B6461FAA-84D5-475E-9368-E86F05CE0368}"/>
                </a:ext>
              </a:extLst>
            </p:cNvPr>
            <p:cNvSpPr>
              <a:spLocks noChangeArrowheads="1"/>
            </p:cNvSpPr>
            <p:nvPr/>
          </p:nvSpPr>
          <p:spPr bwMode="auto">
            <a:xfrm>
              <a:off x="5360" y="1520"/>
              <a:ext cx="78"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57" name="Oval 33">
              <a:extLst>
                <a:ext uri="{FF2B5EF4-FFF2-40B4-BE49-F238E27FC236}">
                  <a16:creationId xmlns:a16="http://schemas.microsoft.com/office/drawing/2014/main" id="{C7093D40-1014-4DF7-AF46-8AE724141E7A}"/>
                </a:ext>
              </a:extLst>
            </p:cNvPr>
            <p:cNvSpPr>
              <a:spLocks noChangeArrowheads="1"/>
            </p:cNvSpPr>
            <p:nvPr/>
          </p:nvSpPr>
          <p:spPr bwMode="auto">
            <a:xfrm>
              <a:off x="5472" y="1520"/>
              <a:ext cx="78"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58" name="Oval 34">
              <a:extLst>
                <a:ext uri="{FF2B5EF4-FFF2-40B4-BE49-F238E27FC236}">
                  <a16:creationId xmlns:a16="http://schemas.microsoft.com/office/drawing/2014/main" id="{0456E09C-A949-4D0F-9A0A-4C46C84A3B44}"/>
                </a:ext>
              </a:extLst>
            </p:cNvPr>
            <p:cNvSpPr>
              <a:spLocks noChangeArrowheads="1"/>
            </p:cNvSpPr>
            <p:nvPr/>
          </p:nvSpPr>
          <p:spPr bwMode="auto">
            <a:xfrm>
              <a:off x="5136" y="1632"/>
              <a:ext cx="80" cy="7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59" name="Oval 35">
              <a:extLst>
                <a:ext uri="{FF2B5EF4-FFF2-40B4-BE49-F238E27FC236}">
                  <a16:creationId xmlns:a16="http://schemas.microsoft.com/office/drawing/2014/main" id="{E5DAF18D-C600-4B26-8074-357F097F829F}"/>
                </a:ext>
              </a:extLst>
            </p:cNvPr>
            <p:cNvSpPr>
              <a:spLocks noChangeArrowheads="1"/>
            </p:cNvSpPr>
            <p:nvPr/>
          </p:nvSpPr>
          <p:spPr bwMode="auto">
            <a:xfrm>
              <a:off x="5248" y="1632"/>
              <a:ext cx="79" cy="7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60" name="Oval 36">
              <a:extLst>
                <a:ext uri="{FF2B5EF4-FFF2-40B4-BE49-F238E27FC236}">
                  <a16:creationId xmlns:a16="http://schemas.microsoft.com/office/drawing/2014/main" id="{B31CDCA7-3098-4642-B109-B226FB4F414D}"/>
                </a:ext>
              </a:extLst>
            </p:cNvPr>
            <p:cNvSpPr>
              <a:spLocks noChangeArrowheads="1"/>
            </p:cNvSpPr>
            <p:nvPr/>
          </p:nvSpPr>
          <p:spPr bwMode="auto">
            <a:xfrm>
              <a:off x="5360" y="1632"/>
              <a:ext cx="78" cy="7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61" name="Oval 37">
              <a:extLst>
                <a:ext uri="{FF2B5EF4-FFF2-40B4-BE49-F238E27FC236}">
                  <a16:creationId xmlns:a16="http://schemas.microsoft.com/office/drawing/2014/main" id="{022FCAE3-F873-4C82-91FB-23FA342F4C21}"/>
                </a:ext>
              </a:extLst>
            </p:cNvPr>
            <p:cNvSpPr>
              <a:spLocks noChangeArrowheads="1"/>
            </p:cNvSpPr>
            <p:nvPr/>
          </p:nvSpPr>
          <p:spPr bwMode="auto">
            <a:xfrm>
              <a:off x="5472" y="1632"/>
              <a:ext cx="78" cy="7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62" name="Oval 38">
              <a:extLst>
                <a:ext uri="{FF2B5EF4-FFF2-40B4-BE49-F238E27FC236}">
                  <a16:creationId xmlns:a16="http://schemas.microsoft.com/office/drawing/2014/main" id="{7C57C24A-4A08-44AD-8DFA-689D42A47FB1}"/>
                </a:ext>
              </a:extLst>
            </p:cNvPr>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sp>
          <p:nvSpPr>
            <p:cNvPr id="1063" name="Oval 39">
              <a:extLst>
                <a:ext uri="{FF2B5EF4-FFF2-40B4-BE49-F238E27FC236}">
                  <a16:creationId xmlns:a16="http://schemas.microsoft.com/office/drawing/2014/main" id="{CF28EEE5-F760-49D4-ADDE-01E237C4BEC6}"/>
                </a:ext>
              </a:extLst>
            </p:cNvPr>
            <p:cNvSpPr>
              <a:spLocks noChangeArrowheads="1"/>
            </p:cNvSpPr>
            <p:nvPr/>
          </p:nvSpPr>
          <p:spPr bwMode="auto">
            <a:xfrm>
              <a:off x="5472" y="1744"/>
              <a:ext cx="78"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zh-CN" altLang="zh-CN"/>
            </a:p>
          </p:txBody>
        </p:sp>
      </p:grpSp>
    </p:spTree>
  </p:cSld>
  <p:clrMap bg1="lt1" tx1="dk1" bg2="lt2" tx2="dk2" accent1="accent1" accent2="accent2" accent3="accent3" accent4="accent4" accent5="accent5" accent6="accent6" hlink="hlink" folHlink="folHlink"/>
  <p:sldLayoutIdLst>
    <p:sldLayoutId id="2147483735"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8.tmp"/><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notesSlide" Target="../notesSlides/notesSlide29.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7.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32.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image" Target="../media/image8.tmp"/><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notesSlide" Target="../notesSlides/notesSlide30.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slideLayout" Target="../slideLayouts/slideLayout7.xml"/><Relationship Id="rId5" Type="http://schemas.openxmlformats.org/officeDocument/2006/relationships/tags" Target="../tags/tag15.xml"/><Relationship Id="rId10" Type="http://schemas.openxmlformats.org/officeDocument/2006/relationships/tags" Target="../tags/tag20.xml"/><Relationship Id="rId4" Type="http://schemas.openxmlformats.org/officeDocument/2006/relationships/tags" Target="../tags/tag14.xml"/><Relationship Id="rId9" Type="http://schemas.openxmlformats.org/officeDocument/2006/relationships/tags" Target="../tags/tag1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3">
            <a:extLst>
              <a:ext uri="{FF2B5EF4-FFF2-40B4-BE49-F238E27FC236}">
                <a16:creationId xmlns:a16="http://schemas.microsoft.com/office/drawing/2014/main" id="{42A212DA-5CAF-46AB-BB7F-821F64B4FCC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Systems Analysis and Design in a Changing World, 6th Edition</a:t>
            </a:r>
          </a:p>
        </p:txBody>
      </p:sp>
      <p:sp>
        <p:nvSpPr>
          <p:cNvPr id="3075" name="Slide Number Placeholder 4">
            <a:extLst>
              <a:ext uri="{FF2B5EF4-FFF2-40B4-BE49-F238E27FC236}">
                <a16:creationId xmlns:a16="http://schemas.microsoft.com/office/drawing/2014/main" id="{64AAF2E6-EF98-4C58-A87B-96571878176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08EBBA-18F4-444C-8651-A77A8B2978EB}" type="slidenum">
              <a:rPr lang="en-US" altLang="en-US"/>
              <a:pPr eaLnBrk="1" hangingPunct="1"/>
              <a:t>1</a:t>
            </a:fld>
            <a:endParaRPr lang="en-US" altLang="en-US"/>
          </a:p>
        </p:txBody>
      </p:sp>
      <p:sp>
        <p:nvSpPr>
          <p:cNvPr id="3076" name="Text Box 3">
            <a:extLst>
              <a:ext uri="{FF2B5EF4-FFF2-40B4-BE49-F238E27FC236}">
                <a16:creationId xmlns:a16="http://schemas.microsoft.com/office/drawing/2014/main" id="{4F25320C-4B44-4A35-ABE8-6AD7CDE2448B}"/>
              </a:ext>
            </a:extLst>
          </p:cNvPr>
          <p:cNvSpPr txBox="1">
            <a:spLocks noChangeArrowheads="1"/>
          </p:cNvSpPr>
          <p:nvPr/>
        </p:nvSpPr>
        <p:spPr bwMode="auto">
          <a:xfrm>
            <a:off x="1066800" y="4495800"/>
            <a:ext cx="7086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zh-CN" sz="4000">
                <a:solidFill>
                  <a:schemeClr val="bg1"/>
                </a:solidFill>
                <a:ea typeface="宋体" panose="02010600030101010101" pitchFamily="2" charset="-122"/>
              </a:rPr>
              <a:t>Chapter 3</a:t>
            </a:r>
          </a:p>
        </p:txBody>
      </p:sp>
      <p:sp>
        <p:nvSpPr>
          <p:cNvPr id="3077" name="TextBox 6">
            <a:extLst>
              <a:ext uri="{FF2B5EF4-FFF2-40B4-BE49-F238E27FC236}">
                <a16:creationId xmlns:a16="http://schemas.microsoft.com/office/drawing/2014/main" id="{4B10AD2C-F358-49C9-BFF1-60E895E47C3F}"/>
              </a:ext>
            </a:extLst>
          </p:cNvPr>
          <p:cNvSpPr txBox="1">
            <a:spLocks noChangeArrowheads="1"/>
          </p:cNvSpPr>
          <p:nvPr/>
        </p:nvSpPr>
        <p:spPr bwMode="auto">
          <a:xfrm>
            <a:off x="838200" y="152400"/>
            <a:ext cx="8153400" cy="2616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INTRODUCTION TO </a:t>
            </a:r>
          </a:p>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SYSTEMS ANALYSIS AND DESIGN:</a:t>
            </a:r>
          </a:p>
          <a:p>
            <a:pPr algn="r" eaLnBrk="1" hangingPunct="1"/>
            <a:r>
              <a:rPr lang="en-US" altLang="zh-CN" sz="320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AN AGILE, ITERATIVE APPROACH</a:t>
            </a:r>
          </a:p>
        </p:txBody>
      </p:sp>
      <p:sp>
        <p:nvSpPr>
          <p:cNvPr id="8" name="Rectangle 7">
            <a:extLst>
              <a:ext uri="{FF2B5EF4-FFF2-40B4-BE49-F238E27FC236}">
                <a16:creationId xmlns:a16="http://schemas.microsoft.com/office/drawing/2014/main" id="{F316F89B-EEAC-4E54-B733-5235D7EC76D5}"/>
              </a:ext>
            </a:extLst>
          </p:cNvPr>
          <p:cNvSpPr/>
          <p:nvPr/>
        </p:nvSpPr>
        <p:spPr>
          <a:xfrm>
            <a:off x="0" y="3048000"/>
            <a:ext cx="9144000" cy="3810000"/>
          </a:xfrm>
          <a:prstGeom prst="rect">
            <a:avLst/>
          </a:prstGeom>
          <a:solidFill>
            <a:srgbClr val="000066"/>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dirty="0">
              <a:solidFill>
                <a:srgbClr val="0033CC"/>
              </a:solidFill>
            </a:endParaRPr>
          </a:p>
        </p:txBody>
      </p:sp>
      <p:sp>
        <p:nvSpPr>
          <p:cNvPr id="3079" name="TextBox 10">
            <a:extLst>
              <a:ext uri="{FF2B5EF4-FFF2-40B4-BE49-F238E27FC236}">
                <a16:creationId xmlns:a16="http://schemas.microsoft.com/office/drawing/2014/main" id="{E9344C8F-52BA-46B8-9EC0-5F698D507D74}"/>
              </a:ext>
            </a:extLst>
          </p:cNvPr>
          <p:cNvSpPr txBox="1">
            <a:spLocks noChangeArrowheads="1"/>
          </p:cNvSpPr>
          <p:nvPr/>
        </p:nvSpPr>
        <p:spPr bwMode="auto">
          <a:xfrm>
            <a:off x="914400" y="4267200"/>
            <a:ext cx="3124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3200">
                <a:solidFill>
                  <a:schemeClr val="bg1"/>
                </a:solidFill>
                <a:ea typeface="宋体" panose="02010600030101010101" pitchFamily="2" charset="-122"/>
              </a:rPr>
              <a:t>CHAPTER 3</a:t>
            </a:r>
          </a:p>
        </p:txBody>
      </p:sp>
      <p:sp>
        <p:nvSpPr>
          <p:cNvPr id="3080" name="TextBox 9">
            <a:extLst>
              <a:ext uri="{FF2B5EF4-FFF2-40B4-BE49-F238E27FC236}">
                <a16:creationId xmlns:a16="http://schemas.microsoft.com/office/drawing/2014/main" id="{201455E8-AC8E-4DF7-8572-BBCE97F0E1FB}"/>
              </a:ext>
            </a:extLst>
          </p:cNvPr>
          <p:cNvSpPr txBox="1">
            <a:spLocks noChangeArrowheads="1"/>
          </p:cNvSpPr>
          <p:nvPr/>
        </p:nvSpPr>
        <p:spPr bwMode="auto">
          <a:xfrm>
            <a:off x="3886200" y="3276600"/>
            <a:ext cx="510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400">
                <a:solidFill>
                  <a:schemeClr val="bg1"/>
                </a:solidFill>
                <a:ea typeface="宋体" panose="02010600030101010101" pitchFamily="2" charset="-122"/>
              </a:rPr>
              <a:t>SATZINGER | JACKSON | BURD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0ED06E6-1AF4-4132-9FF4-3EB3E3A183B8}"/>
              </a:ext>
            </a:extLst>
          </p:cNvPr>
          <p:cNvSpPr>
            <a:spLocks noGrp="1" noChangeArrowheads="1"/>
          </p:cNvSpPr>
          <p:nvPr>
            <p:ph type="ctrTitle"/>
          </p:nvPr>
        </p:nvSpPr>
        <p:spPr>
          <a:xfrm>
            <a:off x="685800" y="609600"/>
            <a:ext cx="6411913" cy="1143000"/>
          </a:xfrm>
        </p:spPr>
        <p:txBody>
          <a:bodyPr/>
          <a:lstStyle/>
          <a:p>
            <a:pPr algn="l" eaLnBrk="1" hangingPunct="1"/>
            <a:r>
              <a:rPr lang="en-US" altLang="zh-CN" sz="4400">
                <a:ea typeface="宋体" panose="02010600030101010101" pitchFamily="2" charset="-122"/>
              </a:rPr>
              <a:t>Use Cases</a:t>
            </a:r>
          </a:p>
        </p:txBody>
      </p:sp>
      <p:sp>
        <p:nvSpPr>
          <p:cNvPr id="4099" name="Rectangle 3">
            <a:extLst>
              <a:ext uri="{FF2B5EF4-FFF2-40B4-BE49-F238E27FC236}">
                <a16:creationId xmlns:a16="http://schemas.microsoft.com/office/drawing/2014/main" id="{8D76F378-6CFF-4FA7-9A19-A37D7BC6757D}"/>
              </a:ext>
            </a:extLst>
          </p:cNvPr>
          <p:cNvSpPr>
            <a:spLocks noGrp="1" noChangeArrowheads="1"/>
          </p:cNvSpPr>
          <p:nvPr>
            <p:ph type="subTitle" idx="1"/>
          </p:nvPr>
        </p:nvSpPr>
        <p:spPr>
          <a:xfrm>
            <a:off x="1970088" y="3656013"/>
            <a:ext cx="4267200" cy="1522412"/>
          </a:xfrm>
        </p:spPr>
        <p:txBody>
          <a:bodyPr/>
          <a:lstStyle/>
          <a:p>
            <a:pPr eaLnBrk="1" hangingPunct="1">
              <a:lnSpc>
                <a:spcPct val="80000"/>
              </a:lnSpc>
            </a:pPr>
            <a:r>
              <a:rPr lang="en-US" altLang="zh-CN" sz="2400">
                <a:ea typeface="宋体" panose="02010600030101010101" pitchFamily="2" charset="-122"/>
              </a:rPr>
              <a:t>Introduction to Systems </a:t>
            </a:r>
          </a:p>
          <a:p>
            <a:pPr eaLnBrk="1" hangingPunct="1">
              <a:lnSpc>
                <a:spcPct val="80000"/>
              </a:lnSpc>
            </a:pPr>
            <a:r>
              <a:rPr lang="en-US" altLang="zh-CN" sz="2400">
                <a:ea typeface="宋体" panose="02010600030101010101" pitchFamily="2" charset="-122"/>
              </a:rPr>
              <a:t>Analysis and Design: </a:t>
            </a:r>
          </a:p>
          <a:p>
            <a:pPr eaLnBrk="1" hangingPunct="1">
              <a:lnSpc>
                <a:spcPct val="80000"/>
              </a:lnSpc>
            </a:pPr>
            <a:r>
              <a:rPr lang="en-US" altLang="zh-CN" sz="2400">
                <a:ea typeface="宋体" panose="02010600030101010101" pitchFamily="2" charset="-122"/>
              </a:rPr>
              <a:t>An Agile, Iteractive Approach </a:t>
            </a:r>
          </a:p>
          <a:p>
            <a:pPr eaLnBrk="1" hangingPunct="1">
              <a:lnSpc>
                <a:spcPct val="80000"/>
              </a:lnSpc>
            </a:pPr>
            <a:r>
              <a:rPr lang="en-US" altLang="zh-CN" sz="2400">
                <a:ea typeface="宋体" panose="02010600030101010101" pitchFamily="2" charset="-122"/>
              </a:rPr>
              <a:t>6</a:t>
            </a:r>
            <a:r>
              <a:rPr lang="en-US" altLang="zh-CN" sz="2400" baseline="30000">
                <a:ea typeface="宋体" panose="02010600030101010101" pitchFamily="2" charset="-122"/>
              </a:rPr>
              <a:t>th</a:t>
            </a:r>
            <a:r>
              <a:rPr lang="en-US" altLang="zh-CN" sz="2400">
                <a:ea typeface="宋体" panose="02010600030101010101" pitchFamily="2" charset="-122"/>
              </a:rPr>
              <a:t> Ed</a:t>
            </a:r>
          </a:p>
          <a:p>
            <a:pPr eaLnBrk="1" hangingPunct="1">
              <a:lnSpc>
                <a:spcPct val="80000"/>
              </a:lnSpc>
            </a:pPr>
            <a:endParaRPr lang="en-US" altLang="zh-CN" sz="2400">
              <a:ea typeface="宋体" panose="02010600030101010101" pitchFamily="2" charset="-122"/>
            </a:endParaRPr>
          </a:p>
          <a:p>
            <a:pPr eaLnBrk="1" hangingPunct="1">
              <a:lnSpc>
                <a:spcPct val="80000"/>
              </a:lnSpc>
            </a:pPr>
            <a:r>
              <a:rPr lang="en-US" altLang="zh-CN" sz="2400">
                <a:ea typeface="宋体" panose="02010600030101010101" pitchFamily="2" charset="-122"/>
              </a:rPr>
              <a:t>Satzinger, Jackson &amp; Burd</a:t>
            </a:r>
          </a:p>
        </p:txBody>
      </p:sp>
      <p:sp>
        <p:nvSpPr>
          <p:cNvPr id="4100" name="Rectangle 4">
            <a:extLst>
              <a:ext uri="{FF2B5EF4-FFF2-40B4-BE49-F238E27FC236}">
                <a16:creationId xmlns:a16="http://schemas.microsoft.com/office/drawing/2014/main" id="{5D8721F8-8111-4065-8A4C-FC43CE2321EE}"/>
              </a:ext>
            </a:extLst>
          </p:cNvPr>
          <p:cNvSpPr>
            <a:spLocks noChangeArrowheads="1"/>
          </p:cNvSpPr>
          <p:nvPr/>
        </p:nvSpPr>
        <p:spPr bwMode="auto">
          <a:xfrm>
            <a:off x="381000" y="1828800"/>
            <a:ext cx="6781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r>
              <a:rPr lang="en-US" altLang="zh-CN" sz="2000" b="1">
                <a:solidFill>
                  <a:schemeClr val="tx2"/>
                </a:solidFill>
                <a:ea typeface="宋体" panose="02010600030101010101" pitchFamily="2" charset="-122"/>
              </a:rPr>
            </a:br>
            <a:r>
              <a:rPr lang="en-US" altLang="zh-CN" sz="4000" b="1">
                <a:solidFill>
                  <a:schemeClr val="tx2"/>
                </a:solidFill>
                <a:ea typeface="宋体" panose="02010600030101010101" pitchFamily="2" charset="-122"/>
              </a:rPr>
              <a:t>Chapter 3</a:t>
            </a:r>
          </a:p>
        </p:txBody>
      </p:sp>
      <p:sp>
        <p:nvSpPr>
          <p:cNvPr id="4101" name="Rectangle 4">
            <a:extLst>
              <a:ext uri="{FF2B5EF4-FFF2-40B4-BE49-F238E27FC236}">
                <a16:creationId xmlns:a16="http://schemas.microsoft.com/office/drawing/2014/main" id="{8269321D-DE8C-4AE2-B15B-67DE8F98EE36}"/>
              </a:ext>
            </a:extLst>
          </p:cNvPr>
          <p:cNvSpPr>
            <a:spLocks noChangeArrowheads="1"/>
          </p:cNvSpPr>
          <p:nvPr/>
        </p:nvSpPr>
        <p:spPr bwMode="auto">
          <a:xfrm>
            <a:off x="8382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3FBA1EBE-759B-4B22-994E-802F40155C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148880D-6651-45A9-A720-5C153F8877DF}" type="slidenum">
              <a:rPr lang="en-US" altLang="en-US"/>
              <a:pPr eaLnBrk="1" hangingPunct="1"/>
              <a:t>3</a:t>
            </a:fld>
            <a:endParaRPr lang="en-US" altLang="en-US"/>
          </a:p>
        </p:txBody>
      </p:sp>
      <p:sp>
        <p:nvSpPr>
          <p:cNvPr id="5123" name="Rectangle 2">
            <a:extLst>
              <a:ext uri="{FF2B5EF4-FFF2-40B4-BE49-F238E27FC236}">
                <a16:creationId xmlns:a16="http://schemas.microsoft.com/office/drawing/2014/main" id="{7F2196B2-40DF-44A4-AC21-7DB6528A6F74}"/>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3 Outline</a:t>
            </a:r>
          </a:p>
        </p:txBody>
      </p:sp>
      <p:sp>
        <p:nvSpPr>
          <p:cNvPr id="5124" name="Rectangle 3">
            <a:extLst>
              <a:ext uri="{FF2B5EF4-FFF2-40B4-BE49-F238E27FC236}">
                <a16:creationId xmlns:a16="http://schemas.microsoft.com/office/drawing/2014/main" id="{8ADCAA2F-8645-4D21-8FCE-C79E32FF8469}"/>
              </a:ext>
            </a:extLst>
          </p:cNvPr>
          <p:cNvSpPr>
            <a:spLocks noGrp="1" noChangeArrowheads="1"/>
          </p:cNvSpPr>
          <p:nvPr>
            <p:ph type="body" idx="1"/>
          </p:nvPr>
        </p:nvSpPr>
        <p:spPr>
          <a:xfrm>
            <a:off x="457200" y="1752600"/>
            <a:ext cx="8229600" cy="4411663"/>
          </a:xfrm>
        </p:spPr>
        <p:txBody>
          <a:bodyPr/>
          <a:lstStyle/>
          <a:p>
            <a:pPr eaLnBrk="1" hangingPunct="1"/>
            <a:r>
              <a:rPr lang="en-US" altLang="zh-CN" dirty="0">
                <a:ea typeface="宋体" panose="02010600030101010101" pitchFamily="2" charset="-122"/>
              </a:rPr>
              <a:t>Use Cases and User Goals</a:t>
            </a:r>
            <a:r>
              <a:rPr lang="zh-CN" altLang="en-US" dirty="0">
                <a:ea typeface="宋体" panose="02010600030101010101" pitchFamily="2" charset="-122"/>
              </a:rPr>
              <a:t>（用例和用户目标）</a:t>
            </a:r>
            <a:endParaRPr lang="en-US" altLang="zh-CN" dirty="0">
              <a:ea typeface="宋体" panose="02010600030101010101" pitchFamily="2" charset="-122"/>
            </a:endParaRPr>
          </a:p>
          <a:p>
            <a:pPr eaLnBrk="1" hangingPunct="1"/>
            <a:r>
              <a:rPr lang="en-US" altLang="zh-CN" dirty="0">
                <a:ea typeface="宋体" panose="02010600030101010101" pitchFamily="2" charset="-122"/>
              </a:rPr>
              <a:t>Use Cases and Event Decomposition</a:t>
            </a:r>
            <a:r>
              <a:rPr lang="zh-CN" altLang="en-US" dirty="0">
                <a:ea typeface="宋体" panose="02010600030101010101" pitchFamily="2" charset="-122"/>
              </a:rPr>
              <a:t>（用例和事件分解）</a:t>
            </a:r>
            <a:endParaRPr lang="en-US" altLang="zh-CN" dirty="0">
              <a:ea typeface="宋体" panose="02010600030101010101" pitchFamily="2" charset="-122"/>
            </a:endParaRPr>
          </a:p>
          <a:p>
            <a:pPr eaLnBrk="1" hangingPunct="1"/>
            <a:r>
              <a:rPr lang="en-US" altLang="zh-CN" dirty="0">
                <a:ea typeface="宋体" panose="02010600030101010101" pitchFamily="2" charset="-122"/>
              </a:rPr>
              <a:t>Use Cases and CRUD</a:t>
            </a:r>
            <a:r>
              <a:rPr lang="zh-CN" altLang="en-US" dirty="0">
                <a:ea typeface="宋体" panose="02010600030101010101" pitchFamily="2" charset="-122"/>
              </a:rPr>
              <a:t>（用例和</a:t>
            </a:r>
            <a:r>
              <a:rPr lang="en-US" altLang="zh-CN" dirty="0">
                <a:ea typeface="宋体" panose="02010600030101010101" pitchFamily="2" charset="-122"/>
              </a:rPr>
              <a:t>CRUD</a:t>
            </a:r>
            <a:r>
              <a:rPr lang="zh-CN" altLang="en-US" dirty="0">
                <a:ea typeface="宋体" panose="02010600030101010101" pitchFamily="2" charset="-122"/>
              </a:rPr>
              <a:t>）</a:t>
            </a:r>
            <a:endParaRPr lang="en-US" altLang="zh-CN" dirty="0">
              <a:ea typeface="宋体" panose="02010600030101010101" pitchFamily="2" charset="-122"/>
            </a:endParaRPr>
          </a:p>
          <a:p>
            <a:pPr eaLnBrk="1" hangingPunct="1"/>
            <a:r>
              <a:rPr lang="en-US" altLang="zh-CN" dirty="0">
                <a:ea typeface="宋体" panose="02010600030101010101" pitchFamily="2" charset="-122"/>
              </a:rPr>
              <a:t>Use Cases in the Ridgeline Mountain Outfitters Case</a:t>
            </a:r>
            <a:r>
              <a:rPr lang="zh-CN" altLang="en-US" dirty="0">
                <a:ea typeface="宋体" panose="02010600030101010101" pitchFamily="2" charset="-122"/>
              </a:rPr>
              <a:t>（</a:t>
            </a:r>
            <a:r>
              <a:rPr lang="en-US" altLang="zh-CN" dirty="0">
                <a:ea typeface="宋体" panose="02010600030101010101" pitchFamily="2" charset="-122"/>
              </a:rPr>
              <a:t>RMO</a:t>
            </a:r>
            <a:r>
              <a:rPr lang="zh-CN" altLang="en-US" dirty="0">
                <a:ea typeface="宋体" panose="02010600030101010101" pitchFamily="2" charset="-122"/>
              </a:rPr>
              <a:t>中的用例）</a:t>
            </a:r>
            <a:endParaRPr lang="en-US" altLang="zh-CN" dirty="0">
              <a:ea typeface="宋体" panose="02010600030101010101" pitchFamily="2" charset="-122"/>
            </a:endParaRPr>
          </a:p>
          <a:p>
            <a:pPr eaLnBrk="1" hangingPunct="1"/>
            <a:r>
              <a:rPr lang="en-US" altLang="zh-CN" dirty="0">
                <a:ea typeface="宋体" panose="02010600030101010101" pitchFamily="2" charset="-122"/>
              </a:rPr>
              <a:t>Use Case Diagrams</a:t>
            </a:r>
            <a:r>
              <a:rPr lang="zh-CN" altLang="en-US" dirty="0">
                <a:ea typeface="宋体" panose="02010600030101010101" pitchFamily="2" charset="-122"/>
              </a:rPr>
              <a:t>（用例图）</a:t>
            </a:r>
            <a:endParaRPr lang="en-US" altLang="zh-CN" dirty="0">
              <a:ea typeface="宋体" panose="02010600030101010101" pitchFamily="2" charset="-122"/>
            </a:endParaRPr>
          </a:p>
        </p:txBody>
      </p:sp>
      <p:sp>
        <p:nvSpPr>
          <p:cNvPr id="5125" name="Rectangle 5">
            <a:extLst>
              <a:ext uri="{FF2B5EF4-FFF2-40B4-BE49-F238E27FC236}">
                <a16:creationId xmlns:a16="http://schemas.microsoft.com/office/drawing/2014/main" id="{B6678780-AC33-4ACB-81A7-92F1D3E5114F}"/>
              </a:ext>
            </a:extLst>
          </p:cNvPr>
          <p:cNvSpPr>
            <a:spLocks noChangeArrowheads="1"/>
          </p:cNvSpPr>
          <p:nvPr/>
        </p:nvSpPr>
        <p:spPr bwMode="auto">
          <a:xfrm>
            <a:off x="6858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6" name="Footer Placeholder 5">
            <a:extLst>
              <a:ext uri="{FF2B5EF4-FFF2-40B4-BE49-F238E27FC236}">
                <a16:creationId xmlns:a16="http://schemas.microsoft.com/office/drawing/2014/main" id="{6231F08F-229D-4AF6-8E48-D165A93739F0}"/>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DB114E28-3C29-425F-ABD6-C11B8504D1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78E754F-37D7-4932-AA57-61F06A79DCEA}" type="slidenum">
              <a:rPr lang="en-US" altLang="en-US"/>
              <a:pPr eaLnBrk="1" hangingPunct="1"/>
              <a:t>4</a:t>
            </a:fld>
            <a:endParaRPr lang="en-US" altLang="en-US"/>
          </a:p>
        </p:txBody>
      </p:sp>
      <p:sp>
        <p:nvSpPr>
          <p:cNvPr id="6147" name="Rectangle 2">
            <a:extLst>
              <a:ext uri="{FF2B5EF4-FFF2-40B4-BE49-F238E27FC236}">
                <a16:creationId xmlns:a16="http://schemas.microsoft.com/office/drawing/2014/main" id="{EF0EB2F1-B92E-4DFB-B87E-C0FD27AC86E1}"/>
              </a:ext>
            </a:extLst>
          </p:cNvPr>
          <p:cNvSpPr>
            <a:spLocks noGrp="1" noChangeArrowheads="1"/>
          </p:cNvSpPr>
          <p:nvPr>
            <p:ph type="title"/>
          </p:nvPr>
        </p:nvSpPr>
        <p:spPr>
          <a:xfrm>
            <a:off x="457200" y="122238"/>
            <a:ext cx="7543800" cy="1020762"/>
          </a:xfrm>
        </p:spPr>
        <p:txBody>
          <a:bodyPr/>
          <a:lstStyle/>
          <a:p>
            <a:pPr eaLnBrk="1" hangingPunct="1"/>
            <a:r>
              <a:rPr lang="en-US" altLang="zh-CN">
                <a:ea typeface="宋体" panose="02010600030101010101" pitchFamily="2" charset="-122"/>
              </a:rPr>
              <a:t>Learning Objectives</a:t>
            </a:r>
          </a:p>
        </p:txBody>
      </p:sp>
      <p:sp>
        <p:nvSpPr>
          <p:cNvPr id="6148" name="Rectangle 4">
            <a:extLst>
              <a:ext uri="{FF2B5EF4-FFF2-40B4-BE49-F238E27FC236}">
                <a16:creationId xmlns:a16="http://schemas.microsoft.com/office/drawing/2014/main" id="{B9E6EA94-2AB1-4F31-A3D8-F08525701D9B}"/>
              </a:ext>
            </a:extLst>
          </p:cNvPr>
          <p:cNvSpPr>
            <a:spLocks noGrp="1" noChangeArrowheads="1"/>
          </p:cNvSpPr>
          <p:nvPr>
            <p:ph idx="1"/>
          </p:nvPr>
        </p:nvSpPr>
        <p:spPr>
          <a:xfrm>
            <a:off x="381000" y="1371600"/>
            <a:ext cx="8305800" cy="4759325"/>
          </a:xfrm>
        </p:spPr>
        <p:txBody>
          <a:bodyPr/>
          <a:lstStyle/>
          <a:p>
            <a:pPr eaLnBrk="1" hangingPunct="1"/>
            <a:r>
              <a:rPr lang="en-US" altLang="zh-CN" sz="2400" dirty="0">
                <a:ea typeface="宋体" panose="02010600030101010101" pitchFamily="2" charset="-122"/>
              </a:rPr>
              <a:t>Explain why identifying use cases is the key to defining </a:t>
            </a:r>
            <a:r>
              <a:rPr lang="en-US" altLang="zh-CN" sz="2400" u="sng" dirty="0">
                <a:ea typeface="宋体" panose="02010600030101010101" pitchFamily="2" charset="-122"/>
              </a:rPr>
              <a:t>functional requirements</a:t>
            </a:r>
            <a:r>
              <a:rPr lang="zh-CN" altLang="en-US" sz="2400" dirty="0">
                <a:ea typeface="宋体" panose="02010600030101010101" pitchFamily="2" charset="-122"/>
              </a:rPr>
              <a:t>（为什么确定用例是定义</a:t>
            </a:r>
            <a:r>
              <a:rPr lang="zh-CN" altLang="en-US" sz="2400" u="sng" dirty="0">
                <a:ea typeface="宋体" panose="02010600030101010101" pitchFamily="2" charset="-122"/>
              </a:rPr>
              <a:t>功能性需求</a:t>
            </a:r>
            <a:r>
              <a:rPr lang="zh-CN" altLang="en-US" sz="2400" dirty="0">
                <a:ea typeface="宋体" panose="02010600030101010101" pitchFamily="2" charset="-122"/>
              </a:rPr>
              <a:t>的关键）</a:t>
            </a:r>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Describe the </a:t>
            </a:r>
            <a:r>
              <a:rPr lang="en-US" altLang="zh-CN" sz="2400" u="sng" dirty="0">
                <a:ea typeface="宋体" panose="02010600030101010101" pitchFamily="2" charset="-122"/>
              </a:rPr>
              <a:t>two techniques</a:t>
            </a:r>
            <a:r>
              <a:rPr lang="en-US" altLang="zh-CN" sz="2400" dirty="0">
                <a:ea typeface="宋体" panose="02010600030101010101" pitchFamily="2" charset="-122"/>
              </a:rPr>
              <a:t> for identifying use cases</a:t>
            </a:r>
            <a:r>
              <a:rPr lang="zh-CN" altLang="en-US" sz="2400" dirty="0">
                <a:ea typeface="宋体" panose="02010600030101010101" pitchFamily="2" charset="-122"/>
              </a:rPr>
              <a:t>（确定用例的两种技术）</a:t>
            </a:r>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Apply the </a:t>
            </a:r>
            <a:r>
              <a:rPr lang="en-US" altLang="zh-CN" sz="2400" u="sng" dirty="0">
                <a:ea typeface="宋体" panose="02010600030101010101" pitchFamily="2" charset="-122"/>
              </a:rPr>
              <a:t>user goal technique </a:t>
            </a:r>
            <a:r>
              <a:rPr lang="en-US" altLang="zh-CN" sz="2400" dirty="0">
                <a:ea typeface="宋体" panose="02010600030101010101" pitchFamily="2" charset="-122"/>
              </a:rPr>
              <a:t>to identify use cases</a:t>
            </a:r>
            <a:r>
              <a:rPr lang="zh-CN" altLang="en-US" sz="2400" dirty="0">
                <a:ea typeface="宋体" panose="02010600030101010101" pitchFamily="2" charset="-122"/>
              </a:rPr>
              <a:t>（将用户目标技术运用于确定用例）</a:t>
            </a:r>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Apply the </a:t>
            </a:r>
            <a:r>
              <a:rPr lang="en-US" altLang="zh-CN" sz="2400" u="sng" dirty="0">
                <a:ea typeface="宋体" panose="02010600030101010101" pitchFamily="2" charset="-122"/>
              </a:rPr>
              <a:t>event decomposition technique </a:t>
            </a:r>
            <a:r>
              <a:rPr lang="en-US" altLang="zh-CN" sz="2400" dirty="0">
                <a:ea typeface="宋体" panose="02010600030101010101" pitchFamily="2" charset="-122"/>
              </a:rPr>
              <a:t>to identify use cases</a:t>
            </a:r>
            <a:r>
              <a:rPr lang="zh-CN" altLang="en-US" sz="2400" dirty="0">
                <a:ea typeface="宋体" panose="02010600030101010101" pitchFamily="2" charset="-122"/>
              </a:rPr>
              <a:t>（将事件分解技术运用于确定用例）</a:t>
            </a:r>
            <a:endParaRPr lang="en-US" altLang="zh-CN" sz="2400" dirty="0">
              <a:ea typeface="宋体" panose="02010600030101010101" pitchFamily="2" charset="-122"/>
            </a:endParaRPr>
          </a:p>
        </p:txBody>
      </p:sp>
      <p:sp>
        <p:nvSpPr>
          <p:cNvPr id="6149" name="Rectangle 5">
            <a:extLst>
              <a:ext uri="{FF2B5EF4-FFF2-40B4-BE49-F238E27FC236}">
                <a16:creationId xmlns:a16="http://schemas.microsoft.com/office/drawing/2014/main" id="{C2711462-028B-4B93-9D4C-508901D9D614}"/>
              </a:ext>
            </a:extLst>
          </p:cNvPr>
          <p:cNvSpPr>
            <a:spLocks noChangeArrowheads="1"/>
          </p:cNvSpPr>
          <p:nvPr/>
        </p:nvSpPr>
        <p:spPr bwMode="auto">
          <a:xfrm>
            <a:off x="8382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6150" name="Footer Placeholder 5">
            <a:extLst>
              <a:ext uri="{FF2B5EF4-FFF2-40B4-BE49-F238E27FC236}">
                <a16:creationId xmlns:a16="http://schemas.microsoft.com/office/drawing/2014/main" id="{C402F48B-E35B-4B17-916D-9D9FF5E16890}"/>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DB114E28-3C29-425F-ABD6-C11B8504D1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78E754F-37D7-4932-AA57-61F06A79DCEA}" type="slidenum">
              <a:rPr lang="en-US" altLang="en-US"/>
              <a:pPr eaLnBrk="1" hangingPunct="1"/>
              <a:t>5</a:t>
            </a:fld>
            <a:endParaRPr lang="en-US" altLang="en-US"/>
          </a:p>
        </p:txBody>
      </p:sp>
      <p:sp>
        <p:nvSpPr>
          <p:cNvPr id="6147" name="Rectangle 2">
            <a:extLst>
              <a:ext uri="{FF2B5EF4-FFF2-40B4-BE49-F238E27FC236}">
                <a16:creationId xmlns:a16="http://schemas.microsoft.com/office/drawing/2014/main" id="{EF0EB2F1-B92E-4DFB-B87E-C0FD27AC86E1}"/>
              </a:ext>
            </a:extLst>
          </p:cNvPr>
          <p:cNvSpPr>
            <a:spLocks noGrp="1" noChangeArrowheads="1"/>
          </p:cNvSpPr>
          <p:nvPr>
            <p:ph type="title"/>
          </p:nvPr>
        </p:nvSpPr>
        <p:spPr>
          <a:xfrm>
            <a:off x="457200" y="122238"/>
            <a:ext cx="7543800" cy="1020762"/>
          </a:xfrm>
        </p:spPr>
        <p:txBody>
          <a:bodyPr/>
          <a:lstStyle/>
          <a:p>
            <a:pPr eaLnBrk="1" hangingPunct="1"/>
            <a:r>
              <a:rPr lang="en-US" altLang="zh-CN">
                <a:ea typeface="宋体" panose="02010600030101010101" pitchFamily="2" charset="-122"/>
              </a:rPr>
              <a:t>Learning Objectives</a:t>
            </a:r>
          </a:p>
        </p:txBody>
      </p:sp>
      <p:sp>
        <p:nvSpPr>
          <p:cNvPr id="6148" name="Rectangle 4">
            <a:extLst>
              <a:ext uri="{FF2B5EF4-FFF2-40B4-BE49-F238E27FC236}">
                <a16:creationId xmlns:a16="http://schemas.microsoft.com/office/drawing/2014/main" id="{B9E6EA94-2AB1-4F31-A3D8-F08525701D9B}"/>
              </a:ext>
            </a:extLst>
          </p:cNvPr>
          <p:cNvSpPr>
            <a:spLocks noGrp="1" noChangeArrowheads="1"/>
          </p:cNvSpPr>
          <p:nvPr>
            <p:ph idx="1"/>
          </p:nvPr>
        </p:nvSpPr>
        <p:spPr>
          <a:xfrm>
            <a:off x="381000" y="1371600"/>
            <a:ext cx="8305800" cy="4759325"/>
          </a:xfrm>
        </p:spPr>
        <p:txBody>
          <a:bodyPr/>
          <a:lstStyle/>
          <a:p>
            <a:pPr eaLnBrk="1" hangingPunct="1"/>
            <a:r>
              <a:rPr lang="en-US" altLang="zh-CN" sz="2400" dirty="0">
                <a:ea typeface="宋体" panose="02010600030101010101" pitchFamily="2" charset="-122"/>
              </a:rPr>
              <a:t>Apply the CRUD technique to validate and refine the list of use cases</a:t>
            </a:r>
            <a:r>
              <a:rPr lang="zh-CN" altLang="en-US" sz="2400" dirty="0">
                <a:ea typeface="宋体" panose="02010600030101010101" pitchFamily="2" charset="-122"/>
              </a:rPr>
              <a:t>（将</a:t>
            </a:r>
            <a:r>
              <a:rPr lang="en-US" altLang="zh-CN" sz="2400" dirty="0">
                <a:ea typeface="宋体" panose="02010600030101010101" pitchFamily="2" charset="-122"/>
              </a:rPr>
              <a:t>CRUD</a:t>
            </a:r>
            <a:r>
              <a:rPr lang="zh-CN" altLang="en-US" sz="2400" dirty="0">
                <a:ea typeface="宋体" panose="02010600030101010101" pitchFamily="2" charset="-122"/>
              </a:rPr>
              <a:t>技术运用于确认和细化用例列表）</a:t>
            </a:r>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Describe the notation and purpose for the use case diagram</a:t>
            </a:r>
            <a:r>
              <a:rPr lang="zh-CN" altLang="en-US" sz="2400" dirty="0">
                <a:ea typeface="宋体" panose="02010600030101010101" pitchFamily="2" charset="-122"/>
              </a:rPr>
              <a:t>（描述用例图的符号和作用）</a:t>
            </a:r>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Draw use case diagrams by actor and by subsystem</a:t>
            </a:r>
            <a:r>
              <a:rPr lang="zh-CN" altLang="en-US" sz="2400" dirty="0">
                <a:ea typeface="宋体" panose="02010600030101010101" pitchFamily="2" charset="-122"/>
              </a:rPr>
              <a:t>（通过参与者和子系统画用例图）</a:t>
            </a:r>
            <a:endParaRPr lang="en-US" altLang="zh-CN" sz="2400" dirty="0">
              <a:ea typeface="宋体" panose="02010600030101010101" pitchFamily="2" charset="-122"/>
            </a:endParaRPr>
          </a:p>
        </p:txBody>
      </p:sp>
      <p:sp>
        <p:nvSpPr>
          <p:cNvPr id="6149" name="Rectangle 5">
            <a:extLst>
              <a:ext uri="{FF2B5EF4-FFF2-40B4-BE49-F238E27FC236}">
                <a16:creationId xmlns:a16="http://schemas.microsoft.com/office/drawing/2014/main" id="{C2711462-028B-4B93-9D4C-508901D9D614}"/>
              </a:ext>
            </a:extLst>
          </p:cNvPr>
          <p:cNvSpPr>
            <a:spLocks noChangeArrowheads="1"/>
          </p:cNvSpPr>
          <p:nvPr/>
        </p:nvSpPr>
        <p:spPr bwMode="auto">
          <a:xfrm>
            <a:off x="8382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6150" name="Footer Placeholder 5">
            <a:extLst>
              <a:ext uri="{FF2B5EF4-FFF2-40B4-BE49-F238E27FC236}">
                <a16:creationId xmlns:a16="http://schemas.microsoft.com/office/drawing/2014/main" id="{C402F48B-E35B-4B17-916D-9D9FF5E16890}"/>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661981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322593-4A95-4530-AF83-317C494D9A30}"/>
              </a:ext>
            </a:extLst>
          </p:cNvPr>
          <p:cNvSpPr>
            <a:spLocks noGrp="1"/>
          </p:cNvSpPr>
          <p:nvPr>
            <p:ph type="title"/>
          </p:nvPr>
        </p:nvSpPr>
        <p:spPr/>
        <p:txBody>
          <a:bodyPr/>
          <a:lstStyle/>
          <a:p>
            <a:r>
              <a:rPr lang="zh-CN" altLang="en-US" dirty="0"/>
              <a:t>开篇案例：</a:t>
            </a:r>
            <a:r>
              <a:rPr lang="en-US" altLang="zh-CN" dirty="0"/>
              <a:t>Waiters</a:t>
            </a:r>
            <a:r>
              <a:rPr lang="zh-CN" altLang="en-US" dirty="0"/>
              <a:t> </a:t>
            </a:r>
            <a:r>
              <a:rPr lang="en-US" altLang="zh-CN" dirty="0"/>
              <a:t>on</a:t>
            </a:r>
            <a:r>
              <a:rPr lang="zh-CN" altLang="en-US" dirty="0"/>
              <a:t> </a:t>
            </a:r>
            <a:r>
              <a:rPr lang="en-US" altLang="zh-CN" dirty="0"/>
              <a:t>Call</a:t>
            </a:r>
            <a:endParaRPr lang="zh-CN" altLang="en-US" dirty="0"/>
          </a:p>
        </p:txBody>
      </p:sp>
      <p:sp>
        <p:nvSpPr>
          <p:cNvPr id="3" name="内容占位符 2">
            <a:extLst>
              <a:ext uri="{FF2B5EF4-FFF2-40B4-BE49-F238E27FC236}">
                <a16:creationId xmlns:a16="http://schemas.microsoft.com/office/drawing/2014/main" id="{0072A788-23B2-4041-AA99-61DA9D6F2686}"/>
              </a:ext>
            </a:extLst>
          </p:cNvPr>
          <p:cNvSpPr>
            <a:spLocks noGrp="1"/>
          </p:cNvSpPr>
          <p:nvPr>
            <p:ph idx="1"/>
          </p:nvPr>
        </p:nvSpPr>
        <p:spPr/>
        <p:txBody>
          <a:bodyPr/>
          <a:lstStyle/>
          <a:p>
            <a:r>
              <a:rPr lang="en-US" altLang="zh-CN" dirty="0"/>
              <a:t>Waiters on Call</a:t>
            </a:r>
            <a:r>
              <a:rPr lang="zh-CN" altLang="en-US" dirty="0"/>
              <a:t>是在</a:t>
            </a:r>
            <a:r>
              <a:rPr lang="en-US" altLang="zh-CN" dirty="0"/>
              <a:t>2008</a:t>
            </a:r>
            <a:r>
              <a:rPr lang="zh-CN" altLang="en-US" dirty="0"/>
              <a:t>年由</a:t>
            </a:r>
            <a:r>
              <a:rPr lang="en-US" altLang="zh-CN" dirty="0"/>
              <a:t>Sue</a:t>
            </a:r>
            <a:r>
              <a:rPr lang="zh-CN" altLang="en-US" dirty="0"/>
              <a:t>和</a:t>
            </a:r>
            <a:r>
              <a:rPr lang="en-US" altLang="zh-CN" dirty="0"/>
              <a:t>Tom Bickford</a:t>
            </a:r>
            <a:r>
              <a:rPr lang="zh-CN" altLang="en-US" dirty="0"/>
              <a:t>开创的一项餐厅送餐服务。</a:t>
            </a:r>
            <a:endParaRPr lang="en-US" altLang="zh-CN" dirty="0"/>
          </a:p>
        </p:txBody>
      </p:sp>
      <p:sp>
        <p:nvSpPr>
          <p:cNvPr id="4" name="页脚占位符 3">
            <a:extLst>
              <a:ext uri="{FF2B5EF4-FFF2-40B4-BE49-F238E27FC236}">
                <a16:creationId xmlns:a16="http://schemas.microsoft.com/office/drawing/2014/main" id="{FB982D05-F519-413F-8F4A-5E6B1941E0FF}"/>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AB4A26DF-F260-4C7B-876B-06A3B01F0A2A}"/>
              </a:ext>
            </a:extLst>
          </p:cNvPr>
          <p:cNvSpPr>
            <a:spLocks noGrp="1"/>
          </p:cNvSpPr>
          <p:nvPr>
            <p:ph type="sldNum" sz="quarter" idx="12"/>
          </p:nvPr>
        </p:nvSpPr>
        <p:spPr/>
        <p:txBody>
          <a:bodyPr/>
          <a:lstStyle/>
          <a:p>
            <a:fld id="{78D5303B-8D19-47AB-A097-F6A1F5D56D03}" type="slidenum">
              <a:rPr lang="en-US" altLang="en-US" smtClean="0"/>
              <a:pPr/>
              <a:t>6</a:t>
            </a:fld>
            <a:endParaRPr lang="en-US" altLang="en-US"/>
          </a:p>
        </p:txBody>
      </p:sp>
      <p:pic>
        <p:nvPicPr>
          <p:cNvPr id="8" name="图片 7">
            <a:extLst>
              <a:ext uri="{FF2B5EF4-FFF2-40B4-BE49-F238E27FC236}">
                <a16:creationId xmlns:a16="http://schemas.microsoft.com/office/drawing/2014/main" id="{D4869A2F-A96A-43F6-852F-3FC938EC5EDA}"/>
              </a:ext>
            </a:extLst>
          </p:cNvPr>
          <p:cNvPicPr>
            <a:picLocks noChangeAspect="1"/>
          </p:cNvPicPr>
          <p:nvPr/>
        </p:nvPicPr>
        <p:blipFill>
          <a:blip r:embed="rId3"/>
          <a:stretch>
            <a:fillRect/>
          </a:stretch>
        </p:blipFill>
        <p:spPr>
          <a:xfrm>
            <a:off x="3340517" y="2895601"/>
            <a:ext cx="4624388" cy="3082925"/>
          </a:xfrm>
          <a:prstGeom prst="rect">
            <a:avLst/>
          </a:prstGeom>
        </p:spPr>
      </p:pic>
      <p:pic>
        <p:nvPicPr>
          <p:cNvPr id="10" name="图片 9">
            <a:extLst>
              <a:ext uri="{FF2B5EF4-FFF2-40B4-BE49-F238E27FC236}">
                <a16:creationId xmlns:a16="http://schemas.microsoft.com/office/drawing/2014/main" id="{90418103-216D-4A9B-81CD-C6D614206F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711" y="2895600"/>
            <a:ext cx="2311743" cy="3082926"/>
          </a:xfrm>
          <a:prstGeom prst="rect">
            <a:avLst/>
          </a:prstGeom>
        </p:spPr>
      </p:pic>
    </p:spTree>
    <p:extLst>
      <p:ext uri="{BB962C8B-B14F-4D97-AF65-F5344CB8AC3E}">
        <p14:creationId xmlns:p14="http://schemas.microsoft.com/office/powerpoint/2010/main" val="2336288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322593-4A95-4530-AF83-317C494D9A30}"/>
              </a:ext>
            </a:extLst>
          </p:cNvPr>
          <p:cNvSpPr>
            <a:spLocks noGrp="1"/>
          </p:cNvSpPr>
          <p:nvPr>
            <p:ph type="title"/>
          </p:nvPr>
        </p:nvSpPr>
        <p:spPr/>
        <p:txBody>
          <a:bodyPr/>
          <a:lstStyle/>
          <a:p>
            <a:r>
              <a:rPr lang="zh-CN" altLang="en-US" dirty="0"/>
              <a:t>开篇案例：</a:t>
            </a:r>
            <a:r>
              <a:rPr lang="en-US" altLang="zh-CN" dirty="0"/>
              <a:t>Waiters</a:t>
            </a:r>
            <a:r>
              <a:rPr lang="zh-CN" altLang="en-US" dirty="0"/>
              <a:t> </a:t>
            </a:r>
            <a:r>
              <a:rPr lang="en-US" altLang="zh-CN" dirty="0"/>
              <a:t>on</a:t>
            </a:r>
            <a:r>
              <a:rPr lang="zh-CN" altLang="en-US" dirty="0"/>
              <a:t> </a:t>
            </a:r>
            <a:r>
              <a:rPr lang="en-US" altLang="zh-CN" dirty="0"/>
              <a:t>Call</a:t>
            </a:r>
            <a:endParaRPr lang="zh-CN" altLang="en-US" dirty="0"/>
          </a:p>
        </p:txBody>
      </p:sp>
      <p:sp>
        <p:nvSpPr>
          <p:cNvPr id="3" name="内容占位符 2">
            <a:extLst>
              <a:ext uri="{FF2B5EF4-FFF2-40B4-BE49-F238E27FC236}">
                <a16:creationId xmlns:a16="http://schemas.microsoft.com/office/drawing/2014/main" id="{0072A788-23B2-4041-AA99-61DA9D6F2686}"/>
              </a:ext>
            </a:extLst>
          </p:cNvPr>
          <p:cNvSpPr>
            <a:spLocks noGrp="1"/>
          </p:cNvSpPr>
          <p:nvPr>
            <p:ph idx="1"/>
          </p:nvPr>
        </p:nvSpPr>
        <p:spPr/>
        <p:txBody>
          <a:bodyPr/>
          <a:lstStyle/>
          <a:p>
            <a:r>
              <a:rPr lang="zh-CN" altLang="en-US" dirty="0"/>
              <a:t>当业务逐渐扩大时，</a:t>
            </a:r>
            <a:r>
              <a:rPr lang="en-US" altLang="zh-CN" dirty="0"/>
              <a:t>Bickford</a:t>
            </a:r>
            <a:r>
              <a:rPr lang="zh-CN" altLang="en-US" dirty="0"/>
              <a:t>兄弟意识到他们需要一套专门的计算机系统来支持运营：</a:t>
            </a:r>
            <a:endParaRPr lang="en-US" altLang="zh-CN" dirty="0"/>
          </a:p>
          <a:p>
            <a:pPr lvl="1"/>
            <a:r>
              <a:rPr lang="zh-CN" altLang="en-US" sz="2400" dirty="0"/>
              <a:t>记录顾客订餐需求</a:t>
            </a:r>
            <a:endParaRPr lang="en-US" altLang="zh-CN" sz="2400" dirty="0"/>
          </a:p>
          <a:p>
            <a:pPr lvl="1"/>
            <a:r>
              <a:rPr lang="zh-CN" altLang="en-US" sz="2400" dirty="0"/>
              <a:t>餐厅查看顾客订单</a:t>
            </a:r>
            <a:endParaRPr lang="en-US" altLang="zh-CN" sz="2400" dirty="0"/>
          </a:p>
          <a:p>
            <a:pPr lvl="1"/>
            <a:r>
              <a:rPr lang="zh-CN" altLang="en-US" sz="2400" dirty="0"/>
              <a:t>为司机派单</a:t>
            </a:r>
            <a:endParaRPr lang="en-US" altLang="zh-CN" sz="2400" dirty="0"/>
          </a:p>
          <a:p>
            <a:pPr lvl="1"/>
            <a:r>
              <a:rPr lang="zh-CN" altLang="en-US" sz="2400" dirty="0"/>
              <a:t>司机更新空闲时间</a:t>
            </a:r>
            <a:endParaRPr lang="en-US" altLang="zh-CN" sz="2400" dirty="0"/>
          </a:p>
          <a:p>
            <a:pPr lvl="1"/>
            <a:r>
              <a:rPr lang="zh-CN" altLang="en-US" sz="2400" dirty="0"/>
              <a:t>顾客修改订单需求</a:t>
            </a:r>
            <a:endParaRPr lang="en-US" altLang="zh-CN" sz="2400" dirty="0"/>
          </a:p>
          <a:p>
            <a:pPr lvl="1"/>
            <a:r>
              <a:rPr lang="en-US" altLang="zh-CN" sz="2400" dirty="0"/>
              <a:t>……</a:t>
            </a:r>
          </a:p>
          <a:p>
            <a:pPr lvl="1"/>
            <a:endParaRPr lang="en-US" altLang="zh-CN" dirty="0"/>
          </a:p>
        </p:txBody>
      </p:sp>
      <p:sp>
        <p:nvSpPr>
          <p:cNvPr id="4" name="页脚占位符 3">
            <a:extLst>
              <a:ext uri="{FF2B5EF4-FFF2-40B4-BE49-F238E27FC236}">
                <a16:creationId xmlns:a16="http://schemas.microsoft.com/office/drawing/2014/main" id="{FB982D05-F519-413F-8F4A-5E6B1941E0FF}"/>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AB4A26DF-F260-4C7B-876B-06A3B01F0A2A}"/>
              </a:ext>
            </a:extLst>
          </p:cNvPr>
          <p:cNvSpPr>
            <a:spLocks noGrp="1"/>
          </p:cNvSpPr>
          <p:nvPr>
            <p:ph type="sldNum" sz="quarter" idx="12"/>
          </p:nvPr>
        </p:nvSpPr>
        <p:spPr/>
        <p:txBody>
          <a:bodyPr/>
          <a:lstStyle/>
          <a:p>
            <a:fld id="{78D5303B-8D19-47AB-A097-F6A1F5D56D03}" type="slidenum">
              <a:rPr lang="en-US" altLang="en-US" smtClean="0"/>
              <a:pPr/>
              <a:t>7</a:t>
            </a:fld>
            <a:endParaRPr lang="en-US" altLang="en-US"/>
          </a:p>
        </p:txBody>
      </p:sp>
    </p:spTree>
    <p:extLst>
      <p:ext uri="{BB962C8B-B14F-4D97-AF65-F5344CB8AC3E}">
        <p14:creationId xmlns:p14="http://schemas.microsoft.com/office/powerpoint/2010/main" val="530264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22414899-8C82-49FA-82F2-38E52013660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3EBF387-E877-43FA-8A20-E2665EF49791}" type="slidenum">
              <a:rPr lang="en-US" altLang="en-US"/>
              <a:pPr eaLnBrk="1" hangingPunct="1"/>
              <a:t>8</a:t>
            </a:fld>
            <a:endParaRPr lang="en-US" altLang="en-US"/>
          </a:p>
        </p:txBody>
      </p:sp>
      <p:sp>
        <p:nvSpPr>
          <p:cNvPr id="7171" name="Rectangle 2">
            <a:extLst>
              <a:ext uri="{FF2B5EF4-FFF2-40B4-BE49-F238E27FC236}">
                <a16:creationId xmlns:a16="http://schemas.microsoft.com/office/drawing/2014/main" id="{C8E2A038-1255-4123-84CE-1474BE779F48}"/>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Overview</a:t>
            </a:r>
          </a:p>
        </p:txBody>
      </p:sp>
      <p:sp>
        <p:nvSpPr>
          <p:cNvPr id="7172" name="Rectangle 3">
            <a:extLst>
              <a:ext uri="{FF2B5EF4-FFF2-40B4-BE49-F238E27FC236}">
                <a16:creationId xmlns:a16="http://schemas.microsoft.com/office/drawing/2014/main" id="{FEC0D4B6-C546-4B14-9E32-DC715C57E846}"/>
              </a:ext>
            </a:extLst>
          </p:cNvPr>
          <p:cNvSpPr>
            <a:spLocks noGrp="1" noChangeArrowheads="1"/>
          </p:cNvSpPr>
          <p:nvPr>
            <p:ph type="body" idx="1"/>
          </p:nvPr>
        </p:nvSpPr>
        <p:spPr>
          <a:xfrm>
            <a:off x="457200" y="1600200"/>
            <a:ext cx="8229600" cy="4530725"/>
          </a:xfrm>
        </p:spPr>
        <p:txBody>
          <a:bodyPr/>
          <a:lstStyle/>
          <a:p>
            <a:pPr eaLnBrk="1" hangingPunct="1">
              <a:lnSpc>
                <a:spcPct val="90000"/>
              </a:lnSpc>
            </a:pPr>
            <a:r>
              <a:rPr lang="en-GB" altLang="zh-CN" sz="2400" dirty="0"/>
              <a:t>Chapter 2 provided an overview of systems analysis activities, functional and non-functional requirements, </a:t>
            </a:r>
            <a:r>
              <a:rPr lang="en-GB" altLang="zh-CN" sz="2400" dirty="0" err="1"/>
              <a:t>modeling</a:t>
            </a:r>
            <a:r>
              <a:rPr lang="en-GB" altLang="zh-CN" sz="2400" dirty="0"/>
              <a:t>, and information gathering techniques</a:t>
            </a:r>
            <a:r>
              <a:rPr lang="zh-CN" altLang="en-US" sz="2400" dirty="0"/>
              <a:t>（</a:t>
            </a:r>
            <a:r>
              <a:rPr lang="zh-CN" altLang="en-US" sz="2400" dirty="0">
                <a:solidFill>
                  <a:srgbClr val="2A2B2E"/>
                </a:solidFill>
                <a:latin typeface="PingFang SC"/>
              </a:rPr>
              <a:t>第</a:t>
            </a:r>
            <a:r>
              <a:rPr lang="en-US" altLang="zh-CN" sz="2400" dirty="0">
                <a:solidFill>
                  <a:srgbClr val="2A2B2E"/>
                </a:solidFill>
                <a:latin typeface="PingFang SC"/>
              </a:rPr>
              <a:t>2</a:t>
            </a:r>
            <a:r>
              <a:rPr lang="zh-CN" altLang="en-US" sz="2400" dirty="0">
                <a:solidFill>
                  <a:srgbClr val="2A2B2E"/>
                </a:solidFill>
                <a:latin typeface="PingFang SC"/>
              </a:rPr>
              <a:t>章概述了系统分析活动、功能和非功能需求、建模和信息收集技术</a:t>
            </a:r>
            <a:r>
              <a:rPr lang="zh-CN" altLang="en-US" sz="2400" dirty="0"/>
              <a:t>）</a:t>
            </a:r>
            <a:endParaRPr lang="en-GB" altLang="zh-CN" sz="2400" dirty="0"/>
          </a:p>
          <a:p>
            <a:pPr eaLnBrk="1" hangingPunct="1">
              <a:lnSpc>
                <a:spcPct val="90000"/>
              </a:lnSpc>
            </a:pPr>
            <a:r>
              <a:rPr lang="en-GB" altLang="zh-CN" sz="2400" dirty="0"/>
              <a:t>This chapter focuses on </a:t>
            </a:r>
            <a:r>
              <a:rPr lang="en-GB" altLang="zh-CN" sz="2400" dirty="0">
                <a:solidFill>
                  <a:srgbClr val="C00000"/>
                </a:solidFill>
              </a:rPr>
              <a:t>identifying and </a:t>
            </a:r>
            <a:r>
              <a:rPr lang="en-GB" altLang="zh-CN" sz="2400" dirty="0" err="1">
                <a:solidFill>
                  <a:srgbClr val="C00000"/>
                </a:solidFill>
              </a:rPr>
              <a:t>modeling</a:t>
            </a:r>
            <a:r>
              <a:rPr lang="en-GB" altLang="zh-CN" sz="2400" dirty="0">
                <a:solidFill>
                  <a:srgbClr val="C00000"/>
                </a:solidFill>
              </a:rPr>
              <a:t> the key aspect of functional requirements– use cases</a:t>
            </a:r>
            <a:r>
              <a:rPr lang="zh-CN" altLang="en-US" sz="2400" dirty="0">
                <a:solidFill>
                  <a:srgbClr val="C00000"/>
                </a:solidFill>
              </a:rPr>
              <a:t>（</a:t>
            </a:r>
            <a:r>
              <a:rPr lang="zh-CN" altLang="en-US" sz="2400" dirty="0">
                <a:solidFill>
                  <a:srgbClr val="2A2B2E"/>
                </a:solidFill>
                <a:latin typeface="PingFang SC"/>
              </a:rPr>
              <a:t>本章着重于识别和建模功能需求的关键方面</a:t>
            </a:r>
            <a:r>
              <a:rPr lang="en-US" altLang="zh-CN" sz="2400" dirty="0">
                <a:solidFill>
                  <a:srgbClr val="2A2B2E"/>
                </a:solidFill>
                <a:latin typeface="PingFang SC"/>
              </a:rPr>
              <a:t>——</a:t>
            </a:r>
            <a:r>
              <a:rPr lang="zh-CN" altLang="en-US" sz="2400" dirty="0">
                <a:solidFill>
                  <a:srgbClr val="2A2B2E"/>
                </a:solidFill>
                <a:latin typeface="PingFang SC"/>
              </a:rPr>
              <a:t>用例</a:t>
            </a:r>
            <a:r>
              <a:rPr lang="zh-CN" altLang="en-US" sz="2400" dirty="0">
                <a:solidFill>
                  <a:srgbClr val="C00000"/>
                </a:solidFill>
              </a:rPr>
              <a:t>）</a:t>
            </a:r>
            <a:endParaRPr lang="en-GB" altLang="zh-CN" sz="2400" dirty="0">
              <a:solidFill>
                <a:srgbClr val="C00000"/>
              </a:solidFill>
            </a:endParaRPr>
          </a:p>
        </p:txBody>
      </p:sp>
      <p:sp>
        <p:nvSpPr>
          <p:cNvPr id="7173" name="Rectangle 5">
            <a:extLst>
              <a:ext uri="{FF2B5EF4-FFF2-40B4-BE49-F238E27FC236}">
                <a16:creationId xmlns:a16="http://schemas.microsoft.com/office/drawing/2014/main" id="{31F022CD-5E7E-4B80-8520-63133DAFDED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7174" name="Footer Placeholder 5">
            <a:extLst>
              <a:ext uri="{FF2B5EF4-FFF2-40B4-BE49-F238E27FC236}">
                <a16:creationId xmlns:a16="http://schemas.microsoft.com/office/drawing/2014/main" id="{0ECAE0DF-67FE-4A4B-A58C-788E917A13F0}"/>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22414899-8C82-49FA-82F2-38E52013660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3EBF387-E877-43FA-8A20-E2665EF49791}" type="slidenum">
              <a:rPr lang="en-US" altLang="en-US"/>
              <a:pPr eaLnBrk="1" hangingPunct="1"/>
              <a:t>9</a:t>
            </a:fld>
            <a:endParaRPr lang="en-US" altLang="en-US"/>
          </a:p>
        </p:txBody>
      </p:sp>
      <p:sp>
        <p:nvSpPr>
          <p:cNvPr id="7171" name="Rectangle 2">
            <a:extLst>
              <a:ext uri="{FF2B5EF4-FFF2-40B4-BE49-F238E27FC236}">
                <a16:creationId xmlns:a16="http://schemas.microsoft.com/office/drawing/2014/main" id="{C8E2A038-1255-4123-84CE-1474BE779F48}"/>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Overview</a:t>
            </a:r>
          </a:p>
        </p:txBody>
      </p:sp>
      <p:sp>
        <p:nvSpPr>
          <p:cNvPr id="7172" name="Rectangle 3">
            <a:extLst>
              <a:ext uri="{FF2B5EF4-FFF2-40B4-BE49-F238E27FC236}">
                <a16:creationId xmlns:a16="http://schemas.microsoft.com/office/drawing/2014/main" id="{FEC0D4B6-C546-4B14-9E32-DC715C57E846}"/>
              </a:ext>
            </a:extLst>
          </p:cNvPr>
          <p:cNvSpPr>
            <a:spLocks noGrp="1" noChangeArrowheads="1"/>
          </p:cNvSpPr>
          <p:nvPr>
            <p:ph type="body" idx="1"/>
          </p:nvPr>
        </p:nvSpPr>
        <p:spPr>
          <a:xfrm>
            <a:off x="457200" y="1600200"/>
            <a:ext cx="8229600" cy="4530725"/>
          </a:xfrm>
        </p:spPr>
        <p:txBody>
          <a:bodyPr/>
          <a:lstStyle/>
          <a:p>
            <a:pPr eaLnBrk="1" hangingPunct="1">
              <a:lnSpc>
                <a:spcPct val="90000"/>
              </a:lnSpc>
            </a:pPr>
            <a:r>
              <a:rPr lang="en-GB" altLang="zh-CN" sz="2400" dirty="0"/>
              <a:t>In the RMO Tradeshow System from Chapter 1, some use cases are </a:t>
            </a:r>
            <a:r>
              <a:rPr lang="en-GB" altLang="zh-CN" sz="2400" i="1" dirty="0"/>
              <a:t>Look up supplier</a:t>
            </a:r>
            <a:r>
              <a:rPr lang="en-GB" altLang="zh-CN" sz="2400" dirty="0"/>
              <a:t>, </a:t>
            </a:r>
            <a:r>
              <a:rPr lang="en-GB" altLang="zh-CN" sz="2400" i="1" dirty="0"/>
              <a:t>Enter/update product information</a:t>
            </a:r>
            <a:r>
              <a:rPr lang="en-GB" altLang="zh-CN" sz="2400" dirty="0"/>
              <a:t>, </a:t>
            </a:r>
            <a:r>
              <a:rPr lang="en-GB" altLang="zh-CN" sz="2400" i="1" dirty="0"/>
              <a:t>Enter/Update contact information</a:t>
            </a:r>
            <a:r>
              <a:rPr lang="zh-CN" altLang="en-US" sz="2400" i="1" dirty="0"/>
              <a:t>（</a:t>
            </a:r>
            <a:r>
              <a:rPr lang="zh-CN" altLang="en-US" sz="2400" dirty="0">
                <a:solidFill>
                  <a:srgbClr val="2A2B2E"/>
                </a:solidFill>
                <a:latin typeface="PingFang SC"/>
              </a:rPr>
              <a:t>在第一章的</a:t>
            </a:r>
            <a:r>
              <a:rPr lang="en-US" altLang="zh-CN" sz="2400" dirty="0">
                <a:solidFill>
                  <a:srgbClr val="2A2B2E"/>
                </a:solidFill>
                <a:latin typeface="PingFang SC"/>
              </a:rPr>
              <a:t>RMO</a:t>
            </a:r>
            <a:r>
              <a:rPr lang="zh-CN" altLang="en-US" sz="2400" dirty="0">
                <a:solidFill>
                  <a:srgbClr val="2A2B2E"/>
                </a:solidFill>
                <a:latin typeface="PingFang SC"/>
              </a:rPr>
              <a:t>展销系统中，一些用例是</a:t>
            </a:r>
            <a:r>
              <a:rPr lang="zh-CN" altLang="en-US" sz="2400" dirty="0">
                <a:solidFill>
                  <a:srgbClr val="C00000"/>
                </a:solidFill>
                <a:latin typeface="PingFang SC"/>
              </a:rPr>
              <a:t>查找供应商、输入</a:t>
            </a:r>
            <a:r>
              <a:rPr lang="en-US" altLang="zh-CN" sz="2400" dirty="0">
                <a:solidFill>
                  <a:srgbClr val="C00000"/>
                </a:solidFill>
                <a:latin typeface="PingFang SC"/>
              </a:rPr>
              <a:t>/</a:t>
            </a:r>
            <a:r>
              <a:rPr lang="zh-CN" altLang="en-US" sz="2400" dirty="0">
                <a:solidFill>
                  <a:srgbClr val="C00000"/>
                </a:solidFill>
                <a:latin typeface="PingFang SC"/>
              </a:rPr>
              <a:t>更新产品信息、输入</a:t>
            </a:r>
            <a:r>
              <a:rPr lang="en-US" altLang="zh-CN" sz="2400" dirty="0">
                <a:solidFill>
                  <a:srgbClr val="C00000"/>
                </a:solidFill>
                <a:latin typeface="PingFang SC"/>
              </a:rPr>
              <a:t>/</a:t>
            </a:r>
            <a:r>
              <a:rPr lang="zh-CN" altLang="en-US" sz="2400" dirty="0">
                <a:solidFill>
                  <a:srgbClr val="C00000"/>
                </a:solidFill>
                <a:latin typeface="PingFang SC"/>
              </a:rPr>
              <a:t>更新联系信息</a:t>
            </a:r>
            <a:r>
              <a:rPr lang="zh-CN" altLang="en-US" sz="2400" i="1" dirty="0"/>
              <a:t>）</a:t>
            </a:r>
            <a:endParaRPr lang="en-GB" altLang="zh-CN" sz="2400" i="1" dirty="0"/>
          </a:p>
          <a:p>
            <a:r>
              <a:rPr lang="en-GB" altLang="zh-CN" sz="2400" dirty="0"/>
              <a:t>In this chapter’s opening case Waiters on Call, examples of use cases are </a:t>
            </a:r>
            <a:r>
              <a:rPr lang="en-GB" altLang="zh-CN" sz="2400" i="1" dirty="0"/>
              <a:t>Record an order</a:t>
            </a:r>
            <a:r>
              <a:rPr lang="en-GB" altLang="zh-CN" sz="2400" dirty="0"/>
              <a:t>, </a:t>
            </a:r>
            <a:r>
              <a:rPr lang="en-GB" altLang="zh-CN" sz="2400" i="1" dirty="0"/>
              <a:t>Record delivery</a:t>
            </a:r>
            <a:r>
              <a:rPr lang="en-GB" altLang="zh-CN" sz="2400" dirty="0"/>
              <a:t>, </a:t>
            </a:r>
            <a:r>
              <a:rPr lang="en-GB" altLang="zh-CN" sz="2400" i="1" dirty="0"/>
              <a:t>Update an order</a:t>
            </a:r>
            <a:r>
              <a:rPr lang="en-GB" altLang="zh-CN" sz="2400" dirty="0"/>
              <a:t>, </a:t>
            </a:r>
            <a:r>
              <a:rPr lang="en-GB" altLang="zh-CN" sz="2400" i="1" dirty="0"/>
              <a:t>Sign in driver</a:t>
            </a:r>
            <a:r>
              <a:rPr lang="en-GB" altLang="zh-CN" sz="2400" dirty="0"/>
              <a:t>, </a:t>
            </a:r>
            <a:r>
              <a:rPr lang="en-GB" altLang="zh-CN" sz="2400" i="1" dirty="0"/>
              <a:t>Reconcile driver receipts, Produce end of day deposit slip, </a:t>
            </a:r>
            <a:r>
              <a:rPr lang="en-GB" altLang="zh-CN" sz="2400" dirty="0"/>
              <a:t>and</a:t>
            </a:r>
            <a:r>
              <a:rPr lang="en-GB" altLang="zh-CN" sz="2400" i="1" dirty="0"/>
              <a:t> Produce weekly sales reports</a:t>
            </a:r>
            <a:r>
              <a:rPr lang="zh-CN" altLang="en-US" sz="2400" i="1" dirty="0"/>
              <a:t>（</a:t>
            </a:r>
            <a:r>
              <a:rPr lang="zh-CN" altLang="en-US" sz="2400" dirty="0">
                <a:solidFill>
                  <a:srgbClr val="2A2B2E"/>
                </a:solidFill>
                <a:latin typeface="PingFang SC"/>
              </a:rPr>
              <a:t>在本章的开头案例“随叫随到的服务员”中，用例的示例有</a:t>
            </a:r>
            <a:r>
              <a:rPr lang="en-US" altLang="zh-CN" sz="2400" dirty="0">
                <a:solidFill>
                  <a:srgbClr val="2A2B2E"/>
                </a:solidFill>
                <a:latin typeface="PingFang SC"/>
              </a:rPr>
              <a:t>:</a:t>
            </a:r>
            <a:r>
              <a:rPr lang="zh-CN" altLang="en-US" sz="2400" dirty="0">
                <a:solidFill>
                  <a:srgbClr val="C00000"/>
                </a:solidFill>
                <a:latin typeface="PingFang SC"/>
              </a:rPr>
              <a:t>记录订单、记录交货、更新订单、签到司机、核对司机收据、产生当天的存款</a:t>
            </a:r>
            <a:r>
              <a:rPr lang="zh-CN" altLang="en-US" sz="2400" i="1" dirty="0"/>
              <a:t>）</a:t>
            </a:r>
            <a:endParaRPr lang="en-GB" altLang="zh-CN" sz="2400" i="1" dirty="0"/>
          </a:p>
        </p:txBody>
      </p:sp>
      <p:sp>
        <p:nvSpPr>
          <p:cNvPr id="7173" name="Rectangle 5">
            <a:extLst>
              <a:ext uri="{FF2B5EF4-FFF2-40B4-BE49-F238E27FC236}">
                <a16:creationId xmlns:a16="http://schemas.microsoft.com/office/drawing/2014/main" id="{31F022CD-5E7E-4B80-8520-63133DAFDED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7174" name="Footer Placeholder 5">
            <a:extLst>
              <a:ext uri="{FF2B5EF4-FFF2-40B4-BE49-F238E27FC236}">
                <a16:creationId xmlns:a16="http://schemas.microsoft.com/office/drawing/2014/main" id="{0ECAE0DF-67FE-4A4B-A58C-788E917A13F0}"/>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328706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3FBA1EBE-759B-4B22-994E-802F40155C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148880D-6651-45A9-A720-5C153F8877DF}" type="slidenum">
              <a:rPr lang="en-US" altLang="en-US"/>
              <a:pPr eaLnBrk="1" hangingPunct="1"/>
              <a:t>10</a:t>
            </a:fld>
            <a:endParaRPr lang="en-US" altLang="en-US"/>
          </a:p>
        </p:txBody>
      </p:sp>
      <p:sp>
        <p:nvSpPr>
          <p:cNvPr id="5123" name="Rectangle 2">
            <a:extLst>
              <a:ext uri="{FF2B5EF4-FFF2-40B4-BE49-F238E27FC236}">
                <a16:creationId xmlns:a16="http://schemas.microsoft.com/office/drawing/2014/main" id="{7F2196B2-40DF-44A4-AC21-7DB6528A6F74}"/>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3 Outline</a:t>
            </a:r>
          </a:p>
        </p:txBody>
      </p:sp>
      <p:sp>
        <p:nvSpPr>
          <p:cNvPr id="5124" name="Rectangle 3">
            <a:extLst>
              <a:ext uri="{FF2B5EF4-FFF2-40B4-BE49-F238E27FC236}">
                <a16:creationId xmlns:a16="http://schemas.microsoft.com/office/drawing/2014/main" id="{8ADCAA2F-8645-4D21-8FCE-C79E32FF8469}"/>
              </a:ext>
            </a:extLst>
          </p:cNvPr>
          <p:cNvSpPr>
            <a:spLocks noGrp="1" noChangeArrowheads="1"/>
          </p:cNvSpPr>
          <p:nvPr>
            <p:ph type="body" idx="1"/>
          </p:nvPr>
        </p:nvSpPr>
        <p:spPr>
          <a:xfrm>
            <a:off x="457200" y="1752600"/>
            <a:ext cx="8229600" cy="4411663"/>
          </a:xfrm>
        </p:spPr>
        <p:txBody>
          <a:bodyPr/>
          <a:lstStyle/>
          <a:p>
            <a:pPr eaLnBrk="1" hangingPunct="1"/>
            <a:r>
              <a:rPr lang="en-US" altLang="zh-CN" dirty="0">
                <a:solidFill>
                  <a:srgbClr val="C00000"/>
                </a:solidFill>
                <a:ea typeface="宋体" panose="02010600030101010101" pitchFamily="2" charset="-122"/>
              </a:rPr>
              <a:t>Use Cases and User Goals</a:t>
            </a:r>
            <a:r>
              <a:rPr lang="zh-CN" altLang="en-US" dirty="0">
                <a:solidFill>
                  <a:srgbClr val="C00000"/>
                </a:solidFill>
                <a:ea typeface="宋体" panose="02010600030101010101" pitchFamily="2" charset="-122"/>
              </a:rPr>
              <a:t>（用例和用户目标）</a:t>
            </a:r>
            <a:endParaRPr lang="en-US" altLang="zh-CN" dirty="0">
              <a:solidFill>
                <a:srgbClr val="C00000"/>
              </a:solidFill>
              <a:ea typeface="宋体" panose="02010600030101010101" pitchFamily="2" charset="-122"/>
            </a:endParaRPr>
          </a:p>
          <a:p>
            <a:pPr eaLnBrk="1" hangingPunct="1"/>
            <a:r>
              <a:rPr lang="en-US" altLang="zh-CN" dirty="0">
                <a:ea typeface="宋体" panose="02010600030101010101" pitchFamily="2" charset="-122"/>
              </a:rPr>
              <a:t>Use Cases and Event Decomposition</a:t>
            </a:r>
          </a:p>
          <a:p>
            <a:pPr eaLnBrk="1" hangingPunct="1"/>
            <a:r>
              <a:rPr lang="en-US" altLang="zh-CN" dirty="0">
                <a:ea typeface="宋体" panose="02010600030101010101" pitchFamily="2" charset="-122"/>
              </a:rPr>
              <a:t>Use Cases and CRUD</a:t>
            </a:r>
          </a:p>
          <a:p>
            <a:pPr eaLnBrk="1" hangingPunct="1"/>
            <a:r>
              <a:rPr lang="en-US" altLang="zh-CN" dirty="0">
                <a:ea typeface="宋体" panose="02010600030101010101" pitchFamily="2" charset="-122"/>
              </a:rPr>
              <a:t>Use Cases in the Ridgeline Mountain Outfitters Case</a:t>
            </a:r>
          </a:p>
          <a:p>
            <a:pPr eaLnBrk="1" hangingPunct="1"/>
            <a:r>
              <a:rPr lang="en-US" altLang="zh-CN" dirty="0">
                <a:ea typeface="宋体" panose="02010600030101010101" pitchFamily="2" charset="-122"/>
              </a:rPr>
              <a:t>Use Case Diagrams</a:t>
            </a:r>
          </a:p>
        </p:txBody>
      </p:sp>
      <p:sp>
        <p:nvSpPr>
          <p:cNvPr id="5125" name="Rectangle 5">
            <a:extLst>
              <a:ext uri="{FF2B5EF4-FFF2-40B4-BE49-F238E27FC236}">
                <a16:creationId xmlns:a16="http://schemas.microsoft.com/office/drawing/2014/main" id="{B6678780-AC33-4ACB-81A7-92F1D3E5114F}"/>
              </a:ext>
            </a:extLst>
          </p:cNvPr>
          <p:cNvSpPr>
            <a:spLocks noChangeArrowheads="1"/>
          </p:cNvSpPr>
          <p:nvPr/>
        </p:nvSpPr>
        <p:spPr bwMode="auto">
          <a:xfrm>
            <a:off x="6858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6" name="Footer Placeholder 5">
            <a:extLst>
              <a:ext uri="{FF2B5EF4-FFF2-40B4-BE49-F238E27FC236}">
                <a16:creationId xmlns:a16="http://schemas.microsoft.com/office/drawing/2014/main" id="{6231F08F-229D-4AF6-8E48-D165A93739F0}"/>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88930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C5398FB-F346-4561-B9EC-221A0E0FF7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2733FAB-EE96-4FAA-97A3-BC72FEF064DF}" type="slidenum">
              <a:rPr lang="en-US" altLang="en-US"/>
              <a:pPr eaLnBrk="1" hangingPunct="1"/>
              <a:t>11</a:t>
            </a:fld>
            <a:endParaRPr lang="en-US" altLang="en-US"/>
          </a:p>
        </p:txBody>
      </p:sp>
      <p:sp>
        <p:nvSpPr>
          <p:cNvPr id="8195" name="Rectangle 2">
            <a:extLst>
              <a:ext uri="{FF2B5EF4-FFF2-40B4-BE49-F238E27FC236}">
                <a16:creationId xmlns:a16="http://schemas.microsoft.com/office/drawing/2014/main" id="{354B71A1-ADEE-4D90-861A-E39133EF815B}"/>
              </a:ext>
            </a:extLst>
          </p:cNvPr>
          <p:cNvSpPr>
            <a:spLocks noGrp="1" noChangeArrowheads="1"/>
          </p:cNvSpPr>
          <p:nvPr>
            <p:ph type="title"/>
          </p:nvPr>
        </p:nvSpPr>
        <p:spPr/>
        <p:txBody>
          <a:bodyPr/>
          <a:lstStyle/>
          <a:p>
            <a:pPr eaLnBrk="1" hangingPunct="1"/>
            <a:r>
              <a:rPr lang="en-US" altLang="zh-CN">
                <a:ea typeface="宋体" panose="02010600030101010101" pitchFamily="2" charset="-122"/>
              </a:rPr>
              <a:t>Use Cases</a:t>
            </a:r>
          </a:p>
        </p:txBody>
      </p:sp>
      <p:sp>
        <p:nvSpPr>
          <p:cNvPr id="8196" name="Rectangle 3">
            <a:extLst>
              <a:ext uri="{FF2B5EF4-FFF2-40B4-BE49-F238E27FC236}">
                <a16:creationId xmlns:a16="http://schemas.microsoft.com/office/drawing/2014/main" id="{E7E864C6-CAD4-402E-897E-364A6F48160C}"/>
              </a:ext>
            </a:extLst>
          </p:cNvPr>
          <p:cNvSpPr>
            <a:spLocks noGrp="1" noChangeArrowheads="1"/>
          </p:cNvSpPr>
          <p:nvPr>
            <p:ph type="body" idx="1"/>
          </p:nvPr>
        </p:nvSpPr>
        <p:spPr>
          <a:xfrm>
            <a:off x="457200" y="1600200"/>
            <a:ext cx="8229600" cy="4530725"/>
          </a:xfrm>
        </p:spPr>
        <p:txBody>
          <a:bodyPr/>
          <a:lstStyle/>
          <a:p>
            <a:pPr eaLnBrk="1" hangingPunct="1">
              <a:lnSpc>
                <a:spcPct val="90000"/>
              </a:lnSpc>
            </a:pPr>
            <a:r>
              <a:rPr lang="en-GB" altLang="zh-CN" sz="2800" dirty="0">
                <a:solidFill>
                  <a:srgbClr val="C00000"/>
                </a:solidFill>
              </a:rPr>
              <a:t>Use case</a:t>
            </a:r>
            <a:r>
              <a:rPr lang="zh-CN" altLang="en-US" sz="2800" dirty="0">
                <a:solidFill>
                  <a:srgbClr val="C00000"/>
                </a:solidFill>
              </a:rPr>
              <a:t>（用例）</a:t>
            </a:r>
            <a:r>
              <a:rPr lang="en-GB" altLang="zh-CN" sz="2800" dirty="0">
                <a:solidFill>
                  <a:srgbClr val="C00000"/>
                </a:solidFill>
              </a:rPr>
              <a:t>— an activity that the system performs, usually in response to a request by a user</a:t>
            </a:r>
            <a:r>
              <a:rPr lang="zh-CN" altLang="en-US" sz="2800" dirty="0">
                <a:solidFill>
                  <a:srgbClr val="C00000"/>
                </a:solidFill>
              </a:rPr>
              <a:t>（系统执行的活动，通常是对用户请求的响应）</a:t>
            </a:r>
            <a:endParaRPr lang="en-GB" altLang="zh-CN" sz="2800" dirty="0">
              <a:solidFill>
                <a:srgbClr val="C00000"/>
              </a:solidFill>
            </a:endParaRPr>
          </a:p>
          <a:p>
            <a:pPr eaLnBrk="1" hangingPunct="1">
              <a:lnSpc>
                <a:spcPct val="90000"/>
              </a:lnSpc>
            </a:pPr>
            <a:r>
              <a:rPr lang="en-GB" altLang="zh-CN" sz="2800" dirty="0"/>
              <a:t>Use cases define functional requirements(</a:t>
            </a:r>
            <a:r>
              <a:rPr lang="zh-CN" altLang="en-US" sz="2800" dirty="0"/>
              <a:t>用例定义功能需求</a:t>
            </a:r>
            <a:r>
              <a:rPr lang="en-GB" altLang="zh-CN" sz="2800" dirty="0"/>
              <a:t>)</a:t>
            </a:r>
          </a:p>
          <a:p>
            <a:pPr eaLnBrk="1" hangingPunct="1">
              <a:lnSpc>
                <a:spcPct val="90000"/>
              </a:lnSpc>
            </a:pPr>
            <a:r>
              <a:rPr lang="en-GB" altLang="zh-CN" sz="2800" dirty="0"/>
              <a:t>Analysts decompose the system into a set of use cases (functional decomposition) </a:t>
            </a:r>
            <a:r>
              <a:rPr lang="zh-CN" altLang="en-US" sz="2800" dirty="0"/>
              <a:t>（分析人员将系统分解为一组用例）</a:t>
            </a:r>
            <a:endParaRPr lang="en-GB" altLang="zh-CN" sz="2800" dirty="0"/>
          </a:p>
          <a:p>
            <a:pPr marL="0" indent="0" eaLnBrk="1" hangingPunct="1">
              <a:lnSpc>
                <a:spcPct val="90000"/>
              </a:lnSpc>
              <a:buNone/>
            </a:pPr>
            <a:endParaRPr lang="en-GB" altLang="zh-CN" sz="2800" dirty="0"/>
          </a:p>
        </p:txBody>
      </p:sp>
      <p:sp>
        <p:nvSpPr>
          <p:cNvPr id="8197" name="Rectangle 5">
            <a:extLst>
              <a:ext uri="{FF2B5EF4-FFF2-40B4-BE49-F238E27FC236}">
                <a16:creationId xmlns:a16="http://schemas.microsoft.com/office/drawing/2014/main" id="{A0B13A90-2494-46C4-B6B7-BB86E28ABEA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198" name="Footer Placeholder 5">
            <a:extLst>
              <a:ext uri="{FF2B5EF4-FFF2-40B4-BE49-F238E27FC236}">
                <a16:creationId xmlns:a16="http://schemas.microsoft.com/office/drawing/2014/main" id="{BFA871FA-8957-4BA7-B2ED-1C889F71CFB6}"/>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1C5398FB-F346-4561-B9EC-221A0E0FF7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2733FAB-EE96-4FAA-97A3-BC72FEF064DF}" type="slidenum">
              <a:rPr lang="en-US" altLang="en-US"/>
              <a:pPr eaLnBrk="1" hangingPunct="1"/>
              <a:t>12</a:t>
            </a:fld>
            <a:endParaRPr lang="en-US" altLang="en-US"/>
          </a:p>
        </p:txBody>
      </p:sp>
      <p:sp>
        <p:nvSpPr>
          <p:cNvPr id="8195" name="Rectangle 2">
            <a:extLst>
              <a:ext uri="{FF2B5EF4-FFF2-40B4-BE49-F238E27FC236}">
                <a16:creationId xmlns:a16="http://schemas.microsoft.com/office/drawing/2014/main" id="{354B71A1-ADEE-4D90-861A-E39133EF815B}"/>
              </a:ext>
            </a:extLst>
          </p:cNvPr>
          <p:cNvSpPr>
            <a:spLocks noGrp="1" noChangeArrowheads="1"/>
          </p:cNvSpPr>
          <p:nvPr>
            <p:ph type="title"/>
          </p:nvPr>
        </p:nvSpPr>
        <p:spPr/>
        <p:txBody>
          <a:bodyPr/>
          <a:lstStyle/>
          <a:p>
            <a:pPr eaLnBrk="1" hangingPunct="1"/>
            <a:r>
              <a:rPr lang="en-US" altLang="zh-CN">
                <a:ea typeface="宋体" panose="02010600030101010101" pitchFamily="2" charset="-122"/>
              </a:rPr>
              <a:t>Use Cases</a:t>
            </a:r>
          </a:p>
        </p:txBody>
      </p:sp>
      <p:sp>
        <p:nvSpPr>
          <p:cNvPr id="8196" name="Rectangle 3">
            <a:extLst>
              <a:ext uri="{FF2B5EF4-FFF2-40B4-BE49-F238E27FC236}">
                <a16:creationId xmlns:a16="http://schemas.microsoft.com/office/drawing/2014/main" id="{E7E864C6-CAD4-402E-897E-364A6F48160C}"/>
              </a:ext>
            </a:extLst>
          </p:cNvPr>
          <p:cNvSpPr>
            <a:spLocks noGrp="1" noChangeArrowheads="1"/>
          </p:cNvSpPr>
          <p:nvPr>
            <p:ph type="body" idx="1"/>
          </p:nvPr>
        </p:nvSpPr>
        <p:spPr>
          <a:xfrm>
            <a:off x="457200" y="1600200"/>
            <a:ext cx="8229600" cy="4530725"/>
          </a:xfrm>
        </p:spPr>
        <p:txBody>
          <a:bodyPr/>
          <a:lstStyle/>
          <a:p>
            <a:pPr eaLnBrk="1" hangingPunct="1">
              <a:lnSpc>
                <a:spcPct val="90000"/>
              </a:lnSpc>
            </a:pPr>
            <a:r>
              <a:rPr lang="en-GB" altLang="zh-CN" sz="2800" dirty="0">
                <a:solidFill>
                  <a:srgbClr val="C00000"/>
                </a:solidFill>
              </a:rPr>
              <a:t>Two techniques for Identifying use cases</a:t>
            </a:r>
            <a:r>
              <a:rPr lang="zh-CN" altLang="en-US" sz="2800" dirty="0">
                <a:solidFill>
                  <a:srgbClr val="C00000"/>
                </a:solidFill>
              </a:rPr>
              <a:t>（识别用例的两种技术）</a:t>
            </a:r>
            <a:endParaRPr lang="en-GB" altLang="zh-CN" sz="2800" dirty="0">
              <a:solidFill>
                <a:srgbClr val="C00000"/>
              </a:solidFill>
            </a:endParaRPr>
          </a:p>
          <a:p>
            <a:pPr lvl="1" eaLnBrk="1" hangingPunct="1">
              <a:lnSpc>
                <a:spcPct val="90000"/>
              </a:lnSpc>
            </a:pPr>
            <a:r>
              <a:rPr lang="en-GB" altLang="zh-CN" sz="2400" dirty="0"/>
              <a:t>1) User goal technique</a:t>
            </a:r>
            <a:r>
              <a:rPr lang="zh-CN" altLang="en-US" sz="2400" dirty="0"/>
              <a:t>（用户目标技术）</a:t>
            </a:r>
            <a:endParaRPr lang="en-GB" altLang="zh-CN" sz="2400" dirty="0"/>
          </a:p>
          <a:p>
            <a:pPr lvl="1" eaLnBrk="1" hangingPunct="1">
              <a:lnSpc>
                <a:spcPct val="90000"/>
              </a:lnSpc>
            </a:pPr>
            <a:r>
              <a:rPr lang="en-GB" altLang="zh-CN" sz="2400" dirty="0"/>
              <a:t>2) Event decomposition technique</a:t>
            </a:r>
            <a:r>
              <a:rPr lang="zh-CN" altLang="en-US" sz="2400" dirty="0"/>
              <a:t>（事件分解技术）</a:t>
            </a:r>
            <a:endParaRPr lang="en-GB" altLang="zh-CN" sz="2400" dirty="0"/>
          </a:p>
          <a:p>
            <a:pPr eaLnBrk="1" hangingPunct="1">
              <a:lnSpc>
                <a:spcPct val="90000"/>
              </a:lnSpc>
            </a:pPr>
            <a:r>
              <a:rPr lang="en-GB" altLang="zh-CN" sz="2800" dirty="0"/>
              <a:t>Name each use case using </a:t>
            </a:r>
            <a:r>
              <a:rPr lang="en-GB" altLang="zh-CN" sz="2800" i="1" dirty="0"/>
              <a:t>Verb-Noun</a:t>
            </a:r>
            <a:r>
              <a:rPr lang="zh-CN" altLang="en-US" sz="2800" i="1" dirty="0"/>
              <a:t>（动词</a:t>
            </a:r>
            <a:r>
              <a:rPr lang="en-US" altLang="zh-CN" sz="2800" i="1" dirty="0"/>
              <a:t>-</a:t>
            </a:r>
            <a:r>
              <a:rPr lang="zh-CN" altLang="en-US" sz="2800" i="1" dirty="0"/>
              <a:t>名词）</a:t>
            </a:r>
            <a:endParaRPr lang="en-GB" altLang="zh-CN" sz="2800" i="1" dirty="0"/>
          </a:p>
          <a:p>
            <a:pPr lvl="1" eaLnBrk="1" hangingPunct="1">
              <a:lnSpc>
                <a:spcPct val="90000"/>
              </a:lnSpc>
            </a:pPr>
            <a:r>
              <a:rPr lang="zh-CN" altLang="en-US" sz="2400" dirty="0"/>
              <a:t>用例：</a:t>
            </a:r>
            <a:r>
              <a:rPr lang="en-US" altLang="zh-CN" sz="2400" dirty="0"/>
              <a:t>do something </a:t>
            </a:r>
            <a:endParaRPr lang="en-GB" altLang="zh-CN" sz="2400" dirty="0"/>
          </a:p>
          <a:p>
            <a:pPr eaLnBrk="1" hangingPunct="1">
              <a:lnSpc>
                <a:spcPct val="90000"/>
              </a:lnSpc>
            </a:pPr>
            <a:endParaRPr lang="en-GB" altLang="zh-CN" sz="2800" dirty="0"/>
          </a:p>
        </p:txBody>
      </p:sp>
      <p:sp>
        <p:nvSpPr>
          <p:cNvPr id="8197" name="Rectangle 5">
            <a:extLst>
              <a:ext uri="{FF2B5EF4-FFF2-40B4-BE49-F238E27FC236}">
                <a16:creationId xmlns:a16="http://schemas.microsoft.com/office/drawing/2014/main" id="{A0B13A90-2494-46C4-B6B7-BB86E28ABEA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198" name="Footer Placeholder 5">
            <a:extLst>
              <a:ext uri="{FF2B5EF4-FFF2-40B4-BE49-F238E27FC236}">
                <a16:creationId xmlns:a16="http://schemas.microsoft.com/office/drawing/2014/main" id="{BFA871FA-8957-4BA7-B2ED-1C889F71CFB6}"/>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429025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39C609A5-A82A-494F-88A4-7B94C5437CA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58875E9-ED20-4F50-BE68-F92E7EFDBBB6}" type="slidenum">
              <a:rPr lang="en-US" altLang="en-US"/>
              <a:pPr eaLnBrk="1" hangingPunct="1"/>
              <a:t>13</a:t>
            </a:fld>
            <a:endParaRPr lang="en-US" altLang="en-US"/>
          </a:p>
        </p:txBody>
      </p:sp>
      <p:sp>
        <p:nvSpPr>
          <p:cNvPr id="9219" name="Rectangle 2">
            <a:extLst>
              <a:ext uri="{FF2B5EF4-FFF2-40B4-BE49-F238E27FC236}">
                <a16:creationId xmlns:a16="http://schemas.microsoft.com/office/drawing/2014/main" id="{2AACD7FC-8520-48B3-8644-50161244F0D5}"/>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1) User Goal Technique</a:t>
            </a:r>
            <a:r>
              <a:rPr lang="zh-CN" altLang="en-US" dirty="0">
                <a:ea typeface="宋体" panose="02010600030101010101" pitchFamily="2" charset="-122"/>
              </a:rPr>
              <a:t>（用户目标技术）</a:t>
            </a:r>
            <a:endParaRPr lang="en-US" altLang="zh-CN" dirty="0">
              <a:ea typeface="宋体" panose="02010600030101010101" pitchFamily="2" charset="-122"/>
            </a:endParaRPr>
          </a:p>
        </p:txBody>
      </p:sp>
      <p:sp>
        <p:nvSpPr>
          <p:cNvPr id="9220" name="Rectangle 3">
            <a:extLst>
              <a:ext uri="{FF2B5EF4-FFF2-40B4-BE49-F238E27FC236}">
                <a16:creationId xmlns:a16="http://schemas.microsoft.com/office/drawing/2014/main" id="{BF249F5A-415F-42D3-A2EE-901FDD6796A1}"/>
              </a:ext>
            </a:extLst>
          </p:cNvPr>
          <p:cNvSpPr>
            <a:spLocks noGrp="1" noChangeArrowheads="1"/>
          </p:cNvSpPr>
          <p:nvPr>
            <p:ph type="body" idx="1"/>
          </p:nvPr>
        </p:nvSpPr>
        <p:spPr>
          <a:xfrm>
            <a:off x="457200" y="1600200"/>
            <a:ext cx="8229600" cy="4530725"/>
          </a:xfrm>
        </p:spPr>
        <p:txBody>
          <a:bodyPr/>
          <a:lstStyle/>
          <a:p>
            <a:pPr eaLnBrk="1" hangingPunct="1">
              <a:lnSpc>
                <a:spcPct val="80000"/>
              </a:lnSpc>
            </a:pPr>
            <a:r>
              <a:rPr lang="en-US" altLang="zh-CN" sz="2800" dirty="0">
                <a:ea typeface="宋体" panose="02010600030101010101" pitchFamily="2" charset="-122"/>
              </a:rPr>
              <a:t>Identify all of the potential categories of users of the system</a:t>
            </a:r>
            <a:r>
              <a:rPr lang="zh-CN" altLang="en-US" sz="2800" dirty="0">
                <a:ea typeface="宋体" panose="02010600030101010101" pitchFamily="2" charset="-122"/>
              </a:rPr>
              <a:t>（识别系统的所有潜在用户类别）</a:t>
            </a:r>
            <a:endParaRPr lang="en-US" altLang="zh-CN" sz="2800" dirty="0">
              <a:ea typeface="宋体" panose="02010600030101010101" pitchFamily="2" charset="-122"/>
            </a:endParaRPr>
          </a:p>
          <a:p>
            <a:pPr eaLnBrk="1" hangingPunct="1">
              <a:lnSpc>
                <a:spcPct val="80000"/>
              </a:lnSpc>
            </a:pPr>
            <a:r>
              <a:rPr lang="en-US" altLang="zh-CN" sz="2800" dirty="0">
                <a:ea typeface="宋体" panose="02010600030101010101" pitchFamily="2" charset="-122"/>
              </a:rPr>
              <a:t>Interview and ask them to describe the tasks the computer can help them with </a:t>
            </a:r>
            <a:r>
              <a:rPr lang="zh-CN" altLang="en-US" sz="2800" dirty="0">
                <a:ea typeface="宋体" panose="02010600030101010101" pitchFamily="2" charset="-122"/>
              </a:rPr>
              <a:t>（请他们描述本系统可以帮助他们完成的任务）</a:t>
            </a:r>
            <a:endParaRPr lang="en-US" altLang="zh-CN" sz="2800" dirty="0">
              <a:ea typeface="宋体" panose="02010600030101010101" pitchFamily="2" charset="-122"/>
            </a:endParaRPr>
          </a:p>
          <a:p>
            <a:pPr eaLnBrk="1" hangingPunct="1">
              <a:lnSpc>
                <a:spcPct val="80000"/>
              </a:lnSpc>
            </a:pPr>
            <a:r>
              <a:rPr lang="en-US" altLang="zh-CN" sz="2800" dirty="0">
                <a:ea typeface="宋体" panose="02010600030101010101" pitchFamily="2" charset="-122"/>
              </a:rPr>
              <a:t>Probe further to refine the tasks into specific user goals, “I need to </a:t>
            </a:r>
            <a:r>
              <a:rPr lang="en-US" altLang="zh-CN" sz="2800" i="1" dirty="0">
                <a:ea typeface="宋体" panose="02010600030101010101" pitchFamily="2" charset="-122"/>
              </a:rPr>
              <a:t>Ship items</a:t>
            </a:r>
            <a:r>
              <a:rPr lang="en-US" altLang="zh-CN" sz="2800" dirty="0">
                <a:ea typeface="宋体" panose="02010600030101010101" pitchFamily="2" charset="-122"/>
              </a:rPr>
              <a:t>, </a:t>
            </a:r>
            <a:r>
              <a:rPr lang="en-US" altLang="zh-CN" sz="2800" i="1" dirty="0">
                <a:ea typeface="宋体" panose="02010600030101010101" pitchFamily="2" charset="-122"/>
              </a:rPr>
              <a:t>Track a shipment</a:t>
            </a:r>
            <a:r>
              <a:rPr lang="en-US" altLang="zh-CN" sz="2800" dirty="0">
                <a:ea typeface="宋体" panose="02010600030101010101" pitchFamily="2" charset="-122"/>
              </a:rPr>
              <a:t>, </a:t>
            </a:r>
            <a:r>
              <a:rPr lang="en-US" altLang="zh-CN" sz="2800" i="1" dirty="0">
                <a:ea typeface="宋体" panose="02010600030101010101" pitchFamily="2" charset="-122"/>
              </a:rPr>
              <a:t>Create a return</a:t>
            </a:r>
            <a:r>
              <a:rPr lang="en-US" altLang="zh-CN" sz="2800" dirty="0">
                <a:ea typeface="宋体" panose="02010600030101010101" pitchFamily="2" charset="-122"/>
              </a:rPr>
              <a:t>” </a:t>
            </a:r>
            <a:r>
              <a:rPr lang="zh-CN" altLang="en-US" sz="2800" dirty="0">
                <a:ea typeface="宋体" panose="02010600030101010101" pitchFamily="2" charset="-122"/>
              </a:rPr>
              <a:t>（进一步将任务细化为特定的用户目标，“我需要发送物品、跟踪发货、创建退货”）</a:t>
            </a:r>
            <a:endParaRPr lang="en-US" altLang="zh-CN" sz="2800" dirty="0">
              <a:ea typeface="宋体" panose="02010600030101010101" pitchFamily="2" charset="-122"/>
            </a:endParaRPr>
          </a:p>
          <a:p>
            <a:pPr eaLnBrk="1" hangingPunct="1">
              <a:lnSpc>
                <a:spcPct val="80000"/>
              </a:lnSpc>
            </a:pPr>
            <a:r>
              <a:rPr lang="en-US" altLang="zh-CN" sz="2800" dirty="0">
                <a:ea typeface="宋体" panose="02010600030101010101" pitchFamily="2" charset="-122"/>
              </a:rPr>
              <a:t>This technique is the most common in industry</a:t>
            </a:r>
          </a:p>
          <a:p>
            <a:pPr eaLnBrk="1" hangingPunct="1">
              <a:lnSpc>
                <a:spcPct val="80000"/>
              </a:lnSpc>
            </a:pPr>
            <a:r>
              <a:rPr lang="en-US" altLang="zh-CN" sz="2800" dirty="0">
                <a:ea typeface="宋体" panose="02010600030101010101" pitchFamily="2" charset="-122"/>
              </a:rPr>
              <a:t>Simple and effective</a:t>
            </a:r>
          </a:p>
          <a:p>
            <a:pPr eaLnBrk="1" hangingPunct="1">
              <a:lnSpc>
                <a:spcPct val="80000"/>
              </a:lnSpc>
            </a:pPr>
            <a:endParaRPr lang="en-US" altLang="zh-CN" sz="2800" dirty="0">
              <a:ea typeface="宋体" panose="02010600030101010101" pitchFamily="2" charset="-122"/>
            </a:endParaRPr>
          </a:p>
          <a:p>
            <a:pPr eaLnBrk="1" hangingPunct="1">
              <a:lnSpc>
                <a:spcPct val="80000"/>
              </a:lnSpc>
            </a:pPr>
            <a:endParaRPr lang="en-GB" altLang="zh-CN" sz="2800" dirty="0"/>
          </a:p>
        </p:txBody>
      </p:sp>
      <p:sp>
        <p:nvSpPr>
          <p:cNvPr id="9221" name="Rectangle 5">
            <a:extLst>
              <a:ext uri="{FF2B5EF4-FFF2-40B4-BE49-F238E27FC236}">
                <a16:creationId xmlns:a16="http://schemas.microsoft.com/office/drawing/2014/main" id="{F440099A-3324-4673-BE5B-93F29CCEBB9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222" name="Footer Placeholder 5">
            <a:extLst>
              <a:ext uri="{FF2B5EF4-FFF2-40B4-BE49-F238E27FC236}">
                <a16:creationId xmlns:a16="http://schemas.microsoft.com/office/drawing/2014/main" id="{AD1F6ADA-5747-4518-826E-9D59878F4755}"/>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0">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2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CB062517-979A-4A86-8B89-C1579F82D92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54012B3-9B63-438C-BD86-4D5B9AB9C569}" type="slidenum">
              <a:rPr lang="en-US" altLang="en-US"/>
              <a:pPr eaLnBrk="1" hangingPunct="1"/>
              <a:t>14</a:t>
            </a:fld>
            <a:endParaRPr lang="en-US" altLang="en-US"/>
          </a:p>
        </p:txBody>
      </p:sp>
      <p:sp>
        <p:nvSpPr>
          <p:cNvPr id="11267" name="Rectangle 2">
            <a:extLst>
              <a:ext uri="{FF2B5EF4-FFF2-40B4-BE49-F238E27FC236}">
                <a16:creationId xmlns:a16="http://schemas.microsoft.com/office/drawing/2014/main" id="{3A9B04A2-30E1-4D3B-AD77-F2355855534D}"/>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1) User Goal Technique:</a:t>
            </a:r>
            <a:br>
              <a:rPr lang="en-US" altLang="zh-CN" dirty="0">
                <a:ea typeface="宋体" panose="02010600030101010101" pitchFamily="2" charset="-122"/>
              </a:rPr>
            </a:br>
            <a:r>
              <a:rPr lang="en-US" altLang="zh-CN" dirty="0">
                <a:ea typeface="宋体" panose="02010600030101010101" pitchFamily="2" charset="-122"/>
              </a:rPr>
              <a:t>Specific Steps</a:t>
            </a:r>
          </a:p>
        </p:txBody>
      </p:sp>
      <p:sp>
        <p:nvSpPr>
          <p:cNvPr id="11268" name="Rectangle 3">
            <a:extLst>
              <a:ext uri="{FF2B5EF4-FFF2-40B4-BE49-F238E27FC236}">
                <a16:creationId xmlns:a16="http://schemas.microsoft.com/office/drawing/2014/main" id="{EFDBDAFD-7208-4FBF-9D55-A1F6FD56D6E2}"/>
              </a:ext>
            </a:extLst>
          </p:cNvPr>
          <p:cNvSpPr>
            <a:spLocks noGrp="1" noChangeArrowheads="1"/>
          </p:cNvSpPr>
          <p:nvPr>
            <p:ph type="body" idx="1"/>
          </p:nvPr>
        </p:nvSpPr>
        <p:spPr>
          <a:xfrm>
            <a:off x="457200" y="1600200"/>
            <a:ext cx="8458200" cy="4530725"/>
          </a:xfrm>
        </p:spPr>
        <p:txBody>
          <a:bodyPr/>
          <a:lstStyle/>
          <a:p>
            <a:pPr marL="495300" indent="-495300" eaLnBrk="1" hangingPunct="1">
              <a:buFont typeface="Wingdings" panose="05000000000000000000" pitchFamily="2" charset="2"/>
              <a:buAutoNum type="arabicPeriod"/>
            </a:pPr>
            <a:r>
              <a:rPr lang="en-US" altLang="zh-CN" sz="2800" dirty="0">
                <a:ea typeface="宋体" panose="02010600030101010101" pitchFamily="2" charset="-122"/>
              </a:rPr>
              <a:t>Identify all the potential users for the new system</a:t>
            </a:r>
            <a:r>
              <a:rPr lang="zh-CN" altLang="en-US" sz="2800" dirty="0">
                <a:ea typeface="宋体" panose="02010600030101010101" pitchFamily="2" charset="-122"/>
              </a:rPr>
              <a:t>（定义新系统所有的</a:t>
            </a:r>
            <a:r>
              <a:rPr lang="zh-CN" altLang="en-US" sz="2800" u="sng" dirty="0">
                <a:ea typeface="宋体" panose="02010600030101010101" pitchFamily="2" charset="-122"/>
              </a:rPr>
              <a:t>潜在用户</a:t>
            </a:r>
            <a:r>
              <a:rPr lang="zh-CN" altLang="en-US" sz="2800" dirty="0">
                <a:ea typeface="宋体" panose="02010600030101010101" pitchFamily="2" charset="-122"/>
              </a:rPr>
              <a:t>）</a:t>
            </a:r>
            <a:endParaRPr lang="en-US" altLang="zh-CN" sz="2800" dirty="0">
              <a:ea typeface="宋体" panose="02010600030101010101" pitchFamily="2" charset="-122"/>
            </a:endParaRPr>
          </a:p>
          <a:p>
            <a:pPr marL="495300" indent="-495300" eaLnBrk="1" hangingPunct="1">
              <a:buFont typeface="Wingdings" panose="05000000000000000000" pitchFamily="2" charset="2"/>
              <a:buAutoNum type="arabicPeriod"/>
            </a:pPr>
            <a:r>
              <a:rPr lang="en-US" altLang="zh-CN" sz="2800" dirty="0">
                <a:ea typeface="宋体" panose="02010600030101010101" pitchFamily="2" charset="-122"/>
              </a:rPr>
              <a:t>Classify the potential users in terms of their functional role (e.g., shipping, marketing, sales)</a:t>
            </a:r>
            <a:r>
              <a:rPr lang="zh-CN" altLang="en-US" sz="2800" dirty="0">
                <a:ea typeface="宋体" panose="02010600030101010101" pitchFamily="2" charset="-122"/>
              </a:rPr>
              <a:t>（根据潜在用户的</a:t>
            </a:r>
            <a:r>
              <a:rPr lang="zh-CN" altLang="en-US" sz="2800" u="sng" dirty="0">
                <a:ea typeface="宋体" panose="02010600030101010101" pitchFamily="2" charset="-122"/>
              </a:rPr>
              <a:t>功能角色</a:t>
            </a:r>
            <a:r>
              <a:rPr lang="zh-CN" altLang="en-US" sz="2800" dirty="0">
                <a:ea typeface="宋体" panose="02010600030101010101" pitchFamily="2" charset="-122"/>
              </a:rPr>
              <a:t>进行分类：运输、营销、销售）</a:t>
            </a:r>
            <a:endParaRPr lang="en-US" altLang="zh-CN" sz="2800" dirty="0">
              <a:ea typeface="宋体" panose="02010600030101010101" pitchFamily="2" charset="-122"/>
            </a:endParaRPr>
          </a:p>
          <a:p>
            <a:pPr marL="495300" indent="-495300" eaLnBrk="1" hangingPunct="1">
              <a:buFont typeface="Wingdings" panose="05000000000000000000" pitchFamily="2" charset="2"/>
              <a:buAutoNum type="arabicPeriod"/>
            </a:pPr>
            <a:r>
              <a:rPr lang="en-US" altLang="zh-CN" sz="2800" dirty="0">
                <a:ea typeface="宋体" panose="02010600030101010101" pitchFamily="2" charset="-122"/>
              </a:rPr>
              <a:t>Further classify potential users by organizational level (e.g., operational, management, executive)</a:t>
            </a:r>
            <a:r>
              <a:rPr lang="zh-CN" altLang="en-US" sz="2800" dirty="0">
                <a:ea typeface="宋体" panose="02010600030101010101" pitchFamily="2" charset="-122"/>
              </a:rPr>
              <a:t>（通过</a:t>
            </a:r>
            <a:r>
              <a:rPr lang="zh-CN" altLang="en-US" sz="2800" u="sng" dirty="0">
                <a:ea typeface="宋体" panose="02010600030101010101" pitchFamily="2" charset="-122"/>
              </a:rPr>
              <a:t>组织的层次</a:t>
            </a:r>
            <a:r>
              <a:rPr lang="zh-CN" altLang="en-US" sz="2800" dirty="0">
                <a:ea typeface="宋体" panose="02010600030101010101" pitchFamily="2" charset="-122"/>
              </a:rPr>
              <a:t>进一步将潜在用户分类：运营、管理、执行）</a:t>
            </a:r>
            <a:endParaRPr lang="en-US" altLang="zh-CN" sz="2800" dirty="0">
              <a:ea typeface="宋体" panose="02010600030101010101" pitchFamily="2" charset="-122"/>
            </a:endParaRPr>
          </a:p>
        </p:txBody>
      </p:sp>
      <p:sp>
        <p:nvSpPr>
          <p:cNvPr id="11269" name="Rectangle 5">
            <a:extLst>
              <a:ext uri="{FF2B5EF4-FFF2-40B4-BE49-F238E27FC236}">
                <a16:creationId xmlns:a16="http://schemas.microsoft.com/office/drawing/2014/main" id="{FD7EE616-223C-497F-901C-D6BA312D938C}"/>
              </a:ext>
            </a:extLst>
          </p:cNvPr>
          <p:cNvSpPr>
            <a:spLocks noChangeArrowheads="1"/>
          </p:cNvSpPr>
          <p:nvPr/>
        </p:nvSpPr>
        <p:spPr bwMode="auto">
          <a:xfrm>
            <a:off x="8382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270" name="Footer Placeholder 5">
            <a:extLst>
              <a:ext uri="{FF2B5EF4-FFF2-40B4-BE49-F238E27FC236}">
                <a16:creationId xmlns:a16="http://schemas.microsoft.com/office/drawing/2014/main" id="{C9AA5FB7-E509-4E0D-9A8D-C8E2813DA81B}"/>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2D12E935-7CEB-4163-9BDA-8F0A2EBE357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3D8F9B1-0BAF-47AB-9303-CAA61EA3E038}" type="slidenum">
              <a:rPr lang="en-US" altLang="en-US"/>
              <a:pPr eaLnBrk="1" hangingPunct="1"/>
              <a:t>15</a:t>
            </a:fld>
            <a:endParaRPr lang="en-US" altLang="en-US"/>
          </a:p>
        </p:txBody>
      </p:sp>
      <p:sp>
        <p:nvSpPr>
          <p:cNvPr id="12291" name="Rectangle 2">
            <a:extLst>
              <a:ext uri="{FF2B5EF4-FFF2-40B4-BE49-F238E27FC236}">
                <a16:creationId xmlns:a16="http://schemas.microsoft.com/office/drawing/2014/main" id="{BF1C0242-F3D3-4378-B2C1-73117C27CEFB}"/>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1) User Goal Technique</a:t>
            </a:r>
            <a:br>
              <a:rPr lang="en-US" altLang="zh-CN" dirty="0">
                <a:ea typeface="宋体" panose="02010600030101010101" pitchFamily="2" charset="-122"/>
              </a:rPr>
            </a:br>
            <a:r>
              <a:rPr lang="en-US" altLang="zh-CN" dirty="0">
                <a:ea typeface="宋体" panose="02010600030101010101" pitchFamily="2" charset="-122"/>
              </a:rPr>
              <a:t>Specific Steps </a:t>
            </a:r>
            <a:endParaRPr lang="en-US" altLang="zh-CN" sz="3200" dirty="0">
              <a:ea typeface="宋体" panose="02010600030101010101" pitchFamily="2" charset="-122"/>
            </a:endParaRPr>
          </a:p>
        </p:txBody>
      </p:sp>
      <p:sp>
        <p:nvSpPr>
          <p:cNvPr id="12292" name="Rectangle 3">
            <a:extLst>
              <a:ext uri="{FF2B5EF4-FFF2-40B4-BE49-F238E27FC236}">
                <a16:creationId xmlns:a16="http://schemas.microsoft.com/office/drawing/2014/main" id="{F0682304-FA6E-448E-8476-AD0BF2180437}"/>
              </a:ext>
            </a:extLst>
          </p:cNvPr>
          <p:cNvSpPr>
            <a:spLocks noGrp="1" noChangeArrowheads="1"/>
          </p:cNvSpPr>
          <p:nvPr>
            <p:ph type="body" idx="1"/>
          </p:nvPr>
        </p:nvSpPr>
        <p:spPr>
          <a:xfrm>
            <a:off x="457200" y="1672261"/>
            <a:ext cx="8458200" cy="4530725"/>
          </a:xfrm>
        </p:spPr>
        <p:txBody>
          <a:bodyPr/>
          <a:lstStyle/>
          <a:p>
            <a:pPr marL="571500" indent="-571500" eaLnBrk="1" hangingPunct="1">
              <a:buFont typeface="+mj-lt"/>
              <a:buAutoNum type="arabicPeriod" startAt="4"/>
            </a:pPr>
            <a:r>
              <a:rPr lang="en-US" altLang="zh-CN" sz="2800" dirty="0">
                <a:ea typeface="宋体" panose="02010600030101010101" pitchFamily="2" charset="-122"/>
              </a:rPr>
              <a:t>For each type of user, interview them to find a list of specific goals they will have when using the new system (current goals and innovative functions to add value)</a:t>
            </a:r>
            <a:r>
              <a:rPr lang="zh-CN" altLang="en-US" sz="2800" dirty="0">
                <a:ea typeface="宋体" panose="02010600030101010101" pitchFamily="2" charset="-122"/>
              </a:rPr>
              <a:t>（采访用户收集系统目标）</a:t>
            </a:r>
            <a:endParaRPr lang="en-GB" altLang="zh-CN" sz="2800" dirty="0"/>
          </a:p>
          <a:p>
            <a:pPr marL="571500" indent="-571500" eaLnBrk="1" hangingPunct="1">
              <a:buFont typeface="Wingdings" panose="05000000000000000000" pitchFamily="2" charset="2"/>
              <a:buAutoNum type="arabicPeriod" startAt="4"/>
            </a:pPr>
            <a:r>
              <a:rPr lang="en-US" altLang="zh-CN" sz="2800" dirty="0">
                <a:ea typeface="宋体" panose="02010600030101010101" pitchFamily="2" charset="-122"/>
              </a:rPr>
              <a:t>Create a list of preliminary use cases organized by type of user</a:t>
            </a:r>
            <a:r>
              <a:rPr lang="zh-CN" altLang="en-US" sz="2800" dirty="0">
                <a:ea typeface="宋体" panose="02010600030101010101" pitchFamily="2" charset="-122"/>
              </a:rPr>
              <a:t>（创建按用户类型组织的主要用例列表）</a:t>
            </a:r>
            <a:endParaRPr lang="en-US" altLang="zh-CN" sz="2800" dirty="0">
              <a:ea typeface="宋体" panose="02010600030101010101" pitchFamily="2" charset="-122"/>
            </a:endParaRPr>
          </a:p>
          <a:p>
            <a:pPr marL="571500" indent="-571500" eaLnBrk="1" hangingPunct="1">
              <a:buFont typeface="Wingdings" panose="05000000000000000000" pitchFamily="2" charset="2"/>
              <a:buAutoNum type="arabicPeriod" startAt="4"/>
            </a:pPr>
            <a:r>
              <a:rPr lang="en-US" altLang="zh-CN" sz="2800" dirty="0">
                <a:ea typeface="宋体" panose="02010600030101010101" pitchFamily="2" charset="-122"/>
              </a:rPr>
              <a:t>Look for duplicates with similar use case names and resolve inconsistencies</a:t>
            </a:r>
            <a:r>
              <a:rPr lang="zh-CN" altLang="en-US" sz="2800" dirty="0">
                <a:ea typeface="宋体" panose="02010600030101010101" pitchFamily="2" charset="-122"/>
              </a:rPr>
              <a:t>（寻找相似的用例名称去掉重复用例）</a:t>
            </a:r>
            <a:endParaRPr lang="en-US" altLang="zh-CN" sz="2800" dirty="0">
              <a:ea typeface="宋体" panose="02010600030101010101" pitchFamily="2" charset="-122"/>
            </a:endParaRPr>
          </a:p>
        </p:txBody>
      </p:sp>
      <p:sp>
        <p:nvSpPr>
          <p:cNvPr id="12293" name="Rectangle 5">
            <a:extLst>
              <a:ext uri="{FF2B5EF4-FFF2-40B4-BE49-F238E27FC236}">
                <a16:creationId xmlns:a16="http://schemas.microsoft.com/office/drawing/2014/main" id="{9756CEA7-606D-4EB6-A13B-A628E752CA8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2294" name="Footer Placeholder 5">
            <a:extLst>
              <a:ext uri="{FF2B5EF4-FFF2-40B4-BE49-F238E27FC236}">
                <a16:creationId xmlns:a16="http://schemas.microsoft.com/office/drawing/2014/main" id="{6AA11B79-6CDD-4C5F-9476-4307E8FC295B}"/>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2D12E935-7CEB-4163-9BDA-8F0A2EBE357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3D8F9B1-0BAF-47AB-9303-CAA61EA3E038}" type="slidenum">
              <a:rPr lang="en-US" altLang="en-US"/>
              <a:pPr eaLnBrk="1" hangingPunct="1"/>
              <a:t>16</a:t>
            </a:fld>
            <a:endParaRPr lang="en-US" altLang="en-US"/>
          </a:p>
        </p:txBody>
      </p:sp>
      <p:sp>
        <p:nvSpPr>
          <p:cNvPr id="12291" name="Rectangle 2">
            <a:extLst>
              <a:ext uri="{FF2B5EF4-FFF2-40B4-BE49-F238E27FC236}">
                <a16:creationId xmlns:a16="http://schemas.microsoft.com/office/drawing/2014/main" id="{BF1C0242-F3D3-4378-B2C1-73117C27CEFB}"/>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1) User Goal Technique</a:t>
            </a:r>
            <a:br>
              <a:rPr lang="en-US" altLang="zh-CN" dirty="0">
                <a:ea typeface="宋体" panose="02010600030101010101" pitchFamily="2" charset="-122"/>
              </a:rPr>
            </a:br>
            <a:r>
              <a:rPr lang="en-US" altLang="zh-CN" dirty="0">
                <a:ea typeface="宋体" panose="02010600030101010101" pitchFamily="2" charset="-122"/>
              </a:rPr>
              <a:t>Specific Steps</a:t>
            </a:r>
            <a:endParaRPr lang="en-US" altLang="zh-CN" sz="3200" dirty="0">
              <a:ea typeface="宋体" panose="02010600030101010101" pitchFamily="2" charset="-122"/>
            </a:endParaRPr>
          </a:p>
        </p:txBody>
      </p:sp>
      <p:sp>
        <p:nvSpPr>
          <p:cNvPr id="12292" name="Rectangle 3">
            <a:extLst>
              <a:ext uri="{FF2B5EF4-FFF2-40B4-BE49-F238E27FC236}">
                <a16:creationId xmlns:a16="http://schemas.microsoft.com/office/drawing/2014/main" id="{F0682304-FA6E-448E-8476-AD0BF2180437}"/>
              </a:ext>
            </a:extLst>
          </p:cNvPr>
          <p:cNvSpPr>
            <a:spLocks noGrp="1" noChangeArrowheads="1"/>
          </p:cNvSpPr>
          <p:nvPr>
            <p:ph type="body" idx="1"/>
          </p:nvPr>
        </p:nvSpPr>
        <p:spPr>
          <a:xfrm>
            <a:off x="457200" y="1600200"/>
            <a:ext cx="8229600" cy="4530725"/>
          </a:xfrm>
        </p:spPr>
        <p:txBody>
          <a:bodyPr/>
          <a:lstStyle/>
          <a:p>
            <a:pPr marL="571500" indent="-571500" eaLnBrk="1" hangingPunct="1">
              <a:buFont typeface="+mj-lt"/>
              <a:buAutoNum type="arabicPeriod" startAt="7"/>
            </a:pPr>
            <a:r>
              <a:rPr lang="en-US" altLang="zh-CN" sz="2800" dirty="0">
                <a:ea typeface="宋体" panose="02010600030101010101" pitchFamily="2" charset="-122"/>
              </a:rPr>
              <a:t>Identify where different types of users need the same use cases</a:t>
            </a:r>
            <a:r>
              <a:rPr lang="zh-CN" altLang="en-US" sz="2800" dirty="0">
                <a:ea typeface="宋体" panose="02010600030101010101" pitchFamily="2" charset="-122"/>
              </a:rPr>
              <a:t>（确定不同类型用户在哪里需要相同的用例）</a:t>
            </a:r>
            <a:endParaRPr lang="en-US" altLang="zh-CN" sz="2800" dirty="0">
              <a:ea typeface="宋体" panose="02010600030101010101" pitchFamily="2" charset="-122"/>
            </a:endParaRPr>
          </a:p>
          <a:p>
            <a:pPr marL="571500" indent="-571500" eaLnBrk="1" hangingPunct="1">
              <a:buFont typeface="Wingdings" panose="05000000000000000000" pitchFamily="2" charset="2"/>
              <a:buAutoNum type="arabicPeriod" startAt="7"/>
            </a:pPr>
            <a:r>
              <a:rPr lang="en-US" altLang="zh-CN" sz="2800" dirty="0">
                <a:ea typeface="宋体" panose="02010600030101010101" pitchFamily="2" charset="-122"/>
              </a:rPr>
              <a:t>Review the completed list with each type of user and then with interested stakeholders</a:t>
            </a:r>
            <a:r>
              <a:rPr lang="zh-CN" altLang="en-US" sz="2800" dirty="0">
                <a:ea typeface="宋体" panose="02010600030101010101" pitchFamily="2" charset="-122"/>
              </a:rPr>
              <a:t>（与每种类型的利益相关者检查用例列表）</a:t>
            </a:r>
            <a:endParaRPr lang="en-GB" altLang="zh-CN" sz="2800" dirty="0"/>
          </a:p>
        </p:txBody>
      </p:sp>
      <p:sp>
        <p:nvSpPr>
          <p:cNvPr id="12293" name="Rectangle 5">
            <a:extLst>
              <a:ext uri="{FF2B5EF4-FFF2-40B4-BE49-F238E27FC236}">
                <a16:creationId xmlns:a16="http://schemas.microsoft.com/office/drawing/2014/main" id="{9756CEA7-606D-4EB6-A13B-A628E752CA8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2294" name="Footer Placeholder 5">
            <a:extLst>
              <a:ext uri="{FF2B5EF4-FFF2-40B4-BE49-F238E27FC236}">
                <a16:creationId xmlns:a16="http://schemas.microsoft.com/office/drawing/2014/main" id="{6AA11B79-6CDD-4C5F-9476-4307E8FC295B}"/>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259294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B1F25376-A80F-45C5-A6CB-F08A384060C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47A8834-4A4F-4C16-B214-9CE465F40639}" type="slidenum">
              <a:rPr lang="en-US" altLang="en-US"/>
              <a:pPr eaLnBrk="1" hangingPunct="1"/>
              <a:t>17</a:t>
            </a:fld>
            <a:endParaRPr lang="en-US" altLang="en-US"/>
          </a:p>
        </p:txBody>
      </p:sp>
      <p:sp>
        <p:nvSpPr>
          <p:cNvPr id="10243" name="Rectangle 2">
            <a:extLst>
              <a:ext uri="{FF2B5EF4-FFF2-40B4-BE49-F238E27FC236}">
                <a16:creationId xmlns:a16="http://schemas.microsoft.com/office/drawing/2014/main" id="{72CC1B3B-CBE9-4678-8646-A59FD32A683F}"/>
              </a:ext>
            </a:extLst>
          </p:cNvPr>
          <p:cNvSpPr>
            <a:spLocks noGrp="1" noChangeArrowheads="1"/>
          </p:cNvSpPr>
          <p:nvPr>
            <p:ph type="title"/>
          </p:nvPr>
        </p:nvSpPr>
        <p:spPr>
          <a:xfrm>
            <a:off x="457200" y="381000"/>
            <a:ext cx="7543800" cy="1036638"/>
          </a:xfrm>
        </p:spPr>
        <p:txBody>
          <a:bodyPr/>
          <a:lstStyle/>
          <a:p>
            <a:pPr eaLnBrk="1" hangingPunct="1"/>
            <a:r>
              <a:rPr lang="en-US" altLang="zh-CN" sz="3600" dirty="0">
                <a:ea typeface="宋体" panose="02010600030101010101" pitchFamily="2" charset="-122"/>
              </a:rPr>
              <a:t>1) </a:t>
            </a:r>
            <a:r>
              <a:rPr lang="en-US" altLang="zh-CN" sz="3500" dirty="0">
                <a:ea typeface="宋体" panose="02010600030101010101" pitchFamily="2" charset="-122"/>
              </a:rPr>
              <a:t>User Goal Technique</a:t>
            </a:r>
            <a:br>
              <a:rPr lang="en-US" altLang="zh-CN" sz="3500" dirty="0">
                <a:ea typeface="宋体" panose="02010600030101010101" pitchFamily="2" charset="-122"/>
              </a:rPr>
            </a:br>
            <a:r>
              <a:rPr lang="en-US" altLang="zh-CN" sz="2400" dirty="0">
                <a:ea typeface="宋体" panose="02010600030101010101" pitchFamily="2" charset="-122"/>
              </a:rPr>
              <a:t>Some RMO CSMS Users and Goals</a:t>
            </a:r>
          </a:p>
        </p:txBody>
      </p:sp>
      <p:pic>
        <p:nvPicPr>
          <p:cNvPr id="10244" name="Picture 7">
            <a:extLst>
              <a:ext uri="{FF2B5EF4-FFF2-40B4-BE49-F238E27FC236}">
                <a16:creationId xmlns:a16="http://schemas.microsoft.com/office/drawing/2014/main" id="{C420551C-688F-4880-BF63-EC96E646623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57200" y="1981200"/>
            <a:ext cx="8229600" cy="3135313"/>
          </a:xfrm>
          <a:noFill/>
        </p:spPr>
      </p:pic>
      <p:sp>
        <p:nvSpPr>
          <p:cNvPr id="10245" name="Rectangle 5">
            <a:extLst>
              <a:ext uri="{FF2B5EF4-FFF2-40B4-BE49-F238E27FC236}">
                <a16:creationId xmlns:a16="http://schemas.microsoft.com/office/drawing/2014/main" id="{C9E5AFAE-622A-4FE5-B8F2-FC12C070BC5B}"/>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0246" name="Footer Placeholder 5">
            <a:extLst>
              <a:ext uri="{FF2B5EF4-FFF2-40B4-BE49-F238E27FC236}">
                <a16:creationId xmlns:a16="http://schemas.microsoft.com/office/drawing/2014/main" id="{D3613FF8-3672-42F6-88E5-EDB957B1394C}"/>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文本框 1">
            <a:extLst>
              <a:ext uri="{FF2B5EF4-FFF2-40B4-BE49-F238E27FC236}">
                <a16:creationId xmlns:a16="http://schemas.microsoft.com/office/drawing/2014/main" id="{244740AD-0A0D-44B2-A903-4E61ED554FBF}"/>
              </a:ext>
            </a:extLst>
          </p:cNvPr>
          <p:cNvSpPr txBox="1"/>
          <p:nvPr/>
        </p:nvSpPr>
        <p:spPr>
          <a:xfrm>
            <a:off x="1981200" y="1660803"/>
            <a:ext cx="1249060" cy="369332"/>
          </a:xfrm>
          <a:prstGeom prst="rect">
            <a:avLst/>
          </a:prstGeom>
          <a:noFill/>
        </p:spPr>
        <p:txBody>
          <a:bodyPr wrap="none" rtlCol="0">
            <a:spAutoFit/>
          </a:bodyPr>
          <a:lstStyle/>
          <a:p>
            <a:r>
              <a:rPr lang="en-US" altLang="zh-CN" dirty="0">
                <a:solidFill>
                  <a:srgbClr val="C00000"/>
                </a:solidFill>
              </a:rPr>
              <a:t>somebody</a:t>
            </a:r>
            <a:endParaRPr lang="zh-CN" altLang="en-US" dirty="0">
              <a:solidFill>
                <a:srgbClr val="C00000"/>
              </a:solidFill>
            </a:endParaRPr>
          </a:p>
        </p:txBody>
      </p:sp>
      <p:sp>
        <p:nvSpPr>
          <p:cNvPr id="8" name="文本框 7">
            <a:extLst>
              <a:ext uri="{FF2B5EF4-FFF2-40B4-BE49-F238E27FC236}">
                <a16:creationId xmlns:a16="http://schemas.microsoft.com/office/drawing/2014/main" id="{3B5997AA-1C0E-45B8-BD08-F434DECB3FD4}"/>
              </a:ext>
            </a:extLst>
          </p:cNvPr>
          <p:cNvSpPr txBox="1"/>
          <p:nvPr/>
        </p:nvSpPr>
        <p:spPr>
          <a:xfrm>
            <a:off x="5119839" y="1642227"/>
            <a:ext cx="1569660" cy="369332"/>
          </a:xfrm>
          <a:prstGeom prst="rect">
            <a:avLst/>
          </a:prstGeom>
          <a:noFill/>
        </p:spPr>
        <p:txBody>
          <a:bodyPr wrap="none" rtlCol="0">
            <a:spAutoFit/>
          </a:bodyPr>
          <a:lstStyle/>
          <a:p>
            <a:r>
              <a:rPr lang="en-US" altLang="zh-CN" dirty="0">
                <a:solidFill>
                  <a:srgbClr val="C00000"/>
                </a:solidFill>
              </a:rPr>
              <a:t>do</a:t>
            </a:r>
            <a:r>
              <a:rPr lang="zh-CN" altLang="en-US" dirty="0">
                <a:solidFill>
                  <a:srgbClr val="C00000"/>
                </a:solidFill>
              </a:rPr>
              <a:t> </a:t>
            </a:r>
            <a:r>
              <a:rPr lang="en-US" altLang="zh-CN" dirty="0">
                <a:solidFill>
                  <a:srgbClr val="C00000"/>
                </a:solidFill>
              </a:rPr>
              <a:t>something</a:t>
            </a:r>
            <a:endParaRPr lang="zh-CN" altLang="en-US" dirty="0">
              <a:solidFill>
                <a:srgbClr val="C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3FBA1EBE-759B-4B22-994E-802F40155C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148880D-6651-45A9-A720-5C153F8877DF}" type="slidenum">
              <a:rPr lang="en-US" altLang="en-US"/>
              <a:pPr eaLnBrk="1" hangingPunct="1"/>
              <a:t>18</a:t>
            </a:fld>
            <a:endParaRPr lang="en-US" altLang="en-US"/>
          </a:p>
        </p:txBody>
      </p:sp>
      <p:sp>
        <p:nvSpPr>
          <p:cNvPr id="5123" name="Rectangle 2">
            <a:extLst>
              <a:ext uri="{FF2B5EF4-FFF2-40B4-BE49-F238E27FC236}">
                <a16:creationId xmlns:a16="http://schemas.microsoft.com/office/drawing/2014/main" id="{7F2196B2-40DF-44A4-AC21-7DB6528A6F74}"/>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3 Outline</a:t>
            </a:r>
          </a:p>
        </p:txBody>
      </p:sp>
      <p:sp>
        <p:nvSpPr>
          <p:cNvPr id="5124" name="Rectangle 3">
            <a:extLst>
              <a:ext uri="{FF2B5EF4-FFF2-40B4-BE49-F238E27FC236}">
                <a16:creationId xmlns:a16="http://schemas.microsoft.com/office/drawing/2014/main" id="{8ADCAA2F-8645-4D21-8FCE-C79E32FF8469}"/>
              </a:ext>
            </a:extLst>
          </p:cNvPr>
          <p:cNvSpPr>
            <a:spLocks noGrp="1" noChangeArrowheads="1"/>
          </p:cNvSpPr>
          <p:nvPr>
            <p:ph type="body" idx="1"/>
          </p:nvPr>
        </p:nvSpPr>
        <p:spPr>
          <a:xfrm>
            <a:off x="457200" y="1752600"/>
            <a:ext cx="8229600" cy="4411663"/>
          </a:xfrm>
        </p:spPr>
        <p:txBody>
          <a:bodyPr/>
          <a:lstStyle/>
          <a:p>
            <a:pPr eaLnBrk="1" hangingPunct="1"/>
            <a:r>
              <a:rPr lang="en-US" altLang="zh-CN" dirty="0">
                <a:ea typeface="宋体" panose="02010600030101010101" pitchFamily="2" charset="-122"/>
              </a:rPr>
              <a:t>Use Cases and User Goals</a:t>
            </a:r>
          </a:p>
          <a:p>
            <a:pPr eaLnBrk="1" hangingPunct="1"/>
            <a:r>
              <a:rPr lang="en-US" altLang="zh-CN" dirty="0">
                <a:solidFill>
                  <a:srgbClr val="C00000"/>
                </a:solidFill>
                <a:ea typeface="宋体" panose="02010600030101010101" pitchFamily="2" charset="-122"/>
              </a:rPr>
              <a:t>Use Cases and Event Decomposition</a:t>
            </a:r>
            <a:r>
              <a:rPr lang="zh-CN" altLang="en-US" dirty="0">
                <a:solidFill>
                  <a:srgbClr val="C00000"/>
                </a:solidFill>
                <a:ea typeface="宋体" panose="02010600030101010101" pitchFamily="2" charset="-122"/>
              </a:rPr>
              <a:t>（用例和事件分解）</a:t>
            </a:r>
            <a:endParaRPr lang="en-US" altLang="zh-CN" dirty="0">
              <a:solidFill>
                <a:srgbClr val="C00000"/>
              </a:solidFill>
              <a:ea typeface="宋体" panose="02010600030101010101" pitchFamily="2" charset="-122"/>
            </a:endParaRPr>
          </a:p>
          <a:p>
            <a:pPr eaLnBrk="1" hangingPunct="1"/>
            <a:r>
              <a:rPr lang="en-US" altLang="zh-CN" dirty="0">
                <a:ea typeface="宋体" panose="02010600030101010101" pitchFamily="2" charset="-122"/>
              </a:rPr>
              <a:t>Use Cases and CRUD</a:t>
            </a:r>
          </a:p>
          <a:p>
            <a:pPr eaLnBrk="1" hangingPunct="1"/>
            <a:r>
              <a:rPr lang="en-US" altLang="zh-CN" dirty="0">
                <a:ea typeface="宋体" panose="02010600030101010101" pitchFamily="2" charset="-122"/>
              </a:rPr>
              <a:t>Use Cases in the Ridgeline Mountain Outfitters Case</a:t>
            </a:r>
          </a:p>
          <a:p>
            <a:pPr eaLnBrk="1" hangingPunct="1"/>
            <a:r>
              <a:rPr lang="en-US" altLang="zh-CN" dirty="0">
                <a:ea typeface="宋体" panose="02010600030101010101" pitchFamily="2" charset="-122"/>
              </a:rPr>
              <a:t>Use Case Diagrams</a:t>
            </a:r>
          </a:p>
        </p:txBody>
      </p:sp>
      <p:sp>
        <p:nvSpPr>
          <p:cNvPr id="5125" name="Rectangle 5">
            <a:extLst>
              <a:ext uri="{FF2B5EF4-FFF2-40B4-BE49-F238E27FC236}">
                <a16:creationId xmlns:a16="http://schemas.microsoft.com/office/drawing/2014/main" id="{B6678780-AC33-4ACB-81A7-92F1D3E5114F}"/>
              </a:ext>
            </a:extLst>
          </p:cNvPr>
          <p:cNvSpPr>
            <a:spLocks noChangeArrowheads="1"/>
          </p:cNvSpPr>
          <p:nvPr/>
        </p:nvSpPr>
        <p:spPr bwMode="auto">
          <a:xfrm>
            <a:off x="6858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6" name="Footer Placeholder 5">
            <a:extLst>
              <a:ext uri="{FF2B5EF4-FFF2-40B4-BE49-F238E27FC236}">
                <a16:creationId xmlns:a16="http://schemas.microsoft.com/office/drawing/2014/main" id="{6231F08F-229D-4AF6-8E48-D165A93739F0}"/>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762131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184DD78B-BD7D-43E1-ACE8-AF16110941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D0A2D75-FDB3-4F7D-A7E6-C52F712C16CA}" type="slidenum">
              <a:rPr lang="en-US" altLang="en-US"/>
              <a:pPr eaLnBrk="1" hangingPunct="1"/>
              <a:t>19</a:t>
            </a:fld>
            <a:endParaRPr lang="en-US" altLang="en-US"/>
          </a:p>
        </p:txBody>
      </p:sp>
      <p:sp>
        <p:nvSpPr>
          <p:cNvPr id="13315" name="Rectangle 2">
            <a:extLst>
              <a:ext uri="{FF2B5EF4-FFF2-40B4-BE49-F238E27FC236}">
                <a16:creationId xmlns:a16="http://schemas.microsoft.com/office/drawing/2014/main" id="{45B9B1D8-68F3-4023-B861-8602E364F2B1}"/>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2) Event Decomposition Technique</a:t>
            </a:r>
            <a:r>
              <a:rPr lang="zh-CN" altLang="en-US" dirty="0">
                <a:ea typeface="宋体" panose="02010600030101010101" pitchFamily="2" charset="-122"/>
              </a:rPr>
              <a:t>（事件分解技术）</a:t>
            </a:r>
            <a:endParaRPr lang="en-US" altLang="zh-CN" dirty="0">
              <a:ea typeface="宋体" panose="02010600030101010101" pitchFamily="2" charset="-122"/>
            </a:endParaRPr>
          </a:p>
        </p:txBody>
      </p:sp>
      <p:sp>
        <p:nvSpPr>
          <p:cNvPr id="13316" name="Rectangle 3">
            <a:extLst>
              <a:ext uri="{FF2B5EF4-FFF2-40B4-BE49-F238E27FC236}">
                <a16:creationId xmlns:a16="http://schemas.microsoft.com/office/drawing/2014/main" id="{7381D5F8-AE5E-4756-BC45-162C3EF469FB}"/>
              </a:ext>
            </a:extLst>
          </p:cNvPr>
          <p:cNvSpPr>
            <a:spLocks noGrp="1" noChangeArrowheads="1"/>
          </p:cNvSpPr>
          <p:nvPr>
            <p:ph type="body" idx="1"/>
          </p:nvPr>
        </p:nvSpPr>
        <p:spPr>
          <a:xfrm>
            <a:off x="457200" y="1600200"/>
            <a:ext cx="8305800" cy="4530725"/>
          </a:xfrm>
        </p:spPr>
        <p:txBody>
          <a:bodyPr/>
          <a:lstStyle/>
          <a:p>
            <a:pPr marL="571500" indent="-571500" eaLnBrk="1" hangingPunct="1"/>
            <a:r>
              <a:rPr lang="en-GB" altLang="zh-CN" sz="2800" dirty="0"/>
              <a:t>More Comprehensive and Complete Technique</a:t>
            </a:r>
            <a:r>
              <a:rPr lang="zh-CN" altLang="en-US" sz="2800" dirty="0"/>
              <a:t>（更全面和完整的技术）</a:t>
            </a:r>
            <a:endParaRPr lang="en-GB" altLang="zh-CN" sz="2800" dirty="0"/>
          </a:p>
          <a:p>
            <a:pPr marL="839788" lvl="1" indent="-495300" eaLnBrk="1" hangingPunct="1"/>
            <a:r>
              <a:rPr lang="en-GB" altLang="zh-CN" sz="2400" dirty="0"/>
              <a:t>Identify the events that occur to which the system must respond. </a:t>
            </a:r>
            <a:r>
              <a:rPr lang="zh-CN" altLang="en-US" sz="2400" dirty="0"/>
              <a:t>（确定系统必须响应的事件）</a:t>
            </a:r>
            <a:endParaRPr lang="en-GB" altLang="zh-CN" sz="2400" dirty="0"/>
          </a:p>
          <a:p>
            <a:pPr marL="839788" lvl="1" indent="-495300" eaLnBrk="1" hangingPunct="1"/>
            <a:r>
              <a:rPr lang="en-GB" altLang="zh-CN" sz="2400" dirty="0"/>
              <a:t>For each event, name a use case (verb-noun) that describes what the system does when the event occurs</a:t>
            </a:r>
            <a:r>
              <a:rPr lang="zh-CN" altLang="en-US" sz="2400" dirty="0"/>
              <a:t>（对于每个事件，命名一个用例：动词</a:t>
            </a:r>
            <a:r>
              <a:rPr lang="en-US" altLang="zh-CN" sz="2400" dirty="0"/>
              <a:t>-</a:t>
            </a:r>
            <a:r>
              <a:rPr lang="zh-CN" altLang="en-US" sz="2400" dirty="0"/>
              <a:t>名词）</a:t>
            </a:r>
            <a:endParaRPr lang="en-GB" altLang="zh-CN" sz="2400" dirty="0"/>
          </a:p>
          <a:p>
            <a:pPr marL="571500" indent="-571500" eaLnBrk="1" hangingPunct="1"/>
            <a:r>
              <a:rPr lang="en-GB" altLang="zh-CN" sz="2800" dirty="0"/>
              <a:t>Event</a:t>
            </a:r>
            <a:r>
              <a:rPr lang="zh-CN" altLang="en-US" sz="2800" dirty="0"/>
              <a:t>（事件）</a:t>
            </a:r>
            <a:r>
              <a:rPr lang="en-GB" altLang="zh-CN" sz="2800" dirty="0"/>
              <a:t>– something that occurs at a specific time and place, can be described, and should be remembered by the system</a:t>
            </a:r>
            <a:r>
              <a:rPr lang="zh-CN" altLang="en-US" sz="2800" dirty="0"/>
              <a:t>（在特定时间和地点发生的事情）</a:t>
            </a:r>
            <a:endParaRPr lang="en-GB" altLang="zh-CN" sz="2800" dirty="0"/>
          </a:p>
        </p:txBody>
      </p:sp>
      <p:sp>
        <p:nvSpPr>
          <p:cNvPr id="13317" name="Rectangle 5">
            <a:extLst>
              <a:ext uri="{FF2B5EF4-FFF2-40B4-BE49-F238E27FC236}">
                <a16:creationId xmlns:a16="http://schemas.microsoft.com/office/drawing/2014/main" id="{8427AA09-52F4-43BC-B61A-EFC88AEAFB85}"/>
              </a:ext>
            </a:extLst>
          </p:cNvPr>
          <p:cNvSpPr>
            <a:spLocks noChangeArrowheads="1"/>
          </p:cNvSpPr>
          <p:nvPr/>
        </p:nvSpPr>
        <p:spPr bwMode="auto">
          <a:xfrm>
            <a:off x="8382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3318" name="Footer Placeholder 5">
            <a:extLst>
              <a:ext uri="{FF2B5EF4-FFF2-40B4-BE49-F238E27FC236}">
                <a16:creationId xmlns:a16="http://schemas.microsoft.com/office/drawing/2014/main" id="{56A0EF26-4210-4ED3-A25D-C3AE39E18033}"/>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184DD78B-BD7D-43E1-ACE8-AF16110941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D0A2D75-FDB3-4F7D-A7E6-C52F712C16CA}" type="slidenum">
              <a:rPr lang="en-US" altLang="en-US"/>
              <a:pPr eaLnBrk="1" hangingPunct="1"/>
              <a:t>20</a:t>
            </a:fld>
            <a:endParaRPr lang="en-US" altLang="en-US"/>
          </a:p>
        </p:txBody>
      </p:sp>
      <p:sp>
        <p:nvSpPr>
          <p:cNvPr id="13315" name="Rectangle 2">
            <a:extLst>
              <a:ext uri="{FF2B5EF4-FFF2-40B4-BE49-F238E27FC236}">
                <a16:creationId xmlns:a16="http://schemas.microsoft.com/office/drawing/2014/main" id="{45B9B1D8-68F3-4023-B861-8602E364F2B1}"/>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2) Event Decomposition Technique</a:t>
            </a:r>
          </a:p>
        </p:txBody>
      </p:sp>
      <p:sp>
        <p:nvSpPr>
          <p:cNvPr id="13316" name="Rectangle 3">
            <a:extLst>
              <a:ext uri="{FF2B5EF4-FFF2-40B4-BE49-F238E27FC236}">
                <a16:creationId xmlns:a16="http://schemas.microsoft.com/office/drawing/2014/main" id="{7381D5F8-AE5E-4756-BC45-162C3EF469FB}"/>
              </a:ext>
            </a:extLst>
          </p:cNvPr>
          <p:cNvSpPr>
            <a:spLocks noGrp="1" noChangeArrowheads="1"/>
          </p:cNvSpPr>
          <p:nvPr>
            <p:ph type="body" idx="1"/>
          </p:nvPr>
        </p:nvSpPr>
        <p:spPr>
          <a:xfrm>
            <a:off x="457200" y="1600200"/>
            <a:ext cx="8305800" cy="4530725"/>
          </a:xfrm>
        </p:spPr>
        <p:txBody>
          <a:bodyPr/>
          <a:lstStyle/>
          <a:p>
            <a:pPr marL="571500" indent="-571500" eaLnBrk="1" hangingPunct="1"/>
            <a:r>
              <a:rPr lang="zh-CN" altLang="en-US" sz="2800" dirty="0"/>
              <a:t>用户提出了三个需求，哪一个是合适的用例？</a:t>
            </a:r>
            <a:endParaRPr lang="en-US" altLang="zh-CN" sz="2800" dirty="0"/>
          </a:p>
          <a:p>
            <a:pPr marL="920750" lvl="1" indent="-571500" eaLnBrk="1" hangingPunct="1"/>
            <a:r>
              <a:rPr lang="en-US" altLang="zh-CN" sz="2000" dirty="0"/>
              <a:t>A:  </a:t>
            </a:r>
            <a:r>
              <a:rPr lang="zh-CN" altLang="en-US" sz="2000" dirty="0"/>
              <a:t>在表格中输入一个顾客姓名</a:t>
            </a:r>
            <a:endParaRPr lang="en-US" altLang="zh-CN" sz="2000" dirty="0"/>
          </a:p>
          <a:p>
            <a:pPr marL="920750" lvl="1" indent="-571500" eaLnBrk="1" hangingPunct="1"/>
            <a:r>
              <a:rPr lang="en-US" altLang="zh-CN" sz="2000" dirty="0"/>
              <a:t>B</a:t>
            </a:r>
            <a:r>
              <a:rPr lang="zh-CN" altLang="en-US" sz="2000" dirty="0"/>
              <a:t>：增加新顾客信息</a:t>
            </a:r>
            <a:endParaRPr lang="en-US" altLang="zh-CN" sz="2000" dirty="0"/>
          </a:p>
          <a:p>
            <a:pPr marL="920750" lvl="1" indent="-571500" eaLnBrk="1" hangingPunct="1"/>
            <a:r>
              <a:rPr lang="en-US" altLang="zh-CN" sz="2000" dirty="0"/>
              <a:t>C</a:t>
            </a:r>
            <a:r>
              <a:rPr lang="zh-CN" altLang="en-US" sz="2000" dirty="0"/>
              <a:t>：增加新顾客、删除顾客、跟踪预期付款的顾客、联系以前的顾客</a:t>
            </a:r>
            <a:endParaRPr lang="en-US" altLang="zh-CN" sz="2000" dirty="0"/>
          </a:p>
          <a:p>
            <a:pPr marL="571500" indent="-571500" eaLnBrk="1" hangingPunct="1"/>
            <a:r>
              <a:rPr lang="zh-CN" altLang="en-US" sz="3200" dirty="0"/>
              <a:t>用来确定用例的合适细节级别是</a:t>
            </a:r>
            <a:r>
              <a:rPr lang="zh-CN" altLang="en-US" sz="3200" dirty="0">
                <a:solidFill>
                  <a:srgbClr val="C00000"/>
                </a:solidFill>
              </a:rPr>
              <a:t>基本业务流程（</a:t>
            </a:r>
            <a:r>
              <a:rPr lang="en-GB" altLang="zh-CN" sz="3200" dirty="0">
                <a:solidFill>
                  <a:srgbClr val="C00000"/>
                </a:solidFill>
              </a:rPr>
              <a:t> </a:t>
            </a:r>
            <a:r>
              <a:rPr lang="en-US" altLang="zh-CN" sz="3200" dirty="0">
                <a:solidFill>
                  <a:srgbClr val="C00000"/>
                </a:solidFill>
              </a:rPr>
              <a:t>E</a:t>
            </a:r>
            <a:r>
              <a:rPr lang="en-GB" altLang="zh-CN" sz="3200" dirty="0" err="1">
                <a:solidFill>
                  <a:srgbClr val="C00000"/>
                </a:solidFill>
              </a:rPr>
              <a:t>lementary</a:t>
            </a:r>
            <a:r>
              <a:rPr lang="en-GB" altLang="zh-CN" sz="3200" dirty="0">
                <a:solidFill>
                  <a:srgbClr val="C00000"/>
                </a:solidFill>
              </a:rPr>
              <a:t> Business Process, EBP </a:t>
            </a:r>
            <a:r>
              <a:rPr lang="zh-CN" altLang="en-US" sz="3200" dirty="0">
                <a:solidFill>
                  <a:srgbClr val="C00000"/>
                </a:solidFill>
              </a:rPr>
              <a:t>）</a:t>
            </a:r>
            <a:r>
              <a:rPr lang="zh-CN" altLang="en-US" sz="3200" dirty="0"/>
              <a:t>。</a:t>
            </a:r>
            <a:r>
              <a:rPr lang="en-US" altLang="zh-CN" sz="2400" dirty="0"/>
              <a:t>	</a:t>
            </a:r>
          </a:p>
          <a:p>
            <a:pPr marL="920750" lvl="1" indent="-571500" eaLnBrk="1" hangingPunct="1"/>
            <a:r>
              <a:rPr lang="zh-CN" altLang="en-US" sz="2000" dirty="0"/>
              <a:t>基本业务流程是由一个人在特定地点为了响应交易事件所执行的一项任务，它增加了可衡量的业务价值，保持了系统与数据的稳定和一致。</a:t>
            </a:r>
            <a:endParaRPr lang="en-US" altLang="zh-CN" sz="2000" dirty="0"/>
          </a:p>
          <a:p>
            <a:pPr marL="920750" lvl="1" indent="-571500" eaLnBrk="1" hangingPunct="1"/>
            <a:endParaRPr lang="en-US" altLang="zh-CN" sz="2400" dirty="0"/>
          </a:p>
          <a:p>
            <a:pPr marL="920750" lvl="1" indent="-571500" eaLnBrk="1" hangingPunct="1"/>
            <a:endParaRPr lang="en-GB" altLang="zh-CN" sz="2400" dirty="0"/>
          </a:p>
        </p:txBody>
      </p:sp>
      <p:sp>
        <p:nvSpPr>
          <p:cNvPr id="13317" name="Rectangle 5">
            <a:extLst>
              <a:ext uri="{FF2B5EF4-FFF2-40B4-BE49-F238E27FC236}">
                <a16:creationId xmlns:a16="http://schemas.microsoft.com/office/drawing/2014/main" id="{8427AA09-52F4-43BC-B61A-EFC88AEAFB85}"/>
              </a:ext>
            </a:extLst>
          </p:cNvPr>
          <p:cNvSpPr>
            <a:spLocks noChangeArrowheads="1"/>
          </p:cNvSpPr>
          <p:nvPr/>
        </p:nvSpPr>
        <p:spPr bwMode="auto">
          <a:xfrm>
            <a:off x="8382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3318" name="Footer Placeholder 5">
            <a:extLst>
              <a:ext uri="{FF2B5EF4-FFF2-40B4-BE49-F238E27FC236}">
                <a16:creationId xmlns:a16="http://schemas.microsoft.com/office/drawing/2014/main" id="{56A0EF26-4210-4ED3-A25D-C3AE39E18033}"/>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3181672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4EF02C6C-2E7A-4207-A484-66884C8C523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E32B6B6-31E2-40A6-B057-2D14BC26BF69}" type="slidenum">
              <a:rPr lang="en-US" altLang="en-US"/>
              <a:pPr eaLnBrk="1" hangingPunct="1"/>
              <a:t>21</a:t>
            </a:fld>
            <a:endParaRPr lang="en-US" altLang="en-US"/>
          </a:p>
        </p:txBody>
      </p:sp>
      <p:sp>
        <p:nvSpPr>
          <p:cNvPr id="15363" name="Rectangle 2">
            <a:extLst>
              <a:ext uri="{FF2B5EF4-FFF2-40B4-BE49-F238E27FC236}">
                <a16:creationId xmlns:a16="http://schemas.microsoft.com/office/drawing/2014/main" id="{B1193757-B9D1-42A4-B70D-1801506A8F12}"/>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Types of Events</a:t>
            </a:r>
          </a:p>
        </p:txBody>
      </p:sp>
      <p:sp>
        <p:nvSpPr>
          <p:cNvPr id="15364" name="Rectangle 3">
            <a:extLst>
              <a:ext uri="{FF2B5EF4-FFF2-40B4-BE49-F238E27FC236}">
                <a16:creationId xmlns:a16="http://schemas.microsoft.com/office/drawing/2014/main" id="{2EB88370-7A92-4995-BDC8-3B759ABDFC8E}"/>
              </a:ext>
            </a:extLst>
          </p:cNvPr>
          <p:cNvSpPr>
            <a:spLocks noGrp="1" noChangeArrowheads="1"/>
          </p:cNvSpPr>
          <p:nvPr>
            <p:ph type="body" idx="1"/>
          </p:nvPr>
        </p:nvSpPr>
        <p:spPr>
          <a:xfrm>
            <a:off x="457200" y="1600200"/>
            <a:ext cx="8229600" cy="4530725"/>
          </a:xfrm>
        </p:spPr>
        <p:txBody>
          <a:bodyPr/>
          <a:lstStyle/>
          <a:p>
            <a:pPr marL="571500" indent="-571500" eaLnBrk="1" hangingPunct="1">
              <a:lnSpc>
                <a:spcPct val="90000"/>
              </a:lnSpc>
            </a:pPr>
            <a:r>
              <a:rPr lang="en-GB" altLang="zh-CN" sz="3200" dirty="0"/>
              <a:t>External Event</a:t>
            </a:r>
            <a:r>
              <a:rPr lang="zh-CN" altLang="en-US" sz="3200" dirty="0"/>
              <a:t>：外部事件</a:t>
            </a:r>
            <a:endParaRPr lang="en-GB" altLang="zh-CN" sz="3200" dirty="0"/>
          </a:p>
          <a:p>
            <a:pPr marL="839788" lvl="1" indent="-495300" eaLnBrk="1" hangingPunct="1">
              <a:lnSpc>
                <a:spcPct val="90000"/>
              </a:lnSpc>
            </a:pPr>
            <a:r>
              <a:rPr lang="en-GB" altLang="zh-CN" dirty="0"/>
              <a:t>an event that occurs outside the system, usually initiated by an external agent or actor</a:t>
            </a:r>
            <a:endParaRPr lang="en-GB" altLang="zh-CN" sz="2800" dirty="0"/>
          </a:p>
          <a:p>
            <a:pPr marL="571500" indent="-571500" eaLnBrk="1" hangingPunct="1">
              <a:lnSpc>
                <a:spcPct val="90000"/>
              </a:lnSpc>
            </a:pPr>
            <a:r>
              <a:rPr lang="en-GB" altLang="zh-CN" sz="3200" dirty="0"/>
              <a:t>Temporal Event</a:t>
            </a:r>
            <a:r>
              <a:rPr lang="zh-CN" altLang="en-US" sz="3200" dirty="0"/>
              <a:t>：时间事件</a:t>
            </a:r>
            <a:endParaRPr lang="en-GB" altLang="zh-CN" sz="3200" dirty="0"/>
          </a:p>
          <a:p>
            <a:pPr marL="839788" lvl="1" indent="-495300" eaLnBrk="1" hangingPunct="1">
              <a:lnSpc>
                <a:spcPct val="90000"/>
              </a:lnSpc>
            </a:pPr>
            <a:r>
              <a:rPr lang="en-GB" altLang="zh-CN" dirty="0"/>
              <a:t>an event that occurs as a result of reaching a point in time</a:t>
            </a:r>
            <a:endParaRPr lang="en-GB" altLang="zh-CN" sz="2800" dirty="0"/>
          </a:p>
          <a:p>
            <a:pPr marL="571500" indent="-571500" eaLnBrk="1" hangingPunct="1">
              <a:lnSpc>
                <a:spcPct val="90000"/>
              </a:lnSpc>
            </a:pPr>
            <a:r>
              <a:rPr lang="en-GB" altLang="zh-CN" sz="3200" dirty="0"/>
              <a:t>State Event</a:t>
            </a:r>
            <a:r>
              <a:rPr lang="zh-CN" altLang="en-US" sz="3200" dirty="0"/>
              <a:t>：状态事件（内部事件）</a:t>
            </a:r>
            <a:endParaRPr lang="en-GB" altLang="zh-CN" sz="3200" dirty="0"/>
          </a:p>
          <a:p>
            <a:pPr marL="839788" lvl="1" indent="-495300" eaLnBrk="1" hangingPunct="1">
              <a:lnSpc>
                <a:spcPct val="90000"/>
              </a:lnSpc>
            </a:pPr>
            <a:r>
              <a:rPr lang="en-GB" altLang="zh-CN" dirty="0"/>
              <a:t>an event that occurs when something happens inside the system that triggers some process</a:t>
            </a:r>
          </a:p>
          <a:p>
            <a:pPr marL="839788" lvl="1" indent="-495300" eaLnBrk="1" hangingPunct="1">
              <a:lnSpc>
                <a:spcPct val="90000"/>
              </a:lnSpc>
            </a:pPr>
            <a:r>
              <a:rPr lang="en-GB" altLang="zh-CN" dirty="0"/>
              <a:t>reorder point is reached for inventory item</a:t>
            </a:r>
          </a:p>
        </p:txBody>
      </p:sp>
      <p:sp>
        <p:nvSpPr>
          <p:cNvPr id="15365" name="Rectangle 5">
            <a:extLst>
              <a:ext uri="{FF2B5EF4-FFF2-40B4-BE49-F238E27FC236}">
                <a16:creationId xmlns:a16="http://schemas.microsoft.com/office/drawing/2014/main" id="{4C356079-D19C-4B72-8B6D-B5FA6ADBD753}"/>
              </a:ext>
            </a:extLst>
          </p:cNvPr>
          <p:cNvSpPr>
            <a:spLocks noChangeArrowheads="1"/>
          </p:cNvSpPr>
          <p:nvPr/>
        </p:nvSpPr>
        <p:spPr bwMode="auto">
          <a:xfrm>
            <a:off x="609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5366" name="Footer Placeholder 5">
            <a:extLst>
              <a:ext uri="{FF2B5EF4-FFF2-40B4-BE49-F238E27FC236}">
                <a16:creationId xmlns:a16="http://schemas.microsoft.com/office/drawing/2014/main" id="{46381E9E-B1B5-4A1C-96A1-C711CB59C001}"/>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36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36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6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CE2C3A4A-9A9D-4A2E-B699-0B544CDDDCD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82A7ADD-4AC2-432B-AF52-38F314DA4AEA}" type="slidenum">
              <a:rPr lang="en-US" altLang="en-US"/>
              <a:pPr eaLnBrk="1" hangingPunct="1"/>
              <a:t>22</a:t>
            </a:fld>
            <a:endParaRPr lang="en-US" altLang="en-US"/>
          </a:p>
        </p:txBody>
      </p:sp>
      <p:sp>
        <p:nvSpPr>
          <p:cNvPr id="14339" name="Rectangle 2">
            <a:extLst>
              <a:ext uri="{FF2B5EF4-FFF2-40B4-BE49-F238E27FC236}">
                <a16:creationId xmlns:a16="http://schemas.microsoft.com/office/drawing/2014/main" id="{614591AC-F3F0-44DA-8DEE-0E6832001DE6}"/>
              </a:ext>
            </a:extLst>
          </p:cNvPr>
          <p:cNvSpPr>
            <a:spLocks noGrp="1" noChangeArrowheads="1"/>
          </p:cNvSpPr>
          <p:nvPr>
            <p:ph type="title"/>
          </p:nvPr>
        </p:nvSpPr>
        <p:spPr>
          <a:xfrm>
            <a:off x="457200" y="122238"/>
            <a:ext cx="7543800" cy="792162"/>
          </a:xfrm>
        </p:spPr>
        <p:txBody>
          <a:bodyPr/>
          <a:lstStyle/>
          <a:p>
            <a:pPr eaLnBrk="1" hangingPunct="1"/>
            <a:r>
              <a:rPr lang="en-US" altLang="zh-CN">
                <a:ea typeface="宋体" panose="02010600030101010101" pitchFamily="2" charset="-122"/>
              </a:rPr>
              <a:t>Events and Use Cases</a:t>
            </a:r>
          </a:p>
        </p:txBody>
      </p:sp>
      <p:pic>
        <p:nvPicPr>
          <p:cNvPr id="14340" name="Picture 7">
            <a:extLst>
              <a:ext uri="{FF2B5EF4-FFF2-40B4-BE49-F238E27FC236}">
                <a16:creationId xmlns:a16="http://schemas.microsoft.com/office/drawing/2014/main" id="{0E5DE331-DCBA-4013-A823-0111BAB3A43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066800" y="1066800"/>
            <a:ext cx="7010400" cy="5167313"/>
          </a:xfrm>
          <a:noFill/>
        </p:spPr>
      </p:pic>
      <p:sp>
        <p:nvSpPr>
          <p:cNvPr id="14341" name="Rectangle 5">
            <a:extLst>
              <a:ext uri="{FF2B5EF4-FFF2-40B4-BE49-F238E27FC236}">
                <a16:creationId xmlns:a16="http://schemas.microsoft.com/office/drawing/2014/main" id="{400FA99E-F8CB-4491-8C52-295B2C520611}"/>
              </a:ext>
            </a:extLst>
          </p:cNvPr>
          <p:cNvSpPr>
            <a:spLocks noChangeArrowheads="1"/>
          </p:cNvSpPr>
          <p:nvPr/>
        </p:nvSpPr>
        <p:spPr bwMode="auto">
          <a:xfrm>
            <a:off x="8382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4342" name="Footer Placeholder 5">
            <a:extLst>
              <a:ext uri="{FF2B5EF4-FFF2-40B4-BE49-F238E27FC236}">
                <a16:creationId xmlns:a16="http://schemas.microsoft.com/office/drawing/2014/main" id="{23129898-7F36-42E3-85DE-B38989A12B58}"/>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617E90C6-5A45-4C62-B3E8-E2FD8253B9ED}"/>
              </a:ext>
            </a:extLst>
          </p:cNvPr>
          <p:cNvSpPr/>
          <p:nvPr/>
        </p:nvSpPr>
        <p:spPr>
          <a:xfrm>
            <a:off x="2057400" y="1433512"/>
            <a:ext cx="1143000" cy="61674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4527F874-CAC4-42B6-B8A8-82FCF56FAEB6}"/>
              </a:ext>
            </a:extLst>
          </p:cNvPr>
          <p:cNvSpPr/>
          <p:nvPr/>
        </p:nvSpPr>
        <p:spPr>
          <a:xfrm>
            <a:off x="2996448" y="2202656"/>
            <a:ext cx="1562100" cy="61674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7287DEFC-CFE5-42D0-996C-FB6CBECD9C3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6E5CE9F-3D17-4819-A376-7AB7D7EDB5F3}" type="slidenum">
              <a:rPr lang="en-US" altLang="en-US"/>
              <a:pPr eaLnBrk="1" hangingPunct="1"/>
              <a:t>23</a:t>
            </a:fld>
            <a:endParaRPr lang="en-US" altLang="en-US"/>
          </a:p>
        </p:txBody>
      </p:sp>
      <p:sp>
        <p:nvSpPr>
          <p:cNvPr id="16387" name="Rectangle 2">
            <a:extLst>
              <a:ext uri="{FF2B5EF4-FFF2-40B4-BE49-F238E27FC236}">
                <a16:creationId xmlns:a16="http://schemas.microsoft.com/office/drawing/2014/main" id="{3F544224-A4F2-4A30-B7F4-BF20F586318B}"/>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External Event Checklist</a:t>
            </a:r>
            <a:br>
              <a:rPr lang="en-US" altLang="zh-CN" dirty="0">
                <a:ea typeface="宋体" panose="02010600030101010101" pitchFamily="2" charset="-122"/>
              </a:rPr>
            </a:br>
            <a:r>
              <a:rPr lang="zh-CN" altLang="en-US" dirty="0">
                <a:ea typeface="宋体" panose="02010600030101010101" pitchFamily="2" charset="-122"/>
              </a:rPr>
              <a:t>（外部事件清单）</a:t>
            </a:r>
            <a:endParaRPr lang="en-US" altLang="zh-CN" dirty="0">
              <a:ea typeface="宋体" panose="02010600030101010101" pitchFamily="2" charset="-122"/>
            </a:endParaRPr>
          </a:p>
        </p:txBody>
      </p:sp>
      <p:sp>
        <p:nvSpPr>
          <p:cNvPr id="16388" name="Rectangle 3">
            <a:extLst>
              <a:ext uri="{FF2B5EF4-FFF2-40B4-BE49-F238E27FC236}">
                <a16:creationId xmlns:a16="http://schemas.microsoft.com/office/drawing/2014/main" id="{714F6718-3EFE-4FBE-96F2-1865F93274BE}"/>
              </a:ext>
            </a:extLst>
          </p:cNvPr>
          <p:cNvSpPr>
            <a:spLocks noGrp="1" noChangeArrowheads="1"/>
          </p:cNvSpPr>
          <p:nvPr>
            <p:ph type="body" idx="1"/>
          </p:nvPr>
        </p:nvSpPr>
        <p:spPr>
          <a:xfrm>
            <a:off x="381000" y="1600200"/>
            <a:ext cx="8534400" cy="4530725"/>
          </a:xfrm>
        </p:spPr>
        <p:txBody>
          <a:bodyPr/>
          <a:lstStyle/>
          <a:p>
            <a:pPr marL="571500" indent="-571500" eaLnBrk="1" hangingPunct="1"/>
            <a:r>
              <a:rPr lang="en-US" altLang="zh-CN" sz="2400" dirty="0">
                <a:ea typeface="宋体" panose="02010600030101010101" pitchFamily="2" charset="-122"/>
              </a:rPr>
              <a:t>External </a:t>
            </a:r>
            <a:r>
              <a:rPr lang="en-US" altLang="zh-CN" sz="2400" u="sng" dirty="0">
                <a:ea typeface="宋体" panose="02010600030101010101" pitchFamily="2" charset="-122"/>
              </a:rPr>
              <a:t>agent or actor </a:t>
            </a:r>
            <a:r>
              <a:rPr lang="en-US" altLang="zh-CN" sz="2400" dirty="0">
                <a:ea typeface="宋体" panose="02010600030101010101" pitchFamily="2" charset="-122"/>
              </a:rPr>
              <a:t>wants something resulting in a transaction</a:t>
            </a:r>
            <a:r>
              <a:rPr lang="zh-CN" altLang="en-US" sz="2400" dirty="0">
                <a:ea typeface="宋体" panose="02010600030101010101" pitchFamily="2" charset="-122"/>
              </a:rPr>
              <a:t>（外部代理需要导致交易的结果）</a:t>
            </a:r>
            <a:endParaRPr lang="en-US" altLang="zh-CN" sz="2400" dirty="0">
              <a:ea typeface="宋体" panose="02010600030101010101" pitchFamily="2" charset="-122"/>
            </a:endParaRPr>
          </a:p>
          <a:p>
            <a:pPr marL="839788" lvl="1" indent="-495300" eaLnBrk="1" hangingPunct="1"/>
            <a:r>
              <a:rPr lang="en-US" altLang="zh-CN" sz="2000" dirty="0">
                <a:ea typeface="宋体" panose="02010600030101010101" pitchFamily="2" charset="-122"/>
              </a:rPr>
              <a:t>Customer buys a product</a:t>
            </a:r>
            <a:r>
              <a:rPr lang="zh-CN" altLang="en-US" sz="2000" dirty="0">
                <a:ea typeface="宋体" panose="02010600030101010101" pitchFamily="2" charset="-122"/>
              </a:rPr>
              <a:t>（顾客购买产品）</a:t>
            </a:r>
            <a:endParaRPr lang="en-US" altLang="zh-CN" sz="2000" dirty="0">
              <a:ea typeface="宋体" panose="02010600030101010101" pitchFamily="2" charset="-122"/>
            </a:endParaRPr>
          </a:p>
          <a:p>
            <a:pPr marL="571500" indent="-571500" eaLnBrk="1" hangingPunct="1"/>
            <a:r>
              <a:rPr lang="en-US" altLang="zh-CN" sz="2400" dirty="0">
                <a:ea typeface="宋体" panose="02010600030101010101" pitchFamily="2" charset="-122"/>
              </a:rPr>
              <a:t>External </a:t>
            </a:r>
            <a:r>
              <a:rPr lang="en-US" altLang="zh-CN" sz="2400" u="sng" dirty="0">
                <a:ea typeface="宋体" panose="02010600030101010101" pitchFamily="2" charset="-122"/>
              </a:rPr>
              <a:t>agent or actor </a:t>
            </a:r>
            <a:r>
              <a:rPr lang="en-US" altLang="zh-CN" sz="2400" dirty="0">
                <a:ea typeface="宋体" panose="02010600030101010101" pitchFamily="2" charset="-122"/>
              </a:rPr>
              <a:t>wants some information</a:t>
            </a:r>
            <a:r>
              <a:rPr lang="zh-CN" altLang="en-US" sz="2400" dirty="0">
                <a:ea typeface="宋体" panose="02010600030101010101" pitchFamily="2" charset="-122"/>
              </a:rPr>
              <a:t>（外部代理需要信息）</a:t>
            </a:r>
            <a:endParaRPr lang="en-US" altLang="zh-CN" sz="2400" dirty="0">
              <a:ea typeface="宋体" panose="02010600030101010101" pitchFamily="2" charset="-122"/>
            </a:endParaRPr>
          </a:p>
          <a:p>
            <a:pPr marL="839788" lvl="1" indent="-495300" eaLnBrk="1" hangingPunct="1"/>
            <a:r>
              <a:rPr lang="en-US" altLang="zh-CN" sz="2000" dirty="0">
                <a:ea typeface="宋体" panose="02010600030101010101" pitchFamily="2" charset="-122"/>
              </a:rPr>
              <a:t>Customer wants to know product details</a:t>
            </a:r>
            <a:r>
              <a:rPr lang="zh-CN" altLang="en-US" sz="2000" dirty="0">
                <a:ea typeface="宋体" panose="02010600030101010101" pitchFamily="2" charset="-122"/>
              </a:rPr>
              <a:t>（客户查看产品细节）</a:t>
            </a:r>
            <a:endParaRPr lang="en-US" altLang="zh-CN" sz="2000" dirty="0">
              <a:ea typeface="宋体" panose="02010600030101010101" pitchFamily="2" charset="-122"/>
            </a:endParaRPr>
          </a:p>
          <a:p>
            <a:pPr marL="571500" indent="-571500" eaLnBrk="1" hangingPunct="1"/>
            <a:r>
              <a:rPr lang="en-US" altLang="zh-CN" sz="2400" dirty="0">
                <a:ea typeface="宋体" panose="02010600030101010101" pitchFamily="2" charset="-122"/>
              </a:rPr>
              <a:t>External </a:t>
            </a:r>
            <a:r>
              <a:rPr lang="en-US" altLang="zh-CN" sz="2400" u="sng" dirty="0">
                <a:ea typeface="宋体" panose="02010600030101010101" pitchFamily="2" charset="-122"/>
              </a:rPr>
              <a:t>data changed </a:t>
            </a:r>
            <a:r>
              <a:rPr lang="en-US" altLang="zh-CN" sz="2400" dirty="0">
                <a:ea typeface="宋体" panose="02010600030101010101" pitchFamily="2" charset="-122"/>
              </a:rPr>
              <a:t>and needs to be updated</a:t>
            </a:r>
            <a:r>
              <a:rPr lang="zh-CN" altLang="en-US" sz="2400" dirty="0">
                <a:ea typeface="宋体" panose="02010600030101010101" pitchFamily="2" charset="-122"/>
              </a:rPr>
              <a:t>（外部数据需要更新）</a:t>
            </a:r>
            <a:endParaRPr lang="en-US" altLang="zh-CN" sz="2400" dirty="0">
              <a:ea typeface="宋体" panose="02010600030101010101" pitchFamily="2" charset="-122"/>
            </a:endParaRPr>
          </a:p>
          <a:p>
            <a:pPr marL="839788" lvl="1" indent="-495300" eaLnBrk="1" hangingPunct="1"/>
            <a:r>
              <a:rPr lang="en-US" altLang="zh-CN" sz="2000" dirty="0">
                <a:ea typeface="宋体" panose="02010600030101010101" pitchFamily="2" charset="-122"/>
              </a:rPr>
              <a:t>Customer has new address and phone</a:t>
            </a:r>
            <a:r>
              <a:rPr lang="zh-CN" altLang="en-US" sz="2000" dirty="0">
                <a:ea typeface="宋体" panose="02010600030101010101" pitchFamily="2" charset="-122"/>
              </a:rPr>
              <a:t>（客户有新地址电话）</a:t>
            </a:r>
            <a:endParaRPr lang="en-US" altLang="zh-CN" sz="2000" dirty="0">
              <a:ea typeface="宋体" panose="02010600030101010101" pitchFamily="2" charset="-122"/>
            </a:endParaRPr>
          </a:p>
          <a:p>
            <a:pPr marL="571500" indent="-571500" eaLnBrk="1" hangingPunct="1"/>
            <a:r>
              <a:rPr lang="en-US" altLang="zh-CN" sz="2400" u="sng" dirty="0">
                <a:ea typeface="宋体" panose="02010600030101010101" pitchFamily="2" charset="-122"/>
              </a:rPr>
              <a:t>Management </a:t>
            </a:r>
            <a:r>
              <a:rPr lang="en-US" altLang="zh-CN" sz="2400" dirty="0">
                <a:ea typeface="宋体" panose="02010600030101010101" pitchFamily="2" charset="-122"/>
              </a:rPr>
              <a:t>wants some information</a:t>
            </a:r>
            <a:r>
              <a:rPr lang="zh-CN" altLang="en-US" sz="2400" dirty="0">
                <a:ea typeface="宋体" panose="02010600030101010101" pitchFamily="2" charset="-122"/>
              </a:rPr>
              <a:t>（管理层想要信息）</a:t>
            </a:r>
            <a:endParaRPr lang="en-US" altLang="zh-CN" sz="2400" dirty="0">
              <a:ea typeface="宋体" panose="02010600030101010101" pitchFamily="2" charset="-122"/>
            </a:endParaRPr>
          </a:p>
          <a:p>
            <a:pPr marL="839788" lvl="1" indent="-495300" eaLnBrk="1" hangingPunct="1"/>
            <a:r>
              <a:rPr lang="en-GB" altLang="zh-CN" sz="2000" dirty="0"/>
              <a:t>Sales manager wants update on production plans</a:t>
            </a:r>
            <a:r>
              <a:rPr lang="zh-CN" altLang="en-US" sz="2000" dirty="0">
                <a:ea typeface="宋体" panose="02010600030101010101" pitchFamily="2" charset="-122"/>
              </a:rPr>
              <a:t>（销售经理想要最新的生产计划）</a:t>
            </a:r>
            <a:endParaRPr lang="en-GB" altLang="zh-CN" sz="2000" dirty="0">
              <a:ea typeface="宋体" panose="02010600030101010101" pitchFamily="2" charset="-122"/>
            </a:endParaRPr>
          </a:p>
        </p:txBody>
      </p:sp>
      <p:sp>
        <p:nvSpPr>
          <p:cNvPr id="16389" name="Rectangle 5">
            <a:extLst>
              <a:ext uri="{FF2B5EF4-FFF2-40B4-BE49-F238E27FC236}">
                <a16:creationId xmlns:a16="http://schemas.microsoft.com/office/drawing/2014/main" id="{F59B1C88-4DA6-4974-8D92-4DF504CFD669}"/>
              </a:ext>
            </a:extLst>
          </p:cNvPr>
          <p:cNvSpPr>
            <a:spLocks noChangeArrowheads="1"/>
          </p:cNvSpPr>
          <p:nvPr/>
        </p:nvSpPr>
        <p:spPr bwMode="auto">
          <a:xfrm>
            <a:off x="8382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6390" name="Footer Placeholder 5">
            <a:extLst>
              <a:ext uri="{FF2B5EF4-FFF2-40B4-BE49-F238E27FC236}">
                <a16:creationId xmlns:a16="http://schemas.microsoft.com/office/drawing/2014/main" id="{3E804048-6EAE-408C-8FAE-8742F46B3DB7}"/>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8">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388">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99794837-6F5B-47E2-B85A-F6789FCB6F4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AA298CE-FFFF-4572-B0DA-C2D92075179D}" type="slidenum">
              <a:rPr lang="en-US" altLang="en-US"/>
              <a:pPr eaLnBrk="1" hangingPunct="1"/>
              <a:t>24</a:t>
            </a:fld>
            <a:endParaRPr lang="en-US" altLang="en-US"/>
          </a:p>
        </p:txBody>
      </p:sp>
      <p:sp>
        <p:nvSpPr>
          <p:cNvPr id="17411" name="Rectangle 2">
            <a:extLst>
              <a:ext uri="{FF2B5EF4-FFF2-40B4-BE49-F238E27FC236}">
                <a16:creationId xmlns:a16="http://schemas.microsoft.com/office/drawing/2014/main" id="{3645E0D5-7F15-421F-BC57-C85F684C1CED}"/>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Temporal Event Checklist</a:t>
            </a:r>
            <a:br>
              <a:rPr lang="en-US" altLang="zh-CN" dirty="0">
                <a:ea typeface="宋体" panose="02010600030101010101" pitchFamily="2" charset="-122"/>
              </a:rPr>
            </a:br>
            <a:r>
              <a:rPr lang="zh-CN" altLang="en-US" dirty="0">
                <a:ea typeface="宋体" panose="02010600030101010101" pitchFamily="2" charset="-122"/>
              </a:rPr>
              <a:t>（时间事件清单）</a:t>
            </a:r>
            <a:endParaRPr lang="en-US" altLang="zh-CN" dirty="0">
              <a:ea typeface="宋体" panose="02010600030101010101" pitchFamily="2" charset="-122"/>
            </a:endParaRPr>
          </a:p>
        </p:txBody>
      </p:sp>
      <p:sp>
        <p:nvSpPr>
          <p:cNvPr id="17412" name="Rectangle 3">
            <a:extLst>
              <a:ext uri="{FF2B5EF4-FFF2-40B4-BE49-F238E27FC236}">
                <a16:creationId xmlns:a16="http://schemas.microsoft.com/office/drawing/2014/main" id="{E36097B9-B584-4886-AC88-2D2F89F7947B}"/>
              </a:ext>
            </a:extLst>
          </p:cNvPr>
          <p:cNvSpPr>
            <a:spLocks noGrp="1" noChangeArrowheads="1"/>
          </p:cNvSpPr>
          <p:nvPr>
            <p:ph type="body" idx="1"/>
          </p:nvPr>
        </p:nvSpPr>
        <p:spPr>
          <a:xfrm>
            <a:off x="457200" y="1600200"/>
            <a:ext cx="8229600" cy="4530725"/>
          </a:xfrm>
        </p:spPr>
        <p:txBody>
          <a:bodyPr/>
          <a:lstStyle/>
          <a:p>
            <a:pPr marL="571500" indent="-571500" eaLnBrk="1" hangingPunct="1"/>
            <a:r>
              <a:rPr lang="en-US" altLang="zh-CN" sz="2800" u="sng" dirty="0">
                <a:ea typeface="宋体" panose="02010600030101010101" pitchFamily="2" charset="-122"/>
              </a:rPr>
              <a:t>Internal</a:t>
            </a:r>
            <a:r>
              <a:rPr lang="en-US" altLang="zh-CN" sz="2800" dirty="0">
                <a:ea typeface="宋体" panose="02010600030101010101" pitchFamily="2" charset="-122"/>
              </a:rPr>
              <a:t> outputs needed at points in time</a:t>
            </a:r>
            <a:r>
              <a:rPr lang="zh-CN" altLang="en-US" sz="2800" dirty="0">
                <a:ea typeface="宋体" panose="02010600030101010101" pitchFamily="2" charset="-122"/>
              </a:rPr>
              <a:t>（在某时间点进行内部输出）</a:t>
            </a:r>
            <a:endParaRPr lang="en-US" altLang="zh-CN" sz="2800" dirty="0">
              <a:ea typeface="宋体" panose="02010600030101010101" pitchFamily="2" charset="-122"/>
            </a:endParaRPr>
          </a:p>
          <a:p>
            <a:pPr marL="839788" lvl="1" indent="-495300" eaLnBrk="1" hangingPunct="1"/>
            <a:r>
              <a:rPr lang="en-US" altLang="zh-CN" sz="2400" dirty="0">
                <a:ea typeface="宋体" panose="02010600030101010101" pitchFamily="2" charset="-122"/>
              </a:rPr>
              <a:t>Management reports (summary)</a:t>
            </a:r>
            <a:r>
              <a:rPr lang="zh-CN" altLang="en-US" sz="2400" dirty="0">
                <a:ea typeface="宋体" panose="02010600030101010101" pitchFamily="2" charset="-122"/>
              </a:rPr>
              <a:t>（管理报告）</a:t>
            </a:r>
            <a:endParaRPr lang="en-US" altLang="zh-CN" sz="2400" dirty="0">
              <a:ea typeface="宋体" panose="02010600030101010101" pitchFamily="2" charset="-122"/>
            </a:endParaRPr>
          </a:p>
          <a:p>
            <a:pPr marL="839788" lvl="1" indent="-495300" eaLnBrk="1" hangingPunct="1"/>
            <a:r>
              <a:rPr lang="en-US" altLang="zh-CN" sz="2400" dirty="0">
                <a:ea typeface="宋体" panose="02010600030101010101" pitchFamily="2" charset="-122"/>
              </a:rPr>
              <a:t>Operational reports (detailed transactions)</a:t>
            </a:r>
            <a:r>
              <a:rPr lang="zh-CN" altLang="en-US" sz="2400" dirty="0">
                <a:ea typeface="宋体" panose="02010600030101010101" pitchFamily="2" charset="-122"/>
              </a:rPr>
              <a:t>（运营报告）</a:t>
            </a:r>
            <a:endParaRPr lang="en-US" altLang="zh-CN" sz="2400" dirty="0">
              <a:ea typeface="宋体" panose="02010600030101010101" pitchFamily="2" charset="-122"/>
            </a:endParaRPr>
          </a:p>
          <a:p>
            <a:pPr marL="839788" lvl="1" indent="-495300" eaLnBrk="1" hangingPunct="1"/>
            <a:r>
              <a:rPr lang="en-US" altLang="zh-CN" sz="2400" dirty="0">
                <a:ea typeface="宋体" panose="02010600030101010101" pitchFamily="2" charset="-122"/>
              </a:rPr>
              <a:t>Internal statements and documents (including payroll)</a:t>
            </a:r>
            <a:r>
              <a:rPr lang="zh-CN" altLang="en-US" sz="2400" dirty="0">
                <a:ea typeface="宋体" panose="02010600030101010101" pitchFamily="2" charset="-122"/>
              </a:rPr>
              <a:t>（内部报表及文件，如工资单）</a:t>
            </a:r>
            <a:endParaRPr lang="en-US" altLang="zh-CN" sz="2400" dirty="0">
              <a:ea typeface="宋体" panose="02010600030101010101" pitchFamily="2" charset="-122"/>
            </a:endParaRPr>
          </a:p>
          <a:p>
            <a:pPr marL="571500" indent="-571500" eaLnBrk="1" hangingPunct="1"/>
            <a:r>
              <a:rPr lang="en-US" altLang="zh-CN" sz="2800" u="sng" dirty="0">
                <a:ea typeface="宋体" panose="02010600030101010101" pitchFamily="2" charset="-122"/>
              </a:rPr>
              <a:t>External</a:t>
            </a:r>
            <a:r>
              <a:rPr lang="en-US" altLang="zh-CN" sz="2800" dirty="0">
                <a:ea typeface="宋体" panose="02010600030101010101" pitchFamily="2" charset="-122"/>
              </a:rPr>
              <a:t> outputs needed at points of time</a:t>
            </a:r>
            <a:r>
              <a:rPr lang="zh-CN" altLang="en-US" sz="2800" dirty="0">
                <a:ea typeface="宋体" panose="02010600030101010101" pitchFamily="2" charset="-122"/>
              </a:rPr>
              <a:t>（在特定时间需要外部输出）</a:t>
            </a:r>
            <a:endParaRPr lang="en-US" altLang="zh-CN" sz="2800" dirty="0">
              <a:ea typeface="宋体" panose="02010600030101010101" pitchFamily="2" charset="-122"/>
            </a:endParaRPr>
          </a:p>
          <a:p>
            <a:pPr marL="839788" lvl="1" indent="-495300" eaLnBrk="1" hangingPunct="1"/>
            <a:r>
              <a:rPr lang="en-US" altLang="zh-CN" sz="2400" dirty="0">
                <a:ea typeface="宋体" panose="02010600030101010101" pitchFamily="2" charset="-122"/>
              </a:rPr>
              <a:t>Statements, status reports, bills, reminders</a:t>
            </a:r>
            <a:r>
              <a:rPr lang="zh-CN" altLang="en-US" sz="2400" dirty="0">
                <a:ea typeface="宋体" panose="02010600030101010101" pitchFamily="2" charset="-122"/>
              </a:rPr>
              <a:t>（报表、报告、账单、提醒）</a:t>
            </a:r>
            <a:endParaRPr lang="en-GB" altLang="zh-CN" sz="2400" dirty="0"/>
          </a:p>
        </p:txBody>
      </p:sp>
      <p:sp>
        <p:nvSpPr>
          <p:cNvPr id="17413" name="Rectangle 5">
            <a:extLst>
              <a:ext uri="{FF2B5EF4-FFF2-40B4-BE49-F238E27FC236}">
                <a16:creationId xmlns:a16="http://schemas.microsoft.com/office/drawing/2014/main" id="{C854F7EF-340C-4D3C-917B-EE6E41882242}"/>
              </a:ext>
            </a:extLst>
          </p:cNvPr>
          <p:cNvSpPr>
            <a:spLocks noChangeArrowheads="1"/>
          </p:cNvSpPr>
          <p:nvPr/>
        </p:nvSpPr>
        <p:spPr bwMode="auto">
          <a:xfrm>
            <a:off x="533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7414" name="Footer Placeholder 5">
            <a:extLst>
              <a:ext uri="{FF2B5EF4-FFF2-40B4-BE49-F238E27FC236}">
                <a16:creationId xmlns:a16="http://schemas.microsoft.com/office/drawing/2014/main" id="{2E0890D3-2C0F-4E88-8105-6807162C45C7}"/>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81FFC0BE-0FD2-4DA7-846F-E4C9F3CD1EE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EC32E8-8B74-476F-98EF-3FB7D5DD2501}" type="slidenum">
              <a:rPr lang="en-US" altLang="en-US"/>
              <a:pPr eaLnBrk="1" hangingPunct="1"/>
              <a:t>25</a:t>
            </a:fld>
            <a:endParaRPr lang="en-US" altLang="en-US"/>
          </a:p>
        </p:txBody>
      </p:sp>
      <p:sp>
        <p:nvSpPr>
          <p:cNvPr id="18435" name="Rectangle 2">
            <a:extLst>
              <a:ext uri="{FF2B5EF4-FFF2-40B4-BE49-F238E27FC236}">
                <a16:creationId xmlns:a16="http://schemas.microsoft.com/office/drawing/2014/main" id="{F27B07E3-4BB0-4874-8621-E896287DF89A}"/>
              </a:ext>
            </a:extLst>
          </p:cNvPr>
          <p:cNvSpPr>
            <a:spLocks noGrp="1" noChangeArrowheads="1"/>
          </p:cNvSpPr>
          <p:nvPr>
            <p:ph type="title"/>
          </p:nvPr>
        </p:nvSpPr>
        <p:spPr/>
        <p:txBody>
          <a:bodyPr/>
          <a:lstStyle/>
          <a:p>
            <a:pPr eaLnBrk="1" hangingPunct="1"/>
            <a:r>
              <a:rPr lang="en-US" altLang="zh-CN" sz="3200" dirty="0">
                <a:ea typeface="宋体" panose="02010600030101010101" pitchFamily="2" charset="-122"/>
              </a:rPr>
              <a:t>Finding the </a:t>
            </a:r>
            <a:r>
              <a:rPr lang="en-US" altLang="zh-CN" sz="3200" u="sng" dirty="0">
                <a:ea typeface="宋体" panose="02010600030101010101" pitchFamily="2" charset="-122"/>
              </a:rPr>
              <a:t>actual event </a:t>
            </a:r>
            <a:r>
              <a:rPr lang="en-US" altLang="zh-CN" sz="3200" dirty="0">
                <a:ea typeface="宋体" panose="02010600030101010101" pitchFamily="2" charset="-122"/>
              </a:rPr>
              <a:t>that affects the system</a:t>
            </a:r>
            <a:r>
              <a:rPr lang="zh-CN" altLang="en-US" sz="3200" dirty="0">
                <a:ea typeface="宋体" panose="02010600030101010101" pitchFamily="2" charset="-122"/>
              </a:rPr>
              <a:t>（查找影响系统的实际事件）</a:t>
            </a:r>
            <a:endParaRPr lang="en-US" altLang="zh-CN" sz="3200" dirty="0">
              <a:ea typeface="宋体" panose="02010600030101010101" pitchFamily="2" charset="-122"/>
            </a:endParaRPr>
          </a:p>
        </p:txBody>
      </p:sp>
      <p:pic>
        <p:nvPicPr>
          <p:cNvPr id="18436" name="Picture 7">
            <a:extLst>
              <a:ext uri="{FF2B5EF4-FFF2-40B4-BE49-F238E27FC236}">
                <a16:creationId xmlns:a16="http://schemas.microsoft.com/office/drawing/2014/main" id="{10F9B246-496B-4802-999A-8917571D7F6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066800" y="1447800"/>
            <a:ext cx="6884988" cy="4411663"/>
          </a:xfrm>
          <a:noFill/>
        </p:spPr>
      </p:pic>
      <p:sp>
        <p:nvSpPr>
          <p:cNvPr id="18437" name="Rectangle 5">
            <a:extLst>
              <a:ext uri="{FF2B5EF4-FFF2-40B4-BE49-F238E27FC236}">
                <a16:creationId xmlns:a16="http://schemas.microsoft.com/office/drawing/2014/main" id="{1558687E-DC2D-40CC-B581-28AB3F579B46}"/>
              </a:ext>
            </a:extLst>
          </p:cNvPr>
          <p:cNvSpPr>
            <a:spLocks noChangeArrowheads="1"/>
          </p:cNvSpPr>
          <p:nvPr/>
        </p:nvSpPr>
        <p:spPr bwMode="auto">
          <a:xfrm>
            <a:off x="609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8438" name="Footer Placeholder 5">
            <a:extLst>
              <a:ext uri="{FF2B5EF4-FFF2-40B4-BE49-F238E27FC236}">
                <a16:creationId xmlns:a16="http://schemas.microsoft.com/office/drawing/2014/main" id="{EB8F2989-93D6-42F5-BDCC-A8FAEA52E186}"/>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4FE08329-A4A4-47B1-88E1-1B3415128EAC}"/>
              </a:ext>
            </a:extLst>
          </p:cNvPr>
          <p:cNvSpPr/>
          <p:nvPr/>
        </p:nvSpPr>
        <p:spPr>
          <a:xfrm>
            <a:off x="5638800" y="3544700"/>
            <a:ext cx="2209800" cy="21703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E39F8FEC-546B-4AF3-B009-D4192690CB9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BD2110C-8E02-424A-A78D-613BD1867250}" type="slidenum">
              <a:rPr lang="en-US" altLang="en-US"/>
              <a:pPr eaLnBrk="1" hangingPunct="1"/>
              <a:t>26</a:t>
            </a:fld>
            <a:endParaRPr lang="en-US" altLang="en-US"/>
          </a:p>
        </p:txBody>
      </p:sp>
      <p:sp>
        <p:nvSpPr>
          <p:cNvPr id="19459" name="Rectangle 2">
            <a:extLst>
              <a:ext uri="{FF2B5EF4-FFF2-40B4-BE49-F238E27FC236}">
                <a16:creationId xmlns:a16="http://schemas.microsoft.com/office/drawing/2014/main" id="{3AD426AE-E3EA-43A0-87B9-A79DEF9E40F3}"/>
              </a:ext>
            </a:extLst>
          </p:cNvPr>
          <p:cNvSpPr>
            <a:spLocks noGrp="1" noChangeArrowheads="1"/>
          </p:cNvSpPr>
          <p:nvPr>
            <p:ph type="title"/>
          </p:nvPr>
        </p:nvSpPr>
        <p:spPr>
          <a:xfrm>
            <a:off x="457200" y="424362"/>
            <a:ext cx="7543800" cy="1295400"/>
          </a:xfrm>
        </p:spPr>
        <p:txBody>
          <a:bodyPr/>
          <a:lstStyle/>
          <a:p>
            <a:pPr eaLnBrk="1" hangingPunct="1"/>
            <a:r>
              <a:rPr lang="en-US" altLang="zh-CN" sz="3200" dirty="0">
                <a:ea typeface="宋体" panose="02010600030101010101" pitchFamily="2" charset="-122"/>
              </a:rPr>
              <a:t>Tracing a sequence of transactions </a:t>
            </a:r>
            <a:r>
              <a:rPr lang="en-US" altLang="zh-CN" sz="3200" u="sng" dirty="0">
                <a:ea typeface="宋体" panose="02010600030101010101" pitchFamily="2" charset="-122"/>
              </a:rPr>
              <a:t>resulting in many events</a:t>
            </a:r>
            <a:r>
              <a:rPr lang="zh-CN" altLang="en-US" sz="3200" u="sng" dirty="0">
                <a:ea typeface="宋体" panose="02010600030101010101" pitchFamily="2" charset="-122"/>
              </a:rPr>
              <a:t>（跟踪导致许多事件的交易序列）</a:t>
            </a:r>
            <a:endParaRPr lang="en-US" altLang="zh-CN" sz="3200" u="sng" dirty="0">
              <a:ea typeface="宋体" panose="02010600030101010101" pitchFamily="2" charset="-122"/>
            </a:endParaRPr>
          </a:p>
        </p:txBody>
      </p:sp>
      <p:pic>
        <p:nvPicPr>
          <p:cNvPr id="19460" name="Picture 5">
            <a:extLst>
              <a:ext uri="{FF2B5EF4-FFF2-40B4-BE49-F238E27FC236}">
                <a16:creationId xmlns:a16="http://schemas.microsoft.com/office/drawing/2014/main" id="{10B15B98-63F7-4066-BD5C-FA8FAB576D5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57200" y="1905000"/>
            <a:ext cx="8229600" cy="3602038"/>
          </a:xfrm>
          <a:noFill/>
        </p:spPr>
      </p:pic>
      <p:sp>
        <p:nvSpPr>
          <p:cNvPr id="19461" name="Rectangle 5">
            <a:extLst>
              <a:ext uri="{FF2B5EF4-FFF2-40B4-BE49-F238E27FC236}">
                <a16:creationId xmlns:a16="http://schemas.microsoft.com/office/drawing/2014/main" id="{88AE0AC6-9DD6-4C6E-91AD-9CEA9CC6409F}"/>
              </a:ext>
            </a:extLst>
          </p:cNvPr>
          <p:cNvSpPr>
            <a:spLocks noChangeArrowheads="1"/>
          </p:cNvSpPr>
          <p:nvPr/>
        </p:nvSpPr>
        <p:spPr bwMode="auto">
          <a:xfrm>
            <a:off x="8382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9462" name="Footer Placeholder 5">
            <a:extLst>
              <a:ext uri="{FF2B5EF4-FFF2-40B4-BE49-F238E27FC236}">
                <a16:creationId xmlns:a16="http://schemas.microsoft.com/office/drawing/2014/main" id="{3E11866F-D462-4EBB-A343-9FB4CEB4B3BA}"/>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ADB0015D-963C-4CD3-8C15-B7A8E5C9C6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8B94595-8970-4C26-8A9E-7C2F563E260D}" type="slidenum">
              <a:rPr lang="en-US" altLang="en-US"/>
              <a:pPr eaLnBrk="1" hangingPunct="1"/>
              <a:t>27</a:t>
            </a:fld>
            <a:endParaRPr lang="en-US" altLang="en-US"/>
          </a:p>
        </p:txBody>
      </p:sp>
      <p:sp>
        <p:nvSpPr>
          <p:cNvPr id="20483" name="Rectangle 2">
            <a:extLst>
              <a:ext uri="{FF2B5EF4-FFF2-40B4-BE49-F238E27FC236}">
                <a16:creationId xmlns:a16="http://schemas.microsoft.com/office/drawing/2014/main" id="{C5CD9B44-6128-426B-A531-FACEC652C8D1}"/>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Perfect Technology Assumption</a:t>
            </a:r>
            <a:r>
              <a:rPr lang="zh-CN" altLang="en-US" dirty="0">
                <a:ea typeface="宋体" panose="02010600030101010101" pitchFamily="2" charset="-122"/>
              </a:rPr>
              <a:t>（理想技术假设）</a:t>
            </a:r>
            <a:endParaRPr lang="en-US" altLang="zh-CN" dirty="0">
              <a:ea typeface="宋体" panose="02010600030101010101" pitchFamily="2" charset="-122"/>
            </a:endParaRPr>
          </a:p>
        </p:txBody>
      </p:sp>
      <p:sp>
        <p:nvSpPr>
          <p:cNvPr id="20484" name="Rectangle 8">
            <a:extLst>
              <a:ext uri="{FF2B5EF4-FFF2-40B4-BE49-F238E27FC236}">
                <a16:creationId xmlns:a16="http://schemas.microsoft.com/office/drawing/2014/main" id="{498224BA-42C2-477E-A444-EA9031466161}"/>
              </a:ext>
            </a:extLst>
          </p:cNvPr>
          <p:cNvSpPr>
            <a:spLocks noChangeArrowheads="1"/>
          </p:cNvSpPr>
          <p:nvPr/>
        </p:nvSpPr>
        <p:spPr bwMode="auto">
          <a:xfrm>
            <a:off x="457200" y="16002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20485" name="Rectangle 9">
            <a:extLst>
              <a:ext uri="{FF2B5EF4-FFF2-40B4-BE49-F238E27FC236}">
                <a16:creationId xmlns:a16="http://schemas.microsoft.com/office/drawing/2014/main" id="{5D6DCBA8-AC26-4D49-A984-A3364F7C28FC}"/>
              </a:ext>
            </a:extLst>
          </p:cNvPr>
          <p:cNvSpPr>
            <a:spLocks noChangeArrowheads="1"/>
          </p:cNvSpPr>
          <p:nvPr/>
        </p:nvSpPr>
        <p:spPr bwMode="auto">
          <a:xfrm>
            <a:off x="457200" y="144780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zh-CN" altLang="en-US" sz="2400" dirty="0"/>
              <a:t>理想技术假设：只有在最佳条件下系统才需要做出响应，这样的事件才应该在分析阶段考虑进去</a:t>
            </a:r>
            <a:endParaRPr lang="en-GB" altLang="zh-CN" sz="2400" dirty="0"/>
          </a:p>
        </p:txBody>
      </p:sp>
      <p:pic>
        <p:nvPicPr>
          <p:cNvPr id="20486" name="Picture 11">
            <a:extLst>
              <a:ext uri="{FF2B5EF4-FFF2-40B4-BE49-F238E27FC236}">
                <a16:creationId xmlns:a16="http://schemas.microsoft.com/office/drawing/2014/main" id="{EA11F8BD-FAA9-4CEC-B592-BADD19A9F12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8600" y="2400300"/>
            <a:ext cx="8686800" cy="3641725"/>
          </a:xfrm>
          <a:noFill/>
        </p:spPr>
      </p:pic>
      <p:sp>
        <p:nvSpPr>
          <p:cNvPr id="20487" name="Rectangle 7">
            <a:extLst>
              <a:ext uri="{FF2B5EF4-FFF2-40B4-BE49-F238E27FC236}">
                <a16:creationId xmlns:a16="http://schemas.microsoft.com/office/drawing/2014/main" id="{F92EE7C3-7E58-48FA-A253-3977F633C550}"/>
              </a:ext>
            </a:extLst>
          </p:cNvPr>
          <p:cNvSpPr>
            <a:spLocks noChangeArrowheads="1"/>
          </p:cNvSpPr>
          <p:nvPr/>
        </p:nvSpPr>
        <p:spPr bwMode="auto">
          <a:xfrm>
            <a:off x="8382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0488" name="Footer Placeholder 5">
            <a:extLst>
              <a:ext uri="{FF2B5EF4-FFF2-40B4-BE49-F238E27FC236}">
                <a16:creationId xmlns:a16="http://schemas.microsoft.com/office/drawing/2014/main" id="{5C09B962-AEDD-4C46-8D98-5619BAB22806}"/>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id="{D999F11D-D55F-4956-8D3B-2CC79D6346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3402B8D-0C77-4119-8790-7F27400B9F56}" type="slidenum">
              <a:rPr lang="en-US" altLang="en-US"/>
              <a:pPr eaLnBrk="1" hangingPunct="1"/>
              <a:t>28</a:t>
            </a:fld>
            <a:endParaRPr lang="en-US" altLang="en-US"/>
          </a:p>
        </p:txBody>
      </p:sp>
      <p:sp>
        <p:nvSpPr>
          <p:cNvPr id="21507" name="Rectangle 2">
            <a:extLst>
              <a:ext uri="{FF2B5EF4-FFF2-40B4-BE49-F238E27FC236}">
                <a16:creationId xmlns:a16="http://schemas.microsoft.com/office/drawing/2014/main" id="{B295C0D3-438E-400E-990E-B0386E83E380}"/>
              </a:ext>
            </a:extLst>
          </p:cNvPr>
          <p:cNvSpPr>
            <a:spLocks noGrp="1" noChangeArrowheads="1"/>
          </p:cNvSpPr>
          <p:nvPr>
            <p:ph type="title"/>
          </p:nvPr>
        </p:nvSpPr>
        <p:spPr/>
        <p:txBody>
          <a:bodyPr/>
          <a:lstStyle/>
          <a:p>
            <a:pPr eaLnBrk="1" hangingPunct="1"/>
            <a:r>
              <a:rPr lang="en-US" altLang="zh-CN" sz="3500" dirty="0">
                <a:ea typeface="宋体" panose="02010600030101010101" pitchFamily="2" charset="-122"/>
              </a:rPr>
              <a:t>Event Decomposition Technique:</a:t>
            </a:r>
            <a:br>
              <a:rPr lang="en-US" altLang="zh-CN" sz="3500" dirty="0">
                <a:ea typeface="宋体" panose="02010600030101010101" pitchFamily="2" charset="-122"/>
              </a:rPr>
            </a:br>
            <a:r>
              <a:rPr lang="en-US" altLang="zh-CN" sz="3500" dirty="0">
                <a:ea typeface="宋体" panose="02010600030101010101" pitchFamily="2" charset="-122"/>
              </a:rPr>
              <a:t>Specific Steps</a:t>
            </a:r>
          </a:p>
        </p:txBody>
      </p:sp>
      <p:sp>
        <p:nvSpPr>
          <p:cNvPr id="21508" name="Rectangle 3">
            <a:extLst>
              <a:ext uri="{FF2B5EF4-FFF2-40B4-BE49-F238E27FC236}">
                <a16:creationId xmlns:a16="http://schemas.microsoft.com/office/drawing/2014/main" id="{68E4834A-5FC9-46C9-9BE5-14CF3E80058B}"/>
              </a:ext>
            </a:extLst>
          </p:cNvPr>
          <p:cNvSpPr>
            <a:spLocks noGrp="1" noChangeArrowheads="1"/>
          </p:cNvSpPr>
          <p:nvPr>
            <p:ph type="body" idx="1"/>
          </p:nvPr>
        </p:nvSpPr>
        <p:spPr>
          <a:xfrm>
            <a:off x="457200" y="1600200"/>
            <a:ext cx="8458200" cy="4530725"/>
          </a:xfrm>
        </p:spPr>
        <p:txBody>
          <a:bodyPr/>
          <a:lstStyle/>
          <a:p>
            <a:pPr marL="571500" indent="-571500" eaLnBrk="1" hangingPunct="1">
              <a:lnSpc>
                <a:spcPct val="90000"/>
              </a:lnSpc>
              <a:buFont typeface="Wingdings" panose="05000000000000000000" pitchFamily="2" charset="2"/>
              <a:buAutoNum type="arabicPeriod"/>
            </a:pPr>
            <a:r>
              <a:rPr lang="en-US" altLang="zh-CN" sz="2400" dirty="0">
                <a:ea typeface="宋体" panose="02010600030101010101" pitchFamily="2" charset="-122"/>
              </a:rPr>
              <a:t>Consider the </a:t>
            </a:r>
            <a:r>
              <a:rPr lang="en-US" altLang="zh-CN" sz="2400" dirty="0">
                <a:solidFill>
                  <a:srgbClr val="C00000"/>
                </a:solidFill>
                <a:ea typeface="宋体" panose="02010600030101010101" pitchFamily="2" charset="-122"/>
              </a:rPr>
              <a:t>external events </a:t>
            </a:r>
            <a:r>
              <a:rPr lang="en-US" altLang="zh-CN" sz="2400" dirty="0">
                <a:ea typeface="宋体" panose="02010600030101010101" pitchFamily="2" charset="-122"/>
              </a:rPr>
              <a:t>in the system environment that require a response from the system by using the checklist</a:t>
            </a:r>
            <a:r>
              <a:rPr lang="zh-CN" altLang="en-US" sz="2400" dirty="0">
                <a:ea typeface="宋体" panose="02010600030101010101" pitchFamily="2" charset="-122"/>
              </a:rPr>
              <a:t>（考虑系统环境中的</a:t>
            </a:r>
            <a:r>
              <a:rPr lang="zh-CN" altLang="en-US" sz="2400" u="sng" dirty="0">
                <a:ea typeface="宋体" panose="02010600030101010101" pitchFamily="2" charset="-122"/>
              </a:rPr>
              <a:t>外部事件</a:t>
            </a:r>
            <a:r>
              <a:rPr lang="zh-CN" altLang="en-US" sz="2400" dirty="0">
                <a:ea typeface="宋体" panose="02010600030101010101" pitchFamily="2" charset="-122"/>
              </a:rPr>
              <a:t>，需要从系统获得响应）</a:t>
            </a:r>
            <a:endParaRPr lang="en-US" altLang="zh-CN" sz="2400" dirty="0">
              <a:ea typeface="宋体" panose="02010600030101010101" pitchFamily="2" charset="-122"/>
            </a:endParaRPr>
          </a:p>
          <a:p>
            <a:pPr marL="571500" indent="-571500" eaLnBrk="1" hangingPunct="1">
              <a:lnSpc>
                <a:spcPct val="90000"/>
              </a:lnSpc>
              <a:buFont typeface="Wingdings" panose="05000000000000000000" pitchFamily="2" charset="2"/>
              <a:buAutoNum type="arabicPeriod"/>
            </a:pPr>
            <a:r>
              <a:rPr lang="en-US" altLang="zh-CN" sz="2400" dirty="0">
                <a:solidFill>
                  <a:srgbClr val="C00000"/>
                </a:solidFill>
                <a:ea typeface="宋体" panose="02010600030101010101" pitchFamily="2" charset="-122"/>
              </a:rPr>
              <a:t>For each external event</a:t>
            </a:r>
            <a:r>
              <a:rPr lang="en-US" altLang="zh-CN" sz="2400" dirty="0">
                <a:ea typeface="宋体" panose="02010600030101010101" pitchFamily="2" charset="-122"/>
              </a:rPr>
              <a:t>, identify and name the use case that the system requires</a:t>
            </a:r>
            <a:r>
              <a:rPr lang="zh-CN" altLang="en-US" sz="2400" dirty="0">
                <a:ea typeface="宋体" panose="02010600030101010101" pitchFamily="2" charset="-122"/>
              </a:rPr>
              <a:t>（对于每个</a:t>
            </a:r>
            <a:r>
              <a:rPr lang="zh-CN" altLang="en-US" sz="2400" u="sng" dirty="0">
                <a:ea typeface="宋体" panose="02010600030101010101" pitchFamily="2" charset="-122"/>
              </a:rPr>
              <a:t>外部事件</a:t>
            </a:r>
            <a:r>
              <a:rPr lang="zh-CN" altLang="en-US" sz="2400" dirty="0">
                <a:ea typeface="宋体" panose="02010600030101010101" pitchFamily="2" charset="-122"/>
              </a:rPr>
              <a:t>，设计用例）</a:t>
            </a:r>
            <a:endParaRPr lang="en-US" altLang="zh-CN" sz="2400" dirty="0">
              <a:ea typeface="宋体" panose="02010600030101010101" pitchFamily="2" charset="-122"/>
            </a:endParaRPr>
          </a:p>
          <a:p>
            <a:pPr marL="571500" indent="-571500" eaLnBrk="1" hangingPunct="1">
              <a:lnSpc>
                <a:spcPct val="90000"/>
              </a:lnSpc>
              <a:buFont typeface="Wingdings" panose="05000000000000000000" pitchFamily="2" charset="2"/>
              <a:buAutoNum type="arabicPeriod"/>
            </a:pPr>
            <a:r>
              <a:rPr lang="en-US" altLang="zh-CN" sz="2400" dirty="0">
                <a:ea typeface="宋体" panose="02010600030101010101" pitchFamily="2" charset="-122"/>
              </a:rPr>
              <a:t>Consider the</a:t>
            </a:r>
            <a:r>
              <a:rPr lang="en-US" altLang="zh-CN" sz="2400" dirty="0">
                <a:solidFill>
                  <a:srgbClr val="C00000"/>
                </a:solidFill>
                <a:ea typeface="宋体" panose="02010600030101010101" pitchFamily="2" charset="-122"/>
              </a:rPr>
              <a:t> temporal events </a:t>
            </a:r>
            <a:r>
              <a:rPr lang="en-US" altLang="zh-CN" sz="2400" dirty="0">
                <a:ea typeface="宋体" panose="02010600030101010101" pitchFamily="2" charset="-122"/>
              </a:rPr>
              <a:t>that require a response from the system by using the checklist </a:t>
            </a:r>
            <a:r>
              <a:rPr lang="zh-CN" altLang="en-US" sz="2400" dirty="0">
                <a:ea typeface="宋体" panose="02010600030101010101" pitchFamily="2" charset="-122"/>
              </a:rPr>
              <a:t>（考虑需要系统响应的</a:t>
            </a:r>
            <a:r>
              <a:rPr lang="zh-CN" altLang="en-US" sz="2400" u="sng" dirty="0">
                <a:ea typeface="宋体" panose="02010600030101010101" pitchFamily="2" charset="-122"/>
              </a:rPr>
              <a:t>时间事件</a:t>
            </a:r>
            <a:r>
              <a:rPr lang="zh-CN" altLang="en-US" sz="2400" dirty="0">
                <a:ea typeface="宋体" panose="02010600030101010101" pitchFamily="2" charset="-122"/>
              </a:rPr>
              <a:t>）</a:t>
            </a:r>
            <a:endParaRPr lang="en-US" altLang="zh-CN" sz="2400" dirty="0">
              <a:ea typeface="宋体" panose="02010600030101010101" pitchFamily="2" charset="-122"/>
            </a:endParaRPr>
          </a:p>
          <a:p>
            <a:pPr marL="571500" indent="-571500" eaLnBrk="1" hangingPunct="1">
              <a:lnSpc>
                <a:spcPct val="90000"/>
              </a:lnSpc>
              <a:buFont typeface="Wingdings" panose="05000000000000000000" pitchFamily="2" charset="2"/>
              <a:buAutoNum type="arabicPeriod"/>
            </a:pPr>
            <a:r>
              <a:rPr lang="en-US" altLang="zh-CN" sz="2400" dirty="0">
                <a:solidFill>
                  <a:srgbClr val="C00000"/>
                </a:solidFill>
                <a:ea typeface="宋体" panose="02010600030101010101" pitchFamily="2" charset="-122"/>
              </a:rPr>
              <a:t>For each temporal event</a:t>
            </a:r>
            <a:r>
              <a:rPr lang="en-US" altLang="zh-CN" sz="2400" dirty="0">
                <a:ea typeface="宋体" panose="02010600030101010101" pitchFamily="2" charset="-122"/>
              </a:rPr>
              <a:t>, identify and name the use case that the system requires and then </a:t>
            </a:r>
            <a:r>
              <a:rPr lang="en-US" altLang="zh-CN" sz="2400" u="sng" dirty="0">
                <a:ea typeface="宋体" panose="02010600030101010101" pitchFamily="2" charset="-122"/>
              </a:rPr>
              <a:t>establish the point of time that will trigger the use case</a:t>
            </a:r>
            <a:r>
              <a:rPr lang="zh-CN" altLang="en-US" sz="2400" dirty="0">
                <a:ea typeface="宋体" panose="02010600030101010101" pitchFamily="2" charset="-122"/>
              </a:rPr>
              <a:t>（对于</a:t>
            </a:r>
            <a:r>
              <a:rPr lang="zh-CN" altLang="en-US" sz="2400" u="sng" dirty="0">
                <a:ea typeface="宋体" panose="02010600030101010101" pitchFamily="2" charset="-122"/>
              </a:rPr>
              <a:t>时间事件</a:t>
            </a:r>
            <a:r>
              <a:rPr lang="zh-CN" altLang="en-US" sz="2400" dirty="0">
                <a:ea typeface="宋体" panose="02010600030101010101" pitchFamily="2" charset="-122"/>
              </a:rPr>
              <a:t>，设计用例，建立触发用例的时间点）</a:t>
            </a:r>
            <a:endParaRPr lang="en-GB" altLang="zh-CN" sz="2400" dirty="0"/>
          </a:p>
        </p:txBody>
      </p:sp>
      <p:sp>
        <p:nvSpPr>
          <p:cNvPr id="21509" name="Rectangle 5">
            <a:extLst>
              <a:ext uri="{FF2B5EF4-FFF2-40B4-BE49-F238E27FC236}">
                <a16:creationId xmlns:a16="http://schemas.microsoft.com/office/drawing/2014/main" id="{0C851263-45F0-4D72-915F-C065366A48BB}"/>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1510" name="Footer Placeholder 5">
            <a:extLst>
              <a:ext uri="{FF2B5EF4-FFF2-40B4-BE49-F238E27FC236}">
                <a16:creationId xmlns:a16="http://schemas.microsoft.com/office/drawing/2014/main" id="{09113944-E8AF-4C9F-B6B9-6E2387506E2A}"/>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1289B31A-4C49-4E98-9475-0D806FC4FDC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14F1A66-69B7-40B1-A49A-4AA4ADA4495C}" type="slidenum">
              <a:rPr lang="en-US" altLang="en-US"/>
              <a:pPr eaLnBrk="1" hangingPunct="1"/>
              <a:t>29</a:t>
            </a:fld>
            <a:endParaRPr lang="en-US" altLang="en-US"/>
          </a:p>
        </p:txBody>
      </p:sp>
      <p:sp>
        <p:nvSpPr>
          <p:cNvPr id="22531" name="Rectangle 2">
            <a:extLst>
              <a:ext uri="{FF2B5EF4-FFF2-40B4-BE49-F238E27FC236}">
                <a16:creationId xmlns:a16="http://schemas.microsoft.com/office/drawing/2014/main" id="{01B6F832-0A41-4A11-8CB3-FC6D68000D17}"/>
              </a:ext>
            </a:extLst>
          </p:cNvPr>
          <p:cNvSpPr>
            <a:spLocks noGrp="1" noChangeArrowheads="1"/>
          </p:cNvSpPr>
          <p:nvPr>
            <p:ph type="title"/>
          </p:nvPr>
        </p:nvSpPr>
        <p:spPr/>
        <p:txBody>
          <a:bodyPr/>
          <a:lstStyle/>
          <a:p>
            <a:pPr eaLnBrk="1" hangingPunct="1"/>
            <a:r>
              <a:rPr lang="en-US" altLang="zh-CN" sz="3500">
                <a:ea typeface="宋体" panose="02010600030101010101" pitchFamily="2" charset="-122"/>
              </a:rPr>
              <a:t>Event Decomposition Technique:</a:t>
            </a:r>
            <a:br>
              <a:rPr lang="en-US" altLang="zh-CN" sz="3500">
                <a:ea typeface="宋体" panose="02010600030101010101" pitchFamily="2" charset="-122"/>
              </a:rPr>
            </a:br>
            <a:r>
              <a:rPr lang="en-US" altLang="zh-CN" sz="3500">
                <a:ea typeface="宋体" panose="02010600030101010101" pitchFamily="2" charset="-122"/>
              </a:rPr>
              <a:t>Specific Steps </a:t>
            </a:r>
            <a:r>
              <a:rPr lang="en-US" altLang="zh-CN" sz="2800">
                <a:ea typeface="宋体" panose="02010600030101010101" pitchFamily="2" charset="-122"/>
              </a:rPr>
              <a:t>(continued)</a:t>
            </a:r>
          </a:p>
        </p:txBody>
      </p:sp>
      <p:sp>
        <p:nvSpPr>
          <p:cNvPr id="22532" name="Rectangle 3">
            <a:extLst>
              <a:ext uri="{FF2B5EF4-FFF2-40B4-BE49-F238E27FC236}">
                <a16:creationId xmlns:a16="http://schemas.microsoft.com/office/drawing/2014/main" id="{A65316B9-9712-4970-B73C-9801B612E5C9}"/>
              </a:ext>
            </a:extLst>
          </p:cNvPr>
          <p:cNvSpPr>
            <a:spLocks noGrp="1" noChangeArrowheads="1"/>
          </p:cNvSpPr>
          <p:nvPr>
            <p:ph type="body" idx="1"/>
          </p:nvPr>
        </p:nvSpPr>
        <p:spPr>
          <a:xfrm>
            <a:off x="457200" y="1600200"/>
            <a:ext cx="8763000" cy="4530725"/>
          </a:xfrm>
        </p:spPr>
        <p:txBody>
          <a:bodyPr/>
          <a:lstStyle/>
          <a:p>
            <a:pPr marL="571500" indent="-571500" eaLnBrk="1" hangingPunct="1">
              <a:lnSpc>
                <a:spcPct val="80000"/>
              </a:lnSpc>
              <a:buFont typeface="Wingdings" panose="05000000000000000000" pitchFamily="2" charset="2"/>
              <a:buAutoNum type="arabicPeriod" startAt="5"/>
            </a:pPr>
            <a:r>
              <a:rPr lang="en-US" altLang="zh-CN" sz="2600" dirty="0">
                <a:ea typeface="宋体" panose="02010600030101010101" pitchFamily="2" charset="-122"/>
              </a:rPr>
              <a:t>Consider the </a:t>
            </a:r>
            <a:r>
              <a:rPr lang="en-US" altLang="zh-CN" sz="2600" dirty="0">
                <a:solidFill>
                  <a:srgbClr val="C00000"/>
                </a:solidFill>
                <a:ea typeface="宋体" panose="02010600030101010101" pitchFamily="2" charset="-122"/>
              </a:rPr>
              <a:t>state events</a:t>
            </a:r>
            <a:r>
              <a:rPr lang="zh-CN" altLang="en-US" sz="2600" dirty="0">
                <a:solidFill>
                  <a:srgbClr val="C00000"/>
                </a:solidFill>
                <a:ea typeface="宋体" panose="02010600030101010101" pitchFamily="2" charset="-122"/>
              </a:rPr>
              <a:t>（状态事件）</a:t>
            </a:r>
            <a:r>
              <a:rPr lang="en-US" altLang="zh-CN" sz="2600" dirty="0">
                <a:solidFill>
                  <a:srgbClr val="C00000"/>
                </a:solidFill>
                <a:ea typeface="宋体" panose="02010600030101010101" pitchFamily="2" charset="-122"/>
              </a:rPr>
              <a:t> </a:t>
            </a:r>
            <a:r>
              <a:rPr lang="en-US" altLang="zh-CN" sz="2600" dirty="0">
                <a:ea typeface="宋体" panose="02010600030101010101" pitchFamily="2" charset="-122"/>
              </a:rPr>
              <a:t>that the system might respond to, particularly if it is a real-time system in which devices or internal state changes trigger use cases.</a:t>
            </a:r>
            <a:r>
              <a:rPr lang="zh-CN" altLang="en-US" sz="2600" dirty="0">
                <a:ea typeface="宋体" panose="02010600030101010101" pitchFamily="2" charset="-122"/>
              </a:rPr>
              <a:t>（设置</a:t>
            </a:r>
            <a:r>
              <a:rPr lang="zh-CN" altLang="en-US" sz="2600" u="sng" dirty="0">
                <a:ea typeface="宋体" panose="02010600030101010101" pitchFamily="2" charset="-122"/>
              </a:rPr>
              <a:t>状态事件</a:t>
            </a:r>
            <a:r>
              <a:rPr lang="zh-CN" altLang="en-US" sz="2600" dirty="0">
                <a:ea typeface="宋体" panose="02010600030101010101" pitchFamily="2" charset="-122"/>
              </a:rPr>
              <a:t>的触发用例）</a:t>
            </a:r>
            <a:endParaRPr lang="en-US" altLang="zh-CN" sz="2600" dirty="0">
              <a:ea typeface="宋体" panose="02010600030101010101" pitchFamily="2" charset="-122"/>
            </a:endParaRPr>
          </a:p>
          <a:p>
            <a:pPr marL="571500" indent="-571500" eaLnBrk="1" hangingPunct="1">
              <a:lnSpc>
                <a:spcPct val="80000"/>
              </a:lnSpc>
              <a:buFont typeface="Wingdings" panose="05000000000000000000" pitchFamily="2" charset="2"/>
              <a:buAutoNum type="arabicPeriod" startAt="5"/>
            </a:pPr>
            <a:r>
              <a:rPr lang="en-US" altLang="zh-CN" sz="2600" dirty="0">
                <a:solidFill>
                  <a:srgbClr val="C00000"/>
                </a:solidFill>
                <a:ea typeface="宋体" panose="02010600030101010101" pitchFamily="2" charset="-122"/>
              </a:rPr>
              <a:t>For each state event, </a:t>
            </a:r>
            <a:r>
              <a:rPr lang="en-US" altLang="zh-CN" sz="2600" dirty="0">
                <a:ea typeface="宋体" panose="02010600030101010101" pitchFamily="2" charset="-122"/>
              </a:rPr>
              <a:t>identify and name the use case that the system requires and then </a:t>
            </a:r>
            <a:r>
              <a:rPr lang="en-US" altLang="zh-CN" sz="2600" u="sng" dirty="0">
                <a:ea typeface="宋体" panose="02010600030101010101" pitchFamily="2" charset="-122"/>
              </a:rPr>
              <a:t>define the state change.</a:t>
            </a:r>
            <a:r>
              <a:rPr lang="zh-CN" altLang="en-US" sz="2600" dirty="0">
                <a:ea typeface="宋体" panose="02010600030101010101" pitchFamily="2" charset="-122"/>
              </a:rPr>
              <a:t>（设计状态事件的状态改变）</a:t>
            </a:r>
            <a:endParaRPr lang="en-US" altLang="zh-CN" sz="2600" dirty="0">
              <a:ea typeface="宋体" panose="02010600030101010101" pitchFamily="2" charset="-122"/>
            </a:endParaRPr>
          </a:p>
          <a:p>
            <a:pPr marL="571500" indent="-571500" eaLnBrk="1" hangingPunct="1">
              <a:lnSpc>
                <a:spcPct val="80000"/>
              </a:lnSpc>
              <a:buFont typeface="Wingdings" panose="05000000000000000000" pitchFamily="2" charset="2"/>
              <a:buAutoNum type="arabicPeriod" startAt="5"/>
            </a:pPr>
            <a:r>
              <a:rPr lang="en-US" altLang="zh-CN" sz="2600" dirty="0">
                <a:ea typeface="宋体" panose="02010600030101010101" pitchFamily="2" charset="-122"/>
              </a:rPr>
              <a:t>When events and use cases are defined, check to see if they are required by using the </a:t>
            </a:r>
            <a:r>
              <a:rPr lang="en-US" altLang="zh-CN" sz="2600" dirty="0">
                <a:solidFill>
                  <a:srgbClr val="C00000"/>
                </a:solidFill>
                <a:ea typeface="宋体" panose="02010600030101010101" pitchFamily="2" charset="-122"/>
              </a:rPr>
              <a:t>perfect technology assumption</a:t>
            </a:r>
            <a:r>
              <a:rPr lang="en-US" altLang="zh-CN" sz="2600" dirty="0">
                <a:ea typeface="宋体" panose="02010600030101010101" pitchFamily="2" charset="-122"/>
              </a:rPr>
              <a:t>. Do not include events that involve such system controls as login, logout, change password, and backup or restore the database, as these are put in later.</a:t>
            </a:r>
            <a:r>
              <a:rPr lang="zh-CN" altLang="en-US" sz="2600" dirty="0">
                <a:ea typeface="宋体" panose="02010600030101010101" pitchFamily="2" charset="-122"/>
              </a:rPr>
              <a:t>（检查完美技术假设。不涉及登陆、注销、更改密码、备份数据库等事件，这些事件稍后添加）</a:t>
            </a:r>
            <a:endParaRPr lang="en-GB" altLang="zh-CN" sz="2600" dirty="0"/>
          </a:p>
        </p:txBody>
      </p:sp>
      <p:sp>
        <p:nvSpPr>
          <p:cNvPr id="22533" name="Rectangle 5">
            <a:extLst>
              <a:ext uri="{FF2B5EF4-FFF2-40B4-BE49-F238E27FC236}">
                <a16:creationId xmlns:a16="http://schemas.microsoft.com/office/drawing/2014/main" id="{4C7C629C-BE9D-4E4C-847B-3A548E6BED38}"/>
              </a:ext>
            </a:extLst>
          </p:cNvPr>
          <p:cNvSpPr>
            <a:spLocks noChangeArrowheads="1"/>
          </p:cNvSpPr>
          <p:nvPr/>
        </p:nvSpPr>
        <p:spPr bwMode="auto">
          <a:xfrm>
            <a:off x="6858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2534" name="Footer Placeholder 5">
            <a:extLst>
              <a:ext uri="{FF2B5EF4-FFF2-40B4-BE49-F238E27FC236}">
                <a16:creationId xmlns:a16="http://schemas.microsoft.com/office/drawing/2014/main" id="{5056F14C-E57A-422A-BDD7-B0B5C810EA46}"/>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6622842B-85E7-4CBE-BF70-4C065EAA39F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B7DE4F2-10E3-4A4D-A2E1-B9DC3DE14F86}" type="slidenum">
              <a:rPr lang="en-US" altLang="en-US"/>
              <a:pPr eaLnBrk="1" hangingPunct="1"/>
              <a:t>30</a:t>
            </a:fld>
            <a:endParaRPr lang="en-US" altLang="en-US"/>
          </a:p>
        </p:txBody>
      </p:sp>
      <p:sp>
        <p:nvSpPr>
          <p:cNvPr id="23555" name="Rectangle 2">
            <a:extLst>
              <a:ext uri="{FF2B5EF4-FFF2-40B4-BE49-F238E27FC236}">
                <a16:creationId xmlns:a16="http://schemas.microsoft.com/office/drawing/2014/main" id="{1E76D325-ADA7-4185-A9AF-D3CCEDDCEAF4}"/>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Event Decomposition Technique: Benefits</a:t>
            </a:r>
          </a:p>
        </p:txBody>
      </p:sp>
      <p:sp>
        <p:nvSpPr>
          <p:cNvPr id="23556" name="Rectangle 3">
            <a:extLst>
              <a:ext uri="{FF2B5EF4-FFF2-40B4-BE49-F238E27FC236}">
                <a16:creationId xmlns:a16="http://schemas.microsoft.com/office/drawing/2014/main" id="{8B4C7CDC-B356-443B-A350-F30DCFCF4126}"/>
              </a:ext>
            </a:extLst>
          </p:cNvPr>
          <p:cNvSpPr>
            <a:spLocks noGrp="1" noChangeArrowheads="1"/>
          </p:cNvSpPr>
          <p:nvPr>
            <p:ph type="body" idx="1"/>
          </p:nvPr>
        </p:nvSpPr>
        <p:spPr>
          <a:xfrm>
            <a:off x="457200" y="1600200"/>
            <a:ext cx="8763000" cy="4530725"/>
          </a:xfrm>
        </p:spPr>
        <p:txBody>
          <a:bodyPr/>
          <a:lstStyle/>
          <a:p>
            <a:pPr marL="571500" indent="-571500" eaLnBrk="1" hangingPunct="1">
              <a:lnSpc>
                <a:spcPct val="90000"/>
              </a:lnSpc>
            </a:pPr>
            <a:r>
              <a:rPr lang="en-GB" altLang="zh-CN" sz="2600" dirty="0">
                <a:solidFill>
                  <a:srgbClr val="C00000"/>
                </a:solidFill>
              </a:rPr>
              <a:t>Events are broader than user goal: Capture temporal and state events</a:t>
            </a:r>
            <a:r>
              <a:rPr lang="zh-CN" altLang="en-US" sz="2600" dirty="0">
                <a:solidFill>
                  <a:srgbClr val="C00000"/>
                </a:solidFill>
              </a:rPr>
              <a:t>（事件比用户目标更广泛：捕获时间和状态事件）</a:t>
            </a:r>
            <a:endParaRPr lang="en-GB" altLang="zh-CN" sz="2600" dirty="0">
              <a:solidFill>
                <a:srgbClr val="C00000"/>
              </a:solidFill>
            </a:endParaRPr>
          </a:p>
          <a:p>
            <a:pPr marL="571500" indent="-571500" eaLnBrk="1" hangingPunct="1">
              <a:lnSpc>
                <a:spcPct val="90000"/>
              </a:lnSpc>
            </a:pPr>
            <a:r>
              <a:rPr lang="en-GB" altLang="zh-CN" sz="2600" dirty="0"/>
              <a:t>Help decompose at the right level of analysis: an elementary business process (EBP)</a:t>
            </a:r>
            <a:r>
              <a:rPr lang="zh-CN" altLang="en-US" sz="2600" dirty="0"/>
              <a:t>（基本业务流程）</a:t>
            </a:r>
            <a:endParaRPr lang="en-GB" altLang="zh-CN" sz="2600" dirty="0"/>
          </a:p>
          <a:p>
            <a:pPr marL="571500" indent="-571500" eaLnBrk="1" hangingPunct="1">
              <a:lnSpc>
                <a:spcPct val="90000"/>
              </a:lnSpc>
            </a:pPr>
            <a:r>
              <a:rPr lang="en-GB" altLang="zh-CN" sz="2600" dirty="0"/>
              <a:t>EBP is a fundamental business process performed by one person, in one place, in response to a business event</a:t>
            </a:r>
            <a:r>
              <a:rPr lang="zh-CN" altLang="en-US" sz="2600" dirty="0"/>
              <a:t>（</a:t>
            </a:r>
            <a:r>
              <a:rPr lang="en-US" altLang="zh-CN" sz="2600" dirty="0"/>
              <a:t>EBP</a:t>
            </a:r>
            <a:r>
              <a:rPr lang="zh-CN" altLang="en-US" sz="2600" dirty="0"/>
              <a:t>是基本的业务流程）</a:t>
            </a:r>
            <a:endParaRPr lang="en-GB" altLang="zh-CN" sz="2600" dirty="0"/>
          </a:p>
          <a:p>
            <a:pPr marL="571500" indent="-571500" eaLnBrk="1" hangingPunct="1">
              <a:lnSpc>
                <a:spcPct val="90000"/>
              </a:lnSpc>
            </a:pPr>
            <a:r>
              <a:rPr lang="en-GB" altLang="zh-CN" sz="2600" dirty="0"/>
              <a:t>Uses perfect technology assumption to make sure functions that support the users work are identified and not additional functions for security and system controls</a:t>
            </a:r>
            <a:r>
              <a:rPr lang="zh-CN" altLang="en-US" sz="2600" dirty="0"/>
              <a:t>（使用完美技术假设来识别用例）</a:t>
            </a:r>
            <a:endParaRPr lang="en-GB" altLang="zh-CN" sz="2800" dirty="0"/>
          </a:p>
        </p:txBody>
      </p:sp>
      <p:sp>
        <p:nvSpPr>
          <p:cNvPr id="23557" name="Rectangle 5">
            <a:extLst>
              <a:ext uri="{FF2B5EF4-FFF2-40B4-BE49-F238E27FC236}">
                <a16:creationId xmlns:a16="http://schemas.microsoft.com/office/drawing/2014/main" id="{74C3B2A0-06BB-448F-A7E6-147608C5B8AF}"/>
              </a:ext>
            </a:extLst>
          </p:cNvPr>
          <p:cNvSpPr>
            <a:spLocks noChangeArrowheads="1"/>
          </p:cNvSpPr>
          <p:nvPr/>
        </p:nvSpPr>
        <p:spPr bwMode="auto">
          <a:xfrm>
            <a:off x="609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3558" name="Footer Placeholder 5">
            <a:extLst>
              <a:ext uri="{FF2B5EF4-FFF2-40B4-BE49-F238E27FC236}">
                <a16:creationId xmlns:a16="http://schemas.microsoft.com/office/drawing/2014/main" id="{7021B74E-630A-460D-B5EA-7ED2A5696F27}"/>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55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5D0B699-766D-4AE3-86C5-1C46146626D0}"/>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33FF5221-A20C-41B6-ABF9-499959911FC3}"/>
              </a:ext>
            </a:extLst>
          </p:cNvPr>
          <p:cNvSpPr>
            <a:spLocks noGrp="1"/>
          </p:cNvSpPr>
          <p:nvPr>
            <p:ph type="sldNum" sz="quarter" idx="12"/>
          </p:nvPr>
        </p:nvSpPr>
        <p:spPr/>
        <p:txBody>
          <a:bodyPr/>
          <a:lstStyle/>
          <a:p>
            <a:fld id="{78D5303B-8D19-47AB-A097-F6A1F5D56D03}" type="slidenum">
              <a:rPr lang="en-US" altLang="en-US" smtClean="0"/>
              <a:pPr/>
              <a:t>31</a:t>
            </a:fld>
            <a:endParaRPr lang="en-US" altLang="en-US"/>
          </a:p>
        </p:txBody>
      </p:sp>
      <p:sp>
        <p:nvSpPr>
          <p:cNvPr id="8" name="文本框 7">
            <a:extLst>
              <a:ext uri="{FF2B5EF4-FFF2-40B4-BE49-F238E27FC236}">
                <a16:creationId xmlns:a16="http://schemas.microsoft.com/office/drawing/2014/main" id="{43D8186D-6C4F-40AB-98B3-CCC52901F90D}"/>
              </a:ext>
            </a:extLst>
          </p:cNvPr>
          <p:cNvSpPr txBox="1"/>
          <p:nvPr>
            <p:custDataLst>
              <p:tags r:id="rId2"/>
            </p:custDataLst>
          </p:nvPr>
        </p:nvSpPr>
        <p:spPr>
          <a:xfrm>
            <a:off x="800100" y="2286000"/>
            <a:ext cx="7315200" cy="2143125"/>
          </a:xfrm>
          <a:prstGeom prst="rect">
            <a:avLst/>
          </a:prstGeom>
          <a:noFill/>
        </p:spPr>
        <p:txBody>
          <a:bodyPr vert="horz" wrap="square" rtlCol="0" anchor="ctr" anchorCtr="0">
            <a:noAutofit/>
          </a:bodyPr>
          <a:lstStyle/>
          <a:p>
            <a:r>
              <a:rPr lang="en-US" altLang="zh-CN" sz="2800" dirty="0">
                <a:latin typeface="Arial Black" panose="020B0A04020102020204" pitchFamily="34" charset="0"/>
              </a:rPr>
              <a:t>List events occurred on the first day when you registered yourself for the university.</a:t>
            </a:r>
          </a:p>
          <a:p>
            <a:endParaRPr lang="en-US" altLang="zh-CN" sz="2800" dirty="0">
              <a:latin typeface="Arial Black" panose="020B0A04020102020204" pitchFamily="34" charset="0"/>
            </a:endParaRPr>
          </a:p>
          <a:p>
            <a:r>
              <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	</a:t>
            </a:r>
            <a:r>
              <a:rPr lang="zh-CN" altLang="en-US"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注册新生账号</a:t>
            </a:r>
            <a:endPar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a:p>
            <a:r>
              <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	</a:t>
            </a:r>
            <a:r>
              <a:rPr lang="zh-CN" altLang="en-US"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办理学生卡</a:t>
            </a:r>
            <a:endPar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a:p>
            <a:r>
              <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	</a:t>
            </a:r>
            <a:r>
              <a:rPr lang="zh-CN" altLang="en-US"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办理住宿</a:t>
            </a:r>
            <a:endPar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a:p>
            <a:r>
              <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	</a:t>
            </a:r>
            <a:r>
              <a:rPr lang="zh-CN" altLang="en-US"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购买新书</a:t>
            </a:r>
            <a:endPar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a:p>
            <a:r>
              <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	…</a:t>
            </a:r>
            <a:endParaRPr lang="zh-CN" altLang="en-US"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p:txBody>
      </p:sp>
      <p:sp>
        <p:nvSpPr>
          <p:cNvPr id="9" name="矩形: 圆角 8">
            <a:extLst>
              <a:ext uri="{FF2B5EF4-FFF2-40B4-BE49-F238E27FC236}">
                <a16:creationId xmlns:a16="http://schemas.microsoft.com/office/drawing/2014/main" id="{A81AE0F5-EF80-4E8A-AFA6-4319F215478A}"/>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5" name="矩形 14">
            <a:extLst>
              <a:ext uri="{FF2B5EF4-FFF2-40B4-BE49-F238E27FC236}">
                <a16:creationId xmlns:a16="http://schemas.microsoft.com/office/drawing/2014/main" id="{BC330BFB-89FA-44E8-95A2-0C2CB003A17F}"/>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4" name="组合 13">
            <a:extLst>
              <a:ext uri="{FF2B5EF4-FFF2-40B4-BE49-F238E27FC236}">
                <a16:creationId xmlns:a16="http://schemas.microsoft.com/office/drawing/2014/main" id="{47D36030-1A6A-4637-AB4D-0F59BB0F6AD7}"/>
              </a:ext>
            </a:extLst>
          </p:cNvPr>
          <p:cNvGrpSpPr/>
          <p:nvPr>
            <p:custDataLst>
              <p:tags r:id="rId5"/>
            </p:custDataLst>
          </p:nvPr>
        </p:nvGrpSpPr>
        <p:grpSpPr>
          <a:xfrm>
            <a:off x="0" y="0"/>
            <a:ext cx="9144000" cy="635000"/>
            <a:chOff x="0" y="0"/>
            <a:chExt cx="9144000" cy="635000"/>
          </a:xfrm>
        </p:grpSpPr>
        <p:sp>
          <p:nvSpPr>
            <p:cNvPr id="10" name="TitleBackground">
              <a:extLst>
                <a:ext uri="{FF2B5EF4-FFF2-40B4-BE49-F238E27FC236}">
                  <a16:creationId xmlns:a16="http://schemas.microsoft.com/office/drawing/2014/main" id="{1006BA84-3629-41D0-81DA-D8316904263D}"/>
                </a:ext>
              </a:extLst>
            </p:cNvPr>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ColorBlock">
              <a:extLst>
                <a:ext uri="{FF2B5EF4-FFF2-40B4-BE49-F238E27FC236}">
                  <a16:creationId xmlns:a16="http://schemas.microsoft.com/office/drawing/2014/main" id="{58E3791B-2AAA-44EE-93A0-643420DB94E1}"/>
                </a:ext>
              </a:extLst>
            </p:cNvPr>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ypeText">
              <a:extLst>
                <a:ext uri="{FF2B5EF4-FFF2-40B4-BE49-F238E27FC236}">
                  <a16:creationId xmlns:a16="http://schemas.microsoft.com/office/drawing/2014/main" id="{EBEBBB1A-F200-47B7-8395-413D9015E853}"/>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3" name="TipText">
              <a:extLst>
                <a:ext uri="{FF2B5EF4-FFF2-40B4-BE49-F238E27FC236}">
                  <a16:creationId xmlns:a16="http://schemas.microsoft.com/office/drawing/2014/main" id="{4BC058FA-1C77-4D4A-A4AF-7063B842B0BF}"/>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4BE6479B-F62E-4258-8006-0208B87A6ADC}"/>
              </a:ext>
            </a:extLst>
          </p:cNvPr>
          <p:cNvPicPr>
            <a:picLocks/>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979290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5D0B699-766D-4AE3-86C5-1C46146626D0}"/>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33FF5221-A20C-41B6-ABF9-499959911FC3}"/>
              </a:ext>
            </a:extLst>
          </p:cNvPr>
          <p:cNvSpPr>
            <a:spLocks noGrp="1"/>
          </p:cNvSpPr>
          <p:nvPr>
            <p:ph type="sldNum" sz="quarter" idx="12"/>
          </p:nvPr>
        </p:nvSpPr>
        <p:spPr/>
        <p:txBody>
          <a:bodyPr/>
          <a:lstStyle/>
          <a:p>
            <a:fld id="{78D5303B-8D19-47AB-A097-F6A1F5D56D03}" type="slidenum">
              <a:rPr lang="en-US" altLang="en-US" smtClean="0"/>
              <a:pPr/>
              <a:t>32</a:t>
            </a:fld>
            <a:endParaRPr lang="en-US" altLang="en-US"/>
          </a:p>
        </p:txBody>
      </p:sp>
      <p:sp>
        <p:nvSpPr>
          <p:cNvPr id="8" name="文本框 7">
            <a:extLst>
              <a:ext uri="{FF2B5EF4-FFF2-40B4-BE49-F238E27FC236}">
                <a16:creationId xmlns:a16="http://schemas.microsoft.com/office/drawing/2014/main" id="{43D8186D-6C4F-40AB-98B3-CCC52901F90D}"/>
              </a:ext>
            </a:extLst>
          </p:cNvPr>
          <p:cNvSpPr txBox="1"/>
          <p:nvPr>
            <p:custDataLst>
              <p:tags r:id="rId2"/>
            </p:custDataLst>
          </p:nvPr>
        </p:nvSpPr>
        <p:spPr>
          <a:xfrm>
            <a:off x="685800" y="838200"/>
            <a:ext cx="7315200" cy="2143125"/>
          </a:xfrm>
          <a:prstGeom prst="rect">
            <a:avLst/>
          </a:prstGeom>
          <a:noFill/>
        </p:spPr>
        <p:txBody>
          <a:bodyPr vert="horz" wrap="square" rtlCol="0" anchor="ctr" anchorCtr="0">
            <a:noAutofit/>
          </a:bodyPr>
          <a:lstStyle/>
          <a:p>
            <a:r>
              <a:rPr lang="zh-CN" altLang="en-US" sz="2800" dirty="0">
                <a:latin typeface="Arial Black" panose="020B0A04020102020204" pitchFamily="34" charset="0"/>
              </a:rPr>
              <a:t>在学生管理系统中哪些属于外部事件、临时事件和内部事件？</a:t>
            </a:r>
            <a:endParaRPr lang="en-US" altLang="zh-CN" sz="2800" dirty="0">
              <a:latin typeface="Arial Black" panose="020B0A04020102020204" pitchFamily="34" charset="0"/>
            </a:endParaRPr>
          </a:p>
          <a:p>
            <a:r>
              <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	</a:t>
            </a:r>
            <a:endParaRPr lang="zh-CN" altLang="en-US"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p:txBody>
      </p:sp>
      <p:sp>
        <p:nvSpPr>
          <p:cNvPr id="9" name="矩形: 圆角 8">
            <a:extLst>
              <a:ext uri="{FF2B5EF4-FFF2-40B4-BE49-F238E27FC236}">
                <a16:creationId xmlns:a16="http://schemas.microsoft.com/office/drawing/2014/main" id="{A81AE0F5-EF80-4E8A-AFA6-4319F215478A}"/>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5" name="矩形 14">
            <a:extLst>
              <a:ext uri="{FF2B5EF4-FFF2-40B4-BE49-F238E27FC236}">
                <a16:creationId xmlns:a16="http://schemas.microsoft.com/office/drawing/2014/main" id="{BC330BFB-89FA-44E8-95A2-0C2CB003A17F}"/>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4" name="组合 13">
            <a:extLst>
              <a:ext uri="{FF2B5EF4-FFF2-40B4-BE49-F238E27FC236}">
                <a16:creationId xmlns:a16="http://schemas.microsoft.com/office/drawing/2014/main" id="{47D36030-1A6A-4637-AB4D-0F59BB0F6AD7}"/>
              </a:ext>
            </a:extLst>
          </p:cNvPr>
          <p:cNvGrpSpPr/>
          <p:nvPr>
            <p:custDataLst>
              <p:tags r:id="rId5"/>
            </p:custDataLst>
          </p:nvPr>
        </p:nvGrpSpPr>
        <p:grpSpPr>
          <a:xfrm>
            <a:off x="0" y="0"/>
            <a:ext cx="9144000" cy="635000"/>
            <a:chOff x="0" y="0"/>
            <a:chExt cx="9144000" cy="635000"/>
          </a:xfrm>
        </p:grpSpPr>
        <p:sp>
          <p:nvSpPr>
            <p:cNvPr id="10" name="TitleBackground">
              <a:extLst>
                <a:ext uri="{FF2B5EF4-FFF2-40B4-BE49-F238E27FC236}">
                  <a16:creationId xmlns:a16="http://schemas.microsoft.com/office/drawing/2014/main" id="{1006BA84-3629-41D0-81DA-D8316904263D}"/>
                </a:ext>
              </a:extLst>
            </p:cNvPr>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ColorBlock">
              <a:extLst>
                <a:ext uri="{FF2B5EF4-FFF2-40B4-BE49-F238E27FC236}">
                  <a16:creationId xmlns:a16="http://schemas.microsoft.com/office/drawing/2014/main" id="{58E3791B-2AAA-44EE-93A0-643420DB94E1}"/>
                </a:ext>
              </a:extLst>
            </p:cNvPr>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ypeText">
              <a:extLst>
                <a:ext uri="{FF2B5EF4-FFF2-40B4-BE49-F238E27FC236}">
                  <a16:creationId xmlns:a16="http://schemas.microsoft.com/office/drawing/2014/main" id="{EBEBBB1A-F200-47B7-8395-413D9015E853}"/>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3" name="TipText">
              <a:extLst>
                <a:ext uri="{FF2B5EF4-FFF2-40B4-BE49-F238E27FC236}">
                  <a16:creationId xmlns:a16="http://schemas.microsoft.com/office/drawing/2014/main" id="{4BC058FA-1C77-4D4A-A4AF-7063B842B0BF}"/>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4BE6479B-F62E-4258-8006-0208B87A6ADC}"/>
              </a:ext>
            </a:extLst>
          </p:cNvPr>
          <p:cNvPicPr>
            <a:picLocks/>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16" name="文本框 15">
            <a:extLst>
              <a:ext uri="{FF2B5EF4-FFF2-40B4-BE49-F238E27FC236}">
                <a16:creationId xmlns:a16="http://schemas.microsoft.com/office/drawing/2014/main" id="{71047C47-822C-4B86-93F4-EC235E1A7B02}"/>
              </a:ext>
            </a:extLst>
          </p:cNvPr>
          <p:cNvSpPr txBox="1"/>
          <p:nvPr/>
        </p:nvSpPr>
        <p:spPr>
          <a:xfrm>
            <a:off x="1130300" y="2414497"/>
            <a:ext cx="2057400" cy="1323439"/>
          </a:xfrm>
          <a:prstGeom prst="rect">
            <a:avLst/>
          </a:prstGeom>
          <a:noFill/>
        </p:spPr>
        <p:txBody>
          <a:bodyPr wrap="square">
            <a:spAutoFit/>
          </a:bodyPr>
          <a:lstStyle/>
          <a:p>
            <a:r>
              <a:rPr lang="zh-CN" altLang="en-US"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注册新生账号</a:t>
            </a:r>
            <a:endParaRPr lang="en-US" altLang="zh-CN"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a:p>
            <a:r>
              <a:rPr lang="zh-CN" altLang="en-US"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办理学生卡</a:t>
            </a:r>
            <a:endParaRPr lang="en-US" altLang="zh-CN"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a:p>
            <a:r>
              <a:rPr lang="zh-CN" altLang="en-US"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办理住宿</a:t>
            </a:r>
            <a:endParaRPr lang="en-US" altLang="zh-CN"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a:p>
            <a:r>
              <a:rPr lang="zh-CN" altLang="en-US"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购买新书</a:t>
            </a:r>
            <a:endParaRPr lang="en-US" altLang="zh-CN"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p:txBody>
      </p:sp>
      <p:sp>
        <p:nvSpPr>
          <p:cNvPr id="17" name="文本框 16">
            <a:extLst>
              <a:ext uri="{FF2B5EF4-FFF2-40B4-BE49-F238E27FC236}">
                <a16:creationId xmlns:a16="http://schemas.microsoft.com/office/drawing/2014/main" id="{39A431F4-21A0-4B17-826F-8094AB396768}"/>
              </a:ext>
            </a:extLst>
          </p:cNvPr>
          <p:cNvSpPr txBox="1"/>
          <p:nvPr/>
        </p:nvSpPr>
        <p:spPr>
          <a:xfrm>
            <a:off x="1122276" y="3951326"/>
            <a:ext cx="2681605" cy="707886"/>
          </a:xfrm>
          <a:prstGeom prst="rect">
            <a:avLst/>
          </a:prstGeom>
          <a:noFill/>
        </p:spPr>
        <p:txBody>
          <a:bodyPr wrap="square">
            <a:spAutoFit/>
          </a:bodyPr>
          <a:lstStyle/>
          <a:p>
            <a:r>
              <a:rPr lang="zh-CN" altLang="en-US"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统计学生期末成绩</a:t>
            </a:r>
            <a:endParaRPr lang="en-US" altLang="zh-CN"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a:p>
            <a:r>
              <a:rPr lang="zh-CN" altLang="en-US"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统计每月跑操时长</a:t>
            </a:r>
            <a:endParaRPr lang="en-US" altLang="zh-CN"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p:txBody>
      </p:sp>
      <p:sp>
        <p:nvSpPr>
          <p:cNvPr id="18" name="文本框 17">
            <a:extLst>
              <a:ext uri="{FF2B5EF4-FFF2-40B4-BE49-F238E27FC236}">
                <a16:creationId xmlns:a16="http://schemas.microsoft.com/office/drawing/2014/main" id="{39DC4235-37E2-458F-91F4-4CCBBE775B8E}"/>
              </a:ext>
            </a:extLst>
          </p:cNvPr>
          <p:cNvSpPr txBox="1"/>
          <p:nvPr/>
        </p:nvSpPr>
        <p:spPr>
          <a:xfrm>
            <a:off x="1098213" y="4872602"/>
            <a:ext cx="2681605" cy="707886"/>
          </a:xfrm>
          <a:prstGeom prst="rect">
            <a:avLst/>
          </a:prstGeom>
          <a:noFill/>
        </p:spPr>
        <p:txBody>
          <a:bodyPr wrap="square">
            <a:spAutoFit/>
          </a:bodyPr>
          <a:lstStyle/>
          <a:p>
            <a:r>
              <a:rPr lang="zh-CN" altLang="en-US"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当学生旷课</a:t>
            </a:r>
            <a:r>
              <a:rPr lang="en-US" altLang="zh-CN"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3</a:t>
            </a:r>
            <a:r>
              <a:rPr lang="zh-CN" altLang="en-US"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次以上</a:t>
            </a:r>
            <a:endParaRPr lang="en-US" altLang="zh-CN"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a:p>
            <a:r>
              <a:rPr lang="zh-CN" altLang="en-US"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当学生挂科</a:t>
            </a:r>
            <a:r>
              <a:rPr lang="en-US" altLang="zh-CN"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6</a:t>
            </a:r>
            <a:r>
              <a:rPr lang="zh-CN" altLang="en-US"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门以上</a:t>
            </a:r>
            <a:endParaRPr lang="en-US" altLang="zh-CN" sz="20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p:txBody>
      </p:sp>
      <p:sp>
        <p:nvSpPr>
          <p:cNvPr id="19" name="文本框 18">
            <a:extLst>
              <a:ext uri="{FF2B5EF4-FFF2-40B4-BE49-F238E27FC236}">
                <a16:creationId xmlns:a16="http://schemas.microsoft.com/office/drawing/2014/main" id="{E7770D44-02E3-4F2B-9A38-BDE08A955276}"/>
              </a:ext>
            </a:extLst>
          </p:cNvPr>
          <p:cNvSpPr txBox="1"/>
          <p:nvPr/>
        </p:nvSpPr>
        <p:spPr>
          <a:xfrm>
            <a:off x="3660274" y="2866160"/>
            <a:ext cx="2057400" cy="400110"/>
          </a:xfrm>
          <a:prstGeom prst="rect">
            <a:avLst/>
          </a:prstGeom>
          <a:noFill/>
        </p:spPr>
        <p:txBody>
          <a:bodyPr wrap="square">
            <a:spAutoFit/>
          </a:bodyPr>
          <a:lstStyle/>
          <a:p>
            <a:r>
              <a:rPr lang="zh-CN" altLang="en-US" sz="2000" dirty="0">
                <a:solidFill>
                  <a:srgbClr val="C00000"/>
                </a:solidFill>
                <a:latin typeface="Arial Black" panose="020B0A04020102020204" pitchFamily="34" charset="0"/>
                <a:ea typeface="Microsoft Yahei" panose="020B0503020204020204" pitchFamily="34" charset="-122"/>
                <a:sym typeface="Microsoft Yahei" panose="020B0503020204020204" pitchFamily="34" charset="-122"/>
              </a:rPr>
              <a:t>外部事件</a:t>
            </a:r>
            <a:endParaRPr lang="en-US" altLang="zh-CN" sz="2000" dirty="0">
              <a:solidFill>
                <a:srgbClr val="C00000"/>
              </a:solidFill>
              <a:latin typeface="Arial Black" panose="020B0A04020102020204" pitchFamily="34" charset="0"/>
              <a:ea typeface="Microsoft Yahei" panose="020B0503020204020204" pitchFamily="34" charset="-122"/>
              <a:sym typeface="Microsoft Yahei" panose="020B0503020204020204" pitchFamily="34" charset="-122"/>
            </a:endParaRPr>
          </a:p>
        </p:txBody>
      </p:sp>
      <p:sp>
        <p:nvSpPr>
          <p:cNvPr id="20" name="文本框 19">
            <a:extLst>
              <a:ext uri="{FF2B5EF4-FFF2-40B4-BE49-F238E27FC236}">
                <a16:creationId xmlns:a16="http://schemas.microsoft.com/office/drawing/2014/main" id="{F1C18A17-FA31-49F7-AB53-7E2A71BE6EEF}"/>
              </a:ext>
            </a:extLst>
          </p:cNvPr>
          <p:cNvSpPr txBox="1"/>
          <p:nvPr/>
        </p:nvSpPr>
        <p:spPr>
          <a:xfrm>
            <a:off x="3660274" y="4105214"/>
            <a:ext cx="2057400" cy="400110"/>
          </a:xfrm>
          <a:prstGeom prst="rect">
            <a:avLst/>
          </a:prstGeom>
          <a:noFill/>
        </p:spPr>
        <p:txBody>
          <a:bodyPr wrap="square">
            <a:spAutoFit/>
          </a:bodyPr>
          <a:lstStyle/>
          <a:p>
            <a:r>
              <a:rPr lang="zh-CN" altLang="en-US" sz="2000" dirty="0">
                <a:solidFill>
                  <a:srgbClr val="C00000"/>
                </a:solidFill>
                <a:latin typeface="Arial Black" panose="020B0A04020102020204" pitchFamily="34" charset="0"/>
                <a:ea typeface="Microsoft Yahei" panose="020B0503020204020204" pitchFamily="34" charset="-122"/>
                <a:sym typeface="Microsoft Yahei" panose="020B0503020204020204" pitchFamily="34" charset="-122"/>
              </a:rPr>
              <a:t>时间事件</a:t>
            </a:r>
            <a:endParaRPr lang="en-US" altLang="zh-CN" sz="2000" dirty="0">
              <a:solidFill>
                <a:srgbClr val="C00000"/>
              </a:solidFill>
              <a:latin typeface="Arial Black" panose="020B0A04020102020204" pitchFamily="34" charset="0"/>
              <a:ea typeface="Microsoft Yahei" panose="020B0503020204020204" pitchFamily="34" charset="-122"/>
              <a:sym typeface="Microsoft Yahei" panose="020B0503020204020204" pitchFamily="34" charset="-122"/>
            </a:endParaRPr>
          </a:p>
        </p:txBody>
      </p:sp>
      <p:sp>
        <p:nvSpPr>
          <p:cNvPr id="21" name="文本框 18">
            <a:extLst>
              <a:ext uri="{FF2B5EF4-FFF2-40B4-BE49-F238E27FC236}">
                <a16:creationId xmlns:a16="http://schemas.microsoft.com/office/drawing/2014/main" id="{E7770D44-02E3-4F2B-9A38-BDE08A955276}"/>
              </a:ext>
            </a:extLst>
          </p:cNvPr>
          <p:cNvSpPr txBox="1"/>
          <p:nvPr/>
        </p:nvSpPr>
        <p:spPr>
          <a:xfrm>
            <a:off x="3660274" y="5026490"/>
            <a:ext cx="3045326" cy="400110"/>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zh-CN" altLang="en-US" sz="2000" dirty="0">
                <a:solidFill>
                  <a:srgbClr val="C00000"/>
                </a:solidFill>
                <a:latin typeface="Arial Black" panose="020B0A04020102020204" pitchFamily="34" charset="0"/>
                <a:ea typeface="Microsoft Yahei" panose="020B0503020204020204" pitchFamily="34" charset="-122"/>
                <a:sym typeface="Microsoft Yahei" panose="020B0503020204020204" pitchFamily="34" charset="-122"/>
              </a:rPr>
              <a:t>内部（状态）事件</a:t>
            </a:r>
            <a:endParaRPr lang="en-US" altLang="zh-CN" sz="2000" dirty="0">
              <a:solidFill>
                <a:srgbClr val="C00000"/>
              </a:solidFill>
              <a:latin typeface="Arial Black" panose="020B0A04020102020204" pitchFamily="34" charset="0"/>
              <a:ea typeface="Microsoft Yahei" panose="020B0503020204020204" pitchFamily="34" charset="-122"/>
              <a:sym typeface="Microsoft Yahei" panose="020B0503020204020204" pitchFamily="34" charset="-122"/>
            </a:endParaRPr>
          </a:p>
        </p:txBody>
      </p:sp>
    </p:spTree>
    <p:custDataLst>
      <p:tags r:id="rId1"/>
    </p:custDataLst>
    <p:extLst>
      <p:ext uri="{BB962C8B-B14F-4D97-AF65-F5344CB8AC3E}">
        <p14:creationId xmlns:p14="http://schemas.microsoft.com/office/powerpoint/2010/main" val="2793256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3FBA1EBE-759B-4B22-994E-802F40155C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148880D-6651-45A9-A720-5C153F8877DF}" type="slidenum">
              <a:rPr lang="en-US" altLang="en-US"/>
              <a:pPr eaLnBrk="1" hangingPunct="1"/>
              <a:t>33</a:t>
            </a:fld>
            <a:endParaRPr lang="en-US" altLang="en-US"/>
          </a:p>
        </p:txBody>
      </p:sp>
      <p:sp>
        <p:nvSpPr>
          <p:cNvPr id="5123" name="Rectangle 2">
            <a:extLst>
              <a:ext uri="{FF2B5EF4-FFF2-40B4-BE49-F238E27FC236}">
                <a16:creationId xmlns:a16="http://schemas.microsoft.com/office/drawing/2014/main" id="{7F2196B2-40DF-44A4-AC21-7DB6528A6F74}"/>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3 Outline</a:t>
            </a:r>
          </a:p>
        </p:txBody>
      </p:sp>
      <p:sp>
        <p:nvSpPr>
          <p:cNvPr id="5124" name="Rectangle 3">
            <a:extLst>
              <a:ext uri="{FF2B5EF4-FFF2-40B4-BE49-F238E27FC236}">
                <a16:creationId xmlns:a16="http://schemas.microsoft.com/office/drawing/2014/main" id="{8ADCAA2F-8645-4D21-8FCE-C79E32FF8469}"/>
              </a:ext>
            </a:extLst>
          </p:cNvPr>
          <p:cNvSpPr>
            <a:spLocks noGrp="1" noChangeArrowheads="1"/>
          </p:cNvSpPr>
          <p:nvPr>
            <p:ph type="body" idx="1"/>
          </p:nvPr>
        </p:nvSpPr>
        <p:spPr>
          <a:xfrm>
            <a:off x="457200" y="1752600"/>
            <a:ext cx="8229600" cy="4411663"/>
          </a:xfrm>
        </p:spPr>
        <p:txBody>
          <a:bodyPr/>
          <a:lstStyle/>
          <a:p>
            <a:pPr eaLnBrk="1" hangingPunct="1"/>
            <a:r>
              <a:rPr lang="en-US" altLang="zh-CN" dirty="0">
                <a:ea typeface="宋体" panose="02010600030101010101" pitchFamily="2" charset="-122"/>
              </a:rPr>
              <a:t>Use Cases and User Goals</a:t>
            </a:r>
          </a:p>
          <a:p>
            <a:pPr eaLnBrk="1" hangingPunct="1"/>
            <a:r>
              <a:rPr lang="en-US" altLang="zh-CN" dirty="0">
                <a:ea typeface="宋体" panose="02010600030101010101" pitchFamily="2" charset="-122"/>
              </a:rPr>
              <a:t>Use Cases and Event Decomposition</a:t>
            </a:r>
          </a:p>
          <a:p>
            <a:pPr eaLnBrk="1" hangingPunct="1"/>
            <a:r>
              <a:rPr lang="en-US" altLang="zh-CN" dirty="0">
                <a:solidFill>
                  <a:srgbClr val="C00000"/>
                </a:solidFill>
                <a:ea typeface="宋体" panose="02010600030101010101" pitchFamily="2" charset="-122"/>
              </a:rPr>
              <a:t>Use Cases and CRUD</a:t>
            </a:r>
            <a:r>
              <a:rPr lang="zh-CN" altLang="en-US" dirty="0">
                <a:solidFill>
                  <a:srgbClr val="C00000"/>
                </a:solidFill>
                <a:ea typeface="宋体" panose="02010600030101010101" pitchFamily="2" charset="-122"/>
              </a:rPr>
              <a:t>（用例和</a:t>
            </a:r>
            <a:r>
              <a:rPr lang="en-US" altLang="zh-CN" dirty="0">
                <a:solidFill>
                  <a:srgbClr val="C00000"/>
                </a:solidFill>
                <a:ea typeface="宋体" panose="02010600030101010101" pitchFamily="2" charset="-122"/>
              </a:rPr>
              <a:t>CRUD</a:t>
            </a:r>
            <a:r>
              <a:rPr lang="zh-CN" altLang="en-US" dirty="0">
                <a:solidFill>
                  <a:srgbClr val="C00000"/>
                </a:solidFill>
                <a:ea typeface="宋体" panose="02010600030101010101" pitchFamily="2" charset="-122"/>
              </a:rPr>
              <a:t>）</a:t>
            </a:r>
            <a:endParaRPr lang="en-US" altLang="zh-CN" dirty="0">
              <a:solidFill>
                <a:srgbClr val="C00000"/>
              </a:solidFill>
              <a:ea typeface="宋体" panose="02010600030101010101" pitchFamily="2" charset="-122"/>
            </a:endParaRPr>
          </a:p>
          <a:p>
            <a:pPr eaLnBrk="1" hangingPunct="1"/>
            <a:r>
              <a:rPr lang="en-US" altLang="zh-CN" dirty="0">
                <a:ea typeface="宋体" panose="02010600030101010101" pitchFamily="2" charset="-122"/>
              </a:rPr>
              <a:t>Use Cases in the Ridgeline Mountain Outfitters Case</a:t>
            </a:r>
          </a:p>
          <a:p>
            <a:pPr eaLnBrk="1" hangingPunct="1"/>
            <a:r>
              <a:rPr lang="en-US" altLang="zh-CN" dirty="0">
                <a:ea typeface="宋体" panose="02010600030101010101" pitchFamily="2" charset="-122"/>
              </a:rPr>
              <a:t>Use Case Diagrams</a:t>
            </a:r>
          </a:p>
        </p:txBody>
      </p:sp>
      <p:sp>
        <p:nvSpPr>
          <p:cNvPr id="5125" name="Rectangle 5">
            <a:extLst>
              <a:ext uri="{FF2B5EF4-FFF2-40B4-BE49-F238E27FC236}">
                <a16:creationId xmlns:a16="http://schemas.microsoft.com/office/drawing/2014/main" id="{B6678780-AC33-4ACB-81A7-92F1D3E5114F}"/>
              </a:ext>
            </a:extLst>
          </p:cNvPr>
          <p:cNvSpPr>
            <a:spLocks noChangeArrowheads="1"/>
          </p:cNvSpPr>
          <p:nvPr/>
        </p:nvSpPr>
        <p:spPr bwMode="auto">
          <a:xfrm>
            <a:off x="6858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6" name="Footer Placeholder 5">
            <a:extLst>
              <a:ext uri="{FF2B5EF4-FFF2-40B4-BE49-F238E27FC236}">
                <a16:creationId xmlns:a16="http://schemas.microsoft.com/office/drawing/2014/main" id="{6231F08F-229D-4AF6-8E48-D165A93739F0}"/>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12008732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3C8AD983-D00E-4BEA-83AD-C83436094CA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BC3A08B-4D38-41FA-82AC-AD487513A683}" type="slidenum">
              <a:rPr lang="en-US" altLang="en-US"/>
              <a:pPr eaLnBrk="1" hangingPunct="1"/>
              <a:t>34</a:t>
            </a:fld>
            <a:endParaRPr lang="en-US" altLang="en-US"/>
          </a:p>
        </p:txBody>
      </p:sp>
      <p:sp>
        <p:nvSpPr>
          <p:cNvPr id="24579" name="Rectangle 2">
            <a:extLst>
              <a:ext uri="{FF2B5EF4-FFF2-40B4-BE49-F238E27FC236}">
                <a16:creationId xmlns:a16="http://schemas.microsoft.com/office/drawing/2014/main" id="{54985E74-C1BC-4915-B30F-4959D8A0CACE}"/>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Use Cases and CRUD Technique</a:t>
            </a:r>
          </a:p>
        </p:txBody>
      </p:sp>
      <p:sp>
        <p:nvSpPr>
          <p:cNvPr id="24580" name="Rectangle 3">
            <a:extLst>
              <a:ext uri="{FF2B5EF4-FFF2-40B4-BE49-F238E27FC236}">
                <a16:creationId xmlns:a16="http://schemas.microsoft.com/office/drawing/2014/main" id="{76DB2077-742B-481A-8B15-5CD7491D5DC7}"/>
              </a:ext>
            </a:extLst>
          </p:cNvPr>
          <p:cNvSpPr>
            <a:spLocks noGrp="1" noChangeArrowheads="1"/>
          </p:cNvSpPr>
          <p:nvPr>
            <p:ph type="body" idx="1"/>
          </p:nvPr>
        </p:nvSpPr>
        <p:spPr>
          <a:xfrm>
            <a:off x="457200" y="1600200"/>
            <a:ext cx="8229600" cy="2667000"/>
          </a:xfrm>
        </p:spPr>
        <p:txBody>
          <a:bodyPr/>
          <a:lstStyle/>
          <a:p>
            <a:pPr marL="571500" indent="-571500" eaLnBrk="1" hangingPunct="1"/>
            <a:r>
              <a:rPr lang="en-GB" altLang="zh-CN" sz="2800" dirty="0"/>
              <a:t>CRUD is Create</a:t>
            </a:r>
            <a:r>
              <a:rPr lang="zh-CN" altLang="en-US" sz="2800" dirty="0"/>
              <a:t>（增）</a:t>
            </a:r>
            <a:r>
              <a:rPr lang="en-GB" altLang="zh-CN" sz="2800" dirty="0"/>
              <a:t>, Read/Report</a:t>
            </a:r>
            <a:r>
              <a:rPr lang="zh-CN" altLang="en-US" sz="2800" dirty="0"/>
              <a:t>（查）</a:t>
            </a:r>
            <a:r>
              <a:rPr lang="en-GB" altLang="zh-CN" sz="2800" dirty="0"/>
              <a:t>, Update</a:t>
            </a:r>
            <a:r>
              <a:rPr lang="zh-CN" altLang="en-US" sz="2800" dirty="0"/>
              <a:t>（改）</a:t>
            </a:r>
            <a:r>
              <a:rPr lang="en-GB" altLang="zh-CN" sz="2800" dirty="0"/>
              <a:t>, and Delete (</a:t>
            </a:r>
            <a:r>
              <a:rPr lang="zh-CN" altLang="en-US" sz="2800" dirty="0"/>
              <a:t>删</a:t>
            </a:r>
            <a:r>
              <a:rPr lang="en-GB" altLang="zh-CN" sz="2800" dirty="0"/>
              <a:t>)</a:t>
            </a:r>
          </a:p>
          <a:p>
            <a:pPr marL="571500" indent="-571500" eaLnBrk="1" hangingPunct="1"/>
            <a:r>
              <a:rPr lang="en-GB" altLang="zh-CN" sz="2800" dirty="0"/>
              <a:t>Technique to validate, refine or cross-check us cases</a:t>
            </a:r>
            <a:r>
              <a:rPr lang="zh-CN" altLang="en-US" sz="2800" dirty="0"/>
              <a:t>（验证、改进或交叉检查用例的技术）</a:t>
            </a:r>
            <a:endParaRPr lang="en-GB" altLang="zh-CN" sz="2800" dirty="0"/>
          </a:p>
        </p:txBody>
      </p:sp>
      <p:sp>
        <p:nvSpPr>
          <p:cNvPr id="24581" name="Rectangle 5">
            <a:extLst>
              <a:ext uri="{FF2B5EF4-FFF2-40B4-BE49-F238E27FC236}">
                <a16:creationId xmlns:a16="http://schemas.microsoft.com/office/drawing/2014/main" id="{30FE61AE-8CC7-48B6-8C48-12097F027D67}"/>
              </a:ext>
            </a:extLst>
          </p:cNvPr>
          <p:cNvSpPr>
            <a:spLocks noChangeArrowheads="1"/>
          </p:cNvSpPr>
          <p:nvPr/>
        </p:nvSpPr>
        <p:spPr bwMode="auto">
          <a:xfrm>
            <a:off x="6858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4582" name="Footer Placeholder 5">
            <a:extLst>
              <a:ext uri="{FF2B5EF4-FFF2-40B4-BE49-F238E27FC236}">
                <a16:creationId xmlns:a16="http://schemas.microsoft.com/office/drawing/2014/main" id="{239F06E3-D539-4B6C-BFC2-FCB8C2928BB8}"/>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文本框 1">
            <a:extLst>
              <a:ext uri="{FF2B5EF4-FFF2-40B4-BE49-F238E27FC236}">
                <a16:creationId xmlns:a16="http://schemas.microsoft.com/office/drawing/2014/main" id="{F36F0BC3-F1C8-472C-B130-D53F620F8518}"/>
              </a:ext>
            </a:extLst>
          </p:cNvPr>
          <p:cNvSpPr txBox="1"/>
          <p:nvPr/>
        </p:nvSpPr>
        <p:spPr>
          <a:xfrm>
            <a:off x="522003" y="3697813"/>
            <a:ext cx="7056740" cy="1138773"/>
          </a:xfrm>
          <a:prstGeom prst="rect">
            <a:avLst/>
          </a:prstGeom>
          <a:noFill/>
        </p:spPr>
        <p:txBody>
          <a:bodyPr wrap="none" rtlCol="0">
            <a:spAutoFit/>
          </a:bodyPr>
          <a:lstStyle/>
          <a:p>
            <a:pPr marL="285750" indent="-285750">
              <a:buFont typeface="Wingdings" panose="05000000000000000000" pitchFamily="2" charset="2"/>
              <a:buChar char="l"/>
            </a:pPr>
            <a:r>
              <a:rPr lang="zh-CN" altLang="en-US" sz="3200" dirty="0"/>
              <a:t>信息系统中最常用、最普遍的功能：</a:t>
            </a:r>
            <a:endParaRPr lang="en-US" altLang="zh-CN" sz="3200" dirty="0"/>
          </a:p>
          <a:p>
            <a:r>
              <a:rPr lang="en-US" altLang="zh-CN" sz="3200" dirty="0"/>
              <a:t>	</a:t>
            </a:r>
            <a:r>
              <a:rPr lang="zh-CN" altLang="en-US" sz="3600" b="1" dirty="0">
                <a:ln w="9525">
                  <a:solidFill>
                    <a:schemeClr val="bg1"/>
                  </a:solidFill>
                  <a:prstDash val="solid"/>
                </a:ln>
                <a:solidFill>
                  <a:srgbClr val="0070C0"/>
                </a:solidFill>
                <a:effectLst>
                  <a:outerShdw blurRad="12700" dist="38100" dir="2700000" algn="tl" rotWithShape="0">
                    <a:schemeClr val="bg1">
                      <a:lumMod val="50000"/>
                    </a:schemeClr>
                  </a:outerShdw>
                </a:effectLst>
              </a:rPr>
              <a:t>增、删、改、查、统</a:t>
            </a:r>
            <a:endParaRPr lang="zh-CN" altLang="en-US" sz="32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6">
            <a:extLst>
              <a:ext uri="{FF2B5EF4-FFF2-40B4-BE49-F238E27FC236}">
                <a16:creationId xmlns:a16="http://schemas.microsoft.com/office/drawing/2014/main" id="{82512C11-DCA2-4A50-927C-94F6E6FC4B9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0B1249E-5DA3-48BF-9EE2-832D0301F504}" type="slidenum">
              <a:rPr lang="en-US" altLang="en-US"/>
              <a:pPr eaLnBrk="1" hangingPunct="1"/>
              <a:t>35</a:t>
            </a:fld>
            <a:endParaRPr lang="en-US" altLang="en-US"/>
          </a:p>
        </p:txBody>
      </p:sp>
      <p:sp>
        <p:nvSpPr>
          <p:cNvPr id="25603" name="Rectangle 2">
            <a:extLst>
              <a:ext uri="{FF2B5EF4-FFF2-40B4-BE49-F238E27FC236}">
                <a16:creationId xmlns:a16="http://schemas.microsoft.com/office/drawing/2014/main" id="{15DB167B-72AB-451F-B6DB-6960E6FF6041}"/>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Use Cases and CRUD Technique</a:t>
            </a:r>
          </a:p>
        </p:txBody>
      </p:sp>
      <p:sp>
        <p:nvSpPr>
          <p:cNvPr id="25604" name="Rectangle 3">
            <a:extLst>
              <a:ext uri="{FF2B5EF4-FFF2-40B4-BE49-F238E27FC236}">
                <a16:creationId xmlns:a16="http://schemas.microsoft.com/office/drawing/2014/main" id="{1EB278E1-F6C3-48C7-B0FD-65CC222457D3}"/>
              </a:ext>
            </a:extLst>
          </p:cNvPr>
          <p:cNvSpPr>
            <a:spLocks noGrp="1" noChangeArrowheads="1"/>
          </p:cNvSpPr>
          <p:nvPr>
            <p:ph type="body" sz="half" idx="1"/>
          </p:nvPr>
        </p:nvSpPr>
        <p:spPr>
          <a:xfrm>
            <a:off x="457200" y="1719263"/>
            <a:ext cx="7467600" cy="1252537"/>
          </a:xfrm>
        </p:spPr>
        <p:txBody>
          <a:bodyPr/>
          <a:lstStyle/>
          <a:p>
            <a:pPr marL="571500" indent="-571500" eaLnBrk="1" hangingPunct="1"/>
            <a:r>
              <a:rPr lang="en-GB" altLang="zh-CN" sz="2400" dirty="0"/>
              <a:t>For Customer domain class, verify that there are use cases that create, read/report, update, and delete (archive) the domain class</a:t>
            </a:r>
          </a:p>
          <a:p>
            <a:pPr marL="571500" indent="-571500" eaLnBrk="1" hangingPunct="1"/>
            <a:endParaRPr lang="en-GB" altLang="zh-CN" sz="2800" dirty="0"/>
          </a:p>
        </p:txBody>
      </p:sp>
      <p:pic>
        <p:nvPicPr>
          <p:cNvPr id="25605" name="Picture 7">
            <a:extLst>
              <a:ext uri="{FF2B5EF4-FFF2-40B4-BE49-F238E27FC236}">
                <a16:creationId xmlns:a16="http://schemas.microsoft.com/office/drawing/2014/main" id="{B2440BB4-8B35-410E-ADFA-1DE982CD072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33400" y="3021013"/>
            <a:ext cx="8077200" cy="2747962"/>
          </a:xfrm>
          <a:noFill/>
        </p:spPr>
      </p:pic>
      <p:sp>
        <p:nvSpPr>
          <p:cNvPr id="25606" name="Rectangle 6">
            <a:extLst>
              <a:ext uri="{FF2B5EF4-FFF2-40B4-BE49-F238E27FC236}">
                <a16:creationId xmlns:a16="http://schemas.microsoft.com/office/drawing/2014/main" id="{BE2D05AE-14D9-4B86-A4E9-F4183E125AA8}"/>
              </a:ext>
            </a:extLst>
          </p:cNvPr>
          <p:cNvSpPr>
            <a:spLocks noChangeArrowheads="1"/>
          </p:cNvSpPr>
          <p:nvPr/>
        </p:nvSpPr>
        <p:spPr bwMode="auto">
          <a:xfrm>
            <a:off x="8382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5607" name="Footer Placeholder 5">
            <a:extLst>
              <a:ext uri="{FF2B5EF4-FFF2-40B4-BE49-F238E27FC236}">
                <a16:creationId xmlns:a16="http://schemas.microsoft.com/office/drawing/2014/main" id="{20E86620-8FB1-4D9A-ADFA-5EA4E47F503F}"/>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31E0C265-4FC6-4DA6-9EC1-3670F3E7556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EE389F6-52AB-4655-9DF9-6C536E1E1239}" type="slidenum">
              <a:rPr lang="en-US" altLang="en-US"/>
              <a:pPr eaLnBrk="1" hangingPunct="1"/>
              <a:t>36</a:t>
            </a:fld>
            <a:endParaRPr lang="en-US" altLang="en-US"/>
          </a:p>
        </p:txBody>
      </p:sp>
      <p:sp>
        <p:nvSpPr>
          <p:cNvPr id="26627" name="Rectangle 2">
            <a:extLst>
              <a:ext uri="{FF2B5EF4-FFF2-40B4-BE49-F238E27FC236}">
                <a16:creationId xmlns:a16="http://schemas.microsoft.com/office/drawing/2014/main" id="{0B2B6F59-57D0-45D1-A62B-4E31FCB73239}"/>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CRUD Technique Steps</a:t>
            </a:r>
          </a:p>
        </p:txBody>
      </p:sp>
      <p:sp>
        <p:nvSpPr>
          <p:cNvPr id="26628" name="Rectangle 3">
            <a:extLst>
              <a:ext uri="{FF2B5EF4-FFF2-40B4-BE49-F238E27FC236}">
                <a16:creationId xmlns:a16="http://schemas.microsoft.com/office/drawing/2014/main" id="{9EA4ADDA-4639-4F27-B6A4-59864D93DB5B}"/>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26629" name="Rectangle 4">
            <a:extLst>
              <a:ext uri="{FF2B5EF4-FFF2-40B4-BE49-F238E27FC236}">
                <a16:creationId xmlns:a16="http://schemas.microsoft.com/office/drawing/2014/main" id="{9C29292F-E940-41D1-AD5F-9066A236E67E}"/>
              </a:ext>
            </a:extLst>
          </p:cNvPr>
          <p:cNvSpPr>
            <a:spLocks noChangeArrowheads="1"/>
          </p:cNvSpPr>
          <p:nvPr/>
        </p:nvSpPr>
        <p:spPr bwMode="auto">
          <a:xfrm>
            <a:off x="609600" y="1371600"/>
            <a:ext cx="82296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AutoNum type="arabicPeriod"/>
            </a:pPr>
            <a:r>
              <a:rPr lang="en-US" altLang="zh-CN" sz="2400" dirty="0">
                <a:ea typeface="宋体" panose="02010600030101010101" pitchFamily="2" charset="-122"/>
              </a:rPr>
              <a:t>Identify all the </a:t>
            </a:r>
            <a:r>
              <a:rPr lang="en-US" altLang="zh-CN" sz="2400" u="sng" dirty="0">
                <a:ea typeface="宋体" panose="02010600030101010101" pitchFamily="2" charset="-122"/>
              </a:rPr>
              <a:t>data entities </a:t>
            </a:r>
            <a:r>
              <a:rPr lang="en-US" altLang="zh-CN" sz="2400" dirty="0">
                <a:ea typeface="宋体" panose="02010600030101010101" pitchFamily="2" charset="-122"/>
              </a:rPr>
              <a:t>or </a:t>
            </a:r>
            <a:r>
              <a:rPr lang="en-US" altLang="zh-CN" sz="2400" u="sng" dirty="0">
                <a:ea typeface="宋体" panose="02010600030101010101" pitchFamily="2" charset="-122"/>
              </a:rPr>
              <a:t>domain classes </a:t>
            </a:r>
            <a:r>
              <a:rPr lang="en-US" altLang="zh-CN" sz="2400" dirty="0">
                <a:ea typeface="宋体" panose="02010600030101010101" pitchFamily="2" charset="-122"/>
              </a:rPr>
              <a:t>involved in the new system. (more in Chapter 4)</a:t>
            </a:r>
            <a:r>
              <a:rPr lang="zh-CN" altLang="en-US" sz="2400" dirty="0">
                <a:ea typeface="宋体" panose="02010600030101010101" pitchFamily="2" charset="-122"/>
              </a:rPr>
              <a:t>（确定所有包含在新系统中的数据实体或域类）</a:t>
            </a:r>
            <a:endParaRPr lang="en-US" altLang="zh-CN" sz="24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AutoNum type="arabicPeriod"/>
            </a:pPr>
            <a:r>
              <a:rPr lang="en-US" altLang="zh-CN" sz="2400" dirty="0">
                <a:ea typeface="宋体" panose="02010600030101010101" pitchFamily="2" charset="-122"/>
              </a:rPr>
              <a:t>For each type of data (data entity or domain class), verify that a use case has been identified that </a:t>
            </a:r>
            <a:r>
              <a:rPr lang="en-US" altLang="zh-CN" sz="2400" u="sng" dirty="0">
                <a:ea typeface="宋体" panose="02010600030101010101" pitchFamily="2" charset="-122"/>
              </a:rPr>
              <a:t>creates</a:t>
            </a:r>
            <a:r>
              <a:rPr lang="en-US" altLang="zh-CN" sz="2400" dirty="0">
                <a:ea typeface="宋体" panose="02010600030101010101" pitchFamily="2" charset="-122"/>
              </a:rPr>
              <a:t> a new instance, </a:t>
            </a:r>
            <a:r>
              <a:rPr lang="en-US" altLang="zh-CN" sz="2400" u="sng" dirty="0">
                <a:ea typeface="宋体" panose="02010600030101010101" pitchFamily="2" charset="-122"/>
              </a:rPr>
              <a:t>updates</a:t>
            </a:r>
            <a:r>
              <a:rPr lang="en-US" altLang="zh-CN" sz="2400" dirty="0">
                <a:ea typeface="宋体" panose="02010600030101010101" pitchFamily="2" charset="-122"/>
              </a:rPr>
              <a:t> existing instances, </a:t>
            </a:r>
            <a:r>
              <a:rPr lang="en-US" altLang="zh-CN" sz="2400" u="sng" dirty="0">
                <a:ea typeface="宋体" panose="02010600030101010101" pitchFamily="2" charset="-122"/>
              </a:rPr>
              <a:t>reads or reports</a:t>
            </a:r>
            <a:r>
              <a:rPr lang="en-US" altLang="zh-CN" sz="2400" dirty="0">
                <a:ea typeface="宋体" panose="02010600030101010101" pitchFamily="2" charset="-122"/>
              </a:rPr>
              <a:t> values of instances, and </a:t>
            </a:r>
            <a:r>
              <a:rPr lang="en-US" altLang="zh-CN" sz="2400" u="sng" dirty="0">
                <a:ea typeface="宋体" panose="02010600030101010101" pitchFamily="2" charset="-122"/>
              </a:rPr>
              <a:t>deletes</a:t>
            </a:r>
            <a:r>
              <a:rPr lang="en-US" altLang="zh-CN" sz="2400" dirty="0">
                <a:ea typeface="宋体" panose="02010600030101010101" pitchFamily="2" charset="-122"/>
              </a:rPr>
              <a:t> (archives) an instance.</a:t>
            </a:r>
            <a:r>
              <a:rPr lang="zh-CN" altLang="en-US" sz="2400" dirty="0">
                <a:ea typeface="宋体" panose="02010600030101010101" pitchFamily="2" charset="-122"/>
              </a:rPr>
              <a:t>（对于每种数据来说，要核实已确定的用例，包括</a:t>
            </a:r>
            <a:r>
              <a:rPr lang="zh-CN" altLang="en-US" sz="2400" u="sng" dirty="0">
                <a:ea typeface="宋体" panose="02010600030101010101" pitchFamily="2" charset="-122"/>
              </a:rPr>
              <a:t>创建</a:t>
            </a:r>
            <a:r>
              <a:rPr lang="zh-CN" altLang="en-US" sz="2400" dirty="0">
                <a:ea typeface="宋体" panose="02010600030101010101" pitchFamily="2" charset="-122"/>
              </a:rPr>
              <a:t>一个新实例、</a:t>
            </a:r>
            <a:r>
              <a:rPr lang="zh-CN" altLang="en-US" sz="2400" u="sng" dirty="0">
                <a:ea typeface="宋体" panose="02010600030101010101" pitchFamily="2" charset="-122"/>
              </a:rPr>
              <a:t>更新</a:t>
            </a:r>
            <a:r>
              <a:rPr lang="zh-CN" altLang="en-US" sz="2400" dirty="0">
                <a:ea typeface="宋体" panose="02010600030101010101" pitchFamily="2" charset="-122"/>
              </a:rPr>
              <a:t>现有的实例、</a:t>
            </a:r>
            <a:r>
              <a:rPr lang="zh-CN" altLang="en-US" sz="2400" u="sng" dirty="0">
                <a:ea typeface="宋体" panose="02010600030101010101" pitchFamily="2" charset="-122"/>
              </a:rPr>
              <a:t>读取</a:t>
            </a:r>
            <a:r>
              <a:rPr lang="zh-CN" altLang="en-US" sz="2400" dirty="0">
                <a:ea typeface="宋体" panose="02010600030101010101" pitchFamily="2" charset="-122"/>
              </a:rPr>
              <a:t>或报告实例的价值以及</a:t>
            </a:r>
            <a:r>
              <a:rPr lang="zh-CN" altLang="en-US" sz="2400" u="sng" dirty="0">
                <a:ea typeface="宋体" panose="02010600030101010101" pitchFamily="2" charset="-122"/>
              </a:rPr>
              <a:t>删除</a:t>
            </a:r>
            <a:r>
              <a:rPr lang="zh-CN" altLang="en-US" sz="2400" dirty="0">
                <a:ea typeface="宋体" panose="02010600030101010101" pitchFamily="2" charset="-122"/>
              </a:rPr>
              <a:t>（存储）实例）</a:t>
            </a:r>
            <a:endParaRPr lang="en-US" altLang="zh-CN" sz="2400" dirty="0">
              <a:ea typeface="宋体" panose="02010600030101010101" pitchFamily="2" charset="-122"/>
            </a:endParaRPr>
          </a:p>
          <a:p>
            <a:pPr marL="0" indent="0" eaLnBrk="1" hangingPunct="1">
              <a:spcBef>
                <a:spcPct val="20000"/>
              </a:spcBef>
              <a:buClr>
                <a:schemeClr val="tx2"/>
              </a:buClr>
              <a:buSzPct val="70000"/>
            </a:pPr>
            <a:endParaRPr lang="en-GB" altLang="zh-CN" sz="2400" dirty="0"/>
          </a:p>
        </p:txBody>
      </p:sp>
      <p:sp>
        <p:nvSpPr>
          <p:cNvPr id="26630" name="Rectangle 6">
            <a:extLst>
              <a:ext uri="{FF2B5EF4-FFF2-40B4-BE49-F238E27FC236}">
                <a16:creationId xmlns:a16="http://schemas.microsoft.com/office/drawing/2014/main" id="{E14DB953-C6D1-4F3A-98F2-403D2A1FDF57}"/>
              </a:ext>
            </a:extLst>
          </p:cNvPr>
          <p:cNvSpPr>
            <a:spLocks noChangeArrowheads="1"/>
          </p:cNvSpPr>
          <p:nvPr/>
        </p:nvSpPr>
        <p:spPr bwMode="auto">
          <a:xfrm>
            <a:off x="6858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6631" name="Footer Placeholder 5">
            <a:extLst>
              <a:ext uri="{FF2B5EF4-FFF2-40B4-BE49-F238E27FC236}">
                <a16:creationId xmlns:a16="http://schemas.microsoft.com/office/drawing/2014/main" id="{7A86C07F-A33E-4A4F-9EFE-D6BF84E46601}"/>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31E0C265-4FC6-4DA6-9EC1-3670F3E7556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EE389F6-52AB-4655-9DF9-6C536E1E1239}" type="slidenum">
              <a:rPr lang="en-US" altLang="en-US"/>
              <a:pPr eaLnBrk="1" hangingPunct="1"/>
              <a:t>37</a:t>
            </a:fld>
            <a:endParaRPr lang="en-US" altLang="en-US"/>
          </a:p>
        </p:txBody>
      </p:sp>
      <p:sp>
        <p:nvSpPr>
          <p:cNvPr id="26627" name="Rectangle 2">
            <a:extLst>
              <a:ext uri="{FF2B5EF4-FFF2-40B4-BE49-F238E27FC236}">
                <a16:creationId xmlns:a16="http://schemas.microsoft.com/office/drawing/2014/main" id="{0B2B6F59-57D0-45D1-A62B-4E31FCB73239}"/>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CRUD Technique Steps</a:t>
            </a:r>
          </a:p>
        </p:txBody>
      </p:sp>
      <p:sp>
        <p:nvSpPr>
          <p:cNvPr id="26628" name="Rectangle 3">
            <a:extLst>
              <a:ext uri="{FF2B5EF4-FFF2-40B4-BE49-F238E27FC236}">
                <a16:creationId xmlns:a16="http://schemas.microsoft.com/office/drawing/2014/main" id="{9EA4ADDA-4639-4F27-B6A4-59864D93DB5B}"/>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26629" name="Rectangle 4">
            <a:extLst>
              <a:ext uri="{FF2B5EF4-FFF2-40B4-BE49-F238E27FC236}">
                <a16:creationId xmlns:a16="http://schemas.microsoft.com/office/drawing/2014/main" id="{9C29292F-E940-41D1-AD5F-9066A236E67E}"/>
              </a:ext>
            </a:extLst>
          </p:cNvPr>
          <p:cNvSpPr>
            <a:spLocks noChangeArrowheads="1"/>
          </p:cNvSpPr>
          <p:nvPr/>
        </p:nvSpPr>
        <p:spPr bwMode="auto">
          <a:xfrm>
            <a:off x="609600" y="1371600"/>
            <a:ext cx="82296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mj-lt"/>
              <a:buAutoNum type="arabicPeriod" startAt="3"/>
            </a:pPr>
            <a:r>
              <a:rPr lang="en-US" altLang="zh-CN" sz="2400" dirty="0">
                <a:ea typeface="宋体" panose="02010600030101010101" pitchFamily="2" charset="-122"/>
              </a:rPr>
              <a:t>If a needed use case has been overlooked, </a:t>
            </a:r>
            <a:r>
              <a:rPr lang="en-US" altLang="zh-CN" sz="2400" u="sng" dirty="0">
                <a:ea typeface="宋体" panose="02010600030101010101" pitchFamily="2" charset="-122"/>
              </a:rPr>
              <a:t>add a new use case </a:t>
            </a:r>
            <a:r>
              <a:rPr lang="en-US" altLang="zh-CN" sz="2400" dirty="0">
                <a:ea typeface="宋体" panose="02010600030101010101" pitchFamily="2" charset="-122"/>
              </a:rPr>
              <a:t>and then identify the stakeholders.</a:t>
            </a:r>
            <a:r>
              <a:rPr lang="zh-CN" altLang="en-US" sz="2400" dirty="0">
                <a:ea typeface="宋体" panose="02010600030101010101" pitchFamily="2" charset="-122"/>
              </a:rPr>
              <a:t>（</a:t>
            </a:r>
            <a:r>
              <a:rPr lang="zh-CN" altLang="en-US" sz="2400" dirty="0"/>
              <a:t>如果一个必须的用例被忽视了，那么需要添加一个新用例然后确定利益相关者</a:t>
            </a:r>
            <a:r>
              <a:rPr lang="zh-CN" altLang="en-US" sz="2400" dirty="0">
                <a:ea typeface="宋体" panose="02010600030101010101" pitchFamily="2" charset="-122"/>
              </a:rPr>
              <a:t>）</a:t>
            </a:r>
            <a:endParaRPr lang="en-US" altLang="zh-CN" sz="24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AutoNum type="arabicPeriod" startAt="3"/>
            </a:pPr>
            <a:r>
              <a:rPr lang="en-US" altLang="zh-CN" sz="2400" dirty="0">
                <a:ea typeface="宋体" panose="02010600030101010101" pitchFamily="2" charset="-122"/>
              </a:rPr>
              <a:t>With integrated applications, make sure it is clear which application is responsible for adding and maintaining the data and which system merely uses the data.</a:t>
            </a:r>
            <a:r>
              <a:rPr lang="zh-CN" altLang="en-US" sz="2400" dirty="0">
                <a:ea typeface="宋体" panose="02010600030101010101" pitchFamily="2" charset="-122"/>
              </a:rPr>
              <a:t>（</a:t>
            </a:r>
            <a:r>
              <a:rPr lang="zh-CN" altLang="en-US" sz="2400" dirty="0"/>
              <a:t>通过已整合的应用来保证能清晰地指出哪个应用是负责添加和维护数据的，而哪个系统仅仅是使用数据的</a:t>
            </a:r>
            <a:r>
              <a:rPr lang="zh-CN" altLang="en-US" sz="2400" dirty="0">
                <a:ea typeface="宋体" panose="02010600030101010101" pitchFamily="2" charset="-122"/>
              </a:rPr>
              <a:t>）</a:t>
            </a:r>
            <a:endParaRPr lang="en-GB" altLang="zh-CN" sz="2400" dirty="0"/>
          </a:p>
          <a:p>
            <a:pPr eaLnBrk="1" hangingPunct="1">
              <a:spcBef>
                <a:spcPct val="20000"/>
              </a:spcBef>
              <a:buClr>
                <a:schemeClr val="tx2"/>
              </a:buClr>
              <a:buSzPct val="70000"/>
              <a:buFont typeface="Wingdings" panose="05000000000000000000" pitchFamily="2" charset="2"/>
              <a:buChar char="l"/>
            </a:pPr>
            <a:endParaRPr lang="en-GB" altLang="zh-CN" sz="2400" dirty="0"/>
          </a:p>
        </p:txBody>
      </p:sp>
      <p:sp>
        <p:nvSpPr>
          <p:cNvPr id="26630" name="Rectangle 6">
            <a:extLst>
              <a:ext uri="{FF2B5EF4-FFF2-40B4-BE49-F238E27FC236}">
                <a16:creationId xmlns:a16="http://schemas.microsoft.com/office/drawing/2014/main" id="{E14DB953-C6D1-4F3A-98F2-403D2A1FDF57}"/>
              </a:ext>
            </a:extLst>
          </p:cNvPr>
          <p:cNvSpPr>
            <a:spLocks noChangeArrowheads="1"/>
          </p:cNvSpPr>
          <p:nvPr/>
        </p:nvSpPr>
        <p:spPr bwMode="auto">
          <a:xfrm>
            <a:off x="6858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6631" name="Footer Placeholder 5">
            <a:extLst>
              <a:ext uri="{FF2B5EF4-FFF2-40B4-BE49-F238E27FC236}">
                <a16:creationId xmlns:a16="http://schemas.microsoft.com/office/drawing/2014/main" id="{7A86C07F-A33E-4A4F-9EFE-D6BF84E46601}"/>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1629587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6">
            <a:extLst>
              <a:ext uri="{FF2B5EF4-FFF2-40B4-BE49-F238E27FC236}">
                <a16:creationId xmlns:a16="http://schemas.microsoft.com/office/drawing/2014/main" id="{3ED6F6DB-3019-4A38-A5CC-9444C9DC66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9EB8731-1F19-4062-AE3E-AFB4EFCB95EB}" type="slidenum">
              <a:rPr lang="en-US" altLang="en-US"/>
              <a:pPr eaLnBrk="1" hangingPunct="1"/>
              <a:t>38</a:t>
            </a:fld>
            <a:endParaRPr lang="en-US" altLang="en-US"/>
          </a:p>
        </p:txBody>
      </p:sp>
      <p:sp>
        <p:nvSpPr>
          <p:cNvPr id="27651" name="Rectangle 2">
            <a:extLst>
              <a:ext uri="{FF2B5EF4-FFF2-40B4-BE49-F238E27FC236}">
                <a16:creationId xmlns:a16="http://schemas.microsoft.com/office/drawing/2014/main" id="{7EBACAE3-98AF-4C87-8297-03FCBD2815B9}"/>
              </a:ext>
            </a:extLst>
          </p:cNvPr>
          <p:cNvSpPr>
            <a:spLocks noGrp="1" noChangeArrowheads="1"/>
          </p:cNvSpPr>
          <p:nvPr>
            <p:ph type="title"/>
          </p:nvPr>
        </p:nvSpPr>
        <p:spPr/>
        <p:txBody>
          <a:bodyPr/>
          <a:lstStyle/>
          <a:p>
            <a:pPr eaLnBrk="1" hangingPunct="1"/>
            <a:r>
              <a:rPr lang="en-US" altLang="zh-CN" sz="3500">
                <a:ea typeface="宋体" panose="02010600030101010101" pitchFamily="2" charset="-122"/>
              </a:rPr>
              <a:t>CRUD Technique</a:t>
            </a:r>
            <a:br>
              <a:rPr lang="en-US" altLang="zh-CN" sz="3500">
                <a:ea typeface="宋体" panose="02010600030101010101" pitchFamily="2" charset="-122"/>
              </a:rPr>
            </a:br>
            <a:r>
              <a:rPr lang="en-US" altLang="zh-CN" sz="3500">
                <a:ea typeface="宋体" panose="02010600030101010101" pitchFamily="2" charset="-122"/>
              </a:rPr>
              <a:t>Use Case vs. Domain Class Table</a:t>
            </a:r>
          </a:p>
        </p:txBody>
      </p:sp>
      <p:sp>
        <p:nvSpPr>
          <p:cNvPr id="27652" name="Rectangle 3">
            <a:extLst>
              <a:ext uri="{FF2B5EF4-FFF2-40B4-BE49-F238E27FC236}">
                <a16:creationId xmlns:a16="http://schemas.microsoft.com/office/drawing/2014/main" id="{AB29F214-28A8-489E-B49B-B6EB0C871E82}"/>
              </a:ext>
            </a:extLst>
          </p:cNvPr>
          <p:cNvSpPr>
            <a:spLocks noGrp="1" noChangeArrowheads="1"/>
          </p:cNvSpPr>
          <p:nvPr>
            <p:ph type="body" sz="half" idx="1"/>
          </p:nvPr>
        </p:nvSpPr>
        <p:spPr/>
        <p:txBody>
          <a:bodyPr/>
          <a:lstStyle/>
          <a:p>
            <a:pPr marL="571500" indent="-571500" eaLnBrk="1" hangingPunct="1"/>
            <a:endParaRPr lang="en-GB" altLang="zh-CN" sz="2400"/>
          </a:p>
          <a:p>
            <a:pPr marL="571500" indent="-571500" eaLnBrk="1" hangingPunct="1"/>
            <a:endParaRPr lang="en-GB" altLang="zh-CN" sz="2800"/>
          </a:p>
        </p:txBody>
      </p:sp>
      <p:sp>
        <p:nvSpPr>
          <p:cNvPr id="27653" name="Rectangle 4">
            <a:extLst>
              <a:ext uri="{FF2B5EF4-FFF2-40B4-BE49-F238E27FC236}">
                <a16:creationId xmlns:a16="http://schemas.microsoft.com/office/drawing/2014/main" id="{B43B1B83-453B-425F-9E9D-54387105F3F8}"/>
              </a:ext>
            </a:extLst>
          </p:cNvPr>
          <p:cNvSpPr>
            <a:spLocks noChangeArrowheads="1"/>
          </p:cNvSpPr>
          <p:nvPr/>
        </p:nvSpPr>
        <p:spPr bwMode="auto">
          <a:xfrm>
            <a:off x="609600" y="1524000"/>
            <a:ext cx="82296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27654" name="Rectangle 7">
            <a:extLst>
              <a:ext uri="{FF2B5EF4-FFF2-40B4-BE49-F238E27FC236}">
                <a16:creationId xmlns:a16="http://schemas.microsoft.com/office/drawing/2014/main" id="{5AF70253-382C-47FD-862A-025AB6F99BC8}"/>
              </a:ext>
            </a:extLst>
          </p:cNvPr>
          <p:cNvSpPr>
            <a:spLocks noChangeArrowheads="1"/>
          </p:cNvSpPr>
          <p:nvPr/>
        </p:nvSpPr>
        <p:spPr bwMode="auto">
          <a:xfrm>
            <a:off x="457200" y="1600200"/>
            <a:ext cx="7467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2400" dirty="0"/>
              <a:t>To summarize CRUD analysis results, create a matrix of use cases and domain classes indicating which use case C, R, U, or D a domain class</a:t>
            </a:r>
            <a:endParaRPr lang="en-GB" altLang="zh-CN" sz="2800" dirty="0"/>
          </a:p>
        </p:txBody>
      </p:sp>
      <p:pic>
        <p:nvPicPr>
          <p:cNvPr id="27655" name="Picture 9">
            <a:extLst>
              <a:ext uri="{FF2B5EF4-FFF2-40B4-BE49-F238E27FC236}">
                <a16:creationId xmlns:a16="http://schemas.microsoft.com/office/drawing/2014/main" id="{BBB9BB06-2D4D-4A77-9A57-6FF61D7618B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28600" y="3255963"/>
            <a:ext cx="8686800" cy="2498725"/>
          </a:xfrm>
          <a:noFill/>
        </p:spPr>
      </p:pic>
      <p:sp>
        <p:nvSpPr>
          <p:cNvPr id="27656" name="Rectangle 8">
            <a:extLst>
              <a:ext uri="{FF2B5EF4-FFF2-40B4-BE49-F238E27FC236}">
                <a16:creationId xmlns:a16="http://schemas.microsoft.com/office/drawing/2014/main" id="{34578E51-5AA6-44D2-BFAF-E701E0E936F4}"/>
              </a:ext>
            </a:extLst>
          </p:cNvPr>
          <p:cNvSpPr>
            <a:spLocks noChangeArrowheads="1"/>
          </p:cNvSpPr>
          <p:nvPr/>
        </p:nvSpPr>
        <p:spPr bwMode="auto">
          <a:xfrm>
            <a:off x="10668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7657" name="Footer Placeholder 5">
            <a:extLst>
              <a:ext uri="{FF2B5EF4-FFF2-40B4-BE49-F238E27FC236}">
                <a16:creationId xmlns:a16="http://schemas.microsoft.com/office/drawing/2014/main" id="{E91E1E9A-3567-41B2-887A-FBF99674FE3B}"/>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6">
            <a:extLst>
              <a:ext uri="{FF2B5EF4-FFF2-40B4-BE49-F238E27FC236}">
                <a16:creationId xmlns:a16="http://schemas.microsoft.com/office/drawing/2014/main" id="{C39B0710-0FA9-4426-AF49-62BFBCAA86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46D3651-A9D5-40A2-A61D-87A342BF9878}" type="slidenum">
              <a:rPr lang="en-US" altLang="en-US"/>
              <a:pPr eaLnBrk="1" hangingPunct="1"/>
              <a:t>39</a:t>
            </a:fld>
            <a:endParaRPr lang="en-US" altLang="en-US"/>
          </a:p>
        </p:txBody>
      </p:sp>
      <p:sp>
        <p:nvSpPr>
          <p:cNvPr id="28675" name="Rectangle 2">
            <a:extLst>
              <a:ext uri="{FF2B5EF4-FFF2-40B4-BE49-F238E27FC236}">
                <a16:creationId xmlns:a16="http://schemas.microsoft.com/office/drawing/2014/main" id="{104573BE-5A19-40E6-ACE3-08BF1C7FDCE8}"/>
              </a:ext>
            </a:extLst>
          </p:cNvPr>
          <p:cNvSpPr>
            <a:spLocks noGrp="1" noChangeArrowheads="1"/>
          </p:cNvSpPr>
          <p:nvPr>
            <p:ph type="title"/>
          </p:nvPr>
        </p:nvSpPr>
        <p:spPr/>
        <p:txBody>
          <a:bodyPr/>
          <a:lstStyle/>
          <a:p>
            <a:pPr eaLnBrk="1" hangingPunct="1"/>
            <a:r>
              <a:rPr lang="en-US" altLang="zh-CN">
                <a:ea typeface="宋体" panose="02010600030101010101" pitchFamily="2" charset="-122"/>
              </a:rPr>
              <a:t>Use Cases and</a:t>
            </a:r>
            <a:br>
              <a:rPr lang="en-US" altLang="zh-CN">
                <a:ea typeface="宋体" panose="02010600030101010101" pitchFamily="2" charset="-122"/>
              </a:rPr>
            </a:br>
            <a:r>
              <a:rPr lang="en-US" altLang="zh-CN">
                <a:ea typeface="宋体" panose="02010600030101010101" pitchFamily="2" charset="-122"/>
              </a:rPr>
              <a:t>Brief Use Case Descriptions</a:t>
            </a:r>
          </a:p>
        </p:txBody>
      </p:sp>
      <p:sp>
        <p:nvSpPr>
          <p:cNvPr id="28676" name="Rectangle 3">
            <a:extLst>
              <a:ext uri="{FF2B5EF4-FFF2-40B4-BE49-F238E27FC236}">
                <a16:creationId xmlns:a16="http://schemas.microsoft.com/office/drawing/2014/main" id="{E2DB3E75-5876-483E-B0D7-5E9E65D8C490}"/>
              </a:ext>
            </a:extLst>
          </p:cNvPr>
          <p:cNvSpPr>
            <a:spLocks noGrp="1" noChangeArrowheads="1"/>
          </p:cNvSpPr>
          <p:nvPr>
            <p:ph type="body" sz="half" idx="1"/>
          </p:nvPr>
        </p:nvSpPr>
        <p:spPr/>
        <p:txBody>
          <a:bodyPr/>
          <a:lstStyle/>
          <a:p>
            <a:pPr marL="571500" indent="-571500" eaLnBrk="1" hangingPunct="1"/>
            <a:endParaRPr lang="en-GB" altLang="zh-CN" sz="2400"/>
          </a:p>
          <a:p>
            <a:pPr marL="571500" indent="-571500" eaLnBrk="1" hangingPunct="1"/>
            <a:endParaRPr lang="en-GB" altLang="zh-CN" sz="2800"/>
          </a:p>
        </p:txBody>
      </p:sp>
      <p:sp>
        <p:nvSpPr>
          <p:cNvPr id="28677" name="Rectangle 4">
            <a:extLst>
              <a:ext uri="{FF2B5EF4-FFF2-40B4-BE49-F238E27FC236}">
                <a16:creationId xmlns:a16="http://schemas.microsoft.com/office/drawing/2014/main" id="{6FE2B421-DB10-46B0-A43E-D5E640DD2467}"/>
              </a:ext>
            </a:extLst>
          </p:cNvPr>
          <p:cNvSpPr>
            <a:spLocks noChangeArrowheads="1"/>
          </p:cNvSpPr>
          <p:nvPr/>
        </p:nvSpPr>
        <p:spPr bwMode="auto">
          <a:xfrm>
            <a:off x="609600" y="1524000"/>
            <a:ext cx="82296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28678" name="Rectangle 6">
            <a:extLst>
              <a:ext uri="{FF2B5EF4-FFF2-40B4-BE49-F238E27FC236}">
                <a16:creationId xmlns:a16="http://schemas.microsoft.com/office/drawing/2014/main" id="{F3282542-9B8A-4934-971A-DA165412E928}"/>
              </a:ext>
            </a:extLst>
          </p:cNvPr>
          <p:cNvSpPr>
            <a:spLocks noChangeArrowheads="1"/>
          </p:cNvSpPr>
          <p:nvPr/>
        </p:nvSpPr>
        <p:spPr bwMode="auto">
          <a:xfrm>
            <a:off x="457200" y="1600200"/>
            <a:ext cx="7467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2400" dirty="0"/>
              <a:t>Brief use case description is often a one sentence description showing the main steps in a use case</a:t>
            </a:r>
            <a:endParaRPr lang="en-GB" altLang="zh-CN" sz="2800" dirty="0"/>
          </a:p>
        </p:txBody>
      </p:sp>
      <p:pic>
        <p:nvPicPr>
          <p:cNvPr id="28679" name="Picture 11">
            <a:extLst>
              <a:ext uri="{FF2B5EF4-FFF2-40B4-BE49-F238E27FC236}">
                <a16:creationId xmlns:a16="http://schemas.microsoft.com/office/drawing/2014/main" id="{0206A1B6-672C-4014-97B8-C6BBE96DC5D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57200" y="3124200"/>
            <a:ext cx="8229600" cy="2808288"/>
          </a:xfrm>
          <a:noFill/>
        </p:spPr>
      </p:pic>
      <p:sp>
        <p:nvSpPr>
          <p:cNvPr id="28680" name="Rectangle 8">
            <a:extLst>
              <a:ext uri="{FF2B5EF4-FFF2-40B4-BE49-F238E27FC236}">
                <a16:creationId xmlns:a16="http://schemas.microsoft.com/office/drawing/2014/main" id="{90B0F01C-8AAD-408D-B5C5-6394C9C2F718}"/>
              </a:ext>
            </a:extLst>
          </p:cNvPr>
          <p:cNvSpPr>
            <a:spLocks noChangeArrowheads="1"/>
          </p:cNvSpPr>
          <p:nvPr/>
        </p:nvSpPr>
        <p:spPr bwMode="auto">
          <a:xfrm>
            <a:off x="8382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8681" name="Footer Placeholder 5">
            <a:extLst>
              <a:ext uri="{FF2B5EF4-FFF2-40B4-BE49-F238E27FC236}">
                <a16:creationId xmlns:a16="http://schemas.microsoft.com/office/drawing/2014/main" id="{D21FD1DA-5BC8-4831-9231-A269DF7BB268}"/>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3FBA1EBE-759B-4B22-994E-802F40155C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148880D-6651-45A9-A720-5C153F8877DF}" type="slidenum">
              <a:rPr lang="en-US" altLang="en-US"/>
              <a:pPr eaLnBrk="1" hangingPunct="1"/>
              <a:t>40</a:t>
            </a:fld>
            <a:endParaRPr lang="en-US" altLang="en-US"/>
          </a:p>
        </p:txBody>
      </p:sp>
      <p:sp>
        <p:nvSpPr>
          <p:cNvPr id="5123" name="Rectangle 2">
            <a:extLst>
              <a:ext uri="{FF2B5EF4-FFF2-40B4-BE49-F238E27FC236}">
                <a16:creationId xmlns:a16="http://schemas.microsoft.com/office/drawing/2014/main" id="{7F2196B2-40DF-44A4-AC21-7DB6528A6F74}"/>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3 Outline</a:t>
            </a:r>
          </a:p>
        </p:txBody>
      </p:sp>
      <p:sp>
        <p:nvSpPr>
          <p:cNvPr id="5124" name="Rectangle 3">
            <a:extLst>
              <a:ext uri="{FF2B5EF4-FFF2-40B4-BE49-F238E27FC236}">
                <a16:creationId xmlns:a16="http://schemas.microsoft.com/office/drawing/2014/main" id="{8ADCAA2F-8645-4D21-8FCE-C79E32FF8469}"/>
              </a:ext>
            </a:extLst>
          </p:cNvPr>
          <p:cNvSpPr>
            <a:spLocks noGrp="1" noChangeArrowheads="1"/>
          </p:cNvSpPr>
          <p:nvPr>
            <p:ph type="body" idx="1"/>
          </p:nvPr>
        </p:nvSpPr>
        <p:spPr>
          <a:xfrm>
            <a:off x="457200" y="1752600"/>
            <a:ext cx="8229600" cy="4411663"/>
          </a:xfrm>
        </p:spPr>
        <p:txBody>
          <a:bodyPr/>
          <a:lstStyle/>
          <a:p>
            <a:pPr eaLnBrk="1" hangingPunct="1"/>
            <a:r>
              <a:rPr lang="en-US" altLang="zh-CN" dirty="0">
                <a:ea typeface="宋体" panose="02010600030101010101" pitchFamily="2" charset="-122"/>
              </a:rPr>
              <a:t>Use Cases and User Goals</a:t>
            </a:r>
          </a:p>
          <a:p>
            <a:pPr eaLnBrk="1" hangingPunct="1"/>
            <a:r>
              <a:rPr lang="en-US" altLang="zh-CN" dirty="0">
                <a:ea typeface="宋体" panose="02010600030101010101" pitchFamily="2" charset="-122"/>
              </a:rPr>
              <a:t>Use Cases and Event Decomposition</a:t>
            </a:r>
          </a:p>
          <a:p>
            <a:pPr eaLnBrk="1" hangingPunct="1"/>
            <a:r>
              <a:rPr lang="en-US" altLang="zh-CN" dirty="0">
                <a:ea typeface="宋体" panose="02010600030101010101" pitchFamily="2" charset="-122"/>
              </a:rPr>
              <a:t>Use Cases and CRUD</a:t>
            </a:r>
          </a:p>
          <a:p>
            <a:pPr eaLnBrk="1" hangingPunct="1"/>
            <a:r>
              <a:rPr lang="en-US" altLang="zh-CN" dirty="0">
                <a:solidFill>
                  <a:srgbClr val="C00000"/>
                </a:solidFill>
                <a:ea typeface="宋体" panose="02010600030101010101" pitchFamily="2" charset="-122"/>
              </a:rPr>
              <a:t>Use Cases in the Ridgeline Mountain Outfitters Case</a:t>
            </a:r>
            <a:r>
              <a:rPr lang="zh-CN" altLang="en-US" dirty="0">
                <a:solidFill>
                  <a:srgbClr val="C00000"/>
                </a:solidFill>
                <a:ea typeface="宋体" panose="02010600030101010101" pitchFamily="2" charset="-122"/>
              </a:rPr>
              <a:t>（</a:t>
            </a:r>
            <a:r>
              <a:rPr lang="en-US" altLang="zh-CN" dirty="0">
                <a:solidFill>
                  <a:srgbClr val="C00000"/>
                </a:solidFill>
                <a:ea typeface="宋体" panose="02010600030101010101" pitchFamily="2" charset="-122"/>
              </a:rPr>
              <a:t>RMO</a:t>
            </a:r>
            <a:r>
              <a:rPr lang="zh-CN" altLang="en-US" dirty="0">
                <a:solidFill>
                  <a:srgbClr val="C00000"/>
                </a:solidFill>
                <a:ea typeface="宋体" panose="02010600030101010101" pitchFamily="2" charset="-122"/>
              </a:rPr>
              <a:t>中的用例）</a:t>
            </a:r>
            <a:endParaRPr lang="en-US" altLang="zh-CN" dirty="0">
              <a:solidFill>
                <a:srgbClr val="C00000"/>
              </a:solidFill>
              <a:ea typeface="宋体" panose="02010600030101010101" pitchFamily="2" charset="-122"/>
            </a:endParaRPr>
          </a:p>
          <a:p>
            <a:pPr eaLnBrk="1" hangingPunct="1"/>
            <a:r>
              <a:rPr lang="en-US" altLang="zh-CN" dirty="0">
                <a:ea typeface="宋体" panose="02010600030101010101" pitchFamily="2" charset="-122"/>
              </a:rPr>
              <a:t>Use Case Diagrams</a:t>
            </a:r>
          </a:p>
        </p:txBody>
      </p:sp>
      <p:sp>
        <p:nvSpPr>
          <p:cNvPr id="5125" name="Rectangle 5">
            <a:extLst>
              <a:ext uri="{FF2B5EF4-FFF2-40B4-BE49-F238E27FC236}">
                <a16:creationId xmlns:a16="http://schemas.microsoft.com/office/drawing/2014/main" id="{B6678780-AC33-4ACB-81A7-92F1D3E5114F}"/>
              </a:ext>
            </a:extLst>
          </p:cNvPr>
          <p:cNvSpPr>
            <a:spLocks noChangeArrowheads="1"/>
          </p:cNvSpPr>
          <p:nvPr/>
        </p:nvSpPr>
        <p:spPr bwMode="auto">
          <a:xfrm>
            <a:off x="6858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6" name="Footer Placeholder 5">
            <a:extLst>
              <a:ext uri="{FF2B5EF4-FFF2-40B4-BE49-F238E27FC236}">
                <a16:creationId xmlns:a16="http://schemas.microsoft.com/office/drawing/2014/main" id="{6231F08F-229D-4AF6-8E48-D165A93739F0}"/>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2447141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F5F13795-8492-4396-9DB3-30FA88398EE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C7ECCC-3469-4EFC-886F-E26A473DF578}" type="slidenum">
              <a:rPr lang="en-US" altLang="en-US"/>
              <a:pPr eaLnBrk="1" hangingPunct="1"/>
              <a:t>41</a:t>
            </a:fld>
            <a:endParaRPr lang="en-US" altLang="en-US"/>
          </a:p>
        </p:txBody>
      </p:sp>
      <p:sp>
        <p:nvSpPr>
          <p:cNvPr id="29699" name="Rectangle 2">
            <a:extLst>
              <a:ext uri="{FF2B5EF4-FFF2-40B4-BE49-F238E27FC236}">
                <a16:creationId xmlns:a16="http://schemas.microsoft.com/office/drawing/2014/main" id="{57DBE508-5C68-4164-8CB1-6030BCD204B9}"/>
              </a:ext>
            </a:extLst>
          </p:cNvPr>
          <p:cNvSpPr>
            <a:spLocks noGrp="1" noChangeArrowheads="1"/>
          </p:cNvSpPr>
          <p:nvPr>
            <p:ph type="title"/>
          </p:nvPr>
        </p:nvSpPr>
        <p:spPr>
          <a:xfrm>
            <a:off x="457200" y="1143000"/>
            <a:ext cx="2209800" cy="3124200"/>
          </a:xfrm>
        </p:spPr>
        <p:txBody>
          <a:bodyPr/>
          <a:lstStyle/>
          <a:p>
            <a:pPr eaLnBrk="1" hangingPunct="1"/>
            <a:r>
              <a:rPr lang="en-US" altLang="zh-CN" sz="3600">
                <a:ea typeface="宋体" panose="02010600030101010101" pitchFamily="2" charset="-122"/>
              </a:rPr>
              <a:t>RMO CSMS Project Use Cases</a:t>
            </a:r>
          </a:p>
        </p:txBody>
      </p:sp>
      <p:pic>
        <p:nvPicPr>
          <p:cNvPr id="29700" name="Picture 7">
            <a:extLst>
              <a:ext uri="{FF2B5EF4-FFF2-40B4-BE49-F238E27FC236}">
                <a16:creationId xmlns:a16="http://schemas.microsoft.com/office/drawing/2014/main" id="{C3A14967-1584-47E0-AB26-E869C581E30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86000" y="838200"/>
            <a:ext cx="6227763" cy="5046663"/>
          </a:xfrm>
          <a:noFill/>
        </p:spPr>
      </p:pic>
      <p:sp>
        <p:nvSpPr>
          <p:cNvPr id="29701" name="Rectangle 5">
            <a:extLst>
              <a:ext uri="{FF2B5EF4-FFF2-40B4-BE49-F238E27FC236}">
                <a16:creationId xmlns:a16="http://schemas.microsoft.com/office/drawing/2014/main" id="{380FEF65-D950-4349-9468-7C5246C48269}"/>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9702" name="Footer Placeholder 5">
            <a:extLst>
              <a:ext uri="{FF2B5EF4-FFF2-40B4-BE49-F238E27FC236}">
                <a16:creationId xmlns:a16="http://schemas.microsoft.com/office/drawing/2014/main" id="{A219104A-D812-456B-9294-FD24898D7B91}"/>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01DA0A9D-FFD7-449B-88AC-D31332DF2B0B}"/>
              </a:ext>
            </a:extLst>
          </p:cNvPr>
          <p:cNvSpPr/>
          <p:nvPr/>
        </p:nvSpPr>
        <p:spPr>
          <a:xfrm>
            <a:off x="4485480" y="838200"/>
            <a:ext cx="1839119" cy="381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30B4A4F6-DF92-446D-88D7-66841F7EA7AF}"/>
              </a:ext>
            </a:extLst>
          </p:cNvPr>
          <p:cNvSpPr txBox="1"/>
          <p:nvPr/>
        </p:nvSpPr>
        <p:spPr>
          <a:xfrm>
            <a:off x="4419600" y="466979"/>
            <a:ext cx="2005677" cy="369332"/>
          </a:xfrm>
          <a:prstGeom prst="rect">
            <a:avLst/>
          </a:prstGeom>
          <a:noFill/>
        </p:spPr>
        <p:txBody>
          <a:bodyPr wrap="none" rtlCol="0">
            <a:spAutoFit/>
          </a:bodyPr>
          <a:lstStyle/>
          <a:p>
            <a:r>
              <a:rPr lang="en-US" altLang="zh-CN" dirty="0"/>
              <a:t>CSMS</a:t>
            </a:r>
            <a:r>
              <a:rPr lang="zh-CN" altLang="en-US" dirty="0"/>
              <a:t>销售子系统</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45FE9BC2-42C9-4066-A36E-BEB71F9B532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086DA3A-5F42-4ADA-B534-A7A434E78748}" type="slidenum">
              <a:rPr lang="en-US" altLang="en-US"/>
              <a:pPr eaLnBrk="1" hangingPunct="1"/>
              <a:t>42</a:t>
            </a:fld>
            <a:endParaRPr lang="en-US" altLang="en-US"/>
          </a:p>
        </p:txBody>
      </p:sp>
      <p:sp>
        <p:nvSpPr>
          <p:cNvPr id="30723" name="Rectangle 2">
            <a:extLst>
              <a:ext uri="{FF2B5EF4-FFF2-40B4-BE49-F238E27FC236}">
                <a16:creationId xmlns:a16="http://schemas.microsoft.com/office/drawing/2014/main" id="{C521C5FB-A8F4-4FE7-8F0B-0E589AEED9EB}"/>
              </a:ext>
            </a:extLst>
          </p:cNvPr>
          <p:cNvSpPr>
            <a:spLocks noGrp="1" noChangeArrowheads="1"/>
          </p:cNvSpPr>
          <p:nvPr>
            <p:ph type="title"/>
          </p:nvPr>
        </p:nvSpPr>
        <p:spPr>
          <a:xfrm>
            <a:off x="381000" y="1371600"/>
            <a:ext cx="2362200" cy="2743200"/>
          </a:xfrm>
        </p:spPr>
        <p:txBody>
          <a:bodyPr/>
          <a:lstStyle/>
          <a:p>
            <a:pPr eaLnBrk="1" hangingPunct="1"/>
            <a:r>
              <a:rPr lang="en-US" altLang="zh-CN" sz="3600">
                <a:ea typeface="宋体" panose="02010600030101010101" pitchFamily="2" charset="-122"/>
              </a:rPr>
              <a:t>RMO CSMS Project Use Cases</a:t>
            </a:r>
          </a:p>
        </p:txBody>
      </p:sp>
      <p:pic>
        <p:nvPicPr>
          <p:cNvPr id="30724" name="Picture 7">
            <a:extLst>
              <a:ext uri="{FF2B5EF4-FFF2-40B4-BE49-F238E27FC236}">
                <a16:creationId xmlns:a16="http://schemas.microsoft.com/office/drawing/2014/main" id="{09176FE1-AB30-4E23-948B-FED9BDCD7C4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438400" y="995363"/>
            <a:ext cx="6153150" cy="4719637"/>
          </a:xfrm>
          <a:noFill/>
        </p:spPr>
      </p:pic>
      <p:sp>
        <p:nvSpPr>
          <p:cNvPr id="30725" name="Rectangle 5">
            <a:extLst>
              <a:ext uri="{FF2B5EF4-FFF2-40B4-BE49-F238E27FC236}">
                <a16:creationId xmlns:a16="http://schemas.microsoft.com/office/drawing/2014/main" id="{BCFD22AC-349C-41F9-8D81-68F1E427270C}"/>
              </a:ext>
            </a:extLst>
          </p:cNvPr>
          <p:cNvSpPr>
            <a:spLocks noChangeArrowheads="1"/>
          </p:cNvSpPr>
          <p:nvPr/>
        </p:nvSpPr>
        <p:spPr bwMode="auto">
          <a:xfrm>
            <a:off x="8382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0726" name="Footer Placeholder 5">
            <a:extLst>
              <a:ext uri="{FF2B5EF4-FFF2-40B4-BE49-F238E27FC236}">
                <a16:creationId xmlns:a16="http://schemas.microsoft.com/office/drawing/2014/main" id="{26756415-A08B-409B-A51A-C8393BAA85F0}"/>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38DF7AF7-F6D7-4C4D-A3F7-66B2757A1E1D}"/>
              </a:ext>
            </a:extLst>
          </p:cNvPr>
          <p:cNvSpPr/>
          <p:nvPr/>
        </p:nvSpPr>
        <p:spPr>
          <a:xfrm>
            <a:off x="4191000" y="1004507"/>
            <a:ext cx="2590800" cy="381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923F5199-6C3D-42D6-9AF8-E888253F5412}"/>
              </a:ext>
            </a:extLst>
          </p:cNvPr>
          <p:cNvSpPr txBox="1"/>
          <p:nvPr/>
        </p:nvSpPr>
        <p:spPr>
          <a:xfrm>
            <a:off x="4419600" y="466979"/>
            <a:ext cx="2467342" cy="369332"/>
          </a:xfrm>
          <a:prstGeom prst="rect">
            <a:avLst/>
          </a:prstGeom>
          <a:noFill/>
        </p:spPr>
        <p:txBody>
          <a:bodyPr wrap="none" rtlCol="0">
            <a:spAutoFit/>
          </a:bodyPr>
          <a:lstStyle/>
          <a:p>
            <a:r>
              <a:rPr lang="en-US" altLang="zh-CN" dirty="0"/>
              <a:t>CSMS</a:t>
            </a:r>
            <a:r>
              <a:rPr lang="zh-CN" altLang="en-US" dirty="0"/>
              <a:t>订单执行子系统</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431907DD-6E99-4D6E-94BB-B05A67D7C4D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424B43A-D5A5-49A2-BFE6-780F3A87738C}" type="slidenum">
              <a:rPr lang="en-US" altLang="en-US"/>
              <a:pPr eaLnBrk="1" hangingPunct="1"/>
              <a:t>43</a:t>
            </a:fld>
            <a:endParaRPr lang="en-US" altLang="en-US"/>
          </a:p>
        </p:txBody>
      </p:sp>
      <p:sp>
        <p:nvSpPr>
          <p:cNvPr id="31747" name="Rectangle 2">
            <a:extLst>
              <a:ext uri="{FF2B5EF4-FFF2-40B4-BE49-F238E27FC236}">
                <a16:creationId xmlns:a16="http://schemas.microsoft.com/office/drawing/2014/main" id="{6E954D88-8444-4172-AAE5-7A6F813903DE}"/>
              </a:ext>
            </a:extLst>
          </p:cNvPr>
          <p:cNvSpPr>
            <a:spLocks noGrp="1" noChangeArrowheads="1"/>
          </p:cNvSpPr>
          <p:nvPr>
            <p:ph type="title"/>
          </p:nvPr>
        </p:nvSpPr>
        <p:spPr>
          <a:xfrm>
            <a:off x="304800" y="1143000"/>
            <a:ext cx="2286000" cy="3154363"/>
          </a:xfrm>
        </p:spPr>
        <p:txBody>
          <a:bodyPr/>
          <a:lstStyle/>
          <a:p>
            <a:pPr eaLnBrk="1" hangingPunct="1"/>
            <a:r>
              <a:rPr lang="en-US" altLang="zh-CN" sz="3600">
                <a:ea typeface="宋体" panose="02010600030101010101" pitchFamily="2" charset="-122"/>
              </a:rPr>
              <a:t>RMO CSMS Project Use Cases</a:t>
            </a:r>
          </a:p>
        </p:txBody>
      </p:sp>
      <p:pic>
        <p:nvPicPr>
          <p:cNvPr id="31748" name="Picture 7">
            <a:extLst>
              <a:ext uri="{FF2B5EF4-FFF2-40B4-BE49-F238E27FC236}">
                <a16:creationId xmlns:a16="http://schemas.microsoft.com/office/drawing/2014/main" id="{A83CFAC8-2171-4482-8CFD-A91E53ECB26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057400" y="1219200"/>
            <a:ext cx="6634163" cy="4411663"/>
          </a:xfrm>
          <a:noFill/>
        </p:spPr>
      </p:pic>
      <p:sp>
        <p:nvSpPr>
          <p:cNvPr id="31749" name="Rectangle 5">
            <a:extLst>
              <a:ext uri="{FF2B5EF4-FFF2-40B4-BE49-F238E27FC236}">
                <a16:creationId xmlns:a16="http://schemas.microsoft.com/office/drawing/2014/main" id="{053E5A33-1378-4B4F-90C7-13C611AED16C}"/>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1750" name="Footer Placeholder 5">
            <a:extLst>
              <a:ext uri="{FF2B5EF4-FFF2-40B4-BE49-F238E27FC236}">
                <a16:creationId xmlns:a16="http://schemas.microsoft.com/office/drawing/2014/main" id="{D7674D52-D642-44A7-A22B-CC9FB646C8C2}"/>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280D9A62-C65E-470C-8730-81B06E52C1C2}"/>
              </a:ext>
            </a:extLst>
          </p:cNvPr>
          <p:cNvSpPr/>
          <p:nvPr/>
        </p:nvSpPr>
        <p:spPr>
          <a:xfrm>
            <a:off x="3962400" y="1227137"/>
            <a:ext cx="2971800" cy="381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8916FE5F-CBB0-4E98-AF3A-3BF77A946BE1}"/>
              </a:ext>
            </a:extLst>
          </p:cNvPr>
          <p:cNvSpPr txBox="1"/>
          <p:nvPr/>
        </p:nvSpPr>
        <p:spPr>
          <a:xfrm>
            <a:off x="4267200" y="811768"/>
            <a:ext cx="2467342" cy="369332"/>
          </a:xfrm>
          <a:prstGeom prst="rect">
            <a:avLst/>
          </a:prstGeom>
          <a:noFill/>
        </p:spPr>
        <p:txBody>
          <a:bodyPr wrap="none" rtlCol="0">
            <a:spAutoFit/>
          </a:bodyPr>
          <a:lstStyle/>
          <a:p>
            <a:r>
              <a:rPr lang="en-US" altLang="zh-CN" dirty="0"/>
              <a:t>CSMS</a:t>
            </a:r>
            <a:r>
              <a:rPr lang="zh-CN" altLang="en-US" dirty="0"/>
              <a:t>顾客账户子系统</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7E588A80-1838-4536-8E3C-E2F1D3D561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78B2E19-0A33-4BC6-9EB9-30A8A7FE3BF6}" type="slidenum">
              <a:rPr lang="en-US" altLang="en-US"/>
              <a:pPr eaLnBrk="1" hangingPunct="1"/>
              <a:t>44</a:t>
            </a:fld>
            <a:endParaRPr lang="en-US" altLang="en-US"/>
          </a:p>
        </p:txBody>
      </p:sp>
      <p:sp>
        <p:nvSpPr>
          <p:cNvPr id="32771" name="Rectangle 2">
            <a:extLst>
              <a:ext uri="{FF2B5EF4-FFF2-40B4-BE49-F238E27FC236}">
                <a16:creationId xmlns:a16="http://schemas.microsoft.com/office/drawing/2014/main" id="{0DC633BE-DBF0-4E9A-B720-2C7AFE76612F}"/>
              </a:ext>
            </a:extLst>
          </p:cNvPr>
          <p:cNvSpPr>
            <a:spLocks noGrp="1" noChangeArrowheads="1"/>
          </p:cNvSpPr>
          <p:nvPr>
            <p:ph type="title"/>
          </p:nvPr>
        </p:nvSpPr>
        <p:spPr>
          <a:xfrm>
            <a:off x="381000" y="1371600"/>
            <a:ext cx="2286000" cy="2743200"/>
          </a:xfrm>
        </p:spPr>
        <p:txBody>
          <a:bodyPr/>
          <a:lstStyle/>
          <a:p>
            <a:pPr eaLnBrk="1" hangingPunct="1"/>
            <a:r>
              <a:rPr lang="en-US" altLang="zh-CN" sz="3600">
                <a:ea typeface="宋体" panose="02010600030101010101" pitchFamily="2" charset="-122"/>
              </a:rPr>
              <a:t>RMO CSMS Project Use Cases</a:t>
            </a:r>
          </a:p>
        </p:txBody>
      </p:sp>
      <p:pic>
        <p:nvPicPr>
          <p:cNvPr id="32772" name="Picture 7">
            <a:extLst>
              <a:ext uri="{FF2B5EF4-FFF2-40B4-BE49-F238E27FC236}">
                <a16:creationId xmlns:a16="http://schemas.microsoft.com/office/drawing/2014/main" id="{8D68BCD5-2B04-43C9-B3DA-E9EFE70A509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438400" y="609600"/>
            <a:ext cx="6083300" cy="5534025"/>
          </a:xfrm>
          <a:noFill/>
        </p:spPr>
      </p:pic>
      <p:sp>
        <p:nvSpPr>
          <p:cNvPr id="32773" name="Rectangle 5">
            <a:extLst>
              <a:ext uri="{FF2B5EF4-FFF2-40B4-BE49-F238E27FC236}">
                <a16:creationId xmlns:a16="http://schemas.microsoft.com/office/drawing/2014/main" id="{33BCFE3D-D3A4-4862-97A8-3E0B3AE23B7E}"/>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2774" name="Footer Placeholder 5">
            <a:extLst>
              <a:ext uri="{FF2B5EF4-FFF2-40B4-BE49-F238E27FC236}">
                <a16:creationId xmlns:a16="http://schemas.microsoft.com/office/drawing/2014/main" id="{7176F403-4B50-43DD-912E-1FAC25E9BE2D}"/>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6347E44B-54F7-48C0-83E0-B6387165AC1E}"/>
              </a:ext>
            </a:extLst>
          </p:cNvPr>
          <p:cNvSpPr/>
          <p:nvPr/>
        </p:nvSpPr>
        <p:spPr>
          <a:xfrm>
            <a:off x="4392168" y="609600"/>
            <a:ext cx="2161032" cy="381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FC378CC1-869A-4CD0-8606-9D24EF1474AF}"/>
              </a:ext>
            </a:extLst>
          </p:cNvPr>
          <p:cNvSpPr/>
          <p:nvPr/>
        </p:nvSpPr>
        <p:spPr>
          <a:xfrm>
            <a:off x="4392168" y="2819400"/>
            <a:ext cx="2161032" cy="381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55FBE8F0-5B77-4D66-8E50-D0B21E5246C3}"/>
              </a:ext>
            </a:extLst>
          </p:cNvPr>
          <p:cNvSpPr txBox="1"/>
          <p:nvPr/>
        </p:nvSpPr>
        <p:spPr>
          <a:xfrm>
            <a:off x="4392168" y="272534"/>
            <a:ext cx="2467342" cy="369332"/>
          </a:xfrm>
          <a:prstGeom prst="rect">
            <a:avLst/>
          </a:prstGeom>
          <a:noFill/>
        </p:spPr>
        <p:txBody>
          <a:bodyPr wrap="none" rtlCol="0">
            <a:spAutoFit/>
          </a:bodyPr>
          <a:lstStyle/>
          <a:p>
            <a:r>
              <a:rPr lang="en-US" altLang="zh-CN" dirty="0"/>
              <a:t>CSMS</a:t>
            </a:r>
            <a:r>
              <a:rPr lang="zh-CN" altLang="en-US" dirty="0"/>
              <a:t>市场营销子系统</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3FBA1EBE-759B-4B22-994E-802F40155C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148880D-6651-45A9-A720-5C153F8877DF}" type="slidenum">
              <a:rPr lang="en-US" altLang="en-US"/>
              <a:pPr eaLnBrk="1" hangingPunct="1"/>
              <a:t>45</a:t>
            </a:fld>
            <a:endParaRPr lang="en-US" altLang="en-US"/>
          </a:p>
        </p:txBody>
      </p:sp>
      <p:sp>
        <p:nvSpPr>
          <p:cNvPr id="5123" name="Rectangle 2">
            <a:extLst>
              <a:ext uri="{FF2B5EF4-FFF2-40B4-BE49-F238E27FC236}">
                <a16:creationId xmlns:a16="http://schemas.microsoft.com/office/drawing/2014/main" id="{7F2196B2-40DF-44A4-AC21-7DB6528A6F74}"/>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3 Outline</a:t>
            </a:r>
          </a:p>
        </p:txBody>
      </p:sp>
      <p:sp>
        <p:nvSpPr>
          <p:cNvPr id="5124" name="Rectangle 3">
            <a:extLst>
              <a:ext uri="{FF2B5EF4-FFF2-40B4-BE49-F238E27FC236}">
                <a16:creationId xmlns:a16="http://schemas.microsoft.com/office/drawing/2014/main" id="{8ADCAA2F-8645-4D21-8FCE-C79E32FF8469}"/>
              </a:ext>
            </a:extLst>
          </p:cNvPr>
          <p:cNvSpPr>
            <a:spLocks noGrp="1" noChangeArrowheads="1"/>
          </p:cNvSpPr>
          <p:nvPr>
            <p:ph type="body" idx="1"/>
          </p:nvPr>
        </p:nvSpPr>
        <p:spPr>
          <a:xfrm>
            <a:off x="457200" y="1752600"/>
            <a:ext cx="8229600" cy="4411663"/>
          </a:xfrm>
        </p:spPr>
        <p:txBody>
          <a:bodyPr/>
          <a:lstStyle/>
          <a:p>
            <a:pPr eaLnBrk="1" hangingPunct="1"/>
            <a:r>
              <a:rPr lang="en-US" altLang="zh-CN" dirty="0">
                <a:ea typeface="宋体" panose="02010600030101010101" pitchFamily="2" charset="-122"/>
              </a:rPr>
              <a:t>Use Cases and User Goals</a:t>
            </a:r>
          </a:p>
          <a:p>
            <a:pPr eaLnBrk="1" hangingPunct="1"/>
            <a:r>
              <a:rPr lang="en-US" altLang="zh-CN" dirty="0">
                <a:ea typeface="宋体" panose="02010600030101010101" pitchFamily="2" charset="-122"/>
              </a:rPr>
              <a:t>Use Cases and Event Decomposition</a:t>
            </a:r>
          </a:p>
          <a:p>
            <a:pPr eaLnBrk="1" hangingPunct="1"/>
            <a:r>
              <a:rPr lang="en-US" altLang="zh-CN" dirty="0">
                <a:ea typeface="宋体" panose="02010600030101010101" pitchFamily="2" charset="-122"/>
              </a:rPr>
              <a:t>Use Cases and CRUD</a:t>
            </a:r>
          </a:p>
          <a:p>
            <a:pPr eaLnBrk="1" hangingPunct="1"/>
            <a:r>
              <a:rPr lang="en-US" altLang="zh-CN" dirty="0">
                <a:ea typeface="宋体" panose="02010600030101010101" pitchFamily="2" charset="-122"/>
              </a:rPr>
              <a:t>Use Cases in the Ridgeline Mountain Outfitters Case</a:t>
            </a:r>
          </a:p>
          <a:p>
            <a:pPr eaLnBrk="1" hangingPunct="1"/>
            <a:r>
              <a:rPr lang="en-US" altLang="zh-CN" dirty="0">
                <a:solidFill>
                  <a:srgbClr val="C00000"/>
                </a:solidFill>
                <a:ea typeface="宋体" panose="02010600030101010101" pitchFamily="2" charset="-122"/>
              </a:rPr>
              <a:t>Use Case Diagrams</a:t>
            </a:r>
            <a:r>
              <a:rPr lang="zh-CN" altLang="en-US" dirty="0">
                <a:solidFill>
                  <a:srgbClr val="C00000"/>
                </a:solidFill>
                <a:ea typeface="宋体" panose="02010600030101010101" pitchFamily="2" charset="-122"/>
              </a:rPr>
              <a:t>（用例图）</a:t>
            </a:r>
            <a:endParaRPr lang="en-US" altLang="zh-CN" dirty="0">
              <a:solidFill>
                <a:srgbClr val="C00000"/>
              </a:solidFill>
              <a:ea typeface="宋体" panose="02010600030101010101" pitchFamily="2" charset="-122"/>
            </a:endParaRPr>
          </a:p>
        </p:txBody>
      </p:sp>
      <p:sp>
        <p:nvSpPr>
          <p:cNvPr id="5125" name="Rectangle 5">
            <a:extLst>
              <a:ext uri="{FF2B5EF4-FFF2-40B4-BE49-F238E27FC236}">
                <a16:creationId xmlns:a16="http://schemas.microsoft.com/office/drawing/2014/main" id="{B6678780-AC33-4ACB-81A7-92F1D3E5114F}"/>
              </a:ext>
            </a:extLst>
          </p:cNvPr>
          <p:cNvSpPr>
            <a:spLocks noChangeArrowheads="1"/>
          </p:cNvSpPr>
          <p:nvPr/>
        </p:nvSpPr>
        <p:spPr bwMode="auto">
          <a:xfrm>
            <a:off x="6858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6" name="Footer Placeholder 5">
            <a:extLst>
              <a:ext uri="{FF2B5EF4-FFF2-40B4-BE49-F238E27FC236}">
                <a16:creationId xmlns:a16="http://schemas.microsoft.com/office/drawing/2014/main" id="{6231F08F-229D-4AF6-8E48-D165A93739F0}"/>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7870125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903D621D-377F-4498-B763-2EA7195C3A3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D7376EC-EFFC-4AAE-BD9D-FAE8BF1FA9EE}" type="slidenum">
              <a:rPr lang="en-US" altLang="en-US"/>
              <a:pPr eaLnBrk="1" hangingPunct="1"/>
              <a:t>46</a:t>
            </a:fld>
            <a:endParaRPr lang="en-US" altLang="en-US"/>
          </a:p>
        </p:txBody>
      </p:sp>
      <p:sp>
        <p:nvSpPr>
          <p:cNvPr id="33795" name="Rectangle 2">
            <a:extLst>
              <a:ext uri="{FF2B5EF4-FFF2-40B4-BE49-F238E27FC236}">
                <a16:creationId xmlns:a16="http://schemas.microsoft.com/office/drawing/2014/main" id="{6DEFB90C-FD33-4D81-AD08-78C6020F16AC}"/>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Use Case Diagrams</a:t>
            </a:r>
          </a:p>
        </p:txBody>
      </p:sp>
      <p:sp>
        <p:nvSpPr>
          <p:cNvPr id="33796" name="Rectangle 3">
            <a:extLst>
              <a:ext uri="{FF2B5EF4-FFF2-40B4-BE49-F238E27FC236}">
                <a16:creationId xmlns:a16="http://schemas.microsoft.com/office/drawing/2014/main" id="{ED8172AC-9A27-435A-A923-0E74BC8D3679}"/>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33797" name="Rectangle 4">
            <a:extLst>
              <a:ext uri="{FF2B5EF4-FFF2-40B4-BE49-F238E27FC236}">
                <a16:creationId xmlns:a16="http://schemas.microsoft.com/office/drawing/2014/main" id="{846427DB-93AC-4011-94B1-9AD129A4C237}"/>
              </a:ext>
            </a:extLst>
          </p:cNvPr>
          <p:cNvSpPr>
            <a:spLocks noChangeArrowheads="1"/>
          </p:cNvSpPr>
          <p:nvPr/>
        </p:nvSpPr>
        <p:spPr bwMode="auto">
          <a:xfrm>
            <a:off x="609600" y="1524000"/>
            <a:ext cx="82296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2400" dirty="0"/>
              <a:t>Use case diagram</a:t>
            </a:r>
            <a:r>
              <a:rPr lang="zh-CN" altLang="en-US" sz="2400" dirty="0"/>
              <a:t>（用例图）</a:t>
            </a:r>
            <a:r>
              <a:rPr lang="en-GB" altLang="zh-CN" sz="2400" dirty="0"/>
              <a:t>— a UML model used to graphically show uses cases and their relationships to actors</a:t>
            </a:r>
            <a:r>
              <a:rPr lang="zh-CN" altLang="en-US" sz="2400" dirty="0"/>
              <a:t>（一种</a:t>
            </a:r>
            <a:r>
              <a:rPr lang="en-US" altLang="zh-CN" sz="2400" dirty="0"/>
              <a:t>UML</a:t>
            </a:r>
            <a:r>
              <a:rPr lang="zh-CN" altLang="en-US" sz="2400" dirty="0"/>
              <a:t>模型，用于图形化地显示</a:t>
            </a:r>
            <a:r>
              <a:rPr lang="zh-CN" altLang="en-US" sz="2400" u="sng" dirty="0"/>
              <a:t>用例及其与参与者的关系</a:t>
            </a:r>
            <a:r>
              <a:rPr lang="zh-CN" altLang="en-US" sz="2400" dirty="0"/>
              <a:t>）</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dirty="0"/>
              <a:t>Recall UML is Unified </a:t>
            </a:r>
            <a:r>
              <a:rPr lang="en-GB" altLang="zh-CN" sz="2400" dirty="0" err="1"/>
              <a:t>Modeling</a:t>
            </a:r>
            <a:r>
              <a:rPr lang="en-GB" altLang="zh-CN" sz="2400" dirty="0"/>
              <a:t> Language</a:t>
            </a:r>
            <a:r>
              <a:rPr lang="zh-CN" altLang="en-US" sz="2400" dirty="0"/>
              <a:t>（统一建模语言）</a:t>
            </a:r>
            <a:r>
              <a:rPr lang="en-GB" altLang="zh-CN" sz="2400" dirty="0"/>
              <a:t>, the standard for diagrams and terminology for developing information systems</a:t>
            </a:r>
          </a:p>
          <a:p>
            <a:pPr eaLnBrk="1" hangingPunct="1">
              <a:spcBef>
                <a:spcPct val="20000"/>
              </a:spcBef>
              <a:buClr>
                <a:schemeClr val="tx2"/>
              </a:buClr>
              <a:buSzPct val="70000"/>
              <a:buFont typeface="Wingdings" panose="05000000000000000000" pitchFamily="2" charset="2"/>
              <a:buChar char="l"/>
            </a:pPr>
            <a:r>
              <a:rPr lang="en-GB" altLang="zh-CN" sz="2600" dirty="0">
                <a:latin typeface="+mn-lt"/>
                <a:ea typeface="宋体" panose="02010600030101010101" pitchFamily="2" charset="-122"/>
                <a:cs typeface="+mn-cs"/>
              </a:rPr>
              <a:t>Automation boundary</a:t>
            </a:r>
            <a:r>
              <a:rPr lang="zh-CN" altLang="en-US" sz="2400" dirty="0"/>
              <a:t>（自动化边界）</a:t>
            </a:r>
            <a:r>
              <a:rPr lang="en-GB" altLang="zh-CN" sz="2600" dirty="0">
                <a:latin typeface="+mn-lt"/>
                <a:ea typeface="宋体" panose="02010600030101010101" pitchFamily="2" charset="-122"/>
                <a:cs typeface="+mn-cs"/>
              </a:rPr>
              <a:t>— the boundary between the computerized portion of the application and the users who operate the application</a:t>
            </a:r>
            <a:r>
              <a:rPr lang="zh-CN" altLang="en-US" sz="2400" dirty="0"/>
              <a:t>（应用程序的计算机化部分和操作应用程序的用户之间的边界）</a:t>
            </a:r>
            <a:endParaRPr lang="en-GB" altLang="zh-CN" sz="2400" dirty="0"/>
          </a:p>
        </p:txBody>
      </p:sp>
      <p:sp>
        <p:nvSpPr>
          <p:cNvPr id="33798" name="Rectangle 6">
            <a:extLst>
              <a:ext uri="{FF2B5EF4-FFF2-40B4-BE49-F238E27FC236}">
                <a16:creationId xmlns:a16="http://schemas.microsoft.com/office/drawing/2014/main" id="{4CF52ECC-8CF4-454E-BDD1-B8207ED4E7F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3799" name="Footer Placeholder 5">
            <a:extLst>
              <a:ext uri="{FF2B5EF4-FFF2-40B4-BE49-F238E27FC236}">
                <a16:creationId xmlns:a16="http://schemas.microsoft.com/office/drawing/2014/main" id="{DE8F8494-D390-4867-9862-D55B70904D02}"/>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6">
            <a:extLst>
              <a:ext uri="{FF2B5EF4-FFF2-40B4-BE49-F238E27FC236}">
                <a16:creationId xmlns:a16="http://schemas.microsoft.com/office/drawing/2014/main" id="{0B4E86B1-5FAC-4D42-94F7-E9A4AAD9D3C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23358EB-CB86-4737-BCD5-FD205A2D6D37}" type="slidenum">
              <a:rPr lang="en-US" altLang="en-US"/>
              <a:pPr eaLnBrk="1" hangingPunct="1"/>
              <a:t>47</a:t>
            </a:fld>
            <a:endParaRPr lang="en-US" altLang="en-US"/>
          </a:p>
        </p:txBody>
      </p:sp>
      <p:sp>
        <p:nvSpPr>
          <p:cNvPr id="34819" name="Rectangle 2">
            <a:extLst>
              <a:ext uri="{FF2B5EF4-FFF2-40B4-BE49-F238E27FC236}">
                <a16:creationId xmlns:a16="http://schemas.microsoft.com/office/drawing/2014/main" id="{D22BD38C-5913-4678-8329-A894386A1AB0}"/>
              </a:ext>
            </a:extLst>
          </p:cNvPr>
          <p:cNvSpPr>
            <a:spLocks noGrp="1" noChangeArrowheads="1"/>
          </p:cNvSpPr>
          <p:nvPr>
            <p:ph type="title"/>
          </p:nvPr>
        </p:nvSpPr>
        <p:spPr/>
        <p:txBody>
          <a:bodyPr/>
          <a:lstStyle/>
          <a:p>
            <a:pPr eaLnBrk="1" hangingPunct="1"/>
            <a:r>
              <a:rPr lang="en-US" altLang="zh-CN">
                <a:ea typeface="宋体" panose="02010600030101010101" pitchFamily="2" charset="-122"/>
              </a:rPr>
              <a:t>Use Case Diagrams</a:t>
            </a:r>
            <a:br>
              <a:rPr lang="en-US" altLang="zh-CN">
                <a:ea typeface="宋体" panose="02010600030101010101" pitchFamily="2" charset="-122"/>
              </a:rPr>
            </a:br>
            <a:r>
              <a:rPr lang="en-US" altLang="zh-CN">
                <a:ea typeface="宋体" panose="02010600030101010101" pitchFamily="2" charset="-122"/>
              </a:rPr>
              <a:t>Symbols</a:t>
            </a:r>
          </a:p>
        </p:txBody>
      </p:sp>
      <p:sp>
        <p:nvSpPr>
          <p:cNvPr id="34820" name="Rectangle 3">
            <a:extLst>
              <a:ext uri="{FF2B5EF4-FFF2-40B4-BE49-F238E27FC236}">
                <a16:creationId xmlns:a16="http://schemas.microsoft.com/office/drawing/2014/main" id="{D92207E5-56F2-42D6-BE40-824CFA8E8C6E}"/>
              </a:ext>
            </a:extLst>
          </p:cNvPr>
          <p:cNvSpPr>
            <a:spLocks noGrp="1" noChangeArrowheads="1"/>
          </p:cNvSpPr>
          <p:nvPr>
            <p:ph type="body" sz="half" idx="1"/>
          </p:nvPr>
        </p:nvSpPr>
        <p:spPr/>
        <p:txBody>
          <a:bodyPr/>
          <a:lstStyle/>
          <a:p>
            <a:pPr marL="571500" indent="-571500" eaLnBrk="1" hangingPunct="1"/>
            <a:endParaRPr lang="en-GB" altLang="zh-CN" sz="2400"/>
          </a:p>
          <a:p>
            <a:pPr marL="571500" indent="-571500" eaLnBrk="1" hangingPunct="1"/>
            <a:endParaRPr lang="en-GB" altLang="zh-CN" sz="2800"/>
          </a:p>
        </p:txBody>
      </p:sp>
      <p:sp>
        <p:nvSpPr>
          <p:cNvPr id="34821" name="Rectangle 4">
            <a:extLst>
              <a:ext uri="{FF2B5EF4-FFF2-40B4-BE49-F238E27FC236}">
                <a16:creationId xmlns:a16="http://schemas.microsoft.com/office/drawing/2014/main" id="{CD33B0CC-F2BB-4238-858E-69EAF3B252E1}"/>
              </a:ext>
            </a:extLst>
          </p:cNvPr>
          <p:cNvSpPr>
            <a:spLocks noChangeArrowheads="1"/>
          </p:cNvSpPr>
          <p:nvPr/>
        </p:nvSpPr>
        <p:spPr bwMode="auto">
          <a:xfrm>
            <a:off x="609600" y="1524000"/>
            <a:ext cx="82296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pic>
        <p:nvPicPr>
          <p:cNvPr id="34822" name="Picture 8">
            <a:extLst>
              <a:ext uri="{FF2B5EF4-FFF2-40B4-BE49-F238E27FC236}">
                <a16:creationId xmlns:a16="http://schemas.microsoft.com/office/drawing/2014/main" id="{5B45B34E-4A7C-4EB4-B897-A5B441058B1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62000" y="1524000"/>
            <a:ext cx="7620000" cy="4329113"/>
          </a:xfrm>
          <a:noFill/>
        </p:spPr>
      </p:pic>
      <p:sp>
        <p:nvSpPr>
          <p:cNvPr id="34823" name="Rectangle 7">
            <a:extLst>
              <a:ext uri="{FF2B5EF4-FFF2-40B4-BE49-F238E27FC236}">
                <a16:creationId xmlns:a16="http://schemas.microsoft.com/office/drawing/2014/main" id="{0D657C25-CD85-4CA2-9516-2B0166B41EBF}"/>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4824" name="Footer Placeholder 5">
            <a:extLst>
              <a:ext uri="{FF2B5EF4-FFF2-40B4-BE49-F238E27FC236}">
                <a16:creationId xmlns:a16="http://schemas.microsoft.com/office/drawing/2014/main" id="{DC08E3BA-53E0-428B-BF14-0F804E97E69D}"/>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6">
            <a:extLst>
              <a:ext uri="{FF2B5EF4-FFF2-40B4-BE49-F238E27FC236}">
                <a16:creationId xmlns:a16="http://schemas.microsoft.com/office/drawing/2014/main" id="{D153AC13-5C51-47EB-92B6-DCE19426F73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114032F-F025-49C8-91EF-A8F32177E512}" type="slidenum">
              <a:rPr lang="en-US" altLang="en-US"/>
              <a:pPr eaLnBrk="1" hangingPunct="1"/>
              <a:t>48</a:t>
            </a:fld>
            <a:endParaRPr lang="en-US" altLang="en-US"/>
          </a:p>
        </p:txBody>
      </p:sp>
      <p:sp>
        <p:nvSpPr>
          <p:cNvPr id="35843" name="Rectangle 2">
            <a:extLst>
              <a:ext uri="{FF2B5EF4-FFF2-40B4-BE49-F238E27FC236}">
                <a16:creationId xmlns:a16="http://schemas.microsoft.com/office/drawing/2014/main" id="{FB0F955C-4A10-4643-B284-C7A5FF42F6FC}"/>
              </a:ext>
            </a:extLst>
          </p:cNvPr>
          <p:cNvSpPr>
            <a:spLocks noGrp="1" noChangeArrowheads="1"/>
          </p:cNvSpPr>
          <p:nvPr>
            <p:ph type="title"/>
          </p:nvPr>
        </p:nvSpPr>
        <p:spPr>
          <a:xfrm>
            <a:off x="457200" y="685800"/>
            <a:ext cx="2667000" cy="3733800"/>
          </a:xfrm>
        </p:spPr>
        <p:txBody>
          <a:bodyPr/>
          <a:lstStyle/>
          <a:p>
            <a:pPr eaLnBrk="1" hangingPunct="1"/>
            <a:r>
              <a:rPr lang="en-US" altLang="zh-CN" sz="3600" dirty="0">
                <a:ea typeface="宋体" panose="02010600030101010101" pitchFamily="2" charset="-122"/>
              </a:rPr>
              <a:t>Use Case Diagrams</a:t>
            </a:r>
            <a:br>
              <a:rPr lang="en-US" altLang="zh-CN" sz="3600" dirty="0">
                <a:ea typeface="宋体" panose="02010600030101010101" pitchFamily="2" charset="-122"/>
              </a:rPr>
            </a:br>
            <a:br>
              <a:rPr lang="en-US" altLang="zh-CN" sz="3600" dirty="0">
                <a:ea typeface="宋体" panose="02010600030101010101" pitchFamily="2" charset="-122"/>
              </a:rPr>
            </a:br>
            <a:r>
              <a:rPr lang="en-US" altLang="zh-CN" sz="2800" dirty="0">
                <a:solidFill>
                  <a:srgbClr val="C00000"/>
                </a:solidFill>
                <a:ea typeface="宋体" panose="02010600030101010101" pitchFamily="2" charset="-122"/>
              </a:rPr>
              <a:t>Draw for each subsystem</a:t>
            </a:r>
          </a:p>
        </p:txBody>
      </p:sp>
      <p:sp>
        <p:nvSpPr>
          <p:cNvPr id="35844" name="Rectangle 3">
            <a:extLst>
              <a:ext uri="{FF2B5EF4-FFF2-40B4-BE49-F238E27FC236}">
                <a16:creationId xmlns:a16="http://schemas.microsoft.com/office/drawing/2014/main" id="{C0A6D0A7-9956-4A34-8A24-110EBF09CFD5}"/>
              </a:ext>
            </a:extLst>
          </p:cNvPr>
          <p:cNvSpPr>
            <a:spLocks noGrp="1" noChangeArrowheads="1"/>
          </p:cNvSpPr>
          <p:nvPr>
            <p:ph type="body" sz="half" idx="1"/>
          </p:nvPr>
        </p:nvSpPr>
        <p:spPr/>
        <p:txBody>
          <a:bodyPr/>
          <a:lstStyle/>
          <a:p>
            <a:pPr marL="571500" indent="-571500" eaLnBrk="1" hangingPunct="1"/>
            <a:endParaRPr lang="en-GB" altLang="zh-CN" sz="2400" dirty="0"/>
          </a:p>
          <a:p>
            <a:pPr marL="571500" indent="-571500" eaLnBrk="1" hangingPunct="1"/>
            <a:endParaRPr lang="en-GB" altLang="zh-CN" sz="2800" dirty="0"/>
          </a:p>
        </p:txBody>
      </p:sp>
      <p:sp>
        <p:nvSpPr>
          <p:cNvPr id="35845" name="Rectangle 4">
            <a:extLst>
              <a:ext uri="{FF2B5EF4-FFF2-40B4-BE49-F238E27FC236}">
                <a16:creationId xmlns:a16="http://schemas.microsoft.com/office/drawing/2014/main" id="{96F6771D-8792-45F1-8F18-B82478B7D224}"/>
              </a:ext>
            </a:extLst>
          </p:cNvPr>
          <p:cNvSpPr>
            <a:spLocks noChangeArrowheads="1"/>
          </p:cNvSpPr>
          <p:nvPr/>
        </p:nvSpPr>
        <p:spPr bwMode="auto">
          <a:xfrm>
            <a:off x="609600" y="1524000"/>
            <a:ext cx="82296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pic>
        <p:nvPicPr>
          <p:cNvPr id="35846" name="Picture 7">
            <a:extLst>
              <a:ext uri="{FF2B5EF4-FFF2-40B4-BE49-F238E27FC236}">
                <a16:creationId xmlns:a16="http://schemas.microsoft.com/office/drawing/2014/main" id="{37DDBC5C-77B3-4CD2-B6CC-7F4CA2ACD55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124200" y="152400"/>
            <a:ext cx="5445125" cy="6096000"/>
          </a:xfrm>
          <a:noFill/>
        </p:spPr>
      </p:pic>
      <p:sp>
        <p:nvSpPr>
          <p:cNvPr id="35847" name="Rectangle 7">
            <a:extLst>
              <a:ext uri="{FF2B5EF4-FFF2-40B4-BE49-F238E27FC236}">
                <a16:creationId xmlns:a16="http://schemas.microsoft.com/office/drawing/2014/main" id="{9654DD6C-20D0-42FA-8E44-A07FB8F16266}"/>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5848" name="Footer Placeholder 5">
            <a:extLst>
              <a:ext uri="{FF2B5EF4-FFF2-40B4-BE49-F238E27FC236}">
                <a16:creationId xmlns:a16="http://schemas.microsoft.com/office/drawing/2014/main" id="{E1C82955-7A3C-45A3-A868-16B979266E11}"/>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24392044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6">
            <a:extLst>
              <a:ext uri="{FF2B5EF4-FFF2-40B4-BE49-F238E27FC236}">
                <a16:creationId xmlns:a16="http://schemas.microsoft.com/office/drawing/2014/main" id="{822A9BD2-026B-4918-9C11-20203BF8836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5D012C6-AAEE-4904-9481-A8C23948B296}" type="slidenum">
              <a:rPr lang="en-US" altLang="en-US"/>
              <a:pPr eaLnBrk="1" hangingPunct="1"/>
              <a:t>49</a:t>
            </a:fld>
            <a:endParaRPr lang="en-US" altLang="en-US"/>
          </a:p>
        </p:txBody>
      </p:sp>
      <p:sp>
        <p:nvSpPr>
          <p:cNvPr id="36867" name="Rectangle 2">
            <a:extLst>
              <a:ext uri="{FF2B5EF4-FFF2-40B4-BE49-F238E27FC236}">
                <a16:creationId xmlns:a16="http://schemas.microsoft.com/office/drawing/2014/main" id="{4652EDAB-BA5B-4F34-8375-29AA3FA2F459}"/>
              </a:ext>
            </a:extLst>
          </p:cNvPr>
          <p:cNvSpPr>
            <a:spLocks noGrp="1" noChangeArrowheads="1"/>
          </p:cNvSpPr>
          <p:nvPr>
            <p:ph type="title"/>
          </p:nvPr>
        </p:nvSpPr>
        <p:spPr>
          <a:xfrm>
            <a:off x="457200" y="685800"/>
            <a:ext cx="2667000" cy="3733800"/>
          </a:xfrm>
        </p:spPr>
        <p:txBody>
          <a:bodyPr/>
          <a:lstStyle/>
          <a:p>
            <a:pPr eaLnBrk="1" hangingPunct="1"/>
            <a:r>
              <a:rPr lang="en-US" altLang="zh-CN" sz="3600" dirty="0">
                <a:ea typeface="宋体" panose="02010600030101010101" pitchFamily="2" charset="-122"/>
              </a:rPr>
              <a:t>Use Case Diagrams</a:t>
            </a:r>
            <a:br>
              <a:rPr lang="en-US" altLang="zh-CN" sz="3600" dirty="0">
                <a:ea typeface="宋体" panose="02010600030101010101" pitchFamily="2" charset="-122"/>
              </a:rPr>
            </a:br>
            <a:br>
              <a:rPr lang="en-US" altLang="zh-CN" sz="3600" dirty="0">
                <a:ea typeface="宋体" panose="02010600030101010101" pitchFamily="2" charset="-122"/>
              </a:rPr>
            </a:br>
            <a:r>
              <a:rPr lang="en-US" altLang="zh-CN" sz="2800" dirty="0">
                <a:solidFill>
                  <a:srgbClr val="C00000"/>
                </a:solidFill>
                <a:ea typeface="宋体" panose="02010600030101010101" pitchFamily="2" charset="-122"/>
              </a:rPr>
              <a:t>Draw for actor, such as customer</a:t>
            </a:r>
          </a:p>
        </p:txBody>
      </p:sp>
      <p:sp>
        <p:nvSpPr>
          <p:cNvPr id="36868" name="Rectangle 3">
            <a:extLst>
              <a:ext uri="{FF2B5EF4-FFF2-40B4-BE49-F238E27FC236}">
                <a16:creationId xmlns:a16="http://schemas.microsoft.com/office/drawing/2014/main" id="{EF3C91DB-41B6-4E0D-B469-07CDE21D91C4}"/>
              </a:ext>
            </a:extLst>
          </p:cNvPr>
          <p:cNvSpPr>
            <a:spLocks noGrp="1" noChangeArrowheads="1"/>
          </p:cNvSpPr>
          <p:nvPr>
            <p:ph type="body" sz="half" idx="1"/>
          </p:nvPr>
        </p:nvSpPr>
        <p:spPr/>
        <p:txBody>
          <a:bodyPr/>
          <a:lstStyle/>
          <a:p>
            <a:pPr marL="571500" indent="-571500" eaLnBrk="1" hangingPunct="1"/>
            <a:endParaRPr lang="en-GB" altLang="zh-CN" sz="2400" dirty="0"/>
          </a:p>
          <a:p>
            <a:pPr marL="571500" indent="-571500" eaLnBrk="1" hangingPunct="1"/>
            <a:endParaRPr lang="en-GB" altLang="zh-CN" sz="2800" dirty="0"/>
          </a:p>
        </p:txBody>
      </p:sp>
      <p:pic>
        <p:nvPicPr>
          <p:cNvPr id="36869" name="Picture 12">
            <a:extLst>
              <a:ext uri="{FF2B5EF4-FFF2-40B4-BE49-F238E27FC236}">
                <a16:creationId xmlns:a16="http://schemas.microsoft.com/office/drawing/2014/main" id="{3380C234-B91C-45DB-8D10-88DCE3CAC17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200400" y="228600"/>
            <a:ext cx="5354638" cy="6019800"/>
          </a:xfrm>
          <a:noFill/>
        </p:spPr>
      </p:pic>
      <p:sp>
        <p:nvSpPr>
          <p:cNvPr id="36870" name="Rectangle 6">
            <a:extLst>
              <a:ext uri="{FF2B5EF4-FFF2-40B4-BE49-F238E27FC236}">
                <a16:creationId xmlns:a16="http://schemas.microsoft.com/office/drawing/2014/main" id="{24FD8A9F-18A4-4306-A676-F8BFEE75CB5B}"/>
              </a:ext>
            </a:extLst>
          </p:cNvPr>
          <p:cNvSpPr>
            <a:spLocks noChangeArrowheads="1"/>
          </p:cNvSpPr>
          <p:nvPr/>
        </p:nvSpPr>
        <p:spPr bwMode="auto">
          <a:xfrm>
            <a:off x="8382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6871" name="Footer Placeholder 5">
            <a:extLst>
              <a:ext uri="{FF2B5EF4-FFF2-40B4-BE49-F238E27FC236}">
                <a16:creationId xmlns:a16="http://schemas.microsoft.com/office/drawing/2014/main" id="{AE9F7010-EE4A-440A-9004-7F28F677D2EC}"/>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6">
            <a:extLst>
              <a:ext uri="{FF2B5EF4-FFF2-40B4-BE49-F238E27FC236}">
                <a16:creationId xmlns:a16="http://schemas.microsoft.com/office/drawing/2014/main" id="{9E858D07-C7A0-468D-A199-F62E1BCCB81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42CE9C5-505A-4BD7-9056-F44614B63601}" type="slidenum">
              <a:rPr lang="en-US" altLang="en-US"/>
              <a:pPr eaLnBrk="1" hangingPunct="1"/>
              <a:t>50</a:t>
            </a:fld>
            <a:endParaRPr lang="en-US" altLang="en-US"/>
          </a:p>
        </p:txBody>
      </p:sp>
      <p:sp>
        <p:nvSpPr>
          <p:cNvPr id="37891" name="Rectangle 2">
            <a:extLst>
              <a:ext uri="{FF2B5EF4-FFF2-40B4-BE49-F238E27FC236}">
                <a16:creationId xmlns:a16="http://schemas.microsoft.com/office/drawing/2014/main" id="{602409D9-F8D4-40E5-B2BC-7C99023035A1}"/>
              </a:ext>
            </a:extLst>
          </p:cNvPr>
          <p:cNvSpPr>
            <a:spLocks noGrp="1" noChangeArrowheads="1"/>
          </p:cNvSpPr>
          <p:nvPr>
            <p:ph type="title"/>
          </p:nvPr>
        </p:nvSpPr>
        <p:spPr>
          <a:xfrm>
            <a:off x="304800" y="228600"/>
            <a:ext cx="7315200" cy="1219200"/>
          </a:xfrm>
        </p:spPr>
        <p:txBody>
          <a:bodyPr/>
          <a:lstStyle/>
          <a:p>
            <a:pPr eaLnBrk="1" hangingPunct="1"/>
            <a:r>
              <a:rPr lang="en-US" altLang="zh-CN" sz="3600" dirty="0">
                <a:ea typeface="宋体" panose="02010600030101010101" pitchFamily="2" charset="-122"/>
              </a:rPr>
              <a:t>Use Case Diagrams</a:t>
            </a:r>
            <a:br>
              <a:rPr lang="en-US" altLang="zh-CN" sz="3600" dirty="0">
                <a:ea typeface="宋体" panose="02010600030101010101" pitchFamily="2" charset="-122"/>
              </a:rPr>
            </a:br>
            <a:r>
              <a:rPr lang="en-US" altLang="zh-CN" sz="2800" dirty="0">
                <a:ea typeface="宋体" panose="02010600030101010101" pitchFamily="2" charset="-122"/>
              </a:rPr>
              <a:t>Draw for internal RMO actors</a:t>
            </a:r>
          </a:p>
        </p:txBody>
      </p:sp>
      <p:sp>
        <p:nvSpPr>
          <p:cNvPr id="37892" name="Rectangle 3">
            <a:extLst>
              <a:ext uri="{FF2B5EF4-FFF2-40B4-BE49-F238E27FC236}">
                <a16:creationId xmlns:a16="http://schemas.microsoft.com/office/drawing/2014/main" id="{B3553C21-E8F4-4B9C-A6F1-813FF1FC9195}"/>
              </a:ext>
            </a:extLst>
          </p:cNvPr>
          <p:cNvSpPr>
            <a:spLocks noGrp="1" noChangeArrowheads="1"/>
          </p:cNvSpPr>
          <p:nvPr>
            <p:ph type="body" sz="half" idx="1"/>
          </p:nvPr>
        </p:nvSpPr>
        <p:spPr/>
        <p:txBody>
          <a:bodyPr/>
          <a:lstStyle/>
          <a:p>
            <a:pPr marL="571500" indent="-571500" eaLnBrk="1" hangingPunct="1"/>
            <a:endParaRPr lang="en-GB" altLang="zh-CN" sz="2400"/>
          </a:p>
          <a:p>
            <a:pPr marL="571500" indent="-571500" eaLnBrk="1" hangingPunct="1"/>
            <a:endParaRPr lang="en-GB" altLang="zh-CN" sz="2800"/>
          </a:p>
        </p:txBody>
      </p:sp>
      <p:sp>
        <p:nvSpPr>
          <p:cNvPr id="37893" name="Rectangle 4">
            <a:extLst>
              <a:ext uri="{FF2B5EF4-FFF2-40B4-BE49-F238E27FC236}">
                <a16:creationId xmlns:a16="http://schemas.microsoft.com/office/drawing/2014/main" id="{AA7EB5B2-B767-4D92-A75D-D9C32412E4D0}"/>
              </a:ext>
            </a:extLst>
          </p:cNvPr>
          <p:cNvSpPr>
            <a:spLocks noChangeArrowheads="1"/>
          </p:cNvSpPr>
          <p:nvPr/>
        </p:nvSpPr>
        <p:spPr bwMode="auto">
          <a:xfrm>
            <a:off x="609600" y="1524000"/>
            <a:ext cx="82296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pic>
        <p:nvPicPr>
          <p:cNvPr id="37894" name="Picture 9">
            <a:extLst>
              <a:ext uri="{FF2B5EF4-FFF2-40B4-BE49-F238E27FC236}">
                <a16:creationId xmlns:a16="http://schemas.microsoft.com/office/drawing/2014/main" id="{B199AFF9-E7E3-48DA-8B0E-03C266B7034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371600" y="1524000"/>
            <a:ext cx="6553200" cy="4391025"/>
          </a:xfrm>
          <a:noFill/>
        </p:spPr>
      </p:pic>
      <p:sp>
        <p:nvSpPr>
          <p:cNvPr id="37895" name="Rectangle 7">
            <a:extLst>
              <a:ext uri="{FF2B5EF4-FFF2-40B4-BE49-F238E27FC236}">
                <a16:creationId xmlns:a16="http://schemas.microsoft.com/office/drawing/2014/main" id="{BF40F64E-2907-4E1F-B5F4-01B3023ADC16}"/>
              </a:ext>
            </a:extLst>
          </p:cNvPr>
          <p:cNvSpPr>
            <a:spLocks noChangeArrowheads="1"/>
          </p:cNvSpPr>
          <p:nvPr/>
        </p:nvSpPr>
        <p:spPr bwMode="auto">
          <a:xfrm>
            <a:off x="6858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7896" name="Footer Placeholder 5">
            <a:extLst>
              <a:ext uri="{FF2B5EF4-FFF2-40B4-BE49-F238E27FC236}">
                <a16:creationId xmlns:a16="http://schemas.microsoft.com/office/drawing/2014/main" id="{63DE9954-C422-48C5-96F3-304FCB22AC52}"/>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5">
            <a:extLst>
              <a:ext uri="{FF2B5EF4-FFF2-40B4-BE49-F238E27FC236}">
                <a16:creationId xmlns:a16="http://schemas.microsoft.com/office/drawing/2014/main" id="{9E9B7581-CBE8-4108-AE29-8ADB2E9167BB}"/>
              </a:ext>
            </a:extLst>
          </p:cNvPr>
          <p:cNvSpPr>
            <a:spLocks noGrp="1"/>
          </p:cNvSpPr>
          <p:nvPr>
            <p:ph type="ftr" sz="quarter" idx="11"/>
          </p:nvPr>
        </p:nvSpPr>
        <p:spPr>
          <a:xfrm>
            <a:off x="1676400" y="6248400"/>
            <a:ext cx="5486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8915" name="Slide Number Placeholder 6">
            <a:extLst>
              <a:ext uri="{FF2B5EF4-FFF2-40B4-BE49-F238E27FC236}">
                <a16:creationId xmlns:a16="http://schemas.microsoft.com/office/drawing/2014/main" id="{C6083D0C-E953-4A82-9D02-03F9A8469B7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3BCE309-1A1C-4DC7-B461-FEBAC29CFB19}" type="slidenum">
              <a:rPr lang="en-US" altLang="en-US"/>
              <a:pPr eaLnBrk="1" hangingPunct="1"/>
              <a:t>51</a:t>
            </a:fld>
            <a:endParaRPr lang="en-US" altLang="en-US"/>
          </a:p>
        </p:txBody>
      </p:sp>
      <p:sp>
        <p:nvSpPr>
          <p:cNvPr id="38916" name="Rectangle 2">
            <a:extLst>
              <a:ext uri="{FF2B5EF4-FFF2-40B4-BE49-F238E27FC236}">
                <a16:creationId xmlns:a16="http://schemas.microsoft.com/office/drawing/2014/main" id="{86E05198-D780-42C7-AEF9-E6C3271BBAD9}"/>
              </a:ext>
            </a:extLst>
          </p:cNvPr>
          <p:cNvSpPr>
            <a:spLocks noGrp="1" noChangeArrowheads="1"/>
          </p:cNvSpPr>
          <p:nvPr>
            <p:ph type="title"/>
          </p:nvPr>
        </p:nvSpPr>
        <p:spPr>
          <a:xfrm>
            <a:off x="304800" y="228600"/>
            <a:ext cx="7315200" cy="838200"/>
          </a:xfrm>
        </p:spPr>
        <p:txBody>
          <a:bodyPr/>
          <a:lstStyle/>
          <a:p>
            <a:pPr eaLnBrk="1" hangingPunct="1"/>
            <a:r>
              <a:rPr lang="en-US" altLang="zh-CN" sz="3200" dirty="0">
                <a:ea typeface="宋体" panose="02010600030101010101" pitchFamily="2" charset="-122"/>
              </a:rPr>
              <a:t>Use Case Diagrams</a:t>
            </a:r>
            <a:br>
              <a:rPr lang="en-US" altLang="zh-CN" sz="3200" dirty="0">
                <a:ea typeface="宋体" panose="02010600030101010101" pitchFamily="2" charset="-122"/>
              </a:rPr>
            </a:br>
            <a:r>
              <a:rPr lang="en-US" altLang="zh-CN" sz="2400" dirty="0">
                <a:ea typeface="宋体" panose="02010600030101010101" pitchFamily="2" charset="-122"/>
              </a:rPr>
              <a:t>The &lt;&lt;Includes&gt;&gt; relationship</a:t>
            </a:r>
          </a:p>
        </p:txBody>
      </p:sp>
      <p:sp>
        <p:nvSpPr>
          <p:cNvPr id="38917" name="Rectangle 3">
            <a:extLst>
              <a:ext uri="{FF2B5EF4-FFF2-40B4-BE49-F238E27FC236}">
                <a16:creationId xmlns:a16="http://schemas.microsoft.com/office/drawing/2014/main" id="{B4294281-20CD-4D5E-8376-03EF519D48E3}"/>
              </a:ext>
            </a:extLst>
          </p:cNvPr>
          <p:cNvSpPr>
            <a:spLocks noGrp="1" noChangeArrowheads="1"/>
          </p:cNvSpPr>
          <p:nvPr>
            <p:ph type="body" sz="half" idx="1"/>
          </p:nvPr>
        </p:nvSpPr>
        <p:spPr/>
        <p:txBody>
          <a:bodyPr/>
          <a:lstStyle/>
          <a:p>
            <a:pPr marL="571500" indent="-571500" eaLnBrk="1" hangingPunct="1"/>
            <a:endParaRPr lang="en-GB" altLang="zh-CN" sz="2400"/>
          </a:p>
          <a:p>
            <a:pPr marL="571500" indent="-571500" eaLnBrk="1" hangingPunct="1"/>
            <a:endParaRPr lang="en-GB" altLang="zh-CN" sz="2800"/>
          </a:p>
        </p:txBody>
      </p:sp>
      <p:sp>
        <p:nvSpPr>
          <p:cNvPr id="38918" name="Rectangle 4">
            <a:extLst>
              <a:ext uri="{FF2B5EF4-FFF2-40B4-BE49-F238E27FC236}">
                <a16:creationId xmlns:a16="http://schemas.microsoft.com/office/drawing/2014/main" id="{D493B57E-45A1-49D3-9C3E-A0483A2C2CD3}"/>
              </a:ext>
            </a:extLst>
          </p:cNvPr>
          <p:cNvSpPr>
            <a:spLocks noChangeArrowheads="1"/>
          </p:cNvSpPr>
          <p:nvPr/>
        </p:nvSpPr>
        <p:spPr bwMode="auto">
          <a:xfrm>
            <a:off x="609600" y="1524000"/>
            <a:ext cx="82296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38919" name="Rectangle 7">
            <a:extLst>
              <a:ext uri="{FF2B5EF4-FFF2-40B4-BE49-F238E27FC236}">
                <a16:creationId xmlns:a16="http://schemas.microsoft.com/office/drawing/2014/main" id="{0036E82B-9544-44B4-B8B4-24ADA93A91C8}"/>
              </a:ext>
            </a:extLst>
          </p:cNvPr>
          <p:cNvSpPr>
            <a:spLocks noChangeArrowheads="1"/>
          </p:cNvSpPr>
          <p:nvPr/>
        </p:nvSpPr>
        <p:spPr bwMode="auto">
          <a:xfrm>
            <a:off x="457200" y="1066800"/>
            <a:ext cx="7467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2000" dirty="0"/>
              <a:t>A relationship between use cases where </a:t>
            </a:r>
            <a:r>
              <a:rPr lang="en-GB" altLang="zh-CN" sz="2000" u="sng" dirty="0"/>
              <a:t>one use case is stereotypically included within the other use case</a:t>
            </a:r>
            <a:r>
              <a:rPr lang="en-GB" altLang="zh-CN" sz="2000" dirty="0"/>
              <a:t>— like a called subroutine. Arrow points to subroutine</a:t>
            </a:r>
          </a:p>
        </p:txBody>
      </p:sp>
      <p:pic>
        <p:nvPicPr>
          <p:cNvPr id="38920" name="Picture 10">
            <a:extLst>
              <a:ext uri="{FF2B5EF4-FFF2-40B4-BE49-F238E27FC236}">
                <a16:creationId xmlns:a16="http://schemas.microsoft.com/office/drawing/2014/main" id="{0946CFF8-0012-42E0-97CD-8801FA6656EB}"/>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600200" y="2133600"/>
            <a:ext cx="5867400" cy="4203700"/>
          </a:xfrm>
          <a:noFill/>
        </p:spPr>
      </p:pic>
      <p:sp>
        <p:nvSpPr>
          <p:cNvPr id="38921" name="Rectangle 8">
            <a:extLst>
              <a:ext uri="{FF2B5EF4-FFF2-40B4-BE49-F238E27FC236}">
                <a16:creationId xmlns:a16="http://schemas.microsoft.com/office/drawing/2014/main" id="{F667BC0D-3318-4999-903A-FB3F01E0E6AD}"/>
              </a:ext>
            </a:extLst>
          </p:cNvPr>
          <p:cNvSpPr>
            <a:spLocks noChangeArrowheads="1"/>
          </p:cNvSpPr>
          <p:nvPr/>
        </p:nvSpPr>
        <p:spPr bwMode="auto">
          <a:xfrm>
            <a:off x="8382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9B0D60DA-FAD1-4814-B314-CE700A0A020E}"/>
              </a:ext>
            </a:extLst>
          </p:cNvPr>
          <p:cNvSpPr>
            <a:spLocks noGrp="1"/>
          </p:cNvSpPr>
          <p:nvPr>
            <p:ph type="body" sz="half" idx="1"/>
          </p:nvPr>
        </p:nvSpPr>
        <p:spPr>
          <a:xfrm>
            <a:off x="304800" y="1295400"/>
            <a:ext cx="4038600" cy="4411662"/>
          </a:xfrm>
        </p:spPr>
        <p:txBody>
          <a:bodyPr/>
          <a:lstStyle/>
          <a:p>
            <a:r>
              <a:rPr lang="zh-CN" altLang="en-US" sz="2400" dirty="0"/>
              <a:t>当执行</a:t>
            </a:r>
            <a:r>
              <a:rPr lang="en-US" altLang="zh-CN" sz="2400" dirty="0"/>
              <a:t>A</a:t>
            </a:r>
            <a:r>
              <a:rPr lang="zh-CN" altLang="en-US" sz="2400" dirty="0"/>
              <a:t>用例时，有些情况下，会执行</a:t>
            </a:r>
            <a:r>
              <a:rPr lang="en-US" altLang="zh-CN" sz="2400" dirty="0"/>
              <a:t>B</a:t>
            </a:r>
            <a:r>
              <a:rPr lang="zh-CN" altLang="en-US" sz="2400" dirty="0"/>
              <a:t>用例，有些情况下不会执行</a:t>
            </a:r>
            <a:r>
              <a:rPr lang="en-US" altLang="zh-CN" sz="2400" dirty="0"/>
              <a:t>B</a:t>
            </a:r>
            <a:r>
              <a:rPr lang="zh-CN" altLang="en-US" sz="2400" dirty="0"/>
              <a:t>用例</a:t>
            </a:r>
            <a:endParaRPr lang="en-US" altLang="zh-CN" sz="2400" dirty="0"/>
          </a:p>
          <a:p>
            <a:r>
              <a:rPr lang="zh-CN" altLang="en-US" sz="2400" dirty="0"/>
              <a:t>这种情况就是</a:t>
            </a:r>
            <a:r>
              <a:rPr lang="en-US" altLang="zh-CN" sz="2400" dirty="0"/>
              <a:t>B</a:t>
            </a:r>
            <a:r>
              <a:rPr lang="zh-CN" altLang="en-US" sz="2400" dirty="0"/>
              <a:t>用例</a:t>
            </a:r>
            <a:r>
              <a:rPr lang="en-US" altLang="zh-CN" sz="2400" dirty="0">
                <a:solidFill>
                  <a:srgbClr val="C00000"/>
                </a:solidFill>
              </a:rPr>
              <a:t>&lt;&lt;</a:t>
            </a:r>
            <a:r>
              <a:rPr lang="zh-CN" altLang="en-US" sz="2400" dirty="0">
                <a:solidFill>
                  <a:srgbClr val="C00000"/>
                </a:solidFill>
              </a:rPr>
              <a:t>扩展</a:t>
            </a:r>
            <a:r>
              <a:rPr lang="en-US" altLang="zh-CN" sz="2400" dirty="0">
                <a:solidFill>
                  <a:srgbClr val="C00000"/>
                </a:solidFill>
              </a:rPr>
              <a:t>&gt;&gt;</a:t>
            </a:r>
            <a:r>
              <a:rPr lang="zh-CN" altLang="en-US" sz="2400" dirty="0"/>
              <a:t>了</a:t>
            </a:r>
            <a:r>
              <a:rPr lang="en-US" altLang="zh-CN" sz="2400" dirty="0"/>
              <a:t>A</a:t>
            </a:r>
            <a:r>
              <a:rPr lang="zh-CN" altLang="en-US" sz="2400" dirty="0"/>
              <a:t>用例</a:t>
            </a:r>
          </a:p>
        </p:txBody>
      </p:sp>
      <p:sp>
        <p:nvSpPr>
          <p:cNvPr id="5" name="页脚占位符 4">
            <a:extLst>
              <a:ext uri="{FF2B5EF4-FFF2-40B4-BE49-F238E27FC236}">
                <a16:creationId xmlns:a16="http://schemas.microsoft.com/office/drawing/2014/main" id="{CF434D58-6AD5-4C99-A4A7-B89457844B32}"/>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6" name="灯片编号占位符 5">
            <a:extLst>
              <a:ext uri="{FF2B5EF4-FFF2-40B4-BE49-F238E27FC236}">
                <a16:creationId xmlns:a16="http://schemas.microsoft.com/office/drawing/2014/main" id="{AB909C65-28CE-4462-BDF7-106C52A87115}"/>
              </a:ext>
            </a:extLst>
          </p:cNvPr>
          <p:cNvSpPr>
            <a:spLocks noGrp="1"/>
          </p:cNvSpPr>
          <p:nvPr>
            <p:ph type="sldNum" sz="quarter" idx="12"/>
          </p:nvPr>
        </p:nvSpPr>
        <p:spPr/>
        <p:txBody>
          <a:bodyPr/>
          <a:lstStyle/>
          <a:p>
            <a:fld id="{B753FDD0-7D31-4A1B-A2DD-1773C1FEDA0B}" type="slidenum">
              <a:rPr lang="en-US" altLang="en-US" smtClean="0"/>
              <a:pPr/>
              <a:t>52</a:t>
            </a:fld>
            <a:endParaRPr lang="en-US" altLang="en-US"/>
          </a:p>
        </p:txBody>
      </p:sp>
      <p:sp>
        <p:nvSpPr>
          <p:cNvPr id="7" name="Rectangle 2">
            <a:extLst>
              <a:ext uri="{FF2B5EF4-FFF2-40B4-BE49-F238E27FC236}">
                <a16:creationId xmlns:a16="http://schemas.microsoft.com/office/drawing/2014/main" id="{CB9BDB5F-07F7-4B72-8145-F59CA7FAAD1B}"/>
              </a:ext>
            </a:extLst>
          </p:cNvPr>
          <p:cNvSpPr>
            <a:spLocks noGrp="1" noChangeArrowheads="1"/>
          </p:cNvSpPr>
          <p:nvPr>
            <p:ph type="title"/>
          </p:nvPr>
        </p:nvSpPr>
        <p:spPr>
          <a:xfrm>
            <a:off x="304800" y="228600"/>
            <a:ext cx="7315200" cy="838200"/>
          </a:xfrm>
        </p:spPr>
        <p:txBody>
          <a:bodyPr/>
          <a:lstStyle/>
          <a:p>
            <a:pPr eaLnBrk="1" hangingPunct="1"/>
            <a:r>
              <a:rPr lang="en-US" altLang="zh-CN" sz="3200" dirty="0">
                <a:ea typeface="宋体" panose="02010600030101010101" pitchFamily="2" charset="-122"/>
              </a:rPr>
              <a:t>Use Case Diagrams</a:t>
            </a:r>
            <a:br>
              <a:rPr lang="en-US" altLang="zh-CN" sz="3200" dirty="0">
                <a:ea typeface="宋体" panose="02010600030101010101" pitchFamily="2" charset="-122"/>
              </a:rPr>
            </a:br>
            <a:r>
              <a:rPr lang="en-US" altLang="zh-CN" sz="2400" dirty="0">
                <a:ea typeface="宋体" panose="02010600030101010101" pitchFamily="2" charset="-122"/>
              </a:rPr>
              <a:t>The &lt;&lt;Extend&gt;&gt; relationship</a:t>
            </a:r>
          </a:p>
        </p:txBody>
      </p:sp>
      <p:grpSp>
        <p:nvGrpSpPr>
          <p:cNvPr id="40" name="组合 39">
            <a:extLst>
              <a:ext uri="{FF2B5EF4-FFF2-40B4-BE49-F238E27FC236}">
                <a16:creationId xmlns:a16="http://schemas.microsoft.com/office/drawing/2014/main" id="{7C0869FB-92B9-4785-A920-05FD00C46308}"/>
              </a:ext>
            </a:extLst>
          </p:cNvPr>
          <p:cNvGrpSpPr/>
          <p:nvPr/>
        </p:nvGrpSpPr>
        <p:grpSpPr>
          <a:xfrm>
            <a:off x="3124200" y="2522538"/>
            <a:ext cx="5715000" cy="3497262"/>
            <a:chOff x="3276600" y="2209800"/>
            <a:chExt cx="5715000" cy="3497262"/>
          </a:xfrm>
        </p:grpSpPr>
        <p:sp>
          <p:nvSpPr>
            <p:cNvPr id="8" name="矩形 7">
              <a:extLst>
                <a:ext uri="{FF2B5EF4-FFF2-40B4-BE49-F238E27FC236}">
                  <a16:creationId xmlns:a16="http://schemas.microsoft.com/office/drawing/2014/main" id="{6DFD6A55-4CC9-47F8-82B8-4112D4AB9D9A}"/>
                </a:ext>
              </a:extLst>
            </p:cNvPr>
            <p:cNvSpPr/>
            <p:nvPr/>
          </p:nvSpPr>
          <p:spPr>
            <a:xfrm>
              <a:off x="4800600" y="2209800"/>
              <a:ext cx="4191000" cy="34972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E197E72A-4351-459D-80DA-080D9C21E52A}"/>
                </a:ext>
              </a:extLst>
            </p:cNvPr>
            <p:cNvSpPr/>
            <p:nvPr/>
          </p:nvSpPr>
          <p:spPr>
            <a:xfrm>
              <a:off x="5029200" y="2705100"/>
              <a:ext cx="1600200" cy="914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预订座位</a:t>
              </a:r>
            </a:p>
          </p:txBody>
        </p:sp>
        <p:sp>
          <p:nvSpPr>
            <p:cNvPr id="10" name="椭圆 9">
              <a:extLst>
                <a:ext uri="{FF2B5EF4-FFF2-40B4-BE49-F238E27FC236}">
                  <a16:creationId xmlns:a16="http://schemas.microsoft.com/office/drawing/2014/main" id="{75814521-0BF0-407D-AAC1-EF6C31857976}"/>
                </a:ext>
              </a:extLst>
            </p:cNvPr>
            <p:cNvSpPr/>
            <p:nvPr/>
          </p:nvSpPr>
          <p:spPr>
            <a:xfrm>
              <a:off x="7315200" y="2362200"/>
              <a:ext cx="1600200" cy="914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排队等候</a:t>
              </a:r>
            </a:p>
          </p:txBody>
        </p:sp>
        <p:sp>
          <p:nvSpPr>
            <p:cNvPr id="11" name="椭圆 10">
              <a:extLst>
                <a:ext uri="{FF2B5EF4-FFF2-40B4-BE49-F238E27FC236}">
                  <a16:creationId xmlns:a16="http://schemas.microsoft.com/office/drawing/2014/main" id="{A6A01178-BF5E-4743-9CB1-E5E5E240D092}"/>
                </a:ext>
              </a:extLst>
            </p:cNvPr>
            <p:cNvSpPr/>
            <p:nvPr/>
          </p:nvSpPr>
          <p:spPr>
            <a:xfrm>
              <a:off x="5334000" y="4419600"/>
              <a:ext cx="1600200" cy="914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查询座位信息</a:t>
              </a:r>
            </a:p>
          </p:txBody>
        </p:sp>
        <p:grpSp>
          <p:nvGrpSpPr>
            <p:cNvPr id="24" name="组合 23">
              <a:extLst>
                <a:ext uri="{FF2B5EF4-FFF2-40B4-BE49-F238E27FC236}">
                  <a16:creationId xmlns:a16="http://schemas.microsoft.com/office/drawing/2014/main" id="{8A03FD07-CA5F-4C3A-AC52-3874352D6AAD}"/>
                </a:ext>
              </a:extLst>
            </p:cNvPr>
            <p:cNvGrpSpPr/>
            <p:nvPr/>
          </p:nvGrpSpPr>
          <p:grpSpPr>
            <a:xfrm>
              <a:off x="3276600" y="3048000"/>
              <a:ext cx="838200" cy="1219200"/>
              <a:chOff x="2961640" y="3733800"/>
              <a:chExt cx="838200" cy="1219200"/>
            </a:xfrm>
          </p:grpSpPr>
          <p:sp>
            <p:nvSpPr>
              <p:cNvPr id="13" name="椭圆 12">
                <a:extLst>
                  <a:ext uri="{FF2B5EF4-FFF2-40B4-BE49-F238E27FC236}">
                    <a16:creationId xmlns:a16="http://schemas.microsoft.com/office/drawing/2014/main" id="{E0E01537-F608-4842-8910-7226F2DE579B}"/>
                  </a:ext>
                </a:extLst>
              </p:cNvPr>
              <p:cNvSpPr/>
              <p:nvPr/>
            </p:nvSpPr>
            <p:spPr>
              <a:xfrm>
                <a:off x="3266440" y="3733800"/>
                <a:ext cx="228600" cy="3048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a:extLst>
                  <a:ext uri="{FF2B5EF4-FFF2-40B4-BE49-F238E27FC236}">
                    <a16:creationId xmlns:a16="http://schemas.microsoft.com/office/drawing/2014/main" id="{682C7C46-60F4-4466-B83A-2F38306C27B5}"/>
                  </a:ext>
                </a:extLst>
              </p:cNvPr>
              <p:cNvCxnSpPr/>
              <p:nvPr/>
            </p:nvCxnSpPr>
            <p:spPr>
              <a:xfrm>
                <a:off x="2961640" y="4271169"/>
                <a:ext cx="838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A75A0875-8D9F-4635-8C47-8A78040DA3D8}"/>
                  </a:ext>
                </a:extLst>
              </p:cNvPr>
              <p:cNvCxnSpPr/>
              <p:nvPr/>
            </p:nvCxnSpPr>
            <p:spPr>
              <a:xfrm>
                <a:off x="3380740" y="4038600"/>
                <a:ext cx="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1A0C159-8430-4EB9-AE45-74033F31F857}"/>
                  </a:ext>
                </a:extLst>
              </p:cNvPr>
              <p:cNvCxnSpPr>
                <a:cxnSpLocks/>
              </p:cNvCxnSpPr>
              <p:nvPr/>
            </p:nvCxnSpPr>
            <p:spPr>
              <a:xfrm flipH="1">
                <a:off x="2961640" y="4495800"/>
                <a:ext cx="4191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B76551DF-535A-4457-B889-7465001586A5}"/>
                  </a:ext>
                </a:extLst>
              </p:cNvPr>
              <p:cNvCxnSpPr>
                <a:cxnSpLocks/>
              </p:cNvCxnSpPr>
              <p:nvPr/>
            </p:nvCxnSpPr>
            <p:spPr>
              <a:xfrm>
                <a:off x="3380740" y="4495800"/>
                <a:ext cx="353059"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 name="直接连接符 25">
              <a:extLst>
                <a:ext uri="{FF2B5EF4-FFF2-40B4-BE49-F238E27FC236}">
                  <a16:creationId xmlns:a16="http://schemas.microsoft.com/office/drawing/2014/main" id="{76829324-586D-46DE-91A8-B238D0F2E2BD}"/>
                </a:ext>
              </a:extLst>
            </p:cNvPr>
            <p:cNvCxnSpPr>
              <a:endCxn id="9" idx="2"/>
            </p:cNvCxnSpPr>
            <p:nvPr/>
          </p:nvCxnSpPr>
          <p:spPr>
            <a:xfrm flipV="1">
              <a:off x="4185921" y="3162300"/>
              <a:ext cx="843279" cy="33893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690F1DA8-D116-46C8-B260-8938A02448B0}"/>
                </a:ext>
              </a:extLst>
            </p:cNvPr>
            <p:cNvCxnSpPr>
              <a:cxnSpLocks/>
              <a:endCxn id="11" idx="2"/>
            </p:cNvCxnSpPr>
            <p:nvPr/>
          </p:nvCxnSpPr>
          <p:spPr>
            <a:xfrm>
              <a:off x="4185921" y="3501231"/>
              <a:ext cx="1148079" cy="13755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6BE308A7-6194-4B38-8253-7E1879F19AD4}"/>
                </a:ext>
              </a:extLst>
            </p:cNvPr>
            <p:cNvCxnSpPr>
              <a:stCxn id="9" idx="4"/>
              <a:endCxn id="11" idx="0"/>
            </p:cNvCxnSpPr>
            <p:nvPr/>
          </p:nvCxnSpPr>
          <p:spPr>
            <a:xfrm>
              <a:off x="5829300" y="3619500"/>
              <a:ext cx="304800" cy="80010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45CD0986-F344-4AAD-B68E-DBB58BDA4B48}"/>
                </a:ext>
              </a:extLst>
            </p:cNvPr>
            <p:cNvCxnSpPr>
              <a:cxnSpLocks/>
              <a:stCxn id="10" idx="2"/>
              <a:endCxn id="9" idx="6"/>
            </p:cNvCxnSpPr>
            <p:nvPr/>
          </p:nvCxnSpPr>
          <p:spPr>
            <a:xfrm flipH="1">
              <a:off x="6629400" y="2819400"/>
              <a:ext cx="685800" cy="34290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B04DA455-FE96-4E62-83E7-CB34EA2B34A1}"/>
                </a:ext>
              </a:extLst>
            </p:cNvPr>
            <p:cNvSpPr txBox="1"/>
            <p:nvPr/>
          </p:nvSpPr>
          <p:spPr>
            <a:xfrm>
              <a:off x="5937156" y="3962400"/>
              <a:ext cx="1454244" cy="369332"/>
            </a:xfrm>
            <a:prstGeom prst="rect">
              <a:avLst/>
            </a:prstGeom>
            <a:noFill/>
          </p:spPr>
          <p:txBody>
            <a:bodyPr wrap="none" rtlCol="0">
              <a:spAutoFit/>
            </a:bodyPr>
            <a:lstStyle/>
            <a:p>
              <a:r>
                <a:rPr lang="en-US" altLang="zh-CN" dirty="0"/>
                <a:t>&lt;&lt;include&gt;&gt;</a:t>
              </a:r>
              <a:endParaRPr lang="zh-CN" altLang="en-US" dirty="0"/>
            </a:p>
          </p:txBody>
        </p:sp>
        <p:sp>
          <p:nvSpPr>
            <p:cNvPr id="37" name="文本框 36">
              <a:extLst>
                <a:ext uri="{FF2B5EF4-FFF2-40B4-BE49-F238E27FC236}">
                  <a16:creationId xmlns:a16="http://schemas.microsoft.com/office/drawing/2014/main" id="{C606F0FC-07E1-46CD-8643-071FADDE2B7C}"/>
                </a:ext>
              </a:extLst>
            </p:cNvPr>
            <p:cNvSpPr txBox="1"/>
            <p:nvPr/>
          </p:nvSpPr>
          <p:spPr>
            <a:xfrm>
              <a:off x="5975628" y="2488922"/>
              <a:ext cx="1415772" cy="369332"/>
            </a:xfrm>
            <a:prstGeom prst="rect">
              <a:avLst/>
            </a:prstGeom>
            <a:noFill/>
          </p:spPr>
          <p:txBody>
            <a:bodyPr wrap="none" rtlCol="0">
              <a:spAutoFit/>
            </a:bodyPr>
            <a:lstStyle/>
            <a:p>
              <a:r>
                <a:rPr lang="en-US" altLang="zh-CN" dirty="0"/>
                <a:t>&lt;&lt;extend&gt;&gt;</a:t>
              </a:r>
              <a:endParaRPr lang="zh-CN" altLang="en-US" dirty="0"/>
            </a:p>
          </p:txBody>
        </p:sp>
        <p:sp>
          <p:nvSpPr>
            <p:cNvPr id="39" name="文本框 38">
              <a:extLst>
                <a:ext uri="{FF2B5EF4-FFF2-40B4-BE49-F238E27FC236}">
                  <a16:creationId xmlns:a16="http://schemas.microsoft.com/office/drawing/2014/main" id="{92491817-0269-4F43-9FFD-619AC0E40B34}"/>
                </a:ext>
              </a:extLst>
            </p:cNvPr>
            <p:cNvSpPr txBox="1"/>
            <p:nvPr/>
          </p:nvSpPr>
          <p:spPr>
            <a:xfrm>
              <a:off x="3385821" y="4114800"/>
              <a:ext cx="646331" cy="369332"/>
            </a:xfrm>
            <a:prstGeom prst="rect">
              <a:avLst/>
            </a:prstGeom>
            <a:noFill/>
          </p:spPr>
          <p:txBody>
            <a:bodyPr wrap="none" rtlCol="0">
              <a:spAutoFit/>
            </a:bodyPr>
            <a:lstStyle/>
            <a:p>
              <a:r>
                <a:rPr lang="zh-CN" altLang="en-US" dirty="0"/>
                <a:t>客户</a:t>
              </a:r>
            </a:p>
          </p:txBody>
        </p:sp>
      </p:grpSp>
      <p:sp>
        <p:nvSpPr>
          <p:cNvPr id="2" name="矩形 1">
            <a:extLst>
              <a:ext uri="{FF2B5EF4-FFF2-40B4-BE49-F238E27FC236}">
                <a16:creationId xmlns:a16="http://schemas.microsoft.com/office/drawing/2014/main" id="{63941A34-7FFD-4923-8C04-D9E1DD385A96}"/>
              </a:ext>
            </a:extLst>
          </p:cNvPr>
          <p:cNvSpPr/>
          <p:nvPr/>
        </p:nvSpPr>
        <p:spPr>
          <a:xfrm>
            <a:off x="5823228" y="2801660"/>
            <a:ext cx="1415772" cy="36933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776782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9B0D60DA-FAD1-4814-B314-CE700A0A020E}"/>
              </a:ext>
            </a:extLst>
          </p:cNvPr>
          <p:cNvSpPr>
            <a:spLocks noGrp="1"/>
          </p:cNvSpPr>
          <p:nvPr>
            <p:ph type="body" sz="half" idx="1"/>
          </p:nvPr>
        </p:nvSpPr>
        <p:spPr>
          <a:xfrm>
            <a:off x="304800" y="1295400"/>
            <a:ext cx="4038600" cy="4411662"/>
          </a:xfrm>
        </p:spPr>
        <p:txBody>
          <a:bodyPr/>
          <a:lstStyle/>
          <a:p>
            <a:r>
              <a:rPr lang="zh-CN" altLang="en-US" sz="2400" dirty="0"/>
              <a:t>当执行</a:t>
            </a:r>
            <a:r>
              <a:rPr lang="en-US" altLang="zh-CN" sz="2400" dirty="0"/>
              <a:t>A</a:t>
            </a:r>
            <a:r>
              <a:rPr lang="zh-CN" altLang="en-US" sz="2400" dirty="0"/>
              <a:t>用例时，</a:t>
            </a:r>
            <a:r>
              <a:rPr lang="zh-CN" altLang="en-US" sz="2400" u="sng" dirty="0"/>
              <a:t>必须执行</a:t>
            </a:r>
            <a:r>
              <a:rPr lang="en-US" altLang="zh-CN" sz="2400" u="sng" dirty="0"/>
              <a:t>B</a:t>
            </a:r>
            <a:r>
              <a:rPr lang="zh-CN" altLang="en-US" sz="2400" u="sng" dirty="0"/>
              <a:t>用例</a:t>
            </a:r>
            <a:r>
              <a:rPr lang="zh-CN" altLang="en-US" sz="2400" dirty="0"/>
              <a:t>才完整</a:t>
            </a:r>
            <a:endParaRPr lang="en-US" altLang="zh-CN" sz="2400" dirty="0"/>
          </a:p>
          <a:p>
            <a:r>
              <a:rPr lang="zh-CN" altLang="en-US" sz="2400" dirty="0"/>
              <a:t>这种情况就是</a:t>
            </a:r>
            <a:r>
              <a:rPr lang="en-US" altLang="zh-CN" sz="2400" dirty="0"/>
              <a:t>A</a:t>
            </a:r>
            <a:r>
              <a:rPr lang="zh-CN" altLang="en-US" sz="2400" dirty="0"/>
              <a:t>用例</a:t>
            </a:r>
            <a:r>
              <a:rPr lang="en-US" altLang="zh-CN" sz="2400" dirty="0">
                <a:solidFill>
                  <a:srgbClr val="C00000"/>
                </a:solidFill>
              </a:rPr>
              <a:t>&lt;&lt;</a:t>
            </a:r>
            <a:r>
              <a:rPr lang="zh-CN" altLang="en-US" sz="2400" dirty="0">
                <a:solidFill>
                  <a:srgbClr val="C00000"/>
                </a:solidFill>
              </a:rPr>
              <a:t>包含</a:t>
            </a:r>
            <a:r>
              <a:rPr lang="en-US" altLang="zh-CN" sz="2400" dirty="0">
                <a:solidFill>
                  <a:srgbClr val="C00000"/>
                </a:solidFill>
              </a:rPr>
              <a:t>&gt;&gt;</a:t>
            </a:r>
            <a:r>
              <a:rPr lang="zh-CN" altLang="en-US" sz="2400" dirty="0"/>
              <a:t>了</a:t>
            </a:r>
            <a:r>
              <a:rPr lang="en-US" altLang="zh-CN" sz="2400" dirty="0"/>
              <a:t>A</a:t>
            </a:r>
            <a:r>
              <a:rPr lang="zh-CN" altLang="en-US" sz="2400" dirty="0"/>
              <a:t>用例</a:t>
            </a:r>
          </a:p>
        </p:txBody>
      </p:sp>
      <p:sp>
        <p:nvSpPr>
          <p:cNvPr id="5" name="页脚占位符 4">
            <a:extLst>
              <a:ext uri="{FF2B5EF4-FFF2-40B4-BE49-F238E27FC236}">
                <a16:creationId xmlns:a16="http://schemas.microsoft.com/office/drawing/2014/main" id="{CF434D58-6AD5-4C99-A4A7-B89457844B32}"/>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6" name="灯片编号占位符 5">
            <a:extLst>
              <a:ext uri="{FF2B5EF4-FFF2-40B4-BE49-F238E27FC236}">
                <a16:creationId xmlns:a16="http://schemas.microsoft.com/office/drawing/2014/main" id="{AB909C65-28CE-4462-BDF7-106C52A87115}"/>
              </a:ext>
            </a:extLst>
          </p:cNvPr>
          <p:cNvSpPr>
            <a:spLocks noGrp="1"/>
          </p:cNvSpPr>
          <p:nvPr>
            <p:ph type="sldNum" sz="quarter" idx="12"/>
          </p:nvPr>
        </p:nvSpPr>
        <p:spPr/>
        <p:txBody>
          <a:bodyPr/>
          <a:lstStyle/>
          <a:p>
            <a:fld id="{B753FDD0-7D31-4A1B-A2DD-1773C1FEDA0B}" type="slidenum">
              <a:rPr lang="en-US" altLang="en-US" smtClean="0"/>
              <a:pPr/>
              <a:t>53</a:t>
            </a:fld>
            <a:endParaRPr lang="en-US" altLang="en-US"/>
          </a:p>
        </p:txBody>
      </p:sp>
      <p:sp>
        <p:nvSpPr>
          <p:cNvPr id="7" name="Rectangle 2">
            <a:extLst>
              <a:ext uri="{FF2B5EF4-FFF2-40B4-BE49-F238E27FC236}">
                <a16:creationId xmlns:a16="http://schemas.microsoft.com/office/drawing/2014/main" id="{CB9BDB5F-07F7-4B72-8145-F59CA7FAAD1B}"/>
              </a:ext>
            </a:extLst>
          </p:cNvPr>
          <p:cNvSpPr>
            <a:spLocks noGrp="1" noChangeArrowheads="1"/>
          </p:cNvSpPr>
          <p:nvPr>
            <p:ph type="title"/>
          </p:nvPr>
        </p:nvSpPr>
        <p:spPr>
          <a:xfrm>
            <a:off x="304800" y="228600"/>
            <a:ext cx="7315200" cy="838200"/>
          </a:xfrm>
        </p:spPr>
        <p:txBody>
          <a:bodyPr/>
          <a:lstStyle/>
          <a:p>
            <a:pPr eaLnBrk="1" hangingPunct="1"/>
            <a:r>
              <a:rPr lang="en-US" altLang="zh-CN" sz="3200" dirty="0">
                <a:ea typeface="宋体" panose="02010600030101010101" pitchFamily="2" charset="-122"/>
              </a:rPr>
              <a:t>Use Case Diagrams</a:t>
            </a:r>
            <a:br>
              <a:rPr lang="en-US" altLang="zh-CN" sz="3200" dirty="0">
                <a:ea typeface="宋体" panose="02010600030101010101" pitchFamily="2" charset="-122"/>
              </a:rPr>
            </a:br>
            <a:r>
              <a:rPr lang="en-US" altLang="zh-CN" sz="2400" dirty="0">
                <a:ea typeface="宋体" panose="02010600030101010101" pitchFamily="2" charset="-122"/>
              </a:rPr>
              <a:t>The &lt;&lt;Extend&gt;&gt; relationship</a:t>
            </a:r>
          </a:p>
        </p:txBody>
      </p:sp>
      <p:grpSp>
        <p:nvGrpSpPr>
          <p:cNvPr id="40" name="组合 39">
            <a:extLst>
              <a:ext uri="{FF2B5EF4-FFF2-40B4-BE49-F238E27FC236}">
                <a16:creationId xmlns:a16="http://schemas.microsoft.com/office/drawing/2014/main" id="{7C0869FB-92B9-4785-A920-05FD00C46308}"/>
              </a:ext>
            </a:extLst>
          </p:cNvPr>
          <p:cNvGrpSpPr/>
          <p:nvPr/>
        </p:nvGrpSpPr>
        <p:grpSpPr>
          <a:xfrm>
            <a:off x="3124200" y="2522538"/>
            <a:ext cx="5715000" cy="3497262"/>
            <a:chOff x="3276600" y="2209800"/>
            <a:chExt cx="5715000" cy="3497262"/>
          </a:xfrm>
        </p:grpSpPr>
        <p:sp>
          <p:nvSpPr>
            <p:cNvPr id="8" name="矩形 7">
              <a:extLst>
                <a:ext uri="{FF2B5EF4-FFF2-40B4-BE49-F238E27FC236}">
                  <a16:creationId xmlns:a16="http://schemas.microsoft.com/office/drawing/2014/main" id="{6DFD6A55-4CC9-47F8-82B8-4112D4AB9D9A}"/>
                </a:ext>
              </a:extLst>
            </p:cNvPr>
            <p:cNvSpPr/>
            <p:nvPr/>
          </p:nvSpPr>
          <p:spPr>
            <a:xfrm>
              <a:off x="4800600" y="2209800"/>
              <a:ext cx="4191000" cy="34972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E197E72A-4351-459D-80DA-080D9C21E52A}"/>
                </a:ext>
              </a:extLst>
            </p:cNvPr>
            <p:cNvSpPr/>
            <p:nvPr/>
          </p:nvSpPr>
          <p:spPr>
            <a:xfrm>
              <a:off x="5029200" y="2705100"/>
              <a:ext cx="1600200" cy="914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预订座位</a:t>
              </a:r>
            </a:p>
          </p:txBody>
        </p:sp>
        <p:sp>
          <p:nvSpPr>
            <p:cNvPr id="10" name="椭圆 9">
              <a:extLst>
                <a:ext uri="{FF2B5EF4-FFF2-40B4-BE49-F238E27FC236}">
                  <a16:creationId xmlns:a16="http://schemas.microsoft.com/office/drawing/2014/main" id="{75814521-0BF0-407D-AAC1-EF6C31857976}"/>
                </a:ext>
              </a:extLst>
            </p:cNvPr>
            <p:cNvSpPr/>
            <p:nvPr/>
          </p:nvSpPr>
          <p:spPr>
            <a:xfrm>
              <a:off x="7315200" y="2362200"/>
              <a:ext cx="1600200" cy="914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排队等候</a:t>
              </a:r>
            </a:p>
          </p:txBody>
        </p:sp>
        <p:sp>
          <p:nvSpPr>
            <p:cNvPr id="11" name="椭圆 10">
              <a:extLst>
                <a:ext uri="{FF2B5EF4-FFF2-40B4-BE49-F238E27FC236}">
                  <a16:creationId xmlns:a16="http://schemas.microsoft.com/office/drawing/2014/main" id="{A6A01178-BF5E-4743-9CB1-E5E5E240D092}"/>
                </a:ext>
              </a:extLst>
            </p:cNvPr>
            <p:cNvSpPr/>
            <p:nvPr/>
          </p:nvSpPr>
          <p:spPr>
            <a:xfrm>
              <a:off x="5334000" y="4419600"/>
              <a:ext cx="1600200" cy="914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查询座位信息</a:t>
              </a:r>
            </a:p>
          </p:txBody>
        </p:sp>
        <p:grpSp>
          <p:nvGrpSpPr>
            <p:cNvPr id="24" name="组合 23">
              <a:extLst>
                <a:ext uri="{FF2B5EF4-FFF2-40B4-BE49-F238E27FC236}">
                  <a16:creationId xmlns:a16="http://schemas.microsoft.com/office/drawing/2014/main" id="{8A03FD07-CA5F-4C3A-AC52-3874352D6AAD}"/>
                </a:ext>
              </a:extLst>
            </p:cNvPr>
            <p:cNvGrpSpPr/>
            <p:nvPr/>
          </p:nvGrpSpPr>
          <p:grpSpPr>
            <a:xfrm>
              <a:off x="3276600" y="3048000"/>
              <a:ext cx="838200" cy="1219200"/>
              <a:chOff x="2961640" y="3733800"/>
              <a:chExt cx="838200" cy="1219200"/>
            </a:xfrm>
          </p:grpSpPr>
          <p:sp>
            <p:nvSpPr>
              <p:cNvPr id="13" name="椭圆 12">
                <a:extLst>
                  <a:ext uri="{FF2B5EF4-FFF2-40B4-BE49-F238E27FC236}">
                    <a16:creationId xmlns:a16="http://schemas.microsoft.com/office/drawing/2014/main" id="{E0E01537-F608-4842-8910-7226F2DE579B}"/>
                  </a:ext>
                </a:extLst>
              </p:cNvPr>
              <p:cNvSpPr/>
              <p:nvPr/>
            </p:nvSpPr>
            <p:spPr>
              <a:xfrm>
                <a:off x="3266440" y="3733800"/>
                <a:ext cx="228600" cy="3048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a:extLst>
                  <a:ext uri="{FF2B5EF4-FFF2-40B4-BE49-F238E27FC236}">
                    <a16:creationId xmlns:a16="http://schemas.microsoft.com/office/drawing/2014/main" id="{682C7C46-60F4-4466-B83A-2F38306C27B5}"/>
                  </a:ext>
                </a:extLst>
              </p:cNvPr>
              <p:cNvCxnSpPr/>
              <p:nvPr/>
            </p:nvCxnSpPr>
            <p:spPr>
              <a:xfrm>
                <a:off x="2961640" y="4271169"/>
                <a:ext cx="838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A75A0875-8D9F-4635-8C47-8A78040DA3D8}"/>
                  </a:ext>
                </a:extLst>
              </p:cNvPr>
              <p:cNvCxnSpPr/>
              <p:nvPr/>
            </p:nvCxnSpPr>
            <p:spPr>
              <a:xfrm>
                <a:off x="3380740" y="4038600"/>
                <a:ext cx="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1A0C159-8430-4EB9-AE45-74033F31F857}"/>
                  </a:ext>
                </a:extLst>
              </p:cNvPr>
              <p:cNvCxnSpPr>
                <a:cxnSpLocks/>
              </p:cNvCxnSpPr>
              <p:nvPr/>
            </p:nvCxnSpPr>
            <p:spPr>
              <a:xfrm flipH="1">
                <a:off x="2961640" y="4495800"/>
                <a:ext cx="4191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B76551DF-535A-4457-B889-7465001586A5}"/>
                  </a:ext>
                </a:extLst>
              </p:cNvPr>
              <p:cNvCxnSpPr>
                <a:cxnSpLocks/>
              </p:cNvCxnSpPr>
              <p:nvPr/>
            </p:nvCxnSpPr>
            <p:spPr>
              <a:xfrm>
                <a:off x="3380740" y="4495800"/>
                <a:ext cx="353059"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 name="直接连接符 25">
              <a:extLst>
                <a:ext uri="{FF2B5EF4-FFF2-40B4-BE49-F238E27FC236}">
                  <a16:creationId xmlns:a16="http://schemas.microsoft.com/office/drawing/2014/main" id="{76829324-586D-46DE-91A8-B238D0F2E2BD}"/>
                </a:ext>
              </a:extLst>
            </p:cNvPr>
            <p:cNvCxnSpPr>
              <a:endCxn id="9" idx="2"/>
            </p:cNvCxnSpPr>
            <p:nvPr/>
          </p:nvCxnSpPr>
          <p:spPr>
            <a:xfrm flipV="1">
              <a:off x="4185921" y="3162300"/>
              <a:ext cx="843279" cy="33893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690F1DA8-D116-46C8-B260-8938A02448B0}"/>
                </a:ext>
              </a:extLst>
            </p:cNvPr>
            <p:cNvCxnSpPr>
              <a:cxnSpLocks/>
              <a:endCxn id="11" idx="2"/>
            </p:cNvCxnSpPr>
            <p:nvPr/>
          </p:nvCxnSpPr>
          <p:spPr>
            <a:xfrm>
              <a:off x="4185921" y="3501231"/>
              <a:ext cx="1148079" cy="13755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6BE308A7-6194-4B38-8253-7E1879F19AD4}"/>
                </a:ext>
              </a:extLst>
            </p:cNvPr>
            <p:cNvCxnSpPr>
              <a:stCxn id="9" idx="4"/>
              <a:endCxn id="11" idx="0"/>
            </p:cNvCxnSpPr>
            <p:nvPr/>
          </p:nvCxnSpPr>
          <p:spPr>
            <a:xfrm>
              <a:off x="5829300" y="3619500"/>
              <a:ext cx="304800" cy="80010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45CD0986-F344-4AAD-B68E-DBB58BDA4B48}"/>
                </a:ext>
              </a:extLst>
            </p:cNvPr>
            <p:cNvCxnSpPr>
              <a:cxnSpLocks/>
              <a:stCxn id="10" idx="2"/>
              <a:endCxn id="9" idx="6"/>
            </p:cNvCxnSpPr>
            <p:nvPr/>
          </p:nvCxnSpPr>
          <p:spPr>
            <a:xfrm flipH="1">
              <a:off x="6629400" y="2819400"/>
              <a:ext cx="685800" cy="34290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B04DA455-FE96-4E62-83E7-CB34EA2B34A1}"/>
                </a:ext>
              </a:extLst>
            </p:cNvPr>
            <p:cNvSpPr txBox="1"/>
            <p:nvPr/>
          </p:nvSpPr>
          <p:spPr>
            <a:xfrm>
              <a:off x="5937156" y="3962400"/>
              <a:ext cx="1454244" cy="369332"/>
            </a:xfrm>
            <a:prstGeom prst="rect">
              <a:avLst/>
            </a:prstGeom>
            <a:noFill/>
          </p:spPr>
          <p:txBody>
            <a:bodyPr wrap="none" rtlCol="0">
              <a:spAutoFit/>
            </a:bodyPr>
            <a:lstStyle/>
            <a:p>
              <a:r>
                <a:rPr lang="en-US" altLang="zh-CN" dirty="0"/>
                <a:t>&lt;&lt;include&gt;&gt;</a:t>
              </a:r>
              <a:endParaRPr lang="zh-CN" altLang="en-US" dirty="0"/>
            </a:p>
          </p:txBody>
        </p:sp>
        <p:sp>
          <p:nvSpPr>
            <p:cNvPr id="37" name="文本框 36">
              <a:extLst>
                <a:ext uri="{FF2B5EF4-FFF2-40B4-BE49-F238E27FC236}">
                  <a16:creationId xmlns:a16="http://schemas.microsoft.com/office/drawing/2014/main" id="{C606F0FC-07E1-46CD-8643-071FADDE2B7C}"/>
                </a:ext>
              </a:extLst>
            </p:cNvPr>
            <p:cNvSpPr txBox="1"/>
            <p:nvPr/>
          </p:nvSpPr>
          <p:spPr>
            <a:xfrm>
              <a:off x="5975628" y="2488922"/>
              <a:ext cx="1415772" cy="369332"/>
            </a:xfrm>
            <a:prstGeom prst="rect">
              <a:avLst/>
            </a:prstGeom>
            <a:noFill/>
          </p:spPr>
          <p:txBody>
            <a:bodyPr wrap="none" rtlCol="0">
              <a:spAutoFit/>
            </a:bodyPr>
            <a:lstStyle/>
            <a:p>
              <a:r>
                <a:rPr lang="en-US" altLang="zh-CN" dirty="0"/>
                <a:t>&lt;&lt;extend&gt;&gt;</a:t>
              </a:r>
              <a:endParaRPr lang="zh-CN" altLang="en-US" dirty="0"/>
            </a:p>
          </p:txBody>
        </p:sp>
        <p:sp>
          <p:nvSpPr>
            <p:cNvPr id="39" name="文本框 38">
              <a:extLst>
                <a:ext uri="{FF2B5EF4-FFF2-40B4-BE49-F238E27FC236}">
                  <a16:creationId xmlns:a16="http://schemas.microsoft.com/office/drawing/2014/main" id="{92491817-0269-4F43-9FFD-619AC0E40B34}"/>
                </a:ext>
              </a:extLst>
            </p:cNvPr>
            <p:cNvSpPr txBox="1"/>
            <p:nvPr/>
          </p:nvSpPr>
          <p:spPr>
            <a:xfrm>
              <a:off x="3385821" y="4114800"/>
              <a:ext cx="646331" cy="369332"/>
            </a:xfrm>
            <a:prstGeom prst="rect">
              <a:avLst/>
            </a:prstGeom>
            <a:noFill/>
          </p:spPr>
          <p:txBody>
            <a:bodyPr wrap="none" rtlCol="0">
              <a:spAutoFit/>
            </a:bodyPr>
            <a:lstStyle/>
            <a:p>
              <a:r>
                <a:rPr lang="zh-CN" altLang="en-US" dirty="0"/>
                <a:t>客户</a:t>
              </a:r>
            </a:p>
          </p:txBody>
        </p:sp>
      </p:grpSp>
      <p:sp>
        <p:nvSpPr>
          <p:cNvPr id="2" name="矩形 1">
            <a:extLst>
              <a:ext uri="{FF2B5EF4-FFF2-40B4-BE49-F238E27FC236}">
                <a16:creationId xmlns:a16="http://schemas.microsoft.com/office/drawing/2014/main" id="{63941A34-7FFD-4923-8C04-D9E1DD385A96}"/>
              </a:ext>
            </a:extLst>
          </p:cNvPr>
          <p:cNvSpPr/>
          <p:nvPr/>
        </p:nvSpPr>
        <p:spPr>
          <a:xfrm>
            <a:off x="5848629" y="4271169"/>
            <a:ext cx="1415772" cy="36933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136988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7ABB40-AF30-495A-807A-ECCFCA0AD013}"/>
              </a:ext>
            </a:extLst>
          </p:cNvPr>
          <p:cNvSpPr>
            <a:spLocks noGrp="1"/>
          </p:cNvSpPr>
          <p:nvPr>
            <p:ph type="title"/>
          </p:nvPr>
        </p:nvSpPr>
        <p:spPr/>
        <p:txBody>
          <a:bodyPr/>
          <a:lstStyle/>
          <a:p>
            <a:r>
              <a:rPr lang="en-US" altLang="zh-CN" dirty="0"/>
              <a:t>An Use Case Diagram Example</a:t>
            </a:r>
            <a:endParaRPr lang="zh-CN" altLang="en-US" dirty="0"/>
          </a:p>
        </p:txBody>
      </p:sp>
      <p:sp>
        <p:nvSpPr>
          <p:cNvPr id="5" name="页脚占位符 4">
            <a:extLst>
              <a:ext uri="{FF2B5EF4-FFF2-40B4-BE49-F238E27FC236}">
                <a16:creationId xmlns:a16="http://schemas.microsoft.com/office/drawing/2014/main" id="{F63CB93B-F076-45D9-B81B-26C197BDEC82}"/>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6" name="灯片编号占位符 5">
            <a:extLst>
              <a:ext uri="{FF2B5EF4-FFF2-40B4-BE49-F238E27FC236}">
                <a16:creationId xmlns:a16="http://schemas.microsoft.com/office/drawing/2014/main" id="{5D352154-E2A6-4284-9CAA-0230234F3562}"/>
              </a:ext>
            </a:extLst>
          </p:cNvPr>
          <p:cNvSpPr>
            <a:spLocks noGrp="1"/>
          </p:cNvSpPr>
          <p:nvPr>
            <p:ph type="sldNum" sz="quarter" idx="12"/>
          </p:nvPr>
        </p:nvSpPr>
        <p:spPr/>
        <p:txBody>
          <a:bodyPr/>
          <a:lstStyle/>
          <a:p>
            <a:fld id="{B753FDD0-7D31-4A1B-A2DD-1773C1FEDA0B}" type="slidenum">
              <a:rPr lang="en-US" altLang="en-US" smtClean="0"/>
              <a:pPr/>
              <a:t>54</a:t>
            </a:fld>
            <a:endParaRPr lang="en-US" altLang="en-US"/>
          </a:p>
        </p:txBody>
      </p:sp>
      <p:grpSp>
        <p:nvGrpSpPr>
          <p:cNvPr id="8" name="组合 7">
            <a:extLst>
              <a:ext uri="{FF2B5EF4-FFF2-40B4-BE49-F238E27FC236}">
                <a16:creationId xmlns:a16="http://schemas.microsoft.com/office/drawing/2014/main" id="{6997C017-1DE2-4B67-8478-527276AE7EA7}"/>
              </a:ext>
            </a:extLst>
          </p:cNvPr>
          <p:cNvGrpSpPr/>
          <p:nvPr/>
        </p:nvGrpSpPr>
        <p:grpSpPr>
          <a:xfrm>
            <a:off x="1981200" y="1505896"/>
            <a:ext cx="6138863" cy="4556767"/>
            <a:chOff x="1981200" y="1505896"/>
            <a:chExt cx="6138863" cy="4556767"/>
          </a:xfrm>
        </p:grpSpPr>
        <p:pic>
          <p:nvPicPr>
            <p:cNvPr id="58370" name="Picture 2" descr="http://dl2.iteye.com/upload/attachment/0045/2510/82b05b64-f306-3a50-9e6e-dcb3c30433de.jpg">
              <a:extLst>
                <a:ext uri="{FF2B5EF4-FFF2-40B4-BE49-F238E27FC236}">
                  <a16:creationId xmlns:a16="http://schemas.microsoft.com/office/drawing/2014/main" id="{72B1E0B0-9AAA-49BB-8624-31C53F059C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505896"/>
              <a:ext cx="6138863" cy="455676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a:extLst>
                <a:ext uri="{FF2B5EF4-FFF2-40B4-BE49-F238E27FC236}">
                  <a16:creationId xmlns:a16="http://schemas.microsoft.com/office/drawing/2014/main" id="{B0233F70-7D47-4993-947D-D5A6A25BBECD}"/>
                </a:ext>
              </a:extLst>
            </p:cNvPr>
            <p:cNvSpPr/>
            <p:nvPr/>
          </p:nvSpPr>
          <p:spPr>
            <a:xfrm>
              <a:off x="2971800" y="1505896"/>
              <a:ext cx="4572000" cy="45567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矩形 2">
            <a:extLst>
              <a:ext uri="{FF2B5EF4-FFF2-40B4-BE49-F238E27FC236}">
                <a16:creationId xmlns:a16="http://schemas.microsoft.com/office/drawing/2014/main" id="{98022520-F063-476C-97D2-17B3D504B4EB}"/>
              </a:ext>
            </a:extLst>
          </p:cNvPr>
          <p:cNvSpPr/>
          <p:nvPr/>
        </p:nvSpPr>
        <p:spPr>
          <a:xfrm>
            <a:off x="5181600" y="2667000"/>
            <a:ext cx="762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1A1CF3B9-7872-42C1-9A9F-1749CF3EFDE5}"/>
              </a:ext>
            </a:extLst>
          </p:cNvPr>
          <p:cNvSpPr/>
          <p:nvPr/>
        </p:nvSpPr>
        <p:spPr>
          <a:xfrm>
            <a:off x="5288280" y="4384509"/>
            <a:ext cx="762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C33010C-DEEA-4EDE-BE80-3E0E6F181192}"/>
              </a:ext>
            </a:extLst>
          </p:cNvPr>
          <p:cNvSpPr/>
          <p:nvPr/>
        </p:nvSpPr>
        <p:spPr>
          <a:xfrm>
            <a:off x="5288280" y="4918786"/>
            <a:ext cx="762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81683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a:extLst>
              <a:ext uri="{FF2B5EF4-FFF2-40B4-BE49-F238E27FC236}">
                <a16:creationId xmlns:a16="http://schemas.microsoft.com/office/drawing/2014/main" id="{AF08F974-D808-412B-96D1-A87F8081429B}"/>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6" name="灯片编号占位符 5">
            <a:extLst>
              <a:ext uri="{FF2B5EF4-FFF2-40B4-BE49-F238E27FC236}">
                <a16:creationId xmlns:a16="http://schemas.microsoft.com/office/drawing/2014/main" id="{BDBED522-3D77-47F0-B62B-3E18864C6C2B}"/>
              </a:ext>
            </a:extLst>
          </p:cNvPr>
          <p:cNvSpPr>
            <a:spLocks noGrp="1"/>
          </p:cNvSpPr>
          <p:nvPr>
            <p:ph type="sldNum" sz="quarter" idx="12"/>
          </p:nvPr>
        </p:nvSpPr>
        <p:spPr/>
        <p:txBody>
          <a:bodyPr/>
          <a:lstStyle/>
          <a:p>
            <a:fld id="{B753FDD0-7D31-4A1B-A2DD-1773C1FEDA0B}" type="slidenum">
              <a:rPr lang="en-US" altLang="en-US" smtClean="0"/>
              <a:pPr/>
              <a:t>55</a:t>
            </a:fld>
            <a:endParaRPr lang="en-US" altLang="en-US"/>
          </a:p>
        </p:txBody>
      </p:sp>
      <p:pic>
        <p:nvPicPr>
          <p:cNvPr id="74754" name="Picture 2" descr="http://dl2.iteye.com/upload/attachment/0045/2514/ca4ad8cf-13f9-3db8-8965-8ecf6483156c.jpg">
            <a:extLst>
              <a:ext uri="{FF2B5EF4-FFF2-40B4-BE49-F238E27FC236}">
                <a16:creationId xmlns:a16="http://schemas.microsoft.com/office/drawing/2014/main" id="{93583343-416F-4EDF-942A-93285CD4EF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500" y="0"/>
            <a:ext cx="7493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3313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6C59247C-97DE-4A93-8CE9-FD0800B919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6C414FF-3674-4D54-BEBA-D55659648071}" type="slidenum">
              <a:rPr lang="en-US" altLang="en-US"/>
              <a:pPr eaLnBrk="1" hangingPunct="1"/>
              <a:t>56</a:t>
            </a:fld>
            <a:endParaRPr lang="en-US" altLang="en-US"/>
          </a:p>
        </p:txBody>
      </p:sp>
      <p:sp>
        <p:nvSpPr>
          <p:cNvPr id="39939" name="Rectangle 2">
            <a:extLst>
              <a:ext uri="{FF2B5EF4-FFF2-40B4-BE49-F238E27FC236}">
                <a16:creationId xmlns:a16="http://schemas.microsoft.com/office/drawing/2014/main" id="{5B02443A-1075-4F11-B410-AC929D490683}"/>
              </a:ext>
            </a:extLst>
          </p:cNvPr>
          <p:cNvSpPr>
            <a:spLocks noGrp="1" noChangeArrowheads="1"/>
          </p:cNvSpPr>
          <p:nvPr>
            <p:ph type="title"/>
          </p:nvPr>
        </p:nvSpPr>
        <p:spPr>
          <a:xfrm>
            <a:off x="457200" y="122238"/>
            <a:ext cx="8305800" cy="1295400"/>
          </a:xfrm>
        </p:spPr>
        <p:txBody>
          <a:bodyPr/>
          <a:lstStyle/>
          <a:p>
            <a:pPr eaLnBrk="1" hangingPunct="1"/>
            <a:r>
              <a:rPr lang="en-US" altLang="zh-CN" dirty="0">
                <a:ea typeface="宋体" panose="02010600030101010101" pitchFamily="2" charset="-122"/>
              </a:rPr>
              <a:t>Use Case Diagrams:</a:t>
            </a:r>
            <a:br>
              <a:rPr lang="en-US" altLang="zh-CN" dirty="0">
                <a:ea typeface="宋体" panose="02010600030101010101" pitchFamily="2" charset="-122"/>
              </a:rPr>
            </a:br>
            <a:r>
              <a:rPr lang="en-US" altLang="zh-CN" dirty="0">
                <a:ea typeface="宋体" panose="02010600030101010101" pitchFamily="2" charset="-122"/>
              </a:rPr>
              <a:t>Steps</a:t>
            </a:r>
          </a:p>
        </p:txBody>
      </p:sp>
      <p:sp>
        <p:nvSpPr>
          <p:cNvPr id="39940" name="Rectangle 3">
            <a:extLst>
              <a:ext uri="{FF2B5EF4-FFF2-40B4-BE49-F238E27FC236}">
                <a16:creationId xmlns:a16="http://schemas.microsoft.com/office/drawing/2014/main" id="{7A2BCA3F-3D7E-44A4-B3A2-4AAE63423F81}"/>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dirty="0"/>
          </a:p>
          <a:p>
            <a:pPr marL="571500" indent="-571500" eaLnBrk="1" hangingPunct="1"/>
            <a:endParaRPr lang="en-GB" altLang="zh-CN" sz="3200" dirty="0"/>
          </a:p>
        </p:txBody>
      </p:sp>
      <p:sp>
        <p:nvSpPr>
          <p:cNvPr id="39941" name="Rectangle 4">
            <a:extLst>
              <a:ext uri="{FF2B5EF4-FFF2-40B4-BE49-F238E27FC236}">
                <a16:creationId xmlns:a16="http://schemas.microsoft.com/office/drawing/2014/main" id="{8EE4453E-D452-4D60-959F-6D806FDF44CF}"/>
              </a:ext>
            </a:extLst>
          </p:cNvPr>
          <p:cNvSpPr>
            <a:spLocks noChangeArrowheads="1"/>
          </p:cNvSpPr>
          <p:nvPr/>
        </p:nvSpPr>
        <p:spPr bwMode="auto">
          <a:xfrm>
            <a:off x="609600" y="1524000"/>
            <a:ext cx="82296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AutoNum type="arabicPeriod"/>
            </a:pPr>
            <a:r>
              <a:rPr lang="en-US" altLang="zh-CN" sz="2000" dirty="0">
                <a:ea typeface="宋体" panose="02010600030101010101" pitchFamily="2" charset="-122"/>
              </a:rPr>
              <a:t>Identify all the </a:t>
            </a:r>
            <a:r>
              <a:rPr lang="en-US" altLang="zh-CN" sz="2000" u="sng" dirty="0">
                <a:ea typeface="宋体" panose="02010600030101010101" pitchFamily="2" charset="-122"/>
              </a:rPr>
              <a:t>stakeholders and users </a:t>
            </a:r>
            <a:r>
              <a:rPr lang="en-US" altLang="zh-CN" sz="2000" dirty="0">
                <a:ea typeface="宋体" panose="02010600030101010101" pitchFamily="2" charset="-122"/>
              </a:rPr>
              <a:t>who would benefit by seeing a use case diagram</a:t>
            </a:r>
            <a:r>
              <a:rPr lang="zh-CN" altLang="en-US" sz="2000" dirty="0">
                <a:ea typeface="宋体" panose="02010600030101010101" pitchFamily="2" charset="-122"/>
              </a:rPr>
              <a:t>（确定相关人员）</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AutoNum type="arabicPeriod"/>
            </a:pPr>
            <a:r>
              <a:rPr lang="en-US" altLang="zh-CN" sz="2000" dirty="0">
                <a:ea typeface="宋体" panose="02010600030101010101" pitchFamily="2" charset="-122"/>
              </a:rPr>
              <a:t>Determine what </a:t>
            </a:r>
            <a:r>
              <a:rPr lang="en-US" altLang="zh-CN" sz="2000" u="sng" dirty="0">
                <a:ea typeface="宋体" panose="02010600030101010101" pitchFamily="2" charset="-122"/>
              </a:rPr>
              <a:t>each stakeholder or user needs to review </a:t>
            </a:r>
            <a:r>
              <a:rPr lang="en-US" altLang="zh-CN" sz="2000" dirty="0">
                <a:ea typeface="宋体" panose="02010600030101010101" pitchFamily="2" charset="-122"/>
              </a:rPr>
              <a:t>in a </a:t>
            </a:r>
            <a:r>
              <a:rPr lang="en-US" altLang="zh-CN" sz="2000" u="sng" dirty="0">
                <a:ea typeface="宋体" panose="02010600030101010101" pitchFamily="2" charset="-122"/>
              </a:rPr>
              <a:t>use case diagram</a:t>
            </a:r>
            <a:r>
              <a:rPr lang="en-US" altLang="zh-CN" sz="2000" dirty="0">
                <a:ea typeface="宋体" panose="02010600030101010101" pitchFamily="2" charset="-122"/>
              </a:rPr>
              <a:t>: each subsystem, for each type of user, for use cases that are of interest</a:t>
            </a:r>
            <a:r>
              <a:rPr lang="zh-CN" altLang="en-US" sz="2000" dirty="0">
                <a:ea typeface="宋体" panose="02010600030101010101" pitchFamily="2" charset="-122"/>
              </a:rPr>
              <a:t>（确定相关人员想在用例图中看到什么）</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AutoNum type="arabicPeriod"/>
            </a:pPr>
            <a:r>
              <a:rPr lang="en-US" altLang="zh-CN" sz="2000" dirty="0">
                <a:ea typeface="宋体" panose="02010600030101010101" pitchFamily="2" charset="-122"/>
              </a:rPr>
              <a:t>For each </a:t>
            </a:r>
            <a:r>
              <a:rPr lang="en-US" altLang="zh-CN" sz="2000" u="sng" dirty="0">
                <a:ea typeface="宋体" panose="02010600030101010101" pitchFamily="2" charset="-122"/>
              </a:rPr>
              <a:t>potential communication need</a:t>
            </a:r>
            <a:r>
              <a:rPr lang="en-US" altLang="zh-CN" sz="2000" dirty="0">
                <a:ea typeface="宋体" panose="02010600030101010101" pitchFamily="2" charset="-122"/>
              </a:rPr>
              <a:t>, select the use cases and actors to show and draw the </a:t>
            </a:r>
            <a:r>
              <a:rPr lang="en-US" altLang="zh-CN" sz="2000" u="sng" dirty="0">
                <a:ea typeface="宋体" panose="02010600030101010101" pitchFamily="2" charset="-122"/>
              </a:rPr>
              <a:t>use case diagram</a:t>
            </a:r>
            <a:r>
              <a:rPr lang="en-US" altLang="zh-CN" sz="2000" dirty="0">
                <a:ea typeface="宋体" panose="02010600030101010101" pitchFamily="2" charset="-122"/>
              </a:rPr>
              <a:t>. There are many software packages that can be used to draw use case diagrams</a:t>
            </a:r>
            <a:r>
              <a:rPr lang="zh-CN" altLang="en-US" sz="2000" u="sng" dirty="0">
                <a:ea typeface="宋体" panose="02010600030101010101" pitchFamily="2" charset="-122"/>
              </a:rPr>
              <a:t>（选择要显示的用例和参与者，并绘制用例图）</a:t>
            </a:r>
            <a:endParaRPr lang="en-US" altLang="zh-CN" sz="2000" u="sng"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AutoNum type="arabicPeriod"/>
            </a:pPr>
            <a:r>
              <a:rPr lang="en-US" altLang="zh-CN" sz="2000" dirty="0">
                <a:ea typeface="宋体" panose="02010600030101010101" pitchFamily="2" charset="-122"/>
              </a:rPr>
              <a:t>Carefully </a:t>
            </a:r>
            <a:r>
              <a:rPr lang="en-US" altLang="zh-CN" sz="2000" u="sng" dirty="0">
                <a:ea typeface="宋体" panose="02010600030101010101" pitchFamily="2" charset="-122"/>
              </a:rPr>
              <a:t>name each use case diagram</a:t>
            </a:r>
            <a:r>
              <a:rPr lang="zh-CN" altLang="en-US" sz="2000" u="sng" dirty="0">
                <a:ea typeface="宋体" panose="02010600030101010101" pitchFamily="2" charset="-122"/>
              </a:rPr>
              <a:t>（命名每个用例图）</a:t>
            </a:r>
            <a:r>
              <a:rPr lang="en-US" altLang="zh-CN" sz="2000" u="sng" dirty="0">
                <a:ea typeface="宋体" panose="02010600030101010101" pitchFamily="2" charset="-122"/>
              </a:rPr>
              <a:t> </a:t>
            </a:r>
            <a:r>
              <a:rPr lang="en-US" altLang="zh-CN" sz="2000" dirty="0">
                <a:ea typeface="宋体" panose="02010600030101010101" pitchFamily="2" charset="-122"/>
              </a:rPr>
              <a:t>and then note how and when the diagram should be used to review use cases with stakeholders and users</a:t>
            </a:r>
            <a:endParaRPr lang="en-GB" altLang="zh-CN" sz="2000" dirty="0"/>
          </a:p>
        </p:txBody>
      </p:sp>
      <p:sp>
        <p:nvSpPr>
          <p:cNvPr id="39942" name="Rectangle 6">
            <a:extLst>
              <a:ext uri="{FF2B5EF4-FFF2-40B4-BE49-F238E27FC236}">
                <a16:creationId xmlns:a16="http://schemas.microsoft.com/office/drawing/2014/main" id="{E302A331-28EB-4AFF-8907-351E6E0BA1C8}"/>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9943" name="Footer Placeholder 4">
            <a:extLst>
              <a:ext uri="{FF2B5EF4-FFF2-40B4-BE49-F238E27FC236}">
                <a16:creationId xmlns:a16="http://schemas.microsoft.com/office/drawing/2014/main" id="{03A7A806-58FD-4797-B1A6-2CCAC1532A73}"/>
              </a:ext>
            </a:extLst>
          </p:cNvPr>
          <p:cNvSpPr>
            <a:spLocks noGrp="1"/>
          </p:cNvSpPr>
          <p:nvPr/>
        </p:nvSpPr>
        <p:spPr bwMode="auto">
          <a:xfrm>
            <a:off x="1905000" y="6248400"/>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4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4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0F614713-AE2A-42C2-8BBD-9A97A2C2CA7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CDEF5FE-AD43-4D32-AB30-B202FD9E9B58}" type="slidenum">
              <a:rPr lang="en-US" altLang="en-US"/>
              <a:pPr eaLnBrk="1" hangingPunct="1"/>
              <a:t>57</a:t>
            </a:fld>
            <a:endParaRPr lang="en-US" altLang="en-US"/>
          </a:p>
        </p:txBody>
      </p:sp>
      <p:sp>
        <p:nvSpPr>
          <p:cNvPr id="40963" name="Rectangle 2">
            <a:extLst>
              <a:ext uri="{FF2B5EF4-FFF2-40B4-BE49-F238E27FC236}">
                <a16:creationId xmlns:a16="http://schemas.microsoft.com/office/drawing/2014/main" id="{1C7D388C-A90A-410B-9A58-44248FE90001}"/>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p>
        </p:txBody>
      </p:sp>
      <p:sp>
        <p:nvSpPr>
          <p:cNvPr id="40964" name="Rectangle 3">
            <a:extLst>
              <a:ext uri="{FF2B5EF4-FFF2-40B4-BE49-F238E27FC236}">
                <a16:creationId xmlns:a16="http://schemas.microsoft.com/office/drawing/2014/main" id="{765F3041-73F6-4ABC-AA11-E3A5C56CC691}"/>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0965" name="Rectangle 4">
            <a:extLst>
              <a:ext uri="{FF2B5EF4-FFF2-40B4-BE49-F238E27FC236}">
                <a16:creationId xmlns:a16="http://schemas.microsoft.com/office/drawing/2014/main" id="{CC46B7F2-2127-43EA-B2E8-3B246C6A8292}"/>
              </a:ext>
            </a:extLst>
          </p:cNvPr>
          <p:cNvSpPr>
            <a:spLocks noChangeArrowheads="1"/>
          </p:cNvSpPr>
          <p:nvPr/>
        </p:nvSpPr>
        <p:spPr bwMode="auto">
          <a:xfrm>
            <a:off x="609600" y="9906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2400" dirty="0"/>
              <a:t>This chapter is the first of three that focuses on </a:t>
            </a:r>
            <a:r>
              <a:rPr lang="en-GB" altLang="zh-CN" sz="2400" dirty="0" err="1"/>
              <a:t>modeling</a:t>
            </a:r>
            <a:r>
              <a:rPr lang="en-GB" altLang="zh-CN" sz="2400" dirty="0"/>
              <a:t> functional requirements as a part of systems analysis</a:t>
            </a:r>
            <a:r>
              <a:rPr lang="zh-CN" altLang="en-US" sz="2400" dirty="0"/>
              <a:t>（</a:t>
            </a:r>
            <a:r>
              <a:rPr lang="zh-CN" altLang="en-US" sz="2400" dirty="0">
                <a:solidFill>
                  <a:srgbClr val="2A2B2E"/>
                </a:solidFill>
                <a:latin typeface="PingFang SC"/>
              </a:rPr>
              <a:t>本章是将功能需求建模作为系统分析一部分的三章中的第一章</a:t>
            </a:r>
            <a:r>
              <a:rPr lang="zh-CN" altLang="en-US" sz="2400" dirty="0"/>
              <a:t>）</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dirty="0"/>
              <a:t>Use cases are the functions identified, the activities the system carries out usually in response to a user request</a:t>
            </a:r>
            <a:r>
              <a:rPr lang="zh-CN" altLang="en-US" sz="2400" dirty="0"/>
              <a:t>（</a:t>
            </a:r>
            <a:r>
              <a:rPr lang="zh-CN" altLang="en-US" sz="2400" dirty="0">
                <a:solidFill>
                  <a:srgbClr val="2A2B2E"/>
                </a:solidFill>
                <a:latin typeface="PingFang SC"/>
              </a:rPr>
              <a:t>用例是识别的功能，系统通常为响应用户请求而执行的活动</a:t>
            </a:r>
            <a:r>
              <a:rPr lang="zh-CN" altLang="en-US" sz="2400" dirty="0"/>
              <a:t>）</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dirty="0"/>
              <a:t>Two techniques for identifying use cases are the </a:t>
            </a:r>
            <a:r>
              <a:rPr lang="en-GB" altLang="zh-CN" sz="2400" u="sng" dirty="0"/>
              <a:t>user goal technique</a:t>
            </a:r>
            <a:r>
              <a:rPr lang="en-GB" altLang="zh-CN" sz="2400" dirty="0"/>
              <a:t> and the </a:t>
            </a:r>
            <a:r>
              <a:rPr lang="en-GB" altLang="zh-CN" sz="2400" u="sng" dirty="0"/>
              <a:t>event decomposition technique</a:t>
            </a:r>
            <a:r>
              <a:rPr lang="zh-CN" altLang="en-US" sz="2400" dirty="0">
                <a:solidFill>
                  <a:srgbClr val="2A2B2E"/>
                </a:solidFill>
                <a:latin typeface="PingFang SC"/>
              </a:rPr>
              <a:t>识别用例的两种技术是用户目标技术和事件分解技术</a:t>
            </a:r>
            <a:endParaRPr lang="en-GB" altLang="zh-CN" sz="2400" u="sng" dirty="0"/>
          </a:p>
        </p:txBody>
      </p:sp>
      <p:sp>
        <p:nvSpPr>
          <p:cNvPr id="40966" name="Rectangle 6">
            <a:extLst>
              <a:ext uri="{FF2B5EF4-FFF2-40B4-BE49-F238E27FC236}">
                <a16:creationId xmlns:a16="http://schemas.microsoft.com/office/drawing/2014/main" id="{65ACBE7A-8C4F-48AB-96CD-E7A09B33E45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0967" name="Footer Placeholder 4">
            <a:extLst>
              <a:ext uri="{FF2B5EF4-FFF2-40B4-BE49-F238E27FC236}">
                <a16:creationId xmlns:a16="http://schemas.microsoft.com/office/drawing/2014/main" id="{C2B9701D-0972-45DB-8ABA-BBD2202329CB}"/>
              </a:ext>
            </a:extLst>
          </p:cNvPr>
          <p:cNvSpPr>
            <a:spLocks noGrp="1"/>
          </p:cNvSpPr>
          <p:nvPr/>
        </p:nvSpPr>
        <p:spPr bwMode="auto">
          <a:xfrm>
            <a:off x="1981200" y="6248400"/>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0F614713-AE2A-42C2-8BBD-9A97A2C2CA7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CDEF5FE-AD43-4D32-AB30-B202FD9E9B58}" type="slidenum">
              <a:rPr lang="en-US" altLang="en-US"/>
              <a:pPr eaLnBrk="1" hangingPunct="1"/>
              <a:t>58</a:t>
            </a:fld>
            <a:endParaRPr lang="en-US" altLang="en-US"/>
          </a:p>
        </p:txBody>
      </p:sp>
      <p:sp>
        <p:nvSpPr>
          <p:cNvPr id="40963" name="Rectangle 2">
            <a:extLst>
              <a:ext uri="{FF2B5EF4-FFF2-40B4-BE49-F238E27FC236}">
                <a16:creationId xmlns:a16="http://schemas.microsoft.com/office/drawing/2014/main" id="{1C7D388C-A90A-410B-9A58-44248FE90001}"/>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p>
        </p:txBody>
      </p:sp>
      <p:sp>
        <p:nvSpPr>
          <p:cNvPr id="40964" name="Rectangle 3">
            <a:extLst>
              <a:ext uri="{FF2B5EF4-FFF2-40B4-BE49-F238E27FC236}">
                <a16:creationId xmlns:a16="http://schemas.microsoft.com/office/drawing/2014/main" id="{765F3041-73F6-4ABC-AA11-E3A5C56CC691}"/>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0965" name="Rectangle 4">
            <a:extLst>
              <a:ext uri="{FF2B5EF4-FFF2-40B4-BE49-F238E27FC236}">
                <a16:creationId xmlns:a16="http://schemas.microsoft.com/office/drawing/2014/main" id="{CC46B7F2-2127-43EA-B2E8-3B246C6A8292}"/>
              </a:ext>
            </a:extLst>
          </p:cNvPr>
          <p:cNvSpPr>
            <a:spLocks noChangeArrowheads="1"/>
          </p:cNvSpPr>
          <p:nvPr/>
        </p:nvSpPr>
        <p:spPr bwMode="auto">
          <a:xfrm>
            <a:off x="609600" y="9906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2400" dirty="0"/>
              <a:t>The user goal technique begins by identifying end users called actors and asking what specific goals they have when interacting with the system</a:t>
            </a:r>
            <a:r>
              <a:rPr lang="zh-CN" altLang="en-US" sz="2400" dirty="0"/>
              <a:t>（</a:t>
            </a:r>
            <a:r>
              <a:rPr lang="zh-CN" altLang="en-US" sz="2400" dirty="0">
                <a:solidFill>
                  <a:srgbClr val="2A2B2E"/>
                </a:solidFill>
                <a:latin typeface="PingFang SC"/>
              </a:rPr>
              <a:t>用户目标技术首先确定被称为参与者的最终用户，并询问他们在与系统交互时具有哪些特定的目标</a:t>
            </a:r>
            <a:r>
              <a:rPr lang="zh-CN" altLang="en-US" sz="2400" dirty="0"/>
              <a:t>）</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dirty="0"/>
              <a:t>The event decomposition technique begins by identifying events that occur that require the system to respond. </a:t>
            </a:r>
            <a:r>
              <a:rPr lang="zh-CN" altLang="en-US" sz="2400" dirty="0"/>
              <a:t>（</a:t>
            </a:r>
            <a:r>
              <a:rPr lang="zh-CN" altLang="en-US" sz="2400" dirty="0">
                <a:solidFill>
                  <a:srgbClr val="2A2B2E"/>
                </a:solidFill>
                <a:latin typeface="PingFang SC"/>
              </a:rPr>
              <a:t>事件分解技术首先识别需要系统响应的事件</a:t>
            </a:r>
            <a:r>
              <a:rPr lang="zh-CN" altLang="en-US" sz="2400" dirty="0"/>
              <a:t>）</a:t>
            </a:r>
            <a:endParaRPr lang="en-GB" altLang="zh-CN" sz="2400" dirty="0"/>
          </a:p>
        </p:txBody>
      </p:sp>
      <p:sp>
        <p:nvSpPr>
          <p:cNvPr id="40966" name="Rectangle 6">
            <a:extLst>
              <a:ext uri="{FF2B5EF4-FFF2-40B4-BE49-F238E27FC236}">
                <a16:creationId xmlns:a16="http://schemas.microsoft.com/office/drawing/2014/main" id="{65ACBE7A-8C4F-48AB-96CD-E7A09B33E45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0967" name="Footer Placeholder 4">
            <a:extLst>
              <a:ext uri="{FF2B5EF4-FFF2-40B4-BE49-F238E27FC236}">
                <a16:creationId xmlns:a16="http://schemas.microsoft.com/office/drawing/2014/main" id="{C2B9701D-0972-45DB-8ABA-BBD2202329CB}"/>
              </a:ext>
            </a:extLst>
          </p:cNvPr>
          <p:cNvSpPr>
            <a:spLocks noGrp="1"/>
          </p:cNvSpPr>
          <p:nvPr/>
        </p:nvSpPr>
        <p:spPr bwMode="auto">
          <a:xfrm>
            <a:off x="1981200" y="6248400"/>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t>Introduction to Systems Analysis and Design, 6th Edition</a:t>
            </a:r>
          </a:p>
        </p:txBody>
      </p:sp>
    </p:spTree>
    <p:extLst>
      <p:ext uri="{BB962C8B-B14F-4D97-AF65-F5344CB8AC3E}">
        <p14:creationId xmlns:p14="http://schemas.microsoft.com/office/powerpoint/2010/main" val="2805571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ECEB5947-D52C-4C71-A9F0-30B27E01A2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0601C7-BB72-43AD-A6C4-F17F0322C190}" type="slidenum">
              <a:rPr lang="en-US" altLang="en-US"/>
              <a:pPr eaLnBrk="1" hangingPunct="1"/>
              <a:t>59</a:t>
            </a:fld>
            <a:endParaRPr lang="en-US" altLang="en-US"/>
          </a:p>
        </p:txBody>
      </p:sp>
      <p:sp>
        <p:nvSpPr>
          <p:cNvPr id="41987" name="Rectangle 2">
            <a:extLst>
              <a:ext uri="{FF2B5EF4-FFF2-40B4-BE49-F238E27FC236}">
                <a16:creationId xmlns:a16="http://schemas.microsoft.com/office/drawing/2014/main" id="{F7E8866A-FF99-4FB9-9CD8-C59BB2874C14}"/>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p>
        </p:txBody>
      </p:sp>
      <p:sp>
        <p:nvSpPr>
          <p:cNvPr id="41988" name="Rectangle 3">
            <a:extLst>
              <a:ext uri="{FF2B5EF4-FFF2-40B4-BE49-F238E27FC236}">
                <a16:creationId xmlns:a16="http://schemas.microsoft.com/office/drawing/2014/main" id="{72A6C327-B914-4B58-9739-F3C80463295E}"/>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1989" name="Rectangle 4">
            <a:extLst>
              <a:ext uri="{FF2B5EF4-FFF2-40B4-BE49-F238E27FC236}">
                <a16:creationId xmlns:a16="http://schemas.microsoft.com/office/drawing/2014/main" id="{5461A261-2148-4DF5-9D25-343E51079980}"/>
              </a:ext>
            </a:extLst>
          </p:cNvPr>
          <p:cNvSpPr>
            <a:spLocks noChangeArrowheads="1"/>
          </p:cNvSpPr>
          <p:nvPr/>
        </p:nvSpPr>
        <p:spPr bwMode="auto">
          <a:xfrm>
            <a:off x="609600" y="11430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2400" u="sng" dirty="0"/>
              <a:t>Three types of events </a:t>
            </a:r>
            <a:r>
              <a:rPr lang="en-GB" altLang="zh-CN" sz="2400" dirty="0"/>
              <a:t>include external, temporal, and state events</a:t>
            </a:r>
            <a:r>
              <a:rPr lang="zh-CN" altLang="en-US" sz="2400" dirty="0"/>
              <a:t>（</a:t>
            </a:r>
            <a:r>
              <a:rPr lang="zh-CN" altLang="en-US" sz="2400" dirty="0">
                <a:solidFill>
                  <a:srgbClr val="2A2B2E"/>
                </a:solidFill>
                <a:latin typeface="PingFang SC"/>
              </a:rPr>
              <a:t>三种类型的事件包括外部事件、时间事件和状态事件</a:t>
            </a:r>
            <a:r>
              <a:rPr lang="zh-CN" altLang="en-US" sz="2400" dirty="0"/>
              <a:t>）</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dirty="0"/>
              <a:t>Brief use case descriptions are written for use cases</a:t>
            </a:r>
            <a:r>
              <a:rPr lang="zh-CN" altLang="en-US" sz="2400" dirty="0"/>
              <a:t>（</a:t>
            </a:r>
            <a:r>
              <a:rPr lang="zh-CN" altLang="en-US" sz="2400" dirty="0">
                <a:solidFill>
                  <a:srgbClr val="2A2B2E"/>
                </a:solidFill>
                <a:latin typeface="PingFang SC"/>
              </a:rPr>
              <a:t>简短的用例描述是为用例编写的</a:t>
            </a:r>
            <a:r>
              <a:rPr lang="zh-CN" altLang="en-US" sz="2400" dirty="0"/>
              <a:t>）</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dirty="0"/>
              <a:t>The </a:t>
            </a:r>
            <a:r>
              <a:rPr lang="en-GB" altLang="zh-CN" sz="2400" dirty="0">
                <a:solidFill>
                  <a:srgbClr val="C00000"/>
                </a:solidFill>
              </a:rPr>
              <a:t>CRUD technique </a:t>
            </a:r>
            <a:r>
              <a:rPr lang="en-GB" altLang="zh-CN" sz="2400" dirty="0"/>
              <a:t>is used to validate and refine the use cases identified </a:t>
            </a:r>
            <a:r>
              <a:rPr lang="zh-CN" altLang="en-US" sz="2400" dirty="0"/>
              <a:t>（</a:t>
            </a:r>
            <a:r>
              <a:rPr lang="en-US" altLang="zh-CN" sz="2400" dirty="0">
                <a:solidFill>
                  <a:srgbClr val="2A2B2E"/>
                </a:solidFill>
                <a:latin typeface="PingFang SC"/>
              </a:rPr>
              <a:t>CRUD</a:t>
            </a:r>
            <a:r>
              <a:rPr lang="zh-CN" altLang="en-US" sz="2400" dirty="0">
                <a:solidFill>
                  <a:srgbClr val="2A2B2E"/>
                </a:solidFill>
                <a:latin typeface="PingFang SC"/>
              </a:rPr>
              <a:t>技术用于验证和细化已识别的用例</a:t>
            </a:r>
            <a:r>
              <a:rPr lang="zh-CN" altLang="en-US" sz="2400" dirty="0"/>
              <a:t>）</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dirty="0"/>
              <a:t>The </a:t>
            </a:r>
            <a:r>
              <a:rPr lang="en-GB" altLang="zh-CN" sz="2400" dirty="0">
                <a:solidFill>
                  <a:srgbClr val="C00000"/>
                </a:solidFill>
              </a:rPr>
              <a:t>use case diagram </a:t>
            </a:r>
            <a:r>
              <a:rPr lang="en-GB" altLang="zh-CN" sz="2400" dirty="0"/>
              <a:t>is the UML diagram used to show the use cases and the actors</a:t>
            </a:r>
            <a:r>
              <a:rPr lang="zh-CN" altLang="en-US" sz="2400" dirty="0"/>
              <a:t>（</a:t>
            </a:r>
            <a:r>
              <a:rPr lang="zh-CN" altLang="en-US" sz="2400" dirty="0">
                <a:solidFill>
                  <a:srgbClr val="2A2B2E"/>
                </a:solidFill>
                <a:latin typeface="PingFang SC"/>
              </a:rPr>
              <a:t>用例图是用来显示用例和参与者的</a:t>
            </a:r>
            <a:r>
              <a:rPr lang="en-US" altLang="zh-CN" sz="2400" dirty="0">
                <a:solidFill>
                  <a:srgbClr val="2A2B2E"/>
                </a:solidFill>
                <a:latin typeface="PingFang SC"/>
              </a:rPr>
              <a:t>UML</a:t>
            </a:r>
            <a:r>
              <a:rPr lang="zh-CN" altLang="en-US" sz="2400" dirty="0">
                <a:solidFill>
                  <a:srgbClr val="2A2B2E"/>
                </a:solidFill>
                <a:latin typeface="PingFang SC"/>
              </a:rPr>
              <a:t>图</a:t>
            </a:r>
            <a:r>
              <a:rPr lang="zh-CN" altLang="en-US" sz="2400" dirty="0"/>
              <a:t>）</a:t>
            </a:r>
            <a:endParaRPr lang="en-GB" altLang="zh-CN" sz="2400" dirty="0"/>
          </a:p>
        </p:txBody>
      </p:sp>
      <p:sp>
        <p:nvSpPr>
          <p:cNvPr id="41990" name="Rectangle 6">
            <a:extLst>
              <a:ext uri="{FF2B5EF4-FFF2-40B4-BE49-F238E27FC236}">
                <a16:creationId xmlns:a16="http://schemas.microsoft.com/office/drawing/2014/main" id="{7BBCD70B-6D1C-4665-94A1-624F1751417F}"/>
              </a:ext>
            </a:extLst>
          </p:cNvPr>
          <p:cNvSpPr>
            <a:spLocks noChangeArrowheads="1"/>
          </p:cNvSpPr>
          <p:nvPr/>
        </p:nvSpPr>
        <p:spPr bwMode="auto">
          <a:xfrm>
            <a:off x="6858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1991" name="Footer Placeholder 4">
            <a:extLst>
              <a:ext uri="{FF2B5EF4-FFF2-40B4-BE49-F238E27FC236}">
                <a16:creationId xmlns:a16="http://schemas.microsoft.com/office/drawing/2014/main" id="{1198ABB7-2D8D-4E6F-AC48-89ABE1E068BA}"/>
              </a:ext>
            </a:extLst>
          </p:cNvPr>
          <p:cNvSpPr>
            <a:spLocks noGrp="1"/>
          </p:cNvSpPr>
          <p:nvPr/>
        </p:nvSpPr>
        <p:spPr bwMode="auto">
          <a:xfrm>
            <a:off x="1828800" y="6172200"/>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8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ECEB5947-D52C-4C71-A9F0-30B27E01A2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0601C7-BB72-43AD-A6C4-F17F0322C190}" type="slidenum">
              <a:rPr lang="en-US" altLang="en-US"/>
              <a:pPr eaLnBrk="1" hangingPunct="1"/>
              <a:t>60</a:t>
            </a:fld>
            <a:endParaRPr lang="en-US" altLang="en-US"/>
          </a:p>
        </p:txBody>
      </p:sp>
      <p:sp>
        <p:nvSpPr>
          <p:cNvPr id="41987" name="Rectangle 2">
            <a:extLst>
              <a:ext uri="{FF2B5EF4-FFF2-40B4-BE49-F238E27FC236}">
                <a16:creationId xmlns:a16="http://schemas.microsoft.com/office/drawing/2014/main" id="{F7E8866A-FF99-4FB9-9CD8-C59BB2874C14}"/>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p>
        </p:txBody>
      </p:sp>
      <p:sp>
        <p:nvSpPr>
          <p:cNvPr id="41988" name="Rectangle 3">
            <a:extLst>
              <a:ext uri="{FF2B5EF4-FFF2-40B4-BE49-F238E27FC236}">
                <a16:creationId xmlns:a16="http://schemas.microsoft.com/office/drawing/2014/main" id="{72A6C327-B914-4B58-9739-F3C80463295E}"/>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1989" name="Rectangle 4">
            <a:extLst>
              <a:ext uri="{FF2B5EF4-FFF2-40B4-BE49-F238E27FC236}">
                <a16:creationId xmlns:a16="http://schemas.microsoft.com/office/drawing/2014/main" id="{5461A261-2148-4DF5-9D25-343E51079980}"/>
              </a:ext>
            </a:extLst>
          </p:cNvPr>
          <p:cNvSpPr>
            <a:spLocks noChangeArrowheads="1"/>
          </p:cNvSpPr>
          <p:nvPr/>
        </p:nvSpPr>
        <p:spPr bwMode="auto">
          <a:xfrm>
            <a:off x="609600" y="11430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2400" dirty="0"/>
              <a:t>The use case diagram shows the actors, the automation boundary, the uses cases that involve each actor, and </a:t>
            </a:r>
            <a:r>
              <a:rPr lang="en-GB" altLang="zh-CN" sz="2400" dirty="0">
                <a:solidFill>
                  <a:srgbClr val="C00000"/>
                </a:solidFill>
              </a:rPr>
              <a:t>the &lt;&lt;includes&gt;&gt; &lt;&lt;extend&gt;&gt;</a:t>
            </a:r>
            <a:r>
              <a:rPr lang="en-GB" altLang="zh-CN" sz="2400" dirty="0"/>
              <a:t>relationship. </a:t>
            </a:r>
            <a:r>
              <a:rPr lang="zh-CN" altLang="en-US" sz="2400" dirty="0"/>
              <a:t>（</a:t>
            </a:r>
            <a:r>
              <a:rPr lang="zh-CN" altLang="en-US" sz="2400" dirty="0">
                <a:solidFill>
                  <a:srgbClr val="2A2B2E"/>
                </a:solidFill>
                <a:latin typeface="PingFang SC"/>
              </a:rPr>
              <a:t>用例图显示了参与者、自动化边界、涉及每个参与者的用例，以及</a:t>
            </a:r>
            <a:r>
              <a:rPr lang="en-US" altLang="zh-CN" sz="2400" dirty="0">
                <a:solidFill>
                  <a:srgbClr val="2A2B2E"/>
                </a:solidFill>
                <a:latin typeface="PingFang SC"/>
              </a:rPr>
              <a:t>&lt;&lt;</a:t>
            </a:r>
            <a:r>
              <a:rPr lang="zh-CN" altLang="en-US" sz="2400" dirty="0">
                <a:solidFill>
                  <a:srgbClr val="2A2B2E"/>
                </a:solidFill>
                <a:latin typeface="PingFang SC"/>
              </a:rPr>
              <a:t>包括</a:t>
            </a:r>
            <a:r>
              <a:rPr lang="en-US" altLang="zh-CN" sz="2400" dirty="0">
                <a:solidFill>
                  <a:srgbClr val="2A2B2E"/>
                </a:solidFill>
                <a:latin typeface="PingFang SC"/>
              </a:rPr>
              <a:t>&gt;&gt; &lt;&lt;</a:t>
            </a:r>
            <a:r>
              <a:rPr lang="zh-CN" altLang="en-US" sz="2400" dirty="0">
                <a:solidFill>
                  <a:srgbClr val="2A2B2E"/>
                </a:solidFill>
                <a:latin typeface="PingFang SC"/>
              </a:rPr>
              <a:t>扩展</a:t>
            </a:r>
            <a:r>
              <a:rPr lang="en-US" altLang="zh-CN" sz="2400" dirty="0">
                <a:solidFill>
                  <a:srgbClr val="2A2B2E"/>
                </a:solidFill>
                <a:latin typeface="PingFang SC"/>
              </a:rPr>
              <a:t>&gt;&gt;</a:t>
            </a:r>
            <a:r>
              <a:rPr lang="zh-CN" altLang="en-US" sz="2400" dirty="0">
                <a:solidFill>
                  <a:srgbClr val="2A2B2E"/>
                </a:solidFill>
                <a:latin typeface="PingFang SC"/>
              </a:rPr>
              <a:t>关系。</a:t>
            </a:r>
            <a:r>
              <a:rPr lang="zh-CN" altLang="en-US" sz="2400" dirty="0"/>
              <a:t>）</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400" dirty="0"/>
              <a:t>A variety of use case diagrams are draw depending on the presentation needs of the analysis</a:t>
            </a:r>
            <a:r>
              <a:rPr lang="zh-CN" altLang="en-US" sz="2400"/>
              <a:t>（</a:t>
            </a:r>
            <a:r>
              <a:rPr lang="zh-CN" altLang="en-US" sz="2400">
                <a:solidFill>
                  <a:srgbClr val="2A2B2E"/>
                </a:solidFill>
                <a:latin typeface="PingFang SC"/>
              </a:rPr>
              <a:t>根据分析的表示需要绘制各种用例图</a:t>
            </a:r>
            <a:r>
              <a:rPr lang="zh-CN" altLang="en-US" sz="2400"/>
              <a:t>）</a:t>
            </a:r>
            <a:endParaRPr lang="en-GB" altLang="zh-CN" sz="2400" dirty="0"/>
          </a:p>
        </p:txBody>
      </p:sp>
      <p:sp>
        <p:nvSpPr>
          <p:cNvPr id="41990" name="Rectangle 6">
            <a:extLst>
              <a:ext uri="{FF2B5EF4-FFF2-40B4-BE49-F238E27FC236}">
                <a16:creationId xmlns:a16="http://schemas.microsoft.com/office/drawing/2014/main" id="{7BBCD70B-6D1C-4665-94A1-624F1751417F}"/>
              </a:ext>
            </a:extLst>
          </p:cNvPr>
          <p:cNvSpPr>
            <a:spLocks noChangeArrowheads="1"/>
          </p:cNvSpPr>
          <p:nvPr/>
        </p:nvSpPr>
        <p:spPr bwMode="auto">
          <a:xfrm>
            <a:off x="6858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1991" name="Footer Placeholder 4">
            <a:extLst>
              <a:ext uri="{FF2B5EF4-FFF2-40B4-BE49-F238E27FC236}">
                <a16:creationId xmlns:a16="http://schemas.microsoft.com/office/drawing/2014/main" id="{1198ABB7-2D8D-4E6F-AC48-89ABE1E068BA}"/>
              </a:ext>
            </a:extLst>
          </p:cNvPr>
          <p:cNvSpPr>
            <a:spLocks noGrp="1"/>
          </p:cNvSpPr>
          <p:nvPr/>
        </p:nvSpPr>
        <p:spPr bwMode="auto">
          <a:xfrm>
            <a:off x="1828800" y="6172200"/>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t>Introduction to Systems Analysis and Design, 6th Edition</a:t>
            </a:r>
          </a:p>
        </p:txBody>
      </p:sp>
    </p:spTree>
    <p:extLst>
      <p:ext uri="{BB962C8B-B14F-4D97-AF65-F5344CB8AC3E}">
        <p14:creationId xmlns:p14="http://schemas.microsoft.com/office/powerpoint/2010/main" val="371198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Capsules</Template>
  <TotalTime>4238</TotalTime>
  <Words>9532</Words>
  <Application>Microsoft Office PowerPoint</Application>
  <PresentationFormat>全屏显示(4:3)</PresentationFormat>
  <Paragraphs>784</Paragraphs>
  <Slides>60</Slides>
  <Notes>55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60</vt:i4>
      </vt:variant>
    </vt:vector>
  </HeadingPairs>
  <TitlesOfParts>
    <vt:vector size="67" baseType="lpstr">
      <vt:lpstr>PingFang SC</vt:lpstr>
      <vt:lpstr>微软雅黑</vt:lpstr>
      <vt:lpstr>Arial</vt:lpstr>
      <vt:lpstr>Arial Black</vt:lpstr>
      <vt:lpstr>Times New Roman</vt:lpstr>
      <vt:lpstr>Wingdings</vt:lpstr>
      <vt:lpstr>Network</vt:lpstr>
      <vt:lpstr>PowerPoint 演示文稿</vt:lpstr>
      <vt:lpstr>Use Cases</vt:lpstr>
      <vt:lpstr>Chapter 3 Outline</vt:lpstr>
      <vt:lpstr>Learning Objectives</vt:lpstr>
      <vt:lpstr>Learning Objectives</vt:lpstr>
      <vt:lpstr>开篇案例：Waiters on Call</vt:lpstr>
      <vt:lpstr>开篇案例：Waiters on Call</vt:lpstr>
      <vt:lpstr>Overview</vt:lpstr>
      <vt:lpstr>Overview</vt:lpstr>
      <vt:lpstr>Chapter 3 Outline</vt:lpstr>
      <vt:lpstr>Use Cases</vt:lpstr>
      <vt:lpstr>Use Cases</vt:lpstr>
      <vt:lpstr>1) User Goal Technique（用户目标技术）</vt:lpstr>
      <vt:lpstr>1) User Goal Technique: Specific Steps</vt:lpstr>
      <vt:lpstr>1) User Goal Technique Specific Steps </vt:lpstr>
      <vt:lpstr>1) User Goal Technique Specific Steps</vt:lpstr>
      <vt:lpstr>1) User Goal Technique Some RMO CSMS Users and Goals</vt:lpstr>
      <vt:lpstr>Chapter 3 Outline</vt:lpstr>
      <vt:lpstr>2) Event Decomposition Technique（事件分解技术）</vt:lpstr>
      <vt:lpstr>2) Event Decomposition Technique</vt:lpstr>
      <vt:lpstr>Types of Events</vt:lpstr>
      <vt:lpstr>Events and Use Cases</vt:lpstr>
      <vt:lpstr>External Event Checklist （外部事件清单）</vt:lpstr>
      <vt:lpstr>Temporal Event Checklist （时间事件清单）</vt:lpstr>
      <vt:lpstr>Finding the actual event that affects the system（查找影响系统的实际事件）</vt:lpstr>
      <vt:lpstr>Tracing a sequence of transactions resulting in many events（跟踪导致许多事件的交易序列）</vt:lpstr>
      <vt:lpstr>Perfect Technology Assumption（理想技术假设）</vt:lpstr>
      <vt:lpstr>Event Decomposition Technique: Specific Steps</vt:lpstr>
      <vt:lpstr>Event Decomposition Technique: Specific Steps (continued)</vt:lpstr>
      <vt:lpstr>Event Decomposition Technique: Benefits</vt:lpstr>
      <vt:lpstr>PowerPoint 演示文稿</vt:lpstr>
      <vt:lpstr>PowerPoint 演示文稿</vt:lpstr>
      <vt:lpstr>Chapter 3 Outline</vt:lpstr>
      <vt:lpstr>Use Cases and CRUD Technique</vt:lpstr>
      <vt:lpstr>Use Cases and CRUD Technique</vt:lpstr>
      <vt:lpstr>CRUD Technique Steps</vt:lpstr>
      <vt:lpstr>CRUD Technique Steps</vt:lpstr>
      <vt:lpstr>CRUD Technique Use Case vs. Domain Class Table</vt:lpstr>
      <vt:lpstr>Use Cases and Brief Use Case Descriptions</vt:lpstr>
      <vt:lpstr>Chapter 3 Outline</vt:lpstr>
      <vt:lpstr>RMO CSMS Project Use Cases</vt:lpstr>
      <vt:lpstr>RMO CSMS Project Use Cases</vt:lpstr>
      <vt:lpstr>RMO CSMS Project Use Cases</vt:lpstr>
      <vt:lpstr>RMO CSMS Project Use Cases</vt:lpstr>
      <vt:lpstr>Chapter 3 Outline</vt:lpstr>
      <vt:lpstr>Use Case Diagrams</vt:lpstr>
      <vt:lpstr>Use Case Diagrams Symbols</vt:lpstr>
      <vt:lpstr>Use Case Diagrams  Draw for each subsystem</vt:lpstr>
      <vt:lpstr>Use Case Diagrams  Draw for actor, such as customer</vt:lpstr>
      <vt:lpstr>Use Case Diagrams Draw for internal RMO actors</vt:lpstr>
      <vt:lpstr>Use Case Diagrams The &lt;&lt;Includes&gt;&gt; relationship</vt:lpstr>
      <vt:lpstr>Use Case Diagrams The &lt;&lt;Extend&gt;&gt; relationship</vt:lpstr>
      <vt:lpstr>Use Case Diagrams The &lt;&lt;Extend&gt;&gt; relationship</vt:lpstr>
      <vt:lpstr>An Use Case Diagram Example</vt:lpstr>
      <vt:lpstr>PowerPoint 演示文稿</vt:lpstr>
      <vt:lpstr>Use Case Diagrams: Steps</vt:lpstr>
      <vt:lpstr>Summary</vt:lpstr>
      <vt:lpstr>Summary</vt:lpstr>
      <vt:lpstr>Summary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鸽 王</cp:lastModifiedBy>
  <cp:revision>188</cp:revision>
  <cp:lastPrinted>1601-01-01T00:00:00Z</cp:lastPrinted>
  <dcterms:created xsi:type="dcterms:W3CDTF">2011-10-31T16:54:53Z</dcterms:created>
  <dcterms:modified xsi:type="dcterms:W3CDTF">2026-03-10T02:44:55Z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