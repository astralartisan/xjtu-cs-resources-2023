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82"/>
  </p:notesMasterIdLst>
  <p:sldIdLst>
    <p:sldId id="348" r:id="rId2"/>
    <p:sldId id="812" r:id="rId3"/>
    <p:sldId id="268" r:id="rId4"/>
    <p:sldId id="413" r:id="rId5"/>
    <p:sldId id="422" r:id="rId6"/>
    <p:sldId id="816" r:id="rId7"/>
    <p:sldId id="813" r:id="rId8"/>
    <p:sldId id="814" r:id="rId9"/>
    <p:sldId id="872" r:id="rId10"/>
    <p:sldId id="424" r:id="rId11"/>
    <p:sldId id="425" r:id="rId12"/>
    <p:sldId id="426" r:id="rId13"/>
    <p:sldId id="427" r:id="rId14"/>
    <p:sldId id="428" r:id="rId15"/>
    <p:sldId id="429" r:id="rId16"/>
    <p:sldId id="430" r:id="rId17"/>
    <p:sldId id="873" r:id="rId18"/>
    <p:sldId id="431" r:id="rId19"/>
    <p:sldId id="432" r:id="rId20"/>
    <p:sldId id="433" r:id="rId21"/>
    <p:sldId id="434" r:id="rId22"/>
    <p:sldId id="435" r:id="rId23"/>
    <p:sldId id="436" r:id="rId24"/>
    <p:sldId id="437" r:id="rId25"/>
    <p:sldId id="438" r:id="rId26"/>
    <p:sldId id="439" r:id="rId27"/>
    <p:sldId id="440" r:id="rId28"/>
    <p:sldId id="865" r:id="rId29"/>
    <p:sldId id="867" r:id="rId30"/>
    <p:sldId id="868" r:id="rId31"/>
    <p:sldId id="869" r:id="rId32"/>
    <p:sldId id="870" r:id="rId33"/>
    <p:sldId id="871" r:id="rId34"/>
    <p:sldId id="874" r:id="rId35"/>
    <p:sldId id="875" r:id="rId36"/>
    <p:sldId id="876" r:id="rId37"/>
    <p:sldId id="877" r:id="rId38"/>
    <p:sldId id="878" r:id="rId39"/>
    <p:sldId id="441" r:id="rId40"/>
    <p:sldId id="442" r:id="rId41"/>
    <p:sldId id="443" r:id="rId42"/>
    <p:sldId id="817" r:id="rId43"/>
    <p:sldId id="818" r:id="rId44"/>
    <p:sldId id="819" r:id="rId45"/>
    <p:sldId id="820" r:id="rId46"/>
    <p:sldId id="821" r:id="rId47"/>
    <p:sldId id="822" r:id="rId48"/>
    <p:sldId id="823" r:id="rId49"/>
    <p:sldId id="824" r:id="rId50"/>
    <p:sldId id="825" r:id="rId51"/>
    <p:sldId id="826" r:id="rId52"/>
    <p:sldId id="831" r:id="rId53"/>
    <p:sldId id="832" r:id="rId54"/>
    <p:sldId id="833" r:id="rId55"/>
    <p:sldId id="834" r:id="rId56"/>
    <p:sldId id="840" r:id="rId57"/>
    <p:sldId id="841" r:id="rId58"/>
    <p:sldId id="842" r:id="rId59"/>
    <p:sldId id="835" r:id="rId60"/>
    <p:sldId id="836" r:id="rId61"/>
    <p:sldId id="837" r:id="rId62"/>
    <p:sldId id="843" r:id="rId63"/>
    <p:sldId id="844" r:id="rId64"/>
    <p:sldId id="845" r:id="rId65"/>
    <p:sldId id="846" r:id="rId66"/>
    <p:sldId id="370" r:id="rId67"/>
    <p:sldId id="847" r:id="rId68"/>
    <p:sldId id="848" r:id="rId69"/>
    <p:sldId id="849" r:id="rId70"/>
    <p:sldId id="850" r:id="rId71"/>
    <p:sldId id="851" r:id="rId72"/>
    <p:sldId id="852" r:id="rId73"/>
    <p:sldId id="853" r:id="rId74"/>
    <p:sldId id="855" r:id="rId75"/>
    <p:sldId id="854" r:id="rId76"/>
    <p:sldId id="856" r:id="rId77"/>
    <p:sldId id="859" r:id="rId78"/>
    <p:sldId id="860" r:id="rId79"/>
    <p:sldId id="861" r:id="rId80"/>
    <p:sldId id="862" r:id="rId8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C8F"/>
    <a:srgbClr val="006600"/>
    <a:srgbClr val="00FF00"/>
    <a:srgbClr val="FFFFCC"/>
    <a:srgbClr val="000099"/>
    <a:srgbClr val="000066"/>
    <a:srgbClr val="003399"/>
    <a:srgbClr val="0033CC"/>
    <a:srgbClr val="0000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74" autoAdjust="0"/>
    <p:restoredTop sz="79579" autoAdjust="0"/>
  </p:normalViewPr>
  <p:slideViewPr>
    <p:cSldViewPr>
      <p:cViewPr>
        <p:scale>
          <a:sx n="100" d="100"/>
          <a:sy n="100" d="100"/>
        </p:scale>
        <p:origin x="3432" y="7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DB528D30-63A7-4CDF-ACF0-A9A913F6772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zh-CN" altLang="zh-CN"/>
          </a:p>
        </p:txBody>
      </p:sp>
      <p:sp>
        <p:nvSpPr>
          <p:cNvPr id="75779" name="Rectangle 3">
            <a:extLst>
              <a:ext uri="{FF2B5EF4-FFF2-40B4-BE49-F238E27FC236}">
                <a16:creationId xmlns:a16="http://schemas.microsoft.com/office/drawing/2014/main" id="{431FE779-60E5-4641-BC9A-6AE6D978BCE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zh-CN" altLang="zh-CN"/>
          </a:p>
        </p:txBody>
      </p:sp>
      <p:sp>
        <p:nvSpPr>
          <p:cNvPr id="79876" name="Rectangle 4">
            <a:extLst>
              <a:ext uri="{FF2B5EF4-FFF2-40B4-BE49-F238E27FC236}">
                <a16:creationId xmlns:a16="http://schemas.microsoft.com/office/drawing/2014/main" id="{95B86B85-6719-4F0B-BFED-5915BF1975E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ECD5F87A-1628-4874-B896-9D05FEAE5805}"/>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5250DB47-34EB-4494-8A53-CB6B76E7D62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zh-CN" altLang="zh-CN"/>
          </a:p>
        </p:txBody>
      </p:sp>
      <p:sp>
        <p:nvSpPr>
          <p:cNvPr id="75783" name="Rectangle 7">
            <a:extLst>
              <a:ext uri="{FF2B5EF4-FFF2-40B4-BE49-F238E27FC236}">
                <a16:creationId xmlns:a16="http://schemas.microsoft.com/office/drawing/2014/main" id="{6237B6B4-3771-488D-80E6-EC60AE55F07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376F14C-6CAB-43EF-ADD5-A906F6EBFA6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56321">
            <a:extLst>
              <a:ext uri="{FF2B5EF4-FFF2-40B4-BE49-F238E27FC236}">
                <a16:creationId xmlns:a16="http://schemas.microsoft.com/office/drawing/2014/main" id="{9252EB49-A125-491E-ABD9-EEA62D5E77F1}"/>
              </a:ext>
            </a:extLst>
          </p:cNvPr>
          <p:cNvSpPr>
            <a:spLocks noChangeArrowheads="1" noTextEdit="1"/>
          </p:cNvSpPr>
          <p:nvPr>
            <p:ph type="sldImg" idx="4294967295"/>
          </p:nvPr>
        </p:nvSpPr>
        <p:spPr bwMode="auto">
          <a:ln>
            <a:solidFill>
              <a:srgbClr val="000000"/>
            </a:solidFill>
            <a:miter lim="800000"/>
            <a:headEnd/>
            <a:tailEnd/>
          </a:ln>
        </p:spPr>
      </p:sp>
      <p:sp>
        <p:nvSpPr>
          <p:cNvPr id="11266" name="文本占位符 56322">
            <a:extLst>
              <a:ext uri="{FF2B5EF4-FFF2-40B4-BE49-F238E27FC236}">
                <a16:creationId xmlns:a16="http://schemas.microsoft.com/office/drawing/2014/main" id="{54799B07-7038-4F4B-8F28-B362DF154521}"/>
              </a:ext>
            </a:extLst>
          </p:cNvPr>
          <p:cNvSpPr>
            <a:spLocks noChangeArrowheads="1"/>
          </p:cNvSpPr>
          <p:nvPr>
            <p:ph type="body" idx="429496729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55297">
            <a:extLst>
              <a:ext uri="{FF2B5EF4-FFF2-40B4-BE49-F238E27FC236}">
                <a16:creationId xmlns:a16="http://schemas.microsoft.com/office/drawing/2014/main" id="{042E6155-B0D5-4FF2-A050-DF80FE7F0164}"/>
              </a:ext>
            </a:extLst>
          </p:cNvPr>
          <p:cNvSpPr>
            <a:spLocks noChangeArrowheads="1" noTextEdit="1"/>
          </p:cNvSpPr>
          <p:nvPr>
            <p:ph type="sldImg" idx="4294967295"/>
          </p:nvPr>
        </p:nvSpPr>
        <p:spPr bwMode="auto">
          <a:ln>
            <a:solidFill>
              <a:srgbClr val="000000"/>
            </a:solidFill>
            <a:miter lim="800000"/>
            <a:headEnd/>
            <a:tailEnd/>
          </a:ln>
        </p:spPr>
      </p:sp>
      <p:sp>
        <p:nvSpPr>
          <p:cNvPr id="13314" name="文本占位符 55298">
            <a:extLst>
              <a:ext uri="{FF2B5EF4-FFF2-40B4-BE49-F238E27FC236}">
                <a16:creationId xmlns:a16="http://schemas.microsoft.com/office/drawing/2014/main" id="{B07C001B-43BF-49DE-8645-82530C18FC85}"/>
              </a:ext>
            </a:extLst>
          </p:cNvPr>
          <p:cNvSpPr>
            <a:spLocks noChangeArrowheads="1"/>
          </p:cNvSpPr>
          <p:nvPr>
            <p:ph type="body" idx="429496729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本页有触发器。</a:t>
            </a:r>
          </a:p>
          <a:p>
            <a:r>
              <a:rPr lang="zh-CN" altLang="en-US"/>
              <a:t>分别单击“程序”、“数据”和“文档”处会触发动画。</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54273">
            <a:extLst>
              <a:ext uri="{FF2B5EF4-FFF2-40B4-BE49-F238E27FC236}">
                <a16:creationId xmlns:a16="http://schemas.microsoft.com/office/drawing/2014/main" id="{665188F7-36F2-4992-904B-B77AE33CB59A}"/>
              </a:ext>
            </a:extLst>
          </p:cNvPr>
          <p:cNvSpPr>
            <a:spLocks noChangeArrowheads="1" noTextEdit="1"/>
          </p:cNvSpPr>
          <p:nvPr>
            <p:ph type="sldImg" idx="4294967295"/>
          </p:nvPr>
        </p:nvSpPr>
        <p:spPr bwMode="auto">
          <a:ln>
            <a:solidFill>
              <a:srgbClr val="000000"/>
            </a:solidFill>
            <a:miter lim="800000"/>
            <a:headEnd/>
            <a:tailEnd/>
          </a:ln>
        </p:spPr>
      </p:sp>
      <p:sp>
        <p:nvSpPr>
          <p:cNvPr id="15362" name="文本占位符 54274">
            <a:extLst>
              <a:ext uri="{FF2B5EF4-FFF2-40B4-BE49-F238E27FC236}">
                <a16:creationId xmlns:a16="http://schemas.microsoft.com/office/drawing/2014/main" id="{B9B50C23-2783-44E7-BCF8-12EDB9C82C4D}"/>
              </a:ext>
            </a:extLst>
          </p:cNvPr>
          <p:cNvSpPr>
            <a:spLocks noChangeArrowheads="1"/>
          </p:cNvSpPr>
          <p:nvPr>
            <p:ph type="body" idx="429496729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53249">
            <a:extLst>
              <a:ext uri="{FF2B5EF4-FFF2-40B4-BE49-F238E27FC236}">
                <a16:creationId xmlns:a16="http://schemas.microsoft.com/office/drawing/2014/main" id="{6C35F0B4-E810-48B5-87C3-2EE484D5C2E6}"/>
              </a:ext>
            </a:extLst>
          </p:cNvPr>
          <p:cNvSpPr>
            <a:spLocks noChangeArrowheads="1" noTextEdit="1"/>
          </p:cNvSpPr>
          <p:nvPr>
            <p:ph type="sldImg" idx="4294967295"/>
          </p:nvPr>
        </p:nvSpPr>
        <p:spPr bwMode="auto">
          <a:ln>
            <a:solidFill>
              <a:srgbClr val="000000"/>
            </a:solidFill>
            <a:miter lim="800000"/>
            <a:headEnd/>
            <a:tailEnd/>
          </a:ln>
        </p:spPr>
      </p:sp>
      <p:sp>
        <p:nvSpPr>
          <p:cNvPr id="17410" name="文本占位符 53250">
            <a:extLst>
              <a:ext uri="{FF2B5EF4-FFF2-40B4-BE49-F238E27FC236}">
                <a16:creationId xmlns:a16="http://schemas.microsoft.com/office/drawing/2014/main" id="{143C3072-AFE7-402B-8D65-1EA9781D0A0B}"/>
              </a:ext>
            </a:extLst>
          </p:cNvPr>
          <p:cNvSpPr>
            <a:spLocks noChangeArrowheads="1"/>
          </p:cNvSpPr>
          <p:nvPr>
            <p:ph type="body" idx="429496729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单击“程序设计”会触发动画，第一次单击出现动画，第二次单击则消失动画。 </a:t>
            </a:r>
          </a:p>
          <a:p>
            <a:r>
              <a:rPr lang="zh-CN" altLang="en-US"/>
              <a:t>单击“程序系统”会触发动画，第一次单击出现动画，第二次单击则消失动画。</a:t>
            </a:r>
          </a:p>
          <a:p>
            <a:r>
              <a:rPr lang="zh-CN" altLang="en-US"/>
              <a:t>单击“软件工程”会触发动画。</a:t>
            </a: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42</a:t>
            </a:fld>
            <a:endParaRPr lang="en-US" altLang="zh-CN"/>
          </a:p>
        </p:txBody>
      </p:sp>
    </p:spTree>
    <p:extLst>
      <p:ext uri="{BB962C8B-B14F-4D97-AF65-F5344CB8AC3E}">
        <p14:creationId xmlns:p14="http://schemas.microsoft.com/office/powerpoint/2010/main" val="180141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44</a:t>
            </a:fld>
            <a:endParaRPr lang="en-US" altLang="zh-CN"/>
          </a:p>
        </p:txBody>
      </p:sp>
    </p:spTree>
    <p:extLst>
      <p:ext uri="{BB962C8B-B14F-4D97-AF65-F5344CB8AC3E}">
        <p14:creationId xmlns:p14="http://schemas.microsoft.com/office/powerpoint/2010/main" val="3328028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问题</a:t>
            </a:r>
            <a:r>
              <a:rPr lang="en-US" altLang="zh-CN" b="0" i="0" dirty="0">
                <a:solidFill>
                  <a:srgbClr val="2A2B2E"/>
                </a:solidFill>
                <a:effectLst/>
                <a:latin typeface="PingFang SC"/>
              </a:rPr>
              <a:t>——</a:t>
            </a:r>
            <a:r>
              <a:rPr lang="zh-CN" altLang="en-US" b="0" i="0" dirty="0">
                <a:solidFill>
                  <a:srgbClr val="2A2B2E"/>
                </a:solidFill>
                <a:effectLst/>
                <a:latin typeface="PingFang SC"/>
              </a:rPr>
              <a:t>采购代理参加世界各地的服装和面料贸易展，从供应商那里订购新产品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需求</a:t>
            </a:r>
            <a:r>
              <a:rPr lang="en-US" altLang="zh-CN" b="0" i="0" dirty="0">
                <a:solidFill>
                  <a:srgbClr val="2A2B2E"/>
                </a:solidFill>
                <a:effectLst/>
                <a:latin typeface="PingFang SC"/>
              </a:rPr>
              <a:t>——</a:t>
            </a:r>
            <a:r>
              <a:rPr lang="zh-CN" altLang="en-US" b="0" i="0" dirty="0">
                <a:solidFill>
                  <a:srgbClr val="2A2B2E"/>
                </a:solidFill>
                <a:effectLst/>
                <a:latin typeface="PingFang SC"/>
              </a:rPr>
              <a:t>在贸易展览过程中，信息系统</a:t>
            </a:r>
            <a:r>
              <a:rPr lang="en-US" altLang="zh-CN" b="0" i="0" dirty="0">
                <a:solidFill>
                  <a:srgbClr val="2A2B2E"/>
                </a:solidFill>
                <a:effectLst/>
                <a:latin typeface="PingFang SC"/>
              </a:rPr>
              <a:t>(</a:t>
            </a:r>
            <a:r>
              <a:rPr lang="zh-CN" altLang="en-US" b="0" i="0" dirty="0">
                <a:solidFill>
                  <a:srgbClr val="2A2B2E"/>
                </a:solidFill>
                <a:effectLst/>
                <a:latin typeface="PingFang SC"/>
              </a:rPr>
              <a:t>应用程序</a:t>
            </a:r>
            <a:r>
              <a:rPr lang="en-US" altLang="zh-CN" b="0" i="0" dirty="0">
                <a:solidFill>
                  <a:srgbClr val="2A2B2E"/>
                </a:solidFill>
                <a:effectLst/>
                <a:latin typeface="PingFang SC"/>
              </a:rPr>
              <a:t>)</a:t>
            </a:r>
            <a:r>
              <a:rPr lang="zh-CN" altLang="en-US" b="0" i="0" dirty="0">
                <a:solidFill>
                  <a:srgbClr val="2A2B2E"/>
                </a:solidFill>
                <a:effectLst/>
                <a:latin typeface="PingFang SC"/>
              </a:rPr>
              <a:t>收集和跟踪有关供应商和新产品的信息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贸易展项目</a:t>
            </a:r>
            <a:r>
              <a:rPr lang="en-US" altLang="zh-CN" b="0" i="0" dirty="0">
                <a:solidFill>
                  <a:srgbClr val="2A2B2E"/>
                </a:solidFill>
                <a:effectLst/>
                <a:latin typeface="PingFang SC"/>
              </a:rPr>
              <a:t>-</a:t>
            </a:r>
            <a:r>
              <a:rPr lang="zh-CN" altLang="en-US" b="0" i="0" dirty="0">
                <a:solidFill>
                  <a:srgbClr val="2A2B2E"/>
                </a:solidFill>
                <a:effectLst/>
                <a:latin typeface="PingFang SC"/>
              </a:rPr>
              <a:t>被提议</a:t>
            </a:r>
            <a:br>
              <a:rPr lang="zh-CN" altLang="en-US" dirty="0"/>
            </a:br>
            <a:r>
              <a:rPr lang="zh-CN" altLang="en-US" b="0" i="0" dirty="0">
                <a:solidFill>
                  <a:srgbClr val="2A2B2E"/>
                </a:solidFill>
                <a:effectLst/>
                <a:latin typeface="PingFang SC"/>
              </a:rPr>
              <a:t>  供应商信息子系统</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产品信息子系统</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45</a:t>
            </a:fld>
            <a:endParaRPr lang="en-US" altLang="zh-CN"/>
          </a:p>
        </p:txBody>
      </p:sp>
    </p:spTree>
    <p:extLst>
      <p:ext uri="{BB962C8B-B14F-4D97-AF65-F5344CB8AC3E}">
        <p14:creationId xmlns:p14="http://schemas.microsoft.com/office/powerpoint/2010/main" val="2763909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项目前期工作：</a:t>
            </a:r>
            <a:endParaRPr lang="en-US" altLang="zh-CN" dirty="0"/>
          </a:p>
          <a:p>
            <a:r>
              <a:rPr lang="en-US" altLang="zh-CN" dirty="0"/>
              <a:t> </a:t>
            </a:r>
          </a:p>
          <a:p>
            <a:pPr algn="l"/>
            <a:r>
              <a:rPr lang="zh-CN" altLang="en-US" b="0" i="0" dirty="0">
                <a:solidFill>
                  <a:srgbClr val="2A2B2E"/>
                </a:solidFill>
                <a:effectLst/>
                <a:latin typeface="PingFang SC"/>
              </a:rPr>
              <a:t>识别问题并记录系统的目标</a:t>
            </a:r>
            <a:r>
              <a:rPr lang="en-US" altLang="zh-CN" b="0" i="0" dirty="0">
                <a:solidFill>
                  <a:srgbClr val="2A2B2E"/>
                </a:solidFill>
                <a:effectLst/>
                <a:latin typeface="PingFang SC"/>
              </a:rPr>
              <a:t>(</a:t>
            </a:r>
            <a:r>
              <a:rPr lang="zh-CN" altLang="en-US" b="0" i="0" dirty="0">
                <a:solidFill>
                  <a:srgbClr val="2A2B2E"/>
                </a:solidFill>
                <a:effectLst/>
                <a:latin typeface="PingFang SC"/>
              </a:rPr>
              <a:t>核心过程</a:t>
            </a:r>
            <a:r>
              <a:rPr lang="en-US" altLang="zh-CN" b="0" i="0" dirty="0">
                <a:solidFill>
                  <a:srgbClr val="2A2B2E"/>
                </a:solidFill>
                <a:effectLst/>
                <a:latin typeface="PingFang SC"/>
              </a:rPr>
              <a:t>1)</a:t>
            </a:r>
            <a:br>
              <a:rPr lang="zh-CN" altLang="en-US" dirty="0"/>
            </a:br>
            <a:r>
              <a:rPr lang="zh-CN" altLang="en-US" dirty="0"/>
              <a:t>  </a:t>
            </a:r>
            <a:r>
              <a:rPr lang="zh-CN" altLang="en-US" b="0" i="0" dirty="0">
                <a:solidFill>
                  <a:srgbClr val="2A2B2E"/>
                </a:solidFill>
                <a:effectLst/>
                <a:latin typeface="PingFang SC"/>
              </a:rPr>
              <a:t>初步调查</a:t>
            </a:r>
            <a:br>
              <a:rPr lang="zh-CN" altLang="en-US" dirty="0"/>
            </a:br>
            <a:r>
              <a:rPr lang="zh-CN" altLang="en-US" dirty="0"/>
              <a:t>  </a:t>
            </a:r>
            <a:r>
              <a:rPr lang="zh-CN" altLang="en-US" b="0" i="0" dirty="0">
                <a:solidFill>
                  <a:srgbClr val="2A2B2E"/>
                </a:solidFill>
                <a:effectLst/>
                <a:latin typeface="PingFang SC"/>
              </a:rPr>
              <a:t>系统愿景文档</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获得项目启动批准</a:t>
            </a:r>
            <a:r>
              <a:rPr lang="en-US" altLang="zh-CN" b="0" i="0" dirty="0">
                <a:solidFill>
                  <a:srgbClr val="2A2B2E"/>
                </a:solidFill>
                <a:effectLst/>
                <a:latin typeface="PingFang SC"/>
              </a:rPr>
              <a:t>(</a:t>
            </a:r>
            <a:r>
              <a:rPr lang="zh-CN" altLang="en-US" b="0" i="0" dirty="0">
                <a:solidFill>
                  <a:srgbClr val="2A2B2E"/>
                </a:solidFill>
                <a:effectLst/>
                <a:latin typeface="PingFang SC"/>
              </a:rPr>
              <a:t>核心过程</a:t>
            </a:r>
            <a:r>
              <a:rPr lang="en-US" altLang="zh-CN" b="0" i="0" dirty="0">
                <a:solidFill>
                  <a:srgbClr val="2A2B2E"/>
                </a:solidFill>
                <a:effectLst/>
                <a:latin typeface="PingFang SC"/>
              </a:rPr>
              <a:t>1) </a:t>
            </a: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与主要利益相关者会面，包括执行管理层</a:t>
            </a:r>
            <a:br>
              <a:rPr lang="zh-CN" altLang="en-US" dirty="0"/>
            </a:br>
            <a:r>
              <a:rPr lang="zh-CN" altLang="en-US" dirty="0"/>
              <a:t>  </a:t>
            </a:r>
            <a:r>
              <a:rPr lang="zh-CN" altLang="en-US" b="0" i="0" dirty="0">
                <a:solidFill>
                  <a:srgbClr val="2A2B2E"/>
                </a:solidFill>
                <a:effectLst/>
                <a:latin typeface="PingFang SC"/>
              </a:rPr>
              <a:t>作出决定，批准计划和预算</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46</a:t>
            </a:fld>
            <a:endParaRPr lang="en-US" altLang="zh-CN"/>
          </a:p>
        </p:txBody>
      </p:sp>
    </p:spTree>
    <p:extLst>
      <p:ext uri="{BB962C8B-B14F-4D97-AF65-F5344CB8AC3E}">
        <p14:creationId xmlns:p14="http://schemas.microsoft.com/office/powerpoint/2010/main" val="1877048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问题描述（为什么要做）</a:t>
            </a:r>
            <a:endParaRPr lang="en-US" altLang="zh-CN" dirty="0"/>
          </a:p>
          <a:p>
            <a:endParaRPr lang="en-US" altLang="zh-CN" dirty="0"/>
          </a:p>
          <a:p>
            <a:r>
              <a:rPr lang="zh-CN" altLang="en-US" dirty="0"/>
              <a:t>系统功能（做什么）</a:t>
            </a:r>
            <a:endParaRPr lang="en-US" altLang="zh-CN" dirty="0"/>
          </a:p>
          <a:p>
            <a:endParaRPr lang="en-US" altLang="zh-CN" dirty="0"/>
          </a:p>
          <a:p>
            <a:r>
              <a:rPr lang="zh-CN" altLang="en-US" dirty="0"/>
              <a:t>业务收益（能带来什么收益）</a:t>
            </a:r>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47</a:t>
            </a:fld>
            <a:endParaRPr lang="en-US" altLang="zh-CN"/>
          </a:p>
        </p:txBody>
      </p:sp>
    </p:spTree>
    <p:extLst>
      <p:ext uri="{BB962C8B-B14F-4D97-AF65-F5344CB8AC3E}">
        <p14:creationId xmlns:p14="http://schemas.microsoft.com/office/powerpoint/2010/main" val="3204928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为什么要做？区域代理商能够更快速地与供应商和感兴趣的产品进行沟通</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48</a:t>
            </a:fld>
            <a:endParaRPr lang="en-US" altLang="zh-CN"/>
          </a:p>
        </p:txBody>
      </p:sp>
    </p:spTree>
    <p:extLst>
      <p:ext uri="{BB962C8B-B14F-4D97-AF65-F5344CB8AC3E}">
        <p14:creationId xmlns:p14="http://schemas.microsoft.com/office/powerpoint/2010/main" val="2951356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做什么？收集和记录信息（供应商关键信息，产品信息），通过网络来沟通</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49</a:t>
            </a:fld>
            <a:endParaRPr lang="en-US" altLang="zh-CN"/>
          </a:p>
        </p:txBody>
      </p:sp>
    </p:spTree>
    <p:extLst>
      <p:ext uri="{BB962C8B-B14F-4D97-AF65-F5344CB8AC3E}">
        <p14:creationId xmlns:p14="http://schemas.microsoft.com/office/powerpoint/2010/main" val="3690783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能带来什么收益？维护客户关系，更好地管理订单</a:t>
            </a:r>
          </a:p>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50</a:t>
            </a:fld>
            <a:endParaRPr lang="en-US" altLang="zh-CN"/>
          </a:p>
        </p:txBody>
      </p:sp>
    </p:spTree>
    <p:extLst>
      <p:ext uri="{BB962C8B-B14F-4D97-AF65-F5344CB8AC3E}">
        <p14:creationId xmlns:p14="http://schemas.microsoft.com/office/powerpoint/2010/main" val="4268603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核心过程</a:t>
            </a:r>
            <a:r>
              <a:rPr lang="en-US" altLang="zh-CN" b="0" i="0" dirty="0">
                <a:solidFill>
                  <a:srgbClr val="2A2B2E"/>
                </a:solidFill>
                <a:effectLst/>
                <a:latin typeface="PingFang SC"/>
              </a:rPr>
              <a:t>3:</a:t>
            </a:r>
            <a:r>
              <a:rPr lang="zh-CN" altLang="en-US" b="0" i="0" dirty="0">
                <a:solidFill>
                  <a:srgbClr val="2A2B2E"/>
                </a:solidFill>
                <a:effectLst/>
                <a:latin typeface="PingFang SC"/>
              </a:rPr>
              <a:t>发现和理解细节</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进行初步的事实调查以了解需求</a:t>
            </a:r>
          </a:p>
          <a:p>
            <a:pPr algn="l"/>
            <a:r>
              <a:rPr lang="zh-CN" altLang="en-US" b="0" i="0" dirty="0">
                <a:solidFill>
                  <a:srgbClr val="2A2B2E"/>
                </a:solidFill>
                <a:effectLst/>
                <a:latin typeface="PingFang SC"/>
              </a:rPr>
              <a:t>  开发用例的初步列表和用例图</a:t>
            </a:r>
          </a:p>
          <a:p>
            <a:r>
              <a:rPr lang="zh-CN" altLang="en-US" b="0" i="0" dirty="0">
                <a:solidFill>
                  <a:srgbClr val="2A2B2E"/>
                </a:solidFill>
                <a:effectLst/>
                <a:latin typeface="PingFang SC"/>
              </a:rPr>
              <a:t>  开发一个类的初步列表和类图</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52</a:t>
            </a:fld>
            <a:endParaRPr lang="en-US" altLang="zh-CN"/>
          </a:p>
        </p:txBody>
      </p:sp>
    </p:spTree>
    <p:extLst>
      <p:ext uri="{BB962C8B-B14F-4D97-AF65-F5344CB8AC3E}">
        <p14:creationId xmlns:p14="http://schemas.microsoft.com/office/powerpoint/2010/main" val="2041360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其中，进行初步的事实调查以了解需求，包括</a:t>
            </a:r>
            <a:br>
              <a:rPr lang="zh-CN" altLang="en-US" dirty="0"/>
            </a:br>
            <a:endParaRPr lang="zh-CN" altLang="en-US"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53</a:t>
            </a:fld>
            <a:endParaRPr lang="en-US" altLang="zh-CN"/>
          </a:p>
        </p:txBody>
      </p:sp>
    </p:spTree>
    <p:extLst>
      <p:ext uri="{BB962C8B-B14F-4D97-AF65-F5344CB8AC3E}">
        <p14:creationId xmlns:p14="http://schemas.microsoft.com/office/powerpoint/2010/main" val="1265895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开发用例的初步列表和用例图</a:t>
            </a:r>
          </a:p>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54</a:t>
            </a:fld>
            <a:endParaRPr lang="en-US" altLang="zh-CN"/>
          </a:p>
        </p:txBody>
      </p:sp>
    </p:spTree>
    <p:extLst>
      <p:ext uri="{BB962C8B-B14F-4D97-AF65-F5344CB8AC3E}">
        <p14:creationId xmlns:p14="http://schemas.microsoft.com/office/powerpoint/2010/main" val="662760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供应商信息子系统细节</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用例</a:t>
            </a:r>
            <a:r>
              <a:rPr lang="en-US" altLang="zh-CN" b="0" i="0" dirty="0">
                <a:solidFill>
                  <a:srgbClr val="2A2B2E"/>
                </a:solidFill>
                <a:effectLst/>
                <a:latin typeface="PingFang SC"/>
              </a:rPr>
              <a:t>:</a:t>
            </a:r>
            <a:br>
              <a:rPr lang="zh-CN" altLang="en-US" dirty="0"/>
            </a:br>
            <a:r>
              <a:rPr lang="zh-CN" altLang="en-US" b="0" i="0" dirty="0">
                <a:solidFill>
                  <a:srgbClr val="2A2B2E"/>
                </a:solidFill>
                <a:effectLst/>
                <a:latin typeface="PingFang SC"/>
              </a:rPr>
              <a:t>  查找供应商</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输入</a:t>
            </a:r>
            <a:r>
              <a:rPr lang="en-US" altLang="zh-CN" b="0" i="0" dirty="0">
                <a:solidFill>
                  <a:srgbClr val="2A2B2E"/>
                </a:solidFill>
                <a:effectLst/>
                <a:latin typeface="PingFang SC"/>
              </a:rPr>
              <a:t>/</a:t>
            </a:r>
            <a:r>
              <a:rPr lang="zh-CN" altLang="en-US" b="0" i="0" dirty="0">
                <a:solidFill>
                  <a:srgbClr val="2A2B2E"/>
                </a:solidFill>
                <a:effectLst/>
                <a:latin typeface="PingFang SC"/>
              </a:rPr>
              <a:t>更新供应商信息</a:t>
            </a:r>
            <a:br>
              <a:rPr lang="zh-CN" altLang="en-US" dirty="0"/>
            </a:br>
            <a:r>
              <a:rPr lang="zh-CN" altLang="en-US" dirty="0"/>
              <a:t>  </a:t>
            </a:r>
            <a:r>
              <a:rPr lang="zh-CN" altLang="en-US" b="0" i="0" dirty="0">
                <a:solidFill>
                  <a:srgbClr val="2A2B2E"/>
                </a:solidFill>
                <a:effectLst/>
                <a:latin typeface="PingFang SC"/>
              </a:rPr>
              <a:t>查找联系信息</a:t>
            </a:r>
            <a:br>
              <a:rPr lang="zh-CN" altLang="en-US" dirty="0"/>
            </a:br>
            <a:r>
              <a:rPr lang="zh-CN" altLang="en-US" dirty="0"/>
              <a:t>  </a:t>
            </a:r>
            <a:r>
              <a:rPr lang="zh-CN" altLang="en-US" b="0" i="0" dirty="0">
                <a:solidFill>
                  <a:srgbClr val="2A2B2E"/>
                </a:solidFill>
                <a:effectLst/>
                <a:latin typeface="PingFang SC"/>
              </a:rPr>
              <a:t>输入</a:t>
            </a:r>
            <a:r>
              <a:rPr lang="en-US" altLang="zh-CN" b="0" i="0" dirty="0">
                <a:solidFill>
                  <a:srgbClr val="2A2B2E"/>
                </a:solidFill>
                <a:effectLst/>
                <a:latin typeface="PingFang SC"/>
              </a:rPr>
              <a:t>/</a:t>
            </a:r>
            <a:r>
              <a:rPr lang="zh-CN" altLang="en-US" b="0" i="0" dirty="0">
                <a:solidFill>
                  <a:srgbClr val="2A2B2E"/>
                </a:solidFill>
                <a:effectLst/>
                <a:latin typeface="PingFang SC"/>
              </a:rPr>
              <a:t>更新合同信息</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56</a:t>
            </a:fld>
            <a:endParaRPr lang="en-US" altLang="zh-CN"/>
          </a:p>
        </p:txBody>
      </p:sp>
    </p:spTree>
    <p:extLst>
      <p:ext uri="{BB962C8B-B14F-4D97-AF65-F5344CB8AC3E}">
        <p14:creationId xmlns:p14="http://schemas.microsoft.com/office/powerpoint/2010/main" val="1560766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购买代理人    管理者</a:t>
            </a:r>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57</a:t>
            </a:fld>
            <a:endParaRPr lang="en-US" altLang="zh-CN"/>
          </a:p>
        </p:txBody>
      </p:sp>
    </p:spTree>
    <p:extLst>
      <p:ext uri="{BB962C8B-B14F-4D97-AF65-F5344CB8AC3E}">
        <p14:creationId xmlns:p14="http://schemas.microsoft.com/office/powerpoint/2010/main" val="515002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58</a:t>
            </a:fld>
            <a:endParaRPr lang="en-US" altLang="zh-CN"/>
          </a:p>
        </p:txBody>
      </p:sp>
    </p:spTree>
    <p:extLst>
      <p:ext uri="{BB962C8B-B14F-4D97-AF65-F5344CB8AC3E}">
        <p14:creationId xmlns:p14="http://schemas.microsoft.com/office/powerpoint/2010/main" val="927490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 开发一个类的初步列表和类图</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59</a:t>
            </a:fld>
            <a:endParaRPr lang="en-US" altLang="zh-CN"/>
          </a:p>
        </p:txBody>
      </p:sp>
    </p:spTree>
    <p:extLst>
      <p:ext uri="{BB962C8B-B14F-4D97-AF65-F5344CB8AC3E}">
        <p14:creationId xmlns:p14="http://schemas.microsoft.com/office/powerpoint/2010/main" val="3915102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60</a:t>
            </a:fld>
            <a:endParaRPr lang="en-US" altLang="zh-CN"/>
          </a:p>
        </p:txBody>
      </p:sp>
    </p:spTree>
    <p:extLst>
      <p:ext uri="{BB962C8B-B14F-4D97-AF65-F5344CB8AC3E}">
        <p14:creationId xmlns:p14="http://schemas.microsoft.com/office/powerpoint/2010/main" val="2254510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核心流程</a:t>
            </a:r>
            <a:r>
              <a:rPr lang="en-US" altLang="zh-CN" b="0" i="0" dirty="0">
                <a:solidFill>
                  <a:srgbClr val="2A2B2E"/>
                </a:solidFill>
                <a:effectLst/>
                <a:latin typeface="PingFang SC"/>
              </a:rPr>
              <a:t>4:</a:t>
            </a:r>
            <a:r>
              <a:rPr lang="zh-CN" altLang="en-US" b="0" i="0" dirty="0">
                <a:solidFill>
                  <a:srgbClr val="2A2B2E"/>
                </a:solidFill>
                <a:effectLst/>
                <a:latin typeface="PingFang SC"/>
              </a:rPr>
              <a:t>设计系统组件</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62</a:t>
            </a:fld>
            <a:endParaRPr lang="en-US" altLang="zh-CN"/>
          </a:p>
        </p:txBody>
      </p:sp>
    </p:spTree>
    <p:extLst>
      <p:ext uri="{BB962C8B-B14F-4D97-AF65-F5344CB8AC3E}">
        <p14:creationId xmlns:p14="http://schemas.microsoft.com/office/powerpoint/2010/main" val="2734875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屏幕布局草稿</a:t>
            </a:r>
            <a:endParaRPr lang="en-US" altLang="zh-CN" dirty="0"/>
          </a:p>
          <a:p>
            <a:endParaRPr lang="en-US" altLang="zh-CN" dirty="0"/>
          </a:p>
          <a:p>
            <a:r>
              <a:rPr lang="zh-CN" altLang="en-US" dirty="0"/>
              <a:t>   查找供应商</a:t>
            </a:r>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63</a:t>
            </a:fld>
            <a:endParaRPr lang="en-US" altLang="zh-CN"/>
          </a:p>
        </p:txBody>
      </p:sp>
    </p:spTree>
    <p:extLst>
      <p:ext uri="{BB962C8B-B14F-4D97-AF65-F5344CB8AC3E}">
        <p14:creationId xmlns:p14="http://schemas.microsoft.com/office/powerpoint/2010/main" val="198654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核心流程</a:t>
            </a:r>
            <a:r>
              <a:rPr lang="en-US" altLang="zh-CN" b="0" i="0" dirty="0">
                <a:solidFill>
                  <a:srgbClr val="2A2B2E"/>
                </a:solidFill>
                <a:effectLst/>
                <a:latin typeface="PingFang SC"/>
              </a:rPr>
              <a:t>4:</a:t>
            </a:r>
            <a:r>
              <a:rPr lang="zh-CN" altLang="en-US" b="0" i="0" dirty="0">
                <a:solidFill>
                  <a:srgbClr val="2A2B2E"/>
                </a:solidFill>
                <a:effectLst/>
                <a:latin typeface="PingFang SC"/>
              </a:rPr>
              <a:t>设计系统组件</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设计数据库</a:t>
            </a:r>
            <a:r>
              <a:rPr lang="en-US" altLang="zh-CN" b="0" i="0" dirty="0">
                <a:solidFill>
                  <a:srgbClr val="2A2B2E"/>
                </a:solidFill>
                <a:effectLst/>
                <a:latin typeface="PingFang SC"/>
              </a:rPr>
              <a:t>(</a:t>
            </a:r>
            <a:r>
              <a:rPr lang="zh-CN" altLang="en-US" b="0" i="0" dirty="0">
                <a:solidFill>
                  <a:srgbClr val="2A2B2E"/>
                </a:solidFill>
                <a:effectLst/>
                <a:latin typeface="PingFang SC"/>
              </a:rPr>
              <a:t>模式</a:t>
            </a:r>
            <a:r>
              <a:rPr lang="en-US" altLang="zh-CN" b="0" i="0" dirty="0">
                <a:solidFill>
                  <a:srgbClr val="2A2B2E"/>
                </a:solidFill>
                <a:effectLst/>
                <a:latin typeface="PingFang SC"/>
              </a:rPr>
              <a:t>)</a:t>
            </a: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表设计</a:t>
            </a:r>
            <a:br>
              <a:rPr lang="zh-CN" altLang="en-US" dirty="0"/>
            </a:br>
            <a:r>
              <a:rPr lang="zh-CN" altLang="en-US" dirty="0"/>
              <a:t>    </a:t>
            </a:r>
            <a:r>
              <a:rPr lang="zh-CN" altLang="en-US" b="0" i="0" dirty="0">
                <a:solidFill>
                  <a:srgbClr val="2A2B2E"/>
                </a:solidFill>
                <a:effectLst/>
                <a:latin typeface="PingFang SC"/>
              </a:rPr>
              <a:t>键和索引标识</a:t>
            </a:r>
            <a:br>
              <a:rPr lang="zh-CN" altLang="en-US" dirty="0"/>
            </a:br>
            <a:r>
              <a:rPr lang="zh-CN" altLang="en-US" dirty="0"/>
              <a:t>    </a:t>
            </a:r>
            <a:r>
              <a:rPr lang="zh-CN" altLang="en-US" b="0" i="0" dirty="0">
                <a:solidFill>
                  <a:srgbClr val="2A2B2E"/>
                </a:solidFill>
                <a:effectLst/>
                <a:latin typeface="PingFang SC"/>
              </a:rPr>
              <a:t>属性类型</a:t>
            </a:r>
            <a:br>
              <a:rPr lang="zh-CN" altLang="en-US" dirty="0"/>
            </a:br>
            <a:r>
              <a:rPr lang="zh-CN" altLang="en-US" dirty="0"/>
              <a:t>    </a:t>
            </a:r>
            <a:r>
              <a:rPr lang="zh-CN" altLang="en-US" b="0" i="0" dirty="0">
                <a:solidFill>
                  <a:srgbClr val="2A2B2E"/>
                </a:solidFill>
                <a:effectLst/>
                <a:latin typeface="PingFang SC"/>
              </a:rPr>
              <a:t>参照完整性</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设计系统的高层结构</a:t>
            </a:r>
            <a:br>
              <a:rPr lang="zh-CN" altLang="en-US" dirty="0"/>
            </a:br>
            <a:r>
              <a:rPr lang="zh-CN" altLang="en-US" b="0" i="0" dirty="0">
                <a:solidFill>
                  <a:srgbClr val="2A2B2E"/>
                </a:solidFill>
                <a:effectLst/>
                <a:latin typeface="PingFang SC"/>
              </a:rPr>
              <a:t>   浏览器、</a:t>
            </a:r>
            <a:r>
              <a:rPr lang="en-US" altLang="zh-CN" b="0" i="0" dirty="0">
                <a:solidFill>
                  <a:srgbClr val="2A2B2E"/>
                </a:solidFill>
                <a:effectLst/>
                <a:latin typeface="PingFang SC"/>
              </a:rPr>
              <a:t>Windows</a:t>
            </a:r>
            <a:r>
              <a:rPr lang="zh-CN" altLang="en-US" b="0" i="0" dirty="0">
                <a:solidFill>
                  <a:srgbClr val="2A2B2E"/>
                </a:solidFill>
                <a:effectLst/>
                <a:latin typeface="PingFang SC"/>
              </a:rPr>
              <a:t>或智能手机</a:t>
            </a:r>
            <a:br>
              <a:rPr lang="zh-CN" altLang="en-US" dirty="0"/>
            </a:br>
            <a:r>
              <a:rPr lang="zh-CN" altLang="en-US" dirty="0"/>
              <a:t>   </a:t>
            </a:r>
            <a:r>
              <a:rPr lang="zh-CN" altLang="en-US" b="0" i="0" dirty="0">
                <a:solidFill>
                  <a:srgbClr val="2A2B2E"/>
                </a:solidFill>
                <a:effectLst/>
                <a:latin typeface="PingFang SC"/>
              </a:rPr>
              <a:t>体系结构配置</a:t>
            </a:r>
            <a:r>
              <a:rPr lang="en-US" altLang="zh-CN" b="0" i="0" dirty="0">
                <a:solidFill>
                  <a:srgbClr val="2A2B2E"/>
                </a:solidFill>
                <a:effectLst/>
                <a:latin typeface="PingFang SC"/>
              </a:rPr>
              <a:t>(</a:t>
            </a:r>
            <a:r>
              <a:rPr lang="zh-CN" altLang="en-US" b="0" i="0" dirty="0">
                <a:solidFill>
                  <a:srgbClr val="2A2B2E"/>
                </a:solidFill>
                <a:effectLst/>
                <a:latin typeface="PingFang SC"/>
              </a:rPr>
              <a:t>组件</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设计类图</a:t>
            </a:r>
            <a:br>
              <a:rPr lang="zh-CN" altLang="en-US" dirty="0"/>
            </a:br>
            <a:r>
              <a:rPr lang="zh-CN" altLang="en-US" dirty="0"/>
              <a:t>   </a:t>
            </a:r>
            <a:r>
              <a:rPr lang="zh-CN" altLang="en-US" b="0" i="0" dirty="0">
                <a:solidFill>
                  <a:srgbClr val="2A2B2E"/>
                </a:solidFill>
                <a:effectLst/>
                <a:latin typeface="PingFang SC"/>
              </a:rPr>
              <a:t>子系统体系结构设计</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64</a:t>
            </a:fld>
            <a:endParaRPr lang="en-US" altLang="zh-CN"/>
          </a:p>
        </p:txBody>
      </p:sp>
    </p:spTree>
    <p:extLst>
      <p:ext uri="{BB962C8B-B14F-4D97-AF65-F5344CB8AC3E}">
        <p14:creationId xmlns:p14="http://schemas.microsoft.com/office/powerpoint/2010/main" val="1892213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65</a:t>
            </a:fld>
            <a:endParaRPr lang="en-US" altLang="zh-CN"/>
          </a:p>
        </p:txBody>
      </p:sp>
    </p:spTree>
    <p:extLst>
      <p:ext uri="{BB962C8B-B14F-4D97-AF65-F5344CB8AC3E}">
        <p14:creationId xmlns:p14="http://schemas.microsoft.com/office/powerpoint/2010/main" val="2443842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核心流程</a:t>
            </a:r>
            <a:r>
              <a:rPr lang="en-US" altLang="zh-CN" b="0" i="0" dirty="0">
                <a:solidFill>
                  <a:srgbClr val="2A2B2E"/>
                </a:solidFill>
                <a:effectLst/>
                <a:latin typeface="PingFang SC"/>
              </a:rPr>
              <a:t>4:</a:t>
            </a:r>
            <a:r>
              <a:rPr lang="zh-CN" altLang="en-US" b="0" i="0" dirty="0">
                <a:solidFill>
                  <a:srgbClr val="2A2B2E"/>
                </a:solidFill>
                <a:effectLst/>
                <a:latin typeface="PingFang SC"/>
              </a:rPr>
              <a:t>设计系统组件</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设计数据库</a:t>
            </a:r>
            <a:r>
              <a:rPr lang="en-US" altLang="zh-CN" b="0" i="0" dirty="0">
                <a:solidFill>
                  <a:srgbClr val="2A2B2E"/>
                </a:solidFill>
                <a:effectLst/>
                <a:latin typeface="PingFang SC"/>
              </a:rPr>
              <a:t>(</a:t>
            </a:r>
            <a:r>
              <a:rPr lang="zh-CN" altLang="en-US" b="0" i="0" dirty="0">
                <a:solidFill>
                  <a:srgbClr val="2A2B2E"/>
                </a:solidFill>
                <a:effectLst/>
                <a:latin typeface="PingFang SC"/>
              </a:rPr>
              <a:t>模式</a:t>
            </a:r>
            <a:r>
              <a:rPr lang="en-US" altLang="zh-CN" b="0" i="0" dirty="0">
                <a:solidFill>
                  <a:srgbClr val="2A2B2E"/>
                </a:solidFill>
                <a:effectLst/>
                <a:latin typeface="PingFang SC"/>
              </a:rPr>
              <a:t>)</a:t>
            </a: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表设计</a:t>
            </a:r>
            <a:br>
              <a:rPr lang="zh-CN" altLang="en-US" dirty="0"/>
            </a:br>
            <a:r>
              <a:rPr lang="zh-CN" altLang="en-US" dirty="0"/>
              <a:t>    </a:t>
            </a:r>
            <a:r>
              <a:rPr lang="zh-CN" altLang="en-US" b="0" i="0" dirty="0">
                <a:solidFill>
                  <a:srgbClr val="2A2B2E"/>
                </a:solidFill>
                <a:effectLst/>
                <a:latin typeface="PingFang SC"/>
              </a:rPr>
              <a:t>键和索引标识</a:t>
            </a:r>
            <a:br>
              <a:rPr lang="zh-CN" altLang="en-US" dirty="0"/>
            </a:br>
            <a:r>
              <a:rPr lang="zh-CN" altLang="en-US" dirty="0"/>
              <a:t>    </a:t>
            </a:r>
            <a:r>
              <a:rPr lang="zh-CN" altLang="en-US" b="0" i="0" dirty="0">
                <a:solidFill>
                  <a:srgbClr val="2A2B2E"/>
                </a:solidFill>
                <a:effectLst/>
                <a:latin typeface="PingFang SC"/>
              </a:rPr>
              <a:t>属性类型</a:t>
            </a:r>
            <a:br>
              <a:rPr lang="zh-CN" altLang="en-US" dirty="0"/>
            </a:br>
            <a:r>
              <a:rPr lang="zh-CN" altLang="en-US" dirty="0"/>
              <a:t>    </a:t>
            </a:r>
            <a:r>
              <a:rPr lang="zh-CN" altLang="en-US" b="0" i="0" dirty="0">
                <a:solidFill>
                  <a:srgbClr val="2A2B2E"/>
                </a:solidFill>
                <a:effectLst/>
                <a:latin typeface="PingFang SC"/>
              </a:rPr>
              <a:t>参照完整性</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设计系统的高层结构</a:t>
            </a:r>
            <a:br>
              <a:rPr lang="zh-CN" altLang="en-US" dirty="0"/>
            </a:br>
            <a:r>
              <a:rPr lang="zh-CN" altLang="en-US" b="0" i="0" dirty="0">
                <a:solidFill>
                  <a:srgbClr val="2A2B2E"/>
                </a:solidFill>
                <a:effectLst/>
                <a:latin typeface="PingFang SC"/>
              </a:rPr>
              <a:t>   浏览器、</a:t>
            </a:r>
            <a:r>
              <a:rPr lang="en-US" altLang="zh-CN" b="0" i="0" dirty="0">
                <a:solidFill>
                  <a:srgbClr val="2A2B2E"/>
                </a:solidFill>
                <a:effectLst/>
                <a:latin typeface="PingFang SC"/>
              </a:rPr>
              <a:t>Windows</a:t>
            </a:r>
            <a:r>
              <a:rPr lang="zh-CN" altLang="en-US" b="0" i="0" dirty="0">
                <a:solidFill>
                  <a:srgbClr val="2A2B2E"/>
                </a:solidFill>
                <a:effectLst/>
                <a:latin typeface="PingFang SC"/>
              </a:rPr>
              <a:t>或智能手机</a:t>
            </a:r>
            <a:br>
              <a:rPr lang="zh-CN" altLang="en-US" dirty="0"/>
            </a:br>
            <a:r>
              <a:rPr lang="zh-CN" altLang="en-US" dirty="0"/>
              <a:t>   </a:t>
            </a:r>
            <a:r>
              <a:rPr lang="zh-CN" altLang="en-US" b="0" i="0" dirty="0">
                <a:solidFill>
                  <a:srgbClr val="2A2B2E"/>
                </a:solidFill>
                <a:effectLst/>
                <a:latin typeface="PingFang SC"/>
              </a:rPr>
              <a:t>体系结构配置</a:t>
            </a:r>
            <a:r>
              <a:rPr lang="en-US" altLang="zh-CN" b="0" i="0" dirty="0">
                <a:solidFill>
                  <a:srgbClr val="2A2B2E"/>
                </a:solidFill>
                <a:effectLst/>
                <a:latin typeface="PingFang SC"/>
              </a:rPr>
              <a:t>(</a:t>
            </a:r>
            <a:r>
              <a:rPr lang="zh-CN" altLang="en-US" b="0" i="0" dirty="0">
                <a:solidFill>
                  <a:srgbClr val="2A2B2E"/>
                </a:solidFill>
                <a:effectLst/>
                <a:latin typeface="PingFang SC"/>
              </a:rPr>
              <a:t>组件</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设计类图</a:t>
            </a:r>
            <a:br>
              <a:rPr lang="zh-CN" altLang="en-US" dirty="0"/>
            </a:br>
            <a:r>
              <a:rPr lang="zh-CN" altLang="en-US" dirty="0"/>
              <a:t>   </a:t>
            </a:r>
            <a:r>
              <a:rPr lang="zh-CN" altLang="en-US" b="0" i="0" dirty="0">
                <a:solidFill>
                  <a:srgbClr val="2A2B2E"/>
                </a:solidFill>
                <a:effectLst/>
                <a:latin typeface="PingFang SC"/>
              </a:rPr>
              <a:t>子系统体系结构设计</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66</a:t>
            </a:fld>
            <a:endParaRPr lang="en-US" altLang="zh-CN"/>
          </a:p>
        </p:txBody>
      </p:sp>
    </p:spTree>
    <p:extLst>
      <p:ext uri="{BB962C8B-B14F-4D97-AF65-F5344CB8AC3E}">
        <p14:creationId xmlns:p14="http://schemas.microsoft.com/office/powerpoint/2010/main" val="4092740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体系结构配置图</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67</a:t>
            </a:fld>
            <a:endParaRPr lang="en-US" altLang="zh-CN"/>
          </a:p>
        </p:txBody>
      </p:sp>
    </p:spTree>
    <p:extLst>
      <p:ext uri="{BB962C8B-B14F-4D97-AF65-F5344CB8AC3E}">
        <p14:creationId xmlns:p14="http://schemas.microsoft.com/office/powerpoint/2010/main" val="1149341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初步设计类图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包括视图层类和域层类（业务层类）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还需要添加实用工具类</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68</a:t>
            </a:fld>
            <a:endParaRPr lang="en-US" altLang="zh-CN"/>
          </a:p>
        </p:txBody>
      </p:sp>
    </p:spTree>
    <p:extLst>
      <p:ext uri="{BB962C8B-B14F-4D97-AF65-F5344CB8AC3E}">
        <p14:creationId xmlns:p14="http://schemas.microsoft.com/office/powerpoint/2010/main" val="25110710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子系统架构设计图</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69</a:t>
            </a:fld>
            <a:endParaRPr lang="en-US" altLang="zh-CN"/>
          </a:p>
        </p:txBody>
      </p:sp>
    </p:spTree>
    <p:extLst>
      <p:ext uri="{BB962C8B-B14F-4D97-AF65-F5344CB8AC3E}">
        <p14:creationId xmlns:p14="http://schemas.microsoft.com/office/powerpoint/2010/main" val="42376063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一个代码例子</a:t>
            </a:r>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70</a:t>
            </a:fld>
            <a:endParaRPr lang="en-US" altLang="zh-CN"/>
          </a:p>
        </p:txBody>
      </p:sp>
    </p:spTree>
    <p:extLst>
      <p:ext uri="{BB962C8B-B14F-4D97-AF65-F5344CB8AC3E}">
        <p14:creationId xmlns:p14="http://schemas.microsoft.com/office/powerpoint/2010/main" val="3993029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项目管理须知</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许多设计图表</a:t>
            </a:r>
            <a:br>
              <a:rPr lang="zh-CN" altLang="en-US" dirty="0"/>
            </a:br>
            <a:r>
              <a:rPr lang="zh-CN" altLang="en-US" dirty="0"/>
              <a:t>  </a:t>
            </a:r>
            <a:r>
              <a:rPr lang="zh-CN" altLang="en-US" b="0" i="0" dirty="0">
                <a:solidFill>
                  <a:srgbClr val="2A2B2E"/>
                </a:solidFill>
                <a:effectLst/>
                <a:latin typeface="PingFang SC"/>
              </a:rPr>
              <a:t>设计具有多个层次的复杂活动</a:t>
            </a:r>
            <a:br>
              <a:rPr lang="zh-CN" altLang="en-US" dirty="0"/>
            </a:br>
            <a:r>
              <a:rPr lang="zh-CN" altLang="en-US" dirty="0"/>
              <a:t>     </a:t>
            </a:r>
            <a:r>
              <a:rPr lang="zh-CN" altLang="en-US" b="0" i="0" dirty="0">
                <a:solidFill>
                  <a:srgbClr val="2A2B2E"/>
                </a:solidFill>
                <a:effectLst/>
                <a:latin typeface="PingFang SC"/>
              </a:rPr>
              <a:t>高级架构</a:t>
            </a:r>
            <a:br>
              <a:rPr lang="zh-CN" altLang="en-US" dirty="0"/>
            </a:br>
            <a:r>
              <a:rPr lang="zh-CN" altLang="en-US" dirty="0"/>
              <a:t>     </a:t>
            </a:r>
            <a:r>
              <a:rPr lang="zh-CN" altLang="en-US" b="0" i="0" dirty="0">
                <a:solidFill>
                  <a:srgbClr val="2A2B2E"/>
                </a:solidFill>
                <a:effectLst/>
                <a:latin typeface="PingFang SC"/>
              </a:rPr>
              <a:t>低层详细设计</a:t>
            </a:r>
            <a:br>
              <a:rPr lang="zh-CN" altLang="en-US" dirty="0"/>
            </a:br>
            <a:r>
              <a:rPr lang="zh-CN" altLang="en-US" dirty="0"/>
              <a:t>  </a:t>
            </a:r>
            <a:r>
              <a:rPr lang="zh-CN" altLang="en-US" b="0" i="0" dirty="0">
                <a:solidFill>
                  <a:srgbClr val="2A2B2E"/>
                </a:solidFill>
                <a:effectLst/>
                <a:latin typeface="PingFang SC"/>
              </a:rPr>
              <a:t>一个图表建立在另一个图表的基础上</a:t>
            </a:r>
            <a:br>
              <a:rPr lang="zh-CN" altLang="en-US" dirty="0"/>
            </a:br>
            <a:r>
              <a:rPr lang="zh-CN" altLang="en-US" dirty="0"/>
              <a:t>  </a:t>
            </a:r>
            <a:r>
              <a:rPr lang="zh-CN" altLang="en-US" b="0" i="0" dirty="0">
                <a:solidFill>
                  <a:srgbClr val="2A2B2E"/>
                </a:solidFill>
                <a:effectLst/>
                <a:latin typeface="PingFang SC"/>
              </a:rPr>
              <a:t>并不是所有的东西都用图表表示，尤其是对于一个小项目。</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编程也是并发完成的</a:t>
            </a:r>
            <a:br>
              <a:rPr lang="zh-CN" altLang="en-US" dirty="0"/>
            </a:br>
            <a:r>
              <a:rPr lang="zh-CN" altLang="en-US" dirty="0"/>
              <a:t>  </a:t>
            </a:r>
            <a:r>
              <a:rPr lang="zh-CN" altLang="en-US" b="0" i="0" dirty="0">
                <a:solidFill>
                  <a:srgbClr val="2A2B2E"/>
                </a:solidFill>
                <a:effectLst/>
                <a:latin typeface="PingFang SC"/>
              </a:rPr>
              <a:t>你不需要设计所有的东西然后再编码</a:t>
            </a:r>
            <a:br>
              <a:rPr lang="zh-CN" altLang="en-US" dirty="0"/>
            </a:br>
            <a:r>
              <a:rPr lang="zh-CN" altLang="en-US" dirty="0"/>
              <a:t>  </a:t>
            </a:r>
            <a:r>
              <a:rPr lang="zh-CN" altLang="en-US" b="0" i="0" dirty="0">
                <a:solidFill>
                  <a:srgbClr val="2A2B2E"/>
                </a:solidFill>
                <a:effectLst/>
                <a:latin typeface="PingFang SC"/>
              </a:rPr>
              <a:t>你做一些设计，一些编码，一些设计，一些编码</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71</a:t>
            </a:fld>
            <a:endParaRPr lang="en-US" altLang="zh-CN"/>
          </a:p>
        </p:txBody>
      </p:sp>
    </p:spTree>
    <p:extLst>
      <p:ext uri="{BB962C8B-B14F-4D97-AF65-F5344CB8AC3E}">
        <p14:creationId xmlns:p14="http://schemas.microsoft.com/office/powerpoint/2010/main" val="30659871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核心流程</a:t>
            </a:r>
            <a:r>
              <a:rPr lang="en-US" altLang="zh-CN" b="0" i="0" dirty="0">
                <a:solidFill>
                  <a:srgbClr val="2A2B2E"/>
                </a:solidFill>
                <a:effectLst/>
                <a:latin typeface="PingFang SC"/>
              </a:rPr>
              <a:t>4:</a:t>
            </a:r>
            <a:r>
              <a:rPr lang="zh-CN" altLang="en-US" b="0" i="0" dirty="0">
                <a:solidFill>
                  <a:srgbClr val="2A2B2E"/>
                </a:solidFill>
                <a:effectLst/>
                <a:latin typeface="PingFang SC"/>
              </a:rPr>
              <a:t>设计系统组件</a:t>
            </a:r>
            <a:br>
              <a:rPr lang="zh-CN" altLang="en-US" dirty="0"/>
            </a:br>
            <a:r>
              <a:rPr lang="zh-CN" altLang="en-US" b="0" i="0" dirty="0">
                <a:solidFill>
                  <a:srgbClr val="2A2B2E"/>
                </a:solidFill>
                <a:effectLst/>
                <a:latin typeface="PingFang SC"/>
              </a:rPr>
              <a:t>  继续设计细节 </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一个用例接一个用例</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核心过程</a:t>
            </a:r>
            <a:r>
              <a:rPr lang="en-US" altLang="zh-CN" b="0" i="0" dirty="0">
                <a:solidFill>
                  <a:srgbClr val="2A2B2E"/>
                </a:solidFill>
                <a:effectLst/>
                <a:latin typeface="PingFang SC"/>
              </a:rPr>
              <a:t>5:</a:t>
            </a:r>
            <a:r>
              <a:rPr lang="zh-CN" altLang="en-US" b="0" i="0" dirty="0">
                <a:solidFill>
                  <a:srgbClr val="2A2B2E"/>
                </a:solidFill>
                <a:effectLst/>
                <a:latin typeface="PingFang SC"/>
              </a:rPr>
              <a:t>构建、测试和集成系统组件</a:t>
            </a:r>
            <a:br>
              <a:rPr lang="zh-CN" altLang="en-US" dirty="0"/>
            </a:br>
            <a:r>
              <a:rPr lang="zh-CN" altLang="en-US" dirty="0"/>
              <a:t>  </a:t>
            </a:r>
            <a:r>
              <a:rPr lang="zh-CN" altLang="en-US" b="0" i="0" dirty="0">
                <a:solidFill>
                  <a:srgbClr val="2A2B2E"/>
                </a:solidFill>
                <a:effectLst/>
                <a:latin typeface="PingFang SC"/>
              </a:rPr>
              <a:t>继续编程</a:t>
            </a:r>
            <a:br>
              <a:rPr lang="zh-CN" altLang="en-US" dirty="0"/>
            </a:br>
            <a:r>
              <a:rPr lang="zh-CN" altLang="en-US" dirty="0"/>
              <a:t>  </a:t>
            </a:r>
            <a:r>
              <a:rPr lang="zh-CN" altLang="en-US" b="0" i="0" dirty="0">
                <a:solidFill>
                  <a:srgbClr val="2A2B2E"/>
                </a:solidFill>
                <a:effectLst/>
                <a:latin typeface="PingFang SC"/>
              </a:rPr>
              <a:t>逐个用例来构建</a:t>
            </a:r>
            <a:br>
              <a:rPr lang="zh-CN" altLang="en-US" dirty="0"/>
            </a:br>
            <a:r>
              <a:rPr lang="zh-CN" altLang="en-US" dirty="0"/>
              <a:t>  </a:t>
            </a:r>
            <a:r>
              <a:rPr lang="zh-CN" altLang="en-US" b="0" i="0" dirty="0">
                <a:solidFill>
                  <a:srgbClr val="2A2B2E"/>
                </a:solidFill>
                <a:effectLst/>
                <a:latin typeface="PingFang SC"/>
              </a:rPr>
              <a:t>执行单元和集成测试</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72</a:t>
            </a:fld>
            <a:endParaRPr lang="en-US" altLang="zh-CN"/>
          </a:p>
        </p:txBody>
      </p:sp>
    </p:spTree>
    <p:extLst>
      <p:ext uri="{BB962C8B-B14F-4D97-AF65-F5344CB8AC3E}">
        <p14:creationId xmlns:p14="http://schemas.microsoft.com/office/powerpoint/2010/main" val="23887438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测试任务流程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开始</a:t>
            </a:r>
            <a:r>
              <a:rPr lang="en-US" altLang="zh-CN" b="0" i="0" dirty="0">
                <a:solidFill>
                  <a:srgbClr val="2A2B2E"/>
                </a:solidFill>
                <a:effectLst/>
                <a:latin typeface="PingFang SC"/>
              </a:rPr>
              <a:t>-》</a:t>
            </a:r>
            <a:r>
              <a:rPr lang="zh-CN" altLang="en-US" b="0" i="0" dirty="0">
                <a:solidFill>
                  <a:srgbClr val="2A2B2E"/>
                </a:solidFill>
                <a:effectLst/>
                <a:latin typeface="PingFang SC"/>
              </a:rPr>
              <a:t>创建测试数据</a:t>
            </a:r>
            <a:r>
              <a:rPr lang="en-US" altLang="zh-CN" b="0" i="0" dirty="0">
                <a:solidFill>
                  <a:srgbClr val="2A2B2E"/>
                </a:solidFill>
                <a:effectLst/>
                <a:latin typeface="PingFang SC"/>
              </a:rPr>
              <a:t>-》</a:t>
            </a:r>
            <a:r>
              <a:rPr lang="zh-CN" altLang="en-US" b="0" i="0" dirty="0">
                <a:solidFill>
                  <a:srgbClr val="2A2B2E"/>
                </a:solidFill>
                <a:effectLst/>
                <a:latin typeface="PingFang SC"/>
              </a:rPr>
              <a:t>进行测试</a:t>
            </a:r>
            <a:r>
              <a:rPr lang="en-US" altLang="zh-CN" b="0" i="0" dirty="0">
                <a:solidFill>
                  <a:srgbClr val="2A2B2E"/>
                </a:solidFill>
                <a:effectLst/>
                <a:latin typeface="PingFang SC"/>
              </a:rPr>
              <a:t>-》</a:t>
            </a:r>
            <a:r>
              <a:rPr lang="zh-CN" altLang="en-US" b="0" i="0" dirty="0">
                <a:solidFill>
                  <a:srgbClr val="2A2B2E"/>
                </a:solidFill>
                <a:effectLst/>
                <a:latin typeface="PingFang SC"/>
              </a:rPr>
              <a:t>如果有错误</a:t>
            </a:r>
            <a:r>
              <a:rPr lang="en-US" altLang="zh-CN" b="0" i="0" dirty="0">
                <a:solidFill>
                  <a:srgbClr val="2A2B2E"/>
                </a:solidFill>
                <a:effectLst/>
                <a:latin typeface="PingFang SC"/>
              </a:rPr>
              <a:t>-》</a:t>
            </a:r>
            <a:r>
              <a:rPr lang="zh-CN" altLang="en-US" b="0" i="0" dirty="0">
                <a:solidFill>
                  <a:srgbClr val="2A2B2E"/>
                </a:solidFill>
                <a:effectLst/>
                <a:latin typeface="PingFang SC"/>
              </a:rPr>
              <a:t>修复错误</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73</a:t>
            </a:fld>
            <a:endParaRPr lang="en-US" altLang="zh-CN"/>
          </a:p>
        </p:txBody>
      </p:sp>
    </p:spTree>
    <p:extLst>
      <p:ext uri="{BB962C8B-B14F-4D97-AF65-F5344CB8AC3E}">
        <p14:creationId xmlns:p14="http://schemas.microsoft.com/office/powerpoint/2010/main" val="30836081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查找供应商用例的屏幕截图</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74</a:t>
            </a:fld>
            <a:endParaRPr lang="en-US" altLang="zh-CN"/>
          </a:p>
        </p:txBody>
      </p:sp>
    </p:spTree>
    <p:extLst>
      <p:ext uri="{BB962C8B-B14F-4D97-AF65-F5344CB8AC3E}">
        <p14:creationId xmlns:p14="http://schemas.microsoft.com/office/powerpoint/2010/main" val="11827035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核心流程</a:t>
            </a:r>
            <a:r>
              <a:rPr lang="en-US" altLang="zh-CN" b="0" i="0" dirty="0">
                <a:solidFill>
                  <a:srgbClr val="2A2B2E"/>
                </a:solidFill>
                <a:effectLst/>
                <a:latin typeface="PingFang SC"/>
              </a:rPr>
              <a:t>6:</a:t>
            </a:r>
            <a:r>
              <a:rPr lang="zh-CN" altLang="en-US" b="0" i="0" dirty="0">
                <a:solidFill>
                  <a:srgbClr val="2A2B2E"/>
                </a:solidFill>
                <a:effectLst/>
                <a:latin typeface="PingFang SC"/>
              </a:rPr>
              <a:t>完成系统测试和部署系统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执行系统功能测试</a:t>
            </a:r>
            <a:br>
              <a:rPr lang="zh-CN" altLang="en-US" dirty="0"/>
            </a:br>
            <a:r>
              <a:rPr lang="zh-CN" altLang="en-US" dirty="0"/>
              <a:t>   </a:t>
            </a:r>
            <a:r>
              <a:rPr lang="zh-CN" altLang="en-US" b="0" i="0" dirty="0">
                <a:solidFill>
                  <a:srgbClr val="2A2B2E"/>
                </a:solidFill>
                <a:effectLst/>
                <a:latin typeface="PingFang SC"/>
              </a:rPr>
              <a:t>执行用户验收测试</a:t>
            </a:r>
            <a:br>
              <a:rPr lang="zh-CN" altLang="en-US" dirty="0"/>
            </a:br>
            <a:r>
              <a:rPr lang="zh-CN" altLang="en-US" dirty="0"/>
              <a:t>   </a:t>
            </a:r>
            <a:r>
              <a:rPr lang="zh-CN" altLang="en-US" b="0" i="0" dirty="0">
                <a:solidFill>
                  <a:srgbClr val="2A2B2E"/>
                </a:solidFill>
                <a:effectLst/>
                <a:latin typeface="PingFang SC"/>
              </a:rPr>
              <a:t>可能部署系统的一部分</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75</a:t>
            </a:fld>
            <a:endParaRPr lang="en-US" altLang="zh-CN"/>
          </a:p>
        </p:txBody>
      </p:sp>
    </p:spTree>
    <p:extLst>
      <p:ext uri="{BB962C8B-B14F-4D97-AF65-F5344CB8AC3E}">
        <p14:creationId xmlns:p14="http://schemas.microsoft.com/office/powerpoint/2010/main" val="1698992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第一次迭代回顾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这是一个为期</a:t>
            </a:r>
            <a:r>
              <a:rPr lang="en-US" altLang="zh-CN" b="0" i="0" dirty="0">
                <a:solidFill>
                  <a:srgbClr val="2A2B2E"/>
                </a:solidFill>
                <a:effectLst/>
                <a:latin typeface="PingFang SC"/>
              </a:rPr>
              <a:t>6</a:t>
            </a:r>
            <a:r>
              <a:rPr lang="zh-CN" altLang="en-US" b="0" i="0" dirty="0">
                <a:solidFill>
                  <a:srgbClr val="2A2B2E"/>
                </a:solidFill>
                <a:effectLst/>
                <a:latin typeface="PingFang SC"/>
              </a:rPr>
              <a:t>天的小项目迭代</a:t>
            </a:r>
            <a:br>
              <a:rPr lang="zh-CN" altLang="en-US" dirty="0"/>
            </a:br>
            <a:r>
              <a:rPr lang="zh-CN" altLang="en-US" dirty="0"/>
              <a:t>  </a:t>
            </a:r>
            <a:r>
              <a:rPr lang="zh-CN" altLang="en-US" b="0" i="0" dirty="0">
                <a:solidFill>
                  <a:srgbClr val="2A2B2E"/>
                </a:solidFill>
                <a:effectLst/>
                <a:latin typeface="PingFang SC"/>
              </a:rPr>
              <a:t>大多数迭代都更长</a:t>
            </a:r>
            <a:r>
              <a:rPr lang="en-US" altLang="zh-CN" b="0" i="0" dirty="0">
                <a:solidFill>
                  <a:srgbClr val="2A2B2E"/>
                </a:solidFill>
                <a:effectLst/>
                <a:latin typeface="PingFang SC"/>
              </a:rPr>
              <a:t>(2</a:t>
            </a:r>
            <a:r>
              <a:rPr lang="zh-CN" altLang="en-US" b="0" i="0" dirty="0">
                <a:solidFill>
                  <a:srgbClr val="2A2B2E"/>
                </a:solidFill>
                <a:effectLst/>
                <a:latin typeface="PingFang SC"/>
              </a:rPr>
              <a:t>到</a:t>
            </a:r>
            <a:r>
              <a:rPr lang="en-US" altLang="zh-CN" b="0" i="0" dirty="0">
                <a:solidFill>
                  <a:srgbClr val="2A2B2E"/>
                </a:solidFill>
                <a:effectLst/>
                <a:latin typeface="PingFang SC"/>
              </a:rPr>
              <a:t>4</a:t>
            </a:r>
            <a:r>
              <a:rPr lang="zh-CN" altLang="en-US" b="0" i="0" dirty="0">
                <a:solidFill>
                  <a:srgbClr val="2A2B2E"/>
                </a:solidFill>
                <a:effectLst/>
                <a:latin typeface="PingFang SC"/>
              </a:rPr>
              <a:t>周</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这个项目可能有</a:t>
            </a:r>
            <a:r>
              <a:rPr lang="en-US" altLang="zh-CN" b="0" i="0" dirty="0">
                <a:solidFill>
                  <a:srgbClr val="2A2B2E"/>
                </a:solidFill>
                <a:effectLst/>
                <a:latin typeface="PingFang SC"/>
              </a:rPr>
              <a:t>2</a:t>
            </a:r>
            <a:r>
              <a:rPr lang="zh-CN" altLang="en-US" b="0" i="0" dirty="0">
                <a:solidFill>
                  <a:srgbClr val="2A2B2E"/>
                </a:solidFill>
                <a:effectLst/>
                <a:latin typeface="PingFang SC"/>
              </a:rPr>
              <a:t>个迭代</a:t>
            </a:r>
            <a:br>
              <a:rPr lang="zh-CN" altLang="en-US" dirty="0"/>
            </a:br>
            <a:r>
              <a:rPr lang="zh-CN" altLang="en-US" dirty="0"/>
              <a:t>  </a:t>
            </a:r>
            <a:r>
              <a:rPr lang="zh-CN" altLang="en-US" b="0" i="0" dirty="0">
                <a:solidFill>
                  <a:srgbClr val="2A2B2E"/>
                </a:solidFill>
                <a:effectLst/>
                <a:latin typeface="PingFang SC"/>
              </a:rPr>
              <a:t>大多数项目都有更多的迭代</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终端用户需要参与进来，特别是在第</a:t>
            </a:r>
            <a:r>
              <a:rPr lang="en-US" altLang="zh-CN" b="0" i="0" dirty="0">
                <a:solidFill>
                  <a:srgbClr val="2A2B2E"/>
                </a:solidFill>
                <a:effectLst/>
                <a:latin typeface="PingFang SC"/>
              </a:rPr>
              <a:t>1</a:t>
            </a:r>
            <a:r>
              <a:rPr lang="zh-CN" altLang="en-US" b="0" i="0" dirty="0">
                <a:solidFill>
                  <a:srgbClr val="2A2B2E"/>
                </a:solidFill>
                <a:effectLst/>
                <a:latin typeface="PingFang SC"/>
              </a:rPr>
              <a:t>、</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和</a:t>
            </a:r>
            <a:r>
              <a:rPr lang="en-US" altLang="zh-CN" b="0" i="0" dirty="0">
                <a:solidFill>
                  <a:srgbClr val="2A2B2E"/>
                </a:solidFill>
                <a:effectLst/>
                <a:latin typeface="PingFang SC"/>
              </a:rPr>
              <a:t>6</a:t>
            </a:r>
            <a:r>
              <a:rPr lang="zh-CN" altLang="en-US" b="0" i="0" dirty="0">
                <a:solidFill>
                  <a:srgbClr val="2A2B2E"/>
                </a:solidFill>
                <a:effectLst/>
                <a:latin typeface="PingFang SC"/>
              </a:rPr>
              <a:t>天。</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4</a:t>
            </a:r>
            <a:r>
              <a:rPr lang="zh-CN" altLang="en-US" b="0" i="0" dirty="0">
                <a:solidFill>
                  <a:srgbClr val="2A2B2E"/>
                </a:solidFill>
                <a:effectLst/>
                <a:latin typeface="PingFang SC"/>
              </a:rPr>
              <a:t>天和第</a:t>
            </a:r>
            <a:r>
              <a:rPr lang="en-US" altLang="zh-CN" b="0" i="0" dirty="0">
                <a:solidFill>
                  <a:srgbClr val="2A2B2E"/>
                </a:solidFill>
                <a:effectLst/>
                <a:latin typeface="PingFang SC"/>
              </a:rPr>
              <a:t>5</a:t>
            </a:r>
            <a:r>
              <a:rPr lang="zh-CN" altLang="en-US" b="0" i="0" dirty="0">
                <a:solidFill>
                  <a:srgbClr val="2A2B2E"/>
                </a:solidFill>
                <a:effectLst/>
                <a:latin typeface="PingFang SC"/>
              </a:rPr>
              <a:t>天同时涉及设计和编程。</a:t>
            </a:r>
          </a:p>
          <a:p>
            <a:r>
              <a:rPr lang="zh-CN" altLang="en-US" b="0" i="0" dirty="0">
                <a:solidFill>
                  <a:srgbClr val="2A2B2E"/>
                </a:solidFill>
                <a:effectLst/>
                <a:latin typeface="PingFang SC"/>
              </a:rPr>
              <a:t>  很多时间都花在了编程和设计上</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76</a:t>
            </a:fld>
            <a:endParaRPr lang="en-US" altLang="zh-CN"/>
          </a:p>
        </p:txBody>
      </p:sp>
    </p:spTree>
    <p:extLst>
      <p:ext uri="{BB962C8B-B14F-4D97-AF65-F5344CB8AC3E}">
        <p14:creationId xmlns:p14="http://schemas.microsoft.com/office/powerpoint/2010/main" val="1852927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第一章</a:t>
            </a:r>
            <a:r>
              <a:rPr lang="en-US" altLang="zh-CN" b="0" i="0" dirty="0">
                <a:solidFill>
                  <a:srgbClr val="2A2B2E"/>
                </a:solidFill>
                <a:effectLst/>
                <a:latin typeface="PingFang SC"/>
              </a:rPr>
              <a:t>:</a:t>
            </a:r>
            <a:r>
              <a:rPr lang="zh-CN" altLang="en-US" b="0" i="0" dirty="0">
                <a:solidFill>
                  <a:srgbClr val="2A2B2E"/>
                </a:solidFill>
                <a:effectLst/>
                <a:latin typeface="PingFang SC"/>
              </a:rPr>
              <a:t>从开始到结束</a:t>
            </a:r>
            <a:br>
              <a:rPr lang="zh-CN" altLang="en-US" dirty="0"/>
            </a:br>
            <a:r>
              <a:rPr lang="zh-CN" altLang="en-US" b="0" i="0" dirty="0">
                <a:solidFill>
                  <a:srgbClr val="2A2B2E"/>
                </a:solidFill>
                <a:effectLst/>
                <a:latin typeface="PingFang SC"/>
              </a:rPr>
              <a:t>  小项目概述，强调分析、设计和迭代开发</a:t>
            </a:r>
            <a:br>
              <a:rPr lang="zh-CN" altLang="en-US" dirty="0"/>
            </a:br>
            <a:r>
              <a:rPr lang="zh-CN" altLang="en-US" dirty="0"/>
              <a:t>  </a:t>
            </a:r>
            <a:r>
              <a:rPr lang="zh-CN" altLang="en-US" b="0" i="0" dirty="0">
                <a:solidFill>
                  <a:srgbClr val="2A2B2E"/>
                </a:solidFill>
                <a:effectLst/>
                <a:latin typeface="PingFang SC"/>
              </a:rPr>
              <a:t>完成了</a:t>
            </a:r>
            <a:r>
              <a:rPr lang="en-US" altLang="zh-CN" b="0" i="0" dirty="0">
                <a:solidFill>
                  <a:srgbClr val="2A2B2E"/>
                </a:solidFill>
                <a:effectLst/>
                <a:latin typeface="PingFang SC"/>
              </a:rPr>
              <a:t>!</a:t>
            </a: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第二章</a:t>
            </a:r>
            <a:r>
              <a:rPr lang="en-US" altLang="zh-CN" b="0" i="0" dirty="0">
                <a:solidFill>
                  <a:srgbClr val="2A2B2E"/>
                </a:solidFill>
                <a:effectLst/>
                <a:latin typeface="PingFang SC"/>
              </a:rPr>
              <a:t>:</a:t>
            </a:r>
            <a:r>
              <a:rPr lang="zh-CN" altLang="en-US" b="0" i="0" dirty="0">
                <a:solidFill>
                  <a:srgbClr val="2A2B2E"/>
                </a:solidFill>
                <a:effectLst/>
                <a:latin typeface="PingFang SC"/>
              </a:rPr>
              <a:t>调查系统需求</a:t>
            </a:r>
            <a:br>
              <a:rPr lang="zh-CN" altLang="en-US" dirty="0"/>
            </a:br>
            <a:r>
              <a:rPr lang="zh-CN" altLang="en-US" dirty="0"/>
              <a:t>  </a:t>
            </a:r>
            <a:r>
              <a:rPr lang="zh-CN" altLang="en-US" b="0" i="0" dirty="0">
                <a:solidFill>
                  <a:srgbClr val="2A2B2E"/>
                </a:solidFill>
                <a:effectLst/>
                <a:latin typeface="PingFang SC"/>
              </a:rPr>
              <a:t>更多关于核心流程</a:t>
            </a:r>
            <a:r>
              <a:rPr lang="en-US" altLang="zh-CN" b="0" i="0" dirty="0">
                <a:solidFill>
                  <a:srgbClr val="2A2B2E"/>
                </a:solidFill>
                <a:effectLst/>
                <a:latin typeface="PingFang SC"/>
              </a:rPr>
              <a:t>3:</a:t>
            </a:r>
            <a:r>
              <a:rPr lang="zh-CN" altLang="en-US" b="0" i="0" dirty="0">
                <a:solidFill>
                  <a:srgbClr val="2A2B2E"/>
                </a:solidFill>
                <a:effectLst/>
                <a:latin typeface="PingFang SC"/>
              </a:rPr>
              <a:t>系统分析活动</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3</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用例</a:t>
            </a:r>
          </a:p>
          <a:p>
            <a:r>
              <a:rPr lang="zh-CN" altLang="en-US" b="0" i="0" dirty="0">
                <a:solidFill>
                  <a:srgbClr val="2A2B2E"/>
                </a:solidFill>
                <a:effectLst/>
                <a:latin typeface="PingFang SC"/>
              </a:rPr>
              <a:t>  为系统分析识别和建模用例的技术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77</a:t>
            </a:fld>
            <a:endParaRPr lang="en-US" altLang="zh-CN"/>
          </a:p>
        </p:txBody>
      </p:sp>
    </p:spTree>
    <p:extLst>
      <p:ext uri="{BB962C8B-B14F-4D97-AF65-F5344CB8AC3E}">
        <p14:creationId xmlns:p14="http://schemas.microsoft.com/office/powerpoint/2010/main" val="33362997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4</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域建模</a:t>
            </a:r>
            <a:br>
              <a:rPr lang="zh-CN" altLang="en-US" dirty="0"/>
            </a:br>
            <a:r>
              <a:rPr lang="zh-CN" altLang="en-US" dirty="0"/>
              <a:t>  </a:t>
            </a:r>
            <a:r>
              <a:rPr lang="zh-CN" altLang="en-US" b="0" i="0" dirty="0">
                <a:solidFill>
                  <a:srgbClr val="2A2B2E"/>
                </a:solidFill>
                <a:effectLst/>
                <a:latin typeface="PingFang SC"/>
              </a:rPr>
              <a:t>为系统分析识别和建模领域类的技术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5</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扩展需求模型</a:t>
            </a:r>
            <a:br>
              <a:rPr lang="zh-CN" altLang="en-US" dirty="0"/>
            </a:br>
            <a:r>
              <a:rPr lang="zh-CN" altLang="en-US" dirty="0"/>
              <a:t>  </a:t>
            </a:r>
            <a:r>
              <a:rPr lang="zh-CN" altLang="en-US" b="0" i="0" dirty="0">
                <a:solidFill>
                  <a:srgbClr val="2A2B2E"/>
                </a:solidFill>
                <a:effectLst/>
                <a:latin typeface="PingFang SC"/>
              </a:rPr>
              <a:t>为系统分析建模关于用例和领域类的更多细节</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以上主要解决的是需求</a:t>
            </a:r>
            <a:br>
              <a:rPr lang="zh-CN" altLang="en-US" dirty="0"/>
            </a:br>
            <a:endParaRPr lang="zh-CN" altLang="en-US" b="0" i="0" dirty="0">
              <a:solidFill>
                <a:srgbClr val="2A2B2E"/>
              </a:solidFill>
              <a:effectLst/>
              <a:latin typeface="PingFang SC"/>
            </a:endParaRPr>
          </a:p>
          <a:p>
            <a:pPr algn="l"/>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78</a:t>
            </a:fld>
            <a:endParaRPr lang="en-US" altLang="zh-CN"/>
          </a:p>
        </p:txBody>
      </p:sp>
    </p:spTree>
    <p:extLst>
      <p:ext uri="{BB962C8B-B14F-4D97-AF65-F5344CB8AC3E}">
        <p14:creationId xmlns:p14="http://schemas.microsoft.com/office/powerpoint/2010/main" val="6944134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第六章</a:t>
            </a:r>
            <a:r>
              <a:rPr lang="en-US" altLang="zh-CN" b="0" i="0" dirty="0">
                <a:solidFill>
                  <a:srgbClr val="2A2B2E"/>
                </a:solidFill>
                <a:effectLst/>
                <a:latin typeface="PingFang SC"/>
              </a:rPr>
              <a:t>:</a:t>
            </a:r>
            <a:r>
              <a:rPr lang="zh-CN" altLang="en-US" b="0" i="0" dirty="0">
                <a:solidFill>
                  <a:srgbClr val="2A2B2E"/>
                </a:solidFill>
                <a:effectLst/>
                <a:latin typeface="PingFang SC"/>
              </a:rPr>
              <a:t>设计要点</a:t>
            </a:r>
            <a:br>
              <a:rPr lang="zh-CN" altLang="en-US" dirty="0"/>
            </a:br>
            <a:r>
              <a:rPr lang="zh-CN" altLang="en-US" b="0" i="0" dirty="0">
                <a:solidFill>
                  <a:srgbClr val="2A2B2E"/>
                </a:solidFill>
                <a:effectLst/>
                <a:latin typeface="PingFang SC"/>
              </a:rPr>
              <a:t>  更多关于核心流程</a:t>
            </a:r>
            <a:r>
              <a:rPr lang="en-US" altLang="zh-CN" b="0" i="0" dirty="0">
                <a:solidFill>
                  <a:srgbClr val="2A2B2E"/>
                </a:solidFill>
                <a:effectLst/>
                <a:latin typeface="PingFang SC"/>
              </a:rPr>
              <a:t>4:</a:t>
            </a:r>
            <a:r>
              <a:rPr lang="zh-CN" altLang="en-US" b="0" i="0" dirty="0">
                <a:solidFill>
                  <a:srgbClr val="2A2B2E"/>
                </a:solidFill>
                <a:effectLst/>
                <a:latin typeface="PingFang SC"/>
              </a:rPr>
              <a:t>系统设计活动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第七章</a:t>
            </a:r>
            <a:r>
              <a:rPr lang="en-US" altLang="zh-CN" b="0" i="0" dirty="0">
                <a:solidFill>
                  <a:srgbClr val="2A2B2E"/>
                </a:solidFill>
                <a:effectLst/>
                <a:latin typeface="PingFang SC"/>
              </a:rPr>
              <a:t>:</a:t>
            </a:r>
            <a:r>
              <a:rPr lang="zh-CN" altLang="en-US" b="0" i="0" dirty="0">
                <a:solidFill>
                  <a:srgbClr val="2A2B2E"/>
                </a:solidFill>
                <a:effectLst/>
                <a:latin typeface="PingFang SC"/>
              </a:rPr>
              <a:t>设计用户和系统接口</a:t>
            </a:r>
            <a:br>
              <a:rPr lang="zh-CN" altLang="en-US" dirty="0"/>
            </a:br>
            <a:r>
              <a:rPr lang="zh-CN" altLang="en-US" dirty="0"/>
              <a:t>  </a:t>
            </a:r>
            <a:r>
              <a:rPr lang="zh-CN" altLang="en-US" b="0" i="0" dirty="0">
                <a:solidFill>
                  <a:srgbClr val="2A2B2E"/>
                </a:solidFill>
                <a:effectLst/>
                <a:latin typeface="PingFang SC"/>
              </a:rPr>
              <a:t>人机交互，用户界面设计原理，输出和报告，系统接口</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以上主要是设计</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8</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系统开发方法</a:t>
            </a:r>
            <a:br>
              <a:rPr lang="zh-CN" altLang="en-US" dirty="0"/>
            </a:br>
            <a:r>
              <a:rPr lang="zh-CN" altLang="en-US" dirty="0"/>
              <a:t>  </a:t>
            </a:r>
            <a:r>
              <a:rPr lang="zh-CN" altLang="en-US" b="0" i="0" dirty="0">
                <a:solidFill>
                  <a:srgbClr val="2A2B2E"/>
                </a:solidFill>
                <a:effectLst/>
                <a:latin typeface="PingFang SC"/>
              </a:rPr>
              <a:t>更多关于</a:t>
            </a:r>
            <a:r>
              <a:rPr lang="en-US" altLang="zh-CN" b="0" i="0" dirty="0">
                <a:solidFill>
                  <a:srgbClr val="2A2B2E"/>
                </a:solidFill>
                <a:effectLst/>
                <a:latin typeface="PingFang SC"/>
              </a:rPr>
              <a:t>SDLC</a:t>
            </a:r>
            <a:r>
              <a:rPr lang="zh-CN" altLang="en-US" b="0" i="0" dirty="0">
                <a:solidFill>
                  <a:srgbClr val="2A2B2E"/>
                </a:solidFill>
                <a:effectLst/>
                <a:latin typeface="PingFang SC"/>
              </a:rPr>
              <a:t>、模型、工具、技术和敏捷方法的内容</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9</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项目计划和项目管理</a:t>
            </a:r>
            <a:br>
              <a:rPr lang="zh-CN" altLang="en-US" dirty="0"/>
            </a:br>
            <a:r>
              <a:rPr lang="zh-CN" altLang="en-US" dirty="0"/>
              <a:t>  </a:t>
            </a:r>
            <a:r>
              <a:rPr lang="zh-CN" altLang="en-US" b="0" i="0" dirty="0">
                <a:solidFill>
                  <a:srgbClr val="2A2B2E"/>
                </a:solidFill>
                <a:effectLst/>
                <a:latin typeface="PingFang SC"/>
              </a:rPr>
              <a:t>关于核心进程</a:t>
            </a:r>
            <a:r>
              <a:rPr lang="en-US" altLang="zh-CN" b="0" i="0" dirty="0">
                <a:solidFill>
                  <a:srgbClr val="2A2B2E"/>
                </a:solidFill>
                <a:effectLst/>
                <a:latin typeface="PingFang SC"/>
              </a:rPr>
              <a:t>1</a:t>
            </a:r>
            <a:r>
              <a:rPr lang="zh-CN" altLang="en-US" b="0" i="0" dirty="0">
                <a:solidFill>
                  <a:srgbClr val="2A2B2E"/>
                </a:solidFill>
                <a:effectLst/>
                <a:latin typeface="PingFang SC"/>
              </a:rPr>
              <a:t>和</a:t>
            </a:r>
            <a:r>
              <a:rPr lang="en-US" altLang="zh-CN" b="0" i="0" dirty="0">
                <a:solidFill>
                  <a:srgbClr val="2A2B2E"/>
                </a:solidFill>
                <a:effectLst/>
                <a:latin typeface="PingFang SC"/>
              </a:rPr>
              <a:t>2</a:t>
            </a:r>
            <a:r>
              <a:rPr lang="zh-CN" altLang="en-US" b="0" i="0" dirty="0">
                <a:solidFill>
                  <a:srgbClr val="2A2B2E"/>
                </a:solidFill>
                <a:effectLst/>
                <a:latin typeface="PingFang SC"/>
              </a:rPr>
              <a:t>的更多信息</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以上更多是开发方法和项目管理</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79</a:t>
            </a:fld>
            <a:endParaRPr lang="en-US" altLang="zh-CN"/>
          </a:p>
        </p:txBody>
      </p:sp>
    </p:spTree>
    <p:extLst>
      <p:ext uri="{BB962C8B-B14F-4D97-AF65-F5344CB8AC3E}">
        <p14:creationId xmlns:p14="http://schemas.microsoft.com/office/powerpoint/2010/main" val="4281558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10</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面向对象设计原则</a:t>
            </a:r>
            <a:br>
              <a:rPr lang="zh-CN" altLang="en-US" dirty="0"/>
            </a:br>
            <a:r>
              <a:rPr lang="zh-CN" altLang="en-US" dirty="0"/>
              <a:t>  </a:t>
            </a:r>
            <a:r>
              <a:rPr lang="zh-CN" altLang="en-US" b="0" i="0" dirty="0">
                <a:solidFill>
                  <a:srgbClr val="2A2B2E"/>
                </a:solidFill>
                <a:effectLst/>
                <a:latin typeface="PingFang SC"/>
              </a:rPr>
              <a:t>设计原则、设计模型和设计用例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11</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面向对象设计</a:t>
            </a:r>
            <a:r>
              <a:rPr lang="en-US" altLang="zh-CN" b="0" i="0" dirty="0">
                <a:solidFill>
                  <a:srgbClr val="2A2B2E"/>
                </a:solidFill>
                <a:effectLst/>
                <a:latin typeface="PingFang SC"/>
              </a:rPr>
              <a:t>:</a:t>
            </a:r>
            <a:r>
              <a:rPr lang="zh-CN" altLang="en-US" b="0" i="0" dirty="0">
                <a:solidFill>
                  <a:srgbClr val="2A2B2E"/>
                </a:solidFill>
                <a:effectLst/>
                <a:latin typeface="PingFang SC"/>
              </a:rPr>
              <a:t>用例实现</a:t>
            </a:r>
            <a:br>
              <a:rPr lang="zh-CN" altLang="en-US" dirty="0"/>
            </a:br>
            <a:r>
              <a:rPr lang="zh-CN" altLang="en-US" dirty="0"/>
              <a:t>  </a:t>
            </a:r>
            <a:r>
              <a:rPr lang="zh-CN" altLang="en-US" b="0" i="0" dirty="0">
                <a:solidFill>
                  <a:srgbClr val="2A2B2E"/>
                </a:solidFill>
                <a:effectLst/>
                <a:latin typeface="PingFang SC"/>
              </a:rPr>
              <a:t>三层设计和设计模式</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12</a:t>
            </a:r>
            <a:r>
              <a:rPr lang="zh-CN" altLang="en-US" b="0" i="0" dirty="0">
                <a:solidFill>
                  <a:srgbClr val="2A2B2E"/>
                </a:solidFill>
                <a:effectLst/>
                <a:latin typeface="PingFang SC"/>
              </a:rPr>
              <a:t>章</a:t>
            </a:r>
            <a:r>
              <a:rPr lang="en-US" altLang="zh-CN" b="0" i="0" dirty="0">
                <a:solidFill>
                  <a:srgbClr val="2A2B2E"/>
                </a:solidFill>
                <a:effectLst/>
                <a:latin typeface="PingFang SC"/>
              </a:rPr>
              <a:t>:</a:t>
            </a:r>
            <a:r>
              <a:rPr lang="zh-CN" altLang="en-US" b="0" i="0" dirty="0">
                <a:solidFill>
                  <a:srgbClr val="2A2B2E"/>
                </a:solidFill>
                <a:effectLst/>
                <a:latin typeface="PingFang SC"/>
              </a:rPr>
              <a:t>数据库、控件和安全性</a:t>
            </a:r>
            <a:br>
              <a:rPr lang="zh-CN" altLang="en-US" dirty="0"/>
            </a:br>
            <a:r>
              <a:rPr lang="zh-CN" altLang="en-US" dirty="0"/>
              <a:t>  </a:t>
            </a:r>
            <a:r>
              <a:rPr lang="zh-CN" altLang="en-US" b="0" i="0" dirty="0">
                <a:solidFill>
                  <a:srgbClr val="2A2B2E"/>
                </a:solidFill>
                <a:effectLst/>
                <a:latin typeface="PingFang SC"/>
              </a:rPr>
              <a:t>更多关于数据库的设计和保护系统的完整性。</a:t>
            </a:r>
            <a:endParaRPr lang="zh-CN" altLang="en-US" dirty="0"/>
          </a:p>
        </p:txBody>
      </p:sp>
      <p:sp>
        <p:nvSpPr>
          <p:cNvPr id="4" name="灯片编号占位符 3"/>
          <p:cNvSpPr>
            <a:spLocks noGrp="1"/>
          </p:cNvSpPr>
          <p:nvPr>
            <p:ph type="sldNum" sz="quarter" idx="5"/>
          </p:nvPr>
        </p:nvSpPr>
        <p:spPr/>
        <p:txBody>
          <a:bodyPr/>
          <a:lstStyle/>
          <a:p>
            <a:fld id="{6376F14C-6CAB-43EF-ADD5-A906F6EBFA66}" type="slidenum">
              <a:rPr lang="en-US" altLang="zh-CN" smtClean="0"/>
              <a:pPr/>
              <a:t>80</a:t>
            </a:fld>
            <a:endParaRPr lang="en-US" altLang="zh-CN"/>
          </a:p>
        </p:txBody>
      </p:sp>
    </p:spTree>
    <p:extLst>
      <p:ext uri="{BB962C8B-B14F-4D97-AF65-F5344CB8AC3E}">
        <p14:creationId xmlns:p14="http://schemas.microsoft.com/office/powerpoint/2010/main" val="2257143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C&#35821;&#35328;&#31243;&#24207;&#35774;&#35745;&#65288;&#31532;&#20845;&#29256;&#65289;.ppt#-1,-1,2. &#24187;&#28783;&#29255; 2"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50C44FF8-3A82-4934-9C01-48224CA56DFE}"/>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a:extLst>
              <a:ext uri="{FF2B5EF4-FFF2-40B4-BE49-F238E27FC236}">
                <a16:creationId xmlns:a16="http://schemas.microsoft.com/office/drawing/2014/main" id="{1532B8BF-3A02-4459-B07F-7E86BC6CE0C8}"/>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512C497D-F148-4B0F-AD9C-558075603FD0}"/>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7" name="Oval 10">
              <a:extLst>
                <a:ext uri="{FF2B5EF4-FFF2-40B4-BE49-F238E27FC236}">
                  <a16:creationId xmlns:a16="http://schemas.microsoft.com/office/drawing/2014/main" id="{2C5002E0-547B-418D-83D0-FAF47F653E16}"/>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8" name="Oval 11">
              <a:extLst>
                <a:ext uri="{FF2B5EF4-FFF2-40B4-BE49-F238E27FC236}">
                  <a16:creationId xmlns:a16="http://schemas.microsoft.com/office/drawing/2014/main" id="{C94596FB-8EEB-4523-B4FB-B1ABAB4D77AE}"/>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9" name="Oval 12">
              <a:extLst>
                <a:ext uri="{FF2B5EF4-FFF2-40B4-BE49-F238E27FC236}">
                  <a16:creationId xmlns:a16="http://schemas.microsoft.com/office/drawing/2014/main" id="{076E273B-0CED-4EC0-A3FD-0DE557DFBCB3}"/>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0" name="Oval 13">
              <a:extLst>
                <a:ext uri="{FF2B5EF4-FFF2-40B4-BE49-F238E27FC236}">
                  <a16:creationId xmlns:a16="http://schemas.microsoft.com/office/drawing/2014/main" id="{8DC41579-4AE1-4816-A4CA-84FC59CA73B4}"/>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 name="Oval 14">
              <a:extLst>
                <a:ext uri="{FF2B5EF4-FFF2-40B4-BE49-F238E27FC236}">
                  <a16:creationId xmlns:a16="http://schemas.microsoft.com/office/drawing/2014/main" id="{575AEC73-DDBF-4BB6-8B3D-487ACD44DDA3}"/>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2" name="Oval 15">
              <a:extLst>
                <a:ext uri="{FF2B5EF4-FFF2-40B4-BE49-F238E27FC236}">
                  <a16:creationId xmlns:a16="http://schemas.microsoft.com/office/drawing/2014/main" id="{2EDCC216-4EAD-4A24-ACEC-8CBB4B5E397F}"/>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3" name="Oval 16">
              <a:extLst>
                <a:ext uri="{FF2B5EF4-FFF2-40B4-BE49-F238E27FC236}">
                  <a16:creationId xmlns:a16="http://schemas.microsoft.com/office/drawing/2014/main" id="{7FCF2406-3D71-4307-ABE0-9A26054BD7D5}"/>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4" name="Oval 17">
              <a:extLst>
                <a:ext uri="{FF2B5EF4-FFF2-40B4-BE49-F238E27FC236}">
                  <a16:creationId xmlns:a16="http://schemas.microsoft.com/office/drawing/2014/main" id="{74E9975E-843E-476A-A50B-3922616E7BD0}"/>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5" name="Oval 18">
              <a:extLst>
                <a:ext uri="{FF2B5EF4-FFF2-40B4-BE49-F238E27FC236}">
                  <a16:creationId xmlns:a16="http://schemas.microsoft.com/office/drawing/2014/main" id="{70104001-63A9-410A-863E-AC0301A2CA89}"/>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6" name="Oval 19">
              <a:extLst>
                <a:ext uri="{FF2B5EF4-FFF2-40B4-BE49-F238E27FC236}">
                  <a16:creationId xmlns:a16="http://schemas.microsoft.com/office/drawing/2014/main" id="{F61AE4BD-3CB8-4820-9D92-A197054549F5}"/>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7" name="Oval 20">
              <a:extLst>
                <a:ext uri="{FF2B5EF4-FFF2-40B4-BE49-F238E27FC236}">
                  <a16:creationId xmlns:a16="http://schemas.microsoft.com/office/drawing/2014/main" id="{D399EF3F-B68B-4C5C-A80D-7924E86F2913}"/>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8" name="Oval 21">
              <a:extLst>
                <a:ext uri="{FF2B5EF4-FFF2-40B4-BE49-F238E27FC236}">
                  <a16:creationId xmlns:a16="http://schemas.microsoft.com/office/drawing/2014/main" id="{CE25368C-73D2-4372-9063-79367D1ADD15}"/>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9" name="Oval 22">
              <a:extLst>
                <a:ext uri="{FF2B5EF4-FFF2-40B4-BE49-F238E27FC236}">
                  <a16:creationId xmlns:a16="http://schemas.microsoft.com/office/drawing/2014/main" id="{CB54896F-16ED-40A3-A884-9C2DA6696615}"/>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0" name="Oval 23">
              <a:extLst>
                <a:ext uri="{FF2B5EF4-FFF2-40B4-BE49-F238E27FC236}">
                  <a16:creationId xmlns:a16="http://schemas.microsoft.com/office/drawing/2014/main" id="{3164F9D3-AAE0-47E8-91E4-8E89DDD806EE}"/>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1" name="Oval 24">
              <a:extLst>
                <a:ext uri="{FF2B5EF4-FFF2-40B4-BE49-F238E27FC236}">
                  <a16:creationId xmlns:a16="http://schemas.microsoft.com/office/drawing/2014/main" id="{549924F3-B13E-46B6-9364-3D48E7B4345B}"/>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2" name="Oval 25">
              <a:extLst>
                <a:ext uri="{FF2B5EF4-FFF2-40B4-BE49-F238E27FC236}">
                  <a16:creationId xmlns:a16="http://schemas.microsoft.com/office/drawing/2014/main" id="{8601C418-57C5-40B7-99DD-E346EBE72A09}"/>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3" name="Oval 26">
              <a:extLst>
                <a:ext uri="{FF2B5EF4-FFF2-40B4-BE49-F238E27FC236}">
                  <a16:creationId xmlns:a16="http://schemas.microsoft.com/office/drawing/2014/main" id="{5FB15CC6-1B63-4B34-9A8C-AEE8C318FE45}"/>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4" name="Oval 27">
              <a:extLst>
                <a:ext uri="{FF2B5EF4-FFF2-40B4-BE49-F238E27FC236}">
                  <a16:creationId xmlns:a16="http://schemas.microsoft.com/office/drawing/2014/main" id="{8E6EDAE8-2297-4D62-9294-B6E06DF72C59}"/>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5" name="Oval 28">
              <a:extLst>
                <a:ext uri="{FF2B5EF4-FFF2-40B4-BE49-F238E27FC236}">
                  <a16:creationId xmlns:a16="http://schemas.microsoft.com/office/drawing/2014/main" id="{6F642D21-D85D-4B0A-93F5-26DA24FD0AB6}"/>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6" name="Oval 29">
              <a:extLst>
                <a:ext uri="{FF2B5EF4-FFF2-40B4-BE49-F238E27FC236}">
                  <a16:creationId xmlns:a16="http://schemas.microsoft.com/office/drawing/2014/main" id="{B7D6D79F-A6D0-4CA5-9ECB-DAA433718427}"/>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7" name="Oval 30">
              <a:extLst>
                <a:ext uri="{FF2B5EF4-FFF2-40B4-BE49-F238E27FC236}">
                  <a16:creationId xmlns:a16="http://schemas.microsoft.com/office/drawing/2014/main" id="{C1181F01-9722-4A82-8D9B-C4CBB7184F9E}"/>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8" name="Oval 31">
              <a:extLst>
                <a:ext uri="{FF2B5EF4-FFF2-40B4-BE49-F238E27FC236}">
                  <a16:creationId xmlns:a16="http://schemas.microsoft.com/office/drawing/2014/main" id="{087BE7FE-C43E-4C1B-A734-71DF04DBD963}"/>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29" name="Oval 32">
              <a:extLst>
                <a:ext uri="{FF2B5EF4-FFF2-40B4-BE49-F238E27FC236}">
                  <a16:creationId xmlns:a16="http://schemas.microsoft.com/office/drawing/2014/main" id="{630D077D-BB6D-448A-BC26-79375955700B}"/>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30" name="Oval 33">
              <a:extLst>
                <a:ext uri="{FF2B5EF4-FFF2-40B4-BE49-F238E27FC236}">
                  <a16:creationId xmlns:a16="http://schemas.microsoft.com/office/drawing/2014/main" id="{2019A4F7-7BA8-4E2E-99C7-F9EF65B6E3B9}"/>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31" name="Oval 34">
              <a:extLst>
                <a:ext uri="{FF2B5EF4-FFF2-40B4-BE49-F238E27FC236}">
                  <a16:creationId xmlns:a16="http://schemas.microsoft.com/office/drawing/2014/main" id="{D65BEC8B-9044-48D0-B242-54597ED140A1}"/>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32" name="Oval 35">
              <a:extLst>
                <a:ext uri="{FF2B5EF4-FFF2-40B4-BE49-F238E27FC236}">
                  <a16:creationId xmlns:a16="http://schemas.microsoft.com/office/drawing/2014/main" id="{6CA906B5-D325-431C-B477-D94AEABCA2E4}"/>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33" name="Oval 36">
              <a:extLst>
                <a:ext uri="{FF2B5EF4-FFF2-40B4-BE49-F238E27FC236}">
                  <a16:creationId xmlns:a16="http://schemas.microsoft.com/office/drawing/2014/main" id="{0F8371AA-5C79-45DB-98BC-9DB351063D13}"/>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34" name="Oval 37">
              <a:extLst>
                <a:ext uri="{FF2B5EF4-FFF2-40B4-BE49-F238E27FC236}">
                  <a16:creationId xmlns:a16="http://schemas.microsoft.com/office/drawing/2014/main" id="{B184F8D2-798D-493C-9410-54A2E313A6A8}"/>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35" name="Oval 38">
              <a:extLst>
                <a:ext uri="{FF2B5EF4-FFF2-40B4-BE49-F238E27FC236}">
                  <a16:creationId xmlns:a16="http://schemas.microsoft.com/office/drawing/2014/main" id="{7D72159D-0121-4324-8A37-EC172CC08959}"/>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36" name="Oval 39">
              <a:extLst>
                <a:ext uri="{FF2B5EF4-FFF2-40B4-BE49-F238E27FC236}">
                  <a16:creationId xmlns:a16="http://schemas.microsoft.com/office/drawing/2014/main" id="{2D7EFCD2-3F91-440E-BFE0-A148A9664B0B}"/>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grpSp>
      <p:sp>
        <p:nvSpPr>
          <p:cNvPr id="37" name="Line 40">
            <a:extLst>
              <a:ext uri="{FF2B5EF4-FFF2-40B4-BE49-F238E27FC236}">
                <a16:creationId xmlns:a16="http://schemas.microsoft.com/office/drawing/2014/main" id="{5B02ECE5-DBF0-4882-B1D1-3BBAED7976C9}"/>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41">
            <a:extLst>
              <a:ext uri="{FF2B5EF4-FFF2-40B4-BE49-F238E27FC236}">
                <a16:creationId xmlns:a16="http://schemas.microsoft.com/office/drawing/2014/main" id="{B1BD83DF-3A14-4B4A-8302-01CCB21BBC5B}"/>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defRPr/>
            </a:pPr>
            <a:endParaRPr lang="en-US" altLang="en-US" sz="3200" b="1">
              <a:solidFill>
                <a:schemeClr val="tx2"/>
              </a:solidFill>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DC9E41EE-2830-4FA6-BD6E-A484C8473575}"/>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5698F1B2-A1F2-4BAE-A26B-105C434C698A}"/>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3860A1E8-14F7-4833-BC6F-C28DEDF9F236}"/>
              </a:ext>
            </a:extLst>
          </p:cNvPr>
          <p:cNvSpPr>
            <a:spLocks noGrp="1" noChangeArrowheads="1"/>
          </p:cNvSpPr>
          <p:nvPr>
            <p:ph type="sldNum" sz="quarter" idx="12"/>
          </p:nvPr>
        </p:nvSpPr>
        <p:spPr>
          <a:xfrm>
            <a:off x="7315200" y="6248400"/>
            <a:ext cx="1371600" cy="457200"/>
          </a:xfrm>
        </p:spPr>
        <p:txBody>
          <a:bodyPr/>
          <a:lstStyle>
            <a:lvl1pPr>
              <a:defRPr/>
            </a:lvl1pPr>
          </a:lstStyle>
          <a:p>
            <a:fld id="{1960F4D0-24FE-49F4-95A4-2246D65AAF18}" type="slidenum">
              <a:rPr lang="en-US" altLang="en-US"/>
              <a:pPr/>
              <a:t>‹#›</a:t>
            </a:fld>
            <a:endParaRPr lang="en-US" altLang="en-US"/>
          </a:p>
        </p:txBody>
      </p:sp>
    </p:spTree>
    <p:extLst>
      <p:ext uri="{BB962C8B-B14F-4D97-AF65-F5344CB8AC3E}">
        <p14:creationId xmlns:p14="http://schemas.microsoft.com/office/powerpoint/2010/main" val="88427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9F369F1-AA24-4072-A5A7-DF247AEA7A0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A5AE8260-21EB-42F4-A1BD-31D47169F92B}"/>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6BBC7803-C5E5-4903-AF88-3EB3A343011E}"/>
              </a:ext>
            </a:extLst>
          </p:cNvPr>
          <p:cNvSpPr>
            <a:spLocks noGrp="1" noChangeArrowheads="1"/>
          </p:cNvSpPr>
          <p:nvPr>
            <p:ph type="sldNum" sz="quarter" idx="12"/>
          </p:nvPr>
        </p:nvSpPr>
        <p:spPr>
          <a:ln/>
        </p:spPr>
        <p:txBody>
          <a:bodyPr/>
          <a:lstStyle>
            <a:lvl1pPr>
              <a:defRPr/>
            </a:lvl1pPr>
          </a:lstStyle>
          <a:p>
            <a:fld id="{0B9FE49B-0E30-4D83-B2CF-78A19896DCDE}" type="slidenum">
              <a:rPr lang="en-US" altLang="en-US"/>
              <a:pPr/>
              <a:t>‹#›</a:t>
            </a:fld>
            <a:endParaRPr lang="en-US" altLang="en-US"/>
          </a:p>
        </p:txBody>
      </p:sp>
    </p:spTree>
    <p:extLst>
      <p:ext uri="{BB962C8B-B14F-4D97-AF65-F5344CB8AC3E}">
        <p14:creationId xmlns:p14="http://schemas.microsoft.com/office/powerpoint/2010/main" val="402974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89976E87-E848-46A6-AC87-7644826F718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82A7A80D-FA10-4D13-A717-90285F75FEE9}"/>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B96082E4-98A0-4695-9F32-38FF368DB968}"/>
              </a:ext>
            </a:extLst>
          </p:cNvPr>
          <p:cNvSpPr>
            <a:spLocks noGrp="1" noChangeArrowheads="1"/>
          </p:cNvSpPr>
          <p:nvPr>
            <p:ph type="sldNum" sz="quarter" idx="12"/>
          </p:nvPr>
        </p:nvSpPr>
        <p:spPr>
          <a:ln/>
        </p:spPr>
        <p:txBody>
          <a:bodyPr/>
          <a:lstStyle>
            <a:lvl1pPr>
              <a:defRPr/>
            </a:lvl1pPr>
          </a:lstStyle>
          <a:p>
            <a:fld id="{C49A3C73-9CC9-4409-8267-B8A986A6C474}" type="slidenum">
              <a:rPr lang="en-US" altLang="en-US"/>
              <a:pPr/>
              <a:t>‹#›</a:t>
            </a:fld>
            <a:endParaRPr lang="en-US" altLang="en-US"/>
          </a:p>
        </p:txBody>
      </p:sp>
    </p:spTree>
    <p:extLst>
      <p:ext uri="{BB962C8B-B14F-4D97-AF65-F5344CB8AC3E}">
        <p14:creationId xmlns:p14="http://schemas.microsoft.com/office/powerpoint/2010/main" val="3834006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E1017EAF-D649-481F-ADEF-E872B32F143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22A1D9E9-E149-4DD8-926A-46EFB414827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BB254F48-C0EF-4FBB-950D-8B2C0D26C3D0}"/>
              </a:ext>
            </a:extLst>
          </p:cNvPr>
          <p:cNvSpPr>
            <a:spLocks noGrp="1" noChangeArrowheads="1"/>
          </p:cNvSpPr>
          <p:nvPr>
            <p:ph type="sldNum" sz="quarter" idx="12"/>
          </p:nvPr>
        </p:nvSpPr>
        <p:spPr>
          <a:ln/>
        </p:spPr>
        <p:txBody>
          <a:bodyPr/>
          <a:lstStyle>
            <a:lvl1pPr>
              <a:defRPr/>
            </a:lvl1pPr>
          </a:lstStyle>
          <a:p>
            <a:fld id="{124D10C6-97F9-4214-85FA-CD695C1C2496}" type="slidenum">
              <a:rPr lang="en-US" altLang="en-US"/>
              <a:pPr/>
              <a:t>‹#›</a:t>
            </a:fld>
            <a:endParaRPr lang="en-US" altLang="en-US"/>
          </a:p>
        </p:txBody>
      </p:sp>
    </p:spTree>
    <p:extLst>
      <p:ext uri="{BB962C8B-B14F-4D97-AF65-F5344CB8AC3E}">
        <p14:creationId xmlns:p14="http://schemas.microsoft.com/office/powerpoint/2010/main" val="2442090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B57DFECC-2ECB-4876-B6FA-8585C3C7484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A6C0D15E-C322-4266-924D-7EFB42A0E6B2}"/>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1F043BD8-B921-4EFA-B7C7-122A599220E8}"/>
              </a:ext>
            </a:extLst>
          </p:cNvPr>
          <p:cNvSpPr>
            <a:spLocks noGrp="1" noChangeArrowheads="1"/>
          </p:cNvSpPr>
          <p:nvPr>
            <p:ph type="sldNum" sz="quarter" idx="12"/>
          </p:nvPr>
        </p:nvSpPr>
        <p:spPr>
          <a:ln/>
        </p:spPr>
        <p:txBody>
          <a:bodyPr/>
          <a:lstStyle>
            <a:lvl1pPr>
              <a:defRPr/>
            </a:lvl1pPr>
          </a:lstStyle>
          <a:p>
            <a:fld id="{566DB869-58A3-44C8-B706-6AA81B61C81E}" type="slidenum">
              <a:rPr lang="en-US" altLang="en-US"/>
              <a:pPr/>
              <a:t>‹#›</a:t>
            </a:fld>
            <a:endParaRPr lang="en-US" altLang="en-US"/>
          </a:p>
        </p:txBody>
      </p:sp>
    </p:spTree>
    <p:extLst>
      <p:ext uri="{BB962C8B-B14F-4D97-AF65-F5344CB8AC3E}">
        <p14:creationId xmlns:p14="http://schemas.microsoft.com/office/powerpoint/2010/main" val="3139786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14ADF8C5-483B-4614-83B4-F9BB7E577E5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0549E20-26F1-42F0-9141-6967DB3A5544}"/>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851EEE57-E35B-433E-9F1B-CC9554F823EC}"/>
              </a:ext>
            </a:extLst>
          </p:cNvPr>
          <p:cNvSpPr>
            <a:spLocks noGrp="1" noChangeArrowheads="1"/>
          </p:cNvSpPr>
          <p:nvPr>
            <p:ph type="sldNum" sz="quarter" idx="12"/>
          </p:nvPr>
        </p:nvSpPr>
        <p:spPr>
          <a:ln/>
        </p:spPr>
        <p:txBody>
          <a:bodyPr/>
          <a:lstStyle>
            <a:lvl1pPr>
              <a:defRPr/>
            </a:lvl1pPr>
          </a:lstStyle>
          <a:p>
            <a:fld id="{35C87A2C-6E93-44F4-8BD5-E959C30F91AB}" type="slidenum">
              <a:rPr lang="en-US" altLang="en-US"/>
              <a:pPr/>
              <a:t>‹#›</a:t>
            </a:fld>
            <a:endParaRPr lang="en-US" altLang="en-US"/>
          </a:p>
        </p:txBody>
      </p:sp>
    </p:spTree>
    <p:extLst>
      <p:ext uri="{BB962C8B-B14F-4D97-AF65-F5344CB8AC3E}">
        <p14:creationId xmlns:p14="http://schemas.microsoft.com/office/powerpoint/2010/main" val="3470516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826F4B1-23C6-4B97-BE89-D9B3355124C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4457CF22-E2E9-4789-BE32-8BA08C6C0D6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F0547891-768C-47AC-9ACC-7AE19B29DAED}"/>
              </a:ext>
            </a:extLst>
          </p:cNvPr>
          <p:cNvSpPr>
            <a:spLocks noGrp="1" noChangeArrowheads="1"/>
          </p:cNvSpPr>
          <p:nvPr>
            <p:ph type="sldNum" sz="quarter" idx="12"/>
          </p:nvPr>
        </p:nvSpPr>
        <p:spPr>
          <a:ln/>
        </p:spPr>
        <p:txBody>
          <a:bodyPr/>
          <a:lstStyle>
            <a:lvl1pPr>
              <a:defRPr/>
            </a:lvl1pPr>
          </a:lstStyle>
          <a:p>
            <a:fld id="{9102D9A0-F85B-4BDE-91D6-5E64CED659D8}" type="slidenum">
              <a:rPr lang="en-US" altLang="en-US"/>
              <a:pPr/>
              <a:t>‹#›</a:t>
            </a:fld>
            <a:endParaRPr lang="en-US" altLang="en-US"/>
          </a:p>
        </p:txBody>
      </p:sp>
    </p:spTree>
    <p:extLst>
      <p:ext uri="{BB962C8B-B14F-4D97-AF65-F5344CB8AC3E}">
        <p14:creationId xmlns:p14="http://schemas.microsoft.com/office/powerpoint/2010/main" val="971671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53AD43CA-8579-4A2C-886B-0716736D9D7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0FE4064-1205-4580-8A46-F23A20F2578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7C4816A9-77D9-47C2-B101-5A03E57A4C12}"/>
              </a:ext>
            </a:extLst>
          </p:cNvPr>
          <p:cNvSpPr>
            <a:spLocks noGrp="1" noChangeArrowheads="1"/>
          </p:cNvSpPr>
          <p:nvPr>
            <p:ph type="sldNum" sz="quarter" idx="12"/>
          </p:nvPr>
        </p:nvSpPr>
        <p:spPr>
          <a:ln/>
        </p:spPr>
        <p:txBody>
          <a:bodyPr/>
          <a:lstStyle>
            <a:lvl1pPr>
              <a:defRPr/>
            </a:lvl1pPr>
          </a:lstStyle>
          <a:p>
            <a:fld id="{6902701F-FA06-4A3A-BE7A-36A4C440B7A1}" type="slidenum">
              <a:rPr lang="en-US" altLang="en-US"/>
              <a:pPr/>
              <a:t>‹#›</a:t>
            </a:fld>
            <a:endParaRPr lang="en-US" altLang="en-US"/>
          </a:p>
        </p:txBody>
      </p:sp>
    </p:spTree>
    <p:extLst>
      <p:ext uri="{BB962C8B-B14F-4D97-AF65-F5344CB8AC3E}">
        <p14:creationId xmlns:p14="http://schemas.microsoft.com/office/powerpoint/2010/main" val="180991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1DA3B0DE-4174-4BDF-B563-2D54FED75D1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1A6100E-CE96-4C68-B7B7-9CEFDD6C9403}"/>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E747BB29-84BC-475E-95F6-61F96C36F5A6}"/>
              </a:ext>
            </a:extLst>
          </p:cNvPr>
          <p:cNvSpPr>
            <a:spLocks noGrp="1" noChangeArrowheads="1"/>
          </p:cNvSpPr>
          <p:nvPr>
            <p:ph type="sldNum" sz="quarter" idx="12"/>
          </p:nvPr>
        </p:nvSpPr>
        <p:spPr>
          <a:ln/>
        </p:spPr>
        <p:txBody>
          <a:bodyPr/>
          <a:lstStyle>
            <a:lvl1pPr>
              <a:defRPr/>
            </a:lvl1pPr>
          </a:lstStyle>
          <a:p>
            <a:fld id="{54213E20-B4EB-4315-9BD2-FA5CAC536220}" type="slidenum">
              <a:rPr lang="en-US" altLang="en-US"/>
              <a:pPr/>
              <a:t>‹#›</a:t>
            </a:fld>
            <a:endParaRPr lang="en-US" altLang="en-US"/>
          </a:p>
        </p:txBody>
      </p:sp>
    </p:spTree>
    <p:extLst>
      <p:ext uri="{BB962C8B-B14F-4D97-AF65-F5344CB8AC3E}">
        <p14:creationId xmlns:p14="http://schemas.microsoft.com/office/powerpoint/2010/main" val="950794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2EE5EB6-E45E-4AFF-AFD3-BE4683C2B83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3670B77A-14D8-4659-AEB4-D68AE80F23A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47E901CE-00BE-4A43-BA17-D854FF09D352}"/>
              </a:ext>
            </a:extLst>
          </p:cNvPr>
          <p:cNvSpPr>
            <a:spLocks noGrp="1" noChangeArrowheads="1"/>
          </p:cNvSpPr>
          <p:nvPr>
            <p:ph type="sldNum" sz="quarter" idx="12"/>
          </p:nvPr>
        </p:nvSpPr>
        <p:spPr>
          <a:ln/>
        </p:spPr>
        <p:txBody>
          <a:bodyPr/>
          <a:lstStyle>
            <a:lvl1pPr>
              <a:defRPr/>
            </a:lvl1pPr>
          </a:lstStyle>
          <a:p>
            <a:fld id="{DB2574B8-88BA-4E3A-8C06-66B4A18267A4}" type="slidenum">
              <a:rPr lang="en-US" altLang="en-US"/>
              <a:pPr/>
              <a:t>‹#›</a:t>
            </a:fld>
            <a:endParaRPr lang="en-US" altLang="en-US"/>
          </a:p>
        </p:txBody>
      </p:sp>
    </p:spTree>
    <p:extLst>
      <p:ext uri="{BB962C8B-B14F-4D97-AF65-F5344CB8AC3E}">
        <p14:creationId xmlns:p14="http://schemas.microsoft.com/office/powerpoint/2010/main" val="1830928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1C4B72FD-05E7-4981-8D89-40640D1113D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F5DFCED-2869-4BD8-A0DF-B275B87B812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7E342ED-9E66-4CBE-AB6C-6F859C275D23}"/>
              </a:ext>
            </a:extLst>
          </p:cNvPr>
          <p:cNvSpPr>
            <a:spLocks noGrp="1" noChangeArrowheads="1"/>
          </p:cNvSpPr>
          <p:nvPr>
            <p:ph type="sldNum" sz="quarter" idx="12"/>
          </p:nvPr>
        </p:nvSpPr>
        <p:spPr>
          <a:ln/>
        </p:spPr>
        <p:txBody>
          <a:bodyPr/>
          <a:lstStyle>
            <a:lvl1pPr>
              <a:defRPr/>
            </a:lvl1pPr>
          </a:lstStyle>
          <a:p>
            <a:fld id="{333AEC82-8E2C-44AE-8FF2-68FE278ABC55}" type="slidenum">
              <a:rPr lang="en-US" altLang="en-US"/>
              <a:pPr/>
              <a:t>‹#›</a:t>
            </a:fld>
            <a:endParaRPr lang="en-US" altLang="en-US"/>
          </a:p>
        </p:txBody>
      </p:sp>
    </p:spTree>
    <p:extLst>
      <p:ext uri="{BB962C8B-B14F-4D97-AF65-F5344CB8AC3E}">
        <p14:creationId xmlns:p14="http://schemas.microsoft.com/office/powerpoint/2010/main" val="41192011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5">
            <a:extLst>
              <a:ext uri="{FF2B5EF4-FFF2-40B4-BE49-F238E27FC236}">
                <a16:creationId xmlns:a16="http://schemas.microsoft.com/office/drawing/2014/main" id="{190A5707-F269-491C-AAC9-0F4060E7BA7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0F2A6F16-9417-4687-AEC3-0D808D92BD6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BD232050-B7E4-4F9F-920B-C58A20CE78C0}"/>
              </a:ext>
            </a:extLst>
          </p:cNvPr>
          <p:cNvSpPr>
            <a:spLocks noGrp="1" noChangeArrowheads="1"/>
          </p:cNvSpPr>
          <p:nvPr>
            <p:ph type="sldNum" sz="quarter" idx="12"/>
          </p:nvPr>
        </p:nvSpPr>
        <p:spPr>
          <a:ln/>
        </p:spPr>
        <p:txBody>
          <a:bodyPr/>
          <a:lstStyle>
            <a:lvl1pPr>
              <a:defRPr/>
            </a:lvl1pPr>
          </a:lstStyle>
          <a:p>
            <a:fld id="{8BBE8B63-A87B-490E-9D3E-548FCBF60C84}" type="slidenum">
              <a:rPr lang="en-US" altLang="en-US"/>
              <a:pPr/>
              <a:t>‹#›</a:t>
            </a:fld>
            <a:endParaRPr lang="en-US" altLang="en-US"/>
          </a:p>
        </p:txBody>
      </p:sp>
    </p:spTree>
    <p:extLst>
      <p:ext uri="{BB962C8B-B14F-4D97-AF65-F5344CB8AC3E}">
        <p14:creationId xmlns:p14="http://schemas.microsoft.com/office/powerpoint/2010/main" val="2700974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cxnSp>
        <p:nvCxnSpPr>
          <p:cNvPr id="2" name="直接连接符 6">
            <a:extLst>
              <a:ext uri="{FF2B5EF4-FFF2-40B4-BE49-F238E27FC236}">
                <a16:creationId xmlns:a16="http://schemas.microsoft.com/office/drawing/2014/main" id="{0BF3B162-8B2A-4792-A28F-5D8A3AC652E6}"/>
              </a:ext>
            </a:extLst>
          </p:cNvPr>
          <p:cNvCxnSpPr>
            <a:cxnSpLocks noChangeShapeType="1"/>
          </p:cNvCxnSpPr>
          <p:nvPr userDrawn="1"/>
        </p:nvCxnSpPr>
        <p:spPr bwMode="auto">
          <a:xfrm>
            <a:off x="790678" y="285750"/>
            <a:ext cx="0" cy="406400"/>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cxnSp>
      <p:sp>
        <p:nvSpPr>
          <p:cNvPr id="4" name="椭圆 3">
            <a:extLst>
              <a:ext uri="{FF2B5EF4-FFF2-40B4-BE49-F238E27FC236}">
                <a16:creationId xmlns:a16="http://schemas.microsoft.com/office/drawing/2014/main" id="{086E5DE6-70D7-4349-8102-A1D9557F5AA8}"/>
              </a:ext>
            </a:extLst>
          </p:cNvPr>
          <p:cNvSpPr>
            <a:spLocks noChangeArrowheads="1"/>
          </p:cNvSpPr>
          <p:nvPr/>
        </p:nvSpPr>
        <p:spPr bwMode="auto">
          <a:xfrm>
            <a:off x="7105879" y="512764"/>
            <a:ext cx="789537" cy="792163"/>
          </a:xfrm>
          <a:prstGeom prst="ellipse">
            <a:avLst/>
          </a:prstGeom>
          <a:solidFill>
            <a:schemeClr val="bg1"/>
          </a:solidFill>
          <a:ln w="57150" algn="ctr">
            <a:solidFill>
              <a:srgbClr val="014C8F"/>
            </a:solidFill>
            <a:round/>
          </a:ln>
          <a:effectLst>
            <a:outerShdw blurRad="40000" dist="20000" dir="5400000" rotWithShape="0">
              <a:srgbClr val="000000">
                <a:alpha val="37999"/>
              </a:srgbClr>
            </a:outerShdw>
          </a:effectLst>
        </p:spPr>
        <p:txBody>
          <a:bodyPr lIns="5401" tIns="5401" rIns="5401" bIns="5401" anchor="ctr"/>
          <a:lstStyle/>
          <a:p>
            <a:pPr algn="ctr"/>
            <a:fld id="{FC574DC5-DBFA-4593-BDAE-DE849644AEF0}" type="slidenum">
              <a:rPr lang="zh-CN" altLang="en-US" sz="2400" b="1">
                <a:latin typeface="Tahoma" panose="020B0604030504040204" pitchFamily="34" charset="0"/>
                <a:ea typeface="Arial Unicode MS" pitchFamily="34" charset="-122"/>
              </a:rPr>
              <a:pPr algn="ctr"/>
              <a:t>‹#›</a:t>
            </a:fld>
            <a:endParaRPr lang="zh-CN" altLang="en-US" sz="2400" b="1" dirty="0">
              <a:latin typeface="Tahoma" panose="020B0604030504040204" pitchFamily="34" charset="0"/>
              <a:ea typeface="Arial Unicode MS" pitchFamily="34" charset="-122"/>
            </a:endParaRPr>
          </a:p>
        </p:txBody>
      </p:sp>
      <p:cxnSp>
        <p:nvCxnSpPr>
          <p:cNvPr id="7" name="直接连接符 11">
            <a:extLst>
              <a:ext uri="{FF2B5EF4-FFF2-40B4-BE49-F238E27FC236}">
                <a16:creationId xmlns:a16="http://schemas.microsoft.com/office/drawing/2014/main" id="{7F227994-155F-4E30-8E2E-9F2DCA0F9AD8}"/>
              </a:ext>
            </a:extLst>
          </p:cNvPr>
          <p:cNvCxnSpPr>
            <a:cxnSpLocks noChangeShapeType="1"/>
          </p:cNvCxnSpPr>
          <p:nvPr userDrawn="1"/>
        </p:nvCxnSpPr>
        <p:spPr bwMode="auto">
          <a:xfrm flipH="1" flipV="1">
            <a:off x="466786" y="981075"/>
            <a:ext cx="6427830" cy="0"/>
          </a:xfrm>
          <a:prstGeom prst="line">
            <a:avLst/>
          </a:prstGeom>
          <a:noFill/>
          <a:ln w="25400">
            <a:solidFill>
              <a:srgbClr val="014C8F"/>
            </a:solidFill>
            <a:prstDash val="dash"/>
            <a:round/>
            <a:headEnd/>
            <a:tailEnd type="oval" w="med" len="med"/>
          </a:ln>
          <a:extLst>
            <a:ext uri="{909E8E84-426E-40DD-AFC4-6F175D3DCCD1}">
              <a14:hiddenFill xmlns:a14="http://schemas.microsoft.com/office/drawing/2010/main">
                <a:noFill/>
              </a14:hiddenFill>
            </a:ext>
          </a:extLst>
        </p:spPr>
      </p:cxnSp>
      <p:sp>
        <p:nvSpPr>
          <p:cNvPr id="9" name="TextBox 15">
            <a:extLst>
              <a:ext uri="{FF2B5EF4-FFF2-40B4-BE49-F238E27FC236}">
                <a16:creationId xmlns:a16="http://schemas.microsoft.com/office/drawing/2014/main" id="{1032044D-EC80-4BCC-861E-5E695ED60589}"/>
              </a:ext>
            </a:extLst>
          </p:cNvPr>
          <p:cNvSpPr txBox="1">
            <a:spLocks noChangeArrowheads="1"/>
          </p:cNvSpPr>
          <p:nvPr/>
        </p:nvSpPr>
        <p:spPr bwMode="auto">
          <a:xfrm rot="2698316">
            <a:off x="-43332" y="6343264"/>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buFontTx/>
              <a:buNone/>
              <a:defRPr/>
            </a:pPr>
            <a:r>
              <a:rPr lang="zh-CN" altLang="en-US" sz="1200">
                <a:solidFill>
                  <a:srgbClr val="FFFFFF"/>
                </a:solidFill>
                <a:latin typeface="微软雅黑" pitchFamily="34" charset="-122"/>
                <a:ea typeface="微软雅黑" pitchFamily="34" charset="-122"/>
              </a:rPr>
              <a:t>目录页</a:t>
            </a:r>
          </a:p>
        </p:txBody>
      </p:sp>
      <p:sp>
        <p:nvSpPr>
          <p:cNvPr id="11" name="日期占位符 1">
            <a:extLst>
              <a:ext uri="{FF2B5EF4-FFF2-40B4-BE49-F238E27FC236}">
                <a16:creationId xmlns:a16="http://schemas.microsoft.com/office/drawing/2014/main" id="{50A0D53B-C151-4501-A8C9-69E759C3BDDB}"/>
              </a:ext>
            </a:extLst>
          </p:cNvPr>
          <p:cNvSpPr>
            <a:spLocks noGrp="1"/>
          </p:cNvSpPr>
          <p:nvPr>
            <p:ph type="dt" sz="half" idx="10"/>
          </p:nvPr>
        </p:nvSpPr>
        <p:spPr/>
        <p:txBody>
          <a:bodyPr/>
          <a:lstStyle>
            <a:lvl1pPr>
              <a:defRPr/>
            </a:lvl1pPr>
          </a:lstStyle>
          <a:p>
            <a:pPr>
              <a:defRPr/>
            </a:pPr>
            <a:endParaRPr lang="zh-CN" altLang="en-US"/>
          </a:p>
        </p:txBody>
      </p:sp>
      <p:sp>
        <p:nvSpPr>
          <p:cNvPr id="12" name="页脚占位符 2">
            <a:extLst>
              <a:ext uri="{FF2B5EF4-FFF2-40B4-BE49-F238E27FC236}">
                <a16:creationId xmlns:a16="http://schemas.microsoft.com/office/drawing/2014/main" id="{BC12ED9B-A7BC-4B1B-B32B-A489B669C200}"/>
              </a:ext>
            </a:extLst>
          </p:cNvPr>
          <p:cNvSpPr>
            <a:spLocks noGrp="1"/>
          </p:cNvSpPr>
          <p:nvPr>
            <p:ph type="ftr" sz="quarter" idx="11"/>
          </p:nvPr>
        </p:nvSpPr>
        <p:spPr/>
        <p:txBody>
          <a:bodyPr/>
          <a:lstStyle>
            <a:lvl1pPr>
              <a:defRPr/>
            </a:lvl1pPr>
          </a:lstStyle>
          <a:p>
            <a:pPr>
              <a:defRPr/>
            </a:pPr>
            <a:endParaRPr lang="zh-CN" altLang="en-US"/>
          </a:p>
        </p:txBody>
      </p:sp>
      <p:sp>
        <p:nvSpPr>
          <p:cNvPr id="13" name="灯片编号占位符 3">
            <a:extLst>
              <a:ext uri="{FF2B5EF4-FFF2-40B4-BE49-F238E27FC236}">
                <a16:creationId xmlns:a16="http://schemas.microsoft.com/office/drawing/2014/main" id="{38277365-C6E2-4EB7-842B-CB1CCB011085}"/>
              </a:ext>
            </a:extLst>
          </p:cNvPr>
          <p:cNvSpPr>
            <a:spLocks noGrp="1"/>
          </p:cNvSpPr>
          <p:nvPr>
            <p:ph type="sldNum" sz="quarter" idx="12"/>
          </p:nvPr>
        </p:nvSpPr>
        <p:spPr/>
        <p:txBody>
          <a:bodyPr/>
          <a:lstStyle>
            <a:lvl1pPr>
              <a:defRPr/>
            </a:lvl1pPr>
          </a:lstStyle>
          <a:p>
            <a:fld id="{73403612-6C36-4613-9B91-854212E45B4D}" type="slidenum">
              <a:rPr lang="zh-CN" altLang="en-US"/>
              <a:pPr/>
              <a:t>‹#›</a:t>
            </a:fld>
            <a:endParaRPr lang="zh-CN" altLang="en-US"/>
          </a:p>
        </p:txBody>
      </p:sp>
      <p:pic>
        <p:nvPicPr>
          <p:cNvPr id="35844" name="Picture 4">
            <a:extLst>
              <a:ext uri="{FF2B5EF4-FFF2-40B4-BE49-F238E27FC236}">
                <a16:creationId xmlns:a16="http://schemas.microsoft.com/office/drawing/2014/main" id="{EF76A3CB-51C0-4E5C-94B9-9912B2471DBA}"/>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1568" t="32222" r="11516" b="32222"/>
          <a:stretch/>
        </p:blipFill>
        <p:spPr bwMode="auto">
          <a:xfrm>
            <a:off x="184646" y="152401"/>
            <a:ext cx="720727" cy="720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902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矩形 6">
            <a:extLst>
              <a:ext uri="{FF2B5EF4-FFF2-40B4-BE49-F238E27FC236}">
                <a16:creationId xmlns:a16="http://schemas.microsoft.com/office/drawing/2014/main" id="{CC0260E7-73CA-4BA3-A4CF-03E105C96B18}"/>
              </a:ext>
            </a:extLst>
          </p:cNvPr>
          <p:cNvSpPr>
            <a:spLocks noChangeArrowheads="1"/>
          </p:cNvSpPr>
          <p:nvPr userDrawn="1"/>
        </p:nvSpPr>
        <p:spPr bwMode="auto">
          <a:xfrm>
            <a:off x="1925491" y="260351"/>
            <a:ext cx="4863146" cy="576263"/>
          </a:xfrm>
          <a:prstGeom prst="rect">
            <a:avLst/>
          </a:prstGeom>
          <a:solidFill>
            <a:schemeClr val="bg1"/>
          </a:solidFill>
          <a:ln w="12700">
            <a:solidFill>
              <a:srgbClr val="3366FF"/>
            </a:solidFill>
            <a:prstDash val="dash"/>
            <a:miter lim="800000"/>
            <a:headEnd/>
            <a:tailEnd type="triangle" w="med" len="lg"/>
          </a:ln>
        </p:spPr>
        <p:txBody>
          <a:bodyPr anchor="ctr"/>
          <a:lstStyle/>
          <a:p>
            <a:pPr algn="ctr"/>
            <a:endParaRPr lang="en-US" altLang="zh-CN" sz="1500">
              <a:solidFill>
                <a:srgbClr val="F05425"/>
              </a:solidFill>
            </a:endParaRPr>
          </a:p>
        </p:txBody>
      </p:sp>
      <p:cxnSp>
        <p:nvCxnSpPr>
          <p:cNvPr id="3" name="直接连接符 7">
            <a:extLst>
              <a:ext uri="{FF2B5EF4-FFF2-40B4-BE49-F238E27FC236}">
                <a16:creationId xmlns:a16="http://schemas.microsoft.com/office/drawing/2014/main" id="{31CF90E1-38DB-46A5-8A86-497A8DB3BB6D}"/>
              </a:ext>
            </a:extLst>
          </p:cNvPr>
          <p:cNvCxnSpPr>
            <a:cxnSpLocks noChangeShapeType="1"/>
          </p:cNvCxnSpPr>
          <p:nvPr userDrawn="1"/>
        </p:nvCxnSpPr>
        <p:spPr bwMode="auto">
          <a:xfrm>
            <a:off x="521562" y="1628776"/>
            <a:ext cx="0" cy="4608513"/>
          </a:xfrm>
          <a:prstGeom prst="line">
            <a:avLst/>
          </a:prstGeom>
          <a:noFill/>
          <a:ln w="9525">
            <a:solidFill>
              <a:srgbClr val="000000"/>
            </a:solidFill>
            <a:prstDash val="dash"/>
            <a:round/>
            <a:headEnd/>
            <a:tailEnd type="oval" w="med" len="med"/>
          </a:ln>
          <a:extLst>
            <a:ext uri="{909E8E84-426E-40DD-AFC4-6F175D3DCCD1}">
              <a14:hiddenFill xmlns:a14="http://schemas.microsoft.com/office/drawing/2010/main">
                <a:noFill/>
              </a14:hiddenFill>
            </a:ext>
          </a:extLst>
        </p:spPr>
      </p:cxnSp>
      <p:cxnSp>
        <p:nvCxnSpPr>
          <p:cNvPr id="4" name="直接连接符 8">
            <a:extLst>
              <a:ext uri="{FF2B5EF4-FFF2-40B4-BE49-F238E27FC236}">
                <a16:creationId xmlns:a16="http://schemas.microsoft.com/office/drawing/2014/main" id="{128C8244-1B81-4B46-85E4-7AE4382BF101}"/>
              </a:ext>
            </a:extLst>
          </p:cNvPr>
          <p:cNvCxnSpPr>
            <a:cxnSpLocks noChangeShapeType="1"/>
          </p:cNvCxnSpPr>
          <p:nvPr userDrawn="1"/>
        </p:nvCxnSpPr>
        <p:spPr bwMode="auto">
          <a:xfrm>
            <a:off x="790678" y="285750"/>
            <a:ext cx="0" cy="406400"/>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cxnSp>
      <p:sp>
        <p:nvSpPr>
          <p:cNvPr id="5" name="燕尾形 9">
            <a:extLst>
              <a:ext uri="{FF2B5EF4-FFF2-40B4-BE49-F238E27FC236}">
                <a16:creationId xmlns:a16="http://schemas.microsoft.com/office/drawing/2014/main" id="{85405C22-8F7B-46C9-94AB-790D08A5F356}"/>
              </a:ext>
            </a:extLst>
          </p:cNvPr>
          <p:cNvSpPr>
            <a:spLocks noChangeArrowheads="1"/>
          </p:cNvSpPr>
          <p:nvPr/>
        </p:nvSpPr>
        <p:spPr bwMode="auto">
          <a:xfrm>
            <a:off x="8029430" y="695325"/>
            <a:ext cx="513226" cy="69850"/>
          </a:xfrm>
          <a:prstGeom prst="chevron">
            <a:avLst>
              <a:gd name="adj" fmla="val 48977"/>
            </a:avLst>
          </a:prstGeom>
          <a:solidFill>
            <a:srgbClr val="3366FF"/>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type="triangle" w="med" len="lg"/>
              </a14:hiddenLine>
            </a:ext>
          </a:extLst>
        </p:spPr>
        <p:txBody>
          <a:bodyPr anchor="ctr"/>
          <a:lstStyle/>
          <a:p>
            <a:pPr algn="ctr" fontAlgn="auto">
              <a:spcBef>
                <a:spcPts val="0"/>
              </a:spcBef>
              <a:spcAft>
                <a:spcPts val="0"/>
              </a:spcAft>
              <a:buFontTx/>
              <a:buNone/>
              <a:defRPr/>
            </a:pPr>
            <a:endParaRPr lang="en-US">
              <a:solidFill>
                <a:srgbClr val="F05425"/>
              </a:solidFill>
              <a:latin typeface="+mn-lt"/>
              <a:ea typeface="+mn-ea"/>
            </a:endParaRPr>
          </a:p>
        </p:txBody>
      </p:sp>
      <p:sp>
        <p:nvSpPr>
          <p:cNvPr id="6" name="椭圆 5">
            <a:extLst>
              <a:ext uri="{FF2B5EF4-FFF2-40B4-BE49-F238E27FC236}">
                <a16:creationId xmlns:a16="http://schemas.microsoft.com/office/drawing/2014/main" id="{9B332B6E-07E8-440E-A158-56EC43BA849B}"/>
              </a:ext>
            </a:extLst>
          </p:cNvPr>
          <p:cNvSpPr>
            <a:spLocks noChangeArrowheads="1"/>
          </p:cNvSpPr>
          <p:nvPr/>
        </p:nvSpPr>
        <p:spPr bwMode="auto">
          <a:xfrm>
            <a:off x="8458111" y="441325"/>
            <a:ext cx="434634" cy="577850"/>
          </a:xfrm>
          <a:prstGeom prst="ellipse">
            <a:avLst/>
          </a:prstGeom>
          <a:solidFill>
            <a:schemeClr val="bg1"/>
          </a:solidFill>
          <a:ln w="57150" algn="ctr">
            <a:solidFill>
              <a:srgbClr val="3366FF"/>
            </a:solidFill>
            <a:round/>
          </a:ln>
          <a:effectLst>
            <a:outerShdw blurRad="40000" dist="20000" dir="5400000" rotWithShape="0">
              <a:srgbClr val="000000">
                <a:alpha val="37999"/>
              </a:srgbClr>
            </a:outerShdw>
          </a:effectLst>
        </p:spPr>
        <p:txBody>
          <a:bodyPr lIns="5401" tIns="5401" rIns="5401" bIns="5401" anchor="ctr"/>
          <a:lstStyle/>
          <a:p>
            <a:pPr algn="ctr"/>
            <a:fld id="{6249DDF1-3D15-457E-9F81-E95553B3980B}" type="slidenum">
              <a:rPr lang="zh-CN" altLang="en-US" b="1">
                <a:solidFill>
                  <a:srgbClr val="F05425"/>
                </a:solidFill>
                <a:latin typeface="Tahoma" panose="020B0604030504040204" pitchFamily="34" charset="0"/>
                <a:ea typeface="Arial Unicode MS" pitchFamily="34" charset="-122"/>
              </a:rPr>
              <a:pPr algn="ctr"/>
              <a:t>‹#›</a:t>
            </a:fld>
            <a:endParaRPr lang="zh-CN" altLang="en-US" b="1">
              <a:solidFill>
                <a:srgbClr val="F05425"/>
              </a:solidFill>
              <a:latin typeface="Tahoma" panose="020B0604030504040204" pitchFamily="34" charset="0"/>
              <a:ea typeface="Arial Unicode MS" pitchFamily="34" charset="-122"/>
            </a:endParaRPr>
          </a:p>
        </p:txBody>
      </p:sp>
      <p:sp>
        <p:nvSpPr>
          <p:cNvPr id="7" name="椭圆 6">
            <a:extLst>
              <a:ext uri="{FF2B5EF4-FFF2-40B4-BE49-F238E27FC236}">
                <a16:creationId xmlns:a16="http://schemas.microsoft.com/office/drawing/2014/main" id="{0758A0A0-7D53-40A8-9891-916F7E98B9C1}"/>
              </a:ext>
            </a:extLst>
          </p:cNvPr>
          <p:cNvSpPr>
            <a:spLocks noChangeArrowheads="1"/>
          </p:cNvSpPr>
          <p:nvPr/>
        </p:nvSpPr>
        <p:spPr bwMode="auto">
          <a:xfrm>
            <a:off x="7759123" y="539750"/>
            <a:ext cx="273879" cy="368300"/>
          </a:xfrm>
          <a:prstGeom prst="ellipse">
            <a:avLst/>
          </a:prstGeom>
          <a:solidFill>
            <a:schemeClr val="bg1"/>
          </a:solidFill>
          <a:ln w="57150" algn="ctr">
            <a:solidFill>
              <a:srgbClr val="3366FF"/>
            </a:solidFill>
            <a:round/>
          </a:ln>
          <a:effectLst>
            <a:outerShdw blurRad="40000" dist="20000" dir="5400000" rotWithShape="0">
              <a:srgbClr val="000000">
                <a:alpha val="37999"/>
              </a:srgbClr>
            </a:outerShdw>
          </a:effectLst>
        </p:spPr>
        <p:txBody>
          <a:bodyPr lIns="5401" tIns="5401" rIns="5401" bIns="5401" anchor="ctr"/>
          <a:lstStyle/>
          <a:p>
            <a:pPr algn="ctr" fontAlgn="auto">
              <a:spcBef>
                <a:spcPts val="0"/>
              </a:spcBef>
              <a:spcAft>
                <a:spcPts val="0"/>
              </a:spcAft>
              <a:buFontTx/>
              <a:buNone/>
              <a:defRPr/>
            </a:pPr>
            <a:endParaRPr lang="zh-CN" altLang="en-US" sz="2100" b="1" dirty="0">
              <a:solidFill>
                <a:srgbClr val="F05425"/>
              </a:solidFill>
              <a:effectLst>
                <a:outerShdw blurRad="38100" dist="38100" dir="2700000" algn="tl">
                  <a:srgbClr val="000000">
                    <a:alpha val="43137"/>
                  </a:srgbClr>
                </a:outerShdw>
              </a:effectLst>
              <a:latin typeface="Broadway" pitchFamily="82" charset="0"/>
              <a:ea typeface="微软雅黑" pitchFamily="34" charset="-122"/>
              <a:cs typeface="Tahoma" pitchFamily="34" charset="0"/>
            </a:endParaRPr>
          </a:p>
        </p:txBody>
      </p:sp>
      <p:cxnSp>
        <p:nvCxnSpPr>
          <p:cNvPr id="8" name="直接连接符 12">
            <a:extLst>
              <a:ext uri="{FF2B5EF4-FFF2-40B4-BE49-F238E27FC236}">
                <a16:creationId xmlns:a16="http://schemas.microsoft.com/office/drawing/2014/main" id="{5BA0B4DA-182B-4B30-99DE-CDC40CD9B757}"/>
              </a:ext>
            </a:extLst>
          </p:cNvPr>
          <p:cNvCxnSpPr>
            <a:cxnSpLocks noChangeShapeType="1"/>
          </p:cNvCxnSpPr>
          <p:nvPr userDrawn="1"/>
        </p:nvCxnSpPr>
        <p:spPr bwMode="auto">
          <a:xfrm flipH="1" flipV="1">
            <a:off x="466786" y="981075"/>
            <a:ext cx="7237561" cy="0"/>
          </a:xfrm>
          <a:prstGeom prst="line">
            <a:avLst/>
          </a:prstGeom>
          <a:noFill/>
          <a:ln w="25400">
            <a:solidFill>
              <a:srgbClr val="3366FF"/>
            </a:solidFill>
            <a:prstDash val="dash"/>
            <a:round/>
            <a:headEnd/>
            <a:tailEnd type="oval" w="med" len="med"/>
          </a:ln>
          <a:extLst>
            <a:ext uri="{909E8E84-426E-40DD-AFC4-6F175D3DCCD1}">
              <a14:hiddenFill xmlns:a14="http://schemas.microsoft.com/office/drawing/2010/main">
                <a:noFill/>
              </a14:hiddenFill>
            </a:ext>
          </a:extLst>
        </p:spPr>
      </p:cxnSp>
      <p:pic>
        <p:nvPicPr>
          <p:cNvPr id="9" name="Picture 25" descr="社标">
            <a:extLst>
              <a:ext uri="{FF2B5EF4-FFF2-40B4-BE49-F238E27FC236}">
                <a16:creationId xmlns:a16="http://schemas.microsoft.com/office/drawing/2014/main" id="{B5581962-3B53-4914-B879-B42A55E6643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309" y="141288"/>
            <a:ext cx="576338"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斜纹 14">
            <a:hlinkClick r:id="rId3" action="ppaction://hlinkpres?slideindex=1&amp;slidetitle=2. 幻灯片 2"/>
            <a:extLst>
              <a:ext uri="{FF2B5EF4-FFF2-40B4-BE49-F238E27FC236}">
                <a16:creationId xmlns:a16="http://schemas.microsoft.com/office/drawing/2014/main" id="{96BD8F71-AC20-4E29-9D66-8A048CBF330F}"/>
              </a:ext>
            </a:extLst>
          </p:cNvPr>
          <p:cNvSpPr/>
          <p:nvPr/>
        </p:nvSpPr>
        <p:spPr bwMode="auto">
          <a:xfrm rot="10800000" flipH="1">
            <a:off x="0" y="5849938"/>
            <a:ext cx="756146" cy="1008062"/>
          </a:xfrm>
          <a:custGeom>
            <a:avLst/>
            <a:gdLst>
              <a:gd name="T0" fmla="*/ 0 w 1008224"/>
              <a:gd name="T1" fmla="*/ 504032 h 1008064"/>
              <a:gd name="T2" fmla="*/ 504112 w 1008224"/>
              <a:gd name="T3" fmla="*/ 0 h 1008064"/>
              <a:gd name="T4" fmla="*/ 1008224 w 1008224"/>
              <a:gd name="T5" fmla="*/ 0 h 1008064"/>
              <a:gd name="T6" fmla="*/ 0 w 1008224"/>
              <a:gd name="T7" fmla="*/ 1008064 h 1008064"/>
              <a:gd name="T8" fmla="*/ 0 w 1008224"/>
              <a:gd name="T9" fmla="*/ 504032 h 10080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8224" h="1008064">
                <a:moveTo>
                  <a:pt x="0" y="504032"/>
                </a:moveTo>
                <a:lnTo>
                  <a:pt x="504112" y="0"/>
                </a:lnTo>
                <a:lnTo>
                  <a:pt x="1008224" y="0"/>
                </a:lnTo>
                <a:lnTo>
                  <a:pt x="0" y="1008064"/>
                </a:lnTo>
                <a:lnTo>
                  <a:pt x="0" y="504032"/>
                </a:lnTo>
                <a:close/>
              </a:path>
            </a:pathLst>
          </a:custGeom>
          <a:solidFill>
            <a:srgbClr val="3366FF"/>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pPr>
              <a:buFontTx/>
              <a:buNone/>
              <a:defRPr/>
            </a:pPr>
            <a:endParaRPr lang="zh-CN" altLang="en-US"/>
          </a:p>
        </p:txBody>
      </p:sp>
      <p:sp>
        <p:nvSpPr>
          <p:cNvPr id="11" name="TextBox 15">
            <a:hlinkClick r:id="rId3" action="ppaction://hlinkpres?slideindex=1&amp;slidetitle=2. 幻灯片 2"/>
            <a:extLst>
              <a:ext uri="{FF2B5EF4-FFF2-40B4-BE49-F238E27FC236}">
                <a16:creationId xmlns:a16="http://schemas.microsoft.com/office/drawing/2014/main" id="{62C4FD4C-E6EE-4451-B4AE-DBB1DFC997D6}"/>
              </a:ext>
            </a:extLst>
          </p:cNvPr>
          <p:cNvSpPr txBox="1">
            <a:spLocks noChangeArrowheads="1"/>
          </p:cNvSpPr>
          <p:nvPr/>
        </p:nvSpPr>
        <p:spPr bwMode="auto">
          <a:xfrm rot="2698316">
            <a:off x="-43332" y="6343264"/>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buFontTx/>
              <a:buNone/>
              <a:defRPr/>
            </a:pPr>
            <a:r>
              <a:rPr lang="zh-CN" altLang="en-US" sz="1200">
                <a:solidFill>
                  <a:srgbClr val="FFFFFF"/>
                </a:solidFill>
                <a:latin typeface="微软雅黑" pitchFamily="34" charset="-122"/>
                <a:ea typeface="微软雅黑" pitchFamily="34" charset="-122"/>
              </a:rPr>
              <a:t>目录页</a:t>
            </a:r>
          </a:p>
        </p:txBody>
      </p:sp>
      <p:sp>
        <p:nvSpPr>
          <p:cNvPr id="12" name="椭圆 11">
            <a:extLst>
              <a:ext uri="{FF2B5EF4-FFF2-40B4-BE49-F238E27FC236}">
                <a16:creationId xmlns:a16="http://schemas.microsoft.com/office/drawing/2014/main" id="{CBF3D4FF-737B-43D6-86FC-0877092F3E1B}"/>
              </a:ext>
            </a:extLst>
          </p:cNvPr>
          <p:cNvSpPr>
            <a:spLocks noChangeArrowheads="1"/>
          </p:cNvSpPr>
          <p:nvPr/>
        </p:nvSpPr>
        <p:spPr bwMode="auto">
          <a:xfrm>
            <a:off x="251255" y="1125539"/>
            <a:ext cx="376286" cy="504825"/>
          </a:xfrm>
          <a:prstGeom prst="ellipse">
            <a:avLst/>
          </a:prstGeom>
          <a:solidFill>
            <a:schemeClr val="bg1"/>
          </a:solidFill>
          <a:ln w="57150" algn="ctr">
            <a:solidFill>
              <a:srgbClr val="99CC00"/>
            </a:solidFill>
            <a:round/>
          </a:ln>
          <a:effectLst>
            <a:outerShdw blurRad="40000" dist="20000" dir="5400000" rotWithShape="0">
              <a:srgbClr val="000000">
                <a:alpha val="37999"/>
              </a:srgbClr>
            </a:outerShdw>
          </a:effectLst>
        </p:spPr>
        <p:txBody>
          <a:bodyPr lIns="5401" tIns="5401" rIns="5401" bIns="5401" anchor="ctr"/>
          <a:lstStyle/>
          <a:p>
            <a:pPr algn="ctr" fontAlgn="auto">
              <a:spcBef>
                <a:spcPts val="0"/>
              </a:spcBef>
              <a:spcAft>
                <a:spcPts val="0"/>
              </a:spcAft>
              <a:buFontTx/>
              <a:buNone/>
              <a:defRPr/>
            </a:pPr>
            <a:endParaRPr lang="zh-CN" altLang="en-US" sz="2100" b="1" dirty="0">
              <a:solidFill>
                <a:srgbClr val="F05425"/>
              </a:solidFill>
              <a:effectLst>
                <a:outerShdw blurRad="38100" dist="38100" dir="2700000" algn="tl">
                  <a:srgbClr val="000000">
                    <a:alpha val="43137"/>
                  </a:srgbClr>
                </a:outerShdw>
              </a:effectLst>
              <a:latin typeface="Broadway" pitchFamily="82" charset="0"/>
              <a:ea typeface="微软雅黑" pitchFamily="34" charset="-122"/>
              <a:cs typeface="Tahoma" pitchFamily="34" charset="0"/>
            </a:endParaRPr>
          </a:p>
        </p:txBody>
      </p:sp>
      <p:sp>
        <p:nvSpPr>
          <p:cNvPr id="13" name="日期占位符 1">
            <a:extLst>
              <a:ext uri="{FF2B5EF4-FFF2-40B4-BE49-F238E27FC236}">
                <a16:creationId xmlns:a16="http://schemas.microsoft.com/office/drawing/2014/main" id="{1A2BAFBF-0635-4120-AB6D-21874C5CD8FC}"/>
              </a:ext>
            </a:extLst>
          </p:cNvPr>
          <p:cNvSpPr>
            <a:spLocks noGrp="1"/>
          </p:cNvSpPr>
          <p:nvPr>
            <p:ph type="dt" sz="half" idx="10"/>
          </p:nvPr>
        </p:nvSpPr>
        <p:spPr/>
        <p:txBody>
          <a:bodyPr/>
          <a:lstStyle>
            <a:lvl1pPr>
              <a:defRPr/>
            </a:lvl1pPr>
          </a:lstStyle>
          <a:p>
            <a:pPr>
              <a:defRPr/>
            </a:pPr>
            <a:endParaRPr lang="zh-CN" altLang="en-US"/>
          </a:p>
        </p:txBody>
      </p:sp>
      <p:sp>
        <p:nvSpPr>
          <p:cNvPr id="14" name="页脚占位符 2">
            <a:extLst>
              <a:ext uri="{FF2B5EF4-FFF2-40B4-BE49-F238E27FC236}">
                <a16:creationId xmlns:a16="http://schemas.microsoft.com/office/drawing/2014/main" id="{E661DA11-DD56-49DF-9DC4-F5773781124B}"/>
              </a:ext>
            </a:extLst>
          </p:cNvPr>
          <p:cNvSpPr>
            <a:spLocks noGrp="1"/>
          </p:cNvSpPr>
          <p:nvPr>
            <p:ph type="ftr" sz="quarter" idx="11"/>
          </p:nvPr>
        </p:nvSpPr>
        <p:spPr/>
        <p:txBody>
          <a:bodyPr/>
          <a:lstStyle>
            <a:lvl1pPr>
              <a:defRPr/>
            </a:lvl1pPr>
          </a:lstStyle>
          <a:p>
            <a:pPr>
              <a:defRPr/>
            </a:pPr>
            <a:endParaRPr lang="zh-CN" altLang="en-US"/>
          </a:p>
        </p:txBody>
      </p:sp>
      <p:sp>
        <p:nvSpPr>
          <p:cNvPr id="15" name="灯片编号占位符 3">
            <a:extLst>
              <a:ext uri="{FF2B5EF4-FFF2-40B4-BE49-F238E27FC236}">
                <a16:creationId xmlns:a16="http://schemas.microsoft.com/office/drawing/2014/main" id="{ED235532-6DBC-42F5-8B81-1D598C33B5C8}"/>
              </a:ext>
            </a:extLst>
          </p:cNvPr>
          <p:cNvSpPr>
            <a:spLocks noGrp="1"/>
          </p:cNvSpPr>
          <p:nvPr>
            <p:ph type="sldNum" sz="quarter" idx="12"/>
          </p:nvPr>
        </p:nvSpPr>
        <p:spPr/>
        <p:txBody>
          <a:bodyPr/>
          <a:lstStyle>
            <a:lvl1pPr>
              <a:defRPr/>
            </a:lvl1pPr>
          </a:lstStyle>
          <a:p>
            <a:fld id="{F0A81CD6-8329-4055-AAD1-0D2519B8C574}" type="slidenum">
              <a:rPr lang="zh-CN" altLang="en-US"/>
              <a:pPr/>
              <a:t>‹#›</a:t>
            </a:fld>
            <a:endParaRPr lang="zh-CN" altLang="en-US"/>
          </a:p>
        </p:txBody>
      </p:sp>
    </p:spTree>
    <p:extLst>
      <p:ext uri="{BB962C8B-B14F-4D97-AF65-F5344CB8AC3E}">
        <p14:creationId xmlns:p14="http://schemas.microsoft.com/office/powerpoint/2010/main" val="2587441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1BF891A3-815C-4CE3-A56A-FC12FA43E6CE}"/>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a:extLst>
              <a:ext uri="{FF2B5EF4-FFF2-40B4-BE49-F238E27FC236}">
                <a16:creationId xmlns:a16="http://schemas.microsoft.com/office/drawing/2014/main" id="{70876AFE-78A3-49B8-B1A0-B71F16774F5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01DBD0B2-6CF2-44B0-BDF9-057A93F1CA31}"/>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B2474C3F-7E8D-4A03-B4E5-54C6371EB48A}"/>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C617388C-5E41-4D20-8218-A3C9EF156282}"/>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F596A600-9324-4901-A09F-4F4F140F044D}"/>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70AC4859-3903-4F6C-B079-7877F71030CE}" type="slidenum">
              <a:rPr lang="en-US" altLang="en-US"/>
              <a:pPr/>
              <a:t>‹#›</a:t>
            </a:fld>
            <a:endParaRPr lang="en-US" altLang="en-US"/>
          </a:p>
        </p:txBody>
      </p:sp>
      <p:grpSp>
        <p:nvGrpSpPr>
          <p:cNvPr id="1032" name="Group 8">
            <a:extLst>
              <a:ext uri="{FF2B5EF4-FFF2-40B4-BE49-F238E27FC236}">
                <a16:creationId xmlns:a16="http://schemas.microsoft.com/office/drawing/2014/main" id="{EE9B8166-309B-43B3-9958-1E59DFD02650}"/>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EF7DCE4F-268D-4AE3-BB6F-4F649853B0C7}"/>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18" name="Oval 10">
              <a:extLst>
                <a:ext uri="{FF2B5EF4-FFF2-40B4-BE49-F238E27FC236}">
                  <a16:creationId xmlns:a16="http://schemas.microsoft.com/office/drawing/2014/main" id="{3FE5446E-0460-49F3-83E2-74370007FF1F}"/>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19" name="Oval 11">
              <a:extLst>
                <a:ext uri="{FF2B5EF4-FFF2-40B4-BE49-F238E27FC236}">
                  <a16:creationId xmlns:a16="http://schemas.microsoft.com/office/drawing/2014/main" id="{F23EEBF0-5F2E-4578-A399-9AB777C49592}"/>
                </a:ext>
              </a:extLst>
            </p:cNvPr>
            <p:cNvSpPr>
              <a:spLocks noChangeArrowheads="1"/>
            </p:cNvSpPr>
            <p:nvPr/>
          </p:nvSpPr>
          <p:spPr bwMode="auto">
            <a:xfrm>
              <a:off x="5360" y="960"/>
              <a:ext cx="76"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0" name="Oval 12">
              <a:extLst>
                <a:ext uri="{FF2B5EF4-FFF2-40B4-BE49-F238E27FC236}">
                  <a16:creationId xmlns:a16="http://schemas.microsoft.com/office/drawing/2014/main" id="{08793B99-CB52-4FE2-88EE-E139873F3214}"/>
                </a:ext>
              </a:extLst>
            </p:cNvPr>
            <p:cNvSpPr>
              <a:spLocks noChangeArrowheads="1"/>
            </p:cNvSpPr>
            <p:nvPr/>
          </p:nvSpPr>
          <p:spPr bwMode="auto">
            <a:xfrm>
              <a:off x="5136" y="1072"/>
              <a:ext cx="80" cy="7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1" name="Oval 13">
              <a:extLst>
                <a:ext uri="{FF2B5EF4-FFF2-40B4-BE49-F238E27FC236}">
                  <a16:creationId xmlns:a16="http://schemas.microsoft.com/office/drawing/2014/main" id="{8F0FD0F4-B077-4392-B6BA-C92177A4D3C6}"/>
                </a:ext>
              </a:extLst>
            </p:cNvPr>
            <p:cNvSpPr>
              <a:spLocks noChangeArrowheads="1"/>
            </p:cNvSpPr>
            <p:nvPr/>
          </p:nvSpPr>
          <p:spPr bwMode="auto">
            <a:xfrm>
              <a:off x="5248" y="1072"/>
              <a:ext cx="79" cy="7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2" name="Oval 14">
              <a:extLst>
                <a:ext uri="{FF2B5EF4-FFF2-40B4-BE49-F238E27FC236}">
                  <a16:creationId xmlns:a16="http://schemas.microsoft.com/office/drawing/2014/main" id="{6063EF80-B22B-436E-8BD2-CF686258655E}"/>
                </a:ext>
              </a:extLst>
            </p:cNvPr>
            <p:cNvSpPr>
              <a:spLocks noChangeArrowheads="1"/>
            </p:cNvSpPr>
            <p:nvPr/>
          </p:nvSpPr>
          <p:spPr bwMode="auto">
            <a:xfrm>
              <a:off x="5360" y="1072"/>
              <a:ext cx="76" cy="7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3" name="Oval 15">
              <a:extLst>
                <a:ext uri="{FF2B5EF4-FFF2-40B4-BE49-F238E27FC236}">
                  <a16:creationId xmlns:a16="http://schemas.microsoft.com/office/drawing/2014/main" id="{F4B9A448-B8FD-4086-BCE0-85A21127723F}"/>
                </a:ext>
              </a:extLst>
            </p:cNvPr>
            <p:cNvSpPr>
              <a:spLocks noChangeArrowheads="1"/>
            </p:cNvSpPr>
            <p:nvPr/>
          </p:nvSpPr>
          <p:spPr bwMode="auto">
            <a:xfrm>
              <a:off x="5472" y="1072"/>
              <a:ext cx="75" cy="7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4" name="Oval 16">
              <a:extLst>
                <a:ext uri="{FF2B5EF4-FFF2-40B4-BE49-F238E27FC236}">
                  <a16:creationId xmlns:a16="http://schemas.microsoft.com/office/drawing/2014/main" id="{7A75EC41-9732-4E88-9A0C-B6AF1B2FC9E7}"/>
                </a:ext>
              </a:extLst>
            </p:cNvPr>
            <p:cNvSpPr>
              <a:spLocks noChangeArrowheads="1"/>
            </p:cNvSpPr>
            <p:nvPr/>
          </p:nvSpPr>
          <p:spPr bwMode="auto">
            <a:xfrm>
              <a:off x="5136" y="1184"/>
              <a:ext cx="80" cy="75"/>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5" name="Oval 17">
              <a:extLst>
                <a:ext uri="{FF2B5EF4-FFF2-40B4-BE49-F238E27FC236}">
                  <a16:creationId xmlns:a16="http://schemas.microsoft.com/office/drawing/2014/main" id="{A212790F-CFD1-4679-9696-F9FA62670082}"/>
                </a:ext>
              </a:extLst>
            </p:cNvPr>
            <p:cNvSpPr>
              <a:spLocks noChangeArrowheads="1"/>
            </p:cNvSpPr>
            <p:nvPr/>
          </p:nvSpPr>
          <p:spPr bwMode="auto">
            <a:xfrm>
              <a:off x="5248" y="1184"/>
              <a:ext cx="79" cy="75"/>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6" name="Oval 18">
              <a:extLst>
                <a:ext uri="{FF2B5EF4-FFF2-40B4-BE49-F238E27FC236}">
                  <a16:creationId xmlns:a16="http://schemas.microsoft.com/office/drawing/2014/main" id="{21534236-CD01-41F7-B5FE-E082981188E9}"/>
                </a:ext>
              </a:extLst>
            </p:cNvPr>
            <p:cNvSpPr>
              <a:spLocks noChangeArrowheads="1"/>
            </p:cNvSpPr>
            <p:nvPr/>
          </p:nvSpPr>
          <p:spPr bwMode="auto">
            <a:xfrm>
              <a:off x="5360" y="1184"/>
              <a:ext cx="76" cy="75"/>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7" name="Oval 19">
              <a:extLst>
                <a:ext uri="{FF2B5EF4-FFF2-40B4-BE49-F238E27FC236}">
                  <a16:creationId xmlns:a16="http://schemas.microsoft.com/office/drawing/2014/main" id="{3349C68F-DC8D-48C6-B9ED-8FD32A74D337}"/>
                </a:ext>
              </a:extLst>
            </p:cNvPr>
            <p:cNvSpPr>
              <a:spLocks noChangeArrowheads="1"/>
            </p:cNvSpPr>
            <p:nvPr/>
          </p:nvSpPr>
          <p:spPr bwMode="auto">
            <a:xfrm>
              <a:off x="5472" y="1184"/>
              <a:ext cx="75" cy="75"/>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8" name="Oval 20">
              <a:extLst>
                <a:ext uri="{FF2B5EF4-FFF2-40B4-BE49-F238E27FC236}">
                  <a16:creationId xmlns:a16="http://schemas.microsoft.com/office/drawing/2014/main" id="{885A275A-2BF7-4A0B-86DD-1D4CCFD9F56F}"/>
                </a:ext>
              </a:extLst>
            </p:cNvPr>
            <p:cNvSpPr>
              <a:spLocks noChangeArrowheads="1"/>
            </p:cNvSpPr>
            <p:nvPr/>
          </p:nvSpPr>
          <p:spPr bwMode="auto">
            <a:xfrm>
              <a:off x="5584" y="1184"/>
              <a:ext cx="80" cy="75"/>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29" name="Oval 21">
              <a:extLst>
                <a:ext uri="{FF2B5EF4-FFF2-40B4-BE49-F238E27FC236}">
                  <a16:creationId xmlns:a16="http://schemas.microsoft.com/office/drawing/2014/main" id="{5583D64A-EE44-46FF-BB44-FFD2EC91F8CC}"/>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0" name="Oval 22">
              <a:extLst>
                <a:ext uri="{FF2B5EF4-FFF2-40B4-BE49-F238E27FC236}">
                  <a16:creationId xmlns:a16="http://schemas.microsoft.com/office/drawing/2014/main" id="{2886F23D-C969-43C9-9868-A6DD4E86E548}"/>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1" name="Oval 23">
              <a:extLst>
                <a:ext uri="{FF2B5EF4-FFF2-40B4-BE49-F238E27FC236}">
                  <a16:creationId xmlns:a16="http://schemas.microsoft.com/office/drawing/2014/main" id="{FB3D0646-1C6D-4068-B6B1-051642EA424D}"/>
                </a:ext>
              </a:extLst>
            </p:cNvPr>
            <p:cNvSpPr>
              <a:spLocks noChangeArrowheads="1"/>
            </p:cNvSpPr>
            <p:nvPr/>
          </p:nvSpPr>
          <p:spPr bwMode="auto">
            <a:xfrm>
              <a:off x="5360" y="1296"/>
              <a:ext cx="76"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2" name="Oval 24">
              <a:extLst>
                <a:ext uri="{FF2B5EF4-FFF2-40B4-BE49-F238E27FC236}">
                  <a16:creationId xmlns:a16="http://schemas.microsoft.com/office/drawing/2014/main" id="{8D3CB53E-24BE-44B3-9CE9-15642C5518B0}"/>
                </a:ext>
              </a:extLst>
            </p:cNvPr>
            <p:cNvSpPr>
              <a:spLocks noChangeArrowheads="1"/>
            </p:cNvSpPr>
            <p:nvPr/>
          </p:nvSpPr>
          <p:spPr bwMode="auto">
            <a:xfrm>
              <a:off x="5472" y="1296"/>
              <a:ext cx="75"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3" name="Oval 25">
              <a:extLst>
                <a:ext uri="{FF2B5EF4-FFF2-40B4-BE49-F238E27FC236}">
                  <a16:creationId xmlns:a16="http://schemas.microsoft.com/office/drawing/2014/main" id="{5910937E-99D9-4450-BB96-FF1BACF74768}"/>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4" name="Oval 26">
              <a:extLst>
                <a:ext uri="{FF2B5EF4-FFF2-40B4-BE49-F238E27FC236}">
                  <a16:creationId xmlns:a16="http://schemas.microsoft.com/office/drawing/2014/main" id="{90CA1EE5-7FB4-486D-A785-2CEA3071DDD1}"/>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5" name="Oval 27">
              <a:extLst>
                <a:ext uri="{FF2B5EF4-FFF2-40B4-BE49-F238E27FC236}">
                  <a16:creationId xmlns:a16="http://schemas.microsoft.com/office/drawing/2014/main" id="{F5F674E9-89E6-4055-B91C-F59321D0F078}"/>
                </a:ext>
              </a:extLst>
            </p:cNvPr>
            <p:cNvSpPr>
              <a:spLocks noChangeArrowheads="1"/>
            </p:cNvSpPr>
            <p:nvPr/>
          </p:nvSpPr>
          <p:spPr bwMode="auto">
            <a:xfrm>
              <a:off x="5360" y="1408"/>
              <a:ext cx="76"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6" name="Oval 28">
              <a:extLst>
                <a:ext uri="{FF2B5EF4-FFF2-40B4-BE49-F238E27FC236}">
                  <a16:creationId xmlns:a16="http://schemas.microsoft.com/office/drawing/2014/main" id="{156E294B-7708-42C9-8A84-5AFBB2427FC4}"/>
                </a:ext>
              </a:extLst>
            </p:cNvPr>
            <p:cNvSpPr>
              <a:spLocks noChangeArrowheads="1"/>
            </p:cNvSpPr>
            <p:nvPr/>
          </p:nvSpPr>
          <p:spPr bwMode="auto">
            <a:xfrm>
              <a:off x="5472" y="1408"/>
              <a:ext cx="75"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7" name="Oval 29">
              <a:extLst>
                <a:ext uri="{FF2B5EF4-FFF2-40B4-BE49-F238E27FC236}">
                  <a16:creationId xmlns:a16="http://schemas.microsoft.com/office/drawing/2014/main" id="{667333C1-83C4-4D6F-A2B6-DE742A3A42F1}"/>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8" name="Oval 30">
              <a:extLst>
                <a:ext uri="{FF2B5EF4-FFF2-40B4-BE49-F238E27FC236}">
                  <a16:creationId xmlns:a16="http://schemas.microsoft.com/office/drawing/2014/main" id="{84EAB595-A889-4B3A-A73F-671648AC746D}"/>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39" name="Oval 31">
              <a:extLst>
                <a:ext uri="{FF2B5EF4-FFF2-40B4-BE49-F238E27FC236}">
                  <a16:creationId xmlns:a16="http://schemas.microsoft.com/office/drawing/2014/main" id="{0B5D9861-03A7-4A8D-8D59-CB0165F378F2}"/>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0" name="Oval 32">
              <a:extLst>
                <a:ext uri="{FF2B5EF4-FFF2-40B4-BE49-F238E27FC236}">
                  <a16:creationId xmlns:a16="http://schemas.microsoft.com/office/drawing/2014/main" id="{6E032C14-D892-49FA-82B7-3FFBFA9B5ED3}"/>
                </a:ext>
              </a:extLst>
            </p:cNvPr>
            <p:cNvSpPr>
              <a:spLocks noChangeArrowheads="1"/>
            </p:cNvSpPr>
            <p:nvPr/>
          </p:nvSpPr>
          <p:spPr bwMode="auto">
            <a:xfrm>
              <a:off x="5360" y="1520"/>
              <a:ext cx="76" cy="79"/>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1" name="Oval 33">
              <a:extLst>
                <a:ext uri="{FF2B5EF4-FFF2-40B4-BE49-F238E27FC236}">
                  <a16:creationId xmlns:a16="http://schemas.microsoft.com/office/drawing/2014/main" id="{E72B3BCC-D046-4716-B686-6104C99EBE0F}"/>
                </a:ext>
              </a:extLst>
            </p:cNvPr>
            <p:cNvSpPr>
              <a:spLocks noChangeArrowheads="1"/>
            </p:cNvSpPr>
            <p:nvPr/>
          </p:nvSpPr>
          <p:spPr bwMode="auto">
            <a:xfrm>
              <a:off x="5472" y="1520"/>
              <a:ext cx="75" cy="79"/>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2" name="Oval 34">
              <a:extLst>
                <a:ext uri="{FF2B5EF4-FFF2-40B4-BE49-F238E27FC236}">
                  <a16:creationId xmlns:a16="http://schemas.microsoft.com/office/drawing/2014/main" id="{E6D888AE-594C-4D31-92BA-F72E01F93BFE}"/>
                </a:ext>
              </a:extLst>
            </p:cNvPr>
            <p:cNvSpPr>
              <a:spLocks noChangeArrowheads="1"/>
            </p:cNvSpPr>
            <p:nvPr/>
          </p:nvSpPr>
          <p:spPr bwMode="auto">
            <a:xfrm>
              <a:off x="5136" y="1632"/>
              <a:ext cx="80" cy="75"/>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3" name="Oval 35">
              <a:extLst>
                <a:ext uri="{FF2B5EF4-FFF2-40B4-BE49-F238E27FC236}">
                  <a16:creationId xmlns:a16="http://schemas.microsoft.com/office/drawing/2014/main" id="{9BD23A17-B33D-4661-8197-529BF34B2934}"/>
                </a:ext>
              </a:extLst>
            </p:cNvPr>
            <p:cNvSpPr>
              <a:spLocks noChangeArrowheads="1"/>
            </p:cNvSpPr>
            <p:nvPr/>
          </p:nvSpPr>
          <p:spPr bwMode="auto">
            <a:xfrm>
              <a:off x="5248" y="1632"/>
              <a:ext cx="79" cy="75"/>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4" name="Oval 36">
              <a:extLst>
                <a:ext uri="{FF2B5EF4-FFF2-40B4-BE49-F238E27FC236}">
                  <a16:creationId xmlns:a16="http://schemas.microsoft.com/office/drawing/2014/main" id="{7802ABC9-C4A5-4DB0-9566-A096FAE24652}"/>
                </a:ext>
              </a:extLst>
            </p:cNvPr>
            <p:cNvSpPr>
              <a:spLocks noChangeArrowheads="1"/>
            </p:cNvSpPr>
            <p:nvPr/>
          </p:nvSpPr>
          <p:spPr bwMode="auto">
            <a:xfrm>
              <a:off x="5360" y="1632"/>
              <a:ext cx="76" cy="75"/>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5" name="Oval 37">
              <a:extLst>
                <a:ext uri="{FF2B5EF4-FFF2-40B4-BE49-F238E27FC236}">
                  <a16:creationId xmlns:a16="http://schemas.microsoft.com/office/drawing/2014/main" id="{354AA52D-F790-4EE5-9913-99473F3D52FD}"/>
                </a:ext>
              </a:extLst>
            </p:cNvPr>
            <p:cNvSpPr>
              <a:spLocks noChangeArrowheads="1"/>
            </p:cNvSpPr>
            <p:nvPr/>
          </p:nvSpPr>
          <p:spPr bwMode="auto">
            <a:xfrm>
              <a:off x="5472" y="1632"/>
              <a:ext cx="75" cy="75"/>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6" name="Oval 38">
              <a:extLst>
                <a:ext uri="{FF2B5EF4-FFF2-40B4-BE49-F238E27FC236}">
                  <a16:creationId xmlns:a16="http://schemas.microsoft.com/office/drawing/2014/main" id="{D4D73FF1-468C-4ACB-8336-F8F9488AA212}"/>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sp>
          <p:nvSpPr>
            <p:cNvPr id="119847" name="Oval 39">
              <a:extLst>
                <a:ext uri="{FF2B5EF4-FFF2-40B4-BE49-F238E27FC236}">
                  <a16:creationId xmlns:a16="http://schemas.microsoft.com/office/drawing/2014/main" id="{09C8E172-224A-487E-8E3B-17FB385982E6}"/>
                </a:ext>
              </a:extLst>
            </p:cNvPr>
            <p:cNvSpPr>
              <a:spLocks noChangeArrowheads="1"/>
            </p:cNvSpPr>
            <p:nvPr/>
          </p:nvSpPr>
          <p:spPr bwMode="auto">
            <a:xfrm>
              <a:off x="5472" y="1744"/>
              <a:ext cx="75"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zh-CN" altLang="zh-CN">
                <a:ea typeface="宋体" pitchFamily="2" charset="-122"/>
              </a:endParaRPr>
            </a:p>
          </p:txBody>
        </p:sp>
      </p:grpSp>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3" r:id="rId13"/>
    <p:sldLayoutId id="2147483764" r:id="rId14"/>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zhida.zhihu.com/search?content_id=254866501&amp;content_type=Article&amp;match_order=1&amp;q=%E6%9B%BC%E5%93%88%E9%A1%BF%E8%AE%A1%E5%88%92&amp;zhida_source=entity"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baike.baidu.com/item/%E8%BD%AF%E4%BB%B6%E5%B7%A5%E7%A8%8B%E6%96%B9%E6%B3%95/1018601?fromModule=lemma_inlink" TargetMode="External"/><Relationship Id="rId2" Type="http://schemas.openxmlformats.org/officeDocument/2006/relationships/hyperlink" Target="https://baike.baidu.com/item/%E8%BD%AF%E4%BB%B6%E5%B7%A5%E7%A8%8B/0?fromModule=lemma_inlink" TargetMode="External"/><Relationship Id="rId1" Type="http://schemas.openxmlformats.org/officeDocument/2006/relationships/slideLayout" Target="../slideLayouts/slideLayout13.xml"/><Relationship Id="rId4" Type="http://schemas.openxmlformats.org/officeDocument/2006/relationships/hyperlink" Target="https://baike.baidu.com/item/%E8%BD%AF%E4%BB%B6%E8%B4%A8%E9%87%8F/0?fromModule=lemma_inlin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hyperlink" Target="https://baike.baidu.com/item/GitHub%20Copilot/57754203?fromModule=lemma_inlink" TargetMode="External"/><Relationship Id="rId2" Type="http://schemas.openxmlformats.org/officeDocument/2006/relationships/hyperlink" Target="https://baike.baidu.com/item/ChatGPT/62446358?fromModule=lemma_inlink" TargetMode="Externa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img">
            <a:extLst>
              <a:ext uri="{FF2B5EF4-FFF2-40B4-BE49-F238E27FC236}">
                <a16:creationId xmlns:a16="http://schemas.microsoft.com/office/drawing/2014/main" id="{CBFEDFED-356F-46F4-8835-ABE5DBB6AEB6}"/>
              </a:ext>
            </a:extLst>
          </p:cNvPr>
          <p:cNvPicPr>
            <a:picLocks noChangeAspect="1"/>
          </p:cNvPicPr>
          <p:nvPr/>
        </p:nvPicPr>
        <p:blipFill>
          <a:blip r:embed="rId2"/>
          <a:stretch>
            <a:fillRect/>
          </a:stretch>
        </p:blipFill>
        <p:spPr>
          <a:xfrm>
            <a:off x="0" y="857250"/>
            <a:ext cx="9144000" cy="5147310"/>
          </a:xfrm>
          <a:prstGeom prst="rect">
            <a:avLst/>
          </a:prstGeom>
        </p:spPr>
      </p:pic>
      <p:sp>
        <p:nvSpPr>
          <p:cNvPr id="5" name="矩形 4">
            <a:extLst>
              <a:ext uri="{FF2B5EF4-FFF2-40B4-BE49-F238E27FC236}">
                <a16:creationId xmlns:a16="http://schemas.microsoft.com/office/drawing/2014/main" id="{733C131B-8087-4305-914A-5B3FC3AA1ADB}"/>
              </a:ext>
            </a:extLst>
          </p:cNvPr>
          <p:cNvSpPr/>
          <p:nvPr/>
        </p:nvSpPr>
        <p:spPr>
          <a:xfrm>
            <a:off x="615478" y="1239679"/>
            <a:ext cx="8122920" cy="4378643"/>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500" dirty="0">
              <a:latin typeface="微软雅黑" panose="020B0503020204020204" pitchFamily="34" charset="-122"/>
              <a:ea typeface="微软雅黑" panose="020B0503020204020204" pitchFamily="34" charset="-122"/>
            </a:endParaRPr>
          </a:p>
        </p:txBody>
      </p:sp>
      <p:sp>
        <p:nvSpPr>
          <p:cNvPr id="6" name="TextBox 42">
            <a:extLst>
              <a:ext uri="{FF2B5EF4-FFF2-40B4-BE49-F238E27FC236}">
                <a16:creationId xmlns:a16="http://schemas.microsoft.com/office/drawing/2014/main" id="{5BBA1AA5-6558-4E31-A033-1DCEC0F2EFB1}"/>
              </a:ext>
            </a:extLst>
          </p:cNvPr>
          <p:cNvSpPr txBox="1"/>
          <p:nvPr/>
        </p:nvSpPr>
        <p:spPr>
          <a:xfrm>
            <a:off x="864338" y="1952301"/>
            <a:ext cx="7604284" cy="553998"/>
          </a:xfrm>
          <a:prstGeom prst="rect">
            <a:avLst/>
          </a:prstGeom>
          <a:noFill/>
        </p:spPr>
        <p:txBody>
          <a:bodyPr wrap="square" rtlCol="0">
            <a:spAutoFit/>
          </a:bodyPr>
          <a:lstStyle/>
          <a:p>
            <a:pPr algn="ctr"/>
            <a:r>
              <a:rPr lang="zh-CN" altLang="en-US" sz="3000" dirty="0">
                <a:latin typeface="微软雅黑" panose="020B0503020204020204" pitchFamily="34" charset="-122"/>
                <a:ea typeface="微软雅黑" panose="020B0503020204020204" pitchFamily="34" charset="-122"/>
              </a:rPr>
              <a:t>软 件 工 程 课 程</a:t>
            </a:r>
            <a:endParaRPr lang="en-US" altLang="zh-CN" sz="3000" b="1" dirty="0">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E77D0D77-0C63-4A35-9CFD-0B25FC4D114B}"/>
              </a:ext>
            </a:extLst>
          </p:cNvPr>
          <p:cNvCxnSpPr/>
          <p:nvPr/>
        </p:nvCxnSpPr>
        <p:spPr>
          <a:xfrm>
            <a:off x="2561977" y="4097572"/>
            <a:ext cx="101437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4201B4F-6F44-4B9C-A209-EEEFECEC1192}"/>
              </a:ext>
            </a:extLst>
          </p:cNvPr>
          <p:cNvCxnSpPr/>
          <p:nvPr/>
        </p:nvCxnSpPr>
        <p:spPr>
          <a:xfrm flipV="1">
            <a:off x="5793428" y="4097572"/>
            <a:ext cx="1097517" cy="103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27">
            <a:extLst>
              <a:ext uri="{FF2B5EF4-FFF2-40B4-BE49-F238E27FC236}">
                <a16:creationId xmlns:a16="http://schemas.microsoft.com/office/drawing/2014/main" id="{86495957-9644-411E-829E-0F86A098C5DE}"/>
              </a:ext>
            </a:extLst>
          </p:cNvPr>
          <p:cNvSpPr txBox="1"/>
          <p:nvPr/>
        </p:nvSpPr>
        <p:spPr>
          <a:xfrm>
            <a:off x="3576354" y="3980949"/>
            <a:ext cx="2200691" cy="276999"/>
          </a:xfrm>
          <a:prstGeom prst="rect">
            <a:avLst/>
          </a:prstGeom>
          <a:noFill/>
        </p:spPr>
        <p:txBody>
          <a:bodyPr wrap="square" rtlCol="0">
            <a:spAutoFit/>
          </a:bodyPr>
          <a:lstStyle/>
          <a:p>
            <a:pPr algn="dist"/>
            <a:r>
              <a:rPr lang="en-US" sz="1200" dirty="0">
                <a:latin typeface="ITC Avant Garde Std Bk" panose="020B0502020202020204" pitchFamily="34" charset="0"/>
              </a:rPr>
              <a:t>Xi'an Jiaotong University</a:t>
            </a:r>
          </a:p>
        </p:txBody>
      </p:sp>
      <p:sp>
        <p:nvSpPr>
          <p:cNvPr id="10" name="TextBox 1">
            <a:extLst>
              <a:ext uri="{FF2B5EF4-FFF2-40B4-BE49-F238E27FC236}">
                <a16:creationId xmlns:a16="http://schemas.microsoft.com/office/drawing/2014/main" id="{2AE312F2-095B-415C-93E9-2A54B21CC114}"/>
              </a:ext>
            </a:extLst>
          </p:cNvPr>
          <p:cNvSpPr txBox="1"/>
          <p:nvPr/>
        </p:nvSpPr>
        <p:spPr>
          <a:xfrm>
            <a:off x="1796976" y="4723794"/>
            <a:ext cx="5760244" cy="553998"/>
          </a:xfrm>
          <a:prstGeom prst="rect">
            <a:avLst/>
          </a:prstGeom>
          <a:noFill/>
        </p:spPr>
        <p:txBody>
          <a:bodyPr wrap="square" rtlCol="0">
            <a:spAutoFit/>
          </a:bodyPr>
          <a:lstStyle/>
          <a:p>
            <a:pPr algn="ctr"/>
            <a:r>
              <a:rPr lang="zh-CN" altLang="en-US" sz="1500" dirty="0">
                <a:latin typeface="微软雅黑" panose="020B0503020204020204" pitchFamily="34" charset="-122"/>
                <a:ea typeface="微软雅黑" panose="020B0503020204020204" pitchFamily="34" charset="-122"/>
              </a:rPr>
              <a:t>西安交通大学 计算机学院</a:t>
            </a:r>
            <a:endParaRPr lang="en-US" altLang="zh-CN" sz="1500" dirty="0">
              <a:latin typeface="微软雅黑" panose="020B0503020204020204" pitchFamily="34" charset="-122"/>
              <a:ea typeface="微软雅黑" panose="020B0503020204020204" pitchFamily="34" charset="-122"/>
            </a:endParaRPr>
          </a:p>
          <a:p>
            <a:pPr algn="ctr"/>
            <a:r>
              <a:rPr lang="en-US" altLang="zh-CN" sz="1500" dirty="0">
                <a:latin typeface="微软雅黑" panose="020B0503020204020204" pitchFamily="34" charset="-122"/>
                <a:ea typeface="微软雅黑" panose="020B0503020204020204" pitchFamily="34" charset="-122"/>
              </a:rPr>
              <a:t>gewang@xjtu.edu.cn</a:t>
            </a:r>
            <a:endParaRPr lang="zh-CN" altLang="en-US" sz="1500" dirty="0"/>
          </a:p>
        </p:txBody>
      </p:sp>
      <p:pic>
        <p:nvPicPr>
          <p:cNvPr id="12" name="图片 11">
            <a:extLst>
              <a:ext uri="{FF2B5EF4-FFF2-40B4-BE49-F238E27FC236}">
                <a16:creationId xmlns:a16="http://schemas.microsoft.com/office/drawing/2014/main" id="{E85BEF54-469B-43B6-A5C5-BD9FD0912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4012" y="1291591"/>
            <a:ext cx="1790431" cy="628946"/>
          </a:xfrm>
          <a:prstGeom prst="rect">
            <a:avLst/>
          </a:prstGeom>
        </p:spPr>
      </p:pic>
      <p:sp>
        <p:nvSpPr>
          <p:cNvPr id="13" name="文本框 12">
            <a:extLst>
              <a:ext uri="{FF2B5EF4-FFF2-40B4-BE49-F238E27FC236}">
                <a16:creationId xmlns:a16="http://schemas.microsoft.com/office/drawing/2014/main" id="{C16E48DF-6885-4DCA-9492-E87BB2FCC491}"/>
              </a:ext>
            </a:extLst>
          </p:cNvPr>
          <p:cNvSpPr txBox="1"/>
          <p:nvPr/>
        </p:nvSpPr>
        <p:spPr>
          <a:xfrm>
            <a:off x="4341876" y="4319105"/>
            <a:ext cx="715260"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王 鸽</a:t>
            </a:r>
          </a:p>
        </p:txBody>
      </p:sp>
      <p:sp>
        <p:nvSpPr>
          <p:cNvPr id="14" name="TextBox 42">
            <a:extLst>
              <a:ext uri="{FF2B5EF4-FFF2-40B4-BE49-F238E27FC236}">
                <a16:creationId xmlns:a16="http://schemas.microsoft.com/office/drawing/2014/main" id="{5461A976-AE69-4F4C-A112-C49E8CC9C259}"/>
              </a:ext>
            </a:extLst>
          </p:cNvPr>
          <p:cNvSpPr txBox="1"/>
          <p:nvPr/>
        </p:nvSpPr>
        <p:spPr>
          <a:xfrm>
            <a:off x="946472" y="3119914"/>
            <a:ext cx="7604284" cy="553998"/>
          </a:xfrm>
          <a:prstGeom prst="rect">
            <a:avLst/>
          </a:prstGeom>
          <a:noFill/>
        </p:spPr>
        <p:txBody>
          <a:bodyPr wrap="square" rtlCol="0">
            <a:spAutoFit/>
          </a:bodyPr>
          <a:lstStyle/>
          <a:p>
            <a:pPr algn="ctr"/>
            <a:r>
              <a:rPr lang="en-US" altLang="zh-CN" sz="3000" b="1" dirty="0">
                <a:latin typeface="微软雅黑" panose="020B0503020204020204" pitchFamily="34" charset="-122"/>
                <a:ea typeface="微软雅黑" panose="020B0503020204020204" pitchFamily="34" charset="-122"/>
              </a:rPr>
              <a:t>Chapter 1: </a:t>
            </a:r>
            <a:r>
              <a:rPr lang="zh-CN" altLang="en-US" sz="3000" b="1" dirty="0">
                <a:latin typeface="微软雅黑" panose="020B0503020204020204" pitchFamily="34" charset="-122"/>
                <a:ea typeface="微软雅黑" panose="020B0503020204020204" pitchFamily="34" charset="-122"/>
              </a:rPr>
              <a:t>概述</a:t>
            </a:r>
          </a:p>
        </p:txBody>
      </p:sp>
    </p:spTree>
    <p:extLst>
      <p:ext uri="{BB962C8B-B14F-4D97-AF65-F5344CB8AC3E}">
        <p14:creationId xmlns:p14="http://schemas.microsoft.com/office/powerpoint/2010/main" val="3765088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4" name="Picture 4" descr="C:\Users\user\Desktop\未标题-1 拷贝.png">
            <a:extLst>
              <a:ext uri="{FF2B5EF4-FFF2-40B4-BE49-F238E27FC236}">
                <a16:creationId xmlns:a16="http://schemas.microsoft.com/office/drawing/2014/main" id="{B6D82B25-52A9-4E14-A0C5-5A0EE11F4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969"/>
          <a:stretch>
            <a:fillRect/>
          </a:stretch>
        </p:blipFill>
        <p:spPr bwMode="auto">
          <a:xfrm>
            <a:off x="7225654" y="3861254"/>
            <a:ext cx="1918347" cy="2139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a:extLst>
              <a:ext uri="{FF2B5EF4-FFF2-40B4-BE49-F238E27FC236}">
                <a16:creationId xmlns:a16="http://schemas.microsoft.com/office/drawing/2014/main" id="{6E50C078-A551-49A1-88D8-C0B2572F99CF}"/>
              </a:ext>
            </a:extLst>
          </p:cNvPr>
          <p:cNvSpPr>
            <a:spLocks noChangeArrowheads="1"/>
          </p:cNvSpPr>
          <p:nvPr/>
        </p:nvSpPr>
        <p:spPr bwMode="auto">
          <a:xfrm>
            <a:off x="1977887" y="1052203"/>
            <a:ext cx="4430892"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zh-CN" altLang="en-US" b="1">
                <a:latin typeface="微软雅黑" panose="020B0503020204020204" pitchFamily="34" charset="-122"/>
                <a:ea typeface="微软雅黑" panose="020B0503020204020204" pitchFamily="34" charset="-122"/>
              </a:rPr>
              <a:t>软件工程概述</a:t>
            </a:r>
          </a:p>
        </p:txBody>
      </p:sp>
      <p:sp>
        <p:nvSpPr>
          <p:cNvPr id="2" name="矩形 17">
            <a:extLst>
              <a:ext uri="{FF2B5EF4-FFF2-40B4-BE49-F238E27FC236}">
                <a16:creationId xmlns:a16="http://schemas.microsoft.com/office/drawing/2014/main" id="{2CEAFD5D-FE00-421E-8A5B-EC9DDE2C651B}"/>
              </a:ext>
            </a:extLst>
          </p:cNvPr>
          <p:cNvSpPr>
            <a:spLocks noChangeArrowheads="1"/>
          </p:cNvSpPr>
          <p:nvPr/>
        </p:nvSpPr>
        <p:spPr bwMode="auto">
          <a:xfrm>
            <a:off x="790678" y="1024816"/>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a:latin typeface="微软雅黑" panose="020B0503020204020204" pitchFamily="34" charset="-122"/>
                <a:ea typeface="微软雅黑" panose="020B0503020204020204" pitchFamily="34" charset="-122"/>
              </a:rPr>
              <a:t>第</a:t>
            </a: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章</a:t>
            </a:r>
          </a:p>
        </p:txBody>
      </p:sp>
      <p:grpSp>
        <p:nvGrpSpPr>
          <p:cNvPr id="10244" name="组合 6158">
            <a:extLst>
              <a:ext uri="{FF2B5EF4-FFF2-40B4-BE49-F238E27FC236}">
                <a16:creationId xmlns:a16="http://schemas.microsoft.com/office/drawing/2014/main" id="{8BBCC61B-FB4B-48C2-9CF9-AC235E708B68}"/>
              </a:ext>
            </a:extLst>
          </p:cNvPr>
          <p:cNvGrpSpPr>
            <a:grpSpLocks/>
          </p:cNvGrpSpPr>
          <p:nvPr/>
        </p:nvGrpSpPr>
        <p:grpSpPr bwMode="auto">
          <a:xfrm>
            <a:off x="1384878" y="2375160"/>
            <a:ext cx="6103939" cy="2555414"/>
            <a:chOff x="1163" y="1275"/>
            <a:chExt cx="5126" cy="2146"/>
          </a:xfrm>
        </p:grpSpPr>
        <p:sp>
          <p:nvSpPr>
            <p:cNvPr id="10245" name="AutoShape 4">
              <a:extLst>
                <a:ext uri="{FF2B5EF4-FFF2-40B4-BE49-F238E27FC236}">
                  <a16:creationId xmlns:a16="http://schemas.microsoft.com/office/drawing/2014/main" id="{4080E210-A8C1-4DA5-9785-2FF2F5B2396A}"/>
                </a:ext>
              </a:extLst>
            </p:cNvPr>
            <p:cNvSpPr>
              <a:spLocks noChangeArrowheads="1"/>
            </p:cNvSpPr>
            <p:nvPr/>
          </p:nvSpPr>
          <p:spPr bwMode="auto">
            <a:xfrm>
              <a:off x="1163" y="1275"/>
              <a:ext cx="5126" cy="2146"/>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1" dir="2928847" algn="ctr" rotWithShape="0">
                <a:srgbClr val="000000">
                  <a:alpha val="50000"/>
                </a:srgbClr>
              </a:outerShdw>
            </a:effectLst>
          </p:spPr>
          <p:txBody>
            <a:bodyPr wrap="none" anchor="ctr"/>
            <a:lstStyle/>
            <a:p>
              <a:pPr algn="ctr"/>
              <a:endParaRPr lang="zh-CN" altLang="en-US">
                <a:latin typeface="Arial" panose="020B0604020202020204" pitchFamily="34" charset="0"/>
              </a:endParaRPr>
            </a:p>
          </p:txBody>
        </p:sp>
        <p:grpSp>
          <p:nvGrpSpPr>
            <p:cNvPr id="10246" name="Group 5">
              <a:extLst>
                <a:ext uri="{FF2B5EF4-FFF2-40B4-BE49-F238E27FC236}">
                  <a16:creationId xmlns:a16="http://schemas.microsoft.com/office/drawing/2014/main" id="{6568A33F-2677-46CB-A678-2A57DB00B91D}"/>
                </a:ext>
              </a:extLst>
            </p:cNvPr>
            <p:cNvGrpSpPr>
              <a:grpSpLocks/>
            </p:cNvGrpSpPr>
            <p:nvPr/>
          </p:nvGrpSpPr>
          <p:grpSpPr bwMode="auto">
            <a:xfrm>
              <a:off x="1390" y="1527"/>
              <a:ext cx="1316" cy="1063"/>
              <a:chOff x="938" y="1092"/>
              <a:chExt cx="768" cy="746"/>
            </a:xfrm>
          </p:grpSpPr>
          <p:sp>
            <p:nvSpPr>
              <p:cNvPr id="10247" name="AutoShape 6">
                <a:extLst>
                  <a:ext uri="{FF2B5EF4-FFF2-40B4-BE49-F238E27FC236}">
                    <a16:creationId xmlns:a16="http://schemas.microsoft.com/office/drawing/2014/main" id="{F032463B-46FA-42CF-A83A-A23C83771791}"/>
                  </a:ext>
                </a:extLst>
              </p:cNvPr>
              <p:cNvSpPr>
                <a:spLocks noChangeArrowheads="1"/>
              </p:cNvSpPr>
              <p:nvPr/>
            </p:nvSpPr>
            <p:spPr bwMode="auto">
              <a:xfrm>
                <a:off x="938" y="1092"/>
                <a:ext cx="768" cy="746"/>
              </a:xfrm>
              <a:prstGeom prst="roundRect">
                <a:avLst>
                  <a:gd name="adj" fmla="val 11921"/>
                </a:avLst>
              </a:prstGeom>
              <a:gradFill rotWithShape="1">
                <a:gsLst>
                  <a:gs pos="0">
                    <a:srgbClr val="438ACB"/>
                  </a:gs>
                  <a:gs pos="100000">
                    <a:srgbClr val="2F608E"/>
                  </a:gs>
                </a:gsLst>
                <a:lin ang="5400000" scaled="1"/>
              </a:gradFill>
              <a:ln w="38100">
                <a:solidFill>
                  <a:srgbClr val="FFFFFF"/>
                </a:solidFill>
                <a:round/>
                <a:headEnd/>
                <a:tailEnd/>
              </a:ln>
            </p:spPr>
            <p:txBody>
              <a:bodyPr wrap="none" anchor="ctr"/>
              <a:lstStyle/>
              <a:p>
                <a:pPr algn="ctr"/>
                <a:endParaRPr lang="zh-CN" altLang="en-US">
                  <a:latin typeface="Arial" panose="020B0604020202020204" pitchFamily="34" charset="0"/>
                </a:endParaRPr>
              </a:p>
            </p:txBody>
          </p:sp>
          <p:sp>
            <p:nvSpPr>
              <p:cNvPr id="99335" name="Freeform 7">
                <a:extLst>
                  <a:ext uri="{FF2B5EF4-FFF2-40B4-BE49-F238E27FC236}">
                    <a16:creationId xmlns:a16="http://schemas.microsoft.com/office/drawing/2014/main" id="{DBCA43D9-FE49-4D73-89CE-CA563C54B97B}"/>
                  </a:ext>
                </a:extLst>
              </p:cNvPr>
              <p:cNvSpPr/>
              <p:nvPr/>
            </p:nvSpPr>
            <p:spPr bwMode="gray">
              <a:xfrm>
                <a:off x="1047" y="1141"/>
                <a:ext cx="383" cy="372"/>
              </a:xfrm>
              <a:custGeom>
                <a:avLst/>
                <a:gdLst>
                  <a:gd name="T0" fmla="*/ 118 w 596"/>
                  <a:gd name="T1" fmla="*/ 0 h 598"/>
                  <a:gd name="T2" fmla="*/ 0 w 596"/>
                  <a:gd name="T3" fmla="*/ 118 h 598"/>
                  <a:gd name="T4" fmla="*/ 0 w 596"/>
                  <a:gd name="T5" fmla="*/ 589 h 598"/>
                  <a:gd name="T6" fmla="*/ 161 w 596"/>
                  <a:gd name="T7" fmla="*/ 174 h 598"/>
                  <a:gd name="T8" fmla="*/ 589 w 596"/>
                  <a:gd name="T9" fmla="*/ 0 h 598"/>
                  <a:gd name="T10" fmla="*/ 118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99BFE3"/>
                  </a:gs>
                  <a:gs pos="50000">
                    <a:srgbClr val="438ACB">
                      <a:alpha val="0"/>
                    </a:srgbClr>
                  </a:gs>
                  <a:gs pos="100000">
                    <a:srgbClr val="99BFE3"/>
                  </a:gs>
                </a:gsLst>
                <a:lin ang="2700000" scaled="1"/>
              </a:gradFill>
              <a:ln>
                <a:noFill/>
              </a:ln>
              <a:extLst>
                <a:ext uri="{91240B29-F687-4F45-9708-019B960494DF}">
                  <a14:hiddenLine xmlns:a14="http://schemas.microsoft.com/office/drawing/2010/main" w="0">
                    <a:solidFill>
                      <a:srgbClr val="000000"/>
                    </a:solidFill>
                    <a:round/>
                  </a14:hiddenLine>
                </a:ext>
              </a:extLst>
            </p:spPr>
            <p:txBody>
              <a:bodyPr/>
              <a:lstStyle/>
              <a:p>
                <a:pPr algn="ctr">
                  <a:buFontTx/>
                  <a:buNone/>
                  <a:defRPr/>
                </a:pPr>
                <a:endParaRPr lang="zh-CN" altLang="en-US">
                  <a:latin typeface="Arial" charset="0"/>
                </a:endParaRPr>
              </a:p>
            </p:txBody>
          </p:sp>
          <p:sp>
            <p:nvSpPr>
              <p:cNvPr id="10249" name="Text Box 8">
                <a:extLst>
                  <a:ext uri="{FF2B5EF4-FFF2-40B4-BE49-F238E27FC236}">
                    <a16:creationId xmlns:a16="http://schemas.microsoft.com/office/drawing/2014/main" id="{E84D7590-91E8-4248-995B-0AADC008F294}"/>
                  </a:ext>
                </a:extLst>
              </p:cNvPr>
              <p:cNvSpPr txBox="1">
                <a:spLocks noChangeArrowheads="1"/>
              </p:cNvSpPr>
              <p:nvPr/>
            </p:nvSpPr>
            <p:spPr bwMode="auto">
              <a:xfrm>
                <a:off x="1143" y="1256"/>
                <a:ext cx="356"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100" b="1">
                    <a:solidFill>
                      <a:srgbClr val="FFFFFF"/>
                    </a:solidFill>
                    <a:ea typeface="黑体" panose="02010609060101010101" pitchFamily="49" charset="-122"/>
                  </a:rPr>
                  <a:t>教学</a:t>
                </a:r>
              </a:p>
              <a:p>
                <a:pPr algn="ctr" eaLnBrk="0" hangingPunct="0"/>
                <a:r>
                  <a:rPr lang="zh-CN" altLang="en-US" sz="2100" b="1">
                    <a:solidFill>
                      <a:srgbClr val="FFFFFF"/>
                    </a:solidFill>
                    <a:ea typeface="黑体" panose="02010609060101010101" pitchFamily="49" charset="-122"/>
                  </a:rPr>
                  <a:t>要求</a:t>
                </a:r>
              </a:p>
            </p:txBody>
          </p:sp>
        </p:grpSp>
      </p:grpSp>
      <p:sp>
        <p:nvSpPr>
          <p:cNvPr id="10250" name="Text Box 9">
            <a:extLst>
              <a:ext uri="{FF2B5EF4-FFF2-40B4-BE49-F238E27FC236}">
                <a16:creationId xmlns:a16="http://schemas.microsoft.com/office/drawing/2014/main" id="{EC8D53F4-18E7-4840-9DC1-2BE43702DB10}"/>
              </a:ext>
            </a:extLst>
          </p:cNvPr>
          <p:cNvSpPr txBox="1">
            <a:spLocks noChangeArrowheads="1"/>
          </p:cNvSpPr>
          <p:nvPr/>
        </p:nvSpPr>
        <p:spPr bwMode="auto">
          <a:xfrm>
            <a:off x="3329422" y="2653802"/>
            <a:ext cx="4513056" cy="2094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30000"/>
              </a:lnSpc>
              <a:spcBef>
                <a:spcPct val="20000"/>
              </a:spcBef>
              <a:buClr>
                <a:srgbClr val="336600"/>
              </a:buClr>
              <a:buFont typeface="Wingdings" panose="05000000000000000000" pitchFamily="2" charset="2"/>
              <a:buChar char="n"/>
            </a:pPr>
            <a:r>
              <a:rPr lang="en-US" altLang="zh-CN" sz="1500" b="1">
                <a:solidFill>
                  <a:srgbClr val="000000"/>
                </a:solidFill>
                <a:latin typeface="微软雅黑" panose="020B0503020204020204" pitchFamily="34" charset="-122"/>
                <a:ea typeface="微软雅黑" panose="020B0503020204020204" pitchFamily="34" charset="-122"/>
              </a:rPr>
              <a:t>[1]</a:t>
            </a:r>
            <a:r>
              <a:rPr lang="zh-CN" altLang="en-US" sz="1500" b="1">
                <a:solidFill>
                  <a:srgbClr val="000000"/>
                </a:solidFill>
                <a:latin typeface="微软雅黑" panose="020B0503020204020204" pitchFamily="34" charset="-122"/>
                <a:ea typeface="微软雅黑" panose="020B0503020204020204" pitchFamily="34" charset="-122"/>
              </a:rPr>
              <a:t>了解软件的概念、特点及主要分类；</a:t>
            </a:r>
          </a:p>
          <a:p>
            <a:pPr eaLnBrk="0" hangingPunct="0">
              <a:lnSpc>
                <a:spcPct val="130000"/>
              </a:lnSpc>
              <a:spcBef>
                <a:spcPct val="20000"/>
              </a:spcBef>
              <a:buClr>
                <a:srgbClr val="336600"/>
              </a:buClr>
              <a:buFont typeface="Wingdings" panose="05000000000000000000" pitchFamily="2" charset="2"/>
              <a:buChar char="n"/>
            </a:pPr>
            <a:r>
              <a:rPr lang="en-US" altLang="zh-CN" sz="1500" b="1">
                <a:solidFill>
                  <a:srgbClr val="000000"/>
                </a:solidFill>
                <a:latin typeface="微软雅黑" panose="020B0503020204020204" pitchFamily="34" charset="-122"/>
                <a:ea typeface="微软雅黑" panose="020B0503020204020204" pitchFamily="34" charset="-122"/>
              </a:rPr>
              <a:t>[2]</a:t>
            </a:r>
            <a:r>
              <a:rPr lang="zh-CN" altLang="en-US" sz="1500" b="1">
                <a:solidFill>
                  <a:srgbClr val="000000"/>
                </a:solidFill>
                <a:latin typeface="微软雅黑" panose="020B0503020204020204" pitchFamily="34" charset="-122"/>
                <a:ea typeface="微软雅黑" panose="020B0503020204020204" pitchFamily="34" charset="-122"/>
              </a:rPr>
              <a:t>掌握软件危机的产生、表现及原因；</a:t>
            </a:r>
          </a:p>
          <a:p>
            <a:pPr eaLnBrk="0" hangingPunct="0">
              <a:lnSpc>
                <a:spcPct val="130000"/>
              </a:lnSpc>
              <a:spcBef>
                <a:spcPct val="20000"/>
              </a:spcBef>
              <a:buClr>
                <a:srgbClr val="336600"/>
              </a:buClr>
              <a:buFont typeface="Wingdings" panose="05000000000000000000" pitchFamily="2" charset="2"/>
              <a:buChar char="n"/>
            </a:pPr>
            <a:r>
              <a:rPr lang="en-US" altLang="zh-CN" sz="1500" b="1">
                <a:solidFill>
                  <a:srgbClr val="000000"/>
                </a:solidFill>
                <a:latin typeface="微软雅黑" panose="020B0503020204020204" pitchFamily="34" charset="-122"/>
                <a:ea typeface="微软雅黑" panose="020B0503020204020204" pitchFamily="34" charset="-122"/>
              </a:rPr>
              <a:t>[3]</a:t>
            </a:r>
            <a:r>
              <a:rPr lang="zh-CN" altLang="en-US" sz="1500" b="1">
                <a:solidFill>
                  <a:srgbClr val="000000"/>
                </a:solidFill>
                <a:latin typeface="微软雅黑" panose="020B0503020204020204" pitchFamily="34" charset="-122"/>
                <a:ea typeface="微软雅黑" panose="020B0503020204020204" pitchFamily="34" charset="-122"/>
              </a:rPr>
              <a:t>掌握软件工程的定义以及基本原理；</a:t>
            </a:r>
          </a:p>
          <a:p>
            <a:pPr eaLnBrk="0" hangingPunct="0">
              <a:lnSpc>
                <a:spcPct val="130000"/>
              </a:lnSpc>
              <a:spcBef>
                <a:spcPct val="20000"/>
              </a:spcBef>
              <a:buClr>
                <a:srgbClr val="336600"/>
              </a:buClr>
              <a:buFont typeface="Wingdings" panose="05000000000000000000" pitchFamily="2" charset="2"/>
              <a:buChar char="n"/>
            </a:pPr>
            <a:r>
              <a:rPr lang="en-US" altLang="zh-CN" sz="1500" b="1">
                <a:solidFill>
                  <a:srgbClr val="000000"/>
                </a:solidFill>
                <a:latin typeface="微软雅黑" panose="020B0503020204020204" pitchFamily="34" charset="-122"/>
                <a:ea typeface="微软雅黑" panose="020B0503020204020204" pitchFamily="34" charset="-122"/>
              </a:rPr>
              <a:t>[4]</a:t>
            </a:r>
            <a:r>
              <a:rPr lang="zh-CN" altLang="en-US" sz="1500" b="1">
                <a:solidFill>
                  <a:srgbClr val="000000"/>
                </a:solidFill>
                <a:latin typeface="微软雅黑" panose="020B0503020204020204" pitchFamily="34" charset="-122"/>
                <a:ea typeface="微软雅黑" panose="020B0503020204020204" pitchFamily="34" charset="-122"/>
              </a:rPr>
              <a:t>掌握软件生存周期概念；</a:t>
            </a:r>
          </a:p>
          <a:p>
            <a:pPr eaLnBrk="0" hangingPunct="0">
              <a:lnSpc>
                <a:spcPct val="130000"/>
              </a:lnSpc>
              <a:spcBef>
                <a:spcPct val="20000"/>
              </a:spcBef>
              <a:buClr>
                <a:srgbClr val="336600"/>
              </a:buClr>
              <a:buFont typeface="Wingdings" panose="05000000000000000000" pitchFamily="2" charset="2"/>
              <a:buChar char="n"/>
            </a:pPr>
            <a:r>
              <a:rPr lang="en-US" altLang="zh-CN" sz="1500" b="1">
                <a:solidFill>
                  <a:srgbClr val="000000"/>
                </a:solidFill>
                <a:latin typeface="微软雅黑" panose="020B0503020204020204" pitchFamily="34" charset="-122"/>
                <a:ea typeface="微软雅黑" panose="020B0503020204020204" pitchFamily="34" charset="-122"/>
              </a:rPr>
              <a:t>[5]</a:t>
            </a:r>
            <a:r>
              <a:rPr lang="zh-CN" altLang="en-US" sz="1500" b="1">
                <a:solidFill>
                  <a:srgbClr val="000000"/>
                </a:solidFill>
                <a:latin typeface="微软雅黑" panose="020B0503020204020204" pitchFamily="34" charset="-122"/>
                <a:ea typeface="微软雅黑" panose="020B0503020204020204" pitchFamily="34" charset="-122"/>
              </a:rPr>
              <a:t>理解软件开发模型；</a:t>
            </a:r>
          </a:p>
          <a:p>
            <a:pPr eaLnBrk="0" hangingPunct="0">
              <a:lnSpc>
                <a:spcPct val="130000"/>
              </a:lnSpc>
              <a:spcBef>
                <a:spcPct val="20000"/>
              </a:spcBef>
              <a:buClr>
                <a:srgbClr val="336600"/>
              </a:buClr>
              <a:buFont typeface="Wingdings" panose="05000000000000000000" pitchFamily="2" charset="2"/>
              <a:buChar char="n"/>
            </a:pPr>
            <a:r>
              <a:rPr lang="en-US" altLang="zh-CN" sz="1500" b="1">
                <a:solidFill>
                  <a:srgbClr val="000000"/>
                </a:solidFill>
                <a:latin typeface="微软雅黑" panose="020B0503020204020204" pitchFamily="34" charset="-122"/>
                <a:ea typeface="微软雅黑" panose="020B0503020204020204" pitchFamily="34" charset="-122"/>
              </a:rPr>
              <a:t>[6]</a:t>
            </a:r>
            <a:r>
              <a:rPr lang="zh-CN" altLang="en-US" sz="1500" b="1">
                <a:solidFill>
                  <a:srgbClr val="000000"/>
                </a:solidFill>
                <a:latin typeface="微软雅黑" panose="020B0503020204020204" pitchFamily="34" charset="-122"/>
                <a:ea typeface="微软雅黑" panose="020B0503020204020204" pitchFamily="34" charset="-122"/>
              </a:rPr>
              <a:t>了解软件开发工具与环境。</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9" presetClass="entr" presetSubtype="0" fill="hold" nodeType="withEffect">
                                  <p:stCondLst>
                                    <p:cond delay="0"/>
                                  </p:stCondLst>
                                  <p:childTnLst>
                                    <p:set>
                                      <p:cBhvr>
                                        <p:cTn id="17" dur="1" fill="hold">
                                          <p:stCondLst>
                                            <p:cond delay="0"/>
                                          </p:stCondLst>
                                        </p:cTn>
                                        <p:tgtEl>
                                          <p:spTgt spid="12294"/>
                                        </p:tgtEl>
                                        <p:attrNameLst>
                                          <p:attrName>style.visibility</p:attrName>
                                        </p:attrNameLst>
                                      </p:cBhvr>
                                      <p:to>
                                        <p:strVal val="visible"/>
                                      </p:to>
                                    </p:set>
                                    <p:animEffect transition="in" filter="dissolve">
                                      <p:cBhvr>
                                        <p:cTn id="18" dur="500"/>
                                        <p:tgtEl>
                                          <p:spTgt spid="12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4">
            <a:extLst>
              <a:ext uri="{FF2B5EF4-FFF2-40B4-BE49-F238E27FC236}">
                <a16:creationId xmlns:a16="http://schemas.microsoft.com/office/drawing/2014/main" id="{2E794A1D-48E5-46AC-8446-217A7CD6CEE3}"/>
              </a:ext>
            </a:extLst>
          </p:cNvPr>
          <p:cNvSpPr txBox="1">
            <a:spLocks noChangeArrowheads="1"/>
          </p:cNvSpPr>
          <p:nvPr/>
        </p:nvSpPr>
        <p:spPr bwMode="auto">
          <a:xfrm>
            <a:off x="653640" y="2119410"/>
            <a:ext cx="8048482" cy="1050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3400" defTabSz="720725">
              <a:defRPr>
                <a:solidFill>
                  <a:schemeClr val="tx1"/>
                </a:solidFill>
                <a:latin typeface="Calibri" panose="020F0502020204030204" pitchFamily="34" charset="0"/>
                <a:ea typeface="宋体" panose="02010600030101010101" pitchFamily="2" charset="-122"/>
              </a:defRPr>
            </a:lvl1pPr>
            <a:lvl2pPr defTabSz="720725">
              <a:defRPr>
                <a:solidFill>
                  <a:schemeClr val="tx1"/>
                </a:solidFill>
                <a:latin typeface="Calibri" panose="020F0502020204030204" pitchFamily="34" charset="0"/>
                <a:ea typeface="宋体" panose="02010600030101010101" pitchFamily="2" charset="-122"/>
              </a:defRPr>
            </a:lvl2pPr>
            <a:lvl3pPr defTabSz="720725">
              <a:defRPr>
                <a:solidFill>
                  <a:schemeClr val="tx1"/>
                </a:solidFill>
                <a:latin typeface="Calibri" panose="020F0502020204030204" pitchFamily="34" charset="0"/>
                <a:ea typeface="宋体" panose="02010600030101010101" pitchFamily="2" charset="-122"/>
              </a:defRPr>
            </a:lvl3pPr>
            <a:lvl4pPr defTabSz="720725">
              <a:defRPr>
                <a:solidFill>
                  <a:schemeClr val="tx1"/>
                </a:solidFill>
                <a:latin typeface="Calibri" panose="020F0502020204030204" pitchFamily="34" charset="0"/>
                <a:ea typeface="宋体" panose="02010600030101010101" pitchFamily="2" charset="-122"/>
              </a:defRPr>
            </a:lvl4pPr>
            <a:lvl5pPr defTabSz="720725">
              <a:defRPr>
                <a:solidFill>
                  <a:schemeClr val="tx1"/>
                </a:solidFill>
                <a:latin typeface="Calibri" panose="020F0502020204030204" pitchFamily="34" charset="0"/>
                <a:ea typeface="宋体" panose="02010600030101010101" pitchFamily="2" charset="-122"/>
              </a:defRPr>
            </a:lvl5pPr>
            <a:lvl6pPr defTabSz="7207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defTabSz="7207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defTabSz="7207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defTabSz="7207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35000"/>
              </a:lnSpc>
              <a:spcBef>
                <a:spcPct val="30000"/>
              </a:spcBef>
            </a:pPr>
            <a:r>
              <a:rPr lang="en-US" altLang="zh-CN" sz="1500" b="1" dirty="0">
                <a:latin typeface="+mn-lt"/>
                <a:ea typeface="+mn-ea"/>
                <a:cs typeface="+mn-cs"/>
              </a:rPr>
              <a:t>1</a:t>
            </a:r>
            <a:r>
              <a:rPr lang="zh-CN" altLang="en-US" sz="1500" b="1" dirty="0">
                <a:latin typeface="+mn-lt"/>
                <a:ea typeface="+mn-ea"/>
                <a:cs typeface="+mn-cs"/>
              </a:rPr>
              <a:t>．软件的定义</a:t>
            </a:r>
          </a:p>
          <a:p>
            <a:pPr>
              <a:lnSpc>
                <a:spcPct val="135000"/>
              </a:lnSpc>
              <a:spcBef>
                <a:spcPct val="30000"/>
              </a:spcBef>
            </a:pPr>
            <a:r>
              <a:rPr lang="zh-CN" altLang="en-US" sz="1500" b="1" dirty="0">
                <a:latin typeface="+mn-lt"/>
                <a:ea typeface="+mn-ea"/>
                <a:cs typeface="+mn-cs"/>
              </a:rPr>
              <a:t>软件是计算机中与硬件相互依存的另一部分，软件包括程序、数据及其相关文档的完整集合。</a:t>
            </a:r>
          </a:p>
        </p:txBody>
      </p:sp>
      <p:sp>
        <p:nvSpPr>
          <p:cNvPr id="13325" name="Line 13">
            <a:extLst>
              <a:ext uri="{FF2B5EF4-FFF2-40B4-BE49-F238E27FC236}">
                <a16:creationId xmlns:a16="http://schemas.microsoft.com/office/drawing/2014/main" id="{BA925BA3-4C4C-4154-AAF8-67A8DBD6531D}"/>
              </a:ext>
            </a:extLst>
          </p:cNvPr>
          <p:cNvSpPr>
            <a:spLocks noChangeShapeType="1"/>
          </p:cNvSpPr>
          <p:nvPr/>
        </p:nvSpPr>
        <p:spPr bwMode="auto">
          <a:xfrm>
            <a:off x="546469" y="1800281"/>
            <a:ext cx="29709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6" name="Text Box 14">
            <a:extLst>
              <a:ext uri="{FF2B5EF4-FFF2-40B4-BE49-F238E27FC236}">
                <a16:creationId xmlns:a16="http://schemas.microsoft.com/office/drawing/2014/main" id="{A5F38AA6-8121-41F3-A4D8-D3ACAB213233}"/>
              </a:ext>
            </a:extLst>
          </p:cNvPr>
          <p:cNvSpPr txBox="1">
            <a:spLocks noChangeArrowheads="1"/>
          </p:cNvSpPr>
          <p:nvPr/>
        </p:nvSpPr>
        <p:spPr bwMode="auto">
          <a:xfrm>
            <a:off x="762000" y="1371600"/>
            <a:ext cx="273664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50" b="1"/>
              <a:t>1.1.1   </a:t>
            </a:r>
            <a:r>
              <a:rPr lang="zh-CN" altLang="en-US" sz="1650" b="1"/>
              <a:t>软件的定义及其特点</a:t>
            </a:r>
          </a:p>
        </p:txBody>
      </p:sp>
      <p:sp>
        <p:nvSpPr>
          <p:cNvPr id="12294" name="椭圆 7175">
            <a:extLst>
              <a:ext uri="{FF2B5EF4-FFF2-40B4-BE49-F238E27FC236}">
                <a16:creationId xmlns:a16="http://schemas.microsoft.com/office/drawing/2014/main" id="{5062B197-FFAD-4F91-B308-8578FF8F6AF1}"/>
              </a:ext>
            </a:extLst>
          </p:cNvPr>
          <p:cNvSpPr>
            <a:spLocks noChangeArrowheads="1"/>
          </p:cNvSpPr>
          <p:nvPr/>
        </p:nvSpPr>
        <p:spPr bwMode="auto">
          <a:xfrm>
            <a:off x="774791" y="3982891"/>
            <a:ext cx="999659" cy="864506"/>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500" b="1"/>
              <a:t>软件</a:t>
            </a:r>
          </a:p>
        </p:txBody>
      </p:sp>
      <p:sp>
        <p:nvSpPr>
          <p:cNvPr id="12295" name="椭圆 7176">
            <a:extLst>
              <a:ext uri="{FF2B5EF4-FFF2-40B4-BE49-F238E27FC236}">
                <a16:creationId xmlns:a16="http://schemas.microsoft.com/office/drawing/2014/main" id="{65B9B111-5D75-4554-AE16-012944AE8AC3}"/>
              </a:ext>
            </a:extLst>
          </p:cNvPr>
          <p:cNvSpPr>
            <a:spLocks noChangeArrowheads="1"/>
          </p:cNvSpPr>
          <p:nvPr/>
        </p:nvSpPr>
        <p:spPr bwMode="auto">
          <a:xfrm>
            <a:off x="2333522" y="3982891"/>
            <a:ext cx="985557" cy="863315"/>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500" b="1"/>
              <a:t>程序</a:t>
            </a:r>
          </a:p>
        </p:txBody>
      </p:sp>
      <p:sp>
        <p:nvSpPr>
          <p:cNvPr id="12296" name="椭圆 7177">
            <a:extLst>
              <a:ext uri="{FF2B5EF4-FFF2-40B4-BE49-F238E27FC236}">
                <a16:creationId xmlns:a16="http://schemas.microsoft.com/office/drawing/2014/main" id="{085430F1-E27E-4EC8-AA5A-CE69D1427CD7}"/>
              </a:ext>
            </a:extLst>
          </p:cNvPr>
          <p:cNvSpPr>
            <a:spLocks noChangeArrowheads="1"/>
          </p:cNvSpPr>
          <p:nvPr/>
        </p:nvSpPr>
        <p:spPr bwMode="auto">
          <a:xfrm>
            <a:off x="3642971" y="3999563"/>
            <a:ext cx="971677" cy="863315"/>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500" b="1"/>
              <a:t>数据</a:t>
            </a:r>
          </a:p>
        </p:txBody>
      </p:sp>
      <p:sp>
        <p:nvSpPr>
          <p:cNvPr id="12297" name="椭圆 7178">
            <a:extLst>
              <a:ext uri="{FF2B5EF4-FFF2-40B4-BE49-F238E27FC236}">
                <a16:creationId xmlns:a16="http://schemas.microsoft.com/office/drawing/2014/main" id="{FDFF1069-B90C-487C-B28A-008F3295C951}"/>
              </a:ext>
            </a:extLst>
          </p:cNvPr>
          <p:cNvSpPr>
            <a:spLocks noChangeArrowheads="1"/>
          </p:cNvSpPr>
          <p:nvPr/>
        </p:nvSpPr>
        <p:spPr bwMode="auto">
          <a:xfrm>
            <a:off x="4884956" y="3999562"/>
            <a:ext cx="1134813" cy="808539"/>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500" b="1"/>
              <a:t>文档</a:t>
            </a:r>
          </a:p>
        </p:txBody>
      </p:sp>
      <p:sp>
        <p:nvSpPr>
          <p:cNvPr id="12298" name="矩形 7179">
            <a:extLst>
              <a:ext uri="{FF2B5EF4-FFF2-40B4-BE49-F238E27FC236}">
                <a16:creationId xmlns:a16="http://schemas.microsoft.com/office/drawing/2014/main" id="{4C9A4933-1268-4857-88A9-FA7CF4170D84}"/>
              </a:ext>
            </a:extLst>
          </p:cNvPr>
          <p:cNvSpPr>
            <a:spLocks noChangeArrowheads="1"/>
          </p:cNvSpPr>
          <p:nvPr/>
        </p:nvSpPr>
        <p:spPr bwMode="auto">
          <a:xfrm>
            <a:off x="1968735" y="4268679"/>
            <a:ext cx="323892" cy="53585"/>
          </a:xfrm>
          <a:prstGeom prst="rect">
            <a:avLst/>
          </a:prstGeom>
          <a:solidFill>
            <a:schemeClr val="accent1"/>
          </a:solidFill>
          <a:ln w="9525">
            <a:solidFill>
              <a:schemeClr val="tx1"/>
            </a:solidFill>
            <a:miter lim="800000"/>
            <a:headEnd/>
            <a:tailEnd/>
          </a:ln>
        </p:spPr>
        <p:txBody>
          <a:bodyPr/>
          <a:lstStyle/>
          <a:p>
            <a:endParaRPr lang="zh-CN" altLang="en-US"/>
          </a:p>
        </p:txBody>
      </p:sp>
      <p:sp>
        <p:nvSpPr>
          <p:cNvPr id="12299" name="矩形 7180">
            <a:extLst>
              <a:ext uri="{FF2B5EF4-FFF2-40B4-BE49-F238E27FC236}">
                <a16:creationId xmlns:a16="http://schemas.microsoft.com/office/drawing/2014/main" id="{B8D43C12-1EEB-48E3-AB80-9DA987E2A1B4}"/>
              </a:ext>
            </a:extLst>
          </p:cNvPr>
          <p:cNvSpPr>
            <a:spLocks noChangeArrowheads="1"/>
          </p:cNvSpPr>
          <p:nvPr/>
        </p:nvSpPr>
        <p:spPr bwMode="auto">
          <a:xfrm>
            <a:off x="1968735" y="4430625"/>
            <a:ext cx="323892" cy="53585"/>
          </a:xfrm>
          <a:prstGeom prst="rect">
            <a:avLst/>
          </a:prstGeom>
          <a:solidFill>
            <a:schemeClr val="accent1"/>
          </a:solidFill>
          <a:ln w="9525">
            <a:solidFill>
              <a:schemeClr val="tx1"/>
            </a:solidFill>
            <a:miter lim="800000"/>
            <a:headEnd/>
            <a:tailEnd/>
          </a:ln>
        </p:spPr>
        <p:txBody>
          <a:bodyPr/>
          <a:lstStyle/>
          <a:p>
            <a:endParaRPr lang="zh-CN" altLang="en-US"/>
          </a:p>
        </p:txBody>
      </p:sp>
      <p:sp>
        <p:nvSpPr>
          <p:cNvPr id="12300" name="矩形 7181">
            <a:extLst>
              <a:ext uri="{FF2B5EF4-FFF2-40B4-BE49-F238E27FC236}">
                <a16:creationId xmlns:a16="http://schemas.microsoft.com/office/drawing/2014/main" id="{9A101715-154B-4CA0-B9FC-CE7756BFA4EF}"/>
              </a:ext>
            </a:extLst>
          </p:cNvPr>
          <p:cNvSpPr>
            <a:spLocks noChangeArrowheads="1"/>
          </p:cNvSpPr>
          <p:nvPr/>
        </p:nvSpPr>
        <p:spPr bwMode="auto">
          <a:xfrm>
            <a:off x="3264304" y="4377039"/>
            <a:ext cx="323892" cy="53585"/>
          </a:xfrm>
          <a:prstGeom prst="rect">
            <a:avLst/>
          </a:prstGeom>
          <a:solidFill>
            <a:schemeClr val="accent1"/>
          </a:solidFill>
          <a:ln w="9525">
            <a:solidFill>
              <a:schemeClr val="tx1"/>
            </a:solidFill>
            <a:miter lim="800000"/>
            <a:headEnd/>
            <a:tailEnd/>
          </a:ln>
        </p:spPr>
        <p:txBody>
          <a:bodyPr/>
          <a:lstStyle/>
          <a:p>
            <a:endParaRPr lang="zh-CN" altLang="en-US"/>
          </a:p>
        </p:txBody>
      </p:sp>
      <p:sp>
        <p:nvSpPr>
          <p:cNvPr id="12301" name="矩形 7182">
            <a:extLst>
              <a:ext uri="{FF2B5EF4-FFF2-40B4-BE49-F238E27FC236}">
                <a16:creationId xmlns:a16="http://schemas.microsoft.com/office/drawing/2014/main" id="{8624915C-13B9-468E-9449-B9D48286C35C}"/>
              </a:ext>
            </a:extLst>
          </p:cNvPr>
          <p:cNvSpPr>
            <a:spLocks noChangeArrowheads="1"/>
          </p:cNvSpPr>
          <p:nvPr/>
        </p:nvSpPr>
        <p:spPr bwMode="auto">
          <a:xfrm>
            <a:off x="4507478" y="4377039"/>
            <a:ext cx="323892" cy="53585"/>
          </a:xfrm>
          <a:prstGeom prst="rect">
            <a:avLst/>
          </a:prstGeom>
          <a:solidFill>
            <a:schemeClr val="accent1"/>
          </a:solidFill>
          <a:ln w="9525">
            <a:solidFill>
              <a:schemeClr val="tx1"/>
            </a:solidFill>
            <a:miter lim="800000"/>
            <a:headEnd/>
            <a:tailEnd/>
          </a:ln>
        </p:spPr>
        <p:txBody>
          <a:bodyPr/>
          <a:lstStyle/>
          <a:p>
            <a:endParaRPr lang="zh-CN" altLang="en-US"/>
          </a:p>
        </p:txBody>
      </p:sp>
      <p:sp>
        <p:nvSpPr>
          <p:cNvPr id="12302" name="矩形 7183">
            <a:extLst>
              <a:ext uri="{FF2B5EF4-FFF2-40B4-BE49-F238E27FC236}">
                <a16:creationId xmlns:a16="http://schemas.microsoft.com/office/drawing/2014/main" id="{273D67BD-71DD-4B86-849C-5FA31B8B25EF}"/>
              </a:ext>
            </a:extLst>
          </p:cNvPr>
          <p:cNvSpPr>
            <a:spLocks noChangeArrowheads="1"/>
          </p:cNvSpPr>
          <p:nvPr/>
        </p:nvSpPr>
        <p:spPr bwMode="auto">
          <a:xfrm>
            <a:off x="3391718" y="4240100"/>
            <a:ext cx="53585" cy="323892"/>
          </a:xfrm>
          <a:prstGeom prst="rect">
            <a:avLst/>
          </a:prstGeom>
          <a:solidFill>
            <a:schemeClr val="accent1"/>
          </a:solidFill>
          <a:ln w="9525">
            <a:solidFill>
              <a:schemeClr val="tx1"/>
            </a:solidFill>
            <a:miter lim="800000"/>
            <a:headEnd/>
            <a:tailEnd/>
          </a:ln>
        </p:spPr>
        <p:txBody>
          <a:bodyPr/>
          <a:lstStyle/>
          <a:p>
            <a:endParaRPr lang="zh-CN" altLang="en-US"/>
          </a:p>
        </p:txBody>
      </p:sp>
      <p:sp>
        <p:nvSpPr>
          <p:cNvPr id="12303" name="矩形 7184">
            <a:extLst>
              <a:ext uri="{FF2B5EF4-FFF2-40B4-BE49-F238E27FC236}">
                <a16:creationId xmlns:a16="http://schemas.microsoft.com/office/drawing/2014/main" id="{B6C35888-B511-46CC-B929-525CFABBB229}"/>
              </a:ext>
            </a:extLst>
          </p:cNvPr>
          <p:cNvSpPr>
            <a:spLocks noChangeArrowheads="1"/>
          </p:cNvSpPr>
          <p:nvPr/>
        </p:nvSpPr>
        <p:spPr bwMode="auto">
          <a:xfrm>
            <a:off x="4650372" y="4253198"/>
            <a:ext cx="53585" cy="323892"/>
          </a:xfrm>
          <a:prstGeom prst="rect">
            <a:avLst/>
          </a:prstGeom>
          <a:solidFill>
            <a:schemeClr val="accent1"/>
          </a:solidFill>
          <a:ln w="9525">
            <a:solidFill>
              <a:schemeClr val="tx1"/>
            </a:solidFill>
            <a:miter lim="800000"/>
            <a:headEnd/>
            <a:tailEnd/>
          </a:ln>
        </p:spPr>
        <p:txBody>
          <a:bodyPr/>
          <a:lstStyle/>
          <a:p>
            <a:endParaRPr lang="zh-CN" altLang="en-US"/>
          </a:p>
        </p:txBody>
      </p:sp>
      <p:sp>
        <p:nvSpPr>
          <p:cNvPr id="7186" name="矩形 7185">
            <a:extLst>
              <a:ext uri="{FF2B5EF4-FFF2-40B4-BE49-F238E27FC236}">
                <a16:creationId xmlns:a16="http://schemas.microsoft.com/office/drawing/2014/main" id="{09BB3E91-14C8-4C34-BC53-68D3DA380FF4}"/>
              </a:ext>
            </a:extLst>
          </p:cNvPr>
          <p:cNvSpPr>
            <a:spLocks noChangeArrowheads="1"/>
          </p:cNvSpPr>
          <p:nvPr/>
        </p:nvSpPr>
        <p:spPr bwMode="auto">
          <a:xfrm>
            <a:off x="1190522" y="3398027"/>
            <a:ext cx="54938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t>程序是按事先设计的功能和性能要求执行的指令序列</a:t>
            </a:r>
          </a:p>
        </p:txBody>
      </p:sp>
      <p:sp>
        <p:nvSpPr>
          <p:cNvPr id="7187" name="矩形 7186">
            <a:extLst>
              <a:ext uri="{FF2B5EF4-FFF2-40B4-BE49-F238E27FC236}">
                <a16:creationId xmlns:a16="http://schemas.microsoft.com/office/drawing/2014/main" id="{3394A9D4-6342-4BF4-9BB6-D46460D52AEA}"/>
              </a:ext>
            </a:extLst>
          </p:cNvPr>
          <p:cNvSpPr>
            <a:spLocks noChangeArrowheads="1"/>
          </p:cNvSpPr>
          <p:nvPr/>
        </p:nvSpPr>
        <p:spPr bwMode="auto">
          <a:xfrm>
            <a:off x="571869" y="5195564"/>
            <a:ext cx="48013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t>数据是使程序能够正确地处理信息的数据结构</a:t>
            </a:r>
          </a:p>
        </p:txBody>
      </p:sp>
      <p:sp>
        <p:nvSpPr>
          <p:cNvPr id="7188" name="矩形 7187">
            <a:extLst>
              <a:ext uri="{FF2B5EF4-FFF2-40B4-BE49-F238E27FC236}">
                <a16:creationId xmlns:a16="http://schemas.microsoft.com/office/drawing/2014/main" id="{F7A3870A-606D-49AC-8145-BC4FCB73DF79}"/>
              </a:ext>
            </a:extLst>
          </p:cNvPr>
          <p:cNvSpPr>
            <a:spLocks noChangeArrowheads="1"/>
          </p:cNvSpPr>
          <p:nvPr/>
        </p:nvSpPr>
        <p:spPr bwMode="auto">
          <a:xfrm>
            <a:off x="3238904" y="5671416"/>
            <a:ext cx="5032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t>文档是与程序开发、维护和使用有关的图文资料</a:t>
            </a:r>
          </a:p>
        </p:txBody>
      </p:sp>
      <p:sp>
        <p:nvSpPr>
          <p:cNvPr id="7189" name="直接连接符 7188">
            <a:extLst>
              <a:ext uri="{FF2B5EF4-FFF2-40B4-BE49-F238E27FC236}">
                <a16:creationId xmlns:a16="http://schemas.microsoft.com/office/drawing/2014/main" id="{25E33179-4FC6-4C20-A5F2-E091843CCCF5}"/>
              </a:ext>
            </a:extLst>
          </p:cNvPr>
          <p:cNvSpPr>
            <a:spLocks noChangeShapeType="1"/>
          </p:cNvSpPr>
          <p:nvPr/>
        </p:nvSpPr>
        <p:spPr bwMode="auto">
          <a:xfrm flipH="1" flipV="1">
            <a:off x="2774155" y="3767359"/>
            <a:ext cx="0" cy="208579"/>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90" name="直接连接符 7189">
            <a:extLst>
              <a:ext uri="{FF2B5EF4-FFF2-40B4-BE49-F238E27FC236}">
                <a16:creationId xmlns:a16="http://schemas.microsoft.com/office/drawing/2014/main" id="{65573696-586B-4503-86F0-7F2895DAB375}"/>
              </a:ext>
            </a:extLst>
          </p:cNvPr>
          <p:cNvSpPr>
            <a:spLocks noChangeShapeType="1"/>
          </p:cNvSpPr>
          <p:nvPr/>
        </p:nvSpPr>
        <p:spPr bwMode="auto">
          <a:xfrm flipH="1">
            <a:off x="4128805" y="4862878"/>
            <a:ext cx="3" cy="315461"/>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91" name="直接连接符 7190">
            <a:extLst>
              <a:ext uri="{FF2B5EF4-FFF2-40B4-BE49-F238E27FC236}">
                <a16:creationId xmlns:a16="http://schemas.microsoft.com/office/drawing/2014/main" id="{5199B0FC-2AFC-400D-AD70-66427F07C12E}"/>
              </a:ext>
            </a:extLst>
          </p:cNvPr>
          <p:cNvSpPr>
            <a:spLocks noChangeShapeType="1"/>
          </p:cNvSpPr>
          <p:nvPr/>
        </p:nvSpPr>
        <p:spPr bwMode="auto">
          <a:xfrm flipH="1">
            <a:off x="5424378" y="4808102"/>
            <a:ext cx="2" cy="863314"/>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矩形 25">
            <a:extLst>
              <a:ext uri="{FF2B5EF4-FFF2-40B4-BE49-F238E27FC236}">
                <a16:creationId xmlns:a16="http://schemas.microsoft.com/office/drawing/2014/main" id="{984A4634-1DCB-4327-8456-5A902434E635}"/>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27" name="矩形 17">
            <a:extLst>
              <a:ext uri="{FF2B5EF4-FFF2-40B4-BE49-F238E27FC236}">
                <a16:creationId xmlns:a16="http://schemas.microsoft.com/office/drawing/2014/main" id="{09A5AB4C-B44E-493C-89D1-A60D8C21B6EC}"/>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a:latin typeface="微软雅黑" panose="020B0503020204020204" pitchFamily="34" charset="-122"/>
                <a:ea typeface="微软雅黑" panose="020B0503020204020204" pitchFamily="34" charset="-122"/>
              </a:rPr>
              <a:t>第</a:t>
            </a: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章</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13325"/>
                                        </p:tgtEl>
                                        <p:attrNameLst>
                                          <p:attrName>style.visibility</p:attrName>
                                        </p:attrNameLst>
                                      </p:cBhvr>
                                      <p:to>
                                        <p:strVal val="visible"/>
                                      </p:to>
                                    </p:set>
                                    <p:animEffect transition="in" filter="slide(fromLeft)">
                                      <p:cBhvr>
                                        <p:cTn id="7" dur="1000"/>
                                        <p:tgtEl>
                                          <p:spTgt spid="13325"/>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3326"/>
                                        </p:tgtEl>
                                        <p:attrNameLst>
                                          <p:attrName>style.visibility</p:attrName>
                                        </p:attrNameLst>
                                      </p:cBhvr>
                                      <p:to>
                                        <p:strVal val="visible"/>
                                      </p:to>
                                    </p:set>
                                    <p:animEffect transition="in" filter="slide(fromBottom)">
                                      <p:cBhvr>
                                        <p:cTn id="11" dur="500"/>
                                        <p:tgtEl>
                                          <p:spTgt spid="13326"/>
                                        </p:tgtEl>
                                      </p:cBhvr>
                                    </p:animEffect>
                                  </p:childTnLst>
                                </p:cTn>
                              </p:par>
                            </p:childTnLst>
                          </p:cTn>
                        </p:par>
                        <p:par>
                          <p:cTn id="12" fill="hold" nodeType="afterGroup">
                            <p:stCondLst>
                              <p:cond delay="1500"/>
                            </p:stCondLst>
                            <p:childTnLst>
                              <p:par>
                                <p:cTn id="13" presetID="42"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par>
                          <p:cTn id="18" fill="hold">
                            <p:stCondLst>
                              <p:cond delay="2500"/>
                            </p:stCondLst>
                            <p:childTnLst>
                              <p:par>
                                <p:cTn id="19" presetID="12" presetClass="entr" presetSubtype="4"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slide(fromBottom)">
                                      <p:cBhvr>
                                        <p:cTn id="21" dur="500"/>
                                        <p:tgtEl>
                                          <p:spTgt spid="27"/>
                                        </p:tgtEl>
                                      </p:cBhvr>
                                    </p:animEffect>
                                  </p:childTnLst>
                                </p:cTn>
                              </p:par>
                            </p:childTnLst>
                          </p:cTn>
                        </p:par>
                        <p:par>
                          <p:cTn id="22" fill="hold">
                            <p:stCondLst>
                              <p:cond delay="3000"/>
                            </p:stCondLst>
                            <p:childTnLst>
                              <p:par>
                                <p:cTn id="23" presetID="12" presetClass="entr" presetSubtype="8"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slide(fromLeft)">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6" restart="whenNotActive" fill="hold" evtFilter="cancelBubble" nodeType="interactiveSeq">
                <p:stCondLst>
                  <p:cond evt="onClick" delay="0">
                    <p:tgtEl>
                      <p:spTgt spid="12295"/>
                    </p:tgtEl>
                  </p:cond>
                </p:stCondLst>
                <p:endSync evt="end" delay="0">
                  <p:rtn val="all"/>
                </p:endSync>
                <p:childTnLst>
                  <p:par>
                    <p:cTn id="27" fill="hold" nodeType="clickPar">
                      <p:stCondLst>
                        <p:cond delay="0"/>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8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89"/>
                                        </p:tgtEl>
                                        <p:attrNameLst>
                                          <p:attrName>style.visibility</p:attrName>
                                        </p:attrNameLst>
                                      </p:cBhvr>
                                      <p:to>
                                        <p:strVal val="visible"/>
                                      </p:to>
                                    </p:set>
                                  </p:childTnLst>
                                </p:cTn>
                              </p:par>
                            </p:childTnLst>
                          </p:cTn>
                        </p:par>
                      </p:childTnLst>
                    </p:cTn>
                  </p:par>
                </p:childTnLst>
              </p:cTn>
              <p:nextCondLst>
                <p:cond evt="onClick" delay="0">
                  <p:tgtEl>
                    <p:spTgt spid="12295"/>
                  </p:tgtEl>
                </p:cond>
              </p:nextCondLst>
            </p:seq>
            <p:seq concurrent="1" nextAc="seek">
              <p:cTn id="33" restart="whenNotActive" fill="hold" evtFilter="cancelBubble" nodeType="interactiveSeq">
                <p:stCondLst>
                  <p:cond evt="onClick" delay="0">
                    <p:tgtEl>
                      <p:spTgt spid="12296"/>
                    </p:tgtEl>
                  </p:cond>
                </p:stCondLst>
                <p:endSync evt="end" delay="0">
                  <p:rtn val="all"/>
                </p:endSync>
                <p:childTnLst>
                  <p:par>
                    <p:cTn id="34" fill="hold" nodeType="clickPar">
                      <p:stCondLst>
                        <p:cond delay="0"/>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719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7187"/>
                                        </p:tgtEl>
                                        <p:attrNameLst>
                                          <p:attrName>style.visibility</p:attrName>
                                        </p:attrNameLst>
                                      </p:cBhvr>
                                      <p:to>
                                        <p:strVal val="visible"/>
                                      </p:to>
                                    </p:set>
                                  </p:childTnLst>
                                </p:cTn>
                              </p:par>
                            </p:childTnLst>
                          </p:cTn>
                        </p:par>
                      </p:childTnLst>
                    </p:cTn>
                  </p:par>
                </p:childTnLst>
              </p:cTn>
              <p:nextCondLst>
                <p:cond evt="onClick" delay="0">
                  <p:tgtEl>
                    <p:spTgt spid="12296"/>
                  </p:tgtEl>
                </p:cond>
              </p:nextCondLst>
            </p:seq>
            <p:seq concurrent="1" nextAc="seek">
              <p:cTn id="40" restart="whenNotActive" fill="hold" evtFilter="cancelBubble" nodeType="interactiveSeq">
                <p:stCondLst>
                  <p:cond evt="onClick" delay="0">
                    <p:tgtEl>
                      <p:spTgt spid="12297"/>
                    </p:tgtEl>
                  </p:cond>
                </p:stCondLst>
                <p:endSync evt="end" delay="0">
                  <p:rtn val="all"/>
                </p:endSync>
                <p:childTnLst>
                  <p:par>
                    <p:cTn id="41" fill="hold" nodeType="clickPar">
                      <p:stCondLst>
                        <p:cond delay="0"/>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719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88"/>
                                        </p:tgtEl>
                                        <p:attrNameLst>
                                          <p:attrName>style.visibility</p:attrName>
                                        </p:attrNameLst>
                                      </p:cBhvr>
                                      <p:to>
                                        <p:strVal val="visible"/>
                                      </p:to>
                                    </p:set>
                                  </p:childTnLst>
                                </p:cTn>
                              </p:par>
                            </p:childTnLst>
                          </p:cTn>
                        </p:par>
                      </p:childTnLst>
                    </p:cTn>
                  </p:par>
                </p:childTnLst>
              </p:cTn>
              <p:nextCondLst>
                <p:cond evt="onClick" delay="0">
                  <p:tgtEl>
                    <p:spTgt spid="12297"/>
                  </p:tgtEl>
                </p:cond>
              </p:nextCondLst>
            </p:seq>
          </p:childTnLst>
        </p:cTn>
      </p:par>
    </p:tnLst>
    <p:bldLst>
      <p:bldP spid="4" grpId="0"/>
      <p:bldP spid="13326" grpId="0"/>
      <p:bldP spid="7186" grpId="0"/>
      <p:bldP spid="7187" grpId="0"/>
      <p:bldP spid="7188" grpId="0"/>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a:extLst>
              <a:ext uri="{FF2B5EF4-FFF2-40B4-BE49-F238E27FC236}">
                <a16:creationId xmlns:a16="http://schemas.microsoft.com/office/drawing/2014/main" id="{4E6DA6EE-597C-46FA-A33E-8B5E2E002053}"/>
              </a:ext>
            </a:extLst>
          </p:cNvPr>
          <p:cNvSpPr>
            <a:spLocks noGrp="1" noChangeArrowheads="1"/>
          </p:cNvSpPr>
          <p:nvPr>
            <p:ph type="body" sz="half" idx="4294967295"/>
          </p:nvPr>
        </p:nvSpPr>
        <p:spPr>
          <a:xfrm>
            <a:off x="892244" y="1815070"/>
            <a:ext cx="3895725" cy="379412"/>
          </a:xfrm>
        </p:spPr>
        <p:txBody>
          <a:bodyPr/>
          <a:lstStyle/>
          <a:p>
            <a:pPr marL="0" indent="0">
              <a:lnSpc>
                <a:spcPct val="150000"/>
              </a:lnSpc>
              <a:buNone/>
            </a:pPr>
            <a:r>
              <a:rPr lang="en-US" altLang="zh-CN" sz="1500" dirty="0"/>
              <a:t>2.</a:t>
            </a:r>
            <a:r>
              <a:rPr lang="zh-CN" altLang="en-US" sz="1500" dirty="0"/>
              <a:t>软件具有下列特点：</a:t>
            </a:r>
          </a:p>
          <a:p>
            <a:pPr marL="0" indent="0">
              <a:lnSpc>
                <a:spcPct val="150000"/>
              </a:lnSpc>
              <a:buNone/>
            </a:pPr>
            <a:endParaRPr lang="zh-CN" altLang="en-US" sz="1350" dirty="0"/>
          </a:p>
        </p:txBody>
      </p:sp>
      <p:sp>
        <p:nvSpPr>
          <p:cNvPr id="8" name="Line 13">
            <a:extLst>
              <a:ext uri="{FF2B5EF4-FFF2-40B4-BE49-F238E27FC236}">
                <a16:creationId xmlns:a16="http://schemas.microsoft.com/office/drawing/2014/main" id="{C195E6F9-3E55-4A55-A8DB-BDAE2324B5D1}"/>
              </a:ext>
            </a:extLst>
          </p:cNvPr>
          <p:cNvSpPr>
            <a:spLocks noChangeShapeType="1"/>
          </p:cNvSpPr>
          <p:nvPr/>
        </p:nvSpPr>
        <p:spPr bwMode="auto">
          <a:xfrm>
            <a:off x="476791" y="1647881"/>
            <a:ext cx="29709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Text Box 14">
            <a:extLst>
              <a:ext uri="{FF2B5EF4-FFF2-40B4-BE49-F238E27FC236}">
                <a16:creationId xmlns:a16="http://schemas.microsoft.com/office/drawing/2014/main" id="{8D96A67A-430E-4450-93B2-F55AD92DAD3D}"/>
              </a:ext>
            </a:extLst>
          </p:cNvPr>
          <p:cNvSpPr txBox="1">
            <a:spLocks noChangeArrowheads="1"/>
          </p:cNvSpPr>
          <p:nvPr/>
        </p:nvSpPr>
        <p:spPr bwMode="auto">
          <a:xfrm>
            <a:off x="692322" y="1219200"/>
            <a:ext cx="273664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50" b="1"/>
              <a:t>1.1.1   </a:t>
            </a:r>
            <a:r>
              <a:rPr lang="zh-CN" altLang="en-US" sz="1650" b="1"/>
              <a:t>软件的定义及其特点</a:t>
            </a:r>
          </a:p>
        </p:txBody>
      </p:sp>
      <p:sp>
        <p:nvSpPr>
          <p:cNvPr id="14342" name="文本框 8199">
            <a:extLst>
              <a:ext uri="{FF2B5EF4-FFF2-40B4-BE49-F238E27FC236}">
                <a16:creationId xmlns:a16="http://schemas.microsoft.com/office/drawing/2014/main" id="{52DDB8F5-C38C-4F3C-87B2-957EFC337FFC}"/>
              </a:ext>
            </a:extLst>
          </p:cNvPr>
          <p:cNvSpPr txBox="1">
            <a:spLocks noChangeArrowheads="1"/>
          </p:cNvSpPr>
          <p:nvPr/>
        </p:nvSpPr>
        <p:spPr bwMode="auto">
          <a:xfrm>
            <a:off x="3907095" y="3612765"/>
            <a:ext cx="115330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700" dirty="0">
                <a:ea typeface="楷体" panose="02010609060101010101" pitchFamily="49" charset="-122"/>
              </a:rPr>
              <a:t>软件</a:t>
            </a:r>
          </a:p>
        </p:txBody>
      </p:sp>
      <p:sp>
        <p:nvSpPr>
          <p:cNvPr id="14343" name="椭圆 8200">
            <a:extLst>
              <a:ext uri="{FF2B5EF4-FFF2-40B4-BE49-F238E27FC236}">
                <a16:creationId xmlns:a16="http://schemas.microsoft.com/office/drawing/2014/main" id="{795ABEAB-66B4-495E-A8BA-489F0A9994FF}"/>
              </a:ext>
            </a:extLst>
          </p:cNvPr>
          <p:cNvSpPr>
            <a:spLocks noChangeArrowheads="1"/>
          </p:cNvSpPr>
          <p:nvPr/>
        </p:nvSpPr>
        <p:spPr bwMode="auto">
          <a:xfrm>
            <a:off x="3540756" y="2499349"/>
            <a:ext cx="1479019" cy="539424"/>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是逻辑产品</a:t>
            </a:r>
          </a:p>
        </p:txBody>
      </p:sp>
      <p:sp>
        <p:nvSpPr>
          <p:cNvPr id="14344" name="椭圆 8201">
            <a:extLst>
              <a:ext uri="{FF2B5EF4-FFF2-40B4-BE49-F238E27FC236}">
                <a16:creationId xmlns:a16="http://schemas.microsoft.com/office/drawing/2014/main" id="{AAA9C8B1-8BE4-4172-82CF-59B07790AE3A}"/>
              </a:ext>
            </a:extLst>
          </p:cNvPr>
          <p:cNvSpPr>
            <a:spLocks noChangeArrowheads="1"/>
          </p:cNvSpPr>
          <p:nvPr/>
        </p:nvSpPr>
        <p:spPr bwMode="auto">
          <a:xfrm>
            <a:off x="5073104" y="2865597"/>
            <a:ext cx="1944542" cy="539424"/>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dirty="0"/>
              <a:t>生产与硬件不同</a:t>
            </a:r>
          </a:p>
        </p:txBody>
      </p:sp>
      <p:sp>
        <p:nvSpPr>
          <p:cNvPr id="14345" name="椭圆 8202">
            <a:extLst>
              <a:ext uri="{FF2B5EF4-FFF2-40B4-BE49-F238E27FC236}">
                <a16:creationId xmlns:a16="http://schemas.microsoft.com/office/drawing/2014/main" id="{7A8B0D95-22BB-49D2-8C33-1DFCC5B82DE1}"/>
              </a:ext>
            </a:extLst>
          </p:cNvPr>
          <p:cNvSpPr>
            <a:spLocks noChangeArrowheads="1"/>
          </p:cNvSpPr>
          <p:nvPr/>
        </p:nvSpPr>
        <p:spPr bwMode="auto">
          <a:xfrm>
            <a:off x="5613717" y="3513381"/>
            <a:ext cx="2136527" cy="539424"/>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dirty="0"/>
              <a:t>不会磨损和老化</a:t>
            </a:r>
          </a:p>
        </p:txBody>
      </p:sp>
      <p:sp>
        <p:nvSpPr>
          <p:cNvPr id="14346" name="椭圆 8203">
            <a:extLst>
              <a:ext uri="{FF2B5EF4-FFF2-40B4-BE49-F238E27FC236}">
                <a16:creationId xmlns:a16="http://schemas.microsoft.com/office/drawing/2014/main" id="{584BF940-21CA-4EAB-9F4F-AD48484AA971}"/>
              </a:ext>
            </a:extLst>
          </p:cNvPr>
          <p:cNvSpPr>
            <a:spLocks noChangeArrowheads="1"/>
          </p:cNvSpPr>
          <p:nvPr/>
        </p:nvSpPr>
        <p:spPr bwMode="auto">
          <a:xfrm>
            <a:off x="5289825" y="4215941"/>
            <a:ext cx="1403929" cy="539424"/>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依赖硬件</a:t>
            </a:r>
          </a:p>
        </p:txBody>
      </p:sp>
      <p:sp>
        <p:nvSpPr>
          <p:cNvPr id="14347" name="椭圆 8204">
            <a:extLst>
              <a:ext uri="{FF2B5EF4-FFF2-40B4-BE49-F238E27FC236}">
                <a16:creationId xmlns:a16="http://schemas.microsoft.com/office/drawing/2014/main" id="{0DD36F6A-7CC8-473A-BC18-2B2D42228D09}"/>
              </a:ext>
            </a:extLst>
          </p:cNvPr>
          <p:cNvSpPr>
            <a:spLocks noChangeArrowheads="1"/>
          </p:cNvSpPr>
          <p:nvPr/>
        </p:nvSpPr>
        <p:spPr bwMode="auto">
          <a:xfrm>
            <a:off x="3432138" y="4648790"/>
            <a:ext cx="1696256" cy="539423"/>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手工开发为主</a:t>
            </a:r>
          </a:p>
        </p:txBody>
      </p:sp>
      <p:sp>
        <p:nvSpPr>
          <p:cNvPr id="14348" name="椭圆 8205">
            <a:extLst>
              <a:ext uri="{FF2B5EF4-FFF2-40B4-BE49-F238E27FC236}">
                <a16:creationId xmlns:a16="http://schemas.microsoft.com/office/drawing/2014/main" id="{4CBC4C14-B81E-4C0F-9C6B-6E8604179FCC}"/>
              </a:ext>
            </a:extLst>
          </p:cNvPr>
          <p:cNvSpPr>
            <a:spLocks noChangeArrowheads="1"/>
          </p:cNvSpPr>
          <p:nvPr/>
        </p:nvSpPr>
        <p:spPr bwMode="auto">
          <a:xfrm>
            <a:off x="1503036" y="4019757"/>
            <a:ext cx="1950607" cy="539423"/>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dirty="0"/>
              <a:t>成本高、风险高</a:t>
            </a:r>
          </a:p>
        </p:txBody>
      </p:sp>
      <p:sp>
        <p:nvSpPr>
          <p:cNvPr id="14349" name="椭圆 8206">
            <a:extLst>
              <a:ext uri="{FF2B5EF4-FFF2-40B4-BE49-F238E27FC236}">
                <a16:creationId xmlns:a16="http://schemas.microsoft.com/office/drawing/2014/main" id="{27E35525-D55F-4309-9F98-BEEA080B13E8}"/>
              </a:ext>
            </a:extLst>
          </p:cNvPr>
          <p:cNvSpPr>
            <a:spLocks noChangeArrowheads="1"/>
          </p:cNvSpPr>
          <p:nvPr/>
        </p:nvSpPr>
        <p:spPr bwMode="auto">
          <a:xfrm>
            <a:off x="1806644" y="3027543"/>
            <a:ext cx="1696255" cy="539424"/>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比硬件发展慢</a:t>
            </a:r>
          </a:p>
        </p:txBody>
      </p:sp>
      <p:sp>
        <p:nvSpPr>
          <p:cNvPr id="17" name="矩形 16">
            <a:extLst>
              <a:ext uri="{FF2B5EF4-FFF2-40B4-BE49-F238E27FC236}">
                <a16:creationId xmlns:a16="http://schemas.microsoft.com/office/drawing/2014/main" id="{D30CDDB5-E631-47BB-A226-81BE2BC47B35}"/>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18" name="矩形 17">
            <a:extLst>
              <a:ext uri="{FF2B5EF4-FFF2-40B4-BE49-F238E27FC236}">
                <a16:creationId xmlns:a16="http://schemas.microsoft.com/office/drawing/2014/main" id="{1F9B1227-A688-4477-87D0-488C4A42ED96}"/>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a:latin typeface="微软雅黑" panose="020B0503020204020204" pitchFamily="34" charset="-122"/>
                <a:ea typeface="微软雅黑" panose="020B0503020204020204" pitchFamily="34" charset="-122"/>
              </a:rPr>
              <a:t>第</a:t>
            </a: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Bottom)">
                                      <p:cBhvr>
                                        <p:cTn id="11" dur="500"/>
                                        <p:tgtEl>
                                          <p:spTgt spid="9"/>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slide(fromBottom)">
                                      <p:cBhvr>
                                        <p:cTn id="15" dur="500"/>
                                        <p:tgtEl>
                                          <p:spTgt spid="18"/>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slide(fromLeft)">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3">
            <a:extLst>
              <a:ext uri="{FF2B5EF4-FFF2-40B4-BE49-F238E27FC236}">
                <a16:creationId xmlns:a16="http://schemas.microsoft.com/office/drawing/2014/main" id="{996A75CA-8475-4661-916D-7CA09D110AB2}"/>
              </a:ext>
            </a:extLst>
          </p:cNvPr>
          <p:cNvSpPr>
            <a:spLocks noGrp="1" noChangeArrowheads="1"/>
          </p:cNvSpPr>
          <p:nvPr>
            <p:ph type="body" sz="half" idx="4294967295"/>
          </p:nvPr>
        </p:nvSpPr>
        <p:spPr>
          <a:xfrm>
            <a:off x="1143000" y="2374900"/>
            <a:ext cx="8001000" cy="2295525"/>
          </a:xfrm>
        </p:spPr>
        <p:txBody>
          <a:bodyPr/>
          <a:lstStyle/>
          <a:p>
            <a:pPr marL="0" indent="0">
              <a:lnSpc>
                <a:spcPct val="150000"/>
              </a:lnSpc>
              <a:buNone/>
            </a:pPr>
            <a:r>
              <a:rPr lang="en-US" altLang="zh-CN" sz="1500" b="1" dirty="0"/>
              <a:t>1.</a:t>
            </a:r>
            <a:r>
              <a:rPr lang="zh-CN" altLang="en-US" sz="1500" b="1" dirty="0"/>
              <a:t>软件技术的发展</a:t>
            </a:r>
          </a:p>
        </p:txBody>
      </p:sp>
      <p:sp>
        <p:nvSpPr>
          <p:cNvPr id="8" name="Line 13">
            <a:extLst>
              <a:ext uri="{FF2B5EF4-FFF2-40B4-BE49-F238E27FC236}">
                <a16:creationId xmlns:a16="http://schemas.microsoft.com/office/drawing/2014/main" id="{631E945E-5C4E-45DA-8813-909399219FB6}"/>
              </a:ext>
            </a:extLst>
          </p:cNvPr>
          <p:cNvSpPr>
            <a:spLocks noChangeShapeType="1"/>
          </p:cNvSpPr>
          <p:nvPr/>
        </p:nvSpPr>
        <p:spPr bwMode="auto">
          <a:xfrm>
            <a:off x="575147" y="2187017"/>
            <a:ext cx="29709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Text Box 14">
            <a:extLst>
              <a:ext uri="{FF2B5EF4-FFF2-40B4-BE49-F238E27FC236}">
                <a16:creationId xmlns:a16="http://schemas.microsoft.com/office/drawing/2014/main" id="{B3BFEA76-AE66-40BC-8182-4FE2EE09CB27}"/>
              </a:ext>
            </a:extLst>
          </p:cNvPr>
          <p:cNvSpPr txBox="1">
            <a:spLocks noChangeArrowheads="1"/>
          </p:cNvSpPr>
          <p:nvPr/>
        </p:nvSpPr>
        <p:spPr bwMode="auto">
          <a:xfrm>
            <a:off x="790678" y="1758336"/>
            <a:ext cx="2855269"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50" b="1"/>
              <a:t>1.1.2   </a:t>
            </a:r>
            <a:r>
              <a:rPr lang="zh-CN" altLang="en-US" sz="1650" b="1"/>
              <a:t>软件的发展及其分类  </a:t>
            </a:r>
          </a:p>
        </p:txBody>
      </p:sp>
      <p:pic>
        <p:nvPicPr>
          <p:cNvPr id="16390" name="Picture 2">
            <a:extLst>
              <a:ext uri="{FF2B5EF4-FFF2-40B4-BE49-F238E27FC236}">
                <a16:creationId xmlns:a16="http://schemas.microsoft.com/office/drawing/2014/main" id="{F491AA62-2470-4AA8-8B62-B79DCED3B3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762" y="2996747"/>
            <a:ext cx="7641235" cy="156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燕尾形 9224">
            <a:extLst>
              <a:ext uri="{FF2B5EF4-FFF2-40B4-BE49-F238E27FC236}">
                <a16:creationId xmlns:a16="http://schemas.microsoft.com/office/drawing/2014/main" id="{1C2DAE14-6194-4393-A693-E631061AA262}"/>
              </a:ext>
            </a:extLst>
          </p:cNvPr>
          <p:cNvSpPr>
            <a:spLocks noChangeArrowheads="1"/>
          </p:cNvSpPr>
          <p:nvPr/>
        </p:nvSpPr>
        <p:spPr bwMode="auto">
          <a:xfrm>
            <a:off x="1222932" y="4887706"/>
            <a:ext cx="2161265" cy="432253"/>
          </a:xfrm>
          <a:prstGeom prst="chevron">
            <a:avLst>
              <a:gd name="adj" fmla="val 124977"/>
            </a:avLst>
          </a:prstGeom>
          <a:solidFill>
            <a:srgbClr val="CBD636"/>
          </a:solidFill>
          <a:ln w="9525">
            <a:solidFill>
              <a:schemeClr val="tx1"/>
            </a:solidFill>
            <a:miter lim="800000"/>
            <a:headEnd/>
            <a:tailEnd/>
          </a:ln>
        </p:spPr>
        <p:txBody>
          <a:bodyPr wrap="none" anchor="ctr"/>
          <a:lstStyle/>
          <a:p>
            <a:pPr algn="ctr"/>
            <a:r>
              <a:rPr lang="zh-CN" altLang="en-US" b="1">
                <a:solidFill>
                  <a:srgbClr val="FF0000"/>
                </a:solidFill>
              </a:rPr>
              <a:t>   程序设计</a:t>
            </a:r>
          </a:p>
        </p:txBody>
      </p:sp>
      <p:sp>
        <p:nvSpPr>
          <p:cNvPr id="16392" name="燕尾形 9225">
            <a:extLst>
              <a:ext uri="{FF2B5EF4-FFF2-40B4-BE49-F238E27FC236}">
                <a16:creationId xmlns:a16="http://schemas.microsoft.com/office/drawing/2014/main" id="{41459A3B-9455-4A23-A732-B19BB19DF11A}"/>
              </a:ext>
            </a:extLst>
          </p:cNvPr>
          <p:cNvSpPr>
            <a:spLocks noChangeArrowheads="1"/>
          </p:cNvSpPr>
          <p:nvPr/>
        </p:nvSpPr>
        <p:spPr bwMode="auto">
          <a:xfrm>
            <a:off x="3059115" y="4887706"/>
            <a:ext cx="2161265" cy="432253"/>
          </a:xfrm>
          <a:prstGeom prst="chevron">
            <a:avLst>
              <a:gd name="adj" fmla="val 124977"/>
            </a:avLst>
          </a:prstGeom>
          <a:solidFill>
            <a:srgbClr val="CBD636"/>
          </a:solidFill>
          <a:ln w="9525">
            <a:solidFill>
              <a:schemeClr val="tx1"/>
            </a:solidFill>
            <a:miter lim="800000"/>
            <a:headEnd/>
            <a:tailEnd/>
          </a:ln>
        </p:spPr>
        <p:txBody>
          <a:bodyPr wrap="none" anchor="ctr"/>
          <a:lstStyle/>
          <a:p>
            <a:pPr algn="ctr"/>
            <a:r>
              <a:rPr lang="zh-CN" altLang="en-US" b="1">
                <a:solidFill>
                  <a:srgbClr val="FF0000"/>
                </a:solidFill>
              </a:rPr>
              <a:t>   程序系统</a:t>
            </a:r>
          </a:p>
        </p:txBody>
      </p:sp>
      <p:sp>
        <p:nvSpPr>
          <p:cNvPr id="16393" name="燕尾形 9226">
            <a:extLst>
              <a:ext uri="{FF2B5EF4-FFF2-40B4-BE49-F238E27FC236}">
                <a16:creationId xmlns:a16="http://schemas.microsoft.com/office/drawing/2014/main" id="{19935195-2E25-4B2B-A5ED-0C7F520589FB}"/>
              </a:ext>
            </a:extLst>
          </p:cNvPr>
          <p:cNvSpPr>
            <a:spLocks noChangeArrowheads="1"/>
          </p:cNvSpPr>
          <p:nvPr/>
        </p:nvSpPr>
        <p:spPr bwMode="auto">
          <a:xfrm>
            <a:off x="4896488" y="4887706"/>
            <a:ext cx="2322021" cy="432253"/>
          </a:xfrm>
          <a:prstGeom prst="chevron">
            <a:avLst>
              <a:gd name="adj" fmla="val 134273"/>
            </a:avLst>
          </a:prstGeom>
          <a:solidFill>
            <a:srgbClr val="CBD636"/>
          </a:solidFill>
          <a:ln w="9525">
            <a:solidFill>
              <a:schemeClr val="tx1"/>
            </a:solidFill>
            <a:miter lim="800000"/>
            <a:headEnd/>
            <a:tailEnd/>
          </a:ln>
        </p:spPr>
        <p:txBody>
          <a:bodyPr wrap="none" anchor="ctr"/>
          <a:lstStyle/>
          <a:p>
            <a:pPr algn="ctr"/>
            <a:r>
              <a:rPr lang="zh-CN" altLang="en-US" b="1">
                <a:solidFill>
                  <a:srgbClr val="FF0000"/>
                </a:solidFill>
              </a:rPr>
              <a:t>   软件工程</a:t>
            </a:r>
          </a:p>
        </p:txBody>
      </p:sp>
      <p:sp>
        <p:nvSpPr>
          <p:cNvPr id="9228" name="椭圆 9227">
            <a:extLst>
              <a:ext uri="{FF2B5EF4-FFF2-40B4-BE49-F238E27FC236}">
                <a16:creationId xmlns:a16="http://schemas.microsoft.com/office/drawing/2014/main" id="{F9F753C3-F7DE-4BF0-8675-C94B34D97EE0}"/>
              </a:ext>
            </a:extLst>
          </p:cNvPr>
          <p:cNvSpPr>
            <a:spLocks noChangeArrowheads="1"/>
          </p:cNvSpPr>
          <p:nvPr/>
        </p:nvSpPr>
        <p:spPr bwMode="auto">
          <a:xfrm>
            <a:off x="4409460" y="3644531"/>
            <a:ext cx="864506" cy="270307"/>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9" name="直接连接符 9228">
            <a:extLst>
              <a:ext uri="{FF2B5EF4-FFF2-40B4-BE49-F238E27FC236}">
                <a16:creationId xmlns:a16="http://schemas.microsoft.com/office/drawing/2014/main" id="{F798FFAC-8CDA-4A50-B587-A0AB731E6CBB}"/>
              </a:ext>
            </a:extLst>
          </p:cNvPr>
          <p:cNvSpPr>
            <a:spLocks noChangeShapeType="1"/>
          </p:cNvSpPr>
          <p:nvPr/>
        </p:nvSpPr>
        <p:spPr bwMode="auto">
          <a:xfrm flipV="1">
            <a:off x="2681637" y="3861254"/>
            <a:ext cx="1782598" cy="102645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1" name="椭圆 9230">
            <a:extLst>
              <a:ext uri="{FF2B5EF4-FFF2-40B4-BE49-F238E27FC236}">
                <a16:creationId xmlns:a16="http://schemas.microsoft.com/office/drawing/2014/main" id="{6BF76108-1737-43B4-848A-1EA63E3B7237}"/>
              </a:ext>
            </a:extLst>
          </p:cNvPr>
          <p:cNvSpPr>
            <a:spLocks noChangeArrowheads="1"/>
          </p:cNvSpPr>
          <p:nvPr/>
        </p:nvSpPr>
        <p:spPr bwMode="auto">
          <a:xfrm>
            <a:off x="4085567" y="3969615"/>
            <a:ext cx="1458705" cy="270307"/>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32" name="椭圆 9231">
            <a:extLst>
              <a:ext uri="{FF2B5EF4-FFF2-40B4-BE49-F238E27FC236}">
                <a16:creationId xmlns:a16="http://schemas.microsoft.com/office/drawing/2014/main" id="{AB32B2C6-B414-41C6-AB23-C7E629012C94}"/>
              </a:ext>
            </a:extLst>
          </p:cNvPr>
          <p:cNvSpPr>
            <a:spLocks noChangeArrowheads="1"/>
          </p:cNvSpPr>
          <p:nvPr/>
        </p:nvSpPr>
        <p:spPr bwMode="auto">
          <a:xfrm>
            <a:off x="4085567" y="4274454"/>
            <a:ext cx="1458705" cy="270307"/>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33" name="直接连接符 9232">
            <a:extLst>
              <a:ext uri="{FF2B5EF4-FFF2-40B4-BE49-F238E27FC236}">
                <a16:creationId xmlns:a16="http://schemas.microsoft.com/office/drawing/2014/main" id="{8DE0ED7A-013E-4513-A739-48E1D7F30D7B}"/>
              </a:ext>
            </a:extLst>
          </p:cNvPr>
          <p:cNvSpPr>
            <a:spLocks noChangeShapeType="1"/>
          </p:cNvSpPr>
          <p:nvPr/>
        </p:nvSpPr>
        <p:spPr bwMode="auto">
          <a:xfrm flipV="1">
            <a:off x="3437783" y="4185146"/>
            <a:ext cx="864506" cy="70256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4" name="直接连接符 9233">
            <a:extLst>
              <a:ext uri="{FF2B5EF4-FFF2-40B4-BE49-F238E27FC236}">
                <a16:creationId xmlns:a16="http://schemas.microsoft.com/office/drawing/2014/main" id="{A9C7601A-7C72-4BB7-AF37-E64E6A7856A0}"/>
              </a:ext>
            </a:extLst>
          </p:cNvPr>
          <p:cNvSpPr>
            <a:spLocks noChangeShapeType="1"/>
          </p:cNvSpPr>
          <p:nvPr/>
        </p:nvSpPr>
        <p:spPr bwMode="auto">
          <a:xfrm flipH="1" flipV="1">
            <a:off x="5165604" y="4509038"/>
            <a:ext cx="648976" cy="37866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0" name="椭圆 9234">
            <a:extLst>
              <a:ext uri="{FF2B5EF4-FFF2-40B4-BE49-F238E27FC236}">
                <a16:creationId xmlns:a16="http://schemas.microsoft.com/office/drawing/2014/main" id="{F2EB5365-43AD-4148-8C37-78DDA3358264}"/>
              </a:ext>
            </a:extLst>
          </p:cNvPr>
          <p:cNvSpPr>
            <a:spLocks noChangeArrowheads="1"/>
          </p:cNvSpPr>
          <p:nvPr/>
        </p:nvSpPr>
        <p:spPr bwMode="auto">
          <a:xfrm>
            <a:off x="2249384" y="5211598"/>
            <a:ext cx="53585" cy="53585"/>
          </a:xfrm>
          <a:prstGeom prst="ellipse">
            <a:avLst/>
          </a:prstGeom>
          <a:solidFill>
            <a:schemeClr val="accent1"/>
          </a:solidFill>
          <a:ln w="9525">
            <a:solidFill>
              <a:schemeClr val="tx1"/>
            </a:solidFill>
            <a:round/>
            <a:headEnd/>
            <a:tailEnd/>
          </a:ln>
        </p:spPr>
        <p:txBody>
          <a:bodyPr/>
          <a:lstStyle/>
          <a:p>
            <a:endParaRPr lang="zh-CN" altLang="en-US"/>
          </a:p>
        </p:txBody>
      </p:sp>
      <p:sp>
        <p:nvSpPr>
          <p:cNvPr id="16401" name="椭圆 9235">
            <a:extLst>
              <a:ext uri="{FF2B5EF4-FFF2-40B4-BE49-F238E27FC236}">
                <a16:creationId xmlns:a16="http://schemas.microsoft.com/office/drawing/2014/main" id="{73A8C499-C374-4155-B97E-31C4202149E0}"/>
              </a:ext>
            </a:extLst>
          </p:cNvPr>
          <p:cNvSpPr>
            <a:spLocks noChangeArrowheads="1"/>
          </p:cNvSpPr>
          <p:nvPr/>
        </p:nvSpPr>
        <p:spPr bwMode="auto">
          <a:xfrm>
            <a:off x="5597858" y="5211598"/>
            <a:ext cx="53585" cy="53585"/>
          </a:xfrm>
          <a:prstGeom prst="ellipse">
            <a:avLst/>
          </a:prstGeom>
          <a:solidFill>
            <a:schemeClr val="accent1"/>
          </a:solidFill>
          <a:ln w="9525">
            <a:solidFill>
              <a:schemeClr val="tx1"/>
            </a:solidFill>
            <a:round/>
            <a:headEnd/>
            <a:tailEnd/>
          </a:ln>
        </p:spPr>
        <p:txBody>
          <a:bodyPr/>
          <a:lstStyle/>
          <a:p>
            <a:endParaRPr lang="zh-CN" altLang="en-US"/>
          </a:p>
        </p:txBody>
      </p:sp>
      <p:sp>
        <p:nvSpPr>
          <p:cNvPr id="16402" name="椭圆 9236">
            <a:extLst>
              <a:ext uri="{FF2B5EF4-FFF2-40B4-BE49-F238E27FC236}">
                <a16:creationId xmlns:a16="http://schemas.microsoft.com/office/drawing/2014/main" id="{CE98ADB5-4C3E-423E-878A-0D5191D9EDD0}"/>
              </a:ext>
            </a:extLst>
          </p:cNvPr>
          <p:cNvSpPr>
            <a:spLocks noChangeArrowheads="1"/>
          </p:cNvSpPr>
          <p:nvPr/>
        </p:nvSpPr>
        <p:spPr bwMode="auto">
          <a:xfrm>
            <a:off x="3923621" y="5211598"/>
            <a:ext cx="53585" cy="53585"/>
          </a:xfrm>
          <a:prstGeom prst="ellipse">
            <a:avLst/>
          </a:prstGeom>
          <a:solidFill>
            <a:schemeClr val="accent1"/>
          </a:solidFill>
          <a:ln w="9525">
            <a:solidFill>
              <a:schemeClr val="tx1"/>
            </a:solidFill>
            <a:round/>
            <a:headEnd/>
            <a:tailEnd/>
          </a:ln>
        </p:spPr>
        <p:txBody>
          <a:bodyPr/>
          <a:lstStyle/>
          <a:p>
            <a:endParaRPr lang="zh-CN" altLang="en-US"/>
          </a:p>
        </p:txBody>
      </p:sp>
      <p:sp>
        <p:nvSpPr>
          <p:cNvPr id="16403" name="椭圆 9237">
            <a:extLst>
              <a:ext uri="{FF2B5EF4-FFF2-40B4-BE49-F238E27FC236}">
                <a16:creationId xmlns:a16="http://schemas.microsoft.com/office/drawing/2014/main" id="{4A051979-25F6-4905-B77C-12B360CAA86E}"/>
              </a:ext>
            </a:extLst>
          </p:cNvPr>
          <p:cNvSpPr>
            <a:spLocks noChangeArrowheads="1"/>
          </p:cNvSpPr>
          <p:nvPr/>
        </p:nvSpPr>
        <p:spPr bwMode="auto">
          <a:xfrm>
            <a:off x="2357745" y="5211598"/>
            <a:ext cx="53585" cy="53585"/>
          </a:xfrm>
          <a:prstGeom prst="ellipse">
            <a:avLst/>
          </a:prstGeom>
          <a:solidFill>
            <a:schemeClr val="accent1"/>
          </a:solidFill>
          <a:ln w="9525">
            <a:solidFill>
              <a:schemeClr val="tx1"/>
            </a:solidFill>
            <a:round/>
            <a:headEnd/>
            <a:tailEnd/>
          </a:ln>
        </p:spPr>
        <p:txBody>
          <a:bodyPr/>
          <a:lstStyle/>
          <a:p>
            <a:endParaRPr lang="zh-CN" altLang="en-US"/>
          </a:p>
        </p:txBody>
      </p:sp>
      <p:sp>
        <p:nvSpPr>
          <p:cNvPr id="16404" name="椭圆 9238">
            <a:extLst>
              <a:ext uri="{FF2B5EF4-FFF2-40B4-BE49-F238E27FC236}">
                <a16:creationId xmlns:a16="http://schemas.microsoft.com/office/drawing/2014/main" id="{884AB332-EF7B-4EB7-A082-0D4B752C2688}"/>
              </a:ext>
            </a:extLst>
          </p:cNvPr>
          <p:cNvSpPr>
            <a:spLocks noChangeArrowheads="1"/>
          </p:cNvSpPr>
          <p:nvPr/>
        </p:nvSpPr>
        <p:spPr bwMode="auto">
          <a:xfrm>
            <a:off x="4031982" y="5211598"/>
            <a:ext cx="53585" cy="53585"/>
          </a:xfrm>
          <a:prstGeom prst="ellipse">
            <a:avLst/>
          </a:prstGeom>
          <a:solidFill>
            <a:schemeClr val="accent1"/>
          </a:solidFill>
          <a:ln w="9525">
            <a:solidFill>
              <a:schemeClr val="tx1"/>
            </a:solidFill>
            <a:round/>
            <a:headEnd/>
            <a:tailEnd/>
          </a:ln>
        </p:spPr>
        <p:txBody>
          <a:bodyPr/>
          <a:lstStyle/>
          <a:p>
            <a:endParaRPr lang="zh-CN" altLang="en-US"/>
          </a:p>
        </p:txBody>
      </p:sp>
      <p:sp>
        <p:nvSpPr>
          <p:cNvPr id="22" name="矩形 21">
            <a:extLst>
              <a:ext uri="{FF2B5EF4-FFF2-40B4-BE49-F238E27FC236}">
                <a16:creationId xmlns:a16="http://schemas.microsoft.com/office/drawing/2014/main" id="{BDB63AA7-C39F-41BC-932C-99ACCDADE6D1}"/>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23" name="矩形 17">
            <a:extLst>
              <a:ext uri="{FF2B5EF4-FFF2-40B4-BE49-F238E27FC236}">
                <a16:creationId xmlns:a16="http://schemas.microsoft.com/office/drawing/2014/main" id="{9429208C-1051-4A2B-A0AF-69B5580A1A20}"/>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a:latin typeface="微软雅黑" panose="020B0503020204020204" pitchFamily="34" charset="-122"/>
                <a:ea typeface="微软雅黑" panose="020B0503020204020204" pitchFamily="34" charset="-122"/>
              </a:rPr>
              <a:t>第</a:t>
            </a: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Bottom)">
                                      <p:cBhvr>
                                        <p:cTn id="11" dur="500"/>
                                        <p:tgtEl>
                                          <p:spTgt spid="9"/>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slide(fromBottom)">
                                      <p:cBhvr>
                                        <p:cTn id="15" dur="500"/>
                                        <p:tgtEl>
                                          <p:spTgt spid="23"/>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lide(fromLeft)">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6391"/>
                    </p:tgtEl>
                  </p:cond>
                </p:stCondLst>
                <p:endSync evt="end" delay="0">
                  <p:rtn val="all"/>
                </p:endSync>
                <p:childTnLst>
                  <p:par>
                    <p:cTn id="21" fill="hold" nodeType="clickPar">
                      <p:stCondLst>
                        <p:cond delay="0"/>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92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2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9228"/>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9229"/>
                                        </p:tgtEl>
                                        <p:attrNameLst>
                                          <p:attrName>style.visibility</p:attrName>
                                        </p:attrNameLst>
                                      </p:cBhvr>
                                      <p:to>
                                        <p:strVal val="hidden"/>
                                      </p:to>
                                    </p:set>
                                  </p:childTnLst>
                                </p:cTn>
                              </p:par>
                            </p:childTnLst>
                          </p:cTn>
                        </p:par>
                      </p:childTnLst>
                    </p:cTn>
                  </p:par>
                </p:childTnLst>
              </p:cTn>
              <p:nextCondLst>
                <p:cond evt="onClick" delay="0">
                  <p:tgtEl>
                    <p:spTgt spid="16391"/>
                  </p:tgtEl>
                </p:cond>
              </p:nextCondLst>
            </p:seq>
            <p:seq concurrent="1" nextAc="seek">
              <p:cTn id="33" restart="whenNotActive" fill="hold" evtFilter="cancelBubble" nodeType="interactiveSeq">
                <p:stCondLst>
                  <p:cond evt="onClick" delay="0">
                    <p:tgtEl>
                      <p:spTgt spid="16392"/>
                    </p:tgtEl>
                  </p:cond>
                </p:stCondLst>
                <p:endSync evt="end" delay="0">
                  <p:rtn val="all"/>
                </p:endSync>
                <p:childTnLst>
                  <p:par>
                    <p:cTn id="34" fill="hold" nodeType="clickPar">
                      <p:stCondLst>
                        <p:cond delay="0"/>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9231"/>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9233"/>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xit" presetSubtype="0" fill="hold" nodeType="clickEffect">
                                  <p:stCondLst>
                                    <p:cond delay="0"/>
                                  </p:stCondLst>
                                  <p:childTnLst>
                                    <p:set>
                                      <p:cBhvr>
                                        <p:cTn id="43" dur="1" fill="hold">
                                          <p:stCondLst>
                                            <p:cond delay="0"/>
                                          </p:stCondLst>
                                        </p:cTn>
                                        <p:tgtEl>
                                          <p:spTgt spid="9231"/>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9233"/>
                                        </p:tgtEl>
                                        <p:attrNameLst>
                                          <p:attrName>style.visibility</p:attrName>
                                        </p:attrNameLst>
                                      </p:cBhvr>
                                      <p:to>
                                        <p:strVal val="hidden"/>
                                      </p:to>
                                    </p:set>
                                  </p:childTnLst>
                                </p:cTn>
                              </p:par>
                            </p:childTnLst>
                          </p:cTn>
                        </p:par>
                      </p:childTnLst>
                    </p:cTn>
                  </p:par>
                </p:childTnLst>
              </p:cTn>
              <p:nextCondLst>
                <p:cond evt="onClick" delay="0">
                  <p:tgtEl>
                    <p:spTgt spid="16392"/>
                  </p:tgtEl>
                </p:cond>
              </p:nextCondLst>
            </p:seq>
            <p:seq concurrent="1" nextAc="seek">
              <p:cTn id="46" restart="whenNotActive" fill="hold" evtFilter="cancelBubble" nodeType="interactiveSeq">
                <p:stCondLst>
                  <p:cond evt="onClick" delay="0">
                    <p:tgtEl>
                      <p:spTgt spid="16393"/>
                    </p:tgtEl>
                  </p:cond>
                </p:stCondLst>
                <p:endSync evt="end" delay="0">
                  <p:rtn val="all"/>
                </p:endSync>
                <p:childTnLst>
                  <p:par>
                    <p:cTn id="47" fill="hold" nodeType="clickPar">
                      <p:stCondLst>
                        <p:cond delay="0"/>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92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234"/>
                                        </p:tgtEl>
                                        <p:attrNameLst>
                                          <p:attrName>style.visibility</p:attrName>
                                        </p:attrNameLst>
                                      </p:cBhvr>
                                      <p:to>
                                        <p:strVal val="visible"/>
                                      </p:to>
                                    </p:set>
                                  </p:childTnLst>
                                </p:cTn>
                              </p:par>
                            </p:childTnLst>
                          </p:cTn>
                        </p:par>
                      </p:childTnLst>
                    </p:cTn>
                  </p:par>
                </p:childTnLst>
              </p:cTn>
              <p:nextCondLst>
                <p:cond evt="onClick" delay="0">
                  <p:tgtEl>
                    <p:spTgt spid="16393"/>
                  </p:tgtEl>
                </p:cond>
              </p:nextCondLst>
            </p:seq>
          </p:childTnLst>
        </p:cTn>
      </p:par>
    </p:tnLst>
    <p:bldLst>
      <p:bldP spid="9"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DB055B1-3719-4211-864A-F99E66A144E0}"/>
              </a:ext>
            </a:extLst>
          </p:cNvPr>
          <p:cNvSpPr>
            <a:spLocks noGrp="1"/>
          </p:cNvSpPr>
          <p:nvPr>
            <p:ph type="sldNum" sz="quarter" idx="12"/>
          </p:nvPr>
        </p:nvSpPr>
        <p:spPr/>
        <p:txBody>
          <a:bodyPr/>
          <a:lstStyle/>
          <a:p>
            <a:fld id="{73403612-6C36-4613-9B91-854212E45B4D}" type="slidenum">
              <a:rPr lang="zh-CN" altLang="en-US" smtClean="0"/>
              <a:pPr/>
              <a:t>6</a:t>
            </a:fld>
            <a:endParaRPr lang="zh-CN" altLang="en-US"/>
          </a:p>
        </p:txBody>
      </p:sp>
      <p:sp>
        <p:nvSpPr>
          <p:cNvPr id="4" name="矩形 3">
            <a:extLst>
              <a:ext uri="{FF2B5EF4-FFF2-40B4-BE49-F238E27FC236}">
                <a16:creationId xmlns:a16="http://schemas.microsoft.com/office/drawing/2014/main" id="{8AB708AA-42BA-45CF-9F47-95F5054CC1B2}"/>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5" name="矩形 17">
            <a:extLst>
              <a:ext uri="{FF2B5EF4-FFF2-40B4-BE49-F238E27FC236}">
                <a16:creationId xmlns:a16="http://schemas.microsoft.com/office/drawing/2014/main" id="{4A5C9ABA-12D3-4B24-A758-C40E02E10DCB}"/>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pic>
        <p:nvPicPr>
          <p:cNvPr id="38914" name="Picture 2">
            <a:extLst>
              <a:ext uri="{FF2B5EF4-FFF2-40B4-BE49-F238E27FC236}">
                <a16:creationId xmlns:a16="http://schemas.microsoft.com/office/drawing/2014/main" id="{918C148A-8B80-45DC-8ABB-B1BAE44E00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33" b="18989"/>
          <a:stretch/>
        </p:blipFill>
        <p:spPr bwMode="auto">
          <a:xfrm>
            <a:off x="152400" y="2644417"/>
            <a:ext cx="4613275" cy="2329251"/>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8C8FF937-FD69-4162-847C-B1807A5FDF37}"/>
              </a:ext>
            </a:extLst>
          </p:cNvPr>
          <p:cNvSpPr txBox="1"/>
          <p:nvPr/>
        </p:nvSpPr>
        <p:spPr>
          <a:xfrm>
            <a:off x="533400" y="1955542"/>
            <a:ext cx="4613274" cy="369332"/>
          </a:xfrm>
          <a:prstGeom prst="rect">
            <a:avLst/>
          </a:prstGeom>
          <a:noFill/>
        </p:spPr>
        <p:txBody>
          <a:bodyPr wrap="square">
            <a:spAutoFit/>
          </a:bodyPr>
          <a:lstStyle/>
          <a:p>
            <a:r>
              <a:rPr lang="en-US" altLang="zh-CN" sz="1800" b="1" dirty="0"/>
              <a:t>1</a:t>
            </a:r>
            <a:r>
              <a:rPr lang="zh-CN" altLang="en-US" sz="1800" b="1" dirty="0"/>
              <a:t>）软件成本日益增加</a:t>
            </a:r>
            <a:endParaRPr lang="zh-CN" altLang="en-US" dirty="0"/>
          </a:p>
        </p:txBody>
      </p:sp>
      <p:sp>
        <p:nvSpPr>
          <p:cNvPr id="9" name="文本框 8">
            <a:extLst>
              <a:ext uri="{FF2B5EF4-FFF2-40B4-BE49-F238E27FC236}">
                <a16:creationId xmlns:a16="http://schemas.microsoft.com/office/drawing/2014/main" id="{35EF778F-0A54-47B2-ABDC-05A8C0E3AA7E}"/>
              </a:ext>
            </a:extLst>
          </p:cNvPr>
          <p:cNvSpPr txBox="1"/>
          <p:nvPr/>
        </p:nvSpPr>
        <p:spPr>
          <a:xfrm>
            <a:off x="5105400" y="1955542"/>
            <a:ext cx="4613274" cy="369332"/>
          </a:xfrm>
          <a:prstGeom prst="rect">
            <a:avLst/>
          </a:prstGeom>
          <a:noFill/>
        </p:spPr>
        <p:txBody>
          <a:bodyPr wrap="square">
            <a:spAutoFit/>
          </a:bodyPr>
          <a:lstStyle/>
          <a:p>
            <a:r>
              <a:rPr lang="en-US" altLang="zh-CN" b="1" dirty="0"/>
              <a:t>2</a:t>
            </a:r>
            <a:r>
              <a:rPr lang="zh-CN" altLang="en-US" sz="1800" b="1" dirty="0"/>
              <a:t>）软件技术进步</a:t>
            </a:r>
            <a:r>
              <a:rPr lang="en-US" altLang="zh-CN" b="1" dirty="0"/>
              <a:t>&lt;</a:t>
            </a:r>
            <a:r>
              <a:rPr lang="zh-CN" altLang="en-US" b="1" dirty="0"/>
              <a:t>需求增长</a:t>
            </a:r>
            <a:endParaRPr lang="zh-CN" altLang="en-US" dirty="0"/>
          </a:p>
        </p:txBody>
      </p:sp>
      <p:pic>
        <p:nvPicPr>
          <p:cNvPr id="38916" name="Picture 4">
            <a:extLst>
              <a:ext uri="{FF2B5EF4-FFF2-40B4-BE49-F238E27FC236}">
                <a16:creationId xmlns:a16="http://schemas.microsoft.com/office/drawing/2014/main" id="{AFD0ADA3-D0D9-4C69-8C6F-7E1F92D2A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2625367"/>
            <a:ext cx="3999404"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62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491C93BF-6F77-4889-A1FD-92B20FCB5F69}"/>
              </a:ext>
            </a:extLst>
          </p:cNvPr>
          <p:cNvSpPr>
            <a:spLocks noChangeShapeType="1"/>
          </p:cNvSpPr>
          <p:nvPr/>
        </p:nvSpPr>
        <p:spPr bwMode="auto">
          <a:xfrm>
            <a:off x="537048" y="1806017"/>
            <a:ext cx="19981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 name="Text Box 14">
            <a:extLst>
              <a:ext uri="{FF2B5EF4-FFF2-40B4-BE49-F238E27FC236}">
                <a16:creationId xmlns:a16="http://schemas.microsoft.com/office/drawing/2014/main" id="{75E06FAC-2D29-4866-9D90-89815ACE30AE}"/>
              </a:ext>
            </a:extLst>
          </p:cNvPr>
          <p:cNvSpPr txBox="1">
            <a:spLocks noChangeArrowheads="1"/>
          </p:cNvSpPr>
          <p:nvPr/>
        </p:nvSpPr>
        <p:spPr bwMode="auto">
          <a:xfrm>
            <a:off x="752578" y="1377336"/>
            <a:ext cx="172901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dirty="0"/>
              <a:t>1.1.3   </a:t>
            </a:r>
            <a:r>
              <a:rPr lang="zh-CN" altLang="en-US" sz="1650" b="1" dirty="0"/>
              <a:t>软件危机</a:t>
            </a:r>
          </a:p>
        </p:txBody>
      </p:sp>
      <p:sp>
        <p:nvSpPr>
          <p:cNvPr id="20486" name="矩形 2">
            <a:extLst>
              <a:ext uri="{FF2B5EF4-FFF2-40B4-BE49-F238E27FC236}">
                <a16:creationId xmlns:a16="http://schemas.microsoft.com/office/drawing/2014/main" id="{E51FD215-8016-453E-873A-834E20D2F963}"/>
              </a:ext>
            </a:extLst>
          </p:cNvPr>
          <p:cNvSpPr>
            <a:spLocks noChangeArrowheads="1"/>
          </p:cNvSpPr>
          <p:nvPr/>
        </p:nvSpPr>
        <p:spPr bwMode="auto">
          <a:xfrm>
            <a:off x="876300" y="1960658"/>
            <a:ext cx="7467600" cy="11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600" b="1" dirty="0"/>
              <a:t>案例一：</a:t>
            </a:r>
            <a:r>
              <a:rPr lang="en-US" altLang="zh-CN" sz="1600" dirty="0"/>
              <a:t>1961-1964</a:t>
            </a:r>
            <a:r>
              <a:rPr lang="zh-CN" altLang="en-US" sz="1600" dirty="0"/>
              <a:t>年，</a:t>
            </a:r>
            <a:r>
              <a:rPr lang="en-US" altLang="zh-CN" sz="1600" dirty="0"/>
              <a:t>IBM</a:t>
            </a:r>
            <a:r>
              <a:rPr lang="zh-CN" altLang="en-US" sz="1600" dirty="0"/>
              <a:t>公司的</a:t>
            </a:r>
            <a:r>
              <a:rPr lang="en-US" altLang="zh-CN" sz="1600" dirty="0"/>
              <a:t>OS/360</a:t>
            </a:r>
            <a:r>
              <a:rPr lang="zh-CN" altLang="en-US" sz="1600" dirty="0"/>
              <a:t>共约</a:t>
            </a:r>
            <a:r>
              <a:rPr lang="en-US" altLang="zh-CN" sz="1600" dirty="0"/>
              <a:t>100</a:t>
            </a:r>
            <a:r>
              <a:rPr lang="zh-CN" altLang="en-US" sz="1600" dirty="0"/>
              <a:t>万条指令，花费了</a:t>
            </a:r>
            <a:r>
              <a:rPr lang="en-US" altLang="zh-CN" sz="1600" dirty="0"/>
              <a:t>5000</a:t>
            </a:r>
            <a:r>
              <a:rPr lang="zh-CN" altLang="en-US" sz="1600" dirty="0"/>
              <a:t>个人年，开发总投资</a:t>
            </a:r>
            <a:r>
              <a:rPr lang="en-US" altLang="zh-CN" sz="1600" dirty="0"/>
              <a:t>5</a:t>
            </a:r>
            <a:r>
              <a:rPr lang="zh-CN" altLang="en-US" sz="1600" dirty="0"/>
              <a:t>亿美元，达到当时美国研究原子弹的</a:t>
            </a:r>
            <a:r>
              <a:rPr lang="zh-CN" altLang="en-US" sz="1600" dirty="0">
                <a:hlinkClick r:id="rId2"/>
              </a:rPr>
              <a:t>曼哈顿计划</a:t>
            </a:r>
            <a:r>
              <a:rPr lang="zh-CN" altLang="en-US" sz="1600" dirty="0"/>
              <a:t>投资</a:t>
            </a:r>
            <a:r>
              <a:rPr lang="en-US" altLang="zh-CN" sz="1600" dirty="0"/>
              <a:t>20</a:t>
            </a:r>
            <a:r>
              <a:rPr lang="zh-CN" altLang="en-US" sz="1600" dirty="0"/>
              <a:t>亿美元的</a:t>
            </a:r>
            <a:r>
              <a:rPr lang="en-US" altLang="zh-CN" sz="1600" dirty="0"/>
              <a:t>1/4</a:t>
            </a:r>
            <a:r>
              <a:rPr lang="zh-CN" altLang="en-US" sz="1600" dirty="0"/>
              <a:t>，而结果却令人沮丧，错误多达</a:t>
            </a:r>
            <a:r>
              <a:rPr lang="en-US" altLang="zh-CN" sz="1600" dirty="0"/>
              <a:t>2000</a:t>
            </a:r>
            <a:r>
              <a:rPr lang="zh-CN" altLang="en-US" sz="1600" dirty="0"/>
              <a:t>个以上，系统根本无法正常运行。</a:t>
            </a:r>
            <a:endParaRPr lang="zh-CN" altLang="en-US" sz="1500" dirty="0"/>
          </a:p>
        </p:txBody>
      </p:sp>
      <p:pic>
        <p:nvPicPr>
          <p:cNvPr id="36866" name="Picture 2">
            <a:extLst>
              <a:ext uri="{FF2B5EF4-FFF2-40B4-BE49-F238E27FC236}">
                <a16:creationId xmlns:a16="http://schemas.microsoft.com/office/drawing/2014/main" id="{0CDF058F-5DB6-4366-968B-35EDAF1FF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200400"/>
            <a:ext cx="3733800" cy="300652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F478A33-325F-41DA-8B3E-AF79F6A8523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10" name="矩形 17">
            <a:extLst>
              <a:ext uri="{FF2B5EF4-FFF2-40B4-BE49-F238E27FC236}">
                <a16:creationId xmlns:a16="http://schemas.microsoft.com/office/drawing/2014/main" id="{9A0B4FF0-5D32-40EE-A802-9D0D4F21B7B0}"/>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extLst>
      <p:ext uri="{BB962C8B-B14F-4D97-AF65-F5344CB8AC3E}">
        <p14:creationId xmlns:p14="http://schemas.microsoft.com/office/powerpoint/2010/main" val="19113269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11270">
                                            <p:txEl>
                                              <p:pRg st="0" end="0"/>
                                            </p:txEl>
                                          </p:spTgt>
                                        </p:tgtEl>
                                        <p:attrNameLst>
                                          <p:attrName>style.visibility</p:attrName>
                                        </p:attrNameLst>
                                      </p:cBhvr>
                                      <p:to>
                                        <p:strVal val="visible"/>
                                      </p:to>
                                    </p:set>
                                    <p:anim calcmode="lin" valueType="num">
                                      <p:cBhvr additive="base">
                                        <p:cTn id="12" dur="500"/>
                                        <p:tgtEl>
                                          <p:spTgt spid="11270">
                                            <p:txEl>
                                              <p:pRg st="0" end="0"/>
                                            </p:txEl>
                                          </p:spTgt>
                                        </p:tgtEl>
                                        <p:attrNameLst>
                                          <p:attrName>ppt_y</p:attrName>
                                        </p:attrNameLst>
                                      </p:cBhvr>
                                      <p:tavLst>
                                        <p:tav tm="0">
                                          <p:val>
                                            <p:strVal val="#ppt_y+#ppt_h*1.125000"/>
                                          </p:val>
                                        </p:tav>
                                        <p:tav tm="100000">
                                          <p:val>
                                            <p:strVal val="#ppt_y"/>
                                          </p:val>
                                        </p:tav>
                                      </p:tavLst>
                                    </p:anim>
                                    <p:animEffect transition="in" filter="wipe(up)">
                                      <p:cBhvr>
                                        <p:cTn id="13" dur="500"/>
                                        <p:tgtEl>
                                          <p:spTgt spid="11270">
                                            <p:txEl>
                                              <p:pRg st="0" end="0"/>
                                            </p:txEl>
                                          </p:spTgt>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lide(fromBottom)">
                                      <p:cBhvr>
                                        <p:cTn id="17" dur="500"/>
                                        <p:tgtEl>
                                          <p:spTgt spid="10"/>
                                        </p:tgtEl>
                                      </p:cBhvr>
                                    </p:animEffect>
                                  </p:childTnLst>
                                </p:cTn>
                              </p:par>
                            </p:childTnLst>
                          </p:cTn>
                        </p:par>
                        <p:par>
                          <p:cTn id="18" fill="hold">
                            <p:stCondLst>
                              <p:cond delay="1500"/>
                            </p:stCondLst>
                            <p:childTnLst>
                              <p:par>
                                <p:cTn id="19" presetID="12" presetClass="entr" presetSubtype="8"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slide(fromLeft)">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11270" grpId="0" build="p" autoUpdateAnimBg="0" advAuto="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491C93BF-6F77-4889-A1FD-92B20FCB5F69}"/>
              </a:ext>
            </a:extLst>
          </p:cNvPr>
          <p:cNvSpPr>
            <a:spLocks noChangeShapeType="1"/>
          </p:cNvSpPr>
          <p:nvPr/>
        </p:nvSpPr>
        <p:spPr bwMode="auto">
          <a:xfrm>
            <a:off x="575148" y="1705873"/>
            <a:ext cx="19981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 name="Text Box 14">
            <a:extLst>
              <a:ext uri="{FF2B5EF4-FFF2-40B4-BE49-F238E27FC236}">
                <a16:creationId xmlns:a16="http://schemas.microsoft.com/office/drawing/2014/main" id="{75E06FAC-2D29-4866-9D90-89815ACE30AE}"/>
              </a:ext>
            </a:extLst>
          </p:cNvPr>
          <p:cNvSpPr txBox="1">
            <a:spLocks noChangeArrowheads="1"/>
          </p:cNvSpPr>
          <p:nvPr/>
        </p:nvSpPr>
        <p:spPr bwMode="auto">
          <a:xfrm>
            <a:off x="790678" y="1277192"/>
            <a:ext cx="172901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dirty="0"/>
              <a:t>1.1.3   </a:t>
            </a:r>
            <a:r>
              <a:rPr lang="zh-CN" altLang="en-US" sz="1650" b="1" dirty="0"/>
              <a:t>软件危机</a:t>
            </a:r>
          </a:p>
        </p:txBody>
      </p:sp>
      <p:sp>
        <p:nvSpPr>
          <p:cNvPr id="20486" name="矩形 2">
            <a:extLst>
              <a:ext uri="{FF2B5EF4-FFF2-40B4-BE49-F238E27FC236}">
                <a16:creationId xmlns:a16="http://schemas.microsoft.com/office/drawing/2014/main" id="{E51FD215-8016-453E-873A-834E20D2F963}"/>
              </a:ext>
            </a:extLst>
          </p:cNvPr>
          <p:cNvSpPr>
            <a:spLocks noChangeArrowheads="1"/>
          </p:cNvSpPr>
          <p:nvPr/>
        </p:nvSpPr>
        <p:spPr bwMode="auto">
          <a:xfrm>
            <a:off x="914400" y="1860514"/>
            <a:ext cx="7467600" cy="189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600" b="1" dirty="0"/>
              <a:t>案例二：</a:t>
            </a:r>
            <a:r>
              <a:rPr lang="zh-CN" altLang="en-US" sz="1600" dirty="0"/>
              <a:t>美国银行</a:t>
            </a:r>
            <a:r>
              <a:rPr lang="en-US" altLang="zh-CN" sz="1600" dirty="0"/>
              <a:t>1982</a:t>
            </a:r>
            <a:r>
              <a:rPr lang="zh-CN" altLang="en-US" sz="1600" dirty="0"/>
              <a:t>年进入信托商业领域，并规划发展信托软件系统</a:t>
            </a:r>
          </a:p>
          <a:p>
            <a:pPr>
              <a:lnSpc>
                <a:spcPct val="150000"/>
              </a:lnSpc>
            </a:pPr>
            <a:r>
              <a:rPr lang="zh-CN" altLang="en-US" sz="1600" dirty="0"/>
              <a:t>项目原订预算</a:t>
            </a:r>
            <a:r>
              <a:rPr lang="en-US" altLang="zh-CN" sz="1600" dirty="0"/>
              <a:t>2</a:t>
            </a:r>
            <a:r>
              <a:rPr lang="zh-CN" altLang="en-US" sz="1600" dirty="0"/>
              <a:t>干万美元，开发时程</a:t>
            </a:r>
            <a:r>
              <a:rPr lang="en-US" altLang="zh-CN" sz="1600" dirty="0"/>
              <a:t>9</a:t>
            </a:r>
            <a:r>
              <a:rPr lang="zh-CN" altLang="en-US" sz="1600" dirty="0"/>
              <a:t>个月，预计于</a:t>
            </a:r>
            <a:r>
              <a:rPr lang="en-US" altLang="zh-CN" sz="1600" dirty="0"/>
              <a:t>1984</a:t>
            </a:r>
            <a:r>
              <a:rPr lang="zh-CN" altLang="en-US" sz="1600" dirty="0"/>
              <a:t>年</a:t>
            </a:r>
            <a:r>
              <a:rPr lang="en-US" altLang="zh-CN" sz="1600" dirty="0"/>
              <a:t>12</a:t>
            </a:r>
            <a:r>
              <a:rPr lang="zh-CN" altLang="en-US" sz="1600" dirty="0"/>
              <a:t>月</a:t>
            </a:r>
            <a:r>
              <a:rPr lang="en-US" altLang="zh-CN" sz="1600" dirty="0"/>
              <a:t>31</a:t>
            </a:r>
            <a:r>
              <a:rPr lang="zh-CN" altLang="en-US" sz="1600" dirty="0"/>
              <a:t>日以前完成，后来至</a:t>
            </a:r>
            <a:r>
              <a:rPr lang="en-US" altLang="zh-CN" sz="1600" dirty="0"/>
              <a:t>1987</a:t>
            </a:r>
            <a:r>
              <a:rPr lang="zh-CN" altLang="en-US" sz="1600" dirty="0"/>
              <a:t>年</a:t>
            </a:r>
            <a:r>
              <a:rPr lang="en-US" altLang="zh-CN" sz="1600" dirty="0"/>
              <a:t>3</a:t>
            </a:r>
            <a:r>
              <a:rPr lang="zh-CN" altLang="en-US" sz="1600" dirty="0"/>
              <a:t>月都未能完成该系统，期间已投入</a:t>
            </a:r>
            <a:r>
              <a:rPr lang="en-US" altLang="zh-CN" sz="1600" dirty="0"/>
              <a:t>6</a:t>
            </a:r>
            <a:r>
              <a:rPr lang="zh-CN" altLang="en-US" sz="1600" dirty="0"/>
              <a:t>千万美元。</a:t>
            </a:r>
          </a:p>
          <a:p>
            <a:pPr>
              <a:lnSpc>
                <a:spcPct val="150000"/>
              </a:lnSpc>
            </a:pPr>
            <a:r>
              <a:rPr lang="zh-CN" altLang="en-US" sz="1600" dirty="0"/>
              <a:t>美国银行最终因为此系统不稳定而不得不放弃，并将</a:t>
            </a:r>
            <a:r>
              <a:rPr lang="en-US" altLang="zh-CN" sz="1600" dirty="0"/>
              <a:t>340</a:t>
            </a:r>
            <a:r>
              <a:rPr lang="zh-CN" altLang="en-US" sz="1600" dirty="0"/>
              <a:t>亿美元的信托账户转移出去，并失去了</a:t>
            </a:r>
            <a:r>
              <a:rPr lang="en-US" altLang="zh-CN" sz="1600" dirty="0"/>
              <a:t>6</a:t>
            </a:r>
            <a:r>
              <a:rPr lang="zh-CN" altLang="en-US" sz="1600" dirty="0"/>
              <a:t>亿美元的信托生意商机。</a:t>
            </a:r>
            <a:endParaRPr lang="zh-CN" altLang="en-US" sz="1500" dirty="0"/>
          </a:p>
        </p:txBody>
      </p:sp>
      <p:pic>
        <p:nvPicPr>
          <p:cNvPr id="37890" name="Picture 2">
            <a:extLst>
              <a:ext uri="{FF2B5EF4-FFF2-40B4-BE49-F238E27FC236}">
                <a16:creationId xmlns:a16="http://schemas.microsoft.com/office/drawing/2014/main" id="{546E935C-DDA9-4925-819B-48BD30F44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810000"/>
            <a:ext cx="3581400" cy="237392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3FE2A761-4B1A-46B4-ADC3-463BEA25460F}"/>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10" name="矩形 17">
            <a:extLst>
              <a:ext uri="{FF2B5EF4-FFF2-40B4-BE49-F238E27FC236}">
                <a16:creationId xmlns:a16="http://schemas.microsoft.com/office/drawing/2014/main" id="{4AE06B7A-3629-482B-8C3D-58CF43B5A38D}"/>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extLst>
      <p:ext uri="{BB962C8B-B14F-4D97-AF65-F5344CB8AC3E}">
        <p14:creationId xmlns:p14="http://schemas.microsoft.com/office/powerpoint/2010/main" val="24437987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11270">
                                            <p:txEl>
                                              <p:pRg st="0" end="0"/>
                                            </p:txEl>
                                          </p:spTgt>
                                        </p:tgtEl>
                                        <p:attrNameLst>
                                          <p:attrName>style.visibility</p:attrName>
                                        </p:attrNameLst>
                                      </p:cBhvr>
                                      <p:to>
                                        <p:strVal val="visible"/>
                                      </p:to>
                                    </p:set>
                                    <p:anim calcmode="lin" valueType="num">
                                      <p:cBhvr additive="base">
                                        <p:cTn id="12" dur="500"/>
                                        <p:tgtEl>
                                          <p:spTgt spid="11270">
                                            <p:txEl>
                                              <p:pRg st="0" end="0"/>
                                            </p:txEl>
                                          </p:spTgt>
                                        </p:tgtEl>
                                        <p:attrNameLst>
                                          <p:attrName>ppt_y</p:attrName>
                                        </p:attrNameLst>
                                      </p:cBhvr>
                                      <p:tavLst>
                                        <p:tav tm="0">
                                          <p:val>
                                            <p:strVal val="#ppt_y+#ppt_h*1.125000"/>
                                          </p:val>
                                        </p:tav>
                                        <p:tav tm="100000">
                                          <p:val>
                                            <p:strVal val="#ppt_y"/>
                                          </p:val>
                                        </p:tav>
                                      </p:tavLst>
                                    </p:anim>
                                    <p:animEffect transition="in" filter="wipe(up)">
                                      <p:cBhvr>
                                        <p:cTn id="13" dur="500"/>
                                        <p:tgtEl>
                                          <p:spTgt spid="11270">
                                            <p:txEl>
                                              <p:pRg st="0" end="0"/>
                                            </p:txEl>
                                          </p:spTgt>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lide(fromBottom)">
                                      <p:cBhvr>
                                        <p:cTn id="17" dur="500"/>
                                        <p:tgtEl>
                                          <p:spTgt spid="10"/>
                                        </p:tgtEl>
                                      </p:cBhvr>
                                    </p:animEffect>
                                  </p:childTnLst>
                                </p:cTn>
                              </p:par>
                            </p:childTnLst>
                          </p:cTn>
                        </p:par>
                        <p:par>
                          <p:cTn id="18" fill="hold">
                            <p:stCondLst>
                              <p:cond delay="1500"/>
                            </p:stCondLst>
                            <p:childTnLst>
                              <p:par>
                                <p:cTn id="19" presetID="12" presetClass="entr" presetSubtype="8"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slide(fromLeft)">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11270" grpId="0" build="p" autoUpdateAnimBg="0" advAuto="0"/>
      <p:bldP spid="9"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9B88553-DF8E-4572-8628-38598DF72CE6}"/>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D98151D0-9B00-46BF-8E00-FE0B6C2BDAC6}"/>
              </a:ext>
            </a:extLst>
          </p:cNvPr>
          <p:cNvSpPr>
            <a:spLocks noGrp="1"/>
          </p:cNvSpPr>
          <p:nvPr>
            <p:ph type="sldNum" sz="quarter" idx="12"/>
          </p:nvPr>
        </p:nvSpPr>
        <p:spPr/>
        <p:txBody>
          <a:bodyPr/>
          <a:lstStyle/>
          <a:p>
            <a:fld id="{73403612-6C36-4613-9B91-854212E45B4D}" type="slidenum">
              <a:rPr lang="zh-CN" altLang="en-US" smtClean="0"/>
              <a:pPr/>
              <a:t>9</a:t>
            </a:fld>
            <a:endParaRPr lang="zh-CN" altLang="en-US"/>
          </a:p>
        </p:txBody>
      </p:sp>
      <p:sp>
        <p:nvSpPr>
          <p:cNvPr id="5" name="文本框 4">
            <a:extLst>
              <a:ext uri="{FF2B5EF4-FFF2-40B4-BE49-F238E27FC236}">
                <a16:creationId xmlns:a16="http://schemas.microsoft.com/office/drawing/2014/main" id="{81829C06-2D2D-4EC4-BE88-680E7E0624FF}"/>
              </a:ext>
            </a:extLst>
          </p:cNvPr>
          <p:cNvSpPr txBox="1"/>
          <p:nvPr/>
        </p:nvSpPr>
        <p:spPr>
          <a:xfrm>
            <a:off x="784328" y="1981200"/>
            <a:ext cx="6759472" cy="3416320"/>
          </a:xfrm>
          <a:prstGeom prst="rect">
            <a:avLst/>
          </a:prstGeom>
          <a:noFill/>
        </p:spPr>
        <p:txBody>
          <a:bodyPr wrap="square">
            <a:spAutoFit/>
          </a:bodyPr>
          <a:lstStyle/>
          <a:p>
            <a:r>
              <a:rPr lang="zh-CN" altLang="en-US" dirty="0"/>
              <a:t>在</a:t>
            </a:r>
            <a:r>
              <a:rPr lang="zh-CN" altLang="en-US" dirty="0">
                <a:hlinkClick r:id="rId2"/>
              </a:rPr>
              <a:t>软件工程</a:t>
            </a:r>
            <a:r>
              <a:rPr lang="zh-CN" altLang="en-US" dirty="0"/>
              <a:t>概念出现以前，程序员们按照自己喜欢的方式开发软件。程序的质量很难控制，调试程序很繁琐，程序员之间也很难读懂对方写的代码。</a:t>
            </a:r>
            <a:endParaRPr lang="en-US" altLang="zh-CN" dirty="0"/>
          </a:p>
          <a:p>
            <a:endParaRPr lang="en-US" altLang="zh-CN" dirty="0"/>
          </a:p>
          <a:p>
            <a:r>
              <a:rPr lang="en-US" altLang="zh-CN" dirty="0"/>
              <a:t>1968</a:t>
            </a:r>
            <a:r>
              <a:rPr lang="zh-CN" altLang="en-US" dirty="0"/>
              <a:t>年，</a:t>
            </a:r>
            <a:r>
              <a:rPr lang="en-US" altLang="zh-CN" dirty="0" err="1"/>
              <a:t>Edsger</a:t>
            </a:r>
            <a:r>
              <a:rPr lang="en-US" altLang="zh-CN" dirty="0"/>
              <a:t> Dijkstra</a:t>
            </a:r>
            <a:r>
              <a:rPr lang="zh-CN" altLang="en-US" dirty="0"/>
              <a:t>给</a:t>
            </a:r>
            <a:r>
              <a:rPr lang="en-US" altLang="zh-CN" dirty="0"/>
              <a:t>CACM</a:t>
            </a:r>
            <a:r>
              <a:rPr lang="zh-CN" altLang="en-US" dirty="0"/>
              <a:t>写了一封题为</a:t>
            </a:r>
            <a:r>
              <a:rPr lang="en-US" altLang="zh-CN" dirty="0"/>
              <a:t>GOTO Statement Considered Harmful</a:t>
            </a:r>
            <a:r>
              <a:rPr lang="zh-CN" altLang="en-US" dirty="0"/>
              <a:t>的信，软件工程的概念由此诞生。程序员们开始摒弃以前的做法，转而使用更系统、更严格的开发方法。</a:t>
            </a:r>
            <a:endParaRPr lang="en-US" altLang="zh-CN" dirty="0"/>
          </a:p>
          <a:p>
            <a:endParaRPr lang="en-US" altLang="zh-CN" dirty="0"/>
          </a:p>
          <a:p>
            <a:r>
              <a:rPr lang="zh-CN" altLang="en-US" dirty="0"/>
              <a:t>为了使控制软件开发和控制其它产品生产一样严格，人们陆续制定了很多规则和做法，发明了很多</a:t>
            </a:r>
            <a:r>
              <a:rPr lang="zh-CN" altLang="en-US" dirty="0">
                <a:hlinkClick r:id="rId3"/>
              </a:rPr>
              <a:t>软件工程方法</a:t>
            </a:r>
            <a:r>
              <a:rPr lang="zh-CN" altLang="en-US" dirty="0"/>
              <a:t>，</a:t>
            </a:r>
            <a:r>
              <a:rPr lang="zh-CN" altLang="en-US" dirty="0">
                <a:hlinkClick r:id="rId4"/>
              </a:rPr>
              <a:t>软件质量</a:t>
            </a:r>
            <a:r>
              <a:rPr lang="zh-CN" altLang="en-US" dirty="0"/>
              <a:t>开始得到大幅度提高。随着遇到的问题更多，规则和流程也越来越精细和复杂。</a:t>
            </a:r>
          </a:p>
        </p:txBody>
      </p:sp>
      <p:sp>
        <p:nvSpPr>
          <p:cNvPr id="6" name="Text Box 14">
            <a:extLst>
              <a:ext uri="{FF2B5EF4-FFF2-40B4-BE49-F238E27FC236}">
                <a16:creationId xmlns:a16="http://schemas.microsoft.com/office/drawing/2014/main" id="{556F68BA-AAF7-4EAD-909E-CD88CC5FFFEA}"/>
              </a:ext>
            </a:extLst>
          </p:cNvPr>
          <p:cNvSpPr txBox="1">
            <a:spLocks noChangeArrowheads="1"/>
          </p:cNvSpPr>
          <p:nvPr/>
        </p:nvSpPr>
        <p:spPr bwMode="auto">
          <a:xfrm>
            <a:off x="752578" y="1377336"/>
            <a:ext cx="172901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dirty="0"/>
              <a:t>1.1.3   </a:t>
            </a:r>
            <a:r>
              <a:rPr lang="zh-CN" altLang="en-US" sz="1650" b="1" dirty="0"/>
              <a:t>软件危机</a:t>
            </a:r>
          </a:p>
        </p:txBody>
      </p:sp>
      <p:sp>
        <p:nvSpPr>
          <p:cNvPr id="7" name="矩形 6">
            <a:extLst>
              <a:ext uri="{FF2B5EF4-FFF2-40B4-BE49-F238E27FC236}">
                <a16:creationId xmlns:a16="http://schemas.microsoft.com/office/drawing/2014/main" id="{1B166AD3-E404-47E1-BB0E-F015673A07B8}"/>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8" name="矩形 17">
            <a:extLst>
              <a:ext uri="{FF2B5EF4-FFF2-40B4-BE49-F238E27FC236}">
                <a16:creationId xmlns:a16="http://schemas.microsoft.com/office/drawing/2014/main" id="{41D16B94-9DE2-48BA-B8E1-53169C3515EC}"/>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extLst>
      <p:ext uri="{BB962C8B-B14F-4D97-AF65-F5344CB8AC3E}">
        <p14:creationId xmlns:p14="http://schemas.microsoft.com/office/powerpoint/2010/main" val="250522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p:tgtEl>
                                          <p:spTgt spid="6">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
                                            <p:txEl>
                                              <p:pRg st="0" end="0"/>
                                            </p:txEl>
                                          </p:spTgt>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Bottom)">
                                      <p:cBhvr>
                                        <p:cTn id="12" dur="500"/>
                                        <p:tgtEl>
                                          <p:spTgt spid="8"/>
                                        </p:tgtEl>
                                      </p:cBhvr>
                                    </p:animEffect>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a:extLst>
              <a:ext uri="{FF2B5EF4-FFF2-40B4-BE49-F238E27FC236}">
                <a16:creationId xmlns:a16="http://schemas.microsoft.com/office/drawing/2014/main" id="{48FC4409-7327-4B34-9945-8C6C2DFBA427}"/>
              </a:ext>
            </a:extLst>
          </p:cNvPr>
          <p:cNvSpPr>
            <a:spLocks noGrp="1" noChangeArrowheads="1"/>
          </p:cNvSpPr>
          <p:nvPr>
            <p:ph type="body" sz="half" idx="4294967295"/>
          </p:nvPr>
        </p:nvSpPr>
        <p:spPr>
          <a:xfrm>
            <a:off x="1143000" y="2349500"/>
            <a:ext cx="8001000" cy="3240088"/>
          </a:xfrm>
        </p:spPr>
        <p:txBody>
          <a:bodyPr/>
          <a:lstStyle/>
          <a:p>
            <a:pPr marL="0" indent="0">
              <a:lnSpc>
                <a:spcPct val="150000"/>
              </a:lnSpc>
              <a:buNone/>
            </a:pPr>
            <a:r>
              <a:rPr lang="en-US" altLang="zh-CN" sz="1500" b="1"/>
              <a:t>1. </a:t>
            </a:r>
            <a:r>
              <a:rPr lang="zh-CN" altLang="en-US" sz="1500" b="1"/>
              <a:t>软件危机的主要表现</a:t>
            </a:r>
          </a:p>
        </p:txBody>
      </p:sp>
      <p:sp>
        <p:nvSpPr>
          <p:cNvPr id="8" name="Line 13">
            <a:extLst>
              <a:ext uri="{FF2B5EF4-FFF2-40B4-BE49-F238E27FC236}">
                <a16:creationId xmlns:a16="http://schemas.microsoft.com/office/drawing/2014/main" id="{491C93BF-6F77-4889-A1FD-92B20FCB5F69}"/>
              </a:ext>
            </a:extLst>
          </p:cNvPr>
          <p:cNvSpPr>
            <a:spLocks noChangeShapeType="1"/>
          </p:cNvSpPr>
          <p:nvPr/>
        </p:nvSpPr>
        <p:spPr bwMode="auto">
          <a:xfrm>
            <a:off x="575148" y="2187017"/>
            <a:ext cx="19981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 name="Text Box 14">
            <a:extLst>
              <a:ext uri="{FF2B5EF4-FFF2-40B4-BE49-F238E27FC236}">
                <a16:creationId xmlns:a16="http://schemas.microsoft.com/office/drawing/2014/main" id="{75E06FAC-2D29-4866-9D90-89815ACE30AE}"/>
              </a:ext>
            </a:extLst>
          </p:cNvPr>
          <p:cNvSpPr txBox="1">
            <a:spLocks noChangeArrowheads="1"/>
          </p:cNvSpPr>
          <p:nvPr/>
        </p:nvSpPr>
        <p:spPr bwMode="auto">
          <a:xfrm>
            <a:off x="790678" y="1758336"/>
            <a:ext cx="172901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1.1.3   </a:t>
            </a:r>
            <a:r>
              <a:rPr lang="zh-CN" altLang="en-US" sz="1650" b="1"/>
              <a:t>软件危机</a:t>
            </a:r>
          </a:p>
        </p:txBody>
      </p:sp>
      <p:sp>
        <p:nvSpPr>
          <p:cNvPr id="20486" name="矩形 2">
            <a:extLst>
              <a:ext uri="{FF2B5EF4-FFF2-40B4-BE49-F238E27FC236}">
                <a16:creationId xmlns:a16="http://schemas.microsoft.com/office/drawing/2014/main" id="{E51FD215-8016-453E-873A-834E20D2F963}"/>
              </a:ext>
            </a:extLst>
          </p:cNvPr>
          <p:cNvSpPr>
            <a:spLocks noChangeArrowheads="1"/>
          </p:cNvSpPr>
          <p:nvPr/>
        </p:nvSpPr>
        <p:spPr bwMode="auto">
          <a:xfrm>
            <a:off x="1099091" y="2996748"/>
            <a:ext cx="7145871" cy="1782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500"/>
              <a:t>（</a:t>
            </a:r>
            <a:r>
              <a:rPr lang="en-US" altLang="zh-CN" sz="1500"/>
              <a:t>1</a:t>
            </a:r>
            <a:r>
              <a:rPr lang="zh-CN" altLang="en-US" sz="1500"/>
              <a:t>）软件不能满足用户的</a:t>
            </a:r>
            <a:r>
              <a:rPr lang="zh-CN" altLang="en-US" sz="1500">
                <a:solidFill>
                  <a:srgbClr val="FF0000"/>
                </a:solidFill>
              </a:rPr>
              <a:t>需求</a:t>
            </a:r>
            <a:r>
              <a:rPr lang="zh-CN" altLang="en-US" sz="1500"/>
              <a:t>。</a:t>
            </a:r>
          </a:p>
          <a:p>
            <a:pPr>
              <a:lnSpc>
                <a:spcPct val="150000"/>
              </a:lnSpc>
            </a:pPr>
            <a:r>
              <a:rPr lang="zh-CN" altLang="en-US" sz="1500"/>
              <a:t>（</a:t>
            </a:r>
            <a:r>
              <a:rPr lang="en-US" altLang="zh-CN" sz="1500"/>
              <a:t>2</a:t>
            </a:r>
            <a:r>
              <a:rPr lang="zh-CN" altLang="en-US" sz="1500"/>
              <a:t>）软件开发</a:t>
            </a:r>
            <a:r>
              <a:rPr lang="zh-CN" altLang="en-US" sz="1500">
                <a:solidFill>
                  <a:srgbClr val="FF0000"/>
                </a:solidFill>
              </a:rPr>
              <a:t>成本</a:t>
            </a:r>
            <a:r>
              <a:rPr lang="zh-CN" altLang="en-US" sz="1500"/>
              <a:t>严重超标，开发</a:t>
            </a:r>
            <a:r>
              <a:rPr lang="zh-CN" altLang="en-US" sz="1500">
                <a:solidFill>
                  <a:srgbClr val="FF0000"/>
                </a:solidFill>
              </a:rPr>
              <a:t>周期</a:t>
            </a:r>
            <a:r>
              <a:rPr lang="zh-CN" altLang="en-US" sz="1500"/>
              <a:t>大大超过规定日期。</a:t>
            </a:r>
          </a:p>
          <a:p>
            <a:pPr>
              <a:lnSpc>
                <a:spcPct val="150000"/>
              </a:lnSpc>
            </a:pPr>
            <a:r>
              <a:rPr lang="zh-CN" altLang="en-US" sz="1500"/>
              <a:t>（</a:t>
            </a:r>
            <a:r>
              <a:rPr lang="en-US" altLang="zh-CN" sz="1500"/>
              <a:t>3</a:t>
            </a:r>
            <a:r>
              <a:rPr lang="zh-CN" altLang="en-US" sz="1500"/>
              <a:t>）软件</a:t>
            </a:r>
            <a:r>
              <a:rPr lang="zh-CN" altLang="en-US" sz="1500">
                <a:solidFill>
                  <a:srgbClr val="FF0000"/>
                </a:solidFill>
              </a:rPr>
              <a:t>质量</a:t>
            </a:r>
            <a:r>
              <a:rPr lang="zh-CN" altLang="en-US" sz="1500"/>
              <a:t>难于保证，可靠性差。</a:t>
            </a:r>
          </a:p>
          <a:p>
            <a:pPr>
              <a:lnSpc>
                <a:spcPct val="150000"/>
              </a:lnSpc>
            </a:pPr>
            <a:r>
              <a:rPr lang="zh-CN" altLang="en-US" sz="1500"/>
              <a:t>（</a:t>
            </a:r>
            <a:r>
              <a:rPr lang="en-US" altLang="zh-CN" sz="1500"/>
              <a:t>4</a:t>
            </a:r>
            <a:r>
              <a:rPr lang="zh-CN" altLang="en-US" sz="1500"/>
              <a:t>）软件难于</a:t>
            </a:r>
            <a:r>
              <a:rPr lang="zh-CN" altLang="en-US" sz="1500">
                <a:solidFill>
                  <a:srgbClr val="FF0000"/>
                </a:solidFill>
              </a:rPr>
              <a:t>维护</a:t>
            </a:r>
            <a:r>
              <a:rPr lang="zh-CN" altLang="en-US" sz="1500"/>
              <a:t>。</a:t>
            </a:r>
          </a:p>
          <a:p>
            <a:pPr>
              <a:lnSpc>
                <a:spcPct val="150000"/>
              </a:lnSpc>
            </a:pPr>
            <a:r>
              <a:rPr lang="zh-CN" altLang="en-US" sz="1500"/>
              <a:t>（</a:t>
            </a:r>
            <a:r>
              <a:rPr lang="en-US" altLang="zh-CN" sz="1500"/>
              <a:t>5</a:t>
            </a:r>
            <a:r>
              <a:rPr lang="zh-CN" altLang="en-US" sz="1500"/>
              <a:t>）软件开发</a:t>
            </a:r>
            <a:r>
              <a:rPr lang="zh-CN" altLang="en-US" sz="1500">
                <a:solidFill>
                  <a:srgbClr val="FF0000"/>
                </a:solidFill>
              </a:rPr>
              <a:t>速度</a:t>
            </a:r>
            <a:r>
              <a:rPr lang="zh-CN" altLang="en-US" sz="1500"/>
              <a:t>跟不上计算机发展速度。</a:t>
            </a:r>
          </a:p>
        </p:txBody>
      </p:sp>
      <p:sp>
        <p:nvSpPr>
          <p:cNvPr id="9" name="矩形 8">
            <a:extLst>
              <a:ext uri="{FF2B5EF4-FFF2-40B4-BE49-F238E27FC236}">
                <a16:creationId xmlns:a16="http://schemas.microsoft.com/office/drawing/2014/main" id="{957E4705-6603-46DB-B70C-3A3A1767ABB5}"/>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10" name="矩形 17">
            <a:extLst>
              <a:ext uri="{FF2B5EF4-FFF2-40B4-BE49-F238E27FC236}">
                <a16:creationId xmlns:a16="http://schemas.microsoft.com/office/drawing/2014/main" id="{DBAB42C2-D195-4DB5-844E-09CA0D6585C6}"/>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1270"/>
                                        </p:tgtEl>
                                        <p:attrNameLst>
                                          <p:attrName>style.visibility</p:attrName>
                                        </p:attrNameLst>
                                      </p:cBhvr>
                                      <p:to>
                                        <p:strVal val="visible"/>
                                      </p:to>
                                    </p:set>
                                    <p:animEffect transition="in" filter="slide(fromBottom)">
                                      <p:cBhvr>
                                        <p:cTn id="11" dur="500"/>
                                        <p:tgtEl>
                                          <p:spTgt spid="1127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slide(fromBottom)">
                                      <p:cBhvr>
                                        <p:cTn id="15" dur="500"/>
                                        <p:tgtEl>
                                          <p:spTgt spid="10"/>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a:extLst>
              <a:ext uri="{FF2B5EF4-FFF2-40B4-BE49-F238E27FC236}">
                <a16:creationId xmlns:a16="http://schemas.microsoft.com/office/drawing/2014/main" id="{695D1757-E130-43A6-93DB-407C28CEE541}"/>
              </a:ext>
            </a:extLst>
          </p:cNvPr>
          <p:cNvSpPr>
            <a:spLocks noGrp="1" noChangeArrowheads="1"/>
          </p:cNvSpPr>
          <p:nvPr>
            <p:ph type="body" sz="half" idx="4294967295"/>
          </p:nvPr>
        </p:nvSpPr>
        <p:spPr>
          <a:xfrm>
            <a:off x="1143000" y="2349500"/>
            <a:ext cx="8001000" cy="3240088"/>
          </a:xfrm>
        </p:spPr>
        <p:txBody>
          <a:bodyPr/>
          <a:lstStyle/>
          <a:p>
            <a:pPr marL="0" indent="0">
              <a:lnSpc>
                <a:spcPct val="150000"/>
              </a:lnSpc>
              <a:buNone/>
            </a:pPr>
            <a:r>
              <a:rPr lang="en-US" altLang="zh-CN" sz="1500" b="1"/>
              <a:t>2. </a:t>
            </a:r>
            <a:r>
              <a:rPr lang="zh-CN" altLang="en-US" sz="1500" b="1"/>
              <a:t>软件危机产生的原因</a:t>
            </a:r>
          </a:p>
        </p:txBody>
      </p:sp>
      <p:sp>
        <p:nvSpPr>
          <p:cNvPr id="8" name="Line 13">
            <a:extLst>
              <a:ext uri="{FF2B5EF4-FFF2-40B4-BE49-F238E27FC236}">
                <a16:creationId xmlns:a16="http://schemas.microsoft.com/office/drawing/2014/main" id="{6B4B47ED-093A-43E8-9C68-F66EFA7BDCEE}"/>
              </a:ext>
            </a:extLst>
          </p:cNvPr>
          <p:cNvSpPr>
            <a:spLocks noChangeShapeType="1"/>
          </p:cNvSpPr>
          <p:nvPr/>
        </p:nvSpPr>
        <p:spPr bwMode="auto">
          <a:xfrm>
            <a:off x="575148" y="2187017"/>
            <a:ext cx="19981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4" name="Text Box 14">
            <a:extLst>
              <a:ext uri="{FF2B5EF4-FFF2-40B4-BE49-F238E27FC236}">
                <a16:creationId xmlns:a16="http://schemas.microsoft.com/office/drawing/2014/main" id="{F3D16D7B-9688-4065-9EDF-65DB8CCDD44D}"/>
              </a:ext>
            </a:extLst>
          </p:cNvPr>
          <p:cNvSpPr txBox="1">
            <a:spLocks noChangeArrowheads="1"/>
          </p:cNvSpPr>
          <p:nvPr/>
        </p:nvSpPr>
        <p:spPr bwMode="auto">
          <a:xfrm>
            <a:off x="790678" y="1758336"/>
            <a:ext cx="178259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1.1.3   </a:t>
            </a:r>
            <a:r>
              <a:rPr lang="zh-CN" altLang="en-US" sz="1650" b="1"/>
              <a:t>软件危机</a:t>
            </a:r>
          </a:p>
        </p:txBody>
      </p:sp>
      <p:sp>
        <p:nvSpPr>
          <p:cNvPr id="21510" name="矩形 2">
            <a:extLst>
              <a:ext uri="{FF2B5EF4-FFF2-40B4-BE49-F238E27FC236}">
                <a16:creationId xmlns:a16="http://schemas.microsoft.com/office/drawing/2014/main" id="{38FA6CCA-7760-4D31-93DA-BDF8B6D31876}"/>
              </a:ext>
            </a:extLst>
          </p:cNvPr>
          <p:cNvSpPr>
            <a:spLocks noChangeArrowheads="1"/>
          </p:cNvSpPr>
          <p:nvPr/>
        </p:nvSpPr>
        <p:spPr bwMode="auto">
          <a:xfrm>
            <a:off x="1099091" y="2996747"/>
            <a:ext cx="7848431" cy="212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500"/>
              <a:t>（</a:t>
            </a:r>
            <a:r>
              <a:rPr lang="en-US" altLang="zh-CN" sz="1500"/>
              <a:t>1</a:t>
            </a:r>
            <a:r>
              <a:rPr lang="zh-CN" altLang="en-US" sz="1500"/>
              <a:t>）忽视软件开发</a:t>
            </a:r>
            <a:r>
              <a:rPr lang="zh-CN" altLang="en-US" sz="1500">
                <a:solidFill>
                  <a:srgbClr val="FF0000"/>
                </a:solidFill>
              </a:rPr>
              <a:t>前期的调研和需求分析</a:t>
            </a:r>
            <a:r>
              <a:rPr lang="zh-CN" altLang="en-US" sz="1500"/>
              <a:t>工作。</a:t>
            </a:r>
          </a:p>
          <a:p>
            <a:pPr>
              <a:lnSpc>
                <a:spcPct val="150000"/>
              </a:lnSpc>
            </a:pPr>
            <a:r>
              <a:rPr lang="zh-CN" altLang="en-US" sz="1500"/>
              <a:t>（</a:t>
            </a:r>
            <a:r>
              <a:rPr lang="en-US" altLang="zh-CN" sz="1500"/>
              <a:t>2</a:t>
            </a:r>
            <a:r>
              <a:rPr lang="zh-CN" altLang="en-US" sz="1500"/>
              <a:t>）缺乏软件开发的</a:t>
            </a:r>
            <a:r>
              <a:rPr lang="zh-CN" altLang="en-US" sz="1500">
                <a:solidFill>
                  <a:srgbClr val="FF0000"/>
                </a:solidFill>
              </a:rPr>
              <a:t>经验</a:t>
            </a:r>
            <a:r>
              <a:rPr lang="zh-CN" altLang="en-US" sz="1500"/>
              <a:t>和有关软件开发数据的积累，使得开发计划很难制定。</a:t>
            </a:r>
          </a:p>
          <a:p>
            <a:pPr>
              <a:lnSpc>
                <a:spcPct val="150000"/>
              </a:lnSpc>
            </a:pPr>
            <a:r>
              <a:rPr lang="zh-CN" altLang="en-US" sz="1500"/>
              <a:t>（</a:t>
            </a:r>
            <a:r>
              <a:rPr lang="en-US" altLang="zh-CN" sz="1500"/>
              <a:t>3</a:t>
            </a:r>
            <a:r>
              <a:rPr lang="zh-CN" altLang="en-US" sz="1500"/>
              <a:t>）开发过程缺乏统一的、规范化的</a:t>
            </a:r>
            <a:r>
              <a:rPr lang="zh-CN" altLang="en-US" sz="1500">
                <a:solidFill>
                  <a:srgbClr val="FF0000"/>
                </a:solidFill>
              </a:rPr>
              <a:t>方法论</a:t>
            </a:r>
            <a:r>
              <a:rPr lang="zh-CN" altLang="en-US" sz="1500"/>
              <a:t>指导。</a:t>
            </a:r>
          </a:p>
          <a:p>
            <a:pPr>
              <a:lnSpc>
                <a:spcPct val="150000"/>
              </a:lnSpc>
            </a:pPr>
            <a:r>
              <a:rPr lang="zh-CN" altLang="en-US" sz="1500"/>
              <a:t>（</a:t>
            </a:r>
            <a:r>
              <a:rPr lang="en-US" altLang="zh-CN" sz="1500"/>
              <a:t>4</a:t>
            </a:r>
            <a:r>
              <a:rPr lang="zh-CN" altLang="en-US" sz="1500"/>
              <a:t>）忽视与用户、开发组成员间的及时有效的</a:t>
            </a:r>
            <a:r>
              <a:rPr lang="zh-CN" altLang="en-US" sz="1500">
                <a:solidFill>
                  <a:srgbClr val="FF0000"/>
                </a:solidFill>
              </a:rPr>
              <a:t>沟通</a:t>
            </a:r>
            <a:r>
              <a:rPr lang="zh-CN" altLang="en-US" sz="1500"/>
              <a:t>。</a:t>
            </a:r>
          </a:p>
          <a:p>
            <a:pPr>
              <a:lnSpc>
                <a:spcPct val="150000"/>
              </a:lnSpc>
            </a:pPr>
            <a:r>
              <a:rPr lang="zh-CN" altLang="en-US" sz="1500"/>
              <a:t>（</a:t>
            </a:r>
            <a:r>
              <a:rPr lang="en-US" altLang="zh-CN" sz="1500"/>
              <a:t>5</a:t>
            </a:r>
            <a:r>
              <a:rPr lang="zh-CN" altLang="en-US" sz="1500"/>
              <a:t>）</a:t>
            </a:r>
            <a:r>
              <a:rPr lang="zh-CN" altLang="en-US" sz="1500">
                <a:solidFill>
                  <a:srgbClr val="FF0000"/>
                </a:solidFill>
              </a:rPr>
              <a:t>文档</a:t>
            </a:r>
            <a:r>
              <a:rPr lang="zh-CN" altLang="en-US" sz="1500"/>
              <a:t>资料不规范或不准确。导致开发者失去工作的基础，管理者失去管理的依据。</a:t>
            </a:r>
          </a:p>
          <a:p>
            <a:pPr>
              <a:lnSpc>
                <a:spcPct val="150000"/>
              </a:lnSpc>
            </a:pPr>
            <a:r>
              <a:rPr lang="zh-CN" altLang="en-US" sz="1500"/>
              <a:t>（</a:t>
            </a:r>
            <a:r>
              <a:rPr lang="en-US" altLang="zh-CN" sz="1500"/>
              <a:t>6</a:t>
            </a:r>
            <a:r>
              <a:rPr lang="zh-CN" altLang="en-US" sz="1500"/>
              <a:t>）没有完善的</a:t>
            </a:r>
            <a:r>
              <a:rPr lang="zh-CN" altLang="en-US" sz="1500">
                <a:solidFill>
                  <a:srgbClr val="FF0000"/>
                </a:solidFill>
              </a:rPr>
              <a:t>质量保证体系</a:t>
            </a:r>
            <a:r>
              <a:rPr lang="zh-CN" altLang="en-US" sz="1500"/>
              <a:t>。</a:t>
            </a:r>
          </a:p>
        </p:txBody>
      </p:sp>
      <p:sp>
        <p:nvSpPr>
          <p:cNvPr id="9" name="矩形 8">
            <a:extLst>
              <a:ext uri="{FF2B5EF4-FFF2-40B4-BE49-F238E27FC236}">
                <a16:creationId xmlns:a16="http://schemas.microsoft.com/office/drawing/2014/main" id="{792AEBC6-DBD0-4562-8316-5E7C08E599DC}"/>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10" name="矩形 17">
            <a:extLst>
              <a:ext uri="{FF2B5EF4-FFF2-40B4-BE49-F238E27FC236}">
                <a16:creationId xmlns:a16="http://schemas.microsoft.com/office/drawing/2014/main" id="{23FDED76-F197-4EEC-A6AC-410F6E6586AF}"/>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2294"/>
                                        </p:tgtEl>
                                        <p:attrNameLst>
                                          <p:attrName>style.visibility</p:attrName>
                                        </p:attrNameLst>
                                      </p:cBhvr>
                                      <p:to>
                                        <p:strVal val="visible"/>
                                      </p:to>
                                    </p:set>
                                    <p:animEffect transition="in" filter="slide(fromBottom)">
                                      <p:cBhvr>
                                        <p:cTn id="11" dur="500"/>
                                        <p:tgtEl>
                                          <p:spTgt spid="12294"/>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slide(fromBottom)">
                                      <p:cBhvr>
                                        <p:cTn id="15" dur="500"/>
                                        <p:tgtEl>
                                          <p:spTgt spid="10"/>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a:extLst>
              <a:ext uri="{FF2B5EF4-FFF2-40B4-BE49-F238E27FC236}">
                <a16:creationId xmlns:a16="http://schemas.microsoft.com/office/drawing/2014/main" id="{853E3FA6-54B7-4AE1-8A7D-5AB7053B7737}"/>
              </a:ext>
            </a:extLst>
          </p:cNvPr>
          <p:cNvSpPr>
            <a:spLocks noGrp="1" noChangeArrowheads="1"/>
          </p:cNvSpPr>
          <p:nvPr>
            <p:ph type="body" sz="half" idx="4294967295"/>
          </p:nvPr>
        </p:nvSpPr>
        <p:spPr>
          <a:xfrm>
            <a:off x="1143000" y="2349500"/>
            <a:ext cx="8001000" cy="3240088"/>
          </a:xfrm>
        </p:spPr>
        <p:txBody>
          <a:bodyPr/>
          <a:lstStyle/>
          <a:p>
            <a:pPr marL="0" indent="0">
              <a:lnSpc>
                <a:spcPct val="150000"/>
              </a:lnSpc>
              <a:buNone/>
            </a:pPr>
            <a:r>
              <a:rPr lang="en-US" altLang="zh-CN" sz="1500" b="1"/>
              <a:t>3. </a:t>
            </a:r>
            <a:r>
              <a:rPr lang="zh-CN" altLang="en-US" sz="1500" b="1"/>
              <a:t>软件危机解决途径</a:t>
            </a:r>
          </a:p>
        </p:txBody>
      </p:sp>
      <p:sp>
        <p:nvSpPr>
          <p:cNvPr id="8" name="Line 13">
            <a:extLst>
              <a:ext uri="{FF2B5EF4-FFF2-40B4-BE49-F238E27FC236}">
                <a16:creationId xmlns:a16="http://schemas.microsoft.com/office/drawing/2014/main" id="{B198A1B6-EB6C-40B3-AAA4-155562B8BD52}"/>
              </a:ext>
            </a:extLst>
          </p:cNvPr>
          <p:cNvSpPr>
            <a:spLocks noChangeShapeType="1"/>
          </p:cNvSpPr>
          <p:nvPr/>
        </p:nvSpPr>
        <p:spPr bwMode="auto">
          <a:xfrm>
            <a:off x="575148" y="2187017"/>
            <a:ext cx="19981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8" name="Text Box 14">
            <a:extLst>
              <a:ext uri="{FF2B5EF4-FFF2-40B4-BE49-F238E27FC236}">
                <a16:creationId xmlns:a16="http://schemas.microsoft.com/office/drawing/2014/main" id="{66EB3E4A-B55A-4161-B863-108FC68D1FC7}"/>
              </a:ext>
            </a:extLst>
          </p:cNvPr>
          <p:cNvSpPr txBox="1">
            <a:spLocks noChangeArrowheads="1"/>
          </p:cNvSpPr>
          <p:nvPr/>
        </p:nvSpPr>
        <p:spPr bwMode="auto">
          <a:xfrm>
            <a:off x="790678" y="1758336"/>
            <a:ext cx="178259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1.1.3   </a:t>
            </a:r>
            <a:r>
              <a:rPr lang="zh-CN" altLang="en-US" sz="1650" b="1"/>
              <a:t>软件危机</a:t>
            </a:r>
          </a:p>
        </p:txBody>
      </p:sp>
      <p:sp>
        <p:nvSpPr>
          <p:cNvPr id="22534" name="矩形 2">
            <a:extLst>
              <a:ext uri="{FF2B5EF4-FFF2-40B4-BE49-F238E27FC236}">
                <a16:creationId xmlns:a16="http://schemas.microsoft.com/office/drawing/2014/main" id="{ED7A462F-5D77-4E82-8B41-4E1B10DBB6ED}"/>
              </a:ext>
            </a:extLst>
          </p:cNvPr>
          <p:cNvSpPr>
            <a:spLocks noChangeArrowheads="1"/>
          </p:cNvSpPr>
          <p:nvPr/>
        </p:nvSpPr>
        <p:spPr bwMode="auto">
          <a:xfrm>
            <a:off x="790679" y="2996747"/>
            <a:ext cx="7994897" cy="212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500"/>
              <a:t>        要解决软件危机问题，需要采取以下措施：</a:t>
            </a:r>
          </a:p>
          <a:p>
            <a:pPr>
              <a:lnSpc>
                <a:spcPct val="150000"/>
              </a:lnSpc>
            </a:pPr>
            <a:r>
              <a:rPr lang="zh-CN" altLang="en-US" sz="1500"/>
              <a:t>        （</a:t>
            </a:r>
            <a:r>
              <a:rPr lang="en-US" altLang="zh-CN" sz="1500"/>
              <a:t>1</a:t>
            </a:r>
            <a:r>
              <a:rPr lang="zh-CN" altLang="en-US" sz="1500"/>
              <a:t>）使用好的软件开发</a:t>
            </a:r>
            <a:r>
              <a:rPr lang="zh-CN" altLang="en-US" sz="1500">
                <a:solidFill>
                  <a:srgbClr val="FF0000"/>
                </a:solidFill>
              </a:rPr>
              <a:t>技术和方法</a:t>
            </a:r>
            <a:r>
              <a:rPr lang="zh-CN" altLang="en-US" sz="1500"/>
              <a:t>。</a:t>
            </a:r>
          </a:p>
          <a:p>
            <a:pPr>
              <a:lnSpc>
                <a:spcPct val="150000"/>
              </a:lnSpc>
            </a:pPr>
            <a:r>
              <a:rPr lang="zh-CN" altLang="en-US" sz="1500"/>
              <a:t>        （</a:t>
            </a:r>
            <a:r>
              <a:rPr lang="en-US" altLang="zh-CN" sz="1500"/>
              <a:t>2</a:t>
            </a:r>
            <a:r>
              <a:rPr lang="zh-CN" altLang="en-US" sz="1500"/>
              <a:t>）使用好的</a:t>
            </a:r>
            <a:r>
              <a:rPr lang="zh-CN" altLang="en-US" sz="1500">
                <a:solidFill>
                  <a:srgbClr val="FF0000"/>
                </a:solidFill>
              </a:rPr>
              <a:t>软件开发工具</a:t>
            </a:r>
            <a:r>
              <a:rPr lang="zh-CN" altLang="en-US" sz="1500"/>
              <a:t>，提高软件生产率。</a:t>
            </a:r>
          </a:p>
          <a:p>
            <a:pPr>
              <a:lnSpc>
                <a:spcPct val="150000"/>
              </a:lnSpc>
            </a:pPr>
            <a:r>
              <a:rPr lang="zh-CN" altLang="en-US" sz="1500"/>
              <a:t>        （</a:t>
            </a:r>
            <a:r>
              <a:rPr lang="en-US" altLang="zh-CN" sz="1500"/>
              <a:t>3</a:t>
            </a:r>
            <a:r>
              <a:rPr lang="zh-CN" altLang="en-US" sz="1500"/>
              <a:t>）有良好的组织、严密的</a:t>
            </a:r>
            <a:r>
              <a:rPr lang="zh-CN" altLang="en-US" sz="1500">
                <a:solidFill>
                  <a:srgbClr val="FF0000"/>
                </a:solidFill>
              </a:rPr>
              <a:t>管理</a:t>
            </a:r>
            <a:r>
              <a:rPr lang="zh-CN" altLang="en-US" sz="1500"/>
              <a:t>，各方面人员相互配合共同完成任务。</a:t>
            </a:r>
          </a:p>
          <a:p>
            <a:pPr>
              <a:lnSpc>
                <a:spcPct val="150000"/>
              </a:lnSpc>
            </a:pPr>
            <a:r>
              <a:rPr lang="zh-CN" altLang="en-US" sz="1500"/>
              <a:t>        为了解决软件危机，既要有技术措施（好的方法和工具），也要有组织管理措施。软件工程正是从</a:t>
            </a:r>
            <a:r>
              <a:rPr lang="zh-CN" altLang="en-US" sz="1500">
                <a:solidFill>
                  <a:srgbClr val="FF0000"/>
                </a:solidFill>
              </a:rPr>
              <a:t>技术和管理</a:t>
            </a:r>
            <a:r>
              <a:rPr lang="zh-CN" altLang="en-US" sz="1500"/>
              <a:t>两方面来研究如何更好地开发和维护计算机软件的。</a:t>
            </a:r>
          </a:p>
        </p:txBody>
      </p:sp>
      <p:sp>
        <p:nvSpPr>
          <p:cNvPr id="9" name="矩形 8">
            <a:extLst>
              <a:ext uri="{FF2B5EF4-FFF2-40B4-BE49-F238E27FC236}">
                <a16:creationId xmlns:a16="http://schemas.microsoft.com/office/drawing/2014/main" id="{4EE8B08A-9107-43FC-91BD-2DFB0ED2CDBB}"/>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a:latin typeface="微软雅黑" panose="020B0503020204020204" pitchFamily="34" charset="-122"/>
                <a:ea typeface="微软雅黑" panose="020B0503020204020204" pitchFamily="34" charset="-122"/>
              </a:rPr>
              <a:t>1.1</a:t>
            </a:r>
            <a:r>
              <a:rPr lang="zh-CN" altLang="en-US" sz="1650" b="1">
                <a:latin typeface="微软雅黑" panose="020B0503020204020204" pitchFamily="34" charset="-122"/>
                <a:ea typeface="微软雅黑" panose="020B0503020204020204" pitchFamily="34" charset="-122"/>
              </a:rPr>
              <a:t>软件与软件危机</a:t>
            </a:r>
          </a:p>
        </p:txBody>
      </p:sp>
      <p:sp>
        <p:nvSpPr>
          <p:cNvPr id="10" name="矩形 17">
            <a:extLst>
              <a:ext uri="{FF2B5EF4-FFF2-40B4-BE49-F238E27FC236}">
                <a16:creationId xmlns:a16="http://schemas.microsoft.com/office/drawing/2014/main" id="{F70A96E6-88D2-4255-A02C-2CDD314750B3}"/>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3318"/>
                                        </p:tgtEl>
                                        <p:attrNameLst>
                                          <p:attrName>style.visibility</p:attrName>
                                        </p:attrNameLst>
                                      </p:cBhvr>
                                      <p:to>
                                        <p:strVal val="visible"/>
                                      </p:to>
                                    </p:set>
                                    <p:animEffect transition="in" filter="slide(fromBottom)">
                                      <p:cBhvr>
                                        <p:cTn id="11" dur="500"/>
                                        <p:tgtEl>
                                          <p:spTgt spid="13318"/>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slide(fromBottom)">
                                      <p:cBhvr>
                                        <p:cTn id="15" dur="500"/>
                                        <p:tgtEl>
                                          <p:spTgt spid="10"/>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3">
            <a:extLst>
              <a:ext uri="{FF2B5EF4-FFF2-40B4-BE49-F238E27FC236}">
                <a16:creationId xmlns:a16="http://schemas.microsoft.com/office/drawing/2014/main" id="{B5976659-01F1-4D21-A3DF-E92FBE7ADAC5}"/>
              </a:ext>
            </a:extLst>
          </p:cNvPr>
          <p:cNvSpPr>
            <a:spLocks noGrp="1" noChangeArrowheads="1"/>
          </p:cNvSpPr>
          <p:nvPr>
            <p:ph type="body" sz="half" idx="4294967295"/>
          </p:nvPr>
        </p:nvSpPr>
        <p:spPr>
          <a:xfrm>
            <a:off x="1143000" y="2349500"/>
            <a:ext cx="8001000" cy="3240088"/>
          </a:xfrm>
        </p:spPr>
        <p:txBody>
          <a:bodyPr/>
          <a:lstStyle/>
          <a:p>
            <a:pPr marL="0" indent="0">
              <a:lnSpc>
                <a:spcPct val="150000"/>
              </a:lnSpc>
              <a:buNone/>
            </a:pPr>
            <a:r>
              <a:rPr lang="zh-CN" altLang="en-US" sz="1800" b="1"/>
              <a:t>         为了克服软件危机，</a:t>
            </a:r>
            <a:r>
              <a:rPr lang="en-US" altLang="zh-CN" sz="1800" b="1">
                <a:solidFill>
                  <a:srgbClr val="FF0000"/>
                </a:solidFill>
              </a:rPr>
              <a:t>1968</a:t>
            </a:r>
            <a:r>
              <a:rPr lang="zh-CN" altLang="en-US" sz="1800" b="1">
                <a:solidFill>
                  <a:srgbClr val="FF0000"/>
                </a:solidFill>
              </a:rPr>
              <a:t>年</a:t>
            </a:r>
            <a:r>
              <a:rPr lang="en-US" altLang="zh-CN" sz="1800" b="1">
                <a:solidFill>
                  <a:srgbClr val="FF0000"/>
                </a:solidFill>
              </a:rPr>
              <a:t>10</a:t>
            </a:r>
            <a:r>
              <a:rPr lang="zh-CN" altLang="en-US" sz="1800" b="1">
                <a:solidFill>
                  <a:srgbClr val="FF0000"/>
                </a:solidFill>
              </a:rPr>
              <a:t>月</a:t>
            </a:r>
            <a:r>
              <a:rPr lang="zh-CN" altLang="en-US" sz="1800" b="1"/>
              <a:t>在北大西洋公约组织（</a:t>
            </a:r>
            <a:r>
              <a:rPr lang="en-US" altLang="zh-CN" sz="1800" b="1"/>
              <a:t>NATO</a:t>
            </a:r>
            <a:r>
              <a:rPr lang="zh-CN" altLang="en-US" sz="1800" b="1"/>
              <a:t>）召开的计算机科学会议上，</a:t>
            </a:r>
            <a:r>
              <a:rPr lang="en-US" altLang="zh-CN" sz="1800" b="1"/>
              <a:t>Fritz Bauer</a:t>
            </a:r>
            <a:r>
              <a:rPr lang="zh-CN" altLang="en-US" sz="1800" b="1"/>
              <a:t>首次提出“软件工程”的概念。</a:t>
            </a:r>
          </a:p>
          <a:p>
            <a:pPr marL="0" indent="0">
              <a:lnSpc>
                <a:spcPct val="150000"/>
              </a:lnSpc>
              <a:buNone/>
            </a:pPr>
            <a:r>
              <a:rPr lang="zh-CN" altLang="en-US" sz="1800" b="1"/>
              <a:t>         按工程化的原则和方法组织软件开发工作是有效的，是摆脱软件危机的一条主要出路。</a:t>
            </a:r>
          </a:p>
          <a:p>
            <a:pPr marL="0" indent="0">
              <a:lnSpc>
                <a:spcPct val="150000"/>
              </a:lnSpc>
              <a:buNone/>
            </a:pPr>
            <a:r>
              <a:rPr lang="zh-CN" altLang="en-US" sz="1800" b="1"/>
              <a:t>         软件工程的</a:t>
            </a:r>
            <a:r>
              <a:rPr lang="zh-CN" altLang="en-US" sz="1800" b="1">
                <a:solidFill>
                  <a:srgbClr val="FF0000"/>
                </a:solidFill>
              </a:rPr>
              <a:t>主要思想</a:t>
            </a:r>
            <a:r>
              <a:rPr lang="zh-CN" altLang="en-US" sz="1800" b="1"/>
              <a:t>是强调软件开发过程中应用工程化原则的重要性。软件工程的</a:t>
            </a:r>
            <a:r>
              <a:rPr lang="zh-CN" altLang="en-US" sz="1800" b="1">
                <a:solidFill>
                  <a:srgbClr val="FF0000"/>
                </a:solidFill>
              </a:rPr>
              <a:t>目标</a:t>
            </a:r>
            <a:r>
              <a:rPr lang="zh-CN" altLang="en-US" sz="1800" b="1"/>
              <a:t>是实现软件的优质高产。软件工程的</a:t>
            </a:r>
            <a:r>
              <a:rPr lang="zh-CN" altLang="en-US" sz="1800" b="1">
                <a:solidFill>
                  <a:srgbClr val="FF0000"/>
                </a:solidFill>
              </a:rPr>
              <a:t>目的</a:t>
            </a:r>
            <a:r>
              <a:rPr lang="zh-CN" altLang="en-US" sz="1800" b="1"/>
              <a:t>是在经费的预算范围内，按期交付出用户满意的、质量合格的软件产品。</a:t>
            </a:r>
          </a:p>
        </p:txBody>
      </p:sp>
      <p:sp>
        <p:nvSpPr>
          <p:cNvPr id="8" name="Line 13">
            <a:extLst>
              <a:ext uri="{FF2B5EF4-FFF2-40B4-BE49-F238E27FC236}">
                <a16:creationId xmlns:a16="http://schemas.microsoft.com/office/drawing/2014/main" id="{A5D055F9-1923-41C4-BDEB-37C22D6450CD}"/>
              </a:ext>
            </a:extLst>
          </p:cNvPr>
          <p:cNvSpPr>
            <a:spLocks noChangeShapeType="1"/>
          </p:cNvSpPr>
          <p:nvPr/>
        </p:nvSpPr>
        <p:spPr bwMode="auto">
          <a:xfrm>
            <a:off x="575148" y="2187017"/>
            <a:ext cx="340324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97C61363-1454-4FC6-A6D1-D0C7A44D646F}"/>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1.2.1   </a:t>
            </a:r>
            <a:r>
              <a:rPr lang="zh-CN" altLang="en-US" sz="1650" b="1"/>
              <a:t>软件工程的定义和目标</a:t>
            </a:r>
          </a:p>
        </p:txBody>
      </p:sp>
      <p:sp>
        <p:nvSpPr>
          <p:cNvPr id="9" name="矩形 8">
            <a:extLst>
              <a:ext uri="{FF2B5EF4-FFF2-40B4-BE49-F238E27FC236}">
                <a16:creationId xmlns:a16="http://schemas.microsoft.com/office/drawing/2014/main" id="{03DA7C87-BB2A-4CFD-A7CE-637E8CFA3F48}"/>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1.2 </a:t>
            </a:r>
            <a:r>
              <a:rPr lang="zh-CN" altLang="en-US" sz="1650" b="1" dirty="0">
                <a:latin typeface="微软雅黑" panose="020B0503020204020204" pitchFamily="34" charset="-122"/>
                <a:ea typeface="微软雅黑" panose="020B0503020204020204" pitchFamily="34" charset="-122"/>
              </a:rPr>
              <a:t>软件工程</a:t>
            </a:r>
          </a:p>
        </p:txBody>
      </p:sp>
      <p:sp>
        <p:nvSpPr>
          <p:cNvPr id="11" name="矩形 17">
            <a:extLst>
              <a:ext uri="{FF2B5EF4-FFF2-40B4-BE49-F238E27FC236}">
                <a16:creationId xmlns:a16="http://schemas.microsoft.com/office/drawing/2014/main" id="{A40A7277-086C-41AB-8B8B-1DE1CEE0EB93}"/>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a:extLst>
              <a:ext uri="{FF2B5EF4-FFF2-40B4-BE49-F238E27FC236}">
                <a16:creationId xmlns:a16="http://schemas.microsoft.com/office/drawing/2014/main" id="{D637C781-0FB5-457A-B1EF-51B959438964}"/>
              </a:ext>
            </a:extLst>
          </p:cNvPr>
          <p:cNvSpPr>
            <a:spLocks noGrp="1" noChangeArrowheads="1"/>
          </p:cNvSpPr>
          <p:nvPr>
            <p:ph type="body" sz="half" idx="4294967295"/>
          </p:nvPr>
        </p:nvSpPr>
        <p:spPr>
          <a:xfrm>
            <a:off x="1143000" y="2349500"/>
            <a:ext cx="8001000" cy="3240088"/>
          </a:xfrm>
        </p:spPr>
        <p:txBody>
          <a:bodyPr/>
          <a:lstStyle/>
          <a:p>
            <a:pPr marL="0" indent="0">
              <a:lnSpc>
                <a:spcPct val="150000"/>
              </a:lnSpc>
              <a:buNone/>
            </a:pPr>
            <a:r>
              <a:rPr lang="zh-CN" altLang="en-US" sz="1500" b="1"/>
              <a:t>          著名软件工程专家</a:t>
            </a:r>
            <a:r>
              <a:rPr lang="en-US" altLang="zh-CN" sz="1500" b="1"/>
              <a:t>Boehm</a:t>
            </a:r>
            <a:r>
              <a:rPr lang="zh-CN" altLang="en-US" sz="1500" b="1"/>
              <a:t>提出。</a:t>
            </a:r>
          </a:p>
          <a:p>
            <a:pPr marL="0" indent="0">
              <a:lnSpc>
                <a:spcPct val="150000"/>
              </a:lnSpc>
              <a:buNone/>
            </a:pPr>
            <a:r>
              <a:rPr lang="zh-CN" altLang="en-US" sz="1500" b="1"/>
              <a:t>（</a:t>
            </a:r>
            <a:r>
              <a:rPr lang="en-US" altLang="zh-CN" sz="1500" b="1"/>
              <a:t>1</a:t>
            </a:r>
            <a:r>
              <a:rPr lang="zh-CN" altLang="en-US" sz="1500" b="1"/>
              <a:t>）用</a:t>
            </a:r>
            <a:r>
              <a:rPr lang="zh-CN" altLang="en-US" sz="1500" b="1">
                <a:solidFill>
                  <a:srgbClr val="FF0000"/>
                </a:solidFill>
              </a:rPr>
              <a:t>分阶段</a:t>
            </a:r>
            <a:r>
              <a:rPr lang="zh-CN" altLang="en-US" sz="1500" b="1"/>
              <a:t>的软件生存周期计划进行严格的质量管理。</a:t>
            </a:r>
          </a:p>
          <a:p>
            <a:pPr marL="0" indent="0">
              <a:lnSpc>
                <a:spcPct val="150000"/>
              </a:lnSpc>
              <a:buNone/>
            </a:pPr>
            <a:r>
              <a:rPr lang="zh-CN" altLang="en-US" sz="1500" b="1"/>
              <a:t>（</a:t>
            </a:r>
            <a:r>
              <a:rPr lang="en-US" altLang="zh-CN" sz="1500" b="1"/>
              <a:t>2</a:t>
            </a:r>
            <a:r>
              <a:rPr lang="zh-CN" altLang="en-US" sz="1500" b="1"/>
              <a:t>）坚持进行</a:t>
            </a:r>
            <a:r>
              <a:rPr lang="zh-CN" altLang="en-US" sz="1500" b="1">
                <a:solidFill>
                  <a:srgbClr val="FF0000"/>
                </a:solidFill>
              </a:rPr>
              <a:t>阶段评审</a:t>
            </a:r>
            <a:r>
              <a:rPr lang="zh-CN" altLang="en-US" sz="1500" b="1"/>
              <a:t>。</a:t>
            </a:r>
          </a:p>
          <a:p>
            <a:pPr marL="0" indent="0">
              <a:lnSpc>
                <a:spcPct val="150000"/>
              </a:lnSpc>
              <a:buNone/>
            </a:pPr>
            <a:r>
              <a:rPr lang="zh-CN" altLang="en-US" sz="1500" b="1"/>
              <a:t>（</a:t>
            </a:r>
            <a:r>
              <a:rPr lang="en-US" altLang="zh-CN" sz="1500" b="1"/>
              <a:t>3</a:t>
            </a:r>
            <a:r>
              <a:rPr lang="zh-CN" altLang="en-US" sz="1500" b="1"/>
              <a:t>）实行严格的</a:t>
            </a:r>
            <a:r>
              <a:rPr lang="zh-CN" altLang="en-US" sz="1500" b="1">
                <a:solidFill>
                  <a:srgbClr val="FF0000"/>
                </a:solidFill>
              </a:rPr>
              <a:t>产品控制</a:t>
            </a:r>
            <a:r>
              <a:rPr lang="zh-CN" altLang="en-US" sz="1500" b="1"/>
              <a:t>。</a:t>
            </a:r>
          </a:p>
          <a:p>
            <a:pPr marL="0" indent="0">
              <a:lnSpc>
                <a:spcPct val="150000"/>
              </a:lnSpc>
              <a:buNone/>
            </a:pPr>
            <a:r>
              <a:rPr lang="zh-CN" altLang="en-US" sz="1500" b="1"/>
              <a:t>（</a:t>
            </a:r>
            <a:r>
              <a:rPr lang="en-US" altLang="zh-CN" sz="1500" b="1"/>
              <a:t>4</a:t>
            </a:r>
            <a:r>
              <a:rPr lang="zh-CN" altLang="en-US" sz="1500" b="1"/>
              <a:t>）采用</a:t>
            </a:r>
            <a:r>
              <a:rPr lang="zh-CN" altLang="en-US" sz="1500" b="1">
                <a:solidFill>
                  <a:srgbClr val="FF0000"/>
                </a:solidFill>
              </a:rPr>
              <a:t>现代程序设计技术</a:t>
            </a:r>
            <a:r>
              <a:rPr lang="zh-CN" altLang="en-US" sz="1500" b="1"/>
              <a:t>。</a:t>
            </a:r>
          </a:p>
          <a:p>
            <a:pPr marL="0" indent="0">
              <a:lnSpc>
                <a:spcPct val="150000"/>
              </a:lnSpc>
              <a:buNone/>
            </a:pPr>
            <a:r>
              <a:rPr lang="zh-CN" altLang="en-US" sz="1500" b="1"/>
              <a:t>（</a:t>
            </a:r>
            <a:r>
              <a:rPr lang="en-US" altLang="zh-CN" sz="1500" b="1"/>
              <a:t>5</a:t>
            </a:r>
            <a:r>
              <a:rPr lang="zh-CN" altLang="en-US" sz="1500" b="1"/>
              <a:t>）软件工程</a:t>
            </a:r>
            <a:r>
              <a:rPr lang="zh-CN" altLang="en-US" sz="1500" b="1">
                <a:solidFill>
                  <a:srgbClr val="FF0000"/>
                </a:solidFill>
              </a:rPr>
              <a:t>结果</a:t>
            </a:r>
            <a:r>
              <a:rPr lang="zh-CN" altLang="en-US" sz="1500" b="1"/>
              <a:t>应能清楚地</a:t>
            </a:r>
            <a:r>
              <a:rPr lang="zh-CN" altLang="en-US" sz="1500" b="1">
                <a:solidFill>
                  <a:srgbClr val="FF0000"/>
                </a:solidFill>
              </a:rPr>
              <a:t>审查</a:t>
            </a:r>
            <a:r>
              <a:rPr lang="zh-CN" altLang="en-US" sz="1500" b="1"/>
              <a:t>。</a:t>
            </a:r>
          </a:p>
          <a:p>
            <a:pPr marL="0" indent="0">
              <a:lnSpc>
                <a:spcPct val="150000"/>
              </a:lnSpc>
              <a:buNone/>
            </a:pPr>
            <a:r>
              <a:rPr lang="zh-CN" altLang="en-US" sz="1500" b="1"/>
              <a:t>（</a:t>
            </a:r>
            <a:r>
              <a:rPr lang="en-US" altLang="zh-CN" sz="1500" b="1"/>
              <a:t>6</a:t>
            </a:r>
            <a:r>
              <a:rPr lang="zh-CN" altLang="en-US" sz="1500" b="1"/>
              <a:t>）开发小组的人员应该</a:t>
            </a:r>
            <a:r>
              <a:rPr lang="zh-CN" altLang="en-US" sz="1500" b="1">
                <a:solidFill>
                  <a:srgbClr val="FF0000"/>
                </a:solidFill>
              </a:rPr>
              <a:t>少而精</a:t>
            </a:r>
            <a:r>
              <a:rPr lang="zh-CN" altLang="en-US" sz="1500" b="1"/>
              <a:t>。</a:t>
            </a:r>
          </a:p>
          <a:p>
            <a:pPr marL="0" indent="0">
              <a:lnSpc>
                <a:spcPct val="150000"/>
              </a:lnSpc>
              <a:buNone/>
            </a:pPr>
            <a:r>
              <a:rPr lang="zh-CN" altLang="en-US" sz="1500" b="1"/>
              <a:t>（</a:t>
            </a:r>
            <a:r>
              <a:rPr lang="en-US" altLang="zh-CN" sz="1500" b="1"/>
              <a:t>7</a:t>
            </a:r>
            <a:r>
              <a:rPr lang="zh-CN" altLang="en-US" sz="1500" b="1"/>
              <a:t>）承认</a:t>
            </a:r>
            <a:r>
              <a:rPr lang="zh-CN" altLang="en-US" sz="1500" b="1">
                <a:solidFill>
                  <a:srgbClr val="FF0000"/>
                </a:solidFill>
              </a:rPr>
              <a:t>不断改进软件工程实践</a:t>
            </a:r>
            <a:r>
              <a:rPr lang="zh-CN" altLang="en-US" sz="1500" b="1"/>
              <a:t>的必要性。</a:t>
            </a:r>
          </a:p>
        </p:txBody>
      </p:sp>
      <p:sp>
        <p:nvSpPr>
          <p:cNvPr id="8" name="Line 13">
            <a:extLst>
              <a:ext uri="{FF2B5EF4-FFF2-40B4-BE49-F238E27FC236}">
                <a16:creationId xmlns:a16="http://schemas.microsoft.com/office/drawing/2014/main" id="{229D8A98-D12E-49F8-BBCF-431149B1609B}"/>
              </a:ext>
            </a:extLst>
          </p:cNvPr>
          <p:cNvSpPr>
            <a:spLocks noChangeShapeType="1"/>
          </p:cNvSpPr>
          <p:nvPr/>
        </p:nvSpPr>
        <p:spPr bwMode="auto">
          <a:xfrm>
            <a:off x="575148" y="2187017"/>
            <a:ext cx="340324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54FB8113-2088-4673-9C9F-D4EEABCC093A}"/>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1.2.2   </a:t>
            </a:r>
            <a:r>
              <a:rPr lang="zh-CN" altLang="en-US" sz="1650" b="1"/>
              <a:t>软件工程的基本原理</a:t>
            </a:r>
          </a:p>
        </p:txBody>
      </p:sp>
      <p:sp>
        <p:nvSpPr>
          <p:cNvPr id="9" name="矩形 8">
            <a:extLst>
              <a:ext uri="{FF2B5EF4-FFF2-40B4-BE49-F238E27FC236}">
                <a16:creationId xmlns:a16="http://schemas.microsoft.com/office/drawing/2014/main" id="{5BAF2569-1E7B-4DDE-BA29-EA54E349797D}"/>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1.2 </a:t>
            </a:r>
            <a:r>
              <a:rPr lang="zh-CN" altLang="en-US" sz="1650" b="1" dirty="0">
                <a:latin typeface="微软雅黑" panose="020B0503020204020204" pitchFamily="34" charset="-122"/>
                <a:ea typeface="微软雅黑" panose="020B0503020204020204" pitchFamily="34" charset="-122"/>
              </a:rPr>
              <a:t>软件工程</a:t>
            </a:r>
          </a:p>
        </p:txBody>
      </p:sp>
      <p:sp>
        <p:nvSpPr>
          <p:cNvPr id="11" name="矩形 17">
            <a:extLst>
              <a:ext uri="{FF2B5EF4-FFF2-40B4-BE49-F238E27FC236}">
                <a16:creationId xmlns:a16="http://schemas.microsoft.com/office/drawing/2014/main" id="{2C7402FF-EF40-4DEB-874E-DFB944DCE84A}"/>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B5CCA18C-7492-4A18-99EA-96A57306572B}"/>
              </a:ext>
            </a:extLst>
          </p:cNvPr>
          <p:cNvSpPr>
            <a:spLocks noChangeShapeType="1"/>
          </p:cNvSpPr>
          <p:nvPr/>
        </p:nvSpPr>
        <p:spPr bwMode="auto">
          <a:xfrm>
            <a:off x="575148" y="2187017"/>
            <a:ext cx="340324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E2D5CEF6-49F2-417E-BC15-82026120216D}"/>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1.2.3   </a:t>
            </a:r>
            <a:r>
              <a:rPr lang="zh-CN" altLang="en-US" sz="1650" b="1"/>
              <a:t>软件工程的研究内容</a:t>
            </a:r>
          </a:p>
        </p:txBody>
      </p:sp>
      <p:pic>
        <p:nvPicPr>
          <p:cNvPr id="25605" name="Picture 2">
            <a:extLst>
              <a:ext uri="{FF2B5EF4-FFF2-40B4-BE49-F238E27FC236}">
                <a16:creationId xmlns:a16="http://schemas.microsoft.com/office/drawing/2014/main" id="{91227148-70A8-408D-BB5E-E4493EDD7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156" y="2510909"/>
            <a:ext cx="6320661" cy="243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直接连接符 16392">
            <a:extLst>
              <a:ext uri="{FF2B5EF4-FFF2-40B4-BE49-F238E27FC236}">
                <a16:creationId xmlns:a16="http://schemas.microsoft.com/office/drawing/2014/main" id="{A517A726-EECA-4BD8-A261-7247F76B75CF}"/>
              </a:ext>
            </a:extLst>
          </p:cNvPr>
          <p:cNvSpPr>
            <a:spLocks noChangeShapeType="1"/>
          </p:cNvSpPr>
          <p:nvPr/>
        </p:nvSpPr>
        <p:spPr bwMode="auto">
          <a:xfrm>
            <a:off x="1115762" y="2888386"/>
            <a:ext cx="324011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3FDD5E17-FB9D-41E4-BB2C-EDADA7D49DDA}"/>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1.2 </a:t>
            </a:r>
            <a:r>
              <a:rPr lang="zh-CN" altLang="en-US" sz="1650" b="1" dirty="0">
                <a:latin typeface="微软雅黑" panose="020B0503020204020204" pitchFamily="34" charset="-122"/>
                <a:ea typeface="微软雅黑" panose="020B0503020204020204" pitchFamily="34" charset="-122"/>
              </a:rPr>
              <a:t>软件工程</a:t>
            </a:r>
          </a:p>
        </p:txBody>
      </p:sp>
      <p:sp>
        <p:nvSpPr>
          <p:cNvPr id="11" name="矩形 17">
            <a:extLst>
              <a:ext uri="{FF2B5EF4-FFF2-40B4-BE49-F238E27FC236}">
                <a16:creationId xmlns:a16="http://schemas.microsoft.com/office/drawing/2014/main" id="{E03E891D-21F5-4216-8BB7-92329A57BF96}"/>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7" name="组合 17414">
            <a:extLst>
              <a:ext uri="{FF2B5EF4-FFF2-40B4-BE49-F238E27FC236}">
                <a16:creationId xmlns:a16="http://schemas.microsoft.com/office/drawing/2014/main" id="{0D355C66-BB8C-4644-B94A-A7C4D0F6A449}"/>
              </a:ext>
            </a:extLst>
          </p:cNvPr>
          <p:cNvGrpSpPr>
            <a:grpSpLocks/>
          </p:cNvGrpSpPr>
          <p:nvPr/>
        </p:nvGrpSpPr>
        <p:grpSpPr bwMode="auto">
          <a:xfrm>
            <a:off x="1222932" y="2726440"/>
            <a:ext cx="5725270" cy="2268436"/>
            <a:chOff x="2232" y="1440"/>
            <a:chExt cx="7033" cy="2340"/>
          </a:xfrm>
        </p:grpSpPr>
        <p:sp>
          <p:nvSpPr>
            <p:cNvPr id="26628" name="直接连接符 17415">
              <a:extLst>
                <a:ext uri="{FF2B5EF4-FFF2-40B4-BE49-F238E27FC236}">
                  <a16:creationId xmlns:a16="http://schemas.microsoft.com/office/drawing/2014/main" id="{E691EF21-15EF-4C1F-8D2A-069AEDEF7A63}"/>
                </a:ext>
              </a:extLst>
            </p:cNvPr>
            <p:cNvSpPr>
              <a:spLocks noChangeShapeType="1"/>
            </p:cNvSpPr>
            <p:nvPr/>
          </p:nvSpPr>
          <p:spPr bwMode="auto">
            <a:xfrm>
              <a:off x="2232" y="1440"/>
              <a:ext cx="0" cy="202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6629" name="直接连接符 17416">
              <a:extLst>
                <a:ext uri="{FF2B5EF4-FFF2-40B4-BE49-F238E27FC236}">
                  <a16:creationId xmlns:a16="http://schemas.microsoft.com/office/drawing/2014/main" id="{95CE6C24-56FA-443A-8C81-53EE59EE5F99}"/>
                </a:ext>
              </a:extLst>
            </p:cNvPr>
            <p:cNvSpPr>
              <a:spLocks noChangeShapeType="1"/>
            </p:cNvSpPr>
            <p:nvPr/>
          </p:nvSpPr>
          <p:spPr bwMode="auto">
            <a:xfrm>
              <a:off x="2245" y="3478"/>
              <a:ext cx="70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0" name="文本框 17417">
              <a:extLst>
                <a:ext uri="{FF2B5EF4-FFF2-40B4-BE49-F238E27FC236}">
                  <a16:creationId xmlns:a16="http://schemas.microsoft.com/office/drawing/2014/main" id="{9C867F04-E263-4367-9738-86D76DCA0D09}"/>
                </a:ext>
              </a:extLst>
            </p:cNvPr>
            <p:cNvSpPr txBox="1">
              <a:spLocks noChangeArrowheads="1"/>
            </p:cNvSpPr>
            <p:nvPr/>
          </p:nvSpPr>
          <p:spPr bwMode="auto">
            <a:xfrm>
              <a:off x="2245" y="3159"/>
              <a:ext cx="1260"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可行性研究</a:t>
              </a:r>
              <a:endParaRPr lang="zh-CN" altLang="en-US" sz="900">
                <a:latin typeface="Tahoma" panose="020B0604030504040204" pitchFamily="34" charset="0"/>
              </a:endParaRPr>
            </a:p>
          </p:txBody>
        </p:sp>
        <p:sp>
          <p:nvSpPr>
            <p:cNvPr id="26631" name="文本框 17418">
              <a:extLst>
                <a:ext uri="{FF2B5EF4-FFF2-40B4-BE49-F238E27FC236}">
                  <a16:creationId xmlns:a16="http://schemas.microsoft.com/office/drawing/2014/main" id="{A9BA548D-2A81-4924-AF76-E672013AF7B7}"/>
                </a:ext>
              </a:extLst>
            </p:cNvPr>
            <p:cNvSpPr txBox="1">
              <a:spLocks noChangeArrowheads="1"/>
            </p:cNvSpPr>
            <p:nvPr/>
          </p:nvSpPr>
          <p:spPr bwMode="auto">
            <a:xfrm>
              <a:off x="2236" y="2805"/>
              <a:ext cx="1260"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问题定义</a:t>
              </a:r>
              <a:endParaRPr lang="zh-CN" altLang="en-US" sz="900">
                <a:latin typeface="Tahoma" panose="020B0604030504040204" pitchFamily="34" charset="0"/>
              </a:endParaRPr>
            </a:p>
          </p:txBody>
        </p:sp>
        <p:sp>
          <p:nvSpPr>
            <p:cNvPr id="26632" name="文本框 17419">
              <a:extLst>
                <a:ext uri="{FF2B5EF4-FFF2-40B4-BE49-F238E27FC236}">
                  <a16:creationId xmlns:a16="http://schemas.microsoft.com/office/drawing/2014/main" id="{E6597008-9BE2-4B32-B02A-E358E0DDB686}"/>
                </a:ext>
              </a:extLst>
            </p:cNvPr>
            <p:cNvSpPr txBox="1">
              <a:spLocks noChangeArrowheads="1"/>
            </p:cNvSpPr>
            <p:nvPr/>
          </p:nvSpPr>
          <p:spPr bwMode="auto">
            <a:xfrm>
              <a:off x="3581" y="3156"/>
              <a:ext cx="1080"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需求分析</a:t>
              </a:r>
              <a:endParaRPr lang="zh-CN" altLang="en-US" sz="900">
                <a:latin typeface="Tahoma" panose="020B0604030504040204" pitchFamily="34" charset="0"/>
              </a:endParaRPr>
            </a:p>
          </p:txBody>
        </p:sp>
        <p:sp>
          <p:nvSpPr>
            <p:cNvPr id="26633" name="文本框 17420">
              <a:extLst>
                <a:ext uri="{FF2B5EF4-FFF2-40B4-BE49-F238E27FC236}">
                  <a16:creationId xmlns:a16="http://schemas.microsoft.com/office/drawing/2014/main" id="{775B4F13-A99B-404F-B24C-B17AB984821A}"/>
                </a:ext>
              </a:extLst>
            </p:cNvPr>
            <p:cNvSpPr txBox="1">
              <a:spLocks noChangeArrowheads="1"/>
            </p:cNvSpPr>
            <p:nvPr/>
          </p:nvSpPr>
          <p:spPr bwMode="auto">
            <a:xfrm>
              <a:off x="4748" y="3156"/>
              <a:ext cx="965"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详细设计</a:t>
              </a:r>
              <a:endParaRPr lang="zh-CN" altLang="en-US" sz="900">
                <a:latin typeface="Tahoma" panose="020B0604030504040204" pitchFamily="34" charset="0"/>
              </a:endParaRPr>
            </a:p>
          </p:txBody>
        </p:sp>
        <p:sp>
          <p:nvSpPr>
            <p:cNvPr id="26634" name="文本框 17421">
              <a:extLst>
                <a:ext uri="{FF2B5EF4-FFF2-40B4-BE49-F238E27FC236}">
                  <a16:creationId xmlns:a16="http://schemas.microsoft.com/office/drawing/2014/main" id="{33BCF65A-0D79-43EB-8805-4650B30A2CED}"/>
                </a:ext>
              </a:extLst>
            </p:cNvPr>
            <p:cNvSpPr txBox="1">
              <a:spLocks noChangeArrowheads="1"/>
            </p:cNvSpPr>
            <p:nvPr/>
          </p:nvSpPr>
          <p:spPr bwMode="auto">
            <a:xfrm>
              <a:off x="4737" y="2805"/>
              <a:ext cx="976"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总体设计</a:t>
              </a:r>
              <a:endParaRPr lang="zh-CN" altLang="en-US" sz="900">
                <a:latin typeface="Tahoma" panose="020B0604030504040204" pitchFamily="34" charset="0"/>
              </a:endParaRPr>
            </a:p>
          </p:txBody>
        </p:sp>
        <p:sp>
          <p:nvSpPr>
            <p:cNvPr id="26635" name="文本框 17422">
              <a:extLst>
                <a:ext uri="{FF2B5EF4-FFF2-40B4-BE49-F238E27FC236}">
                  <a16:creationId xmlns:a16="http://schemas.microsoft.com/office/drawing/2014/main" id="{4908D512-8B47-4412-B855-A337512D36D4}"/>
                </a:ext>
              </a:extLst>
            </p:cNvPr>
            <p:cNvSpPr txBox="1">
              <a:spLocks noChangeArrowheads="1"/>
            </p:cNvSpPr>
            <p:nvPr/>
          </p:nvSpPr>
          <p:spPr bwMode="auto">
            <a:xfrm>
              <a:off x="5802" y="3156"/>
              <a:ext cx="965"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编码</a:t>
              </a:r>
              <a:endParaRPr lang="zh-CN" altLang="en-US" sz="900">
                <a:latin typeface="Tahoma" panose="020B0604030504040204" pitchFamily="34" charset="0"/>
              </a:endParaRPr>
            </a:p>
          </p:txBody>
        </p:sp>
        <p:sp>
          <p:nvSpPr>
            <p:cNvPr id="26636" name="文本框 17423">
              <a:extLst>
                <a:ext uri="{FF2B5EF4-FFF2-40B4-BE49-F238E27FC236}">
                  <a16:creationId xmlns:a16="http://schemas.microsoft.com/office/drawing/2014/main" id="{73D1AB51-9BB0-494D-A5CD-E2D369AD3CD0}"/>
                </a:ext>
              </a:extLst>
            </p:cNvPr>
            <p:cNvSpPr txBox="1">
              <a:spLocks noChangeArrowheads="1"/>
            </p:cNvSpPr>
            <p:nvPr/>
          </p:nvSpPr>
          <p:spPr bwMode="auto">
            <a:xfrm>
              <a:off x="6871" y="3156"/>
              <a:ext cx="976"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系统测试</a:t>
              </a:r>
              <a:endParaRPr lang="zh-CN" altLang="en-US" sz="900">
                <a:latin typeface="Tahoma" panose="020B0604030504040204" pitchFamily="34" charset="0"/>
              </a:endParaRPr>
            </a:p>
          </p:txBody>
        </p:sp>
        <p:sp>
          <p:nvSpPr>
            <p:cNvPr id="26637" name="文本框 17424">
              <a:extLst>
                <a:ext uri="{FF2B5EF4-FFF2-40B4-BE49-F238E27FC236}">
                  <a16:creationId xmlns:a16="http://schemas.microsoft.com/office/drawing/2014/main" id="{03F033F8-6468-49C2-9BAA-AAC1FD389F97}"/>
                </a:ext>
              </a:extLst>
            </p:cNvPr>
            <p:cNvSpPr txBox="1">
              <a:spLocks noChangeArrowheads="1"/>
            </p:cNvSpPr>
            <p:nvPr/>
          </p:nvSpPr>
          <p:spPr bwMode="auto">
            <a:xfrm>
              <a:off x="6871" y="2805"/>
              <a:ext cx="976"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确认测试</a:t>
              </a:r>
              <a:endParaRPr lang="zh-CN" altLang="en-US" sz="900">
                <a:latin typeface="Tahoma" panose="020B0604030504040204" pitchFamily="34" charset="0"/>
              </a:endParaRPr>
            </a:p>
          </p:txBody>
        </p:sp>
        <p:sp>
          <p:nvSpPr>
            <p:cNvPr id="26638" name="文本框 17425">
              <a:extLst>
                <a:ext uri="{FF2B5EF4-FFF2-40B4-BE49-F238E27FC236}">
                  <a16:creationId xmlns:a16="http://schemas.microsoft.com/office/drawing/2014/main" id="{6CCB6C72-0170-42C1-B919-78F3EBE437F6}"/>
                </a:ext>
              </a:extLst>
            </p:cNvPr>
            <p:cNvSpPr txBox="1">
              <a:spLocks noChangeArrowheads="1"/>
            </p:cNvSpPr>
            <p:nvPr/>
          </p:nvSpPr>
          <p:spPr bwMode="auto">
            <a:xfrm>
              <a:off x="6875" y="2441"/>
              <a:ext cx="976"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集成测试</a:t>
              </a:r>
              <a:endParaRPr lang="zh-CN" altLang="en-US" sz="900">
                <a:latin typeface="Tahoma" panose="020B0604030504040204" pitchFamily="34" charset="0"/>
              </a:endParaRPr>
            </a:p>
          </p:txBody>
        </p:sp>
        <p:sp>
          <p:nvSpPr>
            <p:cNvPr id="26639" name="文本框 17426">
              <a:extLst>
                <a:ext uri="{FF2B5EF4-FFF2-40B4-BE49-F238E27FC236}">
                  <a16:creationId xmlns:a16="http://schemas.microsoft.com/office/drawing/2014/main" id="{46F3BDF1-7B62-4C8B-8057-E564F08075AE}"/>
                </a:ext>
              </a:extLst>
            </p:cNvPr>
            <p:cNvSpPr txBox="1">
              <a:spLocks noChangeArrowheads="1"/>
            </p:cNvSpPr>
            <p:nvPr/>
          </p:nvSpPr>
          <p:spPr bwMode="auto">
            <a:xfrm>
              <a:off x="6875" y="2077"/>
              <a:ext cx="976"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单元测试</a:t>
              </a:r>
              <a:endParaRPr lang="zh-CN" altLang="en-US" sz="900">
                <a:latin typeface="Tahoma" panose="020B0604030504040204" pitchFamily="34" charset="0"/>
              </a:endParaRPr>
            </a:p>
          </p:txBody>
        </p:sp>
        <p:sp>
          <p:nvSpPr>
            <p:cNvPr id="26640" name="文本框 17427">
              <a:extLst>
                <a:ext uri="{FF2B5EF4-FFF2-40B4-BE49-F238E27FC236}">
                  <a16:creationId xmlns:a16="http://schemas.microsoft.com/office/drawing/2014/main" id="{2644C5BB-3275-4562-93AF-2DAF6D54FEFB}"/>
                </a:ext>
              </a:extLst>
            </p:cNvPr>
            <p:cNvSpPr txBox="1">
              <a:spLocks noChangeArrowheads="1"/>
            </p:cNvSpPr>
            <p:nvPr/>
          </p:nvSpPr>
          <p:spPr bwMode="auto">
            <a:xfrm>
              <a:off x="7966" y="3156"/>
              <a:ext cx="965" cy="31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运行与维护</a:t>
              </a:r>
              <a:endParaRPr lang="zh-CN" altLang="en-US" sz="900">
                <a:latin typeface="Tahoma" panose="020B0604030504040204" pitchFamily="34" charset="0"/>
              </a:endParaRPr>
            </a:p>
          </p:txBody>
        </p:sp>
        <p:sp>
          <p:nvSpPr>
            <p:cNvPr id="26641" name="直接连接符 17428">
              <a:extLst>
                <a:ext uri="{FF2B5EF4-FFF2-40B4-BE49-F238E27FC236}">
                  <a16:creationId xmlns:a16="http://schemas.microsoft.com/office/drawing/2014/main" id="{0E71055B-A391-4BFB-9A66-C5D5692EDF27}"/>
                </a:ext>
              </a:extLst>
            </p:cNvPr>
            <p:cNvSpPr>
              <a:spLocks noChangeShapeType="1"/>
            </p:cNvSpPr>
            <p:nvPr/>
          </p:nvSpPr>
          <p:spPr bwMode="auto">
            <a:xfrm>
              <a:off x="3515" y="1440"/>
              <a:ext cx="0" cy="20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2" name="直接连接符 17429">
              <a:extLst>
                <a:ext uri="{FF2B5EF4-FFF2-40B4-BE49-F238E27FC236}">
                  <a16:creationId xmlns:a16="http://schemas.microsoft.com/office/drawing/2014/main" id="{97969FFB-263C-4B28-8855-2417F34CA20F}"/>
                </a:ext>
              </a:extLst>
            </p:cNvPr>
            <p:cNvSpPr>
              <a:spLocks noChangeShapeType="1"/>
            </p:cNvSpPr>
            <p:nvPr/>
          </p:nvSpPr>
          <p:spPr bwMode="auto">
            <a:xfrm>
              <a:off x="7877" y="1440"/>
              <a:ext cx="0" cy="20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3" name="直接连接符 17430">
              <a:extLst>
                <a:ext uri="{FF2B5EF4-FFF2-40B4-BE49-F238E27FC236}">
                  <a16:creationId xmlns:a16="http://schemas.microsoft.com/office/drawing/2014/main" id="{FCAD1390-533A-4224-B4EE-0D545655BE9C}"/>
                </a:ext>
              </a:extLst>
            </p:cNvPr>
            <p:cNvSpPr>
              <a:spLocks noChangeShapeType="1"/>
            </p:cNvSpPr>
            <p:nvPr/>
          </p:nvSpPr>
          <p:spPr bwMode="auto">
            <a:xfrm>
              <a:off x="8957" y="1440"/>
              <a:ext cx="0" cy="20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4" name="直接连接符 17431">
              <a:extLst>
                <a:ext uri="{FF2B5EF4-FFF2-40B4-BE49-F238E27FC236}">
                  <a16:creationId xmlns:a16="http://schemas.microsoft.com/office/drawing/2014/main" id="{F7E0D12A-0870-4B62-91CD-71B4575AEC4E}"/>
                </a:ext>
              </a:extLst>
            </p:cNvPr>
            <p:cNvSpPr>
              <a:spLocks noChangeShapeType="1"/>
            </p:cNvSpPr>
            <p:nvPr/>
          </p:nvSpPr>
          <p:spPr bwMode="auto">
            <a:xfrm>
              <a:off x="2243" y="1752"/>
              <a:ext cx="1262" cy="0"/>
            </a:xfrm>
            <a:prstGeom prst="line">
              <a:avLst/>
            </a:prstGeom>
            <a:noFill/>
            <a:ln w="9525">
              <a:solidFill>
                <a:srgbClr val="00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5" name="直接连接符 17432">
              <a:extLst>
                <a:ext uri="{FF2B5EF4-FFF2-40B4-BE49-F238E27FC236}">
                  <a16:creationId xmlns:a16="http://schemas.microsoft.com/office/drawing/2014/main" id="{68E4961C-FA00-43B2-958F-FDC8C1463D90}"/>
                </a:ext>
              </a:extLst>
            </p:cNvPr>
            <p:cNvSpPr>
              <a:spLocks noChangeShapeType="1"/>
            </p:cNvSpPr>
            <p:nvPr/>
          </p:nvSpPr>
          <p:spPr bwMode="auto">
            <a:xfrm>
              <a:off x="3505" y="1752"/>
              <a:ext cx="4346" cy="0"/>
            </a:xfrm>
            <a:prstGeom prst="line">
              <a:avLst/>
            </a:prstGeom>
            <a:noFill/>
            <a:ln w="9525">
              <a:solidFill>
                <a:srgbClr val="00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6" name="直接连接符 17433">
              <a:extLst>
                <a:ext uri="{FF2B5EF4-FFF2-40B4-BE49-F238E27FC236}">
                  <a16:creationId xmlns:a16="http://schemas.microsoft.com/office/drawing/2014/main" id="{0045033D-C850-419B-ACE3-42E2D19D6425}"/>
                </a:ext>
              </a:extLst>
            </p:cNvPr>
            <p:cNvSpPr>
              <a:spLocks noChangeShapeType="1"/>
            </p:cNvSpPr>
            <p:nvPr/>
          </p:nvSpPr>
          <p:spPr bwMode="auto">
            <a:xfrm>
              <a:off x="7864" y="1752"/>
              <a:ext cx="1080" cy="0"/>
            </a:xfrm>
            <a:prstGeom prst="line">
              <a:avLst/>
            </a:prstGeom>
            <a:noFill/>
            <a:ln w="9525">
              <a:solidFill>
                <a:srgbClr val="00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7" name="文本框 17434">
              <a:extLst>
                <a:ext uri="{FF2B5EF4-FFF2-40B4-BE49-F238E27FC236}">
                  <a16:creationId xmlns:a16="http://schemas.microsoft.com/office/drawing/2014/main" id="{53123C13-BDF6-4D4B-BA21-71E80807000F}"/>
                </a:ext>
              </a:extLst>
            </p:cNvPr>
            <p:cNvSpPr txBox="1">
              <a:spLocks noChangeArrowheads="1"/>
            </p:cNvSpPr>
            <p:nvPr/>
          </p:nvSpPr>
          <p:spPr bwMode="auto">
            <a:xfrm>
              <a:off x="2245" y="1440"/>
              <a:ext cx="12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计划时期</a:t>
              </a:r>
              <a:endParaRPr lang="zh-CN" altLang="en-US" sz="900">
                <a:latin typeface="Tahoma" panose="020B0604030504040204" pitchFamily="34" charset="0"/>
              </a:endParaRPr>
            </a:p>
          </p:txBody>
        </p:sp>
        <p:sp>
          <p:nvSpPr>
            <p:cNvPr id="26648" name="文本框 17435">
              <a:extLst>
                <a:ext uri="{FF2B5EF4-FFF2-40B4-BE49-F238E27FC236}">
                  <a16:creationId xmlns:a16="http://schemas.microsoft.com/office/drawing/2014/main" id="{61A95215-7384-4A45-AF73-5BE78C4BB1CC}"/>
                </a:ext>
              </a:extLst>
            </p:cNvPr>
            <p:cNvSpPr txBox="1">
              <a:spLocks noChangeArrowheads="1"/>
            </p:cNvSpPr>
            <p:nvPr/>
          </p:nvSpPr>
          <p:spPr bwMode="auto">
            <a:xfrm>
              <a:off x="5075" y="1440"/>
              <a:ext cx="12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开发时期</a:t>
              </a:r>
              <a:endParaRPr lang="zh-CN" altLang="en-US" sz="900">
                <a:latin typeface="Tahoma" panose="020B0604030504040204" pitchFamily="34" charset="0"/>
              </a:endParaRPr>
            </a:p>
          </p:txBody>
        </p:sp>
        <p:sp>
          <p:nvSpPr>
            <p:cNvPr id="26649" name="文本框 17436">
              <a:extLst>
                <a:ext uri="{FF2B5EF4-FFF2-40B4-BE49-F238E27FC236}">
                  <a16:creationId xmlns:a16="http://schemas.microsoft.com/office/drawing/2014/main" id="{11CF04C6-08B0-42F5-B2CB-199DD117BB9F}"/>
                </a:ext>
              </a:extLst>
            </p:cNvPr>
            <p:cNvSpPr txBox="1">
              <a:spLocks noChangeArrowheads="1"/>
            </p:cNvSpPr>
            <p:nvPr/>
          </p:nvSpPr>
          <p:spPr bwMode="auto">
            <a:xfrm>
              <a:off x="7749" y="1440"/>
              <a:ext cx="12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运行时期</a:t>
              </a:r>
              <a:endParaRPr lang="zh-CN" altLang="en-US" sz="900">
                <a:latin typeface="Tahoma" panose="020B0604030504040204" pitchFamily="34" charset="0"/>
              </a:endParaRPr>
            </a:p>
          </p:txBody>
        </p:sp>
        <p:sp>
          <p:nvSpPr>
            <p:cNvPr id="26650" name="文本框 17437">
              <a:extLst>
                <a:ext uri="{FF2B5EF4-FFF2-40B4-BE49-F238E27FC236}">
                  <a16:creationId xmlns:a16="http://schemas.microsoft.com/office/drawing/2014/main" id="{00357E05-7E96-45C7-ADBA-E53C42D43A25}"/>
                </a:ext>
              </a:extLst>
            </p:cNvPr>
            <p:cNvSpPr txBox="1">
              <a:spLocks noChangeArrowheads="1"/>
            </p:cNvSpPr>
            <p:nvPr/>
          </p:nvSpPr>
          <p:spPr bwMode="auto">
            <a:xfrm>
              <a:off x="8365" y="3468"/>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时间</a:t>
              </a:r>
              <a:endParaRPr lang="zh-CN" altLang="en-US" sz="900">
                <a:latin typeface="Tahoma" panose="020B0604030504040204" pitchFamily="34" charset="0"/>
              </a:endParaRPr>
            </a:p>
          </p:txBody>
        </p:sp>
      </p:grpSp>
      <p:sp>
        <p:nvSpPr>
          <p:cNvPr id="28" name="矩形 27">
            <a:extLst>
              <a:ext uri="{FF2B5EF4-FFF2-40B4-BE49-F238E27FC236}">
                <a16:creationId xmlns:a16="http://schemas.microsoft.com/office/drawing/2014/main" id="{0E48FADC-239E-41F3-9BDB-ED03A0F9160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1.3 </a:t>
            </a:r>
            <a:r>
              <a:rPr lang="zh-CN" altLang="en-US" sz="1650" b="1" dirty="0">
                <a:latin typeface="微软雅黑" panose="020B0503020204020204" pitchFamily="34" charset="-122"/>
                <a:ea typeface="微软雅黑" panose="020B0503020204020204" pitchFamily="34" charset="-122"/>
              </a:rPr>
              <a:t>软件生命周期</a:t>
            </a:r>
          </a:p>
        </p:txBody>
      </p:sp>
      <p:sp>
        <p:nvSpPr>
          <p:cNvPr id="29" name="矩形 17">
            <a:extLst>
              <a:ext uri="{FF2B5EF4-FFF2-40B4-BE49-F238E27FC236}">
                <a16:creationId xmlns:a16="http://schemas.microsoft.com/office/drawing/2014/main" id="{21F5DC5B-3B3B-421D-88F6-E7D146D6BC18}"/>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2" name="文本框 1">
            <a:extLst>
              <a:ext uri="{FF2B5EF4-FFF2-40B4-BE49-F238E27FC236}">
                <a16:creationId xmlns:a16="http://schemas.microsoft.com/office/drawing/2014/main" id="{67A2E749-9D2C-4881-B882-AA3519D31B2A}"/>
              </a:ext>
            </a:extLst>
          </p:cNvPr>
          <p:cNvSpPr txBox="1"/>
          <p:nvPr/>
        </p:nvSpPr>
        <p:spPr>
          <a:xfrm>
            <a:off x="1264679" y="5052073"/>
            <a:ext cx="5378395" cy="369332"/>
          </a:xfrm>
          <a:prstGeom prst="rect">
            <a:avLst/>
          </a:prstGeom>
          <a:noFill/>
        </p:spPr>
        <p:txBody>
          <a:bodyPr wrap="none" rtlCol="0">
            <a:spAutoFit/>
          </a:bodyPr>
          <a:lstStyle/>
          <a:p>
            <a:r>
              <a:rPr lang="zh-CN" altLang="en-US" dirty="0"/>
              <a:t>立项分析  需求分析  系统设计  系统开发 测试  维护</a:t>
            </a:r>
          </a:p>
        </p:txBody>
      </p:sp>
      <p:sp>
        <p:nvSpPr>
          <p:cNvPr id="31" name="文本框 30">
            <a:extLst>
              <a:ext uri="{FF2B5EF4-FFF2-40B4-BE49-F238E27FC236}">
                <a16:creationId xmlns:a16="http://schemas.microsoft.com/office/drawing/2014/main" id="{F7A5B5F9-04DC-4B57-885F-50BE7DCB2E33}"/>
              </a:ext>
            </a:extLst>
          </p:cNvPr>
          <p:cNvSpPr txBox="1"/>
          <p:nvPr/>
        </p:nvSpPr>
        <p:spPr>
          <a:xfrm>
            <a:off x="2666264" y="5586699"/>
            <a:ext cx="2723823" cy="369332"/>
          </a:xfrm>
          <a:prstGeom prst="rect">
            <a:avLst/>
          </a:prstGeom>
          <a:noFill/>
        </p:spPr>
        <p:txBody>
          <a:bodyPr wrap="none" rtlCol="0">
            <a:spAutoFit/>
          </a:bodyPr>
          <a:lstStyle/>
          <a:p>
            <a:r>
              <a:rPr lang="zh-CN" altLang="en-US" b="1" dirty="0">
                <a:solidFill>
                  <a:srgbClr val="C00000"/>
                </a:solidFill>
              </a:rPr>
              <a:t>软件生命周期的六大过程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lide(fromBottom)">
                                      <p:cBhvr>
                                        <p:cTn id="7" dur="500"/>
                                        <p:tgtEl>
                                          <p:spTgt spid="2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Left)">
                                      <p:cBhvr>
                                        <p:cTn id="1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ED34109-0576-4679-AF31-0E0BEA0341D8}"/>
              </a:ext>
            </a:extLst>
          </p:cNvPr>
          <p:cNvSpPr>
            <a:spLocks noGrp="1"/>
          </p:cNvSpPr>
          <p:nvPr>
            <p:ph type="sldNum" sz="quarter" idx="12"/>
          </p:nvPr>
        </p:nvSpPr>
        <p:spPr/>
        <p:txBody>
          <a:bodyPr/>
          <a:lstStyle/>
          <a:p>
            <a:fld id="{73403612-6C36-4613-9B91-854212E45B4D}" type="slidenum">
              <a:rPr lang="zh-CN" altLang="en-US" smtClean="0"/>
              <a:pPr/>
              <a:t>17</a:t>
            </a:fld>
            <a:endParaRPr lang="zh-CN" altLang="en-US"/>
          </a:p>
        </p:txBody>
      </p:sp>
      <p:sp>
        <p:nvSpPr>
          <p:cNvPr id="5" name="文本框 4">
            <a:extLst>
              <a:ext uri="{FF2B5EF4-FFF2-40B4-BE49-F238E27FC236}">
                <a16:creationId xmlns:a16="http://schemas.microsoft.com/office/drawing/2014/main" id="{AE47F1C4-F07F-4D9F-A966-488F36C81162}"/>
              </a:ext>
            </a:extLst>
          </p:cNvPr>
          <p:cNvSpPr txBox="1"/>
          <p:nvPr/>
        </p:nvSpPr>
        <p:spPr>
          <a:xfrm>
            <a:off x="304800" y="1447800"/>
            <a:ext cx="7543800" cy="4524315"/>
          </a:xfrm>
          <a:prstGeom prst="rect">
            <a:avLst/>
          </a:prstGeom>
          <a:noFill/>
        </p:spPr>
        <p:txBody>
          <a:bodyPr wrap="square">
            <a:spAutoFit/>
          </a:bodyPr>
          <a:lstStyle/>
          <a:p>
            <a:r>
              <a:rPr lang="en-US" altLang="zh-CN" b="1" dirty="0"/>
              <a:t>1. </a:t>
            </a:r>
            <a:r>
              <a:rPr lang="zh-CN" altLang="en-US" b="1" dirty="0"/>
              <a:t>立项分析：</a:t>
            </a:r>
            <a:r>
              <a:rPr lang="zh-CN" altLang="en-US" dirty="0"/>
              <a:t>为什么要做这个项目？计划怎么做？预期收益如何？</a:t>
            </a:r>
            <a:endParaRPr lang="en-US" altLang="zh-CN" dirty="0"/>
          </a:p>
          <a:p>
            <a:endParaRPr lang="en-US" altLang="zh-CN" dirty="0"/>
          </a:p>
          <a:p>
            <a:r>
              <a:rPr lang="en-US" altLang="zh-CN" b="1" dirty="0"/>
              <a:t>2. </a:t>
            </a:r>
            <a:r>
              <a:rPr lang="zh-CN" altLang="en-US" b="1" dirty="0"/>
              <a:t>需求分析：</a:t>
            </a:r>
            <a:r>
              <a:rPr lang="zh-CN" altLang="en-US" dirty="0"/>
              <a:t>不仅仅是用户需求，应该是开发中遇到的所有的需求。比如，你首先要知道做这个项目是为了解决什么问题，为了解决这些问题，系统需要具备哪些功能</a:t>
            </a:r>
            <a:r>
              <a:rPr lang="en-US" altLang="zh-CN" dirty="0"/>
              <a:t>…</a:t>
            </a:r>
            <a:r>
              <a:rPr lang="zh-CN" altLang="en-US" dirty="0"/>
              <a:t>为了清楚地知道这些需求，你经常要和客户、项目经理等交流。</a:t>
            </a:r>
          </a:p>
          <a:p>
            <a:endParaRPr lang="en-US" altLang="zh-CN" dirty="0"/>
          </a:p>
          <a:p>
            <a:r>
              <a:rPr lang="en-US" altLang="zh-CN" b="1" dirty="0"/>
              <a:t>3. </a:t>
            </a:r>
            <a:r>
              <a:rPr lang="zh-CN" altLang="en-US" b="1" dirty="0"/>
              <a:t>系统设计：</a:t>
            </a:r>
            <a:r>
              <a:rPr lang="zh-CN" altLang="en-US" dirty="0"/>
              <a:t>编码前，通过系统设计来保障代码的稳健性。如果不体现设计，最后可能会一团糟。</a:t>
            </a:r>
            <a:endParaRPr lang="en-US" altLang="zh-CN" dirty="0"/>
          </a:p>
          <a:p>
            <a:endParaRPr lang="zh-CN" altLang="en-US" b="1" dirty="0"/>
          </a:p>
          <a:p>
            <a:r>
              <a:rPr lang="en-US" altLang="zh-CN" b="1" dirty="0"/>
              <a:t>4. </a:t>
            </a:r>
            <a:r>
              <a:rPr lang="zh-CN" altLang="en-US" b="1" dirty="0"/>
              <a:t>编码：</a:t>
            </a:r>
            <a:r>
              <a:rPr lang="zh-CN" altLang="en-US" dirty="0"/>
              <a:t>编码不是越完备越好，而是在项目截止日期前能够达到预期的效果最好。</a:t>
            </a:r>
            <a:endParaRPr lang="en-US" altLang="zh-CN" dirty="0"/>
          </a:p>
          <a:p>
            <a:endParaRPr lang="zh-CN" altLang="en-US" dirty="0"/>
          </a:p>
          <a:p>
            <a:r>
              <a:rPr lang="en-US" altLang="zh-CN" b="1" dirty="0"/>
              <a:t>5. </a:t>
            </a:r>
            <a:r>
              <a:rPr lang="zh-CN" altLang="en-US" b="1" dirty="0"/>
              <a:t>测试：</a:t>
            </a:r>
            <a:r>
              <a:rPr lang="zh-CN" altLang="en-US" dirty="0"/>
              <a:t>你写的代码能不能经受住考验？有没有可能“崩溃”？</a:t>
            </a:r>
            <a:endParaRPr lang="en-US" altLang="zh-CN" dirty="0"/>
          </a:p>
          <a:p>
            <a:endParaRPr lang="en-US" altLang="zh-CN" dirty="0"/>
          </a:p>
          <a:p>
            <a:r>
              <a:rPr lang="en-US" altLang="zh-CN" b="1" dirty="0"/>
              <a:t>6. </a:t>
            </a:r>
            <a:r>
              <a:rPr lang="zh-CN" altLang="en-US" b="1" dirty="0"/>
              <a:t>部署与维护：</a:t>
            </a:r>
            <a:r>
              <a:rPr lang="zh-CN" altLang="en-US" dirty="0"/>
              <a:t>在不同的部署环境下，部署可能会遇到各种各样的问题</a:t>
            </a:r>
          </a:p>
        </p:txBody>
      </p:sp>
      <p:sp>
        <p:nvSpPr>
          <p:cNvPr id="6" name="矩形 5">
            <a:extLst>
              <a:ext uri="{FF2B5EF4-FFF2-40B4-BE49-F238E27FC236}">
                <a16:creationId xmlns:a16="http://schemas.microsoft.com/office/drawing/2014/main" id="{42448F07-6907-45B0-A2B4-04CE337B545D}"/>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1.3 </a:t>
            </a:r>
            <a:r>
              <a:rPr lang="zh-CN" altLang="en-US" sz="1650" b="1" dirty="0">
                <a:latin typeface="微软雅黑" panose="020B0503020204020204" pitchFamily="34" charset="-122"/>
                <a:ea typeface="微软雅黑" panose="020B0503020204020204" pitchFamily="34" charset="-122"/>
              </a:rPr>
              <a:t>软件生存周期</a:t>
            </a:r>
          </a:p>
        </p:txBody>
      </p:sp>
      <p:sp>
        <p:nvSpPr>
          <p:cNvPr id="7" name="矩形 17">
            <a:extLst>
              <a:ext uri="{FF2B5EF4-FFF2-40B4-BE49-F238E27FC236}">
                <a16:creationId xmlns:a16="http://schemas.microsoft.com/office/drawing/2014/main" id="{446754F8-BE3F-4255-8293-D1216593E430}"/>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extLst>
      <p:ext uri="{BB962C8B-B14F-4D97-AF65-F5344CB8AC3E}">
        <p14:creationId xmlns:p14="http://schemas.microsoft.com/office/powerpoint/2010/main" val="245449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53E3FD58-58ED-4418-9078-041E50BC9E92}"/>
              </a:ext>
            </a:extLst>
          </p:cNvPr>
          <p:cNvSpPr>
            <a:spLocks noChangeShapeType="1"/>
          </p:cNvSpPr>
          <p:nvPr/>
        </p:nvSpPr>
        <p:spPr bwMode="auto">
          <a:xfrm>
            <a:off x="575148" y="2187017"/>
            <a:ext cx="194454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D6A1E2D4-C85C-42BE-A1A3-417DFD05424B}"/>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1.4.1   </a:t>
            </a:r>
            <a:r>
              <a:rPr lang="zh-CN" altLang="en-US" sz="1650" b="1"/>
              <a:t>瀑布模型</a:t>
            </a:r>
          </a:p>
        </p:txBody>
      </p:sp>
      <p:grpSp>
        <p:nvGrpSpPr>
          <p:cNvPr id="27653" name="组合 18440">
            <a:extLst>
              <a:ext uri="{FF2B5EF4-FFF2-40B4-BE49-F238E27FC236}">
                <a16:creationId xmlns:a16="http://schemas.microsoft.com/office/drawing/2014/main" id="{1BF11E2B-DA1D-4242-A77A-91819A77AC2C}"/>
              </a:ext>
            </a:extLst>
          </p:cNvPr>
          <p:cNvGrpSpPr>
            <a:grpSpLocks/>
          </p:cNvGrpSpPr>
          <p:nvPr/>
        </p:nvGrpSpPr>
        <p:grpSpPr bwMode="auto">
          <a:xfrm>
            <a:off x="1547419" y="2341453"/>
            <a:ext cx="5755307" cy="4086328"/>
            <a:chOff x="3074" y="5814"/>
            <a:chExt cx="4899" cy="3225"/>
          </a:xfrm>
        </p:grpSpPr>
        <p:sp>
          <p:nvSpPr>
            <p:cNvPr id="27654" name="文本框 18441">
              <a:extLst>
                <a:ext uri="{FF2B5EF4-FFF2-40B4-BE49-F238E27FC236}">
                  <a16:creationId xmlns:a16="http://schemas.microsoft.com/office/drawing/2014/main" id="{5D9791D4-008E-4C50-BBCD-42AD23A99B54}"/>
                </a:ext>
              </a:extLst>
            </p:cNvPr>
            <p:cNvSpPr txBox="1">
              <a:spLocks noChangeArrowheads="1"/>
            </p:cNvSpPr>
            <p:nvPr/>
          </p:nvSpPr>
          <p:spPr bwMode="auto">
            <a:xfrm>
              <a:off x="3746" y="5814"/>
              <a:ext cx="900"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900">
                  <a:latin typeface="Times New Roman" panose="02020603050405020304" pitchFamily="18" charset="0"/>
                </a:rPr>
                <a:t>问题定义</a:t>
              </a:r>
              <a:endParaRPr lang="zh-CN" altLang="en-US" sz="900">
                <a:latin typeface="Tahoma" panose="020B0604030504040204" pitchFamily="34" charset="0"/>
              </a:endParaRPr>
            </a:p>
          </p:txBody>
        </p:sp>
        <p:sp>
          <p:nvSpPr>
            <p:cNvPr id="27655" name="文本框 18442">
              <a:extLst>
                <a:ext uri="{FF2B5EF4-FFF2-40B4-BE49-F238E27FC236}">
                  <a16:creationId xmlns:a16="http://schemas.microsoft.com/office/drawing/2014/main" id="{B9A894D1-1BA1-4E14-A9DC-0E5617F9C19F}"/>
                </a:ext>
              </a:extLst>
            </p:cNvPr>
            <p:cNvSpPr txBox="1">
              <a:spLocks noChangeArrowheads="1"/>
            </p:cNvSpPr>
            <p:nvPr/>
          </p:nvSpPr>
          <p:spPr bwMode="auto">
            <a:xfrm>
              <a:off x="4194" y="6282"/>
              <a:ext cx="1080"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900">
                  <a:latin typeface="Times New Roman" panose="02020603050405020304" pitchFamily="18" charset="0"/>
                </a:rPr>
                <a:t>可行性研究</a:t>
              </a:r>
              <a:endParaRPr lang="zh-CN" altLang="en-US" sz="900">
                <a:latin typeface="Tahoma" panose="020B0604030504040204" pitchFamily="34" charset="0"/>
              </a:endParaRPr>
            </a:p>
          </p:txBody>
        </p:sp>
        <p:sp>
          <p:nvSpPr>
            <p:cNvPr id="27656" name="文本框 18443">
              <a:extLst>
                <a:ext uri="{FF2B5EF4-FFF2-40B4-BE49-F238E27FC236}">
                  <a16:creationId xmlns:a16="http://schemas.microsoft.com/office/drawing/2014/main" id="{20BE287B-5C96-4644-BD5A-D5418E1B3C9F}"/>
                </a:ext>
              </a:extLst>
            </p:cNvPr>
            <p:cNvSpPr txBox="1">
              <a:spLocks noChangeArrowheads="1"/>
            </p:cNvSpPr>
            <p:nvPr/>
          </p:nvSpPr>
          <p:spPr bwMode="auto">
            <a:xfrm>
              <a:off x="4736" y="6750"/>
              <a:ext cx="1078"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just"/>
              <a:r>
                <a:rPr lang="zh-CN" altLang="en-US" sz="900">
                  <a:latin typeface="Times New Roman" panose="02020603050405020304" pitchFamily="18" charset="0"/>
                </a:rPr>
                <a:t>需求分析</a:t>
              </a:r>
              <a:endParaRPr lang="zh-CN" altLang="en-US" sz="900">
                <a:latin typeface="Tahoma" panose="020B0604030504040204" pitchFamily="34" charset="0"/>
              </a:endParaRPr>
            </a:p>
          </p:txBody>
        </p:sp>
        <p:sp>
          <p:nvSpPr>
            <p:cNvPr id="27657" name="文本框 18444">
              <a:extLst>
                <a:ext uri="{FF2B5EF4-FFF2-40B4-BE49-F238E27FC236}">
                  <a16:creationId xmlns:a16="http://schemas.microsoft.com/office/drawing/2014/main" id="{85C4816E-6948-4A70-977B-287BB56A29C0}"/>
                </a:ext>
              </a:extLst>
            </p:cNvPr>
            <p:cNvSpPr txBox="1">
              <a:spLocks noChangeArrowheads="1"/>
            </p:cNvSpPr>
            <p:nvPr/>
          </p:nvSpPr>
          <p:spPr bwMode="auto">
            <a:xfrm>
              <a:off x="5279" y="7221"/>
              <a:ext cx="1077"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900">
                  <a:latin typeface="Times New Roman" panose="02020603050405020304" pitchFamily="18" charset="0"/>
                </a:rPr>
                <a:t>软件设计</a:t>
              </a:r>
              <a:endParaRPr lang="zh-CN" altLang="en-US" sz="900">
                <a:latin typeface="Tahoma" panose="020B0604030504040204" pitchFamily="34" charset="0"/>
              </a:endParaRPr>
            </a:p>
          </p:txBody>
        </p:sp>
        <p:sp>
          <p:nvSpPr>
            <p:cNvPr id="27658" name="文本框 18445">
              <a:extLst>
                <a:ext uri="{FF2B5EF4-FFF2-40B4-BE49-F238E27FC236}">
                  <a16:creationId xmlns:a16="http://schemas.microsoft.com/office/drawing/2014/main" id="{10B3008B-706F-49A2-9A92-A2A17956E785}"/>
                </a:ext>
              </a:extLst>
            </p:cNvPr>
            <p:cNvSpPr txBox="1">
              <a:spLocks noChangeArrowheads="1"/>
            </p:cNvSpPr>
            <p:nvPr/>
          </p:nvSpPr>
          <p:spPr bwMode="auto">
            <a:xfrm>
              <a:off x="5816" y="7686"/>
              <a:ext cx="1077"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900">
                  <a:latin typeface="Times New Roman" panose="02020603050405020304" pitchFamily="18" charset="0"/>
                </a:rPr>
                <a:t>编码</a:t>
              </a:r>
              <a:endParaRPr lang="zh-CN" altLang="en-US" sz="900">
                <a:latin typeface="Tahoma" panose="020B0604030504040204" pitchFamily="34" charset="0"/>
              </a:endParaRPr>
            </a:p>
          </p:txBody>
        </p:sp>
        <p:sp>
          <p:nvSpPr>
            <p:cNvPr id="27659" name="文本框 18446">
              <a:extLst>
                <a:ext uri="{FF2B5EF4-FFF2-40B4-BE49-F238E27FC236}">
                  <a16:creationId xmlns:a16="http://schemas.microsoft.com/office/drawing/2014/main" id="{9F43279C-EA38-4420-A2CB-9E6E39A196E6}"/>
                </a:ext>
              </a:extLst>
            </p:cNvPr>
            <p:cNvSpPr txBox="1">
              <a:spLocks noChangeArrowheads="1"/>
            </p:cNvSpPr>
            <p:nvPr/>
          </p:nvSpPr>
          <p:spPr bwMode="auto">
            <a:xfrm>
              <a:off x="6456" y="8134"/>
              <a:ext cx="900"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900">
                  <a:latin typeface="Times New Roman" panose="02020603050405020304" pitchFamily="18" charset="0"/>
                </a:rPr>
                <a:t>软件测试</a:t>
              </a:r>
              <a:endParaRPr lang="zh-CN" altLang="en-US" sz="900">
                <a:latin typeface="Tahoma" panose="020B0604030504040204" pitchFamily="34" charset="0"/>
              </a:endParaRPr>
            </a:p>
          </p:txBody>
        </p:sp>
        <p:sp>
          <p:nvSpPr>
            <p:cNvPr id="27660" name="文本框 18447">
              <a:extLst>
                <a:ext uri="{FF2B5EF4-FFF2-40B4-BE49-F238E27FC236}">
                  <a16:creationId xmlns:a16="http://schemas.microsoft.com/office/drawing/2014/main" id="{08471662-0BB9-4752-86C6-9EB42E1C73E1}"/>
                </a:ext>
              </a:extLst>
            </p:cNvPr>
            <p:cNvSpPr txBox="1">
              <a:spLocks noChangeArrowheads="1"/>
            </p:cNvSpPr>
            <p:nvPr/>
          </p:nvSpPr>
          <p:spPr bwMode="auto">
            <a:xfrm>
              <a:off x="6896" y="8522"/>
              <a:ext cx="1077"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r>
                <a:rPr lang="zh-CN" altLang="en-US" sz="900">
                  <a:latin typeface="Times New Roman" panose="02020603050405020304" pitchFamily="18" charset="0"/>
                </a:rPr>
                <a:t>运行维护</a:t>
              </a:r>
              <a:endParaRPr lang="zh-CN" altLang="en-US" sz="900">
                <a:latin typeface="Tahoma" panose="020B0604030504040204" pitchFamily="34" charset="0"/>
              </a:endParaRPr>
            </a:p>
          </p:txBody>
        </p:sp>
        <p:sp>
          <p:nvSpPr>
            <p:cNvPr id="27661" name="任意多边形 18448">
              <a:extLst>
                <a:ext uri="{FF2B5EF4-FFF2-40B4-BE49-F238E27FC236}">
                  <a16:creationId xmlns:a16="http://schemas.microsoft.com/office/drawing/2014/main" id="{0CDAB05F-640A-44AE-8449-5D428F737C36}"/>
                </a:ext>
              </a:extLst>
            </p:cNvPr>
            <p:cNvSpPr>
              <a:spLocks noChangeArrowheads="1"/>
            </p:cNvSpPr>
            <p:nvPr/>
          </p:nvSpPr>
          <p:spPr bwMode="auto">
            <a:xfrm flipH="1" flipV="1">
              <a:off x="4376" y="6594"/>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2" name="任意多边形 18449">
              <a:extLst>
                <a:ext uri="{FF2B5EF4-FFF2-40B4-BE49-F238E27FC236}">
                  <a16:creationId xmlns:a16="http://schemas.microsoft.com/office/drawing/2014/main" id="{2E0F7E92-58E7-4949-B467-232DC2D0D9CE}"/>
                </a:ext>
              </a:extLst>
            </p:cNvPr>
            <p:cNvSpPr>
              <a:spLocks noChangeArrowheads="1"/>
            </p:cNvSpPr>
            <p:nvPr/>
          </p:nvSpPr>
          <p:spPr bwMode="auto">
            <a:xfrm flipH="1" flipV="1">
              <a:off x="4916" y="7062"/>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3" name="任意多边形 18450">
              <a:extLst>
                <a:ext uri="{FF2B5EF4-FFF2-40B4-BE49-F238E27FC236}">
                  <a16:creationId xmlns:a16="http://schemas.microsoft.com/office/drawing/2014/main" id="{0211734E-FED4-4165-A1F7-6A1446B3AF9D}"/>
                </a:ext>
              </a:extLst>
            </p:cNvPr>
            <p:cNvSpPr>
              <a:spLocks noChangeArrowheads="1"/>
            </p:cNvSpPr>
            <p:nvPr/>
          </p:nvSpPr>
          <p:spPr bwMode="auto">
            <a:xfrm flipH="1" flipV="1">
              <a:off x="5456" y="7530"/>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4" name="任意多边形 18451">
              <a:extLst>
                <a:ext uri="{FF2B5EF4-FFF2-40B4-BE49-F238E27FC236}">
                  <a16:creationId xmlns:a16="http://schemas.microsoft.com/office/drawing/2014/main" id="{E65484E4-8E7D-4E5F-A659-9E1606E204A8}"/>
                </a:ext>
              </a:extLst>
            </p:cNvPr>
            <p:cNvSpPr>
              <a:spLocks noChangeArrowheads="1"/>
            </p:cNvSpPr>
            <p:nvPr/>
          </p:nvSpPr>
          <p:spPr bwMode="auto">
            <a:xfrm flipH="1" flipV="1">
              <a:off x="6096" y="7988"/>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5" name="直接连接符 18452">
              <a:extLst>
                <a:ext uri="{FF2B5EF4-FFF2-40B4-BE49-F238E27FC236}">
                  <a16:creationId xmlns:a16="http://schemas.microsoft.com/office/drawing/2014/main" id="{3EA81EFB-AFDC-4B79-9AB9-1488601350F1}"/>
                </a:ext>
              </a:extLst>
            </p:cNvPr>
            <p:cNvSpPr>
              <a:spLocks noChangeShapeType="1"/>
            </p:cNvSpPr>
            <p:nvPr/>
          </p:nvSpPr>
          <p:spPr bwMode="auto">
            <a:xfrm>
              <a:off x="3181" y="582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直接连接符 18453">
              <a:extLst>
                <a:ext uri="{FF2B5EF4-FFF2-40B4-BE49-F238E27FC236}">
                  <a16:creationId xmlns:a16="http://schemas.microsoft.com/office/drawing/2014/main" id="{DA1B1FB7-6DE9-4421-B616-80B259BE37A4}"/>
                </a:ext>
              </a:extLst>
            </p:cNvPr>
            <p:cNvSpPr>
              <a:spLocks noChangeShapeType="1"/>
            </p:cNvSpPr>
            <p:nvPr/>
          </p:nvSpPr>
          <p:spPr bwMode="auto">
            <a:xfrm>
              <a:off x="3204" y="6594"/>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7" name="直接连接符 18454">
              <a:extLst>
                <a:ext uri="{FF2B5EF4-FFF2-40B4-BE49-F238E27FC236}">
                  <a16:creationId xmlns:a16="http://schemas.microsoft.com/office/drawing/2014/main" id="{7B201ACC-0C5D-46B8-94D5-FB7AD18457CE}"/>
                </a:ext>
              </a:extLst>
            </p:cNvPr>
            <p:cNvSpPr>
              <a:spLocks noChangeShapeType="1"/>
            </p:cNvSpPr>
            <p:nvPr/>
          </p:nvSpPr>
          <p:spPr bwMode="auto">
            <a:xfrm>
              <a:off x="3116" y="8466"/>
              <a:ext cx="30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8" name="直接连接符 18455">
              <a:extLst>
                <a:ext uri="{FF2B5EF4-FFF2-40B4-BE49-F238E27FC236}">
                  <a16:creationId xmlns:a16="http://schemas.microsoft.com/office/drawing/2014/main" id="{2E20578F-6835-4914-B0B0-C24594D690CA}"/>
                </a:ext>
              </a:extLst>
            </p:cNvPr>
            <p:cNvSpPr>
              <a:spLocks noChangeShapeType="1"/>
            </p:cNvSpPr>
            <p:nvPr/>
          </p:nvSpPr>
          <p:spPr bwMode="auto">
            <a:xfrm>
              <a:off x="3116" y="8934"/>
              <a:ext cx="34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9" name="直接连接符 18456">
              <a:extLst>
                <a:ext uri="{FF2B5EF4-FFF2-40B4-BE49-F238E27FC236}">
                  <a16:creationId xmlns:a16="http://schemas.microsoft.com/office/drawing/2014/main" id="{47B63B21-3F85-4116-BCCD-80C588D41925}"/>
                </a:ext>
              </a:extLst>
            </p:cNvPr>
            <p:cNvSpPr>
              <a:spLocks noChangeShapeType="1"/>
            </p:cNvSpPr>
            <p:nvPr/>
          </p:nvSpPr>
          <p:spPr bwMode="auto">
            <a:xfrm>
              <a:off x="3656" y="5814"/>
              <a:ext cx="0" cy="78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0" name="直接连接符 18457">
              <a:extLst>
                <a:ext uri="{FF2B5EF4-FFF2-40B4-BE49-F238E27FC236}">
                  <a16:creationId xmlns:a16="http://schemas.microsoft.com/office/drawing/2014/main" id="{F2874AE9-81A1-42A2-BFF1-7059328E8E69}"/>
                </a:ext>
              </a:extLst>
            </p:cNvPr>
            <p:cNvSpPr>
              <a:spLocks noChangeShapeType="1"/>
            </p:cNvSpPr>
            <p:nvPr/>
          </p:nvSpPr>
          <p:spPr bwMode="auto">
            <a:xfrm>
              <a:off x="4014" y="6594"/>
              <a:ext cx="0" cy="187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1" name="直接连接符 18458">
              <a:extLst>
                <a:ext uri="{FF2B5EF4-FFF2-40B4-BE49-F238E27FC236}">
                  <a16:creationId xmlns:a16="http://schemas.microsoft.com/office/drawing/2014/main" id="{D06CDC1A-7D9D-4176-9DDB-B375A9D82061}"/>
                </a:ext>
              </a:extLst>
            </p:cNvPr>
            <p:cNvSpPr>
              <a:spLocks noChangeShapeType="1"/>
            </p:cNvSpPr>
            <p:nvPr/>
          </p:nvSpPr>
          <p:spPr bwMode="auto">
            <a:xfrm>
              <a:off x="5636" y="8466"/>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2" name="文本框 18459">
              <a:extLst>
                <a:ext uri="{FF2B5EF4-FFF2-40B4-BE49-F238E27FC236}">
                  <a16:creationId xmlns:a16="http://schemas.microsoft.com/office/drawing/2014/main" id="{333EFE2A-8D74-4CA6-B45F-F2F3AE95F86A}"/>
                </a:ext>
              </a:extLst>
            </p:cNvPr>
            <p:cNvSpPr txBox="1">
              <a:spLocks noChangeArrowheads="1"/>
            </p:cNvSpPr>
            <p:nvPr/>
          </p:nvSpPr>
          <p:spPr bwMode="auto">
            <a:xfrm>
              <a:off x="3114" y="7218"/>
              <a:ext cx="90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开发时期</a:t>
              </a:r>
              <a:endParaRPr lang="zh-CN" altLang="en-US" sz="900">
                <a:latin typeface="Tahoma" panose="020B0604030504040204" pitchFamily="34" charset="0"/>
              </a:endParaRPr>
            </a:p>
          </p:txBody>
        </p:sp>
        <p:sp>
          <p:nvSpPr>
            <p:cNvPr id="27673" name="文本框 18460">
              <a:extLst>
                <a:ext uri="{FF2B5EF4-FFF2-40B4-BE49-F238E27FC236}">
                  <a16:creationId xmlns:a16="http://schemas.microsoft.com/office/drawing/2014/main" id="{BDB25267-E9E3-4C7D-8B1C-38910CD9E200}"/>
                </a:ext>
              </a:extLst>
            </p:cNvPr>
            <p:cNvSpPr txBox="1">
              <a:spLocks noChangeArrowheads="1"/>
            </p:cNvSpPr>
            <p:nvPr/>
          </p:nvSpPr>
          <p:spPr bwMode="auto">
            <a:xfrm>
              <a:off x="4466" y="8583"/>
              <a:ext cx="12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900">
                  <a:latin typeface="Times New Roman" panose="02020603050405020304" pitchFamily="18" charset="0"/>
                </a:rPr>
                <a:t>运行时期</a:t>
              </a:r>
              <a:endParaRPr lang="zh-CN" altLang="en-US" sz="900">
                <a:latin typeface="Tahoma" panose="020B0604030504040204" pitchFamily="34" charset="0"/>
              </a:endParaRPr>
            </a:p>
          </p:txBody>
        </p:sp>
        <p:sp>
          <p:nvSpPr>
            <p:cNvPr id="27674" name="文本框 18461">
              <a:extLst>
                <a:ext uri="{FF2B5EF4-FFF2-40B4-BE49-F238E27FC236}">
                  <a16:creationId xmlns:a16="http://schemas.microsoft.com/office/drawing/2014/main" id="{2F032D5C-38EE-4C37-A6DA-FB3C90C85356}"/>
                </a:ext>
              </a:extLst>
            </p:cNvPr>
            <p:cNvSpPr txBox="1">
              <a:spLocks noChangeArrowheads="1"/>
            </p:cNvSpPr>
            <p:nvPr/>
          </p:nvSpPr>
          <p:spPr bwMode="auto">
            <a:xfrm>
              <a:off x="3074" y="6004"/>
              <a:ext cx="67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lnSpc>
                  <a:spcPct val="88000"/>
                </a:lnSpc>
              </a:pPr>
              <a:r>
                <a:rPr lang="zh-CN" altLang="en-US" sz="900">
                  <a:latin typeface="Times New Roman" panose="02020603050405020304" pitchFamily="18" charset="0"/>
                </a:rPr>
                <a:t>计划</a:t>
              </a:r>
            </a:p>
            <a:p>
              <a:pPr algn="ctr">
                <a:lnSpc>
                  <a:spcPct val="88000"/>
                </a:lnSpc>
              </a:pPr>
              <a:r>
                <a:rPr lang="zh-CN" altLang="en-US" sz="900">
                  <a:latin typeface="Times New Roman" panose="02020603050405020304" pitchFamily="18" charset="0"/>
                </a:rPr>
                <a:t>时期</a:t>
              </a:r>
              <a:endParaRPr lang="zh-CN" altLang="en-US" sz="900">
                <a:latin typeface="Tahoma" panose="020B0604030504040204" pitchFamily="34" charset="0"/>
              </a:endParaRPr>
            </a:p>
          </p:txBody>
        </p:sp>
        <p:sp>
          <p:nvSpPr>
            <p:cNvPr id="27675" name="任意多边形 18462">
              <a:extLst>
                <a:ext uri="{FF2B5EF4-FFF2-40B4-BE49-F238E27FC236}">
                  <a16:creationId xmlns:a16="http://schemas.microsoft.com/office/drawing/2014/main" id="{551FA9CC-7CB1-44E7-9DA5-C5BCCB17712A}"/>
                </a:ext>
              </a:extLst>
            </p:cNvPr>
            <p:cNvSpPr>
              <a:spLocks noChangeArrowheads="1"/>
            </p:cNvSpPr>
            <p:nvPr/>
          </p:nvSpPr>
          <p:spPr bwMode="auto">
            <a:xfrm flipH="1" flipV="1">
              <a:off x="4374" y="6594"/>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6" name="任意多边形 18463">
              <a:extLst>
                <a:ext uri="{FF2B5EF4-FFF2-40B4-BE49-F238E27FC236}">
                  <a16:creationId xmlns:a16="http://schemas.microsoft.com/office/drawing/2014/main" id="{500A777B-7823-4B8B-A89C-C57316CA4FF4}"/>
                </a:ext>
              </a:extLst>
            </p:cNvPr>
            <p:cNvSpPr>
              <a:spLocks noChangeArrowheads="1"/>
            </p:cNvSpPr>
            <p:nvPr/>
          </p:nvSpPr>
          <p:spPr bwMode="auto">
            <a:xfrm flipH="1" flipV="1">
              <a:off x="3834" y="6126"/>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7" name="任意多边形 18464">
              <a:extLst>
                <a:ext uri="{FF2B5EF4-FFF2-40B4-BE49-F238E27FC236}">
                  <a16:creationId xmlns:a16="http://schemas.microsoft.com/office/drawing/2014/main" id="{8DA43E15-08C3-4D25-95D8-7EEC11B01044}"/>
                </a:ext>
              </a:extLst>
            </p:cNvPr>
            <p:cNvSpPr>
              <a:spLocks noChangeArrowheads="1"/>
            </p:cNvSpPr>
            <p:nvPr/>
          </p:nvSpPr>
          <p:spPr bwMode="auto">
            <a:xfrm rot="10138593" flipH="1" flipV="1">
              <a:off x="6914" y="7852"/>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8" name="任意多边形 18465">
              <a:extLst>
                <a:ext uri="{FF2B5EF4-FFF2-40B4-BE49-F238E27FC236}">
                  <a16:creationId xmlns:a16="http://schemas.microsoft.com/office/drawing/2014/main" id="{D5CD4940-C423-4807-8406-CC743353D803}"/>
                </a:ext>
              </a:extLst>
            </p:cNvPr>
            <p:cNvSpPr>
              <a:spLocks noChangeArrowheads="1"/>
            </p:cNvSpPr>
            <p:nvPr/>
          </p:nvSpPr>
          <p:spPr bwMode="auto">
            <a:xfrm rot="10138593" flipH="1" flipV="1">
              <a:off x="6384" y="7400"/>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9" name="任意多边形 18466">
              <a:extLst>
                <a:ext uri="{FF2B5EF4-FFF2-40B4-BE49-F238E27FC236}">
                  <a16:creationId xmlns:a16="http://schemas.microsoft.com/office/drawing/2014/main" id="{EDF21D5B-C55D-44B7-BC4C-639CF2E42D0E}"/>
                </a:ext>
              </a:extLst>
            </p:cNvPr>
            <p:cNvSpPr>
              <a:spLocks noChangeArrowheads="1"/>
            </p:cNvSpPr>
            <p:nvPr/>
          </p:nvSpPr>
          <p:spPr bwMode="auto">
            <a:xfrm rot="10138593" flipH="1" flipV="1">
              <a:off x="5844" y="6936"/>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0" name="任意多边形 18467">
              <a:extLst>
                <a:ext uri="{FF2B5EF4-FFF2-40B4-BE49-F238E27FC236}">
                  <a16:creationId xmlns:a16="http://schemas.microsoft.com/office/drawing/2014/main" id="{F0067B3B-D0E9-4B0D-A13C-38E018274AC2}"/>
                </a:ext>
              </a:extLst>
            </p:cNvPr>
            <p:cNvSpPr>
              <a:spLocks noChangeArrowheads="1"/>
            </p:cNvSpPr>
            <p:nvPr/>
          </p:nvSpPr>
          <p:spPr bwMode="auto">
            <a:xfrm rot="10138593" flipH="1" flipV="1">
              <a:off x="4664" y="6000"/>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1" name="任意多边形 18468">
              <a:extLst>
                <a:ext uri="{FF2B5EF4-FFF2-40B4-BE49-F238E27FC236}">
                  <a16:creationId xmlns:a16="http://schemas.microsoft.com/office/drawing/2014/main" id="{7BDFB3D1-652D-4FE7-9D85-1C7E2C4E3D66}"/>
                </a:ext>
              </a:extLst>
            </p:cNvPr>
            <p:cNvSpPr>
              <a:spLocks noChangeArrowheads="1"/>
            </p:cNvSpPr>
            <p:nvPr/>
          </p:nvSpPr>
          <p:spPr bwMode="auto">
            <a:xfrm rot="10138593" flipH="1" flipV="1">
              <a:off x="5294" y="6478"/>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2" name="任意多边形 18469">
              <a:extLst>
                <a:ext uri="{FF2B5EF4-FFF2-40B4-BE49-F238E27FC236}">
                  <a16:creationId xmlns:a16="http://schemas.microsoft.com/office/drawing/2014/main" id="{081D8E06-F8EB-4051-820F-6BFB400DD2B1}"/>
                </a:ext>
              </a:extLst>
            </p:cNvPr>
            <p:cNvSpPr>
              <a:spLocks noChangeArrowheads="1"/>
            </p:cNvSpPr>
            <p:nvPr/>
          </p:nvSpPr>
          <p:spPr bwMode="auto">
            <a:xfrm flipH="1" flipV="1">
              <a:off x="6574" y="8572"/>
              <a:ext cx="972" cy="467"/>
            </a:xfrm>
            <a:custGeom>
              <a:avLst/>
              <a:gdLst>
                <a:gd name="T0" fmla="*/ 0 w 42659"/>
                <a:gd name="T1" fmla="*/ 16798 h 42019"/>
                <a:gd name="T2" fmla="*/ 21059 w 42659"/>
                <a:gd name="T3" fmla="*/ 0 h 42019"/>
                <a:gd name="T4" fmla="*/ 42659 w 42659"/>
                <a:gd name="T5" fmla="*/ 21600 h 42019"/>
                <a:gd name="T6" fmla="*/ 28111 w 42659"/>
                <a:gd name="T7" fmla="*/ 42022 h 42019"/>
                <a:gd name="T8" fmla="*/ 0 w 42659"/>
                <a:gd name="T9" fmla="*/ 16798 h 42019"/>
                <a:gd name="T10" fmla="*/ 21059 w 42659"/>
                <a:gd name="T11" fmla="*/ 0 h 42019"/>
                <a:gd name="T12" fmla="*/ 42659 w 42659"/>
                <a:gd name="T13" fmla="*/ 21600 h 42019"/>
                <a:gd name="T14" fmla="*/ 28111 w 42659"/>
                <a:gd name="T15" fmla="*/ 42022 h 42019"/>
                <a:gd name="T16" fmla="*/ 21059 w 42659"/>
                <a:gd name="T17" fmla="*/ 21600 h 42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59" h="42019" fill="none">
                  <a:moveTo>
                    <a:pt x="0" y="16798"/>
                  </a:moveTo>
                  <a:cubicBezTo>
                    <a:pt x="2185" y="7174"/>
                    <a:pt x="10784" y="0"/>
                    <a:pt x="21059" y="0"/>
                  </a:cubicBezTo>
                  <a:cubicBezTo>
                    <a:pt x="32988" y="0"/>
                    <a:pt x="42659" y="9671"/>
                    <a:pt x="42659" y="21600"/>
                  </a:cubicBezTo>
                  <a:cubicBezTo>
                    <a:pt x="42659" y="31061"/>
                    <a:pt x="36576" y="39102"/>
                    <a:pt x="28111" y="42022"/>
                  </a:cubicBezTo>
                </a:path>
                <a:path w="42659" h="42019" stroke="0">
                  <a:moveTo>
                    <a:pt x="0" y="16798"/>
                  </a:moveTo>
                  <a:cubicBezTo>
                    <a:pt x="2185" y="7174"/>
                    <a:pt x="10784" y="0"/>
                    <a:pt x="21059" y="0"/>
                  </a:cubicBezTo>
                  <a:cubicBezTo>
                    <a:pt x="32988" y="0"/>
                    <a:pt x="42659" y="9671"/>
                    <a:pt x="42659" y="21600"/>
                  </a:cubicBezTo>
                  <a:cubicBezTo>
                    <a:pt x="42659" y="31061"/>
                    <a:pt x="36576" y="39102"/>
                    <a:pt x="28111" y="42022"/>
                  </a:cubicBezTo>
                  <a:lnTo>
                    <a:pt x="21059"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3" name="任意多边形 18470">
              <a:extLst>
                <a:ext uri="{FF2B5EF4-FFF2-40B4-BE49-F238E27FC236}">
                  <a16:creationId xmlns:a16="http://schemas.microsoft.com/office/drawing/2014/main" id="{40AAE63F-08C6-40D9-A93E-D7C1C1C85472}"/>
                </a:ext>
              </a:extLst>
            </p:cNvPr>
            <p:cNvSpPr>
              <a:spLocks noChangeArrowheads="1"/>
            </p:cNvSpPr>
            <p:nvPr/>
          </p:nvSpPr>
          <p:spPr bwMode="auto">
            <a:xfrm rot="10138593" flipH="1" flipV="1">
              <a:off x="7384" y="8260"/>
              <a:ext cx="360" cy="312"/>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7" name="矩形 36">
            <a:extLst>
              <a:ext uri="{FF2B5EF4-FFF2-40B4-BE49-F238E27FC236}">
                <a16:creationId xmlns:a16="http://schemas.microsoft.com/office/drawing/2014/main" id="{A59E9398-6F4B-4E61-A028-57C2CF97B3AF}"/>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38" name="矩形 17">
            <a:extLst>
              <a:ext uri="{FF2B5EF4-FFF2-40B4-BE49-F238E27FC236}">
                <a16:creationId xmlns:a16="http://schemas.microsoft.com/office/drawing/2014/main" id="{A8E8039B-2518-4664-B4E5-3AEECC0B2BDB}"/>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slide(fromBottom)">
                                      <p:cBhvr>
                                        <p:cTn id="15" dur="500"/>
                                        <p:tgtEl>
                                          <p:spTgt spid="38"/>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slide(fromLeft)">
                                      <p:cBhvr>
                                        <p:cTn id="1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7" grpId="0"/>
      <p:bldP spid="3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6DC30333-B8DF-4740-99A1-103EE888ECC8}"/>
              </a:ext>
            </a:extLst>
          </p:cNvPr>
          <p:cNvSpPr>
            <a:spLocks noChangeShapeType="1"/>
          </p:cNvSpPr>
          <p:nvPr/>
        </p:nvSpPr>
        <p:spPr bwMode="auto">
          <a:xfrm>
            <a:off x="575148" y="2187017"/>
            <a:ext cx="194454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07B6698A-14CB-4376-B786-36381B5F54B7}"/>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1.4.1   </a:t>
            </a:r>
            <a:r>
              <a:rPr lang="zh-CN" altLang="en-US" sz="1650" b="1"/>
              <a:t>瀑布模型</a:t>
            </a:r>
          </a:p>
        </p:txBody>
      </p:sp>
      <p:sp>
        <p:nvSpPr>
          <p:cNvPr id="28677" name="Rectangle 3">
            <a:extLst>
              <a:ext uri="{FF2B5EF4-FFF2-40B4-BE49-F238E27FC236}">
                <a16:creationId xmlns:a16="http://schemas.microsoft.com/office/drawing/2014/main" id="{84291F41-9F88-4EA8-A40D-BB084A283603}"/>
              </a:ext>
            </a:extLst>
          </p:cNvPr>
          <p:cNvSpPr txBox="1">
            <a:spLocks noChangeArrowheads="1"/>
          </p:cNvSpPr>
          <p:nvPr/>
        </p:nvSpPr>
        <p:spPr bwMode="auto">
          <a:xfrm>
            <a:off x="891895" y="2348963"/>
            <a:ext cx="8000851" cy="351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622300">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spcBef>
                <a:spcPct val="20000"/>
              </a:spcBef>
            </a:pPr>
            <a:r>
              <a:rPr lang="zh-CN" altLang="en-US" sz="1500" b="1"/>
              <a:t>瀑布模型的主要</a:t>
            </a:r>
            <a:r>
              <a:rPr lang="zh-CN" altLang="en-US" sz="1500" b="1">
                <a:solidFill>
                  <a:srgbClr val="FF0000"/>
                </a:solidFill>
              </a:rPr>
              <a:t>优点</a:t>
            </a:r>
            <a:r>
              <a:rPr lang="zh-CN" altLang="en-US" sz="1500" b="1"/>
              <a:t>：</a:t>
            </a:r>
          </a:p>
          <a:p>
            <a:pPr>
              <a:lnSpc>
                <a:spcPct val="150000"/>
              </a:lnSpc>
              <a:spcBef>
                <a:spcPct val="20000"/>
              </a:spcBef>
            </a:pPr>
            <a:r>
              <a:rPr lang="zh-CN" altLang="en-US" sz="1500" b="1"/>
              <a:t>（</a:t>
            </a:r>
            <a:r>
              <a:rPr lang="en-US" altLang="zh-CN" sz="1500" b="1"/>
              <a:t>1</a:t>
            </a:r>
            <a:r>
              <a:rPr lang="zh-CN" altLang="en-US" sz="1500" b="1"/>
              <a:t>）原理简单、容易掌握。</a:t>
            </a:r>
          </a:p>
          <a:p>
            <a:pPr>
              <a:lnSpc>
                <a:spcPct val="150000"/>
              </a:lnSpc>
              <a:spcBef>
                <a:spcPct val="20000"/>
              </a:spcBef>
            </a:pPr>
            <a:r>
              <a:rPr lang="zh-CN" altLang="en-US" sz="1500" b="1"/>
              <a:t>（</a:t>
            </a:r>
            <a:r>
              <a:rPr lang="en-US" altLang="zh-CN" sz="1500" b="1"/>
              <a:t>2</a:t>
            </a:r>
            <a:r>
              <a:rPr lang="zh-CN" altLang="en-US" sz="1500" b="1"/>
              <a:t>）各阶段间都有验证和确认环节，以便进行质量管理。</a:t>
            </a:r>
          </a:p>
          <a:p>
            <a:pPr>
              <a:lnSpc>
                <a:spcPct val="150000"/>
              </a:lnSpc>
              <a:spcBef>
                <a:spcPct val="20000"/>
              </a:spcBef>
            </a:pPr>
            <a:r>
              <a:rPr lang="zh-CN" altLang="en-US" sz="1500" b="1"/>
              <a:t>（</a:t>
            </a:r>
            <a:r>
              <a:rPr lang="en-US" altLang="zh-CN" sz="1500" b="1"/>
              <a:t>3</a:t>
            </a:r>
            <a:r>
              <a:rPr lang="zh-CN" altLang="en-US" sz="1500" b="1"/>
              <a:t>）主要用于支持结构化方法。</a:t>
            </a:r>
          </a:p>
          <a:p>
            <a:pPr>
              <a:lnSpc>
                <a:spcPct val="150000"/>
              </a:lnSpc>
              <a:spcBef>
                <a:spcPct val="20000"/>
              </a:spcBef>
            </a:pPr>
            <a:r>
              <a:rPr lang="zh-CN" altLang="en-US" sz="1500" b="1"/>
              <a:t>瀑布模型的主要</a:t>
            </a:r>
            <a:r>
              <a:rPr lang="zh-CN" altLang="en-US" sz="1500" b="1">
                <a:solidFill>
                  <a:srgbClr val="FF0000"/>
                </a:solidFill>
              </a:rPr>
              <a:t>缺点</a:t>
            </a:r>
            <a:r>
              <a:rPr lang="zh-CN" altLang="en-US" sz="1500" b="1"/>
              <a:t>：</a:t>
            </a:r>
          </a:p>
          <a:p>
            <a:pPr>
              <a:lnSpc>
                <a:spcPct val="150000"/>
              </a:lnSpc>
              <a:spcBef>
                <a:spcPct val="20000"/>
              </a:spcBef>
            </a:pPr>
            <a:r>
              <a:rPr lang="zh-CN" altLang="en-US" sz="1500" b="1"/>
              <a:t>（</a:t>
            </a:r>
            <a:r>
              <a:rPr lang="en-US" altLang="zh-CN" sz="1500" b="1"/>
              <a:t>1</a:t>
            </a:r>
            <a:r>
              <a:rPr lang="zh-CN" altLang="en-US" sz="1500" b="1"/>
              <a:t>）缺乏灵活性，</a:t>
            </a:r>
            <a:r>
              <a:rPr lang="zh-CN" altLang="en-US" sz="1500" b="1">
                <a:solidFill>
                  <a:srgbClr val="FF0000"/>
                </a:solidFill>
              </a:rPr>
              <a:t>不能适应用户需求的变化</a:t>
            </a:r>
            <a:r>
              <a:rPr lang="zh-CN" altLang="en-US" sz="1500" b="1"/>
              <a:t>。</a:t>
            </a:r>
          </a:p>
          <a:p>
            <a:pPr>
              <a:lnSpc>
                <a:spcPct val="150000"/>
              </a:lnSpc>
              <a:spcBef>
                <a:spcPct val="20000"/>
              </a:spcBef>
            </a:pPr>
            <a:r>
              <a:rPr lang="zh-CN" altLang="en-US" sz="1500" b="1"/>
              <a:t>（</a:t>
            </a:r>
            <a:r>
              <a:rPr lang="en-US" altLang="zh-CN" sz="1500" b="1"/>
              <a:t>2</a:t>
            </a:r>
            <a:r>
              <a:rPr lang="zh-CN" altLang="en-US" sz="1500" b="1"/>
              <a:t>）缺乏演化性，</a:t>
            </a:r>
            <a:r>
              <a:rPr lang="zh-CN" altLang="en-US" sz="1500" b="1">
                <a:solidFill>
                  <a:srgbClr val="FF0000"/>
                </a:solidFill>
              </a:rPr>
              <a:t>返回</a:t>
            </a:r>
            <a:r>
              <a:rPr lang="zh-CN" altLang="en-US" sz="1500" b="1"/>
              <a:t>上一级的开发需要付出十分高昂的</a:t>
            </a:r>
            <a:r>
              <a:rPr lang="zh-CN" altLang="en-US" sz="1500" b="1">
                <a:solidFill>
                  <a:srgbClr val="FF0000"/>
                </a:solidFill>
              </a:rPr>
              <a:t>代价</a:t>
            </a:r>
            <a:r>
              <a:rPr lang="zh-CN" altLang="en-US" sz="1500" b="1"/>
              <a:t>。</a:t>
            </a:r>
          </a:p>
          <a:p>
            <a:pPr>
              <a:lnSpc>
                <a:spcPct val="150000"/>
              </a:lnSpc>
              <a:spcBef>
                <a:spcPct val="20000"/>
              </a:spcBef>
            </a:pPr>
            <a:r>
              <a:rPr lang="zh-CN" altLang="en-US" sz="1500" b="1"/>
              <a:t>（</a:t>
            </a:r>
            <a:r>
              <a:rPr lang="en-US" altLang="zh-CN" sz="1500" b="1"/>
              <a:t>3</a:t>
            </a:r>
            <a:r>
              <a:rPr lang="zh-CN" altLang="en-US" sz="1500" b="1"/>
              <a:t>）是线性的软件开发模型，</a:t>
            </a:r>
            <a:r>
              <a:rPr lang="zh-CN" altLang="en-US" sz="1500" b="1">
                <a:solidFill>
                  <a:srgbClr val="FF0000"/>
                </a:solidFill>
              </a:rPr>
              <a:t>回溯性很差</a:t>
            </a:r>
            <a:r>
              <a:rPr lang="zh-CN" altLang="en-US" sz="1500" b="1"/>
              <a:t>。</a:t>
            </a:r>
          </a:p>
        </p:txBody>
      </p:sp>
      <p:sp>
        <p:nvSpPr>
          <p:cNvPr id="9" name="矩形 8">
            <a:extLst>
              <a:ext uri="{FF2B5EF4-FFF2-40B4-BE49-F238E27FC236}">
                <a16:creationId xmlns:a16="http://schemas.microsoft.com/office/drawing/2014/main" id="{3BDEEC78-C291-4059-A0A6-D6452632D2BE}"/>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E66F540D-5E69-47D1-A11D-D5DC527A9A66}"/>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81B811BC-95E5-4138-A83E-671C73DEB170}"/>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024671CD-5AE8-4DD1-93CA-E6D07F3641C6}"/>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1.4.2   </a:t>
            </a:r>
            <a:r>
              <a:rPr lang="zh-CN" altLang="en-US" sz="1650" b="1"/>
              <a:t>快速原型模型</a:t>
            </a:r>
          </a:p>
        </p:txBody>
      </p:sp>
      <p:pic>
        <p:nvPicPr>
          <p:cNvPr id="29701" name="Picture 2">
            <a:extLst>
              <a:ext uri="{FF2B5EF4-FFF2-40B4-BE49-F238E27FC236}">
                <a16:creationId xmlns:a16="http://schemas.microsoft.com/office/drawing/2014/main" id="{0E077F15-18B4-4123-B15B-40EC13E5C6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681" y="2603790"/>
            <a:ext cx="6535001" cy="268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D477C785-6DB8-42DF-BA34-502656A6AEFC}"/>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46AE48EC-04DD-4569-934D-BC2D1ADBD8A0}"/>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C420CC7B-E669-46D2-B56A-5B028C552AC2}"/>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F73D1113-B21B-4884-A784-156D8D98CC5F}"/>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1.4.2   </a:t>
            </a:r>
            <a:r>
              <a:rPr lang="zh-CN" altLang="en-US" sz="1650" b="1"/>
              <a:t>快速原型模型</a:t>
            </a:r>
          </a:p>
        </p:txBody>
      </p:sp>
      <p:sp>
        <p:nvSpPr>
          <p:cNvPr id="30725" name="Rectangle 3">
            <a:extLst>
              <a:ext uri="{FF2B5EF4-FFF2-40B4-BE49-F238E27FC236}">
                <a16:creationId xmlns:a16="http://schemas.microsoft.com/office/drawing/2014/main" id="{FEB8E04E-4A1A-4B84-A6C0-7FD717C6A3FB}"/>
              </a:ext>
            </a:extLst>
          </p:cNvPr>
          <p:cNvSpPr txBox="1">
            <a:spLocks noChangeArrowheads="1"/>
          </p:cNvSpPr>
          <p:nvPr/>
        </p:nvSpPr>
        <p:spPr bwMode="auto">
          <a:xfrm>
            <a:off x="891895" y="2348963"/>
            <a:ext cx="8000851" cy="351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622300">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spcBef>
                <a:spcPct val="20000"/>
              </a:spcBef>
            </a:pPr>
            <a:r>
              <a:rPr lang="zh-CN" altLang="en-US" sz="1500" b="1"/>
              <a:t>快速原型模型的优点：</a:t>
            </a:r>
          </a:p>
          <a:p>
            <a:pPr>
              <a:lnSpc>
                <a:spcPct val="150000"/>
              </a:lnSpc>
              <a:spcBef>
                <a:spcPct val="20000"/>
              </a:spcBef>
            </a:pPr>
            <a:r>
              <a:rPr lang="zh-CN" altLang="en-US" sz="1500" b="1"/>
              <a:t>（</a:t>
            </a:r>
            <a:r>
              <a:rPr lang="en-US" altLang="zh-CN" sz="1500" b="1"/>
              <a:t>1</a:t>
            </a:r>
            <a:r>
              <a:rPr lang="zh-CN" altLang="en-US" sz="1500" b="1"/>
              <a:t>）增强了开发者与用户间的</a:t>
            </a:r>
            <a:r>
              <a:rPr lang="zh-CN" altLang="en-US" sz="1500" b="1">
                <a:solidFill>
                  <a:srgbClr val="FF0000"/>
                </a:solidFill>
              </a:rPr>
              <a:t>交流</a:t>
            </a:r>
            <a:r>
              <a:rPr lang="zh-CN" altLang="en-US" sz="1500" b="1"/>
              <a:t>，有助于满足用户的真实需求。</a:t>
            </a:r>
          </a:p>
          <a:p>
            <a:pPr>
              <a:lnSpc>
                <a:spcPct val="150000"/>
              </a:lnSpc>
              <a:spcBef>
                <a:spcPct val="20000"/>
              </a:spcBef>
            </a:pPr>
            <a:r>
              <a:rPr lang="zh-CN" altLang="en-US" sz="1500" b="1"/>
              <a:t>（</a:t>
            </a:r>
            <a:r>
              <a:rPr lang="en-US" altLang="zh-CN" sz="1500" b="1"/>
              <a:t>2</a:t>
            </a:r>
            <a:r>
              <a:rPr lang="zh-CN" altLang="en-US" sz="1500" b="1"/>
              <a:t>）用户可</a:t>
            </a:r>
            <a:r>
              <a:rPr lang="zh-CN" altLang="en-US" sz="1500" b="1">
                <a:solidFill>
                  <a:srgbClr val="FF0000"/>
                </a:solidFill>
              </a:rPr>
              <a:t>及早得到</a:t>
            </a:r>
            <a:r>
              <a:rPr lang="zh-CN" altLang="en-US" sz="1500" b="1"/>
              <a:t>有用的</a:t>
            </a:r>
            <a:r>
              <a:rPr lang="zh-CN" altLang="en-US" sz="1500" b="1">
                <a:solidFill>
                  <a:srgbClr val="FF0000"/>
                </a:solidFill>
              </a:rPr>
              <a:t>产品</a:t>
            </a:r>
            <a:r>
              <a:rPr lang="zh-CN" altLang="en-US" sz="1500" b="1"/>
              <a:t>，可及早发现问题，随时纠正错误。</a:t>
            </a:r>
          </a:p>
          <a:p>
            <a:pPr>
              <a:lnSpc>
                <a:spcPct val="150000"/>
              </a:lnSpc>
              <a:spcBef>
                <a:spcPct val="20000"/>
              </a:spcBef>
            </a:pPr>
            <a:r>
              <a:rPr lang="zh-CN" altLang="en-US" sz="1500" b="1"/>
              <a:t>（</a:t>
            </a:r>
            <a:r>
              <a:rPr lang="en-US" altLang="zh-CN" sz="1500" b="1"/>
              <a:t>3</a:t>
            </a:r>
            <a:r>
              <a:rPr lang="zh-CN" altLang="en-US" sz="1500" b="1"/>
              <a:t>）减小技术、应用风险，可降低开发费用，缩短开发时间。</a:t>
            </a:r>
          </a:p>
          <a:p>
            <a:pPr>
              <a:lnSpc>
                <a:spcPct val="150000"/>
              </a:lnSpc>
              <a:spcBef>
                <a:spcPct val="20000"/>
              </a:spcBef>
            </a:pPr>
            <a:r>
              <a:rPr lang="zh-CN" altLang="en-US" sz="1500" b="1"/>
              <a:t>快速原型模型的缺点：</a:t>
            </a:r>
          </a:p>
          <a:p>
            <a:pPr>
              <a:lnSpc>
                <a:spcPct val="150000"/>
              </a:lnSpc>
              <a:spcBef>
                <a:spcPct val="20000"/>
              </a:spcBef>
            </a:pPr>
            <a:r>
              <a:rPr lang="zh-CN" altLang="en-US" sz="1500" b="1"/>
              <a:t>（</a:t>
            </a:r>
            <a:r>
              <a:rPr lang="en-US" altLang="zh-CN" sz="1500" b="1"/>
              <a:t>1</a:t>
            </a:r>
            <a:r>
              <a:rPr lang="zh-CN" altLang="en-US" sz="1500" b="1"/>
              <a:t>）缺乏丰富而强有力的</a:t>
            </a:r>
            <a:r>
              <a:rPr lang="zh-CN" altLang="en-US" sz="1500" b="1">
                <a:solidFill>
                  <a:srgbClr val="FF0000"/>
                </a:solidFill>
              </a:rPr>
              <a:t>软件工具和开发环境</a:t>
            </a:r>
            <a:r>
              <a:rPr lang="zh-CN" altLang="en-US" sz="1500" b="1"/>
              <a:t>。</a:t>
            </a:r>
          </a:p>
          <a:p>
            <a:pPr>
              <a:lnSpc>
                <a:spcPct val="150000"/>
              </a:lnSpc>
              <a:spcBef>
                <a:spcPct val="20000"/>
              </a:spcBef>
            </a:pPr>
            <a:r>
              <a:rPr lang="zh-CN" altLang="en-US" sz="1500" b="1"/>
              <a:t>（</a:t>
            </a:r>
            <a:r>
              <a:rPr lang="en-US" altLang="zh-CN" sz="1500" b="1"/>
              <a:t>2</a:t>
            </a:r>
            <a:r>
              <a:rPr lang="zh-CN" altLang="en-US" sz="1500" b="1"/>
              <a:t>）对设计人员水平及开发环境</a:t>
            </a:r>
            <a:r>
              <a:rPr lang="zh-CN" altLang="en-US" sz="1500" b="1">
                <a:solidFill>
                  <a:srgbClr val="FF0000"/>
                </a:solidFill>
              </a:rPr>
              <a:t>要求较高</a:t>
            </a:r>
            <a:r>
              <a:rPr lang="zh-CN" altLang="en-US" sz="1500" b="1"/>
              <a:t>。</a:t>
            </a:r>
          </a:p>
          <a:p>
            <a:pPr>
              <a:lnSpc>
                <a:spcPct val="150000"/>
              </a:lnSpc>
              <a:spcBef>
                <a:spcPct val="20000"/>
              </a:spcBef>
            </a:pPr>
            <a:r>
              <a:rPr lang="zh-CN" altLang="en-US" sz="1500" b="1"/>
              <a:t>（</a:t>
            </a:r>
            <a:r>
              <a:rPr lang="en-US" altLang="zh-CN" sz="1500" b="1"/>
              <a:t>3</a:t>
            </a:r>
            <a:r>
              <a:rPr lang="zh-CN" altLang="en-US" sz="1500" b="1"/>
              <a:t>）在多次重复改变原型的过程中，</a:t>
            </a:r>
            <a:r>
              <a:rPr lang="zh-CN" altLang="en-US" sz="1500" b="1">
                <a:solidFill>
                  <a:srgbClr val="FF0000"/>
                </a:solidFill>
              </a:rPr>
              <a:t>程序员会厌倦</a:t>
            </a:r>
            <a:r>
              <a:rPr lang="zh-CN" altLang="en-US" sz="1500" b="1"/>
              <a:t>。</a:t>
            </a:r>
          </a:p>
          <a:p>
            <a:pPr>
              <a:lnSpc>
                <a:spcPct val="150000"/>
              </a:lnSpc>
              <a:spcBef>
                <a:spcPct val="20000"/>
              </a:spcBef>
            </a:pPr>
            <a:r>
              <a:rPr lang="zh-CN" altLang="en-US" sz="1500" b="1"/>
              <a:t>（</a:t>
            </a:r>
            <a:r>
              <a:rPr lang="en-US" altLang="zh-CN" sz="1500" b="1"/>
              <a:t>4</a:t>
            </a:r>
            <a:r>
              <a:rPr lang="zh-CN" altLang="en-US" sz="1500" b="1"/>
              <a:t>）对于做到彻底测试，更新文档较为困难。</a:t>
            </a:r>
          </a:p>
        </p:txBody>
      </p:sp>
      <p:sp>
        <p:nvSpPr>
          <p:cNvPr id="9" name="矩形 8">
            <a:extLst>
              <a:ext uri="{FF2B5EF4-FFF2-40B4-BE49-F238E27FC236}">
                <a16:creationId xmlns:a16="http://schemas.microsoft.com/office/drawing/2014/main" id="{D170A960-4247-4DE0-87EA-5CD8B4315356}"/>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96916E6B-0309-4BDD-8F60-032DEB8B8F26}"/>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29ED9943-3F3D-4EBB-8D40-5AC2A3DDA230}"/>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1DDCED95-E17E-4FA3-A49B-019B7185D997}"/>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1.4.3   </a:t>
            </a:r>
            <a:r>
              <a:rPr lang="zh-CN" altLang="en-US" sz="1650" b="1"/>
              <a:t>渐增模型</a:t>
            </a:r>
          </a:p>
        </p:txBody>
      </p:sp>
      <p:pic>
        <p:nvPicPr>
          <p:cNvPr id="31749" name="Picture 2">
            <a:extLst>
              <a:ext uri="{FF2B5EF4-FFF2-40B4-BE49-F238E27FC236}">
                <a16:creationId xmlns:a16="http://schemas.microsoft.com/office/drawing/2014/main" id="{1BB9E2F6-22FB-4B02-B2A4-C31249E31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827" y="2457323"/>
            <a:ext cx="5609973" cy="3723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587765C6-5628-41FC-AB68-566CAB764FA6}"/>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E41798AD-C240-44CA-B558-2553C4A737E4}"/>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CE07BE2F-816A-436D-9991-2FD790FD4DBE}"/>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2A8EFA49-94E4-4E88-A87E-E446FAAAEBBC}"/>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1.4.3   </a:t>
            </a:r>
            <a:r>
              <a:rPr lang="zh-CN" altLang="en-US" sz="1650" b="1"/>
              <a:t>渐增模型</a:t>
            </a:r>
          </a:p>
        </p:txBody>
      </p:sp>
      <p:sp>
        <p:nvSpPr>
          <p:cNvPr id="32773" name="Rectangle 3">
            <a:extLst>
              <a:ext uri="{FF2B5EF4-FFF2-40B4-BE49-F238E27FC236}">
                <a16:creationId xmlns:a16="http://schemas.microsoft.com/office/drawing/2014/main" id="{47D54977-BB29-4964-BF36-7A30BA0BCE7E}"/>
              </a:ext>
            </a:extLst>
          </p:cNvPr>
          <p:cNvSpPr txBox="1">
            <a:spLocks noChangeArrowheads="1"/>
          </p:cNvSpPr>
          <p:nvPr/>
        </p:nvSpPr>
        <p:spPr bwMode="auto">
          <a:xfrm>
            <a:off x="685801" y="2348963"/>
            <a:ext cx="8206946" cy="351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622300">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20000"/>
              </a:lnSpc>
              <a:spcBef>
                <a:spcPct val="20000"/>
              </a:spcBef>
            </a:pPr>
            <a:r>
              <a:rPr lang="zh-CN" altLang="en-US" sz="1500" b="1" dirty="0"/>
              <a:t>渐增模型的</a:t>
            </a:r>
            <a:r>
              <a:rPr lang="zh-CN" altLang="en-US" sz="1500" b="1" dirty="0">
                <a:solidFill>
                  <a:srgbClr val="FF0000"/>
                </a:solidFill>
              </a:rPr>
              <a:t>优点</a:t>
            </a:r>
            <a:r>
              <a:rPr lang="zh-CN" altLang="en-US" sz="1500" b="1" dirty="0"/>
              <a:t>：</a:t>
            </a:r>
          </a:p>
          <a:p>
            <a:pPr>
              <a:lnSpc>
                <a:spcPct val="120000"/>
              </a:lnSpc>
              <a:spcBef>
                <a:spcPct val="20000"/>
              </a:spcBef>
            </a:pPr>
            <a:r>
              <a:rPr lang="zh-CN" altLang="en-US" sz="1500" b="1" dirty="0"/>
              <a:t>渐增模型是瀑布模型的一个变体，可以看作是重复执行的多个瀑布模型，具有瀑布模型的所有优点，此外，还有以下优点：</a:t>
            </a:r>
          </a:p>
          <a:p>
            <a:pPr>
              <a:lnSpc>
                <a:spcPct val="120000"/>
              </a:lnSpc>
              <a:spcBef>
                <a:spcPct val="20000"/>
              </a:spcBef>
            </a:pPr>
            <a:r>
              <a:rPr lang="zh-CN" altLang="en-US" sz="1500" b="1" dirty="0"/>
              <a:t>（</a:t>
            </a:r>
            <a:r>
              <a:rPr lang="en-US" altLang="zh-CN" sz="1500" b="1" dirty="0"/>
              <a:t>1</a:t>
            </a:r>
            <a:r>
              <a:rPr lang="zh-CN" altLang="en-US" sz="1500" b="1" dirty="0"/>
              <a:t>）</a:t>
            </a:r>
            <a:r>
              <a:rPr lang="zh-CN" altLang="en-US" sz="1500" b="1" dirty="0">
                <a:solidFill>
                  <a:srgbClr val="FF0000"/>
                </a:solidFill>
              </a:rPr>
              <a:t>可分批次提交软件产品</a:t>
            </a:r>
            <a:r>
              <a:rPr lang="zh-CN" altLang="en-US" sz="1500" b="1" dirty="0"/>
              <a:t>，方便用户及时了解软件开发进展情况，及早发现问题。</a:t>
            </a:r>
          </a:p>
          <a:p>
            <a:pPr>
              <a:lnSpc>
                <a:spcPct val="120000"/>
              </a:lnSpc>
              <a:spcBef>
                <a:spcPct val="20000"/>
              </a:spcBef>
            </a:pPr>
            <a:r>
              <a:rPr lang="zh-CN" altLang="en-US" sz="1500" b="1" dirty="0"/>
              <a:t>（</a:t>
            </a:r>
            <a:r>
              <a:rPr lang="en-US" altLang="zh-CN" sz="1500" b="1" dirty="0"/>
              <a:t>2</a:t>
            </a:r>
            <a:r>
              <a:rPr lang="zh-CN" altLang="en-US" sz="1500" b="1" dirty="0"/>
              <a:t>）</a:t>
            </a:r>
            <a:r>
              <a:rPr lang="zh-CN" altLang="en-US" sz="1500" b="1" dirty="0">
                <a:solidFill>
                  <a:srgbClr val="FF0000"/>
                </a:solidFill>
              </a:rPr>
              <a:t>以组件为单位进行开发</a:t>
            </a:r>
            <a:r>
              <a:rPr lang="zh-CN" altLang="en-US" sz="1500" b="1" dirty="0"/>
              <a:t>，降低了软件开发风险。</a:t>
            </a:r>
          </a:p>
          <a:p>
            <a:pPr>
              <a:lnSpc>
                <a:spcPct val="120000"/>
              </a:lnSpc>
              <a:spcBef>
                <a:spcPct val="20000"/>
              </a:spcBef>
            </a:pPr>
            <a:r>
              <a:rPr lang="zh-CN" altLang="en-US" sz="1500" b="1" dirty="0"/>
              <a:t>（</a:t>
            </a:r>
            <a:r>
              <a:rPr lang="en-US" altLang="zh-CN" sz="1500" b="1" dirty="0"/>
              <a:t>3</a:t>
            </a:r>
            <a:r>
              <a:rPr lang="zh-CN" altLang="en-US" sz="1500" b="1" dirty="0"/>
              <a:t>）开发顺序灵活。优先级最高的服务首先交付。</a:t>
            </a:r>
          </a:p>
          <a:p>
            <a:pPr>
              <a:lnSpc>
                <a:spcPct val="120000"/>
              </a:lnSpc>
              <a:spcBef>
                <a:spcPct val="20000"/>
              </a:spcBef>
            </a:pPr>
            <a:r>
              <a:rPr lang="zh-CN" altLang="en-US" sz="1500" b="1" dirty="0"/>
              <a:t>渐增模型的</a:t>
            </a:r>
            <a:r>
              <a:rPr lang="zh-CN" altLang="en-US" sz="1500" b="1" dirty="0">
                <a:solidFill>
                  <a:srgbClr val="FF0000"/>
                </a:solidFill>
              </a:rPr>
              <a:t>缺点</a:t>
            </a:r>
            <a:r>
              <a:rPr lang="zh-CN" altLang="en-US" sz="1500" b="1" dirty="0"/>
              <a:t>：</a:t>
            </a:r>
          </a:p>
          <a:p>
            <a:pPr>
              <a:lnSpc>
                <a:spcPct val="120000"/>
              </a:lnSpc>
              <a:spcBef>
                <a:spcPct val="20000"/>
              </a:spcBef>
            </a:pPr>
            <a:r>
              <a:rPr lang="zh-CN" altLang="en-US" sz="1500" b="1" dirty="0"/>
              <a:t>（</a:t>
            </a:r>
            <a:r>
              <a:rPr lang="en-US" altLang="zh-CN" sz="1500" b="1" dirty="0"/>
              <a:t>1</a:t>
            </a:r>
            <a:r>
              <a:rPr lang="zh-CN" altLang="en-US" sz="1500" b="1" dirty="0"/>
              <a:t>）由于对整个软件系统的需求没有一个完整的定义，</a:t>
            </a:r>
            <a:r>
              <a:rPr lang="zh-CN" altLang="en-US" sz="1500" b="1" dirty="0">
                <a:solidFill>
                  <a:srgbClr val="FF0000"/>
                </a:solidFill>
              </a:rPr>
              <a:t>会给总体设计带来麻烦</a:t>
            </a:r>
            <a:r>
              <a:rPr lang="zh-CN" altLang="en-US" sz="1500" b="1" dirty="0"/>
              <a:t>。</a:t>
            </a:r>
          </a:p>
          <a:p>
            <a:pPr>
              <a:lnSpc>
                <a:spcPct val="120000"/>
              </a:lnSpc>
              <a:spcBef>
                <a:spcPct val="20000"/>
              </a:spcBef>
            </a:pPr>
            <a:r>
              <a:rPr lang="zh-CN" altLang="en-US" sz="1500" b="1" dirty="0"/>
              <a:t>（</a:t>
            </a:r>
            <a:r>
              <a:rPr lang="en-US" altLang="zh-CN" sz="1500" b="1" dirty="0"/>
              <a:t>2</a:t>
            </a:r>
            <a:r>
              <a:rPr lang="zh-CN" altLang="en-US" sz="1500" b="1" dirty="0"/>
              <a:t>）在把每个新的增量构件集成到现有软件结构中时，</a:t>
            </a:r>
            <a:r>
              <a:rPr lang="zh-CN" altLang="en-US" sz="1500" b="1" dirty="0">
                <a:solidFill>
                  <a:srgbClr val="FF0000"/>
                </a:solidFill>
              </a:rPr>
              <a:t>必须不破坏原来已开发出的产品</a:t>
            </a:r>
            <a:r>
              <a:rPr lang="zh-CN" altLang="en-US" sz="1500" b="1" dirty="0"/>
              <a:t>。</a:t>
            </a:r>
          </a:p>
          <a:p>
            <a:pPr>
              <a:lnSpc>
                <a:spcPct val="120000"/>
              </a:lnSpc>
              <a:spcBef>
                <a:spcPct val="20000"/>
              </a:spcBef>
            </a:pPr>
            <a:r>
              <a:rPr lang="zh-CN" altLang="en-US" sz="1500" b="1" dirty="0"/>
              <a:t>（</a:t>
            </a:r>
            <a:r>
              <a:rPr lang="en-US" altLang="zh-CN" sz="1500" b="1" dirty="0"/>
              <a:t>3</a:t>
            </a:r>
            <a:r>
              <a:rPr lang="zh-CN" altLang="en-US" sz="1500" b="1" dirty="0"/>
              <a:t>）软件的体系结构必须是开放的，即向现有产品中加入新构件的过程必须简单、方便。每次增量开发的产品都应当是</a:t>
            </a:r>
            <a:r>
              <a:rPr lang="zh-CN" altLang="en-US" sz="1500" b="1" dirty="0">
                <a:solidFill>
                  <a:srgbClr val="FF0000"/>
                </a:solidFill>
              </a:rPr>
              <a:t>可测试的、可扩充的</a:t>
            </a:r>
            <a:r>
              <a:rPr lang="zh-CN" altLang="en-US" sz="1500" b="1" dirty="0"/>
              <a:t>。</a:t>
            </a:r>
          </a:p>
        </p:txBody>
      </p:sp>
      <p:sp>
        <p:nvSpPr>
          <p:cNvPr id="9" name="矩形 8">
            <a:extLst>
              <a:ext uri="{FF2B5EF4-FFF2-40B4-BE49-F238E27FC236}">
                <a16:creationId xmlns:a16="http://schemas.microsoft.com/office/drawing/2014/main" id="{81D03E0D-CC70-4C05-A6A9-DCEBE54393B8}"/>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F8BD3E26-613F-43DC-84D2-70ACDC4B276C}"/>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FDE69DEA-3678-46CA-BBDC-CE15C3AF8EB7}"/>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4EA09678-A4A7-46A6-BCC6-83E7898F6B95}"/>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1.4.4   </a:t>
            </a:r>
            <a:r>
              <a:rPr lang="zh-CN" altLang="en-US" sz="1650" b="1"/>
              <a:t>喷泉模型</a:t>
            </a:r>
          </a:p>
        </p:txBody>
      </p:sp>
      <p:pic>
        <p:nvPicPr>
          <p:cNvPr id="33797" name="Picture 2">
            <a:extLst>
              <a:ext uri="{FF2B5EF4-FFF2-40B4-BE49-F238E27FC236}">
                <a16:creationId xmlns:a16="http://schemas.microsoft.com/office/drawing/2014/main" id="{D7633E34-0CB5-47D7-98B6-B2B4FCB2C1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432" y="2362200"/>
            <a:ext cx="5917135" cy="395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DFDC9133-FBAC-4913-AC47-1006DF946914}"/>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B4779D8A-05D3-47CE-8DE0-507DEEB98BA0}"/>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AC43A648-9C91-4541-80AB-DB89952E0776}"/>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A149D936-2CC6-4C55-9E58-A6DB237F460D}"/>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1.4.4   </a:t>
            </a:r>
            <a:r>
              <a:rPr lang="zh-CN" altLang="en-US" sz="1650" b="1"/>
              <a:t>喷泉模型</a:t>
            </a:r>
          </a:p>
        </p:txBody>
      </p:sp>
      <p:sp>
        <p:nvSpPr>
          <p:cNvPr id="34821" name="Rectangle 3">
            <a:extLst>
              <a:ext uri="{FF2B5EF4-FFF2-40B4-BE49-F238E27FC236}">
                <a16:creationId xmlns:a16="http://schemas.microsoft.com/office/drawing/2014/main" id="{BBF4132C-7AAE-440E-BD6E-D3F6579183FB}"/>
              </a:ext>
            </a:extLst>
          </p:cNvPr>
          <p:cNvSpPr txBox="1">
            <a:spLocks noChangeArrowheads="1"/>
          </p:cNvSpPr>
          <p:nvPr/>
        </p:nvSpPr>
        <p:spPr bwMode="auto">
          <a:xfrm>
            <a:off x="891895" y="2348963"/>
            <a:ext cx="8000851" cy="351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622300">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spcBef>
                <a:spcPct val="20000"/>
              </a:spcBef>
            </a:pPr>
            <a:r>
              <a:rPr lang="zh-CN" altLang="en-US" sz="1500" b="1"/>
              <a:t>喷泉模型的主要特点：</a:t>
            </a:r>
          </a:p>
          <a:p>
            <a:pPr>
              <a:lnSpc>
                <a:spcPct val="150000"/>
              </a:lnSpc>
              <a:spcBef>
                <a:spcPct val="20000"/>
              </a:spcBef>
            </a:pPr>
            <a:r>
              <a:rPr lang="zh-CN" altLang="en-US" sz="1500" b="1"/>
              <a:t>（</a:t>
            </a:r>
            <a:r>
              <a:rPr lang="en-US" altLang="zh-CN" sz="1500" b="1"/>
              <a:t>1</a:t>
            </a:r>
            <a:r>
              <a:rPr lang="zh-CN" altLang="en-US" sz="1500" b="1"/>
              <a:t>）各阶段相互重叠，反映了软件过程的并行性。</a:t>
            </a:r>
          </a:p>
          <a:p>
            <a:pPr>
              <a:lnSpc>
                <a:spcPct val="150000"/>
              </a:lnSpc>
              <a:spcBef>
                <a:spcPct val="20000"/>
              </a:spcBef>
            </a:pPr>
            <a:r>
              <a:rPr lang="zh-CN" altLang="en-US" sz="1500" b="1"/>
              <a:t>（</a:t>
            </a:r>
            <a:r>
              <a:rPr lang="en-US" altLang="zh-CN" sz="1500" b="1"/>
              <a:t>2</a:t>
            </a:r>
            <a:r>
              <a:rPr lang="zh-CN" altLang="en-US" sz="1500" b="1"/>
              <a:t>）以分析为基础，资源消耗呈塔形，在分析阶段消耗资源最多。</a:t>
            </a:r>
          </a:p>
          <a:p>
            <a:pPr>
              <a:lnSpc>
                <a:spcPct val="150000"/>
              </a:lnSpc>
              <a:spcBef>
                <a:spcPct val="20000"/>
              </a:spcBef>
            </a:pPr>
            <a:r>
              <a:rPr lang="zh-CN" altLang="en-US" sz="1500" b="1"/>
              <a:t>（</a:t>
            </a:r>
            <a:r>
              <a:rPr lang="en-US" altLang="zh-CN" sz="1500" b="1"/>
              <a:t>3</a:t>
            </a:r>
            <a:r>
              <a:rPr lang="zh-CN" altLang="en-US" sz="1500" b="1"/>
              <a:t>）反映了软件过程迭代的自然特性，从高层返回低层无资源消耗。</a:t>
            </a:r>
          </a:p>
          <a:p>
            <a:pPr>
              <a:lnSpc>
                <a:spcPct val="150000"/>
              </a:lnSpc>
              <a:spcBef>
                <a:spcPct val="20000"/>
              </a:spcBef>
            </a:pPr>
            <a:r>
              <a:rPr lang="zh-CN" altLang="en-US" sz="1500" b="1"/>
              <a:t>（</a:t>
            </a:r>
            <a:r>
              <a:rPr lang="en-US" altLang="zh-CN" sz="1500" b="1"/>
              <a:t>4</a:t>
            </a:r>
            <a:r>
              <a:rPr lang="zh-CN" altLang="en-US" sz="1500" b="1"/>
              <a:t>）强调增量开发，依据分析一点、设计一点的原则，不要求一个阶段的彻底完成，整个过程是一个迭代的逐步提炼的过程。</a:t>
            </a:r>
          </a:p>
          <a:p>
            <a:pPr>
              <a:lnSpc>
                <a:spcPct val="150000"/>
              </a:lnSpc>
              <a:spcBef>
                <a:spcPct val="20000"/>
              </a:spcBef>
            </a:pPr>
            <a:r>
              <a:rPr lang="zh-CN" altLang="en-US" sz="1500" b="1"/>
              <a:t>（</a:t>
            </a:r>
            <a:r>
              <a:rPr lang="en-US" altLang="zh-CN" sz="1500" b="1"/>
              <a:t>5</a:t>
            </a:r>
            <a:r>
              <a:rPr lang="zh-CN" altLang="en-US" sz="1500" b="1"/>
              <a:t>）是对象驱动的过程，对象是所有活动作用的主体，也是项目管理的基本内容。</a:t>
            </a:r>
          </a:p>
        </p:txBody>
      </p:sp>
      <p:sp>
        <p:nvSpPr>
          <p:cNvPr id="9" name="矩形 8">
            <a:extLst>
              <a:ext uri="{FF2B5EF4-FFF2-40B4-BE49-F238E27FC236}">
                <a16:creationId xmlns:a16="http://schemas.microsoft.com/office/drawing/2014/main" id="{F3CE6D2B-19BC-4133-BE4B-A72E5F463A02}"/>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3FB126BB-F871-4915-8D14-AB16DEEB1C50}"/>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67F10C2C-D75E-4438-A8DD-DFBC618C6E81}"/>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8FCACD01-9C21-4E3F-A50A-6AB8902A2AB0}"/>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1.4.5   </a:t>
            </a:r>
            <a:r>
              <a:rPr lang="zh-CN" altLang="en-US" sz="1650" b="1"/>
              <a:t>螺旋模型</a:t>
            </a:r>
          </a:p>
        </p:txBody>
      </p:sp>
      <p:pic>
        <p:nvPicPr>
          <p:cNvPr id="35845" name="Picture 2">
            <a:extLst>
              <a:ext uri="{FF2B5EF4-FFF2-40B4-BE49-F238E27FC236}">
                <a16:creationId xmlns:a16="http://schemas.microsoft.com/office/drawing/2014/main" id="{E0706ACC-BD91-4B94-9954-C2424D4094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393" y="2207260"/>
            <a:ext cx="5635962" cy="442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A0E672B0-B168-4591-9EA8-3878C42283CF}"/>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619EE627-6C15-4A0D-993E-E6D72F9F91AF}"/>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827996BF-8909-40DF-AA49-08F60E8E3032}"/>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FFC9DCC5-9AF2-4396-BAEE-8D463DEA700F}"/>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a:t>1.4.5   </a:t>
            </a:r>
            <a:r>
              <a:rPr lang="zh-CN" altLang="en-US" sz="1650" b="1"/>
              <a:t>螺旋模型</a:t>
            </a:r>
          </a:p>
        </p:txBody>
      </p:sp>
      <p:pic>
        <p:nvPicPr>
          <p:cNvPr id="36869" name="Picture 2">
            <a:extLst>
              <a:ext uri="{FF2B5EF4-FFF2-40B4-BE49-F238E27FC236}">
                <a16:creationId xmlns:a16="http://schemas.microsoft.com/office/drawing/2014/main" id="{16358E55-DCEA-4B2D-8D34-921836F00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518" y="2510909"/>
            <a:ext cx="7307818" cy="25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DBF4E07B-09B2-486D-9D73-C99D81E30E36}"/>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AC2F2164-5B7D-4998-9716-215775F8CEBA}"/>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3">
            <a:extLst>
              <a:ext uri="{FF2B5EF4-FFF2-40B4-BE49-F238E27FC236}">
                <a16:creationId xmlns:a16="http://schemas.microsoft.com/office/drawing/2014/main" id="{67F10C2C-D75E-4438-A8DD-DFBC618C6E81}"/>
              </a:ext>
            </a:extLst>
          </p:cNvPr>
          <p:cNvSpPr>
            <a:spLocks noChangeShapeType="1"/>
          </p:cNvSpPr>
          <p:nvPr/>
        </p:nvSpPr>
        <p:spPr bwMode="auto">
          <a:xfrm>
            <a:off x="575148" y="2187017"/>
            <a:ext cx="23220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4">
            <a:extLst>
              <a:ext uri="{FF2B5EF4-FFF2-40B4-BE49-F238E27FC236}">
                <a16:creationId xmlns:a16="http://schemas.microsoft.com/office/drawing/2014/main" id="{8FCACD01-9C21-4E3F-A50A-6AB8902A2AB0}"/>
              </a:ext>
            </a:extLst>
          </p:cNvPr>
          <p:cNvSpPr txBox="1">
            <a:spLocks noChangeArrowheads="1"/>
          </p:cNvSpPr>
          <p:nvPr/>
        </p:nvSpPr>
        <p:spPr bwMode="auto">
          <a:xfrm>
            <a:off x="790678" y="1758336"/>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dirty="0"/>
              <a:t>1.4.6   Rational</a:t>
            </a:r>
            <a:r>
              <a:rPr lang="zh-CN" altLang="en-US" sz="1650" b="1" dirty="0"/>
              <a:t>统一过程</a:t>
            </a:r>
          </a:p>
        </p:txBody>
      </p:sp>
      <p:sp>
        <p:nvSpPr>
          <p:cNvPr id="9" name="矩形 8">
            <a:extLst>
              <a:ext uri="{FF2B5EF4-FFF2-40B4-BE49-F238E27FC236}">
                <a16:creationId xmlns:a16="http://schemas.microsoft.com/office/drawing/2014/main" id="{A0E672B0-B168-4591-9EA8-3878C42283CF}"/>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11" name="矩形 17">
            <a:extLst>
              <a:ext uri="{FF2B5EF4-FFF2-40B4-BE49-F238E27FC236}">
                <a16:creationId xmlns:a16="http://schemas.microsoft.com/office/drawing/2014/main" id="{619EE627-6C15-4A0D-993E-E6D72F9F91AF}"/>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12" name="文本框 11">
            <a:extLst>
              <a:ext uri="{FF2B5EF4-FFF2-40B4-BE49-F238E27FC236}">
                <a16:creationId xmlns:a16="http://schemas.microsoft.com/office/drawing/2014/main" id="{C9FADF58-04BC-4EC6-A1E0-70E0E3A134FF}"/>
              </a:ext>
            </a:extLst>
          </p:cNvPr>
          <p:cNvSpPr txBox="1"/>
          <p:nvPr/>
        </p:nvSpPr>
        <p:spPr>
          <a:xfrm>
            <a:off x="838200" y="2514600"/>
            <a:ext cx="7543800" cy="1477328"/>
          </a:xfrm>
          <a:prstGeom prst="rect">
            <a:avLst/>
          </a:prstGeom>
          <a:noFill/>
        </p:spPr>
        <p:txBody>
          <a:bodyPr wrap="square">
            <a:spAutoFit/>
          </a:bodyPr>
          <a:lstStyle/>
          <a:p>
            <a:r>
              <a:rPr lang="en-US" altLang="zh-CN" sz="1800" dirty="0">
                <a:ea typeface="经典宋体简" charset="-122"/>
              </a:rPr>
              <a:t>Rational</a:t>
            </a:r>
            <a:r>
              <a:rPr lang="zh-CN" altLang="zh-CN" sz="1800" dirty="0">
                <a:ea typeface="经典宋体简" charset="-122"/>
              </a:rPr>
              <a:t>统一过程（</a:t>
            </a:r>
            <a:r>
              <a:rPr lang="en-US" altLang="zh-CN" sz="1800" dirty="0">
                <a:ea typeface="经典宋体简" charset="-122"/>
              </a:rPr>
              <a:t>Rational Unified </a:t>
            </a:r>
            <a:r>
              <a:rPr lang="en-US" altLang="zh-CN" sz="1800" dirty="0" err="1">
                <a:ea typeface="经典宋体简" charset="-122"/>
              </a:rPr>
              <a:t>Process,</a:t>
            </a:r>
            <a:r>
              <a:rPr lang="en-US" altLang="zh-CN" sz="1800" b="1" dirty="0" err="1">
                <a:ea typeface="经典宋体简" charset="-122"/>
              </a:rPr>
              <a:t>RUP</a:t>
            </a:r>
            <a:r>
              <a:rPr lang="zh-CN" altLang="zh-CN" sz="1800" dirty="0">
                <a:ea typeface="经典宋体简" charset="-122"/>
              </a:rPr>
              <a:t>）是由</a:t>
            </a:r>
            <a:r>
              <a:rPr lang="en-US" altLang="zh-CN" sz="1800" dirty="0">
                <a:ea typeface="经典宋体简" charset="-122"/>
              </a:rPr>
              <a:t>Rational</a:t>
            </a:r>
            <a:r>
              <a:rPr lang="zh-CN" altLang="zh-CN" sz="1800" dirty="0">
                <a:ea typeface="经典宋体简" charset="-122"/>
              </a:rPr>
              <a:t>软件公司推出的一种完整而且完美的软件过程。</a:t>
            </a:r>
          </a:p>
          <a:p>
            <a:endParaRPr lang="en-US" altLang="zh-CN" sz="1800" dirty="0">
              <a:ea typeface="经典宋体简" charset="-122"/>
            </a:endParaRPr>
          </a:p>
          <a:p>
            <a:r>
              <a:rPr lang="en-US" altLang="zh-CN" sz="1800" dirty="0">
                <a:ea typeface="经典宋体简" charset="-122"/>
              </a:rPr>
              <a:t>RUP</a:t>
            </a:r>
            <a:r>
              <a:rPr lang="zh-CN" altLang="zh-CN" sz="1800" dirty="0">
                <a:ea typeface="经典宋体简" charset="-122"/>
              </a:rPr>
              <a:t>总结了经过多年商业化验证的</a:t>
            </a:r>
            <a:r>
              <a:rPr lang="en-US" altLang="zh-CN" sz="1800" dirty="0">
                <a:ea typeface="经典宋体简" charset="-122"/>
              </a:rPr>
              <a:t>6</a:t>
            </a:r>
            <a:r>
              <a:rPr lang="zh-CN" altLang="zh-CN" sz="1800" dirty="0">
                <a:ea typeface="经典宋体简" charset="-122"/>
              </a:rPr>
              <a:t>条最有效的软件开发经验，这些经验被称为“最佳实践”。</a:t>
            </a:r>
          </a:p>
        </p:txBody>
      </p:sp>
    </p:spTree>
    <p:extLst>
      <p:ext uri="{BB962C8B-B14F-4D97-AF65-F5344CB8AC3E}">
        <p14:creationId xmlns:p14="http://schemas.microsoft.com/office/powerpoint/2010/main" val="192376016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Left)">
                                      <p:cBhvr>
                                        <p:cTn id="7" dur="1000"/>
                                        <p:tgtEl>
                                          <p:spTgt spid="8"/>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500"/>
                                        <p:tgtEl>
                                          <p:spTgt spid="10"/>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Bottom)">
                                      <p:cBhvr>
                                        <p:cTn id="15" dur="500"/>
                                        <p:tgtEl>
                                          <p:spTgt spid="11"/>
                                        </p:tgtEl>
                                      </p:cBhvr>
                                    </p:animEffect>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0E23603-7D4E-45B4-948F-76E3AD1F6F58}"/>
              </a:ext>
            </a:extLst>
          </p:cNvPr>
          <p:cNvSpPr>
            <a:spLocks noGrp="1"/>
          </p:cNvSpPr>
          <p:nvPr>
            <p:ph type="sldNum" sz="quarter" idx="12"/>
          </p:nvPr>
        </p:nvSpPr>
        <p:spPr/>
        <p:txBody>
          <a:bodyPr/>
          <a:lstStyle/>
          <a:p>
            <a:fld id="{73403612-6C36-4613-9B91-854212E45B4D}" type="slidenum">
              <a:rPr lang="zh-CN" altLang="en-US" smtClean="0"/>
              <a:pPr/>
              <a:t>29</a:t>
            </a:fld>
            <a:endParaRPr lang="zh-CN" altLang="en-US"/>
          </a:p>
        </p:txBody>
      </p:sp>
      <p:sp>
        <p:nvSpPr>
          <p:cNvPr id="4" name="TextBox 7">
            <a:extLst>
              <a:ext uri="{FF2B5EF4-FFF2-40B4-BE49-F238E27FC236}">
                <a16:creationId xmlns:a16="http://schemas.microsoft.com/office/drawing/2014/main" id="{E9014256-FE08-4963-9F11-ECFC0087ADAC}"/>
              </a:ext>
            </a:extLst>
          </p:cNvPr>
          <p:cNvSpPr>
            <a:spLocks noChangeArrowheads="1"/>
          </p:cNvSpPr>
          <p:nvPr/>
        </p:nvSpPr>
        <p:spPr bwMode="auto">
          <a:xfrm>
            <a:off x="198833" y="1977163"/>
            <a:ext cx="8746331" cy="4267200"/>
          </a:xfrm>
          <a:prstGeom prst="roundRect">
            <a:avLst>
              <a:gd name="adj" fmla="val 5424"/>
            </a:avLst>
          </a:prstGeom>
          <a:solidFill>
            <a:srgbClr val="FFFFFF"/>
          </a:solidFill>
          <a:ln w="25400" cap="flat" algn="ctr">
            <a:solidFill>
              <a:srgbClr val="C0504D"/>
            </a:solidFill>
            <a:prstDash val="solid"/>
            <a:round/>
            <a:headEnd type="none" w="med" len="med"/>
            <a:tailEnd type="none" w="med" len="med"/>
          </a:ln>
        </p:spPr>
        <p:txBody>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buFontTx/>
              <a:buAutoNum type="circleNumDbPlain"/>
            </a:pPr>
            <a:r>
              <a:rPr lang="zh-CN" altLang="zh-CN" sz="2000" dirty="0">
                <a:ea typeface="经典宋体简" charset="-122"/>
              </a:rPr>
              <a:t>迭代式开发</a:t>
            </a:r>
          </a:p>
          <a:p>
            <a:r>
              <a:rPr lang="zh-CN" altLang="zh-CN" sz="2000" dirty="0">
                <a:ea typeface="经典宋体简" charset="-122"/>
              </a:rPr>
              <a:t>迭代式开发允许在每次迭代过程中需求都可以有变化，这种开发方法通过一系列细化来加深对问题的理解，因此能更容易地容纳需求的变更。</a:t>
            </a:r>
          </a:p>
          <a:p>
            <a:pPr>
              <a:buFontTx/>
              <a:buAutoNum type="circleNumDbPlain" startAt="2"/>
            </a:pPr>
            <a:r>
              <a:rPr lang="zh-CN" altLang="zh-CN" sz="2000" dirty="0">
                <a:ea typeface="经典宋体简" charset="-122"/>
              </a:rPr>
              <a:t>管理需求</a:t>
            </a:r>
          </a:p>
          <a:p>
            <a:r>
              <a:rPr lang="en-US" altLang="zh-CN" sz="2000" dirty="0">
                <a:ea typeface="经典宋体简" charset="-122"/>
              </a:rPr>
              <a:t>RUP</a:t>
            </a:r>
            <a:r>
              <a:rPr lang="zh-CN" altLang="zh-CN" sz="2000" dirty="0">
                <a:ea typeface="经典宋体简" charset="-122"/>
              </a:rPr>
              <a:t>描述了如何提取、组织系统的功能性需求和约束条件并把它们文档化。</a:t>
            </a:r>
            <a:endParaRPr lang="en-US" altLang="zh-CN" sz="2000" dirty="0">
              <a:ea typeface="经典宋体简" charset="-122"/>
            </a:endParaRPr>
          </a:p>
          <a:p>
            <a:pPr>
              <a:buFontTx/>
              <a:buAutoNum type="circleNumDbPlain" startAt="3"/>
            </a:pPr>
            <a:r>
              <a:rPr lang="zh-CN" altLang="zh-CN" sz="2000" dirty="0">
                <a:ea typeface="经典宋体简" charset="-122"/>
              </a:rPr>
              <a:t>使用基于构件的体系结构</a:t>
            </a:r>
          </a:p>
          <a:p>
            <a:r>
              <a:rPr lang="en-US" altLang="zh-CN" sz="2000" dirty="0">
                <a:ea typeface="经典宋体简" charset="-122"/>
              </a:rPr>
              <a:t>UP</a:t>
            </a:r>
            <a:r>
              <a:rPr lang="zh-CN" altLang="zh-CN" sz="2000" dirty="0">
                <a:ea typeface="经典宋体简" charset="-122"/>
              </a:rPr>
              <a:t>提供了使用现有的或新开发的构件定义体系结构的系统化方法，从而有助于降低软件开发的复杂性，提高软件重用率</a:t>
            </a:r>
            <a:r>
              <a:rPr lang="zh-CN" altLang="en-US" sz="2000" dirty="0">
                <a:ea typeface="经典宋体简" charset="-122"/>
              </a:rPr>
              <a:t>。</a:t>
            </a:r>
          </a:p>
          <a:p>
            <a:pPr>
              <a:buFontTx/>
              <a:buAutoNum type="circleNumDbPlain" startAt="4"/>
            </a:pPr>
            <a:r>
              <a:rPr lang="zh-CN" altLang="zh-CN" sz="2000" dirty="0">
                <a:ea typeface="经典宋体简" charset="-122"/>
              </a:rPr>
              <a:t>可视化建模</a:t>
            </a:r>
          </a:p>
          <a:p>
            <a:r>
              <a:rPr lang="zh-CN" altLang="zh-CN" sz="2000" dirty="0">
                <a:ea typeface="经典宋体简" charset="-122"/>
              </a:rPr>
              <a:t>可视化建模语言</a:t>
            </a:r>
            <a:r>
              <a:rPr lang="en-US" altLang="zh-CN" sz="2000" dirty="0">
                <a:ea typeface="经典宋体简" charset="-122"/>
              </a:rPr>
              <a:t>UML</a:t>
            </a:r>
            <a:r>
              <a:rPr lang="zh-CN" altLang="zh-CN" sz="2000" dirty="0">
                <a:ea typeface="经典宋体简" charset="-122"/>
              </a:rPr>
              <a:t>紧密地联系在一起，在开发过程中建立起软件系统的可视化模型，可以帮助人们提高管理软件复杂性的能力</a:t>
            </a:r>
            <a:endParaRPr lang="zh-CN" altLang="en-US" sz="2000" dirty="0">
              <a:ea typeface="经典宋体简" charset="-122"/>
            </a:endParaRPr>
          </a:p>
        </p:txBody>
      </p:sp>
      <p:sp>
        <p:nvSpPr>
          <p:cNvPr id="5" name="Text Box 14">
            <a:extLst>
              <a:ext uri="{FF2B5EF4-FFF2-40B4-BE49-F238E27FC236}">
                <a16:creationId xmlns:a16="http://schemas.microsoft.com/office/drawing/2014/main" id="{C4B3FF2D-8916-45BA-9C94-F722F33CD47D}"/>
              </a:ext>
            </a:extLst>
          </p:cNvPr>
          <p:cNvSpPr txBox="1">
            <a:spLocks noChangeArrowheads="1"/>
          </p:cNvSpPr>
          <p:nvPr/>
        </p:nvSpPr>
        <p:spPr bwMode="auto">
          <a:xfrm>
            <a:off x="682910" y="1524000"/>
            <a:ext cx="388908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b="1" dirty="0"/>
              <a:t>1.4.6   Rational</a:t>
            </a:r>
            <a:r>
              <a:rPr lang="zh-CN" altLang="en-US" sz="1650" b="1" dirty="0"/>
              <a:t>统一过程</a:t>
            </a:r>
          </a:p>
        </p:txBody>
      </p:sp>
      <p:sp>
        <p:nvSpPr>
          <p:cNvPr id="6" name="矩形 5">
            <a:extLst>
              <a:ext uri="{FF2B5EF4-FFF2-40B4-BE49-F238E27FC236}">
                <a16:creationId xmlns:a16="http://schemas.microsoft.com/office/drawing/2014/main" id="{C7BEEB24-83A8-4474-B8B9-8F511FCEE5F0}"/>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7" name="矩形 17">
            <a:extLst>
              <a:ext uri="{FF2B5EF4-FFF2-40B4-BE49-F238E27FC236}">
                <a16:creationId xmlns:a16="http://schemas.microsoft.com/office/drawing/2014/main" id="{4A35E9B8-A93B-4EE4-BBFF-B1F16D7EA48B}"/>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extLst>
      <p:ext uri="{BB962C8B-B14F-4D97-AF65-F5344CB8AC3E}">
        <p14:creationId xmlns:p14="http://schemas.microsoft.com/office/powerpoint/2010/main" val="311391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Bottom)">
                                      <p:cBhvr>
                                        <p:cTn id="11" dur="500"/>
                                        <p:tgtEl>
                                          <p:spTgt spid="7"/>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Lef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F47CEA03-DE59-43FD-BDF5-C91F8DD1FD49}"/>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4509D10B-F0C9-45AD-82F5-E6A819C418A6}"/>
              </a:ext>
            </a:extLst>
          </p:cNvPr>
          <p:cNvSpPr>
            <a:spLocks noGrp="1"/>
          </p:cNvSpPr>
          <p:nvPr>
            <p:ph type="sldNum" sz="quarter" idx="12"/>
          </p:nvPr>
        </p:nvSpPr>
        <p:spPr/>
        <p:txBody>
          <a:bodyPr/>
          <a:lstStyle/>
          <a:p>
            <a:fld id="{73403612-6C36-4613-9B91-854212E45B4D}" type="slidenum">
              <a:rPr lang="zh-CN" altLang="en-US" smtClean="0"/>
              <a:pPr/>
              <a:t>30</a:t>
            </a:fld>
            <a:endParaRPr lang="zh-CN" altLang="en-US"/>
          </a:p>
        </p:txBody>
      </p:sp>
      <p:sp>
        <p:nvSpPr>
          <p:cNvPr id="7" name="矩形 6">
            <a:extLst>
              <a:ext uri="{FF2B5EF4-FFF2-40B4-BE49-F238E27FC236}">
                <a16:creationId xmlns:a16="http://schemas.microsoft.com/office/drawing/2014/main" id="{BD7BF562-F707-48E3-BC36-D67F0C341BDF}"/>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8" name="矩形 17">
            <a:extLst>
              <a:ext uri="{FF2B5EF4-FFF2-40B4-BE49-F238E27FC236}">
                <a16:creationId xmlns:a16="http://schemas.microsoft.com/office/drawing/2014/main" id="{271B98E8-F477-4446-99FA-1070EE3124FB}"/>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pic>
        <p:nvPicPr>
          <p:cNvPr id="9" name="图片 3">
            <a:extLst>
              <a:ext uri="{FF2B5EF4-FFF2-40B4-BE49-F238E27FC236}">
                <a16:creationId xmlns:a16="http://schemas.microsoft.com/office/drawing/2014/main" id="{B7462A41-0E9A-4009-B72F-0492FFDC59C2}"/>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5400"/>
            <a:ext cx="7162800" cy="548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555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Left)">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66E51E4-1988-4769-8C4A-98F95248346F}"/>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D3386E46-C09A-4979-9658-B602636CDE9A}"/>
              </a:ext>
            </a:extLst>
          </p:cNvPr>
          <p:cNvSpPr>
            <a:spLocks noGrp="1"/>
          </p:cNvSpPr>
          <p:nvPr>
            <p:ph type="sldNum" sz="quarter" idx="12"/>
          </p:nvPr>
        </p:nvSpPr>
        <p:spPr/>
        <p:txBody>
          <a:bodyPr/>
          <a:lstStyle/>
          <a:p>
            <a:fld id="{73403612-6C36-4613-9B91-854212E45B4D}" type="slidenum">
              <a:rPr lang="zh-CN" altLang="en-US" smtClean="0"/>
              <a:pPr/>
              <a:t>31</a:t>
            </a:fld>
            <a:endParaRPr lang="zh-CN" altLang="en-US"/>
          </a:p>
        </p:txBody>
      </p:sp>
      <p:sp>
        <p:nvSpPr>
          <p:cNvPr id="4" name="矩形 3">
            <a:extLst>
              <a:ext uri="{FF2B5EF4-FFF2-40B4-BE49-F238E27FC236}">
                <a16:creationId xmlns:a16="http://schemas.microsoft.com/office/drawing/2014/main" id="{ADDDA1E4-72C9-424A-8254-00FA3FA09B7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5" name="矩形 17">
            <a:extLst>
              <a:ext uri="{FF2B5EF4-FFF2-40B4-BE49-F238E27FC236}">
                <a16:creationId xmlns:a16="http://schemas.microsoft.com/office/drawing/2014/main" id="{374457D2-C61A-4D67-83D0-310E13CD964D}"/>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6" name="Text Box 14">
            <a:extLst>
              <a:ext uri="{FF2B5EF4-FFF2-40B4-BE49-F238E27FC236}">
                <a16:creationId xmlns:a16="http://schemas.microsoft.com/office/drawing/2014/main" id="{1FDF0851-6D7B-4567-A0BD-E0352F5FC3EE}"/>
              </a:ext>
            </a:extLst>
          </p:cNvPr>
          <p:cNvSpPr txBox="1">
            <a:spLocks noChangeArrowheads="1"/>
          </p:cNvSpPr>
          <p:nvPr/>
        </p:nvSpPr>
        <p:spPr bwMode="auto">
          <a:xfrm>
            <a:off x="682910" y="1524000"/>
            <a:ext cx="7318090" cy="354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1.4.7   </a:t>
            </a:r>
            <a:r>
              <a:rPr lang="zh-CN" altLang="en-US" sz="1650" b="1" dirty="0"/>
              <a:t>敏捷开发</a:t>
            </a:r>
            <a:r>
              <a:rPr lang="zh-CN" altLang="en-US" b="1" dirty="0">
                <a:ea typeface="经典宋体简" charset="-122"/>
              </a:rPr>
              <a:t>：</a:t>
            </a:r>
          </a:p>
          <a:p>
            <a:pPr>
              <a:lnSpc>
                <a:spcPct val="150000"/>
              </a:lnSpc>
            </a:pPr>
            <a:r>
              <a:rPr lang="en-US" altLang="zh-CN" sz="2000" dirty="0">
                <a:ea typeface="经典宋体简" charset="-122"/>
              </a:rPr>
              <a:t>  </a:t>
            </a:r>
            <a:r>
              <a:rPr lang="zh-CN" altLang="zh-CN" sz="2000" dirty="0">
                <a:ea typeface="经典宋体简" charset="-122"/>
              </a:rPr>
              <a:t>敏捷过程为了使软件开发团队具有高效工作和快速响应变化的能力，</a:t>
            </a:r>
            <a:r>
              <a:rPr lang="en-US" altLang="zh-CN" sz="2000" dirty="0">
                <a:ea typeface="经典宋体简" charset="-122"/>
              </a:rPr>
              <a:t>17</a:t>
            </a:r>
            <a:r>
              <a:rPr lang="zh-CN" altLang="zh-CN" sz="2000" dirty="0">
                <a:ea typeface="经典宋体简" charset="-122"/>
              </a:rPr>
              <a:t>位著名的软件专家于</a:t>
            </a:r>
            <a:r>
              <a:rPr lang="en-US" altLang="zh-CN" sz="2000" dirty="0">
                <a:ea typeface="经典宋体简" charset="-122"/>
              </a:rPr>
              <a:t>2001</a:t>
            </a:r>
            <a:r>
              <a:rPr lang="zh-CN" altLang="zh-CN" sz="2000" dirty="0">
                <a:ea typeface="经典宋体简" charset="-122"/>
              </a:rPr>
              <a:t>年</a:t>
            </a:r>
            <a:r>
              <a:rPr lang="en-US" altLang="zh-CN" sz="2000" dirty="0">
                <a:ea typeface="经典宋体简" charset="-122"/>
              </a:rPr>
              <a:t>2</a:t>
            </a:r>
            <a:r>
              <a:rPr lang="zh-CN" altLang="zh-CN" sz="2000" dirty="0">
                <a:ea typeface="经典宋体简" charset="-122"/>
              </a:rPr>
              <a:t>月联合起草了敏捷软件开发宣言。敏捷软件开发宣言由下述</a:t>
            </a:r>
            <a:r>
              <a:rPr lang="en-US" altLang="zh-CN" sz="2000" dirty="0">
                <a:ea typeface="经典宋体简" charset="-122"/>
              </a:rPr>
              <a:t>4</a:t>
            </a:r>
            <a:r>
              <a:rPr lang="zh-CN" altLang="zh-CN" sz="2000" dirty="0">
                <a:ea typeface="经典宋体简" charset="-122"/>
              </a:rPr>
              <a:t>个简单的价值观声明组成。</a:t>
            </a:r>
          </a:p>
          <a:p>
            <a:pPr marL="800100" lvl="1" indent="-342900">
              <a:lnSpc>
                <a:spcPct val="150000"/>
              </a:lnSpc>
              <a:buFont typeface="Arial" panose="020B0604020202020204" pitchFamily="34" charset="0"/>
              <a:buChar char="•"/>
            </a:pPr>
            <a:r>
              <a:rPr lang="zh-CN" altLang="en-US" sz="2000" b="1" dirty="0">
                <a:ea typeface="经典宋体简" charset="-122"/>
              </a:rPr>
              <a:t>个体和交互</a:t>
            </a:r>
            <a:r>
              <a:rPr lang="zh-CN" altLang="en-US" sz="2000" dirty="0">
                <a:ea typeface="经典宋体简" charset="-122"/>
              </a:rPr>
              <a:t> 胜过 </a:t>
            </a:r>
            <a:r>
              <a:rPr lang="zh-CN" altLang="en-US" sz="2000" b="1" dirty="0">
                <a:ea typeface="经典宋体简" charset="-122"/>
              </a:rPr>
              <a:t>过程和工具</a:t>
            </a:r>
          </a:p>
          <a:p>
            <a:pPr marL="800100" lvl="1" indent="-342900">
              <a:lnSpc>
                <a:spcPct val="150000"/>
              </a:lnSpc>
              <a:buFont typeface="Arial" panose="020B0604020202020204" pitchFamily="34" charset="0"/>
              <a:buChar char="•"/>
            </a:pPr>
            <a:r>
              <a:rPr lang="zh-CN" altLang="en-US" sz="2000" b="1" dirty="0">
                <a:ea typeface="经典宋体简" charset="-122"/>
              </a:rPr>
              <a:t>可以工作的软件 </a:t>
            </a:r>
            <a:r>
              <a:rPr lang="zh-CN" altLang="en-US" sz="2000" dirty="0">
                <a:ea typeface="经典宋体简" charset="-122"/>
              </a:rPr>
              <a:t>胜过 </a:t>
            </a:r>
            <a:r>
              <a:rPr lang="zh-CN" altLang="en-US" sz="2000" b="1" dirty="0">
                <a:ea typeface="经典宋体简" charset="-122"/>
              </a:rPr>
              <a:t>面面俱到的文档</a:t>
            </a:r>
          </a:p>
          <a:p>
            <a:pPr marL="800100" lvl="1" indent="-342900">
              <a:lnSpc>
                <a:spcPct val="150000"/>
              </a:lnSpc>
              <a:buFont typeface="Arial" panose="020B0604020202020204" pitchFamily="34" charset="0"/>
              <a:buChar char="•"/>
            </a:pPr>
            <a:r>
              <a:rPr lang="zh-CN" altLang="en-US" sz="2000" b="1" dirty="0">
                <a:ea typeface="经典宋体简" charset="-122"/>
              </a:rPr>
              <a:t>客户合作 </a:t>
            </a:r>
            <a:r>
              <a:rPr lang="zh-CN" altLang="en-US" sz="2000" dirty="0">
                <a:ea typeface="经典宋体简" charset="-122"/>
              </a:rPr>
              <a:t>胜过 </a:t>
            </a:r>
            <a:r>
              <a:rPr lang="zh-CN" altLang="en-US" sz="2000" b="1" dirty="0">
                <a:ea typeface="经典宋体简" charset="-122"/>
              </a:rPr>
              <a:t>合同谈判</a:t>
            </a:r>
          </a:p>
          <a:p>
            <a:pPr marL="800100" lvl="1" indent="-342900">
              <a:lnSpc>
                <a:spcPct val="150000"/>
              </a:lnSpc>
              <a:buFont typeface="Arial" panose="020B0604020202020204" pitchFamily="34" charset="0"/>
              <a:buChar char="•"/>
            </a:pPr>
            <a:r>
              <a:rPr lang="zh-CN" altLang="en-US" sz="2000" b="1" dirty="0">
                <a:ea typeface="经典宋体简" charset="-122"/>
              </a:rPr>
              <a:t>响应变化 </a:t>
            </a:r>
            <a:r>
              <a:rPr lang="zh-CN" altLang="en-US" sz="2000" dirty="0">
                <a:ea typeface="经典宋体简" charset="-122"/>
              </a:rPr>
              <a:t>胜过 </a:t>
            </a:r>
            <a:r>
              <a:rPr lang="zh-CN" altLang="en-US" sz="2000" b="1" dirty="0">
                <a:ea typeface="经典宋体简" charset="-122"/>
              </a:rPr>
              <a:t>遵循计划</a:t>
            </a:r>
          </a:p>
        </p:txBody>
      </p:sp>
    </p:spTree>
    <p:extLst>
      <p:ext uri="{BB962C8B-B14F-4D97-AF65-F5344CB8AC3E}">
        <p14:creationId xmlns:p14="http://schemas.microsoft.com/office/powerpoint/2010/main" val="129070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Left)">
                                      <p:cBhvr>
                                        <p:cTn id="11" dur="500"/>
                                        <p:tgtEl>
                                          <p:spTgt spid="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Bottom)">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0CB42D8-87A4-4DE4-8AB5-21B328957F37}"/>
              </a:ext>
            </a:extLst>
          </p:cNvPr>
          <p:cNvSpPr>
            <a:spLocks noGrp="1"/>
          </p:cNvSpPr>
          <p:nvPr>
            <p:ph type="sldNum" sz="quarter" idx="12"/>
          </p:nvPr>
        </p:nvSpPr>
        <p:spPr/>
        <p:txBody>
          <a:bodyPr/>
          <a:lstStyle/>
          <a:p>
            <a:fld id="{73403612-6C36-4613-9B91-854212E45B4D}" type="slidenum">
              <a:rPr lang="zh-CN" altLang="en-US" smtClean="0"/>
              <a:pPr/>
              <a:t>32</a:t>
            </a:fld>
            <a:endParaRPr lang="zh-CN" altLang="en-US"/>
          </a:p>
        </p:txBody>
      </p:sp>
      <p:pic>
        <p:nvPicPr>
          <p:cNvPr id="40962" name="Picture 2">
            <a:extLst>
              <a:ext uri="{FF2B5EF4-FFF2-40B4-BE49-F238E27FC236}">
                <a16:creationId xmlns:a16="http://schemas.microsoft.com/office/drawing/2014/main" id="{E37F48E4-A4FB-428D-8B88-488BFB7B4F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0" t="2395" r="21667"/>
          <a:stretch/>
        </p:blipFill>
        <p:spPr bwMode="auto">
          <a:xfrm>
            <a:off x="682910" y="2133600"/>
            <a:ext cx="7513413" cy="37338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505888E9-2ACD-4C89-B649-4D736EA7B5E8}"/>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6" name="矩形 17">
            <a:extLst>
              <a:ext uri="{FF2B5EF4-FFF2-40B4-BE49-F238E27FC236}">
                <a16:creationId xmlns:a16="http://schemas.microsoft.com/office/drawing/2014/main" id="{6F6992D7-0BAE-4E3E-973D-94F804437B3B}"/>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7" name="Text Box 14">
            <a:extLst>
              <a:ext uri="{FF2B5EF4-FFF2-40B4-BE49-F238E27FC236}">
                <a16:creationId xmlns:a16="http://schemas.microsoft.com/office/drawing/2014/main" id="{F3B586C9-BE2E-4D78-A136-B7B9C7400E12}"/>
              </a:ext>
            </a:extLst>
          </p:cNvPr>
          <p:cNvSpPr txBox="1">
            <a:spLocks noChangeArrowheads="1"/>
          </p:cNvSpPr>
          <p:nvPr/>
        </p:nvSpPr>
        <p:spPr bwMode="auto">
          <a:xfrm>
            <a:off x="682910" y="1524000"/>
            <a:ext cx="7318090" cy="773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1.4.7   </a:t>
            </a:r>
            <a:r>
              <a:rPr lang="zh-CN" altLang="en-US" sz="1650" b="1" dirty="0"/>
              <a:t>敏捷开发</a:t>
            </a:r>
            <a:r>
              <a:rPr lang="zh-CN" altLang="en-US" b="1" dirty="0">
                <a:ea typeface="经典宋体简" charset="-122"/>
              </a:rPr>
              <a:t>：</a:t>
            </a:r>
          </a:p>
          <a:p>
            <a:pPr>
              <a:lnSpc>
                <a:spcPct val="150000"/>
              </a:lnSpc>
            </a:pPr>
            <a:r>
              <a:rPr lang="en-US" altLang="zh-CN" sz="2000" dirty="0">
                <a:ea typeface="经典宋体简" charset="-122"/>
              </a:rPr>
              <a:t>  </a:t>
            </a:r>
            <a:endParaRPr lang="zh-CN" altLang="en-US" sz="2000" b="1" dirty="0">
              <a:ea typeface="经典宋体简" charset="-122"/>
            </a:endParaRPr>
          </a:p>
        </p:txBody>
      </p:sp>
    </p:spTree>
    <p:extLst>
      <p:ext uri="{BB962C8B-B14F-4D97-AF65-F5344CB8AC3E}">
        <p14:creationId xmlns:p14="http://schemas.microsoft.com/office/powerpoint/2010/main" val="81729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lide(fromBottom)">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66E51E4-1988-4769-8C4A-98F95248346F}"/>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D3386E46-C09A-4979-9658-B602636CDE9A}"/>
              </a:ext>
            </a:extLst>
          </p:cNvPr>
          <p:cNvSpPr>
            <a:spLocks noGrp="1"/>
          </p:cNvSpPr>
          <p:nvPr>
            <p:ph type="sldNum" sz="quarter" idx="12"/>
          </p:nvPr>
        </p:nvSpPr>
        <p:spPr/>
        <p:txBody>
          <a:bodyPr/>
          <a:lstStyle/>
          <a:p>
            <a:fld id="{73403612-6C36-4613-9B91-854212E45B4D}" type="slidenum">
              <a:rPr lang="zh-CN" altLang="en-US" smtClean="0"/>
              <a:pPr/>
              <a:t>33</a:t>
            </a:fld>
            <a:endParaRPr lang="zh-CN" altLang="en-US"/>
          </a:p>
        </p:txBody>
      </p:sp>
      <p:sp>
        <p:nvSpPr>
          <p:cNvPr id="4" name="矩形 3">
            <a:extLst>
              <a:ext uri="{FF2B5EF4-FFF2-40B4-BE49-F238E27FC236}">
                <a16:creationId xmlns:a16="http://schemas.microsoft.com/office/drawing/2014/main" id="{ADDDA1E4-72C9-424A-8254-00FA3FA09B7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5" name="矩形 17">
            <a:extLst>
              <a:ext uri="{FF2B5EF4-FFF2-40B4-BE49-F238E27FC236}">
                <a16:creationId xmlns:a16="http://schemas.microsoft.com/office/drawing/2014/main" id="{374457D2-C61A-4D67-83D0-310E13CD964D}"/>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6" name="Text Box 14">
            <a:extLst>
              <a:ext uri="{FF2B5EF4-FFF2-40B4-BE49-F238E27FC236}">
                <a16:creationId xmlns:a16="http://schemas.microsoft.com/office/drawing/2014/main" id="{1FDF0851-6D7B-4567-A0BD-E0352F5FC3EE}"/>
              </a:ext>
            </a:extLst>
          </p:cNvPr>
          <p:cNvSpPr txBox="1">
            <a:spLocks noChangeArrowheads="1"/>
          </p:cNvSpPr>
          <p:nvPr/>
        </p:nvSpPr>
        <p:spPr bwMode="auto">
          <a:xfrm>
            <a:off x="682910" y="1524000"/>
            <a:ext cx="7318090" cy="2622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1.4.8   </a:t>
            </a:r>
            <a:r>
              <a:rPr lang="zh-CN" altLang="en-US" sz="1650" b="1" dirty="0"/>
              <a:t>极限编程</a:t>
            </a:r>
            <a:r>
              <a:rPr lang="zh-CN" altLang="en-US" b="1" dirty="0">
                <a:ea typeface="经典宋体简" charset="-122"/>
              </a:rPr>
              <a:t>：</a:t>
            </a:r>
          </a:p>
          <a:p>
            <a:pPr>
              <a:lnSpc>
                <a:spcPct val="150000"/>
              </a:lnSpc>
            </a:pPr>
            <a:r>
              <a:rPr lang="zh-CN" altLang="en-US" sz="2000" dirty="0">
                <a:ea typeface="经典宋体简" charset="-122"/>
              </a:rPr>
              <a:t>极限编程（</a:t>
            </a:r>
            <a:r>
              <a:rPr lang="en-US" altLang="zh-CN" sz="2000" dirty="0" err="1">
                <a:ea typeface="经典宋体简" charset="-122"/>
              </a:rPr>
              <a:t>ExtremeProgramming</a:t>
            </a:r>
            <a:r>
              <a:rPr lang="zh-CN" altLang="en-US" sz="2000" dirty="0">
                <a:ea typeface="经典宋体简" charset="-122"/>
              </a:rPr>
              <a:t>，简称</a:t>
            </a:r>
            <a:r>
              <a:rPr lang="en-US" altLang="zh-CN" sz="2000" dirty="0">
                <a:ea typeface="经典宋体简" charset="-122"/>
              </a:rPr>
              <a:t>XP</a:t>
            </a:r>
            <a:r>
              <a:rPr lang="zh-CN" altLang="en-US" sz="2000" dirty="0">
                <a:ea typeface="经典宋体简" charset="-122"/>
              </a:rPr>
              <a:t>）是由</a:t>
            </a:r>
            <a:r>
              <a:rPr lang="en-US" altLang="zh-CN" sz="2000" dirty="0" err="1">
                <a:ea typeface="经典宋体简" charset="-122"/>
              </a:rPr>
              <a:t>KentBeck</a:t>
            </a:r>
            <a:r>
              <a:rPr lang="zh-CN" altLang="en-US" sz="2000" dirty="0">
                <a:ea typeface="经典宋体简" charset="-122"/>
              </a:rPr>
              <a:t>在</a:t>
            </a:r>
            <a:r>
              <a:rPr lang="en-US" altLang="zh-CN" sz="2000" dirty="0">
                <a:ea typeface="经典宋体简" charset="-122"/>
              </a:rPr>
              <a:t>1996</a:t>
            </a:r>
            <a:r>
              <a:rPr lang="zh-CN" altLang="en-US" sz="2000" dirty="0">
                <a:ea typeface="经典宋体简" charset="-122"/>
              </a:rPr>
              <a:t>年提出的，是一种软件工程方法学，是敏捷软件开发中可能是最富有成效的几种方法学之一。如同其他敏捷方法学，极限编程和传统方法学的本质不同在于它更强调可适应性能性以及面临的困难</a:t>
            </a:r>
            <a:r>
              <a:rPr lang="zh-CN" altLang="zh-CN" sz="2000" dirty="0">
                <a:ea typeface="经典宋体简" charset="-122"/>
              </a:rPr>
              <a:t>。</a:t>
            </a:r>
          </a:p>
        </p:txBody>
      </p:sp>
    </p:spTree>
    <p:extLst>
      <p:ext uri="{BB962C8B-B14F-4D97-AF65-F5344CB8AC3E}">
        <p14:creationId xmlns:p14="http://schemas.microsoft.com/office/powerpoint/2010/main" val="185308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Left)">
                                      <p:cBhvr>
                                        <p:cTn id="11" dur="500"/>
                                        <p:tgtEl>
                                          <p:spTgt spid="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Bottom)">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3386E46-C09A-4979-9658-B602636CDE9A}"/>
              </a:ext>
            </a:extLst>
          </p:cNvPr>
          <p:cNvSpPr>
            <a:spLocks noGrp="1"/>
          </p:cNvSpPr>
          <p:nvPr>
            <p:ph type="sldNum" sz="quarter" idx="12"/>
          </p:nvPr>
        </p:nvSpPr>
        <p:spPr/>
        <p:txBody>
          <a:bodyPr/>
          <a:lstStyle/>
          <a:p>
            <a:fld id="{73403612-6C36-4613-9B91-854212E45B4D}" type="slidenum">
              <a:rPr lang="zh-CN" altLang="en-US" smtClean="0"/>
              <a:pPr/>
              <a:t>34</a:t>
            </a:fld>
            <a:endParaRPr lang="zh-CN" altLang="en-US"/>
          </a:p>
        </p:txBody>
      </p:sp>
      <p:sp>
        <p:nvSpPr>
          <p:cNvPr id="4" name="矩形 3">
            <a:extLst>
              <a:ext uri="{FF2B5EF4-FFF2-40B4-BE49-F238E27FC236}">
                <a16:creationId xmlns:a16="http://schemas.microsoft.com/office/drawing/2014/main" id="{ADDDA1E4-72C9-424A-8254-00FA3FA09B7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5" name="矩形 17">
            <a:extLst>
              <a:ext uri="{FF2B5EF4-FFF2-40B4-BE49-F238E27FC236}">
                <a16:creationId xmlns:a16="http://schemas.microsoft.com/office/drawing/2014/main" id="{374457D2-C61A-4D67-83D0-310E13CD964D}"/>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6" name="Text Box 14">
            <a:extLst>
              <a:ext uri="{FF2B5EF4-FFF2-40B4-BE49-F238E27FC236}">
                <a16:creationId xmlns:a16="http://schemas.microsoft.com/office/drawing/2014/main" id="{1FDF0851-6D7B-4567-A0BD-E0352F5FC3EE}"/>
              </a:ext>
            </a:extLst>
          </p:cNvPr>
          <p:cNvSpPr txBox="1">
            <a:spLocks noChangeArrowheads="1"/>
          </p:cNvSpPr>
          <p:nvPr/>
        </p:nvSpPr>
        <p:spPr bwMode="auto">
          <a:xfrm>
            <a:off x="682910" y="1524000"/>
            <a:ext cx="7318090" cy="18132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1.4.8   </a:t>
            </a:r>
            <a:r>
              <a:rPr lang="zh-CN" altLang="en-US" sz="1650" b="1" dirty="0"/>
              <a:t>极限编程</a:t>
            </a:r>
            <a:r>
              <a:rPr lang="zh-CN" altLang="en-US" b="1" dirty="0">
                <a:ea typeface="经典宋体简" charset="-122"/>
              </a:rPr>
              <a:t>特点</a:t>
            </a:r>
          </a:p>
          <a:p>
            <a:pPr>
              <a:lnSpc>
                <a:spcPct val="150000"/>
              </a:lnSpc>
            </a:pPr>
            <a:r>
              <a:rPr lang="zh-CN" altLang="en-US" sz="1600" b="1" dirty="0">
                <a:ea typeface="经典宋体简" charset="-122"/>
              </a:rPr>
              <a:t>以人为本：</a:t>
            </a:r>
            <a:endParaRPr lang="zh-CN" altLang="en-US" sz="1600" dirty="0">
              <a:ea typeface="经典宋体简" charset="-122"/>
            </a:endParaRPr>
          </a:p>
          <a:p>
            <a:pPr>
              <a:lnSpc>
                <a:spcPct val="150000"/>
              </a:lnSpc>
            </a:pPr>
            <a:r>
              <a:rPr lang="zh-CN" altLang="en-US" sz="1600" dirty="0">
                <a:ea typeface="经典宋体简" charset="-122"/>
              </a:rPr>
              <a:t>    极限编程认为团队成员是项目成功的关键因素。因此，它重视团队成员之间的沟通和协作，鼓励面对面的交流和即时反馈。</a:t>
            </a:r>
          </a:p>
          <a:p>
            <a:pPr>
              <a:lnSpc>
                <a:spcPct val="150000"/>
              </a:lnSpc>
            </a:pPr>
            <a:endParaRPr lang="zh-CN" altLang="en-US" sz="1600" dirty="0">
              <a:ea typeface="经典宋体简" charset="-122"/>
            </a:endParaRPr>
          </a:p>
          <a:p>
            <a:pPr>
              <a:lnSpc>
                <a:spcPct val="150000"/>
              </a:lnSpc>
            </a:pPr>
            <a:r>
              <a:rPr lang="zh-CN" altLang="en-US" sz="1600" b="1" dirty="0">
                <a:ea typeface="经典宋体简" charset="-122"/>
              </a:rPr>
              <a:t>简单设计：</a:t>
            </a:r>
            <a:endParaRPr lang="zh-CN" altLang="en-US" sz="1600" dirty="0">
              <a:ea typeface="经典宋体简" charset="-122"/>
            </a:endParaRPr>
          </a:p>
          <a:p>
            <a:pPr>
              <a:lnSpc>
                <a:spcPct val="150000"/>
              </a:lnSpc>
            </a:pPr>
            <a:r>
              <a:rPr lang="zh-CN" altLang="en-US" sz="1600" dirty="0">
                <a:ea typeface="经典宋体简" charset="-122"/>
              </a:rPr>
              <a:t>    在</a:t>
            </a:r>
            <a:r>
              <a:rPr lang="en-US" altLang="zh-CN" sz="1600" dirty="0">
                <a:ea typeface="经典宋体简" charset="-122"/>
              </a:rPr>
              <a:t>XP</a:t>
            </a:r>
            <a:r>
              <a:rPr lang="zh-CN" altLang="en-US" sz="1600" dirty="0">
                <a:ea typeface="经典宋体简" charset="-122"/>
              </a:rPr>
              <a:t>中，软件设计应保持尽可能简单，以应对需求的变化。这意味着开发者应该不断审视和优化代码，去除不必要的复杂性。</a:t>
            </a:r>
          </a:p>
          <a:p>
            <a:pPr>
              <a:lnSpc>
                <a:spcPct val="150000"/>
              </a:lnSpc>
            </a:pPr>
            <a:endParaRPr lang="zh-CN" altLang="en-US" sz="1600" dirty="0">
              <a:ea typeface="经典宋体简" charset="-122"/>
            </a:endParaRPr>
          </a:p>
          <a:p>
            <a:pPr>
              <a:lnSpc>
                <a:spcPct val="150000"/>
              </a:lnSpc>
            </a:pPr>
            <a:r>
              <a:rPr lang="zh-CN" altLang="en-US" sz="1600" b="1" dirty="0">
                <a:ea typeface="经典宋体简" charset="-122"/>
              </a:rPr>
              <a:t>结对编程：</a:t>
            </a:r>
            <a:endParaRPr lang="zh-CN" altLang="en-US" sz="1600" dirty="0">
              <a:ea typeface="经典宋体简" charset="-122"/>
            </a:endParaRPr>
          </a:p>
          <a:p>
            <a:pPr>
              <a:lnSpc>
                <a:spcPct val="150000"/>
              </a:lnSpc>
            </a:pPr>
            <a:r>
              <a:rPr lang="zh-CN" altLang="en-US" sz="1600" dirty="0">
                <a:ea typeface="经典宋体简" charset="-122"/>
              </a:rPr>
              <a:t>    结对编程是</a:t>
            </a:r>
            <a:r>
              <a:rPr lang="en-US" altLang="zh-CN" sz="1600" dirty="0">
                <a:ea typeface="经典宋体简" charset="-122"/>
              </a:rPr>
              <a:t>XP</a:t>
            </a:r>
            <a:r>
              <a:rPr lang="zh-CN" altLang="en-US" sz="1600" dirty="0">
                <a:ea typeface="经典宋体简" charset="-122"/>
              </a:rPr>
              <a:t>的核心实践之一，即两个程序员共用一台计算机编写代码。这种方法有助于知识共享、减少错误和提高代码质量。</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持续集成：</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持续集成要求团队频繁地将新编写的代码合并到主分支中，并进行自动化测试和构建。这有助于早期发现问题，确保系统的稳定性。</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短周期迭代：</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XP</a:t>
            </a:r>
            <a:r>
              <a:rPr lang="zh-CN" altLang="en-US" sz="1600" dirty="0">
                <a:ea typeface="经典宋体简" charset="-122"/>
              </a:rPr>
              <a:t>采用短周期的迭代开发模式，每个迭代通常持续一到两周。在每个迭代结束时，团队都会展示可工作的软件增量，以便客户提供反馈。</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代码重构：</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重构是指在不改变软件外部行为的前提下，对其内部结构进行优化和改进。</a:t>
            </a:r>
            <a:r>
              <a:rPr lang="en-US" altLang="zh-CN" sz="1600" dirty="0">
                <a:ea typeface="经典宋体简" charset="-122"/>
              </a:rPr>
              <a:t>XP</a:t>
            </a:r>
            <a:r>
              <a:rPr lang="zh-CN" altLang="en-US" sz="1600" dirty="0">
                <a:ea typeface="经典宋体简" charset="-122"/>
              </a:rPr>
              <a:t>鼓励开发者在必要时进行重构，以保持代码的清晰和可维护性。</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测试驱动开发（</a:t>
            </a:r>
            <a:r>
              <a:rPr lang="en-US" altLang="zh-CN" sz="1600" dirty="0">
                <a:ea typeface="经典宋体简" charset="-122"/>
              </a:rPr>
              <a:t>TDD</a:t>
            </a:r>
            <a:r>
              <a:rPr lang="zh-CN" altLang="en-US" sz="1600" dirty="0">
                <a:ea typeface="经典宋体简" charset="-122"/>
              </a:rPr>
              <a:t>）：</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TDD</a:t>
            </a:r>
            <a:r>
              <a:rPr lang="zh-CN" altLang="en-US" sz="1600" dirty="0">
                <a:ea typeface="经典宋体简" charset="-122"/>
              </a:rPr>
              <a:t>是</a:t>
            </a:r>
            <a:r>
              <a:rPr lang="en-US" altLang="zh-CN" sz="1600" dirty="0">
                <a:ea typeface="经典宋体简" charset="-122"/>
              </a:rPr>
              <a:t>XP</a:t>
            </a:r>
            <a:r>
              <a:rPr lang="zh-CN" altLang="en-US" sz="1600" dirty="0">
                <a:ea typeface="经典宋体简" charset="-122"/>
              </a:rPr>
              <a:t>的另一个重要实践，它要求在编写功能代码之前先编写测试用例。这种方法有助于确保代码的正确性和可靠性。</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现场客户：</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现场客户是指客户或用户代表应该始终参与项目的开发过程，以便及时提供需求和反馈。这有助于确保开发的软件真正满足用户的需求。</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可持续的开发速度：</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XP</a:t>
            </a:r>
            <a:r>
              <a:rPr lang="zh-CN" altLang="en-US" sz="1600" dirty="0">
                <a:ea typeface="经典宋体简" charset="-122"/>
              </a:rPr>
              <a:t>强调保持可持续的开发速度，避免过度加班和赶工导致的质量问题。团队应该根据自身的实际情况和能力来制定合理的工作计划。</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开放的工作环境：</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极限编程提倡开放和透明的工作环境，鼓励团队成员之间以及与客户之间的坦诚交流。这有助于建立信任和理解，促进项目的顺利进行。</a:t>
            </a:r>
          </a:p>
          <a:p>
            <a:pPr>
              <a:lnSpc>
                <a:spcPct val="150000"/>
              </a:lnSpc>
            </a:pPr>
            <a:endParaRPr lang="zh-CN" altLang="en-US" sz="2000" dirty="0">
              <a:ea typeface="经典宋体简" charset="-122"/>
            </a:endParaRPr>
          </a:p>
        </p:txBody>
      </p:sp>
    </p:spTree>
    <p:extLst>
      <p:ext uri="{BB962C8B-B14F-4D97-AF65-F5344CB8AC3E}">
        <p14:creationId xmlns:p14="http://schemas.microsoft.com/office/powerpoint/2010/main" val="350371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Left)">
                                      <p:cBhvr>
                                        <p:cTn id="11" dur="500"/>
                                        <p:tgtEl>
                                          <p:spTgt spid="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Bottom)">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3386E46-C09A-4979-9658-B602636CDE9A}"/>
              </a:ext>
            </a:extLst>
          </p:cNvPr>
          <p:cNvSpPr>
            <a:spLocks noGrp="1"/>
          </p:cNvSpPr>
          <p:nvPr>
            <p:ph type="sldNum" sz="quarter" idx="12"/>
          </p:nvPr>
        </p:nvSpPr>
        <p:spPr/>
        <p:txBody>
          <a:bodyPr/>
          <a:lstStyle/>
          <a:p>
            <a:fld id="{73403612-6C36-4613-9B91-854212E45B4D}" type="slidenum">
              <a:rPr lang="zh-CN" altLang="en-US" smtClean="0"/>
              <a:pPr/>
              <a:t>35</a:t>
            </a:fld>
            <a:endParaRPr lang="zh-CN" altLang="en-US"/>
          </a:p>
        </p:txBody>
      </p:sp>
      <p:sp>
        <p:nvSpPr>
          <p:cNvPr id="4" name="矩形 3">
            <a:extLst>
              <a:ext uri="{FF2B5EF4-FFF2-40B4-BE49-F238E27FC236}">
                <a16:creationId xmlns:a16="http://schemas.microsoft.com/office/drawing/2014/main" id="{ADDDA1E4-72C9-424A-8254-00FA3FA09B7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5" name="矩形 17">
            <a:extLst>
              <a:ext uri="{FF2B5EF4-FFF2-40B4-BE49-F238E27FC236}">
                <a16:creationId xmlns:a16="http://schemas.microsoft.com/office/drawing/2014/main" id="{374457D2-C61A-4D67-83D0-310E13CD964D}"/>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6" name="Text Box 14">
            <a:extLst>
              <a:ext uri="{FF2B5EF4-FFF2-40B4-BE49-F238E27FC236}">
                <a16:creationId xmlns:a16="http://schemas.microsoft.com/office/drawing/2014/main" id="{1FDF0851-6D7B-4567-A0BD-E0352F5FC3EE}"/>
              </a:ext>
            </a:extLst>
          </p:cNvPr>
          <p:cNvSpPr txBox="1">
            <a:spLocks noChangeArrowheads="1"/>
          </p:cNvSpPr>
          <p:nvPr/>
        </p:nvSpPr>
        <p:spPr bwMode="auto">
          <a:xfrm>
            <a:off x="682910" y="1524000"/>
            <a:ext cx="7318090" cy="12223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1.4.8   </a:t>
            </a:r>
            <a:r>
              <a:rPr lang="zh-CN" altLang="en-US" sz="1650" b="1" dirty="0"/>
              <a:t>极限编程</a:t>
            </a:r>
            <a:r>
              <a:rPr lang="zh-CN" altLang="en-US" b="1" dirty="0">
                <a:ea typeface="经典宋体简" charset="-122"/>
              </a:rPr>
              <a:t>特点</a:t>
            </a:r>
          </a:p>
          <a:p>
            <a:pPr>
              <a:lnSpc>
                <a:spcPct val="150000"/>
              </a:lnSpc>
            </a:pPr>
            <a:r>
              <a:rPr lang="zh-CN" altLang="en-US" sz="1600" b="1" dirty="0">
                <a:ea typeface="经典宋体简" charset="-122"/>
              </a:rPr>
              <a:t>持续集成：</a:t>
            </a:r>
            <a:endParaRPr lang="zh-CN" altLang="en-US" sz="1600" dirty="0">
              <a:ea typeface="经典宋体简" charset="-122"/>
            </a:endParaRPr>
          </a:p>
          <a:p>
            <a:pPr>
              <a:lnSpc>
                <a:spcPct val="150000"/>
              </a:lnSpc>
            </a:pPr>
            <a:r>
              <a:rPr lang="zh-CN" altLang="en-US" sz="1600" dirty="0">
                <a:ea typeface="经典宋体简" charset="-122"/>
              </a:rPr>
              <a:t>    持续集成要求团队频繁地将新编写的代码合并到主分支中，并进行自动化测试和构建。这有助于早期发现问题，确保系统的稳定性。</a:t>
            </a:r>
          </a:p>
          <a:p>
            <a:pPr>
              <a:lnSpc>
                <a:spcPct val="150000"/>
              </a:lnSpc>
            </a:pPr>
            <a:endParaRPr lang="zh-CN" altLang="en-US" sz="1600" dirty="0">
              <a:ea typeface="经典宋体简" charset="-122"/>
            </a:endParaRPr>
          </a:p>
          <a:p>
            <a:pPr>
              <a:lnSpc>
                <a:spcPct val="150000"/>
              </a:lnSpc>
            </a:pPr>
            <a:r>
              <a:rPr lang="zh-CN" altLang="en-US" sz="1600" b="1" dirty="0">
                <a:ea typeface="经典宋体简" charset="-122"/>
              </a:rPr>
              <a:t>短周期迭代：</a:t>
            </a: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XP</a:t>
            </a:r>
            <a:r>
              <a:rPr lang="zh-CN" altLang="en-US" sz="1600" dirty="0">
                <a:ea typeface="经典宋体简" charset="-122"/>
              </a:rPr>
              <a:t>采用短周期的迭代开发模式，每个迭代通常持续一到两周。在每个迭代结束时，团队都会展示可工作的软件增量，以便客户提供反馈。</a:t>
            </a:r>
          </a:p>
          <a:p>
            <a:pPr>
              <a:lnSpc>
                <a:spcPct val="150000"/>
              </a:lnSpc>
            </a:pPr>
            <a:endParaRPr lang="zh-CN" altLang="en-US" sz="1600" b="1" dirty="0">
              <a:ea typeface="经典宋体简" charset="-122"/>
            </a:endParaRPr>
          </a:p>
          <a:p>
            <a:pPr>
              <a:lnSpc>
                <a:spcPct val="150000"/>
              </a:lnSpc>
            </a:pPr>
            <a:r>
              <a:rPr lang="zh-CN" altLang="en-US" sz="1600" b="1" dirty="0">
                <a:ea typeface="经典宋体简" charset="-122"/>
              </a:rPr>
              <a:t>代码重构：</a:t>
            </a:r>
            <a:endParaRPr lang="zh-CN" altLang="en-US" sz="1600" dirty="0">
              <a:ea typeface="经典宋体简" charset="-122"/>
            </a:endParaRPr>
          </a:p>
          <a:p>
            <a:pPr>
              <a:lnSpc>
                <a:spcPct val="150000"/>
              </a:lnSpc>
            </a:pPr>
            <a:r>
              <a:rPr lang="zh-CN" altLang="en-US" sz="1600" dirty="0">
                <a:ea typeface="经典宋体简" charset="-122"/>
              </a:rPr>
              <a:t>    重构是指在不改变软件外部行为的前提下，对其内部结构进行优化和改进。</a:t>
            </a:r>
            <a:r>
              <a:rPr lang="en-US" altLang="zh-CN" sz="1600" dirty="0">
                <a:ea typeface="经典宋体简" charset="-122"/>
              </a:rPr>
              <a:t>XP</a:t>
            </a:r>
            <a:r>
              <a:rPr lang="zh-CN" altLang="en-US" sz="1600" dirty="0">
                <a:ea typeface="经典宋体简" charset="-122"/>
              </a:rPr>
              <a:t>鼓励开发者在必要时进行重构，以保持代码的清晰和可维护性。</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测试驱动开发（</a:t>
            </a:r>
            <a:r>
              <a:rPr lang="en-US" altLang="zh-CN" sz="1600" dirty="0">
                <a:ea typeface="经典宋体简" charset="-122"/>
              </a:rPr>
              <a:t>TDD</a:t>
            </a:r>
            <a:r>
              <a:rPr lang="zh-CN" altLang="en-US" sz="1600" dirty="0">
                <a:ea typeface="经典宋体简" charset="-122"/>
              </a:rPr>
              <a:t>）：</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TDD</a:t>
            </a:r>
            <a:r>
              <a:rPr lang="zh-CN" altLang="en-US" sz="1600" dirty="0">
                <a:ea typeface="经典宋体简" charset="-122"/>
              </a:rPr>
              <a:t>是</a:t>
            </a:r>
            <a:r>
              <a:rPr lang="en-US" altLang="zh-CN" sz="1600" dirty="0">
                <a:ea typeface="经典宋体简" charset="-122"/>
              </a:rPr>
              <a:t>XP</a:t>
            </a:r>
            <a:r>
              <a:rPr lang="zh-CN" altLang="en-US" sz="1600" dirty="0">
                <a:ea typeface="经典宋体简" charset="-122"/>
              </a:rPr>
              <a:t>的另一个重要实践，它要求在编写功能代码之前先编写测试用例。这种方法有助于确保代码的正确性和可靠性。</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现场客户：</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现场客户是指客户或用户代表应该始终参与项目的开发过程，以便及时提供需求和反馈。这有助于确保开发的软件真正满足用户的需求。</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可持续的开发速度：</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XP</a:t>
            </a:r>
            <a:r>
              <a:rPr lang="zh-CN" altLang="en-US" sz="1600" dirty="0">
                <a:ea typeface="经典宋体简" charset="-122"/>
              </a:rPr>
              <a:t>强调保持可持续的开发速度，避免过度加班和赶工导致的质量问题。团队应该根据自身的实际情况和能力来制定合理的工作计划。</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开放的工作环境：</a:t>
            </a:r>
          </a:p>
          <a:p>
            <a:pPr>
              <a:lnSpc>
                <a:spcPct val="150000"/>
              </a:lnSpc>
            </a:pPr>
            <a:endParaRPr lang="zh-CN" altLang="en-US" sz="1600" dirty="0">
              <a:ea typeface="经典宋体简" charset="-122"/>
            </a:endParaRPr>
          </a:p>
          <a:p>
            <a:pPr>
              <a:lnSpc>
                <a:spcPct val="150000"/>
              </a:lnSpc>
            </a:pPr>
            <a:r>
              <a:rPr lang="zh-CN" altLang="en-US" sz="1600" dirty="0">
                <a:ea typeface="经典宋体简" charset="-122"/>
              </a:rPr>
              <a:t>    极限编程提倡开放和透明的工作环境，鼓励团队成员之间以及与客户之间的坦诚交流。这有助于建立信任和理解，促进项目的顺利进行。</a:t>
            </a:r>
          </a:p>
          <a:p>
            <a:pPr>
              <a:lnSpc>
                <a:spcPct val="150000"/>
              </a:lnSpc>
            </a:pPr>
            <a:endParaRPr lang="zh-CN" altLang="en-US" sz="2000" dirty="0">
              <a:ea typeface="经典宋体简" charset="-122"/>
            </a:endParaRPr>
          </a:p>
        </p:txBody>
      </p:sp>
    </p:spTree>
    <p:extLst>
      <p:ext uri="{BB962C8B-B14F-4D97-AF65-F5344CB8AC3E}">
        <p14:creationId xmlns:p14="http://schemas.microsoft.com/office/powerpoint/2010/main" val="213509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Left)">
                                      <p:cBhvr>
                                        <p:cTn id="11" dur="500"/>
                                        <p:tgtEl>
                                          <p:spTgt spid="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Bottom)">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3386E46-C09A-4979-9658-B602636CDE9A}"/>
              </a:ext>
            </a:extLst>
          </p:cNvPr>
          <p:cNvSpPr>
            <a:spLocks noGrp="1"/>
          </p:cNvSpPr>
          <p:nvPr>
            <p:ph type="sldNum" sz="quarter" idx="12"/>
          </p:nvPr>
        </p:nvSpPr>
        <p:spPr/>
        <p:txBody>
          <a:bodyPr/>
          <a:lstStyle/>
          <a:p>
            <a:fld id="{73403612-6C36-4613-9B91-854212E45B4D}" type="slidenum">
              <a:rPr lang="zh-CN" altLang="en-US" smtClean="0"/>
              <a:pPr/>
              <a:t>36</a:t>
            </a:fld>
            <a:endParaRPr lang="zh-CN" altLang="en-US"/>
          </a:p>
        </p:txBody>
      </p:sp>
      <p:sp>
        <p:nvSpPr>
          <p:cNvPr id="4" name="矩形 3">
            <a:extLst>
              <a:ext uri="{FF2B5EF4-FFF2-40B4-BE49-F238E27FC236}">
                <a16:creationId xmlns:a16="http://schemas.microsoft.com/office/drawing/2014/main" id="{ADDDA1E4-72C9-424A-8254-00FA3FA09B7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5" name="矩形 17">
            <a:extLst>
              <a:ext uri="{FF2B5EF4-FFF2-40B4-BE49-F238E27FC236}">
                <a16:creationId xmlns:a16="http://schemas.microsoft.com/office/drawing/2014/main" id="{374457D2-C61A-4D67-83D0-310E13CD964D}"/>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6" name="Text Box 14">
            <a:extLst>
              <a:ext uri="{FF2B5EF4-FFF2-40B4-BE49-F238E27FC236}">
                <a16:creationId xmlns:a16="http://schemas.microsoft.com/office/drawing/2014/main" id="{1FDF0851-6D7B-4567-A0BD-E0352F5FC3EE}"/>
              </a:ext>
            </a:extLst>
          </p:cNvPr>
          <p:cNvSpPr txBox="1">
            <a:spLocks noChangeArrowheads="1"/>
          </p:cNvSpPr>
          <p:nvPr/>
        </p:nvSpPr>
        <p:spPr bwMode="auto">
          <a:xfrm>
            <a:off x="682910" y="1524000"/>
            <a:ext cx="7318090" cy="5575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1.4.8   </a:t>
            </a:r>
            <a:r>
              <a:rPr lang="zh-CN" altLang="en-US" sz="1650" b="1" dirty="0"/>
              <a:t>极限编程</a:t>
            </a:r>
            <a:r>
              <a:rPr lang="zh-CN" altLang="en-US" b="1" dirty="0">
                <a:ea typeface="经典宋体简" charset="-122"/>
              </a:rPr>
              <a:t>特点</a:t>
            </a:r>
          </a:p>
          <a:p>
            <a:pPr>
              <a:lnSpc>
                <a:spcPct val="150000"/>
              </a:lnSpc>
            </a:pPr>
            <a:endParaRPr lang="zh-CN" altLang="en-US" sz="1600" dirty="0">
              <a:ea typeface="经典宋体简" charset="-122"/>
            </a:endParaRPr>
          </a:p>
          <a:p>
            <a:pPr>
              <a:lnSpc>
                <a:spcPct val="150000"/>
              </a:lnSpc>
            </a:pPr>
            <a:r>
              <a:rPr lang="zh-CN" altLang="en-US" sz="1600" b="1" dirty="0">
                <a:ea typeface="经典宋体简" charset="-122"/>
              </a:rPr>
              <a:t>测试驱动开发（</a:t>
            </a:r>
            <a:r>
              <a:rPr lang="en-US" altLang="zh-CN" sz="1600" b="1" dirty="0">
                <a:ea typeface="经典宋体简" charset="-122"/>
              </a:rPr>
              <a:t>TDD</a:t>
            </a:r>
            <a:r>
              <a:rPr lang="zh-CN" altLang="en-US" sz="1600" b="1" dirty="0">
                <a:ea typeface="经典宋体简" charset="-122"/>
              </a:rPr>
              <a:t>）：</a:t>
            </a: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TDD</a:t>
            </a:r>
            <a:r>
              <a:rPr lang="zh-CN" altLang="en-US" sz="1600" dirty="0">
                <a:ea typeface="经典宋体简" charset="-122"/>
              </a:rPr>
              <a:t>是</a:t>
            </a:r>
            <a:r>
              <a:rPr lang="en-US" altLang="zh-CN" sz="1600" dirty="0">
                <a:ea typeface="经典宋体简" charset="-122"/>
              </a:rPr>
              <a:t>XP</a:t>
            </a:r>
            <a:r>
              <a:rPr lang="zh-CN" altLang="en-US" sz="1600" dirty="0">
                <a:ea typeface="经典宋体简" charset="-122"/>
              </a:rPr>
              <a:t>的另一个重要实践，它要求在编写功能代码之前先编写测试用例。这种方法有助于确保代码的正确性和可靠性。</a:t>
            </a:r>
          </a:p>
          <a:p>
            <a:pPr>
              <a:lnSpc>
                <a:spcPct val="150000"/>
              </a:lnSpc>
            </a:pPr>
            <a:endParaRPr lang="zh-CN" altLang="en-US" sz="1600" dirty="0">
              <a:ea typeface="经典宋体简" charset="-122"/>
            </a:endParaRPr>
          </a:p>
          <a:p>
            <a:pPr>
              <a:lnSpc>
                <a:spcPct val="150000"/>
              </a:lnSpc>
            </a:pPr>
            <a:r>
              <a:rPr lang="zh-CN" altLang="en-US" sz="1600" b="1" dirty="0">
                <a:ea typeface="经典宋体简" charset="-122"/>
              </a:rPr>
              <a:t>现场客户：</a:t>
            </a:r>
            <a:endParaRPr lang="zh-CN" altLang="en-US" sz="1600" dirty="0">
              <a:ea typeface="经典宋体简" charset="-122"/>
            </a:endParaRPr>
          </a:p>
          <a:p>
            <a:pPr>
              <a:lnSpc>
                <a:spcPct val="150000"/>
              </a:lnSpc>
            </a:pPr>
            <a:r>
              <a:rPr lang="zh-CN" altLang="en-US" sz="1600" dirty="0">
                <a:ea typeface="经典宋体简" charset="-122"/>
              </a:rPr>
              <a:t>    现场客户是指客户或用户代表应该始终参与项目的开发过程，以便及时提供需求和反馈。这有助于确保开发的软件真正满足用户的需求。</a:t>
            </a:r>
          </a:p>
          <a:p>
            <a:pPr>
              <a:lnSpc>
                <a:spcPct val="150000"/>
              </a:lnSpc>
            </a:pPr>
            <a:endParaRPr lang="zh-CN" altLang="en-US" sz="1600" b="1" dirty="0">
              <a:ea typeface="经典宋体简" charset="-122"/>
            </a:endParaRPr>
          </a:p>
          <a:p>
            <a:pPr>
              <a:lnSpc>
                <a:spcPct val="150000"/>
              </a:lnSpc>
            </a:pPr>
            <a:r>
              <a:rPr lang="zh-CN" altLang="en-US" sz="1600" b="1" dirty="0">
                <a:ea typeface="经典宋体简" charset="-122"/>
              </a:rPr>
              <a:t>可持续的开发速度：</a:t>
            </a:r>
            <a:endParaRPr lang="zh-CN" altLang="en-US" sz="1600" dirty="0">
              <a:ea typeface="经典宋体简" charset="-122"/>
            </a:endParaRPr>
          </a:p>
          <a:p>
            <a:pPr>
              <a:lnSpc>
                <a:spcPct val="150000"/>
              </a:lnSpc>
            </a:pPr>
            <a:r>
              <a:rPr lang="zh-CN" altLang="en-US" sz="1600" dirty="0">
                <a:ea typeface="经典宋体简" charset="-122"/>
              </a:rPr>
              <a:t>    </a:t>
            </a:r>
            <a:r>
              <a:rPr lang="en-US" altLang="zh-CN" sz="1600" dirty="0">
                <a:ea typeface="经典宋体简" charset="-122"/>
              </a:rPr>
              <a:t>XP</a:t>
            </a:r>
            <a:r>
              <a:rPr lang="zh-CN" altLang="en-US" sz="1600" dirty="0">
                <a:ea typeface="经典宋体简" charset="-122"/>
              </a:rPr>
              <a:t>强调保持可持续的开发速度，避免过度加班和赶工导致的质量问题。团队应该根据自身的实际情况和能力来制定合理的工作计划。</a:t>
            </a:r>
          </a:p>
          <a:p>
            <a:pPr>
              <a:lnSpc>
                <a:spcPct val="150000"/>
              </a:lnSpc>
            </a:pPr>
            <a:endParaRPr lang="zh-CN" altLang="en-US" sz="1600" dirty="0">
              <a:ea typeface="经典宋体简" charset="-122"/>
            </a:endParaRPr>
          </a:p>
          <a:p>
            <a:pPr>
              <a:lnSpc>
                <a:spcPct val="150000"/>
              </a:lnSpc>
            </a:pPr>
            <a:endParaRPr lang="zh-CN" altLang="en-US" sz="2000" dirty="0">
              <a:ea typeface="经典宋体简" charset="-122"/>
            </a:endParaRPr>
          </a:p>
        </p:txBody>
      </p:sp>
    </p:spTree>
    <p:extLst>
      <p:ext uri="{BB962C8B-B14F-4D97-AF65-F5344CB8AC3E}">
        <p14:creationId xmlns:p14="http://schemas.microsoft.com/office/powerpoint/2010/main" val="350938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Left)">
                                      <p:cBhvr>
                                        <p:cTn id="11" dur="500"/>
                                        <p:tgtEl>
                                          <p:spTgt spid="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Bottom)">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3386E46-C09A-4979-9658-B602636CDE9A}"/>
              </a:ext>
            </a:extLst>
          </p:cNvPr>
          <p:cNvSpPr>
            <a:spLocks noGrp="1"/>
          </p:cNvSpPr>
          <p:nvPr>
            <p:ph type="sldNum" sz="quarter" idx="12"/>
          </p:nvPr>
        </p:nvSpPr>
        <p:spPr/>
        <p:txBody>
          <a:bodyPr/>
          <a:lstStyle/>
          <a:p>
            <a:fld id="{73403612-6C36-4613-9B91-854212E45B4D}" type="slidenum">
              <a:rPr lang="zh-CN" altLang="en-US" smtClean="0"/>
              <a:pPr/>
              <a:t>37</a:t>
            </a:fld>
            <a:endParaRPr lang="zh-CN" altLang="en-US"/>
          </a:p>
        </p:txBody>
      </p:sp>
      <p:sp>
        <p:nvSpPr>
          <p:cNvPr id="4" name="矩形 3">
            <a:extLst>
              <a:ext uri="{FF2B5EF4-FFF2-40B4-BE49-F238E27FC236}">
                <a16:creationId xmlns:a16="http://schemas.microsoft.com/office/drawing/2014/main" id="{ADDDA1E4-72C9-424A-8254-00FA3FA09B79}"/>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5" name="矩形 17">
            <a:extLst>
              <a:ext uri="{FF2B5EF4-FFF2-40B4-BE49-F238E27FC236}">
                <a16:creationId xmlns:a16="http://schemas.microsoft.com/office/drawing/2014/main" id="{374457D2-C61A-4D67-83D0-310E13CD964D}"/>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6" name="Text Box 14">
            <a:extLst>
              <a:ext uri="{FF2B5EF4-FFF2-40B4-BE49-F238E27FC236}">
                <a16:creationId xmlns:a16="http://schemas.microsoft.com/office/drawing/2014/main" id="{1FDF0851-6D7B-4567-A0BD-E0352F5FC3EE}"/>
              </a:ext>
            </a:extLst>
          </p:cNvPr>
          <p:cNvSpPr txBox="1">
            <a:spLocks noChangeArrowheads="1"/>
          </p:cNvSpPr>
          <p:nvPr/>
        </p:nvSpPr>
        <p:spPr bwMode="auto">
          <a:xfrm>
            <a:off x="682910" y="1524000"/>
            <a:ext cx="7318090" cy="5126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1.4.9   </a:t>
            </a:r>
            <a:r>
              <a:rPr lang="zh-CN" altLang="en-US" sz="1650" b="1" dirty="0"/>
              <a:t>氛围编程</a:t>
            </a:r>
            <a:r>
              <a:rPr lang="zh-CN" altLang="en-US" b="1" dirty="0">
                <a:ea typeface="经典宋体简" charset="-122"/>
              </a:rPr>
              <a:t>：</a:t>
            </a:r>
          </a:p>
          <a:p>
            <a:pPr>
              <a:lnSpc>
                <a:spcPct val="150000"/>
              </a:lnSpc>
            </a:pPr>
            <a:r>
              <a:rPr lang="zh-CN" altLang="en-US" sz="1600" dirty="0">
                <a:ea typeface="经典宋体简" charset="-122"/>
              </a:rPr>
              <a:t>氛围编程（</a:t>
            </a:r>
            <a:r>
              <a:rPr lang="en-US" altLang="zh-CN" sz="1600" dirty="0">
                <a:ea typeface="经典宋体简" charset="-122"/>
              </a:rPr>
              <a:t>vibe coding</a:t>
            </a:r>
            <a:r>
              <a:rPr lang="zh-CN" altLang="en-US" sz="1600" dirty="0">
                <a:ea typeface="经典宋体简" charset="-122"/>
              </a:rPr>
              <a:t>）是一种由人工智能辅助的编程方式，由计算机科学家、</a:t>
            </a:r>
            <a:r>
              <a:rPr lang="en-US" altLang="zh-CN" sz="1600" dirty="0" err="1">
                <a:ea typeface="经典宋体简" charset="-122"/>
              </a:rPr>
              <a:t>OpenAI</a:t>
            </a:r>
            <a:r>
              <a:rPr lang="zh-CN" altLang="en-US" sz="1600" dirty="0">
                <a:ea typeface="经典宋体简" charset="-122"/>
              </a:rPr>
              <a:t>联合创始人兼特斯拉前人工智能主管</a:t>
            </a:r>
            <a:r>
              <a:rPr lang="en-US" altLang="zh-CN" sz="1600" dirty="0">
                <a:ea typeface="经典宋体简" charset="-122"/>
              </a:rPr>
              <a:t>Andrej </a:t>
            </a:r>
            <a:r>
              <a:rPr lang="en-US" altLang="zh-CN" sz="1600" dirty="0" err="1">
                <a:ea typeface="经典宋体简" charset="-122"/>
              </a:rPr>
              <a:t>Karpathy</a:t>
            </a:r>
            <a:r>
              <a:rPr lang="zh-CN" altLang="en-US" sz="1600" dirty="0">
                <a:ea typeface="经典宋体简" charset="-122"/>
              </a:rPr>
              <a:t>明确提出。</a:t>
            </a:r>
            <a:r>
              <a:rPr lang="en-US" altLang="zh-CN" sz="1600" dirty="0">
                <a:ea typeface="经典宋体简" charset="-122"/>
              </a:rPr>
              <a:t>2025</a:t>
            </a:r>
            <a:r>
              <a:rPr lang="zh-CN" altLang="en-US" sz="1600" dirty="0">
                <a:ea typeface="经典宋体简" charset="-122"/>
              </a:rPr>
              <a:t>年</a:t>
            </a:r>
            <a:r>
              <a:rPr lang="en-US" altLang="zh-CN" sz="1600" dirty="0">
                <a:ea typeface="经典宋体简" charset="-122"/>
              </a:rPr>
              <a:t>2</a:t>
            </a:r>
            <a:r>
              <a:rPr lang="zh-CN" altLang="en-US" sz="1600" dirty="0">
                <a:ea typeface="经典宋体简" charset="-122"/>
              </a:rPr>
              <a:t>月首次出现后使用量有所增加，并于</a:t>
            </a:r>
            <a:r>
              <a:rPr lang="en-US" altLang="zh-CN" sz="1600" dirty="0">
                <a:ea typeface="经典宋体简" charset="-122"/>
              </a:rPr>
              <a:t>2025</a:t>
            </a:r>
            <a:r>
              <a:rPr lang="zh-CN" altLang="en-US" sz="1600" dirty="0">
                <a:ea typeface="经典宋体简" charset="-122"/>
              </a:rPr>
              <a:t>年被柯林斯词典评选为年度词汇。</a:t>
            </a:r>
            <a:endParaRPr lang="en-US" altLang="zh-CN" sz="1600" dirty="0">
              <a:ea typeface="经典宋体简" charset="-122"/>
            </a:endParaRPr>
          </a:p>
          <a:p>
            <a:pPr>
              <a:lnSpc>
                <a:spcPct val="150000"/>
              </a:lnSpc>
            </a:pPr>
            <a:endParaRPr lang="en-US" altLang="zh-CN" sz="1600" dirty="0">
              <a:ea typeface="经典宋体简" charset="-122"/>
            </a:endParaRPr>
          </a:p>
          <a:p>
            <a:pPr>
              <a:lnSpc>
                <a:spcPct val="150000"/>
              </a:lnSpc>
            </a:pPr>
            <a:r>
              <a:rPr lang="zh-CN" altLang="en-US" sz="1600" dirty="0">
                <a:ea typeface="经典宋体简" charset="-122"/>
              </a:rPr>
              <a:t>该方式以开发者向</a:t>
            </a:r>
            <a:r>
              <a:rPr lang="en-US" altLang="zh-CN" sz="1600" dirty="0">
                <a:ea typeface="经典宋体简" charset="-122"/>
              </a:rPr>
              <a:t>AI</a:t>
            </a:r>
            <a:r>
              <a:rPr lang="zh-CN" altLang="en-US" sz="1600" dirty="0">
                <a:ea typeface="经典宋体简" charset="-122"/>
              </a:rPr>
              <a:t>提出自然语言需求为核心流程，通过大型语言模型生成代码，在代码能运行时直接应用，出现问题时再通过自然语言反馈要求</a:t>
            </a:r>
            <a:r>
              <a:rPr lang="en-US" altLang="zh-CN" sz="1600" dirty="0">
                <a:ea typeface="经典宋体简" charset="-122"/>
              </a:rPr>
              <a:t>AI</a:t>
            </a:r>
            <a:r>
              <a:rPr lang="zh-CN" altLang="en-US" sz="1600" dirty="0">
                <a:ea typeface="经典宋体简" charset="-122"/>
              </a:rPr>
              <a:t>修改。</a:t>
            </a:r>
            <a:endParaRPr lang="en-US" altLang="zh-CN" sz="1600" dirty="0">
              <a:ea typeface="经典宋体简" charset="-122"/>
            </a:endParaRPr>
          </a:p>
          <a:p>
            <a:pPr>
              <a:lnSpc>
                <a:spcPct val="150000"/>
              </a:lnSpc>
            </a:pPr>
            <a:endParaRPr lang="en-US" altLang="zh-CN" sz="1600" dirty="0">
              <a:ea typeface="经典宋体简" charset="-122"/>
            </a:endParaRPr>
          </a:p>
          <a:p>
            <a:pPr>
              <a:lnSpc>
                <a:spcPct val="150000"/>
              </a:lnSpc>
            </a:pPr>
            <a:r>
              <a:rPr lang="zh-CN" altLang="en-US" sz="1600" dirty="0"/>
              <a:t>其核心在于利用</a:t>
            </a:r>
            <a:r>
              <a:rPr lang="en-US" altLang="zh-CN" sz="1600" dirty="0"/>
              <a:t>AI</a:t>
            </a:r>
            <a:r>
              <a:rPr lang="zh-CN" altLang="en-US" sz="1600" dirty="0"/>
              <a:t>生成代码片段，使开发者聚焦高层次系统设计，同时降低编程门槛。支持工具包括</a:t>
            </a:r>
            <a:r>
              <a:rPr lang="en-US" altLang="zh-CN" sz="1600" dirty="0" err="1">
                <a:hlinkClick r:id="rId2"/>
              </a:rPr>
              <a:t>ChatGPT</a:t>
            </a:r>
            <a:r>
              <a:rPr lang="zh-CN" altLang="en-US" sz="1600" dirty="0"/>
              <a:t>、</a:t>
            </a:r>
            <a:r>
              <a:rPr lang="en-US" altLang="zh-CN" sz="1600" dirty="0"/>
              <a:t>Cursor AI</a:t>
            </a:r>
            <a:r>
              <a:rPr lang="zh-CN" altLang="en-US" sz="1600" dirty="0"/>
              <a:t>、</a:t>
            </a:r>
            <a:r>
              <a:rPr lang="en-US" altLang="zh-CN" sz="1600" dirty="0">
                <a:hlinkClick r:id="rId3"/>
              </a:rPr>
              <a:t>GitHub Copilot</a:t>
            </a:r>
            <a:r>
              <a:rPr lang="zh-CN" altLang="en-US" sz="1600" dirty="0"/>
              <a:t>以及字节跳动的“扣子编程”平台等</a:t>
            </a:r>
            <a:r>
              <a:rPr lang="zh-CN" altLang="en-US" sz="1600" baseline="30000" dirty="0"/>
              <a:t> </a:t>
            </a:r>
            <a:r>
              <a:rPr lang="en-US" altLang="zh-CN" sz="1600" baseline="30000" dirty="0"/>
              <a:t>[11]</a:t>
            </a:r>
            <a:r>
              <a:rPr lang="zh-CN" altLang="en-US" sz="1600" dirty="0"/>
              <a:t>。应用场景涵盖快速原型开发、自动生成网站及辅助调试等领域。但需注意可能伴随代码质量隐患、调试困难等问题。典型案例包括数学研究者通过该方式成功形式化埃尔德什离散几何猜想的反命题证明，生成超过</a:t>
            </a:r>
            <a:r>
              <a:rPr lang="en-US" altLang="zh-CN" sz="1600" dirty="0"/>
              <a:t>6000</a:t>
            </a:r>
            <a:r>
              <a:rPr lang="zh-CN" altLang="en-US" sz="1600" dirty="0"/>
              <a:t>行验证代码</a:t>
            </a:r>
            <a:endParaRPr lang="zh-CN" altLang="zh-CN" sz="1600" dirty="0">
              <a:ea typeface="经典宋体简" charset="-122"/>
            </a:endParaRPr>
          </a:p>
        </p:txBody>
      </p:sp>
    </p:spTree>
    <p:extLst>
      <p:ext uri="{BB962C8B-B14F-4D97-AF65-F5344CB8AC3E}">
        <p14:creationId xmlns:p14="http://schemas.microsoft.com/office/powerpoint/2010/main" val="230436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Left)">
                                      <p:cBhvr>
                                        <p:cTn id="11" dur="500"/>
                                        <p:tgtEl>
                                          <p:spTgt spid="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Bottom)">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7C46152-5F38-4899-B788-AC301D32DC4F}"/>
              </a:ext>
            </a:extLst>
          </p:cNvPr>
          <p:cNvSpPr>
            <a:spLocks noGrp="1"/>
          </p:cNvSpPr>
          <p:nvPr>
            <p:ph type="sldNum" sz="quarter" idx="12"/>
          </p:nvPr>
        </p:nvSpPr>
        <p:spPr/>
        <p:txBody>
          <a:bodyPr/>
          <a:lstStyle/>
          <a:p>
            <a:fld id="{73403612-6C36-4613-9B91-854212E45B4D}" type="slidenum">
              <a:rPr lang="zh-CN" altLang="en-US" smtClean="0"/>
              <a:pPr/>
              <a:t>38</a:t>
            </a:fld>
            <a:endParaRPr lang="zh-CN" altLang="en-US"/>
          </a:p>
        </p:txBody>
      </p:sp>
      <p:pic>
        <p:nvPicPr>
          <p:cNvPr id="50180" name="Picture 4">
            <a:extLst>
              <a:ext uri="{FF2B5EF4-FFF2-40B4-BE49-F238E27FC236}">
                <a16:creationId xmlns:a16="http://schemas.microsoft.com/office/drawing/2014/main" id="{9DB3441E-F506-4858-8EE7-B5A11F20F952}"/>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47700" y="1981200"/>
            <a:ext cx="7467600" cy="441055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FDBA984E-92A1-4B4B-A030-23173A207664}"/>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1.4 </a:t>
            </a:r>
            <a:r>
              <a:rPr lang="zh-CN" altLang="en-US" sz="1650" b="1" dirty="0">
                <a:latin typeface="微软雅黑" panose="020B0503020204020204" pitchFamily="34" charset="-122"/>
                <a:ea typeface="微软雅黑" panose="020B0503020204020204" pitchFamily="34" charset="-122"/>
              </a:rPr>
              <a:t>软件开发模型</a:t>
            </a:r>
          </a:p>
        </p:txBody>
      </p:sp>
      <p:sp>
        <p:nvSpPr>
          <p:cNvPr id="7" name="矩形 17">
            <a:extLst>
              <a:ext uri="{FF2B5EF4-FFF2-40B4-BE49-F238E27FC236}">
                <a16:creationId xmlns:a16="http://schemas.microsoft.com/office/drawing/2014/main" id="{68D4E601-9084-4023-A059-344B66B358C3}"/>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
        <p:nvSpPr>
          <p:cNvPr id="8" name="Text Box 14">
            <a:extLst>
              <a:ext uri="{FF2B5EF4-FFF2-40B4-BE49-F238E27FC236}">
                <a16:creationId xmlns:a16="http://schemas.microsoft.com/office/drawing/2014/main" id="{D0A556C4-9599-4B6C-A6A1-00B9D4341170}"/>
              </a:ext>
            </a:extLst>
          </p:cNvPr>
          <p:cNvSpPr txBox="1">
            <a:spLocks noChangeArrowheads="1"/>
          </p:cNvSpPr>
          <p:nvPr/>
        </p:nvSpPr>
        <p:spPr bwMode="auto">
          <a:xfrm>
            <a:off x="682910" y="1524000"/>
            <a:ext cx="7318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50" b="1" dirty="0"/>
              <a:t>1.4.9   </a:t>
            </a:r>
            <a:r>
              <a:rPr lang="zh-CN" altLang="en-US" sz="1650" b="1" dirty="0"/>
              <a:t>氛围编程</a:t>
            </a:r>
            <a:r>
              <a:rPr lang="zh-CN" altLang="en-US" b="1" dirty="0">
                <a:ea typeface="经典宋体简" charset="-122"/>
              </a:rPr>
              <a:t>：</a:t>
            </a:r>
          </a:p>
        </p:txBody>
      </p:sp>
    </p:spTree>
    <p:extLst>
      <p:ext uri="{BB962C8B-B14F-4D97-AF65-F5344CB8AC3E}">
        <p14:creationId xmlns:p14="http://schemas.microsoft.com/office/powerpoint/2010/main" val="364837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Left)">
                                      <p:cBhvr>
                                        <p:cTn id="11" dur="500"/>
                                        <p:tgtEl>
                                          <p:spTgt spid="6"/>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lide(fromBottom)">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a:extLst>
              <a:ext uri="{FF2B5EF4-FFF2-40B4-BE49-F238E27FC236}">
                <a16:creationId xmlns:a16="http://schemas.microsoft.com/office/drawing/2014/main" id="{C4AF0EB9-2650-4957-A8A0-29C56D134C42}"/>
              </a:ext>
            </a:extLst>
          </p:cNvPr>
          <p:cNvSpPr txBox="1">
            <a:spLocks noChangeArrowheads="1"/>
          </p:cNvSpPr>
          <p:nvPr/>
        </p:nvSpPr>
        <p:spPr bwMode="auto">
          <a:xfrm>
            <a:off x="426011" y="1371600"/>
            <a:ext cx="8000851" cy="351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622300">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spcBef>
                <a:spcPct val="20000"/>
              </a:spcBef>
            </a:pPr>
            <a:r>
              <a:rPr lang="en-US" altLang="zh-CN" sz="1500" b="1" dirty="0"/>
              <a:t>1</a:t>
            </a:r>
            <a:r>
              <a:rPr lang="zh-CN" altLang="en-US" sz="1500" b="1" dirty="0"/>
              <a:t>．结构化方法</a:t>
            </a:r>
          </a:p>
          <a:p>
            <a:pPr>
              <a:lnSpc>
                <a:spcPct val="150000"/>
              </a:lnSpc>
              <a:spcBef>
                <a:spcPct val="20000"/>
              </a:spcBef>
            </a:pPr>
            <a:r>
              <a:rPr lang="zh-CN" altLang="en-US" sz="1500" b="1" dirty="0"/>
              <a:t>结构化方法又称传统方法、生存周期法、面向过程的方法、面向功能的方法、面向数据流的方法。</a:t>
            </a:r>
          </a:p>
          <a:p>
            <a:pPr>
              <a:lnSpc>
                <a:spcPct val="150000"/>
              </a:lnSpc>
              <a:spcBef>
                <a:spcPct val="20000"/>
              </a:spcBef>
            </a:pPr>
            <a:r>
              <a:rPr lang="zh-CN" altLang="en-US" sz="1500" b="1" dirty="0"/>
              <a:t>所谓</a:t>
            </a:r>
            <a:r>
              <a:rPr lang="zh-CN" altLang="en-US" sz="1500" b="1" dirty="0">
                <a:solidFill>
                  <a:srgbClr val="FF0000"/>
                </a:solidFill>
              </a:rPr>
              <a:t>结构化分析</a:t>
            </a:r>
            <a:r>
              <a:rPr lang="zh-CN" altLang="en-US" sz="1500" b="1" dirty="0"/>
              <a:t>，就是根据分解与抽象的原则，按照系统中数据处理的流程，用数据流图来建立系统的功能模型，从而完成需求分析。</a:t>
            </a:r>
          </a:p>
          <a:p>
            <a:pPr>
              <a:lnSpc>
                <a:spcPct val="150000"/>
              </a:lnSpc>
              <a:spcBef>
                <a:spcPct val="20000"/>
              </a:spcBef>
            </a:pPr>
            <a:r>
              <a:rPr lang="zh-CN" altLang="en-US" sz="1500" b="1" dirty="0"/>
              <a:t>所谓</a:t>
            </a:r>
            <a:r>
              <a:rPr lang="zh-CN" altLang="en-US" sz="1500" b="1" dirty="0">
                <a:solidFill>
                  <a:srgbClr val="FF0000"/>
                </a:solidFill>
              </a:rPr>
              <a:t>结构化设计</a:t>
            </a:r>
            <a:r>
              <a:rPr lang="zh-CN" altLang="en-US" sz="1500" b="1" dirty="0"/>
              <a:t>，就是根据模块独立性准则、软件结构准则，将数据流图转换为软件的体系结构，用软件结构图来建立系统的物理模型，实现系统的总体设计。</a:t>
            </a:r>
          </a:p>
          <a:p>
            <a:pPr>
              <a:lnSpc>
                <a:spcPct val="150000"/>
              </a:lnSpc>
              <a:spcBef>
                <a:spcPct val="20000"/>
              </a:spcBef>
            </a:pPr>
            <a:r>
              <a:rPr lang="zh-CN" altLang="en-US" sz="1500" b="1" dirty="0"/>
              <a:t>所谓</a:t>
            </a:r>
            <a:r>
              <a:rPr lang="zh-CN" altLang="en-US" sz="1500" b="1" dirty="0">
                <a:solidFill>
                  <a:srgbClr val="FF0000"/>
                </a:solidFill>
              </a:rPr>
              <a:t>结构化程序设计</a:t>
            </a:r>
            <a:r>
              <a:rPr lang="zh-CN" altLang="en-US" sz="1500" b="1" dirty="0"/>
              <a:t>，就是根据结构程序设计原理，将每个模块的功能用相应的标准控制结构表示出来，从而实现详细设计。</a:t>
            </a:r>
          </a:p>
        </p:txBody>
      </p:sp>
      <p:sp>
        <p:nvSpPr>
          <p:cNvPr id="5" name="矩形 4">
            <a:extLst>
              <a:ext uri="{FF2B5EF4-FFF2-40B4-BE49-F238E27FC236}">
                <a16:creationId xmlns:a16="http://schemas.microsoft.com/office/drawing/2014/main" id="{464D1B0C-27F3-4085-B51A-0B21A84CDB3F}"/>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1.5 </a:t>
            </a:r>
            <a:r>
              <a:rPr lang="zh-CN" altLang="en-US" sz="1650" b="1" dirty="0">
                <a:latin typeface="微软雅黑" panose="020B0503020204020204" pitchFamily="34" charset="-122"/>
                <a:ea typeface="微软雅黑" panose="020B0503020204020204" pitchFamily="34" charset="-122"/>
              </a:rPr>
              <a:t>软件开发方法</a:t>
            </a:r>
          </a:p>
        </p:txBody>
      </p:sp>
      <p:sp>
        <p:nvSpPr>
          <p:cNvPr id="8" name="矩形 17">
            <a:extLst>
              <a:ext uri="{FF2B5EF4-FFF2-40B4-BE49-F238E27FC236}">
                <a16:creationId xmlns:a16="http://schemas.microsoft.com/office/drawing/2014/main" id="{473CE04A-741B-4F46-AC43-32EAE19C790E}"/>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a:extLst>
              <a:ext uri="{FF2B5EF4-FFF2-40B4-BE49-F238E27FC236}">
                <a16:creationId xmlns:a16="http://schemas.microsoft.com/office/drawing/2014/main" id="{056FD0BD-8D02-4668-972B-775E87B6985E}"/>
              </a:ext>
            </a:extLst>
          </p:cNvPr>
          <p:cNvSpPr txBox="1">
            <a:spLocks noChangeArrowheads="1"/>
          </p:cNvSpPr>
          <p:nvPr/>
        </p:nvSpPr>
        <p:spPr bwMode="auto">
          <a:xfrm>
            <a:off x="426011" y="1673790"/>
            <a:ext cx="8000851" cy="351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622300">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spcBef>
                <a:spcPct val="20000"/>
              </a:spcBef>
            </a:pPr>
            <a:r>
              <a:rPr lang="en-US" altLang="zh-CN" sz="1500" b="1" dirty="0"/>
              <a:t>2</a:t>
            </a:r>
            <a:r>
              <a:rPr lang="zh-CN" altLang="en-US" sz="1500" b="1" dirty="0"/>
              <a:t>．面向数据结构方法</a:t>
            </a:r>
          </a:p>
          <a:p>
            <a:pPr>
              <a:lnSpc>
                <a:spcPct val="150000"/>
              </a:lnSpc>
              <a:spcBef>
                <a:spcPct val="20000"/>
              </a:spcBef>
            </a:pPr>
            <a:r>
              <a:rPr lang="zh-CN" altLang="en-US" sz="1500" b="1" dirty="0"/>
              <a:t>面向数据结构方法（也称为</a:t>
            </a:r>
            <a:r>
              <a:rPr lang="en-US" altLang="zh-CN" sz="1500" b="1" dirty="0"/>
              <a:t>Jackson</a:t>
            </a:r>
            <a:r>
              <a:rPr lang="zh-CN" altLang="en-US" sz="1500" b="1" dirty="0"/>
              <a:t>方法）。该方法从目标系统的输入、输出数据结构入手，导出程序框架结构，再补充其他细节，就可得到完整的程序结构图。这一方法以数据结构为驱动，其优点是通俗易懂，特别适合信息系统中数据层（数据库服务器）上的设计与实现，对输入、输出数据结构明确的中小型系统特别有效。其缺点是实现窗口界面较困难。该方法也可与其他方法结合，用于模块的详细设计。</a:t>
            </a:r>
          </a:p>
        </p:txBody>
      </p:sp>
      <p:sp>
        <p:nvSpPr>
          <p:cNvPr id="5" name="矩形 4">
            <a:extLst>
              <a:ext uri="{FF2B5EF4-FFF2-40B4-BE49-F238E27FC236}">
                <a16:creationId xmlns:a16="http://schemas.microsoft.com/office/drawing/2014/main" id="{CC85072D-0B6A-48B7-8BDE-F99AFDDE7E2B}"/>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1.5 </a:t>
            </a:r>
            <a:r>
              <a:rPr lang="zh-CN" altLang="en-US" sz="1650" b="1" dirty="0">
                <a:latin typeface="微软雅黑" panose="020B0503020204020204" pitchFamily="34" charset="-122"/>
                <a:ea typeface="微软雅黑" panose="020B0503020204020204" pitchFamily="34" charset="-122"/>
              </a:rPr>
              <a:t>软件开发方法</a:t>
            </a:r>
          </a:p>
        </p:txBody>
      </p:sp>
      <p:sp>
        <p:nvSpPr>
          <p:cNvPr id="8" name="矩形 17">
            <a:extLst>
              <a:ext uri="{FF2B5EF4-FFF2-40B4-BE49-F238E27FC236}">
                <a16:creationId xmlns:a16="http://schemas.microsoft.com/office/drawing/2014/main" id="{826FE86B-BEAD-4468-A2D6-0E22E953FA96}"/>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a:extLst>
              <a:ext uri="{FF2B5EF4-FFF2-40B4-BE49-F238E27FC236}">
                <a16:creationId xmlns:a16="http://schemas.microsoft.com/office/drawing/2014/main" id="{3E3A2FCB-9320-4FAE-A728-8D38D9FE41BE}"/>
              </a:ext>
            </a:extLst>
          </p:cNvPr>
          <p:cNvSpPr txBox="1">
            <a:spLocks noChangeArrowheads="1"/>
          </p:cNvSpPr>
          <p:nvPr/>
        </p:nvSpPr>
        <p:spPr bwMode="auto">
          <a:xfrm>
            <a:off x="571574" y="1752600"/>
            <a:ext cx="8000851" cy="351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622300">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spcBef>
                <a:spcPct val="20000"/>
              </a:spcBef>
            </a:pPr>
            <a:r>
              <a:rPr lang="en-US" altLang="zh-CN" sz="1500" b="1"/>
              <a:t>3</a:t>
            </a:r>
            <a:r>
              <a:rPr lang="zh-CN" altLang="en-US" sz="1500" b="1"/>
              <a:t>．面向对象方法</a:t>
            </a:r>
          </a:p>
          <a:p>
            <a:pPr>
              <a:lnSpc>
                <a:spcPct val="150000"/>
              </a:lnSpc>
              <a:spcBef>
                <a:spcPct val="20000"/>
              </a:spcBef>
            </a:pPr>
            <a:r>
              <a:rPr lang="zh-CN" altLang="en-US" sz="1500" b="1"/>
              <a:t>面向对象方法是一种自底向上和自顶向下相结合的方法，该方法把对象作为数据和在数据上的操作（服务）相结合的软件构件。</a:t>
            </a:r>
            <a:r>
              <a:rPr lang="zh-CN" altLang="en-US" sz="1500" b="1">
                <a:solidFill>
                  <a:srgbClr val="FF0000"/>
                </a:solidFill>
              </a:rPr>
              <a:t>用对象分解取代结构化方法的功能分解</a:t>
            </a:r>
            <a:r>
              <a:rPr lang="zh-CN" altLang="en-US" sz="1500" b="1"/>
              <a:t>。把所有对象都划分成类，把若干个相关的类组织成具有层次结构的系统，下层的类继承上层的类所定义的属性和服务。对象之间通过发送消息进行联系。</a:t>
            </a:r>
          </a:p>
          <a:p>
            <a:pPr>
              <a:lnSpc>
                <a:spcPct val="150000"/>
              </a:lnSpc>
              <a:spcBef>
                <a:spcPct val="20000"/>
              </a:spcBef>
            </a:pPr>
            <a:r>
              <a:rPr lang="zh-CN" altLang="en-US" sz="1500" b="1"/>
              <a:t>使用面向对象方法开发软件时，</a:t>
            </a:r>
            <a:r>
              <a:rPr lang="zh-CN" altLang="en-US" sz="1500" b="1">
                <a:solidFill>
                  <a:srgbClr val="FF0000"/>
                </a:solidFill>
              </a:rPr>
              <a:t>可以重复使用对象和类等构件</a:t>
            </a:r>
            <a:r>
              <a:rPr lang="zh-CN" altLang="en-US" sz="1500" b="1"/>
              <a:t>，从而降低了软件开发成本，所开发的软件</a:t>
            </a:r>
            <a:r>
              <a:rPr lang="zh-CN" altLang="en-US" sz="1500" b="1">
                <a:solidFill>
                  <a:srgbClr val="FF0000"/>
                </a:solidFill>
              </a:rPr>
              <a:t>能适应需求变化，稳定性好，可重用性好，可维护性好，</a:t>
            </a:r>
            <a:r>
              <a:rPr lang="zh-CN" altLang="en-US" sz="1500" b="1"/>
              <a:t>对于大型、复杂及交互性比较强的系统，使用面向对象方法更有优势。</a:t>
            </a:r>
          </a:p>
        </p:txBody>
      </p:sp>
      <p:sp>
        <p:nvSpPr>
          <p:cNvPr id="5" name="矩形 4">
            <a:extLst>
              <a:ext uri="{FF2B5EF4-FFF2-40B4-BE49-F238E27FC236}">
                <a16:creationId xmlns:a16="http://schemas.microsoft.com/office/drawing/2014/main" id="{8D5DB6DC-EA3E-403C-81CE-E120E0A5C8C5}"/>
              </a:ext>
            </a:extLst>
          </p:cNvPr>
          <p:cNvSpPr>
            <a:spLocks noChangeArrowheads="1"/>
          </p:cNvSpPr>
          <p:nvPr/>
        </p:nvSpPr>
        <p:spPr bwMode="auto">
          <a:xfrm>
            <a:off x="2209800" y="464999"/>
            <a:ext cx="4433274" cy="37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3000"/>
              </a:lnSpc>
            </a:pPr>
            <a:r>
              <a:rPr lang="en-US" altLang="zh-CN" sz="1650" b="1" dirty="0">
                <a:latin typeface="微软雅黑" panose="020B0503020204020204" pitchFamily="34" charset="-122"/>
                <a:ea typeface="微软雅黑" panose="020B0503020204020204" pitchFamily="34" charset="-122"/>
              </a:rPr>
              <a:t>1.5 </a:t>
            </a:r>
            <a:r>
              <a:rPr lang="zh-CN" altLang="en-US" sz="1650" b="1" dirty="0">
                <a:latin typeface="微软雅黑" panose="020B0503020204020204" pitchFamily="34" charset="-122"/>
                <a:ea typeface="微软雅黑" panose="020B0503020204020204" pitchFamily="34" charset="-122"/>
              </a:rPr>
              <a:t>软件开发方法</a:t>
            </a:r>
          </a:p>
        </p:txBody>
      </p:sp>
      <p:sp>
        <p:nvSpPr>
          <p:cNvPr id="8" name="矩形 17">
            <a:extLst>
              <a:ext uri="{FF2B5EF4-FFF2-40B4-BE49-F238E27FC236}">
                <a16:creationId xmlns:a16="http://schemas.microsoft.com/office/drawing/2014/main" id="{1040CE95-03FB-489F-A451-DE1FDCF8D8D0}"/>
              </a:ext>
            </a:extLst>
          </p:cNvPr>
          <p:cNvSpPr>
            <a:spLocks noChangeArrowheads="1"/>
          </p:cNvSpPr>
          <p:nvPr/>
        </p:nvSpPr>
        <p:spPr bwMode="auto">
          <a:xfrm>
            <a:off x="925832" y="452340"/>
            <a:ext cx="1134814" cy="40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3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a:extLst>
              <a:ext uri="{FF2B5EF4-FFF2-40B4-BE49-F238E27FC236}">
                <a16:creationId xmlns:a16="http://schemas.microsoft.com/office/drawing/2014/main" id="{BB134E3A-A097-4903-9F73-5EF71C62591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Systems Analysis and Design in a Changing World, 6th Edition</a:t>
            </a:r>
          </a:p>
        </p:txBody>
      </p:sp>
      <p:sp>
        <p:nvSpPr>
          <p:cNvPr id="37891" name="Slide Number Placeholder 5">
            <a:extLst>
              <a:ext uri="{FF2B5EF4-FFF2-40B4-BE49-F238E27FC236}">
                <a16:creationId xmlns:a16="http://schemas.microsoft.com/office/drawing/2014/main" id="{2B17DC89-E0FA-4747-9DDF-3A6D8247B7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3919CC74-F857-47AF-8505-782C4E358A53}" type="slidenum">
              <a:rPr lang="en-US" altLang="en-US" sz="1000"/>
              <a:pPr eaLnBrk="1" hangingPunct="1">
                <a:spcBef>
                  <a:spcPct val="0"/>
                </a:spcBef>
                <a:buClrTx/>
                <a:buSzTx/>
                <a:buFontTx/>
                <a:buNone/>
              </a:pPr>
              <a:t>42</a:t>
            </a:fld>
            <a:endParaRPr lang="en-US" altLang="en-US" sz="1000"/>
          </a:p>
        </p:txBody>
      </p:sp>
      <p:sp>
        <p:nvSpPr>
          <p:cNvPr id="37892" name="Rectangle 2">
            <a:extLst>
              <a:ext uri="{FF2B5EF4-FFF2-40B4-BE49-F238E27FC236}">
                <a16:creationId xmlns:a16="http://schemas.microsoft.com/office/drawing/2014/main" id="{031FE67D-46F2-4420-A18D-2BC513621B7F}"/>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Ridgeline Mountain Outfitters (RMO) </a:t>
            </a:r>
          </a:p>
        </p:txBody>
      </p:sp>
      <p:sp>
        <p:nvSpPr>
          <p:cNvPr id="37894" name="Rectangle 4">
            <a:extLst>
              <a:ext uri="{FF2B5EF4-FFF2-40B4-BE49-F238E27FC236}">
                <a16:creationId xmlns:a16="http://schemas.microsoft.com/office/drawing/2014/main" id="{9E306A13-1E2E-4B41-8C61-7D925B8A14F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内容占位符 1">
            <a:extLst>
              <a:ext uri="{FF2B5EF4-FFF2-40B4-BE49-F238E27FC236}">
                <a16:creationId xmlns:a16="http://schemas.microsoft.com/office/drawing/2014/main" id="{52D5A865-B7F2-4748-ACCC-F4F87B39AB22}"/>
              </a:ext>
            </a:extLst>
          </p:cNvPr>
          <p:cNvSpPr>
            <a:spLocks noGrp="1"/>
          </p:cNvSpPr>
          <p:nvPr>
            <p:ph idx="1"/>
          </p:nvPr>
        </p:nvSpPr>
        <p:spPr/>
        <p:txBody>
          <a:bodyPr/>
          <a:lstStyle/>
          <a:p>
            <a:r>
              <a:rPr lang="en-US" altLang="zh-CN" dirty="0"/>
              <a:t>RMO</a:t>
            </a:r>
            <a:r>
              <a:rPr lang="zh-CN" altLang="en-US" dirty="0"/>
              <a:t>是一家大型零售公司，专门生产不同种类的户外运动服装和相关配饰。</a:t>
            </a:r>
            <a:endParaRPr lang="en-US" altLang="zh-CN" dirty="0"/>
          </a:p>
          <a:p>
            <a:pPr lvl="1"/>
            <a:r>
              <a:rPr lang="zh-CN" altLang="en-US" dirty="0"/>
              <a:t>最初，</a:t>
            </a:r>
            <a:r>
              <a:rPr lang="en-US" altLang="zh-CN" dirty="0"/>
              <a:t>RMO</a:t>
            </a:r>
            <a:r>
              <a:rPr lang="zh-CN" altLang="en-US" dirty="0"/>
              <a:t>在犹他州等地区把衣服卖给</a:t>
            </a:r>
            <a:r>
              <a:rPr lang="zh-CN" altLang="en-US" u="sng" dirty="0"/>
              <a:t>当地的服装店</a:t>
            </a:r>
            <a:endParaRPr lang="en-US" altLang="zh-CN" u="sng" dirty="0"/>
          </a:p>
          <a:p>
            <a:pPr lvl="1"/>
            <a:r>
              <a:rPr lang="en-US" altLang="zh-CN" dirty="0"/>
              <a:t>20</a:t>
            </a:r>
            <a:r>
              <a:rPr lang="zh-CN" altLang="en-US" dirty="0"/>
              <a:t>世纪</a:t>
            </a:r>
            <a:r>
              <a:rPr lang="en-US" altLang="zh-CN" dirty="0"/>
              <a:t>80</a:t>
            </a:r>
            <a:r>
              <a:rPr lang="zh-CN" altLang="en-US" dirty="0"/>
              <a:t>年代后期到</a:t>
            </a:r>
            <a:r>
              <a:rPr lang="en-US" altLang="zh-CN" dirty="0"/>
              <a:t>90</a:t>
            </a:r>
            <a:r>
              <a:rPr lang="zh-CN" altLang="en-US" dirty="0"/>
              <a:t>年代早期，它通过</a:t>
            </a:r>
            <a:r>
              <a:rPr lang="zh-CN" altLang="en-US" u="sng" dirty="0"/>
              <a:t>邮寄和电话订购</a:t>
            </a:r>
            <a:r>
              <a:rPr lang="zh-CN" altLang="en-US" dirty="0"/>
              <a:t>直接向顾客销售服装</a:t>
            </a:r>
            <a:endParaRPr lang="en-US" altLang="zh-CN" dirty="0"/>
          </a:p>
          <a:p>
            <a:pPr lvl="1"/>
            <a:r>
              <a:rPr lang="en-US" altLang="zh-CN" dirty="0"/>
              <a:t>2018</a:t>
            </a:r>
            <a:r>
              <a:rPr lang="zh-CN" altLang="en-US" dirty="0"/>
              <a:t>年，它零售商店收入为</a:t>
            </a:r>
            <a:r>
              <a:rPr lang="en-US" altLang="zh-CN" dirty="0"/>
              <a:t>6700</a:t>
            </a:r>
            <a:r>
              <a:rPr lang="zh-CN" altLang="en-US" dirty="0"/>
              <a:t>万美元，电话订购和邮购达到</a:t>
            </a:r>
            <a:r>
              <a:rPr lang="en-US" altLang="zh-CN" dirty="0"/>
              <a:t>1000</a:t>
            </a:r>
            <a:r>
              <a:rPr lang="zh-CN" altLang="en-US" dirty="0"/>
              <a:t>万美元，</a:t>
            </a:r>
            <a:r>
              <a:rPr lang="zh-CN" altLang="en-US" u="sng" dirty="0"/>
              <a:t>网购</a:t>
            </a:r>
            <a:r>
              <a:rPr lang="zh-CN" altLang="en-US" dirty="0"/>
              <a:t>销售额达到了</a:t>
            </a:r>
            <a:r>
              <a:rPr lang="en-US" altLang="zh-CN" dirty="0"/>
              <a:t>2</a:t>
            </a:r>
            <a:r>
              <a:rPr lang="zh-CN" altLang="en-US" dirty="0"/>
              <a:t>亿美元</a:t>
            </a:r>
          </a:p>
        </p:txBody>
      </p:sp>
    </p:spTree>
    <p:extLst>
      <p:ext uri="{BB962C8B-B14F-4D97-AF65-F5344CB8AC3E}">
        <p14:creationId xmlns:p14="http://schemas.microsoft.com/office/powerpoint/2010/main" val="26703937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a:extLst>
              <a:ext uri="{FF2B5EF4-FFF2-40B4-BE49-F238E27FC236}">
                <a16:creationId xmlns:a16="http://schemas.microsoft.com/office/drawing/2014/main" id="{BB134E3A-A097-4903-9F73-5EF71C62591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Systems Analysis and Design in a Changing World, 6th Edition</a:t>
            </a:r>
          </a:p>
        </p:txBody>
      </p:sp>
      <p:sp>
        <p:nvSpPr>
          <p:cNvPr id="37891" name="Slide Number Placeholder 5">
            <a:extLst>
              <a:ext uri="{FF2B5EF4-FFF2-40B4-BE49-F238E27FC236}">
                <a16:creationId xmlns:a16="http://schemas.microsoft.com/office/drawing/2014/main" id="{2B17DC89-E0FA-4747-9DDF-3A6D8247B7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3919CC74-F857-47AF-8505-782C4E358A53}" type="slidenum">
              <a:rPr lang="en-US" altLang="en-US" sz="1000"/>
              <a:pPr eaLnBrk="1" hangingPunct="1">
                <a:spcBef>
                  <a:spcPct val="0"/>
                </a:spcBef>
                <a:buClrTx/>
                <a:buSzTx/>
                <a:buFontTx/>
                <a:buNone/>
              </a:pPr>
              <a:t>43</a:t>
            </a:fld>
            <a:endParaRPr lang="en-US" altLang="en-US" sz="1000"/>
          </a:p>
        </p:txBody>
      </p:sp>
      <p:sp>
        <p:nvSpPr>
          <p:cNvPr id="37892" name="Rectangle 2">
            <a:extLst>
              <a:ext uri="{FF2B5EF4-FFF2-40B4-BE49-F238E27FC236}">
                <a16:creationId xmlns:a16="http://schemas.microsoft.com/office/drawing/2014/main" id="{031FE67D-46F2-4420-A18D-2BC513621B7F}"/>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Ridgeline Mountain Outfitters (RMO) </a:t>
            </a:r>
          </a:p>
        </p:txBody>
      </p:sp>
      <p:pic>
        <p:nvPicPr>
          <p:cNvPr id="37893" name="Picture 7">
            <a:extLst>
              <a:ext uri="{FF2B5EF4-FFF2-40B4-BE49-F238E27FC236}">
                <a16:creationId xmlns:a16="http://schemas.microsoft.com/office/drawing/2014/main" id="{FFB79ECB-2114-4374-8751-10AC4139FD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1435100"/>
            <a:ext cx="8153400" cy="5122863"/>
          </a:xfrm>
          <a:noFill/>
        </p:spPr>
      </p:pic>
      <p:sp>
        <p:nvSpPr>
          <p:cNvPr id="37894" name="Rectangle 4">
            <a:extLst>
              <a:ext uri="{FF2B5EF4-FFF2-40B4-BE49-F238E27FC236}">
                <a16:creationId xmlns:a16="http://schemas.microsoft.com/office/drawing/2014/main" id="{9E306A13-1E2E-4B41-8C61-7D925B8A14F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a:extLst>
              <a:ext uri="{FF2B5EF4-FFF2-40B4-BE49-F238E27FC236}">
                <a16:creationId xmlns:a16="http://schemas.microsoft.com/office/drawing/2014/main" id="{BB134E3A-A097-4903-9F73-5EF71C62591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Systems Analysis and Design in a Changing World, 6th Edition</a:t>
            </a:r>
          </a:p>
        </p:txBody>
      </p:sp>
      <p:sp>
        <p:nvSpPr>
          <p:cNvPr id="37891" name="Slide Number Placeholder 5">
            <a:extLst>
              <a:ext uri="{FF2B5EF4-FFF2-40B4-BE49-F238E27FC236}">
                <a16:creationId xmlns:a16="http://schemas.microsoft.com/office/drawing/2014/main" id="{2B17DC89-E0FA-4747-9DDF-3A6D8247B7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3919CC74-F857-47AF-8505-782C4E358A53}" type="slidenum">
              <a:rPr lang="en-US" altLang="en-US" sz="1000"/>
              <a:pPr eaLnBrk="1" hangingPunct="1">
                <a:spcBef>
                  <a:spcPct val="0"/>
                </a:spcBef>
                <a:buClrTx/>
                <a:buSzTx/>
                <a:buFontTx/>
                <a:buNone/>
              </a:pPr>
              <a:t>44</a:t>
            </a:fld>
            <a:endParaRPr lang="en-US" altLang="en-US" sz="1000"/>
          </a:p>
        </p:txBody>
      </p:sp>
      <p:sp>
        <p:nvSpPr>
          <p:cNvPr id="37892" name="Rectangle 2">
            <a:extLst>
              <a:ext uri="{FF2B5EF4-FFF2-40B4-BE49-F238E27FC236}">
                <a16:creationId xmlns:a16="http://schemas.microsoft.com/office/drawing/2014/main" id="{031FE67D-46F2-4420-A18D-2BC513621B7F}"/>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Ridgeline Mountain Outfitters (RMO) </a:t>
            </a:r>
          </a:p>
        </p:txBody>
      </p:sp>
      <p:pic>
        <p:nvPicPr>
          <p:cNvPr id="37893" name="Picture 7">
            <a:extLst>
              <a:ext uri="{FF2B5EF4-FFF2-40B4-BE49-F238E27FC236}">
                <a16:creationId xmlns:a16="http://schemas.microsoft.com/office/drawing/2014/main" id="{FFB79ECB-2114-4374-8751-10AC4139FD6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841875" y="1417638"/>
            <a:ext cx="3429000" cy="2154475"/>
          </a:xfrm>
          <a:noFill/>
        </p:spPr>
      </p:pic>
      <p:sp>
        <p:nvSpPr>
          <p:cNvPr id="37894" name="Rectangle 4">
            <a:extLst>
              <a:ext uri="{FF2B5EF4-FFF2-40B4-BE49-F238E27FC236}">
                <a16:creationId xmlns:a16="http://schemas.microsoft.com/office/drawing/2014/main" id="{9E306A13-1E2E-4B41-8C61-7D925B8A14F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内容占位符 1">
            <a:extLst>
              <a:ext uri="{FF2B5EF4-FFF2-40B4-BE49-F238E27FC236}">
                <a16:creationId xmlns:a16="http://schemas.microsoft.com/office/drawing/2014/main" id="{F47E13A4-EBE0-4A28-9117-AF839F5EF162}"/>
              </a:ext>
            </a:extLst>
          </p:cNvPr>
          <p:cNvSpPr txBox="1">
            <a:spLocks/>
          </p:cNvSpPr>
          <p:nvPr/>
        </p:nvSpPr>
        <p:spPr bwMode="auto">
          <a:xfrm>
            <a:off x="457200" y="1410665"/>
            <a:ext cx="4384675"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kern="0" dirty="0"/>
              <a:t>背景：</a:t>
            </a:r>
            <a:endParaRPr lang="en-US" altLang="zh-CN" kern="0" dirty="0"/>
          </a:p>
          <a:p>
            <a:pPr lvl="1"/>
            <a:r>
              <a:rPr lang="zh-CN" altLang="en-US" sz="2400" kern="0" dirty="0"/>
              <a:t>为了保证生产线的现代化，</a:t>
            </a:r>
            <a:r>
              <a:rPr lang="en-US" altLang="zh-CN" sz="2400" kern="0" dirty="0"/>
              <a:t>RMO</a:t>
            </a:r>
            <a:r>
              <a:rPr lang="zh-CN" altLang="en-US" sz="2400" kern="0" dirty="0"/>
              <a:t>的采购代理人会参加世界各地的服装展和面料展。</a:t>
            </a:r>
            <a:endParaRPr lang="en-US" altLang="zh-CN" sz="2400" kern="0" dirty="0"/>
          </a:p>
        </p:txBody>
      </p:sp>
      <p:sp>
        <p:nvSpPr>
          <p:cNvPr id="9" name="文本框 8">
            <a:extLst>
              <a:ext uri="{FF2B5EF4-FFF2-40B4-BE49-F238E27FC236}">
                <a16:creationId xmlns:a16="http://schemas.microsoft.com/office/drawing/2014/main" id="{763349AD-ED78-4839-A63C-41E770361847}"/>
              </a:ext>
            </a:extLst>
          </p:cNvPr>
          <p:cNvSpPr txBox="1"/>
          <p:nvPr/>
        </p:nvSpPr>
        <p:spPr>
          <a:xfrm>
            <a:off x="457200" y="3632610"/>
            <a:ext cx="7585075" cy="2751522"/>
          </a:xfrm>
          <a:prstGeom prst="rect">
            <a:avLst/>
          </a:prstGeom>
          <a:noFill/>
        </p:spPr>
        <p:txBody>
          <a:bodyPr wrap="square">
            <a:spAutoFit/>
          </a:bodyPr>
          <a:lstStyle/>
          <a:p>
            <a:pPr marL="692150" lvl="1" indent="-347663" eaLnBrk="0" hangingPunct="0">
              <a:spcBef>
                <a:spcPct val="20000"/>
              </a:spcBef>
              <a:buClr>
                <a:schemeClr val="accent2"/>
              </a:buClr>
              <a:buSzPct val="70000"/>
              <a:buFont typeface="Wingdings" panose="05000000000000000000" pitchFamily="2" charset="2"/>
              <a:buChar char="l"/>
            </a:pPr>
            <a:r>
              <a:rPr lang="zh-CN" altLang="en-US" sz="2400" kern="0" dirty="0">
                <a:latin typeface="+mn-lt"/>
                <a:cs typeface="+mn-cs"/>
              </a:rPr>
              <a:t>过去，这些代理人想要订购</a:t>
            </a:r>
            <a:r>
              <a:rPr lang="en-US" altLang="zh-CN" sz="2400" kern="0" dirty="0">
                <a:latin typeface="+mn-lt"/>
                <a:cs typeface="+mn-cs"/>
              </a:rPr>
              <a:t>RMO</a:t>
            </a:r>
            <a:r>
              <a:rPr lang="zh-CN" altLang="en-US" sz="2400" kern="0" dirty="0">
                <a:latin typeface="+mn-lt"/>
                <a:cs typeface="+mn-cs"/>
              </a:rPr>
              <a:t>的商品时，需要在展览中与销售人员交换联系信息，等回到办公室后在通过电子邮件和电话进一步制定合同和购买订单。</a:t>
            </a:r>
            <a:endParaRPr lang="en-US" altLang="zh-CN" sz="2400" kern="0" dirty="0">
              <a:latin typeface="+mn-lt"/>
              <a:cs typeface="+mn-cs"/>
            </a:endParaRPr>
          </a:p>
          <a:p>
            <a:pPr marL="692150" lvl="1" indent="-347663" eaLnBrk="0" hangingPunct="0">
              <a:spcBef>
                <a:spcPct val="20000"/>
              </a:spcBef>
              <a:buClr>
                <a:schemeClr val="accent2"/>
              </a:buClr>
              <a:buSzPct val="70000"/>
              <a:buFont typeface="Wingdings" panose="05000000000000000000" pitchFamily="2" charset="2"/>
              <a:buChar char="l"/>
            </a:pPr>
            <a:r>
              <a:rPr lang="zh-CN" altLang="en-US" sz="2400" kern="0" dirty="0">
                <a:latin typeface="+mn-lt"/>
                <a:cs typeface="+mn-cs"/>
              </a:rPr>
              <a:t>为了迅速完成订单，</a:t>
            </a:r>
            <a:r>
              <a:rPr lang="en-US" altLang="zh-CN" sz="2400" kern="0" dirty="0">
                <a:latin typeface="+mn-lt"/>
                <a:cs typeface="+mn-cs"/>
              </a:rPr>
              <a:t>RMO</a:t>
            </a:r>
            <a:r>
              <a:rPr lang="zh-CN" altLang="en-US" sz="2400" kern="0" dirty="0">
                <a:latin typeface="+mn-lt"/>
                <a:cs typeface="+mn-cs"/>
              </a:rPr>
              <a:t>启动了一个项目：</a:t>
            </a:r>
            <a:r>
              <a:rPr lang="zh-CN" altLang="en-US" sz="2400" kern="0" dirty="0">
                <a:solidFill>
                  <a:srgbClr val="C00000"/>
                </a:solidFill>
                <a:latin typeface="+mn-lt"/>
                <a:cs typeface="+mn-cs"/>
              </a:rPr>
              <a:t>开发一个系统来收集和跟进它的代理人信息和待销售商品</a:t>
            </a:r>
            <a:endParaRPr lang="en-US" altLang="zh-CN" sz="2400" kern="0" dirty="0">
              <a:solidFill>
                <a:srgbClr val="C00000"/>
              </a:solidFill>
              <a:latin typeface="+mn-lt"/>
              <a:cs typeface="+mn-cs"/>
            </a:endParaRPr>
          </a:p>
        </p:txBody>
      </p:sp>
    </p:spTree>
    <p:extLst>
      <p:ext uri="{BB962C8B-B14F-4D97-AF65-F5344CB8AC3E}">
        <p14:creationId xmlns:p14="http://schemas.microsoft.com/office/powerpoint/2010/main" val="3199609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E6242E48-9975-4CBD-8FDE-1E57419F82F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FB742390-EB7A-4084-A9B6-7118B19CF30E}" type="slidenum">
              <a:rPr lang="en-US" altLang="en-US" sz="1000"/>
              <a:pPr eaLnBrk="1" hangingPunct="1">
                <a:spcBef>
                  <a:spcPct val="0"/>
                </a:spcBef>
                <a:buClrTx/>
                <a:buSzTx/>
                <a:buFontTx/>
                <a:buNone/>
              </a:pPr>
              <a:t>45</a:t>
            </a:fld>
            <a:endParaRPr lang="en-US" altLang="en-US" sz="1000"/>
          </a:p>
        </p:txBody>
      </p:sp>
      <p:sp>
        <p:nvSpPr>
          <p:cNvPr id="39939" name="Rectangle 2">
            <a:extLst>
              <a:ext uri="{FF2B5EF4-FFF2-40B4-BE49-F238E27FC236}">
                <a16:creationId xmlns:a16="http://schemas.microsoft.com/office/drawing/2014/main" id="{68903C04-61EF-46EC-974F-1EC43138BE29}"/>
              </a:ext>
            </a:extLst>
          </p:cNvPr>
          <p:cNvSpPr>
            <a:spLocks noGrp="1" noChangeArrowheads="1"/>
          </p:cNvSpPr>
          <p:nvPr>
            <p:ph type="title"/>
          </p:nvPr>
        </p:nvSpPr>
        <p:spPr/>
        <p:txBody>
          <a:bodyPr/>
          <a:lstStyle/>
          <a:p>
            <a:pPr eaLnBrk="1" hangingPunct="1"/>
            <a:r>
              <a:rPr lang="en-US" altLang="zh-CN">
                <a:ea typeface="宋体" panose="02010600030101010101" pitchFamily="2" charset="-122"/>
              </a:rPr>
              <a:t>RMO Tradeshow System </a:t>
            </a:r>
          </a:p>
        </p:txBody>
      </p:sp>
      <p:sp>
        <p:nvSpPr>
          <p:cNvPr id="39940" name="Rectangle 3">
            <a:extLst>
              <a:ext uri="{FF2B5EF4-FFF2-40B4-BE49-F238E27FC236}">
                <a16:creationId xmlns:a16="http://schemas.microsoft.com/office/drawing/2014/main" id="{8D16C53D-A684-4E98-A307-B7B19EDDC87C}"/>
              </a:ext>
            </a:extLst>
          </p:cNvPr>
          <p:cNvSpPr>
            <a:spLocks noGrp="1" noChangeArrowheads="1"/>
          </p:cNvSpPr>
          <p:nvPr>
            <p:ph type="body" idx="1"/>
          </p:nvPr>
        </p:nvSpPr>
        <p:spPr/>
        <p:txBody>
          <a:bodyPr/>
          <a:lstStyle/>
          <a:p>
            <a:pPr eaLnBrk="1" hangingPunct="1">
              <a:lnSpc>
                <a:spcPct val="90000"/>
              </a:lnSpc>
            </a:pPr>
            <a:r>
              <a:rPr lang="en-US" altLang="zh-CN" sz="2800" b="1" dirty="0">
                <a:ea typeface="宋体" panose="02010600030101010101" pitchFamily="2" charset="-122"/>
              </a:rPr>
              <a:t>Problem</a:t>
            </a:r>
            <a:r>
              <a:rPr lang="en-US" altLang="zh-CN" sz="2800" dirty="0">
                <a:ea typeface="宋体" panose="02010600030101010101" pitchFamily="2" charset="-122"/>
              </a:rPr>
              <a:t>-- </a:t>
            </a:r>
            <a:r>
              <a:rPr lang="en-GB" altLang="zh-CN" sz="2800" dirty="0">
                <a:ea typeface="宋体" panose="02010600030101010101" pitchFamily="2" charset="-122"/>
              </a:rPr>
              <a:t>purchasing agents attend apparel and fabric trade shows around the world to order new products from suppliers</a:t>
            </a:r>
            <a:r>
              <a:rPr lang="zh-CN" altLang="en-US" sz="2800" dirty="0">
                <a:ea typeface="宋体" panose="02010600030101010101" pitchFamily="2" charset="-122"/>
              </a:rPr>
              <a:t>（采购代理从供应商处订购新产品）</a:t>
            </a:r>
            <a:endParaRPr lang="en-GB" altLang="zh-CN" sz="2800" dirty="0">
              <a:ea typeface="宋体" panose="02010600030101010101" pitchFamily="2" charset="-122"/>
            </a:endParaRPr>
          </a:p>
          <a:p>
            <a:pPr eaLnBrk="1" hangingPunct="1">
              <a:lnSpc>
                <a:spcPct val="90000"/>
              </a:lnSpc>
            </a:pPr>
            <a:r>
              <a:rPr lang="en-GB" altLang="zh-CN" sz="2800" b="1" dirty="0">
                <a:ea typeface="宋体" panose="02010600030101010101" pitchFamily="2" charset="-122"/>
              </a:rPr>
              <a:t>Need</a:t>
            </a:r>
            <a:r>
              <a:rPr lang="en-GB" altLang="zh-CN" sz="2800" dirty="0">
                <a:ea typeface="宋体" panose="02010600030101010101" pitchFamily="2" charset="-122"/>
              </a:rPr>
              <a:t>– information system (app) to </a:t>
            </a:r>
            <a:r>
              <a:rPr lang="en-GB" altLang="zh-CN" sz="2800" dirty="0">
                <a:solidFill>
                  <a:srgbClr val="C00000"/>
                </a:solidFill>
                <a:ea typeface="宋体" panose="02010600030101010101" pitchFamily="2" charset="-122"/>
              </a:rPr>
              <a:t>collect and track information about suppliers and new products </a:t>
            </a:r>
            <a:r>
              <a:rPr lang="en-GB" altLang="zh-CN" sz="2800" dirty="0">
                <a:ea typeface="宋体" panose="02010600030101010101" pitchFamily="2" charset="-122"/>
              </a:rPr>
              <a:t>while at tradeshows</a:t>
            </a:r>
            <a:r>
              <a:rPr lang="zh-CN" altLang="en-US" sz="2800" dirty="0">
                <a:ea typeface="宋体" panose="02010600030101010101" pitchFamily="2" charset="-122"/>
              </a:rPr>
              <a:t>（收集供应商和产品信息）</a:t>
            </a:r>
            <a:endParaRPr lang="en-GB" altLang="zh-CN" sz="2800" dirty="0">
              <a:ea typeface="宋体" panose="02010600030101010101" pitchFamily="2" charset="-122"/>
            </a:endParaRPr>
          </a:p>
          <a:p>
            <a:pPr eaLnBrk="1" hangingPunct="1">
              <a:lnSpc>
                <a:spcPct val="90000"/>
              </a:lnSpc>
            </a:pPr>
            <a:r>
              <a:rPr lang="en-GB" altLang="zh-CN" sz="2800" b="1" dirty="0">
                <a:ea typeface="宋体" panose="02010600030101010101" pitchFamily="2" charset="-122"/>
              </a:rPr>
              <a:t>Tradeshow Project</a:t>
            </a:r>
            <a:r>
              <a:rPr lang="en-GB" altLang="zh-CN" sz="2800" dirty="0">
                <a:ea typeface="宋体" panose="02010600030101010101" pitchFamily="2" charset="-122"/>
              </a:rPr>
              <a:t>– is proposed</a:t>
            </a:r>
          </a:p>
          <a:p>
            <a:pPr lvl="1" eaLnBrk="1" hangingPunct="1">
              <a:lnSpc>
                <a:spcPct val="90000"/>
              </a:lnSpc>
            </a:pPr>
            <a:r>
              <a:rPr lang="en-US" altLang="zh-CN" sz="2400" dirty="0">
                <a:ea typeface="宋体" panose="02010600030101010101" pitchFamily="2" charset="-122"/>
              </a:rPr>
              <a:t>Supplier information subsystem</a:t>
            </a:r>
            <a:r>
              <a:rPr lang="zh-CN" altLang="en-US" sz="2400" dirty="0">
                <a:ea typeface="宋体" panose="02010600030101010101" pitchFamily="2" charset="-122"/>
              </a:rPr>
              <a:t>（供应商信息子系统）</a:t>
            </a:r>
            <a:endParaRPr lang="en-US" altLang="zh-CN" sz="24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Product information subsystem</a:t>
            </a:r>
            <a:r>
              <a:rPr lang="zh-CN" altLang="en-US" sz="2400" dirty="0">
                <a:ea typeface="宋体" panose="02010600030101010101" pitchFamily="2" charset="-122"/>
              </a:rPr>
              <a:t>（产品信息子系统）</a:t>
            </a:r>
            <a:endParaRPr lang="en-US" altLang="zh-CN" sz="2400" dirty="0">
              <a:ea typeface="宋体" panose="02010600030101010101" pitchFamily="2" charset="-122"/>
            </a:endParaRPr>
          </a:p>
        </p:txBody>
      </p:sp>
      <p:sp>
        <p:nvSpPr>
          <p:cNvPr id="39941" name="Footer Placeholder 4">
            <a:extLst>
              <a:ext uri="{FF2B5EF4-FFF2-40B4-BE49-F238E27FC236}">
                <a16:creationId xmlns:a16="http://schemas.microsoft.com/office/drawing/2014/main" id="{71D5935E-7619-4C66-926A-11199196ED3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39942" name="Rectangle 4">
            <a:extLst>
              <a:ext uri="{FF2B5EF4-FFF2-40B4-BE49-F238E27FC236}">
                <a16:creationId xmlns:a16="http://schemas.microsoft.com/office/drawing/2014/main" id="{935F621C-1E93-4E64-B203-2D95B526C3A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65297902-8B41-49E4-95AE-9078D11315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E9A6060A-E22E-49A3-9A65-B7A504664389}" type="slidenum">
              <a:rPr lang="en-US" altLang="en-US" sz="1000"/>
              <a:pPr eaLnBrk="1" hangingPunct="1">
                <a:spcBef>
                  <a:spcPct val="0"/>
                </a:spcBef>
                <a:buClrTx/>
                <a:buSzTx/>
                <a:buFontTx/>
                <a:buNone/>
              </a:pPr>
              <a:t>46</a:t>
            </a:fld>
            <a:endParaRPr lang="en-US" altLang="en-US" sz="1000"/>
          </a:p>
        </p:txBody>
      </p:sp>
      <p:sp>
        <p:nvSpPr>
          <p:cNvPr id="40963" name="Rectangle 2">
            <a:extLst>
              <a:ext uri="{FF2B5EF4-FFF2-40B4-BE49-F238E27FC236}">
                <a16:creationId xmlns:a16="http://schemas.microsoft.com/office/drawing/2014/main" id="{F60ABE37-3429-4674-980F-AD00973B580C}"/>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Pre-Project Activities</a:t>
            </a:r>
          </a:p>
        </p:txBody>
      </p:sp>
      <p:sp>
        <p:nvSpPr>
          <p:cNvPr id="40964" name="Rectangle 3">
            <a:extLst>
              <a:ext uri="{FF2B5EF4-FFF2-40B4-BE49-F238E27FC236}">
                <a16:creationId xmlns:a16="http://schemas.microsoft.com/office/drawing/2014/main" id="{64B754A4-3FC8-425F-99F1-DED69E439CF2}"/>
              </a:ext>
            </a:extLst>
          </p:cNvPr>
          <p:cNvSpPr>
            <a:spLocks noGrp="1" noChangeArrowheads="1"/>
          </p:cNvSpPr>
          <p:nvPr>
            <p:ph type="body" idx="1"/>
          </p:nvPr>
        </p:nvSpPr>
        <p:spPr/>
        <p:txBody>
          <a:bodyPr/>
          <a:lstStyle/>
          <a:p>
            <a:pPr eaLnBrk="1" hangingPunct="1"/>
            <a:r>
              <a:rPr lang="en-US" altLang="zh-CN" sz="2800" dirty="0">
                <a:ea typeface="宋体" panose="02010600030101010101" pitchFamily="2" charset="-122"/>
              </a:rPr>
              <a:t>Identify the problem and document the objective of the system (</a:t>
            </a:r>
            <a:r>
              <a:rPr lang="zh-CN" altLang="en-US" sz="2800" dirty="0">
                <a:solidFill>
                  <a:srgbClr val="C00000"/>
                </a:solidFill>
                <a:ea typeface="宋体" panose="02010600030101010101" pitchFamily="2" charset="-122"/>
              </a:rPr>
              <a:t>核心过程</a:t>
            </a:r>
            <a:r>
              <a:rPr lang="en-US" altLang="zh-CN" sz="2800" dirty="0">
                <a:solidFill>
                  <a:srgbClr val="C00000"/>
                </a:solidFill>
                <a:ea typeface="宋体" panose="02010600030101010101" pitchFamily="2" charset="-122"/>
              </a:rPr>
              <a:t>1</a:t>
            </a:r>
            <a:r>
              <a:rPr lang="zh-CN" altLang="en-US" sz="2800" dirty="0">
                <a:solidFill>
                  <a:srgbClr val="C00000"/>
                </a:solidFill>
                <a:ea typeface="宋体" panose="02010600030101010101" pitchFamily="2" charset="-122"/>
              </a:rPr>
              <a:t>：项目立项</a:t>
            </a:r>
            <a:r>
              <a:rPr lang="en-US" altLang="zh-CN" sz="2800" dirty="0">
                <a:ea typeface="宋体" panose="02010600030101010101" pitchFamily="2" charset="-122"/>
              </a:rPr>
              <a:t>)</a:t>
            </a:r>
          </a:p>
          <a:p>
            <a:pPr lvl="1" eaLnBrk="1" hangingPunct="1"/>
            <a:r>
              <a:rPr lang="en-US" altLang="zh-CN" sz="2400" dirty="0">
                <a:ea typeface="宋体" panose="02010600030101010101" pitchFamily="2" charset="-122"/>
              </a:rPr>
              <a:t>Preliminary investigation</a:t>
            </a:r>
            <a:r>
              <a:rPr lang="zh-CN" altLang="en-US" sz="2400" dirty="0">
                <a:ea typeface="宋体" panose="02010600030101010101" pitchFamily="2" charset="-122"/>
              </a:rPr>
              <a:t>（初步调查）</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System Vision Document</a:t>
            </a:r>
            <a:r>
              <a:rPr lang="zh-CN" altLang="en-US" sz="2400" dirty="0">
                <a:ea typeface="宋体" panose="02010600030101010101" pitchFamily="2" charset="-122"/>
              </a:rPr>
              <a:t>（系统愿景文档）</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Obtain approval to commence the project (</a:t>
            </a:r>
            <a:r>
              <a:rPr lang="en-US" altLang="zh-CN" sz="2800" dirty="0">
                <a:solidFill>
                  <a:srgbClr val="C00000"/>
                </a:solidFill>
                <a:ea typeface="宋体" panose="02010600030101010101" pitchFamily="2" charset="-122"/>
              </a:rPr>
              <a:t>core process 1</a:t>
            </a:r>
            <a:r>
              <a:rPr lang="en-US" altLang="zh-CN" sz="2800" dirty="0">
                <a:ea typeface="宋体" panose="02010600030101010101" pitchFamily="2" charset="-122"/>
              </a:rPr>
              <a:t>)</a:t>
            </a:r>
          </a:p>
          <a:p>
            <a:pPr lvl="1" eaLnBrk="1" hangingPunct="1"/>
            <a:r>
              <a:rPr lang="en-US" altLang="zh-CN" sz="2400" dirty="0">
                <a:ea typeface="宋体" panose="02010600030101010101" pitchFamily="2" charset="-122"/>
              </a:rPr>
              <a:t>Meet with key stakeholders, including executive management</a:t>
            </a:r>
            <a:r>
              <a:rPr lang="zh-CN" altLang="en-US" sz="2400" dirty="0">
                <a:ea typeface="宋体" panose="02010600030101010101" pitchFamily="2" charset="-122"/>
              </a:rPr>
              <a:t>（与利益相关者会面）</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Decision reached, approve plan and budget</a:t>
            </a:r>
            <a:r>
              <a:rPr lang="zh-CN" altLang="en-US" sz="2400" dirty="0">
                <a:ea typeface="宋体" panose="02010600030101010101" pitchFamily="2" charset="-122"/>
              </a:rPr>
              <a:t>（做出计划与预算决定）</a:t>
            </a:r>
            <a:endParaRPr lang="en-US" altLang="zh-CN" sz="2400" dirty="0">
              <a:ea typeface="宋体" panose="02010600030101010101" pitchFamily="2" charset="-122"/>
            </a:endParaRPr>
          </a:p>
        </p:txBody>
      </p:sp>
      <p:sp>
        <p:nvSpPr>
          <p:cNvPr id="40966" name="Rectangle 4">
            <a:extLst>
              <a:ext uri="{FF2B5EF4-FFF2-40B4-BE49-F238E27FC236}">
                <a16:creationId xmlns:a16="http://schemas.microsoft.com/office/drawing/2014/main" id="{40F1118E-2B76-4DC5-87F4-B2757B324FD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0EB7FB35-E34F-40E7-BAB1-B3DF4B9E01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DA4FDE78-1894-4907-9D28-D02691A5CCE0}" type="slidenum">
              <a:rPr lang="en-US" altLang="en-US" sz="1000"/>
              <a:pPr eaLnBrk="1" hangingPunct="1">
                <a:spcBef>
                  <a:spcPct val="0"/>
                </a:spcBef>
                <a:buClrTx/>
                <a:buSzTx/>
                <a:buFontTx/>
                <a:buNone/>
              </a:pPr>
              <a:t>47</a:t>
            </a:fld>
            <a:endParaRPr lang="en-US" altLang="en-US" sz="1000"/>
          </a:p>
        </p:txBody>
      </p:sp>
      <p:sp>
        <p:nvSpPr>
          <p:cNvPr id="41987" name="Rectangle 2">
            <a:extLst>
              <a:ext uri="{FF2B5EF4-FFF2-40B4-BE49-F238E27FC236}">
                <a16:creationId xmlns:a16="http://schemas.microsoft.com/office/drawing/2014/main" id="{F7F5792A-7B88-4D0E-8A6C-734755115EC4}"/>
              </a:ext>
            </a:extLst>
          </p:cNvPr>
          <p:cNvSpPr>
            <a:spLocks noGrp="1" noChangeArrowheads="1"/>
          </p:cNvSpPr>
          <p:nvPr>
            <p:ph type="title"/>
          </p:nvPr>
        </p:nvSpPr>
        <p:spPr>
          <a:xfrm>
            <a:off x="381000" y="1295400"/>
            <a:ext cx="3352800" cy="4114800"/>
          </a:xfrm>
        </p:spPr>
        <p:txBody>
          <a:bodyPr/>
          <a:lstStyle/>
          <a:p>
            <a:pPr eaLnBrk="1" hangingPunct="1"/>
            <a:r>
              <a:rPr lang="en-US" altLang="zh-CN" sz="3200" dirty="0">
                <a:ea typeface="宋体" panose="02010600030101010101" pitchFamily="2" charset="-122"/>
              </a:rPr>
              <a:t>System Vision Document</a:t>
            </a:r>
            <a:br>
              <a:rPr lang="en-US" altLang="zh-CN" sz="32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Problem description</a:t>
            </a:r>
            <a:r>
              <a:rPr lang="zh-CN" altLang="en-US" sz="2400" dirty="0">
                <a:ea typeface="宋体" panose="02010600030101010101" pitchFamily="2" charset="-122"/>
              </a:rPr>
              <a:t>：</a:t>
            </a:r>
            <a:br>
              <a:rPr lang="en-US" altLang="zh-CN" sz="2400" dirty="0">
                <a:ea typeface="宋体" panose="02010600030101010101" pitchFamily="2" charset="-122"/>
              </a:rPr>
            </a:br>
            <a:r>
              <a:rPr lang="zh-CN" altLang="en-US" sz="2400" dirty="0">
                <a:ea typeface="宋体" panose="02010600030101010101" pitchFamily="2" charset="-122"/>
              </a:rPr>
              <a:t>为什么要做？</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System capabilities</a:t>
            </a:r>
            <a:r>
              <a:rPr lang="zh-CN" altLang="en-US" sz="2400" dirty="0">
                <a:ea typeface="宋体" panose="02010600030101010101" pitchFamily="2" charset="-122"/>
              </a:rPr>
              <a:t>：</a:t>
            </a:r>
            <a:br>
              <a:rPr lang="en-US" altLang="zh-CN" sz="2400" dirty="0">
                <a:ea typeface="宋体" panose="02010600030101010101" pitchFamily="2" charset="-122"/>
              </a:rPr>
            </a:br>
            <a:r>
              <a:rPr lang="zh-CN" altLang="en-US" sz="2400" dirty="0">
                <a:ea typeface="宋体" panose="02010600030101010101" pitchFamily="2" charset="-122"/>
              </a:rPr>
              <a:t>做什么？</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Business benefits</a:t>
            </a:r>
            <a:r>
              <a:rPr lang="zh-CN" altLang="en-US" sz="2400" dirty="0">
                <a:ea typeface="宋体" panose="02010600030101010101" pitchFamily="2" charset="-122"/>
              </a:rPr>
              <a:t>：</a:t>
            </a:r>
            <a:br>
              <a:rPr lang="en-US" altLang="zh-CN" sz="2400" dirty="0">
                <a:ea typeface="宋体" panose="02010600030101010101" pitchFamily="2" charset="-122"/>
              </a:rPr>
            </a:br>
            <a:r>
              <a:rPr lang="zh-CN" altLang="en-US" sz="2400" dirty="0">
                <a:ea typeface="宋体" panose="02010600030101010101" pitchFamily="2" charset="-122"/>
              </a:rPr>
              <a:t>能带来什么收益？</a:t>
            </a:r>
            <a:br>
              <a:rPr lang="en-US" altLang="zh-CN" sz="2400" dirty="0">
                <a:ea typeface="宋体" panose="02010600030101010101" pitchFamily="2" charset="-122"/>
              </a:rPr>
            </a:br>
            <a:endParaRPr lang="en-US" altLang="zh-CN" sz="2400" dirty="0">
              <a:ea typeface="宋体" panose="02010600030101010101" pitchFamily="2" charset="-122"/>
            </a:endParaRPr>
          </a:p>
        </p:txBody>
      </p:sp>
      <p:pic>
        <p:nvPicPr>
          <p:cNvPr id="41988" name="Picture 10">
            <a:extLst>
              <a:ext uri="{FF2B5EF4-FFF2-40B4-BE49-F238E27FC236}">
                <a16:creationId xmlns:a16="http://schemas.microsoft.com/office/drawing/2014/main" id="{F4103424-F15A-4C11-A402-B308460D2B8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914775" y="152400"/>
            <a:ext cx="4222750" cy="6172200"/>
          </a:xfrm>
          <a:noFill/>
        </p:spPr>
      </p:pic>
      <p:sp>
        <p:nvSpPr>
          <p:cNvPr id="41989" name="Footer Placeholder 4">
            <a:extLst>
              <a:ext uri="{FF2B5EF4-FFF2-40B4-BE49-F238E27FC236}">
                <a16:creationId xmlns:a16="http://schemas.microsoft.com/office/drawing/2014/main" id="{C575C30A-C1AD-47EA-B3A3-5693615FC87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1990" name="Rectangle 4">
            <a:extLst>
              <a:ext uri="{FF2B5EF4-FFF2-40B4-BE49-F238E27FC236}">
                <a16:creationId xmlns:a16="http://schemas.microsoft.com/office/drawing/2014/main" id="{DC548C0C-FEBC-45ED-84C1-498278F979B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72EC4FB6-07D4-46B9-AC8A-1A7C6FCC6625}"/>
              </a:ext>
            </a:extLst>
          </p:cNvPr>
          <p:cNvSpPr/>
          <p:nvPr/>
        </p:nvSpPr>
        <p:spPr>
          <a:xfrm>
            <a:off x="3976687" y="617220"/>
            <a:ext cx="1204913" cy="22098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F8076FE-AFE6-41F8-99DE-C30EF2B0695C}"/>
              </a:ext>
            </a:extLst>
          </p:cNvPr>
          <p:cNvSpPr/>
          <p:nvPr/>
        </p:nvSpPr>
        <p:spPr>
          <a:xfrm>
            <a:off x="3976687" y="2523173"/>
            <a:ext cx="1204913" cy="22098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515AE4E-2BD9-47EE-A098-40CD54439045}"/>
              </a:ext>
            </a:extLst>
          </p:cNvPr>
          <p:cNvSpPr/>
          <p:nvPr/>
        </p:nvSpPr>
        <p:spPr>
          <a:xfrm>
            <a:off x="3976687" y="4164806"/>
            <a:ext cx="1204913" cy="22098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CB7E71D-F408-4305-95D6-A6666586CF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ECADAB32-30C3-4805-90A4-083C7B57C408}" type="slidenum">
              <a:rPr lang="en-US" altLang="en-US" sz="1000"/>
              <a:pPr eaLnBrk="1" hangingPunct="1">
                <a:spcBef>
                  <a:spcPct val="0"/>
                </a:spcBef>
                <a:buClrTx/>
                <a:buSzTx/>
                <a:buFontTx/>
                <a:buNone/>
              </a:pPr>
              <a:t>48</a:t>
            </a:fld>
            <a:endParaRPr lang="en-US" altLang="en-US" sz="1000"/>
          </a:p>
        </p:txBody>
      </p:sp>
      <p:sp>
        <p:nvSpPr>
          <p:cNvPr id="43011" name="Rectangle 2">
            <a:extLst>
              <a:ext uri="{FF2B5EF4-FFF2-40B4-BE49-F238E27FC236}">
                <a16:creationId xmlns:a16="http://schemas.microsoft.com/office/drawing/2014/main" id="{C48FD21A-5ED8-482B-B205-8711A17AFA17}"/>
              </a:ext>
            </a:extLst>
          </p:cNvPr>
          <p:cNvSpPr>
            <a:spLocks noGrp="1" noChangeArrowheads="1"/>
          </p:cNvSpPr>
          <p:nvPr>
            <p:ph type="title"/>
          </p:nvPr>
        </p:nvSpPr>
        <p:spPr/>
        <p:txBody>
          <a:bodyPr/>
          <a:lstStyle/>
          <a:p>
            <a:pPr eaLnBrk="1" hangingPunct="1"/>
            <a:r>
              <a:rPr lang="en-US" altLang="zh-CN">
                <a:ea typeface="宋体" panose="02010600030101010101" pitchFamily="2" charset="-122"/>
              </a:rPr>
              <a:t>Problem Description </a:t>
            </a:r>
          </a:p>
        </p:txBody>
      </p:sp>
      <p:pic>
        <p:nvPicPr>
          <p:cNvPr id="43012" name="Picture 11">
            <a:extLst>
              <a:ext uri="{FF2B5EF4-FFF2-40B4-BE49-F238E27FC236}">
                <a16:creationId xmlns:a16="http://schemas.microsoft.com/office/drawing/2014/main" id="{42A7FDC1-85D4-4D68-9935-53971A8D531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04800" y="1763713"/>
            <a:ext cx="8382000" cy="3613150"/>
          </a:xfrm>
          <a:noFill/>
        </p:spPr>
      </p:pic>
      <p:sp>
        <p:nvSpPr>
          <p:cNvPr id="43013" name="Footer Placeholder 4">
            <a:extLst>
              <a:ext uri="{FF2B5EF4-FFF2-40B4-BE49-F238E27FC236}">
                <a16:creationId xmlns:a16="http://schemas.microsoft.com/office/drawing/2014/main" id="{884B453F-4CA8-48F7-81DC-9694A96DAA3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14B61831-F622-4651-9D47-0E7916C071A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C2D9096F-47A2-4653-BFBA-79B3A7047977}"/>
              </a:ext>
            </a:extLst>
          </p:cNvPr>
          <p:cNvSpPr/>
          <p:nvPr/>
        </p:nvSpPr>
        <p:spPr>
          <a:xfrm>
            <a:off x="304800" y="4270057"/>
            <a:ext cx="8382000" cy="10334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575FB27-BD88-479B-B09B-14E1343DF4E4}"/>
              </a:ext>
            </a:extLst>
          </p:cNvPr>
          <p:cNvSpPr txBox="1"/>
          <p:nvPr/>
        </p:nvSpPr>
        <p:spPr>
          <a:xfrm>
            <a:off x="304800" y="5467900"/>
            <a:ext cx="6186309" cy="646331"/>
          </a:xfrm>
          <a:prstGeom prst="rect">
            <a:avLst/>
          </a:prstGeom>
          <a:noFill/>
        </p:spPr>
        <p:txBody>
          <a:bodyPr wrap="none" rtlCol="0">
            <a:spAutoFit/>
          </a:bodyPr>
          <a:lstStyle/>
          <a:p>
            <a:r>
              <a:rPr lang="zh-CN" altLang="en-US" dirty="0"/>
              <a:t>为什么要做？</a:t>
            </a:r>
            <a:endParaRPr lang="en-US" altLang="zh-CN" dirty="0"/>
          </a:p>
          <a:p>
            <a:r>
              <a:rPr lang="zh-CN" altLang="en-US" dirty="0"/>
              <a:t>区域代理商能够更快速地与供应商和感兴趣的产品进行沟通</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FFAF7E15-5FA4-4A39-B179-F0F97FCF2A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C3027D33-2698-44EA-923F-7DA5CF21A82D}" type="slidenum">
              <a:rPr lang="en-US" altLang="en-US" sz="1000"/>
              <a:pPr eaLnBrk="1" hangingPunct="1">
                <a:spcBef>
                  <a:spcPct val="0"/>
                </a:spcBef>
                <a:buClrTx/>
                <a:buSzTx/>
                <a:buFontTx/>
                <a:buNone/>
              </a:pPr>
              <a:t>49</a:t>
            </a:fld>
            <a:endParaRPr lang="en-US" altLang="en-US" sz="1000"/>
          </a:p>
        </p:txBody>
      </p:sp>
      <p:sp>
        <p:nvSpPr>
          <p:cNvPr id="44035" name="Rectangle 2">
            <a:extLst>
              <a:ext uri="{FF2B5EF4-FFF2-40B4-BE49-F238E27FC236}">
                <a16:creationId xmlns:a16="http://schemas.microsoft.com/office/drawing/2014/main" id="{2F521431-8F21-441C-AE8B-68423BFE60E3}"/>
              </a:ext>
            </a:extLst>
          </p:cNvPr>
          <p:cNvSpPr>
            <a:spLocks noGrp="1" noChangeArrowheads="1"/>
          </p:cNvSpPr>
          <p:nvPr>
            <p:ph type="title"/>
          </p:nvPr>
        </p:nvSpPr>
        <p:spPr/>
        <p:txBody>
          <a:bodyPr/>
          <a:lstStyle/>
          <a:p>
            <a:pPr eaLnBrk="1" hangingPunct="1"/>
            <a:r>
              <a:rPr lang="en-US" altLang="zh-CN">
                <a:ea typeface="宋体" panose="02010600030101010101" pitchFamily="2" charset="-122"/>
              </a:rPr>
              <a:t>System Capabilities</a:t>
            </a:r>
          </a:p>
        </p:txBody>
      </p:sp>
      <p:pic>
        <p:nvPicPr>
          <p:cNvPr id="44036" name="Picture 8">
            <a:extLst>
              <a:ext uri="{FF2B5EF4-FFF2-40B4-BE49-F238E27FC236}">
                <a16:creationId xmlns:a16="http://schemas.microsoft.com/office/drawing/2014/main" id="{46297250-37EE-4D69-8F69-8BF49E3465E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 y="1828800"/>
            <a:ext cx="8991600" cy="3381375"/>
          </a:xfrm>
          <a:noFill/>
        </p:spPr>
      </p:pic>
      <p:sp>
        <p:nvSpPr>
          <p:cNvPr id="44037" name="Footer Placeholder 4">
            <a:extLst>
              <a:ext uri="{FF2B5EF4-FFF2-40B4-BE49-F238E27FC236}">
                <a16:creationId xmlns:a16="http://schemas.microsoft.com/office/drawing/2014/main" id="{B72967ED-0176-4319-9F92-48CFB0F2551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4038" name="Rectangle 4">
            <a:extLst>
              <a:ext uri="{FF2B5EF4-FFF2-40B4-BE49-F238E27FC236}">
                <a16:creationId xmlns:a16="http://schemas.microsoft.com/office/drawing/2014/main" id="{6BECF54B-78D1-4BC3-8EEA-263C3A65987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E7FCD252-3020-4985-8893-FFC08597A1E0}"/>
              </a:ext>
            </a:extLst>
          </p:cNvPr>
          <p:cNvSpPr txBox="1"/>
          <p:nvPr/>
        </p:nvSpPr>
        <p:spPr>
          <a:xfrm>
            <a:off x="304800" y="5467900"/>
            <a:ext cx="6878806" cy="646331"/>
          </a:xfrm>
          <a:prstGeom prst="rect">
            <a:avLst/>
          </a:prstGeom>
          <a:noFill/>
        </p:spPr>
        <p:txBody>
          <a:bodyPr wrap="none" rtlCol="0">
            <a:spAutoFit/>
          </a:bodyPr>
          <a:lstStyle/>
          <a:p>
            <a:r>
              <a:rPr lang="zh-CN" altLang="en-US" dirty="0"/>
              <a:t>做什么？</a:t>
            </a:r>
            <a:endParaRPr lang="en-US" altLang="zh-CN" dirty="0"/>
          </a:p>
          <a:p>
            <a:r>
              <a:rPr lang="zh-CN" altLang="en-US" dirty="0"/>
              <a:t>收集和记录信息（供应商关键信息，产品信息），通过平台来沟通</a:t>
            </a: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9C5CE131-B995-4515-8207-062FA105DB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145FDFE0-6C29-4347-B40C-BC644BF6941D}" type="slidenum">
              <a:rPr lang="en-US" altLang="en-US" sz="1000"/>
              <a:pPr eaLnBrk="1" hangingPunct="1">
                <a:spcBef>
                  <a:spcPct val="0"/>
                </a:spcBef>
                <a:buClrTx/>
                <a:buSzTx/>
                <a:buFontTx/>
                <a:buNone/>
              </a:pPr>
              <a:t>50</a:t>
            </a:fld>
            <a:endParaRPr lang="en-US" altLang="en-US" sz="1000"/>
          </a:p>
        </p:txBody>
      </p:sp>
      <p:sp>
        <p:nvSpPr>
          <p:cNvPr id="45059" name="Rectangle 2">
            <a:extLst>
              <a:ext uri="{FF2B5EF4-FFF2-40B4-BE49-F238E27FC236}">
                <a16:creationId xmlns:a16="http://schemas.microsoft.com/office/drawing/2014/main" id="{B53999A3-C14F-400D-A651-F5DCA963AE04}"/>
              </a:ext>
            </a:extLst>
          </p:cNvPr>
          <p:cNvSpPr>
            <a:spLocks noGrp="1" noChangeArrowheads="1"/>
          </p:cNvSpPr>
          <p:nvPr>
            <p:ph type="title"/>
          </p:nvPr>
        </p:nvSpPr>
        <p:spPr/>
        <p:txBody>
          <a:bodyPr/>
          <a:lstStyle/>
          <a:p>
            <a:pPr eaLnBrk="1" hangingPunct="1"/>
            <a:r>
              <a:rPr lang="en-US" altLang="zh-CN">
                <a:ea typeface="宋体" panose="02010600030101010101" pitchFamily="2" charset="-122"/>
              </a:rPr>
              <a:t>Business Benefits</a:t>
            </a:r>
          </a:p>
        </p:txBody>
      </p:sp>
      <p:pic>
        <p:nvPicPr>
          <p:cNvPr id="45060" name="Picture 7">
            <a:extLst>
              <a:ext uri="{FF2B5EF4-FFF2-40B4-BE49-F238E27FC236}">
                <a16:creationId xmlns:a16="http://schemas.microsoft.com/office/drawing/2014/main" id="{39C76FB2-CC7E-4EBA-B991-202EAC6463F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752600"/>
            <a:ext cx="8763000" cy="3717925"/>
          </a:xfrm>
          <a:noFill/>
        </p:spPr>
      </p:pic>
      <p:sp>
        <p:nvSpPr>
          <p:cNvPr id="45061" name="Footer Placeholder 4">
            <a:extLst>
              <a:ext uri="{FF2B5EF4-FFF2-40B4-BE49-F238E27FC236}">
                <a16:creationId xmlns:a16="http://schemas.microsoft.com/office/drawing/2014/main" id="{98FF62F3-ED98-41D7-9036-9E2A3A7B792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5062" name="Rectangle 4">
            <a:extLst>
              <a:ext uri="{FF2B5EF4-FFF2-40B4-BE49-F238E27FC236}">
                <a16:creationId xmlns:a16="http://schemas.microsoft.com/office/drawing/2014/main" id="{3272DC2E-6CAD-4ACA-8A59-D7842D3A1CC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A31CF35D-E2F1-463E-81C7-15251F08E023}"/>
              </a:ext>
            </a:extLst>
          </p:cNvPr>
          <p:cNvSpPr txBox="1"/>
          <p:nvPr/>
        </p:nvSpPr>
        <p:spPr>
          <a:xfrm>
            <a:off x="228600" y="5602069"/>
            <a:ext cx="4572000" cy="646331"/>
          </a:xfrm>
          <a:prstGeom prst="rect">
            <a:avLst/>
          </a:prstGeom>
          <a:noFill/>
        </p:spPr>
        <p:txBody>
          <a:bodyPr wrap="square">
            <a:spAutoFit/>
          </a:bodyPr>
          <a:lstStyle/>
          <a:p>
            <a:r>
              <a:rPr lang="zh-CN" altLang="en-US" dirty="0"/>
              <a:t>能带来什么收益？</a:t>
            </a:r>
            <a:endParaRPr lang="en-US" altLang="zh-CN" dirty="0"/>
          </a:p>
          <a:p>
            <a:r>
              <a:rPr lang="zh-CN" altLang="en-US" dirty="0"/>
              <a:t>维护客户关系，更好地管理订单</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a:extLst>
              <a:ext uri="{FF2B5EF4-FFF2-40B4-BE49-F238E27FC236}">
                <a16:creationId xmlns:a16="http://schemas.microsoft.com/office/drawing/2014/main" id="{BB134E3A-A097-4903-9F73-5EF71C62591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Systems Analysis and Design in a Changing World, 6th Edition</a:t>
            </a:r>
          </a:p>
        </p:txBody>
      </p:sp>
      <p:sp>
        <p:nvSpPr>
          <p:cNvPr id="37891" name="Slide Number Placeholder 5">
            <a:extLst>
              <a:ext uri="{FF2B5EF4-FFF2-40B4-BE49-F238E27FC236}">
                <a16:creationId xmlns:a16="http://schemas.microsoft.com/office/drawing/2014/main" id="{2B17DC89-E0FA-4747-9DDF-3A6D8247B7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3919CC74-F857-47AF-8505-782C4E358A53}" type="slidenum">
              <a:rPr lang="en-US" altLang="en-US" sz="1000"/>
              <a:pPr eaLnBrk="1" hangingPunct="1">
                <a:spcBef>
                  <a:spcPct val="0"/>
                </a:spcBef>
                <a:buClrTx/>
                <a:buSzTx/>
                <a:buFontTx/>
                <a:buNone/>
              </a:pPr>
              <a:t>51</a:t>
            </a:fld>
            <a:endParaRPr lang="en-US" altLang="en-US" sz="1000"/>
          </a:p>
        </p:txBody>
      </p:sp>
      <p:sp>
        <p:nvSpPr>
          <p:cNvPr id="37892" name="Rectangle 2">
            <a:extLst>
              <a:ext uri="{FF2B5EF4-FFF2-40B4-BE49-F238E27FC236}">
                <a16:creationId xmlns:a16="http://schemas.microsoft.com/office/drawing/2014/main" id="{031FE67D-46F2-4420-A18D-2BC513621B7F}"/>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Ridgeline Mountain Outfitters (RMO) </a:t>
            </a:r>
          </a:p>
        </p:txBody>
      </p:sp>
      <p:pic>
        <p:nvPicPr>
          <p:cNvPr id="37893" name="Picture 7">
            <a:extLst>
              <a:ext uri="{FF2B5EF4-FFF2-40B4-BE49-F238E27FC236}">
                <a16:creationId xmlns:a16="http://schemas.microsoft.com/office/drawing/2014/main" id="{FFB79ECB-2114-4374-8751-10AC4139FD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841875" y="1417638"/>
            <a:ext cx="3429000" cy="2154475"/>
          </a:xfrm>
          <a:noFill/>
        </p:spPr>
      </p:pic>
      <p:sp>
        <p:nvSpPr>
          <p:cNvPr id="37894" name="Rectangle 4">
            <a:extLst>
              <a:ext uri="{FF2B5EF4-FFF2-40B4-BE49-F238E27FC236}">
                <a16:creationId xmlns:a16="http://schemas.microsoft.com/office/drawing/2014/main" id="{9E306A13-1E2E-4B41-8C61-7D925B8A14F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内容占位符 1">
            <a:extLst>
              <a:ext uri="{FF2B5EF4-FFF2-40B4-BE49-F238E27FC236}">
                <a16:creationId xmlns:a16="http://schemas.microsoft.com/office/drawing/2014/main" id="{F47E13A4-EBE0-4A28-9117-AF839F5EF162}"/>
              </a:ext>
            </a:extLst>
          </p:cNvPr>
          <p:cNvSpPr txBox="1">
            <a:spLocks/>
          </p:cNvSpPr>
          <p:nvPr/>
        </p:nvSpPr>
        <p:spPr bwMode="auto">
          <a:xfrm>
            <a:off x="609600" y="1698851"/>
            <a:ext cx="4114800" cy="133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kern="0" dirty="0"/>
              <a:t>“</a:t>
            </a:r>
            <a:r>
              <a:rPr lang="en-US" altLang="zh-CN" kern="0" dirty="0"/>
              <a:t>RMO</a:t>
            </a:r>
            <a:r>
              <a:rPr lang="zh-CN" altLang="en-US" kern="0" dirty="0"/>
              <a:t>贸易展览系统”立项了！</a:t>
            </a:r>
            <a:endParaRPr lang="en-US" altLang="zh-CN" kern="0" dirty="0"/>
          </a:p>
        </p:txBody>
      </p:sp>
      <p:sp>
        <p:nvSpPr>
          <p:cNvPr id="9" name="文本框 8">
            <a:extLst>
              <a:ext uri="{FF2B5EF4-FFF2-40B4-BE49-F238E27FC236}">
                <a16:creationId xmlns:a16="http://schemas.microsoft.com/office/drawing/2014/main" id="{763349AD-ED78-4839-A63C-41E770361847}"/>
              </a:ext>
            </a:extLst>
          </p:cNvPr>
          <p:cNvSpPr txBox="1"/>
          <p:nvPr/>
        </p:nvSpPr>
        <p:spPr>
          <a:xfrm>
            <a:off x="228600" y="3645700"/>
            <a:ext cx="7585075" cy="1717393"/>
          </a:xfrm>
          <a:prstGeom prst="rect">
            <a:avLst/>
          </a:prstGeom>
          <a:noFill/>
        </p:spPr>
        <p:txBody>
          <a:bodyPr wrap="square">
            <a:spAutoFit/>
          </a:bodyPr>
          <a:lstStyle/>
          <a:p>
            <a:pPr marL="692150" lvl="1" indent="-347663" eaLnBrk="0" hangingPunct="0">
              <a:spcBef>
                <a:spcPct val="20000"/>
              </a:spcBef>
              <a:buClr>
                <a:schemeClr val="accent2"/>
              </a:buClr>
              <a:buSzPct val="70000"/>
              <a:buFont typeface="Wingdings" panose="05000000000000000000" pitchFamily="2" charset="2"/>
              <a:buChar char="l"/>
            </a:pPr>
            <a:r>
              <a:rPr lang="zh-CN" altLang="en-US" sz="2400" kern="0" dirty="0">
                <a:latin typeface="+mn-lt"/>
                <a:cs typeface="+mn-cs"/>
              </a:rPr>
              <a:t>开启第</a:t>
            </a:r>
            <a:r>
              <a:rPr lang="en-US" altLang="zh-CN" sz="2400" kern="0" dirty="0">
                <a:latin typeface="+mn-lt"/>
                <a:cs typeface="+mn-cs"/>
              </a:rPr>
              <a:t>1</a:t>
            </a:r>
            <a:r>
              <a:rPr lang="zh-CN" altLang="en-US" sz="2400" kern="0" dirty="0">
                <a:latin typeface="+mn-lt"/>
                <a:cs typeface="+mn-cs"/>
              </a:rPr>
              <a:t>个迭代：</a:t>
            </a:r>
            <a:endParaRPr lang="en-US" altLang="zh-CN" sz="2400" kern="0" dirty="0">
              <a:latin typeface="+mn-lt"/>
              <a:cs typeface="+mn-cs"/>
            </a:endParaRPr>
          </a:p>
          <a:p>
            <a:pPr marL="1149350" lvl="2" indent="-347663" eaLnBrk="0" hangingPunct="0">
              <a:spcBef>
                <a:spcPct val="20000"/>
              </a:spcBef>
              <a:buClr>
                <a:schemeClr val="accent2"/>
              </a:buClr>
              <a:buSzPct val="70000"/>
              <a:buFont typeface="Wingdings" panose="05000000000000000000" pitchFamily="2" charset="2"/>
              <a:buChar char="l"/>
            </a:pPr>
            <a:r>
              <a:rPr lang="zh-CN" altLang="en-US" sz="2400" kern="0" dirty="0">
                <a:latin typeface="+mn-lt"/>
                <a:cs typeface="+mn-cs"/>
              </a:rPr>
              <a:t>我们计划用</a:t>
            </a:r>
            <a:r>
              <a:rPr lang="en-US" altLang="zh-CN" sz="2400" kern="0" dirty="0">
                <a:latin typeface="+mn-lt"/>
                <a:cs typeface="+mn-cs"/>
              </a:rPr>
              <a:t>6</a:t>
            </a:r>
            <a:r>
              <a:rPr lang="zh-CN" altLang="en-US" sz="2400" kern="0" dirty="0">
                <a:latin typeface="+mn-lt"/>
                <a:cs typeface="+mn-cs"/>
              </a:rPr>
              <a:t>天时间完成本次迭代，来展示软件生命周期的所有核心过程</a:t>
            </a:r>
            <a:endParaRPr lang="en-US" altLang="zh-CN" sz="2400" kern="0" dirty="0">
              <a:latin typeface="+mn-lt"/>
              <a:cs typeface="+mn-cs"/>
            </a:endParaRPr>
          </a:p>
          <a:p>
            <a:pPr marL="692150" lvl="1" indent="-347663" eaLnBrk="0" hangingPunct="0">
              <a:spcBef>
                <a:spcPct val="20000"/>
              </a:spcBef>
              <a:buClr>
                <a:schemeClr val="accent2"/>
              </a:buClr>
              <a:buSzPct val="70000"/>
              <a:buFont typeface="Wingdings" panose="05000000000000000000" pitchFamily="2" charset="2"/>
              <a:buChar char="l"/>
            </a:pPr>
            <a:endParaRPr lang="en-US" altLang="zh-CN" sz="2400" kern="0" dirty="0">
              <a:latin typeface="+mn-lt"/>
              <a:cs typeface="+mn-cs"/>
            </a:endParaRPr>
          </a:p>
        </p:txBody>
      </p:sp>
    </p:spTree>
    <p:extLst>
      <p:ext uri="{BB962C8B-B14F-4D97-AF65-F5344CB8AC3E}">
        <p14:creationId xmlns:p14="http://schemas.microsoft.com/office/powerpoint/2010/main" val="36181116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31491ECD-8049-4727-95CD-E75C9E1599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87181563-51E1-4D9E-ACB0-484153F58602}" type="slidenum">
              <a:rPr lang="en-US" altLang="en-US" sz="1000"/>
              <a:pPr eaLnBrk="1" hangingPunct="1">
                <a:spcBef>
                  <a:spcPct val="0"/>
                </a:spcBef>
                <a:buClrTx/>
                <a:buSzTx/>
                <a:buFontTx/>
                <a:buNone/>
              </a:pPr>
              <a:t>52</a:t>
            </a:fld>
            <a:endParaRPr lang="en-US" altLang="en-US" sz="1000"/>
          </a:p>
        </p:txBody>
      </p:sp>
      <p:sp>
        <p:nvSpPr>
          <p:cNvPr id="49155" name="Rectangle 2">
            <a:extLst>
              <a:ext uri="{FF2B5EF4-FFF2-40B4-BE49-F238E27FC236}">
                <a16:creationId xmlns:a16="http://schemas.microsoft.com/office/drawing/2014/main" id="{8586B2CC-81C7-43C2-8022-7A1D3482AD6E}"/>
              </a:ext>
            </a:extLst>
          </p:cNvPr>
          <p:cNvSpPr>
            <a:spLocks noGrp="1" noChangeArrowheads="1"/>
          </p:cNvSpPr>
          <p:nvPr>
            <p:ph type="title"/>
          </p:nvPr>
        </p:nvSpPr>
        <p:spPr/>
        <p:txBody>
          <a:bodyPr/>
          <a:lstStyle/>
          <a:p>
            <a:pPr eaLnBrk="1" hangingPunct="1"/>
            <a:r>
              <a:rPr lang="en-US" altLang="zh-CN">
                <a:ea typeface="宋体" panose="02010600030101010101" pitchFamily="2" charset="-122"/>
              </a:rPr>
              <a:t>Day 2 Activities </a:t>
            </a:r>
          </a:p>
        </p:txBody>
      </p:sp>
      <p:sp>
        <p:nvSpPr>
          <p:cNvPr id="49156" name="Rectangle 3">
            <a:extLst>
              <a:ext uri="{FF2B5EF4-FFF2-40B4-BE49-F238E27FC236}">
                <a16:creationId xmlns:a16="http://schemas.microsoft.com/office/drawing/2014/main" id="{305A646A-6308-4186-B53E-A577D4DCA328}"/>
              </a:ext>
            </a:extLst>
          </p:cNvPr>
          <p:cNvSpPr>
            <a:spLocks noGrp="1" noChangeArrowheads="1"/>
          </p:cNvSpPr>
          <p:nvPr>
            <p:ph type="body" idx="1"/>
          </p:nvPr>
        </p:nvSpPr>
        <p:spPr/>
        <p:txBody>
          <a:bodyPr/>
          <a:lstStyle/>
          <a:p>
            <a:pPr eaLnBrk="1" hangingPunct="1"/>
            <a:r>
              <a:rPr lang="zh-CN" altLang="en-US" sz="2800" dirty="0">
                <a:solidFill>
                  <a:srgbClr val="C00000"/>
                </a:solidFill>
                <a:ea typeface="宋体" panose="02010600030101010101" pitchFamily="2" charset="-122"/>
              </a:rPr>
              <a:t>核心过程</a:t>
            </a:r>
            <a:r>
              <a:rPr lang="en-US" altLang="zh-CN" sz="2800" dirty="0">
                <a:solidFill>
                  <a:srgbClr val="C00000"/>
                </a:solidFill>
                <a:ea typeface="宋体" panose="02010600030101010101" pitchFamily="2" charset="-122"/>
              </a:rPr>
              <a:t>2</a:t>
            </a:r>
            <a:r>
              <a:rPr lang="zh-CN" altLang="en-US" sz="2800" dirty="0">
                <a:solidFill>
                  <a:srgbClr val="C00000"/>
                </a:solidFill>
                <a:ea typeface="宋体" panose="02010600030101010101" pitchFamily="2" charset="-122"/>
              </a:rPr>
              <a:t>：需求分析</a:t>
            </a:r>
            <a:endParaRPr lang="en-US" altLang="zh-CN" sz="2800" dirty="0">
              <a:solidFill>
                <a:srgbClr val="C00000"/>
              </a:solidFill>
              <a:ea typeface="宋体" panose="02010600030101010101" pitchFamily="2" charset="-122"/>
            </a:endParaRPr>
          </a:p>
          <a:p>
            <a:pPr lvl="1" eaLnBrk="1" hangingPunct="1"/>
            <a:r>
              <a:rPr lang="en-US" altLang="zh-CN" sz="2400" dirty="0">
                <a:ea typeface="宋体" panose="02010600030101010101" pitchFamily="2" charset="-122"/>
              </a:rPr>
              <a:t>Do preliminary fact-finding to understand requirements</a:t>
            </a:r>
            <a:r>
              <a:rPr lang="zh-CN" altLang="en-US" sz="2400" dirty="0">
                <a:ea typeface="宋体" panose="02010600030101010101" pitchFamily="2" charset="-122"/>
              </a:rPr>
              <a:t>（了解需求）</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Develop a preliminary list of </a:t>
            </a:r>
            <a:r>
              <a:rPr lang="en-US" altLang="zh-CN" sz="2400" dirty="0">
                <a:solidFill>
                  <a:srgbClr val="C00000"/>
                </a:solidFill>
                <a:ea typeface="宋体" panose="02010600030101010101" pitchFamily="2" charset="-122"/>
              </a:rPr>
              <a:t>use cases</a:t>
            </a:r>
            <a:r>
              <a:rPr lang="zh-CN" altLang="en-US" sz="2400" dirty="0">
                <a:solidFill>
                  <a:srgbClr val="C00000"/>
                </a:solidFill>
                <a:ea typeface="宋体" panose="02010600030101010101" pitchFamily="2" charset="-122"/>
              </a:rPr>
              <a:t>（用例）</a:t>
            </a:r>
            <a:r>
              <a:rPr lang="en-US" altLang="zh-CN" sz="2400" dirty="0">
                <a:solidFill>
                  <a:srgbClr val="C00000"/>
                </a:solidFill>
                <a:ea typeface="宋体" panose="02010600030101010101" pitchFamily="2" charset="-122"/>
              </a:rPr>
              <a:t> </a:t>
            </a:r>
            <a:r>
              <a:rPr lang="en-US" altLang="zh-CN" sz="2400" dirty="0">
                <a:ea typeface="宋体" panose="02010600030101010101" pitchFamily="2" charset="-122"/>
              </a:rPr>
              <a:t>and a </a:t>
            </a:r>
            <a:r>
              <a:rPr lang="en-US" altLang="zh-CN" sz="2400" dirty="0">
                <a:solidFill>
                  <a:srgbClr val="C00000"/>
                </a:solidFill>
                <a:ea typeface="宋体" panose="02010600030101010101" pitchFamily="2" charset="-122"/>
              </a:rPr>
              <a:t>use case diagram</a:t>
            </a:r>
            <a:r>
              <a:rPr lang="zh-CN" altLang="en-US" sz="2400" dirty="0">
                <a:solidFill>
                  <a:srgbClr val="C00000"/>
                </a:solidFill>
                <a:ea typeface="宋体" panose="02010600030101010101" pitchFamily="2" charset="-122"/>
              </a:rPr>
              <a:t>（用例图）</a:t>
            </a:r>
            <a:endParaRPr lang="en-US" altLang="zh-CN" sz="2400" dirty="0">
              <a:solidFill>
                <a:srgbClr val="C00000"/>
              </a:solidFill>
              <a:ea typeface="宋体" panose="02010600030101010101" pitchFamily="2" charset="-122"/>
            </a:endParaRPr>
          </a:p>
          <a:p>
            <a:pPr lvl="1" eaLnBrk="1" hangingPunct="1"/>
            <a:r>
              <a:rPr lang="en-US" altLang="zh-CN" sz="2400" dirty="0">
                <a:ea typeface="宋体" panose="02010600030101010101" pitchFamily="2" charset="-122"/>
              </a:rPr>
              <a:t>Develop a preliminary list of </a:t>
            </a:r>
            <a:r>
              <a:rPr lang="en-US" altLang="zh-CN" sz="2400" dirty="0">
                <a:solidFill>
                  <a:srgbClr val="C00000"/>
                </a:solidFill>
                <a:ea typeface="宋体" panose="02010600030101010101" pitchFamily="2" charset="-122"/>
              </a:rPr>
              <a:t>classes</a:t>
            </a:r>
            <a:r>
              <a:rPr lang="zh-CN" altLang="en-US" sz="2400" dirty="0">
                <a:solidFill>
                  <a:srgbClr val="C00000"/>
                </a:solidFill>
                <a:ea typeface="宋体" panose="02010600030101010101" pitchFamily="2" charset="-122"/>
              </a:rPr>
              <a:t>（类）</a:t>
            </a:r>
            <a:r>
              <a:rPr lang="en-US" altLang="zh-CN" sz="2400" dirty="0">
                <a:ea typeface="宋体" panose="02010600030101010101" pitchFamily="2" charset="-122"/>
              </a:rPr>
              <a:t> and a </a:t>
            </a:r>
            <a:r>
              <a:rPr lang="en-US" altLang="zh-CN" sz="2400" dirty="0">
                <a:solidFill>
                  <a:srgbClr val="C00000"/>
                </a:solidFill>
                <a:ea typeface="宋体" panose="02010600030101010101" pitchFamily="2" charset="-122"/>
              </a:rPr>
              <a:t>class diagram</a:t>
            </a:r>
            <a:r>
              <a:rPr lang="zh-CN" altLang="en-US" sz="2400" dirty="0">
                <a:solidFill>
                  <a:srgbClr val="C00000"/>
                </a:solidFill>
                <a:ea typeface="宋体" panose="02010600030101010101" pitchFamily="2" charset="-122"/>
              </a:rPr>
              <a:t>（类图）</a:t>
            </a:r>
            <a:endParaRPr lang="en-US" altLang="zh-CN" sz="2400" dirty="0">
              <a:solidFill>
                <a:srgbClr val="C00000"/>
              </a:solidFill>
              <a:ea typeface="宋体" panose="02010600030101010101" pitchFamily="2" charset="-122"/>
            </a:endParaRPr>
          </a:p>
          <a:p>
            <a:pPr lvl="1" eaLnBrk="1" hangingPunct="1"/>
            <a:r>
              <a:rPr lang="en-US" altLang="zh-CN" sz="2400" dirty="0">
                <a:ea typeface="宋体" panose="02010600030101010101" pitchFamily="2" charset="-122"/>
              </a:rPr>
              <a:t>Do in-depth fact-finding to understand requirements</a:t>
            </a:r>
            <a:r>
              <a:rPr lang="zh-CN" altLang="en-US" sz="2400" dirty="0">
                <a:ea typeface="宋体" panose="02010600030101010101" pitchFamily="2" charset="-122"/>
              </a:rPr>
              <a:t>（事实调查）</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Understand and document the detailed workflow of each use case</a:t>
            </a:r>
            <a:r>
              <a:rPr lang="zh-CN" altLang="en-US" sz="2400" dirty="0">
                <a:ea typeface="宋体" panose="02010600030101010101" pitchFamily="2" charset="-122"/>
              </a:rPr>
              <a:t>（了解用例工作流程）</a:t>
            </a:r>
            <a:endParaRPr lang="en-US" altLang="zh-CN" sz="2400" dirty="0">
              <a:ea typeface="宋体" panose="02010600030101010101" pitchFamily="2" charset="-122"/>
            </a:endParaRPr>
          </a:p>
          <a:p>
            <a:pPr lvl="1" eaLnBrk="1" hangingPunct="1"/>
            <a:endParaRPr lang="en-US" altLang="zh-CN" dirty="0">
              <a:solidFill>
                <a:srgbClr val="C00000"/>
              </a:solidFill>
              <a:ea typeface="宋体" panose="02010600030101010101" pitchFamily="2" charset="-122"/>
            </a:endParaRPr>
          </a:p>
        </p:txBody>
      </p:sp>
      <p:sp>
        <p:nvSpPr>
          <p:cNvPr id="49157" name="Footer Placeholder 4">
            <a:extLst>
              <a:ext uri="{FF2B5EF4-FFF2-40B4-BE49-F238E27FC236}">
                <a16:creationId xmlns:a16="http://schemas.microsoft.com/office/drawing/2014/main" id="{4E7A0B1A-C156-400B-8D78-967ED322B4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9158" name="Rectangle 4">
            <a:extLst>
              <a:ext uri="{FF2B5EF4-FFF2-40B4-BE49-F238E27FC236}">
                <a16:creationId xmlns:a16="http://schemas.microsoft.com/office/drawing/2014/main" id="{C8A3F69E-BB78-4993-8B7C-7ACA57C47DF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31491ECD-8049-4727-95CD-E75C9E1599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87181563-51E1-4D9E-ACB0-484153F58602}" type="slidenum">
              <a:rPr lang="en-US" altLang="en-US" sz="1000"/>
              <a:pPr eaLnBrk="1" hangingPunct="1">
                <a:spcBef>
                  <a:spcPct val="0"/>
                </a:spcBef>
                <a:buClrTx/>
                <a:buSzTx/>
                <a:buFontTx/>
                <a:buNone/>
              </a:pPr>
              <a:t>53</a:t>
            </a:fld>
            <a:endParaRPr lang="en-US" altLang="en-US" sz="1000"/>
          </a:p>
        </p:txBody>
      </p:sp>
      <p:sp>
        <p:nvSpPr>
          <p:cNvPr id="49155" name="Rectangle 2">
            <a:extLst>
              <a:ext uri="{FF2B5EF4-FFF2-40B4-BE49-F238E27FC236}">
                <a16:creationId xmlns:a16="http://schemas.microsoft.com/office/drawing/2014/main" id="{8586B2CC-81C7-43C2-8022-7A1D3482AD6E}"/>
              </a:ext>
            </a:extLst>
          </p:cNvPr>
          <p:cNvSpPr>
            <a:spLocks noGrp="1" noChangeArrowheads="1"/>
          </p:cNvSpPr>
          <p:nvPr>
            <p:ph type="title"/>
          </p:nvPr>
        </p:nvSpPr>
        <p:spPr/>
        <p:txBody>
          <a:bodyPr/>
          <a:lstStyle/>
          <a:p>
            <a:pPr eaLnBrk="1" hangingPunct="1"/>
            <a:r>
              <a:rPr lang="en-US" altLang="zh-CN">
                <a:ea typeface="宋体" panose="02010600030101010101" pitchFamily="2" charset="-122"/>
              </a:rPr>
              <a:t>Day 2 Activities </a:t>
            </a:r>
          </a:p>
        </p:txBody>
      </p:sp>
      <p:sp>
        <p:nvSpPr>
          <p:cNvPr id="49156" name="Rectangle 3">
            <a:extLst>
              <a:ext uri="{FF2B5EF4-FFF2-40B4-BE49-F238E27FC236}">
                <a16:creationId xmlns:a16="http://schemas.microsoft.com/office/drawing/2014/main" id="{305A646A-6308-4186-B53E-A577D4DCA328}"/>
              </a:ext>
            </a:extLst>
          </p:cNvPr>
          <p:cNvSpPr>
            <a:spLocks noGrp="1" noChangeArrowheads="1"/>
          </p:cNvSpPr>
          <p:nvPr>
            <p:ph type="body" idx="1"/>
          </p:nvPr>
        </p:nvSpPr>
        <p:spPr/>
        <p:txBody>
          <a:bodyPr/>
          <a:lstStyle/>
          <a:p>
            <a:pPr lvl="1" eaLnBrk="1" hangingPunct="1"/>
            <a:r>
              <a:rPr lang="en-US" altLang="zh-CN" dirty="0">
                <a:ea typeface="宋体" panose="02010600030101010101" pitchFamily="2" charset="-122"/>
              </a:rPr>
              <a:t>Do preliminary fact-finding to understand requirements</a:t>
            </a:r>
            <a:r>
              <a:rPr lang="zh-CN" altLang="en-US" dirty="0">
                <a:ea typeface="宋体" panose="02010600030101010101" pitchFamily="2" charset="-122"/>
              </a:rPr>
              <a:t>（了解需求）</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采访核心用户</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观察工作过程</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回顾现存的文件和系统</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调查其他公司和其他系统</a:t>
            </a:r>
            <a:endParaRPr lang="en-US" altLang="zh-CN" dirty="0">
              <a:ea typeface="宋体" panose="02010600030101010101" pitchFamily="2" charset="-122"/>
            </a:endParaRPr>
          </a:p>
        </p:txBody>
      </p:sp>
      <p:sp>
        <p:nvSpPr>
          <p:cNvPr id="49157" name="Footer Placeholder 4">
            <a:extLst>
              <a:ext uri="{FF2B5EF4-FFF2-40B4-BE49-F238E27FC236}">
                <a16:creationId xmlns:a16="http://schemas.microsoft.com/office/drawing/2014/main" id="{4E7A0B1A-C156-400B-8D78-967ED322B4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9158" name="Rectangle 4">
            <a:extLst>
              <a:ext uri="{FF2B5EF4-FFF2-40B4-BE49-F238E27FC236}">
                <a16:creationId xmlns:a16="http://schemas.microsoft.com/office/drawing/2014/main" id="{C8A3F69E-BB78-4993-8B7C-7ACA57C47DF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706243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31491ECD-8049-4727-95CD-E75C9E1599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87181563-51E1-4D9E-ACB0-484153F58602}" type="slidenum">
              <a:rPr lang="en-US" altLang="en-US" sz="1000"/>
              <a:pPr eaLnBrk="1" hangingPunct="1">
                <a:spcBef>
                  <a:spcPct val="0"/>
                </a:spcBef>
                <a:buClrTx/>
                <a:buSzTx/>
                <a:buFontTx/>
                <a:buNone/>
              </a:pPr>
              <a:t>54</a:t>
            </a:fld>
            <a:endParaRPr lang="en-US" altLang="en-US" sz="1000"/>
          </a:p>
        </p:txBody>
      </p:sp>
      <p:sp>
        <p:nvSpPr>
          <p:cNvPr id="49155" name="Rectangle 2">
            <a:extLst>
              <a:ext uri="{FF2B5EF4-FFF2-40B4-BE49-F238E27FC236}">
                <a16:creationId xmlns:a16="http://schemas.microsoft.com/office/drawing/2014/main" id="{8586B2CC-81C7-43C2-8022-7A1D3482AD6E}"/>
              </a:ext>
            </a:extLst>
          </p:cNvPr>
          <p:cNvSpPr>
            <a:spLocks noGrp="1" noChangeArrowheads="1"/>
          </p:cNvSpPr>
          <p:nvPr>
            <p:ph type="title"/>
          </p:nvPr>
        </p:nvSpPr>
        <p:spPr/>
        <p:txBody>
          <a:bodyPr/>
          <a:lstStyle/>
          <a:p>
            <a:pPr eaLnBrk="1" hangingPunct="1"/>
            <a:r>
              <a:rPr lang="en-US" altLang="zh-CN">
                <a:ea typeface="宋体" panose="02010600030101010101" pitchFamily="2" charset="-122"/>
              </a:rPr>
              <a:t>Day 2 Activities </a:t>
            </a:r>
          </a:p>
        </p:txBody>
      </p:sp>
      <p:sp>
        <p:nvSpPr>
          <p:cNvPr id="49156" name="Rectangle 3">
            <a:extLst>
              <a:ext uri="{FF2B5EF4-FFF2-40B4-BE49-F238E27FC236}">
                <a16:creationId xmlns:a16="http://schemas.microsoft.com/office/drawing/2014/main" id="{305A646A-6308-4186-B53E-A577D4DCA328}"/>
              </a:ext>
            </a:extLst>
          </p:cNvPr>
          <p:cNvSpPr>
            <a:spLocks noGrp="1" noChangeArrowheads="1"/>
          </p:cNvSpPr>
          <p:nvPr>
            <p:ph type="body" idx="1"/>
          </p:nvPr>
        </p:nvSpPr>
        <p:spPr/>
        <p:txBody>
          <a:bodyPr/>
          <a:lstStyle/>
          <a:p>
            <a:pPr eaLnBrk="1" hangingPunct="1"/>
            <a:r>
              <a:rPr lang="en-US" altLang="zh-CN" dirty="0">
                <a:solidFill>
                  <a:srgbClr val="C00000"/>
                </a:solidFill>
                <a:ea typeface="宋体" panose="02010600030101010101" pitchFamily="2" charset="-122"/>
              </a:rPr>
              <a:t>Core Process 3: Discover and Understand Details</a:t>
            </a:r>
          </a:p>
          <a:p>
            <a:pPr lvl="1" eaLnBrk="1" hangingPunct="1"/>
            <a:r>
              <a:rPr lang="en-US" altLang="zh-CN" dirty="0">
                <a:ea typeface="宋体" panose="02010600030101010101" pitchFamily="2" charset="-122"/>
              </a:rPr>
              <a:t>Develop a preliminary list of </a:t>
            </a:r>
            <a:r>
              <a:rPr lang="en-US" altLang="zh-CN" dirty="0">
                <a:solidFill>
                  <a:srgbClr val="C00000"/>
                </a:solidFill>
                <a:ea typeface="宋体" panose="02010600030101010101" pitchFamily="2" charset="-122"/>
              </a:rPr>
              <a:t>use cases</a:t>
            </a:r>
            <a:r>
              <a:rPr lang="zh-CN" altLang="en-US" dirty="0">
                <a:solidFill>
                  <a:srgbClr val="C00000"/>
                </a:solidFill>
                <a:ea typeface="宋体" panose="02010600030101010101" pitchFamily="2" charset="-122"/>
              </a:rPr>
              <a:t>（用例）</a:t>
            </a:r>
            <a:r>
              <a:rPr lang="en-US" altLang="zh-CN" dirty="0">
                <a:solidFill>
                  <a:srgbClr val="C00000"/>
                </a:solidFill>
                <a:ea typeface="宋体" panose="02010600030101010101" pitchFamily="2" charset="-122"/>
              </a:rPr>
              <a:t> </a:t>
            </a:r>
            <a:r>
              <a:rPr lang="en-US" altLang="zh-CN" dirty="0">
                <a:ea typeface="宋体" panose="02010600030101010101" pitchFamily="2" charset="-122"/>
              </a:rPr>
              <a:t>and a </a:t>
            </a:r>
            <a:r>
              <a:rPr lang="en-US" altLang="zh-CN" dirty="0">
                <a:solidFill>
                  <a:srgbClr val="C00000"/>
                </a:solidFill>
                <a:ea typeface="宋体" panose="02010600030101010101" pitchFamily="2" charset="-122"/>
              </a:rPr>
              <a:t>use case diagram</a:t>
            </a:r>
            <a:r>
              <a:rPr lang="zh-CN" altLang="en-US" dirty="0">
                <a:solidFill>
                  <a:srgbClr val="C00000"/>
                </a:solidFill>
                <a:ea typeface="宋体" panose="02010600030101010101" pitchFamily="2" charset="-122"/>
              </a:rPr>
              <a:t>（用例图）</a:t>
            </a:r>
            <a:endParaRPr lang="en-US" altLang="zh-CN" dirty="0">
              <a:solidFill>
                <a:srgbClr val="C00000"/>
              </a:solidFill>
              <a:ea typeface="宋体" panose="02010600030101010101" pitchFamily="2" charset="-122"/>
            </a:endParaRPr>
          </a:p>
          <a:p>
            <a:pPr lvl="2" eaLnBrk="1" hangingPunct="1"/>
            <a:r>
              <a:rPr lang="zh-CN" altLang="en-US" dirty="0">
                <a:ea typeface="宋体" panose="02010600030101010101" pitchFamily="2" charset="-122"/>
              </a:rPr>
              <a:t>用例记录了一个简单的用户触发商业</a:t>
            </a:r>
            <a:r>
              <a:rPr lang="zh-CN" altLang="en-US" u="sng" dirty="0">
                <a:ea typeface="宋体" panose="02010600030101010101" pitchFamily="2" charset="-122"/>
              </a:rPr>
              <a:t>活动</a:t>
            </a:r>
            <a:r>
              <a:rPr lang="zh-CN" altLang="en-US" dirty="0">
                <a:ea typeface="宋体" panose="02010600030101010101" pitchFamily="2" charset="-122"/>
              </a:rPr>
              <a:t>和</a:t>
            </a:r>
            <a:r>
              <a:rPr lang="zh-CN" altLang="en-US" u="sng" dirty="0">
                <a:ea typeface="宋体" panose="02010600030101010101" pitchFamily="2" charset="-122"/>
              </a:rPr>
              <a:t>系统对这个活动的回应</a:t>
            </a:r>
            <a:endParaRPr lang="en-US" altLang="zh-CN" u="sng" dirty="0">
              <a:ea typeface="宋体" panose="02010600030101010101" pitchFamily="2" charset="-122"/>
            </a:endParaRPr>
          </a:p>
        </p:txBody>
      </p:sp>
      <p:sp>
        <p:nvSpPr>
          <p:cNvPr id="49157" name="Footer Placeholder 4">
            <a:extLst>
              <a:ext uri="{FF2B5EF4-FFF2-40B4-BE49-F238E27FC236}">
                <a16:creationId xmlns:a16="http://schemas.microsoft.com/office/drawing/2014/main" id="{4E7A0B1A-C156-400B-8D78-967ED322B4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9158" name="Rectangle 4">
            <a:extLst>
              <a:ext uri="{FF2B5EF4-FFF2-40B4-BE49-F238E27FC236}">
                <a16:creationId xmlns:a16="http://schemas.microsoft.com/office/drawing/2014/main" id="{C8A3F69E-BB78-4993-8B7C-7ACA57C47DF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50695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0849B625-B123-4CD3-8D64-797F7DA5AE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0A82C789-A4AA-4A91-A08F-7063A054D44C}" type="slidenum">
              <a:rPr lang="en-US" altLang="en-US" sz="1000"/>
              <a:pPr eaLnBrk="1" hangingPunct="1">
                <a:spcBef>
                  <a:spcPct val="0"/>
                </a:spcBef>
                <a:buClrTx/>
                <a:buSzTx/>
                <a:buFontTx/>
                <a:buNone/>
              </a:pPr>
              <a:t>55</a:t>
            </a:fld>
            <a:endParaRPr lang="en-US" altLang="en-US" sz="1000"/>
          </a:p>
        </p:txBody>
      </p:sp>
      <p:sp>
        <p:nvSpPr>
          <p:cNvPr id="50179" name="Rectangle 2">
            <a:extLst>
              <a:ext uri="{FF2B5EF4-FFF2-40B4-BE49-F238E27FC236}">
                <a16:creationId xmlns:a16="http://schemas.microsoft.com/office/drawing/2014/main" id="{EE620431-D058-4927-A69A-3865652B4B1A}"/>
              </a:ext>
            </a:extLst>
          </p:cNvPr>
          <p:cNvSpPr>
            <a:spLocks noGrp="1" noChangeArrowheads="1"/>
          </p:cNvSpPr>
          <p:nvPr>
            <p:ph type="title"/>
          </p:nvPr>
        </p:nvSpPr>
        <p:spPr/>
        <p:txBody>
          <a:bodyPr/>
          <a:lstStyle/>
          <a:p>
            <a:pPr eaLnBrk="1" hangingPunct="1"/>
            <a:r>
              <a:rPr lang="en-US" altLang="zh-CN">
                <a:ea typeface="宋体" panose="02010600030101010101" pitchFamily="2" charset="-122"/>
              </a:rPr>
              <a:t>Identify Use Cases</a:t>
            </a:r>
            <a:br>
              <a:rPr lang="en-US" altLang="zh-CN">
                <a:ea typeface="宋体" panose="02010600030101010101" pitchFamily="2" charset="-122"/>
              </a:rPr>
            </a:br>
            <a:r>
              <a:rPr lang="en-US" altLang="zh-CN" sz="2800">
                <a:ea typeface="宋体" panose="02010600030101010101" pitchFamily="2" charset="-122"/>
              </a:rPr>
              <a:t>Both subsystems</a:t>
            </a:r>
            <a:r>
              <a:rPr lang="en-US" altLang="zh-CN">
                <a:ea typeface="宋体" panose="02010600030101010101" pitchFamily="2" charset="-122"/>
              </a:rPr>
              <a:t> </a:t>
            </a:r>
          </a:p>
        </p:txBody>
      </p:sp>
      <p:pic>
        <p:nvPicPr>
          <p:cNvPr id="50180" name="Picture 7">
            <a:extLst>
              <a:ext uri="{FF2B5EF4-FFF2-40B4-BE49-F238E27FC236}">
                <a16:creationId xmlns:a16="http://schemas.microsoft.com/office/drawing/2014/main" id="{39FBF243-2710-4294-8A8E-21D92F970B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439863"/>
            <a:ext cx="7772400" cy="4691062"/>
          </a:xfrm>
          <a:noFill/>
        </p:spPr>
      </p:pic>
      <p:sp>
        <p:nvSpPr>
          <p:cNvPr id="50181" name="Footer Placeholder 4">
            <a:extLst>
              <a:ext uri="{FF2B5EF4-FFF2-40B4-BE49-F238E27FC236}">
                <a16:creationId xmlns:a16="http://schemas.microsoft.com/office/drawing/2014/main" id="{A3C9ACAF-C811-47DC-85CF-CCB8440F800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0182" name="Rectangle 4">
            <a:extLst>
              <a:ext uri="{FF2B5EF4-FFF2-40B4-BE49-F238E27FC236}">
                <a16:creationId xmlns:a16="http://schemas.microsoft.com/office/drawing/2014/main" id="{C2AC70F4-42A0-48E6-9E36-53A5C221D84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cxnSp>
        <p:nvCxnSpPr>
          <p:cNvPr id="3" name="直接连接符 2">
            <a:extLst>
              <a:ext uri="{FF2B5EF4-FFF2-40B4-BE49-F238E27FC236}">
                <a16:creationId xmlns:a16="http://schemas.microsoft.com/office/drawing/2014/main" id="{7C52475E-A3BF-4798-9686-D37C69FB2ACB}"/>
              </a:ext>
            </a:extLst>
          </p:cNvPr>
          <p:cNvCxnSpPr/>
          <p:nvPr/>
        </p:nvCxnSpPr>
        <p:spPr>
          <a:xfrm>
            <a:off x="914400" y="2286000"/>
            <a:ext cx="76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4D977BB-13D7-4ED6-8D32-CEF42EDA3667}"/>
              </a:ext>
            </a:extLst>
          </p:cNvPr>
          <p:cNvCxnSpPr>
            <a:cxnSpLocks/>
          </p:cNvCxnSpPr>
          <p:nvPr/>
        </p:nvCxnSpPr>
        <p:spPr>
          <a:xfrm>
            <a:off x="914400" y="2895600"/>
            <a:ext cx="1143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6613BB1-BB36-4985-BF75-CB21CDE18669}"/>
              </a:ext>
            </a:extLst>
          </p:cNvPr>
          <p:cNvCxnSpPr/>
          <p:nvPr/>
        </p:nvCxnSpPr>
        <p:spPr>
          <a:xfrm>
            <a:off x="914400" y="3581400"/>
            <a:ext cx="76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2D1FF68-CEBE-42F8-9E1B-AB09F603E953}"/>
              </a:ext>
            </a:extLst>
          </p:cNvPr>
          <p:cNvCxnSpPr>
            <a:cxnSpLocks/>
          </p:cNvCxnSpPr>
          <p:nvPr/>
        </p:nvCxnSpPr>
        <p:spPr>
          <a:xfrm>
            <a:off x="914400" y="3962400"/>
            <a:ext cx="1143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7C52475E-A3BF-4798-9686-D37C69FB2ACB}"/>
              </a:ext>
            </a:extLst>
          </p:cNvPr>
          <p:cNvCxnSpPr/>
          <p:nvPr/>
        </p:nvCxnSpPr>
        <p:spPr>
          <a:xfrm>
            <a:off x="914400" y="4648200"/>
            <a:ext cx="76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7C52475E-A3BF-4798-9686-D37C69FB2ACB}"/>
              </a:ext>
            </a:extLst>
          </p:cNvPr>
          <p:cNvCxnSpPr>
            <a:cxnSpLocks/>
          </p:cNvCxnSpPr>
          <p:nvPr/>
        </p:nvCxnSpPr>
        <p:spPr>
          <a:xfrm>
            <a:off x="914400" y="6019800"/>
            <a:ext cx="6096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0D1A156-C866-4DB6-858B-C87E01EFF213}"/>
              </a:ext>
            </a:extLst>
          </p:cNvPr>
          <p:cNvCxnSpPr>
            <a:cxnSpLocks/>
          </p:cNvCxnSpPr>
          <p:nvPr/>
        </p:nvCxnSpPr>
        <p:spPr>
          <a:xfrm>
            <a:off x="899160" y="5334000"/>
            <a:ext cx="1143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对话气泡: 圆角矩形 7">
            <a:extLst>
              <a:ext uri="{FF2B5EF4-FFF2-40B4-BE49-F238E27FC236}">
                <a16:creationId xmlns:a16="http://schemas.microsoft.com/office/drawing/2014/main" id="{CEC4A5F7-BB3F-45DE-9BA5-129FD2B27A6D}"/>
              </a:ext>
            </a:extLst>
          </p:cNvPr>
          <p:cNvSpPr/>
          <p:nvPr/>
        </p:nvSpPr>
        <p:spPr>
          <a:xfrm>
            <a:off x="1981200" y="1348958"/>
            <a:ext cx="1447800" cy="582612"/>
          </a:xfrm>
          <a:prstGeom prst="wedgeRoundRectCallout">
            <a:avLst>
              <a:gd name="adj1" fmla="val -66817"/>
              <a:gd name="adj2" fmla="val 71851"/>
              <a:gd name="adj3" fmla="val 16667"/>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动词短语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CAB6BD7E-478E-4977-BDB4-5AB0839CBE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F8942E7D-AACF-4CBC-9F49-F7E08C4693D3}" type="slidenum">
              <a:rPr lang="en-US" altLang="en-US" sz="1000"/>
              <a:pPr eaLnBrk="1" hangingPunct="1">
                <a:spcBef>
                  <a:spcPct val="0"/>
                </a:spcBef>
                <a:buClrTx/>
                <a:buSzTx/>
                <a:buFontTx/>
                <a:buNone/>
              </a:pPr>
              <a:t>56</a:t>
            </a:fld>
            <a:endParaRPr lang="en-US" altLang="en-US" sz="1000"/>
          </a:p>
        </p:txBody>
      </p:sp>
      <p:sp>
        <p:nvSpPr>
          <p:cNvPr id="54275" name="Rectangle 2">
            <a:extLst>
              <a:ext uri="{FF2B5EF4-FFF2-40B4-BE49-F238E27FC236}">
                <a16:creationId xmlns:a16="http://schemas.microsoft.com/office/drawing/2014/main" id="{29F5C0EF-FE9F-43D3-B224-72E0C8A09FD5}"/>
              </a:ext>
            </a:extLst>
          </p:cNvPr>
          <p:cNvSpPr>
            <a:spLocks noGrp="1" noChangeArrowheads="1"/>
          </p:cNvSpPr>
          <p:nvPr>
            <p:ph type="title"/>
          </p:nvPr>
        </p:nvSpPr>
        <p:spPr>
          <a:xfrm>
            <a:off x="381000" y="609600"/>
            <a:ext cx="7543800" cy="1295400"/>
          </a:xfrm>
        </p:spPr>
        <p:txBody>
          <a:bodyPr/>
          <a:lstStyle/>
          <a:p>
            <a:pPr eaLnBrk="1" hangingPunct="1"/>
            <a:r>
              <a:rPr lang="en-US" altLang="zh-CN" dirty="0">
                <a:ea typeface="宋体" panose="02010600030101010101" pitchFamily="2" charset="-122"/>
              </a:rPr>
              <a:t>Details Focus on Supplier Information Subsystem</a:t>
            </a:r>
            <a:br>
              <a:rPr lang="en-US" altLang="zh-CN" dirty="0">
                <a:ea typeface="宋体" panose="02010600030101010101" pitchFamily="2" charset="-122"/>
              </a:rPr>
            </a:br>
            <a:r>
              <a:rPr lang="zh-CN" altLang="en-US" dirty="0">
                <a:ea typeface="宋体" panose="02010600030101010101" pitchFamily="2" charset="-122"/>
              </a:rPr>
              <a:t>（供应商信息子系统细节）</a:t>
            </a:r>
            <a:endParaRPr lang="en-US" altLang="zh-CN" dirty="0">
              <a:ea typeface="宋体" panose="02010600030101010101" pitchFamily="2" charset="-122"/>
            </a:endParaRPr>
          </a:p>
        </p:txBody>
      </p:sp>
      <p:sp>
        <p:nvSpPr>
          <p:cNvPr id="54276" name="Rectangle 3">
            <a:extLst>
              <a:ext uri="{FF2B5EF4-FFF2-40B4-BE49-F238E27FC236}">
                <a16:creationId xmlns:a16="http://schemas.microsoft.com/office/drawing/2014/main" id="{407142EC-C24F-4647-BFB9-F3FE7306CE56}"/>
              </a:ext>
            </a:extLst>
          </p:cNvPr>
          <p:cNvSpPr>
            <a:spLocks noGrp="1" noChangeArrowheads="1"/>
          </p:cNvSpPr>
          <p:nvPr>
            <p:ph type="body" idx="1"/>
          </p:nvPr>
        </p:nvSpPr>
        <p:spPr>
          <a:xfrm>
            <a:off x="455762" y="2086695"/>
            <a:ext cx="8229600" cy="4411662"/>
          </a:xfrm>
        </p:spPr>
        <p:txBody>
          <a:bodyPr/>
          <a:lstStyle/>
          <a:p>
            <a:pPr eaLnBrk="1" hangingPunct="1"/>
            <a:r>
              <a:rPr lang="en-US" altLang="zh-CN" sz="3200" dirty="0">
                <a:ea typeface="宋体" panose="02010600030101010101" pitchFamily="2" charset="-122"/>
              </a:rPr>
              <a:t>Use cases:</a:t>
            </a:r>
          </a:p>
          <a:p>
            <a:pPr lvl="1" eaLnBrk="1" hangingPunct="1"/>
            <a:r>
              <a:rPr lang="en-US" altLang="zh-CN" sz="2800" dirty="0">
                <a:ea typeface="宋体" panose="02010600030101010101" pitchFamily="2" charset="-122"/>
              </a:rPr>
              <a:t>Look up supplier</a:t>
            </a:r>
            <a:r>
              <a:rPr lang="zh-CN" altLang="en-US" sz="2800" dirty="0">
                <a:ea typeface="宋体" panose="02010600030101010101" pitchFamily="2" charset="-122"/>
              </a:rPr>
              <a:t>（查找供应商）</a:t>
            </a:r>
            <a:endParaRPr lang="en-US" altLang="zh-CN" sz="2800" dirty="0">
              <a:ea typeface="宋体" panose="02010600030101010101" pitchFamily="2" charset="-122"/>
            </a:endParaRPr>
          </a:p>
          <a:p>
            <a:pPr lvl="1" eaLnBrk="1" hangingPunct="1"/>
            <a:r>
              <a:rPr lang="en-US" altLang="zh-CN" sz="2800" dirty="0">
                <a:ea typeface="宋体" panose="02010600030101010101" pitchFamily="2" charset="-122"/>
              </a:rPr>
              <a:t>Enter/update supplier information</a:t>
            </a:r>
            <a:r>
              <a:rPr lang="zh-CN" altLang="en-US" sz="2800" dirty="0">
                <a:ea typeface="宋体" panose="02010600030101010101" pitchFamily="2" charset="-122"/>
              </a:rPr>
              <a:t>（输入</a:t>
            </a:r>
            <a:r>
              <a:rPr lang="en-US" altLang="zh-CN" sz="2800" dirty="0">
                <a:ea typeface="宋体" panose="02010600030101010101" pitchFamily="2" charset="-122"/>
              </a:rPr>
              <a:t>/</a:t>
            </a:r>
            <a:r>
              <a:rPr lang="zh-CN" altLang="en-US" sz="2800" dirty="0">
                <a:ea typeface="宋体" panose="02010600030101010101" pitchFamily="2" charset="-122"/>
              </a:rPr>
              <a:t>更新供应商信息）</a:t>
            </a:r>
            <a:endParaRPr lang="en-US" altLang="zh-CN" sz="2800" dirty="0">
              <a:ea typeface="宋体" panose="02010600030101010101" pitchFamily="2" charset="-122"/>
            </a:endParaRPr>
          </a:p>
          <a:p>
            <a:pPr lvl="1" eaLnBrk="1" hangingPunct="1"/>
            <a:r>
              <a:rPr lang="en-US" altLang="zh-CN" sz="2800" dirty="0">
                <a:ea typeface="宋体" panose="02010600030101010101" pitchFamily="2" charset="-122"/>
              </a:rPr>
              <a:t>Lookup contact information</a:t>
            </a:r>
            <a:r>
              <a:rPr lang="zh-CN" altLang="en-US" sz="2800" dirty="0">
                <a:ea typeface="宋体" panose="02010600030101010101" pitchFamily="2" charset="-122"/>
              </a:rPr>
              <a:t>（查找联系信息）</a:t>
            </a:r>
            <a:endParaRPr lang="en-US" altLang="zh-CN" sz="2800" dirty="0">
              <a:ea typeface="宋体" panose="02010600030101010101" pitchFamily="2" charset="-122"/>
            </a:endParaRPr>
          </a:p>
          <a:p>
            <a:pPr lvl="1" eaLnBrk="1" hangingPunct="1"/>
            <a:r>
              <a:rPr lang="en-US" altLang="zh-CN" sz="2800" dirty="0">
                <a:ea typeface="宋体" panose="02010600030101010101" pitchFamily="2" charset="-122"/>
              </a:rPr>
              <a:t>Enter/update contract information</a:t>
            </a:r>
            <a:r>
              <a:rPr lang="zh-CN" altLang="en-US" sz="2800" dirty="0">
                <a:ea typeface="宋体" panose="02010600030101010101" pitchFamily="2" charset="-122"/>
              </a:rPr>
              <a:t>（输入</a:t>
            </a:r>
            <a:r>
              <a:rPr lang="en-US" altLang="zh-CN" sz="2800" dirty="0">
                <a:ea typeface="宋体" panose="02010600030101010101" pitchFamily="2" charset="-122"/>
              </a:rPr>
              <a:t>/</a:t>
            </a:r>
            <a:r>
              <a:rPr lang="zh-CN" altLang="en-US" sz="2800" dirty="0">
                <a:ea typeface="宋体" panose="02010600030101010101" pitchFamily="2" charset="-122"/>
              </a:rPr>
              <a:t>更新合同信息）</a:t>
            </a:r>
            <a:endParaRPr lang="en-US" altLang="zh-CN" sz="2800" dirty="0">
              <a:ea typeface="宋体" panose="02010600030101010101" pitchFamily="2" charset="-122"/>
            </a:endParaRPr>
          </a:p>
        </p:txBody>
      </p:sp>
      <p:sp>
        <p:nvSpPr>
          <p:cNvPr id="54277" name="Footer Placeholder 4">
            <a:extLst>
              <a:ext uri="{FF2B5EF4-FFF2-40B4-BE49-F238E27FC236}">
                <a16:creationId xmlns:a16="http://schemas.microsoft.com/office/drawing/2014/main" id="{7C4F0E35-1873-43B4-9026-95CB48B2B6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4278" name="Rectangle 4">
            <a:extLst>
              <a:ext uri="{FF2B5EF4-FFF2-40B4-BE49-F238E27FC236}">
                <a16:creationId xmlns:a16="http://schemas.microsoft.com/office/drawing/2014/main" id="{E59EAEDE-1E74-46B8-BAC4-E26D42D0791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78E11D48-48D8-4A77-A07F-C08A66D7AD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55CC9B45-77AA-406A-A534-81DD5FF27ACE}" type="slidenum">
              <a:rPr lang="en-US" altLang="en-US" sz="1000"/>
              <a:pPr eaLnBrk="1" hangingPunct="1">
                <a:spcBef>
                  <a:spcPct val="0"/>
                </a:spcBef>
                <a:buClrTx/>
                <a:buSzTx/>
                <a:buFontTx/>
                <a:buNone/>
              </a:pPr>
              <a:t>57</a:t>
            </a:fld>
            <a:endParaRPr lang="en-US" altLang="en-US" sz="1000"/>
          </a:p>
        </p:txBody>
      </p:sp>
      <p:sp>
        <p:nvSpPr>
          <p:cNvPr id="55299" name="Rectangle 2">
            <a:extLst>
              <a:ext uri="{FF2B5EF4-FFF2-40B4-BE49-F238E27FC236}">
                <a16:creationId xmlns:a16="http://schemas.microsoft.com/office/drawing/2014/main" id="{3F2CC211-BC5F-4AB7-B951-03EEFF449EF9}"/>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Use Case Diagram</a:t>
            </a:r>
            <a:r>
              <a:rPr lang="zh-CN" altLang="en-US" dirty="0">
                <a:ea typeface="宋体" panose="02010600030101010101" pitchFamily="2" charset="-122"/>
              </a:rPr>
              <a:t>（用例图）</a:t>
            </a:r>
            <a:br>
              <a:rPr lang="en-US" altLang="zh-CN" dirty="0">
                <a:ea typeface="宋体" panose="02010600030101010101" pitchFamily="2" charset="-122"/>
              </a:rPr>
            </a:br>
            <a:r>
              <a:rPr lang="en-US" altLang="zh-CN" sz="2800" dirty="0">
                <a:ea typeface="宋体" panose="02010600030101010101" pitchFamily="2" charset="-122"/>
              </a:rPr>
              <a:t>Supplier information subsystem</a:t>
            </a:r>
            <a:endParaRPr lang="en-US" altLang="zh-CN" dirty="0">
              <a:ea typeface="宋体" panose="02010600030101010101" pitchFamily="2" charset="-122"/>
            </a:endParaRPr>
          </a:p>
        </p:txBody>
      </p:sp>
      <p:pic>
        <p:nvPicPr>
          <p:cNvPr id="55300" name="Picture 7">
            <a:extLst>
              <a:ext uri="{FF2B5EF4-FFF2-40B4-BE49-F238E27FC236}">
                <a16:creationId xmlns:a16="http://schemas.microsoft.com/office/drawing/2014/main" id="{6BBE324B-AF65-4813-A65A-F8E95CBCDB0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95400" y="1568450"/>
            <a:ext cx="6477000" cy="4595813"/>
          </a:xfrm>
          <a:noFill/>
        </p:spPr>
      </p:pic>
      <p:sp>
        <p:nvSpPr>
          <p:cNvPr id="55301" name="Footer Placeholder 4">
            <a:extLst>
              <a:ext uri="{FF2B5EF4-FFF2-40B4-BE49-F238E27FC236}">
                <a16:creationId xmlns:a16="http://schemas.microsoft.com/office/drawing/2014/main" id="{7F347AE9-35C1-41B2-8308-BADE37C51F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5302" name="Rectangle 4">
            <a:extLst>
              <a:ext uri="{FF2B5EF4-FFF2-40B4-BE49-F238E27FC236}">
                <a16:creationId xmlns:a16="http://schemas.microsoft.com/office/drawing/2014/main" id="{8E861089-F347-41FE-AAF1-A40162D3F0F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1411D9AF-81DF-4822-96A3-782E2D77644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23B019E2-0448-43F4-BE0A-9F7D8BDFA530}" type="slidenum">
              <a:rPr lang="en-US" altLang="en-US" sz="1000"/>
              <a:pPr eaLnBrk="1" hangingPunct="1">
                <a:spcBef>
                  <a:spcPct val="0"/>
                </a:spcBef>
                <a:buClrTx/>
                <a:buSzTx/>
                <a:buFontTx/>
                <a:buNone/>
              </a:pPr>
              <a:t>58</a:t>
            </a:fld>
            <a:endParaRPr lang="en-US" altLang="en-US" sz="1000"/>
          </a:p>
        </p:txBody>
      </p:sp>
      <p:sp>
        <p:nvSpPr>
          <p:cNvPr id="56323" name="Rectangle 2">
            <a:extLst>
              <a:ext uri="{FF2B5EF4-FFF2-40B4-BE49-F238E27FC236}">
                <a16:creationId xmlns:a16="http://schemas.microsoft.com/office/drawing/2014/main" id="{6536E306-353D-41D9-9CA1-59EFEFC53C8F}"/>
              </a:ext>
            </a:extLst>
          </p:cNvPr>
          <p:cNvSpPr>
            <a:spLocks noGrp="1" noChangeArrowheads="1"/>
          </p:cNvSpPr>
          <p:nvPr>
            <p:ph type="title"/>
          </p:nvPr>
        </p:nvSpPr>
        <p:spPr>
          <a:xfrm>
            <a:off x="495300" y="1181100"/>
            <a:ext cx="2438400" cy="4495800"/>
          </a:xfrm>
        </p:spPr>
        <p:txBody>
          <a:bodyPr/>
          <a:lstStyle/>
          <a:p>
            <a:pPr eaLnBrk="1" hangingPunct="1"/>
            <a:r>
              <a:rPr lang="en-US" altLang="zh-CN" dirty="0">
                <a:ea typeface="宋体" panose="02010600030101010101" pitchFamily="2" charset="-122"/>
              </a:rPr>
              <a:t>Activity Diagram </a:t>
            </a:r>
            <a:r>
              <a:rPr lang="en-US" altLang="zh-CN" sz="2800" dirty="0">
                <a:ea typeface="宋体" panose="02010600030101010101" pitchFamily="2" charset="-122"/>
              </a:rPr>
              <a:t>(Workflow)</a:t>
            </a:r>
            <a:br>
              <a:rPr lang="en-US" altLang="zh-CN" sz="2800" dirty="0">
                <a:ea typeface="宋体" panose="02010600030101010101" pitchFamily="2" charset="-122"/>
              </a:rPr>
            </a:br>
            <a:r>
              <a:rPr lang="zh-CN" altLang="en-US" sz="1800" dirty="0">
                <a:ea typeface="宋体" panose="02010600030101010101" pitchFamily="2" charset="-122"/>
              </a:rPr>
              <a:t>开发工作流图：</a:t>
            </a:r>
            <a:br>
              <a:rPr lang="en-US" altLang="zh-CN" sz="1800" dirty="0">
                <a:ea typeface="宋体" panose="02010600030101010101" pitchFamily="2" charset="-122"/>
              </a:rPr>
            </a:br>
            <a:r>
              <a:rPr lang="zh-CN" altLang="en-US" sz="1800" dirty="0">
                <a:ea typeface="宋体" panose="02010600030101010101" pitchFamily="2" charset="-122"/>
              </a:rPr>
              <a:t>记录一个用例的细节</a:t>
            </a:r>
            <a:br>
              <a:rPr lang="en-US" altLang="zh-CN" sz="1800" dirty="0">
                <a:ea typeface="宋体" panose="02010600030101010101" pitchFamily="2" charset="-122"/>
              </a:rPr>
            </a:br>
            <a:br>
              <a:rPr lang="en-US" altLang="zh-CN" dirty="0">
                <a:ea typeface="宋体" panose="02010600030101010101" pitchFamily="2" charset="-122"/>
              </a:rPr>
            </a:br>
            <a:r>
              <a:rPr lang="en-US" altLang="zh-CN" sz="2400" dirty="0">
                <a:ea typeface="宋体" panose="02010600030101010101" pitchFamily="2" charset="-122"/>
              </a:rPr>
              <a:t>Look up supplier use case</a:t>
            </a:r>
            <a:br>
              <a:rPr lang="en-US" altLang="zh-CN" sz="2400" dirty="0">
                <a:ea typeface="宋体" panose="02010600030101010101" pitchFamily="2" charset="-122"/>
              </a:rPr>
            </a:br>
            <a:r>
              <a:rPr lang="en-US" altLang="zh-CN" sz="2000" dirty="0">
                <a:ea typeface="宋体" panose="02010600030101010101" pitchFamily="2" charset="-122"/>
              </a:rPr>
              <a:t>1. </a:t>
            </a:r>
            <a:r>
              <a:rPr lang="zh-CN" altLang="en-US" sz="2000" dirty="0">
                <a:ea typeface="宋体" panose="02010600030101010101" pitchFamily="2" charset="-122"/>
              </a:rPr>
              <a:t>椭圆代表任务，菱形代表决策点</a:t>
            </a:r>
            <a:br>
              <a:rPr lang="en-US" altLang="zh-CN" sz="2000" dirty="0">
                <a:ea typeface="宋体" panose="02010600030101010101" pitchFamily="2" charset="-122"/>
              </a:rPr>
            </a:br>
            <a:r>
              <a:rPr lang="en-US" altLang="zh-CN" sz="2000" dirty="0">
                <a:ea typeface="宋体" panose="02010600030101010101" pitchFamily="2" charset="-122"/>
              </a:rPr>
              <a:t>2. </a:t>
            </a:r>
            <a:r>
              <a:rPr lang="zh-CN" altLang="en-US" sz="2000" dirty="0">
                <a:ea typeface="宋体" panose="02010600030101010101" pitchFamily="2" charset="-122"/>
              </a:rPr>
              <a:t>穿越中心线的箭头代表了系统和用户之间的相互作用</a:t>
            </a:r>
            <a:endParaRPr lang="en-US" altLang="zh-CN" sz="2400" dirty="0">
              <a:ea typeface="宋体" panose="02010600030101010101" pitchFamily="2" charset="-122"/>
            </a:endParaRPr>
          </a:p>
        </p:txBody>
      </p:sp>
      <p:pic>
        <p:nvPicPr>
          <p:cNvPr id="56324" name="Picture 5">
            <a:extLst>
              <a:ext uri="{FF2B5EF4-FFF2-40B4-BE49-F238E27FC236}">
                <a16:creationId xmlns:a16="http://schemas.microsoft.com/office/drawing/2014/main" id="{D8744D53-34BE-4909-BFF7-BEDBB5D0566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200400" y="228600"/>
            <a:ext cx="5219700" cy="6019800"/>
          </a:xfrm>
          <a:noFill/>
        </p:spPr>
      </p:pic>
      <p:sp>
        <p:nvSpPr>
          <p:cNvPr id="56325" name="Footer Placeholder 4">
            <a:extLst>
              <a:ext uri="{FF2B5EF4-FFF2-40B4-BE49-F238E27FC236}">
                <a16:creationId xmlns:a16="http://schemas.microsoft.com/office/drawing/2014/main" id="{32C5AB99-F07A-45B3-89E7-27AA23F7B7B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6326" name="Rectangle 4">
            <a:extLst>
              <a:ext uri="{FF2B5EF4-FFF2-40B4-BE49-F238E27FC236}">
                <a16:creationId xmlns:a16="http://schemas.microsoft.com/office/drawing/2014/main" id="{FF715E88-271F-4824-9EFC-4D3C6BC598E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31491ECD-8049-4727-95CD-E75C9E1599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87181563-51E1-4D9E-ACB0-484153F58602}" type="slidenum">
              <a:rPr lang="en-US" altLang="en-US" sz="1000"/>
              <a:pPr eaLnBrk="1" hangingPunct="1">
                <a:spcBef>
                  <a:spcPct val="0"/>
                </a:spcBef>
                <a:buClrTx/>
                <a:buSzTx/>
                <a:buFontTx/>
                <a:buNone/>
              </a:pPr>
              <a:t>59</a:t>
            </a:fld>
            <a:endParaRPr lang="en-US" altLang="en-US" sz="1000"/>
          </a:p>
        </p:txBody>
      </p:sp>
      <p:sp>
        <p:nvSpPr>
          <p:cNvPr id="49155" name="Rectangle 2">
            <a:extLst>
              <a:ext uri="{FF2B5EF4-FFF2-40B4-BE49-F238E27FC236}">
                <a16:creationId xmlns:a16="http://schemas.microsoft.com/office/drawing/2014/main" id="{8586B2CC-81C7-43C2-8022-7A1D3482AD6E}"/>
              </a:ext>
            </a:extLst>
          </p:cNvPr>
          <p:cNvSpPr>
            <a:spLocks noGrp="1" noChangeArrowheads="1"/>
          </p:cNvSpPr>
          <p:nvPr>
            <p:ph type="title"/>
          </p:nvPr>
        </p:nvSpPr>
        <p:spPr/>
        <p:txBody>
          <a:bodyPr/>
          <a:lstStyle/>
          <a:p>
            <a:pPr eaLnBrk="1" hangingPunct="1"/>
            <a:r>
              <a:rPr lang="en-US" altLang="zh-CN">
                <a:ea typeface="宋体" panose="02010600030101010101" pitchFamily="2" charset="-122"/>
              </a:rPr>
              <a:t>Day 2 Activities </a:t>
            </a:r>
          </a:p>
        </p:txBody>
      </p:sp>
      <p:sp>
        <p:nvSpPr>
          <p:cNvPr id="49156" name="Rectangle 3">
            <a:extLst>
              <a:ext uri="{FF2B5EF4-FFF2-40B4-BE49-F238E27FC236}">
                <a16:creationId xmlns:a16="http://schemas.microsoft.com/office/drawing/2014/main" id="{305A646A-6308-4186-B53E-A577D4DCA328}"/>
              </a:ext>
            </a:extLst>
          </p:cNvPr>
          <p:cNvSpPr>
            <a:spLocks noGrp="1" noChangeArrowheads="1"/>
          </p:cNvSpPr>
          <p:nvPr>
            <p:ph type="body" idx="1"/>
          </p:nvPr>
        </p:nvSpPr>
        <p:spPr/>
        <p:txBody>
          <a:bodyPr/>
          <a:lstStyle/>
          <a:p>
            <a:pPr eaLnBrk="1" hangingPunct="1"/>
            <a:r>
              <a:rPr lang="en-US" altLang="zh-CN" dirty="0">
                <a:solidFill>
                  <a:srgbClr val="C00000"/>
                </a:solidFill>
                <a:ea typeface="宋体" panose="02010600030101010101" pitchFamily="2" charset="-122"/>
              </a:rPr>
              <a:t>Core Process 3: Discover and Understand Details</a:t>
            </a:r>
          </a:p>
          <a:p>
            <a:pPr lvl="1" eaLnBrk="1" hangingPunct="1"/>
            <a:r>
              <a:rPr lang="en-US" altLang="zh-CN" dirty="0">
                <a:ea typeface="宋体" panose="02010600030101010101" pitchFamily="2" charset="-122"/>
              </a:rPr>
              <a:t>Develop a preliminary list of </a:t>
            </a:r>
            <a:r>
              <a:rPr lang="en-US" altLang="zh-CN" dirty="0">
                <a:solidFill>
                  <a:srgbClr val="C00000"/>
                </a:solidFill>
                <a:ea typeface="宋体" panose="02010600030101010101" pitchFamily="2" charset="-122"/>
              </a:rPr>
              <a:t>classes</a:t>
            </a:r>
            <a:r>
              <a:rPr lang="zh-CN" altLang="en-US" dirty="0">
                <a:solidFill>
                  <a:srgbClr val="C00000"/>
                </a:solidFill>
                <a:ea typeface="宋体" panose="02010600030101010101" pitchFamily="2" charset="-122"/>
              </a:rPr>
              <a:t>（类）</a:t>
            </a:r>
            <a:r>
              <a:rPr lang="en-US" altLang="zh-CN" dirty="0">
                <a:ea typeface="宋体" panose="02010600030101010101" pitchFamily="2" charset="-122"/>
              </a:rPr>
              <a:t> and a </a:t>
            </a:r>
            <a:r>
              <a:rPr lang="en-US" altLang="zh-CN" dirty="0">
                <a:solidFill>
                  <a:srgbClr val="C00000"/>
                </a:solidFill>
                <a:ea typeface="宋体" panose="02010600030101010101" pitchFamily="2" charset="-122"/>
              </a:rPr>
              <a:t>class diagram</a:t>
            </a:r>
            <a:r>
              <a:rPr lang="zh-CN" altLang="en-US" dirty="0">
                <a:solidFill>
                  <a:srgbClr val="C00000"/>
                </a:solidFill>
                <a:ea typeface="宋体" panose="02010600030101010101" pitchFamily="2" charset="-122"/>
              </a:rPr>
              <a:t>（类图）</a:t>
            </a:r>
            <a:endParaRPr lang="en-US" altLang="zh-CN" dirty="0">
              <a:solidFill>
                <a:srgbClr val="C00000"/>
              </a:solidFill>
              <a:ea typeface="宋体" panose="02010600030101010101" pitchFamily="2" charset="-122"/>
            </a:endParaRPr>
          </a:p>
          <a:p>
            <a:pPr lvl="2" eaLnBrk="1" hangingPunct="1"/>
            <a:r>
              <a:rPr lang="zh-CN" altLang="en-US" dirty="0">
                <a:ea typeface="宋体" panose="02010600030101010101" pitchFamily="2" charset="-122"/>
              </a:rPr>
              <a:t>寻找能描述事物类别的</a:t>
            </a:r>
            <a:r>
              <a:rPr lang="zh-CN" altLang="en-US" u="sng" dirty="0">
                <a:ea typeface="宋体" panose="02010600030101010101" pitchFamily="2" charset="-122"/>
              </a:rPr>
              <a:t>名词</a:t>
            </a:r>
            <a:endParaRPr lang="en-US" altLang="zh-CN" u="sng" dirty="0">
              <a:ea typeface="宋体" panose="02010600030101010101" pitchFamily="2" charset="-122"/>
            </a:endParaRPr>
          </a:p>
        </p:txBody>
      </p:sp>
      <p:sp>
        <p:nvSpPr>
          <p:cNvPr id="49157" name="Footer Placeholder 4">
            <a:extLst>
              <a:ext uri="{FF2B5EF4-FFF2-40B4-BE49-F238E27FC236}">
                <a16:creationId xmlns:a16="http://schemas.microsoft.com/office/drawing/2014/main" id="{4E7A0B1A-C156-400B-8D78-967ED322B4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49158" name="Rectangle 4">
            <a:extLst>
              <a:ext uri="{FF2B5EF4-FFF2-40B4-BE49-F238E27FC236}">
                <a16:creationId xmlns:a16="http://schemas.microsoft.com/office/drawing/2014/main" id="{C8A3F69E-BB78-4993-8B7C-7ACA57C47DF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893986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D006AE44-43B4-41DD-91E5-A89426F476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FBF628FA-40CB-47FA-883C-01A1E9EA663D}" type="slidenum">
              <a:rPr lang="en-US" altLang="en-US" sz="1000"/>
              <a:pPr eaLnBrk="1" hangingPunct="1">
                <a:spcBef>
                  <a:spcPct val="0"/>
                </a:spcBef>
                <a:buClrTx/>
                <a:buSzTx/>
                <a:buFontTx/>
                <a:buNone/>
              </a:pPr>
              <a:t>60</a:t>
            </a:fld>
            <a:endParaRPr lang="en-US" altLang="en-US" sz="1000"/>
          </a:p>
        </p:txBody>
      </p:sp>
      <p:sp>
        <p:nvSpPr>
          <p:cNvPr id="51203" name="Rectangle 2">
            <a:extLst>
              <a:ext uri="{FF2B5EF4-FFF2-40B4-BE49-F238E27FC236}">
                <a16:creationId xmlns:a16="http://schemas.microsoft.com/office/drawing/2014/main" id="{4D9DCB46-5245-4452-A852-49823028D54A}"/>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Identify Object Classes</a:t>
            </a:r>
            <a:br>
              <a:rPr lang="en-US" altLang="zh-CN" dirty="0">
                <a:ea typeface="宋体" panose="02010600030101010101" pitchFamily="2" charset="-122"/>
              </a:rPr>
            </a:br>
            <a:r>
              <a:rPr lang="en-US" altLang="zh-CN" sz="2800" dirty="0">
                <a:ea typeface="宋体" panose="02010600030101010101" pitchFamily="2" charset="-122"/>
              </a:rPr>
              <a:t>Both subsystems</a:t>
            </a:r>
            <a:r>
              <a:rPr lang="en-US" altLang="zh-CN" dirty="0">
                <a:ea typeface="宋体" panose="02010600030101010101" pitchFamily="2" charset="-122"/>
              </a:rPr>
              <a:t> </a:t>
            </a:r>
          </a:p>
        </p:txBody>
      </p:sp>
      <p:pic>
        <p:nvPicPr>
          <p:cNvPr id="51204" name="Picture 10">
            <a:extLst>
              <a:ext uri="{FF2B5EF4-FFF2-40B4-BE49-F238E27FC236}">
                <a16:creationId xmlns:a16="http://schemas.microsoft.com/office/drawing/2014/main" id="{30061DD7-7667-4B44-9D74-770FB83E97A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81000" y="1905000"/>
            <a:ext cx="8534400" cy="2908300"/>
          </a:xfrm>
          <a:noFill/>
        </p:spPr>
      </p:pic>
      <p:sp>
        <p:nvSpPr>
          <p:cNvPr id="51205" name="Footer Placeholder 4">
            <a:extLst>
              <a:ext uri="{FF2B5EF4-FFF2-40B4-BE49-F238E27FC236}">
                <a16:creationId xmlns:a16="http://schemas.microsoft.com/office/drawing/2014/main" id="{B59078BA-A4A1-4588-99B7-8911136496A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1206" name="Rectangle 4">
            <a:extLst>
              <a:ext uri="{FF2B5EF4-FFF2-40B4-BE49-F238E27FC236}">
                <a16:creationId xmlns:a16="http://schemas.microsoft.com/office/drawing/2014/main" id="{01D12161-635A-4850-8410-6BE3F21CC2C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对话气泡: 圆角矩形 6">
            <a:extLst>
              <a:ext uri="{FF2B5EF4-FFF2-40B4-BE49-F238E27FC236}">
                <a16:creationId xmlns:a16="http://schemas.microsoft.com/office/drawing/2014/main" id="{09EC9B4A-2291-4381-ABE5-5EB89423D4CB}"/>
              </a:ext>
            </a:extLst>
          </p:cNvPr>
          <p:cNvSpPr/>
          <p:nvPr/>
        </p:nvSpPr>
        <p:spPr>
          <a:xfrm>
            <a:off x="1752600" y="2541589"/>
            <a:ext cx="914400" cy="582612"/>
          </a:xfrm>
          <a:prstGeom prst="wedgeRoundRectCallout">
            <a:avLst>
              <a:gd name="adj1" fmla="val -66817"/>
              <a:gd name="adj2" fmla="val 71851"/>
              <a:gd name="adj3" fmla="val 16667"/>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名词</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E59FC120-D5C3-4E23-9FDE-649A0162A5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5DC798E0-4C40-4481-A861-48E30B2BFF5C}" type="slidenum">
              <a:rPr lang="en-US" altLang="en-US" sz="1000"/>
              <a:pPr eaLnBrk="1" hangingPunct="1">
                <a:spcBef>
                  <a:spcPct val="0"/>
                </a:spcBef>
                <a:buClrTx/>
                <a:buSzTx/>
                <a:buFontTx/>
                <a:buNone/>
              </a:pPr>
              <a:t>61</a:t>
            </a:fld>
            <a:endParaRPr lang="en-US" altLang="en-US" sz="1000"/>
          </a:p>
        </p:txBody>
      </p:sp>
      <p:sp>
        <p:nvSpPr>
          <p:cNvPr id="52227" name="Rectangle 2">
            <a:extLst>
              <a:ext uri="{FF2B5EF4-FFF2-40B4-BE49-F238E27FC236}">
                <a16:creationId xmlns:a16="http://schemas.microsoft.com/office/drawing/2014/main" id="{51BEBEBB-2A41-41CA-AC5C-E86CD52055C0}"/>
              </a:ext>
            </a:extLst>
          </p:cNvPr>
          <p:cNvSpPr>
            <a:spLocks noGrp="1" noChangeArrowheads="1"/>
          </p:cNvSpPr>
          <p:nvPr>
            <p:ph type="title"/>
          </p:nvPr>
        </p:nvSpPr>
        <p:spPr/>
        <p:txBody>
          <a:bodyPr/>
          <a:lstStyle/>
          <a:p>
            <a:pPr eaLnBrk="1" hangingPunct="1"/>
            <a:r>
              <a:rPr lang="en-US" altLang="zh-CN">
                <a:ea typeface="宋体" panose="02010600030101010101" pitchFamily="2" charset="-122"/>
              </a:rPr>
              <a:t>Preliminary Class Diagram</a:t>
            </a:r>
            <a:br>
              <a:rPr lang="en-US" altLang="zh-CN">
                <a:ea typeface="宋体" panose="02010600030101010101" pitchFamily="2" charset="-122"/>
              </a:rPr>
            </a:br>
            <a:r>
              <a:rPr lang="en-US" altLang="zh-CN" sz="2800">
                <a:ea typeface="宋体" panose="02010600030101010101" pitchFamily="2" charset="-122"/>
              </a:rPr>
              <a:t>Both subsystems</a:t>
            </a:r>
            <a:r>
              <a:rPr lang="en-US" altLang="zh-CN">
                <a:ea typeface="宋体" panose="02010600030101010101" pitchFamily="2" charset="-122"/>
              </a:rPr>
              <a:t> </a:t>
            </a:r>
          </a:p>
        </p:txBody>
      </p:sp>
      <p:pic>
        <p:nvPicPr>
          <p:cNvPr id="52228" name="Picture 7">
            <a:extLst>
              <a:ext uri="{FF2B5EF4-FFF2-40B4-BE49-F238E27FC236}">
                <a16:creationId xmlns:a16="http://schemas.microsoft.com/office/drawing/2014/main" id="{DFBA3BAA-5396-4BA7-B8A5-04EADB4B97F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40441" y="2337000"/>
            <a:ext cx="6063117" cy="3886200"/>
          </a:xfrm>
          <a:noFill/>
        </p:spPr>
      </p:pic>
      <p:sp>
        <p:nvSpPr>
          <p:cNvPr id="52229" name="Footer Placeholder 4">
            <a:extLst>
              <a:ext uri="{FF2B5EF4-FFF2-40B4-BE49-F238E27FC236}">
                <a16:creationId xmlns:a16="http://schemas.microsoft.com/office/drawing/2014/main" id="{2AA4E09E-0701-42B6-9B0D-1BDD2240FE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2230" name="Rectangle 4">
            <a:extLst>
              <a:ext uri="{FF2B5EF4-FFF2-40B4-BE49-F238E27FC236}">
                <a16:creationId xmlns:a16="http://schemas.microsoft.com/office/drawing/2014/main" id="{C573D7E2-B426-440B-9F5B-37BFD86911C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E1E326C1-5A2B-4D05-BBD5-F47E5A740736}"/>
              </a:ext>
            </a:extLst>
          </p:cNvPr>
          <p:cNvSpPr txBox="1"/>
          <p:nvPr/>
        </p:nvSpPr>
        <p:spPr>
          <a:xfrm>
            <a:off x="457199" y="1534069"/>
            <a:ext cx="7508875" cy="646331"/>
          </a:xfrm>
          <a:prstGeom prst="rect">
            <a:avLst/>
          </a:prstGeom>
          <a:noFill/>
        </p:spPr>
        <p:txBody>
          <a:bodyPr wrap="square" rtlCol="0">
            <a:spAutoFit/>
          </a:bodyPr>
          <a:lstStyle/>
          <a:p>
            <a:r>
              <a:rPr lang="zh-CN" altLang="en-US" dirty="0"/>
              <a:t>除了提供对象类列表外，分析员经常会绘制一个</a:t>
            </a:r>
            <a:r>
              <a:rPr lang="zh-CN" altLang="en-US" u="sng" dirty="0"/>
              <a:t>类、属性和它们与另外的类之间的关系图</a:t>
            </a:r>
            <a:r>
              <a:rPr lang="zh-CN" altLang="en-US" dirty="0"/>
              <a:t>，称为</a:t>
            </a:r>
            <a:r>
              <a:rPr lang="zh-CN" altLang="en-US" dirty="0">
                <a:solidFill>
                  <a:srgbClr val="C00000"/>
                </a:solidFill>
              </a:rPr>
              <a:t>类图：</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AC7CC234-923D-49EE-82A4-F3A1413273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09B35659-97C5-43E1-95D3-A39E95697611}" type="slidenum">
              <a:rPr lang="en-US" altLang="en-US" sz="1000"/>
              <a:pPr eaLnBrk="1" hangingPunct="1">
                <a:spcBef>
                  <a:spcPct val="0"/>
                </a:spcBef>
                <a:buClrTx/>
                <a:buSzTx/>
                <a:buFontTx/>
                <a:buNone/>
              </a:pPr>
              <a:t>62</a:t>
            </a:fld>
            <a:endParaRPr lang="en-US" altLang="en-US" sz="1000"/>
          </a:p>
        </p:txBody>
      </p:sp>
      <p:sp>
        <p:nvSpPr>
          <p:cNvPr id="53251" name="Rectangle 2">
            <a:extLst>
              <a:ext uri="{FF2B5EF4-FFF2-40B4-BE49-F238E27FC236}">
                <a16:creationId xmlns:a16="http://schemas.microsoft.com/office/drawing/2014/main" id="{26F8A5CC-38EB-4056-84A7-5656FCED9E46}"/>
              </a:ext>
            </a:extLst>
          </p:cNvPr>
          <p:cNvSpPr>
            <a:spLocks noGrp="1" noChangeArrowheads="1"/>
          </p:cNvSpPr>
          <p:nvPr>
            <p:ph type="title"/>
          </p:nvPr>
        </p:nvSpPr>
        <p:spPr/>
        <p:txBody>
          <a:bodyPr/>
          <a:lstStyle/>
          <a:p>
            <a:pPr eaLnBrk="1" hangingPunct="1"/>
            <a:r>
              <a:rPr lang="en-US" altLang="zh-CN">
                <a:ea typeface="宋体" panose="02010600030101010101" pitchFamily="2" charset="-122"/>
              </a:rPr>
              <a:t>Day 3 Activities </a:t>
            </a:r>
          </a:p>
        </p:txBody>
      </p:sp>
      <p:sp>
        <p:nvSpPr>
          <p:cNvPr id="53252" name="Rectangle 3">
            <a:extLst>
              <a:ext uri="{FF2B5EF4-FFF2-40B4-BE49-F238E27FC236}">
                <a16:creationId xmlns:a16="http://schemas.microsoft.com/office/drawing/2014/main" id="{D17D6412-16E8-4ADA-AE64-52C12C74E318}"/>
              </a:ext>
            </a:extLst>
          </p:cNvPr>
          <p:cNvSpPr>
            <a:spLocks noGrp="1" noChangeArrowheads="1"/>
          </p:cNvSpPr>
          <p:nvPr>
            <p:ph type="body" idx="1"/>
          </p:nvPr>
        </p:nvSpPr>
        <p:spPr>
          <a:xfrm>
            <a:off x="457200" y="1663222"/>
            <a:ext cx="8229600" cy="4411662"/>
          </a:xfrm>
        </p:spPr>
        <p:txBody>
          <a:bodyPr/>
          <a:lstStyle/>
          <a:p>
            <a:pPr lvl="1" eaLnBrk="1" hangingPunct="1"/>
            <a:r>
              <a:rPr lang="zh-CN" altLang="en-US" b="1" dirty="0">
                <a:ea typeface="宋体" panose="02010600030101010101" pitchFamily="2" charset="-122"/>
              </a:rPr>
              <a:t>总体设计：</a:t>
            </a:r>
            <a:r>
              <a:rPr lang="zh-CN" altLang="en-US" dirty="0">
                <a:ea typeface="宋体" panose="02010600030101010101" pitchFamily="2" charset="-122"/>
              </a:rPr>
              <a:t>网络架构、数据库结构、代码结构</a:t>
            </a:r>
            <a:r>
              <a:rPr lang="en-US" altLang="zh-CN" dirty="0">
                <a:ea typeface="宋体" panose="02010600030101010101" pitchFamily="2" charset="-122"/>
              </a:rPr>
              <a:t>…</a:t>
            </a:r>
          </a:p>
          <a:p>
            <a:pPr lvl="1" eaLnBrk="1" hangingPunct="1"/>
            <a:r>
              <a:rPr lang="zh-CN" altLang="en-US" b="1" dirty="0">
                <a:ea typeface="宋体" panose="02010600030101010101" pitchFamily="2" charset="-122"/>
              </a:rPr>
              <a:t>详细设计：</a:t>
            </a:r>
            <a:r>
              <a:rPr lang="zh-CN" altLang="en-US" dirty="0">
                <a:ea typeface="宋体" panose="02010600030101010101" pitchFamily="2" charset="-122"/>
              </a:rPr>
              <a:t>类的详细设计、数据表的详细设计、前端界面设计</a:t>
            </a:r>
            <a:r>
              <a:rPr lang="en-US" altLang="zh-CN" dirty="0">
                <a:ea typeface="宋体" panose="02010600030101010101" pitchFamily="2" charset="-122"/>
              </a:rPr>
              <a:t>…</a:t>
            </a:r>
          </a:p>
        </p:txBody>
      </p:sp>
      <p:sp>
        <p:nvSpPr>
          <p:cNvPr id="53253" name="Footer Placeholder 4">
            <a:extLst>
              <a:ext uri="{FF2B5EF4-FFF2-40B4-BE49-F238E27FC236}">
                <a16:creationId xmlns:a16="http://schemas.microsoft.com/office/drawing/2014/main" id="{B850AD56-BC71-49BC-A7FC-BE92375AFF8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3254" name="Rectangle 4">
            <a:extLst>
              <a:ext uri="{FF2B5EF4-FFF2-40B4-BE49-F238E27FC236}">
                <a16:creationId xmlns:a16="http://schemas.microsoft.com/office/drawing/2014/main" id="{8E25DD2B-0FBD-4C96-A9B7-05CB053740D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726994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5AC301E8-6E72-45CB-B9DA-DC931E3946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642D0CE4-A6AC-466C-B0CF-34058A78239E}" type="slidenum">
              <a:rPr lang="en-US" altLang="en-US" sz="1000"/>
              <a:pPr eaLnBrk="1" hangingPunct="1">
                <a:spcBef>
                  <a:spcPct val="0"/>
                </a:spcBef>
                <a:buClrTx/>
                <a:buSzTx/>
                <a:buFontTx/>
                <a:buNone/>
              </a:pPr>
              <a:t>63</a:t>
            </a:fld>
            <a:endParaRPr lang="en-US" altLang="en-US" sz="1000"/>
          </a:p>
        </p:txBody>
      </p:sp>
      <p:sp>
        <p:nvSpPr>
          <p:cNvPr id="57347" name="Rectangle 2">
            <a:extLst>
              <a:ext uri="{FF2B5EF4-FFF2-40B4-BE49-F238E27FC236}">
                <a16:creationId xmlns:a16="http://schemas.microsoft.com/office/drawing/2014/main" id="{25A4170B-27D5-4A8D-B68E-A1C129363680}"/>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Draft Screen Layout</a:t>
            </a:r>
            <a:br>
              <a:rPr lang="en-US" altLang="zh-CN" dirty="0">
                <a:ea typeface="宋体" panose="02010600030101010101" pitchFamily="2" charset="-122"/>
              </a:rPr>
            </a:br>
            <a:r>
              <a:rPr lang="en-US" altLang="zh-CN" sz="2400" dirty="0">
                <a:ea typeface="宋体" panose="02010600030101010101" pitchFamily="2" charset="-122"/>
              </a:rPr>
              <a:t>Look up supplier use case</a:t>
            </a:r>
          </a:p>
        </p:txBody>
      </p:sp>
      <p:pic>
        <p:nvPicPr>
          <p:cNvPr id="57348" name="Picture 5">
            <a:extLst>
              <a:ext uri="{FF2B5EF4-FFF2-40B4-BE49-F238E27FC236}">
                <a16:creationId xmlns:a16="http://schemas.microsoft.com/office/drawing/2014/main" id="{8EDDF58B-A809-4320-BBB0-29E7DDADAE1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95400" y="1431925"/>
            <a:ext cx="6400800" cy="4813300"/>
          </a:xfrm>
          <a:noFill/>
        </p:spPr>
      </p:pic>
      <p:sp>
        <p:nvSpPr>
          <p:cNvPr id="57349" name="Footer Placeholder 4">
            <a:extLst>
              <a:ext uri="{FF2B5EF4-FFF2-40B4-BE49-F238E27FC236}">
                <a16:creationId xmlns:a16="http://schemas.microsoft.com/office/drawing/2014/main" id="{D03AB720-B1A9-4F9D-B8E7-71A58D33B42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7350" name="Rectangle 4">
            <a:extLst>
              <a:ext uri="{FF2B5EF4-FFF2-40B4-BE49-F238E27FC236}">
                <a16:creationId xmlns:a16="http://schemas.microsoft.com/office/drawing/2014/main" id="{4DF436E5-788D-4ADE-8036-616BEAB90BF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00A01E8A-12CD-4F77-B7CB-7AF9030566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110DE5DB-4A99-4A16-A1D4-87A08796FD0B}" type="slidenum">
              <a:rPr lang="en-US" altLang="en-US" sz="1000"/>
              <a:pPr eaLnBrk="1" hangingPunct="1">
                <a:spcBef>
                  <a:spcPct val="0"/>
                </a:spcBef>
                <a:buClrTx/>
                <a:buSzTx/>
                <a:buFontTx/>
                <a:buNone/>
              </a:pPr>
              <a:t>64</a:t>
            </a:fld>
            <a:endParaRPr lang="en-US" altLang="en-US" sz="1000"/>
          </a:p>
        </p:txBody>
      </p:sp>
      <p:sp>
        <p:nvSpPr>
          <p:cNvPr id="58371" name="Rectangle 2">
            <a:extLst>
              <a:ext uri="{FF2B5EF4-FFF2-40B4-BE49-F238E27FC236}">
                <a16:creationId xmlns:a16="http://schemas.microsoft.com/office/drawing/2014/main" id="{38975CC9-98D8-40A6-BC1D-0904955AAAC4}"/>
              </a:ext>
            </a:extLst>
          </p:cNvPr>
          <p:cNvSpPr>
            <a:spLocks noGrp="1" noChangeArrowheads="1"/>
          </p:cNvSpPr>
          <p:nvPr>
            <p:ph type="title"/>
          </p:nvPr>
        </p:nvSpPr>
        <p:spPr>
          <a:xfrm>
            <a:off x="457200" y="122238"/>
            <a:ext cx="7543800" cy="1020762"/>
          </a:xfrm>
        </p:spPr>
        <p:txBody>
          <a:bodyPr/>
          <a:lstStyle/>
          <a:p>
            <a:pPr eaLnBrk="1" hangingPunct="1"/>
            <a:r>
              <a:rPr lang="en-US" altLang="zh-CN" dirty="0">
                <a:ea typeface="宋体" panose="02010600030101010101" pitchFamily="2" charset="-122"/>
              </a:rPr>
              <a:t>Day 3 Activities </a:t>
            </a:r>
          </a:p>
        </p:txBody>
      </p:sp>
      <p:sp>
        <p:nvSpPr>
          <p:cNvPr id="58372" name="Rectangle 3">
            <a:extLst>
              <a:ext uri="{FF2B5EF4-FFF2-40B4-BE49-F238E27FC236}">
                <a16:creationId xmlns:a16="http://schemas.microsoft.com/office/drawing/2014/main" id="{70BE1E99-B256-4C95-8761-759C15A53A47}"/>
              </a:ext>
            </a:extLst>
          </p:cNvPr>
          <p:cNvSpPr>
            <a:spLocks noGrp="1" noChangeArrowheads="1"/>
          </p:cNvSpPr>
          <p:nvPr>
            <p:ph type="body" idx="1"/>
          </p:nvPr>
        </p:nvSpPr>
        <p:spPr>
          <a:xfrm>
            <a:off x="457200" y="1219200"/>
            <a:ext cx="8991600" cy="4911725"/>
          </a:xfrm>
        </p:spPr>
        <p:txBody>
          <a:bodyPr/>
          <a:lstStyle/>
          <a:p>
            <a:pPr lvl="1" eaLnBrk="1" hangingPunct="1"/>
            <a:r>
              <a:rPr lang="zh-CN" altLang="en-US" sz="2800" dirty="0">
                <a:ea typeface="宋体" panose="02010600030101010101" pitchFamily="2" charset="-122"/>
              </a:rPr>
              <a:t>详细设计：</a:t>
            </a:r>
            <a:endParaRPr lang="en-US" altLang="zh-CN" sz="2800" dirty="0">
              <a:ea typeface="宋体" panose="02010600030101010101" pitchFamily="2" charset="-122"/>
            </a:endParaRPr>
          </a:p>
          <a:p>
            <a:pPr lvl="2" eaLnBrk="1" hangingPunct="1"/>
            <a:r>
              <a:rPr lang="en-US" altLang="zh-CN" sz="2400" dirty="0">
                <a:ea typeface="宋体" panose="02010600030101010101" pitchFamily="2" charset="-122"/>
              </a:rPr>
              <a:t>Design the database (</a:t>
            </a:r>
            <a:r>
              <a:rPr lang="zh-CN" altLang="en-US" sz="2400" dirty="0">
                <a:ea typeface="宋体" panose="02010600030101010101" pitchFamily="2" charset="-122"/>
              </a:rPr>
              <a:t>设计数据库</a:t>
            </a:r>
            <a:r>
              <a:rPr lang="en-US" altLang="zh-CN" sz="2400" dirty="0">
                <a:ea typeface="宋体" panose="02010600030101010101" pitchFamily="2" charset="-122"/>
              </a:rPr>
              <a:t>)</a:t>
            </a:r>
          </a:p>
          <a:p>
            <a:pPr lvl="3" eaLnBrk="1" hangingPunct="1"/>
            <a:r>
              <a:rPr lang="en-US" altLang="zh-CN" sz="2400" dirty="0">
                <a:ea typeface="宋体" panose="02010600030101010101" pitchFamily="2" charset="-122"/>
              </a:rPr>
              <a:t>Table design</a:t>
            </a:r>
            <a:r>
              <a:rPr lang="zh-CN" altLang="en-US" sz="2400" dirty="0">
                <a:ea typeface="宋体" panose="02010600030101010101" pitchFamily="2" charset="-122"/>
              </a:rPr>
              <a:t>（表）</a:t>
            </a:r>
            <a:endParaRPr lang="en-US" altLang="zh-CN" sz="2400" dirty="0">
              <a:ea typeface="宋体" panose="02010600030101010101" pitchFamily="2" charset="-122"/>
            </a:endParaRPr>
          </a:p>
          <a:p>
            <a:pPr lvl="3" eaLnBrk="1" hangingPunct="1"/>
            <a:r>
              <a:rPr lang="en-US" altLang="zh-CN" sz="2400" dirty="0">
                <a:ea typeface="宋体" panose="02010600030101010101" pitchFamily="2" charset="-122"/>
              </a:rPr>
              <a:t>Key and index identification</a:t>
            </a:r>
            <a:r>
              <a:rPr lang="zh-CN" altLang="en-US" sz="2400" dirty="0">
                <a:ea typeface="宋体" panose="02010600030101010101" pitchFamily="2" charset="-122"/>
              </a:rPr>
              <a:t>（主键、索引）</a:t>
            </a:r>
            <a:endParaRPr lang="en-US" altLang="zh-CN" sz="2400" dirty="0">
              <a:ea typeface="宋体" panose="02010600030101010101" pitchFamily="2" charset="-122"/>
            </a:endParaRPr>
          </a:p>
          <a:p>
            <a:pPr lvl="3" eaLnBrk="1" hangingPunct="1"/>
            <a:r>
              <a:rPr lang="en-US" altLang="zh-CN" sz="2400" dirty="0">
                <a:ea typeface="宋体" panose="02010600030101010101" pitchFamily="2" charset="-122"/>
              </a:rPr>
              <a:t>Attribute types</a:t>
            </a:r>
            <a:r>
              <a:rPr lang="zh-CN" altLang="en-US" sz="2400" dirty="0">
                <a:ea typeface="宋体" panose="02010600030101010101" pitchFamily="2" charset="-122"/>
              </a:rPr>
              <a:t>（属性）</a:t>
            </a:r>
            <a:endParaRPr lang="en-US" altLang="zh-CN" sz="2400" dirty="0">
              <a:ea typeface="宋体" panose="02010600030101010101" pitchFamily="2" charset="-122"/>
            </a:endParaRPr>
          </a:p>
          <a:p>
            <a:pPr lvl="3" eaLnBrk="1" hangingPunct="1"/>
            <a:r>
              <a:rPr lang="en-US" altLang="zh-CN" sz="2400" dirty="0">
                <a:ea typeface="宋体" panose="02010600030101010101" pitchFamily="2" charset="-122"/>
              </a:rPr>
              <a:t>Referential integrity</a:t>
            </a:r>
            <a:r>
              <a:rPr lang="zh-CN" altLang="en-US" sz="2400" dirty="0">
                <a:ea typeface="宋体" panose="02010600030101010101" pitchFamily="2" charset="-122"/>
              </a:rPr>
              <a:t>（参照完整性）</a:t>
            </a:r>
            <a:endParaRPr lang="en-US" altLang="zh-CN" sz="2400" dirty="0">
              <a:ea typeface="宋体" panose="02010600030101010101" pitchFamily="2" charset="-122"/>
            </a:endParaRPr>
          </a:p>
          <a:p>
            <a:pPr lvl="2" eaLnBrk="1" hangingPunct="1"/>
            <a:endParaRPr lang="en-US" altLang="zh-CN" sz="2400" dirty="0">
              <a:ea typeface="宋体" panose="02010600030101010101" pitchFamily="2" charset="-122"/>
            </a:endParaRPr>
          </a:p>
        </p:txBody>
      </p:sp>
      <p:sp>
        <p:nvSpPr>
          <p:cNvPr id="58373" name="Footer Placeholder 4">
            <a:extLst>
              <a:ext uri="{FF2B5EF4-FFF2-40B4-BE49-F238E27FC236}">
                <a16:creationId xmlns:a16="http://schemas.microsoft.com/office/drawing/2014/main" id="{47EF0F0D-AA36-433F-9FD8-B2F9FEC891D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8374" name="Rectangle 4">
            <a:extLst>
              <a:ext uri="{FF2B5EF4-FFF2-40B4-BE49-F238E27FC236}">
                <a16:creationId xmlns:a16="http://schemas.microsoft.com/office/drawing/2014/main" id="{5D2C2E80-7CFE-4674-9F61-FCEDA0CE90F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A5C95379-FF9A-4DCA-B1F9-EEE9CE6C71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76529A99-3224-4CF2-98BE-DEDD037EE079}" type="slidenum">
              <a:rPr lang="en-US" altLang="en-US" sz="1000"/>
              <a:pPr eaLnBrk="1" hangingPunct="1">
                <a:spcBef>
                  <a:spcPct val="0"/>
                </a:spcBef>
                <a:buClrTx/>
                <a:buSzTx/>
                <a:buFontTx/>
                <a:buNone/>
              </a:pPr>
              <a:t>65</a:t>
            </a:fld>
            <a:endParaRPr lang="en-US" altLang="en-US" sz="1000"/>
          </a:p>
        </p:txBody>
      </p:sp>
      <p:sp>
        <p:nvSpPr>
          <p:cNvPr id="59395" name="Rectangle 2">
            <a:extLst>
              <a:ext uri="{FF2B5EF4-FFF2-40B4-BE49-F238E27FC236}">
                <a16:creationId xmlns:a16="http://schemas.microsoft.com/office/drawing/2014/main" id="{9A7F9363-B7DF-48B3-B5C2-265CBEAB344F}"/>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Database Schema</a:t>
            </a:r>
            <a:endParaRPr lang="en-US" altLang="zh-CN" sz="2400">
              <a:ea typeface="宋体" panose="02010600030101010101" pitchFamily="2" charset="-122"/>
            </a:endParaRPr>
          </a:p>
        </p:txBody>
      </p:sp>
      <p:pic>
        <p:nvPicPr>
          <p:cNvPr id="59396" name="Picture 5">
            <a:extLst>
              <a:ext uri="{FF2B5EF4-FFF2-40B4-BE49-F238E27FC236}">
                <a16:creationId xmlns:a16="http://schemas.microsoft.com/office/drawing/2014/main" id="{039EDEAA-A8DC-4FE7-B2BB-1B9DC8A8785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47800" y="1409700"/>
            <a:ext cx="6248400" cy="4838700"/>
          </a:xfrm>
          <a:noFill/>
        </p:spPr>
      </p:pic>
      <p:sp>
        <p:nvSpPr>
          <p:cNvPr id="59397" name="Footer Placeholder 4">
            <a:extLst>
              <a:ext uri="{FF2B5EF4-FFF2-40B4-BE49-F238E27FC236}">
                <a16:creationId xmlns:a16="http://schemas.microsoft.com/office/drawing/2014/main" id="{912F4335-9DD4-4162-BCCD-BBC4411C82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9398" name="Rectangle 4">
            <a:extLst>
              <a:ext uri="{FF2B5EF4-FFF2-40B4-BE49-F238E27FC236}">
                <a16:creationId xmlns:a16="http://schemas.microsoft.com/office/drawing/2014/main" id="{3FDC4D51-3D1F-4DBB-B3BA-B7BF7A0E6EC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00A01E8A-12CD-4F77-B7CB-7AF9030566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110DE5DB-4A99-4A16-A1D4-87A08796FD0B}" type="slidenum">
              <a:rPr lang="en-US" altLang="en-US" sz="1000"/>
              <a:pPr eaLnBrk="1" hangingPunct="1">
                <a:spcBef>
                  <a:spcPct val="0"/>
                </a:spcBef>
                <a:buClrTx/>
                <a:buSzTx/>
                <a:buFontTx/>
                <a:buNone/>
              </a:pPr>
              <a:t>66</a:t>
            </a:fld>
            <a:endParaRPr lang="en-US" altLang="en-US" sz="1000"/>
          </a:p>
        </p:txBody>
      </p:sp>
      <p:sp>
        <p:nvSpPr>
          <p:cNvPr id="58371" name="Rectangle 2">
            <a:extLst>
              <a:ext uri="{FF2B5EF4-FFF2-40B4-BE49-F238E27FC236}">
                <a16:creationId xmlns:a16="http://schemas.microsoft.com/office/drawing/2014/main" id="{38975CC9-98D8-40A6-BC1D-0904955AAAC4}"/>
              </a:ext>
            </a:extLst>
          </p:cNvPr>
          <p:cNvSpPr>
            <a:spLocks noGrp="1" noChangeArrowheads="1"/>
          </p:cNvSpPr>
          <p:nvPr>
            <p:ph type="title"/>
          </p:nvPr>
        </p:nvSpPr>
        <p:spPr>
          <a:xfrm>
            <a:off x="457200" y="122238"/>
            <a:ext cx="7543800" cy="1020762"/>
          </a:xfrm>
        </p:spPr>
        <p:txBody>
          <a:bodyPr/>
          <a:lstStyle/>
          <a:p>
            <a:pPr eaLnBrk="1" hangingPunct="1"/>
            <a:r>
              <a:rPr lang="en-US" altLang="zh-CN" dirty="0">
                <a:ea typeface="宋体" panose="02010600030101010101" pitchFamily="2" charset="-122"/>
              </a:rPr>
              <a:t>Day 3 Activities </a:t>
            </a:r>
          </a:p>
        </p:txBody>
      </p:sp>
      <p:sp>
        <p:nvSpPr>
          <p:cNvPr id="58372" name="Rectangle 3">
            <a:extLst>
              <a:ext uri="{FF2B5EF4-FFF2-40B4-BE49-F238E27FC236}">
                <a16:creationId xmlns:a16="http://schemas.microsoft.com/office/drawing/2014/main" id="{70BE1E99-B256-4C95-8761-759C15A53A47}"/>
              </a:ext>
            </a:extLst>
          </p:cNvPr>
          <p:cNvSpPr>
            <a:spLocks noGrp="1" noChangeArrowheads="1"/>
          </p:cNvSpPr>
          <p:nvPr>
            <p:ph type="body" idx="1"/>
          </p:nvPr>
        </p:nvSpPr>
        <p:spPr>
          <a:xfrm>
            <a:off x="457200" y="1219200"/>
            <a:ext cx="8458200" cy="4911725"/>
          </a:xfrm>
        </p:spPr>
        <p:txBody>
          <a:bodyPr/>
          <a:lstStyle/>
          <a:p>
            <a:pPr lvl="1" eaLnBrk="1" hangingPunct="1"/>
            <a:r>
              <a:rPr lang="zh-CN" altLang="en-US" sz="3600" dirty="0">
                <a:ea typeface="宋体" panose="02010600030101010101" pitchFamily="2" charset="-122"/>
              </a:rPr>
              <a:t>详细设计：</a:t>
            </a:r>
            <a:endParaRPr lang="en-US" altLang="zh-CN" sz="3600" dirty="0">
              <a:ea typeface="宋体" panose="02010600030101010101" pitchFamily="2" charset="-122"/>
            </a:endParaRPr>
          </a:p>
          <a:p>
            <a:pPr lvl="2" eaLnBrk="1" hangingPunct="1"/>
            <a:r>
              <a:rPr lang="en-US" altLang="zh-CN" sz="2400" dirty="0">
                <a:ea typeface="宋体" panose="02010600030101010101" pitchFamily="2" charset="-122"/>
              </a:rPr>
              <a:t>Design the system’s high level structure</a:t>
            </a:r>
            <a:r>
              <a:rPr lang="zh-CN" altLang="en-US" sz="2400" dirty="0">
                <a:ea typeface="宋体" panose="02010600030101010101" pitchFamily="2" charset="-122"/>
              </a:rPr>
              <a:t>（高层结构）</a:t>
            </a:r>
            <a:endParaRPr lang="en-US" altLang="zh-CN" sz="2400" dirty="0">
              <a:ea typeface="宋体" panose="02010600030101010101" pitchFamily="2" charset="-122"/>
            </a:endParaRPr>
          </a:p>
          <a:p>
            <a:pPr lvl="3" eaLnBrk="1" hangingPunct="1"/>
            <a:r>
              <a:rPr lang="en-US" altLang="zh-CN" sz="2400" dirty="0">
                <a:ea typeface="宋体" panose="02010600030101010101" pitchFamily="2" charset="-122"/>
              </a:rPr>
              <a:t>Browser, Windows, or Smart phone</a:t>
            </a:r>
            <a:r>
              <a:rPr lang="zh-CN" altLang="en-US" sz="2400" dirty="0">
                <a:ea typeface="宋体" panose="02010600030101010101" pitchFamily="2" charset="-122"/>
              </a:rPr>
              <a:t>（网页</a:t>
            </a:r>
            <a:r>
              <a:rPr lang="en-US" altLang="zh-CN" sz="2400" dirty="0">
                <a:ea typeface="宋体" panose="02010600030101010101" pitchFamily="2" charset="-122"/>
              </a:rPr>
              <a:t>/</a:t>
            </a:r>
            <a:r>
              <a:rPr lang="zh-CN" altLang="en-US" sz="2400" dirty="0">
                <a:ea typeface="宋体" panose="02010600030101010101" pitchFamily="2" charset="-122"/>
              </a:rPr>
              <a:t>单机</a:t>
            </a:r>
            <a:r>
              <a:rPr lang="en-US" altLang="zh-CN" sz="2400" dirty="0">
                <a:ea typeface="宋体" panose="02010600030101010101" pitchFamily="2" charset="-122"/>
              </a:rPr>
              <a:t>/</a:t>
            </a:r>
            <a:r>
              <a:rPr lang="zh-CN" altLang="en-US" sz="2400" dirty="0">
                <a:ea typeface="宋体" panose="02010600030101010101" pitchFamily="2" charset="-122"/>
              </a:rPr>
              <a:t>移动环境）</a:t>
            </a:r>
            <a:endParaRPr lang="en-US" altLang="zh-CN" sz="2400" dirty="0">
              <a:ea typeface="宋体" panose="02010600030101010101" pitchFamily="2" charset="-122"/>
            </a:endParaRPr>
          </a:p>
          <a:p>
            <a:pPr lvl="3" eaLnBrk="1" hangingPunct="1"/>
            <a:r>
              <a:rPr lang="en-US" altLang="zh-CN" sz="2400" dirty="0">
                <a:ea typeface="宋体" panose="02010600030101010101" pitchFamily="2" charset="-122"/>
              </a:rPr>
              <a:t>Architectural configuration (</a:t>
            </a:r>
            <a:r>
              <a:rPr lang="zh-CN" altLang="en-US" sz="2400" dirty="0">
                <a:ea typeface="宋体" panose="02010600030101010101" pitchFamily="2" charset="-122"/>
              </a:rPr>
              <a:t>组件</a:t>
            </a:r>
            <a:r>
              <a:rPr lang="en-US" altLang="zh-CN" sz="2400" dirty="0">
                <a:ea typeface="宋体" panose="02010600030101010101" pitchFamily="2" charset="-122"/>
              </a:rPr>
              <a:t>)</a:t>
            </a:r>
          </a:p>
          <a:p>
            <a:pPr lvl="3" eaLnBrk="1" hangingPunct="1"/>
            <a:r>
              <a:rPr lang="en-US" altLang="zh-CN" sz="2400" dirty="0">
                <a:ea typeface="宋体" panose="02010600030101010101" pitchFamily="2" charset="-122"/>
              </a:rPr>
              <a:t>Design class diagram </a:t>
            </a:r>
            <a:r>
              <a:rPr lang="zh-CN" altLang="en-US" sz="2400" dirty="0">
                <a:ea typeface="宋体" panose="02010600030101010101" pitchFamily="2" charset="-122"/>
              </a:rPr>
              <a:t>（设计类图）</a:t>
            </a:r>
            <a:endParaRPr lang="en-US" altLang="zh-CN" sz="2400" dirty="0">
              <a:ea typeface="宋体" panose="02010600030101010101" pitchFamily="2" charset="-122"/>
            </a:endParaRPr>
          </a:p>
          <a:p>
            <a:pPr lvl="3" eaLnBrk="1" hangingPunct="1"/>
            <a:r>
              <a:rPr lang="en-US" altLang="zh-CN" sz="2400" dirty="0">
                <a:ea typeface="宋体" panose="02010600030101010101" pitchFamily="2" charset="-122"/>
              </a:rPr>
              <a:t>Subsystem architectural design</a:t>
            </a:r>
            <a:r>
              <a:rPr lang="zh-CN" altLang="en-US" sz="2400" dirty="0">
                <a:ea typeface="宋体" panose="02010600030101010101" pitchFamily="2" charset="-122"/>
              </a:rPr>
              <a:t>（系统结构）</a:t>
            </a:r>
            <a:endParaRPr lang="en-US" altLang="zh-CN" sz="2400" dirty="0">
              <a:ea typeface="宋体" panose="02010600030101010101" pitchFamily="2" charset="-122"/>
            </a:endParaRPr>
          </a:p>
          <a:p>
            <a:pPr lvl="2" eaLnBrk="1" hangingPunct="1"/>
            <a:endParaRPr lang="en-US" altLang="zh-CN" sz="2400" dirty="0">
              <a:ea typeface="宋体" panose="02010600030101010101" pitchFamily="2" charset="-122"/>
            </a:endParaRPr>
          </a:p>
        </p:txBody>
      </p:sp>
      <p:sp>
        <p:nvSpPr>
          <p:cNvPr id="58373" name="Footer Placeholder 4">
            <a:extLst>
              <a:ext uri="{FF2B5EF4-FFF2-40B4-BE49-F238E27FC236}">
                <a16:creationId xmlns:a16="http://schemas.microsoft.com/office/drawing/2014/main" id="{47EF0F0D-AA36-433F-9FD8-B2F9FEC891D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58374" name="Rectangle 4">
            <a:extLst>
              <a:ext uri="{FF2B5EF4-FFF2-40B4-BE49-F238E27FC236}">
                <a16:creationId xmlns:a16="http://schemas.microsoft.com/office/drawing/2014/main" id="{5D2C2E80-7CFE-4674-9F61-FCEDA0CE90F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730773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7C2BDA56-B9E4-4BD6-A23E-A720979D33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127353D1-5670-405F-9F75-9225B537A1A4}" type="slidenum">
              <a:rPr lang="en-US" altLang="en-US" sz="1000"/>
              <a:pPr eaLnBrk="1" hangingPunct="1">
                <a:spcBef>
                  <a:spcPct val="0"/>
                </a:spcBef>
                <a:buClrTx/>
                <a:buSzTx/>
                <a:buFontTx/>
                <a:buNone/>
              </a:pPr>
              <a:t>67</a:t>
            </a:fld>
            <a:endParaRPr lang="en-US" altLang="en-US" sz="1000"/>
          </a:p>
        </p:txBody>
      </p:sp>
      <p:sp>
        <p:nvSpPr>
          <p:cNvPr id="60419" name="Rectangle 2">
            <a:extLst>
              <a:ext uri="{FF2B5EF4-FFF2-40B4-BE49-F238E27FC236}">
                <a16:creationId xmlns:a16="http://schemas.microsoft.com/office/drawing/2014/main" id="{505E14A6-84EA-42ED-A519-76B2D32AB803}"/>
              </a:ext>
            </a:extLst>
          </p:cNvPr>
          <p:cNvSpPr>
            <a:spLocks noGrp="1" noChangeArrowheads="1"/>
          </p:cNvSpPr>
          <p:nvPr>
            <p:ph type="title"/>
          </p:nvPr>
        </p:nvSpPr>
        <p:spPr>
          <a:xfrm>
            <a:off x="228600" y="122238"/>
            <a:ext cx="7772400" cy="1096962"/>
          </a:xfrm>
        </p:spPr>
        <p:txBody>
          <a:bodyPr/>
          <a:lstStyle/>
          <a:p>
            <a:pPr eaLnBrk="1" hangingPunct="1"/>
            <a:r>
              <a:rPr lang="en-US" altLang="zh-CN" sz="3600" dirty="0">
                <a:ea typeface="宋体" panose="02010600030101010101" pitchFamily="2" charset="-122"/>
              </a:rPr>
              <a:t>Architectural Configuration Diagram</a:t>
            </a:r>
          </a:p>
        </p:txBody>
      </p:sp>
      <p:pic>
        <p:nvPicPr>
          <p:cNvPr id="60420" name="Picture 7">
            <a:extLst>
              <a:ext uri="{FF2B5EF4-FFF2-40B4-BE49-F238E27FC236}">
                <a16:creationId xmlns:a16="http://schemas.microsoft.com/office/drawing/2014/main" id="{9838B84D-D07C-44C5-9050-1DDBDD33AA8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1295400"/>
            <a:ext cx="6858000" cy="4799013"/>
          </a:xfrm>
          <a:noFill/>
        </p:spPr>
      </p:pic>
      <p:sp>
        <p:nvSpPr>
          <p:cNvPr id="60421" name="Footer Placeholder 4">
            <a:extLst>
              <a:ext uri="{FF2B5EF4-FFF2-40B4-BE49-F238E27FC236}">
                <a16:creationId xmlns:a16="http://schemas.microsoft.com/office/drawing/2014/main" id="{985B8E37-6228-44B9-9BA4-4DC907E3F7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0422" name="Rectangle 4">
            <a:extLst>
              <a:ext uri="{FF2B5EF4-FFF2-40B4-BE49-F238E27FC236}">
                <a16:creationId xmlns:a16="http://schemas.microsoft.com/office/drawing/2014/main" id="{8BC7F2BD-5BEF-4B50-AB80-EF0E14A5E6F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CCB33A93-4D58-40A0-8058-3C4377469C4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7A59710B-E77E-42CB-B419-B8985A5861A2}" type="slidenum">
              <a:rPr lang="en-US" altLang="en-US" sz="1000"/>
              <a:pPr eaLnBrk="1" hangingPunct="1">
                <a:spcBef>
                  <a:spcPct val="0"/>
                </a:spcBef>
                <a:buClrTx/>
                <a:buSzTx/>
                <a:buFontTx/>
                <a:buNone/>
              </a:pPr>
              <a:t>68</a:t>
            </a:fld>
            <a:endParaRPr lang="en-US" altLang="en-US" sz="1000"/>
          </a:p>
        </p:txBody>
      </p:sp>
      <p:sp>
        <p:nvSpPr>
          <p:cNvPr id="61443" name="Rectangle 2">
            <a:extLst>
              <a:ext uri="{FF2B5EF4-FFF2-40B4-BE49-F238E27FC236}">
                <a16:creationId xmlns:a16="http://schemas.microsoft.com/office/drawing/2014/main" id="{6805EE22-FFDF-415A-847D-C85EFDBD30A5}"/>
              </a:ext>
            </a:extLst>
          </p:cNvPr>
          <p:cNvSpPr>
            <a:spLocks noGrp="1" noChangeArrowheads="1"/>
          </p:cNvSpPr>
          <p:nvPr>
            <p:ph type="title"/>
          </p:nvPr>
        </p:nvSpPr>
        <p:spPr>
          <a:xfrm>
            <a:off x="228600" y="838200"/>
            <a:ext cx="2514600" cy="3733800"/>
          </a:xfrm>
        </p:spPr>
        <p:txBody>
          <a:bodyPr/>
          <a:lstStyle/>
          <a:p>
            <a:pPr eaLnBrk="1" hangingPunct="1"/>
            <a:r>
              <a:rPr lang="en-US" altLang="zh-CN" sz="2800" dirty="0">
                <a:ea typeface="宋体" panose="02010600030101010101" pitchFamily="2" charset="-122"/>
              </a:rPr>
              <a:t>Preliminary Design Class Diagram</a:t>
            </a: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000" dirty="0">
                <a:ea typeface="宋体" panose="02010600030101010101" pitchFamily="2" charset="-122"/>
              </a:rPr>
              <a:t>Includes </a:t>
            </a:r>
            <a:r>
              <a:rPr lang="en-US" altLang="zh-CN" sz="2000" u="sng" dirty="0">
                <a:ea typeface="宋体" panose="02010600030101010101" pitchFamily="2" charset="-122"/>
              </a:rPr>
              <a:t>View Layer</a:t>
            </a:r>
            <a:r>
              <a:rPr lang="zh-CN" altLang="en-US" sz="2000" u="sng" dirty="0">
                <a:ea typeface="宋体" panose="02010600030101010101" pitchFamily="2" charset="-122"/>
              </a:rPr>
              <a:t>（视图层）</a:t>
            </a:r>
            <a:r>
              <a:rPr lang="en-US" altLang="zh-CN" sz="2000" u="sng" dirty="0">
                <a:ea typeface="宋体" panose="02010600030101010101" pitchFamily="2" charset="-122"/>
              </a:rPr>
              <a:t> </a:t>
            </a:r>
            <a:r>
              <a:rPr lang="en-US" altLang="zh-CN" sz="2000" dirty="0">
                <a:ea typeface="宋体" panose="02010600030101010101" pitchFamily="2" charset="-122"/>
              </a:rPr>
              <a:t>Classes and </a:t>
            </a:r>
            <a:r>
              <a:rPr lang="en-US" altLang="zh-CN" sz="2000" u="sng" dirty="0">
                <a:ea typeface="宋体" panose="02010600030101010101" pitchFamily="2" charset="-122"/>
              </a:rPr>
              <a:t>Domain Layer</a:t>
            </a:r>
            <a:r>
              <a:rPr lang="zh-CN" altLang="en-US" sz="2000" u="sng" dirty="0">
                <a:ea typeface="宋体" panose="02010600030101010101" pitchFamily="2" charset="-122"/>
              </a:rPr>
              <a:t>（域层）</a:t>
            </a:r>
            <a:r>
              <a:rPr lang="en-US" altLang="zh-CN" sz="2000" u="sng" dirty="0">
                <a:ea typeface="宋体" panose="02010600030101010101" pitchFamily="2" charset="-122"/>
              </a:rPr>
              <a:t> </a:t>
            </a:r>
            <a:r>
              <a:rPr lang="en-US" altLang="zh-CN" sz="2000" dirty="0">
                <a:ea typeface="宋体" panose="02010600030101010101" pitchFamily="2" charset="-122"/>
              </a:rPr>
              <a:t>Classes</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Need to add </a:t>
            </a:r>
            <a:r>
              <a:rPr lang="en-US" altLang="zh-CN" sz="2000" u="sng" dirty="0">
                <a:ea typeface="宋体" panose="02010600030101010101" pitchFamily="2" charset="-122"/>
              </a:rPr>
              <a:t>Utility Classes</a:t>
            </a:r>
            <a:r>
              <a:rPr lang="zh-CN" altLang="en-US" sz="2000" u="sng" dirty="0">
                <a:ea typeface="宋体" panose="02010600030101010101" pitchFamily="2" charset="-122"/>
              </a:rPr>
              <a:t>（工具类）</a:t>
            </a:r>
            <a:r>
              <a:rPr lang="en-US" altLang="zh-CN" sz="2000" dirty="0">
                <a:ea typeface="宋体" panose="02010600030101010101" pitchFamily="2" charset="-122"/>
              </a:rPr>
              <a:t> as well</a:t>
            </a:r>
          </a:p>
        </p:txBody>
      </p:sp>
      <p:pic>
        <p:nvPicPr>
          <p:cNvPr id="61444" name="Picture 7">
            <a:extLst>
              <a:ext uri="{FF2B5EF4-FFF2-40B4-BE49-F238E27FC236}">
                <a16:creationId xmlns:a16="http://schemas.microsoft.com/office/drawing/2014/main" id="{4B6E3107-0FAD-48AB-9A77-53C3BD5E5C1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0025" y="533400"/>
            <a:ext cx="5224463" cy="5410200"/>
          </a:xfrm>
          <a:noFill/>
        </p:spPr>
      </p:pic>
      <p:sp>
        <p:nvSpPr>
          <p:cNvPr id="61445" name="Footer Placeholder 4">
            <a:extLst>
              <a:ext uri="{FF2B5EF4-FFF2-40B4-BE49-F238E27FC236}">
                <a16:creationId xmlns:a16="http://schemas.microsoft.com/office/drawing/2014/main" id="{8F02C41C-6B18-4EBA-9FA0-3C6E7125E65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1446" name="Rectangle 4">
            <a:extLst>
              <a:ext uri="{FF2B5EF4-FFF2-40B4-BE49-F238E27FC236}">
                <a16:creationId xmlns:a16="http://schemas.microsoft.com/office/drawing/2014/main" id="{B1DB69BF-2FAA-4F3E-953B-0C61A4C54E3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003CC9B5-8184-4E97-8AB5-8628FE1D06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0DCABE2E-2920-40A1-A465-C3DB17C4107D}" type="slidenum">
              <a:rPr lang="en-US" altLang="en-US" sz="1000"/>
              <a:pPr eaLnBrk="1" hangingPunct="1">
                <a:spcBef>
                  <a:spcPct val="0"/>
                </a:spcBef>
                <a:buClrTx/>
                <a:buSzTx/>
                <a:buFontTx/>
                <a:buNone/>
              </a:pPr>
              <a:t>69</a:t>
            </a:fld>
            <a:endParaRPr lang="en-US" altLang="en-US" sz="1000"/>
          </a:p>
        </p:txBody>
      </p:sp>
      <p:sp>
        <p:nvSpPr>
          <p:cNvPr id="62467" name="Rectangle 2">
            <a:extLst>
              <a:ext uri="{FF2B5EF4-FFF2-40B4-BE49-F238E27FC236}">
                <a16:creationId xmlns:a16="http://schemas.microsoft.com/office/drawing/2014/main" id="{1D2021DD-0396-4A20-85D5-66BDDC4E1BBB}"/>
              </a:ext>
            </a:extLst>
          </p:cNvPr>
          <p:cNvSpPr>
            <a:spLocks noGrp="1" noChangeArrowheads="1"/>
          </p:cNvSpPr>
          <p:nvPr>
            <p:ph type="title"/>
          </p:nvPr>
        </p:nvSpPr>
        <p:spPr>
          <a:xfrm>
            <a:off x="76200" y="1219200"/>
            <a:ext cx="2743200" cy="2438400"/>
          </a:xfrm>
        </p:spPr>
        <p:txBody>
          <a:bodyPr/>
          <a:lstStyle/>
          <a:p>
            <a:pPr eaLnBrk="1" hangingPunct="1"/>
            <a:r>
              <a:rPr lang="en-US" altLang="zh-CN" sz="3200" dirty="0">
                <a:ea typeface="宋体" panose="02010600030101010101" pitchFamily="2" charset="-122"/>
              </a:rPr>
              <a:t>Subsystem Architectural Design Diagram</a:t>
            </a:r>
            <a:br>
              <a:rPr lang="en-US" altLang="zh-CN" sz="3200" dirty="0">
                <a:ea typeface="宋体" panose="02010600030101010101" pitchFamily="2" charset="-122"/>
              </a:rPr>
            </a:br>
            <a:r>
              <a:rPr lang="zh-CN" altLang="en-US" sz="3200" dirty="0">
                <a:ea typeface="宋体" panose="02010600030101010101" pitchFamily="2" charset="-122"/>
              </a:rPr>
              <a:t>（子系统架构设计图）</a:t>
            </a:r>
            <a:endParaRPr lang="en-US" altLang="zh-CN" sz="3200" dirty="0">
              <a:ea typeface="宋体" panose="02010600030101010101" pitchFamily="2" charset="-122"/>
            </a:endParaRPr>
          </a:p>
        </p:txBody>
      </p:sp>
      <p:pic>
        <p:nvPicPr>
          <p:cNvPr id="62468" name="Picture 5">
            <a:extLst>
              <a:ext uri="{FF2B5EF4-FFF2-40B4-BE49-F238E27FC236}">
                <a16:creationId xmlns:a16="http://schemas.microsoft.com/office/drawing/2014/main" id="{EF9ABE97-CA7E-41A5-A56B-FD4CA6D60C3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676275"/>
            <a:ext cx="5867400" cy="5500688"/>
          </a:xfrm>
          <a:noFill/>
        </p:spPr>
      </p:pic>
      <p:sp>
        <p:nvSpPr>
          <p:cNvPr id="62469" name="Footer Placeholder 4">
            <a:extLst>
              <a:ext uri="{FF2B5EF4-FFF2-40B4-BE49-F238E27FC236}">
                <a16:creationId xmlns:a16="http://schemas.microsoft.com/office/drawing/2014/main" id="{3ECC80A1-FFFE-4265-B1D4-012237B67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2470" name="Rectangle 4">
            <a:extLst>
              <a:ext uri="{FF2B5EF4-FFF2-40B4-BE49-F238E27FC236}">
                <a16:creationId xmlns:a16="http://schemas.microsoft.com/office/drawing/2014/main" id="{4F135508-02FE-422A-830A-93CC8394027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a:extLst>
              <a:ext uri="{FF2B5EF4-FFF2-40B4-BE49-F238E27FC236}">
                <a16:creationId xmlns:a16="http://schemas.microsoft.com/office/drawing/2014/main" id="{C32EF799-CDCA-45E9-8896-9ED6BEFC60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E86C5AF1-53CC-4CEB-8B47-48417DD3E1AB}" type="slidenum">
              <a:rPr lang="en-US" altLang="en-US" sz="1000"/>
              <a:pPr eaLnBrk="1" hangingPunct="1">
                <a:spcBef>
                  <a:spcPct val="0"/>
                </a:spcBef>
                <a:buClrTx/>
                <a:buSzTx/>
                <a:buFontTx/>
                <a:buNone/>
              </a:pPr>
              <a:t>70</a:t>
            </a:fld>
            <a:endParaRPr lang="en-US" altLang="en-US" sz="1000"/>
          </a:p>
        </p:txBody>
      </p:sp>
      <p:sp>
        <p:nvSpPr>
          <p:cNvPr id="65539" name="Rectangle 2">
            <a:extLst>
              <a:ext uri="{FF2B5EF4-FFF2-40B4-BE49-F238E27FC236}">
                <a16:creationId xmlns:a16="http://schemas.microsoft.com/office/drawing/2014/main" id="{C07E1F3A-69DE-4892-B4F4-7CF3B433D74B}"/>
              </a:ext>
            </a:extLst>
          </p:cNvPr>
          <p:cNvSpPr>
            <a:spLocks noGrp="1" noChangeArrowheads="1"/>
          </p:cNvSpPr>
          <p:nvPr>
            <p:ph type="title"/>
          </p:nvPr>
        </p:nvSpPr>
        <p:spPr>
          <a:xfrm>
            <a:off x="152400" y="838200"/>
            <a:ext cx="2743200" cy="2438400"/>
          </a:xfrm>
        </p:spPr>
        <p:txBody>
          <a:bodyPr/>
          <a:lstStyle/>
          <a:p>
            <a:pPr eaLnBrk="1" hangingPunct="1"/>
            <a:r>
              <a:rPr lang="en-US" altLang="zh-CN" sz="3200" dirty="0">
                <a:ea typeface="宋体" panose="02010600030101010101" pitchFamily="2" charset="-122"/>
              </a:rPr>
              <a:t>Code Example for One Class</a:t>
            </a:r>
          </a:p>
        </p:txBody>
      </p:sp>
      <p:pic>
        <p:nvPicPr>
          <p:cNvPr id="65540" name="Picture 7">
            <a:extLst>
              <a:ext uri="{FF2B5EF4-FFF2-40B4-BE49-F238E27FC236}">
                <a16:creationId xmlns:a16="http://schemas.microsoft.com/office/drawing/2014/main" id="{4CDD81DF-DFE7-417C-9E6A-0C4D119C59A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19400" y="360363"/>
            <a:ext cx="5943600" cy="5622925"/>
          </a:xfrm>
          <a:noFill/>
        </p:spPr>
      </p:pic>
      <p:sp>
        <p:nvSpPr>
          <p:cNvPr id="65541" name="Footer Placeholder 4">
            <a:extLst>
              <a:ext uri="{FF2B5EF4-FFF2-40B4-BE49-F238E27FC236}">
                <a16:creationId xmlns:a16="http://schemas.microsoft.com/office/drawing/2014/main" id="{8F18AFD4-26A2-4A25-A351-CCAB4945BF7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5542" name="Rectangle 4">
            <a:extLst>
              <a:ext uri="{FF2B5EF4-FFF2-40B4-BE49-F238E27FC236}">
                <a16:creationId xmlns:a16="http://schemas.microsoft.com/office/drawing/2014/main" id="{5EF060B6-0600-4192-829A-1406ABC2756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7" name="Picture 5">
            <a:extLst>
              <a:ext uri="{FF2B5EF4-FFF2-40B4-BE49-F238E27FC236}">
                <a16:creationId xmlns:a16="http://schemas.microsoft.com/office/drawing/2014/main" id="{F6A063C4-609A-4DD3-A27A-7496426387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45" t="6319" r="50002" b="1473"/>
          <a:stretch/>
        </p:blipFill>
        <p:spPr bwMode="auto">
          <a:xfrm>
            <a:off x="38100" y="838200"/>
            <a:ext cx="2743200" cy="507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A506CD2-4571-413C-B02F-02DF2D28A355}"/>
              </a:ext>
            </a:extLst>
          </p:cNvPr>
          <p:cNvSpPr/>
          <p:nvPr/>
        </p:nvSpPr>
        <p:spPr>
          <a:xfrm>
            <a:off x="3429000" y="1904999"/>
            <a:ext cx="2133600" cy="2254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55DD3E2-FFA2-4C05-89FE-095A99C4B3ED}"/>
              </a:ext>
            </a:extLst>
          </p:cNvPr>
          <p:cNvSpPr/>
          <p:nvPr/>
        </p:nvSpPr>
        <p:spPr>
          <a:xfrm>
            <a:off x="3429000" y="2593974"/>
            <a:ext cx="2133600" cy="2254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8FBA700-87C6-42CB-8916-F6D0A299C203}"/>
              </a:ext>
            </a:extLst>
          </p:cNvPr>
          <p:cNvSpPr/>
          <p:nvPr/>
        </p:nvSpPr>
        <p:spPr>
          <a:xfrm>
            <a:off x="757687" y="1139825"/>
            <a:ext cx="1822330" cy="13747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A1721DE1-242E-46B5-BA5F-62690E9C0397}"/>
              </a:ext>
            </a:extLst>
          </p:cNvPr>
          <p:cNvSpPr/>
          <p:nvPr/>
        </p:nvSpPr>
        <p:spPr>
          <a:xfrm>
            <a:off x="768470" y="2593973"/>
            <a:ext cx="1822330" cy="144462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D99C91B4-A9BD-4AC9-ACD2-06FD6CEA671F}"/>
              </a:ext>
            </a:extLst>
          </p:cNvPr>
          <p:cNvCxnSpPr>
            <a:endCxn id="2" idx="1"/>
          </p:cNvCxnSpPr>
          <p:nvPr/>
        </p:nvCxnSpPr>
        <p:spPr>
          <a:xfrm>
            <a:off x="2590800" y="1831973"/>
            <a:ext cx="838200" cy="18573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8FEE7C71-AF4B-4936-AD04-BC23D9E98FC0}"/>
              </a:ext>
            </a:extLst>
          </p:cNvPr>
          <p:cNvCxnSpPr>
            <a:cxnSpLocks/>
            <a:stCxn id="11" idx="3"/>
            <a:endCxn id="9" idx="1"/>
          </p:cNvCxnSpPr>
          <p:nvPr/>
        </p:nvCxnSpPr>
        <p:spPr>
          <a:xfrm flipV="1">
            <a:off x="2590800" y="2706687"/>
            <a:ext cx="838200" cy="6096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00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a:extLst>
              <a:ext uri="{FF2B5EF4-FFF2-40B4-BE49-F238E27FC236}">
                <a16:creationId xmlns:a16="http://schemas.microsoft.com/office/drawing/2014/main" id="{2671E019-C0DC-4F1F-B077-02CA794375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4EB179B3-BB47-435F-AD98-313DD5A4156E}" type="slidenum">
              <a:rPr lang="en-US" altLang="en-US" sz="1000"/>
              <a:pPr eaLnBrk="1" hangingPunct="1">
                <a:spcBef>
                  <a:spcPct val="0"/>
                </a:spcBef>
                <a:buClrTx/>
                <a:buSzTx/>
                <a:buFontTx/>
                <a:buNone/>
              </a:pPr>
              <a:t>71</a:t>
            </a:fld>
            <a:endParaRPr lang="en-US" altLang="en-US" sz="1000"/>
          </a:p>
        </p:txBody>
      </p:sp>
      <p:sp>
        <p:nvSpPr>
          <p:cNvPr id="63491" name="Rectangle 2">
            <a:extLst>
              <a:ext uri="{FF2B5EF4-FFF2-40B4-BE49-F238E27FC236}">
                <a16:creationId xmlns:a16="http://schemas.microsoft.com/office/drawing/2014/main" id="{822FA59B-6326-4D42-AEAB-6B58796CEB49}"/>
              </a:ext>
            </a:extLst>
          </p:cNvPr>
          <p:cNvSpPr>
            <a:spLocks noGrp="1" noChangeArrowheads="1"/>
          </p:cNvSpPr>
          <p:nvPr>
            <p:ph type="title"/>
          </p:nvPr>
        </p:nvSpPr>
        <p:spPr>
          <a:xfrm>
            <a:off x="494581" y="457200"/>
            <a:ext cx="7543800" cy="868362"/>
          </a:xfrm>
        </p:spPr>
        <p:txBody>
          <a:bodyPr/>
          <a:lstStyle/>
          <a:p>
            <a:pPr eaLnBrk="1" hangingPunct="1"/>
            <a:r>
              <a:rPr lang="en-US" altLang="zh-CN" dirty="0">
                <a:ea typeface="宋体" panose="02010600030101010101" pitchFamily="2" charset="-122"/>
              </a:rPr>
              <a:t>Notes on Managing the Project</a:t>
            </a:r>
            <a:br>
              <a:rPr lang="en-US" altLang="zh-CN" dirty="0">
                <a:ea typeface="宋体" panose="02010600030101010101" pitchFamily="2" charset="-122"/>
              </a:rPr>
            </a:br>
            <a:r>
              <a:rPr lang="zh-CN" altLang="en-US" dirty="0">
                <a:ea typeface="宋体" panose="02010600030101010101" pitchFamily="2" charset="-122"/>
              </a:rPr>
              <a:t>（项目管理须知）</a:t>
            </a:r>
            <a:r>
              <a:rPr lang="en-US" altLang="zh-CN" dirty="0">
                <a:ea typeface="宋体" panose="02010600030101010101" pitchFamily="2" charset="-122"/>
              </a:rPr>
              <a:t> </a:t>
            </a:r>
          </a:p>
        </p:txBody>
      </p:sp>
      <p:sp>
        <p:nvSpPr>
          <p:cNvPr id="63492" name="Rectangle 3">
            <a:extLst>
              <a:ext uri="{FF2B5EF4-FFF2-40B4-BE49-F238E27FC236}">
                <a16:creationId xmlns:a16="http://schemas.microsoft.com/office/drawing/2014/main" id="{46DD46E3-F47B-48E2-BAFA-5F9F8AE528AD}"/>
              </a:ext>
            </a:extLst>
          </p:cNvPr>
          <p:cNvSpPr>
            <a:spLocks noGrp="1" noChangeArrowheads="1"/>
          </p:cNvSpPr>
          <p:nvPr>
            <p:ph type="body" idx="1"/>
          </p:nvPr>
        </p:nvSpPr>
        <p:spPr>
          <a:xfrm>
            <a:off x="457200" y="1371600"/>
            <a:ext cx="8458200" cy="4911725"/>
          </a:xfrm>
        </p:spPr>
        <p:txBody>
          <a:bodyPr/>
          <a:lstStyle/>
          <a:p>
            <a:pPr eaLnBrk="1" hangingPunct="1">
              <a:lnSpc>
                <a:spcPct val="90000"/>
              </a:lnSpc>
            </a:pPr>
            <a:r>
              <a:rPr lang="en-US" altLang="zh-CN" sz="2800" dirty="0">
                <a:ea typeface="宋体" panose="02010600030101010101" pitchFamily="2" charset="-122"/>
              </a:rPr>
              <a:t>Lots of design diagrams shown</a:t>
            </a:r>
            <a:r>
              <a:rPr lang="zh-CN" altLang="en-US" sz="2800" dirty="0">
                <a:ea typeface="宋体" panose="02010600030101010101" pitchFamily="2" charset="-122"/>
              </a:rPr>
              <a:t>（设计图表展示：）</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Design in a complex activity with multiple levels</a:t>
            </a:r>
          </a:p>
          <a:p>
            <a:pPr lvl="2" eaLnBrk="1" hangingPunct="1">
              <a:lnSpc>
                <a:spcPct val="90000"/>
              </a:lnSpc>
            </a:pPr>
            <a:r>
              <a:rPr lang="en-US" altLang="zh-CN" sz="2000" dirty="0">
                <a:ea typeface="宋体" panose="02010600030101010101" pitchFamily="2" charset="-122"/>
              </a:rPr>
              <a:t>High level architectural</a:t>
            </a:r>
            <a:r>
              <a:rPr lang="zh-CN" altLang="en-US" sz="2000" dirty="0">
                <a:ea typeface="宋体" panose="02010600030101010101" pitchFamily="2" charset="-122"/>
              </a:rPr>
              <a:t>（高级架构）</a:t>
            </a:r>
            <a:endParaRPr lang="en-US" altLang="zh-CN" sz="2000" dirty="0">
              <a:ea typeface="宋体" panose="02010600030101010101" pitchFamily="2" charset="-122"/>
            </a:endParaRPr>
          </a:p>
          <a:p>
            <a:pPr lvl="2" eaLnBrk="1" hangingPunct="1">
              <a:lnSpc>
                <a:spcPct val="90000"/>
              </a:lnSpc>
            </a:pPr>
            <a:r>
              <a:rPr lang="en-US" altLang="zh-CN" sz="2000" dirty="0">
                <a:ea typeface="宋体" panose="02010600030101010101" pitchFamily="2" charset="-122"/>
              </a:rPr>
              <a:t>Low level detailed design</a:t>
            </a:r>
            <a:r>
              <a:rPr lang="zh-CN" altLang="en-US" sz="2000" dirty="0">
                <a:ea typeface="宋体" panose="02010600030101010101" pitchFamily="2" charset="-122"/>
              </a:rPr>
              <a:t>（底层详细设计）</a:t>
            </a:r>
            <a:endParaRPr lang="en-US" altLang="zh-CN" sz="20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One diagram builds on/complements another</a:t>
            </a:r>
            <a:r>
              <a:rPr lang="zh-CN" altLang="en-US" sz="2400" dirty="0">
                <a:ea typeface="宋体" panose="02010600030101010101" pitchFamily="2" charset="-122"/>
              </a:rPr>
              <a:t>（一个图表建立在另一个图表的基础上）</a:t>
            </a:r>
            <a:endParaRPr lang="en-US" altLang="zh-CN" sz="2400" dirty="0">
              <a:ea typeface="宋体" panose="02010600030101010101" pitchFamily="2" charset="-122"/>
            </a:endParaRPr>
          </a:p>
          <a:p>
            <a:pPr eaLnBrk="1" hangingPunct="1">
              <a:lnSpc>
                <a:spcPct val="90000"/>
              </a:lnSpc>
            </a:pPr>
            <a:r>
              <a:rPr lang="en-US" altLang="zh-CN" sz="2800" dirty="0">
                <a:ea typeface="宋体" panose="02010600030101010101" pitchFamily="2" charset="-122"/>
              </a:rPr>
              <a:t>Programming is also done concurrently</a:t>
            </a:r>
            <a:r>
              <a:rPr lang="zh-CN" altLang="en-US" sz="2800" dirty="0">
                <a:ea typeface="宋体" panose="02010600030101010101" pitchFamily="2" charset="-122"/>
              </a:rPr>
              <a:t>（编程是并发完成的）</a:t>
            </a:r>
            <a:endParaRPr lang="en-US" altLang="zh-CN" sz="2800" dirty="0">
              <a:ea typeface="宋体" panose="02010600030101010101" pitchFamily="2" charset="-122"/>
            </a:endParaRPr>
          </a:p>
          <a:p>
            <a:pPr lvl="1" eaLnBrk="1" hangingPunct="1">
              <a:lnSpc>
                <a:spcPct val="90000"/>
              </a:lnSpc>
            </a:pPr>
            <a:r>
              <a:rPr lang="en-US" altLang="zh-CN" sz="2400" dirty="0">
                <a:solidFill>
                  <a:srgbClr val="C00000"/>
                </a:solidFill>
                <a:ea typeface="宋体" panose="02010600030101010101" pitchFamily="2" charset="-122"/>
              </a:rPr>
              <a:t>You don’t design everything then code</a:t>
            </a:r>
            <a:r>
              <a:rPr lang="zh-CN" altLang="en-US" sz="2400" dirty="0">
                <a:solidFill>
                  <a:srgbClr val="C00000"/>
                </a:solidFill>
                <a:ea typeface="宋体" panose="02010600030101010101" pitchFamily="2" charset="-122"/>
              </a:rPr>
              <a:t>（不需要设计所有东西再编码）</a:t>
            </a:r>
            <a:endParaRPr lang="en-US" altLang="zh-CN" sz="2400" dirty="0">
              <a:solidFill>
                <a:srgbClr val="C00000"/>
              </a:solidFill>
              <a:ea typeface="宋体" panose="02010600030101010101" pitchFamily="2" charset="-122"/>
            </a:endParaRPr>
          </a:p>
          <a:p>
            <a:pPr lvl="1" eaLnBrk="1" hangingPunct="1">
              <a:lnSpc>
                <a:spcPct val="90000"/>
              </a:lnSpc>
            </a:pPr>
            <a:r>
              <a:rPr lang="en-US" altLang="zh-CN" sz="2400" dirty="0">
                <a:ea typeface="宋体" panose="02010600030101010101" pitchFamily="2" charset="-122"/>
              </a:rPr>
              <a:t>You do some design, some coding, some design, some coding</a:t>
            </a:r>
            <a:r>
              <a:rPr lang="zh-CN" altLang="en-US" sz="2400" dirty="0">
                <a:ea typeface="宋体" panose="02010600030101010101" pitchFamily="2" charset="-122"/>
              </a:rPr>
              <a:t>（设计，编码，设计，编码迭代循环）</a:t>
            </a:r>
            <a:endParaRPr lang="en-US" altLang="zh-CN" sz="2400" dirty="0">
              <a:ea typeface="宋体" panose="02010600030101010101" pitchFamily="2" charset="-122"/>
            </a:endParaRPr>
          </a:p>
        </p:txBody>
      </p:sp>
      <p:sp>
        <p:nvSpPr>
          <p:cNvPr id="63493" name="Footer Placeholder 4">
            <a:extLst>
              <a:ext uri="{FF2B5EF4-FFF2-40B4-BE49-F238E27FC236}">
                <a16:creationId xmlns:a16="http://schemas.microsoft.com/office/drawing/2014/main" id="{0D61A07D-7A11-42F2-A3F7-AD678DFF679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3494" name="Rectangle 4">
            <a:extLst>
              <a:ext uri="{FF2B5EF4-FFF2-40B4-BE49-F238E27FC236}">
                <a16:creationId xmlns:a16="http://schemas.microsoft.com/office/drawing/2014/main" id="{ACA376F0-54E8-425D-8F48-2DBF79E0925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40D30387-404D-4C84-BD59-E91C0EF2E5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9738C9DD-159C-4038-BFB4-196A4AB2AC17}" type="slidenum">
              <a:rPr lang="en-US" altLang="en-US" sz="1000"/>
              <a:pPr eaLnBrk="1" hangingPunct="1">
                <a:spcBef>
                  <a:spcPct val="0"/>
                </a:spcBef>
                <a:buClrTx/>
                <a:buSzTx/>
                <a:buFontTx/>
                <a:buNone/>
              </a:pPr>
              <a:t>72</a:t>
            </a:fld>
            <a:endParaRPr lang="en-US" altLang="en-US" sz="1000"/>
          </a:p>
        </p:txBody>
      </p:sp>
      <p:sp>
        <p:nvSpPr>
          <p:cNvPr id="64515" name="Rectangle 2">
            <a:extLst>
              <a:ext uri="{FF2B5EF4-FFF2-40B4-BE49-F238E27FC236}">
                <a16:creationId xmlns:a16="http://schemas.microsoft.com/office/drawing/2014/main" id="{A2582377-AA38-4D99-B203-2A53CF61755F}"/>
              </a:ext>
            </a:extLst>
          </p:cNvPr>
          <p:cNvSpPr>
            <a:spLocks noGrp="1" noChangeArrowheads="1"/>
          </p:cNvSpPr>
          <p:nvPr>
            <p:ph type="title"/>
          </p:nvPr>
        </p:nvSpPr>
        <p:spPr>
          <a:xfrm>
            <a:off x="457200" y="122238"/>
            <a:ext cx="7543800" cy="1020762"/>
          </a:xfrm>
        </p:spPr>
        <p:txBody>
          <a:bodyPr/>
          <a:lstStyle/>
          <a:p>
            <a:pPr eaLnBrk="1" hangingPunct="1"/>
            <a:r>
              <a:rPr lang="en-US" altLang="zh-CN" dirty="0">
                <a:ea typeface="宋体" panose="02010600030101010101" pitchFamily="2" charset="-122"/>
              </a:rPr>
              <a:t>Day 4&amp;5 Activities </a:t>
            </a:r>
          </a:p>
        </p:txBody>
      </p:sp>
      <p:sp>
        <p:nvSpPr>
          <p:cNvPr id="64516" name="Rectangle 3">
            <a:extLst>
              <a:ext uri="{FF2B5EF4-FFF2-40B4-BE49-F238E27FC236}">
                <a16:creationId xmlns:a16="http://schemas.microsoft.com/office/drawing/2014/main" id="{D6CA7379-E14E-48D1-857A-F58498C937AC}"/>
              </a:ext>
            </a:extLst>
          </p:cNvPr>
          <p:cNvSpPr>
            <a:spLocks noGrp="1" noChangeArrowheads="1"/>
          </p:cNvSpPr>
          <p:nvPr>
            <p:ph type="body" idx="1"/>
          </p:nvPr>
        </p:nvSpPr>
        <p:spPr>
          <a:xfrm>
            <a:off x="401637" y="1443218"/>
            <a:ext cx="8229600" cy="4606925"/>
          </a:xfrm>
        </p:spPr>
        <p:txBody>
          <a:bodyPr/>
          <a:lstStyle/>
          <a:p>
            <a:pPr eaLnBrk="1" hangingPunct="1"/>
            <a:r>
              <a:rPr lang="zh-CN" altLang="en-US" sz="2800" dirty="0">
                <a:ea typeface="宋体" panose="02010600030101010101" pitchFamily="2" charset="-122"/>
              </a:rPr>
              <a:t>核心过程</a:t>
            </a:r>
            <a:r>
              <a:rPr lang="en-US" altLang="zh-CN" sz="2800" dirty="0">
                <a:ea typeface="宋体" panose="02010600030101010101" pitchFamily="2" charset="-122"/>
              </a:rPr>
              <a:t>4</a:t>
            </a:r>
            <a:r>
              <a:rPr lang="zh-CN" altLang="en-US" sz="2800" dirty="0">
                <a:ea typeface="宋体" panose="02010600030101010101" pitchFamily="2" charset="-122"/>
              </a:rPr>
              <a:t>：系统开发</a:t>
            </a:r>
            <a:endParaRPr lang="en-US" altLang="zh-CN" sz="2800" dirty="0">
              <a:ea typeface="宋体" panose="02010600030101010101" pitchFamily="2" charset="-122"/>
            </a:endParaRPr>
          </a:p>
          <a:p>
            <a:pPr lvl="1" eaLnBrk="1" hangingPunct="1"/>
            <a:r>
              <a:rPr lang="en-US" altLang="zh-CN" sz="2000" dirty="0">
                <a:ea typeface="宋体" panose="02010600030101010101" pitchFamily="2" charset="-122"/>
              </a:rPr>
              <a:t>Continue programming (</a:t>
            </a:r>
            <a:r>
              <a:rPr lang="zh-CN" altLang="en-US" sz="2000" dirty="0">
                <a:ea typeface="宋体" panose="02010600030101010101" pitchFamily="2" charset="-122"/>
              </a:rPr>
              <a:t>编程来实现系统需求</a:t>
            </a:r>
            <a:r>
              <a:rPr lang="en-US" altLang="zh-CN" sz="2000" dirty="0">
                <a:ea typeface="宋体" panose="02010600030101010101" pitchFamily="2" charset="-122"/>
              </a:rPr>
              <a:t>)</a:t>
            </a:r>
          </a:p>
          <a:p>
            <a:pPr lvl="1" eaLnBrk="1" hangingPunct="1"/>
            <a:r>
              <a:rPr lang="en-US" altLang="zh-CN" sz="2000" dirty="0">
                <a:ea typeface="宋体" panose="02010600030101010101" pitchFamily="2" charset="-122"/>
              </a:rPr>
              <a:t>Build use case by use case</a:t>
            </a:r>
            <a:r>
              <a:rPr lang="zh-CN" altLang="en-US" sz="2000" dirty="0">
                <a:ea typeface="宋体" panose="02010600030101010101" pitchFamily="2" charset="-122"/>
              </a:rPr>
              <a:t>（逐个用例来构建）</a:t>
            </a:r>
            <a:endParaRPr lang="en-US" altLang="zh-CN" sz="2000" dirty="0">
              <a:ea typeface="宋体" panose="02010600030101010101" pitchFamily="2" charset="-122"/>
            </a:endParaRPr>
          </a:p>
          <a:p>
            <a:pPr lvl="2" eaLnBrk="1" hangingPunct="1"/>
            <a:endParaRPr lang="en-US" altLang="zh-CN" sz="2100" dirty="0">
              <a:ea typeface="宋体" panose="02010600030101010101" pitchFamily="2" charset="-122"/>
            </a:endParaRPr>
          </a:p>
          <a:p>
            <a:pPr eaLnBrk="1" hangingPunct="1"/>
            <a:r>
              <a:rPr lang="zh-CN" altLang="en-US" sz="2800" dirty="0">
                <a:ea typeface="宋体" panose="02010600030101010101" pitchFamily="2" charset="-122"/>
              </a:rPr>
              <a:t>核心过程</a:t>
            </a:r>
            <a:r>
              <a:rPr lang="en-US" altLang="zh-CN" sz="2800" dirty="0">
                <a:ea typeface="宋体" panose="02010600030101010101" pitchFamily="2" charset="-122"/>
              </a:rPr>
              <a:t>5</a:t>
            </a:r>
            <a:r>
              <a:rPr lang="zh-CN" altLang="en-US" sz="2800" dirty="0">
                <a:ea typeface="宋体" panose="02010600030101010101" pitchFamily="2" charset="-122"/>
              </a:rPr>
              <a:t>：系统测试</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单元和集成测试</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白盒和黑盒测试</a:t>
            </a:r>
            <a:endParaRPr lang="en-US" altLang="zh-CN" sz="2400" dirty="0">
              <a:ea typeface="宋体" panose="02010600030101010101" pitchFamily="2" charset="-122"/>
            </a:endParaRPr>
          </a:p>
        </p:txBody>
      </p:sp>
      <p:sp>
        <p:nvSpPr>
          <p:cNvPr id="64517" name="Footer Placeholder 4">
            <a:extLst>
              <a:ext uri="{FF2B5EF4-FFF2-40B4-BE49-F238E27FC236}">
                <a16:creationId xmlns:a16="http://schemas.microsoft.com/office/drawing/2014/main" id="{1DDA8087-2C4E-417D-9C21-F2D28F64856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4518" name="Rectangle 4">
            <a:extLst>
              <a:ext uri="{FF2B5EF4-FFF2-40B4-BE49-F238E27FC236}">
                <a16:creationId xmlns:a16="http://schemas.microsoft.com/office/drawing/2014/main" id="{36387E34-9193-4013-8139-FE594E841B2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a:extLst>
              <a:ext uri="{FF2B5EF4-FFF2-40B4-BE49-F238E27FC236}">
                <a16:creationId xmlns:a16="http://schemas.microsoft.com/office/drawing/2014/main" id="{1609D839-7A5F-4B14-A8E9-7E2A160FA3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B0875A7F-9430-4D3C-A9D9-B9514C5C589D}" type="slidenum">
              <a:rPr lang="en-US" altLang="en-US" sz="1000"/>
              <a:pPr eaLnBrk="1" hangingPunct="1">
                <a:spcBef>
                  <a:spcPct val="0"/>
                </a:spcBef>
                <a:buClrTx/>
                <a:buSzTx/>
                <a:buFontTx/>
                <a:buNone/>
              </a:pPr>
              <a:t>73</a:t>
            </a:fld>
            <a:endParaRPr lang="en-US" altLang="en-US" sz="1000"/>
          </a:p>
        </p:txBody>
      </p:sp>
      <p:sp>
        <p:nvSpPr>
          <p:cNvPr id="66563" name="Rectangle 2">
            <a:extLst>
              <a:ext uri="{FF2B5EF4-FFF2-40B4-BE49-F238E27FC236}">
                <a16:creationId xmlns:a16="http://schemas.microsoft.com/office/drawing/2014/main" id="{AB2DFDAF-877C-49D4-A14E-88E4B7AE2FFA}"/>
              </a:ext>
            </a:extLst>
          </p:cNvPr>
          <p:cNvSpPr>
            <a:spLocks noGrp="1" noChangeArrowheads="1"/>
          </p:cNvSpPr>
          <p:nvPr>
            <p:ph type="title"/>
          </p:nvPr>
        </p:nvSpPr>
        <p:spPr>
          <a:xfrm>
            <a:off x="457200" y="122238"/>
            <a:ext cx="7543800" cy="1401762"/>
          </a:xfrm>
        </p:spPr>
        <p:txBody>
          <a:bodyPr/>
          <a:lstStyle/>
          <a:p>
            <a:pPr eaLnBrk="1" hangingPunct="1"/>
            <a:r>
              <a:rPr lang="en-US" altLang="zh-CN" dirty="0">
                <a:ea typeface="宋体" panose="02010600030101010101" pitchFamily="2" charset="-122"/>
              </a:rPr>
              <a:t>Workflow of Testing Tasks</a:t>
            </a:r>
            <a:br>
              <a:rPr lang="en-US" altLang="zh-CN" dirty="0">
                <a:ea typeface="宋体" panose="02010600030101010101" pitchFamily="2" charset="-122"/>
              </a:rPr>
            </a:br>
            <a:r>
              <a:rPr lang="zh-CN" altLang="en-US" dirty="0">
                <a:ea typeface="宋体" panose="02010600030101010101" pitchFamily="2" charset="-122"/>
              </a:rPr>
              <a:t>测试任务流程</a:t>
            </a:r>
            <a:endParaRPr lang="en-US" altLang="zh-CN" sz="2400" dirty="0">
              <a:ea typeface="宋体" panose="02010600030101010101" pitchFamily="2" charset="-122"/>
            </a:endParaRPr>
          </a:p>
        </p:txBody>
      </p:sp>
      <p:pic>
        <p:nvPicPr>
          <p:cNvPr id="66564" name="Picture 7">
            <a:extLst>
              <a:ext uri="{FF2B5EF4-FFF2-40B4-BE49-F238E27FC236}">
                <a16:creationId xmlns:a16="http://schemas.microsoft.com/office/drawing/2014/main" id="{AB064E15-1243-4DD7-862B-FFB6A6982A0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 y="2209800"/>
            <a:ext cx="8763000" cy="2611438"/>
          </a:xfrm>
          <a:noFill/>
        </p:spPr>
      </p:pic>
      <p:sp>
        <p:nvSpPr>
          <p:cNvPr id="66565" name="Footer Placeholder 4">
            <a:extLst>
              <a:ext uri="{FF2B5EF4-FFF2-40B4-BE49-F238E27FC236}">
                <a16:creationId xmlns:a16="http://schemas.microsoft.com/office/drawing/2014/main" id="{7E0A6E91-B996-4173-8D0A-E7E784ACC4B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6566" name="Rectangle 4">
            <a:extLst>
              <a:ext uri="{FF2B5EF4-FFF2-40B4-BE49-F238E27FC236}">
                <a16:creationId xmlns:a16="http://schemas.microsoft.com/office/drawing/2014/main" id="{15CBC7EE-3CFA-419A-8489-1D08ACDFBF3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250377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a:extLst>
              <a:ext uri="{FF2B5EF4-FFF2-40B4-BE49-F238E27FC236}">
                <a16:creationId xmlns:a16="http://schemas.microsoft.com/office/drawing/2014/main" id="{55A0774B-11BB-41C7-8E35-7868896BE7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8BAC90F3-92C7-4D6B-AD20-314599FBEFA9}" type="slidenum">
              <a:rPr lang="en-US" altLang="en-US" sz="1000"/>
              <a:pPr eaLnBrk="1" hangingPunct="1">
                <a:spcBef>
                  <a:spcPct val="0"/>
                </a:spcBef>
                <a:buClrTx/>
                <a:buSzTx/>
                <a:buFontTx/>
                <a:buNone/>
              </a:pPr>
              <a:t>74</a:t>
            </a:fld>
            <a:endParaRPr lang="en-US" altLang="en-US" sz="1000"/>
          </a:p>
        </p:txBody>
      </p:sp>
      <p:sp>
        <p:nvSpPr>
          <p:cNvPr id="67587" name="Rectangle 2">
            <a:extLst>
              <a:ext uri="{FF2B5EF4-FFF2-40B4-BE49-F238E27FC236}">
                <a16:creationId xmlns:a16="http://schemas.microsoft.com/office/drawing/2014/main" id="{E9FDDC0C-179A-4C31-9E4E-48B326F7D64E}"/>
              </a:ext>
            </a:extLst>
          </p:cNvPr>
          <p:cNvSpPr>
            <a:spLocks noGrp="1" noChangeArrowheads="1"/>
          </p:cNvSpPr>
          <p:nvPr>
            <p:ph type="title"/>
          </p:nvPr>
        </p:nvSpPr>
        <p:spPr>
          <a:xfrm>
            <a:off x="457200" y="122238"/>
            <a:ext cx="8382000" cy="1401762"/>
          </a:xfrm>
        </p:spPr>
        <p:txBody>
          <a:bodyPr/>
          <a:lstStyle/>
          <a:p>
            <a:pPr eaLnBrk="1" hangingPunct="1"/>
            <a:r>
              <a:rPr lang="en-US" altLang="zh-CN" dirty="0">
                <a:ea typeface="宋体" panose="02010600030101010101" pitchFamily="2" charset="-122"/>
              </a:rPr>
              <a:t>Screen Capture for Look up supplier use case</a:t>
            </a:r>
            <a:r>
              <a:rPr lang="zh-CN" altLang="en-US" dirty="0">
                <a:ea typeface="宋体" panose="02010600030101010101" pitchFamily="2" charset="-122"/>
              </a:rPr>
              <a:t>（查找供应商界面）</a:t>
            </a:r>
            <a:endParaRPr lang="en-US" altLang="zh-CN" sz="2400" dirty="0">
              <a:ea typeface="宋体" panose="02010600030101010101" pitchFamily="2" charset="-122"/>
            </a:endParaRPr>
          </a:p>
        </p:txBody>
      </p:sp>
      <p:pic>
        <p:nvPicPr>
          <p:cNvPr id="67588" name="Picture 7">
            <a:extLst>
              <a:ext uri="{FF2B5EF4-FFF2-40B4-BE49-F238E27FC236}">
                <a16:creationId xmlns:a16="http://schemas.microsoft.com/office/drawing/2014/main" id="{E1ADEF01-B0E1-4A32-875D-F1C61FB5F42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47738" y="1719263"/>
            <a:ext cx="7248525" cy="4411662"/>
          </a:xfrm>
          <a:noFill/>
        </p:spPr>
      </p:pic>
      <p:sp>
        <p:nvSpPr>
          <p:cNvPr id="67589" name="Footer Placeholder 4">
            <a:extLst>
              <a:ext uri="{FF2B5EF4-FFF2-40B4-BE49-F238E27FC236}">
                <a16:creationId xmlns:a16="http://schemas.microsoft.com/office/drawing/2014/main" id="{40C5BECB-6E1C-47F7-BC45-CC7544B02EE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7590" name="Rectangle 4">
            <a:extLst>
              <a:ext uri="{FF2B5EF4-FFF2-40B4-BE49-F238E27FC236}">
                <a16:creationId xmlns:a16="http://schemas.microsoft.com/office/drawing/2014/main" id="{A8446170-5B14-4378-8C25-EB34BD35D8B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a:extLst>
              <a:ext uri="{FF2B5EF4-FFF2-40B4-BE49-F238E27FC236}">
                <a16:creationId xmlns:a16="http://schemas.microsoft.com/office/drawing/2014/main" id="{9F9B11C4-9C4F-46F3-B77C-50AEE23BDA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2939DB3A-5064-45A2-9053-3E86ED6044CB}" type="slidenum">
              <a:rPr lang="en-US" altLang="en-US" sz="1000"/>
              <a:pPr eaLnBrk="1" hangingPunct="1">
                <a:spcBef>
                  <a:spcPct val="0"/>
                </a:spcBef>
                <a:buClrTx/>
                <a:buSzTx/>
                <a:buFontTx/>
                <a:buNone/>
              </a:pPr>
              <a:t>75</a:t>
            </a:fld>
            <a:endParaRPr lang="en-US" altLang="en-US" sz="1000"/>
          </a:p>
        </p:txBody>
      </p:sp>
      <p:sp>
        <p:nvSpPr>
          <p:cNvPr id="68611" name="Rectangle 2">
            <a:extLst>
              <a:ext uri="{FF2B5EF4-FFF2-40B4-BE49-F238E27FC236}">
                <a16:creationId xmlns:a16="http://schemas.microsoft.com/office/drawing/2014/main" id="{BE97A5A2-1FDD-4018-8D8B-293646547E47}"/>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Day 6 Activities </a:t>
            </a:r>
          </a:p>
        </p:txBody>
      </p:sp>
      <p:sp>
        <p:nvSpPr>
          <p:cNvPr id="68612" name="Rectangle 3">
            <a:extLst>
              <a:ext uri="{FF2B5EF4-FFF2-40B4-BE49-F238E27FC236}">
                <a16:creationId xmlns:a16="http://schemas.microsoft.com/office/drawing/2014/main" id="{EDD73033-9CB0-40AD-9412-3EE952ACB956}"/>
              </a:ext>
            </a:extLst>
          </p:cNvPr>
          <p:cNvSpPr>
            <a:spLocks noGrp="1" noChangeArrowheads="1"/>
          </p:cNvSpPr>
          <p:nvPr>
            <p:ph type="body" idx="1"/>
          </p:nvPr>
        </p:nvSpPr>
        <p:spPr>
          <a:xfrm>
            <a:off x="457200" y="1219200"/>
            <a:ext cx="8229600" cy="4911725"/>
          </a:xfrm>
        </p:spPr>
        <p:txBody>
          <a:bodyPr/>
          <a:lstStyle/>
          <a:p>
            <a:pPr eaLnBrk="1" hangingPunct="1"/>
            <a:r>
              <a:rPr lang="zh-CN" altLang="en-US" dirty="0">
                <a:solidFill>
                  <a:srgbClr val="C00000"/>
                </a:solidFill>
                <a:ea typeface="宋体" panose="02010600030101010101" pitchFamily="2" charset="-122"/>
              </a:rPr>
              <a:t>核心过程</a:t>
            </a:r>
            <a:r>
              <a:rPr lang="en-US" altLang="zh-CN" dirty="0">
                <a:solidFill>
                  <a:srgbClr val="C00000"/>
                </a:solidFill>
                <a:ea typeface="宋体" panose="02010600030101010101" pitchFamily="2" charset="-122"/>
              </a:rPr>
              <a:t>6</a:t>
            </a:r>
            <a:r>
              <a:rPr lang="zh-CN" altLang="en-US" dirty="0">
                <a:solidFill>
                  <a:srgbClr val="C00000"/>
                </a:solidFill>
                <a:ea typeface="宋体" panose="02010600030101010101" pitchFamily="2" charset="-122"/>
              </a:rPr>
              <a:t>：部署和维护</a:t>
            </a:r>
            <a:endParaRPr lang="en-US" altLang="zh-CN" dirty="0">
              <a:solidFill>
                <a:srgbClr val="C00000"/>
              </a:solidFill>
              <a:ea typeface="宋体" panose="02010600030101010101" pitchFamily="2" charset="-122"/>
            </a:endParaRPr>
          </a:p>
          <a:p>
            <a:pPr lvl="1" eaLnBrk="1" hangingPunct="1"/>
            <a:r>
              <a:rPr lang="zh-CN" altLang="en-US" dirty="0">
                <a:ea typeface="宋体" panose="02010600030101010101" pitchFamily="2" charset="-122"/>
              </a:rPr>
              <a:t>部署方式：分阶段部署、员工培训、网络调试</a:t>
            </a:r>
            <a:r>
              <a:rPr lang="en-US" altLang="zh-CN" dirty="0">
                <a:ea typeface="宋体" panose="02010600030101010101" pitchFamily="2" charset="-122"/>
              </a:rPr>
              <a:t>…</a:t>
            </a:r>
          </a:p>
          <a:p>
            <a:pPr lvl="1" eaLnBrk="1" hangingPunct="1"/>
            <a:r>
              <a:rPr lang="zh-CN" altLang="en-US" dirty="0">
                <a:ea typeface="宋体" panose="02010600030101010101" pitchFamily="2" charset="-122"/>
              </a:rPr>
              <a:t>维护方式：线上维护、线下维护</a:t>
            </a:r>
            <a:r>
              <a:rPr lang="en-US" altLang="zh-CN" dirty="0">
                <a:ea typeface="宋体" panose="02010600030101010101" pitchFamily="2" charset="-122"/>
              </a:rPr>
              <a:t>…</a:t>
            </a:r>
          </a:p>
        </p:txBody>
      </p:sp>
      <p:sp>
        <p:nvSpPr>
          <p:cNvPr id="68613" name="Footer Placeholder 4">
            <a:extLst>
              <a:ext uri="{FF2B5EF4-FFF2-40B4-BE49-F238E27FC236}">
                <a16:creationId xmlns:a16="http://schemas.microsoft.com/office/drawing/2014/main" id="{CEEA1276-2274-415F-BB81-908B793F14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8614" name="Rectangle 4">
            <a:extLst>
              <a:ext uri="{FF2B5EF4-FFF2-40B4-BE49-F238E27FC236}">
                <a16:creationId xmlns:a16="http://schemas.microsoft.com/office/drawing/2014/main" id="{7D74A5D0-8802-4C0B-AF2C-A431BCBD588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a:extLst>
              <a:ext uri="{FF2B5EF4-FFF2-40B4-BE49-F238E27FC236}">
                <a16:creationId xmlns:a16="http://schemas.microsoft.com/office/drawing/2014/main" id="{303706A4-69BA-4034-B21D-658F709112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E2DA4584-F9A7-41C6-8414-D1F6083A7782}" type="slidenum">
              <a:rPr lang="en-US" altLang="en-US" sz="1000"/>
              <a:pPr eaLnBrk="1" hangingPunct="1">
                <a:spcBef>
                  <a:spcPct val="0"/>
                </a:spcBef>
                <a:buClrTx/>
                <a:buSzTx/>
                <a:buFontTx/>
                <a:buNone/>
              </a:pPr>
              <a:t>76</a:t>
            </a:fld>
            <a:endParaRPr lang="en-US" altLang="en-US" sz="1000"/>
          </a:p>
        </p:txBody>
      </p:sp>
      <p:sp>
        <p:nvSpPr>
          <p:cNvPr id="69635" name="Rectangle 2">
            <a:extLst>
              <a:ext uri="{FF2B5EF4-FFF2-40B4-BE49-F238E27FC236}">
                <a16:creationId xmlns:a16="http://schemas.microsoft.com/office/drawing/2014/main" id="{562E5EA6-6425-45F6-9BE0-846C871667DE}"/>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First Iteration Recap</a:t>
            </a:r>
            <a:br>
              <a:rPr lang="en-US" altLang="zh-CN" sz="3600" dirty="0">
                <a:ea typeface="宋体" panose="02010600030101010101" pitchFamily="2" charset="-122"/>
              </a:rPr>
            </a:br>
            <a:r>
              <a:rPr lang="zh-CN" altLang="en-US" sz="3600" dirty="0">
                <a:ea typeface="宋体" panose="02010600030101010101" pitchFamily="2" charset="-122"/>
              </a:rPr>
              <a:t>（第一次迭代回顾）</a:t>
            </a:r>
            <a:r>
              <a:rPr lang="en-US" altLang="zh-CN" sz="3600" dirty="0">
                <a:ea typeface="宋体" panose="02010600030101010101" pitchFamily="2" charset="-122"/>
              </a:rPr>
              <a:t> </a:t>
            </a:r>
          </a:p>
        </p:txBody>
      </p:sp>
      <p:sp>
        <p:nvSpPr>
          <p:cNvPr id="69636" name="Rectangle 3">
            <a:extLst>
              <a:ext uri="{FF2B5EF4-FFF2-40B4-BE49-F238E27FC236}">
                <a16:creationId xmlns:a16="http://schemas.microsoft.com/office/drawing/2014/main" id="{F9061C7B-91EF-4C51-8EF8-0EF5AAFC7872}"/>
              </a:ext>
            </a:extLst>
          </p:cNvPr>
          <p:cNvSpPr>
            <a:spLocks noGrp="1" noChangeArrowheads="1"/>
          </p:cNvSpPr>
          <p:nvPr>
            <p:ph type="body" idx="1"/>
          </p:nvPr>
        </p:nvSpPr>
        <p:spPr>
          <a:xfrm>
            <a:off x="457200" y="1219200"/>
            <a:ext cx="8229600" cy="4911725"/>
          </a:xfrm>
        </p:spPr>
        <p:txBody>
          <a:bodyPr/>
          <a:lstStyle/>
          <a:p>
            <a:pPr eaLnBrk="1" hangingPunct="1"/>
            <a:r>
              <a:rPr lang="en-US" altLang="zh-CN" sz="2800" dirty="0">
                <a:ea typeface="宋体" panose="02010600030101010101" pitchFamily="2" charset="-122"/>
              </a:rPr>
              <a:t>This was a 6 day iteration of small project</a:t>
            </a:r>
          </a:p>
          <a:p>
            <a:pPr lvl="1" eaLnBrk="1" hangingPunct="1"/>
            <a:r>
              <a:rPr lang="en-US" altLang="zh-CN" sz="2400" dirty="0">
                <a:ea typeface="宋体" panose="02010600030101010101" pitchFamily="2" charset="-122"/>
              </a:rPr>
              <a:t>Most iterations are longer (2 to 4 weeks)</a:t>
            </a:r>
          </a:p>
          <a:p>
            <a:pPr lvl="1" eaLnBrk="1" hangingPunct="1"/>
            <a:r>
              <a:rPr lang="en-US" altLang="zh-CN" sz="2400" dirty="0">
                <a:ea typeface="宋体" panose="02010600030101010101" pitchFamily="2" charset="-122"/>
              </a:rPr>
              <a:t>This project might be 2 iterations</a:t>
            </a:r>
          </a:p>
          <a:p>
            <a:pPr lvl="1" eaLnBrk="1" hangingPunct="1"/>
            <a:r>
              <a:rPr lang="en-US" altLang="zh-CN" sz="2400" dirty="0">
                <a:ea typeface="宋体" panose="02010600030101010101" pitchFamily="2" charset="-122"/>
              </a:rPr>
              <a:t>Most projects have many more iterations </a:t>
            </a:r>
            <a:r>
              <a:rPr lang="zh-CN" altLang="en-US" sz="2400" dirty="0">
                <a:ea typeface="宋体" panose="02010600030101010101" pitchFamily="2" charset="-122"/>
              </a:rPr>
              <a:t>（大多数项目都有更多迭代）</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End users need to be involved, particularly in day 1, 2 and 6.</a:t>
            </a:r>
            <a:r>
              <a:rPr lang="zh-CN" altLang="en-US" sz="2800" dirty="0">
                <a:ea typeface="宋体" panose="02010600030101010101" pitchFamily="2" charset="-122"/>
              </a:rPr>
              <a:t>（终端用户需要参与进来）</a:t>
            </a:r>
            <a:r>
              <a:rPr lang="en-US" altLang="zh-CN" sz="2800" dirty="0">
                <a:ea typeface="宋体" panose="02010600030101010101" pitchFamily="2" charset="-122"/>
              </a:rPr>
              <a:t> </a:t>
            </a:r>
          </a:p>
          <a:p>
            <a:pPr eaLnBrk="1" hangingPunct="1"/>
            <a:r>
              <a:rPr lang="en-US" altLang="zh-CN" sz="2800" dirty="0">
                <a:ea typeface="宋体" panose="02010600030101010101" pitchFamily="2" charset="-122"/>
              </a:rPr>
              <a:t>Days 3 and 4 involved design and programming </a:t>
            </a:r>
            <a:r>
              <a:rPr lang="en-US" altLang="zh-CN" sz="2800" u="sng" dirty="0">
                <a:ea typeface="宋体" panose="02010600030101010101" pitchFamily="2" charset="-122"/>
              </a:rPr>
              <a:t>concurrently</a:t>
            </a:r>
            <a:r>
              <a:rPr lang="en-US" altLang="zh-CN" sz="2800" dirty="0">
                <a:ea typeface="宋体" panose="02010600030101010101" pitchFamily="2" charset="-122"/>
              </a:rPr>
              <a:t>.</a:t>
            </a:r>
            <a:r>
              <a:rPr lang="zh-CN" altLang="en-US" sz="2800" dirty="0">
                <a:ea typeface="宋体" panose="02010600030101010101" pitchFamily="2" charset="-122"/>
              </a:rPr>
              <a:t>（设计与编程同步进行）</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Lots of time was spent programming along with design (not emphasized here) </a:t>
            </a:r>
          </a:p>
          <a:p>
            <a:pPr lvl="1" eaLnBrk="1" hangingPunct="1"/>
            <a:endParaRPr lang="en-US" altLang="zh-CN" sz="2400" dirty="0">
              <a:ea typeface="宋体" panose="02010600030101010101" pitchFamily="2" charset="-122"/>
            </a:endParaRPr>
          </a:p>
        </p:txBody>
      </p:sp>
      <p:sp>
        <p:nvSpPr>
          <p:cNvPr id="69637" name="Footer Placeholder 4">
            <a:extLst>
              <a:ext uri="{FF2B5EF4-FFF2-40B4-BE49-F238E27FC236}">
                <a16:creationId xmlns:a16="http://schemas.microsoft.com/office/drawing/2014/main" id="{0C6B185E-3389-4C15-BC76-24567C192E1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69638" name="Rectangle 4">
            <a:extLst>
              <a:ext uri="{FF2B5EF4-FFF2-40B4-BE49-F238E27FC236}">
                <a16:creationId xmlns:a16="http://schemas.microsoft.com/office/drawing/2014/main" id="{42EED194-C519-4004-8653-1CDFAE01C21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9380A340-5D78-4D37-9E1D-A4180E9ECA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DE6CD7F9-4141-4B3D-8E5B-1C75FE331204}" type="slidenum">
              <a:rPr lang="en-US" altLang="en-US" sz="1000"/>
              <a:pPr eaLnBrk="1" hangingPunct="1">
                <a:spcBef>
                  <a:spcPct val="0"/>
                </a:spcBef>
                <a:buClrTx/>
                <a:buSzTx/>
                <a:buFontTx/>
                <a:buNone/>
              </a:pPr>
              <a:t>77</a:t>
            </a:fld>
            <a:endParaRPr lang="en-US" altLang="en-US" sz="1000"/>
          </a:p>
        </p:txBody>
      </p:sp>
      <p:sp>
        <p:nvSpPr>
          <p:cNvPr id="71683" name="Rectangle 2">
            <a:extLst>
              <a:ext uri="{FF2B5EF4-FFF2-40B4-BE49-F238E27FC236}">
                <a16:creationId xmlns:a16="http://schemas.microsoft.com/office/drawing/2014/main" id="{E52D936F-6723-4A91-9EF6-C6761EE929E4}"/>
              </a:ext>
            </a:extLst>
          </p:cNvPr>
          <p:cNvSpPr>
            <a:spLocks noGrp="1" noChangeArrowheads="1"/>
          </p:cNvSpPr>
          <p:nvPr>
            <p:ph type="title"/>
          </p:nvPr>
        </p:nvSpPr>
        <p:spPr>
          <a:xfrm>
            <a:off x="457200" y="122238"/>
            <a:ext cx="7543800" cy="1020762"/>
          </a:xfrm>
        </p:spPr>
        <p:txBody>
          <a:bodyPr/>
          <a:lstStyle/>
          <a:p>
            <a:pPr eaLnBrk="1" hangingPunct="1"/>
            <a:r>
              <a:rPr lang="zh-CN" altLang="en-US" dirty="0">
                <a:ea typeface="宋体" panose="02010600030101010101" pitchFamily="2" charset="-122"/>
              </a:rPr>
              <a:t>其余章节</a:t>
            </a:r>
            <a:endParaRPr lang="en-US" altLang="zh-CN" dirty="0">
              <a:ea typeface="宋体" panose="02010600030101010101" pitchFamily="2" charset="-122"/>
            </a:endParaRPr>
          </a:p>
        </p:txBody>
      </p:sp>
      <p:sp>
        <p:nvSpPr>
          <p:cNvPr id="71684" name="Rectangle 3">
            <a:extLst>
              <a:ext uri="{FF2B5EF4-FFF2-40B4-BE49-F238E27FC236}">
                <a16:creationId xmlns:a16="http://schemas.microsoft.com/office/drawing/2014/main" id="{1561E52A-8B22-465D-881D-AC66B5E7F856}"/>
              </a:ext>
            </a:extLst>
          </p:cNvPr>
          <p:cNvSpPr>
            <a:spLocks noGrp="1" noChangeArrowheads="1"/>
          </p:cNvSpPr>
          <p:nvPr>
            <p:ph type="body" idx="1"/>
          </p:nvPr>
        </p:nvSpPr>
        <p:spPr>
          <a:xfrm>
            <a:off x="457200" y="1524000"/>
            <a:ext cx="8382000" cy="4606925"/>
          </a:xfrm>
        </p:spPr>
        <p:txBody>
          <a:bodyPr/>
          <a:lstStyle/>
          <a:p>
            <a:pPr eaLnBrk="1" hangingPunct="1">
              <a:lnSpc>
                <a:spcPct val="90000"/>
              </a:lnSpc>
            </a:pPr>
            <a:r>
              <a:rPr lang="en-US" altLang="zh-CN" sz="2600" dirty="0">
                <a:ea typeface="宋体" panose="02010600030101010101" pitchFamily="2" charset="-122"/>
              </a:rPr>
              <a:t>Chapter 1: From Beginning to End</a:t>
            </a:r>
            <a:r>
              <a:rPr lang="zh-CN" altLang="en-US" sz="2600" dirty="0">
                <a:ea typeface="宋体" panose="02010600030101010101" pitchFamily="2" charset="-122"/>
              </a:rPr>
              <a:t>（从开始到结束）</a:t>
            </a:r>
            <a:endParaRPr lang="en-US" altLang="zh-CN" sz="26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Small project overview emphasizing analysis and design and iterative development</a:t>
            </a:r>
            <a:r>
              <a:rPr lang="zh-CN" altLang="en-US" sz="2200" dirty="0">
                <a:ea typeface="宋体" panose="02010600030101010101" pitchFamily="2" charset="-122"/>
              </a:rPr>
              <a:t>（系统开发生命周期）</a:t>
            </a:r>
            <a:endParaRPr lang="en-US" altLang="zh-CN" sz="2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Done!</a:t>
            </a:r>
          </a:p>
          <a:p>
            <a:pPr lvl="1" eaLnBrk="1" hangingPunct="1">
              <a:lnSpc>
                <a:spcPct val="90000"/>
              </a:lnSpc>
            </a:pPr>
            <a:endParaRPr lang="en-US" altLang="zh-CN" sz="2200" dirty="0">
              <a:ea typeface="宋体" panose="02010600030101010101" pitchFamily="2" charset="-122"/>
            </a:endParaRPr>
          </a:p>
          <a:p>
            <a:pPr eaLnBrk="1" hangingPunct="1">
              <a:lnSpc>
                <a:spcPct val="90000"/>
              </a:lnSpc>
            </a:pPr>
            <a:r>
              <a:rPr lang="en-US" altLang="zh-CN" sz="2600" dirty="0">
                <a:ea typeface="宋体" panose="02010600030101010101" pitchFamily="2" charset="-122"/>
              </a:rPr>
              <a:t>Chapter 2: Investigating System Requirements</a:t>
            </a:r>
            <a:r>
              <a:rPr lang="zh-CN" altLang="en-US" sz="2600" dirty="0">
                <a:ea typeface="宋体" panose="02010600030101010101" pitchFamily="2" charset="-122"/>
              </a:rPr>
              <a:t>（需求）</a:t>
            </a:r>
            <a:endParaRPr lang="en-US" altLang="zh-CN" sz="26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More about core process 3: Systems analysis activities</a:t>
            </a:r>
          </a:p>
          <a:p>
            <a:pPr lvl="1" eaLnBrk="1" hangingPunct="1">
              <a:lnSpc>
                <a:spcPct val="90000"/>
              </a:lnSpc>
            </a:pPr>
            <a:endParaRPr lang="en-US" altLang="zh-CN" sz="2200" dirty="0">
              <a:ea typeface="宋体" panose="02010600030101010101" pitchFamily="2" charset="-122"/>
            </a:endParaRPr>
          </a:p>
          <a:p>
            <a:pPr eaLnBrk="1" hangingPunct="1">
              <a:lnSpc>
                <a:spcPct val="90000"/>
              </a:lnSpc>
            </a:pPr>
            <a:r>
              <a:rPr lang="en-US" altLang="zh-CN" sz="2600" dirty="0">
                <a:ea typeface="宋体" panose="02010600030101010101" pitchFamily="2" charset="-122"/>
              </a:rPr>
              <a:t>Chapter 3: Use Cases</a:t>
            </a:r>
            <a:r>
              <a:rPr lang="zh-CN" altLang="en-US" sz="2600" dirty="0">
                <a:ea typeface="宋体" panose="02010600030101010101" pitchFamily="2" charset="-122"/>
              </a:rPr>
              <a:t>（用例）</a:t>
            </a:r>
            <a:endParaRPr lang="en-US" altLang="zh-CN" sz="26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Techniques for Identifying and modeling use cases for systems analysis</a:t>
            </a:r>
          </a:p>
          <a:p>
            <a:pPr lvl="1" eaLnBrk="1" hangingPunct="1">
              <a:lnSpc>
                <a:spcPct val="90000"/>
              </a:lnSpc>
            </a:pPr>
            <a:endParaRPr lang="en-US" altLang="zh-CN" sz="2200" dirty="0">
              <a:ea typeface="宋体" panose="02010600030101010101" pitchFamily="2" charset="-122"/>
            </a:endParaRPr>
          </a:p>
        </p:txBody>
      </p:sp>
      <p:sp>
        <p:nvSpPr>
          <p:cNvPr id="71685" name="Footer Placeholder 4">
            <a:extLst>
              <a:ext uri="{FF2B5EF4-FFF2-40B4-BE49-F238E27FC236}">
                <a16:creationId xmlns:a16="http://schemas.microsoft.com/office/drawing/2014/main" id="{E3EAAB99-04EE-4C58-B094-56621308360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71686" name="Rectangle 4">
            <a:extLst>
              <a:ext uri="{FF2B5EF4-FFF2-40B4-BE49-F238E27FC236}">
                <a16:creationId xmlns:a16="http://schemas.microsoft.com/office/drawing/2014/main" id="{5829C686-D616-4A67-8EA7-676A16F2AD1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a:extLst>
              <a:ext uri="{FF2B5EF4-FFF2-40B4-BE49-F238E27FC236}">
                <a16:creationId xmlns:a16="http://schemas.microsoft.com/office/drawing/2014/main" id="{0C1F05EA-7007-4135-AE6B-4ADC418F0B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27E4DFEA-49C9-44EE-86C8-56774761185B}" type="slidenum">
              <a:rPr lang="en-US" altLang="en-US" sz="1000"/>
              <a:pPr eaLnBrk="1" hangingPunct="1">
                <a:spcBef>
                  <a:spcPct val="0"/>
                </a:spcBef>
                <a:buClrTx/>
                <a:buSzTx/>
                <a:buFontTx/>
                <a:buNone/>
              </a:pPr>
              <a:t>78</a:t>
            </a:fld>
            <a:endParaRPr lang="en-US" altLang="en-US" sz="1000"/>
          </a:p>
        </p:txBody>
      </p:sp>
      <p:sp>
        <p:nvSpPr>
          <p:cNvPr id="72707" name="Rectangle 2">
            <a:extLst>
              <a:ext uri="{FF2B5EF4-FFF2-40B4-BE49-F238E27FC236}">
                <a16:creationId xmlns:a16="http://schemas.microsoft.com/office/drawing/2014/main" id="{F876C7E5-A02D-4AF7-9FA5-8BD7B34AF990}"/>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Where You Are Headed</a:t>
            </a:r>
          </a:p>
        </p:txBody>
      </p:sp>
      <p:sp>
        <p:nvSpPr>
          <p:cNvPr id="72708" name="Rectangle 3">
            <a:extLst>
              <a:ext uri="{FF2B5EF4-FFF2-40B4-BE49-F238E27FC236}">
                <a16:creationId xmlns:a16="http://schemas.microsoft.com/office/drawing/2014/main" id="{31ED52B1-00A4-47D3-8F1A-C4296BBF41A4}"/>
              </a:ext>
            </a:extLst>
          </p:cNvPr>
          <p:cNvSpPr>
            <a:spLocks noGrp="1" noChangeArrowheads="1"/>
          </p:cNvSpPr>
          <p:nvPr>
            <p:ph type="body" idx="1"/>
          </p:nvPr>
        </p:nvSpPr>
        <p:spPr>
          <a:xfrm>
            <a:off x="457200" y="1524000"/>
            <a:ext cx="8229600" cy="4606925"/>
          </a:xfrm>
        </p:spPr>
        <p:txBody>
          <a:bodyPr/>
          <a:lstStyle/>
          <a:p>
            <a:pPr eaLnBrk="1" hangingPunct="1">
              <a:lnSpc>
                <a:spcPct val="90000"/>
              </a:lnSpc>
            </a:pPr>
            <a:r>
              <a:rPr lang="en-US" altLang="zh-CN" sz="2600" dirty="0">
                <a:ea typeface="宋体" panose="02010600030101010101" pitchFamily="2" charset="-122"/>
              </a:rPr>
              <a:t>Chapter 4: Domain Modeling</a:t>
            </a:r>
            <a:r>
              <a:rPr lang="zh-CN" altLang="en-US" sz="2600" dirty="0">
                <a:ea typeface="宋体" panose="02010600030101010101" pitchFamily="2" charset="-122"/>
              </a:rPr>
              <a:t>（域建模）</a:t>
            </a:r>
            <a:endParaRPr lang="en-US" altLang="zh-CN" sz="26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Techniques for Identifying and modeling domain classes for systems analysis</a:t>
            </a:r>
          </a:p>
          <a:p>
            <a:pPr lvl="1" eaLnBrk="1" hangingPunct="1">
              <a:lnSpc>
                <a:spcPct val="90000"/>
              </a:lnSpc>
            </a:pPr>
            <a:endParaRPr lang="en-US" altLang="zh-CN" sz="2200" dirty="0">
              <a:ea typeface="宋体" panose="02010600030101010101" pitchFamily="2" charset="-122"/>
            </a:endParaRPr>
          </a:p>
          <a:p>
            <a:pPr eaLnBrk="1" hangingPunct="1">
              <a:lnSpc>
                <a:spcPct val="90000"/>
              </a:lnSpc>
            </a:pPr>
            <a:r>
              <a:rPr lang="en-US" altLang="zh-CN" sz="2600" dirty="0">
                <a:ea typeface="宋体" panose="02010600030101010101" pitchFamily="2" charset="-122"/>
              </a:rPr>
              <a:t>Chapter 5: Extending the Requirements Models</a:t>
            </a:r>
            <a:r>
              <a:rPr lang="zh-CN" altLang="en-US" sz="2600" dirty="0">
                <a:ea typeface="宋体" panose="02010600030101010101" pitchFamily="2" charset="-122"/>
              </a:rPr>
              <a:t>（扩展需求模型）</a:t>
            </a:r>
            <a:endParaRPr lang="en-US" altLang="zh-CN" sz="26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Modeling more details about use cases and domain classes for systems analysis</a:t>
            </a:r>
          </a:p>
        </p:txBody>
      </p:sp>
      <p:sp>
        <p:nvSpPr>
          <p:cNvPr id="72709" name="Footer Placeholder 4">
            <a:extLst>
              <a:ext uri="{FF2B5EF4-FFF2-40B4-BE49-F238E27FC236}">
                <a16:creationId xmlns:a16="http://schemas.microsoft.com/office/drawing/2014/main" id="{71EACB20-4F02-49F4-9974-D628FA5C258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72710" name="Rectangle 4">
            <a:extLst>
              <a:ext uri="{FF2B5EF4-FFF2-40B4-BE49-F238E27FC236}">
                <a16:creationId xmlns:a16="http://schemas.microsoft.com/office/drawing/2014/main" id="{3C337791-19C2-4516-B5AF-9A5D9F4B6BE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a:extLst>
              <a:ext uri="{FF2B5EF4-FFF2-40B4-BE49-F238E27FC236}">
                <a16:creationId xmlns:a16="http://schemas.microsoft.com/office/drawing/2014/main" id="{BFFB9A0D-59B3-4194-BAEC-D55C8009A2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101153E3-8F08-4AAD-BCC7-BB9191885795}" type="slidenum">
              <a:rPr lang="en-US" altLang="en-US" sz="1000"/>
              <a:pPr eaLnBrk="1" hangingPunct="1">
                <a:spcBef>
                  <a:spcPct val="0"/>
                </a:spcBef>
                <a:buClrTx/>
                <a:buSzTx/>
                <a:buFontTx/>
                <a:buNone/>
              </a:pPr>
              <a:t>79</a:t>
            </a:fld>
            <a:endParaRPr lang="en-US" altLang="en-US" sz="1000"/>
          </a:p>
        </p:txBody>
      </p:sp>
      <p:sp>
        <p:nvSpPr>
          <p:cNvPr id="73731" name="Rectangle 2">
            <a:extLst>
              <a:ext uri="{FF2B5EF4-FFF2-40B4-BE49-F238E27FC236}">
                <a16:creationId xmlns:a16="http://schemas.microsoft.com/office/drawing/2014/main" id="{FBD34843-6C38-42F5-8B59-C071411C263A}"/>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Where You Are Headed</a:t>
            </a:r>
          </a:p>
        </p:txBody>
      </p:sp>
      <p:sp>
        <p:nvSpPr>
          <p:cNvPr id="73732" name="Rectangle 3">
            <a:extLst>
              <a:ext uri="{FF2B5EF4-FFF2-40B4-BE49-F238E27FC236}">
                <a16:creationId xmlns:a16="http://schemas.microsoft.com/office/drawing/2014/main" id="{2745ED25-E83D-4272-9143-B9AA5A15DA75}"/>
              </a:ext>
            </a:extLst>
          </p:cNvPr>
          <p:cNvSpPr>
            <a:spLocks noGrp="1" noChangeArrowheads="1"/>
          </p:cNvSpPr>
          <p:nvPr>
            <p:ph type="body" idx="1"/>
          </p:nvPr>
        </p:nvSpPr>
        <p:spPr>
          <a:xfrm>
            <a:off x="266700" y="1250755"/>
            <a:ext cx="8610600" cy="4606925"/>
          </a:xfrm>
        </p:spPr>
        <p:txBody>
          <a:bodyPr/>
          <a:lstStyle/>
          <a:p>
            <a:pPr eaLnBrk="1" hangingPunct="1"/>
            <a:r>
              <a:rPr lang="en-US" altLang="zh-CN" sz="2600" dirty="0">
                <a:ea typeface="宋体" panose="02010600030101010101" pitchFamily="2" charset="-122"/>
              </a:rPr>
              <a:t>Chapter 6: Essentials of Design</a:t>
            </a:r>
            <a:r>
              <a:rPr lang="zh-CN" altLang="en-US" sz="2600" dirty="0">
                <a:ea typeface="宋体" panose="02010600030101010101" pitchFamily="2" charset="-122"/>
              </a:rPr>
              <a:t>（设计）</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More about core process 4: system design activities</a:t>
            </a:r>
          </a:p>
          <a:p>
            <a:pPr eaLnBrk="1" hangingPunct="1"/>
            <a:r>
              <a:rPr lang="en-US" altLang="zh-CN" sz="2600" dirty="0">
                <a:ea typeface="宋体" panose="02010600030101010101" pitchFamily="2" charset="-122"/>
              </a:rPr>
              <a:t>Chapter 7: Designing User and System Interfaces</a:t>
            </a:r>
            <a:r>
              <a:rPr lang="zh-CN" altLang="en-US" sz="2600" dirty="0">
                <a:ea typeface="宋体" panose="02010600030101010101" pitchFamily="2" charset="-122"/>
              </a:rPr>
              <a:t>（接口）</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Human computer interaction, user interface design principles, outputs and reports, system interfaces</a:t>
            </a:r>
          </a:p>
          <a:p>
            <a:pPr eaLnBrk="1" hangingPunct="1"/>
            <a:r>
              <a:rPr lang="en-US" altLang="zh-CN" sz="2600" dirty="0">
                <a:ea typeface="宋体" panose="02010600030101010101" pitchFamily="2" charset="-122"/>
              </a:rPr>
              <a:t>Chapter 8: Approaches to System Development</a:t>
            </a:r>
            <a:r>
              <a:rPr lang="zh-CN" altLang="en-US" sz="2600" dirty="0">
                <a:ea typeface="宋体" panose="02010600030101010101" pitchFamily="2" charset="-122"/>
              </a:rPr>
              <a:t>（系统开发）</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More about the SDLC, models, tools, techniques, and agile methodologies</a:t>
            </a:r>
          </a:p>
          <a:p>
            <a:pPr eaLnBrk="1" hangingPunct="1"/>
            <a:r>
              <a:rPr lang="en-US" altLang="zh-CN" sz="2600" dirty="0">
                <a:ea typeface="宋体" panose="02010600030101010101" pitchFamily="2" charset="-122"/>
              </a:rPr>
              <a:t>Chapter 9: Project Planning and Project Management</a:t>
            </a:r>
            <a:r>
              <a:rPr lang="zh-CN" altLang="en-US" sz="2600" dirty="0">
                <a:ea typeface="宋体" panose="02010600030101010101" pitchFamily="2" charset="-122"/>
              </a:rPr>
              <a:t>（项目计划和项目管理）</a:t>
            </a:r>
            <a:endParaRPr lang="en-US" altLang="zh-CN" sz="2600" dirty="0">
              <a:ea typeface="宋体" panose="02010600030101010101" pitchFamily="2" charset="-122"/>
            </a:endParaRPr>
          </a:p>
        </p:txBody>
      </p:sp>
      <p:sp>
        <p:nvSpPr>
          <p:cNvPr id="73733" name="Footer Placeholder 4">
            <a:extLst>
              <a:ext uri="{FF2B5EF4-FFF2-40B4-BE49-F238E27FC236}">
                <a16:creationId xmlns:a16="http://schemas.microsoft.com/office/drawing/2014/main" id="{9959F83E-74B9-4612-AAEB-AD98A8708C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73734" name="Rectangle 4">
            <a:extLst>
              <a:ext uri="{FF2B5EF4-FFF2-40B4-BE49-F238E27FC236}">
                <a16:creationId xmlns:a16="http://schemas.microsoft.com/office/drawing/2014/main" id="{56938BFE-152F-45DE-A691-8152BC1D11D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5">
            <a:extLst>
              <a:ext uri="{FF2B5EF4-FFF2-40B4-BE49-F238E27FC236}">
                <a16:creationId xmlns:a16="http://schemas.microsoft.com/office/drawing/2014/main" id="{4CE496B3-3A4E-48C2-A3B1-8896C60143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FA4C07DD-B9A7-4D15-92AF-EA79BB5A5046}" type="slidenum">
              <a:rPr lang="en-US" altLang="en-US" sz="1000"/>
              <a:pPr eaLnBrk="1" hangingPunct="1">
                <a:spcBef>
                  <a:spcPct val="0"/>
                </a:spcBef>
                <a:buClrTx/>
                <a:buSzTx/>
                <a:buFontTx/>
                <a:buNone/>
              </a:pPr>
              <a:t>80</a:t>
            </a:fld>
            <a:endParaRPr lang="en-US" altLang="en-US" sz="1000"/>
          </a:p>
        </p:txBody>
      </p:sp>
      <p:sp>
        <p:nvSpPr>
          <p:cNvPr id="74755" name="Rectangle 2">
            <a:extLst>
              <a:ext uri="{FF2B5EF4-FFF2-40B4-BE49-F238E27FC236}">
                <a16:creationId xmlns:a16="http://schemas.microsoft.com/office/drawing/2014/main" id="{26C5068F-287B-47F6-81F4-2C0CDB52F2A8}"/>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Where You Are Headed</a:t>
            </a:r>
          </a:p>
        </p:txBody>
      </p:sp>
      <p:sp>
        <p:nvSpPr>
          <p:cNvPr id="74756" name="Rectangle 3">
            <a:extLst>
              <a:ext uri="{FF2B5EF4-FFF2-40B4-BE49-F238E27FC236}">
                <a16:creationId xmlns:a16="http://schemas.microsoft.com/office/drawing/2014/main" id="{CF7BF998-54A9-49D0-993E-DDCE8632F94B}"/>
              </a:ext>
            </a:extLst>
          </p:cNvPr>
          <p:cNvSpPr>
            <a:spLocks noGrp="1" noChangeArrowheads="1"/>
          </p:cNvSpPr>
          <p:nvPr>
            <p:ph type="body" idx="1"/>
          </p:nvPr>
        </p:nvSpPr>
        <p:spPr>
          <a:xfrm>
            <a:off x="457200" y="1524000"/>
            <a:ext cx="8229600" cy="4606925"/>
          </a:xfrm>
        </p:spPr>
        <p:txBody>
          <a:bodyPr/>
          <a:lstStyle/>
          <a:p>
            <a:pPr eaLnBrk="1" hangingPunct="1"/>
            <a:r>
              <a:rPr lang="en-US" altLang="zh-CN" sz="2600" dirty="0">
                <a:ea typeface="宋体" panose="02010600030101010101" pitchFamily="2" charset="-122"/>
              </a:rPr>
              <a:t>Chapter 10: Object-Oriented Design: Principles</a:t>
            </a:r>
            <a:r>
              <a:rPr lang="zh-CN" altLang="en-US" sz="2600" dirty="0">
                <a:ea typeface="宋体" panose="02010600030101010101" pitchFamily="2" charset="-122"/>
              </a:rPr>
              <a:t>（面向对象设计原则）</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Design principles, design models, and designing use cases</a:t>
            </a:r>
          </a:p>
          <a:p>
            <a:pPr eaLnBrk="1" hangingPunct="1"/>
            <a:r>
              <a:rPr lang="en-US" altLang="zh-CN" sz="2600" dirty="0">
                <a:ea typeface="宋体" panose="02010600030101010101" pitchFamily="2" charset="-122"/>
              </a:rPr>
              <a:t>Chapter 11: Object-Oriented Design: Use Case Realization</a:t>
            </a:r>
            <a:r>
              <a:rPr lang="zh-CN" altLang="en-US" sz="2600" dirty="0">
                <a:ea typeface="宋体" panose="02010600030101010101" pitchFamily="2" charset="-122"/>
              </a:rPr>
              <a:t>（面向对象设计）</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Three layer design and design patterns</a:t>
            </a:r>
          </a:p>
          <a:p>
            <a:pPr eaLnBrk="1" hangingPunct="1"/>
            <a:r>
              <a:rPr lang="en-US" altLang="zh-CN" sz="2600" dirty="0">
                <a:ea typeface="宋体" panose="02010600030101010101" pitchFamily="2" charset="-122"/>
              </a:rPr>
              <a:t>Chapter 12: Databases, Controls, and Security</a:t>
            </a:r>
            <a:r>
              <a:rPr lang="zh-CN" altLang="en-US" sz="2600" dirty="0">
                <a:ea typeface="宋体" panose="02010600030101010101" pitchFamily="2" charset="-122"/>
              </a:rPr>
              <a:t>（数据库、控件和安全性）</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More about database design and protecting the integrity of the system. </a:t>
            </a:r>
          </a:p>
        </p:txBody>
      </p:sp>
      <p:sp>
        <p:nvSpPr>
          <p:cNvPr id="74757" name="Footer Placeholder 4">
            <a:extLst>
              <a:ext uri="{FF2B5EF4-FFF2-40B4-BE49-F238E27FC236}">
                <a16:creationId xmlns:a16="http://schemas.microsoft.com/office/drawing/2014/main" id="{77776079-63E4-447B-885B-0C04715E5B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Introduction to Systems Analysis and Design, 6th Edition</a:t>
            </a:r>
          </a:p>
        </p:txBody>
      </p:sp>
      <p:sp>
        <p:nvSpPr>
          <p:cNvPr id="74758" name="Rectangle 4">
            <a:extLst>
              <a:ext uri="{FF2B5EF4-FFF2-40B4-BE49-F238E27FC236}">
                <a16:creationId xmlns:a16="http://schemas.microsoft.com/office/drawing/2014/main" id="{B84E0BB9-F7AF-4C1D-84A9-5258EC7AE4D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3067</TotalTime>
  <Words>9238</Words>
  <Application>Microsoft Office PowerPoint</Application>
  <PresentationFormat>全屏显示(4:3)</PresentationFormat>
  <Paragraphs>828</Paragraphs>
  <Slides>80</Slides>
  <Notes>39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80</vt:i4>
      </vt:variant>
    </vt:vector>
  </HeadingPairs>
  <TitlesOfParts>
    <vt:vector size="90" baseType="lpstr">
      <vt:lpstr>ITC Avant Garde Std Bk</vt:lpstr>
      <vt:lpstr>PingFang SC</vt:lpstr>
      <vt:lpstr>微软雅黑</vt:lpstr>
      <vt:lpstr>Arial</vt:lpstr>
      <vt:lpstr>Broadway</vt:lpstr>
      <vt:lpstr>Calibri</vt:lpstr>
      <vt:lpstr>Tahoma</vt:lpstr>
      <vt:lpstr>Times New Roman</vt:lpstr>
      <vt:lpstr>Wingdings</vt:lpstr>
      <vt:lpstr>Network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Ridgeline Mountain Outfitters (RMO) </vt:lpstr>
      <vt:lpstr>Ridgeline Mountain Outfitters (RMO) </vt:lpstr>
      <vt:lpstr>Ridgeline Mountain Outfitters (RMO) </vt:lpstr>
      <vt:lpstr>RMO Tradeshow System </vt:lpstr>
      <vt:lpstr>Pre-Project Activities</vt:lpstr>
      <vt:lpstr>System Vision Document  Problem description： 为什么要做？  System capabilities： 做什么？  Business benefits： 能带来什么收益？ </vt:lpstr>
      <vt:lpstr>Problem Description </vt:lpstr>
      <vt:lpstr>System Capabilities</vt:lpstr>
      <vt:lpstr>Business Benefits</vt:lpstr>
      <vt:lpstr>Ridgeline Mountain Outfitters (RMO) </vt:lpstr>
      <vt:lpstr>Day 2 Activities </vt:lpstr>
      <vt:lpstr>Day 2 Activities </vt:lpstr>
      <vt:lpstr>Day 2 Activities </vt:lpstr>
      <vt:lpstr>Identify Use Cases Both subsystems </vt:lpstr>
      <vt:lpstr>Details Focus on Supplier Information Subsystem （供应商信息子系统细节）</vt:lpstr>
      <vt:lpstr>Use Case Diagram（用例图） Supplier information subsystem</vt:lpstr>
      <vt:lpstr>Activity Diagram (Workflow) 开发工作流图： 记录一个用例的细节  Look up supplier use case 1. 椭圆代表任务，菱形代表决策点 2. 穿越中心线的箭头代表了系统和用户之间的相互作用</vt:lpstr>
      <vt:lpstr>Day 2 Activities </vt:lpstr>
      <vt:lpstr>Identify Object Classes Both subsystems </vt:lpstr>
      <vt:lpstr>Preliminary Class Diagram Both subsystems </vt:lpstr>
      <vt:lpstr>Day 3 Activities </vt:lpstr>
      <vt:lpstr>Draft Screen Layout Look up supplier use case</vt:lpstr>
      <vt:lpstr>Day 3 Activities </vt:lpstr>
      <vt:lpstr>Database Schema</vt:lpstr>
      <vt:lpstr>Day 3 Activities </vt:lpstr>
      <vt:lpstr>Architectural Configuration Diagram</vt:lpstr>
      <vt:lpstr>Preliminary Design Class Diagram  Includes View Layer（视图层） Classes and Domain Layer（域层） Classes  Need to add Utility Classes（工具类） as well</vt:lpstr>
      <vt:lpstr>Subsystem Architectural Design Diagram （子系统架构设计图）</vt:lpstr>
      <vt:lpstr>Code Example for One Class</vt:lpstr>
      <vt:lpstr>Notes on Managing the Project （项目管理须知） </vt:lpstr>
      <vt:lpstr>Day 4&amp;5 Activities </vt:lpstr>
      <vt:lpstr>Workflow of Testing Tasks 测试任务流程</vt:lpstr>
      <vt:lpstr>Screen Capture for Look up supplier use case（查找供应商界面）</vt:lpstr>
      <vt:lpstr>Day 6 Activities </vt:lpstr>
      <vt:lpstr>First Iteration Recap （第一次迭代回顾） </vt:lpstr>
      <vt:lpstr>其余章节</vt:lpstr>
      <vt:lpstr>Where You Are Headed</vt:lpstr>
      <vt:lpstr>Where You Are Headed</vt:lpstr>
      <vt:lpstr>Where You Are Headed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161</cp:revision>
  <cp:lastPrinted>1601-01-01T00:00:00Z</cp:lastPrinted>
  <dcterms:created xsi:type="dcterms:W3CDTF">2011-10-31T16:54:53Z</dcterms:created>
  <dcterms:modified xsi:type="dcterms:W3CDTF">2026-03-02T03:57:47Z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