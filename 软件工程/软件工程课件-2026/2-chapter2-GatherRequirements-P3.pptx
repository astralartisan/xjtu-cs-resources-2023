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0" r:id="rId1"/>
  </p:sldMasterIdLst>
  <p:notesMasterIdLst>
    <p:notesMasterId r:id="rId68"/>
  </p:notesMasterIdLst>
  <p:sldIdLst>
    <p:sldId id="351" r:id="rId2"/>
    <p:sldId id="533" r:id="rId3"/>
    <p:sldId id="534" r:id="rId4"/>
    <p:sldId id="376" r:id="rId5"/>
    <p:sldId id="535" r:id="rId6"/>
    <p:sldId id="536" r:id="rId7"/>
    <p:sldId id="537" r:id="rId8"/>
    <p:sldId id="538" r:id="rId9"/>
    <p:sldId id="539" r:id="rId10"/>
    <p:sldId id="541" r:id="rId11"/>
    <p:sldId id="542" r:id="rId12"/>
    <p:sldId id="543" r:id="rId13"/>
    <p:sldId id="544" r:id="rId14"/>
    <p:sldId id="545" r:id="rId15"/>
    <p:sldId id="546" r:id="rId16"/>
    <p:sldId id="547" r:id="rId17"/>
    <p:sldId id="548" r:id="rId18"/>
    <p:sldId id="549" r:id="rId19"/>
    <p:sldId id="550" r:id="rId20"/>
    <p:sldId id="551" r:id="rId21"/>
    <p:sldId id="552" r:id="rId22"/>
    <p:sldId id="553" r:id="rId23"/>
    <p:sldId id="554" r:id="rId24"/>
    <p:sldId id="555" r:id="rId25"/>
    <p:sldId id="556" r:id="rId26"/>
    <p:sldId id="557" r:id="rId27"/>
    <p:sldId id="558" r:id="rId28"/>
    <p:sldId id="559" r:id="rId29"/>
    <p:sldId id="560" r:id="rId30"/>
    <p:sldId id="561" r:id="rId31"/>
    <p:sldId id="562" r:id="rId32"/>
    <p:sldId id="563" r:id="rId33"/>
    <p:sldId id="564" r:id="rId34"/>
    <p:sldId id="565" r:id="rId35"/>
    <p:sldId id="566" r:id="rId36"/>
    <p:sldId id="567" r:id="rId37"/>
    <p:sldId id="568" r:id="rId38"/>
    <p:sldId id="569" r:id="rId39"/>
    <p:sldId id="506" r:id="rId40"/>
    <p:sldId id="507" r:id="rId41"/>
    <p:sldId id="508" r:id="rId42"/>
    <p:sldId id="510" r:id="rId43"/>
    <p:sldId id="511" r:id="rId44"/>
    <p:sldId id="512" r:id="rId45"/>
    <p:sldId id="513" r:id="rId46"/>
    <p:sldId id="526" r:id="rId47"/>
    <p:sldId id="527" r:id="rId48"/>
    <p:sldId id="528" r:id="rId49"/>
    <p:sldId id="529" r:id="rId50"/>
    <p:sldId id="530" r:id="rId51"/>
    <p:sldId id="531" r:id="rId52"/>
    <p:sldId id="532" r:id="rId53"/>
    <p:sldId id="514" r:id="rId54"/>
    <p:sldId id="515" r:id="rId55"/>
    <p:sldId id="516" r:id="rId56"/>
    <p:sldId id="517" r:id="rId57"/>
    <p:sldId id="518" r:id="rId58"/>
    <p:sldId id="520" r:id="rId59"/>
    <p:sldId id="521" r:id="rId60"/>
    <p:sldId id="522" r:id="rId61"/>
    <p:sldId id="523" r:id="rId62"/>
    <p:sldId id="524" r:id="rId63"/>
    <p:sldId id="525" r:id="rId64"/>
    <p:sldId id="571" r:id="rId65"/>
    <p:sldId id="572" r:id="rId66"/>
    <p:sldId id="573" r:id="rId6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B847"/>
    <a:srgbClr val="5C2D91"/>
    <a:srgbClr val="F36F23"/>
    <a:srgbClr val="007DC5"/>
    <a:srgbClr val="FFFFFF"/>
    <a:srgbClr val="FF3300"/>
    <a:srgbClr val="0000FF"/>
    <a:srgbClr val="0099CC"/>
    <a:srgbClr val="33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91" autoAdjust="0"/>
    <p:restoredTop sz="65822" autoAdjust="0"/>
  </p:normalViewPr>
  <p:slideViewPr>
    <p:cSldViewPr>
      <p:cViewPr varScale="1">
        <p:scale>
          <a:sx n="105" d="100"/>
          <a:sy n="105" d="100"/>
        </p:scale>
        <p:origin x="76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8834AE0A-6294-4969-BA2B-DE879E09EE1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28C3A5F0-40E3-461A-AE08-11F2A0482F0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96566A02-51DB-4A13-8000-629135AE5DC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81" name="Rectangle 5">
            <a:extLst>
              <a:ext uri="{FF2B5EF4-FFF2-40B4-BE49-F238E27FC236}">
                <a16:creationId xmlns:a16="http://schemas.microsoft.com/office/drawing/2014/main" id="{01FA48C7-E36C-4F3D-B711-417DA9D3732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5782" name="Rectangle 6">
            <a:extLst>
              <a:ext uri="{FF2B5EF4-FFF2-40B4-BE49-F238E27FC236}">
                <a16:creationId xmlns:a16="http://schemas.microsoft.com/office/drawing/2014/main" id="{7AB84DFC-118C-4113-A675-3B9144C8AC3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5783" name="Rectangle 7">
            <a:extLst>
              <a:ext uri="{FF2B5EF4-FFF2-40B4-BE49-F238E27FC236}">
                <a16:creationId xmlns:a16="http://schemas.microsoft.com/office/drawing/2014/main" id="{5F1850B5-51D2-4244-953C-0620D2C47F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D09110F-BF0E-4C67-9619-123B55BA0F73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2D754381-F9D4-4C68-8F1B-2F89CCFAF3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87EC6EF-C078-41D8-B809-CB989ADD7AED}" type="slidenum">
              <a:rPr kumimoji="0" lang="en-US" altLang="zh-CN"/>
              <a:pPr eaLnBrk="1" hangingPunct="1">
                <a:spcBef>
                  <a:spcPct val="0"/>
                </a:spcBef>
              </a:pPr>
              <a:t>2</a:t>
            </a:fld>
            <a:endParaRPr kumimoji="0" lang="en-US" altLang="zh-CN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F58281BB-B5F5-4E5C-9FBF-F200B523B0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D9201FDB-E5AF-46EC-8980-079107E071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本章提纲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RMO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综合销售和市场营销系统项目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系统分析活动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什么是需求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模型和建模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利益相关者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信息收集技术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用活动图记录工作流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本章目标：</a:t>
            </a:r>
            <a:endParaRPr lang="en-US" altLang="zh-CN" dirty="0"/>
          </a:p>
          <a:p>
            <a:endParaRPr lang="en-US" altLang="zh-CN" dirty="0"/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描述系统分析的活动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解释功能性需求和非功能性需求之间的区别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描述模型在系统分析中的作用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识别并理解不同类型的利益相关者及其对需求定义的贡献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描述信息收集技术，并确定每种技术的最佳应用时机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开发活动图来建模工作流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96990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本章目标：</a:t>
            </a:r>
            <a:endParaRPr lang="en-US" altLang="zh-CN" dirty="0"/>
          </a:p>
          <a:p>
            <a:endParaRPr lang="en-US" altLang="zh-CN" dirty="0"/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描述系统分析的活动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解释功能性需求和非功能性需求之间的区别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描述模型在系统分析中的作用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识别并理解不同类型的利益相关者及其对需求定义的贡献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描述信息收集技术，并确定每种技术的最佳应用时机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开发活动图来建模工作流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00776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2D754381-F9D4-4C68-8F1B-2F89CCFAF3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87EC6EF-C078-41D8-B809-CB989ADD7AED}" type="slidenum">
              <a:rPr kumimoji="0" lang="en-US" altLang="zh-CN"/>
              <a:pPr eaLnBrk="1" hangingPunct="1">
                <a:spcBef>
                  <a:spcPct val="0"/>
                </a:spcBef>
              </a:pPr>
              <a:t>5</a:t>
            </a:fld>
            <a:endParaRPr kumimoji="0" lang="en-US" altLang="zh-CN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F58281BB-B5F5-4E5C-9FBF-F200B523B0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D9201FDB-E5AF-46EC-8980-079107E071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第一部分：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RMO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综合销售和市场营销系统项目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14617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RMO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现有应用程序体系结构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供应链管理</a:t>
            </a:r>
            <a:r>
              <a:rPr lang="en-US" altLang="zh-CN" dirty="0"/>
              <a:t>(SCM)</a:t>
            </a:r>
          </a:p>
          <a:p>
            <a:r>
              <a:rPr lang="en-US" altLang="zh-CN" dirty="0"/>
              <a:t>    </a:t>
            </a:r>
            <a:r>
              <a:rPr lang="zh-CN" altLang="en-US" dirty="0"/>
              <a:t>使用</a:t>
            </a:r>
            <a:r>
              <a:rPr lang="en-US" altLang="zh-CN" dirty="0"/>
              <a:t>5</a:t>
            </a:r>
            <a:r>
              <a:rPr lang="zh-CN" altLang="en-US" dirty="0"/>
              <a:t>年</a:t>
            </a:r>
            <a:r>
              <a:rPr lang="en-US" altLang="zh-CN" dirty="0"/>
              <a:t>;Java /Oracle</a:t>
            </a:r>
          </a:p>
          <a:p>
            <a:r>
              <a:rPr lang="en-US" altLang="zh-CN" dirty="0"/>
              <a:t>   </a:t>
            </a:r>
            <a:r>
              <a:rPr lang="zh-CN" altLang="en-US" dirty="0"/>
              <a:t>展会系统将与供应链交互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电话</a:t>
            </a:r>
            <a:r>
              <a:rPr lang="en-US" altLang="zh-CN" dirty="0"/>
              <a:t>/</a:t>
            </a:r>
            <a:r>
              <a:rPr lang="zh-CN" altLang="en-US" dirty="0"/>
              <a:t>邮购系统</a:t>
            </a:r>
            <a:endParaRPr lang="en-US" altLang="zh-CN" dirty="0"/>
          </a:p>
          <a:p>
            <a:r>
              <a:rPr lang="en-US" altLang="zh-CN" dirty="0"/>
              <a:t>   </a:t>
            </a:r>
            <a:r>
              <a:rPr lang="zh-CN" altLang="en-US" dirty="0"/>
              <a:t>使用</a:t>
            </a:r>
            <a:r>
              <a:rPr lang="en-US" altLang="zh-CN" dirty="0"/>
              <a:t>12</a:t>
            </a:r>
            <a:r>
              <a:rPr lang="zh-CN" altLang="en-US" dirty="0"/>
              <a:t>年</a:t>
            </a:r>
            <a:r>
              <a:rPr lang="en-US" altLang="zh-CN" dirty="0"/>
              <a:t>;Visual Studio/SQL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 达到最大产能；</a:t>
            </a:r>
          </a:p>
          <a:p>
            <a:endParaRPr lang="en-US" altLang="zh-CN" dirty="0"/>
          </a:p>
          <a:p>
            <a:r>
              <a:rPr lang="zh-CN" altLang="en-US" dirty="0"/>
              <a:t>零售商店</a:t>
            </a:r>
            <a:endParaRPr lang="en-US" altLang="zh-CN" dirty="0"/>
          </a:p>
          <a:p>
            <a:r>
              <a:rPr lang="en-US" altLang="zh-CN" dirty="0"/>
              <a:t>   </a:t>
            </a:r>
            <a:r>
              <a:rPr lang="zh-CN" altLang="en-US" dirty="0"/>
              <a:t>系统旧包解决方案</a:t>
            </a:r>
            <a:r>
              <a:rPr lang="en-US" altLang="zh-CN" dirty="0"/>
              <a:t>;</a:t>
            </a:r>
            <a:r>
              <a:rPr lang="zh-CN" altLang="en-US" dirty="0"/>
              <a:t>最小的集成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客户支援系统</a:t>
            </a:r>
            <a:r>
              <a:rPr lang="en-US" altLang="zh-CN" dirty="0"/>
              <a:t>(CSS)</a:t>
            </a:r>
          </a:p>
          <a:p>
            <a:r>
              <a:rPr lang="en-US" altLang="zh-CN" dirty="0"/>
              <a:t>   </a:t>
            </a:r>
            <a:r>
              <a:rPr lang="zh-CN" altLang="en-US" dirty="0"/>
              <a:t>基于</a:t>
            </a:r>
            <a:r>
              <a:rPr lang="en-US" altLang="zh-CN" dirty="0"/>
              <a:t>Web</a:t>
            </a:r>
            <a:r>
              <a:rPr lang="zh-CN" altLang="en-US" dirty="0"/>
              <a:t>的系统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</a:t>
            </a:r>
            <a:r>
              <a:rPr lang="zh-CN" altLang="en-US" dirty="0"/>
              <a:t>经过多年的发展，主要支持电话</a:t>
            </a:r>
            <a:r>
              <a:rPr lang="en-US" altLang="zh-CN" dirty="0"/>
              <a:t>/</a:t>
            </a:r>
            <a:r>
              <a:rPr lang="zh-CN" altLang="en-US" dirty="0"/>
              <a:t>邮购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82476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新的综合销售及市场推广系统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(CSMS)</a:t>
            </a:r>
          </a:p>
          <a:p>
            <a:endParaRPr lang="en-US" altLang="zh-CN" dirty="0"/>
          </a:p>
          <a:p>
            <a:r>
              <a:rPr lang="zh-CN" altLang="en-US" dirty="0"/>
              <a:t>销售子系统：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集成在线，电话和零售商店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订单实施子系统：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跟踪发货，评估产品和服务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endParaRPr lang="en-US" altLang="zh-CN" dirty="0"/>
          </a:p>
          <a:p>
            <a:r>
              <a:rPr lang="zh-CN" altLang="en-US" dirty="0"/>
              <a:t>顾客账务子系统：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购物记录，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“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山鹿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”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积分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市场营销子系统：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促销套餐，合作伙伴关系，更完整的商品信息和报告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69783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TSS </a:t>
            </a:r>
            <a:r>
              <a:rPr lang="zh-CN" altLang="en-US" dirty="0"/>
              <a:t>贸易展系统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供应链管理 （</a:t>
            </a:r>
            <a:r>
              <a:rPr lang="en-US" altLang="zh-CN" dirty="0"/>
              <a:t>SCM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综合销售及市场推广系统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(CSMS)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7978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2D754381-F9D4-4C68-8F1B-2F89CCFAF3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87EC6EF-C078-41D8-B809-CB989ADD7AED}" type="slidenum">
              <a:rPr kumimoji="0" lang="en-US" altLang="zh-CN"/>
              <a:pPr eaLnBrk="1" hangingPunct="1">
                <a:spcBef>
                  <a:spcPct val="0"/>
                </a:spcBef>
              </a:pPr>
              <a:t>9</a:t>
            </a:fld>
            <a:endParaRPr kumimoji="0" lang="en-US" altLang="zh-CN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F58281BB-B5F5-4E5C-9FBF-F200B523B0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D9201FDB-E5AF-46EC-8980-079107E071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第二部分：系统分析活动</a:t>
            </a:r>
            <a:endParaRPr lang="en-US" altLang="zh-CN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5755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收集详细信息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访谈，问卷调查，文件，观察业务流程，研究供应商，评论和建议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定义需求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对功能需求和非功能需求进行建模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优先考虑需求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必不可少的，重要的 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vs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提升功能性（有很好，没有影响不大）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开发用户界面对话框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用户和系统之间的交互流程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与用户一起评估需求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用户参与，反馈，适应变化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39533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2D754381-F9D4-4C68-8F1B-2F89CCFAF3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87EC6EF-C078-41D8-B809-CB989ADD7AED}" type="slidenum">
              <a:rPr kumimoji="0" lang="en-US" altLang="zh-CN"/>
              <a:pPr eaLnBrk="1" hangingPunct="1">
                <a:spcBef>
                  <a:spcPct val="0"/>
                </a:spcBef>
              </a:pPr>
              <a:t>11</a:t>
            </a:fld>
            <a:endParaRPr kumimoji="0" lang="en-US" altLang="zh-CN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F58281BB-B5F5-4E5C-9FBF-F200B523B0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D9201FDB-E5AF-46EC-8980-079107E071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第三部分：什么是需求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39455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系统要求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=</a:t>
            </a: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 功能需求</a:t>
            </a:r>
            <a:br>
              <a:rPr lang="zh-CN" altLang="en-US" dirty="0"/>
            </a:br>
            <a:r>
              <a:rPr lang="zh-CN" altLang="en-US" dirty="0"/>
              <a:t> 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非功能性需求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功能需求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——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系统必须执行的活动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  业务用途、功能由用户执行</a:t>
            </a:r>
            <a:br>
              <a:rPr lang="zh-CN" altLang="en-US" dirty="0"/>
            </a:br>
            <a:r>
              <a:rPr lang="zh-CN" altLang="en-US" dirty="0"/>
              <a:t>  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第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1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章中的用例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非功能需求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-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其他系统特征</a:t>
            </a:r>
            <a:br>
              <a:rPr lang="zh-CN" altLang="en-US" dirty="0"/>
            </a:br>
            <a:r>
              <a:rPr lang="zh-CN" altLang="en-US" dirty="0"/>
              <a:t> 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约束和性能目标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0276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用架构来识别和分类需求是一种常见方法，最常见的方法称为</a:t>
            </a:r>
            <a:r>
              <a:rPr lang="en-US" altLang="zh-CN" dirty="0"/>
              <a:t>FURPS+</a:t>
            </a:r>
          </a:p>
          <a:p>
            <a:endParaRPr lang="en-US" altLang="zh-CN" dirty="0"/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功能需求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可用性需求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可靠性要求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性能需求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安全需求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+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更多类别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5477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功能类别</a:t>
            </a:r>
            <a:r>
              <a:rPr lang="en-US" altLang="zh-CN" dirty="0"/>
              <a:t>	FRPS+</a:t>
            </a:r>
            <a:r>
              <a:rPr lang="zh-CN" altLang="en-US" dirty="0"/>
              <a:t>类别        例子</a:t>
            </a:r>
            <a:endParaRPr lang="en-US" altLang="zh-CN" dirty="0"/>
          </a:p>
          <a:p>
            <a:r>
              <a:rPr lang="zh-CN" altLang="en-US" dirty="0"/>
              <a:t>功能性需求      功能性需求       业务规则和流程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非功能性需求   可用性             用户界面，易用性</a:t>
            </a:r>
            <a:endParaRPr lang="en-US" altLang="zh-CN" dirty="0"/>
          </a:p>
          <a:p>
            <a:r>
              <a:rPr lang="en-US" altLang="zh-CN" dirty="0"/>
              <a:t>                       </a:t>
            </a:r>
            <a:r>
              <a:rPr lang="zh-CN" altLang="en-US" dirty="0"/>
              <a:t>可靠性             故障率，恢复方法</a:t>
            </a:r>
            <a:endParaRPr lang="en-US" altLang="zh-CN" dirty="0"/>
          </a:p>
          <a:p>
            <a:r>
              <a:rPr lang="en-US" altLang="zh-CN" dirty="0"/>
              <a:t>                       </a:t>
            </a:r>
            <a:r>
              <a:rPr lang="zh-CN" altLang="en-US" dirty="0"/>
              <a:t>效能                 响应时间，吞吐率</a:t>
            </a:r>
            <a:endParaRPr lang="en-US" altLang="zh-CN" dirty="0"/>
          </a:p>
          <a:p>
            <a:r>
              <a:rPr lang="en-US" altLang="zh-CN" dirty="0"/>
              <a:t>                       </a:t>
            </a:r>
            <a:r>
              <a:rPr lang="zh-CN" altLang="en-US" dirty="0"/>
              <a:t>安全                 访问控制，加密</a:t>
            </a:r>
            <a:endParaRPr lang="en-US" altLang="zh-CN" dirty="0"/>
          </a:p>
          <a:p>
            <a:r>
              <a:rPr lang="en-US" altLang="zh-CN" dirty="0"/>
              <a:t>                      +</a:t>
            </a:r>
            <a:r>
              <a:rPr lang="zh-CN" altLang="en-US" dirty="0"/>
              <a:t>设计限制        硬件条件和软件条件</a:t>
            </a:r>
            <a:endParaRPr lang="en-US" altLang="zh-CN" dirty="0"/>
          </a:p>
          <a:p>
            <a:r>
              <a:rPr lang="en-US" altLang="zh-CN" dirty="0"/>
              <a:t>                         </a:t>
            </a:r>
            <a:r>
              <a:rPr lang="zh-CN" altLang="en-US" dirty="0"/>
              <a:t>开发               开发工具，协议</a:t>
            </a:r>
            <a:endParaRPr lang="en-US" altLang="zh-CN" dirty="0"/>
          </a:p>
          <a:p>
            <a:r>
              <a:rPr lang="en-US" altLang="zh-CN" dirty="0"/>
              <a:t>                         </a:t>
            </a:r>
            <a:r>
              <a:rPr lang="zh-CN" altLang="en-US" dirty="0"/>
              <a:t>接口               数据交互格式</a:t>
            </a:r>
            <a:endParaRPr lang="en-US" altLang="zh-CN" dirty="0"/>
          </a:p>
          <a:p>
            <a:r>
              <a:rPr lang="en-US" altLang="zh-CN" dirty="0"/>
              <a:t>                         </a:t>
            </a:r>
            <a:r>
              <a:rPr lang="zh-CN" altLang="en-US" dirty="0"/>
              <a:t>物理层           大小，重量，能量要求</a:t>
            </a:r>
            <a:endParaRPr lang="en-US" altLang="zh-CN" dirty="0"/>
          </a:p>
          <a:p>
            <a:r>
              <a:rPr lang="en-US" altLang="zh-CN" dirty="0"/>
              <a:t>                        </a:t>
            </a:r>
            <a:r>
              <a:rPr lang="zh-CN" altLang="en-US" dirty="0"/>
              <a:t>支持                安装和更新              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77340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2D754381-F9D4-4C68-8F1B-2F89CCFAF3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87EC6EF-C078-41D8-B809-CB989ADD7AED}" type="slidenum">
              <a:rPr kumimoji="0" lang="en-US" altLang="zh-CN"/>
              <a:pPr eaLnBrk="1" hangingPunct="1">
                <a:spcBef>
                  <a:spcPct val="0"/>
                </a:spcBef>
              </a:pPr>
              <a:t>15</a:t>
            </a:fld>
            <a:endParaRPr kumimoji="0" lang="en-US" altLang="zh-CN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F58281BB-B5F5-4E5C-9FBF-F200B523B0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D9201FDB-E5AF-46EC-8980-079107E071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模型和建模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0069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如何表示需求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?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模型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——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正在构建的系统的某些方面的表示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模型类型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  文本模型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-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写下来，描述的东西</a:t>
            </a: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  图形模型。图解、示意图</a:t>
            </a: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  数学模型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-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公式，统计，算法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统一建模语言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(UML)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  用于信息系统的标准图形建模符号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/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术语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80657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一些分析和设计模型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事件列表   用例图   用例描述   位置图</a:t>
            </a:r>
            <a:endParaRPr lang="en-US" altLang="zh-CN" dirty="0"/>
          </a:p>
          <a:p>
            <a:r>
              <a:rPr lang="zh-CN" altLang="en-US" dirty="0"/>
              <a:t>类图          顺序图   通信图      状态机图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76224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建模的原因：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从建模过程中学习</a:t>
            </a: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通过抽象降低复杂性</a:t>
            </a: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记住所有的细节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与其他开发团队成员沟通</a:t>
            </a: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与各种用户和相关人员进行沟通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为将来的维护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/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增强记录所做的工作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55846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2D754381-F9D4-4C68-8F1B-2F89CCFAF3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87EC6EF-C078-41D8-B809-CB989ADD7AED}" type="slidenum">
              <a:rPr kumimoji="0" lang="en-US" altLang="zh-CN"/>
              <a:pPr eaLnBrk="1" hangingPunct="1">
                <a:spcBef>
                  <a:spcPct val="0"/>
                </a:spcBef>
              </a:pPr>
              <a:t>19</a:t>
            </a:fld>
            <a:endParaRPr kumimoji="0" lang="en-US" altLang="zh-CN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F58281BB-B5F5-4E5C-9FBF-F200B523B0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D9201FDB-E5AF-46EC-8980-079107E071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利益相关者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2661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利益相关者</a:t>
            </a:r>
            <a:endParaRPr lang="en-US" altLang="zh-CN" dirty="0"/>
          </a:p>
          <a:p>
            <a:endParaRPr lang="en-US" altLang="zh-CN" dirty="0"/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利益相关者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-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对系统的成功实施有兴趣的人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内部利益相关者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——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组织内部的人（管理人员）</a:t>
            </a: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外部利益相关者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——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组织外部的人（客户）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操作相关者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-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定期与系统互动的人（管理人员）</a:t>
            </a: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执行相关者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——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不直接互动，但使用信息或有经济利益的人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19478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例子：上市公司会计系统的利益相关者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内部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-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操作相关者：出纳，会计，内部审计师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dirty="0"/>
              <a:t>内部</a:t>
            </a:r>
            <a:r>
              <a:rPr lang="en-US" altLang="zh-CN" dirty="0"/>
              <a:t>-</a:t>
            </a:r>
            <a:r>
              <a:rPr lang="zh-CN" altLang="en-US" dirty="0"/>
              <a:t>执行相关者：高级经理，董事会</a:t>
            </a:r>
            <a:endParaRPr lang="en-US" altLang="zh-CN" dirty="0"/>
          </a:p>
          <a:p>
            <a:r>
              <a:rPr lang="en-US" altLang="zh-CN" dirty="0"/>
              <a:t>Both</a:t>
            </a:r>
            <a:r>
              <a:rPr lang="zh-CN" altLang="en-US" dirty="0"/>
              <a:t>：业务经理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外部</a:t>
            </a:r>
            <a:r>
              <a:rPr lang="en-US" altLang="zh-CN" dirty="0"/>
              <a:t>-</a:t>
            </a:r>
            <a:r>
              <a:rPr lang="zh-CN" altLang="en-US" dirty="0"/>
              <a:t>操作相关者：合作伙伴组织；客户</a:t>
            </a:r>
            <a:endParaRPr lang="en-US" altLang="zh-CN" dirty="0"/>
          </a:p>
          <a:p>
            <a:r>
              <a:rPr lang="zh-CN" altLang="en-US" dirty="0"/>
              <a:t>外部</a:t>
            </a:r>
            <a:r>
              <a:rPr lang="en-US" altLang="zh-CN" dirty="0"/>
              <a:t>-</a:t>
            </a:r>
            <a:r>
              <a:rPr lang="zh-CN" altLang="en-US" dirty="0"/>
              <a:t>执行相关者：投资者，监管机构</a:t>
            </a:r>
            <a:endParaRPr lang="en-US" altLang="zh-CN" dirty="0"/>
          </a:p>
          <a:p>
            <a:r>
              <a:rPr lang="en-US" altLang="zh-CN" dirty="0"/>
              <a:t>Both</a:t>
            </a:r>
            <a:r>
              <a:rPr lang="zh-CN" altLang="en-US" dirty="0"/>
              <a:t>：外部审计师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90698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RMO </a:t>
            </a:r>
            <a:r>
              <a:rPr lang="en-US" altLang="zh-CN" b="0" i="0" dirty="0" err="1">
                <a:solidFill>
                  <a:srgbClr val="2A2B2E"/>
                </a:solidFill>
                <a:effectLst/>
                <a:latin typeface="PingFang SC"/>
              </a:rPr>
              <a:t>csmS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项目的相关者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电话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/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邮件销售订单员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br>
              <a:rPr lang="zh-CN" altLang="en-US" dirty="0"/>
            </a:b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仓库和运输人员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br>
              <a:rPr lang="zh-CN" altLang="en-US" dirty="0"/>
            </a:b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维护在线目录信息的营销人员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市场营销、销售和财务经理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高级管理人员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客户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外部托运人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(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如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UPS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和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FedEx)</a:t>
            </a:r>
          </a:p>
          <a:p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29067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订单订购人员</a:t>
            </a:r>
            <a:endParaRPr lang="en-US" altLang="zh-CN" dirty="0"/>
          </a:p>
          <a:p>
            <a:r>
              <a:rPr lang="zh-CN" altLang="en-US" dirty="0"/>
              <a:t>仓库和运送人员</a:t>
            </a:r>
            <a:endParaRPr lang="en-US" altLang="zh-CN" dirty="0"/>
          </a:p>
          <a:p>
            <a:r>
              <a:rPr lang="zh-CN" altLang="en-US" dirty="0"/>
              <a:t>维护在线目录信息的营销人员</a:t>
            </a:r>
            <a:endParaRPr lang="en-US" altLang="zh-CN" dirty="0"/>
          </a:p>
          <a:p>
            <a:r>
              <a:rPr lang="zh-CN" altLang="en-US" dirty="0"/>
              <a:t>营销、销售、会计和财政经理</a:t>
            </a:r>
            <a:endParaRPr lang="en-US" altLang="zh-CN" dirty="0"/>
          </a:p>
          <a:p>
            <a:r>
              <a:rPr lang="zh-CN" altLang="en-US" dirty="0"/>
              <a:t>高级管理员</a:t>
            </a:r>
            <a:endParaRPr lang="en-US" altLang="zh-CN" dirty="0"/>
          </a:p>
          <a:p>
            <a:r>
              <a:rPr lang="zh-CN" altLang="en-US" dirty="0"/>
              <a:t>消费者</a:t>
            </a:r>
            <a:endParaRPr lang="en-US" altLang="zh-CN" dirty="0"/>
          </a:p>
          <a:p>
            <a:r>
              <a:rPr lang="zh-CN" altLang="en-US" dirty="0"/>
              <a:t>外部运送人员（例如</a:t>
            </a:r>
            <a:r>
              <a:rPr lang="en-US" altLang="zh-CN" dirty="0"/>
              <a:t>UPS</a:t>
            </a:r>
            <a:r>
              <a:rPr lang="zh-CN" altLang="en-US" dirty="0"/>
              <a:t>和</a:t>
            </a:r>
            <a:r>
              <a:rPr lang="en-US" altLang="zh-CN" dirty="0"/>
              <a:t>FedEx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65569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首席</a:t>
            </a:r>
            <a:r>
              <a:rPr lang="en-US" altLang="zh-CN" dirty="0"/>
              <a:t>CEO</a:t>
            </a:r>
          </a:p>
          <a:p>
            <a:endParaRPr lang="en-US" altLang="zh-CN" dirty="0"/>
          </a:p>
          <a:p>
            <a:r>
              <a:rPr lang="zh-CN" altLang="en-US" dirty="0"/>
              <a:t>经营和分销副总裁</a:t>
            </a:r>
            <a:endParaRPr lang="en-US" altLang="zh-CN" dirty="0"/>
          </a:p>
          <a:p>
            <a:r>
              <a:rPr lang="zh-CN" altLang="en-US" dirty="0"/>
              <a:t>市场营销和销售副总裁</a:t>
            </a:r>
            <a:endParaRPr lang="en-US" altLang="zh-CN" dirty="0"/>
          </a:p>
          <a:p>
            <a:r>
              <a:rPr lang="zh-CN" altLang="en-US" dirty="0"/>
              <a:t>财务和系统副总裁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42390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2D754381-F9D4-4C68-8F1B-2F89CCFAF3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87EC6EF-C078-41D8-B809-CB989ADD7AED}" type="slidenum">
              <a:rPr kumimoji="0" lang="en-US" altLang="zh-CN"/>
              <a:pPr eaLnBrk="1" hangingPunct="1">
                <a:spcBef>
                  <a:spcPct val="0"/>
                </a:spcBef>
              </a:pPr>
              <a:t>25</a:t>
            </a:fld>
            <a:endParaRPr kumimoji="0" lang="en-US" altLang="zh-CN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F58281BB-B5F5-4E5C-9FBF-F200B523B0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D9201FDB-E5AF-46EC-8980-079107E071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信息收集技术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9709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采访用户和其他利益相关者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发放及收集问卷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审查输入、输出和文档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观察和记录业务流程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研究供应商解决方案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收集活跃用户的意见和建议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1260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方式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1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：采访用户和其他利益相关者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准备详细的问题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与用户个人或群体会面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获取并讨论问题的答案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记录答案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在以后的会议或面试中跟进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261217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主题                                      给用户的提问</a:t>
            </a:r>
            <a:endParaRPr lang="en-US" altLang="zh-CN" dirty="0"/>
          </a:p>
          <a:p>
            <a:r>
              <a:rPr lang="zh-CN" altLang="en-US" dirty="0"/>
              <a:t>业务操作和流程是什么           你做什么？</a:t>
            </a:r>
            <a:endParaRPr lang="en-US" altLang="zh-CN" dirty="0"/>
          </a:p>
          <a:p>
            <a:r>
              <a:rPr lang="zh-CN" altLang="en-US" dirty="0"/>
              <a:t>这些操作如何完成                  你如何做这个业务？遵循什么步骤？还有什么不同的操作方法？</a:t>
            </a:r>
            <a:endParaRPr lang="en-US" altLang="zh-CN" dirty="0"/>
          </a:p>
          <a:p>
            <a:r>
              <a:rPr lang="zh-CN" altLang="en-US" dirty="0"/>
              <a:t>完成这些操作哪些信息是需要的？     你需要什么信息？你需要什么输入？你产生什么输出？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3557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方式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2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：派发及收集问卷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例子：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这个问卷被发给电话订单销售。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dirty="0"/>
              <a:t>第一部分：根据一个典型的四小时轮班来回答这些问题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zh-CN" altLang="en-US" dirty="0"/>
              <a:t>你收到多少订购电话？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zh-CN" altLang="en-US" dirty="0"/>
              <a:t>订购一个产品需要打几次电话？</a:t>
            </a:r>
            <a:endParaRPr lang="en-US" altLang="zh-CN" dirty="0"/>
          </a:p>
          <a:p>
            <a:r>
              <a:rPr lang="en-US" altLang="zh-CN" dirty="0"/>
              <a:t>   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64508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审核输入、输出和过程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姓名，地址，电话，是否是礼物，如果是礼物需不需要留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message</a:t>
            </a:r>
          </a:p>
          <a:p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付款的方式：信用卡，支票，礼品卡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dirty="0"/>
              <a:t>税额计算，运输方式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704417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其他方式：</a:t>
            </a:r>
            <a:endParaRPr lang="en-US" altLang="zh-CN" dirty="0"/>
          </a:p>
          <a:p>
            <a:endParaRPr lang="en-US" altLang="zh-CN" dirty="0"/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观察和记录业务流程</a:t>
            </a:r>
            <a:br>
              <a:rPr lang="zh-CN" altLang="en-US" dirty="0"/>
            </a:br>
            <a:r>
              <a:rPr lang="zh-CN" altLang="en-US" dirty="0"/>
              <a:t> 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观察和学习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带有活动图的文档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(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下一节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)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研究供应商解决方案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看看其他人在类似情况下是怎么做的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白皮书、供应商文献、竞争对手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收集活跃用户的意见和建议</a:t>
            </a:r>
            <a:br>
              <a:rPr lang="zh-CN" altLang="en-US" dirty="0"/>
            </a:br>
            <a:r>
              <a:rPr lang="zh-CN" altLang="en-US" dirty="0"/>
              <a:t> 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对模型和测试的反馈</a:t>
            </a:r>
            <a:br>
              <a:rPr lang="zh-CN" altLang="en-US" dirty="0"/>
            </a:br>
            <a:r>
              <a:rPr lang="zh-CN" altLang="en-US" dirty="0"/>
              <a:t> 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用户看到它就知道了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314469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2D754381-F9D4-4C68-8F1B-2F89CCFAF3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87EC6EF-C078-41D8-B809-CB989ADD7AED}" type="slidenum">
              <a:rPr kumimoji="0" lang="en-US" altLang="zh-CN"/>
              <a:pPr eaLnBrk="1" hangingPunct="1">
                <a:spcBef>
                  <a:spcPct val="0"/>
                </a:spcBef>
              </a:pPr>
              <a:t>32</a:t>
            </a:fld>
            <a:endParaRPr kumimoji="0" lang="en-US" altLang="zh-CN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F58281BB-B5F5-4E5C-9FBF-F200B523B0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D9201FDB-E5AF-46EC-8980-079107E071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用活动图记录工作流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14287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工作流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——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完成处理一个业务事务或客户请求的一系列处理步骤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活动图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——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描述用户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(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或系统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)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活动、执行每个活动的人员以及这些活动的顺序流</a:t>
            </a: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  用于显示工作流的图形化模型</a:t>
            </a:r>
          </a:p>
          <a:p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    UML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88453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泳道标题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开始活动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转移箭头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活动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结束活动</a:t>
            </a:r>
            <a:endParaRPr lang="en-US" altLang="zh-CN" dirty="0"/>
          </a:p>
          <a:p>
            <a:r>
              <a:rPr lang="en-US" altLang="zh-CN" dirty="0"/>
              <a:t>----------------------</a:t>
            </a:r>
          </a:p>
          <a:p>
            <a:r>
              <a:rPr lang="zh-CN" altLang="en-US" dirty="0"/>
              <a:t>同步条</a:t>
            </a:r>
            <a:endParaRPr lang="en-US" altLang="zh-CN" dirty="0"/>
          </a:p>
          <a:p>
            <a:r>
              <a:rPr lang="zh-CN" altLang="en-US" dirty="0"/>
              <a:t>决策活动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977412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具有并发路径的活动图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销售 （接受订单）  设计（技术参数）  采购（购买材料）  制作（控制计算机）  行程安排（安排生产）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018888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RMO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订单履行的活动图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订单系统   库存系统   仓库    运输公司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217024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请分析从一家餐厅网站订购外卖</a:t>
            </a:r>
            <a:r>
              <a:rPr lang="en-US" altLang="zh-CN" dirty="0"/>
              <a:t>(</a:t>
            </a:r>
            <a:r>
              <a:rPr lang="zh-CN" altLang="en-US" dirty="0"/>
              <a:t>外卖</a:t>
            </a:r>
            <a:r>
              <a:rPr lang="en-US" altLang="zh-CN" dirty="0"/>
              <a:t>)</a:t>
            </a:r>
            <a:r>
              <a:rPr lang="zh-CN" altLang="en-US" dirty="0"/>
              <a:t>的过程，然后用</a:t>
            </a:r>
            <a:r>
              <a:rPr lang="en-US" altLang="zh-CN" dirty="0"/>
              <a:t>UML</a:t>
            </a:r>
            <a:r>
              <a:rPr lang="zh-CN" altLang="en-US" dirty="0"/>
              <a:t>绘制一个活动图来合理地展示这个过程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007130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270571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系统分析包括定义系统需求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——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功能性和非功能性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分析活动包括</a:t>
            </a: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收集详细信息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定义需求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优先考虑需求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开发用户界面对话框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与用户一起评估需求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FURPS+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是功能、可用性、可靠性、性能和安全需求的缩写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64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843329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模型和建模用于探索和记录需求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模型表示系统的某些方面，可以包括文本模型、图形模型和数学模型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统一建模语言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(UML)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是用于信息系统模型的符号和术语的标准集合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65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206118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利益相关人是对项目的成功感兴趣的人</a:t>
            </a:r>
            <a:b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有内部利益相关者与外部利益相关者，运营利益相关者与执行利益相关者</a:t>
            </a:r>
            <a:b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信息收集技术用于收集有关项目的信息</a:t>
            </a:r>
            <a:b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</a:b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  访谈，问卷调查，审查文件，观察业务流程，研究供应商，提出意见和建议</a:t>
            </a:r>
            <a:b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UML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活动图用于在收集信息后记录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(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建模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)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工作流</a:t>
            </a:r>
          </a:p>
          <a:p>
            <a:br>
              <a:rPr lang="zh-CN" altLang="en-US" b="0" i="0" dirty="0">
                <a:solidFill>
                  <a:srgbClr val="939599"/>
                </a:solidFill>
                <a:effectLst/>
                <a:latin typeface="PingFang SC"/>
              </a:rPr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66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338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C&#35821;&#35328;&#31243;&#24207;&#35774;&#35745;&#65288;&#31532;&#20845;&#29256;&#65289;.ppt#-1,1,2. &#24187;&#28783;&#29255; 2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>
            <a:extLst>
              <a:ext uri="{FF2B5EF4-FFF2-40B4-BE49-F238E27FC236}">
                <a16:creationId xmlns:a16="http://schemas.microsoft.com/office/drawing/2014/main" id="{55708131-1EA9-4730-9BB5-474E7E833BE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8">
            <a:extLst>
              <a:ext uri="{FF2B5EF4-FFF2-40B4-BE49-F238E27FC236}">
                <a16:creationId xmlns:a16="http://schemas.microsoft.com/office/drawing/2014/main" id="{2916EEFB-B14C-4C39-82A8-FB25DD4576EA}"/>
              </a:ext>
            </a:extLst>
          </p:cNvPr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>
              <a:extLst>
                <a:ext uri="{FF2B5EF4-FFF2-40B4-BE49-F238E27FC236}">
                  <a16:creationId xmlns:a16="http://schemas.microsoft.com/office/drawing/2014/main" id="{5E5BA761-49DE-4E35-92FC-3C0310386F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7" name="Oval 10">
              <a:extLst>
                <a:ext uri="{FF2B5EF4-FFF2-40B4-BE49-F238E27FC236}">
                  <a16:creationId xmlns:a16="http://schemas.microsoft.com/office/drawing/2014/main" id="{1F359F5F-D9E8-4C94-AECC-4CB09C3642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8" name="Oval 11">
              <a:extLst>
                <a:ext uri="{FF2B5EF4-FFF2-40B4-BE49-F238E27FC236}">
                  <a16:creationId xmlns:a16="http://schemas.microsoft.com/office/drawing/2014/main" id="{32E9B337-372C-4542-9A25-4BE875AA5D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9" name="Oval 12">
              <a:extLst>
                <a:ext uri="{FF2B5EF4-FFF2-40B4-BE49-F238E27FC236}">
                  <a16:creationId xmlns:a16="http://schemas.microsoft.com/office/drawing/2014/main" id="{05C3FA47-6804-48AE-BD83-9A7A864968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0" name="Oval 13">
              <a:extLst>
                <a:ext uri="{FF2B5EF4-FFF2-40B4-BE49-F238E27FC236}">
                  <a16:creationId xmlns:a16="http://schemas.microsoft.com/office/drawing/2014/main" id="{931F7467-6950-42FD-80F1-82D4BDBAF6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" name="Oval 14">
              <a:extLst>
                <a:ext uri="{FF2B5EF4-FFF2-40B4-BE49-F238E27FC236}">
                  <a16:creationId xmlns:a16="http://schemas.microsoft.com/office/drawing/2014/main" id="{46AECF08-F1ED-4A9F-BD9D-D41AF4FE7C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2" name="Oval 15">
              <a:extLst>
                <a:ext uri="{FF2B5EF4-FFF2-40B4-BE49-F238E27FC236}">
                  <a16:creationId xmlns:a16="http://schemas.microsoft.com/office/drawing/2014/main" id="{46D360CF-80B3-48DF-83BE-B8474F8A5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3" name="Oval 16">
              <a:extLst>
                <a:ext uri="{FF2B5EF4-FFF2-40B4-BE49-F238E27FC236}">
                  <a16:creationId xmlns:a16="http://schemas.microsoft.com/office/drawing/2014/main" id="{386FBF04-1547-40F9-9541-7B99BFDAE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4" name="Oval 17">
              <a:extLst>
                <a:ext uri="{FF2B5EF4-FFF2-40B4-BE49-F238E27FC236}">
                  <a16:creationId xmlns:a16="http://schemas.microsoft.com/office/drawing/2014/main" id="{042ECE99-1102-4F77-A386-E57579176F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5" name="Oval 18">
              <a:extLst>
                <a:ext uri="{FF2B5EF4-FFF2-40B4-BE49-F238E27FC236}">
                  <a16:creationId xmlns:a16="http://schemas.microsoft.com/office/drawing/2014/main" id="{68E60111-7B53-450E-B66F-80B3144612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6" name="Oval 19">
              <a:extLst>
                <a:ext uri="{FF2B5EF4-FFF2-40B4-BE49-F238E27FC236}">
                  <a16:creationId xmlns:a16="http://schemas.microsoft.com/office/drawing/2014/main" id="{9EBE9023-3F57-468E-AB1D-6ABE3141FC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7" name="Oval 20">
              <a:extLst>
                <a:ext uri="{FF2B5EF4-FFF2-40B4-BE49-F238E27FC236}">
                  <a16:creationId xmlns:a16="http://schemas.microsoft.com/office/drawing/2014/main" id="{6B188D7E-7EB6-4A46-A05D-B9E515B4F0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8" name="Oval 21">
              <a:extLst>
                <a:ext uri="{FF2B5EF4-FFF2-40B4-BE49-F238E27FC236}">
                  <a16:creationId xmlns:a16="http://schemas.microsoft.com/office/drawing/2014/main" id="{F6654200-E07A-4CE8-B538-AEA591BCEB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9" name="Oval 22">
              <a:extLst>
                <a:ext uri="{FF2B5EF4-FFF2-40B4-BE49-F238E27FC236}">
                  <a16:creationId xmlns:a16="http://schemas.microsoft.com/office/drawing/2014/main" id="{71BBF235-312F-43EB-802E-01E18E8CD8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20" name="Oval 23">
              <a:extLst>
                <a:ext uri="{FF2B5EF4-FFF2-40B4-BE49-F238E27FC236}">
                  <a16:creationId xmlns:a16="http://schemas.microsoft.com/office/drawing/2014/main" id="{2EC847E7-3EC6-4F43-9056-CA3EEBE0DD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21" name="Oval 24">
              <a:extLst>
                <a:ext uri="{FF2B5EF4-FFF2-40B4-BE49-F238E27FC236}">
                  <a16:creationId xmlns:a16="http://schemas.microsoft.com/office/drawing/2014/main" id="{53F3792A-2783-4C84-A2D7-CEFE9FAAD8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22" name="Oval 25">
              <a:extLst>
                <a:ext uri="{FF2B5EF4-FFF2-40B4-BE49-F238E27FC236}">
                  <a16:creationId xmlns:a16="http://schemas.microsoft.com/office/drawing/2014/main" id="{0F927BE9-5114-4EBD-80A7-297F97657C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23" name="Oval 26">
              <a:extLst>
                <a:ext uri="{FF2B5EF4-FFF2-40B4-BE49-F238E27FC236}">
                  <a16:creationId xmlns:a16="http://schemas.microsoft.com/office/drawing/2014/main" id="{D169EEE8-5E5F-477B-944A-A8729A7A30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24" name="Oval 27">
              <a:extLst>
                <a:ext uri="{FF2B5EF4-FFF2-40B4-BE49-F238E27FC236}">
                  <a16:creationId xmlns:a16="http://schemas.microsoft.com/office/drawing/2014/main" id="{95B0992B-1D16-48FD-9B71-D9F0ABFE6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25" name="Oval 28">
              <a:extLst>
                <a:ext uri="{FF2B5EF4-FFF2-40B4-BE49-F238E27FC236}">
                  <a16:creationId xmlns:a16="http://schemas.microsoft.com/office/drawing/2014/main" id="{2DB0E0D8-D8AA-43AF-BBCD-83A2775522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26" name="Oval 29">
              <a:extLst>
                <a:ext uri="{FF2B5EF4-FFF2-40B4-BE49-F238E27FC236}">
                  <a16:creationId xmlns:a16="http://schemas.microsoft.com/office/drawing/2014/main" id="{0CEC51E3-4821-4E18-AC15-2839AB12D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27" name="Oval 30">
              <a:extLst>
                <a:ext uri="{FF2B5EF4-FFF2-40B4-BE49-F238E27FC236}">
                  <a16:creationId xmlns:a16="http://schemas.microsoft.com/office/drawing/2014/main" id="{E459174B-620A-441F-901C-CBC43E4478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28" name="Oval 31">
              <a:extLst>
                <a:ext uri="{FF2B5EF4-FFF2-40B4-BE49-F238E27FC236}">
                  <a16:creationId xmlns:a16="http://schemas.microsoft.com/office/drawing/2014/main" id="{020374D7-8F9D-4C70-940A-6DA799E761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29" name="Oval 32">
              <a:extLst>
                <a:ext uri="{FF2B5EF4-FFF2-40B4-BE49-F238E27FC236}">
                  <a16:creationId xmlns:a16="http://schemas.microsoft.com/office/drawing/2014/main" id="{D3C08307-D735-4AB4-8AB8-A30ECF12BE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30" name="Oval 33">
              <a:extLst>
                <a:ext uri="{FF2B5EF4-FFF2-40B4-BE49-F238E27FC236}">
                  <a16:creationId xmlns:a16="http://schemas.microsoft.com/office/drawing/2014/main" id="{C593200F-3AC8-4E2C-9133-FA676633C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31" name="Oval 34">
              <a:extLst>
                <a:ext uri="{FF2B5EF4-FFF2-40B4-BE49-F238E27FC236}">
                  <a16:creationId xmlns:a16="http://schemas.microsoft.com/office/drawing/2014/main" id="{47F535D7-812D-4F3E-8433-6FEA898A38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32" name="Oval 35">
              <a:extLst>
                <a:ext uri="{FF2B5EF4-FFF2-40B4-BE49-F238E27FC236}">
                  <a16:creationId xmlns:a16="http://schemas.microsoft.com/office/drawing/2014/main" id="{FBF0B76E-70EF-4A74-A419-AE91FF9100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33" name="Oval 36">
              <a:extLst>
                <a:ext uri="{FF2B5EF4-FFF2-40B4-BE49-F238E27FC236}">
                  <a16:creationId xmlns:a16="http://schemas.microsoft.com/office/drawing/2014/main" id="{F5BB2411-FF31-4FB5-91F4-A3029D7058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34" name="Oval 37">
              <a:extLst>
                <a:ext uri="{FF2B5EF4-FFF2-40B4-BE49-F238E27FC236}">
                  <a16:creationId xmlns:a16="http://schemas.microsoft.com/office/drawing/2014/main" id="{DF5A0202-3FAB-4D5E-8F28-5B0097BA74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35" name="Oval 38">
              <a:extLst>
                <a:ext uri="{FF2B5EF4-FFF2-40B4-BE49-F238E27FC236}">
                  <a16:creationId xmlns:a16="http://schemas.microsoft.com/office/drawing/2014/main" id="{479B8FFC-2625-412C-A104-3729D79CDB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36" name="Oval 39">
              <a:extLst>
                <a:ext uri="{FF2B5EF4-FFF2-40B4-BE49-F238E27FC236}">
                  <a16:creationId xmlns:a16="http://schemas.microsoft.com/office/drawing/2014/main" id="{D74ED0DE-4983-4E86-B425-0EF80A5DFD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</p:grpSp>
      <p:sp>
        <p:nvSpPr>
          <p:cNvPr id="37" name="Line 40">
            <a:extLst>
              <a:ext uri="{FF2B5EF4-FFF2-40B4-BE49-F238E27FC236}">
                <a16:creationId xmlns:a16="http://schemas.microsoft.com/office/drawing/2014/main" id="{73133C6C-E1BE-450F-A7AC-0E587FB381A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Rectangle 41">
            <a:extLst>
              <a:ext uri="{FF2B5EF4-FFF2-40B4-BE49-F238E27FC236}">
                <a16:creationId xmlns:a16="http://schemas.microsoft.com/office/drawing/2014/main" id="{94A22A9C-5716-4BE6-AB1F-E983B11AD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76400"/>
            <a:ext cx="6781800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defRPr/>
            </a:pPr>
            <a:endParaRPr lang="en-US" altLang="en-US" sz="3200" b="1">
              <a:solidFill>
                <a:schemeClr val="tx2"/>
              </a:solidFill>
            </a:endParaRPr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04800" y="304800"/>
            <a:ext cx="6781800" cy="1076325"/>
          </a:xfrm>
        </p:spPr>
        <p:txBody>
          <a:bodyPr/>
          <a:lstStyle>
            <a:lvl1pPr algn="r">
              <a:defRPr sz="32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2083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914400" y="3048000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9" name="Rectangle 5">
            <a:extLst>
              <a:ext uri="{FF2B5EF4-FFF2-40B4-BE49-F238E27FC236}">
                <a16:creationId xmlns:a16="http://schemas.microsoft.com/office/drawing/2014/main" id="{8A834BDD-A171-42F2-91F4-B8CA40DDF9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1371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0" name="Rectangle 6">
            <a:extLst>
              <a:ext uri="{FF2B5EF4-FFF2-40B4-BE49-F238E27FC236}">
                <a16:creationId xmlns:a16="http://schemas.microsoft.com/office/drawing/2014/main" id="{E08FD993-1351-47AD-B7A7-864C2931DC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981200" y="6248400"/>
            <a:ext cx="51054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41" name="Rectangle 7">
            <a:extLst>
              <a:ext uri="{FF2B5EF4-FFF2-40B4-BE49-F238E27FC236}">
                <a16:creationId xmlns:a16="http://schemas.microsoft.com/office/drawing/2014/main" id="{1954F322-115C-42DE-8C60-8B41BD652E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315200" y="6248400"/>
            <a:ext cx="1371600" cy="457200"/>
          </a:xfrm>
        </p:spPr>
        <p:txBody>
          <a:bodyPr/>
          <a:lstStyle>
            <a:lvl1pPr>
              <a:defRPr/>
            </a:lvl1pPr>
          </a:lstStyle>
          <a:p>
            <a:fld id="{E14F7023-3FD1-4489-A709-D6CC601B23D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2199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D7C5398-86F0-4918-906A-222DD593DB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D976D38-09F7-44E3-A1BE-03EB96F83B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989BBB30-F207-40C6-88EF-712245066B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AC0553-5453-4300-9D9A-9870FCBFA92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9544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9575A18-0322-40AB-81D3-AC1048095A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D4BFF01-8521-4294-B627-86D0F0376A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C10FC34-88CA-4533-A5B4-1ADDD0F7BF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5882AE-B258-4336-8091-248ADB1BA89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808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521406D-BE6B-456B-B6EA-937F226EAA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F896349-41ED-4384-8557-58E992214F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600765D-CFD4-4C04-98AA-9B0230095E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BC730D-B3D9-4167-B057-A918B2A443E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2177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1CF22A97-91A7-411F-9037-DEA8DBF6BD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C0DF020C-9C9C-48A7-B74F-223F106FB2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F50B6174-610D-409B-B4A6-D1BDDCCA0F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B6C6E3-42E8-4A27-A829-D699994C7A7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9153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DE2E39E-6A95-4154-B934-30A015DEB7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E98BDB1-5997-491F-91AB-55321EAB54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90D93B9-A994-4395-BC68-16FF5C44D8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9AB9C4-B3B2-412D-935E-D1639ADAB6E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3191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3E97C9C9-DB10-49FD-8C53-4C873018FB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262C408-5198-4D55-A62C-B23B29E53B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A765BCA1-9EA1-4416-BE06-6934DD281E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B5F89A-96BF-44DE-9E73-12F67874732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0521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46C7D4D-0B7D-44FD-86D3-9723857535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5F0ED99-144B-4F3F-9C0F-ABA92C5619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78D0A27F-CC2E-461F-A8A1-C0CFF09BFD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C88CDB-99E3-49A2-A1E0-3D0BADCC66D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3759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609D53C-9B03-4530-848C-7C5D7D21BE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39609E8-2E8A-48A0-8256-F88B7013BD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83BFB04A-FE2E-488F-8B15-36CB789050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700596-B3A9-44E4-BEDF-36490DA59C2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2962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E82FB1D-BE5B-4792-8BAB-8B4DA43603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0188205-A7DA-4737-8F3B-17170656BA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81EAA65-0D8D-42A3-B875-27E55DB1A9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E85E0B-B1CD-4DBB-B116-5F1ADAAE829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2841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447BD9E-42D0-48C6-A5AC-D769DD8B68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A4293C9-639D-4268-ADE1-834519716C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074BB0E5-80DD-4820-B906-9A2F0474A0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BACE40-875E-4E82-AF4B-E30DCFF8DAF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98489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122238"/>
            <a:ext cx="8229600" cy="6008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FE89690-DDEC-4D96-99F1-17F826F68AF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31AE2E2-7C22-4519-AD85-187FB2B828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2989618-5BC7-4156-9B91-E52A9D6570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3544A3-8F54-4045-ACDC-CF64DF38025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00822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5AC30C7-10F5-4293-8751-3C75784DE1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576BBAE-1C07-4D6F-B1B1-3583313324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1BBA41FE-727C-46ED-AE61-8C7DDA592C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B27BAE-B5F1-43D5-A71F-3739CE1FD0E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96216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">
            <a:extLst>
              <a:ext uri="{FF2B5EF4-FFF2-40B4-BE49-F238E27FC236}">
                <a16:creationId xmlns:a16="http://schemas.microsoft.com/office/drawing/2014/main" id="{CC0260E7-73CA-4BA3-A4CF-03E105C96B1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925491" y="260351"/>
            <a:ext cx="4863146" cy="576263"/>
          </a:xfrm>
          <a:prstGeom prst="rect">
            <a:avLst/>
          </a:prstGeom>
          <a:solidFill>
            <a:schemeClr val="bg1"/>
          </a:solidFill>
          <a:ln w="12700">
            <a:solidFill>
              <a:srgbClr val="3366FF"/>
            </a:solidFill>
            <a:prstDash val="dash"/>
            <a:miter lim="800000"/>
            <a:headEnd/>
            <a:tailEnd type="triangle" w="med" len="lg"/>
          </a:ln>
        </p:spPr>
        <p:txBody>
          <a:bodyPr anchor="ctr"/>
          <a:lstStyle/>
          <a:p>
            <a:pPr algn="ctr"/>
            <a:endParaRPr lang="en-US" altLang="zh-CN" sz="1500">
              <a:solidFill>
                <a:srgbClr val="F05425"/>
              </a:solidFill>
            </a:endParaRPr>
          </a:p>
        </p:txBody>
      </p:sp>
      <p:cxnSp>
        <p:nvCxnSpPr>
          <p:cNvPr id="3" name="直接连接符 7">
            <a:extLst>
              <a:ext uri="{FF2B5EF4-FFF2-40B4-BE49-F238E27FC236}">
                <a16:creationId xmlns:a16="http://schemas.microsoft.com/office/drawing/2014/main" id="{31CF90E1-38DB-46A5-8A86-497A8DB3BB6D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521562" y="1628776"/>
            <a:ext cx="0" cy="4608513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" name="直接连接符 8">
            <a:extLst>
              <a:ext uri="{FF2B5EF4-FFF2-40B4-BE49-F238E27FC236}">
                <a16:creationId xmlns:a16="http://schemas.microsoft.com/office/drawing/2014/main" id="{128C8244-1B81-4B46-85E4-7AE4382BF101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790678" y="285750"/>
            <a:ext cx="0" cy="406400"/>
          </a:xfrm>
          <a:prstGeom prst="line">
            <a:avLst/>
          </a:prstGeom>
          <a:noFill/>
          <a:ln w="38100">
            <a:solidFill>
              <a:srgbClr val="33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燕尾形 9">
            <a:extLst>
              <a:ext uri="{FF2B5EF4-FFF2-40B4-BE49-F238E27FC236}">
                <a16:creationId xmlns:a16="http://schemas.microsoft.com/office/drawing/2014/main" id="{85405C22-8F7B-46C9-94AB-790D08A5F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9430" y="695325"/>
            <a:ext cx="513226" cy="69850"/>
          </a:xfrm>
          <a:prstGeom prst="chevron">
            <a:avLst>
              <a:gd name="adj" fmla="val 48977"/>
            </a:avLst>
          </a:prstGeom>
          <a:solidFill>
            <a:srgbClr val="3366FF"/>
          </a:solidFill>
          <a:ln>
            <a:noFill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triangle" w="med" len="lg"/>
              </a14:hiddenLine>
            </a:ext>
          </a:ex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en-US">
              <a:solidFill>
                <a:srgbClr val="F05425"/>
              </a:solidFill>
              <a:latin typeface="+mn-lt"/>
              <a:ea typeface="+mn-ea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B332B6E-07E8-440E-A158-56EC43BA8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111" y="441325"/>
            <a:ext cx="434634" cy="577850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3366FF"/>
            </a:solidFill>
            <a:round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</p:spPr>
        <p:txBody>
          <a:bodyPr lIns="5401" tIns="5401" rIns="5401" bIns="5401" anchor="ctr"/>
          <a:lstStyle/>
          <a:p>
            <a:pPr algn="ctr"/>
            <a:fld id="{6249DDF1-3D15-457E-9F81-E95553B3980B}" type="slidenum">
              <a:rPr lang="zh-CN" altLang="en-US" b="1">
                <a:solidFill>
                  <a:srgbClr val="F05425"/>
                </a:solidFill>
                <a:latin typeface="Tahoma" panose="020B0604030504040204" pitchFamily="34" charset="0"/>
                <a:ea typeface="Arial Unicode MS" pitchFamily="34" charset="-122"/>
              </a:rPr>
              <a:pPr algn="ctr"/>
              <a:t>‹#›</a:t>
            </a:fld>
            <a:endParaRPr lang="zh-CN" altLang="en-US" b="1">
              <a:solidFill>
                <a:srgbClr val="F05425"/>
              </a:solidFill>
              <a:latin typeface="Tahoma" panose="020B0604030504040204" pitchFamily="34" charset="0"/>
              <a:ea typeface="Arial Unicode MS" pitchFamily="34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758A0A0-7D53-40A8-9891-916F7E98B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9123" y="539750"/>
            <a:ext cx="273879" cy="368300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3366FF"/>
            </a:solidFill>
            <a:round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</p:spPr>
        <p:txBody>
          <a:bodyPr lIns="5401" tIns="5401" rIns="5401" bIns="5401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2100" b="1" dirty="0">
              <a:solidFill>
                <a:srgbClr val="F0542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roadway" pitchFamily="82" charset="0"/>
              <a:ea typeface="微软雅黑" pitchFamily="34" charset="-122"/>
              <a:cs typeface="Tahoma" pitchFamily="34" charset="0"/>
            </a:endParaRPr>
          </a:p>
        </p:txBody>
      </p:sp>
      <p:cxnSp>
        <p:nvCxnSpPr>
          <p:cNvPr id="8" name="直接连接符 12">
            <a:extLst>
              <a:ext uri="{FF2B5EF4-FFF2-40B4-BE49-F238E27FC236}">
                <a16:creationId xmlns:a16="http://schemas.microsoft.com/office/drawing/2014/main" id="{5BA0B4DA-182B-4B30-99DE-CDC40CD9B757}"/>
              </a:ext>
            </a:extLst>
          </p:cNvPr>
          <p:cNvCxnSpPr>
            <a:cxnSpLocks noChangeShapeType="1"/>
          </p:cNvCxnSpPr>
          <p:nvPr userDrawn="1"/>
        </p:nvCxnSpPr>
        <p:spPr bwMode="auto">
          <a:xfrm flipH="1" flipV="1">
            <a:off x="466786" y="981075"/>
            <a:ext cx="7237561" cy="0"/>
          </a:xfrm>
          <a:prstGeom prst="line">
            <a:avLst/>
          </a:prstGeom>
          <a:noFill/>
          <a:ln w="25400">
            <a:solidFill>
              <a:srgbClr val="3366FF"/>
            </a:solidFill>
            <a:prstDash val="dash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9" name="Picture 25" descr="社标">
            <a:extLst>
              <a:ext uri="{FF2B5EF4-FFF2-40B4-BE49-F238E27FC236}">
                <a16:creationId xmlns:a16="http://schemas.microsoft.com/office/drawing/2014/main" id="{B5581962-3B53-4914-B879-B42A55E664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09" y="141288"/>
            <a:ext cx="576338" cy="766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斜纹 14">
            <a:hlinkClick r:id="rId3" action="ppaction://hlinkpres?slideindex=1&amp;slidetitle=2. 幻灯片 2"/>
            <a:extLst>
              <a:ext uri="{FF2B5EF4-FFF2-40B4-BE49-F238E27FC236}">
                <a16:creationId xmlns:a16="http://schemas.microsoft.com/office/drawing/2014/main" id="{96BD8F71-AC20-4E29-9D66-8A048CBF330F}"/>
              </a:ext>
            </a:extLst>
          </p:cNvPr>
          <p:cNvSpPr/>
          <p:nvPr/>
        </p:nvSpPr>
        <p:spPr bwMode="auto">
          <a:xfrm rot="10800000" flipH="1">
            <a:off x="0" y="5849938"/>
            <a:ext cx="756146" cy="1008062"/>
          </a:xfrm>
          <a:custGeom>
            <a:avLst/>
            <a:gdLst>
              <a:gd name="T0" fmla="*/ 0 w 1008224"/>
              <a:gd name="T1" fmla="*/ 504032 h 1008064"/>
              <a:gd name="T2" fmla="*/ 504112 w 1008224"/>
              <a:gd name="T3" fmla="*/ 0 h 1008064"/>
              <a:gd name="T4" fmla="*/ 1008224 w 1008224"/>
              <a:gd name="T5" fmla="*/ 0 h 1008064"/>
              <a:gd name="T6" fmla="*/ 0 w 1008224"/>
              <a:gd name="T7" fmla="*/ 1008064 h 1008064"/>
              <a:gd name="T8" fmla="*/ 0 w 1008224"/>
              <a:gd name="T9" fmla="*/ 504032 h 10080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08224" h="1008064">
                <a:moveTo>
                  <a:pt x="0" y="504032"/>
                </a:moveTo>
                <a:lnTo>
                  <a:pt x="504112" y="0"/>
                </a:lnTo>
                <a:lnTo>
                  <a:pt x="1008224" y="0"/>
                </a:lnTo>
                <a:lnTo>
                  <a:pt x="0" y="1008064"/>
                </a:lnTo>
                <a:lnTo>
                  <a:pt x="0" y="504032"/>
                </a:lnTo>
                <a:close/>
              </a:path>
            </a:pathLst>
          </a:custGeom>
          <a:solidFill>
            <a:srgbClr val="3366FF"/>
          </a:solidFill>
          <a:ln>
            <a:noFill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</a14:hiddenLine>
            </a:ext>
          </a:extLst>
        </p:spPr>
        <p:txBody>
          <a:bodyPr anchor="ctr"/>
          <a:lstStyle/>
          <a:p>
            <a:pPr>
              <a:buFontTx/>
              <a:buNone/>
              <a:defRPr/>
            </a:pPr>
            <a:endParaRPr lang="zh-CN" altLang="en-US"/>
          </a:p>
        </p:txBody>
      </p:sp>
      <p:sp>
        <p:nvSpPr>
          <p:cNvPr id="11" name="TextBox 15">
            <a:hlinkClick r:id="rId3" action="ppaction://hlinkpres?slideindex=1&amp;slidetitle=2. 幻灯片 2"/>
            <a:extLst>
              <a:ext uri="{FF2B5EF4-FFF2-40B4-BE49-F238E27FC236}">
                <a16:creationId xmlns:a16="http://schemas.microsoft.com/office/drawing/2014/main" id="{62C4FD4C-E6EE-4451-B4AE-DBB1DFC997D6}"/>
              </a:ext>
            </a:extLst>
          </p:cNvPr>
          <p:cNvSpPr txBox="1">
            <a:spLocks noChangeArrowheads="1"/>
          </p:cNvSpPr>
          <p:nvPr/>
        </p:nvSpPr>
        <p:spPr bwMode="auto">
          <a:xfrm rot="2698316">
            <a:off x="-43332" y="6343264"/>
            <a:ext cx="64633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buFontTx/>
              <a:buNone/>
              <a:defRPr/>
            </a:pPr>
            <a:r>
              <a:rPr lang="zh-CN" altLang="en-US" sz="12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目录页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BF3D4FF-737B-43D6-86FC-0877092F3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255" y="1125539"/>
            <a:ext cx="376286" cy="504825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99CC00"/>
            </a:solidFill>
            <a:round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</p:spPr>
        <p:txBody>
          <a:bodyPr lIns="5401" tIns="5401" rIns="5401" bIns="5401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2100" b="1" dirty="0">
              <a:solidFill>
                <a:srgbClr val="F0542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roadway" pitchFamily="82" charset="0"/>
              <a:ea typeface="微软雅黑" pitchFamily="34" charset="-122"/>
              <a:cs typeface="Tahoma" pitchFamily="34" charset="0"/>
            </a:endParaRPr>
          </a:p>
        </p:txBody>
      </p:sp>
      <p:sp>
        <p:nvSpPr>
          <p:cNvPr id="13" name="日期占位符 1">
            <a:extLst>
              <a:ext uri="{FF2B5EF4-FFF2-40B4-BE49-F238E27FC236}">
                <a16:creationId xmlns:a16="http://schemas.microsoft.com/office/drawing/2014/main" id="{1A2BAFBF-0635-4120-AB6D-21874C5CD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" name="页脚占位符 2">
            <a:extLst>
              <a:ext uri="{FF2B5EF4-FFF2-40B4-BE49-F238E27FC236}">
                <a16:creationId xmlns:a16="http://schemas.microsoft.com/office/drawing/2014/main" id="{E661DA11-DD56-49DF-9DC4-F57737811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" name="灯片编号占位符 3">
            <a:extLst>
              <a:ext uri="{FF2B5EF4-FFF2-40B4-BE49-F238E27FC236}">
                <a16:creationId xmlns:a16="http://schemas.microsoft.com/office/drawing/2014/main" id="{ED235532-6DBC-42F5-8B81-1D598C33B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A81CD6-8329-4055-AAD1-0D2519B8C57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035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>
            <a:extLst>
              <a:ext uri="{FF2B5EF4-FFF2-40B4-BE49-F238E27FC236}">
                <a16:creationId xmlns:a16="http://schemas.microsoft.com/office/drawing/2014/main" id="{D56362BD-7FF6-47E7-84E3-E46F392BA33A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D03287D-6B6D-49B8-AB4D-45E166CAAC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9A5C251-486B-4EAE-BACC-DCD99577AF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19813" name="Rectangle 5">
            <a:extLst>
              <a:ext uri="{FF2B5EF4-FFF2-40B4-BE49-F238E27FC236}">
                <a16:creationId xmlns:a16="http://schemas.microsoft.com/office/drawing/2014/main" id="{478BECB5-F5D5-4E0C-8615-7702234F082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1219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19814" name="Rectangle 6">
            <a:extLst>
              <a:ext uri="{FF2B5EF4-FFF2-40B4-BE49-F238E27FC236}">
                <a16:creationId xmlns:a16="http://schemas.microsoft.com/office/drawing/2014/main" id="{2A52DA87-5DEC-4B75-8240-7EBF96D5E22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828800" y="62484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119815" name="Rectangle 7">
            <a:extLst>
              <a:ext uri="{FF2B5EF4-FFF2-40B4-BE49-F238E27FC236}">
                <a16:creationId xmlns:a16="http://schemas.microsoft.com/office/drawing/2014/main" id="{8051B6C9-91FF-42B0-A68B-251D3C080B0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43800" y="6248400"/>
            <a:ext cx="1143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ACB1CFFA-4891-4384-B4EE-364384CA07E0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32" name="Group 8">
            <a:extLst>
              <a:ext uri="{FF2B5EF4-FFF2-40B4-BE49-F238E27FC236}">
                <a16:creationId xmlns:a16="http://schemas.microsoft.com/office/drawing/2014/main" id="{82EA90B5-F63B-4C87-852E-B7D98517AA07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19817" name="Oval 9">
              <a:extLst>
                <a:ext uri="{FF2B5EF4-FFF2-40B4-BE49-F238E27FC236}">
                  <a16:creationId xmlns:a16="http://schemas.microsoft.com/office/drawing/2014/main" id="{68895B5D-3C46-486D-8401-660F747D98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18" name="Oval 10">
              <a:extLst>
                <a:ext uri="{FF2B5EF4-FFF2-40B4-BE49-F238E27FC236}">
                  <a16:creationId xmlns:a16="http://schemas.microsoft.com/office/drawing/2014/main" id="{43A007ED-CD93-4DBE-99AB-2A3E9506A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19" name="Oval 11">
              <a:extLst>
                <a:ext uri="{FF2B5EF4-FFF2-40B4-BE49-F238E27FC236}">
                  <a16:creationId xmlns:a16="http://schemas.microsoft.com/office/drawing/2014/main" id="{5B9B5014-23B1-42D1-B2DE-BDCA345463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960"/>
              <a:ext cx="77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20" name="Oval 12">
              <a:extLst>
                <a:ext uri="{FF2B5EF4-FFF2-40B4-BE49-F238E27FC236}">
                  <a16:creationId xmlns:a16="http://schemas.microsoft.com/office/drawing/2014/main" id="{B9ACC762-6837-4307-93EC-43D0364B9D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21" name="Oval 13">
              <a:extLst>
                <a:ext uri="{FF2B5EF4-FFF2-40B4-BE49-F238E27FC236}">
                  <a16:creationId xmlns:a16="http://schemas.microsoft.com/office/drawing/2014/main" id="{03FC2586-02B5-4DAC-9424-F6BF80559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22" name="Oval 14">
              <a:extLst>
                <a:ext uri="{FF2B5EF4-FFF2-40B4-BE49-F238E27FC236}">
                  <a16:creationId xmlns:a16="http://schemas.microsoft.com/office/drawing/2014/main" id="{506A904F-84F9-4524-AC9B-D990C978E3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072"/>
              <a:ext cx="77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23" name="Oval 15">
              <a:extLst>
                <a:ext uri="{FF2B5EF4-FFF2-40B4-BE49-F238E27FC236}">
                  <a16:creationId xmlns:a16="http://schemas.microsoft.com/office/drawing/2014/main" id="{088E54CD-E20C-4911-9C65-EE3C4CD0B3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072"/>
              <a:ext cx="77" cy="7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24" name="Oval 16">
              <a:extLst>
                <a:ext uri="{FF2B5EF4-FFF2-40B4-BE49-F238E27FC236}">
                  <a16:creationId xmlns:a16="http://schemas.microsoft.com/office/drawing/2014/main" id="{8E1CC1E9-D78D-4A32-85DF-555DD7FF5A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184"/>
              <a:ext cx="80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25" name="Oval 17">
              <a:extLst>
                <a:ext uri="{FF2B5EF4-FFF2-40B4-BE49-F238E27FC236}">
                  <a16:creationId xmlns:a16="http://schemas.microsoft.com/office/drawing/2014/main" id="{83A8B9F6-2FAD-496D-B40B-603AC8E56C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184"/>
              <a:ext cx="79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26" name="Oval 18">
              <a:extLst>
                <a:ext uri="{FF2B5EF4-FFF2-40B4-BE49-F238E27FC236}">
                  <a16:creationId xmlns:a16="http://schemas.microsoft.com/office/drawing/2014/main" id="{8E14963D-85A6-4A49-BACE-6A96031ED3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184"/>
              <a:ext cx="77" cy="7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27" name="Oval 19">
              <a:extLst>
                <a:ext uri="{FF2B5EF4-FFF2-40B4-BE49-F238E27FC236}">
                  <a16:creationId xmlns:a16="http://schemas.microsoft.com/office/drawing/2014/main" id="{F8DF1E10-8FAC-4E52-987E-B5A2BFDAA4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184"/>
              <a:ext cx="77" cy="7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28" name="Oval 20">
              <a:extLst>
                <a:ext uri="{FF2B5EF4-FFF2-40B4-BE49-F238E27FC236}">
                  <a16:creationId xmlns:a16="http://schemas.microsoft.com/office/drawing/2014/main" id="{9486A2C3-B5EA-4CEB-8826-C31CA7D46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184"/>
              <a:ext cx="80" cy="7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29" name="Oval 21">
              <a:extLst>
                <a:ext uri="{FF2B5EF4-FFF2-40B4-BE49-F238E27FC236}">
                  <a16:creationId xmlns:a16="http://schemas.microsoft.com/office/drawing/2014/main" id="{699B9119-4B39-4CAA-AD90-49A8A55DE0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30" name="Oval 22">
              <a:extLst>
                <a:ext uri="{FF2B5EF4-FFF2-40B4-BE49-F238E27FC236}">
                  <a16:creationId xmlns:a16="http://schemas.microsoft.com/office/drawing/2014/main" id="{6DD2F580-D719-4D1E-957C-2E4B8F2CFE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31" name="Oval 23">
              <a:extLst>
                <a:ext uri="{FF2B5EF4-FFF2-40B4-BE49-F238E27FC236}">
                  <a16:creationId xmlns:a16="http://schemas.microsoft.com/office/drawing/2014/main" id="{34AFA400-2693-4B63-B35B-A8D53CA66A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296"/>
              <a:ext cx="77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32" name="Oval 24">
              <a:extLst>
                <a:ext uri="{FF2B5EF4-FFF2-40B4-BE49-F238E27FC236}">
                  <a16:creationId xmlns:a16="http://schemas.microsoft.com/office/drawing/2014/main" id="{F3B7C8B8-5FBF-4DEB-BB1A-FFD62D61DF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296"/>
              <a:ext cx="77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33" name="Oval 25">
              <a:extLst>
                <a:ext uri="{FF2B5EF4-FFF2-40B4-BE49-F238E27FC236}">
                  <a16:creationId xmlns:a16="http://schemas.microsoft.com/office/drawing/2014/main" id="{C0B28009-F68D-4860-878D-170A0E85B7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34" name="Oval 26">
              <a:extLst>
                <a:ext uri="{FF2B5EF4-FFF2-40B4-BE49-F238E27FC236}">
                  <a16:creationId xmlns:a16="http://schemas.microsoft.com/office/drawing/2014/main" id="{F943A538-E7F5-4063-AA61-485459674C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35" name="Oval 27">
              <a:extLst>
                <a:ext uri="{FF2B5EF4-FFF2-40B4-BE49-F238E27FC236}">
                  <a16:creationId xmlns:a16="http://schemas.microsoft.com/office/drawing/2014/main" id="{588FE7E4-040A-4056-A7E6-67EA64EE36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408"/>
              <a:ext cx="77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36" name="Oval 28">
              <a:extLst>
                <a:ext uri="{FF2B5EF4-FFF2-40B4-BE49-F238E27FC236}">
                  <a16:creationId xmlns:a16="http://schemas.microsoft.com/office/drawing/2014/main" id="{AE84967A-6731-4021-B390-00B21D3851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408"/>
              <a:ext cx="77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37" name="Oval 29">
              <a:extLst>
                <a:ext uri="{FF2B5EF4-FFF2-40B4-BE49-F238E27FC236}">
                  <a16:creationId xmlns:a16="http://schemas.microsoft.com/office/drawing/2014/main" id="{8ABEDC46-C596-47C5-9F01-0DF63483D0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38" name="Oval 30">
              <a:extLst>
                <a:ext uri="{FF2B5EF4-FFF2-40B4-BE49-F238E27FC236}">
                  <a16:creationId xmlns:a16="http://schemas.microsoft.com/office/drawing/2014/main" id="{B623DC5C-D644-4FCD-A6BC-BB27CD6BCB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39" name="Oval 31">
              <a:extLst>
                <a:ext uri="{FF2B5EF4-FFF2-40B4-BE49-F238E27FC236}">
                  <a16:creationId xmlns:a16="http://schemas.microsoft.com/office/drawing/2014/main" id="{488886D7-6F78-41A6-8773-FC170E8B7C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40" name="Oval 32">
              <a:extLst>
                <a:ext uri="{FF2B5EF4-FFF2-40B4-BE49-F238E27FC236}">
                  <a16:creationId xmlns:a16="http://schemas.microsoft.com/office/drawing/2014/main" id="{A5D022FC-B82B-4A37-91FD-0DAAEE6423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520"/>
              <a:ext cx="77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41" name="Oval 33">
              <a:extLst>
                <a:ext uri="{FF2B5EF4-FFF2-40B4-BE49-F238E27FC236}">
                  <a16:creationId xmlns:a16="http://schemas.microsoft.com/office/drawing/2014/main" id="{363EA766-3E80-444A-8335-74668B1F3D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520"/>
              <a:ext cx="77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42" name="Oval 34">
              <a:extLst>
                <a:ext uri="{FF2B5EF4-FFF2-40B4-BE49-F238E27FC236}">
                  <a16:creationId xmlns:a16="http://schemas.microsoft.com/office/drawing/2014/main" id="{FB9E3121-628E-414F-952C-9EFC1A6F40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632"/>
              <a:ext cx="80" cy="7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43" name="Oval 35">
              <a:extLst>
                <a:ext uri="{FF2B5EF4-FFF2-40B4-BE49-F238E27FC236}">
                  <a16:creationId xmlns:a16="http://schemas.microsoft.com/office/drawing/2014/main" id="{19C6DBD2-6D98-407B-AE9A-BB5B87A562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632"/>
              <a:ext cx="79" cy="7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44" name="Oval 36">
              <a:extLst>
                <a:ext uri="{FF2B5EF4-FFF2-40B4-BE49-F238E27FC236}">
                  <a16:creationId xmlns:a16="http://schemas.microsoft.com/office/drawing/2014/main" id="{357628D4-B736-42F8-9A01-2AEE32561E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632"/>
              <a:ext cx="77" cy="7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45" name="Oval 37">
              <a:extLst>
                <a:ext uri="{FF2B5EF4-FFF2-40B4-BE49-F238E27FC236}">
                  <a16:creationId xmlns:a16="http://schemas.microsoft.com/office/drawing/2014/main" id="{AB9714D1-99CE-4C76-836F-E99183346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632"/>
              <a:ext cx="77" cy="7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46" name="Oval 38">
              <a:extLst>
                <a:ext uri="{FF2B5EF4-FFF2-40B4-BE49-F238E27FC236}">
                  <a16:creationId xmlns:a16="http://schemas.microsoft.com/office/drawing/2014/main" id="{755E8570-2770-48BF-BFE3-E7F9C24C97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47" name="Oval 39">
              <a:extLst>
                <a:ext uri="{FF2B5EF4-FFF2-40B4-BE49-F238E27FC236}">
                  <a16:creationId xmlns:a16="http://schemas.microsoft.com/office/drawing/2014/main" id="{269FDC08-01FC-488B-BCC7-8E8826DD1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744"/>
              <a:ext cx="77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6" r:id="rId1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>
          <a:solidFill>
            <a:schemeClr val="tx1"/>
          </a:solidFill>
          <a:latin typeface="+mn-lt"/>
          <a:cs typeface="+mn-cs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>
          <a:solidFill>
            <a:schemeClr val="tx1"/>
          </a:solidFill>
          <a:latin typeface="+mn-lt"/>
          <a:cs typeface="+mn-cs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13.tmp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notesSlide" Target="../notesSlides/notesSlide36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Footer Placeholder 3">
            <a:extLst>
              <a:ext uri="{FF2B5EF4-FFF2-40B4-BE49-F238E27FC236}">
                <a16:creationId xmlns:a16="http://schemas.microsoft.com/office/drawing/2014/main" id="{D37EB005-B6A2-4DBB-AE1C-6F2C8232D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Systems Analysis and Design in a Changing World, 6th Edition</a:t>
            </a:r>
          </a:p>
        </p:txBody>
      </p:sp>
      <p:sp>
        <p:nvSpPr>
          <p:cNvPr id="3075" name="Slide Number Placeholder 4">
            <a:extLst>
              <a:ext uri="{FF2B5EF4-FFF2-40B4-BE49-F238E27FC236}">
                <a16:creationId xmlns:a16="http://schemas.microsoft.com/office/drawing/2014/main" id="{9F9EB62C-3042-4B84-BE22-FD1B82ADE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34AA9C3-B522-428A-BFCF-43D5168C5342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000"/>
          </a:p>
        </p:txBody>
      </p:sp>
      <p:sp>
        <p:nvSpPr>
          <p:cNvPr id="3076" name="Text Box 3">
            <a:extLst>
              <a:ext uri="{FF2B5EF4-FFF2-40B4-BE49-F238E27FC236}">
                <a16:creationId xmlns:a16="http://schemas.microsoft.com/office/drawing/2014/main" id="{7F417098-50B1-40D5-A7D7-F95900492C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4495800"/>
            <a:ext cx="7086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4000">
                <a:solidFill>
                  <a:schemeClr val="bg1"/>
                </a:solidFill>
                <a:ea typeface="宋体" panose="02010600030101010101" pitchFamily="2" charset="-122"/>
              </a:rPr>
              <a:t>Chapter 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112B50-57CC-48B1-B08E-A90A1F295648}"/>
              </a:ext>
            </a:extLst>
          </p:cNvPr>
          <p:cNvSpPr/>
          <p:nvPr/>
        </p:nvSpPr>
        <p:spPr>
          <a:xfrm>
            <a:off x="0" y="3048000"/>
            <a:ext cx="9144000" cy="3810000"/>
          </a:xfrm>
          <a:prstGeom prst="rect">
            <a:avLst/>
          </a:prstGeom>
          <a:solidFill>
            <a:srgbClr val="000066"/>
          </a:solidFill>
          <a:ln>
            <a:solidFill>
              <a:srgbClr val="00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rgbClr val="0033CC"/>
              </a:solidFill>
              <a:ea typeface="宋体" panose="02010600030101010101" pitchFamily="2" charset="-122"/>
            </a:endParaRPr>
          </a:p>
        </p:txBody>
      </p:sp>
      <p:sp>
        <p:nvSpPr>
          <p:cNvPr id="3078" name="TextBox 10">
            <a:extLst>
              <a:ext uri="{FF2B5EF4-FFF2-40B4-BE49-F238E27FC236}">
                <a16:creationId xmlns:a16="http://schemas.microsoft.com/office/drawing/2014/main" id="{79B506C4-2D11-4DA2-BD0F-356AF5F11F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572000"/>
            <a:ext cx="3124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>
                <a:solidFill>
                  <a:schemeClr val="bg1"/>
                </a:solidFill>
                <a:ea typeface="宋体" panose="02010600030101010101" pitchFamily="2" charset="-122"/>
              </a:rPr>
              <a:t>CHAPTER 2</a:t>
            </a:r>
          </a:p>
        </p:txBody>
      </p:sp>
      <p:sp>
        <p:nvSpPr>
          <p:cNvPr id="3079" name="TextBox 9">
            <a:extLst>
              <a:ext uri="{FF2B5EF4-FFF2-40B4-BE49-F238E27FC236}">
                <a16:creationId xmlns:a16="http://schemas.microsoft.com/office/drawing/2014/main" id="{35DC3DA5-2A32-4785-8212-42BB0EB3F7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3276600"/>
            <a:ext cx="5105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  <a:ea typeface="宋体" panose="02010600030101010101" pitchFamily="2" charset="-122"/>
              </a:rPr>
              <a:t>SATZINGER | JACKSON | BURD</a:t>
            </a:r>
          </a:p>
        </p:txBody>
      </p:sp>
      <p:sp>
        <p:nvSpPr>
          <p:cNvPr id="3080" name="TextBox 6">
            <a:extLst>
              <a:ext uri="{FF2B5EF4-FFF2-40B4-BE49-F238E27FC236}">
                <a16:creationId xmlns:a16="http://schemas.microsoft.com/office/drawing/2014/main" id="{0955CBD6-D962-49E1-81A5-D84A80237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52400"/>
            <a:ext cx="8153400" cy="2616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INTRODUCTION TO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SYSTEMS ANALYSIS AND DESIGN:</a:t>
            </a:r>
          </a:p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 AGILE, ITERATIVE APPROACH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>
            <a:extLst>
              <a:ext uri="{FF2B5EF4-FFF2-40B4-BE49-F238E27FC236}">
                <a16:creationId xmlns:a16="http://schemas.microsoft.com/office/drawing/2014/main" id="{92A1867C-1FB3-4102-82C5-FCF847989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7AA6B8E-ACA2-4BB6-969D-FBDDA62FBABF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0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2187D177-52CC-478C-A938-02A0EF70D3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Chapter 2 Outline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7839E27A-5FAB-41CA-8C7F-1F1D768DAE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4406" y="1524000"/>
            <a:ext cx="8229600" cy="44116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The RMO Consolidated Sales and Marketing System Project</a:t>
            </a:r>
            <a:r>
              <a:rPr lang="zh-CN" altLang="en-US" dirty="0">
                <a:ea typeface="宋体" panose="02010600030101010101" pitchFamily="2" charset="-122"/>
              </a:rPr>
              <a:t>（</a:t>
            </a:r>
            <a:r>
              <a:rPr lang="en-US" altLang="zh-CN" dirty="0">
                <a:ea typeface="宋体" panose="02010600030101010101" pitchFamily="2" charset="-122"/>
              </a:rPr>
              <a:t>RMO</a:t>
            </a:r>
            <a:r>
              <a:rPr lang="zh-CN" altLang="en-US" dirty="0">
                <a:ea typeface="宋体" panose="02010600030101010101" pitchFamily="2" charset="-122"/>
              </a:rPr>
              <a:t>综合销售项目）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Systems Analysis Activities</a:t>
            </a:r>
            <a:r>
              <a:rPr lang="zh-CN" altLang="en-US" dirty="0">
                <a:ea typeface="宋体" panose="02010600030101010101" pitchFamily="2" charset="-122"/>
              </a:rPr>
              <a:t>（系统分析活动）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What Are Requirements?</a:t>
            </a:r>
            <a:r>
              <a:rPr lang="zh-CN" altLang="en-US" dirty="0">
                <a:ea typeface="宋体" panose="02010600030101010101" pitchFamily="2" charset="-122"/>
              </a:rPr>
              <a:t>（什么是需求）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Models and Modeling</a:t>
            </a:r>
            <a:r>
              <a:rPr lang="zh-CN" altLang="en-US" dirty="0">
                <a:ea typeface="宋体" panose="02010600030101010101" pitchFamily="2" charset="-122"/>
              </a:rPr>
              <a:t>（模型和建模）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Stakeholders</a:t>
            </a:r>
            <a:r>
              <a:rPr lang="zh-CN" altLang="en-US" dirty="0">
                <a:ea typeface="宋体" panose="02010600030101010101" pitchFamily="2" charset="-122"/>
              </a:rPr>
              <a:t>（利益相关者）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Information-Gathering Techniques</a:t>
            </a:r>
            <a:r>
              <a:rPr lang="zh-CN" altLang="en-US" dirty="0">
                <a:ea typeface="宋体" panose="02010600030101010101" pitchFamily="2" charset="-122"/>
              </a:rPr>
              <a:t>（信息收集技术）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Documenting Workflows with Activity Diagrams</a:t>
            </a:r>
            <a:r>
              <a:rPr lang="zh-CN" altLang="en-US" dirty="0">
                <a:ea typeface="宋体" panose="02010600030101010101" pitchFamily="2" charset="-122"/>
              </a:rPr>
              <a:t>（用活动图记录工作流）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125" name="Footer Placeholder 4">
            <a:extLst>
              <a:ext uri="{FF2B5EF4-FFF2-40B4-BE49-F238E27FC236}">
                <a16:creationId xmlns:a16="http://schemas.microsoft.com/office/drawing/2014/main" id="{C0D83BED-0D1E-4AE9-84ED-1D38BD2B55C8}"/>
              </a:ext>
            </a:extLst>
          </p:cNvPr>
          <p:cNvSpPr>
            <a:spLocks noGrp="1"/>
          </p:cNvSpPr>
          <p:nvPr/>
        </p:nvSpPr>
        <p:spPr bwMode="auto">
          <a:xfrm>
            <a:off x="1828800" y="6248400"/>
            <a:ext cx="548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C5EE48A0-463D-4EC6-802D-92E178520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4">
            <a:extLst>
              <a:ext uri="{FF2B5EF4-FFF2-40B4-BE49-F238E27FC236}">
                <a16:creationId xmlns:a16="http://schemas.microsoft.com/office/drawing/2014/main" id="{B2A4DA51-B1F2-4E00-9FBB-24F960A0B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6147" name="Slide Number Placeholder 5">
            <a:extLst>
              <a:ext uri="{FF2B5EF4-FFF2-40B4-BE49-F238E27FC236}">
                <a16:creationId xmlns:a16="http://schemas.microsoft.com/office/drawing/2014/main" id="{9B6E6FBB-79B1-40EF-9F37-ABE0425BC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756BA9B-597B-41A1-93C0-06426DCCD991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000"/>
          </a:p>
        </p:txBody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7FB6F382-7625-4946-BAA4-BEEC66B4DC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20762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Learning Objectives</a:t>
            </a:r>
          </a:p>
        </p:txBody>
      </p:sp>
      <p:sp>
        <p:nvSpPr>
          <p:cNvPr id="6149" name="Rectangle 4">
            <a:extLst>
              <a:ext uri="{FF2B5EF4-FFF2-40B4-BE49-F238E27FC236}">
                <a16:creationId xmlns:a16="http://schemas.microsoft.com/office/drawing/2014/main" id="{727CE584-5169-4D3C-A96D-75727A93D0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4759325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Describe the activities of systems analysis</a:t>
            </a:r>
            <a:r>
              <a:rPr lang="zh-CN" altLang="en-US" sz="2800" dirty="0">
                <a:ea typeface="宋体" panose="02010600030101010101" pitchFamily="2" charset="-122"/>
              </a:rPr>
              <a:t>（描述系统分析的活动）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Explain the difference between </a:t>
            </a:r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functional</a:t>
            </a:r>
            <a:r>
              <a:rPr lang="en-US" altLang="zh-CN" sz="2800" dirty="0">
                <a:ea typeface="宋体" panose="02010600030101010101" pitchFamily="2" charset="-122"/>
              </a:rPr>
              <a:t> and </a:t>
            </a:r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nonfunctional</a:t>
            </a:r>
            <a:r>
              <a:rPr lang="en-US" altLang="zh-CN" sz="2800" dirty="0">
                <a:ea typeface="宋体" panose="02010600030101010101" pitchFamily="2" charset="-122"/>
              </a:rPr>
              <a:t> requirements</a:t>
            </a:r>
            <a:r>
              <a:rPr lang="zh-CN" altLang="en-US" sz="2800" dirty="0">
                <a:ea typeface="宋体" panose="02010600030101010101" pitchFamily="2" charset="-122"/>
              </a:rPr>
              <a:t>（解释</a:t>
            </a:r>
            <a:r>
              <a:rPr lang="zh-CN" altLang="en-US" sz="2800" dirty="0">
                <a:solidFill>
                  <a:srgbClr val="C00000"/>
                </a:solidFill>
                <a:ea typeface="宋体" panose="02010600030101010101" pitchFamily="2" charset="-122"/>
              </a:rPr>
              <a:t>功能性需求</a:t>
            </a:r>
            <a:r>
              <a:rPr lang="zh-CN" altLang="en-US" sz="2800" dirty="0">
                <a:ea typeface="宋体" panose="02010600030101010101" pitchFamily="2" charset="-122"/>
              </a:rPr>
              <a:t>和</a:t>
            </a:r>
            <a:r>
              <a:rPr lang="zh-CN" altLang="en-US" sz="2800" dirty="0">
                <a:solidFill>
                  <a:srgbClr val="C00000"/>
                </a:solidFill>
                <a:ea typeface="宋体" panose="02010600030101010101" pitchFamily="2" charset="-122"/>
              </a:rPr>
              <a:t>非功能性需求</a:t>
            </a:r>
            <a:r>
              <a:rPr lang="zh-CN" altLang="en-US" sz="2800" dirty="0">
                <a:ea typeface="宋体" panose="02010600030101010101" pitchFamily="2" charset="-122"/>
              </a:rPr>
              <a:t>之间的区别）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Describe the role of models in systems analysis</a:t>
            </a:r>
            <a:r>
              <a:rPr lang="zh-CN" altLang="en-US" sz="2800" dirty="0">
                <a:ea typeface="宋体" panose="02010600030101010101" pitchFamily="2" charset="-122"/>
              </a:rPr>
              <a:t>（描述模型在系统分析中的作用）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marL="0" indent="0" eaLnBrk="1" hangingPunct="1">
              <a:buNone/>
            </a:pP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6150" name="Rectangle 5">
            <a:extLst>
              <a:ext uri="{FF2B5EF4-FFF2-40B4-BE49-F238E27FC236}">
                <a16:creationId xmlns:a16="http://schemas.microsoft.com/office/drawing/2014/main" id="{B0195D4B-6786-4921-A3EC-416BA4380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4">
            <a:extLst>
              <a:ext uri="{FF2B5EF4-FFF2-40B4-BE49-F238E27FC236}">
                <a16:creationId xmlns:a16="http://schemas.microsoft.com/office/drawing/2014/main" id="{B2A4DA51-B1F2-4E00-9FBB-24F960A0B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6147" name="Slide Number Placeholder 5">
            <a:extLst>
              <a:ext uri="{FF2B5EF4-FFF2-40B4-BE49-F238E27FC236}">
                <a16:creationId xmlns:a16="http://schemas.microsoft.com/office/drawing/2014/main" id="{9B6E6FBB-79B1-40EF-9F37-ABE0425BC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756BA9B-597B-41A1-93C0-06426DCCD991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000"/>
          </a:p>
        </p:txBody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7FB6F382-7625-4946-BAA4-BEEC66B4DC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20762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Learning Objectives</a:t>
            </a:r>
          </a:p>
        </p:txBody>
      </p:sp>
      <p:sp>
        <p:nvSpPr>
          <p:cNvPr id="6149" name="Rectangle 4">
            <a:extLst>
              <a:ext uri="{FF2B5EF4-FFF2-40B4-BE49-F238E27FC236}">
                <a16:creationId xmlns:a16="http://schemas.microsoft.com/office/drawing/2014/main" id="{727CE584-5169-4D3C-A96D-75727A93D0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4759325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Identify and understand different kinds of stakeholders and their contributions to requirements definition</a:t>
            </a:r>
            <a:r>
              <a:rPr lang="zh-CN" altLang="en-US" sz="2800" dirty="0">
                <a:ea typeface="宋体" panose="02010600030101010101" pitchFamily="2" charset="-122"/>
              </a:rPr>
              <a:t>（利益相关者对需求的不同贡献）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Describe information-gathering techniques and determine when each is best applied</a:t>
            </a:r>
            <a:r>
              <a:rPr lang="zh-CN" altLang="en-US" sz="2800" dirty="0">
                <a:ea typeface="宋体" panose="02010600030101010101" pitchFamily="2" charset="-122"/>
              </a:rPr>
              <a:t>（信息收集技术）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Develop activity diagrams to model workflows</a:t>
            </a:r>
            <a:r>
              <a:rPr lang="zh-CN" altLang="en-US" sz="2800" dirty="0">
                <a:ea typeface="宋体" panose="02010600030101010101" pitchFamily="2" charset="-122"/>
              </a:rPr>
              <a:t>（开发活动图，建模工作流）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6150" name="Rectangle 5">
            <a:extLst>
              <a:ext uri="{FF2B5EF4-FFF2-40B4-BE49-F238E27FC236}">
                <a16:creationId xmlns:a16="http://schemas.microsoft.com/office/drawing/2014/main" id="{B0195D4B-6786-4921-A3EC-416BA4380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7053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>
            <a:extLst>
              <a:ext uri="{FF2B5EF4-FFF2-40B4-BE49-F238E27FC236}">
                <a16:creationId xmlns:a16="http://schemas.microsoft.com/office/drawing/2014/main" id="{92A1867C-1FB3-4102-82C5-FCF847989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7AA6B8E-ACA2-4BB6-969D-FBDDA62FBABF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0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2187D177-52CC-478C-A938-02A0EF70D3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Chapter 2 Outline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7839E27A-5FAB-41CA-8C7F-1F1D768DAE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4116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The RMO Consolidated Sales and Marketing System Project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（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RMO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综合销售和市场营销系统项目）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Systems Analysis Activities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What Are Requirements?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Models and Modeling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Stakeholders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Information-Gathering Techniques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Documenting Workflows with Activity Diagrams</a:t>
            </a:r>
          </a:p>
        </p:txBody>
      </p:sp>
      <p:sp>
        <p:nvSpPr>
          <p:cNvPr id="5125" name="Footer Placeholder 4">
            <a:extLst>
              <a:ext uri="{FF2B5EF4-FFF2-40B4-BE49-F238E27FC236}">
                <a16:creationId xmlns:a16="http://schemas.microsoft.com/office/drawing/2014/main" id="{C0D83BED-0D1E-4AE9-84ED-1D38BD2B55C8}"/>
              </a:ext>
            </a:extLst>
          </p:cNvPr>
          <p:cNvSpPr>
            <a:spLocks noGrp="1"/>
          </p:cNvSpPr>
          <p:nvPr/>
        </p:nvSpPr>
        <p:spPr bwMode="auto">
          <a:xfrm>
            <a:off x="1828800" y="6248400"/>
            <a:ext cx="548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C5EE48A0-463D-4EC6-802D-92E178520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822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>
            <a:extLst>
              <a:ext uri="{FF2B5EF4-FFF2-40B4-BE49-F238E27FC236}">
                <a16:creationId xmlns:a16="http://schemas.microsoft.com/office/drawing/2014/main" id="{08CBBC4A-5786-4960-86EC-1A2D9A700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A174821-2408-4273-B6CC-54DE919CB719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00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3FEB856F-E211-4FA2-8ED6-17ABF9CC00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>
                <a:ea typeface="宋体" panose="02010600030101010101" pitchFamily="2" charset="-122"/>
              </a:rPr>
              <a:t>RMO Existing Application Architecture</a:t>
            </a:r>
            <a:r>
              <a:rPr lang="zh-CN" altLang="en-US" sz="3600" dirty="0">
                <a:ea typeface="宋体" panose="02010600030101010101" pitchFamily="2" charset="-122"/>
              </a:rPr>
              <a:t>（</a:t>
            </a:r>
            <a:r>
              <a:rPr lang="en-US" altLang="zh-CN" sz="3600" dirty="0">
                <a:ea typeface="宋体" panose="02010600030101010101" pitchFamily="2" charset="-122"/>
              </a:rPr>
              <a:t>RMO</a:t>
            </a:r>
            <a:r>
              <a:rPr lang="zh-CN" altLang="en-US" sz="3600" dirty="0">
                <a:ea typeface="宋体" panose="02010600030101010101" pitchFamily="2" charset="-122"/>
              </a:rPr>
              <a:t>现有结构）</a:t>
            </a:r>
            <a:endParaRPr lang="en-US" altLang="zh-CN" sz="3600" dirty="0">
              <a:ea typeface="宋体" panose="02010600030101010101" pitchFamily="2" charset="-122"/>
            </a:endParaRP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A3D72EF1-D34B-4111-8882-C621680DE0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6831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Supply Chain Management (SCM)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5 years old; Java/Oracle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Tradeshow system will interface with SCM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Phone/Mail Order System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12 years old; Visual Studio/SQL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Reached capacity;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Retail Store System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Older package solution;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Customer Support System (CSS)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Web based system; evolved over the years, mainly support phone/mail orders</a:t>
            </a:r>
          </a:p>
        </p:txBody>
      </p:sp>
      <p:sp>
        <p:nvSpPr>
          <p:cNvPr id="11269" name="Footer Placeholder 4">
            <a:extLst>
              <a:ext uri="{FF2B5EF4-FFF2-40B4-BE49-F238E27FC236}">
                <a16:creationId xmlns:a16="http://schemas.microsoft.com/office/drawing/2014/main" id="{1E95DFA6-30EE-40BB-9FFC-6FDEDE09A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11270" name="Rectangle 6">
            <a:extLst>
              <a:ext uri="{FF2B5EF4-FFF2-40B4-BE49-F238E27FC236}">
                <a16:creationId xmlns:a16="http://schemas.microsoft.com/office/drawing/2014/main" id="{B743FB90-3A64-4DAA-BED2-DBB76FEC5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2467380A-D96D-4B28-9A86-CA6ADCBFB026}"/>
              </a:ext>
            </a:extLst>
          </p:cNvPr>
          <p:cNvSpPr/>
          <p:nvPr/>
        </p:nvSpPr>
        <p:spPr>
          <a:xfrm>
            <a:off x="6859858" y="1447800"/>
            <a:ext cx="2207941" cy="685800"/>
          </a:xfrm>
          <a:prstGeom prst="wedgeRoundRectCallout">
            <a:avLst>
              <a:gd name="adj1" fmla="val -64348"/>
              <a:gd name="adj2" fmla="val -16633"/>
              <a:gd name="adj3" fmla="val 16667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问题：供应链的管理方式发生变化</a:t>
            </a:r>
          </a:p>
        </p:txBody>
      </p:sp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id="{AB51D991-1E54-46F3-BE66-B06EFB92C8E7}"/>
              </a:ext>
            </a:extLst>
          </p:cNvPr>
          <p:cNvSpPr/>
          <p:nvPr/>
        </p:nvSpPr>
        <p:spPr>
          <a:xfrm>
            <a:off x="6211229" y="2789238"/>
            <a:ext cx="2207941" cy="685800"/>
          </a:xfrm>
          <a:prstGeom prst="wedgeRoundRectCallout">
            <a:avLst>
              <a:gd name="adj1" fmla="val -64348"/>
              <a:gd name="adj2" fmla="val -16633"/>
              <a:gd name="adj3" fmla="val 16667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问题：购物方式发生变化</a:t>
            </a:r>
          </a:p>
        </p:txBody>
      </p:sp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0FA536FE-AC9E-4E59-90F1-1323D0F74300}"/>
              </a:ext>
            </a:extLst>
          </p:cNvPr>
          <p:cNvSpPr/>
          <p:nvPr/>
        </p:nvSpPr>
        <p:spPr>
          <a:xfrm>
            <a:off x="6400800" y="3787776"/>
            <a:ext cx="2207941" cy="685800"/>
          </a:xfrm>
          <a:prstGeom prst="wedgeRoundRectCallout">
            <a:avLst>
              <a:gd name="adj1" fmla="val -66368"/>
              <a:gd name="adj2" fmla="val 15887"/>
              <a:gd name="adj3" fmla="val 16667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问题：购物模式发生变化</a:t>
            </a:r>
          </a:p>
        </p:txBody>
      </p:sp>
      <p:sp>
        <p:nvSpPr>
          <p:cNvPr id="10" name="对话气泡: 圆角矩形 9">
            <a:extLst>
              <a:ext uri="{FF2B5EF4-FFF2-40B4-BE49-F238E27FC236}">
                <a16:creationId xmlns:a16="http://schemas.microsoft.com/office/drawing/2014/main" id="{3FB9D391-29C8-445E-B477-3EBCF796ECB0}"/>
              </a:ext>
            </a:extLst>
          </p:cNvPr>
          <p:cNvSpPr/>
          <p:nvPr/>
        </p:nvSpPr>
        <p:spPr>
          <a:xfrm>
            <a:off x="6058830" y="5834063"/>
            <a:ext cx="2207941" cy="685800"/>
          </a:xfrm>
          <a:prstGeom prst="wedgeRoundRectCallout">
            <a:avLst>
              <a:gd name="adj1" fmla="val -63001"/>
              <a:gd name="adj2" fmla="val -40481"/>
              <a:gd name="adj3" fmla="val 16667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问题：顾客需求发生变化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>
            <a:extLst>
              <a:ext uri="{FF2B5EF4-FFF2-40B4-BE49-F238E27FC236}">
                <a16:creationId xmlns:a16="http://schemas.microsoft.com/office/drawing/2014/main" id="{943CAFF8-BFDC-497F-AFCA-E578CB50B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87E7974-D7B1-4B20-9D3F-2B1FA87E8C7B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000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CD8107EC-0499-4230-8681-B82F24A4DE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589935"/>
            <a:ext cx="8229600" cy="1295400"/>
          </a:xfrm>
        </p:spPr>
        <p:txBody>
          <a:bodyPr/>
          <a:lstStyle/>
          <a:p>
            <a:pPr eaLnBrk="1" hangingPunct="1"/>
            <a:r>
              <a:rPr lang="en-US" altLang="zh-CN" sz="3600" dirty="0">
                <a:ea typeface="宋体" panose="02010600030101010101" pitchFamily="2" charset="-122"/>
              </a:rPr>
              <a:t>New Consolidated Sales and Marketing System</a:t>
            </a:r>
            <a:br>
              <a:rPr lang="en-US" altLang="zh-CN" sz="3600" dirty="0">
                <a:ea typeface="宋体" panose="02010600030101010101" pitchFamily="2" charset="-122"/>
              </a:rPr>
            </a:br>
            <a:r>
              <a:rPr lang="en-US" altLang="zh-CN" sz="3600" dirty="0">
                <a:ea typeface="宋体" panose="02010600030101010101" pitchFamily="2" charset="-122"/>
              </a:rPr>
              <a:t> (CSMS</a:t>
            </a:r>
            <a:r>
              <a:rPr lang="zh-CN" altLang="en-US" sz="3600" dirty="0">
                <a:ea typeface="宋体" panose="02010600030101010101" pitchFamily="2" charset="-122"/>
              </a:rPr>
              <a:t>，新的市场推广系统</a:t>
            </a:r>
            <a:r>
              <a:rPr lang="en-US" altLang="zh-CN" sz="3600" dirty="0"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989A4075-5CD8-4A4C-9477-C40F344DB8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057400"/>
            <a:ext cx="8229600" cy="45307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Sales Subsystem</a:t>
            </a:r>
            <a:r>
              <a:rPr lang="zh-CN" altLang="en-US" sz="2800" dirty="0">
                <a:ea typeface="宋体" panose="02010600030101010101" pitchFamily="2" charset="-122"/>
              </a:rPr>
              <a:t>（销售子系统）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Integrates online, phone, and retail stores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Order Fulfillment Subsystem</a:t>
            </a:r>
            <a:r>
              <a:rPr lang="zh-CN" altLang="en-US" sz="2800" dirty="0">
                <a:ea typeface="宋体" panose="02010600030101010101" pitchFamily="2" charset="-122"/>
              </a:rPr>
              <a:t>（订单实施子系统）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Track shipments, rate products and services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Customer Account Subsystem</a:t>
            </a:r>
            <a:r>
              <a:rPr lang="zh-CN" altLang="en-US" sz="2800" dirty="0">
                <a:ea typeface="宋体" panose="02010600030101010101" pitchFamily="2" charset="-122"/>
              </a:rPr>
              <a:t>（顾客账务子系统）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Shopping history, linkups, “mountain bucks” rewards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Marketing Subsystem</a:t>
            </a:r>
            <a:r>
              <a:rPr lang="zh-CN" altLang="en-US" sz="2800" dirty="0">
                <a:ea typeface="宋体" panose="02010600030101010101" pitchFamily="2" charset="-122"/>
              </a:rPr>
              <a:t>（市场营销子系统）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Promotional packages, partner relationships, more complete merchandise information and reporting  </a:t>
            </a:r>
          </a:p>
        </p:txBody>
      </p:sp>
      <p:sp>
        <p:nvSpPr>
          <p:cNvPr id="13317" name="Footer Placeholder 4">
            <a:extLst>
              <a:ext uri="{FF2B5EF4-FFF2-40B4-BE49-F238E27FC236}">
                <a16:creationId xmlns:a16="http://schemas.microsoft.com/office/drawing/2014/main" id="{4914F1EC-8FC3-4C4E-ABE9-E9435CB68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35D59DEC-B57C-4942-BF7A-F69E1202E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076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>
            <a:extLst>
              <a:ext uri="{FF2B5EF4-FFF2-40B4-BE49-F238E27FC236}">
                <a16:creationId xmlns:a16="http://schemas.microsoft.com/office/drawing/2014/main" id="{2D1B9DED-9658-4454-84D6-81D296081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120A97E-069C-4892-91D4-774B00F784AB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000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5D083D37-B7E0-4B44-8BA0-D8AF1FEE0F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20762"/>
          </a:xfrm>
        </p:spPr>
        <p:txBody>
          <a:bodyPr/>
          <a:lstStyle/>
          <a:p>
            <a:pPr eaLnBrk="1" hangingPunct="1"/>
            <a:r>
              <a:rPr lang="en-US" altLang="zh-CN" sz="3200" dirty="0">
                <a:ea typeface="宋体" panose="02010600030101010101" pitchFamily="2" charset="-122"/>
              </a:rPr>
              <a:t>Proposed </a:t>
            </a:r>
            <a:r>
              <a:rPr lang="en-US" altLang="zh-CN" sz="3200" dirty="0">
                <a:solidFill>
                  <a:srgbClr val="C00000"/>
                </a:solidFill>
                <a:ea typeface="宋体" panose="02010600030101010101" pitchFamily="2" charset="-122"/>
              </a:rPr>
              <a:t>Application Architecture</a:t>
            </a:r>
            <a:r>
              <a:rPr lang="en-US" altLang="zh-CN" sz="3200" dirty="0">
                <a:ea typeface="宋体" panose="02010600030101010101" pitchFamily="2" charset="-122"/>
              </a:rPr>
              <a:t>: Integrate SCM and New CSMS</a:t>
            </a:r>
          </a:p>
        </p:txBody>
      </p:sp>
      <p:pic>
        <p:nvPicPr>
          <p:cNvPr id="12292" name="Picture 4">
            <a:extLst>
              <a:ext uri="{FF2B5EF4-FFF2-40B4-BE49-F238E27FC236}">
                <a16:creationId xmlns:a16="http://schemas.microsoft.com/office/drawing/2014/main" id="{960C3F3D-EB02-4BE7-9787-222AD995832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4400" y="1143000"/>
            <a:ext cx="7239000" cy="5095875"/>
          </a:xfrm>
          <a:noFill/>
        </p:spPr>
      </p:pic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27BE0C2D-72D6-4150-BCFD-E58E6E249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34B18C0C-F54A-4E8D-9151-13DDDF8250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204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>
            <a:extLst>
              <a:ext uri="{FF2B5EF4-FFF2-40B4-BE49-F238E27FC236}">
                <a16:creationId xmlns:a16="http://schemas.microsoft.com/office/drawing/2014/main" id="{92A1867C-1FB3-4102-82C5-FCF847989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7AA6B8E-ACA2-4BB6-969D-FBDDA62FBABF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0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2187D177-52CC-478C-A938-02A0EF70D3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Chapter 2 Outline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7839E27A-5FAB-41CA-8C7F-1F1D768DAE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4116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The RMO Consolidated Sales and Marketing System Project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Systems Analysis Activities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（系统分析活动）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What Are Requirements?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Models and Modeling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Stakeholders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Information-Gathering Techniques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Documenting Workflows with Activity Diagrams</a:t>
            </a:r>
          </a:p>
        </p:txBody>
      </p:sp>
      <p:sp>
        <p:nvSpPr>
          <p:cNvPr id="5125" name="Footer Placeholder 4">
            <a:extLst>
              <a:ext uri="{FF2B5EF4-FFF2-40B4-BE49-F238E27FC236}">
                <a16:creationId xmlns:a16="http://schemas.microsoft.com/office/drawing/2014/main" id="{C0D83BED-0D1E-4AE9-84ED-1D38BD2B55C8}"/>
              </a:ext>
            </a:extLst>
          </p:cNvPr>
          <p:cNvSpPr>
            <a:spLocks noGrp="1"/>
          </p:cNvSpPr>
          <p:nvPr/>
        </p:nvSpPr>
        <p:spPr bwMode="auto">
          <a:xfrm>
            <a:off x="1828800" y="6248400"/>
            <a:ext cx="548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C5EE48A0-463D-4EC6-802D-92E178520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8406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>
            <a:extLst>
              <a:ext uri="{FF2B5EF4-FFF2-40B4-BE49-F238E27FC236}">
                <a16:creationId xmlns:a16="http://schemas.microsoft.com/office/drawing/2014/main" id="{1F86FDBA-D1D1-4F36-A128-EA710701D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B3ED205-FC49-47AF-813E-D4645FDE9412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00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91D315D8-3DA2-4F54-9EE8-C6DA985C69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>
                <a:ea typeface="宋体" panose="02010600030101010101" pitchFamily="2" charset="-122"/>
              </a:rPr>
              <a:t>Systems Analysis Activities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9FF9896E-113F-4A12-A87E-922E12FAEB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Gather Detailed Information</a:t>
            </a:r>
            <a:r>
              <a:rPr lang="zh-CN" altLang="en-US" sz="2400" dirty="0">
                <a:ea typeface="宋体" panose="02010600030101010101" pitchFamily="2" charset="-122"/>
              </a:rPr>
              <a:t>（收集信息）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Interviews, questionnaires, documents, observing business processes, researching vendors, comments and suggestions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Define Requirements</a:t>
            </a:r>
            <a:r>
              <a:rPr lang="zh-CN" altLang="en-US" sz="2400" dirty="0">
                <a:ea typeface="宋体" panose="02010600030101010101" pitchFamily="2" charset="-122"/>
              </a:rPr>
              <a:t>（定义需求）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Modeling functional requirements and non-functional requirements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Prioritize Requirements</a:t>
            </a:r>
            <a:r>
              <a:rPr lang="zh-CN" altLang="en-US" sz="2400" dirty="0">
                <a:ea typeface="宋体" panose="02010600030101010101" pitchFamily="2" charset="-122"/>
              </a:rPr>
              <a:t>（优先需求）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100" dirty="0">
                <a:ea typeface="宋体" panose="02010600030101010101" pitchFamily="2" charset="-122"/>
              </a:rPr>
              <a:t>Essential, important, vs. nice to have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Develop User-Interface Dialogs</a:t>
            </a:r>
            <a:r>
              <a:rPr lang="zh-CN" altLang="en-US" sz="2400" dirty="0">
                <a:ea typeface="宋体" panose="02010600030101010101" pitchFamily="2" charset="-122"/>
              </a:rPr>
              <a:t>（用户界面对话框）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100" dirty="0">
                <a:ea typeface="宋体" panose="02010600030101010101" pitchFamily="2" charset="-122"/>
              </a:rPr>
              <a:t>Flow of interaction between user and system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Evaluate Requirements with Users</a:t>
            </a:r>
            <a:r>
              <a:rPr lang="zh-CN" altLang="en-US" sz="2400" dirty="0">
                <a:ea typeface="宋体" panose="02010600030101010101" pitchFamily="2" charset="-122"/>
              </a:rPr>
              <a:t>（与用户评估需求）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100" dirty="0">
                <a:ea typeface="宋体" panose="02010600030101010101" pitchFamily="2" charset="-122"/>
              </a:rPr>
              <a:t>User involvement, feedback, adapt to changes </a:t>
            </a:r>
          </a:p>
        </p:txBody>
      </p:sp>
      <p:sp>
        <p:nvSpPr>
          <p:cNvPr id="17413" name="Footer Placeholder 4">
            <a:extLst>
              <a:ext uri="{FF2B5EF4-FFF2-40B4-BE49-F238E27FC236}">
                <a16:creationId xmlns:a16="http://schemas.microsoft.com/office/drawing/2014/main" id="{2A0156FF-58D3-43D6-B1BB-22F6F397F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1B8135AD-747D-4A5C-B929-143252322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>
            <a:extLst>
              <a:ext uri="{FF2B5EF4-FFF2-40B4-BE49-F238E27FC236}">
                <a16:creationId xmlns:a16="http://schemas.microsoft.com/office/drawing/2014/main" id="{92A1867C-1FB3-4102-82C5-FCF847989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7AA6B8E-ACA2-4BB6-969D-FBDDA62FBABF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0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2187D177-52CC-478C-A938-02A0EF70D3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Chapter 2 Outline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7839E27A-5FAB-41CA-8C7F-1F1D768DAE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4116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The RMO Consolidated Sales and Marketing System Project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Systems Analysis Activities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What Are Requirements?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（什么是需求）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Models and Modeling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Stakeholders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Information-Gathering Techniques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Documenting Workflows with Activity Diagrams</a:t>
            </a:r>
          </a:p>
        </p:txBody>
      </p:sp>
      <p:sp>
        <p:nvSpPr>
          <p:cNvPr id="5125" name="Footer Placeholder 4">
            <a:extLst>
              <a:ext uri="{FF2B5EF4-FFF2-40B4-BE49-F238E27FC236}">
                <a16:creationId xmlns:a16="http://schemas.microsoft.com/office/drawing/2014/main" id="{C0D83BED-0D1E-4AE9-84ED-1D38BD2B55C8}"/>
              </a:ext>
            </a:extLst>
          </p:cNvPr>
          <p:cNvSpPr>
            <a:spLocks noGrp="1"/>
          </p:cNvSpPr>
          <p:nvPr/>
        </p:nvSpPr>
        <p:spPr bwMode="auto">
          <a:xfrm>
            <a:off x="1828800" y="6248400"/>
            <a:ext cx="548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C5EE48A0-463D-4EC6-802D-92E178520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1502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>
            <a:extLst>
              <a:ext uri="{FF2B5EF4-FFF2-40B4-BE49-F238E27FC236}">
                <a16:creationId xmlns:a16="http://schemas.microsoft.com/office/drawing/2014/main" id="{66AFFCE4-ECA9-4BFD-970B-5C8B0CB9B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392BB61-2A7E-4915-9797-BEA3F465E267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0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16574034-B903-4F34-ADBB-5187458315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7543800" cy="884238"/>
          </a:xfrm>
        </p:spPr>
        <p:txBody>
          <a:bodyPr/>
          <a:lstStyle/>
          <a:p>
            <a:pPr eaLnBrk="1" hangingPunct="1"/>
            <a:r>
              <a:rPr lang="en-US" altLang="zh-CN" sz="3600">
                <a:ea typeface="宋体" panose="02010600030101010101" pitchFamily="2" charset="-122"/>
              </a:rPr>
              <a:t>What Are Requirements?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1B8039C4-D2B7-4C05-9F7B-165C2FC9E2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5307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System Requirements</a:t>
            </a:r>
            <a:r>
              <a:rPr lang="zh-CN" altLang="en-US" sz="2800" dirty="0">
                <a:ea typeface="宋体" panose="02010600030101010101" pitchFamily="2" charset="-122"/>
              </a:rPr>
              <a:t>（系统需求）</a:t>
            </a:r>
            <a:r>
              <a:rPr lang="en-US" altLang="zh-CN" sz="2800" dirty="0">
                <a:ea typeface="宋体" panose="02010600030101010101" pitchFamily="2" charset="-122"/>
              </a:rPr>
              <a:t> =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Functional requirements</a:t>
            </a:r>
            <a:r>
              <a:rPr lang="zh-CN" altLang="en-US" sz="2400" dirty="0">
                <a:ea typeface="宋体" panose="02010600030101010101" pitchFamily="2" charset="-122"/>
              </a:rPr>
              <a:t>（功能需求）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Non-functional requirements</a:t>
            </a:r>
            <a:r>
              <a:rPr lang="zh-CN" altLang="en-US" sz="2400" dirty="0">
                <a:ea typeface="宋体" panose="02010600030101010101" pitchFamily="2" charset="-122"/>
              </a:rPr>
              <a:t>（非功能需求）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Functional Requirements</a:t>
            </a:r>
            <a:r>
              <a:rPr lang="zh-CN" altLang="en-US" sz="2800" dirty="0">
                <a:ea typeface="宋体" panose="02010600030101010101" pitchFamily="2" charset="-122"/>
              </a:rPr>
              <a:t>（功能需求）</a:t>
            </a:r>
            <a:r>
              <a:rPr lang="en-US" altLang="zh-CN" sz="2800" dirty="0">
                <a:ea typeface="宋体" panose="02010600030101010101" pitchFamily="2" charset="-122"/>
              </a:rPr>
              <a:t>– the activities the system </a:t>
            </a:r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must </a:t>
            </a:r>
            <a:r>
              <a:rPr lang="en-US" altLang="zh-CN" sz="2800" dirty="0">
                <a:ea typeface="宋体" panose="02010600030101010101" pitchFamily="2" charset="-122"/>
              </a:rPr>
              <a:t>perform</a:t>
            </a:r>
            <a:r>
              <a:rPr lang="zh-CN" altLang="en-US" sz="2800" dirty="0">
                <a:ea typeface="宋体" panose="02010600030101010101" pitchFamily="2" charset="-122"/>
              </a:rPr>
              <a:t>（系统必须执行的活动）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Business uses, functions the users carry out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Use cases in Chapter 1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Non-Functional Requirements– other system characteristics</a:t>
            </a:r>
            <a:r>
              <a:rPr lang="zh-CN" altLang="en-US" sz="2800" dirty="0">
                <a:ea typeface="宋体" panose="02010600030101010101" pitchFamily="2" charset="-122"/>
              </a:rPr>
              <a:t>（非功能需求</a:t>
            </a:r>
            <a:r>
              <a:rPr lang="en-US" altLang="zh-CN" sz="2800" dirty="0">
                <a:ea typeface="宋体" panose="02010600030101010101" pitchFamily="2" charset="-122"/>
              </a:rPr>
              <a:t>——</a:t>
            </a:r>
            <a:r>
              <a:rPr lang="zh-CN" altLang="en-US" sz="2800" dirty="0">
                <a:ea typeface="宋体" panose="02010600030101010101" pitchFamily="2" charset="-122"/>
              </a:rPr>
              <a:t>其他系统特征）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Constraints and performance goals</a:t>
            </a:r>
          </a:p>
          <a:p>
            <a:pPr eaLnBrk="1" hangingPunct="1">
              <a:lnSpc>
                <a:spcPct val="90000"/>
              </a:lnSpc>
            </a:pP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2900" dirty="0">
              <a:ea typeface="宋体" panose="02010600030101010101" pitchFamily="2" charset="-122"/>
            </a:endParaRPr>
          </a:p>
        </p:txBody>
      </p:sp>
      <p:sp>
        <p:nvSpPr>
          <p:cNvPr id="18437" name="Footer Placeholder 4">
            <a:extLst>
              <a:ext uri="{FF2B5EF4-FFF2-40B4-BE49-F238E27FC236}">
                <a16:creationId xmlns:a16="http://schemas.microsoft.com/office/drawing/2014/main" id="{73E59C09-6E75-4E59-9656-CAF9189E2EA1}"/>
              </a:ext>
            </a:extLst>
          </p:cNvPr>
          <p:cNvSpPr txBox="1">
            <a:spLocks/>
          </p:cNvSpPr>
          <p:nvPr/>
        </p:nvSpPr>
        <p:spPr bwMode="auto">
          <a:xfrm>
            <a:off x="1752600" y="6172200"/>
            <a:ext cx="548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18438" name="Rectangle 6">
            <a:extLst>
              <a:ext uri="{FF2B5EF4-FFF2-40B4-BE49-F238E27FC236}">
                <a16:creationId xmlns:a16="http://schemas.microsoft.com/office/drawing/2014/main" id="{1328D29E-9843-477C-83EB-C1B1E5868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C173E659-403A-44E3-AC3F-8D322C33A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9B33CF0-82CC-4711-A492-ABCC4A133E0B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00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6421E3B2-70DA-4731-A7C0-927F42CC0A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>
                <a:ea typeface="宋体" panose="02010600030101010101" pitchFamily="2" charset="-122"/>
              </a:rPr>
              <a:t>FURPS+ Requirements Acronym</a:t>
            </a:r>
            <a:br>
              <a:rPr lang="en-US" altLang="zh-CN" sz="3600" dirty="0">
                <a:ea typeface="宋体" panose="02010600030101010101" pitchFamily="2" charset="-122"/>
              </a:rPr>
            </a:br>
            <a:r>
              <a:rPr lang="zh-CN" altLang="en-US" sz="3600" dirty="0">
                <a:ea typeface="宋体" panose="02010600030101010101" pitchFamily="2" charset="-122"/>
              </a:rPr>
              <a:t>识别和分类需求的方法</a:t>
            </a:r>
            <a:r>
              <a:rPr lang="en-US" altLang="zh-CN" sz="3600" dirty="0">
                <a:ea typeface="宋体" panose="02010600030101010101" pitchFamily="2" charset="-122"/>
              </a:rPr>
              <a:t>——FURPS+</a:t>
            </a:r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65C4901B-988F-4EE3-B765-15E8536514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4606925"/>
          </a:xfrm>
        </p:spPr>
        <p:txBody>
          <a:bodyPr/>
          <a:lstStyle/>
          <a:p>
            <a:pPr eaLnBrk="1" hangingPunct="1"/>
            <a:r>
              <a:rPr lang="en-US" altLang="zh-CN" sz="4000" dirty="0">
                <a:ea typeface="宋体" panose="02010600030101010101" pitchFamily="2" charset="-122"/>
              </a:rPr>
              <a:t>F</a:t>
            </a:r>
            <a:r>
              <a:rPr lang="en-US" altLang="zh-CN" dirty="0">
                <a:ea typeface="宋体" panose="02010600030101010101" pitchFamily="2" charset="-122"/>
              </a:rPr>
              <a:t>unctional requirements</a:t>
            </a:r>
            <a:r>
              <a:rPr lang="zh-CN" altLang="en-US" dirty="0">
                <a:ea typeface="宋体" panose="02010600030101010101" pitchFamily="2" charset="-122"/>
              </a:rPr>
              <a:t>（功能需求）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4000" dirty="0">
                <a:ea typeface="宋体" panose="02010600030101010101" pitchFamily="2" charset="-122"/>
              </a:rPr>
              <a:t>U</a:t>
            </a:r>
            <a:r>
              <a:rPr lang="en-US" altLang="zh-CN" dirty="0">
                <a:ea typeface="宋体" panose="02010600030101010101" pitchFamily="2" charset="-122"/>
              </a:rPr>
              <a:t>sability requirements</a:t>
            </a:r>
            <a:r>
              <a:rPr lang="zh-CN" altLang="en-US" dirty="0">
                <a:ea typeface="宋体" panose="02010600030101010101" pitchFamily="2" charset="-122"/>
              </a:rPr>
              <a:t>（可用性需求）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4000" dirty="0">
                <a:ea typeface="宋体" panose="02010600030101010101" pitchFamily="2" charset="-122"/>
              </a:rPr>
              <a:t>R</a:t>
            </a:r>
            <a:r>
              <a:rPr lang="en-US" altLang="zh-CN" dirty="0">
                <a:ea typeface="宋体" panose="02010600030101010101" pitchFamily="2" charset="-122"/>
              </a:rPr>
              <a:t>eliability requirements</a:t>
            </a:r>
            <a:r>
              <a:rPr lang="zh-CN" altLang="en-US" dirty="0">
                <a:ea typeface="宋体" panose="02010600030101010101" pitchFamily="2" charset="-122"/>
              </a:rPr>
              <a:t>（可靠性需求）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4000" dirty="0">
                <a:ea typeface="宋体" panose="02010600030101010101" pitchFamily="2" charset="-122"/>
              </a:rPr>
              <a:t>P</a:t>
            </a:r>
            <a:r>
              <a:rPr lang="en-US" altLang="zh-CN" dirty="0">
                <a:ea typeface="宋体" panose="02010600030101010101" pitchFamily="2" charset="-122"/>
              </a:rPr>
              <a:t>erformance requirements</a:t>
            </a:r>
            <a:r>
              <a:rPr lang="zh-CN" altLang="en-US" dirty="0">
                <a:ea typeface="宋体" panose="02010600030101010101" pitchFamily="2" charset="-122"/>
              </a:rPr>
              <a:t>（性能需求）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4000" dirty="0">
                <a:ea typeface="宋体" panose="02010600030101010101" pitchFamily="2" charset="-122"/>
              </a:rPr>
              <a:t>S</a:t>
            </a:r>
            <a:r>
              <a:rPr lang="en-US" altLang="zh-CN" dirty="0">
                <a:ea typeface="宋体" panose="02010600030101010101" pitchFamily="2" charset="-122"/>
              </a:rPr>
              <a:t>ecurity requirements</a:t>
            </a:r>
            <a:r>
              <a:rPr lang="zh-CN" altLang="en-US" dirty="0">
                <a:ea typeface="宋体" panose="02010600030101010101" pitchFamily="2" charset="-122"/>
              </a:rPr>
              <a:t>（安全需求）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4000" dirty="0">
                <a:ea typeface="宋体" panose="02010600030101010101" pitchFamily="2" charset="-122"/>
              </a:rPr>
              <a:t>+ </a:t>
            </a:r>
            <a:r>
              <a:rPr lang="en-US" altLang="zh-CN" sz="2800" dirty="0">
                <a:ea typeface="宋体" panose="02010600030101010101" pitchFamily="2" charset="-122"/>
              </a:rPr>
              <a:t>even more categories…</a:t>
            </a:r>
          </a:p>
        </p:txBody>
      </p:sp>
      <p:sp>
        <p:nvSpPr>
          <p:cNvPr id="19461" name="Footer Placeholder 4">
            <a:extLst>
              <a:ext uri="{FF2B5EF4-FFF2-40B4-BE49-F238E27FC236}">
                <a16:creationId xmlns:a16="http://schemas.microsoft.com/office/drawing/2014/main" id="{70F9A80C-C96F-42D9-8DAF-CDCABB787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19462" name="Rectangle 6">
            <a:extLst>
              <a:ext uri="{FF2B5EF4-FFF2-40B4-BE49-F238E27FC236}">
                <a16:creationId xmlns:a16="http://schemas.microsoft.com/office/drawing/2014/main" id="{AF81D8AD-27BB-493F-950F-70709C9AC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>
            <a:extLst>
              <a:ext uri="{FF2B5EF4-FFF2-40B4-BE49-F238E27FC236}">
                <a16:creationId xmlns:a16="http://schemas.microsoft.com/office/drawing/2014/main" id="{2FBB2878-F88C-4F6F-B010-1407F639D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F9B3CB7-8D77-4208-B126-57FC2903EDE0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00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C2FBE48D-0996-4B3E-BC88-721FDA4A65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>
                <a:ea typeface="宋体" panose="02010600030101010101" pitchFamily="2" charset="-122"/>
              </a:rPr>
              <a:t>FURPS+ Requirements Acronym</a:t>
            </a:r>
          </a:p>
        </p:txBody>
      </p:sp>
      <p:pic>
        <p:nvPicPr>
          <p:cNvPr id="20484" name="Picture 8">
            <a:extLst>
              <a:ext uri="{FF2B5EF4-FFF2-40B4-BE49-F238E27FC236}">
                <a16:creationId xmlns:a16="http://schemas.microsoft.com/office/drawing/2014/main" id="{E8D32FD9-7306-41F8-8ECF-C311833DA16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752600"/>
            <a:ext cx="8534400" cy="4032250"/>
          </a:xfrm>
          <a:noFill/>
        </p:spPr>
      </p:pic>
      <p:sp>
        <p:nvSpPr>
          <p:cNvPr id="20485" name="Footer Placeholder 4">
            <a:extLst>
              <a:ext uri="{FF2B5EF4-FFF2-40B4-BE49-F238E27FC236}">
                <a16:creationId xmlns:a16="http://schemas.microsoft.com/office/drawing/2014/main" id="{48C26D05-EEC9-4EB8-A8EC-24AC0C361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20486" name="Rectangle 6">
            <a:extLst>
              <a:ext uri="{FF2B5EF4-FFF2-40B4-BE49-F238E27FC236}">
                <a16:creationId xmlns:a16="http://schemas.microsoft.com/office/drawing/2014/main" id="{CBFB1FBB-FA93-445A-BE5F-3ECEF9B8F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99E220B-DCDC-4275-AC5C-7619B4F56AF0}"/>
              </a:ext>
            </a:extLst>
          </p:cNvPr>
          <p:cNvSpPr txBox="1"/>
          <p:nvPr/>
        </p:nvSpPr>
        <p:spPr>
          <a:xfrm>
            <a:off x="1828800" y="3048000"/>
            <a:ext cx="1107996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可用性</a:t>
            </a:r>
            <a:endParaRPr lang="en-US" altLang="zh-CN" dirty="0"/>
          </a:p>
          <a:p>
            <a:r>
              <a:rPr lang="zh-CN" altLang="en-US" dirty="0"/>
              <a:t>可靠性</a:t>
            </a:r>
            <a:endParaRPr lang="en-US" altLang="zh-CN" dirty="0"/>
          </a:p>
          <a:p>
            <a:r>
              <a:rPr lang="zh-CN" altLang="en-US" dirty="0"/>
              <a:t>性能</a:t>
            </a:r>
            <a:endParaRPr lang="en-US" altLang="zh-CN" dirty="0"/>
          </a:p>
          <a:p>
            <a:r>
              <a:rPr lang="zh-CN" altLang="en-US" dirty="0"/>
              <a:t>安全</a:t>
            </a:r>
            <a:endParaRPr lang="en-US" altLang="zh-CN" dirty="0"/>
          </a:p>
          <a:p>
            <a:r>
              <a:rPr lang="zh-CN" altLang="en-US" dirty="0"/>
              <a:t>设计限制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zh-CN" altLang="en-US" dirty="0"/>
              <a:t>开发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zh-CN" altLang="en-US" dirty="0"/>
              <a:t>接口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zh-CN" altLang="en-US" dirty="0"/>
              <a:t>物理层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zh-CN" altLang="en-US" dirty="0"/>
              <a:t>支持</a:t>
            </a:r>
            <a:endParaRPr lang="en-US" altLang="zh-C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>
            <a:extLst>
              <a:ext uri="{FF2B5EF4-FFF2-40B4-BE49-F238E27FC236}">
                <a16:creationId xmlns:a16="http://schemas.microsoft.com/office/drawing/2014/main" id="{92A1867C-1FB3-4102-82C5-FCF847989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7AA6B8E-ACA2-4BB6-969D-FBDDA62FBABF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0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2187D177-52CC-478C-A938-02A0EF70D3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Chapter 2 Outline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7839E27A-5FAB-41CA-8C7F-1F1D768DAE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4116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The RMO Consolidated Sales and Marketing System Project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Systems Analysis Activities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What Are Requirements?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Models and Modeling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（模型和建模）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Stakeholders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Information-Gathering Techniques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Documenting Workflows with Activity Diagrams</a:t>
            </a:r>
          </a:p>
        </p:txBody>
      </p:sp>
      <p:sp>
        <p:nvSpPr>
          <p:cNvPr id="5125" name="Footer Placeholder 4">
            <a:extLst>
              <a:ext uri="{FF2B5EF4-FFF2-40B4-BE49-F238E27FC236}">
                <a16:creationId xmlns:a16="http://schemas.microsoft.com/office/drawing/2014/main" id="{C0D83BED-0D1E-4AE9-84ED-1D38BD2B55C8}"/>
              </a:ext>
            </a:extLst>
          </p:cNvPr>
          <p:cNvSpPr>
            <a:spLocks noGrp="1"/>
          </p:cNvSpPr>
          <p:nvPr/>
        </p:nvSpPr>
        <p:spPr bwMode="auto">
          <a:xfrm>
            <a:off x="1828800" y="6248400"/>
            <a:ext cx="548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C5EE48A0-463D-4EC6-802D-92E178520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9948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>
            <a:extLst>
              <a:ext uri="{FF2B5EF4-FFF2-40B4-BE49-F238E27FC236}">
                <a16:creationId xmlns:a16="http://schemas.microsoft.com/office/drawing/2014/main" id="{4674C062-58DB-4D1D-B2BD-C6C8C3B20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8867C13-F5FB-4F82-8BCE-742F16025C58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000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26D2B872-5A09-499A-A9A9-CD3507559D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>
                <a:ea typeface="宋体" panose="02010600030101010101" pitchFamily="2" charset="-122"/>
              </a:rPr>
              <a:t>Models and Modeling</a:t>
            </a: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525850CA-8F86-436F-986D-36D550CCD9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763000" cy="4606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How to </a:t>
            </a:r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represent</a:t>
            </a:r>
            <a:r>
              <a:rPr lang="en-US" altLang="zh-CN" sz="2800" dirty="0">
                <a:ea typeface="宋体" panose="02010600030101010101" pitchFamily="2" charset="-122"/>
              </a:rPr>
              <a:t> the requirements?</a:t>
            </a:r>
            <a:r>
              <a:rPr lang="zh-CN" altLang="en-US" sz="2800" dirty="0">
                <a:ea typeface="宋体" panose="02010600030101010101" pitchFamily="2" charset="-122"/>
              </a:rPr>
              <a:t>如何表示需求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Model– a representation of some aspect of the system being built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Types of Models</a:t>
            </a:r>
            <a:r>
              <a:rPr lang="zh-CN" altLang="en-US" sz="2800" dirty="0">
                <a:ea typeface="宋体" panose="02010600030101010101" pitchFamily="2" charset="-122"/>
              </a:rPr>
              <a:t>（模型类型）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Textual model</a:t>
            </a:r>
            <a:r>
              <a:rPr lang="zh-CN" altLang="en-US" sz="2400" dirty="0">
                <a:ea typeface="宋体" panose="02010600030101010101" pitchFamily="2" charset="-122"/>
              </a:rPr>
              <a:t>（文本）</a:t>
            </a:r>
            <a:r>
              <a:rPr lang="en-US" altLang="zh-CN" sz="2400" dirty="0">
                <a:ea typeface="宋体" panose="02010600030101010101" pitchFamily="2" charset="-122"/>
              </a:rPr>
              <a:t>– something written down, described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Graphical models</a:t>
            </a:r>
            <a:r>
              <a:rPr lang="zh-CN" altLang="en-US" sz="2400" dirty="0">
                <a:ea typeface="宋体" panose="02010600030101010101" pitchFamily="2" charset="-122"/>
              </a:rPr>
              <a:t>（图形）</a:t>
            </a:r>
            <a:r>
              <a:rPr lang="en-US" altLang="zh-CN" sz="2400" dirty="0">
                <a:ea typeface="宋体" panose="02010600030101010101" pitchFamily="2" charset="-122"/>
              </a:rPr>
              <a:t>– diagram, schematic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Mathematical models</a:t>
            </a:r>
            <a:r>
              <a:rPr lang="zh-CN" altLang="en-US" sz="2400" dirty="0">
                <a:ea typeface="宋体" panose="02010600030101010101" pitchFamily="2" charset="-122"/>
              </a:rPr>
              <a:t>（数学公式）</a:t>
            </a:r>
            <a:r>
              <a:rPr lang="en-US" altLang="zh-CN" sz="2400" dirty="0">
                <a:ea typeface="宋体" panose="02010600030101010101" pitchFamily="2" charset="-122"/>
              </a:rPr>
              <a:t>– formulas, statistics, algorithms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Unified Modeling Language (UML</a:t>
            </a:r>
            <a:r>
              <a:rPr lang="zh-CN" altLang="en-US" sz="2800" dirty="0">
                <a:ea typeface="宋体" panose="02010600030101010101" pitchFamily="2" charset="-122"/>
              </a:rPr>
              <a:t>，统一建模语言</a:t>
            </a:r>
            <a:r>
              <a:rPr lang="en-US" altLang="zh-CN" sz="2800" dirty="0">
                <a:ea typeface="宋体" panose="02010600030101010101" pitchFamily="2" charset="-122"/>
              </a:rPr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Standard graphical modeling symbols/terminology used for information systems</a:t>
            </a:r>
          </a:p>
          <a:p>
            <a:pPr eaLnBrk="1" hangingPunct="1">
              <a:lnSpc>
                <a:spcPct val="90000"/>
              </a:lnSpc>
            </a:pP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1509" name="Footer Placeholder 4">
            <a:extLst>
              <a:ext uri="{FF2B5EF4-FFF2-40B4-BE49-F238E27FC236}">
                <a16:creationId xmlns:a16="http://schemas.microsoft.com/office/drawing/2014/main" id="{190113B3-3FA4-4941-A5BF-3C189A821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21510" name="Rectangle 6">
            <a:extLst>
              <a:ext uri="{FF2B5EF4-FFF2-40B4-BE49-F238E27FC236}">
                <a16:creationId xmlns:a16="http://schemas.microsoft.com/office/drawing/2014/main" id="{B960AF90-46CF-4BB4-B659-729BA255A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>
            <a:extLst>
              <a:ext uri="{FF2B5EF4-FFF2-40B4-BE49-F238E27FC236}">
                <a16:creationId xmlns:a16="http://schemas.microsoft.com/office/drawing/2014/main" id="{7F965C9E-71D0-4CF0-A5EA-E862FD5D9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0ED599D-8FDB-4480-A9EA-F9BB5B25AE66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0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823BE78D-9BCD-436B-8A34-55668FAD05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22238"/>
            <a:ext cx="7772400" cy="868362"/>
          </a:xfrm>
        </p:spPr>
        <p:txBody>
          <a:bodyPr/>
          <a:lstStyle/>
          <a:p>
            <a:pPr eaLnBrk="1" hangingPunct="1"/>
            <a:r>
              <a:rPr lang="en-US" altLang="zh-CN" sz="3600" dirty="0">
                <a:ea typeface="宋体" panose="02010600030101010101" pitchFamily="2" charset="-122"/>
              </a:rPr>
              <a:t>Some Analysis and Design Models</a:t>
            </a:r>
          </a:p>
        </p:txBody>
      </p:sp>
      <p:pic>
        <p:nvPicPr>
          <p:cNvPr id="22532" name="Picture 7">
            <a:extLst>
              <a:ext uri="{FF2B5EF4-FFF2-40B4-BE49-F238E27FC236}">
                <a16:creationId xmlns:a16="http://schemas.microsoft.com/office/drawing/2014/main" id="{0589A112-0F0B-4D94-89CD-0BA67719C65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95400" y="1081088"/>
            <a:ext cx="6400800" cy="5176837"/>
          </a:xfrm>
          <a:noFill/>
        </p:spPr>
      </p:pic>
      <p:sp>
        <p:nvSpPr>
          <p:cNvPr id="22533" name="Footer Placeholder 4">
            <a:extLst>
              <a:ext uri="{FF2B5EF4-FFF2-40B4-BE49-F238E27FC236}">
                <a16:creationId xmlns:a16="http://schemas.microsoft.com/office/drawing/2014/main" id="{13D0AE46-E0A3-4D6E-B9DF-19CD805B3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22534" name="Rectangle 6">
            <a:extLst>
              <a:ext uri="{FF2B5EF4-FFF2-40B4-BE49-F238E27FC236}">
                <a16:creationId xmlns:a16="http://schemas.microsoft.com/office/drawing/2014/main" id="{0BB8E41E-F8D7-46A7-A5C4-C4201CF18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>
            <a:extLst>
              <a:ext uri="{FF2B5EF4-FFF2-40B4-BE49-F238E27FC236}">
                <a16:creationId xmlns:a16="http://schemas.microsoft.com/office/drawing/2014/main" id="{50E59E45-9AB0-4E5D-A895-9B72EB69D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D7FE853-C2B5-4FFC-BDE7-6C745769E54F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000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F28D3ACA-12BF-4CC2-BBFE-0B3F5AF205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>
                <a:ea typeface="宋体" panose="02010600030101010101" pitchFamily="2" charset="-122"/>
              </a:rPr>
              <a:t>Reasons for Modeling</a:t>
            </a:r>
            <a:br>
              <a:rPr lang="en-US" altLang="zh-CN" sz="3600" dirty="0">
                <a:ea typeface="宋体" panose="02010600030101010101" pitchFamily="2" charset="-122"/>
              </a:rPr>
            </a:br>
            <a:r>
              <a:rPr lang="zh-CN" altLang="en-US" sz="3600" dirty="0">
                <a:ea typeface="宋体" panose="02010600030101010101" pitchFamily="2" charset="-122"/>
              </a:rPr>
              <a:t>（建模的原因）</a:t>
            </a:r>
            <a:endParaRPr lang="en-US" altLang="zh-CN" sz="3600" dirty="0">
              <a:ea typeface="宋体" panose="02010600030101010101" pitchFamily="2" charset="-122"/>
            </a:endParaRP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A489EEED-966E-4AF0-9A10-3714A57C1E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4606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Learning from the modeling process</a:t>
            </a:r>
            <a:r>
              <a:rPr lang="zh-CN" altLang="en-US" dirty="0">
                <a:ea typeface="宋体" panose="02010600030101010101" pitchFamily="2" charset="-122"/>
              </a:rPr>
              <a:t>（从建模过程中学习）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Reducing complexity by abstraction</a:t>
            </a:r>
            <a:r>
              <a:rPr lang="zh-CN" altLang="en-US" dirty="0">
                <a:ea typeface="宋体" panose="02010600030101010101" pitchFamily="2" charset="-122"/>
              </a:rPr>
              <a:t>（通过抽象降低复杂性）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Remembering all the details</a:t>
            </a:r>
            <a:r>
              <a:rPr lang="zh-CN" altLang="en-US" dirty="0">
                <a:ea typeface="宋体" panose="02010600030101010101" pitchFamily="2" charset="-122"/>
              </a:rPr>
              <a:t>（记住所有的细节）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Communicating with other development team members</a:t>
            </a:r>
            <a:r>
              <a:rPr lang="zh-CN" altLang="en-US" dirty="0">
                <a:ea typeface="宋体" panose="02010600030101010101" pitchFamily="2" charset="-122"/>
              </a:rPr>
              <a:t>（与其他成员</a:t>
            </a:r>
            <a:r>
              <a:rPr lang="en-US" altLang="zh-CN" dirty="0">
                <a:ea typeface="宋体" panose="02010600030101010101" pitchFamily="2" charset="-122"/>
              </a:rPr>
              <a:t>/</a:t>
            </a:r>
            <a:r>
              <a:rPr lang="zh-CN" altLang="en-US" dirty="0">
                <a:ea typeface="宋体" panose="02010600030101010101" pitchFamily="2" charset="-122"/>
              </a:rPr>
              <a:t>相关人员沟通）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Documenting what was done for future maintenance/enhancement</a:t>
            </a:r>
            <a:r>
              <a:rPr lang="zh-CN" altLang="en-US" dirty="0">
                <a:ea typeface="宋体" panose="02010600030101010101" pitchFamily="2" charset="-122"/>
              </a:rPr>
              <a:t>（维护、记录）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3557" name="Footer Placeholder 4">
            <a:extLst>
              <a:ext uri="{FF2B5EF4-FFF2-40B4-BE49-F238E27FC236}">
                <a16:creationId xmlns:a16="http://schemas.microsoft.com/office/drawing/2014/main" id="{9F875BAD-E060-4C82-93FA-B7A00F9BB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23558" name="Rectangle 6">
            <a:extLst>
              <a:ext uri="{FF2B5EF4-FFF2-40B4-BE49-F238E27FC236}">
                <a16:creationId xmlns:a16="http://schemas.microsoft.com/office/drawing/2014/main" id="{32DC431D-2AD9-4087-999C-842AE6D540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>
            <a:extLst>
              <a:ext uri="{FF2B5EF4-FFF2-40B4-BE49-F238E27FC236}">
                <a16:creationId xmlns:a16="http://schemas.microsoft.com/office/drawing/2014/main" id="{92A1867C-1FB3-4102-82C5-FCF847989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7AA6B8E-ACA2-4BB6-969D-FBDDA62FBABF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0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2187D177-52CC-478C-A938-02A0EF70D3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Chapter 2 Outline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7839E27A-5FAB-41CA-8C7F-1F1D768DAE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4116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The RMO Consolidated Sales and Marketing System Project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Systems Analysis Activities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What Are Requirements?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Models and Modeling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Stakeholders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（利益相关者）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Information-Gathering Techniques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Documenting Workflows with Activity Diagrams</a:t>
            </a:r>
          </a:p>
        </p:txBody>
      </p:sp>
      <p:sp>
        <p:nvSpPr>
          <p:cNvPr id="5125" name="Footer Placeholder 4">
            <a:extLst>
              <a:ext uri="{FF2B5EF4-FFF2-40B4-BE49-F238E27FC236}">
                <a16:creationId xmlns:a16="http://schemas.microsoft.com/office/drawing/2014/main" id="{C0D83BED-0D1E-4AE9-84ED-1D38BD2B55C8}"/>
              </a:ext>
            </a:extLst>
          </p:cNvPr>
          <p:cNvSpPr>
            <a:spLocks noGrp="1"/>
          </p:cNvSpPr>
          <p:nvPr/>
        </p:nvSpPr>
        <p:spPr bwMode="auto">
          <a:xfrm>
            <a:off x="1828800" y="6248400"/>
            <a:ext cx="548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C5EE48A0-463D-4EC6-802D-92E178520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5784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>
            <a:extLst>
              <a:ext uri="{FF2B5EF4-FFF2-40B4-BE49-F238E27FC236}">
                <a16:creationId xmlns:a16="http://schemas.microsoft.com/office/drawing/2014/main" id="{7D1B3D0C-2401-40EE-8940-AF11B3E7B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1E23629-F657-4A96-AA7C-3BAFD58CB594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0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451BEA0F-0BB4-47AE-8E8E-837802822D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>
                <a:ea typeface="宋体" panose="02010600030101010101" pitchFamily="2" charset="-122"/>
              </a:rPr>
              <a:t>Stakeholders</a:t>
            </a:r>
            <a:br>
              <a:rPr lang="en-US" altLang="zh-CN" sz="3600">
                <a:ea typeface="宋体" panose="02010600030101010101" pitchFamily="2" charset="-122"/>
              </a:rPr>
            </a:br>
            <a:r>
              <a:rPr lang="en-US" altLang="zh-CN" sz="2800">
                <a:ea typeface="宋体" panose="02010600030101010101" pitchFamily="2" charset="-122"/>
              </a:rPr>
              <a:t>Who do you involve and talk to?</a:t>
            </a:r>
            <a:r>
              <a:rPr lang="en-US" altLang="zh-CN" sz="360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ECF66918-77B9-4A1C-AA7C-4F67B241DC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191000"/>
          </a:xfrm>
        </p:spPr>
        <p:txBody>
          <a:bodyPr/>
          <a:lstStyle/>
          <a:p>
            <a:pPr eaLnBrk="1" hangingPunct="1"/>
            <a:r>
              <a:rPr lang="en-US" altLang="zh-CN" sz="2400" b="1" dirty="0">
                <a:ea typeface="宋体" panose="02010600030101010101" pitchFamily="2" charset="-122"/>
              </a:rPr>
              <a:t>Stakeholders</a:t>
            </a:r>
            <a:r>
              <a:rPr lang="zh-CN" altLang="en-US" sz="2400" b="1" dirty="0">
                <a:ea typeface="宋体" panose="02010600030101010101" pitchFamily="2" charset="-122"/>
              </a:rPr>
              <a:t>（利益相关者）</a:t>
            </a:r>
            <a:r>
              <a:rPr lang="en-US" altLang="zh-CN" sz="2400" dirty="0">
                <a:ea typeface="宋体" panose="02010600030101010101" pitchFamily="2" charset="-122"/>
              </a:rPr>
              <a:t>– persons who have an interest in the successful implementation of the system</a:t>
            </a:r>
          </a:p>
          <a:p>
            <a:pPr eaLnBrk="1" hangingPunct="1"/>
            <a:r>
              <a:rPr lang="en-US" altLang="zh-CN" sz="2400" b="1" dirty="0">
                <a:ea typeface="宋体" panose="02010600030101010101" pitchFamily="2" charset="-122"/>
              </a:rPr>
              <a:t>Internal Stakeholders</a:t>
            </a:r>
            <a:r>
              <a:rPr lang="zh-CN" altLang="en-US" sz="2400" b="1" dirty="0">
                <a:ea typeface="宋体" panose="02010600030101010101" pitchFamily="2" charset="-122"/>
              </a:rPr>
              <a:t>（内部利益相关者）</a:t>
            </a:r>
            <a:r>
              <a:rPr lang="en-US" altLang="zh-CN" sz="2400" dirty="0">
                <a:ea typeface="宋体" panose="02010600030101010101" pitchFamily="2" charset="-122"/>
              </a:rPr>
              <a:t>– persons within the organization</a:t>
            </a:r>
          </a:p>
          <a:p>
            <a:pPr eaLnBrk="1" hangingPunct="1"/>
            <a:r>
              <a:rPr lang="en-US" altLang="zh-CN" sz="2400" b="1" dirty="0">
                <a:ea typeface="宋体" panose="02010600030101010101" pitchFamily="2" charset="-122"/>
              </a:rPr>
              <a:t>External stakeholders</a:t>
            </a:r>
            <a:r>
              <a:rPr lang="zh-CN" altLang="en-US" sz="2400" b="1" dirty="0">
                <a:ea typeface="宋体" panose="02010600030101010101" pitchFamily="2" charset="-122"/>
              </a:rPr>
              <a:t>（外部利益相关者）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–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persons outside the organization</a:t>
            </a:r>
          </a:p>
          <a:p>
            <a:pPr eaLnBrk="1" hangingPunct="1"/>
            <a:r>
              <a:rPr lang="en-US" altLang="zh-CN" sz="2400" b="1" dirty="0">
                <a:ea typeface="宋体" panose="02010600030101010101" pitchFamily="2" charset="-122"/>
              </a:rPr>
              <a:t>Operational stakeholders </a:t>
            </a:r>
            <a:r>
              <a:rPr lang="zh-CN" altLang="en-US" sz="2400" b="1" dirty="0">
                <a:ea typeface="宋体" panose="02010600030101010101" pitchFamily="2" charset="-122"/>
              </a:rPr>
              <a:t>（操作相关者）</a:t>
            </a:r>
            <a:r>
              <a:rPr lang="en-US" altLang="zh-CN" sz="2400" dirty="0">
                <a:ea typeface="宋体" panose="02010600030101010101" pitchFamily="2" charset="-122"/>
              </a:rPr>
              <a:t>–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persons who regularly interact with the system</a:t>
            </a:r>
          </a:p>
          <a:p>
            <a:pPr eaLnBrk="1" hangingPunct="1"/>
            <a:r>
              <a:rPr lang="en-US" altLang="zh-CN" sz="2400" b="1" dirty="0">
                <a:ea typeface="宋体" panose="02010600030101010101" pitchFamily="2" charset="-122"/>
              </a:rPr>
              <a:t>Executive stakeholders</a:t>
            </a:r>
            <a:r>
              <a:rPr lang="zh-CN" altLang="en-US" sz="2400" b="1" dirty="0">
                <a:ea typeface="宋体" panose="02010600030101010101" pitchFamily="2" charset="-122"/>
              </a:rPr>
              <a:t>（执行相关者）</a:t>
            </a:r>
            <a:r>
              <a:rPr lang="en-US" altLang="zh-CN" sz="2400" dirty="0">
                <a:ea typeface="宋体" panose="02010600030101010101" pitchFamily="2" charset="-122"/>
              </a:rPr>
              <a:t>– persons who don’t directly interact, but use the information or have  financial interest </a:t>
            </a:r>
          </a:p>
          <a:p>
            <a:pPr eaLnBrk="1" hangingPunct="1"/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24581" name="Footer Placeholder 4">
            <a:extLst>
              <a:ext uri="{FF2B5EF4-FFF2-40B4-BE49-F238E27FC236}">
                <a16:creationId xmlns:a16="http://schemas.microsoft.com/office/drawing/2014/main" id="{04E502F4-B311-4AA4-9BCD-28876C283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24582" name="Rectangle 6">
            <a:extLst>
              <a:ext uri="{FF2B5EF4-FFF2-40B4-BE49-F238E27FC236}">
                <a16:creationId xmlns:a16="http://schemas.microsoft.com/office/drawing/2014/main" id="{2211BB98-8EB2-42EA-BC4B-9F9883834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6">
            <a:extLst>
              <a:ext uri="{FF2B5EF4-FFF2-40B4-BE49-F238E27FC236}">
                <a16:creationId xmlns:a16="http://schemas.microsoft.com/office/drawing/2014/main" id="{8EA1F642-FC0D-41E5-AD50-21E9B6AB7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AF04614-3E7E-4734-9E78-449D955F4770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000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DFE8E90F-7DD2-4ED7-A105-54E63312A4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173162"/>
          </a:xfrm>
        </p:spPr>
        <p:txBody>
          <a:bodyPr/>
          <a:lstStyle/>
          <a:p>
            <a:pPr eaLnBrk="1" hangingPunct="1"/>
            <a:r>
              <a:rPr lang="en-US" altLang="zh-CN" sz="3600" dirty="0">
                <a:ea typeface="宋体" panose="02010600030101010101" pitchFamily="2" charset="-122"/>
              </a:rPr>
              <a:t>Stakeholders</a:t>
            </a:r>
            <a:r>
              <a:rPr lang="en-US" altLang="zh-CN" sz="3200" dirty="0"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ea typeface="宋体" panose="02010600030101010101" pitchFamily="2" charset="-122"/>
              </a:rPr>
              <a:t>of a comprehensive accounting system for public company</a:t>
            </a:r>
            <a:r>
              <a:rPr lang="en-US" altLang="zh-CN" sz="3200" dirty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13DD0B65-97BC-4666-97DB-084EF252F8E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>
              <a:ea typeface="宋体" panose="02010600030101010101" pitchFamily="2" charset="-122"/>
            </a:endParaRPr>
          </a:p>
          <a:p>
            <a:pPr eaLnBrk="1" hangingPunct="1"/>
            <a:endParaRPr lang="en-US" altLang="zh-CN" sz="2400">
              <a:ea typeface="宋体" panose="02010600030101010101" pitchFamily="2" charset="-122"/>
            </a:endParaRPr>
          </a:p>
        </p:txBody>
      </p:sp>
      <p:pic>
        <p:nvPicPr>
          <p:cNvPr id="25605" name="Picture 7">
            <a:extLst>
              <a:ext uri="{FF2B5EF4-FFF2-40B4-BE49-F238E27FC236}">
                <a16:creationId xmlns:a16="http://schemas.microsoft.com/office/drawing/2014/main" id="{3251744F-CC67-48A4-8C00-D30BC019FA4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1447800"/>
            <a:ext cx="7010400" cy="4549775"/>
          </a:xfrm>
          <a:noFill/>
        </p:spPr>
      </p:pic>
      <p:sp>
        <p:nvSpPr>
          <p:cNvPr id="25606" name="Footer Placeholder 4">
            <a:extLst>
              <a:ext uri="{FF2B5EF4-FFF2-40B4-BE49-F238E27FC236}">
                <a16:creationId xmlns:a16="http://schemas.microsoft.com/office/drawing/2014/main" id="{E4697FAA-D7F8-4E39-946F-9630FB0EE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302EE05F-0CB8-4759-87F5-1A2F4FEEF0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>
            <a:extLst>
              <a:ext uri="{FF2B5EF4-FFF2-40B4-BE49-F238E27FC236}">
                <a16:creationId xmlns:a16="http://schemas.microsoft.com/office/drawing/2014/main" id="{92229C63-F5EF-4B40-8122-B5C15923C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CA33BC0-C4AB-4B28-89F2-532C6DD05580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0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06470B9E-95F5-427F-83D2-52A60F8B53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>
                <a:ea typeface="宋体" panose="02010600030101010101" pitchFamily="2" charset="-122"/>
              </a:rPr>
              <a:t>Stakeholders</a:t>
            </a:r>
            <a:br>
              <a:rPr lang="en-US" altLang="zh-CN" sz="3600" dirty="0">
                <a:ea typeface="宋体" panose="02010600030101010101" pitchFamily="2" charset="-122"/>
              </a:rPr>
            </a:br>
            <a:r>
              <a:rPr lang="en-US" altLang="zh-CN" sz="2800" dirty="0">
                <a:ea typeface="宋体" panose="02010600030101010101" pitchFamily="2" charset="-122"/>
              </a:rPr>
              <a:t>For RMO CSMS Project</a:t>
            </a:r>
            <a:r>
              <a:rPr lang="en-US" altLang="zh-CN" sz="3600" dirty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487A9373-6ABD-406C-9745-0096CCD244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191000"/>
          </a:xfrm>
        </p:spPr>
        <p:txBody>
          <a:bodyPr/>
          <a:lstStyle/>
          <a:p>
            <a:pPr eaLnBrk="1" hangingPunct="1"/>
            <a:r>
              <a:rPr lang="en-US" altLang="zh-CN" sz="2600" dirty="0">
                <a:ea typeface="宋体" panose="02010600030101010101" pitchFamily="2" charset="-122"/>
              </a:rPr>
              <a:t>Phone/mail sales order clerks</a:t>
            </a:r>
            <a:r>
              <a:rPr lang="zh-CN" altLang="en-US" sz="2600" dirty="0">
                <a:ea typeface="宋体" panose="02010600030101010101" pitchFamily="2" charset="-122"/>
              </a:rPr>
              <a:t>（电话</a:t>
            </a:r>
            <a:r>
              <a:rPr lang="en-US" altLang="zh-CN" sz="2600" dirty="0">
                <a:ea typeface="宋体" panose="02010600030101010101" pitchFamily="2" charset="-122"/>
              </a:rPr>
              <a:t>/</a:t>
            </a:r>
            <a:r>
              <a:rPr lang="zh-CN" altLang="en-US" sz="2600" dirty="0">
                <a:ea typeface="宋体" panose="02010600030101010101" pitchFamily="2" charset="-122"/>
              </a:rPr>
              <a:t>邮件订单员）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600" dirty="0">
                <a:ea typeface="宋体" panose="02010600030101010101" pitchFamily="2" charset="-122"/>
              </a:rPr>
              <a:t>Warehouse and shipping personnel</a:t>
            </a:r>
            <a:r>
              <a:rPr lang="zh-CN" altLang="en-US" sz="2600" dirty="0">
                <a:ea typeface="宋体" panose="02010600030101010101" pitchFamily="2" charset="-122"/>
              </a:rPr>
              <a:t>（仓库运输人员）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600" dirty="0">
                <a:ea typeface="宋体" panose="02010600030101010101" pitchFamily="2" charset="-122"/>
              </a:rPr>
              <a:t>Marketing personnel who maintain online catalog information</a:t>
            </a:r>
            <a:r>
              <a:rPr lang="zh-CN" altLang="en-US" sz="2600" dirty="0">
                <a:ea typeface="宋体" panose="02010600030101010101" pitchFamily="2" charset="-122"/>
              </a:rPr>
              <a:t>（维护在线目录的营销人员）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600" dirty="0">
                <a:ea typeface="宋体" panose="02010600030101010101" pitchFamily="2" charset="-122"/>
              </a:rPr>
              <a:t>Marketing, sales,</a:t>
            </a:r>
            <a:r>
              <a:rPr lang="zh-CN" altLang="en-US" sz="2600" dirty="0">
                <a:ea typeface="宋体" panose="02010600030101010101" pitchFamily="2" charset="-122"/>
              </a:rPr>
              <a:t> </a:t>
            </a:r>
            <a:r>
              <a:rPr lang="en-US" altLang="zh-CN" sz="2600" dirty="0">
                <a:ea typeface="宋体" panose="02010600030101010101" pitchFamily="2" charset="-122"/>
              </a:rPr>
              <a:t>and financial managers</a:t>
            </a:r>
            <a:r>
              <a:rPr lang="zh-CN" altLang="en-US" sz="2600" dirty="0">
                <a:ea typeface="宋体" panose="02010600030101010101" pitchFamily="2" charset="-122"/>
              </a:rPr>
              <a:t>（市场营销）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600" dirty="0">
                <a:ea typeface="宋体" panose="02010600030101010101" pitchFamily="2" charset="-122"/>
              </a:rPr>
              <a:t>Senior executives</a:t>
            </a:r>
            <a:r>
              <a:rPr lang="zh-CN" altLang="en-US" sz="2600" dirty="0">
                <a:ea typeface="宋体" panose="02010600030101010101" pitchFamily="2" charset="-122"/>
              </a:rPr>
              <a:t>（高级管理人员）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600" dirty="0">
                <a:ea typeface="宋体" panose="02010600030101010101" pitchFamily="2" charset="-122"/>
              </a:rPr>
              <a:t>Customers</a:t>
            </a:r>
            <a:r>
              <a:rPr lang="zh-CN" altLang="en-US" sz="2600" dirty="0">
                <a:ea typeface="宋体" panose="02010600030101010101" pitchFamily="2" charset="-122"/>
              </a:rPr>
              <a:t>（客户）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600" dirty="0">
                <a:ea typeface="宋体" panose="02010600030101010101" pitchFamily="2" charset="-122"/>
              </a:rPr>
              <a:t>External shippers (e.g., UPS and FedEx)</a:t>
            </a:r>
            <a:r>
              <a:rPr lang="zh-CN" altLang="en-US" sz="2600" dirty="0">
                <a:ea typeface="宋体" panose="02010600030101010101" pitchFamily="2" charset="-122"/>
              </a:rPr>
              <a:t>（外部托运人）</a:t>
            </a:r>
            <a:endParaRPr lang="en-US" altLang="zh-CN" sz="2600" dirty="0">
              <a:ea typeface="宋体" panose="02010600030101010101" pitchFamily="2" charset="-122"/>
            </a:endParaRPr>
          </a:p>
        </p:txBody>
      </p:sp>
      <p:sp>
        <p:nvSpPr>
          <p:cNvPr id="26629" name="Footer Placeholder 4">
            <a:extLst>
              <a:ext uri="{FF2B5EF4-FFF2-40B4-BE49-F238E27FC236}">
                <a16:creationId xmlns:a16="http://schemas.microsoft.com/office/drawing/2014/main" id="{29CA3AF8-67E1-472F-8CEB-FC350ABC7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26630" name="Rectangle 6">
            <a:extLst>
              <a:ext uri="{FF2B5EF4-FFF2-40B4-BE49-F238E27FC236}">
                <a16:creationId xmlns:a16="http://schemas.microsoft.com/office/drawing/2014/main" id="{08DCBAA8-ACC2-4E86-8A4A-088BE2882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0DEB5FA-6D6F-49B6-BDF3-15606EF07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568ACF9-9842-4BDD-ABA3-1CBE50595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C0553-5453-4300-9D9A-9870FCBFA929}" type="slidenum">
              <a:rPr lang="en-US" altLang="en-US" smtClean="0"/>
              <a:pPr/>
              <a:t>23</a:t>
            </a:fld>
            <a:endParaRPr lang="en-US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75820D5-E389-4504-AC81-3C05329D13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746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3600" kern="0">
                <a:ea typeface="宋体" panose="02010600030101010101" pitchFamily="2" charset="-122"/>
              </a:rPr>
              <a:t>Stakeholders</a:t>
            </a:r>
            <a:br>
              <a:rPr lang="en-US" altLang="zh-CN" sz="3600" kern="0">
                <a:ea typeface="宋体" panose="02010600030101010101" pitchFamily="2" charset="-122"/>
              </a:rPr>
            </a:br>
            <a:r>
              <a:rPr lang="en-US" altLang="zh-CN" sz="2800" kern="0">
                <a:ea typeface="宋体" panose="02010600030101010101" pitchFamily="2" charset="-122"/>
              </a:rPr>
              <a:t>For RMO CSMS Project</a:t>
            </a:r>
            <a:r>
              <a:rPr lang="en-US" altLang="zh-CN" sz="3600" kern="0">
                <a:ea typeface="宋体" panose="02010600030101010101" pitchFamily="2" charset="-122"/>
              </a:rPr>
              <a:t> </a:t>
            </a:r>
            <a:endParaRPr lang="en-US" altLang="zh-CN" sz="3600" kern="0" dirty="0">
              <a:ea typeface="宋体" panose="02010600030101010101" pitchFamily="2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BCB2881-73E1-449B-B1EB-846991C05F7E}"/>
              </a:ext>
            </a:extLst>
          </p:cNvPr>
          <p:cNvSpPr/>
          <p:nvPr/>
        </p:nvSpPr>
        <p:spPr>
          <a:xfrm>
            <a:off x="3226832" y="1982083"/>
            <a:ext cx="2819400" cy="1981200"/>
          </a:xfrm>
          <a:prstGeom prst="roundRect">
            <a:avLst/>
          </a:prstGeom>
          <a:solidFill>
            <a:srgbClr val="007DC5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7AC648C-E813-48CD-A4F4-109DE5F88954}"/>
              </a:ext>
            </a:extLst>
          </p:cNvPr>
          <p:cNvSpPr/>
          <p:nvPr/>
        </p:nvSpPr>
        <p:spPr>
          <a:xfrm>
            <a:off x="3239842" y="4069645"/>
            <a:ext cx="2819400" cy="1981200"/>
          </a:xfrm>
          <a:prstGeom prst="roundRect">
            <a:avLst/>
          </a:prstGeom>
          <a:solidFill>
            <a:srgbClr val="5C2D9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8A3FF70-D784-48CA-AB67-BAFAF8D0FA24}"/>
              </a:ext>
            </a:extLst>
          </p:cNvPr>
          <p:cNvSpPr/>
          <p:nvPr/>
        </p:nvSpPr>
        <p:spPr>
          <a:xfrm>
            <a:off x="6122432" y="1982083"/>
            <a:ext cx="2819400" cy="1981200"/>
          </a:xfrm>
          <a:prstGeom prst="roundRect">
            <a:avLst/>
          </a:prstGeom>
          <a:solidFill>
            <a:srgbClr val="F36F23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5217F32-447F-41E7-9F26-F9AA9D9FDAEB}"/>
              </a:ext>
            </a:extLst>
          </p:cNvPr>
          <p:cNvSpPr/>
          <p:nvPr/>
        </p:nvSpPr>
        <p:spPr>
          <a:xfrm>
            <a:off x="6126149" y="4069645"/>
            <a:ext cx="2819400" cy="1981200"/>
          </a:xfrm>
          <a:prstGeom prst="roundRect">
            <a:avLst/>
          </a:prstGeom>
          <a:solidFill>
            <a:srgbClr val="4CB847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C17DDDE-5B83-4886-9136-78B48FE0E1A3}"/>
              </a:ext>
            </a:extLst>
          </p:cNvPr>
          <p:cNvSpPr txBox="1"/>
          <p:nvPr/>
        </p:nvSpPr>
        <p:spPr>
          <a:xfrm>
            <a:off x="3986540" y="1580730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Operational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467B11F-D033-489C-A577-FF146A62E863}"/>
              </a:ext>
            </a:extLst>
          </p:cNvPr>
          <p:cNvSpPr txBox="1"/>
          <p:nvPr/>
        </p:nvSpPr>
        <p:spPr>
          <a:xfrm>
            <a:off x="6869130" y="1579756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Executive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8413712-9E94-4258-9F3E-C7197B09D26D}"/>
              </a:ext>
            </a:extLst>
          </p:cNvPr>
          <p:cNvSpPr txBox="1"/>
          <p:nvPr/>
        </p:nvSpPr>
        <p:spPr>
          <a:xfrm rot="16200000">
            <a:off x="2527013" y="2821616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Internal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EF57260-F157-4804-9F71-3DEE4E311DFC}"/>
              </a:ext>
            </a:extLst>
          </p:cNvPr>
          <p:cNvSpPr txBox="1"/>
          <p:nvPr/>
        </p:nvSpPr>
        <p:spPr>
          <a:xfrm rot="16200000">
            <a:off x="2506197" y="4922318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External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3214AA3-52D2-48A0-9D26-34FF6ED468DA}"/>
              </a:ext>
            </a:extLst>
          </p:cNvPr>
          <p:cNvSpPr txBox="1"/>
          <p:nvPr/>
        </p:nvSpPr>
        <p:spPr>
          <a:xfrm>
            <a:off x="3593483" y="4219841"/>
            <a:ext cx="1729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/>
                </a:solidFill>
              </a:rPr>
              <a:t>Order clerks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5D0403C7-2D09-4BE6-B1F0-67779DC58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759655"/>
            <a:ext cx="2286000" cy="4191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altLang="zh-CN" sz="1600" kern="0" dirty="0">
                <a:ea typeface="宋体" panose="02010600030101010101" pitchFamily="2" charset="-122"/>
              </a:rPr>
              <a:t>Order clerks</a:t>
            </a:r>
          </a:p>
          <a:p>
            <a:pPr eaLnBrk="1" hangingPunct="1"/>
            <a:r>
              <a:rPr lang="en-US" altLang="zh-CN" sz="1600" kern="0" dirty="0">
                <a:ea typeface="宋体" panose="02010600030101010101" pitchFamily="2" charset="-122"/>
              </a:rPr>
              <a:t>Warehouse and shipping personnel</a:t>
            </a:r>
          </a:p>
          <a:p>
            <a:pPr eaLnBrk="1" hangingPunct="1"/>
            <a:r>
              <a:rPr lang="en-US" altLang="zh-CN" sz="1600" kern="0" dirty="0">
                <a:ea typeface="宋体" panose="02010600030101010101" pitchFamily="2" charset="-122"/>
              </a:rPr>
              <a:t>Marketing personnel who maintain online catalog information</a:t>
            </a:r>
          </a:p>
          <a:p>
            <a:pPr eaLnBrk="1" hangingPunct="1"/>
            <a:r>
              <a:rPr lang="en-US" altLang="zh-CN" sz="1600" kern="0" dirty="0">
                <a:ea typeface="宋体" panose="02010600030101010101" pitchFamily="2" charset="-122"/>
              </a:rPr>
              <a:t>Marketing, sales, and financial managers</a:t>
            </a:r>
          </a:p>
          <a:p>
            <a:pPr eaLnBrk="1" hangingPunct="1"/>
            <a:r>
              <a:rPr lang="en-US" altLang="zh-CN" sz="1600" kern="0" dirty="0">
                <a:ea typeface="宋体" panose="02010600030101010101" pitchFamily="2" charset="-122"/>
              </a:rPr>
              <a:t>Senior executives</a:t>
            </a:r>
          </a:p>
          <a:p>
            <a:pPr eaLnBrk="1" hangingPunct="1"/>
            <a:r>
              <a:rPr lang="en-US" altLang="zh-CN" sz="1600" kern="0" dirty="0">
                <a:ea typeface="宋体" panose="02010600030101010101" pitchFamily="2" charset="-122"/>
              </a:rPr>
              <a:t>Customers</a:t>
            </a:r>
          </a:p>
          <a:p>
            <a:pPr eaLnBrk="1" hangingPunct="1"/>
            <a:r>
              <a:rPr lang="en-US" altLang="zh-CN" sz="1600" kern="0" dirty="0">
                <a:ea typeface="宋体" panose="02010600030101010101" pitchFamily="2" charset="-122"/>
              </a:rPr>
              <a:t>External shippers (e.g., UPS and FedEx)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637297A-9124-4153-976F-2D06539F7F70}"/>
              </a:ext>
            </a:extLst>
          </p:cNvPr>
          <p:cNvSpPr txBox="1"/>
          <p:nvPr/>
        </p:nvSpPr>
        <p:spPr>
          <a:xfrm>
            <a:off x="6278430" y="2852839"/>
            <a:ext cx="2590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/>
                </a:solidFill>
              </a:rPr>
              <a:t>Warehouse and shipping personnel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717BD3E-03FB-4E95-A7D8-1B0445CA6D77}"/>
              </a:ext>
            </a:extLst>
          </p:cNvPr>
          <p:cNvSpPr txBox="1"/>
          <p:nvPr/>
        </p:nvSpPr>
        <p:spPr>
          <a:xfrm>
            <a:off x="3332991" y="2195928"/>
            <a:ext cx="2590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 eaLnBrk="1" hangingPunct="1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Marketing personnel who maintain online catalog information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F4A742C-C135-43D6-B3AA-E92065455DA7}"/>
              </a:ext>
            </a:extLst>
          </p:cNvPr>
          <p:cNvSpPr txBox="1"/>
          <p:nvPr/>
        </p:nvSpPr>
        <p:spPr>
          <a:xfrm>
            <a:off x="3310230" y="3149258"/>
            <a:ext cx="2693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/>
                </a:solidFill>
              </a:rPr>
              <a:t>Marketing, sales, and financial managers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C26D406-92DD-4721-8ABA-FB6F175901EE}"/>
              </a:ext>
            </a:extLst>
          </p:cNvPr>
          <p:cNvSpPr txBox="1"/>
          <p:nvPr/>
        </p:nvSpPr>
        <p:spPr>
          <a:xfrm>
            <a:off x="6278430" y="2265843"/>
            <a:ext cx="2442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Senior executives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8BE6DD1-92CC-44DF-99EC-1EF1F3FF712B}"/>
              </a:ext>
            </a:extLst>
          </p:cNvPr>
          <p:cNvSpPr txBox="1"/>
          <p:nvPr/>
        </p:nvSpPr>
        <p:spPr>
          <a:xfrm>
            <a:off x="3607423" y="4573007"/>
            <a:ext cx="1588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/>
                </a:solidFill>
              </a:rPr>
              <a:t>Customers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312FF3E-4BE4-4F5D-876C-CBC9243C5AB7}"/>
              </a:ext>
            </a:extLst>
          </p:cNvPr>
          <p:cNvSpPr txBox="1"/>
          <p:nvPr/>
        </p:nvSpPr>
        <p:spPr>
          <a:xfrm>
            <a:off x="6268669" y="4179107"/>
            <a:ext cx="2255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/>
                </a:solidFill>
              </a:rPr>
              <a:t>External shippers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6723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  <p:bldP spid="22" grpId="0"/>
      <p:bldP spid="24" grpId="0"/>
      <p:bldP spid="26" grpId="0"/>
      <p:bldP spid="27" grpId="0"/>
      <p:bldP spid="3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6">
            <a:extLst>
              <a:ext uri="{FF2B5EF4-FFF2-40B4-BE49-F238E27FC236}">
                <a16:creationId xmlns:a16="http://schemas.microsoft.com/office/drawing/2014/main" id="{D6FE161B-E6DC-45FF-9C1C-722274B52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E4CF8D4-D207-41FC-B40B-8780D5CF3940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000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28E729E8-6652-4CE4-81F1-8872310879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1447800"/>
            <a:ext cx="2895600" cy="1295400"/>
          </a:xfrm>
        </p:spPr>
        <p:txBody>
          <a:bodyPr/>
          <a:lstStyle/>
          <a:p>
            <a:pPr eaLnBrk="1" hangingPunct="1"/>
            <a:r>
              <a:rPr lang="en-US" altLang="zh-CN" sz="3200">
                <a:ea typeface="宋体" panose="02010600030101010101" pitchFamily="2" charset="-122"/>
              </a:rPr>
              <a:t>RMO Internal Stakeholders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FE2CCA05-A5FE-4C60-A2DA-F98D90DF4A9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>
              <a:ea typeface="宋体" panose="02010600030101010101" pitchFamily="2" charset="-122"/>
            </a:endParaRPr>
          </a:p>
          <a:p>
            <a:pPr eaLnBrk="1" hangingPunct="1"/>
            <a:endParaRPr lang="en-US" altLang="zh-CN" sz="2400">
              <a:ea typeface="宋体" panose="02010600030101010101" pitchFamily="2" charset="-122"/>
            </a:endParaRPr>
          </a:p>
        </p:txBody>
      </p:sp>
      <p:pic>
        <p:nvPicPr>
          <p:cNvPr id="27653" name="Picture 6">
            <a:extLst>
              <a:ext uri="{FF2B5EF4-FFF2-40B4-BE49-F238E27FC236}">
                <a16:creationId xmlns:a16="http://schemas.microsoft.com/office/drawing/2014/main" id="{E134A4E7-650F-4FDA-A2FE-6034CFB27C0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76625" y="152400"/>
            <a:ext cx="4216400" cy="6096000"/>
          </a:xfrm>
        </p:spPr>
      </p:pic>
      <p:sp>
        <p:nvSpPr>
          <p:cNvPr id="27654" name="Footer Placeholder 4">
            <a:extLst>
              <a:ext uri="{FF2B5EF4-FFF2-40B4-BE49-F238E27FC236}">
                <a16:creationId xmlns:a16="http://schemas.microsoft.com/office/drawing/2014/main" id="{0879D1AB-2E9A-43FF-8DFF-441E7B2FC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27655" name="Rectangle 7">
            <a:extLst>
              <a:ext uri="{FF2B5EF4-FFF2-40B4-BE49-F238E27FC236}">
                <a16:creationId xmlns:a16="http://schemas.microsoft.com/office/drawing/2014/main" id="{8132A4F6-3581-4AC6-9D97-193667635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>
            <a:extLst>
              <a:ext uri="{FF2B5EF4-FFF2-40B4-BE49-F238E27FC236}">
                <a16:creationId xmlns:a16="http://schemas.microsoft.com/office/drawing/2014/main" id="{92A1867C-1FB3-4102-82C5-FCF847989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7AA6B8E-ACA2-4BB6-969D-FBDDA62FBABF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0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2187D177-52CC-478C-A938-02A0EF70D3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Chapter 2 Outline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7839E27A-5FAB-41CA-8C7F-1F1D768DAE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4116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The RMO Consolidated Sales and Marketing System Project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Systems Analysis Activities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What Are Requirements?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Models and Modeling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Stakeholders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Information-Gathering Techniques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（信息收集技术）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Documenting Workflows with Activity Diagrams</a:t>
            </a:r>
          </a:p>
        </p:txBody>
      </p:sp>
      <p:sp>
        <p:nvSpPr>
          <p:cNvPr id="5125" name="Footer Placeholder 4">
            <a:extLst>
              <a:ext uri="{FF2B5EF4-FFF2-40B4-BE49-F238E27FC236}">
                <a16:creationId xmlns:a16="http://schemas.microsoft.com/office/drawing/2014/main" id="{C0D83BED-0D1E-4AE9-84ED-1D38BD2B55C8}"/>
              </a:ext>
            </a:extLst>
          </p:cNvPr>
          <p:cNvSpPr>
            <a:spLocks noGrp="1"/>
          </p:cNvSpPr>
          <p:nvPr/>
        </p:nvSpPr>
        <p:spPr bwMode="auto">
          <a:xfrm>
            <a:off x="1828800" y="6248400"/>
            <a:ext cx="548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C5EE48A0-463D-4EC6-802D-92E178520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4047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>
            <a:extLst>
              <a:ext uri="{FF2B5EF4-FFF2-40B4-BE49-F238E27FC236}">
                <a16:creationId xmlns:a16="http://schemas.microsoft.com/office/drawing/2014/main" id="{3CE22E46-5687-459C-8D52-07B02F4D9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6321F95-EF6F-4D20-B7E0-441F645A242B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0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0D0ABA33-0D09-4DA6-B19B-43D3699A1B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>
                <a:ea typeface="宋体" panose="02010600030101010101" pitchFamily="2" charset="-122"/>
              </a:rPr>
              <a:t>Information Gathering Techniques 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56C6ACCE-661B-45BF-B0AB-B9986D396C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3962400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ea typeface="宋体" panose="02010600030101010101" pitchFamily="2" charset="-122"/>
              </a:rPr>
              <a:t>Interviewing users and other stakeholders</a:t>
            </a:r>
            <a:r>
              <a:rPr lang="zh-CN" altLang="en-US" sz="2400" dirty="0">
                <a:ea typeface="宋体" panose="02010600030101010101" pitchFamily="2" charset="-122"/>
              </a:rPr>
              <a:t>（采访用户和其他利益相关者）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dirty="0">
                <a:ea typeface="宋体" panose="02010600030101010101" pitchFamily="2" charset="-122"/>
              </a:rPr>
              <a:t>Distributing and collecting questionnaires</a:t>
            </a:r>
            <a:r>
              <a:rPr lang="zh-CN" altLang="en-US" sz="2400" dirty="0">
                <a:ea typeface="宋体" panose="02010600030101010101" pitchFamily="2" charset="-122"/>
              </a:rPr>
              <a:t>（发放问卷）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dirty="0">
                <a:ea typeface="宋体" panose="02010600030101010101" pitchFamily="2" charset="-122"/>
              </a:rPr>
              <a:t>Reviewing inputs, outputs, and documentation</a:t>
            </a:r>
            <a:r>
              <a:rPr lang="zh-CN" altLang="en-US" sz="2400" dirty="0">
                <a:ea typeface="宋体" panose="02010600030101010101" pitchFamily="2" charset="-122"/>
              </a:rPr>
              <a:t>（审查输入、输出和文档）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dirty="0">
                <a:ea typeface="宋体" panose="02010600030101010101" pitchFamily="2" charset="-122"/>
              </a:rPr>
              <a:t>Observing and documenting business procedures</a:t>
            </a:r>
            <a:r>
              <a:rPr lang="zh-CN" altLang="en-US" sz="2400" dirty="0">
                <a:ea typeface="宋体" panose="02010600030101010101" pitchFamily="2" charset="-122"/>
              </a:rPr>
              <a:t>（观察和记录业务流程）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dirty="0">
                <a:ea typeface="宋体" panose="02010600030101010101" pitchFamily="2" charset="-122"/>
              </a:rPr>
              <a:t>Researching vendor solutions</a:t>
            </a:r>
            <a:r>
              <a:rPr lang="zh-CN" altLang="en-US" sz="2400" dirty="0">
                <a:ea typeface="宋体" panose="02010600030101010101" pitchFamily="2" charset="-122"/>
              </a:rPr>
              <a:t>（研究供应商解决方案）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dirty="0">
                <a:ea typeface="宋体" panose="02010600030101010101" pitchFamily="2" charset="-122"/>
              </a:rPr>
              <a:t>Collecting active user comments and suggestions</a:t>
            </a:r>
            <a:r>
              <a:rPr lang="zh-CN" altLang="en-US" sz="2400" dirty="0">
                <a:ea typeface="宋体" panose="02010600030101010101" pitchFamily="2" charset="-122"/>
              </a:rPr>
              <a:t>（收集活跃用户的意见和建议）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28677" name="Footer Placeholder 4">
            <a:extLst>
              <a:ext uri="{FF2B5EF4-FFF2-40B4-BE49-F238E27FC236}">
                <a16:creationId xmlns:a16="http://schemas.microsoft.com/office/drawing/2014/main" id="{159D0101-34D1-477E-A0CB-80DC0B1EC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28678" name="Rectangle 6">
            <a:extLst>
              <a:ext uri="{FF2B5EF4-FFF2-40B4-BE49-F238E27FC236}">
                <a16:creationId xmlns:a16="http://schemas.microsoft.com/office/drawing/2014/main" id="{FA7405D7-72AB-4E51-8D0D-B2AC12D02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>
            <a:extLst>
              <a:ext uri="{FF2B5EF4-FFF2-40B4-BE49-F238E27FC236}">
                <a16:creationId xmlns:a16="http://schemas.microsoft.com/office/drawing/2014/main" id="{0CCB0E50-CB14-466E-B338-DD540D365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331E453-074C-49EB-8508-CBCBDF6A1161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000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03269B7E-3286-4835-849C-93DD7C395F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>
                <a:ea typeface="宋体" panose="02010600030101010101" pitchFamily="2" charset="-122"/>
              </a:rPr>
              <a:t>Interviewing Users and Other Stakeholders </a:t>
            </a:r>
            <a:r>
              <a:rPr lang="zh-CN" altLang="en-US" sz="3600" dirty="0">
                <a:ea typeface="宋体" panose="02010600030101010101" pitchFamily="2" charset="-122"/>
              </a:rPr>
              <a:t>（采访用户）</a:t>
            </a:r>
            <a:endParaRPr lang="en-US" altLang="zh-CN" sz="3600" dirty="0">
              <a:ea typeface="宋体" panose="02010600030101010101" pitchFamily="2" charset="-122"/>
            </a:endParaRP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00FF5CE5-309A-475F-8D36-A9A76D48F2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191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Prepare detailed questions</a:t>
            </a:r>
            <a:r>
              <a:rPr lang="zh-CN" altLang="en-US" sz="2800" dirty="0">
                <a:ea typeface="宋体" panose="02010600030101010101" pitchFamily="2" charset="-122"/>
              </a:rPr>
              <a:t>（准备详细的问题）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Obtain and discuss answers to the questions</a:t>
            </a:r>
            <a:r>
              <a:rPr lang="zh-CN" altLang="en-US" sz="2800" dirty="0">
                <a:ea typeface="宋体" panose="02010600030101010101" pitchFamily="2" charset="-122"/>
              </a:rPr>
              <a:t>（讨论并获取答案）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Document the answers</a:t>
            </a:r>
            <a:r>
              <a:rPr lang="zh-CN" altLang="en-US" sz="2800" dirty="0">
                <a:ea typeface="宋体" panose="02010600030101010101" pitchFamily="2" charset="-122"/>
              </a:rPr>
              <a:t>（整理答案）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Follow up as needed in future meetings or interviews</a:t>
            </a:r>
            <a:r>
              <a:rPr lang="zh-CN" altLang="en-US" sz="2800" dirty="0">
                <a:ea typeface="宋体" panose="02010600030101010101" pitchFamily="2" charset="-122"/>
              </a:rPr>
              <a:t>（后续跟进）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9701" name="Footer Placeholder 4">
            <a:extLst>
              <a:ext uri="{FF2B5EF4-FFF2-40B4-BE49-F238E27FC236}">
                <a16:creationId xmlns:a16="http://schemas.microsoft.com/office/drawing/2014/main" id="{C603ACC5-DE4B-44C5-950B-597E7DAAE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29702" name="Rectangle 6">
            <a:extLst>
              <a:ext uri="{FF2B5EF4-FFF2-40B4-BE49-F238E27FC236}">
                <a16:creationId xmlns:a16="http://schemas.microsoft.com/office/drawing/2014/main" id="{296D3648-9C83-49F8-A0BA-C45BFADCF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>
            <a:extLst>
              <a:ext uri="{FF2B5EF4-FFF2-40B4-BE49-F238E27FC236}">
                <a16:creationId xmlns:a16="http://schemas.microsoft.com/office/drawing/2014/main" id="{8A9F9E3B-91B0-4099-8B19-5B15ADFC2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C069611-FFAA-4C54-A6A1-6234DA599F73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0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8D66AEEB-6B60-46B3-9106-D0AACA0076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477962"/>
          </a:xfrm>
        </p:spPr>
        <p:txBody>
          <a:bodyPr/>
          <a:lstStyle/>
          <a:p>
            <a:pPr eaLnBrk="1" hangingPunct="1"/>
            <a:r>
              <a:rPr lang="en-US" altLang="zh-CN" sz="3600">
                <a:ea typeface="宋体" panose="02010600030101010101" pitchFamily="2" charset="-122"/>
              </a:rPr>
              <a:t>Themes for Information Gathering Questions </a:t>
            </a:r>
          </a:p>
        </p:txBody>
      </p:sp>
      <p:pic>
        <p:nvPicPr>
          <p:cNvPr id="30724" name="Picture 7">
            <a:extLst>
              <a:ext uri="{FF2B5EF4-FFF2-40B4-BE49-F238E27FC236}">
                <a16:creationId xmlns:a16="http://schemas.microsoft.com/office/drawing/2014/main" id="{7A28445A-2B7A-488E-AB1D-0F88DD000B5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2133600"/>
            <a:ext cx="8839200" cy="2584450"/>
          </a:xfrm>
          <a:noFill/>
        </p:spPr>
      </p:pic>
      <p:sp>
        <p:nvSpPr>
          <p:cNvPr id="30725" name="Footer Placeholder 4">
            <a:extLst>
              <a:ext uri="{FF2B5EF4-FFF2-40B4-BE49-F238E27FC236}">
                <a16:creationId xmlns:a16="http://schemas.microsoft.com/office/drawing/2014/main" id="{F7C1016A-D8EA-4298-9A4D-4E9E7A2B1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30CE6E43-E6B5-4CFB-8F1B-04AA8450E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>
            <a:extLst>
              <a:ext uri="{FF2B5EF4-FFF2-40B4-BE49-F238E27FC236}">
                <a16:creationId xmlns:a16="http://schemas.microsoft.com/office/drawing/2014/main" id="{4796CA6A-D414-4022-A95F-D87A00E6A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DA6A4BE-01FD-40E8-9501-36B77C2539C1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0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D2CAEE3B-D2E9-4C97-AFBC-7BBEA69675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2819400" cy="28956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Distribute and Collect Questionnaires</a:t>
            </a:r>
          </a:p>
        </p:txBody>
      </p:sp>
      <p:pic>
        <p:nvPicPr>
          <p:cNvPr id="34820" name="Picture 4">
            <a:extLst>
              <a:ext uri="{FF2B5EF4-FFF2-40B4-BE49-F238E27FC236}">
                <a16:creationId xmlns:a16="http://schemas.microsoft.com/office/drawing/2014/main" id="{84395B38-750A-4AE3-BFA7-F7CC60E8D56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95600" y="152400"/>
            <a:ext cx="5832475" cy="6019800"/>
          </a:xfrm>
          <a:noFill/>
        </p:spPr>
      </p:pic>
      <p:sp>
        <p:nvSpPr>
          <p:cNvPr id="34821" name="Footer Placeholder 4">
            <a:extLst>
              <a:ext uri="{FF2B5EF4-FFF2-40B4-BE49-F238E27FC236}">
                <a16:creationId xmlns:a16="http://schemas.microsoft.com/office/drawing/2014/main" id="{3159EA68-33A6-46AD-AF3C-647161C4C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34822" name="Rectangle 6">
            <a:extLst>
              <a:ext uri="{FF2B5EF4-FFF2-40B4-BE49-F238E27FC236}">
                <a16:creationId xmlns:a16="http://schemas.microsoft.com/office/drawing/2014/main" id="{6BC4D603-FB25-43E2-A3E4-F89EE6400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>
            <a:extLst>
              <a:ext uri="{FF2B5EF4-FFF2-40B4-BE49-F238E27FC236}">
                <a16:creationId xmlns:a16="http://schemas.microsoft.com/office/drawing/2014/main" id="{834181D0-10D2-4C05-8978-0068F8441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D96AC99-EF0C-4FB3-8B29-8B3BC0445340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0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E596CEE1-4A31-40C0-B821-2939F3267F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086600" cy="1173162"/>
          </a:xfrm>
        </p:spPr>
        <p:txBody>
          <a:bodyPr/>
          <a:lstStyle/>
          <a:p>
            <a:pPr eaLnBrk="1" hangingPunct="1"/>
            <a:r>
              <a:rPr lang="en-US" altLang="zh-CN" sz="3200" dirty="0">
                <a:ea typeface="宋体" panose="02010600030101010101" pitchFamily="2" charset="-122"/>
              </a:rPr>
              <a:t>Review Inputs, Outputs, and Procedures</a:t>
            </a:r>
          </a:p>
        </p:txBody>
      </p:sp>
      <p:pic>
        <p:nvPicPr>
          <p:cNvPr id="35844" name="Picture 7">
            <a:extLst>
              <a:ext uri="{FF2B5EF4-FFF2-40B4-BE49-F238E27FC236}">
                <a16:creationId xmlns:a16="http://schemas.microsoft.com/office/drawing/2014/main" id="{B0A2FFA0-67CC-4270-AAC1-A369A2D5BAE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" y="1323975"/>
            <a:ext cx="7924800" cy="4806950"/>
          </a:xfrm>
          <a:noFill/>
        </p:spPr>
      </p:pic>
      <p:sp>
        <p:nvSpPr>
          <p:cNvPr id="35845" name="Footer Placeholder 4">
            <a:extLst>
              <a:ext uri="{FF2B5EF4-FFF2-40B4-BE49-F238E27FC236}">
                <a16:creationId xmlns:a16="http://schemas.microsoft.com/office/drawing/2014/main" id="{6B1F8C38-874F-4BAC-B314-D20E5303E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35846" name="Rectangle 6">
            <a:extLst>
              <a:ext uri="{FF2B5EF4-FFF2-40B4-BE49-F238E27FC236}">
                <a16:creationId xmlns:a16="http://schemas.microsoft.com/office/drawing/2014/main" id="{116A55E9-3D27-4D80-BD8A-3254DF765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>
            <a:extLst>
              <a:ext uri="{FF2B5EF4-FFF2-40B4-BE49-F238E27FC236}">
                <a16:creationId xmlns:a16="http://schemas.microsoft.com/office/drawing/2014/main" id="{BC04324C-93D1-4C4D-A22A-C2F280C3F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5790BB9-5DD1-4D97-AA05-0FCF1782B570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000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D3A32C71-4FB5-4CC0-9A6A-985B9D867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>
                <a:ea typeface="宋体" panose="02010600030101010101" pitchFamily="2" charset="-122"/>
              </a:rPr>
              <a:t>Additional Techniques</a:t>
            </a: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A22D40D6-86D1-4BC6-89C6-2D2FE9C886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4262" y="1601788"/>
            <a:ext cx="8686800" cy="4191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Observe and Document Business Processes</a:t>
            </a:r>
            <a:r>
              <a:rPr lang="zh-CN" altLang="en-US" sz="2800" dirty="0">
                <a:ea typeface="宋体" panose="02010600030101010101" pitchFamily="2" charset="-122"/>
              </a:rPr>
              <a:t>（观察和记录业务流程）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Watch and learn</a:t>
            </a: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Document with Activity diagram (next section)</a:t>
            </a: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Research Vendor Solutions</a:t>
            </a:r>
            <a:r>
              <a:rPr lang="zh-CN" altLang="en-US" sz="2800" dirty="0">
                <a:ea typeface="宋体" panose="02010600030101010101" pitchFamily="2" charset="-122"/>
              </a:rPr>
              <a:t>（研究供应商解决方案）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See what others have done for similar situations</a:t>
            </a: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White papers, vendor literature, competitors</a:t>
            </a: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Collect Active User Comments and Suggestions</a:t>
            </a:r>
            <a:r>
              <a:rPr lang="zh-CN" altLang="en-US" sz="2800" dirty="0">
                <a:ea typeface="宋体" panose="02010600030101010101" pitchFamily="2" charset="-122"/>
              </a:rPr>
              <a:t>（收集用户反馈）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Feedback on models and tests</a:t>
            </a: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Users know it when the see it</a:t>
            </a:r>
          </a:p>
        </p:txBody>
      </p:sp>
      <p:sp>
        <p:nvSpPr>
          <p:cNvPr id="36870" name="Rectangle 6">
            <a:extLst>
              <a:ext uri="{FF2B5EF4-FFF2-40B4-BE49-F238E27FC236}">
                <a16:creationId xmlns:a16="http://schemas.microsoft.com/office/drawing/2014/main" id="{1021FA56-3AF5-4238-B7DE-5A7763636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>
            <a:extLst>
              <a:ext uri="{FF2B5EF4-FFF2-40B4-BE49-F238E27FC236}">
                <a16:creationId xmlns:a16="http://schemas.microsoft.com/office/drawing/2014/main" id="{92A1867C-1FB3-4102-82C5-FCF847989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7AA6B8E-ACA2-4BB6-969D-FBDDA62FBABF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en-US" sz="10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2187D177-52CC-478C-A938-02A0EF70D3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Chapter 2 Outline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7839E27A-5FAB-41CA-8C7F-1F1D768DAE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4116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The RMO Consolidated Sales and Marketing System Project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Systems Analysis Activities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What Are Requirements?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Models and Modeling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Stakeholders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Information-Gathering Techniques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Documenting Workflows with Activity Diagrams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（用活动图记录工作流）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  <p:sp>
        <p:nvSpPr>
          <p:cNvPr id="5125" name="Footer Placeholder 4">
            <a:extLst>
              <a:ext uri="{FF2B5EF4-FFF2-40B4-BE49-F238E27FC236}">
                <a16:creationId xmlns:a16="http://schemas.microsoft.com/office/drawing/2014/main" id="{C0D83BED-0D1E-4AE9-84ED-1D38BD2B55C8}"/>
              </a:ext>
            </a:extLst>
          </p:cNvPr>
          <p:cNvSpPr>
            <a:spLocks noGrp="1"/>
          </p:cNvSpPr>
          <p:nvPr/>
        </p:nvSpPr>
        <p:spPr bwMode="auto">
          <a:xfrm>
            <a:off x="1828800" y="6248400"/>
            <a:ext cx="548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C5EE48A0-463D-4EC6-802D-92E178520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4445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5">
            <a:extLst>
              <a:ext uri="{FF2B5EF4-FFF2-40B4-BE49-F238E27FC236}">
                <a16:creationId xmlns:a16="http://schemas.microsoft.com/office/drawing/2014/main" id="{7B31E9B3-F8EB-4347-B7C9-81A4FD12A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603AFCC-79FF-4ED7-9B5A-D4C2E48FD3DE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00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7F032323-E4E3-413F-9597-9B4B66DDAD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>
                <a:ea typeface="宋体" panose="02010600030101010101" pitchFamily="2" charset="-122"/>
              </a:rPr>
              <a:t>Documenting Workflows with Activity Diagrams</a:t>
            </a: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C5CCA5EE-A391-4153-8F25-1EE212E1B5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397973"/>
            <a:ext cx="8229600" cy="4191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Workflow</a:t>
            </a:r>
            <a:r>
              <a:rPr lang="zh-CN" altLang="en-US" sz="2800" dirty="0">
                <a:solidFill>
                  <a:srgbClr val="C00000"/>
                </a:solidFill>
                <a:ea typeface="宋体" panose="02010600030101010101" pitchFamily="2" charset="-122"/>
              </a:rPr>
              <a:t>（工作流）</a:t>
            </a:r>
            <a:r>
              <a:rPr lang="en-US" altLang="zh-CN" sz="2800" dirty="0">
                <a:ea typeface="宋体" panose="02010600030101010101" pitchFamily="2" charset="-122"/>
              </a:rPr>
              <a:t>– sequence of processing steps that completely handles one business transaction or customer request</a:t>
            </a:r>
            <a:r>
              <a:rPr lang="zh-CN" altLang="en-US" sz="2800" dirty="0">
                <a:ea typeface="宋体" panose="02010600030101010101" pitchFamily="2" charset="-122"/>
              </a:rPr>
              <a:t>（完成处理一个业务的一系列处理步骤）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Activity Diagram</a:t>
            </a:r>
            <a:r>
              <a:rPr lang="zh-CN" altLang="en-US" sz="2800" dirty="0">
                <a:solidFill>
                  <a:srgbClr val="C00000"/>
                </a:solidFill>
                <a:ea typeface="宋体" panose="02010600030101010101" pitchFamily="2" charset="-122"/>
              </a:rPr>
              <a:t>（活动图）</a:t>
            </a:r>
            <a:r>
              <a:rPr lang="en-US" altLang="zh-CN" sz="2800" dirty="0">
                <a:ea typeface="宋体" panose="02010600030101010101" pitchFamily="2" charset="-122"/>
              </a:rPr>
              <a:t>– describes user (or system) activities, the person who does each activity, and the sequential flow of these activities</a:t>
            </a: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Useful for showing a graphical model of a workflow</a:t>
            </a:r>
            <a:r>
              <a:rPr lang="zh-CN" altLang="en-US" sz="2400" dirty="0">
                <a:ea typeface="宋体" panose="02010600030101010101" pitchFamily="2" charset="-122"/>
              </a:rPr>
              <a:t>（用于显示工作流的图形化模型）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A UML diagram</a:t>
            </a:r>
          </a:p>
          <a:p>
            <a:pPr eaLnBrk="1" hangingPunct="1"/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7893" name="Footer Placeholder 4">
            <a:extLst>
              <a:ext uri="{FF2B5EF4-FFF2-40B4-BE49-F238E27FC236}">
                <a16:creationId xmlns:a16="http://schemas.microsoft.com/office/drawing/2014/main" id="{3DE46574-4743-46C8-9581-230C2B73C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37894" name="Rectangle 6">
            <a:extLst>
              <a:ext uri="{FF2B5EF4-FFF2-40B4-BE49-F238E27FC236}">
                <a16:creationId xmlns:a16="http://schemas.microsoft.com/office/drawing/2014/main" id="{0673758B-2CC6-4854-9E29-0C34FD716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6">
            <a:extLst>
              <a:ext uri="{FF2B5EF4-FFF2-40B4-BE49-F238E27FC236}">
                <a16:creationId xmlns:a16="http://schemas.microsoft.com/office/drawing/2014/main" id="{FC5B39D6-5AF1-4436-A1F1-D4036905F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27D595C-A5AB-4A09-83D4-CBB8CD8A6131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000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7E9F88C7-663F-411D-9F47-D11CCC1F96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868362"/>
          </a:xfrm>
        </p:spPr>
        <p:txBody>
          <a:bodyPr/>
          <a:lstStyle/>
          <a:p>
            <a:pPr eaLnBrk="1" hangingPunct="1"/>
            <a:r>
              <a:rPr lang="en-US" altLang="zh-CN" sz="3600">
                <a:ea typeface="宋体" panose="02010600030101010101" pitchFamily="2" charset="-122"/>
              </a:rPr>
              <a:t>Activity Diagrams Symbols</a:t>
            </a:r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F14BCDA5-BE31-4E4A-B884-960616169B5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endParaRPr lang="en-US" altLang="zh-CN" sz="2400">
              <a:ea typeface="宋体" panose="02010600030101010101" pitchFamily="2" charset="-122"/>
            </a:endParaRPr>
          </a:p>
          <a:p>
            <a:pPr eaLnBrk="1" hangingPunct="1"/>
            <a:endParaRPr lang="en-US" altLang="zh-CN" sz="2400">
              <a:ea typeface="宋体" panose="02010600030101010101" pitchFamily="2" charset="-122"/>
            </a:endParaRPr>
          </a:p>
        </p:txBody>
      </p:sp>
      <p:pic>
        <p:nvPicPr>
          <p:cNvPr id="38917" name="Picture 7">
            <a:extLst>
              <a:ext uri="{FF2B5EF4-FFF2-40B4-BE49-F238E27FC236}">
                <a16:creationId xmlns:a16="http://schemas.microsoft.com/office/drawing/2014/main" id="{BDEFD720-427F-4910-A1AC-863E0AFF729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1371600"/>
            <a:ext cx="8001000" cy="4673600"/>
          </a:xfrm>
          <a:noFill/>
        </p:spPr>
      </p:pic>
      <p:sp>
        <p:nvSpPr>
          <p:cNvPr id="38918" name="Footer Placeholder 4">
            <a:extLst>
              <a:ext uri="{FF2B5EF4-FFF2-40B4-BE49-F238E27FC236}">
                <a16:creationId xmlns:a16="http://schemas.microsoft.com/office/drawing/2014/main" id="{F0DC0189-5A5B-4C23-91C5-311845608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38919" name="Rectangle 7">
            <a:extLst>
              <a:ext uri="{FF2B5EF4-FFF2-40B4-BE49-F238E27FC236}">
                <a16:creationId xmlns:a16="http://schemas.microsoft.com/office/drawing/2014/main" id="{153E60C0-EA70-479A-857B-9F705A722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乘号 1">
            <a:extLst>
              <a:ext uri="{FF2B5EF4-FFF2-40B4-BE49-F238E27FC236}">
                <a16:creationId xmlns:a16="http://schemas.microsoft.com/office/drawing/2014/main" id="{094B558A-43AC-49BE-A5E9-B19CFC11C40E}"/>
              </a:ext>
            </a:extLst>
          </p:cNvPr>
          <p:cNvSpPr/>
          <p:nvPr/>
        </p:nvSpPr>
        <p:spPr>
          <a:xfrm>
            <a:off x="6324600" y="4419600"/>
            <a:ext cx="914400" cy="914400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6">
            <a:extLst>
              <a:ext uri="{FF2B5EF4-FFF2-40B4-BE49-F238E27FC236}">
                <a16:creationId xmlns:a16="http://schemas.microsoft.com/office/drawing/2014/main" id="{C1F0E1C5-9CC2-4CCB-8C71-DFB8CC03F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817EA16-0DBA-4870-B683-A48B55E4951A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en-US" sz="100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729D64F7-B67E-4901-988D-BD85D9D5B5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96962"/>
          </a:xfrm>
        </p:spPr>
        <p:txBody>
          <a:bodyPr/>
          <a:lstStyle/>
          <a:p>
            <a:pPr eaLnBrk="1" hangingPunct="1"/>
            <a:r>
              <a:rPr lang="en-US" altLang="zh-CN" sz="3200" dirty="0">
                <a:ea typeface="宋体" panose="02010600030101010101" pitchFamily="2" charset="-122"/>
              </a:rPr>
              <a:t>Activity Diagram with Concurrent Paths</a:t>
            </a: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6A28E5B5-427C-42FA-BFA0-0C281BA2052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endParaRPr lang="en-US" altLang="zh-CN" sz="2400">
              <a:ea typeface="宋体" panose="02010600030101010101" pitchFamily="2" charset="-122"/>
            </a:endParaRPr>
          </a:p>
          <a:p>
            <a:pPr eaLnBrk="1" hangingPunct="1"/>
            <a:endParaRPr lang="en-US" altLang="zh-CN" sz="2400">
              <a:ea typeface="宋体" panose="02010600030101010101" pitchFamily="2" charset="-122"/>
            </a:endParaRPr>
          </a:p>
        </p:txBody>
      </p:sp>
      <p:pic>
        <p:nvPicPr>
          <p:cNvPr id="40965" name="Picture 8">
            <a:extLst>
              <a:ext uri="{FF2B5EF4-FFF2-40B4-BE49-F238E27FC236}">
                <a16:creationId xmlns:a16="http://schemas.microsoft.com/office/drawing/2014/main" id="{37C2A7A8-4AB4-40A0-B261-47212B3C4A7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71600" y="1371600"/>
            <a:ext cx="6324600" cy="4935538"/>
          </a:xfrm>
          <a:noFill/>
        </p:spPr>
      </p:pic>
      <p:sp>
        <p:nvSpPr>
          <p:cNvPr id="40966" name="Footer Placeholder 4">
            <a:extLst>
              <a:ext uri="{FF2B5EF4-FFF2-40B4-BE49-F238E27FC236}">
                <a16:creationId xmlns:a16="http://schemas.microsoft.com/office/drawing/2014/main" id="{8CF3D267-7407-4507-85D2-FCB30C6F2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40967" name="Rectangle 7">
            <a:extLst>
              <a:ext uri="{FF2B5EF4-FFF2-40B4-BE49-F238E27FC236}">
                <a16:creationId xmlns:a16="http://schemas.microsoft.com/office/drawing/2014/main" id="{244756F9-0493-4915-BD81-21C1D3B323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对话气泡: 椭圆形 7">
            <a:extLst>
              <a:ext uri="{FF2B5EF4-FFF2-40B4-BE49-F238E27FC236}">
                <a16:creationId xmlns:a16="http://schemas.microsoft.com/office/drawing/2014/main" id="{E74C11B4-E0A2-4DAB-96D3-D258478C72AB}"/>
              </a:ext>
            </a:extLst>
          </p:cNvPr>
          <p:cNvSpPr/>
          <p:nvPr/>
        </p:nvSpPr>
        <p:spPr>
          <a:xfrm>
            <a:off x="4016723" y="2667000"/>
            <a:ext cx="1981200" cy="612648"/>
          </a:xfrm>
          <a:prstGeom prst="wedgeEllipseCallout">
            <a:avLst>
              <a:gd name="adj1" fmla="val -64341"/>
              <a:gd name="adj2" fmla="val 7453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ln w="0">
                  <a:solidFill>
                    <a:srgbClr val="C00000"/>
                  </a:solidFill>
                </a:ln>
                <a:solidFill>
                  <a:srgbClr val="FF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对每个</a:t>
            </a:r>
            <a:r>
              <a:rPr lang="en-US" altLang="zh-CN" dirty="0">
                <a:ln w="0">
                  <a:solidFill>
                    <a:srgbClr val="C00000"/>
                  </a:solidFill>
                </a:ln>
                <a:solidFill>
                  <a:srgbClr val="FF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item</a:t>
            </a:r>
            <a:r>
              <a:rPr lang="zh-CN" altLang="en-US" dirty="0">
                <a:ln w="0">
                  <a:solidFill>
                    <a:srgbClr val="C00000"/>
                  </a:solidFill>
                </a:ln>
                <a:solidFill>
                  <a:srgbClr val="FF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都执行</a:t>
            </a:r>
          </a:p>
        </p:txBody>
      </p:sp>
      <p:sp>
        <p:nvSpPr>
          <p:cNvPr id="9" name="对话气泡: 椭圆形 8">
            <a:extLst>
              <a:ext uri="{FF2B5EF4-FFF2-40B4-BE49-F238E27FC236}">
                <a16:creationId xmlns:a16="http://schemas.microsoft.com/office/drawing/2014/main" id="{2360D0C1-CF73-4206-865D-3AE43D25D386}"/>
              </a:ext>
            </a:extLst>
          </p:cNvPr>
          <p:cNvSpPr/>
          <p:nvPr/>
        </p:nvSpPr>
        <p:spPr>
          <a:xfrm>
            <a:off x="6842918" y="3694176"/>
            <a:ext cx="2316163" cy="1069848"/>
          </a:xfrm>
          <a:prstGeom prst="wedgeEllipseCallout">
            <a:avLst>
              <a:gd name="adj1" fmla="val -29787"/>
              <a:gd name="adj2" fmla="val 5908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ln w="0">
                  <a:solidFill>
                    <a:srgbClr val="C00000"/>
                  </a:solidFill>
                </a:ln>
                <a:solidFill>
                  <a:srgbClr val="FF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并行操作一般成对出现，有开始有结束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6">
            <a:extLst>
              <a:ext uri="{FF2B5EF4-FFF2-40B4-BE49-F238E27FC236}">
                <a16:creationId xmlns:a16="http://schemas.microsoft.com/office/drawing/2014/main" id="{FC7D1B0D-4760-4F01-A0E8-90860FB8E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701A567-5283-47D1-BA4D-818091018389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en-US" sz="1000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E3B22133-3B8C-45BB-B4AB-EE23820E70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2057400" cy="25908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Activity Diagram for RMO Order Fulfillment</a:t>
            </a:r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A3DB5FA2-D62E-4CC7-BBB7-A73B12F8026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sz="2400" dirty="0">
              <a:ea typeface="宋体" panose="02010600030101010101" pitchFamily="2" charset="-122"/>
            </a:endParaRPr>
          </a:p>
        </p:txBody>
      </p:sp>
      <p:pic>
        <p:nvPicPr>
          <p:cNvPr id="39941" name="Picture 8">
            <a:extLst>
              <a:ext uri="{FF2B5EF4-FFF2-40B4-BE49-F238E27FC236}">
                <a16:creationId xmlns:a16="http://schemas.microsoft.com/office/drawing/2014/main" id="{817B9E4A-2E28-419A-9CD2-1FC11353766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71800" y="152400"/>
            <a:ext cx="4830763" cy="6096000"/>
          </a:xfrm>
          <a:noFill/>
        </p:spPr>
      </p:pic>
      <p:sp>
        <p:nvSpPr>
          <p:cNvPr id="39942" name="Footer Placeholder 4">
            <a:extLst>
              <a:ext uri="{FF2B5EF4-FFF2-40B4-BE49-F238E27FC236}">
                <a16:creationId xmlns:a16="http://schemas.microsoft.com/office/drawing/2014/main" id="{968F8250-C2DA-4001-AD7B-48DBFC03A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39943" name="Rectangle 7">
            <a:extLst>
              <a:ext uri="{FF2B5EF4-FFF2-40B4-BE49-F238E27FC236}">
                <a16:creationId xmlns:a16="http://schemas.microsoft.com/office/drawing/2014/main" id="{7EFF7349-A25F-4284-AF45-77D620B9F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 dirty="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 dirty="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E07D27-7A94-4E4E-A9E6-7E76C425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E82BD5-337A-4AE0-AB5C-C37495CF8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7BAE-B5F1-43D5-A71F-3739CE1FD0ED}" type="slidenum">
              <a:rPr lang="en-US" altLang="en-US" smtClean="0"/>
              <a:pPr/>
              <a:t>37</a:t>
            </a:fld>
            <a:endParaRPr lang="en-US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3AD4730-A829-447B-9B82-B1860565A5A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90600" y="1524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800" b="1" dirty="0">
                <a:latin typeface="Arial Black" panose="020B0A04020102020204" pitchFamily="34" charset="0"/>
              </a:rPr>
              <a:t>Please analyze the process of ordering a delivery(</a:t>
            </a:r>
            <a:r>
              <a:rPr lang="zh-CN" altLang="en-US" sz="2800" b="1" dirty="0">
                <a:latin typeface="Arial Black" panose="020B0A04020102020204" pitchFamily="34" charset="0"/>
              </a:rPr>
              <a:t>外卖</a:t>
            </a:r>
            <a:r>
              <a:rPr lang="en-US" altLang="zh-CN" sz="2800" b="1" dirty="0">
                <a:latin typeface="Arial Black" panose="020B0A04020102020204" pitchFamily="34" charset="0"/>
              </a:rPr>
              <a:t>) from a restaurant website, and then draw an Activity Diagram in UML to reasonably show this process.</a:t>
            </a:r>
            <a:endParaRPr lang="zh-CN" altLang="en-US" sz="2800" dirty="0">
              <a:solidFill>
                <a:srgbClr val="000000"/>
              </a:solidFill>
              <a:latin typeface="Arial Black" panose="020B0A04020102020204" pitchFamily="34" charset="0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45D3300-95FF-42E0-9970-9ADEC1308E3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05108A0-B9C4-42F9-8EFF-6B6E039C5BD0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5849303"/>
            <a:ext cx="9144000" cy="365760"/>
          </a:xfrm>
          <a:prstGeom prst="rect">
            <a:avLst/>
          </a:prstGeom>
          <a:solidFill>
            <a:srgbClr val="FBFAE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56BBB914-CE4A-4707-9960-186110BE0DD4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1" name="TitleBackground">
              <a:extLst>
                <a:ext uri="{FF2B5EF4-FFF2-40B4-BE49-F238E27FC236}">
                  <a16:creationId xmlns:a16="http://schemas.microsoft.com/office/drawing/2014/main" id="{22C33C8B-543C-42FF-8952-EB8CE3C0E439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ColorBlock">
              <a:extLst>
                <a:ext uri="{FF2B5EF4-FFF2-40B4-BE49-F238E27FC236}">
                  <a16:creationId xmlns:a16="http://schemas.microsoft.com/office/drawing/2014/main" id="{B15E5371-ABE9-4050-B0B7-FBC9E18E47FB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TypeText">
              <a:extLst>
                <a:ext uri="{FF2B5EF4-FFF2-40B4-BE49-F238E27FC236}">
                  <a16:creationId xmlns:a16="http://schemas.microsoft.com/office/drawing/2014/main" id="{CC50DB27-0563-4636-B280-C2790A94A265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4" name="TipText">
              <a:extLst>
                <a:ext uri="{FF2B5EF4-FFF2-40B4-BE49-F238E27FC236}">
                  <a16:creationId xmlns:a16="http://schemas.microsoft.com/office/drawing/2014/main" id="{5DF8708D-D090-4341-90EA-58890F1D4B5D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92D181BC-515D-424A-9C7D-A80F164A2D9A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365796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EEBE541-04BF-4939-B125-B1AC09017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F89A-96BF-44DE-9E73-12F67874732E}" type="slidenum">
              <a:rPr lang="en-US" altLang="en-US" smtClean="0"/>
              <a:pPr/>
              <a:t>38</a:t>
            </a:fld>
            <a:endParaRPr lang="en-US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2770F70-9AB9-4DB7-9B03-13FA1E1CD5E7}"/>
              </a:ext>
            </a:extLst>
          </p:cNvPr>
          <p:cNvSpPr/>
          <p:nvPr/>
        </p:nvSpPr>
        <p:spPr>
          <a:xfrm>
            <a:off x="957695" y="132144"/>
            <a:ext cx="2186358" cy="5334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Order subsystem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92B898F-C3DF-4C9B-9C2D-EC8E76B44656}"/>
              </a:ext>
            </a:extLst>
          </p:cNvPr>
          <p:cNvSpPr/>
          <p:nvPr/>
        </p:nvSpPr>
        <p:spPr>
          <a:xfrm>
            <a:off x="957694" y="665544"/>
            <a:ext cx="2190659" cy="588765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ADC23D1-DEF4-4C17-AAD5-A6AAABB0A056}"/>
              </a:ext>
            </a:extLst>
          </p:cNvPr>
          <p:cNvSpPr/>
          <p:nvPr/>
        </p:nvSpPr>
        <p:spPr>
          <a:xfrm>
            <a:off x="3151744" y="132144"/>
            <a:ext cx="2409276" cy="5334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Restaurant</a:t>
            </a:r>
          </a:p>
          <a:p>
            <a:pPr algn="ctr"/>
            <a:r>
              <a:rPr lang="en-US" altLang="zh-CN" dirty="0">
                <a:solidFill>
                  <a:schemeClr val="tx1"/>
                </a:solidFill>
              </a:rPr>
              <a:t>Subsystem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9549515-DD39-4DC9-B105-120C3D82C355}"/>
              </a:ext>
            </a:extLst>
          </p:cNvPr>
          <p:cNvSpPr/>
          <p:nvPr/>
        </p:nvSpPr>
        <p:spPr>
          <a:xfrm>
            <a:off x="3151744" y="665544"/>
            <a:ext cx="2390503" cy="588765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2EFC50-7632-4270-B20E-56EFBB52A3E5}"/>
              </a:ext>
            </a:extLst>
          </p:cNvPr>
          <p:cNvSpPr/>
          <p:nvPr/>
        </p:nvSpPr>
        <p:spPr>
          <a:xfrm>
            <a:off x="5556720" y="132144"/>
            <a:ext cx="2382812" cy="5334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Shipping</a:t>
            </a:r>
          </a:p>
          <a:p>
            <a:pPr algn="ctr"/>
            <a:r>
              <a:rPr lang="en-US" altLang="zh-CN" dirty="0">
                <a:solidFill>
                  <a:schemeClr val="tx1"/>
                </a:solidFill>
              </a:rPr>
              <a:t>Subsystem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4BE3616-7EFC-41B0-93B0-C76666DB2BFF}"/>
              </a:ext>
            </a:extLst>
          </p:cNvPr>
          <p:cNvSpPr/>
          <p:nvPr/>
        </p:nvSpPr>
        <p:spPr>
          <a:xfrm>
            <a:off x="5545638" y="665544"/>
            <a:ext cx="2390503" cy="588765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F1DECD6-7B10-443C-9B45-4266C82B70B6}"/>
              </a:ext>
            </a:extLst>
          </p:cNvPr>
          <p:cNvSpPr/>
          <p:nvPr/>
        </p:nvSpPr>
        <p:spPr>
          <a:xfrm>
            <a:off x="2025589" y="761850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7D4F63C5-BEDD-4978-8570-E7F6DD2000E3}"/>
              </a:ext>
            </a:extLst>
          </p:cNvPr>
          <p:cNvCxnSpPr>
            <a:cxnSpLocks/>
            <a:stCxn id="14" idx="6"/>
            <a:endCxn id="24" idx="0"/>
          </p:cNvCxnSpPr>
          <p:nvPr/>
        </p:nvCxnSpPr>
        <p:spPr>
          <a:xfrm>
            <a:off x="2177989" y="838050"/>
            <a:ext cx="2162527" cy="146732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D8198C6-DED1-4326-85D6-32B3AE7EFDD0}"/>
              </a:ext>
            </a:extLst>
          </p:cNvPr>
          <p:cNvSpPr/>
          <p:nvPr/>
        </p:nvSpPr>
        <p:spPr>
          <a:xfrm>
            <a:off x="3813595" y="1174886"/>
            <a:ext cx="1066800" cy="484805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Check the order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273E4FF-6350-4DE6-B0C3-E6F391B9BB98}"/>
              </a:ext>
            </a:extLst>
          </p:cNvPr>
          <p:cNvSpPr/>
          <p:nvPr/>
        </p:nvSpPr>
        <p:spPr>
          <a:xfrm>
            <a:off x="3883316" y="984782"/>
            <a:ext cx="9144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CD5ACCE-BD2B-456A-B946-B4B0947E1AF4}"/>
              </a:ext>
            </a:extLst>
          </p:cNvPr>
          <p:cNvSpPr txBox="1"/>
          <p:nvPr/>
        </p:nvSpPr>
        <p:spPr>
          <a:xfrm>
            <a:off x="2159425" y="808798"/>
            <a:ext cx="15167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For each item in</a:t>
            </a:r>
            <a:r>
              <a:rPr lang="zh-CN" altLang="en-US" sz="1400" dirty="0"/>
              <a:t> </a:t>
            </a:r>
            <a:endParaRPr lang="en-US" altLang="zh-CN" sz="1400" dirty="0"/>
          </a:p>
          <a:p>
            <a:r>
              <a:rPr lang="en-US" altLang="zh-CN" sz="1400" dirty="0"/>
              <a:t>Completed order</a:t>
            </a: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4D3C2BAF-734D-426E-9742-9DF0D5FC960A}"/>
              </a:ext>
            </a:extLst>
          </p:cNvPr>
          <p:cNvCxnSpPr>
            <a:cxnSpLocks/>
            <a:stCxn id="24" idx="2"/>
            <a:endCxn id="17" idx="0"/>
          </p:cNvCxnSpPr>
          <p:nvPr/>
        </p:nvCxnSpPr>
        <p:spPr>
          <a:xfrm>
            <a:off x="4340516" y="1030501"/>
            <a:ext cx="6479" cy="14438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菱形 49">
            <a:extLst>
              <a:ext uri="{FF2B5EF4-FFF2-40B4-BE49-F238E27FC236}">
                <a16:creationId xmlns:a16="http://schemas.microsoft.com/office/drawing/2014/main" id="{0D03927B-82E2-4A33-948E-D0D3768EC374}"/>
              </a:ext>
            </a:extLst>
          </p:cNvPr>
          <p:cNvSpPr/>
          <p:nvPr/>
        </p:nvSpPr>
        <p:spPr>
          <a:xfrm>
            <a:off x="3407248" y="1802368"/>
            <a:ext cx="1889201" cy="645527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Any problem?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187D8BDC-B217-4787-BE06-EA2C67D64E8B}"/>
              </a:ext>
            </a:extLst>
          </p:cNvPr>
          <p:cNvCxnSpPr>
            <a:cxnSpLocks/>
            <a:stCxn id="17" idx="2"/>
            <a:endCxn id="50" idx="0"/>
          </p:cNvCxnSpPr>
          <p:nvPr/>
        </p:nvCxnSpPr>
        <p:spPr>
          <a:xfrm>
            <a:off x="4346995" y="1659691"/>
            <a:ext cx="4854" cy="14267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52A9082C-7EF9-47A5-BB3F-59606A2A02AA}"/>
              </a:ext>
            </a:extLst>
          </p:cNvPr>
          <p:cNvSpPr/>
          <p:nvPr/>
        </p:nvSpPr>
        <p:spPr>
          <a:xfrm>
            <a:off x="1557471" y="1882728"/>
            <a:ext cx="1066800" cy="484805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Show the problem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18AE79A1-83B2-4793-A809-14F3B9B4A426}"/>
              </a:ext>
            </a:extLst>
          </p:cNvPr>
          <p:cNvCxnSpPr>
            <a:cxnSpLocks/>
            <a:stCxn id="50" idx="1"/>
            <a:endCxn id="59" idx="3"/>
          </p:cNvCxnSpPr>
          <p:nvPr/>
        </p:nvCxnSpPr>
        <p:spPr>
          <a:xfrm flipH="1" flipV="1">
            <a:off x="2624271" y="2125131"/>
            <a:ext cx="782977" cy="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AF03A74C-2A5E-40A2-99E9-0F204FB59ED4}"/>
              </a:ext>
            </a:extLst>
          </p:cNvPr>
          <p:cNvSpPr/>
          <p:nvPr/>
        </p:nvSpPr>
        <p:spPr>
          <a:xfrm>
            <a:off x="3821305" y="2643340"/>
            <a:ext cx="1066800" cy="484805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Process the order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54109F23-1109-466C-A1CE-E548C43F6BE7}"/>
              </a:ext>
            </a:extLst>
          </p:cNvPr>
          <p:cNvCxnSpPr>
            <a:cxnSpLocks/>
            <a:stCxn id="50" idx="2"/>
            <a:endCxn id="66" idx="0"/>
          </p:cNvCxnSpPr>
          <p:nvPr/>
        </p:nvCxnSpPr>
        <p:spPr>
          <a:xfrm>
            <a:off x="4351849" y="2447895"/>
            <a:ext cx="2856" cy="19544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744822CD-9556-4124-8E0A-F472B493CF87}"/>
              </a:ext>
            </a:extLst>
          </p:cNvPr>
          <p:cNvSpPr txBox="1"/>
          <p:nvPr/>
        </p:nvSpPr>
        <p:spPr>
          <a:xfrm>
            <a:off x="3106904" y="1826347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Y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145CC464-7E04-444E-8158-B4C98D19F604}"/>
              </a:ext>
            </a:extLst>
          </p:cNvPr>
          <p:cNvSpPr txBox="1"/>
          <p:nvPr/>
        </p:nvSpPr>
        <p:spPr>
          <a:xfrm>
            <a:off x="4406081" y="2362330"/>
            <a:ext cx="3150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N</a:t>
            </a:r>
          </a:p>
        </p:txBody>
      </p: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8385637A-411D-43E3-9C0C-338C933CCA28}"/>
              </a:ext>
            </a:extLst>
          </p:cNvPr>
          <p:cNvCxnSpPr>
            <a:cxnSpLocks/>
            <a:stCxn id="66" idx="2"/>
            <a:endCxn id="77" idx="0"/>
          </p:cNvCxnSpPr>
          <p:nvPr/>
        </p:nvCxnSpPr>
        <p:spPr>
          <a:xfrm>
            <a:off x="4354705" y="3128145"/>
            <a:ext cx="6131" cy="18845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矩形 76">
            <a:extLst>
              <a:ext uri="{FF2B5EF4-FFF2-40B4-BE49-F238E27FC236}">
                <a16:creationId xmlns:a16="http://schemas.microsoft.com/office/drawing/2014/main" id="{2A2CA36A-8C3E-479A-A90D-7C2642DFBFAE}"/>
              </a:ext>
            </a:extLst>
          </p:cNvPr>
          <p:cNvSpPr/>
          <p:nvPr/>
        </p:nvSpPr>
        <p:spPr>
          <a:xfrm>
            <a:off x="3903636" y="3316601"/>
            <a:ext cx="9144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8E302BCF-6784-4A05-8B3D-BB2A4C7D1759}"/>
              </a:ext>
            </a:extLst>
          </p:cNvPr>
          <p:cNvSpPr/>
          <p:nvPr/>
        </p:nvSpPr>
        <p:spPr>
          <a:xfrm>
            <a:off x="5723271" y="3408158"/>
            <a:ext cx="1379074" cy="70894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Update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tracking records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C3E8C167-F947-47E2-9E86-942A1115DCA4}"/>
              </a:ext>
            </a:extLst>
          </p:cNvPr>
          <p:cNvSpPr/>
          <p:nvPr/>
        </p:nvSpPr>
        <p:spPr>
          <a:xfrm>
            <a:off x="3832609" y="3520230"/>
            <a:ext cx="1055496" cy="484805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Prepare shipment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87" name="连接符: 肘形 86">
            <a:extLst>
              <a:ext uri="{FF2B5EF4-FFF2-40B4-BE49-F238E27FC236}">
                <a16:creationId xmlns:a16="http://schemas.microsoft.com/office/drawing/2014/main" id="{98837554-AA56-446A-9C7A-19BB05BAFDFA}"/>
              </a:ext>
            </a:extLst>
          </p:cNvPr>
          <p:cNvCxnSpPr>
            <a:cxnSpLocks/>
            <a:stCxn id="85" idx="3"/>
            <a:endCxn id="82" idx="1"/>
          </p:cNvCxnSpPr>
          <p:nvPr/>
        </p:nvCxnSpPr>
        <p:spPr>
          <a:xfrm flipV="1">
            <a:off x="4888105" y="3762632"/>
            <a:ext cx="835166" cy="1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矩形: 圆角 95">
            <a:extLst>
              <a:ext uri="{FF2B5EF4-FFF2-40B4-BE49-F238E27FC236}">
                <a16:creationId xmlns:a16="http://schemas.microsoft.com/office/drawing/2014/main" id="{A643E716-118F-4AA3-8CBC-272363A347E4}"/>
              </a:ext>
            </a:extLst>
          </p:cNvPr>
          <p:cNvSpPr/>
          <p:nvPr/>
        </p:nvSpPr>
        <p:spPr>
          <a:xfrm>
            <a:off x="1555012" y="2622541"/>
            <a:ext cx="1066800" cy="484805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Give feedback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97" name="连接符: 肘形 96">
            <a:extLst>
              <a:ext uri="{FF2B5EF4-FFF2-40B4-BE49-F238E27FC236}">
                <a16:creationId xmlns:a16="http://schemas.microsoft.com/office/drawing/2014/main" id="{2AE8EFDC-BC44-4565-B123-05856E8BBC8C}"/>
              </a:ext>
            </a:extLst>
          </p:cNvPr>
          <p:cNvCxnSpPr>
            <a:cxnSpLocks/>
            <a:stCxn id="96" idx="1"/>
            <a:endCxn id="17" idx="1"/>
          </p:cNvCxnSpPr>
          <p:nvPr/>
        </p:nvCxnSpPr>
        <p:spPr>
          <a:xfrm rot="10800000" flipH="1">
            <a:off x="1555011" y="1417290"/>
            <a:ext cx="2258583" cy="1447655"/>
          </a:xfrm>
          <a:prstGeom prst="bentConnector3">
            <a:avLst>
              <a:gd name="adj1" fmla="val -10121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FE403F6A-66A6-4D82-9F57-62034E16C6D0}"/>
              </a:ext>
            </a:extLst>
          </p:cNvPr>
          <p:cNvCxnSpPr>
            <a:cxnSpLocks/>
            <a:stCxn id="59" idx="2"/>
            <a:endCxn id="96" idx="0"/>
          </p:cNvCxnSpPr>
          <p:nvPr/>
        </p:nvCxnSpPr>
        <p:spPr>
          <a:xfrm flipH="1">
            <a:off x="2088412" y="2367533"/>
            <a:ext cx="2459" cy="25500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矩形: 圆角 102">
            <a:extLst>
              <a:ext uri="{FF2B5EF4-FFF2-40B4-BE49-F238E27FC236}">
                <a16:creationId xmlns:a16="http://schemas.microsoft.com/office/drawing/2014/main" id="{06D05FBA-AC4E-41A0-B4AB-55ED1FBC489E}"/>
              </a:ext>
            </a:extLst>
          </p:cNvPr>
          <p:cNvSpPr/>
          <p:nvPr/>
        </p:nvSpPr>
        <p:spPr>
          <a:xfrm>
            <a:off x="1412252" y="3508162"/>
            <a:ext cx="1379074" cy="48480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Update order status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4E3B6B31-CF2B-44CE-8014-F97E3A5C76A1}"/>
              </a:ext>
            </a:extLst>
          </p:cNvPr>
          <p:cNvCxnSpPr>
            <a:cxnSpLocks/>
            <a:stCxn id="85" idx="1"/>
            <a:endCxn id="103" idx="3"/>
          </p:cNvCxnSpPr>
          <p:nvPr/>
        </p:nvCxnSpPr>
        <p:spPr>
          <a:xfrm flipH="1" flipV="1">
            <a:off x="2791326" y="3750565"/>
            <a:ext cx="1041283" cy="1206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3FBDDF52-378C-4E3D-879F-5B5A53D37E5D}"/>
              </a:ext>
            </a:extLst>
          </p:cNvPr>
          <p:cNvSpPr/>
          <p:nvPr/>
        </p:nvSpPr>
        <p:spPr>
          <a:xfrm>
            <a:off x="1424510" y="4142505"/>
            <a:ext cx="1379074" cy="48480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Update order status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14" name="矩形: 圆角 113">
            <a:extLst>
              <a:ext uri="{FF2B5EF4-FFF2-40B4-BE49-F238E27FC236}">
                <a16:creationId xmlns:a16="http://schemas.microsoft.com/office/drawing/2014/main" id="{3ACDC66C-9EBB-49CB-B6C4-520365E0C103}"/>
              </a:ext>
            </a:extLst>
          </p:cNvPr>
          <p:cNvSpPr/>
          <p:nvPr/>
        </p:nvSpPr>
        <p:spPr>
          <a:xfrm>
            <a:off x="3657458" y="4142505"/>
            <a:ext cx="1379074" cy="48480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Update order status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115" name="连接符: 肘形 114">
            <a:extLst>
              <a:ext uri="{FF2B5EF4-FFF2-40B4-BE49-F238E27FC236}">
                <a16:creationId xmlns:a16="http://schemas.microsoft.com/office/drawing/2014/main" id="{1E16B010-67C3-438C-95D0-3050FC0CB04B}"/>
              </a:ext>
            </a:extLst>
          </p:cNvPr>
          <p:cNvCxnSpPr>
            <a:cxnSpLocks/>
            <a:stCxn id="82" idx="2"/>
            <a:endCxn id="114" idx="3"/>
          </p:cNvCxnSpPr>
          <p:nvPr/>
        </p:nvCxnSpPr>
        <p:spPr>
          <a:xfrm rot="5400000">
            <a:off x="5590769" y="3562868"/>
            <a:ext cx="267803" cy="1376276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C1A2DF32-3C27-4CDE-AB03-F8E9BFD9BA16}"/>
              </a:ext>
            </a:extLst>
          </p:cNvPr>
          <p:cNvCxnSpPr>
            <a:cxnSpLocks/>
            <a:stCxn id="114" idx="1"/>
            <a:endCxn id="113" idx="3"/>
          </p:cNvCxnSpPr>
          <p:nvPr/>
        </p:nvCxnSpPr>
        <p:spPr>
          <a:xfrm flipH="1">
            <a:off x="2803584" y="4384908"/>
            <a:ext cx="85387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椭圆 120">
            <a:extLst>
              <a:ext uri="{FF2B5EF4-FFF2-40B4-BE49-F238E27FC236}">
                <a16:creationId xmlns:a16="http://schemas.microsoft.com/office/drawing/2014/main" id="{3DD11D85-3798-4864-8FCB-C969AB78A264}"/>
              </a:ext>
            </a:extLst>
          </p:cNvPr>
          <p:cNvSpPr/>
          <p:nvPr/>
        </p:nvSpPr>
        <p:spPr>
          <a:xfrm>
            <a:off x="2004203" y="6282760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菱形 127">
            <a:extLst>
              <a:ext uri="{FF2B5EF4-FFF2-40B4-BE49-F238E27FC236}">
                <a16:creationId xmlns:a16="http://schemas.microsoft.com/office/drawing/2014/main" id="{F684D7FB-062F-4B92-9EA1-3FE879278F25}"/>
              </a:ext>
            </a:extLst>
          </p:cNvPr>
          <p:cNvSpPr/>
          <p:nvPr/>
        </p:nvSpPr>
        <p:spPr>
          <a:xfrm>
            <a:off x="1181916" y="4895442"/>
            <a:ext cx="1871577" cy="645527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Receive the order?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147" name="直接箭头连接符 146">
            <a:extLst>
              <a:ext uri="{FF2B5EF4-FFF2-40B4-BE49-F238E27FC236}">
                <a16:creationId xmlns:a16="http://schemas.microsoft.com/office/drawing/2014/main" id="{86240053-077B-47F5-85A4-807F33F97711}"/>
              </a:ext>
            </a:extLst>
          </p:cNvPr>
          <p:cNvCxnSpPr>
            <a:cxnSpLocks/>
            <a:stCxn id="77" idx="2"/>
            <a:endCxn id="85" idx="0"/>
          </p:cNvCxnSpPr>
          <p:nvPr/>
        </p:nvCxnSpPr>
        <p:spPr>
          <a:xfrm flipH="1">
            <a:off x="4360357" y="3362320"/>
            <a:ext cx="479" cy="15791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8" name="文本框 167">
            <a:extLst>
              <a:ext uri="{FF2B5EF4-FFF2-40B4-BE49-F238E27FC236}">
                <a16:creationId xmlns:a16="http://schemas.microsoft.com/office/drawing/2014/main" id="{EB292B8C-2EF7-4989-A9E1-03FD252F86EA}"/>
              </a:ext>
            </a:extLst>
          </p:cNvPr>
          <p:cNvSpPr txBox="1"/>
          <p:nvPr/>
        </p:nvSpPr>
        <p:spPr>
          <a:xfrm>
            <a:off x="2881273" y="4884959"/>
            <a:ext cx="3145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N</a:t>
            </a:r>
          </a:p>
        </p:txBody>
      </p:sp>
      <p:sp>
        <p:nvSpPr>
          <p:cNvPr id="172" name="矩形: 圆角 171">
            <a:extLst>
              <a:ext uri="{FF2B5EF4-FFF2-40B4-BE49-F238E27FC236}">
                <a16:creationId xmlns:a16="http://schemas.microsoft.com/office/drawing/2014/main" id="{46B305E9-67B6-498B-8587-9D69DA755C29}"/>
              </a:ext>
            </a:extLst>
          </p:cNvPr>
          <p:cNvSpPr/>
          <p:nvPr/>
        </p:nvSpPr>
        <p:spPr>
          <a:xfrm>
            <a:off x="3716544" y="5616711"/>
            <a:ext cx="1379074" cy="48480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Update order status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73" name="矩形: 圆角 172">
            <a:extLst>
              <a:ext uri="{FF2B5EF4-FFF2-40B4-BE49-F238E27FC236}">
                <a16:creationId xmlns:a16="http://schemas.microsoft.com/office/drawing/2014/main" id="{3FBDDF52-378C-4E3D-879F-5B5A53D37E5D}"/>
              </a:ext>
            </a:extLst>
          </p:cNvPr>
          <p:cNvSpPr/>
          <p:nvPr/>
        </p:nvSpPr>
        <p:spPr>
          <a:xfrm>
            <a:off x="5723271" y="5616624"/>
            <a:ext cx="1379074" cy="48480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Update order status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176" name="直接箭头连接符 175">
            <a:extLst>
              <a:ext uri="{FF2B5EF4-FFF2-40B4-BE49-F238E27FC236}">
                <a16:creationId xmlns:a16="http://schemas.microsoft.com/office/drawing/2014/main" id="{0CA39617-1122-4325-BE72-A02336AF192C}"/>
              </a:ext>
            </a:extLst>
          </p:cNvPr>
          <p:cNvCxnSpPr>
            <a:cxnSpLocks/>
            <a:stCxn id="128" idx="3"/>
            <a:endCxn id="201" idx="1"/>
          </p:cNvCxnSpPr>
          <p:nvPr/>
        </p:nvCxnSpPr>
        <p:spPr>
          <a:xfrm>
            <a:off x="3053493" y="5218206"/>
            <a:ext cx="2669778" cy="1854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0" name="直接箭头连接符 179">
            <a:extLst>
              <a:ext uri="{FF2B5EF4-FFF2-40B4-BE49-F238E27FC236}">
                <a16:creationId xmlns:a16="http://schemas.microsoft.com/office/drawing/2014/main" id="{2D8BC7EE-AC2A-48F8-9D4A-89098E02F941}"/>
              </a:ext>
            </a:extLst>
          </p:cNvPr>
          <p:cNvCxnSpPr>
            <a:cxnSpLocks/>
            <a:stCxn id="172" idx="3"/>
            <a:endCxn id="173" idx="1"/>
          </p:cNvCxnSpPr>
          <p:nvPr/>
        </p:nvCxnSpPr>
        <p:spPr>
          <a:xfrm flipV="1">
            <a:off x="5095618" y="5859027"/>
            <a:ext cx="627653" cy="8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2" name="连接符: 肘形 191">
            <a:extLst>
              <a:ext uri="{FF2B5EF4-FFF2-40B4-BE49-F238E27FC236}">
                <a16:creationId xmlns:a16="http://schemas.microsoft.com/office/drawing/2014/main" id="{18D36CBD-C17E-4F4B-811B-CCC8F33DFABE}"/>
              </a:ext>
            </a:extLst>
          </p:cNvPr>
          <p:cNvCxnSpPr>
            <a:cxnSpLocks/>
            <a:stCxn id="173" idx="2"/>
            <a:endCxn id="2" idx="6"/>
          </p:cNvCxnSpPr>
          <p:nvPr/>
        </p:nvCxnSpPr>
        <p:spPr>
          <a:xfrm rot="5400000">
            <a:off x="4191881" y="4142353"/>
            <a:ext cx="261850" cy="4180005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1" name="矩形: 圆角 200">
            <a:extLst>
              <a:ext uri="{FF2B5EF4-FFF2-40B4-BE49-F238E27FC236}">
                <a16:creationId xmlns:a16="http://schemas.microsoft.com/office/drawing/2014/main" id="{70B7D40A-187F-4AA8-AF77-73B4D679B2EE}"/>
              </a:ext>
            </a:extLst>
          </p:cNvPr>
          <p:cNvSpPr/>
          <p:nvPr/>
        </p:nvSpPr>
        <p:spPr>
          <a:xfrm>
            <a:off x="5723271" y="4994349"/>
            <a:ext cx="1379074" cy="48480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Check the feedback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209" name="连接符: 肘形 208">
            <a:extLst>
              <a:ext uri="{FF2B5EF4-FFF2-40B4-BE49-F238E27FC236}">
                <a16:creationId xmlns:a16="http://schemas.microsoft.com/office/drawing/2014/main" id="{BBB514DF-A9CD-4C41-9627-EAF7EC399B8D}"/>
              </a:ext>
            </a:extLst>
          </p:cNvPr>
          <p:cNvCxnSpPr>
            <a:cxnSpLocks/>
            <a:stCxn id="128" idx="2"/>
            <a:endCxn id="172" idx="1"/>
          </p:cNvCxnSpPr>
          <p:nvPr/>
        </p:nvCxnSpPr>
        <p:spPr>
          <a:xfrm rot="16200000" flipH="1">
            <a:off x="2758052" y="4900621"/>
            <a:ext cx="318145" cy="1598839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4" name="文本框 213">
            <a:extLst>
              <a:ext uri="{FF2B5EF4-FFF2-40B4-BE49-F238E27FC236}">
                <a16:creationId xmlns:a16="http://schemas.microsoft.com/office/drawing/2014/main" id="{7BEF936F-D0B6-41AA-BE67-91EBB98C7A22}"/>
              </a:ext>
            </a:extLst>
          </p:cNvPr>
          <p:cNvSpPr txBox="1"/>
          <p:nvPr/>
        </p:nvSpPr>
        <p:spPr>
          <a:xfrm>
            <a:off x="1796774" y="5524105"/>
            <a:ext cx="3145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Y</a:t>
            </a:r>
          </a:p>
        </p:txBody>
      </p:sp>
      <p:cxnSp>
        <p:nvCxnSpPr>
          <p:cNvPr id="225" name="直接箭头连接符 224">
            <a:extLst>
              <a:ext uri="{FF2B5EF4-FFF2-40B4-BE49-F238E27FC236}">
                <a16:creationId xmlns:a16="http://schemas.microsoft.com/office/drawing/2014/main" id="{FB206ABB-E057-4E08-9777-0157439E0BD8}"/>
              </a:ext>
            </a:extLst>
          </p:cNvPr>
          <p:cNvCxnSpPr>
            <a:cxnSpLocks/>
            <a:stCxn id="113" idx="2"/>
            <a:endCxn id="128" idx="0"/>
          </p:cNvCxnSpPr>
          <p:nvPr/>
        </p:nvCxnSpPr>
        <p:spPr>
          <a:xfrm>
            <a:off x="2114047" y="4627311"/>
            <a:ext cx="3658" cy="26813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2" name="连接符: 肘形 231">
            <a:extLst>
              <a:ext uri="{FF2B5EF4-FFF2-40B4-BE49-F238E27FC236}">
                <a16:creationId xmlns:a16="http://schemas.microsoft.com/office/drawing/2014/main" id="{3A83D79E-891F-4F8E-84CE-30FA0293D7EB}"/>
              </a:ext>
            </a:extLst>
          </p:cNvPr>
          <p:cNvCxnSpPr>
            <a:cxnSpLocks/>
            <a:stCxn id="201" idx="3"/>
            <a:endCxn id="82" idx="0"/>
          </p:cNvCxnSpPr>
          <p:nvPr/>
        </p:nvCxnSpPr>
        <p:spPr>
          <a:xfrm flipH="1" flipV="1">
            <a:off x="6412808" y="3408158"/>
            <a:ext cx="689537" cy="1828594"/>
          </a:xfrm>
          <a:prstGeom prst="bentConnector4">
            <a:avLst>
              <a:gd name="adj1" fmla="val -33153"/>
              <a:gd name="adj2" fmla="val 112501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椭圆 1">
            <a:extLst>
              <a:ext uri="{FF2B5EF4-FFF2-40B4-BE49-F238E27FC236}">
                <a16:creationId xmlns:a16="http://schemas.microsoft.com/office/drawing/2014/main" id="{F040B7D6-427B-4F9E-8901-89F70B957020}"/>
              </a:ext>
            </a:extLst>
          </p:cNvPr>
          <p:cNvSpPr/>
          <p:nvPr/>
        </p:nvSpPr>
        <p:spPr>
          <a:xfrm>
            <a:off x="1928003" y="6221921"/>
            <a:ext cx="304800" cy="28271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1681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4" grpId="0" animBg="1"/>
      <p:bldP spid="26" grpId="0"/>
      <p:bldP spid="50" grpId="0" animBg="1"/>
      <p:bldP spid="59" grpId="0" animBg="1"/>
      <p:bldP spid="66" grpId="0" animBg="1"/>
      <p:bldP spid="70" grpId="0"/>
      <p:bldP spid="71" grpId="0"/>
      <p:bldP spid="77" grpId="0" animBg="1"/>
      <p:bldP spid="82" grpId="0" animBg="1"/>
      <p:bldP spid="85" grpId="0" animBg="1"/>
      <p:bldP spid="96" grpId="0" animBg="1"/>
      <p:bldP spid="103" grpId="0" animBg="1"/>
      <p:bldP spid="113" grpId="0" animBg="1"/>
      <p:bldP spid="114" grpId="0" animBg="1"/>
      <p:bldP spid="121" grpId="0" animBg="1"/>
      <p:bldP spid="128" grpId="0" animBg="1"/>
      <p:bldP spid="168" grpId="0"/>
      <p:bldP spid="172" grpId="0" animBg="1"/>
      <p:bldP spid="173" grpId="0" animBg="1"/>
      <p:bldP spid="201" grpId="0" animBg="1"/>
      <p:bldP spid="21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3">
            <a:extLst>
              <a:ext uri="{FF2B5EF4-FFF2-40B4-BE49-F238E27FC236}">
                <a16:creationId xmlns:a16="http://schemas.microsoft.com/office/drawing/2014/main" id="{69AC17EF-0342-4A20-94D4-A68F094EB1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599" y="2348963"/>
            <a:ext cx="7994897" cy="2862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6223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zh-CN" sz="1500" b="1" dirty="0"/>
              <a:t>1</a:t>
            </a:r>
            <a:r>
              <a:rPr lang="zh-CN" altLang="en-US" sz="1500" b="1" dirty="0"/>
              <a:t>）分析策略</a:t>
            </a: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sz="1500" b="1" dirty="0"/>
              <a:t>结构化分析（</a:t>
            </a:r>
            <a:r>
              <a:rPr lang="en-US" altLang="zh-CN" sz="1500" b="1" dirty="0"/>
              <a:t>Structured Analysis</a:t>
            </a:r>
            <a:r>
              <a:rPr lang="zh-CN" altLang="en-US" sz="1500" b="1" dirty="0"/>
              <a:t>，简称</a:t>
            </a:r>
            <a:r>
              <a:rPr lang="en-US" altLang="zh-CN" sz="1500" b="1" dirty="0"/>
              <a:t>SA</a:t>
            </a:r>
            <a:r>
              <a:rPr lang="zh-CN" altLang="en-US" sz="1500" b="1" dirty="0"/>
              <a:t>）方法是</a:t>
            </a:r>
            <a:r>
              <a:rPr lang="en-US" altLang="zh-CN" sz="1500" b="1" dirty="0"/>
              <a:t>20</a:t>
            </a:r>
            <a:r>
              <a:rPr lang="zh-CN" altLang="en-US" sz="1500" b="1" dirty="0"/>
              <a:t>世纪</a:t>
            </a:r>
            <a:r>
              <a:rPr lang="en-US" altLang="zh-CN" sz="1500" b="1" dirty="0"/>
              <a:t>70</a:t>
            </a:r>
            <a:r>
              <a:rPr lang="zh-CN" altLang="en-US" sz="1500" b="1" dirty="0"/>
              <a:t>年代由</a:t>
            </a:r>
            <a:r>
              <a:rPr lang="en-US" altLang="zh-CN" sz="1500" b="1" dirty="0" err="1"/>
              <a:t>E·Yourdon</a:t>
            </a:r>
            <a:r>
              <a:rPr lang="zh-CN" altLang="en-US" sz="1500" b="1" dirty="0"/>
              <a:t>等人提出的一种面向数据流的分析方法，适用于大型的数据处理系统。由于利用图形来表达需求会使文档清晰、简明、易于学习和掌握，所以软件分析人员仍在广泛使用这种传统的分析方法。</a:t>
            </a: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sz="1500" b="1" dirty="0"/>
              <a:t>结构化分析方法总的指导思想是“自顶向下，逐步求精”，它的两个基本原则是“抽象”和“分解”，即按照功能分解的原则，对系统进行逐层分解，直到找到所有满足功能要求的可实现软件元素为止。</a:t>
            </a:r>
          </a:p>
        </p:txBody>
      </p:sp>
      <p:sp>
        <p:nvSpPr>
          <p:cNvPr id="6" name="Line 13">
            <a:extLst>
              <a:ext uri="{FF2B5EF4-FFF2-40B4-BE49-F238E27FC236}">
                <a16:creationId xmlns:a16="http://schemas.microsoft.com/office/drawing/2014/main" id="{4C449E6A-5575-4AD9-8FF8-77B19E2A31A1}"/>
              </a:ext>
            </a:extLst>
          </p:cNvPr>
          <p:cNvSpPr>
            <a:spLocks noChangeShapeType="1"/>
          </p:cNvSpPr>
          <p:nvPr/>
        </p:nvSpPr>
        <p:spPr bwMode="auto">
          <a:xfrm>
            <a:off x="575147" y="2187017"/>
            <a:ext cx="286263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Box 14">
            <a:extLst>
              <a:ext uri="{FF2B5EF4-FFF2-40B4-BE49-F238E27FC236}">
                <a16:creationId xmlns:a16="http://schemas.microsoft.com/office/drawing/2014/main" id="{EA505139-B858-49DA-B40B-BEA19839E1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678" y="1758336"/>
            <a:ext cx="2502608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650" b="1" dirty="0"/>
              <a:t>1. </a:t>
            </a:r>
            <a:r>
              <a:rPr lang="zh-CN" altLang="en-US" sz="1650" b="1" dirty="0"/>
              <a:t>结构化分析方法概述   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2332336-3BEC-4669-8C25-5EF2ED001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</p:spTree>
    <p:extLst>
      <p:ext uri="{BB962C8B-B14F-4D97-AF65-F5344CB8AC3E}">
        <p14:creationId xmlns:p14="http://schemas.microsoft.com/office/powerpoint/2010/main" val="246298149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3" name="Picture 2">
            <a:extLst>
              <a:ext uri="{FF2B5EF4-FFF2-40B4-BE49-F238E27FC236}">
                <a16:creationId xmlns:a16="http://schemas.microsoft.com/office/drawing/2014/main" id="{98F50A6C-8588-4691-8C54-2BBC610548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283" y="2286000"/>
            <a:ext cx="5975433" cy="433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F4C3499-6A9C-4BB9-BD1F-31A6FDFD2F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9399E407-0986-412E-9835-29AD376F9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678" y="1758336"/>
            <a:ext cx="2502608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650" b="1" dirty="0"/>
              <a:t>1. </a:t>
            </a:r>
            <a:r>
              <a:rPr lang="zh-CN" altLang="en-US" sz="1650" b="1" dirty="0"/>
              <a:t>结构化分析方法概述   </a:t>
            </a:r>
          </a:p>
        </p:txBody>
      </p:sp>
    </p:spTree>
    <p:extLst>
      <p:ext uri="{BB962C8B-B14F-4D97-AF65-F5344CB8AC3E}">
        <p14:creationId xmlns:p14="http://schemas.microsoft.com/office/powerpoint/2010/main" val="66436735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Rectangle 3">
            <a:extLst>
              <a:ext uri="{FF2B5EF4-FFF2-40B4-BE49-F238E27FC236}">
                <a16:creationId xmlns:a16="http://schemas.microsoft.com/office/drawing/2014/main" id="{D02B9D6A-D109-491C-B3FE-A6731B51C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599" y="2348963"/>
            <a:ext cx="7994897" cy="3402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6223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zh-CN" sz="1500" b="1" dirty="0"/>
              <a:t>2</a:t>
            </a:r>
            <a:r>
              <a:rPr lang="zh-CN" altLang="en-US" sz="1500" b="1" dirty="0"/>
              <a:t>）描述工具</a:t>
            </a: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sz="1500" b="1" dirty="0"/>
              <a:t>结构化分析方法利用图形等半形式化的描述表达需求，用它们形成需求规格说明书的主要部分，主要工具有：</a:t>
            </a: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sz="1500" b="1" dirty="0"/>
              <a:t>（</a:t>
            </a:r>
            <a:r>
              <a:rPr lang="en-US" altLang="zh-CN" sz="1500" b="1" dirty="0"/>
              <a:t>1</a:t>
            </a:r>
            <a:r>
              <a:rPr lang="zh-CN" altLang="en-US" sz="1500" b="1" dirty="0"/>
              <a:t>）数据流图（</a:t>
            </a:r>
            <a:r>
              <a:rPr lang="en-US" altLang="zh-CN" sz="1500" b="1" dirty="0"/>
              <a:t>DFD</a:t>
            </a:r>
            <a:r>
              <a:rPr lang="zh-CN" altLang="en-US" sz="1500" b="1" dirty="0"/>
              <a:t>）。描述系统的分解，即描述系统由哪几部分组成，各部分之间有什么联系等。</a:t>
            </a: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sz="1500" b="1" dirty="0"/>
              <a:t>（</a:t>
            </a:r>
            <a:r>
              <a:rPr lang="en-US" altLang="zh-CN" sz="1500" b="1" dirty="0"/>
              <a:t>2</a:t>
            </a:r>
            <a:r>
              <a:rPr lang="zh-CN" altLang="en-US" sz="1500" b="1" dirty="0"/>
              <a:t>）数据词典（</a:t>
            </a:r>
            <a:r>
              <a:rPr lang="en-US" altLang="zh-CN" sz="1500" b="1" dirty="0"/>
              <a:t>DD</a:t>
            </a:r>
            <a:r>
              <a:rPr lang="zh-CN" altLang="en-US" sz="1500" b="1" dirty="0"/>
              <a:t>）。明确定义数据流图中的数据和加工。它是数据流条目、数据存储条目、数据项条目和基本加工条目的汇集。</a:t>
            </a: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sz="1500" b="1" dirty="0"/>
              <a:t>（</a:t>
            </a:r>
            <a:r>
              <a:rPr lang="en-US" altLang="zh-CN" sz="1500" b="1" dirty="0"/>
              <a:t>3</a:t>
            </a:r>
            <a:r>
              <a:rPr lang="zh-CN" altLang="en-US" sz="1500" b="1" dirty="0"/>
              <a:t>）结构化语言、判定表和判定树。用于详细描述数据流图中不能再分解的每一个基本加工的处理逻辑。</a:t>
            </a:r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0DADE661-AF25-429B-B95C-F4CFE103D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678" y="1758336"/>
            <a:ext cx="2502608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650" b="1" dirty="0"/>
              <a:t>1. </a:t>
            </a:r>
            <a:r>
              <a:rPr lang="zh-CN" altLang="en-US" sz="1650" b="1" dirty="0"/>
              <a:t>结构化分析方法概述   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AEEBF8B-C479-489D-BF6A-5CC0D260F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</p:spTree>
    <p:extLst>
      <p:ext uri="{BB962C8B-B14F-4D97-AF65-F5344CB8AC3E}">
        <p14:creationId xmlns:p14="http://schemas.microsoft.com/office/powerpoint/2010/main" val="141016227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3">
            <a:extLst>
              <a:ext uri="{FF2B5EF4-FFF2-40B4-BE49-F238E27FC236}">
                <a16:creationId xmlns:a16="http://schemas.microsoft.com/office/drawing/2014/main" id="{3F0E656B-7DA0-4F7D-8141-BE6C211278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599" y="2294188"/>
            <a:ext cx="7994897" cy="3403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6223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zh-CN" sz="1500" b="1"/>
              <a:t>1.</a:t>
            </a:r>
            <a:r>
              <a:rPr lang="zh-CN" altLang="en-US" sz="1500" b="1"/>
              <a:t>数据流图的基本符号</a:t>
            </a:r>
          </a:p>
        </p:txBody>
      </p:sp>
      <p:sp>
        <p:nvSpPr>
          <p:cNvPr id="6" name="Line 13">
            <a:extLst>
              <a:ext uri="{FF2B5EF4-FFF2-40B4-BE49-F238E27FC236}">
                <a16:creationId xmlns:a16="http://schemas.microsoft.com/office/drawing/2014/main" id="{F0CD1467-452E-4C81-B0E7-238201F54C4C}"/>
              </a:ext>
            </a:extLst>
          </p:cNvPr>
          <p:cNvSpPr>
            <a:spLocks noChangeShapeType="1"/>
          </p:cNvSpPr>
          <p:nvPr/>
        </p:nvSpPr>
        <p:spPr bwMode="auto">
          <a:xfrm>
            <a:off x="575148" y="2187017"/>
            <a:ext cx="21600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Box 14">
            <a:extLst>
              <a:ext uri="{FF2B5EF4-FFF2-40B4-BE49-F238E27FC236}">
                <a16:creationId xmlns:a16="http://schemas.microsoft.com/office/drawing/2014/main" id="{10AEB226-1BE5-423B-9B4D-F618DF53D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678" y="1758336"/>
            <a:ext cx="1808508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650" b="1" dirty="0"/>
              <a:t>（</a:t>
            </a:r>
            <a:r>
              <a:rPr lang="en-US" altLang="zh-CN" sz="1650" b="1" dirty="0"/>
              <a:t>1</a:t>
            </a:r>
            <a:r>
              <a:rPr lang="zh-CN" altLang="en-US" sz="1650" b="1" dirty="0"/>
              <a:t>）数据流图    </a:t>
            </a:r>
          </a:p>
        </p:txBody>
      </p:sp>
      <p:pic>
        <p:nvPicPr>
          <p:cNvPr id="71686" name="Picture 2">
            <a:extLst>
              <a:ext uri="{FF2B5EF4-FFF2-40B4-BE49-F238E27FC236}">
                <a16:creationId xmlns:a16="http://schemas.microsoft.com/office/drawing/2014/main" id="{A17F103A-9C64-4039-A0F2-CF431FD51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678" y="2876358"/>
            <a:ext cx="7968781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5DEF63E6-B48E-4CD2-A648-03864A4B3E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</p:spTree>
    <p:extLst>
      <p:ext uri="{BB962C8B-B14F-4D97-AF65-F5344CB8AC3E}">
        <p14:creationId xmlns:p14="http://schemas.microsoft.com/office/powerpoint/2010/main" val="82571382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Rectangle 3">
            <a:extLst>
              <a:ext uri="{FF2B5EF4-FFF2-40B4-BE49-F238E27FC236}">
                <a16:creationId xmlns:a16="http://schemas.microsoft.com/office/drawing/2014/main" id="{F657DFFE-0F18-4F87-8EC6-F34C308BF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599" y="2294188"/>
            <a:ext cx="7994897" cy="3403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6223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1500" b="1"/>
              <a:t>2.</a:t>
            </a:r>
            <a:r>
              <a:rPr lang="zh-CN" altLang="en-US" sz="1500" b="1"/>
              <a:t>数据流图的绘制步骤</a:t>
            </a:r>
            <a:endParaRPr lang="en-US" altLang="zh-CN" sz="1500" b="1"/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（</a:t>
            </a:r>
            <a:r>
              <a:rPr lang="en-US" altLang="zh-CN" sz="1500" b="1"/>
              <a:t>1</a:t>
            </a:r>
            <a:r>
              <a:rPr lang="zh-CN" altLang="en-US" sz="1500" b="1"/>
              <a:t>）画顶层数据流图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列出系统的全部数据源点和终点，将系统加工处理过程作为一个整体，就可能得到顶层图。具体说就是：画一个圆，在其中写上系统名称，然后在圆的外围画上系统的输入和输出，这一步工作实际上是决定研究的内容和系统的范围。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（</a:t>
            </a:r>
            <a:r>
              <a:rPr lang="en-US" altLang="zh-CN" sz="1500" b="1"/>
              <a:t>2</a:t>
            </a:r>
            <a:r>
              <a:rPr lang="zh-CN" altLang="en-US" sz="1500" b="1"/>
              <a:t>）画各层数据流图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对系统处理过程自顶向下，逐步分解，画出各层的数据流图。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（</a:t>
            </a:r>
            <a:r>
              <a:rPr lang="en-US" altLang="zh-CN" sz="1500" b="1"/>
              <a:t>3</a:t>
            </a:r>
            <a:r>
              <a:rPr lang="zh-CN" altLang="en-US" sz="1500" b="1"/>
              <a:t>）画总的数据流图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这一步对了解整个系统很有好处，但也要根据实际情况来决定总图的布局，不要把数据流图画得太复杂。</a:t>
            </a:r>
          </a:p>
        </p:txBody>
      </p:sp>
      <p:sp>
        <p:nvSpPr>
          <p:cNvPr id="6" name="Line 13">
            <a:extLst>
              <a:ext uri="{FF2B5EF4-FFF2-40B4-BE49-F238E27FC236}">
                <a16:creationId xmlns:a16="http://schemas.microsoft.com/office/drawing/2014/main" id="{86244F41-252E-4CC5-84F5-74C715BE2FC7}"/>
              </a:ext>
            </a:extLst>
          </p:cNvPr>
          <p:cNvSpPr>
            <a:spLocks noChangeShapeType="1"/>
          </p:cNvSpPr>
          <p:nvPr/>
        </p:nvSpPr>
        <p:spPr bwMode="auto">
          <a:xfrm>
            <a:off x="575148" y="2187017"/>
            <a:ext cx="21600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EBBC0-6540-45C4-B0B0-62374B007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46A77F9D-C828-4CF4-8FBB-2B0E610A44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678" y="1758336"/>
            <a:ext cx="1808508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650" b="1" dirty="0"/>
              <a:t>（</a:t>
            </a:r>
            <a:r>
              <a:rPr lang="en-US" altLang="zh-CN" sz="1650" b="1" dirty="0"/>
              <a:t>1</a:t>
            </a:r>
            <a:r>
              <a:rPr lang="zh-CN" altLang="en-US" sz="1650" b="1" dirty="0"/>
              <a:t>）数据流图    </a:t>
            </a:r>
          </a:p>
        </p:txBody>
      </p:sp>
    </p:spTree>
    <p:extLst>
      <p:ext uri="{BB962C8B-B14F-4D97-AF65-F5344CB8AC3E}">
        <p14:creationId xmlns:p14="http://schemas.microsoft.com/office/powerpoint/2010/main" val="271197502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>
            <a:extLst>
              <a:ext uri="{FF2B5EF4-FFF2-40B4-BE49-F238E27FC236}">
                <a16:creationId xmlns:a16="http://schemas.microsoft.com/office/drawing/2014/main" id="{901346A2-36C6-46D3-8F05-7AC487E6B9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599" y="2294188"/>
            <a:ext cx="7994897" cy="3403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6223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1500" b="1" dirty="0"/>
              <a:t>3.</a:t>
            </a:r>
            <a:r>
              <a:rPr lang="zh-CN" altLang="en-US" sz="1500" b="1" dirty="0"/>
              <a:t>数据流图中的命名规则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 dirty="0"/>
              <a:t>（</a:t>
            </a:r>
            <a:r>
              <a:rPr lang="en-US" altLang="zh-CN" sz="1500" b="1" dirty="0"/>
              <a:t>1</a:t>
            </a:r>
            <a:r>
              <a:rPr lang="zh-CN" altLang="en-US" sz="1500" b="1" dirty="0"/>
              <a:t>）数据流 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 dirty="0"/>
              <a:t>数据流表明数据和数据流向，它通常由一组数据项组成。</a:t>
            </a:r>
            <a:endParaRPr lang="en-US" altLang="zh-CN" sz="1500" b="1" dirty="0"/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 dirty="0"/>
              <a:t>（</a:t>
            </a:r>
            <a:r>
              <a:rPr lang="en-US" altLang="zh-CN" sz="1500" b="1" dirty="0"/>
              <a:t>2</a:t>
            </a:r>
            <a:r>
              <a:rPr lang="zh-CN" altLang="en-US" sz="1500" b="1" dirty="0"/>
              <a:t>）加工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 dirty="0"/>
              <a:t>加工是对数据的某种操作或变换。</a:t>
            </a:r>
            <a:endParaRPr lang="en-US" altLang="zh-CN" sz="1500" b="1" dirty="0"/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 dirty="0"/>
              <a:t>（</a:t>
            </a:r>
            <a:r>
              <a:rPr lang="en-US" altLang="zh-CN" sz="1500" b="1" dirty="0"/>
              <a:t>3</a:t>
            </a:r>
            <a:r>
              <a:rPr lang="zh-CN" altLang="en-US" sz="1500" b="1" dirty="0"/>
              <a:t>）文件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 dirty="0"/>
              <a:t>文件起暂时保存数据的作用。</a:t>
            </a:r>
            <a:endParaRPr lang="en-US" altLang="zh-CN" sz="1500" b="1" dirty="0"/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 dirty="0"/>
              <a:t>（</a:t>
            </a:r>
            <a:r>
              <a:rPr lang="en-US" altLang="zh-CN" sz="1500" b="1" dirty="0"/>
              <a:t>4</a:t>
            </a:r>
            <a:r>
              <a:rPr lang="zh-CN" altLang="en-US" sz="1500" b="1" dirty="0"/>
              <a:t>）数据源点和终点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 dirty="0"/>
              <a:t>数据源点和终点是数据的始发点和终止点，是软件系统外部环境中的实体（包括人员、组织或其他软件系统），统称外部实体。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D720B12-C404-4D81-BE8C-BC23AA73D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39E659A5-1FE9-41FD-AC3A-78C94E3364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678" y="1758336"/>
            <a:ext cx="1808508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650" b="1" dirty="0"/>
              <a:t>（</a:t>
            </a:r>
            <a:r>
              <a:rPr lang="en-US" altLang="zh-CN" sz="1650" b="1" dirty="0"/>
              <a:t>1</a:t>
            </a:r>
            <a:r>
              <a:rPr lang="zh-CN" altLang="en-US" sz="1650" b="1" dirty="0"/>
              <a:t>）数据流图    </a:t>
            </a:r>
          </a:p>
        </p:txBody>
      </p:sp>
    </p:spTree>
    <p:extLst>
      <p:ext uri="{BB962C8B-B14F-4D97-AF65-F5344CB8AC3E}">
        <p14:creationId xmlns:p14="http://schemas.microsoft.com/office/powerpoint/2010/main" val="399931446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Rectangle 3">
            <a:extLst>
              <a:ext uri="{FF2B5EF4-FFF2-40B4-BE49-F238E27FC236}">
                <a16:creationId xmlns:a16="http://schemas.microsoft.com/office/drawing/2014/main" id="{894C55B2-8FD6-4511-A364-2799A92AE3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599" y="2457323"/>
            <a:ext cx="4367781" cy="291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6223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1500" b="1" dirty="0"/>
              <a:t>4.</a:t>
            </a:r>
            <a:r>
              <a:rPr lang="zh-CN" altLang="en-US" sz="1500" b="1" dirty="0"/>
              <a:t>数据流图中分层技术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 dirty="0"/>
              <a:t>对于比较复杂的实际问题，在数据流图上常常出现十几个乃至几十个、上百个加工，这样的数据流图复杂而且难以理解。为了避免这种情况出现，可以采用数据流图的分层技术。分层技术的基本思想是，不是在一个数据流图中一次引入太多的细节，而是有控制地逐步增加细节，实现从抽象到具体的逐步过渡。</a:t>
            </a:r>
          </a:p>
        </p:txBody>
      </p:sp>
      <p:pic>
        <p:nvPicPr>
          <p:cNvPr id="74758" name="Picture 2">
            <a:extLst>
              <a:ext uri="{FF2B5EF4-FFF2-40B4-BE49-F238E27FC236}">
                <a16:creationId xmlns:a16="http://schemas.microsoft.com/office/drawing/2014/main" id="{F5CB6AAA-588A-4F4B-B35C-ADB085607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380" y="2619269"/>
            <a:ext cx="3833121" cy="2592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DAE6BD7A-DE5F-43FA-8A49-D408AFC340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  <p:sp>
        <p:nvSpPr>
          <p:cNvPr id="10" name="Text Box 14">
            <a:extLst>
              <a:ext uri="{FF2B5EF4-FFF2-40B4-BE49-F238E27FC236}">
                <a16:creationId xmlns:a16="http://schemas.microsoft.com/office/drawing/2014/main" id="{C6E77913-4C24-4CF7-850C-F11C865BA9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678" y="1758336"/>
            <a:ext cx="1808508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650" b="1" dirty="0"/>
              <a:t>（</a:t>
            </a:r>
            <a:r>
              <a:rPr lang="en-US" altLang="zh-CN" sz="1650" b="1" dirty="0"/>
              <a:t>1</a:t>
            </a:r>
            <a:r>
              <a:rPr lang="zh-CN" altLang="en-US" sz="1650" b="1" dirty="0"/>
              <a:t>）数据流图    </a:t>
            </a:r>
          </a:p>
        </p:txBody>
      </p:sp>
    </p:spTree>
    <p:extLst>
      <p:ext uri="{BB962C8B-B14F-4D97-AF65-F5344CB8AC3E}">
        <p14:creationId xmlns:p14="http://schemas.microsoft.com/office/powerpoint/2010/main" val="395408363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Rectangle 3">
            <a:extLst>
              <a:ext uri="{FF2B5EF4-FFF2-40B4-BE49-F238E27FC236}">
                <a16:creationId xmlns:a16="http://schemas.microsoft.com/office/drawing/2014/main" id="{D43804C0-EB3F-490D-BEF6-AF11310D67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133600"/>
            <a:ext cx="7932977" cy="3565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6223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 dirty="0"/>
              <a:t>下面以第</a:t>
            </a:r>
            <a:r>
              <a:rPr lang="en-US" altLang="zh-CN" sz="1500" b="1" dirty="0"/>
              <a:t>2</a:t>
            </a:r>
            <a:r>
              <a:rPr lang="zh-CN" altLang="en-US" sz="1500" b="1" dirty="0"/>
              <a:t>章的“图书管理系统”为例，绘制数据流图。</a:t>
            </a:r>
            <a:endParaRPr lang="en-US" altLang="zh-CN" sz="1500" b="1" dirty="0"/>
          </a:p>
          <a:p>
            <a:pPr>
              <a:lnSpc>
                <a:spcPct val="130000"/>
              </a:lnSpc>
              <a:spcBef>
                <a:spcPct val="20000"/>
              </a:spcBef>
            </a:pPr>
            <a:endParaRPr lang="zh-CN" altLang="en-US" sz="1500" b="1" dirty="0"/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 dirty="0"/>
              <a:t>在图书馆负责人和计算机系的技术人员通过了“图书管理系统”</a:t>
            </a:r>
            <a:r>
              <a:rPr lang="en-US" altLang="zh-CN" sz="1500" b="1" dirty="0"/>
              <a:t>《</a:t>
            </a:r>
            <a:r>
              <a:rPr lang="zh-CN" altLang="en-US" sz="1500" b="1" dirty="0"/>
              <a:t>项目开发计划</a:t>
            </a:r>
            <a:r>
              <a:rPr lang="en-US" altLang="zh-CN" sz="1500" b="1" dirty="0"/>
              <a:t>》</a:t>
            </a:r>
            <a:r>
              <a:rPr lang="zh-CN" altLang="en-US" sz="1500" b="1" dirty="0"/>
              <a:t>后，项目组随即进入了项目开发阶段，计算机系教师与图书馆相关业务人员紧密合作，经过</a:t>
            </a:r>
            <a:r>
              <a:rPr lang="en-US" altLang="zh-CN" sz="1500" b="1" dirty="0"/>
              <a:t>15</a:t>
            </a:r>
            <a:r>
              <a:rPr lang="zh-CN" altLang="en-US" sz="1500" b="1" dirty="0"/>
              <a:t>天的工作，形成了“图书管理系统”</a:t>
            </a:r>
            <a:r>
              <a:rPr lang="en-US" altLang="zh-CN" sz="1500" b="1" dirty="0"/>
              <a:t>《</a:t>
            </a:r>
            <a:r>
              <a:rPr lang="zh-CN" altLang="en-US" sz="1500" b="1" dirty="0"/>
              <a:t>软件需求说明书</a:t>
            </a:r>
            <a:r>
              <a:rPr lang="en-US" altLang="zh-CN" sz="1500" b="1" dirty="0"/>
              <a:t>》</a:t>
            </a:r>
            <a:r>
              <a:rPr lang="zh-CN" altLang="en-US" sz="1500" b="1" dirty="0"/>
              <a:t>。主要数据流图如下： </a:t>
            </a:r>
            <a:endParaRPr lang="en-US" altLang="zh-CN" sz="1500" b="1" dirty="0"/>
          </a:p>
        </p:txBody>
      </p:sp>
      <p:pic>
        <p:nvPicPr>
          <p:cNvPr id="88068" name="图片 37894" descr="x3-9a">
            <a:extLst>
              <a:ext uri="{FF2B5EF4-FFF2-40B4-BE49-F238E27FC236}">
                <a16:creationId xmlns:a16="http://schemas.microsoft.com/office/drawing/2014/main" id="{54277E36-C0DB-4D28-B47C-3576596CB5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4038600"/>
            <a:ext cx="6584108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F20852B-BD33-431A-B0B3-0BC327814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  <p:sp>
        <p:nvSpPr>
          <p:cNvPr id="7" name="Text Box 14">
            <a:extLst>
              <a:ext uri="{FF2B5EF4-FFF2-40B4-BE49-F238E27FC236}">
                <a16:creationId xmlns:a16="http://schemas.microsoft.com/office/drawing/2014/main" id="{16516D9B-69E2-469F-B156-DE94C0D223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678" y="1758336"/>
            <a:ext cx="1808508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650" b="1" dirty="0"/>
              <a:t>（</a:t>
            </a:r>
            <a:r>
              <a:rPr lang="en-US" altLang="zh-CN" sz="1650" b="1" dirty="0"/>
              <a:t>1</a:t>
            </a:r>
            <a:r>
              <a:rPr lang="zh-CN" altLang="en-US" sz="1650" b="1" dirty="0"/>
              <a:t>）数据流图    </a:t>
            </a:r>
          </a:p>
        </p:txBody>
      </p:sp>
    </p:spTree>
    <p:extLst>
      <p:ext uri="{BB962C8B-B14F-4D97-AF65-F5344CB8AC3E}">
        <p14:creationId xmlns:p14="http://schemas.microsoft.com/office/powerpoint/2010/main" val="15936127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91" name="图片 38917" descr="x3-9b">
            <a:extLst>
              <a:ext uri="{FF2B5EF4-FFF2-40B4-BE49-F238E27FC236}">
                <a16:creationId xmlns:a16="http://schemas.microsoft.com/office/drawing/2014/main" id="{4846C735-BFED-4027-B0D5-1ABC2A8E9A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447800"/>
            <a:ext cx="6493952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4D840F6-3CCC-4F11-A781-9410521D0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</p:spTree>
    <p:extLst>
      <p:ext uri="{BB962C8B-B14F-4D97-AF65-F5344CB8AC3E}">
        <p14:creationId xmlns:p14="http://schemas.microsoft.com/office/powerpoint/2010/main" val="29398064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15" name="图片 39941" descr="x3-9c">
            <a:extLst>
              <a:ext uri="{FF2B5EF4-FFF2-40B4-BE49-F238E27FC236}">
                <a16:creationId xmlns:a16="http://schemas.microsoft.com/office/drawing/2014/main" id="{9BDC8CFF-E0D9-47E5-9EF2-760D2D97C2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371600"/>
            <a:ext cx="6593468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2FC84C9-F716-408C-8D06-B2988846B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</p:spTree>
    <p:extLst>
      <p:ext uri="{BB962C8B-B14F-4D97-AF65-F5344CB8AC3E}">
        <p14:creationId xmlns:p14="http://schemas.microsoft.com/office/powerpoint/2010/main" val="161845551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39" name="图片 40965" descr="x3-9d">
            <a:extLst>
              <a:ext uri="{FF2B5EF4-FFF2-40B4-BE49-F238E27FC236}">
                <a16:creationId xmlns:a16="http://schemas.microsoft.com/office/drawing/2014/main" id="{35767FD7-0777-4188-A226-C7A5BD9E2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828800"/>
            <a:ext cx="7346898" cy="4120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000B91A0-E7A7-40C0-9CFC-D0B146A98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</p:spTree>
    <p:extLst>
      <p:ext uri="{BB962C8B-B14F-4D97-AF65-F5344CB8AC3E}">
        <p14:creationId xmlns:p14="http://schemas.microsoft.com/office/powerpoint/2010/main" val="44066473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63" name="图片 41989" descr="x3-9e">
            <a:extLst>
              <a:ext uri="{FF2B5EF4-FFF2-40B4-BE49-F238E27FC236}">
                <a16:creationId xmlns:a16="http://schemas.microsoft.com/office/drawing/2014/main" id="{542C0866-412D-4124-91E2-0B39DBD070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76400"/>
            <a:ext cx="7462649" cy="4125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70294DF-3786-45AE-A0FE-5791737D6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</p:spTree>
    <p:extLst>
      <p:ext uri="{BB962C8B-B14F-4D97-AF65-F5344CB8AC3E}">
        <p14:creationId xmlns:p14="http://schemas.microsoft.com/office/powerpoint/2010/main" val="4318194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87" name="图片 43013" descr="x3-9f">
            <a:extLst>
              <a:ext uri="{FF2B5EF4-FFF2-40B4-BE49-F238E27FC236}">
                <a16:creationId xmlns:a16="http://schemas.microsoft.com/office/drawing/2014/main" id="{3A972D0A-6E23-4E10-8ED0-0389B599D4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600200"/>
            <a:ext cx="6858000" cy="4120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9BFF44A-0EB6-4C64-B403-3A171F39B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</p:spTree>
    <p:extLst>
      <p:ext uri="{BB962C8B-B14F-4D97-AF65-F5344CB8AC3E}">
        <p14:creationId xmlns:p14="http://schemas.microsoft.com/office/powerpoint/2010/main" val="194500977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11" name="图片 57348" descr="x3-9g">
            <a:extLst>
              <a:ext uri="{FF2B5EF4-FFF2-40B4-BE49-F238E27FC236}">
                <a16:creationId xmlns:a16="http://schemas.microsoft.com/office/drawing/2014/main" id="{97A64F0B-5F92-425A-A854-0CC71BBBB0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832" y="1824763"/>
            <a:ext cx="6996336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C3CF12A-78C4-4736-B8AC-FCB369E977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</p:spTree>
    <p:extLst>
      <p:ext uri="{BB962C8B-B14F-4D97-AF65-F5344CB8AC3E}">
        <p14:creationId xmlns:p14="http://schemas.microsoft.com/office/powerpoint/2010/main" val="224254098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3">
            <a:extLst>
              <a:ext uri="{FF2B5EF4-FFF2-40B4-BE49-F238E27FC236}">
                <a16:creationId xmlns:a16="http://schemas.microsoft.com/office/drawing/2014/main" id="{14127F4B-ED33-4128-A877-209352CC6A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599" y="2457323"/>
            <a:ext cx="7932977" cy="291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6223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1500" b="1" dirty="0"/>
              <a:t>1.</a:t>
            </a:r>
            <a:r>
              <a:rPr lang="zh-CN" altLang="en-US" sz="1500" b="1" dirty="0"/>
              <a:t>数据词典的内容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 dirty="0"/>
              <a:t>一般说来，数据词典的每个条目中应包括以下信息。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 dirty="0"/>
              <a:t>（</a:t>
            </a:r>
            <a:r>
              <a:rPr lang="en-US" altLang="zh-CN" sz="1500" b="1" dirty="0"/>
              <a:t>1</a:t>
            </a:r>
            <a:r>
              <a:rPr lang="zh-CN" altLang="en-US" sz="1500" b="1" dirty="0"/>
              <a:t>）名字：数据流、数据项、数据存储或外部实体的名称。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 dirty="0"/>
              <a:t>（</a:t>
            </a:r>
            <a:r>
              <a:rPr lang="en-US" altLang="zh-CN" sz="1500" b="1" dirty="0"/>
              <a:t>2</a:t>
            </a:r>
            <a:r>
              <a:rPr lang="zh-CN" altLang="en-US" sz="1500" b="1" dirty="0"/>
              <a:t>）别名或编号：第（</a:t>
            </a:r>
            <a:r>
              <a:rPr lang="en-US" altLang="zh-CN" sz="1500" b="1" dirty="0"/>
              <a:t>1</a:t>
            </a:r>
            <a:r>
              <a:rPr lang="zh-CN" altLang="en-US" sz="1500" b="1" dirty="0"/>
              <a:t>）项中对象的其他名字。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 dirty="0"/>
              <a:t>（</a:t>
            </a:r>
            <a:r>
              <a:rPr lang="en-US" altLang="zh-CN" sz="1500" b="1" dirty="0"/>
              <a:t>3</a:t>
            </a:r>
            <a:r>
              <a:rPr lang="zh-CN" altLang="en-US" sz="1500" b="1" dirty="0"/>
              <a:t>）分类：数据流、数据项、加工、数据存储、外部实体等。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 dirty="0"/>
              <a:t>（</a:t>
            </a:r>
            <a:r>
              <a:rPr lang="en-US" altLang="zh-CN" sz="1500" b="1" dirty="0"/>
              <a:t>4</a:t>
            </a:r>
            <a:r>
              <a:rPr lang="zh-CN" altLang="en-US" sz="1500" b="1" dirty="0"/>
              <a:t>）内容描述：描述内容或数据结构等。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 dirty="0"/>
              <a:t>（</a:t>
            </a:r>
            <a:r>
              <a:rPr lang="en-US" altLang="zh-CN" sz="1500" b="1" dirty="0"/>
              <a:t>5</a:t>
            </a:r>
            <a:r>
              <a:rPr lang="zh-CN" altLang="en-US" sz="1500" b="1" dirty="0"/>
              <a:t>）何处使用：哪些加工使用该条目。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7D670A3-AF42-4A06-A802-800AB4950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582D245A-9304-4409-949C-D2EE088E8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678" y="1758336"/>
            <a:ext cx="1749197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650" b="1" dirty="0"/>
              <a:t>（</a:t>
            </a:r>
            <a:r>
              <a:rPr lang="en-US" altLang="zh-CN" sz="1650" b="1" dirty="0"/>
              <a:t>2</a:t>
            </a:r>
            <a:r>
              <a:rPr lang="zh-CN" altLang="en-US" sz="1650" b="1" dirty="0"/>
              <a:t>）数据词典   </a:t>
            </a:r>
          </a:p>
        </p:txBody>
      </p:sp>
    </p:spTree>
    <p:extLst>
      <p:ext uri="{BB962C8B-B14F-4D97-AF65-F5344CB8AC3E}">
        <p14:creationId xmlns:p14="http://schemas.microsoft.com/office/powerpoint/2010/main" val="399178612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Rectangle 3">
            <a:extLst>
              <a:ext uri="{FF2B5EF4-FFF2-40B4-BE49-F238E27FC236}">
                <a16:creationId xmlns:a16="http://schemas.microsoft.com/office/drawing/2014/main" id="{28DE9EED-09F1-48DD-B4BF-18263C563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599" y="2348963"/>
            <a:ext cx="7932977" cy="2916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6223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1500" b="1"/>
              <a:t>2.</a:t>
            </a:r>
            <a:r>
              <a:rPr lang="zh-CN" altLang="en-US" sz="1500" b="1"/>
              <a:t>数据词典中使用的符号</a:t>
            </a:r>
            <a:endParaRPr lang="en-US" altLang="zh-CN" sz="1500" b="1"/>
          </a:p>
        </p:txBody>
      </p:sp>
      <p:pic>
        <p:nvPicPr>
          <p:cNvPr id="76806" name="Picture 2">
            <a:extLst>
              <a:ext uri="{FF2B5EF4-FFF2-40B4-BE49-F238E27FC236}">
                <a16:creationId xmlns:a16="http://schemas.microsoft.com/office/drawing/2014/main" id="{8C711DDE-D800-4B5A-BC9B-DFF7737D2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9871" y="2726440"/>
            <a:ext cx="7322107" cy="3079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9A526B1A-CD58-442E-84FE-E5D0BEAB3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  <p:sp>
        <p:nvSpPr>
          <p:cNvPr id="10" name="Text Box 14">
            <a:extLst>
              <a:ext uri="{FF2B5EF4-FFF2-40B4-BE49-F238E27FC236}">
                <a16:creationId xmlns:a16="http://schemas.microsoft.com/office/drawing/2014/main" id="{4E7D9430-9629-4497-AEDD-CFCCEEBBA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678" y="1758336"/>
            <a:ext cx="1749197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650" b="1" dirty="0"/>
              <a:t>（</a:t>
            </a:r>
            <a:r>
              <a:rPr lang="en-US" altLang="zh-CN" sz="1650" b="1" dirty="0"/>
              <a:t>2</a:t>
            </a:r>
            <a:r>
              <a:rPr lang="zh-CN" altLang="en-US" sz="1650" b="1" dirty="0"/>
              <a:t>）数据词典   </a:t>
            </a:r>
          </a:p>
        </p:txBody>
      </p:sp>
    </p:spTree>
    <p:extLst>
      <p:ext uri="{BB962C8B-B14F-4D97-AF65-F5344CB8AC3E}">
        <p14:creationId xmlns:p14="http://schemas.microsoft.com/office/powerpoint/2010/main" val="259125114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Rectangle 3">
            <a:extLst>
              <a:ext uri="{FF2B5EF4-FFF2-40B4-BE49-F238E27FC236}">
                <a16:creationId xmlns:a16="http://schemas.microsoft.com/office/drawing/2014/main" id="{BF38BA8B-953B-4704-B595-68B201339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599" y="2348963"/>
            <a:ext cx="7932977" cy="2916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6223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1500" b="1"/>
              <a:t>3.</a:t>
            </a:r>
            <a:r>
              <a:rPr lang="zh-CN" altLang="en-US" sz="1500" b="1"/>
              <a:t>数据词典书写实例</a:t>
            </a:r>
            <a:endParaRPr lang="en-US" altLang="zh-CN" sz="1500" b="1"/>
          </a:p>
        </p:txBody>
      </p:sp>
      <p:pic>
        <p:nvPicPr>
          <p:cNvPr id="77830" name="Picture 2">
            <a:extLst>
              <a:ext uri="{FF2B5EF4-FFF2-40B4-BE49-F238E27FC236}">
                <a16:creationId xmlns:a16="http://schemas.microsoft.com/office/drawing/2014/main" id="{90C7B601-3362-4D0B-BEAE-8AFCBFA4A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862733"/>
            <a:ext cx="5953900" cy="27006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5054A798-C6AB-4B2E-9170-187A5CFB48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  <p:sp>
        <p:nvSpPr>
          <p:cNvPr id="10" name="Text Box 14">
            <a:extLst>
              <a:ext uri="{FF2B5EF4-FFF2-40B4-BE49-F238E27FC236}">
                <a16:creationId xmlns:a16="http://schemas.microsoft.com/office/drawing/2014/main" id="{6B0A970E-1981-48A7-A861-68B1B0E648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678" y="1758336"/>
            <a:ext cx="1749197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650" b="1" dirty="0"/>
              <a:t>（</a:t>
            </a:r>
            <a:r>
              <a:rPr lang="en-US" altLang="zh-CN" sz="1650" b="1" dirty="0"/>
              <a:t>2</a:t>
            </a:r>
            <a:r>
              <a:rPr lang="zh-CN" altLang="en-US" sz="1650" b="1" dirty="0"/>
              <a:t>）数据词典   </a:t>
            </a:r>
          </a:p>
        </p:txBody>
      </p:sp>
    </p:spTree>
    <p:extLst>
      <p:ext uri="{BB962C8B-B14F-4D97-AF65-F5344CB8AC3E}">
        <p14:creationId xmlns:p14="http://schemas.microsoft.com/office/powerpoint/2010/main" val="361091866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Rectangle 3">
            <a:extLst>
              <a:ext uri="{FF2B5EF4-FFF2-40B4-BE49-F238E27FC236}">
                <a16:creationId xmlns:a16="http://schemas.microsoft.com/office/drawing/2014/main" id="{8FA6893A-DAF9-4698-8CD7-690B9BC0C4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599" y="2348963"/>
            <a:ext cx="7932977" cy="2916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6223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1500" b="1"/>
              <a:t>3.</a:t>
            </a:r>
            <a:r>
              <a:rPr lang="zh-CN" altLang="en-US" sz="1500" b="1"/>
              <a:t>数据词典书写实例</a:t>
            </a:r>
            <a:endParaRPr lang="en-US" altLang="zh-CN" sz="1500" b="1"/>
          </a:p>
        </p:txBody>
      </p:sp>
      <p:pic>
        <p:nvPicPr>
          <p:cNvPr id="78854" name="Picture 2">
            <a:extLst>
              <a:ext uri="{FF2B5EF4-FFF2-40B4-BE49-F238E27FC236}">
                <a16:creationId xmlns:a16="http://schemas.microsoft.com/office/drawing/2014/main" id="{FDD43813-1255-4328-8A35-F8CE197C9A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6682" y="2816939"/>
            <a:ext cx="5510930" cy="13146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8855" name="Picture 3">
            <a:extLst>
              <a:ext uri="{FF2B5EF4-FFF2-40B4-BE49-F238E27FC236}">
                <a16:creationId xmlns:a16="http://schemas.microsoft.com/office/drawing/2014/main" id="{52431CDA-A1F0-44F9-80A1-E8C66D71A2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131" y="4293506"/>
            <a:ext cx="5662160" cy="1295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DEF463A0-2693-486D-956B-26685F0E11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  <p:sp>
        <p:nvSpPr>
          <p:cNvPr id="11" name="Text Box 14">
            <a:extLst>
              <a:ext uri="{FF2B5EF4-FFF2-40B4-BE49-F238E27FC236}">
                <a16:creationId xmlns:a16="http://schemas.microsoft.com/office/drawing/2014/main" id="{08A67D2C-A2E7-459E-ADCF-4F151E4B8E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678" y="1758336"/>
            <a:ext cx="1749197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650" b="1" dirty="0"/>
              <a:t>（</a:t>
            </a:r>
            <a:r>
              <a:rPr lang="en-US" altLang="zh-CN" sz="1650" b="1" dirty="0"/>
              <a:t>2</a:t>
            </a:r>
            <a:r>
              <a:rPr lang="zh-CN" altLang="en-US" sz="1650" b="1" dirty="0"/>
              <a:t>）数据词典   </a:t>
            </a:r>
          </a:p>
        </p:txBody>
      </p:sp>
    </p:spTree>
    <p:extLst>
      <p:ext uri="{BB962C8B-B14F-4D97-AF65-F5344CB8AC3E}">
        <p14:creationId xmlns:p14="http://schemas.microsoft.com/office/powerpoint/2010/main" val="183635371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Rectangle 3">
            <a:extLst>
              <a:ext uri="{FF2B5EF4-FFF2-40B4-BE49-F238E27FC236}">
                <a16:creationId xmlns:a16="http://schemas.microsoft.com/office/drawing/2014/main" id="{08EC3767-12C1-4914-BCA1-34D93C26EA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599" y="2348963"/>
            <a:ext cx="7932977" cy="2916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6223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1500" b="1"/>
              <a:t>3.</a:t>
            </a:r>
            <a:r>
              <a:rPr lang="zh-CN" altLang="en-US" sz="1500" b="1"/>
              <a:t>数据词典书写实例</a:t>
            </a:r>
            <a:endParaRPr lang="en-US" altLang="zh-CN" sz="1500" b="1"/>
          </a:p>
        </p:txBody>
      </p:sp>
      <p:pic>
        <p:nvPicPr>
          <p:cNvPr id="79878" name="Picture 2">
            <a:extLst>
              <a:ext uri="{FF2B5EF4-FFF2-40B4-BE49-F238E27FC236}">
                <a16:creationId xmlns:a16="http://schemas.microsoft.com/office/drawing/2014/main" id="{70D10F5E-D810-493A-A16B-D050D6B30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330" y="2668092"/>
            <a:ext cx="4972697" cy="33365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E6B1EBF5-7EE1-49A8-A98E-5007738FF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  <p:sp>
        <p:nvSpPr>
          <p:cNvPr id="10" name="Text Box 14">
            <a:extLst>
              <a:ext uri="{FF2B5EF4-FFF2-40B4-BE49-F238E27FC236}">
                <a16:creationId xmlns:a16="http://schemas.microsoft.com/office/drawing/2014/main" id="{8B13A900-F610-4331-81ED-6B52858C06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678" y="1758336"/>
            <a:ext cx="1749197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650" b="1" dirty="0"/>
              <a:t>（</a:t>
            </a:r>
            <a:r>
              <a:rPr lang="en-US" altLang="zh-CN" sz="1650" b="1" dirty="0"/>
              <a:t>2</a:t>
            </a:r>
            <a:r>
              <a:rPr lang="zh-CN" altLang="en-US" sz="1650" b="1" dirty="0"/>
              <a:t>）数据词典   </a:t>
            </a:r>
          </a:p>
        </p:txBody>
      </p:sp>
    </p:spTree>
    <p:extLst>
      <p:ext uri="{BB962C8B-B14F-4D97-AF65-F5344CB8AC3E}">
        <p14:creationId xmlns:p14="http://schemas.microsoft.com/office/powerpoint/2010/main" val="252518511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Rectangle 3">
            <a:extLst>
              <a:ext uri="{FF2B5EF4-FFF2-40B4-BE49-F238E27FC236}">
                <a16:creationId xmlns:a16="http://schemas.microsoft.com/office/drawing/2014/main" id="{C8C2ACD2-D7BC-4158-A0F7-271E256153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599" y="2348963"/>
            <a:ext cx="7932977" cy="2916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6223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1500" b="1"/>
              <a:t>4.</a:t>
            </a:r>
            <a:r>
              <a:rPr lang="zh-CN" altLang="en-US" sz="1500" b="1"/>
              <a:t>数据词典的实现</a:t>
            </a:r>
            <a:endParaRPr lang="en-US" altLang="zh-CN" sz="1500" b="1"/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不论通过哪种途径实现的数据词典都应尽量做到以下几点：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1500" b="1"/>
              <a:t>(1)</a:t>
            </a:r>
            <a:r>
              <a:rPr lang="zh-CN" altLang="en-US" sz="1500" b="1"/>
              <a:t>没有冗余：主要指数据定义不能重复。在规格说明书的其他组成部分中已出现的信息不能重复。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1500" b="1"/>
              <a:t>(2)</a:t>
            </a:r>
            <a:r>
              <a:rPr lang="zh-CN" altLang="en-US" sz="1500" b="1"/>
              <a:t>查阅方便：通过名字可以方便地查阅数据词典中的每个定义。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1500" b="1"/>
              <a:t>(3)</a:t>
            </a:r>
            <a:r>
              <a:rPr lang="zh-CN" altLang="en-US" sz="1500" b="1"/>
              <a:t>定义的书写方法简单、方便、严谨，而且可读性强。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1500" b="1"/>
              <a:t>(4)</a:t>
            </a:r>
            <a:r>
              <a:rPr lang="zh-CN" altLang="en-US" sz="1500" b="1"/>
              <a:t>建议采用卡片形式书写。</a:t>
            </a:r>
            <a:endParaRPr lang="en-US" altLang="zh-CN" sz="15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541913-9181-4EC3-86F9-6824D27AC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3D539FA1-E54A-48D6-94B7-388C5D5E5F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678" y="1758336"/>
            <a:ext cx="1749197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650" b="1" dirty="0"/>
              <a:t>（</a:t>
            </a:r>
            <a:r>
              <a:rPr lang="en-US" altLang="zh-CN" sz="1650" b="1" dirty="0"/>
              <a:t>2</a:t>
            </a:r>
            <a:r>
              <a:rPr lang="zh-CN" altLang="en-US" sz="1650" b="1" dirty="0"/>
              <a:t>）数据词典   </a:t>
            </a:r>
          </a:p>
        </p:txBody>
      </p:sp>
    </p:spTree>
    <p:extLst>
      <p:ext uri="{BB962C8B-B14F-4D97-AF65-F5344CB8AC3E}">
        <p14:creationId xmlns:p14="http://schemas.microsoft.com/office/powerpoint/2010/main" val="240631154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3">
            <a:extLst>
              <a:ext uri="{FF2B5EF4-FFF2-40B4-BE49-F238E27FC236}">
                <a16:creationId xmlns:a16="http://schemas.microsoft.com/office/drawing/2014/main" id="{B24539A0-E16A-4E50-BE17-45D521F821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65039"/>
            <a:ext cx="7932977" cy="2916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6223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1500" b="1"/>
              <a:t>1. </a:t>
            </a:r>
            <a:r>
              <a:rPr lang="zh-CN" altLang="en-US" sz="1500" b="1"/>
              <a:t>结构化语言</a:t>
            </a:r>
            <a:endParaRPr lang="en-US" altLang="zh-CN" sz="1500"/>
          </a:p>
        </p:txBody>
      </p:sp>
      <p:sp>
        <p:nvSpPr>
          <p:cNvPr id="6" name="Line 13">
            <a:extLst>
              <a:ext uri="{FF2B5EF4-FFF2-40B4-BE49-F238E27FC236}">
                <a16:creationId xmlns:a16="http://schemas.microsoft.com/office/drawing/2014/main" id="{F84A9A2D-B34F-4303-BB84-EC6063685865}"/>
              </a:ext>
            </a:extLst>
          </p:cNvPr>
          <p:cNvSpPr>
            <a:spLocks noChangeShapeType="1"/>
          </p:cNvSpPr>
          <p:nvPr/>
        </p:nvSpPr>
        <p:spPr bwMode="auto">
          <a:xfrm>
            <a:off x="575148" y="2187017"/>
            <a:ext cx="2518499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Box 14">
            <a:extLst>
              <a:ext uri="{FF2B5EF4-FFF2-40B4-BE49-F238E27FC236}">
                <a16:creationId xmlns:a16="http://schemas.microsoft.com/office/drawing/2014/main" id="{2EB95A90-4810-4071-9B40-2E876E303B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678" y="1758336"/>
            <a:ext cx="2443298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650" b="1" dirty="0"/>
              <a:t>（</a:t>
            </a:r>
            <a:r>
              <a:rPr lang="en-US" altLang="zh-CN" sz="1650" b="1" dirty="0"/>
              <a:t>3</a:t>
            </a:r>
            <a:r>
              <a:rPr lang="zh-CN" altLang="en-US" sz="1650" b="1" dirty="0"/>
              <a:t>）</a:t>
            </a:r>
            <a:r>
              <a:rPr lang="en-US" altLang="zh-CN" sz="1650" b="1" dirty="0"/>
              <a:t>  </a:t>
            </a:r>
            <a:r>
              <a:rPr lang="zh-CN" altLang="en-US" sz="1650" b="1" dirty="0"/>
              <a:t>加工逻辑的描述  </a:t>
            </a:r>
          </a:p>
        </p:txBody>
      </p:sp>
      <p:pic>
        <p:nvPicPr>
          <p:cNvPr id="82950" name="Picture 2">
            <a:extLst>
              <a:ext uri="{FF2B5EF4-FFF2-40B4-BE49-F238E27FC236}">
                <a16:creationId xmlns:a16="http://schemas.microsoft.com/office/drawing/2014/main" id="{D263EBC5-4BC9-407D-B7C9-8E7BB3FA87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1252" y="1678554"/>
            <a:ext cx="3630688" cy="4289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C7B02632-8883-435D-BCA0-B86FA31D5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</p:spTree>
    <p:extLst>
      <p:ext uri="{BB962C8B-B14F-4D97-AF65-F5344CB8AC3E}">
        <p14:creationId xmlns:p14="http://schemas.microsoft.com/office/powerpoint/2010/main" val="242780634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Rectangle 3">
            <a:extLst>
              <a:ext uri="{FF2B5EF4-FFF2-40B4-BE49-F238E27FC236}">
                <a16:creationId xmlns:a16="http://schemas.microsoft.com/office/drawing/2014/main" id="{D7D74558-9F8E-48ED-98AF-BB334FAE82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599" y="2348963"/>
            <a:ext cx="7932977" cy="2916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6223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1500" b="1"/>
              <a:t>2. </a:t>
            </a:r>
            <a:r>
              <a:rPr lang="zh-CN" altLang="en-US" sz="1500" b="1"/>
              <a:t>判定表</a:t>
            </a:r>
            <a:endParaRPr lang="en-US" altLang="zh-CN" sz="1500" b="1"/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在一些数据处理中，数据流图的加工需要经过多个逻辑条件组合的取值而确定，此时用自然语言或结构化语言难以描述，而运用判定表描述就比较清晰明了。</a:t>
            </a:r>
            <a:endParaRPr lang="en-US" altLang="zh-CN" sz="1500" b="1"/>
          </a:p>
        </p:txBody>
      </p:sp>
      <p:sp>
        <p:nvSpPr>
          <p:cNvPr id="6" name="Line 13">
            <a:extLst>
              <a:ext uri="{FF2B5EF4-FFF2-40B4-BE49-F238E27FC236}">
                <a16:creationId xmlns:a16="http://schemas.microsoft.com/office/drawing/2014/main" id="{AC82CCB5-C7B0-4B70-B11B-A9BE480BFB69}"/>
              </a:ext>
            </a:extLst>
          </p:cNvPr>
          <p:cNvSpPr>
            <a:spLocks noChangeShapeType="1"/>
          </p:cNvSpPr>
          <p:nvPr/>
        </p:nvSpPr>
        <p:spPr bwMode="auto">
          <a:xfrm>
            <a:off x="575148" y="2187017"/>
            <a:ext cx="2518499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3974" name="Picture 2">
            <a:extLst>
              <a:ext uri="{FF2B5EF4-FFF2-40B4-BE49-F238E27FC236}">
                <a16:creationId xmlns:a16="http://schemas.microsoft.com/office/drawing/2014/main" id="{CD420C9D-ABB0-45DA-BC2E-64C0F8EED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3276" y="3798142"/>
            <a:ext cx="3943864" cy="1369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14">
            <a:extLst>
              <a:ext uri="{FF2B5EF4-FFF2-40B4-BE49-F238E27FC236}">
                <a16:creationId xmlns:a16="http://schemas.microsoft.com/office/drawing/2014/main" id="{D24EBB33-49CF-43BF-986B-94E6B7C1A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678" y="1758336"/>
            <a:ext cx="2443298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650" b="1" dirty="0"/>
              <a:t>（</a:t>
            </a:r>
            <a:r>
              <a:rPr lang="en-US" altLang="zh-CN" sz="1650" b="1" dirty="0"/>
              <a:t>3</a:t>
            </a:r>
            <a:r>
              <a:rPr lang="zh-CN" altLang="en-US" sz="1650" b="1" dirty="0"/>
              <a:t>）</a:t>
            </a:r>
            <a:r>
              <a:rPr lang="en-US" altLang="zh-CN" sz="1650" b="1" dirty="0"/>
              <a:t>  </a:t>
            </a:r>
            <a:r>
              <a:rPr lang="zh-CN" altLang="en-US" sz="1650" b="1" dirty="0"/>
              <a:t>加工逻辑的描述  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E242993-B9A5-4EA8-88D2-AF28A577A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</p:spTree>
    <p:extLst>
      <p:ext uri="{BB962C8B-B14F-4D97-AF65-F5344CB8AC3E}">
        <p14:creationId xmlns:p14="http://schemas.microsoft.com/office/powerpoint/2010/main" val="85058972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Rectangle 3">
            <a:extLst>
              <a:ext uri="{FF2B5EF4-FFF2-40B4-BE49-F238E27FC236}">
                <a16:creationId xmlns:a16="http://schemas.microsoft.com/office/drawing/2014/main" id="{186D6C6D-B739-4704-8C60-F88ACC4080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599" y="2348963"/>
            <a:ext cx="7932977" cy="2916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6223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1500" b="1"/>
              <a:t>3. </a:t>
            </a:r>
            <a:r>
              <a:rPr lang="zh-CN" altLang="en-US" sz="1500" b="1"/>
              <a:t>判定树</a:t>
            </a:r>
            <a:endParaRPr lang="en-US" altLang="zh-CN" sz="1500" b="1"/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判定树也是用来表达加工逻辑的工具，它是判定表的变形，有时比判定表更直观，更易于理解和使用。图书优惠政策的判定树如图</a:t>
            </a:r>
            <a:r>
              <a:rPr lang="en-US" altLang="zh-CN" sz="1500" b="1"/>
              <a:t>3-8</a:t>
            </a:r>
            <a:r>
              <a:rPr lang="zh-CN" altLang="en-US" sz="1500" b="1"/>
              <a:t>所示。</a:t>
            </a:r>
            <a:endParaRPr lang="en-US" altLang="zh-CN" sz="1500" b="1"/>
          </a:p>
        </p:txBody>
      </p:sp>
      <p:sp>
        <p:nvSpPr>
          <p:cNvPr id="6" name="Line 13">
            <a:extLst>
              <a:ext uri="{FF2B5EF4-FFF2-40B4-BE49-F238E27FC236}">
                <a16:creationId xmlns:a16="http://schemas.microsoft.com/office/drawing/2014/main" id="{2C95EB98-7A8D-4B89-97D4-1EF531F969BF}"/>
              </a:ext>
            </a:extLst>
          </p:cNvPr>
          <p:cNvSpPr>
            <a:spLocks noChangeShapeType="1"/>
          </p:cNvSpPr>
          <p:nvPr/>
        </p:nvSpPr>
        <p:spPr bwMode="auto">
          <a:xfrm>
            <a:off x="575148" y="2187017"/>
            <a:ext cx="2518499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4998" name="Picture 2">
            <a:extLst>
              <a:ext uri="{FF2B5EF4-FFF2-40B4-BE49-F238E27FC236}">
                <a16:creationId xmlns:a16="http://schemas.microsoft.com/office/drawing/2014/main" id="{18D686E0-A598-4DA7-8317-6D37968B4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897" y="3482586"/>
            <a:ext cx="5220380" cy="22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14">
            <a:extLst>
              <a:ext uri="{FF2B5EF4-FFF2-40B4-BE49-F238E27FC236}">
                <a16:creationId xmlns:a16="http://schemas.microsoft.com/office/drawing/2014/main" id="{1E38EB57-833F-44E6-882A-0B921EA5B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678" y="1758336"/>
            <a:ext cx="2443298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650" b="1" dirty="0"/>
              <a:t>（</a:t>
            </a:r>
            <a:r>
              <a:rPr lang="en-US" altLang="zh-CN" sz="1650" b="1" dirty="0"/>
              <a:t>3</a:t>
            </a:r>
            <a:r>
              <a:rPr lang="zh-CN" altLang="en-US" sz="1650" b="1" dirty="0"/>
              <a:t>）</a:t>
            </a:r>
            <a:r>
              <a:rPr lang="en-US" altLang="zh-CN" sz="1650" b="1" dirty="0"/>
              <a:t>  </a:t>
            </a:r>
            <a:r>
              <a:rPr lang="zh-CN" altLang="en-US" sz="1650" b="1" dirty="0"/>
              <a:t>加工逻辑的描述  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9B409B4-3051-460E-A8A0-D15B0EAB1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</p:spTree>
    <p:extLst>
      <p:ext uri="{BB962C8B-B14F-4D97-AF65-F5344CB8AC3E}">
        <p14:creationId xmlns:p14="http://schemas.microsoft.com/office/powerpoint/2010/main" val="50341224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Rectangle 3">
            <a:extLst>
              <a:ext uri="{FF2B5EF4-FFF2-40B4-BE49-F238E27FC236}">
                <a16:creationId xmlns:a16="http://schemas.microsoft.com/office/drawing/2014/main" id="{4799B730-0F79-42C8-8913-8EE62E22EC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599" y="1916710"/>
            <a:ext cx="7932977" cy="388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6223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1500" b="1"/>
              <a:t>1</a:t>
            </a:r>
            <a:r>
              <a:rPr lang="zh-CN" altLang="en-US" sz="1500" b="1"/>
              <a:t>．需求规格说明书的编写内容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需求分析阶段应交付的主要文档是软件需求规格说明书。它提供了用户与开发人员对开发软件的共同理解，其作用相当于用户与开发单位之间的技术合同，是后续设计和编码的基础，是测试和验收的依据。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软件需求规格说明书的内容框架可参阅</a:t>
            </a:r>
            <a:r>
              <a:rPr lang="en-US" altLang="zh-CN" sz="1500" b="1"/>
              <a:t>GB/T 8567-2006《</a:t>
            </a:r>
            <a:r>
              <a:rPr lang="zh-CN" altLang="en-US" sz="1500" b="1"/>
              <a:t>计算机软件文档编制规范</a:t>
            </a:r>
            <a:r>
              <a:rPr lang="en-US" altLang="zh-CN" sz="1500" b="1"/>
              <a:t>》</a:t>
            </a:r>
            <a:r>
              <a:rPr lang="zh-CN" altLang="en-US" sz="1500" b="1"/>
              <a:t>。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在编写需求规格说明书时应注意以下几个问题：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（</a:t>
            </a:r>
            <a:r>
              <a:rPr lang="en-US" altLang="zh-CN" sz="1500" b="1"/>
              <a:t>1</a:t>
            </a:r>
            <a:r>
              <a:rPr lang="zh-CN" altLang="en-US" sz="1500" b="1"/>
              <a:t>）说明书中的每一部分都非常重要，因此要慎重对待。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（</a:t>
            </a:r>
            <a:r>
              <a:rPr lang="en-US" altLang="zh-CN" sz="1500" b="1"/>
              <a:t>2</a:t>
            </a:r>
            <a:r>
              <a:rPr lang="zh-CN" altLang="en-US" sz="1500" b="1"/>
              <a:t>）问题的描述要做到准确无误，没有二义性。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（</a:t>
            </a:r>
            <a:r>
              <a:rPr lang="en-US" altLang="zh-CN" sz="1500" b="1"/>
              <a:t>3</a:t>
            </a:r>
            <a:r>
              <a:rPr lang="zh-CN" altLang="en-US" sz="1500" b="1"/>
              <a:t>）说明书的书写形式要规范。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（</a:t>
            </a:r>
            <a:r>
              <a:rPr lang="en-US" altLang="zh-CN" sz="1500" b="1"/>
              <a:t>4</a:t>
            </a:r>
            <a:r>
              <a:rPr lang="zh-CN" altLang="en-US" sz="1500" b="1"/>
              <a:t>）允许用户根据项目的具体情况适当的将书写内容进行调整和筛选。</a:t>
            </a:r>
            <a:endParaRPr lang="en-US" altLang="zh-CN" sz="1500" b="1"/>
          </a:p>
        </p:txBody>
      </p:sp>
      <p:sp>
        <p:nvSpPr>
          <p:cNvPr id="6" name="Text Box 14">
            <a:extLst>
              <a:ext uri="{FF2B5EF4-FFF2-40B4-BE49-F238E27FC236}">
                <a16:creationId xmlns:a16="http://schemas.microsoft.com/office/drawing/2014/main" id="{56BCA699-24BE-4CC4-94D4-008625EA62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524000"/>
            <a:ext cx="2324675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650" b="1" dirty="0"/>
              <a:t>（</a:t>
            </a:r>
            <a:r>
              <a:rPr lang="en-US" altLang="zh-CN" sz="1650" b="1" dirty="0"/>
              <a:t>4</a:t>
            </a:r>
            <a:r>
              <a:rPr lang="zh-CN" altLang="en-US" sz="1650" b="1" dirty="0"/>
              <a:t>）</a:t>
            </a:r>
            <a:r>
              <a:rPr lang="en-US" altLang="zh-CN" sz="1650" b="1" dirty="0"/>
              <a:t>  </a:t>
            </a:r>
            <a:r>
              <a:rPr lang="zh-CN" altLang="en-US" sz="1650" b="1" dirty="0"/>
              <a:t>需求规格说明书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AB72B10-BECA-49A2-9DBB-A9585BBAD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</p:spTree>
    <p:extLst>
      <p:ext uri="{BB962C8B-B14F-4D97-AF65-F5344CB8AC3E}">
        <p14:creationId xmlns:p14="http://schemas.microsoft.com/office/powerpoint/2010/main" val="303224357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Rectangle 3">
            <a:extLst>
              <a:ext uri="{FF2B5EF4-FFF2-40B4-BE49-F238E27FC236}">
                <a16:creationId xmlns:a16="http://schemas.microsoft.com/office/drawing/2014/main" id="{D9F3F190-7E40-49D1-A3BA-A067A9332C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599" y="1916710"/>
            <a:ext cx="7932977" cy="3565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6223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1500" b="1"/>
              <a:t>2</a:t>
            </a:r>
            <a:r>
              <a:rPr lang="zh-CN" altLang="en-US" sz="1500" b="1"/>
              <a:t>．需求分析的评审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在需求分析规格说明书编写完成后，必须进行需求评审，以验证需求的正确性。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如果在评审过程中发现说明书存在错误或缺陷，应及时进行更改或弥补，重新进行相应部分的需求分析、需求建模、修改需求规格说明书，并再行评审。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需求分析评审的主要内容如下：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（</a:t>
            </a:r>
            <a:r>
              <a:rPr lang="en-US" altLang="zh-CN" sz="1500" b="1"/>
              <a:t>1</a:t>
            </a:r>
            <a:r>
              <a:rPr lang="zh-CN" altLang="en-US" sz="1500" b="1"/>
              <a:t>）一致性。所有需求必须是一致的，任何一条需求不能和其他需求相矛盾。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（</a:t>
            </a:r>
            <a:r>
              <a:rPr lang="en-US" altLang="zh-CN" sz="1500" b="1"/>
              <a:t>2</a:t>
            </a:r>
            <a:r>
              <a:rPr lang="zh-CN" altLang="en-US" sz="1500" b="1"/>
              <a:t>）完整性。需求必须是完整的，规格说明书应该包括用户需要的每一个功能或性能。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（</a:t>
            </a:r>
            <a:r>
              <a:rPr lang="en-US" altLang="zh-CN" sz="1500" b="1"/>
              <a:t>3</a:t>
            </a:r>
            <a:r>
              <a:rPr lang="zh-CN" altLang="en-US" sz="1500" b="1"/>
              <a:t>）现实性。指定的需求应该是用现有的软硬件技术基本上可以实现的。对硬件技术的进步可以预测，对软件技术的进步则很难预测，只能从现有技术水平判断需求的现实性。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（</a:t>
            </a:r>
            <a:r>
              <a:rPr lang="en-US" altLang="zh-CN" sz="1500" b="1"/>
              <a:t>4</a:t>
            </a:r>
            <a:r>
              <a:rPr lang="zh-CN" altLang="en-US" sz="1500" b="1"/>
              <a:t>）有效性。必须证明需求是正确而有效的，确实能解决用户所面对的问题。</a:t>
            </a:r>
            <a:endParaRPr lang="en-US" altLang="zh-CN" sz="1500" b="1"/>
          </a:p>
        </p:txBody>
      </p:sp>
      <p:sp>
        <p:nvSpPr>
          <p:cNvPr id="6" name="Text Box 14">
            <a:extLst>
              <a:ext uri="{FF2B5EF4-FFF2-40B4-BE49-F238E27FC236}">
                <a16:creationId xmlns:a16="http://schemas.microsoft.com/office/drawing/2014/main" id="{973F0968-A9DD-41C8-BFDA-4E67EDDA68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524000"/>
            <a:ext cx="2324675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650" b="1" dirty="0"/>
              <a:t>（</a:t>
            </a:r>
            <a:r>
              <a:rPr lang="en-US" altLang="zh-CN" sz="1650" b="1" dirty="0"/>
              <a:t>4</a:t>
            </a:r>
            <a:r>
              <a:rPr lang="zh-CN" altLang="en-US" sz="1650" b="1" dirty="0"/>
              <a:t>）</a:t>
            </a:r>
            <a:r>
              <a:rPr lang="en-US" altLang="zh-CN" sz="1650" b="1" dirty="0"/>
              <a:t>  </a:t>
            </a:r>
            <a:r>
              <a:rPr lang="zh-CN" altLang="en-US" sz="1650" b="1" dirty="0"/>
              <a:t>需求规格说明书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477E89-07E8-4CE3-AD76-8311603B8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</p:spTree>
    <p:extLst>
      <p:ext uri="{BB962C8B-B14F-4D97-AF65-F5344CB8AC3E}">
        <p14:creationId xmlns:p14="http://schemas.microsoft.com/office/powerpoint/2010/main" val="120826557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5">
            <a:extLst>
              <a:ext uri="{FF2B5EF4-FFF2-40B4-BE49-F238E27FC236}">
                <a16:creationId xmlns:a16="http://schemas.microsoft.com/office/drawing/2014/main" id="{672220E8-194A-42C7-A511-DE3699F08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0006BCC-BD13-4F7E-8A79-B8BCD57D64FA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64</a:t>
            </a:fld>
            <a:endParaRPr lang="en-US" altLang="en-US" sz="1000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375FF62B-9F73-4684-9766-8B69E935BA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>
                <a:ea typeface="宋体" panose="02010600030101010101" pitchFamily="2" charset="-122"/>
              </a:rPr>
              <a:t>Summary</a:t>
            </a: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649869F9-67D9-4507-B1D4-642A15DF88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4958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Systems analysis involves defining system requirements– </a:t>
            </a:r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functional</a:t>
            </a:r>
            <a:r>
              <a:rPr lang="en-US" altLang="zh-CN" sz="2800" dirty="0">
                <a:ea typeface="宋体" panose="02010600030101010101" pitchFamily="2" charset="-122"/>
              </a:rPr>
              <a:t> and </a:t>
            </a:r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non-functional</a:t>
            </a: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Analysis activities include</a:t>
            </a:r>
            <a:r>
              <a:rPr lang="zh-CN" altLang="en-US" sz="2800" dirty="0">
                <a:ea typeface="宋体" panose="02010600030101010101" pitchFamily="2" charset="-122"/>
              </a:rPr>
              <a:t>（分析活动包括）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200" dirty="0">
                <a:ea typeface="宋体" panose="02010600030101010101" pitchFamily="2" charset="-122"/>
              </a:rPr>
              <a:t>Gather detailed information</a:t>
            </a:r>
            <a:r>
              <a:rPr lang="zh-CN" altLang="en-US" sz="2200" dirty="0">
                <a:ea typeface="宋体" panose="02010600030101010101" pitchFamily="2" charset="-122"/>
              </a:rPr>
              <a:t>（收集信息）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200" dirty="0">
                <a:ea typeface="宋体" panose="02010600030101010101" pitchFamily="2" charset="-122"/>
              </a:rPr>
              <a:t>Define requirements</a:t>
            </a:r>
            <a:r>
              <a:rPr lang="zh-CN" altLang="en-US" sz="2200" dirty="0">
                <a:ea typeface="宋体" panose="02010600030101010101" pitchFamily="2" charset="-122"/>
              </a:rPr>
              <a:t>（定义需求）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200" dirty="0">
                <a:ea typeface="宋体" panose="02010600030101010101" pitchFamily="2" charset="-122"/>
              </a:rPr>
              <a:t>Prioritize requirements</a:t>
            </a:r>
            <a:r>
              <a:rPr lang="zh-CN" altLang="en-US" sz="2200" dirty="0">
                <a:ea typeface="宋体" panose="02010600030101010101" pitchFamily="2" charset="-122"/>
              </a:rPr>
              <a:t>（优先需求）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200" dirty="0">
                <a:ea typeface="宋体" panose="02010600030101010101" pitchFamily="2" charset="-122"/>
              </a:rPr>
              <a:t>Develop user-interface dialogs</a:t>
            </a:r>
            <a:r>
              <a:rPr lang="zh-CN" altLang="en-US" sz="2200" dirty="0">
                <a:ea typeface="宋体" panose="02010600030101010101" pitchFamily="2" charset="-122"/>
              </a:rPr>
              <a:t>（用户界面）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200" dirty="0">
                <a:ea typeface="宋体" panose="02010600030101010101" pitchFamily="2" charset="-122"/>
              </a:rPr>
              <a:t>Evaluate requirements with users</a:t>
            </a:r>
            <a:r>
              <a:rPr lang="zh-CN" altLang="en-US" sz="2200" dirty="0">
                <a:ea typeface="宋体" panose="02010600030101010101" pitchFamily="2" charset="-122"/>
              </a:rPr>
              <a:t>（评估需求）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FURPS+ is the acronym </a:t>
            </a:r>
            <a:r>
              <a:rPr lang="en-US" altLang="zh-CN" sz="2800" u="sng" dirty="0">
                <a:ea typeface="宋体" panose="02010600030101010101" pitchFamily="2" charset="-122"/>
              </a:rPr>
              <a:t>for functional, usability, reliability, performance, and security </a:t>
            </a:r>
            <a:r>
              <a:rPr lang="en-US" altLang="zh-CN" sz="2800" dirty="0">
                <a:ea typeface="宋体" panose="02010600030101010101" pitchFamily="2" charset="-122"/>
              </a:rPr>
              <a:t>requirements</a:t>
            </a:r>
          </a:p>
        </p:txBody>
      </p:sp>
      <p:sp>
        <p:nvSpPr>
          <p:cNvPr id="43013" name="Rectangle 5">
            <a:extLst>
              <a:ext uri="{FF2B5EF4-FFF2-40B4-BE49-F238E27FC236}">
                <a16:creationId xmlns:a16="http://schemas.microsoft.com/office/drawing/2014/main" id="{8413F97B-62B0-42B6-8597-355E023D2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43014" name="Rectangle 7">
            <a:extLst>
              <a:ext uri="{FF2B5EF4-FFF2-40B4-BE49-F238E27FC236}">
                <a16:creationId xmlns:a16="http://schemas.microsoft.com/office/drawing/2014/main" id="{4699E288-0367-4568-83A8-03B5B3AC5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43015" name="Rectangle 9">
            <a:extLst>
              <a:ext uri="{FF2B5EF4-FFF2-40B4-BE49-F238E27FC236}">
                <a16:creationId xmlns:a16="http://schemas.microsoft.com/office/drawing/2014/main" id="{28489068-299A-40F1-974B-4DBBECF6A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43016" name="Rectangle 11">
            <a:extLst>
              <a:ext uri="{FF2B5EF4-FFF2-40B4-BE49-F238E27FC236}">
                <a16:creationId xmlns:a16="http://schemas.microsoft.com/office/drawing/2014/main" id="{46484149-5D5B-4C83-91C9-C9DAEFB22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43017" name="Footer Placeholder 4">
            <a:extLst>
              <a:ext uri="{FF2B5EF4-FFF2-40B4-BE49-F238E27FC236}">
                <a16:creationId xmlns:a16="http://schemas.microsoft.com/office/drawing/2014/main" id="{3E89FE8F-E15F-4C50-901B-DB46EDCFA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Introduction to Systems Analysis and Design, 6th Edition</a:t>
            </a:r>
          </a:p>
        </p:txBody>
      </p:sp>
      <p:sp>
        <p:nvSpPr>
          <p:cNvPr id="43018" name="Rectangle 10">
            <a:extLst>
              <a:ext uri="{FF2B5EF4-FFF2-40B4-BE49-F238E27FC236}">
                <a16:creationId xmlns:a16="http://schemas.microsoft.com/office/drawing/2014/main" id="{DA9FB0FE-36A5-4EDE-B601-00D4129691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5">
            <a:extLst>
              <a:ext uri="{FF2B5EF4-FFF2-40B4-BE49-F238E27FC236}">
                <a16:creationId xmlns:a16="http://schemas.microsoft.com/office/drawing/2014/main" id="{C1079470-4C39-4ECF-912D-4504BB2F2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29EDE12-2E5B-44F6-A50F-2AD90D0905A0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65</a:t>
            </a:fld>
            <a:endParaRPr lang="en-US" altLang="en-US" sz="100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F085FE38-1C22-4280-B469-C27D65DAF2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>
                <a:ea typeface="宋体" panose="02010600030101010101" pitchFamily="2" charset="-122"/>
              </a:rPr>
              <a:t>Summary</a:t>
            </a:r>
          </a:p>
        </p:txBody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22D35304-0A2A-4F96-931E-1C335E0A9C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4958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Models and modeling are used to explore and document requirements</a:t>
            </a:r>
            <a:r>
              <a:rPr lang="zh-CN" altLang="en-US" sz="2800" dirty="0">
                <a:ea typeface="宋体" panose="02010600030101010101" pitchFamily="2" charset="-122"/>
              </a:rPr>
              <a:t>（模型和建模用于探索和记录需求）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A model represents some aspect of a system, and can include textual, graphical, and mathematical models</a:t>
            </a:r>
            <a:r>
              <a:rPr lang="zh-CN" altLang="en-US" sz="2800" dirty="0">
                <a:ea typeface="宋体" panose="02010600030101010101" pitchFamily="2" charset="-122"/>
              </a:rPr>
              <a:t>（模型包括文本、图形、数据模型）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Unified Modeling Language (UML) is the standard set of notations and terminology for information systems models</a:t>
            </a:r>
            <a:r>
              <a:rPr lang="zh-CN" altLang="en-US" sz="2800" dirty="0">
                <a:ea typeface="宋体" panose="02010600030101010101" pitchFamily="2" charset="-122"/>
              </a:rPr>
              <a:t>（统一建模语言</a:t>
            </a:r>
            <a:r>
              <a:rPr lang="en-US" altLang="zh-CN" sz="2800" dirty="0">
                <a:ea typeface="宋体" panose="02010600030101010101" pitchFamily="2" charset="-122"/>
              </a:rPr>
              <a:t>UML</a:t>
            </a:r>
            <a:r>
              <a:rPr lang="zh-CN" altLang="en-US" sz="2800" dirty="0">
                <a:ea typeface="宋体" panose="02010600030101010101" pitchFamily="2" charset="-122"/>
              </a:rPr>
              <a:t>是标准集合）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4037" name="Rectangle 4">
            <a:extLst>
              <a:ext uri="{FF2B5EF4-FFF2-40B4-BE49-F238E27FC236}">
                <a16:creationId xmlns:a16="http://schemas.microsoft.com/office/drawing/2014/main" id="{7017C780-3513-465E-A225-1B42C3DB0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44038" name="Rectangle 5">
            <a:extLst>
              <a:ext uri="{FF2B5EF4-FFF2-40B4-BE49-F238E27FC236}">
                <a16:creationId xmlns:a16="http://schemas.microsoft.com/office/drawing/2014/main" id="{A8F34FE0-32B7-444F-94C1-0B24271BB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44039" name="Rectangle 6">
            <a:extLst>
              <a:ext uri="{FF2B5EF4-FFF2-40B4-BE49-F238E27FC236}">
                <a16:creationId xmlns:a16="http://schemas.microsoft.com/office/drawing/2014/main" id="{0EE8DD66-3E92-4512-B833-C3EE259EDC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44040" name="Rectangle 7">
            <a:extLst>
              <a:ext uri="{FF2B5EF4-FFF2-40B4-BE49-F238E27FC236}">
                <a16:creationId xmlns:a16="http://schemas.microsoft.com/office/drawing/2014/main" id="{D6060B42-1DCB-4B8A-B60D-31BD2C30B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44041" name="Footer Placeholder 4">
            <a:extLst>
              <a:ext uri="{FF2B5EF4-FFF2-40B4-BE49-F238E27FC236}">
                <a16:creationId xmlns:a16="http://schemas.microsoft.com/office/drawing/2014/main" id="{5E9F18A2-229D-4BFB-935D-32794CF57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44042" name="Rectangle 10">
            <a:extLst>
              <a:ext uri="{FF2B5EF4-FFF2-40B4-BE49-F238E27FC236}">
                <a16:creationId xmlns:a16="http://schemas.microsoft.com/office/drawing/2014/main" id="{C935008E-20E1-4E28-9B84-0AEA056FD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5">
            <a:extLst>
              <a:ext uri="{FF2B5EF4-FFF2-40B4-BE49-F238E27FC236}">
                <a16:creationId xmlns:a16="http://schemas.microsoft.com/office/drawing/2014/main" id="{20BE84FC-0B69-4CF9-9FA7-E548B58DD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5183BA4-782A-4E68-BB97-867FEDE1A997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66</a:t>
            </a:fld>
            <a:endParaRPr lang="en-US" altLang="en-US" sz="1000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8F6ABA03-A82E-4C94-9314-16FE8DEB62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>
                <a:ea typeface="宋体" panose="02010600030101010101" pitchFamily="2" charset="-122"/>
              </a:rPr>
              <a:t>Summary</a:t>
            </a: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74DBD452-ABBB-4491-8057-70458FEC40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4958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Stakeholders are the people who have an interest in the success of the project</a:t>
            </a:r>
            <a:r>
              <a:rPr lang="zh-CN" altLang="en-US" sz="2800" dirty="0">
                <a:ea typeface="宋体" panose="02010600030101010101" pitchFamily="2" charset="-122"/>
              </a:rPr>
              <a:t>（利益相关人是对项目成功感兴趣的人）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There are </a:t>
            </a:r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internal</a:t>
            </a:r>
            <a:r>
              <a:rPr lang="en-US" altLang="zh-CN" sz="2800" dirty="0">
                <a:ea typeface="宋体" panose="02010600030101010101" pitchFamily="2" charset="-122"/>
              </a:rPr>
              <a:t> vs. </a:t>
            </a:r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external</a:t>
            </a:r>
            <a:r>
              <a:rPr lang="en-US" altLang="zh-CN" sz="2800" dirty="0">
                <a:ea typeface="宋体" panose="02010600030101010101" pitchFamily="2" charset="-122"/>
              </a:rPr>
              <a:t> stakeholders</a:t>
            </a:r>
            <a:r>
              <a:rPr lang="zh-CN" altLang="en-US" sz="2800" dirty="0">
                <a:ea typeface="宋体" panose="02010600030101010101" pitchFamily="2" charset="-122"/>
              </a:rPr>
              <a:t>（内部</a:t>
            </a:r>
            <a:r>
              <a:rPr lang="en-US" altLang="zh-CN" sz="2800" dirty="0">
                <a:ea typeface="宋体" panose="02010600030101010101" pitchFamily="2" charset="-122"/>
              </a:rPr>
              <a:t>vs</a:t>
            </a:r>
            <a:r>
              <a:rPr lang="zh-CN" altLang="en-US" sz="2800" dirty="0">
                <a:ea typeface="宋体" panose="02010600030101010101" pitchFamily="2" charset="-122"/>
              </a:rPr>
              <a:t>外部相关者）</a:t>
            </a:r>
            <a:r>
              <a:rPr lang="en-US" altLang="zh-CN" sz="2800" dirty="0">
                <a:ea typeface="宋体" panose="02010600030101010101" pitchFamily="2" charset="-122"/>
              </a:rPr>
              <a:t> and </a:t>
            </a:r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operational</a:t>
            </a:r>
            <a:r>
              <a:rPr lang="en-US" altLang="zh-CN" sz="2800" dirty="0">
                <a:ea typeface="宋体" panose="02010600030101010101" pitchFamily="2" charset="-122"/>
              </a:rPr>
              <a:t> vs. </a:t>
            </a:r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executive</a:t>
            </a:r>
            <a:r>
              <a:rPr lang="en-US" altLang="zh-CN" sz="2800" dirty="0">
                <a:ea typeface="宋体" panose="02010600030101010101" pitchFamily="2" charset="-122"/>
              </a:rPr>
              <a:t> stakeholders</a:t>
            </a:r>
            <a:r>
              <a:rPr lang="zh-CN" altLang="en-US" sz="2800" dirty="0">
                <a:ea typeface="宋体" panose="02010600030101010101" pitchFamily="2" charset="-122"/>
              </a:rPr>
              <a:t>（运营</a:t>
            </a:r>
            <a:r>
              <a:rPr lang="en-US" altLang="zh-CN" sz="2800" dirty="0">
                <a:ea typeface="宋体" panose="02010600030101010101" pitchFamily="2" charset="-122"/>
              </a:rPr>
              <a:t>vs</a:t>
            </a:r>
            <a:r>
              <a:rPr lang="zh-CN" altLang="en-US" sz="2800" dirty="0">
                <a:ea typeface="宋体" panose="02010600030101010101" pitchFamily="2" charset="-122"/>
              </a:rPr>
              <a:t>执行相关者）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Information gathering techniques are used to collect information about the project</a:t>
            </a:r>
            <a:r>
              <a:rPr lang="zh-CN" altLang="en-US" sz="2800" dirty="0">
                <a:ea typeface="宋体" panose="02010600030101010101" pitchFamily="2" charset="-122"/>
              </a:rPr>
              <a:t>（信息收集）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000" dirty="0">
                <a:ea typeface="宋体" panose="02010600030101010101" pitchFamily="2" charset="-122"/>
              </a:rPr>
              <a:t>Interviews, questionnaires, reviewing documents, observing business processes, researching vendors, comments and suggestions</a:t>
            </a:r>
            <a:r>
              <a:rPr lang="zh-CN" altLang="en-US" sz="2000" dirty="0">
                <a:ea typeface="宋体" panose="02010600030101010101" pitchFamily="2" charset="-122"/>
              </a:rPr>
              <a:t>（访谈、问卷、文件、观察业务流程等）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45061" name="Rectangle 4">
            <a:extLst>
              <a:ext uri="{FF2B5EF4-FFF2-40B4-BE49-F238E27FC236}">
                <a16:creationId xmlns:a16="http://schemas.microsoft.com/office/drawing/2014/main" id="{F7B94F34-08C2-464E-B82A-A3FD54DE5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45062" name="Rectangle 5">
            <a:extLst>
              <a:ext uri="{FF2B5EF4-FFF2-40B4-BE49-F238E27FC236}">
                <a16:creationId xmlns:a16="http://schemas.microsoft.com/office/drawing/2014/main" id="{CA6E0C83-657A-4E6A-94FF-00C6877F8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45063" name="Rectangle 6">
            <a:extLst>
              <a:ext uri="{FF2B5EF4-FFF2-40B4-BE49-F238E27FC236}">
                <a16:creationId xmlns:a16="http://schemas.microsoft.com/office/drawing/2014/main" id="{018BADB2-DC90-47F9-97F5-9C552DE82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45064" name="Rectangle 7">
            <a:extLst>
              <a:ext uri="{FF2B5EF4-FFF2-40B4-BE49-F238E27FC236}">
                <a16:creationId xmlns:a16="http://schemas.microsoft.com/office/drawing/2014/main" id="{99DA94C5-168E-4AB6-BFD9-EEA010F98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45065" name="Footer Placeholder 4">
            <a:extLst>
              <a:ext uri="{FF2B5EF4-FFF2-40B4-BE49-F238E27FC236}">
                <a16:creationId xmlns:a16="http://schemas.microsoft.com/office/drawing/2014/main" id="{80E1F5BD-C05B-4BF6-B961-262AC07CF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45066" name="Rectangle 10">
            <a:extLst>
              <a:ext uri="{FF2B5EF4-FFF2-40B4-BE49-F238E27FC236}">
                <a16:creationId xmlns:a16="http://schemas.microsoft.com/office/drawing/2014/main" id="{B00E55A3-2BC5-414C-AAB6-084196183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Capsules</Template>
  <TotalTime>2280</TotalTime>
  <Words>7765</Words>
  <Application>Microsoft Office PowerPoint</Application>
  <PresentationFormat>全屏显示(4:3)</PresentationFormat>
  <Paragraphs>807</Paragraphs>
  <Slides>66</Slides>
  <Notes>40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66</vt:i4>
      </vt:variant>
    </vt:vector>
  </HeadingPairs>
  <TitlesOfParts>
    <vt:vector size="77" baseType="lpstr">
      <vt:lpstr>PingFang SC</vt:lpstr>
      <vt:lpstr>微软雅黑</vt:lpstr>
      <vt:lpstr>微软雅黑</vt:lpstr>
      <vt:lpstr>Arial</vt:lpstr>
      <vt:lpstr>Arial Black</vt:lpstr>
      <vt:lpstr>Broadway</vt:lpstr>
      <vt:lpstr>Calibri</vt:lpstr>
      <vt:lpstr>Tahoma</vt:lpstr>
      <vt:lpstr>Times New Roman</vt:lpstr>
      <vt:lpstr>Wingdings</vt:lpstr>
      <vt:lpstr>Network</vt:lpstr>
      <vt:lpstr>PowerPoint 演示文稿</vt:lpstr>
      <vt:lpstr>Chapter 2 Outline</vt:lpstr>
      <vt:lpstr>Learning Objectives</vt:lpstr>
      <vt:lpstr>Learning Objectives</vt:lpstr>
      <vt:lpstr>Chapter 2 Outline</vt:lpstr>
      <vt:lpstr>RMO Existing Application Architecture（RMO现有结构）</vt:lpstr>
      <vt:lpstr>New Consolidated Sales and Marketing System  (CSMS，新的市场推广系统)</vt:lpstr>
      <vt:lpstr>Proposed Application Architecture: Integrate SCM and New CSMS</vt:lpstr>
      <vt:lpstr>Chapter 2 Outline</vt:lpstr>
      <vt:lpstr>Systems Analysis Activities</vt:lpstr>
      <vt:lpstr>Chapter 2 Outline</vt:lpstr>
      <vt:lpstr>What Are Requirements?</vt:lpstr>
      <vt:lpstr>FURPS+ Requirements Acronym 识别和分类需求的方法——FURPS+</vt:lpstr>
      <vt:lpstr>FURPS+ Requirements Acronym</vt:lpstr>
      <vt:lpstr>Chapter 2 Outline</vt:lpstr>
      <vt:lpstr>Models and Modeling</vt:lpstr>
      <vt:lpstr>Some Analysis and Design Models</vt:lpstr>
      <vt:lpstr>Reasons for Modeling （建模的原因）</vt:lpstr>
      <vt:lpstr>Chapter 2 Outline</vt:lpstr>
      <vt:lpstr>Stakeholders Who do you involve and talk to? </vt:lpstr>
      <vt:lpstr>Stakeholders of a comprehensive accounting system for public company </vt:lpstr>
      <vt:lpstr>Stakeholders For RMO CSMS Project </vt:lpstr>
      <vt:lpstr>PowerPoint 演示文稿</vt:lpstr>
      <vt:lpstr>RMO Internal Stakeholders</vt:lpstr>
      <vt:lpstr>Chapter 2 Outline</vt:lpstr>
      <vt:lpstr>Information Gathering Techniques </vt:lpstr>
      <vt:lpstr>Interviewing Users and Other Stakeholders （采访用户）</vt:lpstr>
      <vt:lpstr>Themes for Information Gathering Questions </vt:lpstr>
      <vt:lpstr>Distribute and Collect Questionnaires</vt:lpstr>
      <vt:lpstr>Review Inputs, Outputs, and Procedures</vt:lpstr>
      <vt:lpstr>Additional Techniques</vt:lpstr>
      <vt:lpstr>Chapter 2 Outline</vt:lpstr>
      <vt:lpstr>Documenting Workflows with Activity Diagrams</vt:lpstr>
      <vt:lpstr>Activity Diagrams Symbols</vt:lpstr>
      <vt:lpstr>Activity Diagram with Concurrent Paths</vt:lpstr>
      <vt:lpstr>Activity Diagram for RMO Order Fulfillment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Summary</vt:lpstr>
      <vt:lpstr>Summary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From bla to bla</dc:title>
  <dc:creator>John</dc:creator>
  <cp:lastModifiedBy>鸽 王</cp:lastModifiedBy>
  <cp:revision>109</cp:revision>
  <cp:lastPrinted>1601-01-01T00:00:00Z</cp:lastPrinted>
  <dcterms:created xsi:type="dcterms:W3CDTF">2011-10-31T16:54:53Z</dcterms:created>
  <dcterms:modified xsi:type="dcterms:W3CDTF">2026-04-11T04:16:39Z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4</vt:i4>
  </property>
</Properties>
</file>