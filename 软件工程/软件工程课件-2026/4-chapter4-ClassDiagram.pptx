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80"/>
  </p:notesMasterIdLst>
  <p:sldIdLst>
    <p:sldId id="356" r:id="rId2"/>
    <p:sldId id="256" r:id="rId3"/>
    <p:sldId id="257" r:id="rId4"/>
    <p:sldId id="314" r:id="rId5"/>
    <p:sldId id="263" r:id="rId6"/>
    <p:sldId id="395" r:id="rId7"/>
    <p:sldId id="315" r:id="rId8"/>
    <p:sldId id="399" r:id="rId9"/>
    <p:sldId id="316" r:id="rId10"/>
    <p:sldId id="319" r:id="rId11"/>
    <p:sldId id="400" r:id="rId12"/>
    <p:sldId id="366" r:id="rId13"/>
    <p:sldId id="367" r:id="rId14"/>
    <p:sldId id="368" r:id="rId15"/>
    <p:sldId id="369" r:id="rId16"/>
    <p:sldId id="317" r:id="rId17"/>
    <p:sldId id="320" r:id="rId18"/>
    <p:sldId id="322" r:id="rId19"/>
    <p:sldId id="324" r:id="rId20"/>
    <p:sldId id="323" r:id="rId21"/>
    <p:sldId id="321" r:id="rId22"/>
    <p:sldId id="325" r:id="rId23"/>
    <p:sldId id="326" r:id="rId24"/>
    <p:sldId id="396" r:id="rId25"/>
    <p:sldId id="328" r:id="rId26"/>
    <p:sldId id="327" r:id="rId27"/>
    <p:sldId id="329" r:id="rId28"/>
    <p:sldId id="330" r:id="rId29"/>
    <p:sldId id="333" r:id="rId30"/>
    <p:sldId id="335" r:id="rId31"/>
    <p:sldId id="331" r:id="rId32"/>
    <p:sldId id="336" r:id="rId33"/>
    <p:sldId id="372" r:id="rId34"/>
    <p:sldId id="338" r:id="rId35"/>
    <p:sldId id="373" r:id="rId36"/>
    <p:sldId id="374" r:id="rId37"/>
    <p:sldId id="355" r:id="rId38"/>
    <p:sldId id="397" r:id="rId39"/>
    <p:sldId id="332" r:id="rId40"/>
    <p:sldId id="340" r:id="rId41"/>
    <p:sldId id="341" r:id="rId42"/>
    <p:sldId id="375" r:id="rId43"/>
    <p:sldId id="342" r:id="rId44"/>
    <p:sldId id="343" r:id="rId45"/>
    <p:sldId id="344" r:id="rId46"/>
    <p:sldId id="346" r:id="rId47"/>
    <p:sldId id="347" r:id="rId48"/>
    <p:sldId id="345" r:id="rId49"/>
    <p:sldId id="348" r:id="rId50"/>
    <p:sldId id="351" r:id="rId51"/>
    <p:sldId id="350" r:id="rId52"/>
    <p:sldId id="352" r:id="rId53"/>
    <p:sldId id="353" r:id="rId54"/>
    <p:sldId id="398" r:id="rId55"/>
    <p:sldId id="354" r:id="rId56"/>
    <p:sldId id="358" r:id="rId57"/>
    <p:sldId id="381" r:id="rId58"/>
    <p:sldId id="382" r:id="rId59"/>
    <p:sldId id="383" r:id="rId60"/>
    <p:sldId id="384" r:id="rId61"/>
    <p:sldId id="385" r:id="rId62"/>
    <p:sldId id="359" r:id="rId63"/>
    <p:sldId id="386" r:id="rId64"/>
    <p:sldId id="387" r:id="rId65"/>
    <p:sldId id="388" r:id="rId66"/>
    <p:sldId id="389" r:id="rId67"/>
    <p:sldId id="360" r:id="rId68"/>
    <p:sldId id="380" r:id="rId69"/>
    <p:sldId id="362" r:id="rId70"/>
    <p:sldId id="363" r:id="rId71"/>
    <p:sldId id="364" r:id="rId72"/>
    <p:sldId id="390" r:id="rId73"/>
    <p:sldId id="391" r:id="rId74"/>
    <p:sldId id="392" r:id="rId75"/>
    <p:sldId id="401" r:id="rId76"/>
    <p:sldId id="402" r:id="rId77"/>
    <p:sldId id="403" r:id="rId78"/>
    <p:sldId id="404" r:id="rId7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默认节" id="{2C1F30B1-AFA7-4F08-B5D4-06AAF8C09EA7}">
          <p14:sldIdLst>
            <p14:sldId id="356"/>
            <p14:sldId id="256"/>
            <p14:sldId id="257"/>
            <p14:sldId id="314"/>
            <p14:sldId id="263"/>
            <p14:sldId id="395"/>
            <p14:sldId id="315"/>
            <p14:sldId id="399"/>
            <p14:sldId id="316"/>
            <p14:sldId id="319"/>
            <p14:sldId id="400"/>
            <p14:sldId id="366"/>
            <p14:sldId id="367"/>
            <p14:sldId id="368"/>
            <p14:sldId id="369"/>
            <p14:sldId id="317"/>
            <p14:sldId id="320"/>
            <p14:sldId id="322"/>
            <p14:sldId id="324"/>
            <p14:sldId id="323"/>
            <p14:sldId id="321"/>
            <p14:sldId id="325"/>
            <p14:sldId id="326"/>
            <p14:sldId id="396"/>
            <p14:sldId id="328"/>
            <p14:sldId id="327"/>
            <p14:sldId id="329"/>
            <p14:sldId id="330"/>
            <p14:sldId id="333"/>
            <p14:sldId id="335"/>
            <p14:sldId id="331"/>
            <p14:sldId id="336"/>
            <p14:sldId id="372"/>
            <p14:sldId id="338"/>
            <p14:sldId id="373"/>
            <p14:sldId id="374"/>
            <p14:sldId id="355"/>
            <p14:sldId id="397"/>
            <p14:sldId id="332"/>
            <p14:sldId id="340"/>
            <p14:sldId id="341"/>
            <p14:sldId id="375"/>
            <p14:sldId id="342"/>
            <p14:sldId id="343"/>
            <p14:sldId id="344"/>
            <p14:sldId id="346"/>
            <p14:sldId id="347"/>
            <p14:sldId id="345"/>
            <p14:sldId id="348"/>
            <p14:sldId id="351"/>
            <p14:sldId id="350"/>
            <p14:sldId id="352"/>
            <p14:sldId id="353"/>
            <p14:sldId id="398"/>
            <p14:sldId id="354"/>
            <p14:sldId id="358"/>
            <p14:sldId id="381"/>
            <p14:sldId id="382"/>
            <p14:sldId id="383"/>
            <p14:sldId id="384"/>
            <p14:sldId id="385"/>
            <p14:sldId id="359"/>
            <p14:sldId id="386"/>
            <p14:sldId id="387"/>
            <p14:sldId id="388"/>
            <p14:sldId id="389"/>
            <p14:sldId id="360"/>
            <p14:sldId id="380"/>
            <p14:sldId id="362"/>
            <p14:sldId id="363"/>
            <p14:sldId id="364"/>
            <p14:sldId id="390"/>
            <p14:sldId id="391"/>
            <p14:sldId id="392"/>
            <p14:sldId id="401"/>
            <p14:sldId id="402"/>
            <p14:sldId id="403"/>
            <p14:sldId id="4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4" autoAdjust="0"/>
    <p:restoredTop sz="67264" autoAdjust="0"/>
  </p:normalViewPr>
  <p:slideViewPr>
    <p:cSldViewPr>
      <p:cViewPr varScale="1">
        <p:scale>
          <a:sx n="102" d="100"/>
          <a:sy n="102" d="100"/>
        </p:scale>
        <p:origin x="92" y="2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757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zh-CN" altLang="zh-CN"/>
          </a:p>
        </p:txBody>
      </p:sp>
      <p:sp>
        <p:nvSpPr>
          <p:cNvPr id="532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757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5824AF5-DF7B-4661-A918-901086917088}" type="slidenum">
              <a:rPr lang="en-US" altLang="zh-CN"/>
              <a:pPr/>
              <a:t>‹#›</a:t>
            </a:fld>
            <a:endParaRPr lang="en-US" altLang="zh-CN"/>
          </a:p>
        </p:txBody>
      </p:sp>
    </p:spTree>
    <p:extLst>
      <p:ext uri="{BB962C8B-B14F-4D97-AF65-F5344CB8AC3E}">
        <p14:creationId xmlns:p14="http://schemas.microsoft.com/office/powerpoint/2010/main" val="16734042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a:t>
            </a:fld>
            <a:endParaRPr lang="en-US" altLang="zh-CN"/>
          </a:p>
        </p:txBody>
      </p:sp>
    </p:spTree>
    <p:extLst>
      <p:ext uri="{BB962C8B-B14F-4D97-AF65-F5344CB8AC3E}">
        <p14:creationId xmlns:p14="http://schemas.microsoft.com/office/powerpoint/2010/main" val="3780521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域类</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a:t>
            </a:fld>
            <a:endParaRPr lang="en-US" altLang="zh-CN"/>
          </a:p>
        </p:txBody>
      </p:sp>
    </p:spTree>
    <p:extLst>
      <p:ext uri="{BB962C8B-B14F-4D97-AF65-F5344CB8AC3E}">
        <p14:creationId xmlns:p14="http://schemas.microsoft.com/office/powerpoint/2010/main" val="300846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3</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问题域中的“事物”</a:t>
            </a:r>
            <a:br>
              <a:rPr lang="zh-CN" altLang="en-US" dirty="0"/>
            </a:br>
            <a:r>
              <a:rPr lang="zh-CN" altLang="en-US" dirty="0"/>
              <a:t>  </a:t>
            </a:r>
            <a:r>
              <a:rPr lang="zh-CN" altLang="en-US" b="0" i="0" dirty="0">
                <a:solidFill>
                  <a:srgbClr val="2A2B2E"/>
                </a:solidFill>
                <a:effectLst/>
                <a:latin typeface="PingFang SC"/>
              </a:rPr>
              <a:t>数据实体</a:t>
            </a:r>
            <a:br>
              <a:rPr lang="zh-CN" altLang="en-US" dirty="0"/>
            </a:br>
            <a:r>
              <a:rPr lang="zh-CN" altLang="en-US" dirty="0"/>
              <a:t>  </a:t>
            </a:r>
            <a:r>
              <a:rPr lang="zh-CN" altLang="en-US" b="0" i="0" dirty="0">
                <a:solidFill>
                  <a:srgbClr val="2A2B2E"/>
                </a:solidFill>
                <a:effectLst/>
                <a:latin typeface="PingFang SC"/>
              </a:rPr>
              <a:t>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实体</a:t>
            </a:r>
            <a:r>
              <a:rPr lang="en-US" altLang="zh-CN" b="0" i="0" dirty="0">
                <a:solidFill>
                  <a:srgbClr val="2A2B2E"/>
                </a:solidFill>
                <a:effectLst/>
                <a:latin typeface="PingFang SC"/>
              </a:rPr>
              <a:t>-</a:t>
            </a:r>
            <a:r>
              <a:rPr lang="zh-CN" altLang="en-US" b="0" i="0" dirty="0">
                <a:solidFill>
                  <a:srgbClr val="2A2B2E"/>
                </a:solidFill>
                <a:effectLst/>
                <a:latin typeface="PingFang SC"/>
              </a:rPr>
              <a:t>关系图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域模型类图</a:t>
            </a:r>
            <a:br>
              <a:rPr lang="zh-CN" altLang="en-US" dirty="0"/>
            </a:br>
            <a:endParaRPr lang="zh-CN" altLang="en-US" b="0" i="0" dirty="0">
              <a:solidFill>
                <a:srgbClr val="2A2B2E"/>
              </a:solidFill>
              <a:effectLst/>
              <a:latin typeface="PingFang SC"/>
            </a:endParaRPr>
          </a:p>
          <a:p>
            <a:r>
              <a:rPr lang="en-US" altLang="zh-CN" b="0" i="0" dirty="0">
                <a:solidFill>
                  <a:srgbClr val="2A2B2E"/>
                </a:solidFill>
                <a:effectLst/>
                <a:latin typeface="PingFang SC"/>
              </a:rPr>
              <a:t>RMO</a:t>
            </a:r>
            <a:r>
              <a:rPr lang="zh-CN" altLang="en-US" b="0" i="0" dirty="0">
                <a:solidFill>
                  <a:srgbClr val="2A2B2E"/>
                </a:solidFill>
                <a:effectLst/>
                <a:latin typeface="PingFang SC"/>
              </a:rPr>
              <a:t>示例中的域模型类图</a:t>
            </a:r>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解释问题域中的“事物”概念如何定义需求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识别和分析系统中需要的数据实体和领域类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阅读、解释和创建一个实体关系图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读取、解释和创建一个领域模型类图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理解</a:t>
            </a:r>
            <a:r>
              <a:rPr lang="en-US" altLang="zh-CN" b="0" i="0" dirty="0">
                <a:solidFill>
                  <a:srgbClr val="2A2B2E"/>
                </a:solidFill>
                <a:effectLst/>
                <a:latin typeface="PingFang SC"/>
              </a:rPr>
              <a:t>RMO</a:t>
            </a:r>
            <a:r>
              <a:rPr lang="zh-CN" altLang="en-US" b="0" i="0" dirty="0">
                <a:solidFill>
                  <a:srgbClr val="2A2B2E"/>
                </a:solidFill>
                <a:effectLst/>
                <a:latin typeface="PingFang SC"/>
              </a:rPr>
              <a:t>统一销售和营销系统的领域模型类图</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a:t>
            </a:fld>
            <a:endParaRPr lang="en-US" altLang="zh-CN"/>
          </a:p>
        </p:txBody>
      </p:sp>
    </p:spTree>
    <p:extLst>
      <p:ext uri="{BB962C8B-B14F-4D97-AF65-F5344CB8AC3E}">
        <p14:creationId xmlns:p14="http://schemas.microsoft.com/office/powerpoint/2010/main" val="3144422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3</a:t>
            </a:r>
            <a:r>
              <a:rPr lang="zh-CN" altLang="en-US" b="0" i="0" dirty="0">
                <a:solidFill>
                  <a:srgbClr val="2A2B2E"/>
                </a:solidFill>
                <a:effectLst/>
                <a:latin typeface="PingFang SC"/>
              </a:rPr>
              <a:t>章概述了如何识别用例来定义功能需求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本章着重于定义需求的另一个关键概念</a:t>
            </a:r>
            <a:r>
              <a:rPr lang="en-US" altLang="zh-CN" b="0" i="0" dirty="0">
                <a:solidFill>
                  <a:srgbClr val="2A2B2E"/>
                </a:solidFill>
                <a:effectLst/>
                <a:latin typeface="PingFang SC"/>
              </a:rPr>
              <a:t>——</a:t>
            </a:r>
            <a:r>
              <a:rPr lang="zh-CN" altLang="en-US" b="0" i="0" dirty="0">
                <a:solidFill>
                  <a:srgbClr val="2A2B2E"/>
                </a:solidFill>
                <a:effectLst/>
                <a:latin typeface="PingFang SC"/>
              </a:rPr>
              <a:t>数据实体或域类</a:t>
            </a:r>
            <a:br>
              <a:rPr lang="zh-CN" altLang="en-US" dirty="0"/>
            </a:br>
            <a:r>
              <a:rPr lang="zh-CN" altLang="en-US" b="0" i="0" dirty="0">
                <a:solidFill>
                  <a:srgbClr val="2A2B2E"/>
                </a:solidFill>
                <a:effectLst/>
                <a:latin typeface="PingFang SC"/>
              </a:rPr>
              <a:t>  在第</a:t>
            </a:r>
            <a:r>
              <a:rPr lang="en-US" altLang="zh-CN" b="0" i="0" dirty="0">
                <a:solidFill>
                  <a:srgbClr val="2A2B2E"/>
                </a:solidFill>
                <a:effectLst/>
                <a:latin typeface="PingFang SC"/>
              </a:rPr>
              <a:t>1</a:t>
            </a:r>
            <a:r>
              <a:rPr lang="zh-CN" altLang="en-US" b="0" i="0" dirty="0">
                <a:solidFill>
                  <a:srgbClr val="2A2B2E"/>
                </a:solidFill>
                <a:effectLst/>
                <a:latin typeface="PingFang SC"/>
              </a:rPr>
              <a:t>章的</a:t>
            </a:r>
            <a:r>
              <a:rPr lang="en-US" altLang="zh-CN" b="0" i="0" dirty="0">
                <a:solidFill>
                  <a:srgbClr val="2A2B2E"/>
                </a:solidFill>
                <a:effectLst/>
                <a:latin typeface="PingFang SC"/>
              </a:rPr>
              <a:t>RMO</a:t>
            </a:r>
            <a:r>
              <a:rPr lang="zh-CN" altLang="en-US" b="0" i="0" dirty="0">
                <a:solidFill>
                  <a:srgbClr val="2A2B2E"/>
                </a:solidFill>
                <a:effectLst/>
                <a:latin typeface="PingFang SC"/>
              </a:rPr>
              <a:t>贸易展示系统中，一些域类是</a:t>
            </a:r>
            <a:r>
              <a:rPr lang="en-US" altLang="zh-CN" b="0" i="0" dirty="0">
                <a:solidFill>
                  <a:srgbClr val="2A2B2E"/>
                </a:solidFill>
                <a:effectLst/>
                <a:latin typeface="PingFang SC"/>
              </a:rPr>
              <a:t>Supplier, Product</a:t>
            </a:r>
            <a:r>
              <a:rPr lang="zh-CN" altLang="en-US" b="0" i="0" dirty="0">
                <a:solidFill>
                  <a:srgbClr val="2A2B2E"/>
                </a:solidFill>
                <a:effectLst/>
                <a:latin typeface="PingFang SC"/>
              </a:rPr>
              <a:t>和</a:t>
            </a:r>
            <a:r>
              <a:rPr lang="en-US" altLang="zh-CN" b="0" i="0" dirty="0">
                <a:solidFill>
                  <a:srgbClr val="2A2B2E"/>
                </a:solidFill>
                <a:effectLst/>
                <a:latin typeface="PingFang SC"/>
              </a:rPr>
              <a:t>Contact</a:t>
            </a:r>
            <a:br>
              <a:rPr lang="zh-CN" altLang="en-US" dirty="0"/>
            </a:br>
            <a:r>
              <a:rPr lang="zh-CN" altLang="en-US" dirty="0"/>
              <a:t>  </a:t>
            </a:r>
            <a:r>
              <a:rPr lang="zh-CN" altLang="en-US" b="0" i="0" dirty="0">
                <a:solidFill>
                  <a:srgbClr val="2A2B2E"/>
                </a:solidFill>
                <a:effectLst/>
                <a:latin typeface="PingFang SC"/>
              </a:rPr>
              <a:t>在本章的开头</a:t>
            </a:r>
            <a:r>
              <a:rPr lang="en-US" altLang="zh-CN" b="0" i="0" dirty="0">
                <a:solidFill>
                  <a:srgbClr val="2A2B2E"/>
                </a:solidFill>
                <a:effectLst/>
                <a:latin typeface="PingFang SC"/>
              </a:rPr>
              <a:t>waiters on call</a:t>
            </a:r>
            <a:r>
              <a:rPr lang="zh-CN" altLang="en-US" b="0" i="0" dirty="0">
                <a:solidFill>
                  <a:srgbClr val="2A2B2E"/>
                </a:solidFill>
                <a:effectLst/>
                <a:latin typeface="PingFang SC"/>
              </a:rPr>
              <a:t>的例子里，域类的例子有餐馆，菜单项，顾客，订单，司机，地址，路线和支付</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a:t>
            </a:fld>
            <a:endParaRPr lang="en-US" altLang="zh-CN"/>
          </a:p>
        </p:txBody>
      </p:sp>
    </p:spTree>
    <p:extLst>
      <p:ext uri="{BB962C8B-B14F-4D97-AF65-F5344CB8AC3E}">
        <p14:creationId xmlns:p14="http://schemas.microsoft.com/office/powerpoint/2010/main" val="395720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6</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问题域中的“事物”</a:t>
            </a:r>
            <a:br>
              <a:rPr lang="zh-CN" altLang="en-US" dirty="0"/>
            </a:br>
            <a:r>
              <a:rPr lang="zh-CN" altLang="en-US" dirty="0"/>
              <a:t>  </a:t>
            </a:r>
            <a:r>
              <a:rPr lang="zh-CN" altLang="en-US" b="0" i="0" dirty="0">
                <a:solidFill>
                  <a:srgbClr val="2A2B2E"/>
                </a:solidFill>
                <a:effectLst/>
                <a:latin typeface="PingFang SC"/>
              </a:rPr>
              <a:t>数据实体</a:t>
            </a:r>
            <a:br>
              <a:rPr lang="zh-CN" altLang="en-US" dirty="0"/>
            </a:br>
            <a:r>
              <a:rPr lang="zh-CN" altLang="en-US" dirty="0"/>
              <a:t>  </a:t>
            </a:r>
            <a:r>
              <a:rPr lang="zh-CN" altLang="en-US" b="0" i="0" dirty="0">
                <a:solidFill>
                  <a:srgbClr val="2A2B2E"/>
                </a:solidFill>
                <a:effectLst/>
                <a:latin typeface="PingFang SC"/>
              </a:rPr>
              <a:t>域类</a:t>
            </a:r>
          </a:p>
        </p:txBody>
      </p:sp>
    </p:spTree>
    <p:extLst>
      <p:ext uri="{BB962C8B-B14F-4D97-AF65-F5344CB8AC3E}">
        <p14:creationId xmlns:p14="http://schemas.microsoft.com/office/powerpoint/2010/main" val="427458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问题域</a:t>
            </a:r>
            <a:r>
              <a:rPr lang="en-US" altLang="zh-CN" b="0" i="0" dirty="0">
                <a:solidFill>
                  <a:srgbClr val="2A2B2E"/>
                </a:solidFill>
                <a:effectLst/>
                <a:latin typeface="PingFang SC"/>
              </a:rPr>
              <a:t>—</a:t>
            </a:r>
            <a:r>
              <a:rPr lang="zh-CN" altLang="en-US" b="0" i="0" dirty="0">
                <a:solidFill>
                  <a:srgbClr val="2A2B2E"/>
                </a:solidFill>
                <a:effectLst/>
                <a:latin typeface="PingFang SC"/>
              </a:rPr>
              <a:t>在新系统范围内的用户业务需求的特定区域</a:t>
            </a:r>
            <a:r>
              <a:rPr lang="en-US" altLang="zh-CN" b="0" i="0" dirty="0">
                <a:solidFill>
                  <a:srgbClr val="2A2B2E"/>
                </a:solidFill>
                <a:effectLst/>
                <a:latin typeface="PingFang SC"/>
              </a:rPr>
              <a:t>(</a:t>
            </a:r>
            <a:r>
              <a:rPr lang="zh-CN" altLang="en-US" b="0" i="0" dirty="0">
                <a:solidFill>
                  <a:srgbClr val="2A2B2E"/>
                </a:solidFill>
                <a:effectLst/>
                <a:latin typeface="PingFang SC"/>
              </a:rPr>
              <a:t>或领域</a:t>
            </a:r>
            <a:r>
              <a:rPr lang="en-US" altLang="zh-CN" b="0" i="0" dirty="0">
                <a:solidFill>
                  <a:srgbClr val="2A2B2E"/>
                </a:solidFill>
                <a:effectLst/>
                <a:latin typeface="PingFang SC"/>
              </a:rPr>
              <a:t>)</a:t>
            </a:r>
            <a:r>
              <a:rPr lang="zh-CN" altLang="en-US"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“事物”是用户在完成需要记住的任务时使用的项目</a:t>
            </a:r>
            <a:br>
              <a:rPr lang="zh-CN" altLang="en-US" dirty="0"/>
            </a:br>
            <a:r>
              <a:rPr lang="zh-CN" altLang="en-US" b="0" i="0" dirty="0">
                <a:solidFill>
                  <a:srgbClr val="2A2B2E"/>
                </a:solidFill>
                <a:effectLst/>
                <a:latin typeface="PingFang SC"/>
              </a:rPr>
              <a:t>   “事物”的例子有产品、销售、发货人、客户、发票、付款等。</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这些“事物”被建模为域类或数据实体</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在本课程中，我们将称它们为域类。在数据库类中，你称它们为数据实体</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a:t>
            </a:fld>
            <a:endParaRPr lang="en-US" altLang="zh-CN"/>
          </a:p>
        </p:txBody>
      </p:sp>
    </p:spTree>
    <p:extLst>
      <p:ext uri="{BB962C8B-B14F-4D97-AF65-F5344CB8AC3E}">
        <p14:creationId xmlns:p14="http://schemas.microsoft.com/office/powerpoint/2010/main" val="2292948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问题域</a:t>
            </a:r>
            <a:r>
              <a:rPr lang="en-US" altLang="zh-CN" b="0" i="0" dirty="0">
                <a:solidFill>
                  <a:srgbClr val="2A2B2E"/>
                </a:solidFill>
                <a:effectLst/>
                <a:latin typeface="PingFang SC"/>
              </a:rPr>
              <a:t>—</a:t>
            </a:r>
            <a:r>
              <a:rPr lang="zh-CN" altLang="en-US" b="0" i="0" dirty="0">
                <a:solidFill>
                  <a:srgbClr val="2A2B2E"/>
                </a:solidFill>
                <a:effectLst/>
                <a:latin typeface="PingFang SC"/>
              </a:rPr>
              <a:t>在新系统范围内的用户业务需求的特定区域</a:t>
            </a:r>
            <a:r>
              <a:rPr lang="en-US" altLang="zh-CN" b="0" i="0" dirty="0">
                <a:solidFill>
                  <a:srgbClr val="2A2B2E"/>
                </a:solidFill>
                <a:effectLst/>
                <a:latin typeface="PingFang SC"/>
              </a:rPr>
              <a:t>(</a:t>
            </a:r>
            <a:r>
              <a:rPr lang="zh-CN" altLang="en-US" b="0" i="0" dirty="0">
                <a:solidFill>
                  <a:srgbClr val="2A2B2E"/>
                </a:solidFill>
                <a:effectLst/>
                <a:latin typeface="PingFang SC"/>
              </a:rPr>
              <a:t>或领域</a:t>
            </a:r>
            <a:r>
              <a:rPr lang="en-US" altLang="zh-CN" b="0" i="0" dirty="0">
                <a:solidFill>
                  <a:srgbClr val="2A2B2E"/>
                </a:solidFill>
                <a:effectLst/>
                <a:latin typeface="PingFang SC"/>
              </a:rPr>
              <a:t>)</a:t>
            </a:r>
            <a:r>
              <a:rPr lang="zh-CN" altLang="en-US"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“事物”是用户在完成需要记住的任务时使用的项目</a:t>
            </a:r>
            <a:br>
              <a:rPr lang="zh-CN" altLang="en-US" dirty="0"/>
            </a:br>
            <a:r>
              <a:rPr lang="zh-CN" altLang="en-US" b="0" i="0" dirty="0">
                <a:solidFill>
                  <a:srgbClr val="2A2B2E"/>
                </a:solidFill>
                <a:effectLst/>
                <a:latin typeface="PingFang SC"/>
              </a:rPr>
              <a:t>   “事物”的例子有产品、销售、发货人、客户、发票、付款等。</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这些“事物”被建模为域类或数据实体</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在本课程中，我们将称它们为域类。在数据库类中，你称它们为数据实体</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8</a:t>
            </a:fld>
            <a:endParaRPr lang="en-US" altLang="zh-CN"/>
          </a:p>
        </p:txBody>
      </p:sp>
    </p:spTree>
    <p:extLst>
      <p:ext uri="{BB962C8B-B14F-4D97-AF65-F5344CB8AC3E}">
        <p14:creationId xmlns:p14="http://schemas.microsoft.com/office/powerpoint/2010/main" val="1534166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识别“事物”的两种技术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头脑风暴法</a:t>
            </a:r>
            <a:br>
              <a:rPr lang="zh-CN" altLang="en-US" dirty="0"/>
            </a:br>
            <a:r>
              <a:rPr lang="zh-CN" altLang="en-US" b="0" i="0" dirty="0">
                <a:solidFill>
                  <a:srgbClr val="2A2B2E"/>
                </a:solidFill>
                <a:effectLst/>
                <a:latin typeface="PingFang SC"/>
              </a:rPr>
              <a:t>    使用所有通常发现的事物类型的清单，并通过头脑风暴来确定每种类型的领域类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名词技术</a:t>
            </a:r>
            <a:br>
              <a:rPr lang="zh-CN" altLang="en-US" dirty="0"/>
            </a:br>
            <a:r>
              <a:rPr lang="zh-CN" altLang="en-US" b="0" i="0" dirty="0">
                <a:solidFill>
                  <a:srgbClr val="2A2B2E"/>
                </a:solidFill>
                <a:effectLst/>
                <a:latin typeface="PingFang SC"/>
              </a:rPr>
              <a:t>   识别在描述系统时出现的所有名词，并确定每个名词是一个领域类，一个属性，还是我们不需要记住的东西</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9</a:t>
            </a:fld>
            <a:endParaRPr lang="en-US" altLang="zh-CN"/>
          </a:p>
        </p:txBody>
      </p:sp>
    </p:spTree>
    <p:extLst>
      <p:ext uri="{BB962C8B-B14F-4D97-AF65-F5344CB8AC3E}">
        <p14:creationId xmlns:p14="http://schemas.microsoft.com/office/powerpoint/2010/main" val="2310810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头脑风暴技术步骤：</a:t>
            </a:r>
            <a:endParaRPr lang="en-US" altLang="zh-CN" dirty="0"/>
          </a:p>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10</a:t>
            </a:fld>
            <a:endParaRPr lang="en-US" altLang="zh-CN"/>
          </a:p>
        </p:txBody>
      </p:sp>
    </p:spTree>
    <p:extLst>
      <p:ext uri="{BB962C8B-B14F-4D97-AF65-F5344CB8AC3E}">
        <p14:creationId xmlns:p14="http://schemas.microsoft.com/office/powerpoint/2010/main" val="985018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头脑风暴技术步骤：</a:t>
            </a:r>
            <a:endParaRPr lang="en-US" altLang="zh-CN" dirty="0"/>
          </a:p>
          <a:p>
            <a:pPr marL="0" indent="0">
              <a:buNone/>
            </a:pPr>
            <a:r>
              <a:rPr lang="en-US" altLang="zh-CN" dirty="0"/>
              <a:t>4. </a:t>
            </a:r>
            <a:r>
              <a:rPr lang="zh-CN" altLang="en-US" dirty="0"/>
              <a:t>继续与各种类型的用户和利益相关者工作，以此来扩大头脑风暴列表</a:t>
            </a:r>
            <a:endParaRPr lang="en-US" altLang="zh-CN" dirty="0"/>
          </a:p>
          <a:p>
            <a:pPr marL="0" indent="0">
              <a:buNone/>
            </a:pPr>
            <a:r>
              <a:rPr lang="en-US" altLang="zh-CN" dirty="0"/>
              <a:t>5. </a:t>
            </a: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11</a:t>
            </a:fld>
            <a:endParaRPr lang="en-US" altLang="zh-CN"/>
          </a:p>
        </p:txBody>
      </p:sp>
    </p:spTree>
    <p:extLst>
      <p:ext uri="{BB962C8B-B14F-4D97-AF65-F5344CB8AC3E}">
        <p14:creationId xmlns:p14="http://schemas.microsoft.com/office/powerpoint/2010/main" val="3614681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12</a:t>
            </a:fld>
            <a:endParaRPr lang="en-US" altLang="zh-CN"/>
          </a:p>
        </p:txBody>
      </p:sp>
    </p:spTree>
    <p:extLst>
      <p:ext uri="{BB962C8B-B14F-4D97-AF65-F5344CB8AC3E}">
        <p14:creationId xmlns:p14="http://schemas.microsoft.com/office/powerpoint/2010/main" val="1000886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a:p>
            <a:pPr marL="228600" indent="-228600">
              <a:buAutoNum type="arabicPeriod"/>
            </a:pPr>
            <a:r>
              <a:rPr lang="zh-CN" altLang="en-US" dirty="0"/>
              <a:t>坚持与各种类型的用户和利益相关者工作，一次来扩大头脑风暴列表</a:t>
            </a:r>
            <a:endParaRPr lang="en-US" altLang="zh-CN" dirty="0"/>
          </a:p>
          <a:p>
            <a:pPr marL="228600" indent="-228600">
              <a:buAutoNum type="arabicPeriod"/>
            </a:pP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13</a:t>
            </a:fld>
            <a:endParaRPr lang="en-US" altLang="zh-CN"/>
          </a:p>
        </p:txBody>
      </p:sp>
    </p:spTree>
    <p:extLst>
      <p:ext uri="{BB962C8B-B14F-4D97-AF65-F5344CB8AC3E}">
        <p14:creationId xmlns:p14="http://schemas.microsoft.com/office/powerpoint/2010/main" val="2700865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a:p>
            <a:pPr marL="228600" indent="-228600">
              <a:buAutoNum type="arabicPeriod"/>
            </a:pPr>
            <a:r>
              <a:rPr lang="zh-CN" altLang="en-US" dirty="0"/>
              <a:t>坚持与各种类型的用户和利益相关者工作，一次来扩大头脑风暴列表</a:t>
            </a:r>
            <a:endParaRPr lang="en-US" altLang="zh-CN" dirty="0"/>
          </a:p>
          <a:p>
            <a:pPr marL="228600" indent="-228600">
              <a:buAutoNum type="arabicPeriod"/>
            </a:pP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14</a:t>
            </a:fld>
            <a:endParaRPr lang="en-US" altLang="zh-CN"/>
          </a:p>
        </p:txBody>
      </p:sp>
    </p:spTree>
    <p:extLst>
      <p:ext uri="{BB962C8B-B14F-4D97-AF65-F5344CB8AC3E}">
        <p14:creationId xmlns:p14="http://schemas.microsoft.com/office/powerpoint/2010/main" val="677985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a:p>
            <a:pPr marL="228600" indent="-228600">
              <a:buAutoNum type="arabicPeriod"/>
            </a:pPr>
            <a:r>
              <a:rPr lang="zh-CN" altLang="en-US" dirty="0"/>
              <a:t>坚持与各种类型的用户和利益相关者工作，一次来扩大头脑风暴列表</a:t>
            </a:r>
            <a:endParaRPr lang="en-US" altLang="zh-CN" dirty="0"/>
          </a:p>
          <a:p>
            <a:pPr marL="228600" indent="-228600">
              <a:buAutoNum type="arabicPeriod"/>
            </a:pP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15</a:t>
            </a:fld>
            <a:endParaRPr lang="en-US" altLang="zh-CN"/>
          </a:p>
        </p:txBody>
      </p:sp>
    </p:spTree>
    <p:extLst>
      <p:ext uri="{BB962C8B-B14F-4D97-AF65-F5344CB8AC3E}">
        <p14:creationId xmlns:p14="http://schemas.microsoft.com/office/powerpoint/2010/main" val="2996515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16</a:t>
            </a:fld>
            <a:endParaRPr lang="en-US" altLang="zh-CN"/>
          </a:p>
        </p:txBody>
      </p:sp>
    </p:spTree>
    <p:extLst>
      <p:ext uri="{BB962C8B-B14F-4D97-AF65-F5344CB8AC3E}">
        <p14:creationId xmlns:p14="http://schemas.microsoft.com/office/powerpoint/2010/main" val="1493354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名词技术：</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一种通过查找、分类和精炼讨论或文档中出现的名词列表来识别问题领域类</a:t>
            </a:r>
            <a:r>
              <a:rPr lang="en-US" altLang="zh-CN" b="0" i="0" dirty="0">
                <a:solidFill>
                  <a:srgbClr val="2A2B2E"/>
                </a:solidFill>
                <a:effectLst/>
                <a:latin typeface="PingFang SC"/>
              </a:rPr>
              <a:t>(</a:t>
            </a:r>
            <a:r>
              <a:rPr lang="zh-CN" altLang="en-US" b="0" i="0" dirty="0">
                <a:solidFill>
                  <a:srgbClr val="2A2B2E"/>
                </a:solidFill>
                <a:effectLst/>
                <a:latin typeface="PingFang SC"/>
              </a:rPr>
              <a:t>事物</a:t>
            </a:r>
            <a:r>
              <a:rPr lang="en-US" altLang="zh-CN" b="0" i="0" dirty="0">
                <a:solidFill>
                  <a:srgbClr val="2A2B2E"/>
                </a:solidFill>
                <a:effectLst/>
                <a:latin typeface="PingFang SC"/>
              </a:rPr>
              <a:t>)</a:t>
            </a:r>
            <a:r>
              <a:rPr lang="zh-CN" altLang="en-US" b="0" i="0" dirty="0">
                <a:solidFill>
                  <a:srgbClr val="2A2B2E"/>
                </a:solidFill>
                <a:effectLst/>
                <a:latin typeface="PingFang SC"/>
              </a:rPr>
              <a:t>的技术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流行的技术。系统的。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当没有用户可以帮助进行头脑风暴时，这是一个很好的开始</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17</a:t>
            </a:fld>
            <a:endParaRPr lang="en-US" altLang="zh-CN"/>
          </a:p>
        </p:txBody>
      </p:sp>
    </p:spTree>
    <p:extLst>
      <p:ext uri="{BB962C8B-B14F-4D97-AF65-F5344CB8AC3E}">
        <p14:creationId xmlns:p14="http://schemas.microsoft.com/office/powerpoint/2010/main" val="3370163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名词技术步骤：</a:t>
            </a:r>
            <a:endParaRPr lang="en-US" altLang="zh-CN" dirty="0"/>
          </a:p>
          <a:p>
            <a:pPr marL="228600" indent="-228600">
              <a:buAutoNum type="arabicPeriod"/>
            </a:pPr>
            <a:r>
              <a:rPr lang="zh-CN" altLang="en-US" dirty="0"/>
              <a:t>运用用例、参与者和其他系统信息（包括输入</a:t>
            </a:r>
            <a:r>
              <a:rPr lang="en-US" altLang="zh-CN" dirty="0"/>
              <a:t>/</a:t>
            </a:r>
            <a:r>
              <a:rPr lang="zh-CN" altLang="en-US" dirty="0"/>
              <a:t>输出）来确定所有名词。</a:t>
            </a:r>
            <a:endParaRPr lang="en-US" altLang="zh-CN" dirty="0"/>
          </a:p>
          <a:p>
            <a:pPr marL="0" indent="0">
              <a:buNone/>
            </a:pPr>
            <a:r>
              <a:rPr lang="zh-CN" altLang="en-US" dirty="0"/>
              <a:t>   对于</a:t>
            </a:r>
            <a:r>
              <a:rPr lang="en-US" altLang="zh-CN" dirty="0"/>
              <a:t>RMO </a:t>
            </a:r>
            <a:r>
              <a:rPr lang="en-US" altLang="zh-CN" dirty="0" err="1"/>
              <a:t>csmS</a:t>
            </a:r>
            <a:r>
              <a:rPr lang="zh-CN" altLang="en-US" dirty="0"/>
              <a:t>，名词可能包括客户、产品、销售、确认、交易、运输、银行、变更请求、汇总报告、管理、交易报告、会计、退货、退货通知、退货确认</a:t>
            </a:r>
            <a:endParaRPr lang="en-US" altLang="zh-CN" dirty="0"/>
          </a:p>
          <a:p>
            <a:pPr marL="0" indent="0">
              <a:buNone/>
            </a:pPr>
            <a:r>
              <a:rPr lang="en-US" altLang="zh-CN" dirty="0"/>
              <a:t>  </a:t>
            </a:r>
          </a:p>
          <a:p>
            <a:pPr marL="0" indent="0">
              <a:buNone/>
            </a:pPr>
            <a:r>
              <a:rPr lang="en-US" altLang="zh-CN" dirty="0"/>
              <a:t>2. </a:t>
            </a:r>
            <a:r>
              <a:rPr lang="zh-CN" altLang="en-US" dirty="0"/>
              <a:t>运用现有系统、当前的程序、报告或表格中的其他信息，添加所需信息的条款或目录</a:t>
            </a:r>
            <a:endParaRPr lang="en-US" altLang="zh-CN" dirty="0"/>
          </a:p>
          <a:p>
            <a:pPr marL="0" indent="0">
              <a:buNone/>
            </a:pPr>
            <a:r>
              <a:rPr lang="zh-CN" altLang="en-US" b="0" i="0" dirty="0">
                <a:solidFill>
                  <a:srgbClr val="2A2B2E"/>
                </a:solidFill>
                <a:effectLst/>
                <a:latin typeface="PingFang SC"/>
              </a:rPr>
              <a:t>  对于</a:t>
            </a:r>
            <a:r>
              <a:rPr lang="en-US" altLang="zh-CN" b="0" i="0" dirty="0">
                <a:solidFill>
                  <a:srgbClr val="2A2B2E"/>
                </a:solidFill>
                <a:effectLst/>
                <a:latin typeface="PingFang SC"/>
              </a:rPr>
              <a:t>RMO </a:t>
            </a:r>
            <a:r>
              <a:rPr lang="en-US" altLang="zh-CN" b="0" i="0" dirty="0" err="1">
                <a:solidFill>
                  <a:srgbClr val="2A2B2E"/>
                </a:solidFill>
                <a:effectLst/>
                <a:latin typeface="PingFang SC"/>
              </a:rPr>
              <a:t>csm</a:t>
            </a:r>
            <a:r>
              <a:rPr lang="zh-CN" altLang="en-US" b="0" i="0" dirty="0">
                <a:solidFill>
                  <a:srgbClr val="2A2B2E"/>
                </a:solidFill>
                <a:effectLst/>
                <a:latin typeface="PingFang SC"/>
              </a:rPr>
              <a:t>，这些可能包括价格、尺寸、颜色、风格、季节、库存数量、付款方式和送货地址。</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18</a:t>
            </a:fld>
            <a:endParaRPr lang="en-US" altLang="zh-CN"/>
          </a:p>
        </p:txBody>
      </p:sp>
    </p:spTree>
    <p:extLst>
      <p:ext uri="{BB962C8B-B14F-4D97-AF65-F5344CB8AC3E}">
        <p14:creationId xmlns:p14="http://schemas.microsoft.com/office/powerpoint/2010/main" val="28029555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3. </a:t>
            </a:r>
            <a:r>
              <a:rPr lang="zh-CN" altLang="en-US" dirty="0"/>
              <a:t>这份名词列表建立完成后，你需要进行修改。针对每个每个名词问一下这些问题能帮助你决定是否应该保留：</a:t>
            </a:r>
            <a:endParaRPr lang="en-US" altLang="zh-CN" dirty="0"/>
          </a:p>
          <a:p>
            <a:r>
              <a:rPr lang="en-US" altLang="zh-CN" dirty="0"/>
              <a:t>    </a:t>
            </a:r>
            <a:r>
              <a:rPr lang="zh-CN" altLang="en-US" dirty="0"/>
              <a:t>这是系统需要了解的独特的事物吗？（飞机有公司，高铁没有公司）</a:t>
            </a:r>
            <a:endParaRPr lang="en-US" altLang="zh-CN" dirty="0"/>
          </a:p>
          <a:p>
            <a:r>
              <a:rPr lang="en-US" altLang="zh-CN" dirty="0"/>
              <a:t>    </a:t>
            </a:r>
            <a:r>
              <a:rPr lang="zh-CN" altLang="en-US" dirty="0"/>
              <a:t>这个事物是在我处理的系统范围之内吗？（产品的材质）</a:t>
            </a:r>
            <a:endParaRPr lang="en-US" altLang="zh-CN" dirty="0"/>
          </a:p>
          <a:p>
            <a:endParaRPr lang="en-US" altLang="zh-CN" dirty="0"/>
          </a:p>
          <a:p>
            <a:r>
              <a:rPr lang="zh-CN" altLang="en-US" dirty="0"/>
              <a:t>问一下这些问题能帮助你决定是否应该排除：</a:t>
            </a:r>
            <a:endParaRPr lang="en-US" altLang="zh-CN" dirty="0"/>
          </a:p>
          <a:p>
            <a:r>
              <a:rPr lang="en-US" altLang="zh-CN" dirty="0"/>
              <a:t>    </a:t>
            </a:r>
            <a:r>
              <a:rPr lang="zh-CN" altLang="en-US" dirty="0"/>
              <a:t>这真的是我已经确认的其他事物的同义词吗？（银行客户、银行用户？）</a:t>
            </a:r>
            <a:endParaRPr lang="en-US" altLang="zh-CN" dirty="0"/>
          </a:p>
          <a:p>
            <a:r>
              <a:rPr lang="en-US" altLang="zh-CN" dirty="0"/>
              <a:t>    </a:t>
            </a:r>
            <a:r>
              <a:rPr lang="zh-CN" altLang="en-US" dirty="0"/>
              <a:t>这真的是从你已经定义的其他信息中产生的系统输出吗？（直接调用其他系统的输出）</a:t>
            </a:r>
            <a:endParaRPr lang="en-US" altLang="zh-CN" dirty="0"/>
          </a:p>
          <a:p>
            <a:r>
              <a:rPr lang="en-US" altLang="zh-CN" dirty="0"/>
              <a:t>    </a:t>
            </a:r>
            <a:r>
              <a:rPr lang="zh-CN" altLang="en-US" dirty="0"/>
              <a:t>这真的只是我已经定义的导致记录其他信息的输入吗？（用户信息？）</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19</a:t>
            </a:fld>
            <a:endParaRPr lang="en-US" altLang="zh-CN"/>
          </a:p>
        </p:txBody>
      </p:sp>
    </p:spTree>
    <p:extLst>
      <p:ext uri="{BB962C8B-B14F-4D97-AF65-F5344CB8AC3E}">
        <p14:creationId xmlns:p14="http://schemas.microsoft.com/office/powerpoint/2010/main" val="2055773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 </a:t>
            </a:r>
            <a:r>
              <a:rPr lang="zh-CN" altLang="en-US" dirty="0"/>
              <a:t>问一下这些问题能帮助你决定是否应该研究它：</a:t>
            </a:r>
            <a:endParaRPr lang="en-US" altLang="zh-CN" dirty="0"/>
          </a:p>
          <a:p>
            <a:r>
              <a:rPr lang="en-US" altLang="zh-CN" dirty="0"/>
              <a:t>    </a:t>
            </a:r>
            <a:r>
              <a:rPr lang="zh-CN" altLang="en-US" dirty="0"/>
              <a:t>这像是我已经确定的事务信息的更多特殊部分（称为属性）吗？（客户姓名）</a:t>
            </a:r>
            <a:endParaRPr lang="en-US" altLang="zh-CN" dirty="0"/>
          </a:p>
          <a:p>
            <a:r>
              <a:rPr lang="en-US" altLang="zh-CN" dirty="0"/>
              <a:t>    </a:t>
            </a:r>
            <a:r>
              <a:rPr lang="zh-CN" altLang="en-US" dirty="0"/>
              <a:t>如果属性变了我会需要这些事物吗？（用户名改成手机号登录）</a:t>
            </a:r>
            <a:endParaRPr lang="en-US" altLang="zh-CN" dirty="0"/>
          </a:p>
          <a:p>
            <a:endParaRPr lang="en-US" altLang="zh-CN" dirty="0"/>
          </a:p>
          <a:p>
            <a:r>
              <a:rPr lang="en-US" altLang="zh-CN" dirty="0"/>
              <a:t>4. </a:t>
            </a:r>
            <a:r>
              <a:rPr lang="zh-CN" altLang="en-US" dirty="0"/>
              <a:t>创建所有已确认名词的主要列表，然后注意每个名词是否要保留、排除或是研究。</a:t>
            </a:r>
            <a:endParaRPr lang="en-US" altLang="zh-CN" dirty="0"/>
          </a:p>
          <a:p>
            <a:r>
              <a:rPr lang="en-US" altLang="zh-CN" dirty="0"/>
              <a:t>5. </a:t>
            </a:r>
            <a:r>
              <a:rPr lang="zh-CN" altLang="en-US" dirty="0"/>
              <a:t>与用户、利益相关者和团队成员一起评审，然后修改问题域中的事物列表。</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20</a:t>
            </a:fld>
            <a:endParaRPr lang="en-US" altLang="zh-CN"/>
          </a:p>
        </p:txBody>
      </p:sp>
    </p:spTree>
    <p:extLst>
      <p:ext uri="{BB962C8B-B14F-4D97-AF65-F5344CB8AC3E}">
        <p14:creationId xmlns:p14="http://schemas.microsoft.com/office/powerpoint/2010/main" val="2330287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RMO</a:t>
            </a:r>
            <a:r>
              <a:rPr lang="zh-CN" altLang="en-US" b="0" i="0" dirty="0">
                <a:solidFill>
                  <a:srgbClr val="2A2B2E"/>
                </a:solidFill>
                <a:effectLst/>
                <a:latin typeface="PingFang SC"/>
              </a:rPr>
              <a:t>的部分名词表（包含是否作为域类包含的注释）</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返回订单：一种特殊订单，是否是订单的一种状态？</a:t>
            </a:r>
            <a:endParaRPr lang="en-US" altLang="zh-CN" dirty="0"/>
          </a:p>
          <a:p>
            <a:endParaRPr lang="en-US" altLang="zh-CN" dirty="0"/>
          </a:p>
          <a:p>
            <a:r>
              <a:rPr lang="zh-CN" altLang="en-US" dirty="0"/>
              <a:t>信用卡信息：是否是订单的一部分？是否是客户信息的一部分？</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21</a:t>
            </a:fld>
            <a:endParaRPr lang="en-US" altLang="zh-CN"/>
          </a:p>
        </p:txBody>
      </p:sp>
    </p:spTree>
    <p:extLst>
      <p:ext uri="{BB962C8B-B14F-4D97-AF65-F5344CB8AC3E}">
        <p14:creationId xmlns:p14="http://schemas.microsoft.com/office/powerpoint/2010/main" val="39804449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关于域类的详细信息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属性</a:t>
            </a:r>
            <a:r>
              <a:rPr lang="en-US" altLang="zh-CN" b="0" i="0" dirty="0">
                <a:solidFill>
                  <a:srgbClr val="2A2B2E"/>
                </a:solidFill>
                <a:effectLst/>
                <a:latin typeface="PingFang SC"/>
              </a:rPr>
              <a:t>——</a:t>
            </a:r>
            <a:r>
              <a:rPr lang="zh-CN" altLang="en-US" b="0" i="0" dirty="0">
                <a:solidFill>
                  <a:srgbClr val="2A2B2E"/>
                </a:solidFill>
                <a:effectLst/>
                <a:latin typeface="PingFang SC"/>
              </a:rPr>
              <a:t>描述类的每个实例的一条信息</a:t>
            </a:r>
            <a:br>
              <a:rPr lang="zh-CN" altLang="en-US" dirty="0"/>
            </a:br>
            <a:r>
              <a:rPr lang="zh-CN" altLang="en-US" dirty="0"/>
              <a:t>    </a:t>
            </a:r>
            <a:r>
              <a:rPr lang="zh-CN" altLang="en-US" b="0" i="0" dirty="0">
                <a:solidFill>
                  <a:srgbClr val="2A2B2E"/>
                </a:solidFill>
                <a:effectLst/>
                <a:latin typeface="PingFang SC"/>
              </a:rPr>
              <a:t>客户有名字，姓氏，电话号码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标识符或键</a:t>
            </a:r>
            <a:br>
              <a:rPr lang="zh-CN" altLang="en-US" dirty="0"/>
            </a:br>
            <a:r>
              <a:rPr lang="zh-CN" altLang="en-US" dirty="0"/>
              <a:t>    </a:t>
            </a:r>
            <a:r>
              <a:rPr lang="zh-CN" altLang="en-US" b="0" i="0" dirty="0">
                <a:solidFill>
                  <a:srgbClr val="2A2B2E"/>
                </a:solidFill>
                <a:effectLst/>
                <a:latin typeface="PingFang SC"/>
              </a:rPr>
              <a:t>一个属性唯一地标识类的实例。数据实体必需，域类可选。客户</a:t>
            </a:r>
            <a:r>
              <a:rPr lang="en-US" altLang="zh-CN" b="0" i="0" dirty="0">
                <a:solidFill>
                  <a:srgbClr val="2A2B2E"/>
                </a:solidFill>
                <a:effectLst/>
                <a:latin typeface="PingFang SC"/>
              </a:rPr>
              <a:t>ID</a:t>
            </a:r>
            <a:r>
              <a:rPr lang="zh-CN" altLang="en-US" b="0" i="0" dirty="0">
                <a:solidFill>
                  <a:srgbClr val="2A2B2E"/>
                </a:solidFill>
                <a:effectLst/>
                <a:latin typeface="PingFang SC"/>
              </a:rPr>
              <a:t>标识客户</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复合属性</a:t>
            </a:r>
            <a:br>
              <a:rPr lang="zh-CN" altLang="en-US" dirty="0"/>
            </a:br>
            <a:r>
              <a:rPr lang="zh-CN" altLang="en-US" dirty="0"/>
              <a:t>   </a:t>
            </a:r>
            <a:r>
              <a:rPr lang="zh-CN" altLang="en-US" b="0" i="0" dirty="0">
                <a:solidFill>
                  <a:srgbClr val="2A2B2E"/>
                </a:solidFill>
                <a:effectLst/>
                <a:latin typeface="PingFang SC"/>
              </a:rPr>
              <a:t>将两个或多个属性组合成一个结构以简化模型。</a:t>
            </a:r>
            <a:r>
              <a:rPr lang="en-US" altLang="zh-CN" b="0" i="0" dirty="0">
                <a:solidFill>
                  <a:srgbClr val="2A2B2E"/>
                </a:solidFill>
                <a:effectLst/>
                <a:latin typeface="PingFang SC"/>
              </a:rPr>
              <a:t>(</a:t>
            </a:r>
            <a:r>
              <a:rPr lang="zh-CN" altLang="en-US" b="0" i="0" dirty="0">
                <a:solidFill>
                  <a:srgbClr val="2A2B2E"/>
                </a:solidFill>
                <a:effectLst/>
                <a:latin typeface="PingFang SC"/>
              </a:rPr>
              <a:t>例如，地址而不包括号码、街道、城市、州、邮政编码</a:t>
            </a:r>
            <a:r>
              <a:rPr lang="en-US" altLang="zh-CN" b="0" i="0" dirty="0">
                <a:solidFill>
                  <a:srgbClr val="2A2B2E"/>
                </a:solidFill>
                <a:effectLst/>
                <a:latin typeface="PingFang SC"/>
              </a:rPr>
              <a:t>)</a:t>
            </a:r>
            <a:r>
              <a:rPr lang="zh-CN" altLang="en-US" b="0" i="0" dirty="0">
                <a:solidFill>
                  <a:srgbClr val="2A2B2E"/>
                </a:solidFill>
                <a:effectLst/>
                <a:latin typeface="PingFang SC"/>
              </a:rPr>
              <a:t>。有时标识符或键是复合属性。</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22</a:t>
            </a:fld>
            <a:endParaRPr lang="en-US" altLang="zh-CN"/>
          </a:p>
        </p:txBody>
      </p:sp>
    </p:spTree>
    <p:extLst>
      <p:ext uri="{BB962C8B-B14F-4D97-AF65-F5344CB8AC3E}">
        <p14:creationId xmlns:p14="http://schemas.microsoft.com/office/powerpoint/2010/main" val="495352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属性和值：</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类是一种“事物”类型。</a:t>
            </a:r>
            <a:endParaRPr lang="en-US" altLang="zh-CN" b="0" i="0" dirty="0">
              <a:solidFill>
                <a:srgbClr val="2A2B2E"/>
              </a:solidFill>
              <a:effectLst/>
              <a:latin typeface="PingFang SC"/>
            </a:endParaRPr>
          </a:p>
          <a:p>
            <a:r>
              <a:rPr lang="zh-CN" altLang="en-US" b="0" i="0" dirty="0">
                <a:solidFill>
                  <a:srgbClr val="2A2B2E"/>
                </a:solidFill>
                <a:effectLst/>
                <a:latin typeface="PingFang SC"/>
              </a:rPr>
              <a:t>对象是类的特定实例。每个实例都有自己的属性值</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23</a:t>
            </a:fld>
            <a:endParaRPr lang="en-US" altLang="zh-CN"/>
          </a:p>
        </p:txBody>
      </p:sp>
    </p:spTree>
    <p:extLst>
      <p:ext uri="{BB962C8B-B14F-4D97-AF65-F5344CB8AC3E}">
        <p14:creationId xmlns:p14="http://schemas.microsoft.com/office/powerpoint/2010/main" val="9440456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24</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实体</a:t>
            </a:r>
            <a:r>
              <a:rPr lang="en-US" altLang="zh-CN" b="0" i="0" dirty="0">
                <a:solidFill>
                  <a:srgbClr val="2A2B2E"/>
                </a:solidFill>
                <a:effectLst/>
                <a:latin typeface="PingFang SC"/>
              </a:rPr>
              <a:t>-</a:t>
            </a:r>
            <a:r>
              <a:rPr lang="zh-CN" altLang="en-US" b="0" i="0" dirty="0">
                <a:solidFill>
                  <a:srgbClr val="2A2B2E"/>
                </a:solidFill>
                <a:effectLst/>
                <a:latin typeface="PingFang SC"/>
              </a:rPr>
              <a:t>关系图</a:t>
            </a:r>
          </a:p>
        </p:txBody>
      </p:sp>
    </p:spTree>
    <p:extLst>
      <p:ext uri="{BB962C8B-B14F-4D97-AF65-F5344CB8AC3E}">
        <p14:creationId xmlns:p14="http://schemas.microsoft.com/office/powerpoint/2010/main" val="37887622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关联</a:t>
            </a:r>
            <a:r>
              <a:rPr lang="en-US" altLang="zh-CN" b="0" i="0" dirty="0">
                <a:solidFill>
                  <a:srgbClr val="2A2B2E"/>
                </a:solidFill>
                <a:effectLst/>
                <a:latin typeface="PingFang SC"/>
              </a:rPr>
              <a:t>——</a:t>
            </a:r>
            <a:r>
              <a:rPr lang="zh-CN" altLang="en-US" b="0" i="0" dirty="0">
                <a:solidFill>
                  <a:srgbClr val="2A2B2E"/>
                </a:solidFill>
                <a:effectLst/>
                <a:latin typeface="PingFang SC"/>
              </a:rPr>
              <a:t>类之间自然发生的关系</a:t>
            </a:r>
            <a:r>
              <a:rPr lang="en-US" altLang="zh-CN" b="0" i="0" dirty="0">
                <a:solidFill>
                  <a:srgbClr val="2A2B2E"/>
                </a:solidFill>
                <a:effectLst/>
                <a:latin typeface="PingFang SC"/>
              </a:rPr>
              <a:t>(UML</a:t>
            </a:r>
            <a:r>
              <a:rPr lang="zh-CN" altLang="en-US" b="0" i="0" dirty="0">
                <a:solidFill>
                  <a:srgbClr val="2A2B2E"/>
                </a:solidFill>
                <a:effectLst/>
                <a:latin typeface="PingFang SC"/>
              </a:rPr>
              <a:t>术语</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25</a:t>
            </a:fld>
            <a:endParaRPr lang="en-US" altLang="zh-CN"/>
          </a:p>
        </p:txBody>
      </p:sp>
    </p:spTree>
    <p:extLst>
      <p:ext uri="{BB962C8B-B14F-4D97-AF65-F5344CB8AC3E}">
        <p14:creationId xmlns:p14="http://schemas.microsoft.com/office/powerpoint/2010/main" val="2397747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在本课中，称为重数（</a:t>
            </a:r>
            <a:r>
              <a:rPr lang="en-US" altLang="zh-CN" dirty="0"/>
              <a:t>association</a:t>
            </a:r>
            <a:r>
              <a:rPr lang="zh-CN" altLang="en-US" dirty="0"/>
              <a:t>）</a:t>
            </a:r>
            <a:endParaRPr lang="en-US" altLang="zh-CN" dirty="0"/>
          </a:p>
          <a:p>
            <a:r>
              <a:rPr lang="zh-CN" altLang="en-US" dirty="0"/>
              <a:t>在数据库中，称为基数（</a:t>
            </a:r>
            <a:r>
              <a:rPr lang="en-US" altLang="zh-CN" dirty="0"/>
              <a:t>relationship</a:t>
            </a:r>
            <a:r>
              <a:rPr lang="zh-CN" altLang="en-US" dirty="0"/>
              <a:t>）</a:t>
            </a:r>
            <a:endParaRPr lang="en-US" altLang="zh-CN" dirty="0"/>
          </a:p>
          <a:p>
            <a:endParaRPr lang="en-US" altLang="zh-CN" dirty="0"/>
          </a:p>
          <a:p>
            <a:pPr algn="l"/>
            <a:r>
              <a:rPr lang="zh-CN" altLang="en-US" b="0" i="0" dirty="0">
                <a:solidFill>
                  <a:srgbClr val="2A2B2E"/>
                </a:solidFill>
                <a:effectLst/>
                <a:latin typeface="PingFang SC"/>
              </a:rPr>
              <a:t>在</a:t>
            </a:r>
            <a:r>
              <a:rPr lang="en-US" altLang="zh-CN" b="0" i="0" dirty="0">
                <a:solidFill>
                  <a:srgbClr val="2A2B2E"/>
                </a:solidFill>
                <a:effectLst/>
                <a:latin typeface="PingFang SC"/>
              </a:rPr>
              <a:t>UML</a:t>
            </a:r>
            <a:r>
              <a:rPr lang="zh-CN" altLang="en-US" b="0" i="0" dirty="0">
                <a:solidFill>
                  <a:srgbClr val="2A2B2E"/>
                </a:solidFill>
                <a:effectLst/>
                <a:latin typeface="PingFang SC"/>
              </a:rPr>
              <a:t>中称为类图上的“重数”</a:t>
            </a:r>
            <a:br>
              <a:rPr lang="zh-CN" altLang="en-US" b="0" i="0" dirty="0">
                <a:solidFill>
                  <a:srgbClr val="2A2B2E"/>
                </a:solidFill>
                <a:effectLst/>
                <a:latin typeface="PingFang SC"/>
              </a:rPr>
            </a:br>
            <a:r>
              <a:rPr lang="zh-CN" altLang="en-US" b="0" i="0" dirty="0">
                <a:solidFill>
                  <a:srgbClr val="2A2B2E"/>
                </a:solidFill>
                <a:effectLst/>
                <a:latin typeface="PingFang SC"/>
              </a:rPr>
              <a:t>  多重性是类之间关联数量的术语</a:t>
            </a:r>
            <a:r>
              <a:rPr lang="en-US" altLang="zh-CN" b="0" i="0" dirty="0">
                <a:solidFill>
                  <a:srgbClr val="2A2B2E"/>
                </a:solidFill>
                <a:effectLst/>
                <a:latin typeface="PingFang SC"/>
              </a:rPr>
              <a:t>:1</a:t>
            </a:r>
            <a:r>
              <a:rPr lang="zh-CN" altLang="en-US" b="0" i="0" dirty="0">
                <a:solidFill>
                  <a:srgbClr val="2A2B2E"/>
                </a:solidFill>
                <a:effectLst/>
                <a:latin typeface="PingFang SC"/>
              </a:rPr>
              <a:t>对</a:t>
            </a:r>
            <a:r>
              <a:rPr lang="en-US" altLang="zh-CN" b="0" i="0" dirty="0">
                <a:solidFill>
                  <a:srgbClr val="2A2B2E"/>
                </a:solidFill>
                <a:effectLst/>
                <a:latin typeface="PingFang SC"/>
              </a:rPr>
              <a:t>1</a:t>
            </a:r>
            <a:r>
              <a:rPr lang="zh-CN" altLang="en-US" b="0" i="0" dirty="0">
                <a:solidFill>
                  <a:srgbClr val="2A2B2E"/>
                </a:solidFill>
                <a:effectLst/>
                <a:latin typeface="PingFang SC"/>
              </a:rPr>
              <a:t>或</a:t>
            </a:r>
            <a:r>
              <a:rPr lang="en-US" altLang="zh-CN" b="0" i="0" dirty="0">
                <a:solidFill>
                  <a:srgbClr val="2A2B2E"/>
                </a:solidFill>
                <a:effectLst/>
                <a:latin typeface="PingFang SC"/>
              </a:rPr>
              <a:t>1</a:t>
            </a:r>
            <a:r>
              <a:rPr lang="zh-CN" altLang="en-US" b="0" i="0" dirty="0">
                <a:solidFill>
                  <a:srgbClr val="2A2B2E"/>
                </a:solidFill>
                <a:effectLst/>
                <a:latin typeface="PingFang SC"/>
              </a:rPr>
              <a:t>对多</a:t>
            </a:r>
            <a:br>
              <a:rPr lang="zh-CN" altLang="en-US" b="0" i="0" dirty="0">
                <a:solidFill>
                  <a:srgbClr val="2A2B2E"/>
                </a:solidFill>
                <a:effectLst/>
                <a:latin typeface="PingFang SC"/>
              </a:rPr>
            </a:b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在数据库中成为“基数”</a:t>
            </a:r>
            <a:br>
              <a:rPr lang="zh-CN" altLang="en-US" b="0" i="0" dirty="0">
                <a:solidFill>
                  <a:srgbClr val="2A2B2E"/>
                </a:solidFill>
                <a:effectLst/>
                <a:latin typeface="PingFang SC"/>
              </a:rPr>
            </a:br>
            <a:r>
              <a:rPr lang="zh-CN" altLang="en-US" b="0" i="0" dirty="0">
                <a:solidFill>
                  <a:srgbClr val="2A2B2E"/>
                </a:solidFill>
                <a:effectLst/>
                <a:latin typeface="PingFang SC"/>
              </a:rPr>
              <a:t>  基数是实体关系图中关系数量的术语</a:t>
            </a:r>
            <a:r>
              <a:rPr lang="en-US" altLang="zh-CN" b="0" i="0" dirty="0">
                <a:solidFill>
                  <a:srgbClr val="2A2B2E"/>
                </a:solidFill>
                <a:effectLst/>
                <a:latin typeface="PingFang SC"/>
              </a:rPr>
              <a:t>:1</a:t>
            </a:r>
            <a:r>
              <a:rPr lang="zh-CN" altLang="en-US" b="0" i="0" dirty="0">
                <a:solidFill>
                  <a:srgbClr val="2A2B2E"/>
                </a:solidFill>
                <a:effectLst/>
                <a:latin typeface="PingFang SC"/>
              </a:rPr>
              <a:t>对</a:t>
            </a:r>
            <a:r>
              <a:rPr lang="en-US" altLang="zh-CN" b="0" i="0" dirty="0">
                <a:solidFill>
                  <a:srgbClr val="2A2B2E"/>
                </a:solidFill>
                <a:effectLst/>
                <a:latin typeface="PingFang SC"/>
              </a:rPr>
              <a:t>1</a:t>
            </a:r>
            <a:r>
              <a:rPr lang="zh-CN" altLang="en-US" b="0" i="0" dirty="0">
                <a:solidFill>
                  <a:srgbClr val="2A2B2E"/>
                </a:solidFill>
                <a:effectLst/>
                <a:latin typeface="PingFang SC"/>
              </a:rPr>
              <a:t>或</a:t>
            </a:r>
            <a:r>
              <a:rPr lang="en-US" altLang="zh-CN" b="0" i="0" dirty="0">
                <a:solidFill>
                  <a:srgbClr val="2A2B2E"/>
                </a:solidFill>
                <a:effectLst/>
                <a:latin typeface="PingFang SC"/>
              </a:rPr>
              <a:t>1</a:t>
            </a:r>
            <a:r>
              <a:rPr lang="zh-CN" altLang="en-US" b="0" i="0" dirty="0">
                <a:solidFill>
                  <a:srgbClr val="2A2B2E"/>
                </a:solidFill>
                <a:effectLst/>
                <a:latin typeface="PingFang SC"/>
              </a:rPr>
              <a:t>对多</a:t>
            </a:r>
            <a:br>
              <a:rPr lang="zh-CN" altLang="en-US" b="0" i="0" dirty="0">
                <a:solidFill>
                  <a:srgbClr val="2A2B2E"/>
                </a:solidFill>
                <a:effectLst/>
                <a:latin typeface="PingFang SC"/>
              </a:rPr>
            </a:b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关联和关系是双向的</a:t>
            </a:r>
            <a:br>
              <a:rPr lang="zh-CN" altLang="en-US" b="0" i="0" dirty="0">
                <a:solidFill>
                  <a:srgbClr val="2A2B2E"/>
                </a:solidFill>
                <a:effectLst/>
                <a:latin typeface="PingFang SC"/>
              </a:rPr>
            </a:br>
            <a:r>
              <a:rPr lang="zh-CN" altLang="en-US" b="0" i="0" dirty="0">
                <a:solidFill>
                  <a:srgbClr val="2A2B2E"/>
                </a:solidFill>
                <a:effectLst/>
                <a:latin typeface="PingFang SC"/>
              </a:rPr>
              <a:t>   客户下订单</a:t>
            </a:r>
            <a:br>
              <a:rPr lang="zh-CN" altLang="en-US" b="0" i="0" dirty="0">
                <a:solidFill>
                  <a:srgbClr val="2A2B2E"/>
                </a:solidFill>
                <a:effectLst/>
                <a:latin typeface="PingFang SC"/>
              </a:rPr>
            </a:br>
            <a:r>
              <a:rPr lang="zh-CN" altLang="en-US" b="0" i="0" dirty="0">
                <a:solidFill>
                  <a:srgbClr val="2A2B2E"/>
                </a:solidFill>
                <a:effectLst/>
                <a:latin typeface="PingFang SC"/>
              </a:rPr>
              <a:t>   订单是由客户下的</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26</a:t>
            </a:fld>
            <a:endParaRPr lang="en-US" altLang="zh-CN"/>
          </a:p>
        </p:txBody>
      </p:sp>
    </p:spTree>
    <p:extLst>
      <p:ext uri="{BB962C8B-B14F-4D97-AF65-F5344CB8AC3E}">
        <p14:creationId xmlns:p14="http://schemas.microsoft.com/office/powerpoint/2010/main" val="32550568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最小和最大多重性</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关联有最小和最大约束</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最小为零，则关联是可选的</a:t>
            </a:r>
            <a:br>
              <a:rPr lang="zh-CN" altLang="en-US" dirty="0"/>
            </a:br>
            <a:r>
              <a:rPr lang="zh-CN" altLang="en-US" dirty="0"/>
              <a:t>    </a:t>
            </a:r>
            <a:r>
              <a:rPr lang="zh-CN" altLang="en-US" b="0" i="0" dirty="0">
                <a:solidFill>
                  <a:srgbClr val="2A2B2E"/>
                </a:solidFill>
                <a:effectLst/>
                <a:latin typeface="PingFang SC"/>
              </a:rPr>
              <a:t>如果最小至少为</a:t>
            </a:r>
            <a:r>
              <a:rPr lang="en-US" altLang="zh-CN" b="0" i="0" dirty="0">
                <a:solidFill>
                  <a:srgbClr val="2A2B2E"/>
                </a:solidFill>
                <a:effectLst/>
                <a:latin typeface="PingFang SC"/>
              </a:rPr>
              <a:t>1</a:t>
            </a:r>
            <a:r>
              <a:rPr lang="zh-CN" altLang="en-US" b="0" i="0" dirty="0">
                <a:solidFill>
                  <a:srgbClr val="2A2B2E"/>
                </a:solidFill>
                <a:effectLst/>
                <a:latin typeface="PingFang SC"/>
              </a:rPr>
              <a:t>，则该关联是强制性的</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27</a:t>
            </a:fld>
            <a:endParaRPr lang="en-US" altLang="zh-CN"/>
          </a:p>
        </p:txBody>
      </p:sp>
    </p:spTree>
    <p:extLst>
      <p:ext uri="{BB962C8B-B14F-4D97-AF65-F5344CB8AC3E}">
        <p14:creationId xmlns:p14="http://schemas.microsoft.com/office/powerpoint/2010/main" val="4028662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二元关系：两种不同事物之间的关系</a:t>
            </a:r>
            <a:endParaRPr lang="en-US" altLang="zh-CN" dirty="0"/>
          </a:p>
          <a:p>
            <a:pPr algn="l"/>
            <a:r>
              <a:rPr lang="zh-CN" altLang="en-US" b="0" i="0" dirty="0">
                <a:solidFill>
                  <a:srgbClr val="2A2B2E"/>
                </a:solidFill>
                <a:effectLst/>
                <a:latin typeface="PingFang SC"/>
              </a:rPr>
              <a:t>   课程组包括学生</a:t>
            </a:r>
            <a:br>
              <a:rPr lang="zh-CN" altLang="en-US" dirty="0"/>
            </a:br>
            <a:r>
              <a:rPr lang="zh-CN" altLang="en-US" dirty="0"/>
              <a:t>   </a:t>
            </a:r>
            <a:r>
              <a:rPr lang="zh-CN" altLang="en-US" b="0" i="0" dirty="0">
                <a:solidFill>
                  <a:srgbClr val="2A2B2E"/>
                </a:solidFill>
                <a:effectLst/>
                <a:latin typeface="PingFang SC"/>
              </a:rPr>
              <a:t>会员加入俱乐部</a:t>
            </a:r>
            <a:endParaRPr lang="en-US" altLang="zh-CN" b="0" i="0" dirty="0">
              <a:solidFill>
                <a:srgbClr val="2A2B2E"/>
              </a:solidFill>
              <a:effectLst/>
              <a:latin typeface="PingFang SC"/>
            </a:endParaRPr>
          </a:p>
          <a:p>
            <a:pPr algn="l"/>
            <a:endParaRPr lang="en-US" altLang="zh-CN" dirty="0"/>
          </a:p>
          <a:p>
            <a:r>
              <a:rPr lang="zh-CN" altLang="en-US" dirty="0"/>
              <a:t>一元关系（回归关系）：同一类型的两件不同事物间的关系</a:t>
            </a:r>
            <a:endParaRPr lang="en-US" altLang="zh-CN" dirty="0"/>
          </a:p>
          <a:p>
            <a:pPr algn="l"/>
            <a:r>
              <a:rPr lang="zh-CN" altLang="en-US" b="0" i="0" dirty="0">
                <a:solidFill>
                  <a:srgbClr val="2A2B2E"/>
                </a:solidFill>
                <a:effectLst/>
                <a:latin typeface="PingFang SC"/>
              </a:rPr>
              <a:t>   人与人结婚</a:t>
            </a:r>
          </a:p>
          <a:p>
            <a:r>
              <a:rPr lang="zh-CN" altLang="en-US" b="0" i="0" dirty="0">
                <a:solidFill>
                  <a:srgbClr val="2A2B2E"/>
                </a:solidFill>
                <a:effectLst/>
                <a:latin typeface="PingFang SC"/>
              </a:rPr>
              <a:t>   零件是用零件做成的</a:t>
            </a:r>
            <a:endParaRPr lang="en-US" altLang="zh-CN" dirty="0"/>
          </a:p>
          <a:p>
            <a:endParaRPr lang="en-US" altLang="zh-CN" dirty="0"/>
          </a:p>
          <a:p>
            <a:r>
              <a:rPr lang="zh-CN" altLang="en-US" dirty="0"/>
              <a:t>三元关系</a:t>
            </a:r>
            <a:endParaRPr lang="en-US" altLang="zh-CN" dirty="0"/>
          </a:p>
          <a:p>
            <a:r>
              <a:rPr lang="en-US" altLang="zh-CN" dirty="0"/>
              <a:t>N</a:t>
            </a:r>
            <a:r>
              <a:rPr lang="zh-CN" altLang="en-US" dirty="0"/>
              <a:t>元关系</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28</a:t>
            </a:fld>
            <a:endParaRPr lang="en-US" altLang="zh-CN"/>
          </a:p>
        </p:txBody>
      </p:sp>
    </p:spTree>
    <p:extLst>
      <p:ext uri="{BB962C8B-B14F-4D97-AF65-F5344CB8AC3E}">
        <p14:creationId xmlns:p14="http://schemas.microsoft.com/office/powerpoint/2010/main" val="8709850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实体</a:t>
            </a:r>
            <a:r>
              <a:rPr lang="en-US" altLang="zh-CN" b="0" i="0" dirty="0">
                <a:solidFill>
                  <a:srgbClr val="2A2B2E"/>
                </a:solidFill>
                <a:effectLst/>
                <a:latin typeface="PingFang SC"/>
              </a:rPr>
              <a:t>-</a:t>
            </a:r>
            <a:r>
              <a:rPr lang="zh-CN" altLang="en-US" b="0" i="0" dirty="0">
                <a:solidFill>
                  <a:srgbClr val="2A2B2E"/>
                </a:solidFill>
                <a:effectLst/>
                <a:latin typeface="PingFang SC"/>
              </a:rPr>
              <a:t>关系图例子：</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Entity-Relationship Diagram(ERD)</a:t>
            </a:r>
            <a:r>
              <a:rPr lang="zh-CN" altLang="en-US" b="0" i="0" dirty="0">
                <a:solidFill>
                  <a:srgbClr val="2A2B2E"/>
                </a:solidFill>
                <a:effectLst/>
                <a:latin typeface="PingFang SC"/>
              </a:rPr>
              <a:t>实体关系图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一个简单的</a:t>
            </a:r>
            <a:r>
              <a:rPr lang="en-US" altLang="zh-CN" b="0" i="0" dirty="0">
                <a:solidFill>
                  <a:srgbClr val="2A2B2E"/>
                </a:solidFill>
                <a:effectLst/>
                <a:latin typeface="PingFang SC"/>
              </a:rPr>
              <a:t>ERD</a:t>
            </a:r>
            <a:r>
              <a:rPr lang="zh-CN" altLang="en-US" b="0" i="0" dirty="0">
                <a:solidFill>
                  <a:srgbClr val="2A2B2E"/>
                </a:solidFill>
                <a:effectLst/>
                <a:latin typeface="PingFang SC"/>
              </a:rPr>
              <a:t>例子：不显示属性</a:t>
            </a:r>
            <a:endParaRPr lang="en-US" altLang="zh-CN" b="0" i="0" dirty="0">
              <a:solidFill>
                <a:srgbClr val="2A2B2E"/>
              </a:solidFill>
              <a:effectLst/>
              <a:latin typeface="PingFang SC"/>
            </a:endParaRPr>
          </a:p>
          <a:p>
            <a:pPr lvl="1" eaLnBrk="1" hangingPunct="1">
              <a:spcBef>
                <a:spcPct val="20000"/>
              </a:spcBef>
              <a:buClr>
                <a:schemeClr val="tx2"/>
              </a:buClr>
              <a:buSzPct val="70000"/>
              <a:buFont typeface="Wingdings" pitchFamily="2" charset="2"/>
              <a:buChar char="l"/>
            </a:pPr>
            <a:r>
              <a:rPr lang="zh-CN" altLang="en-US" sz="1200" dirty="0"/>
              <a:t>矩形：数据实体</a:t>
            </a:r>
            <a:endParaRPr lang="en-US" altLang="zh-CN" sz="1200" dirty="0"/>
          </a:p>
          <a:p>
            <a:pPr lvl="1" eaLnBrk="1" hangingPunct="1">
              <a:spcBef>
                <a:spcPct val="20000"/>
              </a:spcBef>
              <a:buClr>
                <a:schemeClr val="tx2"/>
              </a:buClr>
              <a:buSzPct val="70000"/>
              <a:buFont typeface="Wingdings" pitchFamily="2" charset="2"/>
              <a:buChar char="l"/>
            </a:pPr>
            <a:r>
              <a:rPr lang="zh-CN" altLang="en-US" sz="1200" dirty="0"/>
              <a:t>连接矩形的直线：数据实体之间的联系</a:t>
            </a:r>
            <a:endParaRPr lang="en-GB" altLang="zh-CN" sz="1200" dirty="0"/>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29</a:t>
            </a:fld>
            <a:endParaRPr lang="en-US" altLang="zh-CN"/>
          </a:p>
        </p:txBody>
      </p:sp>
    </p:spTree>
    <p:extLst>
      <p:ext uri="{BB962C8B-B14F-4D97-AF65-F5344CB8AC3E}">
        <p14:creationId xmlns:p14="http://schemas.microsoft.com/office/powerpoint/2010/main" val="21876144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语义网络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显示实例及其链接方式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示例显示了三个类的实例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快速测验：</a:t>
            </a:r>
            <a:endParaRPr lang="en-US" altLang="zh-CN" b="0" i="0" dirty="0">
              <a:solidFill>
                <a:srgbClr val="2A2B2E"/>
              </a:solidFill>
              <a:effectLst/>
              <a:latin typeface="PingFang SC"/>
            </a:endParaRPr>
          </a:p>
          <a:p>
            <a:r>
              <a:rPr lang="zh-CN" altLang="en-US" b="0" i="0" dirty="0">
                <a:solidFill>
                  <a:srgbClr val="2A2B2E"/>
                </a:solidFill>
                <a:effectLst/>
                <a:latin typeface="PingFang SC"/>
              </a:rPr>
              <a:t>有多少种关联</a:t>
            </a:r>
            <a:r>
              <a:rPr lang="en-US" altLang="zh-CN" b="0" i="0" dirty="0">
                <a:solidFill>
                  <a:srgbClr val="2A2B2E"/>
                </a:solidFill>
                <a:effectLst/>
                <a:latin typeface="PingFang SC"/>
              </a:rPr>
              <a:t>?</a:t>
            </a:r>
          </a:p>
          <a:p>
            <a:r>
              <a:rPr lang="zh-CN" altLang="en-US" b="0" i="0" dirty="0">
                <a:solidFill>
                  <a:srgbClr val="2A2B2E"/>
                </a:solidFill>
                <a:effectLst/>
                <a:latin typeface="PingFang SC"/>
              </a:rPr>
              <a:t>每个方向上的最小和最大多重度是多少</a:t>
            </a:r>
            <a:r>
              <a:rPr lang="en-US" altLang="zh-CN" b="0" i="0" dirty="0">
                <a:solidFill>
                  <a:srgbClr val="2A2B2E"/>
                </a:solidFill>
                <a:effectLst/>
                <a:latin typeface="PingFang SC"/>
              </a:rPr>
              <a:t>?</a:t>
            </a:r>
          </a:p>
          <a:p>
            <a:r>
              <a:rPr lang="zh-CN" altLang="en-US" b="0" i="0" dirty="0">
                <a:solidFill>
                  <a:srgbClr val="2A2B2E"/>
                </a:solidFill>
                <a:effectLst/>
                <a:latin typeface="PingFang SC"/>
              </a:rPr>
              <a:t>它们是什么类型的关联</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31</a:t>
            </a:fld>
            <a:endParaRPr lang="en-US" altLang="zh-CN"/>
          </a:p>
        </p:txBody>
      </p:sp>
    </p:spTree>
    <p:extLst>
      <p:ext uri="{BB962C8B-B14F-4D97-AF65-F5344CB8AC3E}">
        <p14:creationId xmlns:p14="http://schemas.microsoft.com/office/powerpoint/2010/main" val="3189178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它不是</a:t>
            </a:r>
            <a:r>
              <a:rPr lang="en-US" altLang="zh-CN" b="0" i="0" dirty="0">
                <a:solidFill>
                  <a:srgbClr val="2A2B2E"/>
                </a:solidFill>
                <a:effectLst/>
                <a:latin typeface="PingFang SC"/>
              </a:rPr>
              <a:t>UML</a:t>
            </a:r>
            <a:r>
              <a:rPr lang="zh-CN" altLang="en-US" b="0" i="0" dirty="0">
                <a:solidFill>
                  <a:srgbClr val="2A2B2E"/>
                </a:solidFill>
                <a:effectLst/>
                <a:latin typeface="PingFang SC"/>
              </a:rPr>
              <a:t>图，但在数据库管理中被数据分析人员广泛使用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确实没有标准的表示法，但大多数开发人员使用本文中显示的实体和鱼尾纹表示法</a:t>
            </a:r>
            <a:br>
              <a:rPr lang="zh-CN" altLang="en-US" dirty="0"/>
            </a:br>
            <a:endParaRPr lang="zh-CN" altLang="en-US" b="0" i="0" dirty="0">
              <a:solidFill>
                <a:srgbClr val="2A2B2E"/>
              </a:solidFill>
              <a:effectLst/>
              <a:latin typeface="PingFang SC"/>
            </a:endParaRPr>
          </a:p>
          <a:p>
            <a:r>
              <a:rPr lang="en-US" altLang="zh-CN" b="0" i="0" dirty="0">
                <a:solidFill>
                  <a:srgbClr val="2A2B2E"/>
                </a:solidFill>
                <a:effectLst/>
                <a:latin typeface="PingFang SC"/>
              </a:rPr>
              <a:t>ERD</a:t>
            </a:r>
            <a:r>
              <a:rPr lang="zh-CN" altLang="en-US" b="0" i="0" dirty="0">
                <a:solidFill>
                  <a:srgbClr val="2A2B2E"/>
                </a:solidFill>
                <a:effectLst/>
                <a:latin typeface="PingFang SC"/>
              </a:rPr>
              <a:t>不适合显示泛化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专门化关系和整体部分关系</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37</a:t>
            </a:fld>
            <a:endParaRPr lang="en-US" altLang="zh-CN"/>
          </a:p>
        </p:txBody>
      </p:sp>
    </p:spTree>
    <p:extLst>
      <p:ext uri="{BB962C8B-B14F-4D97-AF65-F5344CB8AC3E}">
        <p14:creationId xmlns:p14="http://schemas.microsoft.com/office/powerpoint/2010/main" val="15538884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38</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域模型类图</a:t>
            </a:r>
            <a:br>
              <a:rPr lang="zh-CN" altLang="en-US" dirty="0"/>
            </a:br>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类</a:t>
            </a:r>
            <a:br>
              <a:rPr lang="zh-CN" altLang="en-US" dirty="0"/>
            </a:br>
            <a:r>
              <a:rPr lang="zh-CN" altLang="en-US" b="0" i="0" dirty="0">
                <a:solidFill>
                  <a:srgbClr val="2A2B2E"/>
                </a:solidFill>
                <a:effectLst/>
                <a:latin typeface="PingFang SC"/>
              </a:rPr>
              <a:t>  用于描述一组对象的分类范畴</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域类</a:t>
            </a:r>
            <a:br>
              <a:rPr lang="zh-CN" altLang="en-US" dirty="0"/>
            </a:br>
            <a:r>
              <a:rPr lang="zh-CN" altLang="en-US" b="0" i="0" dirty="0">
                <a:solidFill>
                  <a:srgbClr val="2A2B2E"/>
                </a:solidFill>
                <a:effectLst/>
                <a:latin typeface="PingFang SC"/>
              </a:rPr>
              <a:t>  类描述问题域中的对象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类图</a:t>
            </a:r>
            <a:br>
              <a:rPr lang="zh-CN" altLang="en-US" dirty="0"/>
            </a:br>
            <a:r>
              <a:rPr lang="zh-CN" altLang="en-US" dirty="0"/>
              <a:t>  </a:t>
            </a:r>
            <a:r>
              <a:rPr lang="zh-CN" altLang="en-US" b="0" i="0" dirty="0">
                <a:solidFill>
                  <a:srgbClr val="2A2B2E"/>
                </a:solidFill>
                <a:effectLst/>
                <a:latin typeface="PingFang SC"/>
              </a:rPr>
              <a:t>显示带有属性和关联的类的</a:t>
            </a:r>
            <a:r>
              <a:rPr lang="en-US" altLang="zh-CN" b="0" i="0" dirty="0">
                <a:solidFill>
                  <a:srgbClr val="2A2B2E"/>
                </a:solidFill>
                <a:effectLst/>
                <a:latin typeface="PingFang SC"/>
              </a:rPr>
              <a:t>UML</a:t>
            </a:r>
            <a:r>
              <a:rPr lang="zh-CN" altLang="en-US" b="0" i="0" dirty="0">
                <a:solidFill>
                  <a:srgbClr val="2A2B2E"/>
                </a:solidFill>
                <a:effectLst/>
                <a:latin typeface="PingFang SC"/>
              </a:rPr>
              <a:t>图</a:t>
            </a:r>
            <a:r>
              <a:rPr lang="en-US" altLang="zh-CN" b="0" i="0" dirty="0">
                <a:solidFill>
                  <a:srgbClr val="2A2B2E"/>
                </a:solidFill>
                <a:effectLst/>
                <a:latin typeface="PingFang SC"/>
              </a:rPr>
              <a:t>(</a:t>
            </a:r>
            <a:r>
              <a:rPr lang="zh-CN" altLang="en-US" b="0" i="0" dirty="0">
                <a:solidFill>
                  <a:srgbClr val="2A2B2E"/>
                </a:solidFill>
                <a:effectLst/>
                <a:latin typeface="PingFang SC"/>
              </a:rPr>
              <a:t>如果它对软件类建模，则加上方法</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域模型类图</a:t>
            </a:r>
            <a:br>
              <a:rPr lang="zh-CN" altLang="en-US" dirty="0"/>
            </a:br>
            <a:r>
              <a:rPr lang="zh-CN" altLang="en-US" dirty="0"/>
              <a:t>  </a:t>
            </a:r>
            <a:r>
              <a:rPr lang="zh-CN" altLang="en-US" b="0" i="0" dirty="0">
                <a:solidFill>
                  <a:srgbClr val="2A2B2E"/>
                </a:solidFill>
                <a:effectLst/>
                <a:latin typeface="PingFang SC"/>
              </a:rPr>
              <a:t>类图只包括问题域的类，而不包括软件类，因此没有方法</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39</a:t>
            </a:fld>
            <a:endParaRPr lang="en-US" altLang="zh-CN"/>
          </a:p>
        </p:txBody>
      </p:sp>
    </p:spTree>
    <p:extLst>
      <p:ext uri="{BB962C8B-B14F-4D97-AF65-F5344CB8AC3E}">
        <p14:creationId xmlns:p14="http://schemas.microsoft.com/office/powerpoint/2010/main" val="2898873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类名总是大写的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属性名不大写，使用驼峰命名法</a:t>
            </a:r>
            <a:r>
              <a:rPr lang="en-US" altLang="zh-CN" b="0" i="0" dirty="0">
                <a:solidFill>
                  <a:srgbClr val="2A2B2E"/>
                </a:solidFill>
                <a:effectLst/>
                <a:latin typeface="PingFang SC"/>
              </a:rPr>
              <a:t>(</a:t>
            </a:r>
            <a:r>
              <a:rPr lang="zh-CN" altLang="en-US" b="0" i="0" dirty="0">
                <a:solidFill>
                  <a:srgbClr val="2A2B2E"/>
                </a:solidFill>
                <a:effectLst/>
                <a:latin typeface="PingFang SC"/>
              </a:rPr>
              <a:t>单词一起出现，第二个单词大写</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40</a:t>
            </a:fld>
            <a:endParaRPr lang="en-US" altLang="zh-CN"/>
          </a:p>
        </p:txBody>
      </p:sp>
    </p:spTree>
    <p:extLst>
      <p:ext uri="{BB962C8B-B14F-4D97-AF65-F5344CB8AC3E}">
        <p14:creationId xmlns:p14="http://schemas.microsoft.com/office/powerpoint/2010/main" val="25942407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41</a:t>
            </a:fld>
            <a:endParaRPr lang="en-US" altLang="zh-CN"/>
          </a:p>
        </p:txBody>
      </p:sp>
    </p:spTree>
    <p:extLst>
      <p:ext uri="{BB962C8B-B14F-4D97-AF65-F5344CB8AC3E}">
        <p14:creationId xmlns:p14="http://schemas.microsoft.com/office/powerpoint/2010/main" val="37637733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此图与前面所示的语义网相匹配</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客户下零个或多个订单</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一个订单是由一个客户下的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一个订单由一个或多个订单项组成</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一个订单项目只能是一个订单的一部分</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42</a:t>
            </a:fld>
            <a:endParaRPr lang="en-US" altLang="zh-CN"/>
          </a:p>
        </p:txBody>
      </p:sp>
    </p:spTree>
    <p:extLst>
      <p:ext uri="{BB962C8B-B14F-4D97-AF65-F5344CB8AC3E}">
        <p14:creationId xmlns:p14="http://schemas.microsoft.com/office/powerpoint/2010/main" val="2869872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43</a:t>
            </a:fld>
            <a:endParaRPr lang="en-US" altLang="zh-CN"/>
          </a:p>
        </p:txBody>
      </p:sp>
    </p:spTree>
    <p:extLst>
      <p:ext uri="{BB962C8B-B14F-4D97-AF65-F5344CB8AC3E}">
        <p14:creationId xmlns:p14="http://schemas.microsoft.com/office/powerpoint/2010/main" val="17304703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具有许多分支机构的银行的域模型类图</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44</a:t>
            </a:fld>
            <a:endParaRPr lang="en-US" altLang="zh-CN"/>
          </a:p>
        </p:txBody>
      </p:sp>
    </p:spTree>
    <p:extLst>
      <p:ext uri="{BB962C8B-B14F-4D97-AF65-F5344CB8AC3E}">
        <p14:creationId xmlns:p14="http://schemas.microsoft.com/office/powerpoint/2010/main" val="31161759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用于大学课程注册的域模型类图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在这个模型中，每个学生的成绩记在哪里</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每个课程有许多学生成绩，每个学生成绩与一个学生相关联</a:t>
            </a:r>
            <a:br>
              <a:rPr lang="zh-CN" altLang="en-US" dirty="0"/>
            </a:br>
            <a:r>
              <a:rPr lang="zh-CN" altLang="en-US" dirty="0"/>
              <a:t>  </a:t>
            </a:r>
            <a:r>
              <a:rPr lang="zh-CN" altLang="en-US" b="0" i="0" dirty="0">
                <a:solidFill>
                  <a:srgbClr val="2A2B2E"/>
                </a:solidFill>
                <a:effectLst/>
                <a:latin typeface="PingFang SC"/>
              </a:rPr>
              <a:t>每个学生都有很多成绩，每个成绩都与一个课程相关联</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45</a:t>
            </a:fld>
            <a:endParaRPr lang="en-US" altLang="zh-CN"/>
          </a:p>
        </p:txBody>
      </p:sp>
    </p:spTree>
    <p:extLst>
      <p:ext uri="{BB962C8B-B14F-4D97-AF65-F5344CB8AC3E}">
        <p14:creationId xmlns:p14="http://schemas.microsoft.com/office/powerpoint/2010/main" val="32871731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关联类</a:t>
            </a:r>
            <a:r>
              <a:rPr lang="en-US" altLang="zh-CN" b="0" i="0" dirty="0">
                <a:solidFill>
                  <a:srgbClr val="2A2B2E"/>
                </a:solidFill>
                <a:effectLst/>
                <a:latin typeface="PingFang SC"/>
              </a:rPr>
              <a:t>——</a:t>
            </a:r>
            <a:r>
              <a:rPr lang="zh-CN" altLang="en-US" b="0" i="0" dirty="0">
                <a:solidFill>
                  <a:srgbClr val="2A2B2E"/>
                </a:solidFill>
                <a:effectLst/>
                <a:latin typeface="PingFang SC"/>
              </a:rPr>
              <a:t>在多对多关联中被视为类的关联，因为它具有需要记住的属性，比如成绩</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46</a:t>
            </a:fld>
            <a:endParaRPr lang="en-US" altLang="zh-CN"/>
          </a:p>
        </p:txBody>
      </p:sp>
    </p:spTree>
    <p:extLst>
      <p:ext uri="{BB962C8B-B14F-4D97-AF65-F5344CB8AC3E}">
        <p14:creationId xmlns:p14="http://schemas.microsoft.com/office/powerpoint/2010/main" val="9154955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泛化</a:t>
            </a:r>
            <a:r>
              <a:rPr lang="en-US" altLang="zh-CN" b="0" i="0" dirty="0">
                <a:solidFill>
                  <a:srgbClr val="2A2B2E"/>
                </a:solidFill>
                <a:effectLst/>
                <a:latin typeface="PingFang SC"/>
              </a:rPr>
              <a:t>/</a:t>
            </a:r>
            <a:r>
              <a:rPr lang="zh-CN" altLang="en-US" b="0" i="0" dirty="0">
                <a:solidFill>
                  <a:srgbClr val="2A2B2E"/>
                </a:solidFill>
                <a:effectLst/>
                <a:latin typeface="PingFang SC"/>
              </a:rPr>
              <a:t>特化</a:t>
            </a:r>
            <a:br>
              <a:rPr lang="zh-CN" altLang="en-US" dirty="0"/>
            </a:br>
            <a:r>
              <a:rPr lang="zh-CN" altLang="en-US" dirty="0"/>
              <a:t>   </a:t>
            </a:r>
            <a:r>
              <a:rPr lang="zh-CN" altLang="en-US" b="0" i="0" dirty="0">
                <a:solidFill>
                  <a:srgbClr val="2A2B2E"/>
                </a:solidFill>
                <a:effectLst/>
                <a:latin typeface="PingFang SC"/>
              </a:rPr>
              <a:t>一种层次关系，其中从属类是上级类的特殊类型。通常称为继承层次结构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超类泛化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专门化层次结构中的高级或更通用的类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子类化泛化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专门化层次结构中的从属类或更专门化的类</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继承</a:t>
            </a:r>
            <a:r>
              <a:rPr lang="en-US" altLang="zh-CN" b="0" i="0" dirty="0">
                <a:solidFill>
                  <a:srgbClr val="2A2B2E"/>
                </a:solidFill>
                <a:effectLst/>
                <a:latin typeface="PingFang SC"/>
              </a:rPr>
              <a:t>:</a:t>
            </a:r>
            <a:r>
              <a:rPr lang="zh-CN" altLang="en-US" b="0" i="0" dirty="0">
                <a:solidFill>
                  <a:srgbClr val="2A2B2E"/>
                </a:solidFill>
                <a:effectLst/>
                <a:latin typeface="PingFang SC"/>
              </a:rPr>
              <a:t>子类继承父类的特征的概念</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47</a:t>
            </a:fld>
            <a:endParaRPr lang="en-US" altLang="zh-CN"/>
          </a:p>
        </p:txBody>
      </p:sp>
    </p:spTree>
    <p:extLst>
      <p:ext uri="{BB962C8B-B14F-4D97-AF65-F5344CB8AC3E}">
        <p14:creationId xmlns:p14="http://schemas.microsoft.com/office/powerpoint/2010/main" val="10455842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泛化和特化</a:t>
            </a:r>
            <a:endParaRPr lang="en-US" altLang="zh-CN" dirty="0"/>
          </a:p>
          <a:p>
            <a:endParaRPr lang="en-US" altLang="zh-CN" dirty="0"/>
          </a:p>
          <a:p>
            <a:r>
              <a:rPr lang="zh-CN" altLang="en-US" dirty="0"/>
              <a:t>继承</a:t>
            </a:r>
            <a:endParaRPr lang="en-US" altLang="zh-CN" dirty="0"/>
          </a:p>
          <a:p>
            <a:endParaRPr lang="en-US" altLang="zh-CN" dirty="0"/>
          </a:p>
          <a:p>
            <a:r>
              <a:rPr lang="zh-CN" altLang="en-US" dirty="0"/>
              <a:t>运动型车辆，轿车，运动型多用途车（</a:t>
            </a:r>
            <a:r>
              <a:rPr lang="en-US" altLang="zh-CN" dirty="0"/>
              <a:t>SUV</a:t>
            </a:r>
            <a:r>
              <a:rPr lang="zh-CN" altLang="en-US" dirty="0"/>
              <a:t>）</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48</a:t>
            </a:fld>
            <a:endParaRPr lang="en-US" altLang="zh-CN"/>
          </a:p>
        </p:txBody>
      </p:sp>
    </p:spTree>
    <p:extLst>
      <p:ext uri="{BB962C8B-B14F-4D97-AF65-F5344CB8AC3E}">
        <p14:creationId xmlns:p14="http://schemas.microsoft.com/office/powerpoint/2010/main" val="16065127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抽象类</a:t>
            </a:r>
            <a:endParaRPr lang="en-US" altLang="zh-CN" dirty="0"/>
          </a:p>
          <a:p>
            <a:r>
              <a:rPr lang="zh-CN" altLang="en-US" dirty="0"/>
              <a:t>具体类</a:t>
            </a:r>
            <a:endParaRPr lang="en-US" altLang="zh-CN" dirty="0"/>
          </a:p>
          <a:p>
            <a:endParaRPr lang="en-US" altLang="zh-CN" dirty="0"/>
          </a:p>
          <a:p>
            <a:r>
              <a:rPr lang="zh-CN" altLang="en-US" b="0" i="0" dirty="0">
                <a:solidFill>
                  <a:srgbClr val="2A2B2E"/>
                </a:solidFill>
                <a:effectLst/>
                <a:latin typeface="PingFang SC"/>
              </a:rPr>
              <a:t>抽象类</a:t>
            </a:r>
            <a:r>
              <a:rPr lang="en-US" altLang="zh-CN" b="0" i="0" dirty="0">
                <a:solidFill>
                  <a:srgbClr val="2A2B2E"/>
                </a:solidFill>
                <a:effectLst/>
                <a:latin typeface="PingFang SC"/>
              </a:rPr>
              <a:t>——</a:t>
            </a:r>
            <a:r>
              <a:rPr lang="zh-CN" altLang="en-US" b="0" i="0" dirty="0">
                <a:solidFill>
                  <a:srgbClr val="2A2B2E"/>
                </a:solidFill>
                <a:effectLst/>
                <a:latin typeface="PingFang SC"/>
              </a:rPr>
              <a:t>允许子类继承特征但永远不会被实例化的类。斜体字</a:t>
            </a:r>
            <a:r>
              <a:rPr lang="en-US" altLang="zh-CN" b="0" i="0" dirty="0">
                <a:solidFill>
                  <a:srgbClr val="2A2B2E"/>
                </a:solidFill>
                <a:effectLst/>
                <a:latin typeface="PingFang SC"/>
              </a:rPr>
              <a:t>(</a:t>
            </a:r>
            <a:r>
              <a:rPr lang="zh-CN" altLang="en-US" b="0" i="0" dirty="0">
                <a:solidFill>
                  <a:srgbClr val="2A2B2E"/>
                </a:solidFill>
                <a:effectLst/>
                <a:latin typeface="PingFang SC"/>
              </a:rPr>
              <a:t>以上销售</a:t>
            </a:r>
            <a:r>
              <a:rPr lang="en-US" altLang="zh-CN" b="0" i="0" dirty="0">
                <a:solidFill>
                  <a:srgbClr val="2A2B2E"/>
                </a:solidFill>
                <a:effectLst/>
                <a:latin typeface="PingFang SC"/>
              </a:rPr>
              <a:t>)</a:t>
            </a:r>
          </a:p>
          <a:p>
            <a:r>
              <a:rPr lang="zh-CN" altLang="en-US" b="0" i="0" dirty="0">
                <a:solidFill>
                  <a:srgbClr val="2A2B2E"/>
                </a:solidFill>
                <a:effectLst/>
                <a:latin typeface="PingFang SC"/>
              </a:rPr>
              <a:t>具体类</a:t>
            </a:r>
            <a:r>
              <a:rPr lang="en-US" altLang="zh-CN" b="0" i="0" dirty="0">
                <a:solidFill>
                  <a:srgbClr val="2A2B2E"/>
                </a:solidFill>
                <a:effectLst/>
                <a:latin typeface="PingFang SC"/>
              </a:rPr>
              <a:t>——</a:t>
            </a:r>
            <a:r>
              <a:rPr lang="zh-CN" altLang="en-US" b="0" i="0" dirty="0">
                <a:solidFill>
                  <a:srgbClr val="2A2B2E"/>
                </a:solidFill>
                <a:effectLst/>
                <a:latin typeface="PingFang SC"/>
              </a:rPr>
              <a:t>可以有实例的类</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49</a:t>
            </a:fld>
            <a:endParaRPr lang="en-US" altLang="zh-CN"/>
          </a:p>
        </p:txBody>
      </p:sp>
    </p:spTree>
    <p:extLst>
      <p:ext uri="{BB962C8B-B14F-4D97-AF65-F5344CB8AC3E}">
        <p14:creationId xmlns:p14="http://schemas.microsoft.com/office/powerpoint/2010/main" val="42896993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特殊类型账户银行的继承</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err="1">
                <a:solidFill>
                  <a:srgbClr val="2A2B2E"/>
                </a:solidFill>
                <a:effectLst/>
                <a:latin typeface="PingFang SC"/>
              </a:rPr>
              <a:t>SavingsAccount</a:t>
            </a:r>
            <a:r>
              <a:rPr lang="zh-CN" altLang="en-US" b="0" i="0" dirty="0">
                <a:solidFill>
                  <a:srgbClr val="2A2B2E"/>
                </a:solidFill>
                <a:effectLst/>
                <a:latin typeface="PingFang SC"/>
              </a:rPr>
              <a:t>（储蓄账户）有</a:t>
            </a:r>
            <a:r>
              <a:rPr lang="en-US" altLang="zh-CN" b="0" i="0" dirty="0">
                <a:solidFill>
                  <a:srgbClr val="2A2B2E"/>
                </a:solidFill>
                <a:effectLst/>
                <a:latin typeface="PingFang SC"/>
              </a:rPr>
              <a:t>4</a:t>
            </a:r>
            <a:r>
              <a:rPr lang="zh-CN" altLang="en-US" b="0" i="0" dirty="0">
                <a:solidFill>
                  <a:srgbClr val="2A2B2E"/>
                </a:solidFill>
                <a:effectLst/>
                <a:latin typeface="PingFang SC"/>
              </a:rPr>
              <a:t>个属性</a:t>
            </a:r>
            <a:br>
              <a:rPr lang="zh-CN" altLang="en-US" dirty="0"/>
            </a:br>
            <a:endParaRPr lang="zh-CN" altLang="en-US" b="0" i="0" dirty="0">
              <a:solidFill>
                <a:srgbClr val="2A2B2E"/>
              </a:solidFill>
              <a:effectLst/>
              <a:latin typeface="PingFang SC"/>
            </a:endParaRPr>
          </a:p>
          <a:p>
            <a:pPr algn="l"/>
            <a:r>
              <a:rPr lang="en-US" altLang="zh-CN" b="0" i="0" dirty="0" err="1">
                <a:solidFill>
                  <a:srgbClr val="2A2B2E"/>
                </a:solidFill>
                <a:effectLst/>
                <a:latin typeface="PingFang SC"/>
              </a:rPr>
              <a:t>CheckingAccount</a:t>
            </a:r>
            <a:r>
              <a:rPr lang="zh-CN" altLang="en-US" b="0" i="0" dirty="0">
                <a:solidFill>
                  <a:srgbClr val="2A2B2E"/>
                </a:solidFill>
                <a:effectLst/>
                <a:latin typeface="PingFang SC"/>
              </a:rPr>
              <a:t>（支票账户）有</a:t>
            </a:r>
            <a:r>
              <a:rPr lang="en-US" altLang="zh-CN" b="0" i="0" dirty="0">
                <a:solidFill>
                  <a:srgbClr val="2A2B2E"/>
                </a:solidFill>
                <a:effectLst/>
                <a:latin typeface="PingFang SC"/>
              </a:rPr>
              <a:t>5</a:t>
            </a:r>
            <a:r>
              <a:rPr lang="zh-CN" altLang="en-US" b="0" i="0" dirty="0">
                <a:solidFill>
                  <a:srgbClr val="2A2B2E"/>
                </a:solidFill>
                <a:effectLst/>
                <a:latin typeface="PingFang SC"/>
              </a:rPr>
              <a:t>个属性</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子类也继承了关联</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50</a:t>
            </a:fld>
            <a:endParaRPr lang="en-US" altLang="zh-CN"/>
          </a:p>
        </p:txBody>
      </p:sp>
    </p:spTree>
    <p:extLst>
      <p:ext uri="{BB962C8B-B14F-4D97-AF65-F5344CB8AC3E}">
        <p14:creationId xmlns:p14="http://schemas.microsoft.com/office/powerpoint/2010/main" val="30989016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关于类的更复杂的问题</a:t>
            </a:r>
            <a:r>
              <a:rPr lang="en-US" altLang="zh-CN" b="0" i="0" dirty="0">
                <a:solidFill>
                  <a:srgbClr val="2A2B2E"/>
                </a:solidFill>
                <a:effectLst/>
                <a:latin typeface="PingFang SC"/>
              </a:rPr>
              <a:t>:</a:t>
            </a:r>
            <a:r>
              <a:rPr lang="zh-CN" altLang="en-US" b="0" i="0" dirty="0">
                <a:solidFill>
                  <a:srgbClr val="2A2B2E"/>
                </a:solidFill>
                <a:effectLst/>
                <a:latin typeface="PingFang SC"/>
              </a:rPr>
              <a:t>整体部分关系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整体</a:t>
            </a:r>
            <a:r>
              <a:rPr lang="en-US" altLang="zh-CN" b="0" i="0" dirty="0">
                <a:solidFill>
                  <a:srgbClr val="2A2B2E"/>
                </a:solidFill>
                <a:effectLst/>
                <a:latin typeface="PingFang SC"/>
              </a:rPr>
              <a:t>-</a:t>
            </a:r>
            <a:r>
              <a:rPr lang="zh-CN" altLang="en-US" b="0" i="0" dirty="0">
                <a:solidFill>
                  <a:srgbClr val="2A2B2E"/>
                </a:solidFill>
                <a:effectLst/>
                <a:latin typeface="PingFang SC"/>
              </a:rPr>
              <a:t>部分关系</a:t>
            </a:r>
            <a:r>
              <a:rPr lang="en-US" altLang="zh-CN" b="0" i="0" dirty="0">
                <a:solidFill>
                  <a:srgbClr val="2A2B2E"/>
                </a:solidFill>
                <a:effectLst/>
                <a:latin typeface="PingFang SC"/>
              </a:rPr>
              <a:t>-</a:t>
            </a:r>
            <a:r>
              <a:rPr lang="zh-CN" altLang="en-US" b="0" i="0" dirty="0">
                <a:solidFill>
                  <a:srgbClr val="2A2B2E"/>
                </a:solidFill>
                <a:effectLst/>
                <a:latin typeface="PingFang SC"/>
              </a:rPr>
              <a:t>类之间的关系，其中一个类是另一个类的一部分或组成部分</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聚合</a:t>
            </a:r>
            <a:r>
              <a:rPr lang="en-US" altLang="zh-CN" b="0" i="0" dirty="0">
                <a:solidFill>
                  <a:srgbClr val="2A2B2E"/>
                </a:solidFill>
                <a:effectLst/>
                <a:latin typeface="PingFang SC"/>
              </a:rPr>
              <a:t>——</a:t>
            </a:r>
            <a:r>
              <a:rPr lang="zh-CN" altLang="en-US" b="0" i="0" dirty="0">
                <a:solidFill>
                  <a:srgbClr val="2A2B2E"/>
                </a:solidFill>
                <a:effectLst/>
                <a:latin typeface="PingFang SC"/>
              </a:rPr>
              <a:t>一个整体部分关系，其中组件部分单独存在，并且可以被删除和替换</a:t>
            </a:r>
            <a:r>
              <a:rPr lang="en-US" altLang="zh-CN" b="0" i="0" dirty="0">
                <a:solidFill>
                  <a:srgbClr val="2A2B2E"/>
                </a:solidFill>
                <a:effectLst/>
                <a:latin typeface="PingFang SC"/>
              </a:rPr>
              <a:t>(UML</a:t>
            </a:r>
            <a:r>
              <a:rPr lang="zh-CN" altLang="en-US" b="0" i="0" dirty="0">
                <a:solidFill>
                  <a:srgbClr val="2A2B2E"/>
                </a:solidFill>
                <a:effectLst/>
                <a:latin typeface="PingFang SC"/>
              </a:rPr>
              <a:t>菱形符号，下一张幻灯片</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计算机有磁盘存储设备</a:t>
            </a:r>
            <a:br>
              <a:rPr lang="zh-CN" altLang="en-US" dirty="0"/>
            </a:br>
            <a:r>
              <a:rPr lang="zh-CN" altLang="en-US" dirty="0"/>
              <a:t>  </a:t>
            </a:r>
            <a:r>
              <a:rPr lang="zh-CN" altLang="en-US" b="0" i="0" dirty="0">
                <a:solidFill>
                  <a:srgbClr val="2A2B2E"/>
                </a:solidFill>
                <a:effectLst/>
                <a:latin typeface="PingFang SC"/>
              </a:rPr>
              <a:t>汽车有轮子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合成</a:t>
            </a:r>
            <a:r>
              <a:rPr lang="en-US" altLang="zh-CN" b="0" i="0" dirty="0">
                <a:solidFill>
                  <a:srgbClr val="2A2B2E"/>
                </a:solidFill>
                <a:effectLst/>
                <a:latin typeface="PingFang SC"/>
              </a:rPr>
              <a:t>-</a:t>
            </a:r>
            <a:r>
              <a:rPr lang="zh-CN" altLang="en-US" b="0" i="0" dirty="0">
                <a:solidFill>
                  <a:srgbClr val="2A2B2E"/>
                </a:solidFill>
                <a:effectLst/>
                <a:latin typeface="PingFang SC"/>
              </a:rPr>
              <a:t>一个整体的部分关系，部分不能再被移除</a:t>
            </a:r>
            <a:r>
              <a:rPr lang="en-US" altLang="zh-CN" b="0" i="0" dirty="0">
                <a:solidFill>
                  <a:srgbClr val="2A2B2E"/>
                </a:solidFill>
                <a:effectLst/>
                <a:latin typeface="PingFang SC"/>
              </a:rPr>
              <a:t>(</a:t>
            </a:r>
            <a:r>
              <a:rPr lang="zh-CN" altLang="en-US" b="0" i="0" dirty="0">
                <a:solidFill>
                  <a:srgbClr val="2A2B2E"/>
                </a:solidFill>
                <a:effectLst/>
                <a:latin typeface="PingFang SC"/>
              </a:rPr>
              <a:t>用菱形符号填充</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手有手指</a:t>
            </a:r>
            <a:br>
              <a:rPr lang="zh-CN" altLang="en-US" dirty="0"/>
            </a:br>
            <a:r>
              <a:rPr lang="zh-CN" altLang="en-US" dirty="0"/>
              <a:t>  </a:t>
            </a:r>
            <a:r>
              <a:rPr lang="zh-CN" altLang="en-US" b="0" i="0" dirty="0">
                <a:solidFill>
                  <a:srgbClr val="2A2B2E"/>
                </a:solidFill>
                <a:effectLst/>
                <a:latin typeface="PingFang SC"/>
              </a:rPr>
              <a:t>芯片有电路</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51</a:t>
            </a:fld>
            <a:endParaRPr lang="en-US" altLang="zh-CN"/>
          </a:p>
        </p:txBody>
      </p:sp>
    </p:spTree>
    <p:extLst>
      <p:ext uri="{BB962C8B-B14F-4D97-AF65-F5344CB8AC3E}">
        <p14:creationId xmlns:p14="http://schemas.microsoft.com/office/powerpoint/2010/main" val="42485351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整体部件关系计算机及其部件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注</a:t>
            </a:r>
            <a:r>
              <a:rPr lang="en-US" altLang="zh-CN" b="0" i="0" dirty="0">
                <a:solidFill>
                  <a:srgbClr val="2A2B2E"/>
                </a:solidFill>
                <a:effectLst/>
                <a:latin typeface="PingFang SC"/>
              </a:rPr>
              <a:t>:</a:t>
            </a:r>
            <a:r>
              <a:rPr lang="zh-CN" altLang="en-US" b="0" i="0" dirty="0">
                <a:solidFill>
                  <a:srgbClr val="2A2B2E"/>
                </a:solidFill>
                <a:effectLst/>
                <a:latin typeface="PingFang SC"/>
              </a:rPr>
              <a:t>这是聚合，带有菱形符号。</a:t>
            </a:r>
            <a:br>
              <a:rPr lang="zh-CN" altLang="en-US" dirty="0"/>
            </a:br>
            <a:r>
              <a:rPr lang="zh-CN" altLang="en-US" b="0" i="0" dirty="0">
                <a:solidFill>
                  <a:srgbClr val="2A2B2E"/>
                </a:solidFill>
                <a:effectLst/>
                <a:latin typeface="PingFang SC"/>
              </a:rPr>
              <a:t>  整个部分也可以有多重符号</a:t>
            </a:r>
            <a:r>
              <a:rPr lang="en-US" altLang="zh-CN" b="0" i="0" dirty="0">
                <a:solidFill>
                  <a:srgbClr val="2A2B2E"/>
                </a:solidFill>
                <a:effectLst/>
                <a:latin typeface="PingFang SC"/>
              </a:rPr>
              <a:t>(</a:t>
            </a:r>
            <a:r>
              <a:rPr lang="zh-CN" altLang="en-US" b="0" i="0" dirty="0">
                <a:solidFill>
                  <a:srgbClr val="2A2B2E"/>
                </a:solidFill>
                <a:effectLst/>
                <a:latin typeface="PingFang SC"/>
              </a:rPr>
              <a:t>未显示</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52</a:t>
            </a:fld>
            <a:endParaRPr lang="en-US" altLang="zh-CN"/>
          </a:p>
        </p:txBody>
      </p:sp>
    </p:spTree>
    <p:extLst>
      <p:ext uri="{BB962C8B-B14F-4D97-AF65-F5344CB8AC3E}">
        <p14:creationId xmlns:p14="http://schemas.microsoft.com/office/powerpoint/2010/main" val="40900968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在类图中实际上有三种类型的关系</a:t>
            </a:r>
            <a:br>
              <a:rPr lang="zh-CN" altLang="en-US" dirty="0"/>
            </a:br>
            <a:r>
              <a:rPr lang="zh-CN" altLang="en-US" dirty="0"/>
              <a:t>  </a:t>
            </a:r>
            <a:r>
              <a:rPr lang="zh-CN" altLang="en-US" b="0" i="0" dirty="0">
                <a:solidFill>
                  <a:srgbClr val="2A2B2E"/>
                </a:solidFill>
                <a:effectLst/>
                <a:latin typeface="PingFang SC"/>
              </a:rPr>
              <a:t>关联关系</a:t>
            </a:r>
            <a:br>
              <a:rPr lang="zh-CN" altLang="en-US" dirty="0"/>
            </a:br>
            <a:r>
              <a:rPr lang="zh-CN" altLang="en-US" dirty="0"/>
              <a:t>      </a:t>
            </a:r>
            <a:r>
              <a:rPr lang="zh-CN" altLang="en-US" b="0" i="0" dirty="0">
                <a:solidFill>
                  <a:srgbClr val="2A2B2E"/>
                </a:solidFill>
                <a:effectLst/>
                <a:latin typeface="PingFang SC"/>
              </a:rPr>
              <a:t>这些是前面讨论过的关联，就像</a:t>
            </a:r>
            <a:r>
              <a:rPr lang="en-US" altLang="zh-CN" b="0" i="0" dirty="0">
                <a:solidFill>
                  <a:srgbClr val="2A2B2E"/>
                </a:solidFill>
                <a:effectLst/>
                <a:latin typeface="PingFang SC"/>
              </a:rPr>
              <a:t>ERD</a:t>
            </a:r>
            <a:r>
              <a:rPr lang="zh-CN" altLang="en-US" b="0" i="0" dirty="0">
                <a:solidFill>
                  <a:srgbClr val="2A2B2E"/>
                </a:solidFill>
                <a:effectLst/>
                <a:latin typeface="PingFang SC"/>
              </a:rPr>
              <a:t>关系一样</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整体部分关系</a:t>
            </a:r>
            <a:br>
              <a:rPr lang="zh-CN" altLang="en-US" dirty="0"/>
            </a:br>
            <a:r>
              <a:rPr lang="zh-CN" altLang="en-US" dirty="0"/>
              <a:t>      </a:t>
            </a:r>
            <a:r>
              <a:rPr lang="zh-CN" altLang="en-US" b="0" i="0" dirty="0">
                <a:solidFill>
                  <a:srgbClr val="2A2B2E"/>
                </a:solidFill>
                <a:effectLst/>
                <a:latin typeface="PingFang SC"/>
              </a:rPr>
              <a:t>一个类是另一个类的组件或一部分</a:t>
            </a:r>
            <a:br>
              <a:rPr lang="zh-CN" altLang="en-US" dirty="0"/>
            </a:br>
            <a:r>
              <a:rPr lang="zh-CN" altLang="en-US" dirty="0"/>
              <a:t>   </a:t>
            </a:r>
            <a:endParaRPr lang="en-US" altLang="zh-CN" dirty="0"/>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泛化</a:t>
            </a:r>
            <a:r>
              <a:rPr lang="en-US" altLang="zh-CN" b="0" i="0" dirty="0">
                <a:solidFill>
                  <a:srgbClr val="2A2B2E"/>
                </a:solidFill>
                <a:effectLst/>
                <a:latin typeface="PingFang SC"/>
              </a:rPr>
              <a:t>/</a:t>
            </a:r>
            <a:r>
              <a:rPr lang="zh-CN" altLang="en-US" b="0" i="0" dirty="0">
                <a:solidFill>
                  <a:srgbClr val="2A2B2E"/>
                </a:solidFill>
                <a:effectLst/>
                <a:latin typeface="PingFang SC"/>
              </a:rPr>
              <a:t>特化关系</a:t>
            </a:r>
            <a:br>
              <a:rPr lang="zh-CN" altLang="en-US" dirty="0"/>
            </a:br>
            <a:r>
              <a:rPr lang="zh-CN" altLang="en-US" dirty="0"/>
              <a:t>     </a:t>
            </a:r>
            <a:r>
              <a:rPr lang="zh-CN" altLang="en-US" b="0" i="0" dirty="0">
                <a:solidFill>
                  <a:srgbClr val="2A2B2E"/>
                </a:solidFill>
                <a:effectLst/>
                <a:latin typeface="PingFang SC"/>
              </a:rPr>
              <a:t>继承</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53</a:t>
            </a:fld>
            <a:endParaRPr lang="en-US" altLang="zh-CN"/>
          </a:p>
        </p:txBody>
      </p:sp>
    </p:spTree>
    <p:extLst>
      <p:ext uri="{BB962C8B-B14F-4D97-AF65-F5344CB8AC3E}">
        <p14:creationId xmlns:p14="http://schemas.microsoft.com/office/powerpoint/2010/main" val="34850495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54</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0" i="0" dirty="0">
                <a:solidFill>
                  <a:srgbClr val="2A2B2E"/>
                </a:solidFill>
                <a:effectLst/>
                <a:latin typeface="PingFang SC"/>
              </a:rPr>
              <a:t>RMO</a:t>
            </a:r>
            <a:r>
              <a:rPr lang="zh-CN" altLang="en-US" b="0" i="0" dirty="0">
                <a:solidFill>
                  <a:srgbClr val="2A2B2E"/>
                </a:solidFill>
                <a:effectLst/>
                <a:latin typeface="PingFang SC"/>
              </a:rPr>
              <a:t>示例中的域模型类图</a:t>
            </a:r>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MO </a:t>
            </a:r>
            <a:r>
              <a:rPr lang="en-US" altLang="zh-CN" b="0" i="0" dirty="0" err="1">
                <a:solidFill>
                  <a:srgbClr val="2A2B2E"/>
                </a:solidFill>
                <a:effectLst/>
                <a:latin typeface="PingFang SC"/>
              </a:rPr>
              <a:t>csmS</a:t>
            </a:r>
            <a:r>
              <a:rPr lang="zh-CN" altLang="en-US" b="0" i="0" dirty="0">
                <a:solidFill>
                  <a:srgbClr val="2A2B2E"/>
                </a:solidFill>
                <a:effectLst/>
                <a:latin typeface="PingFang SC"/>
              </a:rPr>
              <a:t>项目域模型类图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有几种方法可以为项目创建域模型类图</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RMO CSMS</a:t>
            </a:r>
            <a:r>
              <a:rPr lang="zh-CN" altLang="en-US" b="0" i="0" dirty="0">
                <a:solidFill>
                  <a:srgbClr val="2A2B2E"/>
                </a:solidFill>
                <a:effectLst/>
                <a:latin typeface="PingFang SC"/>
              </a:rPr>
              <a:t>总共有</a:t>
            </a:r>
            <a:r>
              <a:rPr lang="en-US" altLang="zh-CN" b="0" i="0" dirty="0">
                <a:solidFill>
                  <a:srgbClr val="2A2B2E"/>
                </a:solidFill>
                <a:effectLst/>
                <a:latin typeface="PingFang SC"/>
              </a:rPr>
              <a:t>27</a:t>
            </a:r>
            <a:r>
              <a:rPr lang="zh-CN" altLang="en-US" b="0" i="0" dirty="0">
                <a:solidFill>
                  <a:srgbClr val="2A2B2E"/>
                </a:solidFill>
                <a:effectLst/>
                <a:latin typeface="PingFang SC"/>
              </a:rPr>
              <a:t>个域类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可以为每个子系统创建一个域模型类图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可以创建一个整体的域模型类图来提供整个系统的概览</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通常在早期的迭代中，完成域模型类图的初始草案以指导开发并保持更新</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55</a:t>
            </a:fld>
            <a:endParaRPr lang="en-US" altLang="zh-CN"/>
          </a:p>
        </p:txBody>
      </p:sp>
    </p:spTree>
    <p:extLst>
      <p:ext uri="{BB962C8B-B14F-4D97-AF65-F5344CB8AC3E}">
        <p14:creationId xmlns:p14="http://schemas.microsoft.com/office/powerpoint/2010/main" val="17770377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销售子系统领域模型类图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产品，促销，促销方式，配件列表</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56</a:t>
            </a:fld>
            <a:endParaRPr lang="en-US" altLang="zh-CN"/>
          </a:p>
        </p:txBody>
      </p:sp>
    </p:spTree>
    <p:extLst>
      <p:ext uri="{BB962C8B-B14F-4D97-AF65-F5344CB8AC3E}">
        <p14:creationId xmlns:p14="http://schemas.microsoft.com/office/powerpoint/2010/main" val="20072487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产品，产品评价</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57</a:t>
            </a:fld>
            <a:endParaRPr lang="en-US" altLang="zh-CN"/>
          </a:p>
        </p:txBody>
      </p:sp>
    </p:spTree>
    <p:extLst>
      <p:ext uri="{BB962C8B-B14F-4D97-AF65-F5344CB8AC3E}">
        <p14:creationId xmlns:p14="http://schemas.microsoft.com/office/powerpoint/2010/main" val="39993598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库存产品（购物车产品，销售产品）</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58</a:t>
            </a:fld>
            <a:endParaRPr lang="en-US" altLang="zh-CN"/>
          </a:p>
        </p:txBody>
      </p:sp>
    </p:spTree>
    <p:extLst>
      <p:ext uri="{BB962C8B-B14F-4D97-AF65-F5344CB8AC3E}">
        <p14:creationId xmlns:p14="http://schemas.microsoft.com/office/powerpoint/2010/main" val="28137228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销售：店内销售，线上销售，电话销售</a:t>
            </a:r>
            <a:endParaRPr lang="en-US" altLang="zh-CN" dirty="0"/>
          </a:p>
          <a:p>
            <a:r>
              <a:rPr lang="zh-CN" altLang="en-US" dirty="0"/>
              <a:t>销售交易</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59</a:t>
            </a:fld>
            <a:endParaRPr lang="en-US" altLang="zh-CN"/>
          </a:p>
        </p:txBody>
      </p:sp>
    </p:spTree>
    <p:extLst>
      <p:ext uri="{BB962C8B-B14F-4D97-AF65-F5344CB8AC3E}">
        <p14:creationId xmlns:p14="http://schemas.microsoft.com/office/powerpoint/2010/main" val="12911546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线上购物车（活跃的购物车，预定购物车）</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60</a:t>
            </a:fld>
            <a:endParaRPr lang="en-US" altLang="zh-CN"/>
          </a:p>
        </p:txBody>
      </p:sp>
    </p:spTree>
    <p:extLst>
      <p:ext uri="{BB962C8B-B14F-4D97-AF65-F5344CB8AC3E}">
        <p14:creationId xmlns:p14="http://schemas.microsoft.com/office/powerpoint/2010/main" val="36726793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客户</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61</a:t>
            </a:fld>
            <a:endParaRPr lang="en-US" altLang="zh-CN"/>
          </a:p>
        </p:txBody>
      </p:sp>
    </p:spTree>
    <p:extLst>
      <p:ext uri="{BB962C8B-B14F-4D97-AF65-F5344CB8AC3E}">
        <p14:creationId xmlns:p14="http://schemas.microsoft.com/office/powerpoint/2010/main" val="40530690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客户帐户子系统域模型类图：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好友链接</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62</a:t>
            </a:fld>
            <a:endParaRPr lang="en-US" altLang="zh-CN"/>
          </a:p>
        </p:txBody>
      </p:sp>
    </p:spTree>
    <p:extLst>
      <p:ext uri="{BB962C8B-B14F-4D97-AF65-F5344CB8AC3E}">
        <p14:creationId xmlns:p14="http://schemas.microsoft.com/office/powerpoint/2010/main" val="17964268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销售，销售交易</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63</a:t>
            </a:fld>
            <a:endParaRPr lang="en-US" altLang="zh-CN"/>
          </a:p>
        </p:txBody>
      </p:sp>
    </p:spTree>
    <p:extLst>
      <p:ext uri="{BB962C8B-B14F-4D97-AF65-F5344CB8AC3E}">
        <p14:creationId xmlns:p14="http://schemas.microsoft.com/office/powerpoint/2010/main" val="2345673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促销合作对象   合作对象中的信用点数</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64</a:t>
            </a:fld>
            <a:endParaRPr lang="en-US" altLang="zh-CN"/>
          </a:p>
        </p:txBody>
      </p:sp>
    </p:spTree>
    <p:extLst>
      <p:ext uri="{BB962C8B-B14F-4D97-AF65-F5344CB8AC3E}">
        <p14:creationId xmlns:p14="http://schemas.microsoft.com/office/powerpoint/2010/main" val="27676119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账户  地址</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65</a:t>
            </a:fld>
            <a:endParaRPr lang="en-US" altLang="zh-CN"/>
          </a:p>
        </p:txBody>
      </p:sp>
    </p:spTree>
    <p:extLst>
      <p:ext uri="{BB962C8B-B14F-4D97-AF65-F5344CB8AC3E}">
        <p14:creationId xmlns:p14="http://schemas.microsoft.com/office/powerpoint/2010/main" val="35603140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客户  信息</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66</a:t>
            </a:fld>
            <a:endParaRPr lang="en-US" altLang="zh-CN"/>
          </a:p>
        </p:txBody>
      </p:sp>
    </p:spTree>
    <p:extLst>
      <p:ext uri="{BB962C8B-B14F-4D97-AF65-F5344CB8AC3E}">
        <p14:creationId xmlns:p14="http://schemas.microsoft.com/office/powerpoint/2010/main" val="42667062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68</a:t>
            </a:fld>
            <a:endParaRPr lang="en-US" altLang="zh-CN"/>
          </a:p>
        </p:txBody>
      </p:sp>
    </p:spTree>
    <p:extLst>
      <p:ext uri="{BB962C8B-B14F-4D97-AF65-F5344CB8AC3E}">
        <p14:creationId xmlns:p14="http://schemas.microsoft.com/office/powerpoint/2010/main" val="34764366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本章是将功能需求建模作为系统分析一部分的三章中的第二章</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问题域中的“事物”被识别和建模，称为领域类或数据实体</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识别域类</a:t>
            </a:r>
            <a:r>
              <a:rPr lang="en-US" altLang="zh-CN" b="0" i="0" dirty="0">
                <a:solidFill>
                  <a:srgbClr val="2A2B2E"/>
                </a:solidFill>
                <a:effectLst/>
                <a:latin typeface="PingFang SC"/>
              </a:rPr>
              <a:t>/</a:t>
            </a:r>
            <a:r>
              <a:rPr lang="zh-CN" altLang="en-US" b="0" i="0" dirty="0">
                <a:solidFill>
                  <a:srgbClr val="2A2B2E"/>
                </a:solidFill>
                <a:effectLst/>
                <a:latin typeface="PingFang SC"/>
              </a:rPr>
              <a:t>数据实体的两种技术是头脑风暴技术和名词技术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域类具有属性和关联</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关联是类之间自然发生的关系，并且关联具有最小和最大的多样性</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69</a:t>
            </a:fld>
            <a:endParaRPr lang="en-US" altLang="zh-CN"/>
          </a:p>
        </p:txBody>
      </p:sp>
    </p:spTree>
    <p:extLst>
      <p:ext uri="{BB962C8B-B14F-4D97-AF65-F5344CB8AC3E}">
        <p14:creationId xmlns:p14="http://schemas.microsoft.com/office/powerpoint/2010/main" val="13805955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关联是类之间自然存在的关系，并且关联具有最小和最大基数。</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UML</a:t>
            </a:r>
            <a:r>
              <a:rPr lang="zh-CN" altLang="en-US" b="0" i="0" dirty="0">
                <a:solidFill>
                  <a:srgbClr val="2A2B2E"/>
                </a:solidFill>
                <a:effectLst/>
                <a:latin typeface="PingFang SC"/>
              </a:rPr>
              <a:t>类图符号用于为系统创建领域模型类图。领域模型类没有方法，因为它们还不是软件类。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实际上有三种</a:t>
            </a:r>
            <a:r>
              <a:rPr lang="en-US" altLang="zh-CN" b="0" i="0" dirty="0">
                <a:solidFill>
                  <a:srgbClr val="2A2B2E"/>
                </a:solidFill>
                <a:effectLst/>
                <a:latin typeface="PingFang SC"/>
              </a:rPr>
              <a:t>UML</a:t>
            </a:r>
            <a:r>
              <a:rPr lang="zh-CN" altLang="en-US" b="0" i="0" dirty="0">
                <a:solidFill>
                  <a:srgbClr val="2A2B2E"/>
                </a:solidFill>
                <a:effectLst/>
                <a:latin typeface="PingFang SC"/>
              </a:rPr>
              <a:t>类图关系</a:t>
            </a:r>
            <a:r>
              <a:rPr lang="en-US" altLang="zh-CN" b="0" i="0" dirty="0">
                <a:solidFill>
                  <a:srgbClr val="2A2B2E"/>
                </a:solidFill>
                <a:effectLst/>
                <a:latin typeface="PingFang SC"/>
              </a:rPr>
              <a:t>:</a:t>
            </a:r>
            <a:r>
              <a:rPr lang="zh-CN" altLang="en-US" b="0" i="0" dirty="0">
                <a:solidFill>
                  <a:srgbClr val="2A2B2E"/>
                </a:solidFill>
                <a:effectLst/>
                <a:latin typeface="PingFang SC"/>
              </a:rPr>
              <a:t>关联关系、泛化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a:t>
            </a:r>
            <a:r>
              <a:rPr lang="en-US" altLang="zh-CN" b="0" i="0" dirty="0">
                <a:solidFill>
                  <a:srgbClr val="2A2B2E"/>
                </a:solidFill>
                <a:effectLst/>
                <a:latin typeface="PingFang SC"/>
              </a:rPr>
              <a:t>(</a:t>
            </a:r>
            <a:r>
              <a:rPr lang="zh-CN" altLang="en-US" b="0" i="0" dirty="0">
                <a:solidFill>
                  <a:srgbClr val="2A2B2E"/>
                </a:solidFill>
                <a:effectLst/>
                <a:latin typeface="PingFang SC"/>
              </a:rPr>
              <a:t>继承</a:t>
            </a:r>
            <a:r>
              <a:rPr lang="en-US" altLang="zh-CN" b="0" i="0" dirty="0">
                <a:solidFill>
                  <a:srgbClr val="2A2B2E"/>
                </a:solidFill>
                <a:effectLst/>
                <a:latin typeface="PingFang SC"/>
              </a:rPr>
              <a:t>)</a:t>
            </a:r>
            <a:r>
              <a:rPr lang="zh-CN" altLang="en-US" b="0" i="0" dirty="0">
                <a:solidFill>
                  <a:srgbClr val="2A2B2E"/>
                </a:solidFill>
                <a:effectLst/>
                <a:latin typeface="PingFang SC"/>
              </a:rPr>
              <a:t>关系和整体部分关系</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其他类图概念包括抽象类与具体类、复合属性、组合与聚合、关联类、超类和子类</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70</a:t>
            </a:fld>
            <a:endParaRPr lang="en-US" altLang="zh-CN"/>
          </a:p>
        </p:txBody>
      </p:sp>
    </p:spTree>
    <p:extLst>
      <p:ext uri="{BB962C8B-B14F-4D97-AF65-F5344CB8AC3E}">
        <p14:creationId xmlns:p14="http://schemas.microsoft.com/office/powerpoint/2010/main" val="33878708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实体关系图</a:t>
            </a:r>
            <a:r>
              <a:rPr lang="en-US" altLang="zh-CN" b="0" i="0" dirty="0">
                <a:solidFill>
                  <a:srgbClr val="2A2B2E"/>
                </a:solidFill>
                <a:effectLst/>
                <a:latin typeface="PingFang SC"/>
              </a:rPr>
              <a:t>(</a:t>
            </a:r>
            <a:r>
              <a:rPr lang="en-US" altLang="zh-CN" b="0" i="0" dirty="0" err="1">
                <a:solidFill>
                  <a:srgbClr val="2A2B2E"/>
                </a:solidFill>
                <a:effectLst/>
                <a:latin typeface="PingFang SC"/>
              </a:rPr>
              <a:t>erd</a:t>
            </a:r>
            <a:r>
              <a:rPr lang="en-US" altLang="zh-CN" b="0" i="0" dirty="0">
                <a:solidFill>
                  <a:srgbClr val="2A2B2E"/>
                </a:solidFill>
                <a:effectLst/>
                <a:latin typeface="PingFang SC"/>
              </a:rPr>
              <a:t>)</a:t>
            </a:r>
            <a:r>
              <a:rPr lang="zh-CN" altLang="en-US" b="0" i="0" dirty="0">
                <a:solidFill>
                  <a:srgbClr val="2A2B2E"/>
                </a:solidFill>
                <a:effectLst/>
                <a:latin typeface="PingFang SC"/>
              </a:rPr>
              <a:t>显示与领域模型类图相同的信息</a:t>
            </a:r>
            <a:br>
              <a:rPr lang="zh-CN" altLang="en-US" dirty="0"/>
            </a:br>
            <a:endParaRPr lang="zh-CN" altLang="en-US" b="0" i="0" dirty="0">
              <a:solidFill>
                <a:srgbClr val="2A2B2E"/>
              </a:solidFill>
              <a:effectLst/>
              <a:latin typeface="PingFang SC"/>
            </a:endParaRPr>
          </a:p>
          <a:p>
            <a:pPr algn="l"/>
            <a:r>
              <a:rPr lang="en-US" altLang="zh-CN" b="0" i="0" dirty="0" err="1">
                <a:solidFill>
                  <a:srgbClr val="2A2B2E"/>
                </a:solidFill>
                <a:effectLst/>
                <a:latin typeface="PingFang SC"/>
              </a:rPr>
              <a:t>erd</a:t>
            </a:r>
            <a:r>
              <a:rPr lang="zh-CN" altLang="en-US" b="0" i="0" dirty="0">
                <a:solidFill>
                  <a:srgbClr val="2A2B2E"/>
                </a:solidFill>
                <a:effectLst/>
                <a:latin typeface="PingFang SC"/>
              </a:rPr>
              <a:t>是数据库分析人员的首选，并且被广泛使用</a:t>
            </a:r>
            <a:br>
              <a:rPr lang="zh-CN" altLang="en-US" dirty="0"/>
            </a:br>
            <a:endParaRPr lang="zh-CN" altLang="en-US" b="0" i="0" dirty="0">
              <a:solidFill>
                <a:srgbClr val="2A2B2E"/>
              </a:solidFill>
              <a:effectLst/>
              <a:latin typeface="PingFang SC"/>
            </a:endParaRPr>
          </a:p>
          <a:p>
            <a:r>
              <a:rPr lang="en-US" altLang="zh-CN" b="0" i="0" dirty="0" err="1">
                <a:solidFill>
                  <a:srgbClr val="2A2B2E"/>
                </a:solidFill>
                <a:effectLst/>
                <a:latin typeface="PingFang SC"/>
              </a:rPr>
              <a:t>erd</a:t>
            </a:r>
            <a:r>
              <a:rPr lang="zh-CN" altLang="en-US" b="0" i="0" dirty="0">
                <a:solidFill>
                  <a:srgbClr val="2A2B2E"/>
                </a:solidFill>
                <a:effectLst/>
                <a:latin typeface="PingFang SC"/>
              </a:rPr>
              <a:t>不是</a:t>
            </a:r>
            <a:r>
              <a:rPr lang="en-US" altLang="zh-CN" b="0" i="0" dirty="0">
                <a:solidFill>
                  <a:srgbClr val="2A2B2E"/>
                </a:solidFill>
                <a:effectLst/>
                <a:latin typeface="PingFang SC"/>
              </a:rPr>
              <a:t>UML</a:t>
            </a:r>
            <a:r>
              <a:rPr lang="zh-CN" altLang="en-US" b="0" i="0" dirty="0">
                <a:solidFill>
                  <a:srgbClr val="2A2B2E"/>
                </a:solidFill>
                <a:effectLst/>
                <a:latin typeface="PingFang SC"/>
              </a:rPr>
              <a:t>图，关联称为关系，多样性称为基数，泛化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a:t>
            </a:r>
            <a:r>
              <a:rPr lang="en-US" altLang="zh-CN" b="0" i="0" dirty="0">
                <a:solidFill>
                  <a:srgbClr val="2A2B2E"/>
                </a:solidFill>
                <a:effectLst/>
                <a:latin typeface="PingFang SC"/>
              </a:rPr>
              <a:t>(</a:t>
            </a:r>
            <a:r>
              <a:rPr lang="zh-CN" altLang="en-US" b="0" i="0" dirty="0">
                <a:solidFill>
                  <a:srgbClr val="2A2B2E"/>
                </a:solidFill>
                <a:effectLst/>
                <a:latin typeface="PingFang SC"/>
              </a:rPr>
              <a:t>继承</a:t>
            </a:r>
            <a:r>
              <a:rPr lang="en-US" altLang="zh-CN" b="0" i="0" dirty="0">
                <a:solidFill>
                  <a:srgbClr val="2A2B2E"/>
                </a:solidFill>
                <a:effectLst/>
                <a:latin typeface="PingFang SC"/>
              </a:rPr>
              <a:t>)</a:t>
            </a:r>
            <a:r>
              <a:rPr lang="zh-CN" altLang="en-US" b="0" i="0" dirty="0">
                <a:solidFill>
                  <a:srgbClr val="2A2B2E"/>
                </a:solidFill>
                <a:effectLst/>
                <a:latin typeface="PingFang SC"/>
              </a:rPr>
              <a:t>和整体部分关系通常不显示</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71</a:t>
            </a:fld>
            <a:endParaRPr lang="en-US" altLang="zh-CN"/>
          </a:p>
        </p:txBody>
      </p:sp>
    </p:spTree>
    <p:extLst>
      <p:ext uri="{BB962C8B-B14F-4D97-AF65-F5344CB8AC3E}">
        <p14:creationId xmlns:p14="http://schemas.microsoft.com/office/powerpoint/2010/main" val="15026852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72</a:t>
            </a:fld>
            <a:endParaRPr lang="en-US" altLang="zh-CN"/>
          </a:p>
        </p:txBody>
      </p:sp>
    </p:spTree>
    <p:extLst>
      <p:ext uri="{BB962C8B-B14F-4D97-AF65-F5344CB8AC3E}">
        <p14:creationId xmlns:p14="http://schemas.microsoft.com/office/powerpoint/2010/main" val="3141329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p>
        </p:txBody>
      </p:sp>
      <p:sp>
        <p:nvSpPr>
          <p:cNvPr id="38" name="Rectangle 41"/>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endParaRPr lang="en-US" altLang="en-US" sz="3200" b="1">
              <a:solidFill>
                <a:schemeClr val="tx2"/>
              </a:solidFill>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p:cNvSpPr>
            <a:spLocks noGrp="1" noChangeArrowheads="1"/>
          </p:cNvSpPr>
          <p:nvPr>
            <p:ph type="dt" sz="half" idx="10"/>
          </p:nvPr>
        </p:nvSpPr>
        <p:spPr>
          <a:xfrm>
            <a:off x="457200" y="6248400"/>
            <a:ext cx="1371600" cy="457200"/>
          </a:xfrm>
        </p:spPr>
        <p:txBody>
          <a:bodyPr/>
          <a:lstStyle>
            <a:lvl1pPr>
              <a:defRPr/>
            </a:lvl1pPr>
          </a:lstStyle>
          <a:p>
            <a:endParaRPr lang="en-US" altLang="en-US"/>
          </a:p>
        </p:txBody>
      </p:sp>
      <p:sp>
        <p:nvSpPr>
          <p:cNvPr id="40" name="Rectangle 6"/>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p:cNvSpPr>
            <a:spLocks noGrp="1" noChangeArrowheads="1"/>
          </p:cNvSpPr>
          <p:nvPr>
            <p:ph type="sldNum" sz="quarter" idx="12"/>
          </p:nvPr>
        </p:nvSpPr>
        <p:spPr>
          <a:xfrm>
            <a:off x="7315200" y="6248400"/>
            <a:ext cx="1371600" cy="457200"/>
          </a:xfrm>
        </p:spPr>
        <p:txBody>
          <a:bodyPr/>
          <a:lstStyle>
            <a:lvl1pPr>
              <a:defRPr/>
            </a:lvl1pPr>
          </a:lstStyle>
          <a:p>
            <a:fld id="{5DEE6C93-FC9E-4838-B33D-B540F3063F2A}" type="slidenum">
              <a:rPr lang="en-US" altLang="en-US"/>
              <a:pPr/>
              <a:t>‹#›</a:t>
            </a:fld>
            <a:endParaRPr lang="en-US" altLang="en-US"/>
          </a:p>
        </p:txBody>
      </p:sp>
    </p:spTree>
    <p:extLst>
      <p:ext uri="{BB962C8B-B14F-4D97-AF65-F5344CB8AC3E}">
        <p14:creationId xmlns:p14="http://schemas.microsoft.com/office/powerpoint/2010/main" val="1114916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EACF3E79-B689-45D9-BE17-7DEEF85B4B16}" type="slidenum">
              <a:rPr lang="en-US" altLang="en-US"/>
              <a:pPr/>
              <a:t>‹#›</a:t>
            </a:fld>
            <a:endParaRPr lang="en-US" altLang="en-US"/>
          </a:p>
        </p:txBody>
      </p:sp>
    </p:spTree>
    <p:extLst>
      <p:ext uri="{BB962C8B-B14F-4D97-AF65-F5344CB8AC3E}">
        <p14:creationId xmlns:p14="http://schemas.microsoft.com/office/powerpoint/2010/main" val="1053521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FE55077F-E677-4692-863A-0AA4C38E7C1D}" type="slidenum">
              <a:rPr lang="en-US" altLang="en-US"/>
              <a:pPr/>
              <a:t>‹#›</a:t>
            </a:fld>
            <a:endParaRPr lang="en-US" altLang="en-US"/>
          </a:p>
        </p:txBody>
      </p:sp>
    </p:spTree>
    <p:extLst>
      <p:ext uri="{BB962C8B-B14F-4D97-AF65-F5344CB8AC3E}">
        <p14:creationId xmlns:p14="http://schemas.microsoft.com/office/powerpoint/2010/main" val="2548004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3A079FD0-47D3-4F54-9563-A2853DFD3623}" type="slidenum">
              <a:rPr lang="en-US" altLang="en-US"/>
              <a:pPr/>
              <a:t>‹#›</a:t>
            </a:fld>
            <a:endParaRPr lang="en-US" altLang="en-US"/>
          </a:p>
        </p:txBody>
      </p:sp>
    </p:spTree>
    <p:extLst>
      <p:ext uri="{BB962C8B-B14F-4D97-AF65-F5344CB8AC3E}">
        <p14:creationId xmlns:p14="http://schemas.microsoft.com/office/powerpoint/2010/main" val="78312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p:cNvSpPr>
            <a:spLocks noGrp="1" noChangeArrowheads="1"/>
          </p:cNvSpPr>
          <p:nvPr>
            <p:ph type="sldNum" sz="quarter" idx="12"/>
          </p:nvPr>
        </p:nvSpPr>
        <p:spPr>
          <a:ln/>
        </p:spPr>
        <p:txBody>
          <a:bodyPr/>
          <a:lstStyle>
            <a:lvl1pPr>
              <a:defRPr/>
            </a:lvl1pPr>
          </a:lstStyle>
          <a:p>
            <a:fld id="{26E9F6A3-0062-49EC-94AD-5B2E1D6EA5CE}" type="slidenum">
              <a:rPr lang="en-US" altLang="en-US"/>
              <a:pPr/>
              <a:t>‹#›</a:t>
            </a:fld>
            <a:endParaRPr lang="en-US" altLang="en-US"/>
          </a:p>
        </p:txBody>
      </p:sp>
    </p:spTree>
    <p:extLst>
      <p:ext uri="{BB962C8B-B14F-4D97-AF65-F5344CB8AC3E}">
        <p14:creationId xmlns:p14="http://schemas.microsoft.com/office/powerpoint/2010/main" val="2073526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p:cNvSpPr>
            <a:spLocks noGrp="1" noChangeArrowheads="1"/>
          </p:cNvSpPr>
          <p:nvPr>
            <p:ph type="sldNum" sz="quarter" idx="12"/>
          </p:nvPr>
        </p:nvSpPr>
        <p:spPr>
          <a:ln/>
        </p:spPr>
        <p:txBody>
          <a:bodyPr/>
          <a:lstStyle>
            <a:lvl1pPr>
              <a:defRPr/>
            </a:lvl1pPr>
          </a:lstStyle>
          <a:p>
            <a:fld id="{3126A5D3-B7A6-4D89-BED5-CBE2E1C83B39}" type="slidenum">
              <a:rPr lang="en-US" altLang="en-US"/>
              <a:pPr/>
              <a:t>‹#›</a:t>
            </a:fld>
            <a:endParaRPr lang="en-US" altLang="en-US"/>
          </a:p>
        </p:txBody>
      </p:sp>
    </p:spTree>
    <p:extLst>
      <p:ext uri="{BB962C8B-B14F-4D97-AF65-F5344CB8AC3E}">
        <p14:creationId xmlns:p14="http://schemas.microsoft.com/office/powerpoint/2010/main" val="3736462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p:cNvSpPr>
            <a:spLocks noGrp="1" noChangeArrowheads="1"/>
          </p:cNvSpPr>
          <p:nvPr>
            <p:ph type="sldNum" sz="quarter" idx="12"/>
          </p:nvPr>
        </p:nvSpPr>
        <p:spPr>
          <a:ln/>
        </p:spPr>
        <p:txBody>
          <a:bodyPr/>
          <a:lstStyle>
            <a:lvl1pPr>
              <a:defRPr/>
            </a:lvl1pPr>
          </a:lstStyle>
          <a:p>
            <a:fld id="{A68ED482-E8AC-4E5A-A85C-8B88128D2E6C}" type="slidenum">
              <a:rPr lang="en-US" altLang="en-US"/>
              <a:pPr/>
              <a:t>‹#›</a:t>
            </a:fld>
            <a:endParaRPr lang="en-US" altLang="en-US"/>
          </a:p>
        </p:txBody>
      </p:sp>
    </p:spTree>
    <p:extLst>
      <p:ext uri="{BB962C8B-B14F-4D97-AF65-F5344CB8AC3E}">
        <p14:creationId xmlns:p14="http://schemas.microsoft.com/office/powerpoint/2010/main" val="1758575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F1019AE5-5D46-4D69-A291-62CFB21431FC}" type="slidenum">
              <a:rPr lang="en-US" altLang="en-US"/>
              <a:pPr/>
              <a:t>‹#›</a:t>
            </a:fld>
            <a:endParaRPr lang="en-US" altLang="en-US"/>
          </a:p>
        </p:txBody>
      </p:sp>
    </p:spTree>
    <p:extLst>
      <p:ext uri="{BB962C8B-B14F-4D97-AF65-F5344CB8AC3E}">
        <p14:creationId xmlns:p14="http://schemas.microsoft.com/office/powerpoint/2010/main" val="273180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6108E608-4F61-47D3-ADB0-94C7C9870278}" type="slidenum">
              <a:rPr lang="en-US" altLang="en-US"/>
              <a:pPr/>
              <a:t>‹#›</a:t>
            </a:fld>
            <a:endParaRPr lang="en-US" altLang="en-US"/>
          </a:p>
        </p:txBody>
      </p:sp>
    </p:spTree>
    <p:extLst>
      <p:ext uri="{BB962C8B-B14F-4D97-AF65-F5344CB8AC3E}">
        <p14:creationId xmlns:p14="http://schemas.microsoft.com/office/powerpoint/2010/main" val="4140304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0656D6B8-0F3A-4ABF-9D6C-4A59A29AC016}" type="slidenum">
              <a:rPr lang="en-US" altLang="en-US"/>
              <a:pPr/>
              <a:t>‹#›</a:t>
            </a:fld>
            <a:endParaRPr lang="en-US" altLang="en-US"/>
          </a:p>
        </p:txBody>
      </p:sp>
    </p:spTree>
    <p:extLst>
      <p:ext uri="{BB962C8B-B14F-4D97-AF65-F5344CB8AC3E}">
        <p14:creationId xmlns:p14="http://schemas.microsoft.com/office/powerpoint/2010/main" val="1592578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164C8B8E-5CD3-45A9-A8D7-6593AE5C7D5C}" type="slidenum">
              <a:rPr lang="en-US" altLang="en-US"/>
              <a:pPr/>
              <a:t>‹#›</a:t>
            </a:fld>
            <a:endParaRPr lang="en-US" altLang="en-US"/>
          </a:p>
        </p:txBody>
      </p:sp>
    </p:spTree>
    <p:extLst>
      <p:ext uri="{BB962C8B-B14F-4D97-AF65-F5344CB8AC3E}">
        <p14:creationId xmlns:p14="http://schemas.microsoft.com/office/powerpoint/2010/main" val="758411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ln/>
        </p:spPr>
        <p:txBody>
          <a:bodyPr/>
          <a:lstStyle>
            <a:lvl1pPr>
              <a:defRPr/>
            </a:lvl1pPr>
          </a:lstStyle>
          <a:p>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p:cNvSpPr>
            <a:spLocks noGrp="1" noChangeArrowheads="1"/>
          </p:cNvSpPr>
          <p:nvPr>
            <p:ph type="sldNum" sz="quarter" idx="12"/>
          </p:nvPr>
        </p:nvSpPr>
        <p:spPr>
          <a:ln/>
        </p:spPr>
        <p:txBody>
          <a:bodyPr/>
          <a:lstStyle>
            <a:lvl1pPr>
              <a:defRPr/>
            </a:lvl1pPr>
          </a:lstStyle>
          <a:p>
            <a:fld id="{296D53B3-B103-4A6B-9946-5AC5A15A7ABC}" type="slidenum">
              <a:rPr lang="en-US" altLang="en-US"/>
              <a:pPr/>
              <a:t>‹#›</a:t>
            </a:fld>
            <a:endParaRPr lang="en-US" altLang="en-US"/>
          </a:p>
        </p:txBody>
      </p:sp>
    </p:spTree>
    <p:extLst>
      <p:ext uri="{BB962C8B-B14F-4D97-AF65-F5344CB8AC3E}">
        <p14:creationId xmlns:p14="http://schemas.microsoft.com/office/powerpoint/2010/main" val="3407070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AE04AD51-23A0-44F9-A6A5-F7449529B6DD}" type="slidenum">
              <a:rPr lang="en-US" altLang="en-US"/>
              <a:pPr/>
              <a:t>‹#›</a:t>
            </a:fld>
            <a:endParaRPr lang="en-US" altLang="en-US"/>
          </a:p>
        </p:txBody>
      </p:sp>
    </p:spTree>
    <p:extLst>
      <p:ext uri="{BB962C8B-B14F-4D97-AF65-F5344CB8AC3E}">
        <p14:creationId xmlns:p14="http://schemas.microsoft.com/office/powerpoint/2010/main" val="1489358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endParaRPr lang="en-US" altLang="en-US"/>
          </a:p>
        </p:txBody>
      </p:sp>
      <p:sp>
        <p:nvSpPr>
          <p:cNvPr id="119814" name="Rectangle 6"/>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r>
              <a:rPr lang="en-US" altLang="en-US"/>
              <a:t>Systems Analysis and Design in a Changing World, 6th Edition</a:t>
            </a:r>
          </a:p>
        </p:txBody>
      </p:sp>
      <p:sp>
        <p:nvSpPr>
          <p:cNvPr id="119815" name="Rectangle 7"/>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27DD0473-B9CA-4305-85F1-6499B2AF68FE}"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19817"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18"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19" name="Oval 11"/>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0" name="Oval 12"/>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1" name="Oval 13"/>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2" name="Oval 14"/>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3" name="Oval 15"/>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4" name="Oval 16"/>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5" name="Oval 17"/>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6" name="Oval 18"/>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7" name="Oval 19"/>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8" name="Oval 20"/>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9"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0"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1" name="Oval 23"/>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2" name="Oval 24"/>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3"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4"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5" name="Oval 27"/>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6" name="Oval 28"/>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7"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8"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9"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0" name="Oval 32"/>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1" name="Oval 33"/>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2" name="Oval 34"/>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3" name="Oval 35"/>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4" name="Oval 36"/>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5" name="Oval 37"/>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6"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7" name="Oval 39"/>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grpSp>
    </p:spTree>
  </p:cSld>
  <p:clrMap bg1="lt1" tx1="dk1" bg2="lt2" tx2="dk2" accent1="accent1" accent2="accent2" accent3="accent3" accent4="accent4" accent5="accent5" accent6="accent6" hlink="hlink" folHlink="folHlink"/>
  <p:sldLayoutIdLst>
    <p:sldLayoutId id="2147483721"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4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Systems Analysis and Design in a Changing World, 6th Edition</a:t>
            </a:r>
          </a:p>
        </p:txBody>
      </p:sp>
      <p:sp>
        <p:nvSpPr>
          <p:cNvPr id="307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C74D4AC-5E0E-4337-BD1E-3816F39459EE}" type="slidenum">
              <a:rPr lang="en-US" altLang="en-US"/>
              <a:pPr eaLnBrk="1" hangingPunct="1"/>
              <a:t>1</a:t>
            </a:fld>
            <a:endParaRPr lang="en-US" altLang="en-US"/>
          </a:p>
        </p:txBody>
      </p:sp>
      <p:sp>
        <p:nvSpPr>
          <p:cNvPr id="3076" name="Text Box 3"/>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ltLang="zh-CN" sz="4000">
                <a:solidFill>
                  <a:schemeClr val="bg1"/>
                </a:solidFill>
                <a:ea typeface="宋体" pitchFamily="2" charset="-122"/>
              </a:rPr>
              <a:t>Chapter 4</a:t>
            </a:r>
          </a:p>
        </p:txBody>
      </p:sp>
      <p:sp>
        <p:nvSpPr>
          <p:cNvPr id="3077" name="TextBox 6"/>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4400">
                <a:solidFill>
                  <a:srgbClr val="003399"/>
                </a:solidFill>
                <a:latin typeface="Times New Roman" pitchFamily="18" charset="0"/>
                <a:ea typeface="宋体" pitchFamily="2" charset="-122"/>
                <a:cs typeface="Times New Roman" pitchFamily="18" charset="0"/>
              </a:rPr>
              <a:t>INTRODUCTION TO </a:t>
            </a:r>
          </a:p>
          <a:p>
            <a:pPr eaLnBrk="1" hangingPunct="1"/>
            <a:r>
              <a:rPr lang="en-US" altLang="zh-CN" sz="4400">
                <a:solidFill>
                  <a:srgbClr val="003399"/>
                </a:solidFill>
                <a:latin typeface="Times New Roman" pitchFamily="18" charset="0"/>
                <a:ea typeface="宋体" pitchFamily="2" charset="-122"/>
                <a:cs typeface="Times New Roman" pitchFamily="18" charset="0"/>
              </a:rPr>
              <a:t>SYSTEMS ANALYSIS AND DESIGN:</a:t>
            </a:r>
          </a:p>
          <a:p>
            <a:pPr algn="r" eaLnBrk="1" hangingPunct="1"/>
            <a:r>
              <a:rPr lang="en-US" altLang="zh-CN" sz="3200">
                <a:solidFill>
                  <a:srgbClr val="0070C0"/>
                </a:solidFill>
                <a:latin typeface="Times New Roman" pitchFamily="18" charset="0"/>
                <a:ea typeface="宋体" pitchFamily="2" charset="-122"/>
                <a:cs typeface="Times New Roman" pitchFamily="18" charset="0"/>
              </a:rPr>
              <a:t>AN AGILE, ITERATIVE APPROACH</a:t>
            </a:r>
          </a:p>
        </p:txBody>
      </p:sp>
      <p:sp>
        <p:nvSpPr>
          <p:cNvPr id="9" name="Rectangle 8"/>
          <p:cNvSpPr/>
          <p:nvPr/>
        </p:nvSpPr>
        <p:spPr>
          <a:xfrm>
            <a:off x="-152400" y="32766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zh-CN" altLang="zh-CN">
              <a:solidFill>
                <a:srgbClr val="0033CC"/>
              </a:solidFill>
            </a:endParaRPr>
          </a:p>
        </p:txBody>
      </p:sp>
      <p:sp>
        <p:nvSpPr>
          <p:cNvPr id="3079" name="TextBox 9"/>
          <p:cNvSpPr txBox="1">
            <a:spLocks noChangeArrowheads="1"/>
          </p:cNvSpPr>
          <p:nvPr/>
        </p:nvSpPr>
        <p:spPr bwMode="auto">
          <a:xfrm>
            <a:off x="37338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400">
                <a:solidFill>
                  <a:schemeClr val="bg1"/>
                </a:solidFill>
                <a:ea typeface="宋体" pitchFamily="2" charset="-122"/>
              </a:rPr>
              <a:t>SATZINGER | JACKSON | BURD</a:t>
            </a:r>
          </a:p>
        </p:txBody>
      </p:sp>
      <p:sp>
        <p:nvSpPr>
          <p:cNvPr id="3080" name="TextBox 10"/>
          <p:cNvSpPr txBox="1">
            <a:spLocks noChangeArrowheads="1"/>
          </p:cNvSpPr>
          <p:nvPr/>
        </p:nvSpPr>
        <p:spPr bwMode="auto">
          <a:xfrm>
            <a:off x="762000" y="4114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3200">
                <a:solidFill>
                  <a:schemeClr val="bg1"/>
                </a:solidFill>
                <a:ea typeface="宋体" pitchFamily="2" charset="-122"/>
              </a:rPr>
              <a:t>CHAPTER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609600"/>
            <a:ext cx="6411913" cy="1143000"/>
          </a:xfrm>
        </p:spPr>
        <p:txBody>
          <a:bodyPr/>
          <a:lstStyle/>
          <a:p>
            <a:pPr algn="l" eaLnBrk="1" hangingPunct="1"/>
            <a:r>
              <a:rPr lang="en-US" altLang="zh-CN" sz="4000">
                <a:ea typeface="宋体" pitchFamily="2" charset="-122"/>
              </a:rPr>
              <a:t>Domain Modeling</a:t>
            </a:r>
          </a:p>
        </p:txBody>
      </p:sp>
      <p:sp>
        <p:nvSpPr>
          <p:cNvPr id="4099" name="Rectangle 3"/>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itchFamily="2" charset="-122"/>
              </a:rPr>
              <a:t>Introduction to Systems </a:t>
            </a:r>
          </a:p>
          <a:p>
            <a:pPr eaLnBrk="1" hangingPunct="1">
              <a:lnSpc>
                <a:spcPct val="80000"/>
              </a:lnSpc>
            </a:pPr>
            <a:r>
              <a:rPr lang="en-US" altLang="zh-CN" sz="2400">
                <a:ea typeface="宋体" pitchFamily="2" charset="-122"/>
              </a:rPr>
              <a:t>Analysis and Design: </a:t>
            </a:r>
          </a:p>
          <a:p>
            <a:pPr eaLnBrk="1" hangingPunct="1">
              <a:lnSpc>
                <a:spcPct val="80000"/>
              </a:lnSpc>
            </a:pPr>
            <a:r>
              <a:rPr lang="en-US" altLang="zh-CN" sz="2400">
                <a:ea typeface="宋体" pitchFamily="2" charset="-122"/>
              </a:rPr>
              <a:t>An Agile, Iteractive Approach </a:t>
            </a:r>
          </a:p>
          <a:p>
            <a:pPr eaLnBrk="1" hangingPunct="1">
              <a:lnSpc>
                <a:spcPct val="80000"/>
              </a:lnSpc>
            </a:pPr>
            <a:r>
              <a:rPr lang="en-US" altLang="zh-CN" sz="2400">
                <a:ea typeface="宋体" pitchFamily="2" charset="-122"/>
              </a:rPr>
              <a:t>6</a:t>
            </a:r>
            <a:r>
              <a:rPr lang="en-US" altLang="zh-CN" sz="2400" baseline="30000">
                <a:ea typeface="宋体" pitchFamily="2" charset="-122"/>
              </a:rPr>
              <a:t>th</a:t>
            </a:r>
            <a:r>
              <a:rPr lang="en-US" altLang="zh-CN" sz="2400">
                <a:ea typeface="宋体" pitchFamily="2" charset="-122"/>
              </a:rPr>
              <a:t> Ed</a:t>
            </a:r>
          </a:p>
          <a:p>
            <a:pPr eaLnBrk="1" hangingPunct="1">
              <a:lnSpc>
                <a:spcPct val="80000"/>
              </a:lnSpc>
            </a:pPr>
            <a:endParaRPr lang="en-US" altLang="zh-CN" sz="2400">
              <a:ea typeface="宋体" pitchFamily="2" charset="-122"/>
            </a:endParaRPr>
          </a:p>
          <a:p>
            <a:pPr eaLnBrk="1" hangingPunct="1">
              <a:lnSpc>
                <a:spcPct val="80000"/>
              </a:lnSpc>
            </a:pPr>
            <a:r>
              <a:rPr lang="en-US" altLang="zh-CN" sz="2400">
                <a:ea typeface="宋体" pitchFamily="2" charset="-122"/>
              </a:rPr>
              <a:t>Satzinger, Jackson &amp; Burd</a:t>
            </a:r>
          </a:p>
        </p:txBody>
      </p:sp>
      <p:sp>
        <p:nvSpPr>
          <p:cNvPr id="4100" name="Rectangle 4"/>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br>
              <a:rPr lang="en-US" altLang="zh-CN" sz="2000" b="1">
                <a:solidFill>
                  <a:schemeClr val="tx2"/>
                </a:solidFill>
                <a:ea typeface="宋体" pitchFamily="2" charset="-122"/>
              </a:rPr>
            </a:br>
            <a:r>
              <a:rPr lang="en-US" altLang="zh-CN" sz="4000" b="1">
                <a:solidFill>
                  <a:schemeClr val="tx2"/>
                </a:solidFill>
                <a:ea typeface="宋体" pitchFamily="2" charset="-122"/>
              </a:rPr>
              <a:t>Chapter 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3</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2800" dirty="0">
                <a:ea typeface="宋体" pitchFamily="2" charset="-122"/>
              </a:rPr>
              <a:t>“Things” in the Problem Domain</a:t>
            </a:r>
            <a:r>
              <a:rPr lang="zh-CN" altLang="en-US" sz="2800" dirty="0">
                <a:ea typeface="宋体" pitchFamily="2" charset="-122"/>
              </a:rPr>
              <a:t>（问题域中的“事物”）</a:t>
            </a:r>
            <a:endParaRPr lang="en-US" altLang="zh-CN" sz="2800" dirty="0">
              <a:ea typeface="宋体" pitchFamily="2" charset="-122"/>
            </a:endParaRPr>
          </a:p>
          <a:p>
            <a:pPr lvl="1" eaLnBrk="1" hangingPunct="1"/>
            <a:r>
              <a:rPr lang="en-US" altLang="zh-CN" sz="2400" dirty="0">
                <a:ea typeface="宋体" pitchFamily="2" charset="-122"/>
              </a:rPr>
              <a:t>Data entities</a:t>
            </a:r>
            <a:r>
              <a:rPr lang="zh-CN" altLang="en-US" sz="2400" dirty="0">
                <a:ea typeface="宋体" pitchFamily="2" charset="-122"/>
              </a:rPr>
              <a:t>（数据实体）</a:t>
            </a:r>
            <a:endParaRPr lang="en-US" altLang="zh-CN" sz="2400" dirty="0">
              <a:ea typeface="宋体" pitchFamily="2" charset="-122"/>
            </a:endParaRPr>
          </a:p>
          <a:p>
            <a:pPr lvl="1" eaLnBrk="1" hangingPunct="1"/>
            <a:r>
              <a:rPr lang="en-US" altLang="zh-CN" sz="2400" dirty="0">
                <a:ea typeface="宋体" pitchFamily="2" charset="-122"/>
              </a:rPr>
              <a:t>Domain classes</a:t>
            </a:r>
            <a:r>
              <a:rPr lang="zh-CN" altLang="en-US" sz="2400" dirty="0">
                <a:ea typeface="宋体" pitchFamily="2" charset="-122"/>
              </a:rPr>
              <a:t>（域类）</a:t>
            </a:r>
            <a:endParaRPr lang="en-US" altLang="zh-CN" sz="2400" dirty="0">
              <a:ea typeface="宋体" pitchFamily="2" charset="-122"/>
            </a:endParaRPr>
          </a:p>
          <a:p>
            <a:pPr eaLnBrk="1" hangingPunct="1"/>
            <a:r>
              <a:rPr lang="en-US" altLang="zh-CN" sz="2800" dirty="0">
                <a:ea typeface="宋体" pitchFamily="2" charset="-122"/>
              </a:rPr>
              <a:t>The Entity-Relationship Diagram</a:t>
            </a:r>
            <a:r>
              <a:rPr lang="zh-CN" altLang="en-US" sz="2800" dirty="0">
                <a:ea typeface="宋体" pitchFamily="2" charset="-122"/>
              </a:rPr>
              <a:t>（实体</a:t>
            </a:r>
            <a:r>
              <a:rPr lang="en-US" altLang="zh-CN" sz="2800" dirty="0">
                <a:ea typeface="宋体" pitchFamily="2" charset="-122"/>
              </a:rPr>
              <a:t>-</a:t>
            </a:r>
            <a:r>
              <a:rPr lang="zh-CN" altLang="en-US" sz="2800" dirty="0">
                <a:ea typeface="宋体" pitchFamily="2" charset="-122"/>
              </a:rPr>
              <a:t>关系图）</a:t>
            </a:r>
            <a:endParaRPr lang="en-US" altLang="zh-CN" sz="2800" dirty="0">
              <a:ea typeface="宋体" pitchFamily="2" charset="-122"/>
            </a:endParaRPr>
          </a:p>
          <a:p>
            <a:pPr eaLnBrk="1" hangingPunct="1"/>
            <a:r>
              <a:rPr lang="en-US" altLang="zh-CN" sz="2800" dirty="0">
                <a:ea typeface="宋体" pitchFamily="2" charset="-122"/>
              </a:rPr>
              <a:t>The Domain Model Class Diagram</a:t>
            </a:r>
            <a:r>
              <a:rPr lang="zh-CN" altLang="en-US" sz="2800" dirty="0">
                <a:ea typeface="宋体" pitchFamily="2" charset="-122"/>
              </a:rPr>
              <a:t>（域模型类图）</a:t>
            </a:r>
            <a:endParaRPr lang="en-US" altLang="zh-CN" sz="2800" dirty="0">
              <a:ea typeface="宋体" pitchFamily="2" charset="-122"/>
            </a:endParaRPr>
          </a:p>
          <a:p>
            <a:pPr eaLnBrk="1" hangingPunct="1"/>
            <a:r>
              <a:rPr lang="en-US" altLang="zh-CN" sz="2800" dirty="0">
                <a:ea typeface="宋体" pitchFamily="2" charset="-122"/>
              </a:rPr>
              <a:t>The Domain Model Class Diagram in the RMO example </a:t>
            </a:r>
            <a:r>
              <a:rPr lang="zh-CN" altLang="en-US" sz="2800" dirty="0">
                <a:ea typeface="宋体" pitchFamily="2" charset="-122"/>
              </a:rPr>
              <a:t>（</a:t>
            </a:r>
            <a:r>
              <a:rPr lang="en-US" altLang="zh-CN" sz="2800" dirty="0">
                <a:ea typeface="宋体" pitchFamily="2" charset="-122"/>
              </a:rPr>
              <a:t>RMO</a:t>
            </a:r>
            <a:r>
              <a:rPr lang="zh-CN" altLang="en-US" sz="2800" dirty="0">
                <a:ea typeface="宋体" pitchFamily="2" charset="-122"/>
              </a:rPr>
              <a:t>示例中的域模型类图）</a:t>
            </a:r>
            <a:endParaRPr lang="en-US" altLang="zh-CN" sz="2800" dirty="0">
              <a:ea typeface="宋体" pitchFamily="2" charset="-122"/>
            </a:endParaRPr>
          </a:p>
          <a:p>
            <a:pPr eaLnBrk="1" hangingPunct="1"/>
            <a:endParaRPr lang="en-US" altLang="zh-CN" sz="28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dirty="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dirty="0">
              <a:ea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C5DE214-2EDF-47F3-865D-B827F24ECE72}" type="slidenum">
              <a:rPr lang="en-US" altLang="en-US"/>
              <a:pPr eaLnBrk="1" hangingPunct="1"/>
              <a:t>4</a:t>
            </a:fld>
            <a:endParaRPr lang="en-US" altLang="en-US"/>
          </a:p>
        </p:txBody>
      </p:sp>
      <p:sp>
        <p:nvSpPr>
          <p:cNvPr id="6147" name="Rectangle 2"/>
          <p:cNvSpPr>
            <a:spLocks noGrp="1" noChangeArrowheads="1"/>
          </p:cNvSpPr>
          <p:nvPr>
            <p:ph type="title"/>
          </p:nvPr>
        </p:nvSpPr>
        <p:spPr>
          <a:xfrm>
            <a:off x="457200" y="122238"/>
            <a:ext cx="7543800" cy="1020762"/>
          </a:xfrm>
        </p:spPr>
        <p:txBody>
          <a:bodyPr/>
          <a:lstStyle/>
          <a:p>
            <a:pPr eaLnBrk="1" hangingPunct="1"/>
            <a:r>
              <a:rPr lang="en-US" altLang="zh-CN">
                <a:ea typeface="宋体" pitchFamily="2" charset="-122"/>
              </a:rPr>
              <a:t>Learning Objectives</a:t>
            </a:r>
          </a:p>
        </p:txBody>
      </p:sp>
      <p:sp>
        <p:nvSpPr>
          <p:cNvPr id="6148" name="Rectangle 4"/>
          <p:cNvSpPr>
            <a:spLocks noGrp="1" noChangeArrowheads="1"/>
          </p:cNvSpPr>
          <p:nvPr>
            <p:ph idx="1"/>
          </p:nvPr>
        </p:nvSpPr>
        <p:spPr>
          <a:xfrm>
            <a:off x="381000" y="1143000"/>
            <a:ext cx="8305800" cy="4987925"/>
          </a:xfrm>
        </p:spPr>
        <p:txBody>
          <a:bodyPr/>
          <a:lstStyle/>
          <a:p>
            <a:pPr eaLnBrk="1" hangingPunct="1"/>
            <a:r>
              <a:rPr lang="en-US" altLang="zh-CN" sz="2400" dirty="0">
                <a:ea typeface="宋体" pitchFamily="2" charset="-122"/>
              </a:rPr>
              <a:t>Explain how the concept of “things” in the problem domain also define requirements</a:t>
            </a:r>
            <a:r>
              <a:rPr lang="zh-CN" altLang="en-US" sz="2400" dirty="0">
                <a:ea typeface="宋体" pitchFamily="2" charset="-122"/>
              </a:rPr>
              <a:t>（解释问题域中的“事物”概念如何定义需求）</a:t>
            </a:r>
            <a:endParaRPr lang="en-US" altLang="zh-CN" sz="2400" dirty="0">
              <a:ea typeface="宋体" pitchFamily="2" charset="-122"/>
            </a:endParaRPr>
          </a:p>
          <a:p>
            <a:pPr eaLnBrk="1" hangingPunct="1"/>
            <a:r>
              <a:rPr lang="en-US" altLang="zh-CN" sz="2400" dirty="0">
                <a:ea typeface="宋体" pitchFamily="2" charset="-122"/>
              </a:rPr>
              <a:t>Identify and analyze </a:t>
            </a:r>
            <a:r>
              <a:rPr lang="en-US" altLang="zh-CN" sz="2400" u="sng" dirty="0">
                <a:ea typeface="宋体" pitchFamily="2" charset="-122"/>
              </a:rPr>
              <a:t>data entities</a:t>
            </a:r>
            <a:r>
              <a:rPr lang="zh-CN" altLang="en-US" sz="2400" u="sng" dirty="0">
                <a:ea typeface="宋体" pitchFamily="2" charset="-122"/>
              </a:rPr>
              <a:t>（数据实体）</a:t>
            </a:r>
            <a:r>
              <a:rPr lang="en-US" altLang="zh-CN" sz="2400" u="sng" dirty="0">
                <a:ea typeface="宋体" pitchFamily="2" charset="-122"/>
              </a:rPr>
              <a:t> and domain classes</a:t>
            </a:r>
            <a:r>
              <a:rPr lang="zh-CN" altLang="en-US" sz="2400" u="sng" dirty="0">
                <a:ea typeface="宋体" pitchFamily="2" charset="-122"/>
              </a:rPr>
              <a:t>（域类）</a:t>
            </a:r>
            <a:r>
              <a:rPr lang="en-US" altLang="zh-CN" sz="2400" dirty="0">
                <a:ea typeface="宋体" pitchFamily="2" charset="-122"/>
              </a:rPr>
              <a:t> needed in the system</a:t>
            </a:r>
          </a:p>
          <a:p>
            <a:pPr eaLnBrk="1" hangingPunct="1"/>
            <a:r>
              <a:rPr lang="en-US" altLang="zh-CN" sz="2400" dirty="0">
                <a:ea typeface="宋体" pitchFamily="2" charset="-122"/>
              </a:rPr>
              <a:t>Read, interpret, and create an </a:t>
            </a:r>
            <a:r>
              <a:rPr lang="en-US" altLang="zh-CN" sz="2400" u="sng" dirty="0">
                <a:ea typeface="宋体" pitchFamily="2" charset="-122"/>
              </a:rPr>
              <a:t>entity-relationship diagram</a:t>
            </a:r>
            <a:r>
              <a:rPr lang="zh-CN" altLang="en-US" sz="2400" u="sng" dirty="0">
                <a:ea typeface="宋体" pitchFamily="2" charset="-122"/>
              </a:rPr>
              <a:t>（实体</a:t>
            </a:r>
            <a:r>
              <a:rPr lang="en-US" altLang="zh-CN" sz="2400" u="sng" dirty="0">
                <a:ea typeface="宋体" pitchFamily="2" charset="-122"/>
              </a:rPr>
              <a:t>-</a:t>
            </a:r>
            <a:r>
              <a:rPr lang="zh-CN" altLang="en-US" sz="2400" u="sng" dirty="0">
                <a:ea typeface="宋体" pitchFamily="2" charset="-122"/>
              </a:rPr>
              <a:t>关系图）</a:t>
            </a:r>
            <a:endParaRPr lang="en-US" altLang="zh-CN" sz="2400" u="sng" dirty="0">
              <a:ea typeface="宋体" pitchFamily="2" charset="-122"/>
            </a:endParaRPr>
          </a:p>
          <a:p>
            <a:pPr eaLnBrk="1" hangingPunct="1"/>
            <a:r>
              <a:rPr lang="en-US" altLang="zh-CN" sz="2400" dirty="0">
                <a:ea typeface="宋体" pitchFamily="2" charset="-122"/>
              </a:rPr>
              <a:t>Read, interpret, and create a </a:t>
            </a:r>
            <a:r>
              <a:rPr lang="en-US" altLang="zh-CN" sz="2400" u="sng" dirty="0">
                <a:ea typeface="宋体" pitchFamily="2" charset="-122"/>
              </a:rPr>
              <a:t>domain model class diagram</a:t>
            </a:r>
            <a:r>
              <a:rPr lang="zh-CN" altLang="en-US" sz="2400" u="sng" dirty="0">
                <a:ea typeface="宋体" pitchFamily="2" charset="-122"/>
              </a:rPr>
              <a:t>（域模型类图）</a:t>
            </a:r>
            <a:endParaRPr lang="en-US" altLang="zh-CN" sz="2400" u="sng" dirty="0">
              <a:ea typeface="宋体" pitchFamily="2" charset="-122"/>
            </a:endParaRPr>
          </a:p>
          <a:p>
            <a:pPr eaLnBrk="1" hangingPunct="1"/>
            <a:r>
              <a:rPr lang="en-US" altLang="zh-CN" sz="2400" dirty="0">
                <a:ea typeface="宋体" pitchFamily="2" charset="-122"/>
              </a:rPr>
              <a:t>Understand the domain model class diagram for the </a:t>
            </a:r>
            <a:r>
              <a:rPr lang="en-US" altLang="zh-CN" sz="2400" u="sng" dirty="0">
                <a:ea typeface="宋体" pitchFamily="2" charset="-122"/>
              </a:rPr>
              <a:t>RMO </a:t>
            </a:r>
            <a:r>
              <a:rPr lang="en-US" altLang="zh-CN" sz="2400" dirty="0">
                <a:ea typeface="宋体" pitchFamily="2" charset="-122"/>
              </a:rPr>
              <a:t>Consolidated Sales and Marketing System</a:t>
            </a:r>
          </a:p>
        </p:txBody>
      </p:sp>
      <p:sp>
        <p:nvSpPr>
          <p:cNvPr id="614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61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1F6594F-2ECD-48BB-A7AF-1B691592BA33}" type="slidenum">
              <a:rPr lang="en-US" altLang="en-US"/>
              <a:pPr eaLnBrk="1" hangingPunct="1"/>
              <a:t>5</a:t>
            </a:fld>
            <a:endParaRPr lang="en-US" altLang="en-US"/>
          </a:p>
        </p:txBody>
      </p:sp>
      <p:sp>
        <p:nvSpPr>
          <p:cNvPr id="7171" name="Rectangle 2"/>
          <p:cNvSpPr>
            <a:spLocks noGrp="1" noChangeArrowheads="1"/>
          </p:cNvSpPr>
          <p:nvPr>
            <p:ph type="title"/>
          </p:nvPr>
        </p:nvSpPr>
        <p:spPr>
          <a:xfrm>
            <a:off x="457200" y="122238"/>
            <a:ext cx="7543800" cy="1020762"/>
          </a:xfrm>
        </p:spPr>
        <p:txBody>
          <a:bodyPr/>
          <a:lstStyle/>
          <a:p>
            <a:pPr eaLnBrk="1" hangingPunct="1"/>
            <a:r>
              <a:rPr lang="en-US" altLang="zh-CN">
                <a:ea typeface="宋体" pitchFamily="2" charset="-122"/>
              </a:rPr>
              <a:t>Overview</a:t>
            </a:r>
          </a:p>
        </p:txBody>
      </p:sp>
      <p:sp>
        <p:nvSpPr>
          <p:cNvPr id="7172" name="Rectangle 3"/>
          <p:cNvSpPr>
            <a:spLocks noGrp="1" noChangeArrowheads="1"/>
          </p:cNvSpPr>
          <p:nvPr>
            <p:ph type="body" idx="1"/>
          </p:nvPr>
        </p:nvSpPr>
        <p:spPr>
          <a:xfrm>
            <a:off x="304800" y="1219200"/>
            <a:ext cx="8229600" cy="5105400"/>
          </a:xfrm>
        </p:spPr>
        <p:txBody>
          <a:bodyPr/>
          <a:lstStyle/>
          <a:p>
            <a:pPr eaLnBrk="1" hangingPunct="1">
              <a:lnSpc>
                <a:spcPct val="90000"/>
              </a:lnSpc>
            </a:pPr>
            <a:r>
              <a:rPr lang="en-GB" altLang="zh-CN" sz="2800" dirty="0"/>
              <a:t>Chapter 3 provided an overview of identifying use cases to define functional requirements</a:t>
            </a:r>
            <a:r>
              <a:rPr lang="zh-CN" altLang="en-US" sz="2800" dirty="0"/>
              <a:t>（第三章描述了如何识别用例来定义功能需求）</a:t>
            </a:r>
            <a:endParaRPr lang="en-GB" altLang="zh-CN" sz="2800" dirty="0"/>
          </a:p>
          <a:p>
            <a:pPr eaLnBrk="1" hangingPunct="1">
              <a:lnSpc>
                <a:spcPct val="90000"/>
              </a:lnSpc>
            </a:pPr>
            <a:r>
              <a:rPr lang="en-GB" altLang="zh-CN" sz="2800" dirty="0"/>
              <a:t>This chapter focuses on another key concepts for </a:t>
            </a:r>
            <a:r>
              <a:rPr lang="en-GB" altLang="zh-CN" sz="2800" u="sng" dirty="0"/>
              <a:t>defining requirements</a:t>
            </a:r>
            <a:r>
              <a:rPr lang="en-GB" altLang="zh-CN" sz="2800" dirty="0"/>
              <a:t>— </a:t>
            </a:r>
            <a:r>
              <a:rPr lang="en-GB" altLang="zh-CN" sz="2800" u="sng" dirty="0"/>
              <a:t>data entities</a:t>
            </a:r>
            <a:r>
              <a:rPr lang="zh-CN" altLang="en-US" sz="2800" dirty="0"/>
              <a:t>（数据实体）</a:t>
            </a:r>
            <a:r>
              <a:rPr lang="en-GB" altLang="zh-CN" sz="2800" dirty="0"/>
              <a:t>or </a:t>
            </a:r>
            <a:r>
              <a:rPr lang="en-GB" altLang="zh-CN" sz="2800" u="sng" dirty="0"/>
              <a:t>domain classes</a:t>
            </a:r>
            <a:r>
              <a:rPr lang="zh-CN" altLang="en-US" sz="2800" u="sng" dirty="0"/>
              <a:t>（域类）</a:t>
            </a:r>
            <a:endParaRPr lang="en-GB" altLang="zh-CN" sz="2800" u="sng" dirty="0"/>
          </a:p>
          <a:p>
            <a:pPr lvl="1" eaLnBrk="1" hangingPunct="1">
              <a:lnSpc>
                <a:spcPct val="90000"/>
              </a:lnSpc>
            </a:pPr>
            <a:r>
              <a:rPr lang="en-GB" altLang="zh-CN" sz="2400" dirty="0"/>
              <a:t>In the RMO Tradeshow System from Chapter 1, some domain classes are Supplier, Product, and Contact</a:t>
            </a:r>
            <a:endParaRPr lang="en-GB" altLang="zh-CN" sz="2400" i="1" dirty="0"/>
          </a:p>
          <a:p>
            <a:pPr lvl="1" eaLnBrk="1" hangingPunct="1">
              <a:lnSpc>
                <a:spcPct val="90000"/>
              </a:lnSpc>
            </a:pPr>
            <a:r>
              <a:rPr lang="en-GB" altLang="zh-CN" sz="2400" dirty="0"/>
              <a:t>In this chapter’s opening case Waiters on Call, examples of domain classes are Restaurants, Menu items, Customers, Orders, Drivers, Addresses, Routes, and Payments</a:t>
            </a:r>
            <a:endParaRPr lang="en-GB" altLang="zh-CN" sz="2400" i="1" dirty="0"/>
          </a:p>
        </p:txBody>
      </p:sp>
      <p:sp>
        <p:nvSpPr>
          <p:cNvPr id="717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71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6</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solidFill>
                  <a:srgbClr val="C00000"/>
                </a:solidFill>
                <a:ea typeface="宋体" pitchFamily="2" charset="-122"/>
              </a:rPr>
              <a:t>“Things” in the Problem Domain</a:t>
            </a:r>
            <a:r>
              <a:rPr lang="zh-CN" altLang="en-US" sz="3200" dirty="0">
                <a:solidFill>
                  <a:srgbClr val="C00000"/>
                </a:solidFill>
                <a:ea typeface="宋体" pitchFamily="2" charset="-122"/>
              </a:rPr>
              <a:t>（问题域中的“事物”）</a:t>
            </a:r>
            <a:endParaRPr lang="en-US" altLang="zh-CN" sz="3200" dirty="0">
              <a:solidFill>
                <a:srgbClr val="C00000"/>
              </a:solidFill>
              <a:ea typeface="宋体" pitchFamily="2" charset="-122"/>
            </a:endParaRP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ea typeface="宋体" pitchFamily="2" charset="-122"/>
              </a:rPr>
              <a:t>The Entity-Relationship Diagram</a:t>
            </a:r>
          </a:p>
          <a:p>
            <a:pPr eaLnBrk="1" hangingPunct="1"/>
            <a:r>
              <a:rPr lang="en-US" altLang="zh-CN" sz="3200" dirty="0">
                <a:ea typeface="宋体" pitchFamily="2" charset="-122"/>
              </a:rPr>
              <a:t>The Domain Model Class Diagram</a:t>
            </a:r>
          </a:p>
          <a:p>
            <a:pPr eaLnBrk="1" hangingPunct="1"/>
            <a:r>
              <a:rPr lang="en-US" altLang="zh-CN" sz="3200" dirty="0">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extLst>
      <p:ext uri="{BB962C8B-B14F-4D97-AF65-F5344CB8AC3E}">
        <p14:creationId xmlns:p14="http://schemas.microsoft.com/office/powerpoint/2010/main" val="28657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D8B343F-219D-44DA-B43F-75409AB84692}" type="slidenum">
              <a:rPr lang="en-US" altLang="en-US"/>
              <a:pPr eaLnBrk="1" hangingPunct="1"/>
              <a:t>7</a:t>
            </a:fld>
            <a:endParaRPr lang="en-US" altLang="en-US"/>
          </a:p>
        </p:txBody>
      </p:sp>
      <p:sp>
        <p:nvSpPr>
          <p:cNvPr id="8195" name="Rectangle 2"/>
          <p:cNvSpPr>
            <a:spLocks noGrp="1" noChangeArrowheads="1"/>
          </p:cNvSpPr>
          <p:nvPr>
            <p:ph type="title"/>
          </p:nvPr>
        </p:nvSpPr>
        <p:spPr>
          <a:xfrm>
            <a:off x="457200" y="122238"/>
            <a:ext cx="7543800" cy="1020762"/>
          </a:xfrm>
        </p:spPr>
        <p:txBody>
          <a:bodyPr/>
          <a:lstStyle/>
          <a:p>
            <a:pPr eaLnBrk="1" hangingPunct="1"/>
            <a:r>
              <a:rPr lang="en-US" altLang="zh-CN" sz="3600">
                <a:ea typeface="宋体" pitchFamily="2" charset="-122"/>
              </a:rPr>
              <a:t>Things in the Problem Domain</a:t>
            </a:r>
          </a:p>
        </p:txBody>
      </p:sp>
      <p:sp>
        <p:nvSpPr>
          <p:cNvPr id="8196" name="Rectangle 3"/>
          <p:cNvSpPr>
            <a:spLocks noGrp="1" noChangeArrowheads="1"/>
          </p:cNvSpPr>
          <p:nvPr>
            <p:ph type="body" idx="1"/>
          </p:nvPr>
        </p:nvSpPr>
        <p:spPr>
          <a:xfrm>
            <a:off x="304800" y="1371600"/>
            <a:ext cx="8229600" cy="4724400"/>
          </a:xfrm>
        </p:spPr>
        <p:txBody>
          <a:bodyPr/>
          <a:lstStyle/>
          <a:p>
            <a:pPr eaLnBrk="1" hangingPunct="1">
              <a:lnSpc>
                <a:spcPct val="80000"/>
              </a:lnSpc>
            </a:pPr>
            <a:r>
              <a:rPr lang="en-US" altLang="zh-CN" sz="2800" dirty="0">
                <a:ea typeface="宋体" pitchFamily="2" charset="-122"/>
              </a:rPr>
              <a:t>Problem domain</a:t>
            </a:r>
            <a:r>
              <a:rPr lang="zh-CN" altLang="en-US" sz="2800" dirty="0">
                <a:ea typeface="宋体" pitchFamily="2" charset="-122"/>
              </a:rPr>
              <a:t>（问题域）</a:t>
            </a:r>
            <a:r>
              <a:rPr lang="en-US" altLang="zh-CN" sz="2800" dirty="0">
                <a:ea typeface="宋体" pitchFamily="2" charset="-122"/>
              </a:rPr>
              <a:t>—the specific area (or domain) of the users’ business need that is within the scope of the new system</a:t>
            </a:r>
            <a:r>
              <a:rPr lang="zh-CN" altLang="en-US" sz="2800" dirty="0">
                <a:ea typeface="宋体" pitchFamily="2" charset="-122"/>
              </a:rPr>
              <a:t>（在新系统范围内的用户业务需求的特定区域</a:t>
            </a:r>
            <a:r>
              <a:rPr lang="en-US" altLang="zh-CN" sz="2800" dirty="0">
                <a:ea typeface="宋体" pitchFamily="2" charset="-122"/>
              </a:rPr>
              <a:t>/</a:t>
            </a:r>
            <a:r>
              <a:rPr lang="zh-CN" altLang="en-US" sz="2800" dirty="0">
                <a:ea typeface="宋体" pitchFamily="2" charset="-122"/>
              </a:rPr>
              <a:t>领域）</a:t>
            </a:r>
            <a:r>
              <a:rPr lang="en-US" altLang="zh-CN" sz="2800" dirty="0">
                <a:ea typeface="宋体" pitchFamily="2" charset="-122"/>
              </a:rPr>
              <a:t>.</a:t>
            </a:r>
          </a:p>
          <a:p>
            <a:pPr eaLnBrk="1" hangingPunct="1">
              <a:lnSpc>
                <a:spcPct val="80000"/>
              </a:lnSpc>
            </a:pPr>
            <a:r>
              <a:rPr lang="en-US" altLang="zh-CN" sz="2800" dirty="0">
                <a:ea typeface="宋体" pitchFamily="2" charset="-122"/>
              </a:rPr>
              <a:t>“Things” are those items users work with when accomplishing tasks that need to be remembered</a:t>
            </a:r>
            <a:r>
              <a:rPr lang="zh-CN" altLang="en-US" sz="2800" dirty="0">
                <a:ea typeface="宋体" pitchFamily="2" charset="-122"/>
              </a:rPr>
              <a:t>（“事物”是用户在完成任务时使用的项目）</a:t>
            </a:r>
            <a:endParaRPr lang="en-US" altLang="zh-CN" sz="2800" dirty="0">
              <a:ea typeface="宋体" pitchFamily="2" charset="-122"/>
            </a:endParaRPr>
          </a:p>
          <a:p>
            <a:pPr lvl="1" eaLnBrk="1" hangingPunct="1">
              <a:lnSpc>
                <a:spcPct val="80000"/>
              </a:lnSpc>
            </a:pPr>
            <a:r>
              <a:rPr lang="en-US" altLang="zh-CN" sz="2400" dirty="0">
                <a:ea typeface="宋体" pitchFamily="2" charset="-122"/>
              </a:rPr>
              <a:t>Examples of “Things” are products, sales, shippers, customers, invoices, payments, etc.</a:t>
            </a:r>
            <a:r>
              <a:rPr lang="zh-CN" altLang="en-US" sz="2400" dirty="0">
                <a:ea typeface="宋体" pitchFamily="2" charset="-122"/>
              </a:rPr>
              <a:t>（例如：产品、销售、发货人、客户、发票、付款等）</a:t>
            </a:r>
            <a:endParaRPr lang="en-US" altLang="zh-CN" sz="2400" dirty="0">
              <a:ea typeface="宋体" pitchFamily="2" charset="-122"/>
            </a:endParaRPr>
          </a:p>
        </p:txBody>
      </p:sp>
      <p:sp>
        <p:nvSpPr>
          <p:cNvPr id="819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81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D8B343F-219D-44DA-B43F-75409AB84692}" type="slidenum">
              <a:rPr lang="en-US" altLang="en-US"/>
              <a:pPr eaLnBrk="1" hangingPunct="1"/>
              <a:t>8</a:t>
            </a:fld>
            <a:endParaRPr lang="en-US" altLang="en-US"/>
          </a:p>
        </p:txBody>
      </p:sp>
      <p:sp>
        <p:nvSpPr>
          <p:cNvPr id="8195" name="Rectangle 2"/>
          <p:cNvSpPr>
            <a:spLocks noGrp="1" noChangeArrowheads="1"/>
          </p:cNvSpPr>
          <p:nvPr>
            <p:ph type="title"/>
          </p:nvPr>
        </p:nvSpPr>
        <p:spPr>
          <a:xfrm>
            <a:off x="457200" y="122238"/>
            <a:ext cx="7543800" cy="1020762"/>
          </a:xfrm>
        </p:spPr>
        <p:txBody>
          <a:bodyPr/>
          <a:lstStyle/>
          <a:p>
            <a:pPr eaLnBrk="1" hangingPunct="1"/>
            <a:r>
              <a:rPr lang="en-US" altLang="zh-CN" sz="3600">
                <a:ea typeface="宋体" pitchFamily="2" charset="-122"/>
              </a:rPr>
              <a:t>Things in the Problem Domain</a:t>
            </a:r>
          </a:p>
        </p:txBody>
      </p:sp>
      <p:sp>
        <p:nvSpPr>
          <p:cNvPr id="8196" name="Rectangle 3"/>
          <p:cNvSpPr>
            <a:spLocks noGrp="1" noChangeArrowheads="1"/>
          </p:cNvSpPr>
          <p:nvPr>
            <p:ph type="body" idx="1"/>
          </p:nvPr>
        </p:nvSpPr>
        <p:spPr>
          <a:xfrm>
            <a:off x="304800" y="1371600"/>
            <a:ext cx="8229600" cy="4724400"/>
          </a:xfrm>
        </p:spPr>
        <p:txBody>
          <a:bodyPr/>
          <a:lstStyle/>
          <a:p>
            <a:pPr eaLnBrk="1" hangingPunct="1">
              <a:lnSpc>
                <a:spcPct val="80000"/>
              </a:lnSpc>
            </a:pPr>
            <a:r>
              <a:rPr lang="en-US" altLang="zh-CN" sz="2800" dirty="0">
                <a:ea typeface="宋体" pitchFamily="2" charset="-122"/>
              </a:rPr>
              <a:t>These “Things” are modeled as domain classes or data entities</a:t>
            </a:r>
            <a:r>
              <a:rPr lang="zh-CN" altLang="en-US" sz="2800" dirty="0">
                <a:ea typeface="宋体" pitchFamily="2" charset="-122"/>
              </a:rPr>
              <a:t>（这些“事物”被建模为域类或数据实体）</a:t>
            </a:r>
            <a:endParaRPr lang="en-US" altLang="zh-CN" sz="2800" dirty="0">
              <a:ea typeface="宋体" pitchFamily="2" charset="-122"/>
            </a:endParaRPr>
          </a:p>
          <a:p>
            <a:pPr eaLnBrk="1" hangingPunct="1">
              <a:lnSpc>
                <a:spcPct val="80000"/>
              </a:lnSpc>
            </a:pPr>
            <a:r>
              <a:rPr lang="en-US" altLang="zh-CN" sz="2800" dirty="0">
                <a:ea typeface="宋体" pitchFamily="2" charset="-122"/>
              </a:rPr>
              <a:t>In </a:t>
            </a:r>
            <a:r>
              <a:rPr lang="en-US" altLang="zh-CN" sz="2800" u="sng" dirty="0">
                <a:ea typeface="宋体" pitchFamily="2" charset="-122"/>
              </a:rPr>
              <a:t>this course</a:t>
            </a:r>
            <a:r>
              <a:rPr lang="en-US" altLang="zh-CN" sz="2800" dirty="0">
                <a:ea typeface="宋体" pitchFamily="2" charset="-122"/>
              </a:rPr>
              <a:t>, we will call them </a:t>
            </a:r>
            <a:r>
              <a:rPr lang="en-US" altLang="zh-CN" sz="2800" dirty="0">
                <a:solidFill>
                  <a:srgbClr val="C00000"/>
                </a:solidFill>
                <a:ea typeface="宋体" pitchFamily="2" charset="-122"/>
              </a:rPr>
              <a:t>domain classes</a:t>
            </a:r>
            <a:r>
              <a:rPr lang="zh-CN" altLang="en-US" sz="2800" dirty="0">
                <a:solidFill>
                  <a:srgbClr val="C00000"/>
                </a:solidFill>
                <a:ea typeface="宋体" pitchFamily="2" charset="-122"/>
              </a:rPr>
              <a:t>（域类）</a:t>
            </a:r>
            <a:r>
              <a:rPr lang="en-US" altLang="zh-CN" sz="2800" dirty="0">
                <a:ea typeface="宋体" pitchFamily="2" charset="-122"/>
              </a:rPr>
              <a:t>. In </a:t>
            </a:r>
            <a:r>
              <a:rPr lang="en-US" altLang="zh-CN" sz="2800" u="sng" dirty="0">
                <a:ea typeface="宋体" pitchFamily="2" charset="-122"/>
              </a:rPr>
              <a:t>database class </a:t>
            </a:r>
            <a:r>
              <a:rPr lang="en-US" altLang="zh-CN" sz="2800" dirty="0">
                <a:ea typeface="宋体" pitchFamily="2" charset="-122"/>
              </a:rPr>
              <a:t>you call them </a:t>
            </a:r>
            <a:r>
              <a:rPr lang="en-US" altLang="zh-CN" sz="2800" dirty="0">
                <a:solidFill>
                  <a:srgbClr val="C00000"/>
                </a:solidFill>
                <a:ea typeface="宋体" pitchFamily="2" charset="-122"/>
              </a:rPr>
              <a:t>data entities</a:t>
            </a:r>
            <a:r>
              <a:rPr lang="zh-CN" altLang="en-US" sz="2800" dirty="0">
                <a:solidFill>
                  <a:srgbClr val="C00000"/>
                </a:solidFill>
                <a:ea typeface="宋体" pitchFamily="2" charset="-122"/>
              </a:rPr>
              <a:t>（数据实体）</a:t>
            </a:r>
            <a:endParaRPr lang="en-GB" altLang="zh-CN" sz="2800" dirty="0">
              <a:solidFill>
                <a:srgbClr val="C00000"/>
              </a:solidFill>
            </a:endParaRPr>
          </a:p>
        </p:txBody>
      </p:sp>
      <p:sp>
        <p:nvSpPr>
          <p:cNvPr id="819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81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1465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3C78C3A-67CB-409C-B414-C475F3B11F29}" type="slidenum">
              <a:rPr lang="en-US" altLang="en-US"/>
              <a:pPr eaLnBrk="1" hangingPunct="1"/>
              <a:t>9</a:t>
            </a:fld>
            <a:endParaRPr lang="en-US" altLang="en-US"/>
          </a:p>
        </p:txBody>
      </p:sp>
      <p:sp>
        <p:nvSpPr>
          <p:cNvPr id="9219" name="Rectangle 2"/>
          <p:cNvSpPr>
            <a:spLocks noGrp="1" noChangeArrowheads="1"/>
          </p:cNvSpPr>
          <p:nvPr>
            <p:ph type="title"/>
          </p:nvPr>
        </p:nvSpPr>
        <p:spPr>
          <a:xfrm>
            <a:off x="457200" y="122238"/>
            <a:ext cx="7543800" cy="1096962"/>
          </a:xfrm>
        </p:spPr>
        <p:txBody>
          <a:bodyPr/>
          <a:lstStyle/>
          <a:p>
            <a:pPr eaLnBrk="1" hangingPunct="1"/>
            <a:r>
              <a:rPr lang="en-US" altLang="zh-CN" sz="3600" dirty="0">
                <a:ea typeface="宋体" pitchFamily="2" charset="-122"/>
              </a:rPr>
              <a:t>Things in the Problem Domain</a:t>
            </a:r>
            <a:br>
              <a:rPr lang="en-US" altLang="zh-CN" sz="3600" dirty="0">
                <a:ea typeface="宋体" pitchFamily="2" charset="-122"/>
              </a:rPr>
            </a:br>
            <a:r>
              <a:rPr lang="en-US" altLang="zh-CN" sz="2800" dirty="0">
                <a:ea typeface="宋体" pitchFamily="2" charset="-122"/>
              </a:rPr>
              <a:t>Two Techniques for Identifying them</a:t>
            </a:r>
          </a:p>
        </p:txBody>
      </p:sp>
      <p:sp>
        <p:nvSpPr>
          <p:cNvPr id="9220" name="Rectangle 3"/>
          <p:cNvSpPr>
            <a:spLocks noGrp="1" noChangeArrowheads="1"/>
          </p:cNvSpPr>
          <p:nvPr>
            <p:ph type="body" idx="1"/>
          </p:nvPr>
        </p:nvSpPr>
        <p:spPr>
          <a:xfrm>
            <a:off x="304800" y="1371600"/>
            <a:ext cx="8229600" cy="4572000"/>
          </a:xfrm>
        </p:spPr>
        <p:txBody>
          <a:bodyPr/>
          <a:lstStyle/>
          <a:p>
            <a:pPr eaLnBrk="1" hangingPunct="1"/>
            <a:r>
              <a:rPr lang="en-US" altLang="zh-CN" dirty="0">
                <a:ea typeface="宋体" pitchFamily="2" charset="-122"/>
              </a:rPr>
              <a:t>Brainstorming Technique</a:t>
            </a:r>
            <a:r>
              <a:rPr lang="zh-CN" altLang="en-US" dirty="0">
                <a:ea typeface="宋体" pitchFamily="2" charset="-122"/>
              </a:rPr>
              <a:t>（头脑风暴法）</a:t>
            </a:r>
            <a:endParaRPr lang="en-US" altLang="zh-CN" dirty="0">
              <a:ea typeface="宋体" pitchFamily="2" charset="-122"/>
            </a:endParaRPr>
          </a:p>
          <a:p>
            <a:pPr lvl="1" eaLnBrk="1" hangingPunct="1"/>
            <a:r>
              <a:rPr lang="en-US" altLang="zh-CN" dirty="0">
                <a:ea typeface="宋体" pitchFamily="2" charset="-122"/>
              </a:rPr>
              <a:t>Use a checklist of all of the usual types of things typically found and brainstorm to identify domain classes of each type</a:t>
            </a:r>
            <a:r>
              <a:rPr lang="zh-CN" altLang="en-US" dirty="0">
                <a:ea typeface="宋体" pitchFamily="2" charset="-122"/>
              </a:rPr>
              <a:t>（使用所有事物类型的清单）</a:t>
            </a:r>
            <a:endParaRPr lang="en-US" altLang="zh-CN" dirty="0">
              <a:ea typeface="宋体" pitchFamily="2" charset="-122"/>
            </a:endParaRPr>
          </a:p>
          <a:p>
            <a:pPr eaLnBrk="1" hangingPunct="1"/>
            <a:r>
              <a:rPr lang="en-US" altLang="zh-CN" dirty="0">
                <a:ea typeface="宋体" pitchFamily="2" charset="-122"/>
              </a:rPr>
              <a:t>Noun Technique</a:t>
            </a:r>
            <a:r>
              <a:rPr lang="zh-CN" altLang="en-US" dirty="0">
                <a:ea typeface="宋体" pitchFamily="2" charset="-122"/>
              </a:rPr>
              <a:t>（名词法）</a:t>
            </a:r>
            <a:endParaRPr lang="en-US" altLang="zh-CN" dirty="0">
              <a:ea typeface="宋体" pitchFamily="2" charset="-122"/>
            </a:endParaRPr>
          </a:p>
          <a:p>
            <a:pPr lvl="1" eaLnBrk="1" hangingPunct="1"/>
            <a:r>
              <a:rPr lang="en-US" altLang="zh-CN" dirty="0">
                <a:ea typeface="宋体" pitchFamily="2" charset="-122"/>
              </a:rPr>
              <a:t>Identify all of the nouns that come up when the system is described and determine if each is a domain class, an attribute, or not something we need to remember </a:t>
            </a:r>
            <a:r>
              <a:rPr lang="zh-CN" altLang="en-US" dirty="0">
                <a:ea typeface="宋体" pitchFamily="2" charset="-122"/>
              </a:rPr>
              <a:t>（识别在描述系统时出现的所有名词）</a:t>
            </a:r>
            <a:endParaRPr lang="en-US" altLang="zh-CN" dirty="0">
              <a:ea typeface="宋体" pitchFamily="2" charset="-122"/>
            </a:endParaRPr>
          </a:p>
          <a:p>
            <a:pPr eaLnBrk="1" hangingPunct="1"/>
            <a:endParaRPr lang="en-GB" altLang="zh-CN" sz="3200" dirty="0"/>
          </a:p>
        </p:txBody>
      </p:sp>
      <p:sp>
        <p:nvSpPr>
          <p:cNvPr id="922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92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10</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Steps</a:t>
            </a:r>
            <a:r>
              <a:rPr lang="zh-CN" altLang="en-US" sz="3600" dirty="0">
                <a:ea typeface="宋体" pitchFamily="2" charset="-122"/>
              </a:rPr>
              <a:t>（头脑风暴法）</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458200" cy="4724400"/>
          </a:xfrm>
        </p:spPr>
        <p:txBody>
          <a:bodyPr/>
          <a:lstStyle/>
          <a:p>
            <a:pPr eaLnBrk="1" hangingPunct="1">
              <a:lnSpc>
                <a:spcPct val="80000"/>
              </a:lnSpc>
              <a:buFont typeface="Wingdings" pitchFamily="2" charset="2"/>
              <a:buAutoNum type="arabicPeriod"/>
            </a:pPr>
            <a:r>
              <a:rPr lang="en-US" altLang="zh-CN" sz="2800" dirty="0">
                <a:ea typeface="宋体" pitchFamily="2" charset="-122"/>
              </a:rPr>
              <a:t>Identify a </a:t>
            </a:r>
            <a:r>
              <a:rPr lang="en-US" altLang="zh-CN" sz="2800" u="sng" dirty="0">
                <a:ea typeface="宋体" pitchFamily="2" charset="-122"/>
              </a:rPr>
              <a:t>user</a:t>
            </a:r>
            <a:r>
              <a:rPr lang="zh-CN" altLang="en-US" sz="2800" u="sng" dirty="0">
                <a:ea typeface="宋体" pitchFamily="2" charset="-122"/>
              </a:rPr>
              <a:t>（用户）</a:t>
            </a:r>
            <a:r>
              <a:rPr lang="en-US" altLang="zh-CN" sz="2800" dirty="0">
                <a:ea typeface="宋体" pitchFamily="2" charset="-122"/>
              </a:rPr>
              <a:t> and a set of </a:t>
            </a:r>
            <a:r>
              <a:rPr lang="en-US" altLang="zh-CN" sz="2800" u="sng" dirty="0">
                <a:ea typeface="宋体" pitchFamily="2" charset="-122"/>
              </a:rPr>
              <a:t>use cases</a:t>
            </a:r>
            <a:r>
              <a:rPr lang="zh-CN" altLang="en-US" sz="2800" u="sng" dirty="0">
                <a:ea typeface="宋体" pitchFamily="2" charset="-122"/>
              </a:rPr>
              <a:t>（用例）</a:t>
            </a:r>
            <a:endParaRPr lang="en-US" altLang="zh-CN" sz="2800" u="sng" dirty="0">
              <a:ea typeface="宋体" pitchFamily="2" charset="-122"/>
            </a:endParaRPr>
          </a:p>
          <a:p>
            <a:pPr eaLnBrk="1" hangingPunct="1">
              <a:lnSpc>
                <a:spcPct val="80000"/>
              </a:lnSpc>
              <a:buFont typeface="Wingdings" pitchFamily="2" charset="2"/>
              <a:buAutoNum type="arabicPeriod"/>
            </a:pPr>
            <a:r>
              <a:rPr lang="en-US" altLang="zh-CN" sz="2800" dirty="0">
                <a:ea typeface="宋体" pitchFamily="2" charset="-122"/>
              </a:rPr>
              <a:t>Brainstorm with the user to identify </a:t>
            </a:r>
            <a:r>
              <a:rPr lang="en-US" altLang="zh-CN" sz="2800" u="sng" dirty="0">
                <a:ea typeface="宋体" pitchFamily="2" charset="-122"/>
              </a:rPr>
              <a:t>things involved when carrying out the use case</a:t>
            </a:r>
            <a:r>
              <a:rPr lang="zh-CN" altLang="en-US" sz="2800" u="sng" dirty="0">
                <a:ea typeface="宋体" pitchFamily="2" charset="-122"/>
              </a:rPr>
              <a:t>（定义当实施用例时所包含的事物）</a:t>
            </a:r>
            <a:r>
              <a:rPr lang="en-US" altLang="zh-CN" sz="2800" dirty="0">
                <a:ea typeface="宋体" pitchFamily="2" charset="-122"/>
              </a:rPr>
              <a:t>—that is, things about which information should be captured by the system.</a:t>
            </a:r>
          </a:p>
          <a:p>
            <a:pPr eaLnBrk="1" hangingPunct="1">
              <a:lnSpc>
                <a:spcPct val="80000"/>
              </a:lnSpc>
              <a:buFont typeface="Wingdings" pitchFamily="2" charset="2"/>
              <a:buAutoNum type="arabicPeriod"/>
            </a:pPr>
            <a:r>
              <a:rPr lang="en-US" altLang="zh-CN" sz="2800" dirty="0">
                <a:ea typeface="宋体" pitchFamily="2" charset="-122"/>
              </a:rPr>
              <a:t>Use the types of things (categories) to systematically ask questions about </a:t>
            </a:r>
            <a:r>
              <a:rPr lang="en-US" altLang="zh-CN" sz="2800" u="sng" dirty="0">
                <a:ea typeface="宋体" pitchFamily="2" charset="-122"/>
              </a:rPr>
              <a:t>potential things</a:t>
            </a:r>
            <a:r>
              <a:rPr lang="en-US" altLang="zh-CN" sz="2800" dirty="0">
                <a:ea typeface="宋体" pitchFamily="2" charset="-122"/>
              </a:rPr>
              <a:t>, such as the following: Are there any tangible things you store information about? Are there any locations involved? Are there roles played by people that you need to remember?</a:t>
            </a:r>
            <a:r>
              <a:rPr lang="zh-CN" altLang="en-US" sz="2800" dirty="0">
                <a:ea typeface="宋体" pitchFamily="2" charset="-122"/>
              </a:rPr>
              <a:t>（使用事物类型来系统地询问关于潜在事物的问题）</a:t>
            </a:r>
            <a:endParaRPr lang="en-US" altLang="zh-CN" sz="2800" dirty="0">
              <a:ea typeface="宋体" pitchFamily="2" charset="-122"/>
            </a:endParaRPr>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11</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Steps</a:t>
            </a:r>
            <a:r>
              <a:rPr lang="zh-CN" altLang="en-US" sz="3600" dirty="0">
                <a:ea typeface="宋体" pitchFamily="2" charset="-122"/>
              </a:rPr>
              <a:t>（头脑风暴法）</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80000"/>
              </a:lnSpc>
              <a:buNone/>
            </a:pPr>
            <a:r>
              <a:rPr lang="en-US" altLang="zh-CN" sz="2400" dirty="0">
                <a:ea typeface="宋体" pitchFamily="2" charset="-122"/>
              </a:rPr>
              <a:t>4. Continue to work with all types of users and stakeholders to expand the brainstorming list</a:t>
            </a:r>
            <a:r>
              <a:rPr lang="zh-CN" altLang="en-US" sz="2400" dirty="0">
                <a:ea typeface="宋体" pitchFamily="2" charset="-122"/>
              </a:rPr>
              <a:t>（</a:t>
            </a:r>
            <a:r>
              <a:rPr lang="zh-CN" altLang="en-US" sz="2400" dirty="0"/>
              <a:t>继续与各种类型的用户和利益相关者工作，以此来扩大头脑风暴列表</a:t>
            </a:r>
            <a:r>
              <a:rPr lang="zh-CN" altLang="en-US" sz="2400" dirty="0">
                <a:ea typeface="宋体" pitchFamily="2" charset="-122"/>
              </a:rPr>
              <a:t>）</a:t>
            </a:r>
            <a:endParaRPr lang="en-US" altLang="zh-CN" sz="2400" dirty="0">
              <a:ea typeface="宋体" pitchFamily="2" charset="-122"/>
            </a:endParaRPr>
          </a:p>
          <a:p>
            <a:pPr marL="0" indent="0" eaLnBrk="1" hangingPunct="1">
              <a:lnSpc>
                <a:spcPct val="80000"/>
              </a:lnSpc>
              <a:buNone/>
            </a:pPr>
            <a:r>
              <a:rPr lang="en-US" altLang="zh-CN" sz="2400" dirty="0">
                <a:ea typeface="宋体" pitchFamily="2" charset="-122"/>
              </a:rPr>
              <a:t>5. Merge the results, eliminate any duplicates, and compile an initial list</a:t>
            </a:r>
            <a:r>
              <a:rPr lang="en-US" altLang="zh-CN" sz="1700" dirty="0">
                <a:ea typeface="宋体" pitchFamily="2" charset="-122"/>
              </a:rPr>
              <a:t> </a:t>
            </a:r>
            <a:r>
              <a:rPr lang="zh-CN" altLang="en-US" sz="2400" dirty="0"/>
              <a:t>（合并所有的结果，排除所偶的重复内容并编制一个初步列表）</a:t>
            </a:r>
            <a:endParaRPr lang="en-GB" altLang="zh-CN" sz="24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03431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12</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“作为地勤员工，我们需要在每一架飞机起飞前，安排检修人员对飞机进行全方位的检查，检查至少应当在航班登机时间开始前半小时完成。”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文本框 6">
            <a:extLst>
              <a:ext uri="{FF2B5EF4-FFF2-40B4-BE49-F238E27FC236}">
                <a16:creationId xmlns:a16="http://schemas.microsoft.com/office/drawing/2014/main" id="{BC958B21-20EC-4DC1-935F-60D9DFA047FA}"/>
              </a:ext>
            </a:extLst>
          </p:cNvPr>
          <p:cNvSpPr txBox="1"/>
          <p:nvPr/>
        </p:nvSpPr>
        <p:spPr>
          <a:xfrm>
            <a:off x="464820" y="2514600"/>
            <a:ext cx="5320687"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C00000"/>
                </a:solidFill>
              </a:rPr>
              <a:t>1&amp;2. </a:t>
            </a:r>
            <a:r>
              <a:rPr lang="zh-CN" altLang="en-US" dirty="0">
                <a:solidFill>
                  <a:srgbClr val="C00000"/>
                </a:solidFill>
              </a:rPr>
              <a:t>根据用例来找出系统中的“</a:t>
            </a:r>
            <a:r>
              <a:rPr lang="en-US" altLang="zh-CN" dirty="0">
                <a:solidFill>
                  <a:srgbClr val="C00000"/>
                </a:solidFill>
              </a:rPr>
              <a:t>Things</a:t>
            </a:r>
            <a:r>
              <a:rPr lang="zh-CN" altLang="en-US" dirty="0">
                <a:solidFill>
                  <a:srgbClr val="C00000"/>
                </a:solidFill>
              </a:rPr>
              <a:t>”，即事物</a:t>
            </a:r>
          </a:p>
        </p:txBody>
      </p:sp>
    </p:spTree>
    <p:extLst>
      <p:ext uri="{BB962C8B-B14F-4D97-AF65-F5344CB8AC3E}">
        <p14:creationId xmlns:p14="http://schemas.microsoft.com/office/powerpoint/2010/main" val="66188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13</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a:t>
            </a:r>
            <a:r>
              <a:rPr lang="zh-CN" altLang="en-US" sz="2000" dirty="0">
                <a:solidFill>
                  <a:srgbClr val="C00000"/>
                </a:solidFill>
              </a:rPr>
              <a:t>地勤员工</a:t>
            </a:r>
            <a:r>
              <a:rPr lang="zh-CN" altLang="en-US" sz="2000" dirty="0"/>
              <a:t>，我们需要在每一架</a:t>
            </a:r>
            <a:r>
              <a:rPr lang="zh-CN" altLang="en-US" sz="2000" dirty="0">
                <a:solidFill>
                  <a:srgbClr val="C00000"/>
                </a:solidFill>
              </a:rPr>
              <a:t>飞机</a:t>
            </a:r>
            <a:r>
              <a:rPr lang="zh-CN" altLang="en-US" sz="2000" dirty="0"/>
              <a:t>起飞前，安排</a:t>
            </a:r>
            <a:r>
              <a:rPr lang="zh-CN" altLang="en-US" sz="2000" dirty="0">
                <a:solidFill>
                  <a:srgbClr val="C00000"/>
                </a:solidFill>
              </a:rPr>
              <a:t>检修人员</a:t>
            </a:r>
            <a:r>
              <a:rPr lang="zh-CN" altLang="en-US" sz="2000" dirty="0"/>
              <a:t>对飞机进行全方位的</a:t>
            </a:r>
            <a:r>
              <a:rPr lang="zh-CN" altLang="en-US" sz="2000" dirty="0">
                <a:solidFill>
                  <a:srgbClr val="C00000"/>
                </a:solidFill>
              </a:rPr>
              <a:t>检查</a:t>
            </a:r>
            <a:r>
              <a:rPr lang="zh-CN" altLang="en-US" sz="2000" dirty="0"/>
              <a:t>，检查至少应当在</a:t>
            </a:r>
            <a:r>
              <a:rPr lang="zh-CN" altLang="en-US" sz="2000" dirty="0">
                <a:solidFill>
                  <a:srgbClr val="C00000"/>
                </a:solidFill>
              </a:rPr>
              <a:t>航班</a:t>
            </a:r>
            <a:r>
              <a:rPr lang="zh-CN" altLang="en-US" sz="2000" dirty="0"/>
              <a:t>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27DFAA50-8CF1-4248-B0D1-FAAB04329B5C}"/>
              </a:ext>
            </a:extLst>
          </p:cNvPr>
          <p:cNvSpPr txBox="1"/>
          <p:nvPr/>
        </p:nvSpPr>
        <p:spPr>
          <a:xfrm>
            <a:off x="464820" y="2514600"/>
            <a:ext cx="5320687"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C00000"/>
                </a:solidFill>
              </a:rPr>
              <a:t>1&amp;2. </a:t>
            </a:r>
            <a:r>
              <a:rPr lang="zh-CN" altLang="en-US" dirty="0">
                <a:solidFill>
                  <a:srgbClr val="C00000"/>
                </a:solidFill>
              </a:rPr>
              <a:t>根据用例来找出系统中的“</a:t>
            </a:r>
            <a:r>
              <a:rPr lang="en-US" altLang="zh-CN" dirty="0">
                <a:solidFill>
                  <a:srgbClr val="C00000"/>
                </a:solidFill>
              </a:rPr>
              <a:t>Things</a:t>
            </a:r>
            <a:r>
              <a:rPr lang="zh-CN" altLang="en-US" dirty="0">
                <a:solidFill>
                  <a:srgbClr val="C00000"/>
                </a:solidFill>
              </a:rPr>
              <a:t>”，即事物</a:t>
            </a:r>
          </a:p>
        </p:txBody>
      </p:sp>
    </p:spTree>
    <p:extLst>
      <p:ext uri="{BB962C8B-B14F-4D97-AF65-F5344CB8AC3E}">
        <p14:creationId xmlns:p14="http://schemas.microsoft.com/office/powerpoint/2010/main" val="554817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14</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a:t>
            </a:r>
            <a:r>
              <a:rPr lang="zh-CN" altLang="en-US" sz="2000" dirty="0">
                <a:solidFill>
                  <a:srgbClr val="C00000"/>
                </a:solidFill>
              </a:rPr>
              <a:t>地勤员工</a:t>
            </a:r>
            <a:r>
              <a:rPr lang="zh-CN" altLang="en-US" sz="2000" dirty="0"/>
              <a:t>，我们需要在每一架</a:t>
            </a:r>
            <a:r>
              <a:rPr lang="zh-CN" altLang="en-US" sz="2000" dirty="0">
                <a:solidFill>
                  <a:srgbClr val="C00000"/>
                </a:solidFill>
              </a:rPr>
              <a:t>飞机</a:t>
            </a:r>
            <a:r>
              <a:rPr lang="zh-CN" altLang="en-US" sz="2000" dirty="0"/>
              <a:t>起飞前，安排</a:t>
            </a:r>
            <a:r>
              <a:rPr lang="zh-CN" altLang="en-US" sz="2000" dirty="0">
                <a:solidFill>
                  <a:srgbClr val="C00000"/>
                </a:solidFill>
              </a:rPr>
              <a:t>检修人员</a:t>
            </a:r>
            <a:r>
              <a:rPr lang="zh-CN" altLang="en-US" sz="2000" dirty="0"/>
              <a:t>对飞机进行全方位的</a:t>
            </a:r>
            <a:r>
              <a:rPr lang="zh-CN" altLang="en-US" sz="2000" dirty="0">
                <a:solidFill>
                  <a:srgbClr val="C00000"/>
                </a:solidFill>
              </a:rPr>
              <a:t>检查</a:t>
            </a:r>
            <a:r>
              <a:rPr lang="zh-CN" altLang="en-US" sz="2000" dirty="0"/>
              <a:t>，检查至少应当在</a:t>
            </a:r>
            <a:r>
              <a:rPr lang="zh-CN" altLang="en-US" sz="2000" dirty="0">
                <a:solidFill>
                  <a:srgbClr val="C00000"/>
                </a:solidFill>
              </a:rPr>
              <a:t>航班</a:t>
            </a:r>
            <a:r>
              <a:rPr lang="zh-CN" altLang="en-US" sz="2000" dirty="0"/>
              <a:t>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27DFAA50-8CF1-4248-B0D1-FAAB04329B5C}"/>
              </a:ext>
            </a:extLst>
          </p:cNvPr>
          <p:cNvSpPr txBox="1"/>
          <p:nvPr/>
        </p:nvSpPr>
        <p:spPr>
          <a:xfrm>
            <a:off x="464820" y="2514600"/>
            <a:ext cx="5577168"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0070C0"/>
                </a:solidFill>
              </a:rPr>
              <a:t>3. </a:t>
            </a:r>
            <a:r>
              <a:rPr lang="zh-CN" altLang="en-US" dirty="0">
                <a:solidFill>
                  <a:srgbClr val="0070C0"/>
                </a:solidFill>
              </a:rPr>
              <a:t>根据事物来系统性地询问关于潜在事物的问题。</a:t>
            </a:r>
          </a:p>
        </p:txBody>
      </p:sp>
    </p:spTree>
    <p:extLst>
      <p:ext uri="{BB962C8B-B14F-4D97-AF65-F5344CB8AC3E}">
        <p14:creationId xmlns:p14="http://schemas.microsoft.com/office/powerpoint/2010/main" val="1272631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15</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a:t>
            </a:r>
            <a:r>
              <a:rPr lang="zh-CN" altLang="en-US" sz="2000" dirty="0">
                <a:solidFill>
                  <a:srgbClr val="C00000"/>
                </a:solidFill>
              </a:rPr>
              <a:t>地勤员工</a:t>
            </a:r>
            <a:r>
              <a:rPr lang="zh-CN" altLang="en-US" sz="2000" dirty="0"/>
              <a:t>，我们需要在每一架</a:t>
            </a:r>
            <a:r>
              <a:rPr lang="zh-CN" altLang="en-US" sz="2000" dirty="0">
                <a:solidFill>
                  <a:srgbClr val="C00000"/>
                </a:solidFill>
              </a:rPr>
              <a:t>飞机</a:t>
            </a:r>
            <a:r>
              <a:rPr lang="zh-CN" altLang="en-US" sz="2000" dirty="0"/>
              <a:t>起飞前，安排</a:t>
            </a:r>
            <a:r>
              <a:rPr lang="zh-CN" altLang="en-US" sz="2000" dirty="0">
                <a:solidFill>
                  <a:srgbClr val="C00000"/>
                </a:solidFill>
              </a:rPr>
              <a:t>检修人员</a:t>
            </a:r>
            <a:r>
              <a:rPr lang="zh-CN" altLang="en-US" sz="2000" dirty="0"/>
              <a:t>对飞机进行全方位的</a:t>
            </a:r>
            <a:r>
              <a:rPr lang="zh-CN" altLang="en-US" sz="2000" dirty="0">
                <a:solidFill>
                  <a:srgbClr val="C00000"/>
                </a:solidFill>
              </a:rPr>
              <a:t>检查</a:t>
            </a:r>
            <a:r>
              <a:rPr lang="zh-CN" altLang="en-US" sz="2000" dirty="0"/>
              <a:t>，检查至少应当在</a:t>
            </a:r>
            <a:r>
              <a:rPr lang="zh-CN" altLang="en-US" sz="2000" dirty="0">
                <a:solidFill>
                  <a:srgbClr val="C00000"/>
                </a:solidFill>
              </a:rPr>
              <a:t>航班</a:t>
            </a:r>
            <a:r>
              <a:rPr lang="zh-CN" altLang="en-US" sz="2000" dirty="0"/>
              <a:t>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27DFAA50-8CF1-4248-B0D1-FAAB04329B5C}"/>
              </a:ext>
            </a:extLst>
          </p:cNvPr>
          <p:cNvSpPr txBox="1"/>
          <p:nvPr/>
        </p:nvSpPr>
        <p:spPr>
          <a:xfrm>
            <a:off x="464820" y="2514600"/>
            <a:ext cx="768454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0070C0"/>
                </a:solidFill>
              </a:rPr>
              <a:t>3. </a:t>
            </a:r>
            <a:r>
              <a:rPr lang="zh-CN" altLang="en-US" dirty="0">
                <a:solidFill>
                  <a:srgbClr val="0070C0"/>
                </a:solidFill>
              </a:rPr>
              <a:t>根据事物来系统性地询问关于潜在事物的问题。（小</a:t>
            </a:r>
            <a:r>
              <a:rPr lang="en-US" altLang="zh-CN" dirty="0">
                <a:solidFill>
                  <a:srgbClr val="0070C0"/>
                </a:solidFill>
              </a:rPr>
              <a:t>Tips</a:t>
            </a:r>
            <a:r>
              <a:rPr lang="zh-CN" altLang="en-US" dirty="0">
                <a:solidFill>
                  <a:srgbClr val="0070C0"/>
                </a:solidFill>
              </a:rPr>
              <a:t>：找动词）</a:t>
            </a:r>
          </a:p>
        </p:txBody>
      </p:sp>
      <p:sp>
        <p:nvSpPr>
          <p:cNvPr id="3" name="对话气泡: 圆角矩形 2">
            <a:extLst>
              <a:ext uri="{FF2B5EF4-FFF2-40B4-BE49-F238E27FC236}">
                <a16:creationId xmlns:a16="http://schemas.microsoft.com/office/drawing/2014/main" id="{32F78405-E843-4E3F-9CFE-194DCD4230DB}"/>
              </a:ext>
            </a:extLst>
          </p:cNvPr>
          <p:cNvSpPr/>
          <p:nvPr/>
        </p:nvSpPr>
        <p:spPr>
          <a:xfrm>
            <a:off x="1280497" y="4319112"/>
            <a:ext cx="2743200" cy="1569720"/>
          </a:xfrm>
          <a:prstGeom prst="wedgeRoundRectCallout">
            <a:avLst>
              <a:gd name="adj1" fmla="val -13085"/>
              <a:gd name="adj2" fmla="val -79345"/>
              <a:gd name="adj3" fmla="val 1666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rPr>
              <a:t>潜在事物：</a:t>
            </a:r>
            <a:endParaRPr lang="en-US" altLang="zh-CN" dirty="0">
              <a:solidFill>
                <a:srgbClr val="0070C0"/>
              </a:solidFill>
            </a:endParaRPr>
          </a:p>
          <a:p>
            <a:pPr algn="ctr"/>
            <a:r>
              <a:rPr lang="zh-CN" altLang="en-US" dirty="0">
                <a:solidFill>
                  <a:srgbClr val="0070C0"/>
                </a:solidFill>
              </a:rPr>
              <a:t>在</a:t>
            </a:r>
            <a:r>
              <a:rPr lang="zh-CN" altLang="en-US" u="sng" dirty="0">
                <a:solidFill>
                  <a:srgbClr val="0070C0"/>
                </a:solidFill>
              </a:rPr>
              <a:t>哪里</a:t>
            </a:r>
            <a:r>
              <a:rPr lang="zh-CN" altLang="en-US" dirty="0">
                <a:solidFill>
                  <a:srgbClr val="0070C0"/>
                </a:solidFill>
              </a:rPr>
              <a:t>做检查？</a:t>
            </a:r>
            <a:endParaRPr lang="en-US" altLang="zh-CN" dirty="0">
              <a:solidFill>
                <a:srgbClr val="0070C0"/>
              </a:solidFill>
            </a:endParaRPr>
          </a:p>
          <a:p>
            <a:pPr algn="ctr"/>
            <a:r>
              <a:rPr lang="zh-CN" altLang="en-US" dirty="0">
                <a:solidFill>
                  <a:srgbClr val="0070C0"/>
                </a:solidFill>
              </a:rPr>
              <a:t>用什么</a:t>
            </a:r>
            <a:r>
              <a:rPr lang="zh-CN" altLang="en-US" u="sng" dirty="0">
                <a:solidFill>
                  <a:srgbClr val="0070C0"/>
                </a:solidFill>
              </a:rPr>
              <a:t>设备</a:t>
            </a:r>
            <a:r>
              <a:rPr lang="zh-CN" altLang="en-US" dirty="0">
                <a:solidFill>
                  <a:srgbClr val="0070C0"/>
                </a:solidFill>
              </a:rPr>
              <a:t>进行检查？</a:t>
            </a:r>
            <a:endParaRPr lang="en-US" altLang="zh-CN" dirty="0">
              <a:solidFill>
                <a:srgbClr val="0070C0"/>
              </a:solidFill>
            </a:endParaRPr>
          </a:p>
          <a:p>
            <a:pPr algn="ctr"/>
            <a:r>
              <a:rPr lang="zh-CN" altLang="en-US" dirty="0">
                <a:solidFill>
                  <a:srgbClr val="0070C0"/>
                </a:solidFill>
              </a:rPr>
              <a:t>这些设备</a:t>
            </a:r>
            <a:r>
              <a:rPr lang="zh-CN" altLang="en-US" u="sng" dirty="0">
                <a:solidFill>
                  <a:srgbClr val="0070C0"/>
                </a:solidFill>
              </a:rPr>
              <a:t>存放在哪里</a:t>
            </a:r>
            <a:r>
              <a:rPr lang="zh-CN" altLang="en-US" dirty="0">
                <a:solidFill>
                  <a:srgbClr val="0070C0"/>
                </a:solidFill>
              </a:rPr>
              <a:t>？</a:t>
            </a:r>
          </a:p>
        </p:txBody>
      </p:sp>
      <p:sp>
        <p:nvSpPr>
          <p:cNvPr id="10" name="对话气泡: 圆角矩形 9">
            <a:extLst>
              <a:ext uri="{FF2B5EF4-FFF2-40B4-BE49-F238E27FC236}">
                <a16:creationId xmlns:a16="http://schemas.microsoft.com/office/drawing/2014/main" id="{2C869749-0205-4095-939A-0CDCF6D58004}"/>
              </a:ext>
            </a:extLst>
          </p:cNvPr>
          <p:cNvSpPr/>
          <p:nvPr/>
        </p:nvSpPr>
        <p:spPr>
          <a:xfrm>
            <a:off x="4572000" y="4319112"/>
            <a:ext cx="2743200" cy="1569720"/>
          </a:xfrm>
          <a:prstGeom prst="wedgeRoundRectCallout">
            <a:avLst>
              <a:gd name="adj1" fmla="val -36418"/>
              <a:gd name="adj2" fmla="val -78374"/>
              <a:gd name="adj3" fmla="val 1666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rPr>
              <a:t>潜在事物：</a:t>
            </a:r>
            <a:endParaRPr lang="en-US" altLang="zh-CN" dirty="0">
              <a:solidFill>
                <a:srgbClr val="0070C0"/>
              </a:solidFill>
            </a:endParaRPr>
          </a:p>
          <a:p>
            <a:pPr algn="ctr"/>
            <a:r>
              <a:rPr lang="zh-CN" altLang="en-US" dirty="0">
                <a:solidFill>
                  <a:srgbClr val="0070C0"/>
                </a:solidFill>
              </a:rPr>
              <a:t>哪家</a:t>
            </a:r>
            <a:r>
              <a:rPr lang="zh-CN" altLang="en-US" u="sng" dirty="0">
                <a:solidFill>
                  <a:srgbClr val="0070C0"/>
                </a:solidFill>
              </a:rPr>
              <a:t>公司</a:t>
            </a:r>
            <a:r>
              <a:rPr lang="zh-CN" altLang="en-US" dirty="0">
                <a:solidFill>
                  <a:srgbClr val="0070C0"/>
                </a:solidFill>
              </a:rPr>
              <a:t>？</a:t>
            </a:r>
            <a:endParaRPr lang="en-US" altLang="zh-CN" dirty="0">
              <a:solidFill>
                <a:srgbClr val="0070C0"/>
              </a:solidFill>
            </a:endParaRPr>
          </a:p>
          <a:p>
            <a:pPr algn="ctr"/>
            <a:r>
              <a:rPr lang="zh-CN" altLang="en-US" u="sng" dirty="0">
                <a:solidFill>
                  <a:srgbClr val="0070C0"/>
                </a:solidFill>
              </a:rPr>
              <a:t>机长</a:t>
            </a:r>
            <a:r>
              <a:rPr lang="zh-CN" altLang="en-US" dirty="0">
                <a:solidFill>
                  <a:srgbClr val="0070C0"/>
                </a:solidFill>
              </a:rPr>
              <a:t>是谁？</a:t>
            </a:r>
            <a:endParaRPr lang="en-US" altLang="zh-CN" dirty="0">
              <a:solidFill>
                <a:srgbClr val="0070C0"/>
              </a:solidFill>
            </a:endParaRPr>
          </a:p>
          <a:p>
            <a:pPr algn="ctr"/>
            <a:r>
              <a:rPr lang="zh-CN" altLang="en-US" u="sng" dirty="0">
                <a:solidFill>
                  <a:srgbClr val="0070C0"/>
                </a:solidFill>
              </a:rPr>
              <a:t>乘务员</a:t>
            </a:r>
            <a:r>
              <a:rPr lang="zh-CN" altLang="en-US" dirty="0">
                <a:solidFill>
                  <a:srgbClr val="0070C0"/>
                </a:solidFill>
              </a:rPr>
              <a:t>包括谁？</a:t>
            </a:r>
          </a:p>
        </p:txBody>
      </p:sp>
    </p:spTree>
    <p:extLst>
      <p:ext uri="{BB962C8B-B14F-4D97-AF65-F5344CB8AC3E}">
        <p14:creationId xmlns:p14="http://schemas.microsoft.com/office/powerpoint/2010/main" val="342101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5AE13F4-5854-499B-96BA-BB878C9A4B0C}" type="slidenum">
              <a:rPr lang="en-US" altLang="en-US"/>
              <a:pPr eaLnBrk="1" hangingPunct="1"/>
              <a:t>16</a:t>
            </a:fld>
            <a:endParaRPr lang="en-US" altLang="en-US"/>
          </a:p>
        </p:txBody>
      </p:sp>
      <p:sp>
        <p:nvSpPr>
          <p:cNvPr id="10243" name="Rectangle 2"/>
          <p:cNvSpPr>
            <a:spLocks noGrp="1" noChangeArrowheads="1"/>
          </p:cNvSpPr>
          <p:nvPr>
            <p:ph type="title"/>
          </p:nvPr>
        </p:nvSpPr>
        <p:spPr>
          <a:xfrm>
            <a:off x="457200" y="122238"/>
            <a:ext cx="7543800" cy="1173162"/>
          </a:xfrm>
        </p:spPr>
        <p:txBody>
          <a:bodyPr/>
          <a:lstStyle/>
          <a:p>
            <a:pPr eaLnBrk="1" hangingPunct="1"/>
            <a:r>
              <a:rPr lang="en-US" altLang="zh-CN" sz="4000">
                <a:ea typeface="宋体" pitchFamily="2" charset="-122"/>
              </a:rPr>
              <a:t>Brainstorming Technique</a:t>
            </a:r>
            <a:endParaRPr lang="en-US" altLang="zh-CN" sz="3200">
              <a:ea typeface="宋体" pitchFamily="2" charset="-122"/>
            </a:endParaRPr>
          </a:p>
        </p:txBody>
      </p:sp>
      <p:pic>
        <p:nvPicPr>
          <p:cNvPr id="10245"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9600" y="2289394"/>
            <a:ext cx="7924800" cy="3886200"/>
          </a:xfrm>
          <a:noFill/>
        </p:spPr>
      </p:pic>
      <p:sp>
        <p:nvSpPr>
          <p:cNvPr id="1024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024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7D04B11C-BB43-4B42-A3F8-CDC612BF7741}"/>
              </a:ext>
            </a:extLst>
          </p:cNvPr>
          <p:cNvSpPr/>
          <p:nvPr/>
        </p:nvSpPr>
        <p:spPr>
          <a:xfrm>
            <a:off x="990600" y="4495800"/>
            <a:ext cx="762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D306DF3-28CB-4A67-BE9A-FDE478F9BFD1}"/>
              </a:ext>
            </a:extLst>
          </p:cNvPr>
          <p:cNvSpPr/>
          <p:nvPr/>
        </p:nvSpPr>
        <p:spPr>
          <a:xfrm>
            <a:off x="2286000" y="4495800"/>
            <a:ext cx="762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18A4798-96F1-4830-A837-A2C34219A03B}"/>
              </a:ext>
            </a:extLst>
          </p:cNvPr>
          <p:cNvSpPr/>
          <p:nvPr/>
        </p:nvSpPr>
        <p:spPr>
          <a:xfrm>
            <a:off x="2133600" y="5791200"/>
            <a:ext cx="9906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0083AD1-F058-44BB-A51F-D19C0D0F2AAB}"/>
              </a:ext>
            </a:extLst>
          </p:cNvPr>
          <p:cNvSpPr txBox="1"/>
          <p:nvPr/>
        </p:nvSpPr>
        <p:spPr>
          <a:xfrm>
            <a:off x="2171700" y="5750421"/>
            <a:ext cx="990600" cy="276999"/>
          </a:xfrm>
          <a:prstGeom prst="rect">
            <a:avLst/>
          </a:prstGeom>
          <a:noFill/>
        </p:spPr>
        <p:txBody>
          <a:bodyPr wrap="square">
            <a:spAutoFit/>
          </a:bodyPr>
          <a:lstStyle/>
          <a:p>
            <a:r>
              <a:rPr lang="zh-CN" altLang="en-US" sz="1200" b="1" dirty="0"/>
              <a:t>maintainer</a:t>
            </a:r>
          </a:p>
        </p:txBody>
      </p:sp>
      <p:sp>
        <p:nvSpPr>
          <p:cNvPr id="13" name="文本框 12">
            <a:extLst>
              <a:ext uri="{FF2B5EF4-FFF2-40B4-BE49-F238E27FC236}">
                <a16:creationId xmlns:a16="http://schemas.microsoft.com/office/drawing/2014/main" id="{1B0DEF5D-91CE-484E-9683-082EAA12047B}"/>
              </a:ext>
            </a:extLst>
          </p:cNvPr>
          <p:cNvSpPr txBox="1"/>
          <p:nvPr/>
        </p:nvSpPr>
        <p:spPr>
          <a:xfrm>
            <a:off x="515070" y="1371600"/>
            <a:ext cx="7398179" cy="646331"/>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rgbClr val="C00000"/>
                </a:solidFill>
              </a:rPr>
              <a:t>事物 （飞机；地勤员工；检修人员；航班；检查 ）</a:t>
            </a:r>
            <a:endParaRPr lang="en-US" altLang="zh-CN" dirty="0">
              <a:solidFill>
                <a:srgbClr val="C00000"/>
              </a:solidFill>
            </a:endParaRPr>
          </a:p>
          <a:p>
            <a:pPr marL="285750" indent="-285750">
              <a:buFont typeface="Wingdings" panose="05000000000000000000" pitchFamily="2" charset="2"/>
              <a:buChar char="Ø"/>
            </a:pPr>
            <a:r>
              <a:rPr lang="zh-CN" altLang="en-US" dirty="0">
                <a:solidFill>
                  <a:srgbClr val="0070C0"/>
                </a:solidFill>
              </a:rPr>
              <a:t>潜在事物（存放仓库；检查地点；检查装置；公司；机长；乘务员）</a:t>
            </a:r>
          </a:p>
        </p:txBody>
      </p:sp>
      <p:sp>
        <p:nvSpPr>
          <p:cNvPr id="14" name="矩形 13">
            <a:extLst>
              <a:ext uri="{FF2B5EF4-FFF2-40B4-BE49-F238E27FC236}">
                <a16:creationId xmlns:a16="http://schemas.microsoft.com/office/drawing/2014/main" id="{F38D0C32-EEB1-412B-A575-1709CE90848B}"/>
              </a:ext>
            </a:extLst>
          </p:cNvPr>
          <p:cNvSpPr/>
          <p:nvPr/>
        </p:nvSpPr>
        <p:spPr>
          <a:xfrm>
            <a:off x="7424928" y="4495800"/>
            <a:ext cx="762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9FE73190-118F-4387-AC05-AA52690F9F19}"/>
              </a:ext>
            </a:extLst>
          </p:cNvPr>
          <p:cNvSpPr/>
          <p:nvPr/>
        </p:nvSpPr>
        <p:spPr>
          <a:xfrm>
            <a:off x="7277100" y="5998279"/>
            <a:ext cx="9906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C18DCC14-55A2-472A-8257-F1BCBAAA115E}"/>
              </a:ext>
            </a:extLst>
          </p:cNvPr>
          <p:cNvSpPr txBox="1"/>
          <p:nvPr/>
        </p:nvSpPr>
        <p:spPr>
          <a:xfrm>
            <a:off x="7315200" y="5957500"/>
            <a:ext cx="990600" cy="276999"/>
          </a:xfrm>
          <a:prstGeom prst="rect">
            <a:avLst/>
          </a:prstGeom>
          <a:noFill/>
        </p:spPr>
        <p:txBody>
          <a:bodyPr wrap="square">
            <a:spAutoFit/>
          </a:bodyPr>
          <a:lstStyle/>
          <a:p>
            <a:r>
              <a:rPr lang="en-US" altLang="zh-CN" sz="1200" b="1" dirty="0"/>
              <a:t>inspection</a:t>
            </a:r>
            <a:endParaRPr lang="zh-CN" altLang="en-US" sz="1200" b="1" dirty="0"/>
          </a:p>
        </p:txBody>
      </p:sp>
      <p:sp>
        <p:nvSpPr>
          <p:cNvPr id="18" name="矩形 17">
            <a:extLst>
              <a:ext uri="{FF2B5EF4-FFF2-40B4-BE49-F238E27FC236}">
                <a16:creationId xmlns:a16="http://schemas.microsoft.com/office/drawing/2014/main" id="{C61C6880-5FF8-48FD-96F1-1552BDDB6FEB}"/>
              </a:ext>
            </a:extLst>
          </p:cNvPr>
          <p:cNvSpPr/>
          <p:nvPr/>
        </p:nvSpPr>
        <p:spPr>
          <a:xfrm>
            <a:off x="6095999" y="5450979"/>
            <a:ext cx="889455" cy="42088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268596DA-0B13-4131-B588-AFC39273D382}"/>
              </a:ext>
            </a:extLst>
          </p:cNvPr>
          <p:cNvSpPr txBox="1"/>
          <p:nvPr/>
        </p:nvSpPr>
        <p:spPr>
          <a:xfrm>
            <a:off x="6032955" y="5410200"/>
            <a:ext cx="990600" cy="461665"/>
          </a:xfrm>
          <a:prstGeom prst="rect">
            <a:avLst/>
          </a:prstGeom>
          <a:noFill/>
        </p:spPr>
        <p:txBody>
          <a:bodyPr wrap="square">
            <a:spAutoFit/>
          </a:bodyPr>
          <a:lstStyle/>
          <a:p>
            <a:pPr algn="ctr"/>
            <a:r>
              <a:rPr lang="en-US" altLang="zh-CN" sz="1200" b="1" dirty="0"/>
              <a:t>Inspection place</a:t>
            </a:r>
            <a:endParaRPr lang="zh-CN" altLang="en-US" sz="1200" b="1" dirty="0"/>
          </a:p>
        </p:txBody>
      </p:sp>
      <p:sp>
        <p:nvSpPr>
          <p:cNvPr id="20" name="矩形 19">
            <a:extLst>
              <a:ext uri="{FF2B5EF4-FFF2-40B4-BE49-F238E27FC236}">
                <a16:creationId xmlns:a16="http://schemas.microsoft.com/office/drawing/2014/main" id="{91267F77-7666-4FBA-8547-3FC928A9B151}"/>
              </a:ext>
            </a:extLst>
          </p:cNvPr>
          <p:cNvSpPr/>
          <p:nvPr/>
        </p:nvSpPr>
        <p:spPr>
          <a:xfrm>
            <a:off x="4876801" y="4504944"/>
            <a:ext cx="685800" cy="14325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A52430D-4364-434C-8280-AC1EE2B05D9E}"/>
              </a:ext>
            </a:extLst>
          </p:cNvPr>
          <p:cNvSpPr/>
          <p:nvPr/>
        </p:nvSpPr>
        <p:spPr>
          <a:xfrm>
            <a:off x="6096000" y="4504944"/>
            <a:ext cx="838199" cy="14325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056EC8A-50E2-43BF-B52F-B9560D0ED1CA}"/>
              </a:ext>
            </a:extLst>
          </p:cNvPr>
          <p:cNvSpPr/>
          <p:nvPr/>
        </p:nvSpPr>
        <p:spPr>
          <a:xfrm>
            <a:off x="3521662" y="5441834"/>
            <a:ext cx="838199" cy="21958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AAF191E-FE06-4CCA-BFAE-680E1EF87485}"/>
              </a:ext>
            </a:extLst>
          </p:cNvPr>
          <p:cNvSpPr txBox="1"/>
          <p:nvPr/>
        </p:nvSpPr>
        <p:spPr>
          <a:xfrm>
            <a:off x="3484474" y="5406274"/>
            <a:ext cx="912574" cy="276999"/>
          </a:xfrm>
          <a:prstGeom prst="rect">
            <a:avLst/>
          </a:prstGeom>
          <a:noFill/>
        </p:spPr>
        <p:txBody>
          <a:bodyPr wrap="square">
            <a:spAutoFit/>
          </a:bodyPr>
          <a:lstStyle/>
          <a:p>
            <a:r>
              <a:rPr lang="en-US" altLang="zh-CN" sz="1200" b="1" dirty="0"/>
              <a:t>company</a:t>
            </a:r>
            <a:endParaRPr lang="zh-CN" altLang="en-US" sz="1200" b="1" dirty="0"/>
          </a:p>
        </p:txBody>
      </p:sp>
      <p:sp>
        <p:nvSpPr>
          <p:cNvPr id="4" name="文本框 3">
            <a:extLst>
              <a:ext uri="{FF2B5EF4-FFF2-40B4-BE49-F238E27FC236}">
                <a16:creationId xmlns:a16="http://schemas.microsoft.com/office/drawing/2014/main" id="{AFDA00EC-95B3-433F-BA50-D31A5220D43B}"/>
              </a:ext>
            </a:extLst>
          </p:cNvPr>
          <p:cNvSpPr txBox="1"/>
          <p:nvPr/>
        </p:nvSpPr>
        <p:spPr>
          <a:xfrm>
            <a:off x="2459251" y="3421172"/>
            <a:ext cx="415498" cy="369332"/>
          </a:xfrm>
          <a:prstGeom prst="rect">
            <a:avLst/>
          </a:prstGeom>
          <a:noFill/>
        </p:spPr>
        <p:txBody>
          <a:bodyPr wrap="none" rtlCol="0">
            <a:spAutoFit/>
          </a:bodyPr>
          <a:lstStyle/>
          <a:p>
            <a:r>
              <a:rPr lang="zh-CN" altLang="en-US" b="1" dirty="0"/>
              <a:t>人</a:t>
            </a:r>
          </a:p>
        </p:txBody>
      </p:sp>
      <p:sp>
        <p:nvSpPr>
          <p:cNvPr id="25" name="文本框 24">
            <a:extLst>
              <a:ext uri="{FF2B5EF4-FFF2-40B4-BE49-F238E27FC236}">
                <a16:creationId xmlns:a16="http://schemas.microsoft.com/office/drawing/2014/main" id="{0755541C-5891-430D-A47C-7871C27C45A5}"/>
              </a:ext>
            </a:extLst>
          </p:cNvPr>
          <p:cNvSpPr txBox="1"/>
          <p:nvPr/>
        </p:nvSpPr>
        <p:spPr>
          <a:xfrm>
            <a:off x="1163851" y="3421172"/>
            <a:ext cx="415498" cy="369332"/>
          </a:xfrm>
          <a:prstGeom prst="rect">
            <a:avLst/>
          </a:prstGeom>
          <a:noFill/>
        </p:spPr>
        <p:txBody>
          <a:bodyPr wrap="none" rtlCol="0">
            <a:spAutoFit/>
          </a:bodyPr>
          <a:lstStyle/>
          <a:p>
            <a:r>
              <a:rPr lang="zh-CN" altLang="en-US" b="1" dirty="0"/>
              <a:t>物</a:t>
            </a:r>
          </a:p>
        </p:txBody>
      </p:sp>
      <p:sp>
        <p:nvSpPr>
          <p:cNvPr id="26" name="文本框 25">
            <a:extLst>
              <a:ext uri="{FF2B5EF4-FFF2-40B4-BE49-F238E27FC236}">
                <a16:creationId xmlns:a16="http://schemas.microsoft.com/office/drawing/2014/main" id="{7C1EA8B3-4542-41D9-A402-0ADD4D97A997}"/>
              </a:ext>
            </a:extLst>
          </p:cNvPr>
          <p:cNvSpPr txBox="1"/>
          <p:nvPr/>
        </p:nvSpPr>
        <p:spPr>
          <a:xfrm>
            <a:off x="3628489" y="3421172"/>
            <a:ext cx="646331" cy="369332"/>
          </a:xfrm>
          <a:prstGeom prst="rect">
            <a:avLst/>
          </a:prstGeom>
          <a:noFill/>
        </p:spPr>
        <p:txBody>
          <a:bodyPr wrap="none" rtlCol="0">
            <a:spAutoFit/>
          </a:bodyPr>
          <a:lstStyle/>
          <a:p>
            <a:r>
              <a:rPr lang="zh-CN" altLang="en-US" b="1" dirty="0"/>
              <a:t>部门</a:t>
            </a:r>
          </a:p>
        </p:txBody>
      </p:sp>
      <p:sp>
        <p:nvSpPr>
          <p:cNvPr id="27" name="文本框 26">
            <a:extLst>
              <a:ext uri="{FF2B5EF4-FFF2-40B4-BE49-F238E27FC236}">
                <a16:creationId xmlns:a16="http://schemas.microsoft.com/office/drawing/2014/main" id="{C2D50319-DD44-4124-A5CF-2F025BCACB63}"/>
              </a:ext>
            </a:extLst>
          </p:cNvPr>
          <p:cNvSpPr txBox="1"/>
          <p:nvPr/>
        </p:nvSpPr>
        <p:spPr>
          <a:xfrm>
            <a:off x="5028560" y="3421172"/>
            <a:ext cx="415498" cy="369332"/>
          </a:xfrm>
          <a:prstGeom prst="rect">
            <a:avLst/>
          </a:prstGeom>
          <a:noFill/>
        </p:spPr>
        <p:txBody>
          <a:bodyPr wrap="none" rtlCol="0">
            <a:spAutoFit/>
          </a:bodyPr>
          <a:lstStyle/>
          <a:p>
            <a:r>
              <a:rPr lang="zh-CN" altLang="en-US" b="1" dirty="0"/>
              <a:t>机</a:t>
            </a:r>
          </a:p>
        </p:txBody>
      </p:sp>
      <p:sp>
        <p:nvSpPr>
          <p:cNvPr id="28" name="文本框 27">
            <a:extLst>
              <a:ext uri="{FF2B5EF4-FFF2-40B4-BE49-F238E27FC236}">
                <a16:creationId xmlns:a16="http://schemas.microsoft.com/office/drawing/2014/main" id="{1650284F-3666-498F-89ED-8D87F74E782F}"/>
              </a:ext>
            </a:extLst>
          </p:cNvPr>
          <p:cNvSpPr txBox="1"/>
          <p:nvPr/>
        </p:nvSpPr>
        <p:spPr>
          <a:xfrm>
            <a:off x="6307350" y="3421172"/>
            <a:ext cx="415498" cy="369332"/>
          </a:xfrm>
          <a:prstGeom prst="rect">
            <a:avLst/>
          </a:prstGeom>
          <a:noFill/>
        </p:spPr>
        <p:txBody>
          <a:bodyPr wrap="none" rtlCol="0">
            <a:spAutoFit/>
          </a:bodyPr>
          <a:lstStyle/>
          <a:p>
            <a:r>
              <a:rPr lang="zh-CN" altLang="en-US" b="1" dirty="0"/>
              <a:t>地</a:t>
            </a:r>
          </a:p>
        </p:txBody>
      </p:sp>
      <p:sp>
        <p:nvSpPr>
          <p:cNvPr id="29" name="文本框 28">
            <a:extLst>
              <a:ext uri="{FF2B5EF4-FFF2-40B4-BE49-F238E27FC236}">
                <a16:creationId xmlns:a16="http://schemas.microsoft.com/office/drawing/2014/main" id="{54B14E37-5FA4-41CC-B61E-33C70D336C94}"/>
              </a:ext>
            </a:extLst>
          </p:cNvPr>
          <p:cNvSpPr txBox="1"/>
          <p:nvPr/>
        </p:nvSpPr>
        <p:spPr>
          <a:xfrm>
            <a:off x="7578520" y="3415130"/>
            <a:ext cx="415498" cy="369332"/>
          </a:xfrm>
          <a:prstGeom prst="rect">
            <a:avLst/>
          </a:prstGeom>
          <a:noFill/>
        </p:spPr>
        <p:txBody>
          <a:bodyPr wrap="none" rtlCol="0">
            <a:spAutoFit/>
          </a:bodyPr>
          <a:lstStyle/>
          <a:p>
            <a:r>
              <a:rPr lang="zh-CN" altLang="en-US" b="1" dirty="0"/>
              <a:t>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4" grpId="0" animBg="1"/>
      <p:bldP spid="15" grpId="0" animBg="1"/>
      <p:bldP spid="18" grpId="0" animBg="1"/>
      <p:bldP spid="20" grpId="0" animBg="1"/>
      <p:bldP spid="21" grpId="0" animBg="1"/>
      <p:bldP spid="22" grpId="0" animBg="1"/>
      <p:bldP spid="4" grpId="0"/>
      <p:bldP spid="25" grpId="0"/>
      <p:bldP spid="26" grpId="0"/>
      <p:bldP spid="27" grpId="0"/>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EE4437E-1748-4697-AF7C-5F93B4E563FE}" type="slidenum">
              <a:rPr lang="en-US" altLang="en-US"/>
              <a:pPr eaLnBrk="1" hangingPunct="1"/>
              <a:t>17</a:t>
            </a:fld>
            <a:endParaRPr lang="en-US" altLang="en-US"/>
          </a:p>
        </p:txBody>
      </p:sp>
      <p:sp>
        <p:nvSpPr>
          <p:cNvPr id="12291" name="Rectangle 2"/>
          <p:cNvSpPr>
            <a:spLocks noGrp="1" noChangeArrowheads="1"/>
          </p:cNvSpPr>
          <p:nvPr>
            <p:ph type="title"/>
          </p:nvPr>
        </p:nvSpPr>
        <p:spPr>
          <a:xfrm>
            <a:off x="457200" y="122238"/>
            <a:ext cx="7543800" cy="1173162"/>
          </a:xfrm>
        </p:spPr>
        <p:txBody>
          <a:bodyPr/>
          <a:lstStyle/>
          <a:p>
            <a:pPr eaLnBrk="1" hangingPunct="1"/>
            <a:r>
              <a:rPr lang="en-US" altLang="zh-CN" sz="4000" dirty="0">
                <a:ea typeface="宋体" pitchFamily="2" charset="-122"/>
              </a:rPr>
              <a:t>The Noun Technique</a:t>
            </a:r>
            <a:r>
              <a:rPr lang="zh-CN" altLang="en-US" sz="3600" dirty="0">
                <a:ea typeface="宋体" pitchFamily="2" charset="-122"/>
              </a:rPr>
              <a:t>（名词技术）</a:t>
            </a:r>
            <a:endParaRPr lang="en-US" altLang="zh-CN" sz="3200" dirty="0">
              <a:ea typeface="宋体" pitchFamily="2" charset="-122"/>
            </a:endParaRPr>
          </a:p>
        </p:txBody>
      </p:sp>
      <p:sp>
        <p:nvSpPr>
          <p:cNvPr id="12292" name="Rectangle 3"/>
          <p:cNvSpPr>
            <a:spLocks noGrp="1" noChangeArrowheads="1"/>
          </p:cNvSpPr>
          <p:nvPr>
            <p:ph type="body" sz="half" idx="1"/>
          </p:nvPr>
        </p:nvSpPr>
        <p:spPr>
          <a:xfrm>
            <a:off x="457200" y="1447800"/>
            <a:ext cx="8001000" cy="4724400"/>
          </a:xfrm>
        </p:spPr>
        <p:txBody>
          <a:bodyPr/>
          <a:lstStyle/>
          <a:p>
            <a:pPr eaLnBrk="1" hangingPunct="1">
              <a:lnSpc>
                <a:spcPct val="80000"/>
              </a:lnSpc>
            </a:pPr>
            <a:r>
              <a:rPr lang="en-GB" altLang="zh-CN" sz="2800" dirty="0"/>
              <a:t>A technique to identify problem domain classes (things) by </a:t>
            </a:r>
            <a:r>
              <a:rPr lang="en-GB" altLang="zh-CN" sz="2800" u="sng" dirty="0"/>
              <a:t>finding, classifying, and refining a list of nouns</a:t>
            </a:r>
            <a:r>
              <a:rPr lang="en-GB" altLang="zh-CN" sz="2800" dirty="0"/>
              <a:t> that come up in in discussions or documents</a:t>
            </a:r>
            <a:r>
              <a:rPr lang="zh-CN" altLang="en-US" sz="2800" dirty="0"/>
              <a:t>（通过查找、分类和精炼名词来识别问题域类的技术）</a:t>
            </a:r>
            <a:endParaRPr lang="en-GB" altLang="zh-CN" sz="2800" dirty="0"/>
          </a:p>
          <a:p>
            <a:pPr eaLnBrk="1" hangingPunct="1">
              <a:lnSpc>
                <a:spcPct val="80000"/>
              </a:lnSpc>
            </a:pPr>
            <a:r>
              <a:rPr lang="en-GB" altLang="zh-CN" sz="2800" dirty="0"/>
              <a:t>Popular technique. Systematic.</a:t>
            </a:r>
          </a:p>
          <a:p>
            <a:pPr eaLnBrk="1" hangingPunct="1">
              <a:lnSpc>
                <a:spcPct val="80000"/>
              </a:lnSpc>
            </a:pPr>
            <a:r>
              <a:rPr lang="en-GB" altLang="zh-CN" sz="2800" dirty="0"/>
              <a:t>Good place to start when there are no users available to help brainstorm</a:t>
            </a:r>
            <a:r>
              <a:rPr lang="zh-CN" altLang="en-US" sz="2800" dirty="0"/>
              <a:t>（当没有用户可以进行头脑风暴时，是个很好的方式）</a:t>
            </a:r>
            <a:endParaRPr lang="en-GB" altLang="zh-CN" sz="2800" dirty="0"/>
          </a:p>
          <a:p>
            <a:pPr eaLnBrk="1" hangingPunct="1">
              <a:lnSpc>
                <a:spcPct val="80000"/>
              </a:lnSpc>
            </a:pPr>
            <a:endParaRPr lang="en-GB" altLang="zh-CN" sz="2800" dirty="0"/>
          </a:p>
        </p:txBody>
      </p:sp>
      <p:sp>
        <p:nvSpPr>
          <p:cNvPr id="1229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22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3544288-15EB-42F3-A674-7744FEB8C983}" type="slidenum">
              <a:rPr lang="en-US" altLang="en-US"/>
              <a:pPr eaLnBrk="1" hangingPunct="1"/>
              <a:t>18</a:t>
            </a:fld>
            <a:endParaRPr lang="en-US" altLang="en-US"/>
          </a:p>
        </p:txBody>
      </p:sp>
      <p:sp>
        <p:nvSpPr>
          <p:cNvPr id="14339"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The Noun Technique:</a:t>
            </a:r>
            <a:br>
              <a:rPr lang="en-US" altLang="zh-CN" sz="3600" dirty="0">
                <a:ea typeface="宋体" pitchFamily="2" charset="-122"/>
              </a:rPr>
            </a:br>
            <a:r>
              <a:rPr lang="en-US" altLang="zh-CN" sz="3600" dirty="0">
                <a:ea typeface="宋体" pitchFamily="2" charset="-122"/>
              </a:rPr>
              <a:t>Steps</a:t>
            </a:r>
            <a:endParaRPr lang="en-US" altLang="zh-CN" sz="2800" dirty="0">
              <a:ea typeface="宋体" pitchFamily="2" charset="-122"/>
            </a:endParaRPr>
          </a:p>
        </p:txBody>
      </p:sp>
      <p:sp>
        <p:nvSpPr>
          <p:cNvPr id="14340" name="Rectangle 3"/>
          <p:cNvSpPr>
            <a:spLocks noGrp="1" noChangeArrowheads="1"/>
          </p:cNvSpPr>
          <p:nvPr>
            <p:ph type="body" sz="half" idx="1"/>
          </p:nvPr>
        </p:nvSpPr>
        <p:spPr>
          <a:xfrm>
            <a:off x="457200" y="1447800"/>
            <a:ext cx="8001000" cy="4724400"/>
          </a:xfrm>
        </p:spPr>
        <p:txBody>
          <a:bodyPr/>
          <a:lstStyle/>
          <a:p>
            <a:pPr eaLnBrk="1" hangingPunct="1">
              <a:lnSpc>
                <a:spcPct val="80000"/>
              </a:lnSpc>
              <a:buFont typeface="Wingdings" pitchFamily="2" charset="2"/>
              <a:buAutoNum type="arabicPeriod"/>
            </a:pPr>
            <a:r>
              <a:rPr lang="en-US" altLang="zh-CN" sz="2400" dirty="0">
                <a:ea typeface="宋体" pitchFamily="2" charset="-122"/>
              </a:rPr>
              <a:t>Using the </a:t>
            </a:r>
            <a:r>
              <a:rPr lang="en-US" altLang="zh-CN" sz="2400" u="sng" dirty="0">
                <a:ea typeface="宋体" pitchFamily="2" charset="-122"/>
              </a:rPr>
              <a:t>use cases, actors, and other information </a:t>
            </a:r>
            <a:r>
              <a:rPr lang="en-US" altLang="zh-CN" sz="2400" dirty="0">
                <a:ea typeface="宋体" pitchFamily="2" charset="-122"/>
              </a:rPr>
              <a:t>about the system— including inputs and outputs—identify all nouns. </a:t>
            </a:r>
            <a:r>
              <a:rPr lang="zh-CN" altLang="en-US" sz="2400" dirty="0">
                <a:ea typeface="宋体" pitchFamily="2" charset="-122"/>
              </a:rPr>
              <a:t>（通过</a:t>
            </a:r>
            <a:r>
              <a:rPr lang="zh-CN" altLang="en-US" sz="2400" u="sng" dirty="0">
                <a:ea typeface="宋体" pitchFamily="2" charset="-122"/>
              </a:rPr>
              <a:t>用例、参与者和其他系统信息</a:t>
            </a:r>
            <a:r>
              <a:rPr lang="zh-CN" altLang="en-US" sz="2400" dirty="0">
                <a:ea typeface="宋体" pitchFamily="2" charset="-122"/>
              </a:rPr>
              <a:t>来确定所有名词）</a:t>
            </a:r>
            <a:endParaRPr lang="en-US" altLang="zh-CN" sz="2400" dirty="0">
              <a:ea typeface="宋体" pitchFamily="2" charset="-122"/>
            </a:endParaRPr>
          </a:p>
          <a:p>
            <a:pPr lvl="1" eaLnBrk="1" hangingPunct="1">
              <a:lnSpc>
                <a:spcPct val="80000"/>
              </a:lnSpc>
            </a:pPr>
            <a:r>
              <a:rPr lang="en-US" altLang="zh-CN" sz="1800" dirty="0">
                <a:ea typeface="宋体" pitchFamily="2" charset="-122"/>
              </a:rPr>
              <a:t>For the RMO CSMS, the nouns might include customer, product item, sale, confirmation, transaction, shipping, bank, change request, summary report, management, transaction report, accounting, back order, back order notification, return, return confirmation…</a:t>
            </a:r>
            <a:r>
              <a:rPr lang="zh-CN" altLang="en-US" sz="1800" dirty="0">
                <a:ea typeface="宋体" pitchFamily="2" charset="-122"/>
              </a:rPr>
              <a:t>（对</a:t>
            </a:r>
            <a:r>
              <a:rPr lang="en-US" altLang="zh-CN" sz="1800" dirty="0">
                <a:ea typeface="宋体" pitchFamily="2" charset="-122"/>
              </a:rPr>
              <a:t>RMO</a:t>
            </a:r>
            <a:r>
              <a:rPr lang="zh-CN" altLang="en-US" sz="1800" dirty="0">
                <a:ea typeface="宋体" pitchFamily="2" charset="-122"/>
              </a:rPr>
              <a:t>来说，名词包括客户、产品、销售、交易、运输、银行、变更请求、汇总报告、管理、交易报告、会计、退货、退货通知、退货确认）</a:t>
            </a:r>
            <a:endParaRPr lang="en-US" altLang="zh-CN" sz="1800" dirty="0">
              <a:ea typeface="宋体" pitchFamily="2" charset="-122"/>
            </a:endParaRPr>
          </a:p>
          <a:p>
            <a:pPr eaLnBrk="1" hangingPunct="1">
              <a:lnSpc>
                <a:spcPct val="80000"/>
              </a:lnSpc>
              <a:buFont typeface="Wingdings" pitchFamily="2" charset="2"/>
              <a:buAutoNum type="arabicPeriod"/>
            </a:pPr>
            <a:r>
              <a:rPr lang="en-US" altLang="zh-CN" sz="2400" dirty="0">
                <a:ea typeface="宋体" pitchFamily="2" charset="-122"/>
              </a:rPr>
              <a:t>Using other information from existing systems, </a:t>
            </a:r>
            <a:r>
              <a:rPr lang="en-US" altLang="zh-CN" sz="2400" u="sng" dirty="0">
                <a:ea typeface="宋体" pitchFamily="2" charset="-122"/>
              </a:rPr>
              <a:t>current procedures, and current reports or forms</a:t>
            </a:r>
            <a:r>
              <a:rPr lang="en-US" altLang="zh-CN" sz="2400" dirty="0">
                <a:ea typeface="宋体" pitchFamily="2" charset="-122"/>
              </a:rPr>
              <a:t>, add items or categories of information needed.</a:t>
            </a:r>
            <a:r>
              <a:rPr lang="en-US" altLang="zh-CN" sz="1700" dirty="0">
                <a:ea typeface="宋体" pitchFamily="2" charset="-122"/>
              </a:rPr>
              <a:t> </a:t>
            </a:r>
            <a:r>
              <a:rPr lang="zh-CN" altLang="en-US" sz="1700" dirty="0">
                <a:ea typeface="宋体" pitchFamily="2" charset="-122"/>
              </a:rPr>
              <a:t>（通过现有系统的其他信息，例如当前过程、报告或表格来添加）</a:t>
            </a:r>
            <a:endParaRPr lang="en-US" altLang="zh-CN" sz="1700" dirty="0">
              <a:ea typeface="宋体" pitchFamily="2" charset="-122"/>
            </a:endParaRPr>
          </a:p>
          <a:p>
            <a:pPr lvl="1" eaLnBrk="1" hangingPunct="1">
              <a:lnSpc>
                <a:spcPct val="80000"/>
              </a:lnSpc>
            </a:pPr>
            <a:r>
              <a:rPr lang="en-US" altLang="zh-CN" sz="1800" dirty="0">
                <a:ea typeface="宋体" pitchFamily="2" charset="-122"/>
              </a:rPr>
              <a:t>For the RMO CSMS, these might include price, size, color, style, season, inventory quantity, payment method, and shipping address. </a:t>
            </a:r>
            <a:r>
              <a:rPr lang="zh-CN" altLang="en-US" sz="1800" dirty="0">
                <a:ea typeface="宋体" pitchFamily="2" charset="-122"/>
              </a:rPr>
              <a:t>（对于</a:t>
            </a:r>
            <a:r>
              <a:rPr lang="en-US" altLang="zh-CN" sz="1800" dirty="0">
                <a:ea typeface="宋体" pitchFamily="2" charset="-122"/>
              </a:rPr>
              <a:t>RMO </a:t>
            </a:r>
            <a:r>
              <a:rPr lang="en-US" altLang="zh-CN" sz="1800" dirty="0" err="1">
                <a:ea typeface="宋体" pitchFamily="2" charset="-122"/>
              </a:rPr>
              <a:t>csm</a:t>
            </a:r>
            <a:r>
              <a:rPr lang="zh-CN" altLang="en-US" sz="1800" dirty="0">
                <a:ea typeface="宋体" pitchFamily="2" charset="-122"/>
              </a:rPr>
              <a:t>，这些可能包括价格、尺寸、颜色、风格、季节、库存数量、付款方式和送货地址。 ）</a:t>
            </a:r>
            <a:endParaRPr lang="en-GB" altLang="zh-CN" sz="1800" dirty="0">
              <a:ea typeface="宋体" pitchFamily="2" charset="-122"/>
            </a:endParaRPr>
          </a:p>
        </p:txBody>
      </p:sp>
      <p:sp>
        <p:nvSpPr>
          <p:cNvPr id="1434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434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6A87A29-E528-4487-880A-6D3355E11F13}" type="slidenum">
              <a:rPr lang="en-US" altLang="en-US"/>
              <a:pPr eaLnBrk="1" hangingPunct="1"/>
              <a:t>19</a:t>
            </a:fld>
            <a:endParaRPr lang="en-US" altLang="en-US"/>
          </a:p>
        </p:txBody>
      </p:sp>
      <p:sp>
        <p:nvSpPr>
          <p:cNvPr id="15363" name="Rectangle 2"/>
          <p:cNvSpPr>
            <a:spLocks noGrp="1" noChangeArrowheads="1"/>
          </p:cNvSpPr>
          <p:nvPr>
            <p:ph type="title"/>
          </p:nvPr>
        </p:nvSpPr>
        <p:spPr>
          <a:xfrm>
            <a:off x="457200" y="122238"/>
            <a:ext cx="7543800" cy="1173162"/>
          </a:xfrm>
        </p:spPr>
        <p:txBody>
          <a:bodyPr/>
          <a:lstStyle/>
          <a:p>
            <a:pPr eaLnBrk="1" hangingPunct="1"/>
            <a:r>
              <a:rPr lang="en-US" altLang="zh-CN" sz="3600">
                <a:ea typeface="宋体" pitchFamily="2" charset="-122"/>
              </a:rPr>
              <a:t>The Noun Technique:</a:t>
            </a:r>
            <a:br>
              <a:rPr lang="en-US" altLang="zh-CN" sz="3600">
                <a:ea typeface="宋体" pitchFamily="2" charset="-122"/>
              </a:rPr>
            </a:br>
            <a:r>
              <a:rPr lang="en-US" altLang="zh-CN" sz="3600">
                <a:ea typeface="宋体" pitchFamily="2" charset="-122"/>
              </a:rPr>
              <a:t>Steps </a:t>
            </a:r>
            <a:r>
              <a:rPr lang="en-US" altLang="zh-CN" sz="2400">
                <a:ea typeface="宋体" pitchFamily="2" charset="-122"/>
              </a:rPr>
              <a:t>(continued)</a:t>
            </a:r>
          </a:p>
        </p:txBody>
      </p:sp>
      <p:sp>
        <p:nvSpPr>
          <p:cNvPr id="15364" name="Rectangle 3"/>
          <p:cNvSpPr>
            <a:spLocks noGrp="1" noChangeArrowheads="1"/>
          </p:cNvSpPr>
          <p:nvPr>
            <p:ph type="body" sz="half" idx="1"/>
          </p:nvPr>
        </p:nvSpPr>
        <p:spPr>
          <a:xfrm>
            <a:off x="457200" y="1447800"/>
            <a:ext cx="8001000" cy="4724400"/>
          </a:xfrm>
        </p:spPr>
        <p:txBody>
          <a:bodyPr/>
          <a:lstStyle/>
          <a:p>
            <a:pPr eaLnBrk="1" hangingPunct="1">
              <a:lnSpc>
                <a:spcPct val="80000"/>
              </a:lnSpc>
              <a:buFont typeface="Wingdings" pitchFamily="2" charset="2"/>
              <a:buAutoNum type="arabicPeriod" startAt="3"/>
            </a:pPr>
            <a:r>
              <a:rPr lang="en-US" altLang="zh-CN" sz="2400" dirty="0">
                <a:ea typeface="宋体" pitchFamily="2" charset="-122"/>
              </a:rPr>
              <a:t>As this list of nouns builds, refine it. Ask these questions about each noun to help you decide whether you should include it</a:t>
            </a:r>
            <a:r>
              <a:rPr lang="zh-CN" altLang="en-US" sz="2400" dirty="0">
                <a:ea typeface="宋体" pitchFamily="2" charset="-122"/>
                <a:sym typeface="Wingdings" panose="05000000000000000000" pitchFamily="2" charset="2"/>
              </a:rPr>
              <a:t>：（针对每个名词问下面这些问题来决定是否应该保留</a:t>
            </a:r>
            <a:r>
              <a:rPr lang="zh-CN" altLang="en-US" sz="2400" dirty="0">
                <a:ea typeface="宋体" pitchFamily="2" charset="-122"/>
              </a:rPr>
              <a:t>）</a:t>
            </a:r>
            <a:endParaRPr lang="en-US" altLang="zh-CN" sz="2400" dirty="0">
              <a:ea typeface="宋体" pitchFamily="2" charset="-122"/>
            </a:endParaRPr>
          </a:p>
          <a:p>
            <a:pPr lvl="1" eaLnBrk="1" hangingPunct="1">
              <a:lnSpc>
                <a:spcPct val="80000"/>
              </a:lnSpc>
            </a:pPr>
            <a:r>
              <a:rPr lang="en-US" altLang="zh-CN" sz="1800" dirty="0">
                <a:ea typeface="宋体" pitchFamily="2" charset="-122"/>
              </a:rPr>
              <a:t>Is it a unique thing the system needs to know about?</a:t>
            </a:r>
            <a:r>
              <a:rPr lang="zh-CN" altLang="en-US" sz="1800" dirty="0">
                <a:ea typeface="宋体" pitchFamily="2" charset="-122"/>
              </a:rPr>
              <a:t>（这是系统需要了解的独特的事物吗？）</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inside the scope of the system I am working on?</a:t>
            </a:r>
            <a:r>
              <a:rPr lang="zh-CN" altLang="en-US" sz="1800" dirty="0">
                <a:ea typeface="宋体" pitchFamily="2" charset="-122"/>
              </a:rPr>
              <a:t>（这个事物是在我处理的系统范围之内吗？）</a:t>
            </a:r>
            <a:endParaRPr lang="en-US" altLang="zh-CN" sz="1800" dirty="0">
              <a:ea typeface="宋体" pitchFamily="2" charset="-122"/>
            </a:endParaRPr>
          </a:p>
          <a:p>
            <a:pPr marL="344487" lvl="1" indent="0" eaLnBrk="1" hangingPunct="1">
              <a:lnSpc>
                <a:spcPct val="80000"/>
              </a:lnSpc>
              <a:buNone/>
            </a:pPr>
            <a:endParaRPr lang="en-US" altLang="zh-CN" sz="1800" dirty="0">
              <a:ea typeface="宋体" pitchFamily="2" charset="-122"/>
            </a:endParaRPr>
          </a:p>
          <a:p>
            <a:pPr eaLnBrk="1" hangingPunct="1">
              <a:lnSpc>
                <a:spcPct val="80000"/>
              </a:lnSpc>
              <a:buFont typeface="Wingdings" pitchFamily="2" charset="2"/>
              <a:buNone/>
            </a:pPr>
            <a:r>
              <a:rPr lang="en-US" altLang="zh-CN" sz="2000" dirty="0">
                <a:ea typeface="宋体" pitchFamily="2" charset="-122"/>
              </a:rPr>
              <a:t>	</a:t>
            </a:r>
            <a:r>
              <a:rPr lang="en-US" altLang="zh-CN" sz="2400" dirty="0">
                <a:ea typeface="宋体" pitchFamily="2" charset="-122"/>
              </a:rPr>
              <a:t>Ask these questions to decide to exclude it</a:t>
            </a:r>
            <a:r>
              <a:rPr lang="zh-CN" altLang="en-US" sz="2400" dirty="0">
                <a:ea typeface="宋体" pitchFamily="2" charset="-122"/>
              </a:rPr>
              <a:t>（问下面这些问题能帮助你决定是否应该排除）</a:t>
            </a:r>
            <a:r>
              <a:rPr lang="en-US" altLang="zh-CN" sz="2400" dirty="0">
                <a:ea typeface="宋体" pitchFamily="2" charset="-122"/>
              </a:rPr>
              <a:t>:</a:t>
            </a:r>
          </a:p>
          <a:p>
            <a:pPr lvl="1" eaLnBrk="1" hangingPunct="1">
              <a:lnSpc>
                <a:spcPct val="80000"/>
              </a:lnSpc>
            </a:pPr>
            <a:r>
              <a:rPr lang="en-US" altLang="zh-CN" sz="1800" dirty="0">
                <a:ea typeface="宋体" pitchFamily="2" charset="-122"/>
              </a:rPr>
              <a:t>Is it really a synonym for some other thing I have identified?</a:t>
            </a:r>
            <a:r>
              <a:rPr lang="zh-CN" altLang="en-US" sz="1800" dirty="0">
                <a:ea typeface="宋体" pitchFamily="2" charset="-122"/>
              </a:rPr>
              <a:t>（这真的是我已经确认的其他事物的同义词吗？）</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really just an output of the system produced from other information I have identified?</a:t>
            </a:r>
            <a:r>
              <a:rPr lang="zh-CN" altLang="en-US" sz="1800" dirty="0">
                <a:ea typeface="宋体" pitchFamily="2" charset="-122"/>
              </a:rPr>
              <a:t>（是否是我定义的其他系统的输出？）</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really just an input that results in recording some other information I have identified?</a:t>
            </a:r>
            <a:r>
              <a:rPr lang="zh-CN" altLang="en-US" sz="1800" dirty="0">
                <a:ea typeface="宋体" pitchFamily="2" charset="-122"/>
              </a:rPr>
              <a:t>（是否是我定义的其他信息的输入？）</a:t>
            </a:r>
            <a:endParaRPr lang="en-US" altLang="zh-CN" sz="1800" dirty="0">
              <a:ea typeface="宋体" pitchFamily="2" charset="-122"/>
            </a:endParaRPr>
          </a:p>
          <a:p>
            <a:pPr eaLnBrk="1" hangingPunct="1">
              <a:lnSpc>
                <a:spcPct val="80000"/>
              </a:lnSpc>
              <a:buFont typeface="Wingdings" pitchFamily="2" charset="2"/>
              <a:buNone/>
            </a:pPr>
            <a:r>
              <a:rPr lang="en-US" altLang="zh-CN" sz="2000" dirty="0">
                <a:ea typeface="宋体" pitchFamily="2" charset="-122"/>
              </a:rPr>
              <a:t>	</a:t>
            </a:r>
            <a:endParaRPr lang="en-GB" altLang="zh-CN" sz="1800" dirty="0"/>
          </a:p>
        </p:txBody>
      </p:sp>
      <p:sp>
        <p:nvSpPr>
          <p:cNvPr id="153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53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6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CC00C3D-B05E-4A59-A5A9-A49E64955996}" type="slidenum">
              <a:rPr lang="en-US" altLang="en-US"/>
              <a:pPr eaLnBrk="1" hangingPunct="1"/>
              <a:t>20</a:t>
            </a:fld>
            <a:endParaRPr lang="en-US" altLang="en-US"/>
          </a:p>
        </p:txBody>
      </p:sp>
      <p:sp>
        <p:nvSpPr>
          <p:cNvPr id="16387" name="Rectangle 2"/>
          <p:cNvSpPr>
            <a:spLocks noGrp="1" noChangeArrowheads="1"/>
          </p:cNvSpPr>
          <p:nvPr>
            <p:ph type="title"/>
          </p:nvPr>
        </p:nvSpPr>
        <p:spPr>
          <a:xfrm>
            <a:off x="457200" y="122238"/>
            <a:ext cx="7543800" cy="1173162"/>
          </a:xfrm>
        </p:spPr>
        <p:txBody>
          <a:bodyPr/>
          <a:lstStyle/>
          <a:p>
            <a:pPr eaLnBrk="1" hangingPunct="1"/>
            <a:r>
              <a:rPr lang="en-US" altLang="zh-CN" sz="3600">
                <a:ea typeface="宋体" pitchFamily="2" charset="-122"/>
              </a:rPr>
              <a:t>The Noun Technique:</a:t>
            </a:r>
            <a:br>
              <a:rPr lang="en-US" altLang="zh-CN" sz="3600">
                <a:ea typeface="宋体" pitchFamily="2" charset="-122"/>
              </a:rPr>
            </a:br>
            <a:r>
              <a:rPr lang="en-US" altLang="zh-CN" sz="3600">
                <a:ea typeface="宋体" pitchFamily="2" charset="-122"/>
              </a:rPr>
              <a:t>Steps </a:t>
            </a:r>
            <a:r>
              <a:rPr lang="en-US" altLang="zh-CN" sz="2400">
                <a:ea typeface="宋体" pitchFamily="2" charset="-122"/>
              </a:rPr>
              <a:t>(continued)</a:t>
            </a:r>
          </a:p>
        </p:txBody>
      </p:sp>
      <p:sp>
        <p:nvSpPr>
          <p:cNvPr id="16388" name="Rectangle 3"/>
          <p:cNvSpPr>
            <a:spLocks noGrp="1" noChangeArrowheads="1"/>
          </p:cNvSpPr>
          <p:nvPr>
            <p:ph type="body" sz="half" idx="1"/>
          </p:nvPr>
        </p:nvSpPr>
        <p:spPr>
          <a:xfrm>
            <a:off x="457200" y="1447800"/>
            <a:ext cx="8001000" cy="4724400"/>
          </a:xfrm>
        </p:spPr>
        <p:txBody>
          <a:bodyPr/>
          <a:lstStyle/>
          <a:p>
            <a:pPr eaLnBrk="1" hangingPunct="1">
              <a:lnSpc>
                <a:spcPct val="80000"/>
              </a:lnSpc>
              <a:buNone/>
            </a:pPr>
            <a:r>
              <a:rPr lang="en-US" altLang="zh-CN" sz="2400" dirty="0">
                <a:ea typeface="宋体" pitchFamily="2" charset="-122"/>
              </a:rPr>
              <a:t>Ask these questions to research it</a:t>
            </a:r>
            <a:r>
              <a:rPr lang="zh-CN" altLang="en-US" sz="2400" dirty="0">
                <a:ea typeface="宋体" pitchFamily="2" charset="-122"/>
              </a:rPr>
              <a:t>（</a:t>
            </a:r>
            <a:r>
              <a:rPr lang="zh-CN" altLang="en-US" sz="2400" dirty="0"/>
              <a:t>问一下这些问题能帮助你决定是否应该研究它</a:t>
            </a:r>
            <a:r>
              <a:rPr lang="zh-CN" altLang="en-US" sz="2400" dirty="0">
                <a:ea typeface="宋体" pitchFamily="2" charset="-122"/>
              </a:rPr>
              <a:t>）</a:t>
            </a:r>
            <a:r>
              <a:rPr lang="en-US" altLang="zh-CN" sz="2400" dirty="0">
                <a:ea typeface="宋体" pitchFamily="2" charset="-122"/>
              </a:rPr>
              <a:t>:</a:t>
            </a:r>
          </a:p>
          <a:p>
            <a:pPr lvl="1" eaLnBrk="1" hangingPunct="1">
              <a:lnSpc>
                <a:spcPct val="80000"/>
              </a:lnSpc>
            </a:pPr>
            <a:r>
              <a:rPr lang="en-US" altLang="zh-CN" sz="1800" dirty="0">
                <a:ea typeface="宋体" pitchFamily="2" charset="-122"/>
              </a:rPr>
              <a:t>Is it likely to be a specific piece of information (attribute) about some other thing I have identified?</a:t>
            </a:r>
            <a:r>
              <a:rPr lang="zh-CN" altLang="en-US" sz="1800" dirty="0">
                <a:ea typeface="宋体" pitchFamily="2" charset="-122"/>
              </a:rPr>
              <a:t>（</a:t>
            </a:r>
            <a:r>
              <a:rPr lang="en-US" altLang="zh-CN" sz="1800" dirty="0">
                <a:ea typeface="宋体" pitchFamily="2" charset="-122"/>
              </a:rPr>
              <a:t> </a:t>
            </a:r>
            <a:r>
              <a:rPr lang="zh-CN" altLang="en-US" sz="1800" dirty="0">
                <a:ea typeface="宋体" pitchFamily="2" charset="-122"/>
              </a:rPr>
              <a:t>这像是我已经确定的事务信息的属性吗？）</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something I might need if assumptions change? </a:t>
            </a:r>
            <a:r>
              <a:rPr lang="zh-CN" altLang="en-US" sz="1800" dirty="0">
                <a:ea typeface="宋体" pitchFamily="2" charset="-122"/>
              </a:rPr>
              <a:t>（如果属性变了我会需要这些事物吗？）</a:t>
            </a:r>
            <a:endParaRPr lang="en-US" altLang="zh-CN" sz="1800" dirty="0">
              <a:ea typeface="宋体" pitchFamily="2" charset="-122"/>
            </a:endParaRPr>
          </a:p>
          <a:p>
            <a:pPr marL="0" indent="0" eaLnBrk="1" hangingPunct="1">
              <a:lnSpc>
                <a:spcPct val="80000"/>
              </a:lnSpc>
              <a:buNone/>
            </a:pPr>
            <a:r>
              <a:rPr lang="en-US" altLang="zh-CN" sz="2400" dirty="0">
                <a:ea typeface="宋体" pitchFamily="2" charset="-122"/>
              </a:rPr>
              <a:t>4. Create a master list of all nouns identified and then note whether each one should be included, excluded, or researched further.</a:t>
            </a:r>
            <a:r>
              <a:rPr lang="zh-CN" altLang="en-US" sz="2400" dirty="0">
                <a:ea typeface="宋体" pitchFamily="2" charset="-122"/>
              </a:rPr>
              <a:t>（</a:t>
            </a:r>
            <a:r>
              <a:rPr lang="zh-CN" altLang="en-US" sz="2400" dirty="0"/>
              <a:t>创建所有已确认名词的主要列表，然后注意每个名词是否要保留、排除或是研究。</a:t>
            </a:r>
            <a:r>
              <a:rPr lang="zh-CN" altLang="en-US" sz="2400" dirty="0">
                <a:ea typeface="宋体" pitchFamily="2" charset="-122"/>
              </a:rPr>
              <a:t>）</a:t>
            </a:r>
            <a:endParaRPr lang="en-US" altLang="zh-CN" sz="2400" dirty="0">
              <a:ea typeface="宋体" pitchFamily="2" charset="-122"/>
            </a:endParaRPr>
          </a:p>
          <a:p>
            <a:pPr marL="0" indent="0" eaLnBrk="1" hangingPunct="1">
              <a:lnSpc>
                <a:spcPct val="80000"/>
              </a:lnSpc>
              <a:buNone/>
            </a:pPr>
            <a:r>
              <a:rPr lang="en-US" altLang="zh-CN" sz="2400" dirty="0">
                <a:ea typeface="宋体" pitchFamily="2" charset="-122"/>
              </a:rPr>
              <a:t>5. Review the list with users, stakeholders, and team members and then define the list of things in the problem domain.</a:t>
            </a:r>
            <a:r>
              <a:rPr lang="zh-CN" altLang="en-US" sz="2400" dirty="0">
                <a:ea typeface="宋体" pitchFamily="2" charset="-122"/>
              </a:rPr>
              <a:t>（</a:t>
            </a:r>
            <a:r>
              <a:rPr lang="zh-CN" altLang="en-US" sz="2400" dirty="0"/>
              <a:t>与用户、利益相关者和团队成员一起评审，然后修改问题域中的事物列表。 </a:t>
            </a:r>
            <a:r>
              <a:rPr lang="zh-CN" altLang="en-US" sz="2400" dirty="0">
                <a:ea typeface="宋体" pitchFamily="2" charset="-122"/>
              </a:rPr>
              <a:t>）</a:t>
            </a:r>
            <a:endParaRPr lang="en-GB" altLang="zh-CN" sz="2400" dirty="0">
              <a:ea typeface="宋体" pitchFamily="2" charset="-122"/>
            </a:endParaRPr>
          </a:p>
        </p:txBody>
      </p:sp>
      <p:sp>
        <p:nvSpPr>
          <p:cNvPr id="163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63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14600" y="396875"/>
            <a:ext cx="6324600" cy="5664200"/>
          </a:xfrm>
          <a:noFill/>
        </p:spPr>
      </p:pic>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D952CFC-A44C-4DFB-8837-629607126BC7}" type="slidenum">
              <a:rPr lang="en-US" altLang="en-US"/>
              <a:pPr eaLnBrk="1" hangingPunct="1"/>
              <a:t>21</a:t>
            </a:fld>
            <a:endParaRPr lang="en-US" altLang="en-US"/>
          </a:p>
        </p:txBody>
      </p:sp>
      <p:sp>
        <p:nvSpPr>
          <p:cNvPr id="13315" name="Rectangle 2"/>
          <p:cNvSpPr>
            <a:spLocks noGrp="1" noChangeArrowheads="1"/>
          </p:cNvSpPr>
          <p:nvPr>
            <p:ph type="title"/>
          </p:nvPr>
        </p:nvSpPr>
        <p:spPr>
          <a:xfrm>
            <a:off x="228600" y="1371600"/>
            <a:ext cx="2362200" cy="3124200"/>
          </a:xfrm>
        </p:spPr>
        <p:txBody>
          <a:bodyPr/>
          <a:lstStyle/>
          <a:p>
            <a:pPr eaLnBrk="1" hangingPunct="1"/>
            <a:r>
              <a:rPr lang="en-US" altLang="zh-CN" sz="3200" dirty="0">
                <a:ea typeface="宋体" pitchFamily="2" charset="-122"/>
              </a:rPr>
              <a:t>Partial List of Nouns for RMO</a:t>
            </a:r>
            <a:br>
              <a:rPr lang="en-US" altLang="zh-CN" sz="3200" dirty="0">
                <a:ea typeface="宋体" pitchFamily="2" charset="-122"/>
              </a:rPr>
            </a:br>
            <a:br>
              <a:rPr lang="en-US" altLang="zh-CN" sz="3600" dirty="0">
                <a:ea typeface="宋体" pitchFamily="2" charset="-122"/>
              </a:rPr>
            </a:br>
            <a:r>
              <a:rPr lang="en-US" altLang="zh-CN" sz="2000" dirty="0">
                <a:ea typeface="宋体" pitchFamily="2" charset="-122"/>
              </a:rPr>
              <a:t>With notes on whether to include as domain class</a:t>
            </a:r>
          </a:p>
        </p:txBody>
      </p:sp>
      <p:sp>
        <p:nvSpPr>
          <p:cNvPr id="1331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33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8C952BC-5DCB-43EA-A507-8C6057159783}"/>
              </a:ext>
            </a:extLst>
          </p:cNvPr>
          <p:cNvSpPr/>
          <p:nvPr/>
        </p:nvSpPr>
        <p:spPr>
          <a:xfrm>
            <a:off x="2514600" y="990600"/>
            <a:ext cx="6248400" cy="3048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1AB6183-D031-4D41-A49A-F2F751ABF3C6}"/>
              </a:ext>
            </a:extLst>
          </p:cNvPr>
          <p:cNvSpPr/>
          <p:nvPr/>
        </p:nvSpPr>
        <p:spPr>
          <a:xfrm>
            <a:off x="2514600" y="3886200"/>
            <a:ext cx="6248400" cy="2286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9D7AEC54-16EB-4F02-A3CD-C7EE2D56F4DC}" type="slidenum">
              <a:rPr lang="en-US" altLang="en-US"/>
              <a:pPr eaLnBrk="1" hangingPunct="1"/>
              <a:t>22</a:t>
            </a:fld>
            <a:endParaRPr lang="en-US" altLang="en-US"/>
          </a:p>
        </p:txBody>
      </p:sp>
      <p:sp>
        <p:nvSpPr>
          <p:cNvPr id="17411"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Details about Domain</a:t>
            </a:r>
            <a:r>
              <a:rPr lang="en-US" altLang="zh-CN" sz="4000" dirty="0">
                <a:ea typeface="宋体" pitchFamily="2" charset="-122"/>
              </a:rPr>
              <a:t> Classes</a:t>
            </a:r>
            <a:endParaRPr lang="en-US" altLang="zh-CN" sz="3200" dirty="0">
              <a:ea typeface="宋体" pitchFamily="2" charset="-122"/>
            </a:endParaRPr>
          </a:p>
        </p:txBody>
      </p:sp>
      <p:sp>
        <p:nvSpPr>
          <p:cNvPr id="17412" name="Rectangle 3"/>
          <p:cNvSpPr>
            <a:spLocks noGrp="1" noChangeArrowheads="1"/>
          </p:cNvSpPr>
          <p:nvPr>
            <p:ph type="body" sz="half" idx="1"/>
          </p:nvPr>
        </p:nvSpPr>
        <p:spPr>
          <a:xfrm>
            <a:off x="457200" y="1447800"/>
            <a:ext cx="8229600" cy="4724400"/>
          </a:xfrm>
        </p:spPr>
        <p:txBody>
          <a:bodyPr/>
          <a:lstStyle/>
          <a:p>
            <a:pPr eaLnBrk="1" hangingPunct="1">
              <a:lnSpc>
                <a:spcPct val="80000"/>
              </a:lnSpc>
            </a:pPr>
            <a:r>
              <a:rPr lang="en-US" altLang="zh-CN" sz="2800" dirty="0">
                <a:ea typeface="宋体" pitchFamily="2" charset="-122"/>
              </a:rPr>
              <a:t>Attribute</a:t>
            </a:r>
            <a:r>
              <a:rPr lang="zh-CN" altLang="en-US" sz="2800" dirty="0">
                <a:ea typeface="宋体" pitchFamily="2" charset="-122"/>
              </a:rPr>
              <a:t>（属性）</a:t>
            </a:r>
            <a:r>
              <a:rPr lang="en-US" altLang="zh-CN" sz="2800" dirty="0">
                <a:ea typeface="宋体" pitchFamily="2" charset="-122"/>
              </a:rPr>
              <a:t>— describes </a:t>
            </a:r>
            <a:r>
              <a:rPr lang="en-US" altLang="zh-CN" sz="2800" u="sng" dirty="0">
                <a:ea typeface="宋体" pitchFamily="2" charset="-122"/>
              </a:rPr>
              <a:t>one piece of information </a:t>
            </a:r>
            <a:r>
              <a:rPr lang="en-US" altLang="zh-CN" sz="2800" dirty="0">
                <a:ea typeface="宋体" pitchFamily="2" charset="-122"/>
              </a:rPr>
              <a:t>about each instance of the class</a:t>
            </a:r>
            <a:r>
              <a:rPr lang="zh-CN" altLang="en-US" sz="2800" dirty="0">
                <a:ea typeface="宋体" pitchFamily="2" charset="-122"/>
              </a:rPr>
              <a:t>（描述类的每个实例的一条信息）</a:t>
            </a:r>
            <a:endParaRPr lang="en-US" altLang="zh-CN" sz="2800" dirty="0">
              <a:ea typeface="宋体" pitchFamily="2" charset="-122"/>
            </a:endParaRPr>
          </a:p>
          <a:p>
            <a:pPr lvl="1" eaLnBrk="1" hangingPunct="1">
              <a:lnSpc>
                <a:spcPct val="80000"/>
              </a:lnSpc>
            </a:pPr>
            <a:r>
              <a:rPr lang="en-US" altLang="zh-CN" sz="2400" dirty="0">
                <a:ea typeface="宋体" pitchFamily="2" charset="-122"/>
              </a:rPr>
              <a:t>Customer has first name, last name, phone number</a:t>
            </a:r>
          </a:p>
          <a:p>
            <a:pPr eaLnBrk="1" hangingPunct="1">
              <a:lnSpc>
                <a:spcPct val="80000"/>
              </a:lnSpc>
            </a:pPr>
            <a:r>
              <a:rPr lang="en-US" altLang="zh-CN" sz="2800" dirty="0">
                <a:ea typeface="宋体" pitchFamily="2" charset="-122"/>
              </a:rPr>
              <a:t>Identifier or key</a:t>
            </a:r>
            <a:r>
              <a:rPr lang="zh-CN" altLang="en-US" sz="2800" dirty="0">
                <a:ea typeface="宋体" pitchFamily="2" charset="-122"/>
              </a:rPr>
              <a:t>（标识符</a:t>
            </a:r>
            <a:r>
              <a:rPr lang="en-US" altLang="zh-CN" sz="2800" dirty="0">
                <a:ea typeface="宋体" pitchFamily="2" charset="-122"/>
              </a:rPr>
              <a:t>/</a:t>
            </a:r>
            <a:r>
              <a:rPr lang="zh-CN" altLang="en-US" sz="2800" dirty="0">
                <a:ea typeface="宋体" pitchFamily="2" charset="-122"/>
              </a:rPr>
              <a:t>键）</a:t>
            </a:r>
            <a:endParaRPr lang="en-US" altLang="zh-CN" sz="2800" dirty="0">
              <a:ea typeface="宋体" pitchFamily="2" charset="-122"/>
            </a:endParaRPr>
          </a:p>
          <a:p>
            <a:pPr lvl="1" eaLnBrk="1" hangingPunct="1">
              <a:lnSpc>
                <a:spcPct val="80000"/>
              </a:lnSpc>
            </a:pPr>
            <a:r>
              <a:rPr lang="en-US" altLang="zh-CN" sz="2400" dirty="0">
                <a:ea typeface="宋体" pitchFamily="2" charset="-122"/>
              </a:rPr>
              <a:t>One attribute </a:t>
            </a:r>
            <a:r>
              <a:rPr lang="en-US" altLang="zh-CN" sz="2400" u="sng" dirty="0">
                <a:ea typeface="宋体" pitchFamily="2" charset="-122"/>
              </a:rPr>
              <a:t>uniquely </a:t>
            </a:r>
            <a:r>
              <a:rPr lang="en-US" altLang="zh-CN" sz="2400" dirty="0">
                <a:ea typeface="宋体" pitchFamily="2" charset="-122"/>
              </a:rPr>
              <a:t>identifies an instance of the class</a:t>
            </a:r>
            <a:r>
              <a:rPr lang="zh-CN" altLang="en-US" sz="2400" u="sng" dirty="0">
                <a:ea typeface="宋体" pitchFamily="2" charset="-122"/>
              </a:rPr>
              <a:t> （唯一地标识类的实例）</a:t>
            </a:r>
            <a:r>
              <a:rPr lang="en-US" altLang="zh-CN" sz="2400" dirty="0">
                <a:ea typeface="宋体" pitchFamily="2" charset="-122"/>
              </a:rPr>
              <a:t>. Required for data entities, optional for domain classes. Customer ID identifies a customer</a:t>
            </a:r>
          </a:p>
          <a:p>
            <a:pPr eaLnBrk="1" hangingPunct="1">
              <a:lnSpc>
                <a:spcPct val="80000"/>
              </a:lnSpc>
            </a:pPr>
            <a:r>
              <a:rPr lang="en-US" altLang="zh-CN" sz="2800" dirty="0">
                <a:ea typeface="宋体" pitchFamily="2" charset="-122"/>
              </a:rPr>
              <a:t>Compound attribute</a:t>
            </a:r>
            <a:r>
              <a:rPr lang="zh-CN" altLang="en-US" sz="2800" dirty="0">
                <a:ea typeface="宋体" pitchFamily="2" charset="-122"/>
              </a:rPr>
              <a:t>（复合属性）</a:t>
            </a:r>
            <a:endParaRPr lang="en-US" altLang="zh-CN" sz="2800" dirty="0">
              <a:ea typeface="宋体" pitchFamily="2" charset="-122"/>
            </a:endParaRPr>
          </a:p>
          <a:p>
            <a:pPr lvl="1" eaLnBrk="1" hangingPunct="1">
              <a:lnSpc>
                <a:spcPct val="80000"/>
              </a:lnSpc>
            </a:pPr>
            <a:r>
              <a:rPr lang="en-US" altLang="zh-CN" sz="2400" u="sng" dirty="0">
                <a:ea typeface="宋体" pitchFamily="2" charset="-122"/>
              </a:rPr>
              <a:t>Two or more attributes combined into one structure</a:t>
            </a:r>
            <a:r>
              <a:rPr lang="zh-CN" altLang="en-US" sz="2400" u="sng" dirty="0">
                <a:ea typeface="宋体" pitchFamily="2" charset="-122"/>
              </a:rPr>
              <a:t>（两个或多个属性组合成一个结构以简化模型）</a:t>
            </a:r>
            <a:r>
              <a:rPr lang="en-US" altLang="zh-CN" sz="2400" u="sng" dirty="0">
                <a:ea typeface="宋体" pitchFamily="2" charset="-122"/>
              </a:rPr>
              <a:t> </a:t>
            </a:r>
            <a:r>
              <a:rPr lang="en-US" altLang="zh-CN" sz="2400" dirty="0">
                <a:ea typeface="宋体" pitchFamily="2" charset="-122"/>
              </a:rPr>
              <a:t>to simplify the model. (E.g., address rather than including number, street, city, state, zip  separately). Sometimes an identifier or key is a compound attribute</a:t>
            </a:r>
            <a:r>
              <a:rPr lang="en-US" altLang="zh-CN" sz="2800" dirty="0">
                <a:ea typeface="宋体" pitchFamily="2" charset="-122"/>
              </a:rPr>
              <a:t>.</a:t>
            </a:r>
            <a:endParaRPr lang="en-GB"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1AD6C1C-06D9-4963-A75D-5C50D920DF0F}" type="slidenum">
              <a:rPr lang="en-US" altLang="en-US"/>
              <a:pPr eaLnBrk="1" hangingPunct="1"/>
              <a:t>23</a:t>
            </a:fld>
            <a:endParaRPr lang="en-US" altLang="en-US"/>
          </a:p>
        </p:txBody>
      </p:sp>
      <p:sp>
        <p:nvSpPr>
          <p:cNvPr id="18435" name="Rectangle 2"/>
          <p:cNvSpPr>
            <a:spLocks noGrp="1" noChangeArrowheads="1"/>
          </p:cNvSpPr>
          <p:nvPr>
            <p:ph type="title"/>
          </p:nvPr>
        </p:nvSpPr>
        <p:spPr/>
        <p:txBody>
          <a:bodyPr/>
          <a:lstStyle/>
          <a:p>
            <a:pPr eaLnBrk="1" hangingPunct="1"/>
            <a:r>
              <a:rPr lang="en-US" altLang="zh-CN" sz="3600" dirty="0">
                <a:ea typeface="宋体" pitchFamily="2" charset="-122"/>
              </a:rPr>
              <a:t>Attributes and Values</a:t>
            </a:r>
            <a:endParaRPr lang="en-US" altLang="zh-CN" sz="3200" dirty="0">
              <a:ea typeface="宋体" pitchFamily="2" charset="-122"/>
            </a:endParaRPr>
          </a:p>
        </p:txBody>
      </p:sp>
      <p:sp>
        <p:nvSpPr>
          <p:cNvPr id="18436" name="Content Placeholder 2"/>
          <p:cNvSpPr>
            <a:spLocks/>
          </p:cNvSpPr>
          <p:nvPr/>
        </p:nvSpPr>
        <p:spPr bwMode="auto">
          <a:xfrm>
            <a:off x="457200" y="1600200"/>
            <a:ext cx="8301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marL="338138" indent="-338138" defTabSz="457200" eaLnBrk="0" hangingPunct="0">
              <a:defRPr>
                <a:solidFill>
                  <a:schemeClr val="tx1"/>
                </a:solidFill>
                <a:latin typeface="Arial" charset="0"/>
                <a:cs typeface="Arial" charset="0"/>
              </a:defRPr>
            </a:lvl1pPr>
            <a:lvl2pPr marL="742950" indent="-285750" defTabSz="457200" eaLnBrk="0" hangingPunct="0">
              <a:defRPr>
                <a:solidFill>
                  <a:schemeClr val="tx1"/>
                </a:solidFill>
                <a:latin typeface="Arial" charset="0"/>
                <a:cs typeface="Arial" charset="0"/>
              </a:defRPr>
            </a:lvl2pPr>
            <a:lvl3pPr marL="1143000" indent="-228600" defTabSz="457200" eaLnBrk="0" hangingPunct="0">
              <a:defRPr>
                <a:solidFill>
                  <a:schemeClr val="tx1"/>
                </a:solidFill>
                <a:latin typeface="Arial" charset="0"/>
                <a:cs typeface="Arial" charset="0"/>
              </a:defRPr>
            </a:lvl3pPr>
            <a:lvl4pPr marL="1600200" indent="-228600" defTabSz="457200" eaLnBrk="0" hangingPunct="0">
              <a:defRPr>
                <a:solidFill>
                  <a:schemeClr val="tx1"/>
                </a:solidFill>
                <a:latin typeface="Arial" charset="0"/>
                <a:cs typeface="Arial" charset="0"/>
              </a:defRPr>
            </a:lvl4pPr>
            <a:lvl5pPr marL="2057400" indent="-228600" defTabSz="457200" eaLnBrk="0" hangingPunct="0">
              <a:defRPr>
                <a:solidFill>
                  <a:schemeClr val="tx1"/>
                </a:solidFill>
                <a:latin typeface="Arial" charset="0"/>
                <a:cs typeface="Arial" charset="0"/>
              </a:defRPr>
            </a:lvl5pPr>
            <a:lvl6pPr marL="2514600" indent="-228600" defTabSz="457200" eaLnBrk="0" fontAlgn="base" hangingPunct="0">
              <a:spcBef>
                <a:spcPct val="0"/>
              </a:spcBef>
              <a:spcAft>
                <a:spcPct val="0"/>
              </a:spcAft>
              <a:defRPr>
                <a:solidFill>
                  <a:schemeClr val="tx1"/>
                </a:solidFill>
                <a:latin typeface="Arial" charset="0"/>
                <a:cs typeface="Arial" charset="0"/>
              </a:defRPr>
            </a:lvl6pPr>
            <a:lvl7pPr marL="2971800" indent="-228600" defTabSz="457200" eaLnBrk="0" fontAlgn="base" hangingPunct="0">
              <a:spcBef>
                <a:spcPct val="0"/>
              </a:spcBef>
              <a:spcAft>
                <a:spcPct val="0"/>
              </a:spcAft>
              <a:defRPr>
                <a:solidFill>
                  <a:schemeClr val="tx1"/>
                </a:solidFill>
                <a:latin typeface="Arial" charset="0"/>
                <a:cs typeface="Arial" charset="0"/>
              </a:defRPr>
            </a:lvl7pPr>
            <a:lvl8pPr marL="3429000" indent="-228600" defTabSz="457200" eaLnBrk="0" fontAlgn="base" hangingPunct="0">
              <a:spcBef>
                <a:spcPct val="0"/>
              </a:spcBef>
              <a:spcAft>
                <a:spcPct val="0"/>
              </a:spcAft>
              <a:defRPr>
                <a:solidFill>
                  <a:schemeClr val="tx1"/>
                </a:solidFill>
                <a:latin typeface="Arial" charset="0"/>
                <a:cs typeface="Arial" charset="0"/>
              </a:defRPr>
            </a:lvl8pPr>
            <a:lvl9pPr marL="3886200" indent="-228600" defTabSz="4572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US" altLang="zh-CN" sz="2000" dirty="0">
                <a:ea typeface="宋体" pitchFamily="2" charset="-122"/>
              </a:rPr>
              <a:t>Class is a type of thing.</a:t>
            </a:r>
            <a:r>
              <a:rPr lang="zh-CN" altLang="en-US" sz="2000" dirty="0">
                <a:ea typeface="宋体" pitchFamily="2" charset="-122"/>
              </a:rPr>
              <a:t>（类是一种“事物”类型）</a:t>
            </a:r>
            <a:endParaRPr lang="en-US" altLang="zh-CN" sz="2000" dirty="0">
              <a:ea typeface="宋体" pitchFamily="2" charset="-122"/>
            </a:endParaRPr>
          </a:p>
          <a:p>
            <a:pPr eaLnBrk="1" hangingPunct="1">
              <a:spcBef>
                <a:spcPct val="20000"/>
              </a:spcBef>
              <a:buClr>
                <a:schemeClr val="tx2"/>
              </a:buClr>
              <a:buSzPct val="70000"/>
              <a:buFont typeface="Wingdings" pitchFamily="2" charset="2"/>
              <a:buChar char="l"/>
            </a:pPr>
            <a:r>
              <a:rPr lang="en-US" altLang="zh-CN" sz="2000" dirty="0">
                <a:ea typeface="宋体" pitchFamily="2" charset="-122"/>
              </a:rPr>
              <a:t> Object is a specific instance of the class. Each instance has its own values for an attribute</a:t>
            </a:r>
            <a:r>
              <a:rPr lang="zh-CN" altLang="en-US" sz="2000" dirty="0">
                <a:ea typeface="宋体" pitchFamily="2" charset="-122"/>
              </a:rPr>
              <a:t>（对象是类的特定实例。每个实例都有自己的属性值）</a:t>
            </a:r>
            <a:endParaRPr lang="en-US" altLang="zh-CN" sz="2000" dirty="0">
              <a:ea typeface="宋体" pitchFamily="2" charset="-122"/>
            </a:endParaRPr>
          </a:p>
          <a:p>
            <a:pPr eaLnBrk="1" hangingPunct="1">
              <a:spcBef>
                <a:spcPct val="20000"/>
              </a:spcBef>
              <a:buClr>
                <a:schemeClr val="tx2"/>
              </a:buClr>
              <a:buSzPct val="70000"/>
              <a:buFont typeface="Wingdings" pitchFamily="2" charset="2"/>
              <a:buChar char="l"/>
            </a:pPr>
            <a:endParaRPr lang="en-US" altLang="zh-CN" sz="2000" dirty="0">
              <a:ea typeface="宋体" pitchFamily="2" charset="-122"/>
            </a:endParaRPr>
          </a:p>
        </p:txBody>
      </p:sp>
      <p:pic>
        <p:nvPicPr>
          <p:cNvPr id="18437"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3071019"/>
            <a:ext cx="8686800" cy="2544763"/>
          </a:xfrm>
          <a:noFill/>
        </p:spPr>
      </p:pic>
      <p:sp>
        <p:nvSpPr>
          <p:cNvPr id="1843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843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24</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itchFamily="2" charset="-122"/>
              </a:rPr>
              <a:t>“Things” in the Problem Domain</a:t>
            </a: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solidFill>
                  <a:srgbClr val="C00000"/>
                </a:solidFill>
                <a:ea typeface="宋体" pitchFamily="2" charset="-122"/>
              </a:rPr>
              <a:t>The Entity-Relationship Diagram</a:t>
            </a:r>
            <a:r>
              <a:rPr lang="zh-CN" altLang="en-US" sz="3200" dirty="0">
                <a:solidFill>
                  <a:srgbClr val="C00000"/>
                </a:solidFill>
                <a:ea typeface="宋体" pitchFamily="2" charset="-122"/>
              </a:rPr>
              <a:t>（实体</a:t>
            </a:r>
            <a:r>
              <a:rPr lang="en-US" altLang="zh-CN" sz="3200" dirty="0">
                <a:solidFill>
                  <a:srgbClr val="C00000"/>
                </a:solidFill>
                <a:ea typeface="宋体" pitchFamily="2" charset="-122"/>
              </a:rPr>
              <a:t>-</a:t>
            </a:r>
            <a:r>
              <a:rPr lang="zh-CN" altLang="en-US" sz="3200" dirty="0">
                <a:solidFill>
                  <a:srgbClr val="C00000"/>
                </a:solidFill>
                <a:ea typeface="宋体" pitchFamily="2" charset="-122"/>
              </a:rPr>
              <a:t>关系图）</a:t>
            </a:r>
            <a:endParaRPr lang="en-US" altLang="zh-CN" sz="3200" dirty="0">
              <a:solidFill>
                <a:srgbClr val="C00000"/>
              </a:solidFill>
              <a:ea typeface="宋体" pitchFamily="2" charset="-122"/>
            </a:endParaRPr>
          </a:p>
          <a:p>
            <a:pPr eaLnBrk="1" hangingPunct="1"/>
            <a:r>
              <a:rPr lang="en-US" altLang="zh-CN" sz="3200" dirty="0">
                <a:ea typeface="宋体" pitchFamily="2" charset="-122"/>
              </a:rPr>
              <a:t>The Domain Model Class Diagram</a:t>
            </a:r>
          </a:p>
          <a:p>
            <a:pPr eaLnBrk="1" hangingPunct="1"/>
            <a:r>
              <a:rPr lang="en-US" altLang="zh-CN" sz="3200" dirty="0">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extLst>
      <p:ext uri="{BB962C8B-B14F-4D97-AF65-F5344CB8AC3E}">
        <p14:creationId xmlns:p14="http://schemas.microsoft.com/office/powerpoint/2010/main" val="161804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0CFDB0EB-54EA-4FBF-871B-4111E97260CB}" type="slidenum">
              <a:rPr lang="en-US" altLang="en-US"/>
              <a:pPr eaLnBrk="1" hangingPunct="1"/>
              <a:t>25</a:t>
            </a:fld>
            <a:endParaRPr lang="en-US" altLang="en-US"/>
          </a:p>
        </p:txBody>
      </p:sp>
      <p:sp>
        <p:nvSpPr>
          <p:cNvPr id="19459" name="Rectangle 2"/>
          <p:cNvSpPr>
            <a:spLocks noGrp="1" noChangeArrowheads="1"/>
          </p:cNvSpPr>
          <p:nvPr>
            <p:ph type="title"/>
          </p:nvPr>
        </p:nvSpPr>
        <p:spPr>
          <a:xfrm>
            <a:off x="457200" y="122238"/>
            <a:ext cx="7543800" cy="1173162"/>
          </a:xfrm>
        </p:spPr>
        <p:txBody>
          <a:bodyPr/>
          <a:lstStyle/>
          <a:p>
            <a:pPr eaLnBrk="1" hangingPunct="1"/>
            <a:r>
              <a:rPr lang="en-US" altLang="zh-CN" sz="3600">
                <a:ea typeface="宋体" pitchFamily="2" charset="-122"/>
              </a:rPr>
              <a:t>Associations Among Things</a:t>
            </a:r>
          </a:p>
        </p:txBody>
      </p:sp>
      <p:sp>
        <p:nvSpPr>
          <p:cNvPr id="19460" name="Rectangle 3"/>
          <p:cNvSpPr>
            <a:spLocks noGrp="1" noChangeArrowheads="1"/>
          </p:cNvSpPr>
          <p:nvPr>
            <p:ph type="body" sz="half" idx="1"/>
          </p:nvPr>
        </p:nvSpPr>
        <p:spPr>
          <a:xfrm>
            <a:off x="457200" y="1524000"/>
            <a:ext cx="8001000" cy="1143000"/>
          </a:xfrm>
        </p:spPr>
        <p:txBody>
          <a:bodyPr/>
          <a:lstStyle/>
          <a:p>
            <a:pPr eaLnBrk="1" hangingPunct="1">
              <a:lnSpc>
                <a:spcPct val="80000"/>
              </a:lnSpc>
            </a:pPr>
            <a:r>
              <a:rPr lang="en-GB" altLang="zh-CN" sz="2800" dirty="0"/>
              <a:t>Association</a:t>
            </a:r>
            <a:r>
              <a:rPr lang="zh-CN" altLang="en-US" sz="2800" dirty="0"/>
              <a:t>（关联）</a:t>
            </a:r>
            <a:r>
              <a:rPr lang="en-GB" altLang="zh-CN" sz="2800" dirty="0"/>
              <a:t>— a naturally occurring relationship between classes </a:t>
            </a:r>
            <a:r>
              <a:rPr lang="zh-CN" altLang="en-US" sz="2800" dirty="0"/>
              <a:t>（类之间自然发生的关系</a:t>
            </a:r>
            <a:r>
              <a:rPr lang="en-GB" altLang="zh-CN" sz="2800" dirty="0"/>
              <a:t>)</a:t>
            </a:r>
          </a:p>
        </p:txBody>
      </p:sp>
      <p:pic>
        <p:nvPicPr>
          <p:cNvPr id="19461"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121229" y="2667000"/>
            <a:ext cx="6858000" cy="3638550"/>
          </a:xfrm>
          <a:noFill/>
        </p:spPr>
      </p:pic>
      <p:sp>
        <p:nvSpPr>
          <p:cNvPr id="19462"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946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E2CC332-153C-4E1D-9748-818D32168F42}" type="slidenum">
              <a:rPr lang="en-US" altLang="en-US"/>
              <a:pPr eaLnBrk="1" hangingPunct="1"/>
              <a:t>26</a:t>
            </a:fld>
            <a:endParaRPr lang="en-US" altLang="en-US"/>
          </a:p>
        </p:txBody>
      </p:sp>
      <p:sp>
        <p:nvSpPr>
          <p:cNvPr id="20483" name="Rectangle 2"/>
          <p:cNvSpPr>
            <a:spLocks noGrp="1" noChangeArrowheads="1"/>
          </p:cNvSpPr>
          <p:nvPr>
            <p:ph type="title"/>
          </p:nvPr>
        </p:nvSpPr>
        <p:spPr>
          <a:xfrm>
            <a:off x="457200" y="122238"/>
            <a:ext cx="7543800" cy="944562"/>
          </a:xfrm>
        </p:spPr>
        <p:txBody>
          <a:bodyPr/>
          <a:lstStyle/>
          <a:p>
            <a:pPr eaLnBrk="1" hangingPunct="1"/>
            <a:r>
              <a:rPr lang="en-US" altLang="zh-CN" sz="3600">
                <a:ea typeface="宋体" pitchFamily="2" charset="-122"/>
              </a:rPr>
              <a:t>Just to Clarify…</a:t>
            </a:r>
            <a:endParaRPr lang="en-US" altLang="zh-CN" sz="3200">
              <a:ea typeface="宋体" pitchFamily="2" charset="-122"/>
            </a:endParaRPr>
          </a:p>
        </p:txBody>
      </p:sp>
      <p:sp>
        <p:nvSpPr>
          <p:cNvPr id="20484" name="Rectangle 7"/>
          <p:cNvSpPr>
            <a:spLocks noChangeArrowheads="1"/>
          </p:cNvSpPr>
          <p:nvPr/>
        </p:nvSpPr>
        <p:spPr bwMode="auto">
          <a:xfrm>
            <a:off x="457200" y="12954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Called </a:t>
            </a:r>
            <a:r>
              <a:rPr lang="en-GB" altLang="zh-CN" sz="2600" b="1" i="1" dirty="0"/>
              <a:t>association</a:t>
            </a:r>
            <a:r>
              <a:rPr lang="zh-CN" altLang="en-US" sz="2600" b="1" i="1" dirty="0"/>
              <a:t>（关联）</a:t>
            </a:r>
            <a:r>
              <a:rPr lang="en-GB" altLang="zh-CN" sz="2600" dirty="0"/>
              <a:t> on class diagram in UML</a:t>
            </a:r>
          </a:p>
          <a:p>
            <a:pPr lvl="1" eaLnBrk="1" hangingPunct="1">
              <a:spcBef>
                <a:spcPct val="20000"/>
              </a:spcBef>
              <a:buClr>
                <a:schemeClr val="accent2"/>
              </a:buClr>
              <a:buSzPct val="70000"/>
              <a:buFont typeface="Wingdings" pitchFamily="2" charset="2"/>
              <a:buChar char="l"/>
            </a:pPr>
            <a:r>
              <a:rPr lang="en-GB" altLang="zh-CN" sz="2000" u="sng" dirty="0"/>
              <a:t>Multiplicity</a:t>
            </a:r>
            <a:r>
              <a:rPr lang="zh-CN" altLang="en-US" sz="2000" dirty="0"/>
              <a:t>（重数）</a:t>
            </a:r>
            <a:r>
              <a:rPr lang="en-GB" altLang="zh-CN" sz="2000" dirty="0"/>
              <a:t> is term for the number of associations between </a:t>
            </a:r>
            <a:r>
              <a:rPr lang="en-GB" altLang="zh-CN" sz="2000" u="sng" dirty="0"/>
              <a:t>classes</a:t>
            </a:r>
            <a:r>
              <a:rPr lang="zh-CN" altLang="en-US" sz="2000" u="sng" dirty="0"/>
              <a:t>（类）</a:t>
            </a:r>
            <a:r>
              <a:rPr lang="en-GB" altLang="zh-CN" sz="2000" dirty="0"/>
              <a:t>: 1 to 1 or 1 to many</a:t>
            </a:r>
          </a:p>
          <a:p>
            <a:pPr lvl="1" eaLnBrk="1" hangingPunct="1">
              <a:spcBef>
                <a:spcPct val="20000"/>
              </a:spcBef>
              <a:buClr>
                <a:schemeClr val="accent2"/>
              </a:buClr>
              <a:buSzPct val="70000"/>
              <a:buFont typeface="Wingdings" pitchFamily="2" charset="2"/>
              <a:buChar char="l"/>
            </a:pPr>
            <a:r>
              <a:rPr lang="en-GB" altLang="zh-CN" sz="2000" dirty="0"/>
              <a:t>We are emphasizing UML in this text</a:t>
            </a:r>
          </a:p>
          <a:p>
            <a:pPr eaLnBrk="1" hangingPunct="1">
              <a:spcBef>
                <a:spcPct val="20000"/>
              </a:spcBef>
              <a:buClr>
                <a:schemeClr val="tx2"/>
              </a:buClr>
              <a:buSzPct val="70000"/>
              <a:buFont typeface="Wingdings" pitchFamily="2" charset="2"/>
              <a:buChar char="l"/>
            </a:pPr>
            <a:r>
              <a:rPr lang="en-GB" altLang="zh-CN" sz="2600" dirty="0"/>
              <a:t>Called </a:t>
            </a:r>
            <a:r>
              <a:rPr lang="en-GB" altLang="zh-CN" sz="2600" b="1" i="1" dirty="0"/>
              <a:t>relationship</a:t>
            </a:r>
            <a:r>
              <a:rPr lang="zh-CN" altLang="en-US" sz="2600" b="1" i="1" dirty="0"/>
              <a:t>（关系）</a:t>
            </a:r>
            <a:r>
              <a:rPr lang="en-GB" altLang="zh-CN" sz="2600" dirty="0"/>
              <a:t> on ERD in database class</a:t>
            </a:r>
          </a:p>
          <a:p>
            <a:pPr lvl="1" eaLnBrk="1" hangingPunct="1">
              <a:spcBef>
                <a:spcPct val="20000"/>
              </a:spcBef>
              <a:buClr>
                <a:schemeClr val="accent2"/>
              </a:buClr>
              <a:buSzPct val="70000"/>
              <a:buFont typeface="Wingdings" pitchFamily="2" charset="2"/>
              <a:buChar char="l"/>
            </a:pPr>
            <a:r>
              <a:rPr lang="en-GB" altLang="zh-CN" sz="2000" dirty="0"/>
              <a:t>Cardinality</a:t>
            </a:r>
            <a:r>
              <a:rPr lang="zh-CN" altLang="en-US" sz="2000" dirty="0"/>
              <a:t>（基数）</a:t>
            </a:r>
            <a:r>
              <a:rPr lang="en-GB" altLang="zh-CN" sz="2000" dirty="0"/>
              <a:t> is term for number of relationships in </a:t>
            </a:r>
            <a:r>
              <a:rPr lang="en-GB" altLang="zh-CN" sz="2000" u="sng" dirty="0"/>
              <a:t>entity relationship diagrams</a:t>
            </a:r>
            <a:r>
              <a:rPr lang="zh-CN" altLang="en-US" sz="2000" u="sng" dirty="0"/>
              <a:t>（实体关系图）</a:t>
            </a:r>
            <a:r>
              <a:rPr lang="en-GB" altLang="zh-CN" sz="2000" dirty="0"/>
              <a:t>: 1 to 1 or 1 to many</a:t>
            </a:r>
          </a:p>
          <a:p>
            <a:pPr eaLnBrk="1" hangingPunct="1">
              <a:spcBef>
                <a:spcPct val="20000"/>
              </a:spcBef>
              <a:buClr>
                <a:schemeClr val="tx2"/>
              </a:buClr>
              <a:buSzPct val="70000"/>
              <a:buFont typeface="Wingdings" pitchFamily="2" charset="2"/>
              <a:buChar char="l"/>
            </a:pPr>
            <a:r>
              <a:rPr lang="en-GB" altLang="zh-CN" sz="2400" dirty="0"/>
              <a:t>Associations and Relationships apply in two directions</a:t>
            </a:r>
            <a:r>
              <a:rPr lang="zh-CN" altLang="en-US" sz="2400" dirty="0"/>
              <a:t>（关联和关系是双向的）</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A customer places an order</a:t>
            </a:r>
            <a:r>
              <a:rPr lang="zh-CN" altLang="en-US" sz="2000" dirty="0"/>
              <a:t>（客户下订单）</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An order is placed by a customer</a:t>
            </a:r>
            <a:r>
              <a:rPr lang="zh-CN" altLang="en-US" sz="2000" dirty="0"/>
              <a:t>（订单是由客户下的）</a:t>
            </a:r>
            <a:endParaRPr lang="en-GB"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BA5D665-D738-45C7-9CAA-9C3EF24A5F52}" type="slidenum">
              <a:rPr lang="en-US" altLang="en-US"/>
              <a:pPr eaLnBrk="1" hangingPunct="1"/>
              <a:t>27</a:t>
            </a:fld>
            <a:endParaRPr lang="en-US" altLang="en-US"/>
          </a:p>
        </p:txBody>
      </p:sp>
      <p:sp>
        <p:nvSpPr>
          <p:cNvPr id="21507" name="Rectangle 2"/>
          <p:cNvSpPr>
            <a:spLocks noGrp="1" noChangeArrowheads="1"/>
          </p:cNvSpPr>
          <p:nvPr>
            <p:ph type="title"/>
          </p:nvPr>
        </p:nvSpPr>
        <p:spPr>
          <a:xfrm>
            <a:off x="457200" y="122238"/>
            <a:ext cx="7543800" cy="944562"/>
          </a:xfrm>
        </p:spPr>
        <p:txBody>
          <a:bodyPr/>
          <a:lstStyle/>
          <a:p>
            <a:pPr eaLnBrk="1" hangingPunct="1"/>
            <a:r>
              <a:rPr lang="en-US" altLang="zh-CN" sz="3200" dirty="0">
                <a:ea typeface="宋体" pitchFamily="2" charset="-122"/>
              </a:rPr>
              <a:t>Minimum and Maximum Multiplicity</a:t>
            </a:r>
            <a:endParaRPr lang="en-US" altLang="zh-CN" sz="2800" dirty="0">
              <a:ea typeface="宋体" pitchFamily="2" charset="-122"/>
            </a:endParaRPr>
          </a:p>
        </p:txBody>
      </p:sp>
      <p:sp>
        <p:nvSpPr>
          <p:cNvPr id="21508" name="Rectangle 3"/>
          <p:cNvSpPr>
            <a:spLocks noChangeArrowheads="1"/>
          </p:cNvSpPr>
          <p:nvPr/>
        </p:nvSpPr>
        <p:spPr bwMode="auto">
          <a:xfrm>
            <a:off x="457200" y="12954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US" altLang="zh-CN" sz="2200" dirty="0">
                <a:ea typeface="宋体" pitchFamily="2" charset="-122"/>
              </a:rPr>
              <a:t>Associations have </a:t>
            </a:r>
            <a:r>
              <a:rPr lang="en-US" altLang="zh-CN" sz="2200" dirty="0">
                <a:solidFill>
                  <a:srgbClr val="C00000"/>
                </a:solidFill>
                <a:ea typeface="宋体" pitchFamily="2" charset="-122"/>
              </a:rPr>
              <a:t>minimum</a:t>
            </a:r>
            <a:r>
              <a:rPr lang="en-US" altLang="zh-CN" sz="2200" dirty="0">
                <a:ea typeface="宋体" pitchFamily="2" charset="-122"/>
              </a:rPr>
              <a:t> and </a:t>
            </a:r>
            <a:r>
              <a:rPr lang="en-US" altLang="zh-CN" sz="2200" dirty="0">
                <a:solidFill>
                  <a:srgbClr val="C00000"/>
                </a:solidFill>
                <a:ea typeface="宋体" pitchFamily="2" charset="-122"/>
              </a:rPr>
              <a:t>maximum</a:t>
            </a:r>
            <a:r>
              <a:rPr lang="en-US" altLang="zh-CN" sz="2200" dirty="0">
                <a:ea typeface="宋体" pitchFamily="2" charset="-122"/>
              </a:rPr>
              <a:t> constraints</a:t>
            </a:r>
            <a:r>
              <a:rPr lang="zh-CN" altLang="en-US" sz="2200" dirty="0">
                <a:ea typeface="宋体" pitchFamily="2" charset="-122"/>
              </a:rPr>
              <a:t>（关联具有最小和最大约束）</a:t>
            </a:r>
            <a:endParaRPr lang="en-US" altLang="zh-CN" sz="2200" dirty="0">
              <a:ea typeface="宋体" pitchFamily="2" charset="-122"/>
            </a:endParaRPr>
          </a:p>
          <a:p>
            <a:pPr lvl="1" eaLnBrk="1" hangingPunct="1">
              <a:spcBef>
                <a:spcPct val="20000"/>
              </a:spcBef>
              <a:buClr>
                <a:schemeClr val="accent2"/>
              </a:buClr>
              <a:buSzPct val="70000"/>
              <a:buFont typeface="Wingdings" pitchFamily="2" charset="2"/>
              <a:buChar char="l"/>
            </a:pPr>
            <a:r>
              <a:rPr lang="en-US" altLang="zh-CN" sz="2000" dirty="0">
                <a:ea typeface="宋体" pitchFamily="2" charset="-122"/>
              </a:rPr>
              <a:t>minimum is </a:t>
            </a:r>
            <a:r>
              <a:rPr lang="en-US" altLang="zh-CN" sz="2000" u="sng" dirty="0">
                <a:ea typeface="宋体" pitchFamily="2" charset="-122"/>
              </a:rPr>
              <a:t>zero</a:t>
            </a:r>
            <a:r>
              <a:rPr lang="en-US" altLang="zh-CN" sz="2000" dirty="0">
                <a:ea typeface="宋体" pitchFamily="2" charset="-122"/>
              </a:rPr>
              <a:t>, the association is </a:t>
            </a:r>
            <a:r>
              <a:rPr lang="en-US" altLang="zh-CN" sz="2000" u="sng" dirty="0">
                <a:ea typeface="宋体" pitchFamily="2" charset="-122"/>
              </a:rPr>
              <a:t>optional</a:t>
            </a:r>
            <a:r>
              <a:rPr lang="zh-CN" altLang="en-US" sz="2000" u="sng" dirty="0">
                <a:ea typeface="宋体" pitchFamily="2" charset="-122"/>
              </a:rPr>
              <a:t>（可选的）</a:t>
            </a:r>
            <a:endParaRPr lang="en-US" altLang="zh-CN" sz="2000" u="sng" dirty="0">
              <a:ea typeface="宋体" pitchFamily="2" charset="-122"/>
            </a:endParaRPr>
          </a:p>
          <a:p>
            <a:pPr lvl="1" eaLnBrk="1" hangingPunct="1">
              <a:spcBef>
                <a:spcPct val="20000"/>
              </a:spcBef>
              <a:buClr>
                <a:schemeClr val="accent2"/>
              </a:buClr>
              <a:buSzPct val="70000"/>
              <a:buFont typeface="Wingdings" pitchFamily="2" charset="2"/>
              <a:buChar char="l"/>
            </a:pPr>
            <a:r>
              <a:rPr lang="en-US" altLang="zh-CN" sz="2000" dirty="0">
                <a:ea typeface="宋体" pitchFamily="2" charset="-122"/>
              </a:rPr>
              <a:t>If minimum is </a:t>
            </a:r>
            <a:r>
              <a:rPr lang="en-US" altLang="zh-CN" sz="2000" u="sng" dirty="0">
                <a:ea typeface="宋体" pitchFamily="2" charset="-122"/>
              </a:rPr>
              <a:t>at least one</a:t>
            </a:r>
            <a:r>
              <a:rPr lang="en-US" altLang="zh-CN" sz="2000" dirty="0">
                <a:ea typeface="宋体" pitchFamily="2" charset="-122"/>
              </a:rPr>
              <a:t>, the association is </a:t>
            </a:r>
            <a:r>
              <a:rPr lang="en-US" altLang="zh-CN" sz="2000" u="sng" dirty="0">
                <a:ea typeface="宋体" pitchFamily="2" charset="-122"/>
              </a:rPr>
              <a:t>mandatory</a:t>
            </a:r>
            <a:r>
              <a:rPr lang="zh-CN" altLang="en-US" sz="2000" u="sng" dirty="0">
                <a:ea typeface="宋体" pitchFamily="2" charset="-122"/>
              </a:rPr>
              <a:t>（强制的）</a:t>
            </a:r>
            <a:endParaRPr lang="en-GB" altLang="zh-CN" sz="2000" u="sng" dirty="0"/>
          </a:p>
        </p:txBody>
      </p:sp>
      <p:pic>
        <p:nvPicPr>
          <p:cNvPr id="21509"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2927350"/>
            <a:ext cx="8686800" cy="3168650"/>
          </a:xfrm>
          <a:noFill/>
        </p:spPr>
      </p:pic>
      <p:sp>
        <p:nvSpPr>
          <p:cNvPr id="21510"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151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092096C-3F92-4C16-96FF-758C06D2266C}" type="slidenum">
              <a:rPr lang="en-US" altLang="en-US"/>
              <a:pPr eaLnBrk="1" hangingPunct="1"/>
              <a:t>28</a:t>
            </a:fld>
            <a:endParaRPr lang="en-US" altLang="en-US"/>
          </a:p>
        </p:txBody>
      </p:sp>
      <p:sp>
        <p:nvSpPr>
          <p:cNvPr id="22531" name="Rectangle 2"/>
          <p:cNvSpPr>
            <a:spLocks noGrp="1" noChangeArrowheads="1"/>
          </p:cNvSpPr>
          <p:nvPr>
            <p:ph type="title"/>
          </p:nvPr>
        </p:nvSpPr>
        <p:spPr>
          <a:xfrm>
            <a:off x="457200" y="122238"/>
            <a:ext cx="7543800" cy="944562"/>
          </a:xfrm>
        </p:spPr>
        <p:txBody>
          <a:bodyPr/>
          <a:lstStyle/>
          <a:p>
            <a:pPr eaLnBrk="1" hangingPunct="1"/>
            <a:r>
              <a:rPr lang="en-US" altLang="zh-CN" sz="3600">
                <a:ea typeface="宋体" pitchFamily="2" charset="-122"/>
              </a:rPr>
              <a:t>Types of Associations</a:t>
            </a:r>
            <a:endParaRPr lang="en-US" altLang="zh-CN" sz="3200">
              <a:ea typeface="宋体" pitchFamily="2" charset="-122"/>
            </a:endParaRPr>
          </a:p>
        </p:txBody>
      </p:sp>
      <p:sp>
        <p:nvSpPr>
          <p:cNvPr id="22532" name="Rectangle 3"/>
          <p:cNvSpPr>
            <a:spLocks noChangeArrowheads="1"/>
          </p:cNvSpPr>
          <p:nvPr/>
        </p:nvSpPr>
        <p:spPr bwMode="auto">
          <a:xfrm>
            <a:off x="457200" y="1295400"/>
            <a:ext cx="8382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987425" indent="-293688"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Binary Association</a:t>
            </a:r>
            <a:r>
              <a:rPr lang="zh-CN" altLang="en-US" sz="2600" dirty="0"/>
              <a:t>（二元关系）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Associations between exactly two different classes</a:t>
            </a:r>
            <a:r>
              <a:rPr lang="zh-CN" altLang="en-US" sz="2200" dirty="0"/>
              <a:t>（两种不同事物之间的关系）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Course Section includes Students</a:t>
            </a:r>
            <a:r>
              <a:rPr lang="zh-CN" altLang="en-US" sz="2100" dirty="0"/>
              <a:t>（课程组包括学生）</a:t>
            </a:r>
            <a:endParaRPr lang="en-GB" altLang="zh-CN" sz="2100" dirty="0"/>
          </a:p>
          <a:p>
            <a:pPr lvl="2" eaLnBrk="1" hangingPunct="1">
              <a:spcBef>
                <a:spcPct val="20000"/>
              </a:spcBef>
              <a:buClr>
                <a:schemeClr val="accent1"/>
              </a:buClr>
              <a:buSzPct val="70000"/>
              <a:buFont typeface="Wingdings" pitchFamily="2" charset="2"/>
              <a:buChar char="l"/>
            </a:pPr>
            <a:r>
              <a:rPr lang="en-GB" altLang="zh-CN" sz="2100" dirty="0"/>
              <a:t>Members join Club </a:t>
            </a:r>
            <a:r>
              <a:rPr lang="zh-CN" altLang="en-US" sz="2100" dirty="0"/>
              <a:t>（会员加入俱乐部）</a:t>
            </a:r>
            <a:endParaRPr lang="en-GB" altLang="zh-CN" sz="2100" dirty="0"/>
          </a:p>
          <a:p>
            <a:pPr eaLnBrk="1" hangingPunct="1">
              <a:spcBef>
                <a:spcPct val="20000"/>
              </a:spcBef>
              <a:buClr>
                <a:schemeClr val="tx2"/>
              </a:buClr>
              <a:buSzPct val="70000"/>
              <a:buFont typeface="Wingdings" pitchFamily="2" charset="2"/>
              <a:buChar char="l"/>
            </a:pPr>
            <a:r>
              <a:rPr lang="en-GB" altLang="zh-CN" sz="2600" dirty="0"/>
              <a:t>Unary Association (recursive)</a:t>
            </a:r>
            <a:r>
              <a:rPr lang="zh-CN" altLang="en-US" sz="2600" dirty="0"/>
              <a:t>（一元关系</a:t>
            </a:r>
            <a:r>
              <a:rPr lang="en-US" altLang="zh-CN" sz="2600" dirty="0"/>
              <a:t>/</a:t>
            </a:r>
            <a:r>
              <a:rPr lang="zh-CN" altLang="en-US" sz="2600" dirty="0"/>
              <a:t>回归关系）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Associations between two instances of the same class</a:t>
            </a:r>
            <a:r>
              <a:rPr lang="zh-CN" altLang="en-US" sz="2200" dirty="0"/>
              <a:t>（同一件类型的两件不同事物间的关系）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Person married to person</a:t>
            </a:r>
            <a:r>
              <a:rPr lang="zh-CN" altLang="en-US" sz="2100" dirty="0"/>
              <a:t>（人与人结婚）</a:t>
            </a:r>
            <a:endParaRPr lang="en-GB" altLang="zh-CN" sz="2100" dirty="0"/>
          </a:p>
          <a:p>
            <a:pPr lvl="2" eaLnBrk="1" hangingPunct="1">
              <a:spcBef>
                <a:spcPct val="20000"/>
              </a:spcBef>
              <a:buClr>
                <a:schemeClr val="accent1"/>
              </a:buClr>
              <a:buSzPct val="70000"/>
              <a:buFont typeface="Wingdings" pitchFamily="2" charset="2"/>
              <a:buChar char="l"/>
            </a:pPr>
            <a:r>
              <a:rPr lang="en-GB" altLang="zh-CN" sz="2100" dirty="0"/>
              <a:t>Part is made using parts</a:t>
            </a:r>
            <a:r>
              <a:rPr lang="zh-CN" altLang="en-US" sz="2100" dirty="0"/>
              <a:t>（零件是由零件构成的）</a:t>
            </a:r>
            <a:endParaRPr lang="en-GB" altLang="zh-CN" sz="2100" dirty="0"/>
          </a:p>
          <a:p>
            <a:pPr eaLnBrk="1" hangingPunct="1">
              <a:spcBef>
                <a:spcPct val="20000"/>
              </a:spcBef>
              <a:buClr>
                <a:schemeClr val="tx2"/>
              </a:buClr>
              <a:buSzPct val="70000"/>
              <a:buFont typeface="Wingdings" pitchFamily="2" charset="2"/>
              <a:buChar char="l"/>
            </a:pPr>
            <a:r>
              <a:rPr lang="en-GB" altLang="zh-CN" sz="2600" dirty="0"/>
              <a:t>Ternary Association (three)</a:t>
            </a:r>
            <a:r>
              <a:rPr lang="zh-CN" altLang="en-US" sz="2600" dirty="0"/>
              <a:t>（三元关系）</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N-</a:t>
            </a:r>
            <a:r>
              <a:rPr lang="en-GB" altLang="zh-CN" sz="2600" dirty="0" err="1"/>
              <a:t>ary</a:t>
            </a:r>
            <a:r>
              <a:rPr lang="en-GB" altLang="zh-CN" sz="2600" dirty="0"/>
              <a:t> Association (between n)</a:t>
            </a:r>
            <a:r>
              <a:rPr lang="zh-CN" altLang="en-US" sz="2600" dirty="0"/>
              <a:t>（</a:t>
            </a:r>
            <a:r>
              <a:rPr lang="en-US" altLang="zh-CN" sz="2600" dirty="0"/>
              <a:t>N</a:t>
            </a:r>
            <a:r>
              <a:rPr lang="zh-CN" altLang="en-US" sz="2600" dirty="0"/>
              <a:t>元关系）</a:t>
            </a:r>
            <a:endParaRPr lang="en-GB" altLang="zh-CN" sz="2600" dirty="0"/>
          </a:p>
        </p:txBody>
      </p:sp>
      <p:sp>
        <p:nvSpPr>
          <p:cNvPr id="2253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25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2">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53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6838712-655A-4760-9C13-A178462271A3}" type="slidenum">
              <a:rPr lang="en-US" altLang="en-US"/>
              <a:pPr eaLnBrk="1" hangingPunct="1"/>
              <a:t>29</a:t>
            </a:fld>
            <a:endParaRPr lang="en-US" altLang="en-US"/>
          </a:p>
        </p:txBody>
      </p:sp>
      <p:sp>
        <p:nvSpPr>
          <p:cNvPr id="46083" name="Rectangle 2"/>
          <p:cNvSpPr>
            <a:spLocks noGrp="1" noChangeArrowheads="1"/>
          </p:cNvSpPr>
          <p:nvPr>
            <p:ph type="title"/>
          </p:nvPr>
        </p:nvSpPr>
        <p:spPr>
          <a:xfrm>
            <a:off x="457200" y="122238"/>
            <a:ext cx="7543800" cy="868362"/>
          </a:xfrm>
        </p:spPr>
        <p:txBody>
          <a:bodyPr/>
          <a:lstStyle/>
          <a:p>
            <a:pPr eaLnBrk="1" hangingPunct="1"/>
            <a:r>
              <a:rPr lang="en-US" altLang="zh-CN" sz="3600" dirty="0">
                <a:ea typeface="宋体" pitchFamily="2" charset="-122"/>
              </a:rPr>
              <a:t>Example of ERD Notation</a:t>
            </a:r>
          </a:p>
        </p:txBody>
      </p:sp>
      <p:sp>
        <p:nvSpPr>
          <p:cNvPr id="46085" name="Rectangle 12"/>
          <p:cNvSpPr>
            <a:spLocks noChangeArrowheads="1"/>
          </p:cNvSpPr>
          <p:nvPr/>
        </p:nvSpPr>
        <p:spPr bwMode="auto">
          <a:xfrm>
            <a:off x="533400" y="1143000"/>
            <a:ext cx="8001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800" dirty="0"/>
              <a:t>Entity-Relationship Diagrams</a:t>
            </a:r>
            <a:r>
              <a:rPr lang="zh-CN" altLang="en-US" sz="2800" dirty="0"/>
              <a:t>： </a:t>
            </a:r>
            <a:r>
              <a:rPr lang="en-US" altLang="zh-CN" sz="2800" dirty="0"/>
              <a:t>ERD</a:t>
            </a:r>
            <a:r>
              <a:rPr lang="zh-CN" altLang="en-US" sz="2800" dirty="0"/>
              <a:t>（实体关系图）</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A simple ERD without showing attributes</a:t>
            </a:r>
          </a:p>
          <a:p>
            <a:pPr lvl="1" eaLnBrk="1" hangingPunct="1">
              <a:spcBef>
                <a:spcPct val="20000"/>
              </a:spcBef>
              <a:buClr>
                <a:schemeClr val="tx2"/>
              </a:buClr>
              <a:buSzPct val="70000"/>
              <a:buFont typeface="Wingdings" pitchFamily="2" charset="2"/>
              <a:buChar char="l"/>
            </a:pPr>
            <a:r>
              <a:rPr lang="zh-CN" altLang="en-US" sz="2000" dirty="0"/>
              <a:t>矩形：数据实体</a:t>
            </a:r>
            <a:endParaRPr lang="en-US" altLang="zh-CN" sz="2000" dirty="0"/>
          </a:p>
          <a:p>
            <a:pPr lvl="1" eaLnBrk="1" hangingPunct="1">
              <a:spcBef>
                <a:spcPct val="20000"/>
              </a:spcBef>
              <a:buClr>
                <a:schemeClr val="tx2"/>
              </a:buClr>
              <a:buSzPct val="70000"/>
              <a:buFont typeface="Wingdings" pitchFamily="2" charset="2"/>
              <a:buChar char="l"/>
            </a:pPr>
            <a:r>
              <a:rPr lang="zh-CN" altLang="en-US" sz="2000" dirty="0"/>
              <a:t>连接矩形的直线：数据实体之间的联系</a:t>
            </a:r>
            <a:endParaRPr lang="en-GB" altLang="zh-CN" sz="2000" dirty="0"/>
          </a:p>
        </p:txBody>
      </p:sp>
      <p:sp>
        <p:nvSpPr>
          <p:cNvPr id="4608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608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pic>
        <p:nvPicPr>
          <p:cNvPr id="46084" name="Picture 1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52575" y="3386556"/>
            <a:ext cx="5762625" cy="3133307"/>
          </a:xfrm>
          <a:noFill/>
        </p:spPr>
      </p:pic>
    </p:spTree>
    <p:extLst>
      <p:ext uri="{BB962C8B-B14F-4D97-AF65-F5344CB8AC3E}">
        <p14:creationId xmlns:p14="http://schemas.microsoft.com/office/powerpoint/2010/main" val="989736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DA533FF-1B58-4B23-B669-00A3C6F9C9D0}" type="slidenum">
              <a:rPr lang="en-US" altLang="en-US"/>
              <a:pPr eaLnBrk="1" hangingPunct="1"/>
              <a:t>30</a:t>
            </a:fld>
            <a:endParaRPr lang="en-US" altLang="en-US"/>
          </a:p>
        </p:txBody>
      </p:sp>
      <p:sp>
        <p:nvSpPr>
          <p:cNvPr id="47107" name="Rectangle 2"/>
          <p:cNvSpPr>
            <a:spLocks noGrp="1" noChangeArrowheads="1"/>
          </p:cNvSpPr>
          <p:nvPr>
            <p:ph type="title"/>
          </p:nvPr>
        </p:nvSpPr>
        <p:spPr/>
        <p:txBody>
          <a:bodyPr/>
          <a:lstStyle/>
          <a:p>
            <a:pPr eaLnBrk="1" hangingPunct="1"/>
            <a:r>
              <a:rPr lang="en-US" altLang="zh-CN" sz="3600" dirty="0">
                <a:ea typeface="宋体" pitchFamily="2" charset="-122"/>
              </a:rPr>
              <a:t>ERD Cardinality Symbols</a:t>
            </a:r>
            <a:br>
              <a:rPr lang="en-US" altLang="zh-CN" sz="3600" dirty="0">
                <a:ea typeface="宋体" pitchFamily="2" charset="-122"/>
              </a:rPr>
            </a:br>
            <a:r>
              <a:rPr lang="en-US" altLang="zh-CN" sz="2400" dirty="0">
                <a:ea typeface="宋体" pitchFamily="2" charset="-122"/>
              </a:rPr>
              <a:t>often called the crows feet notation</a:t>
            </a:r>
            <a:r>
              <a:rPr lang="zh-CN" altLang="en-US" sz="2400" dirty="0">
                <a:ea typeface="宋体" pitchFamily="2" charset="-122"/>
              </a:rPr>
              <a:t>（鱼尾纹计数法）</a:t>
            </a:r>
            <a:endParaRPr lang="en-US" altLang="zh-CN" sz="2400" dirty="0">
              <a:ea typeface="宋体" pitchFamily="2" charset="-122"/>
            </a:endParaRPr>
          </a:p>
        </p:txBody>
      </p:sp>
      <p:pic>
        <p:nvPicPr>
          <p:cNvPr id="47108"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925638"/>
            <a:ext cx="8229600" cy="3997325"/>
          </a:xfrm>
          <a:noFill/>
        </p:spPr>
      </p:pic>
      <p:sp>
        <p:nvSpPr>
          <p:cNvPr id="4710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71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005266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159288-4D82-4793-A675-A7E3B7F20133}" type="slidenum">
              <a:rPr lang="en-US" altLang="en-US"/>
              <a:pPr eaLnBrk="1" hangingPunct="1"/>
              <a:t>31</a:t>
            </a:fld>
            <a:endParaRPr lang="en-US" altLang="en-US"/>
          </a:p>
        </p:txBody>
      </p:sp>
      <p:sp>
        <p:nvSpPr>
          <p:cNvPr id="23555" name="Rectangle 2"/>
          <p:cNvSpPr>
            <a:spLocks noGrp="1" noChangeArrowheads="1"/>
          </p:cNvSpPr>
          <p:nvPr>
            <p:ph type="title"/>
          </p:nvPr>
        </p:nvSpPr>
        <p:spPr>
          <a:xfrm>
            <a:off x="228600" y="1005111"/>
            <a:ext cx="3429000" cy="2726531"/>
          </a:xfrm>
        </p:spPr>
        <p:txBody>
          <a:bodyPr/>
          <a:lstStyle/>
          <a:p>
            <a:pPr eaLnBrk="1" hangingPunct="1"/>
            <a:r>
              <a:rPr lang="en-US" altLang="zh-CN" sz="3200" dirty="0">
                <a:ea typeface="宋体" pitchFamily="2" charset="-122"/>
              </a:rPr>
              <a:t>Semantic Net</a:t>
            </a:r>
            <a:br>
              <a:rPr lang="en-US" altLang="zh-CN" sz="2800" dirty="0">
                <a:ea typeface="宋体" pitchFamily="2" charset="-122"/>
              </a:rPr>
            </a:br>
            <a:br>
              <a:rPr lang="en-US" altLang="zh-CN" sz="2800" dirty="0">
                <a:ea typeface="宋体" pitchFamily="2" charset="-122"/>
              </a:rPr>
            </a:br>
            <a:r>
              <a:rPr lang="en-US" altLang="zh-CN" sz="2000" dirty="0">
                <a:ea typeface="宋体" pitchFamily="2" charset="-122"/>
              </a:rPr>
              <a:t>Shows instances and how they are linked</a:t>
            </a:r>
            <a:r>
              <a:rPr lang="zh-CN" altLang="en-US" sz="2000" dirty="0">
                <a:ea typeface="宋体" pitchFamily="2" charset="-122"/>
              </a:rPr>
              <a:t>（显示实例及其链接方式）</a:t>
            </a:r>
            <a:br>
              <a:rPr lang="en-US" altLang="zh-CN" sz="2000" dirty="0">
                <a:ea typeface="宋体" pitchFamily="2" charset="-122"/>
              </a:rPr>
            </a:br>
            <a:br>
              <a:rPr lang="en-US" altLang="zh-CN" sz="2000" dirty="0">
                <a:ea typeface="宋体" pitchFamily="2" charset="-122"/>
              </a:rPr>
            </a:br>
            <a:r>
              <a:rPr lang="en-US" altLang="zh-CN" sz="2000" dirty="0">
                <a:ea typeface="宋体" pitchFamily="2" charset="-122"/>
              </a:rPr>
              <a:t>Example shows instances of three classes</a:t>
            </a:r>
            <a:r>
              <a:rPr lang="zh-CN" altLang="en-US" sz="2000" dirty="0">
                <a:ea typeface="宋体" pitchFamily="2" charset="-122"/>
              </a:rPr>
              <a:t>（示例展示了三个类的实例）</a:t>
            </a:r>
            <a:br>
              <a:rPr lang="en-US" altLang="zh-CN" sz="2000" dirty="0">
                <a:ea typeface="宋体" pitchFamily="2" charset="-122"/>
              </a:rPr>
            </a:br>
            <a:br>
              <a:rPr lang="en-US" altLang="zh-CN" sz="2000" dirty="0">
                <a:ea typeface="宋体" pitchFamily="2" charset="-122"/>
              </a:rPr>
            </a:br>
            <a:endParaRPr lang="en-US" altLang="zh-CN" sz="1600" dirty="0">
              <a:ea typeface="宋体" pitchFamily="2" charset="-122"/>
            </a:endParaRPr>
          </a:p>
        </p:txBody>
      </p:sp>
      <p:pic>
        <p:nvPicPr>
          <p:cNvPr id="2355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609600"/>
            <a:ext cx="4999038" cy="528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35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7E79F62A-3117-4CF2-929C-4E0B376A9F52}"/>
              </a:ext>
            </a:extLst>
          </p:cNvPr>
          <p:cNvSpPr txBox="1"/>
          <p:nvPr/>
        </p:nvSpPr>
        <p:spPr>
          <a:xfrm>
            <a:off x="228600" y="3429000"/>
            <a:ext cx="3276600" cy="2616101"/>
          </a:xfrm>
          <a:prstGeom prst="rect">
            <a:avLst/>
          </a:prstGeom>
          <a:noFill/>
        </p:spPr>
        <p:txBody>
          <a:bodyPr wrap="square">
            <a:spAutoFit/>
          </a:bodyPr>
          <a:lstStyle/>
          <a:p>
            <a:r>
              <a:rPr lang="en-US" altLang="zh-CN" sz="1600" dirty="0">
                <a:ea typeface="宋体" pitchFamily="2" charset="-122"/>
              </a:rPr>
              <a:t>Quick quiz:</a:t>
            </a:r>
            <a:br>
              <a:rPr lang="en-US" altLang="zh-CN" sz="1600" dirty="0">
                <a:ea typeface="宋体" pitchFamily="2" charset="-122"/>
              </a:rPr>
            </a:br>
            <a:br>
              <a:rPr lang="en-US" altLang="zh-CN" sz="1600" dirty="0">
                <a:ea typeface="宋体" pitchFamily="2" charset="-122"/>
              </a:rPr>
            </a:br>
            <a:r>
              <a:rPr lang="en-US" altLang="zh-CN" sz="1600" dirty="0">
                <a:ea typeface="宋体" pitchFamily="2" charset="-122"/>
              </a:rPr>
              <a:t>How many associations are there?</a:t>
            </a:r>
            <a:br>
              <a:rPr lang="en-US" altLang="zh-CN" sz="1600" dirty="0">
                <a:ea typeface="宋体" pitchFamily="2" charset="-122"/>
              </a:rPr>
            </a:br>
            <a:br>
              <a:rPr lang="en-US" altLang="zh-CN" sz="2000" dirty="0">
                <a:ea typeface="宋体" pitchFamily="2" charset="-122"/>
              </a:rPr>
            </a:br>
            <a:r>
              <a:rPr lang="en-US" altLang="zh-CN" sz="1600" dirty="0">
                <a:ea typeface="宋体" pitchFamily="2" charset="-122"/>
              </a:rPr>
              <a:t>What are the minimum and maximum multiplicities in each direction?</a:t>
            </a:r>
            <a:br>
              <a:rPr lang="en-US" altLang="zh-CN" sz="1600" dirty="0">
                <a:ea typeface="宋体" pitchFamily="2" charset="-122"/>
              </a:rPr>
            </a:br>
            <a:br>
              <a:rPr lang="en-US" altLang="zh-CN" sz="1600" dirty="0">
                <a:ea typeface="宋体" pitchFamily="2" charset="-122"/>
              </a:rPr>
            </a:br>
            <a:r>
              <a:rPr lang="en-US" altLang="zh-CN" sz="1600" dirty="0">
                <a:ea typeface="宋体" pitchFamily="2" charset="-122"/>
              </a:rPr>
              <a:t>What type of associations are they?</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5B86D9D-E238-4248-9BC5-462E287ADB26}" type="slidenum">
              <a:rPr lang="en-US" altLang="en-US"/>
              <a:pPr eaLnBrk="1" hangingPunct="1"/>
              <a:t>32</a:t>
            </a:fld>
            <a:endParaRPr lang="en-US" altLang="en-US"/>
          </a:p>
        </p:txBody>
      </p:sp>
      <p:sp>
        <p:nvSpPr>
          <p:cNvPr id="48131" name="Rectangle 2"/>
          <p:cNvSpPr>
            <a:spLocks noGrp="1" noChangeArrowheads="1"/>
          </p:cNvSpPr>
          <p:nvPr>
            <p:ph type="title"/>
          </p:nvPr>
        </p:nvSpPr>
        <p:spPr/>
        <p:txBody>
          <a:bodyPr/>
          <a:lstStyle/>
          <a:p>
            <a:pPr eaLnBrk="1" hangingPunct="1"/>
            <a:r>
              <a:rPr lang="en-US" altLang="zh-CN" sz="3600">
                <a:ea typeface="宋体" pitchFamily="2" charset="-122"/>
              </a:rPr>
              <a:t>Expanded ERD with Attributes</a:t>
            </a:r>
          </a:p>
        </p:txBody>
      </p:sp>
      <p:pic>
        <p:nvPicPr>
          <p:cNvPr id="48133"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133600"/>
            <a:ext cx="8229600" cy="2160588"/>
          </a:xfrm>
          <a:noFill/>
        </p:spPr>
      </p:pic>
      <p:sp>
        <p:nvSpPr>
          <p:cNvPr id="48134"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813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D60CDB0E-7864-4B38-8AD8-79B9C33F4105}"/>
              </a:ext>
            </a:extLst>
          </p:cNvPr>
          <p:cNvSpPr/>
          <p:nvPr/>
        </p:nvSpPr>
        <p:spPr>
          <a:xfrm>
            <a:off x="457200" y="2133600"/>
            <a:ext cx="5105400" cy="2160588"/>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723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5B86D9D-E238-4248-9BC5-462E287ADB26}" type="slidenum">
              <a:rPr lang="en-US" altLang="en-US"/>
              <a:pPr eaLnBrk="1" hangingPunct="1"/>
              <a:t>33</a:t>
            </a:fld>
            <a:endParaRPr lang="en-US" altLang="en-US"/>
          </a:p>
        </p:txBody>
      </p:sp>
      <p:sp>
        <p:nvSpPr>
          <p:cNvPr id="48131" name="Rectangle 2"/>
          <p:cNvSpPr>
            <a:spLocks noGrp="1" noChangeArrowheads="1"/>
          </p:cNvSpPr>
          <p:nvPr>
            <p:ph type="title"/>
          </p:nvPr>
        </p:nvSpPr>
        <p:spPr/>
        <p:txBody>
          <a:bodyPr/>
          <a:lstStyle/>
          <a:p>
            <a:pPr eaLnBrk="1" hangingPunct="1"/>
            <a:r>
              <a:rPr lang="en-US" altLang="zh-CN" sz="3600">
                <a:ea typeface="宋体" pitchFamily="2" charset="-122"/>
              </a:rPr>
              <a:t>Expanded ERD with Attributes</a:t>
            </a:r>
          </a:p>
        </p:txBody>
      </p:sp>
      <p:pic>
        <p:nvPicPr>
          <p:cNvPr id="48133"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133600"/>
            <a:ext cx="8229600" cy="2160588"/>
          </a:xfrm>
          <a:noFill/>
        </p:spPr>
      </p:pic>
      <p:sp>
        <p:nvSpPr>
          <p:cNvPr id="48134"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813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D60CDB0E-7864-4B38-8AD8-79B9C33F4105}"/>
              </a:ext>
            </a:extLst>
          </p:cNvPr>
          <p:cNvSpPr/>
          <p:nvPr/>
        </p:nvSpPr>
        <p:spPr>
          <a:xfrm>
            <a:off x="3550920" y="2127569"/>
            <a:ext cx="5105400" cy="2160588"/>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30248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D29F37C-3451-4122-81D9-E3DBFFDCCB80}" type="slidenum">
              <a:rPr lang="en-US" altLang="en-US"/>
              <a:pPr eaLnBrk="1" hangingPunct="1"/>
              <a:t>34</a:t>
            </a:fld>
            <a:endParaRPr lang="en-US" altLang="en-US"/>
          </a:p>
        </p:txBody>
      </p:sp>
      <p:sp>
        <p:nvSpPr>
          <p:cNvPr id="49155" name="Rectangle 2"/>
          <p:cNvSpPr>
            <a:spLocks noGrp="1" noChangeArrowheads="1"/>
          </p:cNvSpPr>
          <p:nvPr>
            <p:ph type="title"/>
          </p:nvPr>
        </p:nvSpPr>
        <p:spPr/>
        <p:txBody>
          <a:bodyPr/>
          <a:lstStyle/>
          <a:p>
            <a:pPr eaLnBrk="1" hangingPunct="1"/>
            <a:r>
              <a:rPr lang="en-US" altLang="zh-CN" sz="3600">
                <a:ea typeface="宋体" pitchFamily="2" charset="-122"/>
              </a:rPr>
              <a:t>An ERD for a Bank</a:t>
            </a:r>
          </a:p>
        </p:txBody>
      </p:sp>
      <p:sp>
        <p:nvSpPr>
          <p:cNvPr id="49156" name="Rectangle 4"/>
          <p:cNvSpPr>
            <a:spLocks noChangeArrowheads="1"/>
          </p:cNvSpPr>
          <p:nvPr/>
        </p:nvSpPr>
        <p:spPr bwMode="auto">
          <a:xfrm>
            <a:off x="457200" y="4800600"/>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p:txBody>
      </p:sp>
      <p:pic>
        <p:nvPicPr>
          <p:cNvPr id="49157"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719263"/>
            <a:ext cx="7466013" cy="4411662"/>
          </a:xfrm>
          <a:noFill/>
        </p:spPr>
      </p:pic>
      <p:sp>
        <p:nvSpPr>
          <p:cNvPr id="4915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915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BB091555-F4EA-4EDD-A27D-E1AFBCB6C2A3}"/>
              </a:ext>
            </a:extLst>
          </p:cNvPr>
          <p:cNvSpPr/>
          <p:nvPr/>
        </p:nvSpPr>
        <p:spPr>
          <a:xfrm>
            <a:off x="838200" y="1719263"/>
            <a:ext cx="4648200" cy="178593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0954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D29F37C-3451-4122-81D9-E3DBFFDCCB80}" type="slidenum">
              <a:rPr lang="en-US" altLang="en-US"/>
              <a:pPr eaLnBrk="1" hangingPunct="1"/>
              <a:t>35</a:t>
            </a:fld>
            <a:endParaRPr lang="en-US" altLang="en-US"/>
          </a:p>
        </p:txBody>
      </p:sp>
      <p:sp>
        <p:nvSpPr>
          <p:cNvPr id="49155" name="Rectangle 2"/>
          <p:cNvSpPr>
            <a:spLocks noGrp="1" noChangeArrowheads="1"/>
          </p:cNvSpPr>
          <p:nvPr>
            <p:ph type="title"/>
          </p:nvPr>
        </p:nvSpPr>
        <p:spPr/>
        <p:txBody>
          <a:bodyPr/>
          <a:lstStyle/>
          <a:p>
            <a:pPr eaLnBrk="1" hangingPunct="1"/>
            <a:r>
              <a:rPr lang="en-US" altLang="zh-CN" sz="3600">
                <a:ea typeface="宋体" pitchFamily="2" charset="-122"/>
              </a:rPr>
              <a:t>An ERD for a Bank</a:t>
            </a:r>
          </a:p>
        </p:txBody>
      </p:sp>
      <p:sp>
        <p:nvSpPr>
          <p:cNvPr id="49156" name="Rectangle 4"/>
          <p:cNvSpPr>
            <a:spLocks noChangeArrowheads="1"/>
          </p:cNvSpPr>
          <p:nvPr/>
        </p:nvSpPr>
        <p:spPr bwMode="auto">
          <a:xfrm>
            <a:off x="457200" y="4800600"/>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p:txBody>
      </p:sp>
      <p:pic>
        <p:nvPicPr>
          <p:cNvPr id="49157"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719263"/>
            <a:ext cx="7466013" cy="4411662"/>
          </a:xfrm>
          <a:noFill/>
        </p:spPr>
      </p:pic>
      <p:sp>
        <p:nvSpPr>
          <p:cNvPr id="4915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915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BB091555-F4EA-4EDD-A27D-E1AFBCB6C2A3}"/>
              </a:ext>
            </a:extLst>
          </p:cNvPr>
          <p:cNvSpPr/>
          <p:nvPr/>
        </p:nvSpPr>
        <p:spPr>
          <a:xfrm>
            <a:off x="3581400" y="1734503"/>
            <a:ext cx="4648200" cy="178593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25071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D29F37C-3451-4122-81D9-E3DBFFDCCB80}" type="slidenum">
              <a:rPr lang="en-US" altLang="en-US"/>
              <a:pPr eaLnBrk="1" hangingPunct="1"/>
              <a:t>36</a:t>
            </a:fld>
            <a:endParaRPr lang="en-US" altLang="en-US"/>
          </a:p>
        </p:txBody>
      </p:sp>
      <p:sp>
        <p:nvSpPr>
          <p:cNvPr id="49155" name="Rectangle 2"/>
          <p:cNvSpPr>
            <a:spLocks noGrp="1" noChangeArrowheads="1"/>
          </p:cNvSpPr>
          <p:nvPr>
            <p:ph type="title"/>
          </p:nvPr>
        </p:nvSpPr>
        <p:spPr/>
        <p:txBody>
          <a:bodyPr/>
          <a:lstStyle/>
          <a:p>
            <a:pPr eaLnBrk="1" hangingPunct="1"/>
            <a:r>
              <a:rPr lang="en-US" altLang="zh-CN" sz="3600">
                <a:ea typeface="宋体" pitchFamily="2" charset="-122"/>
              </a:rPr>
              <a:t>An ERD for a Bank</a:t>
            </a:r>
          </a:p>
        </p:txBody>
      </p:sp>
      <p:sp>
        <p:nvSpPr>
          <p:cNvPr id="49156" name="Rectangle 4"/>
          <p:cNvSpPr>
            <a:spLocks noChangeArrowheads="1"/>
          </p:cNvSpPr>
          <p:nvPr/>
        </p:nvSpPr>
        <p:spPr bwMode="auto">
          <a:xfrm>
            <a:off x="457200" y="4800600"/>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p:txBody>
      </p:sp>
      <p:pic>
        <p:nvPicPr>
          <p:cNvPr id="49157"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719263"/>
            <a:ext cx="7466013" cy="4411662"/>
          </a:xfrm>
          <a:noFill/>
        </p:spPr>
      </p:pic>
      <p:sp>
        <p:nvSpPr>
          <p:cNvPr id="4915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915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BB091555-F4EA-4EDD-A27D-E1AFBCB6C2A3}"/>
              </a:ext>
            </a:extLst>
          </p:cNvPr>
          <p:cNvSpPr/>
          <p:nvPr/>
        </p:nvSpPr>
        <p:spPr>
          <a:xfrm>
            <a:off x="3581400" y="1734503"/>
            <a:ext cx="1828800" cy="436149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17108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9744A76-9FD5-48CB-808F-668ADC973041}" type="slidenum">
              <a:rPr lang="en-US" altLang="en-US"/>
              <a:pPr eaLnBrk="1" hangingPunct="1"/>
              <a:t>37</a:t>
            </a:fld>
            <a:endParaRPr lang="en-US" altLang="en-US"/>
          </a:p>
        </p:txBody>
      </p:sp>
      <p:sp>
        <p:nvSpPr>
          <p:cNvPr id="45059" name="Rectangle 2"/>
          <p:cNvSpPr>
            <a:spLocks noGrp="1" noChangeArrowheads="1"/>
          </p:cNvSpPr>
          <p:nvPr>
            <p:ph type="title"/>
          </p:nvPr>
        </p:nvSpPr>
        <p:spPr>
          <a:xfrm>
            <a:off x="457200" y="122238"/>
            <a:ext cx="7543800" cy="1020762"/>
          </a:xfrm>
        </p:spPr>
        <p:txBody>
          <a:bodyPr/>
          <a:lstStyle/>
          <a:p>
            <a:pPr eaLnBrk="1" hangingPunct="1"/>
            <a:r>
              <a:rPr lang="en-GB" altLang="zh-CN" sz="3200" dirty="0"/>
              <a:t>Entity-Relationship Diagrams</a:t>
            </a:r>
            <a:br>
              <a:rPr lang="en-GB" altLang="zh-CN" sz="3200" dirty="0"/>
            </a:br>
            <a:r>
              <a:rPr lang="en-GB" altLang="zh-CN" sz="3200" dirty="0"/>
              <a:t>ERD</a:t>
            </a:r>
            <a:endParaRPr lang="en-US" altLang="zh-CN" sz="2800" dirty="0">
              <a:ea typeface="宋体" pitchFamily="2" charset="-122"/>
            </a:endParaRPr>
          </a:p>
        </p:txBody>
      </p:sp>
      <p:sp>
        <p:nvSpPr>
          <p:cNvPr id="45060" name="Rectangle 3"/>
          <p:cNvSpPr>
            <a:spLocks noChangeArrowheads="1"/>
          </p:cNvSpPr>
          <p:nvPr/>
        </p:nvSpPr>
        <p:spPr bwMode="auto">
          <a:xfrm>
            <a:off x="533400" y="1143000"/>
            <a:ext cx="8001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solidFill>
                  <a:srgbClr val="C00000"/>
                </a:solidFill>
              </a:rPr>
              <a:t>It is not a UML diagram</a:t>
            </a:r>
            <a:r>
              <a:rPr lang="en-GB" altLang="zh-CN" sz="2600" dirty="0"/>
              <a:t>, but it is widely used by data analysts in database management</a:t>
            </a:r>
            <a:r>
              <a:rPr lang="zh-CN" altLang="en-US" sz="2600" dirty="0"/>
              <a:t>（不是</a:t>
            </a:r>
            <a:r>
              <a:rPr lang="en-US" altLang="zh-CN" sz="2600" dirty="0"/>
              <a:t>UML</a:t>
            </a:r>
            <a:r>
              <a:rPr lang="zh-CN" altLang="en-US" sz="2600" dirty="0"/>
              <a:t>图，但在数据库管理中被广泛使用）</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There really is no standard notation, but most developers use the entity and crows feet notation shown in this text</a:t>
            </a:r>
          </a:p>
          <a:p>
            <a:pPr eaLnBrk="1" hangingPunct="1">
              <a:spcBef>
                <a:spcPct val="20000"/>
              </a:spcBef>
              <a:buClr>
                <a:schemeClr val="tx2"/>
              </a:buClr>
              <a:buSzPct val="70000"/>
              <a:buFont typeface="Wingdings" pitchFamily="2" charset="2"/>
              <a:buChar char="l"/>
            </a:pPr>
            <a:r>
              <a:rPr lang="en-GB" altLang="zh-CN" sz="2600" dirty="0"/>
              <a:t>An ERD is not good for showing </a:t>
            </a:r>
            <a:r>
              <a:rPr lang="en-GB" altLang="zh-CN" sz="2600" u="sng" dirty="0"/>
              <a:t>generalization/specialization relationships </a:t>
            </a:r>
            <a:r>
              <a:rPr lang="en-GB" altLang="zh-CN" sz="2600" dirty="0"/>
              <a:t>and </a:t>
            </a:r>
            <a:r>
              <a:rPr lang="en-GB" altLang="zh-CN" sz="2600" u="sng" dirty="0"/>
              <a:t>whole part relationships</a:t>
            </a:r>
            <a:r>
              <a:rPr lang="zh-CN" altLang="en-US" sz="2600" dirty="0"/>
              <a:t>（</a:t>
            </a:r>
            <a:r>
              <a:rPr lang="en-US" altLang="zh-CN" sz="2600" dirty="0"/>
              <a:t>ERD</a:t>
            </a:r>
            <a:r>
              <a:rPr lang="zh-CN" altLang="en-US" sz="2600" dirty="0"/>
              <a:t>不适合显示</a:t>
            </a:r>
            <a:r>
              <a:rPr lang="zh-CN" altLang="en-US" sz="2600" u="sng" dirty="0"/>
              <a:t>泛化</a:t>
            </a:r>
            <a:r>
              <a:rPr lang="en-US" altLang="zh-CN" sz="2600" u="sng" dirty="0"/>
              <a:t>/</a:t>
            </a:r>
            <a:r>
              <a:rPr lang="zh-CN" altLang="en-US" sz="2600" u="sng" dirty="0"/>
              <a:t>特化</a:t>
            </a:r>
            <a:r>
              <a:rPr lang="zh-CN" altLang="en-US" sz="2600" dirty="0"/>
              <a:t>的关系和</a:t>
            </a:r>
            <a:r>
              <a:rPr lang="zh-CN" altLang="en-US" sz="2600" u="sng" dirty="0"/>
              <a:t>整体</a:t>
            </a:r>
            <a:r>
              <a:rPr lang="en-US" altLang="zh-CN" sz="2600" u="sng" dirty="0"/>
              <a:t>-</a:t>
            </a:r>
            <a:r>
              <a:rPr lang="zh-CN" altLang="en-US" sz="2600" u="sng" dirty="0"/>
              <a:t>部分</a:t>
            </a:r>
            <a:r>
              <a:rPr lang="zh-CN" altLang="en-US" sz="2600" dirty="0"/>
              <a:t>的关系）</a:t>
            </a:r>
            <a:endParaRPr lang="en-GB" altLang="zh-CN" sz="2600" dirty="0"/>
          </a:p>
        </p:txBody>
      </p:sp>
      <p:sp>
        <p:nvSpPr>
          <p:cNvPr id="4506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50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300687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38</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itchFamily="2" charset="-122"/>
              </a:rPr>
              <a:t>“Things” in the Problem Domain</a:t>
            </a: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ea typeface="宋体" pitchFamily="2" charset="-122"/>
              </a:rPr>
              <a:t>The Entity-Relationship Diagram</a:t>
            </a:r>
          </a:p>
          <a:p>
            <a:pPr eaLnBrk="1" hangingPunct="1"/>
            <a:r>
              <a:rPr lang="en-US" altLang="zh-CN" sz="3200" dirty="0">
                <a:solidFill>
                  <a:srgbClr val="C00000"/>
                </a:solidFill>
                <a:ea typeface="宋体" pitchFamily="2" charset="-122"/>
              </a:rPr>
              <a:t>The Domain Model Class Diagram</a:t>
            </a:r>
            <a:r>
              <a:rPr lang="zh-CN" altLang="en-US" sz="3200" dirty="0">
                <a:solidFill>
                  <a:srgbClr val="C00000"/>
                </a:solidFill>
                <a:ea typeface="宋体" pitchFamily="2" charset="-122"/>
              </a:rPr>
              <a:t>（域模型类图）</a:t>
            </a:r>
            <a:endParaRPr lang="en-US" altLang="zh-CN" sz="3200" dirty="0">
              <a:solidFill>
                <a:srgbClr val="C00000"/>
              </a:solidFill>
              <a:ea typeface="宋体" pitchFamily="2" charset="-122"/>
            </a:endParaRPr>
          </a:p>
          <a:p>
            <a:pPr eaLnBrk="1" hangingPunct="1"/>
            <a:r>
              <a:rPr lang="en-US" altLang="zh-CN" sz="3200" dirty="0">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926756E-95FA-420E-94A7-06A0351E3803}" type="slidenum">
              <a:rPr lang="en-US" altLang="en-US"/>
              <a:pPr eaLnBrk="1" hangingPunct="1"/>
              <a:t>39</a:t>
            </a:fld>
            <a:endParaRPr lang="en-US" altLang="en-US"/>
          </a:p>
        </p:txBody>
      </p:sp>
      <p:sp>
        <p:nvSpPr>
          <p:cNvPr id="24579"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The Domain Model Class Diagram</a:t>
            </a:r>
            <a:endParaRPr lang="en-US" altLang="zh-CN" sz="3200">
              <a:ea typeface="宋体" pitchFamily="2" charset="-122"/>
            </a:endParaRPr>
          </a:p>
        </p:txBody>
      </p:sp>
      <p:sp>
        <p:nvSpPr>
          <p:cNvPr id="24580" name="Rectangle 3"/>
          <p:cNvSpPr>
            <a:spLocks noChangeArrowheads="1"/>
          </p:cNvSpPr>
          <p:nvPr/>
        </p:nvSpPr>
        <p:spPr bwMode="auto">
          <a:xfrm>
            <a:off x="533400" y="15240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Class</a:t>
            </a:r>
            <a:r>
              <a:rPr lang="zh-CN" altLang="en-US" sz="2600" dirty="0"/>
              <a:t>（类）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 category of classification used to describe a collection of objects</a:t>
            </a:r>
            <a:r>
              <a:rPr lang="zh-CN" altLang="en-US" sz="2200" dirty="0"/>
              <a:t>（用于描述一组对象的分类范畴）</a:t>
            </a:r>
            <a:endParaRPr lang="en-GB" altLang="zh-CN" sz="2200" dirty="0"/>
          </a:p>
          <a:p>
            <a:pPr eaLnBrk="1" hangingPunct="1">
              <a:spcBef>
                <a:spcPct val="20000"/>
              </a:spcBef>
              <a:buClr>
                <a:schemeClr val="tx2"/>
              </a:buClr>
              <a:buSzPct val="70000"/>
              <a:buFont typeface="Wingdings" pitchFamily="2" charset="2"/>
              <a:buChar char="l"/>
            </a:pPr>
            <a:r>
              <a:rPr lang="en-GB" altLang="zh-CN" sz="2600" dirty="0"/>
              <a:t>Domain Class</a:t>
            </a:r>
            <a:r>
              <a:rPr lang="zh-CN" altLang="en-US" sz="2600" dirty="0"/>
              <a:t>（域类）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u="sng" dirty="0"/>
              <a:t>Classes</a:t>
            </a:r>
            <a:r>
              <a:rPr lang="en-GB" altLang="zh-CN" sz="2200" dirty="0"/>
              <a:t> that describe objects in the problem domain</a:t>
            </a:r>
            <a:r>
              <a:rPr lang="zh-CN" altLang="en-US" sz="2200" dirty="0"/>
              <a:t>（问题域中的类）</a:t>
            </a:r>
            <a:endParaRPr lang="en-GB" altLang="zh-CN" sz="2200" dirty="0"/>
          </a:p>
          <a:p>
            <a:pPr eaLnBrk="1" hangingPunct="1">
              <a:spcBef>
                <a:spcPct val="20000"/>
              </a:spcBef>
              <a:buClr>
                <a:schemeClr val="tx2"/>
              </a:buClr>
              <a:buSzPct val="70000"/>
              <a:buFont typeface="Wingdings" pitchFamily="2" charset="2"/>
              <a:buChar char="l"/>
            </a:pPr>
            <a:r>
              <a:rPr lang="en-GB" altLang="zh-CN" sz="2600" dirty="0"/>
              <a:t>Class Diagram</a:t>
            </a:r>
            <a:r>
              <a:rPr lang="zh-CN" altLang="en-US" sz="2600" dirty="0"/>
              <a:t>（类图）</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 UML diagram that shows classes with attributes and associations (plus methods if it models software classes)</a:t>
            </a:r>
          </a:p>
          <a:p>
            <a:pPr eaLnBrk="1" hangingPunct="1">
              <a:spcBef>
                <a:spcPct val="20000"/>
              </a:spcBef>
              <a:buClr>
                <a:schemeClr val="tx2"/>
              </a:buClr>
              <a:buSzPct val="70000"/>
              <a:buFont typeface="Wingdings" pitchFamily="2" charset="2"/>
              <a:buChar char="l"/>
            </a:pPr>
            <a:r>
              <a:rPr lang="en-GB" altLang="zh-CN" sz="2600" dirty="0"/>
              <a:t>Domain Model Class Diagram</a:t>
            </a:r>
            <a:r>
              <a:rPr lang="zh-CN" altLang="en-US" sz="2600" dirty="0"/>
              <a:t>（域模型类图）</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 class diagram that </a:t>
            </a:r>
            <a:r>
              <a:rPr lang="en-GB" altLang="zh-CN" sz="2200" u="sng" dirty="0"/>
              <a:t>only includes classes from the problem domain</a:t>
            </a:r>
            <a:r>
              <a:rPr lang="en-GB" altLang="zh-CN" sz="2200" dirty="0"/>
              <a:t>, not software classes so no methods</a:t>
            </a:r>
          </a:p>
          <a:p>
            <a:pPr lvl="1">
              <a:lnSpc>
                <a:spcPct val="90000"/>
              </a:lnSpc>
              <a:spcBef>
                <a:spcPts val="1750"/>
              </a:spcBef>
              <a:buClr>
                <a:srgbClr val="006699"/>
              </a:buClr>
              <a:buSzPct val="75000"/>
              <a:buFont typeface="Monotype Sorts" pitchFamily="2" charset="2"/>
              <a:buChar char=""/>
            </a:pPr>
            <a:endParaRPr lang="en-GB" altLang="zh-CN" sz="2200" dirty="0"/>
          </a:p>
        </p:txBody>
      </p:sp>
      <p:sp>
        <p:nvSpPr>
          <p:cNvPr id="2458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8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58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8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58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58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77CCA61-68D4-4FE6-82CF-CF37517A9AB2}" type="slidenum">
              <a:rPr lang="en-US" altLang="en-US"/>
              <a:pPr eaLnBrk="1" hangingPunct="1"/>
              <a:t>40</a:t>
            </a:fld>
            <a:endParaRPr lang="en-US" altLang="en-US"/>
          </a:p>
        </p:txBody>
      </p:sp>
      <p:sp>
        <p:nvSpPr>
          <p:cNvPr id="25603" name="Rectangle 2"/>
          <p:cNvSpPr>
            <a:spLocks noGrp="1" noChangeArrowheads="1"/>
          </p:cNvSpPr>
          <p:nvPr>
            <p:ph type="title"/>
          </p:nvPr>
        </p:nvSpPr>
        <p:spPr>
          <a:xfrm>
            <a:off x="457200" y="122238"/>
            <a:ext cx="7543800" cy="944562"/>
          </a:xfrm>
        </p:spPr>
        <p:txBody>
          <a:bodyPr/>
          <a:lstStyle/>
          <a:p>
            <a:pPr eaLnBrk="1" hangingPunct="1"/>
            <a:r>
              <a:rPr lang="en-US" altLang="zh-CN" sz="3600">
                <a:ea typeface="宋体" pitchFamily="2" charset="-122"/>
              </a:rPr>
              <a:t>Domain Class Notation</a:t>
            </a:r>
            <a:endParaRPr lang="en-US" altLang="zh-CN" sz="3200">
              <a:ea typeface="宋体" pitchFamily="2" charset="-122"/>
            </a:endParaRPr>
          </a:p>
        </p:txBody>
      </p:sp>
      <p:sp>
        <p:nvSpPr>
          <p:cNvPr id="25604" name="Rectangle 3"/>
          <p:cNvSpPr>
            <a:spLocks noChangeArrowheads="1"/>
          </p:cNvSpPr>
          <p:nvPr/>
        </p:nvSpPr>
        <p:spPr bwMode="auto">
          <a:xfrm>
            <a:off x="457200" y="16002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lvl="1">
              <a:lnSpc>
                <a:spcPct val="90000"/>
              </a:lnSpc>
              <a:spcBef>
                <a:spcPts val="1750"/>
              </a:spcBef>
              <a:buClr>
                <a:srgbClr val="006699"/>
              </a:buClr>
              <a:buSzPct val="75000"/>
              <a:buFont typeface="Monotype Sorts" pitchFamily="2" charset="2"/>
              <a:buChar char=""/>
            </a:pPr>
            <a:endParaRPr lang="en-GB" altLang="zh-CN" sz="2200"/>
          </a:p>
        </p:txBody>
      </p:sp>
      <p:sp>
        <p:nvSpPr>
          <p:cNvPr id="25605" name="Rectangle 4"/>
          <p:cNvSpPr>
            <a:spLocks noChangeArrowheads="1"/>
          </p:cNvSpPr>
          <p:nvPr/>
        </p:nvSpPr>
        <p:spPr bwMode="auto">
          <a:xfrm>
            <a:off x="457200" y="1219200"/>
            <a:ext cx="8001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80000"/>
              </a:lnSpc>
              <a:spcBef>
                <a:spcPct val="20000"/>
              </a:spcBef>
              <a:buClr>
                <a:schemeClr val="tx2"/>
              </a:buClr>
              <a:buSzPct val="70000"/>
              <a:buFont typeface="Wingdings" pitchFamily="2" charset="2"/>
              <a:buChar char="l"/>
            </a:pPr>
            <a:r>
              <a:rPr lang="en-GB" altLang="zh-CN" sz="2400" dirty="0"/>
              <a:t>Class name is always capitalized</a:t>
            </a:r>
          </a:p>
          <a:p>
            <a:pPr eaLnBrk="1" hangingPunct="1">
              <a:lnSpc>
                <a:spcPct val="80000"/>
              </a:lnSpc>
              <a:spcBef>
                <a:spcPct val="20000"/>
              </a:spcBef>
              <a:buClr>
                <a:schemeClr val="tx2"/>
              </a:buClr>
              <a:buSzPct val="70000"/>
              <a:buFont typeface="Wingdings" pitchFamily="2" charset="2"/>
              <a:buChar char="l"/>
            </a:pPr>
            <a:r>
              <a:rPr lang="en-GB" altLang="zh-CN" sz="2400" dirty="0"/>
              <a:t>Attribute names are not capitalized and use camelback notation (words run together and second word is capitalized)</a:t>
            </a:r>
          </a:p>
        </p:txBody>
      </p:sp>
      <p:pic>
        <p:nvPicPr>
          <p:cNvPr id="25606"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19200" y="2768600"/>
            <a:ext cx="6553200" cy="3136900"/>
          </a:xfrm>
          <a:noFill/>
        </p:spPr>
      </p:pic>
      <p:sp>
        <p:nvSpPr>
          <p:cNvPr id="25607"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56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D247693-C121-47C9-A3B2-B436FA0CA3F8}" type="slidenum">
              <a:rPr lang="en-US" altLang="en-US"/>
              <a:pPr eaLnBrk="1" hangingPunct="1"/>
              <a:t>41</a:t>
            </a:fld>
            <a:endParaRPr lang="en-US" altLang="en-US"/>
          </a:p>
        </p:txBody>
      </p:sp>
      <p:sp>
        <p:nvSpPr>
          <p:cNvPr id="26627"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A Simple Domain Model Class Diagram</a:t>
            </a:r>
            <a:endParaRPr lang="en-US" altLang="zh-CN" sz="3200">
              <a:ea typeface="宋体" pitchFamily="2" charset="-122"/>
            </a:endParaRPr>
          </a:p>
        </p:txBody>
      </p:sp>
      <p:sp>
        <p:nvSpPr>
          <p:cNvPr id="26628" name="Rectangle 3"/>
          <p:cNvSpPr>
            <a:spLocks noChangeArrowheads="1"/>
          </p:cNvSpPr>
          <p:nvPr/>
        </p:nvSpPr>
        <p:spPr bwMode="auto">
          <a:xfrm>
            <a:off x="457200" y="16002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lvl="1">
              <a:lnSpc>
                <a:spcPct val="90000"/>
              </a:lnSpc>
              <a:spcBef>
                <a:spcPts val="1750"/>
              </a:spcBef>
              <a:buClr>
                <a:srgbClr val="006699"/>
              </a:buClr>
              <a:buSzPct val="75000"/>
              <a:buFont typeface="Monotype Sorts" pitchFamily="2" charset="2"/>
              <a:buChar char=""/>
            </a:pPr>
            <a:endParaRPr lang="en-GB" altLang="zh-CN" sz="2200"/>
          </a:p>
        </p:txBody>
      </p:sp>
      <p:pic>
        <p:nvPicPr>
          <p:cNvPr id="26630"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577340"/>
            <a:ext cx="8229600" cy="2109788"/>
          </a:xfrm>
          <a:noFill/>
        </p:spPr>
      </p:pic>
      <p:sp>
        <p:nvSpPr>
          <p:cNvPr id="26631"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pic>
        <p:nvPicPr>
          <p:cNvPr id="9" name="Picture 8">
            <a:extLst>
              <a:ext uri="{FF2B5EF4-FFF2-40B4-BE49-F238E27FC236}">
                <a16:creationId xmlns:a16="http://schemas.microsoft.com/office/drawing/2014/main" id="{1DE2923A-7E19-490A-B2C5-30DB0292FA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118292"/>
            <a:ext cx="82296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F4FF4CA2-6FDE-4176-8474-447EE7A1FA96}"/>
              </a:ext>
            </a:extLst>
          </p:cNvPr>
          <p:cNvSpPr txBox="1"/>
          <p:nvPr/>
        </p:nvSpPr>
        <p:spPr>
          <a:xfrm>
            <a:off x="937260" y="3701852"/>
            <a:ext cx="7340471" cy="369332"/>
          </a:xfrm>
          <a:prstGeom prst="rect">
            <a:avLst/>
          </a:prstGeom>
          <a:noFill/>
        </p:spPr>
        <p:txBody>
          <a:bodyPr wrap="none" rtlCol="0">
            <a:spAutoFit/>
          </a:bodyPr>
          <a:lstStyle/>
          <a:p>
            <a:r>
              <a:rPr lang="zh-CN" altLang="en-US" dirty="0"/>
              <a:t>上：</a:t>
            </a:r>
            <a:r>
              <a:rPr lang="en-US" altLang="zh-CN" dirty="0"/>
              <a:t>Domain Model Class Diagram; </a:t>
            </a:r>
            <a:r>
              <a:rPr lang="zh-CN" altLang="en-US" dirty="0"/>
              <a:t>下：</a:t>
            </a:r>
            <a:r>
              <a:rPr lang="en-GB" altLang="zh-CN" sz="1800" dirty="0"/>
              <a:t> Entity-Relationship Diagrams</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D247693-C121-47C9-A3B2-B436FA0CA3F8}" type="slidenum">
              <a:rPr lang="en-US" altLang="en-US"/>
              <a:pPr eaLnBrk="1" hangingPunct="1"/>
              <a:t>42</a:t>
            </a:fld>
            <a:endParaRPr lang="en-US" altLang="en-US"/>
          </a:p>
        </p:txBody>
      </p:sp>
      <p:sp>
        <p:nvSpPr>
          <p:cNvPr id="26627"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A Simple Domain Model Class Diagram</a:t>
            </a:r>
            <a:endParaRPr lang="en-US" altLang="zh-CN" sz="3200">
              <a:ea typeface="宋体" pitchFamily="2" charset="-122"/>
            </a:endParaRPr>
          </a:p>
        </p:txBody>
      </p:sp>
      <p:sp>
        <p:nvSpPr>
          <p:cNvPr id="26628" name="Rectangle 3"/>
          <p:cNvSpPr>
            <a:spLocks noChangeArrowheads="1"/>
          </p:cNvSpPr>
          <p:nvPr/>
        </p:nvSpPr>
        <p:spPr bwMode="auto">
          <a:xfrm>
            <a:off x="457200" y="16002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lvl="1">
              <a:lnSpc>
                <a:spcPct val="90000"/>
              </a:lnSpc>
              <a:spcBef>
                <a:spcPts val="1750"/>
              </a:spcBef>
              <a:buClr>
                <a:srgbClr val="006699"/>
              </a:buClr>
              <a:buSzPct val="75000"/>
              <a:buFont typeface="Monotype Sorts" pitchFamily="2" charset="2"/>
              <a:buChar char=""/>
            </a:pPr>
            <a:endParaRPr lang="en-GB" altLang="zh-CN" sz="2200"/>
          </a:p>
        </p:txBody>
      </p:sp>
      <p:sp>
        <p:nvSpPr>
          <p:cNvPr id="26629" name="Rectangle 4"/>
          <p:cNvSpPr>
            <a:spLocks noChangeArrowheads="1"/>
          </p:cNvSpPr>
          <p:nvPr/>
        </p:nvSpPr>
        <p:spPr bwMode="auto">
          <a:xfrm>
            <a:off x="533400" y="4152900"/>
            <a:ext cx="8001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t>Note: This diagram matches the semantic net shown previously</a:t>
            </a:r>
          </a:p>
          <a:p>
            <a:pPr lvl="1" eaLnBrk="1" hangingPunct="1">
              <a:spcBef>
                <a:spcPct val="20000"/>
              </a:spcBef>
              <a:buClr>
                <a:schemeClr val="accent2"/>
              </a:buClr>
              <a:buSzPct val="70000"/>
              <a:buFont typeface="Wingdings" pitchFamily="2" charset="2"/>
              <a:buChar char="l"/>
            </a:pPr>
            <a:r>
              <a:rPr lang="en-GB" altLang="zh-CN" dirty="0"/>
              <a:t>A customer places zero or more orders</a:t>
            </a:r>
          </a:p>
          <a:p>
            <a:pPr lvl="1" eaLnBrk="1" hangingPunct="1">
              <a:spcBef>
                <a:spcPct val="20000"/>
              </a:spcBef>
              <a:buClr>
                <a:schemeClr val="accent2"/>
              </a:buClr>
              <a:buSzPct val="70000"/>
              <a:buFont typeface="Wingdings" pitchFamily="2" charset="2"/>
              <a:buChar char="l"/>
            </a:pPr>
            <a:r>
              <a:rPr lang="en-GB" altLang="zh-CN" dirty="0"/>
              <a:t>An order is placed by exactly one customer</a:t>
            </a:r>
          </a:p>
          <a:p>
            <a:pPr lvl="1" eaLnBrk="1" hangingPunct="1">
              <a:spcBef>
                <a:spcPct val="20000"/>
              </a:spcBef>
              <a:buClr>
                <a:schemeClr val="accent2"/>
              </a:buClr>
              <a:buSzPct val="70000"/>
              <a:buFont typeface="Wingdings" pitchFamily="2" charset="2"/>
              <a:buChar char="l"/>
            </a:pPr>
            <a:r>
              <a:rPr lang="en-GB" altLang="zh-CN" dirty="0"/>
              <a:t>An order consists of one or more order items</a:t>
            </a:r>
          </a:p>
          <a:p>
            <a:pPr lvl="1" eaLnBrk="1" hangingPunct="1">
              <a:spcBef>
                <a:spcPct val="20000"/>
              </a:spcBef>
              <a:buClr>
                <a:schemeClr val="accent2"/>
              </a:buClr>
              <a:buSzPct val="70000"/>
              <a:buFont typeface="Wingdings" pitchFamily="2" charset="2"/>
              <a:buChar char="l"/>
            </a:pPr>
            <a:r>
              <a:rPr lang="en-GB" altLang="zh-CN" dirty="0"/>
              <a:t>An order item is part of exactly one order</a:t>
            </a:r>
            <a:endParaRPr lang="en-GB" altLang="zh-CN" sz="2000" dirty="0"/>
          </a:p>
        </p:txBody>
      </p:sp>
      <p:pic>
        <p:nvPicPr>
          <p:cNvPr id="26630"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577340"/>
            <a:ext cx="8229600" cy="2109788"/>
          </a:xfrm>
          <a:noFill/>
        </p:spPr>
      </p:pic>
      <p:sp>
        <p:nvSpPr>
          <p:cNvPr id="26631"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66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35954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347DA7C-0625-46F4-BC80-4D97FD6AC6A4}" type="slidenum">
              <a:rPr lang="en-US" altLang="en-US"/>
              <a:pPr eaLnBrk="1" hangingPunct="1"/>
              <a:t>43</a:t>
            </a:fld>
            <a:endParaRPr lang="en-US" altLang="en-US"/>
          </a:p>
        </p:txBody>
      </p:sp>
      <p:sp>
        <p:nvSpPr>
          <p:cNvPr id="27651"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UML Notation for Multiplicity</a:t>
            </a:r>
            <a:endParaRPr lang="en-US" altLang="zh-CN" sz="3200">
              <a:ea typeface="宋体" pitchFamily="2" charset="-122"/>
            </a:endParaRPr>
          </a:p>
        </p:txBody>
      </p:sp>
      <p:pic>
        <p:nvPicPr>
          <p:cNvPr id="27652" name="Picture 1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80060" y="1786493"/>
            <a:ext cx="8229600" cy="3821112"/>
          </a:xfrm>
          <a:noFill/>
        </p:spPr>
      </p:pic>
      <p:sp>
        <p:nvSpPr>
          <p:cNvPr id="2765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765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文本框 6">
            <a:extLst>
              <a:ext uri="{FF2B5EF4-FFF2-40B4-BE49-F238E27FC236}">
                <a16:creationId xmlns:a16="http://schemas.microsoft.com/office/drawing/2014/main" id="{62579AD6-9185-4A5E-A98E-BE9D8F47CC12}"/>
              </a:ext>
            </a:extLst>
          </p:cNvPr>
          <p:cNvSpPr txBox="1"/>
          <p:nvPr/>
        </p:nvSpPr>
        <p:spPr>
          <a:xfrm>
            <a:off x="3352800" y="5694402"/>
            <a:ext cx="2967479" cy="369332"/>
          </a:xfrm>
          <a:prstGeom prst="rect">
            <a:avLst/>
          </a:prstGeom>
          <a:noFill/>
        </p:spPr>
        <p:txBody>
          <a:bodyPr wrap="none" rtlCol="0">
            <a:spAutoFit/>
          </a:bodyPr>
          <a:lstStyle/>
          <a:p>
            <a:r>
              <a:rPr lang="zh-CN" altLang="en-US" dirty="0">
                <a:solidFill>
                  <a:srgbClr val="C00000"/>
                </a:solidFill>
              </a:rPr>
              <a:t>只要可以为</a:t>
            </a:r>
            <a:r>
              <a:rPr lang="en-US" altLang="zh-CN" dirty="0">
                <a:solidFill>
                  <a:srgbClr val="C00000"/>
                </a:solidFill>
              </a:rPr>
              <a:t>0</a:t>
            </a:r>
            <a:r>
              <a:rPr lang="zh-CN" altLang="en-US" dirty="0">
                <a:solidFill>
                  <a:srgbClr val="C00000"/>
                </a:solidFill>
              </a:rPr>
              <a:t>，就是</a:t>
            </a:r>
            <a:r>
              <a:rPr lang="en-US" altLang="zh-CN" dirty="0">
                <a:solidFill>
                  <a:srgbClr val="C00000"/>
                </a:solidFill>
              </a:rPr>
              <a:t>optional</a:t>
            </a:r>
            <a:endParaRPr lang="zh-CN" altLang="en-US" dirty="0">
              <a:solidFill>
                <a:srgbClr val="C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812B80D-78D6-4E87-9DB7-A03A086F1267}" type="slidenum">
              <a:rPr lang="en-US" altLang="en-US"/>
              <a:pPr eaLnBrk="1" hangingPunct="1"/>
              <a:t>44</a:t>
            </a:fld>
            <a:endParaRPr lang="en-US" altLang="en-US"/>
          </a:p>
        </p:txBody>
      </p:sp>
      <p:sp>
        <p:nvSpPr>
          <p:cNvPr id="28675" name="Rectangle 2"/>
          <p:cNvSpPr>
            <a:spLocks noGrp="1" noChangeArrowheads="1"/>
          </p:cNvSpPr>
          <p:nvPr>
            <p:ph type="title"/>
          </p:nvPr>
        </p:nvSpPr>
        <p:spPr>
          <a:xfrm>
            <a:off x="457200" y="122238"/>
            <a:ext cx="7543800" cy="1325562"/>
          </a:xfrm>
        </p:spPr>
        <p:txBody>
          <a:bodyPr/>
          <a:lstStyle/>
          <a:p>
            <a:pPr eaLnBrk="1" hangingPunct="1"/>
            <a:r>
              <a:rPr lang="en-US" altLang="zh-CN" sz="3600" dirty="0">
                <a:ea typeface="宋体" pitchFamily="2" charset="-122"/>
              </a:rPr>
              <a:t>Domain Model Class Diagram</a:t>
            </a:r>
            <a:br>
              <a:rPr lang="en-US" altLang="zh-CN" sz="3600" dirty="0">
                <a:ea typeface="宋体" pitchFamily="2" charset="-122"/>
              </a:rPr>
            </a:br>
            <a:r>
              <a:rPr lang="en-US" altLang="zh-CN" sz="2800" dirty="0">
                <a:ea typeface="宋体" pitchFamily="2" charset="-122"/>
              </a:rPr>
              <a:t>for a bank with many branches</a:t>
            </a:r>
          </a:p>
        </p:txBody>
      </p:sp>
      <p:pic>
        <p:nvPicPr>
          <p:cNvPr id="28676"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8388" y="1719263"/>
            <a:ext cx="7007225" cy="4411662"/>
          </a:xfrm>
          <a:noFill/>
        </p:spPr>
      </p:pic>
      <p:sp>
        <p:nvSpPr>
          <p:cNvPr id="2867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867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D3A2042-0D16-48C5-BECA-1B7D5634C404}" type="slidenum">
              <a:rPr lang="en-US" altLang="en-US"/>
              <a:pPr eaLnBrk="1" hangingPunct="1"/>
              <a:t>45</a:t>
            </a:fld>
            <a:endParaRPr lang="en-US" altLang="en-US"/>
          </a:p>
        </p:txBody>
      </p:sp>
      <p:sp>
        <p:nvSpPr>
          <p:cNvPr id="29699" name="Rectangle 2"/>
          <p:cNvSpPr>
            <a:spLocks noGrp="1" noChangeArrowheads="1"/>
          </p:cNvSpPr>
          <p:nvPr>
            <p:ph type="title"/>
          </p:nvPr>
        </p:nvSpPr>
        <p:spPr>
          <a:xfrm>
            <a:off x="457200" y="122238"/>
            <a:ext cx="7543800" cy="944562"/>
          </a:xfrm>
        </p:spPr>
        <p:txBody>
          <a:bodyPr/>
          <a:lstStyle/>
          <a:p>
            <a:pPr eaLnBrk="1" hangingPunct="1"/>
            <a:r>
              <a:rPr lang="en-US" altLang="zh-CN" sz="3200" dirty="0">
                <a:ea typeface="宋体" pitchFamily="2" charset="-122"/>
              </a:rPr>
              <a:t>Domain Model Class Diagram</a:t>
            </a:r>
            <a:br>
              <a:rPr lang="en-US" altLang="zh-CN" sz="3200" dirty="0">
                <a:ea typeface="宋体" pitchFamily="2" charset="-122"/>
              </a:rPr>
            </a:br>
            <a:r>
              <a:rPr lang="en-US" altLang="zh-CN" sz="2400" dirty="0">
                <a:ea typeface="宋体" pitchFamily="2" charset="-122"/>
              </a:rPr>
              <a:t>for course enrollment at a university</a:t>
            </a:r>
          </a:p>
        </p:txBody>
      </p:sp>
      <p:sp>
        <p:nvSpPr>
          <p:cNvPr id="29700" name="Rectangle 6"/>
          <p:cNvSpPr>
            <a:spLocks noChangeArrowheads="1"/>
          </p:cNvSpPr>
          <p:nvPr/>
        </p:nvSpPr>
        <p:spPr bwMode="auto">
          <a:xfrm>
            <a:off x="228600" y="5105400"/>
            <a:ext cx="8686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t>Where is each student’s grade remembered in this model?</a:t>
            </a:r>
            <a:r>
              <a:rPr lang="zh-CN" altLang="en-US" sz="2000" dirty="0"/>
              <a:t>（在这个模型中，每个学生的成绩记在哪里？）</a:t>
            </a:r>
            <a:endParaRPr lang="en-GB" altLang="zh-CN" sz="2000" dirty="0"/>
          </a:p>
          <a:p>
            <a:pPr lvl="1" eaLnBrk="1" hangingPunct="1">
              <a:spcBef>
                <a:spcPct val="20000"/>
              </a:spcBef>
              <a:buClr>
                <a:schemeClr val="accent2"/>
              </a:buClr>
              <a:buSzPct val="70000"/>
              <a:buFont typeface="Wingdings" pitchFamily="2" charset="2"/>
              <a:buChar char="l"/>
            </a:pPr>
            <a:r>
              <a:rPr lang="en-GB" altLang="zh-CN" dirty="0"/>
              <a:t>Each section has many grades and each grade is association with a student</a:t>
            </a:r>
          </a:p>
          <a:p>
            <a:pPr lvl="1" eaLnBrk="1" hangingPunct="1">
              <a:spcBef>
                <a:spcPct val="20000"/>
              </a:spcBef>
              <a:buClr>
                <a:schemeClr val="accent2"/>
              </a:buClr>
              <a:buSzPct val="70000"/>
              <a:buFont typeface="Wingdings" pitchFamily="2" charset="2"/>
              <a:buChar char="l"/>
            </a:pPr>
            <a:r>
              <a:rPr lang="en-GB" altLang="zh-CN" dirty="0"/>
              <a:t>Each student has many grades and each grade is association with a section</a:t>
            </a:r>
          </a:p>
          <a:p>
            <a:pPr>
              <a:lnSpc>
                <a:spcPct val="90000"/>
              </a:lnSpc>
              <a:spcBef>
                <a:spcPts val="1750"/>
              </a:spcBef>
              <a:buClr>
                <a:srgbClr val="006699"/>
              </a:buClr>
              <a:buSzPct val="75000"/>
              <a:buFont typeface="Monotype Sorts" pitchFamily="2" charset="2"/>
              <a:buChar char=""/>
            </a:pPr>
            <a:endParaRPr lang="en-GB" altLang="zh-CN" sz="2000" dirty="0"/>
          </a:p>
        </p:txBody>
      </p:sp>
      <p:pic>
        <p:nvPicPr>
          <p:cNvPr id="29701"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362200" y="1143000"/>
            <a:ext cx="4351338" cy="3930650"/>
          </a:xfrm>
          <a:noFill/>
        </p:spPr>
      </p:pic>
      <p:sp>
        <p:nvSpPr>
          <p:cNvPr id="29702"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970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E33A03E-5654-4934-91A9-5EACDFAD4562}" type="slidenum">
              <a:rPr lang="en-US" altLang="en-US"/>
              <a:pPr eaLnBrk="1" hangingPunct="1"/>
              <a:t>46</a:t>
            </a:fld>
            <a:endParaRPr lang="en-US" altLang="en-US"/>
          </a:p>
        </p:txBody>
      </p:sp>
      <p:sp>
        <p:nvSpPr>
          <p:cNvPr id="30723" name="Rectangle 2"/>
          <p:cNvSpPr>
            <a:spLocks noGrp="1" noChangeArrowheads="1"/>
          </p:cNvSpPr>
          <p:nvPr>
            <p:ph type="title"/>
          </p:nvPr>
        </p:nvSpPr>
        <p:spPr>
          <a:xfrm>
            <a:off x="457200" y="122238"/>
            <a:ext cx="7543800" cy="1020762"/>
          </a:xfrm>
        </p:spPr>
        <p:txBody>
          <a:bodyPr/>
          <a:lstStyle/>
          <a:p>
            <a:pPr eaLnBrk="1" hangingPunct="1"/>
            <a:r>
              <a:rPr lang="en-US" altLang="zh-CN" sz="3200">
                <a:ea typeface="宋体" pitchFamily="2" charset="-122"/>
              </a:rPr>
              <a:t>Refined Course Enrollment Model</a:t>
            </a:r>
            <a:br>
              <a:rPr lang="en-US" altLang="zh-CN" sz="3200">
                <a:ea typeface="宋体" pitchFamily="2" charset="-122"/>
              </a:rPr>
            </a:br>
            <a:r>
              <a:rPr lang="en-US" altLang="zh-CN" sz="2400">
                <a:ea typeface="宋体" pitchFamily="2" charset="-122"/>
              </a:rPr>
              <a:t>with an Association Class CourseEnrollment</a:t>
            </a:r>
          </a:p>
        </p:txBody>
      </p:sp>
      <p:sp>
        <p:nvSpPr>
          <p:cNvPr id="30724" name="Rectangle 3"/>
          <p:cNvSpPr>
            <a:spLocks noChangeArrowheads="1"/>
          </p:cNvSpPr>
          <p:nvPr/>
        </p:nvSpPr>
        <p:spPr bwMode="auto">
          <a:xfrm>
            <a:off x="304800" y="1219200"/>
            <a:ext cx="8001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t>Association class</a:t>
            </a:r>
            <a:r>
              <a:rPr lang="zh-CN" altLang="en-US" sz="2000" dirty="0"/>
              <a:t>（关联类）</a:t>
            </a:r>
            <a:r>
              <a:rPr lang="en-GB" altLang="zh-CN" sz="2000" dirty="0"/>
              <a:t>— an association that is treated as a class in a many to many association because it has attributes that need to be remembered, such as grade</a:t>
            </a:r>
            <a:endParaRPr lang="en-GB" altLang="zh-CN" sz="2400" dirty="0"/>
          </a:p>
        </p:txBody>
      </p:sp>
      <p:pic>
        <p:nvPicPr>
          <p:cNvPr id="30725" name="Picture 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2286000"/>
            <a:ext cx="6858000" cy="3832225"/>
          </a:xfrm>
          <a:noFill/>
        </p:spPr>
      </p:pic>
      <p:sp>
        <p:nvSpPr>
          <p:cNvPr id="3072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072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78A771D-C18A-4D98-B5E3-73945FE67D83}" type="slidenum">
              <a:rPr lang="en-US" altLang="en-US"/>
              <a:pPr eaLnBrk="1" hangingPunct="1"/>
              <a:t>47</a:t>
            </a:fld>
            <a:endParaRPr lang="en-US" altLang="en-US"/>
          </a:p>
        </p:txBody>
      </p:sp>
      <p:sp>
        <p:nvSpPr>
          <p:cNvPr id="31747" name="Rectangle 2"/>
          <p:cNvSpPr>
            <a:spLocks noGrp="1" noChangeArrowheads="1"/>
          </p:cNvSpPr>
          <p:nvPr>
            <p:ph type="title"/>
          </p:nvPr>
        </p:nvSpPr>
        <p:spPr>
          <a:xfrm>
            <a:off x="457200" y="122238"/>
            <a:ext cx="7543800" cy="1020762"/>
          </a:xfrm>
        </p:spPr>
        <p:txBody>
          <a:bodyPr/>
          <a:lstStyle/>
          <a:p>
            <a:pPr eaLnBrk="1" hangingPunct="1"/>
            <a:r>
              <a:rPr lang="en-US" altLang="zh-CN" sz="3200">
                <a:ea typeface="宋体" pitchFamily="2" charset="-122"/>
              </a:rPr>
              <a:t>More Complex Issues about Classes:</a:t>
            </a:r>
            <a:br>
              <a:rPr lang="en-US" altLang="zh-CN" sz="3200">
                <a:ea typeface="宋体" pitchFamily="2" charset="-122"/>
              </a:rPr>
            </a:br>
            <a:r>
              <a:rPr lang="en-US" altLang="zh-CN" sz="2400">
                <a:ea typeface="宋体" pitchFamily="2" charset="-122"/>
              </a:rPr>
              <a:t>Generalization/Specialization Relationships</a:t>
            </a:r>
          </a:p>
        </p:txBody>
      </p:sp>
      <p:sp>
        <p:nvSpPr>
          <p:cNvPr id="31748" name="Rectangle 3"/>
          <p:cNvSpPr>
            <a:spLocks noChangeArrowheads="1"/>
          </p:cNvSpPr>
          <p:nvPr/>
        </p:nvSpPr>
        <p:spPr bwMode="auto">
          <a:xfrm>
            <a:off x="533400" y="1371600"/>
            <a:ext cx="8382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Generalization/Specialization</a:t>
            </a:r>
            <a:r>
              <a:rPr lang="zh-CN" altLang="en-US" sz="2400" dirty="0"/>
              <a:t>（泛化</a:t>
            </a:r>
            <a:r>
              <a:rPr lang="en-US" altLang="zh-CN" sz="2400" dirty="0"/>
              <a:t>/</a:t>
            </a:r>
            <a:r>
              <a:rPr lang="zh-CN" altLang="en-US" sz="2400" dirty="0"/>
              <a:t>特化）</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A hierarchical relationship where subordinate classes are special types of the superior classes. Often called an Inheritance Hierarchy</a:t>
            </a:r>
          </a:p>
          <a:p>
            <a:pPr eaLnBrk="1" hangingPunct="1">
              <a:spcBef>
                <a:spcPct val="20000"/>
              </a:spcBef>
              <a:buClr>
                <a:schemeClr val="tx2"/>
              </a:buClr>
              <a:buSzPct val="70000"/>
              <a:buFont typeface="Wingdings" pitchFamily="2" charset="2"/>
              <a:buChar char="l"/>
            </a:pPr>
            <a:r>
              <a:rPr lang="en-GB" altLang="zh-CN" sz="2400" dirty="0"/>
              <a:t>Superclass</a:t>
            </a:r>
            <a:r>
              <a:rPr lang="zh-CN" altLang="en-US" sz="2400" dirty="0"/>
              <a:t>（超类）</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the superior or </a:t>
            </a:r>
            <a:r>
              <a:rPr lang="en-GB" altLang="zh-CN" sz="2000" u="sng" dirty="0"/>
              <a:t>more general class </a:t>
            </a:r>
            <a:r>
              <a:rPr lang="en-GB" altLang="zh-CN" sz="2000" dirty="0"/>
              <a:t>in a generalization/specialization hierarchy</a:t>
            </a:r>
            <a:r>
              <a:rPr lang="zh-CN" altLang="en-US" sz="2000" dirty="0"/>
              <a:t>（</a:t>
            </a:r>
            <a:r>
              <a:rPr lang="zh-CN" altLang="en-US" sz="2000" dirty="0">
                <a:solidFill>
                  <a:srgbClr val="2A2B2E"/>
                </a:solidFill>
                <a:latin typeface="PingFang SC"/>
              </a:rPr>
              <a:t>泛化</a:t>
            </a:r>
            <a:r>
              <a:rPr lang="en-US" altLang="zh-CN" sz="2000" dirty="0">
                <a:solidFill>
                  <a:srgbClr val="2A2B2E"/>
                </a:solidFill>
                <a:latin typeface="PingFang SC"/>
              </a:rPr>
              <a:t>/</a:t>
            </a:r>
            <a:r>
              <a:rPr lang="zh-CN" altLang="en-US" sz="2000" dirty="0">
                <a:solidFill>
                  <a:srgbClr val="2A2B2E"/>
                </a:solidFill>
                <a:latin typeface="PingFang SC"/>
              </a:rPr>
              <a:t>特化中更通用的类</a:t>
            </a:r>
            <a:r>
              <a:rPr lang="zh-CN" altLang="en-US" sz="2000" dirty="0"/>
              <a:t>）</a:t>
            </a:r>
            <a:endParaRPr lang="en-GB" altLang="zh-CN" sz="2000" dirty="0"/>
          </a:p>
          <a:p>
            <a:pPr eaLnBrk="1" hangingPunct="1">
              <a:spcBef>
                <a:spcPct val="20000"/>
              </a:spcBef>
              <a:buClr>
                <a:schemeClr val="tx2"/>
              </a:buClr>
              <a:buSzPct val="70000"/>
              <a:buFont typeface="Wingdings" pitchFamily="2" charset="2"/>
              <a:buChar char="l"/>
            </a:pPr>
            <a:r>
              <a:rPr lang="en-GB" altLang="zh-CN" sz="2400" dirty="0"/>
              <a:t>Subclass </a:t>
            </a:r>
            <a:r>
              <a:rPr lang="zh-CN" altLang="en-US" sz="2400" dirty="0"/>
              <a:t>（子类）</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the subordinate or </a:t>
            </a:r>
            <a:r>
              <a:rPr lang="en-GB" altLang="zh-CN" sz="2000" u="sng" dirty="0"/>
              <a:t>more specialized class </a:t>
            </a:r>
            <a:r>
              <a:rPr lang="en-GB" altLang="zh-CN" sz="2000" dirty="0"/>
              <a:t>in a generalization/specialization hierarchy</a:t>
            </a:r>
            <a:r>
              <a:rPr lang="zh-CN" altLang="en-US" sz="2000" dirty="0"/>
              <a:t>（</a:t>
            </a:r>
            <a:r>
              <a:rPr lang="zh-CN" altLang="en-US" sz="2000" dirty="0">
                <a:solidFill>
                  <a:srgbClr val="2A2B2E"/>
                </a:solidFill>
                <a:latin typeface="PingFang SC"/>
              </a:rPr>
              <a:t>泛化</a:t>
            </a:r>
            <a:r>
              <a:rPr lang="en-US" altLang="zh-CN" sz="2000" dirty="0">
                <a:solidFill>
                  <a:srgbClr val="2A2B2E"/>
                </a:solidFill>
                <a:latin typeface="PingFang SC"/>
              </a:rPr>
              <a:t>/</a:t>
            </a:r>
            <a:r>
              <a:rPr lang="zh-CN" altLang="en-US" sz="2000" dirty="0">
                <a:solidFill>
                  <a:srgbClr val="2A2B2E"/>
                </a:solidFill>
                <a:latin typeface="PingFang SC"/>
              </a:rPr>
              <a:t>特化中从属的类</a:t>
            </a:r>
            <a:r>
              <a:rPr lang="zh-CN" altLang="en-US" sz="2000" dirty="0"/>
              <a:t>）</a:t>
            </a:r>
            <a:endParaRPr lang="en-GB" altLang="zh-CN" sz="2000" dirty="0"/>
          </a:p>
          <a:p>
            <a:pPr eaLnBrk="1" hangingPunct="1">
              <a:spcBef>
                <a:spcPct val="20000"/>
              </a:spcBef>
              <a:buClr>
                <a:schemeClr val="tx2"/>
              </a:buClr>
              <a:buSzPct val="70000"/>
              <a:buFont typeface="Wingdings" pitchFamily="2" charset="2"/>
              <a:buChar char="l"/>
            </a:pPr>
            <a:r>
              <a:rPr lang="en-GB" altLang="zh-CN" sz="2400" dirty="0"/>
              <a:t>Inheritance </a:t>
            </a:r>
            <a:r>
              <a:rPr lang="zh-CN" altLang="en-US" sz="2400" dirty="0"/>
              <a:t>（继承）</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the concept that subclasses classes inherit characteristics of the more general superclass</a:t>
            </a:r>
          </a:p>
        </p:txBody>
      </p:sp>
      <p:sp>
        <p:nvSpPr>
          <p:cNvPr id="3174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17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8">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74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74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0507E7F-6853-48C6-8E25-2ED8D20D527E}" type="slidenum">
              <a:rPr lang="en-US" altLang="en-US"/>
              <a:pPr eaLnBrk="1" hangingPunct="1"/>
              <a:t>48</a:t>
            </a:fld>
            <a:endParaRPr lang="en-US" altLang="en-US"/>
          </a:p>
        </p:txBody>
      </p:sp>
      <p:sp>
        <p:nvSpPr>
          <p:cNvPr id="32771"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Generalization/Specialization</a:t>
            </a:r>
            <a:br>
              <a:rPr lang="en-US" altLang="zh-CN" sz="3200" dirty="0">
                <a:ea typeface="宋体" pitchFamily="2" charset="-122"/>
              </a:rPr>
            </a:br>
            <a:r>
              <a:rPr lang="en-US" altLang="zh-CN" sz="2400" dirty="0">
                <a:ea typeface="宋体" pitchFamily="2" charset="-122"/>
              </a:rPr>
              <a:t>Inheritance</a:t>
            </a:r>
          </a:p>
        </p:txBody>
      </p:sp>
      <p:sp>
        <p:nvSpPr>
          <p:cNvPr id="32772" name="Rectangle 4"/>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pic>
        <p:nvPicPr>
          <p:cNvPr id="32773"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447800"/>
            <a:ext cx="7696200" cy="4760913"/>
          </a:xfrm>
          <a:noFill/>
        </p:spPr>
      </p:pic>
      <p:sp>
        <p:nvSpPr>
          <p:cNvPr id="32774"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277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F18F71F-ABFF-4DA1-97E5-43AA6B1C529B}" type="slidenum">
              <a:rPr lang="en-US" altLang="en-US"/>
              <a:pPr eaLnBrk="1" hangingPunct="1"/>
              <a:t>49</a:t>
            </a:fld>
            <a:endParaRPr lang="en-US" altLang="en-US"/>
          </a:p>
        </p:txBody>
      </p:sp>
      <p:sp>
        <p:nvSpPr>
          <p:cNvPr id="33795" name="Rectangle 2"/>
          <p:cNvSpPr>
            <a:spLocks noGrp="1" noChangeArrowheads="1"/>
          </p:cNvSpPr>
          <p:nvPr>
            <p:ph type="title"/>
          </p:nvPr>
        </p:nvSpPr>
        <p:spPr>
          <a:xfrm>
            <a:off x="457200" y="122238"/>
            <a:ext cx="7543800" cy="1020762"/>
          </a:xfrm>
        </p:spPr>
        <p:txBody>
          <a:bodyPr/>
          <a:lstStyle/>
          <a:p>
            <a:pPr eaLnBrk="1" hangingPunct="1"/>
            <a:r>
              <a:rPr lang="en-US" altLang="zh-CN" sz="3200">
                <a:ea typeface="宋体" pitchFamily="2" charset="-122"/>
              </a:rPr>
              <a:t>Generalization/Specialization</a:t>
            </a:r>
            <a:br>
              <a:rPr lang="en-US" altLang="zh-CN" sz="3200">
                <a:ea typeface="宋体" pitchFamily="2" charset="-122"/>
              </a:rPr>
            </a:br>
            <a:r>
              <a:rPr lang="en-US" altLang="zh-CN" sz="2400">
                <a:ea typeface="宋体" pitchFamily="2" charset="-122"/>
              </a:rPr>
              <a:t>Inheritance for RMO Three Types of Sales</a:t>
            </a:r>
          </a:p>
        </p:txBody>
      </p:sp>
      <p:sp>
        <p:nvSpPr>
          <p:cNvPr id="33796" name="Rectangle 3"/>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sp>
        <p:nvSpPr>
          <p:cNvPr id="33797" name="Rectangle 7"/>
          <p:cNvSpPr>
            <a:spLocks noChangeArrowheads="1"/>
          </p:cNvSpPr>
          <p:nvPr/>
        </p:nvSpPr>
        <p:spPr bwMode="auto">
          <a:xfrm>
            <a:off x="457200" y="5029200"/>
            <a:ext cx="8001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solidFill>
                  <a:srgbClr val="C00000"/>
                </a:solidFill>
              </a:rPr>
              <a:t>Abstract class</a:t>
            </a:r>
            <a:r>
              <a:rPr lang="zh-CN" altLang="en-US" sz="2000" dirty="0">
                <a:solidFill>
                  <a:srgbClr val="C00000"/>
                </a:solidFill>
              </a:rPr>
              <a:t>（抽象类）</a:t>
            </a:r>
            <a:r>
              <a:rPr lang="en-GB" altLang="zh-CN" sz="2000" dirty="0"/>
              <a:t>— a class that allow subclasses to inherit characteristics but </a:t>
            </a:r>
            <a:r>
              <a:rPr lang="en-GB" altLang="zh-CN" sz="2000" dirty="0">
                <a:solidFill>
                  <a:srgbClr val="C00000"/>
                </a:solidFill>
              </a:rPr>
              <a:t>never gets instantiated</a:t>
            </a:r>
            <a:r>
              <a:rPr lang="zh-CN" altLang="en-US" sz="2000" dirty="0">
                <a:solidFill>
                  <a:srgbClr val="C00000"/>
                </a:solidFill>
              </a:rPr>
              <a:t>（永远不会被实例化）</a:t>
            </a:r>
            <a:r>
              <a:rPr lang="en-GB" altLang="zh-CN" sz="2000" dirty="0"/>
              <a:t>. In Italics (</a:t>
            </a:r>
            <a:r>
              <a:rPr lang="en-GB" altLang="zh-CN" sz="2000" i="1" u="sng" dirty="0"/>
              <a:t>Sale</a:t>
            </a:r>
            <a:r>
              <a:rPr lang="en-GB" altLang="zh-CN" sz="2000" u="sng" dirty="0"/>
              <a:t> above</a:t>
            </a:r>
            <a:r>
              <a:rPr lang="en-GB" altLang="zh-CN" sz="2000" dirty="0"/>
              <a:t>)</a:t>
            </a:r>
          </a:p>
          <a:p>
            <a:pPr eaLnBrk="1" hangingPunct="1">
              <a:spcBef>
                <a:spcPct val="20000"/>
              </a:spcBef>
              <a:buClr>
                <a:schemeClr val="tx2"/>
              </a:buClr>
              <a:buSzPct val="70000"/>
              <a:buFont typeface="Wingdings" pitchFamily="2" charset="2"/>
              <a:buChar char="l"/>
            </a:pPr>
            <a:r>
              <a:rPr lang="en-GB" altLang="zh-CN" sz="2000" dirty="0">
                <a:solidFill>
                  <a:srgbClr val="C00000"/>
                </a:solidFill>
              </a:rPr>
              <a:t>Concrete class</a:t>
            </a:r>
            <a:r>
              <a:rPr lang="zh-CN" altLang="en-US" sz="2000" dirty="0">
                <a:solidFill>
                  <a:srgbClr val="C00000"/>
                </a:solidFill>
              </a:rPr>
              <a:t>（具体类）</a:t>
            </a:r>
            <a:r>
              <a:rPr lang="en-GB" altLang="zh-CN" sz="2000" dirty="0"/>
              <a:t>— a class that can have instances</a:t>
            </a:r>
            <a:r>
              <a:rPr lang="zh-CN" altLang="en-US" sz="2000" dirty="0"/>
              <a:t>（可以有实例的类）</a:t>
            </a:r>
            <a:endParaRPr lang="en-GB" altLang="zh-CN" sz="2400" dirty="0"/>
          </a:p>
        </p:txBody>
      </p:sp>
      <p:pic>
        <p:nvPicPr>
          <p:cNvPr id="33798"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1295400"/>
            <a:ext cx="7162800" cy="3744913"/>
          </a:xfrm>
          <a:noFill/>
        </p:spPr>
      </p:pic>
      <p:sp>
        <p:nvSpPr>
          <p:cNvPr id="33799"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3939A34-4FF7-44E6-844E-62DBF6769660}" type="slidenum">
              <a:rPr lang="en-US" altLang="en-US"/>
              <a:pPr eaLnBrk="1" hangingPunct="1"/>
              <a:t>50</a:t>
            </a:fld>
            <a:endParaRPr lang="en-US" altLang="en-US"/>
          </a:p>
        </p:txBody>
      </p:sp>
      <p:sp>
        <p:nvSpPr>
          <p:cNvPr id="34819"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Generalization/Specialization</a:t>
            </a:r>
            <a:br>
              <a:rPr lang="en-US" altLang="zh-CN" sz="2800" dirty="0">
                <a:ea typeface="宋体" pitchFamily="2" charset="-122"/>
              </a:rPr>
            </a:br>
            <a:r>
              <a:rPr lang="en-US" altLang="zh-CN" sz="2000" dirty="0">
                <a:ea typeface="宋体" pitchFamily="2" charset="-122"/>
              </a:rPr>
              <a:t>Inheritance for the Bank with Special Types of Accounts</a:t>
            </a:r>
          </a:p>
        </p:txBody>
      </p:sp>
      <p:sp>
        <p:nvSpPr>
          <p:cNvPr id="34820" name="Rectangle 3"/>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sp>
        <p:nvSpPr>
          <p:cNvPr id="34821" name="Rectangle 7"/>
          <p:cNvSpPr>
            <a:spLocks noChangeArrowheads="1"/>
          </p:cNvSpPr>
          <p:nvPr/>
        </p:nvSpPr>
        <p:spPr bwMode="auto">
          <a:xfrm>
            <a:off x="0" y="2057400"/>
            <a:ext cx="26670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dirty="0"/>
              <a:t>A </a:t>
            </a:r>
            <a:r>
              <a:rPr lang="en-GB" altLang="zh-CN" dirty="0" err="1"/>
              <a:t>SavingsAccount</a:t>
            </a:r>
            <a:r>
              <a:rPr lang="zh-CN" altLang="en-US" dirty="0"/>
              <a:t>（储蓄账户）</a:t>
            </a:r>
            <a:r>
              <a:rPr lang="en-GB" altLang="zh-CN" dirty="0"/>
              <a:t> has 4 attributes</a:t>
            </a:r>
          </a:p>
          <a:p>
            <a:pPr eaLnBrk="1" hangingPunct="1">
              <a:spcBef>
                <a:spcPct val="20000"/>
              </a:spcBef>
              <a:buClr>
                <a:schemeClr val="tx2"/>
              </a:buClr>
              <a:buSzPct val="70000"/>
              <a:buFont typeface="Wingdings" pitchFamily="2" charset="2"/>
              <a:buChar char="l"/>
            </a:pPr>
            <a:r>
              <a:rPr lang="en-GB" altLang="zh-CN" dirty="0"/>
              <a:t>A </a:t>
            </a:r>
            <a:r>
              <a:rPr lang="en-GB" altLang="zh-CN" dirty="0" err="1"/>
              <a:t>CheckingAccount</a:t>
            </a:r>
            <a:r>
              <a:rPr lang="zh-CN" altLang="en-US" dirty="0"/>
              <a:t>（支票账户）</a:t>
            </a:r>
            <a:r>
              <a:rPr lang="en-GB" altLang="zh-CN" dirty="0"/>
              <a:t>Has 5 attributes </a:t>
            </a:r>
          </a:p>
          <a:p>
            <a:pPr eaLnBrk="1" hangingPunct="1">
              <a:spcBef>
                <a:spcPct val="20000"/>
              </a:spcBef>
              <a:buClr>
                <a:schemeClr val="tx2"/>
              </a:buClr>
              <a:buSzPct val="70000"/>
              <a:buFont typeface="Wingdings" pitchFamily="2" charset="2"/>
              <a:buChar char="l"/>
            </a:pPr>
            <a:r>
              <a:rPr lang="en-GB" altLang="zh-CN" dirty="0"/>
              <a:t>Note: the subclasses inherit the associations, too</a:t>
            </a:r>
          </a:p>
        </p:txBody>
      </p:sp>
      <p:pic>
        <p:nvPicPr>
          <p:cNvPr id="34822"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3200" y="1219200"/>
            <a:ext cx="4973638" cy="5029200"/>
          </a:xfrm>
          <a:noFill/>
        </p:spPr>
      </p:pic>
      <p:sp>
        <p:nvSpPr>
          <p:cNvPr id="348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34824" name="Rectangle 8"/>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BF23E34-C813-4E63-AEF9-557DE5E37774}" type="slidenum">
              <a:rPr lang="en-US" altLang="en-US"/>
              <a:pPr eaLnBrk="1" hangingPunct="1"/>
              <a:t>51</a:t>
            </a:fld>
            <a:endParaRPr lang="en-US" altLang="en-US"/>
          </a:p>
        </p:txBody>
      </p:sp>
      <p:sp>
        <p:nvSpPr>
          <p:cNvPr id="35843"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More Complex Issues about Classes:</a:t>
            </a:r>
            <a:br>
              <a:rPr lang="en-US" altLang="zh-CN" sz="3200" dirty="0">
                <a:ea typeface="宋体" pitchFamily="2" charset="-122"/>
              </a:rPr>
            </a:br>
            <a:r>
              <a:rPr lang="en-US" altLang="zh-CN" sz="2800" dirty="0">
                <a:ea typeface="宋体" pitchFamily="2" charset="-122"/>
              </a:rPr>
              <a:t>Whole Part Relationships</a:t>
            </a:r>
          </a:p>
        </p:txBody>
      </p:sp>
      <p:sp>
        <p:nvSpPr>
          <p:cNvPr id="35844" name="Rectangle 3"/>
          <p:cNvSpPr>
            <a:spLocks noChangeArrowheads="1"/>
          </p:cNvSpPr>
          <p:nvPr/>
        </p:nvSpPr>
        <p:spPr bwMode="auto">
          <a:xfrm>
            <a:off x="533400" y="1219200"/>
            <a:ext cx="80010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Whole-part relationship</a:t>
            </a:r>
            <a:r>
              <a:rPr lang="zh-CN" altLang="en-US" sz="2400" dirty="0"/>
              <a:t>（整体</a:t>
            </a:r>
            <a:r>
              <a:rPr lang="en-US" altLang="zh-CN" sz="2400" dirty="0"/>
              <a:t>-</a:t>
            </a:r>
            <a:r>
              <a:rPr lang="zh-CN" altLang="en-US" sz="2400" dirty="0"/>
              <a:t>部分关联）</a:t>
            </a:r>
            <a:r>
              <a:rPr lang="en-GB" altLang="zh-CN" sz="2400" dirty="0"/>
              <a:t>— a relationship between classes where one class is part of or a component portion of another class</a:t>
            </a:r>
            <a:r>
              <a:rPr lang="zh-CN" altLang="en-US" sz="2400" dirty="0"/>
              <a:t>（其中一个类是另一个类的一部分或组成部分）</a:t>
            </a:r>
            <a:endParaRPr lang="en-GB" altLang="zh-CN" sz="2800" dirty="0"/>
          </a:p>
          <a:p>
            <a:pPr eaLnBrk="1" hangingPunct="1">
              <a:spcBef>
                <a:spcPct val="20000"/>
              </a:spcBef>
              <a:buClr>
                <a:schemeClr val="tx2"/>
              </a:buClr>
              <a:buSzPct val="70000"/>
              <a:buFont typeface="Wingdings" pitchFamily="2" charset="2"/>
              <a:buChar char="l"/>
            </a:pPr>
            <a:r>
              <a:rPr lang="en-GB" altLang="zh-CN" sz="2400" dirty="0"/>
              <a:t>Aggregation</a:t>
            </a:r>
            <a:r>
              <a:rPr lang="zh-CN" altLang="en-US" sz="2400" dirty="0"/>
              <a:t>（聚合）</a:t>
            </a:r>
            <a:r>
              <a:rPr lang="en-GB" altLang="zh-CN" sz="2400" dirty="0"/>
              <a:t>— a whole part relationship where the component part exists separately and can be removed and replaced (UML diamond symbol, next slide)</a:t>
            </a:r>
          </a:p>
          <a:p>
            <a:pPr lvl="1" eaLnBrk="1" hangingPunct="1">
              <a:spcBef>
                <a:spcPct val="20000"/>
              </a:spcBef>
              <a:buClr>
                <a:schemeClr val="accent2"/>
              </a:buClr>
              <a:buSzPct val="70000"/>
              <a:buFont typeface="Wingdings" pitchFamily="2" charset="2"/>
              <a:buChar char="l"/>
            </a:pPr>
            <a:r>
              <a:rPr lang="en-GB" altLang="zh-CN" sz="2000" dirty="0"/>
              <a:t>Computer has disk storage devices</a:t>
            </a:r>
            <a:r>
              <a:rPr lang="zh-CN" altLang="en-US" sz="2000" dirty="0"/>
              <a:t>（计算机有磁盘存储）</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Car has wheels</a:t>
            </a:r>
            <a:r>
              <a:rPr lang="zh-CN" altLang="en-US" sz="2000" dirty="0"/>
              <a:t>（汽车有轮子）</a:t>
            </a:r>
            <a:endParaRPr lang="en-GB" altLang="zh-CN" sz="2000" dirty="0"/>
          </a:p>
          <a:p>
            <a:pPr eaLnBrk="1" hangingPunct="1">
              <a:spcBef>
                <a:spcPct val="20000"/>
              </a:spcBef>
              <a:buClr>
                <a:schemeClr val="tx2"/>
              </a:buClr>
              <a:buSzPct val="70000"/>
              <a:buFont typeface="Wingdings" pitchFamily="2" charset="2"/>
              <a:buChar char="l"/>
            </a:pPr>
            <a:r>
              <a:rPr lang="en-GB" altLang="zh-CN" sz="2400" dirty="0"/>
              <a:t>Composition</a:t>
            </a:r>
            <a:r>
              <a:rPr lang="zh-CN" altLang="en-US" sz="2400" dirty="0"/>
              <a:t>（合成）</a:t>
            </a:r>
            <a:r>
              <a:rPr lang="en-GB" altLang="zh-CN" sz="2400" dirty="0"/>
              <a:t>— a whole part relationship where the parts can no longer be removed (filled in diamond symbol)</a:t>
            </a:r>
          </a:p>
          <a:p>
            <a:pPr lvl="1" eaLnBrk="1" hangingPunct="1">
              <a:spcBef>
                <a:spcPct val="20000"/>
              </a:spcBef>
              <a:buClr>
                <a:schemeClr val="accent2"/>
              </a:buClr>
              <a:buSzPct val="70000"/>
              <a:buFont typeface="Wingdings" pitchFamily="2" charset="2"/>
              <a:buChar char="l"/>
            </a:pPr>
            <a:r>
              <a:rPr lang="en-GB" altLang="zh-CN" sz="2000" dirty="0"/>
              <a:t>Hand has fingers</a:t>
            </a:r>
            <a:r>
              <a:rPr lang="zh-CN" altLang="en-US" sz="2000" dirty="0"/>
              <a:t>（手有手指）</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Chip has circuits </a:t>
            </a:r>
            <a:r>
              <a:rPr lang="zh-CN" altLang="en-US" sz="2000" dirty="0"/>
              <a:t>（芯片有电路）</a:t>
            </a:r>
            <a:endParaRPr lang="en-GB"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FEF4E647-6CBB-4AA1-ABBC-9149A621D903}" type="slidenum">
              <a:rPr lang="en-US" altLang="en-US"/>
              <a:pPr eaLnBrk="1" hangingPunct="1"/>
              <a:t>52</a:t>
            </a:fld>
            <a:endParaRPr lang="en-US" altLang="en-US"/>
          </a:p>
        </p:txBody>
      </p:sp>
      <p:sp>
        <p:nvSpPr>
          <p:cNvPr id="36867"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Whole Part Relationships</a:t>
            </a:r>
            <a:br>
              <a:rPr lang="en-US" altLang="zh-CN" sz="2800" dirty="0">
                <a:ea typeface="宋体" pitchFamily="2" charset="-122"/>
              </a:rPr>
            </a:br>
            <a:r>
              <a:rPr lang="en-US" altLang="zh-CN" sz="2800" dirty="0">
                <a:ea typeface="宋体" pitchFamily="2" charset="-122"/>
              </a:rPr>
              <a:t>Computer and its Parts</a:t>
            </a:r>
            <a:endParaRPr lang="en-US" altLang="zh-CN" sz="2000" dirty="0">
              <a:ea typeface="宋体" pitchFamily="2" charset="-122"/>
            </a:endParaRPr>
          </a:p>
        </p:txBody>
      </p:sp>
      <p:sp>
        <p:nvSpPr>
          <p:cNvPr id="36868" name="Rectangle 3"/>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sp>
        <p:nvSpPr>
          <p:cNvPr id="36869" name="Rectangle 5"/>
          <p:cNvSpPr>
            <a:spLocks noChangeArrowheads="1"/>
          </p:cNvSpPr>
          <p:nvPr/>
        </p:nvSpPr>
        <p:spPr bwMode="auto">
          <a:xfrm>
            <a:off x="7620" y="1343660"/>
            <a:ext cx="2514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dirty="0"/>
              <a:t>Note: this is </a:t>
            </a:r>
            <a:r>
              <a:rPr lang="en-US" altLang="zh-CN" dirty="0"/>
              <a:t>aggregation</a:t>
            </a:r>
            <a:r>
              <a:rPr lang="en-GB" altLang="zh-CN" dirty="0"/>
              <a:t>, with diamond symbol. </a:t>
            </a:r>
          </a:p>
          <a:p>
            <a:pPr eaLnBrk="1" hangingPunct="1">
              <a:spcBef>
                <a:spcPct val="20000"/>
              </a:spcBef>
              <a:buClr>
                <a:schemeClr val="tx2"/>
              </a:buClr>
              <a:buSzPct val="70000"/>
              <a:buFont typeface="Wingdings" pitchFamily="2" charset="2"/>
              <a:buChar char="l"/>
            </a:pPr>
            <a:r>
              <a:rPr lang="en-GB" altLang="zh-CN" dirty="0"/>
              <a:t>Whole part can have multiplicity symbols, too (not shown)</a:t>
            </a:r>
          </a:p>
        </p:txBody>
      </p:sp>
      <p:pic>
        <p:nvPicPr>
          <p:cNvPr id="36870"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14600" y="1295400"/>
            <a:ext cx="5943600" cy="4792663"/>
          </a:xfrm>
          <a:noFill/>
        </p:spPr>
      </p:pic>
      <p:sp>
        <p:nvSpPr>
          <p:cNvPr id="36871"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68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40F4633-4B9F-4B84-AFCD-5EA4280CAB09}" type="slidenum">
              <a:rPr lang="en-US" altLang="en-US"/>
              <a:pPr eaLnBrk="1" hangingPunct="1"/>
              <a:t>53</a:t>
            </a:fld>
            <a:endParaRPr lang="en-US" altLang="en-US"/>
          </a:p>
        </p:txBody>
      </p:sp>
      <p:sp>
        <p:nvSpPr>
          <p:cNvPr id="37891" name="Rectangle 2"/>
          <p:cNvSpPr>
            <a:spLocks noGrp="1" noChangeArrowheads="1"/>
          </p:cNvSpPr>
          <p:nvPr>
            <p:ph type="title"/>
          </p:nvPr>
        </p:nvSpPr>
        <p:spPr>
          <a:xfrm>
            <a:off x="457200" y="122238"/>
            <a:ext cx="7543800" cy="1020762"/>
          </a:xfrm>
        </p:spPr>
        <p:txBody>
          <a:bodyPr/>
          <a:lstStyle/>
          <a:p>
            <a:pPr eaLnBrk="1" hangingPunct="1"/>
            <a:r>
              <a:rPr lang="en-GB" altLang="zh-CN" sz="3600"/>
              <a:t>More on UML Relationships</a:t>
            </a:r>
            <a:endParaRPr lang="en-US" altLang="zh-CN" sz="3600">
              <a:ea typeface="宋体" pitchFamily="2" charset="-122"/>
            </a:endParaRPr>
          </a:p>
        </p:txBody>
      </p:sp>
      <p:sp>
        <p:nvSpPr>
          <p:cNvPr id="37892" name="Rectangle 3"/>
          <p:cNvSpPr>
            <a:spLocks noChangeArrowheads="1"/>
          </p:cNvSpPr>
          <p:nvPr/>
        </p:nvSpPr>
        <p:spPr bwMode="auto">
          <a:xfrm>
            <a:off x="533400" y="15240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987425" indent="-293688"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There are actually three types of </a:t>
            </a:r>
            <a:r>
              <a:rPr lang="en-GB" altLang="zh-CN" sz="2600" b="1" i="1" dirty="0"/>
              <a:t>relationships</a:t>
            </a:r>
            <a:r>
              <a:rPr lang="en-GB" altLang="zh-CN" sz="2600" dirty="0"/>
              <a:t> in class diagrams</a:t>
            </a:r>
            <a:r>
              <a:rPr lang="zh-CN" altLang="en-US" sz="2600" dirty="0"/>
              <a:t>（在类图中有三种类型的关系）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Association Relationships</a:t>
            </a:r>
            <a:r>
              <a:rPr lang="zh-CN" altLang="en-US" sz="2200" dirty="0"/>
              <a:t>（关联关系）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These are associations discussed previously, just like ERD relationships</a:t>
            </a:r>
          </a:p>
          <a:p>
            <a:pPr lvl="1" eaLnBrk="1" hangingPunct="1">
              <a:spcBef>
                <a:spcPct val="20000"/>
              </a:spcBef>
              <a:buClr>
                <a:schemeClr val="accent2"/>
              </a:buClr>
              <a:buSzPct val="70000"/>
              <a:buFont typeface="Wingdings" pitchFamily="2" charset="2"/>
              <a:buChar char="l"/>
            </a:pPr>
            <a:r>
              <a:rPr lang="en-GB" altLang="zh-CN" sz="2200" dirty="0"/>
              <a:t>Whole Part Relationships</a:t>
            </a:r>
            <a:r>
              <a:rPr lang="zh-CN" altLang="en-US" sz="2200" dirty="0"/>
              <a:t>（整体</a:t>
            </a:r>
            <a:r>
              <a:rPr lang="en-US" altLang="zh-CN" sz="2200" dirty="0"/>
              <a:t>-</a:t>
            </a:r>
            <a:r>
              <a:rPr lang="zh-CN" altLang="en-US" sz="2200" dirty="0"/>
              <a:t>部分关系）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One class is a component or part of another class</a:t>
            </a:r>
          </a:p>
          <a:p>
            <a:pPr lvl="1" eaLnBrk="1" hangingPunct="1">
              <a:spcBef>
                <a:spcPct val="20000"/>
              </a:spcBef>
              <a:buClr>
                <a:schemeClr val="accent2"/>
              </a:buClr>
              <a:buSzPct val="70000"/>
              <a:buFont typeface="Wingdings" pitchFamily="2" charset="2"/>
              <a:buChar char="l"/>
            </a:pPr>
            <a:r>
              <a:rPr lang="en-GB" altLang="zh-CN" sz="2200" dirty="0"/>
              <a:t>Generalizations/Specialization Relationships</a:t>
            </a:r>
            <a:r>
              <a:rPr lang="zh-CN" altLang="en-US" sz="2200" dirty="0"/>
              <a:t>（泛化</a:t>
            </a:r>
            <a:r>
              <a:rPr lang="en-US" altLang="zh-CN" sz="2200" dirty="0"/>
              <a:t>/</a:t>
            </a:r>
            <a:r>
              <a:rPr lang="zh-CN" altLang="en-US" sz="2200" dirty="0"/>
              <a:t>特化关系）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Inheritance</a:t>
            </a:r>
          </a:p>
        </p:txBody>
      </p:sp>
      <p:sp>
        <p:nvSpPr>
          <p:cNvPr id="3789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78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89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54</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itchFamily="2" charset="-122"/>
              </a:rPr>
              <a:t>“Things” in the Problem Domain</a:t>
            </a: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ea typeface="宋体" pitchFamily="2" charset="-122"/>
              </a:rPr>
              <a:t>The Entity-Relationship Diagram</a:t>
            </a:r>
          </a:p>
          <a:p>
            <a:pPr eaLnBrk="1" hangingPunct="1"/>
            <a:r>
              <a:rPr lang="en-US" altLang="zh-CN" sz="3200" dirty="0">
                <a:ea typeface="宋体" pitchFamily="2" charset="-122"/>
              </a:rPr>
              <a:t>The Domain Model Class Diagram</a:t>
            </a:r>
          </a:p>
          <a:p>
            <a:pPr eaLnBrk="1" hangingPunct="1"/>
            <a:r>
              <a:rPr lang="en-US" altLang="zh-CN" sz="3200" dirty="0">
                <a:solidFill>
                  <a:srgbClr val="C00000"/>
                </a:solidFill>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C8FBE3-9E5A-48E8-ACBD-008B231671B3}" type="slidenum">
              <a:rPr lang="en-US" altLang="en-US"/>
              <a:pPr eaLnBrk="1" hangingPunct="1"/>
              <a:t>55</a:t>
            </a:fld>
            <a:endParaRPr lang="en-US" altLang="en-US"/>
          </a:p>
        </p:txBody>
      </p:sp>
      <p:sp>
        <p:nvSpPr>
          <p:cNvPr id="38915" name="Rectangle 2"/>
          <p:cNvSpPr>
            <a:spLocks noGrp="1" noChangeArrowheads="1"/>
          </p:cNvSpPr>
          <p:nvPr>
            <p:ph type="title"/>
          </p:nvPr>
        </p:nvSpPr>
        <p:spPr>
          <a:xfrm>
            <a:off x="457200" y="122238"/>
            <a:ext cx="7543800" cy="1020762"/>
          </a:xfrm>
        </p:spPr>
        <p:txBody>
          <a:bodyPr/>
          <a:lstStyle/>
          <a:p>
            <a:pPr eaLnBrk="1" hangingPunct="1"/>
            <a:r>
              <a:rPr lang="en-GB" altLang="zh-CN" sz="3200" dirty="0"/>
              <a:t>RMO CSMS Project</a:t>
            </a:r>
            <a:br>
              <a:rPr lang="en-GB" altLang="zh-CN" sz="3200" dirty="0"/>
            </a:br>
            <a:r>
              <a:rPr lang="en-GB" altLang="zh-CN" sz="2800" dirty="0"/>
              <a:t>Domain Model Class Diagrams</a:t>
            </a:r>
            <a:endParaRPr lang="en-US" altLang="zh-CN" sz="2800" dirty="0">
              <a:ea typeface="宋体" pitchFamily="2" charset="-122"/>
            </a:endParaRPr>
          </a:p>
        </p:txBody>
      </p:sp>
      <p:sp>
        <p:nvSpPr>
          <p:cNvPr id="38916" name="Rectangle 3"/>
          <p:cNvSpPr>
            <a:spLocks noChangeArrowheads="1"/>
          </p:cNvSpPr>
          <p:nvPr/>
        </p:nvSpPr>
        <p:spPr bwMode="auto">
          <a:xfrm>
            <a:off x="533400" y="1295400"/>
            <a:ext cx="8001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There are several ways to create the domain model class diagram for a project</a:t>
            </a:r>
          </a:p>
          <a:p>
            <a:pPr eaLnBrk="1" hangingPunct="1">
              <a:spcBef>
                <a:spcPct val="20000"/>
              </a:spcBef>
              <a:buClr>
                <a:schemeClr val="tx2"/>
              </a:buClr>
              <a:buSzPct val="70000"/>
              <a:buFont typeface="Wingdings" pitchFamily="2" charset="2"/>
              <a:buChar char="l"/>
            </a:pPr>
            <a:r>
              <a:rPr lang="en-GB" altLang="zh-CN" sz="2600" dirty="0"/>
              <a:t>RMO CSMS has 27 domain classes overall </a:t>
            </a:r>
            <a:r>
              <a:rPr lang="zh-CN" altLang="en-US" sz="2600" dirty="0"/>
              <a:t>（</a:t>
            </a:r>
            <a:r>
              <a:rPr lang="en-US" altLang="zh-CN" sz="2800" dirty="0">
                <a:solidFill>
                  <a:srgbClr val="2A2B2E"/>
                </a:solidFill>
                <a:latin typeface="PingFang SC"/>
              </a:rPr>
              <a:t>RMO CSMS</a:t>
            </a:r>
            <a:r>
              <a:rPr lang="zh-CN" altLang="en-US" sz="2800" dirty="0">
                <a:solidFill>
                  <a:srgbClr val="2A2B2E"/>
                </a:solidFill>
                <a:latin typeface="PingFang SC"/>
              </a:rPr>
              <a:t>总共有</a:t>
            </a:r>
            <a:r>
              <a:rPr lang="en-US" altLang="zh-CN" sz="2800" dirty="0">
                <a:solidFill>
                  <a:srgbClr val="2A2B2E"/>
                </a:solidFill>
                <a:latin typeface="PingFang SC"/>
              </a:rPr>
              <a:t>27</a:t>
            </a:r>
            <a:r>
              <a:rPr lang="zh-CN" altLang="en-US" sz="2800" dirty="0">
                <a:solidFill>
                  <a:srgbClr val="2A2B2E"/>
                </a:solidFill>
                <a:latin typeface="PingFang SC"/>
              </a:rPr>
              <a:t>个域类</a:t>
            </a:r>
            <a:r>
              <a:rPr lang="zh-CN" altLang="en-US" sz="2800" dirty="0"/>
              <a:t>）</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Can create </a:t>
            </a:r>
            <a:r>
              <a:rPr lang="en-GB" altLang="zh-CN" sz="2600" u="sng" dirty="0"/>
              <a:t>one domain model class diagram per subsystem </a:t>
            </a:r>
            <a:r>
              <a:rPr lang="en-GB" altLang="zh-CN" sz="2600" dirty="0"/>
              <a:t>for those working on a subsystem</a:t>
            </a:r>
            <a:r>
              <a:rPr lang="zh-CN" altLang="en-US" sz="2600" dirty="0"/>
              <a:t>（可以为每个子系统创建一个域模型类图）</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Can create </a:t>
            </a:r>
            <a:r>
              <a:rPr lang="en-GB" altLang="zh-CN" sz="2600" u="sng" dirty="0"/>
              <a:t>one overall domain model class diagram</a:t>
            </a:r>
            <a:r>
              <a:rPr lang="en-GB" altLang="zh-CN" sz="2600" dirty="0"/>
              <a:t> to provide an overview of the whole system</a:t>
            </a:r>
            <a:r>
              <a:rPr lang="zh-CN" altLang="en-US" sz="2600" dirty="0"/>
              <a:t>（可以创建一个整体的域模型类图来提供整个系统的概览）</a:t>
            </a:r>
            <a:endParaRPr lang="en-GB" altLang="zh-CN" sz="2600" dirty="0"/>
          </a:p>
        </p:txBody>
      </p:sp>
      <p:sp>
        <p:nvSpPr>
          <p:cNvPr id="3891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89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56</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dirty="0"/>
              <a:t>RMO CSMS Project</a:t>
            </a:r>
            <a:br>
              <a:rPr lang="en-GB" altLang="zh-CN" sz="2800" dirty="0"/>
            </a:br>
            <a:r>
              <a:rPr lang="en-GB" altLang="zh-CN" sz="2000" dirty="0"/>
              <a:t>Sales Subsystem Domain Model Class Diagrams</a:t>
            </a:r>
            <a:endParaRPr lang="en-US" altLang="zh-CN" sz="2000" dirty="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3200400" y="365760"/>
            <a:ext cx="3733801" cy="2019300"/>
            <a:chOff x="3124200" y="190501"/>
            <a:chExt cx="3733801" cy="2019300"/>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a:off x="3124200" y="1143000"/>
              <a:ext cx="2438400" cy="1066800"/>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5400000" flipH="1" flipV="1">
              <a:off x="5219700" y="571501"/>
              <a:ext cx="1981201" cy="1295400"/>
            </a:xfrm>
            <a:prstGeom prst="bentConnector3">
              <a:avLst>
                <a:gd name="adj1" fmla="val 52308"/>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flipV="1">
              <a:off x="3124200" y="190501"/>
              <a:ext cx="3733801" cy="952497"/>
            </a:xfrm>
            <a:prstGeom prst="bentConnector3">
              <a:avLst>
                <a:gd name="adj1" fmla="val -1429"/>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F3E90919-4A4D-476D-B498-E6922DD06700}"/>
              </a:ext>
            </a:extLst>
          </p:cNvPr>
          <p:cNvSpPr txBox="1"/>
          <p:nvPr/>
        </p:nvSpPr>
        <p:spPr>
          <a:xfrm>
            <a:off x="252046" y="3163670"/>
            <a:ext cx="2341563" cy="646331"/>
          </a:xfrm>
          <a:prstGeom prst="rect">
            <a:avLst/>
          </a:prstGeom>
          <a:noFill/>
        </p:spPr>
        <p:txBody>
          <a:bodyPr wrap="square">
            <a:spAutoFit/>
          </a:bodyPr>
          <a:lstStyle/>
          <a:p>
            <a:r>
              <a:rPr lang="zh-CN" altLang="en-US" b="0" i="0" dirty="0">
                <a:solidFill>
                  <a:srgbClr val="2A2B2E"/>
                </a:solidFill>
                <a:effectLst/>
                <a:latin typeface="PingFang SC"/>
              </a:rPr>
              <a:t>销售子系统</a:t>
            </a:r>
            <a:endParaRPr lang="en-US" altLang="zh-CN" b="0" i="0" dirty="0">
              <a:solidFill>
                <a:srgbClr val="2A2B2E"/>
              </a:solidFill>
              <a:effectLst/>
              <a:latin typeface="PingFang SC"/>
            </a:endParaRPr>
          </a:p>
          <a:p>
            <a:r>
              <a:rPr lang="zh-CN" altLang="en-US" b="0" i="0" dirty="0">
                <a:solidFill>
                  <a:srgbClr val="2A2B2E"/>
                </a:solidFill>
                <a:effectLst/>
                <a:latin typeface="PingFang SC"/>
              </a:rPr>
              <a:t>域模型类图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57</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3200400" y="1333497"/>
            <a:ext cx="2438402" cy="1066804"/>
            <a:chOff x="3124200" y="1142998"/>
            <a:chExt cx="2438402" cy="1066804"/>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a:off x="3124200" y="2034541"/>
              <a:ext cx="2438400" cy="175259"/>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10800000">
              <a:off x="3124201" y="1142998"/>
              <a:ext cx="2438401" cy="1066804"/>
            </a:xfrm>
            <a:prstGeom prst="bentConnector3">
              <a:avLst>
                <a:gd name="adj1" fmla="val 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rot="5400000">
              <a:off x="2684779" y="1588768"/>
              <a:ext cx="885193" cy="6352"/>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4296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58</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3198967" y="1828800"/>
            <a:ext cx="3649497" cy="1600200"/>
            <a:chOff x="3124200" y="781047"/>
            <a:chExt cx="2432048" cy="1253495"/>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flipV="1">
              <a:off x="3124200" y="781047"/>
              <a:ext cx="2432048" cy="1253495"/>
            </a:xfrm>
            <a:prstGeom prst="bentConnector3">
              <a:avLst>
                <a:gd name="adj1" fmla="val 100807"/>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10800000" flipV="1">
              <a:off x="3124202" y="840736"/>
              <a:ext cx="2432046" cy="302261"/>
            </a:xfrm>
            <a:prstGeom prst="bentConnector3">
              <a:avLst>
                <a:gd name="adj1" fmla="val 28146"/>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rot="5400000">
              <a:off x="2684779" y="1588768"/>
              <a:ext cx="885193" cy="6352"/>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13470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59</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5867400" y="2743201"/>
            <a:ext cx="2354097" cy="2971800"/>
            <a:chOff x="3124200" y="840736"/>
            <a:chExt cx="2432048" cy="1193806"/>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rot="5400000" flipH="1" flipV="1">
              <a:off x="3743321" y="221615"/>
              <a:ext cx="1193806" cy="2432048"/>
            </a:xfrm>
            <a:prstGeom prst="bentConnector3">
              <a:avLst>
                <a:gd name="adj1" fmla="val 349"/>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10800000" flipV="1">
              <a:off x="3124202" y="840736"/>
              <a:ext cx="2432046" cy="302261"/>
            </a:xfrm>
            <a:prstGeom prst="bentConnector3">
              <a:avLst>
                <a:gd name="adj1" fmla="val 100522"/>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rot="5400000">
              <a:off x="2684779" y="1588768"/>
              <a:ext cx="885193" cy="6352"/>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84348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60</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0" name="组合 9">
            <a:extLst>
              <a:ext uri="{FF2B5EF4-FFF2-40B4-BE49-F238E27FC236}">
                <a16:creationId xmlns:a16="http://schemas.microsoft.com/office/drawing/2014/main" id="{38BDC863-725F-48B1-BBB3-ABAF76956F5A}"/>
              </a:ext>
            </a:extLst>
          </p:cNvPr>
          <p:cNvGrpSpPr/>
          <p:nvPr/>
        </p:nvGrpSpPr>
        <p:grpSpPr>
          <a:xfrm>
            <a:off x="3962400" y="3526814"/>
            <a:ext cx="1981202" cy="1883386"/>
            <a:chOff x="3124199" y="1149347"/>
            <a:chExt cx="2258332" cy="885195"/>
          </a:xfrm>
        </p:grpSpPr>
        <p:cxnSp>
          <p:nvCxnSpPr>
            <p:cNvPr id="11" name="连接符: 肘形 10">
              <a:extLst>
                <a:ext uri="{FF2B5EF4-FFF2-40B4-BE49-F238E27FC236}">
                  <a16:creationId xmlns:a16="http://schemas.microsoft.com/office/drawing/2014/main" id="{A0441212-BDD9-4B74-B641-10D675DFA0ED}"/>
                </a:ext>
              </a:extLst>
            </p:cNvPr>
            <p:cNvCxnSpPr>
              <a:cxnSpLocks/>
            </p:cNvCxnSpPr>
            <p:nvPr/>
          </p:nvCxnSpPr>
          <p:spPr>
            <a:xfrm flipV="1">
              <a:off x="3124201" y="1180972"/>
              <a:ext cx="2258330" cy="853570"/>
            </a:xfrm>
            <a:prstGeom prst="bentConnector3">
              <a:avLst>
                <a:gd name="adj1" fmla="val 109231"/>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91E9C6C5-284B-49CA-8EDF-69D5EFF41CC2}"/>
                </a:ext>
              </a:extLst>
            </p:cNvPr>
            <p:cNvCxnSpPr>
              <a:cxnSpLocks/>
            </p:cNvCxnSpPr>
            <p:nvPr/>
          </p:nvCxnSpPr>
          <p:spPr>
            <a:xfrm rot="10800000">
              <a:off x="3124199" y="1175002"/>
              <a:ext cx="2171473" cy="5969"/>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29B0452C-1053-44ED-9951-190F81D0813D}"/>
                </a:ext>
              </a:extLst>
            </p:cNvPr>
            <p:cNvCxnSpPr>
              <a:cxnSpLocks/>
            </p:cNvCxnSpPr>
            <p:nvPr/>
          </p:nvCxnSpPr>
          <p:spPr>
            <a:xfrm rot="5400000">
              <a:off x="2684779" y="1588768"/>
              <a:ext cx="885193" cy="6352"/>
            </a:xfrm>
            <a:prstGeom prst="bentConnector3">
              <a:avLst>
                <a:gd name="adj1" fmla="val 3337"/>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61701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61</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 name="矩形 1">
            <a:extLst>
              <a:ext uri="{FF2B5EF4-FFF2-40B4-BE49-F238E27FC236}">
                <a16:creationId xmlns:a16="http://schemas.microsoft.com/office/drawing/2014/main" id="{4E18E2B7-C5C3-41DD-9A2E-B86623F1266B}"/>
              </a:ext>
            </a:extLst>
          </p:cNvPr>
          <p:cNvSpPr/>
          <p:nvPr/>
        </p:nvSpPr>
        <p:spPr>
          <a:xfrm>
            <a:off x="3124200" y="5334000"/>
            <a:ext cx="1143000" cy="11430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404705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62</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dirty="0"/>
              <a:t>RMO CSMS Project</a:t>
            </a:r>
            <a:br>
              <a:rPr lang="en-GB" altLang="zh-CN" sz="2800" dirty="0"/>
            </a:br>
            <a:r>
              <a:rPr lang="en-GB" altLang="zh-CN" sz="2000" dirty="0"/>
              <a:t>Customer Account Subsystem Domain Model Class Diagram</a:t>
            </a:r>
            <a:endParaRPr lang="en-US" altLang="zh-CN" sz="2000" dirty="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2910840" y="228600"/>
            <a:ext cx="1584960" cy="32766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DF8FE7F3-1941-4FA2-A6A1-29882795A03E}"/>
              </a:ext>
            </a:extLst>
          </p:cNvPr>
          <p:cNvSpPr txBox="1"/>
          <p:nvPr/>
        </p:nvSpPr>
        <p:spPr>
          <a:xfrm>
            <a:off x="252046" y="3163670"/>
            <a:ext cx="2341563" cy="646331"/>
          </a:xfrm>
          <a:prstGeom prst="rect">
            <a:avLst/>
          </a:prstGeom>
          <a:noFill/>
        </p:spPr>
        <p:txBody>
          <a:bodyPr wrap="square">
            <a:spAutoFit/>
          </a:bodyPr>
          <a:lstStyle/>
          <a:p>
            <a:r>
              <a:rPr lang="zh-CN" altLang="en-US" b="0" i="0" dirty="0">
                <a:solidFill>
                  <a:srgbClr val="2A2B2E"/>
                </a:solidFill>
                <a:effectLst/>
                <a:latin typeface="PingFang SC"/>
              </a:rPr>
              <a:t>客户帐户子系统</a:t>
            </a:r>
            <a:endParaRPr lang="en-US" altLang="zh-CN" b="0" i="0" dirty="0">
              <a:solidFill>
                <a:srgbClr val="2A2B2E"/>
              </a:solidFill>
              <a:effectLst/>
              <a:latin typeface="PingFang SC"/>
            </a:endParaRPr>
          </a:p>
          <a:p>
            <a:r>
              <a:rPr lang="zh-CN" altLang="en-US" b="0" i="0" dirty="0">
                <a:solidFill>
                  <a:srgbClr val="2A2B2E"/>
                </a:solidFill>
                <a:effectLst/>
                <a:latin typeface="PingFang SC"/>
              </a:rPr>
              <a:t>域模型类图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63</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5124132" y="228600"/>
            <a:ext cx="3715068" cy="16002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029331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64</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2918460" y="1752600"/>
            <a:ext cx="5996940" cy="17526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127087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65</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5105400" y="3276600"/>
            <a:ext cx="1600200" cy="2922588"/>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03984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66</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2887980" y="2057400"/>
            <a:ext cx="1600200" cy="2922588"/>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42433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B5BDB30-B620-460B-B129-CE8798371611}" type="slidenum">
              <a:rPr lang="en-US" altLang="en-US"/>
              <a:pPr eaLnBrk="1" hangingPunct="1"/>
              <a:t>67</a:t>
            </a:fld>
            <a:endParaRPr lang="en-US" altLang="en-US"/>
          </a:p>
        </p:txBody>
      </p:sp>
      <p:sp>
        <p:nvSpPr>
          <p:cNvPr id="43011"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Complete Domain Model Class Diagram</a:t>
            </a:r>
            <a:endParaRPr lang="en-US" altLang="zh-CN" sz="2000">
              <a:ea typeface="宋体" pitchFamily="2" charset="-122"/>
            </a:endParaRPr>
          </a:p>
        </p:txBody>
      </p:sp>
      <p:pic>
        <p:nvPicPr>
          <p:cNvPr id="43012"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352800" y="152400"/>
            <a:ext cx="4000500" cy="6096000"/>
          </a:xfrm>
          <a:noFill/>
        </p:spPr>
      </p:pic>
      <p:sp>
        <p:nvSpPr>
          <p:cNvPr id="4301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30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24696CC-E04C-4261-83E4-4BCE1FD84EFF}" type="slidenum">
              <a:rPr lang="en-US" altLang="en-US"/>
              <a:pPr eaLnBrk="1" hangingPunct="1"/>
              <a:t>68</a:t>
            </a:fld>
            <a:endParaRPr lang="en-US" altLang="en-US"/>
          </a:p>
        </p:txBody>
      </p:sp>
      <p:sp>
        <p:nvSpPr>
          <p:cNvPr id="44035" name="Rectangle 2"/>
          <p:cNvSpPr>
            <a:spLocks noGrp="1" noChangeArrowheads="1"/>
          </p:cNvSpPr>
          <p:nvPr>
            <p:ph type="title"/>
          </p:nvPr>
        </p:nvSpPr>
        <p:spPr>
          <a:xfrm>
            <a:off x="457200" y="122238"/>
            <a:ext cx="7543800" cy="1020762"/>
          </a:xfrm>
        </p:spPr>
        <p:txBody>
          <a:bodyPr/>
          <a:lstStyle/>
          <a:p>
            <a:pPr eaLnBrk="1" hangingPunct="1"/>
            <a:r>
              <a:rPr lang="en-GB" altLang="zh-CN" sz="3200" dirty="0"/>
              <a:t>RMO CSMS Project</a:t>
            </a:r>
            <a:br>
              <a:rPr lang="en-GB" altLang="zh-CN" sz="3200" dirty="0"/>
            </a:br>
            <a:r>
              <a:rPr lang="en-GB" altLang="zh-CN" sz="2800" dirty="0"/>
              <a:t>Domain Model Class Diagrams</a:t>
            </a:r>
            <a:endParaRPr lang="en-US" altLang="zh-CN" sz="2800" dirty="0">
              <a:ea typeface="宋体" pitchFamily="2" charset="-122"/>
            </a:endParaRPr>
          </a:p>
        </p:txBody>
      </p:sp>
      <p:sp>
        <p:nvSpPr>
          <p:cNvPr id="44036" name="Rectangle 3"/>
          <p:cNvSpPr>
            <a:spLocks noChangeArrowheads="1"/>
          </p:cNvSpPr>
          <p:nvPr/>
        </p:nvSpPr>
        <p:spPr bwMode="auto">
          <a:xfrm>
            <a:off x="609600" y="10668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indent="0" eaLnBrk="1" hangingPunct="1">
              <a:spcBef>
                <a:spcPct val="20000"/>
              </a:spcBef>
              <a:buClr>
                <a:schemeClr val="tx2"/>
              </a:buClr>
              <a:buSzPct val="70000"/>
            </a:pPr>
            <a:r>
              <a:rPr lang="en-GB" altLang="zh-CN" sz="2400" dirty="0"/>
              <a:t>Given the complete RMO CSMS Domain Model </a:t>
            </a:r>
            <a:br>
              <a:rPr lang="en-GB" altLang="zh-CN" sz="2400" dirty="0"/>
            </a:br>
            <a:r>
              <a:rPr lang="en-GB" altLang="zh-CN" sz="2400" dirty="0"/>
              <a:t>Class Diagram and Sales and Customer Account subsystem examples:</a:t>
            </a:r>
          </a:p>
          <a:p>
            <a:pPr lvl="1" eaLnBrk="1" hangingPunct="1">
              <a:spcBef>
                <a:spcPct val="20000"/>
              </a:spcBef>
              <a:buClr>
                <a:schemeClr val="accent2"/>
              </a:buClr>
              <a:buSzPct val="70000"/>
              <a:buFont typeface="Wingdings" pitchFamily="2" charset="2"/>
              <a:buChar char="l"/>
            </a:pPr>
            <a:r>
              <a:rPr lang="en-GB" altLang="zh-CN" sz="2000" dirty="0"/>
              <a:t>Try completing the Order Fulfilment Subsystem</a:t>
            </a:r>
            <a:r>
              <a:rPr lang="zh-CN" altLang="en-US" sz="2000" dirty="0"/>
              <a:t>（</a:t>
            </a:r>
            <a:r>
              <a:rPr lang="zh-CN" altLang="en-US" sz="2000" b="0" i="0" dirty="0">
                <a:effectLst/>
                <a:latin typeface="PingFang SC"/>
              </a:rPr>
              <a:t>订单履行子系统</a:t>
            </a:r>
            <a:r>
              <a:rPr lang="zh-CN" altLang="en-US" sz="2000" dirty="0"/>
              <a:t>）</a:t>
            </a:r>
            <a:r>
              <a:rPr lang="en-GB" altLang="zh-CN" sz="2000" dirty="0"/>
              <a:t> Domain Model Class Diagram</a:t>
            </a:r>
          </a:p>
          <a:p>
            <a:pPr lvl="1" eaLnBrk="1" hangingPunct="1">
              <a:spcBef>
                <a:spcPct val="20000"/>
              </a:spcBef>
              <a:buClr>
                <a:schemeClr val="accent2"/>
              </a:buClr>
              <a:buSzPct val="70000"/>
              <a:buFont typeface="Wingdings" pitchFamily="2" charset="2"/>
              <a:buChar char="l"/>
            </a:pPr>
            <a:r>
              <a:rPr lang="en-GB" altLang="zh-CN" sz="2000" dirty="0"/>
              <a:t>Try Completing the Marketing Subsystem</a:t>
            </a:r>
            <a:r>
              <a:rPr lang="zh-CN" altLang="en-US" sz="2000" dirty="0"/>
              <a:t>（市场营销子系统）</a:t>
            </a:r>
            <a:r>
              <a:rPr lang="en-GB" altLang="zh-CN" sz="2000" dirty="0"/>
              <a:t> Domain Model Class Diagram</a:t>
            </a:r>
          </a:p>
          <a:p>
            <a:pPr lvl="1" eaLnBrk="1" hangingPunct="1">
              <a:spcBef>
                <a:spcPct val="20000"/>
              </a:spcBef>
              <a:buClr>
                <a:schemeClr val="accent2"/>
              </a:buClr>
              <a:buSzPct val="70000"/>
              <a:buFont typeface="Wingdings" pitchFamily="2" charset="2"/>
              <a:buChar char="l"/>
            </a:pPr>
            <a:r>
              <a:rPr lang="en-GB" altLang="zh-CN" sz="2000" dirty="0"/>
              <a:t>Try Completing the Reporting Subsystem</a:t>
            </a:r>
            <a:r>
              <a:rPr lang="zh-CN" altLang="en-US" sz="2000" dirty="0"/>
              <a:t>（报告子系统）</a:t>
            </a:r>
            <a:r>
              <a:rPr lang="en-GB" altLang="zh-CN" sz="2000" dirty="0"/>
              <a:t> Domain Model Class Diagram</a:t>
            </a:r>
          </a:p>
          <a:p>
            <a:pPr lvl="1" eaLnBrk="1" hangingPunct="1">
              <a:spcBef>
                <a:spcPct val="20000"/>
              </a:spcBef>
              <a:buClr>
                <a:schemeClr val="accent2"/>
              </a:buClr>
              <a:buSzPct val="70000"/>
              <a:buFont typeface="Wingdings" pitchFamily="2" charset="2"/>
              <a:buChar char="l"/>
            </a:pPr>
            <a:endParaRPr lang="en-GB" altLang="zh-CN" sz="2000" dirty="0"/>
          </a:p>
        </p:txBody>
      </p:sp>
      <p:sp>
        <p:nvSpPr>
          <p:cNvPr id="4403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40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910E011A-7B26-4579-BA89-A1AE8CE5DFBD}" type="slidenum">
              <a:rPr lang="en-US" altLang="en-US"/>
              <a:pPr eaLnBrk="1" hangingPunct="1"/>
              <a:t>69</a:t>
            </a:fld>
            <a:endParaRPr lang="en-US" altLang="en-US"/>
          </a:p>
        </p:txBody>
      </p:sp>
      <p:sp>
        <p:nvSpPr>
          <p:cNvPr id="50179" name="Rectangle 2"/>
          <p:cNvSpPr>
            <a:spLocks noGrp="1" noChangeArrowheads="1"/>
          </p:cNvSpPr>
          <p:nvPr>
            <p:ph type="title"/>
          </p:nvPr>
        </p:nvSpPr>
        <p:spPr>
          <a:xfrm>
            <a:off x="457200" y="122238"/>
            <a:ext cx="7543800" cy="868362"/>
          </a:xfrm>
        </p:spPr>
        <p:txBody>
          <a:bodyPr/>
          <a:lstStyle/>
          <a:p>
            <a:pPr eaLnBrk="1" hangingPunct="1"/>
            <a:r>
              <a:rPr lang="en-US" altLang="zh-CN">
                <a:ea typeface="宋体" pitchFamily="2" charset="-122"/>
              </a:rPr>
              <a:t>Summary</a:t>
            </a:r>
          </a:p>
        </p:txBody>
      </p:sp>
      <p:sp>
        <p:nvSpPr>
          <p:cNvPr id="50180" name="Rectangle 3"/>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50181" name="Rectangle 4"/>
          <p:cNvSpPr>
            <a:spLocks noChangeArrowheads="1"/>
          </p:cNvSpPr>
          <p:nvPr/>
        </p:nvSpPr>
        <p:spPr bwMode="auto">
          <a:xfrm>
            <a:off x="609600" y="9906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This chapter is the second of three that focuses </a:t>
            </a:r>
            <a:br>
              <a:rPr lang="en-GB" altLang="zh-CN" sz="2400" dirty="0"/>
            </a:br>
            <a:r>
              <a:rPr lang="en-GB" altLang="zh-CN" sz="2400" dirty="0"/>
              <a:t>on </a:t>
            </a:r>
            <a:r>
              <a:rPr lang="en-GB" altLang="zh-CN" sz="2400" u="sng" dirty="0" err="1"/>
              <a:t>modeling</a:t>
            </a:r>
            <a:r>
              <a:rPr lang="en-GB" altLang="zh-CN" sz="2400" u="sng" dirty="0"/>
              <a:t> functional requirements</a:t>
            </a:r>
            <a:r>
              <a:rPr lang="zh-CN" altLang="en-US" sz="2400" u="sng" dirty="0"/>
              <a:t>（功能需求建模）</a:t>
            </a:r>
            <a:r>
              <a:rPr lang="en-GB" altLang="zh-CN" sz="2400" dirty="0"/>
              <a:t> as a part of systems analysis</a:t>
            </a:r>
          </a:p>
          <a:p>
            <a:pPr eaLnBrk="1" hangingPunct="1">
              <a:spcBef>
                <a:spcPct val="20000"/>
              </a:spcBef>
              <a:buClr>
                <a:schemeClr val="tx2"/>
              </a:buClr>
              <a:buSzPct val="70000"/>
              <a:buFont typeface="Wingdings" pitchFamily="2" charset="2"/>
              <a:buChar char="l"/>
            </a:pPr>
            <a:r>
              <a:rPr lang="en-GB" altLang="zh-CN" sz="2400" dirty="0"/>
              <a:t>“Things” in the problem domain are identified and </a:t>
            </a:r>
            <a:r>
              <a:rPr lang="en-GB" altLang="zh-CN" sz="2400" dirty="0" err="1"/>
              <a:t>modeled</a:t>
            </a:r>
            <a:r>
              <a:rPr lang="en-GB" altLang="zh-CN" sz="2400" dirty="0"/>
              <a:t>, called domain classes or data entities</a:t>
            </a:r>
            <a:r>
              <a:rPr lang="zh-CN" altLang="en-US" sz="2400" dirty="0"/>
              <a:t>（问题域中的“事物”被识别并建模）</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Two techniques for identifying domain classes/data entities are the </a:t>
            </a:r>
            <a:r>
              <a:rPr lang="en-GB" altLang="zh-CN" sz="2400" u="sng" dirty="0"/>
              <a:t>brainstorming technique </a:t>
            </a:r>
            <a:r>
              <a:rPr lang="zh-CN" altLang="en-US" sz="2400" u="sng" dirty="0"/>
              <a:t>（头脑风暴）</a:t>
            </a:r>
            <a:r>
              <a:rPr lang="en-GB" altLang="zh-CN" sz="2400" dirty="0"/>
              <a:t>and the </a:t>
            </a:r>
            <a:r>
              <a:rPr lang="en-GB" altLang="zh-CN" sz="2400" u="sng" dirty="0"/>
              <a:t>noun technique</a:t>
            </a:r>
            <a:r>
              <a:rPr lang="zh-CN" altLang="en-US" sz="2400" u="sng" dirty="0"/>
              <a:t>（名词技术）</a:t>
            </a:r>
            <a:endParaRPr lang="en-GB" altLang="zh-CN" sz="2400" u="sng" dirty="0"/>
          </a:p>
          <a:p>
            <a:pPr eaLnBrk="1" hangingPunct="1">
              <a:spcBef>
                <a:spcPct val="20000"/>
              </a:spcBef>
              <a:buClr>
                <a:schemeClr val="tx2"/>
              </a:buClr>
              <a:buSzPct val="70000"/>
              <a:buFont typeface="Wingdings" pitchFamily="2" charset="2"/>
              <a:buChar char="l"/>
            </a:pPr>
            <a:r>
              <a:rPr lang="en-GB" altLang="zh-CN" sz="2400" dirty="0"/>
              <a:t>Domain classes have </a:t>
            </a:r>
            <a:r>
              <a:rPr lang="en-GB" altLang="zh-CN" sz="2400" u="sng" dirty="0"/>
              <a:t>attributes</a:t>
            </a:r>
            <a:r>
              <a:rPr lang="zh-CN" altLang="en-US" sz="2400" u="sng" dirty="0"/>
              <a:t>（属性）</a:t>
            </a:r>
            <a:r>
              <a:rPr lang="en-GB" altLang="zh-CN" sz="2400" dirty="0"/>
              <a:t> and </a:t>
            </a:r>
            <a:r>
              <a:rPr lang="en-GB" altLang="zh-CN" sz="2400" u="sng" dirty="0"/>
              <a:t>associations</a:t>
            </a:r>
            <a:r>
              <a:rPr lang="zh-CN" altLang="en-US" sz="2400" u="sng" dirty="0"/>
              <a:t>（关联）</a:t>
            </a:r>
            <a:endParaRPr lang="en-GB" altLang="zh-CN" sz="2400" u="sng" dirty="0"/>
          </a:p>
        </p:txBody>
      </p:sp>
      <p:sp>
        <p:nvSpPr>
          <p:cNvPr id="50182"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5018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D4DF5C3-7D53-4E0E-8280-EA9C6EDC0E7E}" type="slidenum">
              <a:rPr lang="en-US" altLang="en-US"/>
              <a:pPr eaLnBrk="1" hangingPunct="1"/>
              <a:t>70</a:t>
            </a:fld>
            <a:endParaRPr lang="en-US" altLang="en-US"/>
          </a:p>
        </p:txBody>
      </p:sp>
      <p:sp>
        <p:nvSpPr>
          <p:cNvPr id="51203" name="Rectangle 2"/>
          <p:cNvSpPr>
            <a:spLocks noGrp="1" noChangeArrowheads="1"/>
          </p:cNvSpPr>
          <p:nvPr>
            <p:ph type="title"/>
          </p:nvPr>
        </p:nvSpPr>
        <p:spPr>
          <a:xfrm>
            <a:off x="457200" y="122238"/>
            <a:ext cx="7543800" cy="639762"/>
          </a:xfrm>
        </p:spPr>
        <p:txBody>
          <a:bodyPr/>
          <a:lstStyle/>
          <a:p>
            <a:pPr eaLnBrk="1" hangingPunct="1"/>
            <a:r>
              <a:rPr lang="en-US" altLang="zh-CN" sz="3500">
                <a:ea typeface="宋体" pitchFamily="2" charset="-122"/>
              </a:rPr>
              <a:t>Summary</a:t>
            </a:r>
          </a:p>
        </p:txBody>
      </p:sp>
      <p:sp>
        <p:nvSpPr>
          <p:cNvPr id="51204" name="Rectangle 3"/>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51205" name="Rectangle 4"/>
          <p:cNvSpPr>
            <a:spLocks noChangeArrowheads="1"/>
          </p:cNvSpPr>
          <p:nvPr/>
        </p:nvSpPr>
        <p:spPr bwMode="auto">
          <a:xfrm>
            <a:off x="609600" y="9144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Associations are naturally occurring relationships among classes, and associations have minimum and maximum multiplicity </a:t>
            </a:r>
            <a:r>
              <a:rPr lang="zh-CN" altLang="en-US" sz="2400" dirty="0"/>
              <a:t>（关联是类之间自然存在的关系，并且关联具有最小和最大基数）</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The UML class diagram notation is used to create</a:t>
            </a:r>
            <a:br>
              <a:rPr lang="en-GB" altLang="zh-CN" sz="2400" dirty="0"/>
            </a:br>
            <a:r>
              <a:rPr lang="en-GB" altLang="zh-CN" sz="2400" dirty="0"/>
              <a:t> a domain model class diagram for a system. The domain model classes do not have methods because they are not yet software classes. </a:t>
            </a:r>
          </a:p>
          <a:p>
            <a:pPr eaLnBrk="1" hangingPunct="1">
              <a:spcBef>
                <a:spcPct val="20000"/>
              </a:spcBef>
              <a:buClr>
                <a:schemeClr val="tx2"/>
              </a:buClr>
              <a:buSzPct val="70000"/>
              <a:buFont typeface="Wingdings" pitchFamily="2" charset="2"/>
              <a:buChar char="l"/>
            </a:pPr>
            <a:r>
              <a:rPr lang="en-GB" altLang="zh-CN" sz="2400" dirty="0"/>
              <a:t>There are actually </a:t>
            </a:r>
            <a:r>
              <a:rPr lang="en-GB" altLang="zh-CN" sz="2400" u="sng" dirty="0"/>
              <a:t>three UML class diagram relationships</a:t>
            </a:r>
            <a:r>
              <a:rPr lang="en-GB" altLang="zh-CN" sz="2400" dirty="0"/>
              <a:t>: association relationships, generalization/specialization (inheritance) relationships, and whole part relationships</a:t>
            </a:r>
            <a:r>
              <a:rPr lang="zh-CN" altLang="en-US" sz="2400" dirty="0"/>
              <a:t>（三种类图关系：关联关系，泛化</a:t>
            </a:r>
            <a:r>
              <a:rPr lang="en-US" altLang="zh-CN" sz="2400" dirty="0"/>
              <a:t>-</a:t>
            </a:r>
            <a:r>
              <a:rPr lang="zh-CN" altLang="en-US" sz="2400" dirty="0"/>
              <a:t>特化，整体部分）</a:t>
            </a:r>
            <a:endParaRPr lang="en-GB" altLang="zh-CN" sz="2400" dirty="0"/>
          </a:p>
        </p:txBody>
      </p:sp>
      <p:sp>
        <p:nvSpPr>
          <p:cNvPr id="5120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5120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80532FC-F8C4-4965-9FAB-B38F214ABBBA}" type="slidenum">
              <a:rPr lang="en-US" altLang="en-US"/>
              <a:pPr eaLnBrk="1" hangingPunct="1"/>
              <a:t>71</a:t>
            </a:fld>
            <a:endParaRPr lang="en-US" altLang="en-US"/>
          </a:p>
        </p:txBody>
      </p:sp>
      <p:sp>
        <p:nvSpPr>
          <p:cNvPr id="52227" name="Rectangle 2"/>
          <p:cNvSpPr>
            <a:spLocks noGrp="1" noChangeArrowheads="1"/>
          </p:cNvSpPr>
          <p:nvPr>
            <p:ph type="title"/>
          </p:nvPr>
        </p:nvSpPr>
        <p:spPr>
          <a:xfrm>
            <a:off x="457200" y="122238"/>
            <a:ext cx="7543800" cy="639762"/>
          </a:xfrm>
        </p:spPr>
        <p:txBody>
          <a:bodyPr/>
          <a:lstStyle/>
          <a:p>
            <a:pPr eaLnBrk="1" hangingPunct="1"/>
            <a:r>
              <a:rPr lang="en-US" altLang="zh-CN" sz="3500">
                <a:ea typeface="宋体" pitchFamily="2" charset="-122"/>
              </a:rPr>
              <a:t>Summary</a:t>
            </a:r>
          </a:p>
        </p:txBody>
      </p:sp>
      <p:sp>
        <p:nvSpPr>
          <p:cNvPr id="52228" name="Rectangle 3"/>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52229" name="Rectangle 4"/>
          <p:cNvSpPr>
            <a:spLocks noChangeArrowheads="1"/>
          </p:cNvSpPr>
          <p:nvPr/>
        </p:nvSpPr>
        <p:spPr bwMode="auto">
          <a:xfrm>
            <a:off x="609600" y="9144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Entity-relationship diagrams (ERDs) show the </a:t>
            </a:r>
            <a:br>
              <a:rPr lang="en-GB" altLang="zh-CN" sz="2400" dirty="0"/>
            </a:br>
            <a:r>
              <a:rPr lang="en-GB" altLang="zh-CN" sz="2400" dirty="0"/>
              <a:t>same information as a domain model class </a:t>
            </a:r>
            <a:br>
              <a:rPr lang="en-GB" altLang="zh-CN" sz="2400" dirty="0"/>
            </a:br>
            <a:r>
              <a:rPr lang="en-GB" altLang="zh-CN" sz="2400" dirty="0"/>
              <a:t>diagram</a:t>
            </a:r>
            <a:r>
              <a:rPr lang="zh-CN" altLang="en-US" sz="2400" dirty="0"/>
              <a:t>（</a:t>
            </a:r>
            <a:r>
              <a:rPr lang="zh-CN" altLang="en-US" sz="2400" dirty="0">
                <a:solidFill>
                  <a:srgbClr val="2A2B2E"/>
                </a:solidFill>
                <a:latin typeface="PingFang SC"/>
              </a:rPr>
              <a:t>实体关系图</a:t>
            </a:r>
            <a:r>
              <a:rPr lang="en-US" altLang="zh-CN" sz="2400" dirty="0">
                <a:solidFill>
                  <a:srgbClr val="2A2B2E"/>
                </a:solidFill>
                <a:latin typeface="PingFang SC"/>
              </a:rPr>
              <a:t>(</a:t>
            </a:r>
            <a:r>
              <a:rPr lang="en-US" altLang="zh-CN" sz="2400" dirty="0" err="1">
                <a:solidFill>
                  <a:srgbClr val="2A2B2E"/>
                </a:solidFill>
                <a:latin typeface="PingFang SC"/>
              </a:rPr>
              <a:t>erd</a:t>
            </a:r>
            <a:r>
              <a:rPr lang="en-US" altLang="zh-CN" sz="2400" dirty="0">
                <a:solidFill>
                  <a:srgbClr val="2A2B2E"/>
                </a:solidFill>
                <a:latin typeface="PingFang SC"/>
              </a:rPr>
              <a:t>)</a:t>
            </a:r>
            <a:r>
              <a:rPr lang="zh-CN" altLang="en-US" sz="2400" dirty="0">
                <a:solidFill>
                  <a:srgbClr val="2A2B2E"/>
                </a:solidFill>
                <a:latin typeface="PingFang SC"/>
              </a:rPr>
              <a:t>显示与领域模型类图相同的信息</a:t>
            </a:r>
            <a:r>
              <a:rPr lang="zh-CN" altLang="en-US" sz="2400" dirty="0"/>
              <a:t>）</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ERDs are </a:t>
            </a:r>
            <a:r>
              <a:rPr lang="en-GB" altLang="zh-CN" sz="2400" u="sng" dirty="0"/>
              <a:t>preferred by database analysts </a:t>
            </a:r>
            <a:r>
              <a:rPr lang="en-GB" altLang="zh-CN" sz="2400" dirty="0"/>
              <a:t>and are widely used</a:t>
            </a:r>
            <a:r>
              <a:rPr lang="zh-CN" altLang="en-US" sz="2400" dirty="0"/>
              <a:t>（</a:t>
            </a:r>
            <a:r>
              <a:rPr lang="en-US" altLang="zh-CN" sz="2400" dirty="0" err="1">
                <a:solidFill>
                  <a:srgbClr val="2A2B2E"/>
                </a:solidFill>
                <a:latin typeface="PingFang SC"/>
              </a:rPr>
              <a:t>erd</a:t>
            </a:r>
            <a:r>
              <a:rPr lang="zh-CN" altLang="en-US" sz="2400" dirty="0">
                <a:solidFill>
                  <a:srgbClr val="2A2B2E"/>
                </a:solidFill>
                <a:latin typeface="PingFang SC"/>
              </a:rPr>
              <a:t>是数据库分析人员的首选，并且被广泛使用</a:t>
            </a:r>
            <a:r>
              <a:rPr lang="zh-CN" altLang="en-US" sz="2400" dirty="0"/>
              <a:t>）</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ERDs are </a:t>
            </a:r>
            <a:r>
              <a:rPr lang="en-GB" altLang="zh-CN" sz="2400" u="sng" dirty="0"/>
              <a:t>not UML diagrams</a:t>
            </a:r>
            <a:r>
              <a:rPr lang="en-GB" altLang="zh-CN" sz="2400" dirty="0"/>
              <a:t>, and an association is called a relationship, multiplicity is called cardinality, and generalization/specialization (inheritance) and whole part relationships are usually not shown</a:t>
            </a:r>
          </a:p>
          <a:p>
            <a:pPr eaLnBrk="1" hangingPunct="1">
              <a:spcBef>
                <a:spcPct val="20000"/>
              </a:spcBef>
              <a:buClr>
                <a:schemeClr val="tx2"/>
              </a:buClr>
              <a:buSzPct val="70000"/>
              <a:buFont typeface="Wingdings" pitchFamily="2" charset="2"/>
              <a:buNone/>
            </a:pPr>
            <a:endParaRPr lang="en-GB" altLang="zh-CN" sz="2400" dirty="0"/>
          </a:p>
        </p:txBody>
      </p:sp>
      <p:sp>
        <p:nvSpPr>
          <p:cNvPr id="52230"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5223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3" name="内容占位符 2">
            <a:extLst>
              <a:ext uri="{FF2B5EF4-FFF2-40B4-BE49-F238E27FC236}">
                <a16:creationId xmlns:a16="http://schemas.microsoft.com/office/drawing/2014/main" id="{5167F622-687F-4B41-BE5D-FDA5C16B0C25}"/>
              </a:ext>
            </a:extLst>
          </p:cNvPr>
          <p:cNvSpPr>
            <a:spLocks noGrp="1"/>
          </p:cNvSpPr>
          <p:nvPr>
            <p:ph idx="1"/>
          </p:nvPr>
        </p:nvSpPr>
        <p:spPr>
          <a:xfrm>
            <a:off x="457200" y="4648199"/>
            <a:ext cx="8229600" cy="1482725"/>
          </a:xfrm>
        </p:spPr>
        <p:txBody>
          <a:bodyPr/>
          <a:lstStyle/>
          <a:p>
            <a:r>
              <a:rPr lang="zh-CN" altLang="en-US" sz="1800" dirty="0"/>
              <a:t>再次思考上图，添加以下内容：</a:t>
            </a:r>
            <a:endParaRPr lang="en-US" altLang="zh-CN" sz="1800" dirty="0"/>
          </a:p>
          <a:p>
            <a:pPr marL="0" indent="0">
              <a:buNone/>
            </a:pPr>
            <a:r>
              <a:rPr lang="en-US" altLang="zh-CN" sz="1800" dirty="0"/>
              <a:t>  </a:t>
            </a:r>
            <a:r>
              <a:rPr lang="zh-CN" altLang="en-US" sz="1800" dirty="0"/>
              <a:t>一个教师经常教授很多课程部分，但为了保证授课质量，一个教师一学期最多教授</a:t>
            </a:r>
            <a:r>
              <a:rPr lang="en-US" altLang="zh-CN" sz="1800" dirty="0"/>
              <a:t>4</a:t>
            </a:r>
            <a:r>
              <a:rPr lang="zh-CN" altLang="en-US" sz="1800" dirty="0"/>
              <a:t>门课。每个课程部分必须至少有一个教师来教授。同时，每个课程需要安排一位教师作为课程协调者来监督这个课程。</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72</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56559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00617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73</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3" name="文本框 12">
            <a:extLst>
              <a:ext uri="{FF2B5EF4-FFF2-40B4-BE49-F238E27FC236}">
                <a16:creationId xmlns:a16="http://schemas.microsoft.com/office/drawing/2014/main" id="{523A91C1-5B27-4C16-81D9-FFF6FB344AEB}"/>
              </a:ext>
            </a:extLst>
          </p:cNvPr>
          <p:cNvSpPr txBox="1"/>
          <p:nvPr/>
        </p:nvSpPr>
        <p:spPr>
          <a:xfrm>
            <a:off x="2867692" y="3390900"/>
            <a:ext cx="441146" cy="276999"/>
          </a:xfrm>
          <a:prstGeom prst="rect">
            <a:avLst/>
          </a:prstGeom>
          <a:noFill/>
          <a:ln>
            <a:noFill/>
          </a:ln>
        </p:spPr>
        <p:txBody>
          <a:bodyPr wrap="none" rtlCol="0">
            <a:spAutoFit/>
          </a:bodyPr>
          <a:lstStyle/>
          <a:p>
            <a:r>
              <a:rPr lang="en-US" altLang="zh-CN" sz="1200" dirty="0">
                <a:solidFill>
                  <a:srgbClr val="C00000"/>
                </a:solidFill>
              </a:rPr>
              <a:t>0..4</a:t>
            </a:r>
            <a:endParaRPr lang="zh-CN" altLang="en-US" sz="1200" dirty="0">
              <a:solidFill>
                <a:srgbClr val="C00000"/>
              </a:solidFill>
            </a:endParaRPr>
          </a:p>
        </p:txBody>
      </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solidFill>
                  <a:srgbClr val="C00000"/>
                </a:solidFill>
              </a:rPr>
              <a:t>一个教师经常教授很多课程部分，但为了保证授课质量，一个教师一学期最多教授</a:t>
            </a:r>
            <a:r>
              <a:rPr lang="en-US" altLang="zh-CN" sz="1800" kern="0" dirty="0">
                <a:solidFill>
                  <a:srgbClr val="C00000"/>
                </a:solidFill>
              </a:rPr>
              <a:t>4</a:t>
            </a:r>
            <a:r>
              <a:rPr lang="zh-CN" altLang="en-US" sz="1800" kern="0" dirty="0">
                <a:solidFill>
                  <a:srgbClr val="C00000"/>
                </a:solidFill>
              </a:rPr>
              <a:t>门课。</a:t>
            </a:r>
            <a:r>
              <a:rPr lang="zh-CN" altLang="en-US" sz="1800" kern="0" dirty="0"/>
              <a:t>每个课程部分必须至少有一个教师来教授。同时，每个课程需要安排一位教师作为课程协调者来监督这个课程。</a:t>
            </a:r>
          </a:p>
        </p:txBody>
      </p:sp>
      <p:cxnSp>
        <p:nvCxnSpPr>
          <p:cNvPr id="20" name="直接连接符 19">
            <a:extLst>
              <a:ext uri="{FF2B5EF4-FFF2-40B4-BE49-F238E27FC236}">
                <a16:creationId xmlns:a16="http://schemas.microsoft.com/office/drawing/2014/main" id="{EE91A3A3-D21F-4577-97B5-950FC3646255}"/>
              </a:ext>
            </a:extLst>
          </p:cNvPr>
          <p:cNvCxnSpPr>
            <a:cxnSpLocks/>
          </p:cNvCxnSpPr>
          <p:nvPr/>
        </p:nvCxnSpPr>
        <p:spPr>
          <a:xfrm>
            <a:off x="2133600" y="3771900"/>
            <a:ext cx="1143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242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74</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a:t>
            </a:r>
            <a:r>
              <a:rPr lang="zh-CN" altLang="en-US" sz="1800" kern="0" dirty="0">
                <a:solidFill>
                  <a:srgbClr val="C00000"/>
                </a:solidFill>
              </a:rPr>
              <a:t>每个课程部分必须至少有一个教师来教授。</a:t>
            </a:r>
            <a:r>
              <a:rPr lang="zh-CN" altLang="en-US" sz="1800" kern="0" dirty="0"/>
              <a:t>同时，每个课程需要安排一位教师作为课程协调者来监督这个课程。</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solidFill>
                  <a:srgbClr val="C00000"/>
                </a:solidFill>
              </a:rPr>
              <a:t>1..*</a:t>
            </a:r>
            <a:endParaRPr lang="zh-CN" altLang="en-US" sz="1200" dirty="0">
              <a:solidFill>
                <a:srgbClr val="C00000"/>
              </a:solidFill>
            </a:endParaRPr>
          </a:p>
        </p:txBody>
      </p:sp>
    </p:spTree>
    <p:extLst>
      <p:ext uri="{BB962C8B-B14F-4D97-AF65-F5344CB8AC3E}">
        <p14:creationId xmlns:p14="http://schemas.microsoft.com/office/powerpoint/2010/main" val="338764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75</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门课。每个课程部分必须至少有一个教师来教授。同时，</a:t>
            </a:r>
            <a:r>
              <a:rPr lang="zh-CN" altLang="en-US" sz="1800" kern="0" dirty="0">
                <a:solidFill>
                  <a:srgbClr val="C00000"/>
                </a:solidFill>
              </a:rPr>
              <a:t>每个课程需要安排一位教师作为课程协调者来监督这个课程</a:t>
            </a:r>
            <a:r>
              <a:rPr lang="zh-CN" altLang="en-US" sz="1800" kern="0" dirty="0"/>
              <a:t>。</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22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76</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门课。每个课程部分必须至少有一个教师来教授。同时，</a:t>
            </a:r>
            <a:r>
              <a:rPr lang="zh-CN" altLang="en-US" sz="1800" kern="0" dirty="0">
                <a:solidFill>
                  <a:srgbClr val="C00000"/>
                </a:solidFill>
              </a:rPr>
              <a:t>每个课程需要安排一位教师作为课程协调者来监督这个课程</a:t>
            </a:r>
            <a:r>
              <a:rPr lang="zh-CN" altLang="en-US" sz="1800" kern="0" dirty="0"/>
              <a:t>。</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DDBACD1-E924-4D94-A3C1-B908AEB2F483}"/>
              </a:ext>
            </a:extLst>
          </p:cNvPr>
          <p:cNvGrpSpPr/>
          <p:nvPr/>
        </p:nvGrpSpPr>
        <p:grpSpPr>
          <a:xfrm rot="2386275">
            <a:off x="1641963" y="2834990"/>
            <a:ext cx="228600" cy="496731"/>
            <a:chOff x="1333500" y="2848790"/>
            <a:chExt cx="228600" cy="408214"/>
          </a:xfrm>
        </p:grpSpPr>
        <p:cxnSp>
          <p:nvCxnSpPr>
            <p:cNvPr id="22" name="直接连接符 21">
              <a:extLst>
                <a:ext uri="{FF2B5EF4-FFF2-40B4-BE49-F238E27FC236}">
                  <a16:creationId xmlns:a16="http://schemas.microsoft.com/office/drawing/2014/main" id="{627CCA1E-E2C4-4523-9DC9-1992BEA6907E}"/>
                </a:ext>
              </a:extLst>
            </p:cNvPr>
            <p:cNvCxnSpPr>
              <a:cxnSpLocks/>
              <a:endCxn id="24" idx="3"/>
            </p:cNvCxnSpPr>
            <p:nvPr/>
          </p:nvCxnSpPr>
          <p:spPr>
            <a:xfrm>
              <a:off x="1447800" y="2848790"/>
              <a:ext cx="0" cy="2566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等腰三角形 23">
              <a:extLst>
                <a:ext uri="{FF2B5EF4-FFF2-40B4-BE49-F238E27FC236}">
                  <a16:creationId xmlns:a16="http://schemas.microsoft.com/office/drawing/2014/main" id="{9D9D82F1-FCF7-4E5E-80DE-0A3818852B92}"/>
                </a:ext>
              </a:extLst>
            </p:cNvPr>
            <p:cNvSpPr/>
            <p:nvPr/>
          </p:nvSpPr>
          <p:spPr>
            <a:xfrm rot="10800000">
              <a:off x="1333500" y="3105444"/>
              <a:ext cx="228600" cy="15156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8246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77</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门课。每个课程部分必须至少有一个教师来教授。同时，每个课程需要安排一位教师作为课程协调者来监督这个课程。</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DDBACD1-E924-4D94-A3C1-B908AEB2F483}"/>
              </a:ext>
            </a:extLst>
          </p:cNvPr>
          <p:cNvGrpSpPr/>
          <p:nvPr/>
        </p:nvGrpSpPr>
        <p:grpSpPr>
          <a:xfrm rot="2386275">
            <a:off x="1641963" y="2834990"/>
            <a:ext cx="228600" cy="496731"/>
            <a:chOff x="1333500" y="2848790"/>
            <a:chExt cx="228600" cy="408214"/>
          </a:xfrm>
        </p:grpSpPr>
        <p:cxnSp>
          <p:nvCxnSpPr>
            <p:cNvPr id="22" name="直接连接符 21">
              <a:extLst>
                <a:ext uri="{FF2B5EF4-FFF2-40B4-BE49-F238E27FC236}">
                  <a16:creationId xmlns:a16="http://schemas.microsoft.com/office/drawing/2014/main" id="{627CCA1E-E2C4-4523-9DC9-1992BEA6907E}"/>
                </a:ext>
              </a:extLst>
            </p:cNvPr>
            <p:cNvCxnSpPr>
              <a:cxnSpLocks/>
              <a:endCxn id="24" idx="3"/>
            </p:cNvCxnSpPr>
            <p:nvPr/>
          </p:nvCxnSpPr>
          <p:spPr>
            <a:xfrm>
              <a:off x="1447800" y="2848790"/>
              <a:ext cx="0" cy="2566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等腰三角形 23">
              <a:extLst>
                <a:ext uri="{FF2B5EF4-FFF2-40B4-BE49-F238E27FC236}">
                  <a16:creationId xmlns:a16="http://schemas.microsoft.com/office/drawing/2014/main" id="{9D9D82F1-FCF7-4E5E-80DE-0A3818852B92}"/>
                </a:ext>
              </a:extLst>
            </p:cNvPr>
            <p:cNvSpPr/>
            <p:nvPr/>
          </p:nvSpPr>
          <p:spPr>
            <a:xfrm rot="10800000">
              <a:off x="1333500" y="3105444"/>
              <a:ext cx="228600" cy="15156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761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78</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DDBACD1-E924-4D94-A3C1-B908AEB2F483}"/>
              </a:ext>
            </a:extLst>
          </p:cNvPr>
          <p:cNvGrpSpPr/>
          <p:nvPr/>
        </p:nvGrpSpPr>
        <p:grpSpPr>
          <a:xfrm rot="2386275">
            <a:off x="1641963" y="2834990"/>
            <a:ext cx="228600" cy="496731"/>
            <a:chOff x="1333500" y="2848790"/>
            <a:chExt cx="228600" cy="408214"/>
          </a:xfrm>
        </p:grpSpPr>
        <p:cxnSp>
          <p:nvCxnSpPr>
            <p:cNvPr id="22" name="直接连接符 21">
              <a:extLst>
                <a:ext uri="{FF2B5EF4-FFF2-40B4-BE49-F238E27FC236}">
                  <a16:creationId xmlns:a16="http://schemas.microsoft.com/office/drawing/2014/main" id="{627CCA1E-E2C4-4523-9DC9-1992BEA6907E}"/>
                </a:ext>
              </a:extLst>
            </p:cNvPr>
            <p:cNvCxnSpPr>
              <a:cxnSpLocks/>
              <a:endCxn id="24" idx="3"/>
            </p:cNvCxnSpPr>
            <p:nvPr/>
          </p:nvCxnSpPr>
          <p:spPr>
            <a:xfrm>
              <a:off x="1447800" y="2848790"/>
              <a:ext cx="0" cy="2566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等腰三角形 23">
              <a:extLst>
                <a:ext uri="{FF2B5EF4-FFF2-40B4-BE49-F238E27FC236}">
                  <a16:creationId xmlns:a16="http://schemas.microsoft.com/office/drawing/2014/main" id="{9D9D82F1-FCF7-4E5E-80DE-0A3818852B92}"/>
                </a:ext>
              </a:extLst>
            </p:cNvPr>
            <p:cNvSpPr/>
            <p:nvPr/>
          </p:nvSpPr>
          <p:spPr>
            <a:xfrm rot="10800000">
              <a:off x="1333500" y="3105444"/>
              <a:ext cx="228600" cy="15156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内容占位符 2">
            <a:extLst>
              <a:ext uri="{FF2B5EF4-FFF2-40B4-BE49-F238E27FC236}">
                <a16:creationId xmlns:a16="http://schemas.microsoft.com/office/drawing/2014/main" id="{F8AD396F-A199-4167-9E6A-984663538E51}"/>
              </a:ext>
            </a:extLst>
          </p:cNvPr>
          <p:cNvSpPr txBox="1">
            <a:spLocks/>
          </p:cNvSpPr>
          <p:nvPr/>
        </p:nvSpPr>
        <p:spPr bwMode="auto">
          <a:xfrm>
            <a:off x="457200" y="4409885"/>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课后思考：</a:t>
            </a:r>
            <a:endParaRPr lang="en-US" altLang="zh-CN" sz="1800" kern="0" dirty="0"/>
          </a:p>
          <a:p>
            <a:pPr marL="0" indent="0">
              <a:buFont typeface="Wingdings" pitchFamily="2" charset="2"/>
              <a:buNone/>
            </a:pPr>
            <a:r>
              <a:rPr lang="en-US" altLang="zh-CN" sz="1800" kern="0" dirty="0"/>
              <a:t>  </a:t>
            </a:r>
            <a:r>
              <a:rPr lang="zh-CN" altLang="en-US" sz="1800" kern="0" dirty="0"/>
              <a:t>添加后的域模型类图显示了教师与课程部分之间多对多的关系，那么更进一步地观察这个关系可能会揭露存储一些附加信息的需求。这样的需求包括：</a:t>
            </a:r>
            <a:endParaRPr lang="en-US" altLang="zh-CN" sz="1800" kern="0" dirty="0"/>
          </a:p>
          <a:p>
            <a:pPr marL="0" indent="0">
              <a:buFont typeface="Wingdings" pitchFamily="2" charset="2"/>
              <a:buNone/>
            </a:pPr>
            <a:r>
              <a:rPr lang="en-US" altLang="zh-CN" sz="1800" kern="0" dirty="0">
                <a:solidFill>
                  <a:srgbClr val="C00000"/>
                </a:solidFill>
              </a:rPr>
              <a:t>	</a:t>
            </a:r>
            <a:r>
              <a:rPr lang="zh-CN" altLang="en-US" sz="1800" kern="0">
                <a:solidFill>
                  <a:srgbClr val="C00000"/>
                </a:solidFill>
              </a:rPr>
              <a:t>每个学期课程的</a:t>
            </a:r>
            <a:r>
              <a:rPr lang="zh-CN" altLang="en-US" sz="1800" kern="0" dirty="0">
                <a:solidFill>
                  <a:srgbClr val="C00000"/>
                </a:solidFill>
              </a:rPr>
              <a:t>教师有特定的工作时间吗？</a:t>
            </a:r>
            <a:endParaRPr lang="en-US" altLang="zh-CN" sz="1800" kern="0" dirty="0">
              <a:solidFill>
                <a:srgbClr val="C00000"/>
              </a:solidFill>
            </a:endParaRPr>
          </a:p>
          <a:p>
            <a:pPr marL="0" indent="0">
              <a:buFont typeface="Wingdings" pitchFamily="2" charset="2"/>
              <a:buNone/>
            </a:pPr>
            <a:r>
              <a:rPr lang="en-US" altLang="zh-CN" sz="1800" kern="0" dirty="0">
                <a:solidFill>
                  <a:srgbClr val="C00000"/>
                </a:solidFill>
              </a:rPr>
              <a:t>	</a:t>
            </a:r>
            <a:r>
              <a:rPr lang="zh-CN" altLang="en-US" sz="1800" kern="0" dirty="0">
                <a:solidFill>
                  <a:srgbClr val="C00000"/>
                </a:solidFill>
              </a:rPr>
              <a:t>你会给每个课程部分的指导者一些评估吗？</a:t>
            </a:r>
            <a:endParaRPr lang="en-US" altLang="zh-CN" sz="1800" kern="0" dirty="0">
              <a:solidFill>
                <a:srgbClr val="C00000"/>
              </a:solidFill>
            </a:endParaRPr>
          </a:p>
          <a:p>
            <a:pPr marL="0" indent="0">
              <a:buFont typeface="Wingdings" pitchFamily="2" charset="2"/>
              <a:buNone/>
            </a:pPr>
            <a:r>
              <a:rPr lang="en-US" altLang="zh-CN" sz="1800" kern="0" dirty="0">
                <a:solidFill>
                  <a:srgbClr val="C00000"/>
                </a:solidFill>
              </a:rPr>
              <a:t>	…</a:t>
            </a:r>
            <a:endParaRPr lang="zh-CN" altLang="en-US" sz="1800" kern="0" dirty="0">
              <a:solidFill>
                <a:srgbClr val="C00000"/>
              </a:solidFill>
            </a:endParaRPr>
          </a:p>
        </p:txBody>
      </p:sp>
    </p:spTree>
    <p:extLst>
      <p:ext uri="{BB962C8B-B14F-4D97-AF65-F5344CB8AC3E}">
        <p14:creationId xmlns:p14="http://schemas.microsoft.com/office/powerpoint/2010/main" val="422809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5876</TotalTime>
  <Words>12379</Words>
  <Application>Microsoft Office PowerPoint</Application>
  <PresentationFormat>全屏显示(4:3)</PresentationFormat>
  <Paragraphs>921</Paragraphs>
  <Slides>78</Slides>
  <Notes>65</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78</vt:i4>
      </vt:variant>
    </vt:vector>
  </HeadingPairs>
  <TitlesOfParts>
    <vt:vector size="84" baseType="lpstr">
      <vt:lpstr>Monotype Sorts</vt:lpstr>
      <vt:lpstr>PingFang SC</vt:lpstr>
      <vt:lpstr>Arial</vt:lpstr>
      <vt:lpstr>Times New Roman</vt:lpstr>
      <vt:lpstr>Wingdings</vt:lpstr>
      <vt:lpstr>Network</vt:lpstr>
      <vt:lpstr>PowerPoint 演示文稿</vt:lpstr>
      <vt:lpstr>Domain Modeling</vt:lpstr>
      <vt:lpstr>Chapter 4 Outline</vt:lpstr>
      <vt:lpstr>Learning Objectives</vt:lpstr>
      <vt:lpstr>Overview</vt:lpstr>
      <vt:lpstr>Chapter 4 Outline</vt:lpstr>
      <vt:lpstr>Things in the Problem Domain</vt:lpstr>
      <vt:lpstr>Things in the Problem Domain</vt:lpstr>
      <vt:lpstr>Things in the Problem Domain Two Techniques for Identifying them</vt:lpstr>
      <vt:lpstr>Brainstorming Technique: Steps（头脑风暴法）</vt:lpstr>
      <vt:lpstr>Brainstorming Technique: Steps（头脑风暴法）</vt:lpstr>
      <vt:lpstr>Brainstorming Technique: Example</vt:lpstr>
      <vt:lpstr>Brainstorming Technique: Example</vt:lpstr>
      <vt:lpstr>Brainstorming Technique: Example</vt:lpstr>
      <vt:lpstr>Brainstorming Technique: Example</vt:lpstr>
      <vt:lpstr>Brainstorming Technique</vt:lpstr>
      <vt:lpstr>The Noun Technique（名词技术）</vt:lpstr>
      <vt:lpstr>The Noun Technique: Steps</vt:lpstr>
      <vt:lpstr>The Noun Technique: Steps (continued)</vt:lpstr>
      <vt:lpstr>The Noun Technique: Steps (continued)</vt:lpstr>
      <vt:lpstr>Partial List of Nouns for RMO  With notes on whether to include as domain class</vt:lpstr>
      <vt:lpstr>Details about Domain Classes</vt:lpstr>
      <vt:lpstr>Attributes and Values</vt:lpstr>
      <vt:lpstr>Chapter 4 Outline</vt:lpstr>
      <vt:lpstr>Associations Among Things</vt:lpstr>
      <vt:lpstr>Just to Clarify…</vt:lpstr>
      <vt:lpstr>Minimum and Maximum Multiplicity</vt:lpstr>
      <vt:lpstr>Types of Associations</vt:lpstr>
      <vt:lpstr>Example of ERD Notation</vt:lpstr>
      <vt:lpstr>ERD Cardinality Symbols often called the crows feet notation（鱼尾纹计数法）</vt:lpstr>
      <vt:lpstr>Semantic Net  Shows instances and how they are linked（显示实例及其链接方式）  Example shows instances of three classes（示例展示了三个类的实例）  </vt:lpstr>
      <vt:lpstr>Expanded ERD with Attributes</vt:lpstr>
      <vt:lpstr>Expanded ERD with Attributes</vt:lpstr>
      <vt:lpstr>An ERD for a Bank</vt:lpstr>
      <vt:lpstr>An ERD for a Bank</vt:lpstr>
      <vt:lpstr>An ERD for a Bank</vt:lpstr>
      <vt:lpstr>Entity-Relationship Diagrams ERD</vt:lpstr>
      <vt:lpstr>Chapter 4 Outline</vt:lpstr>
      <vt:lpstr>The Domain Model Class Diagram</vt:lpstr>
      <vt:lpstr>Domain Class Notation</vt:lpstr>
      <vt:lpstr>A Simple Domain Model Class Diagram</vt:lpstr>
      <vt:lpstr>A Simple Domain Model Class Diagram</vt:lpstr>
      <vt:lpstr>UML Notation for Multiplicity</vt:lpstr>
      <vt:lpstr>Domain Model Class Diagram for a bank with many branches</vt:lpstr>
      <vt:lpstr>Domain Model Class Diagram for course enrollment at a university</vt:lpstr>
      <vt:lpstr>Refined Course Enrollment Model with an Association Class CourseEnrollment</vt:lpstr>
      <vt:lpstr>More Complex Issues about Classes: Generalization/Specialization Relationships</vt:lpstr>
      <vt:lpstr>Generalization/Specialization Inheritance</vt:lpstr>
      <vt:lpstr>Generalization/Specialization Inheritance for RMO Three Types of Sales</vt:lpstr>
      <vt:lpstr>Generalization/Specialization Inheritance for the Bank with Special Types of Accounts</vt:lpstr>
      <vt:lpstr>More Complex Issues about Classes: Whole Part Relationships</vt:lpstr>
      <vt:lpstr>Whole Part Relationships Computer and its Parts</vt:lpstr>
      <vt:lpstr>More on UML Relationships</vt:lpstr>
      <vt:lpstr>Chapter 4 Outline</vt:lpstr>
      <vt:lpstr>RMO CSMS Project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Customer Account Subsystem Domain Model Class Diagram</vt:lpstr>
      <vt:lpstr>RMO CSMS Project Customer Account Subsystem Domain Model Class Diagram</vt:lpstr>
      <vt:lpstr>RMO CSMS Project Customer Account Subsystem Domain Model Class Diagram</vt:lpstr>
      <vt:lpstr>RMO CSMS Project Customer Account Subsystem Domain Model Class Diagram</vt:lpstr>
      <vt:lpstr>RMO CSMS Project Customer Account Subsystem Domain Model Class Diagram</vt:lpstr>
      <vt:lpstr>RMO CSMS Project Complete Domain Model Class Diagram</vt:lpstr>
      <vt:lpstr>RMO CSMS Project Domain Model Class Diagrams</vt:lpstr>
      <vt:lpstr>Summary</vt:lpstr>
      <vt:lpstr>Summary</vt:lpstr>
      <vt:lpstr>Summary</vt:lpstr>
      <vt:lpstr>课后习题</vt:lpstr>
      <vt:lpstr>课后习题</vt:lpstr>
      <vt:lpstr>课后习题</vt:lpstr>
      <vt:lpstr>课后习题</vt:lpstr>
      <vt:lpstr>课后习题</vt:lpstr>
      <vt:lpstr>课后习题</vt:lpstr>
      <vt:lpstr>课后习题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222</cp:revision>
  <cp:lastPrinted>1601-01-01T00:00:00Z</cp:lastPrinted>
  <dcterms:created xsi:type="dcterms:W3CDTF">2011-10-31T16:54:53Z</dcterms:created>
  <dcterms:modified xsi:type="dcterms:W3CDTF">2026-04-11T04:16:32Z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