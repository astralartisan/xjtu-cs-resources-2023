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105"/>
  </p:notesMasterIdLst>
  <p:sldIdLst>
    <p:sldId id="356" r:id="rId2"/>
    <p:sldId id="256" r:id="rId3"/>
    <p:sldId id="257" r:id="rId4"/>
    <p:sldId id="314" r:id="rId5"/>
    <p:sldId id="407" r:id="rId6"/>
    <p:sldId id="315" r:id="rId7"/>
    <p:sldId id="366" r:id="rId8"/>
    <p:sldId id="367" r:id="rId9"/>
    <p:sldId id="316" r:id="rId10"/>
    <p:sldId id="413" r:id="rId11"/>
    <p:sldId id="368" r:id="rId12"/>
    <p:sldId id="320" r:id="rId13"/>
    <p:sldId id="369" r:id="rId14"/>
    <p:sldId id="432" r:id="rId15"/>
    <p:sldId id="319" r:id="rId16"/>
    <p:sldId id="370" r:id="rId17"/>
    <p:sldId id="414" r:id="rId18"/>
    <p:sldId id="436" r:id="rId19"/>
    <p:sldId id="408" r:id="rId20"/>
    <p:sldId id="372" r:id="rId21"/>
    <p:sldId id="373" r:id="rId22"/>
    <p:sldId id="409" r:id="rId23"/>
    <p:sldId id="375" r:id="rId24"/>
    <p:sldId id="415" r:id="rId25"/>
    <p:sldId id="416" r:id="rId26"/>
    <p:sldId id="417" r:id="rId27"/>
    <p:sldId id="418" r:id="rId28"/>
    <p:sldId id="374" r:id="rId29"/>
    <p:sldId id="376" r:id="rId30"/>
    <p:sldId id="419" r:id="rId31"/>
    <p:sldId id="420" r:id="rId32"/>
    <p:sldId id="421" r:id="rId33"/>
    <p:sldId id="422" r:id="rId34"/>
    <p:sldId id="423" r:id="rId35"/>
    <p:sldId id="377" r:id="rId36"/>
    <p:sldId id="378" r:id="rId37"/>
    <p:sldId id="379" r:id="rId38"/>
    <p:sldId id="433" r:id="rId39"/>
    <p:sldId id="380" r:id="rId40"/>
    <p:sldId id="381" r:id="rId41"/>
    <p:sldId id="410" r:id="rId42"/>
    <p:sldId id="382" r:id="rId43"/>
    <p:sldId id="383" r:id="rId44"/>
    <p:sldId id="384" r:id="rId45"/>
    <p:sldId id="424" r:id="rId46"/>
    <p:sldId id="425" r:id="rId47"/>
    <p:sldId id="426" r:id="rId48"/>
    <p:sldId id="385" r:id="rId49"/>
    <p:sldId id="386" r:id="rId50"/>
    <p:sldId id="387" r:id="rId51"/>
    <p:sldId id="434" r:id="rId52"/>
    <p:sldId id="388" r:id="rId53"/>
    <p:sldId id="389" r:id="rId54"/>
    <p:sldId id="390" r:id="rId55"/>
    <p:sldId id="391" r:id="rId56"/>
    <p:sldId id="392" r:id="rId57"/>
    <p:sldId id="428" r:id="rId58"/>
    <p:sldId id="429" r:id="rId59"/>
    <p:sldId id="430" r:id="rId60"/>
    <p:sldId id="431" r:id="rId61"/>
    <p:sldId id="393" r:id="rId62"/>
    <p:sldId id="411" r:id="rId63"/>
    <p:sldId id="395" r:id="rId64"/>
    <p:sldId id="394" r:id="rId65"/>
    <p:sldId id="400" r:id="rId66"/>
    <p:sldId id="435" r:id="rId67"/>
    <p:sldId id="364" r:id="rId68"/>
    <p:sldId id="437" r:id="rId69"/>
    <p:sldId id="438" r:id="rId70"/>
    <p:sldId id="440" r:id="rId71"/>
    <p:sldId id="441" r:id="rId72"/>
    <p:sldId id="442" r:id="rId73"/>
    <p:sldId id="443" r:id="rId74"/>
    <p:sldId id="444" r:id="rId75"/>
    <p:sldId id="445" r:id="rId76"/>
    <p:sldId id="446" r:id="rId77"/>
    <p:sldId id="447" r:id="rId78"/>
    <p:sldId id="448" r:id="rId79"/>
    <p:sldId id="449" r:id="rId80"/>
    <p:sldId id="450" r:id="rId81"/>
    <p:sldId id="451" r:id="rId82"/>
    <p:sldId id="452" r:id="rId83"/>
    <p:sldId id="453" r:id="rId84"/>
    <p:sldId id="454" r:id="rId85"/>
    <p:sldId id="455" r:id="rId86"/>
    <p:sldId id="456" r:id="rId87"/>
    <p:sldId id="457" r:id="rId88"/>
    <p:sldId id="458" r:id="rId89"/>
    <p:sldId id="459" r:id="rId90"/>
    <p:sldId id="460" r:id="rId91"/>
    <p:sldId id="461" r:id="rId92"/>
    <p:sldId id="462" r:id="rId93"/>
    <p:sldId id="463" r:id="rId94"/>
    <p:sldId id="464" r:id="rId95"/>
    <p:sldId id="465" r:id="rId96"/>
    <p:sldId id="466" r:id="rId97"/>
    <p:sldId id="467" r:id="rId98"/>
    <p:sldId id="468" r:id="rId99"/>
    <p:sldId id="469" r:id="rId100"/>
    <p:sldId id="470" r:id="rId101"/>
    <p:sldId id="471" r:id="rId102"/>
    <p:sldId id="472" r:id="rId103"/>
    <p:sldId id="473" r:id="rId10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4" autoAdjust="0"/>
    <p:restoredTop sz="78307" autoAdjust="0"/>
  </p:normalViewPr>
  <p:slideViewPr>
    <p:cSldViewPr>
      <p:cViewPr varScale="1">
        <p:scale>
          <a:sx n="88" d="100"/>
          <a:sy n="88" d="100"/>
        </p:scale>
        <p:origin x="202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0FFF9B6-029F-48EB-9AB7-1DD614FA318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75779" name="Rectangle 3">
            <a:extLst>
              <a:ext uri="{FF2B5EF4-FFF2-40B4-BE49-F238E27FC236}">
                <a16:creationId xmlns:a16="http://schemas.microsoft.com/office/drawing/2014/main" id="{018225D8-19D3-4015-B764-EDBE45A7537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46084" name="Rectangle 4">
            <a:extLst>
              <a:ext uri="{FF2B5EF4-FFF2-40B4-BE49-F238E27FC236}">
                <a16:creationId xmlns:a16="http://schemas.microsoft.com/office/drawing/2014/main" id="{779FB082-2900-4275-9E69-E97D2856CE6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ECDB5577-EA90-4E78-94E3-4DCEFF990DA5}"/>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62FC9D5A-C9FA-4476-B08B-C9462A387A1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75783" name="Rectangle 7">
            <a:extLst>
              <a:ext uri="{FF2B5EF4-FFF2-40B4-BE49-F238E27FC236}">
                <a16:creationId xmlns:a16="http://schemas.microsoft.com/office/drawing/2014/main" id="{D7340ABB-FBEA-485E-9A9C-1A784E1FB54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3453281-1A0B-4AAE-8A08-D35863A4C213}"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扩展需求模型</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a:t>
            </a:fld>
            <a:endParaRPr lang="en-US" altLang="zh-CN"/>
          </a:p>
        </p:txBody>
      </p:sp>
    </p:spTree>
    <p:extLst>
      <p:ext uri="{BB962C8B-B14F-4D97-AF65-F5344CB8AC3E}">
        <p14:creationId xmlns:p14="http://schemas.microsoft.com/office/powerpoint/2010/main" val="3542875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3</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用例描述</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用例活动图</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系统顺序图</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确定输入和输出</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状态机图</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确定对象行为</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需求模型的集成</a:t>
            </a:r>
            <a:endParaRPr lang="en-US"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学习目标：</a:t>
            </a:r>
            <a:endParaRPr lang="en-US" altLang="zh-CN" dirty="0"/>
          </a:p>
          <a:p>
            <a:r>
              <a:rPr lang="zh-CN" altLang="en-US" dirty="0"/>
              <a:t>为正在开发的用例撰写完整的描述</a:t>
            </a:r>
            <a:endParaRPr lang="en-US" altLang="zh-CN" dirty="0"/>
          </a:p>
          <a:p>
            <a:r>
              <a:rPr lang="zh-CN" altLang="en-US" dirty="0"/>
              <a:t>开发活动图来建立活动流的描述</a:t>
            </a:r>
            <a:endParaRPr lang="en-US" altLang="zh-CN" dirty="0"/>
          </a:p>
          <a:p>
            <a:r>
              <a:rPr lang="zh-CN" altLang="en-US" dirty="0"/>
              <a:t>开发系统顺序图</a:t>
            </a:r>
            <a:endParaRPr lang="en-US" altLang="zh-CN" dirty="0"/>
          </a:p>
          <a:p>
            <a:r>
              <a:rPr lang="zh-CN" altLang="en-US" dirty="0"/>
              <a:t>开发状态机图为对象行为建模</a:t>
            </a:r>
            <a:endParaRPr lang="en-US" altLang="zh-CN" dirty="0"/>
          </a:p>
          <a:p>
            <a:r>
              <a:rPr lang="zh-CN" altLang="en-US" dirty="0"/>
              <a:t>解释如何结合用例描述与</a:t>
            </a:r>
            <a:r>
              <a:rPr lang="en-US" altLang="zh-CN" dirty="0"/>
              <a:t>UML</a:t>
            </a:r>
            <a:r>
              <a:rPr lang="zh-CN" altLang="en-US" dirty="0"/>
              <a:t>图一起定义功能需求</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a:t>
            </a:fld>
            <a:endParaRPr lang="en-US" altLang="zh-CN"/>
          </a:p>
        </p:txBody>
      </p:sp>
    </p:spTree>
    <p:extLst>
      <p:ext uri="{BB962C8B-B14F-4D97-AF65-F5344CB8AC3E}">
        <p14:creationId xmlns:p14="http://schemas.microsoft.com/office/powerpoint/2010/main" val="2708178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5</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用例描述</a:t>
            </a:r>
            <a:endParaRPr lang="en-US" altLang="zh-CN" dirty="0">
              <a:latin typeface="Arial" panose="020B0604020202020204" pitchFamily="34" charset="0"/>
              <a:cs typeface="Arial" panose="020B0604020202020204" pitchFamily="34" charset="0"/>
            </a:endParaRPr>
          </a:p>
          <a:p>
            <a:pPr eaLnBrk="1" hangingPunct="1"/>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8960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如第</a:t>
            </a:r>
            <a:r>
              <a:rPr lang="en-US" altLang="zh-CN" b="0" i="0" dirty="0">
                <a:solidFill>
                  <a:srgbClr val="2A2B2E"/>
                </a:solidFill>
                <a:effectLst/>
                <a:latin typeface="PingFang SC"/>
              </a:rPr>
              <a:t>3</a:t>
            </a:r>
            <a:r>
              <a:rPr lang="zh-CN" altLang="en-US" b="0" i="0" dirty="0">
                <a:solidFill>
                  <a:srgbClr val="2A2B2E"/>
                </a:solidFill>
                <a:effectLst/>
                <a:latin typeface="PingFang SC"/>
              </a:rPr>
              <a:t>章所示，为大多数用例编写一个简短的描述</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a:t>
            </a:fld>
            <a:endParaRPr lang="en-US" altLang="zh-CN"/>
          </a:p>
        </p:txBody>
      </p:sp>
    </p:spTree>
    <p:extLst>
      <p:ext uri="{BB962C8B-B14F-4D97-AF65-F5344CB8AC3E}">
        <p14:creationId xmlns:p14="http://schemas.microsoft.com/office/powerpoint/2010/main" val="2778068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为更复杂的用例编写一个完全开发的用例描述</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典型的用例描述模板包括</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用例名称</a:t>
            </a:r>
            <a:br>
              <a:rPr lang="zh-CN" altLang="en-US" dirty="0"/>
            </a:br>
            <a:r>
              <a:rPr lang="zh-CN" altLang="en-US" dirty="0"/>
              <a:t>  </a:t>
            </a:r>
            <a:r>
              <a:rPr lang="zh-CN" altLang="en-US" b="0" i="0" dirty="0">
                <a:solidFill>
                  <a:srgbClr val="2A2B2E"/>
                </a:solidFill>
                <a:effectLst/>
                <a:latin typeface="PingFang SC"/>
              </a:rPr>
              <a:t>场景</a:t>
            </a:r>
            <a:r>
              <a:rPr lang="en-US" altLang="zh-CN" b="0" i="0" dirty="0">
                <a:solidFill>
                  <a:srgbClr val="2A2B2E"/>
                </a:solidFill>
                <a:effectLst/>
                <a:latin typeface="PingFang SC"/>
              </a:rPr>
              <a:t>(</a:t>
            </a:r>
            <a:r>
              <a:rPr lang="zh-CN" altLang="en-US" b="0" i="0" dirty="0">
                <a:solidFill>
                  <a:srgbClr val="2A2B2E"/>
                </a:solidFill>
                <a:effectLst/>
                <a:latin typeface="PingFang SC"/>
              </a:rPr>
              <a:t>如果需要</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触发事件</a:t>
            </a:r>
            <a:br>
              <a:rPr lang="zh-CN" altLang="en-US" dirty="0"/>
            </a:br>
            <a:r>
              <a:rPr lang="zh-CN" altLang="en-US" dirty="0"/>
              <a:t>  </a:t>
            </a:r>
            <a:r>
              <a:rPr lang="zh-CN" altLang="en-US" b="0" i="0" dirty="0">
                <a:solidFill>
                  <a:srgbClr val="2A2B2E"/>
                </a:solidFill>
                <a:effectLst/>
                <a:latin typeface="PingFang SC"/>
              </a:rPr>
              <a:t>简要描述</a:t>
            </a:r>
            <a:br>
              <a:rPr lang="zh-CN" altLang="en-US" dirty="0"/>
            </a:br>
            <a:r>
              <a:rPr lang="zh-CN" altLang="en-US" dirty="0"/>
              <a:t>  相关人员</a:t>
            </a:r>
            <a:br>
              <a:rPr lang="zh-CN" altLang="en-US" dirty="0"/>
            </a:br>
            <a:r>
              <a:rPr lang="zh-CN" altLang="en-US" dirty="0"/>
              <a:t>  </a:t>
            </a:r>
            <a:r>
              <a:rPr lang="zh-CN" altLang="en-US" b="0" i="0" dirty="0">
                <a:solidFill>
                  <a:srgbClr val="2A2B2E"/>
                </a:solidFill>
                <a:effectLst/>
                <a:latin typeface="PingFang SC"/>
              </a:rPr>
              <a:t>相关用例</a:t>
            </a:r>
            <a:r>
              <a:rPr lang="en-US" altLang="zh-CN" b="0" i="0" dirty="0">
                <a:solidFill>
                  <a:srgbClr val="2A2B2E"/>
                </a:solidFill>
                <a:effectLst/>
                <a:latin typeface="PingFang SC"/>
              </a:rPr>
              <a:t>(&lt;&lt;includes&gt;&gt;)</a:t>
            </a:r>
            <a:br>
              <a:rPr lang="zh-CN" altLang="en-US" dirty="0"/>
            </a:br>
            <a:r>
              <a:rPr lang="zh-CN" altLang="en-US" dirty="0"/>
              <a:t>  </a:t>
            </a:r>
            <a:r>
              <a:rPr lang="zh-CN" altLang="en-US" b="0" i="0" dirty="0">
                <a:solidFill>
                  <a:srgbClr val="2A2B2E"/>
                </a:solidFill>
                <a:effectLst/>
                <a:latin typeface="PingFang SC"/>
              </a:rPr>
              <a:t>利益相关者</a:t>
            </a:r>
            <a:br>
              <a:rPr lang="zh-CN" altLang="en-US" dirty="0"/>
            </a:br>
            <a:r>
              <a:rPr lang="zh-CN" altLang="en-US" dirty="0"/>
              <a:t>  </a:t>
            </a:r>
            <a:r>
              <a:rPr lang="zh-CN" altLang="en-US" b="0" i="0" dirty="0">
                <a:solidFill>
                  <a:srgbClr val="2A2B2E"/>
                </a:solidFill>
                <a:effectLst/>
                <a:latin typeface="PingFang SC"/>
              </a:rPr>
              <a:t>先决条件</a:t>
            </a:r>
            <a:br>
              <a:rPr lang="zh-CN" altLang="en-US" dirty="0"/>
            </a:br>
            <a:r>
              <a:rPr lang="zh-CN" altLang="en-US" dirty="0"/>
              <a:t>  </a:t>
            </a:r>
            <a:r>
              <a:rPr lang="zh-CN" altLang="en-US" b="0" i="0" dirty="0">
                <a:solidFill>
                  <a:srgbClr val="2A2B2E"/>
                </a:solidFill>
                <a:effectLst/>
                <a:latin typeface="PingFang SC"/>
              </a:rPr>
              <a:t>后置条件</a:t>
            </a:r>
            <a:br>
              <a:rPr lang="zh-CN" altLang="en-US" dirty="0"/>
            </a:br>
            <a:r>
              <a:rPr lang="zh-CN" altLang="en-US" dirty="0"/>
              <a:t>  </a:t>
            </a:r>
            <a:r>
              <a:rPr lang="zh-CN" altLang="en-US" b="0" i="0" dirty="0">
                <a:solidFill>
                  <a:srgbClr val="2A2B2E"/>
                </a:solidFill>
                <a:effectLst/>
                <a:latin typeface="PingFang SC"/>
              </a:rPr>
              <a:t>活动流程</a:t>
            </a:r>
            <a:br>
              <a:rPr lang="zh-CN" altLang="en-US" dirty="0"/>
            </a:br>
            <a:r>
              <a:rPr lang="zh-CN" altLang="en-US" dirty="0"/>
              <a:t>  </a:t>
            </a:r>
            <a:r>
              <a:rPr lang="zh-CN" altLang="en-US" b="0" i="0" dirty="0">
                <a:solidFill>
                  <a:srgbClr val="2A2B2E"/>
                </a:solidFill>
                <a:effectLst/>
                <a:latin typeface="PingFang SC"/>
              </a:rPr>
              <a:t>异常条件</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a:t>
            </a:fld>
            <a:endParaRPr lang="en-US" altLang="zh-CN"/>
          </a:p>
        </p:txBody>
      </p:sp>
    </p:spTree>
    <p:extLst>
      <p:ext uri="{BB962C8B-B14F-4D97-AF65-F5344CB8AC3E}">
        <p14:creationId xmlns:p14="http://schemas.microsoft.com/office/powerpoint/2010/main" val="3689573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完全开发的用例描述</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r>
              <a:rPr lang="en-US" altLang="zh-CN" b="0" i="0" dirty="0">
                <a:solidFill>
                  <a:srgbClr val="2A2B2E"/>
                </a:solidFill>
                <a:effectLst/>
                <a:latin typeface="PingFang SC"/>
              </a:rPr>
              <a:t>:</a:t>
            </a:r>
            <a:r>
              <a:rPr lang="zh-CN" altLang="en-US" b="0" i="0" dirty="0">
                <a:solidFill>
                  <a:srgbClr val="2A2B2E"/>
                </a:solidFill>
                <a:effectLst/>
                <a:latin typeface="PingFang SC"/>
              </a:rPr>
              <a:t>创建客户帐户</a:t>
            </a: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a:t>
            </a:fld>
            <a:endParaRPr lang="en-US" altLang="zh-CN"/>
          </a:p>
        </p:txBody>
      </p:sp>
    </p:spTree>
    <p:extLst>
      <p:ext uri="{BB962C8B-B14F-4D97-AF65-F5344CB8AC3E}">
        <p14:creationId xmlns:p14="http://schemas.microsoft.com/office/powerpoint/2010/main" val="177337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用例名；创建客户账户</a:t>
            </a:r>
            <a:endParaRPr lang="en-US" altLang="zh-CN" dirty="0"/>
          </a:p>
          <a:p>
            <a:r>
              <a:rPr lang="zh-CN" altLang="en-US" dirty="0"/>
              <a:t>场景：创建在线客户账户</a:t>
            </a:r>
            <a:endParaRPr lang="en-US" altLang="zh-CN" dirty="0"/>
          </a:p>
          <a:p>
            <a:r>
              <a:rPr lang="zh-CN" altLang="en-US" dirty="0"/>
              <a:t>触发事件：新用户想要新账户</a:t>
            </a:r>
            <a:endParaRPr lang="en-US" altLang="zh-CN" dirty="0"/>
          </a:p>
          <a:p>
            <a:r>
              <a:rPr lang="zh-CN" altLang="en-US" dirty="0"/>
              <a:t>相关人员：客户</a:t>
            </a:r>
            <a:endParaRPr lang="en-US" altLang="zh-CN" dirty="0"/>
          </a:p>
          <a:p>
            <a:r>
              <a:rPr lang="zh-CN" altLang="en-US" dirty="0"/>
              <a:t>相关用例：可能由结账购物车用例调用</a:t>
            </a:r>
            <a:endParaRPr lang="en-US" altLang="zh-CN" dirty="0"/>
          </a:p>
          <a:p>
            <a:r>
              <a:rPr lang="zh-CN" altLang="en-US" dirty="0"/>
              <a:t>利益相关者：会计，市场影响，销售</a:t>
            </a:r>
            <a:endParaRPr lang="en-US" altLang="zh-CN" dirty="0"/>
          </a:p>
          <a:p>
            <a:r>
              <a:rPr lang="zh-CN" altLang="en-US" dirty="0"/>
              <a:t>前置条件：客户账户子系统应当可用；信用卡</a:t>
            </a:r>
            <a:r>
              <a:rPr lang="en-US" altLang="zh-CN" dirty="0"/>
              <a:t>/</a:t>
            </a:r>
            <a:r>
              <a:rPr lang="zh-CN" altLang="en-US" dirty="0"/>
              <a:t>借记卡授权服务必须可用</a:t>
            </a:r>
            <a:endParaRPr lang="en-US" altLang="zh-CN" dirty="0"/>
          </a:p>
          <a:p>
            <a:r>
              <a:rPr lang="zh-CN" altLang="en-US" dirty="0"/>
              <a:t>后置条件：必须创建并保存客户；</a:t>
            </a:r>
            <a:endParaRPr lang="en-US" altLang="zh-CN" dirty="0"/>
          </a:p>
          <a:p>
            <a:r>
              <a:rPr lang="en-US" altLang="zh-CN" dirty="0"/>
              <a:t>	</a:t>
            </a:r>
            <a:r>
              <a:rPr lang="zh-CN" altLang="en-US" dirty="0"/>
              <a:t>必须创建并保存一个或多个地址；</a:t>
            </a:r>
            <a:endParaRPr lang="en-US" altLang="zh-CN" dirty="0"/>
          </a:p>
          <a:p>
            <a:r>
              <a:rPr lang="en-US" altLang="zh-CN" dirty="0"/>
              <a:t>	</a:t>
            </a:r>
            <a:r>
              <a:rPr lang="zh-CN" altLang="en-US" dirty="0"/>
              <a:t>信用卡</a:t>
            </a:r>
            <a:r>
              <a:rPr lang="en-US" altLang="zh-CN" dirty="0"/>
              <a:t>/</a:t>
            </a:r>
            <a:r>
              <a:rPr lang="zh-CN" altLang="en-US" dirty="0"/>
              <a:t>借记卡信息必须经过验证；</a:t>
            </a:r>
            <a:endParaRPr lang="en-US" altLang="zh-CN" dirty="0"/>
          </a:p>
          <a:p>
            <a:r>
              <a:rPr lang="en-US" altLang="zh-CN" dirty="0"/>
              <a:t>	</a:t>
            </a:r>
            <a:r>
              <a:rPr lang="zh-CN" altLang="en-US" dirty="0"/>
              <a:t>必须创建并保存帐户；</a:t>
            </a:r>
            <a:endParaRPr lang="en-US" altLang="zh-CN" dirty="0"/>
          </a:p>
          <a:p>
            <a:r>
              <a:rPr lang="en-US" altLang="zh-CN" dirty="0"/>
              <a:t>	</a:t>
            </a:r>
            <a:r>
              <a:rPr lang="zh-CN" altLang="en-US" dirty="0"/>
              <a:t>地址和帐户必须与客户相关联</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a:t>
            </a:fld>
            <a:endParaRPr lang="en-US" altLang="zh-CN"/>
          </a:p>
        </p:txBody>
      </p:sp>
    </p:spTree>
    <p:extLst>
      <p:ext uri="{BB962C8B-B14F-4D97-AF65-F5344CB8AC3E}">
        <p14:creationId xmlns:p14="http://schemas.microsoft.com/office/powerpoint/2010/main" val="3218703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10</a:t>
            </a:fld>
            <a:endParaRPr lang="en-US" altLang="zh-CN"/>
          </a:p>
        </p:txBody>
      </p:sp>
    </p:spTree>
    <p:extLst>
      <p:ext uri="{BB962C8B-B14F-4D97-AF65-F5344CB8AC3E}">
        <p14:creationId xmlns:p14="http://schemas.microsoft.com/office/powerpoint/2010/main" val="2767242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活动流程：</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1. </a:t>
            </a:r>
            <a:r>
              <a:rPr lang="zh-CN" altLang="en-US" b="0" i="0" dirty="0">
                <a:solidFill>
                  <a:srgbClr val="2A2B2E"/>
                </a:solidFill>
                <a:effectLst/>
                <a:latin typeface="PingFang SC"/>
              </a:rPr>
              <a:t>客户想要创建客户账号并输入了基本客户信息 </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1.1 </a:t>
            </a:r>
            <a:r>
              <a:rPr lang="zh-CN" altLang="en-US" b="0" i="0" dirty="0">
                <a:solidFill>
                  <a:srgbClr val="2A2B2E"/>
                </a:solidFill>
                <a:effectLst/>
                <a:latin typeface="PingFang SC"/>
              </a:rPr>
              <a:t>系统创建新客户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          1.2 </a:t>
            </a:r>
            <a:r>
              <a:rPr lang="zh-CN" altLang="en-US" b="0" i="0" dirty="0">
                <a:solidFill>
                  <a:srgbClr val="2A2B2E"/>
                </a:solidFill>
                <a:effectLst/>
                <a:latin typeface="PingFang SC"/>
              </a:rPr>
              <a:t>系统需要客户的地址</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2. </a:t>
            </a:r>
            <a:r>
              <a:rPr lang="zh-CN" altLang="en-US" b="0" i="0" dirty="0">
                <a:solidFill>
                  <a:srgbClr val="2A2B2E"/>
                </a:solidFill>
                <a:effectLst/>
                <a:latin typeface="PingFang SC"/>
              </a:rPr>
              <a:t>客户输入一个或多个地址</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2.1 </a:t>
            </a:r>
            <a:r>
              <a:rPr lang="zh-CN" altLang="en-US" b="0" i="0" dirty="0">
                <a:solidFill>
                  <a:srgbClr val="2A2B2E"/>
                </a:solidFill>
                <a:effectLst/>
                <a:latin typeface="PingFang SC"/>
              </a:rPr>
              <a:t>系统创建地址</a:t>
            </a:r>
            <a:endParaRPr lang="en-US" altLang="zh-CN" b="0" i="0" dirty="0">
              <a:solidFill>
                <a:srgbClr val="2A2B2E"/>
              </a:solidFill>
              <a:effectLst/>
              <a:latin typeface="PingFang SC"/>
            </a:endParaRPr>
          </a:p>
          <a:p>
            <a:r>
              <a:rPr lang="en-US" altLang="zh-CN" b="0" i="0" dirty="0">
                <a:solidFill>
                  <a:srgbClr val="2A2B2E"/>
                </a:solidFill>
                <a:effectLst/>
                <a:latin typeface="PingFang SC"/>
              </a:rPr>
              <a:t>          2.2 </a:t>
            </a:r>
            <a:r>
              <a:rPr lang="zh-CN" altLang="en-US" b="0" i="0" dirty="0">
                <a:solidFill>
                  <a:srgbClr val="2A2B2E"/>
                </a:solidFill>
                <a:effectLst/>
                <a:latin typeface="PingFang SC"/>
              </a:rPr>
              <a:t>系统需要客户的信用卡信息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3. </a:t>
            </a:r>
            <a:r>
              <a:rPr lang="zh-CN" altLang="en-US" b="0" i="0" dirty="0">
                <a:solidFill>
                  <a:srgbClr val="2A2B2E"/>
                </a:solidFill>
                <a:effectLst/>
                <a:latin typeface="PingFang SC"/>
              </a:rPr>
              <a:t>客户输入信用卡信息</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3.1 </a:t>
            </a:r>
            <a:r>
              <a:rPr lang="zh-CN" altLang="en-US" b="0" i="0" dirty="0">
                <a:solidFill>
                  <a:srgbClr val="2A2B2E"/>
                </a:solidFill>
                <a:effectLst/>
                <a:latin typeface="PingFang SC"/>
              </a:rPr>
              <a:t>系统创建账户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          3.2 </a:t>
            </a:r>
            <a:r>
              <a:rPr lang="zh-CN" altLang="en-US" b="0" i="0" dirty="0">
                <a:solidFill>
                  <a:srgbClr val="2A2B2E"/>
                </a:solidFill>
                <a:effectLst/>
                <a:latin typeface="PingFang SC"/>
              </a:rPr>
              <a:t>系统验证信用卡授权</a:t>
            </a:r>
            <a:endParaRPr lang="en-US" altLang="zh-CN" b="0" i="0" dirty="0">
              <a:solidFill>
                <a:srgbClr val="2A2B2E"/>
              </a:solidFill>
              <a:effectLst/>
              <a:latin typeface="PingFang SC"/>
            </a:endParaRPr>
          </a:p>
          <a:p>
            <a:r>
              <a:rPr lang="en-US" altLang="zh-CN" b="0" i="0" dirty="0">
                <a:solidFill>
                  <a:srgbClr val="2A2B2E"/>
                </a:solidFill>
                <a:effectLst/>
                <a:latin typeface="PingFang SC"/>
              </a:rPr>
              <a:t>          3.3 </a:t>
            </a:r>
            <a:r>
              <a:rPr lang="zh-CN" altLang="en-US" b="0" i="0" dirty="0">
                <a:solidFill>
                  <a:srgbClr val="2A2B2E"/>
                </a:solidFill>
                <a:effectLst/>
                <a:latin typeface="PingFang SC"/>
              </a:rPr>
              <a:t>系统关联客户，地址和账户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          3.4 </a:t>
            </a:r>
            <a:r>
              <a:rPr lang="zh-CN" altLang="en-US" b="0" i="0" dirty="0">
                <a:solidFill>
                  <a:srgbClr val="2A2B2E"/>
                </a:solidFill>
                <a:effectLst/>
                <a:latin typeface="PingFang SC"/>
              </a:rPr>
              <a:t>系统返回合法用户账户细节</a:t>
            </a:r>
            <a:endParaRPr lang="en-US" altLang="zh-CN" b="0" i="0" dirty="0">
              <a:solidFill>
                <a:srgbClr val="2A2B2E"/>
              </a:solidFill>
              <a:effectLst/>
              <a:latin typeface="PingFang SC"/>
            </a:endParaRPr>
          </a:p>
          <a:p>
            <a:endParaRPr lang="en-US" altLang="zh-CN" dirty="0"/>
          </a:p>
          <a:p>
            <a:r>
              <a:rPr lang="zh-CN" altLang="en-US" dirty="0"/>
              <a:t> </a:t>
            </a:r>
            <a:r>
              <a:rPr lang="zh-CN" altLang="en-US" b="0" i="0" dirty="0">
                <a:solidFill>
                  <a:srgbClr val="2A2B2E"/>
                </a:solidFill>
                <a:effectLst/>
                <a:latin typeface="PingFang SC"/>
              </a:rPr>
              <a:t>异常条件：</a:t>
            </a:r>
            <a:endParaRPr lang="en-US" altLang="zh-CN" b="0" i="0" dirty="0">
              <a:solidFill>
                <a:srgbClr val="2A2B2E"/>
              </a:solidFill>
              <a:effectLst/>
              <a:latin typeface="PingFang SC"/>
            </a:endParaRPr>
          </a:p>
          <a:p>
            <a:r>
              <a:rPr lang="en-US" altLang="zh-CN" b="0" i="0" dirty="0">
                <a:solidFill>
                  <a:srgbClr val="2A2B2E"/>
                </a:solidFill>
                <a:effectLst/>
                <a:latin typeface="PingFang SC"/>
              </a:rPr>
              <a:t>1.1 </a:t>
            </a:r>
            <a:r>
              <a:rPr lang="zh-CN" altLang="en-US" b="0" i="0" dirty="0">
                <a:solidFill>
                  <a:srgbClr val="2A2B2E"/>
                </a:solidFill>
                <a:effectLst/>
                <a:latin typeface="PingFang SC"/>
              </a:rPr>
              <a:t>基本客户信息不完整</a:t>
            </a:r>
            <a:endParaRPr lang="en-US" altLang="zh-CN" b="0" i="0" dirty="0">
              <a:solidFill>
                <a:srgbClr val="2A2B2E"/>
              </a:solidFill>
              <a:effectLst/>
              <a:latin typeface="PingFang SC"/>
            </a:endParaRPr>
          </a:p>
          <a:p>
            <a:r>
              <a:rPr lang="en-US" altLang="zh-CN" b="0" i="0" dirty="0">
                <a:solidFill>
                  <a:srgbClr val="2A2B2E"/>
                </a:solidFill>
                <a:effectLst/>
                <a:latin typeface="PingFang SC"/>
              </a:rPr>
              <a:t>2.1 </a:t>
            </a:r>
            <a:r>
              <a:rPr lang="zh-CN" altLang="en-US" b="0" i="0" dirty="0">
                <a:solidFill>
                  <a:srgbClr val="2A2B2E"/>
                </a:solidFill>
                <a:effectLst/>
                <a:latin typeface="PingFang SC"/>
              </a:rPr>
              <a:t>地址不合法</a:t>
            </a:r>
            <a:endParaRPr lang="en-US" altLang="zh-CN" b="0" i="0" dirty="0">
              <a:solidFill>
                <a:srgbClr val="2A2B2E"/>
              </a:solidFill>
              <a:effectLst/>
              <a:latin typeface="PingFang SC"/>
            </a:endParaRPr>
          </a:p>
          <a:p>
            <a:r>
              <a:rPr lang="en-US" altLang="zh-CN" b="0" i="0" dirty="0">
                <a:solidFill>
                  <a:srgbClr val="2A2B2E"/>
                </a:solidFill>
                <a:effectLst/>
                <a:latin typeface="PingFang SC"/>
              </a:rPr>
              <a:t>3.2 </a:t>
            </a:r>
            <a:r>
              <a:rPr lang="zh-CN" altLang="en-US" b="0" i="0" dirty="0">
                <a:solidFill>
                  <a:srgbClr val="2A2B2E"/>
                </a:solidFill>
                <a:effectLst/>
                <a:latin typeface="PingFang SC"/>
              </a:rPr>
              <a:t>信用卡信息不合法</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11</a:t>
            </a:fld>
            <a:endParaRPr lang="en-US" altLang="zh-CN"/>
          </a:p>
        </p:txBody>
      </p:sp>
    </p:spTree>
    <p:extLst>
      <p:ext uri="{BB962C8B-B14F-4D97-AF65-F5344CB8AC3E}">
        <p14:creationId xmlns:p14="http://schemas.microsoft.com/office/powerpoint/2010/main" val="3436015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用例描述细节：</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用例名称</a:t>
            </a:r>
            <a:br>
              <a:rPr lang="zh-CN" altLang="en-US" dirty="0"/>
            </a:br>
            <a:r>
              <a:rPr lang="en-US" altLang="zh-CN" dirty="0"/>
              <a:t>    </a:t>
            </a:r>
            <a:r>
              <a:rPr lang="en-US" altLang="zh-CN" b="0" i="0" dirty="0">
                <a:solidFill>
                  <a:srgbClr val="2A2B2E"/>
                </a:solidFill>
                <a:effectLst/>
                <a:latin typeface="PingFang SC"/>
              </a:rPr>
              <a:t>Verb-noun</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场景</a:t>
            </a:r>
            <a:r>
              <a:rPr lang="en-US" altLang="zh-CN" b="0" i="0" dirty="0">
                <a:solidFill>
                  <a:srgbClr val="2A2B2E"/>
                </a:solidFill>
                <a:effectLst/>
                <a:latin typeface="PingFang SC"/>
              </a:rPr>
              <a:t>(</a:t>
            </a:r>
            <a:r>
              <a:rPr lang="zh-CN" altLang="en-US" b="0" i="0" dirty="0">
                <a:solidFill>
                  <a:srgbClr val="2A2B2E"/>
                </a:solidFill>
                <a:effectLst/>
                <a:latin typeface="PingFang SC"/>
              </a:rPr>
              <a:t>如果需要</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一个用例可以有多个场景</a:t>
            </a:r>
            <a:r>
              <a:rPr lang="en-US" altLang="zh-CN" b="0" i="0" dirty="0">
                <a:solidFill>
                  <a:srgbClr val="2A2B2E"/>
                </a:solidFill>
                <a:effectLst/>
                <a:latin typeface="PingFang SC"/>
              </a:rPr>
              <a:t>(</a:t>
            </a:r>
            <a:r>
              <a:rPr lang="zh-CN" altLang="en-US" b="0" i="0" dirty="0">
                <a:solidFill>
                  <a:srgbClr val="2A2B2E"/>
                </a:solidFill>
                <a:effectLst/>
                <a:latin typeface="PingFang SC"/>
              </a:rPr>
              <a:t>特殊用例或更具体的路径</a:t>
            </a:r>
            <a:r>
              <a:rPr lang="en-US" altLang="zh-CN"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触发事件</a:t>
            </a:r>
            <a:br>
              <a:rPr lang="zh-CN" altLang="en-US" dirty="0"/>
            </a:br>
            <a:r>
              <a:rPr lang="zh-CN" altLang="en-US" dirty="0"/>
              <a:t>    </a:t>
            </a:r>
            <a:r>
              <a:rPr lang="zh-CN" altLang="en-US" b="0" i="0" dirty="0">
                <a:solidFill>
                  <a:srgbClr val="2A2B2E"/>
                </a:solidFill>
                <a:effectLst/>
                <a:latin typeface="PingFang SC"/>
              </a:rPr>
              <a:t>基于事件分解技术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简要描述</a:t>
            </a:r>
            <a:br>
              <a:rPr lang="zh-CN" altLang="en-US" dirty="0"/>
            </a:br>
            <a:r>
              <a:rPr lang="zh-CN" altLang="en-US" dirty="0"/>
              <a:t>     </a:t>
            </a:r>
            <a:r>
              <a:rPr lang="zh-CN" altLang="en-US" b="0" i="0" dirty="0">
                <a:solidFill>
                  <a:srgbClr val="2A2B2E"/>
                </a:solidFill>
                <a:effectLst/>
                <a:latin typeface="PingFang SC"/>
              </a:rPr>
              <a:t>以前在确定用例时编写的</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用户</a:t>
            </a:r>
            <a:br>
              <a:rPr lang="zh-CN" altLang="en-US" dirty="0"/>
            </a:br>
            <a:r>
              <a:rPr lang="zh-CN" altLang="en-US" dirty="0"/>
              <a:t>    </a:t>
            </a:r>
            <a:r>
              <a:rPr lang="zh-CN" altLang="en-US" b="0" i="0" dirty="0">
                <a:solidFill>
                  <a:srgbClr val="2A2B2E"/>
                </a:solidFill>
                <a:effectLst/>
                <a:latin typeface="PingFang SC"/>
              </a:rPr>
              <a:t>来自用例图的一个或多个用户</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12</a:t>
            </a:fld>
            <a:endParaRPr lang="en-US" altLang="zh-CN"/>
          </a:p>
        </p:txBody>
      </p:sp>
    </p:spTree>
    <p:extLst>
      <p:ext uri="{BB962C8B-B14F-4D97-AF65-F5344CB8AC3E}">
        <p14:creationId xmlns:p14="http://schemas.microsoft.com/office/powerpoint/2010/main" val="2110613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相关用例</a:t>
            </a:r>
            <a:r>
              <a:rPr lang="en-US" altLang="zh-CN" b="0" i="0" dirty="0">
                <a:solidFill>
                  <a:srgbClr val="2A2B2E"/>
                </a:solidFill>
                <a:effectLst/>
                <a:latin typeface="PingFang SC"/>
              </a:rPr>
              <a:t>&lt;&lt;includes&gt;&gt;</a:t>
            </a:r>
            <a:br>
              <a:rPr lang="zh-CN" altLang="en-US" dirty="0"/>
            </a:br>
            <a:r>
              <a:rPr lang="zh-CN" altLang="en-US" dirty="0"/>
              <a:t>  </a:t>
            </a:r>
            <a:r>
              <a:rPr lang="zh-CN" altLang="en-US" b="0" i="0" dirty="0">
                <a:solidFill>
                  <a:srgbClr val="2A2B2E"/>
                </a:solidFill>
                <a:effectLst/>
                <a:latin typeface="PingFang SC"/>
              </a:rPr>
              <a:t>如果一个用例调用或包含另一个用例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利益相关者</a:t>
            </a:r>
            <a:br>
              <a:rPr lang="zh-CN" altLang="en-US" dirty="0"/>
            </a:br>
            <a:r>
              <a:rPr lang="zh-CN" altLang="en-US" dirty="0"/>
              <a:t>  </a:t>
            </a:r>
            <a:r>
              <a:rPr lang="zh-CN" altLang="en-US" b="0" i="0" dirty="0">
                <a:solidFill>
                  <a:srgbClr val="2A2B2E"/>
                </a:solidFill>
                <a:effectLst/>
                <a:latin typeface="PingFang SC"/>
              </a:rPr>
              <a:t>任何对用例感兴趣的人</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先决条件</a:t>
            </a:r>
            <a:br>
              <a:rPr lang="zh-CN" altLang="en-US" dirty="0"/>
            </a:br>
            <a:r>
              <a:rPr lang="zh-CN" altLang="en-US" dirty="0"/>
              <a:t>  </a:t>
            </a:r>
            <a:r>
              <a:rPr lang="zh-CN" altLang="en-US" b="0" i="0" dirty="0">
                <a:solidFill>
                  <a:srgbClr val="2A2B2E"/>
                </a:solidFill>
                <a:effectLst/>
                <a:latin typeface="PingFang SC"/>
              </a:rPr>
              <a:t>在用例开始之前，什么必须是正确的</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后置条件</a:t>
            </a:r>
            <a:br>
              <a:rPr lang="zh-CN" altLang="en-US" dirty="0"/>
            </a:br>
            <a:r>
              <a:rPr lang="zh-CN" altLang="en-US" dirty="0"/>
              <a:t>  </a:t>
            </a:r>
            <a:r>
              <a:rPr lang="zh-CN" altLang="en-US" b="0" i="0" dirty="0">
                <a:solidFill>
                  <a:srgbClr val="2A2B2E"/>
                </a:solidFill>
                <a:effectLst/>
                <a:latin typeface="PingFang SC"/>
              </a:rPr>
              <a:t>当用例完成时，什么必须是正确的</a:t>
            </a:r>
            <a:br>
              <a:rPr lang="zh-CN" altLang="en-US" dirty="0"/>
            </a:br>
            <a:r>
              <a:rPr lang="zh-CN" altLang="en-US" b="0" i="0" dirty="0">
                <a:solidFill>
                  <a:srgbClr val="2A2B2E"/>
                </a:solidFill>
                <a:effectLst/>
                <a:latin typeface="PingFang SC"/>
              </a:rPr>
              <a:t>  用于计划测试用例的预期结果</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13</a:t>
            </a:fld>
            <a:endParaRPr lang="en-US" altLang="zh-CN"/>
          </a:p>
        </p:txBody>
      </p:sp>
    </p:spTree>
    <p:extLst>
      <p:ext uri="{BB962C8B-B14F-4D97-AF65-F5344CB8AC3E}">
        <p14:creationId xmlns:p14="http://schemas.microsoft.com/office/powerpoint/2010/main" val="15355952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活动流程</a:t>
            </a:r>
            <a:br>
              <a:rPr lang="zh-CN" altLang="en-US" dirty="0"/>
            </a:br>
            <a:r>
              <a:rPr lang="zh-CN" altLang="en-US" dirty="0"/>
              <a:t>  </a:t>
            </a:r>
            <a:r>
              <a:rPr lang="zh-CN" altLang="en-US" b="0" i="0" dirty="0">
                <a:solidFill>
                  <a:srgbClr val="2A2B2E"/>
                </a:solidFill>
                <a:effectLst/>
                <a:latin typeface="PingFang SC"/>
              </a:rPr>
              <a:t>参与者和系统之间进行的活动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异常条件</a:t>
            </a:r>
            <a:br>
              <a:rPr lang="zh-CN" altLang="en-US" dirty="0"/>
            </a:br>
            <a:r>
              <a:rPr lang="zh-CN" altLang="en-US" dirty="0"/>
              <a:t>  </a:t>
            </a:r>
            <a:r>
              <a:rPr lang="zh-CN" altLang="en-US" b="0" i="0" dirty="0">
                <a:solidFill>
                  <a:srgbClr val="2A2B2E"/>
                </a:solidFill>
                <a:effectLst/>
                <a:latin typeface="PingFang SC"/>
              </a:rPr>
              <a:t>哪里和什么地方会出错</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14</a:t>
            </a:fld>
            <a:endParaRPr lang="en-US" altLang="zh-CN"/>
          </a:p>
        </p:txBody>
      </p:sp>
    </p:spTree>
    <p:extLst>
      <p:ext uri="{BB962C8B-B14F-4D97-AF65-F5344CB8AC3E}">
        <p14:creationId xmlns:p14="http://schemas.microsoft.com/office/powerpoint/2010/main" val="2139352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另一个完全开发的用例描述示例</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用例：运输物品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15</a:t>
            </a:fld>
            <a:endParaRPr lang="en-US" altLang="zh-CN"/>
          </a:p>
        </p:txBody>
      </p:sp>
    </p:spTree>
    <p:extLst>
      <p:ext uri="{BB962C8B-B14F-4D97-AF65-F5344CB8AC3E}">
        <p14:creationId xmlns:p14="http://schemas.microsoft.com/office/powerpoint/2010/main" val="1901072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用例名：运输物品</a:t>
            </a:r>
            <a:endParaRPr lang="en-US" altLang="zh-CN" dirty="0"/>
          </a:p>
          <a:p>
            <a:r>
              <a:rPr lang="zh-CN" altLang="en-US" dirty="0"/>
              <a:t>场景：为一个新的订单运输物品</a:t>
            </a:r>
            <a:endParaRPr lang="en-US" altLang="zh-CN" dirty="0"/>
          </a:p>
          <a:p>
            <a:r>
              <a:rPr lang="zh-CN" altLang="en-US" dirty="0"/>
              <a:t>触发事件：运输新订单</a:t>
            </a:r>
            <a:endParaRPr lang="en-US" altLang="zh-CN" dirty="0"/>
          </a:p>
          <a:p>
            <a:r>
              <a:rPr lang="zh-CN" altLang="en-US" dirty="0"/>
              <a:t>简短描述：运输订单，找到对应物品并且记录这些物品被运输，记录哪些物品缺货，送出运输</a:t>
            </a:r>
            <a:endParaRPr lang="en-US" altLang="zh-CN" dirty="0"/>
          </a:p>
          <a:p>
            <a:r>
              <a:rPr lang="zh-CN" altLang="en-US" dirty="0"/>
              <a:t>用户：发货员</a:t>
            </a:r>
            <a:endParaRPr lang="en-US" altLang="zh-CN" dirty="0"/>
          </a:p>
          <a:p>
            <a:r>
              <a:rPr lang="zh-CN" altLang="en-US" dirty="0"/>
              <a:t>相关用例：无</a:t>
            </a:r>
            <a:endParaRPr lang="en-US" altLang="zh-CN" dirty="0"/>
          </a:p>
          <a:p>
            <a:r>
              <a:rPr lang="zh-CN" altLang="en-US" dirty="0"/>
              <a:t>利益相关者：销售，市场营销，运输，仓库管理员</a:t>
            </a:r>
            <a:endParaRPr lang="en-US" altLang="zh-CN" dirty="0"/>
          </a:p>
          <a:p>
            <a:r>
              <a:rPr lang="zh-CN" altLang="en-US" dirty="0"/>
              <a:t>前置状态：客户和地址必须存在；订单必须存在，订单物品必须存在</a:t>
            </a:r>
            <a:endParaRPr lang="en-US" altLang="zh-CN" dirty="0"/>
          </a:p>
          <a:p>
            <a:r>
              <a:rPr lang="zh-CN" altLang="en-US" dirty="0"/>
              <a:t>后置状态：运输由运输者创建和关联；运输的订单物品会跟着运输状态而更新；</a:t>
            </a:r>
            <a:endParaRPr lang="en-US" altLang="zh-CN" dirty="0"/>
          </a:p>
          <a:p>
            <a:r>
              <a:rPr lang="en-US" altLang="zh-CN" dirty="0"/>
              <a:t>                 </a:t>
            </a:r>
            <a:r>
              <a:rPr lang="zh-CN" altLang="en-US" dirty="0"/>
              <a:t>未运输的物品应当被标记为缺货预定；运输标签被确认并生成</a:t>
            </a: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16</a:t>
            </a:fld>
            <a:endParaRPr lang="en-US" altLang="zh-CN"/>
          </a:p>
        </p:txBody>
      </p:sp>
    </p:spTree>
    <p:extLst>
      <p:ext uri="{BB962C8B-B14F-4D97-AF65-F5344CB8AC3E}">
        <p14:creationId xmlns:p14="http://schemas.microsoft.com/office/powerpoint/2010/main" val="3079158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17</a:t>
            </a:fld>
            <a:endParaRPr lang="en-US" altLang="zh-CN"/>
          </a:p>
        </p:txBody>
      </p:sp>
    </p:spTree>
    <p:extLst>
      <p:ext uri="{BB962C8B-B14F-4D97-AF65-F5344CB8AC3E}">
        <p14:creationId xmlns:p14="http://schemas.microsoft.com/office/powerpoint/2010/main" val="3483441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活动流程：</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1. </a:t>
            </a:r>
            <a:r>
              <a:rPr lang="zh-CN" altLang="en-US" b="0" i="0" dirty="0">
                <a:solidFill>
                  <a:srgbClr val="2A2B2E"/>
                </a:solidFill>
                <a:effectLst/>
                <a:latin typeface="PingFang SC"/>
              </a:rPr>
              <a:t>请求订单和订单物品的信息</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1.1 </a:t>
            </a:r>
            <a:r>
              <a:rPr lang="zh-CN" altLang="en-US" b="0" i="0" dirty="0">
                <a:solidFill>
                  <a:srgbClr val="2A2B2E"/>
                </a:solidFill>
                <a:effectLst/>
                <a:latin typeface="PingFang SC"/>
              </a:rPr>
              <a:t>系统查到订单并且返回客户，地址，订单，和订单信息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2. </a:t>
            </a:r>
            <a:r>
              <a:rPr lang="zh-CN" altLang="en-US" b="0" i="0" dirty="0">
                <a:solidFill>
                  <a:srgbClr val="2A2B2E"/>
                </a:solidFill>
                <a:effectLst/>
                <a:latin typeface="PingFang SC"/>
              </a:rPr>
              <a:t>为运输分配运输人员</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2.1</a:t>
            </a:r>
            <a:r>
              <a:rPr lang="zh-CN" altLang="en-US" b="0" i="0" dirty="0">
                <a:solidFill>
                  <a:srgbClr val="2A2B2E"/>
                </a:solidFill>
                <a:effectLst/>
                <a:latin typeface="PingFang SC"/>
              </a:rPr>
              <a:t>系统创建运输并关联相关运输人员</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3. </a:t>
            </a:r>
            <a:r>
              <a:rPr lang="zh-CN" altLang="en-US" b="0" i="0" dirty="0">
                <a:solidFill>
                  <a:srgbClr val="2A2B2E"/>
                </a:solidFill>
                <a:effectLst/>
                <a:latin typeface="PingFang SC"/>
              </a:rPr>
              <a:t>对于每一个有货的物品，更新他们的运输信息为已运输</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3.1 </a:t>
            </a:r>
            <a:r>
              <a:rPr lang="zh-CN" altLang="en-US" b="0" i="0" dirty="0">
                <a:solidFill>
                  <a:srgbClr val="2A2B2E"/>
                </a:solidFill>
                <a:effectLst/>
                <a:latin typeface="PingFang SC"/>
              </a:rPr>
              <a:t>系统更新订单物品为已运输并关联到运输信息熵</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4. </a:t>
            </a:r>
            <a:r>
              <a:rPr lang="zh-CN" altLang="en-US" b="0" i="0" dirty="0">
                <a:solidFill>
                  <a:srgbClr val="2A2B2E"/>
                </a:solidFill>
                <a:effectLst/>
                <a:latin typeface="PingFang SC"/>
              </a:rPr>
              <a:t>对每一个缺货的物品，记录为缺货订购订单</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4.1 </a:t>
            </a:r>
            <a:r>
              <a:rPr lang="zh-CN" altLang="en-US" b="0" i="0" dirty="0">
                <a:solidFill>
                  <a:srgbClr val="2A2B2E"/>
                </a:solidFill>
                <a:effectLst/>
                <a:latin typeface="PingFang SC"/>
              </a:rPr>
              <a:t>系统更新订单物品为缺货订单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5. </a:t>
            </a:r>
            <a:r>
              <a:rPr lang="zh-CN" altLang="en-US" b="0" i="0" dirty="0">
                <a:solidFill>
                  <a:srgbClr val="2A2B2E"/>
                </a:solidFill>
                <a:effectLst/>
                <a:latin typeface="PingFang SC"/>
              </a:rPr>
              <a:t>运输请求运输标签，标签上提供包裹大小和重量</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5.1 </a:t>
            </a:r>
            <a:r>
              <a:rPr lang="zh-CN" altLang="en-US" b="0" i="0" dirty="0">
                <a:solidFill>
                  <a:srgbClr val="2A2B2E"/>
                </a:solidFill>
                <a:effectLst/>
                <a:latin typeface="PingFang SC"/>
              </a:rPr>
              <a:t>系统生成运输标签</a:t>
            </a:r>
            <a:endParaRPr lang="en-US" altLang="zh-CN" b="0" i="0" dirty="0">
              <a:solidFill>
                <a:srgbClr val="2A2B2E"/>
              </a:solidFill>
              <a:effectLst/>
              <a:latin typeface="PingFang SC"/>
            </a:endParaRPr>
          </a:p>
          <a:p>
            <a:r>
              <a:rPr lang="en-US" altLang="zh-CN" b="0" i="0" dirty="0">
                <a:solidFill>
                  <a:srgbClr val="2A2B2E"/>
                </a:solidFill>
                <a:effectLst/>
                <a:latin typeface="PingFang SC"/>
              </a:rPr>
              <a:t>          5.2 </a:t>
            </a:r>
            <a:r>
              <a:rPr lang="zh-CN" altLang="en-US" b="0" i="0" dirty="0">
                <a:solidFill>
                  <a:srgbClr val="2A2B2E"/>
                </a:solidFill>
                <a:effectLst/>
                <a:latin typeface="PingFang SC"/>
              </a:rPr>
              <a:t>系统记录运输费用</a:t>
            </a:r>
            <a:endParaRPr lang="en-US" altLang="zh-CN" b="0" i="0" dirty="0">
              <a:solidFill>
                <a:srgbClr val="2A2B2E"/>
              </a:solidFill>
              <a:effectLst/>
              <a:latin typeface="PingFang SC"/>
            </a:endParaRPr>
          </a:p>
          <a:p>
            <a:endParaRPr lang="en-US" altLang="zh-CN" dirty="0"/>
          </a:p>
          <a:p>
            <a:r>
              <a:rPr lang="zh-CN" altLang="en-US" dirty="0"/>
              <a:t> </a:t>
            </a:r>
            <a:r>
              <a:rPr lang="zh-CN" altLang="en-US" b="0" i="0" dirty="0">
                <a:solidFill>
                  <a:srgbClr val="2A2B2E"/>
                </a:solidFill>
                <a:effectLst/>
                <a:latin typeface="PingFang SC"/>
              </a:rPr>
              <a:t>异常条件：</a:t>
            </a:r>
            <a:endParaRPr lang="en-US" altLang="zh-CN" b="0" i="0" dirty="0">
              <a:solidFill>
                <a:srgbClr val="2A2B2E"/>
              </a:solidFill>
              <a:effectLst/>
              <a:latin typeface="PingFang SC"/>
            </a:endParaRPr>
          </a:p>
          <a:p>
            <a:r>
              <a:rPr lang="en-US" altLang="zh-CN" b="0" i="0" dirty="0">
                <a:solidFill>
                  <a:srgbClr val="2A2B2E"/>
                </a:solidFill>
                <a:effectLst/>
                <a:latin typeface="PingFang SC"/>
              </a:rPr>
              <a:t>2.1 </a:t>
            </a:r>
            <a:r>
              <a:rPr lang="zh-CN" altLang="en-US" b="0" i="0" dirty="0">
                <a:solidFill>
                  <a:srgbClr val="2A2B2E"/>
                </a:solidFill>
                <a:effectLst/>
                <a:latin typeface="PingFang SC"/>
              </a:rPr>
              <a:t>运输人员不在该位置，需要选择另一个人员</a:t>
            </a:r>
            <a:endParaRPr lang="en-US" altLang="zh-CN" b="0" i="0" dirty="0">
              <a:solidFill>
                <a:srgbClr val="2A2B2E"/>
              </a:solidFill>
              <a:effectLst/>
              <a:latin typeface="PingFang SC"/>
            </a:endParaRPr>
          </a:p>
          <a:p>
            <a:r>
              <a:rPr lang="en-US" altLang="zh-CN" b="0" i="0" dirty="0">
                <a:solidFill>
                  <a:srgbClr val="2A2B2E"/>
                </a:solidFill>
                <a:effectLst/>
                <a:latin typeface="PingFang SC"/>
              </a:rPr>
              <a:t>3.1 </a:t>
            </a:r>
            <a:r>
              <a:rPr lang="zh-CN" altLang="en-US" b="0" i="0" dirty="0">
                <a:solidFill>
                  <a:srgbClr val="2A2B2E"/>
                </a:solidFill>
                <a:effectLst/>
                <a:latin typeface="PingFang SC"/>
              </a:rPr>
              <a:t>如果订单物品被损坏，取一个新的物品并且更新物品数量</a:t>
            </a:r>
            <a:r>
              <a:rPr lang="en-US" altLang="zh-CN" b="0" i="0" dirty="0">
                <a:solidFill>
                  <a:srgbClr val="2A2B2E"/>
                </a:solidFill>
                <a:effectLst/>
                <a:latin typeface="PingFang SC"/>
              </a:rPr>
              <a:t> </a:t>
            </a:r>
          </a:p>
          <a:p>
            <a:r>
              <a:rPr lang="en-US" altLang="zh-CN" b="0" i="0" dirty="0">
                <a:solidFill>
                  <a:srgbClr val="2A2B2E"/>
                </a:solidFill>
                <a:effectLst/>
                <a:latin typeface="PingFang SC"/>
              </a:rPr>
              <a:t>3.1 </a:t>
            </a:r>
            <a:r>
              <a:rPr lang="zh-CN" altLang="en-US" b="0" i="0" dirty="0">
                <a:solidFill>
                  <a:srgbClr val="2A2B2E"/>
                </a:solidFill>
                <a:effectLst/>
                <a:latin typeface="PingFang SC"/>
              </a:rPr>
              <a:t>如果物品二维码无法正确扫描，需要手动输入二维码</a:t>
            </a:r>
            <a:endParaRPr lang="en-US" altLang="zh-CN" b="0" i="0" dirty="0">
              <a:solidFill>
                <a:srgbClr val="2A2B2E"/>
              </a:solidFill>
              <a:effectLst/>
              <a:latin typeface="PingFang SC"/>
            </a:endParaRPr>
          </a:p>
          <a:p>
            <a:r>
              <a:rPr lang="en-US" altLang="zh-CN" b="0" i="0" dirty="0">
                <a:solidFill>
                  <a:srgbClr val="2A2B2E"/>
                </a:solidFill>
                <a:effectLst/>
                <a:latin typeface="PingFang SC"/>
              </a:rPr>
              <a:t>5.1 </a:t>
            </a:r>
            <a:r>
              <a:rPr lang="zh-CN" altLang="en-US" b="0" i="0" dirty="0">
                <a:solidFill>
                  <a:srgbClr val="2A2B2E"/>
                </a:solidFill>
                <a:effectLst/>
                <a:latin typeface="PingFang SC"/>
              </a:rPr>
              <a:t>输入打印的标签不正确，标签需要能够手动修改</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18</a:t>
            </a:fld>
            <a:endParaRPr lang="en-US" altLang="zh-CN"/>
          </a:p>
        </p:txBody>
      </p:sp>
    </p:spTree>
    <p:extLst>
      <p:ext uri="{BB962C8B-B14F-4D97-AF65-F5344CB8AC3E}">
        <p14:creationId xmlns:p14="http://schemas.microsoft.com/office/powerpoint/2010/main" val="14170540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19</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用例活动图</a:t>
            </a:r>
            <a:endParaRPr lang="en-US" altLang="zh-CN" dirty="0">
              <a:latin typeface="Arial" panose="020B0604020202020204" pitchFamily="34" charset="0"/>
              <a:cs typeface="Arial" panose="020B0604020202020204" pitchFamily="34" charset="0"/>
            </a:endParaRPr>
          </a:p>
          <a:p>
            <a:pPr eaLnBrk="1" hangingPunct="1"/>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5870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用例活动图例子：</a:t>
            </a:r>
            <a:r>
              <a:rPr lang="zh-CN" altLang="en-US" b="0" i="0" dirty="0">
                <a:solidFill>
                  <a:srgbClr val="2A2B2E"/>
                </a:solidFill>
                <a:effectLst/>
                <a:latin typeface="PingFang SC"/>
              </a:rPr>
              <a:t>创建客户账户</a:t>
            </a:r>
          </a:p>
          <a:p>
            <a:r>
              <a:rPr lang="zh-CN" altLang="en-US" b="0" i="0" dirty="0">
                <a:solidFill>
                  <a:srgbClr val="2A2B2E"/>
                </a:solidFill>
                <a:effectLst/>
                <a:latin typeface="PingFang SC"/>
              </a:rPr>
              <a:t>注意</a:t>
            </a:r>
            <a:r>
              <a:rPr lang="en-US" altLang="zh-CN" b="0" i="0" dirty="0">
                <a:solidFill>
                  <a:srgbClr val="2A2B2E"/>
                </a:solidFill>
                <a:effectLst/>
                <a:latin typeface="PingFang SC"/>
              </a:rPr>
              <a:t>:</a:t>
            </a:r>
            <a:r>
              <a:rPr lang="zh-CN" altLang="en-US" b="0" i="0" dirty="0">
                <a:solidFill>
                  <a:srgbClr val="2A2B2E"/>
                </a:solidFill>
                <a:effectLst/>
                <a:latin typeface="PingFang SC"/>
              </a:rPr>
              <a:t>这只显示了活动流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请求账户，创建客户账户，输入地址，创建地址，输入信用卡信息，创建账户，验证信用卡信息，返回账户细节</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20</a:t>
            </a:fld>
            <a:endParaRPr lang="en-US" altLang="zh-CN"/>
          </a:p>
        </p:txBody>
      </p:sp>
    </p:spTree>
    <p:extLst>
      <p:ext uri="{BB962C8B-B14F-4D97-AF65-F5344CB8AC3E}">
        <p14:creationId xmlns:p14="http://schemas.microsoft.com/office/powerpoint/2010/main" val="39279820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购物车</a:t>
            </a:r>
            <a:endParaRPr lang="en-US" altLang="zh-CN" dirty="0"/>
          </a:p>
          <a:p>
            <a:r>
              <a:rPr lang="zh-CN" altLang="en-US" b="0" i="0" dirty="0">
                <a:solidFill>
                  <a:srgbClr val="2A2B2E"/>
                </a:solidFill>
                <a:effectLst/>
                <a:latin typeface="PingFang SC"/>
              </a:rPr>
              <a:t>该用例显示了带有</a:t>
            </a:r>
            <a:r>
              <a:rPr lang="en-US" altLang="zh-CN" b="0" i="0" dirty="0">
                <a:solidFill>
                  <a:srgbClr val="2A2B2E"/>
                </a:solidFill>
                <a:effectLst/>
                <a:latin typeface="PingFang SC"/>
              </a:rPr>
              <a:t>&lt;&lt;includes&gt;&gt;</a:t>
            </a:r>
            <a:r>
              <a:rPr lang="zh-CN" altLang="en-US" b="0" i="0" dirty="0">
                <a:solidFill>
                  <a:srgbClr val="2A2B2E"/>
                </a:solidFill>
                <a:effectLst/>
                <a:latin typeface="PingFang SC"/>
              </a:rPr>
              <a:t>关系的用例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搜索产品，查看产品评价，选择产品和数量，加入购物车，搜索并查看配件，选择配件和数量，加入购物车</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21</a:t>
            </a:fld>
            <a:endParaRPr lang="en-US" altLang="zh-CN"/>
          </a:p>
        </p:txBody>
      </p:sp>
    </p:spTree>
    <p:extLst>
      <p:ext uri="{BB962C8B-B14F-4D97-AF65-F5344CB8AC3E}">
        <p14:creationId xmlns:p14="http://schemas.microsoft.com/office/powerpoint/2010/main" val="3481994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22</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系统顺序图</a:t>
            </a:r>
            <a:r>
              <a:rPr lang="en-US" altLang="zh-CN" b="0" i="0" dirty="0">
                <a:solidFill>
                  <a:srgbClr val="2A2B2E"/>
                </a:solidFill>
                <a:effectLst/>
                <a:latin typeface="PingFang SC"/>
              </a:rPr>
              <a:t>-</a:t>
            </a:r>
            <a:r>
              <a:rPr lang="zh-CN" altLang="en-US" b="0" i="0" dirty="0">
                <a:solidFill>
                  <a:srgbClr val="2A2B2E"/>
                </a:solidFill>
                <a:effectLst/>
                <a:latin typeface="PingFang SC"/>
              </a:rPr>
              <a:t>识别输入和输出</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86659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办事员</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23</a:t>
            </a:fld>
            <a:endParaRPr lang="en-US" altLang="zh-CN"/>
          </a:p>
        </p:txBody>
      </p:sp>
    </p:spTree>
    <p:extLst>
      <p:ext uri="{BB962C8B-B14F-4D97-AF65-F5344CB8AC3E}">
        <p14:creationId xmlns:p14="http://schemas.microsoft.com/office/powerpoint/2010/main" val="4249606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方框代表整个自动化系统的一个对象。</a:t>
            </a:r>
            <a:endParaRPr lang="en-US" altLang="zh-CN" dirty="0"/>
          </a:p>
          <a:p>
            <a:r>
              <a:rPr lang="zh-CN" altLang="en-US" dirty="0"/>
              <a:t>在对象符号中，方框指的是一个独立的对象，而不是所有类似对象的类</a:t>
            </a:r>
            <a:endParaRPr lang="en-US" altLang="zh-CN" dirty="0"/>
          </a:p>
          <a:p>
            <a:r>
              <a:rPr lang="zh-CN" altLang="en-US" dirty="0"/>
              <a:t>这个符号是由带下划线的对象名称和一个矩形框组成的</a:t>
            </a:r>
            <a:endParaRPr lang="en-US" altLang="zh-CN" dirty="0"/>
          </a:p>
          <a:p>
            <a:r>
              <a:rPr lang="zh-CN" altLang="en-US" dirty="0"/>
              <a:t>带下划线的对象名称前面的冒号是对象符号中的可选部分，但习惯上常常使用</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24</a:t>
            </a:fld>
            <a:endParaRPr lang="en-US" altLang="zh-CN"/>
          </a:p>
        </p:txBody>
      </p:sp>
    </p:spTree>
    <p:extLst>
      <p:ext uri="{BB962C8B-B14F-4D97-AF65-F5344CB8AC3E}">
        <p14:creationId xmlns:p14="http://schemas.microsoft.com/office/powerpoint/2010/main" val="3106231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生命线：展示了</a:t>
            </a:r>
            <a:r>
              <a:rPr lang="en-US" altLang="zh-CN" dirty="0"/>
              <a:t>message</a:t>
            </a:r>
            <a:r>
              <a:rPr lang="zh-CN" altLang="en-US" dirty="0"/>
              <a:t>的顺序</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25</a:t>
            </a:fld>
            <a:endParaRPr lang="en-US" altLang="zh-CN"/>
          </a:p>
        </p:txBody>
      </p:sp>
    </p:spTree>
    <p:extLst>
      <p:ext uri="{BB962C8B-B14F-4D97-AF65-F5344CB8AC3E}">
        <p14:creationId xmlns:p14="http://schemas.microsoft.com/office/powerpoint/2010/main" val="25124835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输入信息和返回值</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26</a:t>
            </a:fld>
            <a:endParaRPr lang="en-US" altLang="zh-CN"/>
          </a:p>
        </p:txBody>
      </p:sp>
    </p:spTree>
    <p:extLst>
      <p:ext uri="{BB962C8B-B14F-4D97-AF65-F5344CB8AC3E}">
        <p14:creationId xmlns:p14="http://schemas.microsoft.com/office/powerpoint/2010/main" val="419970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可选注释，用于解释图表中的某些内容</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27</a:t>
            </a:fld>
            <a:endParaRPr lang="en-US" altLang="zh-CN"/>
          </a:p>
        </p:txBody>
      </p:sp>
    </p:spTree>
    <p:extLst>
      <p:ext uri="{BB962C8B-B14F-4D97-AF65-F5344CB8AC3E}">
        <p14:creationId xmlns:p14="http://schemas.microsoft.com/office/powerpoint/2010/main" val="8843037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系统顺序图：</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UML</a:t>
            </a:r>
            <a:r>
              <a:rPr lang="zh-CN" altLang="en-US" b="0" i="0" dirty="0">
                <a:solidFill>
                  <a:srgbClr val="2A2B2E"/>
                </a:solidFill>
                <a:effectLst/>
                <a:latin typeface="PingFang SC"/>
              </a:rPr>
              <a:t>顺序图</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顺序图的特殊情况</a:t>
            </a:r>
            <a:br>
              <a:rPr lang="zh-CN" altLang="en-US" b="0" i="0" dirty="0">
                <a:solidFill>
                  <a:srgbClr val="2A2B2E"/>
                </a:solidFill>
                <a:effectLst/>
                <a:latin typeface="PingFang SC"/>
              </a:rPr>
            </a:br>
            <a:r>
              <a:rPr lang="zh-CN" altLang="en-US" b="0" i="0" dirty="0">
                <a:solidFill>
                  <a:srgbClr val="2A2B2E"/>
                </a:solidFill>
                <a:effectLst/>
                <a:latin typeface="PingFang SC"/>
              </a:rPr>
              <a:t>  只显示人员和一个对象</a:t>
            </a:r>
            <a:br>
              <a:rPr lang="zh-CN" altLang="en-US" b="0" i="0" dirty="0">
                <a:solidFill>
                  <a:srgbClr val="2A2B2E"/>
                </a:solidFill>
                <a:effectLst/>
                <a:latin typeface="PingFang SC"/>
              </a:rPr>
            </a:br>
            <a:r>
              <a:rPr lang="zh-CN" altLang="en-US" b="0" i="0" dirty="0">
                <a:solidFill>
                  <a:srgbClr val="2A2B2E"/>
                </a:solidFill>
                <a:effectLst/>
                <a:latin typeface="PingFang SC"/>
              </a:rPr>
              <a:t>  一个对象代表整个系统</a:t>
            </a:r>
            <a:br>
              <a:rPr lang="zh-CN" altLang="en-US" b="0" i="0" dirty="0">
                <a:solidFill>
                  <a:srgbClr val="2A2B2E"/>
                </a:solidFill>
                <a:effectLst/>
                <a:latin typeface="PingFang SC"/>
              </a:rPr>
            </a:br>
            <a:r>
              <a:rPr lang="zh-CN" altLang="en-US" b="0" i="0" dirty="0">
                <a:solidFill>
                  <a:srgbClr val="2A2B2E"/>
                </a:solidFill>
                <a:effectLst/>
                <a:latin typeface="PingFang SC"/>
              </a:rPr>
              <a:t>  显示用例的输入和输出消息传递需求</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参与者、系统、对象生命线</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消息</a:t>
            </a:r>
          </a:p>
          <a:p>
            <a:br>
              <a:rPr lang="zh-CN" altLang="en-US" b="0" i="0" dirty="0">
                <a:solidFill>
                  <a:srgbClr val="939599"/>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28</a:t>
            </a:fld>
            <a:endParaRPr lang="en-US" altLang="zh-CN"/>
          </a:p>
        </p:txBody>
      </p:sp>
    </p:spTree>
    <p:extLst>
      <p:ext uri="{BB962C8B-B14F-4D97-AF65-F5344CB8AC3E}">
        <p14:creationId xmlns:p14="http://schemas.microsoft.com/office/powerpoint/2010/main" val="13859332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消息符号</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29</a:t>
            </a:fld>
            <a:endParaRPr lang="en-US" altLang="zh-CN"/>
          </a:p>
        </p:txBody>
      </p:sp>
    </p:spTree>
    <p:extLst>
      <p:ext uri="{BB962C8B-B14F-4D97-AF65-F5344CB8AC3E}">
        <p14:creationId xmlns:p14="http://schemas.microsoft.com/office/powerpoint/2010/main" val="37758025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星号：消息是重复的或者循环发生的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30</a:t>
            </a:fld>
            <a:endParaRPr lang="en-US" altLang="zh-CN"/>
          </a:p>
        </p:txBody>
      </p:sp>
    </p:spTree>
    <p:extLst>
      <p:ext uri="{BB962C8B-B14F-4D97-AF65-F5344CB8AC3E}">
        <p14:creationId xmlns:p14="http://schemas.microsoft.com/office/powerpoint/2010/main" val="996661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括号：真</a:t>
            </a:r>
            <a:r>
              <a:rPr lang="en-US" altLang="zh-CN" b="0" i="0" dirty="0">
                <a:solidFill>
                  <a:srgbClr val="2A2B2E"/>
                </a:solidFill>
                <a:effectLst/>
                <a:latin typeface="PingFang SC"/>
              </a:rPr>
              <a:t>/</a:t>
            </a:r>
            <a:r>
              <a:rPr lang="zh-CN" altLang="en-US" b="0" i="0" dirty="0">
                <a:solidFill>
                  <a:srgbClr val="2A2B2E"/>
                </a:solidFill>
                <a:effectLst/>
                <a:latin typeface="PingFang SC"/>
              </a:rPr>
              <a:t>假的状态判断；如果为真，则消息发送，否则不发送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31</a:t>
            </a:fld>
            <a:endParaRPr lang="en-US" altLang="zh-CN"/>
          </a:p>
        </p:txBody>
      </p:sp>
    </p:spTree>
    <p:extLst>
      <p:ext uri="{BB962C8B-B14F-4D97-AF65-F5344CB8AC3E}">
        <p14:creationId xmlns:p14="http://schemas.microsoft.com/office/powerpoint/2010/main" val="27487574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消息名：对所请求服务的描述。它在虚线返回消息中被省略，虚线返回消息只显示返回数据参数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32</a:t>
            </a:fld>
            <a:endParaRPr lang="en-US" altLang="zh-CN"/>
          </a:p>
        </p:txBody>
      </p:sp>
    </p:spTree>
    <p:extLst>
      <p:ext uri="{BB962C8B-B14F-4D97-AF65-F5344CB8AC3E}">
        <p14:creationId xmlns:p14="http://schemas.microsoft.com/office/powerpoint/2010/main" val="812258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参数列表：</a:t>
            </a:r>
            <a:r>
              <a:rPr lang="zh-CN" altLang="en-US" dirty="0">
                <a:sym typeface="Wingdings" panose="05000000000000000000" pitchFamily="2" charset="2"/>
              </a:rPr>
              <a:t>显示与消息一起传递的数据（初始消息有括号，返回消息没有括号）</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33</a:t>
            </a:fld>
            <a:endParaRPr lang="en-US" altLang="zh-CN"/>
          </a:p>
        </p:txBody>
      </p:sp>
    </p:spTree>
    <p:extLst>
      <p:ext uri="{BB962C8B-B14F-4D97-AF65-F5344CB8AC3E}">
        <p14:creationId xmlns:p14="http://schemas.microsoft.com/office/powerpoint/2010/main" val="12904241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返回值：描述作为对消息的响应从目标对象返回到源对象的数据</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34</a:t>
            </a:fld>
            <a:endParaRPr lang="en-US" altLang="zh-CN"/>
          </a:p>
        </p:txBody>
      </p:sp>
    </p:spTree>
    <p:extLst>
      <p:ext uri="{BB962C8B-B14F-4D97-AF65-F5344CB8AC3E}">
        <p14:creationId xmlns:p14="http://schemas.microsoft.com/office/powerpoint/2010/main" val="2579982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带环路的系统顺序图示例</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35</a:t>
            </a:fld>
            <a:endParaRPr lang="en-US" altLang="zh-CN"/>
          </a:p>
        </p:txBody>
      </p:sp>
    </p:spTree>
    <p:extLst>
      <p:ext uri="{BB962C8B-B14F-4D97-AF65-F5344CB8AC3E}">
        <p14:creationId xmlns:p14="http://schemas.microsoft.com/office/powerpoint/2010/main" val="34840218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可选框架：添加配件</a:t>
            </a:r>
            <a:endParaRPr lang="en-US" altLang="zh-CN" dirty="0"/>
          </a:p>
          <a:p>
            <a:endParaRPr lang="en-US" altLang="zh-CN" dirty="0"/>
          </a:p>
          <a:p>
            <a:r>
              <a:rPr lang="zh-CN" altLang="en-US" dirty="0"/>
              <a:t>判断框架：增加税（位置码） 或者 增加免税代码</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36</a:t>
            </a:fld>
            <a:endParaRPr lang="en-US" altLang="zh-CN"/>
          </a:p>
        </p:txBody>
      </p:sp>
    </p:spTree>
    <p:extLst>
      <p:ext uri="{BB962C8B-B14F-4D97-AF65-F5344CB8AC3E}">
        <p14:creationId xmlns:p14="http://schemas.microsoft.com/office/powerpoint/2010/main" val="15157176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开发系统顺序图的步骤</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1. </a:t>
            </a:r>
            <a:r>
              <a:rPr lang="zh-CN" altLang="en-US" b="0" i="0" dirty="0">
                <a:solidFill>
                  <a:srgbClr val="2A2B2E"/>
                </a:solidFill>
                <a:effectLst/>
                <a:latin typeface="PingFang SC"/>
              </a:rPr>
              <a:t>识别输入消息</a:t>
            </a:r>
            <a:br>
              <a:rPr lang="zh-CN" altLang="en-US" dirty="0"/>
            </a:br>
            <a:r>
              <a:rPr lang="zh-CN" altLang="en-US" dirty="0"/>
              <a:t>    </a:t>
            </a:r>
            <a:r>
              <a:rPr lang="zh-CN" altLang="en-US" b="0" i="0" dirty="0">
                <a:solidFill>
                  <a:srgbClr val="2A2B2E"/>
                </a:solidFill>
                <a:effectLst/>
                <a:latin typeface="PingFang SC"/>
              </a:rPr>
              <a:t>请参阅活动的用例流或活动图</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2. </a:t>
            </a:r>
            <a:r>
              <a:rPr lang="zh-CN" altLang="en-US" b="0" i="0" dirty="0">
                <a:solidFill>
                  <a:srgbClr val="2A2B2E"/>
                </a:solidFill>
                <a:effectLst/>
                <a:latin typeface="PingFang SC"/>
              </a:rPr>
              <a:t>使用消息符号描述从外部参与者到系统的消息</a:t>
            </a:r>
            <a:br>
              <a:rPr lang="zh-CN" altLang="en-US" dirty="0"/>
            </a:br>
            <a:r>
              <a:rPr lang="zh-CN" altLang="en-US" dirty="0"/>
              <a:t>   </a:t>
            </a:r>
            <a:r>
              <a:rPr lang="zh-CN" altLang="en-US" b="0" i="0" dirty="0">
                <a:solidFill>
                  <a:srgbClr val="2A2B2E"/>
                </a:solidFill>
                <a:effectLst/>
                <a:latin typeface="PingFang SC"/>
              </a:rPr>
              <a:t>将其命名为动词</a:t>
            </a:r>
            <a:r>
              <a:rPr lang="en-US" altLang="zh-CN" b="0" i="0" dirty="0">
                <a:solidFill>
                  <a:srgbClr val="2A2B2E"/>
                </a:solidFill>
                <a:effectLst/>
                <a:latin typeface="PingFang SC"/>
              </a:rPr>
              <a:t>-</a:t>
            </a:r>
            <a:r>
              <a:rPr lang="zh-CN" altLang="en-US" b="0" i="0" dirty="0">
                <a:solidFill>
                  <a:srgbClr val="2A2B2E"/>
                </a:solidFill>
                <a:effectLst/>
                <a:latin typeface="PingFang SC"/>
              </a:rPr>
              <a:t>名词</a:t>
            </a:r>
            <a:r>
              <a:rPr lang="en-US" altLang="zh-CN" b="0" i="0" dirty="0">
                <a:solidFill>
                  <a:srgbClr val="2A2B2E"/>
                </a:solidFill>
                <a:effectLst/>
                <a:latin typeface="PingFang SC"/>
              </a:rPr>
              <a:t>:</a:t>
            </a:r>
            <a:r>
              <a:rPr lang="zh-CN" altLang="en-US" b="0" i="0" dirty="0">
                <a:solidFill>
                  <a:srgbClr val="2A2B2E"/>
                </a:solidFill>
                <a:effectLst/>
                <a:latin typeface="PingFang SC"/>
              </a:rPr>
              <a:t>系统被要求做什么</a:t>
            </a:r>
            <a:br>
              <a:rPr lang="zh-CN" altLang="en-US" dirty="0"/>
            </a:br>
            <a:r>
              <a:rPr lang="zh-CN" altLang="en-US" dirty="0"/>
              <a:t>   </a:t>
            </a:r>
            <a:r>
              <a:rPr lang="zh-CN" altLang="en-US" b="0" i="0" dirty="0">
                <a:solidFill>
                  <a:srgbClr val="2A2B2E"/>
                </a:solidFill>
                <a:effectLst/>
                <a:latin typeface="PingFang SC"/>
              </a:rPr>
              <a:t>考虑系统需要的参数</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37</a:t>
            </a:fld>
            <a:endParaRPr lang="en-US" altLang="zh-CN"/>
          </a:p>
        </p:txBody>
      </p:sp>
    </p:spTree>
    <p:extLst>
      <p:ext uri="{BB962C8B-B14F-4D97-AF65-F5344CB8AC3E}">
        <p14:creationId xmlns:p14="http://schemas.microsoft.com/office/powerpoint/2010/main" val="4714980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开发系统顺序图的步骤</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3. </a:t>
            </a:r>
            <a:r>
              <a:rPr lang="zh-CN" altLang="en-US" b="0" i="0" dirty="0">
                <a:solidFill>
                  <a:srgbClr val="2A2B2E"/>
                </a:solidFill>
                <a:effectLst/>
                <a:latin typeface="PingFang SC"/>
              </a:rPr>
              <a:t>确定输入消息的任何特殊条件</a:t>
            </a:r>
            <a:br>
              <a:rPr lang="zh-CN" altLang="en-US" dirty="0"/>
            </a:br>
            <a:r>
              <a:rPr lang="zh-CN" altLang="en-US" dirty="0"/>
              <a:t>   </a:t>
            </a:r>
            <a:r>
              <a:rPr lang="zh-CN" altLang="en-US" b="0" i="0" dirty="0">
                <a:solidFill>
                  <a:srgbClr val="2A2B2E"/>
                </a:solidFill>
                <a:effectLst/>
                <a:latin typeface="PingFang SC"/>
              </a:rPr>
              <a:t>循环迭代</a:t>
            </a:r>
            <a:r>
              <a:rPr lang="en-US" altLang="zh-CN" b="0" i="0" dirty="0">
                <a:solidFill>
                  <a:srgbClr val="2A2B2E"/>
                </a:solidFill>
                <a:effectLst/>
                <a:latin typeface="PingFang SC"/>
              </a:rPr>
              <a:t>/</a:t>
            </a:r>
            <a:r>
              <a:rPr lang="zh-CN" altLang="en-US" b="0" i="0" dirty="0">
                <a:solidFill>
                  <a:srgbClr val="2A2B2E"/>
                </a:solidFill>
                <a:effectLst/>
                <a:latin typeface="PingFang SC"/>
              </a:rPr>
              <a:t>框架</a:t>
            </a:r>
            <a:br>
              <a:rPr lang="zh-CN" altLang="en-US" dirty="0"/>
            </a:br>
            <a:r>
              <a:rPr lang="zh-CN" altLang="en-US" dirty="0"/>
              <a:t>   </a:t>
            </a:r>
            <a:r>
              <a:rPr lang="zh-CN" altLang="en-US" b="0" i="0" dirty="0">
                <a:solidFill>
                  <a:srgbClr val="2A2B2E"/>
                </a:solidFill>
                <a:effectLst/>
                <a:latin typeface="PingFang SC"/>
              </a:rPr>
              <a:t>选择或判断框架</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4. </a:t>
            </a:r>
            <a:r>
              <a:rPr lang="zh-CN" altLang="en-US" b="0" i="0" dirty="0">
                <a:solidFill>
                  <a:srgbClr val="2A2B2E"/>
                </a:solidFill>
                <a:effectLst/>
                <a:latin typeface="PingFang SC"/>
              </a:rPr>
              <a:t>识别并添加输出返回值</a:t>
            </a:r>
            <a:br>
              <a:rPr lang="zh-CN" altLang="en-US" dirty="0"/>
            </a:br>
            <a:r>
              <a:rPr lang="zh-CN" altLang="en-US" dirty="0"/>
              <a:t>   </a:t>
            </a:r>
            <a:r>
              <a:rPr lang="zh-CN" altLang="en-US" b="0" i="0" dirty="0">
                <a:solidFill>
                  <a:srgbClr val="2A2B2E"/>
                </a:solidFill>
                <a:effectLst/>
                <a:latin typeface="PingFang SC"/>
              </a:rPr>
              <a:t>关于消息本身</a:t>
            </a:r>
            <a:r>
              <a:rPr lang="en-US" altLang="zh-CN" b="0" i="0" dirty="0">
                <a:solidFill>
                  <a:srgbClr val="2A2B2E"/>
                </a:solidFill>
                <a:effectLst/>
                <a:latin typeface="PingFang SC"/>
              </a:rPr>
              <a:t>:value:= </a:t>
            </a:r>
            <a:r>
              <a:rPr lang="en-US" altLang="zh-CN" b="0" i="0" dirty="0" err="1">
                <a:solidFill>
                  <a:srgbClr val="2A2B2E"/>
                </a:solidFill>
                <a:effectLst/>
                <a:latin typeface="PingFang SC"/>
              </a:rPr>
              <a:t>getValue</a:t>
            </a:r>
            <a:r>
              <a:rPr lang="en-US" altLang="zh-CN" b="0" i="0" dirty="0">
                <a:solidFill>
                  <a:srgbClr val="2A2B2E"/>
                </a:solidFill>
                <a:effectLst/>
                <a:latin typeface="PingFang SC"/>
              </a:rPr>
              <a:t>(</a:t>
            </a:r>
            <a:r>
              <a:rPr lang="en-US" altLang="zh-CN" b="0" i="0" dirty="0" err="1">
                <a:solidFill>
                  <a:srgbClr val="2A2B2E"/>
                </a:solidFill>
                <a:effectLst/>
                <a:latin typeface="PingFang SC"/>
              </a:rPr>
              <a:t>valueID</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在单独的虚线上显式返回</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38</a:t>
            </a:fld>
            <a:endParaRPr lang="en-US" altLang="zh-CN"/>
          </a:p>
        </p:txBody>
      </p:sp>
    </p:spTree>
    <p:extLst>
      <p:ext uri="{BB962C8B-B14F-4D97-AF65-F5344CB8AC3E}">
        <p14:creationId xmlns:p14="http://schemas.microsoft.com/office/powerpoint/2010/main" val="25018446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创建客户账户用例的顺序图</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39</a:t>
            </a:fld>
            <a:endParaRPr lang="en-US" altLang="zh-CN"/>
          </a:p>
        </p:txBody>
      </p:sp>
    </p:spTree>
    <p:extLst>
      <p:ext uri="{BB962C8B-B14F-4D97-AF65-F5344CB8AC3E}">
        <p14:creationId xmlns:p14="http://schemas.microsoft.com/office/powerpoint/2010/main" val="4613131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创建运输商品用例的顺序图</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40</a:t>
            </a:fld>
            <a:endParaRPr lang="en-US" altLang="zh-CN"/>
          </a:p>
        </p:txBody>
      </p:sp>
    </p:spTree>
    <p:extLst>
      <p:ext uri="{BB962C8B-B14F-4D97-AF65-F5344CB8AC3E}">
        <p14:creationId xmlns:p14="http://schemas.microsoft.com/office/powerpoint/2010/main" val="40586591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41</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状态机图</a:t>
            </a:r>
            <a:r>
              <a:rPr lang="en-US" altLang="zh-CN" b="0" i="0" dirty="0">
                <a:solidFill>
                  <a:srgbClr val="2A2B2E"/>
                </a:solidFill>
                <a:effectLst/>
                <a:latin typeface="PingFang SC"/>
              </a:rPr>
              <a:t>-</a:t>
            </a:r>
            <a:r>
              <a:rPr lang="zh-CN" altLang="en-US" b="0" i="0" dirty="0">
                <a:solidFill>
                  <a:srgbClr val="2A2B2E"/>
                </a:solidFill>
                <a:effectLst/>
                <a:latin typeface="PingFang SC"/>
              </a:rPr>
              <a:t>识别对象行为</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6502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状态机图</a:t>
            </a:r>
            <a:br>
              <a:rPr lang="zh-CN" altLang="en-US" dirty="0"/>
            </a:br>
            <a:r>
              <a:rPr lang="zh-CN" altLang="en-US" b="0" i="0" dirty="0">
                <a:solidFill>
                  <a:srgbClr val="2A2B2E"/>
                </a:solidFill>
                <a:effectLst/>
                <a:latin typeface="PingFang SC"/>
              </a:rPr>
              <a:t> </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状态机图：</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显示处于状态和转换中的对象生命周期的</a:t>
            </a:r>
            <a:r>
              <a:rPr lang="en-US" altLang="zh-CN" b="0" i="0" dirty="0">
                <a:solidFill>
                  <a:srgbClr val="2A2B2E"/>
                </a:solidFill>
                <a:effectLst/>
                <a:latin typeface="PingFang SC"/>
              </a:rPr>
              <a:t>UML</a:t>
            </a:r>
            <a:r>
              <a:rPr lang="zh-CN" altLang="en-US" b="0" i="0" dirty="0">
                <a:solidFill>
                  <a:srgbClr val="2A2B2E"/>
                </a:solidFill>
                <a:effectLst/>
                <a:latin typeface="PingFang SC"/>
              </a:rPr>
              <a:t>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状态</a:t>
            </a:r>
            <a:r>
              <a:rPr lang="en-US" altLang="zh-CN" b="0" i="0" dirty="0">
                <a:solidFill>
                  <a:srgbClr val="2A2B2E"/>
                </a:solidFill>
                <a:effectLst/>
                <a:latin typeface="PingFang SC"/>
              </a:rPr>
              <a:t>(</a:t>
            </a:r>
            <a:r>
              <a:rPr lang="zh-CN" altLang="en-US" b="0" i="0" dirty="0">
                <a:solidFill>
                  <a:srgbClr val="2A2B2E"/>
                </a:solidFill>
                <a:effectLst/>
                <a:latin typeface="PingFang SC"/>
              </a:rPr>
              <a:t>动名词或动词短语</a:t>
            </a:r>
            <a:r>
              <a:rPr lang="en-US" altLang="zh-CN" b="0" i="0" dirty="0">
                <a:solidFill>
                  <a:srgbClr val="2A2B2E"/>
                </a:solidFill>
                <a:effectLst/>
                <a:latin typeface="PingFang SC"/>
              </a:rPr>
              <a:t>)</a:t>
            </a:r>
            <a:br>
              <a:rPr lang="zh-CN" altLang="en-US" dirty="0"/>
            </a:br>
            <a:r>
              <a:rPr lang="zh-CN" altLang="en-US" b="0" i="0" dirty="0">
                <a:solidFill>
                  <a:srgbClr val="2A2B2E"/>
                </a:solidFill>
                <a:effectLst/>
                <a:latin typeface="PingFang SC"/>
              </a:rPr>
              <a:t>   对象生命周期中满足某些标准、执行某些操作或等待某个事件的条件</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状态转换</a:t>
            </a:r>
            <a:br>
              <a:rPr lang="zh-CN" altLang="en-US" dirty="0"/>
            </a:br>
            <a:r>
              <a:rPr lang="zh-CN" altLang="en-US" b="0" i="0" dirty="0">
                <a:solidFill>
                  <a:srgbClr val="2A2B2E"/>
                </a:solidFill>
                <a:effectLst/>
                <a:latin typeface="PingFang SC"/>
              </a:rPr>
              <a:t>   物体从一种状态移动到另一种状态</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行动表达</a:t>
            </a:r>
            <a:br>
              <a:rPr lang="zh-CN" altLang="en-US" dirty="0"/>
            </a:br>
            <a:r>
              <a:rPr lang="zh-CN" altLang="en-US" dirty="0"/>
              <a:t>  </a:t>
            </a:r>
            <a:r>
              <a:rPr lang="zh-CN" altLang="en-US" b="0" i="0" dirty="0">
                <a:solidFill>
                  <a:srgbClr val="2A2B2E"/>
                </a:solidFill>
                <a:effectLst/>
                <a:latin typeface="PingFang SC"/>
              </a:rPr>
              <a:t>状态转换过程中执行的活动</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42</a:t>
            </a:fld>
            <a:endParaRPr lang="en-US" altLang="zh-CN"/>
          </a:p>
        </p:txBody>
      </p:sp>
    </p:spTree>
    <p:extLst>
      <p:ext uri="{BB962C8B-B14F-4D97-AF65-F5344CB8AC3E}">
        <p14:creationId xmlns:p14="http://schemas.microsoft.com/office/powerpoint/2010/main" val="19642325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伪状态</a:t>
            </a:r>
            <a:br>
              <a:rPr lang="zh-CN" altLang="en-US" dirty="0"/>
            </a:br>
            <a:r>
              <a:rPr lang="en-US" altLang="zh-CN" b="0" i="0" dirty="0">
                <a:solidFill>
                  <a:srgbClr val="2A2B2E"/>
                </a:solidFill>
                <a:effectLst/>
                <a:latin typeface="PingFang SC"/>
              </a:rPr>
              <a:t>    </a:t>
            </a:r>
            <a:r>
              <a:rPr lang="zh-CN" altLang="en-US" b="0" i="0" dirty="0">
                <a:solidFill>
                  <a:srgbClr val="2A2B2E"/>
                </a:solidFill>
                <a:effectLst/>
                <a:latin typeface="PingFang SC"/>
              </a:rPr>
              <a:t>状态机图的起始点</a:t>
            </a:r>
            <a:r>
              <a:rPr lang="en-US" altLang="zh-CN" b="0" i="0" dirty="0">
                <a:solidFill>
                  <a:srgbClr val="2A2B2E"/>
                </a:solidFill>
                <a:effectLst/>
                <a:latin typeface="PingFang SC"/>
              </a:rPr>
              <a:t>(</a:t>
            </a:r>
            <a:r>
              <a:rPr lang="zh-CN" altLang="en-US" b="0" i="0" dirty="0">
                <a:solidFill>
                  <a:srgbClr val="2A2B2E"/>
                </a:solidFill>
                <a:effectLst/>
                <a:latin typeface="PingFang SC"/>
              </a:rPr>
              <a:t>黑点</a:t>
            </a:r>
            <a:r>
              <a:rPr lang="en-US" altLang="zh-CN"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原始状态</a:t>
            </a:r>
            <a:br>
              <a:rPr lang="zh-CN" altLang="en-US" dirty="0"/>
            </a:br>
            <a:r>
              <a:rPr lang="zh-CN" altLang="en-US" dirty="0"/>
              <a:t>   </a:t>
            </a:r>
            <a:r>
              <a:rPr lang="zh-CN" altLang="en-US" b="0" i="0" dirty="0">
                <a:solidFill>
                  <a:srgbClr val="2A2B2E"/>
                </a:solidFill>
                <a:effectLst/>
                <a:latin typeface="PingFang SC"/>
              </a:rPr>
              <a:t>对象在转换之前的原始状态</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目标状态</a:t>
            </a:r>
            <a:br>
              <a:rPr lang="zh-CN" altLang="en-US" dirty="0"/>
            </a:br>
            <a:r>
              <a:rPr lang="zh-CN" altLang="en-US" dirty="0"/>
              <a:t>  </a:t>
            </a:r>
            <a:r>
              <a:rPr lang="zh-CN" altLang="en-US" b="0" i="0" dirty="0">
                <a:solidFill>
                  <a:srgbClr val="2A2B2E"/>
                </a:solidFill>
                <a:effectLst/>
                <a:latin typeface="PingFang SC"/>
              </a:rPr>
              <a:t>对象在转换后移动到的状态</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保护条件</a:t>
            </a:r>
            <a:br>
              <a:rPr lang="zh-CN" altLang="en-US" dirty="0"/>
            </a:br>
            <a:r>
              <a:rPr lang="zh-CN" altLang="en-US" b="0" i="0" dirty="0">
                <a:solidFill>
                  <a:srgbClr val="2A2B2E"/>
                </a:solidFill>
                <a:effectLst/>
                <a:latin typeface="PingFang SC"/>
              </a:rPr>
              <a:t>  一个真假测试，看一个转换是否可以触发</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43</a:t>
            </a:fld>
            <a:endParaRPr lang="en-US" altLang="zh-CN"/>
          </a:p>
        </p:txBody>
      </p:sp>
    </p:spTree>
    <p:extLst>
      <p:ext uri="{BB962C8B-B14F-4D97-AF65-F5344CB8AC3E}">
        <p14:creationId xmlns:p14="http://schemas.microsoft.com/office/powerpoint/2010/main" val="2011230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例子：打印机的状态活动图</a:t>
            </a:r>
            <a:endParaRPr lang="en-US" altLang="zh-CN" dirty="0"/>
          </a:p>
          <a:p>
            <a:endParaRPr lang="en-US" altLang="zh-CN" dirty="0"/>
          </a:p>
          <a:p>
            <a:r>
              <a:rPr lang="zh-CN" altLang="en-US" dirty="0"/>
              <a:t>开始伪状态：表示状态活动图的开始</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44</a:t>
            </a:fld>
            <a:endParaRPr lang="en-US" altLang="zh-CN"/>
          </a:p>
        </p:txBody>
      </p:sp>
    </p:spTree>
    <p:extLst>
      <p:ext uri="{BB962C8B-B14F-4D97-AF65-F5344CB8AC3E}">
        <p14:creationId xmlns:p14="http://schemas.microsoft.com/office/powerpoint/2010/main" val="623896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状态表示对象的存在状态</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45</a:t>
            </a:fld>
            <a:endParaRPr lang="en-US" altLang="zh-CN"/>
          </a:p>
        </p:txBody>
      </p:sp>
    </p:spTree>
    <p:extLst>
      <p:ext uri="{BB962C8B-B14F-4D97-AF65-F5344CB8AC3E}">
        <p14:creationId xmlns:p14="http://schemas.microsoft.com/office/powerpoint/2010/main" val="29328171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转换名包括触发器的名称，保护状态和行动表达</a:t>
            </a:r>
            <a:endParaRPr lang="en-US" altLang="zh-CN" dirty="0"/>
          </a:p>
          <a:p>
            <a:endParaRPr lang="en-US" altLang="zh-CN" dirty="0"/>
          </a:p>
          <a:p>
            <a:r>
              <a:rPr lang="zh-CN" altLang="en-US" dirty="0"/>
              <a:t>触发器名称：</a:t>
            </a:r>
            <a:r>
              <a:rPr lang="en-US" altLang="zh-CN" dirty="0" err="1"/>
              <a:t>onButtonPushed</a:t>
            </a:r>
            <a:endParaRPr lang="en-US" altLang="zh-CN" dirty="0"/>
          </a:p>
          <a:p>
            <a:endParaRPr lang="en-US" altLang="zh-CN" dirty="0"/>
          </a:p>
          <a:p>
            <a:r>
              <a:rPr lang="zh-CN" altLang="en-US" dirty="0"/>
              <a:t>保护状态：打印机保护罩关闭</a:t>
            </a:r>
            <a:endParaRPr lang="en-US" altLang="zh-CN" dirty="0"/>
          </a:p>
          <a:p>
            <a:endParaRPr lang="en-US" altLang="zh-CN" dirty="0"/>
          </a:p>
          <a:p>
            <a:r>
              <a:rPr lang="zh-CN" altLang="en-US" dirty="0"/>
              <a:t>行动：运行自检程序</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46</a:t>
            </a:fld>
            <a:endParaRPr lang="en-US" altLang="zh-CN"/>
          </a:p>
        </p:txBody>
      </p:sp>
    </p:spTree>
    <p:extLst>
      <p:ext uri="{BB962C8B-B14F-4D97-AF65-F5344CB8AC3E}">
        <p14:creationId xmlns:p14="http://schemas.microsoft.com/office/powerpoint/2010/main" val="20168962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转换将对象从原始状态移动到目标状态</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47</a:t>
            </a:fld>
            <a:endParaRPr lang="en-US" altLang="zh-CN"/>
          </a:p>
        </p:txBody>
      </p:sp>
    </p:spTree>
    <p:extLst>
      <p:ext uri="{BB962C8B-B14F-4D97-AF65-F5344CB8AC3E}">
        <p14:creationId xmlns:p14="http://schemas.microsoft.com/office/powerpoint/2010/main" val="21354788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复合状态</a:t>
            </a:r>
            <a:endParaRPr lang="en-US" altLang="zh-CN" dirty="0"/>
          </a:p>
          <a:p>
            <a:endParaRPr lang="en-US" altLang="zh-CN" dirty="0"/>
          </a:p>
          <a:p>
            <a:pPr algn="l"/>
            <a:r>
              <a:rPr lang="zh-CN" altLang="en-US" b="0" i="0" dirty="0">
                <a:solidFill>
                  <a:srgbClr val="2A2B2E"/>
                </a:solidFill>
                <a:effectLst/>
                <a:latin typeface="PingFang SC"/>
              </a:rPr>
              <a:t>包含其他状态和转换的状态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打印机可以打开，空闲或工作</a:t>
            </a:r>
            <a:endParaRPr lang="en-US" altLang="zh-CN"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48</a:t>
            </a:fld>
            <a:endParaRPr lang="en-US" altLang="zh-CN"/>
          </a:p>
        </p:txBody>
      </p:sp>
    </p:spTree>
    <p:extLst>
      <p:ext uri="{BB962C8B-B14F-4D97-AF65-F5344CB8AC3E}">
        <p14:creationId xmlns:p14="http://schemas.microsoft.com/office/powerpoint/2010/main" val="35390384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并行路径：</a:t>
            </a:r>
            <a:endParaRPr lang="en-US" altLang="zh-CN" dirty="0"/>
          </a:p>
          <a:p>
            <a:endParaRPr lang="en-US" altLang="zh-CN" dirty="0"/>
          </a:p>
          <a:p>
            <a:pPr algn="l"/>
            <a:r>
              <a:rPr lang="zh-CN" altLang="en-US" b="0" i="0" dirty="0">
                <a:solidFill>
                  <a:srgbClr val="2A2B2E"/>
                </a:solidFill>
                <a:effectLst/>
                <a:latin typeface="PingFang SC"/>
              </a:rPr>
              <a:t>多个路径处于复合状态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打印机路径是独立的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装填墨水和打印是并行的</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49</a:t>
            </a:fld>
            <a:endParaRPr lang="en-US" altLang="zh-CN"/>
          </a:p>
        </p:txBody>
      </p:sp>
    </p:spTree>
    <p:extLst>
      <p:ext uri="{BB962C8B-B14F-4D97-AF65-F5344CB8AC3E}">
        <p14:creationId xmlns:p14="http://schemas.microsoft.com/office/powerpoint/2010/main" val="18847449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0" i="0" dirty="0">
                <a:solidFill>
                  <a:srgbClr val="2A2B2E"/>
                </a:solidFill>
                <a:effectLst/>
                <a:latin typeface="PingFang SC"/>
              </a:rPr>
              <a:t>开发状态机图的步骤：</a:t>
            </a:r>
            <a:endParaRPr lang="en-US" altLang="zh-CN" dirty="0"/>
          </a:p>
          <a:p>
            <a:pPr marL="228600" indent="-228600">
              <a:buAutoNum type="arabicPeriod"/>
            </a:pPr>
            <a:r>
              <a:rPr lang="zh-CN" altLang="en-US" dirty="0"/>
              <a:t>回顾类图并选出需要状态机图的类</a:t>
            </a:r>
            <a:endParaRPr lang="en-US" altLang="zh-CN" dirty="0"/>
          </a:p>
          <a:p>
            <a:pPr marL="228600" indent="-228600">
              <a:buAutoNum type="arabicPeriod"/>
            </a:pPr>
            <a:r>
              <a:rPr lang="zh-CN" altLang="en-US" dirty="0"/>
              <a:t>对于组中每一个选出的类，列出你能确定的所有状态</a:t>
            </a:r>
            <a:endParaRPr lang="en-US" altLang="zh-CN" dirty="0"/>
          </a:p>
          <a:p>
            <a:pPr marL="228600" indent="-228600">
              <a:buAutoNum type="arabicPeriod"/>
            </a:pPr>
            <a:r>
              <a:rPr lang="zh-CN" altLang="en-US" dirty="0"/>
              <a:t>通过确定导致对象离开特定状态的转换来开始建立状态机图片段</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50</a:t>
            </a:fld>
            <a:endParaRPr lang="en-US" altLang="zh-CN"/>
          </a:p>
        </p:txBody>
      </p:sp>
    </p:spTree>
    <p:extLst>
      <p:ext uri="{BB962C8B-B14F-4D97-AF65-F5344CB8AC3E}">
        <p14:creationId xmlns:p14="http://schemas.microsoft.com/office/powerpoint/2010/main" val="36803092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0" i="0" dirty="0">
                <a:solidFill>
                  <a:srgbClr val="2A2B2E"/>
                </a:solidFill>
                <a:effectLst/>
                <a:latin typeface="PingFang SC"/>
              </a:rPr>
              <a:t>开发状态机图的步骤：</a:t>
            </a:r>
            <a:endParaRPr lang="en-US" altLang="zh-CN" dirty="0"/>
          </a:p>
          <a:p>
            <a:pPr marL="228600" indent="-228600">
              <a:buAutoNum type="arabicPeriod"/>
            </a:pPr>
            <a:r>
              <a:rPr lang="zh-CN" altLang="en-US" dirty="0"/>
              <a:t>按正确顺序将这些状态</a:t>
            </a:r>
            <a:r>
              <a:rPr lang="en-US" altLang="zh-CN" dirty="0"/>
              <a:t>-</a:t>
            </a:r>
            <a:r>
              <a:rPr lang="zh-CN" altLang="en-US" dirty="0"/>
              <a:t>转换组合起来</a:t>
            </a:r>
            <a:endParaRPr lang="en-US" altLang="zh-CN" dirty="0"/>
          </a:p>
          <a:p>
            <a:pPr marL="228600" indent="-228600">
              <a:buAutoNum type="arabicPeriod"/>
            </a:pPr>
            <a:r>
              <a:rPr lang="zh-CN" altLang="en-US" dirty="0"/>
              <a:t>回顾这些路径并找出独立且并发的路径</a:t>
            </a:r>
            <a:endParaRPr lang="en-US" altLang="zh-CN" dirty="0"/>
          </a:p>
          <a:p>
            <a:pPr marL="228600" indent="-228600">
              <a:buAutoNum type="arabicPeriod"/>
            </a:pPr>
            <a:r>
              <a:rPr lang="zh-CN" altLang="en-US" dirty="0"/>
              <a:t>查找其他的转换</a:t>
            </a:r>
          </a:p>
          <a:p>
            <a:pPr marL="228600" indent="-228600">
              <a:buAutoNum type="arabicPeriod"/>
            </a:pPr>
            <a:r>
              <a:rPr lang="zh-CN" altLang="en-US" dirty="0"/>
              <a:t>用合适的消息事件、判定条件和行为描述扩展每个转换</a:t>
            </a:r>
          </a:p>
          <a:p>
            <a:pPr marL="228600" indent="-228600">
              <a:buAutoNum type="arabicPeriod"/>
            </a:pP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51</a:t>
            </a:fld>
            <a:endParaRPr lang="en-US" altLang="zh-CN"/>
          </a:p>
        </p:txBody>
      </p:sp>
    </p:spTree>
    <p:extLst>
      <p:ext uri="{BB962C8B-B14F-4D97-AF65-F5344CB8AC3E}">
        <p14:creationId xmlns:p14="http://schemas.microsoft.com/office/powerpoint/2010/main" val="7874738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8. </a:t>
            </a:r>
            <a:r>
              <a:rPr lang="zh-CN" altLang="en-US" dirty="0"/>
              <a:t>回顾并检查状态机图</a:t>
            </a:r>
            <a:endParaRPr lang="en-US" altLang="zh-CN" dirty="0"/>
          </a:p>
          <a:p>
            <a:r>
              <a:rPr lang="en-US" altLang="zh-CN" dirty="0"/>
              <a:t>  a. </a:t>
            </a:r>
            <a:r>
              <a:rPr lang="zh-CN" altLang="en-US" dirty="0"/>
              <a:t>确保状态确实是类对象的状态</a:t>
            </a:r>
            <a:endParaRPr lang="en-US" altLang="zh-CN" dirty="0"/>
          </a:p>
          <a:p>
            <a:r>
              <a:rPr lang="en-US" altLang="zh-CN" dirty="0"/>
              <a:t>  b.</a:t>
            </a:r>
            <a:r>
              <a:rPr lang="zh-CN" altLang="en-US" dirty="0"/>
              <a:t> 从产生到被系统删除，跟踪对象的生命周期</a:t>
            </a:r>
            <a:endParaRPr lang="en-US" altLang="zh-CN" dirty="0"/>
          </a:p>
          <a:p>
            <a:r>
              <a:rPr lang="en-US" altLang="zh-CN" dirty="0"/>
              <a:t>  c. </a:t>
            </a:r>
            <a:r>
              <a:rPr lang="zh-CN" altLang="en-US" dirty="0"/>
              <a:t>确保状态机图覆盖了所有异常情况以及正常的行为流</a:t>
            </a:r>
            <a:endParaRPr lang="en-US" altLang="zh-CN" dirty="0"/>
          </a:p>
          <a:p>
            <a:r>
              <a:rPr lang="en-US" altLang="zh-CN" dirty="0"/>
              <a:t>  d. </a:t>
            </a:r>
            <a:r>
              <a:rPr lang="zh-CN" altLang="en-US" dirty="0"/>
              <a:t>再次检查并发行为（多路径）和可能得嵌套路径（复合状态）</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52</a:t>
            </a:fld>
            <a:endParaRPr lang="en-US" altLang="zh-CN"/>
          </a:p>
        </p:txBody>
      </p:sp>
    </p:spTree>
    <p:extLst>
      <p:ext uri="{BB962C8B-B14F-4D97-AF65-F5344CB8AC3E}">
        <p14:creationId xmlns:p14="http://schemas.microsoft.com/office/powerpoint/2010/main" val="382971765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RMO</a:t>
            </a:r>
            <a:r>
              <a:rPr lang="zh-CN" altLang="en-US" b="0" i="0" dirty="0">
                <a:solidFill>
                  <a:srgbClr val="2A2B2E"/>
                </a:solidFill>
                <a:effectLst/>
                <a:latin typeface="PingFang SC"/>
              </a:rPr>
              <a:t>域类状态</a:t>
            </a:r>
            <a:endParaRPr lang="en-US" altLang="zh-CN" dirty="0"/>
          </a:p>
          <a:p>
            <a:r>
              <a:rPr lang="zh-CN" altLang="en-US" dirty="0"/>
              <a:t>订单商品的状态机图：</a:t>
            </a:r>
            <a:endParaRPr lang="en-US" altLang="zh-CN" dirty="0"/>
          </a:p>
          <a:p>
            <a:endParaRPr lang="en-US" altLang="zh-CN" dirty="0"/>
          </a:p>
          <a:p>
            <a:r>
              <a:rPr lang="zh-CN" altLang="en-US" dirty="0"/>
              <a:t>状态：新增加，准备发货，缺货，已发货</a:t>
            </a:r>
            <a:endParaRPr lang="en-US" altLang="zh-CN" dirty="0"/>
          </a:p>
          <a:p>
            <a:r>
              <a:rPr lang="zh-CN" altLang="en-US" dirty="0"/>
              <a:t>转换：结束增加新物品，发货，收到缺货物品</a:t>
            </a:r>
            <a:endParaRPr lang="en-US" altLang="zh-CN" dirty="0"/>
          </a:p>
          <a:p>
            <a:endParaRPr lang="en-US" altLang="zh-CN" dirty="0"/>
          </a:p>
          <a:p>
            <a:r>
              <a:rPr lang="zh-CN" altLang="en-US" dirty="0"/>
              <a:t>问题：没有任何一个状态能够进入缺货状态</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53</a:t>
            </a:fld>
            <a:endParaRPr lang="en-US" altLang="zh-CN"/>
          </a:p>
        </p:txBody>
      </p:sp>
    </p:spTree>
    <p:extLst>
      <p:ext uri="{BB962C8B-B14F-4D97-AF65-F5344CB8AC3E}">
        <p14:creationId xmlns:p14="http://schemas.microsoft.com/office/powerpoint/2010/main" val="24471331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增加</a:t>
            </a:r>
            <a:r>
              <a:rPr lang="en-US" altLang="zh-CN" dirty="0" err="1"/>
              <a:t>markBackOrdered</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54</a:t>
            </a:fld>
            <a:endParaRPr lang="en-US" altLang="zh-CN"/>
          </a:p>
        </p:txBody>
      </p:sp>
    </p:spTree>
    <p:extLst>
      <p:ext uri="{BB962C8B-B14F-4D97-AF65-F5344CB8AC3E}">
        <p14:creationId xmlns:p14="http://schemas.microsoft.com/office/powerpoint/2010/main" val="33215344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订单状态机图</a:t>
            </a:r>
            <a:endParaRPr lang="en-US" altLang="zh-CN" dirty="0"/>
          </a:p>
          <a:p>
            <a:endParaRPr lang="en-US" altLang="zh-CN" dirty="0"/>
          </a:p>
          <a:p>
            <a:r>
              <a:rPr lang="zh-CN" altLang="en-US" dirty="0"/>
              <a:t>状态           转移</a:t>
            </a:r>
            <a:endParaRPr lang="en-US" altLang="zh-CN" dirty="0"/>
          </a:p>
          <a:p>
            <a:r>
              <a:rPr lang="zh-CN" altLang="en-US" dirty="0"/>
              <a:t>增加物品    完成订购</a:t>
            </a:r>
            <a:endParaRPr lang="en-US" altLang="zh-CN" dirty="0"/>
          </a:p>
          <a:p>
            <a:r>
              <a:rPr lang="zh-CN" altLang="en-US" dirty="0"/>
              <a:t>准备运输    开始运输</a:t>
            </a:r>
            <a:endParaRPr lang="en-US" altLang="zh-CN" dirty="0"/>
          </a:p>
          <a:p>
            <a:r>
              <a:rPr lang="zh-CN" altLang="en-US" dirty="0"/>
              <a:t>正在运输    运输完成</a:t>
            </a:r>
            <a:endParaRPr lang="en-US" altLang="zh-CN" dirty="0"/>
          </a:p>
          <a:p>
            <a:r>
              <a:rPr lang="zh-CN" altLang="en-US" dirty="0"/>
              <a:t>等待缺货物品   缺货物品到货</a:t>
            </a:r>
            <a:endParaRPr lang="en-US" altLang="zh-CN" dirty="0"/>
          </a:p>
          <a:p>
            <a:r>
              <a:rPr lang="zh-CN" altLang="en-US" dirty="0"/>
              <a:t>已到货      支付证明</a:t>
            </a:r>
            <a:endParaRPr lang="en-US" altLang="zh-CN" dirty="0"/>
          </a:p>
          <a:p>
            <a:r>
              <a:rPr lang="zh-CN" altLang="en-US" dirty="0"/>
              <a:t>结束         存档</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55</a:t>
            </a:fld>
            <a:endParaRPr lang="en-US" altLang="zh-CN"/>
          </a:p>
        </p:txBody>
      </p:sp>
    </p:spTree>
    <p:extLst>
      <p:ext uri="{BB962C8B-B14F-4D97-AF65-F5344CB8AC3E}">
        <p14:creationId xmlns:p14="http://schemas.microsoft.com/office/powerpoint/2010/main" val="9812558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增加物品    完成订购</a:t>
            </a:r>
            <a:endParaRPr lang="en-US" altLang="zh-CN" dirty="0"/>
          </a:p>
          <a:p>
            <a:r>
              <a:rPr lang="zh-CN" altLang="en-US" dirty="0"/>
              <a:t>准备运输</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56</a:t>
            </a:fld>
            <a:endParaRPr lang="en-US" altLang="zh-CN"/>
          </a:p>
        </p:txBody>
      </p:sp>
    </p:spTree>
    <p:extLst>
      <p:ext uri="{BB962C8B-B14F-4D97-AF65-F5344CB8AC3E}">
        <p14:creationId xmlns:p14="http://schemas.microsoft.com/office/powerpoint/2010/main" val="10644824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准备运输    开始运输</a:t>
            </a:r>
            <a:endParaRPr lang="en-US" altLang="zh-CN" dirty="0"/>
          </a:p>
          <a:p>
            <a:r>
              <a:rPr lang="zh-CN" altLang="en-US" dirty="0"/>
              <a:t>正在运输</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57</a:t>
            </a:fld>
            <a:endParaRPr lang="en-US" altLang="zh-CN"/>
          </a:p>
        </p:txBody>
      </p:sp>
    </p:spTree>
    <p:extLst>
      <p:ext uri="{BB962C8B-B14F-4D97-AF65-F5344CB8AC3E}">
        <p14:creationId xmlns:p14="http://schemas.microsoft.com/office/powerpoint/2010/main" val="17808240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正在运输    运输完成</a:t>
            </a:r>
            <a:endParaRPr lang="en-US" altLang="zh-CN" dirty="0"/>
          </a:p>
          <a:p>
            <a:r>
              <a:rPr lang="zh-CN" altLang="en-US" dirty="0"/>
              <a:t>已到货</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58</a:t>
            </a:fld>
            <a:endParaRPr lang="en-US" altLang="zh-CN"/>
          </a:p>
        </p:txBody>
      </p:sp>
    </p:spTree>
    <p:extLst>
      <p:ext uri="{BB962C8B-B14F-4D97-AF65-F5344CB8AC3E}">
        <p14:creationId xmlns:p14="http://schemas.microsoft.com/office/powerpoint/2010/main" val="40615636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已到货      支付证明</a:t>
            </a:r>
            <a:endParaRPr lang="en-US" altLang="zh-CN" dirty="0"/>
          </a:p>
          <a:p>
            <a:r>
              <a:rPr lang="zh-CN" altLang="en-US" dirty="0"/>
              <a:t>结束         存档</a:t>
            </a: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59</a:t>
            </a:fld>
            <a:endParaRPr lang="en-US" altLang="zh-CN"/>
          </a:p>
        </p:txBody>
      </p:sp>
    </p:spTree>
    <p:extLst>
      <p:ext uri="{BB962C8B-B14F-4D97-AF65-F5344CB8AC3E}">
        <p14:creationId xmlns:p14="http://schemas.microsoft.com/office/powerpoint/2010/main" val="11327240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正在运输   </a:t>
            </a:r>
            <a:endParaRPr lang="en-US" altLang="zh-CN" dirty="0"/>
          </a:p>
          <a:p>
            <a:r>
              <a:rPr lang="zh-CN" altLang="en-US" dirty="0"/>
              <a:t>等待缺货物品   缺货物品到货</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60</a:t>
            </a:fld>
            <a:endParaRPr lang="en-US" altLang="zh-CN"/>
          </a:p>
        </p:txBody>
      </p:sp>
    </p:spTree>
    <p:extLst>
      <p:ext uri="{BB962C8B-B14F-4D97-AF65-F5344CB8AC3E}">
        <p14:creationId xmlns:p14="http://schemas.microsoft.com/office/powerpoint/2010/main" val="3162405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最终状态机图</a:t>
            </a:r>
            <a:endParaRPr lang="en-US" altLang="zh-CN" b="0" i="0" dirty="0">
              <a:solidFill>
                <a:srgbClr val="2A2B2E"/>
              </a:solidFill>
              <a:effectLst/>
              <a:latin typeface="PingFang SC"/>
            </a:endParaRPr>
          </a:p>
          <a:p>
            <a:r>
              <a:rPr lang="zh-CN" altLang="en-US" b="0" i="0" dirty="0">
                <a:solidFill>
                  <a:srgbClr val="2A2B2E"/>
                </a:solidFill>
                <a:effectLst/>
                <a:latin typeface="PingFang SC"/>
              </a:rPr>
              <a:t>销售对象：</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复合状态：正在运输</a:t>
            </a:r>
            <a:endParaRPr lang="en-US" altLang="zh-CN" dirty="0"/>
          </a:p>
          <a:p>
            <a:endParaRPr lang="en-US" altLang="zh-CN" dirty="0"/>
          </a:p>
          <a:p>
            <a:r>
              <a:rPr lang="zh-CN" altLang="en-US" dirty="0"/>
              <a:t>正在运输</a:t>
            </a:r>
            <a:r>
              <a:rPr lang="en-US" altLang="zh-CN" dirty="0"/>
              <a:t>-&gt;</a:t>
            </a:r>
            <a:r>
              <a:rPr lang="zh-CN" altLang="en-US" dirty="0"/>
              <a:t>等待缺货</a:t>
            </a:r>
            <a:endParaRPr lang="en-US" altLang="zh-CN"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61</a:t>
            </a:fld>
            <a:endParaRPr lang="en-US" altLang="zh-CN"/>
          </a:p>
        </p:txBody>
      </p:sp>
    </p:spTree>
    <p:extLst>
      <p:ext uri="{BB962C8B-B14F-4D97-AF65-F5344CB8AC3E}">
        <p14:creationId xmlns:p14="http://schemas.microsoft.com/office/powerpoint/2010/main" val="32372093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62</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集成需求模型</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11108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63</a:t>
            </a:fld>
            <a:endParaRPr lang="en-US" altLang="zh-CN"/>
          </a:p>
        </p:txBody>
      </p:sp>
    </p:spTree>
    <p:extLst>
      <p:ext uri="{BB962C8B-B14F-4D97-AF65-F5344CB8AC3E}">
        <p14:creationId xmlns:p14="http://schemas.microsoft.com/office/powerpoint/2010/main" val="425025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3</a:t>
            </a:r>
            <a:r>
              <a:rPr lang="zh-CN" altLang="en-US" b="0" i="0" dirty="0">
                <a:solidFill>
                  <a:srgbClr val="2A2B2E"/>
                </a:solidFill>
                <a:effectLst/>
                <a:latin typeface="PingFang SC"/>
              </a:rPr>
              <a:t>章和第</a:t>
            </a:r>
            <a:r>
              <a:rPr lang="en-US" altLang="zh-CN" b="0" i="0" dirty="0">
                <a:solidFill>
                  <a:srgbClr val="2A2B2E"/>
                </a:solidFill>
                <a:effectLst/>
                <a:latin typeface="PingFang SC"/>
              </a:rPr>
              <a:t>4</a:t>
            </a:r>
            <a:r>
              <a:rPr lang="zh-CN" altLang="en-US" b="0" i="0" dirty="0">
                <a:solidFill>
                  <a:srgbClr val="2A2B2E"/>
                </a:solidFill>
                <a:effectLst/>
                <a:latin typeface="PingFang SC"/>
              </a:rPr>
              <a:t>章确定并建模了功能需求的两个主要方面</a:t>
            </a:r>
            <a:r>
              <a:rPr lang="en-US" altLang="zh-CN" b="0" i="0" dirty="0">
                <a:solidFill>
                  <a:srgbClr val="2A2B2E"/>
                </a:solidFill>
                <a:effectLst/>
                <a:latin typeface="PingFang SC"/>
              </a:rPr>
              <a:t>:</a:t>
            </a:r>
            <a:r>
              <a:rPr lang="zh-CN" altLang="en-US" b="0" i="0" dirty="0">
                <a:solidFill>
                  <a:srgbClr val="2A2B2E"/>
                </a:solidFill>
                <a:effectLst/>
                <a:latin typeface="PingFang SC"/>
              </a:rPr>
              <a:t>用例和域类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本章着重于额外的技术和模型来扩展需求模型以显示更多的细节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完全开发的用例描述提供了关于每个用例的信息，包括参与者、相关人员、前提条件、后置条件、活动流和异常状态</a:t>
            </a:r>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65</a:t>
            </a:fld>
            <a:endParaRPr lang="en-US" altLang="zh-CN"/>
          </a:p>
        </p:txBody>
      </p:sp>
    </p:spTree>
    <p:extLst>
      <p:ext uri="{BB962C8B-B14F-4D97-AF65-F5344CB8AC3E}">
        <p14:creationId xmlns:p14="http://schemas.microsoft.com/office/powerpoint/2010/main" val="35729370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活动图</a:t>
            </a:r>
            <a:r>
              <a:rPr lang="en-US" altLang="zh-CN" b="0" i="0" dirty="0">
                <a:solidFill>
                  <a:srgbClr val="2A2B2E"/>
                </a:solidFill>
                <a:effectLst/>
                <a:latin typeface="PingFang SC"/>
              </a:rPr>
              <a:t>(</a:t>
            </a:r>
            <a:r>
              <a:rPr lang="zh-CN" altLang="en-US" b="0" i="0" dirty="0">
                <a:solidFill>
                  <a:srgbClr val="2A2B2E"/>
                </a:solidFill>
                <a:effectLst/>
                <a:latin typeface="PingFang SC"/>
              </a:rPr>
              <a:t>第一次在第</a:t>
            </a:r>
            <a:r>
              <a:rPr lang="en-US" altLang="zh-CN" b="0" i="0" dirty="0">
                <a:solidFill>
                  <a:srgbClr val="2A2B2E"/>
                </a:solidFill>
                <a:effectLst/>
                <a:latin typeface="PingFang SC"/>
              </a:rPr>
              <a:t>2</a:t>
            </a:r>
            <a:r>
              <a:rPr lang="zh-CN" altLang="en-US" b="0" i="0" dirty="0">
                <a:solidFill>
                  <a:srgbClr val="2A2B2E"/>
                </a:solidFill>
                <a:effectLst/>
                <a:latin typeface="PingFang SC"/>
              </a:rPr>
              <a:t>章中展示</a:t>
            </a:r>
            <a:r>
              <a:rPr lang="en-US" altLang="zh-CN" b="0" i="0" dirty="0">
                <a:solidFill>
                  <a:srgbClr val="2A2B2E"/>
                </a:solidFill>
                <a:effectLst/>
                <a:latin typeface="PingFang SC"/>
              </a:rPr>
              <a:t>)</a:t>
            </a:r>
            <a:r>
              <a:rPr lang="zh-CN" altLang="en-US" b="0" i="0" dirty="0">
                <a:solidFill>
                  <a:srgbClr val="2A2B2E"/>
                </a:solidFill>
                <a:effectLst/>
                <a:latin typeface="PingFang SC"/>
              </a:rPr>
              <a:t>也可以用来显示一个用例的活动流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系统顺序图</a:t>
            </a:r>
            <a:r>
              <a:rPr lang="en-US" altLang="zh-CN" b="0" i="0" dirty="0">
                <a:solidFill>
                  <a:srgbClr val="2A2B2E"/>
                </a:solidFill>
                <a:effectLst/>
                <a:latin typeface="PingFang SC"/>
              </a:rPr>
              <a:t>(</a:t>
            </a:r>
            <a:r>
              <a:rPr lang="en-US" altLang="zh-CN" b="0" i="0" dirty="0" err="1">
                <a:solidFill>
                  <a:srgbClr val="2A2B2E"/>
                </a:solidFill>
                <a:effectLst/>
                <a:latin typeface="PingFang SC"/>
              </a:rPr>
              <a:t>ssd</a:t>
            </a:r>
            <a:r>
              <a:rPr lang="en-US" altLang="zh-CN" b="0" i="0" dirty="0">
                <a:solidFill>
                  <a:srgbClr val="2A2B2E"/>
                </a:solidFill>
                <a:effectLst/>
                <a:latin typeface="PingFang SC"/>
              </a:rPr>
              <a:t>)</a:t>
            </a:r>
            <a:r>
              <a:rPr lang="zh-CN" altLang="en-US" b="0" i="0" dirty="0">
                <a:solidFill>
                  <a:srgbClr val="2A2B2E"/>
                </a:solidFill>
                <a:effectLst/>
                <a:latin typeface="PingFang SC"/>
              </a:rPr>
              <a:t>将每个用例的输入和输出显示为消息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状态机图显示了一个对象在用例之间随时间推移可能处于的状态</a:t>
            </a:r>
            <a:br>
              <a:rPr lang="zh-CN" altLang="en-US" dirty="0"/>
            </a:br>
            <a:endParaRPr lang="zh-CN" altLang="en-US"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66</a:t>
            </a:fld>
            <a:endParaRPr lang="en-US" altLang="zh-CN"/>
          </a:p>
        </p:txBody>
      </p:sp>
    </p:spTree>
    <p:extLst>
      <p:ext uri="{BB962C8B-B14F-4D97-AF65-F5344CB8AC3E}">
        <p14:creationId xmlns:p14="http://schemas.microsoft.com/office/powerpoint/2010/main" val="132924307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使用完全开发的用例描述、活动图和系统顺序图对用例进行更详细的建模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使用状态机图对域类进行更详细的建模</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并不是所有的用例和领域类都在这个细节级别上建模。只有在存在复杂性和需要沟通细节时才建模</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67</a:t>
            </a:fld>
            <a:endParaRPr lang="en-US" altLang="zh-CN"/>
          </a:p>
        </p:txBody>
      </p:sp>
    </p:spTree>
    <p:extLst>
      <p:ext uri="{BB962C8B-B14F-4D97-AF65-F5344CB8AC3E}">
        <p14:creationId xmlns:p14="http://schemas.microsoft.com/office/powerpoint/2010/main" val="28952395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68</a:t>
            </a:fld>
            <a:endParaRPr lang="en-US" altLang="zh-CN"/>
          </a:p>
        </p:txBody>
      </p:sp>
    </p:spTree>
    <p:extLst>
      <p:ext uri="{BB962C8B-B14F-4D97-AF65-F5344CB8AC3E}">
        <p14:creationId xmlns:p14="http://schemas.microsoft.com/office/powerpoint/2010/main" val="38467679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69</a:t>
            </a:fld>
            <a:endParaRPr lang="en-US" altLang="zh-CN"/>
          </a:p>
        </p:txBody>
      </p:sp>
    </p:spTree>
    <p:extLst>
      <p:ext uri="{BB962C8B-B14F-4D97-AF65-F5344CB8AC3E}">
        <p14:creationId xmlns:p14="http://schemas.microsoft.com/office/powerpoint/2010/main" val="9206118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70</a:t>
            </a:fld>
            <a:endParaRPr lang="en-US" altLang="zh-CN"/>
          </a:p>
        </p:txBody>
      </p:sp>
    </p:spTree>
    <p:extLst>
      <p:ext uri="{BB962C8B-B14F-4D97-AF65-F5344CB8AC3E}">
        <p14:creationId xmlns:p14="http://schemas.microsoft.com/office/powerpoint/2010/main" val="9035565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71</a:t>
            </a:fld>
            <a:endParaRPr lang="en-US" altLang="zh-CN"/>
          </a:p>
        </p:txBody>
      </p:sp>
    </p:spTree>
    <p:extLst>
      <p:ext uri="{BB962C8B-B14F-4D97-AF65-F5344CB8AC3E}">
        <p14:creationId xmlns:p14="http://schemas.microsoft.com/office/powerpoint/2010/main" val="351887241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72</a:t>
            </a:fld>
            <a:endParaRPr lang="en-US" altLang="zh-CN"/>
          </a:p>
        </p:txBody>
      </p:sp>
    </p:spTree>
    <p:extLst>
      <p:ext uri="{BB962C8B-B14F-4D97-AF65-F5344CB8AC3E}">
        <p14:creationId xmlns:p14="http://schemas.microsoft.com/office/powerpoint/2010/main" val="13319840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73</a:t>
            </a:fld>
            <a:endParaRPr lang="en-US" altLang="zh-CN"/>
          </a:p>
        </p:txBody>
      </p:sp>
    </p:spTree>
    <p:extLst>
      <p:ext uri="{BB962C8B-B14F-4D97-AF65-F5344CB8AC3E}">
        <p14:creationId xmlns:p14="http://schemas.microsoft.com/office/powerpoint/2010/main" val="254752511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74</a:t>
            </a:fld>
            <a:endParaRPr lang="en-US" altLang="zh-CN"/>
          </a:p>
        </p:txBody>
      </p:sp>
    </p:spTree>
    <p:extLst>
      <p:ext uri="{BB962C8B-B14F-4D97-AF65-F5344CB8AC3E}">
        <p14:creationId xmlns:p14="http://schemas.microsoft.com/office/powerpoint/2010/main" val="49995128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75</a:t>
            </a:fld>
            <a:endParaRPr lang="en-US" altLang="zh-CN"/>
          </a:p>
        </p:txBody>
      </p:sp>
    </p:spTree>
    <p:extLst>
      <p:ext uri="{BB962C8B-B14F-4D97-AF65-F5344CB8AC3E}">
        <p14:creationId xmlns:p14="http://schemas.microsoft.com/office/powerpoint/2010/main" val="35445926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76</a:t>
            </a:fld>
            <a:endParaRPr lang="en-US" altLang="zh-CN"/>
          </a:p>
        </p:txBody>
      </p:sp>
    </p:spTree>
    <p:extLst>
      <p:ext uri="{BB962C8B-B14F-4D97-AF65-F5344CB8AC3E}">
        <p14:creationId xmlns:p14="http://schemas.microsoft.com/office/powerpoint/2010/main" val="344264414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77</a:t>
            </a:fld>
            <a:endParaRPr lang="en-US" altLang="zh-CN"/>
          </a:p>
        </p:txBody>
      </p:sp>
    </p:spTree>
    <p:extLst>
      <p:ext uri="{BB962C8B-B14F-4D97-AF65-F5344CB8AC3E}">
        <p14:creationId xmlns:p14="http://schemas.microsoft.com/office/powerpoint/2010/main" val="375303864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78</a:t>
            </a:fld>
            <a:endParaRPr lang="en-US" altLang="zh-CN"/>
          </a:p>
        </p:txBody>
      </p:sp>
    </p:spTree>
    <p:extLst>
      <p:ext uri="{BB962C8B-B14F-4D97-AF65-F5344CB8AC3E}">
        <p14:creationId xmlns:p14="http://schemas.microsoft.com/office/powerpoint/2010/main" val="112748574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79</a:t>
            </a:fld>
            <a:endParaRPr lang="en-US" altLang="zh-CN"/>
          </a:p>
        </p:txBody>
      </p:sp>
    </p:spTree>
    <p:extLst>
      <p:ext uri="{BB962C8B-B14F-4D97-AF65-F5344CB8AC3E}">
        <p14:creationId xmlns:p14="http://schemas.microsoft.com/office/powerpoint/2010/main" val="210832867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80</a:t>
            </a:fld>
            <a:endParaRPr lang="en-US" altLang="zh-CN"/>
          </a:p>
        </p:txBody>
      </p:sp>
    </p:spTree>
    <p:extLst>
      <p:ext uri="{BB962C8B-B14F-4D97-AF65-F5344CB8AC3E}">
        <p14:creationId xmlns:p14="http://schemas.microsoft.com/office/powerpoint/2010/main" val="280881622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81</a:t>
            </a:fld>
            <a:endParaRPr lang="en-US" altLang="zh-CN"/>
          </a:p>
        </p:txBody>
      </p:sp>
    </p:spTree>
    <p:extLst>
      <p:ext uri="{BB962C8B-B14F-4D97-AF65-F5344CB8AC3E}">
        <p14:creationId xmlns:p14="http://schemas.microsoft.com/office/powerpoint/2010/main" val="204368837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82</a:t>
            </a:fld>
            <a:endParaRPr lang="en-US" altLang="zh-CN"/>
          </a:p>
        </p:txBody>
      </p:sp>
    </p:spTree>
    <p:extLst>
      <p:ext uri="{BB962C8B-B14F-4D97-AF65-F5344CB8AC3E}">
        <p14:creationId xmlns:p14="http://schemas.microsoft.com/office/powerpoint/2010/main" val="295962531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83</a:t>
            </a:fld>
            <a:endParaRPr lang="en-US" altLang="zh-CN"/>
          </a:p>
        </p:txBody>
      </p:sp>
    </p:spTree>
    <p:extLst>
      <p:ext uri="{BB962C8B-B14F-4D97-AF65-F5344CB8AC3E}">
        <p14:creationId xmlns:p14="http://schemas.microsoft.com/office/powerpoint/2010/main" val="297443137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84</a:t>
            </a:fld>
            <a:endParaRPr lang="en-US" altLang="zh-CN"/>
          </a:p>
        </p:txBody>
      </p:sp>
    </p:spTree>
    <p:extLst>
      <p:ext uri="{BB962C8B-B14F-4D97-AF65-F5344CB8AC3E}">
        <p14:creationId xmlns:p14="http://schemas.microsoft.com/office/powerpoint/2010/main" val="14917720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85</a:t>
            </a:fld>
            <a:endParaRPr lang="en-US" altLang="zh-CN"/>
          </a:p>
        </p:txBody>
      </p:sp>
    </p:spTree>
    <p:extLst>
      <p:ext uri="{BB962C8B-B14F-4D97-AF65-F5344CB8AC3E}">
        <p14:creationId xmlns:p14="http://schemas.microsoft.com/office/powerpoint/2010/main" val="158318711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86</a:t>
            </a:fld>
            <a:endParaRPr lang="en-US" altLang="zh-CN"/>
          </a:p>
        </p:txBody>
      </p:sp>
    </p:spTree>
    <p:extLst>
      <p:ext uri="{BB962C8B-B14F-4D97-AF65-F5344CB8AC3E}">
        <p14:creationId xmlns:p14="http://schemas.microsoft.com/office/powerpoint/2010/main" val="342075291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87</a:t>
            </a:fld>
            <a:endParaRPr lang="en-US" altLang="zh-CN"/>
          </a:p>
        </p:txBody>
      </p:sp>
    </p:spTree>
    <p:extLst>
      <p:ext uri="{BB962C8B-B14F-4D97-AF65-F5344CB8AC3E}">
        <p14:creationId xmlns:p14="http://schemas.microsoft.com/office/powerpoint/2010/main" val="219225575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88</a:t>
            </a:fld>
            <a:endParaRPr lang="en-US" altLang="zh-CN"/>
          </a:p>
        </p:txBody>
      </p:sp>
    </p:spTree>
    <p:extLst>
      <p:ext uri="{BB962C8B-B14F-4D97-AF65-F5344CB8AC3E}">
        <p14:creationId xmlns:p14="http://schemas.microsoft.com/office/powerpoint/2010/main" val="335981212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89</a:t>
            </a:fld>
            <a:endParaRPr lang="en-US" altLang="zh-CN"/>
          </a:p>
        </p:txBody>
      </p:sp>
    </p:spTree>
    <p:extLst>
      <p:ext uri="{BB962C8B-B14F-4D97-AF65-F5344CB8AC3E}">
        <p14:creationId xmlns:p14="http://schemas.microsoft.com/office/powerpoint/2010/main" val="257336658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90</a:t>
            </a:fld>
            <a:endParaRPr lang="en-US" altLang="zh-CN"/>
          </a:p>
        </p:txBody>
      </p:sp>
    </p:spTree>
    <p:extLst>
      <p:ext uri="{BB962C8B-B14F-4D97-AF65-F5344CB8AC3E}">
        <p14:creationId xmlns:p14="http://schemas.microsoft.com/office/powerpoint/2010/main" val="289484618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91</a:t>
            </a:fld>
            <a:endParaRPr lang="en-US" altLang="zh-CN"/>
          </a:p>
        </p:txBody>
      </p:sp>
    </p:spTree>
    <p:extLst>
      <p:ext uri="{BB962C8B-B14F-4D97-AF65-F5344CB8AC3E}">
        <p14:creationId xmlns:p14="http://schemas.microsoft.com/office/powerpoint/2010/main" val="96807053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92</a:t>
            </a:fld>
            <a:endParaRPr lang="en-US" altLang="zh-CN"/>
          </a:p>
        </p:txBody>
      </p:sp>
    </p:spTree>
    <p:extLst>
      <p:ext uri="{BB962C8B-B14F-4D97-AF65-F5344CB8AC3E}">
        <p14:creationId xmlns:p14="http://schemas.microsoft.com/office/powerpoint/2010/main" val="370844039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93</a:t>
            </a:fld>
            <a:endParaRPr lang="en-US" altLang="zh-CN"/>
          </a:p>
        </p:txBody>
      </p:sp>
    </p:spTree>
    <p:extLst>
      <p:ext uri="{BB962C8B-B14F-4D97-AF65-F5344CB8AC3E}">
        <p14:creationId xmlns:p14="http://schemas.microsoft.com/office/powerpoint/2010/main" val="42458005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94</a:t>
            </a:fld>
            <a:endParaRPr lang="en-US" altLang="zh-CN"/>
          </a:p>
        </p:txBody>
      </p:sp>
    </p:spTree>
    <p:extLst>
      <p:ext uri="{BB962C8B-B14F-4D97-AF65-F5344CB8AC3E}">
        <p14:creationId xmlns:p14="http://schemas.microsoft.com/office/powerpoint/2010/main" val="277997085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95</a:t>
            </a:fld>
            <a:endParaRPr lang="en-US" altLang="zh-CN"/>
          </a:p>
        </p:txBody>
      </p:sp>
    </p:spTree>
    <p:extLst>
      <p:ext uri="{BB962C8B-B14F-4D97-AF65-F5344CB8AC3E}">
        <p14:creationId xmlns:p14="http://schemas.microsoft.com/office/powerpoint/2010/main" val="326456873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96</a:t>
            </a:fld>
            <a:endParaRPr lang="en-US" altLang="zh-CN"/>
          </a:p>
        </p:txBody>
      </p:sp>
    </p:spTree>
    <p:extLst>
      <p:ext uri="{BB962C8B-B14F-4D97-AF65-F5344CB8AC3E}">
        <p14:creationId xmlns:p14="http://schemas.microsoft.com/office/powerpoint/2010/main" val="230953807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97</a:t>
            </a:fld>
            <a:endParaRPr lang="en-US" altLang="zh-CN"/>
          </a:p>
        </p:txBody>
      </p:sp>
    </p:spTree>
    <p:extLst>
      <p:ext uri="{BB962C8B-B14F-4D97-AF65-F5344CB8AC3E}">
        <p14:creationId xmlns:p14="http://schemas.microsoft.com/office/powerpoint/2010/main" val="147613846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98</a:t>
            </a:fld>
            <a:endParaRPr lang="en-US" altLang="zh-CN"/>
          </a:p>
        </p:txBody>
      </p:sp>
    </p:spTree>
    <p:extLst>
      <p:ext uri="{BB962C8B-B14F-4D97-AF65-F5344CB8AC3E}">
        <p14:creationId xmlns:p14="http://schemas.microsoft.com/office/powerpoint/2010/main" val="26575781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99</a:t>
            </a:fld>
            <a:endParaRPr lang="en-US" altLang="zh-CN"/>
          </a:p>
        </p:txBody>
      </p:sp>
    </p:spTree>
    <p:extLst>
      <p:ext uri="{BB962C8B-B14F-4D97-AF65-F5344CB8AC3E}">
        <p14:creationId xmlns:p14="http://schemas.microsoft.com/office/powerpoint/2010/main" val="122878901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100</a:t>
            </a:fld>
            <a:endParaRPr lang="en-US" altLang="zh-CN"/>
          </a:p>
        </p:txBody>
      </p:sp>
    </p:spTree>
    <p:extLst>
      <p:ext uri="{BB962C8B-B14F-4D97-AF65-F5344CB8AC3E}">
        <p14:creationId xmlns:p14="http://schemas.microsoft.com/office/powerpoint/2010/main" val="4821432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101</a:t>
            </a:fld>
            <a:endParaRPr lang="en-US" altLang="zh-CN"/>
          </a:p>
        </p:txBody>
      </p:sp>
    </p:spTree>
    <p:extLst>
      <p:ext uri="{BB962C8B-B14F-4D97-AF65-F5344CB8AC3E}">
        <p14:creationId xmlns:p14="http://schemas.microsoft.com/office/powerpoint/2010/main" val="149998925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102</a:t>
            </a:fld>
            <a:endParaRPr lang="en-US" altLang="zh-CN"/>
          </a:p>
        </p:txBody>
      </p:sp>
    </p:spTree>
    <p:extLst>
      <p:ext uri="{BB962C8B-B14F-4D97-AF65-F5344CB8AC3E}">
        <p14:creationId xmlns:p14="http://schemas.microsoft.com/office/powerpoint/2010/main" val="343578199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103</a:t>
            </a:fld>
            <a:endParaRPr lang="en-US" altLang="zh-CN"/>
          </a:p>
        </p:txBody>
      </p:sp>
    </p:spTree>
    <p:extLst>
      <p:ext uri="{BB962C8B-B14F-4D97-AF65-F5344CB8AC3E}">
        <p14:creationId xmlns:p14="http://schemas.microsoft.com/office/powerpoint/2010/main" val="635277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7D5C1856-456B-43E6-B7D8-F451F3CB08C3}"/>
              </a:ext>
            </a:extLst>
          </p:cNvPr>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grpSp>
        <p:nvGrpSpPr>
          <p:cNvPr id="5" name="Group 8">
            <a:extLst>
              <a:ext uri="{FF2B5EF4-FFF2-40B4-BE49-F238E27FC236}">
                <a16:creationId xmlns:a16="http://schemas.microsoft.com/office/drawing/2014/main" id="{4CA830AE-102F-426C-834C-030D96F59033}"/>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205BFE3F-6CD2-459C-9F85-46AC680515D3}"/>
                </a:ext>
              </a:extLst>
            </p:cNvPr>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7" name="Oval 10">
              <a:extLst>
                <a:ext uri="{FF2B5EF4-FFF2-40B4-BE49-F238E27FC236}">
                  <a16:creationId xmlns:a16="http://schemas.microsoft.com/office/drawing/2014/main" id="{6D195716-A218-4EE6-AEC1-B73330A073DF}"/>
                </a:ext>
              </a:extLst>
            </p:cNvPr>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8" name="Oval 11">
              <a:extLst>
                <a:ext uri="{FF2B5EF4-FFF2-40B4-BE49-F238E27FC236}">
                  <a16:creationId xmlns:a16="http://schemas.microsoft.com/office/drawing/2014/main" id="{49A502A1-ED0E-4F32-9A5C-F2901903514D}"/>
                </a:ext>
              </a:extLst>
            </p:cNvPr>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9" name="Oval 12">
              <a:extLst>
                <a:ext uri="{FF2B5EF4-FFF2-40B4-BE49-F238E27FC236}">
                  <a16:creationId xmlns:a16="http://schemas.microsoft.com/office/drawing/2014/main" id="{AA7F540F-854E-492D-AD1F-BD5CBBBDCD63}"/>
                </a:ext>
              </a:extLst>
            </p:cNvPr>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0" name="Oval 13">
              <a:extLst>
                <a:ext uri="{FF2B5EF4-FFF2-40B4-BE49-F238E27FC236}">
                  <a16:creationId xmlns:a16="http://schemas.microsoft.com/office/drawing/2014/main" id="{7371C28B-780E-43F3-BE66-0832080F8F84}"/>
                </a:ext>
              </a:extLst>
            </p:cNvPr>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 name="Oval 14">
              <a:extLst>
                <a:ext uri="{FF2B5EF4-FFF2-40B4-BE49-F238E27FC236}">
                  <a16:creationId xmlns:a16="http://schemas.microsoft.com/office/drawing/2014/main" id="{4D39D871-2505-48B8-B02A-601FE36E5CBC}"/>
                </a:ext>
              </a:extLst>
            </p:cNvPr>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2" name="Oval 15">
              <a:extLst>
                <a:ext uri="{FF2B5EF4-FFF2-40B4-BE49-F238E27FC236}">
                  <a16:creationId xmlns:a16="http://schemas.microsoft.com/office/drawing/2014/main" id="{874F196F-2DCC-4805-8DBA-A21E8E83176F}"/>
                </a:ext>
              </a:extLst>
            </p:cNvPr>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3" name="Oval 16">
              <a:extLst>
                <a:ext uri="{FF2B5EF4-FFF2-40B4-BE49-F238E27FC236}">
                  <a16:creationId xmlns:a16="http://schemas.microsoft.com/office/drawing/2014/main" id="{5DD4D782-06BD-4EDA-B195-4D99E016231F}"/>
                </a:ext>
              </a:extLst>
            </p:cNvPr>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4" name="Oval 17">
              <a:extLst>
                <a:ext uri="{FF2B5EF4-FFF2-40B4-BE49-F238E27FC236}">
                  <a16:creationId xmlns:a16="http://schemas.microsoft.com/office/drawing/2014/main" id="{5693F80F-897C-4D9B-B85D-D78178DB844C}"/>
                </a:ext>
              </a:extLst>
            </p:cNvPr>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5" name="Oval 18">
              <a:extLst>
                <a:ext uri="{FF2B5EF4-FFF2-40B4-BE49-F238E27FC236}">
                  <a16:creationId xmlns:a16="http://schemas.microsoft.com/office/drawing/2014/main" id="{DEADD1B6-6DAE-4DCA-BAAB-835AAF72F007}"/>
                </a:ext>
              </a:extLst>
            </p:cNvPr>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6" name="Oval 19">
              <a:extLst>
                <a:ext uri="{FF2B5EF4-FFF2-40B4-BE49-F238E27FC236}">
                  <a16:creationId xmlns:a16="http://schemas.microsoft.com/office/drawing/2014/main" id="{9368BE7F-3251-4426-A498-C12868E4D714}"/>
                </a:ext>
              </a:extLst>
            </p:cNvPr>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7" name="Oval 20">
              <a:extLst>
                <a:ext uri="{FF2B5EF4-FFF2-40B4-BE49-F238E27FC236}">
                  <a16:creationId xmlns:a16="http://schemas.microsoft.com/office/drawing/2014/main" id="{98E98F45-632D-400B-B30C-3D887F8855BF}"/>
                </a:ext>
              </a:extLst>
            </p:cNvPr>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8" name="Oval 21">
              <a:extLst>
                <a:ext uri="{FF2B5EF4-FFF2-40B4-BE49-F238E27FC236}">
                  <a16:creationId xmlns:a16="http://schemas.microsoft.com/office/drawing/2014/main" id="{702075DB-0C66-4F49-8C2C-287C44894147}"/>
                </a:ext>
              </a:extLst>
            </p:cNvPr>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9" name="Oval 22">
              <a:extLst>
                <a:ext uri="{FF2B5EF4-FFF2-40B4-BE49-F238E27FC236}">
                  <a16:creationId xmlns:a16="http://schemas.microsoft.com/office/drawing/2014/main" id="{8301966E-B5CA-40F1-A1A3-AD12562BBA49}"/>
                </a:ext>
              </a:extLst>
            </p:cNvPr>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0" name="Oval 23">
              <a:extLst>
                <a:ext uri="{FF2B5EF4-FFF2-40B4-BE49-F238E27FC236}">
                  <a16:creationId xmlns:a16="http://schemas.microsoft.com/office/drawing/2014/main" id="{9B2D889B-603F-4451-9133-BC069A6ACDB2}"/>
                </a:ext>
              </a:extLst>
            </p:cNvPr>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1" name="Oval 24">
              <a:extLst>
                <a:ext uri="{FF2B5EF4-FFF2-40B4-BE49-F238E27FC236}">
                  <a16:creationId xmlns:a16="http://schemas.microsoft.com/office/drawing/2014/main" id="{3EDA6996-6BDC-437F-ADBA-E05B0D81E35B}"/>
                </a:ext>
              </a:extLst>
            </p:cNvPr>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2" name="Oval 25">
              <a:extLst>
                <a:ext uri="{FF2B5EF4-FFF2-40B4-BE49-F238E27FC236}">
                  <a16:creationId xmlns:a16="http://schemas.microsoft.com/office/drawing/2014/main" id="{24055D2E-D1C1-45E1-99BC-5E0D2E684158}"/>
                </a:ext>
              </a:extLst>
            </p:cNvPr>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3" name="Oval 26">
              <a:extLst>
                <a:ext uri="{FF2B5EF4-FFF2-40B4-BE49-F238E27FC236}">
                  <a16:creationId xmlns:a16="http://schemas.microsoft.com/office/drawing/2014/main" id="{8E9DAD61-426F-4263-89E9-AA20C8AB60C5}"/>
                </a:ext>
              </a:extLst>
            </p:cNvPr>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4" name="Oval 27">
              <a:extLst>
                <a:ext uri="{FF2B5EF4-FFF2-40B4-BE49-F238E27FC236}">
                  <a16:creationId xmlns:a16="http://schemas.microsoft.com/office/drawing/2014/main" id="{45B2A3FC-9B15-4DEC-8A82-0E2B0FD99449}"/>
                </a:ext>
              </a:extLst>
            </p:cNvPr>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5" name="Oval 28">
              <a:extLst>
                <a:ext uri="{FF2B5EF4-FFF2-40B4-BE49-F238E27FC236}">
                  <a16:creationId xmlns:a16="http://schemas.microsoft.com/office/drawing/2014/main" id="{421EF341-2D4A-4608-8172-D1CC33C7D80C}"/>
                </a:ext>
              </a:extLst>
            </p:cNvPr>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6" name="Oval 29">
              <a:extLst>
                <a:ext uri="{FF2B5EF4-FFF2-40B4-BE49-F238E27FC236}">
                  <a16:creationId xmlns:a16="http://schemas.microsoft.com/office/drawing/2014/main" id="{177FD826-B779-4A04-AA62-B8780A3760F8}"/>
                </a:ext>
              </a:extLst>
            </p:cNvPr>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27" name="Oval 30">
              <a:extLst>
                <a:ext uri="{FF2B5EF4-FFF2-40B4-BE49-F238E27FC236}">
                  <a16:creationId xmlns:a16="http://schemas.microsoft.com/office/drawing/2014/main" id="{90A00748-D0CA-4786-BFA4-F751B5D20BEA}"/>
                </a:ext>
              </a:extLst>
            </p:cNvPr>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8" name="Oval 31">
              <a:extLst>
                <a:ext uri="{FF2B5EF4-FFF2-40B4-BE49-F238E27FC236}">
                  <a16:creationId xmlns:a16="http://schemas.microsoft.com/office/drawing/2014/main" id="{93E45EBA-959E-4299-99A9-FA112F645293}"/>
                </a:ext>
              </a:extLst>
            </p:cNvPr>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9" name="Oval 32">
              <a:extLst>
                <a:ext uri="{FF2B5EF4-FFF2-40B4-BE49-F238E27FC236}">
                  <a16:creationId xmlns:a16="http://schemas.microsoft.com/office/drawing/2014/main" id="{756964F9-5ADA-4037-B954-024336527980}"/>
                </a:ext>
              </a:extLst>
            </p:cNvPr>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0" name="Oval 33">
              <a:extLst>
                <a:ext uri="{FF2B5EF4-FFF2-40B4-BE49-F238E27FC236}">
                  <a16:creationId xmlns:a16="http://schemas.microsoft.com/office/drawing/2014/main" id="{FC8B3013-17CC-4D1A-BEDD-985B705A5905}"/>
                </a:ext>
              </a:extLst>
            </p:cNvPr>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1" name="Oval 34">
              <a:extLst>
                <a:ext uri="{FF2B5EF4-FFF2-40B4-BE49-F238E27FC236}">
                  <a16:creationId xmlns:a16="http://schemas.microsoft.com/office/drawing/2014/main" id="{58EDAF88-845F-470C-BC01-B7F86F17A044}"/>
                </a:ext>
              </a:extLst>
            </p:cNvPr>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2" name="Oval 35">
              <a:extLst>
                <a:ext uri="{FF2B5EF4-FFF2-40B4-BE49-F238E27FC236}">
                  <a16:creationId xmlns:a16="http://schemas.microsoft.com/office/drawing/2014/main" id="{729B2B17-F7E3-44B1-8F5A-06CC1EBB72AA}"/>
                </a:ext>
              </a:extLst>
            </p:cNvPr>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3" name="Oval 36">
              <a:extLst>
                <a:ext uri="{FF2B5EF4-FFF2-40B4-BE49-F238E27FC236}">
                  <a16:creationId xmlns:a16="http://schemas.microsoft.com/office/drawing/2014/main" id="{DB93D71D-1508-41A7-8A5D-D9F674D416CF}"/>
                </a:ext>
              </a:extLst>
            </p:cNvPr>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4" name="Oval 37">
              <a:extLst>
                <a:ext uri="{FF2B5EF4-FFF2-40B4-BE49-F238E27FC236}">
                  <a16:creationId xmlns:a16="http://schemas.microsoft.com/office/drawing/2014/main" id="{9A4E0B60-9CC5-4BA6-84F5-CD8C3C64FBD8}"/>
                </a:ext>
              </a:extLst>
            </p:cNvPr>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5" name="Oval 38">
              <a:extLst>
                <a:ext uri="{FF2B5EF4-FFF2-40B4-BE49-F238E27FC236}">
                  <a16:creationId xmlns:a16="http://schemas.microsoft.com/office/drawing/2014/main" id="{0FDFFED7-085C-4CA5-92AE-1775D47D14CC}"/>
                </a:ext>
              </a:extLst>
            </p:cNvPr>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6" name="Oval 39">
              <a:extLst>
                <a:ext uri="{FF2B5EF4-FFF2-40B4-BE49-F238E27FC236}">
                  <a16:creationId xmlns:a16="http://schemas.microsoft.com/office/drawing/2014/main" id="{70CF3937-2FAF-40AF-9BEB-F553DA2DFC24}"/>
                </a:ext>
              </a:extLst>
            </p:cNvPr>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
        <p:nvSpPr>
          <p:cNvPr id="37" name="Line 40">
            <a:extLst>
              <a:ext uri="{FF2B5EF4-FFF2-40B4-BE49-F238E27FC236}">
                <a16:creationId xmlns:a16="http://schemas.microsoft.com/office/drawing/2014/main" id="{549A9BDC-DBE8-4135-92AF-C0D98A09940B}"/>
              </a:ext>
            </a:extLst>
          </p:cNvPr>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latin typeface="Arial" charset="0"/>
              <a:cs typeface="Arial" charset="0"/>
            </a:endParaRPr>
          </a:p>
        </p:txBody>
      </p:sp>
      <p:sp>
        <p:nvSpPr>
          <p:cNvPr id="38" name="Rectangle 41">
            <a:extLst>
              <a:ext uri="{FF2B5EF4-FFF2-40B4-BE49-F238E27FC236}">
                <a16:creationId xmlns:a16="http://schemas.microsoft.com/office/drawing/2014/main" id="{FDDAA4DD-3148-49E9-8A77-3F9A91AA45D0}"/>
              </a:ext>
            </a:extLst>
          </p:cNvPr>
          <p:cNvSpPr>
            <a:spLocks noChangeArrowheads="1"/>
          </p:cNvSpPr>
          <p:nvPr/>
        </p:nvSpPr>
        <p:spPr bwMode="auto">
          <a:xfrm>
            <a:off x="457200" y="1676400"/>
            <a:ext cx="6781800" cy="1076325"/>
          </a:xfrm>
          <a:prstGeom prst="rect">
            <a:avLst/>
          </a:prstGeom>
          <a:noFill/>
          <a:ln w="9525">
            <a:noFill/>
            <a:miter lim="800000"/>
            <a:headEnd/>
            <a:tailEnd/>
          </a:ln>
          <a:effectLst/>
        </p:spPr>
        <p:txBody>
          <a:bodyPr anchor="b"/>
          <a:lstStyle/>
          <a:p>
            <a:pPr algn="r">
              <a:defRPr/>
            </a:pPr>
            <a:endParaRPr lang="en-US" altLang="en-US" sz="3200" b="1">
              <a:solidFill>
                <a:schemeClr val="tx2"/>
              </a:solidFill>
              <a:latin typeface="Arial" charset="0"/>
              <a:cs typeface="Arial" charset="0"/>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BA0A7375-3065-4E99-88AD-25F47CDC8245}"/>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CCF5781C-E511-43BC-B52B-E612A2B8BB66}"/>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1A7F5BBD-9D66-4423-89D4-398D41F51374}"/>
              </a:ext>
            </a:extLst>
          </p:cNvPr>
          <p:cNvSpPr>
            <a:spLocks noGrp="1" noChangeArrowheads="1"/>
          </p:cNvSpPr>
          <p:nvPr>
            <p:ph type="sldNum" sz="quarter" idx="12"/>
          </p:nvPr>
        </p:nvSpPr>
        <p:spPr>
          <a:xfrm>
            <a:off x="7315200" y="6248400"/>
            <a:ext cx="1371600" cy="457200"/>
          </a:xfrm>
        </p:spPr>
        <p:txBody>
          <a:bodyPr/>
          <a:lstStyle>
            <a:lvl1pPr>
              <a:defRPr/>
            </a:lvl1pPr>
          </a:lstStyle>
          <a:p>
            <a:fld id="{BB04099F-0F7F-4CA2-9BA3-1327B2CACC11}" type="slidenum">
              <a:rPr lang="en-US" altLang="en-US"/>
              <a:pPr/>
              <a:t>‹#›</a:t>
            </a:fld>
            <a:endParaRPr lang="en-US" altLang="en-US"/>
          </a:p>
        </p:txBody>
      </p:sp>
    </p:spTree>
    <p:extLst>
      <p:ext uri="{BB962C8B-B14F-4D97-AF65-F5344CB8AC3E}">
        <p14:creationId xmlns:p14="http://schemas.microsoft.com/office/powerpoint/2010/main" val="3178089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4176668-B2A9-4341-BCBC-97712430EDE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852C3A88-271F-4A03-A579-ADEE3DA888C6}"/>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535BE615-8796-4676-8CC3-6AD412D3C825}"/>
              </a:ext>
            </a:extLst>
          </p:cNvPr>
          <p:cNvSpPr>
            <a:spLocks noGrp="1" noChangeArrowheads="1"/>
          </p:cNvSpPr>
          <p:nvPr>
            <p:ph type="sldNum" sz="quarter" idx="12"/>
          </p:nvPr>
        </p:nvSpPr>
        <p:spPr>
          <a:ln/>
        </p:spPr>
        <p:txBody>
          <a:bodyPr/>
          <a:lstStyle>
            <a:lvl1pPr>
              <a:defRPr/>
            </a:lvl1pPr>
          </a:lstStyle>
          <a:p>
            <a:fld id="{53B4861E-BC3F-4E73-9FE7-B3AF91BFCD57}" type="slidenum">
              <a:rPr lang="en-US" altLang="en-US"/>
              <a:pPr/>
              <a:t>‹#›</a:t>
            </a:fld>
            <a:endParaRPr lang="en-US" altLang="en-US"/>
          </a:p>
        </p:txBody>
      </p:sp>
    </p:spTree>
    <p:extLst>
      <p:ext uri="{BB962C8B-B14F-4D97-AF65-F5344CB8AC3E}">
        <p14:creationId xmlns:p14="http://schemas.microsoft.com/office/powerpoint/2010/main" val="2414866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4F308807-9D19-43DD-879C-2032797AFBA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AAF0DDC7-6E12-47F7-A95B-AEE78A3FC8DB}"/>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8EFC0058-D24E-49C4-A118-51A79D536E30}"/>
              </a:ext>
            </a:extLst>
          </p:cNvPr>
          <p:cNvSpPr>
            <a:spLocks noGrp="1" noChangeArrowheads="1"/>
          </p:cNvSpPr>
          <p:nvPr>
            <p:ph type="sldNum" sz="quarter" idx="12"/>
          </p:nvPr>
        </p:nvSpPr>
        <p:spPr>
          <a:ln/>
        </p:spPr>
        <p:txBody>
          <a:bodyPr/>
          <a:lstStyle>
            <a:lvl1pPr>
              <a:defRPr/>
            </a:lvl1pPr>
          </a:lstStyle>
          <a:p>
            <a:fld id="{885A7160-7E9E-45D7-B7D5-BE574A93CD19}" type="slidenum">
              <a:rPr lang="en-US" altLang="en-US"/>
              <a:pPr/>
              <a:t>‹#›</a:t>
            </a:fld>
            <a:endParaRPr lang="en-US" altLang="en-US"/>
          </a:p>
        </p:txBody>
      </p:sp>
    </p:spTree>
    <p:extLst>
      <p:ext uri="{BB962C8B-B14F-4D97-AF65-F5344CB8AC3E}">
        <p14:creationId xmlns:p14="http://schemas.microsoft.com/office/powerpoint/2010/main" val="892197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64A719A4-A6F7-4C97-8846-DA5D376866F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C06B9F9-58DC-4315-A3A0-2C0344AB67FA}"/>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6CFD0B91-B2E0-46A8-A81D-8A61ED5DED49}"/>
              </a:ext>
            </a:extLst>
          </p:cNvPr>
          <p:cNvSpPr>
            <a:spLocks noGrp="1" noChangeArrowheads="1"/>
          </p:cNvSpPr>
          <p:nvPr>
            <p:ph type="sldNum" sz="quarter" idx="12"/>
          </p:nvPr>
        </p:nvSpPr>
        <p:spPr>
          <a:ln/>
        </p:spPr>
        <p:txBody>
          <a:bodyPr/>
          <a:lstStyle>
            <a:lvl1pPr>
              <a:defRPr/>
            </a:lvl1pPr>
          </a:lstStyle>
          <a:p>
            <a:fld id="{BF9DC523-41A5-42EA-B1CD-CD8DE3493995}" type="slidenum">
              <a:rPr lang="en-US" altLang="en-US"/>
              <a:pPr/>
              <a:t>‹#›</a:t>
            </a:fld>
            <a:endParaRPr lang="en-US" altLang="en-US"/>
          </a:p>
        </p:txBody>
      </p:sp>
    </p:spTree>
    <p:extLst>
      <p:ext uri="{BB962C8B-B14F-4D97-AF65-F5344CB8AC3E}">
        <p14:creationId xmlns:p14="http://schemas.microsoft.com/office/powerpoint/2010/main" val="1093131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563B8A0F-DE39-4B28-AE7B-801DC380989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B50A4BE2-D64D-4A77-8544-F9FA65244F65}"/>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9BAAF873-E0BD-4437-A03F-1986B058892C}"/>
              </a:ext>
            </a:extLst>
          </p:cNvPr>
          <p:cNvSpPr>
            <a:spLocks noGrp="1" noChangeArrowheads="1"/>
          </p:cNvSpPr>
          <p:nvPr>
            <p:ph type="sldNum" sz="quarter" idx="12"/>
          </p:nvPr>
        </p:nvSpPr>
        <p:spPr>
          <a:ln/>
        </p:spPr>
        <p:txBody>
          <a:bodyPr/>
          <a:lstStyle>
            <a:lvl1pPr>
              <a:defRPr/>
            </a:lvl1pPr>
          </a:lstStyle>
          <a:p>
            <a:fld id="{6E8BF79D-7213-40BD-B623-F527A6C77107}" type="slidenum">
              <a:rPr lang="en-US" altLang="en-US"/>
              <a:pPr/>
              <a:t>‹#›</a:t>
            </a:fld>
            <a:endParaRPr lang="en-US" altLang="en-US"/>
          </a:p>
        </p:txBody>
      </p:sp>
    </p:spTree>
    <p:extLst>
      <p:ext uri="{BB962C8B-B14F-4D97-AF65-F5344CB8AC3E}">
        <p14:creationId xmlns:p14="http://schemas.microsoft.com/office/powerpoint/2010/main" val="417873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A8B7A411-7482-4C4E-AEC4-225437A871C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FCE15752-650C-4A69-A425-6E97EFC68593}"/>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BCFE316C-FD60-4AE4-8ACA-4ADA7DC734CF}"/>
              </a:ext>
            </a:extLst>
          </p:cNvPr>
          <p:cNvSpPr>
            <a:spLocks noGrp="1" noChangeArrowheads="1"/>
          </p:cNvSpPr>
          <p:nvPr>
            <p:ph type="sldNum" sz="quarter" idx="12"/>
          </p:nvPr>
        </p:nvSpPr>
        <p:spPr>
          <a:ln/>
        </p:spPr>
        <p:txBody>
          <a:bodyPr/>
          <a:lstStyle>
            <a:lvl1pPr>
              <a:defRPr/>
            </a:lvl1pPr>
          </a:lstStyle>
          <a:p>
            <a:fld id="{D2FAE98E-28B8-494B-A5BF-6FA6D7B43E18}" type="slidenum">
              <a:rPr lang="en-US" altLang="en-US"/>
              <a:pPr/>
              <a:t>‹#›</a:t>
            </a:fld>
            <a:endParaRPr lang="en-US" altLang="en-US"/>
          </a:p>
        </p:txBody>
      </p:sp>
    </p:spTree>
    <p:extLst>
      <p:ext uri="{BB962C8B-B14F-4D97-AF65-F5344CB8AC3E}">
        <p14:creationId xmlns:p14="http://schemas.microsoft.com/office/powerpoint/2010/main" val="667615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4966D17-FEA2-4F5A-9D23-78491B7AD21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E0406C0B-FF04-46EC-913B-D08B57DF44BD}"/>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AAB799ED-626C-4CAB-BDDE-E09BD39A5987}"/>
              </a:ext>
            </a:extLst>
          </p:cNvPr>
          <p:cNvSpPr>
            <a:spLocks noGrp="1" noChangeArrowheads="1"/>
          </p:cNvSpPr>
          <p:nvPr>
            <p:ph type="sldNum" sz="quarter" idx="12"/>
          </p:nvPr>
        </p:nvSpPr>
        <p:spPr>
          <a:ln/>
        </p:spPr>
        <p:txBody>
          <a:bodyPr/>
          <a:lstStyle>
            <a:lvl1pPr>
              <a:defRPr/>
            </a:lvl1pPr>
          </a:lstStyle>
          <a:p>
            <a:fld id="{8CAC7430-AC70-4C96-9627-E9EFC44627C8}" type="slidenum">
              <a:rPr lang="en-US" altLang="en-US"/>
              <a:pPr/>
              <a:t>‹#›</a:t>
            </a:fld>
            <a:endParaRPr lang="en-US" altLang="en-US"/>
          </a:p>
        </p:txBody>
      </p:sp>
    </p:spTree>
    <p:extLst>
      <p:ext uri="{BB962C8B-B14F-4D97-AF65-F5344CB8AC3E}">
        <p14:creationId xmlns:p14="http://schemas.microsoft.com/office/powerpoint/2010/main" val="1322989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879F8444-3B12-4896-A6E9-4405657E916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603D82D-A390-4358-A1CE-B3187A9573E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5D5F0F92-02F1-4187-8A0A-C9B353762542}"/>
              </a:ext>
            </a:extLst>
          </p:cNvPr>
          <p:cNvSpPr>
            <a:spLocks noGrp="1" noChangeArrowheads="1"/>
          </p:cNvSpPr>
          <p:nvPr>
            <p:ph type="sldNum" sz="quarter" idx="12"/>
          </p:nvPr>
        </p:nvSpPr>
        <p:spPr>
          <a:ln/>
        </p:spPr>
        <p:txBody>
          <a:bodyPr/>
          <a:lstStyle>
            <a:lvl1pPr>
              <a:defRPr/>
            </a:lvl1pPr>
          </a:lstStyle>
          <a:p>
            <a:fld id="{A6CC0BCE-684C-4903-9B33-45EF0B8B9572}" type="slidenum">
              <a:rPr lang="en-US" altLang="en-US"/>
              <a:pPr/>
              <a:t>‹#›</a:t>
            </a:fld>
            <a:endParaRPr lang="en-US" altLang="en-US"/>
          </a:p>
        </p:txBody>
      </p:sp>
    </p:spTree>
    <p:extLst>
      <p:ext uri="{BB962C8B-B14F-4D97-AF65-F5344CB8AC3E}">
        <p14:creationId xmlns:p14="http://schemas.microsoft.com/office/powerpoint/2010/main" val="563489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3C64D2CC-83B8-464D-BC63-4A33989CB2C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D299AD6-86FE-45A5-943E-2A0EB1B254F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68431F14-0D68-4C1A-9544-A5EF10956FEE}"/>
              </a:ext>
            </a:extLst>
          </p:cNvPr>
          <p:cNvSpPr>
            <a:spLocks noGrp="1" noChangeArrowheads="1"/>
          </p:cNvSpPr>
          <p:nvPr>
            <p:ph type="sldNum" sz="quarter" idx="12"/>
          </p:nvPr>
        </p:nvSpPr>
        <p:spPr>
          <a:ln/>
        </p:spPr>
        <p:txBody>
          <a:bodyPr/>
          <a:lstStyle>
            <a:lvl1pPr>
              <a:defRPr/>
            </a:lvl1pPr>
          </a:lstStyle>
          <a:p>
            <a:fld id="{FDFA7D36-427D-4925-9EB6-6DC88BDE6305}" type="slidenum">
              <a:rPr lang="en-US" altLang="en-US"/>
              <a:pPr/>
              <a:t>‹#›</a:t>
            </a:fld>
            <a:endParaRPr lang="en-US" altLang="en-US"/>
          </a:p>
        </p:txBody>
      </p:sp>
    </p:spTree>
    <p:extLst>
      <p:ext uri="{BB962C8B-B14F-4D97-AF65-F5344CB8AC3E}">
        <p14:creationId xmlns:p14="http://schemas.microsoft.com/office/powerpoint/2010/main" val="509010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6D8F4E24-0075-46B2-9167-DB3425A3ED7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4A25DF5-8966-47F3-9A3D-20B7A87FC849}"/>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76BF2CB9-1350-4B20-B4BF-9C6DD1397540}"/>
              </a:ext>
            </a:extLst>
          </p:cNvPr>
          <p:cNvSpPr>
            <a:spLocks noGrp="1" noChangeArrowheads="1"/>
          </p:cNvSpPr>
          <p:nvPr>
            <p:ph type="sldNum" sz="quarter" idx="12"/>
          </p:nvPr>
        </p:nvSpPr>
        <p:spPr>
          <a:ln/>
        </p:spPr>
        <p:txBody>
          <a:bodyPr/>
          <a:lstStyle>
            <a:lvl1pPr>
              <a:defRPr/>
            </a:lvl1pPr>
          </a:lstStyle>
          <a:p>
            <a:fld id="{F30E2293-0DE6-445E-BC62-73A40DFB027E}" type="slidenum">
              <a:rPr lang="en-US" altLang="en-US"/>
              <a:pPr/>
              <a:t>‹#›</a:t>
            </a:fld>
            <a:endParaRPr lang="en-US" altLang="en-US"/>
          </a:p>
        </p:txBody>
      </p:sp>
    </p:spTree>
    <p:extLst>
      <p:ext uri="{BB962C8B-B14F-4D97-AF65-F5344CB8AC3E}">
        <p14:creationId xmlns:p14="http://schemas.microsoft.com/office/powerpoint/2010/main" val="2781237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17FD2A2-6881-4C5C-BCDB-CCE1CC759B7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65CF47AD-238B-42C5-87B0-908AD894DFA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B2601137-036C-45E4-A5E4-5BA518E5AB8A}"/>
              </a:ext>
            </a:extLst>
          </p:cNvPr>
          <p:cNvSpPr>
            <a:spLocks noGrp="1" noChangeArrowheads="1"/>
          </p:cNvSpPr>
          <p:nvPr>
            <p:ph type="sldNum" sz="quarter" idx="12"/>
          </p:nvPr>
        </p:nvSpPr>
        <p:spPr>
          <a:ln/>
        </p:spPr>
        <p:txBody>
          <a:bodyPr/>
          <a:lstStyle>
            <a:lvl1pPr>
              <a:defRPr/>
            </a:lvl1pPr>
          </a:lstStyle>
          <a:p>
            <a:fld id="{450A736E-5193-437E-941A-D212F379D9D2}" type="slidenum">
              <a:rPr lang="en-US" altLang="en-US"/>
              <a:pPr/>
              <a:t>‹#›</a:t>
            </a:fld>
            <a:endParaRPr lang="en-US" altLang="en-US"/>
          </a:p>
        </p:txBody>
      </p:sp>
    </p:spTree>
    <p:extLst>
      <p:ext uri="{BB962C8B-B14F-4D97-AF65-F5344CB8AC3E}">
        <p14:creationId xmlns:p14="http://schemas.microsoft.com/office/powerpoint/2010/main" val="1560250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B3104899-A834-439D-AC12-C624EC83DED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26B1944C-1D09-494F-A8B6-F98146CD953D}"/>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EC9DAB8D-2E17-449E-B0E6-CA6AA8385375}"/>
              </a:ext>
            </a:extLst>
          </p:cNvPr>
          <p:cNvSpPr>
            <a:spLocks noGrp="1" noChangeArrowheads="1"/>
          </p:cNvSpPr>
          <p:nvPr>
            <p:ph type="sldNum" sz="quarter" idx="12"/>
          </p:nvPr>
        </p:nvSpPr>
        <p:spPr>
          <a:ln/>
        </p:spPr>
        <p:txBody>
          <a:bodyPr/>
          <a:lstStyle>
            <a:lvl1pPr>
              <a:defRPr/>
            </a:lvl1pPr>
          </a:lstStyle>
          <a:p>
            <a:fld id="{85C2E2A3-9568-4234-9CDD-DFD3080D2803}" type="slidenum">
              <a:rPr lang="en-US" altLang="en-US"/>
              <a:pPr/>
              <a:t>‹#›</a:t>
            </a:fld>
            <a:endParaRPr lang="en-US" altLang="en-US"/>
          </a:p>
        </p:txBody>
      </p:sp>
    </p:spTree>
    <p:extLst>
      <p:ext uri="{BB962C8B-B14F-4D97-AF65-F5344CB8AC3E}">
        <p14:creationId xmlns:p14="http://schemas.microsoft.com/office/powerpoint/2010/main" val="3771249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5A977B03-F3BD-4E17-BC3A-BD17FF6AE69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F172809-0090-4FA6-8D15-864E5F0B7CC8}"/>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13AF4EB1-595F-42A6-996E-5450B4B0266B}"/>
              </a:ext>
            </a:extLst>
          </p:cNvPr>
          <p:cNvSpPr>
            <a:spLocks noGrp="1" noChangeArrowheads="1"/>
          </p:cNvSpPr>
          <p:nvPr>
            <p:ph type="sldNum" sz="quarter" idx="12"/>
          </p:nvPr>
        </p:nvSpPr>
        <p:spPr>
          <a:ln/>
        </p:spPr>
        <p:txBody>
          <a:bodyPr/>
          <a:lstStyle>
            <a:lvl1pPr>
              <a:defRPr/>
            </a:lvl1pPr>
          </a:lstStyle>
          <a:p>
            <a:fld id="{0CE49901-9E3A-46FC-9015-44FE11717D9E}" type="slidenum">
              <a:rPr lang="en-US" altLang="en-US"/>
              <a:pPr/>
              <a:t>‹#›</a:t>
            </a:fld>
            <a:endParaRPr lang="en-US" altLang="en-US"/>
          </a:p>
        </p:txBody>
      </p:sp>
    </p:spTree>
    <p:extLst>
      <p:ext uri="{BB962C8B-B14F-4D97-AF65-F5344CB8AC3E}">
        <p14:creationId xmlns:p14="http://schemas.microsoft.com/office/powerpoint/2010/main" val="3257485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Line 2">
            <a:extLst>
              <a:ext uri="{FF2B5EF4-FFF2-40B4-BE49-F238E27FC236}">
                <a16:creationId xmlns:a16="http://schemas.microsoft.com/office/drawing/2014/main" id="{54853E40-E0AE-48F5-B9F2-03C1DEDA0D62}"/>
              </a:ext>
            </a:extLst>
          </p:cNvPr>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sp>
        <p:nvSpPr>
          <p:cNvPr id="1027" name="Rectangle 3">
            <a:extLst>
              <a:ext uri="{FF2B5EF4-FFF2-40B4-BE49-F238E27FC236}">
                <a16:creationId xmlns:a16="http://schemas.microsoft.com/office/drawing/2014/main" id="{024FBD07-08C3-4705-89D8-5979060EC0A7}"/>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72C48E-4C4B-4F8C-8E52-BF552A35E997}"/>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CE1396D2-7D67-4719-8EFF-7FE3C1130487}"/>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80FAC3FC-AD91-4930-92A3-AD096893C070}"/>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45C2C484-45AF-4BD6-AEB9-1D64812C3BD2}"/>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1CA89830-1AFA-4D8E-B343-573B9CED38C8}" type="slidenum">
              <a:rPr lang="en-US" altLang="en-US"/>
              <a:pPr/>
              <a:t>‹#›</a:t>
            </a:fld>
            <a:endParaRPr lang="en-US" altLang="en-US"/>
          </a:p>
        </p:txBody>
      </p:sp>
      <p:grpSp>
        <p:nvGrpSpPr>
          <p:cNvPr id="1032" name="Group 8">
            <a:extLst>
              <a:ext uri="{FF2B5EF4-FFF2-40B4-BE49-F238E27FC236}">
                <a16:creationId xmlns:a16="http://schemas.microsoft.com/office/drawing/2014/main" id="{A121655A-9951-438D-8153-8695D0EA7313}"/>
              </a:ext>
            </a:extLst>
          </p:cNvPr>
          <p:cNvGrpSpPr>
            <a:grpSpLocks/>
          </p:cNvGrpSpPr>
          <p:nvPr/>
        </p:nvGrpSpPr>
        <p:grpSpPr bwMode="auto">
          <a:xfrm>
            <a:off x="8153400" y="152400"/>
            <a:ext cx="792163" cy="1295400"/>
            <a:chOff x="5136" y="960"/>
            <a:chExt cx="528" cy="864"/>
          </a:xfrm>
        </p:grpSpPr>
        <p:sp>
          <p:nvSpPr>
            <p:cNvPr id="119817" name="Oval 9">
              <a:extLst>
                <a:ext uri="{FF2B5EF4-FFF2-40B4-BE49-F238E27FC236}">
                  <a16:creationId xmlns:a16="http://schemas.microsoft.com/office/drawing/2014/main" id="{7C93C0D8-1EED-45F7-ABB1-73BF03E18807}"/>
                </a:ext>
              </a:extLst>
            </p:cNvPr>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8" name="Oval 10">
              <a:extLst>
                <a:ext uri="{FF2B5EF4-FFF2-40B4-BE49-F238E27FC236}">
                  <a16:creationId xmlns:a16="http://schemas.microsoft.com/office/drawing/2014/main" id="{B1CE4DC7-C4E8-42CA-9749-999D8BA223DD}"/>
                </a:ext>
              </a:extLst>
            </p:cNvPr>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9" name="Oval 11">
              <a:extLst>
                <a:ext uri="{FF2B5EF4-FFF2-40B4-BE49-F238E27FC236}">
                  <a16:creationId xmlns:a16="http://schemas.microsoft.com/office/drawing/2014/main" id="{97E3430E-16A1-4538-B87C-6FED97BE0C12}"/>
                </a:ext>
              </a:extLst>
            </p:cNvPr>
            <p:cNvSpPr>
              <a:spLocks noChangeArrowheads="1"/>
            </p:cNvSpPr>
            <p:nvPr/>
          </p:nvSpPr>
          <p:spPr bwMode="auto">
            <a:xfrm>
              <a:off x="5360" y="960"/>
              <a:ext cx="78"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0" name="Oval 12">
              <a:extLst>
                <a:ext uri="{FF2B5EF4-FFF2-40B4-BE49-F238E27FC236}">
                  <a16:creationId xmlns:a16="http://schemas.microsoft.com/office/drawing/2014/main" id="{ECCAFD91-C5FF-4421-8568-9649B78634D8}"/>
                </a:ext>
              </a:extLst>
            </p:cNvPr>
            <p:cNvSpPr>
              <a:spLocks noChangeArrowheads="1"/>
            </p:cNvSpPr>
            <p:nvPr/>
          </p:nvSpPr>
          <p:spPr bwMode="auto">
            <a:xfrm>
              <a:off x="5136" y="1072"/>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1" name="Oval 13">
              <a:extLst>
                <a:ext uri="{FF2B5EF4-FFF2-40B4-BE49-F238E27FC236}">
                  <a16:creationId xmlns:a16="http://schemas.microsoft.com/office/drawing/2014/main" id="{B6D0BCA3-0411-45D8-99D5-543E14B7945A}"/>
                </a:ext>
              </a:extLst>
            </p:cNvPr>
            <p:cNvSpPr>
              <a:spLocks noChangeArrowheads="1"/>
            </p:cNvSpPr>
            <p:nvPr/>
          </p:nvSpPr>
          <p:spPr bwMode="auto">
            <a:xfrm>
              <a:off x="5248" y="1072"/>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2" name="Oval 14">
              <a:extLst>
                <a:ext uri="{FF2B5EF4-FFF2-40B4-BE49-F238E27FC236}">
                  <a16:creationId xmlns:a16="http://schemas.microsoft.com/office/drawing/2014/main" id="{90A6B684-A91B-4280-8E3B-9FF407556A27}"/>
                </a:ext>
              </a:extLst>
            </p:cNvPr>
            <p:cNvSpPr>
              <a:spLocks noChangeArrowheads="1"/>
            </p:cNvSpPr>
            <p:nvPr/>
          </p:nvSpPr>
          <p:spPr bwMode="auto">
            <a:xfrm>
              <a:off x="5360" y="1072"/>
              <a:ext cx="78"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3" name="Oval 15">
              <a:extLst>
                <a:ext uri="{FF2B5EF4-FFF2-40B4-BE49-F238E27FC236}">
                  <a16:creationId xmlns:a16="http://schemas.microsoft.com/office/drawing/2014/main" id="{03576747-D36D-4EC1-8F0F-22F1DA8B905A}"/>
                </a:ext>
              </a:extLst>
            </p:cNvPr>
            <p:cNvSpPr>
              <a:spLocks noChangeArrowheads="1"/>
            </p:cNvSpPr>
            <p:nvPr/>
          </p:nvSpPr>
          <p:spPr bwMode="auto">
            <a:xfrm>
              <a:off x="5472" y="1072"/>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4" name="Oval 16">
              <a:extLst>
                <a:ext uri="{FF2B5EF4-FFF2-40B4-BE49-F238E27FC236}">
                  <a16:creationId xmlns:a16="http://schemas.microsoft.com/office/drawing/2014/main" id="{1A62D924-3CDC-485C-9AB2-BACFB9B1D84A}"/>
                </a:ext>
              </a:extLst>
            </p:cNvPr>
            <p:cNvSpPr>
              <a:spLocks noChangeArrowheads="1"/>
            </p:cNvSpPr>
            <p:nvPr/>
          </p:nvSpPr>
          <p:spPr bwMode="auto">
            <a:xfrm>
              <a:off x="5136" y="1184"/>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5" name="Oval 17">
              <a:extLst>
                <a:ext uri="{FF2B5EF4-FFF2-40B4-BE49-F238E27FC236}">
                  <a16:creationId xmlns:a16="http://schemas.microsoft.com/office/drawing/2014/main" id="{937900A2-855F-4030-8259-1500CCB77B8C}"/>
                </a:ext>
              </a:extLst>
            </p:cNvPr>
            <p:cNvSpPr>
              <a:spLocks noChangeArrowheads="1"/>
            </p:cNvSpPr>
            <p:nvPr/>
          </p:nvSpPr>
          <p:spPr bwMode="auto">
            <a:xfrm>
              <a:off x="5248" y="1184"/>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6" name="Oval 18">
              <a:extLst>
                <a:ext uri="{FF2B5EF4-FFF2-40B4-BE49-F238E27FC236}">
                  <a16:creationId xmlns:a16="http://schemas.microsoft.com/office/drawing/2014/main" id="{48202F96-AB3D-4B76-9C81-9F15B0E971F2}"/>
                </a:ext>
              </a:extLst>
            </p:cNvPr>
            <p:cNvSpPr>
              <a:spLocks noChangeArrowheads="1"/>
            </p:cNvSpPr>
            <p:nvPr/>
          </p:nvSpPr>
          <p:spPr bwMode="auto">
            <a:xfrm>
              <a:off x="5360"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7" name="Oval 19">
              <a:extLst>
                <a:ext uri="{FF2B5EF4-FFF2-40B4-BE49-F238E27FC236}">
                  <a16:creationId xmlns:a16="http://schemas.microsoft.com/office/drawing/2014/main" id="{1946BB83-A835-443F-9418-571A76C11774}"/>
                </a:ext>
              </a:extLst>
            </p:cNvPr>
            <p:cNvSpPr>
              <a:spLocks noChangeArrowheads="1"/>
            </p:cNvSpPr>
            <p:nvPr/>
          </p:nvSpPr>
          <p:spPr bwMode="auto">
            <a:xfrm>
              <a:off x="5472"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8" name="Oval 20">
              <a:extLst>
                <a:ext uri="{FF2B5EF4-FFF2-40B4-BE49-F238E27FC236}">
                  <a16:creationId xmlns:a16="http://schemas.microsoft.com/office/drawing/2014/main" id="{12A5E182-3385-474F-A07E-711D9AD5718E}"/>
                </a:ext>
              </a:extLst>
            </p:cNvPr>
            <p:cNvSpPr>
              <a:spLocks noChangeArrowheads="1"/>
            </p:cNvSpPr>
            <p:nvPr/>
          </p:nvSpPr>
          <p:spPr bwMode="auto">
            <a:xfrm>
              <a:off x="5584" y="1184"/>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29" name="Oval 21">
              <a:extLst>
                <a:ext uri="{FF2B5EF4-FFF2-40B4-BE49-F238E27FC236}">
                  <a16:creationId xmlns:a16="http://schemas.microsoft.com/office/drawing/2014/main" id="{AC2DC368-FD7F-4680-BCFE-7B95C34A50C4}"/>
                </a:ext>
              </a:extLst>
            </p:cNvPr>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30" name="Oval 22">
              <a:extLst>
                <a:ext uri="{FF2B5EF4-FFF2-40B4-BE49-F238E27FC236}">
                  <a16:creationId xmlns:a16="http://schemas.microsoft.com/office/drawing/2014/main" id="{1C03CE66-60FE-44EE-91AC-DBD3FC0A2526}"/>
                </a:ext>
              </a:extLst>
            </p:cNvPr>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1" name="Oval 23">
              <a:extLst>
                <a:ext uri="{FF2B5EF4-FFF2-40B4-BE49-F238E27FC236}">
                  <a16:creationId xmlns:a16="http://schemas.microsoft.com/office/drawing/2014/main" id="{D48D26D9-368D-4F72-96D9-B7F0314643AF}"/>
                </a:ext>
              </a:extLst>
            </p:cNvPr>
            <p:cNvSpPr>
              <a:spLocks noChangeArrowheads="1"/>
            </p:cNvSpPr>
            <p:nvPr/>
          </p:nvSpPr>
          <p:spPr bwMode="auto">
            <a:xfrm>
              <a:off x="5360" y="1296"/>
              <a:ext cx="78"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2" name="Oval 24">
              <a:extLst>
                <a:ext uri="{FF2B5EF4-FFF2-40B4-BE49-F238E27FC236}">
                  <a16:creationId xmlns:a16="http://schemas.microsoft.com/office/drawing/2014/main" id="{AEDB631F-27D3-405D-965C-F899CF689F1A}"/>
                </a:ext>
              </a:extLst>
            </p:cNvPr>
            <p:cNvSpPr>
              <a:spLocks noChangeArrowheads="1"/>
            </p:cNvSpPr>
            <p:nvPr/>
          </p:nvSpPr>
          <p:spPr bwMode="auto">
            <a:xfrm>
              <a:off x="5472" y="1296"/>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3" name="Oval 25">
              <a:extLst>
                <a:ext uri="{FF2B5EF4-FFF2-40B4-BE49-F238E27FC236}">
                  <a16:creationId xmlns:a16="http://schemas.microsoft.com/office/drawing/2014/main" id="{CCEA160A-80FA-4C2D-AEF7-5573A8A08C4E}"/>
                </a:ext>
              </a:extLst>
            </p:cNvPr>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4" name="Oval 26">
              <a:extLst>
                <a:ext uri="{FF2B5EF4-FFF2-40B4-BE49-F238E27FC236}">
                  <a16:creationId xmlns:a16="http://schemas.microsoft.com/office/drawing/2014/main" id="{5571589F-A5BE-4D2C-B416-731AD8D178CA}"/>
                </a:ext>
              </a:extLst>
            </p:cNvPr>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5" name="Oval 27">
              <a:extLst>
                <a:ext uri="{FF2B5EF4-FFF2-40B4-BE49-F238E27FC236}">
                  <a16:creationId xmlns:a16="http://schemas.microsoft.com/office/drawing/2014/main" id="{5B3515BA-E928-4299-9549-6BDFCFD84499}"/>
                </a:ext>
              </a:extLst>
            </p:cNvPr>
            <p:cNvSpPr>
              <a:spLocks noChangeArrowheads="1"/>
            </p:cNvSpPr>
            <p:nvPr/>
          </p:nvSpPr>
          <p:spPr bwMode="auto">
            <a:xfrm>
              <a:off x="5360"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6" name="Oval 28">
              <a:extLst>
                <a:ext uri="{FF2B5EF4-FFF2-40B4-BE49-F238E27FC236}">
                  <a16:creationId xmlns:a16="http://schemas.microsoft.com/office/drawing/2014/main" id="{0FBFC3F0-B203-4672-B14B-32FCA5E1BFF3}"/>
                </a:ext>
              </a:extLst>
            </p:cNvPr>
            <p:cNvSpPr>
              <a:spLocks noChangeArrowheads="1"/>
            </p:cNvSpPr>
            <p:nvPr/>
          </p:nvSpPr>
          <p:spPr bwMode="auto">
            <a:xfrm>
              <a:off x="5472"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7" name="Oval 29">
              <a:extLst>
                <a:ext uri="{FF2B5EF4-FFF2-40B4-BE49-F238E27FC236}">
                  <a16:creationId xmlns:a16="http://schemas.microsoft.com/office/drawing/2014/main" id="{119119DC-AEF6-426B-AB4E-CAAAE581B4CF}"/>
                </a:ext>
              </a:extLst>
            </p:cNvPr>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38" name="Oval 30">
              <a:extLst>
                <a:ext uri="{FF2B5EF4-FFF2-40B4-BE49-F238E27FC236}">
                  <a16:creationId xmlns:a16="http://schemas.microsoft.com/office/drawing/2014/main" id="{456CFEAA-4A98-4958-A293-B9E94A2D8CBA}"/>
                </a:ext>
              </a:extLst>
            </p:cNvPr>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9" name="Oval 31">
              <a:extLst>
                <a:ext uri="{FF2B5EF4-FFF2-40B4-BE49-F238E27FC236}">
                  <a16:creationId xmlns:a16="http://schemas.microsoft.com/office/drawing/2014/main" id="{325B92B8-D759-4B89-AC27-DC215320D677}"/>
                </a:ext>
              </a:extLst>
            </p:cNvPr>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0" name="Oval 32">
              <a:extLst>
                <a:ext uri="{FF2B5EF4-FFF2-40B4-BE49-F238E27FC236}">
                  <a16:creationId xmlns:a16="http://schemas.microsoft.com/office/drawing/2014/main" id="{BC7CC81C-0025-4BEA-BBB5-0E996C259A54}"/>
                </a:ext>
              </a:extLst>
            </p:cNvPr>
            <p:cNvSpPr>
              <a:spLocks noChangeArrowheads="1"/>
            </p:cNvSpPr>
            <p:nvPr/>
          </p:nvSpPr>
          <p:spPr bwMode="auto">
            <a:xfrm>
              <a:off x="5360" y="1520"/>
              <a:ext cx="78"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1" name="Oval 33">
              <a:extLst>
                <a:ext uri="{FF2B5EF4-FFF2-40B4-BE49-F238E27FC236}">
                  <a16:creationId xmlns:a16="http://schemas.microsoft.com/office/drawing/2014/main" id="{5BA9F218-D5A3-4003-925E-9EA913E90FBC}"/>
                </a:ext>
              </a:extLst>
            </p:cNvPr>
            <p:cNvSpPr>
              <a:spLocks noChangeArrowheads="1"/>
            </p:cNvSpPr>
            <p:nvPr/>
          </p:nvSpPr>
          <p:spPr bwMode="auto">
            <a:xfrm>
              <a:off x="5472" y="1520"/>
              <a:ext cx="78" cy="79"/>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2" name="Oval 34">
              <a:extLst>
                <a:ext uri="{FF2B5EF4-FFF2-40B4-BE49-F238E27FC236}">
                  <a16:creationId xmlns:a16="http://schemas.microsoft.com/office/drawing/2014/main" id="{432FD668-B1E2-4F74-93B1-F1D97756E771}"/>
                </a:ext>
              </a:extLst>
            </p:cNvPr>
            <p:cNvSpPr>
              <a:spLocks noChangeArrowheads="1"/>
            </p:cNvSpPr>
            <p:nvPr/>
          </p:nvSpPr>
          <p:spPr bwMode="auto">
            <a:xfrm>
              <a:off x="5136" y="1632"/>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3" name="Oval 35">
              <a:extLst>
                <a:ext uri="{FF2B5EF4-FFF2-40B4-BE49-F238E27FC236}">
                  <a16:creationId xmlns:a16="http://schemas.microsoft.com/office/drawing/2014/main" id="{CDAEA4C0-BFDC-458C-9C46-D980241FFB51}"/>
                </a:ext>
              </a:extLst>
            </p:cNvPr>
            <p:cNvSpPr>
              <a:spLocks noChangeArrowheads="1"/>
            </p:cNvSpPr>
            <p:nvPr/>
          </p:nvSpPr>
          <p:spPr bwMode="auto">
            <a:xfrm>
              <a:off x="5248" y="1632"/>
              <a:ext cx="79"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4" name="Oval 36">
              <a:extLst>
                <a:ext uri="{FF2B5EF4-FFF2-40B4-BE49-F238E27FC236}">
                  <a16:creationId xmlns:a16="http://schemas.microsoft.com/office/drawing/2014/main" id="{E8F5B8D1-703C-4796-A204-FE9988A82993}"/>
                </a:ext>
              </a:extLst>
            </p:cNvPr>
            <p:cNvSpPr>
              <a:spLocks noChangeArrowheads="1"/>
            </p:cNvSpPr>
            <p:nvPr/>
          </p:nvSpPr>
          <p:spPr bwMode="auto">
            <a:xfrm>
              <a:off x="5360"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5" name="Oval 37">
              <a:extLst>
                <a:ext uri="{FF2B5EF4-FFF2-40B4-BE49-F238E27FC236}">
                  <a16:creationId xmlns:a16="http://schemas.microsoft.com/office/drawing/2014/main" id="{F4643115-EA60-4FBF-BB49-1BE4265E2658}"/>
                </a:ext>
              </a:extLst>
            </p:cNvPr>
            <p:cNvSpPr>
              <a:spLocks noChangeArrowheads="1"/>
            </p:cNvSpPr>
            <p:nvPr/>
          </p:nvSpPr>
          <p:spPr bwMode="auto">
            <a:xfrm>
              <a:off x="5472"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6" name="Oval 38">
              <a:extLst>
                <a:ext uri="{FF2B5EF4-FFF2-40B4-BE49-F238E27FC236}">
                  <a16:creationId xmlns:a16="http://schemas.microsoft.com/office/drawing/2014/main" id="{7473B35B-DC86-4B82-8228-F62C4302365B}"/>
                </a:ext>
              </a:extLst>
            </p:cNvPr>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7" name="Oval 39">
              <a:extLst>
                <a:ext uri="{FF2B5EF4-FFF2-40B4-BE49-F238E27FC236}">
                  <a16:creationId xmlns:a16="http://schemas.microsoft.com/office/drawing/2014/main" id="{2EB04C71-787F-4EF9-86D7-2F82E5AB3938}"/>
                </a:ext>
              </a:extLst>
            </p:cNvPr>
            <p:cNvSpPr>
              <a:spLocks noChangeArrowheads="1"/>
            </p:cNvSpPr>
            <p:nvPr/>
          </p:nvSpPr>
          <p:spPr bwMode="auto">
            <a:xfrm>
              <a:off x="5472" y="1744"/>
              <a:ext cx="78"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Tree>
  </p:cSld>
  <p:clrMap bg1="lt1" tx1="dk1" bg2="lt2" tx2="dk2" accent1="accent1" accent2="accent2" accent3="accent3" accent4="accent4" accent5="accent5" accent6="accent6" hlink="hlink" folHlink="folHlink"/>
  <p:sldLayoutIdLst>
    <p:sldLayoutId id="2147483721"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5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6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23.wmf"/><Relationship Id="rId7"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2.wmf"/><Relationship Id="rId4" Type="http://schemas.openxmlformats.org/officeDocument/2006/relationships/image" Target="../media/image24.wmf"/></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8.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3.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37.png"/></Relationships>
</file>

<file path=ppt/slides/_rels/slide9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1.xml"/><Relationship Id="rId1" Type="http://schemas.openxmlformats.org/officeDocument/2006/relationships/slideLayout" Target="../slideLayouts/slideLayout13.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a:extLst>
              <a:ext uri="{FF2B5EF4-FFF2-40B4-BE49-F238E27FC236}">
                <a16:creationId xmlns:a16="http://schemas.microsoft.com/office/drawing/2014/main" id="{2CBFC1C6-49F4-49CE-8A24-37D3DCF11E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3075" name="Slide Number Placeholder 4">
            <a:extLst>
              <a:ext uri="{FF2B5EF4-FFF2-40B4-BE49-F238E27FC236}">
                <a16:creationId xmlns:a16="http://schemas.microsoft.com/office/drawing/2014/main" id="{06E4892D-9D6F-4AF0-B1BE-465E3D0A69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A9C690-39F7-4F2D-BB2B-99064DEB93CE}" type="slidenum">
              <a:rPr lang="en-US" altLang="en-US"/>
              <a:pPr eaLnBrk="1" hangingPunct="1"/>
              <a:t>1</a:t>
            </a:fld>
            <a:endParaRPr lang="en-US" altLang="en-US"/>
          </a:p>
        </p:txBody>
      </p:sp>
      <p:sp>
        <p:nvSpPr>
          <p:cNvPr id="3076" name="Text Box 3">
            <a:extLst>
              <a:ext uri="{FF2B5EF4-FFF2-40B4-BE49-F238E27FC236}">
                <a16:creationId xmlns:a16="http://schemas.microsoft.com/office/drawing/2014/main" id="{AFFC0BF1-D6B8-4F68-BEB8-85FC20AAF906}"/>
              </a:ext>
            </a:extLst>
          </p:cNvPr>
          <p:cNvSpPr txBox="1">
            <a:spLocks noChangeArrowheads="1"/>
          </p:cNvSpPr>
          <p:nvPr/>
        </p:nvSpPr>
        <p:spPr bwMode="auto">
          <a:xfrm>
            <a:off x="1066800" y="44958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zh-CN" sz="4000">
                <a:solidFill>
                  <a:schemeClr val="bg1"/>
                </a:solidFill>
                <a:ea typeface="宋体" panose="02010600030101010101" pitchFamily="2" charset="-122"/>
              </a:rPr>
              <a:t>Chapter 5</a:t>
            </a:r>
          </a:p>
        </p:txBody>
      </p:sp>
      <p:sp>
        <p:nvSpPr>
          <p:cNvPr id="3077" name="TextBox 6">
            <a:extLst>
              <a:ext uri="{FF2B5EF4-FFF2-40B4-BE49-F238E27FC236}">
                <a16:creationId xmlns:a16="http://schemas.microsoft.com/office/drawing/2014/main" id="{EBC9F256-9A52-402D-99D4-1AEABF9AD4B5}"/>
              </a:ext>
            </a:extLst>
          </p:cNvPr>
          <p:cNvSpPr txBox="1">
            <a:spLocks noChangeArrowheads="1"/>
          </p:cNvSpPr>
          <p:nvPr/>
        </p:nvSpPr>
        <p:spPr bwMode="auto">
          <a:xfrm>
            <a:off x="838200" y="1524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8" name="Rectangle 7">
            <a:extLst>
              <a:ext uri="{FF2B5EF4-FFF2-40B4-BE49-F238E27FC236}">
                <a16:creationId xmlns:a16="http://schemas.microsoft.com/office/drawing/2014/main" id="{21E233A7-A21D-41C0-9D57-B1E201D04511}"/>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dirty="0">
              <a:solidFill>
                <a:srgbClr val="0033CC"/>
              </a:solidFill>
            </a:endParaRPr>
          </a:p>
        </p:txBody>
      </p:sp>
      <p:sp>
        <p:nvSpPr>
          <p:cNvPr id="3079" name="TextBox 10">
            <a:extLst>
              <a:ext uri="{FF2B5EF4-FFF2-40B4-BE49-F238E27FC236}">
                <a16:creationId xmlns:a16="http://schemas.microsoft.com/office/drawing/2014/main" id="{E47F4A5E-C5DF-4F6B-A454-B59EBC7C29F5}"/>
              </a:ext>
            </a:extLst>
          </p:cNvPr>
          <p:cNvSpPr txBox="1">
            <a:spLocks noChangeArrowheads="1"/>
          </p:cNvSpPr>
          <p:nvPr/>
        </p:nvSpPr>
        <p:spPr bwMode="auto">
          <a:xfrm>
            <a:off x="685800" y="4114800"/>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3200">
                <a:solidFill>
                  <a:schemeClr val="bg1"/>
                </a:solidFill>
                <a:ea typeface="宋体" panose="02010600030101010101" pitchFamily="2" charset="-122"/>
              </a:rPr>
              <a:t>CHAPTER 5</a:t>
            </a:r>
          </a:p>
        </p:txBody>
      </p:sp>
      <p:sp>
        <p:nvSpPr>
          <p:cNvPr id="3080" name="TextBox 9">
            <a:extLst>
              <a:ext uri="{FF2B5EF4-FFF2-40B4-BE49-F238E27FC236}">
                <a16:creationId xmlns:a16="http://schemas.microsoft.com/office/drawing/2014/main" id="{CEF2B98A-D815-454B-BEB0-351FC9384030}"/>
              </a:ext>
            </a:extLst>
          </p:cNvPr>
          <p:cNvSpPr txBox="1">
            <a:spLocks noChangeArrowheads="1"/>
          </p:cNvSpPr>
          <p:nvPr/>
        </p:nvSpPr>
        <p:spPr bwMode="auto">
          <a:xfrm>
            <a:off x="38100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solidFill>
                  <a:schemeClr val="bg1"/>
                </a:solidFill>
                <a:ea typeface="宋体" panose="02010600030101010101" pitchFamily="2" charset="-122"/>
              </a:rPr>
              <a:t>SATZINGER | JACKSON | BURD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5564481-03AC-4895-A17D-0DD5A1356CA4}"/>
              </a:ext>
            </a:extLst>
          </p:cNvPr>
          <p:cNvSpPr>
            <a:spLocks noGrp="1" noChangeArrowheads="1"/>
          </p:cNvSpPr>
          <p:nvPr>
            <p:ph type="ctrTitle"/>
          </p:nvPr>
        </p:nvSpPr>
        <p:spPr>
          <a:xfrm>
            <a:off x="685800" y="609600"/>
            <a:ext cx="6411913" cy="1143000"/>
          </a:xfrm>
        </p:spPr>
        <p:txBody>
          <a:bodyPr/>
          <a:lstStyle/>
          <a:p>
            <a:pPr algn="l" eaLnBrk="1" hangingPunct="1"/>
            <a:r>
              <a:rPr lang="en-US" altLang="zh-CN" sz="3600" dirty="0">
                <a:ea typeface="宋体" panose="02010600030101010101" pitchFamily="2" charset="-122"/>
              </a:rPr>
              <a:t>Extending the Requirements Models</a:t>
            </a:r>
          </a:p>
        </p:txBody>
      </p:sp>
      <p:sp>
        <p:nvSpPr>
          <p:cNvPr id="4099" name="Rectangle 3">
            <a:extLst>
              <a:ext uri="{FF2B5EF4-FFF2-40B4-BE49-F238E27FC236}">
                <a16:creationId xmlns:a16="http://schemas.microsoft.com/office/drawing/2014/main" id="{DC3DB85C-4DBC-40FD-A8FC-4DC1DE791737}"/>
              </a:ext>
            </a:extLst>
          </p:cNvPr>
          <p:cNvSpPr>
            <a:spLocks noGrp="1" noChangeArrowheads="1"/>
          </p:cNvSpPr>
          <p:nvPr>
            <p:ph type="subTitle" idx="1"/>
          </p:nvPr>
        </p:nvSpPr>
        <p:spPr>
          <a:xfrm>
            <a:off x="1970088" y="3656013"/>
            <a:ext cx="4267200" cy="1522412"/>
          </a:xfrm>
        </p:spPr>
        <p:txBody>
          <a:bodyPr/>
          <a:lstStyle/>
          <a:p>
            <a:pPr eaLnBrk="1" hangingPunct="1">
              <a:lnSpc>
                <a:spcPct val="80000"/>
              </a:lnSpc>
            </a:pPr>
            <a:r>
              <a:rPr lang="en-US" altLang="zh-CN" sz="2400">
                <a:ea typeface="宋体" panose="02010600030101010101" pitchFamily="2" charset="-122"/>
              </a:rPr>
              <a:t>Introduction to Systems </a:t>
            </a:r>
          </a:p>
          <a:p>
            <a:pPr eaLnBrk="1" hangingPunct="1">
              <a:lnSpc>
                <a:spcPct val="80000"/>
              </a:lnSpc>
            </a:pPr>
            <a:r>
              <a:rPr lang="en-US" altLang="zh-CN" sz="2400">
                <a:ea typeface="宋体" panose="02010600030101010101" pitchFamily="2" charset="-122"/>
              </a:rPr>
              <a:t>Analysis and Design: </a:t>
            </a:r>
          </a:p>
          <a:p>
            <a:pPr eaLnBrk="1" hangingPunct="1">
              <a:lnSpc>
                <a:spcPct val="80000"/>
              </a:lnSpc>
            </a:pPr>
            <a:r>
              <a:rPr lang="en-US" altLang="zh-CN" sz="2400">
                <a:ea typeface="宋体" panose="02010600030101010101" pitchFamily="2" charset="-122"/>
              </a:rPr>
              <a:t>An Agile, Iteractive Approach </a:t>
            </a:r>
          </a:p>
          <a:p>
            <a:pPr eaLnBrk="1" hangingPunct="1">
              <a:lnSpc>
                <a:spcPct val="80000"/>
              </a:lnSpc>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eaLnBrk="1" hangingPunct="1">
              <a:lnSpc>
                <a:spcPct val="80000"/>
              </a:lnSpc>
            </a:pPr>
            <a:endParaRPr lang="en-US" altLang="zh-CN" sz="2400">
              <a:ea typeface="宋体" panose="02010600030101010101" pitchFamily="2" charset="-122"/>
            </a:endParaRPr>
          </a:p>
          <a:p>
            <a:pPr eaLnBrk="1" hangingPunct="1">
              <a:lnSpc>
                <a:spcPct val="80000"/>
              </a:lnSpc>
            </a:pPr>
            <a:r>
              <a:rPr lang="en-US" altLang="zh-CN" sz="2400">
                <a:ea typeface="宋体" panose="02010600030101010101" pitchFamily="2" charset="-122"/>
              </a:rPr>
              <a:t>Satzinger, Jackson &amp; Burd</a:t>
            </a:r>
          </a:p>
        </p:txBody>
      </p:sp>
      <p:sp>
        <p:nvSpPr>
          <p:cNvPr id="4100" name="Rectangle 4">
            <a:extLst>
              <a:ext uri="{FF2B5EF4-FFF2-40B4-BE49-F238E27FC236}">
                <a16:creationId xmlns:a16="http://schemas.microsoft.com/office/drawing/2014/main" id="{7307A8E5-CF98-48FD-B617-679F447C38E3}"/>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3</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382000" cy="4411663"/>
          </a:xfrm>
        </p:spPr>
        <p:txBody>
          <a:bodyPr/>
          <a:lstStyle/>
          <a:p>
            <a:pPr eaLnBrk="1" hangingPunct="1"/>
            <a:r>
              <a:rPr lang="en-US" altLang="zh-CN" sz="3200" dirty="0">
                <a:ea typeface="宋体" panose="02010600030101010101" pitchFamily="2" charset="-122"/>
              </a:rPr>
              <a:t>Use Case Descriptions</a:t>
            </a:r>
            <a:r>
              <a:rPr lang="zh-CN" altLang="en-US" sz="3200" dirty="0">
                <a:ea typeface="宋体" panose="02010600030101010101" pitchFamily="2" charset="-122"/>
              </a:rPr>
              <a:t>（用例描述）</a:t>
            </a:r>
            <a:endParaRPr lang="en-US" altLang="zh-CN" sz="3200" dirty="0">
              <a:ea typeface="宋体" panose="02010600030101010101" pitchFamily="2" charset="-122"/>
            </a:endParaRPr>
          </a:p>
          <a:p>
            <a:pPr eaLnBrk="1" hangingPunct="1"/>
            <a:r>
              <a:rPr lang="en-US" altLang="zh-CN" sz="3200" dirty="0">
                <a:solidFill>
                  <a:srgbClr val="C00000"/>
                </a:solidFill>
                <a:ea typeface="宋体" panose="02010600030101010101" pitchFamily="2" charset="-122"/>
              </a:rPr>
              <a:t>Activity Diagrams</a:t>
            </a:r>
            <a:r>
              <a:rPr lang="zh-CN" altLang="en-US" sz="3200" dirty="0">
                <a:solidFill>
                  <a:srgbClr val="C00000"/>
                </a:solidFill>
                <a:ea typeface="宋体" panose="02010600030101010101" pitchFamily="2" charset="-122"/>
              </a:rPr>
              <a:t>（活动图）</a:t>
            </a:r>
            <a:r>
              <a:rPr lang="en-US" altLang="zh-CN" sz="3200" dirty="0">
                <a:solidFill>
                  <a:srgbClr val="C00000"/>
                </a:solidFill>
                <a:ea typeface="宋体" panose="02010600030101010101" pitchFamily="2" charset="-122"/>
              </a:rPr>
              <a:t> </a:t>
            </a:r>
            <a:r>
              <a:rPr lang="en-US" altLang="zh-CN" sz="3200" dirty="0">
                <a:ea typeface="宋体" panose="02010600030101010101" pitchFamily="2" charset="-122"/>
              </a:rPr>
              <a:t>for Use Cases</a:t>
            </a:r>
          </a:p>
          <a:p>
            <a:pPr eaLnBrk="1" hangingPunct="1"/>
            <a:r>
              <a:rPr lang="en-US" altLang="zh-CN" sz="3200" dirty="0">
                <a:ea typeface="宋体" panose="02010600030101010101" pitchFamily="2" charset="-122"/>
              </a:rPr>
              <a:t>The </a:t>
            </a:r>
            <a:r>
              <a:rPr lang="en-US" altLang="zh-CN" sz="3200" dirty="0">
                <a:solidFill>
                  <a:srgbClr val="C00000"/>
                </a:solidFill>
                <a:ea typeface="宋体" panose="02010600030101010101" pitchFamily="2" charset="-122"/>
              </a:rPr>
              <a:t>System Sequence Diagram</a:t>
            </a:r>
            <a:r>
              <a:rPr lang="zh-CN" altLang="en-US" sz="3200" dirty="0">
                <a:solidFill>
                  <a:srgbClr val="C00000"/>
                </a:solidFill>
                <a:ea typeface="宋体" panose="02010600030101010101" pitchFamily="2" charset="-122"/>
              </a:rPr>
              <a:t>（系统顺序图）</a:t>
            </a:r>
            <a:r>
              <a:rPr lang="en-US" altLang="zh-CN" sz="3200" dirty="0">
                <a:ea typeface="宋体" panose="02010600030101010101" pitchFamily="2" charset="-122"/>
              </a:rPr>
              <a:t>—Identifying Inputs and Outputs</a:t>
            </a:r>
          </a:p>
          <a:p>
            <a:pPr eaLnBrk="1" hangingPunct="1"/>
            <a:r>
              <a:rPr lang="en-US" altLang="zh-CN" sz="3200" dirty="0">
                <a:ea typeface="宋体" panose="02010600030101010101" pitchFamily="2" charset="-122"/>
              </a:rPr>
              <a:t>The </a:t>
            </a:r>
            <a:r>
              <a:rPr lang="en-US" altLang="zh-CN" sz="3200" dirty="0">
                <a:solidFill>
                  <a:srgbClr val="C00000"/>
                </a:solidFill>
                <a:ea typeface="宋体" panose="02010600030101010101" pitchFamily="2" charset="-122"/>
              </a:rPr>
              <a:t>State Machine Diagram</a:t>
            </a:r>
            <a:r>
              <a:rPr lang="zh-CN" altLang="en-US" sz="3200" dirty="0">
                <a:solidFill>
                  <a:srgbClr val="C00000"/>
                </a:solidFill>
                <a:ea typeface="宋体" panose="02010600030101010101" pitchFamily="2" charset="-122"/>
              </a:rPr>
              <a:t>（状态机图）</a:t>
            </a:r>
            <a:r>
              <a:rPr lang="en-US" altLang="zh-CN" sz="3200" dirty="0">
                <a:ea typeface="宋体" panose="02010600030101010101" pitchFamily="2" charset="-122"/>
              </a:rPr>
              <a:t>—Identifying Object Behavior</a:t>
            </a:r>
          </a:p>
          <a:p>
            <a:pPr eaLnBrk="1" hangingPunct="1"/>
            <a:r>
              <a:rPr lang="en-US" altLang="zh-CN" sz="3200" dirty="0">
                <a:ea typeface="宋体" panose="02010600030101010101" pitchFamily="2" charset="-122"/>
              </a:rPr>
              <a:t>Integrating Requirements Models</a:t>
            </a:r>
            <a:r>
              <a:rPr lang="zh-CN" altLang="en-US" sz="3200" dirty="0">
                <a:ea typeface="宋体" panose="02010600030101010101" pitchFamily="2" charset="-122"/>
              </a:rPr>
              <a:t>（需求模型的集成）</a:t>
            </a:r>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072FDF35-9200-464A-BBBA-AEEE9E9C38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044A9DA-2AFD-422F-B49D-DBEDFA59849F}" type="slidenum">
              <a:rPr lang="en-US" altLang="en-US"/>
              <a:pPr eaLnBrk="1" hangingPunct="1"/>
              <a:t>4</a:t>
            </a:fld>
            <a:endParaRPr lang="en-US" altLang="en-US"/>
          </a:p>
        </p:txBody>
      </p:sp>
      <p:sp>
        <p:nvSpPr>
          <p:cNvPr id="6147" name="Rectangle 2">
            <a:extLst>
              <a:ext uri="{FF2B5EF4-FFF2-40B4-BE49-F238E27FC236}">
                <a16:creationId xmlns:a16="http://schemas.microsoft.com/office/drawing/2014/main" id="{3FEBAD28-0AE0-4039-AFEA-BDF30AD7129E}"/>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Learning Objectives</a:t>
            </a:r>
          </a:p>
        </p:txBody>
      </p:sp>
      <p:sp>
        <p:nvSpPr>
          <p:cNvPr id="6148" name="Rectangle 4">
            <a:extLst>
              <a:ext uri="{FF2B5EF4-FFF2-40B4-BE49-F238E27FC236}">
                <a16:creationId xmlns:a16="http://schemas.microsoft.com/office/drawing/2014/main" id="{F577AF32-B525-49C6-A63C-0D7AC58953F1}"/>
              </a:ext>
            </a:extLst>
          </p:cNvPr>
          <p:cNvSpPr>
            <a:spLocks noGrp="1" noChangeArrowheads="1"/>
          </p:cNvSpPr>
          <p:nvPr>
            <p:ph idx="1"/>
          </p:nvPr>
        </p:nvSpPr>
        <p:spPr>
          <a:xfrm>
            <a:off x="381000" y="1143000"/>
            <a:ext cx="8763000" cy="4987925"/>
          </a:xfrm>
        </p:spPr>
        <p:txBody>
          <a:bodyPr/>
          <a:lstStyle/>
          <a:p>
            <a:pPr eaLnBrk="1" hangingPunct="1"/>
            <a:r>
              <a:rPr lang="en-US" altLang="zh-CN" sz="2800" dirty="0">
                <a:ea typeface="宋体" panose="02010600030101010101" pitchFamily="2" charset="-122"/>
              </a:rPr>
              <a:t>Write fully developed use case descriptions</a:t>
            </a:r>
            <a:r>
              <a:rPr lang="zh-CN" altLang="en-US" sz="2800" dirty="0">
                <a:ea typeface="宋体" panose="02010600030101010101" pitchFamily="2" charset="-122"/>
              </a:rPr>
              <a:t>（为正在开发的用例撰写完整的描述）</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Develop activity diagrams to model flow of activities</a:t>
            </a:r>
            <a:r>
              <a:rPr lang="zh-CN" altLang="en-US" sz="2800" dirty="0">
                <a:ea typeface="宋体" panose="02010600030101010101" pitchFamily="2" charset="-122"/>
              </a:rPr>
              <a:t>（开发活动图来建立活动流的描述）</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Develop system sequence diagrams</a:t>
            </a:r>
            <a:r>
              <a:rPr lang="zh-CN" altLang="en-US" sz="2800" dirty="0">
                <a:ea typeface="宋体" panose="02010600030101010101" pitchFamily="2" charset="-122"/>
              </a:rPr>
              <a:t>（开发系统顺序图）</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Develop state machine diagrams to model object behavior</a:t>
            </a:r>
            <a:r>
              <a:rPr lang="zh-CN" altLang="en-US" sz="2800" dirty="0">
                <a:ea typeface="宋体" panose="02010600030101010101" pitchFamily="2" charset="-122"/>
              </a:rPr>
              <a:t>（开发状态机图为对象行为建模）</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Explain how use case descriptions and UML diagrams work together to define functional requirements</a:t>
            </a:r>
            <a:r>
              <a:rPr lang="zh-CN" altLang="en-US" sz="2800" dirty="0">
                <a:ea typeface="宋体" panose="02010600030101010101" pitchFamily="2" charset="-122"/>
              </a:rPr>
              <a:t>（解释如何结合用例描述定义功能需求）</a:t>
            </a:r>
            <a:endParaRPr lang="en-US" altLang="zh-CN" sz="2800" dirty="0">
              <a:ea typeface="宋体" panose="02010600030101010101" pitchFamily="2" charset="-122"/>
            </a:endParaRPr>
          </a:p>
        </p:txBody>
      </p:sp>
      <p:sp>
        <p:nvSpPr>
          <p:cNvPr id="6149" name="Footer Placeholder 4">
            <a:extLst>
              <a:ext uri="{FF2B5EF4-FFF2-40B4-BE49-F238E27FC236}">
                <a16:creationId xmlns:a16="http://schemas.microsoft.com/office/drawing/2014/main" id="{63118E0E-EEA3-4A87-8FDF-B52B2AB4800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Introduction to Systems Analysis and Design, 6th Edition</a:t>
            </a:r>
          </a:p>
        </p:txBody>
      </p:sp>
      <p:sp>
        <p:nvSpPr>
          <p:cNvPr id="6150" name="Rectangle 6">
            <a:extLst>
              <a:ext uri="{FF2B5EF4-FFF2-40B4-BE49-F238E27FC236}">
                <a16:creationId xmlns:a16="http://schemas.microsoft.com/office/drawing/2014/main" id="{966A28C7-4943-4175-B482-9A7F03CFCA0D}"/>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5</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solidFill>
                  <a:srgbClr val="C00000"/>
                </a:solidFill>
                <a:ea typeface="宋体" panose="02010600030101010101" pitchFamily="2" charset="-122"/>
              </a:rPr>
              <a:t>Use Case Descriptions</a:t>
            </a:r>
            <a:r>
              <a:rPr lang="zh-CN" altLang="en-US" sz="3200" dirty="0">
                <a:solidFill>
                  <a:srgbClr val="C00000"/>
                </a:solidFill>
                <a:ea typeface="宋体" panose="02010600030101010101" pitchFamily="2" charset="-122"/>
              </a:rPr>
              <a:t>（用例描述）</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Activity Diagrams for Use Cases </a:t>
            </a:r>
          </a:p>
          <a:p>
            <a:pPr eaLnBrk="1" hangingPunct="1"/>
            <a:r>
              <a:rPr lang="en-US" altLang="zh-CN" sz="3200" dirty="0">
                <a:ea typeface="宋体" panose="02010600030101010101" pitchFamily="2" charset="-122"/>
              </a:rPr>
              <a:t>The System Sequence Diagram—Identifying Inputs and Outputs</a:t>
            </a:r>
          </a:p>
          <a:p>
            <a:pPr eaLnBrk="1" hangingPunct="1"/>
            <a:r>
              <a:rPr lang="en-US" altLang="zh-CN" sz="3200" dirty="0">
                <a:ea typeface="宋体" panose="02010600030101010101" pitchFamily="2" charset="-122"/>
              </a:rPr>
              <a:t>The State Machine Diagram—Identifying Object Behavior</a:t>
            </a:r>
          </a:p>
          <a:p>
            <a:pPr eaLnBrk="1" hangingPunct="1"/>
            <a:r>
              <a:rPr lang="en-US" altLang="zh-CN" sz="3200" dirty="0">
                <a:ea typeface="宋体" panose="02010600030101010101" pitchFamily="2" charset="-122"/>
              </a:rPr>
              <a:t>Integrating Requirements Models</a:t>
            </a: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627626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9F4E8150-69E4-4FE6-BC14-7ED194F444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3F353F5-3C6F-4CCF-B7DD-A5CC667A33D0}" type="slidenum">
              <a:rPr lang="en-US" altLang="en-US"/>
              <a:pPr eaLnBrk="1" hangingPunct="1"/>
              <a:t>6</a:t>
            </a:fld>
            <a:endParaRPr lang="en-US" altLang="en-US"/>
          </a:p>
        </p:txBody>
      </p:sp>
      <p:sp>
        <p:nvSpPr>
          <p:cNvPr id="9219" name="Rectangle 2">
            <a:extLst>
              <a:ext uri="{FF2B5EF4-FFF2-40B4-BE49-F238E27FC236}">
                <a16:creationId xmlns:a16="http://schemas.microsoft.com/office/drawing/2014/main" id="{443A8F8C-9CA5-4441-ACF1-808B32E6A667}"/>
              </a:ext>
            </a:extLst>
          </p:cNvPr>
          <p:cNvSpPr>
            <a:spLocks noGrp="1" noChangeArrowheads="1"/>
          </p:cNvSpPr>
          <p:nvPr>
            <p:ph type="title"/>
          </p:nvPr>
        </p:nvSpPr>
        <p:spPr>
          <a:xfrm>
            <a:off x="457200" y="122238"/>
            <a:ext cx="7543800" cy="1020762"/>
          </a:xfrm>
        </p:spPr>
        <p:txBody>
          <a:bodyPr/>
          <a:lstStyle/>
          <a:p>
            <a:pPr eaLnBrk="1" hangingPunct="1"/>
            <a:r>
              <a:rPr lang="en-US" altLang="zh-CN" sz="3600">
                <a:ea typeface="宋体" panose="02010600030101010101" pitchFamily="2" charset="-122"/>
              </a:rPr>
              <a:t>Use Case Descriptions</a:t>
            </a:r>
          </a:p>
        </p:txBody>
      </p:sp>
      <p:sp>
        <p:nvSpPr>
          <p:cNvPr id="9220" name="Rectangle 3">
            <a:extLst>
              <a:ext uri="{FF2B5EF4-FFF2-40B4-BE49-F238E27FC236}">
                <a16:creationId xmlns:a16="http://schemas.microsoft.com/office/drawing/2014/main" id="{0D3C5114-375B-4779-B1EA-5AC2CCDCB155}"/>
              </a:ext>
            </a:extLst>
          </p:cNvPr>
          <p:cNvSpPr>
            <a:spLocks noGrp="1" noChangeArrowheads="1"/>
          </p:cNvSpPr>
          <p:nvPr>
            <p:ph type="body" idx="1"/>
          </p:nvPr>
        </p:nvSpPr>
        <p:spPr>
          <a:xfrm>
            <a:off x="304800" y="1371600"/>
            <a:ext cx="8229600" cy="914400"/>
          </a:xfrm>
        </p:spPr>
        <p:txBody>
          <a:bodyPr/>
          <a:lstStyle/>
          <a:p>
            <a:pPr eaLnBrk="1" hangingPunct="1">
              <a:lnSpc>
                <a:spcPct val="90000"/>
              </a:lnSpc>
            </a:pPr>
            <a:r>
              <a:rPr lang="en-US" altLang="zh-CN" sz="2800" dirty="0">
                <a:ea typeface="宋体" panose="02010600030101010101" pitchFamily="2" charset="-122"/>
              </a:rPr>
              <a:t>Write a </a:t>
            </a:r>
            <a:r>
              <a:rPr lang="en-US" altLang="zh-CN" sz="2800" i="1" dirty="0">
                <a:ea typeface="宋体" panose="02010600030101010101" pitchFamily="2" charset="-122"/>
              </a:rPr>
              <a:t>brief description</a:t>
            </a:r>
            <a:r>
              <a:rPr lang="en-US" altLang="zh-CN" sz="2800" dirty="0">
                <a:ea typeface="宋体" panose="02010600030101010101" pitchFamily="2" charset="-122"/>
              </a:rPr>
              <a:t> as shown in Chapter 3 for most use cases. </a:t>
            </a:r>
            <a:endParaRPr lang="en-GB" altLang="zh-CN" sz="2800" dirty="0"/>
          </a:p>
        </p:txBody>
      </p:sp>
      <p:pic>
        <p:nvPicPr>
          <p:cNvPr id="9221" name="Picture 6">
            <a:extLst>
              <a:ext uri="{FF2B5EF4-FFF2-40B4-BE49-F238E27FC236}">
                <a16:creationId xmlns:a16="http://schemas.microsoft.com/office/drawing/2014/main" id="{84485CEA-82AD-4653-B71B-DCCCE75620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514600"/>
            <a:ext cx="8001000" cy="276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Footer Placeholder 4">
            <a:extLst>
              <a:ext uri="{FF2B5EF4-FFF2-40B4-BE49-F238E27FC236}">
                <a16:creationId xmlns:a16="http://schemas.microsoft.com/office/drawing/2014/main" id="{E2683AE9-C4BE-481D-89F0-5C1676C2233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3" name="Rectangle 7">
            <a:extLst>
              <a:ext uri="{FF2B5EF4-FFF2-40B4-BE49-F238E27FC236}">
                <a16:creationId xmlns:a16="http://schemas.microsoft.com/office/drawing/2014/main" id="{B34F1B80-FDED-4A21-803B-AE15973D7E31}"/>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C3193F88-6DAE-42CB-A2BD-E83108C33A54}"/>
              </a:ext>
            </a:extLst>
          </p:cNvPr>
          <p:cNvSpPr/>
          <p:nvPr/>
        </p:nvSpPr>
        <p:spPr>
          <a:xfrm>
            <a:off x="3276600" y="2971800"/>
            <a:ext cx="914400" cy="2841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16CC51D-6413-4ABD-B50A-139FE82F1B18}"/>
              </a:ext>
            </a:extLst>
          </p:cNvPr>
          <p:cNvSpPr/>
          <p:nvPr/>
        </p:nvSpPr>
        <p:spPr>
          <a:xfrm>
            <a:off x="7696200" y="2982119"/>
            <a:ext cx="685800" cy="2841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370A3B6D-681D-4A24-9A06-7B37487C0145}"/>
              </a:ext>
            </a:extLst>
          </p:cNvPr>
          <p:cNvCxnSpPr/>
          <p:nvPr/>
        </p:nvCxnSpPr>
        <p:spPr>
          <a:xfrm>
            <a:off x="4267200" y="3255962"/>
            <a:ext cx="266700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3611738-8120-4894-A39B-7776ED4D7D6B}"/>
              </a:ext>
            </a:extLst>
          </p:cNvPr>
          <p:cNvCxnSpPr>
            <a:cxnSpLocks/>
          </p:cNvCxnSpPr>
          <p:nvPr/>
        </p:nvCxnSpPr>
        <p:spPr>
          <a:xfrm>
            <a:off x="3276600" y="3505200"/>
            <a:ext cx="419100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705781F-B8E3-4AD5-AF6D-6AF6A150C5EF}"/>
              </a:ext>
            </a:extLst>
          </p:cNvPr>
          <p:cNvCxnSpPr>
            <a:cxnSpLocks/>
          </p:cNvCxnSpPr>
          <p:nvPr/>
        </p:nvCxnSpPr>
        <p:spPr>
          <a:xfrm>
            <a:off x="3276600" y="3733800"/>
            <a:ext cx="213360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CB9C7956-70F9-44DF-9538-10CF390719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5E5F90-AC2F-4030-A210-50A25B337176}" type="slidenum">
              <a:rPr lang="en-US" altLang="en-US"/>
              <a:pPr eaLnBrk="1" hangingPunct="1"/>
              <a:t>7</a:t>
            </a:fld>
            <a:endParaRPr lang="en-US" altLang="en-US"/>
          </a:p>
        </p:txBody>
      </p:sp>
      <p:sp>
        <p:nvSpPr>
          <p:cNvPr id="10243" name="Rectangle 2">
            <a:extLst>
              <a:ext uri="{FF2B5EF4-FFF2-40B4-BE49-F238E27FC236}">
                <a16:creationId xmlns:a16="http://schemas.microsoft.com/office/drawing/2014/main" id="{3011D3D1-A96F-4535-8520-B64319111A04}"/>
              </a:ext>
            </a:extLst>
          </p:cNvPr>
          <p:cNvSpPr>
            <a:spLocks noGrp="1" noChangeArrowheads="1"/>
          </p:cNvSpPr>
          <p:nvPr>
            <p:ph type="title"/>
          </p:nvPr>
        </p:nvSpPr>
        <p:spPr>
          <a:xfrm>
            <a:off x="457200" y="122238"/>
            <a:ext cx="7543800" cy="1020762"/>
          </a:xfrm>
        </p:spPr>
        <p:txBody>
          <a:bodyPr/>
          <a:lstStyle/>
          <a:p>
            <a:pPr eaLnBrk="1" hangingPunct="1"/>
            <a:r>
              <a:rPr lang="en-US" altLang="zh-CN" sz="3600">
                <a:ea typeface="宋体" panose="02010600030101010101" pitchFamily="2" charset="-122"/>
              </a:rPr>
              <a:t>Use Case Descriptions</a:t>
            </a:r>
          </a:p>
        </p:txBody>
      </p:sp>
      <p:sp>
        <p:nvSpPr>
          <p:cNvPr id="10244" name="Rectangle 3">
            <a:extLst>
              <a:ext uri="{FF2B5EF4-FFF2-40B4-BE49-F238E27FC236}">
                <a16:creationId xmlns:a16="http://schemas.microsoft.com/office/drawing/2014/main" id="{3EAE22E7-F9A0-42F3-B6A4-E31D41CFC22D}"/>
              </a:ext>
            </a:extLst>
          </p:cNvPr>
          <p:cNvSpPr>
            <a:spLocks noGrp="1" noChangeArrowheads="1"/>
          </p:cNvSpPr>
          <p:nvPr>
            <p:ph type="body" idx="1"/>
          </p:nvPr>
        </p:nvSpPr>
        <p:spPr>
          <a:xfrm>
            <a:off x="304800" y="1371600"/>
            <a:ext cx="8229600" cy="4800600"/>
          </a:xfrm>
        </p:spPr>
        <p:txBody>
          <a:bodyPr/>
          <a:lstStyle/>
          <a:p>
            <a:pPr eaLnBrk="1" hangingPunct="1">
              <a:lnSpc>
                <a:spcPct val="80000"/>
              </a:lnSpc>
            </a:pPr>
            <a:r>
              <a:rPr lang="en-US" altLang="zh-CN" sz="2400" dirty="0">
                <a:ea typeface="宋体" panose="02010600030101010101" pitchFamily="2" charset="-122"/>
              </a:rPr>
              <a:t>Write a </a:t>
            </a:r>
            <a:r>
              <a:rPr lang="en-US" altLang="zh-CN" sz="2400" i="1" dirty="0">
                <a:ea typeface="宋体" panose="02010600030101010101" pitchFamily="2" charset="-122"/>
              </a:rPr>
              <a:t>fully developed use case description</a:t>
            </a:r>
            <a:r>
              <a:rPr lang="en-US" altLang="zh-CN" sz="2400" dirty="0">
                <a:ea typeface="宋体" panose="02010600030101010101" pitchFamily="2" charset="-122"/>
              </a:rPr>
              <a:t> for more complex use cases</a:t>
            </a:r>
            <a:r>
              <a:rPr lang="zh-CN" altLang="en-US" sz="2400" dirty="0">
                <a:ea typeface="宋体" panose="02010600030101010101" pitchFamily="2" charset="-122"/>
              </a:rPr>
              <a:t>（为更复杂的用例编写一个完全开发的用例描述）</a:t>
            </a:r>
            <a:endParaRPr lang="en-US" altLang="zh-CN" sz="2400" dirty="0">
              <a:ea typeface="宋体" panose="02010600030101010101" pitchFamily="2" charset="-122"/>
            </a:endParaRPr>
          </a:p>
          <a:p>
            <a:pPr eaLnBrk="1" hangingPunct="1">
              <a:lnSpc>
                <a:spcPct val="80000"/>
              </a:lnSpc>
            </a:pPr>
            <a:r>
              <a:rPr lang="en-US" altLang="zh-CN" sz="2400" dirty="0">
                <a:solidFill>
                  <a:srgbClr val="C00000"/>
                </a:solidFill>
                <a:ea typeface="宋体" panose="02010600030101010101" pitchFamily="2" charset="-122"/>
              </a:rPr>
              <a:t>Typical use case description templates include:</a:t>
            </a:r>
            <a:endParaRPr lang="en-US" altLang="zh-CN" sz="1200" dirty="0">
              <a:ea typeface="宋体" panose="02010600030101010101" pitchFamily="2" charset="-122"/>
            </a:endParaRPr>
          </a:p>
          <a:p>
            <a:pPr lvl="1" eaLnBrk="1" hangingPunct="1">
              <a:lnSpc>
                <a:spcPct val="80000"/>
              </a:lnSpc>
            </a:pPr>
            <a:r>
              <a:rPr lang="en-GB" altLang="zh-CN" sz="2000" dirty="0"/>
              <a:t>Use case name</a:t>
            </a:r>
            <a:r>
              <a:rPr lang="zh-CN" altLang="en-US" sz="2000" dirty="0"/>
              <a:t>（用例名称）</a:t>
            </a:r>
            <a:endParaRPr lang="en-GB" altLang="zh-CN" sz="2000" dirty="0"/>
          </a:p>
          <a:p>
            <a:pPr lvl="1" eaLnBrk="1" hangingPunct="1">
              <a:lnSpc>
                <a:spcPct val="80000"/>
              </a:lnSpc>
            </a:pPr>
            <a:r>
              <a:rPr lang="en-GB" altLang="zh-CN" sz="2000" dirty="0"/>
              <a:t>Scenario (if needed)</a:t>
            </a:r>
            <a:r>
              <a:rPr lang="zh-CN" altLang="en-US" sz="2000" dirty="0"/>
              <a:t>（场景）</a:t>
            </a:r>
            <a:endParaRPr lang="en-GB" altLang="zh-CN" sz="2000" dirty="0"/>
          </a:p>
          <a:p>
            <a:pPr lvl="1" eaLnBrk="1" hangingPunct="1">
              <a:lnSpc>
                <a:spcPct val="80000"/>
              </a:lnSpc>
            </a:pPr>
            <a:r>
              <a:rPr lang="en-GB" altLang="zh-CN" sz="2000" dirty="0"/>
              <a:t>Triggering event</a:t>
            </a:r>
            <a:r>
              <a:rPr lang="zh-CN" altLang="en-US" sz="2000" dirty="0"/>
              <a:t>（触发事件）</a:t>
            </a:r>
            <a:endParaRPr lang="en-GB" altLang="zh-CN" sz="2000" dirty="0"/>
          </a:p>
          <a:p>
            <a:pPr lvl="1" eaLnBrk="1" hangingPunct="1">
              <a:lnSpc>
                <a:spcPct val="80000"/>
              </a:lnSpc>
            </a:pPr>
            <a:r>
              <a:rPr lang="en-GB" altLang="zh-CN" sz="2000" dirty="0"/>
              <a:t>Brief description</a:t>
            </a:r>
            <a:r>
              <a:rPr lang="zh-CN" altLang="en-US" sz="2000" dirty="0"/>
              <a:t>（简要描述）</a:t>
            </a:r>
            <a:endParaRPr lang="en-GB" altLang="zh-CN" sz="2000" dirty="0"/>
          </a:p>
          <a:p>
            <a:pPr lvl="1" eaLnBrk="1" hangingPunct="1">
              <a:lnSpc>
                <a:spcPct val="80000"/>
              </a:lnSpc>
            </a:pPr>
            <a:r>
              <a:rPr lang="en-GB" altLang="zh-CN" sz="2000" dirty="0"/>
              <a:t>Actors</a:t>
            </a:r>
            <a:r>
              <a:rPr lang="zh-CN" altLang="en-US" sz="2000" dirty="0"/>
              <a:t>（相关人员）</a:t>
            </a:r>
            <a:endParaRPr lang="en-GB" altLang="zh-CN" sz="2000" dirty="0"/>
          </a:p>
          <a:p>
            <a:pPr lvl="1" eaLnBrk="1" hangingPunct="1">
              <a:lnSpc>
                <a:spcPct val="80000"/>
              </a:lnSpc>
            </a:pPr>
            <a:r>
              <a:rPr lang="en-GB" altLang="zh-CN" sz="2000" dirty="0"/>
              <a:t>Related use cases (&lt;&lt;includes&gt;&gt;)</a:t>
            </a:r>
            <a:r>
              <a:rPr lang="zh-CN" altLang="en-US" sz="2000" dirty="0"/>
              <a:t>（相关用例）</a:t>
            </a:r>
            <a:endParaRPr lang="en-GB" altLang="zh-CN" sz="2000" dirty="0"/>
          </a:p>
          <a:p>
            <a:pPr lvl="1" eaLnBrk="1" hangingPunct="1">
              <a:lnSpc>
                <a:spcPct val="80000"/>
              </a:lnSpc>
            </a:pPr>
            <a:r>
              <a:rPr lang="en-GB" altLang="zh-CN" sz="2000" dirty="0"/>
              <a:t>Stakeholders</a:t>
            </a:r>
            <a:r>
              <a:rPr lang="zh-CN" altLang="en-US" sz="2000" dirty="0"/>
              <a:t>（利益相关者）</a:t>
            </a:r>
            <a:endParaRPr lang="en-GB" altLang="zh-CN" sz="2000" dirty="0"/>
          </a:p>
          <a:p>
            <a:pPr lvl="1" eaLnBrk="1" hangingPunct="1">
              <a:lnSpc>
                <a:spcPct val="80000"/>
              </a:lnSpc>
            </a:pPr>
            <a:r>
              <a:rPr lang="en-GB" altLang="zh-CN" sz="2000" dirty="0"/>
              <a:t>Preconditions</a:t>
            </a:r>
            <a:r>
              <a:rPr lang="zh-CN" altLang="en-US" sz="2000" dirty="0"/>
              <a:t>（先决条件）</a:t>
            </a:r>
            <a:endParaRPr lang="en-GB" altLang="zh-CN" sz="2000" dirty="0"/>
          </a:p>
          <a:p>
            <a:pPr lvl="1" eaLnBrk="1" hangingPunct="1">
              <a:lnSpc>
                <a:spcPct val="80000"/>
              </a:lnSpc>
            </a:pPr>
            <a:r>
              <a:rPr lang="en-GB" altLang="zh-CN" sz="2000" dirty="0"/>
              <a:t>Post conditions</a:t>
            </a:r>
            <a:r>
              <a:rPr lang="zh-CN" altLang="en-US" sz="2000" dirty="0"/>
              <a:t>（后置条件）</a:t>
            </a:r>
            <a:endParaRPr lang="en-GB" altLang="zh-CN" sz="2000" dirty="0"/>
          </a:p>
          <a:p>
            <a:pPr lvl="1" eaLnBrk="1" hangingPunct="1">
              <a:lnSpc>
                <a:spcPct val="80000"/>
              </a:lnSpc>
            </a:pPr>
            <a:r>
              <a:rPr lang="en-GB" altLang="zh-CN" sz="2000" dirty="0"/>
              <a:t>Flow of activities</a:t>
            </a:r>
            <a:r>
              <a:rPr lang="zh-CN" altLang="en-US" sz="2000" dirty="0"/>
              <a:t>（活动流程）</a:t>
            </a:r>
            <a:endParaRPr lang="en-GB" altLang="zh-CN" sz="2000" dirty="0"/>
          </a:p>
          <a:p>
            <a:pPr lvl="1" eaLnBrk="1" hangingPunct="1">
              <a:lnSpc>
                <a:spcPct val="80000"/>
              </a:lnSpc>
            </a:pPr>
            <a:r>
              <a:rPr lang="en-GB" altLang="zh-CN" sz="2000" dirty="0"/>
              <a:t>Exception conditions</a:t>
            </a:r>
            <a:r>
              <a:rPr lang="zh-CN" altLang="en-US" sz="2000" dirty="0"/>
              <a:t>（异常条件）</a:t>
            </a:r>
            <a:endParaRPr lang="en-GB" altLang="zh-CN" sz="2000" dirty="0"/>
          </a:p>
        </p:txBody>
      </p:sp>
      <p:sp>
        <p:nvSpPr>
          <p:cNvPr id="10245" name="Footer Placeholder 4">
            <a:extLst>
              <a:ext uri="{FF2B5EF4-FFF2-40B4-BE49-F238E27FC236}">
                <a16:creationId xmlns:a16="http://schemas.microsoft.com/office/drawing/2014/main" id="{73A2D610-AD85-4424-93C5-4DA1485220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0246" name="Rectangle 6">
            <a:extLst>
              <a:ext uri="{FF2B5EF4-FFF2-40B4-BE49-F238E27FC236}">
                <a16:creationId xmlns:a16="http://schemas.microsoft.com/office/drawing/2014/main" id="{A32C3F71-F487-4369-8BC1-AFC1B0EB37F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4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24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4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244">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4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44">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24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75D9CD41-20B5-48EE-BCCC-8503C04550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90C9C5C-DCC3-4E05-9C37-99DBC5AF92C7}" type="slidenum">
              <a:rPr lang="en-US" altLang="en-US"/>
              <a:pPr eaLnBrk="1" hangingPunct="1"/>
              <a:t>8</a:t>
            </a:fld>
            <a:endParaRPr lang="en-US" altLang="en-US"/>
          </a:p>
        </p:txBody>
      </p:sp>
      <p:sp>
        <p:nvSpPr>
          <p:cNvPr id="11267" name="Rectangle 2">
            <a:extLst>
              <a:ext uri="{FF2B5EF4-FFF2-40B4-BE49-F238E27FC236}">
                <a16:creationId xmlns:a16="http://schemas.microsoft.com/office/drawing/2014/main" id="{02E6D75D-6032-49C1-8F54-624CF326F444}"/>
              </a:ext>
            </a:extLst>
          </p:cNvPr>
          <p:cNvSpPr>
            <a:spLocks noGrp="1" noChangeArrowheads="1"/>
          </p:cNvSpPr>
          <p:nvPr>
            <p:ph type="title"/>
          </p:nvPr>
        </p:nvSpPr>
        <p:spPr>
          <a:xfrm>
            <a:off x="304800" y="228600"/>
            <a:ext cx="2667000" cy="3916363"/>
          </a:xfrm>
        </p:spPr>
        <p:txBody>
          <a:bodyPr/>
          <a:lstStyle/>
          <a:p>
            <a:pPr eaLnBrk="1" hangingPunct="1"/>
            <a:r>
              <a:rPr lang="en-US" altLang="zh-CN" sz="3200" dirty="0">
                <a:ea typeface="宋体" panose="02010600030101010101" pitchFamily="2" charset="-122"/>
              </a:rPr>
              <a:t>Fully Developed Use Case Description</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Use case:</a:t>
            </a:r>
            <a:r>
              <a:rPr lang="en-US" altLang="zh-CN" sz="3200" dirty="0">
                <a:ea typeface="宋体" panose="02010600030101010101" pitchFamily="2" charset="-122"/>
              </a:rPr>
              <a:t> </a:t>
            </a:r>
            <a:r>
              <a:rPr lang="en-US" altLang="zh-CN" sz="2400" i="1" dirty="0">
                <a:ea typeface="宋体" panose="02010600030101010101" pitchFamily="2" charset="-122"/>
              </a:rPr>
              <a:t>Create customer account</a:t>
            </a:r>
            <a:br>
              <a:rPr lang="en-US" altLang="zh-CN" sz="2400" i="1" dirty="0">
                <a:ea typeface="宋体" panose="02010600030101010101" pitchFamily="2" charset="-122"/>
              </a:rPr>
            </a:br>
            <a:r>
              <a:rPr lang="zh-CN" altLang="en-US" sz="2400" i="1" dirty="0">
                <a:ea typeface="宋体" panose="02010600030101010101" pitchFamily="2" charset="-122"/>
              </a:rPr>
              <a:t>（创建客户账户）</a:t>
            </a:r>
            <a:endParaRPr lang="en-US" altLang="zh-CN" sz="2400" i="1" dirty="0">
              <a:ea typeface="宋体" panose="02010600030101010101" pitchFamily="2" charset="-122"/>
            </a:endParaRPr>
          </a:p>
        </p:txBody>
      </p:sp>
      <p:pic>
        <p:nvPicPr>
          <p:cNvPr id="11268" name="Picture 5">
            <a:extLst>
              <a:ext uri="{FF2B5EF4-FFF2-40B4-BE49-F238E27FC236}">
                <a16:creationId xmlns:a16="http://schemas.microsoft.com/office/drawing/2014/main" id="{0B23C2AB-629D-4B7D-9AF7-470611F17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52400"/>
            <a:ext cx="592455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Footer Placeholder 4">
            <a:extLst>
              <a:ext uri="{FF2B5EF4-FFF2-40B4-BE49-F238E27FC236}">
                <a16:creationId xmlns:a16="http://schemas.microsoft.com/office/drawing/2014/main" id="{3F50A972-9900-4E52-AABD-0D1A62120F6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1270" name="Rectangle 6">
            <a:extLst>
              <a:ext uri="{FF2B5EF4-FFF2-40B4-BE49-F238E27FC236}">
                <a16:creationId xmlns:a16="http://schemas.microsoft.com/office/drawing/2014/main" id="{8D17327D-E4FB-45ED-973A-63B907530569}"/>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A29321AA-F4E3-4A5D-A16A-00423716F66B}"/>
              </a:ext>
            </a:extLst>
          </p:cNvPr>
          <p:cNvSpPr/>
          <p:nvPr/>
        </p:nvSpPr>
        <p:spPr>
          <a:xfrm>
            <a:off x="2971800" y="152400"/>
            <a:ext cx="5867400" cy="28956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86B0C90F-3259-4AB2-9AAD-63947BD1B2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E58564C-99FB-4F81-A84C-40033961CEC7}" type="slidenum">
              <a:rPr lang="en-US" altLang="en-US"/>
              <a:pPr eaLnBrk="1" hangingPunct="1"/>
              <a:t>9</a:t>
            </a:fld>
            <a:endParaRPr lang="en-US" altLang="en-US"/>
          </a:p>
        </p:txBody>
      </p:sp>
      <p:sp>
        <p:nvSpPr>
          <p:cNvPr id="12291" name="Rectangle 2">
            <a:extLst>
              <a:ext uri="{FF2B5EF4-FFF2-40B4-BE49-F238E27FC236}">
                <a16:creationId xmlns:a16="http://schemas.microsoft.com/office/drawing/2014/main" id="{7F1103A6-5E12-45BF-AACB-34C8609EF22E}"/>
              </a:ext>
            </a:extLst>
          </p:cNvPr>
          <p:cNvSpPr>
            <a:spLocks noGrp="1" noChangeArrowheads="1"/>
          </p:cNvSpPr>
          <p:nvPr>
            <p:ph type="title"/>
          </p:nvPr>
        </p:nvSpPr>
        <p:spPr>
          <a:xfrm>
            <a:off x="457200" y="122238"/>
            <a:ext cx="7543800" cy="1096962"/>
          </a:xfrm>
        </p:spPr>
        <p:txBody>
          <a:bodyPr/>
          <a:lstStyle/>
          <a:p>
            <a:pPr eaLnBrk="1" hangingPunct="1"/>
            <a:r>
              <a:rPr lang="en-US" altLang="zh-CN" sz="3000">
                <a:ea typeface="宋体" panose="02010600030101010101" pitchFamily="2" charset="-122"/>
              </a:rPr>
              <a:t>Fully Developed Use Case Description </a:t>
            </a:r>
            <a:r>
              <a:rPr lang="en-US" altLang="zh-CN" sz="3000" i="1">
                <a:ea typeface="宋体" panose="02010600030101010101" pitchFamily="2" charset="-122"/>
              </a:rPr>
              <a:t>Create customer account</a:t>
            </a:r>
            <a:r>
              <a:rPr lang="en-US" altLang="zh-CN" sz="3000">
                <a:ea typeface="宋体" panose="02010600030101010101" pitchFamily="2" charset="-122"/>
              </a:rPr>
              <a:t> (part 1 )</a:t>
            </a:r>
          </a:p>
        </p:txBody>
      </p:sp>
      <p:sp>
        <p:nvSpPr>
          <p:cNvPr id="12293" name="Footer Placeholder 4">
            <a:extLst>
              <a:ext uri="{FF2B5EF4-FFF2-40B4-BE49-F238E27FC236}">
                <a16:creationId xmlns:a16="http://schemas.microsoft.com/office/drawing/2014/main" id="{4BF47698-7447-40E0-AB9E-7F7F695CC8B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2294" name="Rectangle 6">
            <a:extLst>
              <a:ext uri="{FF2B5EF4-FFF2-40B4-BE49-F238E27FC236}">
                <a16:creationId xmlns:a16="http://schemas.microsoft.com/office/drawing/2014/main" id="{8C6130A0-1EB1-4A34-894C-1D30BEFDEDCF}"/>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aphicFrame>
        <p:nvGraphicFramePr>
          <p:cNvPr id="3" name="表格 3">
            <a:extLst>
              <a:ext uri="{FF2B5EF4-FFF2-40B4-BE49-F238E27FC236}">
                <a16:creationId xmlns:a16="http://schemas.microsoft.com/office/drawing/2014/main" id="{238B5969-6292-4F5B-ABF9-40A327477ACE}"/>
              </a:ext>
            </a:extLst>
          </p:cNvPr>
          <p:cNvGraphicFramePr>
            <a:graphicFrameLocks noGrp="1"/>
          </p:cNvGraphicFramePr>
          <p:nvPr>
            <p:extLst>
              <p:ext uri="{D42A27DB-BD31-4B8C-83A1-F6EECF244321}">
                <p14:modId xmlns:p14="http://schemas.microsoft.com/office/powerpoint/2010/main" val="4068208710"/>
              </p:ext>
            </p:extLst>
          </p:nvPr>
        </p:nvGraphicFramePr>
        <p:xfrm>
          <a:off x="1258957" y="1433554"/>
          <a:ext cx="6705600" cy="46939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547145932"/>
                    </a:ext>
                  </a:extLst>
                </a:gridCol>
                <a:gridCol w="4191000">
                  <a:extLst>
                    <a:ext uri="{9D8B030D-6E8A-4147-A177-3AD203B41FA5}">
                      <a16:colId xmlns:a16="http://schemas.microsoft.com/office/drawing/2014/main" val="1877042556"/>
                    </a:ext>
                  </a:extLst>
                </a:gridCol>
              </a:tblGrid>
              <a:tr h="370840">
                <a:tc>
                  <a:txBody>
                    <a:bodyPr/>
                    <a:lstStyle/>
                    <a:p>
                      <a:r>
                        <a:rPr lang="zh-CN" altLang="en-US" sz="2000" dirty="0">
                          <a:solidFill>
                            <a:schemeClr val="tx1"/>
                          </a:solidFill>
                        </a:rPr>
                        <a:t>用例名</a:t>
                      </a:r>
                    </a:p>
                  </a:txBody>
                  <a:tcPr/>
                </a:tc>
                <a:tc>
                  <a:txBody>
                    <a:bodyPr/>
                    <a:lstStyle/>
                    <a:p>
                      <a:r>
                        <a:rPr lang="zh-CN" altLang="en-US" sz="2000" dirty="0">
                          <a:solidFill>
                            <a:schemeClr val="tx1"/>
                          </a:solidFill>
                        </a:rPr>
                        <a:t>创建客户账户</a:t>
                      </a:r>
                    </a:p>
                  </a:txBody>
                  <a:tcPr/>
                </a:tc>
                <a:extLst>
                  <a:ext uri="{0D108BD9-81ED-4DB2-BD59-A6C34878D82A}">
                    <a16:rowId xmlns:a16="http://schemas.microsoft.com/office/drawing/2014/main" val="2807082520"/>
                  </a:ext>
                </a:extLst>
              </a:tr>
              <a:tr h="370840">
                <a:tc>
                  <a:txBody>
                    <a:bodyPr/>
                    <a:lstStyle/>
                    <a:p>
                      <a:r>
                        <a:rPr lang="zh-CN" altLang="en-US" sz="2000" dirty="0"/>
                        <a:t>场景</a:t>
                      </a:r>
                      <a:endParaRPr lang="zh-CN" altLang="en-US" sz="2000" dirty="0">
                        <a:solidFill>
                          <a:schemeClr val="tx1"/>
                        </a:solidFill>
                      </a:endParaRPr>
                    </a:p>
                  </a:txBody>
                  <a:tcPr/>
                </a:tc>
                <a:tc>
                  <a:txBody>
                    <a:bodyPr/>
                    <a:lstStyle/>
                    <a:p>
                      <a:r>
                        <a:rPr lang="zh-CN" altLang="en-US" sz="2000" dirty="0"/>
                        <a:t>创建在线客户账户</a:t>
                      </a:r>
                      <a:endParaRPr lang="zh-CN" altLang="en-US" sz="2000" dirty="0">
                        <a:solidFill>
                          <a:schemeClr val="tx1"/>
                        </a:solidFill>
                      </a:endParaRPr>
                    </a:p>
                  </a:txBody>
                  <a:tcPr/>
                </a:tc>
                <a:extLst>
                  <a:ext uri="{0D108BD9-81ED-4DB2-BD59-A6C34878D82A}">
                    <a16:rowId xmlns:a16="http://schemas.microsoft.com/office/drawing/2014/main" val="4159187209"/>
                  </a:ext>
                </a:extLst>
              </a:tr>
              <a:tr h="370840">
                <a:tc>
                  <a:txBody>
                    <a:bodyPr/>
                    <a:lstStyle/>
                    <a:p>
                      <a:r>
                        <a:rPr lang="zh-CN" altLang="en-US" sz="2000" dirty="0"/>
                        <a:t>触发事件</a:t>
                      </a:r>
                      <a:endParaRPr lang="zh-CN" altLang="en-US" sz="2000" dirty="0">
                        <a:solidFill>
                          <a:schemeClr val="tx1"/>
                        </a:solidFill>
                      </a:endParaRPr>
                    </a:p>
                  </a:txBody>
                  <a:tcPr/>
                </a:tc>
                <a:tc>
                  <a:txBody>
                    <a:bodyPr/>
                    <a:lstStyle/>
                    <a:p>
                      <a:r>
                        <a:rPr lang="zh-CN" altLang="en-US" sz="2000" dirty="0"/>
                        <a:t>新用户想要新账户</a:t>
                      </a:r>
                      <a:endParaRPr lang="zh-CN" altLang="en-US" sz="2000" dirty="0">
                        <a:solidFill>
                          <a:schemeClr val="tx1"/>
                        </a:solidFill>
                      </a:endParaRPr>
                    </a:p>
                  </a:txBody>
                  <a:tcPr/>
                </a:tc>
                <a:extLst>
                  <a:ext uri="{0D108BD9-81ED-4DB2-BD59-A6C34878D82A}">
                    <a16:rowId xmlns:a16="http://schemas.microsoft.com/office/drawing/2014/main" val="2302462936"/>
                  </a:ext>
                </a:extLst>
              </a:tr>
              <a:tr h="370840">
                <a:tc>
                  <a:txBody>
                    <a:bodyPr/>
                    <a:lstStyle/>
                    <a:p>
                      <a:r>
                        <a:rPr lang="zh-CN" altLang="en-US" sz="2000" dirty="0"/>
                        <a:t>相关人员</a:t>
                      </a:r>
                      <a:endParaRPr lang="zh-CN" altLang="en-US" sz="2000" dirty="0">
                        <a:solidFill>
                          <a:schemeClr val="tx1"/>
                        </a:solidFill>
                      </a:endParaRPr>
                    </a:p>
                  </a:txBody>
                  <a:tcPr/>
                </a:tc>
                <a:tc>
                  <a:txBody>
                    <a:bodyPr/>
                    <a:lstStyle/>
                    <a:p>
                      <a:r>
                        <a:rPr lang="zh-CN" altLang="en-US" sz="2000" dirty="0"/>
                        <a:t>客户</a:t>
                      </a:r>
                      <a:endParaRPr lang="zh-CN" altLang="en-US" sz="2000" dirty="0">
                        <a:solidFill>
                          <a:schemeClr val="tx1"/>
                        </a:solidFill>
                      </a:endParaRPr>
                    </a:p>
                  </a:txBody>
                  <a:tcPr/>
                </a:tc>
                <a:extLst>
                  <a:ext uri="{0D108BD9-81ED-4DB2-BD59-A6C34878D82A}">
                    <a16:rowId xmlns:a16="http://schemas.microsoft.com/office/drawing/2014/main" val="583416954"/>
                  </a:ext>
                </a:extLst>
              </a:tr>
              <a:tr h="370840">
                <a:tc>
                  <a:txBody>
                    <a:bodyPr/>
                    <a:lstStyle/>
                    <a:p>
                      <a:r>
                        <a:rPr lang="zh-CN" altLang="en-US" sz="2000" dirty="0"/>
                        <a:t>相关用例</a:t>
                      </a:r>
                      <a:endParaRPr lang="zh-CN" altLang="en-US" sz="2000" dirty="0">
                        <a:solidFill>
                          <a:schemeClr val="tx1"/>
                        </a:solidFill>
                      </a:endParaRPr>
                    </a:p>
                  </a:txBody>
                  <a:tcPr/>
                </a:tc>
                <a:tc>
                  <a:txBody>
                    <a:bodyPr/>
                    <a:lstStyle/>
                    <a:p>
                      <a:r>
                        <a:rPr lang="zh-CN" altLang="en-US" sz="2000" dirty="0"/>
                        <a:t>可能由结账购物车用例调用</a:t>
                      </a:r>
                      <a:endParaRPr lang="zh-CN" altLang="en-US" sz="2000" dirty="0">
                        <a:solidFill>
                          <a:schemeClr val="tx1"/>
                        </a:solidFill>
                      </a:endParaRPr>
                    </a:p>
                  </a:txBody>
                  <a:tcPr/>
                </a:tc>
                <a:extLst>
                  <a:ext uri="{0D108BD9-81ED-4DB2-BD59-A6C34878D82A}">
                    <a16:rowId xmlns:a16="http://schemas.microsoft.com/office/drawing/2014/main" val="3125159116"/>
                  </a:ext>
                </a:extLst>
              </a:tr>
              <a:tr h="370840">
                <a:tc>
                  <a:txBody>
                    <a:bodyPr/>
                    <a:lstStyle/>
                    <a:p>
                      <a:r>
                        <a:rPr lang="zh-CN" altLang="en-US" sz="2000" dirty="0"/>
                        <a:t>利益相关者</a:t>
                      </a:r>
                      <a:endParaRPr lang="zh-CN" altLang="en-US" sz="20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t>会计，市场影响，销售</a:t>
                      </a:r>
                      <a:endParaRPr lang="en-US" altLang="zh-CN" sz="2000" dirty="0"/>
                    </a:p>
                  </a:txBody>
                  <a:tcPr/>
                </a:tc>
                <a:extLst>
                  <a:ext uri="{0D108BD9-81ED-4DB2-BD59-A6C34878D82A}">
                    <a16:rowId xmlns:a16="http://schemas.microsoft.com/office/drawing/2014/main" val="3048400092"/>
                  </a:ext>
                </a:extLst>
              </a:tr>
              <a:tr h="370840">
                <a:tc>
                  <a:txBody>
                    <a:bodyPr/>
                    <a:lstStyle/>
                    <a:p>
                      <a:r>
                        <a:rPr lang="zh-CN" altLang="en-US" sz="2000" dirty="0"/>
                        <a:t>前置条件</a:t>
                      </a:r>
                      <a:endParaRPr lang="zh-CN" altLang="en-US" sz="20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t>客户账户子系统应当可用；</a:t>
                      </a:r>
                      <a:endParaRPr lang="en-US" altLang="zh-CN"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t>信用卡</a:t>
                      </a:r>
                      <a:r>
                        <a:rPr lang="en-US" altLang="zh-CN" sz="2000" dirty="0"/>
                        <a:t>/</a:t>
                      </a:r>
                      <a:r>
                        <a:rPr lang="zh-CN" altLang="en-US" sz="2000" dirty="0"/>
                        <a:t>借记卡授权服务必须可用</a:t>
                      </a:r>
                      <a:endParaRPr lang="en-US" altLang="zh-CN" sz="2000" dirty="0"/>
                    </a:p>
                  </a:txBody>
                  <a:tcPr/>
                </a:tc>
                <a:extLst>
                  <a:ext uri="{0D108BD9-81ED-4DB2-BD59-A6C34878D82A}">
                    <a16:rowId xmlns:a16="http://schemas.microsoft.com/office/drawing/2014/main" val="2016139032"/>
                  </a:ext>
                </a:extLst>
              </a:tr>
              <a:tr h="370840">
                <a:tc>
                  <a:txBody>
                    <a:bodyPr/>
                    <a:lstStyle/>
                    <a:p>
                      <a:r>
                        <a:rPr lang="zh-CN" altLang="en-US" sz="2000" dirty="0"/>
                        <a:t>后置条件</a:t>
                      </a:r>
                      <a:endParaRPr lang="zh-CN" altLang="en-US" sz="2000" dirty="0">
                        <a:solidFill>
                          <a:schemeClr val="tx1"/>
                        </a:solidFill>
                      </a:endParaRPr>
                    </a:p>
                  </a:txBody>
                  <a:tcPr/>
                </a:tc>
                <a:tc>
                  <a:txBody>
                    <a:bodyPr/>
                    <a:lstStyle/>
                    <a:p>
                      <a:r>
                        <a:rPr lang="zh-CN" altLang="en-US" sz="2000" dirty="0"/>
                        <a:t>必须创建并保存客户；</a:t>
                      </a:r>
                      <a:endParaRPr lang="en-US" altLang="zh-CN" sz="2000" dirty="0"/>
                    </a:p>
                    <a:p>
                      <a:r>
                        <a:rPr lang="zh-CN" altLang="en-US" sz="2000" dirty="0"/>
                        <a:t>必须创建并保存一个或多个地址；</a:t>
                      </a:r>
                      <a:endParaRPr lang="en-US" altLang="zh-CN" sz="2000" dirty="0"/>
                    </a:p>
                    <a:p>
                      <a:r>
                        <a:rPr lang="zh-CN" altLang="en-US" sz="2000" dirty="0"/>
                        <a:t>信用卡</a:t>
                      </a:r>
                      <a:r>
                        <a:rPr lang="en-US" altLang="zh-CN" sz="2000" dirty="0"/>
                        <a:t>/</a:t>
                      </a:r>
                      <a:r>
                        <a:rPr lang="zh-CN" altLang="en-US" sz="2000" dirty="0"/>
                        <a:t>借记卡信息必须经过验证；</a:t>
                      </a:r>
                      <a:endParaRPr lang="en-US" altLang="zh-CN" sz="2000" dirty="0"/>
                    </a:p>
                    <a:p>
                      <a:r>
                        <a:rPr lang="zh-CN" altLang="en-US" sz="2000" dirty="0"/>
                        <a:t>必须创建并保存帐户；</a:t>
                      </a:r>
                      <a:endParaRPr lang="en-US" altLang="zh-CN" sz="2000" dirty="0"/>
                    </a:p>
                    <a:p>
                      <a:r>
                        <a:rPr lang="zh-CN" altLang="en-US" sz="2000" dirty="0"/>
                        <a:t>地址和帐户必须与客户相关联</a:t>
                      </a:r>
                      <a:endParaRPr lang="en-US" altLang="zh-CN" sz="2000" dirty="0"/>
                    </a:p>
                  </a:txBody>
                  <a:tcPr/>
                </a:tc>
                <a:extLst>
                  <a:ext uri="{0D108BD9-81ED-4DB2-BD59-A6C34878D82A}">
                    <a16:rowId xmlns:a16="http://schemas.microsoft.com/office/drawing/2014/main" val="153400857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75D9CD41-20B5-48EE-BCCC-8503C04550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90C9C5C-DCC3-4E05-9C37-99DBC5AF92C7}" type="slidenum">
              <a:rPr lang="en-US" altLang="en-US"/>
              <a:pPr eaLnBrk="1" hangingPunct="1"/>
              <a:t>10</a:t>
            </a:fld>
            <a:endParaRPr lang="en-US" altLang="en-US"/>
          </a:p>
        </p:txBody>
      </p:sp>
      <p:sp>
        <p:nvSpPr>
          <p:cNvPr id="11267" name="Rectangle 2">
            <a:extLst>
              <a:ext uri="{FF2B5EF4-FFF2-40B4-BE49-F238E27FC236}">
                <a16:creationId xmlns:a16="http://schemas.microsoft.com/office/drawing/2014/main" id="{02E6D75D-6032-49C1-8F54-624CF326F444}"/>
              </a:ext>
            </a:extLst>
          </p:cNvPr>
          <p:cNvSpPr>
            <a:spLocks noGrp="1" noChangeArrowheads="1"/>
          </p:cNvSpPr>
          <p:nvPr>
            <p:ph type="title"/>
          </p:nvPr>
        </p:nvSpPr>
        <p:spPr>
          <a:xfrm>
            <a:off x="304800" y="228600"/>
            <a:ext cx="2667000" cy="3916363"/>
          </a:xfrm>
        </p:spPr>
        <p:txBody>
          <a:bodyPr/>
          <a:lstStyle/>
          <a:p>
            <a:pPr eaLnBrk="1" hangingPunct="1"/>
            <a:r>
              <a:rPr lang="en-US" altLang="zh-CN" sz="3200" dirty="0">
                <a:ea typeface="宋体" panose="02010600030101010101" pitchFamily="2" charset="-122"/>
              </a:rPr>
              <a:t>Fully Developed Use Case Description</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Use case:</a:t>
            </a:r>
            <a:r>
              <a:rPr lang="en-US" altLang="zh-CN" sz="3200" dirty="0">
                <a:ea typeface="宋体" panose="02010600030101010101" pitchFamily="2" charset="-122"/>
              </a:rPr>
              <a:t> </a:t>
            </a:r>
            <a:r>
              <a:rPr lang="en-US" altLang="zh-CN" sz="2400" i="1" dirty="0">
                <a:ea typeface="宋体" panose="02010600030101010101" pitchFamily="2" charset="-122"/>
              </a:rPr>
              <a:t>Create customer account</a:t>
            </a:r>
          </a:p>
        </p:txBody>
      </p:sp>
      <p:pic>
        <p:nvPicPr>
          <p:cNvPr id="11268" name="Picture 5">
            <a:extLst>
              <a:ext uri="{FF2B5EF4-FFF2-40B4-BE49-F238E27FC236}">
                <a16:creationId xmlns:a16="http://schemas.microsoft.com/office/drawing/2014/main" id="{0B23C2AB-629D-4B7D-9AF7-470611F17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52400"/>
            <a:ext cx="592455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Footer Placeholder 4">
            <a:extLst>
              <a:ext uri="{FF2B5EF4-FFF2-40B4-BE49-F238E27FC236}">
                <a16:creationId xmlns:a16="http://schemas.microsoft.com/office/drawing/2014/main" id="{3F50A972-9900-4E52-AABD-0D1A62120F6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1270" name="Rectangle 6">
            <a:extLst>
              <a:ext uri="{FF2B5EF4-FFF2-40B4-BE49-F238E27FC236}">
                <a16:creationId xmlns:a16="http://schemas.microsoft.com/office/drawing/2014/main" id="{8D17327D-E4FB-45ED-973A-63B907530569}"/>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A29321AA-F4E3-4A5D-A16A-00423716F66B}"/>
              </a:ext>
            </a:extLst>
          </p:cNvPr>
          <p:cNvSpPr/>
          <p:nvPr/>
        </p:nvSpPr>
        <p:spPr>
          <a:xfrm>
            <a:off x="2971800" y="3048000"/>
            <a:ext cx="5924550" cy="32766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46859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D1B5BB6E-484F-4011-9A5C-DED4851417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D90EF88-89EE-45AA-9789-A65B53479EBD}" type="slidenum">
              <a:rPr lang="en-US" altLang="en-US"/>
              <a:pPr eaLnBrk="1" hangingPunct="1"/>
              <a:t>11</a:t>
            </a:fld>
            <a:endParaRPr lang="en-US" altLang="en-US"/>
          </a:p>
        </p:txBody>
      </p:sp>
      <p:sp>
        <p:nvSpPr>
          <p:cNvPr id="13315" name="Rectangle 2">
            <a:extLst>
              <a:ext uri="{FF2B5EF4-FFF2-40B4-BE49-F238E27FC236}">
                <a16:creationId xmlns:a16="http://schemas.microsoft.com/office/drawing/2014/main" id="{D92A5C5B-C163-4A84-8A6F-0913D316B5FA}"/>
              </a:ext>
            </a:extLst>
          </p:cNvPr>
          <p:cNvSpPr>
            <a:spLocks noGrp="1" noChangeArrowheads="1"/>
          </p:cNvSpPr>
          <p:nvPr>
            <p:ph type="title"/>
          </p:nvPr>
        </p:nvSpPr>
        <p:spPr>
          <a:xfrm>
            <a:off x="457200" y="122238"/>
            <a:ext cx="7543800" cy="1096962"/>
          </a:xfrm>
        </p:spPr>
        <p:txBody>
          <a:bodyPr/>
          <a:lstStyle/>
          <a:p>
            <a:pPr eaLnBrk="1" hangingPunct="1"/>
            <a:r>
              <a:rPr lang="en-US" altLang="zh-CN" sz="3000">
                <a:ea typeface="宋体" panose="02010600030101010101" pitchFamily="2" charset="-122"/>
              </a:rPr>
              <a:t>Fully Developed Use Case Description </a:t>
            </a:r>
            <a:r>
              <a:rPr lang="en-US" altLang="zh-CN" sz="3000" i="1">
                <a:ea typeface="宋体" panose="02010600030101010101" pitchFamily="2" charset="-122"/>
              </a:rPr>
              <a:t>Create customer account</a:t>
            </a:r>
            <a:r>
              <a:rPr lang="en-US" altLang="zh-CN" sz="3000">
                <a:ea typeface="宋体" panose="02010600030101010101" pitchFamily="2" charset="-122"/>
              </a:rPr>
              <a:t> (part 2 )</a:t>
            </a:r>
          </a:p>
        </p:txBody>
      </p:sp>
      <p:sp>
        <p:nvSpPr>
          <p:cNvPr id="13317" name="Footer Placeholder 4">
            <a:extLst>
              <a:ext uri="{FF2B5EF4-FFF2-40B4-BE49-F238E27FC236}">
                <a16:creationId xmlns:a16="http://schemas.microsoft.com/office/drawing/2014/main" id="{8438D52B-1FCF-4788-8146-AC0A85E0330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3318" name="Rectangle 6">
            <a:extLst>
              <a:ext uri="{FF2B5EF4-FFF2-40B4-BE49-F238E27FC236}">
                <a16:creationId xmlns:a16="http://schemas.microsoft.com/office/drawing/2014/main" id="{113F9120-88CD-4264-9471-FE61070DBFC2}"/>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aphicFrame>
        <p:nvGraphicFramePr>
          <p:cNvPr id="2" name="表格 2">
            <a:extLst>
              <a:ext uri="{FF2B5EF4-FFF2-40B4-BE49-F238E27FC236}">
                <a16:creationId xmlns:a16="http://schemas.microsoft.com/office/drawing/2014/main" id="{D931FE2E-D55D-4732-B354-339B431561A9}"/>
              </a:ext>
            </a:extLst>
          </p:cNvPr>
          <p:cNvGraphicFramePr>
            <a:graphicFrameLocks noGrp="1"/>
          </p:cNvGraphicFramePr>
          <p:nvPr>
            <p:extLst>
              <p:ext uri="{D42A27DB-BD31-4B8C-83A1-F6EECF244321}">
                <p14:modId xmlns:p14="http://schemas.microsoft.com/office/powerpoint/2010/main" val="4241149573"/>
              </p:ext>
            </p:extLst>
          </p:nvPr>
        </p:nvGraphicFramePr>
        <p:xfrm>
          <a:off x="609598" y="1397000"/>
          <a:ext cx="8382001" cy="3754120"/>
        </p:xfrm>
        <a:graphic>
          <a:graphicData uri="http://schemas.openxmlformats.org/drawingml/2006/table">
            <a:tbl>
              <a:tblPr firstRow="1" bandRow="1">
                <a:tableStyleId>{5C22544A-7EE6-4342-B048-85BDC9FD1C3A}</a:tableStyleId>
              </a:tblPr>
              <a:tblGrid>
                <a:gridCol w="1619060">
                  <a:extLst>
                    <a:ext uri="{9D8B030D-6E8A-4147-A177-3AD203B41FA5}">
                      <a16:colId xmlns:a16="http://schemas.microsoft.com/office/drawing/2014/main" val="1479009594"/>
                    </a:ext>
                  </a:extLst>
                </a:gridCol>
                <a:gridCol w="3319070">
                  <a:extLst>
                    <a:ext uri="{9D8B030D-6E8A-4147-A177-3AD203B41FA5}">
                      <a16:colId xmlns:a16="http://schemas.microsoft.com/office/drawing/2014/main" val="1360168650"/>
                    </a:ext>
                  </a:extLst>
                </a:gridCol>
                <a:gridCol w="3443871">
                  <a:extLst>
                    <a:ext uri="{9D8B030D-6E8A-4147-A177-3AD203B41FA5}">
                      <a16:colId xmlns:a16="http://schemas.microsoft.com/office/drawing/2014/main" val="1258839957"/>
                    </a:ext>
                  </a:extLst>
                </a:gridCol>
              </a:tblGrid>
              <a:tr h="370840">
                <a:tc>
                  <a:txBody>
                    <a:bodyPr/>
                    <a:lstStyle/>
                    <a:p>
                      <a:r>
                        <a:rPr lang="zh-CN" altLang="en-US" b="1" dirty="0">
                          <a:solidFill>
                            <a:schemeClr val="tx1"/>
                          </a:solidFill>
                        </a:rPr>
                        <a:t>活动流程</a:t>
                      </a:r>
                    </a:p>
                  </a:txBody>
                  <a:tcPr/>
                </a:tc>
                <a:tc>
                  <a:txBody>
                    <a:bodyPr/>
                    <a:lstStyle/>
                    <a:p>
                      <a:r>
                        <a:rPr lang="zh-CN" altLang="en-US" dirty="0">
                          <a:solidFill>
                            <a:schemeClr val="tx1"/>
                          </a:solidFill>
                        </a:rPr>
                        <a:t>用户</a:t>
                      </a:r>
                    </a:p>
                  </a:txBody>
                  <a:tcPr/>
                </a:tc>
                <a:tc>
                  <a:txBody>
                    <a:bodyPr/>
                    <a:lstStyle/>
                    <a:p>
                      <a:r>
                        <a:rPr lang="zh-CN" altLang="en-US" dirty="0">
                          <a:solidFill>
                            <a:schemeClr val="tx1"/>
                          </a:solidFill>
                        </a:rPr>
                        <a:t>系统</a:t>
                      </a:r>
                    </a:p>
                  </a:txBody>
                  <a:tcPr/>
                </a:tc>
                <a:extLst>
                  <a:ext uri="{0D108BD9-81ED-4DB2-BD59-A6C34878D82A}">
                    <a16:rowId xmlns:a16="http://schemas.microsoft.com/office/drawing/2014/main" val="1891073823"/>
                  </a:ext>
                </a:extLst>
              </a:tr>
              <a:tr h="370840">
                <a:tc>
                  <a:txBody>
                    <a:bodyPr/>
                    <a:lstStyle/>
                    <a:p>
                      <a:endParaRPr lang="zh-CN" altLang="en-US" b="1" dirty="0">
                        <a:solidFill>
                          <a:schemeClr val="tx1"/>
                        </a:solidFill>
                      </a:endParaRPr>
                    </a:p>
                  </a:txBody>
                  <a:tcPr/>
                </a:tc>
                <a:tc>
                  <a:txBody>
                    <a:bodyPr/>
                    <a:lstStyle/>
                    <a:p>
                      <a:r>
                        <a:rPr lang="en-US" altLang="zh-CN" dirty="0">
                          <a:solidFill>
                            <a:schemeClr val="tx1"/>
                          </a:solidFill>
                        </a:rPr>
                        <a:t>1.</a:t>
                      </a:r>
                      <a:r>
                        <a:rPr lang="zh-CN" altLang="en-US" dirty="0">
                          <a:solidFill>
                            <a:schemeClr val="tx1"/>
                          </a:solidFill>
                        </a:rPr>
                        <a:t>客户想要创建客户账号并输入了基本客户信息 </a:t>
                      </a:r>
                    </a:p>
                  </a:txBody>
                  <a:tcPr/>
                </a:tc>
                <a:tc>
                  <a:txBody>
                    <a:bodyPr/>
                    <a:lstStyle/>
                    <a:p>
                      <a:r>
                        <a:rPr lang="en-US" altLang="zh-CN" b="0" i="0" dirty="0">
                          <a:solidFill>
                            <a:srgbClr val="2A2B2E"/>
                          </a:solidFill>
                          <a:effectLst/>
                          <a:latin typeface="PingFang SC"/>
                        </a:rPr>
                        <a:t>1.1 </a:t>
                      </a:r>
                      <a:r>
                        <a:rPr lang="zh-CN" altLang="en-US" b="0" i="0" dirty="0">
                          <a:solidFill>
                            <a:srgbClr val="2A2B2E"/>
                          </a:solidFill>
                          <a:effectLst/>
                          <a:latin typeface="PingFang SC"/>
                        </a:rPr>
                        <a:t>系统创建新客户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1.2 </a:t>
                      </a:r>
                      <a:r>
                        <a:rPr lang="zh-CN" altLang="en-US" b="0" i="0" dirty="0">
                          <a:solidFill>
                            <a:srgbClr val="2A2B2E"/>
                          </a:solidFill>
                          <a:effectLst/>
                          <a:latin typeface="PingFang SC"/>
                        </a:rPr>
                        <a:t>系统需要客户的地址</a:t>
                      </a:r>
                      <a:endParaRPr lang="en-US" altLang="zh-CN" b="0" i="0" dirty="0">
                        <a:solidFill>
                          <a:srgbClr val="2A2B2E"/>
                        </a:solidFill>
                        <a:effectLst/>
                        <a:latin typeface="PingFang SC"/>
                      </a:endParaRPr>
                    </a:p>
                  </a:txBody>
                  <a:tcPr/>
                </a:tc>
                <a:extLst>
                  <a:ext uri="{0D108BD9-81ED-4DB2-BD59-A6C34878D82A}">
                    <a16:rowId xmlns:a16="http://schemas.microsoft.com/office/drawing/2014/main" val="559264319"/>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2. </a:t>
                      </a:r>
                      <a:r>
                        <a:rPr lang="zh-CN" altLang="en-US" b="0" i="0" dirty="0">
                          <a:solidFill>
                            <a:srgbClr val="2A2B2E"/>
                          </a:solidFill>
                          <a:effectLst/>
                          <a:latin typeface="PingFang SC"/>
                        </a:rPr>
                        <a:t>客户输入一个或多个地址</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2.1 </a:t>
                      </a:r>
                      <a:r>
                        <a:rPr lang="zh-CN" altLang="en-US" b="0" i="0" dirty="0">
                          <a:solidFill>
                            <a:srgbClr val="2A2B2E"/>
                          </a:solidFill>
                          <a:effectLst/>
                          <a:latin typeface="PingFang SC"/>
                        </a:rPr>
                        <a:t>系统创建地址</a:t>
                      </a:r>
                      <a:endParaRPr lang="en-US" altLang="zh-CN" b="0" i="0" dirty="0">
                        <a:solidFill>
                          <a:srgbClr val="2A2B2E"/>
                        </a:solidFill>
                        <a:effectLst/>
                        <a:latin typeface="PingFang SC"/>
                      </a:endParaRPr>
                    </a:p>
                    <a:p>
                      <a:r>
                        <a:rPr lang="en-US" altLang="zh-CN" b="0" i="0" dirty="0">
                          <a:solidFill>
                            <a:srgbClr val="2A2B2E"/>
                          </a:solidFill>
                          <a:effectLst/>
                          <a:latin typeface="PingFang SC"/>
                        </a:rPr>
                        <a:t>2.2 </a:t>
                      </a:r>
                      <a:r>
                        <a:rPr lang="zh-CN" altLang="en-US" b="0" i="0" dirty="0">
                          <a:solidFill>
                            <a:srgbClr val="2A2B2E"/>
                          </a:solidFill>
                          <a:effectLst/>
                          <a:latin typeface="PingFang SC"/>
                        </a:rPr>
                        <a:t>系统需要客户的信用卡信息</a:t>
                      </a:r>
                      <a:endParaRPr lang="en-US" altLang="zh-CN" b="0" i="0" dirty="0">
                        <a:solidFill>
                          <a:srgbClr val="2A2B2E"/>
                        </a:solidFill>
                        <a:effectLst/>
                        <a:latin typeface="PingFang SC"/>
                      </a:endParaRPr>
                    </a:p>
                  </a:txBody>
                  <a:tcPr/>
                </a:tc>
                <a:extLst>
                  <a:ext uri="{0D108BD9-81ED-4DB2-BD59-A6C34878D82A}">
                    <a16:rowId xmlns:a16="http://schemas.microsoft.com/office/drawing/2014/main" val="3076502447"/>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3. </a:t>
                      </a:r>
                      <a:r>
                        <a:rPr lang="zh-CN" altLang="en-US" b="0" i="0" dirty="0">
                          <a:solidFill>
                            <a:srgbClr val="2A2B2E"/>
                          </a:solidFill>
                          <a:effectLst/>
                          <a:latin typeface="PingFang SC"/>
                        </a:rPr>
                        <a:t>客户输入信用卡信息</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3.1 </a:t>
                      </a:r>
                      <a:r>
                        <a:rPr lang="zh-CN" altLang="en-US" b="0" i="0" dirty="0">
                          <a:solidFill>
                            <a:srgbClr val="2A2B2E"/>
                          </a:solidFill>
                          <a:effectLst/>
                          <a:latin typeface="PingFang SC"/>
                        </a:rPr>
                        <a:t>系统创建账户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3.2 </a:t>
                      </a:r>
                      <a:r>
                        <a:rPr lang="zh-CN" altLang="en-US" b="0" i="0" dirty="0">
                          <a:solidFill>
                            <a:srgbClr val="2A2B2E"/>
                          </a:solidFill>
                          <a:effectLst/>
                          <a:latin typeface="PingFang SC"/>
                        </a:rPr>
                        <a:t>系统验证信用卡授权</a:t>
                      </a:r>
                      <a:endParaRPr lang="en-US" altLang="zh-CN" b="0" i="0" dirty="0">
                        <a:solidFill>
                          <a:srgbClr val="2A2B2E"/>
                        </a:solidFill>
                        <a:effectLst/>
                        <a:latin typeface="PingFang SC"/>
                      </a:endParaRPr>
                    </a:p>
                    <a:p>
                      <a:r>
                        <a:rPr lang="en-US" altLang="zh-CN" b="0" i="0" dirty="0">
                          <a:solidFill>
                            <a:srgbClr val="2A2B2E"/>
                          </a:solidFill>
                          <a:effectLst/>
                          <a:latin typeface="PingFang SC"/>
                        </a:rPr>
                        <a:t>3.3 </a:t>
                      </a:r>
                      <a:r>
                        <a:rPr lang="zh-CN" altLang="en-US" b="0" i="0" dirty="0">
                          <a:solidFill>
                            <a:srgbClr val="2A2B2E"/>
                          </a:solidFill>
                          <a:effectLst/>
                          <a:latin typeface="PingFang SC"/>
                        </a:rPr>
                        <a:t>系统关联客户，地址和账户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3.4 </a:t>
                      </a:r>
                      <a:r>
                        <a:rPr lang="zh-CN" altLang="en-US" b="0" i="0" dirty="0">
                          <a:solidFill>
                            <a:srgbClr val="2A2B2E"/>
                          </a:solidFill>
                          <a:effectLst/>
                          <a:latin typeface="PingFang SC"/>
                        </a:rPr>
                        <a:t>系统返回合法用户账户细节</a:t>
                      </a:r>
                      <a:endParaRPr lang="en-US" altLang="zh-CN" b="0" i="0" dirty="0">
                        <a:solidFill>
                          <a:srgbClr val="2A2B2E"/>
                        </a:solidFill>
                        <a:effectLst/>
                        <a:latin typeface="PingFang SC"/>
                      </a:endParaRPr>
                    </a:p>
                  </a:txBody>
                  <a:tcPr/>
                </a:tc>
                <a:extLst>
                  <a:ext uri="{0D108BD9-81ED-4DB2-BD59-A6C34878D82A}">
                    <a16:rowId xmlns:a16="http://schemas.microsoft.com/office/drawing/2014/main" val="2040811417"/>
                  </a:ext>
                </a:extLst>
              </a:tr>
              <a:tr h="370840">
                <a:tc>
                  <a:txBody>
                    <a:bodyPr/>
                    <a:lstStyle/>
                    <a:p>
                      <a:r>
                        <a:rPr lang="zh-CN" altLang="en-US" b="1" dirty="0">
                          <a:solidFill>
                            <a:schemeClr val="tx1"/>
                          </a:solidFill>
                        </a:rPr>
                        <a:t>异常条件</a:t>
                      </a:r>
                    </a:p>
                  </a:txBody>
                  <a:tcPr/>
                </a:tc>
                <a:tc gridSpan="2">
                  <a:txBody>
                    <a:bodyPr/>
                    <a:lstStyle/>
                    <a:p>
                      <a:r>
                        <a:rPr lang="en-US" altLang="zh-CN" b="0" i="0" dirty="0">
                          <a:solidFill>
                            <a:srgbClr val="2A2B2E"/>
                          </a:solidFill>
                          <a:effectLst/>
                          <a:latin typeface="PingFang SC"/>
                        </a:rPr>
                        <a:t>1.1 </a:t>
                      </a:r>
                      <a:r>
                        <a:rPr lang="zh-CN" altLang="en-US" b="0" i="0" dirty="0">
                          <a:solidFill>
                            <a:srgbClr val="2A2B2E"/>
                          </a:solidFill>
                          <a:effectLst/>
                          <a:latin typeface="PingFang SC"/>
                        </a:rPr>
                        <a:t>基本客户信息不完整</a:t>
                      </a:r>
                      <a:endParaRPr lang="en-US" altLang="zh-CN" b="0" i="0" dirty="0">
                        <a:solidFill>
                          <a:srgbClr val="2A2B2E"/>
                        </a:solidFill>
                        <a:effectLst/>
                        <a:latin typeface="PingFang SC"/>
                      </a:endParaRPr>
                    </a:p>
                    <a:p>
                      <a:r>
                        <a:rPr lang="en-US" altLang="zh-CN" b="0" i="0" dirty="0">
                          <a:solidFill>
                            <a:srgbClr val="2A2B2E"/>
                          </a:solidFill>
                          <a:effectLst/>
                          <a:latin typeface="PingFang SC"/>
                        </a:rPr>
                        <a:t>2.1 </a:t>
                      </a:r>
                      <a:r>
                        <a:rPr lang="zh-CN" altLang="en-US" b="0" i="0" dirty="0">
                          <a:solidFill>
                            <a:srgbClr val="2A2B2E"/>
                          </a:solidFill>
                          <a:effectLst/>
                          <a:latin typeface="PingFang SC"/>
                        </a:rPr>
                        <a:t>地址不合法</a:t>
                      </a:r>
                      <a:endParaRPr lang="en-US" altLang="zh-CN" b="0" i="0" dirty="0">
                        <a:solidFill>
                          <a:srgbClr val="2A2B2E"/>
                        </a:solidFill>
                        <a:effectLst/>
                        <a:latin typeface="PingFang SC"/>
                      </a:endParaRPr>
                    </a:p>
                    <a:p>
                      <a:r>
                        <a:rPr lang="en-US" altLang="zh-CN" b="0" i="0" dirty="0">
                          <a:solidFill>
                            <a:srgbClr val="2A2B2E"/>
                          </a:solidFill>
                          <a:effectLst/>
                          <a:latin typeface="PingFang SC"/>
                        </a:rPr>
                        <a:t>3.2 </a:t>
                      </a:r>
                      <a:r>
                        <a:rPr lang="zh-CN" altLang="en-US" b="0" i="0" dirty="0">
                          <a:solidFill>
                            <a:srgbClr val="2A2B2E"/>
                          </a:solidFill>
                          <a:effectLst/>
                          <a:latin typeface="PingFang SC"/>
                        </a:rPr>
                        <a:t>信用卡信息不合法</a:t>
                      </a:r>
                      <a:endParaRPr lang="zh-CN" altLang="en-US" dirty="0"/>
                    </a:p>
                  </a:txBody>
                  <a:tcPr/>
                </a:tc>
                <a:tc hMerge="1">
                  <a:txBody>
                    <a:bodyPr/>
                    <a:lstStyle/>
                    <a:p>
                      <a:endParaRPr lang="zh-CN" altLang="en-US" dirty="0">
                        <a:solidFill>
                          <a:schemeClr val="tx1"/>
                        </a:solidFill>
                      </a:endParaRPr>
                    </a:p>
                  </a:txBody>
                  <a:tcPr/>
                </a:tc>
                <a:extLst>
                  <a:ext uri="{0D108BD9-81ED-4DB2-BD59-A6C34878D82A}">
                    <a16:rowId xmlns:a16="http://schemas.microsoft.com/office/drawing/2014/main" val="225294244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6">
            <a:extLst>
              <a:ext uri="{FF2B5EF4-FFF2-40B4-BE49-F238E27FC236}">
                <a16:creationId xmlns:a16="http://schemas.microsoft.com/office/drawing/2014/main" id="{2ED98D90-5E5A-4691-8072-A7A6744117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7DEDBDD-76C3-4186-8A92-C2E6D3FB3A55}" type="slidenum">
              <a:rPr lang="en-US" altLang="en-US"/>
              <a:pPr eaLnBrk="1" hangingPunct="1"/>
              <a:t>12</a:t>
            </a:fld>
            <a:endParaRPr lang="en-US" altLang="en-US"/>
          </a:p>
        </p:txBody>
      </p:sp>
      <p:sp>
        <p:nvSpPr>
          <p:cNvPr id="15363" name="Rectangle 2">
            <a:extLst>
              <a:ext uri="{FF2B5EF4-FFF2-40B4-BE49-F238E27FC236}">
                <a16:creationId xmlns:a16="http://schemas.microsoft.com/office/drawing/2014/main" id="{09D704AA-B82E-465F-8B9B-3D439F1CB913}"/>
              </a:ext>
            </a:extLst>
          </p:cNvPr>
          <p:cNvSpPr>
            <a:spLocks noGrp="1" noChangeArrowheads="1"/>
          </p:cNvSpPr>
          <p:nvPr>
            <p:ph type="title"/>
          </p:nvPr>
        </p:nvSpPr>
        <p:spPr>
          <a:xfrm>
            <a:off x="457200" y="122238"/>
            <a:ext cx="7543800" cy="868362"/>
          </a:xfrm>
        </p:spPr>
        <p:txBody>
          <a:bodyPr/>
          <a:lstStyle/>
          <a:p>
            <a:pPr eaLnBrk="1" hangingPunct="1"/>
            <a:r>
              <a:rPr lang="en-US" altLang="zh-CN" sz="4000">
                <a:ea typeface="宋体" panose="02010600030101010101" pitchFamily="2" charset="-122"/>
              </a:rPr>
              <a:t>Use Case Description Details</a:t>
            </a:r>
            <a:endParaRPr lang="en-US" altLang="zh-CN" sz="3200">
              <a:ea typeface="宋体" panose="02010600030101010101" pitchFamily="2" charset="-122"/>
            </a:endParaRPr>
          </a:p>
        </p:txBody>
      </p:sp>
      <p:sp>
        <p:nvSpPr>
          <p:cNvPr id="15364" name="Rectangle 3">
            <a:extLst>
              <a:ext uri="{FF2B5EF4-FFF2-40B4-BE49-F238E27FC236}">
                <a16:creationId xmlns:a16="http://schemas.microsoft.com/office/drawing/2014/main" id="{9574F822-DA03-4697-BC2F-7981934D6FA1}"/>
              </a:ext>
            </a:extLst>
          </p:cNvPr>
          <p:cNvSpPr>
            <a:spLocks noGrp="1" noChangeArrowheads="1"/>
          </p:cNvSpPr>
          <p:nvPr>
            <p:ph type="body" sz="half" idx="1"/>
          </p:nvPr>
        </p:nvSpPr>
        <p:spPr>
          <a:xfrm>
            <a:off x="457200" y="1143000"/>
            <a:ext cx="8001000" cy="4953000"/>
          </a:xfrm>
        </p:spPr>
        <p:txBody>
          <a:bodyPr/>
          <a:lstStyle/>
          <a:p>
            <a:pPr eaLnBrk="1" hangingPunct="1">
              <a:lnSpc>
                <a:spcPct val="90000"/>
              </a:lnSpc>
            </a:pPr>
            <a:r>
              <a:rPr lang="en-GB" altLang="zh-CN" sz="2400" dirty="0"/>
              <a:t>Use case name</a:t>
            </a:r>
            <a:r>
              <a:rPr lang="zh-CN" altLang="en-US" sz="2400" dirty="0"/>
              <a:t>（用例名称）</a:t>
            </a:r>
            <a:endParaRPr lang="en-GB" altLang="zh-CN" sz="2400" dirty="0"/>
          </a:p>
          <a:p>
            <a:pPr lvl="1" eaLnBrk="1" hangingPunct="1">
              <a:lnSpc>
                <a:spcPct val="90000"/>
              </a:lnSpc>
            </a:pPr>
            <a:r>
              <a:rPr lang="en-GB" altLang="zh-CN" sz="2400" dirty="0"/>
              <a:t>Verb-noun</a:t>
            </a:r>
            <a:r>
              <a:rPr lang="zh-CN" altLang="en-US" sz="2400" dirty="0"/>
              <a:t>（动词</a:t>
            </a:r>
            <a:r>
              <a:rPr lang="en-US" altLang="zh-CN" sz="2400" dirty="0"/>
              <a:t>-</a:t>
            </a:r>
            <a:r>
              <a:rPr lang="zh-CN" altLang="en-US" sz="2400" dirty="0"/>
              <a:t>名词）</a:t>
            </a:r>
            <a:endParaRPr lang="en-GB" altLang="zh-CN" sz="2400" dirty="0"/>
          </a:p>
          <a:p>
            <a:pPr eaLnBrk="1" hangingPunct="1">
              <a:lnSpc>
                <a:spcPct val="90000"/>
              </a:lnSpc>
            </a:pPr>
            <a:r>
              <a:rPr lang="en-GB" altLang="zh-CN" sz="2400" dirty="0"/>
              <a:t>Scenario (if needed)</a:t>
            </a:r>
            <a:r>
              <a:rPr lang="zh-CN" altLang="en-US" sz="2400" dirty="0"/>
              <a:t>（场景）</a:t>
            </a:r>
            <a:endParaRPr lang="en-GB" altLang="zh-CN" sz="2400" dirty="0"/>
          </a:p>
          <a:p>
            <a:pPr lvl="1" eaLnBrk="1" hangingPunct="1">
              <a:lnSpc>
                <a:spcPct val="90000"/>
              </a:lnSpc>
            </a:pPr>
            <a:r>
              <a:rPr lang="en-GB" altLang="zh-CN" sz="2400" dirty="0"/>
              <a:t>A use case can have more than one scenario (special case or more specific path)</a:t>
            </a:r>
            <a:r>
              <a:rPr lang="zh-CN" altLang="en-US" sz="2400" dirty="0"/>
              <a:t>一个用例可以有多个场景</a:t>
            </a:r>
            <a:endParaRPr lang="en-GB" altLang="zh-CN" sz="2400" dirty="0"/>
          </a:p>
          <a:p>
            <a:pPr eaLnBrk="1" hangingPunct="1">
              <a:lnSpc>
                <a:spcPct val="90000"/>
              </a:lnSpc>
            </a:pPr>
            <a:r>
              <a:rPr lang="en-GB" altLang="zh-CN" sz="2400" dirty="0"/>
              <a:t>Triggering event</a:t>
            </a:r>
            <a:r>
              <a:rPr lang="zh-CN" altLang="en-US" sz="2400" dirty="0"/>
              <a:t>（触发事件）</a:t>
            </a:r>
            <a:endParaRPr lang="en-GB" altLang="zh-CN" sz="2400" dirty="0"/>
          </a:p>
          <a:p>
            <a:pPr lvl="1" eaLnBrk="1" hangingPunct="1">
              <a:lnSpc>
                <a:spcPct val="90000"/>
              </a:lnSpc>
            </a:pPr>
            <a:r>
              <a:rPr lang="en-GB" altLang="zh-CN" sz="2400" dirty="0"/>
              <a:t>Based on event decomposition technique</a:t>
            </a:r>
            <a:r>
              <a:rPr lang="zh-CN" altLang="en-US" sz="2400" dirty="0"/>
              <a:t>（基于事件分解技术）</a:t>
            </a:r>
            <a:endParaRPr lang="en-GB" altLang="zh-CN" sz="2400" dirty="0"/>
          </a:p>
          <a:p>
            <a:pPr eaLnBrk="1" hangingPunct="1">
              <a:lnSpc>
                <a:spcPct val="90000"/>
              </a:lnSpc>
            </a:pPr>
            <a:r>
              <a:rPr lang="en-GB" altLang="zh-CN" sz="2400" dirty="0"/>
              <a:t>Brief description</a:t>
            </a:r>
            <a:r>
              <a:rPr lang="zh-CN" altLang="en-US" sz="2400" dirty="0"/>
              <a:t>（简要描述）</a:t>
            </a:r>
            <a:endParaRPr lang="en-GB" altLang="zh-CN" sz="2400" dirty="0"/>
          </a:p>
          <a:p>
            <a:pPr lvl="1" eaLnBrk="1" hangingPunct="1">
              <a:lnSpc>
                <a:spcPct val="90000"/>
              </a:lnSpc>
            </a:pPr>
            <a:r>
              <a:rPr lang="en-GB" altLang="zh-CN" sz="2400" dirty="0"/>
              <a:t>Written previously when use case was identified</a:t>
            </a:r>
            <a:r>
              <a:rPr lang="zh-CN" altLang="en-US" sz="2400" dirty="0"/>
              <a:t>（在确定用例时编写）</a:t>
            </a:r>
            <a:endParaRPr lang="en-GB" altLang="zh-CN" sz="2400" dirty="0"/>
          </a:p>
          <a:p>
            <a:pPr eaLnBrk="1" hangingPunct="1">
              <a:lnSpc>
                <a:spcPct val="90000"/>
              </a:lnSpc>
            </a:pPr>
            <a:r>
              <a:rPr lang="en-GB" altLang="zh-CN" sz="2400" dirty="0"/>
              <a:t>Actors</a:t>
            </a:r>
            <a:r>
              <a:rPr lang="zh-CN" altLang="en-US" sz="2400" dirty="0"/>
              <a:t>（用户）</a:t>
            </a:r>
            <a:endParaRPr lang="en-GB" altLang="zh-CN" sz="2400" dirty="0"/>
          </a:p>
          <a:p>
            <a:pPr lvl="1" eaLnBrk="1" hangingPunct="1">
              <a:lnSpc>
                <a:spcPct val="90000"/>
              </a:lnSpc>
            </a:pPr>
            <a:r>
              <a:rPr lang="en-GB" altLang="zh-CN" sz="2400" dirty="0"/>
              <a:t>One or more users from use case diagrams</a:t>
            </a:r>
            <a:r>
              <a:rPr lang="zh-CN" altLang="en-US" sz="2400" dirty="0"/>
              <a:t>（来自用例图的一个或多个用户）</a:t>
            </a:r>
            <a:endParaRPr lang="en-GB" altLang="zh-CN" sz="2400" dirty="0"/>
          </a:p>
        </p:txBody>
      </p:sp>
    </p:spTree>
    <p:extLst>
      <p:ext uri="{BB962C8B-B14F-4D97-AF65-F5344CB8AC3E}">
        <p14:creationId xmlns:p14="http://schemas.microsoft.com/office/powerpoint/2010/main" val="3877876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36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36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6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364">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36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a:extLst>
              <a:ext uri="{FF2B5EF4-FFF2-40B4-BE49-F238E27FC236}">
                <a16:creationId xmlns:a16="http://schemas.microsoft.com/office/drawing/2014/main" id="{2C2BE2F3-19D4-493C-B5D0-FBC526593C9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7E933B2-47F0-42FE-ABB4-499C0DFD168E}" type="slidenum">
              <a:rPr lang="en-US" altLang="en-US"/>
              <a:pPr eaLnBrk="1" hangingPunct="1"/>
              <a:t>13</a:t>
            </a:fld>
            <a:endParaRPr lang="en-US" altLang="en-US"/>
          </a:p>
        </p:txBody>
      </p:sp>
      <p:sp>
        <p:nvSpPr>
          <p:cNvPr id="14339" name="Rectangle 2">
            <a:extLst>
              <a:ext uri="{FF2B5EF4-FFF2-40B4-BE49-F238E27FC236}">
                <a16:creationId xmlns:a16="http://schemas.microsoft.com/office/drawing/2014/main" id="{0BBD9FD1-F7D1-4541-BA35-2515FA528F31}"/>
              </a:ext>
            </a:extLst>
          </p:cNvPr>
          <p:cNvSpPr>
            <a:spLocks noGrp="1" noChangeArrowheads="1"/>
          </p:cNvSpPr>
          <p:nvPr>
            <p:ph type="title"/>
          </p:nvPr>
        </p:nvSpPr>
        <p:spPr>
          <a:xfrm>
            <a:off x="457200" y="122238"/>
            <a:ext cx="7543800" cy="868362"/>
          </a:xfrm>
        </p:spPr>
        <p:txBody>
          <a:bodyPr/>
          <a:lstStyle/>
          <a:p>
            <a:pPr eaLnBrk="1" hangingPunct="1"/>
            <a:r>
              <a:rPr lang="en-US" altLang="zh-CN" sz="4000">
                <a:ea typeface="宋体" panose="02010600030101010101" pitchFamily="2" charset="-122"/>
              </a:rPr>
              <a:t>Use Case Description Details</a:t>
            </a:r>
            <a:endParaRPr lang="en-US" altLang="zh-CN" sz="3200">
              <a:ea typeface="宋体" panose="02010600030101010101" pitchFamily="2" charset="-122"/>
            </a:endParaRPr>
          </a:p>
        </p:txBody>
      </p:sp>
      <p:sp>
        <p:nvSpPr>
          <p:cNvPr id="14340" name="Rectangle 3">
            <a:extLst>
              <a:ext uri="{FF2B5EF4-FFF2-40B4-BE49-F238E27FC236}">
                <a16:creationId xmlns:a16="http://schemas.microsoft.com/office/drawing/2014/main" id="{CB4171C7-EA9F-4184-B614-75522D00DF5F}"/>
              </a:ext>
            </a:extLst>
          </p:cNvPr>
          <p:cNvSpPr>
            <a:spLocks noGrp="1" noChangeArrowheads="1"/>
          </p:cNvSpPr>
          <p:nvPr>
            <p:ph type="body" sz="half" idx="1"/>
          </p:nvPr>
        </p:nvSpPr>
        <p:spPr>
          <a:xfrm>
            <a:off x="457200" y="1219200"/>
            <a:ext cx="8001000" cy="4953000"/>
          </a:xfrm>
        </p:spPr>
        <p:txBody>
          <a:bodyPr/>
          <a:lstStyle/>
          <a:p>
            <a:pPr eaLnBrk="1" hangingPunct="1">
              <a:lnSpc>
                <a:spcPct val="80000"/>
              </a:lnSpc>
            </a:pPr>
            <a:r>
              <a:rPr lang="en-GB" altLang="zh-CN" sz="2600" dirty="0"/>
              <a:t>Related use cases &lt;&lt;includes&gt;&gt;</a:t>
            </a:r>
            <a:r>
              <a:rPr lang="zh-CN" altLang="en-US" sz="2600" dirty="0"/>
              <a:t>相关用例</a:t>
            </a:r>
            <a:endParaRPr lang="en-GB" altLang="zh-CN" sz="2600" dirty="0"/>
          </a:p>
          <a:p>
            <a:pPr lvl="1" eaLnBrk="1" hangingPunct="1">
              <a:lnSpc>
                <a:spcPct val="80000"/>
              </a:lnSpc>
            </a:pPr>
            <a:r>
              <a:rPr lang="en-GB" altLang="zh-CN" sz="2200" dirty="0"/>
              <a:t>If one use case invokes or includes another</a:t>
            </a:r>
            <a:r>
              <a:rPr lang="zh-CN" altLang="en-US" sz="2200" dirty="0"/>
              <a:t>（如果一个用例调用或包含另一个用例）</a:t>
            </a:r>
            <a:endParaRPr lang="en-GB" altLang="zh-CN" sz="2200" dirty="0"/>
          </a:p>
          <a:p>
            <a:pPr eaLnBrk="1" hangingPunct="1">
              <a:lnSpc>
                <a:spcPct val="80000"/>
              </a:lnSpc>
            </a:pPr>
            <a:r>
              <a:rPr lang="en-GB" altLang="zh-CN" sz="2600" dirty="0"/>
              <a:t>Stakeholders</a:t>
            </a:r>
            <a:r>
              <a:rPr lang="zh-CN" altLang="en-US" sz="2600" dirty="0"/>
              <a:t>（利益相关者）</a:t>
            </a:r>
            <a:endParaRPr lang="en-GB" altLang="zh-CN" sz="2600" dirty="0"/>
          </a:p>
          <a:p>
            <a:pPr lvl="1" eaLnBrk="1" hangingPunct="1">
              <a:lnSpc>
                <a:spcPct val="80000"/>
              </a:lnSpc>
            </a:pPr>
            <a:r>
              <a:rPr lang="en-GB" altLang="zh-CN" sz="2200" dirty="0"/>
              <a:t>Anyone with an interest in the use case</a:t>
            </a:r>
            <a:r>
              <a:rPr lang="zh-CN" altLang="en-US" sz="2200" dirty="0"/>
              <a:t>（任何对用例感兴趣的人）</a:t>
            </a:r>
            <a:endParaRPr lang="en-GB" altLang="zh-CN" sz="2200" dirty="0"/>
          </a:p>
          <a:p>
            <a:pPr eaLnBrk="1" hangingPunct="1">
              <a:lnSpc>
                <a:spcPct val="80000"/>
              </a:lnSpc>
            </a:pPr>
            <a:r>
              <a:rPr lang="en-GB" altLang="zh-CN" sz="2600" dirty="0"/>
              <a:t>Preconditions</a:t>
            </a:r>
            <a:r>
              <a:rPr lang="zh-CN" altLang="en-US" sz="2600" dirty="0"/>
              <a:t>（先决条件）</a:t>
            </a:r>
            <a:endParaRPr lang="en-GB" altLang="zh-CN" sz="2600" dirty="0"/>
          </a:p>
          <a:p>
            <a:pPr lvl="1" eaLnBrk="1" hangingPunct="1">
              <a:lnSpc>
                <a:spcPct val="80000"/>
              </a:lnSpc>
            </a:pPr>
            <a:r>
              <a:rPr lang="en-GB" altLang="zh-CN" sz="2200" dirty="0"/>
              <a:t>What must be true before the use case begins</a:t>
            </a:r>
            <a:r>
              <a:rPr lang="zh-CN" altLang="en-US" sz="2200" dirty="0"/>
              <a:t>（在用例开始之前，什么必须是正确的）</a:t>
            </a:r>
            <a:endParaRPr lang="en-GB" altLang="zh-CN" sz="2200" dirty="0"/>
          </a:p>
          <a:p>
            <a:pPr eaLnBrk="1" hangingPunct="1">
              <a:lnSpc>
                <a:spcPct val="80000"/>
              </a:lnSpc>
            </a:pPr>
            <a:r>
              <a:rPr lang="en-GB" altLang="zh-CN" sz="2600" dirty="0"/>
              <a:t>Post conditions</a:t>
            </a:r>
            <a:r>
              <a:rPr lang="zh-CN" altLang="en-US" sz="2600" dirty="0"/>
              <a:t>（后置条件）</a:t>
            </a:r>
            <a:endParaRPr lang="en-GB" altLang="zh-CN" sz="2600" dirty="0"/>
          </a:p>
          <a:p>
            <a:pPr lvl="1" eaLnBrk="1" hangingPunct="1">
              <a:lnSpc>
                <a:spcPct val="80000"/>
              </a:lnSpc>
            </a:pPr>
            <a:r>
              <a:rPr lang="en-GB" altLang="zh-CN" sz="2200" dirty="0"/>
              <a:t>What must be true when the use case is completed</a:t>
            </a:r>
            <a:r>
              <a:rPr lang="zh-CN" altLang="en-US" sz="2200" dirty="0"/>
              <a:t>（当用例完成时，什么必须是正确的）</a:t>
            </a:r>
            <a:endParaRPr lang="en-GB" altLang="zh-CN" sz="2200" dirty="0"/>
          </a:p>
          <a:p>
            <a:pPr lvl="1" eaLnBrk="1" hangingPunct="1">
              <a:lnSpc>
                <a:spcPct val="80000"/>
              </a:lnSpc>
            </a:pPr>
            <a:r>
              <a:rPr lang="en-GB" altLang="zh-CN" sz="2200" dirty="0"/>
              <a:t>Use for planning test case expected results </a:t>
            </a:r>
            <a:r>
              <a:rPr lang="zh-CN" altLang="en-US" sz="2200" dirty="0"/>
              <a:t>（用于计划测试用例的预期结果）</a:t>
            </a:r>
            <a:endParaRPr lang="en-GB" altLang="zh-CN" sz="2200" dirty="0"/>
          </a:p>
        </p:txBody>
      </p:sp>
      <p:sp>
        <p:nvSpPr>
          <p:cNvPr id="14341" name="Footer Placeholder 4">
            <a:extLst>
              <a:ext uri="{FF2B5EF4-FFF2-40B4-BE49-F238E27FC236}">
                <a16:creationId xmlns:a16="http://schemas.microsoft.com/office/drawing/2014/main" id="{1D321392-EE5F-4BD5-9626-2539AA7136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4342" name="Rectangle 6">
            <a:extLst>
              <a:ext uri="{FF2B5EF4-FFF2-40B4-BE49-F238E27FC236}">
                <a16:creationId xmlns:a16="http://schemas.microsoft.com/office/drawing/2014/main" id="{97C83E12-1E33-4A13-A7AB-F83239284ED8}"/>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286397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4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40">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40">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4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a:extLst>
              <a:ext uri="{FF2B5EF4-FFF2-40B4-BE49-F238E27FC236}">
                <a16:creationId xmlns:a16="http://schemas.microsoft.com/office/drawing/2014/main" id="{2C2BE2F3-19D4-493C-B5D0-FBC526593C9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7E933B2-47F0-42FE-ABB4-499C0DFD168E}" type="slidenum">
              <a:rPr lang="en-US" altLang="en-US"/>
              <a:pPr eaLnBrk="1" hangingPunct="1"/>
              <a:t>14</a:t>
            </a:fld>
            <a:endParaRPr lang="en-US" altLang="en-US"/>
          </a:p>
        </p:txBody>
      </p:sp>
      <p:sp>
        <p:nvSpPr>
          <p:cNvPr id="14339" name="Rectangle 2">
            <a:extLst>
              <a:ext uri="{FF2B5EF4-FFF2-40B4-BE49-F238E27FC236}">
                <a16:creationId xmlns:a16="http://schemas.microsoft.com/office/drawing/2014/main" id="{0BBD9FD1-F7D1-4541-BA35-2515FA528F31}"/>
              </a:ext>
            </a:extLst>
          </p:cNvPr>
          <p:cNvSpPr>
            <a:spLocks noGrp="1" noChangeArrowheads="1"/>
          </p:cNvSpPr>
          <p:nvPr>
            <p:ph type="title"/>
          </p:nvPr>
        </p:nvSpPr>
        <p:spPr>
          <a:xfrm>
            <a:off x="457200" y="122238"/>
            <a:ext cx="7543800" cy="868362"/>
          </a:xfrm>
        </p:spPr>
        <p:txBody>
          <a:bodyPr/>
          <a:lstStyle/>
          <a:p>
            <a:pPr eaLnBrk="1" hangingPunct="1"/>
            <a:r>
              <a:rPr lang="en-US" altLang="zh-CN" sz="4000">
                <a:ea typeface="宋体" panose="02010600030101010101" pitchFamily="2" charset="-122"/>
              </a:rPr>
              <a:t>Use Case Description Details</a:t>
            </a:r>
            <a:endParaRPr lang="en-US" altLang="zh-CN" sz="3200">
              <a:ea typeface="宋体" panose="02010600030101010101" pitchFamily="2" charset="-122"/>
            </a:endParaRPr>
          </a:p>
        </p:txBody>
      </p:sp>
      <p:sp>
        <p:nvSpPr>
          <p:cNvPr id="14340" name="Rectangle 3">
            <a:extLst>
              <a:ext uri="{FF2B5EF4-FFF2-40B4-BE49-F238E27FC236}">
                <a16:creationId xmlns:a16="http://schemas.microsoft.com/office/drawing/2014/main" id="{CB4171C7-EA9F-4184-B614-75522D00DF5F}"/>
              </a:ext>
            </a:extLst>
          </p:cNvPr>
          <p:cNvSpPr>
            <a:spLocks noGrp="1" noChangeArrowheads="1"/>
          </p:cNvSpPr>
          <p:nvPr>
            <p:ph type="body" sz="half" idx="1"/>
          </p:nvPr>
        </p:nvSpPr>
        <p:spPr>
          <a:xfrm>
            <a:off x="457200" y="1219200"/>
            <a:ext cx="8001000" cy="4953000"/>
          </a:xfrm>
        </p:spPr>
        <p:txBody>
          <a:bodyPr/>
          <a:lstStyle/>
          <a:p>
            <a:pPr eaLnBrk="1" hangingPunct="1">
              <a:lnSpc>
                <a:spcPct val="80000"/>
              </a:lnSpc>
            </a:pPr>
            <a:r>
              <a:rPr lang="en-GB" altLang="zh-CN" sz="2600" dirty="0"/>
              <a:t>Flow of activities</a:t>
            </a:r>
            <a:r>
              <a:rPr lang="zh-CN" altLang="en-US" sz="2600" dirty="0"/>
              <a:t>（活动流程）</a:t>
            </a:r>
            <a:endParaRPr lang="en-GB" altLang="zh-CN" sz="2600" dirty="0"/>
          </a:p>
          <a:p>
            <a:pPr lvl="1" eaLnBrk="1" hangingPunct="1">
              <a:lnSpc>
                <a:spcPct val="80000"/>
              </a:lnSpc>
            </a:pPr>
            <a:r>
              <a:rPr lang="en-GB" altLang="zh-CN" sz="2200" dirty="0"/>
              <a:t>The activities that go on between actor and the system</a:t>
            </a:r>
            <a:r>
              <a:rPr lang="zh-CN" altLang="en-US" sz="2200" dirty="0"/>
              <a:t>（参与者和系统之间进行的活动）</a:t>
            </a:r>
            <a:endParaRPr lang="en-GB" altLang="zh-CN" sz="2200" dirty="0"/>
          </a:p>
          <a:p>
            <a:pPr eaLnBrk="1" hangingPunct="1">
              <a:lnSpc>
                <a:spcPct val="80000"/>
              </a:lnSpc>
            </a:pPr>
            <a:r>
              <a:rPr lang="en-GB" altLang="zh-CN" sz="2600" dirty="0"/>
              <a:t>Exception conditions</a:t>
            </a:r>
            <a:r>
              <a:rPr lang="zh-CN" altLang="en-US" sz="2600" dirty="0"/>
              <a:t>（异常条件）</a:t>
            </a:r>
            <a:endParaRPr lang="en-GB" altLang="zh-CN" sz="2600" dirty="0"/>
          </a:p>
          <a:p>
            <a:pPr lvl="1" eaLnBrk="1" hangingPunct="1">
              <a:lnSpc>
                <a:spcPct val="80000"/>
              </a:lnSpc>
            </a:pPr>
            <a:r>
              <a:rPr lang="en-GB" altLang="zh-CN" sz="2200" dirty="0"/>
              <a:t>Where and what can go wrong </a:t>
            </a:r>
            <a:r>
              <a:rPr lang="zh-CN" altLang="en-US" sz="2200" dirty="0"/>
              <a:t>（哪里和什么地方会出错）</a:t>
            </a:r>
            <a:endParaRPr lang="en-GB" altLang="zh-CN" sz="2200" dirty="0"/>
          </a:p>
        </p:txBody>
      </p:sp>
      <p:sp>
        <p:nvSpPr>
          <p:cNvPr id="14341" name="Footer Placeholder 4">
            <a:extLst>
              <a:ext uri="{FF2B5EF4-FFF2-40B4-BE49-F238E27FC236}">
                <a16:creationId xmlns:a16="http://schemas.microsoft.com/office/drawing/2014/main" id="{1D321392-EE5F-4BD5-9626-2539AA7136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4342" name="Rectangle 6">
            <a:extLst>
              <a:ext uri="{FF2B5EF4-FFF2-40B4-BE49-F238E27FC236}">
                <a16:creationId xmlns:a16="http://schemas.microsoft.com/office/drawing/2014/main" id="{97C83E12-1E33-4A13-A7AB-F83239284ED8}"/>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75014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4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34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a:extLst>
              <a:ext uri="{FF2B5EF4-FFF2-40B4-BE49-F238E27FC236}">
                <a16:creationId xmlns:a16="http://schemas.microsoft.com/office/drawing/2014/main" id="{00410BD1-10C4-45EC-A40D-90EDE418E6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4F680C-669B-41A9-8271-2B1DAF254B52}" type="slidenum">
              <a:rPr lang="en-US" altLang="en-US"/>
              <a:pPr eaLnBrk="1" hangingPunct="1"/>
              <a:t>15</a:t>
            </a:fld>
            <a:endParaRPr lang="en-US" altLang="en-US"/>
          </a:p>
        </p:txBody>
      </p:sp>
      <p:sp>
        <p:nvSpPr>
          <p:cNvPr id="16387" name="Rectangle 2">
            <a:extLst>
              <a:ext uri="{FF2B5EF4-FFF2-40B4-BE49-F238E27FC236}">
                <a16:creationId xmlns:a16="http://schemas.microsoft.com/office/drawing/2014/main" id="{7F8F590C-9262-413B-A7A5-97BC329B95C6}"/>
              </a:ext>
            </a:extLst>
          </p:cNvPr>
          <p:cNvSpPr>
            <a:spLocks noGrp="1" noChangeArrowheads="1"/>
          </p:cNvSpPr>
          <p:nvPr>
            <p:ph type="title"/>
          </p:nvPr>
        </p:nvSpPr>
        <p:spPr>
          <a:xfrm>
            <a:off x="304800" y="152400"/>
            <a:ext cx="2514600" cy="4373563"/>
          </a:xfrm>
        </p:spPr>
        <p:txBody>
          <a:bodyPr/>
          <a:lstStyle/>
          <a:p>
            <a:pPr eaLnBrk="1" hangingPunct="1"/>
            <a:r>
              <a:rPr lang="en-US" altLang="zh-CN" sz="3200" dirty="0">
                <a:ea typeface="宋体" panose="02010600030101010101" pitchFamily="2" charset="-122"/>
              </a:rPr>
              <a:t>Another Fully Developed Use Case Description Example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Use case</a:t>
            </a:r>
            <a:br>
              <a:rPr lang="en-US" altLang="zh-CN" sz="2400" dirty="0">
                <a:ea typeface="宋体" panose="02010600030101010101" pitchFamily="2" charset="-122"/>
              </a:rPr>
            </a:br>
            <a:r>
              <a:rPr lang="en-US" altLang="zh-CN" sz="2400" i="1" dirty="0">
                <a:ea typeface="宋体" panose="02010600030101010101" pitchFamily="2" charset="-122"/>
              </a:rPr>
              <a:t>Ship items</a:t>
            </a:r>
            <a:br>
              <a:rPr lang="en-US" altLang="zh-CN" sz="2400" i="1" dirty="0">
                <a:ea typeface="宋体" panose="02010600030101010101" pitchFamily="2" charset="-122"/>
              </a:rPr>
            </a:br>
            <a:r>
              <a:rPr lang="zh-CN" altLang="en-US" sz="2400" i="1" dirty="0">
                <a:ea typeface="宋体" panose="02010600030101010101" pitchFamily="2" charset="-122"/>
              </a:rPr>
              <a:t>（运输物品）</a:t>
            </a:r>
            <a:endParaRPr lang="en-US" altLang="zh-CN" sz="2400" i="1" dirty="0">
              <a:ea typeface="宋体" panose="02010600030101010101" pitchFamily="2" charset="-122"/>
            </a:endParaRPr>
          </a:p>
        </p:txBody>
      </p:sp>
      <p:sp>
        <p:nvSpPr>
          <p:cNvPr id="16388" name="Rectangle 8">
            <a:extLst>
              <a:ext uri="{FF2B5EF4-FFF2-40B4-BE49-F238E27FC236}">
                <a16:creationId xmlns:a16="http://schemas.microsoft.com/office/drawing/2014/main" id="{25455EF9-5BC1-4000-86DF-1879F3E205B1}"/>
              </a:ext>
            </a:extLst>
          </p:cNvPr>
          <p:cNvSpPr>
            <a:spLocks noGrp="1" noChangeArrowheads="1"/>
          </p:cNvSpPr>
          <p:nvPr>
            <p:ph type="body" sz="half" idx="1"/>
          </p:nvPr>
        </p:nvSpPr>
        <p:spPr>
          <a:xfrm>
            <a:off x="457200" y="1447800"/>
            <a:ext cx="8001000" cy="4724400"/>
          </a:xfrm>
          <a:noFill/>
        </p:spPr>
        <p:txBody>
          <a:bodyPr/>
          <a:lstStyle/>
          <a:p>
            <a:pPr eaLnBrk="1" hangingPunct="1"/>
            <a:endParaRPr lang="en-GB" altLang="zh-CN" sz="2600"/>
          </a:p>
          <a:p>
            <a:pPr eaLnBrk="1" hangingPunct="1"/>
            <a:endParaRPr lang="en-GB" altLang="zh-CN" sz="2800"/>
          </a:p>
        </p:txBody>
      </p:sp>
      <p:sp>
        <p:nvSpPr>
          <p:cNvPr id="16389" name="Rectangle 9">
            <a:extLst>
              <a:ext uri="{FF2B5EF4-FFF2-40B4-BE49-F238E27FC236}">
                <a16:creationId xmlns:a16="http://schemas.microsoft.com/office/drawing/2014/main" id="{40B62DE3-46EC-4AF8-96AE-50D81CB4E3DD}"/>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16390" name="Picture 10">
            <a:extLst>
              <a:ext uri="{FF2B5EF4-FFF2-40B4-BE49-F238E27FC236}">
                <a16:creationId xmlns:a16="http://schemas.microsoft.com/office/drawing/2014/main" id="{619E59B5-2864-4545-9B9A-B243B9A90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9425" y="76200"/>
            <a:ext cx="5576888"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Footer Placeholder 4">
            <a:extLst>
              <a:ext uri="{FF2B5EF4-FFF2-40B4-BE49-F238E27FC236}">
                <a16:creationId xmlns:a16="http://schemas.microsoft.com/office/drawing/2014/main" id="{04823AB8-4084-4DB7-B97A-E3387BEE286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6392" name="Rectangle 8">
            <a:extLst>
              <a:ext uri="{FF2B5EF4-FFF2-40B4-BE49-F238E27FC236}">
                <a16:creationId xmlns:a16="http://schemas.microsoft.com/office/drawing/2014/main" id="{4E94A43D-F50B-4036-AECE-F1403CE19EA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矩形 8">
            <a:extLst>
              <a:ext uri="{FF2B5EF4-FFF2-40B4-BE49-F238E27FC236}">
                <a16:creationId xmlns:a16="http://schemas.microsoft.com/office/drawing/2014/main" id="{90A805A7-ED18-4F1D-8A9B-A659CD36AE44}"/>
              </a:ext>
            </a:extLst>
          </p:cNvPr>
          <p:cNvSpPr/>
          <p:nvPr/>
        </p:nvSpPr>
        <p:spPr>
          <a:xfrm>
            <a:off x="3048000" y="76200"/>
            <a:ext cx="5486400" cy="28194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6BC52028-B382-41DF-83A1-1BCFE5202F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1CD7930-0E92-420C-8D4A-B30F00E000E2}" type="slidenum">
              <a:rPr lang="en-US" altLang="en-US"/>
              <a:pPr eaLnBrk="1" hangingPunct="1"/>
              <a:t>16</a:t>
            </a:fld>
            <a:endParaRPr lang="en-US" altLang="en-US"/>
          </a:p>
        </p:txBody>
      </p:sp>
      <p:sp>
        <p:nvSpPr>
          <p:cNvPr id="17411" name="Rectangle 2">
            <a:extLst>
              <a:ext uri="{FF2B5EF4-FFF2-40B4-BE49-F238E27FC236}">
                <a16:creationId xmlns:a16="http://schemas.microsoft.com/office/drawing/2014/main" id="{F26AD4EF-1784-48DA-BC33-BDF6CE47E05F}"/>
              </a:ext>
            </a:extLst>
          </p:cNvPr>
          <p:cNvSpPr>
            <a:spLocks noGrp="1" noChangeArrowheads="1"/>
          </p:cNvSpPr>
          <p:nvPr>
            <p:ph type="title"/>
          </p:nvPr>
        </p:nvSpPr>
        <p:spPr>
          <a:xfrm>
            <a:off x="457200" y="122238"/>
            <a:ext cx="7543800" cy="1096962"/>
          </a:xfrm>
        </p:spPr>
        <p:txBody>
          <a:bodyPr/>
          <a:lstStyle/>
          <a:p>
            <a:pPr eaLnBrk="1" hangingPunct="1"/>
            <a:r>
              <a:rPr lang="en-US" altLang="zh-CN" sz="3000">
                <a:ea typeface="宋体" panose="02010600030101010101" pitchFamily="2" charset="-122"/>
              </a:rPr>
              <a:t>Fully Developed Use Case Description  </a:t>
            </a:r>
            <a:r>
              <a:rPr lang="en-US" altLang="zh-CN" sz="3000" i="1">
                <a:ea typeface="宋体" panose="02010600030101010101" pitchFamily="2" charset="-122"/>
              </a:rPr>
              <a:t>Ship items</a:t>
            </a:r>
            <a:r>
              <a:rPr lang="en-US" altLang="zh-CN" sz="3000">
                <a:ea typeface="宋体" panose="02010600030101010101" pitchFamily="2" charset="-122"/>
              </a:rPr>
              <a:t> (part 1 )</a:t>
            </a:r>
          </a:p>
        </p:txBody>
      </p:sp>
      <p:sp>
        <p:nvSpPr>
          <p:cNvPr id="17413" name="Footer Placeholder 4">
            <a:extLst>
              <a:ext uri="{FF2B5EF4-FFF2-40B4-BE49-F238E27FC236}">
                <a16:creationId xmlns:a16="http://schemas.microsoft.com/office/drawing/2014/main" id="{B07C97E0-5B57-48CC-A95D-9361DBFD043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7414" name="Rectangle 6">
            <a:extLst>
              <a:ext uri="{FF2B5EF4-FFF2-40B4-BE49-F238E27FC236}">
                <a16:creationId xmlns:a16="http://schemas.microsoft.com/office/drawing/2014/main" id="{959E3B0E-5B0B-4EA6-A2E8-8ED29E968F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aphicFrame>
        <p:nvGraphicFramePr>
          <p:cNvPr id="2" name="表格 2">
            <a:extLst>
              <a:ext uri="{FF2B5EF4-FFF2-40B4-BE49-F238E27FC236}">
                <a16:creationId xmlns:a16="http://schemas.microsoft.com/office/drawing/2014/main" id="{62E6B56E-D59C-4560-AD69-DD7AD458C3A2}"/>
              </a:ext>
            </a:extLst>
          </p:cNvPr>
          <p:cNvGraphicFramePr>
            <a:graphicFrameLocks noGrp="1"/>
          </p:cNvGraphicFramePr>
          <p:nvPr>
            <p:extLst>
              <p:ext uri="{D42A27DB-BD31-4B8C-83A1-F6EECF244321}">
                <p14:modId xmlns:p14="http://schemas.microsoft.com/office/powerpoint/2010/main" val="1175493267"/>
              </p:ext>
            </p:extLst>
          </p:nvPr>
        </p:nvGraphicFramePr>
        <p:xfrm>
          <a:off x="609600" y="1397000"/>
          <a:ext cx="8001000" cy="4424680"/>
        </p:xfrm>
        <a:graphic>
          <a:graphicData uri="http://schemas.openxmlformats.org/drawingml/2006/table">
            <a:tbl>
              <a:tblPr firstRow="1" bandRow="1">
                <a:tableStyleId>{5C22544A-7EE6-4342-B048-85BDC9FD1C3A}</a:tableStyleId>
              </a:tblPr>
              <a:tblGrid>
                <a:gridCol w="2000250">
                  <a:extLst>
                    <a:ext uri="{9D8B030D-6E8A-4147-A177-3AD203B41FA5}">
                      <a16:colId xmlns:a16="http://schemas.microsoft.com/office/drawing/2014/main" val="3870828586"/>
                    </a:ext>
                  </a:extLst>
                </a:gridCol>
                <a:gridCol w="6000750">
                  <a:extLst>
                    <a:ext uri="{9D8B030D-6E8A-4147-A177-3AD203B41FA5}">
                      <a16:colId xmlns:a16="http://schemas.microsoft.com/office/drawing/2014/main" val="2904227075"/>
                    </a:ext>
                  </a:extLst>
                </a:gridCol>
              </a:tblGrid>
              <a:tr h="370840">
                <a:tc>
                  <a:txBody>
                    <a:bodyPr/>
                    <a:lstStyle/>
                    <a:p>
                      <a:r>
                        <a:rPr lang="zh-CN" altLang="en-US" dirty="0"/>
                        <a:t>用例名</a:t>
                      </a:r>
                    </a:p>
                  </a:txBody>
                  <a:tcPr/>
                </a:tc>
                <a:tc>
                  <a:txBody>
                    <a:bodyPr/>
                    <a:lstStyle/>
                    <a:p>
                      <a:r>
                        <a:rPr lang="zh-CN" altLang="en-US" dirty="0"/>
                        <a:t>运输物品</a:t>
                      </a:r>
                    </a:p>
                  </a:txBody>
                  <a:tcPr/>
                </a:tc>
                <a:extLst>
                  <a:ext uri="{0D108BD9-81ED-4DB2-BD59-A6C34878D82A}">
                    <a16:rowId xmlns:a16="http://schemas.microsoft.com/office/drawing/2014/main" val="2754567079"/>
                  </a:ext>
                </a:extLst>
              </a:tr>
              <a:tr h="370840">
                <a:tc>
                  <a:txBody>
                    <a:bodyPr/>
                    <a:lstStyle/>
                    <a:p>
                      <a:r>
                        <a:rPr lang="zh-CN" altLang="en-US" dirty="0"/>
                        <a:t>场景</a:t>
                      </a:r>
                    </a:p>
                  </a:txBody>
                  <a:tcPr/>
                </a:tc>
                <a:tc>
                  <a:txBody>
                    <a:bodyPr/>
                    <a:lstStyle/>
                    <a:p>
                      <a:r>
                        <a:rPr lang="zh-CN" altLang="en-US" dirty="0"/>
                        <a:t>为一个新的订单运输物品</a:t>
                      </a:r>
                    </a:p>
                  </a:txBody>
                  <a:tcPr/>
                </a:tc>
                <a:extLst>
                  <a:ext uri="{0D108BD9-81ED-4DB2-BD59-A6C34878D82A}">
                    <a16:rowId xmlns:a16="http://schemas.microsoft.com/office/drawing/2014/main" val="3365803855"/>
                  </a:ext>
                </a:extLst>
              </a:tr>
              <a:tr h="370840">
                <a:tc>
                  <a:txBody>
                    <a:bodyPr/>
                    <a:lstStyle/>
                    <a:p>
                      <a:r>
                        <a:rPr lang="zh-CN" altLang="en-US" dirty="0"/>
                        <a:t>触发事件</a:t>
                      </a:r>
                    </a:p>
                  </a:txBody>
                  <a:tcPr/>
                </a:tc>
                <a:tc>
                  <a:txBody>
                    <a:bodyPr/>
                    <a:lstStyle/>
                    <a:p>
                      <a:r>
                        <a:rPr lang="zh-CN" altLang="en-US" dirty="0"/>
                        <a:t>运输新订单</a:t>
                      </a:r>
                    </a:p>
                  </a:txBody>
                  <a:tcPr/>
                </a:tc>
                <a:extLst>
                  <a:ext uri="{0D108BD9-81ED-4DB2-BD59-A6C34878D82A}">
                    <a16:rowId xmlns:a16="http://schemas.microsoft.com/office/drawing/2014/main" val="1020167535"/>
                  </a:ext>
                </a:extLst>
              </a:tr>
              <a:tr h="370840">
                <a:tc>
                  <a:txBody>
                    <a:bodyPr/>
                    <a:lstStyle/>
                    <a:p>
                      <a:r>
                        <a:rPr lang="zh-CN" altLang="en-US" dirty="0"/>
                        <a:t>简短描述</a:t>
                      </a:r>
                    </a:p>
                  </a:txBody>
                  <a:tcPr/>
                </a:tc>
                <a:tc>
                  <a:txBody>
                    <a:bodyPr/>
                    <a:lstStyle/>
                    <a:p>
                      <a:r>
                        <a:rPr lang="zh-CN" altLang="en-US" dirty="0"/>
                        <a:t>运输订单，找到对应物品并记录这些物品被运输，记录哪些物品缺货，送出运输</a:t>
                      </a:r>
                    </a:p>
                  </a:txBody>
                  <a:tcPr/>
                </a:tc>
                <a:extLst>
                  <a:ext uri="{0D108BD9-81ED-4DB2-BD59-A6C34878D82A}">
                    <a16:rowId xmlns:a16="http://schemas.microsoft.com/office/drawing/2014/main" val="1723542303"/>
                  </a:ext>
                </a:extLst>
              </a:tr>
              <a:tr h="370840">
                <a:tc>
                  <a:txBody>
                    <a:bodyPr/>
                    <a:lstStyle/>
                    <a:p>
                      <a:r>
                        <a:rPr lang="zh-CN" altLang="en-US" dirty="0"/>
                        <a:t>用户</a:t>
                      </a:r>
                    </a:p>
                  </a:txBody>
                  <a:tcPr/>
                </a:tc>
                <a:tc>
                  <a:txBody>
                    <a:bodyPr/>
                    <a:lstStyle/>
                    <a:p>
                      <a:r>
                        <a:rPr lang="zh-CN" altLang="en-US" dirty="0"/>
                        <a:t>发货员</a:t>
                      </a:r>
                    </a:p>
                  </a:txBody>
                  <a:tcPr/>
                </a:tc>
                <a:extLst>
                  <a:ext uri="{0D108BD9-81ED-4DB2-BD59-A6C34878D82A}">
                    <a16:rowId xmlns:a16="http://schemas.microsoft.com/office/drawing/2014/main" val="2089797539"/>
                  </a:ext>
                </a:extLst>
              </a:tr>
              <a:tr h="370840">
                <a:tc>
                  <a:txBody>
                    <a:bodyPr/>
                    <a:lstStyle/>
                    <a:p>
                      <a:r>
                        <a:rPr lang="zh-CN" altLang="en-US" dirty="0"/>
                        <a:t>相关用例</a:t>
                      </a:r>
                    </a:p>
                  </a:txBody>
                  <a:tcPr/>
                </a:tc>
                <a:tc>
                  <a:txBody>
                    <a:bodyPr/>
                    <a:lstStyle/>
                    <a:p>
                      <a:r>
                        <a:rPr lang="zh-CN" altLang="en-US" dirty="0"/>
                        <a:t>无</a:t>
                      </a:r>
                    </a:p>
                  </a:txBody>
                  <a:tcPr/>
                </a:tc>
                <a:extLst>
                  <a:ext uri="{0D108BD9-81ED-4DB2-BD59-A6C34878D82A}">
                    <a16:rowId xmlns:a16="http://schemas.microsoft.com/office/drawing/2014/main" val="988916350"/>
                  </a:ext>
                </a:extLst>
              </a:tr>
              <a:tr h="370840">
                <a:tc>
                  <a:txBody>
                    <a:bodyPr/>
                    <a:lstStyle/>
                    <a:p>
                      <a:r>
                        <a:rPr lang="zh-CN" altLang="en-US" dirty="0"/>
                        <a:t>利益相关者</a:t>
                      </a:r>
                    </a:p>
                  </a:txBody>
                  <a:tcPr/>
                </a:tc>
                <a:tc>
                  <a:txBody>
                    <a:bodyPr/>
                    <a:lstStyle/>
                    <a:p>
                      <a:r>
                        <a:rPr lang="zh-CN" altLang="en-US" dirty="0"/>
                        <a:t>销售，市场营销，运输，仓库管理</a:t>
                      </a:r>
                    </a:p>
                  </a:txBody>
                  <a:tcPr/>
                </a:tc>
                <a:extLst>
                  <a:ext uri="{0D108BD9-81ED-4DB2-BD59-A6C34878D82A}">
                    <a16:rowId xmlns:a16="http://schemas.microsoft.com/office/drawing/2014/main" val="2804172787"/>
                  </a:ext>
                </a:extLst>
              </a:tr>
              <a:tr h="370840">
                <a:tc>
                  <a:txBody>
                    <a:bodyPr/>
                    <a:lstStyle/>
                    <a:p>
                      <a:r>
                        <a:rPr lang="zh-CN" altLang="en-US" dirty="0"/>
                        <a:t>前置状态</a:t>
                      </a:r>
                    </a:p>
                  </a:txBody>
                  <a:tcPr/>
                </a:tc>
                <a:tc>
                  <a:txBody>
                    <a:bodyPr/>
                    <a:lstStyle/>
                    <a:p>
                      <a:r>
                        <a:rPr lang="zh-CN" altLang="en-US" dirty="0"/>
                        <a:t>客户和地址必须存在；订单必须存在，订单物品必须存在</a:t>
                      </a:r>
                    </a:p>
                  </a:txBody>
                  <a:tcPr/>
                </a:tc>
                <a:extLst>
                  <a:ext uri="{0D108BD9-81ED-4DB2-BD59-A6C34878D82A}">
                    <a16:rowId xmlns:a16="http://schemas.microsoft.com/office/drawing/2014/main" val="2514919039"/>
                  </a:ext>
                </a:extLst>
              </a:tr>
              <a:tr h="370840">
                <a:tc>
                  <a:txBody>
                    <a:bodyPr/>
                    <a:lstStyle/>
                    <a:p>
                      <a:r>
                        <a:rPr lang="zh-CN" altLang="en-US" dirty="0"/>
                        <a:t>后置状态</a:t>
                      </a:r>
                    </a:p>
                  </a:txBody>
                  <a:tcPr/>
                </a:tc>
                <a:tc>
                  <a:txBody>
                    <a:bodyPr/>
                    <a:lstStyle/>
                    <a:p>
                      <a:r>
                        <a:rPr lang="zh-CN" altLang="en-US" dirty="0"/>
                        <a:t>运输由运输者创建和关联；</a:t>
                      </a:r>
                      <a:endParaRPr lang="en-US" altLang="zh-CN" dirty="0"/>
                    </a:p>
                    <a:p>
                      <a:r>
                        <a:rPr lang="zh-CN" altLang="en-US" dirty="0"/>
                        <a:t>运输的订单物品会跟着运输状态而更新；</a:t>
                      </a:r>
                      <a:endParaRPr lang="en-US" altLang="zh-CN" dirty="0"/>
                    </a:p>
                    <a:p>
                      <a:r>
                        <a:rPr lang="zh-CN" altLang="en-US" dirty="0"/>
                        <a:t>未运输的物品应当被标记为缺货预定；</a:t>
                      </a:r>
                      <a:endParaRPr lang="en-US" altLang="zh-CN" dirty="0"/>
                    </a:p>
                    <a:p>
                      <a:r>
                        <a:rPr lang="zh-CN" altLang="en-US" dirty="0"/>
                        <a:t>运输标签被确认并生成</a:t>
                      </a:r>
                    </a:p>
                  </a:txBody>
                  <a:tcPr/>
                </a:tc>
                <a:extLst>
                  <a:ext uri="{0D108BD9-81ED-4DB2-BD59-A6C34878D82A}">
                    <a16:rowId xmlns:a16="http://schemas.microsoft.com/office/drawing/2014/main" val="288809035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a:extLst>
              <a:ext uri="{FF2B5EF4-FFF2-40B4-BE49-F238E27FC236}">
                <a16:creationId xmlns:a16="http://schemas.microsoft.com/office/drawing/2014/main" id="{00410BD1-10C4-45EC-A40D-90EDE418E6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4F680C-669B-41A9-8271-2B1DAF254B52}" type="slidenum">
              <a:rPr lang="en-US" altLang="en-US"/>
              <a:pPr eaLnBrk="1" hangingPunct="1"/>
              <a:t>17</a:t>
            </a:fld>
            <a:endParaRPr lang="en-US" altLang="en-US"/>
          </a:p>
        </p:txBody>
      </p:sp>
      <p:sp>
        <p:nvSpPr>
          <p:cNvPr id="16387" name="Rectangle 2">
            <a:extLst>
              <a:ext uri="{FF2B5EF4-FFF2-40B4-BE49-F238E27FC236}">
                <a16:creationId xmlns:a16="http://schemas.microsoft.com/office/drawing/2014/main" id="{7F8F590C-9262-413B-A7A5-97BC329B95C6}"/>
              </a:ext>
            </a:extLst>
          </p:cNvPr>
          <p:cNvSpPr>
            <a:spLocks noGrp="1" noChangeArrowheads="1"/>
          </p:cNvSpPr>
          <p:nvPr>
            <p:ph type="title"/>
          </p:nvPr>
        </p:nvSpPr>
        <p:spPr>
          <a:xfrm>
            <a:off x="304800" y="152400"/>
            <a:ext cx="2514600" cy="4373563"/>
          </a:xfrm>
        </p:spPr>
        <p:txBody>
          <a:bodyPr/>
          <a:lstStyle/>
          <a:p>
            <a:pPr eaLnBrk="1" hangingPunct="1"/>
            <a:r>
              <a:rPr lang="en-US" altLang="zh-CN" sz="3200">
                <a:ea typeface="宋体" panose="02010600030101010101" pitchFamily="2" charset="-122"/>
              </a:rPr>
              <a:t>Another Fully Developed Use Case Description Example</a:t>
            </a:r>
            <a:br>
              <a:rPr lang="en-US" altLang="zh-CN" sz="3200">
                <a:ea typeface="宋体" panose="02010600030101010101" pitchFamily="2" charset="-122"/>
              </a:rPr>
            </a:br>
            <a:br>
              <a:rPr lang="en-US" altLang="zh-CN" sz="3200">
                <a:ea typeface="宋体" panose="02010600030101010101" pitchFamily="2" charset="-122"/>
              </a:rPr>
            </a:br>
            <a:r>
              <a:rPr lang="en-US" altLang="zh-CN" sz="2400">
                <a:ea typeface="宋体" panose="02010600030101010101" pitchFamily="2" charset="-122"/>
              </a:rPr>
              <a:t>Use case</a:t>
            </a:r>
            <a:br>
              <a:rPr lang="en-US" altLang="zh-CN" sz="2400">
                <a:ea typeface="宋体" panose="02010600030101010101" pitchFamily="2" charset="-122"/>
              </a:rPr>
            </a:br>
            <a:r>
              <a:rPr lang="en-US" altLang="zh-CN" sz="2400" i="1">
                <a:ea typeface="宋体" panose="02010600030101010101" pitchFamily="2" charset="-122"/>
              </a:rPr>
              <a:t>Ship items</a:t>
            </a:r>
          </a:p>
        </p:txBody>
      </p:sp>
      <p:sp>
        <p:nvSpPr>
          <p:cNvPr id="16388" name="Rectangle 8">
            <a:extLst>
              <a:ext uri="{FF2B5EF4-FFF2-40B4-BE49-F238E27FC236}">
                <a16:creationId xmlns:a16="http://schemas.microsoft.com/office/drawing/2014/main" id="{25455EF9-5BC1-4000-86DF-1879F3E205B1}"/>
              </a:ext>
            </a:extLst>
          </p:cNvPr>
          <p:cNvSpPr>
            <a:spLocks noGrp="1" noChangeArrowheads="1"/>
          </p:cNvSpPr>
          <p:nvPr>
            <p:ph type="body" sz="half" idx="1"/>
          </p:nvPr>
        </p:nvSpPr>
        <p:spPr>
          <a:xfrm>
            <a:off x="457200" y="1447800"/>
            <a:ext cx="8001000" cy="4724400"/>
          </a:xfrm>
          <a:noFill/>
        </p:spPr>
        <p:txBody>
          <a:bodyPr/>
          <a:lstStyle/>
          <a:p>
            <a:pPr eaLnBrk="1" hangingPunct="1"/>
            <a:endParaRPr lang="en-GB" altLang="zh-CN" sz="2600"/>
          </a:p>
          <a:p>
            <a:pPr eaLnBrk="1" hangingPunct="1"/>
            <a:endParaRPr lang="en-GB" altLang="zh-CN" sz="2800"/>
          </a:p>
        </p:txBody>
      </p:sp>
      <p:sp>
        <p:nvSpPr>
          <p:cNvPr id="16389" name="Rectangle 9">
            <a:extLst>
              <a:ext uri="{FF2B5EF4-FFF2-40B4-BE49-F238E27FC236}">
                <a16:creationId xmlns:a16="http://schemas.microsoft.com/office/drawing/2014/main" id="{40B62DE3-46EC-4AF8-96AE-50D81CB4E3DD}"/>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16390" name="Picture 10">
            <a:extLst>
              <a:ext uri="{FF2B5EF4-FFF2-40B4-BE49-F238E27FC236}">
                <a16:creationId xmlns:a16="http://schemas.microsoft.com/office/drawing/2014/main" id="{619E59B5-2864-4545-9B9A-B243B9A90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9425" y="76200"/>
            <a:ext cx="5576888"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Footer Placeholder 4">
            <a:extLst>
              <a:ext uri="{FF2B5EF4-FFF2-40B4-BE49-F238E27FC236}">
                <a16:creationId xmlns:a16="http://schemas.microsoft.com/office/drawing/2014/main" id="{04823AB8-4084-4DB7-B97A-E3387BEE286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6392" name="Rectangle 8">
            <a:extLst>
              <a:ext uri="{FF2B5EF4-FFF2-40B4-BE49-F238E27FC236}">
                <a16:creationId xmlns:a16="http://schemas.microsoft.com/office/drawing/2014/main" id="{4E94A43D-F50B-4036-AECE-F1403CE19EA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矩形 8">
            <a:extLst>
              <a:ext uri="{FF2B5EF4-FFF2-40B4-BE49-F238E27FC236}">
                <a16:creationId xmlns:a16="http://schemas.microsoft.com/office/drawing/2014/main" id="{90A805A7-ED18-4F1D-8A9B-A659CD36AE44}"/>
              </a:ext>
            </a:extLst>
          </p:cNvPr>
          <p:cNvSpPr/>
          <p:nvPr/>
        </p:nvSpPr>
        <p:spPr>
          <a:xfrm>
            <a:off x="3064669" y="2895600"/>
            <a:ext cx="5486400" cy="33528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61470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D1B5BB6E-484F-4011-9A5C-DED4851417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D90EF88-89EE-45AA-9789-A65B53479EBD}" type="slidenum">
              <a:rPr lang="en-US" altLang="en-US"/>
              <a:pPr eaLnBrk="1" hangingPunct="1"/>
              <a:t>18</a:t>
            </a:fld>
            <a:endParaRPr lang="en-US" altLang="en-US"/>
          </a:p>
        </p:txBody>
      </p:sp>
      <p:sp>
        <p:nvSpPr>
          <p:cNvPr id="13315" name="Rectangle 2">
            <a:extLst>
              <a:ext uri="{FF2B5EF4-FFF2-40B4-BE49-F238E27FC236}">
                <a16:creationId xmlns:a16="http://schemas.microsoft.com/office/drawing/2014/main" id="{D92A5C5B-C163-4A84-8A6F-0913D316B5FA}"/>
              </a:ext>
            </a:extLst>
          </p:cNvPr>
          <p:cNvSpPr>
            <a:spLocks noGrp="1" noChangeArrowheads="1"/>
          </p:cNvSpPr>
          <p:nvPr>
            <p:ph type="title"/>
          </p:nvPr>
        </p:nvSpPr>
        <p:spPr>
          <a:xfrm>
            <a:off x="457200" y="122238"/>
            <a:ext cx="7543800" cy="1096962"/>
          </a:xfrm>
        </p:spPr>
        <p:txBody>
          <a:bodyPr/>
          <a:lstStyle/>
          <a:p>
            <a:pPr eaLnBrk="1" hangingPunct="1"/>
            <a:r>
              <a:rPr lang="en-US" altLang="zh-CN" sz="3000">
                <a:ea typeface="宋体" panose="02010600030101010101" pitchFamily="2" charset="-122"/>
              </a:rPr>
              <a:t>Fully Developed Use Case Description </a:t>
            </a:r>
            <a:r>
              <a:rPr lang="en-US" altLang="zh-CN" sz="3000" i="1">
                <a:ea typeface="宋体" panose="02010600030101010101" pitchFamily="2" charset="-122"/>
              </a:rPr>
              <a:t>Create customer account</a:t>
            </a:r>
            <a:r>
              <a:rPr lang="en-US" altLang="zh-CN" sz="3000">
                <a:ea typeface="宋体" panose="02010600030101010101" pitchFamily="2" charset="-122"/>
              </a:rPr>
              <a:t> (part 2 )</a:t>
            </a:r>
          </a:p>
        </p:txBody>
      </p:sp>
      <p:sp>
        <p:nvSpPr>
          <p:cNvPr id="13317" name="Footer Placeholder 4">
            <a:extLst>
              <a:ext uri="{FF2B5EF4-FFF2-40B4-BE49-F238E27FC236}">
                <a16:creationId xmlns:a16="http://schemas.microsoft.com/office/drawing/2014/main" id="{8438D52B-1FCF-4788-8146-AC0A85E0330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3318" name="Rectangle 6">
            <a:extLst>
              <a:ext uri="{FF2B5EF4-FFF2-40B4-BE49-F238E27FC236}">
                <a16:creationId xmlns:a16="http://schemas.microsoft.com/office/drawing/2014/main" id="{113F9120-88CD-4264-9471-FE61070DBFC2}"/>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aphicFrame>
        <p:nvGraphicFramePr>
          <p:cNvPr id="2" name="表格 2">
            <a:extLst>
              <a:ext uri="{FF2B5EF4-FFF2-40B4-BE49-F238E27FC236}">
                <a16:creationId xmlns:a16="http://schemas.microsoft.com/office/drawing/2014/main" id="{D931FE2E-D55D-4732-B354-339B431561A9}"/>
              </a:ext>
            </a:extLst>
          </p:cNvPr>
          <p:cNvGraphicFramePr>
            <a:graphicFrameLocks noGrp="1"/>
          </p:cNvGraphicFramePr>
          <p:nvPr>
            <p:extLst>
              <p:ext uri="{D42A27DB-BD31-4B8C-83A1-F6EECF244321}">
                <p14:modId xmlns:p14="http://schemas.microsoft.com/office/powerpoint/2010/main" val="1679876563"/>
              </p:ext>
            </p:extLst>
          </p:nvPr>
        </p:nvGraphicFramePr>
        <p:xfrm>
          <a:off x="609598" y="1397000"/>
          <a:ext cx="8382001" cy="4759960"/>
        </p:xfrm>
        <a:graphic>
          <a:graphicData uri="http://schemas.openxmlformats.org/drawingml/2006/table">
            <a:tbl>
              <a:tblPr firstRow="1" bandRow="1">
                <a:tableStyleId>{5C22544A-7EE6-4342-B048-85BDC9FD1C3A}</a:tableStyleId>
              </a:tblPr>
              <a:tblGrid>
                <a:gridCol w="1619060">
                  <a:extLst>
                    <a:ext uri="{9D8B030D-6E8A-4147-A177-3AD203B41FA5}">
                      <a16:colId xmlns:a16="http://schemas.microsoft.com/office/drawing/2014/main" val="1479009594"/>
                    </a:ext>
                  </a:extLst>
                </a:gridCol>
                <a:gridCol w="3319070">
                  <a:extLst>
                    <a:ext uri="{9D8B030D-6E8A-4147-A177-3AD203B41FA5}">
                      <a16:colId xmlns:a16="http://schemas.microsoft.com/office/drawing/2014/main" val="1360168650"/>
                    </a:ext>
                  </a:extLst>
                </a:gridCol>
                <a:gridCol w="3443871">
                  <a:extLst>
                    <a:ext uri="{9D8B030D-6E8A-4147-A177-3AD203B41FA5}">
                      <a16:colId xmlns:a16="http://schemas.microsoft.com/office/drawing/2014/main" val="1258839957"/>
                    </a:ext>
                  </a:extLst>
                </a:gridCol>
              </a:tblGrid>
              <a:tr h="370840">
                <a:tc>
                  <a:txBody>
                    <a:bodyPr/>
                    <a:lstStyle/>
                    <a:p>
                      <a:r>
                        <a:rPr lang="zh-CN" altLang="en-US" b="1" dirty="0">
                          <a:solidFill>
                            <a:schemeClr val="tx1"/>
                          </a:solidFill>
                        </a:rPr>
                        <a:t>活动流程</a:t>
                      </a:r>
                    </a:p>
                  </a:txBody>
                  <a:tcPr/>
                </a:tc>
                <a:tc>
                  <a:txBody>
                    <a:bodyPr/>
                    <a:lstStyle/>
                    <a:p>
                      <a:r>
                        <a:rPr lang="zh-CN" altLang="en-US" dirty="0">
                          <a:solidFill>
                            <a:schemeClr val="tx1"/>
                          </a:solidFill>
                        </a:rPr>
                        <a:t>用户</a:t>
                      </a:r>
                    </a:p>
                  </a:txBody>
                  <a:tcPr/>
                </a:tc>
                <a:tc>
                  <a:txBody>
                    <a:bodyPr/>
                    <a:lstStyle/>
                    <a:p>
                      <a:r>
                        <a:rPr lang="zh-CN" altLang="en-US" dirty="0">
                          <a:solidFill>
                            <a:schemeClr val="tx1"/>
                          </a:solidFill>
                        </a:rPr>
                        <a:t>系统</a:t>
                      </a:r>
                    </a:p>
                  </a:txBody>
                  <a:tcPr/>
                </a:tc>
                <a:extLst>
                  <a:ext uri="{0D108BD9-81ED-4DB2-BD59-A6C34878D82A}">
                    <a16:rowId xmlns:a16="http://schemas.microsoft.com/office/drawing/2014/main" val="1891073823"/>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1.</a:t>
                      </a:r>
                      <a:r>
                        <a:rPr lang="zh-CN" altLang="en-US" b="0" i="0" dirty="0">
                          <a:solidFill>
                            <a:srgbClr val="2A2B2E"/>
                          </a:solidFill>
                          <a:effectLst/>
                          <a:latin typeface="PingFang SC"/>
                        </a:rPr>
                        <a:t>请求订单和订单物品的信息</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1.1 </a:t>
                      </a:r>
                      <a:r>
                        <a:rPr lang="zh-CN" altLang="en-US" b="0" i="0" dirty="0">
                          <a:solidFill>
                            <a:srgbClr val="2A2B2E"/>
                          </a:solidFill>
                          <a:effectLst/>
                          <a:latin typeface="PingFang SC"/>
                        </a:rPr>
                        <a:t>系统查到订单并且返回客户，地址，订单，和订单信息</a:t>
                      </a:r>
                      <a:endParaRPr lang="en-US" altLang="zh-CN" b="0" i="0" dirty="0">
                        <a:solidFill>
                          <a:srgbClr val="2A2B2E"/>
                        </a:solidFill>
                        <a:effectLst/>
                        <a:latin typeface="PingFang SC"/>
                      </a:endParaRPr>
                    </a:p>
                  </a:txBody>
                  <a:tcPr/>
                </a:tc>
                <a:extLst>
                  <a:ext uri="{0D108BD9-81ED-4DB2-BD59-A6C34878D82A}">
                    <a16:rowId xmlns:a16="http://schemas.microsoft.com/office/drawing/2014/main" val="559264319"/>
                  </a:ext>
                </a:extLst>
              </a:tr>
              <a:tr h="4470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2.</a:t>
                      </a:r>
                      <a:r>
                        <a:rPr lang="zh-CN" altLang="en-US" b="0" i="0" dirty="0">
                          <a:solidFill>
                            <a:srgbClr val="2A2B2E"/>
                          </a:solidFill>
                          <a:effectLst/>
                          <a:latin typeface="PingFang SC"/>
                        </a:rPr>
                        <a:t>为运输分配运输人员</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2.1</a:t>
                      </a:r>
                      <a:r>
                        <a:rPr lang="zh-CN" altLang="en-US" b="0" i="0" dirty="0">
                          <a:solidFill>
                            <a:srgbClr val="2A2B2E"/>
                          </a:solidFill>
                          <a:effectLst/>
                          <a:latin typeface="PingFang SC"/>
                        </a:rPr>
                        <a:t>系统创建运输并关联相关运输人员</a:t>
                      </a:r>
                      <a:endParaRPr lang="en-US" altLang="zh-CN" b="0" i="0" dirty="0">
                        <a:solidFill>
                          <a:srgbClr val="2A2B2E"/>
                        </a:solidFill>
                        <a:effectLst/>
                        <a:latin typeface="PingFang SC"/>
                      </a:endParaRPr>
                    </a:p>
                  </a:txBody>
                  <a:tcPr/>
                </a:tc>
                <a:extLst>
                  <a:ext uri="{0D108BD9-81ED-4DB2-BD59-A6C34878D82A}">
                    <a16:rowId xmlns:a16="http://schemas.microsoft.com/office/drawing/2014/main" val="3076502447"/>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3.</a:t>
                      </a:r>
                      <a:r>
                        <a:rPr lang="zh-CN" altLang="en-US" b="0" i="0" dirty="0">
                          <a:solidFill>
                            <a:srgbClr val="2A2B2E"/>
                          </a:solidFill>
                          <a:effectLst/>
                          <a:latin typeface="PingFang SC"/>
                        </a:rPr>
                        <a:t>对于每一个有货的物品，更新他们的运输信息为已运输</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3.1</a:t>
                      </a:r>
                      <a:r>
                        <a:rPr lang="zh-CN" altLang="en-US" b="0" i="0" dirty="0">
                          <a:solidFill>
                            <a:srgbClr val="2A2B2E"/>
                          </a:solidFill>
                          <a:effectLst/>
                          <a:latin typeface="PingFang SC"/>
                        </a:rPr>
                        <a:t>系统更新订单物品为已运输并关联到运输信息</a:t>
                      </a:r>
                      <a:endParaRPr lang="en-US" altLang="zh-CN" b="0" i="0" dirty="0">
                        <a:solidFill>
                          <a:srgbClr val="2A2B2E"/>
                        </a:solidFill>
                        <a:effectLst/>
                        <a:latin typeface="PingFang SC"/>
                      </a:endParaRPr>
                    </a:p>
                  </a:txBody>
                  <a:tcPr/>
                </a:tc>
                <a:extLst>
                  <a:ext uri="{0D108BD9-81ED-4DB2-BD59-A6C34878D82A}">
                    <a16:rowId xmlns:a16="http://schemas.microsoft.com/office/drawing/2014/main" val="2040811417"/>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4. </a:t>
                      </a:r>
                      <a:r>
                        <a:rPr lang="zh-CN" altLang="en-US" b="0" i="0" dirty="0">
                          <a:solidFill>
                            <a:srgbClr val="2A2B2E"/>
                          </a:solidFill>
                          <a:effectLst/>
                          <a:latin typeface="PingFang SC"/>
                        </a:rPr>
                        <a:t>对每一个缺货的物品，记录为缺货订购订单</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4.1 </a:t>
                      </a:r>
                      <a:r>
                        <a:rPr lang="zh-CN" altLang="en-US" b="0" i="0" dirty="0">
                          <a:solidFill>
                            <a:srgbClr val="2A2B2E"/>
                          </a:solidFill>
                          <a:effectLst/>
                          <a:latin typeface="PingFang SC"/>
                        </a:rPr>
                        <a:t>系统更新订单物品为缺货订单</a:t>
                      </a:r>
                      <a:endParaRPr lang="en-US" altLang="zh-CN" b="0" i="0" dirty="0">
                        <a:solidFill>
                          <a:srgbClr val="2A2B2E"/>
                        </a:solidFill>
                        <a:effectLst/>
                        <a:latin typeface="PingFang SC"/>
                      </a:endParaRPr>
                    </a:p>
                  </a:txBody>
                  <a:tcPr/>
                </a:tc>
                <a:extLst>
                  <a:ext uri="{0D108BD9-81ED-4DB2-BD59-A6C34878D82A}">
                    <a16:rowId xmlns:a16="http://schemas.microsoft.com/office/drawing/2014/main" val="2261519618"/>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5. </a:t>
                      </a:r>
                      <a:r>
                        <a:rPr lang="zh-CN" altLang="en-US" b="0" i="0" dirty="0">
                          <a:solidFill>
                            <a:srgbClr val="2A2B2E"/>
                          </a:solidFill>
                          <a:effectLst/>
                          <a:latin typeface="PingFang SC"/>
                        </a:rPr>
                        <a:t>运输请求运输标签，标签上提供包裹大小和重量</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5.1 </a:t>
                      </a:r>
                      <a:r>
                        <a:rPr lang="zh-CN" altLang="en-US" b="0" i="0" dirty="0">
                          <a:solidFill>
                            <a:srgbClr val="2A2B2E"/>
                          </a:solidFill>
                          <a:effectLst/>
                          <a:latin typeface="PingFang SC"/>
                        </a:rPr>
                        <a:t>系统生成运输标签</a:t>
                      </a:r>
                      <a:endParaRPr lang="en-US" altLang="zh-CN" b="0" i="0" dirty="0">
                        <a:solidFill>
                          <a:srgbClr val="2A2B2E"/>
                        </a:solidFill>
                        <a:effectLst/>
                        <a:latin typeface="PingFang SC"/>
                      </a:endParaRPr>
                    </a:p>
                    <a:p>
                      <a:r>
                        <a:rPr lang="en-US" altLang="zh-CN" b="0" i="0" dirty="0">
                          <a:solidFill>
                            <a:srgbClr val="2A2B2E"/>
                          </a:solidFill>
                          <a:effectLst/>
                          <a:latin typeface="PingFang SC"/>
                        </a:rPr>
                        <a:t>5.2 </a:t>
                      </a:r>
                      <a:r>
                        <a:rPr lang="zh-CN" altLang="en-US" b="0" i="0" dirty="0">
                          <a:solidFill>
                            <a:srgbClr val="2A2B2E"/>
                          </a:solidFill>
                          <a:effectLst/>
                          <a:latin typeface="PingFang SC"/>
                        </a:rPr>
                        <a:t>系统记录运输费用</a:t>
                      </a:r>
                      <a:endParaRPr lang="en-US" altLang="zh-CN" b="0" i="0" dirty="0">
                        <a:solidFill>
                          <a:srgbClr val="2A2B2E"/>
                        </a:solidFill>
                        <a:effectLst/>
                        <a:latin typeface="PingFang SC"/>
                      </a:endParaRPr>
                    </a:p>
                  </a:txBody>
                  <a:tcPr/>
                </a:tc>
                <a:extLst>
                  <a:ext uri="{0D108BD9-81ED-4DB2-BD59-A6C34878D82A}">
                    <a16:rowId xmlns:a16="http://schemas.microsoft.com/office/drawing/2014/main" val="2684085031"/>
                  </a:ext>
                </a:extLst>
              </a:tr>
              <a:tr h="370840">
                <a:tc>
                  <a:txBody>
                    <a:bodyPr/>
                    <a:lstStyle/>
                    <a:p>
                      <a:r>
                        <a:rPr lang="zh-CN" altLang="en-US" b="1" dirty="0">
                          <a:solidFill>
                            <a:schemeClr val="tx1"/>
                          </a:solidFill>
                        </a:rPr>
                        <a:t>异常条件</a:t>
                      </a:r>
                    </a:p>
                  </a:txBody>
                  <a:tcPr/>
                </a:tc>
                <a:tc gridSpan="2">
                  <a:txBody>
                    <a:bodyPr/>
                    <a:lstStyle/>
                    <a:p>
                      <a:r>
                        <a:rPr lang="en-US" altLang="zh-CN" b="0" i="0" dirty="0">
                          <a:solidFill>
                            <a:srgbClr val="2A2B2E"/>
                          </a:solidFill>
                          <a:effectLst/>
                          <a:latin typeface="PingFang SC"/>
                        </a:rPr>
                        <a:t>2.1 </a:t>
                      </a:r>
                      <a:r>
                        <a:rPr lang="zh-CN" altLang="en-US" b="0" i="0" dirty="0">
                          <a:solidFill>
                            <a:srgbClr val="2A2B2E"/>
                          </a:solidFill>
                          <a:effectLst/>
                          <a:latin typeface="PingFang SC"/>
                        </a:rPr>
                        <a:t>运输人员不在该位置，需要选择另一个人员</a:t>
                      </a:r>
                      <a:endParaRPr lang="en-US" altLang="zh-CN" b="0" i="0" dirty="0">
                        <a:solidFill>
                          <a:srgbClr val="2A2B2E"/>
                        </a:solidFill>
                        <a:effectLst/>
                        <a:latin typeface="PingFang SC"/>
                      </a:endParaRPr>
                    </a:p>
                    <a:p>
                      <a:r>
                        <a:rPr lang="en-US" altLang="zh-CN" b="0" i="0" dirty="0">
                          <a:solidFill>
                            <a:srgbClr val="2A2B2E"/>
                          </a:solidFill>
                          <a:effectLst/>
                          <a:latin typeface="PingFang SC"/>
                        </a:rPr>
                        <a:t>3.1 </a:t>
                      </a:r>
                      <a:r>
                        <a:rPr lang="zh-CN" altLang="en-US" b="0" i="0" dirty="0">
                          <a:solidFill>
                            <a:srgbClr val="2A2B2E"/>
                          </a:solidFill>
                          <a:effectLst/>
                          <a:latin typeface="PingFang SC"/>
                        </a:rPr>
                        <a:t>如果订单物品被损坏，取一个新的物品并且更新物品数量</a:t>
                      </a:r>
                      <a:r>
                        <a:rPr lang="en-US" altLang="zh-CN" b="0" i="0" dirty="0">
                          <a:solidFill>
                            <a:srgbClr val="2A2B2E"/>
                          </a:solidFill>
                          <a:effectLst/>
                          <a:latin typeface="PingFang SC"/>
                        </a:rPr>
                        <a:t> </a:t>
                      </a:r>
                    </a:p>
                    <a:p>
                      <a:r>
                        <a:rPr lang="en-US" altLang="zh-CN" b="0" i="0" dirty="0">
                          <a:solidFill>
                            <a:srgbClr val="2A2B2E"/>
                          </a:solidFill>
                          <a:effectLst/>
                          <a:latin typeface="PingFang SC"/>
                        </a:rPr>
                        <a:t>3.1 </a:t>
                      </a:r>
                      <a:r>
                        <a:rPr lang="zh-CN" altLang="en-US" b="0" i="0" dirty="0">
                          <a:solidFill>
                            <a:srgbClr val="2A2B2E"/>
                          </a:solidFill>
                          <a:effectLst/>
                          <a:latin typeface="PingFang SC"/>
                        </a:rPr>
                        <a:t>如果物品二维码无法正确扫描，需要手动输入二维码</a:t>
                      </a:r>
                      <a:endParaRPr lang="en-US" altLang="zh-CN" b="0" i="0" dirty="0">
                        <a:solidFill>
                          <a:srgbClr val="2A2B2E"/>
                        </a:solidFill>
                        <a:effectLst/>
                        <a:latin typeface="PingFang SC"/>
                      </a:endParaRPr>
                    </a:p>
                    <a:p>
                      <a:r>
                        <a:rPr lang="en-US" altLang="zh-CN" b="0" i="0" dirty="0">
                          <a:solidFill>
                            <a:srgbClr val="2A2B2E"/>
                          </a:solidFill>
                          <a:effectLst/>
                          <a:latin typeface="PingFang SC"/>
                        </a:rPr>
                        <a:t>5.1 </a:t>
                      </a:r>
                      <a:r>
                        <a:rPr lang="zh-CN" altLang="en-US" b="0" i="0" dirty="0">
                          <a:solidFill>
                            <a:srgbClr val="2A2B2E"/>
                          </a:solidFill>
                          <a:effectLst/>
                          <a:latin typeface="PingFang SC"/>
                        </a:rPr>
                        <a:t>输入打印的标签不正确，标签需要能够手动修改</a:t>
                      </a:r>
                      <a:endParaRPr lang="zh-CN" altLang="en-US" dirty="0"/>
                    </a:p>
                  </a:txBody>
                  <a:tcPr/>
                </a:tc>
                <a:tc hMerge="1">
                  <a:txBody>
                    <a:bodyPr/>
                    <a:lstStyle/>
                    <a:p>
                      <a:endParaRPr lang="zh-CN" altLang="en-US" dirty="0">
                        <a:solidFill>
                          <a:schemeClr val="tx1"/>
                        </a:solidFill>
                      </a:endParaRPr>
                    </a:p>
                  </a:txBody>
                  <a:tcPr/>
                </a:tc>
                <a:extLst>
                  <a:ext uri="{0D108BD9-81ED-4DB2-BD59-A6C34878D82A}">
                    <a16:rowId xmlns:a16="http://schemas.microsoft.com/office/drawing/2014/main" val="2252942448"/>
                  </a:ext>
                </a:extLst>
              </a:tr>
            </a:tbl>
          </a:graphicData>
        </a:graphic>
      </p:graphicFrame>
    </p:spTree>
    <p:extLst>
      <p:ext uri="{BB962C8B-B14F-4D97-AF65-F5344CB8AC3E}">
        <p14:creationId xmlns:p14="http://schemas.microsoft.com/office/powerpoint/2010/main" val="2733413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19</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Use Case Descriptions</a:t>
            </a:r>
          </a:p>
          <a:p>
            <a:pPr eaLnBrk="1" hangingPunct="1"/>
            <a:r>
              <a:rPr lang="en-US" altLang="zh-CN" sz="3200" dirty="0">
                <a:solidFill>
                  <a:srgbClr val="C00000"/>
                </a:solidFill>
                <a:ea typeface="宋体" panose="02010600030101010101" pitchFamily="2" charset="-122"/>
              </a:rPr>
              <a:t>Activity Diagrams for Use Cases </a:t>
            </a:r>
            <a:r>
              <a:rPr lang="zh-CN" altLang="en-US" sz="3200" dirty="0">
                <a:solidFill>
                  <a:srgbClr val="C00000"/>
                </a:solidFill>
                <a:ea typeface="宋体" panose="02010600030101010101" pitchFamily="2" charset="-122"/>
              </a:rPr>
              <a:t>（用例活动图）</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The System Sequence Diagram—Identifying Inputs and Outputs</a:t>
            </a:r>
          </a:p>
          <a:p>
            <a:pPr eaLnBrk="1" hangingPunct="1"/>
            <a:r>
              <a:rPr lang="en-US" altLang="zh-CN" sz="3200" dirty="0">
                <a:ea typeface="宋体" panose="02010600030101010101" pitchFamily="2" charset="-122"/>
              </a:rPr>
              <a:t>The State Machine Diagram—Identifying Object Behavior</a:t>
            </a:r>
          </a:p>
          <a:p>
            <a:pPr eaLnBrk="1" hangingPunct="1"/>
            <a:r>
              <a:rPr lang="en-US" altLang="zh-CN" sz="3200" dirty="0">
                <a:ea typeface="宋体" panose="02010600030101010101" pitchFamily="2" charset="-122"/>
              </a:rPr>
              <a:t>Integrating Requirements Models</a:t>
            </a: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73251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6">
            <a:extLst>
              <a:ext uri="{FF2B5EF4-FFF2-40B4-BE49-F238E27FC236}">
                <a16:creationId xmlns:a16="http://schemas.microsoft.com/office/drawing/2014/main" id="{B82673B5-E916-471A-BFF1-C3A72FC25C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D3D256-BE52-429B-AC26-F03A70056933}" type="slidenum">
              <a:rPr lang="en-US" altLang="en-US"/>
              <a:pPr eaLnBrk="1" hangingPunct="1"/>
              <a:t>20</a:t>
            </a:fld>
            <a:endParaRPr lang="en-US" altLang="en-US"/>
          </a:p>
        </p:txBody>
      </p:sp>
      <p:sp>
        <p:nvSpPr>
          <p:cNvPr id="19459" name="Rectangle 2">
            <a:extLst>
              <a:ext uri="{FF2B5EF4-FFF2-40B4-BE49-F238E27FC236}">
                <a16:creationId xmlns:a16="http://schemas.microsoft.com/office/drawing/2014/main" id="{E752254E-FFE3-433D-AB20-26C0AE24E8A2}"/>
              </a:ext>
            </a:extLst>
          </p:cNvPr>
          <p:cNvSpPr>
            <a:spLocks noGrp="1" noChangeArrowheads="1"/>
          </p:cNvSpPr>
          <p:nvPr>
            <p:ph type="title"/>
          </p:nvPr>
        </p:nvSpPr>
        <p:spPr>
          <a:xfrm>
            <a:off x="304800" y="152400"/>
            <a:ext cx="2514600" cy="5638800"/>
          </a:xfrm>
        </p:spPr>
        <p:txBody>
          <a:bodyPr/>
          <a:lstStyle/>
          <a:p>
            <a:pPr eaLnBrk="1" hangingPunct="1"/>
            <a:r>
              <a:rPr lang="en-US" altLang="zh-CN" sz="3200" dirty="0">
                <a:ea typeface="宋体" panose="02010600030101010101" pitchFamily="2" charset="-122"/>
              </a:rPr>
              <a:t>UML Activity Diagram for 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800" i="1" dirty="0">
                <a:ea typeface="宋体" panose="02010600030101010101" pitchFamily="2" charset="-122"/>
              </a:rPr>
              <a:t>Create Customer Account</a:t>
            </a:r>
            <a:br>
              <a:rPr lang="en-US" altLang="zh-CN" sz="2800" i="1" dirty="0">
                <a:ea typeface="宋体" panose="02010600030101010101" pitchFamily="2" charset="-122"/>
              </a:rPr>
            </a:br>
            <a:r>
              <a:rPr lang="zh-CN" altLang="en-US" sz="2400" i="1" dirty="0">
                <a:ea typeface="宋体" panose="02010600030101010101" pitchFamily="2" charset="-122"/>
              </a:rPr>
              <a:t>（创建客户账户）</a:t>
            </a:r>
            <a:br>
              <a:rPr lang="en-US" altLang="zh-CN" sz="28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Note: this shows flow of activities only</a:t>
            </a:r>
            <a:endParaRPr lang="en-US" altLang="zh-CN" sz="2400" i="1" dirty="0">
              <a:ea typeface="宋体" panose="02010600030101010101" pitchFamily="2" charset="-122"/>
            </a:endParaRPr>
          </a:p>
        </p:txBody>
      </p:sp>
      <p:sp>
        <p:nvSpPr>
          <p:cNvPr id="19460" name="Rectangle 4">
            <a:extLst>
              <a:ext uri="{FF2B5EF4-FFF2-40B4-BE49-F238E27FC236}">
                <a16:creationId xmlns:a16="http://schemas.microsoft.com/office/drawing/2014/main" id="{AC417C94-0241-4268-9B03-9E347CF75BD2}"/>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19461" name="Picture 6">
            <a:extLst>
              <a:ext uri="{FF2B5EF4-FFF2-40B4-BE49-F238E27FC236}">
                <a16:creationId xmlns:a16="http://schemas.microsoft.com/office/drawing/2014/main" id="{925B732E-E2D7-4489-A36A-7A928E9BB3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7200" y="381000"/>
            <a:ext cx="5049838" cy="569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Footer Placeholder 4">
            <a:extLst>
              <a:ext uri="{FF2B5EF4-FFF2-40B4-BE49-F238E27FC236}">
                <a16:creationId xmlns:a16="http://schemas.microsoft.com/office/drawing/2014/main" id="{23DBB362-CAB0-4B95-9D49-54EA9F969A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9463" name="Rectangle 7">
            <a:extLst>
              <a:ext uri="{FF2B5EF4-FFF2-40B4-BE49-F238E27FC236}">
                <a16:creationId xmlns:a16="http://schemas.microsoft.com/office/drawing/2014/main" id="{C356ADFD-1C95-4F5E-9803-0612F4B1B2F8}"/>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6">
            <a:extLst>
              <a:ext uri="{FF2B5EF4-FFF2-40B4-BE49-F238E27FC236}">
                <a16:creationId xmlns:a16="http://schemas.microsoft.com/office/drawing/2014/main" id="{A3A7DFCF-652E-4865-A0AB-96408756FD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30E6C5-C1D0-40E8-B805-A4337D413267}" type="slidenum">
              <a:rPr lang="en-US" altLang="en-US"/>
              <a:pPr eaLnBrk="1" hangingPunct="1"/>
              <a:t>21</a:t>
            </a:fld>
            <a:endParaRPr lang="en-US" altLang="en-US"/>
          </a:p>
        </p:txBody>
      </p:sp>
      <p:sp>
        <p:nvSpPr>
          <p:cNvPr id="20483" name="Rectangle 2">
            <a:extLst>
              <a:ext uri="{FF2B5EF4-FFF2-40B4-BE49-F238E27FC236}">
                <a16:creationId xmlns:a16="http://schemas.microsoft.com/office/drawing/2014/main" id="{C8B12F43-D922-4B50-A7A1-7E8565AAEB51}"/>
              </a:ext>
            </a:extLst>
          </p:cNvPr>
          <p:cNvSpPr>
            <a:spLocks noGrp="1" noChangeArrowheads="1"/>
          </p:cNvSpPr>
          <p:nvPr>
            <p:ph type="title"/>
          </p:nvPr>
        </p:nvSpPr>
        <p:spPr>
          <a:xfrm>
            <a:off x="304800" y="152400"/>
            <a:ext cx="2819400" cy="5638800"/>
          </a:xfrm>
        </p:spPr>
        <p:txBody>
          <a:bodyPr/>
          <a:lstStyle/>
          <a:p>
            <a:pPr eaLnBrk="1" hangingPunct="1"/>
            <a:r>
              <a:rPr lang="en-US" altLang="zh-CN" sz="3200" dirty="0">
                <a:ea typeface="宋体" panose="02010600030101010101" pitchFamily="2" charset="-122"/>
              </a:rPr>
              <a:t>UML Activity Diagram for 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800" i="1" dirty="0">
                <a:ea typeface="宋体" panose="02010600030101010101" pitchFamily="2" charset="-122"/>
              </a:rPr>
              <a:t>Fill shopping cart</a:t>
            </a:r>
            <a:br>
              <a:rPr lang="en-US" altLang="zh-CN" sz="2800" i="1" dirty="0">
                <a:ea typeface="宋体" panose="02010600030101010101" pitchFamily="2" charset="-122"/>
              </a:rPr>
            </a:br>
            <a:r>
              <a:rPr lang="zh-CN" altLang="en-US" sz="2800" i="1" dirty="0">
                <a:ea typeface="宋体" panose="02010600030101010101" pitchFamily="2" charset="-122"/>
              </a:rPr>
              <a:t>（添加购物车）</a:t>
            </a:r>
            <a:br>
              <a:rPr lang="en-US" altLang="zh-CN" sz="28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Note: this shows use case with &lt;&lt;includes&gt;&gt; </a:t>
            </a:r>
            <a:r>
              <a:rPr lang="en-US" altLang="zh-CN" sz="2400" dirty="0" err="1">
                <a:ea typeface="宋体" panose="02010600030101010101" pitchFamily="2" charset="-122"/>
              </a:rPr>
              <a:t>reltionship</a:t>
            </a:r>
            <a:endParaRPr lang="en-US" altLang="zh-CN" sz="2400" i="1" dirty="0">
              <a:ea typeface="宋体" panose="02010600030101010101" pitchFamily="2" charset="-122"/>
            </a:endParaRPr>
          </a:p>
        </p:txBody>
      </p:sp>
      <p:sp>
        <p:nvSpPr>
          <p:cNvPr id="20485" name="Rectangle 4">
            <a:extLst>
              <a:ext uri="{FF2B5EF4-FFF2-40B4-BE49-F238E27FC236}">
                <a16:creationId xmlns:a16="http://schemas.microsoft.com/office/drawing/2014/main" id="{76937256-4EDD-481C-B0DE-588F58F17FAA}"/>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0486" name="Picture 6">
            <a:extLst>
              <a:ext uri="{FF2B5EF4-FFF2-40B4-BE49-F238E27FC236}">
                <a16:creationId xmlns:a16="http://schemas.microsoft.com/office/drawing/2014/main" id="{576B9F83-0FCB-45BA-B0C9-F59434437A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28600"/>
            <a:ext cx="4767263"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Footer Placeholder 4">
            <a:extLst>
              <a:ext uri="{FF2B5EF4-FFF2-40B4-BE49-F238E27FC236}">
                <a16:creationId xmlns:a16="http://schemas.microsoft.com/office/drawing/2014/main" id="{EC27B3AC-07F5-47AC-89BA-16A8001C2B8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0488" name="Rectangle 8">
            <a:extLst>
              <a:ext uri="{FF2B5EF4-FFF2-40B4-BE49-F238E27FC236}">
                <a16:creationId xmlns:a16="http://schemas.microsoft.com/office/drawing/2014/main" id="{19091C39-88B3-4F78-9258-634C3E3C5D38}"/>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22</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Use Case Descriptions</a:t>
            </a:r>
          </a:p>
          <a:p>
            <a:pPr eaLnBrk="1" hangingPunct="1"/>
            <a:r>
              <a:rPr lang="en-US" altLang="zh-CN" sz="3200" dirty="0">
                <a:ea typeface="宋体" panose="02010600030101010101" pitchFamily="2" charset="-122"/>
              </a:rPr>
              <a:t>Activity Diagrams for Use Cases </a:t>
            </a:r>
          </a:p>
          <a:p>
            <a:pPr eaLnBrk="1" hangingPunct="1"/>
            <a:r>
              <a:rPr lang="en-US" altLang="zh-CN" sz="3200" dirty="0">
                <a:solidFill>
                  <a:srgbClr val="C00000"/>
                </a:solidFill>
                <a:ea typeface="宋体" panose="02010600030101010101" pitchFamily="2" charset="-122"/>
              </a:rPr>
              <a:t>The System Sequence Diagram—Identifying Inputs and Outputs</a:t>
            </a:r>
            <a:r>
              <a:rPr lang="zh-CN" altLang="en-US" sz="3200" dirty="0">
                <a:solidFill>
                  <a:srgbClr val="C00000"/>
                </a:solidFill>
                <a:ea typeface="宋体" panose="02010600030101010101" pitchFamily="2" charset="-122"/>
              </a:rPr>
              <a:t>（系统顺序图</a:t>
            </a:r>
            <a:r>
              <a:rPr lang="en-US" altLang="zh-CN" sz="3200" dirty="0">
                <a:solidFill>
                  <a:srgbClr val="C00000"/>
                </a:solidFill>
                <a:ea typeface="宋体" panose="02010600030101010101" pitchFamily="2" charset="-122"/>
              </a:rPr>
              <a:t>-</a:t>
            </a:r>
            <a:r>
              <a:rPr lang="zh-CN" altLang="en-US" sz="3200" dirty="0">
                <a:solidFill>
                  <a:srgbClr val="C00000"/>
                </a:solidFill>
                <a:ea typeface="宋体" panose="02010600030101010101" pitchFamily="2" charset="-122"/>
              </a:rPr>
              <a:t>识别输入和输出）</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The State Machine Diagram—Identifying Object Behavior</a:t>
            </a:r>
          </a:p>
          <a:p>
            <a:pPr eaLnBrk="1" hangingPunct="1"/>
            <a:r>
              <a:rPr lang="en-US" altLang="zh-CN" sz="3200" dirty="0">
                <a:ea typeface="宋体" panose="02010600030101010101" pitchFamily="2" charset="-122"/>
              </a:rPr>
              <a:t>Integrating Requirements Models</a:t>
            </a: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352131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C81ADA28-4801-4F7A-AC5F-3DE7527527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280644-D5D3-4854-B49C-EBF3779C5487}" type="slidenum">
              <a:rPr lang="en-US" altLang="en-US"/>
              <a:pPr eaLnBrk="1" hangingPunct="1"/>
              <a:t>23</a:t>
            </a:fld>
            <a:endParaRPr lang="en-US" altLang="en-US"/>
          </a:p>
        </p:txBody>
      </p:sp>
      <p:sp>
        <p:nvSpPr>
          <p:cNvPr id="22531" name="Rectangle 2">
            <a:extLst>
              <a:ext uri="{FF2B5EF4-FFF2-40B4-BE49-F238E27FC236}">
                <a16:creationId xmlns:a16="http://schemas.microsoft.com/office/drawing/2014/main" id="{2F0184F3-7208-4CCF-B4DB-E85CA8451DEA}"/>
              </a:ext>
            </a:extLst>
          </p:cNvPr>
          <p:cNvSpPr>
            <a:spLocks noGrp="1" noChangeArrowheads="1"/>
          </p:cNvSpPr>
          <p:nvPr>
            <p:ph type="title"/>
          </p:nvPr>
        </p:nvSpPr>
        <p:spPr>
          <a:xfrm>
            <a:off x="457200" y="122238"/>
            <a:ext cx="7543800" cy="1325562"/>
          </a:xfrm>
        </p:spPr>
        <p:txBody>
          <a:bodyPr/>
          <a:lstStyle/>
          <a:p>
            <a:pPr eaLnBrk="1" hangingPunct="1"/>
            <a:r>
              <a:rPr lang="en-US" altLang="zh-CN" sz="3600">
                <a:ea typeface="宋体" panose="02010600030101010101" pitchFamily="2" charset="-122"/>
              </a:rPr>
              <a:t>System Sequence Diagram (SSD)</a:t>
            </a:r>
            <a:br>
              <a:rPr lang="en-US" altLang="zh-CN" sz="3600">
                <a:ea typeface="宋体" panose="02010600030101010101" pitchFamily="2" charset="-122"/>
              </a:rPr>
            </a:br>
            <a:r>
              <a:rPr lang="en-US" altLang="zh-CN" sz="3600">
                <a:ea typeface="宋体" panose="02010600030101010101" pitchFamily="2" charset="-122"/>
              </a:rPr>
              <a:t>Notation</a:t>
            </a:r>
            <a:endParaRPr lang="en-US" altLang="zh-CN" sz="2800">
              <a:ea typeface="宋体" panose="02010600030101010101" pitchFamily="2" charset="-122"/>
            </a:endParaRPr>
          </a:p>
        </p:txBody>
      </p:sp>
      <p:pic>
        <p:nvPicPr>
          <p:cNvPr id="22532" name="Picture 5">
            <a:extLst>
              <a:ext uri="{FF2B5EF4-FFF2-40B4-BE49-F238E27FC236}">
                <a16:creationId xmlns:a16="http://schemas.microsoft.com/office/drawing/2014/main" id="{F311F98D-D162-41EC-AD36-CE1BFFBC7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5967413"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0E2B67A4-8EEF-4C4C-84A3-DFD012AE10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A47DA5F1-BA00-49B1-A5F8-786183BFC90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FC050DEA-5F00-446A-BFA2-8BC3E3A3EC03}"/>
              </a:ext>
            </a:extLst>
          </p:cNvPr>
          <p:cNvSpPr/>
          <p:nvPr/>
        </p:nvSpPr>
        <p:spPr>
          <a:xfrm>
            <a:off x="1371600" y="2819400"/>
            <a:ext cx="838200" cy="914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C81ADA28-4801-4F7A-AC5F-3DE7527527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280644-D5D3-4854-B49C-EBF3779C5487}" type="slidenum">
              <a:rPr lang="en-US" altLang="en-US"/>
              <a:pPr eaLnBrk="1" hangingPunct="1"/>
              <a:t>24</a:t>
            </a:fld>
            <a:endParaRPr lang="en-US" altLang="en-US"/>
          </a:p>
        </p:txBody>
      </p:sp>
      <p:sp>
        <p:nvSpPr>
          <p:cNvPr id="22531" name="Rectangle 2">
            <a:extLst>
              <a:ext uri="{FF2B5EF4-FFF2-40B4-BE49-F238E27FC236}">
                <a16:creationId xmlns:a16="http://schemas.microsoft.com/office/drawing/2014/main" id="{2F0184F3-7208-4CCF-B4DB-E85CA8451DEA}"/>
              </a:ext>
            </a:extLst>
          </p:cNvPr>
          <p:cNvSpPr>
            <a:spLocks noGrp="1" noChangeArrowheads="1"/>
          </p:cNvSpPr>
          <p:nvPr>
            <p:ph type="title"/>
          </p:nvPr>
        </p:nvSpPr>
        <p:spPr>
          <a:xfrm>
            <a:off x="457200" y="122238"/>
            <a:ext cx="7543800" cy="1325562"/>
          </a:xfrm>
        </p:spPr>
        <p:txBody>
          <a:bodyPr/>
          <a:lstStyle/>
          <a:p>
            <a:pPr eaLnBrk="1" hangingPunct="1"/>
            <a:r>
              <a:rPr lang="en-US" altLang="zh-CN" sz="3600">
                <a:ea typeface="宋体" panose="02010600030101010101" pitchFamily="2" charset="-122"/>
              </a:rPr>
              <a:t>System Sequence Diagram (SSD)</a:t>
            </a:r>
            <a:br>
              <a:rPr lang="en-US" altLang="zh-CN" sz="3600">
                <a:ea typeface="宋体" panose="02010600030101010101" pitchFamily="2" charset="-122"/>
              </a:rPr>
            </a:br>
            <a:r>
              <a:rPr lang="en-US" altLang="zh-CN" sz="3600">
                <a:ea typeface="宋体" panose="02010600030101010101" pitchFamily="2" charset="-122"/>
              </a:rPr>
              <a:t>Notation</a:t>
            </a:r>
            <a:endParaRPr lang="en-US" altLang="zh-CN" sz="2800">
              <a:ea typeface="宋体" panose="02010600030101010101" pitchFamily="2" charset="-122"/>
            </a:endParaRPr>
          </a:p>
        </p:txBody>
      </p:sp>
      <p:pic>
        <p:nvPicPr>
          <p:cNvPr id="22532" name="Picture 5">
            <a:extLst>
              <a:ext uri="{FF2B5EF4-FFF2-40B4-BE49-F238E27FC236}">
                <a16:creationId xmlns:a16="http://schemas.microsoft.com/office/drawing/2014/main" id="{F311F98D-D162-41EC-AD36-CE1BFFBC7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5967413"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0E2B67A4-8EEF-4C4C-84A3-DFD012AE10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A47DA5F1-BA00-49B1-A5F8-786183BFC90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FC050DEA-5F00-446A-BFA2-8BC3E3A3EC03}"/>
              </a:ext>
            </a:extLst>
          </p:cNvPr>
          <p:cNvSpPr/>
          <p:nvPr/>
        </p:nvSpPr>
        <p:spPr>
          <a:xfrm>
            <a:off x="3886200" y="2667000"/>
            <a:ext cx="1752600" cy="990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1705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C81ADA28-4801-4F7A-AC5F-3DE7527527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280644-D5D3-4854-B49C-EBF3779C5487}" type="slidenum">
              <a:rPr lang="en-US" altLang="en-US"/>
              <a:pPr eaLnBrk="1" hangingPunct="1"/>
              <a:t>25</a:t>
            </a:fld>
            <a:endParaRPr lang="en-US" altLang="en-US"/>
          </a:p>
        </p:txBody>
      </p:sp>
      <p:sp>
        <p:nvSpPr>
          <p:cNvPr id="22531" name="Rectangle 2">
            <a:extLst>
              <a:ext uri="{FF2B5EF4-FFF2-40B4-BE49-F238E27FC236}">
                <a16:creationId xmlns:a16="http://schemas.microsoft.com/office/drawing/2014/main" id="{2F0184F3-7208-4CCF-B4DB-E85CA8451DEA}"/>
              </a:ext>
            </a:extLst>
          </p:cNvPr>
          <p:cNvSpPr>
            <a:spLocks noGrp="1" noChangeArrowheads="1"/>
          </p:cNvSpPr>
          <p:nvPr>
            <p:ph type="title"/>
          </p:nvPr>
        </p:nvSpPr>
        <p:spPr>
          <a:xfrm>
            <a:off x="457200" y="122238"/>
            <a:ext cx="7543800" cy="1325562"/>
          </a:xfrm>
        </p:spPr>
        <p:txBody>
          <a:bodyPr/>
          <a:lstStyle/>
          <a:p>
            <a:pPr eaLnBrk="1" hangingPunct="1"/>
            <a:r>
              <a:rPr lang="en-US" altLang="zh-CN" sz="3600">
                <a:ea typeface="宋体" panose="02010600030101010101" pitchFamily="2" charset="-122"/>
              </a:rPr>
              <a:t>System Sequence Diagram (SSD)</a:t>
            </a:r>
            <a:br>
              <a:rPr lang="en-US" altLang="zh-CN" sz="3600">
                <a:ea typeface="宋体" panose="02010600030101010101" pitchFamily="2" charset="-122"/>
              </a:rPr>
            </a:br>
            <a:r>
              <a:rPr lang="en-US" altLang="zh-CN" sz="3600">
                <a:ea typeface="宋体" panose="02010600030101010101" pitchFamily="2" charset="-122"/>
              </a:rPr>
              <a:t>Notation</a:t>
            </a:r>
            <a:endParaRPr lang="en-US" altLang="zh-CN" sz="2800">
              <a:ea typeface="宋体" panose="02010600030101010101" pitchFamily="2" charset="-122"/>
            </a:endParaRPr>
          </a:p>
        </p:txBody>
      </p:sp>
      <p:pic>
        <p:nvPicPr>
          <p:cNvPr id="22532" name="Picture 5">
            <a:extLst>
              <a:ext uri="{FF2B5EF4-FFF2-40B4-BE49-F238E27FC236}">
                <a16:creationId xmlns:a16="http://schemas.microsoft.com/office/drawing/2014/main" id="{F311F98D-D162-41EC-AD36-CE1BFFBC7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5967413"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0E2B67A4-8EEF-4C4C-84A3-DFD012AE10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A47DA5F1-BA00-49B1-A5F8-786183BFC90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FC050DEA-5F00-446A-BFA2-8BC3E3A3EC03}"/>
              </a:ext>
            </a:extLst>
          </p:cNvPr>
          <p:cNvSpPr/>
          <p:nvPr/>
        </p:nvSpPr>
        <p:spPr>
          <a:xfrm>
            <a:off x="4554279" y="3581400"/>
            <a:ext cx="322521" cy="1828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F20312C-A4B2-4AD1-88BE-7832EBCA9CA3}"/>
              </a:ext>
            </a:extLst>
          </p:cNvPr>
          <p:cNvSpPr/>
          <p:nvPr/>
        </p:nvSpPr>
        <p:spPr>
          <a:xfrm>
            <a:off x="1617145" y="3620239"/>
            <a:ext cx="322521" cy="1828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85298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C81ADA28-4801-4F7A-AC5F-3DE7527527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280644-D5D3-4854-B49C-EBF3779C5487}" type="slidenum">
              <a:rPr lang="en-US" altLang="en-US"/>
              <a:pPr eaLnBrk="1" hangingPunct="1"/>
              <a:t>26</a:t>
            </a:fld>
            <a:endParaRPr lang="en-US" altLang="en-US"/>
          </a:p>
        </p:txBody>
      </p:sp>
      <p:sp>
        <p:nvSpPr>
          <p:cNvPr id="22531" name="Rectangle 2">
            <a:extLst>
              <a:ext uri="{FF2B5EF4-FFF2-40B4-BE49-F238E27FC236}">
                <a16:creationId xmlns:a16="http://schemas.microsoft.com/office/drawing/2014/main" id="{2F0184F3-7208-4CCF-B4DB-E85CA8451DEA}"/>
              </a:ext>
            </a:extLst>
          </p:cNvPr>
          <p:cNvSpPr>
            <a:spLocks noGrp="1" noChangeArrowheads="1"/>
          </p:cNvSpPr>
          <p:nvPr>
            <p:ph type="title"/>
          </p:nvPr>
        </p:nvSpPr>
        <p:spPr>
          <a:xfrm>
            <a:off x="457200" y="122238"/>
            <a:ext cx="7543800" cy="1325562"/>
          </a:xfrm>
        </p:spPr>
        <p:txBody>
          <a:bodyPr/>
          <a:lstStyle/>
          <a:p>
            <a:pPr eaLnBrk="1" hangingPunct="1"/>
            <a:r>
              <a:rPr lang="en-US" altLang="zh-CN" sz="3600">
                <a:ea typeface="宋体" panose="02010600030101010101" pitchFamily="2" charset="-122"/>
              </a:rPr>
              <a:t>System Sequence Diagram (SSD)</a:t>
            </a:r>
            <a:br>
              <a:rPr lang="en-US" altLang="zh-CN" sz="3600">
                <a:ea typeface="宋体" panose="02010600030101010101" pitchFamily="2" charset="-122"/>
              </a:rPr>
            </a:br>
            <a:r>
              <a:rPr lang="en-US" altLang="zh-CN" sz="3600">
                <a:ea typeface="宋体" panose="02010600030101010101" pitchFamily="2" charset="-122"/>
              </a:rPr>
              <a:t>Notation</a:t>
            </a:r>
            <a:endParaRPr lang="en-US" altLang="zh-CN" sz="2800">
              <a:ea typeface="宋体" panose="02010600030101010101" pitchFamily="2" charset="-122"/>
            </a:endParaRPr>
          </a:p>
        </p:txBody>
      </p:sp>
      <p:pic>
        <p:nvPicPr>
          <p:cNvPr id="22532" name="Picture 5">
            <a:extLst>
              <a:ext uri="{FF2B5EF4-FFF2-40B4-BE49-F238E27FC236}">
                <a16:creationId xmlns:a16="http://schemas.microsoft.com/office/drawing/2014/main" id="{F311F98D-D162-41EC-AD36-CE1BFFBC7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5967413"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0E2B67A4-8EEF-4C4C-84A3-DFD012AE10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A47DA5F1-BA00-49B1-A5F8-786183BFC90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FC050DEA-5F00-446A-BFA2-8BC3E3A3EC03}"/>
              </a:ext>
            </a:extLst>
          </p:cNvPr>
          <p:cNvSpPr/>
          <p:nvPr/>
        </p:nvSpPr>
        <p:spPr>
          <a:xfrm>
            <a:off x="1828800" y="4481956"/>
            <a:ext cx="2819400" cy="62344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F20312C-A4B2-4AD1-88BE-7832EBCA9CA3}"/>
              </a:ext>
            </a:extLst>
          </p:cNvPr>
          <p:cNvSpPr/>
          <p:nvPr/>
        </p:nvSpPr>
        <p:spPr>
          <a:xfrm>
            <a:off x="1828800" y="3733800"/>
            <a:ext cx="28194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15774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C81ADA28-4801-4F7A-AC5F-3DE7527527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280644-D5D3-4854-B49C-EBF3779C5487}" type="slidenum">
              <a:rPr lang="en-US" altLang="en-US"/>
              <a:pPr eaLnBrk="1" hangingPunct="1"/>
              <a:t>27</a:t>
            </a:fld>
            <a:endParaRPr lang="en-US" altLang="en-US"/>
          </a:p>
        </p:txBody>
      </p:sp>
      <p:sp>
        <p:nvSpPr>
          <p:cNvPr id="22531" name="Rectangle 2">
            <a:extLst>
              <a:ext uri="{FF2B5EF4-FFF2-40B4-BE49-F238E27FC236}">
                <a16:creationId xmlns:a16="http://schemas.microsoft.com/office/drawing/2014/main" id="{2F0184F3-7208-4CCF-B4DB-E85CA8451DEA}"/>
              </a:ext>
            </a:extLst>
          </p:cNvPr>
          <p:cNvSpPr>
            <a:spLocks noGrp="1" noChangeArrowheads="1"/>
          </p:cNvSpPr>
          <p:nvPr>
            <p:ph type="title"/>
          </p:nvPr>
        </p:nvSpPr>
        <p:spPr>
          <a:xfrm>
            <a:off x="457200" y="122238"/>
            <a:ext cx="7543800" cy="1325562"/>
          </a:xfrm>
        </p:spPr>
        <p:txBody>
          <a:bodyPr/>
          <a:lstStyle/>
          <a:p>
            <a:pPr eaLnBrk="1" hangingPunct="1"/>
            <a:r>
              <a:rPr lang="en-US" altLang="zh-CN" sz="3600">
                <a:ea typeface="宋体" panose="02010600030101010101" pitchFamily="2" charset="-122"/>
              </a:rPr>
              <a:t>System Sequence Diagram (SSD)</a:t>
            </a:r>
            <a:br>
              <a:rPr lang="en-US" altLang="zh-CN" sz="3600">
                <a:ea typeface="宋体" panose="02010600030101010101" pitchFamily="2" charset="-122"/>
              </a:rPr>
            </a:br>
            <a:r>
              <a:rPr lang="en-US" altLang="zh-CN" sz="3600">
                <a:ea typeface="宋体" panose="02010600030101010101" pitchFamily="2" charset="-122"/>
              </a:rPr>
              <a:t>Notation</a:t>
            </a:r>
            <a:endParaRPr lang="en-US" altLang="zh-CN" sz="2800">
              <a:ea typeface="宋体" panose="02010600030101010101" pitchFamily="2" charset="-122"/>
            </a:endParaRPr>
          </a:p>
        </p:txBody>
      </p:sp>
      <p:pic>
        <p:nvPicPr>
          <p:cNvPr id="22532" name="Picture 5">
            <a:extLst>
              <a:ext uri="{FF2B5EF4-FFF2-40B4-BE49-F238E27FC236}">
                <a16:creationId xmlns:a16="http://schemas.microsoft.com/office/drawing/2014/main" id="{F311F98D-D162-41EC-AD36-CE1BFFBC7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5967413"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0E2B67A4-8EEF-4C4C-84A3-DFD012AE10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A47DA5F1-BA00-49B1-A5F8-786183BFC90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矩形 8">
            <a:extLst>
              <a:ext uri="{FF2B5EF4-FFF2-40B4-BE49-F238E27FC236}">
                <a16:creationId xmlns:a16="http://schemas.microsoft.com/office/drawing/2014/main" id="{38701AF9-0C57-4D17-A759-9D903BB9ABC3}"/>
              </a:ext>
            </a:extLst>
          </p:cNvPr>
          <p:cNvSpPr/>
          <p:nvPr/>
        </p:nvSpPr>
        <p:spPr>
          <a:xfrm>
            <a:off x="5167423" y="4648200"/>
            <a:ext cx="2147777" cy="62344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13177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6">
            <a:extLst>
              <a:ext uri="{FF2B5EF4-FFF2-40B4-BE49-F238E27FC236}">
                <a16:creationId xmlns:a16="http://schemas.microsoft.com/office/drawing/2014/main" id="{04D032E0-AE21-4B0B-BBF8-FB4845BF9F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4877A93-3DFB-42BA-A578-351703703851}" type="slidenum">
              <a:rPr lang="en-US" altLang="en-US"/>
              <a:pPr eaLnBrk="1" hangingPunct="1"/>
              <a:t>28</a:t>
            </a:fld>
            <a:endParaRPr lang="en-US" altLang="en-US"/>
          </a:p>
        </p:txBody>
      </p:sp>
      <p:sp>
        <p:nvSpPr>
          <p:cNvPr id="21507" name="Rectangle 2">
            <a:extLst>
              <a:ext uri="{FF2B5EF4-FFF2-40B4-BE49-F238E27FC236}">
                <a16:creationId xmlns:a16="http://schemas.microsoft.com/office/drawing/2014/main" id="{E91213DF-8EB5-4805-A80E-A81DF70325AD}"/>
              </a:ext>
            </a:extLst>
          </p:cNvPr>
          <p:cNvSpPr>
            <a:spLocks noGrp="1" noChangeArrowheads="1"/>
          </p:cNvSpPr>
          <p:nvPr>
            <p:ph type="title"/>
          </p:nvPr>
        </p:nvSpPr>
        <p:spPr>
          <a:xfrm>
            <a:off x="457200" y="122238"/>
            <a:ext cx="7543800" cy="868362"/>
          </a:xfrm>
        </p:spPr>
        <p:txBody>
          <a:bodyPr/>
          <a:lstStyle/>
          <a:p>
            <a:pPr eaLnBrk="1" hangingPunct="1"/>
            <a:r>
              <a:rPr lang="en-US" altLang="zh-CN" sz="3600">
                <a:ea typeface="宋体" panose="02010600030101010101" pitchFamily="2" charset="-122"/>
              </a:rPr>
              <a:t>System Sequence Diagram (SSD)</a:t>
            </a:r>
            <a:endParaRPr lang="en-US" altLang="zh-CN" sz="2800">
              <a:ea typeface="宋体" panose="02010600030101010101" pitchFamily="2" charset="-122"/>
            </a:endParaRPr>
          </a:p>
        </p:txBody>
      </p:sp>
      <p:sp>
        <p:nvSpPr>
          <p:cNvPr id="21508" name="Rectangle 3">
            <a:extLst>
              <a:ext uri="{FF2B5EF4-FFF2-40B4-BE49-F238E27FC236}">
                <a16:creationId xmlns:a16="http://schemas.microsoft.com/office/drawing/2014/main" id="{36DF85F6-D0C4-45E8-AEE4-CF36963DF1C5}"/>
              </a:ext>
            </a:extLst>
          </p:cNvPr>
          <p:cNvSpPr>
            <a:spLocks noGrp="1" noChangeArrowheads="1"/>
          </p:cNvSpPr>
          <p:nvPr>
            <p:ph type="body" sz="half" idx="1"/>
          </p:nvPr>
        </p:nvSpPr>
        <p:spPr>
          <a:xfrm>
            <a:off x="457200" y="1219200"/>
            <a:ext cx="8001000" cy="4953000"/>
          </a:xfrm>
        </p:spPr>
        <p:txBody>
          <a:bodyPr/>
          <a:lstStyle/>
          <a:p>
            <a:pPr eaLnBrk="1" hangingPunct="1"/>
            <a:r>
              <a:rPr lang="en-GB" altLang="zh-CN" sz="2800" dirty="0"/>
              <a:t>A UML sequence diagram</a:t>
            </a:r>
            <a:r>
              <a:rPr lang="zh-CN" altLang="en-US" sz="2800" dirty="0"/>
              <a:t>（</a:t>
            </a:r>
            <a:r>
              <a:rPr lang="en-US" altLang="zh-CN" sz="2800" dirty="0"/>
              <a:t>UML</a:t>
            </a:r>
            <a:r>
              <a:rPr lang="zh-CN" altLang="en-US" sz="2800" dirty="0"/>
              <a:t>顺序图）</a:t>
            </a:r>
            <a:endParaRPr lang="en-GB" altLang="zh-CN" sz="2800" dirty="0"/>
          </a:p>
          <a:p>
            <a:pPr eaLnBrk="1" hangingPunct="1"/>
            <a:r>
              <a:rPr lang="en-GB" altLang="zh-CN" sz="2800" dirty="0"/>
              <a:t>Special case for a sequence diagram</a:t>
            </a:r>
            <a:r>
              <a:rPr lang="zh-CN" altLang="en-US" sz="2800" dirty="0"/>
              <a:t>（顺序图的特殊情况）</a:t>
            </a:r>
            <a:endParaRPr lang="en-GB" altLang="zh-CN" sz="2800" dirty="0"/>
          </a:p>
          <a:p>
            <a:pPr lvl="1" eaLnBrk="1" hangingPunct="1"/>
            <a:r>
              <a:rPr lang="en-US" altLang="zh-CN" sz="2400" dirty="0">
                <a:ea typeface="宋体" panose="02010600030101010101" pitchFamily="2" charset="-122"/>
              </a:rPr>
              <a:t>Only shows actor and one object</a:t>
            </a:r>
            <a:r>
              <a:rPr lang="zh-CN" altLang="en-US" sz="2400" dirty="0">
                <a:ea typeface="宋体" panose="02010600030101010101" pitchFamily="2" charset="-122"/>
              </a:rPr>
              <a:t>（只显示人员和一个对象）</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The one object represents the complete system</a:t>
            </a:r>
            <a:r>
              <a:rPr lang="zh-CN" altLang="en-US" sz="2400" dirty="0">
                <a:ea typeface="宋体" panose="02010600030101010101" pitchFamily="2" charset="-122"/>
              </a:rPr>
              <a:t>（一个对象代表整个系统）</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Shows input &amp; output messaging requirements for a use case</a:t>
            </a:r>
            <a:r>
              <a:rPr lang="zh-CN" altLang="en-US" sz="2400" dirty="0">
                <a:ea typeface="宋体" panose="02010600030101010101" pitchFamily="2" charset="-122"/>
              </a:rPr>
              <a:t>（显示用例的输入和输出消息来传递需求）</a:t>
            </a:r>
            <a:endParaRPr lang="en-US" altLang="zh-CN" sz="2400" dirty="0">
              <a:ea typeface="宋体" panose="02010600030101010101" pitchFamily="2" charset="-122"/>
            </a:endParaRPr>
          </a:p>
          <a:p>
            <a:pPr eaLnBrk="1" hangingPunct="1"/>
            <a:r>
              <a:rPr lang="en-GB" altLang="zh-CN" sz="2800" dirty="0"/>
              <a:t>Actor, :</a:t>
            </a:r>
            <a:r>
              <a:rPr lang="en-GB" altLang="zh-CN" sz="2800" u="sng" dirty="0"/>
              <a:t>System</a:t>
            </a:r>
            <a:r>
              <a:rPr lang="en-GB" altLang="zh-CN" sz="2800" dirty="0"/>
              <a:t>, object lifeline</a:t>
            </a:r>
          </a:p>
          <a:p>
            <a:pPr eaLnBrk="1" hangingPunct="1"/>
            <a:r>
              <a:rPr lang="en-GB" altLang="zh-CN" sz="2800" dirty="0"/>
              <a:t>Messages</a:t>
            </a:r>
          </a:p>
        </p:txBody>
      </p:sp>
      <p:sp>
        <p:nvSpPr>
          <p:cNvPr id="21509" name="Footer Placeholder 4">
            <a:extLst>
              <a:ext uri="{FF2B5EF4-FFF2-40B4-BE49-F238E27FC236}">
                <a16:creationId xmlns:a16="http://schemas.microsoft.com/office/drawing/2014/main" id="{9A936D11-FE4E-4815-B157-0943BD2A44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1510" name="Rectangle 6">
            <a:extLst>
              <a:ext uri="{FF2B5EF4-FFF2-40B4-BE49-F238E27FC236}">
                <a16:creationId xmlns:a16="http://schemas.microsoft.com/office/drawing/2014/main" id="{66B74CCF-2C31-420F-9C14-2F05EEEB924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0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50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50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29</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dirty="0">
                <a:ea typeface="宋体" panose="02010600030101010101" pitchFamily="2" charset="-122"/>
              </a:rPr>
              <a:t>Message Notation</a:t>
            </a:r>
            <a:endParaRPr lang="en-US" altLang="zh-CN" sz="3200" dirty="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157163" y="1476375"/>
            <a:ext cx="8377237" cy="523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36184B9-44FF-4913-8C0B-3089A9B2B646}"/>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30</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a:ea typeface="宋体" panose="02010600030101010101" pitchFamily="2" charset="-122"/>
              </a:rPr>
              <a:t>Message Notation</a:t>
            </a:r>
            <a:endParaRPr lang="en-US" altLang="zh-CN" sz="320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157164" y="1476375"/>
            <a:ext cx="264318" cy="523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86D11-87D0-4EE9-820F-9BD77F8D1468}"/>
              </a:ext>
            </a:extLst>
          </p:cNvPr>
          <p:cNvSpPr/>
          <p:nvPr/>
        </p:nvSpPr>
        <p:spPr>
          <a:xfrm>
            <a:off x="421481" y="2292350"/>
            <a:ext cx="6893719" cy="32089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7026CF8-C6F1-4A3F-830C-3505A98B20F5}"/>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
        <p:nvSpPr>
          <p:cNvPr id="12" name="文本框 11">
            <a:extLst>
              <a:ext uri="{FF2B5EF4-FFF2-40B4-BE49-F238E27FC236}">
                <a16:creationId xmlns:a16="http://schemas.microsoft.com/office/drawing/2014/main" id="{95801A9D-06CA-4485-B956-9CEED32446D5}"/>
              </a:ext>
            </a:extLst>
          </p:cNvPr>
          <p:cNvSpPr txBox="1"/>
          <p:nvPr/>
        </p:nvSpPr>
        <p:spPr>
          <a:xfrm>
            <a:off x="1752600" y="2720680"/>
            <a:ext cx="4572000" cy="369332"/>
          </a:xfrm>
          <a:prstGeom prst="rect">
            <a:avLst/>
          </a:prstGeom>
          <a:solidFill>
            <a:srgbClr val="C00000"/>
          </a:solidFill>
        </p:spPr>
        <p:txBody>
          <a:bodyPr wrap="square">
            <a:spAutoFit/>
          </a:bodyPr>
          <a:lstStyle/>
          <a:p>
            <a:pPr algn="ctr"/>
            <a:r>
              <a:rPr lang="zh-CN" altLang="en-US" b="1" i="0" dirty="0">
                <a:solidFill>
                  <a:schemeClr val="bg1"/>
                </a:solidFill>
                <a:effectLst/>
                <a:latin typeface="PingFang SC"/>
              </a:rPr>
              <a:t>星号：消息是重复的或者循环发生的</a:t>
            </a:r>
            <a:endParaRPr lang="en-US" altLang="zh-CN" b="1" i="0" dirty="0">
              <a:solidFill>
                <a:schemeClr val="bg1"/>
              </a:solidFill>
              <a:effectLst/>
              <a:latin typeface="PingFang SC"/>
            </a:endParaRPr>
          </a:p>
        </p:txBody>
      </p:sp>
    </p:spTree>
    <p:extLst>
      <p:ext uri="{BB962C8B-B14F-4D97-AF65-F5344CB8AC3E}">
        <p14:creationId xmlns:p14="http://schemas.microsoft.com/office/powerpoint/2010/main" val="460731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31</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a:ea typeface="宋体" panose="02010600030101010101" pitchFamily="2" charset="-122"/>
              </a:rPr>
              <a:t>Message Notation</a:t>
            </a:r>
            <a:endParaRPr lang="en-US" altLang="zh-CN" sz="320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381000" y="1476375"/>
            <a:ext cx="2590800" cy="523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86D11-87D0-4EE9-820F-9BD77F8D1468}"/>
              </a:ext>
            </a:extLst>
          </p:cNvPr>
          <p:cNvSpPr/>
          <p:nvPr/>
        </p:nvSpPr>
        <p:spPr>
          <a:xfrm>
            <a:off x="416442" y="2620852"/>
            <a:ext cx="7813158" cy="80814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CAB9ADE-E94D-4C35-89BE-8085A3F020CF}"/>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
        <p:nvSpPr>
          <p:cNvPr id="12" name="文本框 11">
            <a:extLst>
              <a:ext uri="{FF2B5EF4-FFF2-40B4-BE49-F238E27FC236}">
                <a16:creationId xmlns:a16="http://schemas.microsoft.com/office/drawing/2014/main" id="{5F8B89B8-ACED-41BB-9072-005E24413CD4}"/>
              </a:ext>
            </a:extLst>
          </p:cNvPr>
          <p:cNvSpPr txBox="1"/>
          <p:nvPr/>
        </p:nvSpPr>
        <p:spPr>
          <a:xfrm>
            <a:off x="1676400" y="3707551"/>
            <a:ext cx="4572000"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括号：真</a:t>
            </a:r>
            <a:r>
              <a:rPr lang="en-US" altLang="zh-CN" b="1" i="0" dirty="0">
                <a:solidFill>
                  <a:schemeClr val="bg1"/>
                </a:solidFill>
                <a:effectLst/>
                <a:latin typeface="PingFang SC"/>
              </a:rPr>
              <a:t>/</a:t>
            </a:r>
            <a:r>
              <a:rPr lang="zh-CN" altLang="en-US" b="1" i="0" dirty="0">
                <a:solidFill>
                  <a:schemeClr val="bg1"/>
                </a:solidFill>
                <a:effectLst/>
                <a:latin typeface="PingFang SC"/>
              </a:rPr>
              <a:t>假的状态判断；如果为真，则消息发送，否则不发送</a:t>
            </a:r>
            <a:endParaRPr lang="en-US" altLang="zh-CN" b="1" i="0" dirty="0">
              <a:solidFill>
                <a:schemeClr val="bg1"/>
              </a:solidFill>
              <a:effectLst/>
              <a:latin typeface="PingFang SC"/>
            </a:endParaRPr>
          </a:p>
        </p:txBody>
      </p:sp>
    </p:spTree>
    <p:extLst>
      <p:ext uri="{BB962C8B-B14F-4D97-AF65-F5344CB8AC3E}">
        <p14:creationId xmlns:p14="http://schemas.microsoft.com/office/powerpoint/2010/main" val="4089572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32</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a:ea typeface="宋体" panose="02010600030101010101" pitchFamily="2" charset="-122"/>
              </a:rPr>
              <a:t>Message Notation</a:t>
            </a:r>
            <a:endParaRPr lang="en-US" altLang="zh-CN" sz="320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4800600" y="1476375"/>
            <a:ext cx="1828800" cy="523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86D11-87D0-4EE9-820F-9BD77F8D1468}"/>
              </a:ext>
            </a:extLst>
          </p:cNvPr>
          <p:cNvSpPr/>
          <p:nvPr/>
        </p:nvSpPr>
        <p:spPr>
          <a:xfrm>
            <a:off x="381000" y="3429000"/>
            <a:ext cx="7813158" cy="58340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C4936DF-FCF2-496F-8907-A4FC321CAAE1}"/>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
        <p:nvSpPr>
          <p:cNvPr id="14" name="文本框 13">
            <a:extLst>
              <a:ext uri="{FF2B5EF4-FFF2-40B4-BE49-F238E27FC236}">
                <a16:creationId xmlns:a16="http://schemas.microsoft.com/office/drawing/2014/main" id="{E520401E-6728-41BB-821D-9EB8A21B1C8C}"/>
              </a:ext>
            </a:extLst>
          </p:cNvPr>
          <p:cNvSpPr txBox="1"/>
          <p:nvPr/>
        </p:nvSpPr>
        <p:spPr>
          <a:xfrm>
            <a:off x="1582737" y="4276891"/>
            <a:ext cx="6324600"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消息名：对所请求服务的描述。它在虚线返回消息中被省略，虚线返回消息只显示返回数据参数</a:t>
            </a:r>
          </a:p>
        </p:txBody>
      </p:sp>
    </p:spTree>
    <p:extLst>
      <p:ext uri="{BB962C8B-B14F-4D97-AF65-F5344CB8AC3E}">
        <p14:creationId xmlns:p14="http://schemas.microsoft.com/office/powerpoint/2010/main" val="2472166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33</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a:ea typeface="宋体" panose="02010600030101010101" pitchFamily="2" charset="-122"/>
              </a:rPr>
              <a:t>Message Notation</a:t>
            </a:r>
            <a:endParaRPr lang="en-US" altLang="zh-CN" sz="320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6629399" y="1470025"/>
            <a:ext cx="1870075" cy="523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86D11-87D0-4EE9-820F-9BD77F8D1468}"/>
              </a:ext>
            </a:extLst>
          </p:cNvPr>
          <p:cNvSpPr/>
          <p:nvPr/>
        </p:nvSpPr>
        <p:spPr>
          <a:xfrm>
            <a:off x="427074" y="3962400"/>
            <a:ext cx="7813158"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C4936DF-FCF2-496F-8907-A4FC321CAAE1}"/>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
        <p:nvSpPr>
          <p:cNvPr id="14" name="文本框 13">
            <a:extLst>
              <a:ext uri="{FF2B5EF4-FFF2-40B4-BE49-F238E27FC236}">
                <a16:creationId xmlns:a16="http://schemas.microsoft.com/office/drawing/2014/main" id="{4693D012-79B4-4353-9182-540DA8CEAD02}"/>
              </a:ext>
            </a:extLst>
          </p:cNvPr>
          <p:cNvSpPr txBox="1"/>
          <p:nvPr/>
        </p:nvSpPr>
        <p:spPr>
          <a:xfrm>
            <a:off x="1229833" y="5109502"/>
            <a:ext cx="6324600"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参数列表：显示与消息一起传递的数据（初始消息有括号，返回消息没有括号）</a:t>
            </a:r>
          </a:p>
        </p:txBody>
      </p:sp>
    </p:spTree>
    <p:extLst>
      <p:ext uri="{BB962C8B-B14F-4D97-AF65-F5344CB8AC3E}">
        <p14:creationId xmlns:p14="http://schemas.microsoft.com/office/powerpoint/2010/main" val="3705173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34</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a:ea typeface="宋体" panose="02010600030101010101" pitchFamily="2" charset="-122"/>
              </a:rPr>
              <a:t>Message Notation</a:t>
            </a:r>
            <a:endParaRPr lang="en-US" altLang="zh-CN" sz="320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457200" y="4782916"/>
            <a:ext cx="8042275" cy="85588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86D11-87D0-4EE9-820F-9BD77F8D1468}"/>
              </a:ext>
            </a:extLst>
          </p:cNvPr>
          <p:cNvSpPr/>
          <p:nvPr/>
        </p:nvSpPr>
        <p:spPr>
          <a:xfrm>
            <a:off x="2971800" y="1447800"/>
            <a:ext cx="1524000" cy="5175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C4936DF-FCF2-496F-8907-A4FC321CAAE1}"/>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
        <p:nvSpPr>
          <p:cNvPr id="11" name="文本框 10">
            <a:extLst>
              <a:ext uri="{FF2B5EF4-FFF2-40B4-BE49-F238E27FC236}">
                <a16:creationId xmlns:a16="http://schemas.microsoft.com/office/drawing/2014/main" id="{449953C1-F458-47C1-A419-0A47EF9D47EA}"/>
              </a:ext>
            </a:extLst>
          </p:cNvPr>
          <p:cNvSpPr txBox="1"/>
          <p:nvPr/>
        </p:nvSpPr>
        <p:spPr>
          <a:xfrm>
            <a:off x="1028700" y="4277575"/>
            <a:ext cx="6934200" cy="369332"/>
          </a:xfrm>
          <a:prstGeom prst="rect">
            <a:avLst/>
          </a:prstGeom>
          <a:solidFill>
            <a:srgbClr val="C00000"/>
          </a:solidFill>
        </p:spPr>
        <p:txBody>
          <a:bodyPr wrap="square">
            <a:spAutoFit/>
          </a:bodyPr>
          <a:lstStyle/>
          <a:p>
            <a:r>
              <a:rPr lang="zh-CN" altLang="en-US" b="1" i="0" dirty="0">
                <a:solidFill>
                  <a:schemeClr val="bg1"/>
                </a:solidFill>
                <a:effectLst/>
                <a:latin typeface="PingFang SC"/>
              </a:rPr>
              <a:t>返回值：描述作为对消息的响应从目标对象返回到源对象的数据</a:t>
            </a:r>
          </a:p>
        </p:txBody>
      </p:sp>
    </p:spTree>
    <p:extLst>
      <p:ext uri="{BB962C8B-B14F-4D97-AF65-F5344CB8AC3E}">
        <p14:creationId xmlns:p14="http://schemas.microsoft.com/office/powerpoint/2010/main" val="1947031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6">
            <a:extLst>
              <a:ext uri="{FF2B5EF4-FFF2-40B4-BE49-F238E27FC236}">
                <a16:creationId xmlns:a16="http://schemas.microsoft.com/office/drawing/2014/main" id="{AE00FAD4-998F-45E6-8A0E-F6D9E106EB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103FD2-89FD-460E-ACD4-21A3D2178ACA}" type="slidenum">
              <a:rPr lang="en-US" altLang="en-US"/>
              <a:pPr eaLnBrk="1" hangingPunct="1"/>
              <a:t>35</a:t>
            </a:fld>
            <a:endParaRPr lang="en-US" altLang="en-US"/>
          </a:p>
        </p:txBody>
      </p:sp>
      <p:sp>
        <p:nvSpPr>
          <p:cNvPr id="24579" name="Rectangle 2">
            <a:extLst>
              <a:ext uri="{FF2B5EF4-FFF2-40B4-BE49-F238E27FC236}">
                <a16:creationId xmlns:a16="http://schemas.microsoft.com/office/drawing/2014/main" id="{176DB899-A1CF-450B-8CA4-C7E9D82E801E}"/>
              </a:ext>
            </a:extLst>
          </p:cNvPr>
          <p:cNvSpPr>
            <a:spLocks noGrp="1" noChangeArrowheads="1"/>
          </p:cNvSpPr>
          <p:nvPr>
            <p:ph type="title"/>
          </p:nvPr>
        </p:nvSpPr>
        <p:spPr>
          <a:xfrm>
            <a:off x="228600" y="304800"/>
            <a:ext cx="2819400" cy="3581400"/>
          </a:xfrm>
        </p:spPr>
        <p:txBody>
          <a:bodyPr/>
          <a:lstStyle/>
          <a:p>
            <a:pPr eaLnBrk="1" hangingPunct="1"/>
            <a:r>
              <a:rPr lang="en-US" altLang="zh-CN" sz="3200" dirty="0">
                <a:ea typeface="宋体" panose="02010600030101010101" pitchFamily="2" charset="-122"/>
              </a:rPr>
              <a:t>SSD Message Examples with Loop Frame</a:t>
            </a:r>
            <a:br>
              <a:rPr lang="en-US" altLang="zh-CN" sz="3200" dirty="0">
                <a:ea typeface="宋体" panose="02010600030101010101" pitchFamily="2" charset="-122"/>
              </a:rPr>
            </a:br>
            <a:r>
              <a:rPr lang="zh-CN" altLang="en-US" sz="3200" dirty="0">
                <a:ea typeface="宋体" panose="02010600030101010101" pitchFamily="2" charset="-122"/>
              </a:rPr>
              <a:t>（带环路的系统顺序图）</a:t>
            </a:r>
            <a:br>
              <a:rPr lang="en-US" altLang="zh-CN" sz="3200" dirty="0">
                <a:ea typeface="宋体" panose="02010600030101010101" pitchFamily="2" charset="-122"/>
              </a:rPr>
            </a:br>
            <a:br>
              <a:rPr lang="en-US" altLang="zh-CN" sz="3200" dirty="0">
                <a:ea typeface="宋体" panose="02010600030101010101" pitchFamily="2" charset="-122"/>
              </a:rPr>
            </a:br>
            <a:endParaRPr lang="en-US" altLang="zh-CN" sz="2400" i="1" dirty="0">
              <a:ea typeface="宋体" panose="02010600030101010101" pitchFamily="2" charset="-122"/>
            </a:endParaRPr>
          </a:p>
        </p:txBody>
      </p:sp>
      <p:sp>
        <p:nvSpPr>
          <p:cNvPr id="24580" name="Rectangle 3">
            <a:extLst>
              <a:ext uri="{FF2B5EF4-FFF2-40B4-BE49-F238E27FC236}">
                <a16:creationId xmlns:a16="http://schemas.microsoft.com/office/drawing/2014/main" id="{2387B9DB-678A-413A-A541-BE1E925C30AA}"/>
              </a:ext>
            </a:extLst>
          </p:cNvPr>
          <p:cNvSpPr>
            <a:spLocks noGrp="1" noChangeArrowheads="1"/>
          </p:cNvSpPr>
          <p:nvPr>
            <p:ph type="body" sz="half" idx="1"/>
          </p:nvPr>
        </p:nvSpPr>
        <p:spPr>
          <a:xfrm>
            <a:off x="457200" y="1447800"/>
            <a:ext cx="8001000" cy="4724400"/>
          </a:xfrm>
          <a:noFill/>
        </p:spPr>
        <p:txBody>
          <a:bodyPr/>
          <a:lstStyle/>
          <a:p>
            <a:pPr eaLnBrk="1" hangingPunct="1"/>
            <a:endParaRPr lang="en-GB" altLang="zh-CN" sz="2600"/>
          </a:p>
          <a:p>
            <a:pPr eaLnBrk="1" hangingPunct="1"/>
            <a:endParaRPr lang="en-GB" altLang="zh-CN" sz="2800"/>
          </a:p>
        </p:txBody>
      </p:sp>
      <p:sp>
        <p:nvSpPr>
          <p:cNvPr id="24581" name="Rectangle 4">
            <a:extLst>
              <a:ext uri="{FF2B5EF4-FFF2-40B4-BE49-F238E27FC236}">
                <a16:creationId xmlns:a16="http://schemas.microsoft.com/office/drawing/2014/main" id="{ACCC7767-96CB-455F-9643-A18CC93887D0}"/>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4582" name="Picture 6">
            <a:extLst>
              <a:ext uri="{FF2B5EF4-FFF2-40B4-BE49-F238E27FC236}">
                <a16:creationId xmlns:a16="http://schemas.microsoft.com/office/drawing/2014/main" id="{ED53FAF4-AB72-43FA-A456-C8B63B8CE4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52400"/>
            <a:ext cx="5357813" cy="610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Footer Placeholder 4">
            <a:extLst>
              <a:ext uri="{FF2B5EF4-FFF2-40B4-BE49-F238E27FC236}">
                <a16:creationId xmlns:a16="http://schemas.microsoft.com/office/drawing/2014/main" id="{BF80F513-F687-491F-BE61-ECD85A3B9B2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4584" name="Rectangle 8">
            <a:extLst>
              <a:ext uri="{FF2B5EF4-FFF2-40B4-BE49-F238E27FC236}">
                <a16:creationId xmlns:a16="http://schemas.microsoft.com/office/drawing/2014/main" id="{BCC810C1-F61D-4DE7-9329-CAD667D4AEB0}"/>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矩形 8">
            <a:extLst>
              <a:ext uri="{FF2B5EF4-FFF2-40B4-BE49-F238E27FC236}">
                <a16:creationId xmlns:a16="http://schemas.microsoft.com/office/drawing/2014/main" id="{EFBBD107-38C1-4614-A5CF-906A6E195240}"/>
              </a:ext>
            </a:extLst>
          </p:cNvPr>
          <p:cNvSpPr/>
          <p:nvPr/>
        </p:nvSpPr>
        <p:spPr>
          <a:xfrm>
            <a:off x="3429001" y="4953000"/>
            <a:ext cx="2743200" cy="609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6">
            <a:extLst>
              <a:ext uri="{FF2B5EF4-FFF2-40B4-BE49-F238E27FC236}">
                <a16:creationId xmlns:a16="http://schemas.microsoft.com/office/drawing/2014/main" id="{8E434A21-7DB4-453E-B216-2ADCDA80BE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F36CAD-5A56-4DB5-AF8A-A7D566A0C9D9}" type="slidenum">
              <a:rPr lang="en-US" altLang="en-US"/>
              <a:pPr eaLnBrk="1" hangingPunct="1"/>
              <a:t>36</a:t>
            </a:fld>
            <a:endParaRPr lang="en-US" altLang="en-US"/>
          </a:p>
        </p:txBody>
      </p:sp>
      <p:sp>
        <p:nvSpPr>
          <p:cNvPr id="25603" name="Rectangle 2">
            <a:extLst>
              <a:ext uri="{FF2B5EF4-FFF2-40B4-BE49-F238E27FC236}">
                <a16:creationId xmlns:a16="http://schemas.microsoft.com/office/drawing/2014/main" id="{62D959B8-60E8-4A70-9741-741791A89542}"/>
              </a:ext>
            </a:extLst>
          </p:cNvPr>
          <p:cNvSpPr>
            <a:spLocks noGrp="1" noChangeArrowheads="1"/>
          </p:cNvSpPr>
          <p:nvPr>
            <p:ph type="title"/>
          </p:nvPr>
        </p:nvSpPr>
        <p:spPr>
          <a:xfrm>
            <a:off x="228600" y="304800"/>
            <a:ext cx="2819400" cy="5562600"/>
          </a:xfrm>
        </p:spPr>
        <p:txBody>
          <a:bodyPr/>
          <a:lstStyle/>
          <a:p>
            <a:pPr eaLnBrk="1" hangingPunct="1"/>
            <a:r>
              <a:rPr lang="en-US" altLang="zh-CN" sz="3200" dirty="0">
                <a:ea typeface="宋体" panose="02010600030101010101" pitchFamily="2" charset="-122"/>
              </a:rPr>
              <a:t>SSD Message Examples</a:t>
            </a:r>
            <a:br>
              <a:rPr lang="en-US" altLang="zh-CN" sz="3200" dirty="0">
                <a:ea typeface="宋体" panose="02010600030101010101" pitchFamily="2" charset="-122"/>
              </a:rPr>
            </a:br>
            <a:br>
              <a:rPr lang="en-US" altLang="zh-CN" sz="2800" dirty="0">
                <a:ea typeface="宋体" panose="02010600030101010101" pitchFamily="2" charset="-122"/>
              </a:rPr>
            </a:br>
            <a:r>
              <a:rPr lang="en-US" altLang="zh-CN" sz="2800" dirty="0" err="1">
                <a:ea typeface="宋体" panose="02010600030101010101" pitchFamily="2" charset="-122"/>
              </a:rPr>
              <a:t>Opt</a:t>
            </a:r>
            <a:r>
              <a:rPr lang="en-US" altLang="zh-CN" sz="2800" dirty="0">
                <a:ea typeface="宋体" panose="02010600030101010101" pitchFamily="2" charset="-122"/>
              </a:rPr>
              <a:t> Frame (optional)</a:t>
            </a:r>
            <a:br>
              <a:rPr lang="en-US" altLang="zh-CN" sz="2800" dirty="0">
                <a:ea typeface="宋体" panose="02010600030101010101" pitchFamily="2" charset="-122"/>
              </a:rPr>
            </a:br>
            <a:r>
              <a:rPr lang="zh-CN" altLang="en-US" sz="2800" dirty="0">
                <a:ea typeface="宋体" panose="02010600030101010101" pitchFamily="2" charset="-122"/>
              </a:rPr>
              <a:t>可选框架</a:t>
            </a:r>
            <a:br>
              <a:rPr lang="en-US" altLang="zh-CN" sz="28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800" dirty="0">
                <a:solidFill>
                  <a:srgbClr val="C00000"/>
                </a:solidFill>
                <a:ea typeface="宋体" panose="02010600030101010101" pitchFamily="2" charset="-122"/>
              </a:rPr>
              <a:t>Alt Frame</a:t>
            </a:r>
            <a:br>
              <a:rPr lang="en-US" altLang="zh-CN" sz="2800" dirty="0">
                <a:solidFill>
                  <a:srgbClr val="C00000"/>
                </a:solidFill>
                <a:ea typeface="宋体" panose="02010600030101010101" pitchFamily="2" charset="-122"/>
              </a:rPr>
            </a:br>
            <a:r>
              <a:rPr lang="en-US" altLang="zh-CN" sz="2800" dirty="0">
                <a:solidFill>
                  <a:srgbClr val="C00000"/>
                </a:solidFill>
                <a:ea typeface="宋体" panose="02010600030101010101" pitchFamily="2" charset="-122"/>
              </a:rPr>
              <a:t>(if-else)</a:t>
            </a:r>
            <a:br>
              <a:rPr lang="en-US" altLang="zh-CN" sz="2800" dirty="0">
                <a:solidFill>
                  <a:srgbClr val="C00000"/>
                </a:solidFill>
                <a:ea typeface="宋体" panose="02010600030101010101" pitchFamily="2" charset="-122"/>
              </a:rPr>
            </a:br>
            <a:r>
              <a:rPr lang="zh-CN" altLang="en-US" sz="2800" dirty="0">
                <a:solidFill>
                  <a:srgbClr val="C00000"/>
                </a:solidFill>
                <a:ea typeface="宋体" panose="02010600030101010101" pitchFamily="2" charset="-122"/>
              </a:rPr>
              <a:t>判断框架</a:t>
            </a:r>
            <a:endParaRPr lang="en-US" altLang="zh-CN" sz="2800" i="1" dirty="0">
              <a:ea typeface="宋体" panose="02010600030101010101" pitchFamily="2" charset="-122"/>
            </a:endParaRPr>
          </a:p>
        </p:txBody>
      </p:sp>
      <p:sp>
        <p:nvSpPr>
          <p:cNvPr id="25604" name="Rectangle 3">
            <a:extLst>
              <a:ext uri="{FF2B5EF4-FFF2-40B4-BE49-F238E27FC236}">
                <a16:creationId xmlns:a16="http://schemas.microsoft.com/office/drawing/2014/main" id="{BEBBC807-BDD6-4AC3-98CB-8F55F44CAA25}"/>
              </a:ext>
            </a:extLst>
          </p:cNvPr>
          <p:cNvSpPr>
            <a:spLocks noGrp="1" noChangeArrowheads="1"/>
          </p:cNvSpPr>
          <p:nvPr>
            <p:ph type="body" sz="half" idx="1"/>
          </p:nvPr>
        </p:nvSpPr>
        <p:spPr>
          <a:xfrm>
            <a:off x="457200" y="1447800"/>
            <a:ext cx="8001000" cy="4724400"/>
          </a:xfrm>
          <a:noFill/>
        </p:spPr>
        <p:txBody>
          <a:bodyPr/>
          <a:lstStyle/>
          <a:p>
            <a:pPr eaLnBrk="1" hangingPunct="1"/>
            <a:endParaRPr lang="en-GB" altLang="zh-CN" sz="2600" dirty="0"/>
          </a:p>
          <a:p>
            <a:pPr eaLnBrk="1" hangingPunct="1"/>
            <a:endParaRPr lang="en-GB" altLang="zh-CN" sz="2800" dirty="0"/>
          </a:p>
        </p:txBody>
      </p:sp>
      <p:sp>
        <p:nvSpPr>
          <p:cNvPr id="25605" name="Rectangle 4">
            <a:extLst>
              <a:ext uri="{FF2B5EF4-FFF2-40B4-BE49-F238E27FC236}">
                <a16:creationId xmlns:a16="http://schemas.microsoft.com/office/drawing/2014/main" id="{459DB773-2879-4590-8C78-F12082643108}"/>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5606" name="Picture 6">
            <a:extLst>
              <a:ext uri="{FF2B5EF4-FFF2-40B4-BE49-F238E27FC236}">
                <a16:creationId xmlns:a16="http://schemas.microsoft.com/office/drawing/2014/main" id="{652C40B0-6225-495E-B53F-B4C345B32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52400"/>
            <a:ext cx="3732213" cy="608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Footer Placeholder 4">
            <a:extLst>
              <a:ext uri="{FF2B5EF4-FFF2-40B4-BE49-F238E27FC236}">
                <a16:creationId xmlns:a16="http://schemas.microsoft.com/office/drawing/2014/main" id="{E4366C63-CC02-4957-AE3A-54FC8DFD4FC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5608" name="Rectangle 8">
            <a:extLst>
              <a:ext uri="{FF2B5EF4-FFF2-40B4-BE49-F238E27FC236}">
                <a16:creationId xmlns:a16="http://schemas.microsoft.com/office/drawing/2014/main" id="{2B7E4B15-4613-4106-9249-60AFA96D3A3C}"/>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6">
            <a:extLst>
              <a:ext uri="{FF2B5EF4-FFF2-40B4-BE49-F238E27FC236}">
                <a16:creationId xmlns:a16="http://schemas.microsoft.com/office/drawing/2014/main" id="{2D172FF0-6526-4F4A-BC79-E886B5BE6A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25930D-6BB4-4451-8089-709F2BE94AF0}" type="slidenum">
              <a:rPr lang="en-US" altLang="en-US"/>
              <a:pPr eaLnBrk="1" hangingPunct="1"/>
              <a:t>37</a:t>
            </a:fld>
            <a:endParaRPr lang="en-US" altLang="en-US"/>
          </a:p>
        </p:txBody>
      </p:sp>
      <p:sp>
        <p:nvSpPr>
          <p:cNvPr id="26627" name="Rectangle 2">
            <a:extLst>
              <a:ext uri="{FF2B5EF4-FFF2-40B4-BE49-F238E27FC236}">
                <a16:creationId xmlns:a16="http://schemas.microsoft.com/office/drawing/2014/main" id="{9E144777-BE4C-4D67-837D-79C4285D4966}"/>
              </a:ext>
            </a:extLst>
          </p:cNvPr>
          <p:cNvSpPr>
            <a:spLocks noGrp="1" noChangeArrowheads="1"/>
          </p:cNvSpPr>
          <p:nvPr>
            <p:ph type="title"/>
          </p:nvPr>
        </p:nvSpPr>
        <p:spPr>
          <a:xfrm>
            <a:off x="457200" y="122238"/>
            <a:ext cx="7543800" cy="1096962"/>
          </a:xfrm>
        </p:spPr>
        <p:txBody>
          <a:bodyPr/>
          <a:lstStyle/>
          <a:p>
            <a:pPr eaLnBrk="1" hangingPunct="1"/>
            <a:r>
              <a:rPr lang="en-US" altLang="zh-CN" sz="4000" dirty="0">
                <a:ea typeface="宋体" panose="02010600030101010101" pitchFamily="2" charset="-122"/>
              </a:rPr>
              <a:t>Steps for Developing SSD</a:t>
            </a:r>
            <a:endParaRPr lang="en-US" altLang="zh-CN" sz="3200" dirty="0">
              <a:ea typeface="宋体" panose="02010600030101010101" pitchFamily="2" charset="-122"/>
            </a:endParaRPr>
          </a:p>
        </p:txBody>
      </p:sp>
      <p:sp>
        <p:nvSpPr>
          <p:cNvPr id="26628" name="Rectangle 5">
            <a:extLst>
              <a:ext uri="{FF2B5EF4-FFF2-40B4-BE49-F238E27FC236}">
                <a16:creationId xmlns:a16="http://schemas.microsoft.com/office/drawing/2014/main" id="{423FD2C2-6F96-4E71-9A21-31BCAEE444CC}"/>
              </a:ext>
            </a:extLst>
          </p:cNvPr>
          <p:cNvSpPr>
            <a:spLocks noGrp="1" noChangeArrowheads="1"/>
          </p:cNvSpPr>
          <p:nvPr>
            <p:ph type="body" sz="half" idx="1"/>
          </p:nvPr>
        </p:nvSpPr>
        <p:spPr>
          <a:xfrm>
            <a:off x="457200" y="1219200"/>
            <a:ext cx="8001000" cy="4953000"/>
          </a:xfrm>
          <a:noFill/>
        </p:spPr>
        <p:txBody>
          <a:bodyPr/>
          <a:lstStyle/>
          <a:p>
            <a:pPr marL="495300" indent="-495300" eaLnBrk="1" hangingPunct="1">
              <a:lnSpc>
                <a:spcPct val="90000"/>
              </a:lnSpc>
              <a:buFont typeface="Wingdings" panose="05000000000000000000" pitchFamily="2" charset="2"/>
              <a:buAutoNum type="arabicPeriod"/>
            </a:pPr>
            <a:r>
              <a:rPr lang="en-GB" altLang="zh-CN" sz="2600" dirty="0"/>
              <a:t>Identify </a:t>
            </a:r>
            <a:r>
              <a:rPr lang="en-GB" altLang="zh-CN" sz="2600" dirty="0">
                <a:solidFill>
                  <a:srgbClr val="C00000"/>
                </a:solidFill>
              </a:rPr>
              <a:t>input </a:t>
            </a:r>
            <a:r>
              <a:rPr lang="en-GB" altLang="zh-CN" sz="2600" dirty="0"/>
              <a:t>message</a:t>
            </a:r>
            <a:r>
              <a:rPr lang="zh-CN" altLang="en-US" sz="2600" dirty="0"/>
              <a:t>（识别输入消息）</a:t>
            </a:r>
            <a:endParaRPr lang="en-GB" altLang="zh-CN" sz="2600" dirty="0"/>
          </a:p>
          <a:p>
            <a:pPr marL="763588" lvl="1" indent="-419100" eaLnBrk="1" hangingPunct="1">
              <a:lnSpc>
                <a:spcPct val="90000"/>
              </a:lnSpc>
            </a:pPr>
            <a:r>
              <a:rPr lang="en-GB" altLang="zh-CN" sz="2200" dirty="0"/>
              <a:t>See use case flow of activities or activity diagram</a:t>
            </a:r>
            <a:r>
              <a:rPr lang="zh-CN" altLang="en-US" sz="2200" dirty="0"/>
              <a:t>（请参阅活动的用例流或活动图）</a:t>
            </a:r>
            <a:endParaRPr lang="en-GB" altLang="zh-CN" sz="2200" dirty="0"/>
          </a:p>
          <a:p>
            <a:pPr marL="495300" indent="-495300" eaLnBrk="1" hangingPunct="1">
              <a:lnSpc>
                <a:spcPct val="90000"/>
              </a:lnSpc>
              <a:buFont typeface="Wingdings" panose="05000000000000000000" pitchFamily="2" charset="2"/>
              <a:buAutoNum type="arabicPeriod"/>
            </a:pPr>
            <a:r>
              <a:rPr lang="en-GB" altLang="zh-CN" sz="2600" dirty="0"/>
              <a:t>Describe the message from the external actor to the system using the </a:t>
            </a:r>
            <a:r>
              <a:rPr lang="en-GB" altLang="zh-CN" sz="2600" dirty="0">
                <a:solidFill>
                  <a:srgbClr val="C00000"/>
                </a:solidFill>
              </a:rPr>
              <a:t>message</a:t>
            </a:r>
            <a:r>
              <a:rPr lang="en-GB" altLang="zh-CN" sz="2600" dirty="0"/>
              <a:t> notation</a:t>
            </a:r>
            <a:r>
              <a:rPr lang="zh-CN" altLang="en-US" sz="2600" dirty="0"/>
              <a:t>（使用消息符号描述从外部参与者到系统的消息）</a:t>
            </a:r>
            <a:endParaRPr lang="en-US" altLang="zh-CN" sz="2600" dirty="0">
              <a:ea typeface="宋体" panose="02010600030101010101" pitchFamily="2" charset="-122"/>
            </a:endParaRPr>
          </a:p>
          <a:p>
            <a:pPr marL="763588" lvl="1" indent="-419100" eaLnBrk="1" hangingPunct="1">
              <a:lnSpc>
                <a:spcPct val="90000"/>
              </a:lnSpc>
            </a:pPr>
            <a:r>
              <a:rPr lang="en-US" altLang="zh-CN" sz="2200" dirty="0">
                <a:ea typeface="宋体" panose="02010600030101010101" pitchFamily="2" charset="-122"/>
              </a:rPr>
              <a:t>Name it verb-noun: what the system is asked to do</a:t>
            </a:r>
            <a:r>
              <a:rPr lang="zh-CN" altLang="en-US" sz="2200" dirty="0">
                <a:ea typeface="宋体" panose="02010600030101010101" pitchFamily="2" charset="-122"/>
              </a:rPr>
              <a:t>（使其命名为动词</a:t>
            </a:r>
            <a:r>
              <a:rPr lang="en-US" altLang="zh-CN" sz="2200" dirty="0">
                <a:ea typeface="宋体" panose="02010600030101010101" pitchFamily="2" charset="-122"/>
              </a:rPr>
              <a:t>-</a:t>
            </a:r>
            <a:r>
              <a:rPr lang="zh-CN" altLang="en-US" sz="2200" dirty="0">
                <a:ea typeface="宋体" panose="02010600030101010101" pitchFamily="2" charset="-122"/>
              </a:rPr>
              <a:t>名词：系统被要求做什么）</a:t>
            </a:r>
            <a:r>
              <a:rPr lang="en-US" altLang="zh-CN" sz="2200" dirty="0">
                <a:ea typeface="宋体" panose="02010600030101010101" pitchFamily="2" charset="-122"/>
              </a:rPr>
              <a:t> </a:t>
            </a:r>
          </a:p>
          <a:p>
            <a:pPr marL="763588" lvl="1" indent="-419100" eaLnBrk="1" hangingPunct="1">
              <a:lnSpc>
                <a:spcPct val="90000"/>
              </a:lnSpc>
            </a:pPr>
            <a:r>
              <a:rPr lang="en-US" altLang="zh-CN" sz="2200" dirty="0">
                <a:ea typeface="宋体" panose="02010600030101010101" pitchFamily="2" charset="-122"/>
              </a:rPr>
              <a:t>Consider parameters the system will need</a:t>
            </a:r>
            <a:r>
              <a:rPr lang="zh-CN" altLang="en-US" sz="2200" dirty="0">
                <a:ea typeface="宋体" panose="02010600030101010101" pitchFamily="2" charset="-122"/>
              </a:rPr>
              <a:t>（考虑系统需要的参数）</a:t>
            </a:r>
            <a:endParaRPr lang="en-US" altLang="zh-CN" sz="2200" dirty="0">
              <a:ea typeface="宋体" panose="02010600030101010101" pitchFamily="2" charset="-122"/>
            </a:endParaRPr>
          </a:p>
          <a:p>
            <a:pPr marL="495300" indent="-495300" eaLnBrk="1" hangingPunct="1">
              <a:lnSpc>
                <a:spcPct val="90000"/>
              </a:lnSpc>
              <a:buFont typeface="Wingdings" panose="05000000000000000000" pitchFamily="2" charset="2"/>
              <a:buAutoNum type="arabicPeriod"/>
            </a:pPr>
            <a:endParaRPr lang="en-GB" altLang="zh-CN" sz="2200" dirty="0"/>
          </a:p>
        </p:txBody>
      </p:sp>
      <p:sp>
        <p:nvSpPr>
          <p:cNvPr id="26629" name="Footer Placeholder 4">
            <a:extLst>
              <a:ext uri="{FF2B5EF4-FFF2-40B4-BE49-F238E27FC236}">
                <a16:creationId xmlns:a16="http://schemas.microsoft.com/office/drawing/2014/main" id="{1F221F6C-86E1-442D-ACED-65416AF156D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6630" name="Rectangle 6">
            <a:extLst>
              <a:ext uri="{FF2B5EF4-FFF2-40B4-BE49-F238E27FC236}">
                <a16:creationId xmlns:a16="http://schemas.microsoft.com/office/drawing/2014/main" id="{0E63F56F-79E1-4616-81E8-6B4CB262BFF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6">
            <a:extLst>
              <a:ext uri="{FF2B5EF4-FFF2-40B4-BE49-F238E27FC236}">
                <a16:creationId xmlns:a16="http://schemas.microsoft.com/office/drawing/2014/main" id="{2D172FF0-6526-4F4A-BC79-E886B5BE6A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25930D-6BB4-4451-8089-709F2BE94AF0}" type="slidenum">
              <a:rPr lang="en-US" altLang="en-US"/>
              <a:pPr eaLnBrk="1" hangingPunct="1"/>
              <a:t>38</a:t>
            </a:fld>
            <a:endParaRPr lang="en-US" altLang="en-US"/>
          </a:p>
        </p:txBody>
      </p:sp>
      <p:sp>
        <p:nvSpPr>
          <p:cNvPr id="26627" name="Rectangle 2">
            <a:extLst>
              <a:ext uri="{FF2B5EF4-FFF2-40B4-BE49-F238E27FC236}">
                <a16:creationId xmlns:a16="http://schemas.microsoft.com/office/drawing/2014/main" id="{9E144777-BE4C-4D67-837D-79C4285D4966}"/>
              </a:ext>
            </a:extLst>
          </p:cNvPr>
          <p:cNvSpPr>
            <a:spLocks noGrp="1" noChangeArrowheads="1"/>
          </p:cNvSpPr>
          <p:nvPr>
            <p:ph type="title"/>
          </p:nvPr>
        </p:nvSpPr>
        <p:spPr>
          <a:xfrm>
            <a:off x="457200" y="122238"/>
            <a:ext cx="7543800" cy="1096962"/>
          </a:xfrm>
        </p:spPr>
        <p:txBody>
          <a:bodyPr/>
          <a:lstStyle/>
          <a:p>
            <a:pPr eaLnBrk="1" hangingPunct="1"/>
            <a:r>
              <a:rPr lang="en-US" altLang="zh-CN" sz="4000" dirty="0">
                <a:ea typeface="宋体" panose="02010600030101010101" pitchFamily="2" charset="-122"/>
              </a:rPr>
              <a:t>Steps for Developing SSD</a:t>
            </a:r>
            <a:endParaRPr lang="en-US" altLang="zh-CN" sz="3200" dirty="0">
              <a:ea typeface="宋体" panose="02010600030101010101" pitchFamily="2" charset="-122"/>
            </a:endParaRPr>
          </a:p>
        </p:txBody>
      </p:sp>
      <p:sp>
        <p:nvSpPr>
          <p:cNvPr id="26628" name="Rectangle 5">
            <a:extLst>
              <a:ext uri="{FF2B5EF4-FFF2-40B4-BE49-F238E27FC236}">
                <a16:creationId xmlns:a16="http://schemas.microsoft.com/office/drawing/2014/main" id="{423FD2C2-6F96-4E71-9A21-31BCAEE444CC}"/>
              </a:ext>
            </a:extLst>
          </p:cNvPr>
          <p:cNvSpPr>
            <a:spLocks noGrp="1" noChangeArrowheads="1"/>
          </p:cNvSpPr>
          <p:nvPr>
            <p:ph type="body" sz="half" idx="1"/>
          </p:nvPr>
        </p:nvSpPr>
        <p:spPr>
          <a:xfrm>
            <a:off x="457200" y="1219200"/>
            <a:ext cx="8001000" cy="4953000"/>
          </a:xfrm>
          <a:noFill/>
        </p:spPr>
        <p:txBody>
          <a:bodyPr/>
          <a:lstStyle/>
          <a:p>
            <a:pPr marL="514350" indent="-514350" eaLnBrk="1" hangingPunct="1">
              <a:lnSpc>
                <a:spcPct val="90000"/>
              </a:lnSpc>
              <a:buFont typeface="+mj-lt"/>
              <a:buAutoNum type="arabicPeriod" startAt="3"/>
            </a:pPr>
            <a:r>
              <a:rPr lang="en-GB" altLang="zh-CN" sz="2600" dirty="0"/>
              <a:t>Identify any </a:t>
            </a:r>
            <a:r>
              <a:rPr lang="en-GB" altLang="zh-CN" sz="2600" dirty="0">
                <a:solidFill>
                  <a:srgbClr val="C00000"/>
                </a:solidFill>
              </a:rPr>
              <a:t>special conditions </a:t>
            </a:r>
            <a:r>
              <a:rPr lang="en-GB" altLang="zh-CN" sz="2600" dirty="0"/>
              <a:t>on input messages</a:t>
            </a:r>
            <a:r>
              <a:rPr lang="zh-CN" altLang="en-US" sz="2600" dirty="0"/>
              <a:t>（确定输入消息的任何特殊条件）</a:t>
            </a:r>
            <a:endParaRPr lang="en-GB" altLang="zh-CN" sz="2600" dirty="0"/>
          </a:p>
          <a:p>
            <a:pPr marL="763588" lvl="1" indent="-419100" eaLnBrk="1" hangingPunct="1">
              <a:lnSpc>
                <a:spcPct val="90000"/>
              </a:lnSpc>
            </a:pPr>
            <a:r>
              <a:rPr lang="en-GB" altLang="zh-CN" sz="2200" dirty="0"/>
              <a:t>Iteration/loop frame</a:t>
            </a:r>
            <a:r>
              <a:rPr lang="zh-CN" altLang="en-US" sz="2200" dirty="0"/>
              <a:t>（循环</a:t>
            </a:r>
            <a:r>
              <a:rPr lang="en-US" altLang="zh-CN" sz="2200" dirty="0"/>
              <a:t>/</a:t>
            </a:r>
            <a:r>
              <a:rPr lang="zh-CN" altLang="en-US" sz="2200" dirty="0"/>
              <a:t>迭代框架）</a:t>
            </a:r>
            <a:endParaRPr lang="en-GB" altLang="zh-CN" sz="2200" dirty="0"/>
          </a:p>
          <a:p>
            <a:pPr marL="763588" lvl="1" indent="-419100" eaLnBrk="1" hangingPunct="1">
              <a:lnSpc>
                <a:spcPct val="90000"/>
              </a:lnSpc>
            </a:pPr>
            <a:r>
              <a:rPr lang="en-GB" altLang="zh-CN" sz="2200" dirty="0" err="1"/>
              <a:t>Opt</a:t>
            </a:r>
            <a:r>
              <a:rPr lang="en-GB" altLang="zh-CN" sz="2200" dirty="0"/>
              <a:t> or Alt frame</a:t>
            </a:r>
            <a:r>
              <a:rPr lang="zh-CN" altLang="en-US" sz="2200" dirty="0"/>
              <a:t>（选择或判断框架）</a:t>
            </a:r>
            <a:endParaRPr lang="en-GB" altLang="zh-CN" sz="2200" dirty="0"/>
          </a:p>
          <a:p>
            <a:pPr marL="495300" indent="-495300" eaLnBrk="1" hangingPunct="1">
              <a:lnSpc>
                <a:spcPct val="90000"/>
              </a:lnSpc>
              <a:buFont typeface="Wingdings" panose="05000000000000000000" pitchFamily="2" charset="2"/>
              <a:buAutoNum type="arabicPeriod" startAt="3"/>
            </a:pPr>
            <a:r>
              <a:rPr lang="en-GB" altLang="zh-CN" sz="2600" dirty="0"/>
              <a:t>Identify and add </a:t>
            </a:r>
            <a:r>
              <a:rPr lang="en-GB" altLang="zh-CN" sz="2600" dirty="0">
                <a:solidFill>
                  <a:srgbClr val="C00000"/>
                </a:solidFill>
              </a:rPr>
              <a:t>output</a:t>
            </a:r>
            <a:r>
              <a:rPr lang="en-GB" altLang="zh-CN" sz="2600" dirty="0"/>
              <a:t> return values</a:t>
            </a:r>
            <a:r>
              <a:rPr lang="zh-CN" altLang="en-US" sz="2600" dirty="0"/>
              <a:t>（识别并添加输出返回值）</a:t>
            </a:r>
            <a:endParaRPr lang="en-GB" altLang="zh-CN" sz="2600" dirty="0"/>
          </a:p>
          <a:p>
            <a:pPr marL="763588" lvl="1" indent="-419100" eaLnBrk="1" hangingPunct="1">
              <a:lnSpc>
                <a:spcPct val="90000"/>
              </a:lnSpc>
            </a:pPr>
            <a:r>
              <a:rPr lang="en-GB" altLang="zh-CN" sz="2200" dirty="0"/>
              <a:t>On message itself: Value:= </a:t>
            </a:r>
            <a:r>
              <a:rPr lang="en-GB" altLang="zh-CN" sz="2200" dirty="0" err="1"/>
              <a:t>getValue</a:t>
            </a:r>
            <a:r>
              <a:rPr lang="en-GB" altLang="zh-CN" sz="2200" dirty="0"/>
              <a:t>(</a:t>
            </a:r>
            <a:r>
              <a:rPr lang="en-GB" altLang="zh-CN" sz="2200" dirty="0" err="1"/>
              <a:t>valueID</a:t>
            </a:r>
            <a:r>
              <a:rPr lang="en-GB" altLang="zh-CN" sz="2200" dirty="0"/>
              <a:t>)</a:t>
            </a:r>
            <a:r>
              <a:rPr lang="zh-CN" altLang="en-US" sz="2200" dirty="0"/>
              <a:t>（关于消息本身：</a:t>
            </a:r>
            <a:r>
              <a:rPr lang="en-US" altLang="zh-CN" sz="2200" dirty="0"/>
              <a:t>value:=</a:t>
            </a:r>
            <a:r>
              <a:rPr lang="en-US" altLang="zh-CN" sz="2200" dirty="0" err="1"/>
              <a:t>getValue</a:t>
            </a:r>
            <a:r>
              <a:rPr lang="en-US" altLang="zh-CN" sz="2200" dirty="0"/>
              <a:t>(</a:t>
            </a:r>
            <a:r>
              <a:rPr lang="en-US" altLang="zh-CN" sz="2200" dirty="0" err="1"/>
              <a:t>valueID</a:t>
            </a:r>
            <a:r>
              <a:rPr lang="en-US" altLang="zh-CN" sz="2200" dirty="0"/>
              <a:t>)</a:t>
            </a:r>
            <a:r>
              <a:rPr lang="zh-CN" altLang="en-US" sz="2200" dirty="0"/>
              <a:t>）</a:t>
            </a:r>
            <a:endParaRPr lang="en-GB" altLang="zh-CN" sz="2200" dirty="0"/>
          </a:p>
          <a:p>
            <a:pPr marL="763588" lvl="1" indent="-419100" eaLnBrk="1" hangingPunct="1">
              <a:lnSpc>
                <a:spcPct val="90000"/>
              </a:lnSpc>
            </a:pPr>
            <a:r>
              <a:rPr lang="en-GB" altLang="zh-CN" sz="2200" dirty="0"/>
              <a:t>As explicit return on separate dashed line</a:t>
            </a:r>
            <a:r>
              <a:rPr lang="zh-CN" altLang="en-US" sz="2200" dirty="0"/>
              <a:t>（在单独的虚线上显式返回）</a:t>
            </a:r>
            <a:endParaRPr lang="en-GB" altLang="zh-CN" sz="2200" dirty="0"/>
          </a:p>
        </p:txBody>
      </p:sp>
      <p:sp>
        <p:nvSpPr>
          <p:cNvPr id="26629" name="Footer Placeholder 4">
            <a:extLst>
              <a:ext uri="{FF2B5EF4-FFF2-40B4-BE49-F238E27FC236}">
                <a16:creationId xmlns:a16="http://schemas.microsoft.com/office/drawing/2014/main" id="{1F221F6C-86E1-442D-ACED-65416AF156D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6630" name="Rectangle 6">
            <a:extLst>
              <a:ext uri="{FF2B5EF4-FFF2-40B4-BE49-F238E27FC236}">
                <a16:creationId xmlns:a16="http://schemas.microsoft.com/office/drawing/2014/main" id="{0E63F56F-79E1-4616-81E8-6B4CB262BFF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99772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62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6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6">
            <a:extLst>
              <a:ext uri="{FF2B5EF4-FFF2-40B4-BE49-F238E27FC236}">
                <a16:creationId xmlns:a16="http://schemas.microsoft.com/office/drawing/2014/main" id="{A0C124BC-B3A2-40BD-A213-EF63F8CCB8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D3E5B66-780E-4EE3-827F-82A994A5560C}" type="slidenum">
              <a:rPr lang="en-US" altLang="en-US"/>
              <a:pPr eaLnBrk="1" hangingPunct="1"/>
              <a:t>39</a:t>
            </a:fld>
            <a:endParaRPr lang="en-US" altLang="en-US"/>
          </a:p>
        </p:txBody>
      </p:sp>
      <p:sp>
        <p:nvSpPr>
          <p:cNvPr id="27651" name="Rectangle 2">
            <a:extLst>
              <a:ext uri="{FF2B5EF4-FFF2-40B4-BE49-F238E27FC236}">
                <a16:creationId xmlns:a16="http://schemas.microsoft.com/office/drawing/2014/main" id="{6379B01C-15E8-4454-B3AA-49C41A7D13BD}"/>
              </a:ext>
            </a:extLst>
          </p:cNvPr>
          <p:cNvSpPr>
            <a:spLocks noGrp="1" noChangeArrowheads="1"/>
          </p:cNvSpPr>
          <p:nvPr>
            <p:ph type="title"/>
          </p:nvPr>
        </p:nvSpPr>
        <p:spPr>
          <a:xfrm>
            <a:off x="457200" y="122238"/>
            <a:ext cx="7543800" cy="1096962"/>
          </a:xfrm>
        </p:spPr>
        <p:txBody>
          <a:bodyPr/>
          <a:lstStyle/>
          <a:p>
            <a:pPr eaLnBrk="1" hangingPunct="1"/>
            <a:r>
              <a:rPr lang="en-US" altLang="zh-CN" sz="3600" dirty="0">
                <a:ea typeface="宋体" panose="02010600030101010101" pitchFamily="2" charset="-122"/>
              </a:rPr>
              <a:t>SSD for </a:t>
            </a:r>
            <a:r>
              <a:rPr lang="en-US" altLang="zh-CN" sz="3600" i="1" dirty="0">
                <a:ea typeface="宋体" panose="02010600030101010101" pitchFamily="2" charset="-122"/>
              </a:rPr>
              <a:t>Create customer account</a:t>
            </a:r>
            <a:r>
              <a:rPr lang="en-US" altLang="zh-CN" sz="3600" dirty="0">
                <a:ea typeface="宋体" panose="02010600030101010101" pitchFamily="2" charset="-122"/>
              </a:rPr>
              <a:t> Use case</a:t>
            </a:r>
            <a:r>
              <a:rPr lang="zh-CN" altLang="en-US" sz="3200" dirty="0">
                <a:ea typeface="宋体" panose="02010600030101010101" pitchFamily="2" charset="-122"/>
              </a:rPr>
              <a:t>（创建客户账户用例的顺序图）</a:t>
            </a:r>
            <a:endParaRPr lang="en-US" altLang="zh-CN" sz="2800" dirty="0">
              <a:ea typeface="宋体" panose="02010600030101010101" pitchFamily="2" charset="-122"/>
            </a:endParaRPr>
          </a:p>
        </p:txBody>
      </p:sp>
      <p:pic>
        <p:nvPicPr>
          <p:cNvPr id="27652" name="Picture 5">
            <a:extLst>
              <a:ext uri="{FF2B5EF4-FFF2-40B4-BE49-F238E27FC236}">
                <a16:creationId xmlns:a16="http://schemas.microsoft.com/office/drawing/2014/main" id="{712425C6-1933-4438-9ED5-87D1CE1029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371600"/>
            <a:ext cx="5561013"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Footer Placeholder 4">
            <a:extLst>
              <a:ext uri="{FF2B5EF4-FFF2-40B4-BE49-F238E27FC236}">
                <a16:creationId xmlns:a16="http://schemas.microsoft.com/office/drawing/2014/main" id="{1B33FD0C-AB27-49B7-B2B6-C0B86A3DF5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7654" name="Rectangle 6">
            <a:extLst>
              <a:ext uri="{FF2B5EF4-FFF2-40B4-BE49-F238E27FC236}">
                <a16:creationId xmlns:a16="http://schemas.microsoft.com/office/drawing/2014/main" id="{1992ABC7-F9B0-4210-87E3-94FBD73C1942}"/>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6">
            <a:extLst>
              <a:ext uri="{FF2B5EF4-FFF2-40B4-BE49-F238E27FC236}">
                <a16:creationId xmlns:a16="http://schemas.microsoft.com/office/drawing/2014/main" id="{39150EF8-77F0-48EE-83EE-30639D1D3F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70B370-713F-4939-B206-3D4B2C0D2670}" type="slidenum">
              <a:rPr lang="en-US" altLang="en-US"/>
              <a:pPr eaLnBrk="1" hangingPunct="1"/>
              <a:t>40</a:t>
            </a:fld>
            <a:endParaRPr lang="en-US" altLang="en-US"/>
          </a:p>
        </p:txBody>
      </p:sp>
      <p:sp>
        <p:nvSpPr>
          <p:cNvPr id="28675" name="Rectangle 2">
            <a:extLst>
              <a:ext uri="{FF2B5EF4-FFF2-40B4-BE49-F238E27FC236}">
                <a16:creationId xmlns:a16="http://schemas.microsoft.com/office/drawing/2014/main" id="{40A4A6E2-1788-4ECD-A407-B303AA7FAC8E}"/>
              </a:ext>
            </a:extLst>
          </p:cNvPr>
          <p:cNvSpPr>
            <a:spLocks noGrp="1" noChangeArrowheads="1"/>
          </p:cNvSpPr>
          <p:nvPr>
            <p:ph type="title"/>
          </p:nvPr>
        </p:nvSpPr>
        <p:spPr>
          <a:xfrm>
            <a:off x="287079" y="1975884"/>
            <a:ext cx="2362200" cy="3429000"/>
          </a:xfrm>
        </p:spPr>
        <p:txBody>
          <a:bodyPr/>
          <a:lstStyle/>
          <a:p>
            <a:pPr eaLnBrk="1" hangingPunct="1"/>
            <a:r>
              <a:rPr lang="en-US" altLang="zh-CN" sz="3200" dirty="0">
                <a:ea typeface="宋体" panose="02010600030101010101" pitchFamily="2" charset="-122"/>
              </a:rPr>
              <a:t>SSD for </a:t>
            </a:r>
            <a:r>
              <a:rPr lang="en-US" altLang="zh-CN" sz="3200" i="1" dirty="0">
                <a:ea typeface="宋体" panose="02010600030101010101" pitchFamily="2" charset="-122"/>
              </a:rPr>
              <a:t>Ship items</a:t>
            </a:r>
            <a:r>
              <a:rPr lang="en-US" altLang="zh-CN" sz="3200" dirty="0">
                <a:ea typeface="宋体" panose="02010600030101010101" pitchFamily="2" charset="-122"/>
              </a:rPr>
              <a:t> Use Case</a:t>
            </a:r>
            <a:br>
              <a:rPr lang="en-US" altLang="zh-CN" sz="3200" dirty="0">
                <a:ea typeface="宋体" panose="02010600030101010101" pitchFamily="2" charset="-122"/>
              </a:rPr>
            </a:br>
            <a:r>
              <a:rPr lang="zh-CN" altLang="en-US" sz="3200" dirty="0">
                <a:ea typeface="宋体" panose="02010600030101010101" pitchFamily="2" charset="-122"/>
              </a:rPr>
              <a:t>（创建运输商品用例的顺序图）</a:t>
            </a:r>
            <a:br>
              <a:rPr lang="en-US" altLang="zh-CN" sz="3200" dirty="0">
                <a:ea typeface="宋体" panose="02010600030101010101" pitchFamily="2" charset="-122"/>
              </a:rPr>
            </a:br>
            <a:br>
              <a:rPr lang="en-US" altLang="zh-CN" sz="32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endParaRPr lang="en-US" altLang="zh-CN" sz="2800" i="1" dirty="0">
              <a:ea typeface="宋体" panose="02010600030101010101" pitchFamily="2" charset="-122"/>
            </a:endParaRPr>
          </a:p>
        </p:txBody>
      </p:sp>
      <p:sp>
        <p:nvSpPr>
          <p:cNvPr id="28676" name="Rectangle 3">
            <a:extLst>
              <a:ext uri="{FF2B5EF4-FFF2-40B4-BE49-F238E27FC236}">
                <a16:creationId xmlns:a16="http://schemas.microsoft.com/office/drawing/2014/main" id="{D586A5EE-E197-46CE-8A16-D826273D2F9B}"/>
              </a:ext>
            </a:extLst>
          </p:cNvPr>
          <p:cNvSpPr>
            <a:spLocks noGrp="1" noChangeArrowheads="1"/>
          </p:cNvSpPr>
          <p:nvPr>
            <p:ph type="body" sz="half" idx="1"/>
          </p:nvPr>
        </p:nvSpPr>
        <p:spPr>
          <a:xfrm>
            <a:off x="457200" y="1447800"/>
            <a:ext cx="8001000" cy="4724400"/>
          </a:xfrm>
          <a:noFill/>
        </p:spPr>
        <p:txBody>
          <a:bodyPr/>
          <a:lstStyle/>
          <a:p>
            <a:pPr eaLnBrk="1" hangingPunct="1"/>
            <a:endParaRPr lang="en-GB" altLang="zh-CN" sz="2600" dirty="0"/>
          </a:p>
          <a:p>
            <a:pPr eaLnBrk="1" hangingPunct="1"/>
            <a:endParaRPr lang="en-GB" altLang="zh-CN" sz="2800" dirty="0"/>
          </a:p>
        </p:txBody>
      </p:sp>
      <p:sp>
        <p:nvSpPr>
          <p:cNvPr id="28677" name="Rectangle 4">
            <a:extLst>
              <a:ext uri="{FF2B5EF4-FFF2-40B4-BE49-F238E27FC236}">
                <a16:creationId xmlns:a16="http://schemas.microsoft.com/office/drawing/2014/main" id="{80A9E3F4-8EDC-4C1C-8C4F-77C55986816F}"/>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8678" name="Picture 6">
            <a:extLst>
              <a:ext uri="{FF2B5EF4-FFF2-40B4-BE49-F238E27FC236}">
                <a16:creationId xmlns:a16="http://schemas.microsoft.com/office/drawing/2014/main" id="{CC6735F2-C1B9-4BA1-8082-116FAD945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4850" y="152400"/>
            <a:ext cx="43942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Footer Placeholder 4">
            <a:extLst>
              <a:ext uri="{FF2B5EF4-FFF2-40B4-BE49-F238E27FC236}">
                <a16:creationId xmlns:a16="http://schemas.microsoft.com/office/drawing/2014/main" id="{37473F8E-2E26-4B90-877F-F26A47FA766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8680" name="Rectangle 8">
            <a:extLst>
              <a:ext uri="{FF2B5EF4-FFF2-40B4-BE49-F238E27FC236}">
                <a16:creationId xmlns:a16="http://schemas.microsoft.com/office/drawing/2014/main" id="{55417F6B-71F6-424E-ACF2-4528C425542E}"/>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41</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Use Case Descriptions</a:t>
            </a:r>
          </a:p>
          <a:p>
            <a:pPr eaLnBrk="1" hangingPunct="1"/>
            <a:r>
              <a:rPr lang="en-US" altLang="zh-CN" sz="3200" dirty="0">
                <a:ea typeface="宋体" panose="02010600030101010101" pitchFamily="2" charset="-122"/>
              </a:rPr>
              <a:t>Activity Diagrams for Use Cases </a:t>
            </a:r>
          </a:p>
          <a:p>
            <a:pPr eaLnBrk="1" hangingPunct="1"/>
            <a:r>
              <a:rPr lang="en-US" altLang="zh-CN" sz="3200" dirty="0">
                <a:ea typeface="宋体" panose="02010600030101010101" pitchFamily="2" charset="-122"/>
              </a:rPr>
              <a:t>The System Sequence Diagram—Identifying Inputs and Outputs</a:t>
            </a:r>
          </a:p>
          <a:p>
            <a:pPr eaLnBrk="1" hangingPunct="1"/>
            <a:r>
              <a:rPr lang="en-US" altLang="zh-CN" sz="3200" dirty="0">
                <a:solidFill>
                  <a:srgbClr val="C00000"/>
                </a:solidFill>
                <a:ea typeface="宋体" panose="02010600030101010101" pitchFamily="2" charset="-122"/>
              </a:rPr>
              <a:t>The State Machine Diagram—Identifying Object Behavior</a:t>
            </a:r>
            <a:r>
              <a:rPr lang="zh-CN" altLang="en-US" sz="3200" dirty="0">
                <a:solidFill>
                  <a:srgbClr val="C00000"/>
                </a:solidFill>
                <a:ea typeface="宋体" panose="02010600030101010101" pitchFamily="2" charset="-122"/>
              </a:rPr>
              <a:t>（状态机图</a:t>
            </a:r>
            <a:r>
              <a:rPr lang="en-US" altLang="zh-CN" sz="3200" dirty="0">
                <a:solidFill>
                  <a:srgbClr val="C00000"/>
                </a:solidFill>
                <a:ea typeface="宋体" panose="02010600030101010101" pitchFamily="2" charset="-122"/>
              </a:rPr>
              <a:t>-</a:t>
            </a:r>
            <a:r>
              <a:rPr lang="zh-CN" altLang="en-US" sz="3200" dirty="0">
                <a:solidFill>
                  <a:srgbClr val="C00000"/>
                </a:solidFill>
                <a:ea typeface="宋体" panose="02010600030101010101" pitchFamily="2" charset="-122"/>
              </a:rPr>
              <a:t>识别对象行为）</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Integrating Requirements Models</a:t>
            </a: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9363447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6">
            <a:extLst>
              <a:ext uri="{FF2B5EF4-FFF2-40B4-BE49-F238E27FC236}">
                <a16:creationId xmlns:a16="http://schemas.microsoft.com/office/drawing/2014/main" id="{17F0CCBA-A6B7-4289-BBB2-99DF9F110D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8B389F7-936E-4806-B971-AB977DFA39C8}" type="slidenum">
              <a:rPr lang="en-US" altLang="en-US"/>
              <a:pPr eaLnBrk="1" hangingPunct="1"/>
              <a:t>42</a:t>
            </a:fld>
            <a:endParaRPr lang="en-US" altLang="en-US"/>
          </a:p>
        </p:txBody>
      </p:sp>
      <p:sp>
        <p:nvSpPr>
          <p:cNvPr id="29699" name="Rectangle 2">
            <a:extLst>
              <a:ext uri="{FF2B5EF4-FFF2-40B4-BE49-F238E27FC236}">
                <a16:creationId xmlns:a16="http://schemas.microsoft.com/office/drawing/2014/main" id="{66398103-D066-4F13-8D3D-508C3E9CA0E4}"/>
              </a:ext>
            </a:extLst>
          </p:cNvPr>
          <p:cNvSpPr>
            <a:spLocks noGrp="1" noChangeArrowheads="1"/>
          </p:cNvSpPr>
          <p:nvPr>
            <p:ph type="title"/>
          </p:nvPr>
        </p:nvSpPr>
        <p:spPr>
          <a:xfrm>
            <a:off x="457200" y="122238"/>
            <a:ext cx="7543800" cy="1020762"/>
          </a:xfrm>
        </p:spPr>
        <p:txBody>
          <a:bodyPr/>
          <a:lstStyle/>
          <a:p>
            <a:pPr eaLnBrk="1" hangingPunct="1"/>
            <a:r>
              <a:rPr lang="en-US" altLang="zh-CN" sz="4000" dirty="0">
                <a:ea typeface="宋体" panose="02010600030101010101" pitchFamily="2" charset="-122"/>
              </a:rPr>
              <a:t>State Machine Diagram</a:t>
            </a:r>
            <a:endParaRPr lang="en-US" altLang="zh-CN" sz="3200" dirty="0">
              <a:ea typeface="宋体" panose="02010600030101010101" pitchFamily="2" charset="-122"/>
            </a:endParaRPr>
          </a:p>
        </p:txBody>
      </p:sp>
      <p:sp>
        <p:nvSpPr>
          <p:cNvPr id="29700" name="Rectangle 3">
            <a:extLst>
              <a:ext uri="{FF2B5EF4-FFF2-40B4-BE49-F238E27FC236}">
                <a16:creationId xmlns:a16="http://schemas.microsoft.com/office/drawing/2014/main" id="{E8FE0AD4-E80A-4DB7-BE12-751B3A653590}"/>
              </a:ext>
            </a:extLst>
          </p:cNvPr>
          <p:cNvSpPr>
            <a:spLocks noGrp="1" noChangeArrowheads="1"/>
          </p:cNvSpPr>
          <p:nvPr>
            <p:ph type="body" sz="half" idx="1"/>
          </p:nvPr>
        </p:nvSpPr>
        <p:spPr>
          <a:xfrm>
            <a:off x="457200" y="1219200"/>
            <a:ext cx="8001000" cy="4953000"/>
          </a:xfrm>
          <a:noFill/>
        </p:spPr>
        <p:txBody>
          <a:bodyPr/>
          <a:lstStyle/>
          <a:p>
            <a:pPr eaLnBrk="1" hangingPunct="1"/>
            <a:r>
              <a:rPr lang="en-GB" altLang="zh-CN" sz="2400" dirty="0"/>
              <a:t>State machine diagram</a:t>
            </a:r>
            <a:r>
              <a:rPr lang="zh-CN" altLang="en-US" sz="2400" dirty="0"/>
              <a:t>（状态机图）</a:t>
            </a:r>
            <a:endParaRPr lang="en-GB" altLang="zh-CN" sz="2400" dirty="0"/>
          </a:p>
          <a:p>
            <a:pPr lvl="1" eaLnBrk="1" hangingPunct="1"/>
            <a:r>
              <a:rPr lang="en-GB" altLang="zh-CN" sz="2000" dirty="0"/>
              <a:t>A UML diagram showing </a:t>
            </a:r>
            <a:r>
              <a:rPr lang="en-GB" altLang="zh-CN" sz="2000" u="sng" dirty="0"/>
              <a:t>the life of an object in </a:t>
            </a:r>
            <a:r>
              <a:rPr lang="en-GB" altLang="zh-CN" sz="2000" u="sng" dirty="0">
                <a:solidFill>
                  <a:srgbClr val="C00000"/>
                </a:solidFill>
              </a:rPr>
              <a:t>states </a:t>
            </a:r>
            <a:r>
              <a:rPr lang="en-GB" altLang="zh-CN" sz="2000" u="sng" dirty="0"/>
              <a:t>and </a:t>
            </a:r>
            <a:r>
              <a:rPr lang="en-GB" altLang="zh-CN" sz="2000" u="sng" dirty="0">
                <a:solidFill>
                  <a:srgbClr val="C00000"/>
                </a:solidFill>
              </a:rPr>
              <a:t>transitions</a:t>
            </a:r>
            <a:r>
              <a:rPr lang="zh-CN" altLang="en-US" sz="2000" dirty="0"/>
              <a:t>（ 显示处于</a:t>
            </a:r>
            <a:r>
              <a:rPr lang="zh-CN" altLang="en-US" sz="2000" u="sng" dirty="0">
                <a:solidFill>
                  <a:srgbClr val="C00000"/>
                </a:solidFill>
              </a:rPr>
              <a:t>状态</a:t>
            </a:r>
            <a:r>
              <a:rPr lang="zh-CN" altLang="en-US" sz="2000" dirty="0"/>
              <a:t>和</a:t>
            </a:r>
            <a:r>
              <a:rPr lang="zh-CN" altLang="en-US" sz="2000" u="sng" dirty="0">
                <a:solidFill>
                  <a:srgbClr val="C00000"/>
                </a:solidFill>
              </a:rPr>
              <a:t>转换</a:t>
            </a:r>
            <a:r>
              <a:rPr lang="zh-CN" altLang="en-US" sz="2000" dirty="0"/>
              <a:t>中的对象生命周期的</a:t>
            </a:r>
            <a:r>
              <a:rPr lang="en-US" altLang="zh-CN" sz="2000" dirty="0"/>
              <a:t>UML</a:t>
            </a:r>
            <a:r>
              <a:rPr lang="zh-CN" altLang="en-US" sz="2000" dirty="0"/>
              <a:t>图）</a:t>
            </a:r>
            <a:endParaRPr lang="en-GB" altLang="zh-CN" sz="2000" dirty="0"/>
          </a:p>
          <a:p>
            <a:pPr eaLnBrk="1" hangingPunct="1"/>
            <a:r>
              <a:rPr lang="en-GB" altLang="zh-CN" sz="2400" dirty="0"/>
              <a:t>State </a:t>
            </a:r>
            <a:r>
              <a:rPr lang="zh-CN" altLang="en-US" sz="2400" dirty="0"/>
              <a:t>（状态；动名词或动词短语）</a:t>
            </a:r>
            <a:endParaRPr lang="en-GB" altLang="zh-CN" sz="2400" dirty="0"/>
          </a:p>
          <a:p>
            <a:pPr lvl="1" eaLnBrk="1" hangingPunct="1"/>
            <a:r>
              <a:rPr lang="en-GB" altLang="zh-CN" sz="2000" dirty="0"/>
              <a:t>A condition during an object’s life when it satisfies some criterion, performs some action, or waits for an event</a:t>
            </a:r>
            <a:r>
              <a:rPr lang="zh-CN" altLang="en-US" sz="2000" dirty="0"/>
              <a:t>（</a:t>
            </a:r>
            <a:r>
              <a:rPr lang="zh-CN" altLang="en-US" sz="2000" dirty="0">
                <a:solidFill>
                  <a:srgbClr val="2A2B2E"/>
                </a:solidFill>
                <a:latin typeface="PingFang SC"/>
              </a:rPr>
              <a:t>对象生命周期中满足某些标准、执行某些操作或等待某个事件的条件</a:t>
            </a:r>
            <a:r>
              <a:rPr lang="zh-CN" altLang="en-US" sz="2000" dirty="0"/>
              <a:t>）</a:t>
            </a:r>
            <a:endParaRPr lang="en-GB" altLang="zh-CN" sz="2000" dirty="0"/>
          </a:p>
          <a:p>
            <a:pPr eaLnBrk="1" hangingPunct="1"/>
            <a:r>
              <a:rPr lang="en-GB" altLang="zh-CN" sz="2400" dirty="0"/>
              <a:t>Transition</a:t>
            </a:r>
            <a:r>
              <a:rPr lang="zh-CN" altLang="en-US" sz="2400" dirty="0"/>
              <a:t>（状态转换）</a:t>
            </a:r>
            <a:endParaRPr lang="en-GB" altLang="zh-CN" sz="2400" dirty="0"/>
          </a:p>
          <a:p>
            <a:pPr lvl="1" eaLnBrk="1" hangingPunct="1"/>
            <a:r>
              <a:rPr lang="en-GB" altLang="zh-CN" sz="2000" dirty="0"/>
              <a:t>The movement of an object from one state to another state</a:t>
            </a:r>
            <a:r>
              <a:rPr lang="zh-CN" altLang="en-US" sz="2000" dirty="0"/>
              <a:t>（物体从一种状态移动到另一种状态）</a:t>
            </a:r>
            <a:endParaRPr lang="en-GB" altLang="zh-CN" sz="2000" dirty="0"/>
          </a:p>
          <a:p>
            <a:pPr eaLnBrk="1" hangingPunct="1"/>
            <a:r>
              <a:rPr lang="en-GB" altLang="zh-CN" sz="2400" dirty="0"/>
              <a:t>Action Expression</a:t>
            </a:r>
            <a:r>
              <a:rPr lang="zh-CN" altLang="en-US" sz="2400" dirty="0"/>
              <a:t>（行动表达）</a:t>
            </a:r>
            <a:endParaRPr lang="en-GB" altLang="zh-CN" sz="2400" dirty="0"/>
          </a:p>
          <a:p>
            <a:pPr lvl="1" eaLnBrk="1" hangingPunct="1"/>
            <a:r>
              <a:rPr lang="en-GB" altLang="zh-CN" sz="2000" dirty="0"/>
              <a:t>A description of activities performed as part of a transition</a:t>
            </a:r>
            <a:r>
              <a:rPr lang="zh-CN" altLang="en-US" sz="2000" dirty="0"/>
              <a:t>（状态转换过程中执行的活动）</a:t>
            </a:r>
            <a:endParaRPr lang="en-GB" altLang="zh-CN" sz="2000" dirty="0"/>
          </a:p>
        </p:txBody>
      </p:sp>
      <p:sp>
        <p:nvSpPr>
          <p:cNvPr id="29701" name="Footer Placeholder 4">
            <a:extLst>
              <a:ext uri="{FF2B5EF4-FFF2-40B4-BE49-F238E27FC236}">
                <a16:creationId xmlns:a16="http://schemas.microsoft.com/office/drawing/2014/main" id="{032FCB82-B208-47D0-93A6-DD43FB5B924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9702" name="Rectangle 6">
            <a:extLst>
              <a:ext uri="{FF2B5EF4-FFF2-40B4-BE49-F238E27FC236}">
                <a16:creationId xmlns:a16="http://schemas.microsoft.com/office/drawing/2014/main" id="{02D41BEB-C898-4FF5-BF34-34082E4934F7}"/>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70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700">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700">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70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6">
            <a:extLst>
              <a:ext uri="{FF2B5EF4-FFF2-40B4-BE49-F238E27FC236}">
                <a16:creationId xmlns:a16="http://schemas.microsoft.com/office/drawing/2014/main" id="{FB1C7191-A605-468B-BAD9-F11825F6CF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7546FB-F4FE-4DCC-88FD-86590BF6BDE0}" type="slidenum">
              <a:rPr lang="en-US" altLang="en-US"/>
              <a:pPr eaLnBrk="1" hangingPunct="1"/>
              <a:t>43</a:t>
            </a:fld>
            <a:endParaRPr lang="en-US" altLang="en-US"/>
          </a:p>
        </p:txBody>
      </p:sp>
      <p:sp>
        <p:nvSpPr>
          <p:cNvPr id="30723" name="Rectangle 2">
            <a:extLst>
              <a:ext uri="{FF2B5EF4-FFF2-40B4-BE49-F238E27FC236}">
                <a16:creationId xmlns:a16="http://schemas.microsoft.com/office/drawing/2014/main" id="{63F8209E-2DBD-43B5-835B-52F3E2F20FD5}"/>
              </a:ext>
            </a:extLst>
          </p:cNvPr>
          <p:cNvSpPr>
            <a:spLocks noGrp="1" noChangeArrowheads="1"/>
          </p:cNvSpPr>
          <p:nvPr>
            <p:ph type="title"/>
          </p:nvPr>
        </p:nvSpPr>
        <p:spPr>
          <a:xfrm>
            <a:off x="457200" y="122238"/>
            <a:ext cx="7543800" cy="1020762"/>
          </a:xfrm>
        </p:spPr>
        <p:txBody>
          <a:bodyPr/>
          <a:lstStyle/>
          <a:p>
            <a:pPr eaLnBrk="1" hangingPunct="1"/>
            <a:r>
              <a:rPr lang="en-US" altLang="zh-CN" sz="3600">
                <a:ea typeface="宋体" panose="02010600030101010101" pitchFamily="2" charset="-122"/>
              </a:rPr>
              <a:t>State Machine Diagram </a:t>
            </a:r>
            <a:r>
              <a:rPr lang="en-US" altLang="zh-CN" sz="2400">
                <a:ea typeface="宋体" panose="02010600030101010101" pitchFamily="2" charset="-122"/>
              </a:rPr>
              <a:t>(continued)</a:t>
            </a:r>
          </a:p>
        </p:txBody>
      </p:sp>
      <p:sp>
        <p:nvSpPr>
          <p:cNvPr id="30724" name="Rectangle 3">
            <a:extLst>
              <a:ext uri="{FF2B5EF4-FFF2-40B4-BE49-F238E27FC236}">
                <a16:creationId xmlns:a16="http://schemas.microsoft.com/office/drawing/2014/main" id="{EA9D93FF-9D18-42AB-A32B-D74B4E31F8D7}"/>
              </a:ext>
            </a:extLst>
          </p:cNvPr>
          <p:cNvSpPr>
            <a:spLocks noGrp="1" noChangeArrowheads="1"/>
          </p:cNvSpPr>
          <p:nvPr>
            <p:ph type="body" sz="half" idx="1"/>
          </p:nvPr>
        </p:nvSpPr>
        <p:spPr>
          <a:xfrm>
            <a:off x="457200" y="1414463"/>
            <a:ext cx="8001000" cy="4267200"/>
          </a:xfrm>
          <a:noFill/>
        </p:spPr>
        <p:txBody>
          <a:bodyPr/>
          <a:lstStyle/>
          <a:p>
            <a:pPr eaLnBrk="1" hangingPunct="1"/>
            <a:r>
              <a:rPr lang="en-GB" altLang="zh-CN" sz="2600" dirty="0"/>
              <a:t>Pseudo state</a:t>
            </a:r>
            <a:r>
              <a:rPr lang="zh-CN" altLang="en-US" sz="2600" dirty="0"/>
              <a:t>（伪状态）</a:t>
            </a:r>
            <a:endParaRPr lang="en-GB" altLang="zh-CN" sz="2600" dirty="0"/>
          </a:p>
          <a:p>
            <a:pPr lvl="1" eaLnBrk="1" hangingPunct="1"/>
            <a:r>
              <a:rPr lang="en-GB" altLang="zh-CN" sz="2200" dirty="0"/>
              <a:t>The </a:t>
            </a:r>
            <a:r>
              <a:rPr lang="en-GB" altLang="zh-CN" sz="2200" u="sng" dirty="0"/>
              <a:t>starting point </a:t>
            </a:r>
            <a:r>
              <a:rPr lang="en-GB" altLang="zh-CN" sz="2200" dirty="0"/>
              <a:t>of a state machine diagram (black dot)</a:t>
            </a:r>
            <a:r>
              <a:rPr lang="zh-CN" altLang="en-US" sz="2200" dirty="0"/>
              <a:t>（状态机图的起始点）</a:t>
            </a:r>
            <a:endParaRPr lang="en-GB" altLang="zh-CN" sz="2200" dirty="0"/>
          </a:p>
          <a:p>
            <a:pPr eaLnBrk="1" hangingPunct="1"/>
            <a:r>
              <a:rPr lang="en-GB" altLang="zh-CN" sz="2600" dirty="0"/>
              <a:t>Origin state</a:t>
            </a:r>
            <a:r>
              <a:rPr lang="zh-CN" altLang="en-US" sz="2600" dirty="0"/>
              <a:t>（原始状态）</a:t>
            </a:r>
            <a:endParaRPr lang="en-GB" altLang="zh-CN" sz="2600" dirty="0"/>
          </a:p>
          <a:p>
            <a:pPr lvl="1" eaLnBrk="1" hangingPunct="1"/>
            <a:r>
              <a:rPr lang="en-GB" altLang="zh-CN" sz="2200" dirty="0"/>
              <a:t>The original state of an object before transition</a:t>
            </a:r>
            <a:r>
              <a:rPr lang="zh-CN" altLang="en-US" sz="2200" dirty="0"/>
              <a:t>（对象在转换之前的原始状态）</a:t>
            </a:r>
            <a:endParaRPr lang="en-GB" altLang="zh-CN" sz="2200" dirty="0"/>
          </a:p>
          <a:p>
            <a:pPr eaLnBrk="1" hangingPunct="1"/>
            <a:r>
              <a:rPr lang="en-GB" altLang="zh-CN" sz="2600" dirty="0"/>
              <a:t>Destination state</a:t>
            </a:r>
            <a:r>
              <a:rPr lang="zh-CN" altLang="en-US" sz="2600" dirty="0"/>
              <a:t>（目标状态）</a:t>
            </a:r>
            <a:endParaRPr lang="en-GB" altLang="zh-CN" sz="2600" dirty="0"/>
          </a:p>
          <a:p>
            <a:pPr lvl="1" eaLnBrk="1" hangingPunct="1"/>
            <a:r>
              <a:rPr lang="en-GB" altLang="zh-CN" sz="2200" dirty="0"/>
              <a:t>The state to which the object moves after the transition</a:t>
            </a:r>
            <a:r>
              <a:rPr lang="zh-CN" altLang="en-US" sz="2200" dirty="0"/>
              <a:t>（对象在转换后移动到的状态）</a:t>
            </a:r>
            <a:endParaRPr lang="en-GB" altLang="zh-CN" sz="2200" dirty="0"/>
          </a:p>
          <a:p>
            <a:pPr eaLnBrk="1" hangingPunct="1"/>
            <a:r>
              <a:rPr lang="en-GB" altLang="zh-CN" sz="2600" dirty="0"/>
              <a:t>Guard condition</a:t>
            </a:r>
            <a:r>
              <a:rPr lang="zh-CN" altLang="en-US" sz="2600" dirty="0"/>
              <a:t>（保护条件）</a:t>
            </a:r>
            <a:endParaRPr lang="en-GB" altLang="zh-CN" sz="2600" dirty="0"/>
          </a:p>
          <a:p>
            <a:pPr lvl="1" eaLnBrk="1" hangingPunct="1"/>
            <a:r>
              <a:rPr lang="en-GB" altLang="zh-CN" sz="2200" dirty="0"/>
              <a:t>A true false test to see whether a transition can fire</a:t>
            </a:r>
          </a:p>
          <a:p>
            <a:pPr marL="344487" lvl="1" indent="0" eaLnBrk="1" hangingPunct="1">
              <a:buNone/>
            </a:pPr>
            <a:r>
              <a:rPr lang="zh-CN" altLang="en-US" sz="2200" dirty="0"/>
              <a:t>（</a:t>
            </a:r>
            <a:r>
              <a:rPr lang="zh-CN" altLang="en-US" sz="2400" dirty="0">
                <a:solidFill>
                  <a:srgbClr val="2A2B2E"/>
                </a:solidFill>
                <a:latin typeface="PingFang SC"/>
              </a:rPr>
              <a:t>一个真假测试，看一个转换是否可以触发</a:t>
            </a:r>
            <a:r>
              <a:rPr lang="zh-CN" altLang="en-US" sz="2200" dirty="0"/>
              <a:t>）</a:t>
            </a:r>
            <a:endParaRPr lang="en-GB" altLang="zh-CN" sz="2200" dirty="0"/>
          </a:p>
          <a:p>
            <a:pPr eaLnBrk="1" hangingPunct="1"/>
            <a:endParaRPr lang="en-GB" altLang="zh-CN" sz="2600" dirty="0"/>
          </a:p>
        </p:txBody>
      </p:sp>
      <p:sp>
        <p:nvSpPr>
          <p:cNvPr id="30725" name="Footer Placeholder 4">
            <a:extLst>
              <a:ext uri="{FF2B5EF4-FFF2-40B4-BE49-F238E27FC236}">
                <a16:creationId xmlns:a16="http://schemas.microsoft.com/office/drawing/2014/main" id="{9BDBDFCA-82BF-45D9-8690-08F4896220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0726" name="Rectangle 6">
            <a:extLst>
              <a:ext uri="{FF2B5EF4-FFF2-40B4-BE49-F238E27FC236}">
                <a16:creationId xmlns:a16="http://schemas.microsoft.com/office/drawing/2014/main" id="{90F0B06A-3637-4546-A245-735FA1C1CB29}"/>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2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D4ECF936-173C-486C-8FCC-F6FC2561AB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92E24D-AFF3-4DA4-A8AF-CC85CD44668E}" type="slidenum">
              <a:rPr lang="en-US" altLang="en-US"/>
              <a:pPr eaLnBrk="1" hangingPunct="1"/>
              <a:t>44</a:t>
            </a:fld>
            <a:endParaRPr lang="en-US" altLang="en-US"/>
          </a:p>
        </p:txBody>
      </p:sp>
      <p:sp>
        <p:nvSpPr>
          <p:cNvPr id="31747" name="Rectangle 2">
            <a:extLst>
              <a:ext uri="{FF2B5EF4-FFF2-40B4-BE49-F238E27FC236}">
                <a16:creationId xmlns:a16="http://schemas.microsoft.com/office/drawing/2014/main" id="{88A4414B-6F30-4111-8F59-38BD44E9050A}"/>
              </a:ext>
            </a:extLst>
          </p:cNvPr>
          <p:cNvSpPr>
            <a:spLocks noGrp="1" noChangeArrowheads="1"/>
          </p:cNvSpPr>
          <p:nvPr>
            <p:ph type="title"/>
          </p:nvPr>
        </p:nvSpPr>
        <p:spPr>
          <a:xfrm>
            <a:off x="457200" y="122238"/>
            <a:ext cx="7543800" cy="1173162"/>
          </a:xfrm>
        </p:spPr>
        <p:txBody>
          <a:bodyPr/>
          <a:lstStyle/>
          <a:p>
            <a:pPr eaLnBrk="1" hangingPunct="1"/>
            <a:r>
              <a:rPr lang="en-US" altLang="zh-CN" sz="3600">
                <a:ea typeface="宋体" panose="02010600030101010101" pitchFamily="2" charset="-122"/>
              </a:rPr>
              <a:t>State Machine Diagram</a:t>
            </a:r>
            <a:br>
              <a:rPr lang="en-US" altLang="zh-CN" sz="3600">
                <a:ea typeface="宋体" panose="02010600030101010101" pitchFamily="2" charset="-122"/>
              </a:rPr>
            </a:br>
            <a:r>
              <a:rPr lang="en-US" altLang="zh-CN" sz="2800">
                <a:ea typeface="宋体" panose="02010600030101010101" pitchFamily="2" charset="-122"/>
              </a:rPr>
              <a:t>for a Printer</a:t>
            </a:r>
            <a:r>
              <a:rPr lang="en-US" altLang="zh-CN" sz="3600">
                <a:ea typeface="宋体" panose="02010600030101010101" pitchFamily="2" charset="-122"/>
              </a:rPr>
              <a:t> </a:t>
            </a:r>
            <a:endParaRPr lang="en-US" altLang="zh-CN" sz="2400">
              <a:ea typeface="宋体" panose="02010600030101010101" pitchFamily="2" charset="-122"/>
            </a:endParaRPr>
          </a:p>
        </p:txBody>
      </p:sp>
      <p:pic>
        <p:nvPicPr>
          <p:cNvPr id="31748" name="Picture 5">
            <a:extLst>
              <a:ext uri="{FF2B5EF4-FFF2-40B4-BE49-F238E27FC236}">
                <a16:creationId xmlns:a16="http://schemas.microsoft.com/office/drawing/2014/main" id="{8D24C7AA-6B88-40FF-AC10-8B3C95AF5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80772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Footer Placeholder 4">
            <a:extLst>
              <a:ext uri="{FF2B5EF4-FFF2-40B4-BE49-F238E27FC236}">
                <a16:creationId xmlns:a16="http://schemas.microsoft.com/office/drawing/2014/main" id="{C5B0ACEA-63DE-4DB0-AEC5-C99A025371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1750" name="Rectangle 6">
            <a:extLst>
              <a:ext uri="{FF2B5EF4-FFF2-40B4-BE49-F238E27FC236}">
                <a16:creationId xmlns:a16="http://schemas.microsoft.com/office/drawing/2014/main" id="{4F981F50-38C6-4552-A746-3BED77281F0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星形: 五角 1">
            <a:extLst>
              <a:ext uri="{FF2B5EF4-FFF2-40B4-BE49-F238E27FC236}">
                <a16:creationId xmlns:a16="http://schemas.microsoft.com/office/drawing/2014/main" id="{5F19A742-735A-4DD1-AE88-4D0174AB6288}"/>
              </a:ext>
            </a:extLst>
          </p:cNvPr>
          <p:cNvSpPr/>
          <p:nvPr/>
        </p:nvSpPr>
        <p:spPr>
          <a:xfrm>
            <a:off x="381000" y="4610100"/>
            <a:ext cx="457200" cy="38100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CA283D5-595D-4190-929E-A190330018C0}"/>
              </a:ext>
            </a:extLst>
          </p:cNvPr>
          <p:cNvSpPr txBox="1"/>
          <p:nvPr/>
        </p:nvSpPr>
        <p:spPr>
          <a:xfrm>
            <a:off x="294167" y="5785958"/>
            <a:ext cx="3924300" cy="369332"/>
          </a:xfrm>
          <a:prstGeom prst="rect">
            <a:avLst/>
          </a:prstGeom>
          <a:solidFill>
            <a:srgbClr val="C00000"/>
          </a:solidFill>
        </p:spPr>
        <p:txBody>
          <a:bodyPr wrap="square">
            <a:spAutoFit/>
          </a:bodyPr>
          <a:lstStyle/>
          <a:p>
            <a:r>
              <a:rPr lang="zh-CN" altLang="en-US" b="1" i="0" dirty="0">
                <a:solidFill>
                  <a:schemeClr val="bg1"/>
                </a:solidFill>
                <a:effectLst/>
                <a:latin typeface="PingFang SC"/>
              </a:rPr>
              <a:t>开始伪状态：表示状态活动图的开始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D4ECF936-173C-486C-8FCC-F6FC2561AB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92E24D-AFF3-4DA4-A8AF-CC85CD44668E}" type="slidenum">
              <a:rPr lang="en-US" altLang="en-US"/>
              <a:pPr eaLnBrk="1" hangingPunct="1"/>
              <a:t>45</a:t>
            </a:fld>
            <a:endParaRPr lang="en-US" altLang="en-US"/>
          </a:p>
        </p:txBody>
      </p:sp>
      <p:sp>
        <p:nvSpPr>
          <p:cNvPr id="31747" name="Rectangle 2">
            <a:extLst>
              <a:ext uri="{FF2B5EF4-FFF2-40B4-BE49-F238E27FC236}">
                <a16:creationId xmlns:a16="http://schemas.microsoft.com/office/drawing/2014/main" id="{88A4414B-6F30-4111-8F59-38BD44E9050A}"/>
              </a:ext>
            </a:extLst>
          </p:cNvPr>
          <p:cNvSpPr>
            <a:spLocks noGrp="1" noChangeArrowheads="1"/>
          </p:cNvSpPr>
          <p:nvPr>
            <p:ph type="title"/>
          </p:nvPr>
        </p:nvSpPr>
        <p:spPr>
          <a:xfrm>
            <a:off x="457200" y="122238"/>
            <a:ext cx="7543800" cy="1173162"/>
          </a:xfrm>
        </p:spPr>
        <p:txBody>
          <a:bodyPr/>
          <a:lstStyle/>
          <a:p>
            <a:pPr eaLnBrk="1" hangingPunct="1"/>
            <a:r>
              <a:rPr lang="en-US" altLang="zh-CN" sz="3600">
                <a:ea typeface="宋体" panose="02010600030101010101" pitchFamily="2" charset="-122"/>
              </a:rPr>
              <a:t>State Machine Diagram</a:t>
            </a:r>
            <a:br>
              <a:rPr lang="en-US" altLang="zh-CN" sz="3600">
                <a:ea typeface="宋体" panose="02010600030101010101" pitchFamily="2" charset="-122"/>
              </a:rPr>
            </a:br>
            <a:r>
              <a:rPr lang="en-US" altLang="zh-CN" sz="2800">
                <a:ea typeface="宋体" panose="02010600030101010101" pitchFamily="2" charset="-122"/>
              </a:rPr>
              <a:t>for a Printer</a:t>
            </a:r>
            <a:r>
              <a:rPr lang="en-US" altLang="zh-CN" sz="3600">
                <a:ea typeface="宋体" panose="02010600030101010101" pitchFamily="2" charset="-122"/>
              </a:rPr>
              <a:t> </a:t>
            </a:r>
            <a:endParaRPr lang="en-US" altLang="zh-CN" sz="2400">
              <a:ea typeface="宋体" panose="02010600030101010101" pitchFamily="2" charset="-122"/>
            </a:endParaRPr>
          </a:p>
        </p:txBody>
      </p:sp>
      <p:pic>
        <p:nvPicPr>
          <p:cNvPr id="31748" name="Picture 5">
            <a:extLst>
              <a:ext uri="{FF2B5EF4-FFF2-40B4-BE49-F238E27FC236}">
                <a16:creationId xmlns:a16="http://schemas.microsoft.com/office/drawing/2014/main" id="{8D24C7AA-6B88-40FF-AC10-8B3C95AF5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80772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Footer Placeholder 4">
            <a:extLst>
              <a:ext uri="{FF2B5EF4-FFF2-40B4-BE49-F238E27FC236}">
                <a16:creationId xmlns:a16="http://schemas.microsoft.com/office/drawing/2014/main" id="{C5B0ACEA-63DE-4DB0-AEC5-C99A025371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1750" name="Rectangle 6">
            <a:extLst>
              <a:ext uri="{FF2B5EF4-FFF2-40B4-BE49-F238E27FC236}">
                <a16:creationId xmlns:a16="http://schemas.microsoft.com/office/drawing/2014/main" id="{4F981F50-38C6-4552-A746-3BED77281F0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星形: 五角 1">
            <a:extLst>
              <a:ext uri="{FF2B5EF4-FFF2-40B4-BE49-F238E27FC236}">
                <a16:creationId xmlns:a16="http://schemas.microsoft.com/office/drawing/2014/main" id="{5F19A742-735A-4DD1-AE88-4D0174AB6288}"/>
              </a:ext>
            </a:extLst>
          </p:cNvPr>
          <p:cNvSpPr/>
          <p:nvPr/>
        </p:nvSpPr>
        <p:spPr>
          <a:xfrm>
            <a:off x="685800" y="1566863"/>
            <a:ext cx="457200" cy="38100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9589B16-14FA-4996-A5CB-E4E7A04BE506}"/>
              </a:ext>
            </a:extLst>
          </p:cNvPr>
          <p:cNvSpPr txBox="1"/>
          <p:nvPr/>
        </p:nvSpPr>
        <p:spPr>
          <a:xfrm>
            <a:off x="838200" y="1161497"/>
            <a:ext cx="2755605" cy="369332"/>
          </a:xfrm>
          <a:prstGeom prst="rect">
            <a:avLst/>
          </a:prstGeom>
          <a:solidFill>
            <a:srgbClr val="C00000"/>
          </a:solidFill>
        </p:spPr>
        <p:txBody>
          <a:bodyPr wrap="square">
            <a:spAutoFit/>
          </a:bodyPr>
          <a:lstStyle/>
          <a:p>
            <a:r>
              <a:rPr lang="zh-CN" altLang="en-US" b="1" i="0" dirty="0">
                <a:solidFill>
                  <a:schemeClr val="bg1"/>
                </a:solidFill>
                <a:effectLst/>
                <a:latin typeface="PingFang SC"/>
              </a:rPr>
              <a:t>状态表示对象的存在状态</a:t>
            </a:r>
          </a:p>
        </p:txBody>
      </p:sp>
    </p:spTree>
    <p:extLst>
      <p:ext uri="{BB962C8B-B14F-4D97-AF65-F5344CB8AC3E}">
        <p14:creationId xmlns:p14="http://schemas.microsoft.com/office/powerpoint/2010/main" val="8082855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D4ECF936-173C-486C-8FCC-F6FC2561AB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92E24D-AFF3-4DA4-A8AF-CC85CD44668E}" type="slidenum">
              <a:rPr lang="en-US" altLang="en-US"/>
              <a:pPr eaLnBrk="1" hangingPunct="1"/>
              <a:t>46</a:t>
            </a:fld>
            <a:endParaRPr lang="en-US" altLang="en-US"/>
          </a:p>
        </p:txBody>
      </p:sp>
      <p:sp>
        <p:nvSpPr>
          <p:cNvPr id="31747" name="Rectangle 2">
            <a:extLst>
              <a:ext uri="{FF2B5EF4-FFF2-40B4-BE49-F238E27FC236}">
                <a16:creationId xmlns:a16="http://schemas.microsoft.com/office/drawing/2014/main" id="{88A4414B-6F30-4111-8F59-38BD44E9050A}"/>
              </a:ext>
            </a:extLst>
          </p:cNvPr>
          <p:cNvSpPr>
            <a:spLocks noGrp="1" noChangeArrowheads="1"/>
          </p:cNvSpPr>
          <p:nvPr>
            <p:ph type="title"/>
          </p:nvPr>
        </p:nvSpPr>
        <p:spPr>
          <a:xfrm>
            <a:off x="457200" y="122238"/>
            <a:ext cx="7543800" cy="1173162"/>
          </a:xfrm>
        </p:spPr>
        <p:txBody>
          <a:bodyPr/>
          <a:lstStyle/>
          <a:p>
            <a:pPr eaLnBrk="1" hangingPunct="1"/>
            <a:r>
              <a:rPr lang="en-US" altLang="zh-CN" sz="3600" dirty="0">
                <a:ea typeface="宋体" panose="02010600030101010101" pitchFamily="2" charset="-122"/>
              </a:rPr>
              <a:t>State Machine Diagram</a:t>
            </a:r>
            <a:br>
              <a:rPr lang="en-US" altLang="zh-CN" sz="3600" dirty="0">
                <a:ea typeface="宋体" panose="02010600030101010101" pitchFamily="2" charset="-122"/>
              </a:rPr>
            </a:br>
            <a:r>
              <a:rPr lang="en-US" altLang="zh-CN" sz="2800" dirty="0">
                <a:ea typeface="宋体" panose="02010600030101010101" pitchFamily="2" charset="-122"/>
              </a:rPr>
              <a:t>for a Printer</a:t>
            </a:r>
            <a:r>
              <a:rPr lang="en-US" altLang="zh-CN" sz="3600" dirty="0">
                <a:ea typeface="宋体" panose="02010600030101010101" pitchFamily="2" charset="-122"/>
              </a:rPr>
              <a:t> </a:t>
            </a:r>
            <a:endParaRPr lang="en-US" altLang="zh-CN" sz="2400" dirty="0">
              <a:ea typeface="宋体" panose="02010600030101010101" pitchFamily="2" charset="-122"/>
            </a:endParaRPr>
          </a:p>
        </p:txBody>
      </p:sp>
      <p:pic>
        <p:nvPicPr>
          <p:cNvPr id="31748" name="Picture 5">
            <a:extLst>
              <a:ext uri="{FF2B5EF4-FFF2-40B4-BE49-F238E27FC236}">
                <a16:creationId xmlns:a16="http://schemas.microsoft.com/office/drawing/2014/main" id="{8D24C7AA-6B88-40FF-AC10-8B3C95AF5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80772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Footer Placeholder 4">
            <a:extLst>
              <a:ext uri="{FF2B5EF4-FFF2-40B4-BE49-F238E27FC236}">
                <a16:creationId xmlns:a16="http://schemas.microsoft.com/office/drawing/2014/main" id="{C5B0ACEA-63DE-4DB0-AEC5-C99A025371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1750" name="Rectangle 6">
            <a:extLst>
              <a:ext uri="{FF2B5EF4-FFF2-40B4-BE49-F238E27FC236}">
                <a16:creationId xmlns:a16="http://schemas.microsoft.com/office/drawing/2014/main" id="{4F981F50-38C6-4552-A746-3BED77281F0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星形: 五角 1">
            <a:extLst>
              <a:ext uri="{FF2B5EF4-FFF2-40B4-BE49-F238E27FC236}">
                <a16:creationId xmlns:a16="http://schemas.microsoft.com/office/drawing/2014/main" id="{5F19A742-735A-4DD1-AE88-4D0174AB6288}"/>
              </a:ext>
            </a:extLst>
          </p:cNvPr>
          <p:cNvSpPr/>
          <p:nvPr/>
        </p:nvSpPr>
        <p:spPr>
          <a:xfrm>
            <a:off x="4876800" y="1591672"/>
            <a:ext cx="457200" cy="38100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126023C-9809-4EE5-BDAE-890EE5AAEF90}"/>
              </a:ext>
            </a:extLst>
          </p:cNvPr>
          <p:cNvSpPr txBox="1"/>
          <p:nvPr/>
        </p:nvSpPr>
        <p:spPr>
          <a:xfrm>
            <a:off x="5410200" y="781734"/>
            <a:ext cx="2755605"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转换名包括触发器的名称，保护状态和行动表达</a:t>
            </a:r>
          </a:p>
        </p:txBody>
      </p:sp>
      <p:sp>
        <p:nvSpPr>
          <p:cNvPr id="9" name="文本框 8">
            <a:extLst>
              <a:ext uri="{FF2B5EF4-FFF2-40B4-BE49-F238E27FC236}">
                <a16:creationId xmlns:a16="http://schemas.microsoft.com/office/drawing/2014/main" id="{4F644C0D-A7C3-4E68-ADDA-CB7446CAED4A}"/>
              </a:ext>
            </a:extLst>
          </p:cNvPr>
          <p:cNvSpPr txBox="1"/>
          <p:nvPr/>
        </p:nvSpPr>
        <p:spPr>
          <a:xfrm>
            <a:off x="3367234" y="3105834"/>
            <a:ext cx="2755605" cy="2031325"/>
          </a:xfrm>
          <a:prstGeom prst="rect">
            <a:avLst/>
          </a:prstGeom>
          <a:solidFill>
            <a:srgbClr val="C00000"/>
          </a:solidFill>
        </p:spPr>
        <p:txBody>
          <a:bodyPr wrap="square">
            <a:spAutoFit/>
          </a:bodyPr>
          <a:lstStyle/>
          <a:p>
            <a:r>
              <a:rPr lang="zh-CN" altLang="en-US" b="1" i="0" dirty="0">
                <a:solidFill>
                  <a:schemeClr val="bg1"/>
                </a:solidFill>
                <a:effectLst/>
                <a:latin typeface="PingFang SC"/>
              </a:rPr>
              <a:t>触发器名称：</a:t>
            </a:r>
            <a:r>
              <a:rPr lang="en-US" altLang="zh-CN" b="1" i="0" dirty="0" err="1">
                <a:solidFill>
                  <a:schemeClr val="bg1"/>
                </a:solidFill>
                <a:effectLst/>
                <a:latin typeface="PingFang SC"/>
              </a:rPr>
              <a:t>onButtonPushed</a:t>
            </a:r>
            <a:endParaRPr lang="en-US" altLang="zh-CN" b="1" i="0" dirty="0">
              <a:solidFill>
                <a:schemeClr val="bg1"/>
              </a:solidFill>
              <a:effectLst/>
              <a:latin typeface="PingFang SC"/>
            </a:endParaRPr>
          </a:p>
          <a:p>
            <a:endParaRPr lang="en-US" altLang="zh-CN" b="1" i="0" dirty="0">
              <a:solidFill>
                <a:schemeClr val="bg1"/>
              </a:solidFill>
              <a:effectLst/>
              <a:latin typeface="PingFang SC"/>
            </a:endParaRPr>
          </a:p>
          <a:p>
            <a:r>
              <a:rPr lang="zh-CN" altLang="en-US" b="1" i="0" dirty="0">
                <a:solidFill>
                  <a:schemeClr val="bg1"/>
                </a:solidFill>
                <a:effectLst/>
                <a:latin typeface="PingFang SC"/>
              </a:rPr>
              <a:t>保护状态：打印机保护罩关闭</a:t>
            </a:r>
          </a:p>
          <a:p>
            <a:endParaRPr lang="zh-CN" altLang="en-US" b="1" i="0" dirty="0">
              <a:solidFill>
                <a:schemeClr val="bg1"/>
              </a:solidFill>
              <a:effectLst/>
              <a:latin typeface="PingFang SC"/>
            </a:endParaRPr>
          </a:p>
          <a:p>
            <a:r>
              <a:rPr lang="zh-CN" altLang="en-US" b="1" i="0" dirty="0">
                <a:solidFill>
                  <a:schemeClr val="bg1"/>
                </a:solidFill>
                <a:effectLst/>
                <a:latin typeface="PingFang SC"/>
              </a:rPr>
              <a:t>行动：运行自检程序</a:t>
            </a:r>
          </a:p>
        </p:txBody>
      </p:sp>
    </p:spTree>
    <p:extLst>
      <p:ext uri="{BB962C8B-B14F-4D97-AF65-F5344CB8AC3E}">
        <p14:creationId xmlns:p14="http://schemas.microsoft.com/office/powerpoint/2010/main" val="3779887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D4ECF936-173C-486C-8FCC-F6FC2561AB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92E24D-AFF3-4DA4-A8AF-CC85CD44668E}" type="slidenum">
              <a:rPr lang="en-US" altLang="en-US"/>
              <a:pPr eaLnBrk="1" hangingPunct="1"/>
              <a:t>47</a:t>
            </a:fld>
            <a:endParaRPr lang="en-US" altLang="en-US"/>
          </a:p>
        </p:txBody>
      </p:sp>
      <p:sp>
        <p:nvSpPr>
          <p:cNvPr id="31747" name="Rectangle 2">
            <a:extLst>
              <a:ext uri="{FF2B5EF4-FFF2-40B4-BE49-F238E27FC236}">
                <a16:creationId xmlns:a16="http://schemas.microsoft.com/office/drawing/2014/main" id="{88A4414B-6F30-4111-8F59-38BD44E9050A}"/>
              </a:ext>
            </a:extLst>
          </p:cNvPr>
          <p:cNvSpPr>
            <a:spLocks noGrp="1" noChangeArrowheads="1"/>
          </p:cNvSpPr>
          <p:nvPr>
            <p:ph type="title"/>
          </p:nvPr>
        </p:nvSpPr>
        <p:spPr>
          <a:xfrm>
            <a:off x="457200" y="122238"/>
            <a:ext cx="7543800" cy="1173162"/>
          </a:xfrm>
        </p:spPr>
        <p:txBody>
          <a:bodyPr/>
          <a:lstStyle/>
          <a:p>
            <a:pPr eaLnBrk="1" hangingPunct="1"/>
            <a:r>
              <a:rPr lang="en-US" altLang="zh-CN" sz="3600">
                <a:ea typeface="宋体" panose="02010600030101010101" pitchFamily="2" charset="-122"/>
              </a:rPr>
              <a:t>State Machine Diagram</a:t>
            </a:r>
            <a:br>
              <a:rPr lang="en-US" altLang="zh-CN" sz="3600">
                <a:ea typeface="宋体" panose="02010600030101010101" pitchFamily="2" charset="-122"/>
              </a:rPr>
            </a:br>
            <a:r>
              <a:rPr lang="en-US" altLang="zh-CN" sz="2800">
                <a:ea typeface="宋体" panose="02010600030101010101" pitchFamily="2" charset="-122"/>
              </a:rPr>
              <a:t>for a Printer</a:t>
            </a:r>
            <a:r>
              <a:rPr lang="en-US" altLang="zh-CN" sz="3600">
                <a:ea typeface="宋体" panose="02010600030101010101" pitchFamily="2" charset="-122"/>
              </a:rPr>
              <a:t> </a:t>
            </a:r>
            <a:endParaRPr lang="en-US" altLang="zh-CN" sz="2400">
              <a:ea typeface="宋体" panose="02010600030101010101" pitchFamily="2" charset="-122"/>
            </a:endParaRPr>
          </a:p>
        </p:txBody>
      </p:sp>
      <p:pic>
        <p:nvPicPr>
          <p:cNvPr id="31748" name="Picture 5">
            <a:extLst>
              <a:ext uri="{FF2B5EF4-FFF2-40B4-BE49-F238E27FC236}">
                <a16:creationId xmlns:a16="http://schemas.microsoft.com/office/drawing/2014/main" id="{8D24C7AA-6B88-40FF-AC10-8B3C95AF5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80772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Footer Placeholder 4">
            <a:extLst>
              <a:ext uri="{FF2B5EF4-FFF2-40B4-BE49-F238E27FC236}">
                <a16:creationId xmlns:a16="http://schemas.microsoft.com/office/drawing/2014/main" id="{C5B0ACEA-63DE-4DB0-AEC5-C99A025371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1750" name="Rectangle 6">
            <a:extLst>
              <a:ext uri="{FF2B5EF4-FFF2-40B4-BE49-F238E27FC236}">
                <a16:creationId xmlns:a16="http://schemas.microsoft.com/office/drawing/2014/main" id="{4F981F50-38C6-4552-A746-3BED77281F0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星形: 五角 1">
            <a:extLst>
              <a:ext uri="{FF2B5EF4-FFF2-40B4-BE49-F238E27FC236}">
                <a16:creationId xmlns:a16="http://schemas.microsoft.com/office/drawing/2014/main" id="{5F19A742-735A-4DD1-AE88-4D0174AB6288}"/>
              </a:ext>
            </a:extLst>
          </p:cNvPr>
          <p:cNvSpPr/>
          <p:nvPr/>
        </p:nvSpPr>
        <p:spPr>
          <a:xfrm>
            <a:off x="4773390" y="4648200"/>
            <a:ext cx="457200" cy="38100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345F8874-3D08-4280-9201-A89AFD57A658}"/>
              </a:ext>
            </a:extLst>
          </p:cNvPr>
          <p:cNvSpPr txBox="1"/>
          <p:nvPr/>
        </p:nvSpPr>
        <p:spPr>
          <a:xfrm>
            <a:off x="5230590" y="5486400"/>
            <a:ext cx="2755605"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转换将对象从原始状态移动到目标状态</a:t>
            </a:r>
          </a:p>
        </p:txBody>
      </p:sp>
    </p:spTree>
    <p:extLst>
      <p:ext uri="{BB962C8B-B14F-4D97-AF65-F5344CB8AC3E}">
        <p14:creationId xmlns:p14="http://schemas.microsoft.com/office/powerpoint/2010/main" val="718734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6">
            <a:extLst>
              <a:ext uri="{FF2B5EF4-FFF2-40B4-BE49-F238E27FC236}">
                <a16:creationId xmlns:a16="http://schemas.microsoft.com/office/drawing/2014/main" id="{5732D67C-34ED-4AF7-BA3B-9D55669511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664767-2A35-44BC-80C6-2BCF121FA297}" type="slidenum">
              <a:rPr lang="en-US" altLang="en-US"/>
              <a:pPr eaLnBrk="1" hangingPunct="1"/>
              <a:t>48</a:t>
            </a:fld>
            <a:endParaRPr lang="en-US" altLang="en-US"/>
          </a:p>
        </p:txBody>
      </p:sp>
      <p:sp>
        <p:nvSpPr>
          <p:cNvPr id="32771" name="Rectangle 2">
            <a:extLst>
              <a:ext uri="{FF2B5EF4-FFF2-40B4-BE49-F238E27FC236}">
                <a16:creationId xmlns:a16="http://schemas.microsoft.com/office/drawing/2014/main" id="{780B4BA3-141A-4366-BEAD-2A0A17795CE9}"/>
              </a:ext>
            </a:extLst>
          </p:cNvPr>
          <p:cNvSpPr>
            <a:spLocks noGrp="1" noChangeArrowheads="1"/>
          </p:cNvSpPr>
          <p:nvPr>
            <p:ph type="title"/>
          </p:nvPr>
        </p:nvSpPr>
        <p:spPr>
          <a:xfrm>
            <a:off x="457200" y="122238"/>
            <a:ext cx="7543800" cy="944562"/>
          </a:xfrm>
        </p:spPr>
        <p:txBody>
          <a:bodyPr/>
          <a:lstStyle/>
          <a:p>
            <a:pPr eaLnBrk="1" hangingPunct="1"/>
            <a:r>
              <a:rPr lang="en-US" altLang="zh-CN" sz="4000" dirty="0">
                <a:ea typeface="宋体" panose="02010600030101010101" pitchFamily="2" charset="-122"/>
              </a:rPr>
              <a:t>Composite States</a:t>
            </a:r>
            <a:r>
              <a:rPr lang="zh-CN" altLang="en-US" sz="4000" dirty="0">
                <a:ea typeface="宋体" panose="02010600030101010101" pitchFamily="2" charset="-122"/>
              </a:rPr>
              <a:t>（复合状态）</a:t>
            </a:r>
            <a:endParaRPr lang="en-US" altLang="zh-CN" sz="2800" dirty="0">
              <a:ea typeface="宋体" panose="02010600030101010101" pitchFamily="2" charset="-122"/>
            </a:endParaRPr>
          </a:p>
        </p:txBody>
      </p:sp>
      <p:sp>
        <p:nvSpPr>
          <p:cNvPr id="32772" name="Rectangle 4">
            <a:extLst>
              <a:ext uri="{FF2B5EF4-FFF2-40B4-BE49-F238E27FC236}">
                <a16:creationId xmlns:a16="http://schemas.microsoft.com/office/drawing/2014/main" id="{8115DB48-2E95-4F66-90F0-974EEDE6B09F}"/>
              </a:ext>
            </a:extLst>
          </p:cNvPr>
          <p:cNvSpPr>
            <a:spLocks noGrp="1" noChangeArrowheads="1"/>
          </p:cNvSpPr>
          <p:nvPr>
            <p:ph type="body" sz="half" idx="1"/>
          </p:nvPr>
        </p:nvSpPr>
        <p:spPr>
          <a:xfrm>
            <a:off x="457200" y="1295400"/>
            <a:ext cx="8001000" cy="762000"/>
          </a:xfrm>
          <a:noFill/>
        </p:spPr>
        <p:txBody>
          <a:bodyPr/>
          <a:lstStyle/>
          <a:p>
            <a:pPr eaLnBrk="1" hangingPunct="1">
              <a:lnSpc>
                <a:spcPct val="90000"/>
              </a:lnSpc>
            </a:pPr>
            <a:r>
              <a:rPr lang="en-GB" altLang="zh-CN" sz="2200" dirty="0"/>
              <a:t>State containing other states and transitions</a:t>
            </a:r>
            <a:r>
              <a:rPr lang="zh-CN" altLang="en-US" sz="2200" dirty="0"/>
              <a:t>（包含其他状态和转换的状态）</a:t>
            </a:r>
            <a:endParaRPr lang="en-GB" altLang="zh-CN" sz="2200" dirty="0"/>
          </a:p>
          <a:p>
            <a:pPr eaLnBrk="1" hangingPunct="1">
              <a:lnSpc>
                <a:spcPct val="90000"/>
              </a:lnSpc>
            </a:pPr>
            <a:r>
              <a:rPr lang="en-GB" altLang="zh-CN" sz="2200" dirty="0"/>
              <a:t>Printer can be On and either Idle or Working</a:t>
            </a:r>
            <a:r>
              <a:rPr lang="zh-CN" altLang="en-US" sz="2200" dirty="0"/>
              <a:t>（打印机可以打开，空闲或工作）</a:t>
            </a:r>
            <a:endParaRPr lang="en-GB" altLang="zh-CN" sz="2200" dirty="0"/>
          </a:p>
        </p:txBody>
      </p:sp>
      <p:pic>
        <p:nvPicPr>
          <p:cNvPr id="32773" name="Picture 5">
            <a:extLst>
              <a:ext uri="{FF2B5EF4-FFF2-40B4-BE49-F238E27FC236}">
                <a16:creationId xmlns:a16="http://schemas.microsoft.com/office/drawing/2014/main" id="{94E7C350-06D1-47A4-97E4-22B33791E6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782403"/>
            <a:ext cx="6172200" cy="3313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Footer Placeholder 4">
            <a:extLst>
              <a:ext uri="{FF2B5EF4-FFF2-40B4-BE49-F238E27FC236}">
                <a16:creationId xmlns:a16="http://schemas.microsoft.com/office/drawing/2014/main" id="{0C74C216-BF39-4D16-A492-E7186274A4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2775" name="Rectangle 7">
            <a:extLst>
              <a:ext uri="{FF2B5EF4-FFF2-40B4-BE49-F238E27FC236}">
                <a16:creationId xmlns:a16="http://schemas.microsoft.com/office/drawing/2014/main" id="{BADC31AC-B986-4674-87F3-9B54BED5690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6">
            <a:extLst>
              <a:ext uri="{FF2B5EF4-FFF2-40B4-BE49-F238E27FC236}">
                <a16:creationId xmlns:a16="http://schemas.microsoft.com/office/drawing/2014/main" id="{27BBE459-62A5-4B77-AACC-146A6E27DC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0D18BE2-BF26-42E4-AAFD-81CF0D6AE5ED}" type="slidenum">
              <a:rPr lang="en-US" altLang="en-US"/>
              <a:pPr eaLnBrk="1" hangingPunct="1"/>
              <a:t>49</a:t>
            </a:fld>
            <a:endParaRPr lang="en-US" altLang="en-US"/>
          </a:p>
        </p:txBody>
      </p:sp>
      <p:sp>
        <p:nvSpPr>
          <p:cNvPr id="33795" name="Rectangle 2">
            <a:extLst>
              <a:ext uri="{FF2B5EF4-FFF2-40B4-BE49-F238E27FC236}">
                <a16:creationId xmlns:a16="http://schemas.microsoft.com/office/drawing/2014/main" id="{4D6F0151-F915-4310-BED7-5B89B97473B9}"/>
              </a:ext>
            </a:extLst>
          </p:cNvPr>
          <p:cNvSpPr>
            <a:spLocks noGrp="1" noChangeArrowheads="1"/>
          </p:cNvSpPr>
          <p:nvPr>
            <p:ph type="title"/>
          </p:nvPr>
        </p:nvSpPr>
        <p:spPr>
          <a:xfrm>
            <a:off x="457200" y="122238"/>
            <a:ext cx="7543800" cy="944562"/>
          </a:xfrm>
        </p:spPr>
        <p:txBody>
          <a:bodyPr/>
          <a:lstStyle/>
          <a:p>
            <a:pPr eaLnBrk="1" hangingPunct="1"/>
            <a:r>
              <a:rPr lang="en-US" altLang="zh-CN" sz="4000" dirty="0">
                <a:ea typeface="宋体" panose="02010600030101010101" pitchFamily="2" charset="-122"/>
              </a:rPr>
              <a:t>Concurrent Paths </a:t>
            </a:r>
            <a:r>
              <a:rPr lang="zh-CN" altLang="en-US" sz="4000" dirty="0">
                <a:ea typeface="宋体" panose="02010600030101010101" pitchFamily="2" charset="-122"/>
              </a:rPr>
              <a:t>（并行路径）</a:t>
            </a:r>
            <a:endParaRPr lang="en-US" altLang="zh-CN" sz="2800" dirty="0">
              <a:ea typeface="宋体" panose="02010600030101010101" pitchFamily="2" charset="-122"/>
            </a:endParaRPr>
          </a:p>
        </p:txBody>
      </p:sp>
      <p:sp>
        <p:nvSpPr>
          <p:cNvPr id="33796" name="Rectangle 3">
            <a:extLst>
              <a:ext uri="{FF2B5EF4-FFF2-40B4-BE49-F238E27FC236}">
                <a16:creationId xmlns:a16="http://schemas.microsoft.com/office/drawing/2014/main" id="{4E4B51F7-6B87-492A-841A-3A423022EF4E}"/>
              </a:ext>
            </a:extLst>
          </p:cNvPr>
          <p:cNvSpPr>
            <a:spLocks noGrp="1" noChangeArrowheads="1"/>
          </p:cNvSpPr>
          <p:nvPr>
            <p:ph type="body" sz="half" idx="1"/>
          </p:nvPr>
        </p:nvSpPr>
        <p:spPr>
          <a:xfrm>
            <a:off x="457200" y="1295400"/>
            <a:ext cx="8001000" cy="762000"/>
          </a:xfrm>
          <a:noFill/>
        </p:spPr>
        <p:txBody>
          <a:bodyPr/>
          <a:lstStyle/>
          <a:p>
            <a:pPr eaLnBrk="1" hangingPunct="1">
              <a:lnSpc>
                <a:spcPct val="90000"/>
              </a:lnSpc>
            </a:pPr>
            <a:r>
              <a:rPr lang="en-GB" altLang="zh-CN" sz="2200" dirty="0"/>
              <a:t>Multiple paths in composite state</a:t>
            </a:r>
            <a:r>
              <a:rPr lang="zh-CN" altLang="en-US" sz="2200" dirty="0"/>
              <a:t>（多个路径处于复合状态）</a:t>
            </a:r>
            <a:endParaRPr lang="en-GB" altLang="zh-CN" sz="2200" dirty="0"/>
          </a:p>
          <a:p>
            <a:pPr eaLnBrk="1" hangingPunct="1">
              <a:lnSpc>
                <a:spcPct val="90000"/>
              </a:lnSpc>
            </a:pPr>
            <a:r>
              <a:rPr lang="en-GB" altLang="zh-CN" sz="2200" dirty="0"/>
              <a:t>Printer On paths are independent</a:t>
            </a:r>
            <a:r>
              <a:rPr lang="zh-CN" altLang="en-US" sz="2200" dirty="0"/>
              <a:t>（打印机路径是独立的）</a:t>
            </a:r>
            <a:endParaRPr lang="en-GB" altLang="zh-CN" sz="2200" dirty="0"/>
          </a:p>
        </p:txBody>
      </p:sp>
      <p:pic>
        <p:nvPicPr>
          <p:cNvPr id="33797" name="Picture 5">
            <a:extLst>
              <a:ext uri="{FF2B5EF4-FFF2-40B4-BE49-F238E27FC236}">
                <a16:creationId xmlns:a16="http://schemas.microsoft.com/office/drawing/2014/main" id="{4C0B4A3B-D901-4146-8902-759726A785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209800"/>
            <a:ext cx="6602413" cy="399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Footer Placeholder 4">
            <a:extLst>
              <a:ext uri="{FF2B5EF4-FFF2-40B4-BE49-F238E27FC236}">
                <a16:creationId xmlns:a16="http://schemas.microsoft.com/office/drawing/2014/main" id="{3C23DA2E-F627-479E-AF3E-58E7162681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3799" name="Rectangle 7">
            <a:extLst>
              <a:ext uri="{FF2B5EF4-FFF2-40B4-BE49-F238E27FC236}">
                <a16:creationId xmlns:a16="http://schemas.microsoft.com/office/drawing/2014/main" id="{38312B29-191F-40C2-915E-3EDBFFC33489}"/>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矩形 7">
            <a:extLst>
              <a:ext uri="{FF2B5EF4-FFF2-40B4-BE49-F238E27FC236}">
                <a16:creationId xmlns:a16="http://schemas.microsoft.com/office/drawing/2014/main" id="{5920593A-2341-4959-A0FF-309DE34F1915}"/>
              </a:ext>
            </a:extLst>
          </p:cNvPr>
          <p:cNvSpPr/>
          <p:nvPr/>
        </p:nvSpPr>
        <p:spPr>
          <a:xfrm>
            <a:off x="3810000" y="3124200"/>
            <a:ext cx="3810000" cy="1295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3B5FB24F-BC05-409D-BC8A-902243DD2D72}"/>
              </a:ext>
            </a:extLst>
          </p:cNvPr>
          <p:cNvSpPr txBox="1"/>
          <p:nvPr/>
        </p:nvSpPr>
        <p:spPr>
          <a:xfrm>
            <a:off x="6165997" y="2602468"/>
            <a:ext cx="2755605" cy="369332"/>
          </a:xfrm>
          <a:prstGeom prst="rect">
            <a:avLst/>
          </a:prstGeom>
          <a:solidFill>
            <a:srgbClr val="C00000"/>
          </a:solidFill>
        </p:spPr>
        <p:txBody>
          <a:bodyPr wrap="square">
            <a:spAutoFit/>
          </a:bodyPr>
          <a:lstStyle/>
          <a:p>
            <a:r>
              <a:rPr lang="zh-CN" altLang="en-US" b="1" i="0" dirty="0">
                <a:solidFill>
                  <a:schemeClr val="bg1"/>
                </a:solidFill>
                <a:effectLst/>
                <a:latin typeface="PingFang SC"/>
              </a:rPr>
              <a:t>装填墨水和打印是并行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6">
            <a:extLst>
              <a:ext uri="{FF2B5EF4-FFF2-40B4-BE49-F238E27FC236}">
                <a16:creationId xmlns:a16="http://schemas.microsoft.com/office/drawing/2014/main" id="{47C017D5-0BC2-4D0A-A1C6-E6B4C1362A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E51D6AB-D73D-46AE-A7C4-7BEA5027D298}" type="slidenum">
              <a:rPr lang="en-US" altLang="en-US"/>
              <a:pPr eaLnBrk="1" hangingPunct="1"/>
              <a:t>50</a:t>
            </a:fld>
            <a:endParaRPr lang="en-US" altLang="en-US"/>
          </a:p>
        </p:txBody>
      </p:sp>
      <p:sp>
        <p:nvSpPr>
          <p:cNvPr id="34819" name="Rectangle 2">
            <a:extLst>
              <a:ext uri="{FF2B5EF4-FFF2-40B4-BE49-F238E27FC236}">
                <a16:creationId xmlns:a16="http://schemas.microsoft.com/office/drawing/2014/main" id="{F8ADCC1B-6862-4CEA-9F05-C13ECB061650}"/>
              </a:ext>
            </a:extLst>
          </p:cNvPr>
          <p:cNvSpPr>
            <a:spLocks noGrp="1" noChangeArrowheads="1"/>
          </p:cNvSpPr>
          <p:nvPr>
            <p:ph type="title"/>
          </p:nvPr>
        </p:nvSpPr>
        <p:spPr>
          <a:xfrm>
            <a:off x="457200" y="122238"/>
            <a:ext cx="7543800" cy="1096962"/>
          </a:xfrm>
        </p:spPr>
        <p:txBody>
          <a:bodyPr/>
          <a:lstStyle/>
          <a:p>
            <a:pPr eaLnBrk="1" hangingPunct="1"/>
            <a:r>
              <a:rPr lang="en-US" altLang="zh-CN" sz="3600" dirty="0">
                <a:ea typeface="宋体" panose="02010600030101010101" pitchFamily="2" charset="-122"/>
              </a:rPr>
              <a:t>Steps for Developing State Machine Diagram</a:t>
            </a:r>
            <a:endParaRPr lang="en-US" altLang="zh-CN" sz="2800" dirty="0">
              <a:ea typeface="宋体" panose="02010600030101010101" pitchFamily="2" charset="-122"/>
            </a:endParaRPr>
          </a:p>
        </p:txBody>
      </p:sp>
      <p:sp>
        <p:nvSpPr>
          <p:cNvPr id="34820" name="Rectangle 3">
            <a:extLst>
              <a:ext uri="{FF2B5EF4-FFF2-40B4-BE49-F238E27FC236}">
                <a16:creationId xmlns:a16="http://schemas.microsoft.com/office/drawing/2014/main" id="{634F9A43-C3D9-41A1-9E82-3DFD1D873768}"/>
              </a:ext>
            </a:extLst>
          </p:cNvPr>
          <p:cNvSpPr>
            <a:spLocks noGrp="1" noChangeArrowheads="1"/>
          </p:cNvSpPr>
          <p:nvPr>
            <p:ph type="body" sz="half" idx="1"/>
          </p:nvPr>
        </p:nvSpPr>
        <p:spPr>
          <a:xfrm>
            <a:off x="457200" y="1447800"/>
            <a:ext cx="8001000" cy="4724400"/>
          </a:xfrm>
          <a:noFill/>
        </p:spPr>
        <p:txBody>
          <a:bodyPr/>
          <a:lstStyle/>
          <a:p>
            <a:pPr marL="495300" indent="-495300" eaLnBrk="1" hangingPunct="1">
              <a:lnSpc>
                <a:spcPct val="90000"/>
              </a:lnSpc>
              <a:buFont typeface="Wingdings" panose="05000000000000000000" pitchFamily="2" charset="2"/>
              <a:buAutoNum type="arabicPeriod"/>
            </a:pPr>
            <a:r>
              <a:rPr lang="en-GB" altLang="zh-CN" sz="2600" dirty="0"/>
              <a:t>Review the class diagram and </a:t>
            </a:r>
            <a:r>
              <a:rPr lang="en-GB" altLang="zh-CN" sz="2600" dirty="0">
                <a:solidFill>
                  <a:srgbClr val="C00000"/>
                </a:solidFill>
              </a:rPr>
              <a:t>select classes </a:t>
            </a:r>
            <a:r>
              <a:rPr lang="en-GB" altLang="zh-CN" sz="2600" dirty="0"/>
              <a:t>that might require state machine diagrams</a:t>
            </a:r>
            <a:r>
              <a:rPr lang="zh-CN" altLang="en-US" sz="2600" dirty="0"/>
              <a:t>（回顾类图并选出需要状态机图的类）</a:t>
            </a:r>
            <a:endParaRPr lang="en-GB" altLang="zh-CN" sz="2600" dirty="0"/>
          </a:p>
          <a:p>
            <a:pPr marL="495300" indent="-495300" eaLnBrk="1" hangingPunct="1">
              <a:lnSpc>
                <a:spcPct val="90000"/>
              </a:lnSpc>
              <a:buFont typeface="Wingdings" panose="05000000000000000000" pitchFamily="2" charset="2"/>
              <a:buAutoNum type="arabicPeriod"/>
            </a:pPr>
            <a:r>
              <a:rPr lang="en-GB" altLang="zh-CN" sz="2600" dirty="0"/>
              <a:t>For each class, make a list of </a:t>
            </a:r>
            <a:r>
              <a:rPr lang="en-GB" altLang="zh-CN" sz="2600" dirty="0">
                <a:solidFill>
                  <a:srgbClr val="C00000"/>
                </a:solidFill>
              </a:rPr>
              <a:t>status conditions </a:t>
            </a:r>
            <a:r>
              <a:rPr lang="en-GB" altLang="zh-CN" sz="2600" dirty="0"/>
              <a:t>(states) you can identify</a:t>
            </a:r>
            <a:r>
              <a:rPr lang="zh-CN" altLang="en-US" sz="2600" dirty="0"/>
              <a:t>（对于组中每一个选出的类，列出你能确定的所有状态）</a:t>
            </a:r>
            <a:endParaRPr lang="en-GB" altLang="zh-CN" sz="2600" dirty="0"/>
          </a:p>
          <a:p>
            <a:pPr marL="495300" indent="-495300" eaLnBrk="1" hangingPunct="1">
              <a:lnSpc>
                <a:spcPct val="90000"/>
              </a:lnSpc>
              <a:buFont typeface="Wingdings" panose="05000000000000000000" pitchFamily="2" charset="2"/>
              <a:buAutoNum type="arabicPeriod"/>
            </a:pPr>
            <a:r>
              <a:rPr lang="en-GB" altLang="zh-CN" sz="2600" dirty="0"/>
              <a:t>Begin building diagram fragments by </a:t>
            </a:r>
            <a:r>
              <a:rPr lang="en-GB" altLang="zh-CN" sz="2600" dirty="0">
                <a:solidFill>
                  <a:srgbClr val="C00000"/>
                </a:solidFill>
              </a:rPr>
              <a:t>identifying transitions</a:t>
            </a:r>
            <a:r>
              <a:rPr lang="en-GB" altLang="zh-CN" sz="2600" dirty="0"/>
              <a:t> that cause an object to leave the identified state</a:t>
            </a:r>
            <a:r>
              <a:rPr lang="zh-CN" altLang="en-US" sz="2600" dirty="0"/>
              <a:t>（通过确定导致对象离开特定状态的转换来开始建立状态机图片段）</a:t>
            </a:r>
            <a:endParaRPr lang="en-GB" altLang="zh-CN" sz="2600" dirty="0"/>
          </a:p>
        </p:txBody>
      </p:sp>
      <p:sp>
        <p:nvSpPr>
          <p:cNvPr id="34821" name="Footer Placeholder 4">
            <a:extLst>
              <a:ext uri="{FF2B5EF4-FFF2-40B4-BE49-F238E27FC236}">
                <a16:creationId xmlns:a16="http://schemas.microsoft.com/office/drawing/2014/main" id="{6341B2FD-3819-4D2E-AA14-DA4F8861167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4822" name="Rectangle 6">
            <a:extLst>
              <a:ext uri="{FF2B5EF4-FFF2-40B4-BE49-F238E27FC236}">
                <a16:creationId xmlns:a16="http://schemas.microsoft.com/office/drawing/2014/main" id="{D3EB9B9C-F258-4C96-8BB8-100A21712D6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6">
            <a:extLst>
              <a:ext uri="{FF2B5EF4-FFF2-40B4-BE49-F238E27FC236}">
                <a16:creationId xmlns:a16="http://schemas.microsoft.com/office/drawing/2014/main" id="{47C017D5-0BC2-4D0A-A1C6-E6B4C1362A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E51D6AB-D73D-46AE-A7C4-7BEA5027D298}" type="slidenum">
              <a:rPr lang="en-US" altLang="en-US"/>
              <a:pPr eaLnBrk="1" hangingPunct="1"/>
              <a:t>51</a:t>
            </a:fld>
            <a:endParaRPr lang="en-US" altLang="en-US"/>
          </a:p>
        </p:txBody>
      </p:sp>
      <p:sp>
        <p:nvSpPr>
          <p:cNvPr id="34819" name="Rectangle 2">
            <a:extLst>
              <a:ext uri="{FF2B5EF4-FFF2-40B4-BE49-F238E27FC236}">
                <a16:creationId xmlns:a16="http://schemas.microsoft.com/office/drawing/2014/main" id="{F8ADCC1B-6862-4CEA-9F05-C13ECB061650}"/>
              </a:ext>
            </a:extLst>
          </p:cNvPr>
          <p:cNvSpPr>
            <a:spLocks noGrp="1" noChangeArrowheads="1"/>
          </p:cNvSpPr>
          <p:nvPr>
            <p:ph type="title"/>
          </p:nvPr>
        </p:nvSpPr>
        <p:spPr>
          <a:xfrm>
            <a:off x="457200" y="122238"/>
            <a:ext cx="7543800" cy="1096962"/>
          </a:xfrm>
        </p:spPr>
        <p:txBody>
          <a:bodyPr/>
          <a:lstStyle/>
          <a:p>
            <a:pPr eaLnBrk="1" hangingPunct="1"/>
            <a:r>
              <a:rPr lang="en-US" altLang="zh-CN" sz="3600" dirty="0">
                <a:ea typeface="宋体" panose="02010600030101010101" pitchFamily="2" charset="-122"/>
              </a:rPr>
              <a:t>Steps for Developing State Machine Diagram</a:t>
            </a:r>
            <a:endParaRPr lang="en-US" altLang="zh-CN" sz="2800" dirty="0">
              <a:ea typeface="宋体" panose="02010600030101010101" pitchFamily="2" charset="-122"/>
            </a:endParaRPr>
          </a:p>
        </p:txBody>
      </p:sp>
      <p:sp>
        <p:nvSpPr>
          <p:cNvPr id="34820" name="Rectangle 3">
            <a:extLst>
              <a:ext uri="{FF2B5EF4-FFF2-40B4-BE49-F238E27FC236}">
                <a16:creationId xmlns:a16="http://schemas.microsoft.com/office/drawing/2014/main" id="{634F9A43-C3D9-41A1-9E82-3DFD1D873768}"/>
              </a:ext>
            </a:extLst>
          </p:cNvPr>
          <p:cNvSpPr>
            <a:spLocks noGrp="1" noChangeArrowheads="1"/>
          </p:cNvSpPr>
          <p:nvPr>
            <p:ph type="body" sz="half" idx="1"/>
          </p:nvPr>
        </p:nvSpPr>
        <p:spPr>
          <a:xfrm>
            <a:off x="457200" y="1447800"/>
            <a:ext cx="8001000" cy="4724400"/>
          </a:xfrm>
          <a:noFill/>
        </p:spPr>
        <p:txBody>
          <a:bodyPr/>
          <a:lstStyle/>
          <a:p>
            <a:pPr marL="514350" indent="-514350" eaLnBrk="1" hangingPunct="1">
              <a:lnSpc>
                <a:spcPct val="90000"/>
              </a:lnSpc>
              <a:buFont typeface="+mj-lt"/>
              <a:buAutoNum type="arabicPeriod" startAt="4"/>
            </a:pPr>
            <a:r>
              <a:rPr lang="en-GB" altLang="zh-CN" sz="2600" dirty="0"/>
              <a:t>Sequence these states in the </a:t>
            </a:r>
            <a:r>
              <a:rPr lang="en-GB" altLang="zh-CN" sz="2600" dirty="0">
                <a:solidFill>
                  <a:srgbClr val="C00000"/>
                </a:solidFill>
              </a:rPr>
              <a:t>correct order </a:t>
            </a:r>
            <a:r>
              <a:rPr lang="en-GB" altLang="zh-CN" sz="2600" dirty="0"/>
              <a:t>and aggregate combinations into larger fragments</a:t>
            </a:r>
            <a:r>
              <a:rPr lang="zh-CN" altLang="en-US" sz="2600" dirty="0"/>
              <a:t>（按正确顺序将这些状态</a:t>
            </a:r>
            <a:r>
              <a:rPr lang="en-US" altLang="zh-CN" sz="2600" dirty="0"/>
              <a:t>-</a:t>
            </a:r>
            <a:r>
              <a:rPr lang="zh-CN" altLang="en-US" sz="2600" dirty="0"/>
              <a:t>转换组合起来）</a:t>
            </a:r>
            <a:endParaRPr lang="en-GB" altLang="zh-CN" sz="2600" dirty="0"/>
          </a:p>
          <a:p>
            <a:pPr marL="495300" indent="-495300" eaLnBrk="1" hangingPunct="1">
              <a:lnSpc>
                <a:spcPct val="90000"/>
              </a:lnSpc>
              <a:buFont typeface="Wingdings" panose="05000000000000000000" pitchFamily="2" charset="2"/>
              <a:buAutoNum type="arabicPeriod" startAt="4"/>
            </a:pPr>
            <a:r>
              <a:rPr lang="en-GB" altLang="zh-CN" sz="2600" dirty="0">
                <a:solidFill>
                  <a:srgbClr val="C00000"/>
                </a:solidFill>
              </a:rPr>
              <a:t>Review paths </a:t>
            </a:r>
            <a:r>
              <a:rPr lang="en-GB" altLang="zh-CN" sz="2600" dirty="0"/>
              <a:t>and look for independent, concurrent paths</a:t>
            </a:r>
            <a:r>
              <a:rPr lang="zh-CN" altLang="en-US" sz="2600" dirty="0"/>
              <a:t>（回顾这些路径并找出独立且并发的路径）</a:t>
            </a:r>
            <a:endParaRPr lang="en-US" altLang="zh-CN" sz="2600" dirty="0"/>
          </a:p>
          <a:p>
            <a:pPr marL="495300" indent="-495300" eaLnBrk="1" hangingPunct="1">
              <a:lnSpc>
                <a:spcPct val="90000"/>
              </a:lnSpc>
              <a:buFont typeface="Wingdings" panose="05000000000000000000" pitchFamily="2" charset="2"/>
              <a:buAutoNum type="arabicPeriod" startAt="6"/>
            </a:pPr>
            <a:r>
              <a:rPr lang="en-GB" altLang="zh-CN" sz="2600" dirty="0"/>
              <a:t>Look for </a:t>
            </a:r>
            <a:r>
              <a:rPr lang="en-GB" altLang="zh-CN" sz="2600" dirty="0">
                <a:solidFill>
                  <a:srgbClr val="C00000"/>
                </a:solidFill>
              </a:rPr>
              <a:t>additional transitions</a:t>
            </a:r>
            <a:r>
              <a:rPr lang="en-GB" altLang="zh-CN" sz="2600" dirty="0"/>
              <a:t> and test both directions</a:t>
            </a:r>
            <a:r>
              <a:rPr lang="zh-CN" altLang="en-US" sz="2600" dirty="0"/>
              <a:t>（</a:t>
            </a:r>
            <a:r>
              <a:rPr lang="zh-CN" altLang="en-US" sz="2800" dirty="0"/>
              <a:t>查找其他的转换</a:t>
            </a:r>
            <a:r>
              <a:rPr lang="zh-CN" altLang="en-US" sz="2600" dirty="0"/>
              <a:t>）</a:t>
            </a:r>
            <a:endParaRPr lang="en-GB" altLang="zh-CN" sz="2600" dirty="0"/>
          </a:p>
          <a:p>
            <a:pPr marL="495300" indent="-495300" eaLnBrk="1" hangingPunct="1">
              <a:lnSpc>
                <a:spcPct val="90000"/>
              </a:lnSpc>
              <a:buFont typeface="Wingdings" panose="05000000000000000000" pitchFamily="2" charset="2"/>
              <a:buAutoNum type="arabicPeriod" startAt="6"/>
            </a:pPr>
            <a:r>
              <a:rPr lang="en-GB" altLang="zh-CN" sz="2600" dirty="0"/>
              <a:t>Expand each transition with appropriate message event, guard condition, and action expression</a:t>
            </a:r>
            <a:r>
              <a:rPr lang="zh-CN" altLang="en-US" sz="2600" dirty="0"/>
              <a:t>（</a:t>
            </a:r>
            <a:r>
              <a:rPr lang="zh-CN" altLang="en-US" sz="2800" dirty="0"/>
              <a:t>用合适的消息事件、判定条件和行为描述扩展每个转换</a:t>
            </a:r>
            <a:r>
              <a:rPr lang="zh-CN" altLang="en-US" sz="2600" dirty="0"/>
              <a:t>）</a:t>
            </a:r>
            <a:endParaRPr lang="en-GB" altLang="zh-CN" sz="2600" dirty="0"/>
          </a:p>
          <a:p>
            <a:pPr marL="495300" indent="-495300" eaLnBrk="1" hangingPunct="1">
              <a:lnSpc>
                <a:spcPct val="90000"/>
              </a:lnSpc>
              <a:buFont typeface="Wingdings" panose="05000000000000000000" pitchFamily="2" charset="2"/>
              <a:buAutoNum type="arabicPeriod" startAt="4"/>
            </a:pPr>
            <a:endParaRPr lang="en-US" altLang="zh-CN" sz="2600" dirty="0"/>
          </a:p>
          <a:p>
            <a:pPr marL="495300" indent="-495300" eaLnBrk="1" hangingPunct="1">
              <a:lnSpc>
                <a:spcPct val="90000"/>
              </a:lnSpc>
              <a:buFont typeface="Wingdings" panose="05000000000000000000" pitchFamily="2" charset="2"/>
              <a:buAutoNum type="arabicPeriod" startAt="4"/>
            </a:pPr>
            <a:endParaRPr lang="en-GB" altLang="zh-CN" sz="2600" dirty="0"/>
          </a:p>
        </p:txBody>
      </p:sp>
      <p:sp>
        <p:nvSpPr>
          <p:cNvPr id="34821" name="Footer Placeholder 4">
            <a:extLst>
              <a:ext uri="{FF2B5EF4-FFF2-40B4-BE49-F238E27FC236}">
                <a16:creationId xmlns:a16="http://schemas.microsoft.com/office/drawing/2014/main" id="{6341B2FD-3819-4D2E-AA14-DA4F8861167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4822" name="Rectangle 6">
            <a:extLst>
              <a:ext uri="{FF2B5EF4-FFF2-40B4-BE49-F238E27FC236}">
                <a16:creationId xmlns:a16="http://schemas.microsoft.com/office/drawing/2014/main" id="{D3EB9B9C-F258-4C96-8BB8-100A21712D6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59844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6">
            <a:extLst>
              <a:ext uri="{FF2B5EF4-FFF2-40B4-BE49-F238E27FC236}">
                <a16:creationId xmlns:a16="http://schemas.microsoft.com/office/drawing/2014/main" id="{7B58BA34-76E6-4427-AE99-26E603FEE8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095E188-1BBF-400C-A339-5E2AFD2B5013}" type="slidenum">
              <a:rPr lang="en-US" altLang="en-US"/>
              <a:pPr eaLnBrk="1" hangingPunct="1"/>
              <a:t>52</a:t>
            </a:fld>
            <a:endParaRPr lang="en-US" altLang="en-US"/>
          </a:p>
        </p:txBody>
      </p:sp>
      <p:sp>
        <p:nvSpPr>
          <p:cNvPr id="35843" name="Rectangle 2">
            <a:extLst>
              <a:ext uri="{FF2B5EF4-FFF2-40B4-BE49-F238E27FC236}">
                <a16:creationId xmlns:a16="http://schemas.microsoft.com/office/drawing/2014/main" id="{36DCC1D0-9F1A-4FB2-8DDB-91023A823416}"/>
              </a:ext>
            </a:extLst>
          </p:cNvPr>
          <p:cNvSpPr>
            <a:spLocks noGrp="1" noChangeArrowheads="1"/>
          </p:cNvSpPr>
          <p:nvPr>
            <p:ph type="title"/>
          </p:nvPr>
        </p:nvSpPr>
        <p:spPr>
          <a:xfrm>
            <a:off x="457200" y="122238"/>
            <a:ext cx="7543800" cy="1096962"/>
          </a:xfrm>
        </p:spPr>
        <p:txBody>
          <a:bodyPr/>
          <a:lstStyle/>
          <a:p>
            <a:pPr eaLnBrk="1" hangingPunct="1"/>
            <a:r>
              <a:rPr lang="en-US" altLang="zh-CN" sz="3600">
                <a:ea typeface="宋体" panose="02010600030101010101" pitchFamily="2" charset="-122"/>
              </a:rPr>
              <a:t>Steps for Developing State Machine Diagram </a:t>
            </a:r>
            <a:r>
              <a:rPr lang="en-US" altLang="zh-CN" sz="2800">
                <a:ea typeface="宋体" panose="02010600030101010101" pitchFamily="2" charset="-122"/>
              </a:rPr>
              <a:t>(continued)</a:t>
            </a:r>
          </a:p>
        </p:txBody>
      </p:sp>
      <p:sp>
        <p:nvSpPr>
          <p:cNvPr id="35844" name="Rectangle 3">
            <a:extLst>
              <a:ext uri="{FF2B5EF4-FFF2-40B4-BE49-F238E27FC236}">
                <a16:creationId xmlns:a16="http://schemas.microsoft.com/office/drawing/2014/main" id="{D229E300-CBE5-4D45-AE6D-1841033561B2}"/>
              </a:ext>
            </a:extLst>
          </p:cNvPr>
          <p:cNvSpPr>
            <a:spLocks noGrp="1" noChangeArrowheads="1"/>
          </p:cNvSpPr>
          <p:nvPr>
            <p:ph type="body" sz="half" idx="1"/>
          </p:nvPr>
        </p:nvSpPr>
        <p:spPr>
          <a:xfrm>
            <a:off x="457200" y="1447800"/>
            <a:ext cx="8001000" cy="4724400"/>
          </a:xfrm>
          <a:noFill/>
        </p:spPr>
        <p:txBody>
          <a:bodyPr/>
          <a:lstStyle/>
          <a:p>
            <a:pPr marL="495300" indent="-495300" eaLnBrk="1" hangingPunct="1">
              <a:lnSpc>
                <a:spcPct val="90000"/>
              </a:lnSpc>
              <a:buFont typeface="Wingdings" panose="05000000000000000000" pitchFamily="2" charset="2"/>
              <a:buAutoNum type="arabicPeriod" startAt="6"/>
            </a:pPr>
            <a:r>
              <a:rPr lang="en-GB" altLang="zh-CN" sz="2600" dirty="0"/>
              <a:t>Review and test the state machine diagram for the class</a:t>
            </a:r>
            <a:r>
              <a:rPr lang="zh-CN" altLang="en-US" sz="2600" dirty="0"/>
              <a:t>（</a:t>
            </a:r>
            <a:r>
              <a:rPr lang="zh-CN" altLang="en-US" sz="2800" dirty="0"/>
              <a:t>回顾并检查状态机图</a:t>
            </a:r>
            <a:r>
              <a:rPr lang="zh-CN" altLang="en-US" sz="2600" dirty="0"/>
              <a:t>）</a:t>
            </a:r>
            <a:endParaRPr lang="en-GB" altLang="zh-CN" sz="2600" dirty="0"/>
          </a:p>
          <a:p>
            <a:pPr marL="763588" lvl="1" indent="-419100" eaLnBrk="1" hangingPunct="1">
              <a:lnSpc>
                <a:spcPct val="90000"/>
              </a:lnSpc>
            </a:pPr>
            <a:r>
              <a:rPr lang="en-GB" altLang="zh-CN" sz="2200" dirty="0"/>
              <a:t>Make sure </a:t>
            </a:r>
            <a:r>
              <a:rPr lang="en-GB" altLang="zh-CN" sz="2200" dirty="0">
                <a:solidFill>
                  <a:srgbClr val="C00000"/>
                </a:solidFill>
              </a:rPr>
              <a:t>state are really state</a:t>
            </a:r>
            <a:r>
              <a:rPr lang="en-GB" altLang="zh-CN" sz="2200" dirty="0"/>
              <a:t> for the object in the class</a:t>
            </a:r>
            <a:r>
              <a:rPr lang="zh-CN" altLang="en-US" sz="2200" dirty="0"/>
              <a:t>（</a:t>
            </a:r>
            <a:r>
              <a:rPr lang="zh-CN" altLang="en-US" sz="2400" dirty="0"/>
              <a:t>确保状态确实是类对象的状态</a:t>
            </a:r>
            <a:r>
              <a:rPr lang="zh-CN" altLang="en-US" sz="2200" dirty="0"/>
              <a:t>）</a:t>
            </a:r>
            <a:endParaRPr lang="en-GB" altLang="zh-CN" sz="2200" dirty="0"/>
          </a:p>
          <a:p>
            <a:pPr marL="763588" lvl="1" indent="-419100" eaLnBrk="1" hangingPunct="1">
              <a:lnSpc>
                <a:spcPct val="90000"/>
              </a:lnSpc>
            </a:pPr>
            <a:r>
              <a:rPr lang="en-GB" altLang="zh-CN" sz="2200" dirty="0">
                <a:solidFill>
                  <a:srgbClr val="C00000"/>
                </a:solidFill>
              </a:rPr>
              <a:t>Follow the life cycle </a:t>
            </a:r>
            <a:r>
              <a:rPr lang="en-GB" altLang="zh-CN" sz="2200" dirty="0"/>
              <a:t>of an object coming into existence and being deleted</a:t>
            </a:r>
            <a:r>
              <a:rPr lang="zh-CN" altLang="en-US" sz="2200" dirty="0"/>
              <a:t>（</a:t>
            </a:r>
            <a:r>
              <a:rPr lang="zh-CN" altLang="en-US" sz="2400" dirty="0"/>
              <a:t>从产生到被系统删除，跟踪对象的生命周期</a:t>
            </a:r>
            <a:r>
              <a:rPr lang="zh-CN" altLang="en-US" sz="2200" dirty="0"/>
              <a:t>）</a:t>
            </a:r>
            <a:endParaRPr lang="en-GB" altLang="zh-CN" sz="2200" dirty="0"/>
          </a:p>
          <a:p>
            <a:pPr marL="763588" lvl="1" indent="-419100" eaLnBrk="1" hangingPunct="1">
              <a:lnSpc>
                <a:spcPct val="90000"/>
              </a:lnSpc>
            </a:pPr>
            <a:r>
              <a:rPr lang="en-GB" altLang="zh-CN" sz="2200" dirty="0"/>
              <a:t>Be sure the diagram covers all </a:t>
            </a:r>
            <a:r>
              <a:rPr lang="en-GB" altLang="zh-CN" sz="2200" dirty="0">
                <a:solidFill>
                  <a:srgbClr val="C00000"/>
                </a:solidFill>
              </a:rPr>
              <a:t>exception condition</a:t>
            </a:r>
            <a:r>
              <a:rPr lang="zh-CN" altLang="en-US" sz="2200" dirty="0"/>
              <a:t>（</a:t>
            </a:r>
            <a:r>
              <a:rPr lang="zh-CN" altLang="en-US" sz="2400" dirty="0"/>
              <a:t>确保状态机图覆盖了所有异常情况以及正常的行为流</a:t>
            </a:r>
            <a:r>
              <a:rPr lang="zh-CN" altLang="en-US" sz="2200" dirty="0"/>
              <a:t>）</a:t>
            </a:r>
            <a:endParaRPr lang="en-GB" altLang="zh-CN" sz="2200" dirty="0"/>
          </a:p>
          <a:p>
            <a:pPr marL="763588" lvl="1" indent="-419100" eaLnBrk="1" hangingPunct="1">
              <a:lnSpc>
                <a:spcPct val="90000"/>
              </a:lnSpc>
            </a:pPr>
            <a:r>
              <a:rPr lang="en-GB" altLang="zh-CN" sz="2200" dirty="0"/>
              <a:t>Look again for </a:t>
            </a:r>
            <a:r>
              <a:rPr lang="en-GB" altLang="zh-CN" sz="2200" dirty="0">
                <a:solidFill>
                  <a:srgbClr val="C00000"/>
                </a:solidFill>
              </a:rPr>
              <a:t>concurrent paths </a:t>
            </a:r>
            <a:r>
              <a:rPr lang="en-GB" altLang="zh-CN" sz="2200" dirty="0"/>
              <a:t>and </a:t>
            </a:r>
            <a:r>
              <a:rPr lang="en-GB" altLang="zh-CN" sz="2200" dirty="0">
                <a:solidFill>
                  <a:srgbClr val="C00000"/>
                </a:solidFill>
              </a:rPr>
              <a:t>composite states</a:t>
            </a:r>
            <a:r>
              <a:rPr lang="zh-CN" altLang="en-US" sz="2400" dirty="0"/>
              <a:t>（再次检查并发行为（多路径）和可能得嵌套路径（复合状态））</a:t>
            </a:r>
            <a:endParaRPr lang="en-GB" altLang="zh-CN" sz="2400" dirty="0"/>
          </a:p>
        </p:txBody>
      </p:sp>
      <p:sp>
        <p:nvSpPr>
          <p:cNvPr id="35845" name="Footer Placeholder 4">
            <a:extLst>
              <a:ext uri="{FF2B5EF4-FFF2-40B4-BE49-F238E27FC236}">
                <a16:creationId xmlns:a16="http://schemas.microsoft.com/office/drawing/2014/main" id="{18389B77-4C10-48A9-8FBD-C97B4DABDD4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5846" name="Rectangle 6">
            <a:extLst>
              <a:ext uri="{FF2B5EF4-FFF2-40B4-BE49-F238E27FC236}">
                <a16:creationId xmlns:a16="http://schemas.microsoft.com/office/drawing/2014/main" id="{8F3482E8-A043-421D-A849-3171A7C209E2}"/>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4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6">
            <a:extLst>
              <a:ext uri="{FF2B5EF4-FFF2-40B4-BE49-F238E27FC236}">
                <a16:creationId xmlns:a16="http://schemas.microsoft.com/office/drawing/2014/main" id="{6108351C-1C31-48A3-AC05-E97C14A34A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90BCAD4-D3CF-4706-B168-665EB124F9D2}" type="slidenum">
              <a:rPr lang="en-US" altLang="en-US"/>
              <a:pPr eaLnBrk="1" hangingPunct="1"/>
              <a:t>53</a:t>
            </a:fld>
            <a:endParaRPr lang="en-US" altLang="en-US"/>
          </a:p>
        </p:txBody>
      </p:sp>
      <p:sp>
        <p:nvSpPr>
          <p:cNvPr id="36867" name="Rectangle 2">
            <a:extLst>
              <a:ext uri="{FF2B5EF4-FFF2-40B4-BE49-F238E27FC236}">
                <a16:creationId xmlns:a16="http://schemas.microsoft.com/office/drawing/2014/main" id="{6E1DBEC7-43B5-43F3-B577-89EF65BC6D7F}"/>
              </a:ext>
            </a:extLst>
          </p:cNvPr>
          <p:cNvSpPr>
            <a:spLocks noGrp="1" noChangeArrowheads="1"/>
          </p:cNvSpPr>
          <p:nvPr>
            <p:ph type="title"/>
          </p:nvPr>
        </p:nvSpPr>
        <p:spPr>
          <a:xfrm>
            <a:off x="457200" y="122238"/>
            <a:ext cx="7543800" cy="1249362"/>
          </a:xfrm>
        </p:spPr>
        <p:txBody>
          <a:bodyPr/>
          <a:lstStyle/>
          <a:p>
            <a:pPr eaLnBrk="1" hangingPunct="1"/>
            <a:r>
              <a:rPr lang="en-US" altLang="zh-CN" sz="3600" dirty="0">
                <a:ea typeface="宋体" panose="02010600030101010101" pitchFamily="2" charset="-122"/>
              </a:rPr>
              <a:t>RMO Domain Class States for </a:t>
            </a:r>
            <a:r>
              <a:rPr lang="en-US" altLang="zh-CN" sz="3600" dirty="0" err="1">
                <a:ea typeface="宋体" panose="02010600030101010101" pitchFamily="2" charset="-122"/>
              </a:rPr>
              <a:t>SaleItem</a:t>
            </a:r>
            <a:r>
              <a:rPr lang="en-US" altLang="zh-CN" sz="3600" dirty="0">
                <a:ea typeface="宋体" panose="02010600030101010101" pitchFamily="2" charset="-122"/>
              </a:rPr>
              <a:t> Object</a:t>
            </a:r>
            <a:endParaRPr lang="en-US" altLang="zh-CN" sz="2400" dirty="0">
              <a:ea typeface="宋体" panose="02010600030101010101" pitchFamily="2" charset="-122"/>
            </a:endParaRPr>
          </a:p>
        </p:txBody>
      </p:sp>
      <p:pic>
        <p:nvPicPr>
          <p:cNvPr id="36868" name="Picture 6">
            <a:extLst>
              <a:ext uri="{FF2B5EF4-FFF2-40B4-BE49-F238E27FC236}">
                <a16:creationId xmlns:a16="http://schemas.microsoft.com/office/drawing/2014/main" id="{7AF42CAC-8A0B-4146-9E08-C7A7E8B39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600200"/>
            <a:ext cx="6781800"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7">
            <a:extLst>
              <a:ext uri="{FF2B5EF4-FFF2-40B4-BE49-F238E27FC236}">
                <a16:creationId xmlns:a16="http://schemas.microsoft.com/office/drawing/2014/main" id="{74DA61C0-5B92-42FC-AFC6-D945305AA2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352800"/>
            <a:ext cx="7543800" cy="261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0" name="Footer Placeholder 4">
            <a:extLst>
              <a:ext uri="{FF2B5EF4-FFF2-40B4-BE49-F238E27FC236}">
                <a16:creationId xmlns:a16="http://schemas.microsoft.com/office/drawing/2014/main" id="{3114E974-EE4D-44A8-8DBD-07041D9F1F5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6871" name="Rectangle 7">
            <a:extLst>
              <a:ext uri="{FF2B5EF4-FFF2-40B4-BE49-F238E27FC236}">
                <a16:creationId xmlns:a16="http://schemas.microsoft.com/office/drawing/2014/main" id="{48982D04-B1B8-4056-95AA-768199A53537}"/>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矩形 7">
            <a:extLst>
              <a:ext uri="{FF2B5EF4-FFF2-40B4-BE49-F238E27FC236}">
                <a16:creationId xmlns:a16="http://schemas.microsoft.com/office/drawing/2014/main" id="{5ED85AD0-FC6F-49C3-A665-F23AA6776CA8}"/>
              </a:ext>
            </a:extLst>
          </p:cNvPr>
          <p:cNvSpPr/>
          <p:nvPr/>
        </p:nvSpPr>
        <p:spPr>
          <a:xfrm>
            <a:off x="2247900" y="3464291"/>
            <a:ext cx="2781300" cy="87910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E0924EAB-E576-404B-9FBA-9ACB99792F9F}"/>
              </a:ext>
            </a:extLst>
          </p:cNvPr>
          <p:cNvSpPr txBox="1"/>
          <p:nvPr/>
        </p:nvSpPr>
        <p:spPr>
          <a:xfrm>
            <a:off x="5213497" y="3490745"/>
            <a:ext cx="2755605"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问题：没有任何一个状态能够进入缺货状态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5F2A067F-0ED4-459D-9F57-81BD600405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03C587-0C88-49E3-970F-01570409CA6B}" type="slidenum">
              <a:rPr lang="en-US" altLang="en-US"/>
              <a:pPr eaLnBrk="1" hangingPunct="1"/>
              <a:t>54</a:t>
            </a:fld>
            <a:endParaRPr lang="en-US" altLang="en-US"/>
          </a:p>
        </p:txBody>
      </p:sp>
      <p:sp>
        <p:nvSpPr>
          <p:cNvPr id="37891" name="Rectangle 2">
            <a:extLst>
              <a:ext uri="{FF2B5EF4-FFF2-40B4-BE49-F238E27FC236}">
                <a16:creationId xmlns:a16="http://schemas.microsoft.com/office/drawing/2014/main" id="{43B7712E-96EF-422A-A564-B5780675BBD0}"/>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Final State Machine Diagram for SaleItem Object</a:t>
            </a:r>
            <a:endParaRPr lang="en-US" altLang="zh-CN" sz="2400">
              <a:ea typeface="宋体" panose="02010600030101010101" pitchFamily="2" charset="-122"/>
            </a:endParaRPr>
          </a:p>
        </p:txBody>
      </p:sp>
      <p:sp>
        <p:nvSpPr>
          <p:cNvPr id="37892" name="Rectangle 5">
            <a:extLst>
              <a:ext uri="{FF2B5EF4-FFF2-40B4-BE49-F238E27FC236}">
                <a16:creationId xmlns:a16="http://schemas.microsoft.com/office/drawing/2014/main" id="{60AD5DC1-8EEA-423F-8621-3B1F32E9104E}"/>
              </a:ext>
            </a:extLst>
          </p:cNvPr>
          <p:cNvSpPr>
            <a:spLocks noGrp="1" noChangeArrowheads="1"/>
          </p:cNvSpPr>
          <p:nvPr>
            <p:ph type="body" sz="half" idx="1"/>
          </p:nvPr>
        </p:nvSpPr>
        <p:spPr>
          <a:xfrm>
            <a:off x="533400" y="1447800"/>
            <a:ext cx="8001000" cy="762000"/>
          </a:xfrm>
          <a:noFill/>
        </p:spPr>
        <p:txBody>
          <a:bodyPr/>
          <a:lstStyle/>
          <a:p>
            <a:pPr eaLnBrk="1" hangingPunct="1">
              <a:lnSpc>
                <a:spcPct val="90000"/>
              </a:lnSpc>
            </a:pPr>
            <a:r>
              <a:rPr lang="en-GB" altLang="zh-CN" sz="2200" dirty="0" err="1"/>
              <a:t>addItem</a:t>
            </a:r>
            <a:r>
              <a:rPr lang="en-GB" altLang="zh-CN" sz="2200" dirty="0"/>
              <a:t>() and archive() transitions added</a:t>
            </a:r>
          </a:p>
          <a:p>
            <a:pPr eaLnBrk="1" hangingPunct="1">
              <a:lnSpc>
                <a:spcPct val="90000"/>
              </a:lnSpc>
            </a:pPr>
            <a:r>
              <a:rPr lang="en-GB" altLang="zh-CN" sz="2200" dirty="0" err="1"/>
              <a:t>markBackOrdered</a:t>
            </a:r>
            <a:r>
              <a:rPr lang="en-GB" altLang="zh-CN" sz="2200" dirty="0"/>
              <a:t>() transition added</a:t>
            </a:r>
          </a:p>
        </p:txBody>
      </p:sp>
      <p:pic>
        <p:nvPicPr>
          <p:cNvPr id="37893" name="Picture 6">
            <a:extLst>
              <a:ext uri="{FF2B5EF4-FFF2-40B4-BE49-F238E27FC236}">
                <a16:creationId xmlns:a16="http://schemas.microsoft.com/office/drawing/2014/main" id="{2350DD90-AC74-4B8B-BE83-981BF8283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590800"/>
            <a:ext cx="8483600" cy="257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4" name="Footer Placeholder 4">
            <a:extLst>
              <a:ext uri="{FF2B5EF4-FFF2-40B4-BE49-F238E27FC236}">
                <a16:creationId xmlns:a16="http://schemas.microsoft.com/office/drawing/2014/main" id="{2AFABE51-13D8-4275-B749-C0340BC8B58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5" name="Rectangle 7">
            <a:extLst>
              <a:ext uri="{FF2B5EF4-FFF2-40B4-BE49-F238E27FC236}">
                <a16:creationId xmlns:a16="http://schemas.microsoft.com/office/drawing/2014/main" id="{0C85B6EF-6CCF-40AD-A8F8-BDD1A69E75B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矩形 7">
            <a:extLst>
              <a:ext uri="{FF2B5EF4-FFF2-40B4-BE49-F238E27FC236}">
                <a16:creationId xmlns:a16="http://schemas.microsoft.com/office/drawing/2014/main" id="{2730370B-2380-4C47-8FD7-8E4657ECF511}"/>
              </a:ext>
            </a:extLst>
          </p:cNvPr>
          <p:cNvSpPr/>
          <p:nvPr/>
        </p:nvSpPr>
        <p:spPr>
          <a:xfrm>
            <a:off x="355600" y="2596663"/>
            <a:ext cx="1473200" cy="83233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0226D01-4CB3-48FA-9734-D9F5C8A83E26}"/>
              </a:ext>
            </a:extLst>
          </p:cNvPr>
          <p:cNvSpPr/>
          <p:nvPr/>
        </p:nvSpPr>
        <p:spPr>
          <a:xfrm>
            <a:off x="2590800" y="3294063"/>
            <a:ext cx="1752600" cy="74453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6">
            <a:extLst>
              <a:ext uri="{FF2B5EF4-FFF2-40B4-BE49-F238E27FC236}">
                <a16:creationId xmlns:a16="http://schemas.microsoft.com/office/drawing/2014/main" id="{6FA64855-DF0D-4674-993D-8C54D2A269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78562E-B883-40C5-9E8E-0EBF88BF40DB}" type="slidenum">
              <a:rPr lang="en-US" altLang="en-US"/>
              <a:pPr eaLnBrk="1" hangingPunct="1"/>
              <a:t>55</a:t>
            </a:fld>
            <a:endParaRPr lang="en-US" altLang="en-US"/>
          </a:p>
        </p:txBody>
      </p:sp>
      <p:sp>
        <p:nvSpPr>
          <p:cNvPr id="38915" name="Rectangle 2">
            <a:extLst>
              <a:ext uri="{FF2B5EF4-FFF2-40B4-BE49-F238E27FC236}">
                <a16:creationId xmlns:a16="http://schemas.microsoft.com/office/drawing/2014/main" id="{308ED82C-D0BD-427D-B553-16DD7B8756D3}"/>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RMO Domain Class States for Sale Object</a:t>
            </a:r>
            <a:endParaRPr lang="en-US" altLang="zh-CN" sz="2400">
              <a:ea typeface="宋体" panose="02010600030101010101" pitchFamily="2" charset="-122"/>
            </a:endParaRPr>
          </a:p>
        </p:txBody>
      </p:sp>
      <p:pic>
        <p:nvPicPr>
          <p:cNvPr id="38916" name="Picture 5">
            <a:extLst>
              <a:ext uri="{FF2B5EF4-FFF2-40B4-BE49-F238E27FC236}">
                <a16:creationId xmlns:a16="http://schemas.microsoft.com/office/drawing/2014/main" id="{4392BC00-C7A0-4BA2-859F-0E85293D5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057400"/>
            <a:ext cx="85344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Footer Placeholder 4">
            <a:extLst>
              <a:ext uri="{FF2B5EF4-FFF2-40B4-BE49-F238E27FC236}">
                <a16:creationId xmlns:a16="http://schemas.microsoft.com/office/drawing/2014/main" id="{7384438D-07D0-4CDC-86B7-B301BA65A6C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8918" name="Rectangle 6">
            <a:extLst>
              <a:ext uri="{FF2B5EF4-FFF2-40B4-BE49-F238E27FC236}">
                <a16:creationId xmlns:a16="http://schemas.microsoft.com/office/drawing/2014/main" id="{863796AC-42AC-4246-80D6-C114136C151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文本框 1">
            <a:extLst>
              <a:ext uri="{FF2B5EF4-FFF2-40B4-BE49-F238E27FC236}">
                <a16:creationId xmlns:a16="http://schemas.microsoft.com/office/drawing/2014/main" id="{06E3B22B-1161-46F9-8EBC-F7A61CD1021B}"/>
              </a:ext>
            </a:extLst>
          </p:cNvPr>
          <p:cNvSpPr txBox="1"/>
          <p:nvPr/>
        </p:nvSpPr>
        <p:spPr>
          <a:xfrm>
            <a:off x="2668300" y="1949870"/>
            <a:ext cx="1569660" cy="2951449"/>
          </a:xfrm>
          <a:prstGeom prst="rect">
            <a:avLst/>
          </a:prstGeom>
          <a:noFill/>
        </p:spPr>
        <p:txBody>
          <a:bodyPr wrap="none" rtlCol="0">
            <a:spAutoFit/>
          </a:bodyPr>
          <a:lstStyle/>
          <a:p>
            <a:pPr>
              <a:lnSpc>
                <a:spcPct val="150000"/>
              </a:lnSpc>
            </a:pPr>
            <a:r>
              <a:rPr lang="zh-CN" altLang="en-US" dirty="0"/>
              <a:t>状态</a:t>
            </a:r>
            <a:endParaRPr lang="en-US" altLang="zh-CN" dirty="0"/>
          </a:p>
          <a:p>
            <a:pPr>
              <a:lnSpc>
                <a:spcPct val="150000"/>
              </a:lnSpc>
            </a:pPr>
            <a:r>
              <a:rPr lang="zh-CN" altLang="en-US" dirty="0"/>
              <a:t>增加物品</a:t>
            </a:r>
            <a:endParaRPr lang="en-US" altLang="zh-CN" dirty="0"/>
          </a:p>
          <a:p>
            <a:pPr>
              <a:lnSpc>
                <a:spcPct val="150000"/>
              </a:lnSpc>
            </a:pPr>
            <a:r>
              <a:rPr lang="zh-CN" altLang="en-US" dirty="0"/>
              <a:t>准备运输</a:t>
            </a:r>
            <a:endParaRPr lang="en-US" altLang="zh-CN" dirty="0"/>
          </a:p>
          <a:p>
            <a:pPr>
              <a:lnSpc>
                <a:spcPct val="150000"/>
              </a:lnSpc>
            </a:pPr>
            <a:r>
              <a:rPr lang="zh-CN" altLang="en-US" dirty="0"/>
              <a:t>正在运输</a:t>
            </a:r>
            <a:endParaRPr lang="en-US" altLang="zh-CN" dirty="0"/>
          </a:p>
          <a:p>
            <a:pPr>
              <a:lnSpc>
                <a:spcPct val="150000"/>
              </a:lnSpc>
            </a:pPr>
            <a:r>
              <a:rPr lang="zh-CN" altLang="en-US" dirty="0"/>
              <a:t>等待缺货物品</a:t>
            </a:r>
            <a:endParaRPr lang="en-US" altLang="zh-CN" dirty="0"/>
          </a:p>
          <a:p>
            <a:pPr>
              <a:lnSpc>
                <a:spcPct val="150000"/>
              </a:lnSpc>
            </a:pPr>
            <a:r>
              <a:rPr lang="zh-CN" altLang="en-US" dirty="0"/>
              <a:t>已到货</a:t>
            </a:r>
            <a:endParaRPr lang="en-US" altLang="zh-CN" dirty="0"/>
          </a:p>
          <a:p>
            <a:pPr>
              <a:lnSpc>
                <a:spcPct val="150000"/>
              </a:lnSpc>
            </a:pPr>
            <a:r>
              <a:rPr lang="zh-CN" altLang="en-US" dirty="0"/>
              <a:t>结束</a:t>
            </a:r>
          </a:p>
        </p:txBody>
      </p:sp>
      <p:sp>
        <p:nvSpPr>
          <p:cNvPr id="8" name="文本框 7">
            <a:extLst>
              <a:ext uri="{FF2B5EF4-FFF2-40B4-BE49-F238E27FC236}">
                <a16:creationId xmlns:a16="http://schemas.microsoft.com/office/drawing/2014/main" id="{C98F07F5-D0CD-4753-8E85-E7D4B9A02281}"/>
              </a:ext>
            </a:extLst>
          </p:cNvPr>
          <p:cNvSpPr txBox="1"/>
          <p:nvPr/>
        </p:nvSpPr>
        <p:spPr>
          <a:xfrm>
            <a:off x="6443745" y="1958037"/>
            <a:ext cx="1569660" cy="2951449"/>
          </a:xfrm>
          <a:prstGeom prst="rect">
            <a:avLst/>
          </a:prstGeom>
          <a:noFill/>
        </p:spPr>
        <p:txBody>
          <a:bodyPr wrap="none" rtlCol="0">
            <a:spAutoFit/>
          </a:bodyPr>
          <a:lstStyle/>
          <a:p>
            <a:pPr>
              <a:lnSpc>
                <a:spcPct val="150000"/>
              </a:lnSpc>
            </a:pPr>
            <a:r>
              <a:rPr lang="zh-CN" altLang="en-US" dirty="0"/>
              <a:t>转移</a:t>
            </a:r>
            <a:endParaRPr lang="en-US" altLang="zh-CN" dirty="0"/>
          </a:p>
          <a:p>
            <a:pPr>
              <a:lnSpc>
                <a:spcPct val="150000"/>
              </a:lnSpc>
            </a:pPr>
            <a:r>
              <a:rPr lang="zh-CN" altLang="en-US" dirty="0"/>
              <a:t>完成订购</a:t>
            </a:r>
            <a:endParaRPr lang="en-US" altLang="zh-CN" dirty="0"/>
          </a:p>
          <a:p>
            <a:pPr>
              <a:lnSpc>
                <a:spcPct val="150000"/>
              </a:lnSpc>
            </a:pPr>
            <a:r>
              <a:rPr lang="zh-CN" altLang="en-US" dirty="0"/>
              <a:t>开始运输</a:t>
            </a:r>
            <a:endParaRPr lang="en-US" altLang="zh-CN" dirty="0"/>
          </a:p>
          <a:p>
            <a:pPr>
              <a:lnSpc>
                <a:spcPct val="150000"/>
              </a:lnSpc>
            </a:pPr>
            <a:r>
              <a:rPr lang="zh-CN" altLang="en-US" dirty="0"/>
              <a:t>运输完成</a:t>
            </a:r>
            <a:endParaRPr lang="en-US" altLang="zh-CN" dirty="0"/>
          </a:p>
          <a:p>
            <a:pPr>
              <a:lnSpc>
                <a:spcPct val="150000"/>
              </a:lnSpc>
            </a:pPr>
            <a:r>
              <a:rPr lang="zh-CN" altLang="en-US" dirty="0"/>
              <a:t>缺货物品到货</a:t>
            </a:r>
            <a:endParaRPr lang="en-US" altLang="zh-CN" dirty="0"/>
          </a:p>
          <a:p>
            <a:pPr>
              <a:lnSpc>
                <a:spcPct val="150000"/>
              </a:lnSpc>
            </a:pPr>
            <a:r>
              <a:rPr lang="zh-CN" altLang="en-US" dirty="0"/>
              <a:t>支付证明</a:t>
            </a:r>
            <a:endParaRPr lang="en-US" altLang="zh-CN" dirty="0"/>
          </a:p>
          <a:p>
            <a:pPr>
              <a:lnSpc>
                <a:spcPct val="150000"/>
              </a:lnSpc>
            </a:pPr>
            <a:r>
              <a:rPr lang="zh-CN" altLang="en-US" dirty="0"/>
              <a:t>存档</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D1A987C3-6C2E-472E-A0B5-0ECA680E4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1849A0-054B-4D87-A4A8-80719BFE9C6D}" type="slidenum">
              <a:rPr lang="en-US" altLang="en-US"/>
              <a:pPr eaLnBrk="1" hangingPunct="1"/>
              <a:t>56</a:t>
            </a:fld>
            <a:endParaRPr lang="en-US" altLang="en-US"/>
          </a:p>
        </p:txBody>
      </p:sp>
      <p:sp>
        <p:nvSpPr>
          <p:cNvPr id="39939" name="Rectangle 2">
            <a:extLst>
              <a:ext uri="{FF2B5EF4-FFF2-40B4-BE49-F238E27FC236}">
                <a16:creationId xmlns:a16="http://schemas.microsoft.com/office/drawing/2014/main" id="{02339DD0-D8DB-4F1C-8FFE-4F48C8AD54EC}"/>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Initial State Machine Diagram for RMO Sale Object</a:t>
            </a:r>
            <a:endParaRPr lang="en-US" altLang="zh-CN" sz="2400">
              <a:ea typeface="宋体" panose="02010600030101010101" pitchFamily="2" charset="-122"/>
            </a:endParaRPr>
          </a:p>
        </p:txBody>
      </p:sp>
      <p:pic>
        <p:nvPicPr>
          <p:cNvPr id="39940" name="Picture 4">
            <a:extLst>
              <a:ext uri="{FF2B5EF4-FFF2-40B4-BE49-F238E27FC236}">
                <a16:creationId xmlns:a16="http://schemas.microsoft.com/office/drawing/2014/main" id="{D6C327FD-8AAD-48F5-B260-3C74F3E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2174"/>
            <a:ext cx="6172200" cy="294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6">
            <a:extLst>
              <a:ext uri="{FF2B5EF4-FFF2-40B4-BE49-F238E27FC236}">
                <a16:creationId xmlns:a16="http://schemas.microsoft.com/office/drawing/2014/main" id="{4505F4B0-6E55-4A7E-86D0-52B58D31F6E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Picture 5">
            <a:extLst>
              <a:ext uri="{FF2B5EF4-FFF2-40B4-BE49-F238E27FC236}">
                <a16:creationId xmlns:a16="http://schemas.microsoft.com/office/drawing/2014/main" id="{A5D34CF0-A786-434C-AA75-C979A2652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4" y="1447800"/>
            <a:ext cx="6629400" cy="21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4A405D-3677-404E-BC38-A35357C044C6}"/>
              </a:ext>
            </a:extLst>
          </p:cNvPr>
          <p:cNvSpPr/>
          <p:nvPr/>
        </p:nvSpPr>
        <p:spPr>
          <a:xfrm>
            <a:off x="76200" y="1752600"/>
            <a:ext cx="647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2C71A08-5980-4C2E-ACFA-F98EC298A01A}"/>
              </a:ext>
            </a:extLst>
          </p:cNvPr>
          <p:cNvSpPr/>
          <p:nvPr/>
        </p:nvSpPr>
        <p:spPr>
          <a:xfrm>
            <a:off x="2286000" y="4463949"/>
            <a:ext cx="3657600" cy="64690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D1A987C3-6C2E-472E-A0B5-0ECA680E4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1849A0-054B-4D87-A4A8-80719BFE9C6D}" type="slidenum">
              <a:rPr lang="en-US" altLang="en-US"/>
              <a:pPr eaLnBrk="1" hangingPunct="1"/>
              <a:t>57</a:t>
            </a:fld>
            <a:endParaRPr lang="en-US" altLang="en-US"/>
          </a:p>
        </p:txBody>
      </p:sp>
      <p:sp>
        <p:nvSpPr>
          <p:cNvPr id="39939" name="Rectangle 2">
            <a:extLst>
              <a:ext uri="{FF2B5EF4-FFF2-40B4-BE49-F238E27FC236}">
                <a16:creationId xmlns:a16="http://schemas.microsoft.com/office/drawing/2014/main" id="{02339DD0-D8DB-4F1C-8FFE-4F48C8AD54EC}"/>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Initial State Machine Diagram for RMO Sale Object</a:t>
            </a:r>
            <a:endParaRPr lang="en-US" altLang="zh-CN" sz="2400">
              <a:ea typeface="宋体" panose="02010600030101010101" pitchFamily="2" charset="-122"/>
            </a:endParaRPr>
          </a:p>
        </p:txBody>
      </p:sp>
      <p:pic>
        <p:nvPicPr>
          <p:cNvPr id="39940" name="Picture 4">
            <a:extLst>
              <a:ext uri="{FF2B5EF4-FFF2-40B4-BE49-F238E27FC236}">
                <a16:creationId xmlns:a16="http://schemas.microsoft.com/office/drawing/2014/main" id="{D6C327FD-8AAD-48F5-B260-3C74F3E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2174"/>
            <a:ext cx="6172200" cy="294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6">
            <a:extLst>
              <a:ext uri="{FF2B5EF4-FFF2-40B4-BE49-F238E27FC236}">
                <a16:creationId xmlns:a16="http://schemas.microsoft.com/office/drawing/2014/main" id="{4505F4B0-6E55-4A7E-86D0-52B58D31F6E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Picture 5">
            <a:extLst>
              <a:ext uri="{FF2B5EF4-FFF2-40B4-BE49-F238E27FC236}">
                <a16:creationId xmlns:a16="http://schemas.microsoft.com/office/drawing/2014/main" id="{A5D34CF0-A786-434C-AA75-C979A2652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4" y="1447800"/>
            <a:ext cx="6629400" cy="21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4A405D-3677-404E-BC38-A35357C044C6}"/>
              </a:ext>
            </a:extLst>
          </p:cNvPr>
          <p:cNvSpPr/>
          <p:nvPr/>
        </p:nvSpPr>
        <p:spPr>
          <a:xfrm>
            <a:off x="76200" y="2051925"/>
            <a:ext cx="647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2C71A08-5980-4C2E-ACFA-F98EC298A01A}"/>
              </a:ext>
            </a:extLst>
          </p:cNvPr>
          <p:cNvSpPr/>
          <p:nvPr/>
        </p:nvSpPr>
        <p:spPr>
          <a:xfrm>
            <a:off x="4648200" y="4481505"/>
            <a:ext cx="3657600" cy="64690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5279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D1A987C3-6C2E-472E-A0B5-0ECA680E4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1849A0-054B-4D87-A4A8-80719BFE9C6D}" type="slidenum">
              <a:rPr lang="en-US" altLang="en-US"/>
              <a:pPr eaLnBrk="1" hangingPunct="1"/>
              <a:t>58</a:t>
            </a:fld>
            <a:endParaRPr lang="en-US" altLang="en-US"/>
          </a:p>
        </p:txBody>
      </p:sp>
      <p:sp>
        <p:nvSpPr>
          <p:cNvPr id="39939" name="Rectangle 2">
            <a:extLst>
              <a:ext uri="{FF2B5EF4-FFF2-40B4-BE49-F238E27FC236}">
                <a16:creationId xmlns:a16="http://schemas.microsoft.com/office/drawing/2014/main" id="{02339DD0-D8DB-4F1C-8FFE-4F48C8AD54EC}"/>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Initial State Machine Diagram for RMO Sale Object</a:t>
            </a:r>
            <a:endParaRPr lang="en-US" altLang="zh-CN" sz="2400">
              <a:ea typeface="宋体" panose="02010600030101010101" pitchFamily="2" charset="-122"/>
            </a:endParaRPr>
          </a:p>
        </p:txBody>
      </p:sp>
      <p:pic>
        <p:nvPicPr>
          <p:cNvPr id="39940" name="Picture 4">
            <a:extLst>
              <a:ext uri="{FF2B5EF4-FFF2-40B4-BE49-F238E27FC236}">
                <a16:creationId xmlns:a16="http://schemas.microsoft.com/office/drawing/2014/main" id="{D6C327FD-8AAD-48F5-B260-3C74F3E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2174"/>
            <a:ext cx="6172200" cy="294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6">
            <a:extLst>
              <a:ext uri="{FF2B5EF4-FFF2-40B4-BE49-F238E27FC236}">
                <a16:creationId xmlns:a16="http://schemas.microsoft.com/office/drawing/2014/main" id="{4505F4B0-6E55-4A7E-86D0-52B58D31F6E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Picture 5">
            <a:extLst>
              <a:ext uri="{FF2B5EF4-FFF2-40B4-BE49-F238E27FC236}">
                <a16:creationId xmlns:a16="http://schemas.microsoft.com/office/drawing/2014/main" id="{A5D34CF0-A786-434C-AA75-C979A2652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4" y="1447800"/>
            <a:ext cx="6629400" cy="21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4A405D-3677-404E-BC38-A35357C044C6}"/>
              </a:ext>
            </a:extLst>
          </p:cNvPr>
          <p:cNvSpPr/>
          <p:nvPr/>
        </p:nvSpPr>
        <p:spPr>
          <a:xfrm>
            <a:off x="76200" y="2362200"/>
            <a:ext cx="647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2C71A08-5980-4C2E-ACFA-F98EC298A01A}"/>
              </a:ext>
            </a:extLst>
          </p:cNvPr>
          <p:cNvSpPr/>
          <p:nvPr/>
        </p:nvSpPr>
        <p:spPr>
          <a:xfrm>
            <a:off x="3020646" y="5600786"/>
            <a:ext cx="1322754" cy="8000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08207F5-CD91-483B-B560-0B9CB80918D5}"/>
              </a:ext>
            </a:extLst>
          </p:cNvPr>
          <p:cNvSpPr/>
          <p:nvPr/>
        </p:nvSpPr>
        <p:spPr>
          <a:xfrm>
            <a:off x="7045569" y="4381199"/>
            <a:ext cx="1322754" cy="8000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77062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D1A987C3-6C2E-472E-A0B5-0ECA680E4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1849A0-054B-4D87-A4A8-80719BFE9C6D}" type="slidenum">
              <a:rPr lang="en-US" altLang="en-US"/>
              <a:pPr eaLnBrk="1" hangingPunct="1"/>
              <a:t>59</a:t>
            </a:fld>
            <a:endParaRPr lang="en-US" altLang="en-US"/>
          </a:p>
        </p:txBody>
      </p:sp>
      <p:sp>
        <p:nvSpPr>
          <p:cNvPr id="39939" name="Rectangle 2">
            <a:extLst>
              <a:ext uri="{FF2B5EF4-FFF2-40B4-BE49-F238E27FC236}">
                <a16:creationId xmlns:a16="http://schemas.microsoft.com/office/drawing/2014/main" id="{02339DD0-D8DB-4F1C-8FFE-4F48C8AD54EC}"/>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Initial State Machine Diagram for RMO Sale Object</a:t>
            </a:r>
            <a:endParaRPr lang="en-US" altLang="zh-CN" sz="2400">
              <a:ea typeface="宋体" panose="02010600030101010101" pitchFamily="2" charset="-122"/>
            </a:endParaRPr>
          </a:p>
        </p:txBody>
      </p:sp>
      <p:pic>
        <p:nvPicPr>
          <p:cNvPr id="39940" name="Picture 4">
            <a:extLst>
              <a:ext uri="{FF2B5EF4-FFF2-40B4-BE49-F238E27FC236}">
                <a16:creationId xmlns:a16="http://schemas.microsoft.com/office/drawing/2014/main" id="{D6C327FD-8AAD-48F5-B260-3C74F3E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2174"/>
            <a:ext cx="6172200" cy="294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6">
            <a:extLst>
              <a:ext uri="{FF2B5EF4-FFF2-40B4-BE49-F238E27FC236}">
                <a16:creationId xmlns:a16="http://schemas.microsoft.com/office/drawing/2014/main" id="{4505F4B0-6E55-4A7E-86D0-52B58D31F6E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Picture 5">
            <a:extLst>
              <a:ext uri="{FF2B5EF4-FFF2-40B4-BE49-F238E27FC236}">
                <a16:creationId xmlns:a16="http://schemas.microsoft.com/office/drawing/2014/main" id="{A5D34CF0-A786-434C-AA75-C979A2652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4" y="1447800"/>
            <a:ext cx="6629400" cy="21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4A405D-3677-404E-BC38-A35357C044C6}"/>
              </a:ext>
            </a:extLst>
          </p:cNvPr>
          <p:cNvSpPr/>
          <p:nvPr/>
        </p:nvSpPr>
        <p:spPr>
          <a:xfrm>
            <a:off x="27354" y="2937649"/>
            <a:ext cx="6553200" cy="6016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2C71A08-5980-4C2E-ACFA-F98EC298A01A}"/>
              </a:ext>
            </a:extLst>
          </p:cNvPr>
          <p:cNvSpPr/>
          <p:nvPr/>
        </p:nvSpPr>
        <p:spPr>
          <a:xfrm>
            <a:off x="3048000" y="5693460"/>
            <a:ext cx="4876800" cy="7835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0041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D1A987C3-6C2E-472E-A0B5-0ECA680E4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1849A0-054B-4D87-A4A8-80719BFE9C6D}" type="slidenum">
              <a:rPr lang="en-US" altLang="en-US"/>
              <a:pPr eaLnBrk="1" hangingPunct="1"/>
              <a:t>60</a:t>
            </a:fld>
            <a:endParaRPr lang="en-US" altLang="en-US"/>
          </a:p>
        </p:txBody>
      </p:sp>
      <p:sp>
        <p:nvSpPr>
          <p:cNvPr id="39939" name="Rectangle 2">
            <a:extLst>
              <a:ext uri="{FF2B5EF4-FFF2-40B4-BE49-F238E27FC236}">
                <a16:creationId xmlns:a16="http://schemas.microsoft.com/office/drawing/2014/main" id="{02339DD0-D8DB-4F1C-8FFE-4F48C8AD54EC}"/>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Initial State Machine Diagram for RMO Sale Object</a:t>
            </a:r>
            <a:endParaRPr lang="en-US" altLang="zh-CN" sz="2400">
              <a:ea typeface="宋体" panose="02010600030101010101" pitchFamily="2" charset="-122"/>
            </a:endParaRPr>
          </a:p>
        </p:txBody>
      </p:sp>
      <p:pic>
        <p:nvPicPr>
          <p:cNvPr id="39940" name="Picture 4">
            <a:extLst>
              <a:ext uri="{FF2B5EF4-FFF2-40B4-BE49-F238E27FC236}">
                <a16:creationId xmlns:a16="http://schemas.microsoft.com/office/drawing/2014/main" id="{D6C327FD-8AAD-48F5-B260-3C74F3E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2174"/>
            <a:ext cx="6172200" cy="294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6">
            <a:extLst>
              <a:ext uri="{FF2B5EF4-FFF2-40B4-BE49-F238E27FC236}">
                <a16:creationId xmlns:a16="http://schemas.microsoft.com/office/drawing/2014/main" id="{4505F4B0-6E55-4A7E-86D0-52B58D31F6E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Picture 5">
            <a:extLst>
              <a:ext uri="{FF2B5EF4-FFF2-40B4-BE49-F238E27FC236}">
                <a16:creationId xmlns:a16="http://schemas.microsoft.com/office/drawing/2014/main" id="{A5D34CF0-A786-434C-AA75-C979A2652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4" y="1447800"/>
            <a:ext cx="6629400" cy="21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4A405D-3677-404E-BC38-A35357C044C6}"/>
              </a:ext>
            </a:extLst>
          </p:cNvPr>
          <p:cNvSpPr/>
          <p:nvPr/>
        </p:nvSpPr>
        <p:spPr>
          <a:xfrm>
            <a:off x="65454" y="2362200"/>
            <a:ext cx="6553200" cy="6016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DDDB058-E385-4B7E-A6CF-E4BB9BE5B7C7}"/>
              </a:ext>
            </a:extLst>
          </p:cNvPr>
          <p:cNvSpPr/>
          <p:nvPr/>
        </p:nvSpPr>
        <p:spPr>
          <a:xfrm>
            <a:off x="4631592" y="3650554"/>
            <a:ext cx="1322754" cy="8000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253697A-BAD3-4414-8E70-D6F68DD54C61}"/>
              </a:ext>
            </a:extLst>
          </p:cNvPr>
          <p:cNvSpPr/>
          <p:nvPr/>
        </p:nvSpPr>
        <p:spPr>
          <a:xfrm>
            <a:off x="7045569" y="4381199"/>
            <a:ext cx="1322754" cy="8000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50109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6">
            <a:extLst>
              <a:ext uri="{FF2B5EF4-FFF2-40B4-BE49-F238E27FC236}">
                <a16:creationId xmlns:a16="http://schemas.microsoft.com/office/drawing/2014/main" id="{600CD465-F4BF-4CF0-9047-442346E438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F99C3A0-5427-4376-8286-81936CBE6FCE}" type="slidenum">
              <a:rPr lang="en-US" altLang="en-US"/>
              <a:pPr eaLnBrk="1" hangingPunct="1"/>
              <a:t>61</a:t>
            </a:fld>
            <a:endParaRPr lang="en-US" altLang="en-US"/>
          </a:p>
        </p:txBody>
      </p:sp>
      <p:sp>
        <p:nvSpPr>
          <p:cNvPr id="40963" name="Rectangle 2">
            <a:extLst>
              <a:ext uri="{FF2B5EF4-FFF2-40B4-BE49-F238E27FC236}">
                <a16:creationId xmlns:a16="http://schemas.microsoft.com/office/drawing/2014/main" id="{84EE4242-69C0-4B39-993A-696F200E0B35}"/>
              </a:ext>
            </a:extLst>
          </p:cNvPr>
          <p:cNvSpPr>
            <a:spLocks noGrp="1" noChangeArrowheads="1"/>
          </p:cNvSpPr>
          <p:nvPr>
            <p:ph type="title"/>
          </p:nvPr>
        </p:nvSpPr>
        <p:spPr>
          <a:xfrm>
            <a:off x="457200" y="122238"/>
            <a:ext cx="7543800" cy="1249362"/>
          </a:xfrm>
        </p:spPr>
        <p:txBody>
          <a:bodyPr/>
          <a:lstStyle/>
          <a:p>
            <a:pPr eaLnBrk="1" hangingPunct="1"/>
            <a:r>
              <a:rPr lang="en-US" altLang="zh-CN" sz="3600" dirty="0">
                <a:ea typeface="宋体" panose="02010600030101010101" pitchFamily="2" charset="-122"/>
              </a:rPr>
              <a:t>Final State Machine Diagram for Sale Object</a:t>
            </a:r>
            <a:endParaRPr lang="en-US" altLang="zh-CN" sz="2400" dirty="0">
              <a:ea typeface="宋体" panose="02010600030101010101" pitchFamily="2" charset="-122"/>
            </a:endParaRPr>
          </a:p>
        </p:txBody>
      </p:sp>
      <p:pic>
        <p:nvPicPr>
          <p:cNvPr id="40964" name="Picture 5">
            <a:extLst>
              <a:ext uri="{FF2B5EF4-FFF2-40B4-BE49-F238E27FC236}">
                <a16:creationId xmlns:a16="http://schemas.microsoft.com/office/drawing/2014/main" id="{B87F4C0B-51CB-4099-A56F-380120EF6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346200"/>
            <a:ext cx="5737225" cy="480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Footer Placeholder 4">
            <a:extLst>
              <a:ext uri="{FF2B5EF4-FFF2-40B4-BE49-F238E27FC236}">
                <a16:creationId xmlns:a16="http://schemas.microsoft.com/office/drawing/2014/main" id="{A8D621D3-7F73-401B-B064-1C9182585E9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0966" name="Rectangle 6">
            <a:extLst>
              <a:ext uri="{FF2B5EF4-FFF2-40B4-BE49-F238E27FC236}">
                <a16:creationId xmlns:a16="http://schemas.microsoft.com/office/drawing/2014/main" id="{E0DDF66C-1D8C-4883-AD98-B982867A518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 name="矩形 6">
            <a:extLst>
              <a:ext uri="{FF2B5EF4-FFF2-40B4-BE49-F238E27FC236}">
                <a16:creationId xmlns:a16="http://schemas.microsoft.com/office/drawing/2014/main" id="{1EC423D5-431D-48D3-9FA1-43355902E0D2}"/>
              </a:ext>
            </a:extLst>
          </p:cNvPr>
          <p:cNvSpPr/>
          <p:nvPr/>
        </p:nvSpPr>
        <p:spPr>
          <a:xfrm>
            <a:off x="3962400" y="3318418"/>
            <a:ext cx="990600" cy="38804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964A394-1AA0-4C3C-8840-3FD03B7B2397}"/>
              </a:ext>
            </a:extLst>
          </p:cNvPr>
          <p:cNvSpPr/>
          <p:nvPr/>
        </p:nvSpPr>
        <p:spPr>
          <a:xfrm>
            <a:off x="1752600" y="3886200"/>
            <a:ext cx="5334000" cy="114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62</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Use Case Descriptions</a:t>
            </a:r>
          </a:p>
          <a:p>
            <a:pPr eaLnBrk="1" hangingPunct="1"/>
            <a:r>
              <a:rPr lang="en-US" altLang="zh-CN" sz="3200" dirty="0">
                <a:ea typeface="宋体" panose="02010600030101010101" pitchFamily="2" charset="-122"/>
              </a:rPr>
              <a:t>Activity Diagrams for Use Cases </a:t>
            </a:r>
          </a:p>
          <a:p>
            <a:pPr eaLnBrk="1" hangingPunct="1"/>
            <a:r>
              <a:rPr lang="en-US" altLang="zh-CN" sz="3200" dirty="0">
                <a:ea typeface="宋体" panose="02010600030101010101" pitchFamily="2" charset="-122"/>
              </a:rPr>
              <a:t>The System Sequence Diagram—Identifying Inputs and Outputs</a:t>
            </a:r>
          </a:p>
          <a:p>
            <a:pPr eaLnBrk="1" hangingPunct="1"/>
            <a:r>
              <a:rPr lang="en-US" altLang="zh-CN" sz="3200" dirty="0">
                <a:ea typeface="宋体" panose="02010600030101010101" pitchFamily="2" charset="-122"/>
              </a:rPr>
              <a:t>The State Machine Diagram—Identifying Object Behavior</a:t>
            </a:r>
          </a:p>
          <a:p>
            <a:pPr eaLnBrk="1" hangingPunct="1"/>
            <a:r>
              <a:rPr lang="en-US" altLang="zh-CN" sz="3200" dirty="0">
                <a:solidFill>
                  <a:srgbClr val="C00000"/>
                </a:solidFill>
                <a:ea typeface="宋体" panose="02010600030101010101" pitchFamily="2" charset="-122"/>
              </a:rPr>
              <a:t>Integrating Requirements Models</a:t>
            </a:r>
            <a:r>
              <a:rPr lang="zh-CN" altLang="en-US" sz="3200" dirty="0">
                <a:solidFill>
                  <a:srgbClr val="C00000"/>
                </a:solidFill>
                <a:ea typeface="宋体" panose="02010600030101010101" pitchFamily="2" charset="-122"/>
              </a:rPr>
              <a:t>（集成需求模型）</a:t>
            </a:r>
            <a:endParaRPr lang="en-US" altLang="zh-CN" sz="3200" dirty="0">
              <a:solidFill>
                <a:srgbClr val="C00000"/>
              </a:solidFill>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544555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63</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22238"/>
            <a:ext cx="7543800" cy="1249362"/>
          </a:xfrm>
        </p:spPr>
        <p:txBody>
          <a:bodyPr/>
          <a:lstStyle/>
          <a:p>
            <a:pPr eaLnBrk="1" hangingPunct="1"/>
            <a:r>
              <a:rPr lang="en-US" altLang="zh-CN" sz="3600" dirty="0">
                <a:ea typeface="宋体" panose="02010600030101010101" pitchFamily="2" charset="-122"/>
              </a:rPr>
              <a:t>Extending and Integrating Requirements Models</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533400" y="1600200"/>
            <a:ext cx="8001000" cy="4114800"/>
          </a:xfrm>
          <a:noFill/>
        </p:spPr>
        <p:txBody>
          <a:bodyPr/>
          <a:lstStyle/>
          <a:p>
            <a:pPr eaLnBrk="1" hangingPunct="1"/>
            <a:r>
              <a:rPr lang="en-GB" altLang="zh-CN" sz="3200" dirty="0"/>
              <a:t>Use cases </a:t>
            </a:r>
            <a:r>
              <a:rPr lang="zh-CN" altLang="en-US" sz="3200" dirty="0"/>
              <a:t>（用例）</a:t>
            </a:r>
            <a:endParaRPr lang="en-GB" altLang="zh-CN" sz="3200" dirty="0"/>
          </a:p>
          <a:p>
            <a:pPr lvl="1" eaLnBrk="1" hangingPunct="1"/>
            <a:r>
              <a:rPr lang="en-GB" altLang="zh-CN" sz="2800" dirty="0"/>
              <a:t>Use case diagram </a:t>
            </a:r>
            <a:r>
              <a:rPr lang="zh-CN" altLang="en-US" sz="2800" dirty="0"/>
              <a:t>用例图（</a:t>
            </a:r>
            <a:r>
              <a:rPr lang="en-US" altLang="zh-CN" sz="2800" dirty="0"/>
              <a:t>Sec 3.6</a:t>
            </a:r>
            <a:r>
              <a:rPr lang="zh-CN" altLang="en-US" sz="2800" dirty="0"/>
              <a:t>）</a:t>
            </a:r>
            <a:endParaRPr lang="en-GB" altLang="zh-CN" sz="2800" dirty="0"/>
          </a:p>
          <a:p>
            <a:pPr lvl="2" eaLnBrk="1" hangingPunct="1"/>
            <a:r>
              <a:rPr lang="en-GB" altLang="zh-CN" sz="2400" dirty="0"/>
              <a:t>Use case description </a:t>
            </a:r>
            <a:r>
              <a:rPr lang="zh-CN" altLang="en-US" sz="2400" dirty="0"/>
              <a:t>用例描述（</a:t>
            </a:r>
            <a:r>
              <a:rPr lang="en-US" altLang="zh-CN" sz="2400" dirty="0"/>
              <a:t>Sec 5.2</a:t>
            </a:r>
            <a:r>
              <a:rPr lang="zh-CN" altLang="en-US" sz="2400" dirty="0"/>
              <a:t>）</a:t>
            </a:r>
            <a:endParaRPr lang="en-GB" altLang="zh-CN" sz="2400" dirty="0"/>
          </a:p>
          <a:p>
            <a:pPr lvl="2" eaLnBrk="1" hangingPunct="1"/>
            <a:r>
              <a:rPr lang="en-GB" altLang="zh-CN" sz="2400" dirty="0"/>
              <a:t>Activity diagram </a:t>
            </a:r>
            <a:r>
              <a:rPr lang="zh-CN" altLang="en-US" sz="2400" dirty="0"/>
              <a:t>用例活动图（</a:t>
            </a:r>
            <a:r>
              <a:rPr lang="en-US" altLang="zh-CN" sz="2400" dirty="0"/>
              <a:t>Sec 5.3</a:t>
            </a:r>
            <a:r>
              <a:rPr lang="zh-CN" altLang="en-US" sz="2400" dirty="0"/>
              <a:t>）</a:t>
            </a:r>
            <a:endParaRPr lang="en-GB" altLang="zh-CN" sz="2400" dirty="0"/>
          </a:p>
          <a:p>
            <a:pPr lvl="2" eaLnBrk="1" hangingPunct="1"/>
            <a:r>
              <a:rPr lang="en-GB" altLang="zh-CN" sz="2400" dirty="0"/>
              <a:t>System sequence diagram (SSD) </a:t>
            </a:r>
            <a:r>
              <a:rPr lang="zh-CN" altLang="en-US" sz="2400" dirty="0"/>
              <a:t>系统顺序图</a:t>
            </a:r>
            <a:r>
              <a:rPr lang="en-GB" altLang="zh-CN" sz="2400" dirty="0"/>
              <a:t> </a:t>
            </a:r>
            <a:r>
              <a:rPr lang="zh-CN" altLang="en-US" sz="2400" dirty="0"/>
              <a:t>（</a:t>
            </a:r>
            <a:r>
              <a:rPr lang="en-US" altLang="zh-CN" sz="2400" dirty="0"/>
              <a:t>Sec 5.4</a:t>
            </a:r>
            <a:r>
              <a:rPr lang="zh-CN" altLang="en-US" sz="2400" dirty="0"/>
              <a:t>）</a:t>
            </a:r>
            <a:endParaRPr lang="en-GB" altLang="zh-CN" sz="2400" dirty="0"/>
          </a:p>
          <a:p>
            <a:pPr eaLnBrk="1" hangingPunct="1"/>
            <a:r>
              <a:rPr lang="en-GB" altLang="zh-CN" sz="3200" dirty="0"/>
              <a:t>Domain Classes </a:t>
            </a:r>
            <a:r>
              <a:rPr lang="zh-CN" altLang="en-US" sz="3200" dirty="0"/>
              <a:t>（域类）</a:t>
            </a:r>
            <a:endParaRPr lang="en-GB" altLang="zh-CN" sz="3200" dirty="0"/>
          </a:p>
          <a:p>
            <a:pPr lvl="1" eaLnBrk="1" hangingPunct="1"/>
            <a:r>
              <a:rPr lang="en-GB" altLang="zh-CN" sz="2800" dirty="0"/>
              <a:t>Domain model class diagram </a:t>
            </a:r>
            <a:r>
              <a:rPr lang="zh-CN" altLang="en-US" sz="2800" dirty="0"/>
              <a:t>域模型类图</a:t>
            </a:r>
            <a:r>
              <a:rPr lang="en-GB" altLang="zh-CN" sz="2800" dirty="0"/>
              <a:t>(Sec 4.4)</a:t>
            </a:r>
          </a:p>
          <a:p>
            <a:pPr lvl="2" eaLnBrk="1" hangingPunct="1"/>
            <a:r>
              <a:rPr lang="en-GB" altLang="zh-CN" sz="2400" dirty="0"/>
              <a:t>State machine diagram </a:t>
            </a:r>
            <a:r>
              <a:rPr lang="zh-CN" altLang="en-US" sz="2400" dirty="0"/>
              <a:t>状态机图</a:t>
            </a:r>
            <a:r>
              <a:rPr lang="en-GB" altLang="zh-CN" sz="2400" dirty="0"/>
              <a:t>(Sec 5.5)</a:t>
            </a:r>
          </a:p>
          <a:p>
            <a:pPr lvl="1" eaLnBrk="1" hangingPunct="1"/>
            <a:endParaRPr lang="en-GB" altLang="zh-CN" sz="2400" dirty="0"/>
          </a:p>
          <a:p>
            <a:pPr eaLnBrk="1" hangingPunct="1">
              <a:buFont typeface="Wingdings" panose="05000000000000000000" pitchFamily="2" charset="2"/>
              <a:buNone/>
            </a:pPr>
            <a:endParaRPr lang="en-GB" altLang="zh-CN" sz="2600" dirty="0"/>
          </a:p>
        </p:txBody>
      </p:sp>
      <p:sp>
        <p:nvSpPr>
          <p:cNvPr id="41989" name="Footer Placeholder 4">
            <a:extLst>
              <a:ext uri="{FF2B5EF4-FFF2-40B4-BE49-F238E27FC236}">
                <a16:creationId xmlns:a16="http://schemas.microsoft.com/office/drawing/2014/main" id="{73E86B57-004D-4C02-B09F-70F5E455861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6">
            <a:extLst>
              <a:ext uri="{FF2B5EF4-FFF2-40B4-BE49-F238E27FC236}">
                <a16:creationId xmlns:a16="http://schemas.microsoft.com/office/drawing/2014/main" id="{237EC932-23F2-4F82-995B-AE396DF37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9ECAAA-9E52-4D96-8F22-CC27152CA641}" type="slidenum">
              <a:rPr lang="en-US" altLang="en-US"/>
              <a:pPr eaLnBrk="1" hangingPunct="1"/>
              <a:t>64</a:t>
            </a:fld>
            <a:endParaRPr lang="en-US" altLang="en-US"/>
          </a:p>
        </p:txBody>
      </p:sp>
      <p:sp>
        <p:nvSpPr>
          <p:cNvPr id="43011" name="Rectangle 2">
            <a:extLst>
              <a:ext uri="{FF2B5EF4-FFF2-40B4-BE49-F238E27FC236}">
                <a16:creationId xmlns:a16="http://schemas.microsoft.com/office/drawing/2014/main" id="{BBFEAB4F-8D2D-4402-B60A-C500E36A5224}"/>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Integrating Requirements Models</a:t>
            </a:r>
            <a:endParaRPr lang="en-US" altLang="zh-CN" sz="2400">
              <a:ea typeface="宋体" panose="02010600030101010101" pitchFamily="2" charset="-122"/>
            </a:endParaRPr>
          </a:p>
        </p:txBody>
      </p:sp>
      <p:pic>
        <p:nvPicPr>
          <p:cNvPr id="43012" name="Picture 4">
            <a:extLst>
              <a:ext uri="{FF2B5EF4-FFF2-40B4-BE49-F238E27FC236}">
                <a16:creationId xmlns:a16="http://schemas.microsoft.com/office/drawing/2014/main" id="{6ADA9DDD-D310-4382-B86F-3940D2CD1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09800"/>
            <a:ext cx="8507413"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76969FE2-2E7B-4CA0-A4E7-2986E2BA4C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3014" name="Rectangle 6">
            <a:extLst>
              <a:ext uri="{FF2B5EF4-FFF2-40B4-BE49-F238E27FC236}">
                <a16:creationId xmlns:a16="http://schemas.microsoft.com/office/drawing/2014/main" id="{F3AFA80A-9244-4DCC-9D6B-67EB4164B9E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文本框 7">
            <a:extLst>
              <a:ext uri="{FF2B5EF4-FFF2-40B4-BE49-F238E27FC236}">
                <a16:creationId xmlns:a16="http://schemas.microsoft.com/office/drawing/2014/main" id="{9BF50C08-5F65-47C5-9AAA-AC7A61D138C4}"/>
              </a:ext>
            </a:extLst>
          </p:cNvPr>
          <p:cNvSpPr txBox="1"/>
          <p:nvPr/>
        </p:nvSpPr>
        <p:spPr>
          <a:xfrm>
            <a:off x="838200" y="4572000"/>
            <a:ext cx="990600" cy="369332"/>
          </a:xfrm>
          <a:prstGeom prst="rect">
            <a:avLst/>
          </a:prstGeom>
          <a:noFill/>
        </p:spPr>
        <p:txBody>
          <a:bodyPr wrap="square">
            <a:spAutoFit/>
          </a:bodyPr>
          <a:lstStyle/>
          <a:p>
            <a:r>
              <a:rPr lang="en-US" altLang="zh-CN" sz="1800"/>
              <a:t>Sec 5.2</a:t>
            </a:r>
            <a:endParaRPr lang="zh-CN" altLang="en-US" dirty="0"/>
          </a:p>
        </p:txBody>
      </p:sp>
      <p:sp>
        <p:nvSpPr>
          <p:cNvPr id="9" name="文本框 8">
            <a:extLst>
              <a:ext uri="{FF2B5EF4-FFF2-40B4-BE49-F238E27FC236}">
                <a16:creationId xmlns:a16="http://schemas.microsoft.com/office/drawing/2014/main" id="{B6A0222C-D06D-43E4-A40E-602982AFB04E}"/>
              </a:ext>
            </a:extLst>
          </p:cNvPr>
          <p:cNvSpPr txBox="1"/>
          <p:nvPr/>
        </p:nvSpPr>
        <p:spPr>
          <a:xfrm>
            <a:off x="2895600" y="4572000"/>
            <a:ext cx="990600" cy="369332"/>
          </a:xfrm>
          <a:prstGeom prst="rect">
            <a:avLst/>
          </a:prstGeom>
          <a:noFill/>
        </p:spPr>
        <p:txBody>
          <a:bodyPr wrap="square">
            <a:spAutoFit/>
          </a:bodyPr>
          <a:lstStyle/>
          <a:p>
            <a:r>
              <a:rPr lang="en-US" altLang="zh-CN" sz="1800" dirty="0"/>
              <a:t>Sec 5.3</a:t>
            </a:r>
            <a:endParaRPr lang="zh-CN" altLang="en-US" dirty="0"/>
          </a:p>
        </p:txBody>
      </p:sp>
      <p:sp>
        <p:nvSpPr>
          <p:cNvPr id="10" name="文本框 9">
            <a:extLst>
              <a:ext uri="{FF2B5EF4-FFF2-40B4-BE49-F238E27FC236}">
                <a16:creationId xmlns:a16="http://schemas.microsoft.com/office/drawing/2014/main" id="{D66D2340-805B-4E33-AD59-762944AD69CA}"/>
              </a:ext>
            </a:extLst>
          </p:cNvPr>
          <p:cNvSpPr txBox="1"/>
          <p:nvPr/>
        </p:nvSpPr>
        <p:spPr>
          <a:xfrm>
            <a:off x="2895600" y="2043207"/>
            <a:ext cx="990600" cy="369332"/>
          </a:xfrm>
          <a:prstGeom prst="rect">
            <a:avLst/>
          </a:prstGeom>
          <a:noFill/>
        </p:spPr>
        <p:txBody>
          <a:bodyPr wrap="square">
            <a:spAutoFit/>
          </a:bodyPr>
          <a:lstStyle/>
          <a:p>
            <a:r>
              <a:rPr lang="en-US" altLang="zh-CN" sz="1800" dirty="0"/>
              <a:t>Sec 3.6</a:t>
            </a:r>
            <a:endParaRPr lang="zh-CN" altLang="en-US" dirty="0"/>
          </a:p>
        </p:txBody>
      </p:sp>
      <p:sp>
        <p:nvSpPr>
          <p:cNvPr id="11" name="文本框 10">
            <a:extLst>
              <a:ext uri="{FF2B5EF4-FFF2-40B4-BE49-F238E27FC236}">
                <a16:creationId xmlns:a16="http://schemas.microsoft.com/office/drawing/2014/main" id="{8CE4C840-97BF-4C93-BA63-D5A30D54420A}"/>
              </a:ext>
            </a:extLst>
          </p:cNvPr>
          <p:cNvSpPr txBox="1"/>
          <p:nvPr/>
        </p:nvSpPr>
        <p:spPr>
          <a:xfrm>
            <a:off x="5105400" y="4572000"/>
            <a:ext cx="990600" cy="369332"/>
          </a:xfrm>
          <a:prstGeom prst="rect">
            <a:avLst/>
          </a:prstGeom>
          <a:noFill/>
        </p:spPr>
        <p:txBody>
          <a:bodyPr wrap="square">
            <a:spAutoFit/>
          </a:bodyPr>
          <a:lstStyle/>
          <a:p>
            <a:r>
              <a:rPr lang="en-US" altLang="zh-CN" sz="1800" dirty="0"/>
              <a:t>Sec 5.4</a:t>
            </a:r>
            <a:endParaRPr lang="zh-CN" altLang="en-US" dirty="0"/>
          </a:p>
        </p:txBody>
      </p:sp>
      <p:sp>
        <p:nvSpPr>
          <p:cNvPr id="12" name="文本框 11">
            <a:extLst>
              <a:ext uri="{FF2B5EF4-FFF2-40B4-BE49-F238E27FC236}">
                <a16:creationId xmlns:a16="http://schemas.microsoft.com/office/drawing/2014/main" id="{D82B416C-B8D9-4B98-96BA-49364127F556}"/>
              </a:ext>
            </a:extLst>
          </p:cNvPr>
          <p:cNvSpPr txBox="1"/>
          <p:nvPr/>
        </p:nvSpPr>
        <p:spPr>
          <a:xfrm>
            <a:off x="7239000" y="4572000"/>
            <a:ext cx="990600" cy="369332"/>
          </a:xfrm>
          <a:prstGeom prst="rect">
            <a:avLst/>
          </a:prstGeom>
          <a:noFill/>
        </p:spPr>
        <p:txBody>
          <a:bodyPr wrap="square">
            <a:spAutoFit/>
          </a:bodyPr>
          <a:lstStyle/>
          <a:p>
            <a:r>
              <a:rPr lang="en-US" altLang="zh-CN" sz="1800" dirty="0"/>
              <a:t>Sec 5.5</a:t>
            </a:r>
            <a:endParaRPr lang="zh-CN" altLang="en-US" dirty="0"/>
          </a:p>
        </p:txBody>
      </p:sp>
      <p:sp>
        <p:nvSpPr>
          <p:cNvPr id="13" name="文本框 12">
            <a:extLst>
              <a:ext uri="{FF2B5EF4-FFF2-40B4-BE49-F238E27FC236}">
                <a16:creationId xmlns:a16="http://schemas.microsoft.com/office/drawing/2014/main" id="{ED3FA212-B841-4B97-9F7E-8016FD3DEF5C}"/>
              </a:ext>
            </a:extLst>
          </p:cNvPr>
          <p:cNvSpPr txBox="1"/>
          <p:nvPr/>
        </p:nvSpPr>
        <p:spPr>
          <a:xfrm>
            <a:off x="7239000" y="2025134"/>
            <a:ext cx="990600" cy="369332"/>
          </a:xfrm>
          <a:prstGeom prst="rect">
            <a:avLst/>
          </a:prstGeom>
          <a:noFill/>
        </p:spPr>
        <p:txBody>
          <a:bodyPr wrap="square">
            <a:spAutoFit/>
          </a:bodyPr>
          <a:lstStyle/>
          <a:p>
            <a:r>
              <a:rPr lang="en-US" altLang="zh-CN" sz="1800" dirty="0"/>
              <a:t>Sec 4.4</a:t>
            </a:r>
            <a:endParaRPr lang="zh-CN" altLang="en-US" dirty="0"/>
          </a:p>
        </p:txBody>
      </p:sp>
      <p:pic>
        <p:nvPicPr>
          <p:cNvPr id="14" name="Picture 8">
            <a:extLst>
              <a:ext uri="{FF2B5EF4-FFF2-40B4-BE49-F238E27FC236}">
                <a16:creationId xmlns:a16="http://schemas.microsoft.com/office/drawing/2014/main" id="{1233EC0B-A06C-4C22-A712-6D2F332A8C6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372319" y="4879056"/>
            <a:ext cx="2302399" cy="1796727"/>
          </a:xfrm>
          <a:noFill/>
        </p:spPr>
      </p:pic>
      <p:pic>
        <p:nvPicPr>
          <p:cNvPr id="15" name="Picture 7">
            <a:extLst>
              <a:ext uri="{FF2B5EF4-FFF2-40B4-BE49-F238E27FC236}">
                <a16:creationId xmlns:a16="http://schemas.microsoft.com/office/drawing/2014/main" id="{97812510-250E-4DEC-84D9-9C3D79977E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433555"/>
            <a:ext cx="1680551" cy="188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5">
            <a:extLst>
              <a:ext uri="{FF2B5EF4-FFF2-40B4-BE49-F238E27FC236}">
                <a16:creationId xmlns:a16="http://schemas.microsoft.com/office/drawing/2014/main" id="{DE8E61FE-3317-4C7A-8440-6B39AADCE4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801" y="4890132"/>
            <a:ext cx="1724636" cy="1796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5">
            <a:extLst>
              <a:ext uri="{FF2B5EF4-FFF2-40B4-BE49-F238E27FC236}">
                <a16:creationId xmlns:a16="http://schemas.microsoft.com/office/drawing/2014/main" id="{AD0D554E-0C50-46CE-8200-6CCAA63B99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821" y="4886037"/>
            <a:ext cx="1752379"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4">
            <a:extLst>
              <a:ext uri="{FF2B5EF4-FFF2-40B4-BE49-F238E27FC236}">
                <a16:creationId xmlns:a16="http://schemas.microsoft.com/office/drawing/2014/main" id="{1387E62C-6D30-4972-92BC-00BA132797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05600" y="4886037"/>
            <a:ext cx="2135469" cy="101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9">
            <a:extLst>
              <a:ext uri="{FF2B5EF4-FFF2-40B4-BE49-F238E27FC236}">
                <a16:creationId xmlns:a16="http://schemas.microsoft.com/office/drawing/2014/main" id="{DA9F23F7-685D-4360-88F8-7C85CAF1793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1273414"/>
            <a:ext cx="1925858" cy="1947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E0E86C86-03D6-4DF8-992C-0FF1324663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6DDD136-57FD-4077-B7DB-0C91F36A12A3}" type="slidenum">
              <a:rPr lang="en-US" altLang="en-US"/>
              <a:pPr eaLnBrk="1" hangingPunct="1"/>
              <a:t>65</a:t>
            </a:fld>
            <a:endParaRPr lang="en-US" altLang="en-US"/>
          </a:p>
        </p:txBody>
      </p:sp>
      <p:sp>
        <p:nvSpPr>
          <p:cNvPr id="44035" name="Rectangle 2">
            <a:extLst>
              <a:ext uri="{FF2B5EF4-FFF2-40B4-BE49-F238E27FC236}">
                <a16:creationId xmlns:a16="http://schemas.microsoft.com/office/drawing/2014/main" id="{5277C8BD-8769-41DB-8E32-0894597D4F82}"/>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p>
        </p:txBody>
      </p:sp>
      <p:sp>
        <p:nvSpPr>
          <p:cNvPr id="44036" name="Rectangle 3">
            <a:extLst>
              <a:ext uri="{FF2B5EF4-FFF2-40B4-BE49-F238E27FC236}">
                <a16:creationId xmlns:a16="http://schemas.microsoft.com/office/drawing/2014/main" id="{6C6C15EF-90D1-4E09-97EF-0D87E1719E14}"/>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4037" name="Rectangle 4">
            <a:extLst>
              <a:ext uri="{FF2B5EF4-FFF2-40B4-BE49-F238E27FC236}">
                <a16:creationId xmlns:a16="http://schemas.microsoft.com/office/drawing/2014/main" id="{969B0AF1-0D54-4142-9410-78D37E8A23A3}"/>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4038" name="Rectangle 5">
            <a:extLst>
              <a:ext uri="{FF2B5EF4-FFF2-40B4-BE49-F238E27FC236}">
                <a16:creationId xmlns:a16="http://schemas.microsoft.com/office/drawing/2014/main" id="{D9AD6D13-28BF-4CE3-BFE4-D785D1936266}"/>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4039" name="Rectangle 7">
            <a:extLst>
              <a:ext uri="{FF2B5EF4-FFF2-40B4-BE49-F238E27FC236}">
                <a16:creationId xmlns:a16="http://schemas.microsoft.com/office/drawing/2014/main" id="{1858AFE4-35D8-4D13-816A-CA7B10AD6532}"/>
              </a:ext>
            </a:extLst>
          </p:cNvPr>
          <p:cNvSpPr>
            <a:spLocks noChangeArrowheads="1"/>
          </p:cNvSpPr>
          <p:nvPr/>
        </p:nvSpPr>
        <p:spPr bwMode="auto">
          <a:xfrm>
            <a:off x="301256" y="10668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dirty="0"/>
              <a:t>Chapters 3 and 4 identified and </a:t>
            </a:r>
            <a:r>
              <a:rPr lang="en-GB" altLang="zh-CN" sz="2400" dirty="0" err="1"/>
              <a:t>modeled</a:t>
            </a:r>
            <a:r>
              <a:rPr lang="en-GB" altLang="zh-CN" sz="2400" dirty="0"/>
              <a:t> the two primary aspects of functional requirements: </a:t>
            </a:r>
            <a:r>
              <a:rPr lang="en-GB" altLang="zh-CN" sz="2400" i="1" dirty="0">
                <a:solidFill>
                  <a:srgbClr val="C00000"/>
                </a:solidFill>
              </a:rPr>
              <a:t>use cases</a:t>
            </a:r>
            <a:r>
              <a:rPr lang="en-GB" altLang="zh-CN" sz="2400" dirty="0">
                <a:solidFill>
                  <a:srgbClr val="C00000"/>
                </a:solidFill>
              </a:rPr>
              <a:t> </a:t>
            </a:r>
            <a:r>
              <a:rPr lang="en-GB" altLang="zh-CN" sz="2400" dirty="0"/>
              <a:t>and </a:t>
            </a:r>
            <a:r>
              <a:rPr lang="en-GB" altLang="zh-CN" sz="2400" i="1" dirty="0">
                <a:solidFill>
                  <a:srgbClr val="C00000"/>
                </a:solidFill>
              </a:rPr>
              <a:t>domain classes</a:t>
            </a:r>
            <a:r>
              <a:rPr lang="zh-CN" altLang="en-US" sz="2400" dirty="0"/>
              <a:t>（第</a:t>
            </a:r>
            <a:r>
              <a:rPr lang="en-US" altLang="zh-CN" sz="2400" dirty="0"/>
              <a:t>3</a:t>
            </a:r>
            <a:r>
              <a:rPr lang="zh-CN" altLang="en-US" sz="2400" dirty="0"/>
              <a:t>章和第</a:t>
            </a:r>
            <a:r>
              <a:rPr lang="en-US" altLang="zh-CN" sz="2400" dirty="0"/>
              <a:t>4</a:t>
            </a:r>
            <a:r>
              <a:rPr lang="zh-CN" altLang="en-US" sz="2400" dirty="0"/>
              <a:t>章确定并建模了功能需求的两个主要方面</a:t>
            </a:r>
            <a:r>
              <a:rPr lang="en-US" altLang="zh-CN" sz="2400" dirty="0"/>
              <a:t>:</a:t>
            </a:r>
            <a:r>
              <a:rPr lang="zh-CN" altLang="en-US" sz="2400" u="sng" dirty="0"/>
              <a:t>用例</a:t>
            </a:r>
            <a:r>
              <a:rPr lang="zh-CN" altLang="en-US" sz="2400" dirty="0"/>
              <a:t>和</a:t>
            </a:r>
            <a:r>
              <a:rPr lang="zh-CN" altLang="en-US" sz="2400" u="sng" dirty="0"/>
              <a:t>域类</a:t>
            </a:r>
            <a:r>
              <a:rPr lang="zh-CN" altLang="en-US" sz="2400" dirty="0"/>
              <a:t>）</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This chapter focuses on additional techniques and models to extend the requirements models to show more detail</a:t>
            </a:r>
            <a:r>
              <a:rPr lang="zh-CN" altLang="en-US" sz="2400" dirty="0"/>
              <a:t>（</a:t>
            </a:r>
            <a:r>
              <a:rPr lang="zh-CN" altLang="en-US" sz="2400" dirty="0">
                <a:solidFill>
                  <a:srgbClr val="2A2B2E"/>
                </a:solidFill>
                <a:latin typeface="PingFang SC"/>
              </a:rPr>
              <a:t>本章着重于额外的技术和模型来扩展需求模型以显示更多的细节</a:t>
            </a:r>
            <a:r>
              <a:rPr lang="zh-CN" altLang="en-US" sz="2400" dirty="0"/>
              <a:t>）</a:t>
            </a:r>
            <a:endParaRPr lang="en-GB" altLang="zh-CN" sz="2400" dirty="0"/>
          </a:p>
          <a:p>
            <a:r>
              <a:rPr lang="en-GB" altLang="zh-CN" sz="2400" dirty="0"/>
              <a:t>Fully </a:t>
            </a:r>
            <a:r>
              <a:rPr lang="en-GB" altLang="zh-CN" sz="2400" i="1" dirty="0"/>
              <a:t>developed </a:t>
            </a:r>
            <a:r>
              <a:rPr lang="en-GB" altLang="zh-CN" sz="2400" i="1" dirty="0">
                <a:solidFill>
                  <a:srgbClr val="C00000"/>
                </a:solidFill>
              </a:rPr>
              <a:t>use case descriptions</a:t>
            </a:r>
            <a:r>
              <a:rPr lang="en-GB" altLang="zh-CN" sz="2400" dirty="0">
                <a:solidFill>
                  <a:srgbClr val="C00000"/>
                </a:solidFill>
              </a:rPr>
              <a:t> </a:t>
            </a:r>
            <a:r>
              <a:rPr lang="en-GB" altLang="zh-CN" sz="2400" dirty="0"/>
              <a:t>provide information about each use case, including actors, stakeholders, preconditions, post conditions, the flow of activities and exceptions conditions </a:t>
            </a:r>
            <a:r>
              <a:rPr lang="zh-CN" altLang="en-US" sz="2400" dirty="0"/>
              <a:t>（</a:t>
            </a:r>
            <a:r>
              <a:rPr lang="zh-CN" altLang="en-US" sz="2400" dirty="0">
                <a:solidFill>
                  <a:srgbClr val="2A2B2E"/>
                </a:solidFill>
                <a:latin typeface="PingFang SC"/>
              </a:rPr>
              <a:t>完全开发的用例描述提供了关于每个用例的信息，包括参与者、相关人员、前提条件、后置条件、活动流和异常状态</a:t>
            </a:r>
            <a:r>
              <a:rPr lang="zh-CN" altLang="en-US" sz="2400" dirty="0"/>
              <a:t>）</a:t>
            </a:r>
            <a:endParaRPr lang="en-GB" altLang="zh-CN" sz="2400" i="1" dirty="0"/>
          </a:p>
        </p:txBody>
      </p:sp>
      <p:sp>
        <p:nvSpPr>
          <p:cNvPr id="44040" name="Footer Placeholder 4">
            <a:extLst>
              <a:ext uri="{FF2B5EF4-FFF2-40B4-BE49-F238E27FC236}">
                <a16:creationId xmlns:a16="http://schemas.microsoft.com/office/drawing/2014/main" id="{9954F65B-9EE9-4A14-92DD-022CB20BE81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4041" name="Rectangle 9">
            <a:extLst>
              <a:ext uri="{FF2B5EF4-FFF2-40B4-BE49-F238E27FC236}">
                <a16:creationId xmlns:a16="http://schemas.microsoft.com/office/drawing/2014/main" id="{BA489253-5E29-401A-99A9-73F336BC96DF}"/>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981876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E0E86C86-03D6-4DF8-992C-0FF1324663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6DDD136-57FD-4077-B7DB-0C91F36A12A3}" type="slidenum">
              <a:rPr lang="en-US" altLang="en-US"/>
              <a:pPr eaLnBrk="1" hangingPunct="1"/>
              <a:t>66</a:t>
            </a:fld>
            <a:endParaRPr lang="en-US" altLang="en-US"/>
          </a:p>
        </p:txBody>
      </p:sp>
      <p:sp>
        <p:nvSpPr>
          <p:cNvPr id="44035" name="Rectangle 2">
            <a:extLst>
              <a:ext uri="{FF2B5EF4-FFF2-40B4-BE49-F238E27FC236}">
                <a16:creationId xmlns:a16="http://schemas.microsoft.com/office/drawing/2014/main" id="{5277C8BD-8769-41DB-8E32-0894597D4F82}"/>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p>
        </p:txBody>
      </p:sp>
      <p:sp>
        <p:nvSpPr>
          <p:cNvPr id="44036" name="Rectangle 3">
            <a:extLst>
              <a:ext uri="{FF2B5EF4-FFF2-40B4-BE49-F238E27FC236}">
                <a16:creationId xmlns:a16="http://schemas.microsoft.com/office/drawing/2014/main" id="{6C6C15EF-90D1-4E09-97EF-0D87E1719E14}"/>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4037" name="Rectangle 4">
            <a:extLst>
              <a:ext uri="{FF2B5EF4-FFF2-40B4-BE49-F238E27FC236}">
                <a16:creationId xmlns:a16="http://schemas.microsoft.com/office/drawing/2014/main" id="{969B0AF1-0D54-4142-9410-78D37E8A23A3}"/>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4038" name="Rectangle 5">
            <a:extLst>
              <a:ext uri="{FF2B5EF4-FFF2-40B4-BE49-F238E27FC236}">
                <a16:creationId xmlns:a16="http://schemas.microsoft.com/office/drawing/2014/main" id="{D9AD6D13-28BF-4CE3-BFE4-D785D1936266}"/>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4039" name="Rectangle 7">
            <a:extLst>
              <a:ext uri="{FF2B5EF4-FFF2-40B4-BE49-F238E27FC236}">
                <a16:creationId xmlns:a16="http://schemas.microsoft.com/office/drawing/2014/main" id="{1858AFE4-35D8-4D13-816A-CA7B10AD6532}"/>
              </a:ext>
            </a:extLst>
          </p:cNvPr>
          <p:cNvSpPr>
            <a:spLocks noChangeArrowheads="1"/>
          </p:cNvSpPr>
          <p:nvPr/>
        </p:nvSpPr>
        <p:spPr bwMode="auto">
          <a:xfrm>
            <a:off x="304800" y="12192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i="1" dirty="0">
                <a:solidFill>
                  <a:srgbClr val="C00000"/>
                </a:solidFill>
              </a:rPr>
              <a:t>Activity diagrams</a:t>
            </a:r>
            <a:r>
              <a:rPr lang="en-GB" altLang="zh-CN" sz="2400" dirty="0">
                <a:solidFill>
                  <a:srgbClr val="C00000"/>
                </a:solidFill>
              </a:rPr>
              <a:t> </a:t>
            </a:r>
            <a:r>
              <a:rPr lang="en-GB" altLang="zh-CN" sz="2400" dirty="0"/>
              <a:t>(first shown in Chapter 2) can also be used to show the flow of activities for a use case</a:t>
            </a:r>
            <a:r>
              <a:rPr lang="zh-CN" altLang="en-US" sz="2400" dirty="0"/>
              <a:t>（活动图</a:t>
            </a:r>
            <a:r>
              <a:rPr lang="en-US" altLang="zh-CN" sz="2400" dirty="0"/>
              <a:t>(</a:t>
            </a:r>
            <a:r>
              <a:rPr lang="zh-CN" altLang="en-US" sz="2400" dirty="0"/>
              <a:t>第一次在第</a:t>
            </a:r>
            <a:r>
              <a:rPr lang="en-US" altLang="zh-CN" sz="2400" dirty="0"/>
              <a:t>2</a:t>
            </a:r>
            <a:r>
              <a:rPr lang="zh-CN" altLang="en-US" sz="2400" dirty="0"/>
              <a:t>章中展示</a:t>
            </a:r>
            <a:r>
              <a:rPr lang="en-US" altLang="zh-CN" sz="2400" dirty="0"/>
              <a:t>)</a:t>
            </a:r>
            <a:r>
              <a:rPr lang="zh-CN" altLang="en-US" sz="2400" dirty="0"/>
              <a:t>也可以用来显示一个用例的活动流）</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i="1" dirty="0">
                <a:solidFill>
                  <a:srgbClr val="C00000"/>
                </a:solidFill>
              </a:rPr>
              <a:t>System sequence diagrams</a:t>
            </a:r>
            <a:r>
              <a:rPr lang="en-GB" altLang="zh-CN" sz="2400" dirty="0">
                <a:solidFill>
                  <a:srgbClr val="C00000"/>
                </a:solidFill>
              </a:rPr>
              <a:t> </a:t>
            </a:r>
            <a:r>
              <a:rPr lang="en-GB" altLang="zh-CN" sz="2400" dirty="0"/>
              <a:t>(SSDs) show the inputs and outputs for each use case as messages</a:t>
            </a:r>
            <a:r>
              <a:rPr lang="zh-CN" altLang="en-US" sz="2400" dirty="0"/>
              <a:t>（系统顺序图</a:t>
            </a:r>
            <a:r>
              <a:rPr lang="en-US" altLang="zh-CN" sz="2400" dirty="0"/>
              <a:t>(</a:t>
            </a:r>
            <a:r>
              <a:rPr lang="en-US" altLang="zh-CN" sz="2400" dirty="0" err="1"/>
              <a:t>ssd</a:t>
            </a:r>
            <a:r>
              <a:rPr lang="en-US" altLang="zh-CN" sz="2400" dirty="0"/>
              <a:t>)</a:t>
            </a:r>
            <a:r>
              <a:rPr lang="zh-CN" altLang="en-US" sz="2400" dirty="0"/>
              <a:t>将每个用例的输入和输出显示为消息）</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i="1" dirty="0">
                <a:solidFill>
                  <a:srgbClr val="C00000"/>
                </a:solidFill>
              </a:rPr>
              <a:t>State machine diagrams</a:t>
            </a:r>
            <a:r>
              <a:rPr lang="en-GB" altLang="zh-CN" sz="2400" dirty="0"/>
              <a:t> show the states an object can be in over time between use cases</a:t>
            </a:r>
            <a:r>
              <a:rPr lang="zh-CN" altLang="en-US" sz="2400" dirty="0"/>
              <a:t>（状态机图显示了一个对象在用例之间随时间推移可能处于的状态）</a:t>
            </a:r>
            <a:endParaRPr lang="en-GB" altLang="zh-CN" sz="2400" dirty="0"/>
          </a:p>
          <a:p>
            <a:pPr eaLnBrk="1" hangingPunct="1">
              <a:spcBef>
                <a:spcPct val="20000"/>
              </a:spcBef>
              <a:buClr>
                <a:schemeClr val="tx2"/>
              </a:buClr>
              <a:buSzPct val="70000"/>
              <a:buFont typeface="Wingdings" panose="05000000000000000000" pitchFamily="2" charset="2"/>
              <a:buChar char="l"/>
            </a:pPr>
            <a:endParaRPr lang="en-GB" altLang="zh-CN" sz="2400" i="1" dirty="0"/>
          </a:p>
        </p:txBody>
      </p:sp>
      <p:sp>
        <p:nvSpPr>
          <p:cNvPr id="44040" name="Footer Placeholder 4">
            <a:extLst>
              <a:ext uri="{FF2B5EF4-FFF2-40B4-BE49-F238E27FC236}">
                <a16:creationId xmlns:a16="http://schemas.microsoft.com/office/drawing/2014/main" id="{9954F65B-9EE9-4A14-92DD-022CB20BE81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4041" name="Rectangle 9">
            <a:extLst>
              <a:ext uri="{FF2B5EF4-FFF2-40B4-BE49-F238E27FC236}">
                <a16:creationId xmlns:a16="http://schemas.microsoft.com/office/drawing/2014/main" id="{BA489253-5E29-401A-99A9-73F336BC96DF}"/>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128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39CB3EF9-B59F-4558-965A-EAD373220F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D4DAB3-04F6-49F7-8F79-5BEE37686358}" type="slidenum">
              <a:rPr lang="en-US" altLang="en-US"/>
              <a:pPr eaLnBrk="1" hangingPunct="1"/>
              <a:t>67</a:t>
            </a:fld>
            <a:endParaRPr lang="en-US" altLang="en-US"/>
          </a:p>
        </p:txBody>
      </p:sp>
      <p:sp>
        <p:nvSpPr>
          <p:cNvPr id="45059" name="Rectangle 2">
            <a:extLst>
              <a:ext uri="{FF2B5EF4-FFF2-40B4-BE49-F238E27FC236}">
                <a16:creationId xmlns:a16="http://schemas.microsoft.com/office/drawing/2014/main" id="{232FEC5A-D242-46EF-9649-7A2D167DB1A9}"/>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5060" name="Rectangle 3">
            <a:extLst>
              <a:ext uri="{FF2B5EF4-FFF2-40B4-BE49-F238E27FC236}">
                <a16:creationId xmlns:a16="http://schemas.microsoft.com/office/drawing/2014/main" id="{DA965409-D0BE-4F9C-9B37-923ECC34DEF9}"/>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5061" name="Rectangle 4">
            <a:extLst>
              <a:ext uri="{FF2B5EF4-FFF2-40B4-BE49-F238E27FC236}">
                <a16:creationId xmlns:a16="http://schemas.microsoft.com/office/drawing/2014/main" id="{DB11AC7D-6645-47BF-94AD-F5BEEE555EE3}"/>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5062" name="Rectangle 5">
            <a:extLst>
              <a:ext uri="{FF2B5EF4-FFF2-40B4-BE49-F238E27FC236}">
                <a16:creationId xmlns:a16="http://schemas.microsoft.com/office/drawing/2014/main" id="{78436BBB-2C2B-4FFA-9C44-5E9DF03D5B5D}"/>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5063" name="Rectangle 6">
            <a:extLst>
              <a:ext uri="{FF2B5EF4-FFF2-40B4-BE49-F238E27FC236}">
                <a16:creationId xmlns:a16="http://schemas.microsoft.com/office/drawing/2014/main" id="{48CD4BCF-9776-4402-891F-B25747278DE5}"/>
              </a:ext>
            </a:extLst>
          </p:cNvPr>
          <p:cNvSpPr>
            <a:spLocks noChangeArrowheads="1"/>
          </p:cNvSpPr>
          <p:nvPr/>
        </p:nvSpPr>
        <p:spPr bwMode="auto">
          <a:xfrm>
            <a:off x="304800" y="1219200"/>
            <a:ext cx="8305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dirty="0"/>
              <a:t>Use cases are </a:t>
            </a:r>
            <a:r>
              <a:rPr lang="en-GB" altLang="zh-CN" sz="2400" dirty="0" err="1"/>
              <a:t>modeled</a:t>
            </a:r>
            <a:r>
              <a:rPr lang="en-GB" altLang="zh-CN" sz="2400" dirty="0"/>
              <a:t> in more detail using fully developed </a:t>
            </a:r>
            <a:r>
              <a:rPr lang="en-GB" altLang="zh-CN" sz="2400" u="sng" dirty="0"/>
              <a:t>use case descriptions, activity diagrams, and system sequence diagrams</a:t>
            </a:r>
            <a:r>
              <a:rPr lang="zh-CN" altLang="en-US" sz="2400" dirty="0"/>
              <a:t>（使用完全开发的用例描述、活动图和系统顺序图对用例进行更详细的建模）</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Domain classes are </a:t>
            </a:r>
            <a:r>
              <a:rPr lang="en-GB" altLang="zh-CN" sz="2400" dirty="0" err="1"/>
              <a:t>modeled</a:t>
            </a:r>
            <a:r>
              <a:rPr lang="en-GB" altLang="zh-CN" sz="2400" dirty="0"/>
              <a:t> in more detail using </a:t>
            </a:r>
            <a:r>
              <a:rPr lang="en-GB" altLang="zh-CN" sz="2400" u="sng" dirty="0"/>
              <a:t>state machine diagrams</a:t>
            </a:r>
            <a:r>
              <a:rPr lang="zh-CN" altLang="en-US" sz="2400" dirty="0"/>
              <a:t>（使用状态机图对域类进行更详细的建模）</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Not all use cases and domain classes are </a:t>
            </a:r>
            <a:r>
              <a:rPr lang="en-GB" altLang="zh-CN" sz="2400" dirty="0" err="1"/>
              <a:t>modeled</a:t>
            </a:r>
            <a:r>
              <a:rPr lang="en-GB" altLang="zh-CN" sz="2400" dirty="0"/>
              <a:t> at this level of detail. Only model when there is complexity and a need to communicate details  </a:t>
            </a:r>
            <a:r>
              <a:rPr lang="zh-CN" altLang="en-US" sz="2400" dirty="0"/>
              <a:t>（并不是所有的用例和领域类都在这个细节级别上建模。只有在存在复杂性和需要沟通细节时才建模）</a:t>
            </a:r>
            <a:endParaRPr lang="en-GB" altLang="zh-CN" sz="2400" dirty="0"/>
          </a:p>
          <a:p>
            <a:pPr eaLnBrk="1" hangingPunct="1">
              <a:spcBef>
                <a:spcPct val="20000"/>
              </a:spcBef>
              <a:buClr>
                <a:schemeClr val="tx2"/>
              </a:buClr>
              <a:buSzPct val="70000"/>
              <a:buFont typeface="Wingdings" panose="05000000000000000000" pitchFamily="2" charset="2"/>
              <a:buChar char="l"/>
            </a:pPr>
            <a:endParaRPr lang="en-GB" altLang="zh-CN" sz="2400" i="1" dirty="0"/>
          </a:p>
        </p:txBody>
      </p:sp>
      <p:sp>
        <p:nvSpPr>
          <p:cNvPr id="45064" name="Footer Placeholder 4">
            <a:extLst>
              <a:ext uri="{FF2B5EF4-FFF2-40B4-BE49-F238E27FC236}">
                <a16:creationId xmlns:a16="http://schemas.microsoft.com/office/drawing/2014/main" id="{00C505C0-06D9-4B5C-ACBF-4076CF86A15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5" name="Rectangle 9">
            <a:extLst>
              <a:ext uri="{FF2B5EF4-FFF2-40B4-BE49-F238E27FC236}">
                <a16:creationId xmlns:a16="http://schemas.microsoft.com/office/drawing/2014/main" id="{3B0E9F11-F624-4C69-B4A8-EDF424BFF85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4007124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68</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1</a:t>
            </a:r>
            <a:r>
              <a:rPr lang="zh-CN" altLang="en-US" sz="3600" dirty="0">
                <a:ea typeface="宋体" panose="02010600030101010101" pitchFamily="2" charset="-122"/>
              </a:rPr>
              <a:t>：其他图形工具</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en-US" altLang="zh-CN" sz="3200" dirty="0"/>
              <a:t>1. </a:t>
            </a:r>
            <a:r>
              <a:rPr lang="zh-CN" altLang="en-US" sz="3200" dirty="0"/>
              <a:t>层次方框图</a:t>
            </a:r>
            <a:endParaRPr lang="en-GB" altLang="zh-CN" sz="3200" dirty="0"/>
          </a:p>
          <a:p>
            <a:pPr lvl="1" eaLnBrk="1" hangingPunct="1"/>
            <a:r>
              <a:rPr lang="zh-CN" altLang="en-US" sz="2800" dirty="0"/>
              <a:t>层次方框图用树形结构的一系列多层次的矩形框描绘数据的层次结构。</a:t>
            </a:r>
          </a:p>
          <a:p>
            <a:pPr lvl="1" eaLnBrk="1" hangingPunct="1"/>
            <a:r>
              <a:rPr lang="zh-CN" altLang="en-US" sz="2800" dirty="0"/>
              <a:t>例如，描绘一家计算机公司全部产品的数据结构可以用下图的层次方框图表示。这家公司的产品由硬件、软件和服务</a:t>
            </a:r>
            <a:r>
              <a:rPr lang="en-US" altLang="zh-CN" sz="2800" dirty="0"/>
              <a:t>3</a:t>
            </a:r>
            <a:r>
              <a:rPr lang="zh-CN" altLang="en-US" sz="2800" dirty="0"/>
              <a:t>类产品组成。</a:t>
            </a:r>
          </a:p>
          <a:p>
            <a:pPr lvl="1" eaLnBrk="1" hangingPunct="1"/>
            <a:endParaRPr lang="en-GB" altLang="zh-CN" sz="2400" dirty="0"/>
          </a:p>
          <a:p>
            <a:pPr eaLnBrk="1" hangingPunct="1">
              <a:buFont typeface="Wingdings" panose="05000000000000000000" pitchFamily="2" charset="2"/>
              <a:buNone/>
            </a:pPr>
            <a:endParaRPr lang="en-GB" altLang="zh-CN" sz="2600" dirty="0"/>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图片 1">
            <a:extLst>
              <a:ext uri="{FF2B5EF4-FFF2-40B4-BE49-F238E27FC236}">
                <a16:creationId xmlns:a16="http://schemas.microsoft.com/office/drawing/2014/main" id="{949556F6-4EEA-4B68-8F6D-15F92D016B6C}"/>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733800"/>
            <a:ext cx="4419600" cy="3047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72986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69</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1</a:t>
            </a:r>
            <a:r>
              <a:rPr lang="zh-CN" altLang="en-US" sz="3600" dirty="0">
                <a:ea typeface="宋体" panose="02010600030101010101" pitchFamily="2" charset="-122"/>
              </a:rPr>
              <a:t>：其他图形工具</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en-US" altLang="zh-CN" sz="3200" dirty="0"/>
              <a:t>2. IPO</a:t>
            </a:r>
            <a:r>
              <a:rPr lang="zh-CN" altLang="en-US" sz="3200" b="1" dirty="0">
                <a:latin typeface="宋体" panose="02010600030101010101" pitchFamily="2" charset="-122"/>
                <a:ea typeface="经典宋体简" charset="-122"/>
              </a:rPr>
              <a:t>图</a:t>
            </a:r>
            <a:endParaRPr lang="en-GB" altLang="zh-CN" sz="3200" b="1" dirty="0">
              <a:latin typeface="宋体" panose="02010600030101010101" pitchFamily="2" charset="-122"/>
              <a:ea typeface="经典宋体简" charset="-122"/>
            </a:endParaRPr>
          </a:p>
          <a:p>
            <a:pPr lvl="1" eaLnBrk="1" hangingPunct="1"/>
            <a:r>
              <a:rPr lang="en-US" altLang="zh-CN" sz="2400" dirty="0"/>
              <a:t>IPO</a:t>
            </a:r>
            <a:r>
              <a:rPr lang="zh-CN" altLang="en-US" sz="2400" dirty="0"/>
              <a:t>图是输入加工输出（</a:t>
            </a:r>
            <a:r>
              <a:rPr lang="en-US" altLang="zh-CN" sz="2400" dirty="0"/>
              <a:t>Input Process Output</a:t>
            </a:r>
            <a:r>
              <a:rPr lang="zh-CN" altLang="en-US" sz="2400" dirty="0"/>
              <a:t>）图的简称</a:t>
            </a:r>
            <a:endParaRPr lang="en-US" altLang="zh-CN" sz="2400" dirty="0"/>
          </a:p>
          <a:p>
            <a:pPr lvl="1" eaLnBrk="1" hangingPunct="1"/>
            <a:r>
              <a:rPr lang="zh-CN" altLang="en-US" sz="2400" dirty="0"/>
              <a:t>在系统的模块结构图形成过程中，产生了大量的模块，在进行详细设计时开发者应为每一个模块写一份说明。</a:t>
            </a:r>
            <a:r>
              <a:rPr lang="en-US" altLang="zh-CN" sz="2400" dirty="0">
                <a:solidFill>
                  <a:srgbClr val="C00000"/>
                </a:solidFill>
              </a:rPr>
              <a:t>IPO</a:t>
            </a:r>
            <a:r>
              <a:rPr lang="zh-CN" altLang="en-US" sz="2400" dirty="0">
                <a:solidFill>
                  <a:srgbClr val="C00000"/>
                </a:solidFill>
              </a:rPr>
              <a:t>图就是用来说明每个模块的输入、输出数据和数据加工的重要工具。</a:t>
            </a:r>
            <a:endParaRPr lang="en-GB" altLang="zh-CN" sz="2600" dirty="0">
              <a:solidFill>
                <a:srgbClr val="C00000"/>
              </a:solidFill>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9117844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70</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1</a:t>
            </a:r>
            <a:r>
              <a:rPr lang="zh-CN" altLang="en-US" sz="3600" dirty="0">
                <a:ea typeface="宋体" panose="02010600030101010101" pitchFamily="2" charset="-122"/>
              </a:rPr>
              <a:t>：其他图形工具</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en-US" altLang="zh-CN" sz="3200" dirty="0"/>
              <a:t>2. IPO</a:t>
            </a:r>
            <a:r>
              <a:rPr lang="zh-CN" altLang="en-US" sz="3200" b="1" dirty="0">
                <a:latin typeface="宋体" panose="02010600030101010101" pitchFamily="2" charset="-122"/>
                <a:ea typeface="经典宋体简" charset="-122"/>
              </a:rPr>
              <a:t>图</a:t>
            </a:r>
            <a:endParaRPr lang="en-GB" altLang="zh-CN" sz="3200" b="1" dirty="0">
              <a:latin typeface="宋体" panose="02010600030101010101" pitchFamily="2" charset="-122"/>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6" name="图片 1">
            <a:extLst>
              <a:ext uri="{FF2B5EF4-FFF2-40B4-BE49-F238E27FC236}">
                <a16:creationId xmlns:a16="http://schemas.microsoft.com/office/drawing/2014/main" id="{5D5D70EC-FB01-46AB-BD0F-11D146E310CC}"/>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5" y="1517642"/>
            <a:ext cx="4048125" cy="48069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a:extLst>
              <a:ext uri="{FF2B5EF4-FFF2-40B4-BE49-F238E27FC236}">
                <a16:creationId xmlns:a16="http://schemas.microsoft.com/office/drawing/2014/main" id="{90CBBBFE-1D44-451E-8FBE-0DE5647AA3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9100" y="1474779"/>
            <a:ext cx="4650980" cy="24511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82D9214-9910-4B3F-9486-A08FC9A3DC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3884159"/>
            <a:ext cx="4650980" cy="2517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9138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71</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2</a:t>
            </a:r>
            <a:r>
              <a:rPr lang="zh-CN" altLang="en-US" sz="3600" dirty="0">
                <a:ea typeface="宋体" panose="02010600030101010101" pitchFamily="2" charset="-122"/>
              </a:rPr>
              <a:t>：验证软件需求</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从哪些方面验证软件需求</a:t>
            </a:r>
            <a:endParaRPr lang="en-US" altLang="zh-CN" sz="3200" dirty="0"/>
          </a:p>
          <a:p>
            <a:pPr eaLnBrk="1" hangingPunct="1"/>
            <a:r>
              <a:rPr lang="zh-CN" altLang="en-US" sz="2400" dirty="0"/>
              <a:t>需求分析阶段的工作结果是开发软件系统的重要基础，大量统计数字表明，</a:t>
            </a:r>
            <a:r>
              <a:rPr lang="zh-CN" altLang="en-US" sz="2400" dirty="0">
                <a:solidFill>
                  <a:srgbClr val="C00000"/>
                </a:solidFill>
              </a:rPr>
              <a:t>软件系统中</a:t>
            </a:r>
            <a:r>
              <a:rPr lang="en-US" altLang="zh-CN" sz="2400" dirty="0">
                <a:solidFill>
                  <a:srgbClr val="C00000"/>
                </a:solidFill>
              </a:rPr>
              <a:t>15%</a:t>
            </a:r>
            <a:r>
              <a:rPr lang="zh-CN" altLang="en-US" sz="2400" dirty="0">
                <a:solidFill>
                  <a:srgbClr val="C00000"/>
                </a:solidFill>
              </a:rPr>
              <a:t>的错误起源于错误的需求</a:t>
            </a:r>
            <a:r>
              <a:rPr lang="en-US" altLang="zh-CN" sz="2400" dirty="0">
                <a:solidFill>
                  <a:srgbClr val="C00000"/>
                </a:solidFill>
              </a:rPr>
              <a:t>	</a:t>
            </a:r>
          </a:p>
          <a:p>
            <a:pPr eaLnBrk="1" hangingPunct="1"/>
            <a:r>
              <a:rPr lang="zh-CN" altLang="en-US" sz="2400" b="1" dirty="0"/>
              <a:t>验证软件需求正确性的</a:t>
            </a:r>
            <a:r>
              <a:rPr lang="en-US" altLang="zh-CN" sz="2400" b="1" dirty="0"/>
              <a:t>4</a:t>
            </a:r>
            <a:r>
              <a:rPr lang="zh-CN" altLang="en-US" sz="2400" b="1" dirty="0"/>
              <a:t>个方面</a:t>
            </a:r>
            <a:endParaRPr lang="en-US" altLang="zh-CN" sz="2400" b="1" dirty="0"/>
          </a:p>
          <a:p>
            <a:pPr lvl="1" eaLnBrk="1" hangingPunct="1"/>
            <a:r>
              <a:rPr lang="zh-CN" altLang="en-US" sz="2200" b="1" dirty="0"/>
              <a:t>一致性：</a:t>
            </a:r>
            <a:r>
              <a:rPr lang="zh-CN" altLang="en-US" sz="2200" dirty="0"/>
              <a:t>当需求分析的结果是用自然语言书写的时候，除了靠人工技术审查验证软件系统规格说明书的正确性之外，目前还没有其他更好的“测试”方法。</a:t>
            </a:r>
            <a:endParaRPr lang="en-US" altLang="zh-CN" sz="2200" dirty="0"/>
          </a:p>
          <a:p>
            <a:pPr lvl="1" eaLnBrk="1" hangingPunct="1"/>
            <a:r>
              <a:rPr lang="zh-CN" altLang="en-US" sz="2200" b="1" dirty="0"/>
              <a:t>完整性：</a:t>
            </a:r>
            <a:r>
              <a:rPr lang="zh-CN" altLang="en-US" sz="2200" dirty="0"/>
              <a:t>只有目标系统的用户才真正知道软件需求规格说明书是否完整、准确地描述了他们的需求。</a:t>
            </a:r>
            <a:endParaRPr lang="en-US" altLang="zh-CN" sz="2200" dirty="0"/>
          </a:p>
          <a:p>
            <a:pPr lvl="1" eaLnBrk="1" hangingPunct="1"/>
            <a:r>
              <a:rPr lang="zh-CN" altLang="en-US" sz="2200" b="1" dirty="0"/>
              <a:t>现实性：</a:t>
            </a:r>
            <a:r>
              <a:rPr lang="zh-CN" altLang="en-US" sz="2200" dirty="0"/>
              <a:t>为了验证需求的现实性，分析员应该参照以往开发类似系统的经验，分析用现有的软、硬件技术实现目标系统的可能性。</a:t>
            </a:r>
            <a:endParaRPr lang="en-US" altLang="zh-CN" sz="2200" dirty="0"/>
          </a:p>
          <a:p>
            <a:pPr lvl="1" eaLnBrk="1" hangingPunct="1"/>
            <a:r>
              <a:rPr lang="zh-CN" altLang="en-US" sz="2200" b="1" dirty="0"/>
              <a:t>有效性：</a:t>
            </a:r>
            <a:r>
              <a:rPr lang="zh-CN" altLang="en-US" sz="2200" dirty="0"/>
              <a:t>许多用户并不能清楚地认识到他们的需要，不能有效地比较陈述需求的语句和实际需要的功能。</a:t>
            </a:r>
            <a:endParaRPr lang="en-GB" altLang="zh-CN" sz="2200" dirty="0"/>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39400260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72</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非形式化方法的缺点</a:t>
            </a:r>
            <a:endParaRPr lang="en-US" altLang="zh-CN" sz="3200" dirty="0"/>
          </a:p>
          <a:p>
            <a:pPr eaLnBrk="1" hangingPunct="1"/>
            <a:r>
              <a:rPr lang="zh-CN" altLang="en-US" sz="2400" dirty="0"/>
              <a:t>用自然语言书写的系统规格说明书，可能存在矛盾、二义性、含糊性、不完整性及抽象层次混乱等问题。</a:t>
            </a:r>
          </a:p>
          <a:p>
            <a:pPr lvl="1" eaLnBrk="1" hangingPunct="1"/>
            <a:r>
              <a:rPr lang="zh-CN" altLang="en-US" sz="2000" dirty="0"/>
              <a:t>矛盾是指一组相互冲突的陈述。</a:t>
            </a:r>
          </a:p>
          <a:p>
            <a:pPr lvl="1" eaLnBrk="1" hangingPunct="1"/>
            <a:r>
              <a:rPr lang="zh-CN" altLang="en-US" sz="2000" dirty="0"/>
              <a:t>二义性是指读者可以用不同方式理解的陈述。</a:t>
            </a:r>
          </a:p>
          <a:p>
            <a:pPr lvl="1" eaLnBrk="1" hangingPunct="1"/>
            <a:r>
              <a:rPr lang="zh-CN" altLang="en-US" sz="2000" dirty="0"/>
              <a:t>含糊性</a:t>
            </a:r>
          </a:p>
          <a:p>
            <a:pPr lvl="1" eaLnBrk="1" hangingPunct="1"/>
            <a:r>
              <a:rPr lang="zh-CN" altLang="en-US" sz="2000" dirty="0"/>
              <a:t>不完整性</a:t>
            </a:r>
          </a:p>
          <a:p>
            <a:pPr lvl="1" eaLnBrk="1" hangingPunct="1"/>
            <a:r>
              <a:rPr lang="zh-CN" altLang="en-US" sz="2000" dirty="0"/>
              <a:t>抽象层次混乱是指在非常抽象的陈述中混进了一些关于细节的低层次陈述。</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7121543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73</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形式化方法的优点</a:t>
            </a:r>
            <a:endParaRPr lang="en-US" altLang="zh-CN" sz="3200" dirty="0"/>
          </a:p>
          <a:p>
            <a:pPr eaLnBrk="1" hangingPunct="1"/>
            <a:r>
              <a:rPr lang="zh-CN" altLang="en-US" sz="2400" dirty="0"/>
              <a:t>为了克服非形式化方法的缺点，人们把数学引入软件开发过程，创造了基于数学的形式化方法。</a:t>
            </a:r>
          </a:p>
          <a:p>
            <a:pPr lvl="1" eaLnBrk="1" hangingPunct="1"/>
            <a:r>
              <a:rPr lang="zh-CN" altLang="en-US" sz="2000" dirty="0"/>
              <a:t>数学能够简洁准确地描述物理现象、对象或动作的结果，因此是理想的建模工具。</a:t>
            </a:r>
          </a:p>
          <a:p>
            <a:pPr lvl="1" eaLnBrk="1" hangingPunct="1"/>
            <a:r>
              <a:rPr lang="zh-CN" altLang="en-US" sz="2000" dirty="0"/>
              <a:t>数学以在不同的软件工程活动之间平滑地过渡。</a:t>
            </a:r>
          </a:p>
          <a:p>
            <a:pPr lvl="1" eaLnBrk="1" hangingPunct="1"/>
            <a:r>
              <a:rPr lang="zh-CN" altLang="en-US" sz="2000" dirty="0"/>
              <a:t>数学提供了高层确认的手段。</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22115629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74</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endParaRPr lang="en-US" altLang="zh-CN" sz="3200" dirty="0"/>
          </a:p>
          <a:p>
            <a:pPr lvl="1" eaLnBrk="1" hangingPunct="1"/>
            <a:r>
              <a:rPr lang="zh-CN" altLang="en-US" sz="2400" dirty="0"/>
              <a:t>有穷状态机</a:t>
            </a:r>
            <a:endParaRPr lang="en-US" altLang="zh-CN" sz="2400" dirty="0"/>
          </a:p>
          <a:p>
            <a:pPr lvl="1" eaLnBrk="1" hangingPunct="1"/>
            <a:r>
              <a:rPr lang="en-US" altLang="zh-CN" sz="2400" dirty="0"/>
              <a:t>Petri</a:t>
            </a:r>
            <a:r>
              <a:rPr lang="zh-CN" altLang="en-US" sz="2400" dirty="0"/>
              <a:t>网</a:t>
            </a:r>
            <a:endParaRPr lang="en-US" altLang="zh-CN" sz="2400" dirty="0"/>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713680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75</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lvl="1" eaLnBrk="1" hangingPunct="1"/>
            <a:r>
              <a:rPr lang="zh-CN" altLang="en-US" sz="2400" dirty="0"/>
              <a:t>例子：一个保险箱上装了一个复合锁，锁有</a:t>
            </a:r>
            <a:r>
              <a:rPr lang="en-US" altLang="zh-CN" sz="2400" dirty="0"/>
              <a:t>3</a:t>
            </a:r>
            <a:r>
              <a:rPr lang="zh-CN" altLang="en-US" sz="2400" dirty="0"/>
              <a:t>个位置，分别标记为</a:t>
            </a:r>
            <a:r>
              <a:rPr lang="en-US" altLang="zh-CN" sz="2400" dirty="0"/>
              <a:t>1</a:t>
            </a:r>
            <a:r>
              <a:rPr lang="zh-CN" altLang="en-US" sz="2400" dirty="0"/>
              <a:t>、</a:t>
            </a:r>
            <a:r>
              <a:rPr lang="en-US" altLang="zh-CN" sz="2400" dirty="0"/>
              <a:t>2</a:t>
            </a:r>
            <a:r>
              <a:rPr lang="zh-CN" altLang="en-US" sz="2400" dirty="0"/>
              <a:t>、</a:t>
            </a:r>
            <a:r>
              <a:rPr lang="en-US" altLang="zh-CN" sz="2400" dirty="0"/>
              <a:t>3</a:t>
            </a:r>
            <a:r>
              <a:rPr lang="zh-CN" altLang="en-US" sz="2400" dirty="0"/>
              <a:t>，转盘可向左</a:t>
            </a:r>
            <a:r>
              <a:rPr lang="en-US" altLang="zh-CN" sz="2400" dirty="0"/>
              <a:t>(L)</a:t>
            </a:r>
            <a:r>
              <a:rPr lang="zh-CN" altLang="en-US" sz="2400" dirty="0"/>
              <a:t>或向右</a:t>
            </a:r>
            <a:r>
              <a:rPr lang="en-US" altLang="zh-CN" sz="2400" dirty="0"/>
              <a:t>(R)</a:t>
            </a:r>
            <a:r>
              <a:rPr lang="zh-CN" altLang="en-US" sz="2400" dirty="0"/>
              <a:t>转动。这样，在任意时刻转盘都有</a:t>
            </a:r>
            <a:r>
              <a:rPr lang="en-US" altLang="zh-CN" sz="2400" dirty="0"/>
              <a:t>6</a:t>
            </a:r>
            <a:r>
              <a:rPr lang="zh-CN" altLang="en-US" sz="2400" dirty="0"/>
              <a:t>种可能的运动，即</a:t>
            </a:r>
            <a:r>
              <a:rPr lang="en-US" altLang="zh-CN" sz="2400" dirty="0"/>
              <a:t>1L</a:t>
            </a:r>
            <a:r>
              <a:rPr lang="zh-CN" altLang="en-US" sz="2400" dirty="0"/>
              <a:t>、</a:t>
            </a:r>
            <a:r>
              <a:rPr lang="en-US" altLang="zh-CN" sz="2400" dirty="0"/>
              <a:t>1R</a:t>
            </a:r>
            <a:r>
              <a:rPr lang="zh-CN" altLang="en-US" sz="2400" dirty="0"/>
              <a:t>、</a:t>
            </a:r>
            <a:r>
              <a:rPr lang="en-US" altLang="zh-CN" sz="2400" dirty="0"/>
              <a:t>2L</a:t>
            </a:r>
            <a:r>
              <a:rPr lang="zh-CN" altLang="en-US" sz="2400" dirty="0"/>
              <a:t>、</a:t>
            </a:r>
            <a:r>
              <a:rPr lang="en-US" altLang="zh-CN" sz="2400" dirty="0"/>
              <a:t>2R</a:t>
            </a:r>
            <a:r>
              <a:rPr lang="zh-CN" altLang="en-US" sz="2400" dirty="0"/>
              <a:t>、</a:t>
            </a:r>
            <a:r>
              <a:rPr lang="en-US" altLang="zh-CN" sz="2400" dirty="0"/>
              <a:t>3L</a:t>
            </a:r>
            <a:r>
              <a:rPr lang="zh-CN" altLang="en-US" sz="2400" dirty="0"/>
              <a:t>和</a:t>
            </a:r>
            <a:r>
              <a:rPr lang="en-US" altLang="zh-CN" sz="2400" dirty="0"/>
              <a:t>3R</a:t>
            </a:r>
            <a:r>
              <a:rPr lang="zh-CN" altLang="en-US" sz="2400" dirty="0"/>
              <a:t>。保险箱的组合密码是</a:t>
            </a:r>
            <a:r>
              <a:rPr lang="en-US" altLang="zh-CN" sz="2400" dirty="0"/>
              <a:t>1L</a:t>
            </a:r>
            <a:r>
              <a:rPr lang="zh-CN" altLang="en-US" sz="2400" dirty="0"/>
              <a:t>、</a:t>
            </a:r>
            <a:r>
              <a:rPr lang="en-US" altLang="zh-CN" sz="2400" dirty="0"/>
              <a:t>3R</a:t>
            </a:r>
            <a:r>
              <a:rPr lang="zh-CN" altLang="en-US" sz="2400" dirty="0"/>
              <a:t>、</a:t>
            </a:r>
            <a:r>
              <a:rPr lang="en-US" altLang="zh-CN" sz="2400" dirty="0"/>
              <a:t>2L</a:t>
            </a:r>
            <a:r>
              <a:rPr lang="zh-CN" altLang="en-US" sz="2400" dirty="0"/>
              <a:t>，转盘的任何其他运动都将引起报警。</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2">
            <a:extLst>
              <a:ext uri="{FF2B5EF4-FFF2-40B4-BE49-F238E27FC236}">
                <a16:creationId xmlns:a16="http://schemas.microsoft.com/office/drawing/2014/main" id="{97CF6E48-6666-4E60-A50E-4B61838607E8}"/>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1268" y="3505200"/>
            <a:ext cx="6967537" cy="239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89947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76</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lvl="1" eaLnBrk="1" hangingPunct="1"/>
            <a:r>
              <a:rPr lang="zh-CN" altLang="en-US" sz="2400" dirty="0"/>
              <a:t>一个初始态：保险箱锁定状态。</a:t>
            </a:r>
          </a:p>
          <a:p>
            <a:pPr lvl="1" eaLnBrk="1" hangingPunct="1"/>
            <a:r>
              <a:rPr lang="zh-CN" altLang="en-US" sz="2400" dirty="0"/>
              <a:t>下表为保险箱的状态转换表</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3" name="图片 2">
            <a:extLst>
              <a:ext uri="{FF2B5EF4-FFF2-40B4-BE49-F238E27FC236}">
                <a16:creationId xmlns:a16="http://schemas.microsoft.com/office/drawing/2014/main" id="{5A62F2C7-713D-41EC-B78E-BFC35F9B8C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286" y="2438400"/>
            <a:ext cx="8371428" cy="3457143"/>
          </a:xfrm>
          <a:prstGeom prst="rect">
            <a:avLst/>
          </a:prstGeom>
        </p:spPr>
      </p:pic>
    </p:spTree>
    <p:extLst>
      <p:ext uri="{BB962C8B-B14F-4D97-AF65-F5344CB8AC3E}">
        <p14:creationId xmlns:p14="http://schemas.microsoft.com/office/powerpoint/2010/main" val="1597727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77</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lvl="1" eaLnBrk="1" hangingPunct="1">
              <a:lnSpc>
                <a:spcPct val="150000"/>
              </a:lnSpc>
            </a:pPr>
            <a:r>
              <a:rPr lang="zh-CN" altLang="en-US" sz="2400" dirty="0"/>
              <a:t>从上面这个简单的例子可以看出，一个有穷状态机包括下述</a:t>
            </a:r>
            <a:r>
              <a:rPr lang="en-US" altLang="zh-CN" sz="2400" dirty="0"/>
              <a:t>5</a:t>
            </a:r>
            <a:r>
              <a:rPr lang="zh-CN" altLang="en-US" sz="2400" dirty="0"/>
              <a:t>个部分：</a:t>
            </a:r>
            <a:endParaRPr lang="en-US" altLang="zh-CN" sz="2400" dirty="0"/>
          </a:p>
          <a:p>
            <a:pPr lvl="2" eaLnBrk="1" hangingPunct="1">
              <a:lnSpc>
                <a:spcPct val="150000"/>
              </a:lnSpc>
            </a:pPr>
            <a:r>
              <a:rPr lang="zh-CN" altLang="en-US" sz="2100" dirty="0"/>
              <a:t>状态集</a:t>
            </a:r>
            <a:r>
              <a:rPr lang="en-US" altLang="zh-CN" sz="2100" dirty="0"/>
              <a:t>J</a:t>
            </a:r>
            <a:r>
              <a:rPr lang="zh-CN" altLang="en-US" sz="2100" dirty="0"/>
              <a:t>：｛保险箱锁定，</a:t>
            </a:r>
            <a:r>
              <a:rPr lang="en-US" altLang="zh-CN" sz="2100" dirty="0"/>
              <a:t>A</a:t>
            </a:r>
            <a:r>
              <a:rPr lang="zh-CN" altLang="en-US" sz="2100" dirty="0"/>
              <a:t>，</a:t>
            </a:r>
            <a:r>
              <a:rPr lang="en-US" altLang="zh-CN" sz="2100" dirty="0"/>
              <a:t>B</a:t>
            </a:r>
            <a:r>
              <a:rPr lang="zh-CN" altLang="en-US" sz="2100" dirty="0"/>
              <a:t>，保险箱解锁，报警｝。</a:t>
            </a:r>
          </a:p>
          <a:p>
            <a:pPr lvl="2" eaLnBrk="1" hangingPunct="1">
              <a:lnSpc>
                <a:spcPct val="150000"/>
              </a:lnSpc>
            </a:pPr>
            <a:r>
              <a:rPr lang="zh-CN" altLang="en-US" sz="2100" dirty="0"/>
              <a:t>输入集</a:t>
            </a:r>
            <a:r>
              <a:rPr lang="en-US" altLang="zh-CN" sz="2100" dirty="0"/>
              <a:t>K</a:t>
            </a:r>
            <a:r>
              <a:rPr lang="zh-CN" altLang="en-US" sz="2100" dirty="0"/>
              <a:t>：｛</a:t>
            </a:r>
            <a:r>
              <a:rPr lang="en-US" altLang="zh-CN" sz="2100" dirty="0"/>
              <a:t>1L</a:t>
            </a:r>
            <a:r>
              <a:rPr lang="zh-CN" altLang="en-US" sz="2100" dirty="0"/>
              <a:t>，</a:t>
            </a:r>
            <a:r>
              <a:rPr lang="en-US" altLang="zh-CN" sz="2100" dirty="0"/>
              <a:t>1R</a:t>
            </a:r>
            <a:r>
              <a:rPr lang="zh-CN" altLang="en-US" sz="2100" dirty="0"/>
              <a:t>，</a:t>
            </a:r>
            <a:r>
              <a:rPr lang="en-US" altLang="zh-CN" sz="2100" dirty="0"/>
              <a:t>2L</a:t>
            </a:r>
            <a:r>
              <a:rPr lang="zh-CN" altLang="en-US" sz="2100" dirty="0"/>
              <a:t>，</a:t>
            </a:r>
            <a:r>
              <a:rPr lang="en-US" altLang="zh-CN" sz="2100" dirty="0"/>
              <a:t>2R</a:t>
            </a:r>
            <a:r>
              <a:rPr lang="zh-CN" altLang="en-US" sz="2100" dirty="0"/>
              <a:t>，</a:t>
            </a:r>
            <a:r>
              <a:rPr lang="en-US" altLang="zh-CN" sz="2100" dirty="0"/>
              <a:t>3L</a:t>
            </a:r>
            <a:r>
              <a:rPr lang="zh-CN" altLang="en-US" sz="2100" dirty="0"/>
              <a:t>，</a:t>
            </a:r>
            <a:r>
              <a:rPr lang="en-US" altLang="zh-CN" sz="2100" dirty="0"/>
              <a:t>3R</a:t>
            </a:r>
            <a:r>
              <a:rPr lang="zh-CN" altLang="en-US" sz="2100" dirty="0"/>
              <a:t>｝。</a:t>
            </a:r>
          </a:p>
          <a:p>
            <a:pPr lvl="2" eaLnBrk="1" hangingPunct="1">
              <a:lnSpc>
                <a:spcPct val="150000"/>
              </a:lnSpc>
            </a:pPr>
            <a:r>
              <a:rPr lang="zh-CN" altLang="en-US" sz="2100" dirty="0"/>
              <a:t>转换函数</a:t>
            </a:r>
            <a:r>
              <a:rPr lang="en-US" altLang="zh-CN" sz="2100" dirty="0"/>
              <a:t>T</a:t>
            </a:r>
            <a:r>
              <a:rPr lang="zh-CN" altLang="en-US" sz="2100" dirty="0"/>
              <a:t>：如表所示。 </a:t>
            </a:r>
          </a:p>
          <a:p>
            <a:pPr lvl="2" eaLnBrk="1" hangingPunct="1">
              <a:lnSpc>
                <a:spcPct val="150000"/>
              </a:lnSpc>
            </a:pPr>
            <a:r>
              <a:rPr lang="zh-CN" altLang="en-US" sz="2100" dirty="0"/>
              <a:t>初始态</a:t>
            </a:r>
            <a:r>
              <a:rPr lang="en-US" altLang="zh-CN" sz="2100" dirty="0"/>
              <a:t>S</a:t>
            </a:r>
            <a:r>
              <a:rPr lang="zh-CN" altLang="en-US" sz="2100" dirty="0"/>
              <a:t>：保险箱锁定。</a:t>
            </a:r>
          </a:p>
          <a:p>
            <a:pPr lvl="2" eaLnBrk="1" hangingPunct="1">
              <a:lnSpc>
                <a:spcPct val="150000"/>
              </a:lnSpc>
            </a:pPr>
            <a:r>
              <a:rPr lang="zh-CN" altLang="en-US" sz="2100" dirty="0"/>
              <a:t>终态集</a:t>
            </a:r>
            <a:r>
              <a:rPr lang="en-US" altLang="zh-CN" sz="2100" dirty="0"/>
              <a:t>F</a:t>
            </a:r>
            <a:r>
              <a:rPr lang="zh-CN" altLang="en-US" sz="2100" dirty="0"/>
              <a:t>：｛保险箱解锁，报警｝。</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41171563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78</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如果使用更形式化的术语，一个有穷状态机可以表示为一个</a:t>
            </a:r>
            <a:r>
              <a:rPr lang="en-US" altLang="zh-CN" sz="2400" dirty="0">
                <a:ea typeface="经典宋体简" charset="-122"/>
              </a:rPr>
              <a:t>5</a:t>
            </a:r>
            <a:r>
              <a:rPr lang="zh-CN" altLang="en-US" sz="2400" dirty="0">
                <a:ea typeface="经典宋体简" charset="-122"/>
              </a:rPr>
              <a:t>元组</a:t>
            </a:r>
            <a:r>
              <a:rPr lang="en-US" altLang="zh-CN" sz="2400" dirty="0">
                <a:ea typeface="经典宋体简" charset="-122"/>
              </a:rPr>
              <a:t>(J</a:t>
            </a:r>
            <a:r>
              <a:rPr lang="zh-CN" altLang="en-US" sz="2400" dirty="0">
                <a:ea typeface="经典宋体简" charset="-122"/>
              </a:rPr>
              <a:t>，</a:t>
            </a:r>
            <a:r>
              <a:rPr lang="en-US" altLang="zh-CN" sz="2400" dirty="0">
                <a:ea typeface="经典宋体简" charset="-122"/>
              </a:rPr>
              <a:t>K</a:t>
            </a:r>
            <a:r>
              <a:rPr lang="zh-CN" altLang="en-US" sz="2400" dirty="0">
                <a:ea typeface="经典宋体简" charset="-122"/>
              </a:rPr>
              <a:t>，</a:t>
            </a:r>
            <a:r>
              <a:rPr lang="en-US" altLang="zh-CN" sz="2400" dirty="0">
                <a:ea typeface="经典宋体简" charset="-122"/>
              </a:rPr>
              <a:t>T</a:t>
            </a:r>
            <a:r>
              <a:rPr lang="zh-CN" altLang="en-US" sz="2400" dirty="0">
                <a:ea typeface="经典宋体简" charset="-122"/>
              </a:rPr>
              <a:t>，</a:t>
            </a:r>
            <a:r>
              <a:rPr lang="en-US" altLang="zh-CN" sz="2400" dirty="0">
                <a:ea typeface="经典宋体简" charset="-122"/>
              </a:rPr>
              <a:t>S</a:t>
            </a:r>
            <a:r>
              <a:rPr lang="zh-CN" altLang="en-US" sz="2400" dirty="0">
                <a:ea typeface="经典宋体简" charset="-122"/>
              </a:rPr>
              <a:t>，</a:t>
            </a:r>
            <a:r>
              <a:rPr lang="en-US" altLang="zh-CN" sz="2400" dirty="0">
                <a:ea typeface="经典宋体简" charset="-122"/>
              </a:rPr>
              <a:t>F)</a:t>
            </a:r>
            <a:r>
              <a:rPr lang="zh-CN" altLang="en-US" sz="2400" dirty="0">
                <a:ea typeface="经典宋体简" charset="-122"/>
              </a:rPr>
              <a:t>，其中：</a:t>
            </a:r>
            <a:endParaRPr lang="en-US" altLang="zh-CN" sz="2400" dirty="0">
              <a:ea typeface="经典宋体简" charset="-122"/>
            </a:endParaRPr>
          </a:p>
          <a:p>
            <a:pPr lvl="1" eaLnBrk="1" hangingPunct="1">
              <a:lnSpc>
                <a:spcPct val="150000"/>
              </a:lnSpc>
            </a:pPr>
            <a:r>
              <a:rPr lang="en-US" altLang="zh-CN" sz="2000" dirty="0">
                <a:ea typeface="经典宋体简" charset="-122"/>
              </a:rPr>
              <a:t>J</a:t>
            </a:r>
            <a:r>
              <a:rPr lang="zh-CN" altLang="en-US" sz="2000" dirty="0">
                <a:ea typeface="经典宋体简" charset="-122"/>
              </a:rPr>
              <a:t>是一个有穷的非空状态集；</a:t>
            </a:r>
            <a:endParaRPr lang="en-US" altLang="zh-CN" sz="2000" dirty="0">
              <a:ea typeface="经典宋体简" charset="-122"/>
            </a:endParaRPr>
          </a:p>
          <a:p>
            <a:pPr lvl="1" eaLnBrk="1" hangingPunct="1">
              <a:lnSpc>
                <a:spcPct val="150000"/>
              </a:lnSpc>
            </a:pPr>
            <a:r>
              <a:rPr lang="en-US" altLang="zh-CN" sz="2000" dirty="0">
                <a:ea typeface="经典宋体简" charset="-122"/>
              </a:rPr>
              <a:t>K</a:t>
            </a:r>
            <a:r>
              <a:rPr lang="zh-CN" altLang="en-US" sz="2000" dirty="0">
                <a:ea typeface="经典宋体简" charset="-122"/>
              </a:rPr>
              <a:t>是一个有穷的非空输入集；</a:t>
            </a:r>
            <a:endParaRPr lang="en-US" altLang="zh-CN" sz="2000" dirty="0">
              <a:ea typeface="经典宋体简" charset="-122"/>
            </a:endParaRPr>
          </a:p>
          <a:p>
            <a:pPr lvl="1" eaLnBrk="1" hangingPunct="1">
              <a:lnSpc>
                <a:spcPct val="150000"/>
              </a:lnSpc>
            </a:pPr>
            <a:r>
              <a:rPr lang="en-US" altLang="zh-CN" sz="2000" dirty="0">
                <a:ea typeface="经典宋体简" charset="-122"/>
              </a:rPr>
              <a:t>T</a:t>
            </a:r>
            <a:r>
              <a:rPr lang="zh-CN" altLang="en-US" sz="2000" dirty="0">
                <a:ea typeface="经典宋体简" charset="-122"/>
              </a:rPr>
              <a:t>是一个从</a:t>
            </a:r>
            <a:r>
              <a:rPr lang="en-US" altLang="zh-CN" sz="2000" dirty="0">
                <a:ea typeface="经典宋体简" charset="-122"/>
              </a:rPr>
              <a:t>(J-F)×K</a:t>
            </a:r>
            <a:r>
              <a:rPr lang="zh-CN" altLang="en-US" sz="2000" dirty="0">
                <a:ea typeface="经典宋体简" charset="-122"/>
              </a:rPr>
              <a:t>到</a:t>
            </a:r>
            <a:r>
              <a:rPr lang="en-US" altLang="zh-CN" sz="2000" dirty="0">
                <a:ea typeface="经典宋体简" charset="-122"/>
              </a:rPr>
              <a:t>J</a:t>
            </a:r>
            <a:r>
              <a:rPr lang="zh-CN" altLang="en-US" sz="2000" dirty="0">
                <a:ea typeface="经典宋体简" charset="-122"/>
              </a:rPr>
              <a:t>的转换函数；</a:t>
            </a:r>
            <a:endParaRPr lang="en-US" altLang="zh-CN" sz="2000" dirty="0">
              <a:ea typeface="经典宋体简" charset="-122"/>
            </a:endParaRPr>
          </a:p>
          <a:p>
            <a:pPr lvl="1" eaLnBrk="1" hangingPunct="1">
              <a:lnSpc>
                <a:spcPct val="150000"/>
              </a:lnSpc>
            </a:pPr>
            <a:r>
              <a:rPr lang="en-US" altLang="zh-CN" sz="2000" dirty="0">
                <a:ea typeface="经典宋体简" charset="-122"/>
              </a:rPr>
              <a:t>S∈J</a:t>
            </a:r>
            <a:r>
              <a:rPr lang="zh-CN" altLang="en-US" sz="2000" dirty="0">
                <a:ea typeface="经典宋体简" charset="-122"/>
              </a:rPr>
              <a:t>，是一个初始状态；</a:t>
            </a:r>
            <a:endParaRPr lang="en-US" altLang="zh-CN" sz="2000" dirty="0">
              <a:ea typeface="经典宋体简" charset="-122"/>
            </a:endParaRPr>
          </a:p>
          <a:p>
            <a:pPr lvl="1" eaLnBrk="1" hangingPunct="1">
              <a:lnSpc>
                <a:spcPct val="150000"/>
              </a:lnSpc>
            </a:pPr>
            <a:r>
              <a:rPr lang="en-US" altLang="zh-CN" sz="2000" dirty="0">
                <a:ea typeface="经典宋体简" charset="-122"/>
              </a:rPr>
              <a:t>F ∈ J</a:t>
            </a:r>
            <a:r>
              <a:rPr lang="zh-CN" altLang="en-US" sz="2000" dirty="0">
                <a:ea typeface="经典宋体简" charset="-122"/>
              </a:rPr>
              <a:t>，是终态集。</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5018652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79</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有穷状态机的概念在计算机系统中应用得非常广泛。</a:t>
            </a:r>
          </a:p>
          <a:p>
            <a:pPr eaLnBrk="1" hangingPunct="1">
              <a:lnSpc>
                <a:spcPct val="150000"/>
              </a:lnSpc>
            </a:pPr>
            <a:r>
              <a:rPr lang="zh-CN" altLang="en-US" sz="2400" dirty="0">
                <a:ea typeface="经典宋体简" charset="-122"/>
              </a:rPr>
              <a:t>例如，每个菜单驱动的用户界面都是一个有穷状态机的实现。一个菜单的显示和一个状态相对应，键盘输入或用鼠标选择一个图标是使系统进入其他状态的一个事件。状态的每个转换都具有下面的形式：</a:t>
            </a:r>
            <a:endParaRPr lang="en-US" altLang="zh-CN" sz="2400" dirty="0">
              <a:ea typeface="经典宋体简" charset="-122"/>
            </a:endParaRPr>
          </a:p>
          <a:p>
            <a:pPr marL="0" indent="0" algn="ctr" eaLnBrk="1" hangingPunct="1">
              <a:lnSpc>
                <a:spcPct val="150000"/>
              </a:lnSpc>
              <a:buNone/>
            </a:pPr>
            <a:r>
              <a:rPr lang="zh-CN" altLang="en-US" sz="2400" b="1" dirty="0">
                <a:solidFill>
                  <a:srgbClr val="FF0000"/>
                </a:solidFill>
                <a:ea typeface="经典宋体简" charset="-122"/>
              </a:rPr>
              <a:t>当前状态</a:t>
            </a:r>
            <a:r>
              <a:rPr lang="en-US" altLang="zh-CN" sz="2400" b="1" dirty="0">
                <a:solidFill>
                  <a:srgbClr val="FF0000"/>
                </a:solidFill>
                <a:ea typeface="经典宋体简" charset="-122"/>
              </a:rPr>
              <a:t>〔</a:t>
            </a:r>
            <a:r>
              <a:rPr lang="zh-CN" altLang="en-US" sz="2400" b="1" dirty="0">
                <a:solidFill>
                  <a:srgbClr val="FF0000"/>
                </a:solidFill>
                <a:ea typeface="经典宋体简" charset="-122"/>
              </a:rPr>
              <a:t>菜单</a:t>
            </a:r>
            <a:r>
              <a:rPr lang="en-US" altLang="zh-CN" sz="2400" b="1" dirty="0">
                <a:solidFill>
                  <a:srgbClr val="FF0000"/>
                </a:solidFill>
                <a:ea typeface="经典宋体简" charset="-122"/>
              </a:rPr>
              <a:t>〕+</a:t>
            </a:r>
            <a:r>
              <a:rPr lang="zh-CN" altLang="en-US" sz="2400" b="1" dirty="0">
                <a:solidFill>
                  <a:srgbClr val="FF0000"/>
                </a:solidFill>
                <a:ea typeface="经典宋体简" charset="-122"/>
              </a:rPr>
              <a:t>事件</a:t>
            </a:r>
            <a:r>
              <a:rPr lang="en-US" altLang="zh-CN" sz="2400" b="1" dirty="0">
                <a:solidFill>
                  <a:srgbClr val="FF0000"/>
                </a:solidFill>
                <a:ea typeface="经典宋体简" charset="-122"/>
              </a:rPr>
              <a:t>〔</a:t>
            </a:r>
            <a:r>
              <a:rPr lang="zh-CN" altLang="en-US" sz="2400" b="1" dirty="0">
                <a:solidFill>
                  <a:srgbClr val="FF0000"/>
                </a:solidFill>
                <a:ea typeface="经典宋体简" charset="-122"/>
              </a:rPr>
              <a:t>所选择的项</a:t>
            </a:r>
            <a:r>
              <a:rPr lang="en-US" altLang="zh-CN" sz="2400" b="1" dirty="0">
                <a:solidFill>
                  <a:srgbClr val="FF0000"/>
                </a:solidFill>
                <a:ea typeface="经典宋体简" charset="-122"/>
              </a:rPr>
              <a:t>〕=&gt;</a:t>
            </a:r>
            <a:r>
              <a:rPr lang="zh-CN" altLang="en-US" sz="2400" b="1" dirty="0">
                <a:solidFill>
                  <a:srgbClr val="FF0000"/>
                </a:solidFill>
                <a:ea typeface="经典宋体简" charset="-122"/>
              </a:rPr>
              <a:t>下个状态</a:t>
            </a:r>
            <a:endParaRPr lang="zh-CN" altLang="en-US" sz="24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27195304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80</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为了对一个系统进行规格说明，通常都需要对有穷状态机做一个很有用的扩展，即</a:t>
            </a:r>
            <a:r>
              <a:rPr lang="zh-CN" altLang="en-US" sz="2400" dirty="0">
                <a:solidFill>
                  <a:srgbClr val="0000FF"/>
                </a:solidFill>
                <a:ea typeface="经典宋体简" charset="-122"/>
              </a:rPr>
              <a:t>在前述的</a:t>
            </a:r>
            <a:r>
              <a:rPr lang="en-US" altLang="zh-CN" sz="2400" dirty="0">
                <a:solidFill>
                  <a:srgbClr val="0000FF"/>
                </a:solidFill>
                <a:ea typeface="经典宋体简" charset="-122"/>
              </a:rPr>
              <a:t>5</a:t>
            </a:r>
            <a:r>
              <a:rPr lang="zh-CN" altLang="en-US" sz="2400" dirty="0">
                <a:solidFill>
                  <a:srgbClr val="0000FF"/>
                </a:solidFill>
                <a:ea typeface="经典宋体简" charset="-122"/>
              </a:rPr>
              <a:t>元组中加入第</a:t>
            </a:r>
            <a:r>
              <a:rPr lang="en-US" altLang="zh-CN" sz="2400" dirty="0">
                <a:solidFill>
                  <a:srgbClr val="0000FF"/>
                </a:solidFill>
                <a:ea typeface="经典宋体简" charset="-122"/>
              </a:rPr>
              <a:t>6</a:t>
            </a:r>
            <a:r>
              <a:rPr lang="zh-CN" altLang="en-US" sz="2400" dirty="0">
                <a:solidFill>
                  <a:srgbClr val="0000FF"/>
                </a:solidFill>
                <a:ea typeface="经典宋体简" charset="-122"/>
              </a:rPr>
              <a:t>个组件</a:t>
            </a:r>
            <a:r>
              <a:rPr lang="en-US" altLang="zh-CN" sz="2400" dirty="0">
                <a:solidFill>
                  <a:srgbClr val="0000FF"/>
                </a:solidFill>
                <a:ea typeface="经典宋体简" charset="-122"/>
              </a:rPr>
              <a:t>——</a:t>
            </a:r>
            <a:r>
              <a:rPr lang="zh-CN" altLang="en-US" sz="2400" dirty="0">
                <a:solidFill>
                  <a:srgbClr val="0000FF"/>
                </a:solidFill>
                <a:ea typeface="经典宋体简" charset="-122"/>
              </a:rPr>
              <a:t>谓词集</a:t>
            </a:r>
            <a:r>
              <a:rPr lang="en-US" altLang="zh-CN" sz="2400" dirty="0">
                <a:solidFill>
                  <a:srgbClr val="0000FF"/>
                </a:solidFill>
                <a:ea typeface="经典宋体简" charset="-122"/>
              </a:rPr>
              <a:t>P</a:t>
            </a:r>
            <a:r>
              <a:rPr lang="zh-CN" altLang="en-US" sz="2400" dirty="0">
                <a:ea typeface="经典宋体简" charset="-122"/>
              </a:rPr>
              <a:t>，从而把有穷状态机扩展为一个</a:t>
            </a:r>
            <a:r>
              <a:rPr lang="en-US" altLang="zh-CN" sz="2400" dirty="0">
                <a:ea typeface="经典宋体简" charset="-122"/>
              </a:rPr>
              <a:t>6</a:t>
            </a:r>
            <a:r>
              <a:rPr lang="zh-CN" altLang="en-US" sz="2400" dirty="0">
                <a:ea typeface="经典宋体简" charset="-122"/>
              </a:rPr>
              <a:t>元组，其中每个谓词都是系统全局状态</a:t>
            </a:r>
            <a:r>
              <a:rPr lang="en-US" altLang="zh-CN" sz="2400" dirty="0">
                <a:ea typeface="经典宋体简" charset="-122"/>
              </a:rPr>
              <a:t>Y</a:t>
            </a:r>
            <a:r>
              <a:rPr lang="zh-CN" altLang="en-US" sz="2400" dirty="0">
                <a:ea typeface="经典宋体简" charset="-122"/>
              </a:rPr>
              <a:t>的函数。转换函数</a:t>
            </a:r>
            <a:r>
              <a:rPr lang="en-US" altLang="zh-CN" sz="2400" dirty="0">
                <a:ea typeface="经典宋体简" charset="-122"/>
              </a:rPr>
              <a:t>T</a:t>
            </a:r>
            <a:r>
              <a:rPr lang="zh-CN" altLang="en-US" sz="2400" dirty="0">
                <a:ea typeface="经典宋体简" charset="-122"/>
              </a:rPr>
              <a:t>现在是一个从</a:t>
            </a:r>
            <a:r>
              <a:rPr lang="en-US" altLang="zh-CN" sz="2400" dirty="0">
                <a:ea typeface="经典宋体简" charset="-122"/>
              </a:rPr>
              <a:t>(J-F)×K×P</a:t>
            </a:r>
            <a:r>
              <a:rPr lang="zh-CN" altLang="en-US" sz="2400" dirty="0">
                <a:ea typeface="经典宋体简" charset="-122"/>
              </a:rPr>
              <a:t>到</a:t>
            </a:r>
            <a:r>
              <a:rPr lang="en-US" altLang="zh-CN" sz="2400" dirty="0">
                <a:ea typeface="经典宋体简" charset="-122"/>
              </a:rPr>
              <a:t>J</a:t>
            </a:r>
            <a:r>
              <a:rPr lang="zh-CN" altLang="en-US" sz="2400" dirty="0">
                <a:ea typeface="经典宋体简" charset="-122"/>
              </a:rPr>
              <a:t>的函数。现在的转换规则形式如下：</a:t>
            </a:r>
          </a:p>
          <a:p>
            <a:pPr marL="0" indent="0" algn="ctr" eaLnBrk="1" hangingPunct="1">
              <a:lnSpc>
                <a:spcPct val="150000"/>
              </a:lnSpc>
              <a:buNone/>
            </a:pPr>
            <a:r>
              <a:rPr lang="zh-CN" altLang="en-US" sz="2400" b="1" dirty="0">
                <a:solidFill>
                  <a:srgbClr val="FF0000"/>
                </a:solidFill>
                <a:ea typeface="经典宋体简" charset="-122"/>
              </a:rPr>
              <a:t>当前状态</a:t>
            </a:r>
            <a:r>
              <a:rPr lang="en-US" altLang="zh-CN" sz="2400" b="1" dirty="0">
                <a:solidFill>
                  <a:srgbClr val="FF0000"/>
                </a:solidFill>
                <a:ea typeface="经典宋体简" charset="-122"/>
              </a:rPr>
              <a:t>〔</a:t>
            </a:r>
            <a:r>
              <a:rPr lang="zh-CN" altLang="en-US" sz="2400" b="1" dirty="0">
                <a:solidFill>
                  <a:srgbClr val="FF0000"/>
                </a:solidFill>
                <a:ea typeface="经典宋体简" charset="-122"/>
              </a:rPr>
              <a:t>菜单</a:t>
            </a:r>
            <a:r>
              <a:rPr lang="en-US" altLang="zh-CN" sz="2400" b="1" dirty="0">
                <a:solidFill>
                  <a:srgbClr val="FF0000"/>
                </a:solidFill>
                <a:ea typeface="经典宋体简" charset="-122"/>
              </a:rPr>
              <a:t>〕+</a:t>
            </a:r>
            <a:r>
              <a:rPr lang="zh-CN" altLang="en-US" sz="2400" b="1" dirty="0">
                <a:solidFill>
                  <a:srgbClr val="FF0000"/>
                </a:solidFill>
                <a:ea typeface="经典宋体简" charset="-122"/>
              </a:rPr>
              <a:t>事件</a:t>
            </a:r>
            <a:r>
              <a:rPr lang="en-US" altLang="zh-CN" sz="2400" b="1" dirty="0">
                <a:solidFill>
                  <a:srgbClr val="FF0000"/>
                </a:solidFill>
                <a:ea typeface="经典宋体简" charset="-122"/>
              </a:rPr>
              <a:t>〔</a:t>
            </a:r>
            <a:r>
              <a:rPr lang="zh-CN" altLang="en-US" sz="2400" b="1" dirty="0">
                <a:solidFill>
                  <a:srgbClr val="FF0000"/>
                </a:solidFill>
                <a:ea typeface="经典宋体简" charset="-122"/>
              </a:rPr>
              <a:t>所选择的项</a:t>
            </a:r>
            <a:r>
              <a:rPr lang="en-US" altLang="zh-CN" sz="2400" b="1" dirty="0">
                <a:solidFill>
                  <a:srgbClr val="FF0000"/>
                </a:solidFill>
                <a:ea typeface="经典宋体简" charset="-122"/>
              </a:rPr>
              <a:t>〕+</a:t>
            </a:r>
            <a:r>
              <a:rPr lang="zh-CN" altLang="en-US" sz="2400" b="1" dirty="0">
                <a:solidFill>
                  <a:srgbClr val="0000FF"/>
                </a:solidFill>
                <a:ea typeface="经典宋体简" charset="-122"/>
              </a:rPr>
              <a:t>谓词</a:t>
            </a:r>
            <a:r>
              <a:rPr lang="en-US" altLang="zh-CN" sz="2400" b="1" dirty="0">
                <a:solidFill>
                  <a:srgbClr val="FF0000"/>
                </a:solidFill>
                <a:ea typeface="经典宋体简" charset="-122"/>
              </a:rPr>
              <a:t>=&gt;</a:t>
            </a:r>
            <a:r>
              <a:rPr lang="zh-CN" altLang="en-US" sz="2400" b="1" dirty="0">
                <a:solidFill>
                  <a:srgbClr val="FF0000"/>
                </a:solidFill>
                <a:ea typeface="经典宋体简" charset="-122"/>
              </a:rPr>
              <a:t>下个状态</a:t>
            </a:r>
            <a:endParaRPr lang="zh-CN" altLang="en-US" sz="24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6596289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81</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例子：用自然语言描述的对电梯系统的需求。</a:t>
            </a:r>
          </a:p>
          <a:p>
            <a:pPr eaLnBrk="1" hangingPunct="1">
              <a:lnSpc>
                <a:spcPct val="150000"/>
              </a:lnSpc>
            </a:pPr>
            <a:r>
              <a:rPr lang="zh-CN" altLang="en-US" sz="2400" dirty="0">
                <a:ea typeface="经典宋体简" charset="-122"/>
              </a:rPr>
              <a:t>在一幢</a:t>
            </a:r>
            <a:r>
              <a:rPr lang="en-US" altLang="zh-CN" sz="2400" dirty="0">
                <a:ea typeface="经典宋体简" charset="-122"/>
              </a:rPr>
              <a:t>m</a:t>
            </a:r>
            <a:r>
              <a:rPr lang="zh-CN" altLang="en-US" sz="2400" dirty="0">
                <a:ea typeface="经典宋体简" charset="-122"/>
              </a:rPr>
              <a:t>层的大厦中需要一套控制</a:t>
            </a:r>
            <a:r>
              <a:rPr lang="en-US" altLang="zh-CN" sz="2400" dirty="0">
                <a:ea typeface="经典宋体简" charset="-122"/>
              </a:rPr>
              <a:t>n</a:t>
            </a:r>
            <a:r>
              <a:rPr lang="zh-CN" altLang="en-US" sz="2400" dirty="0">
                <a:ea typeface="经典宋体简" charset="-122"/>
              </a:rPr>
              <a:t>部电梯的产品，要求这</a:t>
            </a:r>
            <a:r>
              <a:rPr lang="en-US" altLang="zh-CN" sz="2400" dirty="0">
                <a:ea typeface="经典宋体简" charset="-122"/>
              </a:rPr>
              <a:t>n</a:t>
            </a:r>
            <a:r>
              <a:rPr lang="zh-CN" altLang="en-US" sz="2400" dirty="0">
                <a:ea typeface="经典宋体简" charset="-122"/>
              </a:rPr>
              <a:t>部电梯按照约束条件</a:t>
            </a:r>
            <a:r>
              <a:rPr lang="en-US" altLang="zh-CN" sz="2400" dirty="0">
                <a:ea typeface="经典宋体简" charset="-122"/>
              </a:rPr>
              <a:t>C1</a:t>
            </a:r>
            <a:r>
              <a:rPr lang="zh-CN" altLang="en-US" sz="2400" dirty="0">
                <a:ea typeface="经典宋体简" charset="-122"/>
              </a:rPr>
              <a:t>，</a:t>
            </a:r>
            <a:r>
              <a:rPr lang="en-US" altLang="zh-CN" sz="2400" dirty="0">
                <a:ea typeface="经典宋体简" charset="-122"/>
              </a:rPr>
              <a:t>C2</a:t>
            </a:r>
            <a:r>
              <a:rPr lang="zh-CN" altLang="en-US" sz="2400" dirty="0">
                <a:ea typeface="经典宋体简" charset="-122"/>
              </a:rPr>
              <a:t>和</a:t>
            </a:r>
            <a:r>
              <a:rPr lang="en-US" altLang="zh-CN" sz="2400" dirty="0">
                <a:ea typeface="经典宋体简" charset="-122"/>
              </a:rPr>
              <a:t>C3</a:t>
            </a:r>
            <a:r>
              <a:rPr lang="zh-CN" altLang="en-US" sz="2400" dirty="0">
                <a:ea typeface="经典宋体简" charset="-122"/>
              </a:rPr>
              <a:t>在楼层间移动。</a:t>
            </a:r>
            <a:endParaRPr lang="en-US" altLang="zh-CN" sz="2400" dirty="0">
              <a:ea typeface="经典宋体简" charset="-122"/>
            </a:endParaRPr>
          </a:p>
          <a:p>
            <a:pPr lvl="1" eaLnBrk="1" hangingPunct="1">
              <a:lnSpc>
                <a:spcPct val="150000"/>
              </a:lnSpc>
            </a:pPr>
            <a:r>
              <a:rPr lang="en-US" altLang="zh-CN" sz="1600" dirty="0">
                <a:solidFill>
                  <a:srgbClr val="FF0000"/>
                </a:solidFill>
                <a:ea typeface="经典宋体简" charset="-122"/>
              </a:rPr>
              <a:t>C1</a:t>
            </a:r>
            <a:r>
              <a:rPr lang="zh-CN" altLang="en-US" sz="1600" dirty="0">
                <a:ea typeface="经典宋体简" charset="-122"/>
              </a:rPr>
              <a:t>：每部电梯内有</a:t>
            </a:r>
            <a:r>
              <a:rPr lang="en-US" altLang="zh-CN" sz="1600" dirty="0">
                <a:ea typeface="经典宋体简" charset="-122"/>
              </a:rPr>
              <a:t>m</a:t>
            </a:r>
            <a:r>
              <a:rPr lang="zh-CN" altLang="en-US" sz="1600" dirty="0">
                <a:ea typeface="经典宋体简" charset="-122"/>
              </a:rPr>
              <a:t>个按钮，每个按钮代表一个楼层。当按下一个按钮时该按钮指示灯亮，同时电梯驶向相应的楼层，到达按钮指定的楼层时指示灯熄灭。</a:t>
            </a:r>
          </a:p>
          <a:p>
            <a:pPr lvl="1" eaLnBrk="1" hangingPunct="1">
              <a:lnSpc>
                <a:spcPct val="150000"/>
              </a:lnSpc>
            </a:pPr>
            <a:r>
              <a:rPr lang="en-US" altLang="zh-CN" sz="1600" dirty="0">
                <a:solidFill>
                  <a:srgbClr val="FF0000"/>
                </a:solidFill>
                <a:ea typeface="经典宋体简" charset="-122"/>
              </a:rPr>
              <a:t>C2</a:t>
            </a:r>
            <a:r>
              <a:rPr lang="zh-CN" altLang="en-US" sz="1600" dirty="0">
                <a:ea typeface="经典宋体简" charset="-122"/>
              </a:rPr>
              <a:t>：除了大厦的最低层和最高层之外，每层楼都有两个按钮分别请求电梯上行和下行。这两个按钮之一被按下时相应的指示灯亮，当电梯到达此楼层时灯熄灭，电梯向要求的方向移动。</a:t>
            </a:r>
          </a:p>
          <a:p>
            <a:pPr lvl="1" eaLnBrk="1" hangingPunct="1">
              <a:lnSpc>
                <a:spcPct val="150000"/>
              </a:lnSpc>
            </a:pPr>
            <a:r>
              <a:rPr lang="en-US" altLang="zh-CN" sz="1600" dirty="0">
                <a:solidFill>
                  <a:srgbClr val="FF0000"/>
                </a:solidFill>
                <a:ea typeface="经典宋体简" charset="-122"/>
              </a:rPr>
              <a:t>C3</a:t>
            </a:r>
            <a:r>
              <a:rPr lang="zh-CN" altLang="en-US" sz="1600" dirty="0">
                <a:ea typeface="经典宋体简" charset="-122"/>
              </a:rPr>
              <a:t>：当对电梯没有请求时，它关门并停在当前楼层。</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4002811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82</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使用一个扩展的有穷状态机对本产品进行规格说明</a:t>
            </a:r>
            <a:r>
              <a:rPr lang="en-US" altLang="zh-CN" sz="2400" dirty="0">
                <a:ea typeface="经典宋体简" charset="-122"/>
              </a:rPr>
              <a:t>.</a:t>
            </a:r>
          </a:p>
          <a:p>
            <a:pPr eaLnBrk="1" hangingPunct="1">
              <a:lnSpc>
                <a:spcPct val="150000"/>
              </a:lnSpc>
            </a:pPr>
            <a:r>
              <a:rPr lang="zh-CN" altLang="en-US" sz="2400" dirty="0">
                <a:ea typeface="经典宋体简" charset="-122"/>
              </a:rPr>
              <a:t>分析：问题中有两个按钮集。</a:t>
            </a:r>
            <a:r>
              <a:rPr lang="en-US" altLang="zh-CN" sz="2400" dirty="0">
                <a:ea typeface="经典宋体简" charset="-122"/>
              </a:rPr>
              <a:t>n</a:t>
            </a:r>
            <a:r>
              <a:rPr lang="zh-CN" altLang="en-US" sz="2400" dirty="0">
                <a:ea typeface="经典宋体简" charset="-122"/>
              </a:rPr>
              <a:t>部电梯中的每一部都有</a:t>
            </a:r>
            <a:r>
              <a:rPr lang="en-US" altLang="zh-CN" sz="2400" dirty="0">
                <a:ea typeface="经典宋体简" charset="-122"/>
              </a:rPr>
              <a:t>m</a:t>
            </a:r>
            <a:r>
              <a:rPr lang="zh-CN" altLang="en-US" sz="2400" dirty="0">
                <a:ea typeface="经典宋体简" charset="-122"/>
              </a:rPr>
              <a:t>个按钮，一个按钮对应一个楼层。因为这</a:t>
            </a:r>
            <a:r>
              <a:rPr lang="en-US" altLang="zh-CN" sz="2400" dirty="0" err="1">
                <a:ea typeface="经典宋体简" charset="-122"/>
              </a:rPr>
              <a:t>m×n</a:t>
            </a:r>
            <a:r>
              <a:rPr lang="zh-CN" altLang="en-US" sz="2400" dirty="0">
                <a:ea typeface="经典宋体简" charset="-122"/>
              </a:rPr>
              <a:t>个按钮都在电梯中，为</a:t>
            </a:r>
            <a:r>
              <a:rPr lang="zh-CN" altLang="en-US" sz="2400" dirty="0">
                <a:solidFill>
                  <a:srgbClr val="C00000"/>
                </a:solidFill>
                <a:ea typeface="经典宋体简" charset="-122"/>
              </a:rPr>
              <a:t>电梯按钮</a:t>
            </a:r>
            <a:r>
              <a:rPr lang="zh-CN" altLang="en-US" sz="2400" dirty="0">
                <a:ea typeface="经典宋体简" charset="-122"/>
              </a:rPr>
              <a:t>。每层楼有两个按钮，一个请求向上，另一个请求向下，称为</a:t>
            </a:r>
            <a:r>
              <a:rPr lang="zh-CN" altLang="en-US" sz="2400" dirty="0">
                <a:solidFill>
                  <a:srgbClr val="C00000"/>
                </a:solidFill>
                <a:ea typeface="经典宋体简" charset="-122"/>
              </a:rPr>
              <a:t>楼层按钮。</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41145254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83</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solidFill>
                  <a:srgbClr val="C00000"/>
                </a:solidFill>
                <a:ea typeface="经典宋体简" charset="-122"/>
              </a:rPr>
              <a:t>电梯按钮</a:t>
            </a:r>
            <a:r>
              <a:rPr lang="zh-CN" altLang="en-US" sz="2400" dirty="0">
                <a:ea typeface="经典宋体简" charset="-122"/>
              </a:rPr>
              <a:t>的状态转换图如下图所示：</a:t>
            </a:r>
            <a:endParaRPr lang="en-US" altLang="zh-CN" sz="2400" dirty="0">
              <a:ea typeface="经典宋体简" charset="-122"/>
            </a:endParaRPr>
          </a:p>
          <a:p>
            <a:pPr eaLnBrk="1" hangingPunct="1">
              <a:lnSpc>
                <a:spcPct val="150000"/>
              </a:lnSpc>
            </a:pPr>
            <a:r>
              <a:rPr lang="zh-CN" altLang="en-US" sz="1800" dirty="0">
                <a:ea typeface="经典宋体简" charset="-122"/>
              </a:rPr>
              <a:t>令</a:t>
            </a:r>
            <a:r>
              <a:rPr lang="en-US" altLang="zh-CN" sz="1800" dirty="0">
                <a:ea typeface="经典宋体简" charset="-122"/>
              </a:rPr>
              <a:t>EB(</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表示按下电梯</a:t>
            </a:r>
            <a:r>
              <a:rPr lang="en-US" altLang="zh-CN" sz="1800" dirty="0">
                <a:ea typeface="经典宋体简" charset="-122"/>
              </a:rPr>
              <a:t>e</a:t>
            </a:r>
            <a:r>
              <a:rPr lang="zh-CN" altLang="en-US" sz="1800" dirty="0">
                <a:ea typeface="经典宋体简" charset="-122"/>
              </a:rPr>
              <a:t>内的按钮并请求到</a:t>
            </a:r>
            <a:r>
              <a:rPr lang="en-US" altLang="zh-CN" sz="1800" dirty="0">
                <a:ea typeface="经典宋体简" charset="-122"/>
              </a:rPr>
              <a:t>f</a:t>
            </a:r>
            <a:r>
              <a:rPr lang="zh-CN" altLang="en-US" sz="1800" dirty="0">
                <a:ea typeface="经典宋体简" charset="-122"/>
              </a:rPr>
              <a:t>层去。</a:t>
            </a:r>
            <a:r>
              <a:rPr lang="en-US" altLang="zh-CN" sz="1800" dirty="0">
                <a:ea typeface="经典宋体简" charset="-122"/>
              </a:rPr>
              <a:t>EB(</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有两个状态，分别是按钮发光</a:t>
            </a:r>
            <a:r>
              <a:rPr lang="en-US" altLang="zh-CN" sz="1800" dirty="0">
                <a:ea typeface="经典宋体简" charset="-122"/>
              </a:rPr>
              <a:t>(</a:t>
            </a:r>
            <a:r>
              <a:rPr lang="zh-CN" altLang="en-US" sz="1800" dirty="0">
                <a:ea typeface="经典宋体简" charset="-122"/>
              </a:rPr>
              <a:t>打开</a:t>
            </a:r>
            <a:r>
              <a:rPr lang="en-US" altLang="zh-CN" sz="1800" dirty="0">
                <a:ea typeface="经典宋体简" charset="-122"/>
              </a:rPr>
              <a:t>)</a:t>
            </a:r>
            <a:r>
              <a:rPr lang="zh-CN" altLang="en-US" sz="1800" dirty="0">
                <a:ea typeface="经典宋体简" charset="-122"/>
              </a:rPr>
              <a:t>和不发光</a:t>
            </a:r>
            <a:r>
              <a:rPr lang="en-US" altLang="zh-CN" sz="1800" dirty="0">
                <a:ea typeface="经典宋体简" charset="-122"/>
              </a:rPr>
              <a:t>(</a:t>
            </a:r>
            <a:r>
              <a:rPr lang="zh-CN" altLang="en-US" sz="1800" dirty="0">
                <a:ea typeface="经典宋体简" charset="-122"/>
              </a:rPr>
              <a:t>关闭</a:t>
            </a:r>
            <a:r>
              <a:rPr lang="en-US" altLang="zh-CN" sz="1800" dirty="0">
                <a:ea typeface="经典宋体简" charset="-122"/>
              </a:rPr>
              <a:t>)</a:t>
            </a:r>
            <a:r>
              <a:rPr lang="zh-CN" altLang="en-US" sz="1800" dirty="0">
                <a:ea typeface="经典宋体简" charset="-122"/>
              </a:rPr>
              <a:t>。状态是：</a:t>
            </a:r>
          </a:p>
          <a:p>
            <a:pPr marL="0" indent="0" algn="ctr" eaLnBrk="1" hangingPunct="1">
              <a:lnSpc>
                <a:spcPct val="150000"/>
              </a:lnSpc>
              <a:buNone/>
            </a:pPr>
            <a:r>
              <a:rPr lang="en-US" altLang="zh-CN" sz="1800" dirty="0">
                <a:ea typeface="经典宋体简" charset="-122"/>
              </a:rPr>
              <a:t>EBON(</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：电梯按钮</a:t>
            </a:r>
            <a:r>
              <a:rPr lang="en-US" altLang="zh-CN" sz="1800" dirty="0">
                <a:ea typeface="经典宋体简" charset="-122"/>
              </a:rPr>
              <a:t>(</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打开</a:t>
            </a:r>
          </a:p>
          <a:p>
            <a:pPr marL="0" indent="0" algn="ctr" eaLnBrk="1" hangingPunct="1">
              <a:lnSpc>
                <a:spcPct val="150000"/>
              </a:lnSpc>
              <a:buNone/>
            </a:pPr>
            <a:r>
              <a:rPr lang="en-US" altLang="zh-CN" sz="1800" dirty="0">
                <a:ea typeface="经典宋体简" charset="-122"/>
              </a:rPr>
              <a:t>EBOFF(</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：电梯按钮</a:t>
            </a:r>
            <a:r>
              <a:rPr lang="en-US" altLang="zh-CN" sz="1800" dirty="0">
                <a:ea typeface="经典宋体简" charset="-122"/>
              </a:rPr>
              <a:t>(</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关闭</a:t>
            </a:r>
          </a:p>
          <a:p>
            <a:pPr eaLnBrk="1" hangingPunct="1">
              <a:lnSpc>
                <a:spcPct val="150000"/>
              </a:lnSpc>
            </a:pPr>
            <a:r>
              <a:rPr lang="zh-CN" altLang="en-US" sz="1800" dirty="0">
                <a:ea typeface="经典宋体简" charset="-122"/>
              </a:rPr>
              <a:t>如果电梯按钮</a:t>
            </a:r>
            <a:r>
              <a:rPr lang="en-US" altLang="zh-CN" sz="1800" dirty="0">
                <a:ea typeface="经典宋体简" charset="-122"/>
              </a:rPr>
              <a:t>(</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发光且电梯到达</a:t>
            </a:r>
            <a:r>
              <a:rPr lang="en-US" altLang="zh-CN" sz="1800" dirty="0">
                <a:ea typeface="经典宋体简" charset="-122"/>
              </a:rPr>
              <a:t>f</a:t>
            </a:r>
            <a:r>
              <a:rPr lang="zh-CN" altLang="en-US" sz="1800" dirty="0">
                <a:ea typeface="经典宋体简" charset="-122"/>
              </a:rPr>
              <a:t>层，该按钮将熄灭。相反如果按钮熄灭，则按下它时，按钮将发光。两个事件，它们分别是：</a:t>
            </a:r>
          </a:p>
          <a:p>
            <a:pPr marL="0" indent="0" algn="ctr" eaLnBrk="1" hangingPunct="1">
              <a:lnSpc>
                <a:spcPct val="150000"/>
              </a:lnSpc>
              <a:buNone/>
            </a:pPr>
            <a:r>
              <a:rPr lang="en-US" altLang="zh-CN" sz="1800" dirty="0">
                <a:ea typeface="经典宋体简" charset="-122"/>
              </a:rPr>
              <a:t>EBP(</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：电梯按钮</a:t>
            </a:r>
            <a:r>
              <a:rPr lang="en-US" altLang="zh-CN" sz="1800" dirty="0">
                <a:ea typeface="经典宋体简" charset="-122"/>
              </a:rPr>
              <a:t>(</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被按下</a:t>
            </a:r>
          </a:p>
          <a:p>
            <a:pPr marL="0" indent="0" algn="ctr" eaLnBrk="1" hangingPunct="1">
              <a:lnSpc>
                <a:spcPct val="150000"/>
              </a:lnSpc>
              <a:buNone/>
            </a:pPr>
            <a:r>
              <a:rPr lang="en-US" altLang="zh-CN" sz="1800" dirty="0">
                <a:ea typeface="经典宋体简" charset="-122"/>
              </a:rPr>
              <a:t>EAF(</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：电梯</a:t>
            </a:r>
            <a:r>
              <a:rPr lang="en-US" altLang="zh-CN" sz="1800" dirty="0">
                <a:ea typeface="经典宋体简" charset="-122"/>
              </a:rPr>
              <a:t>e</a:t>
            </a:r>
            <a:r>
              <a:rPr lang="zh-CN" altLang="en-US" sz="1800" dirty="0">
                <a:ea typeface="经典宋体简" charset="-122"/>
              </a:rPr>
              <a:t>到达</a:t>
            </a:r>
            <a:r>
              <a:rPr lang="en-US" altLang="zh-CN" sz="1800" dirty="0">
                <a:ea typeface="经典宋体简" charset="-122"/>
              </a:rPr>
              <a:t>f</a:t>
            </a:r>
            <a:r>
              <a:rPr lang="zh-CN" altLang="en-US" sz="1800" dirty="0">
                <a:ea typeface="经典宋体简" charset="-122"/>
              </a:rPr>
              <a:t>层</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10">
            <a:extLst>
              <a:ext uri="{FF2B5EF4-FFF2-40B4-BE49-F238E27FC236}">
                <a16:creationId xmlns:a16="http://schemas.microsoft.com/office/drawing/2014/main" id="{BA6B4708-1FF7-4D6D-A540-67A779B58E49}"/>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9843" y="5726596"/>
            <a:ext cx="4370388" cy="793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53043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84</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为了定义与这些事件和状态相联系的状态转换规则，</a:t>
            </a:r>
          </a:p>
          <a:p>
            <a:pPr eaLnBrk="1" hangingPunct="1">
              <a:lnSpc>
                <a:spcPct val="150000"/>
              </a:lnSpc>
            </a:pPr>
            <a:r>
              <a:rPr lang="zh-CN" altLang="en-US" sz="2400" dirty="0">
                <a:ea typeface="经典宋体简" charset="-122"/>
              </a:rPr>
              <a:t>需要一个</a:t>
            </a:r>
            <a:r>
              <a:rPr lang="zh-CN" altLang="en-US" sz="2400" dirty="0">
                <a:solidFill>
                  <a:srgbClr val="C00000"/>
                </a:solidFill>
                <a:ea typeface="经典宋体简" charset="-122"/>
              </a:rPr>
              <a:t>谓词</a:t>
            </a:r>
            <a:r>
              <a:rPr lang="en-US" altLang="zh-CN" sz="2400" dirty="0">
                <a:solidFill>
                  <a:srgbClr val="C00000"/>
                </a:solidFill>
                <a:ea typeface="经典宋体简" charset="-122"/>
              </a:rPr>
              <a:t>V(</a:t>
            </a:r>
            <a:r>
              <a:rPr lang="en-US" altLang="zh-CN" sz="2400" dirty="0" err="1">
                <a:solidFill>
                  <a:srgbClr val="C00000"/>
                </a:solidFill>
                <a:ea typeface="经典宋体简" charset="-122"/>
              </a:rPr>
              <a:t>e,f</a:t>
            </a:r>
            <a:r>
              <a:rPr lang="en-US" altLang="zh-CN" sz="2400" dirty="0">
                <a:solidFill>
                  <a:srgbClr val="C00000"/>
                </a:solidFill>
                <a:ea typeface="经典宋体简" charset="-122"/>
              </a:rPr>
              <a:t>)</a:t>
            </a:r>
            <a:r>
              <a:rPr lang="zh-CN" altLang="en-US" sz="2400" dirty="0">
                <a:ea typeface="经典宋体简" charset="-122"/>
              </a:rPr>
              <a:t>，它的含义如下：</a:t>
            </a:r>
          </a:p>
          <a:p>
            <a:pPr marL="0" indent="0" algn="ctr" eaLnBrk="1" hangingPunct="1">
              <a:lnSpc>
                <a:spcPct val="150000"/>
              </a:lnSpc>
              <a:buNone/>
            </a:pPr>
            <a:r>
              <a:rPr lang="en-US" altLang="zh-CN" sz="2400" dirty="0">
                <a:ea typeface="经典宋体简" charset="-122"/>
              </a:rPr>
              <a:t>V(</a:t>
            </a:r>
            <a:r>
              <a:rPr lang="en-US" altLang="zh-CN" sz="2400" dirty="0" err="1">
                <a:ea typeface="经典宋体简" charset="-122"/>
              </a:rPr>
              <a:t>e,f</a:t>
            </a:r>
            <a:r>
              <a:rPr lang="en-US" altLang="zh-CN" sz="2400" dirty="0">
                <a:ea typeface="经典宋体简" charset="-122"/>
              </a:rPr>
              <a:t>)</a:t>
            </a:r>
            <a:r>
              <a:rPr lang="zh-CN" altLang="en-US" sz="2400" dirty="0">
                <a:ea typeface="经典宋体简" charset="-122"/>
              </a:rPr>
              <a:t>：电梯</a:t>
            </a:r>
            <a:r>
              <a:rPr lang="en-US" altLang="zh-CN" sz="2400" dirty="0">
                <a:ea typeface="经典宋体简" charset="-122"/>
              </a:rPr>
              <a:t>e</a:t>
            </a:r>
            <a:r>
              <a:rPr lang="zh-CN" altLang="en-US" sz="2400" dirty="0">
                <a:ea typeface="经典宋体简" charset="-122"/>
              </a:rPr>
              <a:t>停在</a:t>
            </a:r>
            <a:r>
              <a:rPr lang="en-US" altLang="zh-CN" sz="2400" dirty="0">
                <a:ea typeface="经典宋体简" charset="-122"/>
              </a:rPr>
              <a:t>f</a:t>
            </a:r>
            <a:r>
              <a:rPr lang="zh-CN" altLang="en-US" sz="2400" dirty="0">
                <a:ea typeface="经典宋体简" charset="-122"/>
              </a:rPr>
              <a:t>层</a:t>
            </a:r>
          </a:p>
          <a:p>
            <a:pPr eaLnBrk="1" hangingPunct="1">
              <a:lnSpc>
                <a:spcPct val="150000"/>
              </a:lnSpc>
            </a:pPr>
            <a:r>
              <a:rPr lang="zh-CN" altLang="en-US" sz="2400" dirty="0">
                <a:ea typeface="经典宋体简" charset="-122"/>
              </a:rPr>
              <a:t>如果电梯按钮</a:t>
            </a:r>
            <a:r>
              <a:rPr lang="en-US" altLang="zh-CN" sz="2400" dirty="0">
                <a:ea typeface="经典宋体简" charset="-122"/>
              </a:rPr>
              <a:t>(</a:t>
            </a:r>
            <a:r>
              <a:rPr lang="en-US" altLang="zh-CN" sz="2400" dirty="0" err="1">
                <a:ea typeface="经典宋体简" charset="-122"/>
              </a:rPr>
              <a:t>e,f</a:t>
            </a:r>
            <a:r>
              <a:rPr lang="en-US" altLang="zh-CN" sz="2400" dirty="0">
                <a:ea typeface="经典宋体简" charset="-122"/>
              </a:rPr>
              <a:t>)</a:t>
            </a:r>
            <a:r>
              <a:rPr lang="zh-CN" altLang="en-US" sz="2400" dirty="0">
                <a:ea typeface="经典宋体简" charset="-122"/>
              </a:rPr>
              <a:t>处于关闭状态</a:t>
            </a:r>
            <a:r>
              <a:rPr lang="en-US" altLang="zh-CN" sz="2400" dirty="0">
                <a:ea typeface="经典宋体简" charset="-122"/>
              </a:rPr>
              <a:t>〔</a:t>
            </a:r>
            <a:r>
              <a:rPr lang="zh-CN" altLang="en-US" sz="2400" dirty="0">
                <a:ea typeface="经典宋体简" charset="-122"/>
              </a:rPr>
              <a:t>当前状态</a:t>
            </a:r>
            <a:r>
              <a:rPr lang="en-US" altLang="zh-CN" sz="2400" dirty="0">
                <a:ea typeface="经典宋体简" charset="-122"/>
              </a:rPr>
              <a:t>〕</a:t>
            </a:r>
            <a:r>
              <a:rPr lang="zh-CN" altLang="en-US" sz="2400" dirty="0">
                <a:ea typeface="经典宋体简" charset="-122"/>
              </a:rPr>
              <a:t>，而且电梯按钮</a:t>
            </a:r>
            <a:r>
              <a:rPr lang="en-US" altLang="zh-CN" sz="2400" dirty="0">
                <a:ea typeface="经典宋体简" charset="-122"/>
              </a:rPr>
              <a:t>(</a:t>
            </a:r>
            <a:r>
              <a:rPr lang="en-US" altLang="zh-CN" sz="2400" dirty="0" err="1">
                <a:ea typeface="经典宋体简" charset="-122"/>
              </a:rPr>
              <a:t>e,f</a:t>
            </a:r>
            <a:r>
              <a:rPr lang="en-US" altLang="zh-CN" sz="2400" dirty="0">
                <a:ea typeface="经典宋体简" charset="-122"/>
              </a:rPr>
              <a:t>)</a:t>
            </a:r>
            <a:r>
              <a:rPr lang="zh-CN" altLang="en-US" sz="2400" dirty="0">
                <a:ea typeface="经典宋体简" charset="-122"/>
              </a:rPr>
              <a:t>被按下</a:t>
            </a:r>
            <a:r>
              <a:rPr lang="en-US" altLang="zh-CN" sz="2400" dirty="0">
                <a:ea typeface="经典宋体简" charset="-122"/>
              </a:rPr>
              <a:t>〔</a:t>
            </a:r>
            <a:r>
              <a:rPr lang="zh-CN" altLang="en-US" sz="2400" dirty="0">
                <a:ea typeface="经典宋体简" charset="-122"/>
              </a:rPr>
              <a:t>事件</a:t>
            </a:r>
            <a:r>
              <a:rPr lang="en-US" altLang="zh-CN" sz="2400" dirty="0">
                <a:ea typeface="经典宋体简" charset="-122"/>
              </a:rPr>
              <a:t>〕</a:t>
            </a:r>
            <a:r>
              <a:rPr lang="zh-CN" altLang="en-US" sz="2400" dirty="0">
                <a:ea typeface="经典宋体简" charset="-122"/>
              </a:rPr>
              <a:t>，而且电梯</a:t>
            </a:r>
            <a:r>
              <a:rPr lang="en-US" altLang="zh-CN" sz="2400" dirty="0">
                <a:ea typeface="经典宋体简" charset="-122"/>
              </a:rPr>
              <a:t>e</a:t>
            </a:r>
            <a:r>
              <a:rPr lang="zh-CN" altLang="en-US" sz="2400" dirty="0">
                <a:ea typeface="经典宋体简" charset="-122"/>
              </a:rPr>
              <a:t>不在</a:t>
            </a:r>
            <a:r>
              <a:rPr lang="en-US" altLang="zh-CN" sz="2400" dirty="0">
                <a:ea typeface="经典宋体简" charset="-122"/>
              </a:rPr>
              <a:t>f</a:t>
            </a:r>
            <a:r>
              <a:rPr lang="zh-CN" altLang="en-US" sz="2400" dirty="0">
                <a:ea typeface="经典宋体简" charset="-122"/>
              </a:rPr>
              <a:t>层</a:t>
            </a:r>
            <a:r>
              <a:rPr lang="en-US" altLang="zh-CN" sz="2400" dirty="0">
                <a:ea typeface="经典宋体简" charset="-122"/>
              </a:rPr>
              <a:t>〔</a:t>
            </a:r>
            <a:r>
              <a:rPr lang="zh-CN" altLang="en-US" sz="2400" dirty="0">
                <a:ea typeface="经典宋体简" charset="-122"/>
              </a:rPr>
              <a:t>谓词</a:t>
            </a:r>
            <a:r>
              <a:rPr lang="en-US" altLang="zh-CN" sz="2400" dirty="0">
                <a:ea typeface="经典宋体简" charset="-122"/>
              </a:rPr>
              <a:t>〕</a:t>
            </a:r>
            <a:r>
              <a:rPr lang="zh-CN" altLang="en-US" sz="2400" dirty="0">
                <a:ea typeface="经典宋体简" charset="-122"/>
              </a:rPr>
              <a:t>，则该电梯按钮打开发光</a:t>
            </a:r>
            <a:r>
              <a:rPr lang="en-US" altLang="zh-CN" sz="2400" dirty="0">
                <a:ea typeface="经典宋体简" charset="-122"/>
              </a:rPr>
              <a:t>〔</a:t>
            </a:r>
            <a:r>
              <a:rPr lang="zh-CN" altLang="en-US" sz="2400" dirty="0">
                <a:ea typeface="经典宋体简" charset="-122"/>
              </a:rPr>
              <a:t>下个状态</a:t>
            </a:r>
            <a:r>
              <a:rPr lang="en-US" altLang="zh-CN" sz="2400" dirty="0">
                <a:ea typeface="经典宋体简" charset="-122"/>
              </a:rPr>
              <a:t>〕</a:t>
            </a:r>
            <a:r>
              <a:rPr lang="zh-CN" altLang="en-US" sz="2400"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5437116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85</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状态转换规则的形式化描述如下：</a:t>
            </a:r>
          </a:p>
          <a:p>
            <a:pPr marL="0" indent="0" algn="ctr" eaLnBrk="1" hangingPunct="1">
              <a:lnSpc>
                <a:spcPct val="150000"/>
              </a:lnSpc>
              <a:buNone/>
            </a:pPr>
            <a:r>
              <a:rPr lang="en-US" altLang="zh-CN" sz="2400" b="1" dirty="0">
                <a:ea typeface="经典宋体简" charset="-122"/>
              </a:rPr>
              <a:t>EBOFF(</a:t>
            </a:r>
            <a:r>
              <a:rPr lang="en-US" altLang="zh-CN" sz="2400" b="1" dirty="0" err="1">
                <a:ea typeface="经典宋体简" charset="-122"/>
              </a:rPr>
              <a:t>e,f</a:t>
            </a:r>
            <a:r>
              <a:rPr lang="en-US" altLang="zh-CN" sz="2400" b="1" dirty="0">
                <a:ea typeface="经典宋体简" charset="-122"/>
              </a:rPr>
              <a:t>)+EBP(</a:t>
            </a:r>
            <a:r>
              <a:rPr lang="en-US" altLang="zh-CN" sz="2400" b="1" dirty="0" err="1">
                <a:ea typeface="经典宋体简" charset="-122"/>
              </a:rPr>
              <a:t>e,f</a:t>
            </a:r>
            <a:r>
              <a:rPr lang="en-US" altLang="zh-CN" sz="2400" b="1" dirty="0">
                <a:ea typeface="经典宋体简" charset="-122"/>
              </a:rPr>
              <a:t>)+</a:t>
            </a:r>
            <a:r>
              <a:rPr lang="en-US" altLang="zh-CN" sz="2400" b="1" dirty="0">
                <a:solidFill>
                  <a:srgbClr val="C00000"/>
                </a:solidFill>
                <a:ea typeface="经典宋体简" charset="-122"/>
              </a:rPr>
              <a:t>not V(</a:t>
            </a:r>
            <a:r>
              <a:rPr lang="en-US" altLang="zh-CN" sz="2400" b="1" dirty="0" err="1">
                <a:solidFill>
                  <a:srgbClr val="C00000"/>
                </a:solidFill>
                <a:ea typeface="经典宋体简" charset="-122"/>
              </a:rPr>
              <a:t>e,f</a:t>
            </a:r>
            <a:r>
              <a:rPr lang="en-US" altLang="zh-CN" sz="2400" b="1" dirty="0">
                <a:solidFill>
                  <a:srgbClr val="C00000"/>
                </a:solidFill>
                <a:ea typeface="经典宋体简" charset="-122"/>
              </a:rPr>
              <a:t>)</a:t>
            </a:r>
            <a:r>
              <a:rPr lang="en-US" altLang="zh-CN" sz="2400" b="1" dirty="0">
                <a:ea typeface="经典宋体简" charset="-122"/>
              </a:rPr>
              <a:t>=&gt;EBON(</a:t>
            </a:r>
            <a:r>
              <a:rPr lang="en-US" altLang="zh-CN" sz="2400" b="1" dirty="0" err="1">
                <a:ea typeface="经典宋体简" charset="-122"/>
              </a:rPr>
              <a:t>e,f</a:t>
            </a:r>
            <a:r>
              <a:rPr lang="en-US" altLang="zh-CN" sz="2400" b="1" dirty="0">
                <a:ea typeface="经典宋体简" charset="-122"/>
              </a:rPr>
              <a:t>)</a:t>
            </a:r>
          </a:p>
          <a:p>
            <a:pPr eaLnBrk="1" hangingPunct="1">
              <a:lnSpc>
                <a:spcPct val="150000"/>
              </a:lnSpc>
            </a:pPr>
            <a:r>
              <a:rPr lang="zh-CN" altLang="en-US" sz="2400" dirty="0">
                <a:ea typeface="经典宋体简" charset="-122"/>
              </a:rPr>
              <a:t>反之，如果电梯到达</a:t>
            </a:r>
            <a:r>
              <a:rPr lang="en-US" altLang="zh-CN" sz="2400" dirty="0">
                <a:ea typeface="经典宋体简" charset="-122"/>
              </a:rPr>
              <a:t>f</a:t>
            </a:r>
            <a:r>
              <a:rPr lang="zh-CN" altLang="en-US" sz="2400" dirty="0">
                <a:ea typeface="经典宋体简" charset="-122"/>
              </a:rPr>
              <a:t>层，而且电梯按钮是打开的，于是它就会熄灭。</a:t>
            </a:r>
          </a:p>
          <a:p>
            <a:pPr eaLnBrk="1" hangingPunct="1">
              <a:lnSpc>
                <a:spcPct val="150000"/>
              </a:lnSpc>
            </a:pPr>
            <a:r>
              <a:rPr lang="zh-CN" altLang="en-US" sz="2400" dirty="0">
                <a:ea typeface="经典宋体简" charset="-122"/>
              </a:rPr>
              <a:t>这条转换规则可以形式化地表示为：</a:t>
            </a:r>
          </a:p>
          <a:p>
            <a:pPr marL="0" indent="0" algn="ctr" eaLnBrk="1" hangingPunct="1">
              <a:lnSpc>
                <a:spcPct val="150000"/>
              </a:lnSpc>
              <a:buNone/>
            </a:pPr>
            <a:r>
              <a:rPr lang="en-US" altLang="zh-CN" sz="2400" b="1" dirty="0">
                <a:ea typeface="经典宋体简" charset="-122"/>
              </a:rPr>
              <a:t>EBON(</a:t>
            </a:r>
            <a:r>
              <a:rPr lang="en-US" altLang="zh-CN" sz="2400" b="1" dirty="0" err="1">
                <a:ea typeface="经典宋体简" charset="-122"/>
              </a:rPr>
              <a:t>e,f</a:t>
            </a:r>
            <a:r>
              <a:rPr lang="en-US" altLang="zh-CN" sz="2400" b="1" dirty="0">
                <a:ea typeface="经典宋体简" charset="-122"/>
              </a:rPr>
              <a:t>)+EAF(</a:t>
            </a:r>
            <a:r>
              <a:rPr lang="en-US" altLang="zh-CN" sz="2400" b="1" dirty="0" err="1">
                <a:ea typeface="经典宋体简" charset="-122"/>
              </a:rPr>
              <a:t>e,f</a:t>
            </a:r>
            <a:r>
              <a:rPr lang="en-US" altLang="zh-CN" sz="2400" b="1" dirty="0">
                <a:ea typeface="经典宋体简" charset="-122"/>
              </a:rPr>
              <a:t>) =&gt;EBOFF(</a:t>
            </a:r>
            <a:r>
              <a:rPr lang="en-US" altLang="zh-CN" sz="2400" b="1" dirty="0" err="1">
                <a:ea typeface="经典宋体简" charset="-122"/>
              </a:rPr>
              <a:t>e,f</a:t>
            </a:r>
            <a:r>
              <a:rPr lang="en-US" altLang="zh-CN" sz="2400" b="1"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10">
            <a:extLst>
              <a:ext uri="{FF2B5EF4-FFF2-40B4-BE49-F238E27FC236}">
                <a16:creationId xmlns:a16="http://schemas.microsoft.com/office/drawing/2014/main" id="{5832A66B-C90F-4ED8-87E6-F55B0FD5BE70}"/>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9843" y="5339798"/>
            <a:ext cx="4370388" cy="793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80057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86</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r>
              <a:rPr lang="zh-CN" altLang="en-US" sz="2400" dirty="0">
                <a:ea typeface="经典宋体简" charset="-122"/>
              </a:rPr>
              <a:t>楼层按钮的有穷状态机：令</a:t>
            </a:r>
            <a:r>
              <a:rPr lang="en-US" altLang="zh-CN" sz="2400" dirty="0">
                <a:ea typeface="经典宋体简" charset="-122"/>
              </a:rPr>
              <a:t>FB(</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表示</a:t>
            </a:r>
            <a:r>
              <a:rPr lang="en-US" altLang="zh-CN" sz="2400" dirty="0">
                <a:ea typeface="经典宋体简" charset="-122"/>
              </a:rPr>
              <a:t>f</a:t>
            </a:r>
            <a:r>
              <a:rPr lang="zh-CN" altLang="en-US" sz="2400" dirty="0">
                <a:ea typeface="经典宋体简" charset="-122"/>
              </a:rPr>
              <a:t>层请求电梯向</a:t>
            </a:r>
            <a:r>
              <a:rPr lang="en-US" altLang="zh-CN" sz="2400" dirty="0">
                <a:ea typeface="经典宋体简" charset="-122"/>
              </a:rPr>
              <a:t>d</a:t>
            </a:r>
            <a:r>
              <a:rPr lang="zh-CN" altLang="en-US" sz="2400" dirty="0">
                <a:ea typeface="经典宋体简" charset="-122"/>
              </a:rPr>
              <a:t>方向运动的按钮，楼层按钮</a:t>
            </a:r>
            <a:r>
              <a:rPr lang="en-US" altLang="zh-CN" sz="2400" dirty="0">
                <a:ea typeface="经典宋体简" charset="-122"/>
              </a:rPr>
              <a:t>FB(</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的状态转换图如图所示</a:t>
            </a:r>
            <a:r>
              <a:rPr lang="en-US" altLang="zh-CN" sz="2400" dirty="0">
                <a:ea typeface="经典宋体简" charset="-122"/>
              </a:rPr>
              <a:t>,</a:t>
            </a:r>
            <a:r>
              <a:rPr lang="zh-CN" altLang="en-US" sz="2400" dirty="0">
                <a:ea typeface="经典宋体简" charset="-122"/>
              </a:rPr>
              <a:t>楼层按钮的状态如下。</a:t>
            </a:r>
          </a:p>
          <a:p>
            <a:pPr marL="0" indent="0" algn="ctr" eaLnBrk="1" hangingPunct="1">
              <a:buNone/>
            </a:pPr>
            <a:r>
              <a:rPr lang="en-US" altLang="zh-CN" sz="2400" dirty="0">
                <a:ea typeface="经典宋体简" charset="-122"/>
              </a:rPr>
              <a:t>FBON(</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：楼层按钮</a:t>
            </a:r>
            <a:r>
              <a:rPr lang="en-US" altLang="zh-CN" sz="2400" dirty="0">
                <a:ea typeface="经典宋体简" charset="-122"/>
              </a:rPr>
              <a:t>(</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打开</a:t>
            </a:r>
          </a:p>
          <a:p>
            <a:pPr marL="0" indent="0" algn="ctr" eaLnBrk="1" hangingPunct="1">
              <a:buNone/>
            </a:pPr>
            <a:r>
              <a:rPr lang="en-US" altLang="zh-CN" sz="2400" dirty="0">
                <a:ea typeface="经典宋体简" charset="-122"/>
              </a:rPr>
              <a:t>FBOFF(</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：楼层按钮</a:t>
            </a:r>
            <a:r>
              <a:rPr lang="en-US" altLang="zh-CN" sz="2400" dirty="0">
                <a:ea typeface="经典宋体简" charset="-122"/>
              </a:rPr>
              <a:t>(</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关闭</a:t>
            </a:r>
          </a:p>
          <a:p>
            <a:pPr eaLnBrk="1" hangingPunct="1"/>
            <a:r>
              <a:rPr lang="zh-CN" altLang="en-US" sz="2400" dirty="0">
                <a:ea typeface="经典宋体简" charset="-122"/>
              </a:rPr>
              <a:t>楼层按钮已经打开，一部电梯到达</a:t>
            </a:r>
            <a:r>
              <a:rPr lang="en-US" altLang="zh-CN" sz="2400" dirty="0">
                <a:ea typeface="经典宋体简" charset="-122"/>
              </a:rPr>
              <a:t>f</a:t>
            </a:r>
            <a:r>
              <a:rPr lang="zh-CN" altLang="en-US" sz="2400" dirty="0">
                <a:ea typeface="经典宋体简" charset="-122"/>
              </a:rPr>
              <a:t>层则按钮关闭。</a:t>
            </a:r>
          </a:p>
          <a:p>
            <a:pPr eaLnBrk="1" hangingPunct="1"/>
            <a:r>
              <a:rPr lang="zh-CN" altLang="en-US" sz="2400" dirty="0">
                <a:ea typeface="经典宋体简" charset="-122"/>
              </a:rPr>
              <a:t>楼层按钮原来是关闭的，被按下后该按钮将打开。</a:t>
            </a:r>
          </a:p>
          <a:p>
            <a:pPr marL="0" indent="0" algn="ctr" eaLnBrk="1" hangingPunct="1">
              <a:buNone/>
            </a:pPr>
            <a:r>
              <a:rPr lang="en-US" altLang="zh-CN" sz="2400" dirty="0">
                <a:ea typeface="经典宋体简" charset="-122"/>
              </a:rPr>
              <a:t>FBP(</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：楼层按钮</a:t>
            </a:r>
            <a:r>
              <a:rPr lang="en-US" altLang="zh-CN" sz="2400" dirty="0">
                <a:ea typeface="经典宋体简" charset="-122"/>
              </a:rPr>
              <a:t>(</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被按下</a:t>
            </a:r>
          </a:p>
          <a:p>
            <a:pPr marL="0" indent="0" algn="ctr" eaLnBrk="1" hangingPunct="1">
              <a:buNone/>
            </a:pPr>
            <a:r>
              <a:rPr lang="en-US" altLang="zh-CN" sz="2400" dirty="0">
                <a:ea typeface="经典宋体简" charset="-122"/>
              </a:rPr>
              <a:t>EAF(1…</a:t>
            </a:r>
            <a:r>
              <a:rPr lang="en-US" altLang="zh-CN" sz="2400" dirty="0" err="1">
                <a:ea typeface="经典宋体简" charset="-122"/>
              </a:rPr>
              <a:t>n,f</a:t>
            </a:r>
            <a:r>
              <a:rPr lang="en-US" altLang="zh-CN" sz="2400" dirty="0">
                <a:ea typeface="经典宋体简" charset="-122"/>
              </a:rPr>
              <a:t>)</a:t>
            </a:r>
            <a:r>
              <a:rPr lang="zh-CN" altLang="en-US" sz="2400" dirty="0">
                <a:ea typeface="经典宋体简" charset="-122"/>
              </a:rPr>
              <a:t>：电梯</a:t>
            </a:r>
            <a:r>
              <a:rPr lang="en-US" altLang="zh-CN" sz="2400" dirty="0">
                <a:ea typeface="经典宋体简" charset="-122"/>
              </a:rPr>
              <a:t>1</a:t>
            </a:r>
            <a:r>
              <a:rPr lang="zh-CN" altLang="en-US" sz="2400" dirty="0">
                <a:ea typeface="经典宋体简" charset="-122"/>
              </a:rPr>
              <a:t>或</a:t>
            </a:r>
            <a:r>
              <a:rPr lang="en-US" altLang="zh-CN" sz="2400" dirty="0">
                <a:ea typeface="经典宋体简" charset="-122"/>
              </a:rPr>
              <a:t>…</a:t>
            </a:r>
            <a:r>
              <a:rPr lang="zh-CN" altLang="en-US" sz="2400" dirty="0">
                <a:ea typeface="经典宋体简" charset="-122"/>
              </a:rPr>
              <a:t>或</a:t>
            </a:r>
            <a:r>
              <a:rPr lang="en-US" altLang="zh-CN" sz="2400" dirty="0">
                <a:ea typeface="经典宋体简" charset="-122"/>
              </a:rPr>
              <a:t>n</a:t>
            </a:r>
            <a:r>
              <a:rPr lang="zh-CN" altLang="en-US" sz="2400" dirty="0">
                <a:ea typeface="经典宋体简" charset="-122"/>
              </a:rPr>
              <a:t>到达</a:t>
            </a:r>
            <a:r>
              <a:rPr lang="en-US" altLang="zh-CN" sz="2400" dirty="0">
                <a:ea typeface="经典宋体简" charset="-122"/>
              </a:rPr>
              <a:t>f</a:t>
            </a:r>
            <a:r>
              <a:rPr lang="zh-CN" altLang="en-US" sz="2400" dirty="0">
                <a:ea typeface="经典宋体简" charset="-122"/>
              </a:rPr>
              <a:t>层</a:t>
            </a:r>
          </a:p>
          <a:p>
            <a:pPr eaLnBrk="1" hangingPunct="1"/>
            <a:r>
              <a:rPr lang="zh-CN" altLang="en-US" sz="2400" dirty="0">
                <a:ea typeface="经典宋体简" charset="-122"/>
              </a:rPr>
              <a:t>其中，</a:t>
            </a:r>
            <a:r>
              <a:rPr lang="en-US" altLang="zh-CN" sz="2400" dirty="0">
                <a:ea typeface="经典宋体简" charset="-122"/>
              </a:rPr>
              <a:t>1…n</a:t>
            </a:r>
            <a:r>
              <a:rPr lang="zh-CN" altLang="en-US" sz="2400" dirty="0">
                <a:ea typeface="经典宋体简" charset="-122"/>
              </a:rPr>
              <a:t>表示或为</a:t>
            </a:r>
            <a:r>
              <a:rPr lang="en-US" altLang="zh-CN" sz="2400" dirty="0">
                <a:ea typeface="经典宋体简" charset="-122"/>
              </a:rPr>
              <a:t>1</a:t>
            </a:r>
            <a:r>
              <a:rPr lang="zh-CN" altLang="en-US" sz="2400" dirty="0">
                <a:ea typeface="经典宋体简" charset="-122"/>
              </a:rPr>
              <a:t>或为</a:t>
            </a:r>
            <a:r>
              <a:rPr lang="en-US" altLang="zh-CN" sz="2400" dirty="0">
                <a:ea typeface="经典宋体简" charset="-122"/>
              </a:rPr>
              <a:t>2…</a:t>
            </a:r>
            <a:r>
              <a:rPr lang="zh-CN" altLang="en-US" sz="2400" dirty="0">
                <a:ea typeface="经典宋体简" charset="-122"/>
              </a:rPr>
              <a:t>或为</a:t>
            </a:r>
            <a:r>
              <a:rPr lang="en-US" altLang="zh-CN" sz="2400" dirty="0">
                <a:ea typeface="经典宋体简" charset="-122"/>
              </a:rPr>
              <a:t>n</a:t>
            </a:r>
            <a:r>
              <a:rPr lang="zh-CN" altLang="en-US" sz="2400" dirty="0">
                <a:ea typeface="经典宋体简" charset="-122"/>
              </a:rPr>
              <a:t>。</a:t>
            </a:r>
          </a:p>
          <a:p>
            <a:pPr lvl="1" eaLnBrk="1" hangingPunct="1"/>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7" name="图片 1">
            <a:extLst>
              <a:ext uri="{FF2B5EF4-FFF2-40B4-BE49-F238E27FC236}">
                <a16:creationId xmlns:a16="http://schemas.microsoft.com/office/drawing/2014/main" id="{F56AD5E0-2141-4EEE-A031-079E303574C2}"/>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5765800"/>
            <a:ext cx="4764087"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77903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87</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r>
              <a:rPr lang="zh-CN" altLang="en-US" sz="2400" dirty="0">
                <a:ea typeface="经典宋体简" charset="-122"/>
              </a:rPr>
              <a:t>为了定义与这些事件和状态相联系的状态转换规则，需要一个</a:t>
            </a:r>
            <a:r>
              <a:rPr lang="zh-CN" altLang="en-US" sz="2400" dirty="0">
                <a:solidFill>
                  <a:srgbClr val="C00000"/>
                </a:solidFill>
                <a:ea typeface="经典宋体简" charset="-122"/>
              </a:rPr>
              <a:t>谓词</a:t>
            </a:r>
            <a:r>
              <a:rPr lang="en-US" altLang="zh-CN" sz="2400" dirty="0">
                <a:solidFill>
                  <a:srgbClr val="C00000"/>
                </a:solidFill>
                <a:ea typeface="经典宋体简" charset="-122"/>
              </a:rPr>
              <a:t>S(</a:t>
            </a:r>
            <a:r>
              <a:rPr lang="en-US" altLang="zh-CN" sz="2400" dirty="0" err="1">
                <a:solidFill>
                  <a:srgbClr val="C00000"/>
                </a:solidFill>
                <a:ea typeface="经典宋体简" charset="-122"/>
              </a:rPr>
              <a:t>d,e,f</a:t>
            </a:r>
            <a:r>
              <a:rPr lang="en-US" altLang="zh-CN" sz="2400" dirty="0">
                <a:solidFill>
                  <a:srgbClr val="C00000"/>
                </a:solidFill>
                <a:ea typeface="经典宋体简" charset="-122"/>
              </a:rPr>
              <a:t>)</a:t>
            </a:r>
            <a:r>
              <a:rPr lang="zh-CN" altLang="en-US" sz="2400" dirty="0">
                <a:ea typeface="经典宋体简" charset="-122"/>
              </a:rPr>
              <a:t>，定义如下：</a:t>
            </a:r>
            <a:r>
              <a:rPr lang="en-US" altLang="zh-CN" sz="2400" dirty="0">
                <a:solidFill>
                  <a:srgbClr val="C00000"/>
                </a:solidFill>
                <a:ea typeface="经典宋体简" charset="-122"/>
              </a:rPr>
              <a:t>S(</a:t>
            </a:r>
            <a:r>
              <a:rPr lang="en-US" altLang="zh-CN" sz="2400" dirty="0" err="1">
                <a:solidFill>
                  <a:srgbClr val="C00000"/>
                </a:solidFill>
                <a:ea typeface="经典宋体简" charset="-122"/>
              </a:rPr>
              <a:t>d,e,f</a:t>
            </a:r>
            <a:r>
              <a:rPr lang="en-US" altLang="zh-CN" sz="2400" dirty="0">
                <a:solidFill>
                  <a:srgbClr val="C00000"/>
                </a:solidFill>
                <a:ea typeface="经典宋体简" charset="-122"/>
              </a:rPr>
              <a:t>)</a:t>
            </a:r>
            <a:r>
              <a:rPr lang="zh-CN" altLang="en-US" sz="2400" dirty="0">
                <a:solidFill>
                  <a:srgbClr val="C00000"/>
                </a:solidFill>
                <a:ea typeface="经典宋体简" charset="-122"/>
              </a:rPr>
              <a:t>：电梯</a:t>
            </a:r>
            <a:r>
              <a:rPr lang="en-US" altLang="zh-CN" sz="2400" dirty="0">
                <a:solidFill>
                  <a:srgbClr val="C00000"/>
                </a:solidFill>
                <a:ea typeface="经典宋体简" charset="-122"/>
              </a:rPr>
              <a:t>e</a:t>
            </a:r>
            <a:r>
              <a:rPr lang="zh-CN" altLang="en-US" sz="2400" dirty="0">
                <a:solidFill>
                  <a:srgbClr val="C00000"/>
                </a:solidFill>
                <a:ea typeface="经典宋体简" charset="-122"/>
              </a:rPr>
              <a:t>停在</a:t>
            </a:r>
            <a:r>
              <a:rPr lang="en-US" altLang="zh-CN" sz="2400" dirty="0">
                <a:solidFill>
                  <a:srgbClr val="C00000"/>
                </a:solidFill>
                <a:ea typeface="经典宋体简" charset="-122"/>
              </a:rPr>
              <a:t>f</a:t>
            </a:r>
            <a:r>
              <a:rPr lang="zh-CN" altLang="en-US" sz="2400" dirty="0">
                <a:solidFill>
                  <a:srgbClr val="C00000"/>
                </a:solidFill>
                <a:ea typeface="经典宋体简" charset="-122"/>
              </a:rPr>
              <a:t>层并且移动方向由</a:t>
            </a:r>
            <a:r>
              <a:rPr lang="en-US" altLang="zh-CN" sz="2400" dirty="0">
                <a:solidFill>
                  <a:srgbClr val="C00000"/>
                </a:solidFill>
                <a:ea typeface="经典宋体简" charset="-122"/>
              </a:rPr>
              <a:t>d</a:t>
            </a:r>
            <a:r>
              <a:rPr lang="zh-CN" altLang="en-US" sz="2400" dirty="0">
                <a:solidFill>
                  <a:srgbClr val="C00000"/>
                </a:solidFill>
                <a:ea typeface="经典宋体简" charset="-122"/>
              </a:rPr>
              <a:t>确定为向上</a:t>
            </a:r>
            <a:r>
              <a:rPr lang="en-US" altLang="zh-CN" sz="2400" dirty="0">
                <a:solidFill>
                  <a:srgbClr val="C00000"/>
                </a:solidFill>
                <a:ea typeface="经典宋体简" charset="-122"/>
              </a:rPr>
              <a:t>(d=U)</a:t>
            </a:r>
            <a:r>
              <a:rPr lang="zh-CN" altLang="en-US" sz="2400" dirty="0">
                <a:solidFill>
                  <a:srgbClr val="C00000"/>
                </a:solidFill>
                <a:ea typeface="经典宋体简" charset="-122"/>
              </a:rPr>
              <a:t>或向下</a:t>
            </a:r>
            <a:r>
              <a:rPr lang="en-US" altLang="zh-CN" sz="2400" dirty="0">
                <a:solidFill>
                  <a:srgbClr val="C00000"/>
                </a:solidFill>
                <a:ea typeface="经典宋体简" charset="-122"/>
              </a:rPr>
              <a:t>(d=D)</a:t>
            </a:r>
            <a:r>
              <a:rPr lang="zh-CN" altLang="en-US" sz="2400" dirty="0">
                <a:solidFill>
                  <a:srgbClr val="C00000"/>
                </a:solidFill>
                <a:ea typeface="经典宋体简" charset="-122"/>
              </a:rPr>
              <a:t> </a:t>
            </a:r>
            <a:r>
              <a:rPr lang="zh-CN" altLang="en-US" sz="2400" dirty="0">
                <a:ea typeface="经典宋体简" charset="-122"/>
              </a:rPr>
              <a:t>。</a:t>
            </a:r>
          </a:p>
          <a:p>
            <a:pPr eaLnBrk="1" hangingPunct="1"/>
            <a:r>
              <a:rPr lang="zh-CN" altLang="en-US" sz="2400" dirty="0">
                <a:ea typeface="经典宋体简" charset="-122"/>
              </a:rPr>
              <a:t>这个谓词是一个状态，形式化方法允许把事件和状态作为谓词对待。</a:t>
            </a:r>
          </a:p>
          <a:p>
            <a:pPr eaLnBrk="1" hangingPunct="1"/>
            <a:r>
              <a:rPr lang="zh-CN" altLang="en-US" sz="2400" dirty="0">
                <a:ea typeface="经典宋体简" charset="-122"/>
              </a:rPr>
              <a:t>使用谓词</a:t>
            </a:r>
            <a:r>
              <a:rPr lang="en-US" altLang="zh-CN" sz="2400" dirty="0">
                <a:ea typeface="经典宋体简" charset="-122"/>
              </a:rPr>
              <a:t>S(</a:t>
            </a:r>
            <a:r>
              <a:rPr lang="en-US" altLang="zh-CN" sz="2400" dirty="0" err="1">
                <a:ea typeface="经典宋体简" charset="-122"/>
              </a:rPr>
              <a:t>d,e,f</a:t>
            </a:r>
            <a:r>
              <a:rPr lang="en-US" altLang="zh-CN" sz="2400" dirty="0">
                <a:ea typeface="经典宋体简" charset="-122"/>
              </a:rPr>
              <a:t>)</a:t>
            </a:r>
            <a:r>
              <a:rPr lang="zh-CN" altLang="en-US" sz="2400" dirty="0">
                <a:ea typeface="经典宋体简" charset="-122"/>
              </a:rPr>
              <a:t>，形式化转换规则为：</a:t>
            </a:r>
          </a:p>
          <a:p>
            <a:pPr marL="0" indent="0" algn="ctr" eaLnBrk="1" hangingPunct="1">
              <a:buNone/>
            </a:pPr>
            <a:r>
              <a:rPr lang="en-US" altLang="zh-CN" sz="2400" b="1" dirty="0">
                <a:ea typeface="经典宋体简" charset="-122"/>
              </a:rPr>
              <a:t>FBOFF(</a:t>
            </a:r>
            <a:r>
              <a:rPr lang="en-US" altLang="zh-CN" sz="2400" b="1" dirty="0" err="1">
                <a:ea typeface="经典宋体简" charset="-122"/>
              </a:rPr>
              <a:t>d,f</a:t>
            </a:r>
            <a:r>
              <a:rPr lang="en-US" altLang="zh-CN" sz="2400" b="1" dirty="0">
                <a:ea typeface="经典宋体简" charset="-122"/>
              </a:rPr>
              <a:t>)+FBP(</a:t>
            </a:r>
            <a:r>
              <a:rPr lang="en-US" altLang="zh-CN" sz="2400" b="1" dirty="0" err="1">
                <a:ea typeface="经典宋体简" charset="-122"/>
              </a:rPr>
              <a:t>d,f</a:t>
            </a:r>
            <a:r>
              <a:rPr lang="en-US" altLang="zh-CN" sz="2400" b="1" dirty="0">
                <a:ea typeface="经典宋体简" charset="-122"/>
              </a:rPr>
              <a:t>)+</a:t>
            </a:r>
            <a:r>
              <a:rPr lang="en-US" altLang="zh-CN" sz="2400" b="1" dirty="0">
                <a:solidFill>
                  <a:srgbClr val="C00000"/>
                </a:solidFill>
                <a:ea typeface="经典宋体简" charset="-122"/>
              </a:rPr>
              <a:t>not S(d,1…</a:t>
            </a:r>
            <a:r>
              <a:rPr lang="en-US" altLang="zh-CN" sz="2400" b="1" dirty="0" err="1">
                <a:solidFill>
                  <a:srgbClr val="C00000"/>
                </a:solidFill>
                <a:ea typeface="经典宋体简" charset="-122"/>
              </a:rPr>
              <a:t>n,f</a:t>
            </a:r>
            <a:r>
              <a:rPr lang="en-US" altLang="zh-CN" sz="2400" b="1" dirty="0">
                <a:solidFill>
                  <a:srgbClr val="C00000"/>
                </a:solidFill>
                <a:ea typeface="经典宋体简" charset="-122"/>
              </a:rPr>
              <a:t>) </a:t>
            </a:r>
            <a:r>
              <a:rPr lang="en-US" altLang="zh-CN" sz="2400" b="1" dirty="0">
                <a:ea typeface="经典宋体简" charset="-122"/>
              </a:rPr>
              <a:t>=&gt;FBON(</a:t>
            </a:r>
            <a:r>
              <a:rPr lang="en-US" altLang="zh-CN" sz="2400" b="1" dirty="0" err="1">
                <a:ea typeface="经典宋体简" charset="-122"/>
              </a:rPr>
              <a:t>d,f</a:t>
            </a:r>
            <a:r>
              <a:rPr lang="en-US" altLang="zh-CN" sz="2400" b="1" dirty="0">
                <a:ea typeface="经典宋体简" charset="-122"/>
              </a:rPr>
              <a:t>)</a:t>
            </a:r>
          </a:p>
          <a:p>
            <a:pPr marL="0" indent="0" algn="ctr" eaLnBrk="1" hangingPunct="1">
              <a:buNone/>
            </a:pPr>
            <a:r>
              <a:rPr lang="en-US" altLang="zh-CN" sz="2400" b="1" dirty="0">
                <a:ea typeface="经典宋体简" charset="-122"/>
              </a:rPr>
              <a:t>FBON(</a:t>
            </a:r>
            <a:r>
              <a:rPr lang="en-US" altLang="zh-CN" sz="2400" b="1" dirty="0" err="1">
                <a:ea typeface="经典宋体简" charset="-122"/>
              </a:rPr>
              <a:t>d,f</a:t>
            </a:r>
            <a:r>
              <a:rPr lang="en-US" altLang="zh-CN" sz="2400" b="1" dirty="0">
                <a:ea typeface="经典宋体简" charset="-122"/>
              </a:rPr>
              <a:t>)+EAF(1…</a:t>
            </a:r>
            <a:r>
              <a:rPr lang="en-US" altLang="zh-CN" sz="2400" b="1" dirty="0" err="1">
                <a:ea typeface="经典宋体简" charset="-122"/>
              </a:rPr>
              <a:t>n,f</a:t>
            </a:r>
            <a:r>
              <a:rPr lang="en-US" altLang="zh-CN" sz="2400" b="1" dirty="0">
                <a:ea typeface="经典宋体简" charset="-122"/>
              </a:rPr>
              <a:t>)+</a:t>
            </a:r>
            <a:r>
              <a:rPr lang="en-US" altLang="zh-CN" sz="2400" b="1" dirty="0">
                <a:solidFill>
                  <a:srgbClr val="C00000"/>
                </a:solidFill>
                <a:ea typeface="经典宋体简" charset="-122"/>
              </a:rPr>
              <a:t>S(d,1…</a:t>
            </a:r>
            <a:r>
              <a:rPr lang="en-US" altLang="zh-CN" sz="2400" b="1" dirty="0" err="1">
                <a:solidFill>
                  <a:srgbClr val="C00000"/>
                </a:solidFill>
                <a:ea typeface="经典宋体简" charset="-122"/>
              </a:rPr>
              <a:t>n,f</a:t>
            </a:r>
            <a:r>
              <a:rPr lang="en-US" altLang="zh-CN" sz="2400" b="1" dirty="0">
                <a:solidFill>
                  <a:srgbClr val="C00000"/>
                </a:solidFill>
                <a:ea typeface="经典宋体简" charset="-122"/>
              </a:rPr>
              <a:t>) </a:t>
            </a:r>
            <a:r>
              <a:rPr lang="en-US" altLang="zh-CN" sz="2400" b="1" dirty="0">
                <a:ea typeface="经典宋体简" charset="-122"/>
              </a:rPr>
              <a:t>=&gt;FBOFF(</a:t>
            </a:r>
            <a:r>
              <a:rPr lang="en-US" altLang="zh-CN" sz="2400" b="1" dirty="0" err="1">
                <a:ea typeface="经典宋体简" charset="-122"/>
              </a:rPr>
              <a:t>d,f</a:t>
            </a:r>
            <a:r>
              <a:rPr lang="en-US" altLang="zh-CN" sz="2400" b="1" dirty="0">
                <a:ea typeface="经典宋体简" charset="-122"/>
              </a:rPr>
              <a:t>)</a:t>
            </a:r>
          </a:p>
          <a:p>
            <a:pPr eaLnBrk="1" hangingPunct="1"/>
            <a:r>
              <a:rPr lang="zh-CN" altLang="en-US" sz="2400" dirty="0">
                <a:ea typeface="经典宋体简" charset="-122"/>
              </a:rPr>
              <a:t>其中，</a:t>
            </a:r>
            <a:r>
              <a:rPr lang="en-US" altLang="zh-CN" sz="2400" dirty="0">
                <a:ea typeface="经典宋体简" charset="-122"/>
              </a:rPr>
              <a:t>d=</a:t>
            </a:r>
            <a:r>
              <a:rPr lang="en-US" altLang="zh-CN" sz="2400" dirty="0" err="1">
                <a:ea typeface="经典宋体简" charset="-122"/>
              </a:rPr>
              <a:t>UorD</a:t>
            </a:r>
            <a:r>
              <a:rPr lang="zh-CN" altLang="en-US" sz="2400" dirty="0">
                <a:ea typeface="经典宋体简" charset="-122"/>
              </a:rPr>
              <a:t>。</a:t>
            </a:r>
          </a:p>
          <a:p>
            <a:pPr lvl="1" eaLnBrk="1" hangingPunct="1"/>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7" name="图片 1">
            <a:extLst>
              <a:ext uri="{FF2B5EF4-FFF2-40B4-BE49-F238E27FC236}">
                <a16:creationId xmlns:a16="http://schemas.microsoft.com/office/drawing/2014/main" id="{F56AD5E0-2141-4EEE-A031-079E303574C2}"/>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6931" y="5340280"/>
            <a:ext cx="4764087"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87863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88</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有穷状态机方法采用了一种简单的格式来描述规格说明：</a:t>
            </a:r>
          </a:p>
          <a:p>
            <a:pPr marL="0" indent="0" algn="ctr" eaLnBrk="1" hangingPunct="1">
              <a:lnSpc>
                <a:spcPct val="150000"/>
              </a:lnSpc>
              <a:spcAft>
                <a:spcPts val="600"/>
              </a:spcAft>
              <a:buNone/>
            </a:pPr>
            <a:r>
              <a:rPr lang="zh-CN" altLang="en-US" sz="2400" b="1" dirty="0">
                <a:solidFill>
                  <a:srgbClr val="FF0000"/>
                </a:solidFill>
                <a:ea typeface="经典宋体简" charset="-122"/>
              </a:rPr>
              <a:t>当前状态</a:t>
            </a:r>
            <a:r>
              <a:rPr lang="en-US" altLang="zh-CN" sz="2400" b="1" dirty="0">
                <a:solidFill>
                  <a:srgbClr val="FF0000"/>
                </a:solidFill>
                <a:ea typeface="经典宋体简" charset="-122"/>
              </a:rPr>
              <a:t>+</a:t>
            </a:r>
            <a:r>
              <a:rPr lang="zh-CN" altLang="en-US" sz="2400" b="1" dirty="0">
                <a:solidFill>
                  <a:srgbClr val="FF0000"/>
                </a:solidFill>
                <a:ea typeface="经典宋体简" charset="-122"/>
              </a:rPr>
              <a:t>事件</a:t>
            </a:r>
            <a:r>
              <a:rPr lang="en-US" altLang="zh-CN" sz="2400" b="1" dirty="0">
                <a:solidFill>
                  <a:srgbClr val="FF0000"/>
                </a:solidFill>
                <a:ea typeface="经典宋体简" charset="-122"/>
              </a:rPr>
              <a:t>+</a:t>
            </a:r>
            <a:r>
              <a:rPr lang="zh-CN" altLang="en-US" sz="2400" b="1" dirty="0">
                <a:solidFill>
                  <a:srgbClr val="FF0000"/>
                </a:solidFill>
                <a:ea typeface="经典宋体简" charset="-122"/>
              </a:rPr>
              <a:t>谓词</a:t>
            </a:r>
            <a:r>
              <a:rPr lang="en-US" altLang="zh-CN" sz="2400" b="1" dirty="0">
                <a:solidFill>
                  <a:srgbClr val="FF0000"/>
                </a:solidFill>
                <a:ea typeface="经典宋体简" charset="-122"/>
              </a:rPr>
              <a:t>=&gt;</a:t>
            </a:r>
            <a:r>
              <a:rPr lang="zh-CN" altLang="en-US" sz="2400" b="1" dirty="0">
                <a:solidFill>
                  <a:srgbClr val="FF0000"/>
                </a:solidFill>
                <a:ea typeface="经典宋体简" charset="-122"/>
              </a:rPr>
              <a:t>下个状态</a:t>
            </a:r>
          </a:p>
          <a:p>
            <a:pPr eaLnBrk="1" hangingPunct="1">
              <a:lnSpc>
                <a:spcPct val="150000"/>
              </a:lnSpc>
            </a:pPr>
            <a:r>
              <a:rPr lang="zh-CN" altLang="en-US" sz="2400" dirty="0">
                <a:ea typeface="经典宋体简" charset="-122"/>
              </a:rPr>
              <a:t>优点：这种形式的规格说明易于书写、易于验证，而且可以比较容易地把它转变成设计或程序代码。有穷状态机方法比数据流图技术更精确，而且和它一样易于理解。</a:t>
            </a:r>
            <a:endParaRPr lang="en-US" altLang="zh-CN" sz="2400" dirty="0">
              <a:ea typeface="经典宋体简" charset="-122"/>
            </a:endParaRPr>
          </a:p>
          <a:p>
            <a:pPr eaLnBrk="1" hangingPunct="1">
              <a:lnSpc>
                <a:spcPct val="150000"/>
              </a:lnSpc>
            </a:pPr>
            <a:r>
              <a:rPr lang="zh-CN" altLang="en-US" sz="2400" dirty="0">
                <a:ea typeface="经典宋体简" charset="-122"/>
              </a:rPr>
              <a:t>缺点：</a:t>
            </a:r>
            <a:r>
              <a:rPr lang="zh-CN" altLang="en-US" sz="2000" dirty="0">
                <a:ea typeface="经典宋体简" charset="-122"/>
              </a:rPr>
              <a:t>在开发一个大系统时三元组</a:t>
            </a:r>
            <a:r>
              <a:rPr lang="en-US" altLang="zh-CN" sz="2000" dirty="0">
                <a:ea typeface="经典宋体简" charset="-122"/>
              </a:rPr>
              <a:t>(</a:t>
            </a:r>
            <a:r>
              <a:rPr lang="zh-CN" altLang="en-US" sz="2000" dirty="0">
                <a:ea typeface="经典宋体简" charset="-122"/>
              </a:rPr>
              <a:t>即状态、事件、谓词</a:t>
            </a:r>
            <a:r>
              <a:rPr lang="en-US" altLang="zh-CN" sz="2000" dirty="0">
                <a:ea typeface="经典宋体简" charset="-122"/>
              </a:rPr>
              <a:t>)</a:t>
            </a:r>
            <a:r>
              <a:rPr lang="zh-CN" altLang="en-US" sz="2000" dirty="0">
                <a:ea typeface="经典宋体简" charset="-122"/>
              </a:rPr>
              <a:t>的数量会迅速增长。此外，和数据流图方法一样，形式化的有穷状态机方法也没有处理定时需求。</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4536755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89</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en-US" altLang="zh-CN" sz="2400" dirty="0">
                <a:ea typeface="经典宋体简" charset="-122"/>
              </a:rPr>
              <a:t>Petri</a:t>
            </a:r>
            <a:r>
              <a:rPr lang="zh-CN" altLang="en-US" sz="2400" dirty="0">
                <a:ea typeface="经典宋体简" charset="-122"/>
              </a:rPr>
              <a:t>网由来：</a:t>
            </a:r>
            <a:endParaRPr lang="en-US" altLang="zh-CN" sz="2400" dirty="0">
              <a:ea typeface="经典宋体简" charset="-122"/>
            </a:endParaRPr>
          </a:p>
          <a:p>
            <a:pPr lvl="1" eaLnBrk="1" hangingPunct="1">
              <a:lnSpc>
                <a:spcPct val="150000"/>
              </a:lnSpc>
            </a:pPr>
            <a:r>
              <a:rPr lang="zh-CN" altLang="en-US" sz="2000" dirty="0">
                <a:solidFill>
                  <a:srgbClr val="C00000"/>
                </a:solidFill>
                <a:ea typeface="经典宋体简" charset="-122"/>
              </a:rPr>
              <a:t>并发系统中遇到的一个主要问题是定时问题</a:t>
            </a:r>
            <a:r>
              <a:rPr lang="zh-CN" altLang="en-US" sz="2000" dirty="0">
                <a:ea typeface="经典宋体简" charset="-122"/>
              </a:rPr>
              <a:t>。这个问题可以表现为多种形式，如同步问题、竞争条件以及死锁问题。</a:t>
            </a:r>
            <a:endParaRPr lang="en-US" altLang="zh-CN" sz="2000" dirty="0">
              <a:ea typeface="经典宋体简" charset="-122"/>
            </a:endParaRPr>
          </a:p>
          <a:p>
            <a:pPr lvl="1" eaLnBrk="1" hangingPunct="1">
              <a:lnSpc>
                <a:spcPct val="150000"/>
              </a:lnSpc>
            </a:pPr>
            <a:r>
              <a:rPr lang="en-US" altLang="zh-CN" sz="2000" dirty="0">
                <a:ea typeface="经典宋体简" charset="-122"/>
              </a:rPr>
              <a:t>Petri</a:t>
            </a:r>
            <a:r>
              <a:rPr lang="zh-CN" altLang="en-US" sz="2000" dirty="0">
                <a:ea typeface="经典宋体简" charset="-122"/>
              </a:rPr>
              <a:t>网是由</a:t>
            </a:r>
            <a:r>
              <a:rPr lang="en-US" altLang="zh-CN" sz="2000" dirty="0">
                <a:ea typeface="经典宋体简" charset="-122"/>
              </a:rPr>
              <a:t>Carl Adam Petri</a:t>
            </a:r>
            <a:r>
              <a:rPr lang="zh-CN" altLang="en-US" sz="2000" dirty="0">
                <a:ea typeface="经典宋体简" charset="-122"/>
              </a:rPr>
              <a:t>发明的。在性能评价、操作系统和软件工程等领域，</a:t>
            </a:r>
            <a:r>
              <a:rPr lang="en-US" altLang="zh-CN" sz="2000" dirty="0">
                <a:ea typeface="经典宋体简" charset="-122"/>
              </a:rPr>
              <a:t>Petri</a:t>
            </a:r>
            <a:r>
              <a:rPr lang="zh-CN" altLang="en-US" sz="2000" dirty="0">
                <a:ea typeface="经典宋体简" charset="-122"/>
              </a:rPr>
              <a:t>网应用得都比较广泛。特别是已经证明，用</a:t>
            </a:r>
            <a:r>
              <a:rPr lang="en-US" altLang="zh-CN" sz="2000" dirty="0">
                <a:solidFill>
                  <a:srgbClr val="C00000"/>
                </a:solidFill>
                <a:ea typeface="经典宋体简" charset="-122"/>
              </a:rPr>
              <a:t>Petri</a:t>
            </a:r>
            <a:r>
              <a:rPr lang="zh-CN" altLang="en-US" sz="2000" dirty="0">
                <a:solidFill>
                  <a:srgbClr val="C00000"/>
                </a:solidFill>
                <a:ea typeface="经典宋体简" charset="-122"/>
              </a:rPr>
              <a:t>网可以有效地描述并发活动</a:t>
            </a:r>
            <a:r>
              <a:rPr lang="zh-CN" altLang="en-US" sz="2000" dirty="0">
                <a:ea typeface="经典宋体简" charset="-122"/>
              </a:rPr>
              <a:t>。</a:t>
            </a:r>
          </a:p>
          <a:p>
            <a:pPr eaLnBrk="1" hangingPunct="1">
              <a:lnSpc>
                <a:spcPct val="150000"/>
              </a:lnSpc>
            </a:pPr>
            <a:r>
              <a:rPr lang="en-US" altLang="zh-CN" sz="2400" dirty="0">
                <a:ea typeface="经典宋体简" charset="-122"/>
              </a:rPr>
              <a:t>Petri</a:t>
            </a:r>
            <a:r>
              <a:rPr lang="zh-CN" altLang="en-US" sz="2400" dirty="0">
                <a:ea typeface="经典宋体简" charset="-122"/>
              </a:rPr>
              <a:t>网用户：</a:t>
            </a:r>
            <a:endParaRPr lang="en-US" altLang="zh-CN" sz="2400" dirty="0">
              <a:ea typeface="经典宋体简" charset="-122"/>
            </a:endParaRPr>
          </a:p>
          <a:p>
            <a:pPr lvl="1" eaLnBrk="1" hangingPunct="1">
              <a:lnSpc>
                <a:spcPct val="150000"/>
              </a:lnSpc>
            </a:pPr>
            <a:r>
              <a:rPr lang="zh-CN" altLang="en-US" sz="2000" dirty="0">
                <a:solidFill>
                  <a:srgbClr val="C00000"/>
                </a:solidFill>
                <a:ea typeface="经典宋体简" charset="-122"/>
              </a:rPr>
              <a:t>用于确定系统中隐含的定时问题的一种有效技术是</a:t>
            </a:r>
            <a:r>
              <a:rPr lang="en-US" altLang="zh-CN" sz="2000" dirty="0">
                <a:solidFill>
                  <a:srgbClr val="C00000"/>
                </a:solidFill>
                <a:ea typeface="经典宋体简" charset="-122"/>
              </a:rPr>
              <a:t>Petri</a:t>
            </a:r>
            <a:r>
              <a:rPr lang="zh-CN" altLang="en-US" sz="2000" dirty="0">
                <a:solidFill>
                  <a:srgbClr val="C00000"/>
                </a:solidFill>
                <a:ea typeface="经典宋体简" charset="-122"/>
              </a:rPr>
              <a:t>网</a:t>
            </a:r>
            <a:r>
              <a:rPr lang="zh-CN" altLang="en-US" sz="2000" dirty="0">
                <a:ea typeface="经典宋体简" charset="-122"/>
              </a:rPr>
              <a:t>，这种技术的一个很大的优点是它也可以用于设计中。</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25850398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90</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en-US" altLang="zh-CN" sz="2400" dirty="0">
                <a:ea typeface="经典宋体简" charset="-122"/>
              </a:rPr>
              <a:t>Petri</a:t>
            </a:r>
            <a:r>
              <a:rPr lang="zh-CN" altLang="en-US" sz="2400" dirty="0">
                <a:ea typeface="经典宋体简" charset="-122"/>
              </a:rPr>
              <a:t>网包含</a:t>
            </a:r>
            <a:r>
              <a:rPr lang="en-US" altLang="zh-CN" sz="2400" dirty="0">
                <a:solidFill>
                  <a:srgbClr val="FF0000"/>
                </a:solidFill>
                <a:ea typeface="经典宋体简" charset="-122"/>
              </a:rPr>
              <a:t>4</a:t>
            </a:r>
            <a:r>
              <a:rPr lang="zh-CN" altLang="en-US" sz="2400" dirty="0">
                <a:solidFill>
                  <a:srgbClr val="FF0000"/>
                </a:solidFill>
                <a:ea typeface="经典宋体简" charset="-122"/>
              </a:rPr>
              <a:t>种元素</a:t>
            </a:r>
            <a:r>
              <a:rPr lang="zh-CN" altLang="en-US" sz="2400" dirty="0">
                <a:ea typeface="经典宋体简" charset="-122"/>
              </a:rPr>
              <a:t>：</a:t>
            </a:r>
          </a:p>
          <a:p>
            <a:pPr lvl="1" eaLnBrk="1" hangingPunct="1">
              <a:lnSpc>
                <a:spcPct val="150000"/>
              </a:lnSpc>
            </a:pPr>
            <a:r>
              <a:rPr lang="zh-CN" altLang="en-US" sz="2000" dirty="0">
                <a:ea typeface="经典宋体简" charset="-122"/>
              </a:rPr>
              <a:t>一组位置</a:t>
            </a:r>
            <a:r>
              <a:rPr lang="en-US" altLang="zh-CN" sz="2000" dirty="0">
                <a:ea typeface="经典宋体简" charset="-122"/>
              </a:rPr>
              <a:t>P</a:t>
            </a:r>
            <a:r>
              <a:rPr lang="zh-CN" altLang="en-US" sz="2000" dirty="0">
                <a:ea typeface="经典宋体简" charset="-122"/>
              </a:rPr>
              <a:t>、</a:t>
            </a:r>
          </a:p>
          <a:p>
            <a:pPr lvl="1" eaLnBrk="1" hangingPunct="1">
              <a:lnSpc>
                <a:spcPct val="150000"/>
              </a:lnSpc>
            </a:pPr>
            <a:r>
              <a:rPr lang="zh-CN" altLang="en-US" sz="2000" dirty="0">
                <a:ea typeface="经典宋体简" charset="-122"/>
              </a:rPr>
              <a:t>一组转换</a:t>
            </a:r>
            <a:r>
              <a:rPr lang="en-US" altLang="zh-CN" sz="2000" dirty="0">
                <a:ea typeface="经典宋体简" charset="-122"/>
              </a:rPr>
              <a:t>T</a:t>
            </a:r>
            <a:r>
              <a:rPr lang="zh-CN" altLang="en-US" sz="2000" dirty="0">
                <a:ea typeface="经典宋体简" charset="-122"/>
              </a:rPr>
              <a:t>、</a:t>
            </a:r>
          </a:p>
          <a:p>
            <a:pPr lvl="1" eaLnBrk="1" hangingPunct="1">
              <a:lnSpc>
                <a:spcPct val="150000"/>
              </a:lnSpc>
            </a:pPr>
            <a:r>
              <a:rPr lang="zh-CN" altLang="en-US" sz="2000" dirty="0">
                <a:ea typeface="经典宋体简" charset="-122"/>
              </a:rPr>
              <a:t>输入函数</a:t>
            </a:r>
            <a:r>
              <a:rPr lang="en-US" altLang="zh-CN" sz="2000" dirty="0">
                <a:ea typeface="经典宋体简" charset="-122"/>
              </a:rPr>
              <a:t>I</a:t>
            </a:r>
            <a:r>
              <a:rPr lang="zh-CN" altLang="en-US" sz="2000" dirty="0">
                <a:ea typeface="经典宋体简" charset="-122"/>
              </a:rPr>
              <a:t>、</a:t>
            </a:r>
          </a:p>
          <a:p>
            <a:pPr lvl="1" eaLnBrk="1" hangingPunct="1">
              <a:lnSpc>
                <a:spcPct val="150000"/>
              </a:lnSpc>
            </a:pPr>
            <a:r>
              <a:rPr lang="zh-CN" altLang="en-US" sz="2000" dirty="0">
                <a:ea typeface="经典宋体简" charset="-122"/>
              </a:rPr>
              <a:t>输出函数</a:t>
            </a:r>
            <a:r>
              <a:rPr lang="en-US" altLang="zh-CN" sz="2000" dirty="0">
                <a:ea typeface="经典宋体简" charset="-122"/>
              </a:rPr>
              <a:t>O</a:t>
            </a:r>
            <a:r>
              <a:rPr lang="zh-CN" altLang="en-US" sz="2000" dirty="0">
                <a:ea typeface="经典宋体简" charset="-122"/>
              </a:rPr>
              <a:t>。</a:t>
            </a:r>
          </a:p>
          <a:p>
            <a:pPr eaLnBrk="1" hangingPunct="1">
              <a:lnSpc>
                <a:spcPct val="150000"/>
              </a:lnSpc>
            </a:pPr>
            <a:r>
              <a:rPr lang="zh-CN" altLang="en-US" sz="2400" dirty="0">
                <a:ea typeface="经典宋体简" charset="-122"/>
              </a:rPr>
              <a:t>其中：</a:t>
            </a:r>
          </a:p>
          <a:p>
            <a:pPr lvl="1" eaLnBrk="1" hangingPunct="1">
              <a:lnSpc>
                <a:spcPct val="150000"/>
              </a:lnSpc>
            </a:pPr>
            <a:r>
              <a:rPr lang="zh-CN" altLang="en-US" sz="2000" dirty="0">
                <a:ea typeface="经典宋体简" charset="-122"/>
              </a:rPr>
              <a:t>一组位置</a:t>
            </a:r>
            <a:r>
              <a:rPr lang="en-US" altLang="zh-CN" sz="2000" dirty="0">
                <a:ea typeface="经典宋体简" charset="-122"/>
              </a:rPr>
              <a:t>P</a:t>
            </a:r>
            <a:r>
              <a:rPr lang="zh-CN" altLang="en-US" sz="2000" dirty="0">
                <a:ea typeface="经典宋体简" charset="-122"/>
              </a:rPr>
              <a:t>为｛</a:t>
            </a:r>
            <a:r>
              <a:rPr lang="en-US" altLang="zh-CN" sz="2000" dirty="0">
                <a:ea typeface="经典宋体简" charset="-122"/>
              </a:rPr>
              <a:t>P1</a:t>
            </a:r>
            <a:r>
              <a:rPr lang="zh-CN" altLang="en-US" sz="2000" dirty="0">
                <a:ea typeface="经典宋体简" charset="-122"/>
              </a:rPr>
              <a:t>，</a:t>
            </a:r>
            <a:r>
              <a:rPr lang="en-US" altLang="zh-CN" sz="2000" dirty="0">
                <a:ea typeface="经典宋体简" charset="-122"/>
              </a:rPr>
              <a:t>P2</a:t>
            </a:r>
            <a:r>
              <a:rPr lang="zh-CN" altLang="en-US" sz="2000" dirty="0">
                <a:ea typeface="经典宋体简" charset="-122"/>
              </a:rPr>
              <a:t>，</a:t>
            </a:r>
            <a:r>
              <a:rPr lang="en-US" altLang="zh-CN" sz="2000" dirty="0">
                <a:ea typeface="经典宋体简" charset="-122"/>
              </a:rPr>
              <a:t>P3</a:t>
            </a:r>
            <a:r>
              <a:rPr lang="zh-CN" altLang="en-US" sz="2000" dirty="0">
                <a:ea typeface="经典宋体简" charset="-122"/>
              </a:rPr>
              <a:t>，</a:t>
            </a:r>
            <a:r>
              <a:rPr lang="en-US" altLang="zh-CN" sz="2000" dirty="0">
                <a:ea typeface="经典宋体简" charset="-122"/>
              </a:rPr>
              <a:t>P4</a:t>
            </a:r>
            <a:r>
              <a:rPr lang="zh-CN" altLang="en-US" sz="2000" dirty="0">
                <a:ea typeface="经典宋体简" charset="-122"/>
              </a:rPr>
              <a:t>｝，在图中用圆圈代表位置。</a:t>
            </a:r>
          </a:p>
          <a:p>
            <a:pPr lvl="1" eaLnBrk="1" hangingPunct="1">
              <a:lnSpc>
                <a:spcPct val="150000"/>
              </a:lnSpc>
            </a:pPr>
            <a:r>
              <a:rPr lang="zh-CN" altLang="en-US" sz="2000" dirty="0">
                <a:ea typeface="经典宋体简" charset="-122"/>
              </a:rPr>
              <a:t>一组转换</a:t>
            </a:r>
            <a:r>
              <a:rPr lang="en-US" altLang="zh-CN" sz="2000" dirty="0">
                <a:ea typeface="经典宋体简" charset="-122"/>
              </a:rPr>
              <a:t>T</a:t>
            </a:r>
            <a:r>
              <a:rPr lang="zh-CN" altLang="en-US" sz="2000" dirty="0">
                <a:ea typeface="经典宋体简" charset="-122"/>
              </a:rPr>
              <a:t>为｛</a:t>
            </a:r>
            <a:r>
              <a:rPr lang="en-US" altLang="zh-CN" sz="2000" dirty="0">
                <a:ea typeface="经典宋体简" charset="-122"/>
              </a:rPr>
              <a:t>t1</a:t>
            </a:r>
            <a:r>
              <a:rPr lang="zh-CN" altLang="en-US" sz="2000" dirty="0">
                <a:ea typeface="经典宋体简" charset="-122"/>
              </a:rPr>
              <a:t>，</a:t>
            </a:r>
            <a:r>
              <a:rPr lang="en-US" altLang="zh-CN" sz="2000" dirty="0">
                <a:ea typeface="经典宋体简" charset="-122"/>
              </a:rPr>
              <a:t>t2</a:t>
            </a:r>
            <a:r>
              <a:rPr lang="zh-CN" altLang="en-US" sz="2000" dirty="0">
                <a:ea typeface="经典宋体简" charset="-122"/>
              </a:rPr>
              <a:t>｝，在图中用短直线表示转换。</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1">
            <a:extLst>
              <a:ext uri="{FF2B5EF4-FFF2-40B4-BE49-F238E27FC236}">
                <a16:creationId xmlns:a16="http://schemas.microsoft.com/office/drawing/2014/main" id="{05833E22-709E-4F18-AE1A-2698427FD64B}"/>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981200"/>
            <a:ext cx="4989513" cy="237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695006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1">
            <a:extLst>
              <a:ext uri="{FF2B5EF4-FFF2-40B4-BE49-F238E27FC236}">
                <a16:creationId xmlns:a16="http://schemas.microsoft.com/office/drawing/2014/main" id="{05833E22-709E-4F18-AE1A-2698427FD64B}"/>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848678"/>
            <a:ext cx="4495800" cy="21137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91</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5445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两个用于转换的输入函数，用由位置指向转换的箭头表示，是：</a:t>
            </a:r>
          </a:p>
          <a:p>
            <a:pPr marL="0" indent="0" algn="ctr" eaLnBrk="1" hangingPunct="1">
              <a:lnSpc>
                <a:spcPct val="150000"/>
              </a:lnSpc>
              <a:buNone/>
            </a:pPr>
            <a:r>
              <a:rPr lang="en-US" altLang="zh-CN" sz="2000" dirty="0">
                <a:ea typeface="经典宋体简" charset="-122"/>
              </a:rPr>
              <a:t>I(t</a:t>
            </a:r>
            <a:r>
              <a:rPr lang="en-US" altLang="zh-CN" sz="2000" baseline="-25000" dirty="0">
                <a:ea typeface="经典宋体简" charset="-122"/>
              </a:rPr>
              <a:t>1</a:t>
            </a:r>
            <a:r>
              <a:rPr lang="en-US" altLang="zh-CN" sz="2000" dirty="0">
                <a:ea typeface="经典宋体简" charset="-122"/>
              </a:rPr>
              <a:t>)=</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2</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4</a:t>
            </a:r>
            <a:r>
              <a:rPr lang="zh-CN" altLang="en-US" sz="2000" dirty="0">
                <a:ea typeface="经典宋体简" charset="-122"/>
              </a:rPr>
              <a:t>｝</a:t>
            </a:r>
          </a:p>
          <a:p>
            <a:pPr marL="0" indent="0" algn="ctr" eaLnBrk="1" hangingPunct="1">
              <a:lnSpc>
                <a:spcPct val="150000"/>
              </a:lnSpc>
              <a:buNone/>
            </a:pPr>
            <a:r>
              <a:rPr lang="en-US" altLang="zh-CN" sz="2000" dirty="0">
                <a:ea typeface="经典宋体简" charset="-122"/>
              </a:rPr>
              <a:t>I(t</a:t>
            </a:r>
            <a:r>
              <a:rPr lang="en-US" altLang="zh-CN" sz="2000" baseline="-25000" dirty="0">
                <a:ea typeface="经典宋体简" charset="-122"/>
              </a:rPr>
              <a:t>2</a:t>
            </a:r>
            <a:r>
              <a:rPr lang="en-US" altLang="zh-CN" sz="2000" dirty="0">
                <a:ea typeface="经典宋体简" charset="-122"/>
              </a:rPr>
              <a:t>)=</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2</a:t>
            </a:r>
            <a:r>
              <a:rPr lang="zh-CN" altLang="en-US" sz="2000" dirty="0">
                <a:ea typeface="经典宋体简" charset="-122"/>
              </a:rPr>
              <a:t>｝</a:t>
            </a:r>
          </a:p>
          <a:p>
            <a:pPr eaLnBrk="1" hangingPunct="1">
              <a:lnSpc>
                <a:spcPct val="150000"/>
              </a:lnSpc>
            </a:pPr>
            <a:r>
              <a:rPr lang="zh-CN" altLang="en-US" sz="2000" dirty="0">
                <a:ea typeface="经典宋体简" charset="-122"/>
              </a:rPr>
              <a:t>两个用于转换的输出函数，用由转换指向位置的箭头表示，是：</a:t>
            </a:r>
          </a:p>
          <a:p>
            <a:pPr marL="0" indent="0" algn="ctr" eaLnBrk="1" hangingPunct="1">
              <a:lnSpc>
                <a:spcPct val="150000"/>
              </a:lnSpc>
              <a:buNone/>
            </a:pPr>
            <a:r>
              <a:rPr lang="en-US" altLang="zh-CN" sz="2000" dirty="0">
                <a:ea typeface="经典宋体简" charset="-122"/>
              </a:rPr>
              <a:t>O(t</a:t>
            </a:r>
            <a:r>
              <a:rPr lang="en-US" altLang="zh-CN" sz="2000" baseline="-25000" dirty="0">
                <a:ea typeface="经典宋体简" charset="-122"/>
              </a:rPr>
              <a:t>1</a:t>
            </a:r>
            <a:r>
              <a:rPr lang="en-US" altLang="zh-CN" sz="2000" dirty="0">
                <a:ea typeface="经典宋体简" charset="-122"/>
              </a:rPr>
              <a:t>)=</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1</a:t>
            </a:r>
            <a:r>
              <a:rPr lang="zh-CN" altLang="en-US" sz="2000" dirty="0">
                <a:ea typeface="经典宋体简" charset="-122"/>
              </a:rPr>
              <a:t>｝</a:t>
            </a:r>
          </a:p>
          <a:p>
            <a:pPr marL="0" indent="0" algn="ctr" eaLnBrk="1" hangingPunct="1">
              <a:lnSpc>
                <a:spcPct val="150000"/>
              </a:lnSpc>
              <a:buNone/>
            </a:pPr>
            <a:r>
              <a:rPr lang="en-US" altLang="zh-CN" sz="2000" dirty="0">
                <a:ea typeface="经典宋体简" charset="-122"/>
              </a:rPr>
              <a:t>O(t</a:t>
            </a:r>
            <a:r>
              <a:rPr lang="en-US" altLang="zh-CN" sz="2000" baseline="-25000" dirty="0">
                <a:ea typeface="经典宋体简" charset="-122"/>
              </a:rPr>
              <a:t>2</a:t>
            </a:r>
            <a:r>
              <a:rPr lang="en-US" altLang="zh-CN" sz="2000" dirty="0">
                <a:ea typeface="经典宋体简" charset="-122"/>
              </a:rPr>
              <a:t>)=</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a:t>
            </a:r>
          </a:p>
          <a:p>
            <a:pPr eaLnBrk="1" hangingPunct="1">
              <a:lnSpc>
                <a:spcPct val="150000"/>
              </a:lnSpc>
            </a:pPr>
            <a:r>
              <a:rPr lang="zh-CN" altLang="en-US" sz="2000" dirty="0">
                <a:ea typeface="经典宋体简" charset="-122"/>
              </a:rPr>
              <a:t>注意，输出函数</a:t>
            </a:r>
            <a:r>
              <a:rPr lang="en-US" altLang="zh-CN" sz="2000" dirty="0">
                <a:ea typeface="经典宋体简" charset="-122"/>
              </a:rPr>
              <a:t>O(t</a:t>
            </a:r>
            <a:r>
              <a:rPr lang="en-US" altLang="zh-CN" sz="2000" baseline="-25000" dirty="0">
                <a:ea typeface="经典宋体简" charset="-122"/>
              </a:rPr>
              <a:t>2</a:t>
            </a:r>
            <a:r>
              <a:rPr lang="en-US" altLang="zh-CN" sz="2000" dirty="0">
                <a:ea typeface="经典宋体简" charset="-122"/>
              </a:rPr>
              <a:t>)</a:t>
            </a:r>
            <a:r>
              <a:rPr lang="zh-CN" altLang="en-US" sz="2000" dirty="0">
                <a:ea typeface="经典宋体简" charset="-122"/>
              </a:rPr>
              <a:t>中有两个</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，是因为有两个箭头由</a:t>
            </a:r>
            <a:r>
              <a:rPr lang="en-US" altLang="zh-CN" sz="2000" dirty="0">
                <a:ea typeface="经典宋体简" charset="-122"/>
              </a:rPr>
              <a:t>t</a:t>
            </a:r>
            <a:r>
              <a:rPr lang="en-US" altLang="zh-CN" sz="2000" baseline="-25000" dirty="0">
                <a:ea typeface="经典宋体简" charset="-122"/>
              </a:rPr>
              <a:t>2</a:t>
            </a:r>
            <a:r>
              <a:rPr lang="zh-CN" altLang="en-US" sz="2000" dirty="0">
                <a:ea typeface="经典宋体简" charset="-122"/>
              </a:rPr>
              <a:t>指向</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5954292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92</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更形式化的</a:t>
            </a:r>
            <a:r>
              <a:rPr lang="en-US" altLang="zh-CN" sz="2000" dirty="0">
                <a:ea typeface="经典宋体简" charset="-122"/>
              </a:rPr>
              <a:t>Petri</a:t>
            </a:r>
            <a:r>
              <a:rPr lang="zh-CN" altLang="en-US" sz="2000" dirty="0">
                <a:ea typeface="经典宋体简" charset="-122"/>
              </a:rPr>
              <a:t>网结构，是一个</a:t>
            </a:r>
            <a:r>
              <a:rPr lang="zh-CN" altLang="en-US" sz="2000" b="1" dirty="0">
                <a:solidFill>
                  <a:srgbClr val="C00000"/>
                </a:solidFill>
                <a:ea typeface="经典宋体简" charset="-122"/>
              </a:rPr>
              <a:t>四元组</a:t>
            </a:r>
            <a:r>
              <a:rPr lang="en-US" altLang="zh-CN" sz="2000" b="1" dirty="0">
                <a:solidFill>
                  <a:srgbClr val="C00000"/>
                </a:solidFill>
                <a:ea typeface="经典宋体简" charset="-122"/>
              </a:rPr>
              <a:t>C=(P,T,I,O)</a:t>
            </a:r>
            <a:r>
              <a:rPr lang="zh-CN" altLang="en-US" sz="2000" dirty="0">
                <a:ea typeface="经典宋体简" charset="-122"/>
              </a:rPr>
              <a:t>。</a:t>
            </a:r>
          </a:p>
          <a:p>
            <a:pPr eaLnBrk="1" hangingPunct="1">
              <a:lnSpc>
                <a:spcPct val="150000"/>
              </a:lnSpc>
            </a:pPr>
            <a:r>
              <a:rPr lang="zh-CN" altLang="en-US" sz="2000" dirty="0">
                <a:ea typeface="经典宋体简" charset="-122"/>
              </a:rPr>
              <a:t>其中：</a:t>
            </a:r>
            <a:endParaRPr lang="en-US" altLang="zh-CN" sz="2000" dirty="0">
              <a:ea typeface="经典宋体简" charset="-122"/>
            </a:endParaRPr>
          </a:p>
          <a:p>
            <a:pPr lvl="1" eaLnBrk="1" hangingPunct="1">
              <a:lnSpc>
                <a:spcPct val="150000"/>
              </a:lnSpc>
            </a:pPr>
            <a:r>
              <a:rPr lang="en-US" altLang="zh-CN" sz="2000" dirty="0">
                <a:ea typeface="经典宋体简" charset="-122"/>
              </a:rPr>
              <a:t>P=</a:t>
            </a:r>
            <a:r>
              <a:rPr lang="zh-CN" altLang="en-US" sz="2000" dirty="0">
                <a:ea typeface="经典宋体简" charset="-122"/>
              </a:rPr>
              <a:t>｛</a:t>
            </a:r>
            <a:r>
              <a:rPr lang="en-US" altLang="zh-CN" sz="2000" dirty="0">
                <a:ea typeface="经典宋体简" charset="-122"/>
              </a:rPr>
              <a:t>P1</a:t>
            </a:r>
            <a:r>
              <a:rPr lang="zh-CN" altLang="en-US" sz="2000" dirty="0">
                <a:ea typeface="经典宋体简" charset="-122"/>
              </a:rPr>
              <a:t>，</a:t>
            </a:r>
            <a:r>
              <a:rPr lang="en-US" altLang="zh-CN" sz="2000" dirty="0">
                <a:ea typeface="经典宋体简" charset="-122"/>
              </a:rPr>
              <a:t>…</a:t>
            </a:r>
            <a:r>
              <a:rPr lang="zh-CN" altLang="en-US" sz="2000" dirty="0">
                <a:ea typeface="经典宋体简" charset="-122"/>
              </a:rPr>
              <a:t>，</a:t>
            </a:r>
            <a:r>
              <a:rPr lang="en-US" altLang="zh-CN" sz="2000" dirty="0" err="1">
                <a:ea typeface="经典宋体简" charset="-122"/>
              </a:rPr>
              <a:t>Pn</a:t>
            </a:r>
            <a:r>
              <a:rPr lang="zh-CN" altLang="en-US" sz="2000" dirty="0">
                <a:ea typeface="经典宋体简" charset="-122"/>
              </a:rPr>
              <a:t>｝是一个有穷位置集，</a:t>
            </a:r>
            <a:r>
              <a:rPr lang="en-US" altLang="zh-CN" sz="2000" dirty="0">
                <a:ea typeface="经典宋体简" charset="-122"/>
              </a:rPr>
              <a:t>n≥0</a:t>
            </a:r>
            <a:r>
              <a:rPr lang="zh-CN" altLang="en-US" sz="2000" dirty="0">
                <a:ea typeface="经典宋体简" charset="-122"/>
              </a:rPr>
              <a:t>。</a:t>
            </a:r>
          </a:p>
          <a:p>
            <a:pPr lvl="1" eaLnBrk="1" hangingPunct="1">
              <a:lnSpc>
                <a:spcPct val="150000"/>
              </a:lnSpc>
            </a:pPr>
            <a:r>
              <a:rPr lang="en-US" altLang="zh-CN" sz="2000" dirty="0">
                <a:ea typeface="经典宋体简" charset="-122"/>
              </a:rPr>
              <a:t>T=</a:t>
            </a:r>
            <a:r>
              <a:rPr lang="zh-CN" altLang="en-US" sz="2000" dirty="0">
                <a:ea typeface="经典宋体简" charset="-122"/>
              </a:rPr>
              <a:t>｛</a:t>
            </a:r>
            <a:r>
              <a:rPr lang="en-US" altLang="zh-CN" sz="2000" dirty="0">
                <a:ea typeface="经典宋体简" charset="-122"/>
              </a:rPr>
              <a:t>t1</a:t>
            </a:r>
            <a:r>
              <a:rPr lang="zh-CN" altLang="en-US" sz="2000" dirty="0">
                <a:ea typeface="经典宋体简" charset="-122"/>
              </a:rPr>
              <a:t>，</a:t>
            </a:r>
            <a:r>
              <a:rPr lang="en-US" altLang="zh-CN" sz="2000" dirty="0">
                <a:ea typeface="经典宋体简" charset="-122"/>
              </a:rPr>
              <a:t>…</a:t>
            </a:r>
            <a:r>
              <a:rPr lang="zh-CN" altLang="en-US" sz="2000" dirty="0">
                <a:ea typeface="经典宋体简" charset="-122"/>
              </a:rPr>
              <a:t>，</a:t>
            </a:r>
            <a:r>
              <a:rPr lang="en-US" altLang="zh-CN" sz="2000" dirty="0">
                <a:ea typeface="经典宋体简" charset="-122"/>
              </a:rPr>
              <a:t>tm</a:t>
            </a:r>
            <a:r>
              <a:rPr lang="zh-CN" altLang="en-US" sz="2000" dirty="0">
                <a:ea typeface="经典宋体简" charset="-122"/>
              </a:rPr>
              <a:t>｝是一个有穷转换集，</a:t>
            </a:r>
            <a:r>
              <a:rPr lang="en-US" altLang="zh-CN" sz="2000" dirty="0">
                <a:ea typeface="经典宋体简" charset="-122"/>
              </a:rPr>
              <a:t>m≥0</a:t>
            </a:r>
            <a:r>
              <a:rPr lang="zh-CN" altLang="en-US" sz="2000" dirty="0">
                <a:ea typeface="经典宋体简" charset="-122"/>
              </a:rPr>
              <a:t>，且</a:t>
            </a:r>
            <a:r>
              <a:rPr lang="en-US" altLang="zh-CN" sz="2000" dirty="0">
                <a:ea typeface="经典宋体简" charset="-122"/>
              </a:rPr>
              <a:t>T</a:t>
            </a:r>
            <a:r>
              <a:rPr lang="zh-CN" altLang="en-US" sz="2000" dirty="0">
                <a:ea typeface="经典宋体简" charset="-122"/>
              </a:rPr>
              <a:t>和</a:t>
            </a:r>
            <a:r>
              <a:rPr lang="en-US" altLang="zh-CN" sz="2000" dirty="0">
                <a:ea typeface="经典宋体简" charset="-122"/>
              </a:rPr>
              <a:t>P</a:t>
            </a:r>
            <a:r>
              <a:rPr lang="zh-CN" altLang="en-US" sz="2000" dirty="0">
                <a:ea typeface="经典宋体简" charset="-122"/>
              </a:rPr>
              <a:t>不相交。</a:t>
            </a:r>
          </a:p>
          <a:p>
            <a:pPr lvl="1" eaLnBrk="1" hangingPunct="1">
              <a:lnSpc>
                <a:spcPct val="150000"/>
              </a:lnSpc>
            </a:pPr>
            <a:r>
              <a:rPr lang="en-US" altLang="zh-CN" sz="2000" dirty="0">
                <a:ea typeface="经典宋体简" charset="-122"/>
              </a:rPr>
              <a:t>I</a:t>
            </a:r>
            <a:r>
              <a:rPr lang="zh-CN" altLang="en-US" sz="2000" dirty="0">
                <a:ea typeface="经典宋体简" charset="-122"/>
              </a:rPr>
              <a:t>：</a:t>
            </a:r>
            <a:r>
              <a:rPr lang="en-US" altLang="zh-CN" sz="2000" dirty="0">
                <a:ea typeface="经典宋体简" charset="-122"/>
              </a:rPr>
              <a:t>T→P∞</a:t>
            </a:r>
            <a:r>
              <a:rPr lang="zh-CN" altLang="en-US" sz="2000" dirty="0">
                <a:ea typeface="经典宋体简" charset="-122"/>
              </a:rPr>
              <a:t>为输入函数，是由转换到位置无序单位组的映射。</a:t>
            </a:r>
          </a:p>
          <a:p>
            <a:pPr lvl="1" eaLnBrk="1" hangingPunct="1">
              <a:lnSpc>
                <a:spcPct val="150000"/>
              </a:lnSpc>
            </a:pPr>
            <a:r>
              <a:rPr lang="en-US" altLang="zh-CN" sz="2000" dirty="0">
                <a:ea typeface="经典宋体简" charset="-122"/>
              </a:rPr>
              <a:t>O</a:t>
            </a:r>
            <a:r>
              <a:rPr lang="zh-CN" altLang="en-US" sz="2000" dirty="0">
                <a:ea typeface="经典宋体简" charset="-122"/>
              </a:rPr>
              <a:t>：</a:t>
            </a:r>
            <a:r>
              <a:rPr lang="en-US" altLang="zh-CN" sz="2000" dirty="0">
                <a:ea typeface="经典宋体简" charset="-122"/>
              </a:rPr>
              <a:t>T→P∞</a:t>
            </a:r>
            <a:r>
              <a:rPr lang="zh-CN" altLang="en-US" sz="2000" dirty="0">
                <a:ea typeface="经典宋体简" charset="-122"/>
              </a:rPr>
              <a:t>为输出函数，是由转换到位置无序单位组的映射。</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29119317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93</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solidFill>
                  <a:srgbClr val="C00000"/>
                </a:solidFill>
                <a:ea typeface="经典宋体简" charset="-122"/>
              </a:rPr>
              <a:t>一个无序单位组或多重组是允许一个元素有多个实例的广义集</a:t>
            </a:r>
            <a:r>
              <a:rPr lang="zh-CN" altLang="en-US" sz="2000" dirty="0">
                <a:ea typeface="经典宋体简" charset="-122"/>
              </a:rPr>
              <a:t>。</a:t>
            </a:r>
          </a:p>
          <a:p>
            <a:pPr eaLnBrk="1" hangingPunct="1">
              <a:lnSpc>
                <a:spcPct val="150000"/>
              </a:lnSpc>
            </a:pPr>
            <a:r>
              <a:rPr lang="en-US" altLang="zh-CN" sz="2000" dirty="0">
                <a:ea typeface="经典宋体简" charset="-122"/>
              </a:rPr>
              <a:t>Petri</a:t>
            </a:r>
            <a:r>
              <a:rPr lang="zh-CN" altLang="en-US" sz="2000" dirty="0">
                <a:ea typeface="经典宋体简" charset="-122"/>
              </a:rPr>
              <a:t>网的标记是在</a:t>
            </a:r>
            <a:r>
              <a:rPr lang="en-US" altLang="zh-CN" sz="2000" dirty="0">
                <a:ea typeface="经典宋体简" charset="-122"/>
              </a:rPr>
              <a:t>Petri</a:t>
            </a:r>
            <a:r>
              <a:rPr lang="zh-CN" altLang="en-US" sz="2000" dirty="0">
                <a:ea typeface="经典宋体简" charset="-122"/>
              </a:rPr>
              <a:t>网中权标</a:t>
            </a:r>
            <a:r>
              <a:rPr lang="en-US" altLang="zh-CN" sz="2000" dirty="0">
                <a:ea typeface="经典宋体简" charset="-122"/>
              </a:rPr>
              <a:t>(token)</a:t>
            </a:r>
            <a:r>
              <a:rPr lang="zh-CN" altLang="en-US" sz="2000" dirty="0">
                <a:ea typeface="经典宋体简" charset="-122"/>
              </a:rPr>
              <a:t>的分配。例如，在下图中有</a:t>
            </a:r>
            <a:r>
              <a:rPr lang="en-US" altLang="zh-CN" sz="2000" dirty="0">
                <a:ea typeface="经典宋体简" charset="-122"/>
              </a:rPr>
              <a:t>4</a:t>
            </a:r>
            <a:r>
              <a:rPr lang="zh-CN" altLang="en-US" sz="2000" dirty="0">
                <a:ea typeface="经典宋体简" charset="-122"/>
              </a:rPr>
              <a:t>个权标，其中一个在</a:t>
            </a:r>
            <a:r>
              <a:rPr lang="en-US" altLang="zh-CN" sz="2000" dirty="0">
                <a:ea typeface="经典宋体简" charset="-122"/>
              </a:rPr>
              <a:t>P</a:t>
            </a:r>
            <a:r>
              <a:rPr lang="en-US" altLang="zh-CN" sz="2000" baseline="-25000" dirty="0">
                <a:ea typeface="经典宋体简" charset="-122"/>
              </a:rPr>
              <a:t>1</a:t>
            </a:r>
            <a:r>
              <a:rPr lang="zh-CN" altLang="en-US" sz="2000" dirty="0">
                <a:ea typeface="经典宋体简" charset="-122"/>
              </a:rPr>
              <a:t>中，两个在</a:t>
            </a:r>
            <a:r>
              <a:rPr lang="en-US" altLang="zh-CN" sz="2000" dirty="0">
                <a:ea typeface="经典宋体简" charset="-122"/>
              </a:rPr>
              <a:t>P</a:t>
            </a:r>
            <a:r>
              <a:rPr lang="en-US" altLang="zh-CN" sz="2000" baseline="-25000" dirty="0">
                <a:ea typeface="经典宋体简" charset="-122"/>
              </a:rPr>
              <a:t>2</a:t>
            </a:r>
            <a:r>
              <a:rPr lang="zh-CN" altLang="en-US" sz="2000" dirty="0">
                <a:ea typeface="经典宋体简" charset="-122"/>
              </a:rPr>
              <a:t>中，</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中没有，还有一个在</a:t>
            </a:r>
            <a:r>
              <a:rPr lang="en-US" altLang="zh-CN" sz="2000" dirty="0">
                <a:ea typeface="经典宋体简" charset="-122"/>
              </a:rPr>
              <a:t>P</a:t>
            </a:r>
            <a:r>
              <a:rPr lang="en-US" altLang="zh-CN" sz="2000" baseline="-25000" dirty="0">
                <a:ea typeface="经典宋体简" charset="-122"/>
              </a:rPr>
              <a:t>4</a:t>
            </a:r>
            <a:r>
              <a:rPr lang="zh-CN" altLang="en-US" sz="2000" dirty="0">
                <a:ea typeface="经典宋体简" charset="-122"/>
              </a:rPr>
              <a:t>中。上述标记可以用向量</a:t>
            </a:r>
            <a:r>
              <a:rPr lang="en-US" altLang="zh-CN" sz="2000" dirty="0">
                <a:ea typeface="经典宋体简" charset="-122"/>
              </a:rPr>
              <a:t>(1</a:t>
            </a:r>
            <a:r>
              <a:rPr lang="zh-CN" altLang="en-US" sz="2000" dirty="0">
                <a:ea typeface="经典宋体简" charset="-122"/>
              </a:rPr>
              <a:t>，</a:t>
            </a:r>
            <a:r>
              <a:rPr lang="en-US" altLang="zh-CN" sz="2000" dirty="0">
                <a:ea typeface="经典宋体简" charset="-122"/>
              </a:rPr>
              <a:t>2</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a:t>
            </a:r>
            <a:r>
              <a:rPr lang="en-US" altLang="zh-CN" sz="2000" dirty="0">
                <a:ea typeface="经典宋体简" charset="-122"/>
              </a:rPr>
              <a:t>1)</a:t>
            </a:r>
            <a:r>
              <a:rPr lang="zh-CN" altLang="en-US" sz="2000" dirty="0">
                <a:ea typeface="经典宋体简" charset="-122"/>
              </a:rPr>
              <a:t>表示。由于</a:t>
            </a:r>
            <a:r>
              <a:rPr lang="en-US" altLang="zh-CN" sz="2000" dirty="0">
                <a:ea typeface="经典宋体简" charset="-122"/>
              </a:rPr>
              <a:t>P</a:t>
            </a:r>
            <a:r>
              <a:rPr lang="en-US" altLang="zh-CN" sz="2000" baseline="-25000" dirty="0">
                <a:ea typeface="经典宋体简" charset="-122"/>
              </a:rPr>
              <a:t>2</a:t>
            </a:r>
            <a:r>
              <a:rPr lang="zh-CN" altLang="en-US" sz="2000" dirty="0">
                <a:ea typeface="经典宋体简" charset="-122"/>
              </a:rPr>
              <a:t>和</a:t>
            </a:r>
            <a:r>
              <a:rPr lang="en-US" altLang="zh-CN" sz="2000" dirty="0">
                <a:ea typeface="经典宋体简" charset="-122"/>
              </a:rPr>
              <a:t>P</a:t>
            </a:r>
            <a:r>
              <a:rPr lang="en-US" altLang="zh-CN" sz="2000" baseline="-25000" dirty="0">
                <a:ea typeface="经典宋体简" charset="-122"/>
              </a:rPr>
              <a:t>4</a:t>
            </a:r>
            <a:r>
              <a:rPr lang="zh-CN" altLang="en-US" sz="2000" dirty="0">
                <a:ea typeface="经典宋体简" charset="-122"/>
              </a:rPr>
              <a:t>中有权标，因此</a:t>
            </a:r>
            <a:r>
              <a:rPr lang="en-US" altLang="zh-CN" sz="2000" dirty="0">
                <a:ea typeface="经典宋体简" charset="-122"/>
              </a:rPr>
              <a:t>t</a:t>
            </a:r>
            <a:r>
              <a:rPr lang="en-US" altLang="zh-CN" sz="2000" baseline="-25000" dirty="0">
                <a:ea typeface="经典宋体简" charset="-122"/>
              </a:rPr>
              <a:t>1</a:t>
            </a:r>
            <a:r>
              <a:rPr lang="zh-CN" altLang="en-US" sz="2000" dirty="0">
                <a:ea typeface="经典宋体简" charset="-122"/>
              </a:rPr>
              <a:t>启动</a:t>
            </a:r>
            <a:r>
              <a:rPr lang="en-US" altLang="zh-CN" sz="2000" dirty="0">
                <a:ea typeface="经典宋体简" charset="-122"/>
              </a:rPr>
              <a:t>(</a:t>
            </a:r>
            <a:r>
              <a:rPr lang="zh-CN" altLang="en-US" sz="2000" dirty="0">
                <a:ea typeface="经典宋体简" charset="-122"/>
              </a:rPr>
              <a:t>即被激发</a:t>
            </a:r>
            <a:r>
              <a:rPr lang="en-US" altLang="zh-CN" sz="2000" dirty="0">
                <a:ea typeface="经典宋体简" charset="-122"/>
              </a:rPr>
              <a:t>)</a:t>
            </a:r>
            <a:r>
              <a:rPr lang="zh-CN" altLang="en-US" sz="2000"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6">
            <a:extLst>
              <a:ext uri="{FF2B5EF4-FFF2-40B4-BE49-F238E27FC236}">
                <a16:creationId xmlns:a16="http://schemas.microsoft.com/office/drawing/2014/main" id="{30B38662-FF40-4392-9461-BDE54E908EF7}"/>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086225"/>
            <a:ext cx="4930775" cy="239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59743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94</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通常，</a:t>
            </a:r>
            <a:r>
              <a:rPr lang="zh-CN" altLang="en-US" sz="2000" dirty="0">
                <a:solidFill>
                  <a:srgbClr val="C00000"/>
                </a:solidFill>
                <a:ea typeface="经典宋体简" charset="-122"/>
              </a:rPr>
              <a:t>当每个输入位置所拥有的权标数大于等于从该位置到转换的线数时，就允许转换。</a:t>
            </a:r>
            <a:r>
              <a:rPr lang="zh-CN" altLang="en-US" sz="2000" dirty="0">
                <a:ea typeface="经典宋体简" charset="-122"/>
              </a:rPr>
              <a:t>当</a:t>
            </a:r>
            <a:r>
              <a:rPr lang="en-US" altLang="zh-CN" sz="2000" dirty="0">
                <a:ea typeface="经典宋体简" charset="-122"/>
              </a:rPr>
              <a:t>t1</a:t>
            </a:r>
            <a:r>
              <a:rPr lang="zh-CN" altLang="en-US" sz="2000" dirty="0">
                <a:ea typeface="经典宋体简" charset="-122"/>
              </a:rPr>
              <a:t>被激发时，</a:t>
            </a:r>
            <a:r>
              <a:rPr lang="en-US" altLang="zh-CN" sz="2000" dirty="0">
                <a:ea typeface="经典宋体简" charset="-122"/>
              </a:rPr>
              <a:t>P2</a:t>
            </a:r>
            <a:r>
              <a:rPr lang="zh-CN" altLang="en-US" sz="2000" dirty="0">
                <a:ea typeface="经典宋体简" charset="-122"/>
              </a:rPr>
              <a:t>和</a:t>
            </a:r>
            <a:r>
              <a:rPr lang="en-US" altLang="zh-CN" sz="2000" dirty="0">
                <a:ea typeface="经典宋体简" charset="-122"/>
              </a:rPr>
              <a:t>P4</a:t>
            </a:r>
            <a:r>
              <a:rPr lang="zh-CN" altLang="en-US" sz="2000" dirty="0">
                <a:ea typeface="经典宋体简" charset="-122"/>
              </a:rPr>
              <a:t>上各有一个权标被移出，而</a:t>
            </a:r>
            <a:r>
              <a:rPr lang="en-US" altLang="zh-CN" sz="2000" dirty="0">
                <a:ea typeface="经典宋体简" charset="-122"/>
              </a:rPr>
              <a:t>P1</a:t>
            </a:r>
            <a:r>
              <a:rPr lang="zh-CN" altLang="en-US" sz="2000" dirty="0">
                <a:ea typeface="经典宋体简" charset="-122"/>
              </a:rPr>
              <a:t>上则增加一个权标。</a:t>
            </a:r>
            <a:r>
              <a:rPr lang="en-US" altLang="zh-CN" sz="2000" dirty="0">
                <a:ea typeface="经典宋体简" charset="-122"/>
              </a:rPr>
              <a:t>Petri</a:t>
            </a:r>
            <a:r>
              <a:rPr lang="zh-CN" altLang="en-US" sz="2000" dirty="0">
                <a:ea typeface="经典宋体简" charset="-122"/>
              </a:rPr>
              <a:t>网中权标总数不是固定的，在这个例子中两个权标被移出，而</a:t>
            </a:r>
            <a:r>
              <a:rPr lang="en-US" altLang="zh-CN" sz="2000" dirty="0">
                <a:ea typeface="经典宋体简" charset="-122"/>
              </a:rPr>
              <a:t>P1</a:t>
            </a:r>
            <a:r>
              <a:rPr lang="zh-CN" altLang="en-US" sz="2000" dirty="0">
                <a:ea typeface="经典宋体简" charset="-122"/>
              </a:rPr>
              <a:t>上只能增加一个权标。</a:t>
            </a:r>
          </a:p>
          <a:p>
            <a:pPr eaLnBrk="1" hangingPunct="1">
              <a:lnSpc>
                <a:spcPct val="150000"/>
              </a:lnSpc>
            </a:pPr>
            <a:r>
              <a:rPr lang="zh-CN" altLang="en-US" sz="2000" dirty="0">
                <a:ea typeface="经典宋体简" charset="-122"/>
              </a:rPr>
              <a:t>在下图中</a:t>
            </a:r>
            <a:r>
              <a:rPr lang="en-US" altLang="zh-CN" sz="2000" dirty="0">
                <a:ea typeface="经典宋体简" charset="-122"/>
              </a:rPr>
              <a:t>P2</a:t>
            </a:r>
            <a:r>
              <a:rPr lang="zh-CN" altLang="en-US" sz="2000" dirty="0">
                <a:ea typeface="经典宋体简" charset="-122"/>
              </a:rPr>
              <a:t>上有</a:t>
            </a:r>
            <a:r>
              <a:rPr lang="en-US" altLang="zh-CN" sz="2000" dirty="0">
                <a:ea typeface="经典宋体简" charset="-122"/>
              </a:rPr>
              <a:t>2</a:t>
            </a:r>
            <a:r>
              <a:rPr lang="zh-CN" altLang="en-US" sz="2000" dirty="0">
                <a:ea typeface="经典宋体简" charset="-122"/>
              </a:rPr>
              <a:t>个权标，因此除了激发</a:t>
            </a:r>
            <a:r>
              <a:rPr lang="en-US" altLang="zh-CN" sz="2000" dirty="0">
                <a:ea typeface="经典宋体简" charset="-122"/>
              </a:rPr>
              <a:t>t1</a:t>
            </a:r>
            <a:r>
              <a:rPr lang="zh-CN" altLang="en-US" sz="2000" dirty="0">
                <a:ea typeface="经典宋体简" charset="-122"/>
              </a:rPr>
              <a:t>外，</a:t>
            </a:r>
            <a:r>
              <a:rPr lang="en-US" altLang="zh-CN" sz="2000" dirty="0">
                <a:ea typeface="经典宋体简" charset="-122"/>
              </a:rPr>
              <a:t>t2</a:t>
            </a:r>
            <a:r>
              <a:rPr lang="zh-CN" altLang="en-US" sz="2000" dirty="0">
                <a:ea typeface="经典宋体简" charset="-122"/>
              </a:rPr>
              <a:t>也可以被激发。当</a:t>
            </a:r>
            <a:r>
              <a:rPr lang="en-US" altLang="zh-CN" sz="2000" dirty="0">
                <a:ea typeface="经典宋体简" charset="-122"/>
              </a:rPr>
              <a:t>t2</a:t>
            </a:r>
            <a:r>
              <a:rPr lang="zh-CN" altLang="en-US" sz="2000" dirty="0">
                <a:ea typeface="经典宋体简" charset="-122"/>
              </a:rPr>
              <a:t>被激发时，</a:t>
            </a:r>
            <a:r>
              <a:rPr lang="en-US" altLang="zh-CN" sz="2000" dirty="0">
                <a:ea typeface="经典宋体简" charset="-122"/>
              </a:rPr>
              <a:t>P2</a:t>
            </a:r>
            <a:r>
              <a:rPr lang="zh-CN" altLang="en-US" sz="2000" dirty="0">
                <a:ea typeface="经典宋体简" charset="-122"/>
              </a:rPr>
              <a:t>上将移走一个权标，而</a:t>
            </a:r>
            <a:r>
              <a:rPr lang="en-US" altLang="zh-CN" sz="2000" dirty="0">
                <a:ea typeface="经典宋体简" charset="-122"/>
              </a:rPr>
              <a:t>P3</a:t>
            </a:r>
            <a:r>
              <a:rPr lang="zh-CN" altLang="en-US" sz="2000" dirty="0">
                <a:ea typeface="经典宋体简" charset="-122"/>
              </a:rPr>
              <a:t>上新增加两个权标。</a:t>
            </a:r>
            <a:r>
              <a:rPr lang="en-US" altLang="zh-CN" sz="2000" dirty="0">
                <a:ea typeface="经典宋体简" charset="-122"/>
              </a:rPr>
              <a:t>Petri</a:t>
            </a:r>
            <a:r>
              <a:rPr lang="zh-CN" altLang="en-US" sz="2000" dirty="0">
                <a:ea typeface="经典宋体简" charset="-122"/>
              </a:rPr>
              <a:t>网具有非确定性，也就是说，如果数个转换都达到了激发条件，则其中任意一个都可以被激发。</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6">
            <a:extLst>
              <a:ext uri="{FF2B5EF4-FFF2-40B4-BE49-F238E27FC236}">
                <a16:creationId xmlns:a16="http://schemas.microsoft.com/office/drawing/2014/main" id="{30B38662-FF40-4392-9461-BDE54E908EF7}"/>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4767262"/>
            <a:ext cx="4114800" cy="2014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5330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95</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下图</a:t>
            </a:r>
            <a:r>
              <a:rPr lang="en-US" altLang="zh-CN" sz="2000" dirty="0">
                <a:ea typeface="经典宋体简" charset="-122"/>
              </a:rPr>
              <a:t>1</a:t>
            </a:r>
            <a:r>
              <a:rPr lang="zh-CN" altLang="en-US" sz="2000" dirty="0">
                <a:ea typeface="经典宋体简" charset="-122"/>
              </a:rPr>
              <a:t>所示</a:t>
            </a:r>
            <a:r>
              <a:rPr lang="en-US" altLang="zh-CN" sz="2000" dirty="0">
                <a:ea typeface="经典宋体简" charset="-122"/>
              </a:rPr>
              <a:t>Petri</a:t>
            </a:r>
            <a:r>
              <a:rPr lang="zh-CN" altLang="en-US" sz="2000" dirty="0">
                <a:ea typeface="经典宋体简" charset="-122"/>
              </a:rPr>
              <a:t>网的标记为</a:t>
            </a:r>
            <a:r>
              <a:rPr lang="en-US" altLang="zh-CN" sz="2000" dirty="0">
                <a:ea typeface="经典宋体简" charset="-122"/>
              </a:rPr>
              <a:t>(1</a:t>
            </a:r>
            <a:r>
              <a:rPr lang="zh-CN" altLang="en-US" sz="2000" dirty="0">
                <a:ea typeface="经典宋体简" charset="-122"/>
              </a:rPr>
              <a:t>，</a:t>
            </a:r>
            <a:r>
              <a:rPr lang="en-US" altLang="zh-CN" sz="2000" dirty="0">
                <a:ea typeface="经典宋体简" charset="-122"/>
              </a:rPr>
              <a:t>2</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a:t>
            </a:r>
            <a:r>
              <a:rPr lang="en-US" altLang="zh-CN" sz="2000" dirty="0">
                <a:ea typeface="经典宋体简" charset="-122"/>
              </a:rPr>
              <a:t>1)</a:t>
            </a:r>
            <a:r>
              <a:rPr lang="zh-CN" altLang="en-US" sz="2000" dirty="0">
                <a:ea typeface="经典宋体简" charset="-122"/>
              </a:rPr>
              <a:t>，</a:t>
            </a:r>
            <a:r>
              <a:rPr lang="en-US" altLang="zh-CN" sz="2000" dirty="0">
                <a:ea typeface="经典宋体简" charset="-122"/>
              </a:rPr>
              <a:t>t</a:t>
            </a:r>
            <a:r>
              <a:rPr lang="en-US" altLang="zh-CN" sz="2000" baseline="-25000" dirty="0">
                <a:ea typeface="经典宋体简" charset="-122"/>
              </a:rPr>
              <a:t>1</a:t>
            </a:r>
            <a:r>
              <a:rPr lang="zh-CN" altLang="en-US" sz="2000" dirty="0">
                <a:ea typeface="经典宋体简" charset="-122"/>
              </a:rPr>
              <a:t>和</a:t>
            </a:r>
            <a:r>
              <a:rPr lang="en-US" altLang="zh-CN" sz="2000" dirty="0">
                <a:ea typeface="经典宋体简" charset="-122"/>
              </a:rPr>
              <a:t>t</a:t>
            </a:r>
            <a:r>
              <a:rPr lang="en-US" altLang="zh-CN" sz="2000" baseline="-25000" dirty="0">
                <a:ea typeface="经典宋体简" charset="-122"/>
              </a:rPr>
              <a:t>2</a:t>
            </a:r>
            <a:r>
              <a:rPr lang="zh-CN" altLang="en-US" sz="2000" dirty="0">
                <a:ea typeface="经典宋体简" charset="-122"/>
              </a:rPr>
              <a:t>都可以被激发。假设</a:t>
            </a:r>
            <a:r>
              <a:rPr lang="en-US" altLang="zh-CN" sz="2000" dirty="0">
                <a:ea typeface="经典宋体简" charset="-122"/>
              </a:rPr>
              <a:t>t</a:t>
            </a:r>
            <a:r>
              <a:rPr lang="en-US" altLang="zh-CN" sz="2000" baseline="-25000" dirty="0">
                <a:ea typeface="经典宋体简" charset="-122"/>
              </a:rPr>
              <a:t>1</a:t>
            </a:r>
            <a:r>
              <a:rPr lang="zh-CN" altLang="en-US" sz="2000" dirty="0">
                <a:ea typeface="经典宋体简" charset="-122"/>
              </a:rPr>
              <a:t>被激发了，则结果如下图</a:t>
            </a:r>
            <a:r>
              <a:rPr lang="en-US" altLang="zh-CN" sz="2000" dirty="0">
                <a:ea typeface="经典宋体简" charset="-122"/>
              </a:rPr>
              <a:t>2</a:t>
            </a:r>
            <a:r>
              <a:rPr lang="zh-CN" altLang="en-US" sz="2000" dirty="0">
                <a:ea typeface="经典宋体简" charset="-122"/>
              </a:rPr>
              <a:t>所示，标记为</a:t>
            </a:r>
            <a:r>
              <a:rPr lang="en-US" altLang="zh-CN" sz="2000" dirty="0">
                <a:ea typeface="经典宋体简" charset="-122"/>
              </a:rPr>
              <a:t>(2</a:t>
            </a:r>
            <a:r>
              <a:rPr lang="zh-CN" altLang="en-US" sz="2000" dirty="0">
                <a:ea typeface="经典宋体简" charset="-122"/>
              </a:rPr>
              <a:t>，</a:t>
            </a:r>
            <a:r>
              <a:rPr lang="en-US" altLang="zh-CN" sz="2000" dirty="0">
                <a:ea typeface="经典宋体简" charset="-122"/>
              </a:rPr>
              <a:t>1</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。此时，只有</a:t>
            </a:r>
            <a:r>
              <a:rPr lang="en-US" altLang="zh-CN" sz="2000" dirty="0">
                <a:ea typeface="经典宋体简" charset="-122"/>
              </a:rPr>
              <a:t>t</a:t>
            </a:r>
            <a:r>
              <a:rPr lang="en-US" altLang="zh-CN" sz="2000" baseline="-25000" dirty="0">
                <a:ea typeface="经典宋体简" charset="-122"/>
              </a:rPr>
              <a:t>2</a:t>
            </a:r>
            <a:r>
              <a:rPr lang="zh-CN" altLang="en-US" sz="2000" dirty="0">
                <a:ea typeface="经典宋体简" charset="-122"/>
              </a:rPr>
              <a:t>可以被激发。如果</a:t>
            </a:r>
            <a:r>
              <a:rPr lang="en-US" altLang="zh-CN" sz="2000" dirty="0">
                <a:ea typeface="经典宋体简" charset="-122"/>
              </a:rPr>
              <a:t>t</a:t>
            </a:r>
            <a:r>
              <a:rPr lang="en-US" altLang="zh-CN" sz="2000" baseline="-25000" dirty="0">
                <a:ea typeface="经典宋体简" charset="-122"/>
              </a:rPr>
              <a:t>2</a:t>
            </a:r>
            <a:r>
              <a:rPr lang="zh-CN" altLang="en-US" sz="2000" dirty="0">
                <a:ea typeface="经典宋体简" charset="-122"/>
              </a:rPr>
              <a:t>也被激发了，则权标从</a:t>
            </a:r>
            <a:r>
              <a:rPr lang="en-US" altLang="zh-CN" sz="2000" dirty="0">
                <a:ea typeface="经典宋体简" charset="-122"/>
              </a:rPr>
              <a:t>P</a:t>
            </a:r>
            <a:r>
              <a:rPr lang="en-US" altLang="zh-CN" sz="2000" baseline="-25000" dirty="0">
                <a:ea typeface="经典宋体简" charset="-122"/>
              </a:rPr>
              <a:t>2</a:t>
            </a:r>
            <a:r>
              <a:rPr lang="zh-CN" altLang="en-US" sz="2000" dirty="0">
                <a:ea typeface="经典宋体简" charset="-122"/>
              </a:rPr>
              <a:t>中移出，两个新权标被放在</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上，结果如下图</a:t>
            </a:r>
            <a:r>
              <a:rPr lang="en-US" altLang="zh-CN" sz="2000" dirty="0">
                <a:ea typeface="经典宋体简" charset="-122"/>
              </a:rPr>
              <a:t>3</a:t>
            </a:r>
            <a:r>
              <a:rPr lang="zh-CN" altLang="en-US" sz="2000" dirty="0">
                <a:ea typeface="经典宋体简" charset="-122"/>
              </a:rPr>
              <a:t>所示，标记为</a:t>
            </a:r>
            <a:r>
              <a:rPr lang="en-US" altLang="zh-CN" sz="2000" dirty="0">
                <a:ea typeface="经典宋体简" charset="-122"/>
              </a:rPr>
              <a:t>(2</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a:t>
            </a:r>
            <a:r>
              <a:rPr lang="en-US" altLang="zh-CN" sz="2000" dirty="0">
                <a:ea typeface="经典宋体简" charset="-122"/>
              </a:rPr>
              <a:t>2</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7" name="图片 3">
            <a:extLst>
              <a:ext uri="{FF2B5EF4-FFF2-40B4-BE49-F238E27FC236}">
                <a16:creationId xmlns:a16="http://schemas.microsoft.com/office/drawing/2014/main" id="{1EB2EAC0-7F58-4357-907D-2C5FD7C4F0E6}"/>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4124326"/>
            <a:ext cx="2383666" cy="1241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图片 4">
            <a:extLst>
              <a:ext uri="{FF2B5EF4-FFF2-40B4-BE49-F238E27FC236}">
                <a16:creationId xmlns:a16="http://schemas.microsoft.com/office/drawing/2014/main" id="{DBC26AA4-3459-4CFB-A90C-1F4E84212029}"/>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4114800"/>
            <a:ext cx="2620065" cy="12890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图片 6">
            <a:extLst>
              <a:ext uri="{FF2B5EF4-FFF2-40B4-BE49-F238E27FC236}">
                <a16:creationId xmlns:a16="http://schemas.microsoft.com/office/drawing/2014/main" id="{A96BB91D-1953-46BA-9F44-FEB1D8796795}"/>
              </a:ext>
            </a:extLst>
          </p:cNvPr>
          <p:cNvPicPr preferRelativeResize="0">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4114800"/>
            <a:ext cx="2620065" cy="1268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7296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96</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更形式化地说，</a:t>
            </a:r>
            <a:r>
              <a:rPr lang="en-US" altLang="zh-CN" sz="2000" dirty="0">
                <a:ea typeface="经典宋体简" charset="-122"/>
              </a:rPr>
              <a:t>Petri</a:t>
            </a:r>
            <a:r>
              <a:rPr lang="zh-CN" altLang="en-US" sz="2000" dirty="0">
                <a:ea typeface="经典宋体简" charset="-122"/>
              </a:rPr>
              <a:t>网</a:t>
            </a:r>
            <a:r>
              <a:rPr lang="en-US" altLang="zh-CN" sz="2000" dirty="0">
                <a:ea typeface="经典宋体简" charset="-122"/>
              </a:rPr>
              <a:t>C=(P</a:t>
            </a:r>
            <a:r>
              <a:rPr lang="zh-CN" altLang="en-US" sz="2000" dirty="0">
                <a:ea typeface="经典宋体简" charset="-122"/>
              </a:rPr>
              <a:t>，</a:t>
            </a:r>
            <a:r>
              <a:rPr lang="en-US" altLang="zh-CN" sz="2000" dirty="0">
                <a:ea typeface="经典宋体简" charset="-122"/>
              </a:rPr>
              <a:t>T</a:t>
            </a:r>
            <a:r>
              <a:rPr lang="zh-CN" altLang="en-US" sz="2000" dirty="0">
                <a:ea typeface="经典宋体简" charset="-122"/>
              </a:rPr>
              <a:t>，</a:t>
            </a:r>
            <a:r>
              <a:rPr lang="en-US" altLang="zh-CN" sz="2000" dirty="0">
                <a:ea typeface="经典宋体简" charset="-122"/>
              </a:rPr>
              <a:t>I</a:t>
            </a:r>
            <a:r>
              <a:rPr lang="zh-CN" altLang="en-US" sz="2000" dirty="0">
                <a:ea typeface="经典宋体简" charset="-122"/>
              </a:rPr>
              <a:t>，</a:t>
            </a:r>
            <a:r>
              <a:rPr lang="en-US" altLang="zh-CN" sz="2000" dirty="0">
                <a:ea typeface="经典宋体简" charset="-122"/>
              </a:rPr>
              <a:t>O)</a:t>
            </a:r>
            <a:r>
              <a:rPr lang="zh-CN" altLang="en-US" sz="2000" dirty="0">
                <a:ea typeface="经典宋体简" charset="-122"/>
              </a:rPr>
              <a:t>中的标记</a:t>
            </a:r>
            <a:r>
              <a:rPr lang="en-US" altLang="zh-CN" sz="2000" dirty="0">
                <a:ea typeface="经典宋体简" charset="-122"/>
              </a:rPr>
              <a:t>M</a:t>
            </a:r>
            <a:r>
              <a:rPr lang="zh-CN" altLang="en-US" sz="2000" dirty="0">
                <a:ea typeface="经典宋体简" charset="-122"/>
              </a:rPr>
              <a:t>，是由一组位置</a:t>
            </a:r>
            <a:r>
              <a:rPr lang="en-US" altLang="zh-CN" sz="2000" dirty="0">
                <a:ea typeface="经典宋体简" charset="-122"/>
              </a:rPr>
              <a:t>P</a:t>
            </a:r>
            <a:r>
              <a:rPr lang="zh-CN" altLang="en-US" sz="2000" dirty="0">
                <a:ea typeface="经典宋体简" charset="-122"/>
              </a:rPr>
              <a:t>到一组非负整数的映射：</a:t>
            </a:r>
          </a:p>
          <a:p>
            <a:pPr marL="0" indent="0" algn="ctr" eaLnBrk="1" hangingPunct="1">
              <a:lnSpc>
                <a:spcPct val="150000"/>
              </a:lnSpc>
              <a:buNone/>
            </a:pPr>
            <a:r>
              <a:rPr lang="en-US" altLang="zh-CN" sz="2000" b="1" dirty="0">
                <a:ea typeface="经典宋体简" charset="-122"/>
              </a:rPr>
              <a:t>M</a:t>
            </a:r>
            <a:r>
              <a:rPr lang="zh-CN" altLang="en-US" sz="2000" b="1" dirty="0">
                <a:ea typeface="经典宋体简" charset="-122"/>
              </a:rPr>
              <a:t>：</a:t>
            </a:r>
            <a:r>
              <a:rPr lang="en-US" altLang="zh-CN" sz="2000" b="1" dirty="0">
                <a:ea typeface="经典宋体简" charset="-122"/>
              </a:rPr>
              <a:t>P→</a:t>
            </a:r>
            <a:r>
              <a:rPr lang="zh-CN" altLang="en-US" sz="2000" b="1" dirty="0">
                <a:ea typeface="经典宋体简" charset="-122"/>
              </a:rPr>
              <a:t>｛</a:t>
            </a:r>
            <a:r>
              <a:rPr lang="en-US" altLang="zh-CN" sz="2000" b="1" dirty="0">
                <a:ea typeface="经典宋体简" charset="-122"/>
              </a:rPr>
              <a:t>0</a:t>
            </a:r>
            <a:r>
              <a:rPr lang="zh-CN" altLang="en-US" sz="2000" b="1" dirty="0">
                <a:ea typeface="经典宋体简" charset="-122"/>
              </a:rPr>
              <a:t>，</a:t>
            </a:r>
            <a:r>
              <a:rPr lang="en-US" altLang="zh-CN" sz="2000" b="1" dirty="0">
                <a:ea typeface="经典宋体简" charset="-122"/>
              </a:rPr>
              <a:t>1</a:t>
            </a:r>
            <a:r>
              <a:rPr lang="zh-CN" altLang="en-US" sz="2000" b="1" dirty="0">
                <a:ea typeface="经典宋体简" charset="-122"/>
              </a:rPr>
              <a:t>，</a:t>
            </a:r>
            <a:r>
              <a:rPr lang="en-US" altLang="zh-CN" sz="2000" b="1" dirty="0">
                <a:ea typeface="经典宋体简" charset="-122"/>
              </a:rPr>
              <a:t>2</a:t>
            </a:r>
            <a:r>
              <a:rPr lang="zh-CN" altLang="en-US" sz="2000" b="1" dirty="0">
                <a:ea typeface="经典宋体简" charset="-122"/>
              </a:rPr>
              <a:t>，</a:t>
            </a:r>
            <a:r>
              <a:rPr lang="en-US" altLang="zh-CN" sz="2000" b="1" dirty="0">
                <a:ea typeface="经典宋体简" charset="-122"/>
              </a:rPr>
              <a:t>…</a:t>
            </a:r>
            <a:r>
              <a:rPr lang="zh-CN" altLang="en-US" sz="2000" b="1" dirty="0">
                <a:ea typeface="经典宋体简" charset="-122"/>
              </a:rPr>
              <a:t>｝</a:t>
            </a:r>
          </a:p>
          <a:p>
            <a:pPr eaLnBrk="1" hangingPunct="1">
              <a:lnSpc>
                <a:spcPct val="150000"/>
              </a:lnSpc>
            </a:pPr>
            <a:r>
              <a:rPr lang="zh-CN" altLang="en-US" sz="2000" dirty="0">
                <a:ea typeface="经典宋体简" charset="-122"/>
              </a:rPr>
              <a:t>带有标记的</a:t>
            </a:r>
            <a:r>
              <a:rPr lang="en-US" altLang="zh-CN" sz="2000" dirty="0">
                <a:ea typeface="经典宋体简" charset="-122"/>
              </a:rPr>
              <a:t>Petri</a:t>
            </a:r>
            <a:r>
              <a:rPr lang="zh-CN" altLang="en-US" sz="2000" dirty="0">
                <a:ea typeface="经典宋体简" charset="-122"/>
              </a:rPr>
              <a:t>网成为一个五元组</a:t>
            </a:r>
            <a:r>
              <a:rPr lang="en-US" altLang="zh-CN" sz="2000" dirty="0">
                <a:ea typeface="经典宋体简" charset="-122"/>
              </a:rPr>
              <a:t>(P</a:t>
            </a:r>
            <a:r>
              <a:rPr lang="zh-CN" altLang="en-US" sz="2000" dirty="0">
                <a:ea typeface="经典宋体简" charset="-122"/>
              </a:rPr>
              <a:t>，</a:t>
            </a:r>
            <a:r>
              <a:rPr lang="en-US" altLang="zh-CN" sz="2000" dirty="0">
                <a:ea typeface="经典宋体简" charset="-122"/>
              </a:rPr>
              <a:t>T</a:t>
            </a:r>
            <a:r>
              <a:rPr lang="zh-CN" altLang="en-US" sz="2000" dirty="0">
                <a:ea typeface="经典宋体简" charset="-122"/>
              </a:rPr>
              <a:t>，</a:t>
            </a:r>
            <a:r>
              <a:rPr lang="en-US" altLang="zh-CN" sz="2000" dirty="0">
                <a:ea typeface="经典宋体简" charset="-122"/>
              </a:rPr>
              <a:t>I</a:t>
            </a:r>
            <a:r>
              <a:rPr lang="zh-CN" altLang="en-US" sz="2000" dirty="0">
                <a:ea typeface="经典宋体简" charset="-122"/>
              </a:rPr>
              <a:t>，</a:t>
            </a:r>
            <a:r>
              <a:rPr lang="en-US" altLang="zh-CN" sz="2000" dirty="0">
                <a:ea typeface="经典宋体简" charset="-122"/>
              </a:rPr>
              <a:t>O</a:t>
            </a:r>
            <a:r>
              <a:rPr lang="zh-CN" altLang="en-US" sz="2000" dirty="0">
                <a:ea typeface="经典宋体简" charset="-122"/>
              </a:rPr>
              <a:t>，</a:t>
            </a:r>
            <a:r>
              <a:rPr lang="en-US" altLang="zh-CN" sz="2000" dirty="0">
                <a:ea typeface="经典宋体简" charset="-122"/>
              </a:rPr>
              <a:t>M)</a:t>
            </a:r>
            <a:r>
              <a:rPr lang="zh-CN" altLang="en-US" sz="2000" dirty="0">
                <a:ea typeface="经典宋体简" charset="-122"/>
              </a:rPr>
              <a:t>。</a:t>
            </a:r>
          </a:p>
          <a:p>
            <a:pPr eaLnBrk="1" hangingPunct="1">
              <a:lnSpc>
                <a:spcPct val="150000"/>
              </a:lnSpc>
            </a:pPr>
            <a:r>
              <a:rPr lang="zh-CN" altLang="en-US" sz="2000" dirty="0">
                <a:ea typeface="经典宋体简" charset="-122"/>
              </a:rPr>
              <a:t>对</a:t>
            </a:r>
            <a:r>
              <a:rPr lang="en-US" altLang="zh-CN" sz="2000" dirty="0">
                <a:ea typeface="经典宋体简" charset="-122"/>
              </a:rPr>
              <a:t>Petri</a:t>
            </a:r>
            <a:r>
              <a:rPr lang="zh-CN" altLang="en-US" sz="2000" dirty="0">
                <a:ea typeface="经典宋体简" charset="-122"/>
              </a:rPr>
              <a:t>网的一个重要扩充是加入禁止线。如图所示，禁止线是用一个小圆圈而不是用箭头标记的输入线。</a:t>
            </a:r>
            <a:endParaRPr lang="en-US" altLang="zh-CN" sz="2000" dirty="0">
              <a:ea typeface="经典宋体简" charset="-122"/>
            </a:endParaRPr>
          </a:p>
          <a:p>
            <a:pPr lvl="1" eaLnBrk="1" hangingPunct="1">
              <a:lnSpc>
                <a:spcPct val="150000"/>
              </a:lnSpc>
            </a:pPr>
            <a:r>
              <a:rPr lang="zh-CN" altLang="en-US" sz="1600" dirty="0">
                <a:ea typeface="经典宋体简" charset="-122"/>
              </a:rPr>
              <a:t>若一个位置</a:t>
            </a:r>
            <a:r>
              <a:rPr lang="en-US" altLang="zh-CN" sz="1600" dirty="0">
                <a:ea typeface="经典宋体简" charset="-122"/>
              </a:rPr>
              <a:t>P</a:t>
            </a:r>
            <a:r>
              <a:rPr lang="zh-CN" altLang="en-US" sz="1600" dirty="0">
                <a:ea typeface="经典宋体简" charset="-122"/>
              </a:rPr>
              <a:t>通过禁止线连接到转换，只有在该位置</a:t>
            </a:r>
            <a:r>
              <a:rPr lang="en-US" altLang="zh-CN" sz="1600" dirty="0">
                <a:ea typeface="经典宋体简" charset="-122"/>
              </a:rPr>
              <a:t>P</a:t>
            </a:r>
            <a:r>
              <a:rPr lang="zh-CN" altLang="en-US" sz="1600" dirty="0">
                <a:ea typeface="经典宋体简" charset="-122"/>
              </a:rPr>
              <a:t>中权标数量为零时，该转换才能被触发。</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10" name="图片 2">
            <a:extLst>
              <a:ext uri="{FF2B5EF4-FFF2-40B4-BE49-F238E27FC236}">
                <a16:creationId xmlns:a16="http://schemas.microsoft.com/office/drawing/2014/main" id="{F9526E34-990C-42FF-BFC2-E52E1C1A2753}"/>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4742726"/>
            <a:ext cx="3048000" cy="2115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07528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97</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现在把</a:t>
            </a:r>
            <a:r>
              <a:rPr lang="en-US" altLang="zh-CN" sz="2000" dirty="0">
                <a:ea typeface="经典宋体简" charset="-122"/>
              </a:rPr>
              <a:t>Petri</a:t>
            </a:r>
            <a:r>
              <a:rPr lang="zh-CN" altLang="en-US" sz="2000" dirty="0">
                <a:ea typeface="经典宋体简" charset="-122"/>
              </a:rPr>
              <a:t>网应用于上一节讨论过的电梯问题。当用</a:t>
            </a:r>
            <a:r>
              <a:rPr lang="en-US" altLang="zh-CN" sz="2000" dirty="0">
                <a:ea typeface="经典宋体简" charset="-122"/>
              </a:rPr>
              <a:t>Petri</a:t>
            </a:r>
            <a:r>
              <a:rPr lang="zh-CN" altLang="en-US" sz="2000" dirty="0">
                <a:ea typeface="经典宋体简" charset="-122"/>
              </a:rPr>
              <a:t>网表示电梯系统的规格说明时，每个楼层用一个位置</a:t>
            </a:r>
            <a:r>
              <a:rPr lang="en-US" altLang="zh-CN" sz="2000" dirty="0">
                <a:ea typeface="经典宋体简" charset="-122"/>
              </a:rPr>
              <a:t>F</a:t>
            </a:r>
            <a:r>
              <a:rPr lang="en-US" altLang="zh-CN" sz="2000" baseline="-25000" dirty="0">
                <a:ea typeface="经典宋体简" charset="-122"/>
              </a:rPr>
              <a:t>f</a:t>
            </a:r>
            <a:r>
              <a:rPr lang="zh-CN" altLang="en-US" sz="2000" dirty="0">
                <a:ea typeface="经典宋体简" charset="-122"/>
              </a:rPr>
              <a:t>代表</a:t>
            </a:r>
            <a:r>
              <a:rPr lang="en-US" altLang="zh-CN" sz="2000" dirty="0">
                <a:ea typeface="经典宋体简" charset="-122"/>
              </a:rPr>
              <a:t>(1≤f≤m)</a:t>
            </a:r>
            <a:r>
              <a:rPr lang="zh-CN" altLang="en-US" sz="2000" dirty="0">
                <a:ea typeface="经典宋体简" charset="-122"/>
              </a:rPr>
              <a:t>，在</a:t>
            </a:r>
            <a:r>
              <a:rPr lang="en-US" altLang="zh-CN" sz="2000" dirty="0">
                <a:ea typeface="经典宋体简" charset="-122"/>
              </a:rPr>
              <a:t>Petri</a:t>
            </a:r>
            <a:r>
              <a:rPr lang="zh-CN" altLang="en-US" sz="2000" dirty="0">
                <a:ea typeface="经典宋体简" charset="-122"/>
              </a:rPr>
              <a:t>网中电梯是用一个权标代表的。</a:t>
            </a:r>
            <a:r>
              <a:rPr lang="zh-CN" altLang="en-US" sz="2000" b="1" dirty="0">
                <a:ea typeface="经典宋体简" charset="-122"/>
              </a:rPr>
              <a:t>在位置</a:t>
            </a:r>
            <a:r>
              <a:rPr lang="en-US" altLang="zh-CN" sz="2000" b="1" dirty="0">
                <a:ea typeface="经典宋体简" charset="-122"/>
              </a:rPr>
              <a:t>F</a:t>
            </a:r>
            <a:r>
              <a:rPr lang="en-US" altLang="zh-CN" sz="2000" b="1" baseline="-25000" dirty="0">
                <a:ea typeface="经典宋体简" charset="-122"/>
              </a:rPr>
              <a:t>f</a:t>
            </a:r>
            <a:r>
              <a:rPr lang="zh-CN" altLang="en-US" sz="2000" b="1" dirty="0">
                <a:ea typeface="经典宋体简" charset="-122"/>
              </a:rPr>
              <a:t>上有权标，表示在楼层</a:t>
            </a:r>
            <a:r>
              <a:rPr lang="en-US" altLang="zh-CN" sz="2000" b="1" dirty="0">
                <a:ea typeface="经典宋体简" charset="-122"/>
              </a:rPr>
              <a:t>f</a:t>
            </a:r>
            <a:r>
              <a:rPr lang="zh-CN" altLang="en-US" sz="2000" b="1" dirty="0">
                <a:ea typeface="经典宋体简" charset="-122"/>
              </a:rPr>
              <a:t>上有电梯。</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3356469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98</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en-US" altLang="zh-CN" sz="2000" dirty="0">
                <a:ea typeface="经典宋体简" charset="-122"/>
              </a:rPr>
              <a:t>1. </a:t>
            </a:r>
            <a:r>
              <a:rPr lang="zh-CN" altLang="en-US" sz="2000" dirty="0">
                <a:ea typeface="经典宋体简" charset="-122"/>
              </a:rPr>
              <a:t>电梯按钮</a:t>
            </a:r>
          </a:p>
          <a:p>
            <a:pPr eaLnBrk="1" hangingPunct="1">
              <a:lnSpc>
                <a:spcPct val="150000"/>
              </a:lnSpc>
            </a:pPr>
            <a:r>
              <a:rPr lang="zh-CN" altLang="en-US" sz="2000" dirty="0">
                <a:ea typeface="经典宋体简" charset="-122"/>
              </a:rPr>
              <a:t>电梯问题的第一个约束条件描述了电梯按钮的行为。</a:t>
            </a:r>
          </a:p>
          <a:p>
            <a:pPr eaLnBrk="1" hangingPunct="1">
              <a:lnSpc>
                <a:spcPct val="150000"/>
              </a:lnSpc>
            </a:pPr>
            <a:r>
              <a:rPr lang="zh-CN" altLang="en-US" sz="2000" dirty="0">
                <a:ea typeface="经典宋体简" charset="-122"/>
              </a:rPr>
              <a:t>第一条约束</a:t>
            </a:r>
            <a:r>
              <a:rPr lang="en-US" altLang="zh-CN" sz="2000" dirty="0">
                <a:ea typeface="经典宋体简" charset="-122"/>
              </a:rPr>
              <a:t>C1</a:t>
            </a:r>
            <a:r>
              <a:rPr lang="zh-CN" altLang="en-US" sz="2000" dirty="0">
                <a:ea typeface="经典宋体简" charset="-122"/>
              </a:rPr>
              <a:t>：每部电梯有</a:t>
            </a:r>
            <a:r>
              <a:rPr lang="en-US" altLang="zh-CN" sz="2000" dirty="0">
                <a:ea typeface="经典宋体简" charset="-122"/>
              </a:rPr>
              <a:t>m</a:t>
            </a:r>
            <a:r>
              <a:rPr lang="zh-CN" altLang="en-US" sz="2000" dirty="0">
                <a:ea typeface="经典宋体简" charset="-122"/>
              </a:rPr>
              <a:t>个按钮，每层对应一个按钮。当按下一个按钮时该按钮指示灯亮，指示电梯移往相应的楼层。当电梯到达指定的楼层时，按钮将熄灭。</a:t>
            </a:r>
          </a:p>
          <a:p>
            <a:pPr eaLnBrk="1" hangingPunct="1">
              <a:lnSpc>
                <a:spcPct val="150000"/>
              </a:lnSpc>
            </a:pPr>
            <a:r>
              <a:rPr lang="zh-CN" altLang="en-US" sz="2000" dirty="0">
                <a:ea typeface="经典宋体简" charset="-122"/>
              </a:rPr>
              <a:t>为了用</a:t>
            </a:r>
            <a:r>
              <a:rPr lang="en-US" altLang="zh-CN" sz="2000" dirty="0">
                <a:ea typeface="经典宋体简" charset="-122"/>
              </a:rPr>
              <a:t>Petri</a:t>
            </a:r>
            <a:r>
              <a:rPr lang="zh-CN" altLang="en-US" sz="2000" dirty="0">
                <a:ea typeface="经典宋体简" charset="-122"/>
              </a:rPr>
              <a:t>网表达电梯按钮的规格说明，在</a:t>
            </a:r>
            <a:r>
              <a:rPr lang="en-US" altLang="zh-CN" sz="2000" dirty="0">
                <a:ea typeface="经典宋体简" charset="-122"/>
              </a:rPr>
              <a:t>Petri</a:t>
            </a:r>
            <a:r>
              <a:rPr lang="zh-CN" altLang="en-US" sz="2000" dirty="0">
                <a:ea typeface="经典宋体简" charset="-122"/>
              </a:rPr>
              <a:t>网中还必须设置其他的位置。电梯中楼层</a:t>
            </a:r>
            <a:r>
              <a:rPr lang="en-US" altLang="zh-CN" sz="2000" dirty="0">
                <a:ea typeface="经典宋体简" charset="-122"/>
              </a:rPr>
              <a:t>f</a:t>
            </a:r>
            <a:r>
              <a:rPr lang="zh-CN" altLang="en-US" sz="2000" dirty="0">
                <a:ea typeface="经典宋体简" charset="-122"/>
              </a:rPr>
              <a:t>的按钮，在</a:t>
            </a:r>
            <a:r>
              <a:rPr lang="en-US" altLang="zh-CN" sz="2000" dirty="0">
                <a:ea typeface="经典宋体简" charset="-122"/>
              </a:rPr>
              <a:t>Petri</a:t>
            </a:r>
            <a:r>
              <a:rPr lang="zh-CN" altLang="en-US" sz="2000" dirty="0">
                <a:ea typeface="经典宋体简" charset="-122"/>
              </a:rPr>
              <a:t>网中用位置</a:t>
            </a:r>
            <a:r>
              <a:rPr lang="en-US" altLang="zh-CN" sz="2000" dirty="0" err="1">
                <a:ea typeface="经典宋体简" charset="-122"/>
              </a:rPr>
              <a:t>EB</a:t>
            </a:r>
            <a:r>
              <a:rPr lang="en-US" altLang="zh-CN" sz="1800" dirty="0" err="1">
                <a:ea typeface="经典宋体简" charset="-122"/>
              </a:rPr>
              <a:t>f</a:t>
            </a:r>
            <a:r>
              <a:rPr lang="zh-CN" altLang="en-US" sz="2000" dirty="0">
                <a:ea typeface="经典宋体简" charset="-122"/>
              </a:rPr>
              <a:t>表示</a:t>
            </a:r>
            <a:r>
              <a:rPr lang="en-US" altLang="zh-CN" sz="2000" dirty="0">
                <a:ea typeface="经典宋体简" charset="-122"/>
              </a:rPr>
              <a:t>(1≤f≤m)</a:t>
            </a:r>
            <a:r>
              <a:rPr lang="zh-CN" altLang="en-US" sz="2000" dirty="0">
                <a:ea typeface="经典宋体简" charset="-122"/>
              </a:rPr>
              <a:t>。在</a:t>
            </a:r>
            <a:r>
              <a:rPr lang="en-US" altLang="zh-CN" sz="2000" dirty="0" err="1">
                <a:ea typeface="经典宋体简" charset="-122"/>
              </a:rPr>
              <a:t>EB</a:t>
            </a:r>
            <a:r>
              <a:rPr lang="en-US" altLang="zh-CN" sz="1800" dirty="0" err="1">
                <a:ea typeface="经典宋体简" charset="-122"/>
              </a:rPr>
              <a:t>f</a:t>
            </a:r>
            <a:r>
              <a:rPr lang="zh-CN" altLang="en-US" sz="2000" dirty="0">
                <a:ea typeface="经典宋体简" charset="-122"/>
              </a:rPr>
              <a:t>上有一个权标，就表示电梯内楼层</a:t>
            </a:r>
            <a:r>
              <a:rPr lang="en-US" altLang="zh-CN" sz="2000" dirty="0">
                <a:ea typeface="经典宋体简" charset="-122"/>
              </a:rPr>
              <a:t>f</a:t>
            </a:r>
            <a:r>
              <a:rPr lang="zh-CN" altLang="en-US" sz="2000" dirty="0">
                <a:ea typeface="经典宋体简" charset="-122"/>
              </a:rPr>
              <a:t>的按钮被按下了。</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1446211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99</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电梯按钮只有在第一次被按下时才会由暗变亮，以后再按它则只会被忽略。如图所示的</a:t>
            </a:r>
            <a:r>
              <a:rPr lang="en-US" altLang="zh-CN" sz="2000" dirty="0">
                <a:ea typeface="经典宋体简" charset="-122"/>
              </a:rPr>
              <a:t>Petri</a:t>
            </a:r>
            <a:r>
              <a:rPr lang="zh-CN" altLang="en-US" sz="2000" dirty="0">
                <a:ea typeface="经典宋体简" charset="-122"/>
              </a:rPr>
              <a:t>网描述了电梯按钮的行为规律。首先，假设按钮没有发亮，在位置</a:t>
            </a:r>
            <a:r>
              <a:rPr lang="en-US" altLang="zh-CN" sz="2000" dirty="0" err="1">
                <a:ea typeface="经典宋体简" charset="-122"/>
              </a:rPr>
              <a:t>EB</a:t>
            </a:r>
            <a:r>
              <a:rPr lang="en-US" altLang="zh-CN" sz="2000" baseline="-25000" dirty="0" err="1">
                <a:ea typeface="经典宋体简" charset="-122"/>
              </a:rPr>
              <a:t>f</a:t>
            </a:r>
            <a:r>
              <a:rPr lang="zh-CN" altLang="en-US" sz="2000" dirty="0">
                <a:ea typeface="经典宋体简" charset="-122"/>
              </a:rPr>
              <a:t>上没有权标，在存在禁止线的情况下，转换“</a:t>
            </a:r>
            <a:r>
              <a:rPr lang="en-US" altLang="zh-CN" sz="2000" dirty="0" err="1">
                <a:ea typeface="经典宋体简" charset="-122"/>
              </a:rPr>
              <a:t>EB</a:t>
            </a:r>
            <a:r>
              <a:rPr lang="en-US" altLang="zh-CN" sz="2000" baseline="-25000" dirty="0" err="1">
                <a:ea typeface="经典宋体简" charset="-122"/>
              </a:rPr>
              <a:t>f</a:t>
            </a:r>
            <a:r>
              <a:rPr lang="zh-CN" altLang="en-US" sz="2000" dirty="0">
                <a:ea typeface="经典宋体简" charset="-122"/>
              </a:rPr>
              <a:t>被按下”是允许发生的。现在按下按钮，则转换被激发并在</a:t>
            </a:r>
            <a:r>
              <a:rPr lang="en-US" altLang="zh-CN" sz="2000" dirty="0" err="1">
                <a:ea typeface="经典宋体简" charset="-122"/>
              </a:rPr>
              <a:t>EB</a:t>
            </a:r>
            <a:r>
              <a:rPr lang="en-US" altLang="zh-CN" sz="2000" baseline="-25000" dirty="0" err="1">
                <a:ea typeface="经典宋体简" charset="-122"/>
              </a:rPr>
              <a:t>f</a:t>
            </a:r>
            <a:r>
              <a:rPr lang="zh-CN" altLang="en-US" sz="2000" dirty="0">
                <a:ea typeface="经典宋体简" charset="-122"/>
              </a:rPr>
              <a:t>上放置了一个权标</a:t>
            </a:r>
            <a:endParaRPr lang="en-US" altLang="zh-CN" sz="2000" dirty="0">
              <a:ea typeface="经典宋体简" charset="-122"/>
            </a:endParaRPr>
          </a:p>
          <a:p>
            <a:pPr eaLnBrk="1" hangingPunct="1">
              <a:lnSpc>
                <a:spcPct val="150000"/>
              </a:lnSpc>
            </a:pPr>
            <a:r>
              <a:rPr lang="zh-CN" altLang="en-US" sz="2000" dirty="0">
                <a:ea typeface="经典宋体简" charset="-122"/>
              </a:rPr>
              <a:t>如图所示。因此，位置</a:t>
            </a:r>
            <a:r>
              <a:rPr lang="en-US" altLang="zh-CN" sz="2000" dirty="0" err="1">
                <a:ea typeface="经典宋体简" charset="-122"/>
              </a:rPr>
              <a:t>EB</a:t>
            </a:r>
            <a:r>
              <a:rPr lang="en-US" altLang="zh-CN" sz="2000" baseline="-25000" dirty="0" err="1">
                <a:ea typeface="经典宋体简" charset="-122"/>
              </a:rPr>
              <a:t>f</a:t>
            </a:r>
            <a:r>
              <a:rPr lang="zh-CN" altLang="en-US" sz="2000" dirty="0">
                <a:ea typeface="经典宋体简" charset="-122"/>
              </a:rPr>
              <a:t>上的权标数不会多于</a:t>
            </a:r>
            <a:r>
              <a:rPr lang="en-US" altLang="zh-CN" sz="2000" dirty="0">
                <a:ea typeface="经典宋体简" charset="-122"/>
              </a:rPr>
              <a:t>1</a:t>
            </a:r>
            <a:r>
              <a:rPr lang="zh-CN" altLang="en-US" sz="2000"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1">
            <a:extLst>
              <a:ext uri="{FF2B5EF4-FFF2-40B4-BE49-F238E27FC236}">
                <a16:creationId xmlns:a16="http://schemas.microsoft.com/office/drawing/2014/main" id="{2537FE66-E690-4467-9D8B-599D31637465}"/>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433094"/>
            <a:ext cx="4537075" cy="195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180112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100</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假设电梯由</a:t>
            </a:r>
            <a:r>
              <a:rPr lang="en-US" altLang="zh-CN" sz="2000" dirty="0">
                <a:ea typeface="经典宋体简" charset="-122"/>
              </a:rPr>
              <a:t>g</a:t>
            </a:r>
            <a:r>
              <a:rPr lang="zh-CN" altLang="en-US" sz="2000" dirty="0">
                <a:ea typeface="经典宋体简" charset="-122"/>
              </a:rPr>
              <a:t>层驶向</a:t>
            </a:r>
            <a:r>
              <a:rPr lang="en-US" altLang="zh-CN" sz="2000" dirty="0">
                <a:ea typeface="经典宋体简" charset="-122"/>
              </a:rPr>
              <a:t>f</a:t>
            </a:r>
            <a:r>
              <a:rPr lang="zh-CN" altLang="en-US" sz="2000" dirty="0">
                <a:ea typeface="经典宋体简" charset="-122"/>
              </a:rPr>
              <a:t>层，因为电梯在</a:t>
            </a:r>
            <a:r>
              <a:rPr lang="en-US" altLang="zh-CN" sz="2000" dirty="0">
                <a:ea typeface="经典宋体简" charset="-122"/>
              </a:rPr>
              <a:t>g</a:t>
            </a:r>
            <a:r>
              <a:rPr lang="zh-CN" altLang="en-US" sz="2000" dirty="0">
                <a:ea typeface="经典宋体简" charset="-122"/>
              </a:rPr>
              <a:t>层，如图所示，位置</a:t>
            </a:r>
            <a:r>
              <a:rPr lang="en-US" altLang="zh-CN" sz="2000" dirty="0" err="1">
                <a:ea typeface="经典宋体简" charset="-122"/>
              </a:rPr>
              <a:t>Fg</a:t>
            </a:r>
            <a:r>
              <a:rPr lang="zh-CN" altLang="en-US" sz="2000" dirty="0">
                <a:ea typeface="经典宋体简" charset="-122"/>
              </a:rPr>
              <a:t>上有一个权标。由于每条输入线上各有一个权标，转换“电梯在运行”被激发，从而</a:t>
            </a:r>
            <a:r>
              <a:rPr lang="en-US" altLang="zh-CN" sz="2000" dirty="0" err="1">
                <a:ea typeface="经典宋体简" charset="-122"/>
              </a:rPr>
              <a:t>EBf</a:t>
            </a:r>
            <a:r>
              <a:rPr lang="zh-CN" altLang="en-US" sz="2000" dirty="0">
                <a:ea typeface="经典宋体简" charset="-122"/>
              </a:rPr>
              <a:t>和</a:t>
            </a:r>
            <a:r>
              <a:rPr lang="en-US" altLang="zh-CN" sz="2000" dirty="0" err="1">
                <a:ea typeface="经典宋体简" charset="-122"/>
              </a:rPr>
              <a:t>Fg</a:t>
            </a:r>
            <a:r>
              <a:rPr lang="zh-CN" altLang="en-US" sz="2000" dirty="0">
                <a:ea typeface="经典宋体简" charset="-122"/>
              </a:rPr>
              <a:t>上的权标被移走，按钮</a:t>
            </a:r>
            <a:r>
              <a:rPr lang="en-US" altLang="zh-CN" sz="2000" dirty="0" err="1">
                <a:ea typeface="经典宋体简" charset="-122"/>
              </a:rPr>
              <a:t>EBf</a:t>
            </a:r>
            <a:r>
              <a:rPr lang="zh-CN" altLang="en-US" sz="2000" dirty="0">
                <a:ea typeface="经典宋体简" charset="-122"/>
              </a:rPr>
              <a:t>被关闭，在位置</a:t>
            </a:r>
            <a:r>
              <a:rPr lang="en-US" altLang="zh-CN" sz="2000" dirty="0">
                <a:ea typeface="经典宋体简" charset="-122"/>
              </a:rPr>
              <a:t>Ff</a:t>
            </a:r>
            <a:r>
              <a:rPr lang="zh-CN" altLang="en-US" sz="2000" dirty="0">
                <a:ea typeface="经典宋体简" charset="-122"/>
              </a:rPr>
              <a:t>上出现一个新权标，即转换的激发使电梯由</a:t>
            </a:r>
            <a:r>
              <a:rPr lang="en-US" altLang="zh-CN" sz="2000" dirty="0">
                <a:ea typeface="经典宋体简" charset="-122"/>
              </a:rPr>
              <a:t>g</a:t>
            </a:r>
            <a:r>
              <a:rPr lang="zh-CN" altLang="en-US" sz="2000" dirty="0">
                <a:ea typeface="经典宋体简" charset="-122"/>
              </a:rPr>
              <a:t>层驶到</a:t>
            </a:r>
            <a:r>
              <a:rPr lang="en-US" altLang="zh-CN" sz="2000" dirty="0">
                <a:ea typeface="经典宋体简" charset="-122"/>
              </a:rPr>
              <a:t>f</a:t>
            </a:r>
            <a:r>
              <a:rPr lang="zh-CN" altLang="en-US" sz="2000" dirty="0">
                <a:ea typeface="经典宋体简" charset="-122"/>
              </a:rPr>
              <a:t>层。</a:t>
            </a:r>
          </a:p>
          <a:p>
            <a:pPr eaLnBrk="1" hangingPunct="1">
              <a:lnSpc>
                <a:spcPct val="150000"/>
              </a:lnSpc>
            </a:pPr>
            <a:r>
              <a:rPr lang="zh-CN" altLang="en-US" sz="2000" dirty="0">
                <a:ea typeface="经典宋体简" charset="-122"/>
              </a:rPr>
              <a:t>事实上，电梯由</a:t>
            </a:r>
            <a:r>
              <a:rPr lang="en-US" altLang="zh-CN" sz="2000" dirty="0">
                <a:ea typeface="经典宋体简" charset="-122"/>
              </a:rPr>
              <a:t>g</a:t>
            </a:r>
            <a:r>
              <a:rPr lang="zh-CN" altLang="en-US" sz="2000" dirty="0">
                <a:ea typeface="经典宋体简" charset="-122"/>
              </a:rPr>
              <a:t>层移到</a:t>
            </a:r>
            <a:r>
              <a:rPr lang="en-US" altLang="zh-CN" sz="2000" dirty="0">
                <a:ea typeface="经典宋体简" charset="-122"/>
              </a:rPr>
              <a:t>f</a:t>
            </a:r>
            <a:r>
              <a:rPr lang="zh-CN" altLang="en-US" sz="2000" dirty="0">
                <a:ea typeface="经典宋体简" charset="-122"/>
              </a:rPr>
              <a:t>层是需要时间的，为处理这个情况及其他类似的问题，</a:t>
            </a:r>
            <a:r>
              <a:rPr lang="en-US" altLang="zh-CN" sz="2000" dirty="0">
                <a:ea typeface="经典宋体简" charset="-122"/>
              </a:rPr>
              <a:t>Petri</a:t>
            </a:r>
            <a:r>
              <a:rPr lang="zh-CN" altLang="en-US" sz="2000" dirty="0">
                <a:ea typeface="经典宋体简" charset="-122"/>
              </a:rPr>
              <a:t>网模型中必须加入时限。也就是说，在标准</a:t>
            </a:r>
            <a:r>
              <a:rPr lang="en-US" altLang="zh-CN" sz="2000" dirty="0">
                <a:ea typeface="经典宋体简" charset="-122"/>
              </a:rPr>
              <a:t>Petri</a:t>
            </a:r>
            <a:r>
              <a:rPr lang="zh-CN" altLang="en-US" sz="2000" dirty="0">
                <a:ea typeface="经典宋体简" charset="-122"/>
              </a:rPr>
              <a:t>网中转换是瞬时完成的，而在现实情况下就需要时间控制</a:t>
            </a:r>
            <a:r>
              <a:rPr lang="en-US" altLang="zh-CN" sz="2000" dirty="0">
                <a:ea typeface="经典宋体简" charset="-122"/>
              </a:rPr>
              <a:t>Petri</a:t>
            </a:r>
            <a:r>
              <a:rPr lang="zh-CN" altLang="en-US" sz="2000" dirty="0">
                <a:ea typeface="经典宋体简" charset="-122"/>
              </a:rPr>
              <a:t>网，以使转换与非零时间相联系。</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1">
            <a:extLst>
              <a:ext uri="{FF2B5EF4-FFF2-40B4-BE49-F238E27FC236}">
                <a16:creationId xmlns:a16="http://schemas.microsoft.com/office/drawing/2014/main" id="{2537FE66-E690-4467-9D8B-599D31637465}"/>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5224463"/>
            <a:ext cx="3657600" cy="157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1">
            <a:extLst>
              <a:ext uri="{FF2B5EF4-FFF2-40B4-BE49-F238E27FC236}">
                <a16:creationId xmlns:a16="http://schemas.microsoft.com/office/drawing/2014/main" id="{30B3FB2D-C5D6-4FBB-B2E4-AFF1951C55F1}"/>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5037" y="5224462"/>
            <a:ext cx="3657600" cy="157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椭圆 1">
            <a:extLst>
              <a:ext uri="{FF2B5EF4-FFF2-40B4-BE49-F238E27FC236}">
                <a16:creationId xmlns:a16="http://schemas.microsoft.com/office/drawing/2014/main" id="{FA4FA9BD-B805-4BAA-BDAB-1544C9E6A139}"/>
              </a:ext>
            </a:extLst>
          </p:cNvPr>
          <p:cNvSpPr/>
          <p:nvPr/>
        </p:nvSpPr>
        <p:spPr>
          <a:xfrm>
            <a:off x="5867400" y="5562600"/>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D41A5C04-4989-439D-9F88-ECDB1D2056E7}"/>
              </a:ext>
            </a:extLst>
          </p:cNvPr>
          <p:cNvSpPr/>
          <p:nvPr/>
        </p:nvSpPr>
        <p:spPr>
          <a:xfrm>
            <a:off x="6550818" y="6443663"/>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11412FE8-1F19-4420-AE19-EFDD15754DDD}"/>
              </a:ext>
            </a:extLst>
          </p:cNvPr>
          <p:cNvSpPr/>
          <p:nvPr/>
        </p:nvSpPr>
        <p:spPr>
          <a:xfrm>
            <a:off x="8104981" y="5601763"/>
            <a:ext cx="48419" cy="4571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0036485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101</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
        <p:nvSpPr>
          <p:cNvPr id="6" name="TextBox 7">
            <a:extLst>
              <a:ext uri="{FF2B5EF4-FFF2-40B4-BE49-F238E27FC236}">
                <a16:creationId xmlns:a16="http://schemas.microsoft.com/office/drawing/2014/main" id="{D1131C83-49F1-499B-8EC8-51D1A9FEDCDD}"/>
              </a:ext>
            </a:extLst>
          </p:cNvPr>
          <p:cNvSpPr>
            <a:spLocks noChangeArrowheads="1"/>
          </p:cNvSpPr>
          <p:nvPr/>
        </p:nvSpPr>
        <p:spPr bwMode="auto">
          <a:xfrm>
            <a:off x="457200" y="1371600"/>
            <a:ext cx="8564563" cy="5426075"/>
          </a:xfrm>
          <a:prstGeom prst="rect">
            <a:avLst/>
          </a:prstGeom>
          <a:blipFill dpi="0" rotWithShape="0">
            <a:blip r:embed="rId3"/>
            <a:srcRect/>
            <a:stretch>
              <a:fillRect/>
            </a:stretch>
          </a:blip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r>
              <a:rPr lang="zh-CN" altLang="en-US" sz="1200" dirty="0">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31273504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102</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4683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图所示的情况为电梯由</a:t>
            </a:r>
            <a:r>
              <a:rPr lang="en-US" altLang="zh-CN" sz="2000" dirty="0">
                <a:ea typeface="经典宋体简" charset="-122"/>
              </a:rPr>
              <a:t>g</a:t>
            </a:r>
            <a:r>
              <a:rPr lang="zh-CN" altLang="en-US" sz="2000" dirty="0">
                <a:ea typeface="经典宋体简" charset="-122"/>
              </a:rPr>
              <a:t>层驶向</a:t>
            </a:r>
            <a:r>
              <a:rPr lang="en-US" altLang="zh-CN" sz="2000" dirty="0">
                <a:ea typeface="经典宋体简" charset="-122"/>
              </a:rPr>
              <a:t>f</a:t>
            </a:r>
            <a:r>
              <a:rPr lang="zh-CN" altLang="en-US" sz="2000" dirty="0">
                <a:ea typeface="经典宋体简" charset="-122"/>
              </a:rPr>
              <a:t>层。根据电梯乘客的要求，某一个楼层按钮亮或两个楼层按钮都亮。如果两个按钮都亮了，则只有一个按钮熄灭。</a:t>
            </a:r>
            <a:endParaRPr lang="en-US" altLang="zh-CN" sz="2000" dirty="0">
              <a:ea typeface="经典宋体简" charset="-122"/>
            </a:endParaRPr>
          </a:p>
          <a:p>
            <a:pPr eaLnBrk="1" hangingPunct="1">
              <a:lnSpc>
                <a:spcPct val="150000"/>
              </a:lnSpc>
            </a:pPr>
            <a:r>
              <a:rPr lang="zh-CN" altLang="en-US" sz="2000" dirty="0">
                <a:ea typeface="经典宋体简" charset="-122"/>
              </a:rPr>
              <a:t>图所示的</a:t>
            </a:r>
            <a:r>
              <a:rPr lang="en-US" altLang="zh-CN" sz="2000" dirty="0">
                <a:ea typeface="经典宋体简" charset="-122"/>
              </a:rPr>
              <a:t>Petri</a:t>
            </a:r>
            <a:r>
              <a:rPr lang="zh-CN" altLang="en-US" sz="2000" dirty="0">
                <a:ea typeface="经典宋体简" charset="-122"/>
              </a:rPr>
              <a:t>网可以保证，当两个按钮都亮了的时候，只有一个按钮熄灭。但是要保证按钮熄灭正确，则需要更复杂的</a:t>
            </a:r>
            <a:r>
              <a:rPr lang="en-US" altLang="zh-CN" sz="2000" dirty="0">
                <a:ea typeface="经典宋体简" charset="-122"/>
              </a:rPr>
              <a:t>Petri</a:t>
            </a:r>
            <a:r>
              <a:rPr lang="zh-CN" altLang="en-US" sz="2000" dirty="0">
                <a:ea typeface="经典宋体简" charset="-122"/>
              </a:rPr>
              <a:t>网模型，对此不做更进一步的介绍。</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
        <p:nvSpPr>
          <p:cNvPr id="2" name="椭圆 1">
            <a:extLst>
              <a:ext uri="{FF2B5EF4-FFF2-40B4-BE49-F238E27FC236}">
                <a16:creationId xmlns:a16="http://schemas.microsoft.com/office/drawing/2014/main" id="{FA4FA9BD-B805-4BAA-BDAB-1544C9E6A139}"/>
              </a:ext>
            </a:extLst>
          </p:cNvPr>
          <p:cNvSpPr/>
          <p:nvPr/>
        </p:nvSpPr>
        <p:spPr>
          <a:xfrm>
            <a:off x="5867400" y="5562600"/>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D41A5C04-4989-439D-9F88-ECDB1D2056E7}"/>
              </a:ext>
            </a:extLst>
          </p:cNvPr>
          <p:cNvSpPr/>
          <p:nvPr/>
        </p:nvSpPr>
        <p:spPr>
          <a:xfrm>
            <a:off x="6550818" y="6443663"/>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11412FE8-1F19-4420-AE19-EFDD15754DDD}"/>
              </a:ext>
            </a:extLst>
          </p:cNvPr>
          <p:cNvSpPr/>
          <p:nvPr/>
        </p:nvSpPr>
        <p:spPr>
          <a:xfrm>
            <a:off x="8104981" y="5601763"/>
            <a:ext cx="48419" cy="4571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
            <a:extLst>
              <a:ext uri="{FF2B5EF4-FFF2-40B4-BE49-F238E27FC236}">
                <a16:creationId xmlns:a16="http://schemas.microsoft.com/office/drawing/2014/main" id="{4FFA08B3-1523-4053-9286-24BD06D9B325}"/>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865582"/>
            <a:ext cx="3817938" cy="27826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66571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103</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6969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
        <p:nvSpPr>
          <p:cNvPr id="2" name="椭圆 1">
            <a:extLst>
              <a:ext uri="{FF2B5EF4-FFF2-40B4-BE49-F238E27FC236}">
                <a16:creationId xmlns:a16="http://schemas.microsoft.com/office/drawing/2014/main" id="{FA4FA9BD-B805-4BAA-BDAB-1544C9E6A139}"/>
              </a:ext>
            </a:extLst>
          </p:cNvPr>
          <p:cNvSpPr/>
          <p:nvPr/>
        </p:nvSpPr>
        <p:spPr>
          <a:xfrm>
            <a:off x="5867400" y="5562600"/>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D41A5C04-4989-439D-9F88-ECDB1D2056E7}"/>
              </a:ext>
            </a:extLst>
          </p:cNvPr>
          <p:cNvSpPr/>
          <p:nvPr/>
        </p:nvSpPr>
        <p:spPr>
          <a:xfrm>
            <a:off x="6550818" y="6443663"/>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11412FE8-1F19-4420-AE19-EFDD15754DDD}"/>
              </a:ext>
            </a:extLst>
          </p:cNvPr>
          <p:cNvSpPr/>
          <p:nvPr/>
        </p:nvSpPr>
        <p:spPr>
          <a:xfrm>
            <a:off x="8104981" y="5601763"/>
            <a:ext cx="48419" cy="4571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7">
            <a:extLst>
              <a:ext uri="{FF2B5EF4-FFF2-40B4-BE49-F238E27FC236}">
                <a16:creationId xmlns:a16="http://schemas.microsoft.com/office/drawing/2014/main" id="{6BD99C99-021E-42C7-BFAD-53E9DC8EADB2}"/>
              </a:ext>
            </a:extLst>
          </p:cNvPr>
          <p:cNvSpPr>
            <a:spLocks noChangeArrowheads="1"/>
          </p:cNvSpPr>
          <p:nvPr/>
        </p:nvSpPr>
        <p:spPr bwMode="auto">
          <a:xfrm>
            <a:off x="228600" y="1409699"/>
            <a:ext cx="8564563" cy="2957513"/>
          </a:xfrm>
          <a:prstGeom prst="rect">
            <a:avLst/>
          </a:prstGeom>
          <a:blipFill dpi="0" rotWithShape="0">
            <a:blip r:embed="rId3"/>
            <a:srcRect/>
            <a:stretch>
              <a:fillRect/>
            </a:stretch>
          </a:blip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r>
              <a:rPr lang="zh-CN" altLang="en-US" dirty="0">
                <a:ea typeface="经典宋体简" charset="-122"/>
              </a:rPr>
              <a:t> </a:t>
            </a:r>
          </a:p>
        </p:txBody>
      </p:sp>
      <p:pic>
        <p:nvPicPr>
          <p:cNvPr id="13" name="图片 1">
            <a:extLst>
              <a:ext uri="{FF2B5EF4-FFF2-40B4-BE49-F238E27FC236}">
                <a16:creationId xmlns:a16="http://schemas.microsoft.com/office/drawing/2014/main" id="{1D0A82DD-D91D-4ED5-868B-E014E05EDCF9}"/>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762893"/>
            <a:ext cx="4046538" cy="295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7651015"/>
      </p:ext>
    </p:extLst>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8597</TotalTime>
  <Words>16221</Words>
  <Application>Microsoft Office PowerPoint</Application>
  <PresentationFormat>全屏显示(4:3)</PresentationFormat>
  <Paragraphs>1319</Paragraphs>
  <Slides>103</Slides>
  <Notes>101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103</vt:i4>
      </vt:variant>
    </vt:vector>
  </HeadingPairs>
  <TitlesOfParts>
    <vt:vector size="110" baseType="lpstr">
      <vt:lpstr>PingFang SC</vt:lpstr>
      <vt:lpstr>黑体</vt:lpstr>
      <vt:lpstr>宋体</vt:lpstr>
      <vt:lpstr>Arial</vt:lpstr>
      <vt:lpstr>Times New Roman</vt:lpstr>
      <vt:lpstr>Wingdings</vt:lpstr>
      <vt:lpstr>Network</vt:lpstr>
      <vt:lpstr>PowerPoint 演示文稿</vt:lpstr>
      <vt:lpstr>Extending the Requirements Models</vt:lpstr>
      <vt:lpstr>Chapter 5 Outline</vt:lpstr>
      <vt:lpstr>Learning Objectives</vt:lpstr>
      <vt:lpstr>Chapter 5 Outline</vt:lpstr>
      <vt:lpstr>Use Case Descriptions</vt:lpstr>
      <vt:lpstr>Use Case Descriptions</vt:lpstr>
      <vt:lpstr>Fully Developed Use Case Description  Use case: Create customer account （创建客户账户）</vt:lpstr>
      <vt:lpstr>Fully Developed Use Case Description Create customer account (part 1 )</vt:lpstr>
      <vt:lpstr>Fully Developed Use Case Description  Use case: Create customer account</vt:lpstr>
      <vt:lpstr>Fully Developed Use Case Description Create customer account (part 2 )</vt:lpstr>
      <vt:lpstr>Use Case Description Details</vt:lpstr>
      <vt:lpstr>Use Case Description Details</vt:lpstr>
      <vt:lpstr>Use Case Description Details</vt:lpstr>
      <vt:lpstr>Another Fully Developed Use Case Description Example  Use case Ship items （运输物品）</vt:lpstr>
      <vt:lpstr>Fully Developed Use Case Description  Ship items (part 1 )</vt:lpstr>
      <vt:lpstr>Another Fully Developed Use Case Description Example  Use case Ship items</vt:lpstr>
      <vt:lpstr>Fully Developed Use Case Description Create customer account (part 2 )</vt:lpstr>
      <vt:lpstr>Chapter 5 Outline</vt:lpstr>
      <vt:lpstr>UML Activity Diagram for Use Case  Create Customer Account （创建客户账户）  Note: this shows flow of activities only</vt:lpstr>
      <vt:lpstr>UML Activity Diagram for Use Case  Fill shopping cart （添加购物车）  Note: this shows use case with &lt;&lt;includes&gt;&gt; reltionship</vt:lpstr>
      <vt:lpstr>Chapter 5 Outline</vt:lpstr>
      <vt:lpstr>System Sequence Diagram (SSD) Notation</vt:lpstr>
      <vt:lpstr>System Sequence Diagram (SSD) Notation</vt:lpstr>
      <vt:lpstr>System Sequence Diagram (SSD) Notation</vt:lpstr>
      <vt:lpstr>System Sequence Diagram (SSD) Notation</vt:lpstr>
      <vt:lpstr>System Sequence Diagram (SSD) Notation</vt:lpstr>
      <vt:lpstr>System Sequence Diagram (SSD)</vt:lpstr>
      <vt:lpstr>Message Notation</vt:lpstr>
      <vt:lpstr>Message Notation</vt:lpstr>
      <vt:lpstr>Message Notation</vt:lpstr>
      <vt:lpstr>Message Notation</vt:lpstr>
      <vt:lpstr>Message Notation</vt:lpstr>
      <vt:lpstr>Message Notation</vt:lpstr>
      <vt:lpstr>SSD Message Examples with Loop Frame （带环路的系统顺序图）  </vt:lpstr>
      <vt:lpstr>SSD Message Examples  Opt Frame (optional) 可选框架   Alt Frame (if-else) 判断框架</vt:lpstr>
      <vt:lpstr>Steps for Developing SSD</vt:lpstr>
      <vt:lpstr>Steps for Developing SSD</vt:lpstr>
      <vt:lpstr>SSD for Create customer account Use case（创建客户账户用例的顺序图）</vt:lpstr>
      <vt:lpstr>SSD for Ship items Use Case （创建运输商品用例的顺序图）    </vt:lpstr>
      <vt:lpstr>Chapter 5 Outline</vt:lpstr>
      <vt:lpstr>State Machine Diagram</vt:lpstr>
      <vt:lpstr>State Machine Diagram (continued)</vt:lpstr>
      <vt:lpstr>State Machine Diagram for a Printer </vt:lpstr>
      <vt:lpstr>State Machine Diagram for a Printer </vt:lpstr>
      <vt:lpstr>State Machine Diagram for a Printer </vt:lpstr>
      <vt:lpstr>State Machine Diagram for a Printer </vt:lpstr>
      <vt:lpstr>Composite States（复合状态）</vt:lpstr>
      <vt:lpstr>Concurrent Paths （并行路径）</vt:lpstr>
      <vt:lpstr>Steps for Developing State Machine Diagram</vt:lpstr>
      <vt:lpstr>Steps for Developing State Machine Diagram</vt:lpstr>
      <vt:lpstr>Steps for Developing State Machine Diagram (continued)</vt:lpstr>
      <vt:lpstr>RMO Domain Class States for SaleItem Object</vt:lpstr>
      <vt:lpstr>Final State Machine Diagram for SaleItem Object</vt:lpstr>
      <vt:lpstr>RMO Domain Class States for Sale Object</vt:lpstr>
      <vt:lpstr>Initial State Machine Diagram for RMO Sale Object</vt:lpstr>
      <vt:lpstr>Initial State Machine Diagram for RMO Sale Object</vt:lpstr>
      <vt:lpstr>Initial State Machine Diagram for RMO Sale Object</vt:lpstr>
      <vt:lpstr>Initial State Machine Diagram for RMO Sale Object</vt:lpstr>
      <vt:lpstr>Initial State Machine Diagram for RMO Sale Object</vt:lpstr>
      <vt:lpstr>Final State Machine Diagram for Sale Object</vt:lpstr>
      <vt:lpstr>Chapter 5 Outline</vt:lpstr>
      <vt:lpstr>Extending and Integrating Requirements Models</vt:lpstr>
      <vt:lpstr>Integrating Requirements Models</vt:lpstr>
      <vt:lpstr>Summary</vt:lpstr>
      <vt:lpstr>Summary</vt:lpstr>
      <vt:lpstr>Summary (continued)</vt:lpstr>
      <vt:lpstr>补充1：其他图形工具</vt:lpstr>
      <vt:lpstr>补充1：其他图形工具</vt:lpstr>
      <vt:lpstr>补充1：其他图形工具</vt:lpstr>
      <vt:lpstr>补充2：验证软件需求</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210</cp:revision>
  <cp:lastPrinted>1601-01-01T00:00:00Z</cp:lastPrinted>
  <dcterms:created xsi:type="dcterms:W3CDTF">2011-10-31T16:54:53Z</dcterms:created>
  <dcterms:modified xsi:type="dcterms:W3CDTF">2026-03-17T05:35:56Z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