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heme/theme2.xml" ContentType="application/vnd.openxmlformats-officedocument.theme+xml"/>
  <Override PartName="/ppt/tags/tag145.xml" ContentType="application/vnd.openxmlformats-officedocument.presentationml.tags+xml"/>
  <Override PartName="/ppt/notesSlides/notesSlide1.xml" ContentType="application/vnd.openxmlformats-officedocument.presentationml.notesSlide+xml"/>
  <Override PartName="/ppt/tags/tag146.xml" ContentType="application/vnd.openxmlformats-officedocument.presentationml.tags+xml"/>
  <Override PartName="/ppt/notesSlides/notesSlide2.xml" ContentType="application/vnd.openxmlformats-officedocument.presentationml.notesSlide+xml"/>
  <Override PartName="/ppt/tags/tag147.xml" ContentType="application/vnd.openxmlformats-officedocument.presentationml.tags+xml"/>
  <Override PartName="/ppt/notesSlides/notesSlide3.xml" ContentType="application/vnd.openxmlformats-officedocument.presentationml.notesSlide+xml"/>
  <Override PartName="/ppt/tags/tag148.xml" ContentType="application/vnd.openxmlformats-officedocument.presentationml.tags+xml"/>
  <Override PartName="/ppt/notesSlides/notesSlide4.xml" ContentType="application/vnd.openxmlformats-officedocument.presentationml.notesSlide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notesSlides/notesSlide5.xml" ContentType="application/vnd.openxmlformats-officedocument.presentationml.notesSlide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84" r:id="rId2"/>
    <p:sldId id="258" r:id="rId3"/>
    <p:sldId id="290" r:id="rId4"/>
    <p:sldId id="289" r:id="rId5"/>
    <p:sldId id="291" r:id="rId6"/>
    <p:sldId id="279" r:id="rId7"/>
    <p:sldId id="293" r:id="rId8"/>
    <p:sldId id="295" r:id="rId9"/>
    <p:sldId id="267" r:id="rId10"/>
    <p:sldId id="278" r:id="rId11"/>
    <p:sldId id="259" r:id="rId12"/>
    <p:sldId id="260" r:id="rId13"/>
    <p:sldId id="276" r:id="rId14"/>
    <p:sldId id="283" r:id="rId15"/>
    <p:sldId id="261" r:id="rId16"/>
    <p:sldId id="294" r:id="rId17"/>
    <p:sldId id="262" r:id="rId18"/>
    <p:sldId id="263" r:id="rId19"/>
    <p:sldId id="296" r:id="rId20"/>
    <p:sldId id="292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7004"/>
    <a:srgbClr val="DF9F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238" autoAdjust="0"/>
  </p:normalViewPr>
  <p:slideViewPr>
    <p:cSldViewPr snapToGrid="0">
      <p:cViewPr varScale="1">
        <p:scale>
          <a:sx n="141" d="100"/>
          <a:sy n="141" d="100"/>
        </p:scale>
        <p:origin x="1062" y="10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180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软件工程是以工程化的方法生产软件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2105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软件工程是以工程化的方法生产软件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49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软件工程是以工程化的方法生产软件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012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软件工程是以工程化的方法生产软件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3099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SDLC</a:t>
            </a:r>
            <a:r>
              <a:rPr lang="zh-CN" altLang="en-US" dirty="0"/>
              <a:t>： </a:t>
            </a:r>
            <a:r>
              <a:rPr lang="en-US" altLang="zh-CN" dirty="0"/>
              <a:t>software development life cycle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811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Master" Target="../slideMasters/slideMaster1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6" Type="http://schemas.openxmlformats.org/officeDocument/2006/relationships/image" Target="../media/image3.png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image" Target="../media/image2.png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image" Target="../media/image6.png"/><Relationship Id="rId5" Type="http://schemas.openxmlformats.org/officeDocument/2006/relationships/tags" Target="../tags/tag35.xml"/><Relationship Id="rId10" Type="http://schemas.openxmlformats.org/officeDocument/2006/relationships/image" Target="../media/image5.png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image" Target="../media/image5.png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image" Target="../media/image6.png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3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image" Target="../media/image7.png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9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10" Type="http://schemas.openxmlformats.org/officeDocument/2006/relationships/image" Target="../media/image9.png"/><Relationship Id="rId4" Type="http://schemas.openxmlformats.org/officeDocument/2006/relationships/tags" Target="../tags/tag73.xml"/><Relationship Id="rId9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7" Type="http://schemas.openxmlformats.org/officeDocument/2006/relationships/image" Target="../media/image1.png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1.xml"/><Relationship Id="rId4" Type="http://schemas.openxmlformats.org/officeDocument/2006/relationships/tags" Target="../tags/tag80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2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.png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image" Target="../media/image11.png"/><Relationship Id="rId5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5.xml"/><Relationship Id="rId9" Type="http://schemas.openxmlformats.org/officeDocument/2006/relationships/tags" Target="../tags/tag90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7" Type="http://schemas.openxmlformats.org/officeDocument/2006/relationships/image" Target="../media/image12.png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5.xml"/><Relationship Id="rId4" Type="http://schemas.openxmlformats.org/officeDocument/2006/relationships/tags" Target="../tags/tag94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9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5" Type="http://schemas.openxmlformats.org/officeDocument/2006/relationships/tags" Target="../tags/tag107.xml"/><Relationship Id="rId10" Type="http://schemas.openxmlformats.org/officeDocument/2006/relationships/image" Target="../media/image9.png"/><Relationship Id="rId4" Type="http://schemas.openxmlformats.org/officeDocument/2006/relationships/tags" Target="../tags/tag106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10" Type="http://schemas.openxmlformats.org/officeDocument/2006/relationships/image" Target="../media/image9.png"/><Relationship Id="rId4" Type="http://schemas.openxmlformats.org/officeDocument/2006/relationships/tags" Target="../tags/tag114.xml"/><Relationship Id="rId9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26.xml"/><Relationship Id="rId3" Type="http://schemas.openxmlformats.org/officeDocument/2006/relationships/tags" Target="../tags/tag121.xml"/><Relationship Id="rId7" Type="http://schemas.openxmlformats.org/officeDocument/2006/relationships/tags" Target="../tags/tag125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10" Type="http://schemas.openxmlformats.org/officeDocument/2006/relationships/image" Target="../media/image14.png"/><Relationship Id="rId4" Type="http://schemas.openxmlformats.org/officeDocument/2006/relationships/tags" Target="../tags/tag122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image" Target="../media/image15.png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1.xml"/><Relationship Id="rId10" Type="http://schemas.openxmlformats.org/officeDocument/2006/relationships/tags" Target="../tags/tag136.xml"/><Relationship Id="rId4" Type="http://schemas.openxmlformats.org/officeDocument/2006/relationships/tags" Target="../tags/tag130.xml"/><Relationship Id="rId9" Type="http://schemas.openxmlformats.org/officeDocument/2006/relationships/tags" Target="../tags/tag135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image" Target="../media/image17.png"/><Relationship Id="rId5" Type="http://schemas.openxmlformats.org/officeDocument/2006/relationships/tags" Target="../tags/tag141.xml"/><Relationship Id="rId10" Type="http://schemas.openxmlformats.org/officeDocument/2006/relationships/image" Target="../media/image16.png"/><Relationship Id="rId4" Type="http://schemas.openxmlformats.org/officeDocument/2006/relationships/tags" Target="../tags/tag140.xml"/><Relationship Id="rId9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12192000" cy="7454900"/>
            <a:chOff x="0" y="0"/>
            <a:chExt cx="19200" cy="11740"/>
          </a:xfrm>
        </p:grpSpPr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0" y="0"/>
              <a:ext cx="19200" cy="3223"/>
              <a:chOff x="0" y="0"/>
              <a:chExt cx="12192000" cy="2046605"/>
            </a:xfrm>
          </p:grpSpPr>
          <p:pic>
            <p:nvPicPr>
              <p:cNvPr id="7" name="图片 6"/>
              <p:cNvPicPr>
                <a:picLocks noChangeAspect="1"/>
              </p:cNvPicPr>
              <p:nvPr userDrawn="1">
                <p:custDataLst>
                  <p:tags r:id="rId11"/>
                </p:custDataLst>
              </p:nvPr>
            </p:nvPicPr>
            <p:blipFill>
              <a:blip r:embed="rId14"/>
              <a:stretch>
                <a:fillRect/>
              </a:stretch>
            </p:blipFill>
            <p:spPr>
              <a:xfrm>
                <a:off x="0" y="0"/>
                <a:ext cx="12192000" cy="204660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 userDrawn="1">
                <p:custDataLst>
                  <p:tags r:id="rId12"/>
                </p:custDataLst>
              </p:nvPr>
            </p:nvPicPr>
            <p:blipFill rotWithShape="1">
              <a:blip r:embed="rId15"/>
              <a:srcRect/>
              <a:stretch>
                <a:fillRect/>
              </a:stretch>
            </p:blipFill>
            <p:spPr>
              <a:xfrm>
                <a:off x="0" y="10686"/>
                <a:ext cx="12192000" cy="1704978"/>
              </a:xfrm>
              <a:prstGeom prst="rect">
                <a:avLst/>
              </a:prstGeom>
            </p:spPr>
          </p:pic>
        </p:grpSp>
        <p:pic>
          <p:nvPicPr>
            <p:cNvPr id="8" name="图片 7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0" y="9728"/>
              <a:ext cx="19200" cy="2012"/>
            </a:xfrm>
            <a:prstGeom prst="rect">
              <a:avLst/>
            </a:prstGeom>
          </p:spPr>
        </p:pic>
      </p:grp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5"/>
            </p:custDataLst>
          </p:nvPr>
        </p:nvSpPr>
        <p:spPr>
          <a:xfrm>
            <a:off x="2216785" y="3503930"/>
            <a:ext cx="7759065" cy="49149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000" u="none" strike="noStrike" kern="1200" cap="none" spc="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2216468" y="2292046"/>
            <a:ext cx="7759065" cy="1150960"/>
          </a:xfrm>
        </p:spPr>
        <p:txBody>
          <a:bodyPr lIns="90000" tIns="46800" rIns="90000" bIns="46800" anchor="b" anchorCtr="0">
            <a:noAutofit/>
          </a:bodyPr>
          <a:lstStyle>
            <a:lvl1pPr algn="ctr">
              <a:defRPr sz="6000" spc="600" baseline="0">
                <a:solidFill>
                  <a:schemeClr val="accent1"/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4511039" y="4490846"/>
            <a:ext cx="1383093" cy="474726"/>
          </a:xfrm>
          <a:solidFill>
            <a:schemeClr val="accent1"/>
          </a:solidFill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6096000" y="4490846"/>
            <a:ext cx="1383092" cy="474726"/>
          </a:xfrm>
          <a:ln>
            <a:solidFill>
              <a:schemeClr val="accent1"/>
            </a:solidFill>
          </a:ln>
        </p:spPr>
        <p:txBody>
          <a:bodyPr lIns="90000" tIns="46800" rIns="90000" bIns="46800" anchor="ctr">
            <a:normAutofit/>
          </a:bodyPr>
          <a:lstStyle>
            <a:lvl1pPr marL="0" indent="0" algn="ctr">
              <a:buNone/>
              <a:defRPr u="none" strike="noStrike" kern="1200" cap="none" spc="0" normalizeH="0">
                <a:ln>
                  <a:noFill/>
                </a:ln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25" y="314325"/>
            <a:ext cx="10852150" cy="953770"/>
          </a:xfrm>
        </p:spPr>
        <p:txBody>
          <a:bodyPr vert="horz" lIns="90000" tIns="46800" rIns="90000" bIns="46800" rtlCol="0" anchor="b" anchorCtr="1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925" y="1445895"/>
            <a:ext cx="10852150" cy="4895215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6177281"/>
            <a:ext cx="12192000" cy="13245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51487" y="2681555"/>
            <a:ext cx="3577049" cy="716508"/>
          </a:xfrm>
        </p:spPr>
        <p:txBody>
          <a:bodyPr lIns="90000" tIns="46800" rIns="90000" bIns="0" anchor="ctr" anchorCtr="0">
            <a:normAutofit/>
          </a:bodyPr>
          <a:lstStyle>
            <a:lvl1pPr algn="dist">
              <a:defRPr sz="4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51487" y="3459937"/>
            <a:ext cx="3577050" cy="544296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000" tIns="46800" rIns="90000" bIns="4680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000" tIns="46800" rIns="90000" bIns="468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9"/>
            </p:custDataLst>
          </p:nvPr>
        </p:nvPicPr>
        <p:blipFill rotWithShape="1">
          <a:blip r:embed="rId12"/>
          <a:srcRect/>
          <a:stretch>
            <a:fillRect/>
          </a:stretch>
        </p:blipFill>
        <p:spPr>
          <a:xfrm flipH="1">
            <a:off x="8716609" y="5905492"/>
            <a:ext cx="3481106" cy="974098"/>
          </a:xfrm>
          <a:prstGeom prst="rect">
            <a:avLst/>
          </a:prstGeom>
        </p:spPr>
      </p:pic>
      <p:pic>
        <p:nvPicPr>
          <p:cNvPr id="11" name="图片 10" descr="C:\Users\kingsoft\Desktop\图片7副本.png图片7副本"/>
          <p:cNvPicPr>
            <a:picLocks noChangeAspect="1"/>
          </p:cNvPicPr>
          <p:nvPr>
            <p:custDataLst>
              <p:tags r:id="rId10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-16510" y="5971592"/>
            <a:ext cx="3478627" cy="9079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>
            <p:custDataLst>
              <p:tags r:id="rId1"/>
            </p:custDataLst>
          </p:nvPr>
        </p:nvGrpSpPr>
        <p:grpSpPr>
          <a:xfrm>
            <a:off x="0" y="-15482"/>
            <a:ext cx="3649343" cy="6857999"/>
            <a:chOff x="0" y="-15482"/>
            <a:chExt cx="3649343" cy="6857999"/>
          </a:xfrm>
        </p:grpSpPr>
        <p:pic>
          <p:nvPicPr>
            <p:cNvPr id="9" name="图片 8"/>
            <p:cNvPicPr>
              <a:picLocks noChangeAspect="1"/>
            </p:cNvPicPr>
            <p:nvPr userDrawn="1">
              <p:custDataLst>
                <p:tags r:id="rId10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 userDrawn="1">
              <p:custDataLst>
                <p:tags r:id="rId11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grpSp>
        <p:nvGrpSpPr>
          <p:cNvPr id="11" name="组合 10"/>
          <p:cNvGrpSpPr/>
          <p:nvPr>
            <p:custDataLst>
              <p:tags r:id="rId2"/>
            </p:custDataLst>
          </p:nvPr>
        </p:nvGrpSpPr>
        <p:grpSpPr>
          <a:xfrm rot="10800000">
            <a:off x="8542657" y="15483"/>
            <a:ext cx="3649343" cy="6857999"/>
            <a:chOff x="0" y="-15482"/>
            <a:chExt cx="3649343" cy="6857999"/>
          </a:xfrm>
        </p:grpSpPr>
        <p:pic>
          <p:nvPicPr>
            <p:cNvPr id="12" name="图片 11"/>
            <p:cNvPicPr>
              <a:picLocks noChangeAspect="1"/>
            </p:cNvPicPr>
            <p:nvPr userDrawn="1">
              <p:custDataLst>
                <p:tags r:id="rId8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16200000">
              <a:off x="-1596587" y="1596587"/>
              <a:ext cx="6842517" cy="3649343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 userDrawn="1">
              <p:custDataLst>
                <p:tags r:id="rId9"/>
              </p:custDataLst>
            </p:nvPr>
          </p:nvPicPr>
          <p:blipFill rotWithShape="1">
            <a:blip r:embed="rId14"/>
            <a:srcRect/>
            <a:stretch>
              <a:fillRect/>
            </a:stretch>
          </p:blipFill>
          <p:spPr>
            <a:xfrm rot="5400000">
              <a:off x="-2338959" y="2323477"/>
              <a:ext cx="6857999" cy="2180082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0000" tIns="46800" rIns="90000" bIns="46800" rtlCol="0" anchor="t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矩形: 圆角 13"/>
          <p:cNvSpPr/>
          <p:nvPr>
            <p:custDataLst>
              <p:tags r:id="rId7"/>
            </p:custDataLst>
          </p:nvPr>
        </p:nvSpPr>
        <p:spPr>
          <a:xfrm>
            <a:off x="5638165" y="1484173"/>
            <a:ext cx="914400" cy="47625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2026/3/3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 rot="5400000">
            <a:off x="-3378783" y="2809615"/>
            <a:ext cx="6858002" cy="1238771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-15240"/>
            <a:ext cx="12192000" cy="204660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6177281"/>
            <a:ext cx="12192000" cy="116591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35560"/>
            <a:ext cx="12192000" cy="20466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125639" y="2421777"/>
            <a:ext cx="5940722" cy="133663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72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13"/>
          <a:srcRect/>
          <a:stretch>
            <a:fillRect/>
          </a:stretch>
        </p:blipFill>
        <p:spPr>
          <a:xfrm>
            <a:off x="0" y="-3"/>
            <a:ext cx="12192000" cy="1704978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sz="quarter" idx="13" hasCustomPrompt="1"/>
            <p:custDataLst>
              <p:tags r:id="rId8"/>
            </p:custDataLst>
          </p:nvPr>
        </p:nvSpPr>
        <p:spPr>
          <a:xfrm>
            <a:off x="4632702" y="4417887"/>
            <a:ext cx="1302101" cy="485285"/>
          </a:xfrm>
          <a:solidFill>
            <a:schemeClr val="accent1"/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9"/>
            </p:custDataLst>
          </p:nvPr>
        </p:nvSpPr>
        <p:spPr>
          <a:xfrm>
            <a:off x="6257198" y="4417887"/>
            <a:ext cx="1302102" cy="485285"/>
          </a:xfrm>
          <a:ln>
            <a:solidFill>
              <a:schemeClr val="accent1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>
            <a:lvl1pPr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0" y="6177281"/>
            <a:ext cx="12192000" cy="13152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286385" y="273050"/>
            <a:ext cx="11616055" cy="63119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baseline="0" dirty="0">
              <a:latin typeface="Arial" panose="020B0604020202020204" pitchFamily="34" charset="0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7"/>
            </p:custDataLst>
          </p:nvPr>
        </p:nvPicPr>
        <p:blipFill rotWithShape="1">
          <a:blip r:embed="rId9"/>
          <a:srcRect/>
          <a:stretch>
            <a:fillRect/>
          </a:stretch>
        </p:blipFill>
        <p:spPr>
          <a:xfrm flipH="1">
            <a:off x="7072603" y="4933186"/>
            <a:ext cx="4829835" cy="16517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7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pic>
        <p:nvPicPr>
          <p:cNvPr id="16" name="图片 15" descr="C:\Users\kingsoft\Desktop\图片7副本.png图片7副本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231997" y="5327780"/>
            <a:ext cx="3960001" cy="15302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10" y="0"/>
            <a:ext cx="12192000" cy="1975485"/>
          </a:xfrm>
          <a:prstGeom prst="rect">
            <a:avLst/>
          </a:prstGeom>
        </p:spPr>
      </p:pic>
      <p:sp>
        <p:nvSpPr>
          <p:cNvPr id="13" name="矩形 12"/>
          <p:cNvSpPr/>
          <p:nvPr>
            <p:custDataLst>
              <p:tags r:id="rId2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 marL="0" indent="0">
              <a:buNone/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6242387"/>
            <a:ext cx="12192000" cy="1231226"/>
          </a:xfrm>
          <a:prstGeom prst="rect">
            <a:avLst/>
          </a:prstGeom>
        </p:spPr>
      </p:pic>
      <p:sp>
        <p:nvSpPr>
          <p:cNvPr id="15" name="矩形 14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latin typeface="Viner Hand ITC" panose="03070502030502020203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579600" y="1663200"/>
            <a:ext cx="53424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>
              <a:defRPr sz="14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rgbClr val="EB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1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图片 8" descr="C:\Users\kingsoft\Desktop\图片7副本.png图片7副本"/>
          <p:cNvPicPr>
            <a:picLocks noChangeAspect="1"/>
          </p:cNvPicPr>
          <p:nvPr>
            <p:custDataLst>
              <p:tags r:id="rId5"/>
            </p:custDataLst>
          </p:nvPr>
        </p:nvPicPr>
        <p:blipFill rotWithShape="1">
          <a:blip r:embed="rId10"/>
          <a:srcRect/>
          <a:stretch>
            <a:fillRect/>
          </a:stretch>
        </p:blipFill>
        <p:spPr>
          <a:xfrm flipH="1">
            <a:off x="8429082" y="4917233"/>
            <a:ext cx="3762917" cy="981917"/>
          </a:xfrm>
          <a:prstGeom prst="rect">
            <a:avLst/>
          </a:prstGeom>
        </p:spPr>
      </p:pic>
      <p:pic>
        <p:nvPicPr>
          <p:cNvPr id="10" name="图片 9" descr="C:\Users\kingsoft\Desktop\图片7副本.png图片7副本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1"/>
          <a:srcRect/>
          <a:stretch>
            <a:fillRect/>
          </a:stretch>
        </p:blipFill>
        <p:spPr>
          <a:xfrm rot="10800000" flipH="1">
            <a:off x="0" y="398"/>
            <a:ext cx="4713605" cy="12299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2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2026/3/3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timg">
            <a:extLst>
              <a:ext uri="{FF2B5EF4-FFF2-40B4-BE49-F238E27FC236}">
                <a16:creationId xmlns:a16="http://schemas.microsoft.com/office/drawing/2014/main" id="{CBFEDFED-356F-46F4-8835-ABE5DBB6AE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6308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33C131B-8087-4305-914A-5B3FC3AA1ADB}"/>
              </a:ext>
            </a:extLst>
          </p:cNvPr>
          <p:cNvSpPr/>
          <p:nvPr/>
        </p:nvSpPr>
        <p:spPr>
          <a:xfrm>
            <a:off x="820637" y="509905"/>
            <a:ext cx="10830560" cy="5838190"/>
          </a:xfrm>
          <a:prstGeom prst="rect">
            <a:avLst/>
          </a:prstGeom>
          <a:solidFill>
            <a:schemeClr val="bg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42">
            <a:extLst>
              <a:ext uri="{FF2B5EF4-FFF2-40B4-BE49-F238E27FC236}">
                <a16:creationId xmlns:a16="http://schemas.microsoft.com/office/drawing/2014/main" id="{5BBA1AA5-6558-4E31-A033-1DCEC0F2EFB1}"/>
              </a:ext>
            </a:extLst>
          </p:cNvPr>
          <p:cNvSpPr txBox="1"/>
          <p:nvPr/>
        </p:nvSpPr>
        <p:spPr>
          <a:xfrm>
            <a:off x="1152450" y="1460068"/>
            <a:ext cx="101390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 件 工 程 课 程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77D0D77-0C63-4A35-9CFD-0B25FC4D114B}"/>
              </a:ext>
            </a:extLst>
          </p:cNvPr>
          <p:cNvCxnSpPr/>
          <p:nvPr/>
        </p:nvCxnSpPr>
        <p:spPr>
          <a:xfrm>
            <a:off x="3415969" y="4320429"/>
            <a:ext cx="13525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44201B4F-6F44-4B9C-A209-EEEFECEC1192}"/>
              </a:ext>
            </a:extLst>
          </p:cNvPr>
          <p:cNvCxnSpPr/>
          <p:nvPr/>
        </p:nvCxnSpPr>
        <p:spPr>
          <a:xfrm flipV="1">
            <a:off x="7724571" y="4320429"/>
            <a:ext cx="1463356" cy="1377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27">
            <a:extLst>
              <a:ext uri="{FF2B5EF4-FFF2-40B4-BE49-F238E27FC236}">
                <a16:creationId xmlns:a16="http://schemas.microsoft.com/office/drawing/2014/main" id="{86495957-9644-411E-829E-0F86A098C5DE}"/>
              </a:ext>
            </a:extLst>
          </p:cNvPr>
          <p:cNvSpPr txBox="1"/>
          <p:nvPr/>
        </p:nvSpPr>
        <p:spPr>
          <a:xfrm>
            <a:off x="4768472" y="4164931"/>
            <a:ext cx="2934254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sz="1600" dirty="0">
                <a:latin typeface="ITC Avant Garde Std Bk" panose="020B0502020202020204" pitchFamily="34" charset="0"/>
              </a:rPr>
              <a:t>Xi'an Jiaotong University</a:t>
            </a:r>
          </a:p>
        </p:txBody>
      </p:sp>
      <p:sp>
        <p:nvSpPr>
          <p:cNvPr id="10" name="TextBox 1">
            <a:extLst>
              <a:ext uri="{FF2B5EF4-FFF2-40B4-BE49-F238E27FC236}">
                <a16:creationId xmlns:a16="http://schemas.microsoft.com/office/drawing/2014/main" id="{2AE312F2-095B-415C-93E9-2A54B21CC114}"/>
              </a:ext>
            </a:extLst>
          </p:cNvPr>
          <p:cNvSpPr txBox="1"/>
          <p:nvPr/>
        </p:nvSpPr>
        <p:spPr>
          <a:xfrm>
            <a:off x="2395967" y="5155392"/>
            <a:ext cx="7680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西安交通大学 计算机学院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gewang@xjtu.edu.cn</a:t>
            </a:r>
            <a:endParaRPr lang="zh-CN" altLang="en-US" sz="2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5BEF54-469B-43B6-A5C5-BD9FD09123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349" y="579120"/>
            <a:ext cx="2387241" cy="83859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16E48DF-6885-4DCA-9492-E87BB2FCC491}"/>
              </a:ext>
            </a:extLst>
          </p:cNvPr>
          <p:cNvSpPr txBox="1"/>
          <p:nvPr/>
        </p:nvSpPr>
        <p:spPr>
          <a:xfrm>
            <a:off x="5789168" y="4615806"/>
            <a:ext cx="8915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王 鸽</a:t>
            </a:r>
          </a:p>
        </p:txBody>
      </p:sp>
      <p:sp>
        <p:nvSpPr>
          <p:cNvPr id="14" name="TextBox 42">
            <a:extLst>
              <a:ext uri="{FF2B5EF4-FFF2-40B4-BE49-F238E27FC236}">
                <a16:creationId xmlns:a16="http://schemas.microsoft.com/office/drawing/2014/main" id="{5461A976-AE69-4F4C-A112-C49E8CC9C259}"/>
              </a:ext>
            </a:extLst>
          </p:cNvPr>
          <p:cNvSpPr txBox="1"/>
          <p:nvPr/>
        </p:nvSpPr>
        <p:spPr>
          <a:xfrm>
            <a:off x="1261962" y="3016885"/>
            <a:ext cx="1013904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Chapter 0: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 程 简 介</a:t>
            </a:r>
          </a:p>
        </p:txBody>
      </p:sp>
    </p:spTree>
    <p:extLst>
      <p:ext uri="{BB962C8B-B14F-4D97-AF65-F5344CB8AC3E}">
        <p14:creationId xmlns:p14="http://schemas.microsoft.com/office/powerpoint/2010/main" val="3765088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10852150" cy="659765"/>
          </a:xfrm>
        </p:spPr>
        <p:txBody>
          <a:bodyPr/>
          <a:lstStyle/>
          <a:p>
            <a:r>
              <a:rPr lang="zh-CN" altLang="en-US" sz="4000"/>
              <a:t>关于本课程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13765"/>
            <a:ext cx="10515600" cy="5753100"/>
          </a:xfrm>
        </p:spPr>
        <p:txBody>
          <a:bodyPr>
            <a:normAutofit fontScale="95000"/>
          </a:bodyPr>
          <a:lstStyle/>
          <a:p>
            <a:r>
              <a:rPr sz="3400" dirty="0">
                <a:sym typeface="+mn-ea"/>
              </a:rPr>
              <a:t>什么是软件工程</a:t>
            </a:r>
            <a:r>
              <a:rPr lang="en-US" sz="3400" dirty="0">
                <a:sym typeface="+mn-ea"/>
              </a:rPr>
              <a:t>(</a:t>
            </a:r>
            <a:r>
              <a:rPr lang="en-US" altLang="zh-CN" sz="3400" dirty="0"/>
              <a:t>Software Engineering</a:t>
            </a:r>
            <a:r>
              <a:rPr lang="en-US" sz="3400" dirty="0">
                <a:sym typeface="+mn-ea"/>
              </a:rPr>
              <a:t>)</a:t>
            </a:r>
            <a:r>
              <a:rPr sz="3400" dirty="0">
                <a:sym typeface="+mn-ea"/>
              </a:rPr>
              <a:t>？</a:t>
            </a:r>
            <a:endParaRPr lang="zh-CN" altLang="en-US" sz="3400" dirty="0"/>
          </a:p>
          <a:p>
            <a:pPr lvl="1">
              <a:lnSpc>
                <a:spcPct val="100000"/>
              </a:lnSpc>
            </a:pPr>
            <a:r>
              <a:rPr sz="3200" dirty="0">
                <a:sym typeface="+mn-ea"/>
              </a:rPr>
              <a:t>以</a:t>
            </a:r>
            <a:r>
              <a:rPr sz="3200" dirty="0">
                <a:solidFill>
                  <a:srgbClr val="C00000"/>
                </a:solidFill>
                <a:sym typeface="+mn-ea"/>
              </a:rPr>
              <a:t>工程化</a:t>
            </a:r>
            <a:r>
              <a:rPr sz="3200" dirty="0">
                <a:sym typeface="+mn-ea"/>
              </a:rPr>
              <a:t>方法组织信息系统和软件的生产，在</a:t>
            </a:r>
            <a:r>
              <a:rPr sz="3200" dirty="0">
                <a:solidFill>
                  <a:schemeClr val="accent1"/>
                </a:solidFill>
                <a:sym typeface="+mn-ea"/>
              </a:rPr>
              <a:t>给定时间</a:t>
            </a:r>
            <a:r>
              <a:rPr sz="3200" dirty="0">
                <a:sym typeface="+mn-ea"/>
              </a:rPr>
              <a:t>和</a:t>
            </a:r>
            <a:r>
              <a:rPr sz="3200" dirty="0">
                <a:solidFill>
                  <a:schemeClr val="accent1"/>
                </a:solidFill>
                <a:sym typeface="+mn-ea"/>
              </a:rPr>
              <a:t>给定预算</a:t>
            </a:r>
            <a:r>
              <a:rPr sz="3200" dirty="0">
                <a:sym typeface="+mn-ea"/>
              </a:rPr>
              <a:t>内向用户交付高质量的软件，充分满足用户需求。</a:t>
            </a:r>
            <a:endParaRPr lang="zh-CN" altLang="en-US" sz="32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10852150" cy="659765"/>
          </a:xfrm>
        </p:spPr>
        <p:txBody>
          <a:bodyPr/>
          <a:lstStyle/>
          <a:p>
            <a:r>
              <a:rPr lang="zh-CN" altLang="en-US" sz="4000" dirty="0"/>
              <a:t>关于本课程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CD2C41-611F-49CE-9C3E-D7C7D4FCEC3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71" b="7410"/>
          <a:stretch/>
        </p:blipFill>
        <p:spPr>
          <a:xfrm>
            <a:off x="7902756" y="1017574"/>
            <a:ext cx="3633085" cy="22267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0678F7-DEE8-424D-9BB5-21A6A99335D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1834"/>
          <a:stretch/>
        </p:blipFill>
        <p:spPr>
          <a:xfrm>
            <a:off x="1080304" y="1225482"/>
            <a:ext cx="1464439" cy="18809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C031F04-394A-48F4-AD99-0D562727E23C}"/>
              </a:ext>
            </a:extLst>
          </p:cNvPr>
          <p:cNvSpPr txBox="1"/>
          <p:nvPr/>
        </p:nvSpPr>
        <p:spPr>
          <a:xfrm>
            <a:off x="1489357" y="33032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房主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51A27A-4B74-4065-AAF8-2E5D73236A32}"/>
              </a:ext>
            </a:extLst>
          </p:cNvPr>
          <p:cNvSpPr txBox="1"/>
          <p:nvPr/>
        </p:nvSpPr>
        <p:spPr>
          <a:xfrm>
            <a:off x="9165301" y="32443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装修需求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43D52ED-E88F-47AB-93E9-FB99D7165B87}"/>
              </a:ext>
            </a:extLst>
          </p:cNvPr>
          <p:cNvCxnSpPr/>
          <p:nvPr/>
        </p:nvCxnSpPr>
        <p:spPr>
          <a:xfrm>
            <a:off x="3139674" y="2638156"/>
            <a:ext cx="445625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EA4CD0-4428-4E4D-A411-F4F04FB1DFE9}"/>
              </a:ext>
            </a:extLst>
          </p:cNvPr>
          <p:cNvSpPr txBox="1"/>
          <p:nvPr/>
        </p:nvSpPr>
        <p:spPr>
          <a:xfrm>
            <a:off x="4813802" y="27371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装修工程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A85FBD-B0EA-41F2-87F4-93F96AEA578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2" t="8607" r="8425" b="11561"/>
          <a:stretch/>
        </p:blipFill>
        <p:spPr>
          <a:xfrm>
            <a:off x="4427978" y="913765"/>
            <a:ext cx="1724629" cy="1671618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939C127E-5E41-4D9E-997E-5F5C94EF717B}"/>
              </a:ext>
            </a:extLst>
          </p:cNvPr>
          <p:cNvSpPr txBox="1"/>
          <p:nvPr/>
        </p:nvSpPr>
        <p:spPr>
          <a:xfrm>
            <a:off x="2417299" y="3751565"/>
            <a:ext cx="7301999" cy="27938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收集并理解客户需求</a:t>
            </a:r>
            <a:r>
              <a:rPr lang="en-US" altLang="zh-CN" sz="2400" dirty="0"/>
              <a:t>——</a:t>
            </a:r>
            <a:r>
              <a:rPr lang="zh-CN" altLang="en-US" sz="2400" dirty="0"/>
              <a:t>确保装修符合房主需求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组织团队分工</a:t>
            </a:r>
            <a:r>
              <a:rPr lang="en-US" altLang="zh-CN" sz="2400" dirty="0"/>
              <a:t>——</a:t>
            </a:r>
            <a:r>
              <a:rPr lang="zh-CN" altLang="en-US" sz="2400" dirty="0"/>
              <a:t>划分步骤、分配工种、确定工期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提供规范的图纸</a:t>
            </a:r>
            <a:r>
              <a:rPr lang="en-US" altLang="zh-CN" sz="2400" dirty="0"/>
              <a:t>——</a:t>
            </a:r>
            <a:r>
              <a:rPr lang="zh-CN" altLang="en-US" sz="2400" dirty="0"/>
              <a:t>方便与各工种沟通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现场检查与验收</a:t>
            </a:r>
            <a:r>
              <a:rPr lang="en-US" altLang="zh-CN" sz="2400" dirty="0"/>
              <a:t>——</a:t>
            </a:r>
            <a:r>
              <a:rPr lang="zh-CN" altLang="en-US" sz="2400" dirty="0"/>
              <a:t>确保施工正确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zh-CN" alt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352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10852150" cy="659765"/>
          </a:xfrm>
        </p:spPr>
        <p:txBody>
          <a:bodyPr/>
          <a:lstStyle/>
          <a:p>
            <a:r>
              <a:rPr lang="zh-CN" altLang="en-US" sz="4000" dirty="0"/>
              <a:t>关于本课程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8CD2C41-611F-49CE-9C3E-D7C7D4FCEC3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671" b="7410"/>
          <a:stretch/>
        </p:blipFill>
        <p:spPr>
          <a:xfrm>
            <a:off x="7902756" y="1017574"/>
            <a:ext cx="3633085" cy="222676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0678F7-DEE8-424D-9BB5-21A6A99335D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1834"/>
          <a:stretch/>
        </p:blipFill>
        <p:spPr>
          <a:xfrm>
            <a:off x="1080304" y="1225482"/>
            <a:ext cx="1464439" cy="188095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C031F04-394A-48F4-AD99-0D562727E23C}"/>
              </a:ext>
            </a:extLst>
          </p:cNvPr>
          <p:cNvSpPr txBox="1"/>
          <p:nvPr/>
        </p:nvSpPr>
        <p:spPr>
          <a:xfrm>
            <a:off x="1489357" y="330320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房主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951A27A-4B74-4065-AAF8-2E5D73236A32}"/>
              </a:ext>
            </a:extLst>
          </p:cNvPr>
          <p:cNvSpPr txBox="1"/>
          <p:nvPr/>
        </p:nvSpPr>
        <p:spPr>
          <a:xfrm>
            <a:off x="9165301" y="32443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装修需求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43D52ED-E88F-47AB-93E9-FB99D7165B87}"/>
              </a:ext>
            </a:extLst>
          </p:cNvPr>
          <p:cNvCxnSpPr/>
          <p:nvPr/>
        </p:nvCxnSpPr>
        <p:spPr>
          <a:xfrm>
            <a:off x="3139674" y="2638156"/>
            <a:ext cx="445625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32EA4CD0-4428-4E4D-A411-F4F04FB1DFE9}"/>
              </a:ext>
            </a:extLst>
          </p:cNvPr>
          <p:cNvSpPr txBox="1"/>
          <p:nvPr/>
        </p:nvSpPr>
        <p:spPr>
          <a:xfrm>
            <a:off x="4813802" y="27371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装修工程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4EA85FBD-B0EA-41F2-87F4-93F96AEA578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2" t="8607" r="8425" b="11561"/>
          <a:stretch/>
        </p:blipFill>
        <p:spPr>
          <a:xfrm>
            <a:off x="4427978" y="913765"/>
            <a:ext cx="1724629" cy="167161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E91E655E-F651-4E3C-BA34-625162DF105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 b="51834"/>
          <a:stretch/>
        </p:blipFill>
        <p:spPr>
          <a:xfrm>
            <a:off x="1080305" y="4176730"/>
            <a:ext cx="1464439" cy="1880954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81AAD416-F2AC-420E-9F14-BB4DDEBC31F9}"/>
              </a:ext>
            </a:extLst>
          </p:cNvPr>
          <p:cNvSpPr txBox="1"/>
          <p:nvPr/>
        </p:nvSpPr>
        <p:spPr>
          <a:xfrm>
            <a:off x="1489358" y="625445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客户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0C4180A-5999-424A-B409-6360EB0B4093}"/>
              </a:ext>
            </a:extLst>
          </p:cNvPr>
          <p:cNvSpPr txBox="1"/>
          <p:nvPr/>
        </p:nvSpPr>
        <p:spPr>
          <a:xfrm>
            <a:off x="9165302" y="626680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客户需求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7DF24BE-14FA-4D23-9F71-308CB2EB8326}"/>
              </a:ext>
            </a:extLst>
          </p:cNvPr>
          <p:cNvCxnSpPr/>
          <p:nvPr/>
        </p:nvCxnSpPr>
        <p:spPr>
          <a:xfrm>
            <a:off x="3139675" y="5589404"/>
            <a:ext cx="4456253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BFC7EDA4-9478-4328-9453-C3D932ED9A69}"/>
              </a:ext>
            </a:extLst>
          </p:cNvPr>
          <p:cNvSpPr txBox="1"/>
          <p:nvPr/>
        </p:nvSpPr>
        <p:spPr>
          <a:xfrm>
            <a:off x="4813803" y="56883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软件工程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A801AA9-92AC-4A0E-8030-B04E5DF49BD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2" t="8607" r="8425" b="11561"/>
          <a:stretch/>
        </p:blipFill>
        <p:spPr>
          <a:xfrm>
            <a:off x="4427979" y="3865013"/>
            <a:ext cx="1724629" cy="16716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4CBC0FD1-CC0D-4F7E-80AB-DF31D9D0F83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85" b="53778"/>
          <a:stretch/>
        </p:blipFill>
        <p:spPr>
          <a:xfrm>
            <a:off x="7902756" y="3751565"/>
            <a:ext cx="3633085" cy="248306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12991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5" y="254000"/>
            <a:ext cx="10852150" cy="659765"/>
          </a:xfrm>
        </p:spPr>
        <p:txBody>
          <a:bodyPr/>
          <a:lstStyle/>
          <a:p>
            <a:r>
              <a:rPr lang="zh-CN" altLang="en-US" sz="4000"/>
              <a:t>关于本课程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13765"/>
            <a:ext cx="10515600" cy="5753100"/>
          </a:xfrm>
        </p:spPr>
        <p:txBody>
          <a:bodyPr>
            <a:normAutofit fontScale="95000"/>
          </a:bodyPr>
          <a:lstStyle/>
          <a:p>
            <a:r>
              <a:rPr sz="3400" dirty="0">
                <a:sym typeface="+mn-ea"/>
              </a:rPr>
              <a:t>什么是软件工程</a:t>
            </a:r>
            <a:r>
              <a:rPr lang="en-US" sz="3400" dirty="0">
                <a:sym typeface="+mn-ea"/>
              </a:rPr>
              <a:t>(</a:t>
            </a:r>
            <a:r>
              <a:rPr lang="en-US" altLang="zh-CN" sz="3400" dirty="0"/>
              <a:t>Software Engineering</a:t>
            </a:r>
            <a:r>
              <a:rPr lang="en-US" sz="3400" dirty="0">
                <a:sym typeface="+mn-ea"/>
              </a:rPr>
              <a:t>)</a:t>
            </a:r>
            <a:r>
              <a:rPr sz="3400" dirty="0">
                <a:sym typeface="+mn-ea"/>
              </a:rPr>
              <a:t>？</a:t>
            </a:r>
            <a:endParaRPr lang="zh-CN" altLang="en-US" sz="3400" dirty="0"/>
          </a:p>
          <a:p>
            <a:pPr lvl="1">
              <a:lnSpc>
                <a:spcPct val="100000"/>
              </a:lnSpc>
            </a:pPr>
            <a:r>
              <a:rPr sz="3200" dirty="0">
                <a:sym typeface="+mn-ea"/>
              </a:rPr>
              <a:t>以</a:t>
            </a:r>
            <a:r>
              <a:rPr sz="3200" dirty="0">
                <a:solidFill>
                  <a:srgbClr val="C00000"/>
                </a:solidFill>
                <a:sym typeface="+mn-ea"/>
              </a:rPr>
              <a:t>工程化</a:t>
            </a:r>
            <a:r>
              <a:rPr sz="3200" dirty="0">
                <a:sym typeface="+mn-ea"/>
              </a:rPr>
              <a:t>方法组织信息系统和软件的生产，在</a:t>
            </a:r>
            <a:r>
              <a:rPr sz="3200" dirty="0">
                <a:solidFill>
                  <a:schemeClr val="accent1"/>
                </a:solidFill>
                <a:sym typeface="+mn-ea"/>
              </a:rPr>
              <a:t>给定时间</a:t>
            </a:r>
            <a:r>
              <a:rPr sz="3200" dirty="0">
                <a:sym typeface="+mn-ea"/>
              </a:rPr>
              <a:t>和</a:t>
            </a:r>
            <a:r>
              <a:rPr sz="3200" dirty="0">
                <a:solidFill>
                  <a:schemeClr val="accent1"/>
                </a:solidFill>
                <a:sym typeface="+mn-ea"/>
              </a:rPr>
              <a:t>给定预算</a:t>
            </a:r>
            <a:r>
              <a:rPr sz="3200" dirty="0">
                <a:sym typeface="+mn-ea"/>
              </a:rPr>
              <a:t>内向用户交付高质量的软件，充分满足用户需求。</a:t>
            </a:r>
            <a:endParaRPr lang="zh-CN" altLang="en-US" sz="320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A620ED-5D5E-4E3C-8AF2-5F595ADB1C56}"/>
              </a:ext>
            </a:extLst>
          </p:cNvPr>
          <p:cNvSpPr txBox="1"/>
          <p:nvPr/>
        </p:nvSpPr>
        <p:spPr>
          <a:xfrm>
            <a:off x="976132" y="3790315"/>
            <a:ext cx="10377668" cy="22430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+mn-ea"/>
              </a:rPr>
              <a:t>为什么以</a:t>
            </a:r>
            <a:r>
              <a:rPr lang="zh-CN" altLang="en-US" sz="2400" dirty="0">
                <a:solidFill>
                  <a:srgbClr val="C00000"/>
                </a:solidFill>
                <a:latin typeface="+mn-ea"/>
              </a:rPr>
              <a:t>工程化</a:t>
            </a:r>
            <a:r>
              <a:rPr lang="zh-CN" altLang="en-US" sz="2400" dirty="0">
                <a:latin typeface="+mn-ea"/>
              </a:rPr>
              <a:t>的方法生产软件？</a:t>
            </a:r>
            <a:endParaRPr lang="en-US" altLang="zh-CN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400" dirty="0">
                <a:latin typeface="+mn-ea"/>
              </a:rPr>
              <a:t>	</a:t>
            </a:r>
            <a:r>
              <a:rPr lang="zh-CN" altLang="en-US" sz="2400" dirty="0">
                <a:latin typeface="+mn-ea"/>
              </a:rPr>
              <a:t>工程化 </a:t>
            </a:r>
            <a:r>
              <a:rPr lang="en-US" altLang="zh-CN" sz="2400" dirty="0">
                <a:latin typeface="+mn-ea"/>
              </a:rPr>
              <a:t>vs. </a:t>
            </a:r>
            <a:r>
              <a:rPr lang="zh-CN" altLang="en-US" sz="2400" dirty="0">
                <a:latin typeface="+mn-ea"/>
              </a:rPr>
              <a:t>作坊式</a:t>
            </a:r>
            <a:endParaRPr lang="en-US" altLang="zh-CN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+mn-ea"/>
              </a:rPr>
              <a:t>工程化生产：遵守标准、有高度组织性，有团队协作</a:t>
            </a:r>
            <a:endParaRPr lang="en-US" altLang="zh-CN" sz="2400" dirty="0">
              <a:latin typeface="+mn-ea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2400" dirty="0">
                <a:latin typeface="+mn-ea"/>
              </a:rPr>
              <a:t>作坊式生产：无明确标准、以个人习惯为主</a:t>
            </a:r>
            <a:endParaRPr lang="en-US" altLang="zh-CN" sz="2400" dirty="0">
              <a:latin typeface="+mn-ea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4065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为什么要学软件工程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在大数据、云计算、人工智能时代</a:t>
            </a:r>
            <a:endParaRPr lang="zh-CN" altLang="en-US" sz="2000" dirty="0"/>
          </a:p>
          <a:p>
            <a:pPr lvl="1"/>
            <a:r>
              <a:rPr lang="zh-CN" altLang="en-US" sz="2000" dirty="0"/>
              <a:t>没有软件，计算机系统能用吗？</a:t>
            </a:r>
          </a:p>
          <a:p>
            <a:pPr lvl="1"/>
            <a:r>
              <a:rPr lang="zh-CN" altLang="en-US" sz="2000" dirty="0"/>
              <a:t>信息是基本的生产资料，软件是基本的生产工具</a:t>
            </a:r>
            <a:endParaRPr lang="zh-CN" altLang="en-US" dirty="0"/>
          </a:p>
          <a:p>
            <a:r>
              <a:rPr lang="zh-CN" altLang="en-US" dirty="0"/>
              <a:t>基本的计算机专业素质与专业技能</a:t>
            </a:r>
          </a:p>
          <a:p>
            <a:pPr lvl="1"/>
            <a:r>
              <a:rPr lang="zh-CN" altLang="en-US" dirty="0"/>
              <a:t>会写程序的人非常多，各个专业都有计算机编程课</a:t>
            </a:r>
          </a:p>
          <a:p>
            <a:pPr lvl="1"/>
            <a:r>
              <a:rPr lang="zh-CN" altLang="en-US" dirty="0"/>
              <a:t>计算机专业学生编程就一定比非计算机专业学生强吗？</a:t>
            </a:r>
          </a:p>
          <a:p>
            <a:pPr lvl="1"/>
            <a:r>
              <a:rPr lang="zh-CN" altLang="en-US" dirty="0"/>
              <a:t>面对就业竞争，计算机专业的优势是什么？</a:t>
            </a:r>
          </a:p>
          <a:p>
            <a:pPr lvl="1"/>
            <a:r>
              <a:rPr dirty="0">
                <a:solidFill>
                  <a:srgbClr val="C00000"/>
                </a:solidFill>
              </a:rPr>
              <a:t>软件工程不仅仅学习分析设计系统的方法</a:t>
            </a:r>
          </a:p>
          <a:p>
            <a:pPr lvl="1"/>
            <a:r>
              <a:rPr dirty="0">
                <a:solidFill>
                  <a:srgbClr val="C00000"/>
                </a:solidFill>
              </a:rPr>
              <a:t>更要学会把自己的想法准确传递给别人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984C6-4486-4E09-B574-B96D0D5E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学好软件工程有什么用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6239DDC-97AA-445B-9618-B8DCC3C79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08" y="1428485"/>
            <a:ext cx="8470042" cy="1838541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A06B6C7-0B30-41AD-80ED-0F7CBA9D40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08" y="2803546"/>
            <a:ext cx="8470042" cy="346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92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984C6-4486-4E09-B574-B96D0D5E8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学好软件工程有什么用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8085963-DD61-442A-AEC9-93FBA356C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08" y="3267026"/>
            <a:ext cx="8470042" cy="302657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5D3DE8-E00E-4178-8828-70F2D2EBC5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408" y="1428485"/>
            <a:ext cx="8470042" cy="183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06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学好软件工程有什么用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35050" y="1691005"/>
            <a:ext cx="4984750" cy="460121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能让我编程更快吗？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不能。软件工程更多的是写文档、画图</a:t>
            </a:r>
          </a:p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能让我找到好工作吗？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不能保证。但是有助于你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项目管理者</a:t>
            </a:r>
          </a:p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能让我编程更好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更美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质量更高吗？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是。追求尽快给出好代码</a:t>
            </a:r>
          </a:p>
          <a:p>
            <a:pPr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能提高我的思维表达能力吗？</a:t>
            </a:r>
          </a:p>
          <a:p>
            <a:pPr lvl="1">
              <a:lnSpc>
                <a:spcPct val="9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是。在动手之前先思考如何解决问题，并让别人明白你的思路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6423025" y="1691640"/>
            <a:ext cx="4773295" cy="460121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能提高我的分析判断能力吗？</a:t>
            </a: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是。给用户提交最合理的方案需要准确的分析判断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能提高我的系统设计能力吗？</a:t>
            </a: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当然。从系统的、整体的角度完成优化设计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能提高我的组织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领导能力吗？</a:t>
            </a: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必须的。不会合理有效管理团队，必然导致项目失败</a:t>
            </a:r>
          </a:p>
          <a:p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能提高我的合作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协作能力吗？</a:t>
            </a:r>
          </a:p>
          <a:p>
            <a:pPr lvl="1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当然。合作与交流是软件工程强调的核心原则之一</a:t>
            </a:r>
          </a:p>
          <a:p>
            <a:pPr lvl="1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本课程特点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概念特别多，公式特别少</a:t>
            </a:r>
            <a:endParaRPr lang="zh-CN" altLang="en-US" sz="2800" dirty="0"/>
          </a:p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不同的教材用词说法略有不同，但本质一样</a:t>
            </a:r>
            <a:endParaRPr lang="zh-CN" altLang="en-US" sz="2800" dirty="0"/>
          </a:p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对原则和概念重在用起来，体现在软件生产过程中</a:t>
            </a:r>
            <a:endParaRPr lang="zh-CN" altLang="en-US" sz="2800" dirty="0"/>
          </a:p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很多模型没有唯一绝对正确的标准答案</a:t>
            </a:r>
            <a:endParaRPr lang="zh-CN" altLang="en-US" sz="2800" dirty="0"/>
          </a:p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需要有足够的编程实践经验为基础</a:t>
            </a:r>
            <a:endParaRPr lang="zh-CN" altLang="en-US" sz="2800" dirty="0"/>
          </a:p>
          <a:p>
            <a:pPr lvl="1">
              <a:lnSpc>
                <a:spcPct val="100000"/>
              </a:lnSpc>
            </a:pPr>
            <a:r>
              <a:rPr sz="2800" dirty="0">
                <a:sym typeface="+mn-ea"/>
              </a:rPr>
              <a:t>多用多练是最好的学习方法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关于教材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403985"/>
            <a:ext cx="8369300" cy="5274945"/>
          </a:xfrm>
        </p:spPr>
        <p:txBody>
          <a:bodyPr>
            <a:normAutofit fontScale="95000"/>
          </a:bodyPr>
          <a:lstStyle/>
          <a:p>
            <a:r>
              <a:rPr lang="zh-CN" altLang="en-US" sz="3200" dirty="0">
                <a:sym typeface="+mn-ea"/>
              </a:rPr>
              <a:t>本次使用教材</a:t>
            </a:r>
            <a:r>
              <a:rPr lang="zh-CN" altLang="en-US" sz="3200" dirty="0">
                <a:solidFill>
                  <a:srgbClr val="C00000"/>
                </a:solidFill>
                <a:sym typeface="+mn-ea"/>
              </a:rPr>
              <a:t>（不用买）</a:t>
            </a:r>
            <a:endParaRPr lang="zh-CN" altLang="en-US" sz="3200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zh-CN" altLang="en-US" sz="2800" dirty="0">
                <a:sym typeface="+mn-ea"/>
              </a:rPr>
              <a:t>John Satzinger, Robert Jackson, Stephen Burd著，《系统分析与设计-敏捷迭代方法》（第6版）</a:t>
            </a:r>
            <a:endParaRPr lang="en-US" altLang="zh-CN" sz="2800" dirty="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zh-CN" altLang="en-US" sz="3200" dirty="0"/>
              <a:t>为什么用这本教材</a:t>
            </a:r>
          </a:p>
          <a:p>
            <a:pPr lvl="1">
              <a:lnSpc>
                <a:spcPct val="100000"/>
              </a:lnSpc>
            </a:pPr>
            <a:r>
              <a:rPr lang="zh-CN" altLang="en-US" sz="2800" dirty="0"/>
              <a:t>重点集中在系统分析和设计两个环节上</a:t>
            </a:r>
          </a:p>
          <a:p>
            <a:pPr lvl="1">
              <a:lnSpc>
                <a:spcPct val="100000"/>
              </a:lnSpc>
            </a:pPr>
            <a:r>
              <a:rPr lang="zh-CN" altLang="en-US" sz="2800" dirty="0"/>
              <a:t>更符合本科生缺少工程项目经验的实际情况</a:t>
            </a:r>
          </a:p>
          <a:p>
            <a:pPr lvl="1">
              <a:lnSpc>
                <a:spcPct val="100000"/>
              </a:lnSpc>
            </a:pPr>
            <a:r>
              <a:rPr lang="zh-CN" altLang="en-US" sz="2800" dirty="0"/>
              <a:t>更有利于同学在短时间内掌握有用的技能</a:t>
            </a:r>
          </a:p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8685E5A-4791-4EB6-A4C1-2E4622773F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9034" y="1530350"/>
            <a:ext cx="2763041" cy="41656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学习的重中之重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软件工程一半是管理，一半是方法与技能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关于管理的知识和技能更多靠工程实践中理解和掌握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课堂上重点讲授对模型、方法、技能如何理解和掌握</a:t>
            </a:r>
            <a:endParaRPr lang="en-US" altLang="zh-CN" sz="1800" dirty="0"/>
          </a:p>
          <a:p>
            <a:r>
              <a:rPr lang="zh-CN" altLang="en-US" dirty="0"/>
              <a:t>这门课就是围绕着软件开发生命周期（</a:t>
            </a:r>
            <a:r>
              <a:rPr lang="en-US" altLang="zh-CN" dirty="0"/>
              <a:t>Software Development life cycle, SDLC</a:t>
            </a:r>
            <a:r>
              <a:rPr lang="zh-CN" altLang="en-US" dirty="0"/>
              <a:t>）讲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/>
              <a:t>SDLC</a:t>
            </a:r>
            <a:r>
              <a:rPr lang="zh-CN" altLang="en-US" sz="1800" dirty="0"/>
              <a:t>的过程，</a:t>
            </a:r>
            <a:r>
              <a:rPr lang="en-US" altLang="zh-CN" sz="1800" dirty="0"/>
              <a:t>SDLC</a:t>
            </a:r>
            <a:r>
              <a:rPr lang="zh-CN" altLang="en-US" sz="1800" dirty="0"/>
              <a:t>的过程模型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/>
              <a:t>SDLC</a:t>
            </a:r>
            <a:r>
              <a:rPr lang="zh-CN" altLang="en-US" sz="1800" dirty="0"/>
              <a:t>各个阶段中的活动、模型、方法</a:t>
            </a:r>
          </a:p>
          <a:p>
            <a:r>
              <a:rPr lang="zh-CN" altLang="en-US" dirty="0"/>
              <a:t>同学们应该注重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基本概念和原则是基础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对方法的掌握运用，即学会分析和设计系统的技能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学会用软件工程里讲过的一些模型、方法去解决实践中的问题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/>
              <a:t>或者是在实践中能够熟练运用软件工程讲过的模型、方法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12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注意实践锻炼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1250"/>
            <a:ext cx="10515600" cy="5385435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+mn-ea"/>
                <a:ea typeface="+mn-ea"/>
              </a:rPr>
              <a:t>课堂所讲的模型、方法、原理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要结合实践多用多练习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系统分析和设计的方法不仅可用于软件生产也可用于其它系统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所有文档的目的在于交流，在于表达思想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软件工程文档不追求独特个性，而追求让读者快速准确知道你的想法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总是强调</a:t>
            </a:r>
            <a:r>
              <a:rPr lang="en-US" altLang="zh-CN" sz="1800" dirty="0">
                <a:latin typeface="+mn-ea"/>
                <a:ea typeface="+mn-ea"/>
                <a:cs typeface="宋体" panose="02010600030101010101" pitchFamily="2" charset="-122"/>
              </a:rPr>
              <a:t>“</a:t>
            </a: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我是这样想的，你没有理解</a:t>
            </a:r>
            <a:r>
              <a:rPr lang="en-US" altLang="zh-CN" sz="1800" dirty="0">
                <a:latin typeface="+mn-ea"/>
                <a:ea typeface="+mn-ea"/>
                <a:cs typeface="宋体" panose="02010600030101010101" pitchFamily="2" charset="-122"/>
              </a:rPr>
              <a:t>”</a:t>
            </a: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，那就说明你的文档失败了</a:t>
            </a:r>
          </a:p>
          <a:p>
            <a:r>
              <a:rPr lang="zh-CN" altLang="en-US" sz="2400" dirty="0">
                <a:latin typeface="+mn-ea"/>
                <a:ea typeface="+mn-ea"/>
              </a:rPr>
              <a:t>本教材编程使用</a:t>
            </a:r>
            <a:r>
              <a:rPr lang="en-US" altLang="zh-CN" sz="2400" dirty="0">
                <a:latin typeface="+mn-ea"/>
                <a:ea typeface="+mn-ea"/>
              </a:rPr>
              <a:t>Java</a:t>
            </a:r>
            <a:r>
              <a:rPr lang="zh-CN" altLang="en-US" sz="2400" dirty="0">
                <a:latin typeface="+mn-ea"/>
                <a:ea typeface="+mn-ea"/>
              </a:rPr>
              <a:t>语言</a:t>
            </a:r>
          </a:p>
          <a:p>
            <a:pPr lvl="1" algn="l" defTabSz="914400">
              <a:lnSpc>
                <a:spcPct val="100000"/>
              </a:lnSpc>
              <a:buClrTx/>
              <a:buSzTx/>
              <a:tabLst>
                <a:tab pos="1609725" algn="l"/>
              </a:tabLst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</a:rPr>
              <a:t>模型和具体的编程语言是无关的，一般的模型可以转换为任何编程语言</a:t>
            </a:r>
          </a:p>
          <a:p>
            <a:pPr lvl="1" algn="l" defTabSz="914400">
              <a:lnSpc>
                <a:spcPct val="100000"/>
              </a:lnSpc>
              <a:buClrTx/>
              <a:buSzTx/>
              <a:tabLst>
                <a:tab pos="1609725" algn="l"/>
              </a:tabLst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所有设计模型和编程代码是完全对应的关系，可以互相转换</a:t>
            </a:r>
          </a:p>
          <a:p>
            <a:pPr lvl="1" algn="l" defTabSz="914400">
              <a:lnSpc>
                <a:spcPct val="100000"/>
              </a:lnSpc>
              <a:buClrTx/>
              <a:buSzTx/>
              <a:tabLst>
                <a:tab pos="1609725" algn="l"/>
              </a:tabLst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但是本课程把编程语言限定在</a:t>
            </a:r>
            <a:r>
              <a:rPr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Java</a:t>
            </a:r>
          </a:p>
          <a:p>
            <a:pPr lvl="1" algn="l" defTabSz="914400">
              <a:lnSpc>
                <a:spcPct val="100000"/>
              </a:lnSpc>
              <a:buClrTx/>
              <a:buSzTx/>
              <a:tabLst>
                <a:tab pos="1609725" algn="l"/>
              </a:tabLst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学习模型和代码之间的对应转换，同学们掌握基本的</a:t>
            </a:r>
            <a:r>
              <a:rPr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Java</a:t>
            </a: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语法就够了</a:t>
            </a:r>
          </a:p>
          <a:p>
            <a:pPr lvl="1" algn="l" defTabSz="914400">
              <a:lnSpc>
                <a:spcPct val="100000"/>
              </a:lnSpc>
              <a:buClrTx/>
              <a:buSzTx/>
              <a:tabLst>
                <a:tab pos="1609725" algn="l"/>
              </a:tabLst>
            </a:pPr>
            <a:r>
              <a:rPr lang="zh-CN" altLang="en-US" sz="1800" dirty="0">
                <a:latin typeface="+mn-ea"/>
                <a:ea typeface="+mn-ea"/>
                <a:cs typeface="宋体" panose="02010600030101010101" pitchFamily="2" charset="-122"/>
                <a:sym typeface="+mn-ea"/>
              </a:rPr>
              <a:t>但是要完成项目则还需要掌握更多的库、类和函数</a:t>
            </a:r>
            <a:endParaRPr lang="zh-CN" altLang="en-US" sz="1800" dirty="0">
              <a:latin typeface="+mn-ea"/>
              <a:ea typeface="+mn-ea"/>
              <a:cs typeface="宋体" panose="02010600030101010101" pitchFamily="2" charset="-122"/>
            </a:endParaRPr>
          </a:p>
          <a:p>
            <a:pPr lvl="1"/>
            <a:endParaRPr lang="zh-CN" altLang="en-US" sz="1800" b="1" dirty="0">
              <a:latin typeface="+mn-ea"/>
              <a:ea typeface="+mn-ea"/>
              <a:cs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13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1D22B9-57E1-4229-EC1B-C6C926BBD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本课程学习重点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16B22B-ABE4-D1D6-6A91-CEAE2BFEC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pc="0" dirty="0">
                <a:ln w="0"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SDLC</a:t>
            </a:r>
            <a:r>
              <a:rPr lang="zh-CN" altLang="en-US" spc="0" dirty="0">
                <a:ln w="0"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的基本概念、过程模型</a:t>
            </a:r>
            <a:endParaRPr lang="en-US" altLang="zh-CN" spc="0" dirty="0">
              <a:ln w="0">
                <a:solidFill>
                  <a:srgbClr val="FF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en-US" altLang="zh-CN" dirty="0"/>
              <a:t>SDLC</a:t>
            </a:r>
            <a:r>
              <a:rPr lang="zh-CN" altLang="en-US" dirty="0"/>
              <a:t>都有哪些环节，每个环节都要做些什么事</a:t>
            </a:r>
            <a:endParaRPr lang="en-US" altLang="zh-CN" dirty="0"/>
          </a:p>
          <a:p>
            <a:pPr lvl="1"/>
            <a:r>
              <a:rPr lang="en-US" altLang="zh-CN" dirty="0"/>
              <a:t>SDLC</a:t>
            </a:r>
            <a:r>
              <a:rPr lang="zh-CN" altLang="en-US" dirty="0"/>
              <a:t>主要有哪些过程模型，每个模型的内涵是什么，模型之间有什么区别</a:t>
            </a:r>
            <a:endParaRPr lang="en-US" altLang="zh-CN" dirty="0"/>
          </a:p>
          <a:p>
            <a:pPr lvl="1"/>
            <a:r>
              <a:rPr lang="zh-CN" altLang="en-US" dirty="0"/>
              <a:t>项目管理都要干些什么事、敏捷开发是什么</a:t>
            </a:r>
            <a:endParaRPr lang="en-US" altLang="zh-CN" dirty="0"/>
          </a:p>
          <a:p>
            <a:r>
              <a:rPr lang="zh-CN" altLang="en-US" spc="0" dirty="0">
                <a:ln w="0"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面向对象的需求分析模型</a:t>
            </a:r>
            <a:endParaRPr lang="en-US" altLang="zh-CN" spc="0" dirty="0">
              <a:ln w="0">
                <a:solidFill>
                  <a:srgbClr val="FF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 dirty="0"/>
              <a:t>用例图、用例说明、活动图、类图、状态图</a:t>
            </a:r>
            <a:endParaRPr lang="en-US" altLang="zh-CN" dirty="0"/>
          </a:p>
          <a:p>
            <a:r>
              <a:rPr lang="zh-CN" altLang="en-US" spc="0" dirty="0">
                <a:ln w="0"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面向对象的系统设计模型</a:t>
            </a:r>
            <a:endParaRPr lang="en-US" altLang="zh-CN" spc="0" dirty="0">
              <a:ln w="0">
                <a:solidFill>
                  <a:srgbClr val="FF000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lvl="1"/>
            <a:r>
              <a:rPr lang="zh-CN" altLang="en-US" dirty="0"/>
              <a:t>三层体系结构的设计内涵与相应的顺序图</a:t>
            </a:r>
            <a:endParaRPr lang="en-US" altLang="zh-CN" dirty="0"/>
          </a:p>
          <a:p>
            <a:pPr lvl="1"/>
            <a:r>
              <a:rPr lang="zh-CN" altLang="en-US" dirty="0"/>
              <a:t>典型的设计模式</a:t>
            </a:r>
            <a:endParaRPr lang="en-US" altLang="zh-CN" dirty="0"/>
          </a:p>
          <a:p>
            <a:r>
              <a:rPr lang="zh-CN" altLang="en-US" spc="0" dirty="0">
                <a:ln w="0">
                  <a:solidFill>
                    <a:srgbClr val="FF000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各种图与代码之间的互相转化</a:t>
            </a:r>
          </a:p>
        </p:txBody>
      </p:sp>
    </p:spTree>
    <p:extLst>
      <p:ext uri="{BB962C8B-B14F-4D97-AF65-F5344CB8AC3E}">
        <p14:creationId xmlns:p14="http://schemas.microsoft.com/office/powerpoint/2010/main" val="7166290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考核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8855" y="1474470"/>
            <a:ext cx="4129405" cy="4368800"/>
          </a:xfrm>
        </p:spPr>
        <p:txBody>
          <a:bodyPr>
            <a:noAutofit/>
          </a:bodyPr>
          <a:lstStyle/>
          <a:p>
            <a:pP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考核内容：</a:t>
            </a:r>
          </a:p>
          <a:p>
            <a:pPr marL="0" indent="0">
              <a:buNone/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1、课堂表现：</a:t>
            </a: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、项目报告：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10%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、项目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答辩：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%</a:t>
            </a:r>
          </a:p>
          <a:p>
            <a:pPr marL="0" indent="0">
              <a:buNone/>
            </a:pPr>
            <a:r>
              <a:rPr lang="en-US" altLang="zh-CN" sz="18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、期末笔试：</a:t>
            </a:r>
            <a:r>
              <a:rPr lang="en-US" altLang="zh-CN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0%</a:t>
            </a:r>
          </a:p>
          <a:p>
            <a:pPr marL="0" indent="0" algn="l">
              <a:buClrTx/>
              <a:buSzTx/>
              <a:buFont typeface="Wingdings" panose="05000000000000000000" charset="0"/>
              <a:buNone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855845" y="1474470"/>
            <a:ext cx="6206490" cy="2931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l"/>
            </a:pPr>
            <a:r>
              <a:rPr lang="zh-CN" altLang="en-US" sz="2400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说明： </a:t>
            </a:r>
            <a:endParaRPr lang="zh-CN" altLang="en-US" sz="2400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（1）课堂表现包括思源学堂课后训练、出勤记录等。</a:t>
            </a:r>
            <a:endParaRPr lang="zh-CN" altLang="en-US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</a:t>
            </a: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）以</a:t>
            </a:r>
            <a:r>
              <a:rPr lang="zh-CN" altLang="en-US" spc="150" dirty="0">
                <a:solidFill>
                  <a:srgbClr val="FF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小组</a:t>
            </a: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为单位按照课程进展提交</a:t>
            </a:r>
            <a:r>
              <a:rPr lang="en-US" altLang="zh-CN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次报告。</a:t>
            </a:r>
            <a:endParaRPr lang="en-US" altLang="zh-CN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3</a:t>
            </a: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）以</a:t>
            </a:r>
            <a:r>
              <a:rPr lang="zh-CN" altLang="en-US" spc="150" dirty="0">
                <a:solidFill>
                  <a:srgbClr val="FF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小组</a:t>
            </a: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为单位答辩，每位同学都要参与。</a:t>
            </a:r>
            <a:endParaRPr lang="en-US" altLang="zh-CN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</a:pPr>
            <a:r>
              <a:rPr lang="zh-CN" altLang="en-US" spc="150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（4）笔试为中英双语试卷。</a:t>
            </a:r>
            <a:endParaRPr lang="zh-CN" altLang="en-US" spc="150" dirty="0">
              <a:solidFill>
                <a:schemeClr val="tx1">
                  <a:lumMod val="85000"/>
                  <a:lumOff val="15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课堂表现（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7EABCB9-605C-4ED1-B60D-21628864E4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本课程在思源学堂设置了</a:t>
            </a:r>
            <a:r>
              <a:rPr lang="en-US" altLang="zh-CN" dirty="0"/>
              <a:t>AI</a:t>
            </a:r>
            <a:r>
              <a:rPr lang="zh-CN" altLang="en-US" dirty="0"/>
              <a:t>智课，上面有对应的视频、</a:t>
            </a:r>
            <a:r>
              <a:rPr lang="en-US" altLang="zh-CN" dirty="0"/>
              <a:t>ppt</a:t>
            </a:r>
            <a:r>
              <a:rPr lang="zh-CN" altLang="en-US" dirty="0"/>
              <a:t>、章节测试题，</a:t>
            </a:r>
            <a:r>
              <a:rPr lang="zh-CN" altLang="en-US" dirty="0">
                <a:solidFill>
                  <a:srgbClr val="C00000"/>
                </a:solidFill>
              </a:rPr>
              <a:t>完成章节测试题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得分计入课堂表现总分</a:t>
            </a:r>
            <a:r>
              <a:rPr lang="zh-CN" altLang="en-US" dirty="0"/>
              <a:t>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9E9190D-689F-4037-B557-F920B3FB0C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840" y="2795561"/>
            <a:ext cx="9631382" cy="31250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3526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项目要求（报告</a:t>
            </a:r>
            <a:r>
              <a:rPr lang="en-US" altLang="zh-CN" dirty="0"/>
              <a:t>10%+</a:t>
            </a:r>
            <a:r>
              <a:rPr lang="zh-CN" altLang="en-US" dirty="0"/>
              <a:t>答辩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434465"/>
            <a:ext cx="10985205" cy="523216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4-6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人组成一个项目组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其中一人为组长。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所有项目、作业、答辩都以组为单位。</a:t>
            </a: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请组长将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组员信息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组内分工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更新到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在线文档（群里会通知）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请根据自己的能力和兴趣，商定一个可以实现（演示）的软件题目。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>
              <a:lnSpc>
                <a:spcPct val="9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鼓励大家用课程作业参加学校规定的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类比赛（参赛的同学会有加分）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90000"/>
              </a:lnSpc>
            </a:pP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推荐每个组在</a:t>
            </a:r>
            <a:r>
              <a:rPr lang="en-US" altLang="zh-CN" sz="24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github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2400" dirty="0" err="1">
                <a:latin typeface="微软雅黑" panose="020B0503020204020204" pitchFamily="34" charset="-122"/>
                <a:cs typeface="微软雅黑" panose="020B0503020204020204" pitchFamily="34" charset="-122"/>
              </a:rPr>
              <a:t>gitee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或者类似平台上创建并管理自己的项目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每位同学扮演项目中不同的角色（如产品经理、需求人员、设计人员、开发人员）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每个项目至少设置</a:t>
            </a:r>
            <a:r>
              <a:rPr lang="en-US" altLang="zh-CN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个功能点（非登陆验证、数据库调用等通用功能）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可以不真正实现，但实现的小组全体同学在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功能实现度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方面的评分为满分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未实现的小组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功能实现度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不为零分，会根据实际情况给出分数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不反对使用大模型生成代码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17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EAA03C5-9C7C-4326-8DA1-59A85C1B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5" y="1445895"/>
            <a:ext cx="10852150" cy="489521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报告内容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根据课程进度，提交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立项报告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需求说明书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设计说明书</a:t>
            </a:r>
            <a:r>
              <a:rPr lang="en-US" altLang="zh-CN" dirty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个报告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默认由对应的角色完成，例如产品经理负责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立项报告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，需求人员负责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需求说明书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，设计人员负责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《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设计说明书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》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，开发人员负责开发，通过最终答辩展现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</a:rPr>
              <a:t>提交方式</a:t>
            </a:r>
            <a:r>
              <a:rPr lang="en-US" altLang="zh-CN" dirty="0">
                <a:latin typeface="微软雅黑" panose="020B0503020204020204" pitchFamily="34" charset="-122"/>
              </a:rPr>
              <a:t>】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组长负责提交报告（ 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发送到百度网盘链接，群里会通知）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</a:rPr>
              <a:t>评分说明</a:t>
            </a:r>
            <a:r>
              <a:rPr lang="en-US" altLang="zh-CN" dirty="0">
                <a:latin typeface="微软雅黑" panose="020B0503020204020204" pitchFamily="34" charset="-122"/>
              </a:rPr>
              <a:t>】</a:t>
            </a: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根据小组选定的项目撰写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体现课堂学习内容，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</a:rPr>
              <a:t>不要求堆砌篇幅</a:t>
            </a:r>
            <a:endParaRPr lang="en-US" altLang="zh-CN" dirty="0">
              <a:solidFill>
                <a:srgbClr val="C00000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不反对使用大模型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生成部分内容，但需要加以思考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</a:rPr>
              <a:t>本项按照小组评分，即小组内所有同学得分一致</a:t>
            </a:r>
            <a:endParaRPr lang="en-US" altLang="zh-CN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609600" indent="-609600" eaLnBrk="1" hangingPunct="1">
              <a:lnSpc>
                <a:spcPct val="11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项目报告说明（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18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EAA03C5-9C7C-4326-8DA1-59A85C1B7B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925" y="1445895"/>
            <a:ext cx="10852150" cy="48952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cs typeface="微软雅黑" panose="020B0503020204020204" pitchFamily="34" charset="-122"/>
              </a:rPr>
              <a:t>答辩安排</a:t>
            </a:r>
            <a:r>
              <a:rPr lang="en-US" altLang="zh-CN" dirty="0">
                <a:latin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  <a:r>
              <a:rPr lang="zh-CN" altLang="en-US" sz="2400" dirty="0">
                <a:latin typeface="微软雅黑" panose="020B0503020204020204" pitchFamily="34" charset="-122"/>
              </a:rPr>
              <a:t>课程最后一周会安排所有组在课堂进行项目答辩</a:t>
            </a:r>
            <a:endParaRPr lang="en-US" altLang="zh-CN" sz="2400" dirty="0">
              <a:latin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对项目的功能点进行展示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要求</a:t>
            </a:r>
            <a:r>
              <a:rPr lang="zh-CN" altLang="en-US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每一名同学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按照在项目内扮演的角色进行答辩，根据答辩评分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</a:rPr>
              <a:t>评分说明</a:t>
            </a:r>
            <a:r>
              <a:rPr lang="en-US" altLang="zh-CN" dirty="0">
                <a:latin typeface="微软雅黑" panose="020B0503020204020204" pitchFamily="34" charset="-122"/>
              </a:rPr>
              <a:t>】</a:t>
            </a:r>
          </a:p>
          <a:p>
            <a:pPr lvl="1">
              <a:lnSpc>
                <a:spcPct val="100000"/>
              </a:lnSpc>
            </a:pPr>
            <a:r>
              <a:rPr lang="en-US" altLang="zh-CN" sz="1800" dirty="0">
                <a:latin typeface="微软雅黑" panose="020B0503020204020204" pitchFamily="34" charset="-122"/>
              </a:rPr>
              <a:t>【</a:t>
            </a:r>
            <a:r>
              <a:rPr lang="zh-CN" altLang="en-US" sz="1800" dirty="0">
                <a:latin typeface="微软雅黑" panose="020B0503020204020204" pitchFamily="34" charset="-122"/>
              </a:rPr>
              <a:t>功能实现度</a:t>
            </a:r>
            <a:r>
              <a:rPr lang="en-US" altLang="zh-CN" sz="1800" dirty="0">
                <a:latin typeface="微软雅黑" panose="020B0503020204020204" pitchFamily="34" charset="-122"/>
              </a:rPr>
              <a:t>】*40%+【</a:t>
            </a:r>
            <a:r>
              <a:rPr lang="zh-CN" altLang="en-US" sz="1800" dirty="0">
                <a:latin typeface="微软雅黑" panose="020B0503020204020204" pitchFamily="34" charset="-122"/>
              </a:rPr>
              <a:t>作品创意</a:t>
            </a:r>
            <a:r>
              <a:rPr lang="en-US" altLang="zh-CN" sz="1800" dirty="0">
                <a:latin typeface="微软雅黑" panose="020B0503020204020204" pitchFamily="34" charset="-122"/>
              </a:rPr>
              <a:t>】*10%+【</a:t>
            </a:r>
            <a:r>
              <a:rPr lang="zh-CN" altLang="en-US" sz="1800" dirty="0">
                <a:latin typeface="微软雅黑" panose="020B0503020204020204" pitchFamily="34" charset="-122"/>
              </a:rPr>
              <a:t>个人表现</a:t>
            </a:r>
            <a:r>
              <a:rPr lang="en-US" altLang="zh-CN" sz="1800" dirty="0">
                <a:latin typeface="微软雅黑" panose="020B0503020204020204" pitchFamily="34" charset="-122"/>
              </a:rPr>
              <a:t>】*50%</a:t>
            </a:r>
          </a:p>
          <a:p>
            <a:pPr lvl="1">
              <a:lnSpc>
                <a:spcPct val="100000"/>
              </a:lnSpc>
            </a:pPr>
            <a:r>
              <a: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前两项小组内分数一致，个人表现分会根据答辩表现为每个同学单独打分</a:t>
            </a:r>
            <a:endParaRPr lang="en-US" altLang="zh-CN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项目答辩说明（</a:t>
            </a:r>
            <a:r>
              <a:rPr lang="en-US" altLang="zh-CN" dirty="0"/>
              <a:t>10%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55B41-CC19-435B-A0BB-B81AAC1C1171}" type="slidenum">
              <a:rPr lang="zh-CN" altLang="en-US" smtClean="0"/>
              <a:t>19</a:t>
            </a:fld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976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A61807-80A5-40A1-8A85-0C95E63AD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课程微信群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A8D215-6F05-480A-A39A-6BA88DE2886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9" t="35555" r="8247" b="29610"/>
          <a:stretch/>
        </p:blipFill>
        <p:spPr>
          <a:xfrm>
            <a:off x="3669956" y="1491048"/>
            <a:ext cx="4852088" cy="461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8126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6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SUBCATEGORY" val="0"/>
  <p:tag name="KSO_WM_TEMPLATE_MASTER_TYPE" val="1"/>
  <p:tag name="KSO_WM_TEMPLATE_COLOR_TYPE" val="1"/>
  <p:tag name="KSO_WM_TEMPLATE_MASTER_THUMB_INDEX" val="18"/>
  <p:tag name="KSO_WM_UNIT_SHOW_EDIT_AREA_INDICATION" val="0"/>
  <p:tag name="KSO_WM_TAG_VERSION" val="1.0"/>
  <p:tag name="KSO_WM_BEAUTIFY_FLAG" val="#wm#"/>
  <p:tag name="KSO_WM_TEMPLATE_CATEGORY" val="custom"/>
  <p:tag name="KSO_WM_TEMPLATE_INDEX" val="20202601"/>
  <p:tag name="KSO_WM_TEMPLATE_THUMBS_INDEX" val="1、4、7、8、9、10、11、13、14、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SLIDE_BACKGROUND_TYPE" val="general"/>
  <p:tag name="KSO_WM_SLIDE_BK_DARK_LIGHT" val="2"/>
  <p:tag name="KSO_WM_UNIT_TYPE" val="i"/>
  <p:tag name="KSO_WM_UNIT_INDEX" val="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TYPE" val="i"/>
  <p:tag name="KSO_WM_UNIT_INDEX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leftRight"/>
  <p:tag name="KSO_WM_SLIDE_BK_DARK_LIGHT" val="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SLIDE_BACKGROUND_TYPE" val="leftRight"/>
  <p:tag name="KSO_WM_SLIDE_BK_DARK_LIGHT" val="2"/>
  <p:tag name="KSO_WM_UNIT_TYPE" val="i"/>
  <p:tag name="KSO_WM_UNIT_INDEX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topBottom"/>
  <p:tag name="KSO_WM_SLIDE_BK_DARK_LIGHT" val="2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SLIDE_BACKGROUND_TYPE" val="topBottom"/>
  <p:tag name="KSO_WM_SLIDE_BK_DARK_LIGHT" val="2"/>
  <p:tag name="KSO_WM_UNIT_TYPE" val="i"/>
  <p:tag name="KSO_WM_UNIT_INDEX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ottomTop"/>
  <p:tag name="KSO_WM_SLIDE_BK_DARK_LIGHT" val="2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bottomTop"/>
  <p:tag name="KSO_WM_SLIDE_BK_DARK_LIGHT" val="2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navigation"/>
  <p:tag name="KSO_WM_SLIDE_BK_DARK_LIGHT" val="2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1"/>
  <p:tag name="KSO_WM_SLIDE_BACKGROUND_TYPE" val="navigation"/>
  <p:tag name="KSO_WM_SLIDE_BK_DARK_LIGHT" val="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UNIT_BK_DARK_LIGHT" val="2"/>
  <p:tag name="KSO_WM_SLIDE_BACKGROUND_TYPE" val="belt"/>
  <p:tag name="KSO_WM_SLIDE_BK_DARK_LIGHT" val="2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2"/>
  <p:tag name="KSO_WM_UNIT_TYPE" val="i"/>
  <p:tag name="KSO_WM_UNIT_INDEX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260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202601"/>
</p:tagLst>
</file>

<file path=ppt/theme/theme1.xml><?xml version="1.0" encoding="utf-8"?>
<a:theme xmlns:a="http://schemas.openxmlformats.org/drawingml/2006/main" name="1_Office 主题​​">
  <a:themeElements>
    <a:clrScheme name="自定义 25">
      <a:dk1>
        <a:srgbClr val="000000"/>
      </a:dk1>
      <a:lt1>
        <a:srgbClr val="FFFFFF"/>
      </a:lt1>
      <a:dk2>
        <a:srgbClr val="E9F3FA"/>
      </a:dk2>
      <a:lt2>
        <a:srgbClr val="FFFFFF"/>
      </a:lt2>
      <a:accent1>
        <a:srgbClr val="4472C4"/>
      </a:accent1>
      <a:accent2>
        <a:srgbClr val="2A8DD4"/>
      </a:accent2>
      <a:accent3>
        <a:srgbClr val="2FA1CF"/>
      </a:accent3>
      <a:accent4>
        <a:srgbClr val="33B2B2"/>
      </a:accent4>
      <a:accent5>
        <a:srgbClr val="35BD81"/>
      </a:accent5>
      <a:accent6>
        <a:srgbClr val="59C54F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1507</Words>
  <Application>Microsoft Office PowerPoint</Application>
  <PresentationFormat>宽屏</PresentationFormat>
  <Paragraphs>178</Paragraphs>
  <Slides>20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ITC Avant Garde Std Bk</vt:lpstr>
      <vt:lpstr>微软雅黑</vt:lpstr>
      <vt:lpstr>Arial</vt:lpstr>
      <vt:lpstr>Calibri</vt:lpstr>
      <vt:lpstr>Viner Hand ITC</vt:lpstr>
      <vt:lpstr>Wingdings</vt:lpstr>
      <vt:lpstr>1_Office 主题​​</vt:lpstr>
      <vt:lpstr>PowerPoint 演示文稿</vt:lpstr>
      <vt:lpstr>关于本课程</vt:lpstr>
      <vt:lpstr>关于本课程</vt:lpstr>
      <vt:lpstr>关于本课程</vt:lpstr>
      <vt:lpstr>关于本课程</vt:lpstr>
      <vt:lpstr>为什么要学软件工程</vt:lpstr>
      <vt:lpstr>学好软件工程有什么用</vt:lpstr>
      <vt:lpstr>学好软件工程有什么用</vt:lpstr>
      <vt:lpstr>学好软件工程有什么用</vt:lpstr>
      <vt:lpstr>本课程特点</vt:lpstr>
      <vt:lpstr>关于教材</vt:lpstr>
      <vt:lpstr>学习的重中之重</vt:lpstr>
      <vt:lpstr>注意实践锻炼</vt:lpstr>
      <vt:lpstr>本课程学习重点</vt:lpstr>
      <vt:lpstr>考核</vt:lpstr>
      <vt:lpstr>课堂表现（10%）</vt:lpstr>
      <vt:lpstr>项目要求（报告10%+答辩10%）</vt:lpstr>
      <vt:lpstr>项目报告说明（10%）</vt:lpstr>
      <vt:lpstr>项目答辩说明（10%）</vt:lpstr>
      <vt:lpstr>课程微信群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软件工程</dc:title>
  <dc:creator>Bao</dc:creator>
  <cp:lastModifiedBy>鸽 王</cp:lastModifiedBy>
  <cp:revision>177</cp:revision>
  <dcterms:created xsi:type="dcterms:W3CDTF">2020-02-09T06:48:00Z</dcterms:created>
  <dcterms:modified xsi:type="dcterms:W3CDTF">2026-03-03T05:11:27Z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2052-11.3.0.9221</vt:lpwstr>
  </property>
</Properties>
</file>